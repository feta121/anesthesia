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229.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18.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s/slide207.xml" ContentType="application/vnd.openxmlformats-officedocument.presentationml.slide+xml"/>
  <Override PartName="/ppt/slides/slide254.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232.xml" ContentType="application/vnd.openxmlformats-officedocument.presentationml.slide+xml"/>
  <Override PartName="/ppt/slides/slide243.xml" ContentType="application/vnd.openxmlformats-officedocument.presentationml.slide+xml"/>
  <Override PartName="/ppt/notesMasters/notesMaster1.xml" ContentType="application/vnd.openxmlformats-officedocument.presentationml.notesMaster+xml"/>
  <Override PartName="/ppt/slides/slide169.xml" ContentType="application/vnd.openxmlformats-officedocument.presentationml.slide+xml"/>
  <Override PartName="/ppt/slides/slide221.xml" ContentType="application/vnd.openxmlformats-officedocument.presentationml.slide+xml"/>
  <Override PartName="/ppt/tableStyles.xml" ContentType="application/vnd.openxmlformats-officedocument.presentationml.tableStyles+xml"/>
  <Override PartName="/ppt/slides/slide147.xml" ContentType="application/vnd.openxmlformats-officedocument.presentationml.slide+xml"/>
  <Override PartName="/ppt/slides/slide158.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slides/slide99.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259.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s/slide2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55.xml" ContentType="application/vnd.openxmlformats-officedocument.presentationml.slide+xml"/>
  <Override PartName="/ppt/slides/slide237.xml" ContentType="application/vnd.openxmlformats-officedocument.presentationml.slide+xml"/>
  <Override PartName="/ppt/theme/theme2.xml" ContentType="application/vnd.openxmlformats-officedocument.them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Override PartName="/ppt/slides/slide226.xml" ContentType="application/vnd.openxmlformats-officedocument.presentationml.slide+xml"/>
  <Override PartName="/ppt/slides/slide262.xml" ContentType="application/vnd.openxmlformats-officedocument.presentationml.slide+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s/slide199.xml" ContentType="application/vnd.openxmlformats-officedocument.presentationml.slide+xml"/>
  <Override PartName="/ppt/slides/slide204.xml" ContentType="application/vnd.openxmlformats-officedocument.presentationml.slide+xml"/>
  <Override PartName="/ppt/slides/slide2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slides/slide240.xml" ContentType="application/vnd.openxmlformats-officedocument.presentationml.slide+xml"/>
  <Override PartName="/ppt/slides/slide119.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slides/slide108.xml" ContentType="application/vnd.openxmlformats-officedocument.presentationml.slide+xml"/>
  <Override PartName="/ppt/slides/slide155.xml" ContentType="application/vnd.openxmlformats-officedocument.presentationml.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Override PartName="/ppt/notesSlides/notesSlide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s/slide209.xml" ContentType="application/vnd.openxmlformats-officedocument.presentationml.slide+xml"/>
  <Override PartName="/ppt/slides/slide227.xml" ContentType="application/vnd.openxmlformats-officedocument.presentationml.slide+xml"/>
  <Override PartName="/ppt/slides/slide256.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s/slide216.xml" ContentType="application/vnd.openxmlformats-officedocument.presentationml.slide+xml"/>
  <Override PartName="/ppt/slides/slide234.xml" ContentType="application/vnd.openxmlformats-officedocument.presentationml.slide+xml"/>
  <Override PartName="/ppt/slides/slide245.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slides/slide223.xml" ContentType="application/vnd.openxmlformats-officedocument.presentationml.slide+xml"/>
  <Override PartName="/ppt/slides/slide241.xml" ContentType="application/vnd.openxmlformats-officedocument.presentationml.slide+xml"/>
  <Override PartName="/ppt/slides/slide252.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78.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slides/slide230.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167.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slides/slide192.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s/slide181.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slides/slide239.xml" ContentType="application/vnd.openxmlformats-officedocument.presentationml.slide+xml"/>
  <Override PartName="/ppt/slides/slide257.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s/slide217.xml" ContentType="application/vnd.openxmlformats-officedocument.presentationml.slide+xml"/>
  <Override PartName="/ppt/slides/slide228.xml" ContentType="application/vnd.openxmlformats-officedocument.presentationml.slide+xml"/>
  <Override PartName="/ppt/slides/slide246.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slides/slide235.xml" ContentType="application/vnd.openxmlformats-officedocument.presentationml.slide+xml"/>
  <Override PartName="/ppt/slides/slide253.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s/slide213.xml" ContentType="application/vnd.openxmlformats-officedocument.presentationml.slide+xml"/>
  <Override PartName="/ppt/slides/slide224.xml" ContentType="application/vnd.openxmlformats-officedocument.presentationml.slide+xml"/>
  <Override PartName="/ppt/slides/slide242.xml" ContentType="application/vnd.openxmlformats-officedocument.presentationml.slide+xml"/>
  <Override PartName="/ppt/slides/slide2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68.xml" ContentType="application/vnd.openxmlformats-officedocument.presentationml.slide+xml"/>
  <Override PartName="/ppt/slides/slide179.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slides/slide231.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slides/slide186.xml" ContentType="application/vnd.openxmlformats-officedocument.presentationml.slide+xml"/>
  <Override PartName="/ppt/slides/slide220.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193.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258.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s/slide236.xml" ContentType="application/vnd.openxmlformats-officedocument.presentationml.slide+xml"/>
  <Override PartName="/ppt/slides/slide247.xml" ContentType="application/vnd.openxmlformats-officedocument.presentationml.slide+xml"/>
  <Override PartName="/ppt/slideLayouts/slideLayout6.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slides/slide225.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Override PartName="/ppt/slides/slide214.xml" ContentType="application/vnd.openxmlformats-officedocument.presentationml.slide+xml"/>
  <Override PartName="/ppt/slides/slide2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slides/slide250.xml" ContentType="application/vnd.openxmlformats-officedocument.presentationml.slide+xml"/>
  <Override PartName="/ppt/slides/slide129.xml" ContentType="application/vnd.openxmlformats-officedocument.presentationml.slide+xml"/>
  <Override PartName="/ppt/slides/slide176.xml" ContentType="application/vnd.openxmlformats-officedocument.presentationml.slide+xml"/>
  <Override PartName="/ppt/slides/slide118.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slides/slide255.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s/slide244.xml" ContentType="application/vnd.openxmlformats-officedocument.presentationml.slide+xml"/>
  <Override PartName="/ppt/slideLayouts/slideLayout3.xml" ContentType="application/vnd.openxmlformats-officedocument.presentationml.slideLayout+xml"/>
  <Override PartName="/ppt/slides/slide51.xml" ContentType="application/vnd.openxmlformats-officedocument.presentationml.slide+xml"/>
  <Override PartName="/ppt/slides/slide233.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222.xml" ContentType="application/vnd.openxmlformats-officedocument.presentationml.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s/slide238.xml" ContentType="application/vnd.openxmlformats-officedocument.presentationml.slide+xml"/>
  <Override PartName="/ppt/slides/slide249.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64"/>
  </p:notesMasterIdLst>
  <p:sldIdLst>
    <p:sldId id="340" r:id="rId2"/>
    <p:sldId id="338" r:id="rId3"/>
    <p:sldId id="339" r:id="rId4"/>
    <p:sldId id="532" r:id="rId5"/>
    <p:sldId id="544" r:id="rId6"/>
    <p:sldId id="341" r:id="rId7"/>
    <p:sldId id="543" r:id="rId8"/>
    <p:sldId id="257" r:id="rId9"/>
    <p:sldId id="258" r:id="rId10"/>
    <p:sldId id="270" r:id="rId11"/>
    <p:sldId id="271" r:id="rId12"/>
    <p:sldId id="273" r:id="rId13"/>
    <p:sldId id="274" r:id="rId14"/>
    <p:sldId id="275" r:id="rId15"/>
    <p:sldId id="276" r:id="rId16"/>
    <p:sldId id="277" r:id="rId17"/>
    <p:sldId id="278" r:id="rId18"/>
    <p:sldId id="279" r:id="rId19"/>
    <p:sldId id="533" r:id="rId20"/>
    <p:sldId id="280" r:id="rId21"/>
    <p:sldId id="281" r:id="rId22"/>
    <p:sldId id="284" r:id="rId23"/>
    <p:sldId id="282" r:id="rId24"/>
    <p:sldId id="283" r:id="rId25"/>
    <p:sldId id="285" r:id="rId26"/>
    <p:sldId id="259" r:id="rId27"/>
    <p:sldId id="260" r:id="rId28"/>
    <p:sldId id="261" r:id="rId29"/>
    <p:sldId id="262" r:id="rId30"/>
    <p:sldId id="263" r:id="rId31"/>
    <p:sldId id="267" r:id="rId32"/>
    <p:sldId id="342" r:id="rId33"/>
    <p:sldId id="343" r:id="rId34"/>
    <p:sldId id="344" r:id="rId35"/>
    <p:sldId id="345" r:id="rId36"/>
    <p:sldId id="264" r:id="rId37"/>
    <p:sldId id="265" r:id="rId38"/>
    <p:sldId id="346" r:id="rId39"/>
    <p:sldId id="268" r:id="rId40"/>
    <p:sldId id="286" r:id="rId41"/>
    <p:sldId id="287" r:id="rId42"/>
    <p:sldId id="348" r:id="rId43"/>
    <p:sldId id="303" r:id="rId44"/>
    <p:sldId id="301" r:id="rId45"/>
    <p:sldId id="302" r:id="rId46"/>
    <p:sldId id="304" r:id="rId47"/>
    <p:sldId id="288" r:id="rId48"/>
    <p:sldId id="289" r:id="rId49"/>
    <p:sldId id="290" r:id="rId50"/>
    <p:sldId id="291" r:id="rId51"/>
    <p:sldId id="349" r:id="rId52"/>
    <p:sldId id="292" r:id="rId53"/>
    <p:sldId id="296" r:id="rId54"/>
    <p:sldId id="294" r:id="rId55"/>
    <p:sldId id="297" r:id="rId56"/>
    <p:sldId id="298" r:id="rId57"/>
    <p:sldId id="295" r:id="rId58"/>
    <p:sldId id="299" r:id="rId59"/>
    <p:sldId id="300" r:id="rId60"/>
    <p:sldId id="305" r:id="rId61"/>
    <p:sldId id="354" r:id="rId62"/>
    <p:sldId id="356" r:id="rId63"/>
    <p:sldId id="357" r:id="rId64"/>
    <p:sldId id="358" r:id="rId65"/>
    <p:sldId id="359" r:id="rId66"/>
    <p:sldId id="360" r:id="rId67"/>
    <p:sldId id="361" r:id="rId68"/>
    <p:sldId id="362" r:id="rId69"/>
    <p:sldId id="363" r:id="rId70"/>
    <p:sldId id="365" r:id="rId71"/>
    <p:sldId id="366" r:id="rId72"/>
    <p:sldId id="371" r:id="rId73"/>
    <p:sldId id="372" r:id="rId74"/>
    <p:sldId id="373" r:id="rId75"/>
    <p:sldId id="367" r:id="rId76"/>
    <p:sldId id="391" r:id="rId77"/>
    <p:sldId id="368" r:id="rId78"/>
    <p:sldId id="374" r:id="rId79"/>
    <p:sldId id="369" r:id="rId80"/>
    <p:sldId id="370" r:id="rId81"/>
    <p:sldId id="375" r:id="rId82"/>
    <p:sldId id="316" r:id="rId83"/>
    <p:sldId id="350" r:id="rId84"/>
    <p:sldId id="351" r:id="rId85"/>
    <p:sldId id="352" r:id="rId86"/>
    <p:sldId id="353" r:id="rId87"/>
    <p:sldId id="378" r:id="rId88"/>
    <p:sldId id="534" r:id="rId89"/>
    <p:sldId id="377" r:id="rId90"/>
    <p:sldId id="535" r:id="rId91"/>
    <p:sldId id="317" r:id="rId92"/>
    <p:sldId id="318" r:id="rId93"/>
    <p:sldId id="324" r:id="rId94"/>
    <p:sldId id="325" r:id="rId95"/>
    <p:sldId id="326" r:id="rId96"/>
    <p:sldId id="322" r:id="rId97"/>
    <p:sldId id="323" r:id="rId98"/>
    <p:sldId id="320" r:id="rId99"/>
    <p:sldId id="321" r:id="rId100"/>
    <p:sldId id="327" r:id="rId101"/>
    <p:sldId id="328" r:id="rId102"/>
    <p:sldId id="329" r:id="rId103"/>
    <p:sldId id="330" r:id="rId104"/>
    <p:sldId id="386" r:id="rId105"/>
    <p:sldId id="331" r:id="rId106"/>
    <p:sldId id="332" r:id="rId107"/>
    <p:sldId id="333" r:id="rId108"/>
    <p:sldId id="334" r:id="rId109"/>
    <p:sldId id="336" r:id="rId110"/>
    <p:sldId id="381" r:id="rId111"/>
    <p:sldId id="540" r:id="rId112"/>
    <p:sldId id="385" r:id="rId113"/>
    <p:sldId id="541" r:id="rId114"/>
    <p:sldId id="382" r:id="rId115"/>
    <p:sldId id="383" r:id="rId116"/>
    <p:sldId id="384" r:id="rId117"/>
    <p:sldId id="542" r:id="rId118"/>
    <p:sldId id="335" r:id="rId119"/>
    <p:sldId id="398" r:id="rId120"/>
    <p:sldId id="399" r:id="rId121"/>
    <p:sldId id="400" r:id="rId122"/>
    <p:sldId id="404" r:id="rId123"/>
    <p:sldId id="407" r:id="rId124"/>
    <p:sldId id="405" r:id="rId125"/>
    <p:sldId id="406" r:id="rId126"/>
    <p:sldId id="402" r:id="rId127"/>
    <p:sldId id="401" r:id="rId128"/>
    <p:sldId id="408" r:id="rId129"/>
    <p:sldId id="409" r:id="rId130"/>
    <p:sldId id="537" r:id="rId131"/>
    <p:sldId id="411" r:id="rId132"/>
    <p:sldId id="536" r:id="rId133"/>
    <p:sldId id="337" r:id="rId134"/>
    <p:sldId id="388" r:id="rId135"/>
    <p:sldId id="412" r:id="rId136"/>
    <p:sldId id="413" r:id="rId137"/>
    <p:sldId id="414" r:id="rId138"/>
    <p:sldId id="415" r:id="rId139"/>
    <p:sldId id="416" r:id="rId140"/>
    <p:sldId id="417" r:id="rId141"/>
    <p:sldId id="387" r:id="rId142"/>
    <p:sldId id="389" r:id="rId143"/>
    <p:sldId id="390" r:id="rId144"/>
    <p:sldId id="314" r:id="rId145"/>
    <p:sldId id="315" r:id="rId146"/>
    <p:sldId id="311" r:id="rId147"/>
    <p:sldId id="395" r:id="rId148"/>
    <p:sldId id="396" r:id="rId149"/>
    <p:sldId id="418" r:id="rId150"/>
    <p:sldId id="419" r:id="rId151"/>
    <p:sldId id="420" r:id="rId152"/>
    <p:sldId id="421" r:id="rId153"/>
    <p:sldId id="466" r:id="rId154"/>
    <p:sldId id="422" r:id="rId155"/>
    <p:sldId id="423" r:id="rId156"/>
    <p:sldId id="424" r:id="rId157"/>
    <p:sldId id="425" r:id="rId158"/>
    <p:sldId id="426" r:id="rId159"/>
    <p:sldId id="467" r:id="rId160"/>
    <p:sldId id="468" r:id="rId161"/>
    <p:sldId id="427" r:id="rId162"/>
    <p:sldId id="428" r:id="rId163"/>
    <p:sldId id="465" r:id="rId164"/>
    <p:sldId id="429" r:id="rId165"/>
    <p:sldId id="430" r:id="rId166"/>
    <p:sldId id="431" r:id="rId167"/>
    <p:sldId id="432" r:id="rId168"/>
    <p:sldId id="433" r:id="rId169"/>
    <p:sldId id="434" r:id="rId170"/>
    <p:sldId id="435" r:id="rId171"/>
    <p:sldId id="437" r:id="rId172"/>
    <p:sldId id="436" r:id="rId173"/>
    <p:sldId id="438" r:id="rId174"/>
    <p:sldId id="440" r:id="rId175"/>
    <p:sldId id="439" r:id="rId176"/>
    <p:sldId id="441" r:id="rId177"/>
    <p:sldId id="442" r:id="rId178"/>
    <p:sldId id="443" r:id="rId179"/>
    <p:sldId id="444" r:id="rId180"/>
    <p:sldId id="445" r:id="rId181"/>
    <p:sldId id="539" r:id="rId182"/>
    <p:sldId id="446" r:id="rId183"/>
    <p:sldId id="447" r:id="rId184"/>
    <p:sldId id="448" r:id="rId185"/>
    <p:sldId id="449" r:id="rId186"/>
    <p:sldId id="450" r:id="rId187"/>
    <p:sldId id="451" r:id="rId188"/>
    <p:sldId id="452" r:id="rId189"/>
    <p:sldId id="531" r:id="rId190"/>
    <p:sldId id="479" r:id="rId191"/>
    <p:sldId id="526" r:id="rId192"/>
    <p:sldId id="480" r:id="rId193"/>
    <p:sldId id="481" r:id="rId194"/>
    <p:sldId id="453" r:id="rId195"/>
    <p:sldId id="527" r:id="rId196"/>
    <p:sldId id="454" r:id="rId197"/>
    <p:sldId id="455" r:id="rId198"/>
    <p:sldId id="456" r:id="rId199"/>
    <p:sldId id="528" r:id="rId200"/>
    <p:sldId id="457" r:id="rId201"/>
    <p:sldId id="529" r:id="rId202"/>
    <p:sldId id="458" r:id="rId203"/>
    <p:sldId id="459" r:id="rId204"/>
    <p:sldId id="460" r:id="rId205"/>
    <p:sldId id="461" r:id="rId206"/>
    <p:sldId id="476" r:id="rId207"/>
    <p:sldId id="478" r:id="rId208"/>
    <p:sldId id="477" r:id="rId209"/>
    <p:sldId id="464" r:id="rId210"/>
    <p:sldId id="469" r:id="rId211"/>
    <p:sldId id="470" r:id="rId212"/>
    <p:sldId id="471" r:id="rId213"/>
    <p:sldId id="475" r:id="rId214"/>
    <p:sldId id="483" r:id="rId215"/>
    <p:sldId id="482" r:id="rId216"/>
    <p:sldId id="472" r:id="rId217"/>
    <p:sldId id="473" r:id="rId218"/>
    <p:sldId id="474" r:id="rId219"/>
    <p:sldId id="484" r:id="rId220"/>
    <p:sldId id="504" r:id="rId221"/>
    <p:sldId id="485" r:id="rId222"/>
    <p:sldId id="487" r:id="rId223"/>
    <p:sldId id="538" r:id="rId224"/>
    <p:sldId id="486" r:id="rId225"/>
    <p:sldId id="488" r:id="rId226"/>
    <p:sldId id="489" r:id="rId227"/>
    <p:sldId id="490" r:id="rId228"/>
    <p:sldId id="491" r:id="rId229"/>
    <p:sldId id="492" r:id="rId230"/>
    <p:sldId id="530" r:id="rId231"/>
    <p:sldId id="493" r:id="rId232"/>
    <p:sldId id="494" r:id="rId233"/>
    <p:sldId id="495" r:id="rId234"/>
    <p:sldId id="496" r:id="rId235"/>
    <p:sldId id="497" r:id="rId236"/>
    <p:sldId id="500" r:id="rId237"/>
    <p:sldId id="498" r:id="rId238"/>
    <p:sldId id="499" r:id="rId239"/>
    <p:sldId id="501" r:id="rId240"/>
    <p:sldId id="502" r:id="rId241"/>
    <p:sldId id="505" r:id="rId242"/>
    <p:sldId id="503" r:id="rId243"/>
    <p:sldId id="506" r:id="rId244"/>
    <p:sldId id="507" r:id="rId245"/>
    <p:sldId id="508" r:id="rId246"/>
    <p:sldId id="509" r:id="rId247"/>
    <p:sldId id="510" r:id="rId248"/>
    <p:sldId id="511" r:id="rId249"/>
    <p:sldId id="512" r:id="rId250"/>
    <p:sldId id="513" r:id="rId251"/>
    <p:sldId id="514" r:id="rId252"/>
    <p:sldId id="515" r:id="rId253"/>
    <p:sldId id="516" r:id="rId254"/>
    <p:sldId id="517" r:id="rId255"/>
    <p:sldId id="518" r:id="rId256"/>
    <p:sldId id="519" r:id="rId257"/>
    <p:sldId id="520" r:id="rId258"/>
    <p:sldId id="521" r:id="rId259"/>
    <p:sldId id="522" r:id="rId260"/>
    <p:sldId id="523" r:id="rId261"/>
    <p:sldId id="524" r:id="rId262"/>
    <p:sldId id="525" r:id="rId2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600" autoAdjust="0"/>
    <p:restoredTop sz="97119" autoAdjust="0"/>
  </p:normalViewPr>
  <p:slideViewPr>
    <p:cSldViewPr>
      <p:cViewPr varScale="1">
        <p:scale>
          <a:sx n="75" d="100"/>
          <a:sy n="75" d="100"/>
        </p:scale>
        <p:origin x="-105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522"/>
    </p:cViewPr>
  </p:sorterViewPr>
  <p:gridSpacing cx="78028800" cy="780288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slide" Target="slides/slide259.xml"/><Relationship Id="rId265"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viewProps" Target="viewProps.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1A9EA1-CCA6-42EA-80E8-2AC8E73ABB45}" type="datetimeFigureOut">
              <a:rPr lang="en-US" smtClean="0"/>
              <a:pPr/>
              <a:t>12/6/2018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C59736-E6FA-4FF0-B3AC-FA910703F67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D8C59736-E6FA-4FF0-B3AC-FA910703F673}"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8C59736-E6FA-4FF0-B3AC-FA910703F673}" type="slidenum">
              <a:rPr lang="en-US" smtClean="0"/>
              <a:pPr/>
              <a:t>10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8C59736-E6FA-4FF0-B3AC-FA910703F673}" type="slidenum">
              <a:rPr lang="en-US" smtClean="0"/>
              <a:pPr/>
              <a:t>43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vv</a:t>
            </a:r>
            <a:endParaRPr lang="en-US" dirty="0"/>
          </a:p>
        </p:txBody>
      </p:sp>
      <p:sp>
        <p:nvSpPr>
          <p:cNvPr id="4" name="Slide Number Placeholder 3"/>
          <p:cNvSpPr>
            <a:spLocks noGrp="1"/>
          </p:cNvSpPr>
          <p:nvPr>
            <p:ph type="sldNum" sz="quarter" idx="10"/>
          </p:nvPr>
        </p:nvSpPr>
        <p:spPr/>
        <p:txBody>
          <a:bodyPr/>
          <a:lstStyle/>
          <a:p>
            <a:fld id="{D8C59736-E6FA-4FF0-B3AC-FA910703F673}" type="slidenum">
              <a:rPr lang="en-US" smtClean="0"/>
              <a:pPr/>
              <a:t>103</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8C59736-E6FA-4FF0-B3AC-FA910703F673}" type="slidenum">
              <a:rPr lang="en-US" smtClean="0"/>
              <a:pPr/>
              <a:t>106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8C59736-E6FA-4FF0-B3AC-FA910703F673}" type="slidenum">
              <a:rPr lang="en-US" smtClean="0"/>
              <a:pPr/>
              <a:t>119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43BE2EEB-D634-4FD0-A2CB-C3B0CC7A3E4B}" type="datetime1">
              <a:rPr lang="en-US" smtClean="0"/>
              <a:pPr/>
              <a:t>12/6/2018</a:t>
            </a:fld>
            <a:endParaRPr lang="en-US"/>
          </a:p>
        </p:txBody>
      </p:sp>
      <p:sp>
        <p:nvSpPr>
          <p:cNvPr id="20" name="Footer Placeholder 19"/>
          <p:cNvSpPr>
            <a:spLocks noGrp="1"/>
          </p:cNvSpPr>
          <p:nvPr>
            <p:ph type="ftr" sz="quarter" idx="11"/>
          </p:nvPr>
        </p:nvSpPr>
        <p:spPr/>
        <p:txBody>
          <a:bodyPr/>
          <a:lstStyle>
            <a:extLst/>
          </a:lstStyle>
          <a:p>
            <a:r>
              <a:rPr lang="en-US" smtClean="0"/>
              <a:t>By Siryet Tesfaye</a:t>
            </a:r>
            <a:endParaRPr lang="en-US"/>
          </a:p>
        </p:txBody>
      </p:sp>
      <p:sp>
        <p:nvSpPr>
          <p:cNvPr id="10" name="Slide Number Placeholder 9"/>
          <p:cNvSpPr>
            <a:spLocks noGrp="1"/>
          </p:cNvSpPr>
          <p:nvPr>
            <p:ph type="sldNum" sz="quarter" idx="12"/>
          </p:nvPr>
        </p:nvSpPr>
        <p:spPr/>
        <p:txBody>
          <a:bodyPr/>
          <a:lstStyle>
            <a:extLst/>
          </a:lstStyle>
          <a:p>
            <a:fld id="{1528205D-516C-4A2E-8491-92189BC25433}"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A71611F-33E2-4579-97ED-D04F53FD39BA}" type="datetime1">
              <a:rPr lang="en-US" smtClean="0"/>
              <a:pPr/>
              <a:t>12/6/2018</a:t>
            </a:fld>
            <a:endParaRPr lang="en-US"/>
          </a:p>
        </p:txBody>
      </p:sp>
      <p:sp>
        <p:nvSpPr>
          <p:cNvPr id="5" name="Footer Placeholder 4"/>
          <p:cNvSpPr>
            <a:spLocks noGrp="1"/>
          </p:cNvSpPr>
          <p:nvPr>
            <p:ph type="ftr" sz="quarter" idx="11"/>
          </p:nvPr>
        </p:nvSpPr>
        <p:spPr/>
        <p:txBody>
          <a:bodyPr/>
          <a:lstStyle>
            <a:extLst/>
          </a:lstStyle>
          <a:p>
            <a:r>
              <a:rPr lang="en-US" smtClean="0"/>
              <a:t>By Siryet Tesfaye</a:t>
            </a:r>
            <a:endParaRPr lang="en-US"/>
          </a:p>
        </p:txBody>
      </p:sp>
      <p:sp>
        <p:nvSpPr>
          <p:cNvPr id="6" name="Slide Number Placeholder 5"/>
          <p:cNvSpPr>
            <a:spLocks noGrp="1"/>
          </p:cNvSpPr>
          <p:nvPr>
            <p:ph type="sldNum" sz="quarter" idx="12"/>
          </p:nvPr>
        </p:nvSpPr>
        <p:spPr/>
        <p:txBody>
          <a:bodyPr/>
          <a:lstStyle>
            <a:extLst/>
          </a:lstStyle>
          <a:p>
            <a:fld id="{1528205D-516C-4A2E-8491-92189BC2543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214BA66E-1160-4D7C-9D6F-589A6A3194BA}" type="datetime1">
              <a:rPr lang="en-US" smtClean="0"/>
              <a:pPr/>
              <a:t>12/6/2018</a:t>
            </a:fld>
            <a:endParaRPr lang="en-US"/>
          </a:p>
        </p:txBody>
      </p:sp>
      <p:sp>
        <p:nvSpPr>
          <p:cNvPr id="5" name="Footer Placeholder 4"/>
          <p:cNvSpPr>
            <a:spLocks noGrp="1"/>
          </p:cNvSpPr>
          <p:nvPr>
            <p:ph type="ftr" sz="quarter" idx="11"/>
          </p:nvPr>
        </p:nvSpPr>
        <p:spPr/>
        <p:txBody>
          <a:bodyPr/>
          <a:lstStyle>
            <a:extLst/>
          </a:lstStyle>
          <a:p>
            <a:r>
              <a:rPr lang="en-US" smtClean="0"/>
              <a:t>By Siryet Tesfaye</a:t>
            </a:r>
            <a:endParaRPr lang="en-US"/>
          </a:p>
        </p:txBody>
      </p:sp>
      <p:sp>
        <p:nvSpPr>
          <p:cNvPr id="6" name="Slide Number Placeholder 5"/>
          <p:cNvSpPr>
            <a:spLocks noGrp="1"/>
          </p:cNvSpPr>
          <p:nvPr>
            <p:ph type="sldNum" sz="quarter" idx="12"/>
          </p:nvPr>
        </p:nvSpPr>
        <p:spPr/>
        <p:txBody>
          <a:bodyPr/>
          <a:lstStyle>
            <a:extLst/>
          </a:lstStyle>
          <a:p>
            <a:fld id="{1528205D-516C-4A2E-8491-92189BC25433}"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FB4A38C-77E2-4816-9BB8-E65722DFF7DE}" type="datetime1">
              <a:rPr lang="en-US" smtClean="0"/>
              <a:pPr/>
              <a:t>12/6/2018</a:t>
            </a:fld>
            <a:endParaRPr lang="en-US"/>
          </a:p>
        </p:txBody>
      </p:sp>
      <p:sp>
        <p:nvSpPr>
          <p:cNvPr id="6" name="Footer Placeholder 5"/>
          <p:cNvSpPr>
            <a:spLocks noGrp="1"/>
          </p:cNvSpPr>
          <p:nvPr>
            <p:ph type="ftr" sz="quarter" idx="11"/>
          </p:nvPr>
        </p:nvSpPr>
        <p:spPr/>
        <p:txBody>
          <a:bodyPr/>
          <a:lstStyle>
            <a:extLst/>
          </a:lstStyle>
          <a:p>
            <a:r>
              <a:rPr lang="en-US" smtClean="0"/>
              <a:t>By Siryet Tesfaye</a:t>
            </a:r>
            <a:endParaRPr lang="en-US"/>
          </a:p>
        </p:txBody>
      </p:sp>
      <p:sp>
        <p:nvSpPr>
          <p:cNvPr id="7" name="Slide Number Placeholder 6"/>
          <p:cNvSpPr>
            <a:spLocks noGrp="1"/>
          </p:cNvSpPr>
          <p:nvPr>
            <p:ph type="sldNum" sz="quarter" idx="12"/>
          </p:nvPr>
        </p:nvSpPr>
        <p:spPr/>
        <p:txBody>
          <a:bodyPr/>
          <a:lstStyle>
            <a:extLst/>
          </a:lstStyle>
          <a:p>
            <a:fld id="{1528205D-516C-4A2E-8491-92189BC2543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4D7E6E66-5E78-42EF-8B74-CA7ECDB917A3}" type="datetime1">
              <a:rPr lang="en-US" smtClean="0"/>
              <a:pPr/>
              <a:t>12/6/2018</a:t>
            </a:fld>
            <a:endParaRPr lang="en-US"/>
          </a:p>
        </p:txBody>
      </p:sp>
      <p:sp>
        <p:nvSpPr>
          <p:cNvPr id="8" name="Footer Placeholder 7"/>
          <p:cNvSpPr>
            <a:spLocks noGrp="1"/>
          </p:cNvSpPr>
          <p:nvPr>
            <p:ph type="ftr" sz="quarter" idx="11"/>
          </p:nvPr>
        </p:nvSpPr>
        <p:spPr/>
        <p:txBody>
          <a:bodyPr/>
          <a:lstStyle>
            <a:extLst/>
          </a:lstStyle>
          <a:p>
            <a:r>
              <a:rPr lang="en-US" smtClean="0"/>
              <a:t>By Siryet Tesfaye</a:t>
            </a:r>
            <a:endParaRPr lang="en-US"/>
          </a:p>
        </p:txBody>
      </p:sp>
      <p:sp>
        <p:nvSpPr>
          <p:cNvPr id="9" name="Slide Number Placeholder 8"/>
          <p:cNvSpPr>
            <a:spLocks noGrp="1"/>
          </p:cNvSpPr>
          <p:nvPr>
            <p:ph type="sldNum" sz="quarter" idx="12"/>
          </p:nvPr>
        </p:nvSpPr>
        <p:spPr/>
        <p:txBody>
          <a:bodyPr/>
          <a:lstStyle>
            <a:extLst/>
          </a:lstStyle>
          <a:p>
            <a:fld id="{1528205D-516C-4A2E-8491-92189BC2543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419F8E0E-5957-4B82-A0E3-90C6D0956626}" type="datetime1">
              <a:rPr lang="en-US" smtClean="0"/>
              <a:pPr/>
              <a:t>12/6/2018</a:t>
            </a:fld>
            <a:endParaRPr lang="en-US"/>
          </a:p>
        </p:txBody>
      </p:sp>
      <p:sp>
        <p:nvSpPr>
          <p:cNvPr id="4" name="Footer Placeholder 3"/>
          <p:cNvSpPr>
            <a:spLocks noGrp="1"/>
          </p:cNvSpPr>
          <p:nvPr>
            <p:ph type="ftr" sz="quarter" idx="11"/>
          </p:nvPr>
        </p:nvSpPr>
        <p:spPr/>
        <p:txBody>
          <a:bodyPr/>
          <a:lstStyle>
            <a:extLst/>
          </a:lstStyle>
          <a:p>
            <a:r>
              <a:rPr lang="en-US" smtClean="0"/>
              <a:t>By Siryet Tesfaye</a:t>
            </a:r>
            <a:endParaRPr lang="en-US"/>
          </a:p>
        </p:txBody>
      </p:sp>
      <p:sp>
        <p:nvSpPr>
          <p:cNvPr id="5" name="Slide Number Placeholder 4"/>
          <p:cNvSpPr>
            <a:spLocks noGrp="1"/>
          </p:cNvSpPr>
          <p:nvPr>
            <p:ph type="sldNum" sz="quarter" idx="12"/>
          </p:nvPr>
        </p:nvSpPr>
        <p:spPr/>
        <p:txBody>
          <a:bodyPr/>
          <a:lstStyle>
            <a:extLst/>
          </a:lstStyle>
          <a:p>
            <a:fld id="{1528205D-516C-4A2E-8491-92189BC2543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AA57BFAD-9E5A-4AE4-AA71-A9B37031171C}" type="datetime1">
              <a:rPr lang="en-US" smtClean="0"/>
              <a:pPr/>
              <a:t>12/6/2018</a:t>
            </a:fld>
            <a:endParaRPr lang="en-US"/>
          </a:p>
        </p:txBody>
      </p:sp>
      <p:sp>
        <p:nvSpPr>
          <p:cNvPr id="3" name="Footer Placeholder 2"/>
          <p:cNvSpPr>
            <a:spLocks noGrp="1"/>
          </p:cNvSpPr>
          <p:nvPr>
            <p:ph type="ftr" sz="quarter" idx="11"/>
          </p:nvPr>
        </p:nvSpPr>
        <p:spPr/>
        <p:txBody>
          <a:bodyPr/>
          <a:lstStyle>
            <a:extLst/>
          </a:lstStyle>
          <a:p>
            <a:r>
              <a:rPr lang="en-US" smtClean="0"/>
              <a:t>By Siryet Tesfaye</a:t>
            </a:r>
            <a:endParaRPr lang="en-US"/>
          </a:p>
        </p:txBody>
      </p:sp>
      <p:sp>
        <p:nvSpPr>
          <p:cNvPr id="4" name="Slide Number Placeholder 3"/>
          <p:cNvSpPr>
            <a:spLocks noGrp="1"/>
          </p:cNvSpPr>
          <p:nvPr>
            <p:ph type="sldNum" sz="quarter" idx="12"/>
          </p:nvPr>
        </p:nvSpPr>
        <p:spPr/>
        <p:txBody>
          <a:bodyPr/>
          <a:lstStyle>
            <a:extLst/>
          </a:lstStyle>
          <a:p>
            <a:fld id="{1528205D-516C-4A2E-8491-92189BC25433}"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D6995B09-CB35-4CA0-A2D0-104BD8AEBC7F}" type="datetime1">
              <a:rPr lang="en-US" smtClean="0"/>
              <a:pPr/>
              <a:t>12/6/2018</a:t>
            </a:fld>
            <a:endParaRPr lang="en-US"/>
          </a:p>
        </p:txBody>
      </p:sp>
      <p:sp>
        <p:nvSpPr>
          <p:cNvPr id="6" name="Footer Placeholder 5"/>
          <p:cNvSpPr>
            <a:spLocks noGrp="1"/>
          </p:cNvSpPr>
          <p:nvPr>
            <p:ph type="ftr" sz="quarter" idx="11"/>
          </p:nvPr>
        </p:nvSpPr>
        <p:spPr/>
        <p:txBody>
          <a:bodyPr/>
          <a:lstStyle>
            <a:extLst/>
          </a:lstStyle>
          <a:p>
            <a:r>
              <a:rPr lang="en-US" smtClean="0"/>
              <a:t>By Siryet Tesfaye</a:t>
            </a:r>
            <a:endParaRPr lang="en-US"/>
          </a:p>
        </p:txBody>
      </p:sp>
      <p:sp>
        <p:nvSpPr>
          <p:cNvPr id="7" name="Slide Number Placeholder 6"/>
          <p:cNvSpPr>
            <a:spLocks noGrp="1"/>
          </p:cNvSpPr>
          <p:nvPr>
            <p:ph type="sldNum" sz="quarter" idx="12"/>
          </p:nvPr>
        </p:nvSpPr>
        <p:spPr/>
        <p:txBody>
          <a:bodyPr/>
          <a:lstStyle>
            <a:extLst/>
          </a:lstStyle>
          <a:p>
            <a:fld id="{1528205D-516C-4A2E-8491-92189BC2543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DFF820F4-1B44-4C63-828B-815815E59670}" type="datetime1">
              <a:rPr lang="en-US" smtClean="0"/>
              <a:pPr/>
              <a:t>12/6/2018</a:t>
            </a:fld>
            <a:endParaRPr lang="en-US"/>
          </a:p>
        </p:txBody>
      </p:sp>
      <p:sp>
        <p:nvSpPr>
          <p:cNvPr id="6" name="Footer Placeholder 5"/>
          <p:cNvSpPr>
            <a:spLocks noGrp="1"/>
          </p:cNvSpPr>
          <p:nvPr>
            <p:ph type="ftr" sz="quarter" idx="11"/>
          </p:nvPr>
        </p:nvSpPr>
        <p:spPr/>
        <p:txBody>
          <a:bodyPr/>
          <a:lstStyle>
            <a:extLst/>
          </a:lstStyle>
          <a:p>
            <a:r>
              <a:rPr lang="en-US" smtClean="0"/>
              <a:t>By Siryet Tesfaye</a:t>
            </a:r>
            <a:endParaRPr lang="en-US"/>
          </a:p>
        </p:txBody>
      </p:sp>
      <p:sp>
        <p:nvSpPr>
          <p:cNvPr id="7" name="Slide Number Placeholder 6"/>
          <p:cNvSpPr>
            <a:spLocks noGrp="1"/>
          </p:cNvSpPr>
          <p:nvPr>
            <p:ph type="sldNum" sz="quarter" idx="12"/>
          </p:nvPr>
        </p:nvSpPr>
        <p:spPr/>
        <p:txBody>
          <a:bodyPr/>
          <a:lstStyle>
            <a:extLst/>
          </a:lstStyle>
          <a:p>
            <a:fld id="{1528205D-516C-4A2E-8491-92189BC25433}"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337FE38-B3BD-40F6-BB24-4AB81D73D7C3}" type="datetime1">
              <a:rPr lang="en-US" smtClean="0"/>
              <a:pPr/>
              <a:t>12/6/2018</a:t>
            </a:fld>
            <a:endParaRPr lang="en-US"/>
          </a:p>
        </p:txBody>
      </p:sp>
      <p:sp>
        <p:nvSpPr>
          <p:cNvPr id="5" name="Footer Placeholder 4"/>
          <p:cNvSpPr>
            <a:spLocks noGrp="1"/>
          </p:cNvSpPr>
          <p:nvPr>
            <p:ph type="ftr" sz="quarter" idx="11"/>
          </p:nvPr>
        </p:nvSpPr>
        <p:spPr/>
        <p:txBody>
          <a:bodyPr/>
          <a:lstStyle>
            <a:extLst/>
          </a:lstStyle>
          <a:p>
            <a:r>
              <a:rPr lang="en-US" smtClean="0"/>
              <a:t>By Siryet Tesfaye</a:t>
            </a:r>
            <a:endParaRPr lang="en-US"/>
          </a:p>
        </p:txBody>
      </p:sp>
      <p:sp>
        <p:nvSpPr>
          <p:cNvPr id="6" name="Slide Number Placeholder 5"/>
          <p:cNvSpPr>
            <a:spLocks noGrp="1"/>
          </p:cNvSpPr>
          <p:nvPr>
            <p:ph type="sldNum" sz="quarter" idx="12"/>
          </p:nvPr>
        </p:nvSpPr>
        <p:spPr/>
        <p:txBody>
          <a:bodyPr/>
          <a:lstStyle>
            <a:extLst/>
          </a:lstStyle>
          <a:p>
            <a:fld id="{1528205D-516C-4A2E-8491-92189BC2543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D1D2E3D9-EDDD-4966-B9B9-446F18AB2CAA}" type="datetime1">
              <a:rPr lang="en-US" smtClean="0"/>
              <a:pPr/>
              <a:t>12/6/2018</a:t>
            </a:fld>
            <a:endParaRPr lang="en-US"/>
          </a:p>
        </p:txBody>
      </p:sp>
      <p:sp>
        <p:nvSpPr>
          <p:cNvPr id="5" name="Footer Placeholder 4"/>
          <p:cNvSpPr>
            <a:spLocks noGrp="1"/>
          </p:cNvSpPr>
          <p:nvPr>
            <p:ph type="ftr" sz="quarter" idx="11"/>
          </p:nvPr>
        </p:nvSpPr>
        <p:spPr/>
        <p:txBody>
          <a:bodyPr/>
          <a:lstStyle>
            <a:extLst/>
          </a:lstStyle>
          <a:p>
            <a:r>
              <a:rPr lang="en-US" smtClean="0"/>
              <a:t>By Siryet Tesfaye</a:t>
            </a:r>
            <a:endParaRPr lang="en-US"/>
          </a:p>
        </p:txBody>
      </p:sp>
      <p:sp>
        <p:nvSpPr>
          <p:cNvPr id="6" name="Slide Number Placeholder 5"/>
          <p:cNvSpPr>
            <a:spLocks noGrp="1"/>
          </p:cNvSpPr>
          <p:nvPr>
            <p:ph type="sldNum" sz="quarter" idx="12"/>
          </p:nvPr>
        </p:nvSpPr>
        <p:spPr/>
        <p:txBody>
          <a:bodyPr/>
          <a:lstStyle>
            <a:extLst/>
          </a:lstStyle>
          <a:p>
            <a:fld id="{1528205D-516C-4A2E-8491-92189BC2543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F68A8B44-BD9E-4B7A-BCFC-D2F6CA3D7469}" type="datetime1">
              <a:rPr lang="en-US" smtClean="0"/>
              <a:pPr/>
              <a:t>12/6/2018</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r>
              <a:rPr lang="en-US" smtClean="0"/>
              <a:t>By Siryet Tesfaye</a:t>
            </a:r>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1528205D-516C-4A2E-8491-92189BC25433}"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66800"/>
            <a:ext cx="7772400" cy="3733799"/>
          </a:xfrm>
        </p:spPr>
        <p:txBody>
          <a:bodyPr>
            <a:normAutofit/>
          </a:bodyPr>
          <a:lstStyle/>
          <a:p>
            <a:r>
              <a:rPr lang="en-US" dirty="0" smtClean="0"/>
              <a:t>Anesthesia for Neurosurgery </a:t>
            </a:r>
            <a:br>
              <a:rPr lang="en-US" dirty="0" smtClean="0"/>
            </a:br>
            <a:r>
              <a:rPr lang="en-US" dirty="0" smtClean="0"/>
              <a:t/>
            </a:r>
            <a:br>
              <a:rPr lang="en-US" dirty="0" smtClean="0"/>
            </a:br>
            <a:endParaRPr lang="en-US" dirty="0"/>
          </a:p>
        </p:txBody>
      </p:sp>
      <p:sp>
        <p:nvSpPr>
          <p:cNvPr id="4" name="Footer Placeholder 3"/>
          <p:cNvSpPr>
            <a:spLocks noGrp="1"/>
          </p:cNvSpPr>
          <p:nvPr>
            <p:ph type="ftr" sz="quarter" idx="11"/>
          </p:nvPr>
        </p:nvSpPr>
        <p:spPr/>
        <p:txBody>
          <a:bodyPr/>
          <a:lstStyle/>
          <a:p>
            <a:r>
              <a:rPr lang="en-US" dirty="0" smtClean="0">
                <a:solidFill>
                  <a:schemeClr val="tx1"/>
                </a:solidFill>
              </a:rPr>
              <a:t>By </a:t>
            </a:r>
            <a:r>
              <a:rPr lang="en-US" dirty="0" err="1" smtClean="0">
                <a:solidFill>
                  <a:schemeClr val="tx1"/>
                </a:solidFill>
              </a:rPr>
              <a:t>Siryet</a:t>
            </a:r>
            <a:r>
              <a:rPr lang="en-US" dirty="0" smtClean="0">
                <a:solidFill>
                  <a:schemeClr val="tx1"/>
                </a:solidFill>
              </a:rPr>
              <a:t> </a:t>
            </a:r>
            <a:r>
              <a:rPr lang="en-US" dirty="0" err="1" smtClean="0">
                <a:solidFill>
                  <a:schemeClr val="tx1"/>
                </a:solidFill>
              </a:rPr>
              <a:t>Tesfaye</a:t>
            </a:r>
            <a:endParaRPr lang="en-US" dirty="0">
              <a:solidFill>
                <a:schemeClr val="tx1"/>
              </a:solidFill>
            </a:endParaRPr>
          </a:p>
        </p:txBody>
      </p:sp>
      <p:sp>
        <p:nvSpPr>
          <p:cNvPr id="3" name="Slide Number Placeholder 2"/>
          <p:cNvSpPr>
            <a:spLocks noGrp="1"/>
          </p:cNvSpPr>
          <p:nvPr>
            <p:ph type="sldNum" sz="quarter" idx="12"/>
          </p:nvPr>
        </p:nvSpPr>
        <p:spPr/>
        <p:txBody>
          <a:bodyPr/>
          <a:lstStyle/>
          <a:p>
            <a:fld id="{1528205D-516C-4A2E-8491-92189BC25433}"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Part    I</a:t>
            </a:r>
            <a:br>
              <a:rPr lang="en-US" dirty="0" smtClean="0"/>
            </a:br>
            <a:r>
              <a:rPr lang="en-US" dirty="0" smtClean="0"/>
              <a:t/>
            </a:r>
            <a:br>
              <a:rPr lang="en-US" dirty="0" smtClean="0"/>
            </a:br>
            <a:r>
              <a:rPr lang="en-US" dirty="0" smtClean="0"/>
              <a:t>Anesthesia for Neurosurgery</a:t>
            </a:r>
            <a:endParaRPr lang="en-US" dirty="0"/>
          </a:p>
        </p:txBody>
      </p:sp>
      <p:sp>
        <p:nvSpPr>
          <p:cNvPr id="3" name="Subtitle 2"/>
          <p:cNvSpPr>
            <a:spLocks noGrp="1"/>
          </p:cNvSpPr>
          <p:nvPr>
            <p:ph type="subTitle" idx="1"/>
          </p:nvPr>
        </p:nvSpPr>
        <p:spPr/>
        <p:txBody>
          <a:bodyPr>
            <a:normAutofit lnSpcReduction="10000"/>
          </a:bodyPr>
          <a:lstStyle/>
          <a:p>
            <a:endParaRPr lang="en-US" dirty="0" smtClean="0"/>
          </a:p>
          <a:p>
            <a:endParaRPr lang="en-US" dirty="0" smtClean="0"/>
          </a:p>
          <a:p>
            <a:r>
              <a:rPr lang="en-US" dirty="0" smtClean="0"/>
              <a:t>By </a:t>
            </a:r>
            <a:r>
              <a:rPr lang="en-US" dirty="0" err="1" smtClean="0"/>
              <a:t>Siryet</a:t>
            </a:r>
            <a:r>
              <a:rPr lang="en-US" dirty="0" smtClean="0"/>
              <a:t> </a:t>
            </a:r>
            <a:r>
              <a:rPr lang="en-US" dirty="0" err="1" smtClean="0"/>
              <a:t>Tesfaye</a:t>
            </a:r>
            <a:endParaRPr lang="en-US" dirty="0" smtClean="0"/>
          </a:p>
          <a:p>
            <a:r>
              <a:rPr lang="en-US" dirty="0" smtClean="0"/>
              <a:t>For fourth year students</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 line</a:t>
            </a:r>
            <a:endParaRPr lang="en-US" dirty="0"/>
          </a:p>
        </p:txBody>
      </p:sp>
      <p:sp>
        <p:nvSpPr>
          <p:cNvPr id="3" name="Content Placeholder 2"/>
          <p:cNvSpPr>
            <a:spLocks noGrp="1"/>
          </p:cNvSpPr>
          <p:nvPr>
            <p:ph idx="1"/>
          </p:nvPr>
        </p:nvSpPr>
        <p:spPr>
          <a:xfrm>
            <a:off x="457200" y="1295400"/>
            <a:ext cx="8229600" cy="5029200"/>
          </a:xfrm>
        </p:spPr>
        <p:txBody>
          <a:bodyPr>
            <a:normAutofit fontScale="92500" lnSpcReduction="10000"/>
          </a:bodyPr>
          <a:lstStyle/>
          <a:p>
            <a:r>
              <a:rPr lang="en-US" dirty="0" smtClean="0"/>
              <a:t>Neuro anatomy and Physiology</a:t>
            </a:r>
          </a:p>
          <a:p>
            <a:r>
              <a:rPr lang="en-US" dirty="0" smtClean="0"/>
              <a:t>Cerebral Blood Flow and Its Control</a:t>
            </a:r>
          </a:p>
          <a:p>
            <a:r>
              <a:rPr lang="en-US" dirty="0" smtClean="0"/>
              <a:t>The Intracranial Compartment and Intracranial Pressure</a:t>
            </a:r>
          </a:p>
          <a:p>
            <a:r>
              <a:rPr lang="en-US" dirty="0" smtClean="0"/>
              <a:t>Intra operative Brain Protection</a:t>
            </a:r>
          </a:p>
          <a:p>
            <a:r>
              <a:rPr lang="en-US" dirty="0" err="1" smtClean="0"/>
              <a:t>Anaesthesia</a:t>
            </a:r>
            <a:r>
              <a:rPr lang="en-US" dirty="0" smtClean="0"/>
              <a:t> for elective intracranial surgery</a:t>
            </a:r>
          </a:p>
          <a:p>
            <a:r>
              <a:rPr lang="en-US" dirty="0" smtClean="0"/>
              <a:t>Special type of problems (surgeries</a:t>
            </a:r>
          </a:p>
          <a:p>
            <a:pPr lvl="0"/>
            <a:r>
              <a:rPr lang="en-US" dirty="0" err="1" smtClean="0"/>
              <a:t>Anaesthesia</a:t>
            </a:r>
            <a:r>
              <a:rPr lang="en-US" dirty="0" smtClean="0"/>
              <a:t> for emergency </a:t>
            </a:r>
            <a:r>
              <a:rPr lang="en-US" dirty="0" err="1" smtClean="0"/>
              <a:t>intracaranial</a:t>
            </a:r>
            <a:r>
              <a:rPr lang="en-US" dirty="0" smtClean="0"/>
              <a:t> neurosurgical procedures</a:t>
            </a:r>
          </a:p>
          <a:p>
            <a:pPr lvl="0"/>
            <a:r>
              <a:rPr lang="en-US" dirty="0" smtClean="0"/>
              <a:t>Surgery of spine and spinal cord</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Assignments</a:t>
            </a:r>
            <a:endParaRPr lang="en-US" dirty="0"/>
          </a:p>
        </p:txBody>
      </p:sp>
      <p:sp>
        <p:nvSpPr>
          <p:cNvPr id="3" name="Content Placeholder 2"/>
          <p:cNvSpPr>
            <a:spLocks noGrp="1"/>
          </p:cNvSpPr>
          <p:nvPr>
            <p:ph idx="1"/>
          </p:nvPr>
        </p:nvSpPr>
        <p:spPr/>
        <p:txBody>
          <a:bodyPr>
            <a:normAutofit fontScale="85000" lnSpcReduction="20000"/>
          </a:bodyPr>
          <a:lstStyle/>
          <a:p>
            <a:endParaRPr lang="en-US" dirty="0" smtClean="0"/>
          </a:p>
          <a:p>
            <a:pPr>
              <a:buNone/>
            </a:pPr>
            <a:r>
              <a:rPr lang="en-US" dirty="0" smtClean="0"/>
              <a:t>1. Effects of different surgical Position in </a:t>
            </a:r>
            <a:r>
              <a:rPr lang="en-US" dirty="0" err="1" smtClean="0"/>
              <a:t>Neuro</a:t>
            </a:r>
            <a:r>
              <a:rPr lang="en-US" dirty="0" smtClean="0"/>
              <a:t>     Anesthesia.</a:t>
            </a:r>
          </a:p>
          <a:p>
            <a:pPr>
              <a:buNone/>
            </a:pPr>
            <a:r>
              <a:rPr lang="en-US" dirty="0" smtClean="0"/>
              <a:t>2. </a:t>
            </a:r>
            <a:r>
              <a:rPr lang="en-US" dirty="0" err="1" smtClean="0"/>
              <a:t>Pathophysiology</a:t>
            </a:r>
            <a:r>
              <a:rPr lang="en-US" dirty="0" smtClean="0"/>
              <a:t> of cerebral ischemia and its management</a:t>
            </a:r>
          </a:p>
          <a:p>
            <a:pPr>
              <a:buNone/>
            </a:pPr>
            <a:r>
              <a:rPr lang="en-US" dirty="0" smtClean="0"/>
              <a:t>3.  Anesthetic management in pregnant  neuro surgical patients and fluid management in neurosurgical cases.</a:t>
            </a:r>
          </a:p>
          <a:p>
            <a:pPr>
              <a:buNone/>
            </a:pPr>
            <a:r>
              <a:rPr lang="en-US" dirty="0" smtClean="0"/>
              <a:t>4.Monitoring for different type of neurosurgical procedures.</a:t>
            </a:r>
          </a:p>
          <a:p>
            <a:pPr>
              <a:buNone/>
            </a:pPr>
            <a:r>
              <a:rPr lang="en-US" dirty="0" smtClean="0"/>
              <a:t> 4.1  CBF Monitoring</a:t>
            </a:r>
          </a:p>
          <a:p>
            <a:pPr>
              <a:buNone/>
            </a:pPr>
            <a:r>
              <a:rPr lang="en-US" dirty="0" smtClean="0"/>
              <a:t> 4.2  CNS monitoring</a:t>
            </a:r>
          </a:p>
        </p:txBody>
      </p:sp>
      <p:sp>
        <p:nvSpPr>
          <p:cNvPr id="5" name="Footer Placeholder 4"/>
          <p:cNvSpPr>
            <a:spLocks noGrp="1"/>
          </p:cNvSpPr>
          <p:nvPr>
            <p:ph type="ftr" sz="quarter" idx="11"/>
          </p:nvPr>
        </p:nvSpPr>
        <p:spPr/>
        <p:txBody>
          <a:bodyPr/>
          <a:lstStyle/>
          <a:p>
            <a:r>
              <a:rPr lang="en-US" dirty="0" smtClean="0">
                <a:solidFill>
                  <a:schemeClr val="tx1"/>
                </a:solidFill>
              </a:rPr>
              <a:t>By </a:t>
            </a:r>
            <a:r>
              <a:rPr lang="en-US" dirty="0" err="1" smtClean="0">
                <a:solidFill>
                  <a:schemeClr val="tx1"/>
                </a:solidFill>
              </a:rPr>
              <a:t>Siryet</a:t>
            </a:r>
            <a:r>
              <a:rPr lang="en-US" dirty="0" smtClean="0">
                <a:solidFill>
                  <a:schemeClr val="tx1"/>
                </a:solidFill>
              </a:rPr>
              <a:t> </a:t>
            </a:r>
            <a:r>
              <a:rPr lang="en-US" dirty="0" err="1" smtClean="0">
                <a:solidFill>
                  <a:schemeClr val="tx1"/>
                </a:solidFill>
              </a:rPr>
              <a:t>Tesfaye</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1528205D-516C-4A2E-8491-92189BC25433}" type="slidenum">
              <a:rPr lang="en-US" smtClean="0">
                <a:solidFill>
                  <a:schemeClr val="tx1"/>
                </a:solidFill>
              </a:rPr>
              <a:pPr/>
              <a:t>4</a:t>
            </a:fld>
            <a:endParaRPr lang="en-US" dirty="0">
              <a:solidFill>
                <a:schemeClr val="tx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C0nt</a:t>
            </a:r>
            <a:endParaRPr lang="en-US" dirty="0"/>
          </a:p>
        </p:txBody>
      </p:sp>
      <p:sp>
        <p:nvSpPr>
          <p:cNvPr id="3" name="Content Placeholder 2"/>
          <p:cNvSpPr>
            <a:spLocks noGrp="1"/>
          </p:cNvSpPr>
          <p:nvPr>
            <p:ph idx="1"/>
          </p:nvPr>
        </p:nvSpPr>
        <p:spPr/>
        <p:txBody>
          <a:bodyPr/>
          <a:lstStyle/>
          <a:p>
            <a:r>
              <a:rPr lang="en-US" dirty="0" smtClean="0"/>
              <a:t>6. </a:t>
            </a:r>
            <a:r>
              <a:rPr lang="en-US" dirty="0" err="1" smtClean="0"/>
              <a:t>Parkinsons</a:t>
            </a:r>
            <a:r>
              <a:rPr lang="en-US" dirty="0" smtClean="0"/>
              <a:t> disease</a:t>
            </a:r>
          </a:p>
          <a:p>
            <a:pPr>
              <a:buNone/>
            </a:pPr>
            <a:r>
              <a:rPr lang="en-US" dirty="0" smtClean="0"/>
              <a:t>      </a:t>
            </a:r>
            <a:r>
              <a:rPr lang="en-US" dirty="0" err="1" smtClean="0"/>
              <a:t>Alzimers</a:t>
            </a:r>
            <a:endParaRPr lang="en-US" dirty="0" smtClean="0"/>
          </a:p>
          <a:p>
            <a:pPr>
              <a:buNone/>
            </a:pPr>
            <a:r>
              <a:rPr lang="en-US" dirty="0" smtClean="0"/>
              <a:t>Definition,</a:t>
            </a:r>
          </a:p>
          <a:p>
            <a:pPr>
              <a:buNone/>
            </a:pPr>
            <a:r>
              <a:rPr lang="en-US" dirty="0" smtClean="0"/>
              <a:t>sign and symptom</a:t>
            </a:r>
          </a:p>
          <a:p>
            <a:pPr>
              <a:buNone/>
            </a:pPr>
            <a:r>
              <a:rPr lang="en-US" dirty="0" err="1" smtClean="0"/>
              <a:t>Pathophysiology</a:t>
            </a:r>
            <a:endParaRPr lang="en-US" dirty="0" smtClean="0"/>
          </a:p>
          <a:p>
            <a:pPr>
              <a:buNone/>
            </a:pPr>
            <a:r>
              <a:rPr lang="en-US" dirty="0" smtClean="0"/>
              <a:t>Anesthetic consideration</a:t>
            </a:r>
          </a:p>
          <a:p>
            <a:pPr>
              <a:buNone/>
            </a:pPr>
            <a:r>
              <a:rPr lang="en-US" dirty="0" smtClean="0"/>
              <a:t> </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Introduction</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endParaRPr lang="en-US" dirty="0">
              <a:solidFill>
                <a:schemeClr val="tx1"/>
              </a:solidFill>
            </a:endParaRPr>
          </a:p>
        </p:txBody>
      </p:sp>
      <p:sp>
        <p:nvSpPr>
          <p:cNvPr id="3" name="Content Placeholder 2"/>
          <p:cNvSpPr>
            <a:spLocks noGrp="1"/>
          </p:cNvSpPr>
          <p:nvPr>
            <p:ph idx="1"/>
          </p:nvPr>
        </p:nvSpPr>
        <p:spPr/>
        <p:txBody>
          <a:bodyPr>
            <a:normAutofit/>
          </a:bodyPr>
          <a:lstStyle/>
          <a:p>
            <a:r>
              <a:rPr lang="en-US" dirty="0" smtClean="0"/>
              <a:t>The anesthetic care of patients who undergo neurosurgery requires a basic understanding of the physiology of the central nervous system (CNS). </a:t>
            </a:r>
          </a:p>
          <a:p>
            <a:r>
              <a:rPr lang="en-US" dirty="0" smtClean="0"/>
              <a:t>The effects of anesthetic agents on cerebral metabolism, blood flow, cerebrospinal fluid (CSF) dynamics, and intracranial volume and pressure are often profound.</a:t>
            </a:r>
            <a:endParaRPr lang="en-US" dirty="0"/>
          </a:p>
        </p:txBody>
      </p:sp>
      <p:sp>
        <p:nvSpPr>
          <p:cNvPr id="5" name="Footer Placeholder 4"/>
          <p:cNvSpPr>
            <a:spLocks noGrp="1"/>
          </p:cNvSpPr>
          <p:nvPr>
            <p:ph type="ftr" sz="quarter" idx="11"/>
          </p:nvPr>
        </p:nvSpPr>
        <p:spPr/>
        <p:txBody>
          <a:bodyPr/>
          <a:lstStyle/>
          <a:p>
            <a:r>
              <a:rPr lang="en-US" smtClean="0">
                <a:solidFill>
                  <a:schemeClr val="tx1"/>
                </a:solidFill>
              </a:rPr>
              <a:t>By Siryet Tesfaye</a:t>
            </a:r>
            <a:endParaRPr lang="en-US">
              <a:solidFill>
                <a:schemeClr val="tx1"/>
              </a:solidFill>
            </a:endParaRPr>
          </a:p>
        </p:txBody>
      </p:sp>
      <p:sp>
        <p:nvSpPr>
          <p:cNvPr id="4" name="Slide Number Placeholder 3"/>
          <p:cNvSpPr>
            <a:spLocks noGrp="1"/>
          </p:cNvSpPr>
          <p:nvPr>
            <p:ph type="sldNum" sz="quarter" idx="12"/>
          </p:nvPr>
        </p:nvSpPr>
        <p:spPr/>
        <p:txBody>
          <a:bodyPr/>
          <a:lstStyle/>
          <a:p>
            <a:fld id="{1528205D-516C-4A2E-8491-92189BC25433}" type="slidenum">
              <a:rPr lang="en-US" smtClean="0">
                <a:solidFill>
                  <a:schemeClr val="tx1"/>
                </a:solidFill>
              </a:rPr>
              <a:pPr/>
              <a:t>6</a:t>
            </a:fld>
            <a:endParaRPr lang="en-US">
              <a:solidFill>
                <a:schemeClr val="tx1"/>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In some instances, these alterations are deleterious, whereas in others they may actually be beneficial. </a:t>
            </a:r>
          </a:p>
          <a:p>
            <a:r>
              <a:rPr lang="en-US" dirty="0" smtClean="0"/>
              <a:t>This course reviews important physiological concepts in anesthetic practice and then discusses the effects of commonly used anesthetics on cerebral physiology. </a:t>
            </a:r>
          </a:p>
          <a:p>
            <a:r>
              <a:rPr lang="en-US" dirty="0" smtClean="0"/>
              <a:t>Although most of the discussion focuses on the brain, the same concepts also apply, at least qualitatively, to the spinal cord.</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914400"/>
            <a:ext cx="7498080" cy="5486400"/>
          </a:xfrm>
        </p:spPr>
        <p:txBody>
          <a:bodyPr>
            <a:normAutofit/>
          </a:bodyPr>
          <a:lstStyle/>
          <a:p>
            <a:r>
              <a:rPr lang="en-US" dirty="0"/>
              <a:t>For practical purposes, many surgeons divide the intracranial compartment into</a:t>
            </a:r>
          </a:p>
          <a:p>
            <a:r>
              <a:rPr lang="en-US" dirty="0" err="1"/>
              <a:t>supratentorial</a:t>
            </a:r>
            <a:r>
              <a:rPr lang="en-US" dirty="0"/>
              <a:t> and </a:t>
            </a:r>
            <a:r>
              <a:rPr lang="en-US" dirty="0" err="1"/>
              <a:t>infratentorial</a:t>
            </a:r>
            <a:r>
              <a:rPr lang="en-US" dirty="0"/>
              <a:t> compartments</a:t>
            </a:r>
            <a:r>
              <a:rPr lang="en-US" dirty="0" smtClean="0"/>
              <a:t>.</a:t>
            </a:r>
          </a:p>
          <a:p>
            <a:r>
              <a:rPr lang="en-US" dirty="0" smtClean="0"/>
              <a:t> </a:t>
            </a:r>
            <a:r>
              <a:rPr lang="en-US" dirty="0"/>
              <a:t>The </a:t>
            </a:r>
            <a:r>
              <a:rPr lang="en-US" i="1" dirty="0" err="1"/>
              <a:t>supratentorial</a:t>
            </a:r>
            <a:r>
              <a:rPr lang="en-US" i="1" dirty="0"/>
              <a:t> </a:t>
            </a:r>
            <a:r>
              <a:rPr lang="en-US" i="1" dirty="0" smtClean="0"/>
              <a:t>compartment </a:t>
            </a:r>
            <a:r>
              <a:rPr lang="en-US" dirty="0" smtClean="0"/>
              <a:t>contains </a:t>
            </a:r>
            <a:r>
              <a:rPr lang="en-US" dirty="0"/>
              <a:t>the cerebral hemispheres and the diencephalon, whereas the </a:t>
            </a:r>
            <a:r>
              <a:rPr lang="en-US" i="1" dirty="0" err="1" smtClean="0"/>
              <a:t>infratentorial</a:t>
            </a:r>
            <a:r>
              <a:rPr lang="en-US" i="1" dirty="0"/>
              <a:t> </a:t>
            </a:r>
            <a:r>
              <a:rPr lang="en-US" dirty="0" smtClean="0"/>
              <a:t>compartment </a:t>
            </a:r>
            <a:r>
              <a:rPr lang="en-US" dirty="0"/>
              <a:t>includes the brainstem and cerebellum.</a:t>
            </a:r>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81000" y="0"/>
            <a:ext cx="8077200" cy="5029200"/>
          </a:xfrm>
          <a:prstGeom prst="rect">
            <a:avLst/>
          </a:prstGeom>
          <a:noFill/>
          <a:ln w="9525">
            <a:noFill/>
            <a:miter lim="800000"/>
            <a:headEnd/>
            <a:tailEnd/>
          </a:ln>
          <a:effectLst/>
        </p:spPr>
      </p:pic>
      <p:sp>
        <p:nvSpPr>
          <p:cNvPr id="6" name="Footer Placeholder 5"/>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9</a:t>
            </a:fld>
            <a:endParaRPr lang="en-US"/>
          </a:p>
        </p:txBody>
      </p:sp>
      <p:sp>
        <p:nvSpPr>
          <p:cNvPr id="5" name="Rectangle 4"/>
          <p:cNvSpPr/>
          <p:nvPr/>
        </p:nvSpPr>
        <p:spPr>
          <a:xfrm>
            <a:off x="457200" y="5486400"/>
            <a:ext cx="8305800" cy="923330"/>
          </a:xfrm>
          <a:prstGeom prst="rect">
            <a:avLst/>
          </a:prstGeom>
        </p:spPr>
        <p:txBody>
          <a:bodyPr wrap="square">
            <a:spAutoFit/>
          </a:bodyPr>
          <a:lstStyle/>
          <a:p>
            <a:r>
              <a:rPr lang="en-US" dirty="0" smtClean="0"/>
              <a:t>(</a:t>
            </a:r>
            <a:r>
              <a:rPr lang="en-US" dirty="0"/>
              <a:t>1) spinal cord; (2) cerebral hemispheres;</a:t>
            </a:r>
          </a:p>
          <a:p>
            <a:r>
              <a:rPr lang="en-US" dirty="0"/>
              <a:t>(3) diencephalon, (4) brainstem, consisting of the medulla, </a:t>
            </a:r>
            <a:r>
              <a:rPr lang="en-US" dirty="0" err="1"/>
              <a:t>pons</a:t>
            </a:r>
            <a:r>
              <a:rPr lang="en-US" dirty="0"/>
              <a:t>, and midbrain; and (5) cerebellum</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533400"/>
          </a:xfrm>
        </p:spPr>
        <p:txBody>
          <a:bodyPr>
            <a:normAutofit fontScale="90000"/>
          </a:bodyPr>
          <a:lstStyle/>
          <a:p>
            <a:r>
              <a:rPr lang="en-US" dirty="0" err="1" smtClean="0"/>
              <a:t>Supratentorial</a:t>
            </a:r>
            <a:r>
              <a:rPr lang="en-US" dirty="0" smtClean="0"/>
              <a:t> Compartment</a:t>
            </a:r>
            <a:br>
              <a:rPr lang="en-US" dirty="0" smtClean="0"/>
            </a:br>
            <a:endParaRPr lang="en-US" dirty="0"/>
          </a:p>
        </p:txBody>
      </p:sp>
      <p:sp>
        <p:nvSpPr>
          <p:cNvPr id="3" name="Content Placeholder 2"/>
          <p:cNvSpPr>
            <a:spLocks noGrp="1"/>
          </p:cNvSpPr>
          <p:nvPr>
            <p:ph idx="1"/>
          </p:nvPr>
        </p:nvSpPr>
        <p:spPr>
          <a:xfrm>
            <a:off x="457200" y="1295400"/>
            <a:ext cx="8229600" cy="4830763"/>
          </a:xfrm>
        </p:spPr>
        <p:txBody>
          <a:bodyPr>
            <a:normAutofit/>
          </a:bodyPr>
          <a:lstStyle/>
          <a:p>
            <a:r>
              <a:rPr lang="en-US" b="1" dirty="0" smtClean="0"/>
              <a:t>Cerebrum and </a:t>
            </a:r>
            <a:r>
              <a:rPr lang="en-US" b="1" dirty="0" err="1" smtClean="0"/>
              <a:t>Neocortices</a:t>
            </a:r>
            <a:endParaRPr lang="en-US" b="1" dirty="0" smtClean="0"/>
          </a:p>
          <a:p>
            <a:r>
              <a:rPr lang="en-US" dirty="0" smtClean="0"/>
              <a:t>The cerebral hemispheres consist of the cerebral cortex, white matter projections, and a few deep structures, including the basal ganglia and hippocampus/</a:t>
            </a:r>
          </a:p>
          <a:p>
            <a:r>
              <a:rPr lang="en-US" dirty="0" smtClean="0"/>
              <a:t> The cortex is highly convoluted with </a:t>
            </a:r>
            <a:r>
              <a:rPr lang="en-US" dirty="0" err="1" smtClean="0"/>
              <a:t>infoldings</a:t>
            </a:r>
            <a:r>
              <a:rPr lang="en-US" dirty="0" smtClean="0"/>
              <a:t> called </a:t>
            </a:r>
            <a:r>
              <a:rPr lang="en-US" dirty="0" err="1" smtClean="0"/>
              <a:t>sulci</a:t>
            </a:r>
            <a:r>
              <a:rPr lang="en-US" dirty="0" smtClean="0"/>
              <a:t> and bumps or ridges called </a:t>
            </a:r>
            <a:r>
              <a:rPr lang="en-US" dirty="0" err="1" smtClean="0"/>
              <a:t>gyri</a:t>
            </a:r>
            <a:r>
              <a:rPr lang="en-US" dirty="0" smtClean="0"/>
              <a:t>.</a:t>
            </a:r>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 Each hemisphere is divided into four major lobes: frontal, parietal, temporal, and occipital </a:t>
            </a:r>
          </a:p>
          <a:p>
            <a:r>
              <a:rPr lang="en-US" dirty="0" smtClean="0"/>
              <a:t>The hemispheres are principally defined by the midline </a:t>
            </a:r>
            <a:r>
              <a:rPr lang="en-US" dirty="0" err="1" smtClean="0"/>
              <a:t>interhemispheric</a:t>
            </a:r>
            <a:r>
              <a:rPr lang="en-US" dirty="0" smtClean="0"/>
              <a:t> fissure, the central </a:t>
            </a:r>
            <a:r>
              <a:rPr lang="en-US" dirty="0" err="1" smtClean="0"/>
              <a:t>sulcus</a:t>
            </a:r>
            <a:r>
              <a:rPr lang="en-US" dirty="0" smtClean="0"/>
              <a:t> in the posterior frontal lobe, and the large lateral </a:t>
            </a:r>
            <a:r>
              <a:rPr lang="en-US" dirty="0" err="1" smtClean="0"/>
              <a:t>sylvian</a:t>
            </a:r>
            <a:r>
              <a:rPr lang="en-US" dirty="0" smtClean="0"/>
              <a:t> fissure.</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838200" y="1066800"/>
            <a:ext cx="7543799" cy="4572000"/>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By Siryet Tesfaye</a:t>
            </a:r>
            <a:endParaRPr lang="en-US"/>
          </a:p>
        </p:txBody>
      </p:sp>
      <p:sp>
        <p:nvSpPr>
          <p:cNvPr id="3" name="Slide Number Placeholder 2"/>
          <p:cNvSpPr>
            <a:spLocks noGrp="1"/>
          </p:cNvSpPr>
          <p:nvPr>
            <p:ph type="sldNum" sz="quarter" idx="12"/>
          </p:nvPr>
        </p:nvSpPr>
        <p:spPr/>
        <p:txBody>
          <a:bodyPr/>
          <a:lstStyle/>
          <a:p>
            <a:fld id="{1528205D-516C-4A2E-8491-92189BC25433}"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Diencephalon</a:t>
            </a:r>
            <a:br>
              <a:rPr lang="en-US" b="1" dirty="0" smtClean="0"/>
            </a:br>
            <a:endParaRPr lang="en-US" dirty="0"/>
          </a:p>
        </p:txBody>
      </p:sp>
      <p:sp>
        <p:nvSpPr>
          <p:cNvPr id="3" name="Content Placeholder 2"/>
          <p:cNvSpPr>
            <a:spLocks noGrp="1"/>
          </p:cNvSpPr>
          <p:nvPr>
            <p:ph idx="1"/>
          </p:nvPr>
        </p:nvSpPr>
        <p:spPr/>
        <p:txBody>
          <a:bodyPr/>
          <a:lstStyle/>
          <a:p>
            <a:r>
              <a:rPr lang="en-US" dirty="0" smtClean="0"/>
              <a:t>The diencephalon sits above the midbrain and consists of the thalamus and hypothalamus.</a:t>
            </a:r>
          </a:p>
          <a:p>
            <a:r>
              <a:rPr lang="en-US" dirty="0" smtClean="0"/>
              <a:t>The thalamus is “an information relay station.” All sensory modalities pass through the thalamus, and there are many reciprocal connections</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The hypothalamus, located just inferior to the thalamus, controls endocrine, autonomic, and visceral function. The hypothalamus is connected to the pituitary gland by the </a:t>
            </a:r>
            <a:r>
              <a:rPr lang="en-US" dirty="0" err="1" smtClean="0"/>
              <a:t>infundibulum</a:t>
            </a:r>
            <a:r>
              <a:rPr lang="en-US" dirty="0" smtClean="0"/>
              <a:t>, which continues as the pituitary stalk</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533400"/>
          </a:xfrm>
        </p:spPr>
        <p:txBody>
          <a:bodyPr>
            <a:normAutofit fontScale="90000"/>
          </a:bodyPr>
          <a:lstStyle/>
          <a:p>
            <a:r>
              <a:rPr lang="en-US" dirty="0" smtClean="0"/>
              <a:t>Infratentorial Compartment</a:t>
            </a:r>
            <a:br>
              <a:rPr lang="en-US" dirty="0" smtClean="0"/>
            </a:br>
            <a:endParaRPr lang="en-US" dirty="0"/>
          </a:p>
        </p:txBody>
      </p:sp>
      <p:sp>
        <p:nvSpPr>
          <p:cNvPr id="3" name="Content Placeholder 2"/>
          <p:cNvSpPr>
            <a:spLocks noGrp="1"/>
          </p:cNvSpPr>
          <p:nvPr>
            <p:ph idx="1"/>
          </p:nvPr>
        </p:nvSpPr>
        <p:spPr/>
        <p:txBody>
          <a:bodyPr>
            <a:normAutofit/>
          </a:bodyPr>
          <a:lstStyle/>
          <a:p>
            <a:pPr>
              <a:buNone/>
            </a:pPr>
            <a:r>
              <a:rPr lang="en-US" b="1" dirty="0" smtClean="0"/>
              <a:t>Brainstem</a:t>
            </a:r>
          </a:p>
          <a:p>
            <a:r>
              <a:rPr lang="en-US" dirty="0" smtClean="0"/>
              <a:t>The brainstem, a highly complex and clinically critical region of the CNS, consists of the medulla, pons, and midbrain Unlike any other region of the brain, it is at the same time the anatomic substrate of consciousness, a regulator of autonomic function</a:t>
            </a:r>
          </a:p>
        </p:txBody>
      </p:sp>
      <p:sp>
        <p:nvSpPr>
          <p:cNvPr id="5" name="Footer Placeholder 4"/>
          <p:cNvSpPr>
            <a:spLocks noGrp="1"/>
          </p:cNvSpPr>
          <p:nvPr>
            <p:ph type="ftr" sz="quarter" idx="11"/>
          </p:nvPr>
        </p:nvSpPr>
        <p:spPr/>
        <p:txBody>
          <a:bodyPr/>
          <a:lstStyle/>
          <a:p>
            <a:r>
              <a:rPr lang="en-US" dirty="0" smtClean="0"/>
              <a:t>By Siryet Tesfaye</a:t>
            </a:r>
            <a:endParaRPr lang="en-US" dirty="0"/>
          </a:p>
        </p:txBody>
      </p:sp>
      <p:sp>
        <p:nvSpPr>
          <p:cNvPr id="4" name="Slide Number Placeholder 3"/>
          <p:cNvSpPr>
            <a:spLocks noGrp="1"/>
          </p:cNvSpPr>
          <p:nvPr>
            <p:ph type="sldNum" sz="quarter" idx="12"/>
          </p:nvPr>
        </p:nvSpPr>
        <p:spPr/>
        <p:txBody>
          <a:bodyPr/>
          <a:lstStyle/>
          <a:p>
            <a:fld id="{1528205D-516C-4A2E-8491-92189BC25433}" type="slidenum">
              <a:rPr lang="en-US" smtClean="0"/>
              <a:pPr/>
              <a:t>15</a:t>
            </a:fld>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84238"/>
          </a:xfrm>
        </p:spPr>
        <p:txBody>
          <a:bodyPr>
            <a:normAutofit fontScale="90000"/>
          </a:bodyPr>
          <a:lstStyle/>
          <a:p>
            <a:r>
              <a:rPr lang="en-US" b="1" dirty="0" smtClean="0">
                <a:solidFill>
                  <a:schemeClr val="tx1"/>
                </a:solidFill>
              </a:rPr>
              <a:t>Cerebellum</a:t>
            </a:r>
            <a:br>
              <a:rPr lang="en-US" b="1" dirty="0" smtClean="0">
                <a:solidFill>
                  <a:schemeClr val="tx1"/>
                </a:solidFill>
              </a:rPr>
            </a:br>
            <a:endParaRPr lang="en-US" dirty="0">
              <a:solidFill>
                <a:schemeClr val="tx1"/>
              </a:solidFill>
            </a:endParaRPr>
          </a:p>
        </p:txBody>
      </p:sp>
      <p:sp>
        <p:nvSpPr>
          <p:cNvPr id="3" name="Content Placeholder 2"/>
          <p:cNvSpPr>
            <a:spLocks noGrp="1"/>
          </p:cNvSpPr>
          <p:nvPr>
            <p:ph idx="1"/>
          </p:nvPr>
        </p:nvSpPr>
        <p:spPr/>
        <p:txBody>
          <a:bodyPr/>
          <a:lstStyle/>
          <a:p>
            <a:r>
              <a:rPr lang="en-US" dirty="0" smtClean="0"/>
              <a:t>The cerebellum is found in the posterior cranial fossa</a:t>
            </a:r>
          </a:p>
          <a:p>
            <a:r>
              <a:rPr lang="en-US" dirty="0" smtClean="0"/>
              <a:t>It is attached to the brainstem by the three cerebellar peduncles at the level of the fourth ventricle. This intimate relationship between the cerebellum and brainstem puts the patient’s life in danger in cases of acute cerebellar edema.</a:t>
            </a:r>
            <a:endParaRPr lang="en-US" dirty="0"/>
          </a:p>
        </p:txBody>
      </p:sp>
      <p:sp>
        <p:nvSpPr>
          <p:cNvPr id="5" name="Footer Placeholder 4"/>
          <p:cNvSpPr>
            <a:spLocks noGrp="1"/>
          </p:cNvSpPr>
          <p:nvPr>
            <p:ph type="ftr" sz="quarter" idx="11"/>
          </p:nvPr>
        </p:nvSpPr>
        <p:spPr/>
        <p:txBody>
          <a:bodyPr/>
          <a:lstStyle/>
          <a:p>
            <a:r>
              <a:rPr lang="en-US" dirty="0" smtClean="0">
                <a:solidFill>
                  <a:schemeClr val="tx1"/>
                </a:solidFill>
              </a:rPr>
              <a:t>By </a:t>
            </a:r>
            <a:r>
              <a:rPr lang="en-US" dirty="0" err="1" smtClean="0">
                <a:solidFill>
                  <a:schemeClr val="tx1"/>
                </a:solidFill>
              </a:rPr>
              <a:t>Siryet</a:t>
            </a:r>
            <a:r>
              <a:rPr lang="en-US" dirty="0" smtClean="0">
                <a:solidFill>
                  <a:schemeClr val="tx1"/>
                </a:solidFill>
              </a:rPr>
              <a:t> </a:t>
            </a:r>
            <a:r>
              <a:rPr lang="en-US" dirty="0" err="1" smtClean="0">
                <a:solidFill>
                  <a:schemeClr val="tx1"/>
                </a:solidFill>
              </a:rPr>
              <a:t>Tesfaye</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1528205D-516C-4A2E-8491-92189BC25433}" type="slidenum">
              <a:rPr lang="en-US" smtClean="0">
                <a:solidFill>
                  <a:schemeClr val="tx1"/>
                </a:solidFill>
              </a:rPr>
              <a:pPr/>
              <a:t>16</a:t>
            </a:fld>
            <a:endParaRPr lang="en-US">
              <a:solidFill>
                <a:schemeClr val="tx1"/>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smtClean="0"/>
              <a:t>it controls axial posture via neocortical projections.</a:t>
            </a:r>
          </a:p>
          <a:p>
            <a:r>
              <a:rPr lang="en-US" dirty="0" smtClean="0"/>
              <a:t>Lesions of the cerebellum typically produce deficits </a:t>
            </a:r>
            <a:r>
              <a:rPr lang="en-US" dirty="0" err="1" smtClean="0"/>
              <a:t>ipsilateral</a:t>
            </a:r>
            <a:r>
              <a:rPr lang="en-US" dirty="0" smtClean="0"/>
              <a:t> to the lesion because the output of the cerebellum is crossed, and it affects primarily the descending motor pathways, which are also crossed. </a:t>
            </a:r>
          </a:p>
          <a:p>
            <a:r>
              <a:rPr lang="en-US" dirty="0" smtClean="0"/>
              <a:t>Typical symptoms include ataxia and </a:t>
            </a:r>
            <a:r>
              <a:rPr lang="en-US" dirty="0" err="1" smtClean="0"/>
              <a:t>truncal</a:t>
            </a:r>
            <a:r>
              <a:rPr lang="en-US" dirty="0" smtClean="0"/>
              <a:t> tremor (</a:t>
            </a:r>
            <a:r>
              <a:rPr lang="en-US" dirty="0" err="1" smtClean="0"/>
              <a:t>titubation</a:t>
            </a:r>
            <a:r>
              <a:rPr lang="en-US" dirty="0" smtClean="0"/>
              <a:t>)</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Cerebral Circulation</a:t>
            </a:r>
            <a:endParaRPr lang="en-US" dirty="0"/>
          </a:p>
        </p:txBody>
      </p:sp>
      <p:sp>
        <p:nvSpPr>
          <p:cNvPr id="3" name="Content Placeholder 2"/>
          <p:cNvSpPr>
            <a:spLocks noGrp="1"/>
          </p:cNvSpPr>
          <p:nvPr>
            <p:ph idx="1"/>
          </p:nvPr>
        </p:nvSpPr>
        <p:spPr/>
        <p:txBody>
          <a:bodyPr>
            <a:normAutofit/>
          </a:bodyPr>
          <a:lstStyle/>
          <a:p>
            <a:r>
              <a:rPr lang="en-US" dirty="0" smtClean="0"/>
              <a:t>The brain has the highest metabolic requirements of any organ in the body. </a:t>
            </a:r>
          </a:p>
          <a:p>
            <a:r>
              <a:rPr lang="en-US" dirty="0" smtClean="0"/>
              <a:t>It receives 14% of the resting cardiac output in adults (≈700 </a:t>
            </a:r>
            <a:r>
              <a:rPr lang="en-US" dirty="0" err="1" smtClean="0"/>
              <a:t>mL</a:t>
            </a:r>
            <a:r>
              <a:rPr lang="en-US" dirty="0" smtClean="0"/>
              <a:t>/min) and accounts for 20% of basal oxygen consumption (≈50 </a:t>
            </a:r>
            <a:r>
              <a:rPr lang="en-US" dirty="0" err="1" smtClean="0"/>
              <a:t>mL</a:t>
            </a:r>
            <a:r>
              <a:rPr lang="en-US" dirty="0" smtClean="0"/>
              <a:t>/min). </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Blood flow within the brain is variable, with flow in gray matter (80 to 110 </a:t>
            </a:r>
            <a:r>
              <a:rPr lang="en-US" dirty="0" err="1" smtClean="0"/>
              <a:t>mL</a:t>
            </a:r>
            <a:r>
              <a:rPr lang="en-US" dirty="0" smtClean="0"/>
              <a:t>/100 g tissue/min) being on average five times that in white matter (22 </a:t>
            </a:r>
            <a:r>
              <a:rPr lang="en-US" dirty="0" err="1" smtClean="0"/>
              <a:t>mL</a:t>
            </a:r>
            <a:r>
              <a:rPr lang="en-US" dirty="0" smtClean="0"/>
              <a:t>/100 g/min).</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arterial supply to the brain is from</a:t>
            </a:r>
            <a:br>
              <a:rPr lang="en-US" dirty="0" smtClean="0"/>
            </a:br>
            <a:endParaRPr lang="en-US" dirty="0"/>
          </a:p>
        </p:txBody>
      </p:sp>
      <p:sp>
        <p:nvSpPr>
          <p:cNvPr id="3" name="Content Placeholder 2"/>
          <p:cNvSpPr>
            <a:spLocks noGrp="1"/>
          </p:cNvSpPr>
          <p:nvPr>
            <p:ph idx="1"/>
          </p:nvPr>
        </p:nvSpPr>
        <p:spPr/>
        <p:txBody>
          <a:bodyPr/>
          <a:lstStyle/>
          <a:p>
            <a:pPr>
              <a:buNone/>
            </a:pPr>
            <a:r>
              <a:rPr lang="en-US" dirty="0" smtClean="0"/>
              <a:t>1) both the right and left internal carotid arteries (ICAs) supplying the anterior two thirds of the cerebral hemispheres and</a:t>
            </a:r>
          </a:p>
          <a:p>
            <a:pPr>
              <a:buNone/>
            </a:pPr>
            <a:r>
              <a:rPr lang="en-US" dirty="0" smtClean="0"/>
              <a:t>2) the </a:t>
            </a:r>
            <a:r>
              <a:rPr lang="en-US" dirty="0" err="1" smtClean="0"/>
              <a:t>vertebrobasilar</a:t>
            </a:r>
            <a:r>
              <a:rPr lang="en-US" dirty="0" smtClean="0"/>
              <a:t> system, which supplies the brainstem and posterior </a:t>
            </a:r>
            <a:r>
              <a:rPr lang="en-US" smtClean="0"/>
              <a:t>regions of the </a:t>
            </a:r>
            <a:r>
              <a:rPr lang="en-US" dirty="0" smtClean="0"/>
              <a:t>hemispheres.</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Each ICA gives rise to a </a:t>
            </a:r>
            <a:r>
              <a:rPr lang="en-US" i="1" dirty="0" smtClean="0"/>
              <a:t>posterior communicating artery before ending by dividing into </a:t>
            </a:r>
            <a:r>
              <a:rPr lang="en-US" dirty="0" smtClean="0"/>
              <a:t>the </a:t>
            </a:r>
            <a:r>
              <a:rPr lang="en-US" i="1" dirty="0" smtClean="0"/>
              <a:t>anterior cerebral artery (ACA) and middle cerebral artery (MCA)</a:t>
            </a:r>
          </a:p>
          <a:p>
            <a:r>
              <a:rPr lang="en-US" dirty="0" smtClean="0"/>
              <a:t>The ACA runs medially and then superiorly and supplies the undersurface of the frontal lobe and the medial </a:t>
            </a:r>
            <a:r>
              <a:rPr lang="en-US" dirty="0" err="1" smtClean="0"/>
              <a:t>neostriatum</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Anastomoses</a:t>
            </a:r>
            <a:r>
              <a:rPr lang="en-US" dirty="0" smtClean="0"/>
              <a:t> between the internal carotid system and the </a:t>
            </a:r>
            <a:r>
              <a:rPr lang="en-US" dirty="0" err="1" smtClean="0"/>
              <a:t>vertebrobasilar</a:t>
            </a:r>
            <a:r>
              <a:rPr lang="en-US" dirty="0" smtClean="0"/>
              <a:t> system form the </a:t>
            </a:r>
            <a:r>
              <a:rPr lang="en-US" i="1" dirty="0" smtClean="0"/>
              <a:t>circle of Willis</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3" name="Picture 9"/>
          <p:cNvPicPr>
            <a:picLocks noGrp="1" noChangeAspect="1" noChangeArrowheads="1"/>
          </p:cNvPicPr>
          <p:nvPr>
            <p:ph idx="1"/>
          </p:nvPr>
        </p:nvPicPr>
        <p:blipFill>
          <a:blip r:embed="rId2"/>
          <a:srcRect/>
          <a:stretch>
            <a:fillRect/>
          </a:stretch>
        </p:blipFill>
        <p:spPr bwMode="auto">
          <a:xfrm>
            <a:off x="457200" y="457200"/>
            <a:ext cx="8153400" cy="6400799"/>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By Siryet Tesfaye</a:t>
            </a:r>
            <a:endParaRPr lang="en-US"/>
          </a:p>
        </p:txBody>
      </p:sp>
      <p:sp>
        <p:nvSpPr>
          <p:cNvPr id="3" name="Slide Number Placeholder 2"/>
          <p:cNvSpPr>
            <a:spLocks noGrp="1"/>
          </p:cNvSpPr>
          <p:nvPr>
            <p:ph type="sldNum" sz="quarter" idx="12"/>
          </p:nvPr>
        </p:nvSpPr>
        <p:spPr/>
        <p:txBody>
          <a:bodyPr/>
          <a:lstStyle/>
          <a:p>
            <a:fld id="{1528205D-516C-4A2E-8491-92189BC25433}"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981153" y="838200"/>
            <a:ext cx="7629447" cy="5287963"/>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By Siryet Tesfaye</a:t>
            </a:r>
            <a:endParaRPr lang="en-US"/>
          </a:p>
        </p:txBody>
      </p:sp>
      <p:sp>
        <p:nvSpPr>
          <p:cNvPr id="3" name="Slide Number Placeholder 2"/>
          <p:cNvSpPr>
            <a:spLocks noGrp="1"/>
          </p:cNvSpPr>
          <p:nvPr>
            <p:ph type="sldNum" sz="quarter" idx="12"/>
          </p:nvPr>
        </p:nvSpPr>
        <p:spPr/>
        <p:txBody>
          <a:bodyPr/>
          <a:lstStyle/>
          <a:p>
            <a:fld id="{1528205D-516C-4A2E-8491-92189BC25433}"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533400"/>
          </a:xfrm>
        </p:spPr>
        <p:txBody>
          <a:bodyPr>
            <a:normAutofit fontScale="90000"/>
          </a:bodyPr>
          <a:lstStyle/>
          <a:p>
            <a:r>
              <a:rPr lang="en-US" dirty="0" smtClean="0"/>
              <a:t>Venous Drainage</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Venous drainage consists of a series of external and internal veins that drain into the </a:t>
            </a:r>
            <a:r>
              <a:rPr lang="en-US" i="1" dirty="0" smtClean="0"/>
              <a:t>venous sinuses.</a:t>
            </a:r>
          </a:p>
          <a:p>
            <a:r>
              <a:rPr lang="en-US" dirty="0" smtClean="0"/>
              <a:t> Many clinicians are concerned that IJV central lines will impair venous drainage from the brain and that this impairment may lead to increased intracranial pressure in the intact skull of a susceptible patient.</a:t>
            </a:r>
          </a:p>
          <a:p>
            <a:r>
              <a:rPr lang="en-US" dirty="0" smtClean="0"/>
              <a:t> However, evidence to support this as being clinically relevant is weak.</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CNS is bathed in cerebrospinal fluid (CSF), which is created in the </a:t>
            </a:r>
            <a:r>
              <a:rPr lang="en-US" dirty="0" smtClean="0"/>
              <a:t>ventricles by </a:t>
            </a:r>
            <a:r>
              <a:rPr lang="en-US" dirty="0"/>
              <a:t>the choroid plexus at a rate of about 15 to 20 </a:t>
            </a:r>
            <a:r>
              <a:rPr lang="en-US" dirty="0" err="1"/>
              <a:t>mL</a:t>
            </a:r>
            <a:r>
              <a:rPr lang="en-US" dirty="0"/>
              <a:t>/hr in </a:t>
            </a:r>
            <a:r>
              <a:rPr lang="en-US" smtClean="0"/>
              <a:t>adults and circulates </a:t>
            </a:r>
            <a:r>
              <a:rPr lang="en-US" dirty="0"/>
              <a:t>through the ventricular system to the subarachnoid space.</a:t>
            </a:r>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Spinal Cord</a:t>
            </a:r>
            <a:br>
              <a:rPr lang="en-US" dirty="0" smtClean="0"/>
            </a:br>
            <a:endParaRPr lang="en-US" dirty="0"/>
          </a:p>
        </p:txBody>
      </p:sp>
      <p:sp>
        <p:nvSpPr>
          <p:cNvPr id="3" name="Content Placeholder 2"/>
          <p:cNvSpPr>
            <a:spLocks noGrp="1"/>
          </p:cNvSpPr>
          <p:nvPr>
            <p:ph idx="1"/>
          </p:nvPr>
        </p:nvSpPr>
        <p:spPr/>
        <p:txBody>
          <a:bodyPr/>
          <a:lstStyle/>
          <a:p>
            <a:r>
              <a:rPr lang="en-US" dirty="0" smtClean="0"/>
              <a:t>The spinal cord extends from the base of the skull and tapers down to the </a:t>
            </a:r>
            <a:r>
              <a:rPr lang="en-US" dirty="0" err="1" smtClean="0"/>
              <a:t>conus</a:t>
            </a:r>
            <a:r>
              <a:rPr lang="en-US" dirty="0" smtClean="0"/>
              <a:t>, where it becomes the </a:t>
            </a:r>
            <a:r>
              <a:rPr lang="en-US" dirty="0" err="1" smtClean="0"/>
              <a:t>filum</a:t>
            </a:r>
            <a:r>
              <a:rPr lang="en-US" dirty="0" smtClean="0"/>
              <a:t> </a:t>
            </a:r>
            <a:r>
              <a:rPr lang="en-US" dirty="0" err="1" smtClean="0"/>
              <a:t>terminale</a:t>
            </a:r>
            <a:r>
              <a:rPr lang="en-US" dirty="0" smtClean="0"/>
              <a:t> between T12 and L2.</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54162"/>
          </a:xfrm>
        </p:spPr>
        <p:txBody>
          <a:bodyPr>
            <a:normAutofit/>
          </a:bodyPr>
          <a:lstStyle/>
          <a:p>
            <a:r>
              <a:rPr lang="en-US" dirty="0" smtClean="0"/>
              <a:t>The principal functions of the spinal cord are:-</a:t>
            </a:r>
            <a:endParaRPr lang="en-US" dirty="0"/>
          </a:p>
        </p:txBody>
      </p:sp>
      <p:sp>
        <p:nvSpPr>
          <p:cNvPr id="3" name="Content Placeholder 2"/>
          <p:cNvSpPr>
            <a:spLocks noGrp="1"/>
          </p:cNvSpPr>
          <p:nvPr>
            <p:ph idx="1"/>
          </p:nvPr>
        </p:nvSpPr>
        <p:spPr>
          <a:xfrm>
            <a:off x="304800" y="2133600"/>
            <a:ext cx="8229600" cy="4038601"/>
          </a:xfrm>
        </p:spPr>
        <p:txBody>
          <a:bodyPr/>
          <a:lstStyle/>
          <a:p>
            <a:r>
              <a:rPr lang="en-US" dirty="0" smtClean="0"/>
              <a:t>its central gray matter lies the cellular circuitry underlying the motor function of most of the body.</a:t>
            </a:r>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receives sensory input from the peripheral nerves and transmits this input to higher structures.</a:t>
            </a:r>
          </a:p>
          <a:p>
            <a:r>
              <a:rPr lang="en-US" smtClean="0"/>
              <a:t>The </a:t>
            </a:r>
            <a:r>
              <a:rPr lang="en-US" dirty="0" smtClean="0"/>
              <a:t>primary ascending tracts </a:t>
            </a:r>
            <a:r>
              <a:rPr lang="en-US" smtClean="0"/>
              <a:t>are the posterior </a:t>
            </a:r>
            <a:r>
              <a:rPr lang="en-US" dirty="0" smtClean="0"/>
              <a:t>columns and the lateral </a:t>
            </a:r>
            <a:r>
              <a:rPr lang="en-US" dirty="0" err="1" smtClean="0"/>
              <a:t>spinothalamic</a:t>
            </a:r>
            <a:r>
              <a:rPr lang="en-US" dirty="0" smtClean="0"/>
              <a:t> tract</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r>
              <a:rPr lang="en-US" dirty="0" smtClean="0"/>
              <a:t>The spinal white matter contains a number of descending tracts that are used by higher CNS structures to regulate spinal cord function either by directly stimulating cells or by regulating </a:t>
            </a:r>
            <a:r>
              <a:rPr lang="en-US" dirty="0" err="1" smtClean="0"/>
              <a:t>interneurons</a:t>
            </a:r>
            <a:r>
              <a:rPr lang="en-US" dirty="0" smtClean="0"/>
              <a:t> that increase or decrease signaling efficiency.</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685800" y="609600"/>
            <a:ext cx="8001000" cy="5715000"/>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By Siryet Tesfaye</a:t>
            </a:r>
            <a:endParaRPr lang="en-US"/>
          </a:p>
        </p:txBody>
      </p:sp>
      <p:sp>
        <p:nvSpPr>
          <p:cNvPr id="3" name="Slide Number Placeholder 2"/>
          <p:cNvSpPr>
            <a:spLocks noGrp="1"/>
          </p:cNvSpPr>
          <p:nvPr>
            <p:ph type="sldNum" sz="quarter" idx="12"/>
          </p:nvPr>
        </p:nvSpPr>
        <p:spPr/>
        <p:txBody>
          <a:bodyPr/>
          <a:lstStyle/>
          <a:p>
            <a:fld id="{1528205D-516C-4A2E-8491-92189BC25433}"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Cerebrospinal Fluid</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CSF is found in the cerebral ventricles and cisterns and in the subarachnoid space surrounding the brain and spinal cord. Its major function is to protect the CNS against trauma.</a:t>
            </a:r>
          </a:p>
          <a:p>
            <a:r>
              <a:rPr lang="en-US" dirty="0" smtClean="0"/>
              <a:t>Most of the CSF is formed by the choroid plexuses of the cerebral (mainly lateral)ventricles. </a:t>
            </a:r>
          </a:p>
          <a:p>
            <a:r>
              <a:rPr lang="en-US" dirty="0" smtClean="0"/>
              <a:t>In adults, normal total CSF production is about 21 </a:t>
            </a:r>
            <a:r>
              <a:rPr lang="en-US" dirty="0" err="1" smtClean="0"/>
              <a:t>mL</a:t>
            </a:r>
            <a:r>
              <a:rPr lang="en-US" dirty="0" smtClean="0"/>
              <a:t>/h (500 </a:t>
            </a:r>
            <a:r>
              <a:rPr lang="en-US" dirty="0" err="1" smtClean="0"/>
              <a:t>mL</a:t>
            </a:r>
            <a:r>
              <a:rPr lang="en-US" dirty="0" smtClean="0"/>
              <a:t>/d), yet total CSF volume is only about 150 </a:t>
            </a:r>
            <a:r>
              <a:rPr lang="en-US" dirty="0" err="1" smtClean="0"/>
              <a:t>mL.</a:t>
            </a:r>
            <a:endParaRPr lang="en-US" dirty="0"/>
          </a:p>
        </p:txBody>
      </p:sp>
      <p:sp>
        <p:nvSpPr>
          <p:cNvPr id="5" name="Footer Placeholder 4"/>
          <p:cNvSpPr>
            <a:spLocks noGrp="1"/>
          </p:cNvSpPr>
          <p:nvPr>
            <p:ph type="ftr" sz="quarter" idx="11"/>
          </p:nvPr>
        </p:nvSpPr>
        <p:spPr/>
        <p:txBody>
          <a:bodyPr/>
          <a:lstStyle/>
          <a:p>
            <a:r>
              <a:rPr lang="en-US" dirty="0" smtClean="0"/>
              <a:t>By </a:t>
            </a:r>
            <a:r>
              <a:rPr lang="en-US" dirty="0" err="1" smtClean="0"/>
              <a:t>Siryet</a:t>
            </a:r>
            <a:r>
              <a:rPr lang="en-US" dirty="0" smtClean="0"/>
              <a:t> </a:t>
            </a:r>
            <a:r>
              <a:rPr lang="en-US" dirty="0" err="1" smtClean="0"/>
              <a:t>Tesfaye</a:t>
            </a:r>
            <a:endParaRPr lang="en-US" dirty="0"/>
          </a:p>
        </p:txBody>
      </p:sp>
      <p:sp>
        <p:nvSpPr>
          <p:cNvPr id="4" name="Slide Number Placeholder 3"/>
          <p:cNvSpPr>
            <a:spLocks noGrp="1"/>
          </p:cNvSpPr>
          <p:nvPr>
            <p:ph type="sldNum" sz="quarter" idx="12"/>
          </p:nvPr>
        </p:nvSpPr>
        <p:spPr/>
        <p:txBody>
          <a:bodyPr/>
          <a:lstStyle/>
          <a:p>
            <a:fld id="{1528205D-516C-4A2E-8491-92189BC25433}"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143000" y="685800"/>
            <a:ext cx="6019799" cy="6096000"/>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By Siryet Tesfaye</a:t>
            </a:r>
            <a:endParaRPr lang="en-US"/>
          </a:p>
        </p:txBody>
      </p:sp>
      <p:sp>
        <p:nvSpPr>
          <p:cNvPr id="3" name="Slide Number Placeholder 2"/>
          <p:cNvSpPr>
            <a:spLocks noGrp="1"/>
          </p:cNvSpPr>
          <p:nvPr>
            <p:ph type="sldNum" sz="quarter" idx="12"/>
          </p:nvPr>
        </p:nvSpPr>
        <p:spPr/>
        <p:txBody>
          <a:bodyPr/>
          <a:lstStyle/>
          <a:p>
            <a:fld id="{1528205D-516C-4A2E-8491-92189BC25433}"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CSF formation</a:t>
            </a:r>
            <a:endParaRPr lang="en-US" dirty="0"/>
          </a:p>
        </p:txBody>
      </p:sp>
      <p:sp>
        <p:nvSpPr>
          <p:cNvPr id="3" name="Content Placeholder 2"/>
          <p:cNvSpPr>
            <a:spLocks noGrp="1"/>
          </p:cNvSpPr>
          <p:nvPr>
            <p:ph idx="1"/>
          </p:nvPr>
        </p:nvSpPr>
        <p:spPr/>
        <p:txBody>
          <a:bodyPr>
            <a:normAutofit/>
          </a:bodyPr>
          <a:lstStyle/>
          <a:p>
            <a:r>
              <a:rPr lang="en-US" dirty="0" smtClean="0"/>
              <a:t>CSF formation involves active secretion of sodium in the choroid plexuses. </a:t>
            </a:r>
          </a:p>
          <a:p>
            <a:r>
              <a:rPr lang="en-US" dirty="0" smtClean="0"/>
              <a:t>The resulting fluid is isotonic with plasma despite lower potassium, bicarbonate, and glucose concentrations. </a:t>
            </a:r>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Absorption of CSF</a:t>
            </a:r>
            <a:endParaRPr lang="en-US" dirty="0"/>
          </a:p>
        </p:txBody>
      </p:sp>
      <p:sp>
        <p:nvSpPr>
          <p:cNvPr id="3" name="Content Placeholder 2"/>
          <p:cNvSpPr>
            <a:spLocks noGrp="1"/>
          </p:cNvSpPr>
          <p:nvPr>
            <p:ph idx="1"/>
          </p:nvPr>
        </p:nvSpPr>
        <p:spPr/>
        <p:txBody>
          <a:bodyPr/>
          <a:lstStyle/>
          <a:p>
            <a:r>
              <a:rPr lang="en-US" dirty="0" smtClean="0"/>
              <a:t>Absorption of CSF involves the translocation of fluid from the </a:t>
            </a:r>
            <a:r>
              <a:rPr lang="en-US" dirty="0" err="1" smtClean="0"/>
              <a:t>arachnoid</a:t>
            </a:r>
            <a:r>
              <a:rPr lang="en-US" dirty="0" smtClean="0"/>
              <a:t> granulations into the cerebral venous sinuses. Smaller amounts are absorbed at nerve root sleeves and by </a:t>
            </a:r>
            <a:r>
              <a:rPr lang="en-US" dirty="0" err="1" smtClean="0"/>
              <a:t>meningeal</a:t>
            </a:r>
            <a:r>
              <a:rPr lang="en-US" dirty="0" smtClean="0"/>
              <a:t> </a:t>
            </a:r>
            <a:r>
              <a:rPr lang="en-US" dirty="0" err="1" smtClean="0"/>
              <a:t>lymphatics</a:t>
            </a:r>
            <a:r>
              <a:rPr lang="en-US" dirty="0" smtClean="0"/>
              <a:t>.</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Blood supply to SC</a:t>
            </a:r>
            <a:endParaRPr lang="en-US" dirty="0"/>
          </a:p>
        </p:txBody>
      </p:sp>
      <p:sp>
        <p:nvSpPr>
          <p:cNvPr id="3" name="Content Placeholder 2"/>
          <p:cNvSpPr>
            <a:spLocks noGrp="1"/>
          </p:cNvSpPr>
          <p:nvPr>
            <p:ph idx="1"/>
          </p:nvPr>
        </p:nvSpPr>
        <p:spPr>
          <a:xfrm>
            <a:off x="457200" y="1143000"/>
            <a:ext cx="8229600" cy="4983163"/>
          </a:xfrm>
        </p:spPr>
        <p:txBody>
          <a:bodyPr>
            <a:normAutofit/>
          </a:bodyPr>
          <a:lstStyle/>
          <a:p>
            <a:r>
              <a:rPr lang="en-US" dirty="0" smtClean="0"/>
              <a:t>Blood is supplied to the spinal cord by paired posterior spinal arteries and a single anterior spinal artery. </a:t>
            </a:r>
          </a:p>
          <a:p>
            <a:r>
              <a:rPr lang="en-US" dirty="0" smtClean="0"/>
              <a:t>posterior arteries supply the dorsal horns and white matter columns. </a:t>
            </a:r>
          </a:p>
          <a:p>
            <a:r>
              <a:rPr lang="en-US" dirty="0" smtClean="0"/>
              <a:t>Anterior spinal artery supplies the anterior two thirds of the cord.</a:t>
            </a:r>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Cont…</a:t>
            </a:r>
            <a:endParaRPr lang="en-US" dirty="0"/>
          </a:p>
        </p:txBody>
      </p:sp>
      <p:sp>
        <p:nvSpPr>
          <p:cNvPr id="3" name="Content Placeholder 2"/>
          <p:cNvSpPr>
            <a:spLocks noGrp="1"/>
          </p:cNvSpPr>
          <p:nvPr>
            <p:ph idx="1"/>
          </p:nvPr>
        </p:nvSpPr>
        <p:spPr>
          <a:xfrm>
            <a:off x="457200" y="1371600"/>
            <a:ext cx="8229600" cy="4754563"/>
          </a:xfrm>
        </p:spPr>
        <p:txBody>
          <a:bodyPr>
            <a:normAutofit/>
          </a:bodyPr>
          <a:lstStyle/>
          <a:p>
            <a:r>
              <a:rPr lang="en-US" dirty="0" smtClean="0"/>
              <a:t>Six to eight prominent </a:t>
            </a:r>
            <a:r>
              <a:rPr lang="en-US" dirty="0" err="1" smtClean="0"/>
              <a:t>radicular</a:t>
            </a:r>
            <a:r>
              <a:rPr lang="en-US" dirty="0" smtClean="0"/>
              <a:t> arteries supply the anterior spinal artery network, most numerous in the cervical region and least in the thoracic.</a:t>
            </a:r>
          </a:p>
          <a:p>
            <a:r>
              <a:rPr lang="en-US" dirty="0" smtClean="0"/>
              <a:t> The artery of </a:t>
            </a:r>
            <a:r>
              <a:rPr lang="en-US" dirty="0" err="1" smtClean="0"/>
              <a:t>Adamkiewicz</a:t>
            </a:r>
            <a:r>
              <a:rPr lang="en-US" dirty="0" smtClean="0"/>
              <a:t>, the main </a:t>
            </a:r>
            <a:r>
              <a:rPr lang="en-US" dirty="0" err="1" smtClean="0"/>
              <a:t>thoracolumbar</a:t>
            </a:r>
            <a:r>
              <a:rPr lang="en-US" dirty="0" smtClean="0"/>
              <a:t> </a:t>
            </a:r>
            <a:r>
              <a:rPr lang="en-US" dirty="0" err="1" smtClean="0"/>
              <a:t>radicular</a:t>
            </a:r>
            <a:r>
              <a:rPr lang="en-US" dirty="0" smtClean="0"/>
              <a:t> </a:t>
            </a:r>
            <a:r>
              <a:rPr lang="en-US" dirty="0" err="1" smtClean="0"/>
              <a:t>vessel,supplies</a:t>
            </a:r>
            <a:r>
              <a:rPr lang="en-US" dirty="0" smtClean="0"/>
              <a:t> the spinal cord from T8 to the </a:t>
            </a:r>
            <a:r>
              <a:rPr lang="en-US" dirty="0" err="1" smtClean="0"/>
              <a:t>conus</a:t>
            </a:r>
            <a:r>
              <a:rPr lang="en-US" dirty="0" smtClean="0"/>
              <a:t>. This artery arises in the T9-L2 region and mostly from the left side of the aorta. </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Spinal artery perfusion pressure is an important consideration, especially in the prone position</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38</a:t>
            </a:fld>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Blood-Brain Barrier</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The endothelial cells in cerebral capillaries contain specialized tight junctions. As a result, cerebral capillary endothelium has high electrical resistance and is relatively impermeable.</a:t>
            </a:r>
          </a:p>
          <a:p>
            <a:r>
              <a:rPr lang="en-US" dirty="0" smtClean="0"/>
              <a:t> Passage of substances across an intact blood-brain barrier is predominantly a function of lipid solubility and the presence of active transport systems.</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Cerebral Blood Flow and Its Control</a:t>
            </a:r>
            <a:endParaRPr lang="en-US" dirty="0"/>
          </a:p>
        </p:txBody>
      </p:sp>
      <p:sp>
        <p:nvSpPr>
          <p:cNvPr id="3" name="Content Placeholder 2"/>
          <p:cNvSpPr>
            <a:spLocks noGrp="1"/>
          </p:cNvSpPr>
          <p:nvPr>
            <p:ph idx="1"/>
          </p:nvPr>
        </p:nvSpPr>
        <p:spPr/>
        <p:txBody>
          <a:bodyPr/>
          <a:lstStyle/>
          <a:p>
            <a:r>
              <a:rPr lang="en-US" dirty="0" smtClean="0"/>
              <a:t>The brain has a high metabolic rate and receives approximately 15% of cardiac output. Under normal circumstances, cerebral blood flow (CBF) is approximately 50 </a:t>
            </a:r>
            <a:r>
              <a:rPr lang="en-US" dirty="0" err="1" smtClean="0"/>
              <a:t>mL</a:t>
            </a:r>
            <a:r>
              <a:rPr lang="en-US" dirty="0" smtClean="0"/>
              <a:t>/100 g/min. </a:t>
            </a:r>
          </a:p>
          <a:p>
            <a:r>
              <a:rPr lang="en-US" dirty="0" smtClean="0"/>
              <a:t>Gray matter receives 80% and white matter receives 20% of this blood flow</a:t>
            </a:r>
          </a:p>
          <a:p>
            <a:r>
              <a:rPr lang="en-US" dirty="0" smtClean="0"/>
              <a:t>CBF therefore parallels metabolic activity</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40</a:t>
            </a:fld>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Autoregulation</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None/>
            </a:pPr>
            <a:endParaRPr lang="en-US" dirty="0" smtClean="0"/>
          </a:p>
          <a:p>
            <a:r>
              <a:rPr lang="en-US" dirty="0" err="1" smtClean="0"/>
              <a:t>Autoregulation</a:t>
            </a:r>
            <a:r>
              <a:rPr lang="en-US" dirty="0" smtClean="0"/>
              <a:t> is the ability of the cerebral circulation to maintain CBF at a relatively constant level by altering </a:t>
            </a:r>
            <a:r>
              <a:rPr lang="en-US" dirty="0" err="1" smtClean="0"/>
              <a:t>cerebrovascular</a:t>
            </a:r>
            <a:r>
              <a:rPr lang="en-US" dirty="0" smtClean="0"/>
              <a:t> resistance (CVR) despite wide fluctuations in cerebral perfusion pressure (CPP)</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tretch>
            <a:fillRect/>
          </a:stretch>
        </p:blipFill>
        <p:spPr bwMode="auto">
          <a:xfrm>
            <a:off x="3727450" y="2614612"/>
            <a:ext cx="2914650" cy="2466975"/>
          </a:xfrm>
          <a:prstGeom prst="rect">
            <a:avLst/>
          </a:prstGeom>
          <a:noFill/>
          <a:ln w="9525">
            <a:noFill/>
            <a:miter lim="800000"/>
            <a:headEnd/>
            <a:tailEnd/>
          </a:ln>
          <a:effectLst/>
        </p:spPr>
      </p:pic>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Autofit/>
          </a:bodyPr>
          <a:lstStyle/>
          <a:p>
            <a:pPr>
              <a:buNone/>
            </a:pPr>
            <a:r>
              <a:rPr lang="en-US" sz="2800" dirty="0" smtClean="0"/>
              <a:t>Thus, chronic hypertension or sympathetic activation shifts the </a:t>
            </a:r>
            <a:r>
              <a:rPr lang="en-US" sz="2800" dirty="0" err="1" smtClean="0"/>
              <a:t>autoregulatory</a:t>
            </a:r>
            <a:r>
              <a:rPr lang="en-US" sz="2800" dirty="0" smtClean="0"/>
              <a:t> curve to the right, whereas sympathetic withdrawal shifts it to the left. Intracranial pathology and anesthetic agents, especially inhalational agents, may alter </a:t>
            </a:r>
            <a:r>
              <a:rPr lang="en-US" sz="2800" dirty="0" err="1" smtClean="0"/>
              <a:t>autoregulation</a:t>
            </a:r>
            <a:r>
              <a:rPr lang="en-US" sz="2800" dirty="0" smtClean="0"/>
              <a:t>.</a:t>
            </a:r>
          </a:p>
          <a:p>
            <a:pPr>
              <a:buNone/>
            </a:pPr>
            <a:endParaRPr lang="en-US" sz="2800"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Myogenic</a:t>
            </a:r>
            <a:r>
              <a:rPr lang="en-US" dirty="0" smtClean="0"/>
              <a:t> Regulation (</a:t>
            </a:r>
            <a:r>
              <a:rPr lang="en-US" dirty="0" err="1" smtClean="0"/>
              <a:t>Autoregulation</a:t>
            </a:r>
            <a:r>
              <a:rPr lang="en-US" dirty="0" smtClean="0"/>
              <a:t>) of Cerebral Blood Flow</a:t>
            </a:r>
            <a:endParaRPr lang="en-US" dirty="0"/>
          </a:p>
        </p:txBody>
      </p:sp>
      <p:sp>
        <p:nvSpPr>
          <p:cNvPr id="3" name="Content Placeholder 2"/>
          <p:cNvSpPr>
            <a:spLocks noGrp="1"/>
          </p:cNvSpPr>
          <p:nvPr>
            <p:ph idx="1"/>
          </p:nvPr>
        </p:nvSpPr>
        <p:spPr/>
        <p:txBody>
          <a:bodyPr/>
          <a:lstStyle/>
          <a:p>
            <a:r>
              <a:rPr lang="en-US" dirty="0" smtClean="0"/>
              <a:t>changes in CPP lead to direct changes in the tone of vascular smooth muscle; this process appears to be passive. NO may participate in the </a:t>
            </a:r>
            <a:r>
              <a:rPr lang="en-US" dirty="0" err="1" smtClean="0"/>
              <a:t>vasodilation</a:t>
            </a:r>
            <a:r>
              <a:rPr lang="en-US" dirty="0" smtClean="0"/>
              <a:t> associated with hypotension. Autonomic </a:t>
            </a:r>
            <a:r>
              <a:rPr lang="en-US" dirty="0" err="1" smtClean="0"/>
              <a:t>innervation</a:t>
            </a:r>
            <a:r>
              <a:rPr lang="en-US" dirty="0" smtClean="0"/>
              <a:t> of cerebral blood vessels may also contribute to </a:t>
            </a:r>
            <a:r>
              <a:rPr lang="en-US" dirty="0" err="1" smtClean="0"/>
              <a:t>autoregulation</a:t>
            </a:r>
            <a:r>
              <a:rPr lang="en-US" dirty="0" smtClean="0"/>
              <a:t> of blood flow</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Neurogenic</a:t>
            </a:r>
            <a:r>
              <a:rPr lang="en-US" dirty="0" smtClean="0"/>
              <a:t> Regulation of Cerebral Blood Flow</a:t>
            </a:r>
            <a:endParaRPr lang="en-US" dirty="0"/>
          </a:p>
        </p:txBody>
      </p:sp>
      <p:sp>
        <p:nvSpPr>
          <p:cNvPr id="3" name="Content Placeholder 2"/>
          <p:cNvSpPr>
            <a:spLocks noGrp="1"/>
          </p:cNvSpPr>
          <p:nvPr>
            <p:ph idx="1"/>
          </p:nvPr>
        </p:nvSpPr>
        <p:spPr/>
        <p:txBody>
          <a:bodyPr>
            <a:normAutofit/>
          </a:bodyPr>
          <a:lstStyle/>
          <a:p>
            <a:r>
              <a:rPr lang="en-US" dirty="0" smtClean="0"/>
              <a:t> The greatest </a:t>
            </a:r>
            <a:r>
              <a:rPr lang="en-US" dirty="0" err="1" smtClean="0"/>
              <a:t>neurogenic</a:t>
            </a:r>
            <a:r>
              <a:rPr lang="en-US" dirty="0" smtClean="0"/>
              <a:t> influence appears to be exerted on larger cerebral arteries. This </a:t>
            </a:r>
            <a:r>
              <a:rPr lang="en-US" dirty="0" err="1" smtClean="0"/>
              <a:t>innervation</a:t>
            </a:r>
            <a:r>
              <a:rPr lang="en-US" dirty="0" smtClean="0"/>
              <a:t> includes cholinergic ,</a:t>
            </a:r>
            <a:r>
              <a:rPr lang="en-US" dirty="0" err="1" smtClean="0"/>
              <a:t>adrenergic,and</a:t>
            </a:r>
            <a:r>
              <a:rPr lang="en-US" dirty="0" smtClean="0"/>
              <a:t> </a:t>
            </a:r>
            <a:r>
              <a:rPr lang="en-US" dirty="0" err="1" smtClean="0"/>
              <a:t>serotonergic</a:t>
            </a:r>
            <a:r>
              <a:rPr lang="en-US" dirty="0" smtClean="0"/>
              <a:t>.</a:t>
            </a:r>
          </a:p>
          <a:p>
            <a:r>
              <a:rPr lang="en-US" dirty="0" smtClean="0"/>
              <a:t>Works by influences on vascular tone and therefore CBF</a:t>
            </a:r>
          </a:p>
          <a:p>
            <a:pPr>
              <a:buNone/>
            </a:pPr>
            <a:r>
              <a:rPr lang="en-US" dirty="0" smtClean="0"/>
              <a:t> </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45</a:t>
            </a:fld>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Activation of cerebral sympathetic </a:t>
            </a:r>
            <a:r>
              <a:rPr lang="en-US" dirty="0" err="1" smtClean="0"/>
              <a:t>innervation</a:t>
            </a:r>
            <a:r>
              <a:rPr lang="en-US" dirty="0" smtClean="0"/>
              <a:t> also shifts the upper limit of </a:t>
            </a:r>
            <a:r>
              <a:rPr lang="en-US" dirty="0" err="1" smtClean="0"/>
              <a:t>autoregulation</a:t>
            </a:r>
            <a:r>
              <a:rPr lang="en-US" dirty="0" smtClean="0"/>
              <a:t> to the right and offers some protection against hypertensive breakthrough of the BBB</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46</a:t>
            </a:fld>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762000" y="838200"/>
            <a:ext cx="7620000" cy="5287963"/>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By Siryet Tesfaye</a:t>
            </a:r>
            <a:endParaRPr lang="en-US"/>
          </a:p>
        </p:txBody>
      </p:sp>
      <p:sp>
        <p:nvSpPr>
          <p:cNvPr id="3" name="Slide Number Placeholder 2"/>
          <p:cNvSpPr>
            <a:spLocks noGrp="1"/>
          </p:cNvSpPr>
          <p:nvPr>
            <p:ph type="sldNum" sz="quarter" idx="12"/>
          </p:nvPr>
        </p:nvSpPr>
        <p:spPr/>
        <p:txBody>
          <a:bodyPr/>
          <a:lstStyle/>
          <a:p>
            <a:fld id="{1528205D-516C-4A2E-8491-92189BC25433}" type="slidenum">
              <a:rPr lang="en-US" smtClean="0"/>
              <a:pPr/>
              <a:t>47</a:t>
            </a:fld>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Factors affecting CBF</a:t>
            </a:r>
            <a:endParaRPr lang="en-US" b="1" dirty="0"/>
          </a:p>
        </p:txBody>
      </p:sp>
      <p:sp>
        <p:nvSpPr>
          <p:cNvPr id="3" name="Content Placeholder 2"/>
          <p:cNvSpPr>
            <a:spLocks noGrp="1"/>
          </p:cNvSpPr>
          <p:nvPr>
            <p:ph idx="1"/>
          </p:nvPr>
        </p:nvSpPr>
        <p:spPr/>
        <p:txBody>
          <a:bodyPr/>
          <a:lstStyle/>
          <a:p>
            <a:endParaRPr lang="en-US" dirty="0" smtClean="0"/>
          </a:p>
          <a:p>
            <a:pPr>
              <a:buNone/>
            </a:pPr>
            <a:r>
              <a:rPr lang="en-US" b="1" dirty="0" smtClean="0"/>
              <a:t>Arterial Carbon Dioxide Tension</a:t>
            </a:r>
            <a:br>
              <a:rPr lang="en-US" b="1" dirty="0" smtClean="0"/>
            </a:br>
            <a:endParaRPr lang="en-US" dirty="0" smtClean="0"/>
          </a:p>
          <a:p>
            <a:r>
              <a:rPr lang="en-US" dirty="0" smtClean="0"/>
              <a:t>CBF is proportional to arterial carbon dioxide tension (Paco2), subject to a lower limit, below which vasoconstriction results in tissue hypoxia and reflex </a:t>
            </a:r>
            <a:r>
              <a:rPr lang="en-US" dirty="0" err="1" smtClean="0"/>
              <a:t>vasodilation</a:t>
            </a:r>
            <a:r>
              <a:rPr lang="en-US" dirty="0" smtClean="0"/>
              <a:t>, and an upper limit of maximal </a:t>
            </a:r>
            <a:r>
              <a:rPr lang="en-US" dirty="0" err="1" smtClean="0"/>
              <a:t>vasodilation</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On average, in the </a:t>
            </a:r>
            <a:r>
              <a:rPr lang="en-US" dirty="0" err="1" smtClean="0"/>
              <a:t>midphysiologic</a:t>
            </a:r>
            <a:r>
              <a:rPr lang="en-US" dirty="0" smtClean="0"/>
              <a:t> range, each 1-kPa (7.5 mm Hg) change in Paco2 produces a change of about 15 </a:t>
            </a:r>
            <a:r>
              <a:rPr lang="en-US" dirty="0" err="1" smtClean="0"/>
              <a:t>mL</a:t>
            </a:r>
            <a:r>
              <a:rPr lang="en-US" dirty="0" smtClean="0"/>
              <a:t>/100 g/min in CBF (about 25%), which corresponds to a change of about 0.3 </a:t>
            </a:r>
            <a:r>
              <a:rPr lang="en-US" dirty="0" err="1" smtClean="0"/>
              <a:t>mL</a:t>
            </a:r>
            <a:r>
              <a:rPr lang="en-US" dirty="0" smtClean="0"/>
              <a:t>/100 g in CBV</a:t>
            </a:r>
          </a:p>
          <a:p>
            <a:r>
              <a:rPr lang="en-US" dirty="0" smtClean="0"/>
              <a:t>In patients with low intracranial compliance, this small decrease in CBV can result in dramatic reductions in ICP.</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The effect of </a:t>
            </a:r>
            <a:r>
              <a:rPr lang="en-US" dirty="0" err="1" smtClean="0"/>
              <a:t>hypocapnia</a:t>
            </a:r>
            <a:r>
              <a:rPr lang="en-US" dirty="0" smtClean="0"/>
              <a:t> is mediated by an increase in </a:t>
            </a:r>
            <a:r>
              <a:rPr lang="en-US" dirty="0" err="1" smtClean="0"/>
              <a:t>perivascular</a:t>
            </a:r>
            <a:r>
              <a:rPr lang="en-US" dirty="0" smtClean="0"/>
              <a:t> pH, which is attenuated over time, approximately 6 hours, as extracellular fluid bicarbonate levels fall to normalize interstitial </a:t>
            </a:r>
            <a:r>
              <a:rPr lang="en-US" dirty="0" err="1" smtClean="0"/>
              <a:t>pH.</a:t>
            </a:r>
            <a:r>
              <a:rPr lang="en-US" dirty="0" smtClean="0"/>
              <a:t> This decreases the longer-term efficacy of such intervention.</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50</a:t>
            </a:fld>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rcRect/>
          <a:stretch>
            <a:fillRect/>
          </a:stretch>
        </p:blipFill>
        <p:spPr bwMode="auto">
          <a:xfrm>
            <a:off x="685800" y="914400"/>
            <a:ext cx="7620000" cy="5257799"/>
          </a:xfrm>
          <a:prstGeom prst="rect">
            <a:avLst/>
          </a:prstGeom>
          <a:noFill/>
          <a:ln w="9525">
            <a:noFill/>
            <a:miter lim="800000"/>
            <a:headEnd/>
            <a:tailEnd/>
          </a:ln>
        </p:spPr>
      </p:pic>
      <p:sp>
        <p:nvSpPr>
          <p:cNvPr id="5" name="Footer Placeholder 4"/>
          <p:cNvSpPr>
            <a:spLocks noGrp="1"/>
          </p:cNvSpPr>
          <p:nvPr>
            <p:ph type="ftr" sz="quarter" idx="11"/>
          </p:nvPr>
        </p:nvSpPr>
        <p:spPr/>
        <p:txBody>
          <a:bodyPr/>
          <a:lstStyle/>
          <a:p>
            <a:r>
              <a:rPr lang="en-US" smtClean="0"/>
              <a:t>By Siryet Tesfaye</a:t>
            </a:r>
            <a:endParaRPr lang="en-US"/>
          </a:p>
        </p:txBody>
      </p:sp>
      <p:sp>
        <p:nvSpPr>
          <p:cNvPr id="3" name="Slide Number Placeholder 2"/>
          <p:cNvSpPr>
            <a:spLocks noGrp="1"/>
          </p:cNvSpPr>
          <p:nvPr>
            <p:ph type="sldNum" sz="quarter" idx="12"/>
          </p:nvPr>
        </p:nvSpPr>
        <p:spPr/>
        <p:txBody>
          <a:bodyPr/>
          <a:lstStyle/>
          <a:p>
            <a:fld id="{1528205D-516C-4A2E-8491-92189BC25433}" type="slidenum">
              <a:rPr lang="en-US" smtClean="0"/>
              <a:pPr/>
              <a:t>51</a:t>
            </a:fld>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Arterial Oxygen Tension and Content</a:t>
            </a:r>
            <a:endParaRPr lang="en-US" dirty="0"/>
          </a:p>
        </p:txBody>
      </p:sp>
      <p:sp>
        <p:nvSpPr>
          <p:cNvPr id="3" name="Content Placeholder 2"/>
          <p:cNvSpPr>
            <a:spLocks noGrp="1"/>
          </p:cNvSpPr>
          <p:nvPr>
            <p:ph idx="1"/>
          </p:nvPr>
        </p:nvSpPr>
        <p:spPr/>
        <p:txBody>
          <a:bodyPr>
            <a:noAutofit/>
          </a:bodyPr>
          <a:lstStyle/>
          <a:p>
            <a:r>
              <a:rPr lang="en-US" sz="2800" dirty="0" smtClean="0"/>
              <a:t>Changes in Pa</a:t>
            </a:r>
            <a:r>
              <a:rPr lang="en-US" sz="2800" cap="small" dirty="0" smtClean="0"/>
              <a:t>o</a:t>
            </a:r>
            <a:r>
              <a:rPr lang="en-US" sz="2800" baseline="-25000" dirty="0" smtClean="0"/>
              <a:t>2</a:t>
            </a:r>
            <a:r>
              <a:rPr lang="en-US" sz="2800" dirty="0" smtClean="0"/>
              <a:t> from 60 to greater than 300 mm Hg have little influence on CBF. Below a Pa</a:t>
            </a:r>
            <a:r>
              <a:rPr lang="en-US" sz="2800" cap="small" dirty="0" smtClean="0"/>
              <a:t>o</a:t>
            </a:r>
            <a:r>
              <a:rPr lang="en-US" sz="2800" baseline="-25000" dirty="0" smtClean="0"/>
              <a:t>2</a:t>
            </a:r>
            <a:r>
              <a:rPr lang="en-US" sz="2800" dirty="0" smtClean="0"/>
              <a:t> of 60 mm Hg, CBF increases rapidly. </a:t>
            </a:r>
          </a:p>
          <a:p>
            <a:r>
              <a:rPr lang="en-US" sz="2800" dirty="0" smtClean="0"/>
              <a:t>The mechanisms mediating cerebral </a:t>
            </a:r>
            <a:r>
              <a:rPr lang="en-US" sz="2800" dirty="0" err="1" smtClean="0"/>
              <a:t>vasodilation</a:t>
            </a:r>
            <a:r>
              <a:rPr lang="en-US" sz="2800" dirty="0" smtClean="0"/>
              <a:t> include </a:t>
            </a:r>
            <a:r>
              <a:rPr lang="en-US" sz="2800" dirty="0" err="1" smtClean="0"/>
              <a:t>neurogenic</a:t>
            </a:r>
            <a:r>
              <a:rPr lang="en-US" sz="2800" dirty="0" smtClean="0"/>
              <a:t> effects initiated by peripheral and </a:t>
            </a:r>
            <a:r>
              <a:rPr lang="en-US" sz="2800" dirty="0" err="1" smtClean="0"/>
              <a:t>neuraxial</a:t>
            </a:r>
            <a:r>
              <a:rPr lang="en-US" sz="2800" dirty="0" smtClean="0"/>
              <a:t> </a:t>
            </a:r>
            <a:r>
              <a:rPr lang="en-US" sz="2800" dirty="0" err="1" smtClean="0"/>
              <a:t>chemoreceptors</a:t>
            </a:r>
            <a:r>
              <a:rPr lang="en-US" sz="2800" dirty="0" smtClean="0"/>
              <a:t>, as well as local </a:t>
            </a:r>
            <a:r>
              <a:rPr lang="en-US" sz="2800" dirty="0" err="1" smtClean="0"/>
              <a:t>humoral</a:t>
            </a:r>
            <a:r>
              <a:rPr lang="en-US" sz="2800" dirty="0" smtClean="0"/>
              <a:t> influences. </a:t>
            </a:r>
          </a:p>
          <a:p>
            <a:endParaRPr lang="en-US" sz="2800"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52</a:t>
            </a:fld>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At least part of the hyperemic response to hypoxia is mediated by NO of neuronal origin. Hypoxia-induced </a:t>
            </a:r>
            <a:r>
              <a:rPr lang="en-US" dirty="0" err="1" smtClean="0"/>
              <a:t>hyperpolarization</a:t>
            </a:r>
            <a:r>
              <a:rPr lang="en-US" dirty="0" smtClean="0"/>
              <a:t> of vascular smooth muscle by the opening of ATP-dependent K</a:t>
            </a:r>
            <a:r>
              <a:rPr lang="en-US" baseline="30000" dirty="0" smtClean="0"/>
              <a:t>+</a:t>
            </a:r>
            <a:r>
              <a:rPr lang="en-US" dirty="0" smtClean="0"/>
              <a:t> channels also leads to </a:t>
            </a:r>
            <a:r>
              <a:rPr lang="en-US" dirty="0" err="1" smtClean="0"/>
              <a:t>vasodilation</a:t>
            </a:r>
            <a:r>
              <a:rPr lang="en-US" dirty="0" smtClean="0"/>
              <a:t>.</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53</a:t>
            </a:fld>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Other global factors affecting CBF</a:t>
            </a:r>
            <a:endParaRPr lang="en-US" dirty="0"/>
          </a:p>
        </p:txBody>
      </p:sp>
      <p:sp>
        <p:nvSpPr>
          <p:cNvPr id="3" name="Content Placeholder 2"/>
          <p:cNvSpPr>
            <a:spLocks noGrp="1"/>
          </p:cNvSpPr>
          <p:nvPr>
            <p:ph idx="1"/>
          </p:nvPr>
        </p:nvSpPr>
        <p:spPr/>
        <p:txBody>
          <a:bodyPr>
            <a:normAutofit/>
          </a:bodyPr>
          <a:lstStyle/>
          <a:p>
            <a:r>
              <a:rPr lang="en-US" dirty="0" smtClean="0"/>
              <a:t>Include </a:t>
            </a:r>
            <a:r>
              <a:rPr lang="en-US" dirty="0" err="1" smtClean="0"/>
              <a:t>hematocrit</a:t>
            </a:r>
            <a:r>
              <a:rPr lang="en-US" dirty="0" smtClean="0"/>
              <a:t>; sympathetic tone, with</a:t>
            </a:r>
          </a:p>
          <a:p>
            <a:pPr>
              <a:buNone/>
            </a:pPr>
            <a:r>
              <a:rPr lang="el-GR" dirty="0" smtClean="0"/>
              <a:t>Β</a:t>
            </a:r>
            <a:r>
              <a:rPr lang="en-US" dirty="0" smtClean="0"/>
              <a:t>1-stimulation ,α2- stimulation , Systemic Vasodilators </a:t>
            </a:r>
          </a:p>
          <a:p>
            <a:pPr>
              <a:buNone/>
            </a:pPr>
            <a:r>
              <a:rPr lang="en-US" dirty="0" smtClean="0"/>
              <a:t>and Temperature changes</a:t>
            </a:r>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54</a:t>
            </a:fld>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Hematocrit</a:t>
            </a:r>
            <a:endParaRPr lang="en-US" dirty="0"/>
          </a:p>
        </p:txBody>
      </p:sp>
      <p:sp>
        <p:nvSpPr>
          <p:cNvPr id="3" name="Content Placeholder 2"/>
          <p:cNvSpPr>
            <a:spLocks noGrp="1"/>
          </p:cNvSpPr>
          <p:nvPr>
            <p:ph idx="1"/>
          </p:nvPr>
        </p:nvSpPr>
        <p:spPr/>
        <p:txBody>
          <a:bodyPr/>
          <a:lstStyle/>
          <a:p>
            <a:r>
              <a:rPr lang="en-US" dirty="0" smtClean="0"/>
              <a:t>In healthy subjects, variation of the </a:t>
            </a:r>
            <a:r>
              <a:rPr lang="en-US" dirty="0" err="1" smtClean="0"/>
              <a:t>hematocrit</a:t>
            </a:r>
            <a:r>
              <a:rPr lang="en-US" dirty="0" smtClean="0"/>
              <a:t> within the normal range (33% to 45%) probably results in only modest alterations in CBF. Beyond this range, changes are more substantial.</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55</a:t>
            </a:fld>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Catecholamine Agonists/Antagonists</a:t>
            </a:r>
            <a:r>
              <a:rPr lang="en-US" dirty="0" smtClean="0"/>
              <a:t>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 The effects of these anesthetics on cerebral physiology are dependent on basal blood pressure, the magnitude of the systemic blood pressure changes that occur as a result of administration of the agent of interest, the status of the </a:t>
            </a:r>
            <a:r>
              <a:rPr lang="en-US" dirty="0" err="1" smtClean="0"/>
              <a:t>autoregulation</a:t>
            </a:r>
            <a:r>
              <a:rPr lang="en-US" dirty="0" smtClean="0"/>
              <a:t> mechanism, and the status of the BBB.</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56</a:t>
            </a:fld>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lnSpcReduction="10000"/>
          </a:bodyPr>
          <a:lstStyle/>
          <a:p>
            <a:pPr>
              <a:buNone/>
            </a:pPr>
            <a:r>
              <a:rPr lang="en-US" sz="2000" dirty="0" smtClean="0"/>
              <a:t>Agonist                 Cerebral Blood Flow                        Cerebral Metabolic Rate </a:t>
            </a:r>
          </a:p>
          <a:p>
            <a:pPr>
              <a:buNone/>
            </a:pPr>
            <a:r>
              <a:rPr lang="en-US" sz="2000" dirty="0" smtClean="0"/>
              <a:t>Pure</a:t>
            </a:r>
          </a:p>
          <a:p>
            <a:r>
              <a:rPr lang="en-US" sz="2000" dirty="0" smtClean="0"/>
              <a:t> </a:t>
            </a:r>
            <a:r>
              <a:rPr lang="el-GR" sz="2000" dirty="0" smtClean="0"/>
              <a:t>α</a:t>
            </a:r>
            <a:r>
              <a:rPr lang="el-GR" sz="2000" baseline="-25000" dirty="0" smtClean="0"/>
              <a:t>1</a:t>
            </a:r>
            <a:r>
              <a:rPr lang="el-GR" sz="2000" dirty="0" smtClean="0"/>
              <a:t> </a:t>
            </a:r>
            <a:r>
              <a:rPr lang="en-US" sz="2000" dirty="0" smtClean="0"/>
              <a:t>                                            </a:t>
            </a:r>
            <a:r>
              <a:rPr lang="el-GR" sz="2000" dirty="0" smtClean="0"/>
              <a:t>0/-</a:t>
            </a:r>
            <a:r>
              <a:rPr lang="en-US" sz="2000" dirty="0" smtClean="0"/>
              <a:t>                                                    </a:t>
            </a:r>
            <a:r>
              <a:rPr lang="el-GR" sz="2000" dirty="0" smtClean="0"/>
              <a:t> 0</a:t>
            </a:r>
            <a:endParaRPr lang="en-US" sz="2000" dirty="0" smtClean="0"/>
          </a:p>
          <a:p>
            <a:r>
              <a:rPr lang="el-GR" sz="2000" dirty="0" smtClean="0"/>
              <a:t> α</a:t>
            </a:r>
            <a:r>
              <a:rPr lang="el-GR" sz="2000" baseline="-25000" dirty="0" smtClean="0"/>
              <a:t>2</a:t>
            </a:r>
            <a:r>
              <a:rPr lang="en-US" sz="2000" baseline="-25000" dirty="0" smtClean="0"/>
              <a:t>                                                                  </a:t>
            </a:r>
            <a:r>
              <a:rPr lang="el-GR" sz="2000" dirty="0" smtClean="0"/>
              <a:t> -</a:t>
            </a:r>
            <a:r>
              <a:rPr lang="en-US" sz="2000" dirty="0" smtClean="0"/>
              <a:t>                                                        </a:t>
            </a:r>
            <a:r>
              <a:rPr lang="el-GR" sz="2000" dirty="0" smtClean="0"/>
              <a:t> 0</a:t>
            </a:r>
            <a:endParaRPr lang="en-US" sz="2000" dirty="0" smtClean="0"/>
          </a:p>
          <a:p>
            <a:r>
              <a:rPr lang="el-GR" sz="2000" dirty="0" smtClean="0"/>
              <a:t> β </a:t>
            </a:r>
            <a:r>
              <a:rPr lang="en-US" sz="2000" dirty="0" smtClean="0"/>
              <a:t>                                               </a:t>
            </a:r>
            <a:r>
              <a:rPr lang="el-GR" sz="2000" dirty="0" smtClean="0"/>
              <a:t>+</a:t>
            </a:r>
            <a:r>
              <a:rPr lang="en-US" sz="2000" dirty="0" smtClean="0"/>
              <a:t>                                                      </a:t>
            </a:r>
            <a:r>
              <a:rPr lang="el-GR" sz="2000" dirty="0" smtClean="0"/>
              <a:t> + </a:t>
            </a:r>
            <a:endParaRPr lang="en-US" sz="2000" dirty="0" smtClean="0"/>
          </a:p>
          <a:p>
            <a:r>
              <a:rPr lang="el-GR" sz="2000" dirty="0" smtClean="0"/>
              <a:t>β (</a:t>
            </a:r>
            <a:r>
              <a:rPr lang="en-US" sz="2000" dirty="0" smtClean="0"/>
              <a:t>BBB open)                           +++                                                  +++</a:t>
            </a:r>
          </a:p>
          <a:p>
            <a:r>
              <a:rPr lang="en-US" sz="2000" dirty="0" smtClean="0"/>
              <a:t> Dopamine                                ++                                                     0</a:t>
            </a:r>
          </a:p>
          <a:p>
            <a:r>
              <a:rPr lang="en-US" sz="2000" dirty="0" smtClean="0"/>
              <a:t> Dopamine (high dose)             -                                                    ?0</a:t>
            </a:r>
          </a:p>
          <a:p>
            <a:r>
              <a:rPr lang="en-US" sz="2000" dirty="0" smtClean="0"/>
              <a:t> </a:t>
            </a:r>
            <a:r>
              <a:rPr lang="en-US" sz="2000" dirty="0" err="1" smtClean="0"/>
              <a:t>Fenoldopam</a:t>
            </a:r>
            <a:r>
              <a:rPr lang="en-US" sz="2000" dirty="0" smtClean="0"/>
              <a:t>                               -                                                   ?0</a:t>
            </a:r>
          </a:p>
          <a:p>
            <a:pPr>
              <a:buNone/>
            </a:pPr>
            <a:r>
              <a:rPr lang="en-US" sz="2000" dirty="0" smtClean="0"/>
              <a:t> Mixed</a:t>
            </a:r>
          </a:p>
          <a:p>
            <a:r>
              <a:rPr lang="en-US" sz="2000" dirty="0" smtClean="0"/>
              <a:t> </a:t>
            </a:r>
            <a:r>
              <a:rPr lang="en-US" sz="2000" dirty="0" err="1" smtClean="0"/>
              <a:t>Norepinephrine</a:t>
            </a:r>
            <a:r>
              <a:rPr lang="en-US" sz="2000" dirty="0" smtClean="0"/>
              <a:t>                          0/-                                               0/+</a:t>
            </a:r>
          </a:p>
          <a:p>
            <a:r>
              <a:rPr lang="en-US" sz="2000" dirty="0" smtClean="0"/>
              <a:t> </a:t>
            </a:r>
            <a:r>
              <a:rPr lang="en-US" sz="2000" dirty="0" err="1" smtClean="0"/>
              <a:t>Norepinephrine</a:t>
            </a:r>
            <a:r>
              <a:rPr lang="en-US" sz="2000" dirty="0" smtClean="0"/>
              <a:t> (BBB open)      +                                                   +</a:t>
            </a:r>
          </a:p>
          <a:p>
            <a:r>
              <a:rPr lang="en-US" sz="2000" dirty="0" smtClean="0"/>
              <a:t> Epinephrine                                  +                                                    + </a:t>
            </a:r>
          </a:p>
          <a:p>
            <a:r>
              <a:rPr lang="en-US" sz="2000" dirty="0" smtClean="0"/>
              <a:t>Epinephrine (BBB open)            +++                                               +++</a:t>
            </a:r>
            <a:endParaRPr lang="en-US" sz="2000"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57</a:t>
            </a:fld>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Systemic Vasodilators</a:t>
            </a:r>
            <a:r>
              <a:rPr lang="en-US" dirty="0" smtClean="0"/>
              <a:t> </a:t>
            </a:r>
            <a:br>
              <a:rPr lang="en-US" dirty="0" smtClean="0"/>
            </a:br>
            <a:endParaRPr lang="en-US" dirty="0"/>
          </a:p>
        </p:txBody>
      </p:sp>
      <p:sp>
        <p:nvSpPr>
          <p:cNvPr id="3" name="Content Placeholder 2"/>
          <p:cNvSpPr>
            <a:spLocks noGrp="1"/>
          </p:cNvSpPr>
          <p:nvPr>
            <p:ph idx="1"/>
          </p:nvPr>
        </p:nvSpPr>
        <p:spPr/>
        <p:txBody>
          <a:bodyPr/>
          <a:lstStyle/>
          <a:p>
            <a:r>
              <a:rPr lang="en-US" dirty="0" smtClean="0"/>
              <a:t>The majority of the drugs used to induce hypotension also cause cerebral </a:t>
            </a:r>
            <a:r>
              <a:rPr lang="en-US" dirty="0" err="1" smtClean="0"/>
              <a:t>vasodilation</a:t>
            </a:r>
            <a:r>
              <a:rPr lang="en-US" dirty="0" smtClean="0"/>
              <a:t>. As a result, CBF either increases or is maintained at </a:t>
            </a:r>
            <a:r>
              <a:rPr lang="en-US" dirty="0" err="1" smtClean="0"/>
              <a:t>prehypotensive</a:t>
            </a:r>
            <a:r>
              <a:rPr lang="en-US" dirty="0" smtClean="0"/>
              <a:t> levels. </a:t>
            </a:r>
          </a:p>
          <a:p>
            <a:r>
              <a:rPr lang="en-US" dirty="0" smtClean="0"/>
              <a:t>The effects of these anesthetics on ICP are less dramatic when hypotension is induced slowly.  </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58</a:t>
            </a:fld>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TEMPERATURE</a:t>
            </a:r>
            <a:endParaRPr lang="en-US" dirty="0"/>
          </a:p>
        </p:txBody>
      </p:sp>
      <p:sp>
        <p:nvSpPr>
          <p:cNvPr id="3" name="Content Placeholder 2"/>
          <p:cNvSpPr>
            <a:spLocks noGrp="1"/>
          </p:cNvSpPr>
          <p:nvPr>
            <p:ph idx="1"/>
          </p:nvPr>
        </p:nvSpPr>
        <p:spPr/>
        <p:txBody>
          <a:bodyPr>
            <a:normAutofit/>
          </a:bodyPr>
          <a:lstStyle/>
          <a:p>
            <a:pPr>
              <a:buNone/>
            </a:pPr>
            <a:r>
              <a:rPr lang="en-US" dirty="0" smtClean="0"/>
              <a:t> </a:t>
            </a:r>
          </a:p>
          <a:p>
            <a:r>
              <a:rPr lang="en-US" dirty="0" smtClean="0"/>
              <a:t>The effects of hypothermia on the brain have been reviewed in detail.</a:t>
            </a:r>
          </a:p>
          <a:p>
            <a:r>
              <a:rPr lang="en-US" dirty="0" smtClean="0"/>
              <a:t> CMR decreases by 6% to 7% per 1</a:t>
            </a:r>
            <a:r>
              <a:rPr lang="en-US" baseline="30000" dirty="0" smtClean="0"/>
              <a:t>0 </a:t>
            </a:r>
            <a:r>
              <a:rPr lang="en-US" dirty="0" smtClean="0"/>
              <a:t>c of temperature reduction. </a:t>
            </a:r>
          </a:p>
          <a:p>
            <a:r>
              <a:rPr lang="en-US" dirty="0" smtClean="0"/>
              <a:t>As is the case with some anesthetic drugs, hypothermia can also cause complete suppression of the EEG (at about 18°C to 20°C).</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59</a:t>
            </a:fld>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066800"/>
          </a:xfrm>
        </p:spPr>
        <p:txBody>
          <a:bodyPr>
            <a:normAutofit fontScale="90000"/>
          </a:bodyPr>
          <a:lstStyle/>
          <a:p>
            <a:r>
              <a:rPr lang="en-US" b="1" dirty="0" smtClean="0"/>
              <a:t>Effects Of Anesthetic Agents On Cerebral Blood Flow</a:t>
            </a:r>
            <a:r>
              <a:rPr lang="en-US" dirty="0" smtClean="0"/>
              <a:t/>
            </a:r>
            <a:br>
              <a:rPr lang="en-US" dirty="0" smtClean="0"/>
            </a:br>
            <a:endParaRPr lang="en-US" dirty="0"/>
          </a:p>
        </p:txBody>
      </p:sp>
      <p:sp>
        <p:nvSpPr>
          <p:cNvPr id="3" name="Content Placeholder 2"/>
          <p:cNvSpPr>
            <a:spLocks noGrp="1"/>
          </p:cNvSpPr>
          <p:nvPr>
            <p:ph idx="1"/>
          </p:nvPr>
        </p:nvSpPr>
        <p:spPr>
          <a:xfrm>
            <a:off x="457200" y="1600200"/>
            <a:ext cx="8229600" cy="4800600"/>
          </a:xfrm>
        </p:spPr>
        <p:txBody>
          <a:bodyPr>
            <a:normAutofit/>
          </a:bodyPr>
          <a:lstStyle/>
          <a:p>
            <a:pPr>
              <a:buNone/>
            </a:pPr>
            <a:r>
              <a:rPr lang="en-US" b="1" dirty="0" smtClean="0"/>
              <a:t>Intravenous Agents</a:t>
            </a:r>
            <a:endParaRPr lang="en-US" dirty="0" smtClean="0"/>
          </a:p>
          <a:p>
            <a:r>
              <a:rPr lang="en-US" dirty="0" err="1" smtClean="0"/>
              <a:t>Propofol</a:t>
            </a:r>
            <a:r>
              <a:rPr lang="en-US" dirty="0" smtClean="0"/>
              <a:t>, thiopental, and </a:t>
            </a:r>
            <a:r>
              <a:rPr lang="en-US" dirty="0" err="1" smtClean="0"/>
              <a:t>etomidate</a:t>
            </a:r>
            <a:r>
              <a:rPr lang="en-US" dirty="0" smtClean="0"/>
              <a:t> all cause global reductions in cerebral metabolism and CBF. Although </a:t>
            </a:r>
            <a:r>
              <a:rPr lang="en-US" dirty="0" err="1" smtClean="0"/>
              <a:t>autoregulation</a:t>
            </a:r>
            <a:r>
              <a:rPr lang="en-US" dirty="0" smtClean="0"/>
              <a:t>, flow-metabolism coupling, and CO</a:t>
            </a:r>
            <a:r>
              <a:rPr lang="en-US" baseline="-25000" dirty="0" smtClean="0"/>
              <a:t>2</a:t>
            </a:r>
            <a:r>
              <a:rPr lang="en-US" dirty="0" smtClean="0"/>
              <a:t> responsiveness remain intact even with high doses of </a:t>
            </a:r>
            <a:r>
              <a:rPr lang="en-US" dirty="0" err="1" smtClean="0"/>
              <a:t>propofol</a:t>
            </a:r>
            <a:r>
              <a:rPr lang="en-US" dirty="0" smtClean="0"/>
              <a:t> and thiopental, care should be exercised to avoid arterial hypotension, which may compromise CPP.</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60</a:t>
            </a:fld>
            <a:endParaRPr 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tx1"/>
                </a:solidFill>
              </a:rPr>
              <a:t>Barbiturates</a:t>
            </a:r>
            <a:br>
              <a:rPr lang="en-US" b="1" dirty="0" smtClean="0">
                <a:solidFill>
                  <a:schemeClr val="tx1"/>
                </a:solidFill>
              </a:rPr>
            </a:br>
            <a:endParaRPr lang="en-US" dirty="0">
              <a:solidFill>
                <a:schemeClr val="tx1"/>
              </a:solidFill>
            </a:endParaRPr>
          </a:p>
        </p:txBody>
      </p:sp>
      <p:sp>
        <p:nvSpPr>
          <p:cNvPr id="3" name="Content Placeholder 2"/>
          <p:cNvSpPr>
            <a:spLocks noGrp="1"/>
          </p:cNvSpPr>
          <p:nvPr>
            <p:ph idx="1"/>
          </p:nvPr>
        </p:nvSpPr>
        <p:spPr/>
        <p:txBody>
          <a:bodyPr>
            <a:normAutofit fontScale="92500" lnSpcReduction="10000"/>
          </a:bodyPr>
          <a:lstStyle/>
          <a:p>
            <a:r>
              <a:rPr lang="en-US" dirty="0" smtClean="0"/>
              <a:t>Barbiturates have four major actions on the CNS:</a:t>
            </a:r>
          </a:p>
          <a:p>
            <a:r>
              <a:rPr lang="en-US" dirty="0" smtClean="0"/>
              <a:t> (1) hypnosis, </a:t>
            </a:r>
          </a:p>
          <a:p>
            <a:r>
              <a:rPr lang="en-US" dirty="0" smtClean="0"/>
              <a:t>(2) depression </a:t>
            </a:r>
            <a:r>
              <a:rPr lang="en-US" dirty="0" err="1" smtClean="0"/>
              <a:t>ofCMR</a:t>
            </a:r>
            <a:r>
              <a:rPr lang="en-US" dirty="0" smtClean="0"/>
              <a:t>, </a:t>
            </a:r>
          </a:p>
          <a:p>
            <a:r>
              <a:rPr lang="en-US" dirty="0" smtClean="0"/>
              <a:t>(3) reduction of CBF due to increased cerebral vascular resistance, and</a:t>
            </a:r>
          </a:p>
          <a:p>
            <a:r>
              <a:rPr lang="en-US" dirty="0" smtClean="0"/>
              <a:t> (4) anticonvulsant activity.</a:t>
            </a:r>
          </a:p>
          <a:p>
            <a:r>
              <a:rPr lang="en-US" dirty="0" smtClean="0"/>
              <a:t> These properties make barbiturates, particularly thiopental, the most commonly used induction agents in </a:t>
            </a:r>
            <a:r>
              <a:rPr lang="en-US" dirty="0" err="1" smtClean="0"/>
              <a:t>neuroanesthesia</a:t>
            </a:r>
            <a:r>
              <a:rPr lang="en-US" dirty="0" smtClean="0"/>
              <a:t>.</a:t>
            </a:r>
            <a:endParaRPr lang="en-US" dirty="0"/>
          </a:p>
        </p:txBody>
      </p:sp>
      <p:sp>
        <p:nvSpPr>
          <p:cNvPr id="4" name="Footer Placeholder 3"/>
          <p:cNvSpPr>
            <a:spLocks noGrp="1"/>
          </p:cNvSpPr>
          <p:nvPr>
            <p:ph type="ftr" sz="quarter" idx="11"/>
          </p:nvPr>
        </p:nvSpPr>
        <p:spPr/>
        <p:txBody>
          <a:bodyPr/>
          <a:lstStyle/>
          <a:p>
            <a:r>
              <a:rPr lang="en-US" smtClean="0">
                <a:solidFill>
                  <a:schemeClr val="tx1"/>
                </a:solidFill>
              </a:rPr>
              <a:t>By Siryet Tesfaye</a:t>
            </a:r>
            <a:endParaRPr lang="en-US">
              <a:solidFill>
                <a:schemeClr val="tx1"/>
              </a:solidFill>
            </a:endParaRPr>
          </a:p>
        </p:txBody>
      </p:sp>
      <p:sp>
        <p:nvSpPr>
          <p:cNvPr id="5" name="Slide Number Placeholder 4"/>
          <p:cNvSpPr>
            <a:spLocks noGrp="1"/>
          </p:cNvSpPr>
          <p:nvPr>
            <p:ph type="sldNum" sz="quarter" idx="12"/>
          </p:nvPr>
        </p:nvSpPr>
        <p:spPr/>
        <p:txBody>
          <a:bodyPr/>
          <a:lstStyle/>
          <a:p>
            <a:fld id="{1528205D-516C-4A2E-8491-92189BC25433}" type="slidenum">
              <a:rPr lang="en-US" smtClean="0">
                <a:solidFill>
                  <a:schemeClr val="tx1"/>
                </a:solidFill>
              </a:rPr>
              <a:pPr/>
              <a:t>61</a:t>
            </a:fld>
            <a:endParaRPr lang="en-US">
              <a:solidFill>
                <a:schemeClr val="tx1"/>
              </a:solidFill>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r>
              <a:rPr lang="en-US" dirty="0" smtClean="0"/>
              <a:t>Barbiturates produce dose-dependent decreases in CMR and CBF until the EEG becomes </a:t>
            </a:r>
            <a:r>
              <a:rPr lang="en-US" dirty="0" err="1" smtClean="0"/>
              <a:t>isoelectric</a:t>
            </a:r>
            <a:r>
              <a:rPr lang="en-US" dirty="0" smtClean="0"/>
              <a:t>. At that point, maximum reductions of nearly 50% are observed;</a:t>
            </a:r>
          </a:p>
          <a:p>
            <a:r>
              <a:rPr lang="en-US" dirty="0" smtClean="0"/>
              <a:t>additional barbiturate does not further reduce metabolic rate. </a:t>
            </a:r>
          </a:p>
          <a:p>
            <a:r>
              <a:rPr lang="en-US" dirty="0" smtClean="0"/>
              <a:t>Barbiturates reduce metabolic rate uniformly throughout the brain.</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62</a:t>
            </a:fld>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barbiturate-induced cerebral vasoconstriction occurs only in normal areas.</a:t>
            </a:r>
          </a:p>
          <a:p>
            <a:r>
              <a:rPr lang="en-US" dirty="0" smtClean="0"/>
              <a:t>They tend to redistribute blood flow from normal to ischemic areas in the brain (Robin Hood, or reverse steal phenomenon). </a:t>
            </a:r>
          </a:p>
          <a:p>
            <a:r>
              <a:rPr lang="en-US" dirty="0" smtClean="0"/>
              <a:t>The cerebral vasculature in ischemic areas remains maximally dilated and is unaffected by the barbiturate because of ischemic vasomotor paralysis.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63</a:t>
            </a:fld>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Cont…</a:t>
            </a:r>
            <a:endParaRPr lang="en-US" dirty="0"/>
          </a:p>
        </p:txBody>
      </p:sp>
      <p:sp>
        <p:nvSpPr>
          <p:cNvPr id="3" name="Content Placeholder 2"/>
          <p:cNvSpPr>
            <a:spLocks noGrp="1"/>
          </p:cNvSpPr>
          <p:nvPr>
            <p:ph idx="1"/>
          </p:nvPr>
        </p:nvSpPr>
        <p:spPr>
          <a:xfrm>
            <a:off x="457200" y="1371600"/>
            <a:ext cx="8229600" cy="4754563"/>
          </a:xfrm>
        </p:spPr>
        <p:txBody>
          <a:bodyPr>
            <a:normAutofit/>
          </a:bodyPr>
          <a:lstStyle/>
          <a:p>
            <a:r>
              <a:rPr lang="en-US" dirty="0" smtClean="0"/>
              <a:t>Barbiturates also appear to facilitate absorption of CSF.</a:t>
            </a:r>
          </a:p>
          <a:p>
            <a:r>
              <a:rPr lang="en-US" dirty="0" smtClean="0"/>
              <a:t> The resultant reduction in CSF volume, combined with decreases in CBF and cerebral blood volume, makes barbiturates highly effective in lowering ICP. </a:t>
            </a:r>
          </a:p>
          <a:p>
            <a:r>
              <a:rPr lang="en-US" dirty="0" smtClean="0"/>
              <a:t>Their anticonvulsant properties are also advantageous in neurosurgical patients who are at increased risk for seizures.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64</a:t>
            </a:fld>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Studies suggest that barbiturate prophylaxis is effective in preventing brain injury during focal but not global ischemia.</a:t>
            </a:r>
          </a:p>
          <a:p>
            <a:r>
              <a:rPr lang="en-US" dirty="0" smtClean="0"/>
              <a:t>CMR is depressed slightly more than CBF, such that metabolic supply exceeds metabolic demand (as long as CPP is maintained).</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65</a:t>
            </a:fld>
            <a:endParaRPr 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Propofol</a:t>
            </a:r>
            <a:endParaRPr lang="en-US" dirty="0"/>
          </a:p>
        </p:txBody>
      </p:sp>
      <p:sp>
        <p:nvSpPr>
          <p:cNvPr id="3" name="Content Placeholder 2"/>
          <p:cNvSpPr>
            <a:spLocks noGrp="1"/>
          </p:cNvSpPr>
          <p:nvPr>
            <p:ph idx="1"/>
          </p:nvPr>
        </p:nvSpPr>
        <p:spPr/>
        <p:txBody>
          <a:bodyPr>
            <a:normAutofit fontScale="92500" lnSpcReduction="20000"/>
          </a:bodyPr>
          <a:lstStyle/>
          <a:p>
            <a:r>
              <a:rPr lang="en-US" dirty="0" err="1" smtClean="0"/>
              <a:t>Propofol</a:t>
            </a:r>
            <a:r>
              <a:rPr lang="en-US" dirty="0" smtClean="0"/>
              <a:t> reduces CBF and CMR similar to barbiturates and </a:t>
            </a:r>
            <a:r>
              <a:rPr lang="en-US" dirty="0" err="1" smtClean="0"/>
              <a:t>etomidate</a:t>
            </a:r>
            <a:r>
              <a:rPr lang="en-US" dirty="0" smtClean="0"/>
              <a:t>; however, the decrease in CBF may exceed that in metabolic rate. </a:t>
            </a:r>
          </a:p>
          <a:p>
            <a:r>
              <a:rPr lang="en-US" dirty="0" err="1" smtClean="0"/>
              <a:t>propofol</a:t>
            </a:r>
            <a:r>
              <a:rPr lang="en-US" dirty="0" smtClean="0"/>
              <a:t> appears to have significant anticonvulsant activity.</a:t>
            </a:r>
          </a:p>
          <a:p>
            <a:r>
              <a:rPr lang="en-US" dirty="0" smtClean="0"/>
              <a:t> Moreover, its short elimination half-life makes it a useful agent for </a:t>
            </a:r>
            <a:r>
              <a:rPr lang="en-US" dirty="0" err="1" smtClean="0"/>
              <a:t>neuroanesthesia</a:t>
            </a:r>
            <a:r>
              <a:rPr lang="en-US" dirty="0" smtClean="0"/>
              <a:t>.</a:t>
            </a:r>
          </a:p>
          <a:p>
            <a:r>
              <a:rPr lang="en-US" dirty="0" smtClean="0"/>
              <a:t>Unfortunately, excessive hypotension and cardiac depression in elderly or unstable patients can compromise CPP.</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66</a:t>
            </a:fld>
            <a:endParaRPr 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09600"/>
          </a:xfrm>
        </p:spPr>
        <p:txBody>
          <a:bodyPr>
            <a:normAutofit fontScale="90000"/>
          </a:bodyPr>
          <a:lstStyle/>
          <a:p>
            <a:r>
              <a:rPr lang="en-US" b="1" dirty="0" err="1" smtClean="0"/>
              <a:t>Etomidate</a:t>
            </a:r>
            <a:r>
              <a:rPr lang="en-US" dirty="0" smtClean="0"/>
              <a:t/>
            </a:r>
            <a:br>
              <a:rPr lang="en-US" dirty="0" smtClean="0"/>
            </a:br>
            <a:endParaRPr lang="en-US" dirty="0"/>
          </a:p>
        </p:txBody>
      </p:sp>
      <p:sp>
        <p:nvSpPr>
          <p:cNvPr id="3" name="Content Placeholder 2"/>
          <p:cNvSpPr>
            <a:spLocks noGrp="1"/>
          </p:cNvSpPr>
          <p:nvPr>
            <p:ph idx="1"/>
          </p:nvPr>
        </p:nvSpPr>
        <p:spPr>
          <a:xfrm>
            <a:off x="457200" y="914400"/>
            <a:ext cx="8229600" cy="5211763"/>
          </a:xfrm>
        </p:spPr>
        <p:txBody>
          <a:bodyPr>
            <a:normAutofit/>
          </a:bodyPr>
          <a:lstStyle/>
          <a:p>
            <a:r>
              <a:rPr lang="en-US" dirty="0" smtClean="0"/>
              <a:t>Like the barbiturates, reduces CMR and CBF. In addition to the indirect effect of reduced cerebral metabolism on blood flow, </a:t>
            </a:r>
            <a:r>
              <a:rPr lang="en-US" dirty="0" err="1" smtClean="0"/>
              <a:t>etomidate</a:t>
            </a:r>
            <a:r>
              <a:rPr lang="en-US" dirty="0" smtClean="0"/>
              <a:t> is also a direct vasoconstrictor even  before metabolism is suppressed.</a:t>
            </a:r>
          </a:p>
          <a:p>
            <a:r>
              <a:rPr lang="en-US" dirty="0" smtClean="0"/>
              <a:t> Its advantage over the barbiturates is that it does not produce clinically significant cardiovascular depression. Prolonged use of </a:t>
            </a:r>
            <a:r>
              <a:rPr lang="en-US" dirty="0" err="1" smtClean="0"/>
              <a:t>etomidate</a:t>
            </a:r>
            <a:r>
              <a:rPr lang="en-US" dirty="0" smtClean="0"/>
              <a:t> may suppress the </a:t>
            </a:r>
            <a:r>
              <a:rPr lang="en-US" dirty="0" err="1" smtClean="0"/>
              <a:t>adrenocortical</a:t>
            </a:r>
            <a:r>
              <a:rPr lang="en-US" dirty="0" smtClean="0"/>
              <a:t> response to stress</a:t>
            </a:r>
            <a:r>
              <a:rPr lang="en-US" b="1" dirty="0" smtClean="0"/>
              <a:t>.</a:t>
            </a:r>
            <a:endParaRPr lang="en-US" dirty="0" smtClean="0"/>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67</a:t>
            </a:fld>
            <a:endParaRPr lang="en-US"/>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r>
              <a:rPr lang="en-US" dirty="0" smtClean="0"/>
              <a:t>Its effect on CMR is </a:t>
            </a:r>
            <a:r>
              <a:rPr lang="en-US" dirty="0" err="1" smtClean="0"/>
              <a:t>nonuniform</a:t>
            </a:r>
            <a:r>
              <a:rPr lang="en-US" dirty="0" smtClean="0"/>
              <a:t>, affecting the cortex more than the brain stem. </a:t>
            </a:r>
          </a:p>
          <a:p>
            <a:r>
              <a:rPr lang="en-US" dirty="0" smtClean="0"/>
              <a:t>Its limited effect on the brain stem may be responsible for greater hemodynamic stability in unstable patients when compared with the effect of barbiturates.</a:t>
            </a:r>
          </a:p>
          <a:p>
            <a:r>
              <a:rPr lang="en-US" dirty="0" smtClean="0"/>
              <a:t> </a:t>
            </a:r>
            <a:r>
              <a:rPr lang="en-US" dirty="0" err="1" smtClean="0"/>
              <a:t>Etomidate</a:t>
            </a:r>
            <a:r>
              <a:rPr lang="en-US" dirty="0" smtClean="0"/>
              <a:t> also decreases production and enhances absorption of CSF.</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68</a:t>
            </a:fld>
            <a:endParaRPr 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endParaRPr lang="en-US" dirty="0"/>
          </a:p>
        </p:txBody>
      </p:sp>
      <p:sp>
        <p:nvSpPr>
          <p:cNvPr id="3" name="Content Placeholder 2"/>
          <p:cNvSpPr>
            <a:spLocks noGrp="1"/>
          </p:cNvSpPr>
          <p:nvPr>
            <p:ph idx="1"/>
          </p:nvPr>
        </p:nvSpPr>
        <p:spPr>
          <a:xfrm>
            <a:off x="457200" y="1295400"/>
            <a:ext cx="8229600" cy="4830763"/>
          </a:xfrm>
        </p:spPr>
        <p:txBody>
          <a:bodyPr>
            <a:normAutofit fontScale="92500"/>
          </a:bodyPr>
          <a:lstStyle/>
          <a:p>
            <a:r>
              <a:rPr lang="en-US" dirty="0" smtClean="0"/>
              <a:t>Induction with </a:t>
            </a:r>
            <a:r>
              <a:rPr lang="en-US" dirty="0" err="1" smtClean="0"/>
              <a:t>etomidate</a:t>
            </a:r>
            <a:r>
              <a:rPr lang="en-US" dirty="0" smtClean="0"/>
              <a:t> is associated with a relatively high incidence of </a:t>
            </a:r>
            <a:r>
              <a:rPr lang="en-US" dirty="0" err="1" smtClean="0"/>
              <a:t>myoclonic</a:t>
            </a:r>
            <a:r>
              <a:rPr lang="en-US" dirty="0" smtClean="0"/>
              <a:t> movements, but these movements are not associated with seizure activity on the EEG in normal individuals. </a:t>
            </a:r>
          </a:p>
          <a:p>
            <a:r>
              <a:rPr lang="en-US" dirty="0" smtClean="0"/>
              <a:t>The drug has been used to treat seizures, but reports of seizure activity following </a:t>
            </a:r>
            <a:r>
              <a:rPr lang="en-US" dirty="0" err="1" smtClean="0"/>
              <a:t>etomidate</a:t>
            </a:r>
            <a:r>
              <a:rPr lang="en-US" dirty="0" smtClean="0"/>
              <a:t> suggest that the drug is best avoided in patients with a history of epilepsy. In fact, small doses of </a:t>
            </a:r>
            <a:r>
              <a:rPr lang="en-US" dirty="0" err="1" smtClean="0"/>
              <a:t>etomidate</a:t>
            </a:r>
            <a:r>
              <a:rPr lang="en-US" dirty="0" smtClean="0"/>
              <a:t> can activate seizure foci in patients with epilepsy.</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69</a:t>
            </a:fld>
            <a:endParaRPr lang="en-US"/>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Ketamine</a:t>
            </a:r>
            <a:endParaRPr lang="en-US" dirty="0"/>
          </a:p>
        </p:txBody>
      </p:sp>
      <p:sp>
        <p:nvSpPr>
          <p:cNvPr id="3" name="Content Placeholder 2"/>
          <p:cNvSpPr>
            <a:spLocks noGrp="1"/>
          </p:cNvSpPr>
          <p:nvPr>
            <p:ph idx="1"/>
          </p:nvPr>
        </p:nvSpPr>
        <p:spPr/>
        <p:txBody>
          <a:bodyPr>
            <a:normAutofit lnSpcReduction="10000"/>
          </a:bodyPr>
          <a:lstStyle/>
          <a:p>
            <a:r>
              <a:rPr lang="en-US" dirty="0" smtClean="0"/>
              <a:t> Among the intravenous anesthetics, </a:t>
            </a:r>
            <a:r>
              <a:rPr lang="en-US" dirty="0" err="1" smtClean="0"/>
              <a:t>ketamine</a:t>
            </a:r>
            <a:r>
              <a:rPr lang="en-US" dirty="0" smtClean="0"/>
              <a:t> is unique in its ability to cause increases in both CBF and CMR.</a:t>
            </a:r>
          </a:p>
          <a:p>
            <a:r>
              <a:rPr lang="en-US" dirty="0" smtClean="0"/>
              <a:t>The majority of investigations indicate that </a:t>
            </a:r>
            <a:r>
              <a:rPr lang="en-US" dirty="0" err="1" smtClean="0"/>
              <a:t>autoregulation</a:t>
            </a:r>
            <a:r>
              <a:rPr lang="en-US" dirty="0" smtClean="0"/>
              <a:t> is maintained during </a:t>
            </a:r>
            <a:r>
              <a:rPr lang="en-US" dirty="0" err="1" smtClean="0"/>
              <a:t>ketamine</a:t>
            </a:r>
            <a:r>
              <a:rPr lang="en-US" dirty="0" smtClean="0"/>
              <a:t> anesthesia</a:t>
            </a:r>
            <a:r>
              <a:rPr lang="en-US" baseline="30000" dirty="0" smtClean="0"/>
              <a:t>]</a:t>
            </a:r>
            <a:r>
              <a:rPr lang="en-US" dirty="0" smtClean="0"/>
              <a:t>; the observed effects of </a:t>
            </a:r>
            <a:r>
              <a:rPr lang="en-US" dirty="0" err="1" smtClean="0"/>
              <a:t>ketamine</a:t>
            </a:r>
            <a:r>
              <a:rPr lang="en-US" dirty="0" smtClean="0"/>
              <a:t> on cerebral </a:t>
            </a:r>
            <a:r>
              <a:rPr lang="en-US" dirty="0" err="1" smtClean="0"/>
              <a:t>hemodynamics</a:t>
            </a:r>
            <a:r>
              <a:rPr lang="en-US" dirty="0" smtClean="0"/>
              <a:t> indicate that </a:t>
            </a:r>
            <a:r>
              <a:rPr lang="en-US" dirty="0" err="1" smtClean="0"/>
              <a:t>ketamine</a:t>
            </a:r>
            <a:r>
              <a:rPr lang="en-US" dirty="0" smtClean="0"/>
              <a:t> increases CMR and secondarily increases CBF. CO</a:t>
            </a:r>
            <a:r>
              <a:rPr lang="en-US" baseline="-25000" dirty="0" smtClean="0"/>
              <a:t>2</a:t>
            </a:r>
            <a:r>
              <a:rPr lang="en-US" dirty="0" smtClean="0"/>
              <a:t> responsiveness is preserved</a:t>
            </a:r>
            <a:r>
              <a:rPr lang="en-US" b="1" dirty="0" smtClean="0"/>
              <a:t>.</a:t>
            </a:r>
            <a:endParaRPr lang="en-US" dirty="0" smtClean="0"/>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70</a:t>
            </a:fld>
            <a:endParaRPr lang="en-US"/>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fontScale="92500" lnSpcReduction="10000"/>
          </a:bodyPr>
          <a:lstStyle/>
          <a:p>
            <a:r>
              <a:rPr lang="en-US" dirty="0" err="1" smtClean="0"/>
              <a:t>Ketamine</a:t>
            </a:r>
            <a:r>
              <a:rPr lang="en-US" dirty="0" smtClean="0"/>
              <a:t> is a potent </a:t>
            </a:r>
            <a:r>
              <a:rPr lang="en-US" i="1" dirty="0" smtClean="0"/>
              <a:t>N</a:t>
            </a:r>
            <a:r>
              <a:rPr lang="en-US" dirty="0" smtClean="0"/>
              <a:t>-methyl-d-</a:t>
            </a:r>
            <a:r>
              <a:rPr lang="en-US" dirty="0" err="1" smtClean="0"/>
              <a:t>aspartate</a:t>
            </a:r>
            <a:r>
              <a:rPr lang="en-US" dirty="0" smtClean="0"/>
              <a:t> (NMDA) receptor antagonist. In models of focal ischemia, substantial </a:t>
            </a:r>
            <a:r>
              <a:rPr lang="en-US" dirty="0" err="1" smtClean="0"/>
              <a:t>neuroprotection</a:t>
            </a:r>
            <a:r>
              <a:rPr lang="en-US" dirty="0" smtClean="0"/>
              <a:t> has been demonstrated with the administration of </a:t>
            </a:r>
            <a:r>
              <a:rPr lang="en-US" dirty="0" err="1" smtClean="0"/>
              <a:t>ketamine</a:t>
            </a:r>
            <a:r>
              <a:rPr lang="en-US" dirty="0" smtClean="0"/>
              <a:t>.</a:t>
            </a:r>
          </a:p>
          <a:p>
            <a:r>
              <a:rPr lang="en-US" dirty="0" smtClean="0"/>
              <a:t>The adverse neuropsychiatric side effects of </a:t>
            </a:r>
            <a:r>
              <a:rPr lang="en-US" dirty="0" err="1" smtClean="0"/>
              <a:t>ketamine</a:t>
            </a:r>
            <a:r>
              <a:rPr lang="en-US" dirty="0" smtClean="0"/>
              <a:t>, however, have restricted its clinical use for </a:t>
            </a:r>
            <a:r>
              <a:rPr lang="en-US" dirty="0" err="1" smtClean="0"/>
              <a:t>neuroprotection</a:t>
            </a:r>
            <a:r>
              <a:rPr lang="en-US" b="1" dirty="0" smtClean="0"/>
              <a:t>.</a:t>
            </a:r>
            <a:endParaRPr lang="en-US" dirty="0" smtClean="0"/>
          </a:p>
          <a:p>
            <a:r>
              <a:rPr lang="en-US" dirty="0" err="1" smtClean="0"/>
              <a:t>Ketamine</a:t>
            </a:r>
            <a:r>
              <a:rPr lang="en-US" dirty="0" smtClean="0"/>
              <a:t> can elicit seizures in patients with an epileptic diathesis.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71</a:t>
            </a:fld>
            <a:endParaRPr lang="en-US"/>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Narcotics</a:t>
            </a:r>
            <a:endParaRPr lang="en-US" dirty="0"/>
          </a:p>
        </p:txBody>
      </p:sp>
      <p:sp>
        <p:nvSpPr>
          <p:cNvPr id="3" name="Content Placeholder 2"/>
          <p:cNvSpPr>
            <a:spLocks noGrp="1"/>
          </p:cNvSpPr>
          <p:nvPr>
            <p:ph idx="1"/>
          </p:nvPr>
        </p:nvSpPr>
        <p:spPr/>
        <p:txBody>
          <a:bodyPr/>
          <a:lstStyle/>
          <a:p>
            <a:pPr>
              <a:buNone/>
            </a:pPr>
            <a:r>
              <a:rPr lang="en-US" dirty="0" smtClean="0"/>
              <a:t> </a:t>
            </a:r>
          </a:p>
          <a:p>
            <a:r>
              <a:rPr lang="en-US" dirty="0" smtClean="0"/>
              <a:t>There are inconsistencies in the information available, but it is likely that narcotics have relatively little effect on CBF and CMR in the normal, </a:t>
            </a:r>
            <a:r>
              <a:rPr lang="en-US" dirty="0" err="1" smtClean="0"/>
              <a:t>unstimulated</a:t>
            </a:r>
            <a:r>
              <a:rPr lang="en-US" dirty="0" smtClean="0"/>
              <a:t> nervous system. When changes do occur, the general pattern is one of modest reductions in both CBF and CMR.</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72</a:t>
            </a:fld>
            <a:endParaRPr lang="en-US"/>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Lidocaine</a:t>
            </a:r>
            <a:r>
              <a:rPr lang="en-US" dirty="0" smtClean="0"/>
              <a:t> </a:t>
            </a:r>
            <a:br>
              <a:rPr lang="en-US" dirty="0" smtClean="0"/>
            </a:br>
            <a:endParaRPr lang="en-US" dirty="0"/>
          </a:p>
        </p:txBody>
      </p:sp>
      <p:sp>
        <p:nvSpPr>
          <p:cNvPr id="3" name="Content Placeholder 2"/>
          <p:cNvSpPr>
            <a:spLocks noGrp="1"/>
          </p:cNvSpPr>
          <p:nvPr>
            <p:ph idx="1"/>
          </p:nvPr>
        </p:nvSpPr>
        <p:spPr/>
        <p:txBody>
          <a:bodyPr/>
          <a:lstStyle/>
          <a:p>
            <a:r>
              <a:rPr lang="en-US" dirty="0" err="1" smtClean="0"/>
              <a:t>Lidocaine</a:t>
            </a:r>
            <a:r>
              <a:rPr lang="en-US" dirty="0" smtClean="0"/>
              <a:t> produces a dose-related reduction in CMRO</a:t>
            </a:r>
            <a:r>
              <a:rPr lang="en-US" baseline="-25000" dirty="0" smtClean="0"/>
              <a:t>2</a:t>
            </a:r>
            <a:r>
              <a:rPr lang="en-US" dirty="0" smtClean="0"/>
              <a:t> in experimental </a:t>
            </a:r>
            <a:r>
              <a:rPr lang="en-US" dirty="0" err="1" smtClean="0"/>
              <a:t>animalsThis</a:t>
            </a:r>
            <a:r>
              <a:rPr lang="en-US" dirty="0" smtClean="0"/>
              <a:t> may occur because the membrane-stabilizing effect of </a:t>
            </a:r>
            <a:r>
              <a:rPr lang="en-US" dirty="0" err="1" smtClean="0"/>
              <a:t>lidocaine</a:t>
            </a:r>
            <a:r>
              <a:rPr lang="en-US" dirty="0" smtClean="0"/>
              <a:t> also reduces the energy required for maintenance of membrane integrity</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73</a:t>
            </a:fld>
            <a:endParaRPr lang="en-US"/>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Benzodiazepine</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Benzodiazepines have been shown to reduce CMR and CBF; however, this effect is not as pronounced as that with the barbiturates.</a:t>
            </a:r>
          </a:p>
          <a:p>
            <a:r>
              <a:rPr lang="en-US" dirty="0" smtClean="0"/>
              <a:t> As with the barbiturates, the blood flow reduction by benzodiazepines is thought to be secondary to a reduction in CMR. Benzodiazepines may reduce ICP owing to their effect on CBF. </a:t>
            </a:r>
          </a:p>
          <a:p>
            <a:pPr>
              <a:buNone/>
            </a:pP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74</a:t>
            </a:fld>
            <a:endParaRPr lang="en-US"/>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60438"/>
          </a:xfrm>
        </p:spPr>
        <p:txBody>
          <a:bodyPr>
            <a:normAutofit fontScale="90000"/>
          </a:bodyPr>
          <a:lstStyle/>
          <a:p>
            <a:r>
              <a:rPr lang="en-US" dirty="0" smtClean="0"/>
              <a:t>Muscle Relaxants</a:t>
            </a:r>
            <a:r>
              <a:rPr lang="en-US" b="1" dirty="0" smtClean="0"/>
              <a:t> </a:t>
            </a:r>
            <a:br>
              <a:rPr lang="en-US" b="1" dirty="0" smtClean="0"/>
            </a:br>
            <a:r>
              <a:rPr lang="en-US" b="1" dirty="0" err="1" smtClean="0"/>
              <a:t>Nondepolarizing</a:t>
            </a:r>
            <a:r>
              <a:rPr lang="en-US" b="1" dirty="0" smtClean="0"/>
              <a:t> Relaxants </a:t>
            </a:r>
            <a:br>
              <a:rPr lang="en-US" b="1" dirty="0" smtClean="0"/>
            </a:br>
            <a:endParaRPr lang="en-US" dirty="0"/>
          </a:p>
        </p:txBody>
      </p:sp>
      <p:sp>
        <p:nvSpPr>
          <p:cNvPr id="3" name="Content Placeholder 2"/>
          <p:cNvSpPr>
            <a:spLocks noGrp="1"/>
          </p:cNvSpPr>
          <p:nvPr>
            <p:ph idx="1"/>
          </p:nvPr>
        </p:nvSpPr>
        <p:spPr>
          <a:xfrm>
            <a:off x="457200" y="1676400"/>
            <a:ext cx="8229600" cy="4449763"/>
          </a:xfrm>
        </p:spPr>
        <p:txBody>
          <a:bodyPr>
            <a:normAutofit/>
          </a:bodyPr>
          <a:lstStyle/>
          <a:p>
            <a:r>
              <a:rPr lang="en-US" dirty="0" smtClean="0"/>
              <a:t>The only recognized effect of </a:t>
            </a:r>
            <a:r>
              <a:rPr lang="en-US" dirty="0" err="1" smtClean="0"/>
              <a:t>nondepolarizing</a:t>
            </a:r>
            <a:r>
              <a:rPr lang="en-US" dirty="0" smtClean="0"/>
              <a:t> relaxants on the cerebral vasculature occurs via the release of histamine .</a:t>
            </a:r>
          </a:p>
          <a:p>
            <a:r>
              <a:rPr lang="en-US" dirty="0" smtClean="0"/>
              <a:t>Histamine can result in a reduction in CPP because of the simultaneous increase in ICP (caused by cerebral </a:t>
            </a:r>
            <a:r>
              <a:rPr lang="en-US" dirty="0" err="1" smtClean="0"/>
              <a:t>vasodilation</a:t>
            </a:r>
            <a:r>
              <a:rPr lang="en-US" dirty="0" smtClean="0"/>
              <a:t>) and decrease in MAP. </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75</a:t>
            </a:fld>
            <a:endParaRPr lang="en-US"/>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cap="small" dirty="0" smtClean="0"/>
              <a:t>d</a:t>
            </a:r>
            <a:r>
              <a:rPr lang="en-US" dirty="0" smtClean="0"/>
              <a:t>-</a:t>
            </a:r>
            <a:r>
              <a:rPr lang="en-US" dirty="0" err="1" smtClean="0"/>
              <a:t>Tubocurarine</a:t>
            </a:r>
            <a:r>
              <a:rPr lang="en-US" dirty="0" smtClean="0"/>
              <a:t> is the most potent histamine releaser among available muscle relaxants. </a:t>
            </a:r>
            <a:r>
              <a:rPr lang="en-US" dirty="0" err="1" smtClean="0"/>
              <a:t>Metocurine</a:t>
            </a:r>
            <a:r>
              <a:rPr lang="en-US" dirty="0" smtClean="0"/>
              <a:t>, </a:t>
            </a:r>
            <a:r>
              <a:rPr lang="en-US" dirty="0" err="1" smtClean="0"/>
              <a:t>atracurium</a:t>
            </a:r>
            <a:r>
              <a:rPr lang="en-US" dirty="0" smtClean="0"/>
              <a:t>, and </a:t>
            </a:r>
            <a:r>
              <a:rPr lang="en-US" dirty="0" err="1" smtClean="0"/>
              <a:t>mivacurium</a:t>
            </a:r>
            <a:r>
              <a:rPr lang="en-US" dirty="0" smtClean="0"/>
              <a:t> also release histamine in lesser quantities. </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76</a:t>
            </a:fld>
            <a:endParaRPr lang="en-US"/>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r>
              <a:rPr lang="en-US" sz="3600" dirty="0" err="1" smtClean="0"/>
              <a:t>Vecuronium</a:t>
            </a:r>
            <a:r>
              <a:rPr lang="en-US" sz="3600" dirty="0" smtClean="0"/>
              <a:t>, in relatively large doses of 0.1 to 0.14 mg/kg, had no significant effect.</a:t>
            </a:r>
          </a:p>
          <a:p>
            <a:r>
              <a:rPr lang="en-US" sz="3600" dirty="0" err="1" smtClean="0"/>
              <a:t>Pipecuronium</a:t>
            </a:r>
            <a:r>
              <a:rPr lang="en-US" sz="3600" dirty="0" smtClean="0"/>
              <a:t> and </a:t>
            </a:r>
            <a:r>
              <a:rPr lang="en-US" sz="3600" dirty="0" err="1" smtClean="0"/>
              <a:t>rocuronium</a:t>
            </a:r>
            <a:r>
              <a:rPr lang="en-US" sz="3600" dirty="0" smtClean="0"/>
              <a:t> have not been studied but should similarly be without direct effect, and no adverse events have been reported.</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77</a:t>
            </a:fld>
            <a:endParaRPr lang="en-US"/>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Cont…</a:t>
            </a:r>
            <a:endParaRPr lang="en-US" dirty="0"/>
          </a:p>
        </p:txBody>
      </p:sp>
      <p:sp>
        <p:nvSpPr>
          <p:cNvPr id="3" name="Content Placeholder 2"/>
          <p:cNvSpPr>
            <a:spLocks noGrp="1"/>
          </p:cNvSpPr>
          <p:nvPr>
            <p:ph idx="1"/>
          </p:nvPr>
        </p:nvSpPr>
        <p:spPr/>
        <p:txBody>
          <a:bodyPr>
            <a:normAutofit lnSpcReduction="10000"/>
          </a:bodyPr>
          <a:lstStyle/>
          <a:p>
            <a:r>
              <a:rPr lang="en-US" sz="3600" dirty="0" smtClean="0"/>
              <a:t>The indirect actions of relaxants may also have effects on cerebral physiology.</a:t>
            </a:r>
          </a:p>
          <a:p>
            <a:r>
              <a:rPr lang="en-US" sz="3600" dirty="0" smtClean="0"/>
              <a:t> </a:t>
            </a:r>
            <a:r>
              <a:rPr lang="en-US" sz="3600" dirty="0" err="1" smtClean="0"/>
              <a:t>Pancuronium</a:t>
            </a:r>
            <a:r>
              <a:rPr lang="en-US" sz="3600" dirty="0" smtClean="0"/>
              <a:t> given as a large bolus dose can cause an abrupt increase in arterial pressure. This might elevate ICP in patients with impaired intracranial compliance and defective </a:t>
            </a:r>
            <a:r>
              <a:rPr lang="en-US" sz="3600" dirty="0" err="1" smtClean="0"/>
              <a:t>autoregulation</a:t>
            </a:r>
            <a:endParaRPr lang="en-US" sz="3600" dirty="0" smtClean="0"/>
          </a:p>
          <a:p>
            <a:endParaRPr lang="en-US" sz="3600"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78</a:t>
            </a:fld>
            <a:endParaRPr lang="en-US"/>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Muscle relaxation may reduce ICP because coughing and straining are prevented, and this results in lowering of central venous pressure with a concomitant reduction in cerebral venous outflow impedance.</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79</a:t>
            </a:fld>
            <a:endParaRPr lang="en-US"/>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Succinylcholine</a:t>
            </a:r>
            <a:endParaRPr lang="en-US" dirty="0"/>
          </a:p>
        </p:txBody>
      </p:sp>
      <p:sp>
        <p:nvSpPr>
          <p:cNvPr id="3" name="Content Placeholder 2"/>
          <p:cNvSpPr>
            <a:spLocks noGrp="1"/>
          </p:cNvSpPr>
          <p:nvPr>
            <p:ph idx="1"/>
          </p:nvPr>
        </p:nvSpPr>
        <p:spPr/>
        <p:txBody>
          <a:bodyPr>
            <a:normAutofit/>
          </a:bodyPr>
          <a:lstStyle/>
          <a:p>
            <a:pPr>
              <a:buNone/>
            </a:pPr>
            <a:r>
              <a:rPr lang="en-US" b="1" dirty="0" smtClean="0"/>
              <a:t> </a:t>
            </a:r>
          </a:p>
          <a:p>
            <a:r>
              <a:rPr lang="en-US" dirty="0" err="1" smtClean="0"/>
              <a:t>Succinylcholine</a:t>
            </a:r>
            <a:r>
              <a:rPr lang="en-US" dirty="0" smtClean="0"/>
              <a:t> can produce modest increases (∼5 mm Hg) in ICP in lightly anesthetized humans. This effect appears to be the result of cerebral activation (as evidenced by EEG changes and increases in CBF) caused by afferent activity from the muscle spindle apparatus. </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80</a:t>
            </a:fld>
            <a:endParaRPr lang="en-US"/>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Deep anesthesia has been observed to prevent </a:t>
            </a:r>
            <a:r>
              <a:rPr lang="en-US" dirty="0" err="1" smtClean="0"/>
              <a:t>succinylcholine</a:t>
            </a:r>
            <a:r>
              <a:rPr lang="en-US" dirty="0" smtClean="0"/>
              <a:t>-induced increases in ICP in the dog.</a:t>
            </a:r>
          </a:p>
          <a:p>
            <a:r>
              <a:rPr lang="en-US" dirty="0" smtClean="0"/>
              <a:t> In humans, the increase in ICP is also blocked by paralysis with </a:t>
            </a:r>
            <a:r>
              <a:rPr lang="en-US" dirty="0" err="1" smtClean="0"/>
              <a:t>vecuronium</a:t>
            </a:r>
            <a:r>
              <a:rPr lang="en-US" dirty="0" smtClean="0"/>
              <a:t> and by “</a:t>
            </a:r>
            <a:r>
              <a:rPr lang="en-US" dirty="0" err="1" smtClean="0"/>
              <a:t>defasciculation</a:t>
            </a:r>
            <a:r>
              <a:rPr lang="en-US" dirty="0" smtClean="0"/>
              <a:t>” with </a:t>
            </a:r>
            <a:r>
              <a:rPr lang="en-US" dirty="0" err="1" smtClean="0"/>
              <a:t>metocurine</a:t>
            </a:r>
            <a:r>
              <a:rPr lang="en-US" dirty="0" smtClean="0"/>
              <a:t>, 0.03 mg/kg. </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81</a:t>
            </a:fld>
            <a:endParaRPr lang="en-US"/>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Inhalational Agents</a:t>
            </a:r>
            <a:br>
              <a:rPr lang="en-US" b="1" dirty="0" smtClean="0"/>
            </a:br>
            <a:endParaRPr lang="en-US" dirty="0"/>
          </a:p>
        </p:txBody>
      </p:sp>
      <p:sp>
        <p:nvSpPr>
          <p:cNvPr id="3" name="Content Placeholder 2"/>
          <p:cNvSpPr>
            <a:spLocks noGrp="1"/>
          </p:cNvSpPr>
          <p:nvPr>
            <p:ph idx="1"/>
          </p:nvPr>
        </p:nvSpPr>
        <p:spPr/>
        <p:txBody>
          <a:bodyPr/>
          <a:lstStyle/>
          <a:p>
            <a:r>
              <a:rPr lang="en-US" dirty="0" smtClean="0"/>
              <a:t>Even though volatile anesthetic agents decrease CMRO2</a:t>
            </a:r>
          </a:p>
          <a:p>
            <a:r>
              <a:rPr lang="en-US" dirty="0" smtClean="0"/>
              <a:t>They all cause cerebral </a:t>
            </a:r>
            <a:r>
              <a:rPr lang="en-US" dirty="0" err="1" smtClean="0"/>
              <a:t>vasodilation</a:t>
            </a:r>
            <a:r>
              <a:rPr lang="en-US" dirty="0" smtClean="0"/>
              <a:t> with a resultant increase in CBF. </a:t>
            </a:r>
          </a:p>
          <a:p>
            <a:r>
              <a:rPr lang="en-US" dirty="0" err="1" smtClean="0"/>
              <a:t>Autoregulation</a:t>
            </a:r>
            <a:r>
              <a:rPr lang="en-US" dirty="0" smtClean="0"/>
              <a:t> is impaired in a </a:t>
            </a:r>
            <a:r>
              <a:rPr lang="en-US" dirty="0" err="1" smtClean="0"/>
              <a:t>dosedependent</a:t>
            </a:r>
            <a:r>
              <a:rPr lang="en-US" dirty="0" smtClean="0"/>
              <a:t> fashion. </a:t>
            </a:r>
          </a:p>
          <a:p>
            <a:r>
              <a:rPr lang="en-US" dirty="0" err="1" smtClean="0"/>
              <a:t>Hypocapnia</a:t>
            </a:r>
            <a:r>
              <a:rPr lang="en-US" dirty="0" smtClean="0"/>
              <a:t> attenuates these effects</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82</a:t>
            </a:fld>
            <a:endParaRPr lang="en-US"/>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32500" lnSpcReduction="20000"/>
          </a:bodyPr>
          <a:lstStyle/>
          <a:p>
            <a:r>
              <a:rPr lang="en-US" b="1" dirty="0" smtClean="0"/>
              <a:t>                                        </a:t>
            </a:r>
            <a:r>
              <a:rPr lang="en-US" sz="4500" b="1" dirty="0" smtClean="0"/>
              <a:t>CMR    CBF   CSF Production     CSF Absorption             CBV        ICP</a:t>
            </a:r>
            <a:endParaRPr lang="en-US" sz="4500" dirty="0" smtClean="0"/>
          </a:p>
          <a:p>
            <a:r>
              <a:rPr lang="en-US" sz="4500" dirty="0" smtClean="0"/>
              <a:t>Halothane   	  --         +++             -                               -                           ++         ++</a:t>
            </a:r>
          </a:p>
          <a:p>
            <a:r>
              <a:rPr lang="en-US" sz="4500" dirty="0" err="1" smtClean="0"/>
              <a:t>Isoflurane</a:t>
            </a:r>
            <a:r>
              <a:rPr lang="en-US" sz="4500" dirty="0" smtClean="0"/>
              <a:t>                - - -        +                ±                              +                      ++           +	</a:t>
            </a:r>
          </a:p>
          <a:p>
            <a:r>
              <a:rPr lang="en-US" sz="4500" dirty="0" err="1" smtClean="0"/>
              <a:t>Desflurane</a:t>
            </a:r>
            <a:r>
              <a:rPr lang="en-US" sz="4500" dirty="0" smtClean="0"/>
              <a:t>               - - -        +                +                               -                       +           ++</a:t>
            </a:r>
          </a:p>
          <a:p>
            <a:endParaRPr lang="en-US" sz="4500" dirty="0" smtClean="0"/>
          </a:p>
          <a:p>
            <a:r>
              <a:rPr lang="en-US" sz="4500" dirty="0" err="1" smtClean="0"/>
              <a:t>Sevoflurane</a:t>
            </a:r>
            <a:r>
              <a:rPr lang="en-US" sz="4500" dirty="0" smtClean="0"/>
              <a:t>               - - -        +                ?                               ?                       +           ++</a:t>
            </a:r>
          </a:p>
          <a:p>
            <a:r>
              <a:rPr lang="en-US" sz="4500" dirty="0" smtClean="0"/>
              <a:t>Nitrous oxide            -             +                ±                               ±                       ±           +</a:t>
            </a:r>
          </a:p>
          <a:p>
            <a:r>
              <a:rPr lang="en-US" sz="4500" dirty="0" smtClean="0"/>
              <a:t>Barbiturates             - - - -       - - -            ±                               +                       - -         - - -</a:t>
            </a:r>
          </a:p>
          <a:p>
            <a:r>
              <a:rPr lang="en-US" sz="4500" dirty="0" err="1" smtClean="0"/>
              <a:t>Etomidate</a:t>
            </a:r>
            <a:r>
              <a:rPr lang="en-US" sz="4500" dirty="0" smtClean="0"/>
              <a:t>                 - - -          - -             ±                                +                      - -          - -</a:t>
            </a:r>
          </a:p>
          <a:p>
            <a:r>
              <a:rPr lang="en-US" sz="4500" dirty="0" err="1" smtClean="0"/>
              <a:t>Proprofol</a:t>
            </a:r>
            <a:r>
              <a:rPr lang="en-US" sz="4500" dirty="0" smtClean="0"/>
              <a:t>                   - - -          - - - -        ?                                ?                      - -          - -</a:t>
            </a:r>
          </a:p>
          <a:p>
            <a:r>
              <a:rPr lang="en-US" sz="4500" dirty="0" smtClean="0"/>
              <a:t>Benzodiazepines       - -            -              ±                                +                       -             -</a:t>
            </a:r>
          </a:p>
          <a:p>
            <a:r>
              <a:rPr lang="en-US" sz="4500" dirty="0" err="1" smtClean="0"/>
              <a:t>Ketamine</a:t>
            </a:r>
            <a:r>
              <a:rPr lang="en-US" sz="4500" dirty="0" smtClean="0"/>
              <a:t>                     ±          ++              ±                                -                      ++         ++</a:t>
            </a:r>
          </a:p>
          <a:p>
            <a:r>
              <a:rPr lang="en-US" sz="4500" dirty="0" err="1" smtClean="0"/>
              <a:t>Opioids</a:t>
            </a:r>
            <a:r>
              <a:rPr lang="en-US" sz="4500" dirty="0" smtClean="0"/>
              <a:t>                     ±               ±              ±                                 +                      ±           +_                    </a:t>
            </a:r>
          </a:p>
          <a:p>
            <a:r>
              <a:rPr lang="en-US" sz="4500" dirty="0" err="1" smtClean="0"/>
              <a:t>Lidocaine</a:t>
            </a:r>
            <a:r>
              <a:rPr lang="en-US" sz="4500" dirty="0" smtClean="0"/>
              <a:t>                   - -        - -                 ?                                ?                      - -           - -</a:t>
            </a:r>
            <a:endParaRPr lang="en-US" sz="4500"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83</a:t>
            </a:fld>
            <a:endParaRPr lang="en-US"/>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Cerebral Metabolic Rate</a:t>
            </a:r>
            <a:endParaRPr lang="en-US" dirty="0"/>
          </a:p>
        </p:txBody>
      </p:sp>
      <p:sp>
        <p:nvSpPr>
          <p:cNvPr id="3" name="Content Placeholder 2"/>
          <p:cNvSpPr>
            <a:spLocks noGrp="1"/>
          </p:cNvSpPr>
          <p:nvPr>
            <p:ph idx="1"/>
          </p:nvPr>
        </p:nvSpPr>
        <p:spPr/>
        <p:txBody>
          <a:bodyPr/>
          <a:lstStyle/>
          <a:p>
            <a:r>
              <a:rPr lang="en-US" dirty="0" smtClean="0"/>
              <a:t>Halothane, </a:t>
            </a:r>
            <a:r>
              <a:rPr lang="en-US" dirty="0" err="1" smtClean="0"/>
              <a:t>desflurane</a:t>
            </a:r>
            <a:r>
              <a:rPr lang="en-US" dirty="0" smtClean="0"/>
              <a:t>, </a:t>
            </a:r>
            <a:r>
              <a:rPr lang="en-US" dirty="0" err="1" smtClean="0"/>
              <a:t>sevoflurane</a:t>
            </a:r>
            <a:r>
              <a:rPr lang="en-US" dirty="0" smtClean="0"/>
              <a:t>, and </a:t>
            </a:r>
            <a:r>
              <a:rPr lang="en-US" dirty="0" err="1" smtClean="0"/>
              <a:t>isoflurane</a:t>
            </a:r>
            <a:r>
              <a:rPr lang="en-US" dirty="0" smtClean="0"/>
              <a:t> produce dose-dependent decreases in CMR. </a:t>
            </a:r>
            <a:r>
              <a:rPr lang="en-US" dirty="0" err="1" smtClean="0"/>
              <a:t>Isoflurane</a:t>
            </a:r>
            <a:r>
              <a:rPr lang="en-US" dirty="0" smtClean="0"/>
              <a:t> produces the greatest depression (up to 50% reduction),</a:t>
            </a:r>
          </a:p>
          <a:p>
            <a:r>
              <a:rPr lang="en-US" dirty="0" smtClean="0"/>
              <a:t>whereas halothane has the least effect (&lt; 25% reduction). </a:t>
            </a:r>
          </a:p>
          <a:p>
            <a:r>
              <a:rPr lang="en-US" dirty="0" smtClean="0"/>
              <a:t>The effects of </a:t>
            </a:r>
            <a:r>
              <a:rPr lang="en-US" dirty="0" err="1" smtClean="0"/>
              <a:t>desflurane</a:t>
            </a:r>
            <a:r>
              <a:rPr lang="en-US" dirty="0" smtClean="0"/>
              <a:t> and </a:t>
            </a:r>
            <a:r>
              <a:rPr lang="en-US" dirty="0" err="1" smtClean="0"/>
              <a:t>sevoflurane</a:t>
            </a:r>
            <a:r>
              <a:rPr lang="en-US" dirty="0" smtClean="0"/>
              <a:t> appear to be similar to </a:t>
            </a:r>
            <a:r>
              <a:rPr lang="en-US" dirty="0" err="1" smtClean="0"/>
              <a:t>isoflurane</a:t>
            </a:r>
            <a:r>
              <a:rPr lang="en-US" dirty="0" smtClean="0"/>
              <a:t>.</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84</a:t>
            </a:fld>
            <a:endParaRPr lang="en-US"/>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Cerebral Blood Flow &amp; Volume</a:t>
            </a:r>
            <a:br>
              <a:rPr lang="en-US" b="1" dirty="0" smtClean="0"/>
            </a:br>
            <a:endParaRPr lang="en-US" dirty="0"/>
          </a:p>
        </p:txBody>
      </p:sp>
      <p:sp>
        <p:nvSpPr>
          <p:cNvPr id="3" name="Content Placeholder 2"/>
          <p:cNvSpPr>
            <a:spLocks noGrp="1"/>
          </p:cNvSpPr>
          <p:nvPr>
            <p:ph idx="1"/>
          </p:nvPr>
        </p:nvSpPr>
        <p:spPr/>
        <p:txBody>
          <a:bodyPr/>
          <a:lstStyle/>
          <a:p>
            <a:r>
              <a:rPr lang="en-US" dirty="0" smtClean="0"/>
              <a:t>Volatile anesthetics dilate cerebral vessels and impair </a:t>
            </a:r>
            <a:r>
              <a:rPr lang="en-US" dirty="0" err="1" smtClean="0"/>
              <a:t>autoregulation</a:t>
            </a:r>
            <a:r>
              <a:rPr lang="en-US" dirty="0" smtClean="0"/>
              <a:t> in a dose dependent Manner . </a:t>
            </a:r>
          </a:p>
          <a:p>
            <a:r>
              <a:rPr lang="en-US" dirty="0" smtClean="0"/>
              <a:t>Halothane has the greatest effect on CBF; at concentrations greater than 1%, it nearly abolishes cerebral </a:t>
            </a:r>
            <a:r>
              <a:rPr lang="en-US" dirty="0" err="1" smtClean="0"/>
              <a:t>autoregulation</a:t>
            </a:r>
            <a:r>
              <a:rPr lang="en-US" dirty="0" smtClean="0"/>
              <a:t>.</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85</a:t>
            </a:fld>
            <a:endParaRPr lang="en-US"/>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Cerebrospinal Fluid Dynamics</a:t>
            </a:r>
            <a:br>
              <a:rPr lang="en-US" b="1" dirty="0" smtClean="0"/>
            </a:br>
            <a:endParaRPr lang="en-US" dirty="0"/>
          </a:p>
        </p:txBody>
      </p:sp>
      <p:sp>
        <p:nvSpPr>
          <p:cNvPr id="3" name="Content Placeholder 2"/>
          <p:cNvSpPr>
            <a:spLocks noGrp="1"/>
          </p:cNvSpPr>
          <p:nvPr>
            <p:ph idx="1"/>
          </p:nvPr>
        </p:nvSpPr>
        <p:spPr/>
        <p:txBody>
          <a:bodyPr/>
          <a:lstStyle/>
          <a:p>
            <a:r>
              <a:rPr lang="en-US" dirty="0" smtClean="0"/>
              <a:t>Volatile anesthetics affect both formation and absorption of CSF.</a:t>
            </a:r>
          </a:p>
          <a:p>
            <a:r>
              <a:rPr lang="en-US" dirty="0" smtClean="0"/>
              <a:t> Halothane impedes absorption of CSF but only minimally retards formation. </a:t>
            </a:r>
          </a:p>
          <a:p>
            <a:r>
              <a:rPr lang="en-US" dirty="0" err="1" smtClean="0"/>
              <a:t>Isoflurane</a:t>
            </a:r>
            <a:r>
              <a:rPr lang="en-US" dirty="0" smtClean="0"/>
              <a:t>, on the other hand, facilitates absorption and is therefore the only volatile agent with favorable effects on CSF dynamics.</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86</a:t>
            </a:fld>
            <a:endParaRPr lang="en-US"/>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Intracranial Pressure</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The net effect of volatile anesthetics on ICP is the result of immediate changes in cerebral blood volume, delayed alterations on CSF dynamics, and arterial CO2 tension.</a:t>
            </a:r>
          </a:p>
          <a:p>
            <a:pPr>
              <a:buNone/>
            </a:pP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87</a:t>
            </a:fld>
            <a:endParaRPr lang="en-US"/>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Based on these factors, </a:t>
            </a:r>
            <a:r>
              <a:rPr lang="en-US" dirty="0" err="1" smtClean="0"/>
              <a:t>isoflurane</a:t>
            </a:r>
            <a:r>
              <a:rPr lang="en-US" dirty="0" smtClean="0"/>
              <a:t> appears to be the volatile</a:t>
            </a:r>
            <a:r>
              <a:rPr lang="en-US" b="1" dirty="0" smtClean="0"/>
              <a:t> </a:t>
            </a:r>
            <a:r>
              <a:rPr lang="en-US" dirty="0" smtClean="0"/>
              <a:t>agent of choice in patients with decreased intracranial compliance. </a:t>
            </a:r>
          </a:p>
          <a:p>
            <a:r>
              <a:rPr lang="en-US" dirty="0" smtClean="0"/>
              <a:t>Animal studies suggest that </a:t>
            </a:r>
            <a:r>
              <a:rPr lang="en-US" dirty="0" err="1" smtClean="0"/>
              <a:t>desflurane</a:t>
            </a:r>
            <a:r>
              <a:rPr lang="en-US" dirty="0" smtClean="0"/>
              <a:t> may increase ICP more than other volatile agents.</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88</a:t>
            </a:fld>
            <a:endParaRPr lang="en-US"/>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Nitrous Oxide</a:t>
            </a:r>
            <a:br>
              <a:rPr lang="en-US" smtClean="0"/>
            </a:br>
            <a:endParaRPr lang="en-US" dirty="0"/>
          </a:p>
        </p:txBody>
      </p:sp>
      <p:sp>
        <p:nvSpPr>
          <p:cNvPr id="3" name="Content Placeholder 2"/>
          <p:cNvSpPr>
            <a:spLocks noGrp="1"/>
          </p:cNvSpPr>
          <p:nvPr>
            <p:ph idx="1"/>
          </p:nvPr>
        </p:nvSpPr>
        <p:spPr/>
        <p:txBody>
          <a:bodyPr>
            <a:normAutofit/>
          </a:bodyPr>
          <a:lstStyle/>
          <a:p>
            <a:r>
              <a:rPr lang="en-US" dirty="0" smtClean="0"/>
              <a:t>The effects of nitrous oxide are generally mild and easily overcome by other agents or changes in CO</a:t>
            </a:r>
            <a:r>
              <a:rPr lang="en-US" baseline="-25000" dirty="0" smtClean="0"/>
              <a:t>2</a:t>
            </a:r>
            <a:r>
              <a:rPr lang="en-US" dirty="0" smtClean="0"/>
              <a:t> tension. </a:t>
            </a:r>
          </a:p>
          <a:p>
            <a:r>
              <a:rPr lang="en-US" dirty="0" smtClean="0"/>
              <a:t>N</a:t>
            </a:r>
            <a:r>
              <a:rPr lang="en-US" baseline="-25000" dirty="0" smtClean="0"/>
              <a:t>2</a:t>
            </a:r>
            <a:r>
              <a:rPr lang="en-US" dirty="0" smtClean="0"/>
              <a:t>Owith intravenous agents, has minimal effects on CBF, CMR, and ICP. </a:t>
            </a:r>
          </a:p>
          <a:p>
            <a:pPr>
              <a:buNone/>
            </a:pP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89</a:t>
            </a:fld>
            <a:endParaRPr lang="en-US"/>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N</a:t>
            </a:r>
            <a:r>
              <a:rPr lang="en-US" sz="2400" baseline="-25000" dirty="0" smtClean="0"/>
              <a:t>2</a:t>
            </a:r>
            <a:r>
              <a:rPr lang="en-US" dirty="0" smtClean="0"/>
              <a:t>O with volatile anesthetic can further increase CBF. </a:t>
            </a:r>
          </a:p>
          <a:p>
            <a:r>
              <a:rPr lang="en-US" dirty="0" smtClean="0"/>
              <a:t>When given alone, nitrous oxide causes mild cerebral </a:t>
            </a:r>
            <a:r>
              <a:rPr lang="en-US" dirty="0" err="1" smtClean="0"/>
              <a:t>vasodilation</a:t>
            </a:r>
            <a:r>
              <a:rPr lang="en-US" dirty="0" smtClean="0"/>
              <a:t> and can potentially increase ICP.</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90</a:t>
            </a:fld>
            <a:endParaRPr lang="en-US"/>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Section 2</a:t>
            </a:r>
            <a:endParaRPr lang="en-US" b="1" dirty="0"/>
          </a:p>
        </p:txBody>
      </p:sp>
      <p:sp>
        <p:nvSpPr>
          <p:cNvPr id="3" name="Content Placeholder 2"/>
          <p:cNvSpPr>
            <a:spLocks noGrp="1"/>
          </p:cNvSpPr>
          <p:nvPr>
            <p:ph idx="1"/>
          </p:nvPr>
        </p:nvSpPr>
        <p:spPr/>
        <p:txBody>
          <a:bodyPr>
            <a:normAutofit/>
          </a:bodyPr>
          <a:lstStyle/>
          <a:p>
            <a:pPr>
              <a:buNone/>
            </a:pPr>
            <a:r>
              <a:rPr lang="en-US" sz="5400" b="1" dirty="0" smtClean="0"/>
              <a:t>            The Intracranial                      </a:t>
            </a:r>
          </a:p>
          <a:p>
            <a:pPr>
              <a:buNone/>
            </a:pPr>
            <a:r>
              <a:rPr lang="en-US" sz="5400" b="1" dirty="0" smtClean="0"/>
              <a:t>           Compartment</a:t>
            </a:r>
          </a:p>
          <a:p>
            <a:pPr>
              <a:buNone/>
            </a:pPr>
            <a:r>
              <a:rPr lang="en-US" sz="5400" b="1" dirty="0" smtClean="0"/>
              <a:t>     and Intracranial Pressure</a:t>
            </a:r>
            <a:endParaRPr lang="en-US" sz="5400" b="1"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91</a:t>
            </a:fld>
            <a:endParaRPr lang="en-US"/>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buNone/>
            </a:pPr>
            <a:r>
              <a:rPr lang="en-US" sz="3600" dirty="0" smtClean="0"/>
              <a:t>The volume of intracranial contents is </a:t>
            </a:r>
          </a:p>
          <a:p>
            <a:pPr>
              <a:buNone/>
            </a:pPr>
            <a:r>
              <a:rPr lang="en-US" sz="3600" dirty="0" smtClean="0"/>
              <a:t>• Brain parenchyma ≈ 1400 </a:t>
            </a:r>
            <a:r>
              <a:rPr lang="en-US" sz="3600" dirty="0" err="1" smtClean="0"/>
              <a:t>mL</a:t>
            </a:r>
            <a:r>
              <a:rPr lang="en-US" sz="3600" dirty="0" smtClean="0"/>
              <a:t> (80%, of which ≈10% is solid material and ≈70% is tissue water)</a:t>
            </a:r>
          </a:p>
          <a:p>
            <a:pPr>
              <a:buNone/>
            </a:pPr>
            <a:r>
              <a:rPr lang="en-US" sz="3600" dirty="0" smtClean="0"/>
              <a:t>• Cerebral blood volume (CBV) ≈ 150 </a:t>
            </a:r>
            <a:r>
              <a:rPr lang="en-US" sz="3600" dirty="0" err="1" smtClean="0"/>
              <a:t>mL</a:t>
            </a:r>
            <a:r>
              <a:rPr lang="en-US" sz="3600" dirty="0" smtClean="0"/>
              <a:t> (10%)</a:t>
            </a:r>
          </a:p>
          <a:p>
            <a:pPr>
              <a:buNone/>
            </a:pPr>
            <a:r>
              <a:rPr lang="en-US" sz="3600" dirty="0" smtClean="0"/>
              <a:t>• CSF ≈ 150 </a:t>
            </a:r>
            <a:r>
              <a:rPr lang="en-US" sz="3600" dirty="0" err="1" smtClean="0"/>
              <a:t>mL</a:t>
            </a:r>
            <a:r>
              <a:rPr lang="en-US" sz="3600" dirty="0" smtClean="0"/>
              <a:t> (10%)</a:t>
            </a:r>
            <a:endParaRPr lang="en-US" sz="3600"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92</a:t>
            </a:fld>
            <a:endParaRPr lang="en-US"/>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Intracranial pressure</a:t>
            </a:r>
            <a:endParaRPr lang="en-US" dirty="0"/>
          </a:p>
        </p:txBody>
      </p:sp>
      <p:sp>
        <p:nvSpPr>
          <p:cNvPr id="3" name="Content Placeholder 2"/>
          <p:cNvSpPr>
            <a:spLocks noGrp="1"/>
          </p:cNvSpPr>
          <p:nvPr>
            <p:ph idx="1"/>
          </p:nvPr>
        </p:nvSpPr>
        <p:spPr/>
        <p:txBody>
          <a:bodyPr/>
          <a:lstStyle/>
          <a:p>
            <a:r>
              <a:rPr lang="en-US" dirty="0" smtClean="0"/>
              <a:t>Intracranial pressure (ICP) is the pressure within the intracranial space relative to atmospheric pressure. </a:t>
            </a:r>
          </a:p>
          <a:p>
            <a:r>
              <a:rPr lang="en-US" dirty="0" smtClean="0"/>
              <a:t>At present, it can be measured only by direct invasive techniques.</a:t>
            </a:r>
          </a:p>
          <a:p>
            <a:r>
              <a:rPr lang="en-US" dirty="0" smtClean="0"/>
              <a:t>“Normal” ICP is generally less than 10 to 15 mm Hg.</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93</a:t>
            </a:fld>
            <a:endParaRPr lang="en-US"/>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Intracranial compliance</a:t>
            </a:r>
            <a:endParaRPr lang="en-US" dirty="0"/>
          </a:p>
        </p:txBody>
      </p:sp>
      <p:sp>
        <p:nvSpPr>
          <p:cNvPr id="3" name="Content Placeholder 2"/>
          <p:cNvSpPr>
            <a:spLocks noGrp="1"/>
          </p:cNvSpPr>
          <p:nvPr>
            <p:ph idx="1"/>
          </p:nvPr>
        </p:nvSpPr>
        <p:spPr/>
        <p:txBody>
          <a:bodyPr/>
          <a:lstStyle/>
          <a:p>
            <a:r>
              <a:rPr lang="en-US" dirty="0" smtClean="0"/>
              <a:t>Intracranial compliance is determined by measuring the change in ICP in response to a change in intracranial volume. </a:t>
            </a:r>
          </a:p>
          <a:p>
            <a:r>
              <a:rPr lang="en-US" dirty="0" smtClean="0"/>
              <a:t>Normally, increases in volume are initially well compensated. </a:t>
            </a:r>
          </a:p>
          <a:p>
            <a:r>
              <a:rPr lang="en-US" dirty="0" smtClean="0"/>
              <a:t>A point is eventually reached, however, at which further increases produce precipitous rises in ICP. </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94</a:t>
            </a:fld>
            <a:endParaRPr lang="en-US"/>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rcRect/>
          <a:stretch>
            <a:fillRect/>
          </a:stretch>
        </p:blipFill>
        <p:spPr bwMode="auto">
          <a:xfrm>
            <a:off x="1066800" y="1371600"/>
            <a:ext cx="6705600" cy="5105400"/>
          </a:xfrm>
          <a:prstGeom prst="rect">
            <a:avLst/>
          </a:prstGeom>
          <a:noFill/>
          <a:ln w="9525">
            <a:noFill/>
            <a:miter lim="800000"/>
            <a:headEnd/>
            <a:tailEnd/>
          </a:ln>
        </p:spPr>
      </p:pic>
      <p:sp>
        <p:nvSpPr>
          <p:cNvPr id="5" name="Footer Placeholder 4"/>
          <p:cNvSpPr>
            <a:spLocks noGrp="1"/>
          </p:cNvSpPr>
          <p:nvPr>
            <p:ph type="ftr" sz="quarter" idx="11"/>
          </p:nvPr>
        </p:nvSpPr>
        <p:spPr/>
        <p:txBody>
          <a:bodyPr/>
          <a:lstStyle/>
          <a:p>
            <a:r>
              <a:rPr lang="en-US" smtClean="0"/>
              <a:t>By Siryet Tesfaye</a:t>
            </a:r>
            <a:endParaRPr lang="en-US"/>
          </a:p>
        </p:txBody>
      </p:sp>
      <p:sp>
        <p:nvSpPr>
          <p:cNvPr id="3" name="Slide Number Placeholder 2"/>
          <p:cNvSpPr>
            <a:spLocks noGrp="1"/>
          </p:cNvSpPr>
          <p:nvPr>
            <p:ph type="sldNum" sz="quarter" idx="12"/>
          </p:nvPr>
        </p:nvSpPr>
        <p:spPr/>
        <p:txBody>
          <a:bodyPr/>
          <a:lstStyle/>
          <a:p>
            <a:fld id="{1528205D-516C-4A2E-8491-92189BC25433}" type="slidenum">
              <a:rPr lang="en-US" smtClean="0"/>
              <a:pPr/>
              <a:t>95</a:t>
            </a:fld>
            <a:endParaRPr lang="en-US"/>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592763"/>
          </a:xfrm>
        </p:spPr>
        <p:txBody>
          <a:bodyPr>
            <a:normAutofit/>
          </a:bodyPr>
          <a:lstStyle/>
          <a:p>
            <a:r>
              <a:rPr lang="en-US" sz="3600" dirty="0" smtClean="0"/>
              <a:t>Major compensatory mechanisms include </a:t>
            </a:r>
          </a:p>
          <a:p>
            <a:pPr>
              <a:buNone/>
            </a:pPr>
            <a:r>
              <a:rPr lang="en-US" sz="3600" dirty="0" smtClean="0"/>
              <a:t>1)an initial displacement of CSF from the cranial to the spinal compartment, </a:t>
            </a:r>
          </a:p>
          <a:p>
            <a:pPr>
              <a:buNone/>
            </a:pPr>
            <a:r>
              <a:rPr lang="en-US" sz="3600" dirty="0" smtClean="0"/>
              <a:t>2) </a:t>
            </a:r>
            <a:r>
              <a:rPr lang="en-US" sz="3600" dirty="0" err="1" smtClean="0"/>
              <a:t>anincrease</a:t>
            </a:r>
            <a:r>
              <a:rPr lang="en-US" sz="3600" dirty="0" smtClean="0"/>
              <a:t> in CSF absorption,</a:t>
            </a:r>
          </a:p>
          <a:p>
            <a:pPr>
              <a:buNone/>
            </a:pPr>
            <a:r>
              <a:rPr lang="en-US" sz="3600" dirty="0" smtClean="0"/>
              <a:t>3) a decrease in CSF production, and </a:t>
            </a:r>
          </a:p>
          <a:p>
            <a:pPr>
              <a:buNone/>
            </a:pPr>
            <a:r>
              <a:rPr lang="en-US" sz="3600" dirty="0" smtClean="0"/>
              <a:t>4) a decrease in total cerebral blood volume (primarily venous).</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96</a:t>
            </a:fld>
            <a:endParaRPr lang="en-US"/>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4572000" cy="5897562"/>
          </a:xfrm>
        </p:spPr>
        <p:txBody>
          <a:bodyPr>
            <a:normAutofit fontScale="90000"/>
          </a:bodyPr>
          <a:lstStyle/>
          <a:p>
            <a:r>
              <a:rPr lang="en-US" dirty="0" err="1" smtClean="0"/>
              <a:t>Herniation</a:t>
            </a:r>
            <a:r>
              <a:rPr lang="en-US" dirty="0" smtClean="0"/>
              <a:t> </a:t>
            </a:r>
            <a:r>
              <a:rPr lang="en-US" dirty="0" err="1" smtClean="0"/>
              <a:t>mayoccur</a:t>
            </a:r>
            <a:r>
              <a:rPr lang="en-US" dirty="0" smtClean="0"/>
              <a:t/>
            </a:r>
            <a:br>
              <a:rPr lang="en-US" dirty="0" smtClean="0"/>
            </a:br>
            <a:r>
              <a:rPr lang="en-US" dirty="0" smtClean="0"/>
              <a:t>(1) the </a:t>
            </a:r>
            <a:r>
              <a:rPr lang="en-US" dirty="0" err="1" smtClean="0"/>
              <a:t>cingulate</a:t>
            </a:r>
            <a:r>
              <a:rPr lang="en-US" dirty="0" smtClean="0"/>
              <a:t> </a:t>
            </a:r>
            <a:r>
              <a:rPr lang="en-US" dirty="0" err="1" smtClean="0"/>
              <a:t>gyrus</a:t>
            </a:r>
            <a:r>
              <a:rPr lang="en-US" dirty="0" smtClean="0"/>
              <a:t>, </a:t>
            </a:r>
            <a:br>
              <a:rPr lang="en-US" dirty="0" smtClean="0"/>
            </a:br>
            <a:r>
              <a:rPr lang="en-US" dirty="0" smtClean="0"/>
              <a:t>(2) </a:t>
            </a:r>
            <a:r>
              <a:rPr lang="en-US" dirty="0" err="1" smtClean="0"/>
              <a:t>theuncinate</a:t>
            </a:r>
            <a:r>
              <a:rPr lang="en-US" dirty="0" smtClean="0"/>
              <a:t> </a:t>
            </a:r>
            <a:r>
              <a:rPr lang="en-US" dirty="0" err="1" smtClean="0"/>
              <a:t>gyrus</a:t>
            </a:r>
            <a:r>
              <a:rPr lang="en-US" dirty="0" smtClean="0"/>
              <a:t>, (3) the </a:t>
            </a:r>
            <a:r>
              <a:rPr lang="en-US" dirty="0" err="1" smtClean="0"/>
              <a:t>cerebellar</a:t>
            </a:r>
            <a:r>
              <a:rPr lang="en-US" dirty="0" smtClean="0"/>
              <a:t> tonsils, or (4) any area beneath a defect in the skull </a:t>
            </a:r>
            <a:br>
              <a:rPr lang="en-US" dirty="0" smtClean="0"/>
            </a:b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4953000" y="762000"/>
            <a:ext cx="4191000" cy="5257800"/>
          </a:xfrm>
          <a:prstGeom prst="rect">
            <a:avLst/>
          </a:prstGeom>
          <a:noFill/>
          <a:ln w="9525">
            <a:noFill/>
            <a:miter lim="800000"/>
            <a:headEnd/>
            <a:tailEnd/>
          </a:ln>
          <a:effectLst/>
        </p:spPr>
      </p:pic>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97</a:t>
            </a:fld>
            <a:endParaRPr lang="en-US"/>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Autofit/>
          </a:bodyPr>
          <a:lstStyle/>
          <a:p>
            <a:r>
              <a:rPr lang="en-US" sz="4400" dirty="0" smtClean="0"/>
              <a:t>Substantial increase in ICP may lead to a reduction in CBF</a:t>
            </a:r>
          </a:p>
          <a:p>
            <a:r>
              <a:rPr lang="en-US" sz="4400" dirty="0" smtClean="0"/>
              <a:t>CPP = MAP −ICP, which remains one of the cornerstones of current </a:t>
            </a:r>
            <a:r>
              <a:rPr lang="en-US" sz="4400" dirty="0" err="1" smtClean="0"/>
              <a:t>neurointensive</a:t>
            </a:r>
            <a:r>
              <a:rPr lang="en-US" sz="4400" dirty="0" smtClean="0"/>
              <a:t> care management</a:t>
            </a:r>
            <a:endParaRPr lang="en-US" sz="4400"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98</a:t>
            </a:fld>
            <a:endParaRPr lang="en-US"/>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8229600" cy="3124200"/>
          </a:xfrm>
        </p:spPr>
        <p:txBody>
          <a:bodyPr>
            <a:normAutofit/>
          </a:bodyPr>
          <a:lstStyle/>
          <a:p>
            <a:r>
              <a:rPr lang="en-US" dirty="0" err="1" smtClean="0"/>
              <a:t>Pathophysiologic</a:t>
            </a:r>
            <a:r>
              <a:rPr lang="en-US" dirty="0" smtClean="0"/>
              <a:t> Mechanisms and Causes</a:t>
            </a:r>
            <a:br>
              <a:rPr lang="en-US" dirty="0" smtClean="0"/>
            </a:br>
            <a:r>
              <a:rPr lang="en-US" dirty="0" smtClean="0"/>
              <a:t>of Raised Intracranial Pressure</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3" name="Slide Number Placeholder 2"/>
          <p:cNvSpPr>
            <a:spLocks noGrp="1"/>
          </p:cNvSpPr>
          <p:nvPr>
            <p:ph type="sldNum" sz="quarter" idx="12"/>
          </p:nvPr>
        </p:nvSpPr>
        <p:spPr/>
        <p:txBody>
          <a:bodyPr/>
          <a:lstStyle/>
          <a:p>
            <a:fld id="{1528205D-516C-4A2E-8491-92189BC25433}" type="slidenum">
              <a:rPr lang="en-US" smtClean="0"/>
              <a:pPr/>
              <a:t>99</a:t>
            </a:fld>
            <a:endParaRPr lang="en-US"/>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Brain edema</a:t>
            </a:r>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r>
              <a:rPr lang="en-US" dirty="0" smtClean="0"/>
              <a:t> </a:t>
            </a:r>
            <a:r>
              <a:rPr lang="en-US" dirty="0" err="1" smtClean="0"/>
              <a:t>Cytotoxic</a:t>
            </a:r>
            <a:endParaRPr lang="en-US" dirty="0" smtClean="0"/>
          </a:p>
          <a:p>
            <a:r>
              <a:rPr lang="en-US" dirty="0" smtClean="0"/>
              <a:t> </a:t>
            </a:r>
            <a:r>
              <a:rPr lang="en-US" dirty="0" err="1" smtClean="0"/>
              <a:t>Vasogenic</a:t>
            </a:r>
            <a:endParaRPr lang="en-US" dirty="0" smtClean="0"/>
          </a:p>
          <a:p>
            <a:r>
              <a:rPr lang="en-US" dirty="0" smtClean="0"/>
              <a:t>Interstitial </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100</a:t>
            </a:fld>
            <a:endParaRPr lang="en-US"/>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 </a:t>
            </a:r>
            <a:r>
              <a:rPr lang="en-US" i="1" dirty="0" smtClean="0"/>
              <a:t>Increases in cerebral blood volume</a:t>
            </a:r>
            <a:endParaRPr lang="en-US" dirty="0"/>
          </a:p>
        </p:txBody>
      </p:sp>
      <p:sp>
        <p:nvSpPr>
          <p:cNvPr id="3" name="Content Placeholder 2"/>
          <p:cNvSpPr>
            <a:spLocks noGrp="1"/>
          </p:cNvSpPr>
          <p:nvPr>
            <p:ph idx="1"/>
          </p:nvPr>
        </p:nvSpPr>
        <p:spPr/>
        <p:txBody>
          <a:bodyPr/>
          <a:lstStyle/>
          <a:p>
            <a:r>
              <a:rPr lang="en-US" dirty="0" smtClean="0"/>
              <a:t>Reduced venous outflow</a:t>
            </a:r>
          </a:p>
          <a:p>
            <a:pPr>
              <a:buNone/>
            </a:pPr>
            <a:r>
              <a:rPr lang="en-US" dirty="0" smtClean="0"/>
              <a:t> head-down position, obstructed ventilation, high PEEP, tight neck collar</a:t>
            </a:r>
          </a:p>
          <a:p>
            <a:r>
              <a:rPr lang="en-US" dirty="0" smtClean="0"/>
              <a:t>Increased CBF</a:t>
            </a:r>
          </a:p>
          <a:p>
            <a:pPr>
              <a:buNone/>
            </a:pPr>
            <a:r>
              <a:rPr lang="en-US" dirty="0" smtClean="0"/>
              <a:t>    Loss of </a:t>
            </a:r>
            <a:r>
              <a:rPr lang="en-US" dirty="0" err="1" smtClean="0"/>
              <a:t>autoregulation</a:t>
            </a:r>
            <a:endParaRPr lang="en-US" dirty="0" smtClean="0"/>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101</a:t>
            </a:fld>
            <a:endParaRPr lang="en-US"/>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3.Increases in intracranial CSF volume</a:t>
            </a:r>
            <a:endParaRPr lang="en-US" dirty="0"/>
          </a:p>
        </p:txBody>
      </p:sp>
      <p:sp>
        <p:nvSpPr>
          <p:cNvPr id="3" name="Content Placeholder 2"/>
          <p:cNvSpPr>
            <a:spLocks noGrp="1"/>
          </p:cNvSpPr>
          <p:nvPr>
            <p:ph idx="1"/>
          </p:nvPr>
        </p:nvSpPr>
        <p:spPr/>
        <p:txBody>
          <a:bodyPr>
            <a:normAutofit lnSpcReduction="10000"/>
          </a:bodyPr>
          <a:lstStyle/>
          <a:p>
            <a:r>
              <a:rPr lang="en-US" dirty="0" smtClean="0"/>
              <a:t>Decreased CSF absorption at the </a:t>
            </a:r>
            <a:r>
              <a:rPr lang="en-US" dirty="0" err="1" smtClean="0"/>
              <a:t>arachnoid</a:t>
            </a:r>
            <a:r>
              <a:rPr lang="en-US" dirty="0" smtClean="0"/>
              <a:t> </a:t>
            </a:r>
            <a:r>
              <a:rPr lang="en-US" dirty="0" err="1" smtClean="0"/>
              <a:t>villi</a:t>
            </a:r>
            <a:r>
              <a:rPr lang="en-US" dirty="0" smtClean="0"/>
              <a:t>—known as communicating hydrocephalus (subarachnoid hemorrhage, infection)</a:t>
            </a:r>
          </a:p>
          <a:p>
            <a:pPr>
              <a:buNone/>
            </a:pPr>
            <a:r>
              <a:rPr lang="en-US" dirty="0" smtClean="0"/>
              <a:t>• Obstruction to CSF circulation—obstructive hydrocephalus (neoplasm, traumatic and spontaneous hemorrhage, infection)</a:t>
            </a:r>
          </a:p>
          <a:p>
            <a:pPr>
              <a:buNone/>
            </a:pPr>
            <a:r>
              <a:rPr lang="en-US" dirty="0" smtClean="0"/>
              <a:t>• Increased production of CSF (meningitis, choroid plexus tumors)</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102</a:t>
            </a:fld>
            <a:endParaRPr lang="en-US"/>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4. Intra- and extra-axial mass lesions</a:t>
            </a:r>
            <a:endParaRPr lang="en-US" dirty="0"/>
          </a:p>
        </p:txBody>
      </p:sp>
      <p:sp>
        <p:nvSpPr>
          <p:cNvPr id="3" name="Content Placeholder 2"/>
          <p:cNvSpPr>
            <a:spLocks noGrp="1"/>
          </p:cNvSpPr>
          <p:nvPr>
            <p:ph idx="1"/>
          </p:nvPr>
        </p:nvSpPr>
        <p:spPr/>
        <p:txBody>
          <a:bodyPr/>
          <a:lstStyle/>
          <a:p>
            <a:r>
              <a:rPr lang="en-US" dirty="0" err="1" smtClean="0"/>
              <a:t>Neoplastic</a:t>
            </a:r>
            <a:r>
              <a:rPr lang="en-US" dirty="0" smtClean="0"/>
              <a:t> (intrinsic and extrinsic tumors)</a:t>
            </a:r>
          </a:p>
          <a:p>
            <a:r>
              <a:rPr lang="en-US" dirty="0" smtClean="0"/>
              <a:t> Hemorrhagic</a:t>
            </a:r>
          </a:p>
          <a:p>
            <a:r>
              <a:rPr lang="en-US" dirty="0" smtClean="0"/>
              <a:t>Traumatic (</a:t>
            </a:r>
            <a:r>
              <a:rPr lang="en-US" dirty="0" err="1" smtClean="0"/>
              <a:t>intracerebral</a:t>
            </a:r>
            <a:r>
              <a:rPr lang="en-US" dirty="0" smtClean="0"/>
              <a:t>, </a:t>
            </a:r>
            <a:r>
              <a:rPr lang="en-US" dirty="0" err="1" smtClean="0"/>
              <a:t>extradural</a:t>
            </a:r>
            <a:r>
              <a:rPr lang="en-US" dirty="0" smtClean="0"/>
              <a:t>, and subdural hematomas; contusions; CSF </a:t>
            </a:r>
            <a:r>
              <a:rPr lang="en-US" dirty="0" err="1" smtClean="0"/>
              <a:t>hygromas</a:t>
            </a:r>
            <a:r>
              <a:rPr lang="en-US" dirty="0" smtClean="0"/>
              <a:t>)</a:t>
            </a:r>
          </a:p>
          <a:p>
            <a:r>
              <a:rPr lang="en-US" dirty="0" smtClean="0"/>
              <a:t> Infectious (abscess, subdural </a:t>
            </a:r>
            <a:r>
              <a:rPr lang="en-US" dirty="0" err="1" smtClean="0"/>
              <a:t>empyema</a:t>
            </a:r>
            <a:r>
              <a:rPr lang="en-US" dirty="0" smtClean="0"/>
              <a:t>, etc.)</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103</a:t>
            </a:fld>
            <a:endParaRPr lang="en-US"/>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81000" y="533400"/>
            <a:ext cx="8382000" cy="5638800"/>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104</a:t>
            </a:fld>
            <a:endParaRPr lang="en-US"/>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Many current clinical strategies aimed at reducing ICP are based on the described</a:t>
            </a:r>
          </a:p>
          <a:p>
            <a:pPr>
              <a:buNone/>
            </a:pPr>
            <a:r>
              <a:rPr lang="en-US" dirty="0" err="1" smtClean="0"/>
              <a:t>pathophysiologic</a:t>
            </a:r>
            <a:r>
              <a:rPr lang="en-US" dirty="0" smtClean="0"/>
              <a:t> mechanisms.</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105</a:t>
            </a:fld>
            <a:endParaRPr lang="en-US"/>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a:bodyPr>
          <a:lstStyle/>
          <a:p>
            <a:r>
              <a:rPr lang="en-US" dirty="0" smtClean="0"/>
              <a:t>symptoms and signs, including headache, nausea, vomiting, </a:t>
            </a:r>
            <a:r>
              <a:rPr lang="en-US" dirty="0" err="1" smtClean="0"/>
              <a:t>papilledema</a:t>
            </a:r>
            <a:r>
              <a:rPr lang="en-US" dirty="0" smtClean="0"/>
              <a:t>, focal neurological deficits, and altered consciousness.</a:t>
            </a:r>
          </a:p>
          <a:p>
            <a:r>
              <a:rPr lang="en-US" dirty="0" smtClean="0"/>
              <a:t> When ICP exceeds 30 mm Hg, CBF progressively decreases, and a vicious circle is established: ischemia causes brain edema, which in turn increases ICP, resulting in more ischemia.</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106</a:t>
            </a:fld>
            <a:endParaRPr lang="en-US"/>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Progressive increases in ICP </a:t>
            </a:r>
            <a:endParaRPr lang="en-US" dirty="0"/>
          </a:p>
        </p:txBody>
      </p:sp>
      <p:sp>
        <p:nvSpPr>
          <p:cNvPr id="3" name="Content Placeholder 2"/>
          <p:cNvSpPr>
            <a:spLocks noGrp="1"/>
          </p:cNvSpPr>
          <p:nvPr>
            <p:ph idx="1"/>
          </p:nvPr>
        </p:nvSpPr>
        <p:spPr/>
        <p:txBody>
          <a:bodyPr>
            <a:normAutofit/>
          </a:bodyPr>
          <a:lstStyle/>
          <a:p>
            <a:pPr>
              <a:buNone/>
            </a:pPr>
            <a:r>
              <a:rPr lang="en-US" dirty="0" smtClean="0"/>
              <a:t>• Symptoms of brain </a:t>
            </a:r>
            <a:r>
              <a:rPr lang="en-US" dirty="0" err="1" smtClean="0"/>
              <a:t>herniation</a:t>
            </a:r>
            <a:r>
              <a:rPr lang="en-US" dirty="0" smtClean="0"/>
              <a:t>—</a:t>
            </a:r>
          </a:p>
          <a:p>
            <a:pPr>
              <a:buNone/>
            </a:pPr>
            <a:r>
              <a:rPr lang="en-US" dirty="0" smtClean="0"/>
              <a:t>bilateral papillary dilation and absent light reflex, thereby preempting Brainstem death. </a:t>
            </a:r>
          </a:p>
          <a:p>
            <a:r>
              <a:rPr lang="en-US" dirty="0" smtClean="0"/>
              <a:t>Respiratory or circulatory arrest.</a:t>
            </a:r>
          </a:p>
          <a:p>
            <a:r>
              <a:rPr lang="en-US" dirty="0" smtClean="0"/>
              <a:t> Cushing’s  triad, which is represented by increasing blood pressure, </a:t>
            </a:r>
            <a:r>
              <a:rPr lang="en-US" dirty="0" err="1" smtClean="0"/>
              <a:t>bradycardia,and</a:t>
            </a:r>
            <a:r>
              <a:rPr lang="en-US" dirty="0" smtClean="0"/>
              <a:t> widening pulse pressure.</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107</a:t>
            </a:fld>
            <a:endParaRPr lang="en-US"/>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71600"/>
            <a:ext cx="8229600" cy="990600"/>
          </a:xfrm>
        </p:spPr>
        <p:txBody>
          <a:bodyPr>
            <a:normAutofit fontScale="90000"/>
          </a:bodyPr>
          <a:lstStyle/>
          <a:p>
            <a:r>
              <a:rPr lang="en-US" dirty="0" smtClean="0"/>
              <a:t>Radiologic Signs of Intracranial Hypertension</a:t>
            </a:r>
            <a:br>
              <a:rPr lang="en-US" dirty="0" smtClean="0"/>
            </a:br>
            <a:r>
              <a:rPr lang="en-US" b="1" dirty="0" smtClean="0"/>
              <a:t> </a:t>
            </a:r>
            <a:r>
              <a:rPr lang="en-US" dirty="0" smtClean="0"/>
              <a:t/>
            </a:r>
            <a:br>
              <a:rPr lang="en-US" dirty="0" smtClean="0"/>
            </a:br>
            <a:endParaRPr lang="en-US" dirty="0"/>
          </a:p>
        </p:txBody>
      </p:sp>
      <p:sp>
        <p:nvSpPr>
          <p:cNvPr id="10" name="Content Placeholder 9"/>
          <p:cNvSpPr>
            <a:spLocks noGrp="1"/>
          </p:cNvSpPr>
          <p:nvPr>
            <p:ph idx="1"/>
          </p:nvPr>
        </p:nvSpPr>
        <p:spPr>
          <a:xfrm>
            <a:off x="457200" y="2362200"/>
            <a:ext cx="8229600" cy="3763963"/>
          </a:xfrm>
        </p:spPr>
        <p:txBody>
          <a:bodyPr/>
          <a:lstStyle/>
          <a:p>
            <a:r>
              <a:rPr lang="en-US" dirty="0" smtClean="0"/>
              <a:t>midline shift, obliteration of the basal cisterns, loss of </a:t>
            </a:r>
            <a:r>
              <a:rPr lang="en-US" dirty="0" err="1" smtClean="0"/>
              <a:t>sulci</a:t>
            </a:r>
            <a:r>
              <a:rPr lang="en-US" dirty="0" smtClean="0"/>
              <a:t>, ventricular effacement (or enlarged ventricles in the event of hydrocephalus), and edema.</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108</a:t>
            </a:fld>
            <a:endParaRPr lang="en-US"/>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7"/>
          <p:cNvPicPr>
            <a:picLocks noGrp="1" noChangeAspect="1" noChangeArrowheads="1"/>
          </p:cNvPicPr>
          <p:nvPr>
            <p:ph idx="1"/>
          </p:nvPr>
        </p:nvPicPr>
        <p:blipFill>
          <a:blip r:embed="rId2"/>
          <a:stretch>
            <a:fillRect/>
          </a:stretch>
        </p:blipFill>
        <p:spPr bwMode="auto">
          <a:xfrm>
            <a:off x="2327275" y="2124075"/>
            <a:ext cx="5715000" cy="3448050"/>
          </a:xfrm>
          <a:prstGeom prst="rect">
            <a:avLst/>
          </a:prstGeom>
          <a:noFill/>
          <a:ln w="9525">
            <a:noFill/>
            <a:miter lim="800000"/>
            <a:headEnd/>
            <a:tailEnd/>
          </a:ln>
          <a:effectLst/>
        </p:spPr>
      </p:pic>
      <p:sp>
        <p:nvSpPr>
          <p:cNvPr id="6" name="Footer Placeholder 5"/>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109</a:t>
            </a:fld>
            <a:endParaRPr lang="en-US"/>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Pathophysiology</a:t>
            </a:r>
            <a:r>
              <a:rPr lang="en-US" b="1" dirty="0" smtClean="0"/>
              <a:t> of Cerebral Ischemia</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The brain is very vulnerable to ischemic injury because of its relatively high oxygen consumption and near-total dependence on aerobic glucose metabolism</a:t>
            </a:r>
          </a:p>
          <a:p>
            <a:r>
              <a:rPr lang="en-US" dirty="0" smtClean="0"/>
              <a:t>If normal oxygen tension, blood flow, and glucose supply are not reestablished within 3–8 min under most conditions, ATP stores are depleted and irreversible neuronal injury begins.</a:t>
            </a:r>
          </a:p>
          <a:p>
            <a:r>
              <a:rPr lang="en-US" dirty="0" smtClean="0"/>
              <a:t>`</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110</a:t>
            </a:fld>
            <a:endParaRPr lang="en-US"/>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Pathophysiology</a:t>
            </a:r>
            <a:r>
              <a:rPr lang="en-US" b="1" dirty="0" smtClean="0"/>
              <a:t> of Cerebral Ischemia</a:t>
            </a:r>
            <a:endParaRPr lang="en-US" dirty="0"/>
          </a:p>
        </p:txBody>
      </p:sp>
      <p:sp>
        <p:nvSpPr>
          <p:cNvPr id="3" name="Content Placeholder 2"/>
          <p:cNvSpPr>
            <a:spLocks noGrp="1"/>
          </p:cNvSpPr>
          <p:nvPr>
            <p:ph idx="1"/>
          </p:nvPr>
        </p:nvSpPr>
        <p:spPr/>
        <p:txBody>
          <a:bodyPr>
            <a:normAutofit/>
          </a:bodyPr>
          <a:lstStyle/>
          <a:p>
            <a:pPr>
              <a:buNone/>
            </a:pPr>
            <a:endParaRPr lang="en-US" dirty="0" smtClean="0"/>
          </a:p>
          <a:p>
            <a:r>
              <a:rPr lang="en-US" dirty="0" smtClean="0"/>
              <a:t>Interruption of cerebral perfusion rapidly results in functional impairment.</a:t>
            </a:r>
          </a:p>
          <a:p>
            <a:r>
              <a:rPr lang="en-US" dirty="0" smtClean="0"/>
              <a:t>Reduced perfusion also impairs clearance of potentially toxic metabolites.</a:t>
            </a:r>
          </a:p>
          <a:p>
            <a:pPr>
              <a:buNone/>
            </a:pPr>
            <a:endParaRPr lang="en-US" dirty="0" smtClean="0"/>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111</a:t>
            </a:fld>
            <a:endParaRPr lang="en-US"/>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a:bodyPr>
          <a:lstStyle/>
          <a:p>
            <a:r>
              <a:rPr lang="en-US" dirty="0" smtClean="0"/>
              <a:t>Under normal circumstances, CBF is maintained at a relatively constant rate of 50 </a:t>
            </a:r>
            <a:r>
              <a:rPr lang="en-US" dirty="0" err="1" smtClean="0"/>
              <a:t>mL</a:t>
            </a:r>
            <a:r>
              <a:rPr lang="en-US" dirty="0" smtClean="0"/>
              <a:t>/100 g/min. </a:t>
            </a:r>
          </a:p>
          <a:p>
            <a:r>
              <a:rPr lang="en-US" dirty="0" smtClean="0"/>
              <a:t>With a reduction in cerebral perfusion pressure, CBF declines gradually.</a:t>
            </a:r>
          </a:p>
          <a:p>
            <a:r>
              <a:rPr lang="en-US" dirty="0" smtClean="0"/>
              <a:t>Physiologic indices of ischemia are not apparent until CBF is reduced to about 20 to 25 </a:t>
            </a:r>
            <a:r>
              <a:rPr lang="en-US" dirty="0" err="1" smtClean="0"/>
              <a:t>mL</a:t>
            </a:r>
            <a:r>
              <a:rPr lang="en-US" dirty="0" smtClean="0"/>
              <a:t>/100 g/min;</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112</a:t>
            </a:fld>
            <a:endParaRPr lang="en-US"/>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If normal oxygen tension, blood flow, and glucose supply are not reestablished within 3–8 min under most conditions, ATP stores are depleted and irreversible neuronal injury begins.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113</a:t>
            </a:fld>
            <a:endParaRPr lang="en-US"/>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r>
              <a:rPr lang="en-US" dirty="0" smtClean="0"/>
              <a:t>During ischemia, intracellular K+ decreases and intracellular Na+ increases. </a:t>
            </a:r>
          </a:p>
          <a:p>
            <a:r>
              <a:rPr lang="en-US" dirty="0" smtClean="0"/>
              <a:t>More important, intracellular Ca2+ increases because of failure of ATP-dependent pumps to either extrude the ion </a:t>
            </a:r>
            <a:r>
              <a:rPr lang="en-US" dirty="0" err="1" smtClean="0"/>
              <a:t>extracellularly</a:t>
            </a:r>
            <a:r>
              <a:rPr lang="en-US" dirty="0" smtClean="0"/>
              <a:t> or into intracellular cisterns, increased intracellular Na+ concentration, and release of the excitatory neurotransmitter glutamate.</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114</a:t>
            </a:fld>
            <a:endParaRPr lang="en-US"/>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r>
              <a:rPr lang="en-US" dirty="0" smtClean="0"/>
              <a:t>Sustained increases in intracellular Ca</a:t>
            </a:r>
            <a:r>
              <a:rPr lang="en-US" baseline="-25000" dirty="0" smtClean="0"/>
              <a:t>2</a:t>
            </a:r>
            <a:r>
              <a:rPr lang="en-US" sz="2800" baseline="30000" dirty="0" smtClean="0"/>
              <a:t>+</a:t>
            </a:r>
            <a:r>
              <a:rPr lang="en-US" dirty="0" smtClean="0"/>
              <a:t> activate lipases and proteases, which initiate and propagate structural damage to neurons.</a:t>
            </a:r>
          </a:p>
          <a:p>
            <a:r>
              <a:rPr lang="en-US" dirty="0" smtClean="0"/>
              <a:t>Increases in free fatty acid concentration and </a:t>
            </a:r>
            <a:r>
              <a:rPr lang="en-US" dirty="0" err="1" smtClean="0"/>
              <a:t>cyclooxygenase</a:t>
            </a:r>
            <a:r>
              <a:rPr lang="en-US" dirty="0" smtClean="0"/>
              <a:t> and </a:t>
            </a:r>
            <a:r>
              <a:rPr lang="en-US" dirty="0" err="1" smtClean="0"/>
              <a:t>lipooxygenase</a:t>
            </a:r>
            <a:r>
              <a:rPr lang="en-US" dirty="0" smtClean="0"/>
              <a:t> activities result in the formation of prostaglandins and </a:t>
            </a:r>
            <a:r>
              <a:rPr lang="en-US" dirty="0" err="1" smtClean="0"/>
              <a:t>leukotrienes</a:t>
            </a:r>
            <a:r>
              <a:rPr lang="en-US" dirty="0" smtClean="0"/>
              <a:t>, some of which are potent mediators of cellular injury.</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115</a:t>
            </a:fld>
            <a:endParaRPr lang="en-US"/>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Accumulation of toxic metabolites such as lactic acid also impairs cellular function and interferes with repair mechanisms.</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116</a:t>
            </a:fld>
            <a:endParaRPr lang="en-US"/>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685800" y="381000"/>
            <a:ext cx="7239000" cy="5745163"/>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117</a:t>
            </a:fld>
            <a:endParaRPr lang="en-US"/>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Intraoperative</a:t>
            </a:r>
            <a:r>
              <a:rPr lang="en-US" dirty="0" smtClean="0"/>
              <a:t> Brain Protection</a:t>
            </a:r>
            <a:endParaRPr lang="en-US" dirty="0"/>
          </a:p>
        </p:txBody>
      </p:sp>
      <p:sp>
        <p:nvSpPr>
          <p:cNvPr id="3" name="Content Placeholder 2"/>
          <p:cNvSpPr>
            <a:spLocks noGrp="1"/>
          </p:cNvSpPr>
          <p:nvPr>
            <p:ph idx="1"/>
          </p:nvPr>
        </p:nvSpPr>
        <p:spPr/>
        <p:txBody>
          <a:bodyPr>
            <a:normAutofit/>
          </a:bodyPr>
          <a:lstStyle/>
          <a:p>
            <a:r>
              <a:rPr lang="en-US" dirty="0" smtClean="0"/>
              <a:t>Selection of Anesthetics</a:t>
            </a:r>
          </a:p>
          <a:p>
            <a:pPr>
              <a:buNone/>
            </a:pPr>
            <a:r>
              <a:rPr lang="en-US" dirty="0" smtClean="0"/>
              <a:t>Generally, intravenous anesthetic, analgesic, and sedative drugs are associated with parallel reductions in CBF and cerebral metabolic rate (CMR) and do not have adverse effects on ICP. Except </a:t>
            </a:r>
            <a:r>
              <a:rPr lang="en-US" dirty="0" err="1" smtClean="0"/>
              <a:t>Ketamine</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118</a:t>
            </a:fld>
            <a:endParaRPr lang="en-US"/>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Barbiturates</a:t>
            </a:r>
            <a:endParaRPr lang="en-US" dirty="0"/>
          </a:p>
        </p:txBody>
      </p:sp>
      <p:sp>
        <p:nvSpPr>
          <p:cNvPr id="3" name="Content Placeholder 2"/>
          <p:cNvSpPr>
            <a:spLocks noGrp="1"/>
          </p:cNvSpPr>
          <p:nvPr>
            <p:ph idx="1"/>
          </p:nvPr>
        </p:nvSpPr>
        <p:spPr>
          <a:xfrm>
            <a:off x="381000" y="1600200"/>
            <a:ext cx="8229600" cy="4525963"/>
          </a:xfrm>
        </p:spPr>
        <p:txBody>
          <a:bodyPr>
            <a:normAutofit/>
          </a:bodyPr>
          <a:lstStyle/>
          <a:p>
            <a:r>
              <a:rPr lang="en-US" dirty="0" smtClean="0"/>
              <a:t>A dose-dependent reduction in CBF and CMR occurs with barbiturates</a:t>
            </a:r>
          </a:p>
          <a:p>
            <a:r>
              <a:rPr lang="en-US" dirty="0" smtClean="0"/>
              <a:t> Barbiturates are also effective in reducing elevated ICP and controlling </a:t>
            </a:r>
            <a:r>
              <a:rPr lang="en-US" dirty="0" err="1" smtClean="0"/>
              <a:t>epileptiform</a:t>
            </a:r>
            <a:r>
              <a:rPr lang="en-US" dirty="0" smtClean="0"/>
              <a:t> activity.</a:t>
            </a:r>
          </a:p>
          <a:p>
            <a:r>
              <a:rPr lang="en-US" dirty="0" smtClean="0"/>
              <a:t>Note should be made of the fact that long-term neuro protection with barbiturates has not yet been demonstrated.</a:t>
            </a:r>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119</a:t>
            </a:fld>
            <a:endParaRPr lang="en-US"/>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In the setting of </a:t>
            </a:r>
            <a:r>
              <a:rPr lang="en-US" i="1" dirty="0" smtClean="0"/>
              <a:t>global ischemia, barbiturates given in </a:t>
            </a:r>
            <a:r>
              <a:rPr lang="en-US" dirty="0" smtClean="0"/>
              <a:t>electroencephalographic (EEG) burst suppression doses do not reduce ischemia injury. </a:t>
            </a:r>
          </a:p>
          <a:p>
            <a:r>
              <a:rPr lang="en-US" dirty="0" smtClean="0"/>
              <a:t>By contrast, barbiturates can reduce the extent of </a:t>
            </a:r>
            <a:r>
              <a:rPr lang="en-US" i="1" dirty="0" smtClean="0"/>
              <a:t>focal cerebral injury.</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120</a:t>
            </a:fld>
            <a:endParaRPr lang="en-US"/>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Propofol</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In healthy volunteers, surgical levels of </a:t>
            </a:r>
            <a:r>
              <a:rPr lang="en-US" dirty="0" err="1" smtClean="0"/>
              <a:t>propofol</a:t>
            </a:r>
            <a:r>
              <a:rPr lang="en-US" dirty="0" smtClean="0"/>
              <a:t> reduced regional CBF by 53% to 79% in comparison with the awake state.</a:t>
            </a:r>
          </a:p>
          <a:p>
            <a:r>
              <a:rPr lang="en-US" dirty="0" smtClean="0"/>
              <a:t>The whole-brain metabolic rate decreased by 48% to 58%, with limited regional heterogeneity observed.</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121</a:t>
            </a:fld>
            <a:endParaRPr lang="en-US"/>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Experimental studies have shown that </a:t>
            </a:r>
            <a:r>
              <a:rPr lang="en-US" dirty="0" err="1" smtClean="0"/>
              <a:t>propofol</a:t>
            </a:r>
            <a:r>
              <a:rPr lang="en-US" dirty="0" smtClean="0"/>
              <a:t> can substantially reduce the ischemic injury produced by stroke; its efficacy is similar to that of barbiturates and volatile anesthetics.</a:t>
            </a:r>
          </a:p>
          <a:p>
            <a:r>
              <a:rPr lang="en-US" dirty="0" smtClean="0"/>
              <a:t> Like volatile agents, </a:t>
            </a:r>
            <a:r>
              <a:rPr lang="en-US" dirty="0" err="1" smtClean="0"/>
              <a:t>propofol</a:t>
            </a:r>
            <a:r>
              <a:rPr lang="en-US" dirty="0" smtClean="0"/>
              <a:t> </a:t>
            </a:r>
            <a:r>
              <a:rPr lang="en-US" dirty="0" err="1" smtClean="0"/>
              <a:t>neuroprotection</a:t>
            </a:r>
            <a:r>
              <a:rPr lang="en-US" dirty="0" smtClean="0"/>
              <a:t> is not sustained with moderate to severe insults. </a:t>
            </a:r>
          </a:p>
          <a:p>
            <a:r>
              <a:rPr lang="en-US" dirty="0" smtClean="0"/>
              <a:t>With mild insults, sustained </a:t>
            </a:r>
            <a:r>
              <a:rPr lang="en-US" dirty="0" err="1" smtClean="0"/>
              <a:t>neuroprotection</a:t>
            </a:r>
            <a:r>
              <a:rPr lang="en-US" dirty="0" smtClean="0"/>
              <a:t> has been demonstrated.</a:t>
            </a:r>
          </a:p>
          <a:p>
            <a:pPr>
              <a:buNone/>
            </a:pPr>
            <a:endParaRPr lang="en-US" b="1" dirty="0" smtClean="0"/>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122</a:t>
            </a:fld>
            <a:endParaRPr lang="en-US"/>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Etomidate</a:t>
            </a:r>
            <a:endParaRPr lang="en-US" dirty="0"/>
          </a:p>
        </p:txBody>
      </p:sp>
      <p:sp>
        <p:nvSpPr>
          <p:cNvPr id="3" name="Content Placeholder 2"/>
          <p:cNvSpPr>
            <a:spLocks noGrp="1"/>
          </p:cNvSpPr>
          <p:nvPr>
            <p:ph idx="1"/>
          </p:nvPr>
        </p:nvSpPr>
        <p:spPr/>
        <p:txBody>
          <a:bodyPr>
            <a:normAutofit/>
          </a:bodyPr>
          <a:lstStyle/>
          <a:p>
            <a:r>
              <a:rPr lang="en-US" dirty="0" err="1" smtClean="0"/>
              <a:t>Etomidate</a:t>
            </a:r>
            <a:r>
              <a:rPr lang="en-US" dirty="0" smtClean="0"/>
              <a:t> can reduce CMRO2 by up to 50% by producing EEG burst suppression.</a:t>
            </a:r>
          </a:p>
          <a:p>
            <a:r>
              <a:rPr lang="en-US" dirty="0" smtClean="0"/>
              <a:t>Unlike barbiturates, </a:t>
            </a:r>
            <a:r>
              <a:rPr lang="en-US" dirty="0" err="1" smtClean="0"/>
              <a:t>etomidate</a:t>
            </a:r>
            <a:r>
              <a:rPr lang="en-US" dirty="0" smtClean="0"/>
              <a:t> is cleared rapidly and does not cause myocardial depression or hypotension. </a:t>
            </a:r>
          </a:p>
          <a:p>
            <a:r>
              <a:rPr lang="en-US" dirty="0" smtClean="0"/>
              <a:t>These properties make </a:t>
            </a:r>
            <a:r>
              <a:rPr lang="en-US" dirty="0" err="1" smtClean="0"/>
              <a:t>etomidate</a:t>
            </a:r>
            <a:r>
              <a:rPr lang="en-US" dirty="0" smtClean="0"/>
              <a:t> an ideal agent for purposes of </a:t>
            </a:r>
            <a:r>
              <a:rPr lang="en-US" dirty="0" err="1" smtClean="0"/>
              <a:t>neuroprotection</a:t>
            </a:r>
            <a:r>
              <a:rPr lang="en-US" dirty="0" smtClean="0"/>
              <a:t>.</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123</a:t>
            </a:fld>
            <a:endParaRPr lang="en-US"/>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lnSpcReduction="10000"/>
          </a:bodyPr>
          <a:lstStyle/>
          <a:p>
            <a:r>
              <a:rPr lang="en-US" dirty="0" smtClean="0"/>
              <a:t>In human investigations of focal ischemia, administration of </a:t>
            </a:r>
            <a:r>
              <a:rPr lang="en-US" dirty="0" err="1" smtClean="0"/>
              <a:t>etomidate</a:t>
            </a:r>
            <a:r>
              <a:rPr lang="en-US" dirty="0" smtClean="0"/>
              <a:t> leads to a greater degree of tissue acidosis and hypoxia than noted with </a:t>
            </a:r>
            <a:r>
              <a:rPr lang="en-US" dirty="0" err="1" smtClean="0"/>
              <a:t>desflurane</a:t>
            </a:r>
            <a:r>
              <a:rPr lang="en-US" dirty="0" smtClean="0"/>
              <a:t> anesthesia. </a:t>
            </a:r>
          </a:p>
          <a:p>
            <a:r>
              <a:rPr lang="en-US" dirty="0" smtClean="0"/>
              <a:t>The detrimental effects of </a:t>
            </a:r>
            <a:r>
              <a:rPr lang="en-US" dirty="0" err="1" smtClean="0"/>
              <a:t>etomidate</a:t>
            </a:r>
            <a:r>
              <a:rPr lang="en-US" dirty="0" smtClean="0"/>
              <a:t> have been confirmed in experimental studies, which have shown that brain injury actually </a:t>
            </a:r>
            <a:r>
              <a:rPr lang="en-US" i="1" dirty="0" smtClean="0"/>
              <a:t>increases after </a:t>
            </a:r>
            <a:r>
              <a:rPr lang="en-US" dirty="0" smtClean="0"/>
              <a:t>the administration of </a:t>
            </a:r>
            <a:r>
              <a:rPr lang="en-US" dirty="0" err="1" smtClean="0"/>
              <a:t>etomidate</a:t>
            </a:r>
            <a:r>
              <a:rPr lang="en-US" dirty="0" smtClean="0"/>
              <a:t>. </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124</a:t>
            </a:fld>
            <a:endParaRPr lang="en-US"/>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r>
              <a:rPr lang="en-US" dirty="0" smtClean="0"/>
              <a:t>This injury-enhancing effect of </a:t>
            </a:r>
            <a:r>
              <a:rPr lang="en-US" dirty="0" err="1" smtClean="0"/>
              <a:t>etomidate</a:t>
            </a:r>
            <a:r>
              <a:rPr lang="en-US" dirty="0" smtClean="0"/>
              <a:t> has been </a:t>
            </a:r>
            <a:r>
              <a:rPr lang="en-US" dirty="0" err="1" smtClean="0"/>
              <a:t>IntraOperative</a:t>
            </a:r>
            <a:r>
              <a:rPr lang="en-US" dirty="0" smtClean="0"/>
              <a:t> Brain Protection attributed to its ability to reduce nitric oxide levels in ischemic brain tissue.</a:t>
            </a:r>
          </a:p>
          <a:p>
            <a:r>
              <a:rPr lang="en-US" dirty="0" smtClean="0"/>
              <a:t> Because nitric oxide is thought to be important in the maintenance of blood flow during ischemia, it is conceivable that </a:t>
            </a:r>
            <a:r>
              <a:rPr lang="en-US" dirty="0" err="1" smtClean="0"/>
              <a:t>etomidate</a:t>
            </a:r>
            <a:r>
              <a:rPr lang="en-US" dirty="0" smtClean="0"/>
              <a:t> might increase the severity of ischemia.</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125</a:t>
            </a:fld>
            <a:endParaRPr lang="en-US"/>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Ketamine</a:t>
            </a:r>
            <a:endParaRPr lang="en-US" dirty="0"/>
          </a:p>
        </p:txBody>
      </p:sp>
      <p:sp>
        <p:nvSpPr>
          <p:cNvPr id="3" name="Content Placeholder 2"/>
          <p:cNvSpPr>
            <a:spLocks noGrp="1"/>
          </p:cNvSpPr>
          <p:nvPr>
            <p:ph idx="1"/>
          </p:nvPr>
        </p:nvSpPr>
        <p:spPr>
          <a:xfrm>
            <a:off x="914400" y="1828800"/>
            <a:ext cx="8229600" cy="4525963"/>
          </a:xfrm>
        </p:spPr>
        <p:txBody>
          <a:bodyPr>
            <a:normAutofit/>
          </a:bodyPr>
          <a:lstStyle/>
          <a:p>
            <a:r>
              <a:rPr lang="en-US" dirty="0" smtClean="0"/>
              <a:t> </a:t>
            </a:r>
            <a:r>
              <a:rPr lang="en-US" dirty="0" err="1" smtClean="0"/>
              <a:t>Ketamine</a:t>
            </a:r>
            <a:r>
              <a:rPr lang="en-US" dirty="0" smtClean="0"/>
              <a:t> is a potent </a:t>
            </a:r>
            <a:r>
              <a:rPr lang="en-US" i="1" dirty="0" smtClean="0"/>
              <a:t>N-methyl-d-</a:t>
            </a:r>
            <a:r>
              <a:rPr lang="en-US" i="1" dirty="0" err="1" smtClean="0"/>
              <a:t>aspartate</a:t>
            </a:r>
            <a:r>
              <a:rPr lang="en-US" i="1" dirty="0" smtClean="0"/>
              <a:t> (NMDA) receptor antagonist. </a:t>
            </a:r>
          </a:p>
          <a:p>
            <a:r>
              <a:rPr lang="en-US" i="1" dirty="0" smtClean="0"/>
              <a:t>In models </a:t>
            </a:r>
            <a:r>
              <a:rPr lang="en-US" dirty="0" smtClean="0"/>
              <a:t>of focal ischemia, substantial </a:t>
            </a:r>
            <a:r>
              <a:rPr lang="en-US" dirty="0" err="1" smtClean="0"/>
              <a:t>neuroprotection</a:t>
            </a:r>
            <a:r>
              <a:rPr lang="en-US" dirty="0" smtClean="0"/>
              <a:t> has been demonstrated with the administration of </a:t>
            </a:r>
            <a:r>
              <a:rPr lang="en-US" dirty="0" err="1" smtClean="0"/>
              <a:t>ketamine</a:t>
            </a:r>
            <a:r>
              <a:rPr lang="en-US" dirty="0" smtClean="0"/>
              <a:t>.</a:t>
            </a:r>
          </a:p>
          <a:p>
            <a:r>
              <a:rPr lang="en-US" dirty="0" smtClean="0"/>
              <a:t> The adverse neuropsychiatric side effects of </a:t>
            </a:r>
            <a:r>
              <a:rPr lang="en-US" dirty="0" err="1" smtClean="0"/>
              <a:t>ketamine</a:t>
            </a:r>
            <a:r>
              <a:rPr lang="en-US" dirty="0" smtClean="0"/>
              <a:t>, however, have restricted its clinical use for </a:t>
            </a:r>
            <a:r>
              <a:rPr lang="en-US" dirty="0" err="1" smtClean="0"/>
              <a:t>neuroprotection</a:t>
            </a:r>
            <a:r>
              <a:rPr lang="en-US" dirty="0" smtClean="0"/>
              <a:t>.</a:t>
            </a:r>
          </a:p>
          <a:p>
            <a:pPr>
              <a:buNone/>
            </a:pPr>
            <a:endParaRPr lang="en-US" dirty="0" smtClean="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126</a:t>
            </a:fld>
            <a:endParaRPr lang="en-US"/>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Volatile Anesthetics</a:t>
            </a:r>
            <a:endParaRPr lang="en-US" dirty="0"/>
          </a:p>
        </p:txBody>
      </p:sp>
      <p:sp>
        <p:nvSpPr>
          <p:cNvPr id="3" name="Content Placeholder 2"/>
          <p:cNvSpPr>
            <a:spLocks noGrp="1"/>
          </p:cNvSpPr>
          <p:nvPr>
            <p:ph idx="1"/>
          </p:nvPr>
        </p:nvSpPr>
        <p:spPr/>
        <p:txBody>
          <a:bodyPr>
            <a:normAutofit/>
          </a:bodyPr>
          <a:lstStyle/>
          <a:p>
            <a:r>
              <a:rPr lang="en-US" dirty="0" smtClean="0"/>
              <a:t>A large number of animal investigations have shown that the volatile agents halothane, </a:t>
            </a:r>
            <a:r>
              <a:rPr lang="en-US" dirty="0" err="1" smtClean="0"/>
              <a:t>isoflurane</a:t>
            </a:r>
            <a:r>
              <a:rPr lang="en-US" dirty="0" smtClean="0"/>
              <a:t>, </a:t>
            </a:r>
            <a:r>
              <a:rPr lang="en-US" dirty="0" err="1" smtClean="0"/>
              <a:t>sevoflurane</a:t>
            </a:r>
            <a:r>
              <a:rPr lang="en-US" dirty="0" smtClean="0"/>
              <a:t>, and </a:t>
            </a:r>
            <a:r>
              <a:rPr lang="en-US" dirty="0" err="1" smtClean="0"/>
              <a:t>desflurane</a:t>
            </a:r>
            <a:r>
              <a:rPr lang="en-US" dirty="0" smtClean="0"/>
              <a:t> can reduce cerebral injury in the setting of focal ischemia. </a:t>
            </a:r>
          </a:p>
          <a:p>
            <a:r>
              <a:rPr lang="en-US" dirty="0" smtClean="0"/>
              <a:t>This protective efficacy of volatile agents is as large as that of barbiturates.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127</a:t>
            </a:fld>
            <a:endParaRPr lang="en-US"/>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a:bodyPr>
          <a:lstStyle/>
          <a:p>
            <a:r>
              <a:rPr lang="en-US" dirty="0" smtClean="0"/>
              <a:t>Collectively, the available data indicate that barbiturates can protect the brain and that doses required to achieve this protection may well be less than those that produce EEG burst suppression. </a:t>
            </a:r>
          </a:p>
          <a:p>
            <a:r>
              <a:rPr lang="en-US" dirty="0" smtClean="0"/>
              <a:t>Similarly, protection may also be achieved with clinically relevant concentrations of volatile anesthetics (≈1 minimal alveolar concentration [MAC]) and with </a:t>
            </a:r>
            <a:r>
              <a:rPr lang="en-US" dirty="0" err="1" smtClean="0"/>
              <a:t>propofol</a:t>
            </a:r>
            <a:r>
              <a:rPr lang="en-US" dirty="0" smtClean="0"/>
              <a:t>.</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128</a:t>
            </a:fld>
            <a:endParaRPr lang="en-US"/>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Body Temperature</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Experimental studies have shown that a reduction in temperature of only a few degrees (≈33° C to 34° C) can dramatically reduce the brain’s vulnerability to ischemic injury.</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129</a:t>
            </a:fld>
            <a:endParaRPr lang="en-US"/>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increases in brain temperature during and after ischemia aggravate injury. </a:t>
            </a:r>
          </a:p>
          <a:p>
            <a:r>
              <a:rPr lang="en-US" dirty="0" smtClean="0"/>
              <a:t>An increase of as little as 1° C can dramatically increase injury.</a:t>
            </a:r>
          </a:p>
          <a:p>
            <a:r>
              <a:rPr lang="en-US" dirty="0" smtClean="0"/>
              <a:t>It therefore seems prudent to avoid hyperthermia in patients who have suffered an ischemic insult or those who are risk for cerebral ischemia.</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130</a:t>
            </a:fld>
            <a:endParaRPr lang="en-US"/>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Cerebral Perfusion Pressure</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CBF is normally </a:t>
            </a:r>
            <a:r>
              <a:rPr lang="en-US" dirty="0" err="1" smtClean="0"/>
              <a:t>autoregulated</a:t>
            </a:r>
            <a:r>
              <a:rPr lang="en-US" dirty="0" smtClean="0"/>
              <a:t> over a cerebral perfusion pressure (CPP) range of 60 to 150 mm Hg.</a:t>
            </a:r>
          </a:p>
          <a:p>
            <a:r>
              <a:rPr lang="en-US" dirty="0" smtClean="0"/>
              <a:t> The ideal CPP in such patients has not been adequately studied. </a:t>
            </a:r>
          </a:p>
          <a:p>
            <a:r>
              <a:rPr lang="en-US" dirty="0" smtClean="0"/>
              <a:t>In head-injured patients, however, a higher than normal CPP is required to maintain normal CBF. </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131</a:t>
            </a:fld>
            <a:endParaRPr lang="en-US"/>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Although optimal CPP should be tailored to the individual, a CPP of 60 to 70 mm Hg is adequate in head-injured patients.</a:t>
            </a:r>
          </a:p>
          <a:p>
            <a:r>
              <a:rPr lang="en-US" dirty="0" smtClean="0"/>
              <a:t>A CPP of 70 mm Hg is therefore a reasonable goal in patients who have undergone an ischemic insult, provided that the results of Chan and colleagues can be applied to such patients.</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132</a:t>
            </a:fld>
            <a:endParaRPr lang="en-US"/>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p:txBody>
          <a:bodyPr>
            <a:normAutofit/>
          </a:bodyPr>
          <a:lstStyle/>
          <a:p>
            <a:r>
              <a:rPr lang="en-US" dirty="0" smtClean="0"/>
              <a:t>Management of Pa</a:t>
            </a:r>
            <a:r>
              <a:rPr lang="en-US" cap="small" dirty="0" smtClean="0"/>
              <a:t>co</a:t>
            </a:r>
            <a:r>
              <a:rPr lang="en-US" baseline="-25000" dirty="0" smtClean="0"/>
              <a:t>2</a:t>
            </a:r>
          </a:p>
          <a:p>
            <a:r>
              <a:rPr lang="en-US" dirty="0" smtClean="0"/>
              <a:t>In particular, hyperventilation is now widely avoided in the management of SAH because of the low-CBF state that is known to occur. In addition, brain tissue beneath retractors can have a similarly reduced CBF.</a:t>
            </a:r>
          </a:p>
          <a:p>
            <a:endParaRPr lang="en-US" baseline="-25000" dirty="0" smtClean="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133</a:t>
            </a:fld>
            <a:endParaRPr lang="en-US"/>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066800" y="838200"/>
            <a:ext cx="7010400" cy="5287963"/>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134</a:t>
            </a:fld>
            <a:endParaRPr lang="en-US"/>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Management of Arterial Blood Pressure</a:t>
            </a:r>
            <a:endParaRPr lang="en-US" dirty="0"/>
          </a:p>
        </p:txBody>
      </p:sp>
      <p:sp>
        <p:nvSpPr>
          <p:cNvPr id="3" name="Content Placeholder 2"/>
          <p:cNvSpPr>
            <a:spLocks noGrp="1"/>
          </p:cNvSpPr>
          <p:nvPr>
            <p:ph idx="1"/>
          </p:nvPr>
        </p:nvSpPr>
        <p:spPr/>
        <p:txBody>
          <a:bodyPr>
            <a:normAutofit fontScale="92500"/>
          </a:bodyPr>
          <a:lstStyle/>
          <a:p>
            <a:r>
              <a:rPr lang="en-US" dirty="0" smtClean="0"/>
              <a:t>Hypotension can increase cerebral infarct volumes significantly and should be avoided in patients who have suffered a stroke. </a:t>
            </a:r>
          </a:p>
          <a:p>
            <a:r>
              <a:rPr lang="en-US" dirty="0" smtClean="0"/>
              <a:t>Similarly, hypotension has been demonstrated to be one of the most important contributors to a poor outcome in patients who have sustained head injury.</a:t>
            </a:r>
          </a:p>
          <a:p>
            <a:r>
              <a:rPr lang="en-US" dirty="0" smtClean="0"/>
              <a:t> Maintenance of adequate MAP and CPP is therefore critical.</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135</a:t>
            </a:fld>
            <a:endParaRPr lang="en-US"/>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In hypertensive patients, the lower limit of </a:t>
            </a:r>
            <a:r>
              <a:rPr lang="en-US" dirty="0" err="1" smtClean="0"/>
              <a:t>autoregulation</a:t>
            </a:r>
            <a:r>
              <a:rPr lang="en-US" dirty="0" smtClean="0"/>
              <a:t> is shifted to the right and higher CPP may be required.</a:t>
            </a:r>
          </a:p>
          <a:p>
            <a:r>
              <a:rPr lang="en-US" dirty="0" smtClean="0"/>
              <a:t> Maintenance of CPP that is close to the patient’s normal baseline pressure is prudent.</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136</a:t>
            </a:fld>
            <a:endParaRPr lang="en-US"/>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Blood Glucose</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smtClean="0"/>
              <a:t>In a normal brain that is adequately </a:t>
            </a:r>
            <a:r>
              <a:rPr lang="en-US" dirty="0" err="1" smtClean="0"/>
              <a:t>perfused</a:t>
            </a:r>
            <a:r>
              <a:rPr lang="en-US" dirty="0" smtClean="0"/>
              <a:t>, glucose is metabolized aerobically.</a:t>
            </a:r>
          </a:p>
          <a:p>
            <a:pPr>
              <a:buNone/>
            </a:pPr>
            <a:endParaRPr lang="en-US" dirty="0" smtClean="0"/>
          </a:p>
          <a:p>
            <a:r>
              <a:rPr lang="en-US" dirty="0" smtClean="0"/>
              <a:t> When the brain is rendered ischemic, oxygen is no longer available and aerobic metabolism of glucose is inhibited. </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137</a:t>
            </a:fld>
            <a:endParaRPr lang="en-US"/>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Glucose is then metabolized </a:t>
            </a:r>
            <a:r>
              <a:rPr lang="en-US" dirty="0" err="1" smtClean="0"/>
              <a:t>anaerobically</a:t>
            </a:r>
            <a:r>
              <a:rPr lang="en-US" dirty="0" smtClean="0"/>
              <a:t> through </a:t>
            </a:r>
            <a:r>
              <a:rPr lang="en-US" dirty="0" err="1" smtClean="0"/>
              <a:t>glycolysis</a:t>
            </a:r>
            <a:r>
              <a:rPr lang="en-US" dirty="0" smtClean="0"/>
              <a:t>.</a:t>
            </a:r>
          </a:p>
          <a:p>
            <a:r>
              <a:rPr lang="en-US" dirty="0" smtClean="0"/>
              <a:t>The end products of this pathway are lactic acid and ATP. </a:t>
            </a:r>
          </a:p>
          <a:p>
            <a:r>
              <a:rPr lang="en-US" dirty="0" smtClean="0"/>
              <a:t>The lactic acid produced contributes to the acidosis that occurs in many ischemic tissues.</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138</a:t>
            </a:fld>
            <a:endParaRPr lang="en-US"/>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Because the brain does not have glucose stores, the extent of lactic acidosis is limited.</a:t>
            </a:r>
          </a:p>
          <a:p>
            <a:r>
              <a:rPr lang="en-US" dirty="0" smtClean="0"/>
              <a:t>However, during hyperglycemia, the supply of glucose to the brain is increased.</a:t>
            </a:r>
          </a:p>
          <a:p>
            <a:r>
              <a:rPr lang="en-US" dirty="0" smtClean="0"/>
              <a:t>In this situation the amount of lactic acid produced is considerable and cerebral pH decreases. </a:t>
            </a:r>
          </a:p>
          <a:p>
            <a:r>
              <a:rPr lang="en-US" dirty="0" smtClean="0"/>
              <a:t>This acidosis contributes significantly to neuronal necrosis. </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139</a:t>
            </a:fld>
            <a:endParaRPr lang="en-US"/>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lnSpcReduction="10000"/>
          </a:bodyPr>
          <a:lstStyle/>
          <a:p>
            <a:r>
              <a:rPr lang="en-US" dirty="0" smtClean="0"/>
              <a:t>Preexisting hyperglycemia has been shown to be associated with increased neurologic injury.</a:t>
            </a:r>
          </a:p>
          <a:p>
            <a:r>
              <a:rPr lang="en-US" dirty="0" smtClean="0"/>
              <a:t>Based on the available data, treatment of a blood glucose level above 150 mg/</a:t>
            </a:r>
            <a:r>
              <a:rPr lang="en-US" dirty="0" err="1" smtClean="0"/>
              <a:t>dL</a:t>
            </a:r>
            <a:r>
              <a:rPr lang="en-US" dirty="0" smtClean="0"/>
              <a:t> is reasonable.</a:t>
            </a:r>
          </a:p>
          <a:p>
            <a:r>
              <a:rPr lang="en-US" dirty="0" smtClean="0"/>
              <a:t>Consequently, it has been suggested that hyperglycemia be treated in patients at risk for cerebral ischemia and in those who have suffered an ischemic insult.</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140</a:t>
            </a:fld>
            <a:endParaRPr lang="en-US"/>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Cont…</a:t>
            </a:r>
            <a:endParaRPr lang="en-US" dirty="0"/>
          </a:p>
        </p:txBody>
      </p:sp>
      <p:sp>
        <p:nvSpPr>
          <p:cNvPr id="3" name="Content Placeholder 2"/>
          <p:cNvSpPr>
            <a:spLocks noGrp="1"/>
          </p:cNvSpPr>
          <p:nvPr>
            <p:ph idx="1"/>
          </p:nvPr>
        </p:nvSpPr>
        <p:spPr/>
        <p:txBody>
          <a:bodyPr>
            <a:normAutofit lnSpcReduction="10000"/>
          </a:bodyPr>
          <a:lstStyle/>
          <a:p>
            <a:r>
              <a:rPr lang="en-US" dirty="0" smtClean="0"/>
              <a:t>Steroids</a:t>
            </a:r>
          </a:p>
          <a:p>
            <a:pPr>
              <a:buNone/>
            </a:pPr>
            <a:r>
              <a:rPr lang="en-US" dirty="0" smtClean="0"/>
              <a:t>The efficacy of steroids in reducing the edema and increasing blood-brain barrier permeability associated with tumors is well confirmed.</a:t>
            </a:r>
          </a:p>
          <a:p>
            <a:r>
              <a:rPr lang="en-US" dirty="0" smtClean="0"/>
              <a:t> Administration beginning 48 hours before an elective surgical procedure has the potential, to reduce edema formation and improve the clinical condition by the time of craniotomy.</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141</a:t>
            </a:fld>
            <a:endParaRPr lang="en-US"/>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Diuretics</a:t>
            </a:r>
            <a:br>
              <a:rPr lang="en-US" dirty="0" smtClean="0"/>
            </a:br>
            <a:endParaRPr lang="en-US" dirty="0"/>
          </a:p>
        </p:txBody>
      </p:sp>
      <p:sp>
        <p:nvSpPr>
          <p:cNvPr id="3" name="Content Placeholder 2"/>
          <p:cNvSpPr>
            <a:spLocks noGrp="1"/>
          </p:cNvSpPr>
          <p:nvPr>
            <p:ph idx="1"/>
          </p:nvPr>
        </p:nvSpPr>
        <p:spPr>
          <a:xfrm>
            <a:off x="457200" y="838200"/>
            <a:ext cx="8229600" cy="5287963"/>
          </a:xfrm>
        </p:spPr>
        <p:txBody>
          <a:bodyPr>
            <a:normAutofit/>
          </a:bodyPr>
          <a:lstStyle/>
          <a:p>
            <a:endParaRPr lang="en-US" dirty="0" smtClean="0"/>
          </a:p>
          <a:p>
            <a:r>
              <a:rPr lang="en-US" dirty="0" smtClean="0"/>
              <a:t>To reduce the volume of the brain's intracellular and extracellular fluid compartment.</a:t>
            </a:r>
          </a:p>
          <a:p>
            <a:r>
              <a:rPr lang="en-US" dirty="0" smtClean="0"/>
              <a:t> Osmotic and loop diuretics have been employed. </a:t>
            </a:r>
          </a:p>
          <a:p>
            <a:r>
              <a:rPr lang="en-US" dirty="0" smtClean="0"/>
              <a:t>There is the concern that </a:t>
            </a:r>
            <a:r>
              <a:rPr lang="en-US" dirty="0" err="1" smtClean="0"/>
              <a:t>mannitol</a:t>
            </a:r>
            <a:r>
              <a:rPr lang="en-US" dirty="0" smtClean="0"/>
              <a:t> is effective only when some degree of blood-brain barrier integrity is preserved in a significant portion of the brain. </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142</a:t>
            </a:fld>
            <a:endParaRPr lang="en-US"/>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Cont…</a:t>
            </a:r>
            <a:endParaRPr lang="en-US" dirty="0"/>
          </a:p>
        </p:txBody>
      </p:sp>
      <p:sp>
        <p:nvSpPr>
          <p:cNvPr id="3" name="Content Placeholder 2"/>
          <p:cNvSpPr>
            <a:spLocks noGrp="1"/>
          </p:cNvSpPr>
          <p:nvPr>
            <p:ph idx="1"/>
          </p:nvPr>
        </p:nvSpPr>
        <p:spPr/>
        <p:txBody>
          <a:bodyPr/>
          <a:lstStyle/>
          <a:p>
            <a:r>
              <a:rPr lang="en-US" dirty="0" smtClean="0"/>
              <a:t>The doses of </a:t>
            </a:r>
            <a:r>
              <a:rPr lang="en-US" dirty="0" err="1" smtClean="0"/>
              <a:t>mannitol</a:t>
            </a:r>
            <a:r>
              <a:rPr lang="en-US" dirty="0" smtClean="0"/>
              <a:t> employed vary from 0.25 g/kg to 100 g “for all comers”; 1.0 g/kg seems to be the most common dose. </a:t>
            </a:r>
            <a:r>
              <a:rPr lang="en-US" dirty="0" err="1" smtClean="0"/>
              <a:t>Mannitol</a:t>
            </a:r>
            <a:r>
              <a:rPr lang="en-US" dirty="0" smtClean="0"/>
              <a:t> should be administered by infusion. </a:t>
            </a:r>
          </a:p>
          <a:p>
            <a:r>
              <a:rPr lang="en-US" dirty="0" smtClean="0"/>
              <a:t>Sudden exposure can produce brain engorgement and increased ICP that does not occur with slower infusions.</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143</a:t>
            </a:fld>
            <a:endParaRPr lang="en-US"/>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Narcotics </a:t>
            </a:r>
            <a:br>
              <a:rPr lang="en-US" b="1" dirty="0" smtClean="0"/>
            </a:br>
            <a:endParaRPr lang="en-US" dirty="0"/>
          </a:p>
        </p:txBody>
      </p:sp>
      <p:sp>
        <p:nvSpPr>
          <p:cNvPr id="3" name="Content Placeholder 2"/>
          <p:cNvSpPr>
            <a:spLocks noGrp="1"/>
          </p:cNvSpPr>
          <p:nvPr>
            <p:ph idx="1"/>
          </p:nvPr>
        </p:nvSpPr>
        <p:spPr>
          <a:xfrm>
            <a:off x="457200" y="1371600"/>
            <a:ext cx="8229600" cy="4754563"/>
          </a:xfrm>
        </p:spPr>
        <p:txBody>
          <a:bodyPr/>
          <a:lstStyle/>
          <a:p>
            <a:r>
              <a:rPr lang="en-US" dirty="0" smtClean="0"/>
              <a:t>There are inconsistencies in the information available, but it is likely that narcotics have relatively little effect on CBF and CMR in the normal, </a:t>
            </a:r>
            <a:r>
              <a:rPr lang="en-US" dirty="0" err="1" smtClean="0"/>
              <a:t>unstimulated</a:t>
            </a:r>
            <a:r>
              <a:rPr lang="en-US" dirty="0" smtClean="0"/>
              <a:t> nervous system. When changes do occur, the general pattern is one of modest reductions in both CBF and CMR.</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144</a:t>
            </a:fld>
            <a:endParaRPr lang="en-US"/>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dirty="0" err="1" smtClean="0"/>
              <a:t>Lidocaine</a:t>
            </a:r>
            <a:r>
              <a:rPr lang="en-US" b="1" dirty="0" smtClean="0"/>
              <a:t> </a:t>
            </a:r>
          </a:p>
          <a:p>
            <a:pPr>
              <a:buNone/>
            </a:pPr>
            <a:r>
              <a:rPr lang="en-US" dirty="0" err="1" smtClean="0"/>
              <a:t>Lidocaine</a:t>
            </a:r>
            <a:r>
              <a:rPr lang="en-US" dirty="0" smtClean="0"/>
              <a:t> produces a dose-related reduction in CMRO</a:t>
            </a:r>
            <a:r>
              <a:rPr lang="en-US" baseline="-25000" dirty="0" smtClean="0"/>
              <a:t>2</a:t>
            </a:r>
            <a:r>
              <a:rPr lang="en-US" dirty="0" smtClean="0"/>
              <a:t> in experimental animals</a:t>
            </a:r>
          </a:p>
          <a:p>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145</a:t>
            </a:fld>
            <a:endParaRPr lang="en-US"/>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Benzodiazepines have been shown to reduce CMR and CBF; however, this effect is not as pronounced as that with the barbiturates. As with the barbiturates, the blood flow reduction by benzodiazepines is thought to be secondary to a reduction in CMR. Benzodiazepines may reduce ICP owing to their effect on CBF.</a:t>
            </a:r>
            <a:endParaRPr lang="en-US" dirty="0"/>
          </a:p>
        </p:txBody>
      </p:sp>
      <p:sp>
        <p:nvSpPr>
          <p:cNvPr id="5" name="Footer Placeholder 4"/>
          <p:cNvSpPr>
            <a:spLocks noGrp="1"/>
          </p:cNvSpPr>
          <p:nvPr>
            <p:ph type="ftr" sz="quarter" idx="11"/>
          </p:nvPr>
        </p:nvSpPr>
        <p:spPr/>
        <p:txBody>
          <a:bodyPr/>
          <a:lstStyle/>
          <a:p>
            <a:r>
              <a:rPr lang="en-US" smtClean="0"/>
              <a:t>By Siryet Tesfaye</a:t>
            </a:r>
            <a:endParaRPr lang="en-US"/>
          </a:p>
        </p:txBody>
      </p:sp>
      <p:sp>
        <p:nvSpPr>
          <p:cNvPr id="4" name="Slide Number Placeholder 3"/>
          <p:cNvSpPr>
            <a:spLocks noGrp="1"/>
          </p:cNvSpPr>
          <p:nvPr>
            <p:ph type="sldNum" sz="quarter" idx="12"/>
          </p:nvPr>
        </p:nvSpPr>
        <p:spPr/>
        <p:txBody>
          <a:bodyPr/>
          <a:lstStyle/>
          <a:p>
            <a:fld id="{1528205D-516C-4A2E-8491-92189BC25433}" type="slidenum">
              <a:rPr lang="en-US" smtClean="0"/>
              <a:pPr/>
              <a:t>146</a:t>
            </a:fld>
            <a:endParaRPr lang="en-US"/>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Volatile anesthetics do produce </a:t>
            </a:r>
            <a:r>
              <a:rPr lang="en-US" dirty="0" err="1" smtClean="0"/>
              <a:t>neuroprotection</a:t>
            </a:r>
            <a:r>
              <a:rPr lang="en-US" dirty="0" smtClean="0"/>
              <a:t> for short periods.</a:t>
            </a:r>
          </a:p>
          <a:p>
            <a:r>
              <a:rPr lang="en-US" dirty="0" smtClean="0"/>
              <a:t> However, this protection is not sustained beyond 2 weeks with </a:t>
            </a:r>
            <a:r>
              <a:rPr lang="en-US" i="1" dirty="0" smtClean="0"/>
              <a:t>moderate and severe insults, which </a:t>
            </a:r>
            <a:r>
              <a:rPr lang="en-US" dirty="0" smtClean="0"/>
              <a:t>suggests that volatile anesthetics delay but do not prevent neuronal death.</a:t>
            </a:r>
          </a:p>
          <a:p>
            <a:pPr>
              <a:buNone/>
            </a:pP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147</a:t>
            </a:fld>
            <a:endParaRPr lang="en-US"/>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in models of </a:t>
            </a:r>
            <a:r>
              <a:rPr lang="en-US" i="1" dirty="0" smtClean="0"/>
              <a:t>very mild focal ischemia, sustained </a:t>
            </a:r>
            <a:r>
              <a:rPr lang="en-US" i="1" dirty="0" err="1" smtClean="0"/>
              <a:t>neuroprotection</a:t>
            </a:r>
            <a:r>
              <a:rPr lang="en-US" i="1" dirty="0" smtClean="0"/>
              <a:t> with </a:t>
            </a:r>
            <a:r>
              <a:rPr lang="en-US" i="1" dirty="0" err="1" smtClean="0"/>
              <a:t>sevoflurane</a:t>
            </a:r>
            <a:r>
              <a:rPr lang="en-US" i="1" dirty="0" smtClean="0"/>
              <a:t> can </a:t>
            </a:r>
            <a:r>
              <a:rPr lang="en-US" dirty="0" smtClean="0"/>
              <a:t>be achieved. </a:t>
            </a:r>
          </a:p>
          <a:p>
            <a:r>
              <a:rPr lang="en-US" dirty="0" smtClean="0"/>
              <a:t>These data suggest that volatile agents can produce long-term </a:t>
            </a:r>
            <a:r>
              <a:rPr lang="en-US" dirty="0" err="1" smtClean="0"/>
              <a:t>neuroprotection</a:t>
            </a:r>
            <a:r>
              <a:rPr lang="en-US" dirty="0" smtClean="0"/>
              <a:t> </a:t>
            </a:r>
            <a:r>
              <a:rPr lang="en-US" i="1" dirty="0" smtClean="0"/>
              <a:t>provided that the severity of injury is very mild.</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148</a:t>
            </a:fld>
            <a:endParaRPr lang="en-US"/>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221162"/>
          </a:xfrm>
        </p:spPr>
        <p:txBody>
          <a:bodyPr>
            <a:normAutofit/>
          </a:bodyPr>
          <a:lstStyle/>
          <a:p>
            <a:r>
              <a:rPr lang="en-US" sz="5400" dirty="0" smtClean="0"/>
              <a:t>Anesthesia for elective </a:t>
            </a:r>
            <a:br>
              <a:rPr lang="en-US" sz="5400" dirty="0" smtClean="0"/>
            </a:br>
            <a:r>
              <a:rPr lang="en-US" sz="5400" dirty="0" smtClean="0"/>
              <a:t>intracranial surgery</a:t>
            </a:r>
            <a:endParaRPr lang="en-US" sz="5400"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149</a:t>
            </a:fld>
            <a:endParaRPr lang="en-US"/>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Preoperative Assessment</a:t>
            </a:r>
            <a:endParaRPr lang="en-US" dirty="0"/>
          </a:p>
        </p:txBody>
      </p:sp>
      <p:sp>
        <p:nvSpPr>
          <p:cNvPr id="3" name="Content Placeholder 2"/>
          <p:cNvSpPr>
            <a:spLocks noGrp="1"/>
          </p:cNvSpPr>
          <p:nvPr>
            <p:ph idx="1"/>
          </p:nvPr>
        </p:nvSpPr>
        <p:spPr/>
        <p:txBody>
          <a:bodyPr>
            <a:normAutofit fontScale="92500"/>
          </a:bodyPr>
          <a:lstStyle/>
          <a:p>
            <a:r>
              <a:rPr lang="en-US" b="1" dirty="0" smtClean="0"/>
              <a:t>Why Is the Patient Having This Procedure Now?</a:t>
            </a:r>
          </a:p>
          <a:p>
            <a:r>
              <a:rPr lang="en-US" b="1" dirty="0" smtClean="0"/>
              <a:t>Obtaining Information from the Patient and Other Sources</a:t>
            </a:r>
          </a:p>
          <a:p>
            <a:r>
              <a:rPr lang="en-US" dirty="0" smtClean="0"/>
              <a:t>History</a:t>
            </a:r>
          </a:p>
          <a:p>
            <a:r>
              <a:rPr lang="en-US" dirty="0" smtClean="0"/>
              <a:t>Examination</a:t>
            </a:r>
          </a:p>
          <a:p>
            <a:r>
              <a:rPr lang="en-US" dirty="0" smtClean="0"/>
              <a:t>Investigations</a:t>
            </a:r>
          </a:p>
          <a:p>
            <a:r>
              <a:rPr lang="en-US" dirty="0" smtClean="0"/>
              <a:t>Additional Information</a:t>
            </a:r>
          </a:p>
          <a:p>
            <a:r>
              <a:rPr lang="en-US" b="1" dirty="0" smtClean="0"/>
              <a:t>Delivering Information to the Patient</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150</a:t>
            </a:fld>
            <a:endParaRPr lang="en-US"/>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Preoperative Optimization of Neurosurgical Patients</a:t>
            </a:r>
          </a:p>
          <a:p>
            <a:r>
              <a:rPr lang="en-US" b="1" dirty="0" smtClean="0"/>
              <a:t>Premedication before Neurosurgical Procedures</a:t>
            </a:r>
          </a:p>
          <a:p>
            <a:r>
              <a:rPr lang="en-US" b="1" dirty="0" smtClean="0"/>
              <a:t>Planning for Postoperative Management</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151</a:t>
            </a:fld>
            <a:endParaRPr lang="en-US"/>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is the Patient Having This Procedure Now?</a:t>
            </a:r>
            <a:endParaRPr lang="en-US" dirty="0"/>
          </a:p>
        </p:txBody>
      </p:sp>
      <p:sp>
        <p:nvSpPr>
          <p:cNvPr id="3" name="Content Placeholder 2"/>
          <p:cNvSpPr>
            <a:spLocks noGrp="1"/>
          </p:cNvSpPr>
          <p:nvPr>
            <p:ph idx="1"/>
          </p:nvPr>
        </p:nvSpPr>
        <p:spPr/>
        <p:txBody>
          <a:bodyPr>
            <a:normAutofit/>
          </a:bodyPr>
          <a:lstStyle/>
          <a:p>
            <a:r>
              <a:rPr lang="en-US" dirty="0" smtClean="0"/>
              <a:t>The timing and urgency of any neurosurgical procedure are crucial.</a:t>
            </a:r>
          </a:p>
          <a:p>
            <a:r>
              <a:rPr lang="en-US" dirty="0" smtClean="0"/>
              <a:t> Certain procedures result in a worse neurologic outcome if undertaken either too early or too late.</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152</a:t>
            </a:fld>
            <a:endParaRPr lang="en-US"/>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For example, pretreatment of patients who have significant </a:t>
            </a:r>
            <a:r>
              <a:rPr lang="en-US" dirty="0" err="1" smtClean="0"/>
              <a:t>peritumor</a:t>
            </a:r>
            <a:r>
              <a:rPr lang="en-US" dirty="0" smtClean="0"/>
              <a:t> edema with steroids may significantly improve preoperative neurologic status</a:t>
            </a:r>
          </a:p>
          <a:p>
            <a:r>
              <a:rPr lang="en-US" dirty="0" smtClean="0"/>
              <a:t>whereas delaying surgery because of rapidly expanding </a:t>
            </a:r>
            <a:r>
              <a:rPr lang="en-US" dirty="0" err="1" smtClean="0"/>
              <a:t>extradural</a:t>
            </a:r>
            <a:r>
              <a:rPr lang="en-US" dirty="0" smtClean="0"/>
              <a:t> hematomas will have an adverse effect on outcome.</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153</a:t>
            </a:fld>
            <a:endParaRPr lang="en-US"/>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Certain procedures such as craniotomy are generic terms and do not describe the extent of surgery or the actual procedure. and the approach (frontal, temporal, </a:t>
            </a:r>
            <a:r>
              <a:rPr lang="en-US" dirty="0" err="1" smtClean="0"/>
              <a:t>occipital,supine</a:t>
            </a:r>
            <a:r>
              <a:rPr lang="en-US" dirty="0" smtClean="0"/>
              <a:t>, lateral, prone)</a:t>
            </a:r>
          </a:p>
          <a:p>
            <a:r>
              <a:rPr lang="en-US" dirty="0" smtClean="0"/>
              <a:t> should be ascertained because they directly affect positioning, monitoring, size and location of intravenous access, and provision of cross-matched blood.</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154</a:t>
            </a:fld>
            <a:endParaRPr lang="en-US"/>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History</a:t>
            </a:r>
            <a:endParaRPr lang="en-US" dirty="0"/>
          </a:p>
        </p:txBody>
      </p:sp>
      <p:sp>
        <p:nvSpPr>
          <p:cNvPr id="3" name="Content Placeholder 2"/>
          <p:cNvSpPr>
            <a:spLocks noGrp="1"/>
          </p:cNvSpPr>
          <p:nvPr>
            <p:ph idx="1"/>
          </p:nvPr>
        </p:nvSpPr>
        <p:spPr/>
        <p:txBody>
          <a:bodyPr>
            <a:normAutofit fontScale="92500"/>
          </a:bodyPr>
          <a:lstStyle/>
          <a:p>
            <a:r>
              <a:rPr lang="en-US" dirty="0" smtClean="0"/>
              <a:t>A routine general anesthetic assessment should be undertaken. </a:t>
            </a:r>
          </a:p>
          <a:p>
            <a:r>
              <a:rPr lang="en-US" dirty="0" smtClean="0"/>
              <a:t>Specific features should be embellished in </a:t>
            </a:r>
            <a:r>
              <a:rPr lang="en-US" dirty="0" err="1" smtClean="0"/>
              <a:t>neuroanesthetic</a:t>
            </a:r>
            <a:r>
              <a:rPr lang="en-US" dirty="0" smtClean="0"/>
              <a:t> patients.</a:t>
            </a:r>
          </a:p>
          <a:p>
            <a:r>
              <a:rPr lang="en-US" dirty="0" smtClean="0"/>
              <a:t>The size and location of lesions should be identified and their progression appreciated.</a:t>
            </a:r>
          </a:p>
          <a:p>
            <a:r>
              <a:rPr lang="en-US" dirty="0" smtClean="0"/>
              <a:t>In most patients computed tomography (CT) or magnetic resonance imaging (MRI) will be performed to assist in this matter.</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155</a:t>
            </a:fld>
            <a:endParaRPr lang="en-US"/>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Surgery in critical brain regions is well known to be associated with typical postoperative </a:t>
            </a:r>
            <a:r>
              <a:rPr lang="en-US" dirty="0" err="1" smtClean="0"/>
              <a:t>sequelae</a:t>
            </a:r>
            <a:r>
              <a:rPr lang="en-US" dirty="0" smtClean="0"/>
              <a:t>, such as swallowing difficulties and other cranial nerve palsies in posterior </a:t>
            </a:r>
            <a:r>
              <a:rPr lang="en-US" dirty="0" err="1" smtClean="0"/>
              <a:t>fossa</a:t>
            </a:r>
            <a:r>
              <a:rPr lang="en-US" dirty="0" smtClean="0"/>
              <a:t> and brainstem surgery and seizures after temporal lobe surgery. </a:t>
            </a:r>
          </a:p>
          <a:p>
            <a:r>
              <a:rPr lang="en-US" dirty="0" smtClean="0"/>
              <a:t>Any treatment up to this </a:t>
            </a:r>
            <a:r>
              <a:rPr lang="en-US" dirty="0" err="1" smtClean="0"/>
              <a:t>point,such</a:t>
            </a:r>
            <a:r>
              <a:rPr lang="en-US" dirty="0" smtClean="0"/>
              <a:t> as steroids, </a:t>
            </a:r>
            <a:r>
              <a:rPr lang="en-US" dirty="0" err="1" smtClean="0"/>
              <a:t>mannitol</a:t>
            </a:r>
            <a:r>
              <a:rPr lang="en-US" dirty="0" smtClean="0"/>
              <a:t>, anticonvulsants, chemotherapy, radiotherapy, neurovascular ablation, biopsy, or formal surgery, should be noted.</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156</a:t>
            </a:fld>
            <a:endParaRPr lang="en-US"/>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Many neurosurgical patients have had multiple similar previous operations and anesthetics, so old anesthetic charts are a source of very useful information.</a:t>
            </a:r>
          </a:p>
          <a:p>
            <a:r>
              <a:rPr lang="en-US" dirty="0" smtClean="0"/>
              <a:t> Current </a:t>
            </a:r>
            <a:r>
              <a:rPr lang="en-US" dirty="0" err="1" smtClean="0"/>
              <a:t>comorbidity</a:t>
            </a:r>
            <a:r>
              <a:rPr lang="en-US" dirty="0" smtClean="0"/>
              <a:t> helps assess overall fitness and suitability for anesthesia and provides areas for optimization if appropriate.</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157</a:t>
            </a:fld>
            <a:endParaRPr lang="en-US"/>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Current and previous medications should be reviewed and documented, any allergies documented along with the reaction.</a:t>
            </a:r>
          </a:p>
          <a:p>
            <a:r>
              <a:rPr lang="en-US" dirty="0" smtClean="0"/>
              <a:t>Therapeutic drug levels (e.g., for anticonvulsants) should be ascertained when appropriate. </a:t>
            </a:r>
          </a:p>
          <a:p>
            <a:r>
              <a:rPr lang="en-US" dirty="0" smtClean="0"/>
              <a:t>Smoking history should be quantified in terms of daily amount, overall duration, and any associated reduction in respiratory function or underlying infection.</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158</a:t>
            </a:fld>
            <a:endParaRPr lang="en-US"/>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There is resistance to </a:t>
            </a:r>
            <a:r>
              <a:rPr lang="en-US" dirty="0" err="1" smtClean="0"/>
              <a:t>nondepolarizing</a:t>
            </a:r>
            <a:r>
              <a:rPr lang="en-US" dirty="0" smtClean="0"/>
              <a:t> neuromuscular blocking drugs in patients taking anticonvulsant drugs for more than a few days.</a:t>
            </a:r>
          </a:p>
          <a:p>
            <a:r>
              <a:rPr lang="en-US" dirty="0" smtClean="0"/>
              <a:t>The dose requirements of neuromuscular blocking drugs are therefore increased in patients taking </a:t>
            </a:r>
            <a:r>
              <a:rPr lang="en-US" dirty="0" err="1" smtClean="0"/>
              <a:t>phenytoin</a:t>
            </a:r>
            <a:r>
              <a:rPr lang="en-US" dirty="0" smtClean="0"/>
              <a:t>, </a:t>
            </a:r>
            <a:r>
              <a:rPr lang="en-US" dirty="0" err="1" smtClean="0"/>
              <a:t>carbamazepine</a:t>
            </a:r>
            <a:r>
              <a:rPr lang="en-US" dirty="0" smtClean="0"/>
              <a:t>, and to a lesser extent other anticonvulsant drugs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159</a:t>
            </a:fld>
            <a:endParaRPr lang="en-US"/>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acute treatment with anticonvulsant produces a weak neuromuscular block and enhances the action of </a:t>
            </a:r>
            <a:r>
              <a:rPr lang="en-US" dirty="0" err="1" smtClean="0"/>
              <a:t>nondepolarizing</a:t>
            </a:r>
            <a:r>
              <a:rPr lang="en-US" dirty="0" smtClean="0"/>
              <a:t> neuromuscular blocking drugs.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160</a:t>
            </a:fld>
            <a:endParaRPr lang="en-US"/>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alcohol consumption has implications for disease causality, nutritional status, hepatic enzyme induction, and withdrawal phenomena.</a:t>
            </a:r>
          </a:p>
          <a:p>
            <a:r>
              <a:rPr lang="en-US" dirty="0" smtClean="0"/>
              <a:t>systems review may identify other areas for concern, such as unidentified </a:t>
            </a:r>
            <a:r>
              <a:rPr lang="en-US" dirty="0" err="1" smtClean="0"/>
              <a:t>comorbidity</a:t>
            </a:r>
            <a:r>
              <a:rPr lang="en-US" dirty="0" smtClean="0"/>
              <a:t> that requires further investigation.</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161</a:t>
            </a:fld>
            <a:endParaRPr lang="en-US"/>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Examination</a:t>
            </a:r>
            <a:endParaRPr lang="en-US" dirty="0"/>
          </a:p>
        </p:txBody>
      </p:sp>
      <p:sp>
        <p:nvSpPr>
          <p:cNvPr id="3" name="Content Placeholder 2"/>
          <p:cNvSpPr>
            <a:spLocks noGrp="1"/>
          </p:cNvSpPr>
          <p:nvPr>
            <p:ph idx="1"/>
          </p:nvPr>
        </p:nvSpPr>
        <p:spPr/>
        <p:txBody>
          <a:bodyPr>
            <a:normAutofit/>
          </a:bodyPr>
          <a:lstStyle/>
          <a:p>
            <a:r>
              <a:rPr lang="en-US" dirty="0" smtClean="0"/>
              <a:t>Examination of a neurosurgical patient aims to verify any neurologic signs, assess the airway, and establish baseline </a:t>
            </a:r>
            <a:r>
              <a:rPr lang="en-US" dirty="0" err="1" smtClean="0"/>
              <a:t>cardiorespiratory</a:t>
            </a:r>
            <a:r>
              <a:rPr lang="en-US" dirty="0" smtClean="0"/>
              <a:t> status.</a:t>
            </a:r>
          </a:p>
          <a:p>
            <a:r>
              <a:rPr lang="en-US" dirty="0" smtClean="0"/>
              <a:t>This population of patients usually has symptoms and signs of their neuropathology.</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162</a:t>
            </a:fld>
            <a:endParaRPr lang="en-US"/>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An accurate baseline neurologic status is valuable to guide the expected level of recovery in the immediate postoperative period and also to anticipate any complications that may occur.</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163</a:t>
            </a:fld>
            <a:endParaRPr lang="en-US"/>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Assessment of the airway is important to allow appropriate planning of induction of anesthesia to facilitate smooth induction with minimal delay, trauma, or hemodynamic consequence.</a:t>
            </a:r>
          </a:p>
          <a:p>
            <a:r>
              <a:rPr lang="en-US" dirty="0" smtClean="0"/>
              <a:t>For cervical spine surgery, patients should have imaging available that details the laryngeal and thoracic inlet anatomy.</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164</a:t>
            </a:fld>
            <a:endParaRPr lang="en-US"/>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Cervical spine pathology may limit neck flexion or head extension, or both; again, </a:t>
            </a:r>
            <a:r>
              <a:rPr lang="en-US" dirty="0" err="1" smtClean="0"/>
              <a:t>fiberoptic</a:t>
            </a:r>
            <a:r>
              <a:rPr lang="en-US" dirty="0" smtClean="0"/>
              <a:t> intubation is invaluable in these patients.</a:t>
            </a:r>
          </a:p>
          <a:p>
            <a:r>
              <a:rPr lang="en-US" dirty="0" smtClean="0"/>
              <a:t>In the acute situation, all patients who are to undergo neurosurgery and have a history of trauma, whether they are conscious or unconscious, should be considered to have an unstable cervical spine until formal radiologic clearance has been obtained.</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165</a:t>
            </a:fld>
            <a:endParaRPr lang="en-US"/>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Assessment of the </a:t>
            </a:r>
            <a:r>
              <a:rPr lang="en-US" dirty="0" err="1" smtClean="0"/>
              <a:t>cardiorespiratory</a:t>
            </a:r>
            <a:r>
              <a:rPr lang="en-US" dirty="0" smtClean="0"/>
              <a:t> system allows prediction of cardiovascular instability, airway irritability and coughing, </a:t>
            </a:r>
            <a:r>
              <a:rPr lang="en-US" dirty="0" err="1" smtClean="0"/>
              <a:t>laryngospasm</a:t>
            </a:r>
            <a:r>
              <a:rPr lang="en-US" dirty="0" smtClean="0"/>
              <a:t>, </a:t>
            </a:r>
            <a:r>
              <a:rPr lang="en-US" dirty="0" err="1" smtClean="0"/>
              <a:t>bronchospasm</a:t>
            </a:r>
            <a:r>
              <a:rPr lang="en-US" dirty="0" smtClean="0"/>
              <a:t>, </a:t>
            </a:r>
            <a:r>
              <a:rPr lang="en-US" dirty="0" err="1" smtClean="0"/>
              <a:t>breathholding</a:t>
            </a:r>
            <a:r>
              <a:rPr lang="en-US" dirty="0" smtClean="0"/>
              <a:t>,</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166</a:t>
            </a:fld>
            <a:endParaRPr lang="en-US"/>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Patients with cranial nerve palsies or a depressed level of consciousness preoperatively are at high risk for </a:t>
            </a:r>
            <a:r>
              <a:rPr lang="en-US" dirty="0" err="1" smtClean="0"/>
              <a:t>perioperative</a:t>
            </a:r>
            <a:r>
              <a:rPr lang="en-US" dirty="0" smtClean="0"/>
              <a:t> aspiration pneumonia. </a:t>
            </a:r>
          </a:p>
          <a:p>
            <a:r>
              <a:rPr lang="en-US" dirty="0" smtClean="0"/>
              <a:t>Specific note should be made of the ease of peripheral venous and arterial access, blood pressure, oxygen saturation on room air, heart rate, presence or absence of murmurs and their character, and the clarity of breath sounds in all lung regions.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167</a:t>
            </a:fld>
            <a:endParaRPr lang="en-US"/>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Investigations</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 complete blood count, clotting profile, and electrolyte assay should be performed before any neurosurgical procedure.</a:t>
            </a:r>
          </a:p>
          <a:p>
            <a:r>
              <a:rPr lang="en-US" dirty="0" smtClean="0"/>
              <a:t> Blood should be drawn for cross-matching as appropriate to the particular lesion and anticipated blood loss.</a:t>
            </a:r>
          </a:p>
          <a:p>
            <a:r>
              <a:rPr lang="en-US" dirty="0" smtClean="0"/>
              <a:t> If seizures have been a symptom, assessment of magnesium and calcium levels, as well as serum levels of anticonvulsant drugs, is appropriate.</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168</a:t>
            </a:fld>
            <a:endParaRPr lang="en-US"/>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 When endocrine abnormalities are anticipated, baseline investigation of the </a:t>
            </a:r>
            <a:r>
              <a:rPr lang="en-US" dirty="0" err="1" smtClean="0"/>
              <a:t>adreno</a:t>
            </a:r>
            <a:r>
              <a:rPr lang="en-US" dirty="0" smtClean="0"/>
              <a:t> cortical axis should be established. </a:t>
            </a:r>
          </a:p>
          <a:p>
            <a:r>
              <a:rPr lang="en-US" dirty="0" smtClean="0"/>
              <a:t>Other blood investigations are guided by </a:t>
            </a:r>
            <a:r>
              <a:rPr lang="en-US" dirty="0" err="1" smtClean="0"/>
              <a:t>comorbidity</a:t>
            </a:r>
            <a:r>
              <a:rPr lang="en-US" dirty="0" smtClean="0"/>
              <a:t>.</a:t>
            </a:r>
          </a:p>
          <a:p>
            <a:r>
              <a:rPr lang="en-US" dirty="0" smtClean="0"/>
              <a:t>The electrocardiogram may highlight hypertensive heart disease, rhythm abnormality,</a:t>
            </a:r>
          </a:p>
          <a:p>
            <a:r>
              <a:rPr lang="en-US" dirty="0" smtClean="0"/>
              <a:t>Preoperative chest radiographs are necessary only when specifically indicated.</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169</a:t>
            </a:fld>
            <a:endParaRPr lang="en-US"/>
          </a:p>
        </p:txBody>
      </p:sp>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smtClean="0"/>
              <a:t>imaging of the surgical field</a:t>
            </a:r>
            <a:endParaRPr lang="en-US" dirty="0"/>
          </a:p>
        </p:txBody>
      </p:sp>
      <p:sp>
        <p:nvSpPr>
          <p:cNvPr id="3" name="Content Placeholder 2"/>
          <p:cNvSpPr>
            <a:spLocks noGrp="1"/>
          </p:cNvSpPr>
          <p:nvPr>
            <p:ph idx="1"/>
          </p:nvPr>
        </p:nvSpPr>
        <p:spPr/>
        <p:txBody>
          <a:bodyPr>
            <a:normAutofit/>
          </a:bodyPr>
          <a:lstStyle/>
          <a:p>
            <a:r>
              <a:rPr lang="en-US" dirty="0" smtClean="0"/>
              <a:t>CT, </a:t>
            </a:r>
          </a:p>
          <a:p>
            <a:r>
              <a:rPr lang="en-US" dirty="0" smtClean="0"/>
              <a:t>CT angiography, MRI, or formal angiography.</a:t>
            </a:r>
          </a:p>
          <a:p>
            <a:r>
              <a:rPr lang="en-US" dirty="0" smtClean="0"/>
              <a:t>These studies should be reviewed, the pathology identified, the site confirmed, and further features noted such as  the degree of tissue edema </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170</a:t>
            </a:fld>
            <a:endParaRPr lang="en-US"/>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r>
              <a:rPr lang="en-US" dirty="0" smtClean="0"/>
              <a:t>Size of the ventricles</a:t>
            </a:r>
          </a:p>
          <a:p>
            <a:r>
              <a:rPr lang="en-US" dirty="0" smtClean="0"/>
              <a:t> Degree of midline shift</a:t>
            </a:r>
          </a:p>
          <a:p>
            <a:r>
              <a:rPr lang="en-US" dirty="0" smtClean="0"/>
              <a:t> Amount of space around the basal cisterns and posterior </a:t>
            </a:r>
            <a:r>
              <a:rPr lang="en-US" dirty="0" err="1" smtClean="0"/>
              <a:t>fossa</a:t>
            </a:r>
            <a:r>
              <a:rPr lang="en-US" dirty="0" smtClean="0"/>
              <a:t> and in the case of trauma, the presence of coexisting injuries such as</a:t>
            </a:r>
          </a:p>
          <a:p>
            <a:r>
              <a:rPr lang="en-US" dirty="0" smtClean="0"/>
              <a:t> maxillofacial trauma,</a:t>
            </a:r>
          </a:p>
          <a:p>
            <a:r>
              <a:rPr lang="en-US" dirty="0" smtClean="0"/>
              <a:t> depressed skull fractures, and </a:t>
            </a:r>
          </a:p>
          <a:p>
            <a:r>
              <a:rPr lang="en-US" dirty="0" smtClean="0"/>
              <a:t>cervical spine disruption can be detected</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171</a:t>
            </a:fld>
            <a:endParaRPr lang="en-US"/>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These findings have a direct influence on </a:t>
            </a:r>
          </a:p>
          <a:p>
            <a:r>
              <a:rPr lang="en-US" dirty="0" smtClean="0"/>
              <a:t>patient handling, </a:t>
            </a:r>
          </a:p>
          <a:p>
            <a:r>
              <a:rPr lang="en-US" dirty="0" smtClean="0"/>
              <a:t>induction technique,  </a:t>
            </a:r>
          </a:p>
          <a:p>
            <a:r>
              <a:rPr lang="en-US" dirty="0" smtClean="0"/>
              <a:t>approach to intubation, </a:t>
            </a:r>
          </a:p>
          <a:p>
            <a:r>
              <a:rPr lang="en-US" dirty="0" smtClean="0"/>
              <a:t>investigation of invasive monitoring,</a:t>
            </a:r>
          </a:p>
          <a:p>
            <a:r>
              <a:rPr lang="en-US" dirty="0" smtClean="0"/>
              <a:t> the use of </a:t>
            </a:r>
            <a:r>
              <a:rPr lang="en-US" dirty="0" err="1" smtClean="0"/>
              <a:t>mannitol</a:t>
            </a:r>
            <a:r>
              <a:rPr lang="en-US" dirty="0" smtClean="0"/>
              <a:t>, and anticipation of delayed postoperative recovery.</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172</a:t>
            </a:fld>
            <a:endParaRPr lang="en-US" dirty="0"/>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Delivering Information to the Patient</a:t>
            </a:r>
            <a:endParaRPr lang="en-US" dirty="0"/>
          </a:p>
        </p:txBody>
      </p:sp>
      <p:sp>
        <p:nvSpPr>
          <p:cNvPr id="3" name="Content Placeholder 2"/>
          <p:cNvSpPr>
            <a:spLocks noGrp="1"/>
          </p:cNvSpPr>
          <p:nvPr>
            <p:ph idx="1"/>
          </p:nvPr>
        </p:nvSpPr>
        <p:spPr/>
        <p:txBody>
          <a:bodyPr>
            <a:normAutofit/>
          </a:bodyPr>
          <a:lstStyle/>
          <a:p>
            <a:r>
              <a:rPr lang="en-US" dirty="0" smtClean="0"/>
              <a:t>The patient’s level of consciousness may be depressed. </a:t>
            </a:r>
          </a:p>
          <a:p>
            <a:r>
              <a:rPr lang="en-US" dirty="0" smtClean="0"/>
              <a:t>Patients may be agitated or combative or may have total neglect on one side. </a:t>
            </a:r>
          </a:p>
          <a:p>
            <a:r>
              <a:rPr lang="en-US" dirty="0" smtClean="0"/>
              <a:t>Hearing and visual abnormalities are common</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173</a:t>
            </a:fld>
            <a:endParaRPr lang="en-US"/>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a full explanation about the anesthesia and its risks and benefits in the </a:t>
            </a:r>
            <a:r>
              <a:rPr lang="en-US" dirty="0" err="1" smtClean="0"/>
              <a:t>perioperative</a:t>
            </a:r>
            <a:r>
              <a:rPr lang="en-US" dirty="0" smtClean="0"/>
              <a:t> period should be undertaken.</a:t>
            </a:r>
          </a:p>
          <a:p>
            <a:r>
              <a:rPr lang="en-US" dirty="0" smtClean="0"/>
              <a:t>Consent becomes a difficult issue for who have diminished capacity to understand.</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174</a:t>
            </a:fld>
            <a:endParaRPr lang="en-US"/>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This discussion should ideally take place with relatives or other guardian present and any questions answered fully. </a:t>
            </a:r>
          </a:p>
          <a:p>
            <a:r>
              <a:rPr lang="en-US" dirty="0" smtClean="0"/>
              <a:t>For a patient with diminished capacity, the consent of relatives is not mandatory if two clinicians are in agreement that the procedure is essential and in the patient’s best interests.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175</a:t>
            </a:fld>
            <a:endParaRPr lang="en-US"/>
          </a:p>
        </p:txBody>
      </p:sp>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Preoperative Optimization of Neurosurgical Patients</a:t>
            </a:r>
            <a:endParaRPr lang="en-US" dirty="0"/>
          </a:p>
        </p:txBody>
      </p:sp>
      <p:sp>
        <p:nvSpPr>
          <p:cNvPr id="3" name="Content Placeholder 2"/>
          <p:cNvSpPr>
            <a:spLocks noGrp="1"/>
          </p:cNvSpPr>
          <p:nvPr>
            <p:ph idx="1"/>
          </p:nvPr>
        </p:nvSpPr>
        <p:spPr/>
        <p:txBody>
          <a:bodyPr>
            <a:normAutofit/>
          </a:bodyPr>
          <a:lstStyle/>
          <a:p>
            <a:r>
              <a:rPr lang="en-US" dirty="0" smtClean="0"/>
              <a:t>For elective surgery any requirement for optimization may mean rescheduling the procedure </a:t>
            </a:r>
          </a:p>
          <a:p>
            <a:r>
              <a:rPr lang="en-US" dirty="0" smtClean="0"/>
              <a:t>The problems identified by preoperative assessment need to be balanced</a:t>
            </a:r>
          </a:p>
          <a:p>
            <a:r>
              <a:rPr lang="en-US" dirty="0" smtClean="0"/>
              <a:t>Electrolyte disturbances are common</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176</a:t>
            </a:fld>
            <a:endParaRPr lang="en-US"/>
          </a:p>
        </p:txBody>
      </p:sp>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Premedication before Neurosurgical Procedures</a:t>
            </a:r>
            <a:endParaRPr lang="en-US" dirty="0"/>
          </a:p>
        </p:txBody>
      </p:sp>
      <p:sp>
        <p:nvSpPr>
          <p:cNvPr id="3" name="Content Placeholder 2"/>
          <p:cNvSpPr>
            <a:spLocks noGrp="1"/>
          </p:cNvSpPr>
          <p:nvPr>
            <p:ph idx="1"/>
          </p:nvPr>
        </p:nvSpPr>
        <p:spPr/>
        <p:txBody>
          <a:bodyPr>
            <a:normAutofit/>
          </a:bodyPr>
          <a:lstStyle/>
          <a:p>
            <a:r>
              <a:rPr lang="en-US" dirty="0" smtClean="0"/>
              <a:t>Premedication with sedative drugs needs to be cautiously implemented in neurosurgical patients.</a:t>
            </a:r>
          </a:p>
          <a:p>
            <a:r>
              <a:rPr lang="en-US" dirty="0" smtClean="0"/>
              <a:t>benzodiazepine is sometimes used for </a:t>
            </a:r>
            <a:r>
              <a:rPr lang="en-US" dirty="0" err="1" smtClean="0"/>
              <a:t>anxiolysis</a:t>
            </a:r>
            <a:r>
              <a:rPr lang="en-US" dirty="0" smtClean="0"/>
              <a:t> in patients with uncompromised neurology, </a:t>
            </a:r>
          </a:p>
          <a:p>
            <a:r>
              <a:rPr lang="en-US" dirty="0" smtClean="0"/>
              <a:t>sedative premedication should never be given to patients with an already reduced level of consciousness.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177</a:t>
            </a:fld>
            <a:endParaRPr lang="en-US"/>
          </a:p>
        </p:txBody>
      </p: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Planning for Postoperative Management</a:t>
            </a:r>
            <a:endParaRPr lang="en-US" dirty="0"/>
          </a:p>
        </p:txBody>
      </p:sp>
      <p:sp>
        <p:nvSpPr>
          <p:cNvPr id="3" name="Content Placeholder 2"/>
          <p:cNvSpPr>
            <a:spLocks noGrp="1"/>
          </p:cNvSpPr>
          <p:nvPr>
            <p:ph idx="1"/>
          </p:nvPr>
        </p:nvSpPr>
        <p:spPr/>
        <p:txBody>
          <a:bodyPr/>
          <a:lstStyle/>
          <a:p>
            <a:r>
              <a:rPr lang="en-US" dirty="0" smtClean="0"/>
              <a:t>A high proportion of neurosurgical patients will require elective admission to a critical care or high-dependency area by virtue of the procedure that has been undertaken and the probable or potential complications of surgery.</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178</a:t>
            </a:fld>
            <a:endParaRPr lang="en-US"/>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Such issues should be discussed with the patient and family before the procedure, as should the presence of any invasive monitoring techniques that might be required in the postoperative period.</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179</a:t>
            </a:fld>
            <a:endParaRPr lang="en-US"/>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Anesthesia for </a:t>
            </a:r>
            <a:r>
              <a:rPr lang="en-US" dirty="0" err="1" smtClean="0"/>
              <a:t>Supratentorial</a:t>
            </a:r>
            <a:r>
              <a:rPr lang="en-US" smtClean="0"/>
              <a:t/>
            </a:r>
            <a:br>
              <a:rPr lang="en-US" smtClean="0"/>
            </a:br>
            <a:r>
              <a:rPr lang="en-US" smtClean="0"/>
              <a:t>Surgery</a:t>
            </a:r>
            <a:endParaRPr lang="en-US"/>
          </a:p>
        </p:txBody>
      </p:sp>
      <p:sp>
        <p:nvSpPr>
          <p:cNvPr id="3" name="Content Placeholder 2"/>
          <p:cNvSpPr>
            <a:spLocks noGrp="1"/>
          </p:cNvSpPr>
          <p:nvPr>
            <p:ph idx="1"/>
          </p:nvPr>
        </p:nvSpPr>
        <p:spPr/>
        <p:txBody>
          <a:bodyPr>
            <a:normAutofit/>
          </a:bodyPr>
          <a:lstStyle/>
          <a:p>
            <a:pPr>
              <a:buNone/>
            </a:pPr>
            <a:r>
              <a:rPr lang="en-US" dirty="0" smtClean="0"/>
              <a:t>Anesthetic goals for </a:t>
            </a:r>
            <a:r>
              <a:rPr lang="en-US" dirty="0" err="1" smtClean="0"/>
              <a:t>supratentorial</a:t>
            </a:r>
            <a:r>
              <a:rPr lang="en-US" dirty="0" smtClean="0"/>
              <a:t> surgery include the following:</a:t>
            </a:r>
          </a:p>
          <a:p>
            <a:pPr>
              <a:buNone/>
            </a:pPr>
            <a:r>
              <a:rPr lang="en-US" dirty="0" smtClean="0"/>
              <a:t>• Appreciation of the type, severity, and location of the lesion </a:t>
            </a:r>
          </a:p>
          <a:p>
            <a:r>
              <a:rPr lang="en-US" dirty="0" smtClean="0"/>
              <a:t>Swift, smooth anesthetic induction and emergence from general anesthesia</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180</a:t>
            </a:fld>
            <a:endParaRPr lang="en-US"/>
          </a:p>
        </p:txBody>
      </p:sp>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 Adequate cerebral perfusion pressure (CPP) throughout surgery and into the postoperative period</a:t>
            </a:r>
          </a:p>
          <a:p>
            <a:pPr>
              <a:buNone/>
            </a:pPr>
            <a:r>
              <a:rPr lang="en-US" dirty="0" smtClean="0"/>
              <a:t>• Immobility, control of vital signs, and brain relaxation throughout surgery</a:t>
            </a:r>
          </a:p>
          <a:p>
            <a:pPr>
              <a:buNone/>
            </a:pPr>
            <a:r>
              <a:rPr lang="en-US" dirty="0" smtClean="0"/>
              <a:t>• Adequate analgesia in the postoperative period</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181</a:t>
            </a:fld>
            <a:endParaRPr lang="en-US"/>
          </a:p>
        </p:txBody>
      </p:sp>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r>
              <a:rPr lang="en-US" dirty="0" smtClean="0"/>
              <a:t>Approximately 60% of </a:t>
            </a:r>
            <a:r>
              <a:rPr lang="en-US" dirty="0" err="1" smtClean="0"/>
              <a:t>supratentorial</a:t>
            </a:r>
            <a:r>
              <a:rPr lang="en-US" dirty="0" smtClean="0"/>
              <a:t> </a:t>
            </a:r>
            <a:r>
              <a:rPr lang="en-US" dirty="0" err="1" smtClean="0"/>
              <a:t>neoplasms</a:t>
            </a:r>
            <a:r>
              <a:rPr lang="en-US" dirty="0" smtClean="0"/>
              <a:t> are primary brain tumors, of which </a:t>
            </a:r>
            <a:r>
              <a:rPr lang="en-US" dirty="0" err="1" smtClean="0"/>
              <a:t>gliomas</a:t>
            </a:r>
            <a:r>
              <a:rPr lang="en-US" dirty="0" smtClean="0"/>
              <a:t> are the most common. </a:t>
            </a:r>
          </a:p>
          <a:p>
            <a:r>
              <a:rPr lang="en-US" dirty="0" smtClean="0"/>
              <a:t>These </a:t>
            </a:r>
            <a:r>
              <a:rPr lang="en-US" dirty="0" err="1" smtClean="0"/>
              <a:t>neoplasms</a:t>
            </a:r>
            <a:r>
              <a:rPr lang="en-US" dirty="0" smtClean="0"/>
              <a:t> range from relatively benign </a:t>
            </a:r>
            <a:r>
              <a:rPr lang="en-US" dirty="0" err="1" smtClean="0"/>
              <a:t>pilocytic</a:t>
            </a:r>
            <a:r>
              <a:rPr lang="en-US" dirty="0" smtClean="0"/>
              <a:t> and well-differentiated </a:t>
            </a:r>
            <a:r>
              <a:rPr lang="en-US" dirty="0" err="1" smtClean="0"/>
              <a:t>astrocytomas</a:t>
            </a:r>
            <a:r>
              <a:rPr lang="en-US" dirty="0" smtClean="0"/>
              <a:t> to aggressive </a:t>
            </a:r>
            <a:r>
              <a:rPr lang="en-US" dirty="0" err="1" smtClean="0"/>
              <a:t>anaplastic</a:t>
            </a:r>
            <a:r>
              <a:rPr lang="en-US" dirty="0" smtClean="0"/>
              <a:t> </a:t>
            </a:r>
            <a:r>
              <a:rPr lang="en-US" dirty="0" err="1" smtClean="0"/>
              <a:t>astrocytomas</a:t>
            </a:r>
            <a:r>
              <a:rPr lang="en-US" dirty="0" smtClean="0"/>
              <a:t> and </a:t>
            </a:r>
            <a:r>
              <a:rPr lang="en-US" dirty="0" err="1" smtClean="0"/>
              <a:t>glioblastoma</a:t>
            </a:r>
            <a:r>
              <a:rPr lang="en-US" dirty="0" smtClean="0"/>
              <a:t> </a:t>
            </a:r>
            <a:r>
              <a:rPr lang="en-US" dirty="0" err="1" smtClean="0"/>
              <a:t>multiforme</a:t>
            </a:r>
            <a:r>
              <a:rPr lang="en-US" dirty="0" smtClean="0"/>
              <a:t>.</a:t>
            </a:r>
          </a:p>
          <a:p>
            <a:r>
              <a:rPr lang="en-US" dirty="0" smtClean="0"/>
              <a:t> </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182</a:t>
            </a:fld>
            <a:endParaRPr lang="en-US"/>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Other common benign tumors include </a:t>
            </a:r>
            <a:r>
              <a:rPr lang="en-US" dirty="0" err="1" smtClean="0"/>
              <a:t>meningiomas</a:t>
            </a:r>
            <a:r>
              <a:rPr lang="en-US" dirty="0" smtClean="0"/>
              <a:t> and pituitary adenomas. </a:t>
            </a:r>
          </a:p>
          <a:p>
            <a:r>
              <a:rPr lang="en-US" dirty="0" smtClean="0"/>
              <a:t>Brain abscesses can also be manifested as space-occupying lesions.</a:t>
            </a:r>
          </a:p>
          <a:p>
            <a:r>
              <a:rPr lang="en-US" dirty="0" err="1" smtClean="0"/>
              <a:t>Glial</a:t>
            </a:r>
            <a:r>
              <a:rPr lang="en-US" dirty="0" smtClean="0"/>
              <a:t> tumors disrupt the blood-brain barrier and show a significant amount of contrast enhancement on CT and MRI.</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183</a:t>
            </a:fld>
            <a:endParaRPr lang="en-US"/>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err="1" smtClean="0"/>
              <a:t>autoregulation</a:t>
            </a:r>
            <a:r>
              <a:rPr lang="en-US" dirty="0" smtClean="0"/>
              <a:t> is usually impaired within the tumor and induced hypertension can lead to an increase in tumor blood flow, which can worsen edema and cause bleeding.</a:t>
            </a:r>
          </a:p>
          <a:p>
            <a:r>
              <a:rPr lang="en-US" dirty="0" smtClean="0"/>
              <a:t> These tumors are frequently surrounded by large areas of edema, particularly prominent around fast-growing tumors, usually responds to corticosteroids.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184</a:t>
            </a:fld>
            <a:endParaRPr lang="en-US"/>
          </a:p>
        </p:txBody>
      </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Meningiomas</a:t>
            </a:r>
            <a:r>
              <a:rPr lang="en-US" dirty="0" smtClean="0"/>
              <a:t>, which account for 15% of primary brain tumors, are slow growing and very vascular and can be difficult to dissect. </a:t>
            </a:r>
          </a:p>
          <a:p>
            <a:r>
              <a:rPr lang="en-US" dirty="0" smtClean="0"/>
              <a:t>They may require multiple attempts at resection and this may be </a:t>
            </a:r>
            <a:r>
              <a:rPr lang="en-US" dirty="0" err="1" smtClean="0"/>
              <a:t>preceeded</a:t>
            </a:r>
            <a:r>
              <a:rPr lang="en-US" dirty="0" smtClean="0"/>
              <a:t> by </a:t>
            </a:r>
            <a:r>
              <a:rPr lang="en-US" dirty="0" err="1" smtClean="0"/>
              <a:t>embolisation</a:t>
            </a:r>
            <a:r>
              <a:rPr lang="en-US" dirty="0" smtClean="0"/>
              <a:t> of the tumor.</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185</a:t>
            </a:fld>
            <a:endParaRPr lang="en-US"/>
          </a:p>
        </p:txBody>
      </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r>
              <a:rPr lang="en-US" dirty="0" smtClean="0"/>
              <a:t>Approximately 35% of </a:t>
            </a:r>
            <a:r>
              <a:rPr lang="en-US" dirty="0" err="1" smtClean="0"/>
              <a:t>supratentorial</a:t>
            </a:r>
            <a:r>
              <a:rPr lang="en-US" dirty="0" smtClean="0"/>
              <a:t> tumors are secondary </a:t>
            </a:r>
            <a:r>
              <a:rPr lang="en-US" dirty="0" err="1" smtClean="0"/>
              <a:t>neoplasms</a:t>
            </a:r>
            <a:r>
              <a:rPr lang="en-US" dirty="0" smtClean="0"/>
              <a:t> arising predominantly from the lung (50%) and breast (10%).</a:t>
            </a:r>
          </a:p>
          <a:p>
            <a:r>
              <a:rPr lang="en-US" dirty="0" smtClean="0"/>
              <a:t> The incidence of secondary tumors rises with increasing age. </a:t>
            </a:r>
          </a:p>
          <a:p>
            <a:r>
              <a:rPr lang="en-US" dirty="0" smtClean="0"/>
              <a:t>Excision of solitary lesions is justified in patients in whom the underlying disease is well controlled.</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186</a:t>
            </a:fld>
            <a:endParaRPr lang="en-US"/>
          </a:p>
        </p:txBody>
      </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1295400"/>
            <a:ext cx="7498080" cy="4953000"/>
          </a:xfrm>
        </p:spPr>
        <p:txBody>
          <a:bodyPr>
            <a:normAutofit lnSpcReduction="10000"/>
          </a:bodyPr>
          <a:lstStyle/>
          <a:p>
            <a:r>
              <a:rPr lang="en-US" dirty="0" smtClean="0"/>
              <a:t>brain abscesses, which may arise as a result of local spread from sinuses or ear infections and are especially common in </a:t>
            </a:r>
            <a:r>
              <a:rPr lang="en-US" dirty="0" err="1" smtClean="0"/>
              <a:t>immuno</a:t>
            </a:r>
            <a:r>
              <a:rPr lang="en-US" dirty="0" smtClean="0"/>
              <a:t> compromised and diabetic patients, those with right-to-left cardiac shunts, and intravenous drug abusers.</a:t>
            </a:r>
          </a:p>
          <a:p>
            <a:r>
              <a:rPr lang="en-US" dirty="0" smtClean="0"/>
              <a:t>Patients with </a:t>
            </a:r>
            <a:r>
              <a:rPr lang="en-US" dirty="0" err="1" smtClean="0"/>
              <a:t>supratentorial</a:t>
            </a:r>
            <a:r>
              <a:rPr lang="en-US" dirty="0" smtClean="0"/>
              <a:t> tumors may present for surgical diagnosis (biopsy) or for curative resection/</a:t>
            </a:r>
            <a:r>
              <a:rPr lang="en-US" dirty="0" err="1" smtClean="0"/>
              <a:t>debulking</a:t>
            </a:r>
            <a:r>
              <a:rPr lang="en-US" dirty="0" smtClean="0"/>
              <a:t> of the lesion.</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187</a:t>
            </a:fld>
            <a:endParaRPr lang="en-US"/>
          </a:p>
        </p:txBody>
      </p:sp>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Surgical Approaches</a:t>
            </a:r>
            <a:endParaRPr lang="en-US" dirty="0"/>
          </a:p>
        </p:txBody>
      </p:sp>
      <p:sp>
        <p:nvSpPr>
          <p:cNvPr id="3" name="Content Placeholder 2"/>
          <p:cNvSpPr>
            <a:spLocks noGrp="1"/>
          </p:cNvSpPr>
          <p:nvPr>
            <p:ph idx="1"/>
          </p:nvPr>
        </p:nvSpPr>
        <p:spPr>
          <a:xfrm>
            <a:off x="1435608" y="2133600"/>
            <a:ext cx="7498080" cy="3429000"/>
          </a:xfrm>
        </p:spPr>
        <p:txBody>
          <a:bodyPr>
            <a:normAutofit/>
          </a:bodyPr>
          <a:lstStyle/>
          <a:p>
            <a:r>
              <a:rPr lang="en-US" dirty="0" smtClean="0"/>
              <a:t>Biopsy of </a:t>
            </a:r>
            <a:r>
              <a:rPr lang="en-US" dirty="0" err="1" smtClean="0"/>
              <a:t>supratentorial</a:t>
            </a:r>
            <a:r>
              <a:rPr lang="en-US" dirty="0" smtClean="0"/>
              <a:t> lesions is usually undertaken via a mini-craniotomy. </a:t>
            </a:r>
          </a:p>
          <a:p>
            <a:r>
              <a:rPr lang="en-US" dirty="0" err="1" smtClean="0"/>
              <a:t>Debulking</a:t>
            </a:r>
            <a:r>
              <a:rPr lang="en-US" dirty="0" smtClean="0"/>
              <a:t> procedures are usually undertaken through  a frontal craniotomy </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188</a:t>
            </a:fld>
            <a:endParaRPr lang="en-US"/>
          </a:p>
        </p:txBody>
      </p:sp>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The former accesses the temporal and parietal lobes and necessitates that the patient’s head be turned away from the site of the lesion in the supine position. </a:t>
            </a:r>
          </a:p>
          <a:p>
            <a:r>
              <a:rPr lang="en-US" dirty="0" err="1" smtClean="0"/>
              <a:t>bifrontal</a:t>
            </a:r>
            <a:r>
              <a:rPr lang="en-US" dirty="0" smtClean="0"/>
              <a:t> craniotomy for bilateral or midline lesions.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189</a:t>
            </a:fld>
            <a:endParaRPr lang="en-US"/>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Autofit/>
          </a:bodyPr>
          <a:lstStyle/>
          <a:p>
            <a:r>
              <a:rPr lang="en-US" dirty="0" smtClean="0"/>
              <a:t>Excision of </a:t>
            </a:r>
            <a:r>
              <a:rPr lang="en-US" dirty="0" err="1" smtClean="0"/>
              <a:t>craniopharyngiomas</a:t>
            </a:r>
            <a:r>
              <a:rPr lang="en-US" dirty="0" smtClean="0"/>
              <a:t> and pituitary tumors with </a:t>
            </a:r>
            <a:r>
              <a:rPr lang="en-US" dirty="0" err="1" smtClean="0"/>
              <a:t>suprasellar</a:t>
            </a:r>
            <a:r>
              <a:rPr lang="en-US" dirty="0" smtClean="0"/>
              <a:t> extension may entail dissection in and around the hypothalamus. </a:t>
            </a:r>
          </a:p>
          <a:p>
            <a:r>
              <a:rPr lang="en-US" dirty="0" smtClean="0"/>
              <a:t>Irritation of the hypothalamus can elicit sympathetic responses, including hypertension. Damage to the hypothalamus can result in a spectrum of physiologic disturbances, notably in water balance. </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190</a:t>
            </a:fld>
            <a:endParaRPr lang="en-US"/>
          </a:p>
        </p:txBody>
      </p:sp>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Diabetes </a:t>
            </a:r>
            <a:r>
              <a:rPr lang="en-US" dirty="0" err="1" smtClean="0"/>
              <a:t>insipidus</a:t>
            </a:r>
            <a:r>
              <a:rPr lang="en-US" dirty="0" smtClean="0"/>
              <a:t> is the most likely disturbance, although cerebral salt-wasting syndrome can potentially occur. </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191</a:t>
            </a:fld>
            <a:endParaRPr lang="en-US"/>
          </a:p>
        </p:txBody>
      </p:sp>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1096962"/>
          </a:xfrm>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r>
              <a:rPr lang="en-US" dirty="0" smtClean="0"/>
              <a:t>Patients who undergo a craniotomy involving a </a:t>
            </a:r>
            <a:r>
              <a:rPr lang="en-US" dirty="0" err="1" smtClean="0"/>
              <a:t>subfrontal</a:t>
            </a:r>
            <a:r>
              <a:rPr lang="en-US" dirty="0" smtClean="0"/>
              <a:t> approach occasionally may manifest a disturbance of consciousness in the immediate postoperative period.</a:t>
            </a:r>
          </a:p>
          <a:p>
            <a:pPr>
              <a:buNone/>
            </a:pPr>
            <a:endParaRPr lang="en-US" dirty="0" smtClean="0"/>
          </a:p>
          <a:p>
            <a:r>
              <a:rPr lang="en-US" dirty="0" smtClean="0"/>
              <a:t> Retraction and irritation of the inferior surfaces of the frontal lobes can result in delayed emergence.</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192</a:t>
            </a:fld>
            <a:endParaRPr lang="en-US"/>
          </a:p>
        </p:txBody>
      </p:sp>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anesthetic implication is</a:t>
            </a:r>
            <a:endParaRPr lang="en-US" dirty="0"/>
          </a:p>
        </p:txBody>
      </p:sp>
      <p:sp>
        <p:nvSpPr>
          <p:cNvPr id="3" name="Content Placeholder 2"/>
          <p:cNvSpPr>
            <a:spLocks noGrp="1"/>
          </p:cNvSpPr>
          <p:nvPr>
            <p:ph idx="1"/>
          </p:nvPr>
        </p:nvSpPr>
        <p:spPr>
          <a:xfrm>
            <a:off x="1435608" y="1676400"/>
            <a:ext cx="7498080" cy="4572000"/>
          </a:xfrm>
        </p:spPr>
        <p:txBody>
          <a:bodyPr>
            <a:normAutofit/>
          </a:bodyPr>
          <a:lstStyle/>
          <a:p>
            <a:r>
              <a:rPr lang="en-US" dirty="0" smtClean="0"/>
              <a:t>Confirm return of consciousness before </a:t>
            </a:r>
            <a:r>
              <a:rPr lang="en-US" dirty="0" err="1" smtClean="0"/>
              <a:t>extubating</a:t>
            </a:r>
            <a:r>
              <a:rPr lang="en-US" dirty="0" smtClean="0"/>
              <a:t> the patient.</a:t>
            </a:r>
          </a:p>
          <a:p>
            <a:r>
              <a:rPr lang="en-US" dirty="0" err="1" smtClean="0"/>
              <a:t>Subfrontal</a:t>
            </a:r>
            <a:r>
              <a:rPr lang="en-US" dirty="0" smtClean="0"/>
              <a:t> approaches are most commonly employed in patients with olfactory groove </a:t>
            </a:r>
            <a:r>
              <a:rPr lang="en-US" dirty="0" err="1" smtClean="0"/>
              <a:t>meningiomas</a:t>
            </a:r>
            <a:r>
              <a:rPr lang="en-US" dirty="0" smtClean="0"/>
              <a:t> and patients with </a:t>
            </a:r>
            <a:r>
              <a:rPr lang="en-US" dirty="0" err="1" smtClean="0"/>
              <a:t>suprasellar</a:t>
            </a:r>
            <a:r>
              <a:rPr lang="en-US" dirty="0" smtClean="0"/>
              <a:t> tumors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193</a:t>
            </a:fld>
            <a:endParaRPr lang="en-US"/>
          </a:p>
        </p:txBody>
      </p:sp>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Preoperative Management</a:t>
            </a:r>
            <a:endParaRPr lang="en-US" dirty="0"/>
          </a:p>
        </p:txBody>
      </p:sp>
      <p:sp>
        <p:nvSpPr>
          <p:cNvPr id="3" name="Content Placeholder 2"/>
          <p:cNvSpPr>
            <a:spLocks noGrp="1"/>
          </p:cNvSpPr>
          <p:nvPr>
            <p:ph idx="1"/>
          </p:nvPr>
        </p:nvSpPr>
        <p:spPr/>
        <p:txBody>
          <a:bodyPr>
            <a:normAutofit/>
          </a:bodyPr>
          <a:lstStyle/>
          <a:p>
            <a:pPr>
              <a:buNone/>
            </a:pPr>
            <a:r>
              <a:rPr lang="en-US" dirty="0" smtClean="0"/>
              <a:t>Specific preoperative assessment should include an accurate evaluation of the lesion,</a:t>
            </a:r>
          </a:p>
          <a:p>
            <a:r>
              <a:rPr lang="en-US" dirty="0" smtClean="0"/>
              <a:t> lesion site and size</a:t>
            </a:r>
          </a:p>
          <a:p>
            <a:r>
              <a:rPr lang="en-US" dirty="0" smtClean="0"/>
              <a:t> positioning of the patient</a:t>
            </a:r>
          </a:p>
          <a:p>
            <a:r>
              <a:rPr lang="en-US" dirty="0" smtClean="0"/>
              <a:t> ease of surgical access</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194</a:t>
            </a:fld>
            <a:endParaRPr lang="en-US"/>
          </a:p>
        </p:txBody>
      </p:sp>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information regarding blood loss and changes in ICP; such patients are likely to have raised ICP even if it is not evident clinically or seen on CT or MRI . </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195</a:t>
            </a:fld>
            <a:endParaRPr lang="en-US"/>
          </a:p>
        </p:txBody>
      </p:sp>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Accurate clinical assessment of the patient’s neurologic state should be undertaken, including any specific focal neurologic signs and preoperative Glasgow Coma Scale (GCS) score, as well as evaluation of concurrent disease.</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196</a:t>
            </a:fld>
            <a:endParaRPr lang="en-US"/>
          </a:p>
        </p:txBody>
      </p:sp>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Premedication should be given only if the patient is particularly anxious and there is no evidence of significantly raised ICP.</a:t>
            </a:r>
          </a:p>
          <a:p>
            <a:r>
              <a:rPr lang="en-US" dirty="0" smtClean="0"/>
              <a:t>Medications such as anticonvulsants and steroids are continued in the </a:t>
            </a:r>
            <a:r>
              <a:rPr lang="en-US" dirty="0" err="1" smtClean="0"/>
              <a:t>perioperative</a:t>
            </a:r>
            <a:r>
              <a:rPr lang="en-US" dirty="0" smtClean="0"/>
              <a:t> period.</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197</a:t>
            </a:fld>
            <a:endParaRPr lang="en-US"/>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Intraoperative</a:t>
            </a:r>
            <a:r>
              <a:rPr lang="en-US" dirty="0" smtClean="0"/>
              <a:t> Management</a:t>
            </a:r>
            <a:endParaRPr lang="en-US" dirty="0"/>
          </a:p>
        </p:txBody>
      </p:sp>
      <p:sp>
        <p:nvSpPr>
          <p:cNvPr id="3" name="Content Placeholder 2"/>
          <p:cNvSpPr>
            <a:spLocks noGrp="1"/>
          </p:cNvSpPr>
          <p:nvPr>
            <p:ph idx="1"/>
          </p:nvPr>
        </p:nvSpPr>
        <p:spPr/>
        <p:txBody>
          <a:bodyPr>
            <a:normAutofit/>
          </a:bodyPr>
          <a:lstStyle/>
          <a:p>
            <a:pPr>
              <a:buNone/>
            </a:pPr>
            <a:r>
              <a:rPr lang="en-US" dirty="0" smtClean="0"/>
              <a:t>The aims of general anesthesia are</a:t>
            </a:r>
          </a:p>
          <a:p>
            <a:pPr>
              <a:buNone/>
            </a:pPr>
            <a:r>
              <a:rPr lang="en-US" dirty="0" smtClean="0"/>
              <a:t>• Smooth induction</a:t>
            </a:r>
          </a:p>
          <a:p>
            <a:pPr>
              <a:buNone/>
            </a:pPr>
            <a:r>
              <a:rPr lang="en-US" dirty="0" smtClean="0"/>
              <a:t>• Hemodynamic stability (hypotension can lead to ischemia in areas of impaired </a:t>
            </a:r>
            <a:r>
              <a:rPr lang="en-US" dirty="0" err="1" smtClean="0"/>
              <a:t>autoregulation</a:t>
            </a:r>
            <a:r>
              <a:rPr lang="en-US" dirty="0" smtClean="0"/>
              <a:t>; hypertension increases the risk for hemorrhage and </a:t>
            </a:r>
            <a:r>
              <a:rPr lang="en-US" dirty="0" err="1" smtClean="0"/>
              <a:t>vasogenic</a:t>
            </a:r>
            <a:r>
              <a:rPr lang="en-US" dirty="0" smtClean="0"/>
              <a:t> edema)</a:t>
            </a:r>
          </a:p>
        </p:txBody>
      </p:sp>
      <p:sp>
        <p:nvSpPr>
          <p:cNvPr id="4" name="Footer Placeholder 3"/>
          <p:cNvSpPr>
            <a:spLocks noGrp="1"/>
          </p:cNvSpPr>
          <p:nvPr>
            <p:ph type="ftr" sz="quarter" idx="11"/>
          </p:nvPr>
        </p:nvSpPr>
        <p:spPr/>
        <p:txBody>
          <a:bodyPr/>
          <a:lstStyle/>
          <a:p>
            <a:r>
              <a:rPr lang="en-US" dirty="0" smtClean="0"/>
              <a:t>By </a:t>
            </a:r>
            <a:r>
              <a:rPr lang="en-US" dirty="0" err="1" smtClean="0"/>
              <a:t>Siryet</a:t>
            </a:r>
            <a:r>
              <a:rPr lang="en-US" dirty="0" smtClean="0"/>
              <a:t> </a:t>
            </a:r>
            <a:r>
              <a:rPr lang="en-US" dirty="0" err="1" smtClean="0"/>
              <a:t>Tesfaye</a:t>
            </a:r>
            <a:endParaRPr lang="en-US" dirty="0"/>
          </a:p>
        </p:txBody>
      </p:sp>
      <p:sp>
        <p:nvSpPr>
          <p:cNvPr id="5" name="Slide Number Placeholder 4"/>
          <p:cNvSpPr>
            <a:spLocks noGrp="1"/>
          </p:cNvSpPr>
          <p:nvPr>
            <p:ph type="sldNum" sz="quarter" idx="12"/>
          </p:nvPr>
        </p:nvSpPr>
        <p:spPr/>
        <p:txBody>
          <a:bodyPr/>
          <a:lstStyle/>
          <a:p>
            <a:fld id="{1528205D-516C-4A2E-8491-92189BC25433}" type="slidenum">
              <a:rPr lang="en-US" smtClean="0"/>
              <a:pPr/>
              <a:t>198</a:t>
            </a:fld>
            <a:endParaRPr lang="en-US"/>
          </a:p>
        </p:txBody>
      </p:sp>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Relaxed brain </a:t>
            </a:r>
          </a:p>
          <a:p>
            <a:pPr>
              <a:buNone/>
            </a:pPr>
            <a:r>
              <a:rPr lang="en-US" dirty="0" smtClean="0"/>
              <a:t>• Rapid and smooth emergence from anesthesia to allow early neurologic assessment</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199</a:t>
            </a:fld>
            <a:endParaRPr lang="en-US"/>
          </a:p>
        </p:txBody>
      </p:sp>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Induction</a:t>
            </a:r>
            <a:endParaRPr lang="en-US" dirty="0"/>
          </a:p>
        </p:txBody>
      </p:sp>
      <p:sp>
        <p:nvSpPr>
          <p:cNvPr id="3" name="Content Placeholder 2"/>
          <p:cNvSpPr>
            <a:spLocks noGrp="1"/>
          </p:cNvSpPr>
          <p:nvPr>
            <p:ph idx="1"/>
          </p:nvPr>
        </p:nvSpPr>
        <p:spPr/>
        <p:txBody>
          <a:bodyPr>
            <a:normAutofit/>
          </a:bodyPr>
          <a:lstStyle/>
          <a:p>
            <a:r>
              <a:rPr lang="en-US" dirty="0" smtClean="0"/>
              <a:t>Induction of anesthesia should be achieved with an iv anesthetic agent of choice, usually </a:t>
            </a:r>
            <a:r>
              <a:rPr lang="en-US" dirty="0" err="1" smtClean="0"/>
              <a:t>propofol</a:t>
            </a:r>
            <a:r>
              <a:rPr lang="en-US" dirty="0" smtClean="0"/>
              <a:t> or thiopental, combined with an opiate and a </a:t>
            </a:r>
            <a:r>
              <a:rPr lang="en-US" dirty="0" err="1" smtClean="0"/>
              <a:t>nondepolarizing</a:t>
            </a:r>
            <a:r>
              <a:rPr lang="en-US" dirty="0" smtClean="0"/>
              <a:t>  muscle relaxant.</a:t>
            </a:r>
          </a:p>
          <a:p>
            <a:r>
              <a:rPr lang="en-US" dirty="0" smtClean="0"/>
              <a:t> </a:t>
            </a:r>
            <a:r>
              <a:rPr lang="en-US" dirty="0" err="1" smtClean="0"/>
              <a:t>Normotension</a:t>
            </a:r>
            <a:r>
              <a:rPr lang="en-US" dirty="0" smtClean="0"/>
              <a:t> should be maintained by anticipating hemodynamic responses. </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200</a:t>
            </a:fld>
            <a:endParaRPr lang="en-US"/>
          </a:p>
        </p:txBody>
      </p:sp>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err="1" smtClean="0"/>
              <a:t>obtunde</a:t>
            </a:r>
            <a:r>
              <a:rPr lang="en-US" dirty="0" smtClean="0"/>
              <a:t> </a:t>
            </a:r>
            <a:r>
              <a:rPr lang="en-US" dirty="0" err="1" smtClean="0"/>
              <a:t>laryngoscopy</a:t>
            </a:r>
            <a:r>
              <a:rPr lang="en-US" dirty="0" smtClean="0"/>
              <a:t> response</a:t>
            </a:r>
          </a:p>
          <a:p>
            <a:r>
              <a:rPr lang="en-US" dirty="0" smtClean="0"/>
              <a:t>After induction of anesthesia, standard routine monitoring should be instituted</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201</a:t>
            </a:fld>
            <a:endParaRPr lang="en-US"/>
          </a:p>
        </p:txBody>
      </p:sp>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Once all monitoring is established, skull pins are generally applied. This is a potent stimulus and the hypertensive response can be obtunded in a fashion similar to the response to </a:t>
            </a:r>
            <a:r>
              <a:rPr lang="en-US" dirty="0" err="1" smtClean="0"/>
              <a:t>laryngoscopy</a:t>
            </a:r>
            <a:r>
              <a:rPr lang="en-US" dirty="0" smtClean="0"/>
              <a:t>. </a:t>
            </a:r>
          </a:p>
          <a:p>
            <a:r>
              <a:rPr lang="en-US" dirty="0" smtClean="0"/>
              <a:t>Scalp infiltration with local anesthetic at the pin site is also effective.</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202</a:t>
            </a:fld>
            <a:endParaRPr lang="en-US"/>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Positioning the Patient</a:t>
            </a:r>
            <a:endParaRPr lang="en-US" dirty="0"/>
          </a:p>
        </p:txBody>
      </p:sp>
      <p:sp>
        <p:nvSpPr>
          <p:cNvPr id="3" name="Content Placeholder 2"/>
          <p:cNvSpPr>
            <a:spLocks noGrp="1"/>
          </p:cNvSpPr>
          <p:nvPr>
            <p:ph idx="1"/>
          </p:nvPr>
        </p:nvSpPr>
        <p:spPr>
          <a:xfrm>
            <a:off x="1435608" y="1676400"/>
            <a:ext cx="7498080" cy="3886200"/>
          </a:xfrm>
        </p:spPr>
        <p:txBody>
          <a:bodyPr>
            <a:normAutofit/>
          </a:bodyPr>
          <a:lstStyle/>
          <a:p>
            <a:r>
              <a:rPr lang="en-US" dirty="0" smtClean="0"/>
              <a:t>A neutral head position, elevated to 15 to 30 degrees</a:t>
            </a:r>
          </a:p>
          <a:p>
            <a:r>
              <a:rPr lang="en-US" dirty="0" smtClean="0"/>
              <a:t>Avoid Flexing or turning of the head</a:t>
            </a:r>
          </a:p>
          <a:p>
            <a:r>
              <a:rPr lang="en-US" dirty="0" smtClean="0"/>
              <a:t>PEEP levels of 10 cm H2O or less have been used</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203</a:t>
            </a:fld>
            <a:endParaRPr lang="en-US"/>
          </a:p>
        </p:txBody>
      </p:sp>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Maintenance of Anesthesia</a:t>
            </a:r>
            <a:endParaRPr lang="en-US" dirty="0"/>
          </a:p>
        </p:txBody>
      </p:sp>
      <p:sp>
        <p:nvSpPr>
          <p:cNvPr id="3" name="Content Placeholder 2"/>
          <p:cNvSpPr>
            <a:spLocks noGrp="1"/>
          </p:cNvSpPr>
          <p:nvPr>
            <p:ph idx="1"/>
          </p:nvPr>
        </p:nvSpPr>
        <p:spPr/>
        <p:txBody>
          <a:bodyPr>
            <a:normAutofit/>
          </a:bodyPr>
          <a:lstStyle/>
          <a:p>
            <a:r>
              <a:rPr lang="en-US" dirty="0" smtClean="0"/>
              <a:t>The choice of anesthetic agents is largely at the discretion of the anesthetist</a:t>
            </a:r>
          </a:p>
          <a:p>
            <a:r>
              <a:rPr lang="en-US" dirty="0" smtClean="0"/>
              <a:t>Either a total iv technique with </a:t>
            </a:r>
            <a:r>
              <a:rPr lang="en-US" dirty="0" err="1" smtClean="0"/>
              <a:t>propofol</a:t>
            </a:r>
            <a:r>
              <a:rPr lang="en-US" dirty="0" smtClean="0"/>
              <a:t> or an inhalational agent in combination with a short-acting </a:t>
            </a:r>
            <a:r>
              <a:rPr lang="en-US" dirty="0" err="1" smtClean="0"/>
              <a:t>opioid</a:t>
            </a:r>
            <a:r>
              <a:rPr lang="en-US" dirty="0" smtClean="0"/>
              <a:t> and muscle relaxant may be used. </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204</a:t>
            </a:fld>
            <a:endParaRPr lang="en-US"/>
          </a:p>
        </p:txBody>
      </p:sp>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r>
              <a:rPr lang="en-US" dirty="0" smtClean="0"/>
              <a:t>The technique used should not increase ICP or decrease CPP and should allow rapid emergence at the end of surgery.</a:t>
            </a:r>
          </a:p>
          <a:p>
            <a:r>
              <a:rPr lang="en-US" dirty="0" smtClean="0"/>
              <a:t>The patient’s ventilation should be controlled to maintain </a:t>
            </a:r>
            <a:r>
              <a:rPr lang="en-US" dirty="0" err="1" smtClean="0"/>
              <a:t>normocapnia</a:t>
            </a:r>
            <a:r>
              <a:rPr lang="en-US" dirty="0" smtClean="0"/>
              <a:t>, and body temperature should be maintained at </a:t>
            </a:r>
            <a:r>
              <a:rPr lang="en-US" dirty="0" err="1" smtClean="0"/>
              <a:t>normothermia</a:t>
            </a:r>
            <a:endParaRPr lang="en-US" dirty="0"/>
          </a:p>
        </p:txBody>
      </p:sp>
      <p:sp>
        <p:nvSpPr>
          <p:cNvPr id="4" name="Footer Placeholder 3"/>
          <p:cNvSpPr>
            <a:spLocks noGrp="1"/>
          </p:cNvSpPr>
          <p:nvPr>
            <p:ph type="ftr" sz="quarter" idx="11"/>
          </p:nvPr>
        </p:nvSpPr>
        <p:spPr/>
        <p:txBody>
          <a:bodyPr/>
          <a:lstStyle/>
          <a:p>
            <a:r>
              <a:rPr lang="en-US" dirty="0" smtClean="0"/>
              <a:t>By </a:t>
            </a:r>
            <a:r>
              <a:rPr lang="en-US" dirty="0" err="1" smtClean="0"/>
              <a:t>Siryet</a:t>
            </a:r>
            <a:r>
              <a:rPr lang="en-US" dirty="0" smtClean="0"/>
              <a:t> </a:t>
            </a:r>
            <a:r>
              <a:rPr lang="en-US" dirty="0" err="1" smtClean="0"/>
              <a:t>Tesfaye</a:t>
            </a:r>
            <a:endParaRPr lang="en-US" dirty="0"/>
          </a:p>
        </p:txBody>
      </p:sp>
      <p:sp>
        <p:nvSpPr>
          <p:cNvPr id="5" name="Slide Number Placeholder 4"/>
          <p:cNvSpPr>
            <a:spLocks noGrp="1"/>
          </p:cNvSpPr>
          <p:nvPr>
            <p:ph type="sldNum" sz="quarter" idx="12"/>
          </p:nvPr>
        </p:nvSpPr>
        <p:spPr/>
        <p:txBody>
          <a:bodyPr/>
          <a:lstStyle/>
          <a:p>
            <a:fld id="{1528205D-516C-4A2E-8491-92189BC25433}" type="slidenum">
              <a:rPr lang="en-US" smtClean="0"/>
              <a:pPr/>
              <a:t>205</a:t>
            </a:fld>
            <a:endParaRPr lang="en-US"/>
          </a:p>
        </p:txBody>
      </p:sp>
    </p:spTree>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1554162"/>
          </a:xfrm>
        </p:spPr>
        <p:txBody>
          <a:bodyPr>
            <a:normAutofit fontScale="90000"/>
          </a:bodyPr>
          <a:lstStyle/>
          <a:p>
            <a:r>
              <a:rPr lang="en-US" b="1" dirty="0" smtClean="0"/>
              <a:t>High Intracranial Pressure/“Tight Brain” Checklist</a:t>
            </a:r>
            <a:endParaRPr lang="en-US" dirty="0"/>
          </a:p>
        </p:txBody>
      </p:sp>
      <p:sp>
        <p:nvSpPr>
          <p:cNvPr id="3" name="Content Placeholder 2"/>
          <p:cNvSpPr>
            <a:spLocks noGrp="1"/>
          </p:cNvSpPr>
          <p:nvPr>
            <p:ph idx="1"/>
          </p:nvPr>
        </p:nvSpPr>
        <p:spPr>
          <a:xfrm>
            <a:off x="1435608" y="2057400"/>
            <a:ext cx="7498080" cy="4191000"/>
          </a:xfrm>
        </p:spPr>
        <p:txBody>
          <a:bodyPr>
            <a:normAutofit/>
          </a:bodyPr>
          <a:lstStyle/>
          <a:p>
            <a:pPr>
              <a:buNone/>
            </a:pPr>
            <a:r>
              <a:rPr lang="en-US" dirty="0" smtClean="0"/>
              <a:t>1.    Are the relevant pressures controlled? </a:t>
            </a:r>
          </a:p>
          <a:p>
            <a:pPr>
              <a:buNone/>
            </a:pPr>
            <a:r>
              <a:rPr lang="en-US" dirty="0" smtClean="0"/>
              <a:t>   Jugular venous pressure   </a:t>
            </a:r>
          </a:p>
          <a:p>
            <a:pPr>
              <a:buNone/>
            </a:pPr>
            <a:r>
              <a:rPr lang="en-US" dirty="0" smtClean="0"/>
              <a:t>            Extreme head rotation or neck flexion?  </a:t>
            </a:r>
          </a:p>
          <a:p>
            <a:pPr>
              <a:buNone/>
            </a:pPr>
            <a:r>
              <a:rPr lang="en-US" dirty="0" smtClean="0"/>
              <a:t>            Direct jugular compression?   </a:t>
            </a:r>
          </a:p>
          <a:p>
            <a:pPr>
              <a:buNone/>
            </a:pPr>
            <a:r>
              <a:rPr lang="en-US" dirty="0" smtClean="0"/>
              <a:t>            Head-up posture?    </a:t>
            </a:r>
          </a:p>
          <a:p>
            <a:pPr>
              <a:buNone/>
            </a:pPr>
            <a:endParaRPr lang="en-US" dirty="0" smtClean="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206</a:t>
            </a:fld>
            <a:endParaRPr lang="en-US"/>
          </a:p>
        </p:txBody>
      </p:sp>
    </p:spTree>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pPr>
              <a:buNone/>
            </a:pPr>
            <a:r>
              <a:rPr lang="en-US" dirty="0" smtClean="0"/>
              <a:t> Airway pressure   </a:t>
            </a:r>
          </a:p>
          <a:p>
            <a:pPr>
              <a:buNone/>
            </a:pPr>
            <a:r>
              <a:rPr lang="en-US" dirty="0" smtClean="0"/>
              <a:t>           Airway obstruction?   </a:t>
            </a:r>
          </a:p>
          <a:p>
            <a:pPr>
              <a:buNone/>
            </a:pPr>
            <a:r>
              <a:rPr lang="en-US" dirty="0" smtClean="0"/>
              <a:t>            </a:t>
            </a:r>
            <a:r>
              <a:rPr lang="en-US" dirty="0" err="1" smtClean="0"/>
              <a:t>Bronchospasm</a:t>
            </a:r>
            <a:r>
              <a:rPr lang="en-US" dirty="0" smtClean="0"/>
              <a:t>?   </a:t>
            </a:r>
          </a:p>
          <a:p>
            <a:pPr>
              <a:buNone/>
            </a:pPr>
            <a:r>
              <a:rPr lang="en-US" dirty="0" smtClean="0"/>
              <a:t>            Straining, coughing, adequately relaxed?  </a:t>
            </a:r>
          </a:p>
          <a:p>
            <a:pPr>
              <a:buNone/>
            </a:pPr>
            <a:r>
              <a:rPr lang="en-US" dirty="0" smtClean="0"/>
              <a:t>            </a:t>
            </a:r>
            <a:r>
              <a:rPr lang="en-US" dirty="0" err="1" smtClean="0"/>
              <a:t>Pneumothorax</a:t>
            </a:r>
            <a:r>
              <a:rPr lang="en-US" dirty="0" smtClean="0"/>
              <a:t>?   </a:t>
            </a:r>
          </a:p>
          <a:p>
            <a:pPr>
              <a:buNone/>
            </a:pPr>
            <a:r>
              <a:rPr lang="en-US" dirty="0" smtClean="0"/>
              <a:t>     Pa</a:t>
            </a:r>
            <a:r>
              <a:rPr lang="en-US" cap="small" dirty="0" smtClean="0"/>
              <a:t>co</a:t>
            </a:r>
            <a:r>
              <a:rPr lang="en-US" baseline="-25000" dirty="0" smtClean="0"/>
              <a:t>2</a:t>
            </a:r>
            <a:r>
              <a:rPr lang="en-US" dirty="0" smtClean="0"/>
              <a:t> and Pa</a:t>
            </a:r>
            <a:r>
              <a:rPr lang="en-US" cap="small" dirty="0" smtClean="0"/>
              <a:t>o</a:t>
            </a:r>
            <a:r>
              <a:rPr lang="en-US" baseline="-25000" dirty="0" smtClean="0"/>
              <a:t>2</a:t>
            </a:r>
            <a:r>
              <a:rPr lang="en-US" dirty="0" smtClean="0"/>
              <a:t>    </a:t>
            </a:r>
          </a:p>
          <a:p>
            <a:pPr>
              <a:buNone/>
            </a:pPr>
            <a:r>
              <a:rPr lang="en-US" dirty="0" smtClean="0"/>
              <a:t>     Arterial pressure    </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207</a:t>
            </a:fld>
            <a:endParaRPr lang="en-US"/>
          </a:p>
        </p:txBody>
      </p:sp>
    </p:spTree>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r>
              <a:rPr lang="en-US" dirty="0" smtClean="0"/>
              <a:t>2.    Is metabolic rate controlled?   </a:t>
            </a:r>
          </a:p>
          <a:p>
            <a:pPr>
              <a:buNone/>
            </a:pPr>
            <a:r>
              <a:rPr lang="en-US" dirty="0" smtClean="0"/>
              <a:t>          Pain/arousal?    </a:t>
            </a:r>
          </a:p>
          <a:p>
            <a:pPr>
              <a:buNone/>
            </a:pPr>
            <a:r>
              <a:rPr lang="en-US" dirty="0" smtClean="0"/>
              <a:t>          Seizures?   </a:t>
            </a:r>
          </a:p>
          <a:p>
            <a:pPr>
              <a:buNone/>
            </a:pPr>
            <a:r>
              <a:rPr lang="en-US" dirty="0" smtClean="0"/>
              <a:t> 3.    Are any potential vasodilators in use?   </a:t>
            </a:r>
          </a:p>
          <a:p>
            <a:pPr>
              <a:buNone/>
            </a:pPr>
            <a:r>
              <a:rPr lang="en-US" dirty="0" smtClean="0"/>
              <a:t>        N</a:t>
            </a:r>
            <a:r>
              <a:rPr lang="en-US" baseline="-25000" dirty="0" smtClean="0"/>
              <a:t>2</a:t>
            </a:r>
            <a:r>
              <a:rPr lang="en-US" dirty="0" smtClean="0"/>
              <a:t>O, volatile agents, </a:t>
            </a:r>
            <a:r>
              <a:rPr lang="en-US" dirty="0" err="1" smtClean="0"/>
              <a:t>nitroprusside</a:t>
            </a:r>
            <a:r>
              <a:rPr lang="en-US" dirty="0" smtClean="0"/>
              <a:t>, calcium      channel blockers    </a:t>
            </a:r>
          </a:p>
          <a:p>
            <a:pPr>
              <a:buNone/>
            </a:pPr>
            <a:r>
              <a:rPr lang="en-US" dirty="0" smtClean="0"/>
              <a:t> 4.    Are there any unrecognized mass lesions?   </a:t>
            </a:r>
          </a:p>
          <a:p>
            <a:pPr>
              <a:buNone/>
            </a:pPr>
            <a:r>
              <a:rPr lang="en-US" dirty="0" smtClean="0"/>
              <a:t> Blood, air with or without N</a:t>
            </a:r>
            <a:r>
              <a:rPr lang="en-US" baseline="-25000" dirty="0" smtClean="0"/>
              <a:t>2</a:t>
            </a:r>
            <a:r>
              <a:rPr lang="en-US" dirty="0" smtClean="0"/>
              <a:t>O</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208</a:t>
            </a:fld>
            <a:endParaRPr lang="en-US"/>
          </a:p>
        </p:txBody>
      </p:sp>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Fluid Management</a:t>
            </a:r>
            <a:endParaRPr lang="en-US" dirty="0"/>
          </a:p>
        </p:txBody>
      </p:sp>
      <p:sp>
        <p:nvSpPr>
          <p:cNvPr id="3" name="Content Placeholder 2"/>
          <p:cNvSpPr>
            <a:spLocks noGrp="1"/>
          </p:cNvSpPr>
          <p:nvPr>
            <p:ph idx="1"/>
          </p:nvPr>
        </p:nvSpPr>
        <p:spPr/>
        <p:txBody>
          <a:bodyPr>
            <a:normAutofit/>
          </a:bodyPr>
          <a:lstStyle/>
          <a:p>
            <a:r>
              <a:rPr lang="en-US" dirty="0" smtClean="0"/>
              <a:t>Maintenance and resuscitation fluids in routine neurosurgical patients are provided with glucose-free </a:t>
            </a:r>
            <a:r>
              <a:rPr lang="en-US" dirty="0" err="1" smtClean="0"/>
              <a:t>iso-osmolar</a:t>
            </a:r>
            <a:r>
              <a:rPr lang="en-US" dirty="0" smtClean="0"/>
              <a:t> crystalloid and colloid solutions </a:t>
            </a:r>
          </a:p>
          <a:p>
            <a:r>
              <a:rPr lang="en-US" dirty="0" smtClean="0"/>
              <a:t>Avoid Glucose-containing solutions</a:t>
            </a:r>
          </a:p>
          <a:p>
            <a:r>
              <a:rPr lang="en-US" dirty="0" smtClean="0"/>
              <a:t>Avoid hypotonic solutions</a:t>
            </a:r>
            <a:endParaRPr lang="en-US" dirty="0"/>
          </a:p>
        </p:txBody>
      </p:sp>
      <p:sp>
        <p:nvSpPr>
          <p:cNvPr id="4" name="Footer Placeholder 3"/>
          <p:cNvSpPr>
            <a:spLocks noGrp="1"/>
          </p:cNvSpPr>
          <p:nvPr>
            <p:ph type="ftr" sz="quarter" idx="11"/>
          </p:nvPr>
        </p:nvSpPr>
        <p:spPr/>
        <p:txBody>
          <a:bodyPr/>
          <a:lstStyle/>
          <a:p>
            <a:r>
              <a:rPr lang="en-US" dirty="0" smtClean="0"/>
              <a:t>By </a:t>
            </a:r>
            <a:r>
              <a:rPr lang="en-US" dirty="0" err="1" smtClean="0"/>
              <a:t>Siryet</a:t>
            </a:r>
            <a:r>
              <a:rPr lang="en-US" dirty="0" smtClean="0"/>
              <a:t> </a:t>
            </a:r>
            <a:r>
              <a:rPr lang="en-US" dirty="0" err="1" smtClean="0"/>
              <a:t>Tesfaye</a:t>
            </a:r>
            <a:endParaRPr lang="en-US" dirty="0"/>
          </a:p>
        </p:txBody>
      </p:sp>
      <p:sp>
        <p:nvSpPr>
          <p:cNvPr id="5" name="Slide Number Placeholder 4"/>
          <p:cNvSpPr>
            <a:spLocks noGrp="1"/>
          </p:cNvSpPr>
          <p:nvPr>
            <p:ph type="sldNum" sz="quarter" idx="12"/>
          </p:nvPr>
        </p:nvSpPr>
        <p:spPr/>
        <p:txBody>
          <a:bodyPr/>
          <a:lstStyle/>
          <a:p>
            <a:fld id="{1528205D-516C-4A2E-8491-92189BC25433}" type="slidenum">
              <a:rPr lang="en-US" smtClean="0"/>
              <a:pPr/>
              <a:t>209</a:t>
            </a:fld>
            <a:endParaRPr lang="en-US"/>
          </a:p>
        </p:txBody>
      </p:sp>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Intraoperative</a:t>
            </a:r>
            <a:r>
              <a:rPr lang="en-US" b="1" dirty="0" smtClean="0"/>
              <a:t> Complications</a:t>
            </a:r>
            <a:br>
              <a:rPr lang="en-US" b="1" dirty="0" smtClean="0"/>
            </a:br>
            <a:endParaRPr lang="en-US" dirty="0"/>
          </a:p>
        </p:txBody>
      </p:sp>
      <p:sp>
        <p:nvSpPr>
          <p:cNvPr id="3" name="Content Placeholder 2"/>
          <p:cNvSpPr>
            <a:spLocks noGrp="1"/>
          </p:cNvSpPr>
          <p:nvPr>
            <p:ph idx="1"/>
          </p:nvPr>
        </p:nvSpPr>
        <p:spPr/>
        <p:txBody>
          <a:bodyPr/>
          <a:lstStyle/>
          <a:p>
            <a:pPr>
              <a:buNone/>
            </a:pPr>
            <a:r>
              <a:rPr lang="en-US" dirty="0" smtClean="0"/>
              <a:t>Severe complications include </a:t>
            </a:r>
          </a:p>
          <a:p>
            <a:r>
              <a:rPr lang="en-US" dirty="0" smtClean="0"/>
              <a:t>hemorrhage, </a:t>
            </a:r>
          </a:p>
          <a:p>
            <a:r>
              <a:rPr lang="en-US" dirty="0" err="1" smtClean="0"/>
              <a:t>intraoperative</a:t>
            </a:r>
            <a:r>
              <a:rPr lang="en-US" dirty="0" smtClean="0"/>
              <a:t> cerebral edema, and</a:t>
            </a:r>
          </a:p>
          <a:p>
            <a:r>
              <a:rPr lang="en-US" dirty="0" smtClean="0"/>
              <a:t> air embolism. </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210</a:t>
            </a:fld>
            <a:endParaRPr lang="en-US"/>
          </a:p>
        </p:txBody>
      </p:sp>
    </p:spTree>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Management of </a:t>
            </a:r>
            <a:r>
              <a:rPr lang="en-US" b="1" dirty="0" err="1" smtClean="0"/>
              <a:t>Intraoperative</a:t>
            </a:r>
            <a:r>
              <a:rPr lang="en-US" b="1" dirty="0" smtClean="0"/>
              <a:t> Cerebral Edema</a:t>
            </a:r>
            <a:endParaRPr lang="en-US" dirty="0"/>
          </a:p>
        </p:txBody>
      </p:sp>
      <p:sp>
        <p:nvSpPr>
          <p:cNvPr id="3" name="Content Placeholder 2"/>
          <p:cNvSpPr>
            <a:spLocks noGrp="1"/>
          </p:cNvSpPr>
          <p:nvPr>
            <p:ph idx="1"/>
          </p:nvPr>
        </p:nvSpPr>
        <p:spPr/>
        <p:txBody>
          <a:bodyPr>
            <a:normAutofit/>
          </a:bodyPr>
          <a:lstStyle/>
          <a:p>
            <a:r>
              <a:rPr lang="en-US" dirty="0" smtClean="0"/>
              <a:t>Optimize oxygenation</a:t>
            </a:r>
          </a:p>
          <a:p>
            <a:r>
              <a:rPr lang="en-US" dirty="0" smtClean="0"/>
              <a:t>Maximize venous drainage</a:t>
            </a:r>
          </a:p>
          <a:p>
            <a:r>
              <a:rPr lang="en-US" dirty="0" smtClean="0"/>
              <a:t>Reduce oxygen metabolism: deepen anesthesia, bolus intravenous anesthetic agents, or </a:t>
            </a:r>
            <a:r>
              <a:rPr lang="en-US" dirty="0" err="1" smtClean="0"/>
              <a:t>lidocaine</a:t>
            </a:r>
            <a:endParaRPr lang="en-US" dirty="0" smtClean="0"/>
          </a:p>
          <a:p>
            <a:r>
              <a:rPr lang="en-US" dirty="0" smtClean="0"/>
              <a:t>Reduction in brain extracellular fluid volume with </a:t>
            </a:r>
            <a:r>
              <a:rPr lang="en-US" dirty="0" err="1" smtClean="0"/>
              <a:t>mannitol</a:t>
            </a:r>
            <a:r>
              <a:rPr lang="en-US" dirty="0" smtClean="0"/>
              <a:t> or hypertonic saline;</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211</a:t>
            </a:fld>
            <a:endParaRPr lang="en-US"/>
          </a:p>
        </p:txBody>
      </p:sp>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err="1" smtClean="0"/>
              <a:t>furosemide</a:t>
            </a:r>
            <a:r>
              <a:rPr lang="en-US" dirty="0" smtClean="0"/>
              <a:t> may be used as an adjunct</a:t>
            </a:r>
          </a:p>
          <a:p>
            <a:r>
              <a:rPr lang="en-US" dirty="0" smtClean="0"/>
              <a:t>Cerebrospinal fluid drainage</a:t>
            </a:r>
          </a:p>
          <a:p>
            <a:r>
              <a:rPr lang="en-US" dirty="0" smtClean="0"/>
              <a:t>Consider </a:t>
            </a:r>
            <a:r>
              <a:rPr lang="en-US" dirty="0" err="1" smtClean="0"/>
              <a:t>hypocapnia</a:t>
            </a:r>
            <a:endParaRPr lang="en-US" dirty="0" smtClean="0"/>
          </a:p>
          <a:p>
            <a:r>
              <a:rPr lang="en-US" dirty="0" smtClean="0"/>
              <a:t>Consider hypothermia (not proven)</a:t>
            </a:r>
          </a:p>
          <a:p>
            <a:r>
              <a:rPr lang="en-US" dirty="0" smtClean="0"/>
              <a:t>Consider anticonvulsants</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212</a:t>
            </a:fld>
            <a:endParaRPr lang="en-US"/>
          </a:p>
        </p:txBody>
      </p:sp>
    </p:spTree>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Emergence</a:t>
            </a:r>
            <a:endParaRPr lang="en-US" dirty="0"/>
          </a:p>
        </p:txBody>
      </p:sp>
      <p:sp>
        <p:nvSpPr>
          <p:cNvPr id="3" name="Content Placeholder 2"/>
          <p:cNvSpPr>
            <a:spLocks noGrp="1"/>
          </p:cNvSpPr>
          <p:nvPr>
            <p:ph idx="1"/>
          </p:nvPr>
        </p:nvSpPr>
        <p:spPr/>
        <p:txBody>
          <a:bodyPr>
            <a:normAutofit fontScale="92500"/>
          </a:bodyPr>
          <a:lstStyle/>
          <a:p>
            <a:r>
              <a:rPr lang="en-US" dirty="0" smtClean="0"/>
              <a:t>After the head dressing is applied and full access to the patient is regained (the table is turned back to its original position as at induction), anesthetic gases are completely discontinued, and the NMBA is reversed. </a:t>
            </a:r>
          </a:p>
          <a:p>
            <a:r>
              <a:rPr lang="en-US" dirty="0" smtClean="0"/>
              <a:t>intravenous </a:t>
            </a:r>
            <a:r>
              <a:rPr lang="en-US" dirty="0" err="1" smtClean="0"/>
              <a:t>lidocaine</a:t>
            </a:r>
            <a:r>
              <a:rPr lang="en-US" dirty="0" smtClean="0"/>
              <a:t>, 1.5 mg/kg, or a small dose of </a:t>
            </a:r>
            <a:r>
              <a:rPr lang="en-US" dirty="0" err="1" smtClean="0"/>
              <a:t>propofol</a:t>
            </a:r>
            <a:r>
              <a:rPr lang="en-US" dirty="0" smtClean="0"/>
              <a:t> (20–30 mg) or thiopental (25–50 mg), just before suctioning to try to suppress coughing prior to </a:t>
            </a:r>
            <a:r>
              <a:rPr lang="en-US" dirty="0" err="1" smtClean="0"/>
              <a:t>extubation</a:t>
            </a:r>
            <a:r>
              <a:rPr lang="en-US" dirty="0" smtClean="0"/>
              <a:t>. </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213</a:t>
            </a:fld>
            <a:endParaRPr lang="en-US"/>
          </a:p>
        </p:txBody>
      </p:sp>
    </p:spTree>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Rapid awakening facilitates immediate neurological assessment and can generally be expected following a careful anesthetic management. </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214</a:t>
            </a:fld>
            <a:endParaRPr lang="en-US"/>
          </a:p>
        </p:txBody>
      </p:sp>
    </p:spTree>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457200"/>
            <a:ext cx="7498080" cy="5791200"/>
          </a:xfrm>
        </p:spPr>
        <p:txBody>
          <a:bodyPr>
            <a:normAutofit/>
          </a:bodyPr>
          <a:lstStyle/>
          <a:p>
            <a:r>
              <a:rPr lang="en-US" dirty="0" smtClean="0"/>
              <a:t>Delayed awakening may be seen following </a:t>
            </a:r>
            <a:r>
              <a:rPr lang="en-US" dirty="0" err="1" smtClean="0"/>
              <a:t>opioid</a:t>
            </a:r>
            <a:r>
              <a:rPr lang="en-US" dirty="0" smtClean="0"/>
              <a:t> overdose or prolonged administration of the volatile agent. </a:t>
            </a:r>
          </a:p>
          <a:p>
            <a:r>
              <a:rPr lang="en-US" dirty="0" err="1" smtClean="0"/>
              <a:t>Opioid</a:t>
            </a:r>
            <a:r>
              <a:rPr lang="en-US" dirty="0" smtClean="0"/>
              <a:t> overdosing is manifested by small pupils and slow respirations (&lt; 12/min). In this circumstance, </a:t>
            </a:r>
            <a:r>
              <a:rPr lang="en-US" dirty="0" err="1" smtClean="0"/>
              <a:t>naloxone</a:t>
            </a:r>
            <a:r>
              <a:rPr lang="en-US" dirty="0" smtClean="0"/>
              <a:t> can be given. </a:t>
            </a:r>
          </a:p>
          <a:p>
            <a:r>
              <a:rPr lang="en-US" dirty="0" smtClean="0"/>
              <a:t>Most patients are taken to the intensive care unit postoperatively</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215</a:t>
            </a:fld>
            <a:endParaRPr lang="en-US"/>
          </a:p>
        </p:txBody>
      </p:sp>
    </p:spTree>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Postoperative Management</a:t>
            </a:r>
            <a:endParaRPr lang="en-US" dirty="0"/>
          </a:p>
        </p:txBody>
      </p:sp>
      <p:sp>
        <p:nvSpPr>
          <p:cNvPr id="3" name="Content Placeholder 2"/>
          <p:cNvSpPr>
            <a:spLocks noGrp="1"/>
          </p:cNvSpPr>
          <p:nvPr>
            <p:ph idx="1"/>
          </p:nvPr>
        </p:nvSpPr>
        <p:spPr/>
        <p:txBody>
          <a:bodyPr>
            <a:normAutofit lnSpcReduction="10000"/>
          </a:bodyPr>
          <a:lstStyle/>
          <a:p>
            <a:r>
              <a:rPr lang="en-US" dirty="0" smtClean="0"/>
              <a:t>Patients whose preoperative level of consciousness was depressed should be managed in a critical care setting. </a:t>
            </a:r>
          </a:p>
          <a:p>
            <a:r>
              <a:rPr lang="en-US" dirty="0" smtClean="0"/>
              <a:t>Patients with a preoperative GCS score of 13 to 15 are usually </a:t>
            </a:r>
            <a:r>
              <a:rPr lang="en-US" dirty="0" err="1" smtClean="0"/>
              <a:t>extubated</a:t>
            </a:r>
            <a:r>
              <a:rPr lang="en-US" dirty="0" smtClean="0"/>
              <a:t> once they open their eyes to command and have a gag reflex. </a:t>
            </a:r>
          </a:p>
          <a:p>
            <a:r>
              <a:rPr lang="en-US" dirty="0" smtClean="0"/>
              <a:t>The overall aim is to achieve smooth emergence with minimal coughing or straining, which may increase ICP.</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216</a:t>
            </a:fld>
            <a:endParaRPr lang="en-US"/>
          </a:p>
        </p:txBody>
      </p:sp>
    </p:spTree>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lnSpcReduction="10000"/>
          </a:bodyPr>
          <a:lstStyle/>
          <a:p>
            <a:r>
              <a:rPr lang="en-US" dirty="0" smtClean="0"/>
              <a:t>POP Hypertension </a:t>
            </a:r>
          </a:p>
          <a:p>
            <a:pPr>
              <a:buNone/>
            </a:pPr>
            <a:r>
              <a:rPr lang="en-US" dirty="0" smtClean="0"/>
              <a:t>        adequate analgesia</a:t>
            </a:r>
          </a:p>
          <a:p>
            <a:pPr>
              <a:buNone/>
            </a:pPr>
            <a:r>
              <a:rPr lang="en-US" dirty="0" smtClean="0"/>
              <a:t>           Morphine</a:t>
            </a:r>
          </a:p>
          <a:p>
            <a:pPr>
              <a:buNone/>
            </a:pPr>
            <a:r>
              <a:rPr lang="en-US" dirty="0" smtClean="0"/>
              <a:t>           </a:t>
            </a:r>
            <a:r>
              <a:rPr lang="en-US" dirty="0" err="1" smtClean="0"/>
              <a:t>Paracetamol</a:t>
            </a:r>
            <a:r>
              <a:rPr lang="en-US" dirty="0" smtClean="0"/>
              <a:t> or acetaminophen is often used as an adjunct </a:t>
            </a:r>
          </a:p>
          <a:p>
            <a:r>
              <a:rPr lang="en-US" dirty="0" smtClean="0"/>
              <a:t>       Short-acting β-blocker such as </a:t>
            </a:r>
            <a:r>
              <a:rPr lang="en-US" dirty="0" err="1" smtClean="0"/>
              <a:t>esmolol</a:t>
            </a:r>
            <a:r>
              <a:rPr lang="en-US" dirty="0" smtClean="0"/>
              <a:t> or </a:t>
            </a:r>
            <a:r>
              <a:rPr lang="en-US" dirty="0" err="1" smtClean="0"/>
              <a:t>labetalol</a:t>
            </a:r>
            <a:r>
              <a:rPr lang="en-US" dirty="0" smtClean="0"/>
              <a:t>. </a:t>
            </a:r>
          </a:p>
          <a:p>
            <a:r>
              <a:rPr lang="en-US" dirty="0" smtClean="0"/>
              <a:t>Direct-acting vasodilators should be avoided because they may increase ICP.</a:t>
            </a:r>
          </a:p>
          <a:p>
            <a:endParaRPr lang="en-US" dirty="0" smtClean="0"/>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217</a:t>
            </a:fld>
            <a:endParaRPr lang="en-US"/>
          </a:p>
        </p:txBody>
      </p:sp>
    </p:spTree>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2286000"/>
          </a:xfrm>
        </p:spPr>
        <p:txBody>
          <a:bodyPr>
            <a:normAutofit/>
          </a:bodyPr>
          <a:lstStyle/>
          <a:p>
            <a:r>
              <a:rPr lang="en-US" b="1" dirty="0" smtClean="0"/>
              <a:t>Anesthesia for Intracranial</a:t>
            </a:r>
            <a:br>
              <a:rPr lang="en-US" b="1" dirty="0" smtClean="0"/>
            </a:br>
            <a:r>
              <a:rPr lang="en-US" b="1" dirty="0" smtClean="0"/>
              <a:t>Vascular Lesions</a:t>
            </a:r>
            <a:endParaRPr lang="en-US" b="1" dirty="0"/>
          </a:p>
        </p:txBody>
      </p:sp>
      <p:sp>
        <p:nvSpPr>
          <p:cNvPr id="3" name="Content Placeholder 2"/>
          <p:cNvSpPr>
            <a:spLocks noGrp="1"/>
          </p:cNvSpPr>
          <p:nvPr>
            <p:ph idx="1"/>
          </p:nvPr>
        </p:nvSpPr>
        <p:spPr>
          <a:xfrm>
            <a:off x="457200" y="2971800"/>
            <a:ext cx="8229600" cy="2438400"/>
          </a:xfrm>
        </p:spPr>
        <p:txBody>
          <a:bodyPr>
            <a:normAutofit/>
          </a:bodyPr>
          <a:lstStyle/>
          <a:p>
            <a:pPr>
              <a:buNone/>
            </a:pPr>
            <a:endParaRPr lang="en-US" sz="4000" b="1" dirty="0" smtClean="0"/>
          </a:p>
          <a:p>
            <a:pPr>
              <a:buNone/>
            </a:pPr>
            <a:r>
              <a:rPr lang="en-US" sz="4000" b="1" dirty="0" smtClean="0"/>
              <a:t>Aneurysms and </a:t>
            </a:r>
            <a:r>
              <a:rPr lang="en-US" sz="4000" b="1" dirty="0" err="1" smtClean="0"/>
              <a:t>Arteriovenous</a:t>
            </a:r>
            <a:r>
              <a:rPr lang="en-US" sz="4000" b="1" dirty="0" smtClean="0"/>
              <a:t> Malformation</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218</a:t>
            </a:fld>
            <a:endParaRPr lang="en-US"/>
          </a:p>
        </p:txBody>
      </p:sp>
    </p:spTree>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management of intracranial aneurysms calls for early intervention after SAH, ideally within 24 hours and definitely within 48 hours.  </a:t>
            </a:r>
          </a:p>
          <a:p>
            <a:r>
              <a:rPr lang="en-US" dirty="0" smtClean="0"/>
              <a:t>Intervention may entail either operative clipping or an endovascular approach</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219</a:t>
            </a:fld>
            <a:endParaRPr lang="en-US"/>
          </a:p>
        </p:txBody>
      </p:sp>
    </p:spTree>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5562600"/>
          </a:xfrm>
        </p:spPr>
        <p:txBody>
          <a:bodyPr>
            <a:normAutofit/>
          </a:bodyPr>
          <a:lstStyle/>
          <a:p>
            <a:r>
              <a:rPr lang="en-US" dirty="0" smtClean="0"/>
              <a:t>Early intervention was originally undertaken only in patients in the better neurologic grades—grades I through III and </a:t>
            </a:r>
            <a:r>
              <a:rPr lang="en-US" dirty="0" err="1" smtClean="0"/>
              <a:t>WfN</a:t>
            </a:r>
            <a:r>
              <a:rPr lang="en-US" dirty="0" smtClean="0"/>
              <a:t> classification   grades I through III of the Hunt-Hess classification.</a:t>
            </a:r>
          </a:p>
          <a:p>
            <a:r>
              <a:rPr lang="en-US" dirty="0" smtClean="0"/>
              <a:t>If early intervention is not feasible, and a surgical approach is intended, surgery is usually delayed for 10 to 14 days to be safely beyond the period of maximal vasospasm risk (i.e., days 4 to 10 post-SAH</a:t>
            </a:r>
            <a:r>
              <a:rPr lang="en-US" b="1" dirty="0" smtClean="0"/>
              <a:t>).</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220</a:t>
            </a:fld>
            <a:endParaRPr lang="en-US"/>
          </a:p>
        </p:txBody>
      </p:sp>
    </p:spTree>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Subarachnoid Hemorrhage</a:t>
            </a:r>
            <a:br>
              <a:rPr lang="en-US" dirty="0" smtClean="0"/>
            </a:br>
            <a:r>
              <a:rPr lang="en-US" b="1" dirty="0" smtClean="0"/>
              <a:t>Epidemiology</a:t>
            </a:r>
            <a:endParaRPr lang="en-US" dirty="0"/>
          </a:p>
        </p:txBody>
      </p:sp>
      <p:sp>
        <p:nvSpPr>
          <p:cNvPr id="3" name="Content Placeholder 2"/>
          <p:cNvSpPr>
            <a:spLocks noGrp="1"/>
          </p:cNvSpPr>
          <p:nvPr>
            <p:ph idx="1"/>
          </p:nvPr>
        </p:nvSpPr>
        <p:spPr/>
        <p:txBody>
          <a:bodyPr>
            <a:normAutofit/>
          </a:bodyPr>
          <a:lstStyle/>
          <a:p>
            <a:r>
              <a:rPr lang="en-US" dirty="0" smtClean="0"/>
              <a:t>The incidence of SAH secondary to rupture of a cerebral aneurysm is 10 to 16 cases per 100,000 population per year, and aneurysms account for 80% of </a:t>
            </a:r>
            <a:r>
              <a:rPr lang="en-US" dirty="0" err="1" smtClean="0"/>
              <a:t>nontraumatic</a:t>
            </a:r>
            <a:r>
              <a:rPr lang="en-US" dirty="0" smtClean="0"/>
              <a:t> cases of SAH. </a:t>
            </a:r>
          </a:p>
          <a:p>
            <a:r>
              <a:rPr lang="en-US" dirty="0" smtClean="0"/>
              <a:t>It is more common in people older than 40 years, the average age at initial evaluation is 55 years, and it has a female-to-male ratio of 3:2.</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221</a:t>
            </a:fld>
            <a:endParaRPr lang="en-US"/>
          </a:p>
        </p:txBody>
      </p:sp>
    </p:spTree>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Death from SAH occurs in 15% of patients before they reach the hospital</a:t>
            </a:r>
          </a:p>
          <a:p>
            <a:r>
              <a:rPr lang="en-US" dirty="0" smtClean="0"/>
              <a:t> approximately 25% of inpatients die within the first 2 weeks. </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222</a:t>
            </a:fld>
            <a:endParaRPr lang="en-US"/>
          </a:p>
        </p:txBody>
      </p:sp>
    </p:spTree>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223</a:t>
            </a:fld>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2286000" y="1600200"/>
            <a:ext cx="4803775" cy="37719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Death commonly results from </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1) overwhelming neuronal injury after the initial bleeding;</a:t>
            </a:r>
          </a:p>
          <a:p>
            <a:pPr>
              <a:buNone/>
            </a:pPr>
            <a:r>
              <a:rPr lang="en-US" dirty="0" smtClean="0"/>
              <a:t>2) </a:t>
            </a:r>
            <a:r>
              <a:rPr lang="en-US" dirty="0" err="1" smtClean="0"/>
              <a:t>rebleeding</a:t>
            </a:r>
            <a:r>
              <a:rPr lang="en-US" dirty="0" smtClean="0"/>
              <a:t>, which occurs in 4% of untreated patients in the first 24 hrs and 20% within 2 wks</a:t>
            </a:r>
          </a:p>
          <a:p>
            <a:pPr>
              <a:buNone/>
            </a:pPr>
            <a:r>
              <a:rPr lang="en-US" dirty="0" smtClean="0"/>
              <a:t>3) profound cerebral ischemic damage from vasospasm. </a:t>
            </a:r>
          </a:p>
          <a:p>
            <a:r>
              <a:rPr lang="en-US" dirty="0" smtClean="0"/>
              <a:t>The 30-day mortality rate is close to 50%, whereas the incidence of moderate to severe neurologic morbidity can reach 30%.</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224</a:t>
            </a:fld>
            <a:endParaRPr lang="en-US"/>
          </a:p>
        </p:txBody>
      </p:sp>
    </p:spTree>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Pathophysiology</a:t>
            </a:r>
            <a:r>
              <a:rPr lang="en-US" b="1" dirty="0" smtClean="0"/>
              <a:t> of Cerebral</a:t>
            </a:r>
            <a:br>
              <a:rPr lang="en-US" b="1" dirty="0" smtClean="0"/>
            </a:br>
            <a:r>
              <a:rPr lang="en-US" b="1" dirty="0" smtClean="0"/>
              <a:t>Aneurysms</a:t>
            </a:r>
            <a:endParaRPr lang="en-US" dirty="0"/>
          </a:p>
        </p:txBody>
      </p:sp>
      <p:sp>
        <p:nvSpPr>
          <p:cNvPr id="3" name="Content Placeholder 2"/>
          <p:cNvSpPr>
            <a:spLocks noGrp="1"/>
          </p:cNvSpPr>
          <p:nvPr>
            <p:ph idx="1"/>
          </p:nvPr>
        </p:nvSpPr>
        <p:spPr/>
        <p:txBody>
          <a:bodyPr>
            <a:normAutofit/>
          </a:bodyPr>
          <a:lstStyle/>
          <a:p>
            <a:r>
              <a:rPr lang="en-US" dirty="0" smtClean="0"/>
              <a:t>The most common cause of spontaneous SAH is rupture of a cerebral aneurysm. </a:t>
            </a:r>
          </a:p>
          <a:p>
            <a:r>
              <a:rPr lang="en-US" dirty="0" smtClean="0"/>
              <a:t>Aneurysms are described as either </a:t>
            </a:r>
            <a:r>
              <a:rPr lang="en-US" dirty="0" err="1" smtClean="0"/>
              <a:t>saccular</a:t>
            </a:r>
            <a:r>
              <a:rPr lang="en-US" dirty="0" smtClean="0"/>
              <a:t> (berry-like) or </a:t>
            </a:r>
            <a:r>
              <a:rPr lang="en-US" dirty="0" err="1" smtClean="0"/>
              <a:t>fusiform</a:t>
            </a:r>
            <a:r>
              <a:rPr lang="en-US" dirty="0" smtClean="0"/>
              <a:t>, and the majority are less than 12 mm in diameter and classified as “small.” </a:t>
            </a:r>
          </a:p>
          <a:p>
            <a:r>
              <a:rPr lang="en-US" dirty="0" smtClean="0"/>
              <a:t>Giant aneurysms (&gt;24 mm in diameter) are found in less than 2% of all cases. </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225</a:t>
            </a:fld>
            <a:endParaRPr lang="en-US"/>
          </a:p>
        </p:txBody>
      </p:sp>
    </p:spTree>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Degenerative changes in the cerebral arterial wall induced by turbulent blood flow at a vessel’s branching point contribute to the formation of aneurysms. </a:t>
            </a:r>
          </a:p>
          <a:p>
            <a:r>
              <a:rPr lang="en-US" dirty="0" smtClean="0"/>
              <a:t>This susceptibility to hemodynamic stress may be related to structural abnormalities in these arteries. </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226</a:t>
            </a:fld>
            <a:endParaRPr lang="en-US"/>
          </a:p>
        </p:txBody>
      </p:sp>
    </p:spTree>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dirty="0" smtClean="0"/>
              <a:t>Predisposing factors include a</a:t>
            </a:r>
          </a:p>
          <a:p>
            <a:r>
              <a:rPr lang="en-US" dirty="0" smtClean="0"/>
              <a:t>Family history of the disease </a:t>
            </a:r>
          </a:p>
          <a:p>
            <a:r>
              <a:rPr lang="en-US" dirty="0" smtClean="0"/>
              <a:t>Atherosclerosis </a:t>
            </a:r>
          </a:p>
          <a:p>
            <a:r>
              <a:rPr lang="en-US" dirty="0" smtClean="0"/>
              <a:t>Hypertension</a:t>
            </a:r>
          </a:p>
          <a:p>
            <a:r>
              <a:rPr lang="en-US" dirty="0" err="1" smtClean="0"/>
              <a:t>Coarctation</a:t>
            </a:r>
            <a:r>
              <a:rPr lang="en-US" dirty="0" smtClean="0"/>
              <a:t> of the aorta</a:t>
            </a:r>
          </a:p>
          <a:p>
            <a:r>
              <a:rPr lang="en-US" dirty="0" smtClean="0"/>
              <a:t>Polycystic kidney disease</a:t>
            </a:r>
          </a:p>
          <a:p>
            <a:r>
              <a:rPr lang="en-US" dirty="0" smtClean="0"/>
              <a:t> </a:t>
            </a:r>
            <a:r>
              <a:rPr lang="en-US" dirty="0" err="1" smtClean="0"/>
              <a:t>Fibromuscular</a:t>
            </a:r>
            <a:r>
              <a:rPr lang="en-US" dirty="0" smtClean="0"/>
              <a:t> dysplasia, and connective tissue disorders</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227</a:t>
            </a:fld>
            <a:endParaRPr lang="en-US"/>
          </a:p>
        </p:txBody>
      </p:sp>
    </p:spTree>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The most common locations for aneurysms are  </a:t>
            </a:r>
          </a:p>
          <a:p>
            <a:r>
              <a:rPr lang="en-US" dirty="0" smtClean="0"/>
              <a:t>Anterior cerebral artery (40%),</a:t>
            </a:r>
          </a:p>
          <a:p>
            <a:r>
              <a:rPr lang="en-US" dirty="0" smtClean="0"/>
              <a:t>Posterior communicating artery (25%)</a:t>
            </a:r>
          </a:p>
          <a:p>
            <a:r>
              <a:rPr lang="en-US" dirty="0" smtClean="0"/>
              <a:t>Middle cerebral artery (25%). </a:t>
            </a:r>
          </a:p>
          <a:p>
            <a:r>
              <a:rPr lang="en-US" dirty="0" err="1" smtClean="0"/>
              <a:t>vertebrobasilar</a:t>
            </a:r>
            <a:r>
              <a:rPr lang="en-US" dirty="0" smtClean="0"/>
              <a:t> system 10% mostly on the basilar artery.</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228</a:t>
            </a:fld>
            <a:endParaRPr lang="en-US"/>
          </a:p>
        </p:txBody>
      </p:sp>
    </p:spTree>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19799"/>
          </a:xfrm>
        </p:spPr>
        <p:txBody>
          <a:bodyPr>
            <a:normAutofit/>
          </a:bodyPr>
          <a:lstStyle/>
          <a:p>
            <a:pPr>
              <a:buNone/>
            </a:pPr>
            <a:endParaRPr lang="en-US" dirty="0" smtClean="0"/>
          </a:p>
          <a:p>
            <a:pPr>
              <a:buNone/>
            </a:pPr>
            <a:endParaRPr lang="en-US" dirty="0" smtClean="0"/>
          </a:p>
          <a:p>
            <a:pPr>
              <a:buNone/>
            </a:pPr>
            <a:r>
              <a:rPr lang="en-US" dirty="0" smtClean="0"/>
              <a:t>The </a:t>
            </a:r>
            <a:r>
              <a:rPr lang="en-US" dirty="0" err="1" smtClean="0"/>
              <a:t>pathophysiologic</a:t>
            </a:r>
            <a:r>
              <a:rPr lang="en-US" dirty="0" smtClean="0"/>
              <a:t> changes that occur when an aneurysm ruptures include</a:t>
            </a:r>
          </a:p>
          <a:p>
            <a:pPr>
              <a:buNone/>
            </a:pPr>
            <a:endParaRPr lang="en-US" dirty="0" smtClean="0"/>
          </a:p>
          <a:p>
            <a:r>
              <a:rPr lang="en-US" dirty="0" smtClean="0"/>
              <a:t> A sudden large increase in ICP</a:t>
            </a:r>
          </a:p>
          <a:p>
            <a:r>
              <a:rPr lang="it-IT" dirty="0" smtClean="0"/>
              <a:t> A decrease in CPP</a:t>
            </a:r>
          </a:p>
          <a:p>
            <a:r>
              <a:rPr lang="en-US" dirty="0" smtClean="0"/>
              <a:t>Spread of blood through the subarachnoid space causing inflammation and </a:t>
            </a:r>
            <a:r>
              <a:rPr lang="en-US" dirty="0" err="1" smtClean="0"/>
              <a:t>meningism</a:t>
            </a:r>
            <a:endParaRPr lang="en-US" dirty="0" smtClean="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229</a:t>
            </a:fld>
            <a:endParaRPr lang="en-US"/>
          </a:p>
        </p:txBody>
      </p:sp>
    </p:spTree>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 Cerebral vasoconstriction</a:t>
            </a:r>
          </a:p>
          <a:p>
            <a:r>
              <a:rPr lang="en-US" dirty="0" smtClean="0"/>
              <a:t>A decrease in cerebral blood flow (CBF), which may help stop further bleeding</a:t>
            </a:r>
          </a:p>
          <a:p>
            <a:r>
              <a:rPr lang="en-US" dirty="0" smtClean="0"/>
              <a:t> Loss of </a:t>
            </a:r>
            <a:r>
              <a:rPr lang="en-US" dirty="0" err="1" smtClean="0"/>
              <a:t>cerebrovascular</a:t>
            </a:r>
            <a:r>
              <a:rPr lang="en-US" dirty="0" smtClean="0"/>
              <a:t> </a:t>
            </a:r>
            <a:r>
              <a:rPr lang="en-US" dirty="0" err="1" smtClean="0"/>
              <a:t>autoregulation</a:t>
            </a:r>
            <a:endParaRPr lang="en-US" dirty="0" smtClean="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230</a:t>
            </a:fld>
            <a:endParaRPr lang="en-US"/>
          </a:p>
        </p:txBody>
      </p:sp>
    </p:spTree>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Diagnosis and Investigations</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The clinical manifestations of SAH include</a:t>
            </a:r>
          </a:p>
          <a:p>
            <a:r>
              <a:rPr lang="en-US" dirty="0" smtClean="0"/>
              <a:t> Sudden severe headache with vomiting</a:t>
            </a:r>
          </a:p>
          <a:p>
            <a:r>
              <a:rPr lang="en-US" dirty="0" smtClean="0"/>
              <a:t>Neck pain (</a:t>
            </a:r>
            <a:r>
              <a:rPr lang="en-US" dirty="0" err="1" smtClean="0"/>
              <a:t>meningismus</a:t>
            </a:r>
            <a:r>
              <a:rPr lang="en-US" dirty="0" smtClean="0"/>
              <a:t>)</a:t>
            </a:r>
          </a:p>
          <a:p>
            <a:r>
              <a:rPr lang="en-US" dirty="0" smtClean="0"/>
              <a:t> Photophobia</a:t>
            </a:r>
          </a:p>
          <a:p>
            <a:r>
              <a:rPr lang="en-US" dirty="0" smtClean="0"/>
              <a:t> Seizures</a:t>
            </a:r>
          </a:p>
          <a:p>
            <a:r>
              <a:rPr lang="en-US" dirty="0" smtClean="0"/>
              <a:t>Cranial nerve signs</a:t>
            </a:r>
          </a:p>
          <a:p>
            <a:r>
              <a:rPr lang="en-US" dirty="0" smtClean="0"/>
              <a:t> Focal neurologic deficits</a:t>
            </a:r>
          </a:p>
          <a:p>
            <a:r>
              <a:rPr lang="en-US" dirty="0" smtClean="0"/>
              <a:t> Transient loss of consciousness or prolonged coma.</a:t>
            </a:r>
          </a:p>
          <a:p>
            <a:pPr>
              <a:buNone/>
            </a:pPr>
            <a:endParaRPr lang="en-US" dirty="0" smtClean="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231</a:t>
            </a:fld>
            <a:endParaRPr lang="en-US"/>
          </a:p>
        </p:txBody>
      </p:sp>
    </p:spTree>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CT head scan will diagnose SAH in more than 95% of patients.</a:t>
            </a:r>
          </a:p>
          <a:p>
            <a:r>
              <a:rPr lang="en-US" dirty="0" smtClean="0"/>
              <a:t>Digital subtraction angiography (DSA) is the “gold standard” investigation.</a:t>
            </a:r>
          </a:p>
          <a:p>
            <a:r>
              <a:rPr lang="en-US" dirty="0" smtClean="0"/>
              <a:t>Recently, contrast-enhanced CT angiography</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232</a:t>
            </a:fld>
            <a:endParaRPr lang="en-US"/>
          </a:p>
        </p:txBody>
      </p:sp>
    </p:spTree>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Treatment of Cerebral Aneurysms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pPr>
              <a:buNone/>
            </a:pPr>
            <a:r>
              <a:rPr lang="en-US" dirty="0" smtClean="0"/>
              <a:t>Surgical or endovascular treatment of a patient within 2 to 3 days of a ruptured aneurysm minimizes the risk of </a:t>
            </a:r>
            <a:r>
              <a:rPr lang="en-US" dirty="0" err="1" smtClean="0"/>
              <a:t>rebleeding</a:t>
            </a:r>
            <a:r>
              <a:rPr lang="en-US" dirty="0" smtClean="0"/>
              <a:t>.</a:t>
            </a:r>
          </a:p>
          <a:p>
            <a:r>
              <a:rPr lang="en-US" dirty="0" smtClean="0"/>
              <a:t> Grading systems help stratify the degree of impairment, complications, and guide prognosis.</a:t>
            </a:r>
          </a:p>
          <a:p>
            <a:r>
              <a:rPr lang="en-US" dirty="0" smtClean="0"/>
              <a:t> A combination of the Hunt and Hess, World Federation of Neurological Surgeons, and the Fischer grading systems is used.</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233</a:t>
            </a:fld>
            <a:endParaRPr lang="en-US"/>
          </a:p>
        </p:txBody>
      </p:sp>
    </p:spTree>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t>World Federation of Neurological Surgeon</a:t>
            </a:r>
            <a:br>
              <a:rPr lang="en-US" sz="3600" b="1" dirty="0" smtClean="0"/>
            </a:br>
            <a:r>
              <a:rPr lang="en-US" sz="3600" b="1" dirty="0" smtClean="0"/>
              <a:t>Grading Scale</a:t>
            </a:r>
            <a:endParaRPr lang="en-US" sz="3600" dirty="0"/>
          </a:p>
        </p:txBody>
      </p:sp>
      <p:sp>
        <p:nvSpPr>
          <p:cNvPr id="3" name="Content Placeholder 2"/>
          <p:cNvSpPr>
            <a:spLocks noGrp="1"/>
          </p:cNvSpPr>
          <p:nvPr>
            <p:ph idx="1"/>
          </p:nvPr>
        </p:nvSpPr>
        <p:spPr>
          <a:xfrm>
            <a:off x="228600" y="1600200"/>
            <a:ext cx="8763000" cy="4525963"/>
          </a:xfrm>
        </p:spPr>
        <p:txBody>
          <a:bodyPr>
            <a:normAutofit/>
          </a:bodyPr>
          <a:lstStyle/>
          <a:p>
            <a:pPr>
              <a:buNone/>
            </a:pPr>
            <a:r>
              <a:rPr lang="it-IT" sz="2800" u="sng" dirty="0" smtClean="0"/>
              <a:t>WFNS Grade       GCS Score                      Motor Deficit</a:t>
            </a:r>
            <a:endParaRPr lang="en-US" sz="2800" u="sng" dirty="0" smtClean="0"/>
          </a:p>
          <a:p>
            <a:pPr>
              <a:buNone/>
            </a:pPr>
            <a:r>
              <a:rPr lang="en-US" dirty="0" smtClean="0"/>
              <a:t>I                            15                          Absent</a:t>
            </a:r>
          </a:p>
          <a:p>
            <a:pPr>
              <a:buNone/>
            </a:pPr>
            <a:r>
              <a:rPr lang="en-US" dirty="0" smtClean="0"/>
              <a:t>II                          14-13                      Absent</a:t>
            </a:r>
          </a:p>
          <a:p>
            <a:pPr>
              <a:buNone/>
            </a:pPr>
            <a:r>
              <a:rPr lang="en-US" dirty="0" smtClean="0"/>
              <a:t>III                         14-13                       Present</a:t>
            </a:r>
          </a:p>
          <a:p>
            <a:pPr>
              <a:buNone/>
            </a:pPr>
            <a:r>
              <a:rPr lang="en-US" dirty="0" smtClean="0"/>
              <a:t>IV                         12-7             Present or absent</a:t>
            </a:r>
          </a:p>
          <a:p>
            <a:pPr>
              <a:buNone/>
            </a:pPr>
            <a:r>
              <a:rPr lang="en-US" dirty="0" smtClean="0"/>
              <a:t>V                            6-3             Present or absent</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234</a:t>
            </a:fld>
            <a:endParaRPr lang="en-US"/>
          </a:p>
        </p:txBody>
      </p:sp>
    </p:spTree>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US" b="1" dirty="0" smtClean="0"/>
              <a:t>Hunt and Hess Grading Scale</a:t>
            </a:r>
            <a:endParaRPr lang="en-US" dirty="0"/>
          </a:p>
        </p:txBody>
      </p:sp>
      <p:sp>
        <p:nvSpPr>
          <p:cNvPr id="3" name="Content Placeholder 2"/>
          <p:cNvSpPr>
            <a:spLocks noGrp="1"/>
          </p:cNvSpPr>
          <p:nvPr>
            <p:ph idx="1"/>
          </p:nvPr>
        </p:nvSpPr>
        <p:spPr>
          <a:xfrm>
            <a:off x="457200" y="1219200"/>
            <a:ext cx="8534400" cy="4906963"/>
          </a:xfrm>
        </p:spPr>
        <p:txBody>
          <a:bodyPr>
            <a:noAutofit/>
          </a:bodyPr>
          <a:lstStyle/>
          <a:p>
            <a:r>
              <a:rPr lang="en-US" sz="2400" dirty="0" smtClean="0"/>
              <a:t>Grade 0                </a:t>
            </a:r>
            <a:r>
              <a:rPr lang="en-US" sz="2400" dirty="0" err="1" smtClean="0"/>
              <a:t>Unruptured</a:t>
            </a:r>
            <a:r>
              <a:rPr lang="en-US" sz="2400" dirty="0" smtClean="0"/>
              <a:t> aneurysm</a:t>
            </a:r>
          </a:p>
          <a:p>
            <a:r>
              <a:rPr lang="en-US" sz="2400" dirty="0" smtClean="0"/>
              <a:t>Grade 1               Asymptomatic or minimal headache and</a:t>
            </a:r>
          </a:p>
          <a:p>
            <a:pPr>
              <a:buNone/>
            </a:pPr>
            <a:r>
              <a:rPr lang="en-US" sz="2400" dirty="0" smtClean="0"/>
              <a:t>                                   slight </a:t>
            </a:r>
            <a:r>
              <a:rPr lang="en-US" sz="2400" dirty="0" err="1" smtClean="0"/>
              <a:t>nuchal</a:t>
            </a:r>
            <a:r>
              <a:rPr lang="en-US" sz="2400" dirty="0" smtClean="0"/>
              <a:t> rigidity</a:t>
            </a:r>
          </a:p>
          <a:p>
            <a:r>
              <a:rPr lang="en-US" sz="2400" dirty="0" smtClean="0"/>
              <a:t>Grade 2        Moderate to severe headache, </a:t>
            </a:r>
            <a:r>
              <a:rPr lang="en-US" sz="2400" dirty="0" err="1" smtClean="0"/>
              <a:t>nuchal</a:t>
            </a:r>
            <a:r>
              <a:rPr lang="en-US" sz="2400" dirty="0" smtClean="0"/>
              <a:t> rigidity,                                               </a:t>
            </a:r>
          </a:p>
          <a:p>
            <a:pPr>
              <a:buNone/>
            </a:pPr>
            <a:r>
              <a:rPr lang="en-US" sz="2400" dirty="0" smtClean="0"/>
              <a:t>                  no neurologic deficit other than cranial nerve palsy</a:t>
            </a:r>
          </a:p>
          <a:p>
            <a:r>
              <a:rPr lang="en-US" sz="2400" dirty="0" smtClean="0"/>
              <a:t>Grade 3          Drowsiness, confusion, or mild focal deficit</a:t>
            </a:r>
          </a:p>
          <a:p>
            <a:r>
              <a:rPr lang="en-US" sz="2400" dirty="0" smtClean="0"/>
              <a:t>Grade 4           Stupor, moderate to severe </a:t>
            </a:r>
            <a:r>
              <a:rPr lang="en-US" sz="2400" dirty="0" err="1" smtClean="0"/>
              <a:t>hemiparesis</a:t>
            </a:r>
            <a:r>
              <a:rPr lang="en-US" sz="2400" dirty="0" smtClean="0"/>
              <a:t>, </a:t>
            </a:r>
          </a:p>
          <a:p>
            <a:pPr>
              <a:buNone/>
            </a:pPr>
            <a:r>
              <a:rPr lang="en-US" sz="2400" dirty="0" smtClean="0"/>
              <a:t>                       possible early </a:t>
            </a:r>
            <a:r>
              <a:rPr lang="en-US" sz="2400" dirty="0" err="1" smtClean="0"/>
              <a:t>decerebrate</a:t>
            </a:r>
            <a:r>
              <a:rPr lang="en-US" sz="2400" dirty="0" smtClean="0"/>
              <a:t> rigidity, vegetative</a:t>
            </a:r>
          </a:p>
          <a:p>
            <a:r>
              <a:rPr lang="en-US" sz="2400" dirty="0" smtClean="0"/>
              <a:t>Grade 5          Deep coma, </a:t>
            </a:r>
            <a:r>
              <a:rPr lang="en-US" sz="2400" dirty="0" err="1" smtClean="0"/>
              <a:t>decerebrate</a:t>
            </a:r>
            <a:r>
              <a:rPr lang="en-US" sz="2400" dirty="0" smtClean="0"/>
              <a:t> rigidity, moribund </a:t>
            </a:r>
          </a:p>
          <a:p>
            <a:pPr>
              <a:buNone/>
            </a:pPr>
            <a:r>
              <a:rPr lang="en-US" sz="2400" dirty="0" smtClean="0"/>
              <a:t>                            appearance</a:t>
            </a:r>
            <a:endParaRPr lang="en-US" sz="2400"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235</a:t>
            </a:fld>
            <a:endParaRPr lang="en-US"/>
          </a:p>
        </p:txBody>
      </p:sp>
    </p:spTree>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Serious systemic diseases, such as hypertension, diabetes, severe arteriosclerosis, chronic pulmonary disease, and severe vasospasm seen on </a:t>
            </a:r>
            <a:r>
              <a:rPr lang="en-US" b="1" dirty="0" err="1" smtClean="0"/>
              <a:t>arteriography</a:t>
            </a:r>
            <a:r>
              <a:rPr lang="en-US" b="1" dirty="0" smtClean="0"/>
              <a:t>, result in placement of the patient in the next less favorable category.</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236</a:t>
            </a:fld>
            <a:endParaRPr lang="en-US"/>
          </a:p>
        </p:txBody>
      </p:sp>
    </p:spTree>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Patients who are Hunt and Hess grade I or II may undergo prompt treatment</a:t>
            </a:r>
          </a:p>
          <a:p>
            <a:r>
              <a:rPr lang="en-US" dirty="0" smtClean="0"/>
              <a:t>patients with a GCS score less than 8 often have their intervention delayed until neurologic improvement occurs. </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237</a:t>
            </a:fld>
            <a:endParaRPr lang="en-US"/>
          </a:p>
        </p:txBody>
      </p:sp>
    </p:spTree>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r>
              <a:rPr lang="en-US" dirty="0" smtClean="0"/>
              <a:t>Surgical treatment of aneurysms involves craniotomy, microsurgical dissection, and the application of a clip across the aneurysm’s neck. </a:t>
            </a:r>
          </a:p>
          <a:p>
            <a:r>
              <a:rPr lang="en-US" dirty="0" smtClean="0"/>
              <a:t>Some aneurysms may be able to be managed only by wrapping in muslin gauze, by trapping between clips, or by proximal occlusion of the common carotid artery.</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238</a:t>
            </a:fld>
            <a:endParaRPr lang="en-US"/>
          </a:p>
        </p:txBody>
      </p:sp>
    </p:spTree>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Preoperative Evaluation </a:t>
            </a:r>
            <a:endParaRPr lang="en-US" dirty="0"/>
          </a:p>
        </p:txBody>
      </p:sp>
      <p:sp>
        <p:nvSpPr>
          <p:cNvPr id="3" name="Content Placeholder 2"/>
          <p:cNvSpPr>
            <a:spLocks noGrp="1"/>
          </p:cNvSpPr>
          <p:nvPr>
            <p:ph idx="1"/>
          </p:nvPr>
        </p:nvSpPr>
        <p:spPr/>
        <p:txBody>
          <a:bodyPr/>
          <a:lstStyle/>
          <a:p>
            <a:r>
              <a:rPr lang="en-US" dirty="0" smtClean="0"/>
              <a:t>Many patients scheduled for intracranial aneurysm clipping come directly from the ICU, and elements of their management in the ICU may influence their immediate preoperative status.</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239</a:t>
            </a:fld>
            <a:endParaRPr lang="en-US"/>
          </a:p>
        </p:txBody>
      </p:sp>
    </p:spTree>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Fluid Management</a:t>
            </a:r>
            <a:endParaRPr lang="en-US" dirty="0"/>
          </a:p>
        </p:txBody>
      </p:sp>
      <p:sp>
        <p:nvSpPr>
          <p:cNvPr id="3" name="Content Placeholder 2"/>
          <p:cNvSpPr>
            <a:spLocks noGrp="1"/>
          </p:cNvSpPr>
          <p:nvPr>
            <p:ph idx="1"/>
          </p:nvPr>
        </p:nvSpPr>
        <p:spPr/>
        <p:txBody>
          <a:bodyPr>
            <a:normAutofit/>
          </a:bodyPr>
          <a:lstStyle/>
          <a:p>
            <a:r>
              <a:rPr lang="en-US" dirty="0" smtClean="0"/>
              <a:t>SIADH</a:t>
            </a:r>
          </a:p>
          <a:p>
            <a:r>
              <a:rPr lang="en-US" dirty="0" smtClean="0"/>
              <a:t>cerebral salt-wasting syndrome, which probably occurs as a result of the release of a </a:t>
            </a:r>
            <a:r>
              <a:rPr lang="en-US" dirty="0" err="1" smtClean="0"/>
              <a:t>natriuretic</a:t>
            </a:r>
            <a:r>
              <a:rPr lang="en-US" dirty="0" smtClean="0"/>
              <a:t> peptide by the brain </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240</a:t>
            </a:fld>
            <a:endParaRPr lang="en-US"/>
          </a:p>
        </p:txBody>
      </p:sp>
    </p:spTree>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management of both is simple: administration of isotonic fluids using intravascular </a:t>
            </a:r>
            <a:r>
              <a:rPr lang="en-US" dirty="0" err="1" smtClean="0"/>
              <a:t>normovolemia</a:t>
            </a:r>
            <a:r>
              <a:rPr lang="en-US" dirty="0" smtClean="0"/>
              <a:t> as the end point.</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241</a:t>
            </a:fld>
            <a:endParaRPr lang="en-US"/>
          </a:p>
        </p:txBody>
      </p:sp>
    </p:spTree>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Vasospasm</a:t>
            </a:r>
            <a:endParaRPr lang="en-US" dirty="0"/>
          </a:p>
        </p:txBody>
      </p:sp>
      <p:sp>
        <p:nvSpPr>
          <p:cNvPr id="3" name="Content Placeholder 2"/>
          <p:cNvSpPr>
            <a:spLocks noGrp="1"/>
          </p:cNvSpPr>
          <p:nvPr>
            <p:ph idx="1"/>
          </p:nvPr>
        </p:nvSpPr>
        <p:spPr/>
        <p:txBody>
          <a:bodyPr>
            <a:normAutofit lnSpcReduction="10000"/>
          </a:bodyPr>
          <a:lstStyle/>
          <a:p>
            <a:r>
              <a:rPr lang="en-US" dirty="0" smtClean="0"/>
              <a:t>Patients are at risk for vasospasm from approximately day 4 to day 16, with the peak incidence occurring on days 5 to 10 after SAH. </a:t>
            </a:r>
          </a:p>
          <a:p>
            <a:r>
              <a:rPr lang="en-US" dirty="0" smtClean="0"/>
              <a:t>Subarachnoid blood and blood breakdown of hemoglobin products such as </a:t>
            </a:r>
            <a:r>
              <a:rPr lang="en-US" dirty="0" err="1" smtClean="0"/>
              <a:t>hemosiderin</a:t>
            </a:r>
            <a:r>
              <a:rPr lang="en-US" dirty="0" smtClean="0"/>
              <a:t> incite inflammation and leukocyte infiltration into adjacent blood vessels, which then become thickened and potentially spastic.</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242</a:t>
            </a:fld>
            <a:endParaRPr lang="en-US"/>
          </a:p>
        </p:txBody>
      </p:sp>
    </p:spTree>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When there is a clinical suspicion of vasospasm, surgery is deferred, and  angiography, or other imaging is performed.</a:t>
            </a:r>
            <a:r>
              <a:rPr lang="en-US" baseline="30000" dirty="0" smtClean="0"/>
              <a:t> </a:t>
            </a:r>
            <a:r>
              <a:rPr lang="en-US" dirty="0" smtClean="0"/>
              <a:t> </a:t>
            </a:r>
          </a:p>
          <a:p>
            <a:r>
              <a:rPr lang="en-US" dirty="0" smtClean="0"/>
              <a:t>Confirmed vasospasm is commonly treated with the “triple H” therapy and sometimes by balloon angioplasty or intra-arterial vasodilators.</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243</a:t>
            </a:fld>
            <a:endParaRPr lang="en-US"/>
          </a:p>
        </p:txBody>
      </p:sp>
    </p:spTree>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In the ICU, the regimens employed to treat vasospasm usually involve some combination of </a:t>
            </a:r>
            <a:r>
              <a:rPr lang="en-US" dirty="0" err="1" smtClean="0"/>
              <a:t>hypervolemia</a:t>
            </a:r>
            <a:r>
              <a:rPr lang="en-US" dirty="0" smtClean="0"/>
              <a:t>, </a:t>
            </a:r>
            <a:r>
              <a:rPr lang="en-US" dirty="0" err="1" smtClean="0"/>
              <a:t>hemodilution</a:t>
            </a:r>
            <a:r>
              <a:rPr lang="en-US" dirty="0" smtClean="0"/>
              <a:t>, and hypertension.</a:t>
            </a:r>
          </a:p>
          <a:p>
            <a:r>
              <a:rPr lang="en-US" dirty="0" smtClean="0"/>
              <a:t>Focal or global neurologic dysfunction can develop as a result of vasospasm-induced cerebral ischemia.</a:t>
            </a:r>
          </a:p>
          <a:p>
            <a:r>
              <a:rPr lang="en-US" dirty="0" smtClean="0"/>
              <a:t> In patients in whom vasospasm develops, the risk of stroke or death is 20%.</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244</a:t>
            </a:fld>
            <a:endParaRPr lang="en-US"/>
          </a:p>
        </p:txBody>
      </p:sp>
    </p:spTree>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r>
              <a:rPr lang="en-US" dirty="0" err="1" smtClean="0"/>
              <a:t>Phenylephrine</a:t>
            </a:r>
            <a:r>
              <a:rPr lang="en-US" dirty="0" smtClean="0"/>
              <a:t> and dopamine are the most commonly employed </a:t>
            </a:r>
            <a:r>
              <a:rPr lang="en-US" dirty="0" err="1" smtClean="0"/>
              <a:t>pressors</a:t>
            </a:r>
            <a:endParaRPr lang="en-US" dirty="0" smtClean="0"/>
          </a:p>
          <a:p>
            <a:r>
              <a:rPr lang="en-US" dirty="0" smtClean="0"/>
              <a:t>Most commonly, the objective is an increase in MAP of approximately 20 to 30 mm Hg above “baseline” systolic pressure.</a:t>
            </a:r>
          </a:p>
          <a:p>
            <a:r>
              <a:rPr lang="en-US" dirty="0" smtClean="0"/>
              <a:t>Calcium Channel Blockers-Po -</a:t>
            </a:r>
            <a:r>
              <a:rPr lang="en-US" dirty="0" err="1" smtClean="0"/>
              <a:t>nimodipine</a:t>
            </a:r>
            <a:endParaRPr lang="en-US" dirty="0" smtClean="0"/>
          </a:p>
          <a:p>
            <a:pPr>
              <a:buNone/>
            </a:pPr>
            <a:r>
              <a:rPr lang="en-US" dirty="0" smtClean="0"/>
              <a:t>Iv -</a:t>
            </a:r>
            <a:r>
              <a:rPr lang="en-US" dirty="0" err="1" smtClean="0"/>
              <a:t>verapamil</a:t>
            </a:r>
            <a:r>
              <a:rPr lang="en-US" dirty="0" smtClean="0"/>
              <a:t> and </a:t>
            </a:r>
            <a:r>
              <a:rPr lang="en-US" dirty="0" err="1" smtClean="0"/>
              <a:t>nicardipine</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245</a:t>
            </a:fld>
            <a:endParaRPr lang="en-US"/>
          </a:p>
        </p:txBody>
      </p:sp>
    </p:spTree>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Subarachnoid Hemorrhage–Associated Myocardial Dysfunction.</a:t>
            </a:r>
            <a:endParaRPr lang="en-US" dirty="0"/>
          </a:p>
        </p:txBody>
      </p:sp>
      <p:sp>
        <p:nvSpPr>
          <p:cNvPr id="3" name="Content Placeholder 2"/>
          <p:cNvSpPr>
            <a:spLocks noGrp="1"/>
          </p:cNvSpPr>
          <p:nvPr>
            <p:ph idx="1"/>
          </p:nvPr>
        </p:nvSpPr>
        <p:spPr/>
        <p:txBody>
          <a:bodyPr>
            <a:normAutofit/>
          </a:bodyPr>
          <a:lstStyle/>
          <a:p>
            <a:r>
              <a:rPr lang="en-US" dirty="0" smtClean="0"/>
              <a:t>SAH can result in a reversible, “stunning”-like myocardial injury. </a:t>
            </a:r>
          </a:p>
          <a:p>
            <a:r>
              <a:rPr lang="en-US" dirty="0" smtClean="0"/>
              <a:t> The mechanism is uncertain, but it is thought to be catecholamine mediated</a:t>
            </a:r>
          </a:p>
          <a:p>
            <a:r>
              <a:rPr lang="en-US" dirty="0" smtClean="0"/>
              <a:t>Catecholamine-induced </a:t>
            </a:r>
            <a:r>
              <a:rPr lang="en-US" dirty="0" err="1" smtClean="0"/>
              <a:t>subendocardial</a:t>
            </a:r>
            <a:endParaRPr lang="en-US" dirty="0" smtClean="0"/>
          </a:p>
          <a:p>
            <a:pPr>
              <a:buNone/>
            </a:pPr>
            <a:r>
              <a:rPr lang="en-US" dirty="0" smtClean="0"/>
              <a:t>lesions typically occur in the vicinity of the cardiac nerves</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246</a:t>
            </a:fld>
            <a:endParaRPr lang="en-US"/>
          </a:p>
        </p:txBody>
      </p:sp>
    </p:spTree>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r>
              <a:rPr lang="en-US" dirty="0" smtClean="0"/>
              <a:t>SAH may produce a functional cardiac </a:t>
            </a:r>
            <a:r>
              <a:rPr lang="en-US" dirty="0" err="1" smtClean="0"/>
              <a:t>denervation</a:t>
            </a:r>
            <a:r>
              <a:rPr lang="en-US" dirty="0" smtClean="0"/>
              <a:t> that is associated with release of </a:t>
            </a:r>
            <a:r>
              <a:rPr lang="en-US" dirty="0" err="1" smtClean="0"/>
              <a:t>troponin</a:t>
            </a:r>
            <a:r>
              <a:rPr lang="en-US" dirty="0" smtClean="0"/>
              <a:t> and regional wall motion abnormalities on echocardiography.</a:t>
            </a:r>
          </a:p>
          <a:p>
            <a:r>
              <a:rPr lang="en-US" dirty="0" smtClean="0"/>
              <a:t>Diastolic dysfunction is also common and is associated with the severity of neurologic injury and may be the cause of pulmonary edema.</a:t>
            </a:r>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247</a:t>
            </a:fld>
            <a:endParaRPr lang="en-US"/>
          </a:p>
        </p:txBody>
      </p:sp>
    </p:spTree>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 </a:t>
            </a:r>
            <a:r>
              <a:rPr lang="en-US" dirty="0" err="1" smtClean="0"/>
              <a:t>operativelly</a:t>
            </a:r>
            <a:endParaRPr lang="en-US" dirty="0"/>
          </a:p>
        </p:txBody>
      </p:sp>
      <p:sp>
        <p:nvSpPr>
          <p:cNvPr id="3" name="Content Placeholder 2"/>
          <p:cNvSpPr>
            <a:spLocks noGrp="1"/>
          </p:cNvSpPr>
          <p:nvPr>
            <p:ph idx="1"/>
          </p:nvPr>
        </p:nvSpPr>
        <p:spPr/>
        <p:txBody>
          <a:bodyPr>
            <a:normAutofit/>
          </a:bodyPr>
          <a:lstStyle/>
          <a:p>
            <a:r>
              <a:rPr lang="en-US" dirty="0" smtClean="0"/>
              <a:t>Patients need to be assessed for the presence and extent of all intracranial and </a:t>
            </a:r>
            <a:r>
              <a:rPr lang="en-US" dirty="0" err="1" smtClean="0"/>
              <a:t>extracranial</a:t>
            </a:r>
            <a:r>
              <a:rPr lang="en-US" dirty="0" smtClean="0"/>
              <a:t> complications of SAH. </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248</a:t>
            </a:fld>
            <a:endParaRPr lang="en-US"/>
          </a:p>
        </p:txBody>
      </p:sp>
    </p:spTree>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Intracranial complications include</a:t>
            </a:r>
            <a:br>
              <a:rPr lang="en-US" dirty="0" smtClean="0"/>
            </a:br>
            <a:endParaRPr lang="en-US" dirty="0"/>
          </a:p>
        </p:txBody>
      </p:sp>
      <p:sp>
        <p:nvSpPr>
          <p:cNvPr id="3" name="Content Placeholder 2"/>
          <p:cNvSpPr>
            <a:spLocks noGrp="1"/>
          </p:cNvSpPr>
          <p:nvPr>
            <p:ph idx="1"/>
          </p:nvPr>
        </p:nvSpPr>
        <p:spPr/>
        <p:txBody>
          <a:bodyPr/>
          <a:lstStyle/>
          <a:p>
            <a:r>
              <a:rPr lang="en-US" dirty="0" err="1" smtClean="0"/>
              <a:t>Rebleeding</a:t>
            </a:r>
            <a:endParaRPr lang="en-US" dirty="0" smtClean="0"/>
          </a:p>
          <a:p>
            <a:r>
              <a:rPr lang="en-US" dirty="0" smtClean="0"/>
              <a:t>Vasospasm leading to cerebral ischemia/infarction</a:t>
            </a:r>
          </a:p>
          <a:p>
            <a:r>
              <a:rPr lang="en-US" dirty="0" smtClean="0"/>
              <a:t> Hydrocephalus</a:t>
            </a:r>
          </a:p>
          <a:p>
            <a:r>
              <a:rPr lang="en-US" dirty="0" smtClean="0"/>
              <a:t>Expanding </a:t>
            </a:r>
            <a:r>
              <a:rPr lang="en-US" dirty="0" err="1" smtClean="0"/>
              <a:t>intracerebral</a:t>
            </a:r>
            <a:r>
              <a:rPr lang="en-US" dirty="0" smtClean="0"/>
              <a:t> hematoma</a:t>
            </a:r>
          </a:p>
          <a:p>
            <a:r>
              <a:rPr lang="en-US" dirty="0" smtClean="0"/>
              <a:t>Seizures</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249</a:t>
            </a:fld>
            <a:endParaRPr lang="en-US"/>
          </a:p>
        </p:txBody>
      </p:sp>
    </p:spTree>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Extracranial</a:t>
            </a:r>
            <a:r>
              <a:rPr lang="en-US" dirty="0" smtClean="0"/>
              <a:t> complications include</a:t>
            </a:r>
            <a:endParaRPr lang="en-US" dirty="0"/>
          </a:p>
        </p:txBody>
      </p:sp>
      <p:sp>
        <p:nvSpPr>
          <p:cNvPr id="3" name="Content Placeholder 2"/>
          <p:cNvSpPr>
            <a:spLocks noGrp="1"/>
          </p:cNvSpPr>
          <p:nvPr>
            <p:ph idx="1"/>
          </p:nvPr>
        </p:nvSpPr>
        <p:spPr/>
        <p:txBody>
          <a:bodyPr/>
          <a:lstStyle/>
          <a:p>
            <a:r>
              <a:rPr lang="en-US" dirty="0" smtClean="0"/>
              <a:t>1) myocardial ischemia/infarction,</a:t>
            </a:r>
          </a:p>
          <a:p>
            <a:r>
              <a:rPr lang="en-US" dirty="0" smtClean="0"/>
              <a:t>(2) cardiac </a:t>
            </a:r>
            <a:r>
              <a:rPr lang="en-US" dirty="0" err="1" smtClean="0"/>
              <a:t>dysrhythmias</a:t>
            </a:r>
            <a:endParaRPr lang="en-US" dirty="0" smtClean="0"/>
          </a:p>
          <a:p>
            <a:r>
              <a:rPr lang="en-US" dirty="0" smtClean="0"/>
              <a:t>(3) </a:t>
            </a:r>
            <a:r>
              <a:rPr lang="en-US" dirty="0" err="1" smtClean="0"/>
              <a:t>neurogenic</a:t>
            </a:r>
            <a:r>
              <a:rPr lang="en-US" dirty="0" smtClean="0"/>
              <a:t> pulmonary edema, and</a:t>
            </a:r>
          </a:p>
          <a:p>
            <a:r>
              <a:rPr lang="en-US" dirty="0" smtClean="0"/>
              <a:t> (4) gastric hemorrhage.</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250</a:t>
            </a:fld>
            <a:endParaRPr lang="en-US"/>
          </a:p>
        </p:txBody>
      </p:sp>
    </p:spTree>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Anesthetic Technique </a:t>
            </a:r>
            <a:endParaRPr lang="en-US" dirty="0"/>
          </a:p>
        </p:txBody>
      </p:sp>
      <p:sp>
        <p:nvSpPr>
          <p:cNvPr id="3" name="Content Placeholder 2"/>
          <p:cNvSpPr>
            <a:spLocks noGrp="1"/>
          </p:cNvSpPr>
          <p:nvPr>
            <p:ph idx="1"/>
          </p:nvPr>
        </p:nvSpPr>
        <p:spPr/>
        <p:txBody>
          <a:bodyPr>
            <a:normAutofit/>
          </a:bodyPr>
          <a:lstStyle/>
          <a:p>
            <a:pPr>
              <a:buNone/>
            </a:pPr>
            <a:r>
              <a:rPr lang="en-US" dirty="0" smtClean="0"/>
              <a:t>The important considerations in anesthetic technique include the following:    </a:t>
            </a:r>
          </a:p>
          <a:p>
            <a:r>
              <a:rPr lang="en-US" dirty="0" smtClean="0"/>
              <a:t>1.    Absolute avoidance of acute hypertension with its attendant risk of </a:t>
            </a:r>
            <a:r>
              <a:rPr lang="en-US" dirty="0" err="1" smtClean="0"/>
              <a:t>rerupture</a:t>
            </a:r>
            <a:r>
              <a:rPr lang="en-US" dirty="0" smtClean="0"/>
              <a:t>   </a:t>
            </a:r>
          </a:p>
          <a:p>
            <a:r>
              <a:rPr lang="en-US" dirty="0" smtClean="0"/>
              <a:t> 2.    Provision of </a:t>
            </a:r>
            <a:r>
              <a:rPr lang="en-US" dirty="0" err="1" smtClean="0"/>
              <a:t>intraoperative</a:t>
            </a:r>
            <a:r>
              <a:rPr lang="en-US" dirty="0" smtClean="0"/>
              <a:t> brain relaxation to facilitate surgical access to the aneurysm    </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251</a:t>
            </a:fld>
            <a:endParaRPr lang="en-US"/>
          </a:p>
        </p:txBody>
      </p:sp>
    </p:spTree>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3.    Maintenance of a high-normal    </a:t>
            </a:r>
          </a:p>
          <a:p>
            <a:pPr>
              <a:buNone/>
            </a:pPr>
            <a:r>
              <a:rPr lang="en-US" dirty="0" smtClean="0"/>
              <a:t>        MAP(CPP) </a:t>
            </a:r>
          </a:p>
          <a:p>
            <a:r>
              <a:rPr lang="en-US" dirty="0" smtClean="0"/>
              <a:t>4.    Preparedness to perform precise            manipulations of MAP</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252</a:t>
            </a:fld>
            <a:endParaRPr lang="en-US"/>
          </a:p>
        </p:txBody>
      </p:sp>
    </p:spTree>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Monitoring</a:t>
            </a:r>
            <a:endParaRPr lang="en-US" dirty="0"/>
          </a:p>
        </p:txBody>
      </p:sp>
      <p:sp>
        <p:nvSpPr>
          <p:cNvPr id="3" name="Content Placeholder 2"/>
          <p:cNvSpPr>
            <a:spLocks noGrp="1"/>
          </p:cNvSpPr>
          <p:nvPr>
            <p:ph idx="1"/>
          </p:nvPr>
        </p:nvSpPr>
        <p:spPr/>
        <p:txBody>
          <a:bodyPr/>
          <a:lstStyle/>
          <a:p>
            <a:pPr>
              <a:buNone/>
            </a:pPr>
            <a:r>
              <a:rPr lang="en-US" dirty="0" smtClean="0"/>
              <a:t> </a:t>
            </a:r>
          </a:p>
          <a:p>
            <a:r>
              <a:rPr lang="en-US" dirty="0" smtClean="0"/>
              <a:t>An arterial line is invariably appropriate. CVP may be relevant for large doses of </a:t>
            </a:r>
            <a:r>
              <a:rPr lang="en-US" dirty="0" err="1" smtClean="0"/>
              <a:t>mannitol</a:t>
            </a:r>
            <a:r>
              <a:rPr lang="en-US" dirty="0" smtClean="0"/>
              <a:t> to promote brain relaxation and may be used in older patients to guide volume replacement in the event of bleeding.</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253</a:t>
            </a:fld>
            <a:endParaRPr lang="en-US"/>
          </a:p>
        </p:txBody>
      </p:sp>
    </p:spTree>
  </p:cSld>
  <p:clrMapOvr>
    <a:masterClrMapping/>
  </p:clrMapOvr>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Anesthetic Selection.</a:t>
            </a:r>
            <a:endParaRPr lang="en-US" dirty="0"/>
          </a:p>
        </p:txBody>
      </p:sp>
      <p:sp>
        <p:nvSpPr>
          <p:cNvPr id="3" name="Content Placeholder 2"/>
          <p:cNvSpPr>
            <a:spLocks noGrp="1"/>
          </p:cNvSpPr>
          <p:nvPr>
            <p:ph idx="1"/>
          </p:nvPr>
        </p:nvSpPr>
        <p:spPr/>
        <p:txBody>
          <a:bodyPr>
            <a:normAutofit/>
          </a:bodyPr>
          <a:lstStyle/>
          <a:p>
            <a:pPr>
              <a:buNone/>
            </a:pPr>
            <a:r>
              <a:rPr lang="en-US" dirty="0" smtClean="0"/>
              <a:t>  </a:t>
            </a:r>
          </a:p>
          <a:p>
            <a:r>
              <a:rPr lang="en-US" dirty="0" smtClean="0"/>
              <a:t>Any technique that permits proper control of MAP is acceptable. </a:t>
            </a:r>
          </a:p>
          <a:p>
            <a:r>
              <a:rPr lang="en-US" dirty="0" smtClean="0"/>
              <a:t>In the face of increased ICP or a tight surgical field, an inhaled agent technique may be less suitable. </a:t>
            </a:r>
          </a:p>
          <a:p>
            <a:r>
              <a:rPr lang="en-US" dirty="0" smtClean="0"/>
              <a:t>The prevention of paroxysmal hypertension</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254</a:t>
            </a:fld>
            <a:endParaRPr lang="en-US"/>
          </a:p>
        </p:txBody>
      </p:sp>
    </p:spTree>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5562600"/>
          </a:xfrm>
        </p:spPr>
        <p:txBody>
          <a:bodyPr>
            <a:normAutofit/>
          </a:bodyPr>
          <a:lstStyle/>
          <a:p>
            <a:r>
              <a:rPr lang="en-US" dirty="0" smtClean="0"/>
              <a:t>Induced Hypotension</a:t>
            </a:r>
          </a:p>
          <a:p>
            <a:pPr>
              <a:buNone/>
            </a:pPr>
            <a:r>
              <a:rPr lang="en-US" dirty="0" smtClean="0"/>
              <a:t>    sodium </a:t>
            </a:r>
            <a:r>
              <a:rPr lang="en-US" dirty="0" err="1" smtClean="0"/>
              <a:t>nitroprusside</a:t>
            </a:r>
            <a:r>
              <a:rPr lang="en-US" dirty="0" smtClean="0"/>
              <a:t> infusion</a:t>
            </a:r>
          </a:p>
          <a:p>
            <a:r>
              <a:rPr lang="en-US" dirty="0" smtClean="0"/>
              <a:t>Induced Hypertension. </a:t>
            </a:r>
            <a:r>
              <a:rPr lang="en-US" b="1" dirty="0" smtClean="0"/>
              <a:t> </a:t>
            </a:r>
          </a:p>
          <a:p>
            <a:pPr>
              <a:buNone/>
            </a:pPr>
            <a:r>
              <a:rPr lang="en-US" dirty="0" smtClean="0"/>
              <a:t>may be requested during periods of temporary arterial occlusion to augment collateral CBF. transient elevation of the systolic pressure to 150 mm Hg. </a:t>
            </a:r>
            <a:r>
              <a:rPr lang="en-US" dirty="0" err="1" smtClean="0"/>
              <a:t>Phenylephrine</a:t>
            </a:r>
            <a:r>
              <a:rPr lang="en-US" dirty="0" smtClean="0"/>
              <a:t> is suitable</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255</a:t>
            </a:fld>
            <a:endParaRPr lang="en-US"/>
          </a:p>
        </p:txBody>
      </p:sp>
    </p:spTree>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err="1" smtClean="0"/>
              <a:t>Hypocapnia</a:t>
            </a:r>
            <a:r>
              <a:rPr lang="en-US" dirty="0" smtClean="0"/>
              <a:t>. </a:t>
            </a:r>
          </a:p>
          <a:p>
            <a:r>
              <a:rPr lang="en-US" dirty="0" smtClean="0"/>
              <a:t>Lumbar Cerebrospinal Fluid Drainage</a:t>
            </a:r>
          </a:p>
          <a:p>
            <a:r>
              <a:rPr lang="en-US" dirty="0" err="1" smtClean="0"/>
              <a:t>Mannitol</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256</a:t>
            </a:fld>
            <a:endParaRPr lang="en-US"/>
          </a:p>
        </p:txBody>
      </p:sp>
    </p:spTree>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t>Emergence</a:t>
            </a:r>
            <a:endParaRPr lang="en-US" dirty="0"/>
          </a:p>
        </p:txBody>
      </p:sp>
      <p:sp>
        <p:nvSpPr>
          <p:cNvPr id="3" name="Content Placeholder 2"/>
          <p:cNvSpPr>
            <a:spLocks noGrp="1"/>
          </p:cNvSpPr>
          <p:nvPr>
            <p:ph idx="1"/>
          </p:nvPr>
        </p:nvSpPr>
        <p:spPr/>
        <p:txBody>
          <a:bodyPr>
            <a:normAutofit/>
          </a:bodyPr>
          <a:lstStyle/>
          <a:p>
            <a:r>
              <a:rPr lang="en-US" dirty="0" smtClean="0"/>
              <a:t>patients should be </a:t>
            </a:r>
            <a:r>
              <a:rPr lang="en-US" dirty="0" err="1" smtClean="0"/>
              <a:t>extubated</a:t>
            </a:r>
            <a:r>
              <a:rPr lang="en-US" dirty="0" smtClean="0"/>
              <a:t> with a minimum of coughing or blood pressure fluctuation. </a:t>
            </a:r>
          </a:p>
          <a:p>
            <a:r>
              <a:rPr lang="en-US" dirty="0" smtClean="0"/>
              <a:t>Blood pressure control is important for patients with </a:t>
            </a:r>
            <a:r>
              <a:rPr lang="en-US" dirty="0" err="1" smtClean="0"/>
              <a:t>unruptured</a:t>
            </a:r>
            <a:r>
              <a:rPr lang="en-US" dirty="0" smtClean="0"/>
              <a:t> aneurysms.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257</a:t>
            </a:fld>
            <a:endParaRPr lang="en-US"/>
          </a:p>
        </p:txBody>
      </p:sp>
    </p:spTree>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t>Postoperative Anesthetic Care</a:t>
            </a:r>
            <a:endParaRPr lang="en-US" dirty="0"/>
          </a:p>
        </p:txBody>
      </p:sp>
      <p:sp>
        <p:nvSpPr>
          <p:cNvPr id="3" name="Content Placeholder 2"/>
          <p:cNvSpPr>
            <a:spLocks noGrp="1"/>
          </p:cNvSpPr>
          <p:nvPr>
            <p:ph idx="1"/>
          </p:nvPr>
        </p:nvSpPr>
        <p:spPr/>
        <p:txBody>
          <a:bodyPr>
            <a:normAutofit/>
          </a:bodyPr>
          <a:lstStyle/>
          <a:p>
            <a:r>
              <a:rPr lang="en-US" dirty="0" smtClean="0"/>
              <a:t>May need ICU to ensure </a:t>
            </a:r>
          </a:p>
          <a:p>
            <a:r>
              <a:rPr lang="en-US" dirty="0" smtClean="0"/>
              <a:t>Continued hemodynamic monitoring, </a:t>
            </a:r>
          </a:p>
          <a:p>
            <a:r>
              <a:rPr lang="en-US" dirty="0" smtClean="0"/>
              <a:t>Adequate oxygenation</a:t>
            </a:r>
          </a:p>
          <a:p>
            <a:r>
              <a:rPr lang="en-US" dirty="0" smtClean="0"/>
              <a:t>Optimum fluid and electrolyte management</a:t>
            </a:r>
          </a:p>
          <a:p>
            <a:r>
              <a:rPr lang="en-US" dirty="0" smtClean="0"/>
              <a:t> Early detection of complications such as vasospasm. </a:t>
            </a:r>
          </a:p>
          <a:p>
            <a:r>
              <a:rPr lang="en-US" dirty="0" smtClean="0"/>
              <a:t>Analgesics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258</a:t>
            </a:fld>
            <a:endParaRPr lang="en-US"/>
          </a:p>
        </p:txBody>
      </p:sp>
    </p:spTree>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Arteriovenous</a:t>
            </a:r>
            <a:r>
              <a:rPr lang="en-US" dirty="0" smtClean="0"/>
              <a:t> Malformations</a:t>
            </a:r>
            <a:endParaRPr lang="en-US" dirty="0"/>
          </a:p>
        </p:txBody>
      </p:sp>
      <p:sp>
        <p:nvSpPr>
          <p:cNvPr id="3" name="Content Placeholder 2"/>
          <p:cNvSpPr>
            <a:spLocks noGrp="1"/>
          </p:cNvSpPr>
          <p:nvPr>
            <p:ph idx="1"/>
          </p:nvPr>
        </p:nvSpPr>
        <p:spPr/>
        <p:txBody>
          <a:bodyPr/>
          <a:lstStyle/>
          <a:p>
            <a:r>
              <a:rPr lang="en-US" dirty="0" smtClean="0"/>
              <a:t>An AVM is an abnormal collection of dysplastic vessels. 75% are </a:t>
            </a:r>
            <a:r>
              <a:rPr lang="en-US" dirty="0" err="1" smtClean="0"/>
              <a:t>supratentorial</a:t>
            </a:r>
            <a:r>
              <a:rPr lang="en-US" dirty="0" smtClean="0"/>
              <a:t>. </a:t>
            </a:r>
          </a:p>
          <a:p>
            <a:r>
              <a:rPr lang="en-US" dirty="0" smtClean="0"/>
              <a:t>AVMs are congenital lesions and are usually manifested before the age of 40 as cerebral hemorrhage (most common)</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259</a:t>
            </a:fld>
            <a:endParaRPr lang="en-US"/>
          </a:p>
        </p:txBody>
      </p:sp>
    </p:spTree>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r>
              <a:rPr lang="en-US" dirty="0" smtClean="0"/>
              <a:t>A problem that is specific to AVMs is the phenomenon known as “perfusion pressure breakthrough,” or cerebral </a:t>
            </a:r>
            <a:r>
              <a:rPr lang="en-US" dirty="0" err="1" smtClean="0"/>
              <a:t>dysautoregulation</a:t>
            </a:r>
            <a:r>
              <a:rPr lang="en-US" dirty="0" smtClean="0"/>
              <a:t>.</a:t>
            </a:r>
            <a:r>
              <a:rPr lang="en-US" baseline="30000" dirty="0" smtClean="0"/>
              <a:t> </a:t>
            </a:r>
          </a:p>
          <a:p>
            <a:r>
              <a:rPr lang="en-US" dirty="0" smtClean="0"/>
              <a:t> It is characterized by an often sudden engorgement and swelling of the brain, sometimes with a relentless cauliflower-like protrusion from the cranium. </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260</a:t>
            </a:fld>
            <a:endParaRPr lang="en-US"/>
          </a:p>
        </p:txBody>
      </p:sp>
    </p:spTree>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Anesthetic Technique </a:t>
            </a:r>
            <a:endParaRPr lang="en-US" dirty="0"/>
          </a:p>
        </p:txBody>
      </p:sp>
      <p:sp>
        <p:nvSpPr>
          <p:cNvPr id="3" name="Content Placeholder 2"/>
          <p:cNvSpPr>
            <a:spLocks noGrp="1"/>
          </p:cNvSpPr>
          <p:nvPr>
            <p:ph idx="1"/>
          </p:nvPr>
        </p:nvSpPr>
        <p:spPr/>
        <p:txBody>
          <a:bodyPr/>
          <a:lstStyle/>
          <a:p>
            <a:r>
              <a:rPr lang="en-US" dirty="0" smtClean="0"/>
              <a:t>The management constraints are essentially the same as those relevant to aneurysm surgery, although the risk of </a:t>
            </a:r>
            <a:r>
              <a:rPr lang="en-US" dirty="0" err="1" smtClean="0"/>
              <a:t>intraoperative</a:t>
            </a:r>
            <a:r>
              <a:rPr lang="en-US" dirty="0" smtClean="0"/>
              <a:t> rupture is much less. </a:t>
            </a:r>
          </a:p>
          <a:p>
            <a:r>
              <a:rPr lang="en-US" dirty="0" smtClean="0"/>
              <a:t>severe </a:t>
            </a:r>
            <a:r>
              <a:rPr lang="en-US" dirty="0" err="1" smtClean="0"/>
              <a:t>intraoperative</a:t>
            </a:r>
            <a:r>
              <a:rPr lang="en-US" dirty="0" smtClean="0"/>
              <a:t> bleeding can occur and may be associated with malignant cerebral edema.</a:t>
            </a:r>
          </a:p>
          <a:p>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261</a:t>
            </a:fld>
            <a:endParaRPr lang="en-US"/>
          </a:p>
        </p:txBody>
      </p:sp>
    </p:spTree>
  </p:cSld>
  <p:clrMapOvr>
    <a:masterClrMapping/>
  </p:clrMapOvr>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a:bodyPr>
          <a:lstStyle/>
          <a:p>
            <a:r>
              <a:rPr lang="en-US" dirty="0" smtClean="0"/>
              <a:t>With severe episodes of swelling, we have employed </a:t>
            </a:r>
            <a:r>
              <a:rPr lang="en-US" dirty="0" err="1" smtClean="0"/>
              <a:t>hypocapnia</a:t>
            </a:r>
            <a:r>
              <a:rPr lang="en-US" dirty="0" smtClean="0"/>
              <a:t>, hypothermia, and barbiturates</a:t>
            </a:r>
          </a:p>
          <a:p>
            <a:r>
              <a:rPr lang="en-US" dirty="0" smtClean="0"/>
              <a:t>prevent pop hypertension in AVM surgery, </a:t>
            </a:r>
          </a:p>
          <a:p>
            <a:r>
              <a:rPr lang="en-US" dirty="0" smtClean="0"/>
              <a:t>Edema or hemorrhage if hypertension occurs</a:t>
            </a:r>
            <a:endParaRPr lang="en-US" dirty="0"/>
          </a:p>
        </p:txBody>
      </p:sp>
      <p:sp>
        <p:nvSpPr>
          <p:cNvPr id="4" name="Footer Placeholder 3"/>
          <p:cNvSpPr>
            <a:spLocks noGrp="1"/>
          </p:cNvSpPr>
          <p:nvPr>
            <p:ph type="ftr" sz="quarter" idx="11"/>
          </p:nvPr>
        </p:nvSpPr>
        <p:spPr/>
        <p:txBody>
          <a:bodyPr/>
          <a:lstStyle/>
          <a:p>
            <a:r>
              <a:rPr lang="en-US" smtClean="0"/>
              <a:t>By Siryet Tesfaye</a:t>
            </a:r>
            <a:endParaRPr lang="en-US"/>
          </a:p>
        </p:txBody>
      </p:sp>
      <p:sp>
        <p:nvSpPr>
          <p:cNvPr id="5" name="Slide Number Placeholder 4"/>
          <p:cNvSpPr>
            <a:spLocks noGrp="1"/>
          </p:cNvSpPr>
          <p:nvPr>
            <p:ph type="sldNum" sz="quarter" idx="12"/>
          </p:nvPr>
        </p:nvSpPr>
        <p:spPr/>
        <p:txBody>
          <a:bodyPr/>
          <a:lstStyle/>
          <a:p>
            <a:fld id="{1528205D-516C-4A2E-8491-92189BC25433}" type="slidenum">
              <a:rPr lang="en-US" smtClean="0"/>
              <a:pPr/>
              <a:t>262</a:t>
            </a:fld>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107398</TotalTime>
  <Words>10791</Words>
  <Application>Microsoft Office PowerPoint</Application>
  <PresentationFormat>On-screen Show (4:3)</PresentationFormat>
  <Paragraphs>1381</Paragraphs>
  <Slides>262</Slides>
  <Notes>6</Notes>
  <HiddenSlides>0</HiddenSlides>
  <MMClips>0</MMClips>
  <ScaleCrop>false</ScaleCrop>
  <HeadingPairs>
    <vt:vector size="4" baseType="variant">
      <vt:variant>
        <vt:lpstr>Theme</vt:lpstr>
      </vt:variant>
      <vt:variant>
        <vt:i4>1</vt:i4>
      </vt:variant>
      <vt:variant>
        <vt:lpstr>Slide Titles</vt:lpstr>
      </vt:variant>
      <vt:variant>
        <vt:i4>262</vt:i4>
      </vt:variant>
    </vt:vector>
  </HeadingPairs>
  <TitlesOfParts>
    <vt:vector size="263" baseType="lpstr">
      <vt:lpstr>Solstice</vt:lpstr>
      <vt:lpstr>Anesthesia for Neurosurgery   </vt:lpstr>
      <vt:lpstr>Part    I  Anesthesia for Neurosurgery</vt:lpstr>
      <vt:lpstr>Out line</vt:lpstr>
      <vt:lpstr>Assignments</vt:lpstr>
      <vt:lpstr>C0nt</vt:lpstr>
      <vt:lpstr>                     Introduction                     </vt:lpstr>
      <vt:lpstr>Cont…</vt:lpstr>
      <vt:lpstr>Slide 8</vt:lpstr>
      <vt:lpstr>Slide 9</vt:lpstr>
      <vt:lpstr>Supratentorial Compartment </vt:lpstr>
      <vt:lpstr>Slide 11</vt:lpstr>
      <vt:lpstr>Slide 12</vt:lpstr>
      <vt:lpstr>Diencephalon </vt:lpstr>
      <vt:lpstr>Slide 14</vt:lpstr>
      <vt:lpstr>Infratentorial Compartment </vt:lpstr>
      <vt:lpstr>Cerebellum </vt:lpstr>
      <vt:lpstr>Slide 17</vt:lpstr>
      <vt:lpstr>Cerebral Circulation</vt:lpstr>
      <vt:lpstr>Slide 19</vt:lpstr>
      <vt:lpstr>The arterial supply to the brain is from </vt:lpstr>
      <vt:lpstr>Slide 21</vt:lpstr>
      <vt:lpstr>Slide 22</vt:lpstr>
      <vt:lpstr>Slide 23</vt:lpstr>
      <vt:lpstr>Slide 24</vt:lpstr>
      <vt:lpstr>Venous Drainage </vt:lpstr>
      <vt:lpstr>Slide 26</vt:lpstr>
      <vt:lpstr>Spinal Cord </vt:lpstr>
      <vt:lpstr>The principal functions of the spinal cord are:-</vt:lpstr>
      <vt:lpstr>Slide 29</vt:lpstr>
      <vt:lpstr>Slide 30</vt:lpstr>
      <vt:lpstr>Slide 31</vt:lpstr>
      <vt:lpstr>Cerebrospinal Fluid </vt:lpstr>
      <vt:lpstr>Slide 33</vt:lpstr>
      <vt:lpstr>CSF formation</vt:lpstr>
      <vt:lpstr>Absorption of CSF</vt:lpstr>
      <vt:lpstr>Blood supply to SC</vt:lpstr>
      <vt:lpstr>Cont…</vt:lpstr>
      <vt:lpstr>Cont…</vt:lpstr>
      <vt:lpstr>Blood-Brain Barrier </vt:lpstr>
      <vt:lpstr>Cerebral Blood Flow and Its Control</vt:lpstr>
      <vt:lpstr>Autoregulation </vt:lpstr>
      <vt:lpstr>Slide 42</vt:lpstr>
      <vt:lpstr>Cont…</vt:lpstr>
      <vt:lpstr>Myogenic Regulation (Autoregulation) of Cerebral Blood Flow</vt:lpstr>
      <vt:lpstr>Neurogenic Regulation of Cerebral Blood Flow</vt:lpstr>
      <vt:lpstr>Cont…</vt:lpstr>
      <vt:lpstr>Slide 47</vt:lpstr>
      <vt:lpstr>Factors affecting CBF</vt:lpstr>
      <vt:lpstr>Cont…</vt:lpstr>
      <vt:lpstr>Cont…</vt:lpstr>
      <vt:lpstr>Slide 51</vt:lpstr>
      <vt:lpstr>Arterial Oxygen Tension and Content</vt:lpstr>
      <vt:lpstr>Cont…</vt:lpstr>
      <vt:lpstr>Other global factors affecting CBF</vt:lpstr>
      <vt:lpstr>Hematocrit</vt:lpstr>
      <vt:lpstr>Catecholamine Agonists/Antagonists  </vt:lpstr>
      <vt:lpstr>Slide 57</vt:lpstr>
      <vt:lpstr>Systemic Vasodilators  </vt:lpstr>
      <vt:lpstr>TEMPERATURE</vt:lpstr>
      <vt:lpstr>Effects Of Anesthetic Agents On Cerebral Blood Flow </vt:lpstr>
      <vt:lpstr>Barbiturates </vt:lpstr>
      <vt:lpstr>Cont…</vt:lpstr>
      <vt:lpstr>Cont…</vt:lpstr>
      <vt:lpstr>Cont…</vt:lpstr>
      <vt:lpstr>Slide 65</vt:lpstr>
      <vt:lpstr>Propofol</vt:lpstr>
      <vt:lpstr>Etomidate </vt:lpstr>
      <vt:lpstr>Cont…</vt:lpstr>
      <vt:lpstr>Slide 69</vt:lpstr>
      <vt:lpstr>Ketamine</vt:lpstr>
      <vt:lpstr>Cont…</vt:lpstr>
      <vt:lpstr>Narcotics</vt:lpstr>
      <vt:lpstr>Lidocaine  </vt:lpstr>
      <vt:lpstr>Benzodiazepine </vt:lpstr>
      <vt:lpstr>Muscle Relaxants  Nondepolarizing Relaxants  </vt:lpstr>
      <vt:lpstr>Slide 76</vt:lpstr>
      <vt:lpstr>Slide 77</vt:lpstr>
      <vt:lpstr>Cont…</vt:lpstr>
      <vt:lpstr>Slide 79</vt:lpstr>
      <vt:lpstr>Succinylcholine</vt:lpstr>
      <vt:lpstr>Cont…</vt:lpstr>
      <vt:lpstr>Inhalational Agents </vt:lpstr>
      <vt:lpstr>Slide 83</vt:lpstr>
      <vt:lpstr>Cerebral Metabolic Rate</vt:lpstr>
      <vt:lpstr>Cerebral Blood Flow &amp; Volume </vt:lpstr>
      <vt:lpstr>Cerebrospinal Fluid Dynamics </vt:lpstr>
      <vt:lpstr>Intracranial Pressure </vt:lpstr>
      <vt:lpstr>Cont…</vt:lpstr>
      <vt:lpstr>Nitrous Oxide </vt:lpstr>
      <vt:lpstr>Cont…</vt:lpstr>
      <vt:lpstr>Section 2</vt:lpstr>
      <vt:lpstr>Slide 92</vt:lpstr>
      <vt:lpstr>Intracranial pressure</vt:lpstr>
      <vt:lpstr>Intracranial compliance</vt:lpstr>
      <vt:lpstr>Slide 95</vt:lpstr>
      <vt:lpstr>Slide 96</vt:lpstr>
      <vt:lpstr>Herniation mayoccur (1) the cingulate gyrus,  (2) theuncinate gyrus, (3) the cerebellar tonsils, or (4) any area beneath a defect in the skull  </vt:lpstr>
      <vt:lpstr>Slide 98</vt:lpstr>
      <vt:lpstr>Pathophysiologic Mechanisms and Causes of Raised Intracranial Pressure</vt:lpstr>
      <vt:lpstr>1. Brain edema</vt:lpstr>
      <vt:lpstr>2. Increases in cerebral blood volume</vt:lpstr>
      <vt:lpstr>3.Increases in intracranial CSF volume</vt:lpstr>
      <vt:lpstr>4. Intra- and extra-axial mass lesions</vt:lpstr>
      <vt:lpstr>Slide 104</vt:lpstr>
      <vt:lpstr>Slide 105</vt:lpstr>
      <vt:lpstr>Slide 106</vt:lpstr>
      <vt:lpstr>Progressive increases in ICP </vt:lpstr>
      <vt:lpstr>Radiologic Signs of Intracranial Hypertension   </vt:lpstr>
      <vt:lpstr>Slide 109</vt:lpstr>
      <vt:lpstr>Pathophysiology of Cerebral Ischemia </vt:lpstr>
      <vt:lpstr>Pathophysiology of Cerebral Ischemia</vt:lpstr>
      <vt:lpstr>Slide 112</vt:lpstr>
      <vt:lpstr>Slide 113</vt:lpstr>
      <vt:lpstr>Slide 114</vt:lpstr>
      <vt:lpstr>Slide 115</vt:lpstr>
      <vt:lpstr>Cont…</vt:lpstr>
      <vt:lpstr>Slide 117</vt:lpstr>
      <vt:lpstr>Intraoperative Brain Protection</vt:lpstr>
      <vt:lpstr>Barbiturates</vt:lpstr>
      <vt:lpstr>Cont…</vt:lpstr>
      <vt:lpstr>Propofol </vt:lpstr>
      <vt:lpstr>Cont…</vt:lpstr>
      <vt:lpstr>Etomidate</vt:lpstr>
      <vt:lpstr>Cont…</vt:lpstr>
      <vt:lpstr>Cont…</vt:lpstr>
      <vt:lpstr>Ketamine</vt:lpstr>
      <vt:lpstr>Volatile Anesthetics</vt:lpstr>
      <vt:lpstr>Summary</vt:lpstr>
      <vt:lpstr>Body Temperature </vt:lpstr>
      <vt:lpstr>Slide 130</vt:lpstr>
      <vt:lpstr>Cerebral Perfusion Pressure </vt:lpstr>
      <vt:lpstr>Slide 132</vt:lpstr>
      <vt:lpstr>Slide 133</vt:lpstr>
      <vt:lpstr>Slide 134</vt:lpstr>
      <vt:lpstr>Management of Arterial Blood Pressure</vt:lpstr>
      <vt:lpstr>Slide 136</vt:lpstr>
      <vt:lpstr>Blood Glucose</vt:lpstr>
      <vt:lpstr>Cont…</vt:lpstr>
      <vt:lpstr>Slide 139</vt:lpstr>
      <vt:lpstr>Cont…</vt:lpstr>
      <vt:lpstr>Cont…</vt:lpstr>
      <vt:lpstr>Diuretics </vt:lpstr>
      <vt:lpstr>Cont…</vt:lpstr>
      <vt:lpstr>Narcotics  </vt:lpstr>
      <vt:lpstr>Slide 145</vt:lpstr>
      <vt:lpstr>Slide 146</vt:lpstr>
      <vt:lpstr>Slide 147</vt:lpstr>
      <vt:lpstr>Cont…</vt:lpstr>
      <vt:lpstr>Anesthesia for elective  intracranial surgery</vt:lpstr>
      <vt:lpstr>Preoperative Assessment</vt:lpstr>
      <vt:lpstr>Slide 151</vt:lpstr>
      <vt:lpstr>Why is the Patient Having This Procedure Now?</vt:lpstr>
      <vt:lpstr>Cont…</vt:lpstr>
      <vt:lpstr>Slide 154</vt:lpstr>
      <vt:lpstr>History</vt:lpstr>
      <vt:lpstr>Slide 156</vt:lpstr>
      <vt:lpstr>Slide 157</vt:lpstr>
      <vt:lpstr>Slide 158</vt:lpstr>
      <vt:lpstr>Slide 159</vt:lpstr>
      <vt:lpstr>Slide 160</vt:lpstr>
      <vt:lpstr>Slide 161</vt:lpstr>
      <vt:lpstr>Examination</vt:lpstr>
      <vt:lpstr>Cont…</vt:lpstr>
      <vt:lpstr>Slide 164</vt:lpstr>
      <vt:lpstr>Slide 165</vt:lpstr>
      <vt:lpstr>Slide 166</vt:lpstr>
      <vt:lpstr>Slide 167</vt:lpstr>
      <vt:lpstr>Investigations </vt:lpstr>
      <vt:lpstr>Slide 169</vt:lpstr>
      <vt:lpstr>imaging of the surgical field</vt:lpstr>
      <vt:lpstr>Slide 171</vt:lpstr>
      <vt:lpstr>Slide 172</vt:lpstr>
      <vt:lpstr>Delivering Information to the Patient</vt:lpstr>
      <vt:lpstr>Cont,..</vt:lpstr>
      <vt:lpstr>Slide 175</vt:lpstr>
      <vt:lpstr>Preoperative Optimization of Neurosurgical Patients</vt:lpstr>
      <vt:lpstr>Premedication before Neurosurgical Procedures</vt:lpstr>
      <vt:lpstr>Planning for Postoperative Management</vt:lpstr>
      <vt:lpstr>Slide 179</vt:lpstr>
      <vt:lpstr>Anesthesia for Supratentorial Surgery</vt:lpstr>
      <vt:lpstr>Slide 181</vt:lpstr>
      <vt:lpstr>Cont…</vt:lpstr>
      <vt:lpstr>Slide 183</vt:lpstr>
      <vt:lpstr>Slide 184</vt:lpstr>
      <vt:lpstr>Slide 185</vt:lpstr>
      <vt:lpstr>Slide 186</vt:lpstr>
      <vt:lpstr>Slide 187</vt:lpstr>
      <vt:lpstr>Surgical Approaches</vt:lpstr>
      <vt:lpstr>Cont…</vt:lpstr>
      <vt:lpstr>Slide 190</vt:lpstr>
      <vt:lpstr>Cont…</vt:lpstr>
      <vt:lpstr>Cont…</vt:lpstr>
      <vt:lpstr>The anesthetic implication is</vt:lpstr>
      <vt:lpstr>Preoperative Management</vt:lpstr>
      <vt:lpstr>Cont…</vt:lpstr>
      <vt:lpstr>Cont…</vt:lpstr>
      <vt:lpstr>Cont…</vt:lpstr>
      <vt:lpstr>Intraoperative Management</vt:lpstr>
      <vt:lpstr>Cont…</vt:lpstr>
      <vt:lpstr>Induction</vt:lpstr>
      <vt:lpstr>Cont…</vt:lpstr>
      <vt:lpstr>Slide 202</vt:lpstr>
      <vt:lpstr>Positioning the Patient</vt:lpstr>
      <vt:lpstr>Maintenance of Anesthesia</vt:lpstr>
      <vt:lpstr>Cont…</vt:lpstr>
      <vt:lpstr>High Intracranial Pressure/“Tight Brain” Checklist</vt:lpstr>
      <vt:lpstr>Cont…</vt:lpstr>
      <vt:lpstr>Slide 208</vt:lpstr>
      <vt:lpstr>Fluid Management</vt:lpstr>
      <vt:lpstr>Intraoperative Complications </vt:lpstr>
      <vt:lpstr>Management of Intraoperative Cerebral Edema</vt:lpstr>
      <vt:lpstr>Cont…</vt:lpstr>
      <vt:lpstr>Emergence</vt:lpstr>
      <vt:lpstr>Cont…</vt:lpstr>
      <vt:lpstr>Slide 215</vt:lpstr>
      <vt:lpstr>Postoperative Management</vt:lpstr>
      <vt:lpstr>Cont…</vt:lpstr>
      <vt:lpstr>Anesthesia for Intracranial Vascular Lesions</vt:lpstr>
      <vt:lpstr>Slide 219</vt:lpstr>
      <vt:lpstr>Slide 220</vt:lpstr>
      <vt:lpstr>Subarachnoid Hemorrhage Epidemiology</vt:lpstr>
      <vt:lpstr>Slide 222</vt:lpstr>
      <vt:lpstr>Slide 223</vt:lpstr>
      <vt:lpstr>Death commonly results from </vt:lpstr>
      <vt:lpstr>Pathophysiology of Cerebral Aneurysms</vt:lpstr>
      <vt:lpstr>Slide 226</vt:lpstr>
      <vt:lpstr>Slide 227</vt:lpstr>
      <vt:lpstr>Slide 228</vt:lpstr>
      <vt:lpstr>Slide 229</vt:lpstr>
      <vt:lpstr>Cont…</vt:lpstr>
      <vt:lpstr>Diagnosis and Investigations</vt:lpstr>
      <vt:lpstr>Cont…</vt:lpstr>
      <vt:lpstr>Treatment of Cerebral Aneurysms </vt:lpstr>
      <vt:lpstr>World Federation of Neurological Surgeon Grading Scale</vt:lpstr>
      <vt:lpstr>Hunt and Hess Grading Scale</vt:lpstr>
      <vt:lpstr>Slide 236</vt:lpstr>
      <vt:lpstr>Slide 237</vt:lpstr>
      <vt:lpstr>Slide 238</vt:lpstr>
      <vt:lpstr>Preoperative Evaluation </vt:lpstr>
      <vt:lpstr>Fluid Management</vt:lpstr>
      <vt:lpstr>Slide 241</vt:lpstr>
      <vt:lpstr>Vasospasm</vt:lpstr>
      <vt:lpstr>Slide 243</vt:lpstr>
      <vt:lpstr>Slide 244</vt:lpstr>
      <vt:lpstr>Cont…</vt:lpstr>
      <vt:lpstr>Subarachnoid Hemorrhage–Associated Myocardial Dysfunction.</vt:lpstr>
      <vt:lpstr>Cont…</vt:lpstr>
      <vt:lpstr>Pre operativelly</vt:lpstr>
      <vt:lpstr>Intracranial complications include </vt:lpstr>
      <vt:lpstr>Extracranial complications include</vt:lpstr>
      <vt:lpstr>Anesthetic Technique </vt:lpstr>
      <vt:lpstr>Cont…</vt:lpstr>
      <vt:lpstr>Monitoring</vt:lpstr>
      <vt:lpstr>Anesthetic Selection.</vt:lpstr>
      <vt:lpstr>Slide 255</vt:lpstr>
      <vt:lpstr>Cont…</vt:lpstr>
      <vt:lpstr>Emergence</vt:lpstr>
      <vt:lpstr>Postoperative Anesthetic Care</vt:lpstr>
      <vt:lpstr>Arteriovenous Malformations</vt:lpstr>
      <vt:lpstr>Cont…</vt:lpstr>
      <vt:lpstr>Anesthetic Technique </vt:lpstr>
      <vt:lpstr>cont…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aplus</dc:creator>
  <cp:lastModifiedBy>aplus</cp:lastModifiedBy>
  <cp:revision>157</cp:revision>
  <dcterms:created xsi:type="dcterms:W3CDTF">2014-09-25T05:22:05Z</dcterms:created>
  <dcterms:modified xsi:type="dcterms:W3CDTF">2018-12-06T18:50:01Z</dcterms:modified>
</cp:coreProperties>
</file>