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handoutMasterIdLst>
    <p:handoutMasterId r:id="rId41"/>
  </p:handoutMasterIdLst>
  <p:sldIdLst>
    <p:sldId id="291" r:id="rId2"/>
    <p:sldId id="292" r:id="rId3"/>
    <p:sldId id="256" r:id="rId4"/>
    <p:sldId id="257" r:id="rId5"/>
    <p:sldId id="258" r:id="rId6"/>
    <p:sldId id="259" r:id="rId7"/>
    <p:sldId id="262" r:id="rId8"/>
    <p:sldId id="261" r:id="rId9"/>
    <p:sldId id="263" r:id="rId10"/>
    <p:sldId id="287" r:id="rId11"/>
    <p:sldId id="264" r:id="rId12"/>
    <p:sldId id="265" r:id="rId13"/>
    <p:sldId id="266" r:id="rId14"/>
    <p:sldId id="267" r:id="rId15"/>
    <p:sldId id="268" r:id="rId16"/>
    <p:sldId id="284" r:id="rId17"/>
    <p:sldId id="272" r:id="rId18"/>
    <p:sldId id="269" r:id="rId19"/>
    <p:sldId id="285" r:id="rId20"/>
    <p:sldId id="270" r:id="rId21"/>
    <p:sldId id="273" r:id="rId22"/>
    <p:sldId id="271" r:id="rId23"/>
    <p:sldId id="274" r:id="rId24"/>
    <p:sldId id="275" r:id="rId25"/>
    <p:sldId id="276" r:id="rId26"/>
    <p:sldId id="277" r:id="rId27"/>
    <p:sldId id="278" r:id="rId28"/>
    <p:sldId id="279" r:id="rId29"/>
    <p:sldId id="281" r:id="rId30"/>
    <p:sldId id="280" r:id="rId31"/>
    <p:sldId id="282" r:id="rId32"/>
    <p:sldId id="283" r:id="rId33"/>
    <p:sldId id="286" r:id="rId34"/>
    <p:sldId id="288" r:id="rId35"/>
    <p:sldId id="289" r:id="rId36"/>
    <p:sldId id="290" r:id="rId37"/>
    <p:sldId id="293" r:id="rId38"/>
    <p:sldId id="294" r:id="rId39"/>
    <p:sldId id="295" r:id="rId40"/>
  </p:sldIdLst>
  <p:sldSz cx="9144000" cy="6858000" type="screen4x3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09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9AF5D59E-DCCB-4179-BA0E-E6FD6BD6F7CA}" type="datetimeFigureOut">
              <a:rPr lang="en-US" smtClean="0"/>
              <a:pPr/>
              <a:t>12/15/2017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9FE214BC-8FEF-488B-B22E-38C59907B71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6A2D06-57EE-4E83-B3C4-A5069BDB7F50}" type="datetimeFigureOut">
              <a:rPr lang="en-US" smtClean="0"/>
              <a:pPr/>
              <a:t>12/15/2017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1DFF92E-ED56-4C8F-B5BA-7DE0B47B99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6A2D06-57EE-4E83-B3C4-A5069BDB7F50}" type="datetimeFigureOut">
              <a:rPr lang="en-US" smtClean="0"/>
              <a:pPr/>
              <a:t>12/15/2017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1DFF92E-ED56-4C8F-B5BA-7DE0B47B9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6A2D06-57EE-4E83-B3C4-A5069BDB7F50}" type="datetimeFigureOut">
              <a:rPr lang="en-US" smtClean="0"/>
              <a:pPr/>
              <a:t>12/15/2017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1DFF92E-ED56-4C8F-B5BA-7DE0B47B99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6A2D06-57EE-4E83-B3C4-A5069BDB7F50}" type="datetimeFigureOut">
              <a:rPr lang="en-US" smtClean="0"/>
              <a:pPr/>
              <a:t>12/15/2017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1DFF92E-ED56-4C8F-B5BA-7DE0B47B9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6A2D06-57EE-4E83-B3C4-A5069BDB7F50}" type="datetimeFigureOut">
              <a:rPr lang="en-US" smtClean="0"/>
              <a:pPr/>
              <a:t>12/15/2017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1DFF92E-ED56-4C8F-B5BA-7DE0B47B9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6A2D06-57EE-4E83-B3C4-A5069BDB7F50}" type="datetimeFigureOut">
              <a:rPr lang="en-US" smtClean="0"/>
              <a:pPr/>
              <a:t>12/15/2017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1DFF92E-ED56-4C8F-B5BA-7DE0B47B9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6A2D06-57EE-4E83-B3C4-A5069BDB7F50}" type="datetimeFigureOut">
              <a:rPr lang="en-US" smtClean="0"/>
              <a:pPr/>
              <a:t>12/15/2017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1DFF92E-ED56-4C8F-B5BA-7DE0B47B99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6A2D06-57EE-4E83-B3C4-A5069BDB7F50}" type="datetimeFigureOut">
              <a:rPr lang="en-US" smtClean="0"/>
              <a:pPr/>
              <a:t>12/15/2017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1DFF92E-ED56-4C8F-B5BA-7DE0B47B9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6A2D06-57EE-4E83-B3C4-A5069BDB7F50}" type="datetimeFigureOut">
              <a:rPr lang="en-US" smtClean="0"/>
              <a:pPr/>
              <a:t>12/15/2017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1DFF92E-ED56-4C8F-B5BA-7DE0B47B99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6A2D06-57EE-4E83-B3C4-A5069BDB7F50}" type="datetimeFigureOut">
              <a:rPr lang="en-US" smtClean="0"/>
              <a:pPr/>
              <a:t>12/15/2017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1DFF92E-ED56-4C8F-B5BA-7DE0B47B9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6A2D06-57EE-4E83-B3C4-A5069BDB7F50}" type="datetimeFigureOut">
              <a:rPr lang="en-US" smtClean="0"/>
              <a:pPr/>
              <a:t>12/15/2017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1DFF92E-ED56-4C8F-B5BA-7DE0B47B9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D66A2D06-57EE-4E83-B3C4-A5069BDB7F50}" type="datetimeFigureOut">
              <a:rPr lang="en-US" smtClean="0"/>
              <a:pPr/>
              <a:t>12/15/2017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91DFF92E-ED56-4C8F-B5BA-7DE0B47B99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Case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A 55-year-old woman is admitted with severe</a:t>
            </a:r>
          </a:p>
          <a:p>
            <a:r>
              <a:rPr lang="en-US" dirty="0" smtClean="0"/>
              <a:t>headache and decreased consciousness, and found to have</a:t>
            </a:r>
          </a:p>
          <a:p>
            <a:r>
              <a:rPr lang="en-US" dirty="0" smtClean="0"/>
              <a:t>a subarachnoid hemorrhage from a ruptured </a:t>
            </a:r>
            <a:r>
              <a:rPr lang="en-US" dirty="0" smtClean="0"/>
              <a:t>intracranial aneurysm.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1. What are the most serious complications</a:t>
            </a:r>
          </a:p>
          <a:p>
            <a:pPr>
              <a:buNone/>
            </a:pPr>
            <a:r>
              <a:rPr lang="en-US" dirty="0" smtClean="0"/>
              <a:t>following subarachnoid hemorrhage from aneurysm rupture? What are the treatment options?</a:t>
            </a:r>
          </a:p>
          <a:p>
            <a:pPr>
              <a:buNone/>
            </a:pPr>
            <a:r>
              <a:rPr lang="en-US" dirty="0" smtClean="0"/>
              <a:t>2. How is </a:t>
            </a:r>
            <a:r>
              <a:rPr lang="en-US" dirty="0" smtClean="0"/>
              <a:t>management of aneurysm </a:t>
            </a:r>
            <a:r>
              <a:rPr lang="en-US" dirty="0" smtClean="0"/>
              <a:t>rupture during aneurysm clipping </a:t>
            </a:r>
            <a:r>
              <a:rPr lang="en-US" dirty="0" smtClean="0"/>
              <a:t>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Anesthesia for Surgery in the Posterior </a:t>
            </a:r>
            <a:r>
              <a:rPr lang="en-US" b="1" dirty="0" err="1"/>
              <a:t>Fossa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By </a:t>
            </a:r>
            <a:r>
              <a:rPr lang="en-US" dirty="0" err="1" smtClean="0">
                <a:solidFill>
                  <a:schemeClr val="tx1"/>
                </a:solidFill>
              </a:rPr>
              <a:t>Siryet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Tesfaye</a:t>
            </a:r>
            <a:endParaRPr lang="en-US" dirty="0" smtClean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posterior </a:t>
            </a:r>
            <a:r>
              <a:rPr lang="en-US" dirty="0" err="1" smtClean="0"/>
              <a:t>fossa</a:t>
            </a:r>
            <a:r>
              <a:rPr lang="en-US" dirty="0" smtClean="0"/>
              <a:t> contains the medulla, </a:t>
            </a:r>
            <a:r>
              <a:rPr lang="en-US" dirty="0" err="1" smtClean="0"/>
              <a:t>pons</a:t>
            </a:r>
            <a:r>
              <a:rPr lang="en-US" dirty="0" smtClean="0"/>
              <a:t>, cerebellum, major motor and sensory pathways, primary respiratory and cardiovascular centers, and lower cranial nerve nuclei. </a:t>
            </a:r>
          </a:p>
          <a:p>
            <a:r>
              <a:rPr lang="en-US" dirty="0" smtClean="0"/>
              <a:t>Because of the posterior </a:t>
            </a:r>
            <a:r>
              <a:rPr lang="en-US" dirty="0" err="1" smtClean="0"/>
              <a:t>fossa's</a:t>
            </a:r>
            <a:r>
              <a:rPr lang="en-US" dirty="0" smtClean="0"/>
              <a:t> small size, a localized tumor can significantly compromise these vital brainstem structures and cranial </a:t>
            </a:r>
            <a:r>
              <a:rPr lang="en-US" smtClean="0"/>
              <a:t>nerves.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Pathology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Tumors are the most common posterior </a:t>
            </a:r>
            <a:r>
              <a:rPr lang="en-US" dirty="0" err="1" smtClean="0"/>
              <a:t>fossa</a:t>
            </a:r>
            <a:r>
              <a:rPr lang="en-US" dirty="0" smtClean="0"/>
              <a:t> lesions requiring surgical intervention.</a:t>
            </a:r>
          </a:p>
          <a:p>
            <a:r>
              <a:rPr lang="en-US" dirty="0" smtClean="0"/>
              <a:t>In children, posterior </a:t>
            </a:r>
            <a:r>
              <a:rPr lang="en-US" dirty="0" err="1" smtClean="0"/>
              <a:t>fossa</a:t>
            </a:r>
            <a:r>
              <a:rPr lang="en-US" dirty="0" smtClean="0"/>
              <a:t> tumors account for approximately 60% of all brain tumors.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r>
              <a:rPr lang="en-US" dirty="0" smtClean="0"/>
              <a:t>In the adult population, posterior </a:t>
            </a:r>
            <a:r>
              <a:rPr lang="en-US" dirty="0" err="1" smtClean="0"/>
              <a:t>fossa</a:t>
            </a:r>
            <a:r>
              <a:rPr lang="en-US" dirty="0" smtClean="0"/>
              <a:t> tumors are less frequent </a:t>
            </a:r>
          </a:p>
          <a:p>
            <a:pPr>
              <a:buNone/>
            </a:pPr>
            <a:r>
              <a:rPr lang="en-US" dirty="0" smtClean="0"/>
              <a:t>include </a:t>
            </a:r>
          </a:p>
          <a:p>
            <a:r>
              <a:rPr lang="en-US" dirty="0" smtClean="0"/>
              <a:t>acoustic </a:t>
            </a:r>
            <a:r>
              <a:rPr lang="en-US" dirty="0" err="1" smtClean="0"/>
              <a:t>neuroma</a:t>
            </a:r>
            <a:endParaRPr lang="en-US" dirty="0" smtClean="0"/>
          </a:p>
          <a:p>
            <a:r>
              <a:rPr lang="en-US" dirty="0" smtClean="0"/>
              <a:t>metastases, mainly from the lung and breast; </a:t>
            </a:r>
          </a:p>
          <a:p>
            <a:r>
              <a:rPr lang="en-US" dirty="0" err="1" smtClean="0"/>
              <a:t>meningioma</a:t>
            </a:r>
            <a:r>
              <a:rPr lang="en-US" dirty="0" smtClean="0"/>
              <a:t>, and </a:t>
            </a:r>
            <a:r>
              <a:rPr lang="en-US" dirty="0" err="1" smtClean="0"/>
              <a:t>hemangioblastoma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33400" y="411480"/>
          <a:ext cx="8229600" cy="608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9601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Characteristics to Look for during the Preoperative Evaluation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Signs of raised intracranial pressure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Altered state of consciousness</a:t>
                      </a:r>
                    </a:p>
                    <a:p>
                      <a:r>
                        <a:rPr lang="en-US" sz="2400" dirty="0" smtClean="0"/>
                        <a:t>Nausea and vomiting</a:t>
                      </a:r>
                    </a:p>
                    <a:p>
                      <a:r>
                        <a:rPr lang="en-US" sz="2400" dirty="0" err="1" smtClean="0"/>
                        <a:t>Papilloedema</a:t>
                      </a:r>
                      <a:endParaRPr lang="en-US" sz="240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Signs of brainstem dysfunction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Altered respiratory pattern</a:t>
                      </a:r>
                    </a:p>
                    <a:p>
                      <a:r>
                        <a:rPr lang="en-US" sz="2400" dirty="0" smtClean="0"/>
                        <a:t>Sleep apnea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117348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Signs of cranial nerve dysfunction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Dysphagia</a:t>
                      </a:r>
                      <a:endParaRPr lang="en-US" sz="2400" dirty="0" smtClean="0"/>
                    </a:p>
                    <a:p>
                      <a:r>
                        <a:rPr lang="en-US" sz="2400" dirty="0" smtClean="0"/>
                        <a:t>Absent gag reflex</a:t>
                      </a:r>
                    </a:p>
                    <a:p>
                      <a:r>
                        <a:rPr lang="en-US" sz="2400" dirty="0" smtClean="0"/>
                        <a:t>Changes in phonation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Signs of </a:t>
                      </a:r>
                      <a:r>
                        <a:rPr lang="en-US" sz="2400" dirty="0" err="1" smtClean="0"/>
                        <a:t>cerebellar</a:t>
                      </a:r>
                      <a:r>
                        <a:rPr lang="en-US" sz="2400" dirty="0" smtClean="0"/>
                        <a:t> dysfunction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Ataxia</a:t>
                      </a:r>
                    </a:p>
                    <a:p>
                      <a:r>
                        <a:rPr lang="en-US" sz="2400" dirty="0" err="1" smtClean="0"/>
                        <a:t>Dysmetria</a:t>
                      </a:r>
                      <a:endParaRPr lang="en-US" sz="240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Positioning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Posterior </a:t>
            </a:r>
            <a:r>
              <a:rPr lang="en-US" dirty="0" err="1" smtClean="0"/>
              <a:t>fossa</a:t>
            </a:r>
            <a:r>
              <a:rPr lang="en-US" dirty="0" smtClean="0"/>
              <a:t> surgery can be performed in 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Prone</a:t>
            </a:r>
          </a:p>
          <a:p>
            <a:r>
              <a:rPr lang="en-US" dirty="0" smtClean="0"/>
              <a:t>Semi prone</a:t>
            </a:r>
          </a:p>
          <a:p>
            <a:r>
              <a:rPr lang="en-US" dirty="0" smtClean="0"/>
              <a:t>Park bench position </a:t>
            </a:r>
          </a:p>
          <a:p>
            <a:r>
              <a:rPr lang="en-US" dirty="0" smtClean="0"/>
              <a:t>less commonly, in the sitting position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Induction and Maintenance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Goals of anesthesia include maintenance of cerebral perfusion pressure and avoidance of coughing, straining, and hemodynamic instability. </a:t>
            </a:r>
          </a:p>
          <a:p>
            <a:r>
              <a:rPr lang="en-US" dirty="0" smtClean="0"/>
              <a:t>Techniques that decrease ICP and facilitate brain relaxation should be used to ensure the best surgical conditions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Because some degree of neck flexion is required, we routinely place wire reinforced </a:t>
            </a:r>
            <a:r>
              <a:rPr lang="en-US" dirty="0" err="1" smtClean="0"/>
              <a:t>endotracheal</a:t>
            </a:r>
            <a:r>
              <a:rPr lang="en-US" dirty="0" smtClean="0"/>
              <a:t> tubes. </a:t>
            </a:r>
          </a:p>
          <a:p>
            <a:r>
              <a:rPr lang="en-US" dirty="0" smtClean="0"/>
              <a:t>An alternative is </a:t>
            </a:r>
            <a:r>
              <a:rPr lang="en-US" dirty="0" err="1" smtClean="0"/>
              <a:t>nasotracheal</a:t>
            </a:r>
            <a:r>
              <a:rPr lang="en-US" dirty="0" smtClean="0"/>
              <a:t> intubation.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Arrhythmias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Cardiac arrhythmias are common during manipulation of the brainstem.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Bradycardia</a:t>
            </a:r>
            <a:r>
              <a:rPr lang="en-US" dirty="0" smtClean="0"/>
              <a:t> is the most frequent arrhythmia and usually subsides with cessation of the stimulus.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Emergence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aim of emergence should be early awakening to allow evaluation of neurologic function.</a:t>
            </a:r>
          </a:p>
          <a:p>
            <a:r>
              <a:rPr lang="en-US" dirty="0" smtClean="0"/>
              <a:t> Preoperative neurologic dysfunction, the nature and extent of the surgery, and the degree of airway and tongue edema should be considered before </a:t>
            </a:r>
            <a:r>
              <a:rPr lang="en-US" dirty="0" err="1" smtClean="0"/>
              <a:t>extubation</a:t>
            </a:r>
            <a:r>
              <a:rPr lang="en-US" dirty="0" smtClean="0"/>
              <a:t>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Delaying </a:t>
            </a:r>
            <a:r>
              <a:rPr lang="en-US" dirty="0" err="1" smtClean="0"/>
              <a:t>extubation</a:t>
            </a:r>
            <a:r>
              <a:rPr lang="en-US" dirty="0" smtClean="0"/>
              <a:t> to allow the edema to resolve may be an option.</a:t>
            </a:r>
          </a:p>
          <a:p>
            <a:r>
              <a:rPr lang="en-US" dirty="0" smtClean="0"/>
              <a:t>Hypertension should be avoided in the early postoperative phase because it contributes to postoperative brain edema and increases the risk for postoperative intracranial hemorrhage.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Features to Look for during Evaluation</a:t>
            </a:r>
            <a:br>
              <a:rPr lang="en-US" b="1" dirty="0" smtClean="0"/>
            </a:br>
            <a:r>
              <a:rPr lang="en-US" b="1" dirty="0" smtClean="0"/>
              <a:t>before </a:t>
            </a:r>
            <a:r>
              <a:rPr lang="en-US" b="1" dirty="0" err="1" smtClean="0"/>
              <a:t>Extubation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Level of consciousness</a:t>
            </a:r>
          </a:p>
          <a:p>
            <a:r>
              <a:rPr lang="en-US" dirty="0" smtClean="0"/>
              <a:t>Airway and gag reflex</a:t>
            </a:r>
          </a:p>
          <a:p>
            <a:r>
              <a:rPr lang="en-US" dirty="0" smtClean="0"/>
              <a:t>Face and tongue edema</a:t>
            </a:r>
          </a:p>
          <a:p>
            <a:r>
              <a:rPr lang="en-US" dirty="0" smtClean="0"/>
              <a:t>Airway edema</a:t>
            </a:r>
          </a:p>
          <a:p>
            <a:r>
              <a:rPr lang="en-US" dirty="0" smtClean="0"/>
              <a:t>Regular respiratory pattern</a:t>
            </a:r>
          </a:p>
          <a:p>
            <a:r>
              <a:rPr lang="en-US" dirty="0" smtClean="0"/>
              <a:t>Stable vital parameters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630362"/>
          </a:xfrm>
        </p:spPr>
        <p:txBody>
          <a:bodyPr>
            <a:normAutofit/>
          </a:bodyPr>
          <a:lstStyle/>
          <a:p>
            <a:r>
              <a:rPr lang="en-US" b="1" dirty="0" smtClean="0"/>
              <a:t>Complications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Venous Air Embolism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2209800"/>
            <a:ext cx="7498080" cy="4038600"/>
          </a:xfrm>
        </p:spPr>
        <p:txBody>
          <a:bodyPr>
            <a:normAutofit/>
          </a:bodyPr>
          <a:lstStyle/>
          <a:p>
            <a:r>
              <a:rPr lang="en-US" dirty="0" smtClean="0"/>
              <a:t>Factors that increase the risk for VAE include an operative site above the level of the heart and the presence of </a:t>
            </a:r>
            <a:r>
              <a:rPr lang="en-US" dirty="0" err="1" smtClean="0"/>
              <a:t>noncollapsible</a:t>
            </a:r>
            <a:r>
              <a:rPr lang="en-US" dirty="0" smtClean="0"/>
              <a:t> veins.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physiological consequences of venous air embolism depend on the volume as well as the rate of air entry and whether the patient has a probe-patent foramen </a:t>
            </a:r>
            <a:r>
              <a:rPr lang="en-US" dirty="0" err="1" smtClean="0"/>
              <a:t>ovale</a:t>
            </a:r>
            <a:r>
              <a:rPr lang="en-US" dirty="0" smtClean="0"/>
              <a:t> (10–25% incidence).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1219200"/>
            <a:ext cx="6705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1437"/>
            <a:ext cx="8229600" cy="4830763"/>
          </a:xfrm>
        </p:spPr>
        <p:txBody>
          <a:bodyPr>
            <a:normAutofit/>
          </a:bodyPr>
          <a:lstStyle/>
          <a:p>
            <a:r>
              <a:rPr lang="en-US" dirty="0" smtClean="0"/>
              <a:t>Air bubbles entering the venous system ordinarily lodge in the pulmonary circulation, where their gases eventually diffuse into the alveoli and are exhaled. </a:t>
            </a:r>
          </a:p>
          <a:p>
            <a:r>
              <a:rPr lang="en-US" dirty="0" smtClean="0"/>
              <a:t>Small bubbles are well tolerated by most patients. When the amount entrained exceeds the rate of pulmonary clearance, pulmonary artery pressure progressively rises.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76401" y="1066801"/>
            <a:ext cx="6400800" cy="4983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Clinical signs of venous air embolism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Clinically, signs of venous air embolism are often not apparent until large amounts of air have been entrained.</a:t>
            </a:r>
          </a:p>
          <a:p>
            <a:r>
              <a:rPr lang="en-US" dirty="0" smtClean="0"/>
              <a:t>cardiac output decreases in response to increases in right ventricular </a:t>
            </a:r>
            <a:r>
              <a:rPr lang="en-US" dirty="0" err="1" smtClean="0"/>
              <a:t>afterload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A decrease in end-tidal CO2 or</a:t>
            </a:r>
          </a:p>
          <a:p>
            <a:r>
              <a:rPr lang="en-US" dirty="0" smtClean="0"/>
              <a:t>A decrease in arterial oxygen saturation might be noticed prior to hemodynamic changes.</a:t>
            </a:r>
          </a:p>
          <a:p>
            <a:r>
              <a:rPr lang="en-US" dirty="0" smtClean="0"/>
              <a:t>Slight increases in PaCO2</a:t>
            </a:r>
          </a:p>
          <a:p>
            <a:r>
              <a:rPr lang="en-US" dirty="0" smtClean="0"/>
              <a:t>Sudden hypotension can occur well before hypoxemia is noted.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/>
          </a:bodyPr>
          <a:lstStyle/>
          <a:p>
            <a:r>
              <a:rPr lang="en-US" dirty="0" smtClean="0"/>
              <a:t>large amounts of air can produce sudden circulatory arrest by obstructing right ventricular outflow</a:t>
            </a:r>
          </a:p>
          <a:p>
            <a:r>
              <a:rPr lang="en-US" dirty="0" smtClean="0"/>
              <a:t> when intra cardiac air impairs tricuspid and </a:t>
            </a:r>
            <a:r>
              <a:rPr lang="en-US" dirty="0" err="1" smtClean="0"/>
              <a:t>pulmonic</a:t>
            </a:r>
            <a:r>
              <a:rPr lang="en-US" dirty="0" smtClean="0"/>
              <a:t> valve function or blocks pulmonary arterioles.</a:t>
            </a:r>
          </a:p>
          <a:p>
            <a:r>
              <a:rPr lang="en-US" dirty="0" err="1" smtClean="0"/>
              <a:t>Paradoxic</a:t>
            </a:r>
            <a:r>
              <a:rPr lang="en-US" dirty="0" smtClean="0"/>
              <a:t> air emboli                PFO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b="1" dirty="0" smtClean="0"/>
              <a:t>Monitoring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Precordial</a:t>
            </a:r>
            <a:r>
              <a:rPr lang="en-US" dirty="0" smtClean="0"/>
              <a:t> Doppler </a:t>
            </a:r>
            <a:r>
              <a:rPr lang="en-US" dirty="0" err="1" smtClean="0"/>
              <a:t>ultrasonography</a:t>
            </a:r>
            <a:r>
              <a:rPr lang="en-US" dirty="0" smtClean="0"/>
              <a:t> is the standard monitor, and the probe is placed along the right </a:t>
            </a:r>
            <a:r>
              <a:rPr lang="en-US" dirty="0" err="1" smtClean="0"/>
              <a:t>parasternal</a:t>
            </a:r>
            <a:r>
              <a:rPr lang="en-US" dirty="0" smtClean="0"/>
              <a:t> border at the fourth </a:t>
            </a:r>
            <a:r>
              <a:rPr lang="en-US" dirty="0" err="1" smtClean="0"/>
              <a:t>intercostal</a:t>
            </a:r>
            <a:r>
              <a:rPr lang="en-US" dirty="0" smtClean="0"/>
              <a:t> space. It can detect as little as 0.25 </a:t>
            </a:r>
            <a:r>
              <a:rPr lang="en-US" dirty="0" err="1" smtClean="0"/>
              <a:t>mL</a:t>
            </a:r>
            <a:r>
              <a:rPr lang="en-US" dirty="0" smtClean="0"/>
              <a:t> of air. </a:t>
            </a:r>
          </a:p>
          <a:p>
            <a:r>
              <a:rPr lang="en-US" dirty="0" err="1" smtClean="0"/>
              <a:t>Transesophageal</a:t>
            </a:r>
            <a:r>
              <a:rPr lang="en-US" dirty="0" smtClean="0"/>
              <a:t> echocardiography (TEE) is the most sensitive of all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Pulmonary artery pressure monitoring is as sensitive as </a:t>
            </a:r>
            <a:r>
              <a:rPr lang="en-US" dirty="0" err="1" smtClean="0"/>
              <a:t>capnography</a:t>
            </a:r>
            <a:r>
              <a:rPr lang="en-US" dirty="0" smtClean="0"/>
              <a:t>.</a:t>
            </a:r>
          </a:p>
          <a:p>
            <a:r>
              <a:rPr lang="en-US" dirty="0" smtClean="0"/>
              <a:t> Monitors that measure the decrease in blood pressure and cardiac output are the least sensitive.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Prevention of Venous Air Embolism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Decrease the gradient between the heart and the site of surgery</a:t>
            </a:r>
          </a:p>
          <a:p>
            <a:r>
              <a:rPr lang="en-US" dirty="0" smtClean="0"/>
              <a:t>Maintain </a:t>
            </a:r>
            <a:r>
              <a:rPr lang="en-US" dirty="0" err="1" smtClean="0"/>
              <a:t>normovolemia</a:t>
            </a:r>
            <a:r>
              <a:rPr lang="en-US" dirty="0" smtClean="0"/>
              <a:t> to </a:t>
            </a:r>
            <a:r>
              <a:rPr lang="en-US" dirty="0" err="1" smtClean="0"/>
              <a:t>hypervolemia</a:t>
            </a:r>
            <a:endParaRPr lang="en-US" dirty="0" smtClean="0"/>
          </a:p>
          <a:p>
            <a:r>
              <a:rPr lang="en-US" dirty="0" smtClean="0"/>
              <a:t>Apply bone wax during surgery</a:t>
            </a:r>
          </a:p>
          <a:p>
            <a:r>
              <a:rPr lang="en-US" dirty="0" smtClean="0"/>
              <a:t>Avoid positive end-expiratory pressure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Treatment of Venous Air Embolism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Notify the surgeon to flood the surgical site</a:t>
            </a:r>
          </a:p>
          <a:p>
            <a:r>
              <a:rPr lang="en-US" dirty="0" smtClean="0"/>
              <a:t>Lower the operative site</a:t>
            </a:r>
          </a:p>
          <a:p>
            <a:r>
              <a:rPr lang="en-US" dirty="0" smtClean="0"/>
              <a:t>Stop N</a:t>
            </a:r>
            <a:r>
              <a:rPr lang="en-US" sz="3000" baseline="-25000" dirty="0" smtClean="0"/>
              <a:t>2</a:t>
            </a:r>
            <a:r>
              <a:rPr lang="en-US" dirty="0" smtClean="0"/>
              <a:t>O administration</a:t>
            </a:r>
          </a:p>
          <a:p>
            <a:r>
              <a:rPr lang="en-US" dirty="0" smtClean="0"/>
              <a:t>Give 100% O</a:t>
            </a:r>
            <a:r>
              <a:rPr lang="en-US" baseline="-25000" dirty="0" smtClean="0"/>
              <a:t>2</a:t>
            </a:r>
          </a:p>
          <a:p>
            <a:r>
              <a:rPr lang="en-US" dirty="0" smtClean="0"/>
              <a:t>Perform aspiration through a central venous line</a:t>
            </a:r>
          </a:p>
          <a:p>
            <a:r>
              <a:rPr lang="en-US" dirty="0" smtClean="0"/>
              <a:t>Consider compression of the jugular veins</a:t>
            </a:r>
          </a:p>
          <a:p>
            <a:r>
              <a:rPr lang="en-US" dirty="0" smtClean="0"/>
              <a:t>Provide cardiopulmonary support (fluids, </a:t>
            </a:r>
            <a:r>
              <a:rPr lang="en-US" dirty="0" err="1" smtClean="0"/>
              <a:t>pressors</a:t>
            </a:r>
            <a:r>
              <a:rPr lang="en-US" dirty="0" smtClean="0"/>
              <a:t>, </a:t>
            </a:r>
            <a:r>
              <a:rPr lang="en-US" dirty="0" err="1" smtClean="0"/>
              <a:t>inotropes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Pneumocephalus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During these procedures, air may enter the </a:t>
            </a:r>
            <a:r>
              <a:rPr lang="en-US" b="1" dirty="0" err="1" smtClean="0"/>
              <a:t>supratentorial</a:t>
            </a:r>
            <a:r>
              <a:rPr lang="en-US" b="1" dirty="0" smtClean="0"/>
              <a:t> space, much as air enters an inverted bottle. </a:t>
            </a:r>
          </a:p>
          <a:p>
            <a:r>
              <a:rPr lang="en-US" b="1" dirty="0" smtClean="0"/>
              <a:t>N</a:t>
            </a:r>
            <a:r>
              <a:rPr lang="en-US" b="1" baseline="-25000" dirty="0" smtClean="0"/>
              <a:t>2</a:t>
            </a:r>
            <a:r>
              <a:rPr lang="en-US" b="1" dirty="0" smtClean="0"/>
              <a:t>O should not be given because of the possibility of contributing to a tension </a:t>
            </a:r>
            <a:r>
              <a:rPr lang="en-US" b="1" dirty="0" err="1" smtClean="0"/>
              <a:t>pneumocephalus</a:t>
            </a:r>
            <a:r>
              <a:rPr lang="en-US" b="1" dirty="0" smtClean="0"/>
              <a:t>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Air readily enters the subarachnoid space as CSF is lost during surgery. In patients with cerebral atrophy,</a:t>
            </a:r>
          </a:p>
          <a:p>
            <a:r>
              <a:rPr lang="en-US" dirty="0" smtClean="0"/>
              <a:t>drainage of CSF is marked; air can replace CSF on the surface of the brain and in the lateral ventricles.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Expansion of a </a:t>
            </a:r>
            <a:r>
              <a:rPr lang="en-US" dirty="0" err="1" smtClean="0"/>
              <a:t>pneumocephalus</a:t>
            </a:r>
            <a:r>
              <a:rPr lang="en-US" dirty="0" smtClean="0"/>
              <a:t> following </a:t>
            </a:r>
            <a:r>
              <a:rPr lang="en-US" dirty="0" err="1" smtClean="0"/>
              <a:t>dural</a:t>
            </a:r>
            <a:r>
              <a:rPr lang="en-US" dirty="0" smtClean="0"/>
              <a:t> closure can compress the brain.</a:t>
            </a:r>
          </a:p>
          <a:p>
            <a:r>
              <a:rPr lang="en-US" dirty="0" smtClean="0"/>
              <a:t>Postoperative </a:t>
            </a:r>
            <a:r>
              <a:rPr lang="en-US" dirty="0" err="1" smtClean="0"/>
              <a:t>pneumocephalus</a:t>
            </a:r>
            <a:r>
              <a:rPr lang="en-US" dirty="0" smtClean="0"/>
              <a:t> can cause delayed awakening and continued impairment of neurological function.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914400"/>
            <a:ext cx="7620000" cy="521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Obstructive Hydrocephalus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Infratentorially</a:t>
            </a:r>
            <a:r>
              <a:rPr lang="en-US" dirty="0" smtClean="0"/>
              <a:t> located masses can obstruct flow of CSF at the level of the fourth ventricle or the cerebral aqueduct.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Brain Stem Injury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Operations in the posterior </a:t>
            </a:r>
            <a:r>
              <a:rPr lang="en-US" dirty="0" err="1" smtClean="0"/>
              <a:t>fossa</a:t>
            </a:r>
            <a:r>
              <a:rPr lang="en-US" dirty="0" smtClean="0"/>
              <a:t> can injure vital circulatory and respiratory brain stem centers as well as cranial nerves or their nuclei. </a:t>
            </a:r>
          </a:p>
          <a:p>
            <a:r>
              <a:rPr lang="en-US" dirty="0" smtClean="0"/>
              <a:t>Such injuries occur as a result of direct surgical trauma, retraction, or ischemia. </a:t>
            </a:r>
          </a:p>
          <a:p>
            <a:r>
              <a:rPr lang="en-US" dirty="0" smtClean="0"/>
              <a:t>Damage to respiratory centers is said to be nearly always associated with circulatory changes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Other concerns are peripheral nerve injuries and head/neck/tongue edema. </a:t>
            </a:r>
          </a:p>
          <a:p>
            <a:r>
              <a:rPr lang="en-US" dirty="0" smtClean="0"/>
              <a:t>In </a:t>
            </a:r>
            <a:r>
              <a:rPr lang="en-US" dirty="0" err="1" smtClean="0"/>
              <a:t>addition,a</a:t>
            </a:r>
            <a:r>
              <a:rPr lang="en-US" dirty="0" smtClean="0"/>
              <a:t> serious concern in any posterior </a:t>
            </a:r>
            <a:r>
              <a:rPr lang="en-US" dirty="0" err="1" smtClean="0"/>
              <a:t>fossa</a:t>
            </a:r>
            <a:r>
              <a:rPr lang="en-US" dirty="0" smtClean="0"/>
              <a:t> procedure is the possibility of injury to the lower cranial nerves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 smtClean="0"/>
              <a:t>Brachial plexus injuries are a particular </a:t>
            </a:r>
            <a:r>
              <a:rPr lang="en-US" dirty="0" smtClean="0"/>
              <a:t>problem in the lateral/park bench positions when the “up” arm is pulled caudally to improve access to the </a:t>
            </a:r>
            <a:r>
              <a:rPr lang="en-US" dirty="0" err="1" smtClean="0"/>
              <a:t>retromastoid</a:t>
            </a:r>
            <a:r>
              <a:rPr lang="en-US" dirty="0" smtClean="0"/>
              <a:t> area, or when the head/neck is excessively rotated.</a:t>
            </a:r>
          </a:p>
          <a:p>
            <a:r>
              <a:rPr lang="en-US" dirty="0" smtClean="0"/>
              <a:t> </a:t>
            </a:r>
            <a:r>
              <a:rPr lang="en-US" i="1" dirty="0" err="1" smtClean="0"/>
              <a:t>Ulnar</a:t>
            </a:r>
            <a:r>
              <a:rPr lang="en-US" i="1" dirty="0" smtClean="0"/>
              <a:t> nerve injury.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i="1" dirty="0" smtClean="0"/>
              <a:t>Pressure blisters/skin necrosis of the </a:t>
            </a:r>
            <a:r>
              <a:rPr lang="en-US" dirty="0" smtClean="0"/>
              <a:t>face caused by inadequate weight distribution on a horseshoe headrest.</a:t>
            </a:r>
          </a:p>
          <a:p>
            <a:r>
              <a:rPr lang="en-US" dirty="0" smtClean="0"/>
              <a:t> </a:t>
            </a:r>
            <a:r>
              <a:rPr lang="en-US" i="1" dirty="0" smtClean="0"/>
              <a:t>Blindness caused by pressure on the </a:t>
            </a:r>
            <a:r>
              <a:rPr lang="en-US" dirty="0" smtClean="0"/>
              <a:t>eyes in the prone position.</a:t>
            </a:r>
          </a:p>
          <a:p>
            <a:r>
              <a:rPr lang="en-US" i="1" dirty="0" smtClean="0"/>
              <a:t>Quadriplegia associated with extreme </a:t>
            </a:r>
            <a:r>
              <a:rPr lang="en-US" dirty="0" smtClean="0"/>
              <a:t>flexion of the neck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All these problems are  avoidable but only by careful attention to position, nerve stretch, padding, and so forth.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020762"/>
          </a:xfrm>
        </p:spPr>
        <p:txBody>
          <a:bodyPr/>
          <a:lstStyle/>
          <a:p>
            <a:r>
              <a:rPr lang="en-US" dirty="0" smtClean="0"/>
              <a:t>Case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 63-year-old woman with a brain tumor presents for </a:t>
            </a:r>
            <a:r>
              <a:rPr lang="en-US" dirty="0" err="1" smtClean="0"/>
              <a:t>bifrontal</a:t>
            </a:r>
            <a:r>
              <a:rPr lang="en-US" dirty="0" smtClean="0"/>
              <a:t> craniotomy in the supine position. She is neurologically intact but has had a recent onset of headaches, nausea, and blurred vision. </a:t>
            </a:r>
          </a:p>
          <a:p>
            <a:r>
              <a:rPr lang="en-US" dirty="0" smtClean="0"/>
              <a:t>The magnetic resonance imaging (MRI) scan has revealed a large </a:t>
            </a:r>
            <a:r>
              <a:rPr lang="en-US" dirty="0" err="1" smtClean="0"/>
              <a:t>meningioma</a:t>
            </a:r>
            <a:r>
              <a:rPr lang="en-US" dirty="0" smtClean="0"/>
              <a:t> near the </a:t>
            </a:r>
            <a:r>
              <a:rPr lang="en-US" dirty="0" err="1" smtClean="0"/>
              <a:t>sagittal</a:t>
            </a:r>
            <a:r>
              <a:rPr lang="en-US" dirty="0" smtClean="0"/>
              <a:t> sinus. </a:t>
            </a:r>
          </a:p>
          <a:p>
            <a:r>
              <a:rPr lang="en-US" dirty="0" smtClean="0"/>
              <a:t>Following induction of anesthesia and the start of surgery, the end-tidal carbon dioxide starts to decrease and the patient becomes </a:t>
            </a:r>
            <a:r>
              <a:rPr lang="en-US" dirty="0" err="1" smtClean="0"/>
              <a:t>hypotensive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1. How is increased ICP treated?</a:t>
            </a:r>
          </a:p>
          <a:p>
            <a:pPr>
              <a:buNone/>
            </a:pPr>
            <a:r>
              <a:rPr lang="en-US" dirty="0" smtClean="0"/>
              <a:t>2.  How is venous air embolism (VAE) detected and treated?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What are the contraindications to the sitting position?</a:t>
            </a:r>
          </a:p>
          <a:p>
            <a:pPr>
              <a:buNone/>
            </a:pPr>
            <a:r>
              <a:rPr lang="en-US" dirty="0" smtClean="0"/>
              <a:t>4. How would you induce and maintain anesthesia in this patient?</a:t>
            </a:r>
          </a:p>
          <a:p>
            <a:pPr>
              <a:buNone/>
            </a:pPr>
            <a:r>
              <a:rPr lang="en-US" dirty="0" smtClean="0"/>
              <a:t>5. How do anesthetic agents and </a:t>
            </a:r>
            <a:r>
              <a:rPr lang="en-US" dirty="0" err="1" smtClean="0"/>
              <a:t>vasoactive</a:t>
            </a:r>
            <a:r>
              <a:rPr lang="en-US" dirty="0" smtClean="0"/>
              <a:t> drugs affect cerebral blood flow (CBF) and ICP?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46201</TotalTime>
  <Words>1273</Words>
  <Application>Microsoft Office PowerPoint</Application>
  <PresentationFormat>On-screen Show (4:3)</PresentationFormat>
  <Paragraphs>132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Solstice</vt:lpstr>
      <vt:lpstr>Case </vt:lpstr>
      <vt:lpstr>Slide 2</vt:lpstr>
      <vt:lpstr>Anesthesia for Surgery in the Posterior Fossa</vt:lpstr>
      <vt:lpstr>Slide 4</vt:lpstr>
      <vt:lpstr>Pathology</vt:lpstr>
      <vt:lpstr>Slide 6</vt:lpstr>
      <vt:lpstr>Slide 7</vt:lpstr>
      <vt:lpstr>Positioning</vt:lpstr>
      <vt:lpstr>Induction and Maintenance</vt:lpstr>
      <vt:lpstr>Slide 10</vt:lpstr>
      <vt:lpstr>Arrhythmias</vt:lpstr>
      <vt:lpstr>Emergence</vt:lpstr>
      <vt:lpstr>Cont…</vt:lpstr>
      <vt:lpstr>Features to Look for during Evaluation before Extubation</vt:lpstr>
      <vt:lpstr>Complications Venous Air Embolism</vt:lpstr>
      <vt:lpstr>Cont…</vt:lpstr>
      <vt:lpstr>Slide 17</vt:lpstr>
      <vt:lpstr>Cont…</vt:lpstr>
      <vt:lpstr>Slide 19</vt:lpstr>
      <vt:lpstr>Clinical signs of venous air embolism</vt:lpstr>
      <vt:lpstr>Cont…</vt:lpstr>
      <vt:lpstr>Slide 22</vt:lpstr>
      <vt:lpstr>Monitoring</vt:lpstr>
      <vt:lpstr>Cont…</vt:lpstr>
      <vt:lpstr>Prevention of Venous Air Embolism</vt:lpstr>
      <vt:lpstr>Treatment of Venous Air Embolism</vt:lpstr>
      <vt:lpstr>Pneumocephalus</vt:lpstr>
      <vt:lpstr>Cont…</vt:lpstr>
      <vt:lpstr>Cont…</vt:lpstr>
      <vt:lpstr>Slide 30</vt:lpstr>
      <vt:lpstr>Obstructive Hydrocephalus</vt:lpstr>
      <vt:lpstr>Brain Stem Injury</vt:lpstr>
      <vt:lpstr>Slide 33</vt:lpstr>
      <vt:lpstr>Slide 34</vt:lpstr>
      <vt:lpstr>Slide 35</vt:lpstr>
      <vt:lpstr>Slide 36</vt:lpstr>
      <vt:lpstr>Case</vt:lpstr>
      <vt:lpstr>Questions</vt:lpstr>
      <vt:lpstr>Slide 39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Anesthesia for Surgery in the Posterior Fossa</dc:title>
  <dc:creator>aplus</dc:creator>
  <cp:lastModifiedBy>aplus</cp:lastModifiedBy>
  <cp:revision>16</cp:revision>
  <dcterms:created xsi:type="dcterms:W3CDTF">2014-11-27T01:27:04Z</dcterms:created>
  <dcterms:modified xsi:type="dcterms:W3CDTF">2018-01-04T19:01:54Z</dcterms:modified>
</cp:coreProperties>
</file>