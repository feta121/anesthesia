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9" r:id="rId10"/>
    <p:sldId id="287" r:id="rId11"/>
    <p:sldId id="288" r:id="rId12"/>
    <p:sldId id="264" r:id="rId13"/>
    <p:sldId id="266" r:id="rId14"/>
    <p:sldId id="265" r:id="rId15"/>
    <p:sldId id="267" r:id="rId16"/>
    <p:sldId id="270" r:id="rId17"/>
    <p:sldId id="268" r:id="rId18"/>
    <p:sldId id="271" r:id="rId19"/>
    <p:sldId id="272" r:id="rId20"/>
    <p:sldId id="273" r:id="rId21"/>
    <p:sldId id="274" r:id="rId22"/>
    <p:sldId id="276" r:id="rId23"/>
    <p:sldId id="277" r:id="rId24"/>
    <p:sldId id="283" r:id="rId25"/>
    <p:sldId id="284" r:id="rId26"/>
    <p:sldId id="286" r:id="rId27"/>
    <p:sldId id="278" r:id="rId28"/>
    <p:sldId id="285" r:id="rId29"/>
    <p:sldId id="279" r:id="rId30"/>
    <p:sldId id="281" r:id="rId31"/>
    <p:sldId id="280" r:id="rId32"/>
    <p:sldId id="282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1098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3D22A5-A668-401B-ACBA-D46D07467F80}" type="datetimeFigureOut">
              <a:rPr lang="en-US" smtClean="0"/>
              <a:pPr/>
              <a:t>1/25/2017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44A2A0-68C4-4068-AB54-EF5BE7235E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D6289-EF2E-4578-B615-495E71EAB99C}" type="datetime1">
              <a:rPr lang="en-US" smtClean="0"/>
              <a:pPr/>
              <a:t>1/25/2017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Siryet Tesfaye</a:t>
            </a: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403BB071-BCA1-46D3-B7A2-06CFEA5434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F83EC-4048-44A4-97BA-0CAF74675BFD}" type="datetime1">
              <a:rPr lang="en-US" smtClean="0"/>
              <a:pPr/>
              <a:t>1/25/2017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Siryet Tesfaye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BB071-BCA1-46D3-B7A2-06CFEA5434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99128-F456-47B4-AEDA-72852219FBF7}" type="datetime1">
              <a:rPr lang="en-US" smtClean="0"/>
              <a:pPr/>
              <a:t>1/25/2017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r>
              <a:rPr lang="en-US" smtClean="0"/>
              <a:t>By Siryet Tesfaye</a:t>
            </a:r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403BB071-BCA1-46D3-B7A2-06CFEA5434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F2428-1889-4EC0-A147-D1587FBDA5A4}" type="datetime1">
              <a:rPr lang="en-US" smtClean="0"/>
              <a:pPr/>
              <a:t>1/25/2017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Siryet Tesfaye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BB071-BCA1-46D3-B7A2-06CFEA5434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62EAF-14AB-4002-A748-8F2B35308CF4}" type="datetime1">
              <a:rPr lang="en-US" smtClean="0"/>
              <a:pPr/>
              <a:t>1/25/2017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Siryet Tesfaye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BB071-BCA1-46D3-B7A2-06CFEA5434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A80FB-E220-46D8-ACCB-9DA808415B0A}" type="datetime1">
              <a:rPr lang="en-US" smtClean="0"/>
              <a:pPr/>
              <a:t>1/25/2017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Siryet Tesfaye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BB071-BCA1-46D3-B7A2-06CFEA5434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56963-66FD-48E6-9E12-DC16F5CC1B7D}" type="datetime1">
              <a:rPr lang="en-US" smtClean="0"/>
              <a:pPr/>
              <a:t>1/25/2017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Siryet Tesfaye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BB071-BCA1-46D3-B7A2-06CFEA5434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E0F02-8AE4-4E05-A908-CCD354F6E12E}" type="datetime1">
              <a:rPr lang="en-US" smtClean="0"/>
              <a:pPr/>
              <a:t>1/25/2017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Siryet Tesfaye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BB071-BCA1-46D3-B7A2-06CFEA5434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FC0A1-E64A-45C4-AF6B-CFE67844C85E}" type="datetime1">
              <a:rPr lang="en-US" smtClean="0"/>
              <a:pPr/>
              <a:t>1/25/2017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r>
              <a:rPr lang="en-US" smtClean="0"/>
              <a:t>By Siryet Tesfaye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403BB071-BCA1-46D3-B7A2-06CFEA5434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7F28F-2FC3-4728-9AAB-018D0DE14364}" type="datetime1">
              <a:rPr lang="en-US" smtClean="0"/>
              <a:pPr/>
              <a:t>1/25/2017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Siryet Tesfaye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BB071-BCA1-46D3-B7A2-06CFEA5434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72B64-8E2B-46F8-871C-1B22D98F54B5}" type="datetime1">
              <a:rPr lang="en-US" smtClean="0"/>
              <a:pPr/>
              <a:t>1/25/2017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Siryet Tesfaye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BB071-BCA1-46D3-B7A2-06CFEA5434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49EABA18-5868-48A1-8604-D39C3DEE70FB}" type="datetime1">
              <a:rPr lang="en-US" smtClean="0"/>
              <a:pPr/>
              <a:t>1/25/2017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By Siryet Tesfaye</a:t>
            </a: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403BB071-BCA1-46D3-B7A2-06CFEA54343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By </a:t>
            </a:r>
            <a:r>
              <a:rPr lang="en-US" dirty="0" err="1" smtClean="0"/>
              <a:t>Siryet</a:t>
            </a:r>
            <a:r>
              <a:rPr lang="en-US" dirty="0" smtClean="0"/>
              <a:t> </a:t>
            </a:r>
            <a:r>
              <a:rPr lang="en-US" dirty="0" err="1" smtClean="0"/>
              <a:t>Tesfaye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Siryet Tesfaye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BB071-BCA1-46D3-B7A2-06CFEA5434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Anesthesia for Pituitary Surgery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 smtClean="0"/>
              <a:t>Pituitary Tumors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Siryet Tesfaye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BB071-BCA1-46D3-B7A2-06CFEA543433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pituitary gland is located at the base of the skull in the </a:t>
            </a:r>
            <a:r>
              <a:rPr lang="en-US" dirty="0" err="1" smtClean="0"/>
              <a:t>sella</a:t>
            </a:r>
            <a:r>
              <a:rPr lang="en-US" dirty="0" smtClean="0"/>
              <a:t> </a:t>
            </a:r>
            <a:r>
              <a:rPr lang="en-US" dirty="0" err="1" smtClean="0"/>
              <a:t>turcica</a:t>
            </a:r>
            <a:r>
              <a:rPr lang="en-US" dirty="0" smtClean="0"/>
              <a:t>, a bony cavity within the sphenoid bone</a:t>
            </a:r>
          </a:p>
          <a:p>
            <a:r>
              <a:rPr lang="en-US" dirty="0" smtClean="0"/>
              <a:t>Divided into anterior (</a:t>
            </a:r>
            <a:r>
              <a:rPr lang="en-US" dirty="0" err="1" smtClean="0"/>
              <a:t>adenohypophysis</a:t>
            </a:r>
            <a:r>
              <a:rPr lang="en-US" dirty="0" smtClean="0"/>
              <a:t>) and posterior (</a:t>
            </a:r>
            <a:r>
              <a:rPr lang="en-US" dirty="0" err="1" smtClean="0"/>
              <a:t>neurohypophysis</a:t>
            </a:r>
            <a:r>
              <a:rPr lang="en-US" dirty="0" smtClean="0"/>
              <a:t>) lobes. 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Adenohypophysis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Siryet Tesfaye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BB071-BCA1-46D3-B7A2-06CFEA54343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/>
              <a:t> Hormone Secreted          Clinical Disease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ACTH                              Cushing’s disease    </a:t>
            </a:r>
          </a:p>
          <a:p>
            <a:r>
              <a:rPr lang="en-US" dirty="0" smtClean="0"/>
              <a:t> TSH                                Hyperthyroidism</a:t>
            </a:r>
          </a:p>
          <a:p>
            <a:r>
              <a:rPr lang="en-US" dirty="0" smtClean="0"/>
              <a:t> GH                                  </a:t>
            </a:r>
            <a:r>
              <a:rPr lang="en-US" dirty="0" err="1" smtClean="0"/>
              <a:t>Acromegaly</a:t>
            </a:r>
            <a:endParaRPr lang="en-US" dirty="0" smtClean="0"/>
          </a:p>
          <a:p>
            <a:r>
              <a:rPr lang="en-US" dirty="0" smtClean="0"/>
              <a:t>FSH and LH                   </a:t>
            </a:r>
          </a:p>
          <a:p>
            <a:r>
              <a:rPr lang="en-US" dirty="0" err="1" smtClean="0"/>
              <a:t>Prolactin</a:t>
            </a:r>
            <a:r>
              <a:rPr lang="en-US" dirty="0" smtClean="0"/>
              <a:t>                        </a:t>
            </a:r>
            <a:r>
              <a:rPr lang="en-US" dirty="0" err="1" smtClean="0"/>
              <a:t>Prolactinoma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Cont…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Siryet Tesfaye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BB071-BCA1-46D3-B7A2-06CFEA54343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Secretion of each of these hormones is regulated by hypothalamic peptides (releasing hormones) that are transported to the  </a:t>
            </a:r>
            <a:r>
              <a:rPr lang="en-US" dirty="0" err="1" smtClean="0"/>
              <a:t>adenohypophysis</a:t>
            </a:r>
            <a:r>
              <a:rPr lang="en-US" dirty="0" smtClean="0"/>
              <a:t> by a capillary portal system.</a:t>
            </a:r>
          </a:p>
          <a:p>
            <a:endParaRPr lang="en-US" b="1" dirty="0" smtClean="0"/>
          </a:p>
          <a:p>
            <a:r>
              <a:rPr lang="en-US" b="1" dirty="0" smtClean="0"/>
              <a:t>Feedback Mechanisms 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Neurohypophysis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Siryet Tesfaye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BB071-BCA1-46D3-B7A2-06CFEA543433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The posterior pituitary secretes </a:t>
            </a:r>
          </a:p>
          <a:p>
            <a:endParaRPr lang="en-US" dirty="0" smtClean="0"/>
          </a:p>
          <a:p>
            <a:r>
              <a:rPr lang="en-US" dirty="0" smtClean="0"/>
              <a:t>ADH( vasopressin) and </a:t>
            </a:r>
          </a:p>
          <a:p>
            <a:endParaRPr lang="en-US" dirty="0" smtClean="0"/>
          </a:p>
          <a:p>
            <a:r>
              <a:rPr lang="en-US" dirty="0" err="1" smtClean="0"/>
              <a:t>Oxytocin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Cont…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By </a:t>
            </a:r>
            <a:r>
              <a:rPr lang="en-US" dirty="0" err="1" smtClean="0">
                <a:solidFill>
                  <a:schemeClr val="tx1"/>
                </a:solidFill>
              </a:rPr>
              <a:t>Siryet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Tesfaye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BB071-BCA1-46D3-B7A2-06CFEA543433}" type="slidenum">
              <a:rPr lang="en-US" smtClean="0">
                <a:solidFill>
                  <a:schemeClr val="tx1"/>
                </a:solidFill>
              </a:rPr>
              <a:pPr/>
              <a:t>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Tumors of the anterior pituitary can be “functioning” or “nonfunctioning”; </a:t>
            </a:r>
          </a:p>
          <a:p>
            <a:r>
              <a:rPr lang="en-US" dirty="0" smtClean="0"/>
              <a:t>Functioning tumors are often initially manifested by symptoms of hormonal excess. </a:t>
            </a:r>
          </a:p>
          <a:p>
            <a:r>
              <a:rPr lang="en-US" dirty="0" err="1" smtClean="0"/>
              <a:t>Prolactinsecreting</a:t>
            </a:r>
            <a:r>
              <a:rPr lang="en-US" dirty="0" smtClean="0"/>
              <a:t> tumors are the most common type of functioning pituitary adenomas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706562"/>
          </a:xfrm>
        </p:spPr>
        <p:txBody>
          <a:bodyPr>
            <a:normAutofit/>
          </a:bodyPr>
          <a:lstStyle/>
          <a:p>
            <a:r>
              <a:rPr lang="en-US" dirty="0" smtClean="0"/>
              <a:t>Preoperative Diagnosis and Management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Siryet Tesfaye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BB071-BCA1-46D3-B7A2-06CFEA54343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2438400"/>
            <a:ext cx="7772400" cy="3581400"/>
          </a:xfrm>
        </p:spPr>
        <p:txBody>
          <a:bodyPr>
            <a:normAutofit/>
          </a:bodyPr>
          <a:lstStyle/>
          <a:p>
            <a:r>
              <a:rPr lang="en-US" dirty="0" smtClean="0"/>
              <a:t>Elevated hormone levels, and imaging techniques.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 Magnetic resonance imaging(MRI) is technically superior in the identification of </a:t>
            </a:r>
            <a:r>
              <a:rPr lang="en-US" dirty="0" err="1" smtClean="0"/>
              <a:t>microadenomas,as</a:t>
            </a:r>
            <a:r>
              <a:rPr lang="en-US" dirty="0" smtClean="0"/>
              <a:t> well as CT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Preoperative Assessment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Siryet Tesfaye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BB071-BCA1-46D3-B7A2-06CFEA54343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Focus on the identification and management of</a:t>
            </a:r>
          </a:p>
          <a:p>
            <a:r>
              <a:rPr lang="en-US" dirty="0" smtClean="0"/>
              <a:t> 1) raised ICP</a:t>
            </a:r>
          </a:p>
          <a:p>
            <a:r>
              <a:rPr lang="en-US" dirty="0" smtClean="0"/>
              <a:t>2) the effects of hormonal </a:t>
            </a:r>
            <a:r>
              <a:rPr lang="en-US" dirty="0" err="1" smtClean="0"/>
              <a:t>hypersecretion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>Syndromes of Hormonal </a:t>
            </a:r>
            <a:r>
              <a:rPr lang="en-US" b="1" i="1" dirty="0" err="1" smtClean="0"/>
              <a:t>Hypersecretion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Siryet Tesfaye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BB071-BCA1-46D3-B7A2-06CFEA543433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err="1" smtClean="0"/>
              <a:t>Acromegaly</a:t>
            </a:r>
            <a:endParaRPr lang="en-US" dirty="0" smtClean="0"/>
          </a:p>
          <a:p>
            <a:r>
              <a:rPr lang="en-US" dirty="0" smtClean="0"/>
              <a:t>The clinical manifestations of excess GH secretion that are of particular concern to anesthetists are </a:t>
            </a:r>
          </a:p>
          <a:p>
            <a:r>
              <a:rPr lang="en-US" dirty="0" smtClean="0"/>
              <a:t>Upper airway</a:t>
            </a:r>
          </a:p>
          <a:p>
            <a:r>
              <a:rPr lang="en-US" dirty="0" smtClean="0"/>
              <a:t> Cardiac, and</a:t>
            </a:r>
          </a:p>
          <a:p>
            <a:r>
              <a:rPr lang="en-US" dirty="0" smtClean="0"/>
              <a:t>Respiratory involvement. 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Siryet Tesfaye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BB071-BCA1-46D3-B7A2-06CFEA543433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562600" y="1447800"/>
            <a:ext cx="3161685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1905000"/>
            <a:ext cx="4648199" cy="3343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Siryet Tesfaye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BB071-BCA1-46D3-B7A2-06CFEA543433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19200" y="1600200"/>
            <a:ext cx="3021572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53000" y="1600200"/>
            <a:ext cx="3343275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Cont…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Siryet Tesfaye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BB071-BCA1-46D3-B7A2-06CFEA543433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Gigantism (</a:t>
            </a:r>
            <a:r>
              <a:rPr lang="en-US" dirty="0" err="1" smtClean="0"/>
              <a:t>prepubertal</a:t>
            </a:r>
            <a:r>
              <a:rPr lang="en-US" dirty="0" smtClean="0"/>
              <a:t> patients) or </a:t>
            </a:r>
            <a:r>
              <a:rPr lang="en-US" dirty="0" err="1" smtClean="0"/>
              <a:t>acromegaly</a:t>
            </a:r>
            <a:r>
              <a:rPr lang="en-US" dirty="0" smtClean="0"/>
              <a:t> (adults).</a:t>
            </a:r>
          </a:p>
          <a:p>
            <a:r>
              <a:rPr lang="en-US" dirty="0" smtClean="0"/>
              <a:t>After </a:t>
            </a:r>
            <a:r>
              <a:rPr lang="en-US" dirty="0" err="1" smtClean="0"/>
              <a:t>epiphyseal</a:t>
            </a:r>
            <a:r>
              <a:rPr lang="en-US" dirty="0" smtClean="0"/>
              <a:t> closure, the abnormal growth is limited to soft tissues and </a:t>
            </a:r>
            <a:r>
              <a:rPr lang="en-US" dirty="0" err="1" smtClean="0"/>
              <a:t>acral</a:t>
            </a:r>
            <a:r>
              <a:rPr lang="en-US" dirty="0" smtClean="0"/>
              <a:t> parts: hands, feet, nose, and mandible.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Upper airway changes include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Siryet Tesfaye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BB071-BCA1-46D3-B7A2-06CFEA543433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dirty="0" smtClean="0"/>
          </a:p>
          <a:p>
            <a:r>
              <a:rPr lang="en-US" dirty="0" err="1" smtClean="0"/>
              <a:t>Macroglossia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 err="1" smtClean="0"/>
              <a:t>prognathism</a:t>
            </a:r>
            <a:r>
              <a:rPr lang="en-US" dirty="0" smtClean="0"/>
              <a:t> with malocclusion, and </a:t>
            </a:r>
          </a:p>
          <a:p>
            <a:r>
              <a:rPr lang="en-US" dirty="0" smtClean="0"/>
              <a:t>hypertrophy of the</a:t>
            </a:r>
          </a:p>
          <a:p>
            <a:pPr>
              <a:buNone/>
            </a:pPr>
            <a:r>
              <a:rPr lang="en-US" dirty="0" smtClean="0"/>
              <a:t>           laryngeal soft tissue,</a:t>
            </a:r>
          </a:p>
          <a:p>
            <a:pPr>
              <a:buNone/>
            </a:pPr>
            <a:r>
              <a:rPr lang="en-US" dirty="0" smtClean="0"/>
              <a:t>          epiglottis, and </a:t>
            </a:r>
            <a:r>
              <a:rPr lang="en-US" dirty="0" err="1" smtClean="0"/>
              <a:t>aryepiglottic</a:t>
            </a:r>
            <a:r>
              <a:rPr lang="en-US" dirty="0" smtClean="0"/>
              <a:t> folds</a:t>
            </a:r>
          </a:p>
          <a:p>
            <a:r>
              <a:rPr lang="en-US" dirty="0" smtClean="0"/>
              <a:t> leading to a reduction in size of the </a:t>
            </a:r>
            <a:r>
              <a:rPr lang="en-US" dirty="0" err="1" smtClean="0"/>
              <a:t>glottic</a:t>
            </a:r>
            <a:r>
              <a:rPr lang="en-US" dirty="0" smtClean="0"/>
              <a:t> opening.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Cont…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Siryet Tesfaye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BB071-BCA1-46D3-B7A2-06CFEA543433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OSA should also be sought inasmuch as nearly 70% of </a:t>
            </a:r>
            <a:r>
              <a:rPr lang="en-US" dirty="0" err="1" smtClean="0"/>
              <a:t>acromegalic</a:t>
            </a:r>
            <a:r>
              <a:rPr lang="en-US" dirty="0" smtClean="0"/>
              <a:t> individuals have either a peripheral or, more uncommonly, a central form of OSA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Cardiac effects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Siryet Tesfaye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BB071-BCA1-46D3-B7A2-06CFEA543433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left ventricular hypertrophy with or without</a:t>
            </a:r>
          </a:p>
          <a:p>
            <a:pPr>
              <a:buNone/>
            </a:pPr>
            <a:r>
              <a:rPr lang="en-US" dirty="0" smtClean="0"/>
              <a:t>hypertension </a:t>
            </a:r>
          </a:p>
          <a:p>
            <a:r>
              <a:rPr lang="en-US" dirty="0" smtClean="0"/>
              <a:t>interstitial myocardial fibrosis and resultant </a:t>
            </a:r>
            <a:r>
              <a:rPr lang="en-US" dirty="0" err="1" smtClean="0"/>
              <a:t>cardiomyopathy</a:t>
            </a:r>
            <a:endParaRPr lang="en-US" dirty="0" smtClean="0"/>
          </a:p>
          <a:p>
            <a:r>
              <a:rPr lang="en-US" dirty="0" smtClean="0"/>
              <a:t>small-vessel coronary artery </a:t>
            </a:r>
            <a:r>
              <a:rPr lang="en-US" dirty="0" err="1" smtClean="0"/>
              <a:t>disease,SVT</a:t>
            </a:r>
            <a:r>
              <a:rPr lang="en-US" dirty="0" smtClean="0"/>
              <a:t> and</a:t>
            </a:r>
          </a:p>
          <a:p>
            <a:r>
              <a:rPr lang="en-US" dirty="0" smtClean="0"/>
              <a:t>Disorders of conduction.</a:t>
            </a:r>
          </a:p>
          <a:p>
            <a:r>
              <a:rPr lang="en-US" dirty="0" smtClean="0"/>
              <a:t>Impaired glucose tolerance and diabetes mellitus occur in up to 25% of patients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Cushing’s syndrome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Siryet Tesfaye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BB071-BCA1-46D3-B7A2-06CFEA543433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Coexisting hypertension is common and usually </a:t>
            </a:r>
            <a:r>
              <a:rPr lang="en-US" sz="3600" dirty="0" err="1" smtClean="0"/>
              <a:t>multifactorial</a:t>
            </a:r>
            <a:r>
              <a:rPr lang="en-US" sz="3600" dirty="0" smtClean="0"/>
              <a:t>: </a:t>
            </a:r>
          </a:p>
          <a:p>
            <a:r>
              <a:rPr lang="en-US" sz="3600" dirty="0" smtClean="0"/>
              <a:t>increased cardiac output,</a:t>
            </a:r>
          </a:p>
          <a:p>
            <a:r>
              <a:rPr lang="en-US" sz="3600" dirty="0" smtClean="0"/>
              <a:t> increased activation of the </a:t>
            </a:r>
            <a:r>
              <a:rPr lang="en-US" sz="3600" dirty="0" err="1" smtClean="0"/>
              <a:t>renin-angiotensin</a:t>
            </a:r>
            <a:r>
              <a:rPr lang="en-US" sz="3600" dirty="0" smtClean="0"/>
              <a:t> system through enhanced hepatic production of </a:t>
            </a:r>
            <a:r>
              <a:rPr lang="en-US" sz="3600" dirty="0" err="1" smtClean="0"/>
              <a:t>angiotensinogen</a:t>
            </a:r>
            <a:r>
              <a:rPr lang="en-US" sz="3600" dirty="0" smtClean="0"/>
              <a:t>, and </a:t>
            </a:r>
          </a:p>
          <a:p>
            <a:r>
              <a:rPr lang="en-US" sz="3600" dirty="0" smtClean="0"/>
              <a:t>Reduced synthesis of </a:t>
            </a:r>
            <a:r>
              <a:rPr lang="en-US" sz="3600" dirty="0" err="1" smtClean="0"/>
              <a:t>vasodilatory</a:t>
            </a:r>
            <a:r>
              <a:rPr lang="en-US" sz="3600" dirty="0" smtClean="0"/>
              <a:t> prostaglandins.</a:t>
            </a:r>
            <a:endParaRPr lang="en-US" sz="3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Siryet Tesfaye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BB071-BCA1-46D3-B7A2-06CFEA543433}" type="slidenum">
              <a:rPr lang="en-US" smtClean="0"/>
              <a:pPr/>
              <a:t>17</a:t>
            </a:fld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304800" y="381000"/>
          <a:ext cx="8229600" cy="5592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4572000"/>
              </a:tblGrid>
              <a:tr h="761999">
                <a:tc>
                  <a:txBody>
                    <a:bodyPr/>
                    <a:lstStyle/>
                    <a:p>
                      <a:r>
                        <a:rPr lang="en-US" sz="2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Organ Systems Affected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Clinical Features</a:t>
                      </a:r>
                      <a:endParaRPr lang="en-US" sz="2800" dirty="0" smtClean="0"/>
                    </a:p>
                    <a:p>
                      <a:endParaRPr lang="en-US" sz="2800" dirty="0"/>
                    </a:p>
                  </a:txBody>
                  <a:tcPr/>
                </a:tc>
              </a:tr>
              <a:tr h="1796323">
                <a:tc>
                  <a:txBody>
                    <a:bodyPr/>
                    <a:lstStyle/>
                    <a:p>
                      <a:r>
                        <a:rPr lang="en-US" sz="28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Cardiorespiratory</a:t>
                      </a:r>
                      <a:endParaRPr lang="en-US" sz="28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Hypertension</a:t>
                      </a:r>
                    </a:p>
                    <a:p>
                      <a:r>
                        <a:rPr lang="en-US" sz="2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Increased sensitivity to endogenous and exogenous </a:t>
                      </a:r>
                      <a:r>
                        <a:rPr lang="en-US" sz="28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vasopressors</a:t>
                      </a:r>
                      <a:r>
                        <a:rPr lang="en-US" sz="2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Left ventricular hypertrophy and strain Congestive cardiac failure Obstructive sleep apnea</a:t>
                      </a:r>
                      <a:endParaRPr lang="en-US" sz="2800" dirty="0"/>
                    </a:p>
                  </a:txBody>
                  <a:tcPr/>
                </a:tc>
              </a:tr>
              <a:tr h="1569639">
                <a:tc>
                  <a:txBody>
                    <a:bodyPr/>
                    <a:lstStyle/>
                    <a:p>
                      <a:r>
                        <a:rPr lang="en-US" sz="2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Electrolyte imbalance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Hypokalemia</a:t>
                      </a:r>
                      <a:r>
                        <a:rPr lang="en-US" sz="2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28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hypernatremia</a:t>
                      </a:r>
                      <a:endParaRPr lang="en-US" sz="2800" dirty="0" smtClean="0"/>
                    </a:p>
                    <a:p>
                      <a:endParaRPr lang="en-US" sz="28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Siryet Tesfaye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BB071-BCA1-46D3-B7A2-06CFEA543433}" type="slidenum">
              <a:rPr lang="en-US" smtClean="0"/>
              <a:pPr/>
              <a:t>18</a:t>
            </a:fld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228600" y="0"/>
          <a:ext cx="8610600" cy="586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5800"/>
                <a:gridCol w="4114800"/>
              </a:tblGrid>
              <a:tr h="60286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Organ Systems Affected</a:t>
                      </a:r>
                      <a:endParaRPr lang="en-US" sz="1800" dirty="0" smtClean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Clinical Features</a:t>
                      </a:r>
                      <a:endParaRPr lang="en-US" sz="1800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  <a:tr h="80382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Endocrine</a:t>
                      </a:r>
                      <a:endParaRPr lang="en-US" sz="2800" dirty="0" smtClean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Diabetes mellitus</a:t>
                      </a:r>
                      <a:endParaRPr lang="en-US" sz="3200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  <a:tr h="43738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Musculoskeletal</a:t>
                      </a:r>
                      <a:endParaRPr lang="en-US" sz="2800" dirty="0" smtClean="0"/>
                    </a:p>
                    <a:p>
                      <a:endParaRPr lang="en-US" sz="2800" dirty="0" smtClean="0"/>
                    </a:p>
                    <a:p>
                      <a:endParaRPr lang="en-US" sz="2800" dirty="0" smtClean="0"/>
                    </a:p>
                    <a:p>
                      <a:endParaRPr lang="en-US" sz="2800" dirty="0" smtClean="0"/>
                    </a:p>
                    <a:p>
                      <a:endParaRPr lang="en-US" sz="2800" dirty="0" smtClean="0"/>
                    </a:p>
                    <a:p>
                      <a:endParaRPr lang="en-US" sz="280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Miscellaneous</a:t>
                      </a:r>
                      <a:endParaRPr lang="en-US" sz="2800" dirty="0" smtClean="0"/>
                    </a:p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Osteoporosis, aseptic necrosis of the hip, vertebral crush fractures, proximal </a:t>
                      </a:r>
                      <a:r>
                        <a:rPr lang="en-US" sz="28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myopathy</a:t>
                      </a:r>
                      <a:r>
                        <a:rPr lang="en-US" sz="2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capillary fragility</a:t>
                      </a:r>
                      <a:endParaRPr lang="en-US" sz="2800" dirty="0" smtClean="0"/>
                    </a:p>
                    <a:p>
                      <a:endParaRPr lang="en-US" sz="2800" dirty="0" smtClean="0"/>
                    </a:p>
                    <a:p>
                      <a:r>
                        <a:rPr lang="en-US" sz="2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Obesity, </a:t>
                      </a:r>
                      <a:r>
                        <a:rPr lang="en-US" sz="28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polycythemia</a:t>
                      </a:r>
                      <a:r>
                        <a:rPr lang="en-US" sz="2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decreased wound healing, thin skin, </a:t>
                      </a:r>
                      <a:r>
                        <a:rPr lang="en-US" sz="28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gastroesophageal</a:t>
                      </a:r>
                      <a:r>
                        <a:rPr lang="en-US" sz="2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reflux</a:t>
                      </a:r>
                      <a:endParaRPr lang="en-US" sz="2800" dirty="0" smtClean="0"/>
                    </a:p>
                    <a:p>
                      <a:endParaRPr lang="en-US" sz="2800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Investigations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Siryet Tesfaye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BB071-BCA1-46D3-B7A2-06CFEA543433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Electrolyte</a:t>
            </a:r>
          </a:p>
          <a:p>
            <a:r>
              <a:rPr lang="en-US" dirty="0" smtClean="0"/>
              <a:t> cardiovascular evaluation for ischemic heart disease and congestive heart failure.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Cont…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Siryet Tesfaye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BB071-BCA1-46D3-B7A2-06CFEA543433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sz="3200" dirty="0" smtClean="0"/>
              <a:t> visual examination</a:t>
            </a:r>
          </a:p>
          <a:p>
            <a:r>
              <a:rPr lang="en-US" sz="3200" dirty="0" smtClean="0"/>
              <a:t>When </a:t>
            </a:r>
            <a:r>
              <a:rPr lang="en-US" sz="3200" dirty="0" err="1" smtClean="0"/>
              <a:t>transsphenoidal</a:t>
            </a:r>
            <a:r>
              <a:rPr lang="en-US" sz="3200" dirty="0" smtClean="0"/>
              <a:t> surgery is planned, </a:t>
            </a:r>
          </a:p>
          <a:p>
            <a:pPr>
              <a:buNone/>
            </a:pPr>
            <a:r>
              <a:rPr lang="en-US" sz="3200" dirty="0" smtClean="0"/>
              <a:t>an </a:t>
            </a:r>
            <a:r>
              <a:rPr lang="en-US" sz="3200" dirty="0" err="1" smtClean="0"/>
              <a:t>otolaryngologic</a:t>
            </a:r>
            <a:r>
              <a:rPr lang="en-US" sz="3200" dirty="0" smtClean="0"/>
              <a:t> examination of the nasal passages and </a:t>
            </a:r>
            <a:r>
              <a:rPr lang="en-US" sz="3200" dirty="0" err="1" smtClean="0"/>
              <a:t>nasopharynx</a:t>
            </a:r>
            <a:r>
              <a:rPr lang="en-US" sz="3200" dirty="0" smtClean="0"/>
              <a:t> is also performed, </a:t>
            </a:r>
          </a:p>
          <a:p>
            <a:r>
              <a:rPr lang="en-US" sz="3200" dirty="0" smtClean="0"/>
              <a:t>Nasal culture is obtained to guide antibiotic therapy in the event of postoperative infection.</a:t>
            </a:r>
            <a:endParaRPr lang="en-US" sz="3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Surgical approach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Siryet Tesfaye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BB071-BCA1-46D3-B7A2-06CFEA543433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Transnasal</a:t>
            </a:r>
            <a:r>
              <a:rPr lang="en-US" dirty="0" smtClean="0"/>
              <a:t> or </a:t>
            </a:r>
            <a:r>
              <a:rPr lang="en-US" dirty="0" err="1" smtClean="0"/>
              <a:t>transseptal</a:t>
            </a:r>
            <a:r>
              <a:rPr lang="en-US" dirty="0" smtClean="0"/>
              <a:t> </a:t>
            </a:r>
            <a:r>
              <a:rPr lang="en-US" dirty="0" err="1" smtClean="0"/>
              <a:t>transsphenoidal</a:t>
            </a:r>
            <a:r>
              <a:rPr lang="en-US" dirty="0" smtClean="0"/>
              <a:t> access to the </a:t>
            </a:r>
            <a:r>
              <a:rPr lang="en-US" dirty="0" err="1" smtClean="0"/>
              <a:t>sella</a:t>
            </a:r>
            <a:r>
              <a:rPr lang="en-US" dirty="0" smtClean="0"/>
              <a:t>.</a:t>
            </a:r>
          </a:p>
          <a:p>
            <a:r>
              <a:rPr lang="en-US" dirty="0" smtClean="0"/>
              <a:t> Optimal removal of larger tumors and decompression may require a craniotomy. </a:t>
            </a:r>
          </a:p>
          <a:p>
            <a:r>
              <a:rPr lang="en-US" dirty="0" smtClean="0"/>
              <a:t>Newer techniques such as the endoscopic </a:t>
            </a:r>
            <a:r>
              <a:rPr lang="en-US" dirty="0" err="1" smtClean="0"/>
              <a:t>endonasal</a:t>
            </a:r>
            <a:r>
              <a:rPr lang="en-US" dirty="0" smtClean="0"/>
              <a:t> approach have allowed superior visualization of both the </a:t>
            </a:r>
            <a:r>
              <a:rPr lang="en-US" dirty="0" err="1" smtClean="0"/>
              <a:t>sellar</a:t>
            </a:r>
            <a:r>
              <a:rPr lang="en-US" dirty="0" smtClean="0"/>
              <a:t> and </a:t>
            </a:r>
            <a:r>
              <a:rPr lang="en-US" dirty="0" err="1" smtClean="0"/>
              <a:t>suprasellar</a:t>
            </a:r>
            <a:r>
              <a:rPr lang="en-US" dirty="0" smtClean="0"/>
              <a:t> components of these tumors.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Major Problems Associated with the </a:t>
            </a:r>
            <a:r>
              <a:rPr lang="en-US" b="1" dirty="0" err="1" smtClean="0"/>
              <a:t>Transsphenoidal</a:t>
            </a:r>
            <a:r>
              <a:rPr lang="en-US" b="1" dirty="0" smtClean="0"/>
              <a:t> Approach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By </a:t>
            </a:r>
            <a:r>
              <a:rPr lang="en-US" dirty="0" err="1" smtClean="0">
                <a:solidFill>
                  <a:schemeClr val="tx1"/>
                </a:solidFill>
              </a:rPr>
              <a:t>Siryet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Tesfaye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BB071-BCA1-46D3-B7A2-06CFEA543433}" type="slidenum">
              <a:rPr lang="en-US" smtClean="0">
                <a:solidFill>
                  <a:schemeClr val="tx1"/>
                </a:solidFill>
              </a:rPr>
              <a:pPr/>
              <a:t>22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905000"/>
            <a:ext cx="8229600" cy="4221163"/>
          </a:xfrm>
        </p:spPr>
        <p:txBody>
          <a:bodyPr>
            <a:normAutofit/>
          </a:bodyPr>
          <a:lstStyle/>
          <a:p>
            <a:r>
              <a:rPr lang="en-US" dirty="0" smtClean="0"/>
              <a:t>1) the need for mucosal injections of epinephrine-containing solution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2) the accumulation of blood and tissue debris in the pharynx and stomach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Cont…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By </a:t>
            </a:r>
            <a:r>
              <a:rPr lang="en-US" dirty="0" err="1" smtClean="0">
                <a:solidFill>
                  <a:schemeClr val="tx1"/>
                </a:solidFill>
              </a:rPr>
              <a:t>Siryet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Tesfaye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BB071-BCA1-46D3-B7A2-06CFEA543433}" type="slidenum">
              <a:rPr lang="en-US" smtClean="0">
                <a:solidFill>
                  <a:schemeClr val="tx1"/>
                </a:solidFill>
              </a:rPr>
              <a:pPr/>
              <a:t>23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3600" dirty="0" smtClean="0"/>
              <a:t>3) the risks of hemorrhage from inadvertent entry into the cavernous sinus or the internal carotid artery </a:t>
            </a:r>
          </a:p>
          <a:p>
            <a:r>
              <a:rPr lang="en-US" sz="3600" dirty="0" smtClean="0"/>
              <a:t>4) cranial nerve damage, and</a:t>
            </a:r>
          </a:p>
          <a:p>
            <a:r>
              <a:rPr lang="en-US" sz="3600" dirty="0" smtClean="0"/>
              <a:t> 5) pituitary </a:t>
            </a:r>
            <a:r>
              <a:rPr lang="en-US" sz="3600" dirty="0" err="1" smtClean="0"/>
              <a:t>hypofunction</a:t>
            </a:r>
            <a:r>
              <a:rPr lang="en-US" sz="3600" dirty="0" smtClean="0"/>
              <a:t>.</a:t>
            </a:r>
          </a:p>
          <a:p>
            <a:r>
              <a:rPr lang="en-US" sz="3600" dirty="0" smtClean="0"/>
              <a:t>6) possibility of CSF leakage and meningitis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401762"/>
          </a:xfrm>
        </p:spPr>
        <p:txBody>
          <a:bodyPr>
            <a:normAutofit/>
          </a:bodyPr>
          <a:lstStyle/>
          <a:p>
            <a:r>
              <a:rPr lang="en-US" dirty="0" smtClean="0"/>
              <a:t>Advantages of the </a:t>
            </a:r>
            <a:r>
              <a:rPr lang="en-US" dirty="0" err="1" smtClean="0"/>
              <a:t>transsphenoidal</a:t>
            </a:r>
            <a:r>
              <a:rPr lang="en-US" dirty="0" smtClean="0"/>
              <a:t> approach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By </a:t>
            </a:r>
            <a:r>
              <a:rPr lang="en-US" dirty="0" err="1" smtClean="0">
                <a:solidFill>
                  <a:schemeClr val="tx1"/>
                </a:solidFill>
              </a:rPr>
              <a:t>Siryet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Tesfaye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BB071-BCA1-46D3-B7A2-06CFEA543433}" type="slidenum">
              <a:rPr lang="en-US" smtClean="0">
                <a:solidFill>
                  <a:schemeClr val="tx1"/>
                </a:solidFill>
              </a:rPr>
              <a:pPr/>
              <a:t>24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2209800"/>
            <a:ext cx="8229600" cy="39163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include the following: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 lower morbidity and mortality rates</a:t>
            </a:r>
          </a:p>
          <a:p>
            <a:r>
              <a:rPr lang="en-US" dirty="0" smtClean="0"/>
              <a:t>Decreased incidence and severity of DI</a:t>
            </a:r>
          </a:p>
          <a:p>
            <a:r>
              <a:rPr lang="en-US" dirty="0" smtClean="0"/>
              <a:t> Elimination of frontal lobe retraction and external scars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Cont…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By </a:t>
            </a:r>
            <a:r>
              <a:rPr lang="en-US" dirty="0" err="1" smtClean="0">
                <a:solidFill>
                  <a:schemeClr val="tx1"/>
                </a:solidFill>
              </a:rPr>
              <a:t>Siryet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Tesfaye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BB071-BCA1-46D3-B7A2-06CFEA543433}" type="slidenum">
              <a:rPr lang="en-US" smtClean="0">
                <a:solidFill>
                  <a:schemeClr val="tx1"/>
                </a:solidFill>
              </a:rPr>
              <a:pPr/>
              <a:t>25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Magnified visualization and removal of small tumors, which spares normal tissue </a:t>
            </a:r>
          </a:p>
          <a:p>
            <a:r>
              <a:rPr lang="en-US" dirty="0" smtClean="0"/>
              <a:t>Decreased frequency of blood transfusions; and </a:t>
            </a:r>
          </a:p>
          <a:p>
            <a:r>
              <a:rPr lang="en-US" dirty="0" smtClean="0"/>
              <a:t>Shorter hospitalization.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Siryet Tesfaye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BB071-BCA1-46D3-B7A2-06CFEA543433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43000" y="1447800"/>
            <a:ext cx="5836339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Transcranial</a:t>
            </a:r>
            <a:r>
              <a:rPr lang="en-US" dirty="0" smtClean="0"/>
              <a:t> approach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Siryet Tesfaye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BB071-BCA1-46D3-B7A2-06CFEA543433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 smtClean="0"/>
              <a:t>Transcranial</a:t>
            </a:r>
            <a:r>
              <a:rPr lang="en-US" dirty="0" smtClean="0"/>
              <a:t> approach to the </a:t>
            </a:r>
            <a:r>
              <a:rPr lang="en-US" dirty="0" err="1" smtClean="0"/>
              <a:t>sella</a:t>
            </a:r>
            <a:r>
              <a:rPr lang="en-US" dirty="0" smtClean="0"/>
              <a:t> permits direct visualization of </a:t>
            </a:r>
            <a:r>
              <a:rPr lang="en-US" dirty="0" err="1" smtClean="0"/>
              <a:t>suprasellar</a:t>
            </a:r>
            <a:r>
              <a:rPr lang="en-US" dirty="0" smtClean="0"/>
              <a:t> structures.</a:t>
            </a:r>
          </a:p>
          <a:p>
            <a:r>
              <a:rPr lang="en-US" dirty="0" err="1" smtClean="0"/>
              <a:t>Transcranial</a:t>
            </a:r>
            <a:r>
              <a:rPr lang="en-US" dirty="0" smtClean="0"/>
              <a:t> approach is advisable in significant </a:t>
            </a:r>
            <a:r>
              <a:rPr lang="en-US" dirty="0" err="1" smtClean="0"/>
              <a:t>suprasellar</a:t>
            </a:r>
            <a:r>
              <a:rPr lang="en-US" dirty="0" smtClean="0"/>
              <a:t> extension with optic nerve or hypothalamic involvement.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Airway Management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Siryet Tesfaye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BB071-BCA1-46D3-B7A2-06CFEA543433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dirty="0" smtClean="0"/>
              <a:t>Direct </a:t>
            </a:r>
            <a:r>
              <a:rPr lang="en-US" dirty="0" err="1" smtClean="0"/>
              <a:t>laryngoscopy</a:t>
            </a:r>
            <a:r>
              <a:rPr lang="en-US" dirty="0" smtClean="0"/>
              <a:t> may require the use of a long blade.</a:t>
            </a:r>
          </a:p>
          <a:p>
            <a:r>
              <a:rPr lang="en-US" dirty="0" smtClean="0"/>
              <a:t>awake </a:t>
            </a:r>
            <a:r>
              <a:rPr lang="en-US" dirty="0" err="1" smtClean="0"/>
              <a:t>fiberoptic</a:t>
            </a:r>
            <a:r>
              <a:rPr lang="en-US" dirty="0" smtClean="0"/>
              <a:t> intubation</a:t>
            </a:r>
          </a:p>
          <a:p>
            <a:r>
              <a:rPr lang="en-US" dirty="0" smtClean="0"/>
              <a:t>A throat pack(</a:t>
            </a:r>
            <a:r>
              <a:rPr lang="en-US" dirty="0" err="1" smtClean="0"/>
              <a:t>sphenoidal</a:t>
            </a:r>
            <a:r>
              <a:rPr lang="en-US" dirty="0" smtClean="0"/>
              <a:t> approach)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Anesthetic Considerations. 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By </a:t>
            </a:r>
            <a:r>
              <a:rPr lang="en-US" dirty="0" err="1" smtClean="0">
                <a:solidFill>
                  <a:schemeClr val="tx1"/>
                </a:solidFill>
              </a:rPr>
              <a:t>Siryet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Tesfaye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BB071-BCA1-46D3-B7A2-06CFEA543433}" type="slidenum">
              <a:rPr lang="en-US" smtClean="0">
                <a:solidFill>
                  <a:schemeClr val="tx1"/>
                </a:solidFill>
              </a:rPr>
              <a:pPr/>
              <a:t>29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Adherence to the general principles of neurosurgical anesthesia is more crucial to a successful outcome than the choice of drugs. </a:t>
            </a:r>
          </a:p>
          <a:p>
            <a:r>
              <a:rPr lang="en-US" dirty="0" smtClean="0"/>
              <a:t>However, the use of short-acting drugs allows rapid awakening at the end of surgery.</a:t>
            </a:r>
          </a:p>
          <a:p>
            <a:r>
              <a:rPr lang="en-US" dirty="0" err="1" smtClean="0"/>
              <a:t>Perioperative</a:t>
            </a:r>
            <a:r>
              <a:rPr lang="en-US" dirty="0" smtClean="0"/>
              <a:t> steroid supplementation is routinely administered.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Cont…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Siryet Tesfaye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BB071-BCA1-46D3-B7A2-06CFEA543433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Iv antibiotic prophylaxis and </a:t>
            </a:r>
            <a:r>
              <a:rPr lang="en-US" dirty="0" err="1" smtClean="0"/>
              <a:t>glucocorticoid</a:t>
            </a:r>
            <a:r>
              <a:rPr lang="en-US" dirty="0" smtClean="0"/>
              <a:t> coverage are usually given prior to induction. </a:t>
            </a:r>
          </a:p>
          <a:p>
            <a:r>
              <a:rPr lang="en-US" dirty="0" smtClean="0"/>
              <a:t>Avoid nitrous oxide to prevent problems with a postoperative </a:t>
            </a:r>
            <a:r>
              <a:rPr lang="en-US" dirty="0" err="1" smtClean="0"/>
              <a:t>pneumocephalus</a:t>
            </a:r>
            <a:r>
              <a:rPr lang="en-US" dirty="0" smtClean="0"/>
              <a:t>. </a:t>
            </a:r>
          </a:p>
          <a:p>
            <a:r>
              <a:rPr lang="en-US" dirty="0" smtClean="0"/>
              <a:t>Intense neuromuscular blockade is important to prevent movement while the surgeon is using the microscope.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Monitoring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Siryet Tesfaye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BB071-BCA1-46D3-B7A2-06CFEA543433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Monitoring should be carried out in somewhat the same way as for craniotomies.</a:t>
            </a:r>
          </a:p>
          <a:p>
            <a:r>
              <a:rPr lang="en-US" dirty="0" smtClean="0"/>
              <a:t> VEP may be employed with large tumors that involve the optic nerves. </a:t>
            </a:r>
          </a:p>
          <a:p>
            <a:r>
              <a:rPr lang="en-US" dirty="0" err="1" smtClean="0"/>
              <a:t>Precordial</a:t>
            </a:r>
            <a:r>
              <a:rPr lang="en-US" dirty="0" smtClean="0"/>
              <a:t> Doppler </a:t>
            </a:r>
            <a:r>
              <a:rPr lang="en-US" dirty="0" err="1" smtClean="0"/>
              <a:t>sonography</a:t>
            </a:r>
            <a:r>
              <a:rPr lang="en-US" dirty="0" smtClean="0"/>
              <a:t> may be used for detecting venous air embolism. </a:t>
            </a:r>
          </a:p>
          <a:p>
            <a:r>
              <a:rPr lang="en-US" dirty="0" smtClean="0"/>
              <a:t>Venous access with large-bore catheters is desirable in the event of massive hemorrhage.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Postoperative Care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Siryet Tesfaye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BB071-BCA1-46D3-B7A2-06CFEA543433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Emergence should  be smooth and rapid to prevent dislodgement of nasal packs or stents and also to allow early neurologic assessment.</a:t>
            </a:r>
          </a:p>
          <a:p>
            <a:r>
              <a:rPr lang="en-US" dirty="0" smtClean="0"/>
              <a:t>Ensure airway patency(</a:t>
            </a:r>
            <a:r>
              <a:rPr lang="en-US" dirty="0" err="1" smtClean="0"/>
              <a:t>OsA</a:t>
            </a:r>
            <a:r>
              <a:rPr lang="en-US" dirty="0" smtClean="0"/>
              <a:t>)</a:t>
            </a:r>
          </a:p>
          <a:p>
            <a:r>
              <a:rPr lang="en-US" dirty="0" smtClean="0"/>
              <a:t>Nausea and vomiting are common(prophylactic </a:t>
            </a:r>
            <a:r>
              <a:rPr lang="en-US" dirty="0" err="1" smtClean="0"/>
              <a:t>antiemetics</a:t>
            </a:r>
            <a:r>
              <a:rPr lang="en-US" dirty="0" smtClean="0"/>
              <a:t>)</a:t>
            </a:r>
          </a:p>
          <a:p>
            <a:r>
              <a:rPr lang="en-US" dirty="0" smtClean="0"/>
              <a:t>Pain management(moderate-severe)</a:t>
            </a:r>
          </a:p>
          <a:p>
            <a:r>
              <a:rPr lang="en-US" dirty="0" smtClean="0"/>
              <a:t>Careful management of fluid balance &amp; electrolyte.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12680</TotalTime>
  <Words>1067</Words>
  <Application>Microsoft Office PowerPoint</Application>
  <PresentationFormat>On-screen Show (4:3)</PresentationFormat>
  <Paragraphs>210</Paragraphs>
  <Slides>32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Equity</vt:lpstr>
      <vt:lpstr>Anesthesia for Pituitary Surgery</vt:lpstr>
      <vt:lpstr>Pituitary Tumors</vt:lpstr>
      <vt:lpstr>Adenohypophysis</vt:lpstr>
      <vt:lpstr>Cont…</vt:lpstr>
      <vt:lpstr>Neurohypophysis</vt:lpstr>
      <vt:lpstr>Cont…</vt:lpstr>
      <vt:lpstr>Preoperative Diagnosis and Management</vt:lpstr>
      <vt:lpstr>Preoperative Assessment</vt:lpstr>
      <vt:lpstr>Syndromes of Hormonal Hypersecretion</vt:lpstr>
      <vt:lpstr>Slide 10</vt:lpstr>
      <vt:lpstr>Slide 11</vt:lpstr>
      <vt:lpstr>Cont…</vt:lpstr>
      <vt:lpstr>Upper airway changes include</vt:lpstr>
      <vt:lpstr>Cont…</vt:lpstr>
      <vt:lpstr>Cardiac effects</vt:lpstr>
      <vt:lpstr>Cushing’s syndrome</vt:lpstr>
      <vt:lpstr>Slide 17</vt:lpstr>
      <vt:lpstr>Slide 18</vt:lpstr>
      <vt:lpstr>Investigations</vt:lpstr>
      <vt:lpstr>Cont…</vt:lpstr>
      <vt:lpstr>Surgical approach</vt:lpstr>
      <vt:lpstr>Major Problems Associated with the Transsphenoidal Approach</vt:lpstr>
      <vt:lpstr>Cont…</vt:lpstr>
      <vt:lpstr>Advantages of the transsphenoidal approach</vt:lpstr>
      <vt:lpstr>Cont…</vt:lpstr>
      <vt:lpstr>Slide 26</vt:lpstr>
      <vt:lpstr>Transcranial approach</vt:lpstr>
      <vt:lpstr>Airway Management</vt:lpstr>
      <vt:lpstr>Anesthetic Considerations. </vt:lpstr>
      <vt:lpstr>Cont…</vt:lpstr>
      <vt:lpstr>Monitoring</vt:lpstr>
      <vt:lpstr>Postoperative Care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Anesthesia for Pituitary Surgery</dc:title>
  <dc:creator>aplus</dc:creator>
  <cp:lastModifiedBy>aplus</cp:lastModifiedBy>
  <cp:revision>12</cp:revision>
  <dcterms:created xsi:type="dcterms:W3CDTF">2014-11-21T05:59:26Z</dcterms:created>
  <dcterms:modified xsi:type="dcterms:W3CDTF">2017-02-02T17:19:32Z</dcterms:modified>
</cp:coreProperties>
</file>