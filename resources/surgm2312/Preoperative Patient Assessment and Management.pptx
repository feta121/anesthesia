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sldIdLst>
    <p:sldId id="349" r:id="rId2"/>
    <p:sldId id="350" r:id="rId3"/>
    <p:sldId id="383" r:id="rId4"/>
    <p:sldId id="351" r:id="rId5"/>
    <p:sldId id="352" r:id="rId6"/>
    <p:sldId id="384" r:id="rId7"/>
    <p:sldId id="385" r:id="rId8"/>
    <p:sldId id="386" r:id="rId9"/>
    <p:sldId id="418" r:id="rId10"/>
    <p:sldId id="388" r:id="rId11"/>
    <p:sldId id="389" r:id="rId12"/>
    <p:sldId id="419" r:id="rId13"/>
    <p:sldId id="420" r:id="rId14"/>
    <p:sldId id="421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1" r:id="rId27"/>
    <p:sldId id="402" r:id="rId28"/>
    <p:sldId id="403" r:id="rId29"/>
    <p:sldId id="404" r:id="rId30"/>
    <p:sldId id="405" r:id="rId31"/>
    <p:sldId id="406" r:id="rId32"/>
    <p:sldId id="407" r:id="rId33"/>
    <p:sldId id="408" r:id="rId34"/>
    <p:sldId id="409" r:id="rId35"/>
    <p:sldId id="410" r:id="rId36"/>
    <p:sldId id="411" r:id="rId37"/>
    <p:sldId id="412" r:id="rId38"/>
    <p:sldId id="413" r:id="rId39"/>
    <p:sldId id="414" r:id="rId40"/>
    <p:sldId id="427" r:id="rId41"/>
    <p:sldId id="429" r:id="rId42"/>
    <p:sldId id="428" r:id="rId43"/>
    <p:sldId id="430" r:id="rId44"/>
    <p:sldId id="433" r:id="rId45"/>
    <p:sldId id="415" r:id="rId46"/>
    <p:sldId id="416" r:id="rId47"/>
    <p:sldId id="417" r:id="rId48"/>
    <p:sldId id="434" r:id="rId49"/>
    <p:sldId id="435" r:id="rId50"/>
    <p:sldId id="436" r:id="rId51"/>
    <p:sldId id="437" r:id="rId52"/>
    <p:sldId id="438" r:id="rId53"/>
    <p:sldId id="439" r:id="rId54"/>
    <p:sldId id="440" r:id="rId55"/>
    <p:sldId id="441" r:id="rId56"/>
    <p:sldId id="442" r:id="rId57"/>
    <p:sldId id="443" r:id="rId58"/>
    <p:sldId id="444" r:id="rId59"/>
    <p:sldId id="445" r:id="rId60"/>
    <p:sldId id="446" r:id="rId61"/>
    <p:sldId id="447" r:id="rId62"/>
    <p:sldId id="448" r:id="rId63"/>
    <p:sldId id="449" r:id="rId64"/>
    <p:sldId id="450" r:id="rId65"/>
    <p:sldId id="451" r:id="rId66"/>
    <p:sldId id="452" r:id="rId67"/>
    <p:sldId id="453" r:id="rId68"/>
    <p:sldId id="454" r:id="rId69"/>
    <p:sldId id="455" r:id="rId70"/>
    <p:sldId id="456" r:id="rId71"/>
    <p:sldId id="457" r:id="rId72"/>
    <p:sldId id="458" r:id="rId73"/>
    <p:sldId id="459" r:id="rId74"/>
    <p:sldId id="460" r:id="rId75"/>
    <p:sldId id="461" r:id="rId76"/>
    <p:sldId id="462" r:id="rId77"/>
    <p:sldId id="463" r:id="rId78"/>
    <p:sldId id="464" r:id="rId79"/>
    <p:sldId id="465" r:id="rId80"/>
    <p:sldId id="466" r:id="rId81"/>
    <p:sldId id="467" r:id="rId82"/>
    <p:sldId id="468" r:id="rId83"/>
    <p:sldId id="469" r:id="rId84"/>
    <p:sldId id="470" r:id="rId85"/>
    <p:sldId id="471" r:id="rId86"/>
    <p:sldId id="472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4875" autoAdjust="0"/>
  </p:normalViewPr>
  <p:slideViewPr>
    <p:cSldViewPr snapToGrid="0">
      <p:cViewPr varScale="1">
        <p:scale>
          <a:sx n="62" d="100"/>
          <a:sy n="62" d="100"/>
        </p:scale>
        <p:origin x="-1020" y="-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79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8645F-37C5-4A8A-A688-C182B3435E7C}" type="datetimeFigureOut">
              <a:rPr lang="en-US" smtClean="0"/>
              <a:pPr/>
              <a:t>6/6/2024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1B7F0-5406-48BB-9F20-CC7F1E0EB6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08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F0F06A-5974-4DA9-9683-EFC2A965416F}" type="datetime1">
              <a:rPr lang="en-US" smtClean="0"/>
              <a:t>6/6/2024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B8901B-1BA8-430E-B244-5193F3B1980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45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risk  Moderate</a:t>
            </a:r>
            <a:r>
              <a:rPr lang="en-US" sz="1200" baseline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High; type of surgery; Mechanical-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(early mobilization, </a:t>
            </a:r>
            <a:r>
              <a:rPr lang="en-US" sz="1400" dirty="0" err="1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neuraxial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anaesthesia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leg compression stockings, calf and foot pumps, minimize use of tourniquets) </a:t>
            </a:r>
            <a:r>
              <a:rPr lang="en-US" sz="1400" dirty="0" err="1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pharma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-heparin, warfarin, </a:t>
            </a:r>
            <a:r>
              <a:rPr lang="en-US" sz="1400" dirty="0" err="1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asprin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direct thrombin inhibitors, </a:t>
            </a:r>
            <a:r>
              <a:rPr lang="en-US" sz="1400" dirty="0" err="1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pentasaccharides</a:t>
            </a:r>
            <a:r>
              <a:rPr lang="en-US" sz="14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80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3F53B-72F7-4CD7-9846-C90EFE000F3F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218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(ask if they want to</a:t>
            </a:r>
            <a:r>
              <a:rPr lang="en-US" sz="1200" baseline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repeat consent process</a:t>
            </a:r>
            <a:r>
              <a:rPr lang="en-US" sz="12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sepsis (skin, teeth, urine, chest)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13F53B-72F7-4CD7-9846-C90EFE000F3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8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6F8E6B3-8E52-4E5C-823A-A21CD51C88A4}" type="slidenum">
              <a:rPr lang="en-US" altLang="en-US"/>
              <a:pPr/>
              <a:t>66</a:t>
            </a:fld>
            <a:endParaRPr lang="en-US" altLang="en-US"/>
          </a:p>
        </p:txBody>
      </p:sp>
      <p:sp>
        <p:nvSpPr>
          <p:cNvPr id="276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B7BDE21-4ED2-4506-8A98-BDABDD204E6A}" type="slidenum">
              <a:rPr lang="en-US" altLang="en-US"/>
              <a:pPr/>
              <a:t>67</a:t>
            </a:fld>
            <a:endParaRPr lang="en-US" altLang="en-US"/>
          </a:p>
        </p:txBody>
      </p:sp>
      <p:sp>
        <p:nvSpPr>
          <p:cNvPr id="296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CB23FC1-0670-4EC4-B70D-C5911859832C}" type="slidenum">
              <a:rPr lang="en-US" altLang="en-US"/>
              <a:pPr/>
              <a:t>68</a:t>
            </a:fld>
            <a:endParaRPr lang="en-US" altLang="en-US"/>
          </a:p>
        </p:txBody>
      </p:sp>
      <p:sp>
        <p:nvSpPr>
          <p:cNvPr id="317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BAB96DD8-4543-4A57-9E47-1780AC500B14}" type="slidenum">
              <a:rPr lang="en-US" altLang="en-US"/>
              <a:pPr/>
              <a:t>69</a:t>
            </a:fld>
            <a:endParaRPr lang="en-US" altLang="en-US"/>
          </a:p>
        </p:txBody>
      </p:sp>
      <p:sp>
        <p:nvSpPr>
          <p:cNvPr id="337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67F5C73-CCDE-4808-AE6F-6E18FBA32FDA}" type="slidenum">
              <a:rPr lang="en-US" altLang="en-US"/>
              <a:pPr/>
              <a:t>70</a:t>
            </a:fld>
            <a:endParaRPr lang="en-US" altLang="en-US"/>
          </a:p>
        </p:txBody>
      </p:sp>
      <p:sp>
        <p:nvSpPr>
          <p:cNvPr id="358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D9F09DC-8F41-4CA9-BF02-D36841430F84}" type="slidenum">
              <a:rPr lang="en-US" altLang="en-US"/>
              <a:pPr/>
              <a:t>71</a:t>
            </a:fld>
            <a:endParaRPr lang="en-US" altLang="en-US"/>
          </a:p>
        </p:txBody>
      </p:sp>
      <p:sp>
        <p:nvSpPr>
          <p:cNvPr id="378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2B2658DB-B0E2-49EB-8077-02EAE9309845}" type="slidenum">
              <a:rPr lang="en-US" altLang="en-US"/>
              <a:pPr/>
              <a:t>72</a:t>
            </a:fld>
            <a:endParaRPr lang="en-US" altLang="en-US"/>
          </a:p>
        </p:txBody>
      </p:sp>
      <p:sp>
        <p:nvSpPr>
          <p:cNvPr id="399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8C2ACF3-3C8A-4CB2-80D5-02A47A0E0674}" type="slidenum">
              <a:rPr lang="en-US" altLang="en-US"/>
              <a:pPr/>
              <a:t>73</a:t>
            </a:fld>
            <a:endParaRPr lang="en-US" altLang="en-US"/>
          </a:p>
        </p:txBody>
      </p:sp>
      <p:sp>
        <p:nvSpPr>
          <p:cNvPr id="440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48A1274-90F3-4445-81F7-6158211D25D1}" type="slidenum">
              <a:rPr lang="en-US" altLang="en-US"/>
              <a:pPr/>
              <a:t>74</a:t>
            </a:fld>
            <a:endParaRPr lang="en-US" altLang="en-US"/>
          </a:p>
        </p:txBody>
      </p:sp>
      <p:sp>
        <p:nvSpPr>
          <p:cNvPr id="460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69423F3-DBFF-469C-9207-F3F5446D8C32}" type="slidenum">
              <a:rPr lang="en-US" altLang="en-US"/>
              <a:pPr/>
              <a:t>75</a:t>
            </a:fld>
            <a:endParaRPr lang="en-US" altLang="en-US"/>
          </a:p>
        </p:txBody>
      </p:sp>
      <p:sp>
        <p:nvSpPr>
          <p:cNvPr id="481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5CFAF5B-E261-4120-8030-4362A871609A}" type="slidenum">
              <a:rPr lang="en-US" altLang="en-US"/>
              <a:pPr/>
              <a:t>76</a:t>
            </a:fld>
            <a:endParaRPr lang="en-US" altLang="en-US"/>
          </a:p>
        </p:txBody>
      </p:sp>
      <p:sp>
        <p:nvSpPr>
          <p:cNvPr id="501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D4E7E77-852B-47D1-BAA2-6859BCB91A42}" type="slidenum">
              <a:rPr lang="en-US" altLang="en-US"/>
              <a:pPr/>
              <a:t>77</a:t>
            </a:fld>
            <a:endParaRPr lang="en-US" altLang="en-US"/>
          </a:p>
        </p:txBody>
      </p:sp>
      <p:sp>
        <p:nvSpPr>
          <p:cNvPr id="542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C186FB8-B45B-48B4-A63A-E6A99D73BBA8}" type="slidenum">
              <a:rPr lang="en-US" altLang="en-US"/>
              <a:pPr/>
              <a:t>78</a:t>
            </a:fld>
            <a:endParaRPr lang="en-US" altLang="en-US"/>
          </a:p>
        </p:txBody>
      </p:sp>
      <p:sp>
        <p:nvSpPr>
          <p:cNvPr id="563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D75662A4-AB8A-466A-BB4E-A6207B74F338}" type="slidenum">
              <a:rPr lang="en-US" altLang="en-US"/>
              <a:pPr/>
              <a:t>79</a:t>
            </a:fld>
            <a:endParaRPr lang="en-US" altLang="en-US"/>
          </a:p>
        </p:txBody>
      </p:sp>
      <p:sp>
        <p:nvSpPr>
          <p:cNvPr id="583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CD585970-6E23-4CCB-A159-FB27E59C1189}" type="slidenum">
              <a:rPr lang="en-US" altLang="en-US"/>
              <a:pPr/>
              <a:t>80</a:t>
            </a:fld>
            <a:endParaRPr lang="en-US" altLang="en-US"/>
          </a:p>
        </p:txBody>
      </p:sp>
      <p:sp>
        <p:nvSpPr>
          <p:cNvPr id="604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E90B9D90-B178-4859-A73A-DB40D01A1588}" type="slidenum">
              <a:rPr lang="en-US" altLang="en-US"/>
              <a:pPr/>
              <a:t>81</a:t>
            </a:fld>
            <a:endParaRPr lang="en-US" altLang="en-US"/>
          </a:p>
        </p:txBody>
      </p:sp>
      <p:sp>
        <p:nvSpPr>
          <p:cNvPr id="624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A1AE3EF-52EC-4113-9B47-990B1FF9C43F}" type="slidenum">
              <a:rPr lang="en-US" altLang="en-US"/>
              <a:pPr/>
              <a:t>82</a:t>
            </a:fld>
            <a:endParaRPr lang="en-US" altLang="en-US"/>
          </a:p>
        </p:txBody>
      </p:sp>
      <p:sp>
        <p:nvSpPr>
          <p:cNvPr id="645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F2DD72A-A01B-4D70-B81D-D78258867A46}" type="slidenum">
              <a:rPr lang="en-US" altLang="en-US"/>
              <a:pPr/>
              <a:t>83</a:t>
            </a:fld>
            <a:endParaRPr lang="en-US" altLang="en-US"/>
          </a:p>
        </p:txBody>
      </p:sp>
      <p:sp>
        <p:nvSpPr>
          <p:cNvPr id="686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7F622B98-9E11-4CB4-94A3-44880740D102}" type="slidenum">
              <a:rPr lang="en-US" altLang="en-US"/>
              <a:pPr/>
              <a:t>84</a:t>
            </a:fld>
            <a:endParaRPr lang="en-US" altLang="en-US"/>
          </a:p>
        </p:txBody>
      </p:sp>
      <p:sp>
        <p:nvSpPr>
          <p:cNvPr id="706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02F60-B604-4E84-BCA8-D833A5A3EAE4}" type="datetime1">
              <a:rPr lang="en-US" smtClean="0"/>
              <a:pPr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88A5-126D-45D0-B361-45E5A27414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7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A932D-9048-4D50-86AB-080243ACC054}" type="datetime1">
              <a:rPr lang="en-US" smtClean="0"/>
              <a:pPr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88A5-126D-45D0-B361-45E5A27414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4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449F2-BC32-48DF-B0A5-604069ED80B1}" type="datetime1">
              <a:rPr lang="en-US" smtClean="0"/>
              <a:pPr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88A5-126D-45D0-B361-45E5A27414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D878-7636-4548-89B5-CA2A5EA07109}" type="datetime1">
              <a:rPr lang="en-US" smtClean="0"/>
              <a:pPr/>
              <a:t>6/6/2024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88A5-126D-45D0-B361-45E5A27414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05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CE13B-EFE9-41DC-8078-984E245656D1}" type="datetime1">
              <a:rPr lang="en-US" smtClean="0"/>
              <a:pPr/>
              <a:t>6/6/2024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88A5-126D-45D0-B361-45E5A27414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01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64211-505C-4E06-98ED-76804C257E98}" type="datetime1">
              <a:rPr lang="en-US" smtClean="0"/>
              <a:pPr/>
              <a:t>6/6/2024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88A5-126D-45D0-B361-45E5A27414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5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9722A-1B5E-405B-8007-B1BA8FC26BFA}" type="datetime1">
              <a:rPr lang="en-US" smtClean="0"/>
              <a:pPr/>
              <a:t>6/6/2024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88A5-126D-45D0-B361-45E5A27414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4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90FC-2AFB-4CB4-91E5-170C96D4F599}" type="datetime1">
              <a:rPr lang="en-US" smtClean="0"/>
              <a:pPr/>
              <a:t>6/6/2024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88A5-126D-45D0-B361-45E5A27414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07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4E21F-3B7C-4FD0-8FC0-531538F142FF}" type="datetime1">
              <a:rPr lang="en-US" smtClean="0"/>
              <a:pPr/>
              <a:t>6/6/2024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88A5-126D-45D0-B361-45E5A27414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03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138A0-BFE6-42EB-A025-F53BE8B25B22}" type="datetime1">
              <a:rPr lang="en-US" smtClean="0"/>
              <a:pPr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88A5-126D-45D0-B361-45E5A27414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82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C597-8BB1-466B-9A3E-20BB06D90F4F}" type="datetime1">
              <a:rPr lang="en-US" smtClean="0"/>
              <a:pPr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88A5-126D-45D0-B361-45E5A27414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88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5F477-52DF-4C04-BC8A-A284F8FD7C0E}" type="datetime1">
              <a:rPr lang="en-US" smtClean="0"/>
              <a:pPr/>
              <a:t>6/6/2024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188A5-126D-45D0-B361-45E5A27414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5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73289"/>
            <a:ext cx="12044139" cy="241110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21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AAU-CHS </a:t>
            </a:r>
            <a:br>
              <a:rPr lang="en-US" sz="6621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621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Department of surgery </a:t>
            </a:r>
            <a:br>
              <a:rPr lang="en-US" sz="6621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Pre</a:t>
            </a:r>
            <a:r>
              <a:rPr lang="en-US" sz="5300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OP preparation &amp;post OP complication</a:t>
            </a:r>
            <a:endParaRPr lang="en-US" sz="5300" b="1" dirty="0">
              <a:solidFill>
                <a:srgbClr val="99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883625"/>
            <a:ext cx="11904001" cy="1435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966" dirty="0" smtClean="0">
                <a:latin typeface="New Century Schoolbook Short" pitchFamily="2" charset="2"/>
                <a:cs typeface="New Century Schoolbook Short" pitchFamily="2" charset="2"/>
              </a:rPr>
              <a:t>Dr. </a:t>
            </a:r>
            <a:r>
              <a:rPr lang="en-US" sz="4966" dirty="0" err="1" smtClean="0">
                <a:latin typeface="New Century Schoolbook Short" pitchFamily="2" charset="2"/>
                <a:cs typeface="New Century Schoolbook Short" pitchFamily="2" charset="2"/>
              </a:rPr>
              <a:t>Inku.c</a:t>
            </a:r>
            <a:r>
              <a:rPr lang="en-US" sz="4966" dirty="0" smtClean="0">
                <a:latin typeface="New Century Schoolbook Short" pitchFamily="2" charset="2"/>
                <a:cs typeface="New Century Schoolbook Short" pitchFamily="2" charset="2"/>
              </a:rPr>
              <a:t> GSR 3</a:t>
            </a:r>
            <a:endParaRPr lang="en-US" sz="4966" dirty="0">
              <a:latin typeface="New Century Schoolbook Short" pitchFamily="2" charset="2"/>
              <a:cs typeface="New Century Schoolbook Short" pitchFamily="2" charset="2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4C8F7-45FA-4660-818C-8DB9A0686C5B}" type="datetime2">
              <a:rPr lang="en-US" smtClean="0"/>
              <a:t>Thursday, June 6, 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53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143" y="145665"/>
            <a:ext cx="10515600" cy="1097018"/>
          </a:xfrm>
        </p:spPr>
        <p:txBody>
          <a:bodyPr>
            <a:normAutofit/>
          </a:bodyPr>
          <a:lstStyle/>
          <a:p>
            <a:r>
              <a:rPr lang="en-US" sz="3724" dirty="0">
                <a:solidFill>
                  <a:srgbClr val="C0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OUTLINE</a:t>
            </a:r>
            <a:endParaRPr lang="en-US" sz="3724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32012" y="996287"/>
            <a:ext cx="11404692" cy="4493535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Systematically approached evaluation 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Additional consideration 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potential causes of intraoperative instability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Pre operative check list</a:t>
            </a:r>
          </a:p>
          <a:p>
            <a:pPr marL="0" indent="0">
              <a:buNone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27977-F781-46BC-9B1C-595015485537}" type="datetime2">
              <a:rPr lang="en-US" smtClean="0"/>
              <a:t>Thursday, June 6, 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7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46" y="0"/>
            <a:ext cx="10944368" cy="1325563"/>
          </a:xfrm>
        </p:spPr>
        <p:txBody>
          <a:bodyPr>
            <a:normAutofit/>
          </a:bodyPr>
          <a:lstStyle/>
          <a:p>
            <a:r>
              <a:rPr lang="en-US" b="1" i="0" u="none" strike="noStrike" baseline="0" dirty="0" smtClean="0">
                <a:solidFill>
                  <a:srgbClr val="990000"/>
                </a:solidFill>
                <a:latin typeface="Times New Roman"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251" y="1091820"/>
            <a:ext cx="11790149" cy="554099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4800" i="0" u="none" strike="noStrike" baseline="0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 chance to cut should be a chance to </a:t>
            </a:r>
            <a:r>
              <a:rPr lang="en-US" sz="4800" i="0" u="none" strike="noStrike" baseline="0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cure</a:t>
            </a:r>
            <a:endParaRPr lang="en-US" i="1" u="none" strike="noStrike" baseline="0" dirty="0">
              <a:solidFill>
                <a:srgbClr val="99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3600" b="1" i="0" u="none" strike="noStrike" baseline="0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Surgery </a:t>
            </a:r>
            <a:r>
              <a:rPr lang="en-US" sz="3600" b="1" i="0" u="none" strike="noStrike" baseline="0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= stress and insults </a:t>
            </a:r>
            <a:r>
              <a:rPr lang="en-US" sz="3600" b="0" i="0" u="none" strike="noStrike" baseline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Surgery = stress and </a:t>
            </a:r>
            <a:r>
              <a:rPr lang="en-US" sz="3600" b="0" i="0" u="none" strike="noStrike" baseline="0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insults</a:t>
            </a:r>
          </a:p>
          <a:p>
            <a:pPr>
              <a:buFont typeface="Wingdings" pitchFamily="2" charset="2"/>
              <a:buChar char="q"/>
            </a:pPr>
            <a:r>
              <a:rPr lang="en-US" sz="3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3400" b="0" i="0" u="none" strike="noStrike" baseline="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utcome </a:t>
            </a:r>
            <a:r>
              <a:rPr lang="en-US" sz="3400" b="0" i="0" u="none" strike="noStrike" baseline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of surgery 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depends</a:t>
            </a:r>
            <a:r>
              <a:rPr lang="en-US" sz="34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on </a:t>
            </a:r>
            <a:r>
              <a:rPr lang="en-US" sz="3400" b="0" i="0" u="none" strike="noStrike" baseline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b="0" i="0" u="none" strike="noStrike" baseline="0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endParaRPr lang="en-US" sz="3400" b="0" i="0" u="none" strike="noStrike" baseline="0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The pathological condition of the patient</a:t>
            </a:r>
            <a:r>
              <a:rPr lang="en-US" sz="3000" b="0" i="0" u="none" strike="noStrike" baseline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300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 lvl="1">
              <a:buFont typeface="Wingdings" pitchFamily="2" charset="2"/>
              <a:buChar char="ü"/>
            </a:pPr>
            <a:r>
              <a:rPr lang="en-US" sz="3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3000" b="0" i="0" u="none" strike="noStrike" baseline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reoperative condition and performance status of patient</a:t>
            </a:r>
            <a:endParaRPr lang="en-US" sz="3000" b="0" i="0" u="none" strike="noStrike" baseline="0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Intraoperative details including surgical technique and procedure done</a:t>
            </a:r>
            <a:r>
              <a:rPr lang="en-US" sz="3000" b="0" i="0" u="none" strike="noStrike" baseline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</a:p>
          <a:p>
            <a:pPr lvl="1">
              <a:buFont typeface="Wingdings" pitchFamily="2" charset="2"/>
              <a:buChar char="ü"/>
            </a:pPr>
            <a:r>
              <a:rPr lang="en-US" sz="3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3000" b="0" i="0" u="none" strike="noStrike" baseline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ost operative care</a:t>
            </a:r>
          </a:p>
          <a:p>
            <a:pPr marL="109728" indent="0">
              <a:buNone/>
            </a:pPr>
            <a:r>
              <a:rPr lang="en-US" sz="3400" b="0" i="0" u="none" strike="noStrike" baseline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b="0" i="0" u="none" strike="noStrike" baseline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Preoperative evaluation: H&amp;P</a:t>
            </a:r>
          </a:p>
          <a:p>
            <a:pPr>
              <a:buFont typeface="Wingdings" pitchFamily="2" charset="2"/>
              <a:buChar char="q"/>
            </a:pPr>
            <a:r>
              <a:rPr lang="en-US" sz="3400" b="0" i="0" u="none" strike="noStrike" baseline="0" dirty="0">
                <a:latin typeface="Times New Roman" pitchFamily="18" charset="0"/>
                <a:cs typeface="Times New Roman" pitchFamily="18" charset="0"/>
              </a:rPr>
              <a:t>Generally referred to us </a:t>
            </a:r>
            <a:r>
              <a:rPr lang="en-US" sz="3400" b="0" i="0" u="none" strike="noStrike" baseline="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Perioperative care:</a:t>
            </a:r>
            <a:endParaRPr lang="en-US" sz="3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794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400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Preoperative Evaluation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016000" y="1690690"/>
            <a:ext cx="10871200" cy="409694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Should be comprehensive in order to</a:t>
            </a:r>
          </a:p>
          <a:p>
            <a:pPr lvl="3" eaLnBrk="1" hangingPunct="1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operative risk</a:t>
            </a:r>
          </a:p>
          <a:p>
            <a:pPr lvl="3" eaLnBrk="1" hangingPunct="1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G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uide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preoperative preparation</a:t>
            </a:r>
          </a:p>
          <a:p>
            <a:pPr lvl="3" eaLnBrk="1" hangingPunct="1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Assess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the patients general health </a:t>
            </a:r>
          </a:p>
          <a:p>
            <a:pPr lvl="3" eaLnBrk="1" hangingPunct="1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Influence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future well-being of patient</a:t>
            </a:r>
          </a:p>
          <a:p>
            <a:pPr eaLnBrk="1" hangingPunct="1">
              <a:buFont typeface="Georgia" panose="02040502050405020303" pitchFamily="18" charset="0"/>
              <a:buNone/>
            </a:pP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FF983-37E3-4DDA-83E7-D6024323544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6/6/2024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Prepared by Anteneh W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2EC5-6448-474A-A14E-930E369B032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83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914" y="1119117"/>
            <a:ext cx="11969086" cy="4597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Gathering and recording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concisely all relevant information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Planning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minimise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risk and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maximise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benefit for the patient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Being prepared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for adverse events and how to deal with them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4 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Communicating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with the patient and all other members of the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team. 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41D8-76E0-4495-8E4E-3CAB33AED3C4}" type="datetime2">
              <a:rPr lang="en-US" smtClean="0"/>
              <a:t>Thursday, June 6,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70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296" y="0"/>
            <a:ext cx="109728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Routine preoperative preparation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18365" y="1052513"/>
            <a:ext cx="11832608" cy="5607594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Appropriate diagnosis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Decision on the type of procedure</a:t>
            </a:r>
          </a:p>
          <a:p>
            <a:pPr marL="0" indent="0" eaLnBrk="1" hangingPunct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Procedure should give better quality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life for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patient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Patient understanding of the intended procedure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cons with consent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Optimization of the patient for the planned surgery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Preparation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gadgets required for the successful surgery as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planned including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needed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professionals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dirty="0">
              <a:latin typeface="Arial Rounded MT Bold" pitchFamily="34" charset="0"/>
            </a:endParaRPr>
          </a:p>
          <a:p>
            <a:pPr eaLnBrk="1" hangingPunct="1"/>
            <a:endParaRPr lang="en-US" dirty="0"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18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1379200" cy="868362"/>
          </a:xfrm>
        </p:spPr>
        <p:txBody>
          <a:bodyPr>
            <a:normAutofit/>
          </a:bodyPr>
          <a:lstStyle/>
          <a:p>
            <a:pPr lvl="0"/>
            <a:r>
              <a:rPr lang="en-US" b="1" kern="0" dirty="0">
                <a:solidFill>
                  <a:srgbClr val="990000"/>
                </a:solidFill>
                <a:latin typeface="Times New Roman" pitchFamily="18" charset="0"/>
                <a:ea typeface="SimHei"/>
                <a:cs typeface="Times New Roman" pitchFamily="18" charset="0"/>
              </a:rPr>
              <a:t>Then the preoperative evaluation</a:t>
            </a:r>
            <a:endParaRPr lang="en-US" b="1" dirty="0">
              <a:solidFill>
                <a:srgbClr val="99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364" y="1037230"/>
            <a:ext cx="11364036" cy="5609230"/>
          </a:xfrm>
        </p:spPr>
        <p:txBody>
          <a:bodyPr>
            <a:normAutofit/>
          </a:bodyPr>
          <a:lstStyle/>
          <a:p>
            <a:pPr lvl="0" fontAlgn="base">
              <a:spcAft>
                <a:spcPct val="0"/>
              </a:spcAft>
              <a:buFontTx/>
              <a:buChar char="•"/>
            </a:pPr>
            <a:r>
              <a:rPr lang="en-US" sz="2800" kern="0" dirty="0">
                <a:solidFill>
                  <a:srgbClr val="000000"/>
                </a:solidFill>
                <a:latin typeface="Times New Roman" pitchFamily="18" charset="0"/>
                <a:ea typeface="SimHei"/>
                <a:cs typeface="Times New Roman" pitchFamily="18" charset="0"/>
              </a:rPr>
              <a:t>History &amp; examination. </a:t>
            </a:r>
          </a:p>
          <a:p>
            <a:pPr lvl="0" fontAlgn="base">
              <a:spcAft>
                <a:spcPct val="0"/>
              </a:spcAft>
              <a:buFontTx/>
              <a:buChar char="•"/>
            </a:pPr>
            <a:r>
              <a:rPr lang="en-US" sz="2800" kern="0" dirty="0">
                <a:solidFill>
                  <a:srgbClr val="000000"/>
                </a:solidFill>
                <a:latin typeface="Times New Roman" pitchFamily="18" charset="0"/>
                <a:ea typeface="SimHei"/>
                <a:cs typeface="Times New Roman" pitchFamily="18" charset="0"/>
              </a:rPr>
              <a:t>Assessment of risks for surgery and anesthesia</a:t>
            </a:r>
          </a:p>
          <a:p>
            <a:pPr lvl="0" fontAlgn="base">
              <a:spcAft>
                <a:spcPct val="0"/>
              </a:spcAft>
              <a:buFontTx/>
              <a:buChar char="•"/>
            </a:pPr>
            <a:r>
              <a:rPr lang="en-US" sz="2800" kern="0" dirty="0">
                <a:solidFill>
                  <a:srgbClr val="000000"/>
                </a:solidFill>
                <a:latin typeface="Times New Roman" pitchFamily="18" charset="0"/>
                <a:ea typeface="SimHei"/>
                <a:cs typeface="Times New Roman" pitchFamily="18" charset="0"/>
              </a:rPr>
              <a:t>Preoperative tests. </a:t>
            </a:r>
          </a:p>
          <a:p>
            <a:pPr lvl="0" fontAlgn="base">
              <a:spcAft>
                <a:spcPct val="0"/>
              </a:spcAft>
              <a:buFontTx/>
              <a:buChar char="•"/>
            </a:pPr>
            <a:r>
              <a:rPr lang="en-US" sz="2800" kern="0" dirty="0">
                <a:solidFill>
                  <a:srgbClr val="000000"/>
                </a:solidFill>
                <a:latin typeface="Times New Roman" pitchFamily="18" charset="0"/>
                <a:ea typeface="SimHei"/>
                <a:cs typeface="Times New Roman" pitchFamily="18" charset="0"/>
              </a:rPr>
              <a:t>Nutritional assessment</a:t>
            </a:r>
          </a:p>
          <a:p>
            <a:pPr lvl="0" fontAlgn="base">
              <a:spcAft>
                <a:spcPct val="0"/>
              </a:spcAft>
              <a:buFontTx/>
              <a:buChar char="•"/>
            </a:pPr>
            <a:r>
              <a:rPr lang="en-US" sz="2800" kern="0" dirty="0">
                <a:solidFill>
                  <a:srgbClr val="000000"/>
                </a:solidFill>
                <a:latin typeface="Times New Roman" pitchFamily="18" charset="0"/>
                <a:ea typeface="SimHei"/>
                <a:cs typeface="Times New Roman" pitchFamily="18" charset="0"/>
              </a:rPr>
              <a:t>Prophylaxis </a:t>
            </a:r>
          </a:p>
          <a:p>
            <a:pPr lvl="1" fontAlgn="base">
              <a:spcAft>
                <a:spcPct val="0"/>
              </a:spcAft>
              <a:buFont typeface="Wingdings" pitchFamily="2" charset="2"/>
              <a:buChar char="Ø"/>
            </a:pPr>
            <a:r>
              <a:rPr lang="en-US" sz="2400" kern="0" dirty="0" smtClean="0">
                <a:solidFill>
                  <a:srgbClr val="000000"/>
                </a:solidFill>
                <a:latin typeface="Times New Roman" pitchFamily="18" charset="0"/>
                <a:ea typeface="SimHei"/>
                <a:cs typeface="Times New Roman" pitchFamily="18" charset="0"/>
              </a:rPr>
              <a:t>Rational </a:t>
            </a:r>
            <a:r>
              <a:rPr lang="en-US" sz="2400" kern="0" dirty="0">
                <a:solidFill>
                  <a:srgbClr val="000000"/>
                </a:solidFill>
                <a:latin typeface="Times New Roman" pitchFamily="18" charset="0"/>
                <a:ea typeface="SimHei"/>
                <a:cs typeface="Times New Roman" pitchFamily="18" charset="0"/>
              </a:rPr>
              <a:t>use of antibiotics. </a:t>
            </a:r>
          </a:p>
          <a:p>
            <a:pPr lvl="1" fontAlgn="base">
              <a:spcAft>
                <a:spcPct val="0"/>
              </a:spcAft>
              <a:buFont typeface="Wingdings" pitchFamily="2" charset="2"/>
              <a:buChar char="Ø"/>
            </a:pPr>
            <a:r>
              <a:rPr lang="en-US" sz="2400" kern="0" dirty="0" smtClean="0">
                <a:solidFill>
                  <a:srgbClr val="000000"/>
                </a:solidFill>
                <a:latin typeface="Times New Roman" pitchFamily="18" charset="0"/>
                <a:ea typeface="SimHei"/>
                <a:cs typeface="Times New Roman" pitchFamily="18" charset="0"/>
              </a:rPr>
              <a:t>DVT </a:t>
            </a:r>
            <a:r>
              <a:rPr lang="en-US" sz="2400" kern="0" dirty="0">
                <a:solidFill>
                  <a:srgbClr val="000000"/>
                </a:solidFill>
                <a:latin typeface="Times New Roman" pitchFamily="18" charset="0"/>
                <a:ea typeface="SimHei"/>
                <a:cs typeface="Times New Roman" pitchFamily="18" charset="0"/>
              </a:rPr>
              <a:t>&amp; Pulmonary emboli risk </a:t>
            </a:r>
          </a:p>
          <a:p>
            <a:pPr lvl="0" fontAlgn="base">
              <a:spcAft>
                <a:spcPct val="0"/>
              </a:spcAft>
              <a:buFontTx/>
              <a:buChar char="•"/>
            </a:pPr>
            <a:r>
              <a:rPr lang="en-US" sz="2800" kern="0" dirty="0">
                <a:solidFill>
                  <a:srgbClr val="000000"/>
                </a:solidFill>
                <a:latin typeface="Times New Roman" pitchFamily="18" charset="0"/>
                <a:ea typeface="SimHei"/>
                <a:cs typeface="Times New Roman" pitchFamily="18" charset="0"/>
              </a:rPr>
              <a:t>Evaluation of anesthetic risks and difficulties </a:t>
            </a:r>
          </a:p>
          <a:p>
            <a:pPr lvl="0" fontAlgn="base">
              <a:spcAft>
                <a:spcPct val="0"/>
              </a:spcAft>
              <a:buFontTx/>
              <a:buChar char="•"/>
            </a:pPr>
            <a:r>
              <a:rPr lang="en-US" sz="2800" kern="0" dirty="0">
                <a:solidFill>
                  <a:srgbClr val="000000"/>
                </a:solidFill>
                <a:latin typeface="Times New Roman" pitchFamily="18" charset="0"/>
                <a:ea typeface="SimHei"/>
                <a:cs typeface="Times New Roman" pitchFamily="18" charset="0"/>
              </a:rPr>
              <a:t>Control of chronic illnesses and medication </a:t>
            </a:r>
          </a:p>
          <a:p>
            <a:pPr lvl="0" fontAlgn="base">
              <a:spcAft>
                <a:spcPct val="0"/>
              </a:spcAft>
              <a:buFontTx/>
              <a:buChar char="•"/>
            </a:pPr>
            <a:r>
              <a:rPr lang="en-US" sz="2800" kern="0" dirty="0">
                <a:solidFill>
                  <a:srgbClr val="000000"/>
                </a:solidFill>
                <a:latin typeface="Times New Roman" pitchFamily="18" charset="0"/>
                <a:ea typeface="SimHei"/>
                <a:cs typeface="Times New Roman" pitchFamily="18" charset="0"/>
              </a:rPr>
              <a:t>Check list performed preoperatively.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390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163774"/>
            <a:ext cx="9042400" cy="450376"/>
          </a:xfrm>
        </p:spPr>
        <p:txBody>
          <a:bodyPr>
            <a:noAutofit/>
          </a:bodyPr>
          <a:lstStyle/>
          <a:p>
            <a:pPr marL="857250" indent="-857250" fontAlgn="auto">
              <a:spcAft>
                <a:spcPts val="0"/>
              </a:spcAft>
              <a:buFont typeface="Calibri" pitchFamily="34" charset="0"/>
              <a:buNone/>
              <a:defRPr/>
            </a:pPr>
            <a:r>
              <a:rPr lang="en-US" sz="4400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Problem Identification</a:t>
            </a:r>
          </a:p>
        </p:txBody>
      </p:sp>
      <p:sp>
        <p:nvSpPr>
          <p:cNvPr id="12291" name="Rectangle 5"/>
          <p:cNvSpPr>
            <a:spLocks noGrp="1" noChangeArrowheads="1"/>
          </p:cNvSpPr>
          <p:nvPr>
            <p:ph idx="1"/>
          </p:nvPr>
        </p:nvSpPr>
        <p:spPr>
          <a:xfrm>
            <a:off x="203200" y="696036"/>
            <a:ext cx="11684000" cy="590300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Cardiovascular :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hypertension ; ischemia ,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valvular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or congenital heart disease; CHF or cardiomyopathy, , arrhythmias 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9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Respiratory :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smoking; COPD; restrictive lung disease; altered control of breathing (obstructive sleep apnea, CNS disorders, etc.)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9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Char char="•"/>
            </a:pP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Neuromuscular :  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raised  ICP ; TIA's or CVA's; seizures; spinal cord Injury; disorders of  NM junction </a:t>
            </a:r>
            <a:r>
              <a:rPr lang="en-US" sz="1700" dirty="0" err="1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sz="1700" dirty="0">
                <a:latin typeface="Times New Roman" pitchFamily="18" charset="0"/>
                <a:cs typeface="Times New Roman" pitchFamily="18" charset="0"/>
              </a:rPr>
              <a:t>  myasthenia gravis,  muscular dystrophies ,MH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Char char="•"/>
            </a:pP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Endocrlne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 :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DM; thyroid disease;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pheochromocytoma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 steroid therapy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Char char="•"/>
            </a:pP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GI - Hepatic :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hepatic disease;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gastresophageal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reflux, PHPN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Char char="•"/>
            </a:pP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Renal :</a:t>
            </a:r>
            <a:r>
              <a:rPr lang="en-US" sz="1400" b="1" i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renal failure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Char char="•"/>
            </a:pP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Hematologic : 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anemias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coagulopathies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Char char="•"/>
            </a:pP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Elderly , Children, Pregnancy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Char char="•"/>
            </a:pP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Medications and Allergies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Char char="•"/>
            </a:pP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Prior Anesthetics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8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Char char="•"/>
            </a:pP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Related to Surgery :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significant blood loss; respiratory compromise;   positioning </a:t>
            </a:r>
          </a:p>
          <a:p>
            <a:pPr>
              <a:lnSpc>
                <a:spcPct val="80000"/>
              </a:lnSpc>
            </a:pPr>
            <a:endParaRPr lang="en-US" sz="16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571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7421"/>
            <a:ext cx="10515600" cy="77792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History &amp; examination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603" y="859809"/>
            <a:ext cx="11067197" cy="5317154"/>
          </a:xfrm>
        </p:spPr>
        <p:txBody>
          <a:bodyPr/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A full history - including presenting complaints &amp; relevant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history</a:t>
            </a:r>
          </a:p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Past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medical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history 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Drug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history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Immunization history</a:t>
            </a:r>
          </a:p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Complete clinical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examination 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General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Examination</a:t>
            </a:r>
          </a:p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Relevant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systemic examination </a:t>
            </a: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Any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systemic examination related to past medical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illness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88A5-126D-45D0-B361-45E5A274141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08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52451" y="177421"/>
            <a:ext cx="10972800" cy="72333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Preoperative Laboratory Testing</a:t>
            </a:r>
            <a:endParaRPr lang="en-US" sz="3600" b="1" dirty="0">
              <a:solidFill>
                <a:srgbClr val="99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8688"/>
            <a:ext cx="12192000" cy="5167312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Young and fit patients with no comorbidity undergoing minor surgery - usually not  investigation. 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For major surgery, elderly patient or patient with significant medical problems, routine investigations are required. E.g. </a:t>
            </a: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Complete blood count; </a:t>
            </a: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Urine analysis</a:t>
            </a: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Chest X ray P/A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view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Random blood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sugar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Serum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Creatinine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Basic liver enzymes and function tests </a:t>
            </a:r>
          </a:p>
          <a:p>
            <a:pPr lvl="1"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ECG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Blood grouping and cross matching. 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Besides this, due to high prevalence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  <a:defRPr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HBsAg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&amp; HIV screening should be encouraged</a:t>
            </a:r>
          </a:p>
        </p:txBody>
      </p:sp>
    </p:spTree>
    <p:extLst>
      <p:ext uri="{BB962C8B-B14F-4D97-AF65-F5344CB8AC3E}">
        <p14:creationId xmlns:p14="http://schemas.microsoft.com/office/powerpoint/2010/main" val="2978021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0" y="457201"/>
            <a:ext cx="12192000" cy="72072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Prophylaxis against DVT &amp; Pulmonary emboli 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06400" y="1447801"/>
            <a:ext cx="11582400" cy="5805487"/>
          </a:xfrm>
        </p:spPr>
        <p:txBody>
          <a:bodyPr/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risk factors can be minimized preoperatively by: CAPRINI SCORE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Stratification of patients with risk factors</a:t>
            </a:r>
          </a:p>
          <a:p>
            <a:pPr marL="914400" lvl="1" indent="-457200">
              <a:buFontTx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Pre and post operative subcutaneous heparin administration. </a:t>
            </a:r>
          </a:p>
          <a:p>
            <a:pPr marL="914400" lvl="1" indent="-457200">
              <a:buFontTx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Graduated compression stockings. </a:t>
            </a:r>
          </a:p>
          <a:p>
            <a:pPr marL="914400" lvl="1" indent="-457200">
              <a:buFontTx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Intraoperative intermittent pneumatic calf compression. </a:t>
            </a:r>
          </a:p>
        </p:txBody>
      </p:sp>
    </p:spTree>
    <p:extLst>
      <p:ext uri="{BB962C8B-B14F-4D97-AF65-F5344CB8AC3E}">
        <p14:creationId xmlns:p14="http://schemas.microsoft.com/office/powerpoint/2010/main" val="139381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3100"/>
                            </p:stCondLst>
                            <p:childTnLst>
                              <p:par>
                                <p:cTn id="1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50"/>
                            </p:stCondLst>
                            <p:childTnLst>
                              <p:par>
                                <p:cTn id="17" presetID="45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39C20-E1D4-455D-89F5-047CF501963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6/6/2024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2EC5-6448-474A-A14E-930E369B032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1748" name="Titel 21"/>
          <p:cNvSpPr>
            <a:spLocks noGrp="1"/>
          </p:cNvSpPr>
          <p:nvPr>
            <p:ph type="title" idx="4294967295"/>
          </p:nvPr>
        </p:nvSpPr>
        <p:spPr bwMode="auto">
          <a:xfrm>
            <a:off x="1883392" y="326978"/>
            <a:ext cx="8494713" cy="4222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algn="l"/>
            <a:r>
              <a:rPr lang="en-US" b="1" dirty="0" smtClean="0">
                <a:solidFill>
                  <a:srgbClr val="A20000"/>
                </a:solidFill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Thromboembolism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4294967295"/>
          </p:nvPr>
        </p:nvSpPr>
        <p:spPr bwMode="auto">
          <a:xfrm>
            <a:off x="559559" y="981265"/>
            <a:ext cx="8704263" cy="51371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lvl="3"/>
            <a:endParaRPr lang="en-US" sz="28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8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isk 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factors</a:t>
            </a:r>
          </a:p>
          <a:p>
            <a:pPr lvl="3"/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Age &gt; 60 years</a:t>
            </a:r>
          </a:p>
          <a:p>
            <a:pPr lvl="3"/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Immobilization</a:t>
            </a:r>
          </a:p>
          <a:p>
            <a:pPr lvl="3"/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Trauma</a:t>
            </a:r>
          </a:p>
          <a:p>
            <a:pPr lvl="3"/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Heart failure</a:t>
            </a:r>
          </a:p>
          <a:p>
            <a:pPr lvl="3"/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Obesity </a:t>
            </a: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3"/>
            <a:r>
              <a:rPr lang="en-US" sz="2800" dirty="0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Pregnancy/</a:t>
            </a:r>
            <a:r>
              <a:rPr lang="en-US" sz="2800" dirty="0" err="1" smtClean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puerperium</a:t>
            </a: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3"/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Family/personal history of thrombosis</a:t>
            </a:r>
          </a:p>
          <a:p>
            <a:pPr lvl="3"/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OCP, smoking</a:t>
            </a:r>
          </a:p>
          <a:p>
            <a:pPr lvl="3"/>
            <a:endParaRPr lang="en-US" sz="14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788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</a:p>
        </p:txBody>
      </p:sp>
    </p:spTree>
    <p:extLst>
      <p:ext uri="{BB962C8B-B14F-4D97-AF65-F5344CB8AC3E}">
        <p14:creationId xmlns:p14="http://schemas.microsoft.com/office/powerpoint/2010/main" val="354289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758FE-8C05-4E41-AC2E-7A739311886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6/6/2024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Prepared by Anteneh W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2EC5-6448-474A-A14E-930E369B032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51678"/>
            <a:ext cx="10871200" cy="622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BE804-AA99-4DD4-9AE9-29365861A63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6/6/2024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2EC5-6448-474A-A14E-930E369B032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3200" y="473613"/>
            <a:ext cx="1193997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ü"/>
            </a:pPr>
            <a:r>
              <a:rPr lang="en-US" sz="4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Prophylaxis against thrombosis </a:t>
            </a:r>
          </a:p>
          <a:p>
            <a:pPr marL="571500" indent="-571500">
              <a:buFont typeface="Wingdings" pitchFamily="2" charset="2"/>
              <a:buChar char="ü"/>
            </a:pPr>
            <a:r>
              <a:rPr lang="en-US" sz="4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4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oderate-high </a:t>
            </a:r>
            <a:r>
              <a:rPr lang="en-US" sz="4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risk </a:t>
            </a:r>
            <a:r>
              <a:rPr lang="en-US" sz="4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groups</a:t>
            </a:r>
            <a:endParaRPr lang="en-US" sz="4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Individualization (for specific patient and surgery</a:t>
            </a:r>
            <a:r>
              <a:rPr lang="en-US" sz="4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4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Mechanical </a:t>
            </a:r>
            <a:endParaRPr lang="en-US" sz="4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Pharmacological &gt;&gt; </a:t>
            </a:r>
            <a:r>
              <a:rPr lang="en-US" sz="4000" dirty="0">
                <a:solidFill>
                  <a:srgbClr val="A20000"/>
                </a:solidFill>
                <a:latin typeface="Times New Roman" pitchFamily="18" charset="0"/>
                <a:cs typeface="Times New Roman" pitchFamily="18" charset="0"/>
              </a:rPr>
              <a:t>variable risk of bleeding</a:t>
            </a:r>
          </a:p>
        </p:txBody>
      </p:sp>
    </p:spTree>
    <p:extLst>
      <p:ext uri="{BB962C8B-B14F-4D97-AF65-F5344CB8AC3E}">
        <p14:creationId xmlns:p14="http://schemas.microsoft.com/office/powerpoint/2010/main" val="5559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Assessment of Anesthesia risk for Surgery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06400" y="1524001"/>
            <a:ext cx="11582400" cy="6262687"/>
          </a:xfrm>
        </p:spPr>
        <p:txBody>
          <a:bodyPr/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Internationally there are multiple prognostic scoring systems which are widely used regarding assessment of risk of surgery: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APACHE (Acute Physiology And Chronic Health Evaluation) system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ASA (American Society of Anesthesiologist) system. 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ECOG / KORNOVESKY</a:t>
            </a:r>
          </a:p>
        </p:txBody>
      </p:sp>
    </p:spTree>
    <p:extLst>
      <p:ext uri="{BB962C8B-B14F-4D97-AF65-F5344CB8AC3E}">
        <p14:creationId xmlns:p14="http://schemas.microsoft.com/office/powerpoint/2010/main" val="24782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4400" b="0" dirty="0" err="1">
                <a:latin typeface="Times New Roman" pitchFamily="18" charset="0"/>
                <a:cs typeface="Times New Roman" pitchFamily="18" charset="0"/>
              </a:rPr>
              <a:t>allampati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967" y="1405719"/>
            <a:ext cx="10848833" cy="5145206"/>
          </a:xfrm>
        </p:spPr>
        <p:txBody>
          <a:bodyPr/>
          <a:lstStyle/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3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Class I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visualize the soft palate, </a:t>
            </a:r>
            <a:r>
              <a:rPr lang="en-US" sz="2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fauces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uvula, anterior  	    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and posterior pillars</a:t>
            </a:r>
            <a:r>
              <a:rPr lang="en-US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3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Class II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= visualize the soft palate, </a:t>
            </a:r>
            <a:r>
              <a:rPr lang="en-US" sz="2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fauces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and uvula.</a:t>
            </a:r>
            <a:b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3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Class III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= visualize the soft palate and the base 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             of the uvula.</a:t>
            </a:r>
            <a:b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32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32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Class IV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= soft palate is not visible at all. 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18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endParaRPr lang="en-US" dirty="0"/>
          </a:p>
        </p:txBody>
      </p:sp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85250" y="1524000"/>
            <a:ext cx="1174751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72549" y="2895600"/>
            <a:ext cx="1187451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968317" y="4191000"/>
            <a:ext cx="1191684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911168" y="5486400"/>
            <a:ext cx="1248833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77028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972800" cy="114300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Assessment of risk of Surgery</a:t>
            </a:r>
          </a:p>
        </p:txBody>
      </p:sp>
      <p:sp>
        <p:nvSpPr>
          <p:cNvPr id="15363" name="Content Placeholder 4"/>
          <p:cNvSpPr>
            <a:spLocks noGrp="1"/>
          </p:cNvSpPr>
          <p:nvPr>
            <p:ph idx="1"/>
          </p:nvPr>
        </p:nvSpPr>
        <p:spPr>
          <a:xfrm>
            <a:off x="508000" y="838202"/>
            <a:ext cx="11582400" cy="5181599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APACHE System</a:t>
            </a:r>
          </a:p>
          <a:p>
            <a:pPr algn="ctr">
              <a:buFontTx/>
              <a:buNone/>
            </a:pPr>
            <a:endParaRPr lang="en-US" dirty="0">
              <a:latin typeface="Arial Rounded MT Bold" pitchFamily="34" charset="0"/>
            </a:endParaRPr>
          </a:p>
          <a:p>
            <a:pPr algn="ctr">
              <a:buFontTx/>
              <a:buNone/>
            </a:pPr>
            <a:endParaRPr lang="en-US" dirty="0">
              <a:latin typeface="Arial Rounded MT Bold" pitchFamily="34" charset="0"/>
            </a:endParaRPr>
          </a:p>
          <a:p>
            <a:pPr algn="ctr">
              <a:buFontTx/>
              <a:buNone/>
            </a:pPr>
            <a:endParaRPr lang="en-US" dirty="0">
              <a:latin typeface="Arial Rounded MT Bold" pitchFamily="34" charset="0"/>
            </a:endParaRPr>
          </a:p>
          <a:p>
            <a:pPr algn="ctr">
              <a:buFontTx/>
              <a:buNone/>
            </a:pPr>
            <a:endParaRPr lang="en-US" dirty="0">
              <a:latin typeface="Arial Rounded MT Bold" pitchFamily="34" charset="0"/>
            </a:endParaRPr>
          </a:p>
          <a:p>
            <a:pPr algn="ctr">
              <a:buFontTx/>
              <a:buNone/>
            </a:pPr>
            <a:endParaRPr lang="en-US" dirty="0">
              <a:latin typeface="Arial Rounded MT Bold" pitchFamily="34" charset="0"/>
            </a:endParaRPr>
          </a:p>
          <a:p>
            <a:pPr algn="ctr">
              <a:buFontTx/>
              <a:buNone/>
            </a:pPr>
            <a:endParaRPr lang="en-US" dirty="0">
              <a:latin typeface="Arial Rounded MT Bold" pitchFamily="34" charset="0"/>
            </a:endParaRPr>
          </a:p>
          <a:p>
            <a:pPr algn="ctr">
              <a:buFontTx/>
              <a:buNone/>
            </a:pPr>
            <a:endParaRPr lang="en-US" sz="2000" dirty="0">
              <a:latin typeface="Arial Rounded MT Bold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549433"/>
              </p:ext>
            </p:extLst>
          </p:nvPr>
        </p:nvGraphicFramePr>
        <p:xfrm>
          <a:off x="423080" y="1524000"/>
          <a:ext cx="11057720" cy="4740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8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5288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01734">
                <a:tc gridSpan="2">
                  <a:txBody>
                    <a:bodyPr/>
                    <a:lstStyle/>
                    <a:p>
                      <a:pPr marL="342900" indent="-342900" algn="ctr">
                        <a:buAutoNum type="alphaUcPeriod"/>
                      </a:pP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Acute Physiology Score (APS)</a:t>
                      </a:r>
                    </a:p>
                  </a:txBody>
                  <a:tcPr marL="121919" marR="121919"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1734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None/>
                      </a:pPr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1. Rectal temperature</a:t>
                      </a:r>
                      <a:r>
                        <a:rPr lang="en-US" sz="24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lang="en-US" sz="2400" b="1" baseline="300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lang="en-US" sz="2400" b="1" baseline="0" dirty="0">
                          <a:latin typeface="Times New Roman" pitchFamily="18" charset="0"/>
                          <a:cs typeface="Times New Roman" pitchFamily="18" charset="0"/>
                        </a:rPr>
                        <a:t>C)</a:t>
                      </a:r>
                      <a:endParaRPr lang="en-US" sz="2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None/>
                      </a:pPr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7. Serum Sodium</a:t>
                      </a:r>
                      <a:r>
                        <a:rPr lang="en-US" sz="24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(mmol/L) </a:t>
                      </a:r>
                      <a:endParaRPr lang="en-US" sz="2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19" marR="121919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1734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None/>
                      </a:pPr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2. Mean blood pressure </a:t>
                      </a: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8. Serum Potassium (mmol/L) 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1734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3. Heart rate </a:t>
                      </a: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9. Serum </a:t>
                      </a:r>
                      <a:r>
                        <a:rPr lang="en-US" sz="2400" b="1" dirty="0" err="1">
                          <a:latin typeface="Times New Roman" pitchFamily="18" charset="0"/>
                          <a:cs typeface="Times New Roman" pitchFamily="18" charset="0"/>
                        </a:rPr>
                        <a:t>creatinine</a:t>
                      </a:r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01734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4. Respiratory rate </a:t>
                      </a: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10. </a:t>
                      </a:r>
                      <a:r>
                        <a:rPr lang="en-US" sz="2400" b="1" dirty="0" err="1">
                          <a:latin typeface="Times New Roman" pitchFamily="18" charset="0"/>
                          <a:cs typeface="Times New Roman" pitchFamily="18" charset="0"/>
                        </a:rPr>
                        <a:t>Haematocrit</a:t>
                      </a:r>
                      <a:endParaRPr lang="en-US" sz="2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19" marR="121919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26446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5. Alveolar arterial</a:t>
                      </a:r>
                      <a:r>
                        <a:rPr lang="en-US" sz="24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O</a:t>
                      </a:r>
                      <a:r>
                        <a:rPr lang="en-US" sz="2400" b="1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24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gradient. </a:t>
                      </a:r>
                      <a:endParaRPr lang="en-US" sz="2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11. Total WBC 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01734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6. Arterial </a:t>
                      </a:r>
                      <a:r>
                        <a:rPr lang="en-US" sz="2400" b="1" baseline="-25000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H</a:t>
                      </a:r>
                    </a:p>
                  </a:txBody>
                  <a:tcPr marL="121919" marR="121919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12. GCS level </a:t>
                      </a:r>
                    </a:p>
                  </a:txBody>
                  <a:tcPr marL="121919" marR="121919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01734">
                <a:tc gridSpan="2"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B. Age points graded from &lt;44 to &gt;75 years  </a:t>
                      </a:r>
                    </a:p>
                  </a:txBody>
                  <a:tcPr marL="121919" marR="121919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01734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C. Chronic health points </a:t>
                      </a:r>
                    </a:p>
                  </a:txBody>
                  <a:tcPr marL="121919" marR="121919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9554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019097"/>
              </p:ext>
            </p:extLst>
          </p:nvPr>
        </p:nvGraphicFramePr>
        <p:xfrm>
          <a:off x="1" y="762000"/>
          <a:ext cx="12145819" cy="6096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99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02082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74999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77398">
                <a:tc>
                  <a:txBody>
                    <a:bodyPr/>
                    <a:lstStyle/>
                    <a:p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medical status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itchFamily="18" charset="0"/>
                          <a:cs typeface="Times New Roman" pitchFamily="18" charset="0"/>
                        </a:rPr>
                        <a:t>mortality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71181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ASA I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normal healthy patient without organic, biochemical, or psychiatric disease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0.06-0.08%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01687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ASA II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mild systemic disease  with no significant impact on daily activity  e.g. mild diabetes, controlled hypertension, obesity .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Unlikely to have an impact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0.27-0.4%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71181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ASA III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severe systemic disease that limits activity e.g. angina, COPD, prior myocardial infarction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Probable impact </a:t>
                      </a:r>
                    </a:p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 1.8-4.3% 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432193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ASA IV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an incapacitating disease that is a constant threat to life e.g.  CHF, unstable angina, renal failure ,acute MI, respiratory failure requiring mechanical ventilation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Major impact </a:t>
                      </a:r>
                    </a:p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 7.8-23%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71181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ASA V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moribund patient not expected to survive 24 hours e.g. ruptured aneurysm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9.4-51% 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771181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ASA VI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brain-dead patient whose organs are being harvested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08001" y="71735"/>
            <a:ext cx="11175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ASA Physical Status Classification System </a:t>
            </a:r>
          </a:p>
        </p:txBody>
      </p:sp>
    </p:spTree>
    <p:extLst>
      <p:ext uri="{BB962C8B-B14F-4D97-AF65-F5344CB8AC3E}">
        <p14:creationId xmlns:p14="http://schemas.microsoft.com/office/powerpoint/2010/main" val="129014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50125"/>
            <a:ext cx="10515600" cy="105087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Preoperative preparation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444294"/>
            <a:ext cx="5386917" cy="4499306"/>
          </a:xfrm>
        </p:spPr>
        <p:txBody>
          <a:bodyPr>
            <a:normAutofit lnSpcReduction="10000"/>
          </a:bodyPr>
          <a:lstStyle/>
          <a:p>
            <a:pPr marL="109728" indent="0">
              <a:buNone/>
            </a:pPr>
            <a:r>
              <a:rPr lang="en-US" sz="32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CHRONIC ILLNESSES</a:t>
            </a:r>
          </a:p>
          <a:p>
            <a:pPr marL="109728" indent="0">
              <a:buNone/>
            </a:pP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DM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HPT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ASTHMA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COAGULASBILITY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CARDIAC ILLNESS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CHRONIC LIVER / RENAL DISEASE </a:t>
            </a:r>
            <a:r>
              <a:rPr lang="en-US" dirty="0"/>
              <a:t>…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378423"/>
            <a:ext cx="5183188" cy="4811239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PREPARATION FOR THE SURGERY</a:t>
            </a:r>
          </a:p>
          <a:p>
            <a:pPr marL="109728" indent="0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BOWEL PREPARATIN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LAVAGE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PROPHYLAXIS ANTICOAGULANT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TUBES INSERTION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PROPHYLAXIS ANTIBIOTIC …</a:t>
            </a:r>
          </a:p>
        </p:txBody>
      </p:sp>
    </p:spTree>
    <p:extLst>
      <p:ext uri="{BB962C8B-B14F-4D97-AF65-F5344CB8AC3E}">
        <p14:creationId xmlns:p14="http://schemas.microsoft.com/office/powerpoint/2010/main" val="3027433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508000" y="0"/>
            <a:ext cx="10972800" cy="668740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Management for a Diabetic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Pt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068" y="532264"/>
            <a:ext cx="12000931" cy="619608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Diabetic pt are in a high risk for any surgery due to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ncrease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susceptibility to infection,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elayed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wound healing,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Vascular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complications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DVT,IHD,CVD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sz="2400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ASSESSMENT </a:t>
            </a:r>
            <a:r>
              <a:rPr lang="en-US" sz="2400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OF END ORGAN DAMAGE !!!!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Minor surgery - stop the oral dose in the operative morning &amp; replaced by short acting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insulin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Major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surgery-oral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dose should be omitted 1-2 days prior to surgery &amp; replaced by short acting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insulin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767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0" y="-17060"/>
            <a:ext cx="10972800" cy="85526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Management for a Diabetic </a:t>
            </a:r>
            <a:r>
              <a:rPr lang="en-US" sz="3600" dirty="0" err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Pt</a:t>
            </a:r>
            <a:endParaRPr lang="en-US" sz="3600" dirty="0">
              <a:solidFill>
                <a:srgbClr val="99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12192000" cy="5105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Hemoglbin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A1C gives a good assessment of the control for diabetes in the past 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months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Oral hypoglycemic agents can be re-Instituted as soon as the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on oral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diet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Hypoglycemia must be avoided &amp; if required consultation from an endocrinologist  should be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sought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Modified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or standard sliding scales can be used for preoperative control of diabetes in major surgery</a:t>
            </a:r>
          </a:p>
        </p:txBody>
      </p:sp>
    </p:spTree>
    <p:extLst>
      <p:ext uri="{BB962C8B-B14F-4D97-AF65-F5344CB8AC3E}">
        <p14:creationId xmlns:p14="http://schemas.microsoft.com/office/powerpoint/2010/main" val="642334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C:\Users\DELL\Desktop\Standard-Sliding-Scale-Insulin-Protocol-for-Patients-With-Diabetes-Mellitu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214" y="1843147"/>
            <a:ext cx="4775519" cy="2880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DELL\Desktop\perioperative-diabetes-mellitus-management-28-63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-954"/>
            <a:ext cx="12090400" cy="6807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DELL\Desktop\perioperative-diabetes-mellitus-management-35-63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4"/>
            <a:ext cx="12192000" cy="6865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1519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DELL\Desktop\perioperative-diabetes-mellitus-management-28-638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961" y="0"/>
            <a:ext cx="1220396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473" y="1882776"/>
            <a:ext cx="12192000" cy="497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5426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06400" y="0"/>
            <a:ext cx="10972800" cy="1143000"/>
          </a:xfrm>
        </p:spPr>
        <p:txBody>
          <a:bodyPr/>
          <a:lstStyle/>
          <a:p>
            <a:r>
              <a:rPr lang="en-US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Management of hypertension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3200" y="1066800"/>
            <a:ext cx="116840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Assessment of the end organ damages of the disease is of paramount importance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Then the degree of control of hypertension is very important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Chronically uncontrolled HPN will result in marked swings in BP intra-operatively and postoperatively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For patients with unacceptable BP on follow up needs to have control before surgery if surgery can be postponed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Common complication are </a:t>
            </a:r>
          </a:p>
          <a:p>
            <a:pPr marL="109728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MI</a:t>
            </a:r>
          </a:p>
          <a:p>
            <a:pPr marL="109728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Left ventricular Failure</a:t>
            </a:r>
          </a:p>
          <a:p>
            <a:pPr marL="109728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stroke and cerebral hemorrhage</a:t>
            </a:r>
          </a:p>
          <a:p>
            <a:pPr marL="109728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hypertensive encephalopathy and </a:t>
            </a:r>
          </a:p>
          <a:p>
            <a:pPr marL="109728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Renal failure </a:t>
            </a:r>
          </a:p>
        </p:txBody>
      </p:sp>
    </p:spTree>
    <p:extLst>
      <p:ext uri="{BB962C8B-B14F-4D97-AF65-F5344CB8AC3E}">
        <p14:creationId xmlns:p14="http://schemas.microsoft.com/office/powerpoint/2010/main" val="1174869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9307" y="218364"/>
            <a:ext cx="11832609" cy="6441743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Diastolic pressure measured pre operatively less than 110 has no significant POC</a:t>
            </a:r>
          </a:p>
          <a:p>
            <a:pPr marL="109728" indent="0">
              <a:buNone/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emergency conditions </a:t>
            </a:r>
            <a:endParaRPr lang="en-US" sz="3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909828" lvl="1" indent="-342900"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hypertension is newly diagnosed or uncontrolled –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909828" lvl="1" indent="-342900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Decision depends on whether the surgery can be postponed for few days or not if not  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Emergency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lowering agents can be used with relatively low increased risk of CV complications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Definition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hypotension in such patents should be carefully seen as a low normal BP can be severe hypotension 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518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01600" y="0"/>
            <a:ext cx="10972800" cy="114300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Assessment of Cardiovascular risk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602" y="1052513"/>
            <a:ext cx="11905397" cy="562124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Risk factors are: </a:t>
            </a: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Recent MI, </a:t>
            </a: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Clinical heart failure, </a:t>
            </a: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Systemic HTN, </a:t>
            </a:r>
          </a:p>
          <a:p>
            <a:pPr lvl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History of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arrythmia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risks are highest in the 1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3 months following infarct. 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Gradually decreases in the next 6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months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Elective surgery can be considered 6 months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later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Always consult with a cardiologist regarding these patients before surgery. 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ECG should be performed as a routine investigation for this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group,Echo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on indication</a:t>
            </a:r>
          </a:p>
        </p:txBody>
      </p:sp>
    </p:spTree>
    <p:extLst>
      <p:ext uri="{BB962C8B-B14F-4D97-AF65-F5344CB8AC3E}">
        <p14:creationId xmlns:p14="http://schemas.microsoft.com/office/powerpoint/2010/main" val="2312058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DELL\Desktop\GOLDMAN CRITERIA FOR SURGICLA CARDIAC RISK ASSESSMENT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1472"/>
            <a:ext cx="10464800" cy="441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1887" y="4727812"/>
            <a:ext cx="1209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Points given are 11-10-7-7-5-5-3-3-3 from 1 to 9 in order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Any patient with a total score of 13 or more is considered as a high risk patient with 11% rate of life threatening complication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the score is above 26 mortality from anesthesia and surgery is more than 50%</a:t>
            </a:r>
          </a:p>
        </p:txBody>
      </p:sp>
    </p:spTree>
    <p:extLst>
      <p:ext uri="{BB962C8B-B14F-4D97-AF65-F5344CB8AC3E}">
        <p14:creationId xmlns:p14="http://schemas.microsoft.com/office/powerpoint/2010/main" val="27440938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Assessment for Respiratory risk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6" y="1255593"/>
            <a:ext cx="11987284" cy="560240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most common respiratory condition to encounter preoperatively are COPD &amp; Asthma.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Certain parameters should be measured in these patients:</a:t>
            </a:r>
          </a:p>
          <a:p>
            <a:pPr>
              <a:buFontTx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- Vital Capacity</a:t>
            </a:r>
          </a:p>
          <a:p>
            <a:pPr>
              <a:buFontTx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- FEV1</a:t>
            </a:r>
          </a:p>
          <a:p>
            <a:pPr>
              <a:buFontTx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 - ABG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Epidural analgesia is the best one for this group both pre, intra &amp; post operative analgesia.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Incentive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spirometry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Guidance should be given preoperatively on breathing exercise.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Antibiotic should be given preoperatively to prevent postoperative chest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infection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Smoking secession at least for 8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weeks before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surgery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537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Assessment of renal risk</a:t>
            </a:r>
          </a:p>
        </p:txBody>
      </p:sp>
      <p:sp>
        <p:nvSpPr>
          <p:cNvPr id="19460" name="Content Placeholder 2"/>
          <p:cNvSpPr>
            <a:spLocks noGrp="1"/>
          </p:cNvSpPr>
          <p:nvPr>
            <p:ph idx="1"/>
          </p:nvPr>
        </p:nvSpPr>
        <p:spPr>
          <a:xfrm>
            <a:off x="177421" y="1052514"/>
            <a:ext cx="12014579" cy="580548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CKD is the most common renal risk that is encountered preoperatively in this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group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Blood Urea &amp; S.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Creatinine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should be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done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Moderate elevation of urea &amp;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Creatinine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can be considered in elderly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patient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Patient on dialysis should be dialyzed preoperatively to ensure good fluid balance &amp; to correct any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hyperkalemia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Clr>
                <a:srgbClr val="2DA2BF"/>
              </a:buClr>
            </a:pPr>
            <a:r>
              <a:rPr lang="en-US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Patient on renal transplants require to have their immunosuppressant </a:t>
            </a: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preoperatively</a:t>
            </a: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Clr>
                <a:srgbClr val="2DA2BF"/>
              </a:buClr>
            </a:pPr>
            <a:r>
              <a:rPr lang="en-US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Ensure adequate hydration to avoid precipitating renal failure in frail &amp; critically ill patient. </a:t>
            </a:r>
            <a:endParaRPr lang="en-US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150000"/>
              </a:lnSpc>
              <a:buClr>
                <a:srgbClr val="2DA2BF"/>
              </a:buClr>
            </a:pPr>
            <a:r>
              <a:rPr lang="en-US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Always </a:t>
            </a:r>
            <a:r>
              <a:rPr lang="en-US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consult with a nephrologist</a:t>
            </a:r>
          </a:p>
        </p:txBody>
      </p:sp>
    </p:spTree>
    <p:extLst>
      <p:ext uri="{BB962C8B-B14F-4D97-AF65-F5344CB8AC3E}">
        <p14:creationId xmlns:p14="http://schemas.microsoft.com/office/powerpoint/2010/main" val="2889609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810905" y="146762"/>
            <a:ext cx="10515600" cy="808582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Nutritional Assessment</a:t>
            </a:r>
          </a:p>
        </p:txBody>
      </p:sp>
      <p:sp>
        <p:nvSpPr>
          <p:cNvPr id="21508" name="Content Placeholder 2"/>
          <p:cNvSpPr>
            <a:spLocks noGrp="1"/>
          </p:cNvSpPr>
          <p:nvPr>
            <p:ph idx="1"/>
          </p:nvPr>
        </p:nvSpPr>
        <p:spPr>
          <a:xfrm>
            <a:off x="232012" y="900752"/>
            <a:ext cx="11959988" cy="595724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Malnutrition is a well established cause of morbidity &amp; mortality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surgery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Nutritional assessment can be based on: 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Total body weight loss.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Anthropomorphic measurement e.g. skin fold thickness, mid arm circumference etc.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Biochemical test e.g. Serum total protein, S. albumin, S. transferrin etc.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Nutritional support should be started at an early stage by high calorie diet or insertion of a feeding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enterostomy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or central venous feeding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862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304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Management of obesity</a:t>
            </a:r>
          </a:p>
        </p:txBody>
      </p:sp>
      <p:sp>
        <p:nvSpPr>
          <p:cNvPr id="22532" name="Content Placeholder 2"/>
          <p:cNvSpPr>
            <a:spLocks noGrp="1"/>
          </p:cNvSpPr>
          <p:nvPr>
            <p:ph idx="1"/>
          </p:nvPr>
        </p:nvSpPr>
        <p:spPr>
          <a:xfrm>
            <a:off x="259307" y="941696"/>
            <a:ext cx="11586950" cy="558193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One of the major cause of mortality (about 40%) in surgery from IHD &amp;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DVT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Fat free diet should be considered before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surgery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Prophylaxis against DVT should be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done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Counseling regarding possible postoperative complication must be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done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5479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itle 1"/>
          <p:cNvSpPr>
            <a:spLocks noGrp="1"/>
          </p:cNvSpPr>
          <p:nvPr>
            <p:ph type="title"/>
          </p:nvPr>
        </p:nvSpPr>
        <p:spPr>
          <a:xfrm>
            <a:off x="0" y="117476"/>
            <a:ext cx="12192000" cy="720725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Assessment of </a:t>
            </a:r>
            <a:r>
              <a:rPr lang="en-US" sz="3200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anemia </a:t>
            </a:r>
            <a:r>
              <a:rPr lang="en-US" sz="32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&amp; Blood disorder condition</a:t>
            </a:r>
          </a:p>
        </p:txBody>
      </p:sp>
      <p:sp>
        <p:nvSpPr>
          <p:cNvPr id="25604" name="Content Placeholder 2"/>
          <p:cNvSpPr>
            <a:spLocks noGrp="1"/>
          </p:cNvSpPr>
          <p:nvPr>
            <p:ph idx="1"/>
          </p:nvPr>
        </p:nvSpPr>
        <p:spPr>
          <a:xfrm>
            <a:off x="191068" y="1052514"/>
            <a:ext cx="12000931" cy="58054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Patient having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% &lt;10g/dl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should be transfused.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 very emergency surgery,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%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upto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8 g/dl can be considered providing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intraoperative blood transfusion available.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Any blood disorder should be consulted with a hematologist.</a:t>
            </a:r>
          </a:p>
        </p:txBody>
      </p:sp>
    </p:spTree>
    <p:extLst>
      <p:ext uri="{BB962C8B-B14F-4D97-AF65-F5344CB8AC3E}">
        <p14:creationId xmlns:p14="http://schemas.microsoft.com/office/powerpoint/2010/main" val="13690013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0" y="117476"/>
            <a:ext cx="12192000" cy="72072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Assessment of </a:t>
            </a:r>
            <a:r>
              <a:rPr lang="en-US" sz="3600" b="1" dirty="0" err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anaemia</a:t>
            </a:r>
            <a:r>
              <a:rPr lang="en-US" sz="36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&amp; Blood disorder condition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0" y="1052514"/>
            <a:ext cx="12192000" cy="58054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having warfarin should be stopped 48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hrs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preoperatively &amp; replaced by heparin.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Antiplatelet agents should be stopped 5-7 days prior to surgery.</a:t>
            </a:r>
          </a:p>
          <a:p>
            <a:pPr>
              <a:lnSpc>
                <a:spcPct val="150000"/>
              </a:lnSpc>
            </a:pP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having INR 1.5 or more should be treated with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Vit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 K. and / FFP</a:t>
            </a:r>
          </a:p>
        </p:txBody>
      </p:sp>
    </p:spTree>
    <p:extLst>
      <p:ext uri="{BB962C8B-B14F-4D97-AF65-F5344CB8AC3E}">
        <p14:creationId xmlns:p14="http://schemas.microsoft.com/office/powerpoint/2010/main" val="31054807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838200" y="122829"/>
            <a:ext cx="10515600" cy="72333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Prepare for Surgery in Special Groups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204716" y="1052514"/>
            <a:ext cx="11987284" cy="580548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Bowel surgery:</a:t>
            </a:r>
          </a:p>
          <a:p>
            <a:pPr>
              <a:buFontTx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Bowel preparation is considered prior to bowel surgery.</a:t>
            </a:r>
          </a:p>
          <a:p>
            <a:pPr>
              <a:buFontTx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For elective surgery, bowel preparation is most commonly achieved by </a:t>
            </a:r>
          </a:p>
          <a:p>
            <a:pPr>
              <a:buFontTx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placing the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on liquid diet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 days 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administering oral purgatives or enema on the day prior to surgery + ANTIBIOTICS </a:t>
            </a:r>
          </a:p>
          <a:p>
            <a:pPr>
              <a:buFontTx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Specially for small bowel surgery, proper hydration &amp; nutrition should be maintained.</a:t>
            </a:r>
          </a:p>
          <a:p>
            <a:pPr>
              <a:buFontTx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If there is evidence of obstruction, an NG tube should be inserted to prevent aspiration</a:t>
            </a:r>
            <a:r>
              <a:rPr lang="en-US" dirty="0">
                <a:latin typeface="Arial Rounded MT Bold" pitchFamily="34" charset="0"/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91682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accel="50000" de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30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0972800" cy="789296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Prepare for Surgery in Special Groups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0" y="846162"/>
            <a:ext cx="12192000" cy="601184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3200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Preparation for Jaundiced patient: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risk of surgery in a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with obstructive jaundice can be reduced significantly by careful preoperative management.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Preoperative drainage by a Biliary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endo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-prosthesis should be considered in elderly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pts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who are deeply jaundiced or all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with biliary tract sepsis.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sz="28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Vit</a:t>
            </a:r>
            <a:r>
              <a:rPr 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K should be given to all </a:t>
            </a:r>
            <a:r>
              <a:rPr lang="en-US" sz="28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pt</a:t>
            </a:r>
            <a:r>
              <a:rPr 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with obstructive jaundice prior to surgery at least for 4 days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 coagulation profile should be checked.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Adequate hydration should be done to prevent </a:t>
            </a:r>
            <a:r>
              <a:rPr lang="en-US" sz="28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hepato</a:t>
            </a:r>
            <a:r>
              <a:rPr 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-renal syndrome.</a:t>
            </a:r>
          </a:p>
          <a:p>
            <a:pPr lvl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Antibiotic prophylaxis should be given to combat high infective complications in a jaundiced </a:t>
            </a:r>
            <a:r>
              <a:rPr lang="en-US" sz="28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7464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838200" y="122830"/>
            <a:ext cx="10515600" cy="1037229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Prepare for Surgery in Special Groups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0" y="1052514"/>
            <a:ext cx="11887200" cy="58054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Endocrine </a:t>
            </a:r>
            <a:r>
              <a:rPr lang="en-US" sz="3200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Surgery:</a:t>
            </a:r>
          </a:p>
          <a:p>
            <a:pPr lvl="1"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Thyrotoxicosis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pts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a period of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antithyroid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drug &amp; beta blockers is given to prevent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thyrotoxic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crisis.</a:t>
            </a:r>
          </a:p>
          <a:p>
            <a:pPr lvl="1">
              <a:lnSpc>
                <a:spcPct val="150000"/>
              </a:lnSpc>
            </a:pP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Pheocromocytoma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may require admission a week before surgery to evaluate &amp; block the alpha &amp; beta adrenergic effects of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catecholamines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19779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824552" y="187704"/>
            <a:ext cx="10515600" cy="80858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Prepare for Surgery in Special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52514"/>
            <a:ext cx="12192000" cy="58054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200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Thoracic Surgery: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-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Assessment of respiratory function is the most important aspect of preoperative preparation.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- Active preoperative chest physiotherapy, 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- Treatment of any respiratory infections with antibiotics and good post operative analgesia minimize the risk of postoperative respiratory failure.</a:t>
            </a:r>
          </a:p>
          <a:p>
            <a:pPr>
              <a:lnSpc>
                <a:spcPct val="150000"/>
              </a:lnSpc>
              <a:buFontTx/>
              <a:buNone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- Subcutaneous heparin is routine to prevent pulmonary embolus.</a:t>
            </a:r>
          </a:p>
        </p:txBody>
      </p:sp>
    </p:spTree>
    <p:extLst>
      <p:ext uri="{BB962C8B-B14F-4D97-AF65-F5344CB8AC3E}">
        <p14:creationId xmlns:p14="http://schemas.microsoft.com/office/powerpoint/2010/main" val="41279733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baseline="0" dirty="0">
                <a:solidFill>
                  <a:srgbClr val="990000"/>
                </a:solidFill>
                <a:latin typeface="Times New Roman"/>
              </a:rPr>
              <a:t>Surgical Emergency </a:t>
            </a:r>
            <a:endParaRPr lang="en-US" dirty="0">
              <a:solidFill>
                <a:srgbClr val="99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967" y="1255594"/>
            <a:ext cx="10848833" cy="4921369"/>
          </a:xfrm>
        </p:spPr>
        <p:txBody>
          <a:bodyPr>
            <a:normAutofit/>
          </a:bodyPr>
          <a:lstStyle/>
          <a:p>
            <a:endParaRPr lang="en-US" sz="1600" b="0" i="0" u="none" strike="noStrike" baseline="0" dirty="0">
              <a:solidFill>
                <a:srgbClr val="000000"/>
              </a:solidFill>
              <a:latin typeface="Times New Roman"/>
            </a:endParaRPr>
          </a:p>
          <a:p>
            <a:endParaRPr lang="en-US" sz="1600" b="0" i="0" u="none" strike="noStrike" baseline="0" dirty="0">
              <a:latin typeface="Times New Roman"/>
            </a:endParaRPr>
          </a:p>
          <a:p>
            <a:pPr marL="0" marR="34000" indent="0">
              <a:buNone/>
            </a:pPr>
            <a:r>
              <a:rPr lang="en-US" sz="4000" b="0" i="0" u="none" strike="noStrike" baseline="0" dirty="0">
                <a:latin typeface="Times New Roman"/>
              </a:rPr>
              <a:t>AMPLE history -</a:t>
            </a:r>
          </a:p>
          <a:p>
            <a:pPr marR="34000"/>
            <a:r>
              <a:rPr lang="en-US" b="0" i="0" u="none" strike="noStrike" baseline="0" dirty="0">
                <a:latin typeface="Times New Roman"/>
              </a:rPr>
              <a:t>A - Allergies</a:t>
            </a:r>
          </a:p>
          <a:p>
            <a:pPr marR="34000"/>
            <a:r>
              <a:rPr lang="en-US" b="0" i="0" u="none" strike="noStrike" baseline="0" dirty="0">
                <a:latin typeface="Times New Roman"/>
              </a:rPr>
              <a:t>M - Medications</a:t>
            </a:r>
          </a:p>
          <a:p>
            <a:pPr marR="34000"/>
            <a:r>
              <a:rPr lang="en-US" b="0" i="0" u="none" strike="noStrike" baseline="0" dirty="0">
                <a:latin typeface="Times New Roman"/>
              </a:rPr>
              <a:t>P - Past medical history</a:t>
            </a:r>
          </a:p>
          <a:p>
            <a:pPr marR="34000"/>
            <a:r>
              <a:rPr lang="en-US" b="0" i="0" u="none" strike="noStrike" baseline="0" dirty="0">
                <a:latin typeface="Times New Roman"/>
              </a:rPr>
              <a:t>L - Last meal</a:t>
            </a:r>
          </a:p>
          <a:p>
            <a:pPr marR="34000"/>
            <a:r>
              <a:rPr lang="en-US" b="0" i="0" u="none" strike="noStrike" baseline="0" dirty="0">
                <a:latin typeface="Times New Roman"/>
              </a:rPr>
              <a:t>E - Events preceding the surgery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7450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27709"/>
            <a:ext cx="12192000" cy="11430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Basic Check list for preoperative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660" y="900752"/>
            <a:ext cx="11946340" cy="5957249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Fitness from pre anesthetic check up. 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Informed written consent from the patient/ patient party. 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Cleanliness and proper shaving of the operative area (if required) - Hair clipped, not shaved.  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Antibiotic 30-60 minutes prior to surgery, DC  24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after operation</a:t>
            </a:r>
          </a:p>
          <a:p>
            <a:pPr>
              <a:defRPr/>
            </a:pPr>
            <a:r>
              <a:rPr lang="nl-NL" dirty="0">
                <a:latin typeface="Times New Roman" pitchFamily="18" charset="0"/>
                <a:cs typeface="Times New Roman" pitchFamily="18" charset="0"/>
              </a:rPr>
              <a:t>Pre-op Note &amp; Pre-op Orders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Urinary catheter removed within 24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of surgery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prophylaxis VTE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Give beta-blockers if currently on this med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Arrange for blood transfusion (if required). </a:t>
            </a:r>
          </a:p>
          <a:p>
            <a:pPr>
              <a:defRPr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Anxiolytics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the previous night of operation. 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Hydration by I/V fluid (preferably crystalloid). 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Any specific preparation for a particular surgery. </a:t>
            </a:r>
          </a:p>
          <a:p>
            <a:pPr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Adjustment of medication related to co morbid conditions. </a:t>
            </a:r>
          </a:p>
        </p:txBody>
      </p:sp>
    </p:spTree>
    <p:extLst>
      <p:ext uri="{BB962C8B-B14F-4D97-AF65-F5344CB8AC3E}">
        <p14:creationId xmlns:p14="http://schemas.microsoft.com/office/powerpoint/2010/main" val="1315814922"/>
      </p:ext>
    </p:extLst>
  </p:cSld>
  <p:clrMapOvr>
    <a:masterClrMapping/>
  </p:clrMapOvr>
  <p:transition>
    <p:dissolv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000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Operative Permit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81000" y="1249680"/>
            <a:ext cx="10972800" cy="4927283"/>
          </a:xfrm>
        </p:spPr>
        <p:txBody>
          <a:bodyPr/>
          <a:lstStyle/>
          <a:p>
            <a:pPr eaLnBrk="1" hangingPunct="1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Must be signed by the patient or legal guardian</a:t>
            </a:r>
          </a:p>
          <a:p>
            <a:pPr eaLnBrk="1" hangingPunct="1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The nature, risk &amp; probable result of the operation must be included</a:t>
            </a:r>
          </a:p>
          <a:p>
            <a:pPr eaLnBrk="1" hangingPunct="1"/>
            <a:endParaRPr lang="en-US" dirty="0" smtClean="0"/>
          </a:p>
          <a:p>
            <a:pPr algn="ctr" eaLnBrk="1" hangingPunct="1">
              <a:buFont typeface="Georgia" panose="02040502050405020303" pitchFamily="18" charset="0"/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eaLnBrk="1" hangingPunct="1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A1F7F-5AA4-4141-964B-98F1190200C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6/6/2024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2EC5-6448-474A-A14E-930E369B032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41960" y="365125"/>
            <a:ext cx="1091184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Informing the Patient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04800" y="1463040"/>
            <a:ext cx="10160000" cy="4023360"/>
          </a:xfrm>
        </p:spPr>
        <p:txBody>
          <a:bodyPr>
            <a:noAutofit/>
          </a:bodyPr>
          <a:lstStyle/>
          <a:p>
            <a:pPr eaLnBrk="1" hangingPunct="1"/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Explanation of the surgery</a:t>
            </a:r>
          </a:p>
          <a:p>
            <a:pPr eaLnBrk="1" hangingPunct="1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Risks &amp; consequences  </a:t>
            </a:r>
          </a:p>
          <a:p>
            <a:pPr eaLnBrk="1" hangingPunct="1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Explain what will happen in OR before anesthesia</a:t>
            </a:r>
          </a:p>
          <a:p>
            <a:pPr eaLnBrk="1" hangingPunct="1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In the recovery room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 speech may be hindered,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                tube may be inserted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5B0A3-01F6-4730-BF68-56FD92CC2CC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6/6/2024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2EC5-6448-474A-A14E-930E369B032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10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382900" y="300037"/>
            <a:ext cx="10391780" cy="8715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pPr algn="l" eaLnBrk="1" hangingPunct="1"/>
            <a:r>
              <a:rPr lang="en-US" sz="4400" b="1" dirty="0">
                <a:solidFill>
                  <a:srgbClr val="A20000"/>
                </a:solidFill>
                <a:latin typeface="Times New Roman" pitchFamily="18" charset="0"/>
                <a:ea typeface="ＭＳ Ｐゴシック" charset="-128"/>
                <a:cs typeface="Times New Roman" pitchFamily="18" charset="0"/>
              </a:rPr>
              <a:t>Preparation immediately before surgery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053841" y="1600200"/>
            <a:ext cx="7931836" cy="4495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Confirm patient’s identity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Check for changes in condition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All investigation results available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Check for sepsis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Record neurovascular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Mark side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Shave surgical area  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may also be done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immediately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before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incision                         </a:t>
            </a:r>
          </a:p>
          <a:p>
            <a:pPr lvl="2"/>
            <a:endParaRPr lang="en-US" sz="45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BCB34-DC11-4249-9A0B-1E48B284FD8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6/6/2024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2EC5-6448-474A-A14E-930E369B0322}" type="slidenum">
              <a:rPr lang="en-US" smtClean="0"/>
              <a:t>42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99" y="1933575"/>
            <a:ext cx="3350901" cy="332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56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" y="121285"/>
            <a:ext cx="10881360" cy="109791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Bowel preparation</a:t>
            </a:r>
            <a:endParaRPr lang="en-US" sz="4000" b="1" dirty="0">
              <a:solidFill>
                <a:srgbClr val="99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" y="1005840"/>
            <a:ext cx="11871960" cy="5440680"/>
          </a:xfrm>
        </p:spPr>
        <p:txBody>
          <a:bodyPr>
            <a:no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Methods used for bowel preparation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1. Prepare the bowel using: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.mechanical method(cleansing enema)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.pharmacological method (castor oil or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polyglycol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solution)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2. Keep on fluid diet for 3 days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3. antibiotics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4. NPO for 6hr prior to surgery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.Contraindication for bowel preparation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. Complete bowel obstruction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. Perforation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F9212-B240-4187-BA67-A43E65D2D24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6/6/2024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2EC5-6448-474A-A14E-930E369B032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692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0" y="121920"/>
            <a:ext cx="10774680" cy="975359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NPO regimen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972184"/>
            <a:ext cx="11704320" cy="4758055"/>
          </a:xfrm>
        </p:spPr>
        <p:txBody>
          <a:bodyPr/>
          <a:lstStyle/>
          <a:p>
            <a:r>
              <a:rPr lang="en-GB" sz="3200" dirty="0">
                <a:latin typeface="Times New Roman" pitchFamily="18" charset="0"/>
                <a:cs typeface="Times New Roman" pitchFamily="18" charset="0"/>
              </a:rPr>
              <a:t>Reduction of volume and acidity of the stomach contents during </a:t>
            </a:r>
            <a:r>
              <a:rPr lang="en-GB" sz="3200" dirty="0" smtClean="0">
                <a:latin typeface="Times New Roman" pitchFamily="18" charset="0"/>
                <a:cs typeface="Times New Roman" pitchFamily="18" charset="0"/>
              </a:rPr>
              <a:t>surgery</a:t>
            </a:r>
          </a:p>
          <a:p>
            <a:r>
              <a:rPr lang="en-GB" sz="3200" dirty="0">
                <a:latin typeface="Times New Roman" pitchFamily="18" charset="0"/>
                <a:cs typeface="Times New Roman" pitchFamily="18" charset="0"/>
              </a:rPr>
              <a:t>Oral medication can be given with water even when a patient is ‘nil by mouth’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88A5-126D-45D0-B361-45E5A2741416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990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815" name="Group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441896"/>
              </p:ext>
            </p:extLst>
          </p:nvPr>
        </p:nvGraphicFramePr>
        <p:xfrm>
          <a:off x="812800" y="1419366"/>
          <a:ext cx="10871200" cy="4299044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384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950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INGESTED MATERIAL</a:t>
                      </a:r>
                    </a:p>
                  </a:txBody>
                  <a:tcPr marL="121920" marR="121920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MINIMUM FASTING PERIOD, APPLIED TO ALL AGES (hr)</a:t>
                      </a:r>
                    </a:p>
                  </a:txBody>
                  <a:tcPr marL="121920" marR="121920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696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Clear liquids</a:t>
                      </a: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696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Breast milk</a:t>
                      </a: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696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Infant formula</a:t>
                      </a: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696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Nonhuman milk</a:t>
                      </a: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696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Light meal (toast and clear liquids)</a:t>
                      </a:r>
                    </a:p>
                  </a:txBody>
                  <a:tcPr marL="121920" marR="12192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76001" y="6096001"/>
            <a:ext cx="711199" cy="503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sz="4400" dirty="0">
                <a:solidFill>
                  <a:srgbClr val="FFFF00"/>
                </a:solidFill>
                <a:latin typeface="Arial" charset="0"/>
                <a:cs typeface="Arial" charset="0"/>
              </a:rPr>
              <a:t/>
            </a:r>
            <a:br>
              <a:rPr lang="en-US" sz="4400" dirty="0">
                <a:solidFill>
                  <a:srgbClr val="FFFF00"/>
                </a:solidFill>
                <a:latin typeface="Arial" charset="0"/>
                <a:cs typeface="Arial" charset="0"/>
              </a:rPr>
            </a:br>
            <a:r>
              <a:rPr lang="en-US" sz="4400" b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Fasting Recommendations </a:t>
            </a:r>
            <a:r>
              <a:rPr lang="en-US" sz="4800" b="0" dirty="0">
                <a:solidFill>
                  <a:srgbClr val="FFFF00"/>
                </a:solidFill>
                <a:latin typeface="Arial" charset="0"/>
                <a:cs typeface="Arial" charset="0"/>
              </a:rPr>
              <a:t/>
            </a:r>
            <a:br>
              <a:rPr lang="en-US" sz="4800" b="0" dirty="0">
                <a:solidFill>
                  <a:srgbClr val="FFFF00"/>
                </a:solidFill>
                <a:latin typeface="Arial" charset="0"/>
                <a:cs typeface="Arial" charset="0"/>
              </a:rPr>
            </a:b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2193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447801"/>
            <a:ext cx="10972800" cy="4559491"/>
          </a:xfrm>
        </p:spPr>
        <p:txBody>
          <a:bodyPr>
            <a:normAutofit/>
          </a:bodyPr>
          <a:lstStyle/>
          <a:p>
            <a:pPr marL="109728" indent="0" algn="ctr">
              <a:buNone/>
            </a:pPr>
            <a:r>
              <a:rPr lang="en-US" sz="4400" b="1" i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There is no patient unfit for surgery rather the treating health professional / setup is unfit for the patient</a:t>
            </a:r>
          </a:p>
        </p:txBody>
      </p:sp>
    </p:spTree>
    <p:extLst>
      <p:ext uri="{BB962C8B-B14F-4D97-AF65-F5344CB8AC3E}">
        <p14:creationId xmlns:p14="http://schemas.microsoft.com/office/powerpoint/2010/main" val="13283434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:\Users\DELL\Desktop\download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1420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6914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 idx="4294967295"/>
          </p:nvPr>
        </p:nvSpPr>
        <p:spPr>
          <a:xfrm>
            <a:off x="274320" y="365125"/>
            <a:ext cx="11079480" cy="3612515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sz="5400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Clean and aseptic surgical technique</a:t>
            </a:r>
          </a:p>
        </p:txBody>
      </p:sp>
      <p:sp>
        <p:nvSpPr>
          <p:cNvPr id="2051" name="Content Placeholder 2"/>
          <p:cNvSpPr>
            <a:spLocks noGrp="1"/>
          </p:cNvSpPr>
          <p:nvPr>
            <p:ph idx="4294967295"/>
          </p:nvPr>
        </p:nvSpPr>
        <p:spPr>
          <a:xfrm>
            <a:off x="426720" y="3032760"/>
            <a:ext cx="11155680" cy="2267904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altLang="en-US" dirty="0" err="1" smtClean="0">
                <a:latin typeface="Times New Roman" pitchFamily="18" charset="0"/>
                <a:cs typeface="Times New Roman" pitchFamily="18" charset="0"/>
              </a:rPr>
              <a:t>Dr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dirty="0" err="1" smtClean="0">
                <a:latin typeface="Times New Roman" pitchFamily="18" charset="0"/>
                <a:cs typeface="Times New Roman" pitchFamily="18" charset="0"/>
              </a:rPr>
              <a:t>Inku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c-GSR3 </a:t>
            </a:r>
            <a:endParaRPr lang="en-US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8213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9349" y="274638"/>
            <a:ext cx="11617291" cy="77809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Infection Control in Surgical Practice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1371" y="980728"/>
            <a:ext cx="11760629" cy="5544616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Surgical procedures, by their very nature, interfere with the normal protective skin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barrier</a:t>
            </a:r>
          </a:p>
          <a:p>
            <a:pPr eaLnBrk="1" hangingPunct="1">
              <a:defRPr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xpose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the patient to microorganisms from both endogenous and exogenous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sources</a:t>
            </a: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Traditional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control measures include </a:t>
            </a:r>
            <a:endParaRPr lang="en-US" alt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defRPr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terilization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of surgical equipment, </a:t>
            </a: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defRPr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isinfection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of the skin, </a:t>
            </a: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defRPr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of prophylactic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antibiotics</a:t>
            </a:r>
          </a:p>
          <a:p>
            <a:pPr lvl="1">
              <a:defRPr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xpeditious operation</a:t>
            </a: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224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9350" y="188640"/>
            <a:ext cx="11713301" cy="936104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sz="3600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The Surgical Wound and Infection Control 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9349" y="1124744"/>
            <a:ext cx="11809312" cy="547260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Nosocomial infections are defined as </a:t>
            </a:r>
            <a:r>
              <a:rPr lang="en-US" altLang="en-US" sz="2800" b="1" dirty="0" smtClean="0">
                <a:latin typeface="Times New Roman" pitchFamily="18" charset="0"/>
                <a:cs typeface="Times New Roman" pitchFamily="18" charset="0"/>
              </a:rPr>
              <a:t>infections acquired in the hospital.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must be no evidence that the infection was present or incubating at the time of hospital admission.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Usually, an infection that manifests </a:t>
            </a:r>
            <a:r>
              <a:rPr lang="en-US" altLang="en-US" b="1" dirty="0" smtClean="0">
                <a:latin typeface="Times New Roman" pitchFamily="18" charset="0"/>
                <a:cs typeface="Times New Roman" pitchFamily="18" charset="0"/>
              </a:rPr>
              <a:t>48 to 72 hours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after admission is considered to be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nosocomial acquired </a:t>
            </a:r>
            <a:endParaRPr lang="en-US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5744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850106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Identification of Risk Factors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9350" y="908720"/>
            <a:ext cx="11713301" cy="568863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The risk of development of an SSI depends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on</a:t>
            </a:r>
          </a:p>
          <a:p>
            <a:pPr lvl="1"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ost factors</a:t>
            </a:r>
          </a:p>
          <a:p>
            <a:pPr lvl="1"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erioperative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wound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hygiene</a:t>
            </a:r>
          </a:p>
          <a:p>
            <a:pPr lvl="1"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uration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of the surgical procedure. </a:t>
            </a:r>
            <a:endParaRPr lang="en-US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ncluding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length of the hospital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stay</a:t>
            </a:r>
          </a:p>
          <a:p>
            <a:pPr lvl="1"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ppropriate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management of the hospital environment </a:t>
            </a:r>
          </a:p>
        </p:txBody>
      </p:sp>
    </p:spTree>
    <p:extLst>
      <p:ext uri="{BB962C8B-B14F-4D97-AF65-F5344CB8AC3E}">
        <p14:creationId xmlns:p14="http://schemas.microsoft.com/office/powerpoint/2010/main" val="6796757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77809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Operative Risk </a:t>
            </a:r>
            <a:r>
              <a:rPr lang="en-US" altLang="en-US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Factors</a:t>
            </a:r>
            <a:endParaRPr lang="en-US" altLang="en-US" dirty="0" smtClean="0">
              <a:latin typeface="Comic Sans MS" panose="030F0702030302020204" pitchFamily="66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9350" y="1052736"/>
            <a:ext cx="11713301" cy="5544616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Several factors related to the operative procedure may be associated with the risk of development of an SSI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  <a:defRPr/>
            </a:pP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include:-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Method of hair removal (and likelihood of consequent skin injury),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Inappropriate use of antimicrobial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prophylaxis </a:t>
            </a: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Duration of the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operation</a:t>
            </a: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Wound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4853058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Group 2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940382544"/>
              </p:ext>
            </p:extLst>
          </p:nvPr>
        </p:nvGraphicFramePr>
        <p:xfrm>
          <a:off x="203200" y="420688"/>
          <a:ext cx="11582400" cy="6192837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xmlns="" val="2306121691"/>
                    </a:ext>
                  </a:extLst>
                </a:gridCol>
                <a:gridCol w="8940800">
                  <a:extLst>
                    <a:ext uri="{9D8B030D-6E8A-4147-A177-3AD203B41FA5}">
                      <a16:colId xmlns:a16="http://schemas.microsoft.com/office/drawing/2014/main" xmlns="" val="2921273508"/>
                    </a:ext>
                  </a:extLst>
                </a:gridCol>
              </a:tblGrid>
              <a:tr h="11793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Clean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(class I) </a:t>
                      </a:r>
                    </a:p>
                  </a:txBody>
                  <a:tcPr marL="121920" marR="121920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Nontraumatic</a:t>
                      </a:r>
                      <a:b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 inflammation encountered</a:t>
                      </a:r>
                      <a:b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 break in technique</a:t>
                      </a:r>
                      <a:b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Respiratory, alimentary, or genitourinary tract not entered </a:t>
                      </a:r>
                    </a:p>
                  </a:txBody>
                  <a:tcPr marL="121920" marR="12192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87805"/>
                  </a:ext>
                </a:extLst>
              </a:tr>
              <a:tr h="204208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Clean-contaminated (class II) </a:t>
                      </a:r>
                    </a:p>
                  </a:txBody>
                  <a:tcPr marL="121920" marR="121920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Gastrointestinal or respiratory tract entered without significant spillage</a:t>
                      </a:r>
                      <a:b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Appendectomy</a:t>
                      </a:r>
                      <a:b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Oropharynx entered</a:t>
                      </a:r>
                      <a:b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Vagina entered</a:t>
                      </a:r>
                      <a:b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Genitourinary tract entered in absence of infected urine</a:t>
                      </a:r>
                      <a:b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Biliary tract entered in absence of infected bile</a:t>
                      </a:r>
                      <a:b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Minor break in technique </a:t>
                      </a:r>
                    </a:p>
                  </a:txBody>
                  <a:tcPr marL="121920" marR="12192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8664510"/>
                  </a:ext>
                </a:extLst>
              </a:tr>
              <a:tr h="141585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Contaminated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(class III) </a:t>
                      </a:r>
                    </a:p>
                  </a:txBody>
                  <a:tcPr marL="121920" marR="121920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Major break in technique</a:t>
                      </a:r>
                      <a:b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Gross spillage from gastrointestinal tract</a:t>
                      </a:r>
                      <a:b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Traumatic wound, fresh</a:t>
                      </a:r>
                      <a:b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Entrance of genitourinary or biliary tracts in presence of infected urine or bile</a:t>
                      </a:r>
                    </a:p>
                  </a:txBody>
                  <a:tcPr marL="121920" marR="12192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7281280"/>
                  </a:ext>
                </a:extLst>
              </a:tr>
              <a:tr h="15555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Dirty and infected (class IV </a:t>
                      </a:r>
                    </a:p>
                  </a:txBody>
                  <a:tcPr marL="121920" marR="121920"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Acute bacterial inflammation encountered, without pus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Transection of 'clean' tissue for the purpose of surgical access to a collection of pus</a:t>
                      </a:r>
                      <a:b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Traumatic wound with retained devitalized tissue, foreign bodies, fecal contamination, or delayed treatment, or all of these; or from dirty source</a:t>
                      </a:r>
                    </a:p>
                  </a:txBody>
                  <a:tcPr marL="121920" marR="121920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61138967"/>
                  </a:ext>
                </a:extLst>
              </a:tr>
            </a:tbl>
          </a:graphicData>
        </a:graphic>
      </p:graphicFrame>
      <p:sp>
        <p:nvSpPr>
          <p:cNvPr id="11283" name="Rectangle 19"/>
          <p:cNvSpPr>
            <a:spLocks noChangeArrowheads="1"/>
          </p:cNvSpPr>
          <p:nvPr/>
        </p:nvSpPr>
        <p:spPr bwMode="auto">
          <a:xfrm>
            <a:off x="9652000" y="5562600"/>
            <a:ext cx="1930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b="1">
                <a:solidFill>
                  <a:srgbClr val="CC0000"/>
                </a:solidFill>
              </a:rPr>
              <a:t>     28-40%</a:t>
            </a:r>
          </a:p>
        </p:txBody>
      </p:sp>
      <p:sp>
        <p:nvSpPr>
          <p:cNvPr id="11284" name="Rectangle 20"/>
          <p:cNvSpPr>
            <a:spLocks noChangeArrowheads="1"/>
          </p:cNvSpPr>
          <p:nvPr/>
        </p:nvSpPr>
        <p:spPr bwMode="auto">
          <a:xfrm>
            <a:off x="8534400" y="3886200"/>
            <a:ext cx="2438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b="1">
                <a:solidFill>
                  <a:srgbClr val="CC0000"/>
                </a:solidFill>
              </a:rPr>
              <a:t>15.2-16.3%</a:t>
            </a:r>
          </a:p>
        </p:txBody>
      </p:sp>
      <p:sp>
        <p:nvSpPr>
          <p:cNvPr id="11285" name="Rectangle 21"/>
          <p:cNvSpPr>
            <a:spLocks noChangeArrowheads="1"/>
          </p:cNvSpPr>
          <p:nvPr/>
        </p:nvSpPr>
        <p:spPr bwMode="auto">
          <a:xfrm>
            <a:off x="8128000" y="2209800"/>
            <a:ext cx="2133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b="1">
                <a:solidFill>
                  <a:srgbClr val="CC0000"/>
                </a:solidFill>
              </a:rPr>
              <a:t>7.7-10.8%</a:t>
            </a:r>
          </a:p>
        </p:txBody>
      </p:sp>
      <p:sp>
        <p:nvSpPr>
          <p:cNvPr id="11286" name="Rectangle 22"/>
          <p:cNvSpPr>
            <a:spLocks noChangeArrowheads="1"/>
          </p:cNvSpPr>
          <p:nvPr/>
        </p:nvSpPr>
        <p:spPr bwMode="auto">
          <a:xfrm>
            <a:off x="7924800" y="609600"/>
            <a:ext cx="2133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b="1">
                <a:solidFill>
                  <a:srgbClr val="CC0000"/>
                </a:solidFill>
              </a:rPr>
              <a:t>1.5-5.1%</a:t>
            </a:r>
          </a:p>
        </p:txBody>
      </p:sp>
    </p:spTree>
    <p:extLst>
      <p:ext uri="{BB962C8B-B14F-4D97-AF65-F5344CB8AC3E}">
        <p14:creationId xmlns:p14="http://schemas.microsoft.com/office/powerpoint/2010/main" val="24420028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5635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Preventive Measures 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9349" y="908720"/>
            <a:ext cx="11809312" cy="5832648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In any surgical practice, policies and procedures should be in place pertaining to the making of a surgical incision and the prevention of infection.</a:t>
            </a:r>
          </a:p>
          <a:p>
            <a:pPr marL="457200" indent="-457200">
              <a:lnSpc>
                <a:spcPct val="80000"/>
              </a:lnSpc>
              <a:buAutoNum type="arabicParenBoth"/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Skin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disinfection and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hand-washing</a:t>
            </a:r>
          </a:p>
          <a:p>
            <a:pPr marL="457200" indent="-457200">
              <a:lnSpc>
                <a:spcPct val="80000"/>
              </a:lnSpc>
              <a:buAutoNum type="arabicParenBoth"/>
              <a:defRPr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reoperative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preparation of the patient's skin </a:t>
            </a: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	(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e.g.,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hair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removal and use of antiseptics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(3)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use of prophylactic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antibiotics</a:t>
            </a: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(4)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Techniques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for preparation of the operative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site</a:t>
            </a: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(5)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Management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of the postoperative site if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drains, dressings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, or both are in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place</a:t>
            </a: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(6)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Standards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of behavior and practice for the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operating team 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e.g., the use of gown, mask, and gloves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(7)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Special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training of the operating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team</a:t>
            </a: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(8)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Sterilization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and disinfection of 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instruments</a:t>
            </a:r>
            <a:r>
              <a:rPr lang="en-US" altLang="en-US" sz="2000" dirty="0" smtClean="0">
                <a:latin typeface="Comic Sans MS" panose="030F0702030302020204" pitchFamily="66" charset="0"/>
              </a:rPr>
              <a:t> </a:t>
            </a:r>
            <a:endParaRPr lang="en-US" altLang="en-US" sz="2000" dirty="0" smtClean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2986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7159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Hand Hygiene 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9349" y="1066800"/>
            <a:ext cx="11809312" cy="56025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Hand washing is considered the single most important measure for preventing nosocomial infections, but compliance is frequently poor. </a:t>
            </a:r>
          </a:p>
          <a:p>
            <a:pPr>
              <a:lnSpc>
                <a:spcPct val="9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Role modeling is important in positively influencing this behavior.</a:t>
            </a:r>
          </a:p>
          <a:p>
            <a:pPr>
              <a:lnSpc>
                <a:spcPct val="9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Cleansers used for hand hygiene include:-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Plain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non antimicrobial soap</a:t>
            </a:r>
            <a:endParaRPr lang="en-US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Antimicrobial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soaps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Waterless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alcohol-based hand antiseptics(+/-Emollients) </a:t>
            </a:r>
          </a:p>
        </p:txBody>
      </p:sp>
    </p:spTree>
    <p:extLst>
      <p:ext uri="{BB962C8B-B14F-4D97-AF65-F5344CB8AC3E}">
        <p14:creationId xmlns:p14="http://schemas.microsoft.com/office/powerpoint/2010/main" val="9787261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304800"/>
            <a:ext cx="10972800" cy="629255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000" dirty="0" smtClean="0">
                <a:latin typeface="Comic Sans MS" panose="030F0702030302020204" pitchFamily="66" charset="0"/>
              </a:rPr>
              <a:t>     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Recommendations 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regarding surgical hand antisepsis included the following: </a:t>
            </a:r>
          </a:p>
          <a:p>
            <a:pPr>
              <a:lnSpc>
                <a:spcPct val="80000"/>
              </a:lnSpc>
              <a:defRPr/>
            </a:pPr>
            <a:endParaRPr lang="en-US" alt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Surgical hand antisepsis using either an antimicrobial soap or an alcohol-based hand rub with persistent activity is recommended before donning sterile gloves when performing surgical procedures.</a:t>
            </a:r>
          </a:p>
          <a:p>
            <a:pPr>
              <a:lnSpc>
                <a:spcPct val="80000"/>
              </a:lnSpc>
              <a:defRPr/>
            </a:pPr>
            <a:endParaRPr lang="en-US" alt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When performing surgical hand antisepsis using an antimicrobial soap, scrub hands and forearms for the length of time recommended by the manufacturer, usually 2 to 6 minutes. Long scrub times (e.g., 10 minutes) are not necessary.</a:t>
            </a:r>
          </a:p>
          <a:p>
            <a:pPr>
              <a:lnSpc>
                <a:spcPct val="80000"/>
              </a:lnSpc>
              <a:defRPr/>
            </a:pPr>
            <a:endParaRPr lang="en-US" alt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When using an alcohol-based surgical hand-scrub product with persistent activity, follow the manufacturer's instructions. </a:t>
            </a:r>
            <a:endParaRPr lang="en-US" alt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alt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Before 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applying the alcohol solution, prewash hands and forearms with a </a:t>
            </a:r>
            <a:r>
              <a:rPr lang="en-US" altLang="en-US" sz="2000" dirty="0" err="1" smtClean="0">
                <a:latin typeface="Times New Roman" pitchFamily="18" charset="0"/>
                <a:cs typeface="Times New Roman" pitchFamily="18" charset="0"/>
              </a:rPr>
              <a:t>nonantimicrobial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 soap, and dry hands and forearms completely. </a:t>
            </a:r>
            <a:endParaRPr lang="en-US" alt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After 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application of the alcohol-based product, allow hands and forearms to dry thoroughly before donning sterile gloves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5852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6397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Preparation of Skin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9350" y="990600"/>
            <a:ext cx="11713301" cy="5750768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The sole reason for preparing the patient's skin before an operation is to reduce the risk of wound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infection</a:t>
            </a:r>
          </a:p>
          <a:p>
            <a:pPr>
              <a:lnSpc>
                <a:spcPct val="80000"/>
              </a:lnSpc>
              <a:defRPr/>
            </a:pPr>
            <a:endParaRPr lang="en-US" alt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A preoperative antiseptic bath is not necessary for most surgical patients, but their personal hygiene must be assessed and preoperative cleanliness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established</a:t>
            </a:r>
          </a:p>
          <a:p>
            <a:pPr>
              <a:lnSpc>
                <a:spcPct val="80000"/>
              </a:lnSpc>
              <a:defRPr/>
            </a:pPr>
            <a:endParaRPr lang="en-US" alt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Multiple preoperative baths may prevent postoperative infection in selected patient groups, such as those who carry </a:t>
            </a:r>
            <a:r>
              <a:rPr lang="en-US" altLang="en-US" sz="2800" i="1" dirty="0" smtClean="0">
                <a:latin typeface="Times New Roman" pitchFamily="18" charset="0"/>
                <a:cs typeface="Times New Roman" pitchFamily="18" charset="0"/>
              </a:rPr>
              <a:t>Staphylococcus </a:t>
            </a:r>
            <a:r>
              <a:rPr lang="en-US" altLang="en-US" sz="2800" i="1" dirty="0" err="1" smtClean="0">
                <a:latin typeface="Times New Roman" pitchFamily="18" charset="0"/>
                <a:cs typeface="Times New Roman" pitchFamily="18" charset="0"/>
              </a:rPr>
              <a:t>aureus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 on their skin or who have infectious 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lesions.</a:t>
            </a:r>
          </a:p>
          <a:p>
            <a:pPr>
              <a:lnSpc>
                <a:spcPct val="80000"/>
              </a:lnSpc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sz="2800" dirty="0" err="1" smtClean="0">
                <a:latin typeface="Times New Roman" pitchFamily="18" charset="0"/>
                <a:cs typeface="Times New Roman" pitchFamily="18" charset="0"/>
              </a:rPr>
              <a:t>Chlorhexidine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 dirty="0" err="1" smtClean="0">
                <a:latin typeface="Times New Roman" pitchFamily="18" charset="0"/>
                <a:cs typeface="Times New Roman" pitchFamily="18" charset="0"/>
              </a:rPr>
              <a:t>gluconate</a:t>
            </a:r>
            <a:r>
              <a:rPr lang="en-US" altLang="en-US" sz="2800" dirty="0" smtClean="0">
                <a:latin typeface="Times New Roman" pitchFamily="18" charset="0"/>
                <a:cs typeface="Times New Roman" pitchFamily="18" charset="0"/>
              </a:rPr>
              <a:t> is the recommended agent for such baths.</a:t>
            </a:r>
          </a:p>
        </p:txBody>
      </p:sp>
    </p:spTree>
    <p:extLst>
      <p:ext uri="{BB962C8B-B14F-4D97-AF65-F5344CB8AC3E}">
        <p14:creationId xmlns:p14="http://schemas.microsoft.com/office/powerpoint/2010/main" val="13281661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9349" y="457200"/>
            <a:ext cx="11617291" cy="6140152"/>
          </a:xfrm>
        </p:spPr>
        <p:txBody>
          <a:bodyPr>
            <a:normAutofit fontScale="92500"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The necessary reduction in microorganisms can be achieved by using </a:t>
            </a:r>
            <a:r>
              <a:rPr lang="en-US" altLang="en-US" dirty="0" err="1" smtClean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povidone</a:t>
            </a:r>
            <a:r>
              <a:rPr lang="en-US" altLang="en-US" dirty="0" smtClean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-iodine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altLang="en-US" dirty="0" smtClean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dirty="0" err="1" smtClean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chlorhexidine</a:t>
            </a:r>
            <a:r>
              <a:rPr lang="en-US" altLang="en-US" dirty="0" smtClean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dirty="0" err="1" smtClean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gluconate</a:t>
            </a:r>
            <a:endParaRPr lang="en-US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en-US" dirty="0" err="1" smtClean="0">
                <a:latin typeface="Times New Roman" pitchFamily="18" charset="0"/>
                <a:cs typeface="Times New Roman" pitchFamily="18" charset="0"/>
              </a:rPr>
              <a:t>intertriginous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folds and the umbilicus often require mechanical scrubbing to generate sufficient friction to remove entrapped microorganisms.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i="1" dirty="0" smtClean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Iodine </a:t>
            </a:r>
            <a:r>
              <a:rPr lang="en-US" altLang="en-US" i="1" dirty="0" smtClean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burns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. Iodine in alcohol or in water is associated with an increased risk of skin </a:t>
            </a:r>
            <a:r>
              <a:rPr lang="en-US" altLang="en-US" dirty="0" err="1" smtClean="0">
                <a:latin typeface="Times New Roman" pitchFamily="18" charset="0"/>
                <a:cs typeface="Times New Roman" pitchFamily="18" charset="0"/>
              </a:rPr>
              <a:t>irritation,esp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. at the edges of the operative field, where the iodine concentrates as the alcohol evaporates. </a:t>
            </a:r>
            <a:endParaRPr lang="en-US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Iodine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should therefore be removed after sufficient contact time with the skin, especially at the edges .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dirty="0" err="1" smtClean="0">
                <a:latin typeface="Times New Roman" pitchFamily="18" charset="0"/>
                <a:cs typeface="Times New Roman" pitchFamily="18" charset="0"/>
              </a:rPr>
              <a:t>Iodophors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do not irritate the skin and thus need not be removed.</a:t>
            </a:r>
            <a:endParaRPr lang="en-US" alt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5614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9349" y="762000"/>
            <a:ext cx="11546251" cy="583535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en-US" sz="30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altLang="en-US" sz="3000" dirty="0" smtClean="0">
                <a:latin typeface="Times New Roman" pitchFamily="18" charset="0"/>
                <a:cs typeface="Times New Roman" pitchFamily="18" charset="0"/>
              </a:rPr>
              <a:t>is now clear that shaving the evening before an operation is associated with an increased wound infection rate. </a:t>
            </a:r>
            <a:endParaRPr lang="en-US" alt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sz="3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altLang="en-US" sz="3000" dirty="0" smtClean="0">
                <a:latin typeface="Times New Roman" pitchFamily="18" charset="0"/>
                <a:cs typeface="Times New Roman" pitchFamily="18" charset="0"/>
              </a:rPr>
              <a:t>increase is secondary to the trauma of the shave and the inevitable small areas of inflammation and infection.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3000" dirty="0" smtClean="0">
                <a:latin typeface="Times New Roman" pitchFamily="18" charset="0"/>
                <a:cs typeface="Times New Roman" pitchFamily="18" charset="0"/>
              </a:rPr>
              <a:t>Hair should not be removed from the operative site unless it physically interferes with accurate anatomic approximation of the wound edges.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3000" dirty="0" smtClean="0">
                <a:latin typeface="Times New Roman" pitchFamily="18" charset="0"/>
                <a:cs typeface="Times New Roman" pitchFamily="18" charset="0"/>
              </a:rPr>
              <a:t>If hair removal is required, clipping is preferable and should be done in the OR.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3000" dirty="0" smtClean="0">
                <a:latin typeface="Times New Roman" pitchFamily="18" charset="0"/>
                <a:cs typeface="Times New Roman" pitchFamily="18" charset="0"/>
              </a:rPr>
              <a:t>Shaving, if ever performed, should not be done the night before operation.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3000" dirty="0" smtClean="0">
                <a:latin typeface="Times New Roman" pitchFamily="18" charset="0"/>
                <a:cs typeface="Times New Roman" pitchFamily="18" charset="0"/>
              </a:rPr>
              <a:t> Depilatories are not recommended, because they cause serious irritation and rashes in a significant number of patients, especially when used near the eyes and the genitalia.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Blip>
                <a:blip r:embed="rId2"/>
              </a:buBlip>
              <a:defRPr/>
            </a:pPr>
            <a:endParaRPr lang="en-US" altLang="en-US" sz="2000" dirty="0" smtClean="0">
              <a:latin typeface="Comic Sans MS" panose="030F0702030302020204" pitchFamily="66" charset="0"/>
            </a:endParaRPr>
          </a:p>
        </p:txBody>
      </p:sp>
      <p:sp>
        <p:nvSpPr>
          <p:cNvPr id="15363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28601"/>
            <a:ext cx="10363200" cy="56356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sz="3200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Hair removal</a:t>
            </a:r>
          </a:p>
        </p:txBody>
      </p:sp>
    </p:spTree>
    <p:extLst>
      <p:ext uri="{BB962C8B-B14F-4D97-AF65-F5344CB8AC3E}">
        <p14:creationId xmlns:p14="http://schemas.microsoft.com/office/powerpoint/2010/main" val="58756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79216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Antibiotic Prophylaxis 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9349" y="1066800"/>
            <a:ext cx="11952651" cy="567456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  <a:defRPr/>
            </a:pPr>
            <a:r>
              <a:rPr lang="en-US" altLang="en-US" sz="2800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Selection</a:t>
            </a:r>
            <a:endParaRPr lang="en-US" altLang="en-US" sz="2800" i="1" dirty="0" smtClean="0">
              <a:solidFill>
                <a:srgbClr val="99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Spectrum.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The antibiotic chosen should be active against the most likely pathogens. Single-agent therapy is almost always effective except in colorectal operations, small-bowel procedures with stasis, emergency abdominal operations in the presence of </a:t>
            </a:r>
            <a:r>
              <a:rPr lang="en-US" altLang="en-US" dirty="0" err="1" smtClean="0">
                <a:latin typeface="Times New Roman" pitchFamily="18" charset="0"/>
                <a:cs typeface="Times New Roman" pitchFamily="18" charset="0"/>
              </a:rPr>
              <a:t>polymicrobial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flora, and penetrating trauma; in such cases, a combination antibiotics is usually used because anaerobic coverage is required.</a:t>
            </a:r>
            <a:endParaRPr lang="en-US" alt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Pharmacokinetics.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The half-life of the antibiotic selected must be long enough to maintain adequate tissue levels throughout the operation.</a:t>
            </a:r>
            <a:endParaRPr lang="en-US" alt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9549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3339" y="116632"/>
            <a:ext cx="11809312" cy="6552728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Administration</a:t>
            </a:r>
            <a:endParaRPr lang="en-US" altLang="en-US" i="1" dirty="0" smtClean="0">
              <a:solidFill>
                <a:srgbClr val="99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i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Dosage, route, and </a:t>
            </a:r>
            <a:r>
              <a:rPr lang="en-US" altLang="en-US" i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timing</a:t>
            </a:r>
            <a:r>
              <a:rPr lang="en-US" altLang="en-US" sz="2000" i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single preoperative dose that is of the same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	strength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as a full therapeutic dose is adequate in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	most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instances 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The single dose should be given I.V. immediately before skin incision. 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Administration by the anesthetist is most effective and efficient.</a:t>
            </a:r>
            <a:endParaRPr lang="en-US" alt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altLang="en-US" i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Duration.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second dose is warranted if the duration of the operation exceeds either 3 hours or twice the </a:t>
            </a:r>
            <a:r>
              <a:rPr lang="en-US" altLang="en-US" dirty="0" err="1" smtClean="0">
                <a:latin typeface="Times New Roman" pitchFamily="18" charset="0"/>
                <a:cs typeface="Times New Roman" pitchFamily="18" charset="0"/>
              </a:rPr>
              <a:t>halfe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-life of the antibiotic. </a:t>
            </a:r>
          </a:p>
          <a:p>
            <a:pPr lvl="1">
              <a:lnSpc>
                <a:spcPct val="8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When massive hemorrhage has occurred (i.e., blood loss equal to or greater than blood volume), a second dose is warranted. </a:t>
            </a:r>
            <a:endParaRPr lang="en-US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939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922114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b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Sterilization and Disinfection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9349" y="1124744"/>
            <a:ext cx="11809312" cy="5544616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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Spaulding proposed in 1972 that the level of disinfection and sterilization for surgical and other instruments be determined by classifying the instruments into three categories:-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Critical,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 err="1" smtClean="0">
                <a:latin typeface="Times New Roman" pitchFamily="18" charset="0"/>
                <a:cs typeface="Times New Roman" pitchFamily="18" charset="0"/>
              </a:rPr>
              <a:t>Semicritical</a:t>
            </a:r>
            <a:endParaRPr lang="en-US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Noncritical</a:t>
            </a: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altLang="en-US" dirty="0" err="1" smtClean="0">
                <a:latin typeface="Times New Roman" pitchFamily="18" charset="0"/>
                <a:cs typeface="Times New Roman" pitchFamily="18" charset="0"/>
              </a:rPr>
              <a:t>Acording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to the degree of infection risk involved in their use.</a:t>
            </a:r>
          </a:p>
        </p:txBody>
      </p:sp>
    </p:spTree>
    <p:extLst>
      <p:ext uri="{BB962C8B-B14F-4D97-AF65-F5344CB8AC3E}">
        <p14:creationId xmlns:p14="http://schemas.microsoft.com/office/powerpoint/2010/main" val="19884512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39350" y="476672"/>
            <a:ext cx="11713301" cy="6192688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altLang="en-US" b="1" i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</a:t>
            </a:r>
            <a:r>
              <a:rPr lang="en-US" altLang="en-US" b="1" i="1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Critical items</a:t>
            </a:r>
            <a:r>
              <a:rPr lang="en-US" altLang="en-US" dirty="0" smtClean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en-US" dirty="0" smtClean="0">
              <a:solidFill>
                <a:srgbClr val="99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57250" lvl="1" indent="-457200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nclude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objects or instruments that enter directly into the vascular system or sterile areas of the body. </a:t>
            </a:r>
          </a:p>
          <a:p>
            <a:pPr marL="857250" lvl="1" indent="-457200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These items should be sterilized by </a:t>
            </a:r>
            <a:endParaRPr lang="en-US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 indent="-342900">
              <a:lnSpc>
                <a:spcPct val="8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Steam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under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pressure</a:t>
            </a:r>
          </a:p>
          <a:p>
            <a:pPr lvl="2" indent="-342900">
              <a:lnSpc>
                <a:spcPct val="80000"/>
              </a:lnSpc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ry heat</a:t>
            </a:r>
          </a:p>
          <a:p>
            <a:pPr lvl="2" indent="-342900">
              <a:lnSpc>
                <a:spcPct val="80000"/>
              </a:lnSpc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thylene oxide</a:t>
            </a:r>
          </a:p>
          <a:p>
            <a:pPr lvl="2" indent="-342900">
              <a:lnSpc>
                <a:spcPct val="80000"/>
              </a:lnSpc>
              <a:defRPr/>
            </a:pP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Or other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approved methods. </a:t>
            </a:r>
          </a:p>
        </p:txBody>
      </p:sp>
    </p:spTree>
    <p:extLst>
      <p:ext uri="{BB962C8B-B14F-4D97-AF65-F5344CB8AC3E}">
        <p14:creationId xmlns:p14="http://schemas.microsoft.com/office/powerpoint/2010/main" val="16596527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346050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349" y="764704"/>
            <a:ext cx="11809312" cy="6093296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b="1" i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</a:t>
            </a:r>
            <a:r>
              <a:rPr lang="en-US" altLang="en-US" b="1" i="1" dirty="0" err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Semicritical</a:t>
            </a:r>
            <a:r>
              <a:rPr lang="en-US" altLang="en-US" b="1" i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items</a:t>
            </a:r>
            <a:r>
              <a:rPr lang="en-US" altLang="en-US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en-US" dirty="0" smtClean="0">
              <a:solidFill>
                <a:srgbClr val="99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re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those that come into contact with mucous membranes or skin that is not intact (e.g., bronchoscopes and </a:t>
            </a:r>
            <a:r>
              <a:rPr lang="en-US" altLang="en-US" dirty="0" err="1">
                <a:latin typeface="Times New Roman" pitchFamily="18" charset="0"/>
                <a:cs typeface="Times New Roman" pitchFamily="18" charset="0"/>
              </a:rPr>
              <a:t>gastroscopes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). . </a:t>
            </a:r>
          </a:p>
          <a:p>
            <a:pPr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altLang="en-US" dirty="0" err="1">
                <a:latin typeface="Times New Roman" pitchFamily="18" charset="0"/>
                <a:cs typeface="Times New Roman" pitchFamily="18" charset="0"/>
              </a:rPr>
              <a:t>Semicritical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 items generally require high-level disinfection that kills all microorganisms except bacterial spores.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5682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490066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349" y="908720"/>
            <a:ext cx="11521280" cy="576064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en-US" b="1" i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</a:t>
            </a:r>
            <a:r>
              <a:rPr lang="en-US" altLang="en-US" b="1" i="1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Noncritical items</a:t>
            </a:r>
            <a:r>
              <a:rPr lang="en-US" altLang="en-US" dirty="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en-US" dirty="0" smtClean="0">
              <a:solidFill>
                <a:srgbClr val="99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re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those that come in contact with intact skin (e.g., blood pressure cuffs). </a:t>
            </a:r>
          </a:p>
          <a:p>
            <a:pPr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They require only washing or scrubbing with a detergent and warm water or disinfection with an intermediate-level or low-level germicide for 10 minutes.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88529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Physical Methods of Microbial Control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eat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iltration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Radiation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  <p:pic>
        <p:nvPicPr>
          <p:cNvPr id="26628" name="Picture 4" descr="He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3724276"/>
            <a:ext cx="29591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5" descr="radia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800" y="2209800"/>
            <a:ext cx="3454400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6" descr="antibiotic Fig 1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234" y="2590800"/>
            <a:ext cx="354753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681155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Physical Methods of Microbial Control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10972800" cy="5225752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Heat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Kills microorganisms by denaturing their enzymes and other proteins. Heat resistance varies widely among microbes.</a:t>
            </a:r>
          </a:p>
          <a:p>
            <a:pPr lvl="1" eaLnBrk="1" hangingPunct="1">
              <a:defRPr/>
            </a:pPr>
            <a:r>
              <a:rPr lang="en-US" altLang="zh-TW" sz="24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ast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, reliable, inexpensive</a:t>
            </a:r>
          </a:p>
          <a:p>
            <a:pPr lvl="1" eaLnBrk="1" hangingPunct="1">
              <a:defRPr/>
            </a:pPr>
            <a:r>
              <a:rPr lang="en-US" altLang="zh-TW" sz="24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oes 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not introduce potential toxic substances</a:t>
            </a:r>
          </a:p>
          <a:p>
            <a:pPr lvl="1" eaLnBrk="1" hangingPunct="1">
              <a:buFontTx/>
              <a:buNone/>
              <a:defRPr/>
            </a:pPr>
            <a:endParaRPr lang="en-US" altLang="zh-TW" sz="2400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  <a:defRPr/>
            </a:pPr>
            <a:r>
              <a:rPr lang="en-US" altLang="zh-TW" sz="3200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</a:t>
            </a:r>
            <a:r>
              <a:rPr lang="en-US" altLang="zh-TW" sz="32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ypes </a:t>
            </a:r>
            <a:r>
              <a:rPr lang="en-US" altLang="zh-TW" sz="32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of heat control include</a:t>
            </a:r>
          </a:p>
          <a:p>
            <a:pPr lvl="2">
              <a:defRPr/>
            </a:pP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oist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heat</a:t>
            </a:r>
          </a:p>
          <a:p>
            <a:pPr lvl="2">
              <a:defRPr/>
            </a:pP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asteurization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2">
              <a:defRPr/>
            </a:pP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ry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heat</a:t>
            </a:r>
          </a:p>
          <a:p>
            <a:pPr lvl="1" eaLnBrk="1" hangingPunct="1">
              <a:buFontTx/>
              <a:buNone/>
              <a:defRPr/>
            </a:pPr>
            <a:endParaRPr lang="en-US" altLang="zh-TW" sz="2000" dirty="0" smtClean="0">
              <a:ea typeface="PMingLiU" pitchFamily="18" charset="-120"/>
            </a:endParaRPr>
          </a:p>
          <a:p>
            <a:pPr eaLnBrk="1" hangingPunct="1">
              <a:buFont typeface="Wingdings" panose="05000000000000000000" pitchFamily="2" charset="2"/>
              <a:buBlip>
                <a:blip r:embed="rId3"/>
              </a:buBlip>
              <a:defRPr/>
            </a:pPr>
            <a:endParaRPr lang="en-US" altLang="zh-TW" sz="2000" dirty="0" smtClean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586894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Physical Methods of Microbial Control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5360" y="1196752"/>
            <a:ext cx="11856640" cy="5400600"/>
          </a:xfrm>
        </p:spPr>
        <p:txBody>
          <a:bodyPr>
            <a:normAutofit/>
          </a:bodyPr>
          <a:lstStyle/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US" altLang="zh-TW" sz="28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Moist </a:t>
            </a:r>
            <a:r>
              <a:rPr lang="en-US" altLang="zh-TW" sz="28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Heat</a:t>
            </a:r>
            <a:r>
              <a:rPr lang="en-US" altLang="zh-TW" sz="2800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</a:t>
            </a:r>
            <a:r>
              <a:rPr lang="en-US" altLang="zh-TW" sz="28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Kills microorganisms by coagulating their proteins.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</a:t>
            </a:r>
          </a:p>
          <a:p>
            <a:pPr marL="914400" lvl="1" indent="-514350">
              <a:lnSpc>
                <a:spcPct val="110000"/>
              </a:lnSpc>
              <a:buFont typeface="+mj-lt"/>
              <a:buAutoNum type="alphaUcPeriod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Boiling:</a:t>
            </a:r>
            <a:r>
              <a:rPr lang="en-US" altLang="zh-TW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endParaRPr lang="en-US" altLang="zh-TW" dirty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2" indent="-342900">
              <a:lnSpc>
                <a:spcPct val="110000"/>
              </a:lnSpc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Heat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to 100</a:t>
            </a:r>
            <a:r>
              <a:rPr lang="en-US" altLang="zh-TW" baseline="30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 or more at sea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level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Kills vegetative forms of bacterial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pathogens</a:t>
            </a:r>
          </a:p>
          <a:p>
            <a:pPr lvl="2">
              <a:lnSpc>
                <a:spcPct val="110000"/>
              </a:lnSpc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Most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pathogens can be killed within 10 minutes or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less</a:t>
            </a:r>
          </a:p>
          <a:p>
            <a:pPr lvl="2">
              <a:lnSpc>
                <a:spcPct val="110000"/>
              </a:lnSpc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Endospores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and some viruses are not destroyed this quickly. </a:t>
            </a:r>
          </a:p>
          <a:p>
            <a:pPr lvl="2">
              <a:lnSpc>
                <a:spcPct val="110000"/>
              </a:lnSpc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In general, moist heat is much more effective than dry heat.</a:t>
            </a:r>
          </a:p>
        </p:txBody>
      </p:sp>
    </p:spTree>
    <p:extLst>
      <p:ext uri="{BB962C8B-B14F-4D97-AF65-F5344CB8AC3E}">
        <p14:creationId xmlns:p14="http://schemas.microsoft.com/office/powerpoint/2010/main" val="279690853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116632"/>
            <a:ext cx="10972800" cy="108012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Physical Methods of Microbial Control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24744"/>
            <a:ext cx="12192000" cy="5733256"/>
          </a:xfrm>
        </p:spPr>
        <p:txBody>
          <a:bodyPr>
            <a:normAutofit/>
          </a:bodyPr>
          <a:lstStyle/>
          <a:p>
            <a:pPr marL="514350" indent="-514350" eaLnBrk="1" hangingPunct="1">
              <a:lnSpc>
                <a:spcPct val="110000"/>
              </a:lnSpc>
              <a:buFont typeface="+mj-lt"/>
              <a:buAutoNum type="alphaUcPeriod" startAt="2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Autoclave</a:t>
            </a: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</a:t>
            </a:r>
            <a:r>
              <a:rPr lang="en-US" altLang="zh-TW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endParaRPr lang="en-US" altLang="zh-TW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Chamber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which is filled with hot steam under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pressure.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Preferred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method of sterilization, unless material is damaged by heat, moisture, or high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pressure.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Temperature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of steam reaches </a:t>
            </a: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121</a:t>
            </a:r>
            <a:r>
              <a:rPr lang="en-US" altLang="zh-TW" b="1" baseline="30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</a:t>
            </a: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at twice atmospheric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pressure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All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organisms and endospores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are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killed within 15 minutes.</a:t>
            </a:r>
          </a:p>
          <a:p>
            <a:pPr lvl="1" eaLnBrk="1" hangingPunct="1">
              <a:lnSpc>
                <a:spcPct val="110000"/>
              </a:lnSpc>
              <a:buFont typeface="Monotype Sorts" pitchFamily="2" charset="2"/>
              <a:buNone/>
              <a:defRPr/>
            </a:pPr>
            <a:endParaRPr lang="en-US" altLang="zh-TW" dirty="0" smtClean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947393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27381" y="116632"/>
            <a:ext cx="10972800" cy="864096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Physical Methods of Microbial Control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350" y="908720"/>
            <a:ext cx="11713301" cy="5760640"/>
          </a:xfrm>
        </p:spPr>
        <p:txBody>
          <a:bodyPr>
            <a:normAutofit/>
          </a:bodyPr>
          <a:lstStyle/>
          <a:p>
            <a:pPr marL="514350" indent="-514350" eaLnBrk="1" hangingPunct="1">
              <a:lnSpc>
                <a:spcPct val="110000"/>
              </a:lnSpc>
              <a:buFont typeface="+mj-lt"/>
              <a:buAutoNum type="alphaUcPeriod" startAt="3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Pasteurization</a:t>
            </a: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</a:t>
            </a:r>
            <a:r>
              <a:rPr lang="en-US" altLang="zh-TW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endParaRPr lang="en-US" altLang="zh-TW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Developed 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by Louis Pasteur to prevent the spoilage of beverages.  </a:t>
            </a:r>
            <a:endParaRPr lang="en-US" altLang="zh-TW" sz="2400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Used 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to reduce microbes responsible for spoilage of beer, milk, wine, juices, 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etc.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sz="2400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Classic </a:t>
            </a:r>
            <a:r>
              <a:rPr lang="en-US" altLang="zh-TW" sz="2400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Method of Pasteurization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Milk was exposed to 65</a:t>
            </a:r>
            <a:r>
              <a:rPr lang="en-US" altLang="zh-TW" sz="2400" baseline="30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 for 30 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minutes.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sz="2400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High </a:t>
            </a:r>
            <a:r>
              <a:rPr lang="en-US" altLang="zh-TW" sz="2400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Temperature Short Time Pasteurization (HTST):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Used today.  Milk is exposed to 72</a:t>
            </a:r>
            <a:r>
              <a:rPr lang="en-US" altLang="zh-TW" sz="2400" baseline="30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 for 15 seconds.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TW" dirty="0" smtClean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056391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0"/>
            <a:ext cx="10972800" cy="764704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Physical Methods of Microbial Control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3339" y="692696"/>
            <a:ext cx="11809312" cy="6048672"/>
          </a:xfrm>
        </p:spPr>
        <p:txBody>
          <a:bodyPr>
            <a:normAutofit fontScale="92500" lnSpcReduction="10000"/>
          </a:bodyPr>
          <a:lstStyle/>
          <a:p>
            <a:pPr marL="514350" indent="-514350" eaLnBrk="1" hangingPunct="1">
              <a:buFont typeface="+mj-lt"/>
              <a:buAutoNum type="arabicPeriod" startAt="2"/>
              <a:defRPr/>
            </a:pPr>
            <a:r>
              <a:rPr lang="en-US" altLang="zh-TW" sz="28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Dry Heat:</a:t>
            </a:r>
            <a:endParaRPr lang="en-US" altLang="zh-TW" sz="2800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marL="514350" indent="-514350" eaLnBrk="1" hangingPunct="1">
              <a:lnSpc>
                <a:spcPct val="110000"/>
              </a:lnSpc>
              <a:buFont typeface="+mj-lt"/>
              <a:buAutoNum type="alphaUcPeriod"/>
              <a:defRPr/>
            </a:pP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Direct Flaming: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Used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to sterilize inoculating loops and needles.  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Heat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metal until it has a red glow.</a:t>
            </a:r>
          </a:p>
          <a:p>
            <a:pPr marL="514350" indent="-514350" eaLnBrk="1" hangingPunct="1">
              <a:lnSpc>
                <a:spcPct val="110000"/>
              </a:lnSpc>
              <a:buFont typeface="+mj-lt"/>
              <a:buAutoNum type="alphaUcPeriod"/>
              <a:defRPr/>
            </a:pP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Incineration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Effective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way to sterilize disposable items (paper cups, dressings) and biological waste.</a:t>
            </a:r>
          </a:p>
          <a:p>
            <a:pPr marL="514350" indent="-514350" eaLnBrk="1" hangingPunct="1">
              <a:lnSpc>
                <a:spcPct val="110000"/>
              </a:lnSpc>
              <a:buFont typeface="+mj-lt"/>
              <a:buAutoNum type="alphaUcPeriod"/>
              <a:defRPr/>
            </a:pP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Hot Air Sterilization: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Place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objects in an oven.  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Require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2 hours at 170</a:t>
            </a:r>
            <a:r>
              <a:rPr lang="en-US" altLang="zh-TW" baseline="30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 for sterilization.  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Dry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heat is transfers heat less effectively to a cool body, than moist heat.</a:t>
            </a:r>
          </a:p>
          <a:p>
            <a:pPr eaLnBrk="1" hangingPunct="1">
              <a:buFont typeface="Wingdings" panose="05000000000000000000" pitchFamily="2" charset="2"/>
              <a:buBlip>
                <a:blip r:embed="rId3"/>
              </a:buBlip>
              <a:defRPr/>
            </a:pPr>
            <a:endParaRPr lang="en-US" altLang="zh-TW" dirty="0" smtClean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8119453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27381" y="116632"/>
            <a:ext cx="10972800" cy="77809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Physical Methods of Microbial Control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349" y="764704"/>
            <a:ext cx="11617291" cy="5904656"/>
          </a:xfrm>
        </p:spPr>
        <p:txBody>
          <a:bodyPr>
            <a:normAutofit/>
          </a:bodyPr>
          <a:lstStyle/>
          <a:p>
            <a:pPr marL="514350" indent="-514350" eaLnBrk="1" hangingPunct="1">
              <a:buFont typeface="+mj-lt"/>
              <a:buAutoNum type="arabicPeriod" startAt="3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Filtration: </a:t>
            </a:r>
            <a:endParaRPr lang="en-US" altLang="zh-TW" b="1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  <a:defRPr/>
            </a:pP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Removal 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of microbes by passage of a liquid or 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gas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through 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 screen like material with small pores. </a:t>
            </a:r>
            <a:endParaRPr lang="en-US" altLang="zh-TW" sz="2400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  <a:defRPr/>
            </a:pP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Used 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to sterilize heat sensitive materials 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like</a:t>
            </a:r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vaccines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, enzymes, antibiotics, and some culture media.</a:t>
            </a:r>
            <a:endParaRPr lang="en-US" altLang="zh-TW" sz="1400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marL="457200" indent="-457200" eaLnBrk="1" hangingPunct="1">
              <a:lnSpc>
                <a:spcPct val="110000"/>
              </a:lnSpc>
              <a:buFont typeface="+mj-lt"/>
              <a:buAutoNum type="alphaUcPeriod"/>
              <a:defRPr/>
            </a:pPr>
            <a:r>
              <a:rPr lang="en-US" altLang="zh-TW" sz="2400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Membrane Filters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Uniform pore size.  Used in industry and research.  Different sizes: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sz="2400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0.22 and 0.45um Pores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Used to filter most bacteria.  Don’t retain spirochetes, mycoplasmas and viruses.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sz="2400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0.01 um Pores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Retain all viruses and some large proteins.</a:t>
            </a:r>
          </a:p>
          <a:p>
            <a:pPr marL="457200" indent="-457200" eaLnBrk="1" hangingPunct="1">
              <a:lnSpc>
                <a:spcPct val="110000"/>
              </a:lnSpc>
              <a:buFont typeface="+mj-lt"/>
              <a:buAutoNum type="alphaUcPeriod"/>
              <a:defRPr/>
            </a:pPr>
            <a:r>
              <a:rPr lang="en-US" altLang="zh-TW" sz="2400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High Efficiency Particulate Air Filters (HEPA):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Used in operating rooms to remove bacteria from air.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TW" altLang="en-US" sz="2000" dirty="0" smtClean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296870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Physical Methods of Microbial Control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52736"/>
            <a:ext cx="11277600" cy="5652864"/>
          </a:xfrm>
        </p:spPr>
        <p:txBody>
          <a:bodyPr/>
          <a:lstStyle/>
          <a:p>
            <a:pPr marL="514350" indent="-514350" eaLnBrk="1" hangingPunct="1">
              <a:buFont typeface="+mj-lt"/>
              <a:buAutoNum type="arabicPeriod" startAt="4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Low Temperature: </a:t>
            </a:r>
            <a:endParaRPr lang="en-US" altLang="zh-TW" b="1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Effect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depends on microbe and treatment applied.</a:t>
            </a:r>
            <a:endParaRPr lang="en-US" altLang="zh-TW" sz="2000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sz="2400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Refrigeration: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endParaRPr lang="en-US" altLang="zh-TW" sz="2400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2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Temperatures </a:t>
            </a: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from 0 to </a:t>
            </a: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7</a:t>
            </a:r>
            <a:r>
              <a:rPr lang="en-US" altLang="zh-TW" sz="2000" baseline="30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</a:t>
            </a: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 has </a:t>
            </a:r>
            <a:r>
              <a:rPr lang="en-US" altLang="zh-TW" sz="2000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Bacteriostatic</a:t>
            </a: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sz="2000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effect</a:t>
            </a: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.  </a:t>
            </a:r>
            <a:endParaRPr lang="en-US" altLang="zh-TW" sz="2000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2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Reduces </a:t>
            </a: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metabolic rate of most microbes so they cannot reproduce or produce toxins.</a:t>
            </a:r>
          </a:p>
          <a:p>
            <a:pPr lvl="1"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altLang="zh-TW" sz="2400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Freezing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Temperatures below 0</a:t>
            </a:r>
            <a:r>
              <a:rPr lang="en-US" altLang="zh-TW" sz="2400" baseline="30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</a:t>
            </a:r>
            <a:r>
              <a:rPr lang="en-US" altLang="zh-TW" sz="24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C.  </a:t>
            </a:r>
          </a:p>
        </p:txBody>
      </p:sp>
    </p:spTree>
    <p:extLst>
      <p:ext uri="{BB962C8B-B14F-4D97-AF65-F5344CB8AC3E}">
        <p14:creationId xmlns:p14="http://schemas.microsoft.com/office/powerpoint/2010/main" val="387522028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527381" y="260648"/>
            <a:ext cx="10972800" cy="864096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Physical Methods of Microbial Control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3339" y="980728"/>
            <a:ext cx="11809312" cy="5760640"/>
          </a:xfrm>
        </p:spPr>
        <p:txBody>
          <a:bodyPr/>
          <a:lstStyle/>
          <a:p>
            <a:pPr marL="514350" indent="-514350" eaLnBrk="1" hangingPunct="1">
              <a:buFont typeface="+mj-lt"/>
              <a:buAutoNum type="arabicPeriod" startAt="5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Desiccation: </a:t>
            </a:r>
            <a:endParaRPr lang="en-US" altLang="zh-TW" b="1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In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the absence of water, microbes cannot grow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or reproduce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,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but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some may remain viable for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years.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After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water becomes available, they start growing again.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Susceptibility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to desiccation varies widely:</a:t>
            </a:r>
            <a:endParaRPr lang="en-US" altLang="zh-TW" sz="2000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zh-TW" sz="2000" b="1" i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Neisseria </a:t>
            </a:r>
            <a:r>
              <a:rPr lang="en-US" altLang="zh-TW" sz="2000" b="1" i="1" dirty="0" err="1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gonnorrhea</a:t>
            </a: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Only survives about one hour.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TW" sz="2000" b="1" i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Mycobacterium tuberculosis</a:t>
            </a: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May survive several months.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Viruses are fairly resistant to desiccation.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TW" sz="2000" b="1" i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Clostridium spp</a:t>
            </a: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. and </a:t>
            </a:r>
            <a:r>
              <a:rPr lang="en-US" altLang="zh-TW" sz="2000" b="1" i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Bacillus spp</a:t>
            </a: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.: May survive decades.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TW" dirty="0" smtClean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600938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116632"/>
            <a:ext cx="10972800" cy="936104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Physical Methods of Microbial Control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349" y="1124744"/>
            <a:ext cx="11952651" cy="6190456"/>
          </a:xfrm>
        </p:spPr>
        <p:txBody>
          <a:bodyPr/>
          <a:lstStyle/>
          <a:p>
            <a:pPr marL="514350" indent="-514350" eaLnBrk="1" hangingPunct="1">
              <a:buFont typeface="+mj-lt"/>
              <a:buAutoNum type="arabicPeriod" startAt="6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Osmotic Pressure: </a:t>
            </a:r>
            <a:endParaRPr lang="en-US" altLang="zh-TW" b="1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The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use of high concentrations of salts and sugars in foods is used to increase the osmotic pressure and create a hypertonic environment.</a:t>
            </a:r>
          </a:p>
          <a:p>
            <a:pPr marL="514350" indent="-514350" eaLnBrk="1" hangingPunct="1">
              <a:buFont typeface="+mj-lt"/>
              <a:buAutoNum type="arabicPeriod" startAt="7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Plasmolysis</a:t>
            </a:r>
            <a:r>
              <a:rPr lang="en-US" altLang="zh-TW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</a:t>
            </a:r>
            <a:endParaRPr lang="en-US" altLang="zh-TW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As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water leaves the cell, plasma membrane shrinks away from cell wall. </a:t>
            </a:r>
            <a:endParaRPr lang="en-US" altLang="zh-TW" sz="2000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en-US" altLang="zh-TW" sz="2000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Yeasts and molds:</a:t>
            </a: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More resistant to high osmotic pressures.</a:t>
            </a:r>
          </a:p>
          <a:p>
            <a:pPr lvl="1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en-US" altLang="zh-TW" sz="2000" b="1" i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Staphylococci spp.</a:t>
            </a:r>
            <a:r>
              <a:rPr lang="en-US" altLang="zh-TW" sz="2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that live on skin are fairly resistant to high osmotic pressure.</a:t>
            </a:r>
            <a:endParaRPr lang="en-US" altLang="zh-TW" sz="3600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58998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23392" y="116632"/>
            <a:ext cx="10972800" cy="98072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Physical Methods of Microbial Control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349" y="980728"/>
            <a:ext cx="11647851" cy="5688632"/>
          </a:xfrm>
        </p:spPr>
        <p:txBody>
          <a:bodyPr>
            <a:normAutofit/>
          </a:bodyPr>
          <a:lstStyle/>
          <a:p>
            <a:pPr marL="514350" indent="-514350" eaLnBrk="1" hangingPunct="1">
              <a:buFont typeface="+mj-lt"/>
              <a:buAutoNum type="arabicPeriod" startAt="8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Radiation: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Three types of radiation kill microbes:</a:t>
            </a:r>
          </a:p>
          <a:p>
            <a:pPr marL="914400" lvl="1" indent="-514350">
              <a:buFont typeface="+mj-lt"/>
              <a:buAutoNum type="alphaUcPeriod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Ionizing </a:t>
            </a: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Radiation: </a:t>
            </a:r>
            <a:endParaRPr lang="en-US" altLang="zh-TW" b="1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2"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Gamma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rays, X rays, electron beams, or higher energy rays.  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2"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Have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short wavelengths (less than 1 nanometer).  </a:t>
            </a:r>
          </a:p>
          <a:p>
            <a:pPr lvl="2"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Used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to sterilize pharmaceuticals, disposable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medical supplies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and food.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Disadvantages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Penetrates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human tissues. 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May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cause genetic mutations in humans.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TW" dirty="0" smtClean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566224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404664"/>
            <a:ext cx="11952651" cy="6264696"/>
          </a:xfrm>
        </p:spPr>
        <p:txBody>
          <a:bodyPr>
            <a:normAutofit/>
          </a:bodyPr>
          <a:lstStyle/>
          <a:p>
            <a:pPr marL="514350" indent="-514350" eaLnBrk="1" hangingPunct="1">
              <a:buFont typeface="+mj-lt"/>
              <a:buAutoNum type="alphaUcPeriod" startAt="2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Ultraviolet </a:t>
            </a: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light (Nonionizing Radiation):</a:t>
            </a:r>
            <a:r>
              <a:rPr lang="en-US" altLang="zh-TW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endParaRPr lang="en-US" altLang="zh-TW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Wavelength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is longer than 1 nanometer. 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Damages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DNA by producing thymine dimers, which cause mutations.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Used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to disinfect operating rooms, nurseries, cafeterias. 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Disadvantages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Damages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skin, eyes.  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Doesn’t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penetrate </a:t>
            </a:r>
            <a:r>
              <a:rPr lang="en-US" altLang="zh-TW" dirty="0" err="1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paper,glass,and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cloth.</a:t>
            </a:r>
          </a:p>
        </p:txBody>
      </p:sp>
    </p:spTree>
    <p:extLst>
      <p:ext uri="{BB962C8B-B14F-4D97-AF65-F5344CB8AC3E}">
        <p14:creationId xmlns:p14="http://schemas.microsoft.com/office/powerpoint/2010/main" val="1468705586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349" y="260648"/>
            <a:ext cx="11952651" cy="6480720"/>
          </a:xfrm>
        </p:spPr>
        <p:txBody>
          <a:bodyPr>
            <a:normAutofit/>
          </a:bodyPr>
          <a:lstStyle/>
          <a:p>
            <a:pPr marL="514350" indent="-514350" eaLnBrk="1" hangingPunct="1">
              <a:buFont typeface="+mj-lt"/>
              <a:buAutoNum type="alphaUcPeriod" startAt="3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3</a:t>
            </a: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.</a:t>
            </a:r>
            <a:r>
              <a:rPr lang="en-US" altLang="zh-TW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Microwave Radiation:</a:t>
            </a:r>
            <a:r>
              <a:rPr lang="en-US" altLang="zh-TW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 </a:t>
            </a:r>
            <a:endParaRPr lang="en-US" altLang="zh-TW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Wavelength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ranges from  1 millimeter to 1 meter. </a:t>
            </a:r>
          </a:p>
          <a:p>
            <a:pPr lvl="1"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Heat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is absorbed by water molecules. </a:t>
            </a:r>
          </a:p>
          <a:p>
            <a:pPr lvl="1"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May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kill vegetative cells in moist foods. </a:t>
            </a:r>
          </a:p>
          <a:p>
            <a:pPr lvl="1"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Bacterial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endospores, which do not contain water, are not damaged by microwave radiation. </a:t>
            </a:r>
          </a:p>
          <a:p>
            <a:pPr lvl="1"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Solid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foods are unevenly penetrated by microwaves.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dirty="0" smtClean="0">
                <a:ea typeface="PMingLiU" pitchFamily="18" charset="-12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91614717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9349" y="274638"/>
            <a:ext cx="11343051" cy="1143000"/>
          </a:xfrm>
        </p:spPr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Chemical Methods of Microbial Control</a:t>
            </a:r>
            <a:b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</a:b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Types of Disinfectants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3339" y="1340768"/>
            <a:ext cx="12048661" cy="5517232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8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1. Phenols and </a:t>
            </a:r>
            <a:r>
              <a:rPr lang="en-US" altLang="zh-TW" sz="2800" b="1" dirty="0" err="1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Phenolics</a:t>
            </a:r>
            <a:r>
              <a:rPr lang="en-US" altLang="zh-TW" sz="28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</a:t>
            </a:r>
            <a:endParaRPr lang="en-US" altLang="zh-TW" sz="2800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SzPct val="75000"/>
              <a:buFont typeface="Wingdings" pitchFamily="2" charset="2"/>
              <a:buChar char="Ø"/>
              <a:defRPr/>
            </a:pP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Phenol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(carbolic acid) 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90000"/>
              </a:lnSpc>
              <a:buSzPct val="75000"/>
              <a:buFont typeface="Wingdings" pitchFamily="2" charset="2"/>
              <a:buChar char="ü"/>
              <a:defRPr/>
            </a:pP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W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as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first used by Lister as a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disinfectant.</a:t>
            </a:r>
          </a:p>
          <a:p>
            <a:pPr lvl="1">
              <a:lnSpc>
                <a:spcPct val="90000"/>
              </a:lnSpc>
              <a:buSzPct val="75000"/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Rarely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used today because it is a skin irritant and has strong odor.</a:t>
            </a:r>
          </a:p>
          <a:p>
            <a:pPr eaLnBrk="1" hangingPunct="1">
              <a:lnSpc>
                <a:spcPct val="90000"/>
              </a:lnSpc>
              <a:buSzPct val="75000"/>
              <a:buFont typeface="Wingdings" pitchFamily="2" charset="2"/>
              <a:buChar char="Ø"/>
              <a:defRPr/>
            </a:pPr>
            <a:r>
              <a:rPr lang="en-US" altLang="zh-TW" b="1" dirty="0" err="1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Phenolics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are chemical derivatives of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phenol</a:t>
            </a:r>
          </a:p>
          <a:p>
            <a:pPr lvl="1">
              <a:lnSpc>
                <a:spcPct val="90000"/>
              </a:lnSpc>
              <a:buSzPct val="75000"/>
              <a:buFont typeface="Wingdings" pitchFamily="2" charset="2"/>
              <a:buChar char="v"/>
              <a:defRPr/>
            </a:pP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Cresols </a:t>
            </a: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(Lysol)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Derived from coal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tar.</a:t>
            </a:r>
          </a:p>
          <a:p>
            <a:pPr lvl="1">
              <a:lnSpc>
                <a:spcPct val="90000"/>
              </a:lnSpc>
              <a:buSzPct val="75000"/>
              <a:buFont typeface="Wingdings" pitchFamily="2" charset="2"/>
              <a:buChar char="v"/>
              <a:defRPr/>
            </a:pPr>
            <a:r>
              <a:rPr lang="en-US" altLang="zh-TW" b="1" dirty="0" err="1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Biphenols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</a:t>
            </a:r>
            <a:endParaRPr lang="en-US" altLang="zh-TW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2">
              <a:lnSpc>
                <a:spcPct val="90000"/>
              </a:lnSpc>
              <a:buSzPct val="75000"/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Effective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against gram-positive staphylococci and streptococci. </a:t>
            </a:r>
            <a:endParaRPr lang="en-US" altLang="zh-TW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2">
              <a:lnSpc>
                <a:spcPct val="90000"/>
              </a:lnSpc>
              <a:buSzPct val="75000"/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Excessive use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in infants may cause neurological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damage.</a:t>
            </a:r>
          </a:p>
          <a:p>
            <a:pPr lvl="2">
              <a:lnSpc>
                <a:spcPct val="90000"/>
              </a:lnSpc>
              <a:buSzPct val="75000"/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Destroy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plasma membranes and denature proteins.</a:t>
            </a:r>
          </a:p>
          <a:p>
            <a:pPr eaLnBrk="1" hangingPunct="1">
              <a:lnSpc>
                <a:spcPct val="90000"/>
              </a:lnSpc>
              <a:buSzPct val="75000"/>
              <a:buFont typeface="Wingdings" pitchFamily="2" charset="2"/>
              <a:buChar char="Ø"/>
              <a:defRPr/>
            </a:pP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Advantages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</a:t>
            </a:r>
            <a:endParaRPr lang="en-US" altLang="zh-TW" dirty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90000"/>
              </a:lnSpc>
              <a:buSzPct val="75000"/>
              <a:buFont typeface="Wingdings" pitchFamily="2" charset="2"/>
              <a:buChar char="ü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Stable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, persist for long times after applied, and remain active in the presence of organic compounds.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TW" dirty="0" smtClean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256466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52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35360" y="274638"/>
            <a:ext cx="11247040" cy="1143000"/>
          </a:xfrm>
        </p:spPr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Chemical Methods of Microbial Control</a:t>
            </a:r>
            <a:b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</a:b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Types of Disinfectants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3339" y="1268760"/>
            <a:ext cx="11905323" cy="5472608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30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2. Halogens: </a:t>
            </a:r>
            <a:r>
              <a:rPr lang="en-US" altLang="zh-TW" sz="28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Effective alone or in compounds.</a:t>
            </a:r>
          </a:p>
          <a:p>
            <a:pPr eaLnBrk="1" hangingPunct="1">
              <a:buSzPct val="75000"/>
              <a:buFont typeface="Monotype Sorts" pitchFamily="2" charset="2"/>
              <a:buNone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A.</a:t>
            </a:r>
            <a:r>
              <a:rPr lang="en-US" altLang="zh-TW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 </a:t>
            </a: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Iodine:</a:t>
            </a:r>
            <a:endParaRPr lang="en-US" altLang="zh-TW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eaLnBrk="1" hangingPunct="1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Iodine tincture (alcohol solution) was one of first antiseptics used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.</a:t>
            </a: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eaLnBrk="1" hangingPunct="1">
              <a:buSzPct val="75000"/>
              <a:buFont typeface="Monotype Sorts" pitchFamily="2" charset="2"/>
              <a:buNone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B. Chlorine:</a:t>
            </a:r>
            <a:endParaRPr lang="en-US" altLang="zh-TW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eaLnBrk="1" hangingPunct="1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When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mixed in water forms </a:t>
            </a:r>
            <a:r>
              <a:rPr lang="en-US" altLang="zh-TW" b="1" u="sng" dirty="0" err="1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hypochlorous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</a:t>
            </a:r>
            <a:r>
              <a:rPr lang="en-US" altLang="zh-TW" b="1" u="sng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acid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</a:t>
            </a:r>
          </a:p>
          <a:p>
            <a:pPr eaLnBrk="1" hangingPunct="1">
              <a:lnSpc>
                <a:spcPct val="110000"/>
              </a:lnSpc>
              <a:buSzPct val="75000"/>
              <a:buFont typeface="Monotype Sorts" pitchFamily="2" charset="2"/>
              <a:buNone/>
              <a:defRPr/>
            </a:pP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	Cl</a:t>
            </a:r>
            <a:r>
              <a:rPr lang="en-US" altLang="zh-TW" b="1" baseline="-25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2</a:t>
            </a: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  +   H</a:t>
            </a:r>
            <a:r>
              <a:rPr lang="en-US" altLang="zh-TW" b="1" baseline="-25000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2</a:t>
            </a: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 ------&gt;	H+    +   </a:t>
            </a:r>
            <a:r>
              <a:rPr lang="en-US" altLang="zh-TW" b="1" dirty="0" err="1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Cl</a:t>
            </a: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-	+   </a:t>
            </a:r>
            <a:r>
              <a:rPr lang="en-US" altLang="zh-TW" b="1" dirty="0" err="1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HOCl</a:t>
            </a:r>
            <a:endParaRPr lang="en-US" altLang="zh-TW" b="1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eaLnBrk="1" hangingPunct="1">
              <a:buSzPct val="75000"/>
              <a:buFont typeface="Monotype Sorts" pitchFamily="2" charset="2"/>
              <a:buNone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							</a:t>
            </a:r>
            <a:r>
              <a:rPr lang="en-US" altLang="zh-TW" sz="1800" dirty="0" err="1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Hypochlorous</a:t>
            </a:r>
            <a:r>
              <a:rPr lang="en-US" altLang="zh-TW" sz="1800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acid</a:t>
            </a:r>
          </a:p>
          <a:p>
            <a:pPr eaLnBrk="1" hangingPunct="1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Used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to disinfect drinking water, pools, and sewage.</a:t>
            </a:r>
          </a:p>
        </p:txBody>
      </p:sp>
    </p:spTree>
    <p:extLst>
      <p:ext uri="{BB962C8B-B14F-4D97-AF65-F5344CB8AC3E}">
        <p14:creationId xmlns:p14="http://schemas.microsoft.com/office/powerpoint/2010/main" val="262755939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048661" cy="1143000"/>
          </a:xfrm>
        </p:spPr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Chemical Methods of Microbial Control</a:t>
            </a:r>
            <a:b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</a:b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Types of Disinfectants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3339" y="1196752"/>
            <a:ext cx="12048661" cy="5661248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buNone/>
              <a:defRPr/>
            </a:pPr>
            <a:r>
              <a:rPr lang="en-US" altLang="zh-TW" sz="35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3. Alcohols: </a:t>
            </a:r>
            <a:endParaRPr lang="en-US" altLang="zh-TW" sz="3900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eaLnBrk="1" hangingPunct="1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Kill bacteria, fungi, but not endospores or naked viruses.</a:t>
            </a:r>
          </a:p>
          <a:p>
            <a:pPr eaLnBrk="1" hangingPunct="1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Act by denaturing proteins and disrupting cell membranes.</a:t>
            </a:r>
          </a:p>
          <a:p>
            <a:pPr eaLnBrk="1" hangingPunct="1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Used to mechanically wipe microbes off skin before     injections or blood drawing.</a:t>
            </a:r>
          </a:p>
          <a:p>
            <a:pPr eaLnBrk="1" hangingPunct="1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Not good for open wounds, because cause proteins to coagulate.</a:t>
            </a:r>
          </a:p>
          <a:p>
            <a:pPr lvl="1" eaLnBrk="1" hangingPunct="1">
              <a:lnSpc>
                <a:spcPct val="110000"/>
              </a:lnSpc>
              <a:buSzPct val="75000"/>
              <a:buFont typeface="Wingdings" pitchFamily="2" charset="2"/>
              <a:buChar char="Ø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Ethanol</a:t>
            </a:r>
            <a:r>
              <a:rPr lang="en-US" altLang="zh-TW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Drinking alcohol.  Optimum concentration is 70%.</a:t>
            </a:r>
          </a:p>
          <a:p>
            <a:pPr lvl="1" eaLnBrk="1" hangingPunct="1">
              <a:lnSpc>
                <a:spcPct val="110000"/>
              </a:lnSpc>
              <a:buSzPct val="75000"/>
              <a:buFont typeface="Wingdings" pitchFamily="2" charset="2"/>
              <a:buChar char="Ø"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Isopropanol</a:t>
            </a:r>
            <a:r>
              <a:rPr lang="en-US" altLang="zh-TW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  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Rubbing alcohol.  Better disinfectant than ethanol.  Also cheaper and less volatile.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TW" dirty="0" smtClean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8300917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839" y="0"/>
            <a:ext cx="11500181" cy="1143000"/>
          </a:xfrm>
        </p:spPr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Chemical Methods of Microbial Control</a:t>
            </a:r>
            <a:b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</a:b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Types of Disinfectants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5360" y="1052736"/>
            <a:ext cx="11856640" cy="5688632"/>
          </a:xfrm>
        </p:spPr>
        <p:txBody>
          <a:bodyPr>
            <a:normAutofit fontScale="92500"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8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4. Heavy Metals: </a:t>
            </a:r>
            <a:endParaRPr lang="en-US" altLang="zh-TW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eaLnBrk="1" hangingPunct="1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Include copper, selenium, mercury, silver, and zinc.</a:t>
            </a:r>
          </a:p>
          <a:p>
            <a:pPr eaLnBrk="1" hangingPunct="1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Very tiny amounts are effective.</a:t>
            </a:r>
          </a:p>
          <a:p>
            <a:pPr lvl="1">
              <a:buSzPct val="75000"/>
              <a:buFont typeface="Monotype Sorts" pitchFamily="2" charset="2"/>
              <a:buNone/>
              <a:defRPr/>
            </a:pP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A. Silver:</a:t>
            </a:r>
          </a:p>
          <a:p>
            <a:pPr lvl="1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1% silver nitrate used to protect infants against gonorrheal eye infections, now has been replaced by erythromycin.</a:t>
            </a:r>
          </a:p>
          <a:p>
            <a:pPr lvl="1">
              <a:buSzPct val="75000"/>
              <a:buFont typeface="Monotype Sorts" pitchFamily="2" charset="2"/>
              <a:buNone/>
              <a:defRPr/>
            </a:pP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B. Mercury</a:t>
            </a:r>
          </a:p>
          <a:p>
            <a:pPr lvl="1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Organic mercury compounds like </a:t>
            </a:r>
            <a:r>
              <a:rPr lang="en-US" altLang="zh-TW" dirty="0" err="1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merthiolate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and mercurochrome are used to disinfect skin wounds.</a:t>
            </a:r>
          </a:p>
          <a:p>
            <a:pPr lvl="1">
              <a:buSzPct val="75000"/>
              <a:buFont typeface="Monotype Sorts" pitchFamily="2" charset="2"/>
              <a:buNone/>
              <a:defRPr/>
            </a:pPr>
            <a:r>
              <a:rPr lang="en-US" altLang="zh-TW" b="1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C. Copper</a:t>
            </a:r>
          </a:p>
          <a:p>
            <a:pPr lvl="1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Copper sulfate is used to kill algae in pools and fish tanks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.</a:t>
            </a:r>
            <a:endParaRPr lang="en-US" altLang="zh-TW" dirty="0" smtClean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519745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796"/>
            <a:ext cx="11500181" cy="1143000"/>
          </a:xfrm>
        </p:spPr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Chemical Methods of Microbial Control</a:t>
            </a:r>
            <a:b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</a:b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Types of Disinfectants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80728"/>
            <a:ext cx="12192000" cy="587727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800" b="1" dirty="0">
                <a:solidFill>
                  <a:srgbClr val="990000"/>
                </a:solidFill>
                <a:ea typeface="PMingLiU" pitchFamily="18" charset="-120"/>
              </a:rPr>
              <a:t>5</a:t>
            </a:r>
            <a:r>
              <a:rPr lang="en-US" altLang="zh-TW" sz="28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. </a:t>
            </a:r>
            <a:r>
              <a:rPr lang="en-US" altLang="zh-TW" sz="28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Aldehydes: </a:t>
            </a:r>
            <a:endParaRPr lang="en-US" altLang="zh-TW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90000"/>
              </a:lnSpc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Include some of the most effective antimicrobials.</a:t>
            </a:r>
          </a:p>
          <a:p>
            <a:pPr lvl="1">
              <a:lnSpc>
                <a:spcPct val="90000"/>
              </a:lnSpc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Inactivate proteins by forming covalent crosslinks with several functional groups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.</a:t>
            </a:r>
            <a:endParaRPr lang="en-US" altLang="zh-TW" b="1" dirty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lnSpc>
                <a:spcPct val="90000"/>
              </a:lnSpc>
              <a:buSzPct val="75000"/>
              <a:buNone/>
              <a:defRPr/>
            </a:pPr>
            <a:r>
              <a:rPr lang="en-US" altLang="zh-TW" b="1" dirty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A. Formaldehyde:</a:t>
            </a:r>
          </a:p>
          <a:p>
            <a:pPr lvl="2">
              <a:lnSpc>
                <a:spcPct val="90000"/>
              </a:lnSpc>
              <a:buSzPct val="75000"/>
              <a:buFont typeface="Wingdings" pitchFamily="2" charset="2"/>
              <a:buChar char="Ø"/>
              <a:defRPr/>
            </a:pP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Excellent disinfectant, 2% aqueous solution.</a:t>
            </a:r>
          </a:p>
          <a:p>
            <a:pPr lvl="2">
              <a:lnSpc>
                <a:spcPct val="90000"/>
              </a:lnSpc>
              <a:buSzPct val="75000"/>
              <a:buFont typeface="Wingdings" pitchFamily="2" charset="2"/>
              <a:buChar char="Ø"/>
              <a:defRPr/>
            </a:pP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Commonly used as </a:t>
            </a:r>
            <a:r>
              <a:rPr lang="en-US" altLang="zh-TW" b="1" u="sng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formalin</a:t>
            </a: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, a 37% aqueous solution.</a:t>
            </a:r>
          </a:p>
          <a:p>
            <a:pPr lvl="2">
              <a:lnSpc>
                <a:spcPct val="90000"/>
              </a:lnSpc>
              <a:buSzPct val="75000"/>
              <a:buFont typeface="Wingdings" pitchFamily="2" charset="2"/>
              <a:buChar char="Ø"/>
              <a:defRPr/>
            </a:pP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Formalin was used extensively to preserve biological specimens and inactivate viruses and bacteria in vaccines.</a:t>
            </a:r>
          </a:p>
          <a:p>
            <a:pPr lvl="2">
              <a:lnSpc>
                <a:spcPct val="90000"/>
              </a:lnSpc>
              <a:buSzPct val="75000"/>
              <a:buFont typeface="Wingdings" pitchFamily="2" charset="2"/>
              <a:buChar char="Ø"/>
              <a:defRPr/>
            </a:pP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Irritates mucous membranes, strong odor</a:t>
            </a: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.</a:t>
            </a:r>
            <a:endParaRPr lang="en-US" altLang="zh-TW" b="1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buSzPct val="75000"/>
              <a:buNone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B</a:t>
            </a:r>
            <a:r>
              <a:rPr lang="en-US" altLang="zh-TW" b="1" dirty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. </a:t>
            </a:r>
            <a:r>
              <a:rPr lang="en-US" altLang="zh-TW" b="1" dirty="0" err="1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Glutaraldehyde</a:t>
            </a:r>
            <a:r>
              <a:rPr lang="en-US" altLang="zh-TW" b="1" dirty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:</a:t>
            </a:r>
          </a:p>
          <a:p>
            <a:pPr lvl="2">
              <a:buSzPct val="75000"/>
              <a:buFont typeface="Wingdings" pitchFamily="2" charset="2"/>
              <a:buChar char="Ø"/>
              <a:defRPr/>
            </a:pP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Less irritating and more effective than formaldehyde.</a:t>
            </a:r>
          </a:p>
          <a:p>
            <a:pPr lvl="2">
              <a:buSzPct val="75000"/>
              <a:buFont typeface="Wingdings" pitchFamily="2" charset="2"/>
              <a:buChar char="Ø"/>
              <a:defRPr/>
            </a:pPr>
            <a:r>
              <a:rPr lang="en-US" altLang="zh-TW" dirty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Commonly used to disinfect hospital instruments.</a:t>
            </a:r>
          </a:p>
          <a:p>
            <a:pPr marL="457200" lvl="1" indent="0">
              <a:lnSpc>
                <a:spcPct val="90000"/>
              </a:lnSpc>
              <a:buSzPct val="75000"/>
              <a:buNone/>
              <a:defRPr/>
            </a:pPr>
            <a:endParaRPr lang="en-US" altLang="zh-TW" dirty="0" smtClean="0"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TW" dirty="0" smtClean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1158509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95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000"/>
                            </p:stCondLst>
                            <p:childTnLst>
                              <p:par>
                                <p:cTn id="4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0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0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0"/>
                            </p:stCondLst>
                            <p:childTnLst>
                              <p:par>
                                <p:cTn id="5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0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0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3339" y="260648"/>
            <a:ext cx="12048661" cy="659735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6. </a:t>
            </a:r>
            <a:r>
              <a:rPr lang="en-US" altLang="zh-TW" sz="3600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Gaseous Sterilizers: </a:t>
            </a:r>
            <a:endParaRPr lang="en-US" altLang="zh-TW" sz="4000" b="1" dirty="0" smtClean="0">
              <a:solidFill>
                <a:srgbClr val="990000"/>
              </a:solidFill>
              <a:latin typeface="Times New Roman" pitchFamily="18" charset="0"/>
              <a:ea typeface="PMingLiU" pitchFamily="18" charset="-120"/>
              <a:cs typeface="Times New Roman" pitchFamily="18" charset="0"/>
            </a:endParaRPr>
          </a:p>
          <a:p>
            <a:pPr lvl="1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Chemicals that sterilize in a chamber similar to an autoclave.</a:t>
            </a:r>
          </a:p>
          <a:p>
            <a:pPr lvl="1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Denature proteins, by replacing functional groups with alkyl groups.</a:t>
            </a:r>
          </a:p>
          <a:p>
            <a:pPr lvl="1">
              <a:buSzPct val="75000"/>
              <a:buFont typeface="Monotype Sorts" pitchFamily="2" charset="2"/>
              <a:buNone/>
              <a:defRPr/>
            </a:pPr>
            <a:r>
              <a:rPr lang="en-US" altLang="zh-TW" b="1" dirty="0" smtClean="0">
                <a:solidFill>
                  <a:srgbClr val="990000"/>
                </a:solidFill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 Ethylene Oxide:</a:t>
            </a:r>
          </a:p>
          <a:p>
            <a:pPr lvl="2">
              <a:buSzPct val="75000"/>
              <a:buFont typeface="Wingdings" pitchFamily="2" charset="2"/>
              <a:buChar char="Ø"/>
              <a:defRPr/>
            </a:pPr>
            <a:r>
              <a:rPr lang="en-US" altLang="zh-TW" dirty="0" smtClean="0"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Kills all microbes and endospores, but requires exposure of 4 to 18 hours.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TW" dirty="0" smtClean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044435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188A5-126D-45D0-B361-45E5A2741416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9471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:\Users\DELL\Desktop\download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1420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586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8333</TotalTime>
  <Words>4712</Words>
  <Application>Microsoft Office PowerPoint</Application>
  <PresentationFormat>Custom</PresentationFormat>
  <Paragraphs>712</Paragraphs>
  <Slides>86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7" baseType="lpstr">
      <vt:lpstr>Office Theme</vt:lpstr>
      <vt:lpstr>AAU-CHS  Department of surgery   Pre OP preparation &amp;post OP complication</vt:lpstr>
      <vt:lpstr>OUTLINE</vt:lpstr>
      <vt:lpstr>Introduction</vt:lpstr>
      <vt:lpstr>Preoperative Evaluation</vt:lpstr>
      <vt:lpstr>PowerPoint Presentation</vt:lpstr>
      <vt:lpstr>Routine preoperative preparation </vt:lpstr>
      <vt:lpstr>Then the preoperative evaluation</vt:lpstr>
      <vt:lpstr> Problem Identification</vt:lpstr>
      <vt:lpstr>History &amp; examination </vt:lpstr>
      <vt:lpstr>Preoperative Laboratory Testing</vt:lpstr>
      <vt:lpstr>Prophylaxis against DVT &amp; Pulmonary emboli </vt:lpstr>
      <vt:lpstr>Thromboembolism</vt:lpstr>
      <vt:lpstr>PowerPoint Presentation</vt:lpstr>
      <vt:lpstr>PowerPoint Presentation</vt:lpstr>
      <vt:lpstr>Assessment of Anesthesia risk for Surgery</vt:lpstr>
      <vt:lpstr>Mallampati </vt:lpstr>
      <vt:lpstr>Assessment of risk of Surgery</vt:lpstr>
      <vt:lpstr>PowerPoint Presentation</vt:lpstr>
      <vt:lpstr>Preoperative preparation </vt:lpstr>
      <vt:lpstr>Management for a Diabetic Pt</vt:lpstr>
      <vt:lpstr>Management for a Diabetic Pt</vt:lpstr>
      <vt:lpstr>PowerPoint Presentation</vt:lpstr>
      <vt:lpstr>PowerPoint Presentation</vt:lpstr>
      <vt:lpstr>Management of hypertension</vt:lpstr>
      <vt:lpstr>PowerPoint Presentation</vt:lpstr>
      <vt:lpstr>Assessment of Cardiovascular risk </vt:lpstr>
      <vt:lpstr>PowerPoint Presentation</vt:lpstr>
      <vt:lpstr>Assessment for Respiratory risk </vt:lpstr>
      <vt:lpstr>Assessment of renal risk</vt:lpstr>
      <vt:lpstr>Nutritional Assessment</vt:lpstr>
      <vt:lpstr>Management of obesity</vt:lpstr>
      <vt:lpstr>Assessment of anemia &amp; Blood disorder condition</vt:lpstr>
      <vt:lpstr>Assessment of anaemia &amp; Blood disorder condition</vt:lpstr>
      <vt:lpstr>Prepare for Surgery in Special Groups</vt:lpstr>
      <vt:lpstr>Prepare for Surgery in Special Groups</vt:lpstr>
      <vt:lpstr>Prepare for Surgery in Special Groups</vt:lpstr>
      <vt:lpstr>Prepare for Surgery in Special Groups</vt:lpstr>
      <vt:lpstr>Surgical Emergency </vt:lpstr>
      <vt:lpstr>Basic Check list for preoperative order</vt:lpstr>
      <vt:lpstr>Operative Permit</vt:lpstr>
      <vt:lpstr>Informing the Patient</vt:lpstr>
      <vt:lpstr>Preparation immediately before surgery</vt:lpstr>
      <vt:lpstr>Bowel preparation</vt:lpstr>
      <vt:lpstr>NPO regimen</vt:lpstr>
      <vt:lpstr> Fasting Recommendations  </vt:lpstr>
      <vt:lpstr>PowerPoint Presentation</vt:lpstr>
      <vt:lpstr>PowerPoint Presentation</vt:lpstr>
      <vt:lpstr>Clean and aseptic surgical technique</vt:lpstr>
      <vt:lpstr>Infection Control in Surgical Practice </vt:lpstr>
      <vt:lpstr>The Surgical Wound and Infection Control </vt:lpstr>
      <vt:lpstr>Identification of Risk Factors </vt:lpstr>
      <vt:lpstr>Operative Risk Factors</vt:lpstr>
      <vt:lpstr>PowerPoint Presentation</vt:lpstr>
      <vt:lpstr>Preventive Measures </vt:lpstr>
      <vt:lpstr>Hand Hygiene </vt:lpstr>
      <vt:lpstr>PowerPoint Presentation</vt:lpstr>
      <vt:lpstr>Preparation of Skin</vt:lpstr>
      <vt:lpstr>PowerPoint Presentation</vt:lpstr>
      <vt:lpstr>Hair removal</vt:lpstr>
      <vt:lpstr>Antibiotic Prophylaxis </vt:lpstr>
      <vt:lpstr>PowerPoint Presentation</vt:lpstr>
      <vt:lpstr>Sterilization and Disinfection </vt:lpstr>
      <vt:lpstr>PowerPoint Presentation</vt:lpstr>
      <vt:lpstr>PowerPoint Presentation</vt:lpstr>
      <vt:lpstr>PowerPoint Presentation</vt:lpstr>
      <vt:lpstr>Physical Methods of Microbial Control</vt:lpstr>
      <vt:lpstr>Physical Methods of Microbial Control</vt:lpstr>
      <vt:lpstr>Physical Methods of Microbial Control</vt:lpstr>
      <vt:lpstr>Physical Methods of Microbial Control</vt:lpstr>
      <vt:lpstr>Physical Methods of Microbial Control</vt:lpstr>
      <vt:lpstr>Physical Methods of Microbial Control</vt:lpstr>
      <vt:lpstr>Physical Methods of Microbial Control</vt:lpstr>
      <vt:lpstr>Physical Methods of Microbial Control</vt:lpstr>
      <vt:lpstr>Physical Methods of Microbial Control</vt:lpstr>
      <vt:lpstr>Physical Methods of Microbial Control</vt:lpstr>
      <vt:lpstr>Physical Methods of Microbial Control</vt:lpstr>
      <vt:lpstr>PowerPoint Presentation</vt:lpstr>
      <vt:lpstr>PowerPoint Presentation</vt:lpstr>
      <vt:lpstr>Chemical Methods of Microbial Control Types of Disinfectants</vt:lpstr>
      <vt:lpstr>Chemical Methods of Microbial Control Types of Disinfectants</vt:lpstr>
      <vt:lpstr>Chemical Methods of Microbial Control Types of Disinfectants</vt:lpstr>
      <vt:lpstr>Chemical Methods of Microbial Control Types of Disinfectants</vt:lpstr>
      <vt:lpstr>Chemical Methods of Microbial Control Types of Disinfectants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Preoperative Patient Assessment and Management</dc:title>
  <dc:creator>ismail - [2010]</dc:creator>
  <cp:lastModifiedBy>Windows User</cp:lastModifiedBy>
  <cp:revision>144</cp:revision>
  <dcterms:created xsi:type="dcterms:W3CDTF">2017-10-04T16:14:19Z</dcterms:created>
  <dcterms:modified xsi:type="dcterms:W3CDTF">2024-06-06T13:13:38Z</dcterms:modified>
</cp:coreProperties>
</file>