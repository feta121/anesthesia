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88" r:id="rId1"/>
  </p:sldMasterIdLst>
  <p:notesMasterIdLst>
    <p:notesMasterId r:id="rId76"/>
  </p:notesMasterIdLst>
  <p:sldIdLst>
    <p:sldId id="560" r:id="rId2"/>
    <p:sldId id="581" r:id="rId3"/>
    <p:sldId id="484" r:id="rId4"/>
    <p:sldId id="486" r:id="rId5"/>
    <p:sldId id="582" r:id="rId6"/>
    <p:sldId id="488" r:id="rId7"/>
    <p:sldId id="489" r:id="rId8"/>
    <p:sldId id="490" r:id="rId9"/>
    <p:sldId id="491" r:id="rId10"/>
    <p:sldId id="492" r:id="rId11"/>
    <p:sldId id="577" r:id="rId12"/>
    <p:sldId id="493" r:id="rId13"/>
    <p:sldId id="494" r:id="rId14"/>
    <p:sldId id="495" r:id="rId15"/>
    <p:sldId id="496" r:id="rId16"/>
    <p:sldId id="487" r:id="rId17"/>
    <p:sldId id="578" r:id="rId18"/>
    <p:sldId id="583" r:id="rId19"/>
    <p:sldId id="584" r:id="rId20"/>
    <p:sldId id="580" r:id="rId21"/>
    <p:sldId id="585" r:id="rId22"/>
    <p:sldId id="586" r:id="rId23"/>
    <p:sldId id="613" r:id="rId24"/>
    <p:sldId id="501" r:id="rId25"/>
    <p:sldId id="502" r:id="rId26"/>
    <p:sldId id="587" r:id="rId27"/>
    <p:sldId id="503" r:id="rId28"/>
    <p:sldId id="610" r:id="rId29"/>
    <p:sldId id="595" r:id="rId30"/>
    <p:sldId id="596" r:id="rId31"/>
    <p:sldId id="597" r:id="rId32"/>
    <p:sldId id="598" r:id="rId33"/>
    <p:sldId id="599" r:id="rId34"/>
    <p:sldId id="600" r:id="rId35"/>
    <p:sldId id="601" r:id="rId36"/>
    <p:sldId id="602" r:id="rId37"/>
    <p:sldId id="603" r:id="rId38"/>
    <p:sldId id="604" r:id="rId39"/>
    <p:sldId id="605" r:id="rId40"/>
    <p:sldId id="606" r:id="rId41"/>
    <p:sldId id="607" r:id="rId42"/>
    <p:sldId id="608" r:id="rId43"/>
    <p:sldId id="609" r:id="rId44"/>
    <p:sldId id="562" r:id="rId45"/>
    <p:sldId id="505" r:id="rId46"/>
    <p:sldId id="506" r:id="rId47"/>
    <p:sldId id="588" r:id="rId48"/>
    <p:sldId id="569" r:id="rId49"/>
    <p:sldId id="568" r:id="rId50"/>
    <p:sldId id="589" r:id="rId51"/>
    <p:sldId id="590" r:id="rId52"/>
    <p:sldId id="566" r:id="rId53"/>
    <p:sldId id="509" r:id="rId54"/>
    <p:sldId id="591" r:id="rId55"/>
    <p:sldId id="565" r:id="rId56"/>
    <p:sldId id="511" r:id="rId57"/>
    <p:sldId id="592" r:id="rId58"/>
    <p:sldId id="514" r:id="rId59"/>
    <p:sldId id="516" r:id="rId60"/>
    <p:sldId id="575" r:id="rId61"/>
    <p:sldId id="517" r:id="rId62"/>
    <p:sldId id="519" r:id="rId63"/>
    <p:sldId id="593" r:id="rId64"/>
    <p:sldId id="526" r:id="rId65"/>
    <p:sldId id="546" r:id="rId66"/>
    <p:sldId id="612" r:id="rId67"/>
    <p:sldId id="554" r:id="rId68"/>
    <p:sldId id="555" r:id="rId69"/>
    <p:sldId id="556" r:id="rId70"/>
    <p:sldId id="557" r:id="rId71"/>
    <p:sldId id="558" r:id="rId72"/>
    <p:sldId id="559" r:id="rId73"/>
    <p:sldId id="594" r:id="rId74"/>
    <p:sldId id="481"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41"/>
    <p:restoredTop sz="94595"/>
  </p:normalViewPr>
  <p:slideViewPr>
    <p:cSldViewPr>
      <p:cViewPr varScale="1">
        <p:scale>
          <a:sx n="102" d="100"/>
          <a:sy n="102" d="100"/>
        </p:scale>
        <p:origin x="552" y="18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7F9D09-F66E-4D7A-BBCC-0FF80C5BBEB9}" type="datetimeFigureOut">
              <a:rPr lang="en-US" smtClean="0"/>
              <a:pPr/>
              <a:t>6/27/24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60BCA5-F7CB-4296-82FD-DC49C03D47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21B1AA7-26B6-478F-9A68-90EC356ACA04}" type="datetime1">
              <a:rPr lang="en-US"/>
              <a:pPr/>
              <a:t>6/27/24</a:t>
            </a:fld>
            <a:endParaRPr lang="en-US"/>
          </a:p>
        </p:txBody>
      </p:sp>
      <p:sp>
        <p:nvSpPr>
          <p:cNvPr id="5" name="Rectangle 6"/>
          <p:cNvSpPr>
            <a:spLocks noGrp="1" noChangeArrowheads="1"/>
          </p:cNvSpPr>
          <p:nvPr>
            <p:ph type="ftr" sz="quarter" idx="4"/>
          </p:nvPr>
        </p:nvSpPr>
        <p:spPr>
          <a:ln/>
        </p:spPr>
        <p:txBody>
          <a:bodyPr/>
          <a:lstStyle/>
          <a:p>
            <a:r>
              <a:rPr lang="en-US"/>
              <a:t>Temple College EMS Professions</a:t>
            </a:r>
          </a:p>
        </p:txBody>
      </p:sp>
      <p:sp>
        <p:nvSpPr>
          <p:cNvPr id="6" name="Rectangle 7"/>
          <p:cNvSpPr>
            <a:spLocks noGrp="1" noChangeArrowheads="1"/>
          </p:cNvSpPr>
          <p:nvPr>
            <p:ph type="sldNum" sz="quarter" idx="5"/>
          </p:nvPr>
        </p:nvSpPr>
        <p:spPr>
          <a:ln/>
        </p:spPr>
        <p:txBody>
          <a:bodyPr/>
          <a:lstStyle/>
          <a:p>
            <a:fld id="{D6C97210-0A09-4F67-872C-B12920C47F99}" type="slidenum">
              <a:rPr lang="en-US"/>
              <a:pPr/>
              <a:t>1</a:t>
            </a:fld>
            <a:endParaRPr lang="en-US"/>
          </a:p>
        </p:txBody>
      </p:sp>
      <p:sp>
        <p:nvSpPr>
          <p:cNvPr id="73730" name="Rectangle 2"/>
          <p:cNvSpPr>
            <a:spLocks noGrp="1" noRot="1" noChangeAspect="1" noChangeArrowheads="1" noTextEdit="1"/>
          </p:cNvSpPr>
          <p:nvPr>
            <p:ph type="sldImg"/>
          </p:nvPr>
        </p:nvSpPr>
        <p:spPr>
          <a:xfrm>
            <a:off x="381000" y="685800"/>
            <a:ext cx="6096000" cy="3429000"/>
          </a:xfrm>
          <a:ln/>
        </p:spPr>
      </p:sp>
      <p:sp>
        <p:nvSpPr>
          <p:cNvPr id="73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8294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a:p>
        </p:txBody>
      </p:sp>
    </p:spTree>
    <p:extLst>
      <p:ext uri="{BB962C8B-B14F-4D97-AF65-F5344CB8AC3E}">
        <p14:creationId xmlns:p14="http://schemas.microsoft.com/office/powerpoint/2010/main" val="3889109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8294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8397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CA"/>
              <a:t>6/28/24</a:t>
            </a:r>
            <a:endParaRPr lang="en-US"/>
          </a:p>
        </p:txBody>
      </p:sp>
      <p:sp>
        <p:nvSpPr>
          <p:cNvPr id="5" name="Footer Placeholder 4"/>
          <p:cNvSpPr>
            <a:spLocks noGrp="1"/>
          </p:cNvSpPr>
          <p:nvPr>
            <p:ph type="ftr" sz="quarter" idx="11"/>
          </p:nvPr>
        </p:nvSpPr>
        <p:spPr/>
        <p:txBody>
          <a:bodyPr/>
          <a:lstStyle/>
          <a:p>
            <a:r>
              <a:rPr lang="en-US"/>
              <a:t>Acute Abdomen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71275240"/>
      </p:ext>
    </p:extLst>
  </p:cSld>
  <p:clrMapOvr>
    <a:masterClrMapping/>
  </p:clrMapOvr>
  <p:transition>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CA"/>
              <a:t>6/28/24</a:t>
            </a:r>
            <a:endParaRPr lang="en-US"/>
          </a:p>
        </p:txBody>
      </p:sp>
      <p:sp>
        <p:nvSpPr>
          <p:cNvPr id="5" name="Footer Placeholder 4"/>
          <p:cNvSpPr>
            <a:spLocks noGrp="1"/>
          </p:cNvSpPr>
          <p:nvPr>
            <p:ph type="ftr" sz="quarter" idx="11"/>
          </p:nvPr>
        </p:nvSpPr>
        <p:spPr/>
        <p:txBody>
          <a:bodyPr/>
          <a:lstStyle/>
          <a:p>
            <a:r>
              <a:rPr lang="en-US"/>
              <a:t>Acute Abdomen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95720496"/>
      </p:ext>
    </p:extLst>
  </p:cSld>
  <p:clrMapOvr>
    <a:masterClrMapping/>
  </p:clrMapOvr>
  <p:transition>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en-CA"/>
              <a:t>6/28/24</a:t>
            </a:r>
            <a:endParaRPr lang="en-US"/>
          </a:p>
        </p:txBody>
      </p:sp>
      <p:sp>
        <p:nvSpPr>
          <p:cNvPr id="5" name="Footer Placeholder 4"/>
          <p:cNvSpPr>
            <a:spLocks noGrp="1"/>
          </p:cNvSpPr>
          <p:nvPr>
            <p:ph type="ftr" sz="quarter" idx="11"/>
          </p:nvPr>
        </p:nvSpPr>
        <p:spPr/>
        <p:txBody>
          <a:bodyPr/>
          <a:lstStyle/>
          <a:p>
            <a:r>
              <a:rPr lang="en-US"/>
              <a:t>Acute Abdomen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32831346"/>
      </p:ext>
    </p:extLst>
  </p:cSld>
  <p:clrMapOvr>
    <a:masterClrMapping/>
  </p:clrMapOvr>
  <p:transition>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CA"/>
              <a:t>6/28/24</a:t>
            </a:r>
            <a:endParaRPr lang="en-US"/>
          </a:p>
        </p:txBody>
      </p:sp>
      <p:sp>
        <p:nvSpPr>
          <p:cNvPr id="6" name="Footer Placeholder 5"/>
          <p:cNvSpPr>
            <a:spLocks noGrp="1"/>
          </p:cNvSpPr>
          <p:nvPr>
            <p:ph type="ftr" sz="quarter" idx="11"/>
          </p:nvPr>
        </p:nvSpPr>
        <p:spPr/>
        <p:txBody>
          <a:bodyPr/>
          <a:lstStyle/>
          <a:p>
            <a:r>
              <a:rPr lang="en-US"/>
              <a:t>Acute Abdomen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68145422"/>
      </p:ext>
    </p:extLst>
  </p:cSld>
  <p:clrMapOvr>
    <a:masterClrMapping/>
  </p:clrMapOvr>
  <p:transition>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CA"/>
              <a:t>6/28/24</a:t>
            </a:r>
            <a:endParaRPr lang="en-US"/>
          </a:p>
        </p:txBody>
      </p:sp>
      <p:sp>
        <p:nvSpPr>
          <p:cNvPr id="8" name="Footer Placeholder 7"/>
          <p:cNvSpPr>
            <a:spLocks noGrp="1"/>
          </p:cNvSpPr>
          <p:nvPr>
            <p:ph type="ftr" sz="quarter" idx="11"/>
          </p:nvPr>
        </p:nvSpPr>
        <p:spPr/>
        <p:txBody>
          <a:bodyPr/>
          <a:lstStyle/>
          <a:p>
            <a:r>
              <a:rPr lang="en-US"/>
              <a:t>Acute Abdomen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82426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CA"/>
              <a:t>6/28/24</a:t>
            </a:r>
            <a:endParaRPr lang="en-US"/>
          </a:p>
        </p:txBody>
      </p:sp>
      <p:sp>
        <p:nvSpPr>
          <p:cNvPr id="4" name="Footer Placeholder 3"/>
          <p:cNvSpPr>
            <a:spLocks noGrp="1"/>
          </p:cNvSpPr>
          <p:nvPr>
            <p:ph type="ftr" sz="quarter" idx="11"/>
          </p:nvPr>
        </p:nvSpPr>
        <p:spPr/>
        <p:txBody>
          <a:bodyPr/>
          <a:lstStyle/>
          <a:p>
            <a:r>
              <a:rPr lang="en-US"/>
              <a:t>Acute Abdomen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61902899"/>
      </p:ext>
    </p:extLst>
  </p:cSld>
  <p:clrMapOvr>
    <a:masterClrMapping/>
  </p:clrMapOvr>
  <p:transition>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CA"/>
              <a:t>6/28/24</a:t>
            </a:r>
            <a:endParaRPr lang="en-US"/>
          </a:p>
        </p:txBody>
      </p:sp>
      <p:sp>
        <p:nvSpPr>
          <p:cNvPr id="3" name="Footer Placeholder 2"/>
          <p:cNvSpPr>
            <a:spLocks noGrp="1"/>
          </p:cNvSpPr>
          <p:nvPr>
            <p:ph type="ftr" sz="quarter" idx="11"/>
          </p:nvPr>
        </p:nvSpPr>
        <p:spPr/>
        <p:txBody>
          <a:bodyPr/>
          <a:lstStyle/>
          <a:p>
            <a:r>
              <a:rPr lang="en-US"/>
              <a:t>Acute Abdomen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68919063"/>
      </p:ext>
    </p:extLst>
  </p:cSld>
  <p:clrMapOvr>
    <a:masterClrMapping/>
  </p:clrMapOvr>
  <p:transition>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en-CA"/>
              <a:t>6/28/24</a:t>
            </a:r>
            <a:endParaRPr lang="en-US"/>
          </a:p>
        </p:txBody>
      </p:sp>
      <p:sp>
        <p:nvSpPr>
          <p:cNvPr id="6" name="Footer Placeholder 5"/>
          <p:cNvSpPr>
            <a:spLocks noGrp="1"/>
          </p:cNvSpPr>
          <p:nvPr>
            <p:ph type="ftr" sz="quarter" idx="11"/>
          </p:nvPr>
        </p:nvSpPr>
        <p:spPr/>
        <p:txBody>
          <a:bodyPr/>
          <a:lstStyle/>
          <a:p>
            <a:r>
              <a:rPr lang="en-US"/>
              <a:t>Acute Abdomen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01510800"/>
      </p:ext>
    </p:extLst>
  </p:cSld>
  <p:clrMapOvr>
    <a:masterClrMapping/>
  </p:clrMapOvr>
  <p:transition>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en-CA"/>
              <a:t>6/28/24</a:t>
            </a:r>
            <a:endParaRPr lang="en-US"/>
          </a:p>
        </p:txBody>
      </p:sp>
      <p:sp>
        <p:nvSpPr>
          <p:cNvPr id="6" name="Footer Placeholder 5"/>
          <p:cNvSpPr>
            <a:spLocks noGrp="1"/>
          </p:cNvSpPr>
          <p:nvPr>
            <p:ph type="ftr" sz="quarter" idx="11"/>
          </p:nvPr>
        </p:nvSpPr>
        <p:spPr/>
        <p:txBody>
          <a:bodyPr/>
          <a:lstStyle/>
          <a:p>
            <a:r>
              <a:rPr lang="en-US"/>
              <a:t>Acute Abdomen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49746733"/>
      </p:ext>
    </p:extLst>
  </p:cSld>
  <p:clrMapOvr>
    <a:masterClrMapping/>
  </p:clrMapOvr>
  <p:transition>
    <p:pull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CA"/>
              <a:t>6/28/24</a:t>
            </a:r>
            <a:endParaRPr lang="en-US"/>
          </a:p>
        </p:txBody>
      </p:sp>
      <p:sp>
        <p:nvSpPr>
          <p:cNvPr id="5" name="Footer Placeholder 4"/>
          <p:cNvSpPr>
            <a:spLocks noGrp="1"/>
          </p:cNvSpPr>
          <p:nvPr>
            <p:ph type="ftr" sz="quarter" idx="11"/>
          </p:nvPr>
        </p:nvSpPr>
        <p:spPr/>
        <p:txBody>
          <a:bodyPr/>
          <a:lstStyle/>
          <a:p>
            <a:r>
              <a:rPr lang="en-US"/>
              <a:t>Acute Abdomen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36592604"/>
      </p:ext>
    </p:extLst>
  </p:cSld>
  <p:clrMapOvr>
    <a:masterClrMapping/>
  </p:clrMapOvr>
  <p:transition>
    <p:pull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CA"/>
              <a:t>6/28/24</a:t>
            </a:r>
            <a:endParaRPr lang="en-US"/>
          </a:p>
        </p:txBody>
      </p:sp>
      <p:sp>
        <p:nvSpPr>
          <p:cNvPr id="5" name="Footer Placeholder 4"/>
          <p:cNvSpPr>
            <a:spLocks noGrp="1"/>
          </p:cNvSpPr>
          <p:nvPr>
            <p:ph type="ftr" sz="quarter" idx="11"/>
          </p:nvPr>
        </p:nvSpPr>
        <p:spPr/>
        <p:txBody>
          <a:bodyPr/>
          <a:lstStyle/>
          <a:p>
            <a:r>
              <a:rPr lang="en-US"/>
              <a:t>Acute Abdomen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22467244"/>
      </p:ext>
    </p:extLst>
  </p:cSld>
  <p:clrMapOvr>
    <a:masterClrMapping/>
  </p:clrMapOvr>
  <p:transition>
    <p:pull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914400" y="3810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2057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197600" y="2057400"/>
            <a:ext cx="5080000" cy="4114800"/>
          </a:xfrm>
        </p:spPr>
        <p:txBody>
          <a:bodyPr/>
          <a:lstStyle/>
          <a:p>
            <a:endParaRPr lang="en-US"/>
          </a:p>
        </p:txBody>
      </p:sp>
      <p:sp>
        <p:nvSpPr>
          <p:cNvPr id="5" name="Date Placeholder 4"/>
          <p:cNvSpPr>
            <a:spLocks noGrp="1"/>
          </p:cNvSpPr>
          <p:nvPr>
            <p:ph type="dt" sz="half" idx="10"/>
          </p:nvPr>
        </p:nvSpPr>
        <p:spPr>
          <a:xfrm>
            <a:off x="914400" y="6324600"/>
            <a:ext cx="2540000" cy="457200"/>
          </a:xfrm>
        </p:spPr>
        <p:txBody>
          <a:bodyPr/>
          <a:lstStyle>
            <a:lvl1pPr>
              <a:defRPr/>
            </a:lvl1pPr>
          </a:lstStyle>
          <a:p>
            <a:r>
              <a:rPr lang="en-CA"/>
              <a:t>6/28/24</a:t>
            </a:r>
            <a:endParaRPr lang="en-US"/>
          </a:p>
        </p:txBody>
      </p:sp>
      <p:sp>
        <p:nvSpPr>
          <p:cNvPr id="6" name="Footer Placeholder 5"/>
          <p:cNvSpPr>
            <a:spLocks noGrp="1"/>
          </p:cNvSpPr>
          <p:nvPr>
            <p:ph type="ftr" sz="quarter" idx="11"/>
          </p:nvPr>
        </p:nvSpPr>
        <p:spPr>
          <a:xfrm>
            <a:off x="4165600" y="6324600"/>
            <a:ext cx="3860800" cy="457200"/>
          </a:xfrm>
        </p:spPr>
        <p:txBody>
          <a:bodyPr/>
          <a:lstStyle>
            <a:lvl1pPr>
              <a:defRPr/>
            </a:lvl1pPr>
          </a:lstStyle>
          <a:p>
            <a:r>
              <a:rPr lang="en-US"/>
              <a:t>Acute Abdomen</a:t>
            </a:r>
          </a:p>
        </p:txBody>
      </p:sp>
      <p:sp>
        <p:nvSpPr>
          <p:cNvPr id="7" name="Slide Number Placeholder 6"/>
          <p:cNvSpPr>
            <a:spLocks noGrp="1"/>
          </p:cNvSpPr>
          <p:nvPr>
            <p:ph type="sldNum" sz="quarter" idx="12"/>
          </p:nvPr>
        </p:nvSpPr>
        <p:spPr>
          <a:xfrm>
            <a:off x="8737600" y="6324600"/>
            <a:ext cx="2540000" cy="457200"/>
          </a:xfrm>
        </p:spPr>
        <p:txBody>
          <a:bodyPr/>
          <a:lstStyle>
            <a:lvl1pPr>
              <a:defRPr/>
            </a:lvl1pPr>
          </a:lstStyle>
          <a:p>
            <a:fld id="{5F92C6BE-6031-4786-AD87-3DCEC0D6B6E0}" type="slidenum">
              <a:rPr lang="en-US"/>
              <a:pPr/>
              <a:t>‹#›</a:t>
            </a:fld>
            <a:endParaRPr lang="en-US"/>
          </a:p>
        </p:txBody>
      </p:sp>
    </p:spTree>
    <p:extLst>
      <p:ext uri="{BB962C8B-B14F-4D97-AF65-F5344CB8AC3E}">
        <p14:creationId xmlns:p14="http://schemas.microsoft.com/office/powerpoint/2010/main" val="5206845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914400" y="3810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2057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6197600" y="2057400"/>
            <a:ext cx="5080000" cy="4114800"/>
          </a:xfrm>
        </p:spPr>
        <p:txBody>
          <a:bodyPr/>
          <a:lstStyle/>
          <a:p>
            <a:endParaRPr lang="en-US"/>
          </a:p>
        </p:txBody>
      </p:sp>
      <p:sp>
        <p:nvSpPr>
          <p:cNvPr id="5" name="Date Placeholder 4"/>
          <p:cNvSpPr>
            <a:spLocks noGrp="1"/>
          </p:cNvSpPr>
          <p:nvPr>
            <p:ph type="dt" sz="half" idx="10"/>
          </p:nvPr>
        </p:nvSpPr>
        <p:spPr>
          <a:xfrm>
            <a:off x="914400" y="6324600"/>
            <a:ext cx="2540000" cy="457200"/>
          </a:xfrm>
        </p:spPr>
        <p:txBody>
          <a:bodyPr/>
          <a:lstStyle>
            <a:lvl1pPr>
              <a:defRPr/>
            </a:lvl1pPr>
          </a:lstStyle>
          <a:p>
            <a:r>
              <a:rPr lang="en-CA"/>
              <a:t>6/28/24</a:t>
            </a:r>
            <a:endParaRPr lang="en-US"/>
          </a:p>
        </p:txBody>
      </p:sp>
      <p:sp>
        <p:nvSpPr>
          <p:cNvPr id="6" name="Footer Placeholder 5"/>
          <p:cNvSpPr>
            <a:spLocks noGrp="1"/>
          </p:cNvSpPr>
          <p:nvPr>
            <p:ph type="ftr" sz="quarter" idx="11"/>
          </p:nvPr>
        </p:nvSpPr>
        <p:spPr>
          <a:xfrm>
            <a:off x="4165600" y="6324600"/>
            <a:ext cx="3860800" cy="457200"/>
          </a:xfrm>
        </p:spPr>
        <p:txBody>
          <a:bodyPr/>
          <a:lstStyle>
            <a:lvl1pPr>
              <a:defRPr/>
            </a:lvl1pPr>
          </a:lstStyle>
          <a:p>
            <a:r>
              <a:rPr lang="en-US"/>
              <a:t>Acute Abdomen</a:t>
            </a:r>
          </a:p>
        </p:txBody>
      </p:sp>
      <p:sp>
        <p:nvSpPr>
          <p:cNvPr id="7" name="Slide Number Placeholder 6"/>
          <p:cNvSpPr>
            <a:spLocks noGrp="1"/>
          </p:cNvSpPr>
          <p:nvPr>
            <p:ph type="sldNum" sz="quarter" idx="12"/>
          </p:nvPr>
        </p:nvSpPr>
        <p:spPr>
          <a:xfrm>
            <a:off x="8737600" y="6324600"/>
            <a:ext cx="2540000" cy="457200"/>
          </a:xfrm>
        </p:spPr>
        <p:txBody>
          <a:bodyPr/>
          <a:lstStyle>
            <a:lvl1pPr>
              <a:defRPr/>
            </a:lvl1pPr>
          </a:lstStyle>
          <a:p>
            <a:fld id="{E352DC59-21BC-4B8B-86B7-A0C361D8F6E1}" type="slidenum">
              <a:rPr lang="en-US"/>
              <a:pPr/>
              <a:t>‹#›</a:t>
            </a:fld>
            <a:endParaRPr lang="en-US"/>
          </a:p>
        </p:txBody>
      </p:sp>
    </p:spTree>
    <p:extLst>
      <p:ext uri="{BB962C8B-B14F-4D97-AF65-F5344CB8AC3E}">
        <p14:creationId xmlns:p14="http://schemas.microsoft.com/office/powerpoint/2010/main" val="3173651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CA"/>
              <a:t>6/28/24</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Acute Abdomen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902678796"/>
      </p:ext>
    </p:extLst>
  </p:cSld>
  <p:clrMap bg1="lt1" tx1="dk1" bg2="lt2" tx2="dk2" accent1="accent1" accent2="accent2" accent3="accent3" accent4="accent4" accent5="accent5" accent6="accent6" hlink="hlink" folHlink="folHlink"/>
  <p:sldLayoutIdLst>
    <p:sldLayoutId id="2147483989" r:id="rId1"/>
    <p:sldLayoutId id="2147483990" r:id="rId2"/>
    <p:sldLayoutId id="2147483991" r:id="rId3"/>
    <p:sldLayoutId id="2147483992" r:id="rId4"/>
    <p:sldLayoutId id="2147483993" r:id="rId5"/>
    <p:sldLayoutId id="2147483994" r:id="rId6"/>
    <p:sldLayoutId id="2147483995" r:id="rId7"/>
    <p:sldLayoutId id="2147483996" r:id="rId8"/>
    <p:sldLayoutId id="2147483997" r:id="rId9"/>
    <p:sldLayoutId id="2147483998" r:id="rId10"/>
    <p:sldLayoutId id="2147483999" r:id="rId11"/>
    <p:sldLayoutId id="2147484000" r:id="rId12"/>
    <p:sldLayoutId id="2147484001" r:id="rId13"/>
  </p:sldLayoutIdLst>
  <p:transition>
    <p:pull dir="d"/>
  </p:transition>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tif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normAutofit/>
          </a:bodyPr>
          <a:lstStyle/>
          <a:p>
            <a:r>
              <a:rPr lang="en-US" sz="3600" b="1" dirty="0">
                <a:latin typeface="Times New Roman" panose="02020603050405020304" pitchFamily="18" charset="0"/>
                <a:cs typeface="Times New Roman" panose="02020603050405020304" pitchFamily="18" charset="0"/>
              </a:rPr>
              <a:t>Acute Abdomen</a:t>
            </a:r>
          </a:p>
        </p:txBody>
      </p:sp>
      <p:sp>
        <p:nvSpPr>
          <p:cNvPr id="4099" name="Rectangle 3"/>
          <p:cNvSpPr>
            <a:spLocks noGrp="1" noChangeArrowheads="1"/>
          </p:cNvSpPr>
          <p:nvPr>
            <p:ph type="subTitle" idx="1"/>
          </p:nvPr>
        </p:nvSpPr>
        <p:spPr>
          <a:xfrm>
            <a:off x="1524000" y="3602038"/>
            <a:ext cx="9067800" cy="817562"/>
          </a:xfrm>
        </p:spPr>
        <p:txBody>
          <a:bodyPr>
            <a:normAutofit/>
          </a:bodyPr>
          <a:lstStyle/>
          <a:p>
            <a:r>
              <a:rPr lang="en-US" sz="2000" i="1" dirty="0">
                <a:latin typeface="Times New Roman" panose="02020603050405020304" pitchFamily="18" charset="0"/>
                <a:cs typeface="Times New Roman" panose="02020603050405020304" pitchFamily="18" charset="0"/>
              </a:rPr>
              <a:t>The “Black Hole” of Medicine</a:t>
            </a:r>
          </a:p>
        </p:txBody>
      </p:sp>
      <p:sp>
        <p:nvSpPr>
          <p:cNvPr id="3" name="TextBox 2">
            <a:extLst>
              <a:ext uri="{FF2B5EF4-FFF2-40B4-BE49-F238E27FC236}">
                <a16:creationId xmlns:a16="http://schemas.microsoft.com/office/drawing/2014/main" id="{A9981454-C8D0-414D-8A02-BBC789A7C381}"/>
              </a:ext>
            </a:extLst>
          </p:cNvPr>
          <p:cNvSpPr txBox="1"/>
          <p:nvPr/>
        </p:nvSpPr>
        <p:spPr>
          <a:xfrm>
            <a:off x="8610600" y="5943600"/>
            <a:ext cx="2696059"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Samson </a:t>
            </a:r>
            <a:r>
              <a:rPr lang="en-US" b="1" dirty="0" err="1">
                <a:latin typeface="Times New Roman" panose="02020603050405020304" pitchFamily="18" charset="0"/>
                <a:cs typeface="Times New Roman" panose="02020603050405020304" pitchFamily="18" charset="0"/>
              </a:rPr>
              <a:t>Yadeta</a:t>
            </a:r>
            <a:r>
              <a:rPr lang="en-US" b="1" dirty="0">
                <a:latin typeface="Times New Roman" panose="02020603050405020304" pitchFamily="18" charset="0"/>
                <a:cs typeface="Times New Roman" panose="02020603050405020304" pitchFamily="18" charset="0"/>
              </a:rPr>
              <a:t> (GSR III)</a:t>
            </a:r>
          </a:p>
        </p:txBody>
      </p:sp>
    </p:spTree>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90600" y="301627"/>
            <a:ext cx="8991600" cy="536574"/>
          </a:xfrm>
        </p:spPr>
        <p:txBody>
          <a:bodyPr>
            <a:normAutofit/>
          </a:bodyPr>
          <a:lstStyle/>
          <a:p>
            <a:r>
              <a:rPr lang="en-US" altLang="zh-TW" sz="2800" b="1" dirty="0">
                <a:latin typeface="Times New Roman" panose="02020603050405020304" pitchFamily="18" charset="0"/>
                <a:cs typeface="Times New Roman" panose="02020603050405020304" pitchFamily="18" charset="0"/>
              </a:rPr>
              <a:t>Outline</a:t>
            </a:r>
          </a:p>
        </p:txBody>
      </p:sp>
      <p:sp>
        <p:nvSpPr>
          <p:cNvPr id="6147" name="Rectangle 3"/>
          <p:cNvSpPr>
            <a:spLocks noGrp="1" noChangeArrowheads="1"/>
          </p:cNvSpPr>
          <p:nvPr>
            <p:ph idx="1"/>
          </p:nvPr>
        </p:nvSpPr>
        <p:spPr>
          <a:xfrm>
            <a:off x="990600" y="1371600"/>
            <a:ext cx="9982200" cy="4876800"/>
          </a:xfrm>
        </p:spPr>
        <p:txBody>
          <a:bodyPr>
            <a:normAutofit/>
          </a:bodyPr>
          <a:lstStyle/>
          <a:p>
            <a:pPr>
              <a:lnSpc>
                <a:spcPct val="150000"/>
              </a:lnSpc>
            </a:pPr>
            <a:r>
              <a:rPr lang="en-US" altLang="zh-TW" sz="2000" dirty="0">
                <a:latin typeface="Times New Roman" panose="02020603050405020304" pitchFamily="18" charset="0"/>
                <a:cs typeface="Times New Roman" panose="02020603050405020304" pitchFamily="18" charset="0"/>
              </a:rPr>
              <a:t>Introduction</a:t>
            </a:r>
          </a:p>
          <a:p>
            <a:pPr>
              <a:lnSpc>
                <a:spcPct val="150000"/>
              </a:lnSpc>
            </a:pPr>
            <a:r>
              <a:rPr lang="en-US" altLang="zh-TW" sz="2000" dirty="0">
                <a:latin typeface="Times New Roman" panose="02020603050405020304" pitchFamily="18" charset="0"/>
                <a:cs typeface="Times New Roman" panose="02020603050405020304" pitchFamily="18" charset="0"/>
              </a:rPr>
              <a:t>Evaluation of acute abdomen</a:t>
            </a:r>
          </a:p>
          <a:p>
            <a:pPr>
              <a:lnSpc>
                <a:spcPct val="150000"/>
              </a:lnSpc>
            </a:pPr>
            <a:r>
              <a:rPr lang="en-US" altLang="zh-TW" sz="2000" dirty="0">
                <a:latin typeface="Times New Roman" panose="02020603050405020304" pitchFamily="18" charset="0"/>
                <a:cs typeface="Times New Roman" panose="02020603050405020304" pitchFamily="18" charset="0"/>
              </a:rPr>
              <a:t>Diagnosis</a:t>
            </a:r>
          </a:p>
          <a:p>
            <a:pPr>
              <a:lnSpc>
                <a:spcPct val="150000"/>
              </a:lnSpc>
            </a:pPr>
            <a:r>
              <a:rPr lang="en-US" altLang="zh-TW" sz="2000" dirty="0">
                <a:latin typeface="Times New Roman" panose="02020603050405020304" pitchFamily="18" charset="0"/>
                <a:cs typeface="Times New Roman" panose="02020603050405020304" pitchFamily="18" charset="0"/>
              </a:rPr>
              <a:t>Common Etiologies</a:t>
            </a:r>
          </a:p>
          <a:p>
            <a:pPr>
              <a:lnSpc>
                <a:spcPct val="150000"/>
              </a:lnSpc>
            </a:pPr>
            <a:r>
              <a:rPr lang="en-US" altLang="zh-TW" sz="2000" dirty="0">
                <a:latin typeface="Times New Roman" panose="02020603050405020304" pitchFamily="18" charset="0"/>
                <a:cs typeface="Times New Roman" panose="02020603050405020304" pitchFamily="18" charset="0"/>
              </a:rPr>
              <a:t>Principle of Management</a:t>
            </a:r>
          </a:p>
          <a:p>
            <a:pPr>
              <a:lnSpc>
                <a:spcPct val="90000"/>
              </a:lnSpc>
            </a:pPr>
            <a:endParaRPr lang="en-US" altLang="zh-TW" dirty="0"/>
          </a:p>
        </p:txBody>
      </p:sp>
      <p:sp>
        <p:nvSpPr>
          <p:cNvPr id="2" name="Date Placeholder 1">
            <a:extLst>
              <a:ext uri="{FF2B5EF4-FFF2-40B4-BE49-F238E27FC236}">
                <a16:creationId xmlns:a16="http://schemas.microsoft.com/office/drawing/2014/main" id="{90FBAFDD-CACA-7C48-9570-2397FD1BB520}"/>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FA772CCF-7681-2544-8A27-EF625F839B75}"/>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708BDE81-B414-5544-980F-E37178139A49}"/>
              </a:ext>
            </a:extLst>
          </p:cNvPr>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3144694994"/>
      </p:ext>
    </p:extLst>
  </p:cSld>
  <p:clrMapOvr>
    <a:masterClrMapping/>
  </p:clrMapOvr>
  <p:transition>
    <p:pull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533400" y="228601"/>
            <a:ext cx="9448800" cy="533400"/>
          </a:xfrm>
        </p:spPr>
        <p:txBody>
          <a:bodyPr>
            <a:normAutofit/>
          </a:bodyPr>
          <a:lstStyle/>
          <a:p>
            <a:r>
              <a:rPr lang="en-US" altLang="zh-TW" sz="2800" b="1" dirty="0">
                <a:latin typeface="Times New Roman" panose="02020603050405020304" pitchFamily="18" charset="0"/>
                <a:cs typeface="Times New Roman" panose="02020603050405020304" pitchFamily="18" charset="0"/>
              </a:rPr>
              <a:t>Introduction</a:t>
            </a:r>
          </a:p>
        </p:txBody>
      </p:sp>
      <p:sp>
        <p:nvSpPr>
          <p:cNvPr id="6147" name="Rectangle 3"/>
          <p:cNvSpPr>
            <a:spLocks noGrp="1" noChangeArrowheads="1"/>
          </p:cNvSpPr>
          <p:nvPr>
            <p:ph idx="1"/>
          </p:nvPr>
        </p:nvSpPr>
        <p:spPr>
          <a:xfrm>
            <a:off x="762000" y="1143000"/>
            <a:ext cx="10439400" cy="4191000"/>
          </a:xfrm>
        </p:spPr>
        <p:txBody>
          <a:bodyPr>
            <a:normAutofit/>
          </a:bodyPr>
          <a:lstStyle/>
          <a:p>
            <a:pPr>
              <a:lnSpc>
                <a:spcPct val="150000"/>
              </a:lnSpc>
              <a:buFont typeface="Wingdings" pitchFamily="2" charset="2"/>
              <a:buChar char="Ø"/>
            </a:pPr>
            <a:r>
              <a:rPr lang="en-US" altLang="zh-TW" sz="2000" b="1" dirty="0">
                <a:latin typeface="Times New Roman" panose="02020603050405020304" pitchFamily="18" charset="0"/>
                <a:cs typeface="Times New Roman" panose="02020603050405020304" pitchFamily="18" charset="0"/>
              </a:rPr>
              <a:t>Importance of acute abdomen</a:t>
            </a:r>
          </a:p>
          <a:p>
            <a:pPr>
              <a:lnSpc>
                <a:spcPct val="150000"/>
              </a:lnSpc>
            </a:pPr>
            <a:r>
              <a:rPr lang="en-US" altLang="zh-TW" sz="2000" dirty="0">
                <a:latin typeface="Times New Roman" panose="02020603050405020304" pitchFamily="18" charset="0"/>
                <a:cs typeface="Times New Roman" panose="02020603050405020304" pitchFamily="18" charset="0"/>
              </a:rPr>
              <a:t>Challenge to Surgeons </a:t>
            </a:r>
          </a:p>
          <a:p>
            <a:pPr>
              <a:lnSpc>
                <a:spcPct val="150000"/>
              </a:lnSpc>
            </a:pPr>
            <a:r>
              <a:rPr lang="en-US" altLang="zh-TW" sz="2000" dirty="0">
                <a:latin typeface="Times New Roman" panose="02020603050405020304" pitchFamily="18" charset="0"/>
                <a:cs typeface="Times New Roman" panose="02020603050405020304" pitchFamily="18" charset="0"/>
              </a:rPr>
              <a:t>Most common cause of surgical emergency admission</a:t>
            </a:r>
          </a:p>
          <a:p>
            <a:pPr>
              <a:lnSpc>
                <a:spcPct val="150000"/>
              </a:lnSpc>
            </a:pPr>
            <a:r>
              <a:rPr lang="en-US" altLang="zh-TW" sz="2000" dirty="0">
                <a:latin typeface="Times New Roman" panose="02020603050405020304" pitchFamily="18" charset="0"/>
                <a:cs typeface="Times New Roman" panose="02020603050405020304" pitchFamily="18" charset="0"/>
              </a:rPr>
              <a:t>Encompass various conditions ranging from the trivial to the life-threatening</a:t>
            </a:r>
          </a:p>
        </p:txBody>
      </p:sp>
      <p:sp>
        <p:nvSpPr>
          <p:cNvPr id="2" name="Date Placeholder 1">
            <a:extLst>
              <a:ext uri="{FF2B5EF4-FFF2-40B4-BE49-F238E27FC236}">
                <a16:creationId xmlns:a16="http://schemas.microsoft.com/office/drawing/2014/main" id="{75E67211-91E9-4F42-B239-24929E9DFFFD}"/>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C340F1E9-3A16-6040-9CA8-115C0D0EA67E}"/>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08386C3B-CA8C-2C4C-ACEF-999965B3205C}"/>
              </a:ext>
            </a:extLst>
          </p:cNvPr>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ransition>
    <p:pull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B1B6E4-D795-734C-BC40-2800D95027F2}"/>
              </a:ext>
            </a:extLst>
          </p:cNvPr>
          <p:cNvPicPr>
            <a:picLocks noChangeAspect="1"/>
          </p:cNvPicPr>
          <p:nvPr/>
        </p:nvPicPr>
        <p:blipFill>
          <a:blip r:embed="rId2"/>
          <a:stretch>
            <a:fillRect/>
          </a:stretch>
        </p:blipFill>
        <p:spPr>
          <a:xfrm>
            <a:off x="83895" y="0"/>
            <a:ext cx="12024209" cy="6858000"/>
          </a:xfrm>
          <a:prstGeom prst="rect">
            <a:avLst/>
          </a:prstGeom>
        </p:spPr>
      </p:pic>
      <p:pic>
        <p:nvPicPr>
          <p:cNvPr id="10" name="Content Placeholder 4">
            <a:extLst>
              <a:ext uri="{FF2B5EF4-FFF2-40B4-BE49-F238E27FC236}">
                <a16:creationId xmlns:a16="http://schemas.microsoft.com/office/drawing/2014/main" id="{DE767909-6438-AC44-963A-6D20CE0964F5}"/>
              </a:ext>
            </a:extLst>
          </p:cNvPr>
          <p:cNvPicPr>
            <a:picLocks noChangeAspect="1"/>
          </p:cNvPicPr>
          <p:nvPr/>
        </p:nvPicPr>
        <p:blipFill>
          <a:blip r:embed="rId3"/>
          <a:stretch>
            <a:fillRect/>
          </a:stretch>
        </p:blipFill>
        <p:spPr>
          <a:xfrm>
            <a:off x="3256766" y="32524"/>
            <a:ext cx="5327738" cy="6706822"/>
          </a:xfrm>
          <a:prstGeom prst="rect">
            <a:avLst/>
          </a:prstGeom>
        </p:spPr>
      </p:pic>
    </p:spTree>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1371600" y="2286000"/>
            <a:ext cx="9296400" cy="1143000"/>
          </a:xfrm>
        </p:spPr>
        <p:txBody>
          <a:bodyPr>
            <a:normAutofit/>
          </a:bodyPr>
          <a:lstStyle/>
          <a:p>
            <a:r>
              <a:rPr lang="en-US" altLang="zh-TW" sz="2800" b="1" dirty="0">
                <a:latin typeface="Times New Roman" panose="02020603050405020304" pitchFamily="18" charset="0"/>
                <a:cs typeface="Times New Roman" panose="02020603050405020304" pitchFamily="18" charset="0"/>
              </a:rPr>
              <a:t>The primary symptom of the ”Acute abdomen" is:</a:t>
            </a:r>
            <a:br>
              <a:rPr lang="en-US" altLang="zh-TW" sz="2800" b="1" dirty="0">
                <a:latin typeface="Times New Roman" panose="02020603050405020304" pitchFamily="18" charset="0"/>
                <a:cs typeface="Times New Roman" panose="02020603050405020304" pitchFamily="18" charset="0"/>
              </a:rPr>
            </a:br>
            <a:r>
              <a:rPr lang="en-US" altLang="zh-TW" sz="2800" b="1" dirty="0">
                <a:latin typeface="Times New Roman" panose="02020603050405020304" pitchFamily="18" charset="0"/>
                <a:cs typeface="Times New Roman" panose="02020603050405020304" pitchFamily="18" charset="0"/>
              </a:rPr>
              <a:t>Abdominal pain.</a:t>
            </a:r>
          </a:p>
        </p:txBody>
      </p:sp>
    </p:spTree>
    <p:extLst>
      <p:ext uri="{BB962C8B-B14F-4D97-AF65-F5344CB8AC3E}">
        <p14:creationId xmlns:p14="http://schemas.microsoft.com/office/powerpoint/2010/main" val="4089853166"/>
      </p:ext>
    </p:extLst>
  </p:cSld>
  <p:clrMapOvr>
    <a:masterClrMapping/>
  </p:clrMapOvr>
  <p:transition>
    <p:pull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rmAutofit/>
          </a:bodyPr>
          <a:lstStyle/>
          <a:p>
            <a:pPr eaLnBrk="1" hangingPunct="1"/>
            <a:r>
              <a:rPr lang="en-US" sz="2800" b="1" dirty="0">
                <a:latin typeface="Times New Roman" panose="02020603050405020304" pitchFamily="18" charset="0"/>
                <a:cs typeface="Times New Roman" panose="02020603050405020304" pitchFamily="18" charset="0"/>
              </a:rPr>
              <a:t>Types of Abdominal Pain:</a:t>
            </a:r>
          </a:p>
        </p:txBody>
      </p:sp>
      <p:sp>
        <p:nvSpPr>
          <p:cNvPr id="10243" name="Rectangle 3"/>
          <p:cNvSpPr>
            <a:spLocks noGrp="1" noChangeArrowheads="1"/>
          </p:cNvSpPr>
          <p:nvPr>
            <p:ph idx="1"/>
          </p:nvPr>
        </p:nvSpPr>
        <p:spPr/>
        <p:txBody>
          <a:bodyPr/>
          <a:lstStyle/>
          <a:p>
            <a:pPr eaLnBrk="1" hangingPunct="1"/>
            <a:r>
              <a:rPr lang="en-US" sz="2000" dirty="0">
                <a:latin typeface="Times New Roman" panose="02020603050405020304" pitchFamily="18" charset="0"/>
                <a:cs typeface="Times New Roman" panose="02020603050405020304" pitchFamily="18" charset="0"/>
              </a:rPr>
              <a:t>Three types of pain exist: </a:t>
            </a:r>
          </a:p>
          <a:p>
            <a:pPr lvl="1" eaLnBrk="1" hangingPunct="1"/>
            <a:endParaRPr lang="en-US" sz="2000" dirty="0">
              <a:latin typeface="Times New Roman" panose="02020603050405020304" pitchFamily="18" charset="0"/>
              <a:cs typeface="Times New Roman" panose="02020603050405020304" pitchFamily="18" charset="0"/>
            </a:endParaRPr>
          </a:p>
          <a:p>
            <a:pPr lvl="1" eaLnBrk="1" hangingPunct="1">
              <a:buFont typeface="Wingdings" pitchFamily="2" charset="2"/>
              <a:buNone/>
            </a:pPr>
            <a:r>
              <a:rPr lang="en-US" sz="2000" dirty="0">
                <a:latin typeface="Times New Roman" panose="02020603050405020304" pitchFamily="18" charset="0"/>
                <a:cs typeface="Times New Roman" panose="02020603050405020304" pitchFamily="18" charset="0"/>
              </a:rPr>
              <a:t>1. Visceral</a:t>
            </a:r>
          </a:p>
          <a:p>
            <a:pPr lvl="1" eaLnBrk="1" hangingPunct="1"/>
            <a:endParaRPr lang="en-US" sz="2000" dirty="0">
              <a:latin typeface="Times New Roman" panose="02020603050405020304" pitchFamily="18" charset="0"/>
              <a:cs typeface="Times New Roman" panose="02020603050405020304" pitchFamily="18" charset="0"/>
            </a:endParaRPr>
          </a:p>
          <a:p>
            <a:pPr lvl="1" eaLnBrk="1" hangingPunct="1">
              <a:buFont typeface="Wingdings" pitchFamily="2" charset="2"/>
              <a:buNone/>
            </a:pPr>
            <a:r>
              <a:rPr lang="en-US" sz="2000" dirty="0">
                <a:latin typeface="Times New Roman" panose="02020603050405020304" pitchFamily="18" charset="0"/>
                <a:cs typeface="Times New Roman" panose="02020603050405020304" pitchFamily="18" charset="0"/>
              </a:rPr>
              <a:t>2. Parietal</a:t>
            </a:r>
          </a:p>
          <a:p>
            <a:pPr lvl="1" eaLnBrk="1" hangingPunct="1"/>
            <a:endParaRPr lang="en-US" sz="2000" dirty="0">
              <a:latin typeface="Times New Roman" panose="02020603050405020304" pitchFamily="18" charset="0"/>
              <a:cs typeface="Times New Roman" panose="02020603050405020304" pitchFamily="18" charset="0"/>
            </a:endParaRPr>
          </a:p>
          <a:p>
            <a:pPr lvl="1" eaLnBrk="1" hangingPunct="1">
              <a:buFont typeface="Wingdings" pitchFamily="2" charset="2"/>
              <a:buNone/>
            </a:pPr>
            <a:r>
              <a:rPr lang="en-US" sz="2000" dirty="0">
                <a:latin typeface="Times New Roman" panose="02020603050405020304" pitchFamily="18" charset="0"/>
                <a:cs typeface="Times New Roman" panose="02020603050405020304" pitchFamily="18" charset="0"/>
              </a:rPr>
              <a:t>3. Referred</a:t>
            </a:r>
          </a:p>
          <a:p>
            <a:pPr eaLnBrk="1" hangingPunct="1"/>
            <a:endParaRPr lang="en-US" dirty="0"/>
          </a:p>
          <a:p>
            <a:pPr eaLnBrk="1" hangingPunct="1"/>
            <a:endParaRPr lang="en-US" dirty="0"/>
          </a:p>
        </p:txBody>
      </p:sp>
      <p:sp>
        <p:nvSpPr>
          <p:cNvPr id="2" name="Date Placeholder 1">
            <a:extLst>
              <a:ext uri="{FF2B5EF4-FFF2-40B4-BE49-F238E27FC236}">
                <a16:creationId xmlns:a16="http://schemas.microsoft.com/office/drawing/2014/main" id="{76FC0017-1E53-F641-831C-946A864D3C51}"/>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ADFFD1FA-DC03-4A44-87F7-67A75F05D1B9}"/>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EC9DF820-2653-CC4F-836D-B85AD38D6B0C}"/>
              </a:ext>
            </a:extLst>
          </p:cNvPr>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3162075699"/>
      </p:ext>
    </p:extLst>
  </p:cSld>
  <p:clrMapOvr>
    <a:masterClrMapping/>
  </p:clrMapOvr>
  <p:transition>
    <p:pull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a:bodyPr>
          <a:lstStyle/>
          <a:p>
            <a:pPr eaLnBrk="1" hangingPunct="1"/>
            <a:r>
              <a:rPr lang="en-US" sz="2800" b="1" dirty="0">
                <a:latin typeface="Times New Roman" panose="02020603050405020304" pitchFamily="18" charset="0"/>
                <a:cs typeface="Times New Roman" panose="02020603050405020304" pitchFamily="18" charset="0"/>
              </a:rPr>
              <a:t>Visceral Pain</a:t>
            </a:r>
          </a:p>
        </p:txBody>
      </p:sp>
      <p:sp>
        <p:nvSpPr>
          <p:cNvPr id="4" name="Rectangle 3">
            <a:extLst>
              <a:ext uri="{FF2B5EF4-FFF2-40B4-BE49-F238E27FC236}">
                <a16:creationId xmlns:a16="http://schemas.microsoft.com/office/drawing/2014/main" id="{9AF24BAA-613C-704B-AC31-0FEA670A9C2C}"/>
              </a:ext>
            </a:extLst>
          </p:cNvPr>
          <p:cNvSpPr txBox="1">
            <a:spLocks noChangeArrowheads="1"/>
          </p:cNvSpPr>
          <p:nvPr/>
        </p:nvSpPr>
        <p:spPr>
          <a:xfrm>
            <a:off x="875778" y="155005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Due to stretching of fibers innervating the walls of hollow or solid organs.</a:t>
            </a:r>
          </a:p>
          <a:p>
            <a:endParaRPr lang="en-US" sz="2000">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It occurs early and poorly localized</a:t>
            </a:r>
          </a:p>
          <a:p>
            <a:endParaRPr lang="en-US" sz="2000">
              <a:latin typeface="Times New Roman" panose="02020603050405020304" pitchFamily="18" charset="0"/>
              <a:cs typeface="Times New Roman" panose="02020603050405020304" pitchFamily="18" charset="0"/>
            </a:endParaRPr>
          </a:p>
          <a:p>
            <a:r>
              <a:rPr lang="en-US" sz="2000">
                <a:latin typeface="Times New Roman" panose="02020603050405020304" pitchFamily="18" charset="0"/>
                <a:cs typeface="Times New Roman" panose="02020603050405020304" pitchFamily="18" charset="0"/>
              </a:rPr>
              <a:t>It can be due to early ischemia or inflammation.</a:t>
            </a:r>
          </a:p>
          <a:p>
            <a:endParaRPr lang="en-US"/>
          </a:p>
          <a:p>
            <a:endParaRPr lang="en-US" dirty="0"/>
          </a:p>
        </p:txBody>
      </p:sp>
      <p:sp>
        <p:nvSpPr>
          <p:cNvPr id="2" name="Date Placeholder 1">
            <a:extLst>
              <a:ext uri="{FF2B5EF4-FFF2-40B4-BE49-F238E27FC236}">
                <a16:creationId xmlns:a16="http://schemas.microsoft.com/office/drawing/2014/main" id="{F438E801-43F0-D249-8EF1-F0AFF6978845}"/>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FC4C6C10-3DE7-D840-937F-F23658A432E5}"/>
              </a:ext>
            </a:extLst>
          </p:cNvPr>
          <p:cNvSpPr>
            <a:spLocks noGrp="1"/>
          </p:cNvSpPr>
          <p:nvPr>
            <p:ph type="ftr" sz="quarter" idx="11"/>
          </p:nvPr>
        </p:nvSpPr>
        <p:spPr/>
        <p:txBody>
          <a:bodyPr/>
          <a:lstStyle/>
          <a:p>
            <a:r>
              <a:rPr lang="en-US"/>
              <a:t>Acute Abdomen</a:t>
            </a:r>
          </a:p>
        </p:txBody>
      </p:sp>
      <p:sp>
        <p:nvSpPr>
          <p:cNvPr id="5" name="Slide Number Placeholder 4">
            <a:extLst>
              <a:ext uri="{FF2B5EF4-FFF2-40B4-BE49-F238E27FC236}">
                <a16:creationId xmlns:a16="http://schemas.microsoft.com/office/drawing/2014/main" id="{DF0D3F3B-23D8-E442-85E5-D9E16E4D1601}"/>
              </a:ext>
            </a:extLst>
          </p:cNvPr>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3219786054"/>
      </p:ext>
    </p:extLst>
  </p:cSld>
  <p:clrMapOvr>
    <a:masterClrMapping/>
  </p:clrMapOvr>
  <p:transition>
    <p:pull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a:bodyPr>
          <a:lstStyle/>
          <a:p>
            <a:pPr eaLnBrk="1" hangingPunct="1"/>
            <a:r>
              <a:rPr lang="en-US" sz="2800" b="1" dirty="0">
                <a:latin typeface="Times New Roman" panose="02020603050405020304" pitchFamily="18" charset="0"/>
                <a:cs typeface="Times New Roman" panose="02020603050405020304" pitchFamily="18" charset="0"/>
              </a:rPr>
              <a:t>Parietal Pain</a:t>
            </a:r>
          </a:p>
        </p:txBody>
      </p:sp>
      <p:sp>
        <p:nvSpPr>
          <p:cNvPr id="12291" name="Rectangle 3"/>
          <p:cNvSpPr>
            <a:spLocks noGrp="1" noChangeArrowheads="1"/>
          </p:cNvSpPr>
          <p:nvPr>
            <p:ph idx="1"/>
          </p:nvPr>
        </p:nvSpPr>
        <p:spPr/>
        <p:txBody>
          <a:bodyPr/>
          <a:lstStyle/>
          <a:p>
            <a:pPr eaLnBrk="1" hangingPunct="1"/>
            <a:r>
              <a:rPr lang="en-US" sz="2000" dirty="0">
                <a:latin typeface="Times New Roman" panose="02020603050405020304" pitchFamily="18" charset="0"/>
                <a:cs typeface="Times New Roman" panose="02020603050405020304" pitchFamily="18" charset="0"/>
              </a:rPr>
              <a:t>Caused by irritation of parietal peritoneum fibers.</a:t>
            </a:r>
          </a:p>
          <a:p>
            <a:pPr eaLnBrk="1" hangingPunct="1"/>
            <a:endParaRPr lang="en-US" sz="2000" dirty="0">
              <a:latin typeface="Times New Roman" panose="02020603050405020304" pitchFamily="18" charset="0"/>
              <a:cs typeface="Times New Roman" panose="02020603050405020304" pitchFamily="18" charset="0"/>
            </a:endParaRPr>
          </a:p>
          <a:p>
            <a:pPr eaLnBrk="1" hangingPunct="1"/>
            <a:r>
              <a:rPr lang="en-US" sz="2000" dirty="0">
                <a:latin typeface="Times New Roman" panose="02020603050405020304" pitchFamily="18" charset="0"/>
                <a:cs typeface="Times New Roman" panose="02020603050405020304" pitchFamily="18" charset="0"/>
              </a:rPr>
              <a:t>It occurs late and better localized.</a:t>
            </a:r>
          </a:p>
          <a:p>
            <a:pPr eaLnBrk="1" hangingPunct="1"/>
            <a:endParaRPr lang="en-US" sz="2000" dirty="0">
              <a:latin typeface="Times New Roman" panose="02020603050405020304" pitchFamily="18" charset="0"/>
              <a:cs typeface="Times New Roman" panose="02020603050405020304" pitchFamily="18" charset="0"/>
            </a:endParaRPr>
          </a:p>
          <a:p>
            <a:pPr eaLnBrk="1" hangingPunct="1"/>
            <a:r>
              <a:rPr lang="en-US" sz="2000" dirty="0">
                <a:latin typeface="Times New Roman" panose="02020603050405020304" pitchFamily="18" charset="0"/>
                <a:cs typeface="Times New Roman" panose="02020603050405020304" pitchFamily="18" charset="0"/>
              </a:rPr>
              <a:t>Can be localized to a dermatome superficial to site of the painful stimulus.</a:t>
            </a:r>
          </a:p>
          <a:p>
            <a:pPr eaLnBrk="1" hangingPunct="1"/>
            <a:endParaRPr lang="en-US" dirty="0"/>
          </a:p>
        </p:txBody>
      </p:sp>
      <p:sp>
        <p:nvSpPr>
          <p:cNvPr id="2" name="Date Placeholder 1">
            <a:extLst>
              <a:ext uri="{FF2B5EF4-FFF2-40B4-BE49-F238E27FC236}">
                <a16:creationId xmlns:a16="http://schemas.microsoft.com/office/drawing/2014/main" id="{68D0C341-8128-B44C-8C17-A590BC0810E1}"/>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B6EEF3DC-BD99-E54E-AC7F-4373047560CA}"/>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AAE0095A-9480-EE45-ACC1-0B79CE586B66}"/>
              </a:ext>
            </a:extLst>
          </p:cNvPr>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660645925"/>
      </p:ext>
    </p:extLst>
  </p:cSld>
  <p:clrMapOvr>
    <a:masterClrMapping/>
  </p:clrMapOvr>
  <p:transition>
    <p:pull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a:bodyPr>
          <a:lstStyle/>
          <a:p>
            <a:pPr eaLnBrk="1" hangingPunct="1"/>
            <a:r>
              <a:rPr lang="en-US" sz="2800" b="1" dirty="0">
                <a:latin typeface="Times New Roman" panose="02020603050405020304" pitchFamily="18" charset="0"/>
                <a:cs typeface="Times New Roman" panose="02020603050405020304" pitchFamily="18" charset="0"/>
              </a:rPr>
              <a:t>Referred Pain</a:t>
            </a:r>
          </a:p>
        </p:txBody>
      </p:sp>
      <p:sp>
        <p:nvSpPr>
          <p:cNvPr id="13315" name="Rectangle 3"/>
          <p:cNvSpPr>
            <a:spLocks noGrp="1" noChangeArrowheads="1"/>
          </p:cNvSpPr>
          <p:nvPr>
            <p:ph idx="1"/>
          </p:nvPr>
        </p:nvSpPr>
        <p:spPr/>
        <p:txBody>
          <a:bodyPr/>
          <a:lstStyle/>
          <a:p>
            <a:pPr eaLnBrk="1" hangingPunct="1"/>
            <a:r>
              <a:rPr lang="en-US" sz="2000" dirty="0">
                <a:latin typeface="Times New Roman" panose="02020603050405020304" pitchFamily="18" charset="0"/>
                <a:cs typeface="Times New Roman" panose="02020603050405020304" pitchFamily="18" charset="0"/>
              </a:rPr>
              <a:t>Pain is felt at a site away from the pathological organ.</a:t>
            </a:r>
          </a:p>
          <a:p>
            <a:pPr eaLnBrk="1" hangingPunct="1"/>
            <a:endParaRPr lang="en-US" sz="2000" dirty="0">
              <a:latin typeface="Times New Roman" panose="02020603050405020304" pitchFamily="18" charset="0"/>
              <a:cs typeface="Times New Roman" panose="02020603050405020304" pitchFamily="18" charset="0"/>
            </a:endParaRPr>
          </a:p>
          <a:p>
            <a:pPr eaLnBrk="1" hangingPunct="1"/>
            <a:r>
              <a:rPr lang="en-US" sz="2000" dirty="0">
                <a:latin typeface="Times New Roman" panose="02020603050405020304" pitchFamily="18" charset="0"/>
                <a:cs typeface="Times New Roman" panose="02020603050405020304" pitchFamily="18" charset="0"/>
              </a:rPr>
              <a:t>Pain is usually ipsilateral to the involved organ and is felt midline if pathology is midline.</a:t>
            </a:r>
          </a:p>
          <a:p>
            <a:pPr eaLnBrk="1" hangingPunct="1"/>
            <a:endParaRPr lang="en-US" sz="2000" dirty="0">
              <a:latin typeface="Times New Roman" panose="02020603050405020304" pitchFamily="18" charset="0"/>
              <a:cs typeface="Times New Roman" panose="02020603050405020304" pitchFamily="18" charset="0"/>
            </a:endParaRPr>
          </a:p>
          <a:p>
            <a:pPr eaLnBrk="1" hangingPunct="1"/>
            <a:r>
              <a:rPr lang="en-US" sz="2000" dirty="0">
                <a:latin typeface="Times New Roman" panose="02020603050405020304" pitchFamily="18" charset="0"/>
                <a:cs typeface="Times New Roman" panose="02020603050405020304" pitchFamily="18" charset="0"/>
              </a:rPr>
              <a:t>Pattern based on developmental embryology.</a:t>
            </a:r>
          </a:p>
          <a:p>
            <a:pPr eaLnBrk="1" hangingPunct="1"/>
            <a:endParaRPr lang="en-US" dirty="0"/>
          </a:p>
          <a:p>
            <a:pPr eaLnBrk="1" hangingPunct="1"/>
            <a:endParaRPr lang="en-US" dirty="0"/>
          </a:p>
          <a:p>
            <a:pPr eaLnBrk="1" hangingPunct="1"/>
            <a:endParaRPr lang="en-US" dirty="0"/>
          </a:p>
        </p:txBody>
      </p:sp>
      <p:sp>
        <p:nvSpPr>
          <p:cNvPr id="2" name="Date Placeholder 1">
            <a:extLst>
              <a:ext uri="{FF2B5EF4-FFF2-40B4-BE49-F238E27FC236}">
                <a16:creationId xmlns:a16="http://schemas.microsoft.com/office/drawing/2014/main" id="{15701002-FFC1-364D-95DF-97798C8DCFB5}"/>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54F60032-87B7-1D43-96D2-4AE5B7AFC178}"/>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D8CCC73D-7DD2-E743-BB11-D493C40A65C1}"/>
              </a:ext>
            </a:extLst>
          </p:cNvPr>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1671190368"/>
      </p:ext>
    </p:extLst>
  </p:cSld>
  <p:clrMapOvr>
    <a:masterClrMapping/>
  </p:clrMapOvr>
  <p:transition>
    <p:pull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D3CDB2-E80C-A94D-894A-7587FD84BB16}"/>
              </a:ext>
            </a:extLst>
          </p:cNvPr>
          <p:cNvPicPr>
            <a:picLocks noChangeAspect="1" noChangeArrowheads="1"/>
          </p:cNvPicPr>
          <p:nvPr/>
        </p:nvPicPr>
        <p:blipFill>
          <a:blip r:embed="rId2"/>
          <a:srcRect/>
          <a:stretch>
            <a:fillRect/>
          </a:stretch>
        </p:blipFill>
        <p:spPr bwMode="auto">
          <a:xfrm>
            <a:off x="6535455" y="623170"/>
            <a:ext cx="5334000" cy="5791200"/>
          </a:xfrm>
          <a:prstGeom prst="rect">
            <a:avLst/>
          </a:prstGeom>
          <a:noFill/>
          <a:ln w="9525">
            <a:noFill/>
            <a:miter lim="800000"/>
            <a:headEnd/>
            <a:tailEnd/>
          </a:ln>
        </p:spPr>
      </p:pic>
      <p:pic>
        <p:nvPicPr>
          <p:cNvPr id="5" name="Picture 4">
            <a:extLst>
              <a:ext uri="{FF2B5EF4-FFF2-40B4-BE49-F238E27FC236}">
                <a16:creationId xmlns:a16="http://schemas.microsoft.com/office/drawing/2014/main" id="{15BC37E5-E51E-854F-9480-881A6A1F4090}"/>
              </a:ext>
            </a:extLst>
          </p:cNvPr>
          <p:cNvPicPr>
            <a:picLocks noChangeAspect="1"/>
          </p:cNvPicPr>
          <p:nvPr/>
        </p:nvPicPr>
        <p:blipFill rotWithShape="1">
          <a:blip r:embed="rId3">
            <a:extLst>
              <a:ext uri="{28A0092B-C50C-407E-A947-70E740481C1C}">
                <a14:useLocalDpi xmlns:a14="http://schemas.microsoft.com/office/drawing/2010/main" val="0"/>
              </a:ext>
            </a:extLst>
          </a:blip>
          <a:srcRect l="28083" t="21735" r="1952"/>
          <a:stretch/>
        </p:blipFill>
        <p:spPr>
          <a:xfrm>
            <a:off x="37578" y="79090"/>
            <a:ext cx="5987441" cy="6716280"/>
          </a:xfrm>
          <a:prstGeom prst="rect">
            <a:avLst/>
          </a:prstGeom>
        </p:spPr>
      </p:pic>
      <p:sp>
        <p:nvSpPr>
          <p:cNvPr id="2" name="Date Placeholder 1">
            <a:extLst>
              <a:ext uri="{FF2B5EF4-FFF2-40B4-BE49-F238E27FC236}">
                <a16:creationId xmlns:a16="http://schemas.microsoft.com/office/drawing/2014/main" id="{8C412522-013D-3547-BC8B-E5CA9BCF5CD4}"/>
              </a:ext>
            </a:extLst>
          </p:cNvPr>
          <p:cNvSpPr>
            <a:spLocks noGrp="1"/>
          </p:cNvSpPr>
          <p:nvPr>
            <p:ph type="dt" sz="half" idx="10"/>
          </p:nvPr>
        </p:nvSpPr>
        <p:spPr/>
        <p:txBody>
          <a:bodyPr/>
          <a:lstStyle/>
          <a:p>
            <a:r>
              <a:rPr lang="en-CA"/>
              <a:t>6/28/24</a:t>
            </a:r>
            <a:endParaRPr lang="en-US"/>
          </a:p>
        </p:txBody>
      </p:sp>
      <p:sp>
        <p:nvSpPr>
          <p:cNvPr id="4" name="Footer Placeholder 3">
            <a:extLst>
              <a:ext uri="{FF2B5EF4-FFF2-40B4-BE49-F238E27FC236}">
                <a16:creationId xmlns:a16="http://schemas.microsoft.com/office/drawing/2014/main" id="{25B4B9AE-27FC-5640-88C7-18607E683508}"/>
              </a:ext>
            </a:extLst>
          </p:cNvPr>
          <p:cNvSpPr>
            <a:spLocks noGrp="1"/>
          </p:cNvSpPr>
          <p:nvPr>
            <p:ph type="ftr" sz="quarter" idx="11"/>
          </p:nvPr>
        </p:nvSpPr>
        <p:spPr/>
        <p:txBody>
          <a:bodyPr/>
          <a:lstStyle/>
          <a:p>
            <a:r>
              <a:rPr lang="en-US"/>
              <a:t>Acute Abdomen</a:t>
            </a:r>
          </a:p>
        </p:txBody>
      </p:sp>
      <p:sp>
        <p:nvSpPr>
          <p:cNvPr id="6" name="Slide Number Placeholder 5">
            <a:extLst>
              <a:ext uri="{FF2B5EF4-FFF2-40B4-BE49-F238E27FC236}">
                <a16:creationId xmlns:a16="http://schemas.microsoft.com/office/drawing/2014/main" id="{27DDD391-EF7F-AC4E-B204-5F8C3FA88EC7}"/>
              </a:ext>
            </a:extLst>
          </p:cNvPr>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354525081"/>
      </p:ext>
    </p:extLst>
  </p:cSld>
  <p:clrMapOvr>
    <a:masterClrMapping/>
  </p:clrMapOvr>
  <p:transition>
    <p:pull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685800" y="152400"/>
            <a:ext cx="10363200" cy="625475"/>
          </a:xfrm>
        </p:spPr>
        <p:txBody>
          <a:bodyPr>
            <a:normAutofit/>
          </a:bodyPr>
          <a:lstStyle/>
          <a:p>
            <a:r>
              <a:rPr lang="en-US" sz="2800" b="1" dirty="0">
                <a:latin typeface="Times New Roman" panose="02020603050405020304" pitchFamily="18" charset="0"/>
                <a:cs typeface="Times New Roman" panose="02020603050405020304" pitchFamily="18" charset="0"/>
              </a:rPr>
              <a:t>Referred Pain Locations</a:t>
            </a:r>
          </a:p>
        </p:txBody>
      </p:sp>
      <p:pic>
        <p:nvPicPr>
          <p:cNvPr id="2" name="Picture 1">
            <a:extLst>
              <a:ext uri="{FF2B5EF4-FFF2-40B4-BE49-F238E27FC236}">
                <a16:creationId xmlns:a16="http://schemas.microsoft.com/office/drawing/2014/main" id="{A83BC353-215A-0B41-91F9-36D68C289760}"/>
              </a:ext>
            </a:extLst>
          </p:cNvPr>
          <p:cNvPicPr>
            <a:picLocks noChangeAspect="1"/>
          </p:cNvPicPr>
          <p:nvPr/>
        </p:nvPicPr>
        <p:blipFill>
          <a:blip r:embed="rId2"/>
          <a:stretch>
            <a:fillRect/>
          </a:stretch>
        </p:blipFill>
        <p:spPr>
          <a:xfrm>
            <a:off x="4482230" y="783094"/>
            <a:ext cx="7696200" cy="5994400"/>
          </a:xfrm>
          <a:prstGeom prst="rect">
            <a:avLst/>
          </a:prstGeom>
        </p:spPr>
      </p:pic>
      <p:sp>
        <p:nvSpPr>
          <p:cNvPr id="3" name="TextBox 2">
            <a:extLst>
              <a:ext uri="{FF2B5EF4-FFF2-40B4-BE49-F238E27FC236}">
                <a16:creationId xmlns:a16="http://schemas.microsoft.com/office/drawing/2014/main" id="{CEE7F0AB-F705-A64F-B57D-3D418DA5FFF7}"/>
              </a:ext>
            </a:extLst>
          </p:cNvPr>
          <p:cNvSpPr txBox="1"/>
          <p:nvPr/>
        </p:nvSpPr>
        <p:spPr>
          <a:xfrm>
            <a:off x="381000" y="1447800"/>
            <a:ext cx="3770334" cy="3268652"/>
          </a:xfrm>
          <a:prstGeom prst="rect">
            <a:avLst/>
          </a:prstGeom>
          <a:noFill/>
        </p:spPr>
        <p:txBody>
          <a:bodyPr wrap="square" rtlCol="0">
            <a:spAutoFit/>
          </a:bodyPr>
          <a:lstStyle/>
          <a:p>
            <a:pPr>
              <a:lnSpc>
                <a:spcPct val="150000"/>
              </a:lnSpc>
            </a:pPr>
            <a:r>
              <a:rPr lang="en-CA" sz="2000" dirty="0">
                <a:latin typeface="Times New Roman" panose="02020603050405020304" pitchFamily="18" charset="0"/>
                <a:cs typeface="Times New Roman" panose="02020603050405020304" pitchFamily="18" charset="0"/>
              </a:rPr>
              <a:t>Referred pain is usually located in the cutaneous dermatomes sharing the same spinal cord level as the visceral inputs. </a:t>
            </a:r>
          </a:p>
          <a:p>
            <a:pPr>
              <a:lnSpc>
                <a:spcPct val="150000"/>
              </a:lnSpc>
            </a:pPr>
            <a:r>
              <a:rPr lang="en-CA" sz="2000" dirty="0">
                <a:latin typeface="Times New Roman" panose="02020603050405020304" pitchFamily="18" charset="0"/>
                <a:cs typeface="Times New Roman" panose="02020603050405020304" pitchFamily="18" charset="0"/>
              </a:rPr>
              <a:t>As an example, nociceptive inputs from the gallbladder enter the spinal cord at T5 to T10.  </a:t>
            </a:r>
            <a:endParaRPr lang="en-US"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03DE747-A22F-6B4C-8899-C13B8A438B7E}"/>
              </a:ext>
            </a:extLst>
          </p:cNvPr>
          <p:cNvSpPr>
            <a:spLocks noGrp="1"/>
          </p:cNvSpPr>
          <p:nvPr>
            <p:ph type="dt" sz="half" idx="10"/>
          </p:nvPr>
        </p:nvSpPr>
        <p:spPr/>
        <p:txBody>
          <a:bodyPr/>
          <a:lstStyle/>
          <a:p>
            <a:r>
              <a:rPr lang="en-CA"/>
              <a:t>6/28/24</a:t>
            </a:r>
            <a:endParaRPr lang="en-US"/>
          </a:p>
        </p:txBody>
      </p:sp>
      <p:sp>
        <p:nvSpPr>
          <p:cNvPr id="5" name="Footer Placeholder 4">
            <a:extLst>
              <a:ext uri="{FF2B5EF4-FFF2-40B4-BE49-F238E27FC236}">
                <a16:creationId xmlns:a16="http://schemas.microsoft.com/office/drawing/2014/main" id="{E54D7795-9956-F947-AB37-CDF01C4B727B}"/>
              </a:ext>
            </a:extLst>
          </p:cNvPr>
          <p:cNvSpPr>
            <a:spLocks noGrp="1"/>
          </p:cNvSpPr>
          <p:nvPr>
            <p:ph type="ftr" sz="quarter" idx="11"/>
          </p:nvPr>
        </p:nvSpPr>
        <p:spPr/>
        <p:txBody>
          <a:bodyPr/>
          <a:lstStyle/>
          <a:p>
            <a:r>
              <a:rPr lang="en-US"/>
              <a:t>Acute Abdomen</a:t>
            </a:r>
          </a:p>
        </p:txBody>
      </p:sp>
      <p:sp>
        <p:nvSpPr>
          <p:cNvPr id="6" name="Slide Number Placeholder 5">
            <a:extLst>
              <a:ext uri="{FF2B5EF4-FFF2-40B4-BE49-F238E27FC236}">
                <a16:creationId xmlns:a16="http://schemas.microsoft.com/office/drawing/2014/main" id="{989DA320-CE75-8C46-AB37-08B1C169C52B}"/>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32253663"/>
      </p:ext>
    </p:extLst>
  </p:cSld>
  <p:clrMapOvr>
    <a:masterClrMapping/>
  </p:clrMapOvr>
  <p:transition>
    <p:pull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xfrm>
            <a:off x="838200" y="1066800"/>
            <a:ext cx="10515600" cy="4351338"/>
          </a:xfrm>
        </p:spPr>
        <p:txBody>
          <a:bodyPr>
            <a:normAutofit/>
          </a:bodyPr>
          <a:lstStyle/>
          <a:p>
            <a:pPr eaLnBrk="1" hangingPunct="1">
              <a:lnSpc>
                <a:spcPct val="150000"/>
              </a:lnSpc>
              <a:buFont typeface="Wingdings" pitchFamily="2" charset="2"/>
              <a:buChar char="Ø"/>
            </a:pPr>
            <a:r>
              <a:rPr lang="en-US" sz="2000" b="1" dirty="0">
                <a:latin typeface="Times New Roman" panose="02020603050405020304" pitchFamily="18" charset="0"/>
                <a:cs typeface="Times New Roman" panose="02020603050405020304" pitchFamily="18" charset="0"/>
              </a:rPr>
              <a:t>Two approaches to evaluate pts with acute abdominal pain:</a:t>
            </a:r>
          </a:p>
          <a:p>
            <a:pPr lvl="1" eaLnBrk="1" hangingPunct="1">
              <a:lnSpc>
                <a:spcPct val="150000"/>
              </a:lnSpc>
            </a:pPr>
            <a:r>
              <a:rPr lang="en-US" sz="2000" dirty="0">
                <a:latin typeface="Times New Roman" panose="02020603050405020304" pitchFamily="18" charset="0"/>
                <a:cs typeface="Times New Roman" panose="02020603050405020304" pitchFamily="18" charset="0"/>
              </a:rPr>
              <a:t>Classification of Abd pain into systems</a:t>
            </a:r>
          </a:p>
          <a:p>
            <a:pPr lvl="1" eaLnBrk="1" hangingPunct="1">
              <a:lnSpc>
                <a:spcPct val="150000"/>
              </a:lnSpc>
            </a:pPr>
            <a:r>
              <a:rPr lang="en-US" sz="2000" dirty="0">
                <a:latin typeface="Times New Roman" panose="02020603050405020304" pitchFamily="18" charset="0"/>
                <a:cs typeface="Times New Roman" panose="02020603050405020304" pitchFamily="18" charset="0"/>
              </a:rPr>
              <a:t>Abdominal Topography (4 quadrants)</a:t>
            </a:r>
          </a:p>
        </p:txBody>
      </p:sp>
      <p:sp>
        <p:nvSpPr>
          <p:cNvPr id="2" name="Date Placeholder 1">
            <a:extLst>
              <a:ext uri="{FF2B5EF4-FFF2-40B4-BE49-F238E27FC236}">
                <a16:creationId xmlns:a16="http://schemas.microsoft.com/office/drawing/2014/main" id="{41156941-A102-2A4E-9714-3E79D3303C3A}"/>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008EE34F-9A74-1643-84ED-6B50099F5DCE}"/>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E3B932AE-C97E-834B-BD83-316F8D0A3E42}"/>
              </a:ext>
            </a:extLst>
          </p:cNvPr>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3777655483"/>
      </p:ext>
    </p:extLst>
  </p:cSld>
  <p:clrMapOvr>
    <a:masterClrMapping/>
  </p:clrMapOvr>
  <p:transition>
    <p:pull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E5C8804B-7A6A-674C-9353-19505DC5D787}"/>
              </a:ext>
            </a:extLst>
          </p:cNvPr>
          <p:cNvSpPr txBox="1">
            <a:spLocks noChangeArrowheads="1"/>
          </p:cNvSpPr>
          <p:nvPr/>
        </p:nvSpPr>
        <p:spPr>
          <a:xfrm>
            <a:off x="587679" y="598074"/>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lang="en-US" sz="2000" b="1" dirty="0">
                <a:latin typeface="Times New Roman" panose="02020603050405020304" pitchFamily="18" charset="0"/>
                <a:cs typeface="Times New Roman" panose="02020603050405020304" pitchFamily="18" charset="0"/>
              </a:rPr>
              <a:t>Three main categories of abdominal pain:</a:t>
            </a:r>
          </a:p>
          <a:p>
            <a:pPr lvl="1">
              <a:lnSpc>
                <a:spcPct val="150000"/>
              </a:lnSpc>
            </a:pPr>
            <a:r>
              <a:rPr lang="en-US" sz="2000" b="1" dirty="0">
                <a:latin typeface="Times New Roman" panose="02020603050405020304" pitchFamily="18" charset="0"/>
                <a:cs typeface="Times New Roman" panose="02020603050405020304" pitchFamily="18" charset="0"/>
              </a:rPr>
              <a:t>Classification of Abd pain into systems</a:t>
            </a:r>
          </a:p>
          <a:p>
            <a:pPr lvl="1">
              <a:lnSpc>
                <a:spcPct val="150000"/>
              </a:lnSpc>
              <a:buFont typeface="Wingdings" pitchFamily="2" charset="2"/>
              <a:buNone/>
            </a:pPr>
            <a:r>
              <a:rPr lang="en-US" sz="2000" i="1" dirty="0">
                <a:latin typeface="Times New Roman" panose="02020603050405020304" pitchFamily="18" charset="0"/>
                <a:cs typeface="Times New Roman" panose="02020603050405020304" pitchFamily="18" charset="0"/>
              </a:rPr>
              <a:t>1. Intra-abdominal (arising from within the </a:t>
            </a:r>
            <a:r>
              <a:rPr lang="en-US" sz="2000" i="1" dirty="0" err="1">
                <a:latin typeface="Times New Roman" panose="02020603050405020304" pitchFamily="18" charset="0"/>
                <a:cs typeface="Times New Roman" panose="02020603050405020304" pitchFamily="18" charset="0"/>
              </a:rPr>
              <a:t>abd</a:t>
            </a:r>
            <a:r>
              <a:rPr lang="en-US" sz="2000" i="1" dirty="0">
                <a:latin typeface="Times New Roman" panose="02020603050405020304" pitchFamily="18" charset="0"/>
                <a:cs typeface="Times New Roman" panose="02020603050405020304" pitchFamily="18" charset="0"/>
              </a:rPr>
              <a:t> cavity / retroperitoneum) involves:</a:t>
            </a:r>
          </a:p>
          <a:p>
            <a:pPr lvl="2">
              <a:lnSpc>
                <a:spcPct val="150000"/>
              </a:lnSpc>
            </a:pPr>
            <a:r>
              <a:rPr lang="en-US" dirty="0">
                <a:latin typeface="Times New Roman" panose="02020603050405020304" pitchFamily="18" charset="0"/>
                <a:cs typeface="Times New Roman" panose="02020603050405020304" pitchFamily="18" charset="0"/>
              </a:rPr>
              <a:t>GI (Appendicitis, PUD, Intestinal obstruction)</a:t>
            </a:r>
          </a:p>
          <a:p>
            <a:pPr lvl="2">
              <a:lnSpc>
                <a:spcPct val="150000"/>
              </a:lnSpc>
            </a:pPr>
            <a:r>
              <a:rPr lang="en-US" dirty="0">
                <a:latin typeface="Times New Roman" panose="02020603050405020304" pitchFamily="18" charset="0"/>
                <a:cs typeface="Times New Roman" panose="02020603050405020304" pitchFamily="18" charset="0"/>
              </a:rPr>
              <a:t>GU (Renal Colic)</a:t>
            </a:r>
          </a:p>
          <a:p>
            <a:pPr lvl="2">
              <a:lnSpc>
                <a:spcPct val="150000"/>
              </a:lnSpc>
            </a:pPr>
            <a:r>
              <a:rPr lang="en-US" dirty="0" err="1">
                <a:latin typeface="Times New Roman" panose="02020603050405020304" pitchFamily="18" charset="0"/>
                <a:cs typeface="Times New Roman" panose="02020603050405020304" pitchFamily="18" charset="0"/>
              </a:rPr>
              <a:t>Gyn</a:t>
            </a:r>
            <a:r>
              <a:rPr lang="en-US" dirty="0">
                <a:latin typeface="Times New Roman" panose="02020603050405020304" pitchFamily="18" charset="0"/>
                <a:cs typeface="Times New Roman" panose="02020603050405020304" pitchFamily="18" charset="0"/>
              </a:rPr>
              <a:t> (Acute PID, Ectopic Pregnancy)</a:t>
            </a:r>
          </a:p>
          <a:p>
            <a:pPr lvl="2">
              <a:lnSpc>
                <a:spcPct val="150000"/>
              </a:lnSpc>
            </a:pPr>
            <a:r>
              <a:rPr lang="en-US" dirty="0">
                <a:latin typeface="Times New Roman" panose="02020603050405020304" pitchFamily="18" charset="0"/>
                <a:cs typeface="Times New Roman" panose="02020603050405020304" pitchFamily="18" charset="0"/>
              </a:rPr>
              <a:t>Vascular systems (AAA, Mesenteric Ischemia)</a:t>
            </a:r>
          </a:p>
          <a:p>
            <a:pPr lvl="1"/>
            <a:endParaRPr lang="en-US" dirty="0"/>
          </a:p>
          <a:p>
            <a:pPr lvl="2"/>
            <a:endParaRPr lang="en-US" dirty="0"/>
          </a:p>
        </p:txBody>
      </p:sp>
      <p:sp>
        <p:nvSpPr>
          <p:cNvPr id="2" name="Date Placeholder 1">
            <a:extLst>
              <a:ext uri="{FF2B5EF4-FFF2-40B4-BE49-F238E27FC236}">
                <a16:creationId xmlns:a16="http://schemas.microsoft.com/office/drawing/2014/main" id="{0DC772C5-EC4F-F546-B969-E46CF09AFA16}"/>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7F6592E8-4B74-4548-BBDC-2D1A742744CF}"/>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E61A1878-E470-8A4C-A70B-4AEEF1561CFE}"/>
              </a:ext>
            </a:extLst>
          </p:cNvPr>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2867621682"/>
      </p:ext>
    </p:extLst>
  </p:cSld>
  <p:clrMapOvr>
    <a:masterClrMapping/>
  </p:clrMapOvr>
  <p:transition>
    <p:pull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idx="1"/>
          </p:nvPr>
        </p:nvSpPr>
        <p:spPr>
          <a:xfrm>
            <a:off x="463463" y="764088"/>
            <a:ext cx="10890337" cy="5412875"/>
          </a:xfrm>
        </p:spPr>
        <p:txBody>
          <a:bodyPr>
            <a:normAutofit/>
          </a:bodyPr>
          <a:lstStyle/>
          <a:p>
            <a:pPr lvl="1" eaLnBrk="1" hangingPunct="1">
              <a:lnSpc>
                <a:spcPct val="150000"/>
              </a:lnSpc>
              <a:buFont typeface="Wingdings" pitchFamily="2" charset="2"/>
              <a:buNone/>
            </a:pPr>
            <a:r>
              <a:rPr lang="en-US" sz="2000" i="1" dirty="0">
                <a:latin typeface="Times New Roman" panose="02020603050405020304" pitchFamily="18" charset="0"/>
                <a:cs typeface="Times New Roman" panose="02020603050405020304" pitchFamily="18" charset="0"/>
              </a:rPr>
              <a:t>2. Extra-abdominal (less common) involves:</a:t>
            </a:r>
          </a:p>
          <a:p>
            <a:pPr lvl="2" eaLnBrk="1" hangingPunct="1">
              <a:lnSpc>
                <a:spcPct val="150000"/>
              </a:lnSpc>
            </a:pPr>
            <a:r>
              <a:rPr lang="en-US" dirty="0">
                <a:latin typeface="Times New Roman" panose="02020603050405020304" pitchFamily="18" charset="0"/>
                <a:cs typeface="Times New Roman" panose="02020603050405020304" pitchFamily="18" charset="0"/>
              </a:rPr>
              <a:t>Cardiopulmonary (AMI)</a:t>
            </a:r>
          </a:p>
          <a:p>
            <a:pPr lvl="2" eaLnBrk="1" hangingPunct="1">
              <a:lnSpc>
                <a:spcPct val="150000"/>
              </a:lnSpc>
            </a:pPr>
            <a:r>
              <a:rPr lang="en-US" dirty="0">
                <a:latin typeface="Times New Roman" panose="02020603050405020304" pitchFamily="18" charset="0"/>
                <a:cs typeface="Times New Roman" panose="02020603050405020304" pitchFamily="18" charset="0"/>
              </a:rPr>
              <a:t>Abdominal wall (Hernia, Zoster)</a:t>
            </a:r>
          </a:p>
          <a:p>
            <a:pPr lvl="2" eaLnBrk="1" hangingPunct="1">
              <a:lnSpc>
                <a:spcPct val="150000"/>
              </a:lnSpc>
            </a:pPr>
            <a:r>
              <a:rPr lang="en-US" dirty="0">
                <a:latin typeface="Times New Roman" panose="02020603050405020304" pitchFamily="18" charset="0"/>
                <a:cs typeface="Times New Roman" panose="02020603050405020304" pitchFamily="18" charset="0"/>
              </a:rPr>
              <a:t>Toxic-metabolic (DKA, OD, Heavy metal poising)</a:t>
            </a:r>
          </a:p>
          <a:p>
            <a:pPr lvl="2" eaLnBrk="1" hangingPunct="1">
              <a:lnSpc>
                <a:spcPct val="150000"/>
              </a:lnSpc>
            </a:pPr>
            <a:r>
              <a:rPr lang="en-US" dirty="0">
                <a:latin typeface="Times New Roman" panose="02020603050405020304" pitchFamily="18" charset="0"/>
                <a:cs typeface="Times New Roman" panose="02020603050405020304" pitchFamily="18" charset="0"/>
              </a:rPr>
              <a:t>Neurogenic pain (Zoster)</a:t>
            </a:r>
          </a:p>
          <a:p>
            <a:pPr lvl="2" eaLnBrk="1" hangingPunct="1">
              <a:lnSpc>
                <a:spcPct val="150000"/>
              </a:lnSpc>
            </a:pPr>
            <a:r>
              <a:rPr lang="en-US" dirty="0">
                <a:latin typeface="Times New Roman" panose="02020603050405020304" pitchFamily="18" charset="0"/>
                <a:cs typeface="Times New Roman" panose="02020603050405020304" pitchFamily="18" charset="0"/>
              </a:rPr>
              <a:t>Psychic (Anxiety, Depression)</a:t>
            </a:r>
          </a:p>
        </p:txBody>
      </p:sp>
      <p:sp>
        <p:nvSpPr>
          <p:cNvPr id="2" name="Date Placeholder 1">
            <a:extLst>
              <a:ext uri="{FF2B5EF4-FFF2-40B4-BE49-F238E27FC236}">
                <a16:creationId xmlns:a16="http://schemas.microsoft.com/office/drawing/2014/main" id="{FF61C182-1363-AD4B-9955-9AB039167484}"/>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85B40FE4-B4CB-DE4F-B48A-6F331C46F4E2}"/>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B48D4091-60DC-0745-8286-764F113C57F3}"/>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3870333841"/>
      </p:ext>
    </p:extLst>
  </p:cSld>
  <p:clrMapOvr>
    <a:masterClrMapping/>
  </p:clrMapOvr>
  <p:transition>
    <p:pull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CA8039F5-73F0-DB4A-BBF4-9496B33483C2}"/>
              </a:ext>
            </a:extLst>
          </p:cNvPr>
          <p:cNvSpPr txBox="1">
            <a:spLocks/>
          </p:cNvSpPr>
          <p:nvPr/>
        </p:nvSpPr>
        <p:spPr>
          <a:xfrm>
            <a:off x="175365" y="338203"/>
            <a:ext cx="11003071" cy="7637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Abdominal Topography (4 quadrants)</a:t>
            </a:r>
            <a:endParaRPr lang="en-US" sz="2000" b="1" dirty="0"/>
          </a:p>
        </p:txBody>
      </p:sp>
      <p:pic>
        <p:nvPicPr>
          <p:cNvPr id="14" name="Picture 13">
            <a:extLst>
              <a:ext uri="{FF2B5EF4-FFF2-40B4-BE49-F238E27FC236}">
                <a16:creationId xmlns:a16="http://schemas.microsoft.com/office/drawing/2014/main" id="{9359E9E6-5510-DB43-938E-594B72A0680A}"/>
              </a:ext>
            </a:extLst>
          </p:cNvPr>
          <p:cNvPicPr>
            <a:picLocks noChangeAspect="1"/>
          </p:cNvPicPr>
          <p:nvPr/>
        </p:nvPicPr>
        <p:blipFill rotWithShape="1">
          <a:blip r:embed="rId2">
            <a:extLst>
              <a:ext uri="{28A0092B-C50C-407E-A947-70E740481C1C}">
                <a14:useLocalDpi xmlns:a14="http://schemas.microsoft.com/office/drawing/2010/main" val="0"/>
              </a:ext>
            </a:extLst>
          </a:blip>
          <a:srcRect t="11951"/>
          <a:stretch/>
        </p:blipFill>
        <p:spPr>
          <a:xfrm>
            <a:off x="5511452" y="80998"/>
            <a:ext cx="6146104" cy="6764476"/>
          </a:xfrm>
          <a:prstGeom prst="rect">
            <a:avLst/>
          </a:prstGeom>
        </p:spPr>
      </p:pic>
      <p:sp>
        <p:nvSpPr>
          <p:cNvPr id="2" name="Date Placeholder 1">
            <a:extLst>
              <a:ext uri="{FF2B5EF4-FFF2-40B4-BE49-F238E27FC236}">
                <a16:creationId xmlns:a16="http://schemas.microsoft.com/office/drawing/2014/main" id="{E8C6DBE8-3100-B946-9FA6-9FE3EA4AFA66}"/>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D6A976BB-71EE-B943-A4D1-2B29FD6313E5}"/>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BCC83CC5-B1F0-F14E-A4D7-EC6248844FAD}"/>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4027651728"/>
      </p:ext>
    </p:extLst>
  </p:cSld>
  <p:clrMapOvr>
    <a:masterClrMapping/>
  </p:clrMapOvr>
  <p:transition>
    <p:pull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814192" y="365125"/>
            <a:ext cx="10539608" cy="599379"/>
          </a:xfrm>
        </p:spPr>
        <p:txBody>
          <a:bodyPr>
            <a:normAutofit/>
          </a:bodyPr>
          <a:lstStyle/>
          <a:p>
            <a:r>
              <a:rPr lang="en-US" altLang="zh-TW" sz="2800" b="1" dirty="0">
                <a:latin typeface="Times New Roman" panose="02020603050405020304" pitchFamily="18" charset="0"/>
                <a:cs typeface="Times New Roman" panose="02020603050405020304" pitchFamily="18" charset="0"/>
              </a:rPr>
              <a:t>Approach to patient with abdominal pain</a:t>
            </a:r>
          </a:p>
        </p:txBody>
      </p:sp>
      <p:sp>
        <p:nvSpPr>
          <p:cNvPr id="5123" name="Rectangle 3"/>
          <p:cNvSpPr>
            <a:spLocks noGrp="1" noChangeArrowheads="1"/>
          </p:cNvSpPr>
          <p:nvPr>
            <p:ph idx="1"/>
          </p:nvPr>
        </p:nvSpPr>
        <p:spPr>
          <a:xfrm>
            <a:off x="651353" y="1252603"/>
            <a:ext cx="11160691" cy="5085567"/>
          </a:xfrm>
        </p:spPr>
        <p:txBody>
          <a:bodyPr>
            <a:normAutofit/>
          </a:bodyPr>
          <a:lstStyle/>
          <a:p>
            <a:pPr marL="0" indent="0">
              <a:lnSpc>
                <a:spcPct val="150000"/>
              </a:lnSpc>
              <a:buNone/>
              <a:defRPr/>
            </a:pPr>
            <a:r>
              <a:rPr lang="en-US" altLang="zh-TW" sz="2000" b="1" dirty="0">
                <a:latin typeface="Times New Roman" panose="02020603050405020304" pitchFamily="18" charset="0"/>
                <a:cs typeface="Times New Roman" panose="02020603050405020304" pitchFamily="18" charset="0"/>
              </a:rPr>
              <a:t>General principle</a:t>
            </a:r>
          </a:p>
          <a:p>
            <a:pPr>
              <a:lnSpc>
                <a:spcPct val="150000"/>
              </a:lnSpc>
              <a:defRPr/>
            </a:pPr>
            <a:r>
              <a:rPr lang="en-US" altLang="zh-TW" sz="2000" dirty="0">
                <a:latin typeface="Times New Roman" panose="02020603050405020304" pitchFamily="18" charset="0"/>
                <a:cs typeface="Times New Roman" panose="02020603050405020304" pitchFamily="18" charset="0"/>
              </a:rPr>
              <a:t>A thorough history and physical examination</a:t>
            </a:r>
          </a:p>
          <a:p>
            <a:pPr lvl="1">
              <a:lnSpc>
                <a:spcPct val="150000"/>
              </a:lnSpc>
              <a:defRPr/>
            </a:pPr>
            <a:r>
              <a:rPr lang="en-US" altLang="zh-TW" sz="2000" dirty="0">
                <a:latin typeface="Times New Roman" panose="02020603050405020304" pitchFamily="18" charset="0"/>
                <a:cs typeface="Times New Roman" panose="02020603050405020304" pitchFamily="18" charset="0"/>
              </a:rPr>
              <a:t>A 76% of diagnosis can be made with good history and physical examination.</a:t>
            </a:r>
            <a:endParaRPr lang="en-CA" altLang="zh-TW" sz="2000"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a:lnSpc>
                <a:spcPct val="150000"/>
              </a:lnSpc>
              <a:defRPr/>
            </a:pPr>
            <a:r>
              <a:rPr lang="en-US" altLang="zh-TW" sz="2000" dirty="0">
                <a:latin typeface="Times New Roman" panose="02020603050405020304" pitchFamily="18" charset="0"/>
                <a:cs typeface="Times New Roman" panose="02020603050405020304" pitchFamily="18" charset="0"/>
              </a:rPr>
              <a:t>An exact diagnosis often impossible to make after the initial assessment, and often relying on further investigation</a:t>
            </a:r>
          </a:p>
        </p:txBody>
      </p:sp>
      <p:sp>
        <p:nvSpPr>
          <p:cNvPr id="2" name="Date Placeholder 1">
            <a:extLst>
              <a:ext uri="{FF2B5EF4-FFF2-40B4-BE49-F238E27FC236}">
                <a16:creationId xmlns:a16="http://schemas.microsoft.com/office/drawing/2014/main" id="{F542D4EC-C942-C64B-9E0E-12EB76E298F8}"/>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7FD9577D-054F-AA4B-BB04-06B5914F0A11}"/>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2C0E7338-A28E-D346-917A-52C3004DC2F4}"/>
              </a:ext>
            </a:extLst>
          </p:cNvPr>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ransition>
    <p:pull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13359" y="112735"/>
            <a:ext cx="10940441" cy="588723"/>
          </a:xfrm>
        </p:spPr>
        <p:txBody>
          <a:bodyPr>
            <a:normAutofit/>
          </a:bodyPr>
          <a:lstStyle/>
          <a:p>
            <a:r>
              <a:rPr lang="en-US" sz="2800" b="1" dirty="0">
                <a:latin typeface="Times New Roman" panose="02020603050405020304" pitchFamily="18" charset="0"/>
                <a:cs typeface="Times New Roman" panose="02020603050405020304" pitchFamily="18" charset="0"/>
              </a:rPr>
              <a:t>History</a:t>
            </a:r>
          </a:p>
        </p:txBody>
      </p:sp>
      <p:sp>
        <p:nvSpPr>
          <p:cNvPr id="27651" name="Rectangle 3"/>
          <p:cNvSpPr>
            <a:spLocks noGrp="1" noChangeArrowheads="1"/>
          </p:cNvSpPr>
          <p:nvPr>
            <p:ph idx="1"/>
          </p:nvPr>
        </p:nvSpPr>
        <p:spPr>
          <a:xfrm>
            <a:off x="538619" y="739037"/>
            <a:ext cx="10985325" cy="3620022"/>
          </a:xfrm>
        </p:spPr>
        <p:txBody>
          <a:bodyPr>
            <a:noAutofit/>
          </a:bodyPr>
          <a:lstStyle/>
          <a:p>
            <a:pPr>
              <a:lnSpc>
                <a:spcPct val="150000"/>
              </a:lnSpc>
            </a:pPr>
            <a:r>
              <a:rPr lang="en-US" sz="2000" b="1" dirty="0">
                <a:latin typeface="Times New Roman" panose="02020603050405020304" pitchFamily="18" charset="0"/>
                <a:cs typeface="Times New Roman" panose="02020603050405020304" pitchFamily="18" charset="0"/>
              </a:rPr>
              <a:t>Abdominal pain characterization</a:t>
            </a:r>
          </a:p>
          <a:p>
            <a:pPr lvl="1">
              <a:lnSpc>
                <a:spcPct val="150000"/>
              </a:lnSpc>
            </a:pPr>
            <a:r>
              <a:rPr lang="en-CA" sz="2000" dirty="0">
                <a:latin typeface="Times New Roman" panose="02020603050405020304" pitchFamily="18" charset="0"/>
                <a:cs typeface="Times New Roman" panose="02020603050405020304" pitchFamily="18" charset="0"/>
              </a:rPr>
              <a:t>Acute versus chronic, location and radiation, temporal elements, quality, severity and precipitants or palliation</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Associated symptoms</a:t>
            </a:r>
          </a:p>
          <a:p>
            <a:pPr lvl="1">
              <a:lnSpc>
                <a:spcPct val="150000"/>
              </a:lnSpc>
            </a:pPr>
            <a:r>
              <a:rPr lang="en-CA" sz="2000" i="1" dirty="0">
                <a:latin typeface="Times New Roman" panose="02020603050405020304" pitchFamily="18" charset="0"/>
                <a:cs typeface="Times New Roman" panose="02020603050405020304" pitchFamily="18" charset="0"/>
              </a:rPr>
              <a:t>Other gastrointestinal symptoms: </a:t>
            </a:r>
            <a:r>
              <a:rPr lang="en-CA" sz="2000" dirty="0">
                <a:latin typeface="Times New Roman" panose="02020603050405020304" pitchFamily="18" charset="0"/>
                <a:cs typeface="Times New Roman" panose="02020603050405020304" pitchFamily="18" charset="0"/>
              </a:rPr>
              <a:t>Nausea, vomiting, diarrhea, constipation, hematochezia, melena, and changes in stool (</a:t>
            </a:r>
            <a:r>
              <a:rPr lang="en-CA" sz="2000" dirty="0" err="1">
                <a:latin typeface="Times New Roman" panose="02020603050405020304" pitchFamily="18" charset="0"/>
                <a:cs typeface="Times New Roman" panose="02020603050405020304" pitchFamily="18" charset="0"/>
              </a:rPr>
              <a:t>eg</a:t>
            </a:r>
            <a:r>
              <a:rPr lang="en-CA" sz="2000" dirty="0">
                <a:latin typeface="Times New Roman" panose="02020603050405020304" pitchFamily="18" charset="0"/>
                <a:cs typeface="Times New Roman" panose="02020603050405020304" pitchFamily="18" charset="0"/>
              </a:rPr>
              <a:t>, change in caliber).</a:t>
            </a:r>
          </a:p>
          <a:p>
            <a:pPr lvl="1">
              <a:lnSpc>
                <a:spcPct val="150000"/>
              </a:lnSpc>
            </a:pPr>
            <a:r>
              <a:rPr lang="en-CA" sz="2000" i="1" dirty="0">
                <a:latin typeface="Times New Roman" panose="02020603050405020304" pitchFamily="18" charset="0"/>
                <a:cs typeface="Times New Roman" panose="02020603050405020304" pitchFamily="18" charset="0"/>
              </a:rPr>
              <a:t>Genitourinary symptoms: </a:t>
            </a:r>
            <a:r>
              <a:rPr lang="en-CA" sz="2000" dirty="0">
                <a:latin typeface="Times New Roman" panose="02020603050405020304" pitchFamily="18" charset="0"/>
                <a:cs typeface="Times New Roman" panose="02020603050405020304" pitchFamily="18" charset="0"/>
              </a:rPr>
              <a:t>Dysuria, frequency, and hematuria</a:t>
            </a:r>
          </a:p>
          <a:p>
            <a:pPr lvl="1">
              <a:lnSpc>
                <a:spcPct val="150000"/>
              </a:lnSpc>
            </a:pPr>
            <a:r>
              <a:rPr lang="en-CA" sz="2000" i="1" dirty="0">
                <a:latin typeface="Times New Roman" panose="02020603050405020304" pitchFamily="18" charset="0"/>
                <a:cs typeface="Times New Roman" panose="02020603050405020304" pitchFamily="18" charset="0"/>
              </a:rPr>
              <a:t>Constitutional symptoms:</a:t>
            </a:r>
            <a:r>
              <a:rPr lang="en-CA" sz="2000" dirty="0">
                <a:latin typeface="Times New Roman" panose="02020603050405020304" pitchFamily="18" charset="0"/>
                <a:cs typeface="Times New Roman" panose="02020603050405020304" pitchFamily="18" charset="0"/>
              </a:rPr>
              <a:t> Fevers, chills, fatigue, weight loss, and anorexia</a:t>
            </a:r>
          </a:p>
          <a:p>
            <a:pPr lvl="1">
              <a:lnSpc>
                <a:spcPct val="150000"/>
              </a:lnSpc>
            </a:pPr>
            <a:r>
              <a:rPr lang="en-CA" sz="2000" i="1" dirty="0">
                <a:latin typeface="Times New Roman" panose="02020603050405020304" pitchFamily="18" charset="0"/>
                <a:cs typeface="Times New Roman" panose="02020603050405020304" pitchFamily="18" charset="0"/>
              </a:rPr>
              <a:t>Cardiopulmonary symptoms: </a:t>
            </a:r>
            <a:r>
              <a:rPr lang="en-CA" sz="2000" dirty="0">
                <a:latin typeface="Times New Roman" panose="02020603050405020304" pitchFamily="18" charset="0"/>
                <a:cs typeface="Times New Roman" panose="02020603050405020304" pitchFamily="18" charset="0"/>
              </a:rPr>
              <a:t>Cough, shortness of breath, orthopnea, and exertional dyspnea</a:t>
            </a:r>
          </a:p>
          <a:p>
            <a:pPr lvl="1">
              <a:lnSpc>
                <a:spcPct val="150000"/>
              </a:lnSpc>
            </a:pPr>
            <a:r>
              <a:rPr lang="en-CA" sz="2000" i="1" dirty="0">
                <a:latin typeface="Times New Roman" panose="02020603050405020304" pitchFamily="18" charset="0"/>
                <a:cs typeface="Times New Roman" panose="02020603050405020304" pitchFamily="18" charset="0"/>
              </a:rPr>
              <a:t>Other: </a:t>
            </a:r>
            <a:r>
              <a:rPr lang="en-CA" sz="2000" dirty="0">
                <a:latin typeface="Times New Roman" panose="02020603050405020304" pitchFamily="18" charset="0"/>
                <a:cs typeface="Times New Roman" panose="02020603050405020304" pitchFamily="18" charset="0"/>
              </a:rPr>
              <a:t>Patients with diabetic ketoacidosis will have symptoms of polyuria and thirst.</a:t>
            </a:r>
          </a:p>
        </p:txBody>
      </p:sp>
      <p:sp>
        <p:nvSpPr>
          <p:cNvPr id="2" name="Date Placeholder 1">
            <a:extLst>
              <a:ext uri="{FF2B5EF4-FFF2-40B4-BE49-F238E27FC236}">
                <a16:creationId xmlns:a16="http://schemas.microsoft.com/office/drawing/2014/main" id="{5A4D135E-C15B-584B-BEE2-0F7B836D5FB9}"/>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9AF215F0-A72F-1744-9AAF-B1653911971E}"/>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DDFB928C-7832-F448-8EEB-58664B78E06F}"/>
              </a:ext>
            </a:extLst>
          </p:cNvPr>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ransition>
    <p:pull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38411" y="365125"/>
            <a:ext cx="10915389" cy="674535"/>
          </a:xfrm>
        </p:spPr>
        <p:txBody>
          <a:bodyPr>
            <a:normAutofit/>
          </a:bodyPr>
          <a:lstStyle/>
          <a:p>
            <a:r>
              <a:rPr lang="en-US" sz="2800" b="1" dirty="0">
                <a:latin typeface="Times New Roman" panose="02020603050405020304" pitchFamily="18" charset="0"/>
                <a:cs typeface="Times New Roman" panose="02020603050405020304" pitchFamily="18" charset="0"/>
              </a:rPr>
              <a:t>History</a:t>
            </a:r>
          </a:p>
        </p:txBody>
      </p:sp>
      <p:sp>
        <p:nvSpPr>
          <p:cNvPr id="27651" name="Rectangle 3"/>
          <p:cNvSpPr>
            <a:spLocks noGrp="1" noChangeArrowheads="1"/>
          </p:cNvSpPr>
          <p:nvPr>
            <p:ph idx="1"/>
          </p:nvPr>
        </p:nvSpPr>
        <p:spPr>
          <a:xfrm>
            <a:off x="513567" y="989557"/>
            <a:ext cx="11010377" cy="3369502"/>
          </a:xfrm>
        </p:spPr>
        <p:txBody>
          <a:bodyPr>
            <a:noAutofit/>
          </a:bodyPr>
          <a:lstStyle/>
          <a:p>
            <a:pPr>
              <a:lnSpc>
                <a:spcPct val="150000"/>
              </a:lnSpc>
            </a:pPr>
            <a:r>
              <a:rPr lang="en-CA" sz="2000" b="1" dirty="0">
                <a:latin typeface="Times New Roman" panose="02020603050405020304" pitchFamily="18" charset="0"/>
                <a:cs typeface="Times New Roman" panose="02020603050405020304" pitchFamily="18" charset="0"/>
              </a:rPr>
              <a:t>Other medical history</a:t>
            </a:r>
          </a:p>
          <a:p>
            <a:pPr lvl="1">
              <a:lnSpc>
                <a:spcPct val="150000"/>
              </a:lnSpc>
            </a:pPr>
            <a:r>
              <a:rPr lang="en-CA" sz="2000" i="1" dirty="0">
                <a:latin typeface="Times New Roman" panose="02020603050405020304" pitchFamily="18" charset="0"/>
                <a:cs typeface="Times New Roman" panose="02020603050405020304" pitchFamily="18" charset="0"/>
              </a:rPr>
              <a:t>Specific questions for females</a:t>
            </a:r>
          </a:p>
          <a:p>
            <a:pPr lvl="2">
              <a:lnSpc>
                <a:spcPct val="150000"/>
              </a:lnSpc>
            </a:pPr>
            <a:r>
              <a:rPr lang="en-CA" dirty="0">
                <a:latin typeface="Times New Roman" panose="02020603050405020304" pitchFamily="18" charset="0"/>
                <a:cs typeface="Times New Roman" panose="02020603050405020304" pitchFamily="18" charset="0"/>
              </a:rPr>
              <a:t>Last normal menstrual period, previous menstrual period, cycle length) and use of contraception. </a:t>
            </a:r>
          </a:p>
          <a:p>
            <a:pPr lvl="2">
              <a:lnSpc>
                <a:spcPct val="150000"/>
              </a:lnSpc>
            </a:pPr>
            <a:r>
              <a:rPr lang="en-CA" dirty="0" err="1">
                <a:latin typeface="Times New Roman" panose="02020603050405020304" pitchFamily="18" charset="0"/>
                <a:cs typeface="Times New Roman" panose="02020603050405020304" pitchFamily="18" charset="0"/>
              </a:rPr>
              <a:t>Hx</a:t>
            </a:r>
            <a:r>
              <a:rPr lang="en-CA" dirty="0">
                <a:latin typeface="Times New Roman" panose="02020603050405020304" pitchFamily="18" charset="0"/>
                <a:cs typeface="Times New Roman" panose="02020603050405020304" pitchFamily="18" charset="0"/>
              </a:rPr>
              <a:t> of vaginal discharge or bleeding, dyspareunia or dysmenorrhea.</a:t>
            </a:r>
          </a:p>
          <a:p>
            <a:pPr lvl="1">
              <a:lnSpc>
                <a:spcPct val="150000"/>
              </a:lnSpc>
            </a:pPr>
            <a:r>
              <a:rPr lang="en-CA" sz="2000" i="1" dirty="0">
                <a:latin typeface="Times New Roman" panose="02020603050405020304" pitchFamily="18" charset="0"/>
                <a:cs typeface="Times New Roman" panose="02020603050405020304" pitchFamily="18" charset="0"/>
              </a:rPr>
              <a:t>Past medical history: </a:t>
            </a:r>
            <a:r>
              <a:rPr lang="en-CA" sz="2000" dirty="0">
                <a:latin typeface="Times New Roman" panose="02020603050405020304" pitchFamily="18" charset="0"/>
                <a:cs typeface="Times New Roman" panose="02020603050405020304" pitchFamily="18" charset="0"/>
              </a:rPr>
              <a:t>History of surgery, past Cardiovascular disease, and IBD</a:t>
            </a:r>
          </a:p>
          <a:p>
            <a:pPr lvl="1">
              <a:lnSpc>
                <a:spcPct val="150000"/>
              </a:lnSpc>
            </a:pPr>
            <a:r>
              <a:rPr lang="en-CA" sz="2000" i="1" dirty="0">
                <a:latin typeface="Times New Roman" panose="02020603050405020304" pitchFamily="18" charset="0"/>
                <a:cs typeface="Times New Roman" panose="02020603050405020304" pitchFamily="18" charset="0"/>
              </a:rPr>
              <a:t>Medications: </a:t>
            </a:r>
            <a:r>
              <a:rPr lang="en-CA" sz="2000" dirty="0">
                <a:latin typeface="Times New Roman" panose="02020603050405020304" pitchFamily="18" charset="0"/>
                <a:cs typeface="Times New Roman" panose="02020603050405020304" pitchFamily="18" charset="0"/>
              </a:rPr>
              <a:t>NSAID, recent antibiotics</a:t>
            </a:r>
            <a:endParaRPr lang="en-US" sz="20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99A291CC-8624-1640-8E5E-FE2FFC18B856}"/>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DC1E5581-0586-624B-8CD3-6F37F4A3C877}"/>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F631FC7F-CD09-0141-861A-22E5B8BB5A7D}"/>
              </a:ext>
            </a:extLst>
          </p:cNvPr>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364285190"/>
      </p:ext>
    </p:extLst>
  </p:cSld>
  <p:clrMapOvr>
    <a:masterClrMapping/>
  </p:clrMapOvr>
  <p:transition>
    <p:pull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38411" y="365125"/>
            <a:ext cx="10915389" cy="674535"/>
          </a:xfrm>
        </p:spPr>
        <p:txBody>
          <a:bodyPr>
            <a:normAutofit/>
          </a:bodyPr>
          <a:lstStyle/>
          <a:p>
            <a:r>
              <a:rPr lang="en-US" sz="2800" b="1" dirty="0">
                <a:latin typeface="Times New Roman" panose="02020603050405020304" pitchFamily="18" charset="0"/>
                <a:cs typeface="Times New Roman" panose="02020603050405020304" pitchFamily="18" charset="0"/>
              </a:rPr>
              <a:t>History</a:t>
            </a:r>
          </a:p>
        </p:txBody>
      </p:sp>
      <p:sp>
        <p:nvSpPr>
          <p:cNvPr id="27651" name="Rectangle 3"/>
          <p:cNvSpPr>
            <a:spLocks noGrp="1" noChangeArrowheads="1"/>
          </p:cNvSpPr>
          <p:nvPr>
            <p:ph idx="1"/>
          </p:nvPr>
        </p:nvSpPr>
        <p:spPr>
          <a:xfrm>
            <a:off x="513567" y="1202498"/>
            <a:ext cx="11010377" cy="3369502"/>
          </a:xfrm>
        </p:spPr>
        <p:txBody>
          <a:bodyPr>
            <a:noAutofit/>
          </a:bodyPr>
          <a:lstStyle/>
          <a:p>
            <a:r>
              <a:rPr lang="en-CA" sz="2000" b="1" dirty="0">
                <a:latin typeface="Times New Roman" panose="02020603050405020304" pitchFamily="18" charset="0"/>
                <a:cs typeface="Times New Roman" panose="02020603050405020304" pitchFamily="18" charset="0"/>
              </a:rPr>
              <a:t>Other history</a:t>
            </a:r>
          </a:p>
          <a:p>
            <a:pPr lvl="1">
              <a:lnSpc>
                <a:spcPct val="150000"/>
              </a:lnSpc>
            </a:pPr>
            <a:r>
              <a:rPr lang="en-CA" sz="2000" i="1" dirty="0">
                <a:latin typeface="Times New Roman" panose="02020603050405020304" pitchFamily="18" charset="0"/>
                <a:cs typeface="Times New Roman" panose="02020603050405020304" pitchFamily="18" charset="0"/>
              </a:rPr>
              <a:t>Trauma</a:t>
            </a:r>
          </a:p>
          <a:p>
            <a:pPr lvl="1">
              <a:lnSpc>
                <a:spcPct val="150000"/>
              </a:lnSpc>
            </a:pPr>
            <a:r>
              <a:rPr lang="en-CA" sz="2000" i="1" dirty="0">
                <a:latin typeface="Times New Roman" panose="02020603050405020304" pitchFamily="18" charset="0"/>
                <a:cs typeface="Times New Roman" panose="02020603050405020304" pitchFamily="18" charset="0"/>
              </a:rPr>
              <a:t>Alcohol: </a:t>
            </a:r>
            <a:r>
              <a:rPr lang="en-CA" sz="2000" dirty="0">
                <a:latin typeface="Times New Roman" panose="02020603050405020304" pitchFamily="18" charset="0"/>
                <a:cs typeface="Times New Roman" panose="02020603050405020304" pitchFamily="18" charset="0"/>
              </a:rPr>
              <a:t>It is important to ask about alcohol intake to assess for the possibility of liver disease and pancreatitis.</a:t>
            </a:r>
          </a:p>
          <a:p>
            <a:pPr lvl="1">
              <a:lnSpc>
                <a:spcPct val="150000"/>
              </a:lnSpc>
            </a:pPr>
            <a:r>
              <a:rPr lang="en-CA" sz="2000" i="1" dirty="0">
                <a:latin typeface="Times New Roman" panose="02020603050405020304" pitchFamily="18" charset="0"/>
                <a:cs typeface="Times New Roman" panose="02020603050405020304" pitchFamily="18" charset="0"/>
              </a:rPr>
              <a:t>Family history: </a:t>
            </a:r>
            <a:r>
              <a:rPr lang="en-CA" sz="2000" dirty="0">
                <a:latin typeface="Times New Roman" panose="02020603050405020304" pitchFamily="18" charset="0"/>
                <a:cs typeface="Times New Roman" panose="02020603050405020304" pitchFamily="18" charset="0"/>
              </a:rPr>
              <a:t>IBD</a:t>
            </a: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3FFA6740-EA0A-0F48-A8FB-76A534714D8D}"/>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9FBE0864-B60A-B24D-9618-246669AB6E3B}"/>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CAFC39B7-604F-B242-9094-BE877C5381F5}"/>
              </a:ext>
            </a:extLst>
          </p:cNvPr>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3428813932"/>
      </p:ext>
    </p:extLst>
  </p:cSld>
  <p:clrMapOvr>
    <a:masterClrMapping/>
  </p:clrMapOvr>
  <p:transition>
    <p:pull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0937" y="237995"/>
            <a:ext cx="10826663" cy="688931"/>
          </a:xfrm>
        </p:spPr>
        <p:txBody>
          <a:bodyPr>
            <a:normAutofit/>
          </a:bodyPr>
          <a:lstStyle/>
          <a:p>
            <a:r>
              <a:rPr lang="en-US" sz="2800" b="1" dirty="0">
                <a:latin typeface="Times New Roman" panose="02020603050405020304" pitchFamily="18" charset="0"/>
                <a:cs typeface="Times New Roman" panose="02020603050405020304" pitchFamily="18" charset="0"/>
              </a:rPr>
              <a:t>Physical Examination</a:t>
            </a:r>
          </a:p>
        </p:txBody>
      </p:sp>
      <p:sp>
        <p:nvSpPr>
          <p:cNvPr id="13315" name="Rectangle 3"/>
          <p:cNvSpPr>
            <a:spLocks noGrp="1" noChangeArrowheads="1"/>
          </p:cNvSpPr>
          <p:nvPr>
            <p:ph type="body" sz="half" idx="1"/>
          </p:nvPr>
        </p:nvSpPr>
        <p:spPr>
          <a:xfrm>
            <a:off x="626301" y="1164921"/>
            <a:ext cx="10597020" cy="4384109"/>
          </a:xfrm>
        </p:spPr>
        <p:txBody>
          <a:bodyPr>
            <a:normAutofit/>
          </a:bodyPr>
          <a:lstStyle/>
          <a:p>
            <a:pPr>
              <a:lnSpc>
                <a:spcPct val="150000"/>
              </a:lnSpc>
              <a:buFont typeface="Wingdings" pitchFamily="2" charset="2"/>
              <a:buChar char="Ø"/>
            </a:pPr>
            <a:r>
              <a:rPr lang="en-CA" sz="2000" b="1" dirty="0">
                <a:latin typeface="Times New Roman" panose="02020603050405020304" pitchFamily="18" charset="0"/>
                <a:cs typeface="Times New Roman" panose="02020603050405020304" pitchFamily="18" charset="0"/>
              </a:rPr>
              <a:t>General appearance</a:t>
            </a:r>
          </a:p>
          <a:p>
            <a:pPr lvl="1">
              <a:lnSpc>
                <a:spcPct val="150000"/>
              </a:lnSpc>
            </a:pPr>
            <a:r>
              <a:rPr lang="en-CA" sz="2000" dirty="0">
                <a:latin typeface="Times New Roman" panose="02020603050405020304" pitchFamily="18" charset="0"/>
                <a:cs typeface="Times New Roman" panose="02020603050405020304" pitchFamily="18" charset="0"/>
              </a:rPr>
              <a:t>A</a:t>
            </a:r>
            <a:r>
              <a:rPr lang="en-CA" sz="2000" b="1" dirty="0">
                <a:latin typeface="Times New Roman" panose="02020603050405020304" pitchFamily="18" charset="0"/>
                <a:cs typeface="Times New Roman" panose="02020603050405020304" pitchFamily="18" charset="0"/>
              </a:rPr>
              <a:t> </a:t>
            </a:r>
            <a:r>
              <a:rPr lang="en-CA" sz="2000" dirty="0">
                <a:latin typeface="Times New Roman" panose="02020603050405020304" pitchFamily="18" charset="0"/>
                <a:cs typeface="Times New Roman" panose="02020603050405020304" pitchFamily="18" charset="0"/>
              </a:rPr>
              <a:t>Patient who is restless, curled up, and agitated may have renal colic. </a:t>
            </a:r>
          </a:p>
          <a:p>
            <a:pPr lvl="1">
              <a:lnSpc>
                <a:spcPct val="150000"/>
              </a:lnSpc>
            </a:pPr>
            <a:r>
              <a:rPr lang="en-CA" sz="2000" dirty="0">
                <a:latin typeface="Times New Roman" panose="02020603050405020304" pitchFamily="18" charset="0"/>
                <a:cs typeface="Times New Roman" panose="02020603050405020304" pitchFamily="18" charset="0"/>
              </a:rPr>
              <a:t>A patient lying perfectly still in bed experiencing worsening pain when the examiner lightly bumps the stretcher raises concern for peritonitis. </a:t>
            </a:r>
          </a:p>
          <a:p>
            <a:pPr lvl="1">
              <a:lnSpc>
                <a:spcPct val="150000"/>
              </a:lnSpc>
            </a:pPr>
            <a:r>
              <a:rPr lang="en-CA" sz="2000" dirty="0">
                <a:latin typeface="Times New Roman" panose="02020603050405020304" pitchFamily="18" charset="0"/>
                <a:cs typeface="Times New Roman" panose="02020603050405020304" pitchFamily="18" charset="0"/>
              </a:rPr>
              <a:t>Signs of shock (</a:t>
            </a:r>
            <a:r>
              <a:rPr lang="en-CA" sz="2000" dirty="0" err="1">
                <a:latin typeface="Times New Roman" panose="02020603050405020304" pitchFamily="18" charset="0"/>
                <a:cs typeface="Times New Roman" panose="02020603050405020304" pitchFamily="18" charset="0"/>
              </a:rPr>
              <a:t>eg</a:t>
            </a:r>
            <a:r>
              <a:rPr lang="en-CA" sz="2000" dirty="0">
                <a:latin typeface="Times New Roman" panose="02020603050405020304" pitchFamily="18" charset="0"/>
                <a:cs typeface="Times New Roman" panose="02020603050405020304" pitchFamily="18" charset="0"/>
              </a:rPr>
              <a:t>, pallor, diaphoresis, altered mental status) warrant resuscitation simultaneously with the evaluation. </a:t>
            </a:r>
          </a:p>
          <a:p>
            <a:pPr lvl="1">
              <a:lnSpc>
                <a:spcPct val="150000"/>
              </a:lnSpc>
            </a:pPr>
            <a:r>
              <a:rPr lang="en-CA" sz="2000" dirty="0">
                <a:latin typeface="Times New Roman" panose="02020603050405020304" pitchFamily="18" charset="0"/>
                <a:cs typeface="Times New Roman" panose="02020603050405020304" pitchFamily="18" charset="0"/>
              </a:rPr>
              <a:t>Signs of systemic disease (</a:t>
            </a:r>
            <a:r>
              <a:rPr lang="en-CA" sz="2000" dirty="0" err="1">
                <a:latin typeface="Times New Roman" panose="02020603050405020304" pitchFamily="18" charset="0"/>
                <a:cs typeface="Times New Roman" panose="02020603050405020304" pitchFamily="18" charset="0"/>
              </a:rPr>
              <a:t>eg</a:t>
            </a:r>
            <a:r>
              <a:rPr lang="en-CA" sz="2000" dirty="0">
                <a:latin typeface="Times New Roman" panose="02020603050405020304" pitchFamily="18" charset="0"/>
                <a:cs typeface="Times New Roman" panose="02020603050405020304" pitchFamily="18" charset="0"/>
              </a:rPr>
              <a:t>, spider </a:t>
            </a:r>
            <a:r>
              <a:rPr lang="en-CA" sz="2000" dirty="0" err="1">
                <a:latin typeface="Times New Roman" panose="02020603050405020304" pitchFamily="18" charset="0"/>
                <a:cs typeface="Times New Roman" panose="02020603050405020304" pitchFamily="18" charset="0"/>
              </a:rPr>
              <a:t>angiomata</a:t>
            </a:r>
            <a:r>
              <a:rPr lang="en-CA" sz="2000" dirty="0">
                <a:latin typeface="Times New Roman" panose="02020603050405020304" pitchFamily="18" charset="0"/>
                <a:cs typeface="Times New Roman" panose="02020603050405020304" pitchFamily="18" charset="0"/>
              </a:rPr>
              <a:t> in cirrhosis, cachexia in malignancy) are often readily apparent.</a:t>
            </a:r>
            <a:endParaRPr lang="en-US" sz="20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4D23B2ED-0249-8042-989F-E5BDD5B7A9EA}"/>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4AB22A93-C8F5-3B4C-BB26-A505B2841BD7}"/>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371573B1-C67A-C14C-A9E7-2EFD184A7421}"/>
              </a:ext>
            </a:extLst>
          </p:cNvPr>
          <p:cNvSpPr>
            <a:spLocks noGrp="1"/>
          </p:cNvSpPr>
          <p:nvPr>
            <p:ph type="sldNum" sz="quarter" idx="12"/>
          </p:nvPr>
        </p:nvSpPr>
        <p:spPr/>
        <p:txBody>
          <a:bodyPr/>
          <a:lstStyle/>
          <a:p>
            <a:fld id="{5F92C6BE-6031-4786-AD87-3DCEC0D6B6E0}"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0937" y="237995"/>
            <a:ext cx="10826663" cy="688931"/>
          </a:xfrm>
        </p:spPr>
        <p:txBody>
          <a:bodyPr>
            <a:normAutofit/>
          </a:bodyPr>
          <a:lstStyle/>
          <a:p>
            <a:r>
              <a:rPr lang="en-US" sz="2800" b="1" dirty="0">
                <a:latin typeface="Times New Roman" panose="02020603050405020304" pitchFamily="18" charset="0"/>
                <a:cs typeface="Times New Roman" panose="02020603050405020304" pitchFamily="18" charset="0"/>
              </a:rPr>
              <a:t>Physical Examination</a:t>
            </a:r>
          </a:p>
        </p:txBody>
      </p:sp>
      <p:sp>
        <p:nvSpPr>
          <p:cNvPr id="13315" name="Rectangle 3"/>
          <p:cNvSpPr>
            <a:spLocks noGrp="1" noChangeArrowheads="1"/>
          </p:cNvSpPr>
          <p:nvPr>
            <p:ph type="body" sz="half" idx="1"/>
          </p:nvPr>
        </p:nvSpPr>
        <p:spPr>
          <a:xfrm>
            <a:off x="626301" y="839245"/>
            <a:ext cx="10597020" cy="4709786"/>
          </a:xfrm>
        </p:spPr>
        <p:txBody>
          <a:bodyPr>
            <a:noAutofit/>
          </a:bodyPr>
          <a:lstStyle/>
          <a:p>
            <a:pPr>
              <a:lnSpc>
                <a:spcPct val="150000"/>
              </a:lnSpc>
              <a:buFont typeface="Wingdings" pitchFamily="2" charset="2"/>
              <a:buChar char="Ø"/>
            </a:pPr>
            <a:r>
              <a:rPr lang="en-CA" sz="2000" b="1" dirty="0">
                <a:latin typeface="Times New Roman" panose="02020603050405020304" pitchFamily="18" charset="0"/>
                <a:cs typeface="Times New Roman" panose="02020603050405020304" pitchFamily="18" charset="0"/>
              </a:rPr>
              <a:t>Vital signs</a:t>
            </a:r>
          </a:p>
          <a:p>
            <a:pPr>
              <a:lnSpc>
                <a:spcPct val="150000"/>
              </a:lnSpc>
              <a:buFont typeface="Wingdings" pitchFamily="2" charset="2"/>
              <a:buChar char="Ø"/>
            </a:pPr>
            <a:r>
              <a:rPr lang="en-CA" sz="2000" b="1" dirty="0">
                <a:latin typeface="Times New Roman" panose="02020603050405020304" pitchFamily="18" charset="0"/>
                <a:cs typeface="Times New Roman" panose="02020603050405020304" pitchFamily="18" charset="0"/>
              </a:rPr>
              <a:t>Abdominal examination</a:t>
            </a:r>
            <a:endParaRPr lang="en-CA" sz="2000" dirty="0">
              <a:latin typeface="Times New Roman" panose="02020603050405020304" pitchFamily="18" charset="0"/>
              <a:cs typeface="Times New Roman" panose="02020603050405020304" pitchFamily="18" charset="0"/>
            </a:endParaRPr>
          </a:p>
          <a:p>
            <a:pPr lvl="1">
              <a:lnSpc>
                <a:spcPct val="150000"/>
              </a:lnSpc>
            </a:pPr>
            <a:r>
              <a:rPr lang="en-CA" sz="2000" b="1" i="1" dirty="0">
                <a:latin typeface="Times New Roman" panose="02020603050405020304" pitchFamily="18" charset="0"/>
                <a:cs typeface="Times New Roman" panose="02020603050405020304" pitchFamily="18" charset="0"/>
              </a:rPr>
              <a:t>Inspection: </a:t>
            </a:r>
            <a:r>
              <a:rPr lang="en-CA" sz="2000" dirty="0">
                <a:latin typeface="Times New Roman" panose="02020603050405020304" pitchFamily="18" charset="0"/>
                <a:cs typeface="Times New Roman" panose="02020603050405020304" pitchFamily="18" charset="0"/>
              </a:rPr>
              <a:t>Identifies mobility of the abdomen, surgical scar, abdominal pulsations, distension, periumbilical ecchymosis (Cullen sign) and flank ecchymosis (grey-turner sign) and abdominal wall pathology such as a hernia.</a:t>
            </a:r>
          </a:p>
          <a:p>
            <a:pPr lvl="1">
              <a:lnSpc>
                <a:spcPct val="150000"/>
              </a:lnSpc>
            </a:pPr>
            <a:r>
              <a:rPr lang="en-CA" sz="2000" b="1" i="1" dirty="0">
                <a:latin typeface="Times New Roman" panose="02020603050405020304" pitchFamily="18" charset="0"/>
                <a:cs typeface="Times New Roman" panose="02020603050405020304" pitchFamily="18" charset="0"/>
              </a:rPr>
              <a:t>Palpation: </a:t>
            </a:r>
            <a:r>
              <a:rPr lang="en-CA" sz="2000" dirty="0">
                <a:latin typeface="Times New Roman" panose="02020603050405020304" pitchFamily="18" charset="0"/>
                <a:cs typeface="Times New Roman" panose="02020603050405020304" pitchFamily="18" charset="0"/>
              </a:rPr>
              <a:t>Identifies the location and degree of tenderness and detects signs of peritoneal irritation, such as involuntary guarding, muscular rigidity and rebound tenderness.</a:t>
            </a:r>
          </a:p>
          <a:p>
            <a:pPr lvl="2">
              <a:lnSpc>
                <a:spcPct val="150000"/>
              </a:lnSpc>
            </a:pPr>
            <a:r>
              <a:rPr lang="en-CA" i="1" dirty="0">
                <a:latin typeface="Times New Roman" panose="02020603050405020304" pitchFamily="18" charset="0"/>
                <a:cs typeface="Times New Roman" panose="02020603050405020304" pitchFamily="18" charset="0"/>
              </a:rPr>
              <a:t>Murphy sign: </a:t>
            </a:r>
            <a:r>
              <a:rPr lang="en-CA" dirty="0">
                <a:latin typeface="Times New Roman" panose="02020603050405020304" pitchFamily="18" charset="0"/>
                <a:cs typeface="Times New Roman" panose="02020603050405020304" pitchFamily="18" charset="0"/>
              </a:rPr>
              <a:t>(worsening pain and tenderness during deep inspiration with right upper quadrant palpation) is sensitive but not specific for acute cholecystitis.</a:t>
            </a:r>
          </a:p>
          <a:p>
            <a:pPr lvl="1">
              <a:lnSpc>
                <a:spcPct val="150000"/>
              </a:lnSpc>
            </a:pPr>
            <a:r>
              <a:rPr lang="en-US" sz="2000" b="1" i="1" dirty="0">
                <a:latin typeface="Times New Roman" panose="02020603050405020304" pitchFamily="18" charset="0"/>
                <a:cs typeface="Times New Roman" panose="02020603050405020304" pitchFamily="18" charset="0"/>
              </a:rPr>
              <a:t>Auscultation</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Identifies</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hyperactive, obstructive, absent, or normal bowel sounds.</a:t>
            </a:r>
          </a:p>
          <a:p>
            <a:pPr lvl="1">
              <a:lnSpc>
                <a:spcPct val="150000"/>
              </a:lnSpc>
            </a:pPr>
            <a:r>
              <a:rPr lang="en-US" sz="2000" b="1" i="1" dirty="0">
                <a:latin typeface="Times New Roman" panose="02020603050405020304" pitchFamily="18" charset="0"/>
                <a:cs typeface="Times New Roman" panose="02020603050405020304" pitchFamily="18" charset="0"/>
              </a:rPr>
              <a:t>Percussion</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Hyper-</a:t>
            </a:r>
            <a:r>
              <a:rPr lang="en-US" sz="2000" dirty="0" err="1">
                <a:latin typeface="Times New Roman" panose="02020603050405020304" pitchFamily="18" charset="0"/>
                <a:cs typeface="Times New Roman" panose="02020603050405020304" pitchFamily="18" charset="0"/>
              </a:rPr>
              <a:t>tympanicity</a:t>
            </a:r>
            <a:r>
              <a:rPr lang="en-US" sz="2000" dirty="0">
                <a:latin typeface="Times New Roman" panose="02020603050405020304" pitchFamily="18" charset="0"/>
                <a:cs typeface="Times New Roman" panose="02020603050405020304" pitchFamily="18" charset="0"/>
              </a:rPr>
              <a:t> signifies intestinal obstruction. Dullness signifies fluid accumulation</a:t>
            </a:r>
          </a:p>
        </p:txBody>
      </p:sp>
      <p:sp>
        <p:nvSpPr>
          <p:cNvPr id="2" name="Date Placeholder 1">
            <a:extLst>
              <a:ext uri="{FF2B5EF4-FFF2-40B4-BE49-F238E27FC236}">
                <a16:creationId xmlns:a16="http://schemas.microsoft.com/office/drawing/2014/main" id="{03A3D1A4-E312-164C-8195-2C043B979F8A}"/>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B6555EBF-3FC5-854D-9DDE-CD7A9569C75E}"/>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9B9A4EEA-F271-F342-8D00-54C438736FB5}"/>
              </a:ext>
            </a:extLst>
          </p:cNvPr>
          <p:cNvSpPr>
            <a:spLocks noGrp="1"/>
          </p:cNvSpPr>
          <p:nvPr>
            <p:ph type="sldNum" sz="quarter" idx="12"/>
          </p:nvPr>
        </p:nvSpPr>
        <p:spPr/>
        <p:txBody>
          <a:bodyPr/>
          <a:lstStyle/>
          <a:p>
            <a:fld id="{5F92C6BE-6031-4786-AD87-3DCEC0D6B6E0}" type="slidenum">
              <a:rPr lang="en-US" smtClean="0"/>
              <a:pPr/>
              <a:t>21</a:t>
            </a:fld>
            <a:endParaRPr lang="en-US"/>
          </a:p>
        </p:txBody>
      </p:sp>
    </p:spTree>
    <p:extLst>
      <p:ext uri="{BB962C8B-B14F-4D97-AF65-F5344CB8AC3E}">
        <p14:creationId xmlns:p14="http://schemas.microsoft.com/office/powerpoint/2010/main" val="3378259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0937" y="237995"/>
            <a:ext cx="10826663" cy="688931"/>
          </a:xfrm>
        </p:spPr>
        <p:txBody>
          <a:bodyPr>
            <a:normAutofit/>
          </a:bodyPr>
          <a:lstStyle/>
          <a:p>
            <a:r>
              <a:rPr lang="en-US" sz="2800" b="1" dirty="0">
                <a:latin typeface="Times New Roman" panose="02020603050405020304" pitchFamily="18" charset="0"/>
                <a:cs typeface="Times New Roman" panose="02020603050405020304" pitchFamily="18" charset="0"/>
              </a:rPr>
              <a:t>Physical Examination</a:t>
            </a:r>
          </a:p>
        </p:txBody>
      </p:sp>
      <p:sp>
        <p:nvSpPr>
          <p:cNvPr id="13315" name="Rectangle 3"/>
          <p:cNvSpPr>
            <a:spLocks noGrp="1" noChangeArrowheads="1"/>
          </p:cNvSpPr>
          <p:nvPr>
            <p:ph type="body" sz="half" idx="1"/>
          </p:nvPr>
        </p:nvSpPr>
        <p:spPr>
          <a:xfrm>
            <a:off x="626301" y="990600"/>
            <a:ext cx="10597020" cy="4709786"/>
          </a:xfrm>
        </p:spPr>
        <p:txBody>
          <a:bodyPr>
            <a:noAutofit/>
          </a:bodyPr>
          <a:lstStyle/>
          <a:p>
            <a:pPr>
              <a:lnSpc>
                <a:spcPct val="150000"/>
              </a:lnSpc>
            </a:pPr>
            <a:r>
              <a:rPr lang="en-CA" sz="2000" b="1" dirty="0">
                <a:latin typeface="Times New Roman" panose="02020603050405020304" pitchFamily="18" charset="0"/>
                <a:cs typeface="Times New Roman" panose="02020603050405020304" pitchFamily="18" charset="0"/>
              </a:rPr>
              <a:t>GUS: </a:t>
            </a:r>
            <a:r>
              <a:rPr lang="en-CA" sz="2000" dirty="0">
                <a:latin typeface="Times New Roman" panose="02020603050405020304" pitchFamily="18" charset="0"/>
                <a:cs typeface="Times New Roman" panose="02020603050405020304" pitchFamily="18" charset="0"/>
              </a:rPr>
              <a:t>Examine the scrotum for testicular edema and tenderness, epididymal tenderness, scrotal masses, and cremasteric reflexes. </a:t>
            </a:r>
          </a:p>
          <a:p>
            <a:pPr lvl="1">
              <a:lnSpc>
                <a:spcPct val="150000"/>
              </a:lnSpc>
            </a:pPr>
            <a:r>
              <a:rPr lang="en-CA" sz="2000" dirty="0">
                <a:latin typeface="Times New Roman" panose="02020603050405020304" pitchFamily="18" charset="0"/>
                <a:cs typeface="Times New Roman" panose="02020603050405020304" pitchFamily="18" charset="0"/>
              </a:rPr>
              <a:t>Perform a pelvic examination in a female with pain and tenderness in the lower half of the abdomen. </a:t>
            </a:r>
          </a:p>
          <a:p>
            <a:pPr>
              <a:lnSpc>
                <a:spcPct val="150000"/>
              </a:lnSpc>
            </a:pPr>
            <a:r>
              <a:rPr lang="en-CA" sz="2000" b="1" dirty="0">
                <a:latin typeface="Times New Roman" panose="02020603050405020304" pitchFamily="18" charset="0"/>
                <a:cs typeface="Times New Roman" panose="02020603050405020304" pitchFamily="18" charset="0"/>
              </a:rPr>
              <a:t>Heart and lungs: </a:t>
            </a:r>
            <a:r>
              <a:rPr lang="en-CA" sz="2000" dirty="0">
                <a:latin typeface="Times New Roman" panose="02020603050405020304" pitchFamily="18" charset="0"/>
                <a:cs typeface="Times New Roman" panose="02020603050405020304" pitchFamily="18" charset="0"/>
              </a:rPr>
              <a:t>Atrial fibrillation or valvular disease can increase suspicion for mesenteric ischemia secondary to vascular embolization. </a:t>
            </a:r>
          </a:p>
          <a:p>
            <a:pPr lvl="1">
              <a:lnSpc>
                <a:spcPct val="150000"/>
              </a:lnSpc>
            </a:pPr>
            <a:r>
              <a:rPr lang="en-CA" sz="2000" dirty="0">
                <a:latin typeface="Times New Roman" panose="02020603050405020304" pitchFamily="18" charset="0"/>
                <a:cs typeface="Times New Roman" panose="02020603050405020304" pitchFamily="18" charset="0"/>
              </a:rPr>
              <a:t>Localized decreased or coarse breath sounds raise suspicion for pneumonia.</a:t>
            </a:r>
          </a:p>
          <a:p>
            <a:pPr>
              <a:lnSpc>
                <a:spcPct val="150000"/>
              </a:lnSpc>
            </a:pPr>
            <a:r>
              <a:rPr lang="en-CA" sz="2000" b="1" dirty="0">
                <a:latin typeface="Times New Roman" panose="02020603050405020304" pitchFamily="18" charset="0"/>
                <a:cs typeface="Times New Roman" panose="02020603050405020304" pitchFamily="18" charset="0"/>
              </a:rPr>
              <a:t>Musculoskeletal, back, and flank:</a:t>
            </a:r>
            <a:r>
              <a:rPr lang="en-CA" sz="2000" dirty="0">
                <a:latin typeface="Times New Roman" panose="02020603050405020304" pitchFamily="18" charset="0"/>
                <a:cs typeface="Times New Roman" panose="02020603050405020304" pitchFamily="18" charset="0"/>
              </a:rPr>
              <a:t> Percuss the costovertebral angles as tenderness suggests pyelonephritis.</a:t>
            </a:r>
          </a:p>
          <a:p>
            <a:pPr>
              <a:lnSpc>
                <a:spcPct val="150000"/>
              </a:lnSpc>
            </a:pPr>
            <a:r>
              <a:rPr lang="en-CA" sz="2000" b="1" dirty="0">
                <a:latin typeface="Times New Roman" panose="02020603050405020304" pitchFamily="18" charset="0"/>
                <a:cs typeface="Times New Roman" panose="02020603050405020304" pitchFamily="18" charset="0"/>
              </a:rPr>
              <a:t>Skin:</a:t>
            </a:r>
            <a:r>
              <a:rPr lang="en-CA" sz="2000" dirty="0">
                <a:latin typeface="Times New Roman" panose="02020603050405020304" pitchFamily="18" charset="0"/>
                <a:cs typeface="Times New Roman" panose="02020603050405020304" pitchFamily="18" charset="0"/>
              </a:rPr>
              <a:t> Examine for rashes, especially over the abdomen, back, and perineum. Zoster presents with a rash in the dermatomal distribution of the pain.</a:t>
            </a:r>
            <a:endParaRPr lang="en-US" sz="20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7816274-15CA-E34D-953B-0939DFF01F1E}"/>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D956518B-DB09-CE4D-A337-5B60B171C181}"/>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D53D673C-14DA-704B-9FAB-D3A1B40B8DC6}"/>
              </a:ext>
            </a:extLst>
          </p:cNvPr>
          <p:cNvSpPr>
            <a:spLocks noGrp="1"/>
          </p:cNvSpPr>
          <p:nvPr>
            <p:ph type="sldNum" sz="quarter" idx="12"/>
          </p:nvPr>
        </p:nvSpPr>
        <p:spPr/>
        <p:txBody>
          <a:bodyPr/>
          <a:lstStyle/>
          <a:p>
            <a:fld id="{5F92C6BE-6031-4786-AD87-3DCEC0D6B6E0}" type="slidenum">
              <a:rPr lang="en-US" smtClean="0"/>
              <a:pPr/>
              <a:t>22</a:t>
            </a:fld>
            <a:endParaRPr lang="en-US"/>
          </a:p>
        </p:txBody>
      </p:sp>
    </p:spTree>
    <p:extLst>
      <p:ext uri="{BB962C8B-B14F-4D97-AF65-F5344CB8AC3E}">
        <p14:creationId xmlns:p14="http://schemas.microsoft.com/office/powerpoint/2010/main" val="3928925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a:extLst>
              <a:ext uri="{FF2B5EF4-FFF2-40B4-BE49-F238E27FC236}">
                <a16:creationId xmlns:a16="http://schemas.microsoft.com/office/drawing/2014/main" id="{30FC0AE8-F3D8-E34B-AB54-2996DF86F9F8}"/>
              </a:ext>
            </a:extLst>
          </p:cNvPr>
          <p:cNvPicPr>
            <a:picLocks noChangeAspect="1"/>
          </p:cNvPicPr>
          <p:nvPr/>
        </p:nvPicPr>
        <p:blipFill>
          <a:blip r:embed="rId2"/>
          <a:stretch>
            <a:fillRect/>
          </a:stretch>
        </p:blipFill>
        <p:spPr>
          <a:xfrm>
            <a:off x="3278651" y="-1"/>
            <a:ext cx="4798549" cy="6741763"/>
          </a:xfrm>
          <a:prstGeom prst="rect">
            <a:avLst/>
          </a:prstGeom>
        </p:spPr>
      </p:pic>
      <p:sp>
        <p:nvSpPr>
          <p:cNvPr id="2" name="Date Placeholder 1">
            <a:extLst>
              <a:ext uri="{FF2B5EF4-FFF2-40B4-BE49-F238E27FC236}">
                <a16:creationId xmlns:a16="http://schemas.microsoft.com/office/drawing/2014/main" id="{ACB1C41D-EFBB-2D48-B9F2-5A571C8FE08B}"/>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C2D1A8B5-C547-0D43-AA2F-67367D801EE7}"/>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2170E83C-1A4F-CA49-87B2-885D26E747C7}"/>
              </a:ext>
            </a:extLst>
          </p:cNvPr>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2482134418"/>
      </p:ext>
    </p:extLst>
  </p:cSld>
  <p:clrMapOvr>
    <a:masterClrMapping/>
  </p:clrMapOvr>
  <p:transition>
    <p:pull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51353" y="236951"/>
            <a:ext cx="10702447" cy="601249"/>
          </a:xfrm>
        </p:spPr>
        <p:txBody>
          <a:bodyPr>
            <a:normAutofit/>
          </a:bodyPr>
          <a:lstStyle/>
          <a:p>
            <a:pPr eaLnBrk="1" hangingPunct="1"/>
            <a:r>
              <a:rPr lang="en-US" sz="2800" b="1" dirty="0">
                <a:latin typeface="Times New Roman" panose="02020603050405020304" pitchFamily="18" charset="0"/>
                <a:cs typeface="Times New Roman" panose="02020603050405020304" pitchFamily="18" charset="0"/>
              </a:rPr>
              <a:t>Laboratory Test</a:t>
            </a:r>
          </a:p>
        </p:txBody>
      </p:sp>
      <p:sp>
        <p:nvSpPr>
          <p:cNvPr id="23555" name="Rectangle 3"/>
          <p:cNvSpPr>
            <a:spLocks noGrp="1" noChangeArrowheads="1"/>
          </p:cNvSpPr>
          <p:nvPr>
            <p:ph idx="1"/>
          </p:nvPr>
        </p:nvSpPr>
        <p:spPr>
          <a:xfrm>
            <a:off x="739036" y="914400"/>
            <a:ext cx="10614764" cy="5262563"/>
          </a:xfrm>
        </p:spPr>
        <p:txBody>
          <a:bodyPr>
            <a:normAutofit/>
          </a:bodyPr>
          <a:lstStyle/>
          <a:p>
            <a:pPr eaLnBrk="1" hangingPunct="1">
              <a:lnSpc>
                <a:spcPct val="150000"/>
              </a:lnSpc>
            </a:pPr>
            <a:r>
              <a:rPr lang="en-US" sz="2000" dirty="0">
                <a:latin typeface="Times New Roman" panose="02020603050405020304" pitchFamily="18" charset="0"/>
                <a:cs typeface="Times New Roman" panose="02020603050405020304" pitchFamily="18" charset="0"/>
              </a:rPr>
              <a:t>CBC </a:t>
            </a:r>
          </a:p>
          <a:p>
            <a:pPr eaLnBrk="1" hangingPunct="1">
              <a:lnSpc>
                <a:spcPct val="150000"/>
              </a:lnSpc>
            </a:pPr>
            <a:r>
              <a:rPr lang="en-US" sz="2000" dirty="0">
                <a:latin typeface="Times New Roman" panose="02020603050405020304" pitchFamily="18" charset="0"/>
                <a:cs typeface="Times New Roman" panose="02020603050405020304" pitchFamily="18" charset="0"/>
              </a:rPr>
              <a:t>UA / Urine culture</a:t>
            </a:r>
          </a:p>
          <a:p>
            <a:pPr eaLnBrk="1" hangingPunct="1">
              <a:lnSpc>
                <a:spcPct val="150000"/>
              </a:lnSpc>
            </a:pPr>
            <a:r>
              <a:rPr lang="en-US" sz="2000" dirty="0">
                <a:latin typeface="Times New Roman" panose="02020603050405020304" pitchFamily="18" charset="0"/>
                <a:cs typeface="Times New Roman" panose="02020603050405020304" pitchFamily="18" charset="0"/>
              </a:rPr>
              <a:t>Lactic acid, ABG</a:t>
            </a:r>
          </a:p>
          <a:p>
            <a:pPr eaLnBrk="1" hangingPunct="1">
              <a:lnSpc>
                <a:spcPct val="150000"/>
              </a:lnSpc>
            </a:pPr>
            <a:r>
              <a:rPr lang="en-US" sz="2000" dirty="0">
                <a:latin typeface="Times New Roman" panose="02020603050405020304" pitchFamily="18" charset="0"/>
                <a:cs typeface="Times New Roman" panose="02020603050405020304" pitchFamily="18" charset="0"/>
              </a:rPr>
              <a:t>LFT/RFT/ Amylase / Lipase/Electrolyte</a:t>
            </a:r>
          </a:p>
          <a:p>
            <a:pPr eaLnBrk="1" hangingPunct="1">
              <a:lnSpc>
                <a:spcPct val="150000"/>
              </a:lnSpc>
            </a:pPr>
            <a:r>
              <a:rPr lang="en-US" sz="2000" dirty="0">
                <a:latin typeface="Times New Roman" panose="02020603050405020304" pitchFamily="18" charset="0"/>
                <a:cs typeface="Times New Roman" panose="02020603050405020304" pitchFamily="18" charset="0"/>
              </a:rPr>
              <a:t>CE / Troponin </a:t>
            </a:r>
          </a:p>
          <a:p>
            <a:pPr>
              <a:lnSpc>
                <a:spcPct val="150000"/>
              </a:lnSpc>
            </a:pPr>
            <a:r>
              <a:rPr lang="en-US" sz="2000" dirty="0">
                <a:latin typeface="Times New Roman" panose="02020603050405020304" pitchFamily="18" charset="0"/>
                <a:cs typeface="Times New Roman" panose="02020603050405020304" pitchFamily="18" charset="0"/>
              </a:rPr>
              <a:t>HCG (quant /</a:t>
            </a:r>
            <a:r>
              <a:rPr lang="en-US" sz="2000" dirty="0" err="1">
                <a:latin typeface="Times New Roman" panose="02020603050405020304" pitchFamily="18" charset="0"/>
                <a:cs typeface="Times New Roman" panose="02020603050405020304" pitchFamily="18" charset="0"/>
              </a:rPr>
              <a:t>qual</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a:t>
            </a:r>
            <a:r>
              <a:rPr lang="en-CA" sz="2000" dirty="0">
                <a:latin typeface="Times New Roman" panose="02020603050405020304" pitchFamily="18" charset="0"/>
                <a:cs typeface="Times New Roman" panose="02020603050405020304" pitchFamily="18" charset="0"/>
              </a:rPr>
              <a:t>s required in all females of childbearing age with abdominal pain.</a:t>
            </a:r>
            <a:endParaRPr lang="en-US" sz="2000" dirty="0">
              <a:latin typeface="Times New Roman" panose="02020603050405020304" pitchFamily="18" charset="0"/>
              <a:cs typeface="Times New Roman" panose="02020603050405020304" pitchFamily="18" charset="0"/>
            </a:endParaRPr>
          </a:p>
          <a:p>
            <a:pPr eaLnBrk="1" hangingPunct="1">
              <a:lnSpc>
                <a:spcPct val="150000"/>
              </a:lnSpc>
            </a:pPr>
            <a:r>
              <a:rPr lang="en-US" sz="2000" dirty="0">
                <a:latin typeface="Times New Roman" panose="02020603050405020304" pitchFamily="18" charset="0"/>
                <a:cs typeface="Times New Roman" panose="02020603050405020304" pitchFamily="18" charset="0"/>
              </a:rPr>
              <a:t>Stool exam: </a:t>
            </a:r>
            <a:r>
              <a:rPr lang="en-US" sz="2000" dirty="0" err="1">
                <a:latin typeface="Times New Roman" panose="02020603050405020304" pitchFamily="18" charset="0"/>
                <a:cs typeface="Times New Roman" panose="02020603050405020304" pitchFamily="18" charset="0"/>
              </a:rPr>
              <a:t>C.diff</a:t>
            </a:r>
            <a:r>
              <a:rPr lang="en-US" sz="2000" dirty="0">
                <a:latin typeface="Times New Roman" panose="02020603050405020304" pitchFamily="18" charset="0"/>
                <a:cs typeface="Times New Roman" panose="02020603050405020304" pitchFamily="18" charset="0"/>
              </a:rPr>
              <a:t>. toxin test.</a:t>
            </a:r>
          </a:p>
          <a:p>
            <a:pPr eaLnBrk="1" hangingPunct="1"/>
            <a:endParaRPr lang="en-US" dirty="0"/>
          </a:p>
          <a:p>
            <a:pPr eaLnBrk="1" hangingPunct="1"/>
            <a:endParaRPr lang="en-US" dirty="0"/>
          </a:p>
        </p:txBody>
      </p:sp>
      <p:sp>
        <p:nvSpPr>
          <p:cNvPr id="2" name="Date Placeholder 1">
            <a:extLst>
              <a:ext uri="{FF2B5EF4-FFF2-40B4-BE49-F238E27FC236}">
                <a16:creationId xmlns:a16="http://schemas.microsoft.com/office/drawing/2014/main" id="{19E9374D-D12F-2D42-9A46-74DD566D81FC}"/>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AF867059-D0B8-8F4C-ABE8-E2E880D2FFFF}"/>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446DEF37-EAF3-2843-B582-5C406C947773}"/>
              </a:ext>
            </a:extLst>
          </p:cNvPr>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transition>
    <p:pull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789140" y="87683"/>
            <a:ext cx="10564660" cy="613775"/>
          </a:xfrm>
        </p:spPr>
        <p:txBody>
          <a:bodyPr>
            <a:normAutofit/>
          </a:bodyPr>
          <a:lstStyle/>
          <a:p>
            <a:pPr eaLnBrk="1" hangingPunct="1"/>
            <a:r>
              <a:rPr lang="en-US" sz="2800" b="1" dirty="0">
                <a:latin typeface="Times New Roman" panose="02020603050405020304" pitchFamily="18" charset="0"/>
                <a:cs typeface="Times New Roman" panose="02020603050405020304" pitchFamily="18" charset="0"/>
              </a:rPr>
              <a:t>Radiographic Test</a:t>
            </a:r>
          </a:p>
        </p:txBody>
      </p:sp>
      <p:sp>
        <p:nvSpPr>
          <p:cNvPr id="24579" name="Rectangle 3"/>
          <p:cNvSpPr>
            <a:spLocks noGrp="1" noChangeArrowheads="1"/>
          </p:cNvSpPr>
          <p:nvPr>
            <p:ph idx="1"/>
          </p:nvPr>
        </p:nvSpPr>
        <p:spPr>
          <a:xfrm>
            <a:off x="826718" y="901874"/>
            <a:ext cx="10527082" cy="5275089"/>
          </a:xfrm>
        </p:spPr>
        <p:txBody>
          <a:bodyPr>
            <a:normAutofit/>
          </a:bodyPr>
          <a:lstStyle/>
          <a:p>
            <a:pPr>
              <a:lnSpc>
                <a:spcPct val="150000"/>
              </a:lnSpc>
            </a:pPr>
            <a:r>
              <a:rPr lang="en-CA" sz="2000" dirty="0">
                <a:latin typeface="Times New Roman" panose="02020603050405020304" pitchFamily="18" charset="0"/>
                <a:cs typeface="Times New Roman" panose="02020603050405020304" pitchFamily="18" charset="0"/>
              </a:rPr>
              <a:t>Chest radiograph (CXR)</a:t>
            </a:r>
          </a:p>
          <a:p>
            <a:pPr>
              <a:lnSpc>
                <a:spcPct val="150000"/>
              </a:lnSpc>
            </a:pPr>
            <a:r>
              <a:rPr lang="en-CA" sz="2000" dirty="0">
                <a:latin typeface="Times New Roman" panose="02020603050405020304" pitchFamily="18" charset="0"/>
                <a:cs typeface="Times New Roman" panose="02020603050405020304" pitchFamily="18" charset="0"/>
              </a:rPr>
              <a:t>Plain abdominal X ray</a:t>
            </a:r>
          </a:p>
          <a:p>
            <a:pPr>
              <a:lnSpc>
                <a:spcPct val="150000"/>
              </a:lnSpc>
            </a:pPr>
            <a:r>
              <a:rPr lang="en-CA" sz="2000" dirty="0">
                <a:latin typeface="Times New Roman" panose="02020603050405020304" pitchFamily="18" charset="0"/>
                <a:cs typeface="Times New Roman" panose="02020603050405020304" pitchFamily="18" charset="0"/>
              </a:rPr>
              <a:t>ECG</a:t>
            </a:r>
          </a:p>
          <a:p>
            <a:pPr>
              <a:lnSpc>
                <a:spcPct val="150000"/>
              </a:lnSpc>
            </a:pPr>
            <a:r>
              <a:rPr lang="en-CA" sz="2000" dirty="0" err="1">
                <a:latin typeface="Times New Roman" panose="02020603050405020304" pitchFamily="18" charset="0"/>
                <a:cs typeface="Times New Roman" panose="02020603050405020304" pitchFamily="18" charset="0"/>
              </a:rPr>
              <a:t>Abdominoplevic</a:t>
            </a:r>
            <a:r>
              <a:rPr lang="en-CA" sz="2000" dirty="0">
                <a:latin typeface="Times New Roman" panose="02020603050405020304" pitchFamily="18" charset="0"/>
                <a:cs typeface="Times New Roman" panose="02020603050405020304" pitchFamily="18" charset="0"/>
              </a:rPr>
              <a:t> US</a:t>
            </a:r>
          </a:p>
          <a:p>
            <a:pPr>
              <a:lnSpc>
                <a:spcPct val="150000"/>
              </a:lnSpc>
            </a:pPr>
            <a:r>
              <a:rPr lang="en-CA" sz="2000" dirty="0">
                <a:latin typeface="Times New Roman" panose="02020603050405020304" pitchFamily="18" charset="0"/>
                <a:cs typeface="Times New Roman" panose="02020603050405020304" pitchFamily="18" charset="0"/>
              </a:rPr>
              <a:t>CT scan (with/without contrast)</a:t>
            </a:r>
          </a:p>
          <a:p>
            <a:pPr>
              <a:lnSpc>
                <a:spcPct val="150000"/>
              </a:lnSpc>
            </a:pPr>
            <a:r>
              <a:rPr lang="en-CA" sz="2000" dirty="0">
                <a:latin typeface="Times New Roman" panose="02020603050405020304" pitchFamily="18" charset="0"/>
                <a:cs typeface="Times New Roman" panose="02020603050405020304" pitchFamily="18" charset="0"/>
              </a:rPr>
              <a:t>MRI</a:t>
            </a:r>
          </a:p>
          <a:p>
            <a:pPr>
              <a:lnSpc>
                <a:spcPct val="150000"/>
              </a:lnSpc>
            </a:pPr>
            <a:r>
              <a:rPr lang="en-CA" sz="2000" dirty="0">
                <a:latin typeface="Times New Roman" panose="02020603050405020304" pitchFamily="18" charset="0"/>
                <a:cs typeface="Times New Roman" panose="02020603050405020304" pitchFamily="18" charset="0"/>
              </a:rPr>
              <a:t>Plain abdominal X ray</a:t>
            </a:r>
            <a:endParaRPr lang="en-US"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DAF85AF-F379-5A4A-8E3B-623C00F9FB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8860" y="87681"/>
            <a:ext cx="7317549" cy="6162807"/>
          </a:xfrm>
          <a:prstGeom prst="rect">
            <a:avLst/>
          </a:prstGeom>
        </p:spPr>
      </p:pic>
      <p:sp>
        <p:nvSpPr>
          <p:cNvPr id="2" name="Date Placeholder 1">
            <a:extLst>
              <a:ext uri="{FF2B5EF4-FFF2-40B4-BE49-F238E27FC236}">
                <a16:creationId xmlns:a16="http://schemas.microsoft.com/office/drawing/2014/main" id="{BC8EBB64-BA5B-AA4C-AEBC-95726CC19515}"/>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5F479AA8-7340-8C46-A7E9-0055730923C2}"/>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F9F4DD81-0271-2C41-A114-C7282D978E70}"/>
              </a:ext>
            </a:extLst>
          </p:cNvPr>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transition>
    <p:pull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8450DC80-E80F-5346-8B2D-ACA16BF67E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84" y="50103"/>
            <a:ext cx="5808387" cy="5887234"/>
          </a:xfrm>
          <a:prstGeom prst="rect">
            <a:avLst/>
          </a:prstGeom>
        </p:spPr>
      </p:pic>
      <p:pic>
        <p:nvPicPr>
          <p:cNvPr id="17" name="Picture 16">
            <a:extLst>
              <a:ext uri="{FF2B5EF4-FFF2-40B4-BE49-F238E27FC236}">
                <a16:creationId xmlns:a16="http://schemas.microsoft.com/office/drawing/2014/main" id="{6F907ED1-C054-5142-A9A4-AE76CC47C3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8110" y="46711"/>
            <a:ext cx="6234830" cy="5715261"/>
          </a:xfrm>
          <a:prstGeom prst="rect">
            <a:avLst/>
          </a:prstGeom>
        </p:spPr>
      </p:pic>
      <p:pic>
        <p:nvPicPr>
          <p:cNvPr id="20" name="Picture 19">
            <a:extLst>
              <a:ext uri="{FF2B5EF4-FFF2-40B4-BE49-F238E27FC236}">
                <a16:creationId xmlns:a16="http://schemas.microsoft.com/office/drawing/2014/main" id="{97B93E5A-1710-164A-BF16-ED2DDDA9E4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1400" y="51468"/>
            <a:ext cx="5029200" cy="6273800"/>
          </a:xfrm>
          <a:prstGeom prst="rect">
            <a:avLst/>
          </a:prstGeom>
        </p:spPr>
      </p:pic>
      <p:sp>
        <p:nvSpPr>
          <p:cNvPr id="2" name="Date Placeholder 1">
            <a:extLst>
              <a:ext uri="{FF2B5EF4-FFF2-40B4-BE49-F238E27FC236}">
                <a16:creationId xmlns:a16="http://schemas.microsoft.com/office/drawing/2014/main" id="{7F44E959-21B2-CB46-B3A5-7D5F5076E4F8}"/>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DCC9059B-F158-1F4F-8820-B8C01BC95D44}"/>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211CF425-36C6-AB4C-8085-C704850811A1}"/>
              </a:ext>
            </a:extLst>
          </p:cNvPr>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1478093093"/>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450937" y="613775"/>
            <a:ext cx="11285951" cy="5561557"/>
          </a:xfrm>
        </p:spPr>
        <p:txBody>
          <a:bodyPr>
            <a:normAutofit/>
          </a:bodyPr>
          <a:lstStyle/>
          <a:p>
            <a:pPr eaLnBrk="1" hangingPunct="1">
              <a:lnSpc>
                <a:spcPct val="150000"/>
              </a:lnSpc>
            </a:pPr>
            <a:r>
              <a:rPr lang="en-US" sz="2000" dirty="0">
                <a:latin typeface="Times New Roman" panose="02020603050405020304" pitchFamily="18" charset="0"/>
                <a:cs typeface="Times New Roman" panose="02020603050405020304" pitchFamily="18" charset="0"/>
              </a:rPr>
              <a:t>In patients above fifty years of age the top four reasons for acute abdominal pain are: Biliary Tract Disease (21%,) NSAP (16%), Appendicitis(15%), and Bowel Obstruction (12%).</a:t>
            </a:r>
          </a:p>
          <a:p>
            <a:pPr eaLnBrk="1" hangingPunct="1">
              <a:lnSpc>
                <a:spcPct val="150000"/>
              </a:lnSpc>
            </a:pPr>
            <a:r>
              <a:rPr lang="en-US" sz="2000" dirty="0">
                <a:latin typeface="Times New Roman" panose="02020603050405020304" pitchFamily="18" charset="0"/>
                <a:cs typeface="Times New Roman" panose="02020603050405020304" pitchFamily="18" charset="0"/>
              </a:rPr>
              <a:t>In patients under fifty years of age the top three reasons for acute abdominal pain are: NSAP (40%,) Appendicitis (32%,)</a:t>
            </a:r>
          </a:p>
        </p:txBody>
      </p:sp>
      <p:sp>
        <p:nvSpPr>
          <p:cNvPr id="2" name="Date Placeholder 1">
            <a:extLst>
              <a:ext uri="{FF2B5EF4-FFF2-40B4-BE49-F238E27FC236}">
                <a16:creationId xmlns:a16="http://schemas.microsoft.com/office/drawing/2014/main" id="{1E8C3BD6-1BA9-7948-B574-AC75133691B2}"/>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B3D8947D-F005-9E4C-BE69-EED27D53858C}"/>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29F40901-C482-3040-A391-EEE2B9F0BC5F}"/>
              </a:ext>
            </a:extLst>
          </p:cNvPr>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transition>
    <p:pull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93DC84AD-FE0C-FF46-909F-16066E76B057}"/>
              </a:ext>
            </a:extLst>
          </p:cNvPr>
          <p:cNvSpPr txBox="1">
            <a:spLocks noChangeArrowheads="1"/>
          </p:cNvSpPr>
          <p:nvPr/>
        </p:nvSpPr>
        <p:spPr>
          <a:xfrm>
            <a:off x="488515" y="2906038"/>
            <a:ext cx="11248373" cy="688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en-US" b="1" dirty="0">
                <a:latin typeface="Times New Roman" panose="02020603050405020304" pitchFamily="18" charset="0"/>
                <a:cs typeface="Times New Roman" panose="02020603050405020304" pitchFamily="18" charset="0"/>
              </a:rPr>
              <a:t>Peritonitis</a:t>
            </a:r>
          </a:p>
        </p:txBody>
      </p:sp>
      <p:sp>
        <p:nvSpPr>
          <p:cNvPr id="2" name="Date Placeholder 1">
            <a:extLst>
              <a:ext uri="{FF2B5EF4-FFF2-40B4-BE49-F238E27FC236}">
                <a16:creationId xmlns:a16="http://schemas.microsoft.com/office/drawing/2014/main" id="{1AF9CE3C-EB0B-F74C-B77B-13613E64B1E8}"/>
              </a:ext>
            </a:extLst>
          </p:cNvPr>
          <p:cNvSpPr>
            <a:spLocks noGrp="1"/>
          </p:cNvSpPr>
          <p:nvPr>
            <p:ph type="dt" sz="half" idx="10"/>
          </p:nvPr>
        </p:nvSpPr>
        <p:spPr/>
        <p:txBody>
          <a:bodyPr/>
          <a:lstStyle/>
          <a:p>
            <a:r>
              <a:rPr lang="en-CA"/>
              <a:t>6/28/24</a:t>
            </a:r>
            <a:endParaRPr lang="en-US"/>
          </a:p>
        </p:txBody>
      </p:sp>
      <p:sp>
        <p:nvSpPr>
          <p:cNvPr id="4" name="Footer Placeholder 3">
            <a:extLst>
              <a:ext uri="{FF2B5EF4-FFF2-40B4-BE49-F238E27FC236}">
                <a16:creationId xmlns:a16="http://schemas.microsoft.com/office/drawing/2014/main" id="{8016EE07-9106-3F4C-A19F-8261ED67C0CD}"/>
              </a:ext>
            </a:extLst>
          </p:cNvPr>
          <p:cNvSpPr>
            <a:spLocks noGrp="1"/>
          </p:cNvSpPr>
          <p:nvPr>
            <p:ph type="ftr" sz="quarter" idx="11"/>
          </p:nvPr>
        </p:nvSpPr>
        <p:spPr/>
        <p:txBody>
          <a:bodyPr/>
          <a:lstStyle/>
          <a:p>
            <a:r>
              <a:rPr lang="en-US"/>
              <a:t>Acute Abdomen</a:t>
            </a:r>
          </a:p>
        </p:txBody>
      </p:sp>
      <p:sp>
        <p:nvSpPr>
          <p:cNvPr id="5" name="Slide Number Placeholder 4">
            <a:extLst>
              <a:ext uri="{FF2B5EF4-FFF2-40B4-BE49-F238E27FC236}">
                <a16:creationId xmlns:a16="http://schemas.microsoft.com/office/drawing/2014/main" id="{A6C5A885-1B8D-BB48-BE88-B4EDCEE81EE6}"/>
              </a:ext>
            </a:extLst>
          </p:cNvPr>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286259379"/>
      </p:ext>
    </p:extLst>
  </p:cSld>
  <p:clrMapOvr>
    <a:masterClrMapping/>
  </p:clrMapOvr>
  <p:transition>
    <p:pull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6930036-42C9-F145-B054-3CBFA76A7467}"/>
              </a:ext>
            </a:extLst>
          </p:cNvPr>
          <p:cNvPicPr>
            <a:picLocks noChangeAspect="1"/>
          </p:cNvPicPr>
          <p:nvPr/>
        </p:nvPicPr>
        <p:blipFill rotWithShape="1">
          <a:blip r:embed="rId2">
            <a:extLst>
              <a:ext uri="{28A0092B-C50C-407E-A947-70E740481C1C}">
                <a14:useLocalDpi xmlns:a14="http://schemas.microsoft.com/office/drawing/2010/main" val="0"/>
              </a:ext>
            </a:extLst>
          </a:blip>
          <a:srcRect l="2511" r="4886"/>
          <a:stretch/>
        </p:blipFill>
        <p:spPr>
          <a:xfrm>
            <a:off x="1753644" y="0"/>
            <a:ext cx="8467594" cy="6858000"/>
          </a:xfrm>
          <a:prstGeom prst="rect">
            <a:avLst/>
          </a:prstGeom>
        </p:spPr>
      </p:pic>
      <p:sp>
        <p:nvSpPr>
          <p:cNvPr id="2" name="Date Placeholder 1">
            <a:extLst>
              <a:ext uri="{FF2B5EF4-FFF2-40B4-BE49-F238E27FC236}">
                <a16:creationId xmlns:a16="http://schemas.microsoft.com/office/drawing/2014/main" id="{017675D3-1462-A24B-BBDB-46A30214D1AC}"/>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FBB4E5A8-1CCE-FA4B-AD70-961EF1F8A75B}"/>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09566E25-4732-C44B-8EEF-1E3C917EF87B}"/>
              </a:ext>
            </a:extLst>
          </p:cNvPr>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1102101444"/>
      </p:ext>
    </p:extLst>
  </p:cSld>
  <p:clrMapOvr>
    <a:masterClrMapping/>
  </p:clrMapOvr>
  <p:transition>
    <p:pull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17F382-182C-C149-917E-C930111DCE39}"/>
              </a:ext>
            </a:extLst>
          </p:cNvPr>
          <p:cNvPicPr>
            <a:picLocks noChangeAspect="1"/>
          </p:cNvPicPr>
          <p:nvPr/>
        </p:nvPicPr>
        <p:blipFill rotWithShape="1">
          <a:blip r:embed="rId2">
            <a:extLst>
              <a:ext uri="{28A0092B-C50C-407E-A947-70E740481C1C}">
                <a14:useLocalDpi xmlns:a14="http://schemas.microsoft.com/office/drawing/2010/main" val="0"/>
              </a:ext>
            </a:extLst>
          </a:blip>
          <a:srcRect l="1689" t="2191" r="5023" b="3379"/>
          <a:stretch/>
        </p:blipFill>
        <p:spPr>
          <a:xfrm>
            <a:off x="1678488" y="150312"/>
            <a:ext cx="8530224" cy="6475956"/>
          </a:xfrm>
          <a:prstGeom prst="rect">
            <a:avLst/>
          </a:prstGeom>
        </p:spPr>
      </p:pic>
      <p:sp>
        <p:nvSpPr>
          <p:cNvPr id="2" name="Date Placeholder 1">
            <a:extLst>
              <a:ext uri="{FF2B5EF4-FFF2-40B4-BE49-F238E27FC236}">
                <a16:creationId xmlns:a16="http://schemas.microsoft.com/office/drawing/2014/main" id="{87E2B28A-8CA5-8946-9FDC-C029703BC8AD}"/>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20002410-F9E7-3140-9ED3-B085CB3F4275}"/>
              </a:ext>
            </a:extLst>
          </p:cNvPr>
          <p:cNvSpPr>
            <a:spLocks noGrp="1"/>
          </p:cNvSpPr>
          <p:nvPr>
            <p:ph type="ftr" sz="quarter" idx="11"/>
          </p:nvPr>
        </p:nvSpPr>
        <p:spPr/>
        <p:txBody>
          <a:bodyPr/>
          <a:lstStyle/>
          <a:p>
            <a:r>
              <a:rPr lang="en-US"/>
              <a:t>Acute Abdomen</a:t>
            </a:r>
          </a:p>
        </p:txBody>
      </p:sp>
      <p:sp>
        <p:nvSpPr>
          <p:cNvPr id="5" name="Slide Number Placeholder 4">
            <a:extLst>
              <a:ext uri="{FF2B5EF4-FFF2-40B4-BE49-F238E27FC236}">
                <a16:creationId xmlns:a16="http://schemas.microsoft.com/office/drawing/2014/main" id="{6FFD9DE0-35BB-A944-BC2F-941A52F5800F}"/>
              </a:ext>
            </a:extLst>
          </p:cNvPr>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621746057"/>
      </p:ext>
    </p:extLst>
  </p:cSld>
  <p:clrMapOvr>
    <a:masterClrMapping/>
  </p:clrMapOvr>
  <p:transition>
    <p:pull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7E88FF-B9A1-8847-9B16-2A7F876B9149}"/>
              </a:ext>
            </a:extLst>
          </p:cNvPr>
          <p:cNvPicPr>
            <a:picLocks noChangeAspect="1"/>
          </p:cNvPicPr>
          <p:nvPr/>
        </p:nvPicPr>
        <p:blipFill rotWithShape="1">
          <a:blip r:embed="rId2">
            <a:extLst>
              <a:ext uri="{28A0092B-C50C-407E-A947-70E740481C1C}">
                <a14:useLocalDpi xmlns:a14="http://schemas.microsoft.com/office/drawing/2010/main" val="0"/>
              </a:ext>
            </a:extLst>
          </a:blip>
          <a:srcRect l="2922" r="11187"/>
          <a:stretch/>
        </p:blipFill>
        <p:spPr>
          <a:xfrm>
            <a:off x="1791222" y="0"/>
            <a:ext cx="7853819" cy="6858000"/>
          </a:xfrm>
          <a:prstGeom prst="rect">
            <a:avLst/>
          </a:prstGeom>
        </p:spPr>
      </p:pic>
      <p:sp>
        <p:nvSpPr>
          <p:cNvPr id="2" name="Date Placeholder 1">
            <a:extLst>
              <a:ext uri="{FF2B5EF4-FFF2-40B4-BE49-F238E27FC236}">
                <a16:creationId xmlns:a16="http://schemas.microsoft.com/office/drawing/2014/main" id="{57959865-1EA8-6541-AD44-26336B69336E}"/>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71EF0A61-B96B-2846-87F3-8537808A3CF4}"/>
              </a:ext>
            </a:extLst>
          </p:cNvPr>
          <p:cNvSpPr>
            <a:spLocks noGrp="1"/>
          </p:cNvSpPr>
          <p:nvPr>
            <p:ph type="ftr" sz="quarter" idx="11"/>
          </p:nvPr>
        </p:nvSpPr>
        <p:spPr/>
        <p:txBody>
          <a:bodyPr/>
          <a:lstStyle/>
          <a:p>
            <a:r>
              <a:rPr lang="en-US"/>
              <a:t>Acute Abdomen</a:t>
            </a:r>
          </a:p>
        </p:txBody>
      </p:sp>
      <p:sp>
        <p:nvSpPr>
          <p:cNvPr id="5" name="Slide Number Placeholder 4">
            <a:extLst>
              <a:ext uri="{FF2B5EF4-FFF2-40B4-BE49-F238E27FC236}">
                <a16:creationId xmlns:a16="http://schemas.microsoft.com/office/drawing/2014/main" id="{5FCAAEC9-73C0-2446-B00E-C0F3910126C0}"/>
              </a:ext>
            </a:extLst>
          </p:cNvPr>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4175219556"/>
      </p:ext>
    </p:extLst>
  </p:cSld>
  <p:clrMapOvr>
    <a:masterClrMapping/>
  </p:clrMapOvr>
  <p:transition>
    <p:pull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5DD713-3FB1-9249-B251-4B0D2F1F8C94}"/>
              </a:ext>
            </a:extLst>
          </p:cNvPr>
          <p:cNvPicPr>
            <a:picLocks noChangeAspect="1"/>
          </p:cNvPicPr>
          <p:nvPr/>
        </p:nvPicPr>
        <p:blipFill rotWithShape="1">
          <a:blip r:embed="rId2">
            <a:extLst>
              <a:ext uri="{28A0092B-C50C-407E-A947-70E740481C1C}">
                <a14:useLocalDpi xmlns:a14="http://schemas.microsoft.com/office/drawing/2010/main" val="0"/>
              </a:ext>
            </a:extLst>
          </a:blip>
          <a:srcRect l="1962" r="11598"/>
          <a:stretch/>
        </p:blipFill>
        <p:spPr>
          <a:xfrm>
            <a:off x="1703540" y="0"/>
            <a:ext cx="7903923" cy="6858000"/>
          </a:xfrm>
          <a:prstGeom prst="rect">
            <a:avLst/>
          </a:prstGeom>
        </p:spPr>
      </p:pic>
      <p:sp>
        <p:nvSpPr>
          <p:cNvPr id="2" name="Date Placeholder 1">
            <a:extLst>
              <a:ext uri="{FF2B5EF4-FFF2-40B4-BE49-F238E27FC236}">
                <a16:creationId xmlns:a16="http://schemas.microsoft.com/office/drawing/2014/main" id="{900D9D2E-2758-BE4F-9083-76A4FB63D75B}"/>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E78A768A-3DEB-3041-94D2-DFAAAF9BAA2D}"/>
              </a:ext>
            </a:extLst>
          </p:cNvPr>
          <p:cNvSpPr>
            <a:spLocks noGrp="1"/>
          </p:cNvSpPr>
          <p:nvPr>
            <p:ph type="ftr" sz="quarter" idx="11"/>
          </p:nvPr>
        </p:nvSpPr>
        <p:spPr/>
        <p:txBody>
          <a:bodyPr/>
          <a:lstStyle/>
          <a:p>
            <a:r>
              <a:rPr lang="en-US"/>
              <a:t>Acute Abdomen</a:t>
            </a:r>
          </a:p>
        </p:txBody>
      </p:sp>
      <p:sp>
        <p:nvSpPr>
          <p:cNvPr id="5" name="Slide Number Placeholder 4">
            <a:extLst>
              <a:ext uri="{FF2B5EF4-FFF2-40B4-BE49-F238E27FC236}">
                <a16:creationId xmlns:a16="http://schemas.microsoft.com/office/drawing/2014/main" id="{B8F42648-B753-D446-931D-D91102DF8C09}"/>
              </a:ext>
            </a:extLst>
          </p:cNvPr>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3044676247"/>
      </p:ext>
    </p:extLst>
  </p:cSld>
  <p:clrMapOvr>
    <a:masterClrMapping/>
  </p:clrMapOvr>
  <p:transition>
    <p:pull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6EF007-452E-EC45-9060-EA54229BB634}"/>
              </a:ext>
            </a:extLst>
          </p:cNvPr>
          <p:cNvPicPr>
            <a:picLocks noChangeAspect="1"/>
          </p:cNvPicPr>
          <p:nvPr/>
        </p:nvPicPr>
        <p:blipFill rotWithShape="1">
          <a:blip r:embed="rId2">
            <a:extLst>
              <a:ext uri="{28A0092B-C50C-407E-A947-70E740481C1C}">
                <a14:useLocalDpi xmlns:a14="http://schemas.microsoft.com/office/drawing/2010/main" val="0"/>
              </a:ext>
            </a:extLst>
          </a:blip>
          <a:srcRect l="2237" r="11461"/>
          <a:stretch/>
        </p:blipFill>
        <p:spPr>
          <a:xfrm>
            <a:off x="1728592" y="0"/>
            <a:ext cx="7891397" cy="6858000"/>
          </a:xfrm>
          <a:prstGeom prst="rect">
            <a:avLst/>
          </a:prstGeom>
        </p:spPr>
      </p:pic>
      <p:sp>
        <p:nvSpPr>
          <p:cNvPr id="2" name="Date Placeholder 1">
            <a:extLst>
              <a:ext uri="{FF2B5EF4-FFF2-40B4-BE49-F238E27FC236}">
                <a16:creationId xmlns:a16="http://schemas.microsoft.com/office/drawing/2014/main" id="{E12D14CB-DAFE-4247-94EC-3F2ED1BBD664}"/>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A3B353E7-9EB8-894E-A38A-C44260155189}"/>
              </a:ext>
            </a:extLst>
          </p:cNvPr>
          <p:cNvSpPr>
            <a:spLocks noGrp="1"/>
          </p:cNvSpPr>
          <p:nvPr>
            <p:ph type="ftr" sz="quarter" idx="11"/>
          </p:nvPr>
        </p:nvSpPr>
        <p:spPr/>
        <p:txBody>
          <a:bodyPr/>
          <a:lstStyle/>
          <a:p>
            <a:r>
              <a:rPr lang="en-US"/>
              <a:t>Acute Abdomen</a:t>
            </a:r>
          </a:p>
        </p:txBody>
      </p:sp>
      <p:sp>
        <p:nvSpPr>
          <p:cNvPr id="5" name="Slide Number Placeholder 4">
            <a:extLst>
              <a:ext uri="{FF2B5EF4-FFF2-40B4-BE49-F238E27FC236}">
                <a16:creationId xmlns:a16="http://schemas.microsoft.com/office/drawing/2014/main" id="{96D7E939-41BD-D64F-A11F-B088C3E50C9E}"/>
              </a:ext>
            </a:extLst>
          </p:cNvPr>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1596735767"/>
      </p:ext>
    </p:extLst>
  </p:cSld>
  <p:clrMapOvr>
    <a:masterClrMapping/>
  </p:clrMapOvr>
  <p:transition>
    <p:pull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134A8E-C296-034E-9B51-9DCBC2799197}"/>
              </a:ext>
            </a:extLst>
          </p:cNvPr>
          <p:cNvPicPr>
            <a:picLocks noChangeAspect="1"/>
          </p:cNvPicPr>
          <p:nvPr/>
        </p:nvPicPr>
        <p:blipFill rotWithShape="1">
          <a:blip r:embed="rId2">
            <a:extLst>
              <a:ext uri="{28A0092B-C50C-407E-A947-70E740481C1C}">
                <a14:useLocalDpi xmlns:a14="http://schemas.microsoft.com/office/drawing/2010/main" val="0"/>
              </a:ext>
            </a:extLst>
          </a:blip>
          <a:srcRect l="3060" r="5159"/>
          <a:stretch/>
        </p:blipFill>
        <p:spPr>
          <a:xfrm>
            <a:off x="1803748" y="0"/>
            <a:ext cx="8392438" cy="6858000"/>
          </a:xfrm>
          <a:prstGeom prst="rect">
            <a:avLst/>
          </a:prstGeom>
        </p:spPr>
      </p:pic>
      <p:sp>
        <p:nvSpPr>
          <p:cNvPr id="2" name="Date Placeholder 1">
            <a:extLst>
              <a:ext uri="{FF2B5EF4-FFF2-40B4-BE49-F238E27FC236}">
                <a16:creationId xmlns:a16="http://schemas.microsoft.com/office/drawing/2014/main" id="{FE8C6BA4-047E-624A-B4D8-B83FE57350C2}"/>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32787790-C0A9-5E40-A707-FE708D245167}"/>
              </a:ext>
            </a:extLst>
          </p:cNvPr>
          <p:cNvSpPr>
            <a:spLocks noGrp="1"/>
          </p:cNvSpPr>
          <p:nvPr>
            <p:ph type="ftr" sz="quarter" idx="11"/>
          </p:nvPr>
        </p:nvSpPr>
        <p:spPr/>
        <p:txBody>
          <a:bodyPr/>
          <a:lstStyle/>
          <a:p>
            <a:r>
              <a:rPr lang="en-US"/>
              <a:t>Acute Abdomen</a:t>
            </a:r>
          </a:p>
        </p:txBody>
      </p:sp>
      <p:sp>
        <p:nvSpPr>
          <p:cNvPr id="5" name="Slide Number Placeholder 4">
            <a:extLst>
              <a:ext uri="{FF2B5EF4-FFF2-40B4-BE49-F238E27FC236}">
                <a16:creationId xmlns:a16="http://schemas.microsoft.com/office/drawing/2014/main" id="{ABB48CCF-E7C7-AC44-B31D-25E887225383}"/>
              </a:ext>
            </a:extLst>
          </p:cNvPr>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1162525288"/>
      </p:ext>
    </p:extLst>
  </p:cSld>
  <p:clrMapOvr>
    <a:masterClrMapping/>
  </p:clrMapOvr>
  <p:transition>
    <p:pull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1E8C94-82A7-1442-9C65-A7531504C411}"/>
              </a:ext>
            </a:extLst>
          </p:cNvPr>
          <p:cNvPicPr>
            <a:picLocks noChangeAspect="1"/>
          </p:cNvPicPr>
          <p:nvPr/>
        </p:nvPicPr>
        <p:blipFill rotWithShape="1">
          <a:blip r:embed="rId2">
            <a:extLst>
              <a:ext uri="{28A0092B-C50C-407E-A947-70E740481C1C}">
                <a14:useLocalDpi xmlns:a14="http://schemas.microsoft.com/office/drawing/2010/main" val="0"/>
              </a:ext>
            </a:extLst>
          </a:blip>
          <a:srcRect l="2649" r="11461"/>
          <a:stretch/>
        </p:blipFill>
        <p:spPr>
          <a:xfrm>
            <a:off x="1766170" y="0"/>
            <a:ext cx="7853819" cy="6858000"/>
          </a:xfrm>
          <a:prstGeom prst="rect">
            <a:avLst/>
          </a:prstGeom>
        </p:spPr>
      </p:pic>
      <p:sp>
        <p:nvSpPr>
          <p:cNvPr id="2" name="Date Placeholder 1">
            <a:extLst>
              <a:ext uri="{FF2B5EF4-FFF2-40B4-BE49-F238E27FC236}">
                <a16:creationId xmlns:a16="http://schemas.microsoft.com/office/drawing/2014/main" id="{FBF7D471-8B5D-2B47-B6CC-69C698C9F3B3}"/>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0F119EBB-1452-D74A-B0F6-F34B4546E600}"/>
              </a:ext>
            </a:extLst>
          </p:cNvPr>
          <p:cNvSpPr>
            <a:spLocks noGrp="1"/>
          </p:cNvSpPr>
          <p:nvPr>
            <p:ph type="ftr" sz="quarter" idx="11"/>
          </p:nvPr>
        </p:nvSpPr>
        <p:spPr/>
        <p:txBody>
          <a:bodyPr/>
          <a:lstStyle/>
          <a:p>
            <a:r>
              <a:rPr lang="en-US"/>
              <a:t>Acute Abdomen</a:t>
            </a:r>
          </a:p>
        </p:txBody>
      </p:sp>
      <p:sp>
        <p:nvSpPr>
          <p:cNvPr id="5" name="Slide Number Placeholder 4">
            <a:extLst>
              <a:ext uri="{FF2B5EF4-FFF2-40B4-BE49-F238E27FC236}">
                <a16:creationId xmlns:a16="http://schemas.microsoft.com/office/drawing/2014/main" id="{679CFF6E-8DBB-934A-80CA-EC22AE77F782}"/>
              </a:ext>
            </a:extLst>
          </p:cNvPr>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480322141"/>
      </p:ext>
    </p:extLst>
  </p:cSld>
  <p:clrMapOvr>
    <a:masterClrMapping/>
  </p:clrMapOvr>
  <p:transition>
    <p:pull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776797-3C06-424A-8144-ECC0F20740C9}"/>
              </a:ext>
            </a:extLst>
          </p:cNvPr>
          <p:cNvPicPr>
            <a:picLocks noChangeAspect="1"/>
          </p:cNvPicPr>
          <p:nvPr/>
        </p:nvPicPr>
        <p:blipFill rotWithShape="1">
          <a:blip r:embed="rId2">
            <a:extLst>
              <a:ext uri="{28A0092B-C50C-407E-A947-70E740481C1C}">
                <a14:useLocalDpi xmlns:a14="http://schemas.microsoft.com/office/drawing/2010/main" val="0"/>
              </a:ext>
            </a:extLst>
          </a:blip>
          <a:srcRect l="2237" r="11872"/>
          <a:stretch/>
        </p:blipFill>
        <p:spPr>
          <a:xfrm>
            <a:off x="1728592" y="0"/>
            <a:ext cx="7853819" cy="6858000"/>
          </a:xfrm>
          <a:prstGeom prst="rect">
            <a:avLst/>
          </a:prstGeom>
        </p:spPr>
      </p:pic>
      <p:sp>
        <p:nvSpPr>
          <p:cNvPr id="2" name="Date Placeholder 1">
            <a:extLst>
              <a:ext uri="{FF2B5EF4-FFF2-40B4-BE49-F238E27FC236}">
                <a16:creationId xmlns:a16="http://schemas.microsoft.com/office/drawing/2014/main" id="{AEC4B14E-6EF7-0D4D-B1EB-7FFCAE514FE2}"/>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8BFFF7FF-AA3C-E74D-AF56-78F0037201E0}"/>
              </a:ext>
            </a:extLst>
          </p:cNvPr>
          <p:cNvSpPr>
            <a:spLocks noGrp="1"/>
          </p:cNvSpPr>
          <p:nvPr>
            <p:ph type="ftr" sz="quarter" idx="11"/>
          </p:nvPr>
        </p:nvSpPr>
        <p:spPr/>
        <p:txBody>
          <a:bodyPr/>
          <a:lstStyle/>
          <a:p>
            <a:r>
              <a:rPr lang="en-US"/>
              <a:t>Acute Abdomen</a:t>
            </a:r>
          </a:p>
        </p:txBody>
      </p:sp>
      <p:sp>
        <p:nvSpPr>
          <p:cNvPr id="5" name="Slide Number Placeholder 4">
            <a:extLst>
              <a:ext uri="{FF2B5EF4-FFF2-40B4-BE49-F238E27FC236}">
                <a16:creationId xmlns:a16="http://schemas.microsoft.com/office/drawing/2014/main" id="{BD23023C-C69C-DD40-94B7-FC4264228F3A}"/>
              </a:ext>
            </a:extLst>
          </p:cNvPr>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1870938404"/>
      </p:ext>
    </p:extLst>
  </p:cSld>
  <p:clrMapOvr>
    <a:masterClrMapping/>
  </p:clrMapOvr>
  <p:transition>
    <p:pull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ADC00A-C997-E746-92F2-99CC0AE6269B}"/>
              </a:ext>
            </a:extLst>
          </p:cNvPr>
          <p:cNvPicPr>
            <a:picLocks noChangeAspect="1"/>
          </p:cNvPicPr>
          <p:nvPr/>
        </p:nvPicPr>
        <p:blipFill rotWithShape="1">
          <a:blip r:embed="rId2">
            <a:extLst>
              <a:ext uri="{28A0092B-C50C-407E-A947-70E740481C1C}">
                <a14:useLocalDpi xmlns:a14="http://schemas.microsoft.com/office/drawing/2010/main" val="0"/>
              </a:ext>
            </a:extLst>
          </a:blip>
          <a:srcRect l="2374" r="5023"/>
          <a:stretch/>
        </p:blipFill>
        <p:spPr>
          <a:xfrm>
            <a:off x="1741118" y="0"/>
            <a:ext cx="8467594" cy="6858000"/>
          </a:xfrm>
          <a:prstGeom prst="rect">
            <a:avLst/>
          </a:prstGeom>
        </p:spPr>
      </p:pic>
      <p:sp>
        <p:nvSpPr>
          <p:cNvPr id="2" name="Date Placeholder 1">
            <a:extLst>
              <a:ext uri="{FF2B5EF4-FFF2-40B4-BE49-F238E27FC236}">
                <a16:creationId xmlns:a16="http://schemas.microsoft.com/office/drawing/2014/main" id="{E56ECB6F-3E90-204B-A6B9-4F5FBBBFD20A}"/>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1365D59D-0263-D344-97E3-8D9AFF7F3227}"/>
              </a:ext>
            </a:extLst>
          </p:cNvPr>
          <p:cNvSpPr>
            <a:spLocks noGrp="1"/>
          </p:cNvSpPr>
          <p:nvPr>
            <p:ph type="ftr" sz="quarter" idx="11"/>
          </p:nvPr>
        </p:nvSpPr>
        <p:spPr/>
        <p:txBody>
          <a:bodyPr/>
          <a:lstStyle/>
          <a:p>
            <a:r>
              <a:rPr lang="en-US"/>
              <a:t>Acute Abdomen</a:t>
            </a:r>
          </a:p>
        </p:txBody>
      </p:sp>
      <p:sp>
        <p:nvSpPr>
          <p:cNvPr id="5" name="Slide Number Placeholder 4">
            <a:extLst>
              <a:ext uri="{FF2B5EF4-FFF2-40B4-BE49-F238E27FC236}">
                <a16:creationId xmlns:a16="http://schemas.microsoft.com/office/drawing/2014/main" id="{6EBF08DE-9463-B445-ADB6-CC09C253ECE6}"/>
              </a:ext>
            </a:extLst>
          </p:cNvPr>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854136312"/>
      </p:ext>
    </p:extLst>
  </p:cSld>
  <p:clrMapOvr>
    <a:masterClrMapping/>
  </p:clrMapOvr>
  <p:transition>
    <p:pull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1B8F817-F537-C845-947B-68B2C1815DD7}"/>
              </a:ext>
            </a:extLst>
          </p:cNvPr>
          <p:cNvPicPr>
            <a:picLocks noChangeAspect="1"/>
          </p:cNvPicPr>
          <p:nvPr/>
        </p:nvPicPr>
        <p:blipFill rotWithShape="1">
          <a:blip r:embed="rId2">
            <a:extLst>
              <a:ext uri="{28A0092B-C50C-407E-A947-70E740481C1C}">
                <a14:useLocalDpi xmlns:a14="http://schemas.microsoft.com/office/drawing/2010/main" val="0"/>
              </a:ext>
            </a:extLst>
          </a:blip>
          <a:srcRect l="2374" r="4886"/>
          <a:stretch/>
        </p:blipFill>
        <p:spPr>
          <a:xfrm>
            <a:off x="1741118" y="0"/>
            <a:ext cx="8480120" cy="6858000"/>
          </a:xfrm>
          <a:prstGeom prst="rect">
            <a:avLst/>
          </a:prstGeom>
        </p:spPr>
      </p:pic>
      <p:sp>
        <p:nvSpPr>
          <p:cNvPr id="2" name="Date Placeholder 1">
            <a:extLst>
              <a:ext uri="{FF2B5EF4-FFF2-40B4-BE49-F238E27FC236}">
                <a16:creationId xmlns:a16="http://schemas.microsoft.com/office/drawing/2014/main" id="{DB534557-1D7A-FF46-BADF-84D9F95457C9}"/>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807B5346-92FE-754B-BA58-A09B63E10DA1}"/>
              </a:ext>
            </a:extLst>
          </p:cNvPr>
          <p:cNvSpPr>
            <a:spLocks noGrp="1"/>
          </p:cNvSpPr>
          <p:nvPr>
            <p:ph type="ftr" sz="quarter" idx="11"/>
          </p:nvPr>
        </p:nvSpPr>
        <p:spPr/>
        <p:txBody>
          <a:bodyPr/>
          <a:lstStyle/>
          <a:p>
            <a:r>
              <a:rPr lang="en-US"/>
              <a:t>Acute Abdomen</a:t>
            </a:r>
          </a:p>
        </p:txBody>
      </p:sp>
      <p:sp>
        <p:nvSpPr>
          <p:cNvPr id="5" name="Slide Number Placeholder 4">
            <a:extLst>
              <a:ext uri="{FF2B5EF4-FFF2-40B4-BE49-F238E27FC236}">
                <a16:creationId xmlns:a16="http://schemas.microsoft.com/office/drawing/2014/main" id="{A0893267-6360-0F42-88FA-B34ABD925877}"/>
              </a:ext>
            </a:extLst>
          </p:cNvPr>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349829225"/>
      </p:ext>
    </p:extLst>
  </p:cSld>
  <p:clrMapOvr>
    <a:masterClrMapping/>
  </p:clrMapOvr>
  <p:transition>
    <p:pull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694707-EC7C-E843-852C-2CCE3A8A8242}"/>
              </a:ext>
            </a:extLst>
          </p:cNvPr>
          <p:cNvPicPr>
            <a:picLocks noChangeAspect="1"/>
          </p:cNvPicPr>
          <p:nvPr/>
        </p:nvPicPr>
        <p:blipFill rotWithShape="1">
          <a:blip r:embed="rId2">
            <a:extLst>
              <a:ext uri="{28A0092B-C50C-407E-A947-70E740481C1C}">
                <a14:useLocalDpi xmlns:a14="http://schemas.microsoft.com/office/drawing/2010/main" val="0"/>
              </a:ext>
            </a:extLst>
          </a:blip>
          <a:srcRect l="3059" r="12283"/>
          <a:stretch/>
        </p:blipFill>
        <p:spPr>
          <a:xfrm>
            <a:off x="1803748" y="0"/>
            <a:ext cx="7741085" cy="6858000"/>
          </a:xfrm>
          <a:prstGeom prst="rect">
            <a:avLst/>
          </a:prstGeom>
        </p:spPr>
      </p:pic>
      <p:sp>
        <p:nvSpPr>
          <p:cNvPr id="2" name="Date Placeholder 1">
            <a:extLst>
              <a:ext uri="{FF2B5EF4-FFF2-40B4-BE49-F238E27FC236}">
                <a16:creationId xmlns:a16="http://schemas.microsoft.com/office/drawing/2014/main" id="{585A084C-43FB-2849-8E81-2AA25168D692}"/>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4DA9002A-4323-A442-9DA8-38C055E465A8}"/>
              </a:ext>
            </a:extLst>
          </p:cNvPr>
          <p:cNvSpPr>
            <a:spLocks noGrp="1"/>
          </p:cNvSpPr>
          <p:nvPr>
            <p:ph type="ftr" sz="quarter" idx="11"/>
          </p:nvPr>
        </p:nvSpPr>
        <p:spPr/>
        <p:txBody>
          <a:bodyPr/>
          <a:lstStyle/>
          <a:p>
            <a:r>
              <a:rPr lang="en-US"/>
              <a:t>Acute Abdomen</a:t>
            </a:r>
          </a:p>
        </p:txBody>
      </p:sp>
      <p:sp>
        <p:nvSpPr>
          <p:cNvPr id="5" name="Slide Number Placeholder 4">
            <a:extLst>
              <a:ext uri="{FF2B5EF4-FFF2-40B4-BE49-F238E27FC236}">
                <a16:creationId xmlns:a16="http://schemas.microsoft.com/office/drawing/2014/main" id="{4B72D272-F536-EC4D-A583-54B63EA6D5AF}"/>
              </a:ext>
            </a:extLst>
          </p:cNvPr>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3188113315"/>
      </p:ext>
    </p:extLst>
  </p:cSld>
  <p:clrMapOvr>
    <a:masterClrMapping/>
  </p:clrMapOvr>
  <p:transition>
    <p:pull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900CE2-4BE2-4E4F-95BF-F35C9402EA27}"/>
              </a:ext>
            </a:extLst>
          </p:cNvPr>
          <p:cNvPicPr>
            <a:picLocks noChangeAspect="1"/>
          </p:cNvPicPr>
          <p:nvPr/>
        </p:nvPicPr>
        <p:blipFill rotWithShape="1">
          <a:blip r:embed="rId2">
            <a:extLst>
              <a:ext uri="{28A0092B-C50C-407E-A947-70E740481C1C}">
                <a14:useLocalDpi xmlns:a14="http://schemas.microsoft.com/office/drawing/2010/main" val="0"/>
              </a:ext>
            </a:extLst>
          </a:blip>
          <a:srcRect l="2923" r="11049"/>
          <a:stretch/>
        </p:blipFill>
        <p:spPr>
          <a:xfrm>
            <a:off x="1791222" y="0"/>
            <a:ext cx="7866345" cy="6858000"/>
          </a:xfrm>
          <a:prstGeom prst="rect">
            <a:avLst/>
          </a:prstGeom>
        </p:spPr>
      </p:pic>
      <p:sp>
        <p:nvSpPr>
          <p:cNvPr id="2" name="Date Placeholder 1">
            <a:extLst>
              <a:ext uri="{FF2B5EF4-FFF2-40B4-BE49-F238E27FC236}">
                <a16:creationId xmlns:a16="http://schemas.microsoft.com/office/drawing/2014/main" id="{F134C67F-7525-2D4D-9DBF-44DED9198D6F}"/>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B8EB2370-7E24-414F-A087-DBB053FBCE65}"/>
              </a:ext>
            </a:extLst>
          </p:cNvPr>
          <p:cNvSpPr>
            <a:spLocks noGrp="1"/>
          </p:cNvSpPr>
          <p:nvPr>
            <p:ph type="ftr" sz="quarter" idx="11"/>
          </p:nvPr>
        </p:nvSpPr>
        <p:spPr/>
        <p:txBody>
          <a:bodyPr/>
          <a:lstStyle/>
          <a:p>
            <a:r>
              <a:rPr lang="en-US"/>
              <a:t>Acute Abdomen</a:t>
            </a:r>
          </a:p>
        </p:txBody>
      </p:sp>
      <p:sp>
        <p:nvSpPr>
          <p:cNvPr id="5" name="Slide Number Placeholder 4">
            <a:extLst>
              <a:ext uri="{FF2B5EF4-FFF2-40B4-BE49-F238E27FC236}">
                <a16:creationId xmlns:a16="http://schemas.microsoft.com/office/drawing/2014/main" id="{E76197B9-BDBE-EB41-B7C7-D9513FD9EA51}"/>
              </a:ext>
            </a:extLst>
          </p:cNvPr>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2140594825"/>
      </p:ext>
    </p:extLst>
  </p:cSld>
  <p:clrMapOvr>
    <a:masterClrMapping/>
  </p:clrMapOvr>
  <p:transition>
    <p:pull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0C2F67-1AB2-6D47-A3BA-53B155B2D339}"/>
              </a:ext>
            </a:extLst>
          </p:cNvPr>
          <p:cNvPicPr>
            <a:picLocks noChangeAspect="1"/>
          </p:cNvPicPr>
          <p:nvPr/>
        </p:nvPicPr>
        <p:blipFill rotWithShape="1">
          <a:blip r:embed="rId2">
            <a:extLst>
              <a:ext uri="{28A0092B-C50C-407E-A947-70E740481C1C}">
                <a14:useLocalDpi xmlns:a14="http://schemas.microsoft.com/office/drawing/2010/main" val="0"/>
              </a:ext>
            </a:extLst>
          </a:blip>
          <a:srcRect l="2923" r="4611"/>
          <a:stretch/>
        </p:blipFill>
        <p:spPr>
          <a:xfrm>
            <a:off x="1791222" y="0"/>
            <a:ext cx="8455068" cy="6858000"/>
          </a:xfrm>
          <a:prstGeom prst="rect">
            <a:avLst/>
          </a:prstGeom>
        </p:spPr>
      </p:pic>
      <p:sp>
        <p:nvSpPr>
          <p:cNvPr id="2" name="Date Placeholder 1">
            <a:extLst>
              <a:ext uri="{FF2B5EF4-FFF2-40B4-BE49-F238E27FC236}">
                <a16:creationId xmlns:a16="http://schemas.microsoft.com/office/drawing/2014/main" id="{964E0D5B-05C1-8847-83A1-4CA7C6462FE9}"/>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8ACBCF48-60B5-5942-8CF8-BC8A21D4D970}"/>
              </a:ext>
            </a:extLst>
          </p:cNvPr>
          <p:cNvSpPr>
            <a:spLocks noGrp="1"/>
          </p:cNvSpPr>
          <p:nvPr>
            <p:ph type="ftr" sz="quarter" idx="11"/>
          </p:nvPr>
        </p:nvSpPr>
        <p:spPr/>
        <p:txBody>
          <a:bodyPr/>
          <a:lstStyle/>
          <a:p>
            <a:r>
              <a:rPr lang="en-US"/>
              <a:t>Acute Abdomen</a:t>
            </a:r>
          </a:p>
        </p:txBody>
      </p:sp>
      <p:sp>
        <p:nvSpPr>
          <p:cNvPr id="5" name="Slide Number Placeholder 4">
            <a:extLst>
              <a:ext uri="{FF2B5EF4-FFF2-40B4-BE49-F238E27FC236}">
                <a16:creationId xmlns:a16="http://schemas.microsoft.com/office/drawing/2014/main" id="{D7C07D69-59DE-FF4D-A1CB-2F1E52B2F3B5}"/>
              </a:ext>
            </a:extLst>
          </p:cNvPr>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2573096055"/>
      </p:ext>
    </p:extLst>
  </p:cSld>
  <p:clrMapOvr>
    <a:masterClrMapping/>
  </p:clrMapOvr>
  <p:transition>
    <p:pull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8FEA98-E55D-9B4A-9A6E-47E2386411C7}"/>
              </a:ext>
            </a:extLst>
          </p:cNvPr>
          <p:cNvPicPr>
            <a:picLocks noChangeAspect="1"/>
          </p:cNvPicPr>
          <p:nvPr/>
        </p:nvPicPr>
        <p:blipFill rotWithShape="1">
          <a:blip r:embed="rId2">
            <a:extLst>
              <a:ext uri="{28A0092B-C50C-407E-A947-70E740481C1C}">
                <a14:useLocalDpi xmlns:a14="http://schemas.microsoft.com/office/drawing/2010/main" val="0"/>
              </a:ext>
            </a:extLst>
          </a:blip>
          <a:srcRect l="2511" r="12283"/>
          <a:stretch/>
        </p:blipFill>
        <p:spPr>
          <a:xfrm>
            <a:off x="1753644" y="0"/>
            <a:ext cx="7791189" cy="6858000"/>
          </a:xfrm>
          <a:prstGeom prst="rect">
            <a:avLst/>
          </a:prstGeom>
        </p:spPr>
      </p:pic>
      <p:sp>
        <p:nvSpPr>
          <p:cNvPr id="2" name="Date Placeholder 1">
            <a:extLst>
              <a:ext uri="{FF2B5EF4-FFF2-40B4-BE49-F238E27FC236}">
                <a16:creationId xmlns:a16="http://schemas.microsoft.com/office/drawing/2014/main" id="{B63E553C-1AFB-0B4D-B310-2C1DD5156F02}"/>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30AB4CA7-0E4D-0748-B0A4-B3D200B3FB2E}"/>
              </a:ext>
            </a:extLst>
          </p:cNvPr>
          <p:cNvSpPr>
            <a:spLocks noGrp="1"/>
          </p:cNvSpPr>
          <p:nvPr>
            <p:ph type="ftr" sz="quarter" idx="11"/>
          </p:nvPr>
        </p:nvSpPr>
        <p:spPr/>
        <p:txBody>
          <a:bodyPr/>
          <a:lstStyle/>
          <a:p>
            <a:r>
              <a:rPr lang="en-US"/>
              <a:t>Acute Abdomen</a:t>
            </a:r>
          </a:p>
        </p:txBody>
      </p:sp>
      <p:sp>
        <p:nvSpPr>
          <p:cNvPr id="5" name="Slide Number Placeholder 4">
            <a:extLst>
              <a:ext uri="{FF2B5EF4-FFF2-40B4-BE49-F238E27FC236}">
                <a16:creationId xmlns:a16="http://schemas.microsoft.com/office/drawing/2014/main" id="{5CDF58DD-9EC4-4646-81E6-AE08865CA15B}"/>
              </a:ext>
            </a:extLst>
          </p:cNvPr>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3082791819"/>
      </p:ext>
    </p:extLst>
  </p:cSld>
  <p:clrMapOvr>
    <a:masterClrMapping/>
  </p:clrMapOvr>
  <p:transition>
    <p:pull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530AAF-020A-4340-9E7F-5E2F9E40A175}"/>
              </a:ext>
            </a:extLst>
          </p:cNvPr>
          <p:cNvPicPr>
            <a:picLocks noChangeAspect="1"/>
          </p:cNvPicPr>
          <p:nvPr/>
        </p:nvPicPr>
        <p:blipFill rotWithShape="1">
          <a:blip r:embed="rId2">
            <a:extLst>
              <a:ext uri="{28A0092B-C50C-407E-A947-70E740481C1C}">
                <a14:useLocalDpi xmlns:a14="http://schemas.microsoft.com/office/drawing/2010/main" val="0"/>
              </a:ext>
            </a:extLst>
          </a:blip>
          <a:srcRect l="2512" t="13516" r="5434"/>
          <a:stretch/>
        </p:blipFill>
        <p:spPr>
          <a:xfrm>
            <a:off x="663879" y="61977"/>
            <a:ext cx="9645042" cy="6796024"/>
          </a:xfrm>
          <a:prstGeom prst="rect">
            <a:avLst/>
          </a:prstGeom>
        </p:spPr>
      </p:pic>
      <p:sp>
        <p:nvSpPr>
          <p:cNvPr id="2" name="Date Placeholder 1">
            <a:extLst>
              <a:ext uri="{FF2B5EF4-FFF2-40B4-BE49-F238E27FC236}">
                <a16:creationId xmlns:a16="http://schemas.microsoft.com/office/drawing/2014/main" id="{14E02F4E-4A24-D544-8B02-32629BC1E1FB}"/>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D06C922C-6D54-164C-A99A-7461D6C530F2}"/>
              </a:ext>
            </a:extLst>
          </p:cNvPr>
          <p:cNvSpPr>
            <a:spLocks noGrp="1"/>
          </p:cNvSpPr>
          <p:nvPr>
            <p:ph type="ftr" sz="quarter" idx="11"/>
          </p:nvPr>
        </p:nvSpPr>
        <p:spPr/>
        <p:txBody>
          <a:bodyPr/>
          <a:lstStyle/>
          <a:p>
            <a:r>
              <a:rPr lang="en-US"/>
              <a:t>Acute Abdomen</a:t>
            </a:r>
          </a:p>
        </p:txBody>
      </p:sp>
      <p:sp>
        <p:nvSpPr>
          <p:cNvPr id="5" name="Slide Number Placeholder 4">
            <a:extLst>
              <a:ext uri="{FF2B5EF4-FFF2-40B4-BE49-F238E27FC236}">
                <a16:creationId xmlns:a16="http://schemas.microsoft.com/office/drawing/2014/main" id="{A66D5EBB-AE39-D445-9CC5-60A10C4B4038}"/>
              </a:ext>
            </a:extLst>
          </p:cNvPr>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3285512565"/>
      </p:ext>
    </p:extLst>
  </p:cSld>
  <p:clrMapOvr>
    <a:masterClrMapping/>
  </p:clrMapOvr>
  <p:transition>
    <p:pull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463463" y="275573"/>
            <a:ext cx="10814137" cy="613775"/>
          </a:xfrm>
        </p:spPr>
        <p:txBody>
          <a:bodyPr>
            <a:normAutofit/>
          </a:bodyPr>
          <a:lstStyle/>
          <a:p>
            <a:r>
              <a:rPr lang="en-US" sz="2800" b="1" dirty="0">
                <a:latin typeface="Times New Roman" panose="02020603050405020304" pitchFamily="18" charset="0"/>
                <a:cs typeface="Times New Roman" panose="02020603050405020304" pitchFamily="18" charset="0"/>
              </a:rPr>
              <a:t>Appendicitis</a:t>
            </a:r>
          </a:p>
        </p:txBody>
      </p:sp>
      <p:sp>
        <p:nvSpPr>
          <p:cNvPr id="99331" name="Rectangle 3"/>
          <p:cNvSpPr>
            <a:spLocks noGrp="1" noChangeArrowheads="1"/>
          </p:cNvSpPr>
          <p:nvPr>
            <p:ph type="body" sz="half" idx="1"/>
          </p:nvPr>
        </p:nvSpPr>
        <p:spPr>
          <a:xfrm>
            <a:off x="425885" y="1252603"/>
            <a:ext cx="5568515" cy="4919597"/>
          </a:xfrm>
        </p:spPr>
        <p:txBody>
          <a:bodyPr>
            <a:noAutofit/>
          </a:bodyPr>
          <a:lstStyle/>
          <a:p>
            <a:pPr>
              <a:lnSpc>
                <a:spcPct val="150000"/>
              </a:lnSpc>
            </a:pPr>
            <a:r>
              <a:rPr lang="en-US" sz="2000" dirty="0">
                <a:latin typeface="Times New Roman" panose="02020603050405020304" pitchFamily="18" charset="0"/>
                <a:cs typeface="Times New Roman" panose="02020603050405020304" pitchFamily="18" charset="0"/>
              </a:rPr>
              <a:t>Usually due to obstruction with </a:t>
            </a:r>
            <a:r>
              <a:rPr lang="en-US" sz="2000" dirty="0" err="1">
                <a:latin typeface="Times New Roman" panose="02020603050405020304" pitchFamily="18" charset="0"/>
                <a:cs typeface="Times New Roman" panose="02020603050405020304" pitchFamily="18" charset="0"/>
              </a:rPr>
              <a:t>fecalith</a:t>
            </a:r>
            <a:r>
              <a:rPr lang="en-US" sz="2000" dirty="0">
                <a:latin typeface="Times New Roman" panose="02020603050405020304" pitchFamily="18" charset="0"/>
                <a:cs typeface="Times New Roman" panose="02020603050405020304" pitchFamily="18" charset="0"/>
              </a:rPr>
              <a:t>.</a:t>
            </a:r>
          </a:p>
          <a:p>
            <a:pPr>
              <a:lnSpc>
                <a:spcPct val="150000"/>
              </a:lnSpc>
            </a:pPr>
            <a:r>
              <a:rPr lang="en-US" sz="2000" dirty="0">
                <a:latin typeface="Times New Roman" panose="02020603050405020304" pitchFamily="18" charset="0"/>
                <a:cs typeface="Times New Roman" panose="02020603050405020304" pitchFamily="18" charset="0"/>
              </a:rPr>
              <a:t>Appendix becomes swollen, inflamed  gangrene, possible perforation</a:t>
            </a:r>
          </a:p>
          <a:p>
            <a:pPr>
              <a:lnSpc>
                <a:spcPct val="150000"/>
              </a:lnSpc>
            </a:pPr>
            <a:r>
              <a:rPr lang="en-CA" sz="2000" dirty="0">
                <a:latin typeface="Times New Roman" panose="02020603050405020304" pitchFamily="18" charset="0"/>
                <a:cs typeface="Times New Roman" panose="02020603050405020304" pitchFamily="18" charset="0"/>
              </a:rPr>
              <a:t>Appendicitis occurs most frequently in the second and third decades of life. </a:t>
            </a:r>
          </a:p>
          <a:p>
            <a:pPr>
              <a:lnSpc>
                <a:spcPct val="150000"/>
              </a:lnSpc>
            </a:pPr>
            <a:r>
              <a:rPr lang="en-CA" sz="2000" dirty="0">
                <a:latin typeface="Times New Roman" panose="02020603050405020304" pitchFamily="18" charset="0"/>
                <a:cs typeface="Times New Roman" panose="02020603050405020304" pitchFamily="18" charset="0"/>
              </a:rPr>
              <a:t>The incidence is highest in the 10-to-19-year-old age group and lowest in children ≤9 years</a:t>
            </a:r>
          </a:p>
          <a:p>
            <a:pPr>
              <a:lnSpc>
                <a:spcPct val="150000"/>
              </a:lnSpc>
            </a:pPr>
            <a:r>
              <a:rPr lang="en-CA" sz="2000" dirty="0">
                <a:latin typeface="Times New Roman" panose="02020603050405020304" pitchFamily="18" charset="0"/>
                <a:cs typeface="Times New Roman" panose="02020603050405020304" pitchFamily="18" charset="0"/>
              </a:rPr>
              <a:t>It is also higher among men (male-to-female ratio of 1.4:1), who have a lifetime incidence of 8.6 % compared with 6.7 % for women.</a:t>
            </a:r>
            <a:endParaRPr lang="en-US" sz="2000" dirty="0">
              <a:latin typeface="Times New Roman" panose="02020603050405020304" pitchFamily="18" charset="0"/>
              <a:cs typeface="Times New Roman" panose="02020603050405020304" pitchFamily="18" charset="0"/>
            </a:endParaRPr>
          </a:p>
        </p:txBody>
      </p:sp>
      <p:sp>
        <p:nvSpPr>
          <p:cNvPr id="99333" name="Rectangle 5"/>
          <p:cNvSpPr>
            <a:spLocks noChangeArrowheads="1"/>
          </p:cNvSpPr>
          <p:nvPr/>
        </p:nvSpPr>
        <p:spPr bwMode="auto">
          <a:xfrm>
            <a:off x="8753475" y="2895600"/>
            <a:ext cx="399468" cy="369332"/>
          </a:xfrm>
          <a:prstGeom prst="rect">
            <a:avLst/>
          </a:prstGeom>
          <a:noFill/>
          <a:ln w="12700">
            <a:noFill/>
            <a:miter lim="800000"/>
            <a:headEnd type="none" w="sm" len="sm"/>
            <a:tailEnd type="none" w="sm" len="sm"/>
          </a:ln>
          <a:effectLst/>
        </p:spPr>
        <p:txBody>
          <a:bodyPr wrap="none">
            <a:spAutoFit/>
          </a:bodyPr>
          <a:lstStyle/>
          <a:p>
            <a:r>
              <a:rPr lang="en-US">
                <a:sym typeface="Monotype Sorts" pitchFamily="2" charset="2"/>
              </a:rPr>
              <a:t></a:t>
            </a:r>
          </a:p>
        </p:txBody>
      </p:sp>
      <p:pic>
        <p:nvPicPr>
          <p:cNvPr id="99334" name="Picture 6" descr="appendicitis"/>
          <p:cNvPicPr>
            <a:picLocks noChangeAspect="1" noChangeArrowheads="1"/>
          </p:cNvPicPr>
          <p:nvPr/>
        </p:nvPicPr>
        <p:blipFill>
          <a:blip r:embed="rId2"/>
          <a:srcRect/>
          <a:stretch>
            <a:fillRect/>
          </a:stretch>
        </p:blipFill>
        <p:spPr bwMode="auto">
          <a:xfrm>
            <a:off x="6095999" y="504541"/>
            <a:ext cx="5352789" cy="5667659"/>
          </a:xfrm>
          <a:prstGeom prst="rect">
            <a:avLst/>
          </a:prstGeom>
          <a:noFill/>
        </p:spPr>
      </p:pic>
      <p:sp>
        <p:nvSpPr>
          <p:cNvPr id="2" name="Date Placeholder 1">
            <a:extLst>
              <a:ext uri="{FF2B5EF4-FFF2-40B4-BE49-F238E27FC236}">
                <a16:creationId xmlns:a16="http://schemas.microsoft.com/office/drawing/2014/main" id="{64E5D60E-3268-7B41-A5B6-46070120ED2F}"/>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3443D96E-177D-0549-832A-D5DF92FB64A2}"/>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887441AB-17AA-1444-836B-02FE99C26567}"/>
              </a:ext>
            </a:extLst>
          </p:cNvPr>
          <p:cNvSpPr>
            <a:spLocks noGrp="1"/>
          </p:cNvSpPr>
          <p:nvPr>
            <p:ph type="sldNum" sz="quarter" idx="12"/>
          </p:nvPr>
        </p:nvSpPr>
        <p:spPr/>
        <p:txBody>
          <a:bodyPr/>
          <a:lstStyle/>
          <a:p>
            <a:fld id="{E352DC59-21BC-4B8B-86B7-A0C361D8F6E1}"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551145" y="688932"/>
            <a:ext cx="10802655" cy="5488031"/>
          </a:xfrm>
        </p:spPr>
        <p:txBody>
          <a:bodyPr>
            <a:normAutofit/>
          </a:bodyPr>
          <a:lstStyle/>
          <a:p>
            <a:pPr eaLnBrk="1" hangingPunct="1">
              <a:lnSpc>
                <a:spcPct val="150000"/>
              </a:lnSpc>
              <a:buFont typeface="Wingdings" pitchFamily="2" charset="2"/>
              <a:buChar char="Ø"/>
            </a:pPr>
            <a:r>
              <a:rPr lang="en-US" sz="2000" b="1" dirty="0">
                <a:latin typeface="Times New Roman" panose="02020603050405020304" pitchFamily="18" charset="0"/>
                <a:cs typeface="Times New Roman" panose="02020603050405020304" pitchFamily="18" charset="0"/>
              </a:rPr>
              <a:t>Clinical features with some predictive value include:</a:t>
            </a:r>
          </a:p>
          <a:p>
            <a:pPr lvl="1">
              <a:lnSpc>
                <a:spcPct val="150000"/>
              </a:lnSpc>
            </a:pPr>
            <a:r>
              <a:rPr lang="en-US" sz="2000" dirty="0">
                <a:latin typeface="Times New Roman" panose="02020603050405020304" pitchFamily="18" charset="0"/>
                <a:cs typeface="Times New Roman" panose="02020603050405020304" pitchFamily="18" charset="0"/>
              </a:rPr>
              <a:t>Pain located in the RLQ</a:t>
            </a:r>
          </a:p>
          <a:p>
            <a:pPr lvl="1">
              <a:lnSpc>
                <a:spcPct val="150000"/>
              </a:lnSpc>
            </a:pPr>
            <a:r>
              <a:rPr lang="en-US" sz="2000" dirty="0">
                <a:latin typeface="Times New Roman" panose="02020603050405020304" pitchFamily="18" charset="0"/>
                <a:cs typeface="Times New Roman" panose="02020603050405020304" pitchFamily="18" charset="0"/>
              </a:rPr>
              <a:t>Pain migration from the periumbilical area to the RLQ</a:t>
            </a:r>
          </a:p>
          <a:p>
            <a:pPr lvl="1">
              <a:lnSpc>
                <a:spcPct val="150000"/>
              </a:lnSpc>
            </a:pPr>
            <a:r>
              <a:rPr lang="en-US" sz="2000" dirty="0">
                <a:latin typeface="Times New Roman" panose="02020603050405020304" pitchFamily="18" charset="0"/>
                <a:cs typeface="Times New Roman" panose="02020603050405020304" pitchFamily="18" charset="0"/>
              </a:rPr>
              <a:t>Pain before vomiting</a:t>
            </a:r>
          </a:p>
          <a:p>
            <a:pPr lvl="1">
              <a:lnSpc>
                <a:spcPct val="150000"/>
              </a:lnSpc>
            </a:pPr>
            <a:r>
              <a:rPr lang="en-US" sz="2000" dirty="0">
                <a:latin typeface="Times New Roman" panose="02020603050405020304" pitchFamily="18" charset="0"/>
                <a:cs typeface="Times New Roman" panose="02020603050405020304" pitchFamily="18" charset="0"/>
              </a:rPr>
              <a:t>Anorexia</a:t>
            </a:r>
          </a:p>
          <a:p>
            <a:pPr>
              <a:lnSpc>
                <a:spcPct val="150000"/>
              </a:lnSpc>
            </a:pPr>
            <a:r>
              <a:rPr lang="en-US" sz="2000" i="1" dirty="0">
                <a:latin typeface="Times New Roman" panose="02020603050405020304" pitchFamily="18" charset="0"/>
                <a:cs typeface="Times New Roman" panose="02020603050405020304" pitchFamily="18" charset="0"/>
              </a:rPr>
              <a:t>Other features</a:t>
            </a:r>
          </a:p>
          <a:p>
            <a:pPr lvl="1">
              <a:lnSpc>
                <a:spcPct val="150000"/>
              </a:lnSpc>
            </a:pPr>
            <a:r>
              <a:rPr lang="en-US" sz="2000" dirty="0">
                <a:latin typeface="Times New Roman" panose="02020603050405020304" pitchFamily="18" charset="0"/>
                <a:cs typeface="Times New Roman" panose="02020603050405020304" pitchFamily="18" charset="0"/>
              </a:rPr>
              <a:t>Psoas sign</a:t>
            </a:r>
          </a:p>
          <a:p>
            <a:pPr lvl="1">
              <a:lnSpc>
                <a:spcPct val="150000"/>
              </a:lnSpc>
            </a:pPr>
            <a:r>
              <a:rPr lang="en-US" sz="2000" dirty="0">
                <a:latin typeface="Times New Roman" panose="02020603050405020304" pitchFamily="18" charset="0"/>
                <a:cs typeface="Times New Roman" panose="02020603050405020304" pitchFamily="18" charset="0"/>
              </a:rPr>
              <a:t>Obturator sign</a:t>
            </a:r>
          </a:p>
          <a:p>
            <a:pPr lvl="1">
              <a:lnSpc>
                <a:spcPct val="150000"/>
              </a:lnSpc>
            </a:pPr>
            <a:r>
              <a:rPr lang="en-US" sz="2000" dirty="0" err="1">
                <a:latin typeface="Times New Roman" panose="02020603050405020304" pitchFamily="18" charset="0"/>
                <a:cs typeface="Times New Roman" panose="02020603050405020304" pitchFamily="18" charset="0"/>
              </a:rPr>
              <a:t>Rovising</a:t>
            </a:r>
            <a:r>
              <a:rPr lang="en-US" sz="2000" dirty="0">
                <a:latin typeface="Times New Roman" panose="02020603050405020304" pitchFamily="18" charset="0"/>
                <a:cs typeface="Times New Roman" panose="02020603050405020304" pitchFamily="18" charset="0"/>
              </a:rPr>
              <a:t> sign</a:t>
            </a:r>
          </a:p>
        </p:txBody>
      </p:sp>
      <p:sp>
        <p:nvSpPr>
          <p:cNvPr id="2" name="Date Placeholder 1">
            <a:extLst>
              <a:ext uri="{FF2B5EF4-FFF2-40B4-BE49-F238E27FC236}">
                <a16:creationId xmlns:a16="http://schemas.microsoft.com/office/drawing/2014/main" id="{42B02768-6BE3-E64D-9D8A-46FFDD165A34}"/>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5FB0EB16-37BD-A849-ADEB-4E8D55C341C7}"/>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7BE535D3-B439-0C4E-BF27-D770A5C2BFC0}"/>
              </a:ext>
            </a:extLst>
          </p:cNvPr>
          <p:cNvSpPr>
            <a:spLocks noGrp="1"/>
          </p:cNvSpPr>
          <p:nvPr>
            <p:ph type="sldNum" sz="quarter" idx="12"/>
          </p:nvPr>
        </p:nvSpPr>
        <p:spPr/>
        <p:txBody>
          <a:bodyPr/>
          <a:lstStyle/>
          <a:p>
            <a:fld id="{B6F15528-21DE-4FAA-801E-634DDDAF4B2B}" type="slidenum">
              <a:rPr lang="en-US" smtClean="0"/>
              <a:pPr/>
              <a:t>45</a:t>
            </a:fld>
            <a:endParaRPr lang="en-US"/>
          </a:p>
        </p:txBody>
      </p:sp>
    </p:spTree>
  </p:cSld>
  <p:clrMapOvr>
    <a:masterClrMapping/>
  </p:clrMapOvr>
  <p:transition>
    <p:pull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a:xfrm>
            <a:off x="563671" y="751562"/>
            <a:ext cx="10790129" cy="5425401"/>
          </a:xfrm>
        </p:spPr>
        <p:txBody>
          <a:bodyPr>
            <a:normAutofit/>
          </a:bodyPr>
          <a:lstStyle/>
          <a:p>
            <a:pPr eaLnBrk="1" hangingPunct="1">
              <a:lnSpc>
                <a:spcPct val="150000"/>
              </a:lnSpc>
              <a:buFont typeface="Wingdings" pitchFamily="2" charset="2"/>
              <a:buChar char="Ø"/>
            </a:pPr>
            <a:r>
              <a:rPr lang="en-US" sz="2000" b="1" dirty="0">
                <a:latin typeface="Times New Roman" panose="02020603050405020304" pitchFamily="18" charset="0"/>
                <a:cs typeface="Times New Roman" panose="02020603050405020304" pitchFamily="18" charset="0"/>
              </a:rPr>
              <a:t>Ix:</a:t>
            </a:r>
          </a:p>
          <a:p>
            <a:pPr lvl="1">
              <a:lnSpc>
                <a:spcPct val="150000"/>
              </a:lnSpc>
            </a:pPr>
            <a:r>
              <a:rPr lang="en-US" sz="2000" i="1" dirty="0">
                <a:latin typeface="Times New Roman" panose="02020603050405020304" pitchFamily="18" charset="0"/>
                <a:cs typeface="Times New Roman" panose="02020603050405020304" pitchFamily="18" charset="0"/>
              </a:rPr>
              <a:t>CBC: </a:t>
            </a:r>
            <a:r>
              <a:rPr lang="en-US" sz="2000" dirty="0" err="1">
                <a:latin typeface="Times New Roman" panose="02020603050405020304" pitchFamily="18" charset="0"/>
                <a:cs typeface="Times New Roman" panose="02020603050405020304" pitchFamily="18" charset="0"/>
              </a:rPr>
              <a:t>Leuckocytosis</a:t>
            </a:r>
            <a:r>
              <a:rPr lang="en-US" sz="2000" dirty="0">
                <a:latin typeface="Times New Roman" panose="02020603050405020304" pitchFamily="18" charset="0"/>
                <a:cs typeface="Times New Roman" panose="02020603050405020304" pitchFamily="18" charset="0"/>
              </a:rPr>
              <a:t> and lift shift</a:t>
            </a:r>
          </a:p>
          <a:p>
            <a:pPr lvl="1">
              <a:lnSpc>
                <a:spcPct val="150000"/>
              </a:lnSpc>
            </a:pPr>
            <a:r>
              <a:rPr lang="en-US" sz="2000" i="1" dirty="0">
                <a:latin typeface="Times New Roman" panose="02020603050405020304" pitchFamily="18" charset="0"/>
                <a:cs typeface="Times New Roman" panose="02020603050405020304" pitchFamily="18" charset="0"/>
              </a:rPr>
              <a:t>Ultrasound:</a:t>
            </a:r>
          </a:p>
          <a:p>
            <a:pPr lvl="2">
              <a:lnSpc>
                <a:spcPct val="150000"/>
              </a:lnSpc>
            </a:pPr>
            <a:r>
              <a:rPr lang="en-CA" dirty="0">
                <a:latin typeface="Times New Roman" panose="02020603050405020304" pitchFamily="18" charset="0"/>
                <a:cs typeface="Times New Roman" panose="02020603050405020304" pitchFamily="18" charset="0"/>
              </a:rPr>
              <a:t>Enlarged appendiceal diameter &gt;6 mm with an occluded lumen</a:t>
            </a:r>
          </a:p>
          <a:p>
            <a:pPr lvl="2">
              <a:lnSpc>
                <a:spcPct val="150000"/>
              </a:lnSpc>
            </a:pPr>
            <a:r>
              <a:rPr lang="en-CA" dirty="0">
                <a:latin typeface="Times New Roman" panose="02020603050405020304" pitchFamily="18" charset="0"/>
                <a:cs typeface="Times New Roman" panose="02020603050405020304" pitchFamily="18" charset="0"/>
              </a:rPr>
              <a:t>Appendiceal wall thickening (&gt;2 mm)</a:t>
            </a:r>
          </a:p>
          <a:p>
            <a:pPr lvl="2">
              <a:lnSpc>
                <a:spcPct val="150000"/>
              </a:lnSpc>
            </a:pPr>
            <a:r>
              <a:rPr lang="en-CA" dirty="0">
                <a:latin typeface="Times New Roman" panose="02020603050405020304" pitchFamily="18" charset="0"/>
                <a:cs typeface="Times New Roman" panose="02020603050405020304" pitchFamily="18" charset="0"/>
              </a:rPr>
              <a:t>Peri-appendiceal fat stranding</a:t>
            </a:r>
          </a:p>
          <a:p>
            <a:pPr lvl="2">
              <a:lnSpc>
                <a:spcPct val="150000"/>
              </a:lnSpc>
            </a:pPr>
            <a:r>
              <a:rPr lang="en-CA" dirty="0">
                <a:latin typeface="Times New Roman" panose="02020603050405020304" pitchFamily="18" charset="0"/>
                <a:cs typeface="Times New Roman" panose="02020603050405020304" pitchFamily="18" charset="0"/>
              </a:rPr>
              <a:t>Appendiceal wall enhancement</a:t>
            </a:r>
          </a:p>
          <a:p>
            <a:pPr lvl="2">
              <a:lnSpc>
                <a:spcPct val="150000"/>
              </a:lnSpc>
            </a:pPr>
            <a:r>
              <a:rPr lang="en-CA" dirty="0">
                <a:latin typeface="Times New Roman" panose="02020603050405020304" pitchFamily="18" charset="0"/>
                <a:cs typeface="Times New Roman" panose="02020603050405020304" pitchFamily="18" charset="0"/>
              </a:rPr>
              <a:t>Appendicolith (seen in approximately 25 percent of patients)</a:t>
            </a:r>
            <a:endParaRPr lang="en-US" dirty="0">
              <a:latin typeface="Times New Roman" panose="02020603050405020304" pitchFamily="18" charset="0"/>
              <a:cs typeface="Times New Roman" panose="02020603050405020304" pitchFamily="18" charset="0"/>
            </a:endParaRPr>
          </a:p>
          <a:p>
            <a:pPr lvl="1">
              <a:lnSpc>
                <a:spcPct val="150000"/>
              </a:lnSpc>
            </a:pPr>
            <a:r>
              <a:rPr lang="en-US" sz="2000" dirty="0">
                <a:latin typeface="Times New Roman" panose="02020603050405020304" pitchFamily="18" charset="0"/>
                <a:cs typeface="Times New Roman" panose="02020603050405020304" pitchFamily="18" charset="0"/>
              </a:rPr>
              <a:t>CT scan with and without contrast.</a:t>
            </a:r>
          </a:p>
        </p:txBody>
      </p:sp>
      <p:sp>
        <p:nvSpPr>
          <p:cNvPr id="2" name="Date Placeholder 1">
            <a:extLst>
              <a:ext uri="{FF2B5EF4-FFF2-40B4-BE49-F238E27FC236}">
                <a16:creationId xmlns:a16="http://schemas.microsoft.com/office/drawing/2014/main" id="{876247AD-9772-9F43-B1A4-175D8B445379}"/>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3EC4C3FA-5729-FB4D-9098-BB7E3B2E9EC0}"/>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B2750826-2C30-054C-8147-99209890D0B7}"/>
              </a:ext>
            </a:extLst>
          </p:cNvPr>
          <p:cNvSpPr>
            <a:spLocks noGrp="1"/>
          </p:cNvSpPr>
          <p:nvPr>
            <p:ph type="sldNum" sz="quarter" idx="12"/>
          </p:nvPr>
        </p:nvSpPr>
        <p:spPr/>
        <p:txBody>
          <a:bodyPr/>
          <a:lstStyle/>
          <a:p>
            <a:fld id="{B6F15528-21DE-4FAA-801E-634DDDAF4B2B}" type="slidenum">
              <a:rPr lang="en-US" smtClean="0"/>
              <a:pPr/>
              <a:t>46</a:t>
            </a:fld>
            <a:endParaRPr lang="en-US"/>
          </a:p>
        </p:txBody>
      </p:sp>
    </p:spTree>
  </p:cSld>
  <p:clrMapOvr>
    <a:masterClrMapping/>
  </p:clrMapOvr>
  <p:transition>
    <p:pull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a:xfrm>
            <a:off x="563671" y="751562"/>
            <a:ext cx="10790129" cy="5425401"/>
          </a:xfrm>
        </p:spPr>
        <p:txBody>
          <a:bodyPr>
            <a:normAutofit/>
          </a:bodyPr>
          <a:lstStyle/>
          <a:p>
            <a:pPr eaLnBrk="1" hangingPunct="1">
              <a:lnSpc>
                <a:spcPct val="150000"/>
              </a:lnSpc>
              <a:buFont typeface="Wingdings" pitchFamily="2" charset="2"/>
              <a:buChar char="Ø"/>
            </a:pPr>
            <a:r>
              <a:rPr lang="en-US" sz="2000" b="1" dirty="0">
                <a:latin typeface="Times New Roman" panose="02020603050405020304" pitchFamily="18" charset="0"/>
                <a:cs typeface="Times New Roman" panose="02020603050405020304" pitchFamily="18" charset="0"/>
              </a:rPr>
              <a:t>Mx:</a:t>
            </a:r>
          </a:p>
          <a:p>
            <a:pPr lvl="1">
              <a:lnSpc>
                <a:spcPct val="150000"/>
              </a:lnSpc>
            </a:pPr>
            <a:r>
              <a:rPr lang="en-US" sz="2000" dirty="0">
                <a:latin typeface="Times New Roman" panose="02020603050405020304" pitchFamily="18" charset="0"/>
                <a:cs typeface="Times New Roman" panose="02020603050405020304" pitchFamily="18" charset="0"/>
              </a:rPr>
              <a:t>Fluid and electrolyte resuscitation</a:t>
            </a:r>
          </a:p>
          <a:p>
            <a:pPr lvl="1">
              <a:lnSpc>
                <a:spcPct val="150000"/>
              </a:lnSpc>
            </a:pPr>
            <a:r>
              <a:rPr lang="en-US" sz="2000" dirty="0">
                <a:latin typeface="Times New Roman" panose="02020603050405020304" pitchFamily="18" charset="0"/>
                <a:cs typeface="Times New Roman" panose="02020603050405020304" pitchFamily="18" charset="0"/>
              </a:rPr>
              <a:t>Analgesia</a:t>
            </a:r>
          </a:p>
          <a:p>
            <a:pPr lvl="1">
              <a:lnSpc>
                <a:spcPct val="150000"/>
              </a:lnSpc>
            </a:pPr>
            <a:r>
              <a:rPr lang="en-US" sz="2000" dirty="0">
                <a:latin typeface="Times New Roman" panose="02020603050405020304" pitchFamily="18" charset="0"/>
                <a:cs typeface="Times New Roman" panose="02020603050405020304" pitchFamily="18" charset="0"/>
              </a:rPr>
              <a:t>Antibiotics</a:t>
            </a:r>
          </a:p>
          <a:p>
            <a:pPr lvl="1">
              <a:lnSpc>
                <a:spcPct val="150000"/>
              </a:lnSpc>
            </a:pPr>
            <a:r>
              <a:rPr lang="en-US" sz="2000" b="1" dirty="0">
                <a:latin typeface="Times New Roman" panose="02020603050405020304" pitchFamily="18" charset="0"/>
                <a:cs typeface="Times New Roman" panose="02020603050405020304" pitchFamily="18" charset="0"/>
              </a:rPr>
              <a:t>Surgery</a:t>
            </a:r>
          </a:p>
        </p:txBody>
      </p:sp>
      <p:sp>
        <p:nvSpPr>
          <p:cNvPr id="2" name="Date Placeholder 1">
            <a:extLst>
              <a:ext uri="{FF2B5EF4-FFF2-40B4-BE49-F238E27FC236}">
                <a16:creationId xmlns:a16="http://schemas.microsoft.com/office/drawing/2014/main" id="{79476718-22BE-C249-8567-D8BC1617F864}"/>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1BE1185C-974F-A647-B4D6-A5975A403FF8}"/>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0939585D-7B5D-6749-8F0A-0D31432F96FC}"/>
              </a:ext>
            </a:extLst>
          </p:cNvPr>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4209963548"/>
      </p:ext>
    </p:extLst>
  </p:cSld>
  <p:clrMapOvr>
    <a:masterClrMapping/>
  </p:clrMapOvr>
  <p:transition>
    <p:pull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363255" y="250521"/>
            <a:ext cx="10914345" cy="551145"/>
          </a:xfrm>
        </p:spPr>
        <p:txBody>
          <a:bodyPr>
            <a:normAutofit/>
          </a:bodyPr>
          <a:lstStyle/>
          <a:p>
            <a:r>
              <a:rPr lang="en-US" sz="2800" b="1" dirty="0">
                <a:latin typeface="Times New Roman" panose="02020603050405020304" pitchFamily="18" charset="0"/>
                <a:cs typeface="Times New Roman" panose="02020603050405020304" pitchFamily="18" charset="0"/>
              </a:rPr>
              <a:t>Peptic Ulcer Disease</a:t>
            </a:r>
          </a:p>
        </p:txBody>
      </p:sp>
      <p:sp>
        <p:nvSpPr>
          <p:cNvPr id="101379" name="Rectangle 3"/>
          <p:cNvSpPr>
            <a:spLocks noGrp="1" noChangeArrowheads="1"/>
          </p:cNvSpPr>
          <p:nvPr>
            <p:ph type="body" sz="half" idx="1"/>
          </p:nvPr>
        </p:nvSpPr>
        <p:spPr>
          <a:xfrm>
            <a:off x="400833" y="1114816"/>
            <a:ext cx="5593567" cy="5057384"/>
          </a:xfrm>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Erosion of the lining of the stomach, duodenum.</a:t>
            </a:r>
          </a:p>
          <a:p>
            <a:pPr>
              <a:lnSpc>
                <a:spcPct val="150000"/>
              </a:lnSpc>
            </a:pPr>
            <a:r>
              <a:rPr lang="en-US" sz="2000" dirty="0">
                <a:latin typeface="Times New Roman" panose="02020603050405020304" pitchFamily="18" charset="0"/>
                <a:cs typeface="Times New Roman" panose="02020603050405020304" pitchFamily="18" charset="0"/>
              </a:rPr>
              <a:t>Steady, well-localized epigastric or LUQ pain.</a:t>
            </a:r>
          </a:p>
          <a:p>
            <a:pPr>
              <a:lnSpc>
                <a:spcPct val="150000"/>
              </a:lnSpc>
            </a:pPr>
            <a:r>
              <a:rPr lang="en-US" sz="2000" dirty="0">
                <a:latin typeface="Times New Roman" panose="02020603050405020304" pitchFamily="18" charset="0"/>
                <a:cs typeface="Times New Roman" panose="02020603050405020304" pitchFamily="18" charset="0"/>
              </a:rPr>
              <a:t>Described as a “burning”, “gnawing”, “aching”</a:t>
            </a:r>
          </a:p>
          <a:p>
            <a:pPr>
              <a:lnSpc>
                <a:spcPct val="150000"/>
              </a:lnSpc>
            </a:pPr>
            <a:r>
              <a:rPr lang="en-US" sz="2000" dirty="0">
                <a:latin typeface="Times New Roman" panose="02020603050405020304" pitchFamily="18" charset="0"/>
                <a:cs typeface="Times New Roman" panose="02020603050405020304" pitchFamily="18" charset="0"/>
              </a:rPr>
              <a:t>Increased by coffee, stress, spicy food, smoking</a:t>
            </a:r>
          </a:p>
        </p:txBody>
      </p:sp>
      <p:pic>
        <p:nvPicPr>
          <p:cNvPr id="101381" name="Picture 5" descr="peptic_ulcer"/>
          <p:cNvPicPr>
            <a:picLocks noChangeAspect="1" noChangeArrowheads="1"/>
          </p:cNvPicPr>
          <p:nvPr/>
        </p:nvPicPr>
        <p:blipFill>
          <a:blip r:embed="rId2"/>
          <a:srcRect/>
          <a:stretch>
            <a:fillRect/>
          </a:stretch>
        </p:blipFill>
        <p:spPr bwMode="auto">
          <a:xfrm>
            <a:off x="6095999" y="451490"/>
            <a:ext cx="5402893" cy="5720710"/>
          </a:xfrm>
          <a:prstGeom prst="rect">
            <a:avLst/>
          </a:prstGeom>
          <a:noFill/>
        </p:spPr>
      </p:pic>
      <p:sp>
        <p:nvSpPr>
          <p:cNvPr id="2" name="Date Placeholder 1">
            <a:extLst>
              <a:ext uri="{FF2B5EF4-FFF2-40B4-BE49-F238E27FC236}">
                <a16:creationId xmlns:a16="http://schemas.microsoft.com/office/drawing/2014/main" id="{45CF97C8-A8DB-6342-B27E-271D92708E6D}"/>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BC6FEAB5-C44B-6144-AF91-1751A03C4DED}"/>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561EFD6C-2607-BA42-BE09-8AD8D6B34D33}"/>
              </a:ext>
            </a:extLst>
          </p:cNvPr>
          <p:cNvSpPr>
            <a:spLocks noGrp="1"/>
          </p:cNvSpPr>
          <p:nvPr>
            <p:ph type="sldNum" sz="quarter" idx="12"/>
          </p:nvPr>
        </p:nvSpPr>
        <p:spPr/>
        <p:txBody>
          <a:bodyPr/>
          <a:lstStyle/>
          <a:p>
            <a:fld id="{E352DC59-21BC-4B8B-86B7-A0C361D8F6E1}" type="slidenum">
              <a:rPr lang="en-US" smtClean="0"/>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3"/>
          <p:cNvSpPr>
            <a:spLocks noGrp="1" noChangeArrowheads="1"/>
          </p:cNvSpPr>
          <p:nvPr>
            <p:ph idx="1"/>
          </p:nvPr>
        </p:nvSpPr>
        <p:spPr>
          <a:xfrm>
            <a:off x="463463" y="526092"/>
            <a:ext cx="11311003" cy="5711869"/>
          </a:xfrm>
        </p:spPr>
        <p:txBody>
          <a:bodyPr>
            <a:normAutofit/>
          </a:bodyPr>
          <a:lstStyle/>
          <a:p>
            <a:pPr>
              <a:lnSpc>
                <a:spcPct val="150000"/>
              </a:lnSpc>
              <a:buFont typeface="Wingdings" pitchFamily="2" charset="2"/>
              <a:buChar char="Ø"/>
            </a:pPr>
            <a:r>
              <a:rPr lang="en-US" sz="2000" i="1" dirty="0">
                <a:latin typeface="Times New Roman" panose="02020603050405020304" pitchFamily="18" charset="0"/>
                <a:cs typeface="Times New Roman" panose="02020603050405020304" pitchFamily="18" charset="0"/>
              </a:rPr>
              <a:t>Risk factors for PUD</a:t>
            </a:r>
          </a:p>
          <a:p>
            <a:pPr lvl="1">
              <a:lnSpc>
                <a:spcPct val="150000"/>
              </a:lnSpc>
            </a:pPr>
            <a:r>
              <a:rPr lang="en-US" sz="2000" i="1" dirty="0" err="1">
                <a:latin typeface="Times New Roman" panose="02020603050405020304" pitchFamily="18" charset="0"/>
                <a:cs typeface="Times New Roman" panose="02020603050405020304" pitchFamily="18" charset="0"/>
              </a:rPr>
              <a:t>H.pylori</a:t>
            </a:r>
            <a:endParaRPr lang="en-US" sz="2000" i="1" dirty="0">
              <a:latin typeface="Times New Roman" panose="02020603050405020304" pitchFamily="18" charset="0"/>
              <a:cs typeface="Times New Roman" panose="02020603050405020304" pitchFamily="18" charset="0"/>
            </a:endParaRPr>
          </a:p>
          <a:p>
            <a:pPr lvl="1">
              <a:lnSpc>
                <a:spcPct val="150000"/>
              </a:lnSpc>
            </a:pPr>
            <a:r>
              <a:rPr lang="en-US" sz="2000" i="1" dirty="0">
                <a:latin typeface="Times New Roman" panose="02020603050405020304" pitchFamily="18" charset="0"/>
                <a:cs typeface="Times New Roman" panose="02020603050405020304" pitchFamily="18" charset="0"/>
              </a:rPr>
              <a:t>Medication: </a:t>
            </a:r>
            <a:r>
              <a:rPr lang="en-US" sz="2000" dirty="0">
                <a:latin typeface="Times New Roman" panose="02020603050405020304" pitchFamily="18" charset="0"/>
                <a:cs typeface="Times New Roman" panose="02020603050405020304" pitchFamily="18" charset="0"/>
              </a:rPr>
              <a:t>NSAID and steroid</a:t>
            </a:r>
          </a:p>
          <a:p>
            <a:pPr>
              <a:lnSpc>
                <a:spcPct val="150000"/>
              </a:lnSpc>
              <a:buFont typeface="Wingdings" pitchFamily="2" charset="2"/>
              <a:buChar char="Ø"/>
            </a:pPr>
            <a:r>
              <a:rPr lang="en-US" sz="2000" i="1" dirty="0">
                <a:latin typeface="Times New Roman" panose="02020603050405020304" pitchFamily="18" charset="0"/>
                <a:cs typeface="Times New Roman" panose="02020603050405020304" pitchFamily="18" charset="0"/>
              </a:rPr>
              <a:t>Complication of PUD</a:t>
            </a:r>
          </a:p>
          <a:p>
            <a:pPr lvl="1">
              <a:lnSpc>
                <a:spcPct val="150000"/>
              </a:lnSpc>
            </a:pPr>
            <a:r>
              <a:rPr lang="en-US" sz="2000" dirty="0">
                <a:latin typeface="Times New Roman" panose="02020603050405020304" pitchFamily="18" charset="0"/>
                <a:cs typeface="Times New Roman" panose="02020603050405020304" pitchFamily="18" charset="0"/>
              </a:rPr>
              <a:t>Bleeding, </a:t>
            </a:r>
            <a:r>
              <a:rPr lang="en-US" sz="2000" b="1" dirty="0">
                <a:latin typeface="Times New Roman" panose="02020603050405020304" pitchFamily="18" charset="0"/>
                <a:cs typeface="Times New Roman" panose="02020603050405020304" pitchFamily="18" charset="0"/>
              </a:rPr>
              <a:t>Perforation</a:t>
            </a:r>
            <a:r>
              <a:rPr lang="en-US" sz="2000" dirty="0">
                <a:latin typeface="Times New Roman" panose="02020603050405020304" pitchFamily="18" charset="0"/>
                <a:cs typeface="Times New Roman" panose="02020603050405020304" pitchFamily="18" charset="0"/>
              </a:rPr>
              <a:t>, GOO and Penetration.</a:t>
            </a:r>
          </a:p>
          <a:p>
            <a:pPr>
              <a:lnSpc>
                <a:spcPct val="150000"/>
              </a:lnSpc>
              <a:buFont typeface="Wingdings" pitchFamily="2" charset="2"/>
              <a:buChar char="Ø"/>
            </a:pPr>
            <a:r>
              <a:rPr lang="en-US" sz="2000" i="1" dirty="0">
                <a:latin typeface="Times New Roman" panose="02020603050405020304" pitchFamily="18" charset="0"/>
                <a:cs typeface="Times New Roman" panose="02020603050405020304" pitchFamily="18" charset="0"/>
              </a:rPr>
              <a:t>Presentation of PUD Perforation</a:t>
            </a:r>
          </a:p>
          <a:p>
            <a:pPr lvl="1">
              <a:lnSpc>
                <a:spcPct val="150000"/>
              </a:lnSpc>
            </a:pPr>
            <a:r>
              <a:rPr lang="en-US" sz="2000" b="1" dirty="0" err="1">
                <a:latin typeface="Times New Roman" panose="02020603050405020304" pitchFamily="18" charset="0"/>
                <a:cs typeface="Times New Roman" panose="02020603050405020304" pitchFamily="18" charset="0"/>
              </a:rPr>
              <a:t>Hx</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Sudden onset severe epigastric abdominal pain later become diffuse. Anorexia, Nausea</a:t>
            </a:r>
          </a:p>
          <a:p>
            <a:pPr lvl="1">
              <a:lnSpc>
                <a:spcPct val="150000"/>
              </a:lnSpc>
            </a:pPr>
            <a:r>
              <a:rPr lang="en-US" sz="2000" b="1" dirty="0">
                <a:latin typeface="Times New Roman" panose="02020603050405020304" pitchFamily="18" charset="0"/>
                <a:cs typeface="Times New Roman" panose="02020603050405020304" pitchFamily="18" charset="0"/>
              </a:rPr>
              <a:t>PE:</a:t>
            </a:r>
            <a:r>
              <a:rPr lang="en-US" sz="2000" dirty="0">
                <a:latin typeface="Times New Roman" panose="02020603050405020304" pitchFamily="18" charset="0"/>
                <a:cs typeface="Times New Roman" panose="02020603050405020304" pitchFamily="18" charset="0"/>
              </a:rPr>
              <a:t>ASL in pain with VS derangement (Tachycardia, fever, </a:t>
            </a:r>
            <a:r>
              <a:rPr lang="en-US" sz="2000" dirty="0" err="1">
                <a:latin typeface="Times New Roman" panose="02020603050405020304" pitchFamily="18" charset="0"/>
                <a:cs typeface="Times New Roman" panose="02020603050405020304" pitchFamily="18" charset="0"/>
              </a:rPr>
              <a:t>tachypenea</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hypotention</a:t>
            </a:r>
            <a:r>
              <a:rPr lang="en-US" sz="2000" dirty="0">
                <a:latin typeface="Times New Roman" panose="02020603050405020304" pitchFamily="18" charset="0"/>
                <a:cs typeface="Times New Roman" panose="02020603050405020304" pitchFamily="18" charset="0"/>
              </a:rPr>
              <a:t>). Diffuse abdominal tenderness</a:t>
            </a:r>
          </a:p>
          <a:p>
            <a:pPr lvl="1">
              <a:lnSpc>
                <a:spcPct val="150000"/>
              </a:lnSpc>
            </a:pPr>
            <a:r>
              <a:rPr lang="en-US" sz="2000" b="1" dirty="0">
                <a:latin typeface="Times New Roman" panose="02020603050405020304" pitchFamily="18" charset="0"/>
                <a:cs typeface="Times New Roman" panose="02020603050405020304" pitchFamily="18" charset="0"/>
              </a:rPr>
              <a:t>Ix: </a:t>
            </a:r>
            <a:r>
              <a:rPr lang="en-US" sz="2000" dirty="0">
                <a:latin typeface="Times New Roman" panose="02020603050405020304" pitchFamily="18" charset="0"/>
                <a:cs typeface="Times New Roman" panose="02020603050405020304" pitchFamily="18" charset="0"/>
              </a:rPr>
              <a:t>CBC, </a:t>
            </a:r>
            <a:r>
              <a:rPr lang="en-US" sz="2000" dirty="0" err="1">
                <a:latin typeface="Times New Roman" panose="02020603050405020304" pitchFamily="18" charset="0"/>
                <a:cs typeface="Times New Roman" panose="02020603050405020304" pitchFamily="18" charset="0"/>
              </a:rPr>
              <a:t>Ele</a:t>
            </a:r>
            <a:r>
              <a:rPr lang="en-US" sz="2000" dirty="0">
                <a:latin typeface="Times New Roman" panose="02020603050405020304" pitchFamily="18" charset="0"/>
                <a:cs typeface="Times New Roman" panose="02020603050405020304" pitchFamily="18" charset="0"/>
              </a:rPr>
              <a:t>, OFT. CXR (Air under the </a:t>
            </a:r>
            <a:r>
              <a:rPr lang="en-US" sz="2000" dirty="0" err="1">
                <a:latin typeface="Times New Roman" panose="02020603050405020304" pitchFamily="18" charset="0"/>
                <a:cs typeface="Times New Roman" panose="02020603050405020304" pitchFamily="18" charset="0"/>
              </a:rPr>
              <a:t>diaghram</a:t>
            </a:r>
            <a:r>
              <a:rPr lang="en-US" sz="2000" dirty="0">
                <a:latin typeface="Times New Roman" panose="02020603050405020304" pitchFamily="18" charset="0"/>
                <a:cs typeface="Times New Roman" panose="02020603050405020304" pitchFamily="18" charset="0"/>
              </a:rPr>
              <a:t> in 60 to 70% of cases)</a:t>
            </a:r>
          </a:p>
        </p:txBody>
      </p:sp>
      <p:sp>
        <p:nvSpPr>
          <p:cNvPr id="2" name="Date Placeholder 1">
            <a:extLst>
              <a:ext uri="{FF2B5EF4-FFF2-40B4-BE49-F238E27FC236}">
                <a16:creationId xmlns:a16="http://schemas.microsoft.com/office/drawing/2014/main" id="{64964D09-C722-D040-813B-0CE0F246FEB6}"/>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A92D5882-E453-8B45-AC27-E5D0E7D22BE9}"/>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84609559-F090-7C44-BAC4-61E341D099AC}"/>
              </a:ext>
            </a:extLst>
          </p:cNvPr>
          <p:cNvSpPr>
            <a:spLocks noGrp="1"/>
          </p:cNvSpPr>
          <p:nvPr>
            <p:ph type="sldNum" sz="quarter" idx="12"/>
          </p:nvPr>
        </p:nvSpPr>
        <p:spPr/>
        <p:txBody>
          <a:bodyPr/>
          <a:lstStyle/>
          <a:p>
            <a:fld id="{B6F15528-21DE-4FAA-801E-634DDDAF4B2B}" type="slidenum">
              <a:rPr lang="en-US" smtClean="0"/>
              <a:pPr/>
              <a:t>49</a:t>
            </a:fld>
            <a:endParaRPr lang="en-US"/>
          </a:p>
        </p:txBody>
      </p:sp>
    </p:spTree>
  </p:cSld>
  <p:clrMapOvr>
    <a:masterClrMapping/>
  </p:clrMapOvr>
  <p:transition>
    <p:pull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3"/>
          <p:cNvSpPr>
            <a:spLocks noGrp="1" noChangeArrowheads="1"/>
          </p:cNvSpPr>
          <p:nvPr>
            <p:ph idx="1"/>
          </p:nvPr>
        </p:nvSpPr>
        <p:spPr>
          <a:xfrm>
            <a:off x="463463" y="526092"/>
            <a:ext cx="11311003" cy="5711869"/>
          </a:xfrm>
        </p:spPr>
        <p:txBody>
          <a:bodyPr>
            <a:normAutofit/>
          </a:bodyPr>
          <a:lstStyle/>
          <a:p>
            <a:pPr>
              <a:lnSpc>
                <a:spcPct val="150000"/>
              </a:lnSpc>
            </a:pPr>
            <a:r>
              <a:rPr lang="en-US" sz="2000" b="1" dirty="0">
                <a:latin typeface="Times New Roman" panose="02020603050405020304" pitchFamily="18" charset="0"/>
                <a:cs typeface="Times New Roman" panose="02020603050405020304" pitchFamily="18" charset="0"/>
              </a:rPr>
              <a:t>Mx: </a:t>
            </a:r>
            <a:r>
              <a:rPr lang="en-US" sz="2000" dirty="0">
                <a:latin typeface="Times New Roman" panose="02020603050405020304" pitchFamily="18" charset="0"/>
                <a:cs typeface="Times New Roman" panose="02020603050405020304" pitchFamily="18" charset="0"/>
              </a:rPr>
              <a:t>General principle of management</a:t>
            </a:r>
          </a:p>
          <a:p>
            <a:pPr lvl="1">
              <a:lnSpc>
                <a:spcPct val="150000"/>
              </a:lnSpc>
            </a:pPr>
            <a:r>
              <a:rPr lang="en-US" sz="2000" dirty="0">
                <a:latin typeface="Times New Roman" panose="02020603050405020304" pitchFamily="18" charset="0"/>
                <a:cs typeface="Times New Roman" panose="02020603050405020304" pitchFamily="18" charset="0"/>
              </a:rPr>
              <a:t>Resuscitation (correct fluid and electrolyte deficit).</a:t>
            </a:r>
          </a:p>
          <a:p>
            <a:pPr lvl="1">
              <a:lnSpc>
                <a:spcPct val="150000"/>
              </a:lnSpc>
            </a:pPr>
            <a:r>
              <a:rPr lang="en-US" sz="2000" dirty="0">
                <a:latin typeface="Times New Roman" panose="02020603050405020304" pitchFamily="18" charset="0"/>
                <a:cs typeface="Times New Roman" panose="02020603050405020304" pitchFamily="18" charset="0"/>
              </a:rPr>
              <a:t>High dose PPI (Omeprazole, 80mg IV loading then 40mg, IV, BID)</a:t>
            </a:r>
          </a:p>
          <a:p>
            <a:pPr lvl="1">
              <a:lnSpc>
                <a:spcPct val="150000"/>
              </a:lnSpc>
            </a:pPr>
            <a:r>
              <a:rPr lang="en-US" sz="2000" dirty="0">
                <a:latin typeface="Times New Roman" panose="02020603050405020304" pitchFamily="18" charset="0"/>
                <a:cs typeface="Times New Roman" panose="02020603050405020304" pitchFamily="18" charset="0"/>
              </a:rPr>
              <a:t>Secure NG tube</a:t>
            </a:r>
          </a:p>
          <a:p>
            <a:pPr lvl="1">
              <a:lnSpc>
                <a:spcPct val="150000"/>
              </a:lnSpc>
            </a:pPr>
            <a:r>
              <a:rPr lang="en-US" sz="2000" dirty="0">
                <a:latin typeface="Times New Roman" panose="02020603050405020304" pitchFamily="18" charset="0"/>
                <a:cs typeface="Times New Roman" panose="02020603050405020304" pitchFamily="18" charset="0"/>
              </a:rPr>
              <a:t>Analgesia</a:t>
            </a:r>
          </a:p>
          <a:p>
            <a:pPr lvl="1">
              <a:lnSpc>
                <a:spcPct val="150000"/>
              </a:lnSpc>
            </a:pPr>
            <a:r>
              <a:rPr lang="en-US" sz="2000" dirty="0">
                <a:latin typeface="Times New Roman" panose="02020603050405020304" pitchFamily="18" charset="0"/>
                <a:cs typeface="Times New Roman" panose="02020603050405020304" pitchFamily="18" charset="0"/>
              </a:rPr>
              <a:t>Broad spectrum antibiotics</a:t>
            </a:r>
          </a:p>
          <a:p>
            <a:pPr lvl="1">
              <a:lnSpc>
                <a:spcPct val="150000"/>
              </a:lnSpc>
            </a:pPr>
            <a:r>
              <a:rPr lang="en-US" sz="2000" dirty="0">
                <a:latin typeface="Times New Roman" panose="02020603050405020304" pitchFamily="18" charset="0"/>
                <a:cs typeface="Times New Roman" panose="02020603050405020304" pitchFamily="18" charset="0"/>
              </a:rPr>
              <a:t>Surgery (Omental patch)</a:t>
            </a:r>
          </a:p>
          <a:p>
            <a:pPr lvl="1">
              <a:lnSpc>
                <a:spcPct val="150000"/>
              </a:lnSpc>
            </a:pPr>
            <a:r>
              <a:rPr lang="en-US" sz="2000" dirty="0">
                <a:latin typeface="Times New Roman" panose="02020603050405020304" pitchFamily="18" charset="0"/>
                <a:cs typeface="Times New Roman" panose="02020603050405020304" pitchFamily="18" charset="0"/>
              </a:rPr>
              <a:t>Post OP H. pylori eradication</a:t>
            </a:r>
          </a:p>
          <a:p>
            <a:pPr lvl="1">
              <a:lnSpc>
                <a:spcPct val="150000"/>
              </a:lnSpc>
            </a:pPr>
            <a:r>
              <a:rPr lang="en-US" sz="2000" dirty="0">
                <a:latin typeface="Times New Roman" panose="02020603050405020304" pitchFamily="18" charset="0"/>
                <a:cs typeface="Times New Roman" panose="02020603050405020304" pitchFamily="18" charset="0"/>
              </a:rPr>
              <a:t>Life long PPI</a:t>
            </a:r>
          </a:p>
        </p:txBody>
      </p:sp>
      <p:pic>
        <p:nvPicPr>
          <p:cNvPr id="4" name="Picture 3">
            <a:extLst>
              <a:ext uri="{FF2B5EF4-FFF2-40B4-BE49-F238E27FC236}">
                <a16:creationId xmlns:a16="http://schemas.microsoft.com/office/drawing/2014/main" id="{2558D408-5252-3E41-8EF9-C31F2EBFD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5824" y="2041743"/>
            <a:ext cx="4658954" cy="4722198"/>
          </a:xfrm>
          <a:prstGeom prst="rect">
            <a:avLst/>
          </a:prstGeom>
        </p:spPr>
      </p:pic>
      <p:sp>
        <p:nvSpPr>
          <p:cNvPr id="2" name="Date Placeholder 1">
            <a:extLst>
              <a:ext uri="{FF2B5EF4-FFF2-40B4-BE49-F238E27FC236}">
                <a16:creationId xmlns:a16="http://schemas.microsoft.com/office/drawing/2014/main" id="{E39C61E0-FB94-E64D-AE08-76C3FB451106}"/>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2703B8EA-8219-8F4A-A2A2-CB1ECCCE5B4F}"/>
              </a:ext>
            </a:extLst>
          </p:cNvPr>
          <p:cNvSpPr>
            <a:spLocks noGrp="1"/>
          </p:cNvSpPr>
          <p:nvPr>
            <p:ph type="ftr" sz="quarter" idx="11"/>
          </p:nvPr>
        </p:nvSpPr>
        <p:spPr/>
        <p:txBody>
          <a:bodyPr/>
          <a:lstStyle/>
          <a:p>
            <a:r>
              <a:rPr lang="en-US"/>
              <a:t>Acute Abdomen</a:t>
            </a:r>
          </a:p>
        </p:txBody>
      </p:sp>
      <p:sp>
        <p:nvSpPr>
          <p:cNvPr id="5" name="Slide Number Placeholder 4">
            <a:extLst>
              <a:ext uri="{FF2B5EF4-FFF2-40B4-BE49-F238E27FC236}">
                <a16:creationId xmlns:a16="http://schemas.microsoft.com/office/drawing/2014/main" id="{7C87DE6C-9773-3B42-A2A2-2F79245C26D5}"/>
              </a:ext>
            </a:extLst>
          </p:cNvPr>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270147335"/>
      </p:ext>
    </p:extLst>
  </p:cSld>
  <p:clrMapOvr>
    <a:masterClrMapping/>
  </p:clrMapOvr>
  <p:transition>
    <p:pull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588723" y="137787"/>
            <a:ext cx="10765077" cy="576197"/>
          </a:xfrm>
        </p:spPr>
        <p:txBody>
          <a:bodyPr>
            <a:normAutofit/>
          </a:bodyPr>
          <a:lstStyle/>
          <a:p>
            <a:pPr eaLnBrk="1" hangingPunct="1"/>
            <a:r>
              <a:rPr lang="en-US" sz="2800" b="1" dirty="0">
                <a:latin typeface="Times New Roman" panose="02020603050405020304" pitchFamily="18" charset="0"/>
                <a:cs typeface="Times New Roman" panose="02020603050405020304" pitchFamily="18" charset="0"/>
              </a:rPr>
              <a:t>Biliary Tract Disease</a:t>
            </a:r>
          </a:p>
        </p:txBody>
      </p:sp>
      <p:sp>
        <p:nvSpPr>
          <p:cNvPr id="29699" name="Rectangle 3"/>
          <p:cNvSpPr>
            <a:spLocks noGrp="1" noChangeArrowheads="1"/>
          </p:cNvSpPr>
          <p:nvPr>
            <p:ph idx="1"/>
          </p:nvPr>
        </p:nvSpPr>
        <p:spPr>
          <a:xfrm>
            <a:off x="701458" y="977030"/>
            <a:ext cx="10652342" cy="5199933"/>
          </a:xfrm>
        </p:spPr>
        <p:txBody>
          <a:bodyPr>
            <a:normAutofit/>
          </a:bodyPr>
          <a:lstStyle/>
          <a:p>
            <a:pPr eaLnBrk="1" hangingPunct="1">
              <a:lnSpc>
                <a:spcPct val="150000"/>
              </a:lnSpc>
            </a:pPr>
            <a:r>
              <a:rPr lang="en-US" sz="2000" dirty="0">
                <a:latin typeface="Times New Roman" panose="02020603050405020304" pitchFamily="18" charset="0"/>
                <a:cs typeface="Times New Roman" panose="02020603050405020304" pitchFamily="18" charset="0"/>
              </a:rPr>
              <a:t>Most common diagnosis in ED of pts &gt; 50.</a:t>
            </a:r>
          </a:p>
          <a:p>
            <a:pPr lvl="1" eaLnBrk="1" hangingPunct="1">
              <a:lnSpc>
                <a:spcPct val="150000"/>
              </a:lnSpc>
            </a:pPr>
            <a:r>
              <a:rPr lang="en-US" sz="2000" i="1" dirty="0">
                <a:latin typeface="Times New Roman" panose="02020603050405020304" pitchFamily="18" charset="0"/>
                <a:cs typeface="Times New Roman" panose="02020603050405020304" pitchFamily="18" charset="0"/>
              </a:rPr>
              <a:t>Composed of:</a:t>
            </a:r>
          </a:p>
          <a:p>
            <a:pPr lvl="2" eaLnBrk="1" hangingPunct="1">
              <a:lnSpc>
                <a:spcPct val="150000"/>
              </a:lnSpc>
            </a:pPr>
            <a:r>
              <a:rPr lang="en-US" dirty="0">
                <a:latin typeface="Times New Roman" panose="02020603050405020304" pitchFamily="18" charset="0"/>
                <a:cs typeface="Times New Roman" panose="02020603050405020304" pitchFamily="18" charset="0"/>
              </a:rPr>
              <a:t>Acute Cholecystitis (</a:t>
            </a:r>
            <a:r>
              <a:rPr lang="en-US" dirty="0" err="1">
                <a:latin typeface="Times New Roman" panose="02020603050405020304" pitchFamily="18" charset="0"/>
                <a:cs typeface="Times New Roman" panose="02020603050405020304" pitchFamily="18" charset="0"/>
              </a:rPr>
              <a:t>acalculus</a:t>
            </a:r>
            <a:r>
              <a:rPr lang="en-US" dirty="0">
                <a:latin typeface="Times New Roman" panose="02020603050405020304" pitchFamily="18" charset="0"/>
                <a:cs typeface="Times New Roman" panose="02020603050405020304" pitchFamily="18" charset="0"/>
              </a:rPr>
              <a:t> / calculus) </a:t>
            </a:r>
          </a:p>
          <a:p>
            <a:pPr lvl="2" eaLnBrk="1" hangingPunct="1">
              <a:lnSpc>
                <a:spcPct val="150000"/>
              </a:lnSpc>
            </a:pPr>
            <a:r>
              <a:rPr lang="en-US" dirty="0">
                <a:latin typeface="Times New Roman" panose="02020603050405020304" pitchFamily="18" charset="0"/>
                <a:cs typeface="Times New Roman" panose="02020603050405020304" pitchFamily="18" charset="0"/>
              </a:rPr>
              <a:t>Biliary Colic</a:t>
            </a:r>
          </a:p>
          <a:p>
            <a:pPr lvl="2" eaLnBrk="1" hangingPunct="1">
              <a:lnSpc>
                <a:spcPct val="150000"/>
              </a:lnSpc>
            </a:pPr>
            <a:r>
              <a:rPr lang="en-US" dirty="0">
                <a:latin typeface="Times New Roman" panose="02020603050405020304" pitchFamily="18" charset="0"/>
                <a:cs typeface="Times New Roman" panose="02020603050405020304" pitchFamily="18" charset="0"/>
              </a:rPr>
              <a:t>Common Duct Obstruction (Ascending Cholangitis: Charcot </a:t>
            </a:r>
            <a:r>
              <a:rPr lang="en-US" dirty="0" err="1">
                <a:latin typeface="Times New Roman" panose="02020603050405020304" pitchFamily="18" charset="0"/>
                <a:cs typeface="Times New Roman" panose="02020603050405020304" pitchFamily="18" charset="0"/>
              </a:rPr>
              <a:t>trid</a:t>
            </a:r>
            <a:r>
              <a:rPr lang="en-US" dirty="0">
                <a:latin typeface="Times New Roman" panose="02020603050405020304" pitchFamily="18" charset="0"/>
                <a:cs typeface="Times New Roman" panose="02020603050405020304" pitchFamily="18" charset="0"/>
              </a:rPr>
              <a:t> (RUQ abdominal tenderness, Jaundice and fever.</a:t>
            </a:r>
          </a:p>
          <a:p>
            <a:pPr eaLnBrk="1" hangingPunct="1"/>
            <a:endParaRPr lang="en-US" dirty="0"/>
          </a:p>
        </p:txBody>
      </p:sp>
      <p:sp>
        <p:nvSpPr>
          <p:cNvPr id="2" name="Date Placeholder 1">
            <a:extLst>
              <a:ext uri="{FF2B5EF4-FFF2-40B4-BE49-F238E27FC236}">
                <a16:creationId xmlns:a16="http://schemas.microsoft.com/office/drawing/2014/main" id="{CDB33AD3-DCA0-4747-B3B0-6AB780AE2334}"/>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AF5730C9-A124-454C-8710-20AB844003BF}"/>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FFD23B8E-0274-074D-9105-FAC212AE8498}"/>
              </a:ext>
            </a:extLst>
          </p:cNvPr>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3338322653"/>
      </p:ext>
    </p:extLst>
  </p:cSld>
  <p:clrMapOvr>
    <a:masterClrMapping/>
  </p:clrMapOvr>
  <p:transition>
    <p:pull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814192" y="381000"/>
            <a:ext cx="10463408" cy="545926"/>
          </a:xfrm>
        </p:spPr>
        <p:txBody>
          <a:bodyPr>
            <a:normAutofit/>
          </a:bodyPr>
          <a:lstStyle/>
          <a:p>
            <a:r>
              <a:rPr lang="en-US" sz="2800" b="1" dirty="0">
                <a:latin typeface="Times New Roman" panose="02020603050405020304" pitchFamily="18" charset="0"/>
                <a:cs typeface="Times New Roman" panose="02020603050405020304" pitchFamily="18" charset="0"/>
              </a:rPr>
              <a:t>Acute Cholecystitis</a:t>
            </a:r>
          </a:p>
        </p:txBody>
      </p:sp>
      <p:sp>
        <p:nvSpPr>
          <p:cNvPr id="116739" name="Rectangle 3"/>
          <p:cNvSpPr>
            <a:spLocks noGrp="1" noChangeArrowheads="1"/>
          </p:cNvSpPr>
          <p:nvPr>
            <p:ph type="body" sz="half" idx="1"/>
          </p:nvPr>
        </p:nvSpPr>
        <p:spPr>
          <a:xfrm>
            <a:off x="739036" y="1077238"/>
            <a:ext cx="5255364" cy="5094962"/>
          </a:xfrm>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Inflammation of gall bladder</a:t>
            </a:r>
          </a:p>
          <a:p>
            <a:pPr>
              <a:lnSpc>
                <a:spcPct val="150000"/>
              </a:lnSpc>
            </a:pPr>
            <a:r>
              <a:rPr lang="en-US" sz="2000" dirty="0">
                <a:latin typeface="Times New Roman" panose="02020603050405020304" pitchFamily="18" charset="0"/>
                <a:cs typeface="Times New Roman" panose="02020603050405020304" pitchFamily="18" charset="0"/>
              </a:rPr>
              <a:t>Commonly associated with gall stones</a:t>
            </a:r>
          </a:p>
          <a:p>
            <a:pPr>
              <a:lnSpc>
                <a:spcPct val="150000"/>
              </a:lnSpc>
            </a:pPr>
            <a:r>
              <a:rPr lang="en-US" sz="2000" dirty="0">
                <a:latin typeface="Times New Roman" panose="02020603050405020304" pitchFamily="18" charset="0"/>
                <a:cs typeface="Times New Roman" panose="02020603050405020304" pitchFamily="18" charset="0"/>
              </a:rPr>
              <a:t>More common in 30 to 50 year old females</a:t>
            </a:r>
          </a:p>
          <a:p>
            <a:pPr>
              <a:lnSpc>
                <a:spcPct val="150000"/>
              </a:lnSpc>
            </a:pPr>
            <a:r>
              <a:rPr lang="en-US" sz="2000" dirty="0">
                <a:latin typeface="Times New Roman" panose="02020603050405020304" pitchFamily="18" charset="0"/>
                <a:cs typeface="Times New Roman" panose="02020603050405020304" pitchFamily="18" charset="0"/>
              </a:rPr>
              <a:t>Nausea, vomiting; RUQ pain, tenderness; fever</a:t>
            </a:r>
          </a:p>
          <a:p>
            <a:pPr>
              <a:lnSpc>
                <a:spcPct val="150000"/>
              </a:lnSpc>
            </a:pPr>
            <a:r>
              <a:rPr lang="en-US" sz="2000" dirty="0">
                <a:latin typeface="Times New Roman" panose="02020603050405020304" pitchFamily="18" charset="0"/>
                <a:cs typeface="Times New Roman" panose="02020603050405020304" pitchFamily="18" charset="0"/>
              </a:rPr>
              <a:t>Attacks triggered by ingestion of fatty foods</a:t>
            </a:r>
          </a:p>
          <a:p>
            <a:pPr>
              <a:lnSpc>
                <a:spcPct val="150000"/>
              </a:lnSpc>
            </a:pPr>
            <a:r>
              <a:rPr lang="en-US" sz="2000" dirty="0">
                <a:latin typeface="Times New Roman" panose="02020603050405020304" pitchFamily="18" charset="0"/>
                <a:cs typeface="Times New Roman" panose="02020603050405020304" pitchFamily="18" charset="0"/>
              </a:rPr>
              <a:t>Gangrenous, Empyema, emphysematous, perforated GB.</a:t>
            </a:r>
          </a:p>
        </p:txBody>
      </p:sp>
      <p:pic>
        <p:nvPicPr>
          <p:cNvPr id="116740" name="Picture 4" descr="JAMA_Digestive_Liver_lev20_AcuteCholecystitis_JPP_01"/>
          <p:cNvPicPr>
            <a:picLocks noGrp="1" noChangeAspect="1" noChangeArrowheads="1"/>
          </p:cNvPicPr>
          <p:nvPr>
            <p:ph type="clipArt" sz="half" idx="2"/>
          </p:nvPr>
        </p:nvPicPr>
        <p:blipFill>
          <a:blip r:embed="rId2"/>
          <a:stretch>
            <a:fillRect/>
          </a:stretch>
        </p:blipFill>
        <p:spPr>
          <a:xfrm>
            <a:off x="6489699" y="1290181"/>
            <a:ext cx="4934205" cy="4164469"/>
          </a:xfrm>
          <a:noFill/>
          <a:ln/>
        </p:spPr>
      </p:pic>
      <p:sp>
        <p:nvSpPr>
          <p:cNvPr id="2" name="Date Placeholder 1">
            <a:extLst>
              <a:ext uri="{FF2B5EF4-FFF2-40B4-BE49-F238E27FC236}">
                <a16:creationId xmlns:a16="http://schemas.microsoft.com/office/drawing/2014/main" id="{B1693FFA-8A6A-5347-9EE4-1BE45A38E2DE}"/>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C06D35D6-9C16-C94A-B3E0-390A07E95AA8}"/>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975A4639-271B-034B-AF08-0FF93DDB5B4D}"/>
              </a:ext>
            </a:extLst>
          </p:cNvPr>
          <p:cNvSpPr>
            <a:spLocks noGrp="1"/>
          </p:cNvSpPr>
          <p:nvPr>
            <p:ph type="sldNum" sz="quarter" idx="12"/>
          </p:nvPr>
        </p:nvSpPr>
        <p:spPr/>
        <p:txBody>
          <a:bodyPr/>
          <a:lstStyle/>
          <a:p>
            <a:fld id="{5F92C6BE-6031-4786-AD87-3DCEC0D6B6E0}"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513567" y="526092"/>
            <a:ext cx="11047956" cy="5787025"/>
          </a:xfrm>
        </p:spPr>
        <p:txBody>
          <a:bodyPr>
            <a:normAutofit/>
          </a:bodyPr>
          <a:lstStyle/>
          <a:p>
            <a:pPr eaLnBrk="1" hangingPunct="1">
              <a:lnSpc>
                <a:spcPct val="150000"/>
              </a:lnSpc>
              <a:buFont typeface="Wingdings" pitchFamily="2" charset="2"/>
              <a:buChar char="Ø"/>
            </a:pPr>
            <a:r>
              <a:rPr lang="en-US" sz="2000" b="1" dirty="0">
                <a:latin typeface="Times New Roman" panose="02020603050405020304" pitchFamily="18" charset="0"/>
                <a:cs typeface="Times New Roman" panose="02020603050405020304" pitchFamily="18" charset="0"/>
              </a:rPr>
              <a:t>Ix:</a:t>
            </a:r>
          </a:p>
          <a:p>
            <a:pPr lvl="1">
              <a:lnSpc>
                <a:spcPct val="150000"/>
              </a:lnSpc>
            </a:pPr>
            <a:r>
              <a:rPr lang="en-US" sz="2000" dirty="0">
                <a:latin typeface="Times New Roman" panose="02020603050405020304" pitchFamily="18" charset="0"/>
                <a:cs typeface="Times New Roman" panose="02020603050405020304" pitchFamily="18" charset="0"/>
              </a:rPr>
              <a:t>CBC, OFT, Bilirubin, </a:t>
            </a:r>
            <a:r>
              <a:rPr lang="en-US" sz="2000" dirty="0" err="1">
                <a:latin typeface="Times New Roman" panose="02020603050405020304" pitchFamily="18" charset="0"/>
                <a:cs typeface="Times New Roman" panose="02020603050405020304" pitchFamily="18" charset="0"/>
              </a:rPr>
              <a:t>Ele</a:t>
            </a:r>
            <a:r>
              <a:rPr lang="en-US" sz="2000" dirty="0">
                <a:latin typeface="Times New Roman" panose="02020603050405020304" pitchFamily="18" charset="0"/>
                <a:cs typeface="Times New Roman" panose="02020603050405020304" pitchFamily="18" charset="0"/>
              </a:rPr>
              <a:t>.</a:t>
            </a:r>
          </a:p>
          <a:p>
            <a:pPr lvl="1">
              <a:lnSpc>
                <a:spcPct val="150000"/>
              </a:lnSpc>
            </a:pPr>
            <a:r>
              <a:rPr lang="en-US" sz="2000" dirty="0">
                <a:latin typeface="Times New Roman" panose="02020603050405020304" pitchFamily="18" charset="0"/>
                <a:cs typeface="Times New Roman" panose="02020603050405020304" pitchFamily="18" charset="0"/>
              </a:rPr>
              <a:t>US: is the initial test of choice for patients with suspected biliary tract disease.</a:t>
            </a:r>
          </a:p>
          <a:p>
            <a:pPr lvl="2">
              <a:lnSpc>
                <a:spcPct val="150000"/>
              </a:lnSpc>
            </a:pPr>
            <a:r>
              <a:rPr lang="en-US" dirty="0">
                <a:latin typeface="Times New Roman" panose="02020603050405020304" pitchFamily="18" charset="0"/>
                <a:cs typeface="Times New Roman" panose="02020603050405020304" pitchFamily="18" charset="0"/>
              </a:rPr>
              <a:t>More sensitive than CT scan to detect GB stone.</a:t>
            </a:r>
          </a:p>
          <a:p>
            <a:pPr lvl="2">
              <a:lnSpc>
                <a:spcPct val="150000"/>
              </a:lnSpc>
            </a:pPr>
            <a:r>
              <a:rPr lang="en-CA" dirty="0">
                <a:latin typeface="Times New Roman" panose="02020603050405020304" pitchFamily="18" charset="0"/>
                <a:cs typeface="Times New Roman" panose="02020603050405020304" pitchFamily="18" charset="0"/>
              </a:rPr>
              <a:t>Gallbladder wall thickening (greater than 4 to 5 mm), pericholecystic fluid, or edema (double wall sign) </a:t>
            </a:r>
          </a:p>
          <a:p>
            <a:pPr lvl="2">
              <a:lnSpc>
                <a:spcPct val="150000"/>
              </a:lnSpc>
            </a:pPr>
            <a:r>
              <a:rPr lang="en-CA" dirty="0">
                <a:latin typeface="Times New Roman" panose="02020603050405020304" pitchFamily="18" charset="0"/>
                <a:cs typeface="Times New Roman" panose="02020603050405020304" pitchFamily="18" charset="0"/>
              </a:rPr>
              <a:t>A "sonographic Murphy's sign" is more accurate than hand palpation.</a:t>
            </a:r>
            <a:endParaRPr lang="en-US" dirty="0">
              <a:latin typeface="Times New Roman" panose="02020603050405020304" pitchFamily="18" charset="0"/>
              <a:cs typeface="Times New Roman" panose="02020603050405020304" pitchFamily="18" charset="0"/>
            </a:endParaRPr>
          </a:p>
          <a:p>
            <a:pPr lvl="1">
              <a:lnSpc>
                <a:spcPct val="150000"/>
              </a:lnSpc>
            </a:pPr>
            <a:r>
              <a:rPr lang="en-US" sz="2000" dirty="0">
                <a:latin typeface="Times New Roman" panose="02020603050405020304" pitchFamily="18" charset="0"/>
                <a:cs typeface="Times New Roman" panose="02020603050405020304" pitchFamily="18" charset="0"/>
              </a:rPr>
              <a:t>CT scan, MRCP, ERCP.</a:t>
            </a:r>
          </a:p>
          <a:p>
            <a:pPr lvl="2">
              <a:lnSpc>
                <a:spcPct val="150000"/>
              </a:lnSpc>
            </a:pPr>
            <a:r>
              <a:rPr lang="en-US" dirty="0">
                <a:latin typeface="Times New Roman" panose="02020603050405020304" pitchFamily="18" charset="0"/>
                <a:cs typeface="Times New Roman" panose="02020603050405020304" pitchFamily="18" charset="0"/>
              </a:rPr>
              <a:t>MRCP has good specificity and sensitivity in picking up stones and common duct obstructions.</a:t>
            </a:r>
          </a:p>
        </p:txBody>
      </p:sp>
      <p:sp>
        <p:nvSpPr>
          <p:cNvPr id="2" name="Date Placeholder 1">
            <a:extLst>
              <a:ext uri="{FF2B5EF4-FFF2-40B4-BE49-F238E27FC236}">
                <a16:creationId xmlns:a16="http://schemas.microsoft.com/office/drawing/2014/main" id="{2C6F3E4E-6211-0348-9AF0-043FEC1ACABE}"/>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A789BC0E-F78C-4F48-99AF-DE9A31BB9C80}"/>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02D45F12-56BD-7C49-B259-99C127DAC177}"/>
              </a:ext>
            </a:extLst>
          </p:cNvPr>
          <p:cNvSpPr>
            <a:spLocks noGrp="1"/>
          </p:cNvSpPr>
          <p:nvPr>
            <p:ph type="sldNum" sz="quarter" idx="12"/>
          </p:nvPr>
        </p:nvSpPr>
        <p:spPr/>
        <p:txBody>
          <a:bodyPr/>
          <a:lstStyle/>
          <a:p>
            <a:fld id="{B6F15528-21DE-4FAA-801E-634DDDAF4B2B}" type="slidenum">
              <a:rPr lang="en-US" smtClean="0"/>
              <a:pPr/>
              <a:t>53</a:t>
            </a:fld>
            <a:endParaRPr lang="en-US"/>
          </a:p>
        </p:txBody>
      </p:sp>
    </p:spTree>
  </p:cSld>
  <p:clrMapOvr>
    <a:masterClrMapping/>
  </p:clrMapOvr>
  <p:transition>
    <p:pull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513567" y="526092"/>
            <a:ext cx="11047956" cy="5787025"/>
          </a:xfrm>
        </p:spPr>
        <p:txBody>
          <a:bodyPr>
            <a:normAutofit/>
          </a:bodyPr>
          <a:lstStyle/>
          <a:p>
            <a:pPr eaLnBrk="1" hangingPunct="1">
              <a:lnSpc>
                <a:spcPct val="150000"/>
              </a:lnSpc>
              <a:buFont typeface="Wingdings" pitchFamily="2" charset="2"/>
              <a:buChar char="Ø"/>
            </a:pPr>
            <a:r>
              <a:rPr lang="en-US" sz="2000" b="1" dirty="0">
                <a:latin typeface="Times New Roman" panose="02020603050405020304" pitchFamily="18" charset="0"/>
                <a:cs typeface="Times New Roman" panose="02020603050405020304" pitchFamily="18" charset="0"/>
              </a:rPr>
              <a:t>Mx:</a:t>
            </a:r>
          </a:p>
          <a:p>
            <a:pPr lvl="1">
              <a:lnSpc>
                <a:spcPct val="150000"/>
              </a:lnSpc>
            </a:pPr>
            <a:r>
              <a:rPr lang="en-US" sz="2000" dirty="0">
                <a:latin typeface="Times New Roman" panose="02020603050405020304" pitchFamily="18" charset="0"/>
                <a:cs typeface="Times New Roman" panose="02020603050405020304" pitchFamily="18" charset="0"/>
              </a:rPr>
              <a:t>Fluid and electrolyte deficit correction</a:t>
            </a:r>
          </a:p>
          <a:p>
            <a:pPr lvl="1">
              <a:lnSpc>
                <a:spcPct val="150000"/>
              </a:lnSpc>
            </a:pPr>
            <a:r>
              <a:rPr lang="en-US" sz="2000" dirty="0">
                <a:latin typeface="Times New Roman" panose="02020603050405020304" pitchFamily="18" charset="0"/>
                <a:cs typeface="Times New Roman" panose="02020603050405020304" pitchFamily="18" charset="0"/>
              </a:rPr>
              <a:t>NPO and MF</a:t>
            </a:r>
          </a:p>
          <a:p>
            <a:pPr lvl="1">
              <a:lnSpc>
                <a:spcPct val="150000"/>
              </a:lnSpc>
            </a:pPr>
            <a:r>
              <a:rPr lang="en-US" sz="2000" dirty="0">
                <a:latin typeface="Times New Roman" panose="02020603050405020304" pitchFamily="18" charset="0"/>
                <a:cs typeface="Times New Roman" panose="02020603050405020304" pitchFamily="18" charset="0"/>
              </a:rPr>
              <a:t>Analgesia</a:t>
            </a:r>
          </a:p>
          <a:p>
            <a:pPr lvl="1">
              <a:lnSpc>
                <a:spcPct val="150000"/>
              </a:lnSpc>
            </a:pPr>
            <a:r>
              <a:rPr lang="en-US" sz="2000" dirty="0">
                <a:latin typeface="Times New Roman" panose="02020603050405020304" pitchFamily="18" charset="0"/>
                <a:cs typeface="Times New Roman" panose="02020603050405020304" pitchFamily="18" charset="0"/>
              </a:rPr>
              <a:t>Broad spectrum antibiotics</a:t>
            </a:r>
          </a:p>
          <a:p>
            <a:pPr lvl="1">
              <a:lnSpc>
                <a:spcPct val="150000"/>
              </a:lnSpc>
            </a:pPr>
            <a:r>
              <a:rPr lang="en-US" sz="2000" dirty="0">
                <a:latin typeface="Times New Roman" panose="02020603050405020304" pitchFamily="18" charset="0"/>
                <a:cs typeface="Times New Roman" panose="02020603050405020304" pitchFamily="18" charset="0"/>
              </a:rPr>
              <a:t>Surgery (Emergency or interval cholecystectomy)</a:t>
            </a:r>
          </a:p>
        </p:txBody>
      </p:sp>
      <p:sp>
        <p:nvSpPr>
          <p:cNvPr id="2" name="Date Placeholder 1">
            <a:extLst>
              <a:ext uri="{FF2B5EF4-FFF2-40B4-BE49-F238E27FC236}">
                <a16:creationId xmlns:a16="http://schemas.microsoft.com/office/drawing/2014/main" id="{E9B721E0-31D2-434C-8F93-CA4094C2D613}"/>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E519A34E-FEAF-9E44-9899-2AC6A2EC1479}"/>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77DF7796-DDAA-1A41-986F-7BA65EE90D25}"/>
              </a:ext>
            </a:extLst>
          </p:cNvPr>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524060786"/>
      </p:ext>
    </p:extLst>
  </p:cSld>
  <p:clrMapOvr>
    <a:masterClrMapping/>
  </p:clrMapOvr>
  <p:transition>
    <p:pull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751562" y="365125"/>
            <a:ext cx="10602238" cy="561801"/>
          </a:xfrm>
        </p:spPr>
        <p:txBody>
          <a:bodyPr>
            <a:normAutofit/>
          </a:bodyPr>
          <a:lstStyle/>
          <a:p>
            <a:r>
              <a:rPr lang="en-US" sz="2800" b="1" dirty="0">
                <a:latin typeface="Times New Roman" panose="02020603050405020304" pitchFamily="18" charset="0"/>
                <a:cs typeface="Times New Roman" panose="02020603050405020304" pitchFamily="18" charset="0"/>
              </a:rPr>
              <a:t>Intestinal Obstruction</a:t>
            </a:r>
          </a:p>
        </p:txBody>
      </p:sp>
      <p:sp>
        <p:nvSpPr>
          <p:cNvPr id="119811" name="Rectangle 3"/>
          <p:cNvSpPr>
            <a:spLocks noGrp="1" noChangeArrowheads="1"/>
          </p:cNvSpPr>
          <p:nvPr>
            <p:ph idx="1"/>
          </p:nvPr>
        </p:nvSpPr>
        <p:spPr>
          <a:xfrm>
            <a:off x="501041" y="1064712"/>
            <a:ext cx="11448789" cy="4734839"/>
          </a:xfrm>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Blockage of inside of intestine</a:t>
            </a:r>
          </a:p>
          <a:p>
            <a:pPr>
              <a:lnSpc>
                <a:spcPct val="150000"/>
              </a:lnSpc>
            </a:pPr>
            <a:r>
              <a:rPr lang="en-US" sz="2000" dirty="0">
                <a:latin typeface="Times New Roman" panose="02020603050405020304" pitchFamily="18" charset="0"/>
                <a:cs typeface="Times New Roman" panose="02020603050405020304" pitchFamily="18" charset="0"/>
              </a:rPr>
              <a:t>Interrupts normal flow of contents</a:t>
            </a:r>
          </a:p>
          <a:p>
            <a:pPr>
              <a:lnSpc>
                <a:spcPct val="150000"/>
              </a:lnSpc>
            </a:pPr>
            <a:r>
              <a:rPr lang="en-US" sz="2000" dirty="0">
                <a:latin typeface="Times New Roman" panose="02020603050405020304" pitchFamily="18" charset="0"/>
                <a:cs typeface="Times New Roman" panose="02020603050405020304" pitchFamily="18" charset="0"/>
              </a:rPr>
              <a:t>Causes include adhesions, hernias, fecal impactions, tumors</a:t>
            </a:r>
          </a:p>
          <a:p>
            <a:pPr>
              <a:lnSpc>
                <a:spcPct val="150000"/>
              </a:lnSpc>
            </a:pPr>
            <a:r>
              <a:rPr lang="en-US" sz="2000" i="1" dirty="0">
                <a:latin typeface="Times New Roman" panose="02020603050405020304" pitchFamily="18" charset="0"/>
                <a:cs typeface="Times New Roman" panose="02020603050405020304" pitchFamily="18" charset="0"/>
              </a:rPr>
              <a:t>Cardinal symptoms of intestinal obstruction: </a:t>
            </a:r>
            <a:r>
              <a:rPr lang="en-US" sz="2000" dirty="0">
                <a:latin typeface="Times New Roman" panose="02020603050405020304" pitchFamily="18" charset="0"/>
                <a:cs typeface="Times New Roman" panose="02020603050405020304" pitchFamily="18" charset="0"/>
              </a:rPr>
              <a:t>Abdominal pain, vomiting and obstipation.</a:t>
            </a:r>
          </a:p>
          <a:p>
            <a:pPr>
              <a:lnSpc>
                <a:spcPct val="150000"/>
              </a:lnSpc>
            </a:pPr>
            <a:r>
              <a:rPr lang="en-US" sz="2000" dirty="0">
                <a:latin typeface="Times New Roman" panose="02020603050405020304" pitchFamily="18" charset="0"/>
                <a:cs typeface="Times New Roman" panose="02020603050405020304" pitchFamily="18" charset="0"/>
              </a:rPr>
              <a:t>It  can be SBO, LBO or both</a:t>
            </a:r>
          </a:p>
          <a:p>
            <a:pPr>
              <a:lnSpc>
                <a:spcPct val="150000"/>
              </a:lnSpc>
            </a:pPr>
            <a:r>
              <a:rPr lang="en-US" sz="2000" dirty="0">
                <a:latin typeface="Times New Roman" panose="02020603050405020304" pitchFamily="18" charset="0"/>
                <a:cs typeface="Times New Roman" panose="02020603050405020304" pitchFamily="18" charset="0"/>
              </a:rPr>
              <a:t>It can be complete or partial obstruction</a:t>
            </a:r>
          </a:p>
        </p:txBody>
      </p:sp>
      <p:sp>
        <p:nvSpPr>
          <p:cNvPr id="2" name="Date Placeholder 1">
            <a:extLst>
              <a:ext uri="{FF2B5EF4-FFF2-40B4-BE49-F238E27FC236}">
                <a16:creationId xmlns:a16="http://schemas.microsoft.com/office/drawing/2014/main" id="{880143B5-BBB4-AF40-B57E-BFB0C9454BE8}"/>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1562FE31-6DFB-ED40-955C-7B6F0A79C930}"/>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1A3FEFE7-F518-8A4C-9C04-23A472D87D57}"/>
              </a:ext>
            </a:extLst>
          </p:cNvPr>
          <p:cNvSpPr>
            <a:spLocks noGrp="1"/>
          </p:cNvSpPr>
          <p:nvPr>
            <p:ph type="sldNum" sz="quarter" idx="12"/>
          </p:nvPr>
        </p:nvSpPr>
        <p:spPr/>
        <p:txBody>
          <a:bodyPr/>
          <a:lstStyle/>
          <a:p>
            <a:fld id="{B6F15528-21DE-4FAA-801E-634DDDAF4B2B}" type="slidenum">
              <a:rPr lang="en-US" smtClean="0"/>
              <a:pPr/>
              <a:t>55</a:t>
            </a:fld>
            <a:endParaRPr lang="en-US"/>
          </a:p>
        </p:txBody>
      </p:sp>
    </p:spTree>
  </p:cSld>
  <p:clrMapOvr>
    <a:masterClrMapping/>
  </p:clrMapOvr>
  <p:transition>
    <p:pull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A79A2AA-4E40-4E44-82BB-9EDFC6A909DC}"/>
              </a:ext>
            </a:extLst>
          </p:cNvPr>
          <p:cNvPicPr>
            <a:picLocks noChangeAspect="1"/>
          </p:cNvPicPr>
          <p:nvPr/>
        </p:nvPicPr>
        <p:blipFill rotWithShape="1">
          <a:blip r:embed="rId2"/>
          <a:srcRect l="38995" b="23577"/>
          <a:stretch/>
        </p:blipFill>
        <p:spPr>
          <a:xfrm>
            <a:off x="263047" y="420663"/>
            <a:ext cx="8379911" cy="6160475"/>
          </a:xfrm>
          <a:prstGeom prst="rect">
            <a:avLst/>
          </a:prstGeom>
        </p:spPr>
      </p:pic>
      <p:pic>
        <p:nvPicPr>
          <p:cNvPr id="8" name="Picture 7">
            <a:extLst>
              <a:ext uri="{FF2B5EF4-FFF2-40B4-BE49-F238E27FC236}">
                <a16:creationId xmlns:a16="http://schemas.microsoft.com/office/drawing/2014/main" id="{2AD489A6-41C4-714A-9C31-666C857927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269" y="0"/>
            <a:ext cx="9989462" cy="6858000"/>
          </a:xfrm>
          <a:prstGeom prst="rect">
            <a:avLst/>
          </a:prstGeom>
        </p:spPr>
      </p:pic>
      <p:sp>
        <p:nvSpPr>
          <p:cNvPr id="2" name="Date Placeholder 1">
            <a:extLst>
              <a:ext uri="{FF2B5EF4-FFF2-40B4-BE49-F238E27FC236}">
                <a16:creationId xmlns:a16="http://schemas.microsoft.com/office/drawing/2014/main" id="{50938FC4-54CE-3C4B-9E18-264B774307DA}"/>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DB5C73A9-8881-A348-83AC-77271D89CB7A}"/>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8AAB9456-ABF9-C742-BA89-7B7E5BA4E2F8}"/>
              </a:ext>
            </a:extLst>
          </p:cNvPr>
          <p:cNvSpPr>
            <a:spLocks noGrp="1"/>
          </p:cNvSpPr>
          <p:nvPr>
            <p:ph type="sldNum" sz="quarter" idx="12"/>
          </p:nvPr>
        </p:nvSpPr>
        <p:spPr/>
        <p:txBody>
          <a:bodyPr/>
          <a:lstStyle/>
          <a:p>
            <a:fld id="{B6F15528-21DE-4FAA-801E-634DDDAF4B2B}" type="slidenum">
              <a:rPr lang="en-US" smtClean="0"/>
              <a:pPr/>
              <a:t>56</a:t>
            </a:fld>
            <a:endParaRPr lang="en-US"/>
          </a:p>
        </p:txBody>
      </p:sp>
    </p:spTree>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96579B-BA18-9B44-AFA5-B939E5861091}"/>
              </a:ext>
            </a:extLst>
          </p:cNvPr>
          <p:cNvSpPr>
            <a:spLocks noGrp="1"/>
          </p:cNvSpPr>
          <p:nvPr>
            <p:ph idx="1"/>
          </p:nvPr>
        </p:nvSpPr>
        <p:spPr>
          <a:xfrm>
            <a:off x="450938" y="588723"/>
            <a:ext cx="4609578" cy="6062598"/>
          </a:xfrm>
        </p:spPr>
        <p:txBody>
          <a:bodyPr>
            <a:normAutofit/>
          </a:bodyPr>
          <a:lstStyle/>
          <a:p>
            <a:pPr>
              <a:lnSpc>
                <a:spcPct val="150000"/>
              </a:lnSpc>
            </a:pPr>
            <a:r>
              <a:rPr lang="en-US" sz="2000" b="1" dirty="0">
                <a:latin typeface="Times New Roman" panose="02020603050405020304" pitchFamily="18" charset="0"/>
                <a:cs typeface="Times New Roman" panose="02020603050405020304" pitchFamily="18" charset="0"/>
              </a:rPr>
              <a:t>Ix:</a:t>
            </a:r>
          </a:p>
          <a:p>
            <a:pPr lvl="1">
              <a:lnSpc>
                <a:spcPct val="150000"/>
              </a:lnSpc>
            </a:pPr>
            <a:r>
              <a:rPr lang="en-US" sz="2000" dirty="0">
                <a:latin typeface="Times New Roman" panose="02020603050405020304" pitchFamily="18" charset="0"/>
                <a:cs typeface="Times New Roman" panose="02020603050405020304" pitchFamily="18" charset="0"/>
              </a:rPr>
              <a:t>CBC, OFT, </a:t>
            </a:r>
            <a:r>
              <a:rPr lang="en-US" sz="2000" dirty="0" err="1">
                <a:latin typeface="Times New Roman" panose="02020603050405020304" pitchFamily="18" charset="0"/>
                <a:cs typeface="Times New Roman" panose="02020603050405020304" pitchFamily="18" charset="0"/>
              </a:rPr>
              <a:t>Ele</a:t>
            </a:r>
            <a:endParaRPr lang="en-US" sz="2000" dirty="0">
              <a:latin typeface="Times New Roman" panose="02020603050405020304" pitchFamily="18" charset="0"/>
              <a:cs typeface="Times New Roman" panose="02020603050405020304" pitchFamily="18" charset="0"/>
            </a:endParaRPr>
          </a:p>
          <a:p>
            <a:pPr lvl="1">
              <a:lnSpc>
                <a:spcPct val="150000"/>
              </a:lnSpc>
            </a:pPr>
            <a:r>
              <a:rPr lang="en-US" sz="2000" dirty="0">
                <a:latin typeface="Times New Roman" panose="02020603050405020304" pitchFamily="18" charset="0"/>
                <a:cs typeface="Times New Roman" panose="02020603050405020304" pitchFamily="18" charset="0"/>
              </a:rPr>
              <a:t>Lactate</a:t>
            </a:r>
          </a:p>
          <a:p>
            <a:pPr lvl="1">
              <a:lnSpc>
                <a:spcPct val="150000"/>
              </a:lnSpc>
            </a:pPr>
            <a:r>
              <a:rPr lang="en-US" sz="2000" dirty="0">
                <a:latin typeface="Times New Roman" panose="02020603050405020304" pitchFamily="18" charset="0"/>
                <a:cs typeface="Times New Roman" panose="02020603050405020304" pitchFamily="18" charset="0"/>
              </a:rPr>
              <a:t>Tumor markers (CEA)</a:t>
            </a:r>
          </a:p>
          <a:p>
            <a:pPr lvl="1">
              <a:lnSpc>
                <a:spcPct val="150000"/>
              </a:lnSpc>
            </a:pPr>
            <a:r>
              <a:rPr lang="en-US" sz="2000" dirty="0">
                <a:latin typeface="Times New Roman" panose="02020603050405020304" pitchFamily="18" charset="0"/>
                <a:cs typeface="Times New Roman" panose="02020603050405020304" pitchFamily="18" charset="0"/>
              </a:rPr>
              <a:t>Plain abdominal x ray</a:t>
            </a:r>
          </a:p>
          <a:p>
            <a:pPr lvl="1">
              <a:lnSpc>
                <a:spcPct val="150000"/>
              </a:lnSpc>
            </a:pPr>
            <a:r>
              <a:rPr lang="en-US" sz="2000" dirty="0" err="1">
                <a:latin typeface="Times New Roman" panose="02020603050405020304" pitchFamily="18" charset="0"/>
                <a:cs typeface="Times New Roman" panose="02020603050405020304" pitchFamily="18" charset="0"/>
              </a:rPr>
              <a:t>Abdomino-plevic</a:t>
            </a:r>
            <a:r>
              <a:rPr lang="en-US" sz="2000" dirty="0">
                <a:latin typeface="Times New Roman" panose="02020603050405020304" pitchFamily="18" charset="0"/>
                <a:cs typeface="Times New Roman" panose="02020603050405020304" pitchFamily="18" charset="0"/>
              </a:rPr>
              <a:t> CT scan with contrast</a:t>
            </a:r>
          </a:p>
        </p:txBody>
      </p:sp>
      <p:pic>
        <p:nvPicPr>
          <p:cNvPr id="4" name="Picture 3">
            <a:extLst>
              <a:ext uri="{FF2B5EF4-FFF2-40B4-BE49-F238E27FC236}">
                <a16:creationId xmlns:a16="http://schemas.microsoft.com/office/drawing/2014/main" id="{9BEF427D-D47A-AE4B-AAB2-9436E46501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8110" y="46711"/>
            <a:ext cx="6234830" cy="5715261"/>
          </a:xfrm>
          <a:prstGeom prst="rect">
            <a:avLst/>
          </a:prstGeom>
        </p:spPr>
      </p:pic>
      <p:pic>
        <p:nvPicPr>
          <p:cNvPr id="6" name="Picture 5">
            <a:extLst>
              <a:ext uri="{FF2B5EF4-FFF2-40B4-BE49-F238E27FC236}">
                <a16:creationId xmlns:a16="http://schemas.microsoft.com/office/drawing/2014/main" id="{7A69AF71-4014-384C-A82A-2449413C65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0617" y="51468"/>
            <a:ext cx="5029200" cy="6273800"/>
          </a:xfrm>
          <a:prstGeom prst="rect">
            <a:avLst/>
          </a:prstGeom>
        </p:spPr>
      </p:pic>
      <p:sp>
        <p:nvSpPr>
          <p:cNvPr id="2" name="Date Placeholder 1">
            <a:extLst>
              <a:ext uri="{FF2B5EF4-FFF2-40B4-BE49-F238E27FC236}">
                <a16:creationId xmlns:a16="http://schemas.microsoft.com/office/drawing/2014/main" id="{D214504B-B0BE-EA4F-9E65-86E31C7B10F0}"/>
              </a:ext>
            </a:extLst>
          </p:cNvPr>
          <p:cNvSpPr>
            <a:spLocks noGrp="1"/>
          </p:cNvSpPr>
          <p:nvPr>
            <p:ph type="dt" sz="half" idx="10"/>
          </p:nvPr>
        </p:nvSpPr>
        <p:spPr/>
        <p:txBody>
          <a:bodyPr/>
          <a:lstStyle/>
          <a:p>
            <a:r>
              <a:rPr lang="en-CA"/>
              <a:t>6/28/24</a:t>
            </a:r>
            <a:endParaRPr lang="en-US"/>
          </a:p>
        </p:txBody>
      </p:sp>
      <p:sp>
        <p:nvSpPr>
          <p:cNvPr id="5" name="Footer Placeholder 4">
            <a:extLst>
              <a:ext uri="{FF2B5EF4-FFF2-40B4-BE49-F238E27FC236}">
                <a16:creationId xmlns:a16="http://schemas.microsoft.com/office/drawing/2014/main" id="{E82850B3-39EA-5042-A6FD-D5E092F2A759}"/>
              </a:ext>
            </a:extLst>
          </p:cNvPr>
          <p:cNvSpPr>
            <a:spLocks noGrp="1"/>
          </p:cNvSpPr>
          <p:nvPr>
            <p:ph type="ftr" sz="quarter" idx="11"/>
          </p:nvPr>
        </p:nvSpPr>
        <p:spPr/>
        <p:txBody>
          <a:bodyPr/>
          <a:lstStyle/>
          <a:p>
            <a:r>
              <a:rPr lang="en-US"/>
              <a:t>Acute Abdomen</a:t>
            </a:r>
          </a:p>
        </p:txBody>
      </p:sp>
      <p:sp>
        <p:nvSpPr>
          <p:cNvPr id="7" name="Slide Number Placeholder 6">
            <a:extLst>
              <a:ext uri="{FF2B5EF4-FFF2-40B4-BE49-F238E27FC236}">
                <a16:creationId xmlns:a16="http://schemas.microsoft.com/office/drawing/2014/main" id="{56E63E3B-DAF8-3048-804B-3BC6A1CA9A1B}"/>
              </a:ext>
            </a:extLst>
          </p:cNvPr>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3113828163"/>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idx="1"/>
          </p:nvPr>
        </p:nvSpPr>
        <p:spPr>
          <a:xfrm>
            <a:off x="313151" y="313152"/>
            <a:ext cx="11711835" cy="2417522"/>
          </a:xfrm>
        </p:spPr>
        <p:txBody>
          <a:bodyPr numCol="2">
            <a:noAutofit/>
          </a:bodyPr>
          <a:lstStyle/>
          <a:p>
            <a:pPr>
              <a:lnSpc>
                <a:spcPct val="150000"/>
              </a:lnSpc>
            </a:pPr>
            <a:r>
              <a:rPr lang="en-US" sz="2000" b="1" dirty="0">
                <a:latin typeface="Times New Roman" panose="02020603050405020304" pitchFamily="18" charset="0"/>
                <a:cs typeface="Times New Roman" panose="02020603050405020304" pitchFamily="18" charset="0"/>
              </a:rPr>
              <a:t>Small Bowel</a:t>
            </a:r>
            <a:r>
              <a:rPr lang="en-US" sz="2000" dirty="0">
                <a:latin typeface="Times New Roman" panose="02020603050405020304" pitchFamily="18" charset="0"/>
                <a:cs typeface="Times New Roman" panose="02020603050405020304" pitchFamily="18" charset="0"/>
              </a:rPr>
              <a:t>	</a:t>
            </a:r>
          </a:p>
          <a:p>
            <a:pPr lvl="1">
              <a:lnSpc>
                <a:spcPct val="150000"/>
              </a:lnSpc>
            </a:pPr>
            <a:r>
              <a:rPr lang="en-US" sz="2000" dirty="0">
                <a:latin typeface="Times New Roman" panose="02020603050405020304" pitchFamily="18" charset="0"/>
                <a:cs typeface="Times New Roman" panose="02020603050405020304" pitchFamily="18" charset="0"/>
              </a:rPr>
              <a:t>Central			</a:t>
            </a:r>
          </a:p>
          <a:p>
            <a:pPr lvl="1">
              <a:lnSpc>
                <a:spcPct val="150000"/>
              </a:lnSpc>
            </a:pPr>
            <a:r>
              <a:rPr lang="en-US" sz="2000" dirty="0" err="1">
                <a:latin typeface="Times New Roman" panose="02020603050405020304" pitchFamily="18" charset="0"/>
                <a:cs typeface="Times New Roman" panose="02020603050405020304" pitchFamily="18" charset="0"/>
              </a:rPr>
              <a:t>Valvulae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conniventes</a:t>
            </a:r>
            <a:r>
              <a:rPr lang="en-US" sz="2000" dirty="0">
                <a:latin typeface="Times New Roman" panose="02020603050405020304" pitchFamily="18" charset="0"/>
                <a:cs typeface="Times New Roman" panose="02020603050405020304" pitchFamily="18" charset="0"/>
              </a:rPr>
              <a:t>	</a:t>
            </a:r>
          </a:p>
          <a:p>
            <a:pPr lvl="1">
              <a:lnSpc>
                <a:spcPct val="150000"/>
              </a:lnSpc>
            </a:pPr>
            <a:r>
              <a:rPr lang="en-US" sz="2000" dirty="0" err="1">
                <a:latin typeface="Times New Roman" panose="02020603050405020304" pitchFamily="18" charset="0"/>
                <a:cs typeface="Times New Roman" panose="02020603050405020304" pitchFamily="18" charset="0"/>
              </a:rPr>
              <a:t>Dia</a:t>
            </a:r>
            <a:r>
              <a:rPr lang="en-US" sz="2000" dirty="0">
                <a:latin typeface="Times New Roman" panose="02020603050405020304" pitchFamily="18" charset="0"/>
                <a:cs typeface="Times New Roman" panose="02020603050405020304" pitchFamily="18" charset="0"/>
              </a:rPr>
              <a:t> &gt; 5cm</a:t>
            </a:r>
          </a:p>
          <a:p>
            <a:pPr marL="457200" lvl="1" indent="0">
              <a:lnSpc>
                <a:spcPct val="150000"/>
              </a:lnSpc>
              <a:buNone/>
            </a:pPr>
            <a:endParaRPr lang="en-US" sz="2000" dirty="0">
              <a:latin typeface="Times New Roman" panose="02020603050405020304" pitchFamily="18" charset="0"/>
              <a:cs typeface="Times New Roman" panose="02020603050405020304" pitchFamily="18" charset="0"/>
            </a:endParaRPr>
          </a:p>
          <a:p>
            <a:pPr lvl="1">
              <a:lnSpc>
                <a:spcPct val="150000"/>
              </a:lnSpc>
            </a:pPr>
            <a:r>
              <a:rPr lang="en-US" sz="2000" b="1" dirty="0">
                <a:latin typeface="Times New Roman" panose="02020603050405020304" pitchFamily="18" charset="0"/>
                <a:cs typeface="Times New Roman" panose="02020603050405020304" pitchFamily="18" charset="0"/>
              </a:rPr>
              <a:t>Large Bowel</a:t>
            </a:r>
          </a:p>
          <a:p>
            <a:pPr lvl="1">
              <a:lnSpc>
                <a:spcPct val="150000"/>
              </a:lnSpc>
            </a:pPr>
            <a:r>
              <a:rPr lang="en-US" sz="2000" dirty="0">
                <a:latin typeface="Times New Roman" panose="02020603050405020304" pitchFamily="18" charset="0"/>
                <a:cs typeface="Times New Roman" panose="02020603050405020304" pitchFamily="18" charset="0"/>
              </a:rPr>
              <a:t>Peripheral</a:t>
            </a:r>
            <a:endParaRPr lang="en-US" sz="2000" b="1" dirty="0">
              <a:latin typeface="Times New Roman" panose="02020603050405020304" pitchFamily="18" charset="0"/>
              <a:cs typeface="Times New Roman" panose="02020603050405020304" pitchFamily="18" charset="0"/>
            </a:endParaRPr>
          </a:p>
          <a:p>
            <a:pPr lvl="1">
              <a:lnSpc>
                <a:spcPct val="150000"/>
              </a:lnSpc>
            </a:pPr>
            <a:r>
              <a:rPr lang="en-US" sz="2000" dirty="0" err="1">
                <a:latin typeface="Times New Roman" panose="02020603050405020304" pitchFamily="18" charset="0"/>
                <a:cs typeface="Times New Roman" panose="02020603050405020304" pitchFamily="18" charset="0"/>
              </a:rPr>
              <a:t>Haustrae</a:t>
            </a:r>
            <a:r>
              <a:rPr lang="en-US" sz="2000" dirty="0">
                <a:latin typeface="Times New Roman" panose="02020603050405020304" pitchFamily="18" charset="0"/>
                <a:cs typeface="Times New Roman" panose="02020603050405020304" pitchFamily="18" charset="0"/>
              </a:rPr>
              <a:t> 		</a:t>
            </a:r>
          </a:p>
          <a:p>
            <a:pPr lvl="1">
              <a:lnSpc>
                <a:spcPct val="150000"/>
              </a:lnSpc>
            </a:pPr>
            <a:r>
              <a:rPr lang="en-US" sz="2000" dirty="0">
                <a:latin typeface="Times New Roman" panose="02020603050405020304" pitchFamily="18" charset="0"/>
                <a:cs typeface="Times New Roman" panose="02020603050405020304" pitchFamily="18" charset="0"/>
              </a:rPr>
              <a:t>Dilation &gt; 10cm</a:t>
            </a:r>
          </a:p>
        </p:txBody>
      </p:sp>
      <p:pic>
        <p:nvPicPr>
          <p:cNvPr id="7" name="Picture 6">
            <a:extLst>
              <a:ext uri="{FF2B5EF4-FFF2-40B4-BE49-F238E27FC236}">
                <a16:creationId xmlns:a16="http://schemas.microsoft.com/office/drawing/2014/main" id="{6BBFD5E1-C788-EA45-B031-7AC42B5369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501" y="2652733"/>
            <a:ext cx="3924822" cy="3597754"/>
          </a:xfrm>
          <a:prstGeom prst="rect">
            <a:avLst/>
          </a:prstGeom>
        </p:spPr>
      </p:pic>
      <p:pic>
        <p:nvPicPr>
          <p:cNvPr id="11" name="Picture 10">
            <a:extLst>
              <a:ext uri="{FF2B5EF4-FFF2-40B4-BE49-F238E27FC236}">
                <a16:creationId xmlns:a16="http://schemas.microsoft.com/office/drawing/2014/main" id="{B902FC10-6B98-2841-918E-E6C0ED9AAB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6382" y="2630466"/>
            <a:ext cx="3800198" cy="4215008"/>
          </a:xfrm>
          <a:prstGeom prst="rect">
            <a:avLst/>
          </a:prstGeom>
        </p:spPr>
      </p:pic>
      <p:sp>
        <p:nvSpPr>
          <p:cNvPr id="2" name="Date Placeholder 1">
            <a:extLst>
              <a:ext uri="{FF2B5EF4-FFF2-40B4-BE49-F238E27FC236}">
                <a16:creationId xmlns:a16="http://schemas.microsoft.com/office/drawing/2014/main" id="{3478283F-32B6-594C-9559-1F32D8F0FF72}"/>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2F26BBEA-0B5E-5545-9FDE-8FAE64150652}"/>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8FB8EE7D-4ABA-814C-8B9A-1AFF6E5A0199}"/>
              </a:ext>
            </a:extLst>
          </p:cNvPr>
          <p:cNvSpPr>
            <a:spLocks noGrp="1"/>
          </p:cNvSpPr>
          <p:nvPr>
            <p:ph type="sldNum" sz="quarter" idx="12"/>
          </p:nvPr>
        </p:nvSpPr>
        <p:spPr/>
        <p:txBody>
          <a:bodyPr/>
          <a:lstStyle/>
          <a:p>
            <a:fld id="{B6F15528-21DE-4FAA-801E-634DDDAF4B2B}" type="slidenum">
              <a:rPr lang="en-US" smtClean="0"/>
              <a:pPr/>
              <a:t>58</a:t>
            </a:fld>
            <a:endParaRPr lang="en-US"/>
          </a:p>
        </p:txBody>
      </p:sp>
    </p:spTree>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D88CA764-2188-E84C-BD9B-46DB12A71AF8}"/>
              </a:ext>
            </a:extLst>
          </p:cNvPr>
          <p:cNvSpPr txBox="1">
            <a:spLocks noChangeArrowheads="1"/>
          </p:cNvSpPr>
          <p:nvPr/>
        </p:nvSpPr>
        <p:spPr>
          <a:xfrm>
            <a:off x="313151" y="313151"/>
            <a:ext cx="11448789" cy="4885150"/>
          </a:xfrm>
          <a:prstGeom prst="rect">
            <a:avLst/>
          </a:prstGeom>
        </p:spPr>
        <p:txBody>
          <a:bodyPr vert="horz" lIns="91440" tIns="45720" rIns="91440" bIns="45720" numCol="2"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itchFamily="2" charset="2"/>
              <a:buChar char="Ø"/>
            </a:pPr>
            <a:r>
              <a:rPr lang="en-US" sz="2000" b="1" dirty="0">
                <a:latin typeface="Times New Roman" panose="02020603050405020304" pitchFamily="18" charset="0"/>
                <a:cs typeface="Times New Roman" panose="02020603050405020304" pitchFamily="18" charset="0"/>
              </a:rPr>
              <a:t>Mx</a:t>
            </a:r>
          </a:p>
          <a:p>
            <a:pPr>
              <a:lnSpc>
                <a:spcPct val="150000"/>
              </a:lnSpc>
            </a:pPr>
            <a:r>
              <a:rPr lang="en-US" sz="2000" b="1" dirty="0">
                <a:latin typeface="Times New Roman" panose="02020603050405020304" pitchFamily="18" charset="0"/>
                <a:cs typeface="Times New Roman" panose="02020603050405020304" pitchFamily="18" charset="0"/>
              </a:rPr>
              <a:t>SBO 2ry to Adhesion</a:t>
            </a:r>
            <a:endParaRPr lang="en-US" sz="2000" dirty="0">
              <a:latin typeface="Times New Roman" panose="02020603050405020304" pitchFamily="18" charset="0"/>
              <a:cs typeface="Times New Roman" panose="02020603050405020304" pitchFamily="18" charset="0"/>
            </a:endParaRPr>
          </a:p>
          <a:p>
            <a:pPr lvl="1">
              <a:lnSpc>
                <a:spcPct val="150000"/>
              </a:lnSpc>
            </a:pPr>
            <a:r>
              <a:rPr lang="en-US" sz="2000" dirty="0">
                <a:latin typeface="Times New Roman" panose="02020603050405020304" pitchFamily="18" charset="0"/>
                <a:cs typeface="Times New Roman" panose="02020603050405020304" pitchFamily="18" charset="0"/>
              </a:rPr>
              <a:t>Resuscitation</a:t>
            </a:r>
          </a:p>
          <a:p>
            <a:pPr lvl="1">
              <a:lnSpc>
                <a:spcPct val="150000"/>
              </a:lnSpc>
            </a:pPr>
            <a:r>
              <a:rPr lang="en-US" sz="2000" dirty="0">
                <a:latin typeface="Times New Roman" panose="02020603050405020304" pitchFamily="18" charset="0"/>
                <a:cs typeface="Times New Roman" panose="02020603050405020304" pitchFamily="18" charset="0"/>
              </a:rPr>
              <a:t>NPO and MF</a:t>
            </a:r>
          </a:p>
          <a:p>
            <a:pPr lvl="1">
              <a:lnSpc>
                <a:spcPct val="150000"/>
              </a:lnSpc>
            </a:pPr>
            <a:r>
              <a:rPr lang="en-US" sz="2000" dirty="0">
                <a:latin typeface="Times New Roman" panose="02020603050405020304" pitchFamily="18" charset="0"/>
                <a:cs typeface="Times New Roman" panose="02020603050405020304" pitchFamily="18" charset="0"/>
              </a:rPr>
              <a:t>NG tube decompression</a:t>
            </a:r>
          </a:p>
          <a:p>
            <a:pPr lvl="1">
              <a:lnSpc>
                <a:spcPct val="150000"/>
              </a:lnSpc>
            </a:pPr>
            <a:r>
              <a:rPr lang="en-US" sz="2000" dirty="0">
                <a:latin typeface="Times New Roman" panose="02020603050405020304" pitchFamily="18" charset="0"/>
                <a:cs typeface="Times New Roman" panose="02020603050405020304" pitchFamily="18" charset="0"/>
              </a:rPr>
              <a:t>Analgesia</a:t>
            </a:r>
          </a:p>
          <a:p>
            <a:pPr lvl="1">
              <a:lnSpc>
                <a:spcPct val="150000"/>
              </a:lnSpc>
            </a:pPr>
            <a:r>
              <a:rPr lang="en-US" sz="2000" u="sng"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Antibiotics</a:t>
            </a:r>
          </a:p>
          <a:p>
            <a:pPr lvl="1">
              <a:lnSpc>
                <a:spcPct val="150000"/>
              </a:lnSpc>
            </a:pPr>
            <a:r>
              <a:rPr lang="en-US" sz="2000" dirty="0">
                <a:latin typeface="Times New Roman" panose="02020603050405020304" pitchFamily="18" charset="0"/>
                <a:cs typeface="Times New Roman" panose="02020603050405020304" pitchFamily="18" charset="0"/>
              </a:rPr>
              <a:t>Conservative management</a:t>
            </a:r>
          </a:p>
          <a:p>
            <a:pPr lvl="1">
              <a:lnSpc>
                <a:spcPct val="150000"/>
              </a:lnSpc>
            </a:pPr>
            <a:r>
              <a:rPr lang="en-US" sz="2000" dirty="0">
                <a:latin typeface="Times New Roman" panose="02020603050405020304" pitchFamily="18" charset="0"/>
                <a:cs typeface="Times New Roman" panose="02020603050405020304" pitchFamily="18" charset="0"/>
              </a:rPr>
              <a:t>Surgery</a:t>
            </a:r>
          </a:p>
          <a:p>
            <a:pPr lvl="1">
              <a:lnSpc>
                <a:spcPct val="150000"/>
              </a:lnSpc>
            </a:pPr>
            <a:r>
              <a:rPr lang="en-US" sz="2000" b="1" dirty="0">
                <a:latin typeface="Times New Roman" panose="02020603050405020304" pitchFamily="18" charset="0"/>
                <a:cs typeface="Times New Roman" panose="02020603050405020304" pitchFamily="18" charset="0"/>
              </a:rPr>
              <a:t>LBO 2ry to SV</a:t>
            </a:r>
          </a:p>
          <a:p>
            <a:pPr lvl="1">
              <a:lnSpc>
                <a:spcPct val="150000"/>
              </a:lnSpc>
            </a:pPr>
            <a:r>
              <a:rPr lang="en-US" sz="2000" dirty="0">
                <a:latin typeface="Times New Roman" panose="02020603050405020304" pitchFamily="18" charset="0"/>
                <a:cs typeface="Times New Roman" panose="02020603050405020304" pitchFamily="18" charset="0"/>
              </a:rPr>
              <a:t>Resuscitation</a:t>
            </a:r>
          </a:p>
          <a:p>
            <a:pPr lvl="1">
              <a:lnSpc>
                <a:spcPct val="150000"/>
              </a:lnSpc>
            </a:pPr>
            <a:r>
              <a:rPr lang="en-US" sz="2000" dirty="0">
                <a:latin typeface="Times New Roman" panose="02020603050405020304" pitchFamily="18" charset="0"/>
                <a:cs typeface="Times New Roman" panose="02020603050405020304" pitchFamily="18" charset="0"/>
              </a:rPr>
              <a:t>NPO and MF</a:t>
            </a:r>
          </a:p>
          <a:p>
            <a:pPr lvl="1">
              <a:lnSpc>
                <a:spcPct val="150000"/>
              </a:lnSpc>
            </a:pPr>
            <a:r>
              <a:rPr lang="en-US" sz="2000" dirty="0">
                <a:latin typeface="Times New Roman" panose="02020603050405020304" pitchFamily="18" charset="0"/>
                <a:cs typeface="Times New Roman" panose="02020603050405020304" pitchFamily="18" charset="0"/>
              </a:rPr>
              <a:t>Rectal tube deflation</a:t>
            </a:r>
          </a:p>
          <a:p>
            <a:pPr lvl="1">
              <a:lnSpc>
                <a:spcPct val="150000"/>
              </a:lnSpc>
            </a:pPr>
            <a:r>
              <a:rPr lang="en-US" sz="2000" u="sng"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Antibiotics and analgesia</a:t>
            </a:r>
          </a:p>
          <a:p>
            <a:pPr lvl="1">
              <a:lnSpc>
                <a:spcPct val="150000"/>
              </a:lnSpc>
            </a:pPr>
            <a:r>
              <a:rPr lang="en-US" sz="2000" dirty="0">
                <a:latin typeface="Times New Roman" panose="02020603050405020304" pitchFamily="18" charset="0"/>
                <a:cs typeface="Times New Roman" panose="02020603050405020304" pitchFamily="18" charset="0"/>
              </a:rPr>
              <a:t>Surgery (Emergency or interval)</a:t>
            </a:r>
          </a:p>
        </p:txBody>
      </p:sp>
      <p:sp>
        <p:nvSpPr>
          <p:cNvPr id="2" name="Date Placeholder 1">
            <a:extLst>
              <a:ext uri="{FF2B5EF4-FFF2-40B4-BE49-F238E27FC236}">
                <a16:creationId xmlns:a16="http://schemas.microsoft.com/office/drawing/2014/main" id="{AF23AA34-E61D-F04D-B77C-A025C2F7A68D}"/>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F1EABAD7-4A91-D646-BF31-5163F9D78903}"/>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A58F544D-C79B-2346-A98F-67AEDFEEB4EC}"/>
              </a:ext>
            </a:extLst>
          </p:cNvPr>
          <p:cNvSpPr>
            <a:spLocks noGrp="1"/>
          </p:cNvSpPr>
          <p:nvPr>
            <p:ph type="sldNum" sz="quarter" idx="12"/>
          </p:nvPr>
        </p:nvSpPr>
        <p:spPr/>
        <p:txBody>
          <a:bodyPr/>
          <a:lstStyle/>
          <a:p>
            <a:fld id="{B6F15528-21DE-4FAA-801E-634DDDAF4B2B}" type="slidenum">
              <a:rPr lang="en-US" smtClean="0"/>
              <a:pPr/>
              <a:t>59</a:t>
            </a:fld>
            <a:endParaRPr lang="en-US"/>
          </a:p>
        </p:txBody>
      </p:sp>
    </p:spTree>
  </p:cSld>
  <p:clrMapOvr>
    <a:masterClrMapping/>
  </p:clrMapOvr>
  <p:transition>
    <p:pull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851770" y="200416"/>
            <a:ext cx="10425830" cy="613776"/>
          </a:xfrm>
        </p:spPr>
        <p:txBody>
          <a:bodyPr>
            <a:normAutofit/>
          </a:bodyPr>
          <a:lstStyle/>
          <a:p>
            <a:r>
              <a:rPr lang="en-US" sz="2800" b="1" dirty="0">
                <a:latin typeface="Times New Roman" panose="02020603050405020304" pitchFamily="18" charset="0"/>
                <a:cs typeface="Times New Roman" panose="02020603050405020304" pitchFamily="18" charset="0"/>
              </a:rPr>
              <a:t>Pancreatitis</a:t>
            </a:r>
          </a:p>
        </p:txBody>
      </p:sp>
      <p:sp>
        <p:nvSpPr>
          <p:cNvPr id="105475" name="Rectangle 3"/>
          <p:cNvSpPr>
            <a:spLocks noGrp="1" noChangeArrowheads="1"/>
          </p:cNvSpPr>
          <p:nvPr>
            <p:ph type="body" sz="half" idx="1"/>
          </p:nvPr>
        </p:nvSpPr>
        <p:spPr>
          <a:xfrm>
            <a:off x="576197" y="1002082"/>
            <a:ext cx="5874707" cy="5123145"/>
          </a:xfrm>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Inflammation of pancreas</a:t>
            </a:r>
          </a:p>
          <a:p>
            <a:pPr>
              <a:lnSpc>
                <a:spcPct val="150000"/>
              </a:lnSpc>
            </a:pPr>
            <a:r>
              <a:rPr lang="en-US" sz="2000" dirty="0">
                <a:latin typeface="Times New Roman" panose="02020603050405020304" pitchFamily="18" charset="0"/>
                <a:cs typeface="Times New Roman" panose="02020603050405020304" pitchFamily="18" charset="0"/>
              </a:rPr>
              <a:t>It can be mild, moderate or severe</a:t>
            </a:r>
          </a:p>
        </p:txBody>
      </p:sp>
      <p:pic>
        <p:nvPicPr>
          <p:cNvPr id="105477" name="Picture 5" descr="pancreasgbladder"/>
          <p:cNvPicPr>
            <a:picLocks noChangeAspect="1" noChangeArrowheads="1"/>
          </p:cNvPicPr>
          <p:nvPr/>
        </p:nvPicPr>
        <p:blipFill>
          <a:blip r:embed="rId2"/>
          <a:srcRect/>
          <a:stretch>
            <a:fillRect/>
          </a:stretch>
        </p:blipFill>
        <p:spPr bwMode="auto">
          <a:xfrm>
            <a:off x="6172199" y="419372"/>
            <a:ext cx="5326693" cy="5752828"/>
          </a:xfrm>
          <a:prstGeom prst="rect">
            <a:avLst/>
          </a:prstGeom>
          <a:noFill/>
        </p:spPr>
      </p:pic>
      <p:sp>
        <p:nvSpPr>
          <p:cNvPr id="2" name="Date Placeholder 1">
            <a:extLst>
              <a:ext uri="{FF2B5EF4-FFF2-40B4-BE49-F238E27FC236}">
                <a16:creationId xmlns:a16="http://schemas.microsoft.com/office/drawing/2014/main" id="{631583AC-6F0B-6147-8A51-297695D95E48}"/>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04A4E715-492B-CB45-9AC6-E8059B041D3C}"/>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B0F57F01-EC70-784B-A5E6-5174129BC0D3}"/>
              </a:ext>
            </a:extLst>
          </p:cNvPr>
          <p:cNvSpPr>
            <a:spLocks noGrp="1"/>
          </p:cNvSpPr>
          <p:nvPr>
            <p:ph type="sldNum" sz="quarter" idx="12"/>
          </p:nvPr>
        </p:nvSpPr>
        <p:spPr/>
        <p:txBody>
          <a:bodyPr/>
          <a:lstStyle/>
          <a:p>
            <a:fld id="{5F92C6BE-6031-4786-AD87-3DCEC0D6B6E0}" type="slidenum">
              <a:rPr lang="en-US" smtClean="0"/>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488515" y="338204"/>
            <a:ext cx="11010378" cy="5624186"/>
          </a:xfrm>
        </p:spPr>
        <p:txBody>
          <a:bodyPr>
            <a:normAutofit lnSpcReduction="10000"/>
          </a:bodyPr>
          <a:lstStyle/>
          <a:p>
            <a:pPr eaLnBrk="1" hangingPunct="1">
              <a:lnSpc>
                <a:spcPct val="150000"/>
              </a:lnSpc>
              <a:buFont typeface="Wingdings" pitchFamily="2" charset="2"/>
              <a:buChar char="Ø"/>
            </a:pPr>
            <a:r>
              <a:rPr lang="en-US" sz="2000" b="1" dirty="0">
                <a:latin typeface="Times New Roman" panose="02020603050405020304" pitchFamily="18" charset="0"/>
                <a:cs typeface="Times New Roman" panose="02020603050405020304" pitchFamily="18" charset="0"/>
              </a:rPr>
              <a:t>Etiology</a:t>
            </a:r>
          </a:p>
          <a:p>
            <a:pPr eaLnBrk="1" hangingPunct="1">
              <a:lnSpc>
                <a:spcPct val="150000"/>
              </a:lnSpc>
            </a:pPr>
            <a:r>
              <a:rPr lang="en-US" sz="2000" dirty="0">
                <a:latin typeface="Times New Roman" panose="02020603050405020304" pitchFamily="18" charset="0"/>
                <a:cs typeface="Times New Roman" panose="02020603050405020304" pitchFamily="18" charset="0"/>
              </a:rPr>
              <a:t>80% of cases are due to ETOH abuse or gallstones.</a:t>
            </a:r>
          </a:p>
          <a:p>
            <a:pPr eaLnBrk="1" hangingPunct="1">
              <a:lnSpc>
                <a:spcPct val="150000"/>
              </a:lnSpc>
            </a:pPr>
            <a:r>
              <a:rPr lang="en-US" sz="2000" dirty="0">
                <a:latin typeface="Times New Roman" panose="02020603050405020304" pitchFamily="18" charset="0"/>
                <a:cs typeface="Times New Roman" panose="02020603050405020304" pitchFamily="18" charset="0"/>
              </a:rPr>
              <a:t>Other common causes:</a:t>
            </a:r>
          </a:p>
          <a:p>
            <a:pPr lvl="1" eaLnBrk="1" hangingPunct="1">
              <a:lnSpc>
                <a:spcPct val="150000"/>
              </a:lnSpc>
            </a:pPr>
            <a:r>
              <a:rPr lang="en-US" sz="2000" dirty="0">
                <a:latin typeface="Times New Roman" panose="02020603050405020304" pitchFamily="18" charset="0"/>
                <a:cs typeface="Times New Roman" panose="02020603050405020304" pitchFamily="18" charset="0"/>
              </a:rPr>
              <a:t>Drugs ( Valproic acid, Tetracycline, Hydrochlorothiazide, Furosemide)</a:t>
            </a:r>
          </a:p>
          <a:p>
            <a:pPr lvl="1" eaLnBrk="1" hangingPunct="1">
              <a:lnSpc>
                <a:spcPct val="150000"/>
              </a:lnSpc>
            </a:pPr>
            <a:r>
              <a:rPr lang="en-US" sz="2000" dirty="0">
                <a:latin typeface="Times New Roman" panose="02020603050405020304" pitchFamily="18" charset="0"/>
                <a:cs typeface="Times New Roman" panose="02020603050405020304" pitchFamily="18" charset="0"/>
              </a:rPr>
              <a:t>Pancreatic cancer </a:t>
            </a:r>
          </a:p>
          <a:p>
            <a:pPr lvl="1" eaLnBrk="1" hangingPunct="1">
              <a:lnSpc>
                <a:spcPct val="150000"/>
              </a:lnSpc>
            </a:pPr>
            <a:r>
              <a:rPr lang="en-US" sz="2000" dirty="0">
                <a:latin typeface="Times New Roman" panose="02020603050405020304" pitchFamily="18" charset="0"/>
                <a:cs typeface="Times New Roman" panose="02020603050405020304" pitchFamily="18" charset="0"/>
              </a:rPr>
              <a:t>Abdominal trauma/surgery </a:t>
            </a:r>
          </a:p>
          <a:p>
            <a:pPr lvl="1" eaLnBrk="1" hangingPunct="1">
              <a:lnSpc>
                <a:spcPct val="150000"/>
              </a:lnSpc>
            </a:pPr>
            <a:r>
              <a:rPr lang="en-US" sz="2000" dirty="0">
                <a:latin typeface="Times New Roman" panose="02020603050405020304" pitchFamily="18" charset="0"/>
                <a:cs typeface="Times New Roman" panose="02020603050405020304" pitchFamily="18" charset="0"/>
              </a:rPr>
              <a:t>Ulcer with pancreatic involvement </a:t>
            </a:r>
          </a:p>
          <a:p>
            <a:pPr lvl="1" eaLnBrk="1" hangingPunct="1">
              <a:lnSpc>
                <a:spcPct val="150000"/>
              </a:lnSpc>
            </a:pPr>
            <a:r>
              <a:rPr lang="en-US" sz="2000" dirty="0">
                <a:latin typeface="Times New Roman" panose="02020603050405020304" pitchFamily="18" charset="0"/>
                <a:cs typeface="Times New Roman" panose="02020603050405020304" pitchFamily="18" charset="0"/>
              </a:rPr>
              <a:t>Familial pancreatitis (</a:t>
            </a:r>
            <a:r>
              <a:rPr lang="en-US" sz="2000" dirty="0" err="1">
                <a:latin typeface="Times New Roman" panose="02020603050405020304" pitchFamily="18" charset="0"/>
                <a:cs typeface="Times New Roman" panose="02020603050405020304" pitchFamily="18" charset="0"/>
              </a:rPr>
              <a:t>Hypertriglycerides</a:t>
            </a:r>
            <a:r>
              <a:rPr lang="en-US" sz="2000" dirty="0">
                <a:latin typeface="Times New Roman" panose="02020603050405020304" pitchFamily="18" charset="0"/>
                <a:cs typeface="Times New Roman" panose="02020603050405020304" pitchFamily="18" charset="0"/>
              </a:rPr>
              <a:t> / Hypercalcemia)</a:t>
            </a:r>
          </a:p>
          <a:p>
            <a:pPr lvl="1" eaLnBrk="1" hangingPunct="1">
              <a:lnSpc>
                <a:spcPct val="150000"/>
              </a:lnSpc>
            </a:pPr>
            <a:r>
              <a:rPr lang="en-US" sz="2000" dirty="0">
                <a:latin typeface="Times New Roman" panose="02020603050405020304" pitchFamily="18" charset="0"/>
                <a:cs typeface="Times New Roman" panose="02020603050405020304" pitchFamily="18" charset="0"/>
              </a:rPr>
              <a:t>Iatrogenic (ERCP)</a:t>
            </a:r>
          </a:p>
          <a:p>
            <a:pPr lvl="1" eaLnBrk="1" hangingPunct="1">
              <a:lnSpc>
                <a:spcPct val="150000"/>
              </a:lnSpc>
            </a:pPr>
            <a:r>
              <a:rPr lang="en-US" sz="2000" dirty="0">
                <a:latin typeface="Times New Roman" panose="02020603050405020304" pitchFamily="18" charset="0"/>
                <a:cs typeface="Times New Roman" panose="02020603050405020304" pitchFamily="18" charset="0"/>
              </a:rPr>
              <a:t>In Trinidad, the sting of the scorpion </a:t>
            </a:r>
            <a:r>
              <a:rPr lang="en-US" sz="2000" i="1" dirty="0" err="1">
                <a:latin typeface="Times New Roman" panose="02020603050405020304" pitchFamily="18" charset="0"/>
                <a:cs typeface="Times New Roman" panose="02020603050405020304" pitchFamily="18" charset="0"/>
              </a:rPr>
              <a:t>Tityus</a:t>
            </a:r>
            <a:r>
              <a:rPr lang="en-US" sz="2000" i="1" dirty="0">
                <a:latin typeface="Times New Roman" panose="02020603050405020304" pitchFamily="18" charset="0"/>
                <a:cs typeface="Times New Roman" panose="02020603050405020304" pitchFamily="18" charset="0"/>
              </a:rPr>
              <a:t> </a:t>
            </a:r>
            <a:r>
              <a:rPr lang="en-US" sz="2000" i="1" dirty="0" err="1">
                <a:latin typeface="Times New Roman" panose="02020603050405020304" pitchFamily="18" charset="0"/>
                <a:cs typeface="Times New Roman" panose="02020603050405020304" pitchFamily="18" charset="0"/>
              </a:rPr>
              <a:t>trinitatis</a:t>
            </a:r>
            <a:r>
              <a:rPr lang="en-US" sz="2000" dirty="0">
                <a:latin typeface="Times New Roman" panose="02020603050405020304" pitchFamily="18" charset="0"/>
                <a:cs typeface="Times New Roman" panose="02020603050405020304" pitchFamily="18" charset="0"/>
              </a:rPr>
              <a:t> is the most common cause of acute pancreatitis </a:t>
            </a:r>
          </a:p>
          <a:p>
            <a:pPr marL="0" indent="0" eaLnBrk="1" hangingPunct="1">
              <a:lnSpc>
                <a:spcPct val="90000"/>
              </a:lnSpc>
              <a:buNone/>
            </a:pPr>
            <a:endParaRPr lang="en-US" sz="1400" dirty="0"/>
          </a:p>
        </p:txBody>
      </p:sp>
      <p:sp>
        <p:nvSpPr>
          <p:cNvPr id="2" name="Date Placeholder 1">
            <a:extLst>
              <a:ext uri="{FF2B5EF4-FFF2-40B4-BE49-F238E27FC236}">
                <a16:creationId xmlns:a16="http://schemas.microsoft.com/office/drawing/2014/main" id="{8D0B9DC4-7759-B64B-84AB-F95274BB9038}"/>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1B3EEC6A-9B84-D345-B2F6-4EE9552758A7}"/>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90C4414D-BF29-9B48-9253-DBF1C40E8EF2}"/>
              </a:ext>
            </a:extLst>
          </p:cNvPr>
          <p:cNvSpPr>
            <a:spLocks noGrp="1"/>
          </p:cNvSpPr>
          <p:nvPr>
            <p:ph type="sldNum" sz="quarter" idx="12"/>
          </p:nvPr>
        </p:nvSpPr>
        <p:spPr/>
        <p:txBody>
          <a:bodyPr/>
          <a:lstStyle/>
          <a:p>
            <a:fld id="{B6F15528-21DE-4FAA-801E-634DDDAF4B2B}" type="slidenum">
              <a:rPr lang="en-US" smtClean="0"/>
              <a:pPr/>
              <a:t>61</a:t>
            </a:fld>
            <a:endParaRPr lang="en-US"/>
          </a:p>
        </p:txBody>
      </p:sp>
    </p:spTree>
  </p:cSld>
  <p:clrMapOvr>
    <a:masterClrMapping/>
  </p:clrMapOvr>
  <p:transition>
    <p:pull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475989" y="363254"/>
            <a:ext cx="11248373" cy="6050071"/>
          </a:xfrm>
        </p:spPr>
        <p:txBody>
          <a:bodyPr>
            <a:normAutofit/>
          </a:bodyPr>
          <a:lstStyle/>
          <a:p>
            <a:pPr>
              <a:lnSpc>
                <a:spcPct val="150000"/>
              </a:lnSpc>
              <a:buFont typeface="Wingdings" pitchFamily="2" charset="2"/>
              <a:buChar char="Ø"/>
            </a:pPr>
            <a:r>
              <a:rPr lang="en-US" sz="2000" b="1" dirty="0">
                <a:latin typeface="Times New Roman" panose="02020603050405020304" pitchFamily="18" charset="0"/>
                <a:cs typeface="Times New Roman" panose="02020603050405020304" pitchFamily="18" charset="0"/>
              </a:rPr>
              <a:t>Presentation</a:t>
            </a: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severe abdominal pain radiating from upper abdomen straight through to back, and nausea, vomiting.</a:t>
            </a:r>
          </a:p>
          <a:p>
            <a:pPr eaLnBrk="1" hangingPunct="1">
              <a:lnSpc>
                <a:spcPct val="150000"/>
              </a:lnSpc>
            </a:pPr>
            <a:r>
              <a:rPr lang="en-US" sz="2000" dirty="0">
                <a:latin typeface="Times New Roman" panose="02020603050405020304" pitchFamily="18" charset="0"/>
                <a:cs typeface="Times New Roman" panose="02020603050405020304" pitchFamily="18" charset="0"/>
              </a:rPr>
              <a:t>The inflammatory process around the pancreas may cause other signs and symptoms such as: </a:t>
            </a:r>
          </a:p>
          <a:p>
            <a:pPr lvl="1" eaLnBrk="1" hangingPunct="1">
              <a:lnSpc>
                <a:spcPct val="150000"/>
              </a:lnSpc>
            </a:pPr>
            <a:r>
              <a:rPr lang="en-US" sz="2000" dirty="0">
                <a:latin typeface="Times New Roman" panose="02020603050405020304" pitchFamily="18" charset="0"/>
                <a:cs typeface="Times New Roman" panose="02020603050405020304" pitchFamily="18" charset="0"/>
              </a:rPr>
              <a:t>Pleural effusion </a:t>
            </a:r>
          </a:p>
          <a:p>
            <a:pPr lvl="1" eaLnBrk="1" hangingPunct="1">
              <a:lnSpc>
                <a:spcPct val="150000"/>
              </a:lnSpc>
            </a:pPr>
            <a:r>
              <a:rPr lang="en-US" sz="2000" dirty="0">
                <a:latin typeface="Times New Roman" panose="02020603050405020304" pitchFamily="18" charset="0"/>
                <a:cs typeface="Times New Roman" panose="02020603050405020304" pitchFamily="18" charset="0"/>
              </a:rPr>
              <a:t>Grey Turner's sign ( flank discoloration ) </a:t>
            </a:r>
          </a:p>
          <a:p>
            <a:pPr lvl="1" eaLnBrk="1" hangingPunct="1">
              <a:lnSpc>
                <a:spcPct val="150000"/>
              </a:lnSpc>
            </a:pPr>
            <a:r>
              <a:rPr lang="en-US" sz="2000" dirty="0">
                <a:latin typeface="Times New Roman" panose="02020603050405020304" pitchFamily="18" charset="0"/>
                <a:cs typeface="Times New Roman" panose="02020603050405020304" pitchFamily="18" charset="0"/>
              </a:rPr>
              <a:t>Cullen's sign ( discoloration around the umbilicus ) </a:t>
            </a:r>
          </a:p>
          <a:p>
            <a:pPr lvl="1" eaLnBrk="1" hangingPunct="1">
              <a:lnSpc>
                <a:spcPct val="150000"/>
              </a:lnSpc>
            </a:pPr>
            <a:r>
              <a:rPr lang="en-US" sz="2000" dirty="0">
                <a:latin typeface="Times New Roman" panose="02020603050405020304" pitchFamily="18" charset="0"/>
                <a:cs typeface="Times New Roman" panose="02020603050405020304" pitchFamily="18" charset="0"/>
              </a:rPr>
              <a:t>Ascites </a:t>
            </a:r>
          </a:p>
          <a:p>
            <a:pPr lvl="1" eaLnBrk="1" hangingPunct="1">
              <a:lnSpc>
                <a:spcPct val="150000"/>
              </a:lnSpc>
            </a:pPr>
            <a:r>
              <a:rPr lang="en-US" sz="2000" dirty="0">
                <a:latin typeface="Times New Roman" panose="02020603050405020304" pitchFamily="18" charset="0"/>
                <a:cs typeface="Times New Roman" panose="02020603050405020304" pitchFamily="18" charset="0"/>
              </a:rPr>
              <a:t>Jaundice</a:t>
            </a:r>
          </a:p>
        </p:txBody>
      </p:sp>
      <p:sp>
        <p:nvSpPr>
          <p:cNvPr id="2" name="Date Placeholder 1">
            <a:extLst>
              <a:ext uri="{FF2B5EF4-FFF2-40B4-BE49-F238E27FC236}">
                <a16:creationId xmlns:a16="http://schemas.microsoft.com/office/drawing/2014/main" id="{C80E864B-78C7-BC4D-B51B-0209D716D59B}"/>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5472E1C4-5737-7E46-9D84-84ACC3F542E5}"/>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5AC88725-322E-2D44-A7FA-E1E7B99F3529}"/>
              </a:ext>
            </a:extLst>
          </p:cNvPr>
          <p:cNvSpPr>
            <a:spLocks noGrp="1"/>
          </p:cNvSpPr>
          <p:nvPr>
            <p:ph type="sldNum" sz="quarter" idx="12"/>
          </p:nvPr>
        </p:nvSpPr>
        <p:spPr/>
        <p:txBody>
          <a:bodyPr/>
          <a:lstStyle/>
          <a:p>
            <a:fld id="{B6F15528-21DE-4FAA-801E-634DDDAF4B2B}" type="slidenum">
              <a:rPr lang="en-US" smtClean="0"/>
              <a:pPr/>
              <a:t>62</a:t>
            </a:fld>
            <a:endParaRPr lang="en-US"/>
          </a:p>
        </p:txBody>
      </p:sp>
    </p:spTree>
  </p:cSld>
  <p:clrMapOvr>
    <a:masterClrMapping/>
  </p:clrMapOvr>
  <p:transition>
    <p:pull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475989" y="112734"/>
            <a:ext cx="11248373" cy="6300591"/>
          </a:xfrm>
        </p:spPr>
        <p:txBody>
          <a:bodyPr>
            <a:noAutofit/>
          </a:bodyPr>
          <a:lstStyle/>
          <a:p>
            <a:pPr>
              <a:lnSpc>
                <a:spcPct val="150000"/>
              </a:lnSpc>
              <a:buFont typeface="Wingdings" pitchFamily="2" charset="2"/>
              <a:buChar char="Ø"/>
            </a:pPr>
            <a:r>
              <a:rPr lang="en-US" sz="2000" b="1" dirty="0">
                <a:latin typeface="Times New Roman" panose="02020603050405020304" pitchFamily="18" charset="0"/>
                <a:cs typeface="Times New Roman" panose="02020603050405020304" pitchFamily="18" charset="0"/>
              </a:rPr>
              <a:t>Ix: </a:t>
            </a:r>
          </a:p>
          <a:p>
            <a:pPr lvl="1">
              <a:lnSpc>
                <a:spcPct val="150000"/>
              </a:lnSpc>
            </a:pPr>
            <a:r>
              <a:rPr lang="en-US" sz="2000" dirty="0">
                <a:latin typeface="Times New Roman" panose="02020603050405020304" pitchFamily="18" charset="0"/>
                <a:cs typeface="Times New Roman" panose="02020603050405020304" pitchFamily="18" charset="0"/>
              </a:rPr>
              <a:t>CBC, OFT, </a:t>
            </a:r>
            <a:r>
              <a:rPr lang="en-US" sz="2000" dirty="0" err="1">
                <a:latin typeface="Times New Roman" panose="02020603050405020304" pitchFamily="18" charset="0"/>
                <a:cs typeface="Times New Roman" panose="02020603050405020304" pitchFamily="18" charset="0"/>
              </a:rPr>
              <a:t>Ele</a:t>
            </a:r>
            <a:r>
              <a:rPr lang="en-US" sz="2000" dirty="0">
                <a:latin typeface="Times New Roman" panose="02020603050405020304" pitchFamily="18" charset="0"/>
                <a:cs typeface="Times New Roman" panose="02020603050405020304" pitchFamily="18" charset="0"/>
              </a:rPr>
              <a:t>, Lipase and amylase</a:t>
            </a:r>
          </a:p>
          <a:p>
            <a:pPr lvl="1">
              <a:lnSpc>
                <a:spcPct val="150000"/>
              </a:lnSpc>
            </a:pPr>
            <a:r>
              <a:rPr lang="en-US" sz="2000" dirty="0">
                <a:latin typeface="Times New Roman" panose="02020603050405020304" pitchFamily="18" charset="0"/>
                <a:cs typeface="Times New Roman" panose="02020603050405020304" pitchFamily="18" charset="0"/>
              </a:rPr>
              <a:t>Abdominal US/CT scan with contrast/MRI</a:t>
            </a:r>
          </a:p>
          <a:p>
            <a:pPr>
              <a:lnSpc>
                <a:spcPct val="150000"/>
              </a:lnSpc>
              <a:buFont typeface="Wingdings" pitchFamily="2" charset="2"/>
              <a:buChar char="Ø"/>
            </a:pPr>
            <a:r>
              <a:rPr lang="en-US" sz="2000" b="1" dirty="0">
                <a:latin typeface="Times New Roman" panose="02020603050405020304" pitchFamily="18" charset="0"/>
                <a:cs typeface="Times New Roman" panose="02020603050405020304" pitchFamily="18" charset="0"/>
              </a:rPr>
              <a:t>Diagnosis:</a:t>
            </a:r>
            <a:r>
              <a:rPr lang="en-CA" sz="2000" dirty="0">
                <a:latin typeface="Times New Roman" panose="02020603050405020304" pitchFamily="18" charset="0"/>
                <a:cs typeface="Times New Roman" panose="02020603050405020304" pitchFamily="18" charset="0"/>
              </a:rPr>
              <a:t>  The diagnosis of acute pancreatitis requires the presence of two of the following three criteria: </a:t>
            </a:r>
          </a:p>
          <a:p>
            <a:pPr lvl="1">
              <a:lnSpc>
                <a:spcPct val="150000"/>
              </a:lnSpc>
            </a:pPr>
            <a:r>
              <a:rPr lang="en-CA" sz="2000" dirty="0">
                <a:latin typeface="Times New Roman" panose="02020603050405020304" pitchFamily="18" charset="0"/>
                <a:cs typeface="Times New Roman" panose="02020603050405020304" pitchFamily="18" charset="0"/>
              </a:rPr>
              <a:t>Acute onset of persistent, severe, epigastric pain often radiating to the back, </a:t>
            </a:r>
          </a:p>
          <a:p>
            <a:pPr lvl="1">
              <a:lnSpc>
                <a:spcPct val="150000"/>
              </a:lnSpc>
            </a:pPr>
            <a:r>
              <a:rPr lang="en-CA" sz="2000" dirty="0">
                <a:latin typeface="Times New Roman" panose="02020603050405020304" pitchFamily="18" charset="0"/>
                <a:cs typeface="Times New Roman" panose="02020603050405020304" pitchFamily="18" charset="0"/>
              </a:rPr>
              <a:t>Elevation in serum lipase or amylase to three times or greater than the upper limit of normal, and</a:t>
            </a:r>
          </a:p>
          <a:p>
            <a:pPr lvl="1">
              <a:lnSpc>
                <a:spcPct val="150000"/>
              </a:lnSpc>
            </a:pPr>
            <a:r>
              <a:rPr lang="en-CA" sz="2000" dirty="0">
                <a:latin typeface="Times New Roman" panose="02020603050405020304" pitchFamily="18" charset="0"/>
                <a:cs typeface="Times New Roman" panose="02020603050405020304" pitchFamily="18" charset="0"/>
              </a:rPr>
              <a:t>Characteristic findings of acute pancreatitis on imaging (contrast-enhanced computed tomography [CT], magnetic resonance imaging [MRI], or transabdominal ultrasonography)</a:t>
            </a:r>
          </a:p>
          <a:p>
            <a:pPr>
              <a:lnSpc>
                <a:spcPct val="150000"/>
              </a:lnSpc>
              <a:buFont typeface="Wingdings" pitchFamily="2" charset="2"/>
              <a:buChar char="Ø"/>
            </a:pPr>
            <a:r>
              <a:rPr lang="en-CA" sz="2000" b="1" dirty="0">
                <a:latin typeface="Times New Roman" panose="02020603050405020304" pitchFamily="18" charset="0"/>
                <a:cs typeface="Times New Roman" panose="02020603050405020304" pitchFamily="18" charset="0"/>
              </a:rPr>
              <a:t>Mx</a:t>
            </a:r>
            <a:r>
              <a:rPr lang="en-CA" sz="2000" dirty="0">
                <a:latin typeface="Times New Roman" panose="02020603050405020304" pitchFamily="18" charset="0"/>
                <a:cs typeface="Times New Roman" panose="02020603050405020304" pitchFamily="18" charset="0"/>
              </a:rPr>
              <a:t>: Admission to ward, ICU </a:t>
            </a:r>
          </a:p>
          <a:p>
            <a:pPr lvl="1">
              <a:lnSpc>
                <a:spcPct val="150000"/>
              </a:lnSpc>
              <a:buFont typeface="Wingdings" pitchFamily="2" charset="2"/>
              <a:buChar char="Ø"/>
            </a:pPr>
            <a:r>
              <a:rPr lang="en-CA" sz="2000" dirty="0">
                <a:latin typeface="Times New Roman" panose="02020603050405020304" pitchFamily="18" charset="0"/>
                <a:cs typeface="Times New Roman" panose="02020603050405020304" pitchFamily="18" charset="0"/>
              </a:rPr>
              <a:t>Fluid </a:t>
            </a:r>
            <a:r>
              <a:rPr lang="en-CA" sz="2000" dirty="0" err="1">
                <a:latin typeface="Times New Roman" panose="02020603050405020304" pitchFamily="18" charset="0"/>
                <a:cs typeface="Times New Roman" panose="02020603050405020304" pitchFamily="18" charset="0"/>
              </a:rPr>
              <a:t>resucitation</a:t>
            </a:r>
            <a:endParaRPr lang="en-CA" sz="2000" dirty="0">
              <a:latin typeface="Times New Roman" panose="02020603050405020304" pitchFamily="18" charset="0"/>
              <a:cs typeface="Times New Roman" panose="02020603050405020304" pitchFamily="18" charset="0"/>
            </a:endParaRPr>
          </a:p>
          <a:p>
            <a:pPr lvl="1">
              <a:lnSpc>
                <a:spcPct val="150000"/>
              </a:lnSpc>
              <a:buFont typeface="Wingdings" pitchFamily="2" charset="2"/>
              <a:buChar char="Ø"/>
            </a:pPr>
            <a:r>
              <a:rPr lang="en-CA" sz="2000" dirty="0">
                <a:latin typeface="Times New Roman" panose="02020603050405020304" pitchFamily="18" charset="0"/>
                <a:cs typeface="Times New Roman" panose="02020603050405020304" pitchFamily="18" charset="0"/>
              </a:rPr>
              <a:t>Pain management</a:t>
            </a:r>
          </a:p>
          <a:p>
            <a:pPr lvl="1">
              <a:lnSpc>
                <a:spcPct val="150000"/>
              </a:lnSpc>
              <a:buFont typeface="Wingdings" pitchFamily="2" charset="2"/>
              <a:buChar char="Ø"/>
            </a:pPr>
            <a:r>
              <a:rPr lang="en-CA" sz="2000" dirty="0">
                <a:latin typeface="Times New Roman" panose="02020603050405020304" pitchFamily="18" charset="0"/>
                <a:cs typeface="Times New Roman" panose="02020603050405020304" pitchFamily="18" charset="0"/>
              </a:rPr>
              <a:t>Strict follow up</a:t>
            </a:r>
          </a:p>
          <a:p>
            <a:pPr lvl="1">
              <a:lnSpc>
                <a:spcPct val="150000"/>
              </a:lnSpc>
              <a:buFont typeface="Wingdings" pitchFamily="2" charset="2"/>
              <a:buChar char="Ø"/>
            </a:pPr>
            <a:r>
              <a:rPr lang="en-CA" sz="2000" dirty="0">
                <a:latin typeface="Times New Roman" panose="02020603050405020304" pitchFamily="18" charset="0"/>
                <a:cs typeface="Times New Roman" panose="02020603050405020304" pitchFamily="18" charset="0"/>
              </a:rPr>
              <a:t> Surgery (Complication, etiology (GB stone))</a:t>
            </a:r>
            <a:endParaRPr lang="en-US" sz="2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4E0258D7-ECEC-4648-8E4E-1A0B5090D867}"/>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68062C51-B489-4F43-B9BF-0E56CA668F6C}"/>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0095A77C-B5E0-A94E-9CC1-339AA91D2C0D}"/>
              </a:ext>
            </a:extLst>
          </p:cNvPr>
          <p:cNvSpPr>
            <a:spLocks noGrp="1"/>
          </p:cNvSpPr>
          <p:nvPr>
            <p:ph type="sldNum" sz="quarter" idx="12"/>
          </p:nvPr>
        </p:nvSpPr>
        <p:spPr/>
        <p:txBody>
          <a:bodyPr/>
          <a:lstStyle/>
          <a:p>
            <a:fld id="{B6F15528-21DE-4FAA-801E-634DDDAF4B2B}" type="slidenum">
              <a:rPr lang="en-US" smtClean="0"/>
              <a:pPr/>
              <a:t>63</a:t>
            </a:fld>
            <a:endParaRPr lang="en-US"/>
          </a:p>
        </p:txBody>
      </p:sp>
    </p:spTree>
    <p:extLst>
      <p:ext uri="{BB962C8B-B14F-4D97-AF65-F5344CB8AC3E}">
        <p14:creationId xmlns:p14="http://schemas.microsoft.com/office/powerpoint/2010/main" val="3799895004"/>
      </p:ext>
    </p:extLst>
  </p:cSld>
  <p:clrMapOvr>
    <a:masterClrMapping/>
  </p:clrMapOvr>
  <p:transition>
    <p:pull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63463" y="162839"/>
            <a:ext cx="10890337" cy="638827"/>
          </a:xfrm>
        </p:spPr>
        <p:txBody>
          <a:bodyPr>
            <a:normAutofit/>
          </a:bodyPr>
          <a:lstStyle/>
          <a:p>
            <a:pPr eaLnBrk="1" hangingPunct="1"/>
            <a:r>
              <a:rPr lang="en-US" sz="2800" b="1" dirty="0">
                <a:latin typeface="Times New Roman" panose="02020603050405020304" pitchFamily="18" charset="0"/>
                <a:cs typeface="Times New Roman" panose="02020603050405020304" pitchFamily="18" charset="0"/>
              </a:rPr>
              <a:t>Ureteric Colic</a:t>
            </a:r>
          </a:p>
        </p:txBody>
      </p:sp>
      <p:sp>
        <p:nvSpPr>
          <p:cNvPr id="47107" name="Rectangle 3"/>
          <p:cNvSpPr>
            <a:spLocks noGrp="1" noChangeArrowheads="1"/>
          </p:cNvSpPr>
          <p:nvPr>
            <p:ph idx="1"/>
          </p:nvPr>
        </p:nvSpPr>
        <p:spPr>
          <a:xfrm>
            <a:off x="563671" y="901874"/>
            <a:ext cx="10697228" cy="4847573"/>
          </a:xfrm>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Mineral deposits form in kidney, move to ureter.</a:t>
            </a:r>
            <a:endParaRPr lang="en-US" sz="2000" b="1" dirty="0">
              <a:latin typeface="Times New Roman" panose="02020603050405020304" pitchFamily="18" charset="0"/>
              <a:cs typeface="Times New Roman" panose="02020603050405020304" pitchFamily="18" charset="0"/>
            </a:endParaRPr>
          </a:p>
          <a:p>
            <a:pPr>
              <a:lnSpc>
                <a:spcPct val="150000"/>
              </a:lnSpc>
            </a:pPr>
            <a:r>
              <a:rPr lang="en-US" sz="2000" b="1" dirty="0" err="1">
                <a:latin typeface="Times New Roman" panose="02020603050405020304" pitchFamily="18" charset="0"/>
                <a:cs typeface="Times New Roman" panose="02020603050405020304" pitchFamily="18" charset="0"/>
              </a:rPr>
              <a:t>Px</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Pts may present with abrupt, colicky, unilateral flank pain that radiates to the groin, testicle, or labia, Hematuria</a:t>
            </a:r>
          </a:p>
          <a:p>
            <a:pPr eaLnBrk="1" hangingPunct="1">
              <a:lnSpc>
                <a:spcPct val="150000"/>
              </a:lnSpc>
            </a:pPr>
            <a:r>
              <a:rPr lang="en-US" sz="2000" b="1" dirty="0">
                <a:latin typeface="Times New Roman" panose="02020603050405020304" pitchFamily="18" charset="0"/>
                <a:cs typeface="Times New Roman" panose="02020603050405020304" pitchFamily="18" charset="0"/>
              </a:rPr>
              <a:t>Ix: </a:t>
            </a:r>
            <a:r>
              <a:rPr lang="en-US" sz="2000" dirty="0">
                <a:latin typeface="Times New Roman" panose="02020603050405020304" pitchFamily="18" charset="0"/>
                <a:cs typeface="Times New Roman" panose="02020603050405020304" pitchFamily="18" charset="0"/>
              </a:rPr>
              <a:t>KUB</a:t>
            </a:r>
          </a:p>
          <a:p>
            <a:pPr lvl="1">
              <a:lnSpc>
                <a:spcPct val="150000"/>
              </a:lnSpc>
            </a:pPr>
            <a:r>
              <a:rPr lang="en-US" sz="2000" dirty="0">
                <a:latin typeface="Times New Roman" panose="02020603050405020304" pitchFamily="18" charset="0"/>
                <a:cs typeface="Times New Roman" panose="02020603050405020304" pitchFamily="18" charset="0"/>
              </a:rPr>
              <a:t>Non-contrast helical CT is standard for the diagnosis</a:t>
            </a:r>
          </a:p>
          <a:p>
            <a:pPr>
              <a:lnSpc>
                <a:spcPct val="150000"/>
              </a:lnSpc>
            </a:pPr>
            <a:r>
              <a:rPr lang="en-US" sz="2000" b="1" dirty="0">
                <a:latin typeface="Times New Roman" panose="02020603050405020304" pitchFamily="18" charset="0"/>
                <a:cs typeface="Times New Roman" panose="02020603050405020304" pitchFamily="18" charset="0"/>
              </a:rPr>
              <a:t>Mx: </a:t>
            </a:r>
            <a:r>
              <a:rPr lang="en-US" sz="2000" dirty="0">
                <a:latin typeface="Times New Roman" panose="02020603050405020304" pitchFamily="18" charset="0"/>
                <a:cs typeface="Times New Roman" panose="02020603050405020304" pitchFamily="18" charset="0"/>
              </a:rPr>
              <a:t>Pain management</a:t>
            </a:r>
          </a:p>
          <a:p>
            <a:pPr lvl="1">
              <a:lnSpc>
                <a:spcPct val="150000"/>
              </a:lnSpc>
            </a:pPr>
            <a:r>
              <a:rPr lang="en-US" sz="2000" dirty="0">
                <a:latin typeface="Times New Roman" panose="02020603050405020304" pitchFamily="18" charset="0"/>
                <a:cs typeface="Times New Roman" panose="02020603050405020304" pitchFamily="18" charset="0"/>
              </a:rPr>
              <a:t>Expectant management</a:t>
            </a:r>
          </a:p>
          <a:p>
            <a:pPr lvl="1">
              <a:lnSpc>
                <a:spcPct val="150000"/>
              </a:lnSpc>
            </a:pPr>
            <a:r>
              <a:rPr lang="en-US" sz="2000" dirty="0">
                <a:latin typeface="Times New Roman" panose="02020603050405020304" pitchFamily="18" charset="0"/>
                <a:cs typeface="Times New Roman" panose="02020603050405020304" pitchFamily="18" charset="0"/>
              </a:rPr>
              <a:t>Medical expulsion therapy</a:t>
            </a:r>
          </a:p>
          <a:p>
            <a:pPr lvl="1">
              <a:lnSpc>
                <a:spcPct val="150000"/>
              </a:lnSpc>
            </a:pPr>
            <a:r>
              <a:rPr lang="en-US" sz="2000" dirty="0">
                <a:latin typeface="Times New Roman" panose="02020603050405020304" pitchFamily="18" charset="0"/>
                <a:cs typeface="Times New Roman" panose="02020603050405020304" pitchFamily="18" charset="0"/>
              </a:rPr>
              <a:t>Operative intervention</a:t>
            </a:r>
          </a:p>
          <a:p>
            <a:pPr eaLnBrk="1" hangingPunct="1"/>
            <a:endParaRPr lang="en-US" sz="2400" dirty="0"/>
          </a:p>
        </p:txBody>
      </p:sp>
      <p:sp>
        <p:nvSpPr>
          <p:cNvPr id="2" name="Date Placeholder 1">
            <a:extLst>
              <a:ext uri="{FF2B5EF4-FFF2-40B4-BE49-F238E27FC236}">
                <a16:creationId xmlns:a16="http://schemas.microsoft.com/office/drawing/2014/main" id="{9B6ED555-0229-254E-A95C-91EA1AE46C19}"/>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99145041-C3F7-5442-A70E-D8F54D8E399E}"/>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C5453A2E-C5A9-524C-9CF8-EA26CB228D13}"/>
              </a:ext>
            </a:extLst>
          </p:cNvPr>
          <p:cNvSpPr>
            <a:spLocks noGrp="1"/>
          </p:cNvSpPr>
          <p:nvPr>
            <p:ph type="sldNum" sz="quarter" idx="12"/>
          </p:nvPr>
        </p:nvSpPr>
        <p:spPr/>
        <p:txBody>
          <a:bodyPr/>
          <a:lstStyle/>
          <a:p>
            <a:fld id="{B6F15528-21DE-4FAA-801E-634DDDAF4B2B}" type="slidenum">
              <a:rPr lang="en-US" smtClean="0"/>
              <a:pPr/>
              <a:t>64</a:t>
            </a:fld>
            <a:endParaRPr lang="en-US"/>
          </a:p>
        </p:txBody>
      </p:sp>
    </p:spTree>
  </p:cSld>
  <p:clrMapOvr>
    <a:masterClrMapping/>
  </p:clrMapOvr>
  <p:transition>
    <p:pull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450937" y="237995"/>
            <a:ext cx="10902863" cy="626301"/>
          </a:xfrm>
        </p:spPr>
        <p:txBody>
          <a:bodyPr>
            <a:normAutofit/>
          </a:bodyPr>
          <a:lstStyle/>
          <a:p>
            <a:pPr eaLnBrk="1" hangingPunct="1"/>
            <a:r>
              <a:rPr lang="en-US" sz="2800" b="1" dirty="0">
                <a:latin typeface="Times New Roman" panose="02020603050405020304" pitchFamily="18" charset="0"/>
                <a:cs typeface="Times New Roman" panose="02020603050405020304" pitchFamily="18" charset="0"/>
              </a:rPr>
              <a:t>Special Considerations</a:t>
            </a:r>
          </a:p>
        </p:txBody>
      </p:sp>
      <p:sp>
        <p:nvSpPr>
          <p:cNvPr id="67587" name="Rectangle 3"/>
          <p:cNvSpPr>
            <a:spLocks noGrp="1" noChangeArrowheads="1"/>
          </p:cNvSpPr>
          <p:nvPr>
            <p:ph idx="1"/>
          </p:nvPr>
        </p:nvSpPr>
        <p:spPr>
          <a:xfrm>
            <a:off x="576197" y="989556"/>
            <a:ext cx="10935222" cy="4872625"/>
          </a:xfrm>
        </p:spPr>
        <p:txBody>
          <a:bodyPr>
            <a:normAutofit/>
          </a:bodyPr>
          <a:lstStyle/>
          <a:p>
            <a:pPr eaLnBrk="1" hangingPunct="1">
              <a:lnSpc>
                <a:spcPct val="150000"/>
              </a:lnSpc>
            </a:pPr>
            <a:r>
              <a:rPr lang="en-US" sz="2000" dirty="0">
                <a:latin typeface="Times New Roman" panose="02020603050405020304" pitchFamily="18" charset="0"/>
                <a:cs typeface="Times New Roman" panose="02020603050405020304" pitchFamily="18" charset="0"/>
              </a:rPr>
              <a:t>In pts &gt;50 you must consider mesenteric ischemia, ischemic colitis, and AAA.</a:t>
            </a:r>
          </a:p>
          <a:p>
            <a:pPr eaLnBrk="1" hangingPunct="1">
              <a:lnSpc>
                <a:spcPct val="150000"/>
              </a:lnSpc>
            </a:pPr>
            <a:r>
              <a:rPr lang="en-US" sz="2000" dirty="0">
                <a:latin typeface="Times New Roman" panose="02020603050405020304" pitchFamily="18" charset="0"/>
                <a:cs typeface="Times New Roman" panose="02020603050405020304" pitchFamily="18" charset="0"/>
              </a:rPr>
              <a:t>In an elderly patient symptoms do not manifest in the same manner as those younger.</a:t>
            </a:r>
          </a:p>
          <a:p>
            <a:pPr eaLnBrk="1" hangingPunct="1">
              <a:lnSpc>
                <a:spcPct val="150000"/>
              </a:lnSpc>
            </a:pPr>
            <a:r>
              <a:rPr lang="en-US" sz="2000" dirty="0">
                <a:latin typeface="Times New Roman" panose="02020603050405020304" pitchFamily="18" charset="0"/>
                <a:cs typeface="Times New Roman" panose="02020603050405020304" pitchFamily="18" charset="0"/>
              </a:rPr>
              <a:t>Compared to young pts, only 20% of elderly pts with abdominal pain will be diagnose with NSAP</a:t>
            </a:r>
          </a:p>
          <a:p>
            <a:pPr eaLnBrk="1" hangingPunct="1">
              <a:lnSpc>
                <a:spcPct val="150000"/>
              </a:lnSpc>
            </a:pPr>
            <a:r>
              <a:rPr lang="en-US" sz="2000" dirty="0">
                <a:latin typeface="Times New Roman" panose="02020603050405020304" pitchFamily="18" charset="0"/>
                <a:cs typeface="Times New Roman" panose="02020603050405020304" pitchFamily="18" charset="0"/>
              </a:rPr>
              <a:t>Assume an elderly patient has a surgical cause of pain unless proven otherwise.</a:t>
            </a:r>
          </a:p>
          <a:p>
            <a:pPr eaLnBrk="1" hangingPunct="1">
              <a:lnSpc>
                <a:spcPct val="150000"/>
              </a:lnSpc>
            </a:pPr>
            <a:r>
              <a:rPr lang="en-US" sz="2000" dirty="0">
                <a:latin typeface="Times New Roman" panose="02020603050405020304" pitchFamily="18" charset="0"/>
                <a:cs typeface="Times New Roman" panose="02020603050405020304" pitchFamily="18" charset="0"/>
              </a:rPr>
              <a:t>40% of those &gt; 65 </a:t>
            </a:r>
            <a:r>
              <a:rPr lang="en-US" sz="2000" dirty="0" err="1">
                <a:latin typeface="Times New Roman" panose="02020603050405020304" pitchFamily="18" charset="0"/>
                <a:cs typeface="Times New Roman" panose="02020603050405020304" pitchFamily="18" charset="0"/>
              </a:rPr>
              <a:t>yrs</a:t>
            </a:r>
            <a:r>
              <a:rPr lang="en-US" sz="2000" dirty="0">
                <a:latin typeface="Times New Roman" panose="02020603050405020304" pitchFamily="18" charset="0"/>
                <a:cs typeface="Times New Roman" panose="02020603050405020304" pitchFamily="18" charset="0"/>
              </a:rPr>
              <a:t> old that present to ED with abdominal pain need surgery.</a:t>
            </a:r>
          </a:p>
          <a:p>
            <a:pPr eaLnBrk="1" hangingPunct="1"/>
            <a:endParaRPr lang="en-US" dirty="0"/>
          </a:p>
        </p:txBody>
      </p:sp>
      <p:sp>
        <p:nvSpPr>
          <p:cNvPr id="2" name="Date Placeholder 1">
            <a:extLst>
              <a:ext uri="{FF2B5EF4-FFF2-40B4-BE49-F238E27FC236}">
                <a16:creationId xmlns:a16="http://schemas.microsoft.com/office/drawing/2014/main" id="{F5414CF9-13BE-574D-BBE4-EB19A406DCFA}"/>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2BE26E52-8280-FC44-9F42-DB6321337350}"/>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4BB83C59-1A4F-6644-9371-E7EE2EA3BA5B}"/>
              </a:ext>
            </a:extLst>
          </p:cNvPr>
          <p:cNvSpPr>
            <a:spLocks noGrp="1"/>
          </p:cNvSpPr>
          <p:nvPr>
            <p:ph type="sldNum" sz="quarter" idx="12"/>
          </p:nvPr>
        </p:nvSpPr>
        <p:spPr/>
        <p:txBody>
          <a:bodyPr/>
          <a:lstStyle/>
          <a:p>
            <a:fld id="{B6F15528-21DE-4FAA-801E-634DDDAF4B2B}" type="slidenum">
              <a:rPr lang="en-US" smtClean="0"/>
              <a:pPr/>
              <a:t>65</a:t>
            </a:fld>
            <a:endParaRPr lang="en-US"/>
          </a:p>
        </p:txBody>
      </p:sp>
    </p:spTree>
  </p:cSld>
  <p:clrMapOvr>
    <a:masterClrMapping/>
  </p:clrMapOvr>
  <p:transition>
    <p:pull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943BF2E-C2EA-1B49-A0FA-4AABB8BD35A8}"/>
              </a:ext>
            </a:extLst>
          </p:cNvPr>
          <p:cNvPicPr>
            <a:picLocks noChangeAspect="1"/>
          </p:cNvPicPr>
          <p:nvPr/>
        </p:nvPicPr>
        <p:blipFill rotWithShape="1">
          <a:blip r:embed="rId2">
            <a:extLst>
              <a:ext uri="{28A0092B-C50C-407E-A947-70E740481C1C}">
                <a14:useLocalDpi xmlns:a14="http://schemas.microsoft.com/office/drawing/2010/main" val="0"/>
              </a:ext>
            </a:extLst>
          </a:blip>
          <a:srcRect b="50961"/>
          <a:stretch/>
        </p:blipFill>
        <p:spPr>
          <a:xfrm>
            <a:off x="2246253" y="-15499"/>
            <a:ext cx="9769451" cy="6307811"/>
          </a:xfrm>
          <a:prstGeom prst="rect">
            <a:avLst/>
          </a:prstGeom>
        </p:spPr>
      </p:pic>
      <p:sp>
        <p:nvSpPr>
          <p:cNvPr id="8" name="TextBox 7">
            <a:extLst>
              <a:ext uri="{FF2B5EF4-FFF2-40B4-BE49-F238E27FC236}">
                <a16:creationId xmlns:a16="http://schemas.microsoft.com/office/drawing/2014/main" id="{BBA33067-08FD-A345-AEB5-004CE957273C}"/>
              </a:ext>
            </a:extLst>
          </p:cNvPr>
          <p:cNvSpPr txBox="1"/>
          <p:nvPr/>
        </p:nvSpPr>
        <p:spPr>
          <a:xfrm>
            <a:off x="325464" y="836907"/>
            <a:ext cx="2648107" cy="542441"/>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Summary</a:t>
            </a:r>
          </a:p>
        </p:txBody>
      </p:sp>
      <p:pic>
        <p:nvPicPr>
          <p:cNvPr id="13" name="Picture 12">
            <a:extLst>
              <a:ext uri="{FF2B5EF4-FFF2-40B4-BE49-F238E27FC236}">
                <a16:creationId xmlns:a16="http://schemas.microsoft.com/office/drawing/2014/main" id="{3AC791DA-1B3B-4D4D-B0D1-25BD1FE812E5}"/>
              </a:ext>
            </a:extLst>
          </p:cNvPr>
          <p:cNvPicPr>
            <a:picLocks noChangeAspect="1"/>
          </p:cNvPicPr>
          <p:nvPr/>
        </p:nvPicPr>
        <p:blipFill rotWithShape="1">
          <a:blip r:embed="rId2">
            <a:extLst>
              <a:ext uri="{28A0092B-C50C-407E-A947-70E740481C1C}">
                <a14:useLocalDpi xmlns:a14="http://schemas.microsoft.com/office/drawing/2010/main" val="0"/>
              </a:ext>
            </a:extLst>
          </a:blip>
          <a:srcRect t="48813"/>
          <a:stretch/>
        </p:blipFill>
        <p:spPr>
          <a:xfrm>
            <a:off x="2023798" y="-11977"/>
            <a:ext cx="9584434" cy="6459271"/>
          </a:xfrm>
          <a:prstGeom prst="rect">
            <a:avLst/>
          </a:prstGeom>
        </p:spPr>
      </p:pic>
      <p:sp>
        <p:nvSpPr>
          <p:cNvPr id="2" name="Date Placeholder 1">
            <a:extLst>
              <a:ext uri="{FF2B5EF4-FFF2-40B4-BE49-F238E27FC236}">
                <a16:creationId xmlns:a16="http://schemas.microsoft.com/office/drawing/2014/main" id="{376DA9A7-3D35-8F44-86D1-7A5A6128A33D}"/>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AB25FA6A-48F9-7F4D-AF1B-BD93C94CA0B6}"/>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3FA53E0D-9E16-5B4B-805C-3CB388494D79}"/>
              </a:ext>
            </a:extLst>
          </p:cNvPr>
          <p:cNvSpPr>
            <a:spLocks noGrp="1"/>
          </p:cNvSpPr>
          <p:nvPr>
            <p:ph type="sldNum" sz="quarter" idx="12"/>
          </p:nvPr>
        </p:nvSpPr>
        <p:spPr/>
        <p:txBody>
          <a:bodyPr/>
          <a:lstStyle/>
          <a:p>
            <a:fld id="{B6F15528-21DE-4FAA-801E-634DDDAF4B2B}" type="slidenum">
              <a:rPr lang="en-US" smtClean="0"/>
              <a:pPr/>
              <a:t>66</a:t>
            </a:fld>
            <a:endParaRPr lang="en-US"/>
          </a:p>
        </p:txBody>
      </p:sp>
    </p:spTree>
    <p:extLst>
      <p:ext uri="{BB962C8B-B14F-4D97-AF65-F5344CB8AC3E}">
        <p14:creationId xmlns:p14="http://schemas.microsoft.com/office/powerpoint/2010/main" val="2643513791"/>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normAutofit/>
          </a:bodyPr>
          <a:lstStyle/>
          <a:p>
            <a:pPr algn="ctr" eaLnBrk="1" hangingPunct="1"/>
            <a:r>
              <a:rPr lang="en-US" sz="2800" b="1" dirty="0">
                <a:latin typeface="Times New Roman" panose="02020603050405020304" pitchFamily="18" charset="0"/>
                <a:cs typeface="Times New Roman" panose="02020603050405020304" pitchFamily="18" charset="0"/>
              </a:rPr>
              <a:t>???    QUESTION #1  ???</a:t>
            </a:r>
          </a:p>
        </p:txBody>
      </p:sp>
      <p:sp>
        <p:nvSpPr>
          <p:cNvPr id="75779" name="Rectangle 3"/>
          <p:cNvSpPr>
            <a:spLocks noGrp="1" noChangeArrowheads="1"/>
          </p:cNvSpPr>
          <p:nvPr>
            <p:ph idx="1"/>
          </p:nvPr>
        </p:nvSpPr>
        <p:spPr>
          <a:xfrm>
            <a:off x="576197" y="1490596"/>
            <a:ext cx="10935222" cy="4947781"/>
          </a:xfrm>
        </p:spPr>
        <p:txBody>
          <a:bodyPr>
            <a:normAutofit/>
          </a:bodyPr>
          <a:lstStyle/>
          <a:p>
            <a:pPr marL="533400" indent="-533400">
              <a:lnSpc>
                <a:spcPct val="150000"/>
              </a:lnSpc>
            </a:pPr>
            <a:r>
              <a:rPr lang="en-US" sz="2000" dirty="0">
                <a:latin typeface="Times New Roman" panose="02020603050405020304" pitchFamily="18" charset="0"/>
                <a:cs typeface="Times New Roman" panose="02020603050405020304" pitchFamily="18" charset="0"/>
              </a:rPr>
              <a:t>A 45 year-old male patient presents with severe abdominal pain which is worse with movement. He has fever, tachycardia, tachypnea and a narrow pulse pressure. There is guarding, and rebound tenderness in the right lower quadrant. Which of the following is the most likely diagnosis? </a:t>
            </a:r>
          </a:p>
          <a:p>
            <a:pPr marL="533400" indent="-533400">
              <a:lnSpc>
                <a:spcPct val="150000"/>
              </a:lnSpc>
              <a:buNone/>
            </a:pPr>
            <a:r>
              <a:rPr lang="en-US" sz="2000" dirty="0">
                <a:latin typeface="Times New Roman" panose="02020603050405020304" pitchFamily="18" charset="0"/>
                <a:cs typeface="Times New Roman" panose="02020603050405020304" pitchFamily="18" charset="0"/>
              </a:rPr>
              <a:t> </a:t>
            </a:r>
          </a:p>
          <a:p>
            <a:pPr marL="533400" indent="-5334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Perforated appendicitis</a:t>
            </a:r>
          </a:p>
          <a:p>
            <a:pPr marL="533400" indent="-5334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Acute unperforated appendicitis</a:t>
            </a:r>
          </a:p>
          <a:p>
            <a:pPr marL="533400" indent="-5334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Perforated gallbladder</a:t>
            </a:r>
          </a:p>
          <a:p>
            <a:pPr marL="533400" indent="-5334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Ruptured diverticulum</a:t>
            </a:r>
          </a:p>
          <a:p>
            <a:pPr marL="533400" indent="-5334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Acute cholecystitis </a:t>
            </a:r>
          </a:p>
        </p:txBody>
      </p:sp>
      <p:sp>
        <p:nvSpPr>
          <p:cNvPr id="2" name="Date Placeholder 1">
            <a:extLst>
              <a:ext uri="{FF2B5EF4-FFF2-40B4-BE49-F238E27FC236}">
                <a16:creationId xmlns:a16="http://schemas.microsoft.com/office/drawing/2014/main" id="{9D20D3D7-88D6-8E42-B7BB-8AC6BCA04F6B}"/>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B4C7EA6E-6F35-B249-82D3-AFFA4C61A6BB}"/>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852BEF64-BC4B-D24D-9D6B-4B5013C1BBC0}"/>
              </a:ext>
            </a:extLst>
          </p:cNvPr>
          <p:cNvSpPr>
            <a:spLocks noGrp="1"/>
          </p:cNvSpPr>
          <p:nvPr>
            <p:ph type="sldNum" sz="quarter" idx="12"/>
          </p:nvPr>
        </p:nvSpPr>
        <p:spPr/>
        <p:txBody>
          <a:bodyPr/>
          <a:lstStyle/>
          <a:p>
            <a:fld id="{B6F15528-21DE-4FAA-801E-634DDDAF4B2B}" type="slidenum">
              <a:rPr lang="en-US" smtClean="0"/>
              <a:pPr/>
              <a:t>67</a:t>
            </a:fld>
            <a:endParaRPr lang="en-US"/>
          </a:p>
        </p:txBody>
      </p:sp>
    </p:spTree>
  </p:cSld>
  <p:clrMapOvr>
    <a:masterClrMapping/>
  </p:clrMapOvr>
  <p:transition>
    <p:pull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838200" y="365125"/>
            <a:ext cx="10385121" cy="536749"/>
          </a:xfrm>
        </p:spPr>
        <p:txBody>
          <a:bodyPr>
            <a:normAutofit/>
          </a:bodyPr>
          <a:lstStyle/>
          <a:p>
            <a:pPr algn="ctr" eaLnBrk="1" hangingPunct="1"/>
            <a:r>
              <a:rPr lang="en-US" sz="2800" b="1" dirty="0">
                <a:latin typeface="Times New Roman" panose="02020603050405020304" pitchFamily="18" charset="0"/>
                <a:cs typeface="Times New Roman" panose="02020603050405020304" pitchFamily="18" charset="0"/>
              </a:rPr>
              <a:t>???    QUESTION #2  ???</a:t>
            </a:r>
          </a:p>
        </p:txBody>
      </p:sp>
      <p:sp>
        <p:nvSpPr>
          <p:cNvPr id="76803" name="Rectangle 3"/>
          <p:cNvSpPr>
            <a:spLocks noGrp="1" noChangeArrowheads="1"/>
          </p:cNvSpPr>
          <p:nvPr>
            <p:ph idx="1"/>
          </p:nvPr>
        </p:nvSpPr>
        <p:spPr>
          <a:xfrm>
            <a:off x="838200" y="1127342"/>
            <a:ext cx="10435225" cy="5049621"/>
          </a:xfrm>
        </p:spPr>
        <p:txBody>
          <a:bodyPr>
            <a:normAutofit/>
          </a:bodyPr>
          <a:lstStyle/>
          <a:p>
            <a:pPr marL="457200" indent="-457200">
              <a:lnSpc>
                <a:spcPct val="150000"/>
              </a:lnSpc>
            </a:pPr>
            <a:r>
              <a:rPr lang="en-US" sz="2000" dirty="0">
                <a:latin typeface="Times New Roman" panose="02020603050405020304" pitchFamily="18" charset="0"/>
                <a:cs typeface="Times New Roman" panose="02020603050405020304" pitchFamily="18" charset="0"/>
              </a:rPr>
              <a:t>A 45 year-old male with peptic ulcer disease (PUD) presents to the ED with an abrupt onset of severe epigastric pain 1 hour prior to arrival. Abd exam leads you to suspect an early acute surgical abdomen. Describe the findings and treatment with this complication of PUD. Physical examination findings suggestive of perforation include all of the following except?</a:t>
            </a:r>
          </a:p>
          <a:p>
            <a:pPr marL="457200" indent="-457200">
              <a:lnSpc>
                <a:spcPct val="150000"/>
              </a:lnSpc>
              <a:buNone/>
            </a:pPr>
            <a:r>
              <a:rPr lang="en-US" sz="2000" dirty="0">
                <a:latin typeface="Times New Roman" panose="02020603050405020304" pitchFamily="18" charset="0"/>
                <a:cs typeface="Times New Roman" panose="02020603050405020304" pitchFamily="18" charset="0"/>
              </a:rPr>
              <a:t>  </a:t>
            </a:r>
          </a:p>
          <a:p>
            <a:pPr marL="876300" lvl="1" indent="-4191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A reactive pleural effusion is frequent seen with gastric perforation.</a:t>
            </a:r>
          </a:p>
          <a:p>
            <a:pPr marL="876300" lvl="1" indent="-4191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Tympany may indicate free air, confirmed by upright chest x-ray or lateral decubitus film</a:t>
            </a:r>
          </a:p>
          <a:p>
            <a:pPr marL="876300" lvl="1" indent="-4191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Acute pancreatitis may result from posterior perforation.  </a:t>
            </a:r>
          </a:p>
          <a:p>
            <a:pPr marL="876300" lvl="1" indent="-4191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Chemical peritonitis progresses to abdominal rigidity, bacterial peritonitis and sepsis. </a:t>
            </a:r>
          </a:p>
        </p:txBody>
      </p:sp>
      <p:sp>
        <p:nvSpPr>
          <p:cNvPr id="2" name="Date Placeholder 1">
            <a:extLst>
              <a:ext uri="{FF2B5EF4-FFF2-40B4-BE49-F238E27FC236}">
                <a16:creationId xmlns:a16="http://schemas.microsoft.com/office/drawing/2014/main" id="{38B77E93-DFE1-C645-9FDB-3FBC348F5E44}"/>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E41CD675-C530-8247-8283-EB2AF08E4B18}"/>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C258F3E4-0375-E544-A7F3-7E7752F78970}"/>
              </a:ext>
            </a:extLst>
          </p:cNvPr>
          <p:cNvSpPr>
            <a:spLocks noGrp="1"/>
          </p:cNvSpPr>
          <p:nvPr>
            <p:ph type="sldNum" sz="quarter" idx="12"/>
          </p:nvPr>
        </p:nvSpPr>
        <p:spPr/>
        <p:txBody>
          <a:bodyPr/>
          <a:lstStyle/>
          <a:p>
            <a:fld id="{B6F15528-21DE-4FAA-801E-634DDDAF4B2B}" type="slidenum">
              <a:rPr lang="en-US" smtClean="0"/>
              <a:pPr/>
              <a:t>68</a:t>
            </a:fld>
            <a:endParaRPr lang="en-US"/>
          </a:p>
        </p:txBody>
      </p:sp>
    </p:spTree>
  </p:cSld>
  <p:clrMapOvr>
    <a:masterClrMapping/>
  </p:clrMapOvr>
  <p:transition>
    <p:pull di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826718" y="365125"/>
            <a:ext cx="10527082" cy="586853"/>
          </a:xfrm>
        </p:spPr>
        <p:txBody>
          <a:bodyPr>
            <a:normAutofit/>
          </a:bodyPr>
          <a:lstStyle/>
          <a:p>
            <a:pPr algn="ctr" eaLnBrk="1" hangingPunct="1"/>
            <a:r>
              <a:rPr lang="en-US" sz="2800" b="1" dirty="0">
                <a:latin typeface="Times New Roman" panose="02020603050405020304" pitchFamily="18" charset="0"/>
                <a:cs typeface="Times New Roman" panose="02020603050405020304" pitchFamily="18" charset="0"/>
              </a:rPr>
              <a:t>???    QUESTION #3  ???</a:t>
            </a:r>
          </a:p>
        </p:txBody>
      </p:sp>
      <p:sp>
        <p:nvSpPr>
          <p:cNvPr id="77827" name="Rectangle 3"/>
          <p:cNvSpPr>
            <a:spLocks noGrp="1" noChangeArrowheads="1"/>
          </p:cNvSpPr>
          <p:nvPr>
            <p:ph idx="1"/>
          </p:nvPr>
        </p:nvSpPr>
        <p:spPr>
          <a:xfrm>
            <a:off x="901874" y="1189973"/>
            <a:ext cx="10451926" cy="4986990"/>
          </a:xfrm>
        </p:spPr>
        <p:txBody>
          <a:bodyPr>
            <a:normAutofit/>
          </a:bodyPr>
          <a:lstStyle/>
          <a:p>
            <a:pPr marL="533400" indent="-533400">
              <a:lnSpc>
                <a:spcPct val="150000"/>
              </a:lnSpc>
            </a:pPr>
            <a:r>
              <a:rPr lang="en-US" sz="2000" dirty="0">
                <a:latin typeface="Times New Roman" panose="02020603050405020304" pitchFamily="18" charset="0"/>
                <a:cs typeface="Times New Roman" panose="02020603050405020304" pitchFamily="18" charset="0"/>
              </a:rPr>
              <a:t>Acute pancreatitis may range from mild inflammation to severe hemorrhagic pancreatitis with extensive necrosis of the gland. Serum amylase and lipase are elevated. Laboratory findings suggesting a poor prognosis include all of the following except:  </a:t>
            </a:r>
          </a:p>
          <a:p>
            <a:pPr marL="533400" indent="-5334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Elevated blood glucose</a:t>
            </a:r>
          </a:p>
          <a:p>
            <a:pPr marL="533400" indent="-5334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Elevated hematocrit (due to dehydration)</a:t>
            </a:r>
          </a:p>
          <a:p>
            <a:pPr marL="533400" indent="-5334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Elevated LDH </a:t>
            </a:r>
          </a:p>
          <a:p>
            <a:pPr marL="533400" indent="-5334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Elevated WBC</a:t>
            </a:r>
          </a:p>
          <a:p>
            <a:pPr marL="533400" indent="-5334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Elevated AST </a:t>
            </a:r>
          </a:p>
        </p:txBody>
      </p:sp>
      <p:sp>
        <p:nvSpPr>
          <p:cNvPr id="2" name="Date Placeholder 1">
            <a:extLst>
              <a:ext uri="{FF2B5EF4-FFF2-40B4-BE49-F238E27FC236}">
                <a16:creationId xmlns:a16="http://schemas.microsoft.com/office/drawing/2014/main" id="{B3CC953B-5FC1-8C4A-9023-C8C2B9F9F26D}"/>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937D8528-C70D-D546-BECF-B8142B0F4792}"/>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5C11F677-326D-924A-875C-84E2829B5197}"/>
              </a:ext>
            </a:extLst>
          </p:cNvPr>
          <p:cNvSpPr>
            <a:spLocks noGrp="1"/>
          </p:cNvSpPr>
          <p:nvPr>
            <p:ph type="sldNum" sz="quarter" idx="12"/>
          </p:nvPr>
        </p:nvSpPr>
        <p:spPr/>
        <p:txBody>
          <a:bodyPr/>
          <a:lstStyle/>
          <a:p>
            <a:fld id="{B6F15528-21DE-4FAA-801E-634DDDAF4B2B}" type="slidenum">
              <a:rPr lang="en-US" smtClean="0"/>
              <a:pPr/>
              <a:t>69</a:t>
            </a:fld>
            <a:endParaRPr lang="en-US"/>
          </a:p>
        </p:txBody>
      </p:sp>
    </p:spTree>
  </p:cSld>
  <p:clrMapOvr>
    <a:masterClrMapping/>
  </p:clrMapOvr>
  <p:transition>
    <p:pull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838200" y="87683"/>
            <a:ext cx="10472804" cy="814191"/>
          </a:xfrm>
        </p:spPr>
        <p:txBody>
          <a:bodyPr>
            <a:normAutofit/>
          </a:bodyPr>
          <a:lstStyle/>
          <a:p>
            <a:pPr algn="ctr" eaLnBrk="1" hangingPunct="1"/>
            <a:r>
              <a:rPr lang="en-US" sz="2800" b="1" dirty="0">
                <a:latin typeface="Times New Roman" panose="02020603050405020304" pitchFamily="18" charset="0"/>
                <a:cs typeface="Times New Roman" panose="02020603050405020304" pitchFamily="18" charset="0"/>
              </a:rPr>
              <a:t>???    QUESTION #4  ???</a:t>
            </a:r>
          </a:p>
        </p:txBody>
      </p:sp>
      <p:sp>
        <p:nvSpPr>
          <p:cNvPr id="78851" name="Rectangle 3"/>
          <p:cNvSpPr>
            <a:spLocks noGrp="1" noChangeArrowheads="1"/>
          </p:cNvSpPr>
          <p:nvPr>
            <p:ph idx="1"/>
          </p:nvPr>
        </p:nvSpPr>
        <p:spPr>
          <a:xfrm>
            <a:off x="838199" y="1365337"/>
            <a:ext cx="10573011" cy="4811626"/>
          </a:xfrm>
        </p:spPr>
        <p:txBody>
          <a:bodyPr>
            <a:normAutofit/>
          </a:bodyPr>
          <a:lstStyle/>
          <a:p>
            <a:pPr marL="457200" indent="-457200">
              <a:lnSpc>
                <a:spcPct val="150000"/>
              </a:lnSpc>
            </a:pPr>
            <a:r>
              <a:rPr lang="en-US" sz="2000" dirty="0">
                <a:latin typeface="Times New Roman" panose="02020603050405020304" pitchFamily="18" charset="0"/>
                <a:cs typeface="Times New Roman" panose="02020603050405020304" pitchFamily="18" charset="0"/>
              </a:rPr>
              <a:t>Most hernias are asymptomatic, but signs and symptoms may include all of the following except:</a:t>
            </a:r>
          </a:p>
          <a:p>
            <a:pPr marL="457200" indent="-4572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 Chronic postprandial pain and belching. </a:t>
            </a:r>
          </a:p>
          <a:p>
            <a:pPr marL="457200" indent="-4572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 Nausea and vomiting with pain, inflammation and toxicity, progressing to perforation, peritonitis and sepsis with strangulated hernias. </a:t>
            </a:r>
          </a:p>
          <a:p>
            <a:pPr marL="457200" indent="-4572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Abdominal or focal pain and tenderness, possibly with signs of obstruction with incarceration. Possibly tachycardia and fever, leukocytosis and left shift.</a:t>
            </a:r>
          </a:p>
          <a:p>
            <a:pPr marL="457200" indent="-4572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Local swelling; intermittent "dragging" sensation or minor aching discomfort. </a:t>
            </a:r>
          </a:p>
        </p:txBody>
      </p:sp>
      <p:sp>
        <p:nvSpPr>
          <p:cNvPr id="2" name="Date Placeholder 1">
            <a:extLst>
              <a:ext uri="{FF2B5EF4-FFF2-40B4-BE49-F238E27FC236}">
                <a16:creationId xmlns:a16="http://schemas.microsoft.com/office/drawing/2014/main" id="{6C1753B2-86BD-5640-8C0F-45638A9D3805}"/>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7F3705D5-0318-2248-A72E-4EE7CE89B77F}"/>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93FCF884-62E7-F741-81B3-04CA2A4402D3}"/>
              </a:ext>
            </a:extLst>
          </p:cNvPr>
          <p:cNvSpPr>
            <a:spLocks noGrp="1"/>
          </p:cNvSpPr>
          <p:nvPr>
            <p:ph type="sldNum" sz="quarter" idx="12"/>
          </p:nvPr>
        </p:nvSpPr>
        <p:spPr/>
        <p:txBody>
          <a:bodyPr/>
          <a:lstStyle/>
          <a:p>
            <a:fld id="{B6F15528-21DE-4FAA-801E-634DDDAF4B2B}" type="slidenum">
              <a:rPr lang="en-US" smtClean="0"/>
              <a:pPr/>
              <a:t>70</a:t>
            </a:fld>
            <a:endParaRPr lang="en-US"/>
          </a:p>
        </p:txBody>
      </p:sp>
    </p:spTree>
  </p:cSld>
  <p:clrMapOvr>
    <a:masterClrMapping/>
  </p:clrMapOvr>
  <p:transition>
    <p:pull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normAutofit/>
          </a:bodyPr>
          <a:lstStyle/>
          <a:p>
            <a:pPr algn="ctr" eaLnBrk="1" hangingPunct="1"/>
            <a:r>
              <a:rPr lang="en-US" sz="2800" b="1" dirty="0">
                <a:latin typeface="Times New Roman" panose="02020603050405020304" pitchFamily="18" charset="0"/>
                <a:cs typeface="Times New Roman" panose="02020603050405020304" pitchFamily="18" charset="0"/>
              </a:rPr>
              <a:t>???    QUESTION #5  ???</a:t>
            </a:r>
          </a:p>
        </p:txBody>
      </p:sp>
      <p:sp>
        <p:nvSpPr>
          <p:cNvPr id="79875" name="Rectangle 3"/>
          <p:cNvSpPr>
            <a:spLocks noGrp="1" noChangeArrowheads="1"/>
          </p:cNvSpPr>
          <p:nvPr>
            <p:ph idx="1"/>
          </p:nvPr>
        </p:nvSpPr>
        <p:spPr/>
        <p:txBody>
          <a:bodyPr>
            <a:normAutofit/>
          </a:bodyPr>
          <a:lstStyle/>
          <a:p>
            <a:pPr marL="457200" indent="-457200">
              <a:lnSpc>
                <a:spcPct val="150000"/>
              </a:lnSpc>
            </a:pPr>
            <a:r>
              <a:rPr lang="en-US" sz="2000" dirty="0">
                <a:latin typeface="Times New Roman" panose="02020603050405020304" pitchFamily="18" charset="0"/>
                <a:cs typeface="Times New Roman" panose="02020603050405020304" pitchFamily="18" charset="0"/>
              </a:rPr>
              <a:t>All of the following are true regarding the plain radiographic evaluation of bowel obstruction except:  </a:t>
            </a:r>
          </a:p>
          <a:p>
            <a:pPr marL="876300" lvl="1" indent="-4191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A stepladder pattern of air-fluid levels suggests obstruction.  </a:t>
            </a:r>
          </a:p>
          <a:p>
            <a:pPr marL="876300" lvl="1" indent="-4191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Gas in the rectum or sigmoid excludes obstruction.  </a:t>
            </a:r>
          </a:p>
          <a:p>
            <a:pPr marL="876300" lvl="1" indent="-4191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A dilated loop may terminate abruptly at the site of obstruction.  </a:t>
            </a:r>
          </a:p>
          <a:p>
            <a:pPr marL="876300" lvl="1" indent="-4191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Obtain an upright chest x-ray to exclude free air in the abdomen.  </a:t>
            </a:r>
          </a:p>
          <a:p>
            <a:pPr marL="876300" lvl="1" indent="-4191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Obtain flat and upright abdominal films or decubitus films to look for air fluid levels.  </a:t>
            </a:r>
          </a:p>
          <a:p>
            <a:pPr marL="876300" lvl="1" indent="-419100">
              <a:lnSpc>
                <a:spcPct val="150000"/>
              </a:lnSpc>
              <a:buFont typeface="Wingdings" pitchFamily="2" charset="2"/>
              <a:buAutoNum type="alphaUcPeriod"/>
            </a:pPr>
            <a:r>
              <a:rPr lang="en-US" sz="2000" dirty="0">
                <a:latin typeface="Times New Roman" panose="02020603050405020304" pitchFamily="18" charset="0"/>
                <a:cs typeface="Times New Roman" panose="02020603050405020304" pitchFamily="18" charset="0"/>
              </a:rPr>
              <a:t>Dilated loops without stepladder air-fluid levels may be due to ileus. </a:t>
            </a:r>
          </a:p>
        </p:txBody>
      </p:sp>
      <p:sp>
        <p:nvSpPr>
          <p:cNvPr id="2" name="Date Placeholder 1">
            <a:extLst>
              <a:ext uri="{FF2B5EF4-FFF2-40B4-BE49-F238E27FC236}">
                <a16:creationId xmlns:a16="http://schemas.microsoft.com/office/drawing/2014/main" id="{843B5D03-5A3C-4F49-AFFE-E3C9F02C6907}"/>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15923602-DA0F-BE4E-9388-B7FF14D44507}"/>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19FE904B-DA97-BE43-8D2D-3DED1D20C334}"/>
              </a:ext>
            </a:extLst>
          </p:cNvPr>
          <p:cNvSpPr>
            <a:spLocks noGrp="1"/>
          </p:cNvSpPr>
          <p:nvPr>
            <p:ph type="sldNum" sz="quarter" idx="12"/>
          </p:nvPr>
        </p:nvSpPr>
        <p:spPr/>
        <p:txBody>
          <a:bodyPr/>
          <a:lstStyle/>
          <a:p>
            <a:fld id="{B6F15528-21DE-4FAA-801E-634DDDAF4B2B}" type="slidenum">
              <a:rPr lang="en-US" smtClean="0"/>
              <a:pPr/>
              <a:t>71</a:t>
            </a:fld>
            <a:endParaRPr lang="en-US"/>
          </a:p>
        </p:txBody>
      </p:sp>
    </p:spTree>
  </p:cSld>
  <p:clrMapOvr>
    <a:masterClrMapping/>
  </p:clrMapOvr>
  <p:transition>
    <p:pull di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normAutofit/>
          </a:bodyPr>
          <a:lstStyle/>
          <a:p>
            <a:pPr algn="ctr" eaLnBrk="1" hangingPunct="1"/>
            <a:r>
              <a:rPr lang="en-US" sz="2800" b="1" dirty="0">
                <a:latin typeface="Times New Roman" panose="02020603050405020304" pitchFamily="18" charset="0"/>
                <a:cs typeface="Times New Roman" panose="02020603050405020304" pitchFamily="18" charset="0"/>
              </a:rPr>
              <a:t>ANSWERS</a:t>
            </a:r>
          </a:p>
        </p:txBody>
      </p:sp>
      <p:sp>
        <p:nvSpPr>
          <p:cNvPr id="80899" name="Rectangle 3"/>
          <p:cNvSpPr>
            <a:spLocks noGrp="1" noChangeArrowheads="1"/>
          </p:cNvSpPr>
          <p:nvPr>
            <p:ph idx="1"/>
          </p:nvPr>
        </p:nvSpPr>
        <p:spPr/>
        <p:txBody>
          <a:bodyPr>
            <a:normAutofit/>
          </a:bodyPr>
          <a:lstStyle/>
          <a:p>
            <a:pPr marL="533400" indent="-533400">
              <a:buFont typeface="Wingdings" pitchFamily="2" charset="2"/>
              <a:buAutoNum type="arabicPeriod"/>
            </a:pPr>
            <a:r>
              <a:rPr lang="en-US" sz="2000" dirty="0">
                <a:latin typeface="Times New Roman" panose="02020603050405020304" pitchFamily="18" charset="0"/>
                <a:cs typeface="Times New Roman" panose="02020603050405020304" pitchFamily="18" charset="0"/>
              </a:rPr>
              <a:t>A   -These findings are highly suggestive of bacterial peritonitis and sepsis.</a:t>
            </a:r>
          </a:p>
          <a:p>
            <a:pPr marL="533400" indent="-533400">
              <a:buFont typeface="Wingdings" pitchFamily="2" charset="2"/>
              <a:buAutoNum type="arabicPeriod"/>
            </a:pPr>
            <a:r>
              <a:rPr lang="en-US" sz="2000" dirty="0">
                <a:latin typeface="Times New Roman" panose="02020603050405020304" pitchFamily="18" charset="0"/>
                <a:cs typeface="Times New Roman" panose="02020603050405020304" pitchFamily="18" charset="0"/>
              </a:rPr>
              <a:t>A</a:t>
            </a:r>
          </a:p>
          <a:p>
            <a:pPr marL="533400" indent="-533400">
              <a:buFont typeface="Wingdings" pitchFamily="2" charset="2"/>
              <a:buAutoNum type="arabicPeriod"/>
            </a:pPr>
            <a:r>
              <a:rPr lang="en-US" sz="2000" dirty="0">
                <a:latin typeface="Times New Roman" panose="02020603050405020304" pitchFamily="18" charset="0"/>
                <a:cs typeface="Times New Roman" panose="02020603050405020304" pitchFamily="18" charset="0"/>
              </a:rPr>
              <a:t>B</a:t>
            </a:r>
          </a:p>
          <a:p>
            <a:pPr marL="533400" indent="-533400">
              <a:buFont typeface="Wingdings" pitchFamily="2" charset="2"/>
              <a:buAutoNum type="arabicPeriod"/>
            </a:pPr>
            <a:r>
              <a:rPr lang="en-US" sz="2000" dirty="0">
                <a:latin typeface="Times New Roman" panose="02020603050405020304" pitchFamily="18" charset="0"/>
                <a:cs typeface="Times New Roman" panose="02020603050405020304" pitchFamily="18" charset="0"/>
              </a:rPr>
              <a:t>A</a:t>
            </a:r>
          </a:p>
          <a:p>
            <a:pPr marL="533400" indent="-533400">
              <a:buFont typeface="Wingdings" pitchFamily="2" charset="2"/>
              <a:buAutoNum type="arabicPeriod"/>
            </a:pPr>
            <a:r>
              <a:rPr lang="en-US" sz="2000" dirty="0">
                <a:latin typeface="Times New Roman" panose="02020603050405020304" pitchFamily="18" charset="0"/>
                <a:cs typeface="Times New Roman" panose="02020603050405020304" pitchFamily="18" charset="0"/>
              </a:rPr>
              <a:t>A   -With complete obstruction, distal gas will usually be absent. Gas may still be present early in obstruction, however, or may be introduced during the rectal examination.</a:t>
            </a:r>
          </a:p>
        </p:txBody>
      </p:sp>
      <p:sp>
        <p:nvSpPr>
          <p:cNvPr id="2" name="Date Placeholder 1">
            <a:extLst>
              <a:ext uri="{FF2B5EF4-FFF2-40B4-BE49-F238E27FC236}">
                <a16:creationId xmlns:a16="http://schemas.microsoft.com/office/drawing/2014/main" id="{4E201B45-F48F-1C46-A597-6F9BE3D523EC}"/>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6AA8858B-9503-AD44-BBF1-DCCCF8527D6F}"/>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AA791837-DF05-B941-AAB9-C274858B153B}"/>
              </a:ext>
            </a:extLst>
          </p:cNvPr>
          <p:cNvSpPr>
            <a:spLocks noGrp="1"/>
          </p:cNvSpPr>
          <p:nvPr>
            <p:ph type="sldNum" sz="quarter" idx="12"/>
          </p:nvPr>
        </p:nvSpPr>
        <p:spPr/>
        <p:txBody>
          <a:bodyPr/>
          <a:lstStyle/>
          <a:p>
            <a:fld id="{B6F15528-21DE-4FAA-801E-634DDDAF4B2B}" type="slidenum">
              <a:rPr lang="en-US" smtClean="0"/>
              <a:pPr/>
              <a:t>72</a:t>
            </a:fld>
            <a:endParaRPr lang="en-US"/>
          </a:p>
        </p:txBody>
      </p:sp>
    </p:spTree>
  </p:cSld>
  <p:clrMapOvr>
    <a:masterClrMapping/>
  </p:clrMapOvr>
  <p:transition>
    <p:pull dir="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normAutofit/>
          </a:bodyPr>
          <a:lstStyle/>
          <a:p>
            <a:pPr algn="ctr" eaLnBrk="1" hangingPunct="1"/>
            <a:r>
              <a:rPr lang="en-US" sz="2800" b="1" dirty="0">
                <a:latin typeface="Times New Roman" panose="02020603050405020304" pitchFamily="18" charset="0"/>
                <a:cs typeface="Times New Roman" panose="02020603050405020304" pitchFamily="18" charset="0"/>
              </a:rPr>
              <a:t>Reference</a:t>
            </a:r>
          </a:p>
        </p:txBody>
      </p:sp>
      <p:sp>
        <p:nvSpPr>
          <p:cNvPr id="80899" name="Rectangle 3"/>
          <p:cNvSpPr>
            <a:spLocks noGrp="1" noChangeArrowheads="1"/>
          </p:cNvSpPr>
          <p:nvPr>
            <p:ph idx="1"/>
          </p:nvPr>
        </p:nvSpPr>
        <p:spPr/>
        <p:txBody>
          <a:bodyPr>
            <a:normAutofit/>
          </a:bodyPr>
          <a:lstStyle/>
          <a:p>
            <a:pPr marL="533400" indent="-533400">
              <a:buFont typeface="Wingdings" pitchFamily="2" charset="2"/>
              <a:buAutoNum type="arabicPeriod"/>
            </a:pPr>
            <a:r>
              <a:rPr lang="en-US" sz="2000" dirty="0">
                <a:latin typeface="Times New Roman" panose="02020603050405020304" pitchFamily="18" charset="0"/>
                <a:cs typeface="Times New Roman" panose="02020603050405020304" pitchFamily="18" charset="0"/>
              </a:rPr>
              <a:t>UpToDate, 2024</a:t>
            </a:r>
          </a:p>
          <a:p>
            <a:pPr marL="533400" indent="-533400">
              <a:buFont typeface="Wingdings" pitchFamily="2" charset="2"/>
              <a:buAutoNum type="arabicPeriod"/>
            </a:pPr>
            <a:r>
              <a:rPr lang="en-US" sz="2000" dirty="0">
                <a:latin typeface="Times New Roman" panose="02020603050405020304" pitchFamily="18" charset="0"/>
                <a:cs typeface="Times New Roman" panose="02020603050405020304" pitchFamily="18" charset="0"/>
              </a:rPr>
              <a:t>Schwartz principle surgery 12</a:t>
            </a:r>
            <a:r>
              <a:rPr lang="en-US" sz="2000" baseline="30000" dirty="0">
                <a:latin typeface="Times New Roman" panose="02020603050405020304" pitchFamily="18" charset="0"/>
                <a:cs typeface="Times New Roman" panose="02020603050405020304" pitchFamily="18" charset="0"/>
              </a:rPr>
              <a:t>th</a:t>
            </a:r>
            <a:r>
              <a:rPr lang="en-US" sz="2000" dirty="0">
                <a:latin typeface="Times New Roman" panose="02020603050405020304" pitchFamily="18" charset="0"/>
                <a:cs typeface="Times New Roman" panose="02020603050405020304" pitchFamily="18" charset="0"/>
              </a:rPr>
              <a:t> edition</a:t>
            </a:r>
          </a:p>
        </p:txBody>
      </p:sp>
      <p:sp>
        <p:nvSpPr>
          <p:cNvPr id="2" name="Date Placeholder 1">
            <a:extLst>
              <a:ext uri="{FF2B5EF4-FFF2-40B4-BE49-F238E27FC236}">
                <a16:creationId xmlns:a16="http://schemas.microsoft.com/office/drawing/2014/main" id="{F207D871-4185-6C47-847A-CF004F5F9185}"/>
              </a:ext>
            </a:extLst>
          </p:cNvPr>
          <p:cNvSpPr>
            <a:spLocks noGrp="1"/>
          </p:cNvSpPr>
          <p:nvPr>
            <p:ph type="dt" sz="half" idx="10"/>
          </p:nvPr>
        </p:nvSpPr>
        <p:spPr/>
        <p:txBody>
          <a:bodyPr/>
          <a:lstStyle/>
          <a:p>
            <a:r>
              <a:rPr lang="en-CA"/>
              <a:t>6/28/24</a:t>
            </a:r>
            <a:endParaRPr lang="en-US"/>
          </a:p>
        </p:txBody>
      </p:sp>
      <p:sp>
        <p:nvSpPr>
          <p:cNvPr id="3" name="Footer Placeholder 2">
            <a:extLst>
              <a:ext uri="{FF2B5EF4-FFF2-40B4-BE49-F238E27FC236}">
                <a16:creationId xmlns:a16="http://schemas.microsoft.com/office/drawing/2014/main" id="{941F8E05-67E6-B540-86A5-C3AF95FD319F}"/>
              </a:ext>
            </a:extLst>
          </p:cNvPr>
          <p:cNvSpPr>
            <a:spLocks noGrp="1"/>
          </p:cNvSpPr>
          <p:nvPr>
            <p:ph type="ftr" sz="quarter" idx="11"/>
          </p:nvPr>
        </p:nvSpPr>
        <p:spPr/>
        <p:txBody>
          <a:bodyPr/>
          <a:lstStyle/>
          <a:p>
            <a:r>
              <a:rPr lang="en-US"/>
              <a:t>Acute Abdomen</a:t>
            </a:r>
          </a:p>
        </p:txBody>
      </p:sp>
      <p:sp>
        <p:nvSpPr>
          <p:cNvPr id="4" name="Slide Number Placeholder 3">
            <a:extLst>
              <a:ext uri="{FF2B5EF4-FFF2-40B4-BE49-F238E27FC236}">
                <a16:creationId xmlns:a16="http://schemas.microsoft.com/office/drawing/2014/main" id="{F84BEB1F-C57F-B947-8EA7-34F5EBF961DC}"/>
              </a:ext>
            </a:extLst>
          </p:cNvPr>
          <p:cNvSpPr>
            <a:spLocks noGrp="1"/>
          </p:cNvSpPr>
          <p:nvPr>
            <p:ph type="sldNum" sz="quarter" idx="12"/>
          </p:nvPr>
        </p:nvSpPr>
        <p:spPr/>
        <p:txBody>
          <a:bodyPr/>
          <a:lstStyle/>
          <a:p>
            <a:fld id="{B6F15528-21DE-4FAA-801E-634DDDAF4B2B}" type="slidenum">
              <a:rPr lang="en-US" smtClean="0"/>
              <a:pPr/>
              <a:t>73</a:t>
            </a:fld>
            <a:endParaRPr lang="en-US"/>
          </a:p>
        </p:txBody>
      </p:sp>
    </p:spTree>
    <p:extLst>
      <p:ext uri="{BB962C8B-B14F-4D97-AF65-F5344CB8AC3E}">
        <p14:creationId xmlns:p14="http://schemas.microsoft.com/office/powerpoint/2010/main" val="3019070011"/>
      </p:ext>
    </p:extLst>
  </p:cSld>
  <p:clrMapOvr>
    <a:masterClrMapping/>
  </p:clrMapOvr>
  <p:transition>
    <p:pull dir="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ctr">
              <a:buNone/>
            </a:pPr>
            <a:endParaRPr lang="en-US" sz="4800" dirty="0"/>
          </a:p>
          <a:p>
            <a:pPr algn="ctr">
              <a:buNone/>
            </a:pPr>
            <a:endParaRPr lang="en-US" sz="4800" dirty="0"/>
          </a:p>
          <a:p>
            <a:pPr algn="ctr">
              <a:buNone/>
            </a:pPr>
            <a:r>
              <a:rPr lang="en-US" sz="4800" dirty="0"/>
              <a:t>THANK YOU </a:t>
            </a:r>
            <a:r>
              <a:rPr lang="en-US" sz="4800" dirty="0">
                <a:sym typeface="Wingdings" pitchFamily="2" charset="2"/>
              </a:rPr>
              <a:t></a:t>
            </a:r>
          </a:p>
          <a:p>
            <a:pPr algn="ctr">
              <a:buNone/>
            </a:pPr>
            <a:endParaRPr lang="en-US" sz="4800" dirty="0">
              <a:sym typeface="Wingdings" pitchFamily="2" charset="2"/>
            </a:endParaRPr>
          </a:p>
          <a:p>
            <a:pPr algn="ctr">
              <a:buNone/>
            </a:pPr>
            <a:endParaRPr lang="en-US" sz="4800" dirty="0">
              <a:sym typeface="Wingdings" pitchFamily="2" charset="2"/>
            </a:endParaRPr>
          </a:p>
          <a:p>
            <a:pPr algn="ctr">
              <a:buNone/>
            </a:pPr>
            <a:endParaRPr lang="en-IN" sz="4800" dirty="0"/>
          </a:p>
        </p:txBody>
      </p:sp>
      <p:sp>
        <p:nvSpPr>
          <p:cNvPr id="2" name="Date Placeholder 1">
            <a:extLst>
              <a:ext uri="{FF2B5EF4-FFF2-40B4-BE49-F238E27FC236}">
                <a16:creationId xmlns:a16="http://schemas.microsoft.com/office/drawing/2014/main" id="{701866C8-89FE-494D-AB80-124411DCBC7F}"/>
              </a:ext>
            </a:extLst>
          </p:cNvPr>
          <p:cNvSpPr>
            <a:spLocks noGrp="1"/>
          </p:cNvSpPr>
          <p:nvPr>
            <p:ph type="dt" sz="half" idx="10"/>
          </p:nvPr>
        </p:nvSpPr>
        <p:spPr/>
        <p:txBody>
          <a:bodyPr/>
          <a:lstStyle/>
          <a:p>
            <a:r>
              <a:rPr lang="en-CA"/>
              <a:t>6/28/24</a:t>
            </a:r>
            <a:endParaRPr lang="en-US"/>
          </a:p>
        </p:txBody>
      </p:sp>
      <p:sp>
        <p:nvSpPr>
          <p:cNvPr id="4" name="Footer Placeholder 3">
            <a:extLst>
              <a:ext uri="{FF2B5EF4-FFF2-40B4-BE49-F238E27FC236}">
                <a16:creationId xmlns:a16="http://schemas.microsoft.com/office/drawing/2014/main" id="{752FECB3-336F-914C-B3AF-E09B544012F3}"/>
              </a:ext>
            </a:extLst>
          </p:cNvPr>
          <p:cNvSpPr>
            <a:spLocks noGrp="1"/>
          </p:cNvSpPr>
          <p:nvPr>
            <p:ph type="ftr" sz="quarter" idx="11"/>
          </p:nvPr>
        </p:nvSpPr>
        <p:spPr/>
        <p:txBody>
          <a:bodyPr/>
          <a:lstStyle/>
          <a:p>
            <a:r>
              <a:rPr lang="en-US"/>
              <a:t>Acute Abdomen</a:t>
            </a:r>
          </a:p>
        </p:txBody>
      </p:sp>
      <p:sp>
        <p:nvSpPr>
          <p:cNvPr id="5" name="Slide Number Placeholder 4">
            <a:extLst>
              <a:ext uri="{FF2B5EF4-FFF2-40B4-BE49-F238E27FC236}">
                <a16:creationId xmlns:a16="http://schemas.microsoft.com/office/drawing/2014/main" id="{F5DFC187-5D7D-7A43-9B9D-C2B8F840FF67}"/>
              </a:ext>
            </a:extLst>
          </p:cNvPr>
          <p:cNvSpPr>
            <a:spLocks noGrp="1"/>
          </p:cNvSpPr>
          <p:nvPr>
            <p:ph type="sldNum" sz="quarter" idx="12"/>
          </p:nvPr>
        </p:nvSpPr>
        <p:spPr/>
        <p:txBody>
          <a:bodyPr/>
          <a:lstStyle/>
          <a:p>
            <a:fld id="{B6F15528-21DE-4FAA-801E-634DDDAF4B2B}" type="slidenum">
              <a:rPr lang="en-US" smtClean="0"/>
              <a:pPr/>
              <a:t>74</a:t>
            </a:fld>
            <a:endParaRPr lang="en-US"/>
          </a:p>
        </p:txBody>
      </p:sp>
    </p:spTree>
  </p:cSld>
  <p:clrMapOvr>
    <a:masterClrMapping/>
  </p:clrMapOvr>
  <p:transition>
    <p:wipe dir="d"/>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2714</TotalTime>
  <Words>2729</Words>
  <Application>Microsoft Macintosh PowerPoint</Application>
  <PresentationFormat>Widescreen</PresentationFormat>
  <Paragraphs>559</Paragraphs>
  <Slides>74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74</vt:i4>
      </vt:variant>
    </vt:vector>
  </HeadingPairs>
  <TitlesOfParts>
    <vt:vector size="82" baseType="lpstr">
      <vt:lpstr>新細明體</vt:lpstr>
      <vt:lpstr>Arial</vt:lpstr>
      <vt:lpstr>Calibri</vt:lpstr>
      <vt:lpstr>Calibri Light</vt:lpstr>
      <vt:lpstr>Monotype Sorts</vt:lpstr>
      <vt:lpstr>Times New Roman</vt:lpstr>
      <vt:lpstr>Wingdings</vt:lpstr>
      <vt:lpstr>Office Theme</vt:lpstr>
      <vt:lpstr>Acute Abdomen</vt:lpstr>
      <vt:lpstr>Outline</vt:lpstr>
      <vt:lpstr>Introduction</vt:lpstr>
      <vt:lpstr>PowerPoint Presentation</vt:lpstr>
      <vt:lpstr>The primary symptom of the ”Acute abdomen" is: Abdominal pain.</vt:lpstr>
      <vt:lpstr>Types of Abdominal Pain:</vt:lpstr>
      <vt:lpstr>Visceral Pain</vt:lpstr>
      <vt:lpstr>Parietal Pain</vt:lpstr>
      <vt:lpstr>Referred Pain</vt:lpstr>
      <vt:lpstr>PowerPoint Presentation</vt:lpstr>
      <vt:lpstr>Referred Pain Locations</vt:lpstr>
      <vt:lpstr>PowerPoint Presentation</vt:lpstr>
      <vt:lpstr>PowerPoint Presentation</vt:lpstr>
      <vt:lpstr>PowerPoint Presentation</vt:lpstr>
      <vt:lpstr>PowerPoint Presentation</vt:lpstr>
      <vt:lpstr>Approach to patient with abdominal pain</vt:lpstr>
      <vt:lpstr>History</vt:lpstr>
      <vt:lpstr>History</vt:lpstr>
      <vt:lpstr>History</vt:lpstr>
      <vt:lpstr>Physical Examination</vt:lpstr>
      <vt:lpstr>Physical Examination</vt:lpstr>
      <vt:lpstr>Physical Examination</vt:lpstr>
      <vt:lpstr>PowerPoint Presentation</vt:lpstr>
      <vt:lpstr>Laboratory Test</vt:lpstr>
      <vt:lpstr>Radiographic Test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Appendicitis</vt:lpstr>
      <vt:lpstr>PowerPoint Presentation</vt:lpstr>
      <vt:lpstr>PowerPoint Presentation</vt:lpstr>
      <vt:lpstr>PowerPoint Presentation</vt:lpstr>
      <vt:lpstr>Peptic Ulcer Disease</vt:lpstr>
      <vt:lpstr>PowerPoint Presentation</vt:lpstr>
      <vt:lpstr>PowerPoint Presentation</vt:lpstr>
      <vt:lpstr>Biliary Tract Disease</vt:lpstr>
      <vt:lpstr>Acute Cholecystitis</vt:lpstr>
      <vt:lpstr>PowerPoint Presentation</vt:lpstr>
      <vt:lpstr>PowerPoint Presentation</vt:lpstr>
      <vt:lpstr>Intestinal Obstruction</vt:lpstr>
      <vt:lpstr>PowerPoint Presentation</vt:lpstr>
      <vt:lpstr>PowerPoint Presentation</vt:lpstr>
      <vt:lpstr>PowerPoint Presentation</vt:lpstr>
      <vt:lpstr>PowerPoint Presentation</vt:lpstr>
      <vt:lpstr>Pancreatitis</vt:lpstr>
      <vt:lpstr>PowerPoint Presentation</vt:lpstr>
      <vt:lpstr>PowerPoint Presentation</vt:lpstr>
      <vt:lpstr>PowerPoint Presentation</vt:lpstr>
      <vt:lpstr>Ureteric Colic</vt:lpstr>
      <vt:lpstr>Special Considerations</vt:lpstr>
      <vt:lpstr>PowerPoint Presentation</vt:lpstr>
      <vt:lpstr>???    QUESTION #1  ???</vt:lpstr>
      <vt:lpstr>???    QUESTION #2  ???</vt:lpstr>
      <vt:lpstr>???    QUESTION #3  ???</vt:lpstr>
      <vt:lpstr>???    QUESTION #4  ???</vt:lpstr>
      <vt:lpstr>???    QUESTION #5  ???</vt:lpstr>
      <vt:lpstr>ANSWERS</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HEPATIC ABSCESS</dc:title>
  <dc:creator>dell</dc:creator>
  <cp:lastModifiedBy>Microsoft Office User</cp:lastModifiedBy>
  <cp:revision>220</cp:revision>
  <dcterms:created xsi:type="dcterms:W3CDTF">2006-08-16T00:00:00Z</dcterms:created>
  <dcterms:modified xsi:type="dcterms:W3CDTF">2024-06-27T17:59:00Z</dcterms:modified>
</cp:coreProperties>
</file>