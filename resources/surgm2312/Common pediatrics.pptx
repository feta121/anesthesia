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  <p:sldMasterId id="2147483649" r:id="rId2"/>
    <p:sldMasterId id="2147483650" r:id="rId3"/>
    <p:sldMasterId id="2147483685" r:id="rId4"/>
    <p:sldMasterId id="2147483949" r:id="rId5"/>
  </p:sldMasterIdLst>
  <p:notesMasterIdLst>
    <p:notesMasterId r:id="rId6"/>
  </p:notesMasterIdLst>
  <p:sldIdLst>
    <p:sldId id="257" r:id="rId7"/>
    <p:sldId id="260" r:id="rId8"/>
    <p:sldId id="261" r:id="rId9"/>
    <p:sldId id="262" r:id="rId10"/>
    <p:sldId id="264" r:id="rId11"/>
    <p:sldId id="266" r:id="rId12"/>
    <p:sldId id="268" r:id="rId13"/>
    <p:sldId id="271" r:id="rId14"/>
    <p:sldId id="272" r:id="rId15"/>
    <p:sldId id="275" r:id="rId16"/>
    <p:sldId id="277" r:id="rId17"/>
    <p:sldId id="278" r:id="rId18"/>
    <p:sldId id="279" r:id="rId19"/>
    <p:sldId id="280" r:id="rId20"/>
    <p:sldId id="281" r:id="rId21"/>
    <p:sldId id="292" r:id="rId22"/>
    <p:sldId id="294" r:id="rId23"/>
    <p:sldId id="296" r:id="rId24"/>
    <p:sldId id="299" r:id="rId25"/>
    <p:sldId id="301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4" r:id="rId37"/>
    <p:sldId id="316" r:id="rId38"/>
    <p:sldId id="318" r:id="rId39"/>
    <p:sldId id="319" r:id="rId40"/>
    <p:sldId id="321" r:id="rId41"/>
    <p:sldId id="323" r:id="rId42"/>
    <p:sldId id="324" r:id="rId43"/>
    <p:sldId id="326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tableStyles" Target="tableStyle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3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3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49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8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54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55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60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861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6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863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6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6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6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2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2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6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71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7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8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3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83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8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4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8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8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8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F5C5B1-C66F-4479-AB3F-CB60B65BEB7A}" type="datetime1">
              <a:rPr lang="en-US" smtClean="0"/>
              <a:t>9/3/2016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891E690-F640-49C7-AE7F-1716A38087AD}" type="datetime1">
              <a:rPr lang="en-US" smtClean="0"/>
              <a:t>9/3/2016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AA52A46-F9C7-4573-A64F-EFECCBB893AA}" type="datetime1">
              <a:rPr lang="en-US" smtClean="0"/>
              <a:t>9/3/2016</a:t>
            </a:fld>
            <a:endParaRPr lang="en-US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73920B-9C5E-4B02-925D-CCC365B58A8C}" type="datetime1">
              <a:rPr lang="en-US" smtClean="0"/>
              <a:t>9/3/2016</a:t>
            </a:fld>
            <a:endParaRPr lang="en-US"/>
          </a:p>
        </p:txBody>
      </p:sp>
      <p:sp>
        <p:nvSpPr>
          <p:cNvPr id="10487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2E298C-37DA-41D9-9B2C-00CA029B6088}" type="datetime1">
              <a:rPr lang="en-US" smtClean="0"/>
              <a:t>9/3/2016</a:t>
            </a:fld>
            <a:endParaRPr lang="en-US"/>
          </a:p>
        </p:txBody>
      </p:sp>
      <p:sp>
        <p:nvSpPr>
          <p:cNvPr id="104882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E32E670-672B-4FF3-98FE-2DDBB183994B}" type="datetime1">
              <a:rPr lang="en-US" smtClean="0"/>
              <a:t>9/3/2016</a:t>
            </a:fld>
            <a:endParaRPr lang="en-US"/>
          </a:p>
        </p:txBody>
      </p:sp>
      <p:sp>
        <p:nvSpPr>
          <p:cNvPr id="10488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EE5CAF-0FA5-44BB-9D0D-0F97F283A879}" type="datetime1">
              <a:rPr lang="en-US" smtClean="0"/>
              <a:t>9/3/2016</a:t>
            </a:fld>
            <a:endParaRPr lang="en-US"/>
          </a:p>
        </p:txBody>
      </p:sp>
      <p:sp>
        <p:nvSpPr>
          <p:cNvPr id="104877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9CDA149-C55C-4350-965E-FAF629102F7F}" type="datetime1">
              <a:rPr lang="en-US" smtClean="0"/>
              <a:t>9/3/2016</a:t>
            </a:fld>
            <a:endParaRPr lang="en-US"/>
          </a:p>
        </p:txBody>
      </p:sp>
      <p:sp>
        <p:nvSpPr>
          <p:cNvPr id="104880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8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5EA0386-D4AD-4FAB-A048-6F2EAE7FEA45}" type="datetime1">
              <a:rPr lang="en-US" smtClean="0"/>
              <a:t>9/3/2016</a:t>
            </a:fld>
            <a:endParaRPr lang="en-US"/>
          </a:p>
        </p:txBody>
      </p:sp>
      <p:sp>
        <p:nvSpPr>
          <p:cNvPr id="10487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6618E8D-92F5-4230-81B8-B351131443A3}" type="datetime1">
              <a:rPr lang="en-US" smtClean="0"/>
              <a:t>9/3/2016</a:t>
            </a:fld>
            <a:endParaRPr lang="en-US"/>
          </a:p>
        </p:txBody>
      </p:sp>
      <p:sp>
        <p:nvSpPr>
          <p:cNvPr id="10487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654228B-00D5-47BF-BB41-A2496DB55078}" type="datetime1">
              <a:rPr lang="en-US" smtClean="0"/>
              <a:t>9/3/2016</a:t>
            </a:fld>
            <a:endParaRPr lang="en-US"/>
          </a:p>
        </p:txBody>
      </p:sp>
      <p:sp>
        <p:nvSpPr>
          <p:cNvPr id="10487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C7DE20-064E-4374-A9A7-6D9B472FF585}" type="datetime1">
              <a:rPr lang="en-US" smtClean="0"/>
              <a:t>9/3/2016</a:t>
            </a:fld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D70E2E4-6B3F-44A7-8942-2F18A7D88A1A}" type="datetime1">
              <a:rPr lang="en-US" smtClean="0"/>
              <a:t>9/3/2016</a:t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5444D4E-1BAE-481C-A4D2-5EB132996E0B}" type="datetime1">
              <a:rPr lang="en-US" smtClean="0"/>
              <a:t>9/3/2016</a:t>
            </a:fld>
            <a:endParaRPr lang="en-US"/>
          </a:p>
        </p:txBody>
      </p:sp>
      <p:sp>
        <p:nvSpPr>
          <p:cNvPr id="10488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1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CCFA47-D69B-4B86-BB7B-FA112968377F}" type="datetime1">
              <a:rPr lang="en-US" smtClean="0"/>
              <a:t>9/3/2016</a:t>
            </a:fld>
            <a:endParaRPr lang="en-US"/>
          </a:p>
        </p:txBody>
      </p:sp>
      <p:sp>
        <p:nvSpPr>
          <p:cNvPr id="10489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9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9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9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AFA734-5D5C-4AF1-9AF3-12C808C978A2}" type="datetime1">
              <a:rPr lang="en-US" smtClean="0"/>
              <a:t>9/3/2016</a:t>
            </a:fld>
            <a:endParaRPr lang="en-US"/>
          </a:p>
        </p:txBody>
      </p:sp>
      <p:sp>
        <p:nvSpPr>
          <p:cNvPr id="104889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9D3979-9A19-41CE-BC26-200F88297BF9}" type="datetime1">
              <a:rPr lang="en-US" smtClean="0"/>
              <a:t>9/3/2016</a:t>
            </a:fld>
            <a:endParaRPr lang="en-US"/>
          </a:p>
        </p:txBody>
      </p:sp>
      <p:sp>
        <p:nvSpPr>
          <p:cNvPr id="10489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997B70A-CC72-47B4-810C-BF4A4F4A1C5E}" type="datetime1">
              <a:rPr lang="en-US" smtClean="0"/>
              <a:t>9/3/2016</a:t>
            </a:fld>
            <a:endParaRPr lang="en-US"/>
          </a:p>
        </p:txBody>
      </p:sp>
      <p:sp>
        <p:nvSpPr>
          <p:cNvPr id="104892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2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BDEAEA-5D7C-43C1-8235-81466F991B82}" type="datetime1">
              <a:rPr lang="en-US" smtClean="0"/>
              <a:t>9/3/2016</a:t>
            </a:fld>
            <a:endParaRPr lang="en-US"/>
          </a:p>
        </p:txBody>
      </p:sp>
      <p:sp>
        <p:nvSpPr>
          <p:cNvPr id="10489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7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8C83092-15E1-4466-AED7-1F00E696535D}" type="datetime1">
              <a:rPr lang="en-US" smtClean="0"/>
              <a:t>9/3/2016</a:t>
            </a:fld>
            <a:endParaRPr lang="en-US"/>
          </a:p>
        </p:txBody>
      </p:sp>
      <p:sp>
        <p:nvSpPr>
          <p:cNvPr id="104888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2F5322-702A-4743-8CBD-B9DABBC5CACB}" type="datetime1">
              <a:rPr lang="en-US" smtClean="0"/>
              <a:t>9/3/2016</a:t>
            </a:fld>
            <a:endParaRPr lang="en-US"/>
          </a:p>
        </p:txBody>
      </p:sp>
      <p:sp>
        <p:nvSpPr>
          <p:cNvPr id="10488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1E00F-73B3-40AE-BAD5-EA06F0E0BF9C}" type="datetime1">
              <a:rPr lang="en-US" smtClean="0"/>
              <a:t>9/3/2016</a:t>
            </a:fld>
            <a:endParaRPr lang="en-US"/>
          </a:p>
        </p:txBody>
      </p:sp>
      <p:sp>
        <p:nvSpPr>
          <p:cNvPr id="10489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1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3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p>
            <a:fld id="{4D76AC69-0E28-4ECA-9057-B84AF7F87605}" type="datetime1">
              <a:rPr lang="en-US" smtClean="0"/>
              <a:t>9/3/2016</a:t>
            </a:fld>
            <a:endParaRPr lang="en-US"/>
          </a:p>
        </p:txBody>
      </p:sp>
      <p:sp>
        <p:nvSpPr>
          <p:cNvPr id="104890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p>
            <a:endParaRPr lang="en-US"/>
          </a:p>
        </p:txBody>
      </p:sp>
      <p:sp>
        <p:nvSpPr>
          <p:cNvPr id="104890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p>
            <a:fld id="{70E77A45-E7DB-4CEC-8953-F0A98FC5D9A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9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9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CEC6BC5-603E-471C-BF56-1FE2B1209A21}" type="datetime1">
              <a:rPr lang="en-US" smtClean="0"/>
              <a:t>8/30/2019</a:t>
            </a:fld>
            <a:endParaRPr lang="en-US"/>
          </a:p>
        </p:txBody>
      </p:sp>
      <p:sp>
        <p:nvSpPr>
          <p:cNvPr id="10489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4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5679F35-E0CB-46CE-A385-9D39BF8073AB}" type="datetime1">
              <a:rPr lang="en-US" smtClean="0"/>
              <a:t>8/30/2019</a:t>
            </a:fld>
            <a:endParaRPr lang="en-US"/>
          </a:p>
        </p:txBody>
      </p:sp>
      <p:sp>
        <p:nvSpPr>
          <p:cNvPr id="10489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4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F9B1791-8F83-4C78-B902-7F869507F588}" type="datetime1">
              <a:rPr lang="en-US" smtClean="0"/>
              <a:t>8/30/2019</a:t>
            </a:fld>
            <a:endParaRPr lang="en-US"/>
          </a:p>
        </p:txBody>
      </p:sp>
      <p:sp>
        <p:nvSpPr>
          <p:cNvPr id="10489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9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535388-5F9F-4797-88AE-5B7C2115D474}" type="datetime1">
              <a:rPr lang="en-US" smtClean="0"/>
              <a:t>8/30/2019</a:t>
            </a:fld>
            <a:endParaRPr lang="en-US"/>
          </a:p>
        </p:txBody>
      </p:sp>
      <p:sp>
        <p:nvSpPr>
          <p:cNvPr id="104899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9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8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8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EFAC91B-4259-4905-AEE1-B0F1F0C73260}" type="datetime1">
              <a:rPr lang="en-US" smtClean="0"/>
              <a:t>8/30/2019</a:t>
            </a:fld>
            <a:endParaRPr lang="en-US"/>
          </a:p>
        </p:txBody>
      </p:sp>
      <p:sp>
        <p:nvSpPr>
          <p:cNvPr id="104898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8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7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43C47D0-1291-437F-8CF0-B40FF0D4B42D}" type="datetime1">
              <a:rPr lang="en-US" smtClean="0"/>
              <a:t>8/30/2019</a:t>
            </a:fld>
            <a:endParaRPr lang="en-US"/>
          </a:p>
        </p:txBody>
      </p:sp>
      <p:sp>
        <p:nvSpPr>
          <p:cNvPr id="104898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8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4877769-49A7-4CFC-9D70-B74D8CF22B1B}" type="datetime1">
              <a:rPr lang="en-US" smtClean="0"/>
              <a:t>8/30/2019</a:t>
            </a:fld>
            <a:endParaRPr lang="en-US"/>
          </a:p>
        </p:txBody>
      </p:sp>
      <p:sp>
        <p:nvSpPr>
          <p:cNvPr id="104897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48758-D3A4-4215-A83E-1C92A939EA12}" type="datetime1">
              <a:rPr lang="en-US" smtClean="0"/>
              <a:t>8/30/2019</a:t>
            </a:fld>
            <a:endParaRPr lang="en-US"/>
          </a:p>
        </p:txBody>
      </p:sp>
      <p:sp>
        <p:nvSpPr>
          <p:cNvPr id="10489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7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7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7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D54BD7-B8B8-4720-BF9B-196E6947CB79}" type="datetime1">
              <a:rPr lang="en-US" smtClean="0"/>
              <a:t>8/30/2019</a:t>
            </a:fld>
            <a:endParaRPr lang="en-US"/>
          </a:p>
        </p:txBody>
      </p:sp>
      <p:sp>
        <p:nvSpPr>
          <p:cNvPr id="104897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AD4AF36-B9B4-4868-BBF4-5DCCB339CA01}" type="datetime1">
              <a:rPr lang="en-US" smtClean="0"/>
              <a:t>8/30/2019</a:t>
            </a:fld>
            <a:endParaRPr lang="en-US"/>
          </a:p>
        </p:txBody>
      </p:sp>
      <p:sp>
        <p:nvSpPr>
          <p:cNvPr id="10489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D338FCC-287C-4317-89DE-F9E3C3DD1484}" type="datetime1">
              <a:rPr lang="en-US" smtClean="0"/>
              <a:t>8/30/2019</a:t>
            </a:fld>
            <a:endParaRPr lang="en-US"/>
          </a:p>
        </p:txBody>
      </p:sp>
      <p:sp>
        <p:nvSpPr>
          <p:cNvPr id="10489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7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91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AF0205-8A62-4F69-96C2-FDE402963645}" type="datetime1">
              <a:rPr lang="en-US" smtClean="0"/>
              <a:t>8/4/2017</a:t>
            </a:fld>
            <a:endParaRPr lang="en-US"/>
          </a:p>
        </p:txBody>
      </p:sp>
      <p:sp>
        <p:nvSpPr>
          <p:cNvPr id="10491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3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9D3B7E-B64A-44B1-B51D-7D9335AA66F4}" type="datetime1">
              <a:rPr lang="en-US" smtClean="0"/>
              <a:t>8/4/2017</a:t>
            </a:fld>
            <a:endParaRPr lang="en-US"/>
          </a:p>
        </p:txBody>
      </p:sp>
      <p:sp>
        <p:nvSpPr>
          <p:cNvPr id="10492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8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46F059-1D9A-42C6-A85F-C3D5CF72041F}" type="datetime1">
              <a:rPr lang="en-US" smtClean="0"/>
              <a:t>8/4/2017</a:t>
            </a:fld>
            <a:endParaRPr lang="en-US"/>
          </a:p>
        </p:txBody>
      </p:sp>
      <p:sp>
        <p:nvSpPr>
          <p:cNvPr id="10491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2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2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9510898-174D-49F4-92C6-74BC55E78DF3}" type="datetime1">
              <a:rPr lang="en-US" smtClean="0"/>
              <a:t>8/4/2017</a:t>
            </a:fld>
            <a:endParaRPr lang="en-US"/>
          </a:p>
        </p:txBody>
      </p:sp>
      <p:sp>
        <p:nvSpPr>
          <p:cNvPr id="10492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1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1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1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1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2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35691D-F85A-4A75-9D01-6A237EC1D9ED}" type="datetime1">
              <a:rPr lang="en-US" smtClean="0"/>
              <a:t>8/4/2017</a:t>
            </a:fld>
            <a:endParaRPr lang="en-US"/>
          </a:p>
        </p:txBody>
      </p:sp>
      <p:sp>
        <p:nvSpPr>
          <p:cNvPr id="104922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2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AEACFF-9DC3-4CCB-957F-45D39BBC75FA}" type="datetime1">
              <a:rPr lang="en-US" smtClean="0"/>
              <a:t>8/4/2017</a:t>
            </a:fld>
            <a:endParaRPr lang="en-US"/>
          </a:p>
        </p:txBody>
      </p:sp>
      <p:sp>
        <p:nvSpPr>
          <p:cNvPr id="10492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199E429-692D-4A51-BBFD-DC13706FBC0F}" type="datetime1">
              <a:rPr lang="en-US" smtClean="0"/>
              <a:t>8/4/2017</a:t>
            </a:fld>
            <a:endParaRPr lang="en-US"/>
          </a:p>
        </p:txBody>
      </p:sp>
      <p:sp>
        <p:nvSpPr>
          <p:cNvPr id="104920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0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8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8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9BE81B4-D246-4972-BBEC-28D922912F41}" type="datetime1">
              <a:rPr lang="en-US" smtClean="0"/>
              <a:t>8/4/2017</a:t>
            </a:fld>
            <a:endParaRPr lang="en-US"/>
          </a:p>
        </p:txBody>
      </p:sp>
      <p:sp>
        <p:nvSpPr>
          <p:cNvPr id="10491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0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20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0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1ADDC93-E257-45C0-9B05-F6927F5D107E}" type="datetime1">
              <a:rPr lang="en-US" smtClean="0"/>
              <a:t>8/4/2017</a:t>
            </a:fld>
            <a:endParaRPr lang="en-US"/>
          </a:p>
        </p:txBody>
      </p:sp>
      <p:sp>
        <p:nvSpPr>
          <p:cNvPr id="104920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9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DD603E9-9DE8-454D-B51D-3112EE3BCF9E}" type="datetime1">
              <a:rPr lang="en-US" smtClean="0"/>
              <a:t>8/4/2017</a:t>
            </a:fld>
            <a:endParaRPr lang="en-US"/>
          </a:p>
        </p:txBody>
      </p:sp>
      <p:sp>
        <p:nvSpPr>
          <p:cNvPr id="10491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9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9ADA64F-10BD-477A-A017-AD3E2CF1400D}" type="datetime1">
              <a:rPr lang="en-US" smtClean="0"/>
              <a:t>8/4/2017</a:t>
            </a:fld>
            <a:endParaRPr lang="en-US"/>
          </a:p>
        </p:txBody>
      </p:sp>
      <p:sp>
        <p:nvSpPr>
          <p:cNvPr id="10492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theme" Target="../theme/theme3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8AB2C-A053-4EE1-B8A1-DFBF4405F711}" type="datetime1">
              <a:rPr lang="en-US" smtClean="0"/>
              <a:t>9/3/2016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9AA5E-0FF7-4549-BFB6-A2827C491428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1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2A9DB-22CE-466B-A016-3D105C499C0A}" type="datetime1">
              <a:rPr lang="en-US" smtClean="0"/>
              <a:t>9/3/2016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A5D7D-79F7-47BB-ABAA-CCE1741916F2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dt="0" ftr="0" hdr="0" sldNum="1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3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976BA-3B4C-4A45-8ED6-6C5907AAC5FF}" type="datetime1">
              <a:rPr lang="en-US" smtClean="0"/>
              <a:t>8/30/2019</a:t>
            </a:fld>
            <a:endParaRPr lang="en-US"/>
          </a:p>
        </p:txBody>
      </p:sp>
      <p:sp>
        <p:nvSpPr>
          <p:cNvPr id="104893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94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5A09D-CDB8-4C69-A81E-4CA7FE430D67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dt="0" ftr="0" hdr="0" sldNum="1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16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70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B18BC-F83F-4EFB-A1F8-62677185030F}" type="datetime1">
              <a:rPr lang="en-US" smtClean="0"/>
              <a:t>8/4/2017</a:t>
            </a:fld>
            <a:endParaRPr lang="en-US"/>
          </a:p>
        </p:txBody>
      </p:sp>
      <p:sp>
        <p:nvSpPr>
          <p:cNvPr id="104917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917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57FD7-7A36-42B6-8AD3-B1D783D5C585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hf dt="0" ftr="0" hdr="0" sldNum="1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6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altLang="en-GB" lang="en-US"/>
              <a:t>Common</a:t>
            </a:r>
            <a:r>
              <a:rPr altLang="en-GB" lang="en-US"/>
              <a:t> </a:t>
            </a:r>
            <a:r>
              <a:rPr altLang="en-GB" lang="en-US"/>
              <a:t>p</a:t>
            </a:r>
            <a:r>
              <a:rPr altLang="en-GB" lang="en-US"/>
              <a:t>e</a:t>
            </a:r>
            <a:r>
              <a:rPr altLang="en-GB" lang="en-US"/>
              <a:t>d</a:t>
            </a:r>
            <a:r>
              <a:rPr altLang="en-GB" lang="en-US"/>
              <a:t>i</a:t>
            </a:r>
            <a:r>
              <a:rPr altLang="en-GB" lang="en-US"/>
              <a:t>atric</a:t>
            </a:r>
            <a:r>
              <a:rPr altLang="en-GB" lang="en-US"/>
              <a:t> </a:t>
            </a:r>
            <a:r>
              <a:rPr altLang="en-GB" lang="en-US"/>
              <a:t>s</a:t>
            </a:r>
            <a:r>
              <a:rPr altLang="en-GB" lang="en-US"/>
              <a:t>u</a:t>
            </a:r>
            <a:r>
              <a:rPr altLang="en-GB" lang="en-US"/>
              <a:t>r</a:t>
            </a:r>
            <a:r>
              <a:rPr altLang="en-GB" lang="en-US"/>
              <a:t>g</a:t>
            </a:r>
            <a:r>
              <a:rPr altLang="en-GB" lang="en-US"/>
              <a:t>i</a:t>
            </a:r>
            <a:r>
              <a:rPr altLang="en-GB" lang="en-US"/>
              <a:t>c</a:t>
            </a:r>
            <a:r>
              <a:rPr altLang="en-GB" lang="en-US"/>
              <a:t>a</a:t>
            </a:r>
            <a:r>
              <a:rPr altLang="en-GB" lang="en-US"/>
              <a:t>l</a:t>
            </a:r>
            <a:r>
              <a:rPr altLang="en-GB" lang="en-US"/>
              <a:t> 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o</a:t>
            </a:r>
            <a:r>
              <a:rPr altLang="en-GB" lang="en-US"/>
              <a:t>b</a:t>
            </a:r>
            <a:r>
              <a:rPr altLang="en-GB" lang="en-US"/>
              <a:t>lems</a:t>
            </a:r>
            <a:r>
              <a:rPr altLang="en-GB" lang="en-US"/>
              <a:t> </a:t>
            </a:r>
            <a:endParaRPr altLang="zh-CN" lang="en-US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altLang="zh-CN" lang="en-US"/>
          </a:p>
          <a:p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D</a:t>
            </a:r>
            <a:r>
              <a:rPr altLang="en-GB" lang="en-US"/>
              <a:t>r</a:t>
            </a:r>
            <a:r>
              <a:rPr altLang="en-GB" lang="en-US"/>
              <a:t> </a:t>
            </a:r>
            <a:r>
              <a:rPr altLang="en-GB" lang="en-US"/>
              <a:t>K</a:t>
            </a:r>
            <a:r>
              <a:rPr altLang="en-GB" lang="en-US"/>
              <a:t>a</a:t>
            </a:r>
            <a:r>
              <a:rPr altLang="en-GB" lang="en-US"/>
              <a:t>l</a:t>
            </a:r>
            <a:r>
              <a:rPr altLang="en-GB" lang="en-US"/>
              <a:t>k</a:t>
            </a:r>
            <a:r>
              <a:rPr altLang="en-GB" lang="en-US"/>
              <a:t>i</a:t>
            </a:r>
            <a:r>
              <a:rPr altLang="en-GB" lang="en-US"/>
              <a:t>d</a:t>
            </a:r>
            <a:r>
              <a:rPr altLang="en-GB" lang="en-US"/>
              <a:t>a</a:t>
            </a:r>
            <a:r>
              <a:rPr altLang="en-GB" lang="en-US"/>
              <a:t>n</a:t>
            </a:r>
            <a:r>
              <a:rPr altLang="en-GB" lang="en-US"/>
              <a:t> </a:t>
            </a:r>
            <a:r>
              <a:rPr altLang="en-GB" lang="en-US"/>
              <a:t>A</a:t>
            </a:r>
            <a:r>
              <a:rPr altLang="en-GB" lang="en-US"/>
              <a:t>.</a:t>
            </a:r>
            <a:endParaRPr altLang="zh-CN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altLang="en-GB" dirty="0" lang="en-US" smtClean="0"/>
              <a:t>Esophageal Atresia and Tracheoesophageal Fistula</a:t>
            </a:r>
            <a:endParaRPr dirty="0" lang="en-US"/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endParaRPr dirty="0" lang="en-US"/>
          </a:p>
        </p:txBody>
      </p:sp>
      <p:pic>
        <p:nvPicPr>
          <p:cNvPr id="2097152" name="Picture 2" descr="C:\Users\YaredB\Desktop\Untitled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57199" y="1592732"/>
            <a:ext cx="8221824" cy="4564224"/>
          </a:xfrm>
          <a:prstGeom prst="rect"/>
          <a:noFill/>
        </p:spPr>
      </p:pic>
      <p:sp>
        <p:nvSpPr>
          <p:cNvPr id="1048611" name="TextBox 4"/>
          <p:cNvSpPr txBox="1"/>
          <p:nvPr/>
        </p:nvSpPr>
        <p:spPr>
          <a:xfrm>
            <a:off x="3523861" y="5791200"/>
            <a:ext cx="1429139" cy="4470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75–85%</a:t>
            </a:r>
            <a:endParaRPr dirty="0" sz="2400" lang="en-US"/>
          </a:p>
        </p:txBody>
      </p:sp>
      <p:sp>
        <p:nvSpPr>
          <p:cNvPr id="1048612" name="TextBox 5"/>
          <p:cNvSpPr txBox="1"/>
          <p:nvPr/>
        </p:nvSpPr>
        <p:spPr>
          <a:xfrm>
            <a:off x="609600" y="5791200"/>
            <a:ext cx="1371600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8 to 10%</a:t>
            </a:r>
            <a:endParaRPr dirty="0" sz="2400" lang="en-US"/>
          </a:p>
        </p:txBody>
      </p:sp>
      <p:sp>
        <p:nvSpPr>
          <p:cNvPr id="1048613" name="TextBox 6"/>
          <p:cNvSpPr txBox="1"/>
          <p:nvPr/>
        </p:nvSpPr>
        <p:spPr>
          <a:xfrm>
            <a:off x="7239000" y="5791200"/>
            <a:ext cx="990600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5–8%</a:t>
            </a:r>
            <a:endParaRPr dirty="0" sz="2400" lang="en-US"/>
          </a:p>
        </p:txBody>
      </p:sp>
      <p:sp>
        <p:nvSpPr>
          <p:cNvPr id="1048614" name="TextBox 7"/>
          <p:cNvSpPr txBox="1"/>
          <p:nvPr/>
        </p:nvSpPr>
        <p:spPr>
          <a:xfrm>
            <a:off x="5486400" y="5791200"/>
            <a:ext cx="1097124" cy="4470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1–2%</a:t>
            </a:r>
            <a:endParaRPr dirty="0" sz="2400" lang="en-US"/>
          </a:p>
        </p:txBody>
      </p:sp>
      <p:sp>
        <p:nvSpPr>
          <p:cNvPr id="1048615" name="TextBox 8"/>
          <p:cNvSpPr txBox="1"/>
          <p:nvPr/>
        </p:nvSpPr>
        <p:spPr>
          <a:xfrm>
            <a:off x="2209800" y="5791200"/>
            <a:ext cx="1752600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~1%</a:t>
            </a:r>
            <a:endParaRPr dirty="0" sz="2400" lang="en-US"/>
          </a:p>
        </p:txBody>
      </p:sp>
      <p:sp>
        <p:nvSpPr>
          <p:cNvPr id="1048616" name="TextBox 9"/>
          <p:cNvSpPr txBox="1"/>
          <p:nvPr/>
        </p:nvSpPr>
        <p:spPr>
          <a:xfrm>
            <a:off x="7086600" y="1752600"/>
            <a:ext cx="1524000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 smtClean="0"/>
              <a:t>H - type</a:t>
            </a:r>
            <a:endParaRPr dirty="0" sz="2400" lang="en-US"/>
          </a:p>
        </p:txBody>
      </p:sp>
      <p:sp>
        <p:nvSpPr>
          <p:cNvPr id="1048617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Embryology 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The esophagus and trachea share a common embryologic origin</a:t>
            </a:r>
          </a:p>
          <a:p>
            <a:r>
              <a:rPr dirty="0" lang="en-US" smtClean="0"/>
              <a:t>They typically divide into separate tubes by approximately the 36</a:t>
            </a:r>
            <a:r>
              <a:rPr baseline="30000" dirty="0" lang="en-US" smtClean="0"/>
              <a:t>th</a:t>
            </a:r>
            <a:r>
              <a:rPr dirty="0" lang="en-US" smtClean="0"/>
              <a:t> day of gestation</a:t>
            </a:r>
          </a:p>
          <a:p>
            <a:r>
              <a:rPr dirty="0" lang="en-US" smtClean="0"/>
              <a:t>Failure of this occurrence can result in the spectrum of anomalies </a:t>
            </a:r>
            <a:endParaRPr dirty="0" lang="en-US"/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Clinical Presentation</a:t>
            </a:r>
            <a:endParaRPr dirty="0" lang="en-US"/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>
          <a:xfrm>
            <a:off x="314131" y="1098549"/>
            <a:ext cx="8686800" cy="5257800"/>
          </a:xfrm>
        </p:spPr>
        <p:txBody>
          <a:bodyPr>
            <a:normAutofit/>
          </a:bodyPr>
          <a:p>
            <a:pPr indent="0" marL="0">
              <a:buNone/>
            </a:pPr>
          </a:p>
          <a:p>
            <a:pPr lvl="1"/>
            <a:r>
              <a:rPr dirty="0" lang="en-US"/>
              <a:t>E</a:t>
            </a:r>
            <a:r>
              <a:rPr dirty="0" lang="en-US" smtClean="0"/>
              <a:t>xcessive drooling, followed by choking or coughing immediately after feeding</a:t>
            </a:r>
          </a:p>
          <a:p>
            <a:pPr lvl="1"/>
            <a:r>
              <a:rPr dirty="0" lang="en-US" smtClean="0"/>
              <a:t>As a result, aspiration occurs through the fistula tract</a:t>
            </a:r>
          </a:p>
          <a:p>
            <a:pPr lvl="1"/>
            <a:r>
              <a:rPr dirty="0" lang="en-US" smtClean="0"/>
              <a:t>As the neonate coughs and cries, air is transmitted through the fistula into the stomach, resulting in abdominal distention</a:t>
            </a:r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Diagnosis </a:t>
            </a:r>
            <a:endParaRPr dirty="0" lang="en-US"/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>
            <a:normAutofit/>
          </a:bodyPr>
          <a:p>
            <a:r>
              <a:rPr dirty="0" lang="en-US" smtClean="0"/>
              <a:t>confirmed by the inability to pass an </a:t>
            </a:r>
            <a:r>
              <a:rPr dirty="0" lang="en-US" err="1" smtClean="0"/>
              <a:t>orogastric</a:t>
            </a:r>
            <a:r>
              <a:rPr dirty="0" lang="en-US" smtClean="0"/>
              <a:t> tube into the stomach</a:t>
            </a:r>
          </a:p>
          <a:p>
            <a:pPr lvl="1"/>
            <a:r>
              <a:rPr dirty="0" lang="en-US" smtClean="0"/>
              <a:t>The tube will coil in the upper pouch, which provides further diagnostic certainty</a:t>
            </a:r>
          </a:p>
          <a:p>
            <a:pPr lvl="1"/>
            <a:r>
              <a:rPr dirty="0" lang="en-US" smtClean="0"/>
              <a:t>The presence of a TEF can be demonstrated clinically by finding air in the GIT (Percussion or plain abdominal film)</a:t>
            </a:r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Management</a:t>
            </a:r>
            <a:endParaRPr dirty="0" lang="en-US"/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p>
            <a:r>
              <a:rPr dirty="0" lang="en-US" smtClean="0"/>
              <a:t>place the neonate in an infant warmer with the head elevated at least 30 degrees</a:t>
            </a:r>
          </a:p>
          <a:p>
            <a:r>
              <a:rPr dirty="0" lang="en-US" smtClean="0"/>
              <a:t>A sump catheter is placed in the upper pouch on continuous suction</a:t>
            </a:r>
          </a:p>
          <a:p>
            <a:r>
              <a:rPr dirty="0" lang="en-US" smtClean="0"/>
              <a:t>Intravenous antibiotic therapy is initiated</a:t>
            </a:r>
          </a:p>
          <a:p>
            <a:r>
              <a:rPr dirty="0" lang="en-US" smtClean="0"/>
              <a:t>The timing of repair is influenced by the stability of the patient</a:t>
            </a:r>
          </a:p>
          <a:p>
            <a:pPr lvl="1"/>
            <a:r>
              <a:rPr dirty="0" lang="en-US" smtClean="0"/>
              <a:t>Definitive repair of the EA-TEF is rarely a surgical emergency</a:t>
            </a:r>
          </a:p>
          <a:p>
            <a:pPr lvl="1"/>
            <a:r>
              <a:rPr dirty="0" lang="en-US" smtClean="0"/>
              <a:t>If the child is </a:t>
            </a:r>
            <a:r>
              <a:rPr dirty="0" lang="en-US" err="1" smtClean="0"/>
              <a:t>hemodynamically</a:t>
            </a:r>
            <a:r>
              <a:rPr dirty="0" lang="en-US" smtClean="0"/>
              <a:t> stable and is oxygenating well, definitive repair may be performed within 1 to 2 days after birth</a:t>
            </a:r>
            <a:endParaRPr dirty="0" lang="en-US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789AA5E-0FF7-4549-BFB6-A2827C49142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sz="4400" lang="en-US" smtClean="0"/>
              <a:t>Hypertrophic Pyloric </a:t>
            </a:r>
            <a:r>
              <a:rPr dirty="0" sz="4400" lang="en-US" err="1" smtClean="0"/>
              <a:t>Stenosis</a:t>
            </a:r>
            <a:endParaRPr dirty="0" lang="en-US"/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altLang="en-GB" dirty="0" lang="en-US" smtClean="0"/>
              <a:t>C</a:t>
            </a:r>
            <a:r>
              <a:rPr dirty="0" lang="en-US" smtClean="0"/>
              <a:t>lassically presents in a first-born male between 3 and 6 weeks of age</a:t>
            </a:r>
            <a:endParaRPr altLang="en-US" lang="zh-CN"/>
          </a:p>
          <a:p>
            <a:pPr lvl="1"/>
            <a:r>
              <a:rPr dirty="0" sz="3200" lang="en-US" smtClean="0"/>
              <a:t>present with </a:t>
            </a:r>
            <a:r>
              <a:rPr b="1" dirty="0" sz="3200" lang="en-US" smtClean="0"/>
              <a:t>projectile</a:t>
            </a:r>
            <a:r>
              <a:rPr altLang="en-GB" b="1" dirty="0" sz="3200" lang="en-US" smtClean="0"/>
              <a:t> </a:t>
            </a:r>
            <a:r>
              <a:rPr b="1" dirty="0" sz="3200" lang="en-US" err="1" smtClean="0"/>
              <a:t>nonbilious</a:t>
            </a:r>
            <a:r>
              <a:rPr b="1" dirty="0" sz="3200" lang="en-US" smtClean="0"/>
              <a:t> vomiting </a:t>
            </a:r>
            <a:endParaRPr altLang="en-US" lang="zh-CN"/>
          </a:p>
          <a:p>
            <a:pPr lvl="1"/>
            <a:r>
              <a:rPr dirty="0" sz="2800" lang="en-US" smtClean="0"/>
              <a:t>physical examination</a:t>
            </a:r>
            <a:r>
              <a:rPr altLang="en-GB" dirty="0" sz="2800" lang="en-US" smtClean="0"/>
              <a:t>-</a:t>
            </a:r>
            <a:r>
              <a:rPr altLang="en-GB" dirty="0" sz="2800" lang="en-US" smtClean="0"/>
              <a:t> </a:t>
            </a:r>
            <a:r>
              <a:rPr dirty="0" sz="2800" lang="en-US" smtClean="0"/>
              <a:t>pal</a:t>
            </a:r>
            <a:r>
              <a:rPr altLang="en-GB" dirty="0" sz="2800" lang="en-US" smtClean="0"/>
              <a:t>p</a:t>
            </a:r>
            <a:r>
              <a:rPr altLang="en-GB" dirty="0" sz="2800" lang="en-US" smtClean="0"/>
              <a:t>a</a:t>
            </a:r>
            <a:r>
              <a:rPr altLang="en-GB" dirty="0" sz="2800" lang="en-US" smtClean="0"/>
              <a:t>t</a:t>
            </a:r>
            <a:r>
              <a:rPr altLang="en-GB" dirty="0" sz="2800" lang="en-US" smtClean="0"/>
              <a:t>e</a:t>
            </a:r>
            <a:r>
              <a:rPr dirty="0" sz="2800" lang="en-US" smtClean="0"/>
              <a:t> </a:t>
            </a:r>
            <a:r>
              <a:rPr b="1" dirty="0" sz="2800" lang="en-US" smtClean="0"/>
              <a:t>"olive"</a:t>
            </a:r>
            <a:r>
              <a:rPr altLang="en-GB" b="1" dirty="0" sz="2800" lang="en-US" smtClean="0"/>
              <a:t> </a:t>
            </a:r>
            <a:r>
              <a:rPr altLang="en-GB" b="1" dirty="0" sz="2800" lang="en-US" smtClean="0"/>
              <a:t>s</a:t>
            </a:r>
            <a:r>
              <a:rPr altLang="en-GB" b="1" dirty="0" sz="2800" lang="en-US" smtClean="0"/>
              <a:t>h</a:t>
            </a:r>
            <a:r>
              <a:rPr altLang="en-GB" b="1" dirty="0" sz="2800" lang="en-US" smtClean="0"/>
              <a:t>a</a:t>
            </a:r>
            <a:r>
              <a:rPr altLang="en-GB" b="1" dirty="0" sz="2800" lang="en-US" smtClean="0"/>
              <a:t>p</a:t>
            </a:r>
            <a:r>
              <a:rPr altLang="en-GB" b="1" dirty="0" sz="2800" lang="en-US" smtClean="0"/>
              <a:t>e</a:t>
            </a:r>
            <a:r>
              <a:rPr altLang="en-GB" b="1" dirty="0" sz="2800" lang="en-US" smtClean="0"/>
              <a:t>d</a:t>
            </a:r>
            <a:r>
              <a:rPr altLang="en-GB" b="1" dirty="0" sz="2800" lang="en-US" smtClean="0"/>
              <a:t> </a:t>
            </a:r>
            <a:r>
              <a:rPr altLang="en-GB" b="1" dirty="0" sz="2800" lang="en-US" smtClean="0"/>
              <a:t>m</a:t>
            </a:r>
            <a:r>
              <a:rPr altLang="en-GB" b="1" dirty="0" sz="2800" lang="en-US" smtClean="0"/>
              <a:t>a</a:t>
            </a:r>
            <a:r>
              <a:rPr altLang="en-GB" b="1" dirty="0" sz="2800" lang="en-US" smtClean="0"/>
              <a:t>s</a:t>
            </a:r>
            <a:r>
              <a:rPr altLang="en-GB" b="1" dirty="0" sz="2800" lang="en-US" smtClean="0"/>
              <a:t>s</a:t>
            </a:r>
            <a:r>
              <a:rPr b="1" dirty="0" sz="2800" lang="en-US" smtClean="0"/>
              <a:t> </a:t>
            </a:r>
            <a:r>
              <a:rPr dirty="0" sz="2800" lang="en-US" smtClean="0"/>
              <a:t>in the right upper quadrant, and the presence of visible gastric waves on the abdomen</a:t>
            </a:r>
            <a:endParaRPr altLang="en-US" lang="zh-CN"/>
          </a:p>
          <a:p>
            <a:pPr lvl="1"/>
            <a:r>
              <a:rPr altLang="en-GB" dirty="0" sz="2800" lang="en-US" smtClean="0"/>
              <a:t>develop a hypochloremic, hypokalemic metabolic alkalosis</a:t>
            </a:r>
            <a:endParaRPr altLang="en-US" lang="zh-CN"/>
          </a:p>
          <a:p/>
          <a:p>
            <a:pPr>
              <a:buNone/>
            </a:pPr>
            <a:endParaRPr dirty="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Investigation </a:t>
            </a:r>
            <a:endParaRPr dirty="0"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p>
            <a:r>
              <a:rPr dirty="0" lang="en-US" smtClean="0"/>
              <a:t>Ultrasound can diagnose the condition accurately in 95% of </a:t>
            </a:r>
            <a:r>
              <a:rPr dirty="0" lang="en-US" smtClean="0"/>
              <a:t>patients</a:t>
            </a:r>
          </a:p>
          <a:p>
            <a:r>
              <a:rPr dirty="0" lang="en-US" smtClean="0"/>
              <a:t>Criteria </a:t>
            </a:r>
            <a:r>
              <a:rPr dirty="0" lang="en-US" smtClean="0"/>
              <a:t>for ultrasound diagnosis include a channel length of over </a:t>
            </a:r>
            <a:r>
              <a:rPr b="1" dirty="0" lang="en-US" smtClean="0"/>
              <a:t>16 mm </a:t>
            </a:r>
            <a:r>
              <a:rPr dirty="0" lang="en-US" smtClean="0"/>
              <a:t>and pyloric thickness over </a:t>
            </a:r>
            <a:r>
              <a:rPr b="1" dirty="0" lang="en-US" smtClean="0"/>
              <a:t>4 mm </a:t>
            </a:r>
            <a:endParaRPr b="1" dirty="0"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228599" y="915969"/>
            <a:ext cx="8686800" cy="4534678"/>
          </a:xfrm>
        </p:spPr>
        <p:txBody>
          <a:bodyPr>
            <a:normAutofit/>
          </a:bodyPr>
          <a:p>
            <a:pPr indent="0" marL="0">
              <a:buNone/>
            </a:pPr>
          </a:p>
          <a:p>
            <a:r>
              <a:rPr dirty="0" lang="en-US" smtClean="0"/>
              <a:t>Fluid resuscitation with correction of electrolyte abnormalities and metabolic alkalosis is essential before induction of general anesthesia for surgery</a:t>
            </a:r>
          </a:p>
          <a:p>
            <a:r>
              <a:rPr altLang="en-GB" dirty="0" lang="en-US" smtClean="0"/>
              <a:t>After resuscitation, a Fredet-Ramstedt pyloromyotomy is performed</a:t>
            </a:r>
            <a:endParaRPr altLang="en-US" lang="zh-CN"/>
          </a:p>
          <a:p>
            <a:pPr lvl="1"/>
          </a:p>
          <a:p/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dirty="0" lang="en-US" smtClean="0"/>
              <a:t>Intestinal obstruction </a:t>
            </a:r>
            <a:r>
              <a:rPr dirty="0" lang="en-US" smtClean="0"/>
              <a:t> </a:t>
            </a:r>
            <a:endParaRPr dirty="0" lang="en-US"/>
          </a:p>
        </p:txBody>
      </p:sp>
      <p:sp>
        <p:nvSpPr>
          <p:cNvPr id="104867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>
            <a:normAutofit fontScale="89286" lnSpcReduction="20000"/>
          </a:bodyPr>
          <a:p>
            <a:r>
              <a:rPr dirty="0" lang="en-US" smtClean="0"/>
              <a:t>The cardinal symptom of intestinal obstruction in the newborn is bilious emesis</a:t>
            </a:r>
          </a:p>
          <a:p>
            <a:r>
              <a:rPr dirty="0" lang="en-US" smtClean="0"/>
              <a:t>Intestinal obstruction can be proximal or distal to the ligament of </a:t>
            </a:r>
            <a:r>
              <a:rPr dirty="0" lang="en-US" err="1" smtClean="0"/>
              <a:t>Treitz</a:t>
            </a:r>
            <a:endParaRPr dirty="0" lang="en-US" smtClean="0"/>
          </a:p>
          <a:p>
            <a:pPr lvl="1"/>
            <a:r>
              <a:rPr dirty="0" lang="en-US" smtClean="0"/>
              <a:t>Proximal obstruction presents as bilious vomiting, with minimal abdominal distention</a:t>
            </a:r>
          </a:p>
          <a:p>
            <a:pPr lvl="1"/>
            <a:r>
              <a:rPr dirty="0" lang="en-US" smtClean="0"/>
              <a:t>Distal obstruction presents with abdominal distention and bilious emesis</a:t>
            </a:r>
          </a:p>
          <a:p>
            <a:r>
              <a:rPr dirty="0" lang="en-US" smtClean="0"/>
              <a:t>In all cases of intestinal obstruction, it is vital to obtain abdominal films in the supine and upright (lateral </a:t>
            </a:r>
            <a:r>
              <a:rPr dirty="0" lang="en-US" err="1" smtClean="0"/>
              <a:t>decubitus</a:t>
            </a:r>
            <a:r>
              <a:rPr dirty="0" lang="en-US" smtClean="0"/>
              <a:t>) views</a:t>
            </a:r>
          </a:p>
          <a:p>
            <a:pPr lvl="1"/>
            <a:r>
              <a:rPr dirty="0" lang="en-US" smtClean="0"/>
              <a:t>This is the only way to assess the presence of air-fluid levels or free air, and to characterize the obstruction as proximal or distal</a:t>
            </a:r>
            <a:endParaRPr dirty="0" lang="en-US"/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dirty="0" lang="en-US" smtClean="0"/>
              <a:t>Duodenal Obstruction</a:t>
            </a:r>
            <a:endParaRPr dirty="0" lang="en-US"/>
          </a:p>
        </p:txBody>
      </p:sp>
      <p:sp>
        <p:nvSpPr>
          <p:cNvPr id="10486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In 85% of infants with duodenal obstruction, the entry of the bile duct is proximal to the level of obstruction, such that vomiting is bilious</a:t>
            </a:r>
          </a:p>
          <a:p>
            <a:r>
              <a:rPr dirty="0" lang="en-US" smtClean="0"/>
              <a:t>Abdominal distention is typically not present because of the proximal level of obstruction</a:t>
            </a:r>
            <a:endParaRPr dirty="0" lang="en-US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US" smtClean="0"/>
              <a:t>Duodenal obstruction is easily diagnosed on prenatal ultrasound, which demonstrates the fluid-filled stomach and proximal duodenum as two discrete cystic structures in the upper abdomen</a:t>
            </a:r>
          </a:p>
          <a:p>
            <a:pPr lvl="1"/>
          </a:p>
          <a:p>
            <a:r>
              <a:rPr dirty="0" lang="en-US" smtClean="0"/>
              <a:t>The classic finding on abdominal radiography is the "double bubble" sign, which represents the dilated stomach and duodenum</a:t>
            </a:r>
          </a:p>
          <a:p>
            <a:pPr lvl="1"/>
            <a:endParaRPr dirty="0" lang="en-US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“Double bubble" sign</a:t>
            </a:r>
            <a:endParaRPr dirty="0" lang="en-US"/>
          </a:p>
        </p:txBody>
      </p:sp>
      <p:sp>
        <p:nvSpPr>
          <p:cNvPr id="104868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53" name="Picture 2" descr="C:\Users\YaredB\Desktop\Untitled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24000" y="1676400"/>
            <a:ext cx="6553200" cy="4741840"/>
          </a:xfrm>
          <a:prstGeom prst="rect"/>
          <a:noFill/>
        </p:spPr>
      </p:pic>
      <p:sp>
        <p:nvSpPr>
          <p:cNvPr id="10486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 </a:t>
            </a:r>
            <a:endParaRPr dirty="0" lang="en-US"/>
          </a:p>
        </p:txBody>
      </p:sp>
      <p:sp>
        <p:nvSpPr>
          <p:cNvPr id="104869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p>
            <a:r>
              <a:rPr dirty="0" lang="en-US" smtClean="0"/>
              <a:t>An </a:t>
            </a:r>
            <a:r>
              <a:rPr dirty="0" lang="en-US" err="1" smtClean="0"/>
              <a:t>orogastric</a:t>
            </a:r>
            <a:r>
              <a:rPr dirty="0" lang="en-US" smtClean="0"/>
              <a:t> tube is inserted to decompress the stomach and duodenum and the infant is given IV fluids to maintain adequate urine output</a:t>
            </a:r>
          </a:p>
          <a:p>
            <a:r>
              <a:rPr dirty="0" lang="en-US" smtClean="0"/>
              <a:t>The infant should be evaluated thoroughly for other associated anomalies</a:t>
            </a:r>
          </a:p>
          <a:p>
            <a:pPr lvl="1"/>
            <a:r>
              <a:rPr dirty="0" lang="en-US" smtClean="0"/>
              <a:t>Approximately </a:t>
            </a:r>
            <a:r>
              <a:rPr b="1" dirty="0" lang="en-US" smtClean="0"/>
              <a:t>one-third</a:t>
            </a:r>
            <a:r>
              <a:rPr dirty="0" lang="en-US" smtClean="0"/>
              <a:t> of newborns with duodenal </a:t>
            </a:r>
            <a:r>
              <a:rPr dirty="0" lang="en-US" err="1" smtClean="0"/>
              <a:t>atresia</a:t>
            </a:r>
            <a:r>
              <a:rPr dirty="0" lang="en-US" smtClean="0"/>
              <a:t> have associated </a:t>
            </a:r>
            <a:r>
              <a:rPr b="1" dirty="0" lang="en-US" smtClean="0"/>
              <a:t>Down syndrome</a:t>
            </a:r>
            <a:endParaRPr b="1" dirty="0" lang="en-US"/>
          </a:p>
        </p:txBody>
      </p:sp>
      <p:sp>
        <p:nvSpPr>
          <p:cNvPr id="104869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57199" y="984084"/>
            <a:ext cx="8686800" cy="5257800"/>
          </a:xfrm>
        </p:spPr>
        <p:txBody>
          <a:bodyPr>
            <a:normAutofit/>
          </a:bodyPr>
          <a:p/>
          <a:p>
            <a:r>
              <a:rPr dirty="0" lang="en-US" smtClean="0"/>
              <a:t>The surgical treatment of choice for duodenal obstruction due to duodenal </a:t>
            </a:r>
            <a:r>
              <a:rPr dirty="0" lang="en-US" err="1" smtClean="0"/>
              <a:t>stenosis</a:t>
            </a:r>
            <a:r>
              <a:rPr dirty="0" lang="en-US" smtClean="0"/>
              <a:t> or </a:t>
            </a:r>
            <a:r>
              <a:rPr dirty="0" lang="en-US" err="1" smtClean="0"/>
              <a:t>atresia</a:t>
            </a:r>
            <a:r>
              <a:rPr dirty="0" lang="en-US" smtClean="0"/>
              <a:t> or annular pancreas is a </a:t>
            </a:r>
            <a:r>
              <a:rPr b="1" dirty="0" lang="en-US" err="1" smtClean="0"/>
              <a:t>duodenoduodenostomy</a:t>
            </a:r>
            <a:endParaRPr b="1" dirty="0" lang="en-US" smtClean="0"/>
          </a:p>
          <a:p>
            <a:pPr lvl="1"/>
            <a:r>
              <a:rPr dirty="0" lang="en-US" smtClean="0"/>
              <a:t>An annular pancreas is never divided</a:t>
            </a:r>
          </a:p>
          <a:p>
            <a:r>
              <a:rPr dirty="0" lang="en-US" smtClean="0"/>
              <a:t>Treatment of duodenal web includes vertical </a:t>
            </a:r>
            <a:r>
              <a:rPr dirty="0" lang="en-US" err="1" smtClean="0"/>
              <a:t>duodenotomy</a:t>
            </a:r>
            <a:r>
              <a:rPr dirty="0" lang="en-US" smtClean="0"/>
              <a:t>, excision of the web, </a:t>
            </a:r>
            <a:r>
              <a:rPr dirty="0" lang="en-US" err="1" smtClean="0"/>
              <a:t>oversewing</a:t>
            </a:r>
            <a:r>
              <a:rPr dirty="0" lang="en-US" smtClean="0"/>
              <a:t> of the mucosa, and closing the </a:t>
            </a:r>
            <a:r>
              <a:rPr dirty="0" lang="en-US" err="1" smtClean="0"/>
              <a:t>duodenotomy</a:t>
            </a:r>
            <a:r>
              <a:rPr dirty="0" lang="en-US" smtClean="0"/>
              <a:t> horizontally</a:t>
            </a:r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dirty="0" lang="en-US" smtClean="0"/>
              <a:t>Hirschsprung's Disease</a:t>
            </a:r>
            <a:endParaRPr dirty="0" lang="en-US"/>
          </a:p>
        </p:txBody>
      </p:sp>
      <p:sp>
        <p:nvSpPr>
          <p:cNvPr id="104872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altLang="en-GB" lang="en-US"/>
              <a:t>caused by a malformation in the pelvic parasympathetic system which results in the absence of ganglion cells in Auerbach's plexus of a segment of distal colon.</a:t>
            </a:r>
            <a:endParaRPr altLang="en-US" lang="zh-CN"/>
          </a:p>
          <a:p>
            <a:pPr>
              <a:buFont typeface="Wingdings" charset="2"/>
              <a:buChar char="l"/>
            </a:pPr>
            <a:r>
              <a:rPr altLang="en-GB" lang="en-US"/>
              <a:t>In the newborn period, the most common symptoms are abdominal distention, failure to pass meconium, and bilious emesis</a:t>
            </a:r>
            <a:endParaRPr altLang="en-US" lang="zh-CN"/>
          </a:p>
          <a:p>
            <a:pPr>
              <a:buFont typeface="Wingdings" charset="2"/>
              <a:buChar char="l"/>
            </a:pPr>
            <a:r>
              <a:rPr altLang="en-GB" lang="en-US"/>
              <a:t>Any infant who does not pass meconium beyond 48 hours of life must be investigated for the presence of Hirschsprung's disease</a:t>
            </a:r>
            <a:endParaRPr altLang="en-US" lang="zh-CN"/>
          </a:p>
        </p:txBody>
      </p:sp>
      <p:sp>
        <p:nvSpPr>
          <p:cNvPr id="10487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8733" name="Content Placeholder 2"/>
          <p:cNvSpPr>
            <a:spLocks noGrp="1"/>
          </p:cNvSpPr>
          <p:nvPr>
            <p:ph idx="1"/>
          </p:nvPr>
        </p:nvSpPr>
        <p:spPr>
          <a:xfrm>
            <a:off x="457199" y="1166018"/>
            <a:ext cx="8229600" cy="4525963"/>
          </a:xfrm>
        </p:spPr>
        <p:txBody>
          <a:bodyPr>
            <a:normAutofit/>
          </a:bodyPr>
          <a:p>
            <a:pPr lvl="1"/>
            <a:endParaRPr dirty="0" lang="en-US" smtClean="0"/>
          </a:p>
          <a:p>
            <a:r>
              <a:rPr dirty="0" lang="en-US" smtClean="0"/>
              <a:t>On rectal examination, forceful propulsion of foul-smelling liquid feces is typically observed, </a:t>
            </a:r>
            <a:endParaRPr altLang="en-US" lang="zh-CN"/>
          </a:p>
          <a:p>
            <a:r>
              <a:rPr altLang="en-GB" dirty="0" lang="en-US" smtClean="0"/>
              <a:t>20% of cases, the diagnosis of Hirschsprung's disease is made beyond the newborn period</a:t>
            </a:r>
            <a:endParaRPr altLang="en-US" lang="zh-CN"/>
          </a:p>
          <a:p>
            <a:r>
              <a:rPr altLang="en-GB" lang="en-US"/>
              <a:t>These children have severe constipation, </a:t>
            </a:r>
            <a:endParaRPr altLang="en-US" lang="zh-CN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Diagnosis </a:t>
            </a:r>
            <a:endParaRPr dirty="0" lang="en-US"/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dirty="0" lang="en-US" smtClean="0"/>
              <a:t>The definitive diagnosis of </a:t>
            </a:r>
            <a:r>
              <a:rPr dirty="0" lang="en-US" err="1" smtClean="0"/>
              <a:t>Hirschsprung's</a:t>
            </a:r>
            <a:r>
              <a:rPr dirty="0" lang="en-US" smtClean="0"/>
              <a:t> disease is made by rectal biopsy</a:t>
            </a:r>
          </a:p>
          <a:p>
            <a:r>
              <a:rPr altLang="en-GB" dirty="0" lang="en-US" smtClean="0"/>
              <a:t>Barium enema </a:t>
            </a:r>
            <a:r>
              <a:rPr altLang="en-GB" dirty="0" lang="en-US" smtClean="0"/>
              <a:t>s</a:t>
            </a:r>
            <a:r>
              <a:rPr altLang="en-GB" dirty="0" lang="en-US" smtClean="0"/>
              <a:t>h</a:t>
            </a:r>
            <a:r>
              <a:rPr altLang="en-GB" dirty="0" lang="en-US" smtClean="0"/>
              <a:t>o</a:t>
            </a:r>
            <a:r>
              <a:rPr altLang="en-GB" dirty="0" lang="en-US" smtClean="0"/>
              <a:t>w</a:t>
            </a:r>
            <a:r>
              <a:rPr altLang="en-GB" dirty="0" lang="en-US" smtClean="0"/>
              <a:t> </a:t>
            </a:r>
            <a:r>
              <a:rPr altLang="en-GB" dirty="0" lang="en-US" smtClean="0"/>
              <a:t>location of the transition zone between the dilated ganglionic colon and the distal constricted aganglionic rectal segment</a:t>
            </a:r>
            <a:endParaRPr altLang="en-US" lang="zh-CN"/>
          </a:p>
          <a:p>
            <a:pPr lvl="1"/>
            <a:endParaRPr dirty="0" lang="en-US"/>
          </a:p>
        </p:txBody>
      </p:sp>
      <p:sp>
        <p:nvSpPr>
          <p:cNvPr id="10487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 </a:t>
            </a:r>
            <a:endParaRPr dirty="0" lang="en-US"/>
          </a:p>
        </p:txBody>
      </p:sp>
      <p:sp>
        <p:nvSpPr>
          <p:cNvPr id="1048748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4876800"/>
          </a:xfrm>
        </p:spPr>
        <p:txBody>
          <a:bodyPr>
            <a:normAutofit fontScale="96429"/>
          </a:bodyPr>
          <a:p>
            <a:r>
              <a:rPr dirty="0" lang="en-US" smtClean="0"/>
              <a:t>The diagnosis of </a:t>
            </a:r>
            <a:r>
              <a:rPr dirty="0" lang="en-US" err="1" smtClean="0"/>
              <a:t>Hirschsprung's</a:t>
            </a:r>
            <a:r>
              <a:rPr dirty="0" lang="en-US" smtClean="0"/>
              <a:t> disease requires surgery in all cases</a:t>
            </a:r>
          </a:p>
          <a:p>
            <a:r>
              <a:rPr dirty="0" lang="en-US" smtClean="0"/>
              <a:t>The classic surgical approach consists of a multiple stage procedure</a:t>
            </a:r>
          </a:p>
          <a:p>
            <a:pPr lvl="1"/>
            <a:r>
              <a:rPr dirty="0" lang="en-US" smtClean="0"/>
              <a:t>colostomy in the newborn period, followed by a definitive pull-through operation after the child weighed over 10 kg</a:t>
            </a:r>
          </a:p>
          <a:p>
            <a:r>
              <a:rPr dirty="0" lang="en-US" smtClean="0"/>
              <a:t>Recently it has been shown that a primary pull-through procedure can be performed safely, even in the newborn period</a:t>
            </a:r>
          </a:p>
          <a:p>
            <a:pPr lvl="1"/>
            <a:endParaRPr dirty="0" lang="en-US" smtClean="0"/>
          </a:p>
          <a:p>
            <a:pPr lvl="1"/>
            <a:endParaRPr dirty="0" lang="en-US"/>
          </a:p>
        </p:txBody>
      </p:sp>
      <p:sp>
        <p:nvSpPr>
          <p:cNvPr id="1048749" name="TextBox 3"/>
          <p:cNvSpPr txBox="1"/>
          <p:nvPr/>
        </p:nvSpPr>
        <p:spPr>
          <a:xfrm>
            <a:off x="533400" y="6172200"/>
            <a:ext cx="8610600" cy="802640"/>
          </a:xfrm>
          <a:prstGeom prst="rect"/>
          <a:noFill/>
          <a:ln>
            <a:solidFill>
              <a:schemeClr val="accent1"/>
            </a:solidFill>
          </a:ln>
        </p:spPr>
        <p:txBody>
          <a:bodyPr rtlCol="0" wrap="square">
            <a:spAutoFit/>
          </a:bodyPr>
          <a:p>
            <a:pPr>
              <a:buFont typeface="Wingdings" pitchFamily="2" charset="2"/>
              <a:buChar char="ü"/>
            </a:pPr>
            <a:r>
              <a:rPr dirty="0" sz="2400" lang="en-US" smtClean="0"/>
              <a:t>There is no upper age limit for performing a primary pull-through</a:t>
            </a:r>
            <a:endParaRPr dirty="0" sz="2400" lang="en-US"/>
          </a:p>
        </p:txBody>
      </p:sp>
      <p:sp>
        <p:nvSpPr>
          <p:cNvPr id="10487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sz="4400" lang="en-US" err="1" smtClean="0"/>
              <a:t>Intussusception</a:t>
            </a:r>
            <a:r>
              <a:rPr dirty="0" lang="en-US" smtClean="0"/>
              <a:t> </a:t>
            </a:r>
            <a:endParaRPr dirty="0" lang="en-US"/>
          </a:p>
        </p:txBody>
      </p:sp>
      <p:sp>
        <p:nvSpPr>
          <p:cNvPr id="10487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US" smtClean="0"/>
              <a:t>It is the leading cause of intestinal obstruction in the young child</a:t>
            </a:r>
          </a:p>
          <a:p>
            <a:r>
              <a:rPr dirty="0" lang="en-US" smtClean="0"/>
              <a:t>It refers to the condition whereby a segment of intestine becomes drawn into the lumen of the more proximal bowel</a:t>
            </a:r>
          </a:p>
          <a:p>
            <a:r>
              <a:rPr altLang="en-GB" dirty="0" lang="en-US" smtClean="0"/>
              <a:t>The cause</a:t>
            </a:r>
            <a:r>
              <a:rPr altLang="en-GB" dirty="0" lang="en-US" smtClean="0"/>
              <a:t> </a:t>
            </a:r>
            <a:r>
              <a:rPr altLang="en-GB" dirty="0" lang="en-US" smtClean="0"/>
              <a:t>i</a:t>
            </a:r>
            <a:r>
              <a:rPr altLang="en-GB" dirty="0" lang="en-US" smtClean="0"/>
              <a:t>s</a:t>
            </a:r>
            <a:r>
              <a:rPr altLang="en-GB" dirty="0" lang="en-US" smtClean="0"/>
              <a:t> hypertrophy of the Peyer's patches in the terminal ileum from an antecedent viral infection (usually a GI viral illness) acts as the starting point</a:t>
            </a:r>
            <a:endParaRPr altLang="en-US" lang="zh-CN"/>
          </a:p>
          <a:p>
            <a:r>
              <a:rPr altLang="en-GB" dirty="0" lang="en-US" smtClean="0"/>
              <a:t>Peristaltic action of the intestine then causes the bowel distal to this point to invaginate into itself</a:t>
            </a:r>
            <a:endParaRPr altLang="en-US" lang="zh-CN"/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876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76800"/>
          </a:xfrm>
        </p:spPr>
        <p:txBody>
          <a:bodyPr>
            <a:normAutofit/>
          </a:bodyPr>
          <a:p>
            <a:r>
              <a:rPr dirty="0" lang="en-US" smtClean="0"/>
              <a:t>Idiopathic </a:t>
            </a:r>
            <a:r>
              <a:rPr dirty="0" lang="en-US" err="1" smtClean="0"/>
              <a:t>intussusception</a:t>
            </a:r>
            <a:r>
              <a:rPr dirty="0" lang="en-US" smtClean="0"/>
              <a:t> occurs in children between the ages of approximately 6 and 24 months</a:t>
            </a:r>
          </a:p>
          <a:p>
            <a:r>
              <a:rPr dirty="0" lang="en-US" smtClean="0"/>
              <a:t>Beyond this age group, one should consider the possibility that a pathologic starting point may be present</a:t>
            </a:r>
          </a:p>
          <a:p>
            <a:pPr lvl="1"/>
            <a:r>
              <a:rPr dirty="0" lang="en-US" smtClean="0"/>
              <a:t>These include </a:t>
            </a:r>
            <a:r>
              <a:rPr b="1" dirty="0" lang="en-US" smtClean="0"/>
              <a:t>polyps</a:t>
            </a:r>
            <a:r>
              <a:rPr dirty="0" lang="en-US" smtClean="0"/>
              <a:t>, malignant tumors such as </a:t>
            </a:r>
            <a:r>
              <a:rPr b="1" dirty="0" lang="en-US" smtClean="0"/>
              <a:t>lymphoma</a:t>
            </a:r>
            <a:r>
              <a:rPr dirty="0" lang="en-US" smtClean="0"/>
              <a:t>, enteric duplication </a:t>
            </a:r>
            <a:r>
              <a:rPr b="1" dirty="0" lang="en-US" smtClean="0"/>
              <a:t>cysts</a:t>
            </a:r>
            <a:r>
              <a:rPr dirty="0" lang="en-US" smtClean="0"/>
              <a:t>, or </a:t>
            </a:r>
            <a:r>
              <a:rPr b="1" dirty="0" lang="en-US" err="1" smtClean="0"/>
              <a:t>Meckel's</a:t>
            </a:r>
            <a:r>
              <a:rPr b="1" dirty="0" lang="en-US" smtClean="0"/>
              <a:t> </a:t>
            </a:r>
            <a:r>
              <a:rPr b="1" dirty="0" lang="en-US" err="1" smtClean="0"/>
              <a:t>diverticulum</a:t>
            </a:r>
            <a:endParaRPr b="1" dirty="0" lang="en-US" smtClean="0"/>
          </a:p>
          <a:p>
            <a:pPr lvl="1"/>
            <a:endParaRPr dirty="0" lang="en-US"/>
          </a:p>
        </p:txBody>
      </p:sp>
      <p:sp>
        <p:nvSpPr>
          <p:cNvPr id="10487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Clinical manifestation </a:t>
            </a:r>
            <a:endParaRPr dirty="0" lang="en-US"/>
          </a:p>
        </p:txBody>
      </p:sp>
      <p:sp>
        <p:nvSpPr>
          <p:cNvPr id="104876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US" smtClean="0"/>
              <a:t>Typically, the infant develops paroxysms of </a:t>
            </a:r>
            <a:r>
              <a:rPr dirty="0" lang="en-US" err="1" smtClean="0"/>
              <a:t>crampy</a:t>
            </a:r>
            <a:r>
              <a:rPr dirty="0" lang="en-US" smtClean="0"/>
              <a:t> abdominal pain and intermittent vomiting</a:t>
            </a:r>
          </a:p>
          <a:p>
            <a:pPr lvl="1"/>
            <a:r>
              <a:rPr dirty="0" lang="en-US" smtClean="0"/>
              <a:t>Between attacks, the infant may act normally, but as symptoms progress, increasing lethargy develops</a:t>
            </a:r>
          </a:p>
          <a:p>
            <a:r>
              <a:rPr dirty="0" lang="en-US" smtClean="0"/>
              <a:t>Bloody mucus ("currant-jelly" stool) may be passed per rectum</a:t>
            </a:r>
          </a:p>
          <a:p>
            <a:endParaRPr dirty="0" lang="en-US"/>
          </a:p>
        </p:txBody>
      </p:sp>
      <p:sp>
        <p:nvSpPr>
          <p:cNvPr id="10487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 </a:t>
            </a:r>
            <a:endParaRPr dirty="0" lang="en-US"/>
          </a:p>
        </p:txBody>
      </p:sp>
      <p:sp>
        <p:nvSpPr>
          <p:cNvPr id="104876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On physical examination, an elongated mass is detected in the right upper quadrant or </a:t>
            </a:r>
            <a:r>
              <a:rPr dirty="0" lang="en-US" err="1" smtClean="0"/>
              <a:t>epigastrium</a:t>
            </a:r>
            <a:r>
              <a:rPr dirty="0" lang="en-US" smtClean="0"/>
              <a:t>, with an absence of bowel in the right lower quadrant (</a:t>
            </a:r>
            <a:r>
              <a:rPr b="1" dirty="0" lang="en-US" smtClean="0"/>
              <a:t>Dance's sign</a:t>
            </a:r>
            <a:r>
              <a:rPr dirty="0" lang="en-US" smtClean="0"/>
              <a:t>)</a:t>
            </a:r>
          </a:p>
          <a:p>
            <a:pPr lvl="1"/>
            <a:r>
              <a:rPr dirty="0" lang="en-US" smtClean="0"/>
              <a:t>The mass may be seen on plain abdominal x-ray, but is more easily demonstrated on air or contrast enema</a:t>
            </a:r>
            <a:endParaRPr dirty="0" lang="en-US"/>
          </a:p>
        </p:txBody>
      </p:sp>
      <p:sp>
        <p:nvSpPr>
          <p:cNvPr id="10487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 </a:t>
            </a:r>
            <a:endParaRPr dirty="0" lang="en-US"/>
          </a:p>
        </p:txBody>
      </p:sp>
      <p:sp>
        <p:nvSpPr>
          <p:cNvPr id="104877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648200"/>
          </a:xfrm>
        </p:spPr>
        <p:txBody>
          <a:bodyPr>
            <a:normAutofit fontScale="100000" lnSpcReduction="20000"/>
          </a:bodyPr>
          <a:p>
            <a:r>
              <a:rPr dirty="0" lang="en-US" smtClean="0"/>
              <a:t>Following resuscitation and administration of intravenous antibiotics, the child is assessed for suitability to proceed with radiographic versus surgical reduction</a:t>
            </a:r>
          </a:p>
          <a:p>
            <a:pPr lvl="1"/>
            <a:r>
              <a:rPr dirty="0" lang="en-US" smtClean="0"/>
              <a:t>In the absence of peritonitis, the child should undergo radiographic reduction (pneumatic or hydrostatic)</a:t>
            </a:r>
          </a:p>
          <a:p>
            <a:pPr lvl="2"/>
            <a:r>
              <a:rPr dirty="0" lang="en-US" smtClean="0"/>
              <a:t>The overall success rate varies based on the experience of the center, and is typically between 60 and 90%</a:t>
            </a:r>
          </a:p>
          <a:p>
            <a:pPr lvl="1"/>
            <a:r>
              <a:rPr dirty="0" lang="en-US" smtClean="0"/>
              <a:t>If peritonitis is present, or if the child appears systemically ill, urgent </a:t>
            </a:r>
            <a:r>
              <a:rPr dirty="0" lang="en-US" err="1" smtClean="0"/>
              <a:t>laparotomy</a:t>
            </a:r>
            <a:r>
              <a:rPr dirty="0" lang="en-US" smtClean="0"/>
              <a:t> is indicated</a:t>
            </a:r>
            <a:endParaRPr dirty="0" lang="en-US"/>
          </a:p>
        </p:txBody>
      </p:sp>
      <p:sp>
        <p:nvSpPr>
          <p:cNvPr id="10487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877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Surgery </a:t>
            </a:r>
          </a:p>
          <a:p>
            <a:pPr lvl="1"/>
            <a:r>
              <a:rPr dirty="0" lang="en-US" smtClean="0"/>
              <a:t>Open </a:t>
            </a:r>
          </a:p>
          <a:p>
            <a:pPr lvl="2"/>
            <a:r>
              <a:rPr dirty="0" lang="en-US" smtClean="0"/>
              <a:t>RLQ incision</a:t>
            </a:r>
          </a:p>
          <a:p>
            <a:pPr lvl="3"/>
            <a:r>
              <a:rPr dirty="0" lang="en-US" smtClean="0"/>
              <a:t>Delivering intussuscepted mass</a:t>
            </a:r>
          </a:p>
          <a:p>
            <a:pPr lvl="3"/>
            <a:r>
              <a:rPr dirty="0" lang="en-US" smtClean="0"/>
              <a:t>Reduction or resection depending on the viability of the bowel</a:t>
            </a:r>
          </a:p>
          <a:p>
            <a:pPr lvl="3"/>
            <a:r>
              <a:rPr dirty="0" lang="en-US" smtClean="0"/>
              <a:t>Appendectomy is done</a:t>
            </a:r>
          </a:p>
          <a:p>
            <a:pPr lvl="4"/>
            <a:r>
              <a:rPr dirty="0" lang="en-US" smtClean="0"/>
              <a:t>The blood supply to the appendix often is compromised</a:t>
            </a:r>
          </a:p>
          <a:p>
            <a:pPr lvl="1"/>
            <a:r>
              <a:rPr dirty="0" lang="en-US" err="1" smtClean="0"/>
              <a:t>Laparascopy</a:t>
            </a:r>
            <a:endParaRPr dirty="0" lang="en-US" smtClean="0"/>
          </a:p>
          <a:p>
            <a:pPr lvl="1"/>
            <a:endParaRPr dirty="0" lang="en-US"/>
          </a:p>
        </p:txBody>
      </p:sp>
      <p:sp>
        <p:nvSpPr>
          <p:cNvPr id="104877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1A5D7D-79F7-47BB-ABAA-CCE1741916F2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err="1" smtClean="0"/>
              <a:t>Omphalocele</a:t>
            </a:r>
            <a:endParaRPr dirty="0" lang="en-US"/>
          </a:p>
        </p:txBody>
      </p:sp>
      <p:sp>
        <p:nvSpPr>
          <p:cNvPr id="10489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26</a:t>
            </a:fld>
            <a:endParaRPr lang="en-US"/>
          </a:p>
        </p:txBody>
      </p:sp>
      <p:pic>
        <p:nvPicPr>
          <p:cNvPr id="2097155" name="Picture 2" descr="C:\Users\YaredB\Desktop\Untitled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124200" y="1676400"/>
            <a:ext cx="2981325" cy="4486275"/>
          </a:xfrm>
          <a:prstGeom prst="rect"/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0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8571" lnSpcReduction="20000"/>
          </a:bodyPr>
          <a:p>
            <a:r>
              <a:rPr dirty="0" lang="en-US" smtClean="0"/>
              <a:t>It refers to a congenital defect of the abdominal wall in which the bowel and solid viscera are covered by peritoneum and amniotic membrane</a:t>
            </a:r>
          </a:p>
          <a:p>
            <a:r>
              <a:rPr dirty="0" lang="en-US" smtClean="0"/>
              <a:t>The umbilical cord inserts into the sac</a:t>
            </a:r>
          </a:p>
          <a:p>
            <a:r>
              <a:rPr dirty="0" lang="en-US" smtClean="0"/>
              <a:t>The abdominal wall defect can measure 4 cm or more in diameter</a:t>
            </a:r>
          </a:p>
          <a:p>
            <a:r>
              <a:rPr dirty="0" lang="en-US" smtClean="0"/>
              <a:t>There is a 60 to 70% incidence of associated anomalies, especially cardiac (20 to 40% of cases) and chromosomal abnormalities</a:t>
            </a:r>
          </a:p>
          <a:p>
            <a:pPr lvl="1"/>
            <a:r>
              <a:rPr dirty="0" lang="en-US" smtClean="0"/>
              <a:t>Chromosomal anomalies are more common in children with smaller defects</a:t>
            </a:r>
          </a:p>
          <a:p>
            <a:r>
              <a:rPr dirty="0" lang="en-US" err="1" smtClean="0"/>
              <a:t>Omphalocele</a:t>
            </a:r>
            <a:r>
              <a:rPr dirty="0" lang="en-US" smtClean="0"/>
              <a:t> is associated with prematurity (10 to 50% of cases) and IUGR(20%)</a:t>
            </a:r>
            <a:endParaRPr dirty="0" lang="en-US"/>
          </a:p>
        </p:txBody>
      </p:sp>
      <p:sp>
        <p:nvSpPr>
          <p:cNvPr id="10490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Management </a:t>
            </a:r>
            <a:endParaRPr dirty="0" lang="en-US"/>
          </a:p>
        </p:txBody>
      </p:sp>
      <p:sp>
        <p:nvSpPr>
          <p:cNvPr id="1049015" name="Content Placeholder 2"/>
          <p:cNvSpPr>
            <a:spLocks noGrp="1"/>
          </p:cNvSpPr>
          <p:nvPr>
            <p:ph idx="1"/>
          </p:nvPr>
        </p:nvSpPr>
        <p:spPr>
          <a:xfrm>
            <a:off x="457200" y="900111"/>
            <a:ext cx="8534400" cy="5638800"/>
          </a:xfrm>
        </p:spPr>
        <p:txBody>
          <a:bodyPr>
            <a:normAutofit fontScale="85714" lnSpcReduction="20000"/>
          </a:bodyPr>
          <a:p/>
          <a:p>
            <a:r>
              <a:rPr dirty="0" lang="en-US" smtClean="0"/>
              <a:t>The </a:t>
            </a:r>
            <a:r>
              <a:rPr dirty="0" lang="en-US" err="1" smtClean="0"/>
              <a:t>omphalocele</a:t>
            </a:r>
            <a:r>
              <a:rPr dirty="0" lang="en-US" smtClean="0"/>
              <a:t> should be covered with saline-soaked gauze and the trunk should be wrapped circumferentially</a:t>
            </a:r>
          </a:p>
          <a:p>
            <a:r>
              <a:rPr dirty="0" lang="en-US" smtClean="0"/>
              <a:t>Whenever possible, a primary repair of the </a:t>
            </a:r>
            <a:r>
              <a:rPr dirty="0" lang="en-US" err="1" smtClean="0"/>
              <a:t>omphalocele</a:t>
            </a:r>
            <a:r>
              <a:rPr dirty="0" lang="en-US" smtClean="0"/>
              <a:t> should be undertaken</a:t>
            </a:r>
          </a:p>
          <a:p>
            <a:pPr lvl="1"/>
            <a:r>
              <a:rPr dirty="0" lang="en-US" smtClean="0"/>
              <a:t>This involves resection of the </a:t>
            </a:r>
            <a:r>
              <a:rPr dirty="0" lang="en-US" err="1" smtClean="0"/>
              <a:t>omphalocele</a:t>
            </a:r>
            <a:r>
              <a:rPr dirty="0" lang="en-US" smtClean="0"/>
              <a:t> membrane and closure of the fascia</a:t>
            </a:r>
          </a:p>
          <a:p>
            <a:r>
              <a:rPr dirty="0" lang="en-US" smtClean="0"/>
              <a:t>In cases where repair could be difficult, like in a case of a  giant </a:t>
            </a:r>
            <a:r>
              <a:rPr dirty="0" lang="en-US" err="1" smtClean="0"/>
              <a:t>omphalocele</a:t>
            </a:r>
            <a:r>
              <a:rPr dirty="0" lang="en-US" smtClean="0"/>
              <a:t> (defect &gt;7 cm in diameter) or associated severe congenital anomalies, a </a:t>
            </a:r>
            <a:r>
              <a:rPr dirty="0" lang="en-US" err="1" smtClean="0"/>
              <a:t>nonoperative</a:t>
            </a:r>
            <a:r>
              <a:rPr dirty="0" lang="en-US" smtClean="0"/>
              <a:t> approach can be used</a:t>
            </a:r>
          </a:p>
          <a:p>
            <a:pPr lvl="1"/>
            <a:r>
              <a:rPr dirty="0" lang="en-US" smtClean="0"/>
              <a:t>The </a:t>
            </a:r>
            <a:r>
              <a:rPr dirty="0" lang="en-US" err="1" smtClean="0"/>
              <a:t>omphalocele</a:t>
            </a:r>
            <a:r>
              <a:rPr dirty="0" lang="en-US" smtClean="0"/>
              <a:t> sac can be treated with desiccating substances such as </a:t>
            </a:r>
            <a:r>
              <a:rPr dirty="0" lang="en-US" err="1" smtClean="0"/>
              <a:t>povidone</a:t>
            </a:r>
            <a:r>
              <a:rPr dirty="0" lang="en-US" smtClean="0"/>
              <a:t>-iodine</a:t>
            </a:r>
          </a:p>
          <a:p>
            <a:pPr lvl="1"/>
            <a:r>
              <a:rPr dirty="0" lang="en-US" smtClean="0"/>
              <a:t>It typically takes 2 to 3 months before </a:t>
            </a:r>
            <a:r>
              <a:rPr dirty="0" lang="en-US" err="1" smtClean="0"/>
              <a:t>reepithelialization</a:t>
            </a:r>
            <a:r>
              <a:rPr dirty="0" lang="en-US" smtClean="0"/>
              <a:t> occurs</a:t>
            </a:r>
            <a:endParaRPr dirty="0" lang="en-US"/>
          </a:p>
        </p:txBody>
      </p:sp>
      <p:sp>
        <p:nvSpPr>
          <p:cNvPr id="10490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2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err="1" smtClean="0"/>
              <a:t>Gastroschisis</a:t>
            </a:r>
            <a:endParaRPr dirty="0" lang="en-US"/>
          </a:p>
        </p:txBody>
      </p:sp>
      <p:sp>
        <p:nvSpPr>
          <p:cNvPr id="10490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29</a:t>
            </a:fld>
            <a:endParaRPr lang="en-US"/>
          </a:p>
        </p:txBody>
      </p:sp>
      <p:pic>
        <p:nvPicPr>
          <p:cNvPr id="2097156" name="Picture 2" descr="C:\Users\YaredB\Desktop\Untitled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24000" y="1981200"/>
            <a:ext cx="5945187" cy="3733800"/>
          </a:xfrm>
          <a:prstGeom prst="rect"/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03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89286" lnSpcReduction="20000"/>
          </a:bodyPr>
          <a:p>
            <a:r>
              <a:rPr dirty="0" lang="en-US" smtClean="0"/>
              <a:t>It represents a congenital defect characterized by a defect in the anterior abdominal wall through which the intestinal contents freely protrude</a:t>
            </a:r>
          </a:p>
          <a:p>
            <a:r>
              <a:rPr dirty="0" lang="en-US" smtClean="0"/>
              <a:t>The intestine may be normal in appearance or </a:t>
            </a:r>
            <a:r>
              <a:rPr dirty="0" lang="en-US"/>
              <a:t>m</a:t>
            </a:r>
            <a:r>
              <a:rPr dirty="0" lang="en-US" smtClean="0"/>
              <a:t>ore commonly, it could be thick, edematous, discolored, and covered with </a:t>
            </a:r>
            <a:r>
              <a:rPr dirty="0" lang="en-US" err="1" smtClean="0"/>
              <a:t>exudate</a:t>
            </a:r>
            <a:endParaRPr dirty="0" lang="en-US" smtClean="0"/>
          </a:p>
          <a:p>
            <a:r>
              <a:rPr dirty="0" lang="en-US" smtClean="0"/>
              <a:t>Unlike the </a:t>
            </a:r>
            <a:r>
              <a:rPr dirty="0" lang="en-US" err="1" smtClean="0"/>
              <a:t>omphalocele</a:t>
            </a:r>
            <a:r>
              <a:rPr dirty="0" lang="en-US" smtClean="0"/>
              <a:t>: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here is no overlying sac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size of the defect is much smaller (&lt;4 cm)</a:t>
            </a:r>
          </a:p>
          <a:p>
            <a:pPr lvl="1"/>
            <a:r>
              <a:rPr dirty="0" lang="en-US" smtClean="0"/>
              <a:t>The abdominal wall defect is located at the junction of the umbilicus and normal skin, and is almost always to the right of the umbilicus</a:t>
            </a:r>
          </a:p>
          <a:p>
            <a:pPr lvl="1"/>
            <a:r>
              <a:rPr dirty="0" lang="en-US"/>
              <a:t>A</a:t>
            </a:r>
            <a:r>
              <a:rPr dirty="0" lang="en-US" smtClean="0"/>
              <a:t>ssociated anomalies seen with </a:t>
            </a:r>
            <a:r>
              <a:rPr dirty="0" lang="en-US" err="1" smtClean="0"/>
              <a:t>gastroschisis</a:t>
            </a:r>
            <a:r>
              <a:rPr dirty="0" lang="en-US" smtClean="0"/>
              <a:t> consist mostly of intestinal </a:t>
            </a:r>
            <a:r>
              <a:rPr dirty="0" lang="en-US" err="1" smtClean="0"/>
              <a:t>atresia</a:t>
            </a:r>
            <a:endParaRPr dirty="0" lang="en-US"/>
          </a:p>
        </p:txBody>
      </p:sp>
      <p:sp>
        <p:nvSpPr>
          <p:cNvPr id="10490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Management  </a:t>
            </a:r>
            <a:endParaRPr dirty="0" lang="en-US"/>
          </a:p>
        </p:txBody>
      </p:sp>
      <p:sp>
        <p:nvSpPr>
          <p:cNvPr id="104904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05400"/>
          </a:xfrm>
        </p:spPr>
        <p:txBody>
          <a:bodyPr>
            <a:normAutofit fontScale="100000" lnSpcReduction="20000"/>
          </a:bodyPr>
          <a:p>
            <a:r>
              <a:rPr dirty="0" lang="en-US" smtClean="0"/>
              <a:t>All infants born with </a:t>
            </a:r>
            <a:r>
              <a:rPr dirty="0" lang="en-US" err="1" smtClean="0"/>
              <a:t>gastroschisis</a:t>
            </a:r>
            <a:r>
              <a:rPr dirty="0" lang="en-US" smtClean="0"/>
              <a:t> require urgent surgical treatment</a:t>
            </a:r>
          </a:p>
          <a:p>
            <a:pPr lvl="1"/>
            <a:r>
              <a:rPr dirty="0" lang="en-US" smtClean="0"/>
              <a:t>In many instances, the intestine can be returned to the abdominal cavity, and a primary surgical closure of the abdominal wall is performed</a:t>
            </a:r>
          </a:p>
          <a:p>
            <a:pPr lvl="1"/>
            <a:r>
              <a:rPr dirty="0" lang="en-US" smtClean="0"/>
              <a:t>In infants whose intestine has become thickened and edematous, it may be impossible to reduce the bowel into the peritoneal cavity in the immediate postnatal period</a:t>
            </a:r>
          </a:p>
          <a:p>
            <a:pPr lvl="2"/>
            <a:r>
              <a:rPr dirty="0" lang="en-US" smtClean="0"/>
              <a:t> plastic spring-loaded silo can be placed onto the bowel and secured beneath the fascia</a:t>
            </a:r>
          </a:p>
          <a:p>
            <a:pPr lvl="2"/>
            <a:r>
              <a:rPr dirty="0" lang="en-US" smtClean="0"/>
              <a:t>Surgical closure can usually be accomplished within approximately 1 week</a:t>
            </a:r>
            <a:endParaRPr dirty="0" lang="en-US"/>
          </a:p>
        </p:txBody>
      </p:sp>
      <p:sp>
        <p:nvSpPr>
          <p:cNvPr id="10490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sz="4400" lang="en-US" smtClean="0"/>
              <a:t>Umbilical Hernia</a:t>
            </a:r>
            <a:endParaRPr dirty="0" lang="en-US"/>
          </a:p>
        </p:txBody>
      </p:sp>
      <p:sp>
        <p:nvSpPr>
          <p:cNvPr id="104906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US" smtClean="0"/>
              <a:t>Failure of the umbilical ring to close results in a central defect in the </a:t>
            </a:r>
            <a:r>
              <a:rPr dirty="0" lang="en-US" err="1" smtClean="0"/>
              <a:t>linea</a:t>
            </a:r>
            <a:r>
              <a:rPr dirty="0" lang="en-US" smtClean="0"/>
              <a:t> alba</a:t>
            </a:r>
          </a:p>
          <a:p>
            <a:r>
              <a:rPr dirty="0" lang="en-US" smtClean="0"/>
              <a:t>Hernias less than 1 cm in size at the time of birth usually will close spontaneously by 4 years of age</a:t>
            </a:r>
          </a:p>
          <a:p>
            <a:r>
              <a:rPr dirty="0" lang="en-US" smtClean="0"/>
              <a:t>Sometimes the hernia is large enough that the protrusion is disfiguring and disturbing to both the child and the family</a:t>
            </a:r>
          </a:p>
          <a:p>
            <a:pPr lvl="1"/>
            <a:r>
              <a:rPr dirty="0" lang="en-US" smtClean="0"/>
              <a:t>In such circumstances early repair may be advisable </a:t>
            </a:r>
          </a:p>
          <a:p>
            <a:endParaRPr dirty="0" lang="en-US"/>
          </a:p>
        </p:txBody>
      </p:sp>
      <p:sp>
        <p:nvSpPr>
          <p:cNvPr id="10490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Management </a:t>
            </a:r>
            <a:endParaRPr dirty="0" lang="en-US"/>
          </a:p>
        </p:txBody>
      </p:sp>
      <p:sp>
        <p:nvSpPr>
          <p:cNvPr id="10490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dirty="0" lang="en-US" smtClean="0"/>
              <a:t>Incarcerated hernia </a:t>
            </a:r>
          </a:p>
          <a:p>
            <a:pPr lvl="1"/>
            <a:r>
              <a:rPr dirty="0" lang="en-US" smtClean="0"/>
              <a:t>Immediate exploration and repair of the hernia</a:t>
            </a:r>
          </a:p>
          <a:p>
            <a:r>
              <a:rPr dirty="0" lang="en-US" smtClean="0"/>
              <a:t>If the child is asymptomatic, the treatment is governed by: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size of the defect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age of the patient, and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concern that the child and family have regarding the cosmetic appearance of the abdomen</a:t>
            </a:r>
            <a:endParaRPr dirty="0" lang="en-US"/>
          </a:p>
        </p:txBody>
      </p:sp>
      <p:sp>
        <p:nvSpPr>
          <p:cNvPr id="104907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08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429"/>
          </a:bodyPr>
          <a:p>
            <a:r>
              <a:rPr dirty="0" lang="en-US" smtClean="0"/>
              <a:t>When the defect is small and spontaneous closure is likely, most surgeons will delay surgical correction until 4 or 5 years of age</a:t>
            </a:r>
          </a:p>
          <a:p>
            <a:pPr lvl="1"/>
            <a:r>
              <a:rPr dirty="0" lang="en-US" smtClean="0"/>
              <a:t>If closure does not occur by this time, it is reasonable to repair the hernia</a:t>
            </a:r>
          </a:p>
          <a:p>
            <a:r>
              <a:rPr dirty="0" lang="en-US" smtClean="0"/>
              <a:t>If a younger child has an extremely large hernia, or if the family or child is bothered by the cosmetic appearance, then repair is indicated</a:t>
            </a:r>
            <a:endParaRPr dirty="0" lang="en-US"/>
          </a:p>
        </p:txBody>
      </p:sp>
      <p:sp>
        <p:nvSpPr>
          <p:cNvPr id="104908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1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p>
            <a:r>
              <a:rPr altLang="en-GB" dirty="0" lang="en-US" smtClean="0"/>
              <a:t>Inguinal hernia </a:t>
            </a:r>
            <a:endParaRPr dirty="0" lang="en-US"/>
          </a:p>
        </p:txBody>
      </p:sp>
      <p:sp>
        <p:nvSpPr>
          <p:cNvPr id="104910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724400"/>
          </a:xfrm>
        </p:spPr>
        <p:txBody>
          <a:bodyPr>
            <a:normAutofit/>
          </a:bodyPr>
          <a:p>
            <a:r>
              <a:rPr dirty="0" lang="en-US" smtClean="0"/>
              <a:t>It results from a failure of closure of the </a:t>
            </a:r>
            <a:r>
              <a:rPr dirty="0" lang="en-US" err="1" smtClean="0"/>
              <a:t>processus</a:t>
            </a:r>
            <a:r>
              <a:rPr dirty="0" lang="en-US" smtClean="0"/>
              <a:t> </a:t>
            </a:r>
            <a:r>
              <a:rPr dirty="0" lang="en-US" err="1" smtClean="0"/>
              <a:t>vaginalis</a:t>
            </a:r>
            <a:r>
              <a:rPr altLang="en-GB" dirty="0" lang="en-US" err="1" smtClean="0"/>
              <a:t>,</a:t>
            </a:r>
            <a:r>
              <a:rPr dirty="0" lang="en-US" smtClean="0"/>
              <a:t> communication persists between the peritoneal cavity and the groin, resulting in a hernia</a:t>
            </a:r>
            <a:endParaRPr altLang="en-US" lang="zh-CN"/>
          </a:p>
          <a:p>
            <a:r>
              <a:rPr altLang="en-GB" dirty="0" lang="en-US" smtClean="0"/>
              <a:t>Inguinal hernias occur more commonly in males than females (10:1), and are more common on the right side than the left</a:t>
            </a:r>
            <a:endParaRPr altLang="en-US" lang="zh-CN"/>
          </a:p>
          <a:p>
            <a:r>
              <a:rPr altLang="en-GB" dirty="0" lang="en-US" smtClean="0"/>
              <a:t>Patients most commonly present with a groin bulge that is noticed by the parents as they change the diaper</a:t>
            </a:r>
            <a:endParaRPr altLang="en-US" lang="zh-CN"/>
          </a:p>
        </p:txBody>
      </p:sp>
      <p:sp>
        <p:nvSpPr>
          <p:cNvPr id="1049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 </a:t>
            </a:r>
            <a:endParaRPr dirty="0" lang="en-US"/>
          </a:p>
        </p:txBody>
      </p:sp>
      <p:sp>
        <p:nvSpPr>
          <p:cNvPr id="1049118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82000" cy="4953000"/>
          </a:xfrm>
        </p:spPr>
        <p:txBody>
          <a:bodyPr>
            <a:normAutofit/>
          </a:bodyPr>
          <a:p>
            <a:r>
              <a:rPr dirty="0" lang="en-US" smtClean="0"/>
              <a:t>Usually an incarcerated hernia can be reduced</a:t>
            </a:r>
          </a:p>
          <a:p>
            <a:pPr lvl="1"/>
            <a:r>
              <a:rPr dirty="0" lang="en-US" smtClean="0"/>
              <a:t>Following reduction the child may be admitted for observation, and </a:t>
            </a:r>
            <a:r>
              <a:rPr dirty="0" lang="en-US" err="1" smtClean="0"/>
              <a:t>herniorrhaphy</a:t>
            </a:r>
            <a:r>
              <a:rPr dirty="0" lang="en-US" smtClean="0"/>
              <a:t> is performed within the next 24 hours to prevent recurrent incarceration</a:t>
            </a:r>
          </a:p>
          <a:p>
            <a:r>
              <a:rPr dirty="0" lang="en-US" smtClean="0"/>
              <a:t>If the hernia cannot be reduced, or if evidence of strangulation is present, emergency surgery is necessary</a:t>
            </a:r>
          </a:p>
          <a:p>
            <a:pPr lvl="1"/>
            <a:r>
              <a:rPr dirty="0" lang="en-US" smtClean="0"/>
              <a:t>This may require a </a:t>
            </a:r>
            <a:r>
              <a:rPr dirty="0" lang="en-US" err="1" smtClean="0"/>
              <a:t>laparotomy</a:t>
            </a:r>
            <a:r>
              <a:rPr dirty="0" lang="en-US" smtClean="0"/>
              <a:t> and bowel resection</a:t>
            </a:r>
          </a:p>
        </p:txBody>
      </p:sp>
      <p:sp>
        <p:nvSpPr>
          <p:cNvPr id="10491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 </a:t>
            </a:r>
            <a:endParaRPr dirty="0" lang="en-US"/>
          </a:p>
        </p:txBody>
      </p:sp>
      <p:sp>
        <p:nvSpPr>
          <p:cNvPr id="104912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When the diagnosis of inguinal hernia is made in an otherwise normal child, operative repair (</a:t>
            </a:r>
            <a:r>
              <a:rPr dirty="0" lang="en-US" err="1" smtClean="0"/>
              <a:t>Herniorrhaphy</a:t>
            </a:r>
            <a:r>
              <a:rPr dirty="0" lang="en-US" smtClean="0"/>
              <a:t>) should be planned </a:t>
            </a:r>
          </a:p>
          <a:p>
            <a:r>
              <a:rPr dirty="0" lang="en-US" smtClean="0"/>
              <a:t>Spontaneous resolution does not occur and therefore a </a:t>
            </a:r>
            <a:r>
              <a:rPr dirty="0" lang="en-US" err="1" smtClean="0"/>
              <a:t>nonoperative</a:t>
            </a:r>
            <a:r>
              <a:rPr dirty="0" lang="en-US" smtClean="0"/>
              <a:t> approach can never be justified</a:t>
            </a:r>
            <a:endParaRPr dirty="0" lang="en-US"/>
          </a:p>
        </p:txBody>
      </p:sp>
      <p:sp>
        <p:nvSpPr>
          <p:cNvPr id="104912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 </a:t>
            </a:r>
            <a:r>
              <a:rPr dirty="0" sz="4400" lang="en-US" err="1" smtClean="0"/>
              <a:t>Undescended</a:t>
            </a:r>
            <a:r>
              <a:rPr dirty="0" sz="4400" lang="en-US" smtClean="0"/>
              <a:t> Testis</a:t>
            </a:r>
            <a:endParaRPr dirty="0" lang="en-US"/>
          </a:p>
        </p:txBody>
      </p:sp>
      <p:sp>
        <p:nvSpPr>
          <p:cNvPr id="104914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US" smtClean="0"/>
              <a:t>The term </a:t>
            </a:r>
            <a:r>
              <a:rPr dirty="0" i="1" lang="en-US" err="1" smtClean="0"/>
              <a:t>undescended</a:t>
            </a:r>
            <a:r>
              <a:rPr dirty="0" i="1" lang="en-US" smtClean="0"/>
              <a:t> testicle</a:t>
            </a:r>
            <a:r>
              <a:rPr dirty="0" lang="en-US" smtClean="0"/>
              <a:t> (</a:t>
            </a:r>
            <a:r>
              <a:rPr dirty="0" lang="en-US" err="1" smtClean="0"/>
              <a:t>cryptorchidism</a:t>
            </a:r>
            <a:r>
              <a:rPr dirty="0" lang="en-US" smtClean="0"/>
              <a:t>) refers to the interruption of the normal descent of the testis into the scrotum</a:t>
            </a:r>
          </a:p>
          <a:p>
            <a:r>
              <a:rPr dirty="0" lang="en-US" smtClean="0"/>
              <a:t>The testicle may reside in the </a:t>
            </a:r>
            <a:r>
              <a:rPr dirty="0" lang="en-US" err="1" smtClean="0"/>
              <a:t>retroperineum</a:t>
            </a:r>
            <a:r>
              <a:rPr dirty="0" lang="en-US" smtClean="0"/>
              <a:t>, in the internal inguinal ring, in the inguinal canal, or even at the external ring</a:t>
            </a:r>
          </a:p>
          <a:p>
            <a:r>
              <a:rPr dirty="0" lang="en-US" smtClean="0"/>
              <a:t>The incidence of </a:t>
            </a:r>
            <a:r>
              <a:rPr dirty="0" lang="en-US" err="1" smtClean="0"/>
              <a:t>undescended</a:t>
            </a:r>
            <a:r>
              <a:rPr dirty="0" lang="en-US" smtClean="0"/>
              <a:t> testes is approximately 30% in preterm infants, and 1 to 3% at term</a:t>
            </a:r>
          </a:p>
          <a:p>
            <a:endParaRPr dirty="0" lang="en-US"/>
          </a:p>
        </p:txBody>
      </p:sp>
      <p:sp>
        <p:nvSpPr>
          <p:cNvPr id="10491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Clinical presentation </a:t>
            </a:r>
            <a:endParaRPr dirty="0" lang="en-US"/>
          </a:p>
        </p:txBody>
      </p:sp>
      <p:sp>
        <p:nvSpPr>
          <p:cNvPr id="104915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>
            <a:normAutofit fontScale="89286" lnSpcReduction="20000"/>
          </a:bodyPr>
          <a:p>
            <a:r>
              <a:rPr dirty="0" lang="en-US" smtClean="0"/>
              <a:t>For diagnosis, the child should be examined in the supine position, where visual inspection may reveal a </a:t>
            </a:r>
            <a:r>
              <a:rPr dirty="0" lang="en-US" err="1" smtClean="0"/>
              <a:t>hypoplastic</a:t>
            </a:r>
            <a:r>
              <a:rPr dirty="0" lang="en-US" smtClean="0"/>
              <a:t> or poorly </a:t>
            </a:r>
            <a:r>
              <a:rPr dirty="0" lang="en-US" err="1" smtClean="0"/>
              <a:t>rugated</a:t>
            </a:r>
            <a:r>
              <a:rPr dirty="0" lang="en-US" smtClean="0"/>
              <a:t> scrotum</a:t>
            </a:r>
          </a:p>
          <a:p>
            <a:pPr lvl="1"/>
            <a:r>
              <a:rPr dirty="0" lang="en-US" smtClean="0"/>
              <a:t>A unilateral </a:t>
            </a:r>
            <a:r>
              <a:rPr dirty="0" lang="en-US" err="1" smtClean="0"/>
              <a:t>undescended</a:t>
            </a:r>
            <a:r>
              <a:rPr dirty="0" lang="en-US" smtClean="0"/>
              <a:t> testicle usually can be palpated in the inguinal canal or in the upper scrotum</a:t>
            </a:r>
          </a:p>
          <a:p>
            <a:pPr lvl="1"/>
            <a:r>
              <a:rPr dirty="0" lang="en-US" smtClean="0"/>
              <a:t>Occasionally, the testicle will be difficult or impossible to palpate, indicating either an abdominal testicle or congenital absence of the gonad</a:t>
            </a:r>
          </a:p>
          <a:p>
            <a:pPr lvl="1"/>
            <a:endParaRPr dirty="0" lang="en-US" smtClean="0"/>
          </a:p>
          <a:p>
            <a:r>
              <a:rPr dirty="0" lang="en-US" smtClean="0"/>
              <a:t>If the testicle is not palpable in the supine position, the child should be examined with his legs crossed while seated</a:t>
            </a:r>
          </a:p>
          <a:p>
            <a:pPr lvl="1"/>
            <a:r>
              <a:rPr dirty="0" lang="en-US" smtClean="0"/>
              <a:t>This maneuver diminishes the </a:t>
            </a:r>
            <a:r>
              <a:rPr dirty="0" lang="en-US" err="1" smtClean="0"/>
              <a:t>cremasteric</a:t>
            </a:r>
            <a:r>
              <a:rPr dirty="0" lang="en-US" smtClean="0"/>
              <a:t> reflex and facilitates identification of the location of the testicle</a:t>
            </a:r>
          </a:p>
        </p:txBody>
      </p:sp>
      <p:sp>
        <p:nvSpPr>
          <p:cNvPr id="10491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Treatment </a:t>
            </a:r>
            <a:endParaRPr dirty="0" lang="en-US"/>
          </a:p>
        </p:txBody>
      </p:sp>
      <p:sp>
        <p:nvSpPr>
          <p:cNvPr id="1049166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5257800"/>
          </a:xfrm>
        </p:spPr>
        <p:txBody>
          <a:bodyPr>
            <a:normAutofit fontScale="100000" lnSpcReduction="20000"/>
          </a:bodyPr>
          <a:p>
            <a:r>
              <a:rPr dirty="0" lang="en-US" err="1" smtClean="0"/>
              <a:t>Orchidopexy</a:t>
            </a:r>
            <a:r>
              <a:rPr dirty="0" lang="en-US" smtClean="0"/>
              <a:t> </a:t>
            </a:r>
            <a:endParaRPr/>
          </a:p>
          <a:p>
            <a:r>
              <a:rPr dirty="0" lang="en-US" smtClean="0"/>
              <a:t>Reasons for </a:t>
            </a:r>
            <a:r>
              <a:rPr dirty="0" lang="en-US" err="1" smtClean="0"/>
              <a:t>orchidopexy</a:t>
            </a:r>
            <a:endParaRPr dirty="0" lang="en-US" smtClean="0"/>
          </a:p>
          <a:p>
            <a:pPr lvl="1"/>
            <a:r>
              <a:rPr dirty="0" lang="en-US" smtClean="0"/>
              <a:t>Risk of malignant degeneration</a:t>
            </a:r>
          </a:p>
          <a:p>
            <a:pPr lvl="2"/>
            <a:r>
              <a:rPr dirty="0" lang="en-US" smtClean="0"/>
              <a:t>Risk is still there after </a:t>
            </a:r>
            <a:r>
              <a:rPr dirty="0" lang="en-US" err="1" smtClean="0"/>
              <a:t>orchidopexy</a:t>
            </a:r>
            <a:endParaRPr dirty="0" lang="en-US" smtClean="0"/>
          </a:p>
          <a:p>
            <a:pPr lvl="1"/>
            <a:r>
              <a:rPr dirty="0" lang="en-US" smtClean="0"/>
              <a:t>Risk of infertility </a:t>
            </a:r>
            <a:endParaRPr/>
          </a:p>
          <a:p>
            <a:pPr lvl="1"/>
            <a:r>
              <a:rPr dirty="0" lang="en-US" smtClean="0"/>
              <a:t>Risk of testicular trauma</a:t>
            </a:r>
          </a:p>
          <a:p>
            <a:pPr lvl="1"/>
            <a:r>
              <a:rPr dirty="0" lang="en-US" smtClean="0"/>
              <a:t>Risk of torsion</a:t>
            </a:r>
          </a:p>
          <a:p>
            <a:pPr lvl="1"/>
            <a:r>
              <a:rPr dirty="0" lang="en-US" err="1" smtClean="0"/>
              <a:t>Psychologic</a:t>
            </a:r>
            <a:r>
              <a:rPr dirty="0" lang="en-US" smtClean="0"/>
              <a:t> impact of an empty scrotum in a developing male</a:t>
            </a:r>
          </a:p>
          <a:p>
            <a:r>
              <a:rPr dirty="0" lang="en-US" smtClean="0"/>
              <a:t>An inguinal hernia often accompanies a </a:t>
            </a:r>
            <a:r>
              <a:rPr dirty="0" lang="en-US" err="1" smtClean="0"/>
              <a:t>cryptorchid</a:t>
            </a:r>
            <a:r>
              <a:rPr dirty="0" lang="en-US" smtClean="0"/>
              <a:t> testis</a:t>
            </a:r>
          </a:p>
          <a:p>
            <a:pPr lvl="1"/>
            <a:r>
              <a:rPr dirty="0" lang="en-US" smtClean="0"/>
              <a:t>This should be repaired at the time of </a:t>
            </a:r>
            <a:r>
              <a:rPr dirty="0" lang="en-US" err="1" smtClean="0"/>
              <a:t>orchidopexy</a:t>
            </a:r>
            <a:endParaRPr dirty="0" lang="en-US" smtClean="0"/>
          </a:p>
        </p:txBody>
      </p:sp>
      <p:sp>
        <p:nvSpPr>
          <p:cNvPr id="104916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15A09D-CDB8-4C69-A81E-4CA7FE430D67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8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en-US" smtClean="0"/>
              <a:t>Foreign Bodies</a:t>
            </a:r>
            <a:endParaRPr dirty="0" lang="en-US"/>
          </a:p>
        </p:txBody>
      </p:sp>
      <p:sp>
        <p:nvSpPr>
          <p:cNvPr id="1049179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10491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US" smtClean="0"/>
              <a:t>Airway Ingestion</a:t>
            </a:r>
            <a:endParaRPr dirty="0" lang="en-US"/>
          </a:p>
        </p:txBody>
      </p:sp>
      <p:sp>
        <p:nvSpPr>
          <p:cNvPr id="104924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8125" lnSpcReduction="20000"/>
          </a:bodyPr>
          <a:p>
            <a:r>
              <a:rPr dirty="0" lang="en-US" smtClean="0"/>
              <a:t>Aspiration of foreign bodies most commonly occurs in toddlers</a:t>
            </a:r>
          </a:p>
          <a:p>
            <a:r>
              <a:rPr b="1" dirty="0" lang="en-US" u="sng" smtClean="0"/>
              <a:t>Peanuts</a:t>
            </a:r>
            <a:r>
              <a:rPr dirty="0" lang="en-US" smtClean="0"/>
              <a:t> are the most common object that is aspirated</a:t>
            </a:r>
          </a:p>
          <a:p>
            <a:r>
              <a:rPr dirty="0" lang="en-US" smtClean="0"/>
              <a:t>A solid foreign body often will cause air trapping, with </a:t>
            </a:r>
            <a:r>
              <a:rPr dirty="0" lang="en-US" err="1" smtClean="0"/>
              <a:t>hyperlucency</a:t>
            </a:r>
            <a:r>
              <a:rPr dirty="0" lang="en-US" smtClean="0"/>
              <a:t> of the affected lobe or lung seen especially on expiration</a:t>
            </a:r>
          </a:p>
          <a:p>
            <a:r>
              <a:rPr dirty="0" lang="en-US" smtClean="0"/>
              <a:t>Oil from a peanut is irritating and may cause pneumonia</a:t>
            </a:r>
          </a:p>
          <a:p>
            <a:r>
              <a:rPr dirty="0" lang="en-US" smtClean="0"/>
              <a:t>Delay in diagnosis can lead to </a:t>
            </a:r>
            <a:r>
              <a:rPr dirty="0" lang="en-US" err="1" smtClean="0"/>
              <a:t>atelectasis</a:t>
            </a:r>
            <a:r>
              <a:rPr dirty="0" lang="en-US" smtClean="0"/>
              <a:t> and infection</a:t>
            </a:r>
          </a:p>
          <a:p>
            <a:r>
              <a:rPr dirty="0" lang="en-US" smtClean="0"/>
              <a:t>The most common anatomic location for a foreign body is the right main stem bronchus or the right lower lobe</a:t>
            </a:r>
            <a:endParaRPr dirty="0" lang="en-US"/>
          </a:p>
        </p:txBody>
      </p:sp>
      <p:sp>
        <p:nvSpPr>
          <p:cNvPr id="10492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248" name="Content Placeholder 2"/>
          <p:cNvSpPr>
            <a:spLocks noGrp="1"/>
          </p:cNvSpPr>
          <p:nvPr>
            <p:ph idx="1"/>
          </p:nvPr>
        </p:nvSpPr>
        <p:spPr>
          <a:xfrm>
            <a:off x="457200" y="1281112"/>
            <a:ext cx="8534400" cy="5257800"/>
          </a:xfrm>
        </p:spPr>
        <p:txBody>
          <a:bodyPr>
            <a:normAutofit/>
          </a:bodyPr>
          <a:p>
            <a:r>
              <a:rPr dirty="0" lang="en-US" smtClean="0"/>
              <a:t>The child usually will cough or choke while eating, but may then become asymptomatic</a:t>
            </a:r>
          </a:p>
          <a:p>
            <a:r>
              <a:rPr dirty="0" lang="en-US" smtClean="0"/>
              <a:t>A unilateral wheeze is often heard on auscultation</a:t>
            </a:r>
          </a:p>
          <a:p>
            <a:r>
              <a:rPr dirty="0" lang="en-US" err="1" smtClean="0"/>
              <a:t>Dx</a:t>
            </a:r>
            <a:r>
              <a:rPr dirty="0" lang="en-US"/>
              <a:t> </a:t>
            </a:r>
            <a:r>
              <a:rPr dirty="0" lang="en-US" smtClean="0"/>
              <a:t>and </a:t>
            </a:r>
            <a:r>
              <a:rPr dirty="0" lang="en-US" err="1"/>
              <a:t>T</a:t>
            </a:r>
            <a:r>
              <a:rPr altLang="en-GB" dirty="0" lang="en-US" err="1" smtClean="0"/>
              <a:t>x</a:t>
            </a:r>
            <a:r>
              <a:rPr dirty="0" lang="en-US" smtClean="0"/>
              <a:t>:</a:t>
            </a:r>
            <a:endParaRPr altLang="en-US" lang="zh-CN"/>
          </a:p>
          <a:p>
            <a:pPr lvl="1"/>
            <a:r>
              <a:rPr dirty="0" lang="en-US" smtClean="0"/>
              <a:t>CXR will show a </a:t>
            </a:r>
            <a:r>
              <a:rPr dirty="0" lang="en-US" err="1" smtClean="0"/>
              <a:t>radiopaque</a:t>
            </a:r>
            <a:r>
              <a:rPr dirty="0" lang="en-US" smtClean="0"/>
              <a:t> foreign body, but in the case of nuts, seeds, or plastic toy parts, the only clue may be </a:t>
            </a:r>
            <a:r>
              <a:rPr dirty="0" lang="en-US" err="1" smtClean="0"/>
              <a:t>nondeflation</a:t>
            </a:r>
            <a:r>
              <a:rPr dirty="0" lang="en-US" smtClean="0"/>
              <a:t> of the affected lobe on an expiratory film or fluoroscopy</a:t>
            </a:r>
          </a:p>
          <a:p>
            <a:pPr lvl="1"/>
            <a:r>
              <a:rPr dirty="0" lang="en-US" err="1" smtClean="0"/>
              <a:t>Bronchoscopy</a:t>
            </a:r>
            <a:r>
              <a:rPr dirty="0" lang="en-US" smtClean="0"/>
              <a:t> confirms the diagnosis and allows removal of the foreign body</a:t>
            </a:r>
          </a:p>
        </p:txBody>
      </p:sp>
      <p:sp>
        <p:nvSpPr>
          <p:cNvPr id="10492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US" smtClean="0"/>
              <a:t>Esophagus </a:t>
            </a:r>
            <a:r>
              <a:rPr dirty="0" lang="en-US" smtClean="0"/>
              <a:t>Ingestion</a:t>
            </a:r>
            <a:endParaRPr dirty="0" lang="en-US"/>
          </a:p>
        </p:txBody>
      </p:sp>
      <p:sp>
        <p:nvSpPr>
          <p:cNvPr id="104925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2143" lnSpcReduction="20000"/>
          </a:bodyPr>
          <a:p>
            <a:r>
              <a:rPr dirty="0" lang="en-US" smtClean="0"/>
              <a:t>The most common foreign body found in the esophagus is a </a:t>
            </a:r>
            <a:r>
              <a:rPr b="1" dirty="0" lang="en-US" u="sng" smtClean="0"/>
              <a:t>coin</a:t>
            </a:r>
            <a:r>
              <a:rPr dirty="0" lang="en-US" smtClean="0"/>
              <a:t>, followed by small toy parts</a:t>
            </a:r>
          </a:p>
          <a:p>
            <a:r>
              <a:rPr dirty="0" lang="en-US" smtClean="0"/>
              <a:t>Toddlers are most commonly affected</a:t>
            </a:r>
          </a:p>
          <a:p>
            <a:r>
              <a:rPr dirty="0" lang="en-US" smtClean="0"/>
              <a:t>The coin is retained in the esophagus at one of three locations: 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</a:t>
            </a:r>
            <a:r>
              <a:rPr dirty="0" lang="en-US" err="1" smtClean="0"/>
              <a:t>cricopharyngeus</a:t>
            </a:r>
            <a:endParaRPr dirty="0" lang="en-US" smtClean="0"/>
          </a:p>
          <a:p>
            <a:pPr lvl="1"/>
            <a:r>
              <a:rPr dirty="0" lang="en-US"/>
              <a:t>T</a:t>
            </a:r>
            <a:r>
              <a:rPr dirty="0" lang="en-US" smtClean="0"/>
              <a:t>he area of the aortic arch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 </a:t>
            </a:r>
            <a:r>
              <a:rPr dirty="0" lang="en-US" err="1" smtClean="0"/>
              <a:t>gastroesophageal</a:t>
            </a:r>
            <a:r>
              <a:rPr dirty="0" lang="en-US" smtClean="0"/>
              <a:t> junction</a:t>
            </a:r>
          </a:p>
          <a:p>
            <a:r>
              <a:rPr dirty="0" lang="en-US" smtClean="0"/>
              <a:t>Presentation </a:t>
            </a:r>
          </a:p>
          <a:p>
            <a:pPr lvl="1"/>
            <a:r>
              <a:rPr dirty="0" lang="en-US" smtClean="0"/>
              <a:t>Symptoms are variable depending on the anatomic position of the foreign body and the degree of obstruction</a:t>
            </a:r>
          </a:p>
          <a:p>
            <a:pPr lvl="1"/>
            <a:r>
              <a:rPr dirty="0" lang="en-US"/>
              <a:t>T</a:t>
            </a:r>
            <a:r>
              <a:rPr dirty="0" lang="en-US" smtClean="0"/>
              <a:t>here is often a relatively asymptomatic period after ingestion</a:t>
            </a:r>
          </a:p>
          <a:p>
            <a:endParaRPr dirty="0" lang="en-US"/>
          </a:p>
        </p:txBody>
      </p:sp>
      <p:sp>
        <p:nvSpPr>
          <p:cNvPr id="10492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26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1667" lnSpcReduction="20000"/>
          </a:bodyPr>
          <a:p>
            <a:r>
              <a:rPr dirty="0" lang="en-US" smtClean="0"/>
              <a:t>Cont.</a:t>
            </a:r>
          </a:p>
          <a:p>
            <a:pPr lvl="1"/>
            <a:r>
              <a:rPr dirty="0" lang="en-US" smtClean="0"/>
              <a:t>The initial symptoms are gastrointestinal and include </a:t>
            </a:r>
            <a:r>
              <a:rPr dirty="0" lang="en-US" err="1" smtClean="0"/>
              <a:t>dysphagia</a:t>
            </a:r>
            <a:r>
              <a:rPr dirty="0" lang="en-US" smtClean="0"/>
              <a:t>, drooling, and vomiting</a:t>
            </a:r>
          </a:p>
          <a:p>
            <a:pPr lvl="1"/>
            <a:r>
              <a:rPr dirty="0" lang="en-US" smtClean="0"/>
              <a:t>The longer the foreign body remains in the esophagus, the greater the incidence of respiratory symptoms, which include cough, </a:t>
            </a:r>
            <a:r>
              <a:rPr dirty="0" lang="en-US" err="1" smtClean="0"/>
              <a:t>stridor</a:t>
            </a:r>
            <a:r>
              <a:rPr dirty="0" lang="en-US" smtClean="0"/>
              <a:t>, and wheezing</a:t>
            </a:r>
          </a:p>
          <a:p>
            <a:pPr lvl="2"/>
            <a:r>
              <a:rPr dirty="0" lang="en-US" smtClean="0"/>
              <a:t>These findings may be interpreted as signs of upper respiratory infections</a:t>
            </a:r>
          </a:p>
          <a:p>
            <a:pPr lvl="1"/>
            <a:r>
              <a:rPr dirty="0" lang="en-US" smtClean="0"/>
              <a:t>Objects that are present for a long period of time—particularly in children who have underlying neurologic impairment—may manifest as chronic </a:t>
            </a:r>
            <a:r>
              <a:rPr dirty="0" lang="en-US" err="1" smtClean="0"/>
              <a:t>dysphagia</a:t>
            </a:r>
            <a:endParaRPr dirty="0" lang="en-US" smtClean="0"/>
          </a:p>
        </p:txBody>
      </p:sp>
      <p:sp>
        <p:nvSpPr>
          <p:cNvPr id="10492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Cont.</a:t>
            </a:r>
            <a:endParaRPr dirty="0" lang="en-US"/>
          </a:p>
        </p:txBody>
      </p:sp>
      <p:sp>
        <p:nvSpPr>
          <p:cNvPr id="104927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p>
            <a:r>
              <a:rPr dirty="0" lang="en-US" err="1" smtClean="0"/>
              <a:t>Dx</a:t>
            </a:r>
            <a:r>
              <a:rPr dirty="0" lang="en-US" smtClean="0"/>
              <a:t>:</a:t>
            </a:r>
          </a:p>
          <a:p>
            <a:pPr lvl="1"/>
            <a:r>
              <a:rPr dirty="0" lang="en-US" smtClean="0"/>
              <a:t>CXR is diagnostic in the case of a coin</a:t>
            </a:r>
          </a:p>
          <a:p>
            <a:pPr lvl="1"/>
            <a:r>
              <a:rPr dirty="0" lang="en-US" smtClean="0"/>
              <a:t>A contrast swallow may be required for </a:t>
            </a:r>
            <a:r>
              <a:rPr dirty="0" lang="en-US" err="1" smtClean="0"/>
              <a:t>nonradiopaque</a:t>
            </a:r>
            <a:r>
              <a:rPr dirty="0" lang="en-US" smtClean="0"/>
              <a:t> foreign bodies</a:t>
            </a:r>
          </a:p>
          <a:p>
            <a:r>
              <a:rPr dirty="0" lang="en-US" err="1" smtClean="0"/>
              <a:t>T</a:t>
            </a:r>
            <a:r>
              <a:rPr altLang="en-GB" dirty="0" lang="en-US" err="1" smtClean="0"/>
              <a:t>x</a:t>
            </a:r>
            <a:r>
              <a:rPr dirty="0" lang="en-US" smtClean="0"/>
              <a:t>:</a:t>
            </a:r>
            <a:endParaRPr altLang="en-US" lang="zh-CN"/>
          </a:p>
          <a:p>
            <a:pPr lvl="1"/>
            <a:r>
              <a:rPr dirty="0" lang="en-US" smtClean="0"/>
              <a:t>Coins lodged within the upper esophagus for </a:t>
            </a:r>
            <a:r>
              <a:rPr b="1" dirty="0" lang="en-US" smtClean="0"/>
              <a:t>less than 24 hours</a:t>
            </a:r>
            <a:r>
              <a:rPr dirty="0" lang="en-US" smtClean="0"/>
              <a:t> may be removed using </a:t>
            </a:r>
            <a:r>
              <a:rPr b="1" dirty="0" lang="en-US" smtClean="0"/>
              <a:t>Magill forceps</a:t>
            </a:r>
          </a:p>
          <a:p>
            <a:pPr lvl="1"/>
            <a:r>
              <a:rPr dirty="0" lang="en-US" smtClean="0"/>
              <a:t>For all other situations, the treatment is by </a:t>
            </a:r>
            <a:r>
              <a:rPr b="1" dirty="0" lang="en-US" err="1" smtClean="0"/>
              <a:t>esophagoscopy</a:t>
            </a:r>
            <a:r>
              <a:rPr dirty="0" lang="en-US" smtClean="0"/>
              <a:t>, rigid or flexible</a:t>
            </a:r>
          </a:p>
          <a:p>
            <a:pPr lvl="1"/>
            <a:r>
              <a:rPr dirty="0" lang="en-US" smtClean="0"/>
              <a:t>Rarely, </a:t>
            </a:r>
            <a:r>
              <a:rPr b="1" dirty="0" lang="en-US" err="1" smtClean="0"/>
              <a:t>esophagotomy</a:t>
            </a:r>
            <a:r>
              <a:rPr dirty="0" lang="en-US" smtClean="0"/>
              <a:t> is required for removal, particularly of sharp objects</a:t>
            </a:r>
            <a:endParaRPr dirty="0" lang="en-US"/>
          </a:p>
        </p:txBody>
      </p:sp>
      <p:sp>
        <p:nvSpPr>
          <p:cNvPr id="10492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en-US" smtClean="0"/>
              <a:t>The end!</a:t>
            </a:r>
            <a:endParaRPr dirty="0" lang="en-US"/>
          </a:p>
        </p:txBody>
      </p:sp>
      <p:sp>
        <p:nvSpPr>
          <p:cNvPr id="1049280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10492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F57FD7-7A36-42B6-8AD3-B1D783D5C585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SM-T515</dc:creator>
  <dcterms:created xsi:type="dcterms:W3CDTF">2015-05-11T21:30:45Z</dcterms:created>
  <dcterms:modified xsi:type="dcterms:W3CDTF">2024-06-13T16:50:47Z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cc678c2e16944dc1b885c036e5e153a2</vt:lpwstr>
  </property>
</Properties>
</file>