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sldIdLst>
    <p:sldId id="256" r:id="rId3"/>
    <p:sldId id="394" r:id="rId4"/>
    <p:sldId id="395" r:id="rId5"/>
    <p:sldId id="396" r:id="rId6"/>
    <p:sldId id="397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411" r:id="rId19"/>
    <p:sldId id="412" r:id="rId20"/>
    <p:sldId id="413" r:id="rId21"/>
    <p:sldId id="415" r:id="rId22"/>
    <p:sldId id="418" r:id="rId24"/>
    <p:sldId id="419" r:id="rId25"/>
    <p:sldId id="420" r:id="rId26"/>
    <p:sldId id="421" r:id="rId27"/>
    <p:sldId id="422" r:id="rId28"/>
    <p:sldId id="424" r:id="rId29"/>
    <p:sldId id="423" r:id="rId30"/>
    <p:sldId id="42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86092" autoAdjust="0"/>
  </p:normalViewPr>
  <p:slideViewPr>
    <p:cSldViewPr>
      <p:cViewPr varScale="1">
        <p:scale>
          <a:sx n="76" d="100"/>
          <a:sy n="76" d="100"/>
        </p:scale>
        <p:origin x="1014" y="84"/>
      </p:cViewPr>
      <p:guideLst>
        <p:guide orient="horz" pos="2110"/>
        <p:guide pos="3840"/>
      </p:guideLst>
    </p:cSldViewPr>
  </p:slideViewPr>
  <p:outlineViewPr>
    <p:cViewPr>
      <p:scale>
        <a:sx n="33" d="100"/>
        <a:sy n="33" d="100"/>
      </p:scale>
      <p:origin x="0" y="104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17365-8675-412E-B094-C9E3B881F99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2F089E-AFD1-45BA-9DAA-BF617323440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90343-F0DB-4E84-8177-924FE7A7511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431A82-7B24-4B16-AEC5-E8C0FEC3B83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87C5-3FB2-4C71-93F2-7BC8879424F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FDF1A-8DD9-4CE5-8E18-3EC1D53E7DD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AC221-C9AB-4F88-9B48-9ADCAB5581D4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68034-5091-49FC-9F81-7CCA07E2FBB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A374-FACF-4823-BD89-9E521C4B542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9138-F12B-4F29-8CBF-98D39397CEB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7DA9-B08C-4F17-B01B-3629D9E7139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FF019-E619-4B58-B114-9F1E18E43F8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BE58-0B00-4C2B-8FB0-42CCA512CA9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/>
            </a:gs>
            <a:gs pos="50000">
              <a:schemeClr val="accent1">
                <a:lumMod val="20000"/>
                <a:lumOff val="80000"/>
              </a:schemeClr>
            </a:gs>
            <a:gs pos="100000">
              <a:schemeClr val="accen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7AAE0-159D-41A3-BB24-8D50B1BCDCC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57400"/>
            <a:ext cx="12192000" cy="16637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SPINAL CORD INJURY</a:t>
            </a:r>
            <a:endParaRPr 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4191000"/>
            <a:ext cx="6400800" cy="201549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Dr. Bamlack Shewandagn  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Atlas College of Health Science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G. Surgery Department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November 2022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0" y="274955"/>
            <a:ext cx="12192635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r>
              <a:rPr lang="en-US" altLang="en-GB" b="1" u="sng">
                <a:latin typeface="Times New Roman" panose="02020603050405020304" charset="0"/>
                <a:cs typeface="Times New Roman" panose="02020603050405020304" charset="0"/>
              </a:rPr>
              <a:t>Outline</a:t>
            </a:r>
            <a:endParaRPr lang="en-US" altLang="en-GB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en-GB" sz="36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sz="36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normal anatomy of</a:t>
            </a:r>
            <a:r>
              <a:rPr lang="en-GB" sz="3600" dirty="0" smtClean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:-</a:t>
            </a:r>
            <a:endParaRPr lang="en-GB" sz="3600" dirty="0" smtClean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2"/>
            <a:r>
              <a:rPr lang="en-US" altLang="en-GB" sz="274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sz="274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Vertebral column</a:t>
            </a:r>
            <a:endParaRPr lang="en-GB" sz="274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2"/>
            <a:r>
              <a:rPr lang="en-US" altLang="en-GB" sz="274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sz="274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Spinal cord</a:t>
            </a:r>
            <a:endParaRPr lang="en-GB" sz="274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GB" sz="34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sz="34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Introduction to spinal cord injury</a:t>
            </a:r>
            <a:endParaRPr lang="en-GB" sz="34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GB" sz="34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sz="34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Assessment of spinal cord injury</a:t>
            </a:r>
            <a:endParaRPr lang="en-GB" sz="34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GB" sz="34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Management principles of SCI</a:t>
            </a:r>
            <a:endParaRPr lang="en-US" altLang="en-GB" sz="34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" y="274955"/>
            <a:ext cx="12184380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r>
              <a:rPr lang="en-GB" b="1" u="sng">
                <a:latin typeface="Times New Roman" panose="02020603050405020304" charset="0"/>
                <a:cs typeface="Times New Roman" panose="02020603050405020304" charset="0"/>
              </a:rPr>
              <a:t>Normal anatomy of V.C</a:t>
            </a:r>
            <a:endParaRPr lang="en-GB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 bwMode="auto">
          <a:xfrm>
            <a:off x="6248400" y="1447800"/>
            <a:ext cx="4267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851535" y="1371600"/>
            <a:ext cx="5396865" cy="5486400"/>
          </a:xfrm>
        </p:spPr>
        <p:txBody>
          <a:bodyPr/>
          <a:lstStyle/>
          <a:p>
            <a:r>
              <a:rPr lang="en-GB" sz="3200" dirty="0" smtClean="0">
                <a:latin typeface="Times New Roman" panose="02020603050405020304" charset="0"/>
                <a:cs typeface="Times New Roman" panose="02020603050405020304" charset="0"/>
              </a:rPr>
              <a:t>Interlocking vertebrae</a:t>
            </a:r>
            <a:endParaRPr lang="en-GB" sz="32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sz="3200" dirty="0" smtClean="0">
                <a:latin typeface="Times New Roman" panose="02020603050405020304" charset="0"/>
                <a:cs typeface="Times New Roman" panose="02020603050405020304" charset="0"/>
              </a:rPr>
              <a:t>Has five parts</a:t>
            </a:r>
            <a:endParaRPr lang="en-GB" sz="32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GB" sz="3200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7-cervical</a:t>
            </a:r>
            <a:endParaRPr lang="en-GB" sz="3200" dirty="0" smtClean="0">
              <a:solidFill>
                <a:schemeClr val="bg2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GB" sz="3200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12-thoracic</a:t>
            </a:r>
            <a:endParaRPr lang="en-GB" sz="3200" dirty="0" smtClean="0">
              <a:solidFill>
                <a:schemeClr val="bg2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GB" sz="3200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5-lumbar</a:t>
            </a:r>
            <a:endParaRPr lang="en-GB" sz="3200" dirty="0" smtClean="0">
              <a:solidFill>
                <a:schemeClr val="bg2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GB" sz="3200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5-sacral</a:t>
            </a:r>
            <a:r>
              <a:rPr lang="en-US" altLang="en-GB" sz="3200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sz="3200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(fused in to one </a:t>
            </a:r>
            <a:r>
              <a:rPr lang="el-GR" sz="3200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Δ</a:t>
            </a:r>
            <a:r>
              <a:rPr lang="en-GB" sz="3200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la</a:t>
            </a:r>
            <a:r>
              <a:rPr lang="en-US" altLang="en-GB" sz="3200" dirty="0" err="1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GB" sz="3200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bone )</a:t>
            </a:r>
            <a:endParaRPr lang="en-GB" sz="3200" dirty="0" smtClean="0">
              <a:solidFill>
                <a:schemeClr val="bg2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GB" sz="3200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Coccyx</a:t>
            </a:r>
            <a:endParaRPr lang="en-GB" sz="3200" dirty="0" smtClean="0">
              <a:solidFill>
                <a:schemeClr val="bg2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endParaRPr lang="en-GB" sz="40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62000" y="1752600"/>
            <a:ext cx="5384800" cy="452596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GB" dirty="0" smtClean="0">
                <a:latin typeface="Times New Roman" panose="02020603050405020304" charset="0"/>
                <a:cs typeface="Times New Roman" panose="02020603050405020304" charset="0"/>
              </a:rPr>
              <a:t>Each vertebrae linked by:-</a:t>
            </a:r>
            <a:endParaRPr lang="en-GB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lr>
                <a:schemeClr val="tx1"/>
              </a:buClr>
            </a:pP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Lat-facet joint</a:t>
            </a:r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lr>
                <a:schemeClr val="tx1"/>
              </a:buClr>
            </a:pP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Ant-</a:t>
            </a:r>
            <a:r>
              <a:rPr lang="en-GB" sz="28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intervertebral</a:t>
            </a: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disc</a:t>
            </a:r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Clr>
                <a:schemeClr val="tx1"/>
              </a:buClr>
            </a:pPr>
            <a:r>
              <a:rPr lang="en-GB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Ligaments</a:t>
            </a:r>
            <a:endParaRPr lang="en-GB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Clr>
                <a:schemeClr val="tx1"/>
              </a:buClr>
            </a:pPr>
            <a:r>
              <a:rPr lang="en-GB" sz="2400" dirty="0" err="1" smtClean="0">
                <a:latin typeface="Times New Roman" panose="02020603050405020304" charset="0"/>
                <a:cs typeface="Times New Roman" panose="02020603050405020304" charset="0"/>
              </a:rPr>
              <a:t>Ant&amp;post</a:t>
            </a:r>
            <a:r>
              <a:rPr lang="en-GB" sz="2400" dirty="0" smtClean="0">
                <a:latin typeface="Times New Roman" panose="02020603050405020304" charset="0"/>
                <a:cs typeface="Times New Roman" panose="02020603050405020304" charset="0"/>
              </a:rPr>
              <a:t> Longitudinal</a:t>
            </a:r>
            <a:endParaRPr lang="en-GB" sz="24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Clr>
                <a:schemeClr val="tx1"/>
              </a:buClr>
            </a:pPr>
            <a:r>
              <a:rPr lang="en-GB" sz="2400" dirty="0" err="1" smtClean="0">
                <a:latin typeface="Times New Roman" panose="02020603050405020304" charset="0"/>
                <a:cs typeface="Times New Roman" panose="02020603050405020304" charset="0"/>
              </a:rPr>
              <a:t>Interspinous</a:t>
            </a:r>
            <a:r>
              <a:rPr lang="en-GB" sz="2400" dirty="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GB" sz="24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Clr>
                <a:schemeClr val="tx1"/>
              </a:buClr>
            </a:pPr>
            <a:r>
              <a:rPr lang="en-GB" sz="2400" dirty="0" err="1" smtClean="0">
                <a:latin typeface="Times New Roman" panose="02020603050405020304" charset="0"/>
                <a:cs typeface="Times New Roman" panose="02020603050405020304" charset="0"/>
              </a:rPr>
              <a:t>supraspinous</a:t>
            </a:r>
            <a:endParaRPr lang="en-GB" sz="24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Clr>
                <a:schemeClr val="tx1"/>
              </a:buClr>
            </a:pPr>
            <a:endParaRPr lang="en-GB" sz="2400" dirty="0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6248400" y="1905000"/>
            <a:ext cx="5124450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274955"/>
            <a:ext cx="12192000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r>
              <a:rPr lang="en-GB" b="1" u="sng">
                <a:latin typeface="Times New Roman" panose="02020603050405020304" charset="0"/>
                <a:cs typeface="Times New Roman" panose="02020603050405020304" charset="0"/>
              </a:rPr>
              <a:t>Normal anatomy of S.C</a:t>
            </a:r>
            <a:endParaRPr lang="en-GB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744220" y="1659890"/>
            <a:ext cx="5603875" cy="4681855"/>
          </a:xfrm>
        </p:spPr>
        <p:txBody>
          <a:bodyPr>
            <a:normAutofit lnSpcReduction="20000"/>
          </a:bodyPr>
          <a:lstStyle/>
          <a:p>
            <a:endParaRPr lang="en-GB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dirty="0" smtClean="0">
                <a:latin typeface="Times New Roman" panose="02020603050405020304" charset="0"/>
                <a:cs typeface="Times New Roman" panose="02020603050405020304" charset="0"/>
              </a:rPr>
              <a:t>Extends from foramen magnum-L1.</a:t>
            </a:r>
            <a:endParaRPr lang="en-GB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dirty="0" smtClean="0">
                <a:latin typeface="Times New Roman" panose="02020603050405020304" charset="0"/>
                <a:cs typeface="Times New Roman" panose="02020603050405020304" charset="0"/>
              </a:rPr>
              <a:t>Composed of 31 segments</a:t>
            </a:r>
            <a:endParaRPr lang="en-GB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dirty="0" smtClean="0">
                <a:latin typeface="Times New Roman" panose="02020603050405020304" charset="0"/>
                <a:cs typeface="Times New Roman" panose="02020603050405020304" charset="0"/>
              </a:rPr>
              <a:t>Two areas of expansion</a:t>
            </a:r>
            <a:endParaRPr lang="en-GB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Cervical C3-T2</a:t>
            </a:r>
            <a:endParaRPr lang="en-GB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Lumbar T10-T12</a:t>
            </a:r>
            <a:endParaRPr lang="en-GB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dirty="0" smtClean="0">
                <a:latin typeface="Times New Roman" panose="02020603050405020304" charset="0"/>
                <a:cs typeface="Times New Roman" panose="02020603050405020304" charset="0"/>
              </a:rPr>
              <a:t>Spinal nerves each</a:t>
            </a:r>
            <a:endParaRPr lang="en-GB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Ventral root</a:t>
            </a:r>
            <a:endParaRPr lang="en-GB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Dorsal root</a:t>
            </a:r>
            <a:endParaRPr lang="en-GB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 bwMode="auto">
          <a:xfrm>
            <a:off x="6553200" y="1645285"/>
            <a:ext cx="3580765" cy="4484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0" y="1645285"/>
            <a:ext cx="1371600" cy="4472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4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br>
              <a:rPr lang="en-US" sz="4900">
                <a:latin typeface="Times New Roman" panose="02020603050405020304" charset="0"/>
                <a:cs typeface="Times New Roman" panose="02020603050405020304" charset="0"/>
              </a:rPr>
            </a:br>
            <a:endParaRPr lang="en-US" sz="4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pic>
        <p:nvPicPr>
          <p:cNvPr id="10" name="Picture 4" descr="M28454-040-f021a"/>
          <p:cNvPicPr>
            <a:picLocks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2133600"/>
            <a:ext cx="6553835" cy="339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315" name="Content Placeholder 3" descr="C:\Users\Mr\Desktop\SC_white_matter_tracts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858000" y="2150110"/>
            <a:ext cx="5162550" cy="3362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274955"/>
            <a:ext cx="12192635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rmAutofit fontScale="90000"/>
          </a:bodyPr>
          <a:p>
            <a:b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4900" b="1" u="sng">
                <a:latin typeface="Times New Roman" panose="02020603050405020304" charset="0"/>
                <a:cs typeface="Times New Roman" panose="02020603050405020304" charset="0"/>
                <a:sym typeface="+mn-ea"/>
              </a:rPr>
              <a:t>Spinal Cord Injury</a:t>
            </a:r>
            <a:br>
              <a:rPr lang="en-US" sz="4900" b="1" u="sng">
                <a:latin typeface="Times New Roman" panose="02020603050405020304" charset="0"/>
                <a:cs typeface="Times New Roman" panose="02020603050405020304" charset="0"/>
              </a:rPr>
            </a:br>
            <a:endParaRPr lang="en-US" sz="4900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7487285" cy="4526280"/>
          </a:xfrm>
        </p:spPr>
        <p:txBody>
          <a:bodyPr>
            <a:normAutofit fontScale="90000"/>
          </a:bodyPr>
          <a:p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 insult to SC that partially or completely compromises the main functions of the cord (motor, sensory, autonomic &amp; reflexes). Major cause is trauma, others infection, tumor , degeneration… 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dirty="0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Question of life or death is not a major concern in spine injuries as only few, 5-10%, die immediate to the injury w/c in turn are due to concomitant injuries than spine injury. Focus is on the ability future independent life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pic>
        <p:nvPicPr>
          <p:cNvPr id="9" name="Content Placeholder 4" descr="hand the bird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8839200" y="1447800"/>
            <a:ext cx="3270250" cy="4573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955"/>
            <a:ext cx="12185650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/>
          <a:p>
            <a:r>
              <a:rPr lang="en-US" b="1" u="sng">
                <a:latin typeface="Times New Roman" panose="02020603050405020304" charset="0"/>
                <a:cs typeface="Times New Roman" panose="02020603050405020304" charset="0"/>
              </a:rPr>
              <a:t>Epidemiology</a:t>
            </a:r>
            <a:endParaRPr lang="en-US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3200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Level of injury:</a:t>
            </a:r>
            <a:endParaRPr lang="en-US" sz="32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Goes with mobility of segments; middle &amp; low cervical &gt; </a:t>
            </a:r>
            <a:r>
              <a:rPr lang="en-US" dirty="0" err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thoracolumbar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dirty="0" err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jxn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&gt; lumbar &amp; thoracic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Other factors: age, bone &amp; soft tissue changes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3200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 &amp; age</a:t>
            </a:r>
            <a:endParaRPr lang="en-US" sz="32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80-85% are males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56-61% b/n ages 15 &amp; 30, &lt; 15% older than 46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3200" dirty="0" smtClean="0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4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br>
              <a:rPr lang="en-US" sz="4900">
                <a:latin typeface="Times New Roman" panose="02020603050405020304" charset="0"/>
                <a:cs typeface="Times New Roman" panose="02020603050405020304" charset="0"/>
              </a:rPr>
            </a:br>
            <a:endParaRPr lang="en-US" sz="4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sz="4000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Etiology</a:t>
            </a:r>
            <a:endParaRPr lang="en-US" sz="4000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sz="32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RTA- 48%</a:t>
            </a:r>
            <a:endParaRPr lang="en-US" sz="32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sz="32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Falls- 21%</a:t>
            </a:r>
            <a:endParaRPr lang="en-US" sz="32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sz="32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Violence - 15%</a:t>
            </a:r>
            <a:endParaRPr lang="en-US" sz="32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sz="32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Athletic injuries- 14%</a:t>
            </a:r>
            <a:endParaRPr lang="en-US" sz="32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32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>
            <p:ph sz="half" idx="2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019800" y="1752600"/>
            <a:ext cx="4558030" cy="325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0" y="274955"/>
            <a:ext cx="12192635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/>
          <a:p>
            <a:r>
              <a:rPr lang="en-US" b="1" u="sng">
                <a:latin typeface="Times New Roman" panose="02020603050405020304" charset="0"/>
                <a:cs typeface="Times New Roman" panose="02020603050405020304" charset="0"/>
              </a:rPr>
              <a:t>Pathophysiology</a:t>
            </a:r>
            <a:endParaRPr lang="en-US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Primary injury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When the skeletal structures fail to dissipate the energy of the primary mechanical insult, resulting in direct energy tranfer to neuronal elements.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Flexion, extension, axial loading, rotation or traction, compression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Secondary injury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Hemorrhage, edema, ischemia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Polonged hypotension and poor oxygenation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325120"/>
            <a:ext cx="12192000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/>
          <a:lstStyle/>
          <a:p>
            <a:r>
              <a:rPr lang="en-US" b="1" u="sng" dirty="0" smtClean="0">
                <a:latin typeface="Times New Roman" panose="02020603050405020304" charset="0"/>
                <a:cs typeface="Times New Roman" panose="02020603050405020304" charset="0"/>
              </a:rPr>
              <a:t>Approach to the patient</a:t>
            </a:r>
            <a:endParaRPr lang="en-US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895" y="1787525"/>
            <a:ext cx="9036685" cy="4714875"/>
          </a:xfrm>
        </p:spPr>
        <p:txBody>
          <a:bodyPr>
            <a:normAutofit fontScale="800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Goals of spine trauma care</a:t>
            </a: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Protect</a:t>
            </a: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Identify</a:t>
            </a: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Optimize conditions for recovery</a:t>
            </a: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ATLS: Primary Survey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Airway with c-spine stabilization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Breathing 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Circulation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Disability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Exposure*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Secondary survey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08520" y="1676400"/>
            <a:ext cx="3222530" cy="3643313"/>
          </a:xfrm>
          <a:prstGeom prst="rect">
            <a:avLst/>
          </a:prstGeom>
          <a:ln w="76200">
            <a:solidFill>
              <a:schemeClr val="accent2"/>
            </a:solidFill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3573" y="1676400"/>
            <a:ext cx="2892425" cy="3857625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Secondary survey: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Hx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and P/E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Suspected spinal injury: high speed, unconscious, multiple injuries,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neuro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deficit, tenderness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92735" lvl="1" indent="0">
              <a:buNone/>
            </a:pP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Physical exam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Inspection and palpation : occiput to coccyx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Neurological assessment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99164"/>
            <a:ext cx="9036423" cy="3508977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Neurological assessment: focus on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Motor exam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Sensory exam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Reflexes : Deep and Superficial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0" y="1981200"/>
            <a:ext cx="4876800" cy="4419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16" y="3886200"/>
            <a:ext cx="5710853" cy="2515794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83309" y="990600"/>
            <a:ext cx="8143875" cy="4929188"/>
          </a:xfrm>
          <a:prstGeom prst="rect">
            <a:avLst/>
          </a:prstGeom>
          <a:ln w="38100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140A374-FACF-4823-BD89-9E521C4B542E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28454-040-f020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1983"/>
            <a:ext cx="3459162" cy="645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M28454-040-f020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69812"/>
            <a:ext cx="2590800" cy="633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140A374-FACF-4823-BD89-9E521C4B542E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955"/>
            <a:ext cx="12192000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/>
          <a:lstStyle/>
          <a:p>
            <a:r>
              <a:rPr lang="en-US" b="1" u="sng">
                <a:latin typeface="Times New Roman" panose="02020603050405020304" charset="0"/>
                <a:cs typeface="Times New Roman" panose="02020603050405020304" charset="0"/>
                <a:sym typeface="+mn-ea"/>
              </a:rPr>
              <a:t>Classification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Incomplete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Complete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ASIA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Incomplete cord injury: </a:t>
            </a:r>
            <a:r>
              <a:rPr lang="en-US" b="1" dirty="0" smtClean="0">
                <a:latin typeface="Times New Roman" panose="02020603050405020304" charset="0"/>
                <a:cs typeface="Times New Roman" panose="02020603050405020304" charset="0"/>
              </a:rPr>
              <a:t>special syndromes</a:t>
            </a:r>
            <a:endParaRPr lang="en-US" b="1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Anterior cord syndrome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Central cord syndrome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Brown-</a:t>
            </a:r>
            <a:r>
              <a:rPr lang="en-US" dirty="0" err="1" smtClean="0">
                <a:latin typeface="Times New Roman" panose="02020603050405020304" charset="0"/>
                <a:cs typeface="Times New Roman" panose="02020603050405020304" charset="0"/>
              </a:rPr>
              <a:t>Sequard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 syndrome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200" y="1752516"/>
            <a:ext cx="5048250" cy="1929849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04800"/>
            <a:ext cx="7242048" cy="1143000"/>
          </a:xfrm>
        </p:spPr>
        <p:txBody>
          <a:bodyPr/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504315"/>
            <a:ext cx="6096000" cy="3493135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Times New Roman" panose="02020603050405020304" charset="0"/>
                <a:cs typeface="Times New Roman" panose="02020603050405020304" charset="0"/>
              </a:rPr>
              <a:t>Anterior cord syndrome</a:t>
            </a:r>
            <a:endParaRPr lang="en-US" sz="36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7162800" y="1447653"/>
            <a:ext cx="4559808" cy="3493008"/>
          </a:xfrm>
        </p:spPr>
        <p:txBody>
          <a:bodyPr>
            <a:normAutofit lnSpcReduction="20000"/>
          </a:bodyPr>
          <a:lstStyle/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Loss of motor, pain and temperature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Preserved proprioception and deep touch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29000" y="3048000"/>
            <a:ext cx="3640455" cy="2801620"/>
          </a:xfrm>
          <a:prstGeom prst="rect">
            <a:avLst/>
          </a:prstGeom>
          <a:ln w="76200">
            <a:solidFill>
              <a:schemeClr val="accent2"/>
            </a:solidFill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4876696"/>
            <a:ext cx="4343400" cy="1352019"/>
          </a:xfrm>
          <a:prstGeom prst="rect">
            <a:avLst/>
          </a:prstGeom>
        </p:spPr>
      </p:pic>
      <p:pic>
        <p:nvPicPr>
          <p:cNvPr id="7" name="Picture 7" descr="scan4"/>
          <p:cNvPicPr>
            <a:picLocks noChangeAspect="1" noChangeArrowheads="1"/>
          </p:cNvPicPr>
          <p:nvPr/>
        </p:nvPicPr>
        <p:blipFill>
          <a:blip r:embed="rId3" cstate="print">
            <a:lum bright="-6000" contrast="30000"/>
          </a:blip>
          <a:srcRect/>
          <a:stretch>
            <a:fillRect/>
          </a:stretch>
        </p:blipFill>
        <p:spPr bwMode="auto">
          <a:xfrm>
            <a:off x="228600" y="2514600"/>
            <a:ext cx="3037205" cy="3780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6533" y="408431"/>
            <a:ext cx="9366325" cy="1143000"/>
          </a:xfrm>
        </p:spPr>
        <p:txBody>
          <a:bodyPr/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1828800"/>
            <a:ext cx="5845175" cy="3493135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Times New Roman" panose="02020603050405020304" charset="0"/>
                <a:cs typeface="Times New Roman" panose="02020603050405020304" charset="0"/>
              </a:rPr>
              <a:t>Brown-</a:t>
            </a:r>
            <a:r>
              <a:rPr lang="en-US" sz="3600" b="1" u="sng" dirty="0" err="1">
                <a:latin typeface="Times New Roman" panose="02020603050405020304" charset="0"/>
                <a:cs typeface="Times New Roman" panose="02020603050405020304" charset="0"/>
              </a:rPr>
              <a:t>Sequard</a:t>
            </a:r>
            <a:r>
              <a:rPr lang="en-US" sz="3600" b="1" u="sng" dirty="0">
                <a:latin typeface="Times New Roman" panose="02020603050405020304" charset="0"/>
                <a:cs typeface="Times New Roman" panose="02020603050405020304" charset="0"/>
              </a:rPr>
              <a:t> syndrome</a:t>
            </a:r>
            <a:endParaRPr lang="en-US" sz="36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7086385" y="1219200"/>
            <a:ext cx="4559808" cy="3493008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Loss of </a:t>
            </a:r>
            <a:r>
              <a:rPr lang="en-US" dirty="0" err="1" smtClean="0">
                <a:latin typeface="Times New Roman" panose="02020603050405020304" charset="0"/>
                <a:cs typeface="Times New Roman" panose="02020603050405020304" charset="0"/>
              </a:rPr>
              <a:t>ipsilateral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 motor and proprioception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Loss of </a:t>
            </a:r>
            <a:r>
              <a:rPr lang="en-US" dirty="0" err="1" smtClean="0">
                <a:latin typeface="Times New Roman" panose="02020603050405020304" charset="0"/>
                <a:cs typeface="Times New Roman" panose="02020603050405020304" charset="0"/>
              </a:rPr>
              <a:t>contralateral</a:t>
            </a:r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 pain and </a:t>
            </a:r>
            <a:r>
              <a:rPr lang="en-US" dirty="0" err="1" smtClean="0">
                <a:latin typeface="Times New Roman" panose="02020603050405020304" charset="0"/>
                <a:cs typeface="Times New Roman" panose="02020603050405020304" charset="0"/>
              </a:rPr>
              <a:t>temprature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14800" y="3733800"/>
            <a:ext cx="3013710" cy="2528570"/>
          </a:xfrm>
          <a:prstGeom prst="rect">
            <a:avLst/>
          </a:prstGeom>
          <a:ln w="76200">
            <a:solidFill>
              <a:schemeClr val="accent2"/>
            </a:solidFill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4724273"/>
            <a:ext cx="4410075" cy="16885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657600"/>
            <a:ext cx="3611245" cy="2043430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457200"/>
            <a:ext cx="9366250" cy="89789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Cont’d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759" y="1600200"/>
            <a:ext cx="4559808" cy="3493008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charset="0"/>
                <a:cs typeface="Times New Roman" panose="02020603050405020304" charset="0"/>
              </a:rPr>
              <a:t>Central cord syndrome</a:t>
            </a:r>
            <a:endParaRPr lang="en-US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6400688" y="1143000"/>
            <a:ext cx="4559808" cy="3493008"/>
          </a:xfrm>
        </p:spPr>
        <p:txBody>
          <a:bodyPr>
            <a:normAutofit lnSpcReduction="10000"/>
          </a:bodyPr>
          <a:lstStyle/>
          <a:p>
            <a:pPr marL="68580" indent="0">
              <a:buNone/>
            </a:pPr>
            <a:endParaRPr lang="en-US" dirty="0"/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Upper limb weaker than lower limb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Variable sensory loss</a:t>
            </a:r>
            <a:endParaRPr lang="en-US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</a:rPr>
              <a:t>Sacral sparing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3195" y="2895600"/>
            <a:ext cx="3208020" cy="2978785"/>
          </a:xfrm>
          <a:prstGeom prst="rect">
            <a:avLst/>
          </a:prstGeom>
          <a:ln w="76200">
            <a:solidFill>
              <a:schemeClr val="accent2"/>
            </a:solidFill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380" y="4572126"/>
            <a:ext cx="4707159" cy="20233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971800"/>
            <a:ext cx="2091055" cy="2944495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085" y="381000"/>
            <a:ext cx="12237720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/>
          <a:lstStyle/>
          <a:p>
            <a:pPr algn="l"/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                 </a:t>
            </a:r>
            <a:r>
              <a:rPr lang="en-US" b="1" u="sng" dirty="0">
                <a:latin typeface="Times New Roman" panose="02020603050405020304" charset="0"/>
                <a:cs typeface="Times New Roman" panose="02020603050405020304" charset="0"/>
              </a:rPr>
              <a:t>ASIA impairment scale</a:t>
            </a:r>
            <a:endParaRPr lang="en-US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99" y="1981517"/>
            <a:ext cx="11087885" cy="33832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116" y="403700"/>
            <a:ext cx="3005593" cy="109728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12191365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/>
          <a:lstStyle/>
          <a:p>
            <a:r>
              <a:rPr lang="en-US" sz="4800" b="1" u="sng" dirty="0" smtClean="0">
                <a:latin typeface="Times New Roman" panose="02020603050405020304" charset="0"/>
                <a:cs typeface="Times New Roman" panose="02020603050405020304" charset="0"/>
              </a:rPr>
              <a:t>Imaging</a:t>
            </a:r>
            <a:endParaRPr lang="en-US" sz="4800" b="1" u="sng" dirty="0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600200"/>
            <a:ext cx="10924540" cy="4730115"/>
          </a:xfrm>
        </p:spPr>
        <p:txBody>
          <a:bodyPr>
            <a:normAutofit fontScale="90000"/>
          </a:bodyPr>
          <a:lstStyle/>
          <a:p>
            <a:pPr marL="292735" lvl="1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NEXUS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Criteria: 5/5 is low risk</a:t>
            </a:r>
            <a:endParaRPr lang="en-US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Tx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1. Absence of tenderness in the posterior midline</a:t>
            </a: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Tx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2. Absence of a neurological deficit</a:t>
            </a: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Tx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3. Normal level of alertness (GCS score = 15)</a:t>
            </a: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Tx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4. No evidence of intoxication (drugs or alcohol)</a:t>
            </a: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Tx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5. No distracting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injury/pain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Otherwise: at least XRay (AP,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Lat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OMO[open mouth odontoid])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Tx/>
              <a:buNone/>
            </a:pPr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4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br>
              <a:rPr lang="en-US" sz="4900">
                <a:latin typeface="Times New Roman" panose="02020603050405020304" charset="0"/>
                <a:cs typeface="Times New Roman" panose="02020603050405020304" charset="0"/>
              </a:rPr>
            </a:br>
            <a:endParaRPr lang="en-US" sz="4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352800" y="1828800"/>
            <a:ext cx="3581400" cy="3886200"/>
          </a:xfrm>
          <a:prstGeom prst="rect">
            <a:avLst/>
          </a:prstGeom>
          <a:noFill/>
          <a:ln w="9525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</p:pic>
      <p:pic>
        <p:nvPicPr>
          <p:cNvPr id="5" name="Picture 5" descr="odontoid view labele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0" y="1858010"/>
            <a:ext cx="4177665" cy="406019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0"/>
            <a:ext cx="2854960" cy="4118610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4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br>
              <a:rPr lang="en-US" sz="4900">
                <a:latin typeface="Times New Roman" panose="02020603050405020304" charset="0"/>
                <a:cs typeface="Times New Roman" panose="02020603050405020304" charset="0"/>
              </a:rPr>
            </a:br>
            <a:endParaRPr lang="en-US" sz="4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CT scan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The gold standard in spinal trauma and is indicated for patients with suspected or visible injuries on plain radiographs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Patients undergoing a head CT scan for closed head injury should also have a cervical screening CT.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MRI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Indicated in all cases with neurological deficit and where assessment of ligamentous structures is important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140A374-FACF-4823-BD89-9E521C4B542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449580"/>
            <a:ext cx="12191365" cy="1143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r>
              <a:rPr lang="en-US" b="1" u="sng" dirty="0" smtClean="0">
                <a:latin typeface="Times New Roman" panose="02020603050405020304" charset="0"/>
                <a:cs typeface="Times New Roman" panose="02020603050405020304" charset="0"/>
              </a:rPr>
              <a:t>Management of Spinal injury</a:t>
            </a:r>
            <a:endParaRPr lang="en-US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14400" y="1828800"/>
            <a:ext cx="9036423" cy="3508977"/>
          </a:xfrm>
        </p:spPr>
        <p:txBody>
          <a:bodyPr>
            <a:normAutofit fontScale="900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Primary goal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prevent secondary injury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Immobilization in the initial assessment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ATLS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Log roll patients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115106"/>
            <a:ext cx="4062412" cy="264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20000"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Principles</a:t>
            </a:r>
            <a:endParaRPr lang="en-US" sz="3200" b="1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b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Spinal alignment</a:t>
            </a:r>
            <a:r>
              <a:rPr 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 deformity/subluxation/dislocation &gt;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Reduction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2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Skull tongs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2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Open reduction &amp; internal fixation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2"/>
            <a:r>
              <a:rPr lang="en-US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Halo brace...closed realignment</a:t>
            </a:r>
            <a:endParaRPr lang="en-US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2"/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endParaRPr 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Content Placeholder 6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781800" y="2362200"/>
            <a:ext cx="5073650" cy="3890010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49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Cont’d</a:t>
            </a:r>
            <a:br>
              <a:rPr lang="en-US" sz="4900">
                <a:latin typeface="Times New Roman" panose="02020603050405020304" charset="0"/>
                <a:cs typeface="Times New Roman" panose="02020603050405020304" charset="0"/>
              </a:rPr>
            </a:br>
            <a:endParaRPr lang="en-US" sz="4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5F7B970-4EE2-4425-BF67-284008AD9F4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  <p:pic>
        <p:nvPicPr>
          <p:cNvPr id="8" name="Content Placeholder 7"/>
          <p:cNvPicPr>
            <a:picLocks noChangeAspect="1"/>
          </p:cNvPicPr>
          <p:nvPr>
            <p:ph sz="quarter" idx="4"/>
          </p:nvPr>
        </p:nvPicPr>
        <p:blipFill>
          <a:blip r:embed="rId1"/>
          <a:stretch>
            <a:fillRect/>
          </a:stretch>
        </p:blipFill>
        <p:spPr>
          <a:xfrm>
            <a:off x="838200" y="2133600"/>
            <a:ext cx="5488940" cy="3771900"/>
          </a:xfrm>
          <a:prstGeom prst="rect">
            <a:avLst/>
          </a:prstGeom>
        </p:spPr>
      </p:pic>
      <p:pic>
        <p:nvPicPr>
          <p:cNvPr id="9" name="Content Placeholder 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81800" y="1752600"/>
            <a:ext cx="3378835" cy="46970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Cont’d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p>
            <a:pPr lvl="1"/>
            <a:r>
              <a:rPr lang="en-US" sz="2800" b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Spinal column stability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 Unstable &gt;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Stabilization</a:t>
            </a:r>
            <a:endParaRPr lang="en-US" sz="28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2"/>
            <a:r>
              <a:rPr lang="en-US" sz="23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Risk of new or further neurological injury</a:t>
            </a:r>
            <a:endParaRPr lang="en-US" sz="233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2" indent="0">
              <a:buNone/>
            </a:pPr>
            <a:endParaRPr lang="en-US" sz="2330" b="1" u="sng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sz="2800" b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Neurological deficit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 Deficit &gt; Decompression</a:t>
            </a:r>
            <a:endParaRPr lang="en-US" sz="28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2"/>
            <a:r>
              <a:rPr lang="en-US" sz="23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compression of the cord by bone or disc material requires surgical removal</a:t>
            </a:r>
            <a:endParaRPr lang="en-US" sz="233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33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p>
            <a:r>
              <a:rPr lang="en-US" sz="16600" b="1">
                <a:latin typeface="Edwardian Script ITC" panose="030303020407070D0804" charset="0"/>
                <a:cs typeface="Edwardian Script ITC" panose="030303020407070D0804" charset="0"/>
              </a:rPr>
              <a:t>Thank you</a:t>
            </a:r>
            <a:endParaRPr lang="en-US" sz="16600" b="1">
              <a:latin typeface="Edwardian Script ITC" panose="030303020407070D0804" charset="0"/>
              <a:cs typeface="Edwardian Script ITC" panose="030303020407070D0804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E4388F3-24FD-4684-9C08-0B78FAD2D3E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SCI...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C4470D4-A7A1-4D1D-834E-CA5EB5659CE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4159</Words>
  <Application>WPS Presentation</Application>
  <PresentationFormat>On-screen Show (4:3)</PresentationFormat>
  <Paragraphs>387</Paragraphs>
  <Slides>28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109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Rockwell</vt:lpstr>
      <vt:lpstr>Rockwell Condensed</vt:lpstr>
      <vt:lpstr>Almonte Snow</vt:lpstr>
      <vt:lpstr>Agency FB</vt:lpstr>
      <vt:lpstr>Aharoni</vt:lpstr>
      <vt:lpstr>Algerian</vt:lpstr>
      <vt:lpstr>Alien Encounters</vt:lpstr>
      <vt:lpstr>Andalus</vt:lpstr>
      <vt:lpstr>Angsana New</vt:lpstr>
      <vt:lpstr>AngsanaUPC</vt:lpstr>
      <vt:lpstr>Aparajita</vt:lpstr>
      <vt:lpstr>Arabic Typesetting</vt:lpstr>
      <vt:lpstr>Arial Black</vt:lpstr>
      <vt:lpstr>Arial Narrow</vt:lpstr>
      <vt:lpstr>Arial Rounded MT Bold</vt:lpstr>
      <vt:lpstr>Baskerville Old Face</vt:lpstr>
      <vt:lpstr>Batang</vt:lpstr>
      <vt:lpstr>BatangChe</vt:lpstr>
      <vt:lpstr>Bauhaus 93</vt:lpstr>
      <vt:lpstr>Bell MT</vt:lpstr>
      <vt:lpstr>Berlin Sans FB</vt:lpstr>
      <vt:lpstr>Berlin Sans FB Demi</vt:lpstr>
      <vt:lpstr>Bernard MT Condensed</vt:lpstr>
      <vt:lpstr>Blackadder ITC</vt:lpstr>
      <vt:lpstr>BN Jinx</vt:lpstr>
      <vt:lpstr>BN Machine</vt:lpstr>
      <vt:lpstr>Bodoni MT</vt:lpstr>
      <vt:lpstr>Bodoni MT Black</vt:lpstr>
      <vt:lpstr>Bodoni MT Condensed</vt:lpstr>
      <vt:lpstr>Bodoni MT Poster Compressed</vt:lpstr>
      <vt:lpstr>Book Antiqua</vt:lpstr>
      <vt:lpstr>Bookman Old Style</vt:lpstr>
      <vt:lpstr>Bradley Hand ITC</vt:lpstr>
      <vt:lpstr>Britannic Bold</vt:lpstr>
      <vt:lpstr>Broadway</vt:lpstr>
      <vt:lpstr>Browallia New</vt:lpstr>
      <vt:lpstr>BrowalliaUPC</vt:lpstr>
      <vt:lpstr>Brush Script MT</vt:lpstr>
      <vt:lpstr>Californian FB</vt:lpstr>
      <vt:lpstr>Calisto MT</vt:lpstr>
      <vt:lpstr>Cambria</vt:lpstr>
      <vt:lpstr>Cambria Math</vt:lpstr>
      <vt:lpstr>Candara</vt:lpstr>
      <vt:lpstr>Candles</vt:lpstr>
      <vt:lpstr>Castellar</vt:lpstr>
      <vt:lpstr>Centaur</vt:lpstr>
      <vt:lpstr>Century</vt:lpstr>
      <vt:lpstr>Century Gothic</vt:lpstr>
      <vt:lpstr>Century Schoolbook</vt:lpstr>
      <vt:lpstr>Chiller</vt:lpstr>
      <vt:lpstr>Colonna MT</vt:lpstr>
      <vt:lpstr>Comic Sans MS</vt:lpstr>
      <vt:lpstr>Consolas</vt:lpstr>
      <vt:lpstr>Constantia</vt:lpstr>
      <vt:lpstr>Cooper Black</vt:lpstr>
      <vt:lpstr>Copperplate Gothic Bold</vt:lpstr>
      <vt:lpstr>Copperplate Gothic Light</vt:lpstr>
      <vt:lpstr>Corbel</vt:lpstr>
      <vt:lpstr>Cordia New</vt:lpstr>
      <vt:lpstr>CordiaUPC</vt:lpstr>
      <vt:lpstr>Courier New</vt:lpstr>
      <vt:lpstr>Cracked Johnnie</vt:lpstr>
      <vt:lpstr>Curlz MT</vt:lpstr>
      <vt:lpstr>DaunPenh</vt:lpstr>
      <vt:lpstr>David</vt:lpstr>
      <vt:lpstr>DFKai-SB</vt:lpstr>
      <vt:lpstr>DilleniaUPC</vt:lpstr>
      <vt:lpstr>Distant Galaxy</vt:lpstr>
      <vt:lpstr>DokChampa</vt:lpstr>
      <vt:lpstr>Dotum</vt:lpstr>
      <vt:lpstr>DotumChe</vt:lpstr>
      <vt:lpstr>Ebrima</vt:lpstr>
      <vt:lpstr>Edwardian Script ITC</vt:lpstr>
      <vt:lpstr>Office Theme</vt:lpstr>
      <vt:lpstr>SPINAL CORD INJURY</vt:lpstr>
      <vt:lpstr>Outline</vt:lpstr>
      <vt:lpstr>Normal anatomy of V.C</vt:lpstr>
      <vt:lpstr>Cont’d</vt:lpstr>
      <vt:lpstr>Normal anatomy of S.C</vt:lpstr>
      <vt:lpstr> Cont’d </vt:lpstr>
      <vt:lpstr> Spinal Cord Injury </vt:lpstr>
      <vt:lpstr>Epidemiology</vt:lpstr>
      <vt:lpstr> Cont’d </vt:lpstr>
      <vt:lpstr>Pathophysiology</vt:lpstr>
      <vt:lpstr>Approach to the patient</vt:lpstr>
      <vt:lpstr>Cont’d</vt:lpstr>
      <vt:lpstr>Cont’d</vt:lpstr>
      <vt:lpstr>PowerPoint 演示文稿</vt:lpstr>
      <vt:lpstr>PowerPoint 演示文稿</vt:lpstr>
      <vt:lpstr>Cont’d</vt:lpstr>
      <vt:lpstr>Cont’d</vt:lpstr>
      <vt:lpstr>Cont’d</vt:lpstr>
      <vt:lpstr>Cont’d</vt:lpstr>
      <vt:lpstr>                 ASIA impairment scale</vt:lpstr>
      <vt:lpstr>Imaging</vt:lpstr>
      <vt:lpstr> Cont’d </vt:lpstr>
      <vt:lpstr> Cont’d </vt:lpstr>
      <vt:lpstr>Management of Spinal injury</vt:lpstr>
      <vt:lpstr>Cont’d</vt:lpstr>
      <vt:lpstr> Cont’d </vt:lpstr>
      <vt:lpstr>Cont’d</vt:lpstr>
      <vt:lpstr>PowerPoint 演示文稿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WOUND TYPES, COMPLICATIONS AND MANAGEMENT</dc:title>
  <dc:creator>Getachew Yenus</dc:creator>
  <cp:lastModifiedBy>ToshIba</cp:lastModifiedBy>
  <cp:revision>150</cp:revision>
  <dcterms:created xsi:type="dcterms:W3CDTF">2015-07-02T17:13:00Z</dcterms:created>
  <dcterms:modified xsi:type="dcterms:W3CDTF">2022-11-10T10:22:21Z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BEF238840C8B4D1B9EFA61B062A70E6A</vt:lpwstr>
  </property>
  <property fmtid="{D5CDD505-2E9C-101B-9397-08002B2CF9AE}" pid="3" name="KSOProductBuildVer">
    <vt:lpwstr>1033-11.2.0.11130</vt:lpwstr>
  </property>
</Properties>
</file>