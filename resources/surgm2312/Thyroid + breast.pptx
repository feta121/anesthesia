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7" r:id="rId3"/>
    <p:sldId id="276" r:id="rId4"/>
    <p:sldId id="277" r:id="rId5"/>
    <p:sldId id="278" r:id="rId6"/>
    <p:sldId id="316" r:id="rId7"/>
    <p:sldId id="261" r:id="rId8"/>
    <p:sldId id="386" r:id="rId9"/>
    <p:sldId id="389" r:id="rId10"/>
    <p:sldId id="259" r:id="rId11"/>
    <p:sldId id="258" r:id="rId12"/>
    <p:sldId id="260" r:id="rId13"/>
    <p:sldId id="262" r:id="rId14"/>
    <p:sldId id="390" r:id="rId15"/>
    <p:sldId id="391" r:id="rId16"/>
    <p:sldId id="392" r:id="rId17"/>
    <p:sldId id="405" r:id="rId18"/>
    <p:sldId id="393" r:id="rId19"/>
    <p:sldId id="395" r:id="rId20"/>
    <p:sldId id="282" r:id="rId21"/>
    <p:sldId id="406" r:id="rId22"/>
    <p:sldId id="394" r:id="rId23"/>
    <p:sldId id="283" r:id="rId24"/>
    <p:sldId id="275" r:id="rId26"/>
    <p:sldId id="287" r:id="rId27"/>
    <p:sldId id="267" r:id="rId28"/>
    <p:sldId id="407" r:id="rId29"/>
    <p:sldId id="268" r:id="rId30"/>
    <p:sldId id="269" r:id="rId31"/>
    <p:sldId id="270" r:id="rId32"/>
    <p:sldId id="274" r:id="rId33"/>
    <p:sldId id="295" r:id="rId34"/>
    <p:sldId id="409" r:id="rId35"/>
    <p:sldId id="292" r:id="rId36"/>
    <p:sldId id="293" r:id="rId37"/>
    <p:sldId id="294" r:id="rId38"/>
    <p:sldId id="311" r:id="rId39"/>
    <p:sldId id="302" r:id="rId40"/>
    <p:sldId id="286" r:id="rId41"/>
    <p:sldId id="296" r:id="rId42"/>
    <p:sldId id="410" r:id="rId43"/>
    <p:sldId id="297" r:id="rId44"/>
    <p:sldId id="301" r:id="rId45"/>
    <p:sldId id="412" r:id="rId46"/>
    <p:sldId id="411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72" autoAdjust="0"/>
    <p:restoredTop sz="94660"/>
  </p:normalViewPr>
  <p:slideViewPr>
    <p:cSldViewPr snapToGrid="0">
      <p:cViewPr varScale="1">
        <p:scale>
          <a:sx n="77" d="100"/>
          <a:sy n="77" d="100"/>
        </p:scale>
        <p:origin x="8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0" Type="http://schemas.openxmlformats.org/officeDocument/2006/relationships/tableStyles" Target="tableStyles.xml"/><Relationship Id="rId5" Type="http://schemas.openxmlformats.org/officeDocument/2006/relationships/slide" Target="slides/slide3.xml"/><Relationship Id="rId49" Type="http://schemas.openxmlformats.org/officeDocument/2006/relationships/viewProps" Target="viewProps.xml"/><Relationship Id="rId48" Type="http://schemas.openxmlformats.org/officeDocument/2006/relationships/presProps" Target="presProps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2AC4D2-00E8-4BE5-9C80-D24E7C401DAC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B73F3C-B520-4B01-B2A4-0142E09C54F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8DA08-9AEF-4B9D-9DA2-31D1A9034AC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8DA08-9AEF-4B9D-9DA2-31D1A9034AC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0" i="0" u="none" strike="noStrike" baseline="0" dirty="0">
                <a:latin typeface="TimesLTStd-Roman"/>
              </a:rPr>
              <a:t>The presence of fine, stippled calcium in and around a suspicious lesion is suggestive of breast cancer and occurs in as many as 50% of </a:t>
            </a:r>
            <a:r>
              <a:rPr lang="en-US" sz="1200" b="0" i="0" u="none" strike="noStrike" baseline="0" dirty="0" err="1">
                <a:latin typeface="TimesLTStd-Roman"/>
              </a:rPr>
              <a:t>nonpalpable</a:t>
            </a:r>
            <a:r>
              <a:rPr lang="en-US" sz="1200" b="0" i="0" u="none" strike="noStrike" baseline="0" dirty="0">
                <a:latin typeface="TimesLTStd-Roman"/>
              </a:rPr>
              <a:t> cancers. These micro-calcifications are an especially important sign of cancer in younger women, in whom it may be the only mammographic abnormality.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348E6F-95D6-40AD-BD8D-878CC15E09B8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algn="l">
              <a:buFont typeface="Wingdings" panose="05000000000000000000" pitchFamily="2" charset="2"/>
              <a:buChar char="ü"/>
            </a:pPr>
            <a:r>
              <a:rPr lang="en-US" sz="1200" b="0" i="0" u="none" strike="noStrike" baseline="0" dirty="0">
                <a:latin typeface="TimesLTStd-Roman"/>
              </a:rPr>
              <a:t>When a breast mass is clinically and </a:t>
            </a:r>
            <a:r>
              <a:rPr lang="en-US" sz="1200" b="0" i="0" u="none" strike="noStrike" baseline="0" dirty="0" err="1">
                <a:latin typeface="TimesLTStd-Roman"/>
              </a:rPr>
              <a:t>mammographically</a:t>
            </a:r>
            <a:r>
              <a:rPr lang="en-US" sz="1200" b="0" i="0" u="none" strike="noStrike" baseline="0" dirty="0">
                <a:latin typeface="TimesLTStd-Roman"/>
              </a:rPr>
              <a:t> suspicious, the sensitivity and specificity of FNA biopsy approaches 100%.</a:t>
            </a:r>
            <a:endParaRPr lang="en-US" sz="1200" b="0" i="0" u="none" strike="noStrike" baseline="0" dirty="0">
              <a:latin typeface="TimesLTStd-Roman"/>
            </a:endParaRPr>
          </a:p>
          <a:p>
            <a:pPr marL="171450" indent="-171450" algn="l">
              <a:buFont typeface="Wingdings" panose="05000000000000000000" pitchFamily="2" charset="2"/>
              <a:buChar char="ü"/>
            </a:pPr>
            <a:r>
              <a:rPr lang="en-US" sz="1200" b="0" i="0" u="none" strike="noStrike" baseline="0" dirty="0">
                <a:latin typeface="TimesLTStd-Roman"/>
              </a:rPr>
              <a:t>The advantages of core-needle biopsy include a low complication rate, minimal scarring, a lower cost compared with excisional breast biopsy and single surgical procedure can be planned based on its result.</a:t>
            </a:r>
            <a:endParaRPr lang="en-US" sz="1200" b="0" i="0" u="none" strike="noStrike" baseline="0" dirty="0">
              <a:latin typeface="AGaramondPro-Regular"/>
            </a:endParaRPr>
          </a:p>
          <a:p>
            <a:pPr marL="171450" indent="-171450" algn="l">
              <a:buFont typeface="Wingdings" panose="05000000000000000000" pitchFamily="2" charset="2"/>
              <a:buChar char="ü"/>
            </a:pPr>
            <a:r>
              <a:rPr lang="en-US" sz="1200" b="0" i="0" u="none" strike="noStrike" baseline="0" dirty="0">
                <a:latin typeface="AGaramondPro-Regular"/>
              </a:rPr>
              <a:t>Less than 10% of patients who undergo CNB have inconclusive results and require surgical biopsy for definitive diagnosis. Biopsy results that are not concordant with the targeted lesion (e.g., a </a:t>
            </a:r>
            <a:r>
              <a:rPr lang="en-US" sz="1200" b="0" i="0" u="none" strike="noStrike" baseline="0" dirty="0" err="1">
                <a:latin typeface="AGaramondPro-Regular"/>
              </a:rPr>
              <a:t>spiculated</a:t>
            </a:r>
            <a:r>
              <a:rPr lang="en-US" sz="1200" b="0" i="0" u="none" strike="noStrike" baseline="0" dirty="0">
                <a:latin typeface="AGaramondPro-Regular"/>
              </a:rPr>
              <a:t> mass on imaging and normal breast tissue on CNB) necessitate surgical excision. When ADH is found on CNB, surgical excision reveals DCIS or invasive carcinoma in 20% to 30% of cases because of the difficulty of distinguishing ADH and DCIS in a limited</a:t>
            </a:r>
            <a:endParaRPr lang="en-US" sz="1200" b="0" i="0" u="none" strike="noStrike" baseline="0" dirty="0">
              <a:latin typeface="AGaramondPro-Regular"/>
            </a:endParaRPr>
          </a:p>
          <a:p>
            <a:pPr algn="l"/>
            <a:r>
              <a:rPr lang="en-US" sz="1200" b="0" i="0" u="none" strike="noStrike" baseline="0" dirty="0">
                <a:latin typeface="AGaramondPro-Regular"/>
              </a:rPr>
              <a:t>tissue sample. A finding of a cellular </a:t>
            </a:r>
            <a:r>
              <a:rPr lang="en-US" sz="1200" b="0" i="0" u="none" strike="noStrike" baseline="0" dirty="0" err="1">
                <a:latin typeface="AGaramondPro-Regular"/>
              </a:rPr>
              <a:t>fibroadenoma</a:t>
            </a:r>
            <a:r>
              <a:rPr lang="en-US" sz="1200" b="0" i="0" u="none" strike="noStrike" baseline="0" dirty="0">
                <a:latin typeface="AGaramondPro-Regular"/>
              </a:rPr>
              <a:t> on CNB requires excision to rule out a </a:t>
            </a:r>
            <a:r>
              <a:rPr lang="en-US" sz="1200" b="0" i="0" u="none" strike="noStrike" baseline="0" dirty="0" err="1">
                <a:latin typeface="AGaramondPro-Regular"/>
              </a:rPr>
              <a:t>phyllodes</a:t>
            </a:r>
            <a:r>
              <a:rPr lang="en-US" sz="1200" b="0" i="0" u="none" strike="noStrike" baseline="0" dirty="0">
                <a:latin typeface="AGaramondPro-Regular"/>
              </a:rPr>
              <a:t> tumor.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348E6F-95D6-40AD-BD8D-878CC15E09B8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7062C8A-F78F-4A8F-A08E-DEBB412AB044}" type="slidenum">
              <a:rPr lang="en-US" altLang="en-US"/>
            </a:fld>
            <a:endParaRPr lang="en-US" altLang="en-US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65D0E05-715F-4C0B-BE98-5365DD4C35A5}" type="slidenum">
              <a:rPr lang="en-US" altLang="en-US"/>
            </a:fld>
            <a:endParaRPr lang="en-US" altLang="en-US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8DA08-9AEF-4B9D-9DA2-31D1A9034AC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8DA08-9AEF-4B9D-9DA2-31D1A9034AC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8DA08-9AEF-4B9D-9DA2-31D1A9034AC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B913761-02D0-4154-BA73-ABFF04A0C254}" type="slidenum">
              <a:rPr lang="en-US" altLang="en-US"/>
            </a:fld>
            <a:endParaRPr lang="en-US" altLang="en-US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DC66C61-3B8F-4675-9668-DB5628E6627A}" type="slidenum">
              <a:rPr lang="en-US" altLang="en-US"/>
            </a:fld>
            <a:endParaRPr lang="en-US" altLang="en-US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8DA08-9AEF-4B9D-9DA2-31D1A9034AC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26E0A93-3380-45A4-8C4B-8CB93BDEDF79}" type="slidenum">
              <a:rPr lang="en-US" altLang="en-US"/>
            </a:fld>
            <a:endParaRPr lang="en-US" altLang="en-US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DAF5B59-457B-4CA4-A810-02CC899EE4E2}" type="slidenum">
              <a:rPr lang="en-US" altLang="en-US"/>
            </a:fld>
            <a:endParaRPr lang="en-US" altLang="en-US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75E87D4-B3DE-423B-8223-177AE9E6A50F}" type="slidenum">
              <a:rPr lang="en-US" altLang="en-US"/>
            </a:fld>
            <a:endParaRPr lang="en-US" altLang="en-US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861A8-31D1-4A40-87CD-73215294B95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FA05-6AB0-4870-BA7A-69C3BE90E13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861A8-31D1-4A40-87CD-73215294B95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FA05-6AB0-4870-BA7A-69C3BE90E13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861A8-31D1-4A40-87CD-73215294B95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FA05-6AB0-4870-BA7A-69C3BE90E13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861A8-31D1-4A40-87CD-73215294B955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FA05-6AB0-4870-BA7A-69C3BE90E13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861A8-31D1-4A40-87CD-73215294B955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FA05-6AB0-4870-BA7A-69C3BE90E13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861A8-31D1-4A40-87CD-73215294B955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FA05-6AB0-4870-BA7A-69C3BE90E13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861A8-31D1-4A40-87CD-73215294B955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FA05-6AB0-4870-BA7A-69C3BE90E13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861A8-31D1-4A40-87CD-73215294B955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FA05-6AB0-4870-BA7A-69C3BE90E13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861A8-31D1-4A40-87CD-73215294B955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FA05-6AB0-4870-BA7A-69C3BE90E13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861A8-31D1-4A40-87CD-73215294B95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FA05-6AB0-4870-BA7A-69C3BE90E13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861A8-31D1-4A40-87CD-73215294B95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FA05-6AB0-4870-BA7A-69C3BE90E13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7861A8-31D1-4A40-87CD-73215294B95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E3FA05-6AB0-4870-BA7A-69C3BE90E13A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.png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jpeg"/><Relationship Id="rId1" Type="http://schemas.openxmlformats.org/officeDocument/2006/relationships/image" Target="../media/image12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e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Thyroid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1" y="273050"/>
            <a:ext cx="3008313" cy="565150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sz="2800" u="sng" dirty="0">
                <a:solidFill>
                  <a:schemeClr val="tx2">
                    <a:lumMod val="75000"/>
                  </a:schemeClr>
                </a:solidFill>
                <a:latin typeface="Comic Sans MS" panose="030F0702030302020204" pitchFamily="66" charset="0"/>
              </a:rPr>
              <a:t>Anatomy</a:t>
            </a:r>
            <a:endParaRPr lang="en-US" sz="2800" u="sng" dirty="0">
              <a:solidFill>
                <a:schemeClr val="tx2">
                  <a:lumMod val="75000"/>
                </a:schemeClr>
              </a:solidFill>
              <a:latin typeface="Comic Sans MS" panose="030F0702030302020204" pitchFamily="66" charset="0"/>
            </a:endParaRPr>
          </a:p>
        </p:txBody>
      </p:sp>
      <p:graphicFrame>
        <p:nvGraphicFramePr>
          <p:cNvPr id="5124" name="Object 2"/>
          <p:cNvGraphicFramePr>
            <a:graphicFrameLocks noGrp="1"/>
          </p:cNvGraphicFramePr>
          <p:nvPr>
            <p:ph idx="1"/>
          </p:nvPr>
        </p:nvGraphicFramePr>
        <p:xfrm>
          <a:off x="7464425" y="614855"/>
          <a:ext cx="4399127" cy="490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Bitmap Image" r:id="rId1" imgW="1609725" imgH="2428875" progId="PBrush">
                  <p:embed/>
                </p:oleObj>
              </mc:Choice>
              <mc:Fallback>
                <p:oleObj name="Bitmap Image" r:id="rId1" imgW="1609725" imgH="2428875" progId="PBrush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4425" y="614855"/>
                        <a:ext cx="4399127" cy="490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0848" y="990601"/>
            <a:ext cx="6734504" cy="4691063"/>
          </a:xfrm>
        </p:spPr>
        <p:txBody>
          <a:bodyPr rtlCol="0">
            <a:no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200" dirty="0"/>
              <a:t>Formed of two+ lobes connected by an isthmus</a:t>
            </a:r>
            <a:endParaRPr lang="en-US" sz="22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200" dirty="0"/>
              <a:t>Weighs about 20 grams</a:t>
            </a:r>
            <a:endParaRPr lang="en-US" sz="22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200" dirty="0"/>
              <a:t>Located From the middle of the thyroid cartilage up to the 6</a:t>
            </a:r>
            <a:r>
              <a:rPr lang="en-US" sz="2200" baseline="30000" dirty="0"/>
              <a:t>th</a:t>
            </a:r>
            <a:r>
              <a:rPr lang="en-US" sz="2200" dirty="0"/>
              <a:t> tracheal ring</a:t>
            </a:r>
            <a:endParaRPr lang="en-US" sz="22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200" dirty="0"/>
              <a:t>Divided In to lobules that contain 20 to 40 follicles each Connected by isthmus found at 2</a:t>
            </a:r>
            <a:r>
              <a:rPr lang="en-US" sz="2200" baseline="30000" dirty="0"/>
              <a:t>nd</a:t>
            </a:r>
            <a:r>
              <a:rPr lang="en-US" sz="2200" dirty="0"/>
              <a:t> to 4</a:t>
            </a:r>
            <a:r>
              <a:rPr lang="en-US" sz="2200" baseline="30000" dirty="0"/>
              <a:t>th</a:t>
            </a:r>
            <a:r>
              <a:rPr lang="en-US" sz="2200" dirty="0"/>
              <a:t> tracheal ring </a:t>
            </a:r>
            <a:endParaRPr lang="en-US" sz="22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200" dirty="0"/>
              <a:t>Perfusion to mass ratio is second only to adrenal gland (highly vascular)</a:t>
            </a:r>
            <a:endParaRPr lang="en-US" sz="22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200" dirty="0"/>
              <a:t>Superior and Inferior thyroid arteries</a:t>
            </a:r>
            <a:endParaRPr lang="en-US" sz="2200" dirty="0"/>
          </a:p>
        </p:txBody>
      </p:sp>
      <p:sp>
        <p:nvSpPr>
          <p:cNvPr id="5125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11E0C9B-BE2D-4D43-96F6-902E233533B7}" type="slidenum">
              <a:rPr lang="en-US" altLang="en-US" sz="1200">
                <a:solidFill>
                  <a:srgbClr val="898989"/>
                </a:solidFill>
              </a:rPr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1981201" y="273050"/>
            <a:ext cx="3008313" cy="717550"/>
          </a:xfrm>
        </p:spPr>
        <p:txBody>
          <a:bodyPr/>
          <a:lstStyle/>
          <a:p>
            <a:pPr eaLnBrk="1" hangingPunct="1"/>
            <a:r>
              <a:rPr lang="en-US" altLang="en-US" sz="2800" u="sng">
                <a:solidFill>
                  <a:schemeClr val="tx2"/>
                </a:solidFill>
                <a:latin typeface="Comic Sans MS" panose="030F0702030302020204" pitchFamily="66" charset="0"/>
              </a:rPr>
              <a:t>physiology</a:t>
            </a:r>
            <a:endParaRPr lang="en-US" altLang="en-US" sz="2800" u="sng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7559" y="1219201"/>
            <a:ext cx="4690241" cy="4906963"/>
          </a:xfrm>
        </p:spPr>
        <p:txBody>
          <a:bodyPr rtlCol="0">
            <a:normAutofit/>
          </a:bodyPr>
          <a:lstStyle/>
          <a:p>
            <a:pPr lvl="1">
              <a:buFont typeface="Wingdings" panose="05000000000000000000" pitchFamily="2" charset="2"/>
              <a:buChar char="ü"/>
              <a:defRPr/>
            </a:pPr>
            <a:endParaRPr lang="en-US" dirty="0">
              <a:latin typeface="Comic Sans MS" panose="030F0702030302020204" pitchFamily="66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lang="en-US" sz="2800" dirty="0" err="1"/>
              <a:t>Hypothalamo</a:t>
            </a:r>
            <a:r>
              <a:rPr lang="en-US" sz="2800" dirty="0"/>
              <a:t> – pituitary – thyroid axis controls secretion</a:t>
            </a:r>
            <a:endParaRPr lang="en-US" sz="2800" dirty="0"/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lang="en-US" sz="2800" dirty="0"/>
              <a:t>Produces T3 and T4</a:t>
            </a:r>
            <a:endParaRPr lang="en-US" sz="2800" dirty="0"/>
          </a:p>
          <a:p>
            <a:pPr marL="1371600" lvl="2" indent="-457200">
              <a:buFont typeface="Arial" panose="020B0604020202020204" pitchFamily="34" charset="0"/>
              <a:buChar char="•"/>
              <a:defRPr/>
            </a:pPr>
            <a:r>
              <a:rPr lang="en-US" sz="2600" dirty="0"/>
              <a:t>T3 only 20% is produced from thyroid</a:t>
            </a:r>
            <a:endParaRPr lang="en-US" sz="2600" dirty="0"/>
          </a:p>
          <a:p>
            <a:pPr marL="1371600" lvl="2" indent="-457200">
              <a:buFont typeface="Arial" panose="020B0604020202020204" pitchFamily="34" charset="0"/>
              <a:buChar char="•"/>
              <a:defRPr/>
            </a:pPr>
            <a:r>
              <a:rPr lang="en-US" sz="2600" dirty="0"/>
              <a:t>80% peripheral conversion of T4 to T3</a:t>
            </a:r>
            <a:endParaRPr lang="en-US" sz="2600" dirty="0"/>
          </a:p>
          <a:p>
            <a:pPr marL="1371600" lvl="2" indent="-457200">
              <a:buFont typeface="Arial" panose="020B0604020202020204" pitchFamily="34" charset="0"/>
              <a:buChar char="•"/>
              <a:defRPr/>
            </a:pPr>
            <a:r>
              <a:rPr lang="en-US" sz="2600" dirty="0"/>
              <a:t>T3 is 4times potent than T4</a:t>
            </a:r>
            <a:endParaRPr lang="en-US" sz="2600" dirty="0"/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endParaRPr lang="en-US" sz="2800" dirty="0"/>
          </a:p>
          <a:p>
            <a:pPr lvl="1">
              <a:buFont typeface="Wingdings" panose="05000000000000000000" pitchFamily="2" charset="2"/>
              <a:buChar char="ü"/>
              <a:defRPr/>
            </a:pPr>
            <a:endParaRPr lang="en-US" dirty="0"/>
          </a:p>
        </p:txBody>
      </p:sp>
      <p:sp>
        <p:nvSpPr>
          <p:cNvPr id="6150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00FE721-C35D-4FAF-8A68-0016C68D6803}" type="slidenum">
              <a:rPr lang="en-US" altLang="en-US" sz="1200">
                <a:solidFill>
                  <a:srgbClr val="898989"/>
                </a:solidFill>
              </a:rPr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6149" name="Picture 4" descr="feedbk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1710" y="618632"/>
            <a:ext cx="4865719" cy="5829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u="sng" dirty="0">
                <a:solidFill>
                  <a:schemeClr val="tx2"/>
                </a:solidFill>
                <a:latin typeface="Comic Sans MS" panose="030F0702030302020204" pitchFamily="66" charset="0"/>
              </a:rPr>
              <a:t>Effects of thyroid hormones</a:t>
            </a:r>
            <a:endParaRPr lang="en-US" altLang="en-US" dirty="0"/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>
                <a:latin typeface="Comic Sans MS" panose="030F0702030302020204" pitchFamily="66" charset="0"/>
              </a:rPr>
              <a:t>Affects almost every system in the body</a:t>
            </a:r>
            <a:endParaRPr lang="en-US" altLang="en-US" sz="2400">
              <a:latin typeface="Comic Sans MS" panose="030F0702030302020204" pitchFamily="66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en-US" sz="2400">
              <a:latin typeface="Comic Sans MS" panose="030F0702030302020204" pitchFamily="66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400">
                <a:latin typeface="Comic Sans MS" panose="030F0702030302020204" pitchFamily="66" charset="0"/>
              </a:rPr>
              <a:t>Fetal brain &amp; skeletal development</a:t>
            </a:r>
            <a:endParaRPr lang="en-US" altLang="en-US" sz="2400">
              <a:latin typeface="Comic Sans MS" panose="030F0702030302020204" pitchFamily="66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en-US" sz="2400">
              <a:latin typeface="Comic Sans MS" panose="030F0702030302020204" pitchFamily="66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400">
                <a:latin typeface="Comic Sans MS" panose="030F0702030302020204" pitchFamily="66" charset="0"/>
              </a:rPr>
              <a:t>Increase O</a:t>
            </a:r>
            <a:r>
              <a:rPr lang="en-US" altLang="en-US" sz="2400" baseline="-25000">
                <a:latin typeface="Comic Sans MS" panose="030F0702030302020204" pitchFamily="66" charset="0"/>
              </a:rPr>
              <a:t>2 </a:t>
            </a:r>
            <a:r>
              <a:rPr lang="en-US" altLang="en-US" sz="2400">
                <a:latin typeface="Comic Sans MS" panose="030F0702030302020204" pitchFamily="66" charset="0"/>
              </a:rPr>
              <a:t>consumption, BMR &amp; heat production</a:t>
            </a:r>
            <a:endParaRPr lang="en-US" altLang="en-US" sz="2400">
              <a:latin typeface="Comic Sans MS" panose="030F0702030302020204" pitchFamily="66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en-US" sz="2400">
              <a:latin typeface="Comic Sans MS" panose="030F0702030302020204" pitchFamily="66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400">
                <a:latin typeface="Comic Sans MS" panose="030F0702030302020204" pitchFamily="66" charset="0"/>
              </a:rPr>
              <a:t>Positive inotropic and chronotropic on heart</a:t>
            </a:r>
            <a:endParaRPr lang="en-US" altLang="en-US" sz="2400">
              <a:latin typeface="Comic Sans MS" panose="030F0702030302020204" pitchFamily="66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en-US" sz="2400">
              <a:latin typeface="Comic Sans MS" panose="030F0702030302020204" pitchFamily="66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400">
                <a:latin typeface="Comic Sans MS" panose="030F0702030302020204" pitchFamily="66" charset="0"/>
              </a:rPr>
              <a:t>Increased GI motility,etc.</a:t>
            </a:r>
            <a:endParaRPr lang="en-US" altLang="en-US" sz="2400" baseline="-25000">
              <a:latin typeface="Comic Sans MS" panose="030F0702030302020204" pitchFamily="66" charset="0"/>
            </a:endParaRPr>
          </a:p>
          <a:p>
            <a:pPr eaLnBrk="1" hangingPunct="1"/>
            <a:endParaRPr lang="en-US" altLang="en-US"/>
          </a:p>
        </p:txBody>
      </p:sp>
      <p:sp>
        <p:nvSpPr>
          <p:cNvPr id="7172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9ADDFC0-8B97-4CB7-AA4E-CD9D14EF319E}" type="slidenum">
              <a:rPr lang="en-US" altLang="en-US" sz="1200">
                <a:solidFill>
                  <a:srgbClr val="898989"/>
                </a:solidFill>
              </a:rPr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Disorders of Thyroid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Abnormal thyroid function</a:t>
            </a:r>
            <a:endParaRPr lang="en-US" dirty="0"/>
          </a:p>
          <a:p>
            <a:pPr lvl="1"/>
            <a:r>
              <a:rPr lang="en-US" dirty="0"/>
              <a:t>Hyperthyroidism</a:t>
            </a:r>
            <a:endParaRPr lang="en-US" dirty="0"/>
          </a:p>
          <a:p>
            <a:pPr lvl="1"/>
            <a:r>
              <a:rPr lang="en-US" dirty="0"/>
              <a:t>Hypothyroidism</a:t>
            </a:r>
            <a:endParaRPr lang="en-US" dirty="0"/>
          </a:p>
          <a:p>
            <a:r>
              <a:rPr lang="en-US" dirty="0"/>
              <a:t>Thyroid enlargement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Goiter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Any enlargement of the thyroid gland</a:t>
            </a:r>
            <a:endParaRPr lang="en-US" dirty="0"/>
          </a:p>
          <a:p>
            <a:r>
              <a:rPr lang="en-US" dirty="0"/>
              <a:t>Goiters may be diffuse, </a:t>
            </a:r>
            <a:r>
              <a:rPr lang="en-US" dirty="0" err="1"/>
              <a:t>uni</a:t>
            </a:r>
            <a:r>
              <a:rPr lang="en-US" dirty="0"/>
              <a:t>-nodular, or multinodular</a:t>
            </a:r>
            <a:endParaRPr lang="en-US" dirty="0"/>
          </a:p>
          <a:p>
            <a:r>
              <a:rPr lang="en-US" dirty="0"/>
              <a:t>Can be toxic or non toxic</a:t>
            </a:r>
            <a:endParaRPr lang="en-US" dirty="0"/>
          </a:p>
          <a:p>
            <a:r>
              <a:rPr lang="en-US" dirty="0"/>
              <a:t>Benign or malignant</a:t>
            </a:r>
            <a:endParaRPr lang="en-US" dirty="0"/>
          </a:p>
          <a:p>
            <a:r>
              <a:rPr lang="en-US" b="1" dirty="0"/>
              <a:t>endemic goiter </a:t>
            </a:r>
            <a:r>
              <a:rPr lang="en-US" dirty="0"/>
              <a:t>- goiter in a significant proportion of individuals in a particular geographic region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hyperthyroidism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395248"/>
            <a:ext cx="11080531" cy="5081752"/>
          </a:xfrm>
        </p:spPr>
        <p:txBody>
          <a:bodyPr>
            <a:normAutofit/>
          </a:bodyPr>
          <a:lstStyle/>
          <a:p>
            <a:r>
              <a:rPr lang="en-US" b="1" dirty="0">
                <a:cs typeface="Lucida Sans Unicode" panose="020B0602030504020204" pitchFamily="34" charset="0"/>
              </a:rPr>
              <a:t>Hyperthyroidism</a:t>
            </a:r>
            <a:r>
              <a:rPr lang="en-US" dirty="0">
                <a:cs typeface="Lucida Sans Unicode" panose="020B0602030504020204" pitchFamily="34" charset="0"/>
              </a:rPr>
              <a:t> </a:t>
            </a:r>
            <a:r>
              <a:rPr lang="en-US" dirty="0">
                <a:cs typeface="Lucida Sans Unicode" panose="020B0602030504020204" pitchFamily="34" charset="0"/>
              </a:rPr>
              <a:t>excess synthesis and secretion of thyroid hormones by the thyroid gland</a:t>
            </a:r>
            <a:endParaRPr lang="en-US" dirty="0">
              <a:cs typeface="Lucida Sans Unicode" panose="020B0602030504020204" pitchFamily="34" charset="0"/>
            </a:endParaRPr>
          </a:p>
          <a:p>
            <a:r>
              <a:rPr lang="en-US" b="1" dirty="0">
                <a:cs typeface="Lucida Sans Unicode" panose="020B0602030504020204" pitchFamily="34" charset="0"/>
              </a:rPr>
              <a:t>Thyrotoxicosi</a:t>
            </a:r>
            <a:r>
              <a:rPr lang="en-US" b="1" dirty="0">
                <a:cs typeface="Lucida Sans Unicode" panose="020B0602030504020204" pitchFamily="34" charset="0"/>
              </a:rPr>
              <a:t>s </a:t>
            </a:r>
            <a:r>
              <a:rPr lang="en-US" dirty="0">
                <a:cs typeface="Lucida Sans Unicode" panose="020B0602030504020204" pitchFamily="34" charset="0"/>
              </a:rPr>
              <a:t>is a clinical</a:t>
            </a:r>
            <a:r>
              <a:rPr lang="en-US" dirty="0">
                <a:cs typeface="Lucida Sans Unicode" panose="020B0602030504020204" pitchFamily="34" charset="0"/>
              </a:rPr>
              <a:t> </a:t>
            </a:r>
            <a:r>
              <a:rPr lang="en-US" dirty="0">
                <a:cs typeface="Lucida Sans Unicode" panose="020B0602030504020204" pitchFamily="34" charset="0"/>
              </a:rPr>
              <a:t>state of thyroid hormone excess of any source</a:t>
            </a:r>
            <a:endParaRPr lang="en-US" dirty="0">
              <a:cs typeface="Lucida Sans Unicode" panose="020B0602030504020204" pitchFamily="34" charset="0"/>
            </a:endParaRPr>
          </a:p>
          <a:p>
            <a:pPr lvl="1"/>
            <a:r>
              <a:rPr lang="en-US" b="1" dirty="0"/>
              <a:t>Graves’ disease, toxic multinodular goiter 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(Plummer’s disease)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en-US" dirty="0"/>
              <a:t>and </a:t>
            </a:r>
            <a:r>
              <a:rPr lang="en-US" b="1" dirty="0"/>
              <a:t>solitary toxic nodule </a:t>
            </a:r>
            <a:r>
              <a:rPr lang="en-US" dirty="0"/>
              <a:t>are most relevant to the surgeon</a:t>
            </a:r>
            <a:endParaRPr lang="en-US" dirty="0"/>
          </a:p>
          <a:p>
            <a:pPr lvl="1"/>
            <a:r>
              <a:rPr lang="en-US" b="1" dirty="0">
                <a:cs typeface="Lucida Sans Unicode" panose="020B0602030504020204" pitchFamily="34" charset="0"/>
              </a:rPr>
              <a:t>More in females </a:t>
            </a:r>
            <a:r>
              <a:rPr lang="en-US" dirty="0">
                <a:cs typeface="Lucida Sans Unicode" panose="020B0602030504020204" pitchFamily="34" charset="0"/>
              </a:rPr>
              <a:t>and affects 4-5% of population</a:t>
            </a:r>
            <a:endParaRPr lang="en-US" dirty="0">
              <a:cs typeface="Lucida Sans Unicode" panose="020B0602030504020204" pitchFamily="34" charset="0"/>
            </a:endParaRPr>
          </a:p>
          <a:p>
            <a:r>
              <a:rPr lang="en-US" dirty="0"/>
              <a:t>Diffuse Toxic Goiter (Graves’ Disease) – commonest</a:t>
            </a:r>
            <a:endParaRPr lang="en-US" dirty="0"/>
          </a:p>
          <a:p>
            <a:pPr lvl="2"/>
            <a:r>
              <a:rPr lang="en-US" b="1" dirty="0"/>
              <a:t>Ophthalmopathy (50%) - </a:t>
            </a:r>
            <a:r>
              <a:rPr lang="en-US" dirty="0"/>
              <a:t>Lid lag , Periorbital edema, blindness </a:t>
            </a:r>
            <a:endParaRPr lang="en-US" dirty="0"/>
          </a:p>
          <a:p>
            <a:pPr lvl="2"/>
            <a:r>
              <a:rPr lang="en-US" b="1" dirty="0"/>
              <a:t>Dermopathy</a:t>
            </a:r>
            <a:r>
              <a:rPr lang="en-US" dirty="0"/>
              <a:t> </a:t>
            </a:r>
            <a:endParaRPr lang="en-US" dirty="0"/>
          </a:p>
          <a:p>
            <a:pPr lvl="2"/>
            <a:r>
              <a:rPr lang="en-US" b="1" dirty="0"/>
              <a:t>Gynecomastia</a:t>
            </a:r>
            <a:endParaRPr lang="en-US" b="1" dirty="0"/>
          </a:p>
          <a:p>
            <a:pPr lvl="2"/>
            <a:r>
              <a:rPr lang="en-US" b="1" dirty="0"/>
              <a:t>Thyroid acropachy</a:t>
            </a:r>
            <a:endParaRPr lang="en-US" b="1" dirty="0"/>
          </a:p>
          <a:p>
            <a:pPr lvl="2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6C6B6-EC39-4642-8EC8-5AF2D78F87A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Clinical features 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6C6B6-EC39-4642-8EC8-5AF2D78F87AF}" type="slidenum">
              <a:rPr lang="en-US" smtClean="0"/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8319" y="4015599"/>
            <a:ext cx="3810000" cy="261388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2092" y="1387221"/>
            <a:ext cx="3810000" cy="248433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3939" y="2362201"/>
            <a:ext cx="3581400" cy="34524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940270" y="93288"/>
            <a:ext cx="5415454" cy="670641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Diagnosis 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TFT</a:t>
            </a:r>
            <a:endParaRPr lang="en-US" b="1" dirty="0"/>
          </a:p>
          <a:p>
            <a:pPr lvl="1"/>
            <a:r>
              <a:rPr lang="en-US" dirty="0"/>
              <a:t>The diagnosis of hyperthyroidism is made by a suppressed TSH with or without an elevated free T3 or T4 </a:t>
            </a:r>
            <a:r>
              <a:rPr lang="en-US" sz="700" dirty="0"/>
              <a:t> </a:t>
            </a:r>
            <a:r>
              <a:rPr lang="en-US" dirty="0"/>
              <a:t>level</a:t>
            </a:r>
            <a:endParaRPr lang="en-US" dirty="0"/>
          </a:p>
          <a:p>
            <a:r>
              <a:rPr lang="en-US" dirty="0"/>
              <a:t>Thyroid scan</a:t>
            </a:r>
            <a:endParaRPr lang="en-US" dirty="0"/>
          </a:p>
          <a:p>
            <a:r>
              <a:rPr lang="en-US" dirty="0"/>
              <a:t>imaging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4764" y="3429000"/>
            <a:ext cx="2362405" cy="191653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8622" y="3429000"/>
            <a:ext cx="3124200" cy="164286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389" y="4659327"/>
            <a:ext cx="3581400" cy="174874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Treatment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Antithyroid drugs</a:t>
            </a:r>
            <a:endParaRPr lang="en-US" b="1" dirty="0"/>
          </a:p>
          <a:p>
            <a:r>
              <a:rPr lang="en-US" b="1" dirty="0"/>
              <a:t>Beta blockers</a:t>
            </a:r>
            <a:endParaRPr lang="en-US" b="1" dirty="0"/>
          </a:p>
          <a:p>
            <a:r>
              <a:rPr lang="en-US" b="1" dirty="0"/>
              <a:t>Thyroid ablation with radioactive </a:t>
            </a:r>
            <a:r>
              <a:rPr lang="en-US" b="1" baseline="30000" dirty="0"/>
              <a:t>131</a:t>
            </a:r>
            <a:r>
              <a:rPr lang="en-US" b="1" dirty="0"/>
              <a:t>I</a:t>
            </a:r>
            <a:endParaRPr lang="en-US" b="1" dirty="0"/>
          </a:p>
          <a:p>
            <a:r>
              <a:rPr lang="en-US" b="1" dirty="0"/>
              <a:t>Thyroidectomy</a:t>
            </a:r>
            <a:endParaRPr lang="en-US" b="1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Malignant thyroid diseases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the </a:t>
            </a:r>
            <a:r>
              <a:rPr lang="en-US" b="1" dirty="0"/>
              <a:t>most common endocrine malignancy</a:t>
            </a:r>
            <a:r>
              <a:rPr lang="en-US" dirty="0"/>
              <a:t>, </a:t>
            </a:r>
            <a:endParaRPr lang="en-US" dirty="0"/>
          </a:p>
          <a:p>
            <a:r>
              <a:rPr lang="en-US" dirty="0"/>
              <a:t>F: M– 2.5:1</a:t>
            </a:r>
            <a:endParaRPr lang="en-US" dirty="0"/>
          </a:p>
          <a:p>
            <a:r>
              <a:rPr lang="en-US" dirty="0"/>
              <a:t>Differentiated </a:t>
            </a:r>
            <a:endParaRPr lang="en-US" dirty="0"/>
          </a:p>
          <a:p>
            <a:pPr lvl="1"/>
            <a:r>
              <a:rPr lang="en-US" dirty="0"/>
              <a:t>Papillary thyroid ca, follicular thyroid ca, </a:t>
            </a:r>
            <a:r>
              <a:rPr lang="en-US" dirty="0" err="1"/>
              <a:t>Hürthle</a:t>
            </a:r>
            <a:r>
              <a:rPr lang="en-US" dirty="0"/>
              <a:t> Cell Carcinoma</a:t>
            </a:r>
            <a:endParaRPr lang="en-US" dirty="0"/>
          </a:p>
          <a:p>
            <a:r>
              <a:rPr lang="en-US" dirty="0"/>
              <a:t>Poorly differentiated</a:t>
            </a:r>
            <a:endParaRPr lang="en-US" dirty="0"/>
          </a:p>
          <a:p>
            <a:pPr lvl="1"/>
            <a:r>
              <a:rPr lang="en-US" dirty="0"/>
              <a:t>Medullary , anaplastic</a:t>
            </a:r>
            <a:endParaRPr lang="en-US" dirty="0"/>
          </a:p>
          <a:p>
            <a:r>
              <a:rPr lang="en-US" dirty="0"/>
              <a:t>Lymphoma</a:t>
            </a:r>
            <a:endParaRPr lang="en-US" dirty="0"/>
          </a:p>
          <a:p>
            <a:r>
              <a:rPr lang="en-US" dirty="0"/>
              <a:t>Metastatic – rare- </a:t>
            </a:r>
            <a:r>
              <a:rPr lang="en-US" b="1" dirty="0"/>
              <a:t>kidney</a:t>
            </a:r>
            <a:r>
              <a:rPr lang="en-US" dirty="0"/>
              <a:t>, </a:t>
            </a:r>
            <a:r>
              <a:rPr lang="en-US" b="1" dirty="0"/>
              <a:t>breast</a:t>
            </a:r>
            <a:r>
              <a:rPr lang="en-US" dirty="0"/>
              <a:t>, </a:t>
            </a:r>
            <a:r>
              <a:rPr lang="en-US" b="1" dirty="0"/>
              <a:t>lung</a:t>
            </a:r>
            <a:r>
              <a:rPr lang="en-US" dirty="0"/>
              <a:t>, and </a:t>
            </a:r>
            <a:r>
              <a:rPr lang="en-US" b="1" dirty="0"/>
              <a:t>melanoma</a:t>
            </a:r>
            <a:endParaRPr lang="en-US" b="1" dirty="0"/>
          </a:p>
          <a:p>
            <a:endParaRPr lang="en-US" b="1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workup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FNAB</a:t>
            </a:r>
            <a:endParaRPr lang="en-US" dirty="0"/>
          </a:p>
          <a:p>
            <a:r>
              <a:rPr lang="en-US" dirty="0"/>
              <a:t>Neck u/s</a:t>
            </a:r>
            <a:endParaRPr lang="en-US" dirty="0"/>
          </a:p>
          <a:p>
            <a:r>
              <a:rPr lang="en-US" dirty="0"/>
              <a:t>Ultrasound, CT, MRI</a:t>
            </a:r>
            <a:endParaRPr lang="en-US" dirty="0"/>
          </a:p>
          <a:p>
            <a:r>
              <a:rPr lang="en-US" dirty="0"/>
              <a:t>Serum calcitonin and serum CEA</a:t>
            </a:r>
            <a:endParaRPr lang="en-US" dirty="0"/>
          </a:p>
          <a:p>
            <a:r>
              <a:rPr lang="en-US" dirty="0"/>
              <a:t>Serum calcium</a:t>
            </a:r>
            <a:endParaRPr lang="en-US" dirty="0"/>
          </a:p>
          <a:p>
            <a:r>
              <a:rPr lang="en-US" dirty="0"/>
              <a:t>laryngoscopy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Treatment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Surgery</a:t>
            </a:r>
            <a:r>
              <a:rPr lang="en-US" dirty="0"/>
              <a:t> -  lobectomy and </a:t>
            </a:r>
            <a:r>
              <a:rPr lang="en-US" dirty="0" err="1"/>
              <a:t>isthmusectomy</a:t>
            </a:r>
            <a:r>
              <a:rPr lang="en-US" dirty="0"/>
              <a:t>, total thyroidectomy +/- neck dissection</a:t>
            </a:r>
            <a:endParaRPr lang="en-US" dirty="0"/>
          </a:p>
          <a:p>
            <a:r>
              <a:rPr lang="en-US" dirty="0"/>
              <a:t>Chemotherapy</a:t>
            </a:r>
            <a:endParaRPr lang="en-US" dirty="0"/>
          </a:p>
          <a:p>
            <a:r>
              <a:rPr lang="en-US" dirty="0"/>
              <a:t>radiotherapy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Complications of thyroidectomy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err="1"/>
              <a:t>Intraop</a:t>
            </a:r>
            <a:r>
              <a:rPr lang="en-GB" dirty="0"/>
              <a:t> – bleeding, adjacent organ injury (RLN, SLN), thyroid storm</a:t>
            </a:r>
            <a:endParaRPr lang="en-GB" dirty="0"/>
          </a:p>
          <a:p>
            <a:pPr lvl="1"/>
            <a:r>
              <a:rPr lang="en-US" dirty="0"/>
              <a:t>Thyroid artery, Thyroid vein, Thyroid remnant</a:t>
            </a:r>
            <a:endParaRPr lang="en-GB" dirty="0"/>
          </a:p>
          <a:p>
            <a:r>
              <a:rPr lang="en-GB" dirty="0"/>
              <a:t>Immediate – upper airway obstruction, bleeding</a:t>
            </a:r>
            <a:endParaRPr lang="en-GB" dirty="0"/>
          </a:p>
          <a:p>
            <a:pPr lvl="1"/>
            <a:r>
              <a:rPr lang="en-GB" dirty="0"/>
              <a:t>Hematoma, Bilateral RLN, </a:t>
            </a:r>
            <a:r>
              <a:rPr lang="en-GB" dirty="0" err="1"/>
              <a:t>Hypocalcaemic</a:t>
            </a:r>
            <a:r>
              <a:rPr lang="en-GB" dirty="0"/>
              <a:t> laryngeal spasm, Laryngeal </a:t>
            </a:r>
            <a:r>
              <a:rPr lang="en-GB" dirty="0" err="1"/>
              <a:t>edema</a:t>
            </a:r>
            <a:r>
              <a:rPr lang="en-GB" dirty="0"/>
              <a:t>, tracheomalacia</a:t>
            </a:r>
            <a:endParaRPr lang="en-GB" dirty="0"/>
          </a:p>
          <a:p>
            <a:r>
              <a:rPr lang="en-GB" dirty="0"/>
              <a:t>Early – hypocalcaemia, RLN and SLN damage</a:t>
            </a:r>
            <a:endParaRPr lang="en-GB" dirty="0"/>
          </a:p>
          <a:p>
            <a:r>
              <a:rPr lang="en-GB" dirty="0"/>
              <a:t>Late – hypothyroidism and hypoparathyroidism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Breast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Anatomy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Located with in the superficial fascia of anterior chest wall.</a:t>
            </a:r>
            <a:endParaRPr lang="en-US" dirty="0"/>
          </a:p>
          <a:p>
            <a:pPr lvl="1"/>
            <a:r>
              <a:rPr lang="en-US" dirty="0"/>
              <a:t>From 2</a:t>
            </a:r>
            <a:r>
              <a:rPr lang="en-US" baseline="30000" dirty="0"/>
              <a:t>nd</a:t>
            </a:r>
            <a:r>
              <a:rPr lang="en-US" dirty="0"/>
              <a:t> to 6</a:t>
            </a:r>
            <a:r>
              <a:rPr lang="en-US" baseline="30000" dirty="0"/>
              <a:t>th</a:t>
            </a:r>
            <a:r>
              <a:rPr lang="en-US" dirty="0"/>
              <a:t> rib</a:t>
            </a:r>
            <a:endParaRPr lang="en-US" dirty="0"/>
          </a:p>
          <a:p>
            <a:pPr lvl="1"/>
            <a:r>
              <a:rPr lang="en-US" dirty="0"/>
              <a:t>From lateral boarder of sternum to the mid axillary line.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Blood supply is from</a:t>
            </a:r>
            <a:endParaRPr lang="en-US" dirty="0"/>
          </a:p>
          <a:p>
            <a:pPr lvl="1"/>
            <a:r>
              <a:rPr lang="en-US" dirty="0"/>
              <a:t>Perforating branches of the </a:t>
            </a:r>
            <a:r>
              <a:rPr lang="en-US" b="1" dirty="0"/>
              <a:t>internal mammary </a:t>
            </a:r>
            <a:endParaRPr lang="en-US" b="1" dirty="0"/>
          </a:p>
          <a:p>
            <a:pPr lvl="1"/>
            <a:r>
              <a:rPr lang="en-US" dirty="0"/>
              <a:t>Branches from the </a:t>
            </a:r>
            <a:r>
              <a:rPr lang="en-US" b="1" dirty="0"/>
              <a:t>axillary artery </a:t>
            </a:r>
            <a:r>
              <a:rPr lang="en-US" dirty="0"/>
              <a:t>(lateral mammary branches)</a:t>
            </a:r>
            <a:endParaRPr lang="en-US" dirty="0"/>
          </a:p>
          <a:p>
            <a:pPr lvl="1"/>
            <a:r>
              <a:rPr lang="en-US" dirty="0"/>
              <a:t>Lateral branches of the </a:t>
            </a:r>
            <a:r>
              <a:rPr lang="en-US" b="1" dirty="0"/>
              <a:t>posterior intercostal arteries</a:t>
            </a:r>
            <a:endParaRPr lang="en-US" b="1" dirty="0"/>
          </a:p>
          <a:p>
            <a:r>
              <a:rPr lang="en-US" dirty="0"/>
              <a:t>veins follow arteries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Axilla</a:t>
            </a:r>
            <a:r>
              <a:rPr lang="en-US" dirty="0"/>
              <a:t> - Anatomy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pyramidal space </a:t>
            </a:r>
            <a:endParaRPr lang="en-US" dirty="0"/>
          </a:p>
          <a:p>
            <a:r>
              <a:rPr lang="en-US" b="1" u="sng" dirty="0"/>
              <a:t>Apex</a:t>
            </a:r>
            <a:r>
              <a:rPr lang="en-US" dirty="0"/>
              <a:t>: </a:t>
            </a:r>
            <a:r>
              <a:rPr lang="en-US" dirty="0" err="1"/>
              <a:t>cervicoaxillary</a:t>
            </a:r>
            <a:r>
              <a:rPr lang="en-US" dirty="0"/>
              <a:t> canal – a triangular space: clavicle, scapula, first rib.</a:t>
            </a:r>
            <a:endParaRPr lang="en-US" b="1" dirty="0"/>
          </a:p>
          <a:p>
            <a:r>
              <a:rPr lang="en-US" b="1" dirty="0"/>
              <a:t>Base: </a:t>
            </a:r>
            <a:r>
              <a:rPr lang="en-US" dirty="0" err="1"/>
              <a:t>axillary</a:t>
            </a:r>
            <a:r>
              <a:rPr lang="en-US" dirty="0"/>
              <a:t> fascia</a:t>
            </a:r>
            <a:endParaRPr lang="en-US" dirty="0"/>
          </a:p>
          <a:p>
            <a:r>
              <a:rPr lang="en-US" b="1" u="sng" dirty="0"/>
              <a:t>Anterior wall</a:t>
            </a:r>
            <a:r>
              <a:rPr lang="en-US" dirty="0"/>
              <a:t>: </a:t>
            </a:r>
            <a:r>
              <a:rPr lang="en-US" dirty="0" err="1"/>
              <a:t>Clavipectoral</a:t>
            </a:r>
            <a:r>
              <a:rPr lang="en-US" dirty="0"/>
              <a:t> fascia containing p. major, p. minor and </a:t>
            </a:r>
            <a:r>
              <a:rPr lang="en-US" dirty="0" err="1"/>
              <a:t>subclavius</a:t>
            </a:r>
            <a:r>
              <a:rPr lang="en-US" dirty="0"/>
              <a:t>.</a:t>
            </a:r>
            <a:endParaRPr lang="en-US" dirty="0"/>
          </a:p>
          <a:p>
            <a:r>
              <a:rPr lang="en-US" b="1" u="sng" dirty="0"/>
              <a:t>Posterior wall</a:t>
            </a:r>
            <a:r>
              <a:rPr lang="en-US" dirty="0"/>
              <a:t>: scapula and three muscles (</a:t>
            </a:r>
            <a:r>
              <a:rPr lang="en-US" dirty="0" err="1"/>
              <a:t>subscapularis</a:t>
            </a:r>
            <a:r>
              <a:rPr lang="en-US" dirty="0"/>
              <a:t>, </a:t>
            </a:r>
            <a:r>
              <a:rPr lang="en-US" dirty="0" err="1"/>
              <a:t>latismus</a:t>
            </a:r>
            <a:r>
              <a:rPr lang="en-US" dirty="0"/>
              <a:t> </a:t>
            </a:r>
            <a:r>
              <a:rPr lang="en-US" dirty="0" err="1"/>
              <a:t>dorsi</a:t>
            </a:r>
            <a:r>
              <a:rPr lang="en-US" dirty="0"/>
              <a:t> and </a:t>
            </a:r>
            <a:r>
              <a:rPr lang="en-US" dirty="0" err="1"/>
              <a:t>teres</a:t>
            </a:r>
            <a:r>
              <a:rPr lang="en-US" dirty="0"/>
              <a:t> major)</a:t>
            </a:r>
            <a:endParaRPr lang="en-US" dirty="0"/>
          </a:p>
          <a:p>
            <a:r>
              <a:rPr lang="en-US" b="1" dirty="0"/>
              <a:t>Medial wall</a:t>
            </a:r>
            <a:r>
              <a:rPr lang="en-US" dirty="0"/>
              <a:t>: lateral chest wall 2</a:t>
            </a:r>
            <a:r>
              <a:rPr lang="en-US" baseline="30000" dirty="0"/>
              <a:t>nd</a:t>
            </a:r>
            <a:r>
              <a:rPr lang="en-US" dirty="0"/>
              <a:t> to 6</a:t>
            </a:r>
            <a:r>
              <a:rPr lang="en-US" baseline="30000" dirty="0"/>
              <a:t>th</a:t>
            </a:r>
            <a:r>
              <a:rPr lang="en-US" dirty="0"/>
              <a:t> ribs and </a:t>
            </a:r>
            <a:r>
              <a:rPr lang="en-US" dirty="0" err="1"/>
              <a:t>serratus</a:t>
            </a:r>
            <a:r>
              <a:rPr lang="en-US" dirty="0"/>
              <a:t> anterior wall</a:t>
            </a:r>
            <a:endParaRPr lang="en-US" dirty="0"/>
          </a:p>
          <a:p>
            <a:r>
              <a:rPr lang="en-US" b="1" dirty="0"/>
              <a:t>Lateral wall</a:t>
            </a:r>
            <a:r>
              <a:rPr lang="en-US" dirty="0"/>
              <a:t>: </a:t>
            </a:r>
            <a:r>
              <a:rPr lang="en-US" dirty="0" err="1"/>
              <a:t>bicipital</a:t>
            </a:r>
            <a:r>
              <a:rPr lang="en-US" dirty="0"/>
              <a:t> groove of </a:t>
            </a:r>
            <a:r>
              <a:rPr lang="en-US" dirty="0" err="1"/>
              <a:t>humerus</a:t>
            </a:r>
            <a:r>
              <a:rPr lang="en-US" dirty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Lymphatic drainage of the breast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Axillary</a:t>
            </a:r>
            <a:r>
              <a:rPr lang="en-US" dirty="0"/>
              <a:t> lymph nodes</a:t>
            </a:r>
            <a:endParaRPr lang="en-US" dirty="0"/>
          </a:p>
          <a:p>
            <a:pPr lvl="1"/>
            <a:r>
              <a:rPr lang="en-US" dirty="0"/>
              <a:t>Anterior, Pectoral (External mammary) nodes</a:t>
            </a:r>
            <a:endParaRPr lang="en-US" dirty="0"/>
          </a:p>
          <a:p>
            <a:pPr lvl="1"/>
            <a:r>
              <a:rPr lang="en-US" dirty="0"/>
              <a:t>Scapular, posterior nodes</a:t>
            </a:r>
            <a:endParaRPr lang="en-US" dirty="0"/>
          </a:p>
          <a:p>
            <a:pPr lvl="1"/>
            <a:r>
              <a:rPr lang="en-US" dirty="0"/>
              <a:t>Lateral nodes: </a:t>
            </a:r>
            <a:endParaRPr lang="en-US" dirty="0"/>
          </a:p>
          <a:p>
            <a:pPr lvl="1"/>
            <a:r>
              <a:rPr lang="en-US" dirty="0"/>
              <a:t>Central nodes: largest group and easily palpable.</a:t>
            </a:r>
            <a:endParaRPr lang="en-US" dirty="0"/>
          </a:p>
          <a:p>
            <a:pPr lvl="1"/>
            <a:r>
              <a:rPr lang="en-US" dirty="0"/>
              <a:t>Apical nodes</a:t>
            </a:r>
            <a:endParaRPr lang="en-US" dirty="0"/>
          </a:p>
          <a:p>
            <a:pPr lvl="1"/>
            <a:r>
              <a:rPr lang="en-US" dirty="0" err="1"/>
              <a:t>Interpectoral</a:t>
            </a:r>
            <a:r>
              <a:rPr lang="en-US" dirty="0"/>
              <a:t> nodes; smallest group</a:t>
            </a:r>
            <a:endParaRPr lang="en-US" dirty="0"/>
          </a:p>
          <a:p>
            <a:r>
              <a:rPr lang="en-US" dirty="0"/>
              <a:t>Internal mammary lymph nodes</a:t>
            </a:r>
            <a:endParaRPr lang="en-US" dirty="0"/>
          </a:p>
          <a:p>
            <a:r>
              <a:rPr lang="en-US" dirty="0"/>
              <a:t>(</a:t>
            </a:r>
            <a:r>
              <a:rPr lang="en-US" dirty="0" err="1"/>
              <a:t>Infraclavicular</a:t>
            </a:r>
            <a:r>
              <a:rPr lang="en-US" dirty="0"/>
              <a:t>, </a:t>
            </a:r>
            <a:r>
              <a:rPr lang="en-US" dirty="0" err="1"/>
              <a:t>Supraclavicular</a:t>
            </a:r>
            <a:r>
              <a:rPr lang="en-US" dirty="0"/>
              <a:t>)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Levels (according to their anatomic relationship to the pectoralis minor muscle)</a:t>
            </a:r>
            <a:endParaRPr lang="en-US" dirty="0"/>
          </a:p>
          <a:p>
            <a:pPr lvl="1"/>
            <a:r>
              <a:rPr lang="en-US" b="1" dirty="0"/>
              <a:t>Level I</a:t>
            </a:r>
            <a:endParaRPr lang="en-US" b="1" dirty="0"/>
          </a:p>
          <a:p>
            <a:pPr lvl="2"/>
            <a:r>
              <a:rPr lang="en-US" dirty="0"/>
              <a:t>Lymph nodes located lateral to or below the lower border of the pectoralis minor muscle </a:t>
            </a:r>
            <a:endParaRPr lang="en-US" dirty="0"/>
          </a:p>
          <a:p>
            <a:pPr lvl="1"/>
            <a:r>
              <a:rPr lang="en-US" b="1" dirty="0"/>
              <a:t>Level 2</a:t>
            </a:r>
            <a:endParaRPr lang="en-US" b="1" dirty="0"/>
          </a:p>
          <a:p>
            <a:pPr lvl="2"/>
            <a:r>
              <a:rPr lang="en-US" dirty="0"/>
              <a:t>Lymph nodes located superficial or deep to the pectoralis minor muscle</a:t>
            </a:r>
            <a:endParaRPr lang="en-US" dirty="0"/>
          </a:p>
          <a:p>
            <a:pPr lvl="1"/>
            <a:r>
              <a:rPr lang="en-US" b="1" dirty="0"/>
              <a:t>Level 3 </a:t>
            </a:r>
            <a:endParaRPr lang="en-US" b="1" dirty="0"/>
          </a:p>
          <a:p>
            <a:pPr lvl="2"/>
            <a:r>
              <a:rPr lang="en-US" dirty="0"/>
              <a:t>Lymph nodes located medial to or above the upper border of the pectoralis minor muscle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 descr="C:\Users\DELL\Desktop\Untitled.pn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729346" y="1299556"/>
            <a:ext cx="5038725" cy="49815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Malignant lesions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Breast ca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Major cause of cancer deaths in women</a:t>
            </a:r>
            <a:endParaRPr lang="en-US" dirty="0"/>
          </a:p>
          <a:p>
            <a:r>
              <a:rPr lang="en-US" dirty="0"/>
              <a:t>Occurs in 1 of 9 women in US</a:t>
            </a:r>
            <a:endParaRPr lang="en-US" dirty="0"/>
          </a:p>
          <a:p>
            <a:r>
              <a:rPr lang="en-US" b="1" dirty="0"/>
              <a:t>Risk factors:</a:t>
            </a:r>
            <a:r>
              <a:rPr lang="en-US" dirty="0"/>
              <a:t> </a:t>
            </a:r>
            <a:endParaRPr lang="en-US" dirty="0"/>
          </a:p>
          <a:p>
            <a:pPr lvl="1"/>
            <a:r>
              <a:rPr lang="en-US" dirty="0"/>
              <a:t>genetic, </a:t>
            </a:r>
            <a:r>
              <a:rPr lang="en-US" b="1" dirty="0"/>
              <a:t>BRCA1</a:t>
            </a:r>
            <a:r>
              <a:rPr lang="en-US" dirty="0"/>
              <a:t> and </a:t>
            </a:r>
            <a:r>
              <a:rPr lang="en-US" b="1" dirty="0"/>
              <a:t>BRCA2</a:t>
            </a:r>
            <a:r>
              <a:rPr lang="en-US" dirty="0"/>
              <a:t> , </a:t>
            </a:r>
            <a:r>
              <a:rPr lang="en-US" dirty="0" err="1"/>
              <a:t>lafraumeni</a:t>
            </a:r>
            <a:r>
              <a:rPr lang="en-US" dirty="0"/>
              <a:t> syndrome</a:t>
            </a:r>
            <a:endParaRPr lang="en-US" dirty="0"/>
          </a:p>
          <a:p>
            <a:pPr lvl="1"/>
            <a:r>
              <a:rPr lang="en-US" dirty="0"/>
              <a:t>Hormonal - risk increases with early menarche, late menopause, nulliparity, having first child after age 30</a:t>
            </a:r>
            <a:endParaRPr lang="en-US" dirty="0"/>
          </a:p>
          <a:p>
            <a:pPr lvl="1"/>
            <a:r>
              <a:rPr lang="en-US" dirty="0"/>
              <a:t>Environmental - </a:t>
            </a:r>
            <a:r>
              <a:rPr lang="en-US" b="1" i="1" dirty="0"/>
              <a:t>thought due to high fat diet and heavy alcohol use</a:t>
            </a:r>
            <a:r>
              <a:rPr lang="en-US" dirty="0"/>
              <a:t>; </a:t>
            </a: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 invasive </a:t>
            </a:r>
            <a:endParaRPr lang="en-US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7485" y="99753"/>
            <a:ext cx="5802935" cy="6675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Invasive carcinoma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26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Invasive ductal carcinoma of NST, 80%</a:t>
            </a:r>
            <a:endParaRPr lang="en-US" sz="26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6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Special types</a:t>
            </a:r>
            <a:endParaRPr lang="en-US" sz="26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6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- Medullary carcinoma, 4%</a:t>
            </a:r>
            <a:endParaRPr lang="en-US" sz="26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6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- Mucinous (colloid) carcinoma, 2%</a:t>
            </a:r>
            <a:endParaRPr lang="en-US" sz="26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6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- Papillary carcinoma, 2%</a:t>
            </a:r>
            <a:endParaRPr lang="en-US" sz="26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6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- Tubular carcinoma, 2%</a:t>
            </a:r>
            <a:endParaRPr lang="en-US" sz="26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6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Invasive lobular carcinoma, 10%</a:t>
            </a:r>
            <a:endParaRPr lang="en-US" sz="26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Wingdings" panose="05000000000000000000" pitchFamily="2" charset="2"/>
              <a:buChar char="ü"/>
            </a:pPr>
            <a:r>
              <a:rPr lang="en-US" sz="2665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Paget’s disease of the nipple</a:t>
            </a:r>
            <a:endParaRPr lang="en-US" sz="26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6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Rare cancers (adenoid cystic, squamous cell, apocrine)</a:t>
            </a:r>
            <a:endParaRPr lang="en-US" sz="26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1176000" cy="452596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26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Invasive ductal cancer tends to grow as a cohesive mass; </a:t>
            </a:r>
            <a:endParaRPr lang="en-US" sz="26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6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it appears as discrete abnormalities on mammograms</a:t>
            </a:r>
            <a:endParaRPr lang="en-US" sz="26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6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palpable as a discrete lump in the breast. </a:t>
            </a:r>
            <a:endParaRPr lang="en-US" sz="26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6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Invasive lobular cancer tends to permeate the breast in a single-file nature, </a:t>
            </a:r>
            <a:endParaRPr lang="en-US" sz="26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6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it remains clinically occult and often escapes detection on 	      	  mammography or  physical examination until the disease is extensive.</a:t>
            </a:r>
            <a:endParaRPr lang="en-US" sz="26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Spread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Directly to surrounding tissue</a:t>
            </a:r>
            <a:endParaRPr lang="en-US" sz="26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Lymphatic </a:t>
            </a:r>
            <a:endParaRPr lang="en-US" sz="26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6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Hematogenous</a:t>
            </a:r>
            <a:endParaRPr lang="en-US" sz="26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327400"/>
            <a:ext cx="4064000" cy="3332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2400" y="1397000"/>
            <a:ext cx="5643419" cy="546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Diagnosis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Wingdings" panose="05000000000000000000" pitchFamily="2" charset="2"/>
              <a:buChar char="ü"/>
            </a:pPr>
            <a:r>
              <a:rPr lang="en-US" sz="26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History (symptoms) &amp; </a:t>
            </a:r>
            <a:r>
              <a:rPr lang="en-US" sz="2665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exam</a:t>
            </a:r>
            <a:endParaRPr lang="en-US" sz="2665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Wingdings" panose="05000000000000000000" pitchFamily="2" charset="2"/>
              <a:buChar char="ü"/>
            </a:pPr>
            <a:r>
              <a:rPr lang="en-US" sz="2665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Imaging </a:t>
            </a:r>
            <a:endParaRPr lang="en-US" sz="2665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Wingdings" panose="05000000000000000000" pitchFamily="2" charset="2"/>
              <a:buChar char="ü"/>
            </a:pPr>
            <a:r>
              <a:rPr lang="en-US" sz="2665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Pathology</a:t>
            </a:r>
            <a:endParaRPr lang="en-US" sz="2665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665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735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History &amp;  Physical </a:t>
            </a:r>
            <a:endParaRPr lang="en-US" sz="3735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735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examination</a:t>
            </a:r>
            <a:endParaRPr lang="en-US" sz="3735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sz="2665" dirty="0"/>
          </a:p>
          <a:p>
            <a:pPr marL="0" indent="0">
              <a:buNone/>
            </a:pPr>
            <a:endParaRPr lang="en-US" sz="2665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4401" y="3429000"/>
            <a:ext cx="5168900" cy="3394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algn="l">
              <a:spcBef>
                <a:spcPct val="20000"/>
              </a:spcBef>
            </a:pPr>
            <a:r>
              <a:rPr lang="en-US" sz="5335" b="1" dirty="0">
                <a:solidFill>
                  <a:prstClr val="black"/>
                </a:solidFill>
                <a:ea typeface="+mn-ea"/>
                <a:cs typeface="+mn-cs"/>
              </a:rPr>
              <a:t>Imaging</a:t>
            </a:r>
            <a:endParaRPr lang="en-US" sz="7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prstClr val="black"/>
                </a:solidFill>
              </a:rPr>
              <a:t>Mammography</a:t>
            </a:r>
            <a:r>
              <a:rPr lang="en-US" dirty="0">
                <a:solidFill>
                  <a:prstClr val="black"/>
                </a:solidFill>
              </a:rPr>
              <a:t> </a:t>
            </a:r>
            <a:endParaRPr lang="en-US" dirty="0">
              <a:solidFill>
                <a:prstClr val="black"/>
              </a:solidFill>
            </a:endParaRPr>
          </a:p>
          <a:p>
            <a:pPr lvl="0">
              <a:buFont typeface="Wingdings" panose="05000000000000000000" pitchFamily="2" charset="2"/>
              <a:buChar char="ü"/>
            </a:pPr>
            <a:r>
              <a:rPr lang="en-US" sz="2665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sensitivity &amp; specificity for women &lt;50yrs of age</a:t>
            </a:r>
            <a:endParaRPr lang="en-US" sz="2665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b="1" dirty="0"/>
              <a:t>Ultrasound</a:t>
            </a:r>
            <a:endParaRPr lang="en-US" sz="3200" b="1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X-tics feature of ca – irregular wall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guide FNAC, Core needle biopsy,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/>
              <a:t>MRI</a:t>
            </a:r>
            <a:endParaRPr lang="en-US" b="1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Highly sensitive and specific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endParaRPr lang="en-US" sz="2665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265" b="1" dirty="0"/>
              <a:t>Pathology</a:t>
            </a:r>
            <a:endParaRPr lang="en-US" sz="4265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97001"/>
            <a:ext cx="10972800" cy="5181599"/>
          </a:xfrm>
        </p:spPr>
        <p:txBody>
          <a:bodyPr>
            <a:normAutofit/>
          </a:bodyPr>
          <a:lstStyle/>
          <a:p>
            <a:pPr marL="0" indent="0">
              <a:spcBef>
                <a:spcPts val="1335"/>
              </a:spcBef>
              <a:buNone/>
            </a:pPr>
            <a:r>
              <a:rPr lang="en-US" sz="2935" b="1" dirty="0">
                <a:solidFill>
                  <a:prstClr val="black"/>
                </a:solidFill>
                <a:latin typeface="+mj-lt"/>
                <a:cs typeface="Andalus" panose="02020603050405020304" pitchFamily="18" charset="-78"/>
              </a:rPr>
              <a:t>FNAC</a:t>
            </a:r>
            <a:endParaRPr lang="en-US" sz="2935" b="1" dirty="0">
              <a:solidFill>
                <a:prstClr val="black"/>
              </a:solidFill>
              <a:latin typeface="+mj-lt"/>
              <a:cs typeface="Andalus" panose="02020603050405020304" pitchFamily="18" charset="-78"/>
            </a:endParaRPr>
          </a:p>
          <a:p>
            <a:pPr>
              <a:spcBef>
                <a:spcPts val="1335"/>
              </a:spcBef>
              <a:buFont typeface="Wingdings" panose="05000000000000000000" pitchFamily="2" charset="2"/>
              <a:buChar char="ü"/>
            </a:pPr>
            <a:r>
              <a:rPr lang="en-US" sz="3065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Cytology cannot distinguish invasive from in situ carcinoma, but it can provide a diagnosis of carcinoma. </a:t>
            </a:r>
            <a:endParaRPr lang="en-US" sz="3065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335"/>
              </a:spcBef>
              <a:buFont typeface="Wingdings" panose="05000000000000000000" pitchFamily="2" charset="2"/>
              <a:buChar char="ü"/>
            </a:pPr>
            <a:r>
              <a:rPr lang="en-US" sz="3065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Sensitivity 94% and specificity of 97%</a:t>
            </a:r>
            <a:endParaRPr lang="en-US" sz="3065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1335"/>
              </a:spcBef>
              <a:buNone/>
            </a:pPr>
            <a:endParaRPr lang="en-US" sz="3065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1335"/>
              </a:spcBef>
              <a:buNone/>
            </a:pPr>
            <a:r>
              <a:rPr lang="en-US" sz="3735" b="1" dirty="0">
                <a:solidFill>
                  <a:prstClr val="black"/>
                </a:solidFill>
                <a:cs typeface="Andalus" panose="02020603050405020304" pitchFamily="18" charset="-78"/>
              </a:rPr>
              <a:t>Core needle biopsy</a:t>
            </a:r>
            <a:endParaRPr lang="en-US" sz="3735" b="1" dirty="0">
              <a:solidFill>
                <a:prstClr val="black"/>
              </a:solidFill>
              <a:cs typeface="Andalus" panose="02020603050405020304" pitchFamily="18" charset="-78"/>
            </a:endParaRPr>
          </a:p>
          <a:p>
            <a:pPr>
              <a:spcBef>
                <a:spcPts val="1335"/>
              </a:spcBef>
              <a:buFont typeface="Wingdings" panose="05000000000000000000" pitchFamily="2" charset="2"/>
              <a:buChar char="ü"/>
            </a:pPr>
            <a:r>
              <a:rPr lang="en-US" sz="26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CNB is the method of choice to sample breast lesions</a:t>
            </a:r>
            <a:endParaRPr lang="en-US" sz="2665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1335"/>
              </a:spcBef>
              <a:buNone/>
            </a:pPr>
            <a:r>
              <a:rPr lang="en-US" sz="3465" b="1" dirty="0">
                <a:solidFill>
                  <a:prstClr val="black"/>
                </a:solidFill>
                <a:cs typeface="Andalus" panose="02020603050405020304" pitchFamily="18" charset="-78"/>
              </a:rPr>
              <a:t>Excisional biopsy</a:t>
            </a:r>
            <a:endParaRPr lang="en-US" sz="3465" b="1" dirty="0">
              <a:solidFill>
                <a:prstClr val="black"/>
              </a:solidFill>
              <a:cs typeface="Andalus" panose="02020603050405020304" pitchFamily="18" charset="-78"/>
            </a:endParaRPr>
          </a:p>
          <a:p>
            <a:pPr>
              <a:lnSpc>
                <a:spcPct val="150000"/>
              </a:lnSpc>
              <a:spcBef>
                <a:spcPts val="1335"/>
              </a:spcBef>
              <a:buFont typeface="Wingdings" panose="05000000000000000000" pitchFamily="2" charset="2"/>
              <a:buChar char="ü"/>
            </a:pPr>
            <a:endParaRPr lang="en-US" sz="2535" b="1" dirty="0">
              <a:solidFill>
                <a:prstClr val="black"/>
              </a:solidFill>
              <a:cs typeface="Andalus" panose="02020603050405020304" pitchFamily="18" charset="-78"/>
            </a:endParaRPr>
          </a:p>
          <a:p>
            <a:pPr marL="0" indent="0">
              <a:lnSpc>
                <a:spcPct val="150000"/>
              </a:lnSpc>
              <a:spcBef>
                <a:spcPts val="1335"/>
              </a:spcBef>
              <a:buNone/>
            </a:pPr>
            <a:endParaRPr lang="en-US" sz="2535" dirty="0">
              <a:solidFill>
                <a:prstClr val="black"/>
              </a:solidFill>
              <a:cs typeface="Andalus" panose="02020603050405020304" pitchFamily="18" charset="-78"/>
            </a:endParaRPr>
          </a:p>
          <a:p>
            <a:pPr marL="304800" indent="-304800">
              <a:spcBef>
                <a:spcPts val="1335"/>
              </a:spcBef>
            </a:pPr>
            <a:endParaRPr lang="en-US" sz="2535" dirty="0">
              <a:solidFill>
                <a:prstClr val="black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2209800" y="914400"/>
            <a:ext cx="7772400" cy="9906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/>
              <a:t>Triple assessment of the breast</a:t>
            </a: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895600" y="1981200"/>
            <a:ext cx="6400800" cy="3657600"/>
          </a:xfrm>
        </p:spPr>
        <p:txBody>
          <a:bodyPr/>
          <a:lstStyle/>
          <a:p>
            <a:pPr algn="l">
              <a:defRPr/>
            </a:pPr>
            <a:r>
              <a:rPr lang="en-US"/>
              <a:t>Clinical        Imaging      Pathology</a:t>
            </a:r>
            <a:endParaRPr lang="en-US"/>
          </a:p>
          <a:p>
            <a:pPr algn="l">
              <a:defRPr/>
            </a:pPr>
            <a:endParaRPr lang="en-US"/>
          </a:p>
          <a:p>
            <a:pPr algn="l">
              <a:defRPr/>
            </a:pPr>
            <a:r>
              <a:rPr lang="en-US"/>
              <a:t>Hx  P/E      US     MMG  FNA   TC</a:t>
            </a:r>
            <a:endParaRPr lang="en-US"/>
          </a:p>
          <a:p>
            <a:pPr algn="l">
              <a:defRPr/>
            </a:pPr>
            <a:endParaRPr lang="en-US"/>
          </a:p>
          <a:p>
            <a:pPr algn="l">
              <a:defRPr/>
            </a:pPr>
            <a:r>
              <a:rPr lang="en-US"/>
              <a:t>              Dx in 95% of cases</a:t>
            </a:r>
            <a:endParaRPr lang="en-US"/>
          </a:p>
        </p:txBody>
      </p:sp>
      <p:sp>
        <p:nvSpPr>
          <p:cNvPr id="3076" name="Line 5"/>
          <p:cNvSpPr>
            <a:spLocks noChangeShapeType="1"/>
          </p:cNvSpPr>
          <p:nvPr/>
        </p:nvSpPr>
        <p:spPr bwMode="auto">
          <a:xfrm>
            <a:off x="3200400" y="2514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7" name="Line 6"/>
          <p:cNvSpPr>
            <a:spLocks noChangeShapeType="1"/>
          </p:cNvSpPr>
          <p:nvPr/>
        </p:nvSpPr>
        <p:spPr bwMode="auto">
          <a:xfrm>
            <a:off x="3962400" y="2514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8" name="Line 7"/>
          <p:cNvSpPr>
            <a:spLocks noChangeShapeType="1"/>
          </p:cNvSpPr>
          <p:nvPr/>
        </p:nvSpPr>
        <p:spPr bwMode="auto">
          <a:xfrm>
            <a:off x="5410200" y="2514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9" name="Line 9"/>
          <p:cNvSpPr>
            <a:spLocks noChangeShapeType="1"/>
          </p:cNvSpPr>
          <p:nvPr/>
        </p:nvSpPr>
        <p:spPr bwMode="auto">
          <a:xfrm>
            <a:off x="6400800" y="2514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0" name="Line 10"/>
          <p:cNvSpPr>
            <a:spLocks noChangeShapeType="1"/>
          </p:cNvSpPr>
          <p:nvPr/>
        </p:nvSpPr>
        <p:spPr bwMode="auto">
          <a:xfrm>
            <a:off x="7696200" y="2514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1" name="Line 11"/>
          <p:cNvSpPr>
            <a:spLocks noChangeShapeType="1"/>
          </p:cNvSpPr>
          <p:nvPr/>
        </p:nvSpPr>
        <p:spPr bwMode="auto">
          <a:xfrm>
            <a:off x="8763000" y="2590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2" name="Line 12"/>
          <p:cNvSpPr>
            <a:spLocks noChangeShapeType="1"/>
          </p:cNvSpPr>
          <p:nvPr/>
        </p:nvSpPr>
        <p:spPr bwMode="auto">
          <a:xfrm>
            <a:off x="3200400" y="36576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3" name="Line 14"/>
          <p:cNvSpPr>
            <a:spLocks noChangeShapeType="1"/>
          </p:cNvSpPr>
          <p:nvPr/>
        </p:nvSpPr>
        <p:spPr bwMode="auto">
          <a:xfrm>
            <a:off x="3962400" y="36576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4" name="Line 15"/>
          <p:cNvSpPr>
            <a:spLocks noChangeShapeType="1"/>
          </p:cNvSpPr>
          <p:nvPr/>
        </p:nvSpPr>
        <p:spPr bwMode="auto">
          <a:xfrm>
            <a:off x="5410200" y="3581400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5" name="Line 16"/>
          <p:cNvSpPr>
            <a:spLocks noChangeShapeType="1"/>
          </p:cNvSpPr>
          <p:nvPr/>
        </p:nvSpPr>
        <p:spPr bwMode="auto">
          <a:xfrm>
            <a:off x="6400800" y="3657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6" name="Line 17"/>
          <p:cNvSpPr>
            <a:spLocks noChangeShapeType="1"/>
          </p:cNvSpPr>
          <p:nvPr/>
        </p:nvSpPr>
        <p:spPr bwMode="auto">
          <a:xfrm>
            <a:off x="7696200" y="3657600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7" name="Line 18"/>
          <p:cNvSpPr>
            <a:spLocks noChangeShapeType="1"/>
          </p:cNvSpPr>
          <p:nvPr/>
        </p:nvSpPr>
        <p:spPr bwMode="auto">
          <a:xfrm>
            <a:off x="8763000" y="3657600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8" name="Line 19"/>
          <p:cNvSpPr>
            <a:spLocks noChangeShapeType="1"/>
          </p:cNvSpPr>
          <p:nvPr/>
        </p:nvSpPr>
        <p:spPr bwMode="auto">
          <a:xfrm>
            <a:off x="3200400" y="4648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9" name="Line 20"/>
          <p:cNvSpPr>
            <a:spLocks noChangeShapeType="1"/>
          </p:cNvSpPr>
          <p:nvPr/>
        </p:nvSpPr>
        <p:spPr bwMode="auto">
          <a:xfrm>
            <a:off x="3200400" y="47244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90" name="Line 21"/>
          <p:cNvSpPr>
            <a:spLocks noChangeShapeType="1"/>
          </p:cNvSpPr>
          <p:nvPr/>
        </p:nvSpPr>
        <p:spPr bwMode="auto">
          <a:xfrm>
            <a:off x="3962400" y="45720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91" name="Line 22"/>
          <p:cNvSpPr>
            <a:spLocks noChangeShapeType="1"/>
          </p:cNvSpPr>
          <p:nvPr/>
        </p:nvSpPr>
        <p:spPr bwMode="auto">
          <a:xfrm flipH="1">
            <a:off x="8001000" y="46482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743076" y="457200"/>
            <a:ext cx="7477125" cy="1143000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rgbClr val="0000FF"/>
                </a:solidFill>
              </a:rPr>
              <a:t>TNM Staging</a:t>
            </a:r>
            <a:endParaRPr lang="en-US">
              <a:solidFill>
                <a:srgbClr val="0000FF"/>
              </a:solidFill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  <a:defRPr/>
            </a:pPr>
            <a:r>
              <a:rPr lang="en-US" sz="2400"/>
              <a:t>TIS  no palpable tu     - N0 no nodal metastasis</a:t>
            </a:r>
            <a:endParaRPr lang="en-US" sz="2400"/>
          </a:p>
          <a:p>
            <a:pPr>
              <a:buFontTx/>
              <a:buChar char="-"/>
              <a:defRPr/>
            </a:pPr>
            <a:r>
              <a:rPr lang="en-US" sz="2400"/>
              <a:t>T1  &lt;2 cm                   - N1 mobile axillary LNs</a:t>
            </a:r>
            <a:endParaRPr lang="en-US" sz="2400"/>
          </a:p>
          <a:p>
            <a:pPr>
              <a:buFontTx/>
              <a:buChar char="-"/>
              <a:defRPr/>
            </a:pPr>
            <a:r>
              <a:rPr lang="en-US" sz="2400"/>
              <a:t>T2  2-5 cm                  - N2 fixed axillary LNs</a:t>
            </a:r>
            <a:endParaRPr lang="en-US" sz="2400"/>
          </a:p>
          <a:p>
            <a:pPr>
              <a:buFontTx/>
              <a:buChar char="-"/>
              <a:defRPr/>
            </a:pPr>
            <a:r>
              <a:rPr lang="en-US" sz="2400"/>
              <a:t>T3  &gt;5cm                    - N3 supraclavicular LNs</a:t>
            </a:r>
            <a:endParaRPr lang="en-US" sz="2400"/>
          </a:p>
          <a:p>
            <a:pPr>
              <a:buFontTx/>
              <a:buChar char="-"/>
              <a:defRPr/>
            </a:pPr>
            <a:r>
              <a:rPr lang="en-US" sz="2400"/>
              <a:t>T4  any size invading skin or chest wall    </a:t>
            </a:r>
            <a:endParaRPr lang="en-US" sz="2400"/>
          </a:p>
          <a:p>
            <a:pPr>
              <a:buFontTx/>
              <a:buChar char="-"/>
              <a:defRPr/>
            </a:pPr>
            <a:endParaRPr lang="en-US" sz="2400"/>
          </a:p>
          <a:p>
            <a:pPr>
              <a:buFontTx/>
              <a:buChar char="-"/>
              <a:defRPr/>
            </a:pPr>
            <a:r>
              <a:rPr lang="en-US" sz="2400"/>
              <a:t>M0 no distant metastasis</a:t>
            </a:r>
            <a:endParaRPr lang="en-US" sz="2400"/>
          </a:p>
          <a:p>
            <a:pPr>
              <a:buFontTx/>
              <a:buChar char="-"/>
              <a:defRPr/>
            </a:pPr>
            <a:r>
              <a:rPr lang="en-US" sz="2400"/>
              <a:t>M1  distant metastasis</a:t>
            </a:r>
            <a:endParaRPr lang="en-US" sz="24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Staging- four stages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Stage I- T1, N0, M0</a:t>
            </a:r>
            <a:endParaRPr lang="en-US" dirty="0"/>
          </a:p>
          <a:p>
            <a:r>
              <a:rPr lang="en-US" dirty="0"/>
              <a:t>Stage II- T1 or T2 or T3 plus N1 but M0</a:t>
            </a:r>
            <a:endParaRPr lang="en-US" dirty="0"/>
          </a:p>
          <a:p>
            <a:r>
              <a:rPr lang="en-US" dirty="0"/>
              <a:t>Stage III- T1 or T2 or T3 or T4 plus N2 or N3</a:t>
            </a:r>
            <a:endParaRPr lang="en-US" dirty="0"/>
          </a:p>
          <a:p>
            <a:r>
              <a:rPr lang="en-US" dirty="0"/>
              <a:t>Stage IV- Any T, any N plus M1  </a:t>
            </a:r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Curative treatment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Local treatment</a:t>
            </a:r>
            <a:endParaRPr lang="en-US" dirty="0"/>
          </a:p>
          <a:p>
            <a:pPr lvl="1"/>
            <a:r>
              <a:rPr lang="en-US" dirty="0"/>
              <a:t>Breast conserving and radiotherapy</a:t>
            </a:r>
            <a:endParaRPr lang="en-US" dirty="0"/>
          </a:p>
          <a:p>
            <a:pPr lvl="1"/>
            <a:r>
              <a:rPr lang="en-US" dirty="0"/>
              <a:t>Modified radical mastectomy</a:t>
            </a:r>
            <a:endParaRPr lang="en-US" dirty="0"/>
          </a:p>
          <a:p>
            <a:pPr lvl="1">
              <a:buNone/>
            </a:pPr>
            <a:r>
              <a:rPr lang="en-US"/>
              <a:t>Systemic treatment- Adjuvant </a:t>
            </a:r>
            <a:r>
              <a:rPr lang="en-US" dirty="0"/>
              <a:t>therapy</a:t>
            </a:r>
            <a:endParaRPr lang="en-US" dirty="0"/>
          </a:p>
          <a:p>
            <a:pPr lvl="1">
              <a:buNone/>
            </a:pPr>
            <a:r>
              <a:rPr lang="en-US" dirty="0"/>
              <a:t>	Hormonal </a:t>
            </a:r>
            <a:endParaRPr lang="en-US" dirty="0"/>
          </a:p>
          <a:p>
            <a:pPr lvl="1">
              <a:buNone/>
            </a:pPr>
            <a:r>
              <a:rPr lang="en-US" dirty="0"/>
              <a:t>	Chemotherapy</a:t>
            </a:r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Palliative treatment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Radiotherapy</a:t>
            </a:r>
            <a:endParaRPr lang="en-US" dirty="0"/>
          </a:p>
          <a:p>
            <a:r>
              <a:rPr lang="en-US" dirty="0"/>
              <a:t>Hormonal therapy</a:t>
            </a:r>
            <a:endParaRPr lang="en-US" dirty="0"/>
          </a:p>
          <a:p>
            <a:r>
              <a:rPr lang="en-US" dirty="0"/>
              <a:t>chemotherapy</a:t>
            </a:r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Prognosis </a:t>
            </a:r>
            <a:endParaRPr 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Best indicators are size and LN status</a:t>
            </a:r>
            <a:endParaRPr lang="en-US"/>
          </a:p>
          <a:p>
            <a:pPr>
              <a:defRPr/>
            </a:pPr>
            <a:r>
              <a:rPr lang="en-US"/>
              <a:t>5 yrs survival </a:t>
            </a:r>
            <a:endParaRPr lang="en-US"/>
          </a:p>
          <a:p>
            <a:pPr>
              <a:defRPr/>
            </a:pPr>
            <a:r>
              <a:rPr lang="en-US"/>
              <a:t>Stage 1    84%</a:t>
            </a:r>
            <a:endParaRPr lang="en-US"/>
          </a:p>
          <a:p>
            <a:pPr>
              <a:defRPr/>
            </a:pPr>
            <a:r>
              <a:rPr lang="en-US"/>
              <a:t>Stage 2    71%</a:t>
            </a:r>
            <a:endParaRPr lang="en-US"/>
          </a:p>
          <a:p>
            <a:pPr>
              <a:defRPr/>
            </a:pPr>
            <a:r>
              <a:rPr lang="en-US"/>
              <a:t>Stage 3    48%</a:t>
            </a:r>
            <a:endParaRPr lang="en-US"/>
          </a:p>
          <a:p>
            <a:pPr>
              <a:defRPr/>
            </a:pPr>
            <a:r>
              <a:rPr lang="en-US"/>
              <a:t>Stage 4    18%</a:t>
            </a:r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Spread of breast ca.</a:t>
            </a:r>
            <a:endParaRPr 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Local</a:t>
            </a:r>
            <a:endParaRPr lang="en-US"/>
          </a:p>
          <a:p>
            <a:pPr>
              <a:defRPr/>
            </a:pPr>
            <a:r>
              <a:rPr lang="en-US"/>
              <a:t>Lymphatic</a:t>
            </a:r>
            <a:endParaRPr lang="en-US"/>
          </a:p>
          <a:p>
            <a:pPr>
              <a:defRPr/>
            </a:pPr>
            <a:r>
              <a:rPr lang="en-US"/>
              <a:t>Blood stream</a:t>
            </a:r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Oher breast lesions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Fibroadenosis</a:t>
            </a:r>
            <a:endParaRPr lang="en-US" dirty="0"/>
          </a:p>
          <a:p>
            <a:r>
              <a:rPr lang="en-US" dirty="0"/>
              <a:t>Fibroadenoma</a:t>
            </a:r>
            <a:endParaRPr lang="en-US" dirty="0"/>
          </a:p>
          <a:p>
            <a:r>
              <a:rPr lang="en-US" dirty="0"/>
              <a:t>Duct papilloma</a:t>
            </a:r>
            <a:endParaRPr lang="en-US" dirty="0"/>
          </a:p>
          <a:p>
            <a:r>
              <a:rPr lang="en-US" dirty="0"/>
              <a:t>Traumatic fat necrosis</a:t>
            </a:r>
            <a:endParaRPr lang="en-US" dirty="0"/>
          </a:p>
          <a:p>
            <a:r>
              <a:rPr lang="en-US" dirty="0"/>
              <a:t>Infection or inflammation of the breast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Fibroadenoma</a:t>
            </a: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Usually occur around 15-25yrs</a:t>
            </a:r>
            <a:endParaRPr lang="en-US" dirty="0"/>
          </a:p>
          <a:p>
            <a:pPr>
              <a:defRPr/>
            </a:pPr>
            <a:r>
              <a:rPr lang="en-US" dirty="0"/>
              <a:t>Most common benign breast lesion</a:t>
            </a:r>
            <a:endParaRPr lang="en-US" dirty="0"/>
          </a:p>
          <a:p>
            <a:pPr>
              <a:defRPr/>
            </a:pPr>
            <a:r>
              <a:rPr lang="en-US" dirty="0"/>
              <a:t>Arise from hyperplasia of single lobule</a:t>
            </a:r>
            <a:endParaRPr lang="en-US" dirty="0"/>
          </a:p>
          <a:p>
            <a:pPr>
              <a:defRPr/>
            </a:pPr>
            <a:r>
              <a:rPr lang="en-US" dirty="0"/>
              <a:t>Usually attain size of 2-3 cm</a:t>
            </a:r>
            <a:endParaRPr lang="en-US" dirty="0"/>
          </a:p>
          <a:p>
            <a:pPr>
              <a:defRPr/>
            </a:pPr>
            <a:r>
              <a:rPr lang="en-US" dirty="0"/>
              <a:t>Mobile (mouse like)</a:t>
            </a:r>
            <a:endParaRPr lang="en-US" dirty="0"/>
          </a:p>
          <a:p>
            <a:pPr>
              <a:defRPr/>
            </a:pPr>
            <a:r>
              <a:rPr lang="en-US" dirty="0"/>
              <a:t>Usually needs no Rx</a:t>
            </a:r>
            <a:endParaRPr lang="en-US" dirty="0"/>
          </a:p>
          <a:p>
            <a:pPr>
              <a:defRPr/>
            </a:pPr>
            <a:r>
              <a:rPr lang="en-US" dirty="0"/>
              <a:t>Giant FA (&gt;5cm) occasionally occur in puberty  </a:t>
            </a: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Fibroadenosis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Benign breast condition</a:t>
            </a:r>
            <a:endParaRPr lang="en-US" dirty="0"/>
          </a:p>
          <a:p>
            <a:r>
              <a:rPr lang="en-US" dirty="0"/>
              <a:t>Causes lumpiness and tenderness</a:t>
            </a:r>
            <a:endParaRPr lang="en-US" dirty="0"/>
          </a:p>
          <a:p>
            <a:r>
              <a:rPr lang="en-US" dirty="0"/>
              <a:t>Hormone related and occurs between menarche and </a:t>
            </a:r>
            <a:r>
              <a:rPr lang="en-US" dirty="0" err="1"/>
              <a:t>premenaupause</a:t>
            </a:r>
            <a:endParaRPr lang="en-US" dirty="0"/>
          </a:p>
          <a:p>
            <a:r>
              <a:rPr lang="en-US" dirty="0"/>
              <a:t>Common 30-50 years</a:t>
            </a:r>
            <a:endParaRPr lang="en-US" dirty="0"/>
          </a:p>
          <a:p>
            <a:r>
              <a:rPr lang="en-US" dirty="0"/>
              <a:t>Cyclical pain</a:t>
            </a:r>
            <a:endParaRPr lang="en-US" dirty="0"/>
          </a:p>
          <a:p>
            <a:r>
              <a:rPr lang="en-US" dirty="0"/>
              <a:t>Lump changing in size</a:t>
            </a:r>
            <a:endParaRPr lang="en-US" dirty="0"/>
          </a:p>
          <a:p>
            <a:r>
              <a:rPr lang="en-US" dirty="0"/>
              <a:t>Rx- conservative rarely surgery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Phylloids tumor</a:t>
            </a:r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Occur over the age of 40 </a:t>
            </a:r>
            <a:r>
              <a:rPr lang="en-US" dirty="0" err="1"/>
              <a:t>yrs</a:t>
            </a:r>
            <a:endParaRPr lang="en-US" dirty="0"/>
          </a:p>
          <a:p>
            <a:pPr>
              <a:defRPr/>
            </a:pPr>
            <a:r>
              <a:rPr lang="en-US" dirty="0"/>
              <a:t>Massive tumor With occasional ulceration</a:t>
            </a:r>
            <a:endParaRPr lang="en-US" dirty="0"/>
          </a:p>
          <a:p>
            <a:pPr>
              <a:defRPr/>
            </a:pPr>
            <a:r>
              <a:rPr lang="en-US" dirty="0"/>
              <a:t>Rarely have malignant type</a:t>
            </a:r>
            <a:endParaRPr lang="en-US" dirty="0"/>
          </a:p>
          <a:p>
            <a:pPr>
              <a:defRPr/>
            </a:pPr>
            <a:r>
              <a:rPr lang="en-US" dirty="0"/>
              <a:t>Rx. enucleating for benign</a:t>
            </a:r>
            <a:endParaRPr lang="en-US" dirty="0"/>
          </a:p>
          <a:p>
            <a:pPr>
              <a:defRPr/>
            </a:pPr>
            <a:r>
              <a:rPr lang="en-US" dirty="0"/>
              <a:t>Rx. Mastectomy for massive, recurrent and malignant types</a:t>
            </a:r>
            <a:endParaRPr 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Paget’s disease of the nipple</a:t>
            </a:r>
            <a:endParaRPr 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Manifestation of underlying breast ca.</a:t>
            </a:r>
            <a:endParaRPr lang="en-US"/>
          </a:p>
          <a:p>
            <a:pPr>
              <a:defRPr/>
            </a:pPr>
            <a:r>
              <a:rPr lang="en-US"/>
              <a:t>Eczema like appearance</a:t>
            </a:r>
            <a:endParaRPr lang="en-US"/>
          </a:p>
          <a:p>
            <a:pPr>
              <a:defRPr/>
            </a:pPr>
            <a:r>
              <a:rPr lang="en-US"/>
              <a:t>Can erode remove the nipple</a:t>
            </a:r>
            <a:endParaRPr lang="en-US"/>
          </a:p>
          <a:p>
            <a:pPr>
              <a:defRPr/>
            </a:pPr>
            <a:r>
              <a:rPr lang="en-US"/>
              <a:t>Difference from infectious eczema</a:t>
            </a:r>
            <a:endParaRPr lang="en-US"/>
          </a:p>
          <a:p>
            <a:pPr>
              <a:buFontTx/>
              <a:buNone/>
              <a:defRPr/>
            </a:pPr>
            <a:r>
              <a:rPr lang="en-US"/>
              <a:t>               -unilateral</a:t>
            </a:r>
            <a:endParaRPr lang="en-US"/>
          </a:p>
          <a:p>
            <a:pPr>
              <a:buFontTx/>
              <a:buNone/>
              <a:defRPr/>
            </a:pPr>
            <a:r>
              <a:rPr lang="en-US"/>
              <a:t>               -no response to antibiotics</a:t>
            </a:r>
            <a:endParaRPr lang="en-US"/>
          </a:p>
          <a:p>
            <a:pPr>
              <a:buFontTx/>
              <a:buNone/>
              <a:defRPr/>
            </a:pPr>
            <a:r>
              <a:rPr lang="en-US"/>
              <a:t>               -no fever</a:t>
            </a:r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Inflammatory lesions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Acute mastitis / abscess</a:t>
            </a:r>
            <a:endParaRPr lang="en-US" b="1" dirty="0"/>
          </a:p>
          <a:p>
            <a:r>
              <a:rPr lang="en-US" dirty="0"/>
              <a:t>Associated with lactation, due to cracks in nipple</a:t>
            </a:r>
            <a:endParaRPr lang="en-US" dirty="0"/>
          </a:p>
          <a:p>
            <a:r>
              <a:rPr lang="en-US" dirty="0"/>
              <a:t>Also associated with eczema and nipple </a:t>
            </a:r>
            <a:r>
              <a:rPr lang="en-US" dirty="0" err="1"/>
              <a:t>dermatoses</a:t>
            </a:r>
            <a:endParaRPr lang="en-US" dirty="0"/>
          </a:p>
          <a:p>
            <a:r>
              <a:rPr lang="en-US" dirty="0"/>
              <a:t>Usually due to </a:t>
            </a:r>
            <a:r>
              <a:rPr lang="en-US" b="1" i="1" dirty="0"/>
              <a:t>Staphylococcus or Streptococcus</a:t>
            </a:r>
            <a:endParaRPr lang="en-US" b="1" i="1" dirty="0"/>
          </a:p>
          <a:p>
            <a:endParaRPr lang="en-US" b="1" i="1" dirty="0"/>
          </a:p>
          <a:p>
            <a:r>
              <a:rPr lang="en-US" b="1" i="1" dirty="0"/>
              <a:t>Rx – antibiotics and abscess drainage</a:t>
            </a:r>
            <a:endParaRPr lang="en-US" b="1" i="1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7947</Words>
  <Application>WPS Presentation</Application>
  <PresentationFormat>Widescreen</PresentationFormat>
  <Paragraphs>373</Paragraphs>
  <Slides>44</Slides>
  <Notes>15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60" baseType="lpstr">
      <vt:lpstr>Arial</vt:lpstr>
      <vt:lpstr>SimSun</vt:lpstr>
      <vt:lpstr>Wingdings</vt:lpstr>
      <vt:lpstr>Comic Sans MS</vt:lpstr>
      <vt:lpstr>Calibri</vt:lpstr>
      <vt:lpstr>Lucida Sans Unicode</vt:lpstr>
      <vt:lpstr>Calibri Light</vt:lpstr>
      <vt:lpstr>Microsoft YaHei</vt:lpstr>
      <vt:lpstr>Arial Unicode MS</vt:lpstr>
      <vt:lpstr>Times New Roman</vt:lpstr>
      <vt:lpstr>TimesLTStd-Roman</vt:lpstr>
      <vt:lpstr>Segoe Print</vt:lpstr>
      <vt:lpstr>Andalus</vt:lpstr>
      <vt:lpstr>AGaramondPro-Regular</vt:lpstr>
      <vt:lpstr>Office Theme</vt:lpstr>
      <vt:lpstr>PBrush</vt:lpstr>
      <vt:lpstr>Thyroid </vt:lpstr>
      <vt:lpstr>Anatomy</vt:lpstr>
      <vt:lpstr>physiology</vt:lpstr>
      <vt:lpstr>Effects of thyroid hormones</vt:lpstr>
      <vt:lpstr>Disorders of Thyroid</vt:lpstr>
      <vt:lpstr>Goiter</vt:lpstr>
      <vt:lpstr>hyperthyroidism</vt:lpstr>
      <vt:lpstr>Cont.</vt:lpstr>
      <vt:lpstr>PowerPoint 演示文稿</vt:lpstr>
      <vt:lpstr>Diagnosis  </vt:lpstr>
      <vt:lpstr>Treatment</vt:lpstr>
      <vt:lpstr>Malignant thyroid diseases </vt:lpstr>
      <vt:lpstr>workup</vt:lpstr>
      <vt:lpstr>Treatment </vt:lpstr>
      <vt:lpstr>Complications of thyroidectomy</vt:lpstr>
      <vt:lpstr>Breast</vt:lpstr>
      <vt:lpstr>Anatomy</vt:lpstr>
      <vt:lpstr>Axilla - Anatomy</vt:lpstr>
      <vt:lpstr>Lymphatic drainage of the breast</vt:lpstr>
      <vt:lpstr>PowerPoint 演示文稿</vt:lpstr>
      <vt:lpstr>PowerPoint 演示文稿</vt:lpstr>
      <vt:lpstr>Malignant lesions</vt:lpstr>
      <vt:lpstr>Breast ca</vt:lpstr>
      <vt:lpstr>Non invasive </vt:lpstr>
      <vt:lpstr>Invasive carcinoma</vt:lpstr>
      <vt:lpstr>Cont…</vt:lpstr>
      <vt:lpstr>Spread</vt:lpstr>
      <vt:lpstr>Diagnosis</vt:lpstr>
      <vt:lpstr>Imaging</vt:lpstr>
      <vt:lpstr>Pathology</vt:lpstr>
      <vt:lpstr>Triple assessment of the breast</vt:lpstr>
      <vt:lpstr>TNM Staging</vt:lpstr>
      <vt:lpstr>Staging- four stages</vt:lpstr>
      <vt:lpstr>Curative treatment</vt:lpstr>
      <vt:lpstr>Palliative treatment</vt:lpstr>
      <vt:lpstr>Prognosis </vt:lpstr>
      <vt:lpstr>Spread of breast ca.</vt:lpstr>
      <vt:lpstr>Oher breast lesions</vt:lpstr>
      <vt:lpstr>Fibroadenoma</vt:lpstr>
      <vt:lpstr>Fibroadenosis</vt:lpstr>
      <vt:lpstr>Phylloids tumor</vt:lpstr>
      <vt:lpstr>Paget’s disease of the nipple</vt:lpstr>
      <vt:lpstr>Inflammatory lesions</vt:lpstr>
      <vt:lpstr>END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Weini Tekle</dc:creator>
  <cp:lastModifiedBy>hilin</cp:lastModifiedBy>
  <cp:revision>7</cp:revision>
  <dcterms:created xsi:type="dcterms:W3CDTF">2024-06-06T21:59:00Z</dcterms:created>
  <dcterms:modified xsi:type="dcterms:W3CDTF">2024-09-09T08:28:02Z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A2AE8A290EB449F9BAEB6CE4BA8B4B08_13</vt:lpwstr>
  </property>
  <property fmtid="{D5CDD505-2E9C-101B-9397-08002B2CF9AE}" pid="3" name="KSOProductBuildVer">
    <vt:lpwstr>1033-12.2.0.13472</vt:lpwstr>
  </property>
</Properties>
</file>