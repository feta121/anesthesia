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292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319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304" r:id="rId18"/>
    <p:sldId id="279" r:id="rId19"/>
    <p:sldId id="280" r:id="rId20"/>
    <p:sldId id="318" r:id="rId21"/>
    <p:sldId id="311" r:id="rId22"/>
    <p:sldId id="312" r:id="rId23"/>
    <p:sldId id="313" r:id="rId24"/>
    <p:sldId id="314" r:id="rId25"/>
    <p:sldId id="295" r:id="rId26"/>
    <p:sldId id="302" r:id="rId27"/>
    <p:sldId id="306" r:id="rId28"/>
    <p:sldId id="315" r:id="rId29"/>
    <p:sldId id="317" r:id="rId3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054E681-B365-4486-BC3A-2D780CC5B3FF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6216887-872E-4A6E-9B4F-559A12A7D8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75BB7-0953-4316-8E7C-E9632E1C653E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26E46-3DEA-4062-A15C-F0DAA17AB1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Eyelid-</a:t>
            </a:r>
            <a:r>
              <a:rPr lang="en-US" dirty="0" err="1" smtClean="0"/>
              <a:t>palpebral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26E46-3DEA-4062-A15C-F0DAA17AB16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26E46-3DEA-4062-A15C-F0DAA17AB16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77F85-AAEE-4F92-A4C4-035768B324D7}" type="datetimeFigureOut">
              <a:rPr lang="en-US" smtClean="0"/>
              <a:pPr/>
              <a:t>29/12/2015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F1496-C8C4-41CB-9C97-506801CD0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4584192" cy="4572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Anesthetic Monitoring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11312" y="1423989"/>
            <a:ext cx="5399088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Clinical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Pulseoxymetry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Capnography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Non invasive Blood pressure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ECG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Peripheral nerve stimulators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Volatile / gas analyser &amp; anaesthesia depth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Temperature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491868"/>
            <a:ext cx="12954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792163" y="949325"/>
            <a:ext cx="3787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400" dirty="0"/>
              <a:t> </a:t>
            </a:r>
            <a:r>
              <a:rPr lang="en-GB" sz="2000" dirty="0"/>
              <a:t>What information does it give?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1122363" y="1497013"/>
            <a:ext cx="4886081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lnSpc>
                <a:spcPct val="125000"/>
              </a:lnSpc>
              <a:buFontTx/>
              <a:buAutoNum type="arabicPeriod"/>
            </a:pPr>
            <a:r>
              <a:rPr lang="en-GB" sz="2000" dirty="0">
                <a:solidFill>
                  <a:srgbClr val="0070C0"/>
                </a:solidFill>
              </a:rPr>
              <a:t> Depth </a:t>
            </a:r>
            <a:r>
              <a:rPr lang="en-GB" sz="2000" dirty="0"/>
              <a:t>of neuromuscular block (paralysis)</a:t>
            </a:r>
          </a:p>
          <a:p>
            <a:pPr marL="342900" indent="-342900" algn="l">
              <a:lnSpc>
                <a:spcPct val="125000"/>
              </a:lnSpc>
              <a:buFontTx/>
              <a:buAutoNum type="arabicPeriod"/>
            </a:pPr>
            <a:r>
              <a:rPr lang="en-GB" sz="2000" dirty="0"/>
              <a:t> Degree of </a:t>
            </a:r>
            <a:r>
              <a:rPr lang="en-GB" sz="2000" dirty="0">
                <a:solidFill>
                  <a:srgbClr val="0070C0"/>
                </a:solidFill>
              </a:rPr>
              <a:t>reversibility</a:t>
            </a:r>
          </a:p>
          <a:p>
            <a:pPr marL="342900" indent="-342900" algn="l">
              <a:lnSpc>
                <a:spcPct val="125000"/>
              </a:lnSpc>
              <a:buFontTx/>
              <a:buAutoNum type="arabicPeriod"/>
            </a:pP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Type</a:t>
            </a:r>
            <a:r>
              <a:rPr lang="en-GB" sz="2000" dirty="0"/>
              <a:t> of neuromuscular block</a:t>
            </a:r>
          </a:p>
        </p:txBody>
      </p:sp>
      <p:sp>
        <p:nvSpPr>
          <p:cNvPr id="156677" name="Line 5"/>
          <p:cNvSpPr>
            <a:spLocks noChangeShapeType="1"/>
          </p:cNvSpPr>
          <p:nvPr/>
        </p:nvSpPr>
        <p:spPr bwMode="auto">
          <a:xfrm>
            <a:off x="2143125" y="3271838"/>
            <a:ext cx="4856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1122363" y="3609975"/>
            <a:ext cx="72517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GB" sz="2000" dirty="0"/>
              <a:t>(1) If the surgeons feel the abdomen is ‘tight’, does the paralysis need topping up?</a:t>
            </a:r>
          </a:p>
        </p:txBody>
      </p:sp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1122363" y="4638675"/>
            <a:ext cx="72517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GB" sz="2000" dirty="0"/>
              <a:t>(2) If </a:t>
            </a:r>
            <a:r>
              <a:rPr lang="en-GB" sz="2000" dirty="0" err="1"/>
              <a:t>pancuronium</a:t>
            </a:r>
            <a:r>
              <a:rPr lang="en-GB" sz="2000" dirty="0"/>
              <a:t> was given 25 minutes ago, is it okay to reverse the block yet?</a:t>
            </a:r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1122363" y="5667375"/>
            <a:ext cx="72517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GB" sz="2000" dirty="0"/>
              <a:t>(3) After several doses of </a:t>
            </a:r>
            <a:r>
              <a:rPr lang="en-GB" sz="2000" dirty="0" err="1"/>
              <a:t>suxamethonium</a:t>
            </a:r>
            <a:r>
              <a:rPr lang="en-GB" sz="2000" dirty="0"/>
              <a:t>, has the block started to behave like a non-depolarising block?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/>
      <p:bldP spid="156678" grpId="0"/>
      <p:bldP spid="156679" grpId="0"/>
      <p:bldP spid="1566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6" name="Rectangle 108"/>
          <p:cNvSpPr>
            <a:spLocks noChangeArrowheads="1"/>
          </p:cNvSpPr>
          <p:nvPr/>
        </p:nvSpPr>
        <p:spPr bwMode="auto">
          <a:xfrm>
            <a:off x="4483100" y="4800600"/>
            <a:ext cx="57150" cy="42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37" name="Rectangle 109"/>
          <p:cNvSpPr>
            <a:spLocks noChangeArrowheads="1"/>
          </p:cNvSpPr>
          <p:nvPr/>
        </p:nvSpPr>
        <p:spPr bwMode="auto">
          <a:xfrm>
            <a:off x="4443413" y="4754563"/>
            <a:ext cx="42862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38" name="Rectangle 110"/>
          <p:cNvSpPr>
            <a:spLocks noChangeArrowheads="1"/>
          </p:cNvSpPr>
          <p:nvPr/>
        </p:nvSpPr>
        <p:spPr bwMode="auto">
          <a:xfrm>
            <a:off x="2471738" y="2703513"/>
            <a:ext cx="1970087" cy="2967037"/>
          </a:xfrm>
          <a:prstGeom prst="rect">
            <a:avLst/>
          </a:prstGeom>
          <a:solidFill>
            <a:srgbClr val="96969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39" name="Rectangle 111"/>
          <p:cNvSpPr>
            <a:spLocks noChangeArrowheads="1"/>
          </p:cNvSpPr>
          <p:nvPr/>
        </p:nvSpPr>
        <p:spPr bwMode="auto">
          <a:xfrm>
            <a:off x="2944813" y="2581275"/>
            <a:ext cx="184150" cy="122238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0" name="Rectangle 112"/>
          <p:cNvSpPr>
            <a:spLocks noChangeArrowheads="1"/>
          </p:cNvSpPr>
          <p:nvPr/>
        </p:nvSpPr>
        <p:spPr bwMode="auto">
          <a:xfrm>
            <a:off x="3790950" y="2581275"/>
            <a:ext cx="184150" cy="1222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5" name="Rectangle 117"/>
          <p:cNvSpPr>
            <a:spLocks noChangeArrowheads="1"/>
          </p:cNvSpPr>
          <p:nvPr/>
        </p:nvSpPr>
        <p:spPr bwMode="auto">
          <a:xfrm>
            <a:off x="2859088" y="3759200"/>
            <a:ext cx="342900" cy="3381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6" name="Rectangle 118"/>
          <p:cNvSpPr>
            <a:spLocks noChangeArrowheads="1"/>
          </p:cNvSpPr>
          <p:nvPr/>
        </p:nvSpPr>
        <p:spPr bwMode="auto">
          <a:xfrm>
            <a:off x="2908300" y="3813175"/>
            <a:ext cx="242888" cy="2301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7" name="Rectangle 119"/>
          <p:cNvSpPr>
            <a:spLocks noChangeArrowheads="1"/>
          </p:cNvSpPr>
          <p:nvPr/>
        </p:nvSpPr>
        <p:spPr bwMode="auto">
          <a:xfrm>
            <a:off x="2859088" y="4181475"/>
            <a:ext cx="342900" cy="3381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8" name="Rectangle 120"/>
          <p:cNvSpPr>
            <a:spLocks noChangeArrowheads="1"/>
          </p:cNvSpPr>
          <p:nvPr/>
        </p:nvSpPr>
        <p:spPr bwMode="auto">
          <a:xfrm>
            <a:off x="2908300" y="4235450"/>
            <a:ext cx="242888" cy="2301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9" name="Rectangle 121"/>
          <p:cNvSpPr>
            <a:spLocks noChangeArrowheads="1"/>
          </p:cNvSpPr>
          <p:nvPr/>
        </p:nvSpPr>
        <p:spPr bwMode="auto">
          <a:xfrm>
            <a:off x="2859088" y="4603750"/>
            <a:ext cx="342900" cy="3381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50" name="Rectangle 122"/>
          <p:cNvSpPr>
            <a:spLocks noChangeArrowheads="1"/>
          </p:cNvSpPr>
          <p:nvPr/>
        </p:nvSpPr>
        <p:spPr bwMode="auto">
          <a:xfrm>
            <a:off x="2908300" y="4657725"/>
            <a:ext cx="242888" cy="2301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51" name="Rectangle 123"/>
          <p:cNvSpPr>
            <a:spLocks noChangeArrowheads="1"/>
          </p:cNvSpPr>
          <p:nvPr/>
        </p:nvSpPr>
        <p:spPr bwMode="auto">
          <a:xfrm>
            <a:off x="2859088" y="5027613"/>
            <a:ext cx="342900" cy="33813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52" name="Rectangle 124"/>
          <p:cNvSpPr>
            <a:spLocks noChangeArrowheads="1"/>
          </p:cNvSpPr>
          <p:nvPr/>
        </p:nvSpPr>
        <p:spPr bwMode="auto">
          <a:xfrm>
            <a:off x="2908300" y="5081588"/>
            <a:ext cx="242888" cy="2301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53" name="Oval 125"/>
          <p:cNvSpPr>
            <a:spLocks noChangeArrowheads="1"/>
          </p:cNvSpPr>
          <p:nvPr/>
        </p:nvSpPr>
        <p:spPr bwMode="auto">
          <a:xfrm>
            <a:off x="2979738" y="2841625"/>
            <a:ext cx="142875" cy="149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54" name="Oval 126"/>
          <p:cNvSpPr>
            <a:spLocks noChangeArrowheads="1"/>
          </p:cNvSpPr>
          <p:nvPr/>
        </p:nvSpPr>
        <p:spPr bwMode="auto">
          <a:xfrm>
            <a:off x="3786188" y="2841625"/>
            <a:ext cx="142875" cy="149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1" name="Rectangle 113"/>
          <p:cNvSpPr>
            <a:spLocks noChangeArrowheads="1"/>
          </p:cNvSpPr>
          <p:nvPr/>
        </p:nvSpPr>
        <p:spPr bwMode="auto">
          <a:xfrm>
            <a:off x="3575050" y="3771900"/>
            <a:ext cx="547688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2" name="Rectangle 114"/>
          <p:cNvSpPr>
            <a:spLocks noChangeArrowheads="1"/>
          </p:cNvSpPr>
          <p:nvPr/>
        </p:nvSpPr>
        <p:spPr bwMode="auto">
          <a:xfrm>
            <a:off x="3575050" y="4197350"/>
            <a:ext cx="547688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3" name="Rectangle 115"/>
          <p:cNvSpPr>
            <a:spLocks noChangeArrowheads="1"/>
          </p:cNvSpPr>
          <p:nvPr/>
        </p:nvSpPr>
        <p:spPr bwMode="auto">
          <a:xfrm>
            <a:off x="3575050" y="4621213"/>
            <a:ext cx="547688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44" name="Rectangle 116"/>
          <p:cNvSpPr>
            <a:spLocks noChangeArrowheads="1"/>
          </p:cNvSpPr>
          <p:nvPr/>
        </p:nvSpPr>
        <p:spPr bwMode="auto">
          <a:xfrm>
            <a:off x="3575050" y="5045075"/>
            <a:ext cx="547688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55" name="Text Box 127"/>
          <p:cNvSpPr txBox="1">
            <a:spLocks noChangeArrowheads="1"/>
          </p:cNvSpPr>
          <p:nvPr/>
        </p:nvSpPr>
        <p:spPr bwMode="auto">
          <a:xfrm>
            <a:off x="3575050" y="3786188"/>
            <a:ext cx="490538" cy="27463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TOF</a:t>
            </a:r>
          </a:p>
        </p:txBody>
      </p:sp>
      <p:sp>
        <p:nvSpPr>
          <p:cNvPr id="201856" name="Text Box 128"/>
          <p:cNvSpPr txBox="1">
            <a:spLocks noChangeArrowheads="1"/>
          </p:cNvSpPr>
          <p:nvPr/>
        </p:nvSpPr>
        <p:spPr bwMode="auto">
          <a:xfrm>
            <a:off x="3498850" y="4635500"/>
            <a:ext cx="688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200" dirty="0" err="1"/>
              <a:t>Tetany</a:t>
            </a:r>
            <a:endParaRPr lang="en-US" sz="1200" dirty="0"/>
          </a:p>
        </p:txBody>
      </p:sp>
      <p:sp>
        <p:nvSpPr>
          <p:cNvPr id="201857" name="Text Box 129"/>
          <p:cNvSpPr txBox="1">
            <a:spLocks noChangeArrowheads="1"/>
          </p:cNvSpPr>
          <p:nvPr/>
        </p:nvSpPr>
        <p:spPr bwMode="auto">
          <a:xfrm>
            <a:off x="3575050" y="4211638"/>
            <a:ext cx="496888" cy="27463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DBS</a:t>
            </a:r>
          </a:p>
        </p:txBody>
      </p:sp>
      <p:sp>
        <p:nvSpPr>
          <p:cNvPr id="201858" name="Text Box 130"/>
          <p:cNvSpPr txBox="1">
            <a:spLocks noChangeArrowheads="1"/>
          </p:cNvSpPr>
          <p:nvPr/>
        </p:nvSpPr>
        <p:spPr bwMode="auto">
          <a:xfrm>
            <a:off x="3575050" y="5059363"/>
            <a:ext cx="496888" cy="27463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 Hz</a:t>
            </a:r>
          </a:p>
        </p:txBody>
      </p:sp>
      <p:sp>
        <p:nvSpPr>
          <p:cNvPr id="201859" name="Freeform 131"/>
          <p:cNvSpPr>
            <a:spLocks/>
          </p:cNvSpPr>
          <p:nvPr/>
        </p:nvSpPr>
        <p:spPr bwMode="auto">
          <a:xfrm>
            <a:off x="3027363" y="1252538"/>
            <a:ext cx="5080000" cy="4192587"/>
          </a:xfrm>
          <a:custGeom>
            <a:avLst/>
            <a:gdLst/>
            <a:ahLst/>
            <a:cxnLst>
              <a:cxn ang="0">
                <a:pos x="0" y="837"/>
              </a:cxn>
              <a:cxn ang="0">
                <a:pos x="256" y="222"/>
              </a:cxn>
              <a:cxn ang="0">
                <a:pos x="730" y="184"/>
              </a:cxn>
              <a:cxn ang="0">
                <a:pos x="1984" y="17"/>
              </a:cxn>
              <a:cxn ang="0">
                <a:pos x="2419" y="286"/>
              </a:cxn>
              <a:cxn ang="0">
                <a:pos x="2522" y="1029"/>
              </a:cxn>
              <a:cxn ang="0">
                <a:pos x="2829" y="2347"/>
              </a:cxn>
              <a:cxn ang="0">
                <a:pos x="3200" y="2641"/>
              </a:cxn>
            </a:cxnLst>
            <a:rect l="0" t="0" r="r" b="b"/>
            <a:pathLst>
              <a:path w="3200" h="2641">
                <a:moveTo>
                  <a:pt x="0" y="837"/>
                </a:moveTo>
                <a:cubicBezTo>
                  <a:pt x="67" y="584"/>
                  <a:pt x="134" y="331"/>
                  <a:pt x="256" y="222"/>
                </a:cubicBezTo>
                <a:cubicBezTo>
                  <a:pt x="378" y="113"/>
                  <a:pt x="442" y="218"/>
                  <a:pt x="730" y="184"/>
                </a:cubicBezTo>
                <a:cubicBezTo>
                  <a:pt x="1018" y="150"/>
                  <a:pt x="1703" y="0"/>
                  <a:pt x="1984" y="17"/>
                </a:cubicBezTo>
                <a:cubicBezTo>
                  <a:pt x="2265" y="34"/>
                  <a:pt x="2329" y="117"/>
                  <a:pt x="2419" y="286"/>
                </a:cubicBezTo>
                <a:cubicBezTo>
                  <a:pt x="2509" y="455"/>
                  <a:pt x="2454" y="685"/>
                  <a:pt x="2522" y="1029"/>
                </a:cubicBezTo>
                <a:cubicBezTo>
                  <a:pt x="2590" y="1373"/>
                  <a:pt x="2716" y="2078"/>
                  <a:pt x="2829" y="2347"/>
                </a:cubicBezTo>
                <a:cubicBezTo>
                  <a:pt x="2942" y="2616"/>
                  <a:pt x="3071" y="2628"/>
                  <a:pt x="3200" y="264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60" name="Freeform 132"/>
          <p:cNvSpPr>
            <a:spLocks/>
          </p:cNvSpPr>
          <p:nvPr/>
        </p:nvSpPr>
        <p:spPr bwMode="auto">
          <a:xfrm>
            <a:off x="3881438" y="2092325"/>
            <a:ext cx="2600325" cy="3416300"/>
          </a:xfrm>
          <a:custGeom>
            <a:avLst/>
            <a:gdLst/>
            <a:ahLst/>
            <a:cxnLst>
              <a:cxn ang="0">
                <a:pos x="0" y="295"/>
              </a:cxn>
              <a:cxn ang="0">
                <a:pos x="192" y="39"/>
              </a:cxn>
              <a:cxn ang="0">
                <a:pos x="525" y="77"/>
              </a:cxn>
              <a:cxn ang="0">
                <a:pos x="589" y="448"/>
              </a:cxn>
              <a:cxn ang="0">
                <a:pos x="909" y="218"/>
              </a:cxn>
              <a:cxn ang="0">
                <a:pos x="1318" y="154"/>
              </a:cxn>
              <a:cxn ang="0">
                <a:pos x="1344" y="1140"/>
              </a:cxn>
              <a:cxn ang="0">
                <a:pos x="1254" y="1984"/>
              </a:cxn>
              <a:cxn ang="0">
                <a:pos x="1638" y="2151"/>
              </a:cxn>
            </a:cxnLst>
            <a:rect l="0" t="0" r="r" b="b"/>
            <a:pathLst>
              <a:path w="1638" h="2152">
                <a:moveTo>
                  <a:pt x="0" y="295"/>
                </a:moveTo>
                <a:cubicBezTo>
                  <a:pt x="52" y="185"/>
                  <a:pt x="105" y="75"/>
                  <a:pt x="192" y="39"/>
                </a:cubicBezTo>
                <a:cubicBezTo>
                  <a:pt x="279" y="3"/>
                  <a:pt x="459" y="9"/>
                  <a:pt x="525" y="77"/>
                </a:cubicBezTo>
                <a:cubicBezTo>
                  <a:pt x="591" y="145"/>
                  <a:pt x="525" y="424"/>
                  <a:pt x="589" y="448"/>
                </a:cubicBezTo>
                <a:cubicBezTo>
                  <a:pt x="653" y="472"/>
                  <a:pt x="788" y="267"/>
                  <a:pt x="909" y="218"/>
                </a:cubicBezTo>
                <a:cubicBezTo>
                  <a:pt x="1030" y="169"/>
                  <a:pt x="1245" y="0"/>
                  <a:pt x="1318" y="154"/>
                </a:cubicBezTo>
                <a:cubicBezTo>
                  <a:pt x="1391" y="308"/>
                  <a:pt x="1355" y="835"/>
                  <a:pt x="1344" y="1140"/>
                </a:cubicBezTo>
                <a:cubicBezTo>
                  <a:pt x="1333" y="1445"/>
                  <a:pt x="1205" y="1816"/>
                  <a:pt x="1254" y="1984"/>
                </a:cubicBezTo>
                <a:cubicBezTo>
                  <a:pt x="1303" y="2152"/>
                  <a:pt x="1470" y="2151"/>
                  <a:pt x="1638" y="2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61" name="Freeform 133"/>
          <p:cNvSpPr>
            <a:spLocks/>
          </p:cNvSpPr>
          <p:nvPr/>
        </p:nvSpPr>
        <p:spPr bwMode="auto">
          <a:xfrm rot="6173570">
            <a:off x="6488907" y="5339556"/>
            <a:ext cx="265112" cy="479425"/>
          </a:xfrm>
          <a:custGeom>
            <a:avLst/>
            <a:gdLst/>
            <a:ahLst/>
            <a:cxnLst>
              <a:cxn ang="0">
                <a:pos x="116" y="210"/>
              </a:cxn>
              <a:cxn ang="0">
                <a:pos x="131" y="243"/>
              </a:cxn>
              <a:cxn ang="0">
                <a:pos x="128" y="276"/>
              </a:cxn>
              <a:cxn ang="0">
                <a:pos x="152" y="318"/>
              </a:cxn>
              <a:cxn ang="0">
                <a:pos x="146" y="357"/>
              </a:cxn>
              <a:cxn ang="0">
                <a:pos x="164" y="393"/>
              </a:cxn>
              <a:cxn ang="0">
                <a:pos x="158" y="432"/>
              </a:cxn>
              <a:cxn ang="0">
                <a:pos x="176" y="465"/>
              </a:cxn>
              <a:cxn ang="0">
                <a:pos x="200" y="456"/>
              </a:cxn>
              <a:cxn ang="0">
                <a:pos x="212" y="408"/>
              </a:cxn>
              <a:cxn ang="0">
                <a:pos x="230" y="369"/>
              </a:cxn>
              <a:cxn ang="0">
                <a:pos x="233" y="330"/>
              </a:cxn>
              <a:cxn ang="0">
                <a:pos x="260" y="294"/>
              </a:cxn>
              <a:cxn ang="0">
                <a:pos x="263" y="264"/>
              </a:cxn>
              <a:cxn ang="0">
                <a:pos x="284" y="237"/>
              </a:cxn>
              <a:cxn ang="0">
                <a:pos x="287" y="201"/>
              </a:cxn>
              <a:cxn ang="0">
                <a:pos x="311" y="159"/>
              </a:cxn>
              <a:cxn ang="0">
                <a:pos x="317" y="126"/>
              </a:cxn>
              <a:cxn ang="0">
                <a:pos x="338" y="90"/>
              </a:cxn>
              <a:cxn ang="0">
                <a:pos x="353" y="39"/>
              </a:cxn>
              <a:cxn ang="0">
                <a:pos x="428" y="30"/>
              </a:cxn>
              <a:cxn ang="0">
                <a:pos x="392" y="177"/>
              </a:cxn>
              <a:cxn ang="0">
                <a:pos x="335" y="351"/>
              </a:cxn>
              <a:cxn ang="0">
                <a:pos x="281" y="519"/>
              </a:cxn>
              <a:cxn ang="0">
                <a:pos x="233" y="660"/>
              </a:cxn>
              <a:cxn ang="0">
                <a:pos x="230" y="762"/>
              </a:cxn>
              <a:cxn ang="0">
                <a:pos x="233" y="852"/>
              </a:cxn>
              <a:cxn ang="0">
                <a:pos x="215" y="918"/>
              </a:cxn>
              <a:cxn ang="0">
                <a:pos x="155" y="915"/>
              </a:cxn>
              <a:cxn ang="0">
                <a:pos x="123" y="846"/>
              </a:cxn>
              <a:cxn ang="0">
                <a:pos x="56" y="912"/>
              </a:cxn>
              <a:cxn ang="0">
                <a:pos x="11" y="906"/>
              </a:cxn>
              <a:cxn ang="0">
                <a:pos x="2" y="840"/>
              </a:cxn>
              <a:cxn ang="0">
                <a:pos x="23" y="765"/>
              </a:cxn>
              <a:cxn ang="0">
                <a:pos x="56" y="663"/>
              </a:cxn>
              <a:cxn ang="0">
                <a:pos x="72" y="551"/>
              </a:cxn>
              <a:cxn ang="0">
                <a:pos x="32" y="234"/>
              </a:cxn>
              <a:cxn ang="0">
                <a:pos x="14" y="129"/>
              </a:cxn>
              <a:cxn ang="0">
                <a:pos x="20" y="33"/>
              </a:cxn>
              <a:cxn ang="0">
                <a:pos x="72" y="1"/>
              </a:cxn>
              <a:cxn ang="0">
                <a:pos x="83" y="42"/>
              </a:cxn>
              <a:cxn ang="0">
                <a:pos x="80" y="81"/>
              </a:cxn>
              <a:cxn ang="0">
                <a:pos x="95" y="102"/>
              </a:cxn>
              <a:cxn ang="0">
                <a:pos x="92" y="144"/>
              </a:cxn>
              <a:cxn ang="0">
                <a:pos x="116" y="177"/>
              </a:cxn>
              <a:cxn ang="0">
                <a:pos x="116" y="210"/>
              </a:cxn>
            </a:cxnLst>
            <a:rect l="0" t="0" r="r" b="b"/>
            <a:pathLst>
              <a:path w="434" h="928">
                <a:moveTo>
                  <a:pt x="116" y="210"/>
                </a:moveTo>
                <a:cubicBezTo>
                  <a:pt x="118" y="221"/>
                  <a:pt x="129" y="232"/>
                  <a:pt x="131" y="243"/>
                </a:cubicBezTo>
                <a:cubicBezTo>
                  <a:pt x="133" y="254"/>
                  <a:pt x="125" y="264"/>
                  <a:pt x="128" y="276"/>
                </a:cubicBezTo>
                <a:cubicBezTo>
                  <a:pt x="131" y="288"/>
                  <a:pt x="149" y="305"/>
                  <a:pt x="152" y="318"/>
                </a:cubicBezTo>
                <a:cubicBezTo>
                  <a:pt x="155" y="331"/>
                  <a:pt x="144" y="345"/>
                  <a:pt x="146" y="357"/>
                </a:cubicBezTo>
                <a:cubicBezTo>
                  <a:pt x="148" y="369"/>
                  <a:pt x="162" y="381"/>
                  <a:pt x="164" y="393"/>
                </a:cubicBezTo>
                <a:cubicBezTo>
                  <a:pt x="166" y="405"/>
                  <a:pt x="156" y="420"/>
                  <a:pt x="158" y="432"/>
                </a:cubicBezTo>
                <a:cubicBezTo>
                  <a:pt x="160" y="444"/>
                  <a:pt x="169" y="461"/>
                  <a:pt x="176" y="465"/>
                </a:cubicBezTo>
                <a:cubicBezTo>
                  <a:pt x="183" y="469"/>
                  <a:pt x="194" y="465"/>
                  <a:pt x="200" y="456"/>
                </a:cubicBezTo>
                <a:cubicBezTo>
                  <a:pt x="206" y="447"/>
                  <a:pt x="207" y="422"/>
                  <a:pt x="212" y="408"/>
                </a:cubicBezTo>
                <a:cubicBezTo>
                  <a:pt x="217" y="394"/>
                  <a:pt x="227" y="382"/>
                  <a:pt x="230" y="369"/>
                </a:cubicBezTo>
                <a:cubicBezTo>
                  <a:pt x="233" y="356"/>
                  <a:pt x="228" y="342"/>
                  <a:pt x="233" y="330"/>
                </a:cubicBezTo>
                <a:cubicBezTo>
                  <a:pt x="238" y="318"/>
                  <a:pt x="255" y="305"/>
                  <a:pt x="260" y="294"/>
                </a:cubicBezTo>
                <a:cubicBezTo>
                  <a:pt x="265" y="283"/>
                  <a:pt x="259" y="273"/>
                  <a:pt x="263" y="264"/>
                </a:cubicBezTo>
                <a:cubicBezTo>
                  <a:pt x="267" y="255"/>
                  <a:pt x="280" y="247"/>
                  <a:pt x="284" y="237"/>
                </a:cubicBezTo>
                <a:cubicBezTo>
                  <a:pt x="288" y="227"/>
                  <a:pt x="282" y="214"/>
                  <a:pt x="287" y="201"/>
                </a:cubicBezTo>
                <a:cubicBezTo>
                  <a:pt x="292" y="188"/>
                  <a:pt x="306" y="171"/>
                  <a:pt x="311" y="159"/>
                </a:cubicBezTo>
                <a:cubicBezTo>
                  <a:pt x="316" y="147"/>
                  <a:pt x="313" y="137"/>
                  <a:pt x="317" y="126"/>
                </a:cubicBezTo>
                <a:cubicBezTo>
                  <a:pt x="321" y="115"/>
                  <a:pt x="332" y="104"/>
                  <a:pt x="338" y="90"/>
                </a:cubicBezTo>
                <a:cubicBezTo>
                  <a:pt x="344" y="76"/>
                  <a:pt x="338" y="49"/>
                  <a:pt x="353" y="39"/>
                </a:cubicBezTo>
                <a:cubicBezTo>
                  <a:pt x="368" y="29"/>
                  <a:pt x="422" y="7"/>
                  <a:pt x="428" y="30"/>
                </a:cubicBezTo>
                <a:cubicBezTo>
                  <a:pt x="434" y="53"/>
                  <a:pt x="407" y="124"/>
                  <a:pt x="392" y="177"/>
                </a:cubicBezTo>
                <a:cubicBezTo>
                  <a:pt x="377" y="230"/>
                  <a:pt x="353" y="294"/>
                  <a:pt x="335" y="351"/>
                </a:cubicBezTo>
                <a:cubicBezTo>
                  <a:pt x="317" y="408"/>
                  <a:pt x="298" y="468"/>
                  <a:pt x="281" y="519"/>
                </a:cubicBezTo>
                <a:cubicBezTo>
                  <a:pt x="264" y="570"/>
                  <a:pt x="241" y="620"/>
                  <a:pt x="233" y="660"/>
                </a:cubicBezTo>
                <a:cubicBezTo>
                  <a:pt x="225" y="700"/>
                  <a:pt x="230" y="730"/>
                  <a:pt x="230" y="762"/>
                </a:cubicBezTo>
                <a:cubicBezTo>
                  <a:pt x="230" y="794"/>
                  <a:pt x="236" y="826"/>
                  <a:pt x="233" y="852"/>
                </a:cubicBezTo>
                <a:cubicBezTo>
                  <a:pt x="230" y="878"/>
                  <a:pt x="228" y="908"/>
                  <a:pt x="215" y="918"/>
                </a:cubicBezTo>
                <a:cubicBezTo>
                  <a:pt x="202" y="928"/>
                  <a:pt x="170" y="927"/>
                  <a:pt x="155" y="915"/>
                </a:cubicBezTo>
                <a:cubicBezTo>
                  <a:pt x="140" y="903"/>
                  <a:pt x="139" y="846"/>
                  <a:pt x="123" y="846"/>
                </a:cubicBezTo>
                <a:cubicBezTo>
                  <a:pt x="107" y="846"/>
                  <a:pt x="75" y="902"/>
                  <a:pt x="56" y="912"/>
                </a:cubicBezTo>
                <a:cubicBezTo>
                  <a:pt x="37" y="922"/>
                  <a:pt x="20" y="918"/>
                  <a:pt x="11" y="906"/>
                </a:cubicBezTo>
                <a:cubicBezTo>
                  <a:pt x="2" y="894"/>
                  <a:pt x="0" y="863"/>
                  <a:pt x="2" y="840"/>
                </a:cubicBezTo>
                <a:cubicBezTo>
                  <a:pt x="4" y="817"/>
                  <a:pt x="14" y="794"/>
                  <a:pt x="23" y="765"/>
                </a:cubicBezTo>
                <a:cubicBezTo>
                  <a:pt x="32" y="736"/>
                  <a:pt x="48" y="699"/>
                  <a:pt x="56" y="663"/>
                </a:cubicBezTo>
                <a:cubicBezTo>
                  <a:pt x="64" y="627"/>
                  <a:pt x="76" y="622"/>
                  <a:pt x="72" y="551"/>
                </a:cubicBezTo>
                <a:cubicBezTo>
                  <a:pt x="68" y="480"/>
                  <a:pt x="42" y="304"/>
                  <a:pt x="32" y="234"/>
                </a:cubicBezTo>
                <a:cubicBezTo>
                  <a:pt x="22" y="164"/>
                  <a:pt x="16" y="162"/>
                  <a:pt x="14" y="129"/>
                </a:cubicBezTo>
                <a:cubicBezTo>
                  <a:pt x="12" y="96"/>
                  <a:pt x="10" y="54"/>
                  <a:pt x="20" y="33"/>
                </a:cubicBezTo>
                <a:cubicBezTo>
                  <a:pt x="30" y="12"/>
                  <a:pt x="62" y="0"/>
                  <a:pt x="72" y="1"/>
                </a:cubicBezTo>
                <a:cubicBezTo>
                  <a:pt x="82" y="2"/>
                  <a:pt x="82" y="29"/>
                  <a:pt x="83" y="42"/>
                </a:cubicBezTo>
                <a:cubicBezTo>
                  <a:pt x="84" y="55"/>
                  <a:pt x="78" y="71"/>
                  <a:pt x="80" y="81"/>
                </a:cubicBezTo>
                <a:cubicBezTo>
                  <a:pt x="82" y="91"/>
                  <a:pt x="93" y="92"/>
                  <a:pt x="95" y="102"/>
                </a:cubicBezTo>
                <a:cubicBezTo>
                  <a:pt x="97" y="112"/>
                  <a:pt x="89" y="132"/>
                  <a:pt x="92" y="144"/>
                </a:cubicBezTo>
                <a:cubicBezTo>
                  <a:pt x="95" y="156"/>
                  <a:pt x="112" y="166"/>
                  <a:pt x="116" y="177"/>
                </a:cubicBezTo>
                <a:cubicBezTo>
                  <a:pt x="120" y="188"/>
                  <a:pt x="115" y="199"/>
                  <a:pt x="116" y="21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62" name="Oval 134"/>
          <p:cNvSpPr>
            <a:spLocks noChangeArrowheads="1"/>
          </p:cNvSpPr>
          <p:nvPr/>
        </p:nvSpPr>
        <p:spPr bwMode="auto">
          <a:xfrm rot="6173570">
            <a:off x="6520657" y="5503069"/>
            <a:ext cx="33337" cy="2857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63" name="Freeform 135"/>
          <p:cNvSpPr>
            <a:spLocks/>
          </p:cNvSpPr>
          <p:nvPr/>
        </p:nvSpPr>
        <p:spPr bwMode="auto">
          <a:xfrm rot="6173570">
            <a:off x="6503193" y="5418932"/>
            <a:ext cx="55563" cy="196850"/>
          </a:xfrm>
          <a:custGeom>
            <a:avLst/>
            <a:gdLst/>
            <a:ahLst/>
            <a:cxnLst>
              <a:cxn ang="0">
                <a:pos x="75" y="0"/>
              </a:cxn>
              <a:cxn ang="0">
                <a:pos x="90" y="27"/>
              </a:cxn>
              <a:cxn ang="0">
                <a:pos x="54" y="60"/>
              </a:cxn>
              <a:cxn ang="0">
                <a:pos x="69" y="96"/>
              </a:cxn>
              <a:cxn ang="0">
                <a:pos x="36" y="126"/>
              </a:cxn>
              <a:cxn ang="0">
                <a:pos x="51" y="147"/>
              </a:cxn>
              <a:cxn ang="0">
                <a:pos x="27" y="186"/>
              </a:cxn>
              <a:cxn ang="0">
                <a:pos x="48" y="231"/>
              </a:cxn>
              <a:cxn ang="0">
                <a:pos x="21" y="255"/>
              </a:cxn>
              <a:cxn ang="0">
                <a:pos x="48" y="309"/>
              </a:cxn>
              <a:cxn ang="0">
                <a:pos x="0" y="342"/>
              </a:cxn>
              <a:cxn ang="0">
                <a:pos x="24" y="381"/>
              </a:cxn>
            </a:cxnLst>
            <a:rect l="0" t="0" r="r" b="b"/>
            <a:pathLst>
              <a:path w="90" h="381">
                <a:moveTo>
                  <a:pt x="75" y="0"/>
                </a:moveTo>
                <a:lnTo>
                  <a:pt x="90" y="27"/>
                </a:lnTo>
                <a:lnTo>
                  <a:pt x="54" y="60"/>
                </a:lnTo>
                <a:lnTo>
                  <a:pt x="69" y="96"/>
                </a:lnTo>
                <a:lnTo>
                  <a:pt x="36" y="126"/>
                </a:lnTo>
                <a:lnTo>
                  <a:pt x="51" y="147"/>
                </a:lnTo>
                <a:lnTo>
                  <a:pt x="27" y="186"/>
                </a:lnTo>
                <a:lnTo>
                  <a:pt x="48" y="231"/>
                </a:lnTo>
                <a:lnTo>
                  <a:pt x="21" y="255"/>
                </a:lnTo>
                <a:lnTo>
                  <a:pt x="48" y="309"/>
                </a:lnTo>
                <a:lnTo>
                  <a:pt x="0" y="342"/>
                </a:lnTo>
                <a:lnTo>
                  <a:pt x="24" y="381"/>
                </a:lnTo>
              </a:path>
            </a:pathLst>
          </a:custGeom>
          <a:solidFill>
            <a:schemeClr val="bg1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64" name="Freeform 136"/>
          <p:cNvSpPr>
            <a:spLocks/>
          </p:cNvSpPr>
          <p:nvPr/>
        </p:nvSpPr>
        <p:spPr bwMode="auto">
          <a:xfrm rot="6173570">
            <a:off x="8127207" y="5291931"/>
            <a:ext cx="265112" cy="479425"/>
          </a:xfrm>
          <a:custGeom>
            <a:avLst/>
            <a:gdLst/>
            <a:ahLst/>
            <a:cxnLst>
              <a:cxn ang="0">
                <a:pos x="116" y="210"/>
              </a:cxn>
              <a:cxn ang="0">
                <a:pos x="131" y="243"/>
              </a:cxn>
              <a:cxn ang="0">
                <a:pos x="128" y="276"/>
              </a:cxn>
              <a:cxn ang="0">
                <a:pos x="152" y="318"/>
              </a:cxn>
              <a:cxn ang="0">
                <a:pos x="146" y="357"/>
              </a:cxn>
              <a:cxn ang="0">
                <a:pos x="164" y="393"/>
              </a:cxn>
              <a:cxn ang="0">
                <a:pos x="158" y="432"/>
              </a:cxn>
              <a:cxn ang="0">
                <a:pos x="176" y="465"/>
              </a:cxn>
              <a:cxn ang="0">
                <a:pos x="200" y="456"/>
              </a:cxn>
              <a:cxn ang="0">
                <a:pos x="212" y="408"/>
              </a:cxn>
              <a:cxn ang="0">
                <a:pos x="230" y="369"/>
              </a:cxn>
              <a:cxn ang="0">
                <a:pos x="233" y="330"/>
              </a:cxn>
              <a:cxn ang="0">
                <a:pos x="260" y="294"/>
              </a:cxn>
              <a:cxn ang="0">
                <a:pos x="263" y="264"/>
              </a:cxn>
              <a:cxn ang="0">
                <a:pos x="284" y="237"/>
              </a:cxn>
              <a:cxn ang="0">
                <a:pos x="287" y="201"/>
              </a:cxn>
              <a:cxn ang="0">
                <a:pos x="311" y="159"/>
              </a:cxn>
              <a:cxn ang="0">
                <a:pos x="317" y="126"/>
              </a:cxn>
              <a:cxn ang="0">
                <a:pos x="338" y="90"/>
              </a:cxn>
              <a:cxn ang="0">
                <a:pos x="353" y="39"/>
              </a:cxn>
              <a:cxn ang="0">
                <a:pos x="428" y="30"/>
              </a:cxn>
              <a:cxn ang="0">
                <a:pos x="392" y="177"/>
              </a:cxn>
              <a:cxn ang="0">
                <a:pos x="335" y="351"/>
              </a:cxn>
              <a:cxn ang="0">
                <a:pos x="281" y="519"/>
              </a:cxn>
              <a:cxn ang="0">
                <a:pos x="233" y="660"/>
              </a:cxn>
              <a:cxn ang="0">
                <a:pos x="230" y="762"/>
              </a:cxn>
              <a:cxn ang="0">
                <a:pos x="233" y="852"/>
              </a:cxn>
              <a:cxn ang="0">
                <a:pos x="215" y="918"/>
              </a:cxn>
              <a:cxn ang="0">
                <a:pos x="155" y="915"/>
              </a:cxn>
              <a:cxn ang="0">
                <a:pos x="123" y="846"/>
              </a:cxn>
              <a:cxn ang="0">
                <a:pos x="56" y="912"/>
              </a:cxn>
              <a:cxn ang="0">
                <a:pos x="11" y="906"/>
              </a:cxn>
              <a:cxn ang="0">
                <a:pos x="2" y="840"/>
              </a:cxn>
              <a:cxn ang="0">
                <a:pos x="23" y="765"/>
              </a:cxn>
              <a:cxn ang="0">
                <a:pos x="56" y="663"/>
              </a:cxn>
              <a:cxn ang="0">
                <a:pos x="72" y="551"/>
              </a:cxn>
              <a:cxn ang="0">
                <a:pos x="32" y="234"/>
              </a:cxn>
              <a:cxn ang="0">
                <a:pos x="14" y="129"/>
              </a:cxn>
              <a:cxn ang="0">
                <a:pos x="20" y="33"/>
              </a:cxn>
              <a:cxn ang="0">
                <a:pos x="72" y="1"/>
              </a:cxn>
              <a:cxn ang="0">
                <a:pos x="83" y="42"/>
              </a:cxn>
              <a:cxn ang="0">
                <a:pos x="80" y="81"/>
              </a:cxn>
              <a:cxn ang="0">
                <a:pos x="95" y="102"/>
              </a:cxn>
              <a:cxn ang="0">
                <a:pos x="92" y="144"/>
              </a:cxn>
              <a:cxn ang="0">
                <a:pos x="116" y="177"/>
              </a:cxn>
              <a:cxn ang="0">
                <a:pos x="116" y="210"/>
              </a:cxn>
            </a:cxnLst>
            <a:rect l="0" t="0" r="r" b="b"/>
            <a:pathLst>
              <a:path w="434" h="928">
                <a:moveTo>
                  <a:pt x="116" y="210"/>
                </a:moveTo>
                <a:cubicBezTo>
                  <a:pt x="118" y="221"/>
                  <a:pt x="129" y="232"/>
                  <a:pt x="131" y="243"/>
                </a:cubicBezTo>
                <a:cubicBezTo>
                  <a:pt x="133" y="254"/>
                  <a:pt x="125" y="264"/>
                  <a:pt x="128" y="276"/>
                </a:cubicBezTo>
                <a:cubicBezTo>
                  <a:pt x="131" y="288"/>
                  <a:pt x="149" y="305"/>
                  <a:pt x="152" y="318"/>
                </a:cubicBezTo>
                <a:cubicBezTo>
                  <a:pt x="155" y="331"/>
                  <a:pt x="144" y="345"/>
                  <a:pt x="146" y="357"/>
                </a:cubicBezTo>
                <a:cubicBezTo>
                  <a:pt x="148" y="369"/>
                  <a:pt x="162" y="381"/>
                  <a:pt x="164" y="393"/>
                </a:cubicBezTo>
                <a:cubicBezTo>
                  <a:pt x="166" y="405"/>
                  <a:pt x="156" y="420"/>
                  <a:pt x="158" y="432"/>
                </a:cubicBezTo>
                <a:cubicBezTo>
                  <a:pt x="160" y="444"/>
                  <a:pt x="169" y="461"/>
                  <a:pt x="176" y="465"/>
                </a:cubicBezTo>
                <a:cubicBezTo>
                  <a:pt x="183" y="469"/>
                  <a:pt x="194" y="465"/>
                  <a:pt x="200" y="456"/>
                </a:cubicBezTo>
                <a:cubicBezTo>
                  <a:pt x="206" y="447"/>
                  <a:pt x="207" y="422"/>
                  <a:pt x="212" y="408"/>
                </a:cubicBezTo>
                <a:cubicBezTo>
                  <a:pt x="217" y="394"/>
                  <a:pt x="227" y="382"/>
                  <a:pt x="230" y="369"/>
                </a:cubicBezTo>
                <a:cubicBezTo>
                  <a:pt x="233" y="356"/>
                  <a:pt x="228" y="342"/>
                  <a:pt x="233" y="330"/>
                </a:cubicBezTo>
                <a:cubicBezTo>
                  <a:pt x="238" y="318"/>
                  <a:pt x="255" y="305"/>
                  <a:pt x="260" y="294"/>
                </a:cubicBezTo>
                <a:cubicBezTo>
                  <a:pt x="265" y="283"/>
                  <a:pt x="259" y="273"/>
                  <a:pt x="263" y="264"/>
                </a:cubicBezTo>
                <a:cubicBezTo>
                  <a:pt x="267" y="255"/>
                  <a:pt x="280" y="247"/>
                  <a:pt x="284" y="237"/>
                </a:cubicBezTo>
                <a:cubicBezTo>
                  <a:pt x="288" y="227"/>
                  <a:pt x="282" y="214"/>
                  <a:pt x="287" y="201"/>
                </a:cubicBezTo>
                <a:cubicBezTo>
                  <a:pt x="292" y="188"/>
                  <a:pt x="306" y="171"/>
                  <a:pt x="311" y="159"/>
                </a:cubicBezTo>
                <a:cubicBezTo>
                  <a:pt x="316" y="147"/>
                  <a:pt x="313" y="137"/>
                  <a:pt x="317" y="126"/>
                </a:cubicBezTo>
                <a:cubicBezTo>
                  <a:pt x="321" y="115"/>
                  <a:pt x="332" y="104"/>
                  <a:pt x="338" y="90"/>
                </a:cubicBezTo>
                <a:cubicBezTo>
                  <a:pt x="344" y="76"/>
                  <a:pt x="338" y="49"/>
                  <a:pt x="353" y="39"/>
                </a:cubicBezTo>
                <a:cubicBezTo>
                  <a:pt x="368" y="29"/>
                  <a:pt x="422" y="7"/>
                  <a:pt x="428" y="30"/>
                </a:cubicBezTo>
                <a:cubicBezTo>
                  <a:pt x="434" y="53"/>
                  <a:pt x="407" y="124"/>
                  <a:pt x="392" y="177"/>
                </a:cubicBezTo>
                <a:cubicBezTo>
                  <a:pt x="377" y="230"/>
                  <a:pt x="353" y="294"/>
                  <a:pt x="335" y="351"/>
                </a:cubicBezTo>
                <a:cubicBezTo>
                  <a:pt x="317" y="408"/>
                  <a:pt x="298" y="468"/>
                  <a:pt x="281" y="519"/>
                </a:cubicBezTo>
                <a:cubicBezTo>
                  <a:pt x="264" y="570"/>
                  <a:pt x="241" y="620"/>
                  <a:pt x="233" y="660"/>
                </a:cubicBezTo>
                <a:cubicBezTo>
                  <a:pt x="225" y="700"/>
                  <a:pt x="230" y="730"/>
                  <a:pt x="230" y="762"/>
                </a:cubicBezTo>
                <a:cubicBezTo>
                  <a:pt x="230" y="794"/>
                  <a:pt x="236" y="826"/>
                  <a:pt x="233" y="852"/>
                </a:cubicBezTo>
                <a:cubicBezTo>
                  <a:pt x="230" y="878"/>
                  <a:pt x="228" y="908"/>
                  <a:pt x="215" y="918"/>
                </a:cubicBezTo>
                <a:cubicBezTo>
                  <a:pt x="202" y="928"/>
                  <a:pt x="170" y="927"/>
                  <a:pt x="155" y="915"/>
                </a:cubicBezTo>
                <a:cubicBezTo>
                  <a:pt x="140" y="903"/>
                  <a:pt x="139" y="846"/>
                  <a:pt x="123" y="846"/>
                </a:cubicBezTo>
                <a:cubicBezTo>
                  <a:pt x="107" y="846"/>
                  <a:pt x="75" y="902"/>
                  <a:pt x="56" y="912"/>
                </a:cubicBezTo>
                <a:cubicBezTo>
                  <a:pt x="37" y="922"/>
                  <a:pt x="20" y="918"/>
                  <a:pt x="11" y="906"/>
                </a:cubicBezTo>
                <a:cubicBezTo>
                  <a:pt x="2" y="894"/>
                  <a:pt x="0" y="863"/>
                  <a:pt x="2" y="840"/>
                </a:cubicBezTo>
                <a:cubicBezTo>
                  <a:pt x="4" y="817"/>
                  <a:pt x="14" y="794"/>
                  <a:pt x="23" y="765"/>
                </a:cubicBezTo>
                <a:cubicBezTo>
                  <a:pt x="32" y="736"/>
                  <a:pt x="48" y="699"/>
                  <a:pt x="56" y="663"/>
                </a:cubicBezTo>
                <a:cubicBezTo>
                  <a:pt x="64" y="627"/>
                  <a:pt x="76" y="622"/>
                  <a:pt x="72" y="551"/>
                </a:cubicBezTo>
                <a:cubicBezTo>
                  <a:pt x="68" y="480"/>
                  <a:pt x="42" y="304"/>
                  <a:pt x="32" y="234"/>
                </a:cubicBezTo>
                <a:cubicBezTo>
                  <a:pt x="22" y="164"/>
                  <a:pt x="16" y="162"/>
                  <a:pt x="14" y="129"/>
                </a:cubicBezTo>
                <a:cubicBezTo>
                  <a:pt x="12" y="96"/>
                  <a:pt x="10" y="54"/>
                  <a:pt x="20" y="33"/>
                </a:cubicBezTo>
                <a:cubicBezTo>
                  <a:pt x="30" y="12"/>
                  <a:pt x="62" y="0"/>
                  <a:pt x="72" y="1"/>
                </a:cubicBezTo>
                <a:cubicBezTo>
                  <a:pt x="82" y="2"/>
                  <a:pt x="82" y="29"/>
                  <a:pt x="83" y="42"/>
                </a:cubicBezTo>
                <a:cubicBezTo>
                  <a:pt x="84" y="55"/>
                  <a:pt x="78" y="71"/>
                  <a:pt x="80" y="81"/>
                </a:cubicBezTo>
                <a:cubicBezTo>
                  <a:pt x="82" y="91"/>
                  <a:pt x="93" y="92"/>
                  <a:pt x="95" y="102"/>
                </a:cubicBezTo>
                <a:cubicBezTo>
                  <a:pt x="97" y="112"/>
                  <a:pt x="89" y="132"/>
                  <a:pt x="92" y="144"/>
                </a:cubicBezTo>
                <a:cubicBezTo>
                  <a:pt x="95" y="156"/>
                  <a:pt x="112" y="166"/>
                  <a:pt x="116" y="177"/>
                </a:cubicBezTo>
                <a:cubicBezTo>
                  <a:pt x="120" y="188"/>
                  <a:pt x="115" y="199"/>
                  <a:pt x="116" y="210"/>
                </a:cubicBezTo>
                <a:close/>
              </a:path>
            </a:pathLst>
          </a:custGeom>
          <a:solidFill>
            <a:srgbClr val="C0C0C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65" name="Oval 137"/>
          <p:cNvSpPr>
            <a:spLocks noChangeArrowheads="1"/>
          </p:cNvSpPr>
          <p:nvPr/>
        </p:nvSpPr>
        <p:spPr bwMode="auto">
          <a:xfrm rot="6173570">
            <a:off x="8158957" y="5455444"/>
            <a:ext cx="33337" cy="285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66" name="Freeform 138"/>
          <p:cNvSpPr>
            <a:spLocks/>
          </p:cNvSpPr>
          <p:nvPr/>
        </p:nvSpPr>
        <p:spPr bwMode="auto">
          <a:xfrm rot="6173570">
            <a:off x="8141493" y="5371307"/>
            <a:ext cx="55563" cy="196850"/>
          </a:xfrm>
          <a:custGeom>
            <a:avLst/>
            <a:gdLst/>
            <a:ahLst/>
            <a:cxnLst>
              <a:cxn ang="0">
                <a:pos x="75" y="0"/>
              </a:cxn>
              <a:cxn ang="0">
                <a:pos x="90" y="27"/>
              </a:cxn>
              <a:cxn ang="0">
                <a:pos x="54" y="60"/>
              </a:cxn>
              <a:cxn ang="0">
                <a:pos x="69" y="96"/>
              </a:cxn>
              <a:cxn ang="0">
                <a:pos x="36" y="126"/>
              </a:cxn>
              <a:cxn ang="0">
                <a:pos x="51" y="147"/>
              </a:cxn>
              <a:cxn ang="0">
                <a:pos x="27" y="186"/>
              </a:cxn>
              <a:cxn ang="0">
                <a:pos x="48" y="231"/>
              </a:cxn>
              <a:cxn ang="0">
                <a:pos x="21" y="255"/>
              </a:cxn>
              <a:cxn ang="0">
                <a:pos x="48" y="309"/>
              </a:cxn>
              <a:cxn ang="0">
                <a:pos x="0" y="342"/>
              </a:cxn>
              <a:cxn ang="0">
                <a:pos x="24" y="381"/>
              </a:cxn>
            </a:cxnLst>
            <a:rect l="0" t="0" r="r" b="b"/>
            <a:pathLst>
              <a:path w="90" h="381">
                <a:moveTo>
                  <a:pt x="75" y="0"/>
                </a:moveTo>
                <a:lnTo>
                  <a:pt x="90" y="27"/>
                </a:lnTo>
                <a:lnTo>
                  <a:pt x="54" y="60"/>
                </a:lnTo>
                <a:lnTo>
                  <a:pt x="69" y="96"/>
                </a:lnTo>
                <a:lnTo>
                  <a:pt x="36" y="126"/>
                </a:lnTo>
                <a:lnTo>
                  <a:pt x="51" y="147"/>
                </a:lnTo>
                <a:lnTo>
                  <a:pt x="27" y="186"/>
                </a:lnTo>
                <a:lnTo>
                  <a:pt x="48" y="231"/>
                </a:lnTo>
                <a:lnTo>
                  <a:pt x="21" y="255"/>
                </a:lnTo>
                <a:lnTo>
                  <a:pt x="48" y="309"/>
                </a:lnTo>
                <a:lnTo>
                  <a:pt x="0" y="342"/>
                </a:lnTo>
                <a:lnTo>
                  <a:pt x="24" y="381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67" name="Oval 139"/>
          <p:cNvSpPr>
            <a:spLocks noChangeArrowheads="1"/>
          </p:cNvSpPr>
          <p:nvPr/>
        </p:nvSpPr>
        <p:spPr bwMode="auto">
          <a:xfrm flipV="1">
            <a:off x="3111500" y="3122613"/>
            <a:ext cx="569913" cy="547687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68" name="Oval 140"/>
          <p:cNvSpPr>
            <a:spLocks noChangeArrowheads="1"/>
          </p:cNvSpPr>
          <p:nvPr/>
        </p:nvSpPr>
        <p:spPr bwMode="auto">
          <a:xfrm flipV="1">
            <a:off x="3214688" y="3213100"/>
            <a:ext cx="365125" cy="36671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869" name="Line 141"/>
          <p:cNvSpPr>
            <a:spLocks noChangeShapeType="1"/>
          </p:cNvSpPr>
          <p:nvPr/>
        </p:nvSpPr>
        <p:spPr bwMode="auto">
          <a:xfrm flipH="1" flipV="1">
            <a:off x="3295650" y="3235325"/>
            <a:ext cx="201613" cy="320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70" name="Text Box 142"/>
          <p:cNvSpPr txBox="1">
            <a:spLocks noChangeArrowheads="1"/>
          </p:cNvSpPr>
          <p:nvPr/>
        </p:nvSpPr>
        <p:spPr bwMode="auto">
          <a:xfrm>
            <a:off x="2844800" y="3478213"/>
            <a:ext cx="352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20</a:t>
            </a:r>
          </a:p>
        </p:txBody>
      </p:sp>
      <p:sp>
        <p:nvSpPr>
          <p:cNvPr id="201871" name="Text Box 143"/>
          <p:cNvSpPr txBox="1">
            <a:spLocks noChangeArrowheads="1"/>
          </p:cNvSpPr>
          <p:nvPr/>
        </p:nvSpPr>
        <p:spPr bwMode="auto">
          <a:xfrm>
            <a:off x="2878138" y="3084513"/>
            <a:ext cx="352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40</a:t>
            </a:r>
          </a:p>
        </p:txBody>
      </p:sp>
      <p:sp>
        <p:nvSpPr>
          <p:cNvPr id="201872" name="Text Box 144"/>
          <p:cNvSpPr txBox="1">
            <a:spLocks noChangeArrowheads="1"/>
          </p:cNvSpPr>
          <p:nvPr/>
        </p:nvSpPr>
        <p:spPr bwMode="auto">
          <a:xfrm>
            <a:off x="3595688" y="3478213"/>
            <a:ext cx="6238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80 mA</a:t>
            </a:r>
          </a:p>
        </p:txBody>
      </p:sp>
      <p:sp>
        <p:nvSpPr>
          <p:cNvPr id="201873" name="Text Box 145"/>
          <p:cNvSpPr txBox="1">
            <a:spLocks noChangeArrowheads="1"/>
          </p:cNvSpPr>
          <p:nvPr/>
        </p:nvSpPr>
        <p:spPr bwMode="auto">
          <a:xfrm>
            <a:off x="3595688" y="3084513"/>
            <a:ext cx="352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60</a:t>
            </a:r>
          </a:p>
        </p:txBody>
      </p:sp>
      <p:sp>
        <p:nvSpPr>
          <p:cNvPr id="201730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01731" name="Text Box 3"/>
          <p:cNvSpPr txBox="1">
            <a:spLocks noChangeArrowheads="1"/>
          </p:cNvSpPr>
          <p:nvPr/>
        </p:nvSpPr>
        <p:spPr bwMode="auto">
          <a:xfrm>
            <a:off x="860425" y="1141413"/>
            <a:ext cx="17827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Components</a:t>
            </a:r>
          </a:p>
        </p:txBody>
      </p:sp>
      <p:sp>
        <p:nvSpPr>
          <p:cNvPr id="201778" name="Text Box 50"/>
          <p:cNvSpPr txBox="1">
            <a:spLocks noChangeArrowheads="1"/>
          </p:cNvSpPr>
          <p:nvPr/>
        </p:nvSpPr>
        <p:spPr bwMode="auto">
          <a:xfrm>
            <a:off x="5033963" y="5726113"/>
            <a:ext cx="212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positive connection</a:t>
            </a:r>
          </a:p>
        </p:txBody>
      </p:sp>
      <p:sp>
        <p:nvSpPr>
          <p:cNvPr id="201779" name="Text Box 51"/>
          <p:cNvSpPr txBox="1">
            <a:spLocks noChangeArrowheads="1"/>
          </p:cNvSpPr>
          <p:nvPr/>
        </p:nvSpPr>
        <p:spPr bwMode="auto">
          <a:xfrm>
            <a:off x="7577138" y="4459288"/>
            <a:ext cx="13223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negative connection</a:t>
            </a:r>
          </a:p>
        </p:txBody>
      </p:sp>
      <p:sp>
        <p:nvSpPr>
          <p:cNvPr id="201780" name="Text Box 52"/>
          <p:cNvSpPr txBox="1">
            <a:spLocks noChangeArrowheads="1"/>
          </p:cNvSpPr>
          <p:nvPr/>
        </p:nvSpPr>
        <p:spPr bwMode="auto">
          <a:xfrm>
            <a:off x="508000" y="3462338"/>
            <a:ext cx="1492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“train of four”</a:t>
            </a:r>
          </a:p>
        </p:txBody>
      </p:sp>
      <p:sp>
        <p:nvSpPr>
          <p:cNvPr id="201781" name="Text Box 53"/>
          <p:cNvSpPr txBox="1">
            <a:spLocks noChangeArrowheads="1"/>
          </p:cNvSpPr>
          <p:nvPr/>
        </p:nvSpPr>
        <p:spPr bwMode="auto">
          <a:xfrm>
            <a:off x="255588" y="4087813"/>
            <a:ext cx="19986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“double burst stimulation”</a:t>
            </a:r>
          </a:p>
        </p:txBody>
      </p:sp>
      <p:sp>
        <p:nvSpPr>
          <p:cNvPr id="201782" name="Text Box 54"/>
          <p:cNvSpPr txBox="1">
            <a:spLocks noChangeArrowheads="1"/>
          </p:cNvSpPr>
          <p:nvPr/>
        </p:nvSpPr>
        <p:spPr bwMode="auto">
          <a:xfrm>
            <a:off x="774700" y="4987925"/>
            <a:ext cx="958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“tetany”</a:t>
            </a:r>
          </a:p>
        </p:txBody>
      </p:sp>
      <p:sp>
        <p:nvSpPr>
          <p:cNvPr id="201783" name="Text Box 55"/>
          <p:cNvSpPr txBox="1">
            <a:spLocks noChangeArrowheads="1"/>
          </p:cNvSpPr>
          <p:nvPr/>
        </p:nvSpPr>
        <p:spPr bwMode="auto">
          <a:xfrm>
            <a:off x="382588" y="5614988"/>
            <a:ext cx="1743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stimulation every second</a:t>
            </a:r>
          </a:p>
        </p:txBody>
      </p:sp>
      <p:sp>
        <p:nvSpPr>
          <p:cNvPr id="201784" name="Line 56"/>
          <p:cNvSpPr>
            <a:spLocks noChangeShapeType="1"/>
          </p:cNvSpPr>
          <p:nvPr/>
        </p:nvSpPr>
        <p:spPr bwMode="auto">
          <a:xfrm>
            <a:off x="2084388" y="3738563"/>
            <a:ext cx="690562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85" name="Line 57"/>
          <p:cNvSpPr>
            <a:spLocks noChangeShapeType="1"/>
          </p:cNvSpPr>
          <p:nvPr/>
        </p:nvSpPr>
        <p:spPr bwMode="auto">
          <a:xfrm flipV="1">
            <a:off x="1962150" y="4321175"/>
            <a:ext cx="812800" cy="39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86" name="Line 58"/>
          <p:cNvSpPr>
            <a:spLocks noChangeShapeType="1"/>
          </p:cNvSpPr>
          <p:nvPr/>
        </p:nvSpPr>
        <p:spPr bwMode="auto">
          <a:xfrm flipV="1">
            <a:off x="1839913" y="4781550"/>
            <a:ext cx="935037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87" name="Line 59"/>
          <p:cNvSpPr>
            <a:spLocks noChangeShapeType="1"/>
          </p:cNvSpPr>
          <p:nvPr/>
        </p:nvSpPr>
        <p:spPr bwMode="auto">
          <a:xfrm flipV="1">
            <a:off x="1920875" y="5248275"/>
            <a:ext cx="854075" cy="587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88" name="AutoShape 60"/>
          <p:cNvSpPr>
            <a:spLocks/>
          </p:cNvSpPr>
          <p:nvPr/>
        </p:nvSpPr>
        <p:spPr bwMode="auto">
          <a:xfrm rot="-5400000">
            <a:off x="2882107" y="5679281"/>
            <a:ext cx="203200" cy="395287"/>
          </a:xfrm>
          <a:prstGeom prst="leftBrace">
            <a:avLst>
              <a:gd name="adj1" fmla="val 162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90" name="Text Box 62"/>
          <p:cNvSpPr txBox="1">
            <a:spLocks noChangeArrowheads="1"/>
          </p:cNvSpPr>
          <p:nvPr/>
        </p:nvSpPr>
        <p:spPr bwMode="auto">
          <a:xfrm>
            <a:off x="2508250" y="5929313"/>
            <a:ext cx="949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buttons</a:t>
            </a:r>
          </a:p>
        </p:txBody>
      </p:sp>
      <p:sp>
        <p:nvSpPr>
          <p:cNvPr id="201791" name="Text Box 63"/>
          <p:cNvSpPr txBox="1">
            <a:spLocks noChangeArrowheads="1"/>
          </p:cNvSpPr>
          <p:nvPr/>
        </p:nvSpPr>
        <p:spPr bwMode="auto">
          <a:xfrm>
            <a:off x="635000" y="2662238"/>
            <a:ext cx="1238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on/off light</a:t>
            </a:r>
          </a:p>
        </p:txBody>
      </p:sp>
      <p:sp>
        <p:nvSpPr>
          <p:cNvPr id="201792" name="Line 64"/>
          <p:cNvSpPr>
            <a:spLocks noChangeShapeType="1"/>
          </p:cNvSpPr>
          <p:nvPr/>
        </p:nvSpPr>
        <p:spPr bwMode="auto">
          <a:xfrm>
            <a:off x="1812925" y="2859088"/>
            <a:ext cx="1117600" cy="60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93" name="Text Box 65"/>
          <p:cNvSpPr txBox="1">
            <a:spLocks noChangeArrowheads="1"/>
          </p:cNvSpPr>
          <p:nvPr/>
        </p:nvSpPr>
        <p:spPr bwMode="auto">
          <a:xfrm>
            <a:off x="4695825" y="2900363"/>
            <a:ext cx="1331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stimulation light</a:t>
            </a:r>
          </a:p>
        </p:txBody>
      </p:sp>
      <p:sp>
        <p:nvSpPr>
          <p:cNvPr id="201794" name="Line 66"/>
          <p:cNvSpPr>
            <a:spLocks noChangeShapeType="1"/>
          </p:cNvSpPr>
          <p:nvPr/>
        </p:nvSpPr>
        <p:spPr bwMode="auto">
          <a:xfrm flipH="1" flipV="1">
            <a:off x="4000500" y="2973388"/>
            <a:ext cx="833438" cy="263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33" name="Text Box 105"/>
          <p:cNvSpPr txBox="1">
            <a:spLocks noChangeArrowheads="1"/>
          </p:cNvSpPr>
          <p:nvPr/>
        </p:nvSpPr>
        <p:spPr bwMode="auto">
          <a:xfrm>
            <a:off x="4627563" y="3765550"/>
            <a:ext cx="1331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current setting</a:t>
            </a:r>
          </a:p>
        </p:txBody>
      </p:sp>
      <p:sp>
        <p:nvSpPr>
          <p:cNvPr id="201834" name="Line 106"/>
          <p:cNvSpPr>
            <a:spLocks noChangeShapeType="1"/>
          </p:cNvSpPr>
          <p:nvPr/>
        </p:nvSpPr>
        <p:spPr bwMode="auto">
          <a:xfrm flipH="1" flipV="1">
            <a:off x="3729038" y="3351213"/>
            <a:ext cx="1096962" cy="466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874" name="Text Box 146"/>
          <p:cNvSpPr txBox="1">
            <a:spLocks noChangeArrowheads="1"/>
          </p:cNvSpPr>
          <p:nvPr/>
        </p:nvSpPr>
        <p:spPr bwMode="auto">
          <a:xfrm>
            <a:off x="4559300" y="4649788"/>
            <a:ext cx="1331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/>
              <a:t>on/off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53" name="Rectangle 41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8154" name="Text Box 42"/>
          <p:cNvSpPr txBox="1">
            <a:spLocks noChangeArrowheads="1"/>
          </p:cNvSpPr>
          <p:nvPr/>
        </p:nvSpPr>
        <p:spPr bwMode="auto">
          <a:xfrm>
            <a:off x="860425" y="1141413"/>
            <a:ext cx="1458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Examples</a:t>
            </a:r>
          </a:p>
        </p:txBody>
      </p:sp>
      <p:pic>
        <p:nvPicPr>
          <p:cNvPr id="218174" name="Picture 62" descr="PNSpictur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0000" y="1774825"/>
            <a:ext cx="2581275" cy="4514850"/>
          </a:xfrm>
          <a:prstGeom prst="rect">
            <a:avLst/>
          </a:prstGeom>
          <a:noFill/>
        </p:spPr>
      </p:pic>
      <p:pic>
        <p:nvPicPr>
          <p:cNvPr id="218175" name="Picture 63" descr="PNSpicture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67288" y="1276350"/>
            <a:ext cx="2949575" cy="5013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06851" name="Text Box 3"/>
          <p:cNvSpPr txBox="1">
            <a:spLocks noChangeArrowheads="1"/>
          </p:cNvSpPr>
          <p:nvPr/>
        </p:nvSpPr>
        <p:spPr bwMode="auto">
          <a:xfrm>
            <a:off x="860425" y="1141413"/>
            <a:ext cx="1260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Settings</a:t>
            </a:r>
          </a:p>
        </p:txBody>
      </p:sp>
      <p:sp>
        <p:nvSpPr>
          <p:cNvPr id="206890" name="Text Box 42"/>
          <p:cNvSpPr txBox="1">
            <a:spLocks noChangeArrowheads="1"/>
          </p:cNvSpPr>
          <p:nvPr/>
        </p:nvSpPr>
        <p:spPr bwMode="auto">
          <a:xfrm>
            <a:off x="1338263" y="1924050"/>
            <a:ext cx="163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/>
              <a:t>“train of four”</a:t>
            </a:r>
          </a:p>
        </p:txBody>
      </p:sp>
      <p:sp>
        <p:nvSpPr>
          <p:cNvPr id="206891" name="Text Box 43"/>
          <p:cNvSpPr txBox="1">
            <a:spLocks noChangeArrowheads="1"/>
          </p:cNvSpPr>
          <p:nvPr/>
        </p:nvSpPr>
        <p:spPr bwMode="auto">
          <a:xfrm>
            <a:off x="1338263" y="2816225"/>
            <a:ext cx="19986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/>
              <a:t>“double burst stimulation”</a:t>
            </a:r>
          </a:p>
        </p:txBody>
      </p:sp>
      <p:sp>
        <p:nvSpPr>
          <p:cNvPr id="206892" name="Text Box 44"/>
          <p:cNvSpPr txBox="1">
            <a:spLocks noChangeArrowheads="1"/>
          </p:cNvSpPr>
          <p:nvPr/>
        </p:nvSpPr>
        <p:spPr bwMode="auto">
          <a:xfrm>
            <a:off x="1338263" y="4013200"/>
            <a:ext cx="1042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/>
              <a:t>“tetany”</a:t>
            </a:r>
          </a:p>
        </p:txBody>
      </p:sp>
      <p:sp>
        <p:nvSpPr>
          <p:cNvPr id="206893" name="Text Box 45"/>
          <p:cNvSpPr txBox="1">
            <a:spLocks noChangeArrowheads="1"/>
          </p:cNvSpPr>
          <p:nvPr/>
        </p:nvSpPr>
        <p:spPr bwMode="auto">
          <a:xfrm>
            <a:off x="1338263" y="4968875"/>
            <a:ext cx="17430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/>
              <a:t>1 Hz stimulation</a:t>
            </a:r>
          </a:p>
        </p:txBody>
      </p:sp>
      <p:sp>
        <p:nvSpPr>
          <p:cNvPr id="206905" name="Text Box 57"/>
          <p:cNvSpPr txBox="1">
            <a:spLocks noChangeArrowheads="1"/>
          </p:cNvSpPr>
          <p:nvPr/>
        </p:nvSpPr>
        <p:spPr bwMode="auto">
          <a:xfrm>
            <a:off x="3109913" y="1862138"/>
            <a:ext cx="4284662" cy="44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GB" sz="2000" dirty="0">
                <a:solidFill>
                  <a:srgbClr val="0070C0"/>
                </a:solidFill>
              </a:rPr>
              <a:t>four 200microsec </a:t>
            </a:r>
            <a:r>
              <a:rPr lang="en-GB" sz="2000" dirty="0"/>
              <a:t>twitches over </a:t>
            </a:r>
            <a:r>
              <a:rPr lang="en-GB" sz="2000" dirty="0">
                <a:solidFill>
                  <a:srgbClr val="0070C0"/>
                </a:solidFill>
              </a:rPr>
              <a:t>1.5s</a:t>
            </a:r>
          </a:p>
        </p:txBody>
      </p:sp>
      <p:sp>
        <p:nvSpPr>
          <p:cNvPr id="206906" name="Text Box 58"/>
          <p:cNvSpPr txBox="1">
            <a:spLocks noChangeArrowheads="1"/>
          </p:cNvSpPr>
          <p:nvPr/>
        </p:nvSpPr>
        <p:spPr bwMode="auto">
          <a:xfrm>
            <a:off x="3109913" y="2733675"/>
            <a:ext cx="469106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GB" sz="2000" dirty="0">
                <a:solidFill>
                  <a:srgbClr val="0070C0"/>
                </a:solidFill>
              </a:rPr>
              <a:t>three 200microsec </a:t>
            </a:r>
            <a:r>
              <a:rPr lang="en-GB" sz="2000" dirty="0"/>
              <a:t>twitches over </a:t>
            </a:r>
            <a:r>
              <a:rPr lang="en-GB" sz="2000" dirty="0">
                <a:solidFill>
                  <a:srgbClr val="0070C0"/>
                </a:solidFill>
              </a:rPr>
              <a:t>40ms</a:t>
            </a:r>
            <a:r>
              <a:rPr lang="en-GB" sz="2000" dirty="0"/>
              <a:t>, followed by another </a:t>
            </a:r>
            <a:r>
              <a:rPr lang="en-GB" sz="2000" dirty="0">
                <a:solidFill>
                  <a:srgbClr val="0070C0"/>
                </a:solidFill>
              </a:rPr>
              <a:t>three 750ms </a:t>
            </a:r>
            <a:r>
              <a:rPr lang="en-GB" sz="2000" dirty="0"/>
              <a:t>later</a:t>
            </a:r>
          </a:p>
        </p:txBody>
      </p:sp>
      <p:sp>
        <p:nvSpPr>
          <p:cNvPr id="206907" name="Text Box 59"/>
          <p:cNvSpPr txBox="1">
            <a:spLocks noChangeArrowheads="1"/>
          </p:cNvSpPr>
          <p:nvPr/>
        </p:nvSpPr>
        <p:spPr bwMode="auto">
          <a:xfrm>
            <a:off x="3109913" y="3910013"/>
            <a:ext cx="51800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GB" sz="2000" dirty="0"/>
              <a:t>repeated </a:t>
            </a:r>
            <a:r>
              <a:rPr lang="en-GB" sz="2000" dirty="0">
                <a:solidFill>
                  <a:srgbClr val="0070C0"/>
                </a:solidFill>
              </a:rPr>
              <a:t>200microsec</a:t>
            </a:r>
            <a:r>
              <a:rPr lang="en-GB" sz="2000" dirty="0"/>
              <a:t> twitches </a:t>
            </a:r>
            <a:r>
              <a:rPr lang="en-GB" sz="2000" dirty="0">
                <a:solidFill>
                  <a:srgbClr val="0070C0"/>
                </a:solidFill>
              </a:rPr>
              <a:t>every 20ms </a:t>
            </a:r>
            <a:r>
              <a:rPr lang="en-GB" sz="2000" dirty="0"/>
              <a:t>for </a:t>
            </a:r>
            <a:r>
              <a:rPr lang="en-GB" sz="2000" dirty="0">
                <a:solidFill>
                  <a:srgbClr val="0070C0"/>
                </a:solidFill>
              </a:rPr>
              <a:t>5 sec</a:t>
            </a:r>
          </a:p>
        </p:txBody>
      </p:sp>
      <p:sp>
        <p:nvSpPr>
          <p:cNvPr id="206908" name="Text Box 60"/>
          <p:cNvSpPr txBox="1">
            <a:spLocks noChangeArrowheads="1"/>
          </p:cNvSpPr>
          <p:nvPr/>
        </p:nvSpPr>
        <p:spPr bwMode="auto">
          <a:xfrm>
            <a:off x="3109913" y="4886325"/>
            <a:ext cx="4448175" cy="44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GB" sz="2000" dirty="0">
                <a:solidFill>
                  <a:srgbClr val="0070C0"/>
                </a:solidFill>
              </a:rPr>
              <a:t>single 200microsec </a:t>
            </a:r>
            <a:r>
              <a:rPr lang="en-GB" sz="2000" dirty="0"/>
              <a:t>twitches every </a:t>
            </a:r>
            <a:r>
              <a:rPr lang="en-GB" sz="2000" dirty="0">
                <a:solidFill>
                  <a:srgbClr val="0070C0"/>
                </a:solidFill>
              </a:rPr>
              <a:t>1s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633413" y="1100138"/>
            <a:ext cx="1260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Settings</a:t>
            </a:r>
          </a:p>
        </p:txBody>
      </p:sp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801688" y="1552575"/>
            <a:ext cx="163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/>
              <a:t>“train of four”</a:t>
            </a:r>
          </a:p>
        </p:txBody>
      </p:sp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801688" y="2678113"/>
            <a:ext cx="19986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/>
              <a:t>“double burst stimulation”</a:t>
            </a:r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801688" y="4110038"/>
            <a:ext cx="1042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/>
              <a:t>“tetany”</a:t>
            </a: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801688" y="5237163"/>
            <a:ext cx="17430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/>
              <a:t>1 Hz stimulation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2828925" y="1552575"/>
            <a:ext cx="3392488" cy="547688"/>
            <a:chOff x="2432" y="1212"/>
            <a:chExt cx="2137" cy="345"/>
          </a:xfrm>
        </p:grpSpPr>
        <p:sp>
          <p:nvSpPr>
            <p:cNvPr id="208908" name="Line 12"/>
            <p:cNvSpPr>
              <a:spLocks noChangeShapeType="1"/>
            </p:cNvSpPr>
            <p:nvPr/>
          </p:nvSpPr>
          <p:spPr bwMode="auto">
            <a:xfrm>
              <a:off x="2432" y="1212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909" name="Line 13"/>
            <p:cNvSpPr>
              <a:spLocks noChangeShapeType="1"/>
            </p:cNvSpPr>
            <p:nvPr/>
          </p:nvSpPr>
          <p:spPr bwMode="auto">
            <a:xfrm>
              <a:off x="2432" y="1557"/>
              <a:ext cx="2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920" name="Rectangle 24"/>
            <p:cNvSpPr>
              <a:spLocks noChangeArrowheads="1"/>
            </p:cNvSpPr>
            <p:nvPr/>
          </p:nvSpPr>
          <p:spPr bwMode="auto">
            <a:xfrm>
              <a:off x="2480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21" name="Rectangle 25"/>
            <p:cNvSpPr>
              <a:spLocks noChangeArrowheads="1"/>
            </p:cNvSpPr>
            <p:nvPr/>
          </p:nvSpPr>
          <p:spPr bwMode="auto">
            <a:xfrm>
              <a:off x="2911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22" name="Rectangle 26"/>
            <p:cNvSpPr>
              <a:spLocks noChangeArrowheads="1"/>
            </p:cNvSpPr>
            <p:nvPr/>
          </p:nvSpPr>
          <p:spPr bwMode="auto">
            <a:xfrm>
              <a:off x="3342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23" name="Rectangle 27"/>
            <p:cNvSpPr>
              <a:spLocks noChangeArrowheads="1"/>
            </p:cNvSpPr>
            <p:nvPr/>
          </p:nvSpPr>
          <p:spPr bwMode="auto">
            <a:xfrm>
              <a:off x="3774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8924" name="Text Box 28"/>
          <p:cNvSpPr txBox="1">
            <a:spLocks noChangeArrowheads="1"/>
          </p:cNvSpPr>
          <p:nvPr/>
        </p:nvSpPr>
        <p:spPr bwMode="auto">
          <a:xfrm>
            <a:off x="6169025" y="2162175"/>
            <a:ext cx="2698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s</a:t>
            </a:r>
          </a:p>
        </p:txBody>
      </p:sp>
      <p:sp>
        <p:nvSpPr>
          <p:cNvPr id="208925" name="Text Box 29"/>
          <p:cNvSpPr txBox="1">
            <a:spLocks noChangeArrowheads="1"/>
          </p:cNvSpPr>
          <p:nvPr/>
        </p:nvSpPr>
        <p:spPr bwMode="auto">
          <a:xfrm>
            <a:off x="2808288" y="210026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08926" name="Text Box 30"/>
          <p:cNvSpPr txBox="1">
            <a:spLocks noChangeArrowheads="1"/>
          </p:cNvSpPr>
          <p:nvPr/>
        </p:nvSpPr>
        <p:spPr bwMode="auto">
          <a:xfrm>
            <a:off x="4189413" y="2100263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208927" name="Text Box 31"/>
          <p:cNvSpPr txBox="1">
            <a:spLocks noChangeArrowheads="1"/>
          </p:cNvSpPr>
          <p:nvPr/>
        </p:nvSpPr>
        <p:spPr bwMode="auto">
          <a:xfrm>
            <a:off x="3435350" y="2100263"/>
            <a:ext cx="3952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0.5</a:t>
            </a:r>
          </a:p>
        </p:txBody>
      </p:sp>
      <p:sp>
        <p:nvSpPr>
          <p:cNvPr id="208929" name="Text Box 33"/>
          <p:cNvSpPr txBox="1">
            <a:spLocks noChangeArrowheads="1"/>
          </p:cNvSpPr>
          <p:nvPr/>
        </p:nvSpPr>
        <p:spPr bwMode="auto">
          <a:xfrm>
            <a:off x="4818063" y="2100263"/>
            <a:ext cx="395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1.5</a:t>
            </a:r>
          </a:p>
        </p:txBody>
      </p:sp>
      <p:sp>
        <p:nvSpPr>
          <p:cNvPr id="208930" name="Text Box 34"/>
          <p:cNvSpPr txBox="1">
            <a:spLocks noChangeArrowheads="1"/>
          </p:cNvSpPr>
          <p:nvPr/>
        </p:nvSpPr>
        <p:spPr bwMode="auto">
          <a:xfrm>
            <a:off x="5665788" y="1449388"/>
            <a:ext cx="30861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125000"/>
              </a:lnSpc>
            </a:pPr>
            <a:r>
              <a:rPr lang="en-GB" sz="1400"/>
              <a:t>four 200microsec twitches over 1.5s</a:t>
            </a:r>
          </a:p>
        </p:txBody>
      </p:sp>
      <p:sp>
        <p:nvSpPr>
          <p:cNvPr id="208951" name="Line 55"/>
          <p:cNvSpPr>
            <a:spLocks noChangeShapeType="1"/>
          </p:cNvSpPr>
          <p:nvPr/>
        </p:nvSpPr>
        <p:spPr bwMode="auto">
          <a:xfrm>
            <a:off x="2828925" y="4008438"/>
            <a:ext cx="0" cy="547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52" name="Line 56"/>
          <p:cNvSpPr>
            <a:spLocks noChangeShapeType="1"/>
          </p:cNvSpPr>
          <p:nvPr/>
        </p:nvSpPr>
        <p:spPr bwMode="auto">
          <a:xfrm>
            <a:off x="2828925" y="4556125"/>
            <a:ext cx="339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53" name="Rectangle 57"/>
          <p:cNvSpPr>
            <a:spLocks noChangeArrowheads="1"/>
          </p:cNvSpPr>
          <p:nvPr/>
        </p:nvSpPr>
        <p:spPr bwMode="auto">
          <a:xfrm>
            <a:off x="2905125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28925" y="5237163"/>
            <a:ext cx="3392488" cy="547687"/>
            <a:chOff x="2432" y="1212"/>
            <a:chExt cx="2137" cy="345"/>
          </a:xfrm>
        </p:grpSpPr>
        <p:sp>
          <p:nvSpPr>
            <p:cNvPr id="208958" name="Line 62"/>
            <p:cNvSpPr>
              <a:spLocks noChangeShapeType="1"/>
            </p:cNvSpPr>
            <p:nvPr/>
          </p:nvSpPr>
          <p:spPr bwMode="auto">
            <a:xfrm>
              <a:off x="2432" y="1212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959" name="Line 63"/>
            <p:cNvSpPr>
              <a:spLocks noChangeShapeType="1"/>
            </p:cNvSpPr>
            <p:nvPr/>
          </p:nvSpPr>
          <p:spPr bwMode="auto">
            <a:xfrm>
              <a:off x="2432" y="1557"/>
              <a:ext cx="2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960" name="Rectangle 64"/>
            <p:cNvSpPr>
              <a:spLocks noChangeArrowheads="1"/>
            </p:cNvSpPr>
            <p:nvPr/>
          </p:nvSpPr>
          <p:spPr bwMode="auto">
            <a:xfrm>
              <a:off x="2480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61" name="Rectangle 65"/>
            <p:cNvSpPr>
              <a:spLocks noChangeArrowheads="1"/>
            </p:cNvSpPr>
            <p:nvPr/>
          </p:nvSpPr>
          <p:spPr bwMode="auto">
            <a:xfrm>
              <a:off x="2911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62" name="Rectangle 66"/>
            <p:cNvSpPr>
              <a:spLocks noChangeArrowheads="1"/>
            </p:cNvSpPr>
            <p:nvPr/>
          </p:nvSpPr>
          <p:spPr bwMode="auto">
            <a:xfrm>
              <a:off x="3342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63" name="Rectangle 67"/>
            <p:cNvSpPr>
              <a:spLocks noChangeArrowheads="1"/>
            </p:cNvSpPr>
            <p:nvPr/>
          </p:nvSpPr>
          <p:spPr bwMode="auto">
            <a:xfrm>
              <a:off x="3774" y="1250"/>
              <a:ext cx="56" cy="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8945" name="Line 49"/>
          <p:cNvSpPr>
            <a:spLocks noChangeShapeType="1"/>
          </p:cNvSpPr>
          <p:nvPr/>
        </p:nvSpPr>
        <p:spPr bwMode="auto">
          <a:xfrm>
            <a:off x="3981450" y="3327400"/>
            <a:ext cx="223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67" name="Text Box 71"/>
          <p:cNvSpPr txBox="1">
            <a:spLocks noChangeArrowheads="1"/>
          </p:cNvSpPr>
          <p:nvPr/>
        </p:nvSpPr>
        <p:spPr bwMode="auto">
          <a:xfrm>
            <a:off x="6097588" y="3371850"/>
            <a:ext cx="3968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ms</a:t>
            </a:r>
          </a:p>
        </p:txBody>
      </p:sp>
      <p:sp>
        <p:nvSpPr>
          <p:cNvPr id="208968" name="Text Box 72"/>
          <p:cNvSpPr txBox="1">
            <a:spLocks noChangeArrowheads="1"/>
          </p:cNvSpPr>
          <p:nvPr/>
        </p:nvSpPr>
        <p:spPr bwMode="auto">
          <a:xfrm>
            <a:off x="2820988" y="3330575"/>
            <a:ext cx="2682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08971" name="Text Box 75"/>
          <p:cNvSpPr txBox="1">
            <a:spLocks noChangeArrowheads="1"/>
          </p:cNvSpPr>
          <p:nvPr/>
        </p:nvSpPr>
        <p:spPr bwMode="auto">
          <a:xfrm>
            <a:off x="4649788" y="3330575"/>
            <a:ext cx="4365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750</a:t>
            </a:r>
          </a:p>
        </p:txBody>
      </p:sp>
      <p:sp>
        <p:nvSpPr>
          <p:cNvPr id="208972" name="Text Box 76"/>
          <p:cNvSpPr txBox="1">
            <a:spLocks noChangeArrowheads="1"/>
          </p:cNvSpPr>
          <p:nvPr/>
        </p:nvSpPr>
        <p:spPr bwMode="auto">
          <a:xfrm>
            <a:off x="5949950" y="2609850"/>
            <a:ext cx="280193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125000"/>
              </a:lnSpc>
            </a:pPr>
            <a:r>
              <a:rPr lang="en-GB" sz="1400"/>
              <a:t>three 200microsec twitches over 40ms, followed by another three 750ms later</a:t>
            </a:r>
          </a:p>
        </p:txBody>
      </p:sp>
      <p:sp>
        <p:nvSpPr>
          <p:cNvPr id="208973" name="Text Box 77"/>
          <p:cNvSpPr txBox="1">
            <a:spLocks noChangeArrowheads="1"/>
          </p:cNvSpPr>
          <p:nvPr/>
        </p:nvSpPr>
        <p:spPr bwMode="auto">
          <a:xfrm>
            <a:off x="3135313" y="3330575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40</a:t>
            </a:r>
          </a:p>
        </p:txBody>
      </p:sp>
      <p:sp>
        <p:nvSpPr>
          <p:cNvPr id="208975" name="Text Box 79"/>
          <p:cNvSpPr txBox="1">
            <a:spLocks noChangeArrowheads="1"/>
          </p:cNvSpPr>
          <p:nvPr/>
        </p:nvSpPr>
        <p:spPr bwMode="auto">
          <a:xfrm>
            <a:off x="6110288" y="4624388"/>
            <a:ext cx="396875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ms</a:t>
            </a:r>
          </a:p>
        </p:txBody>
      </p:sp>
      <p:sp>
        <p:nvSpPr>
          <p:cNvPr id="208976" name="Text Box 80"/>
          <p:cNvSpPr txBox="1">
            <a:spLocks noChangeArrowheads="1"/>
          </p:cNvSpPr>
          <p:nvPr/>
        </p:nvSpPr>
        <p:spPr bwMode="auto">
          <a:xfrm>
            <a:off x="2813050" y="4583113"/>
            <a:ext cx="2682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08978" name="Text Box 82"/>
          <p:cNvSpPr txBox="1">
            <a:spLocks noChangeArrowheads="1"/>
          </p:cNvSpPr>
          <p:nvPr/>
        </p:nvSpPr>
        <p:spPr bwMode="auto">
          <a:xfrm>
            <a:off x="2944813" y="4583113"/>
            <a:ext cx="352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20</a:t>
            </a:r>
          </a:p>
        </p:txBody>
      </p:sp>
      <p:sp>
        <p:nvSpPr>
          <p:cNvPr id="208944" name="Line 48"/>
          <p:cNvSpPr>
            <a:spLocks noChangeShapeType="1"/>
          </p:cNvSpPr>
          <p:nvPr/>
        </p:nvSpPr>
        <p:spPr bwMode="auto">
          <a:xfrm>
            <a:off x="2828925" y="2779713"/>
            <a:ext cx="0" cy="547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46" name="Rectangle 50"/>
          <p:cNvSpPr>
            <a:spLocks noChangeArrowheads="1"/>
          </p:cNvSpPr>
          <p:nvPr/>
        </p:nvSpPr>
        <p:spPr bwMode="auto">
          <a:xfrm>
            <a:off x="2905125" y="2840038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47" name="Rectangle 51"/>
          <p:cNvSpPr>
            <a:spLocks noChangeArrowheads="1"/>
          </p:cNvSpPr>
          <p:nvPr/>
        </p:nvSpPr>
        <p:spPr bwMode="auto">
          <a:xfrm>
            <a:off x="3263900" y="2840038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48" name="Rectangle 52"/>
          <p:cNvSpPr>
            <a:spLocks noChangeArrowheads="1"/>
          </p:cNvSpPr>
          <p:nvPr/>
        </p:nvSpPr>
        <p:spPr bwMode="auto">
          <a:xfrm>
            <a:off x="3084513" y="2840038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64" name="Rectangle 68"/>
          <p:cNvSpPr>
            <a:spLocks noChangeArrowheads="1"/>
          </p:cNvSpPr>
          <p:nvPr/>
        </p:nvSpPr>
        <p:spPr bwMode="auto">
          <a:xfrm>
            <a:off x="4833938" y="2840038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65" name="Rectangle 69"/>
          <p:cNvSpPr>
            <a:spLocks noChangeArrowheads="1"/>
          </p:cNvSpPr>
          <p:nvPr/>
        </p:nvSpPr>
        <p:spPr bwMode="auto">
          <a:xfrm>
            <a:off x="5192713" y="2840038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66" name="Rectangle 70"/>
          <p:cNvSpPr>
            <a:spLocks noChangeArrowheads="1"/>
          </p:cNvSpPr>
          <p:nvPr/>
        </p:nvSpPr>
        <p:spPr bwMode="auto">
          <a:xfrm>
            <a:off x="5013325" y="2840038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79" name="Line 83"/>
          <p:cNvSpPr>
            <a:spLocks noChangeShapeType="1"/>
          </p:cNvSpPr>
          <p:nvPr/>
        </p:nvSpPr>
        <p:spPr bwMode="auto">
          <a:xfrm>
            <a:off x="2828925" y="3327400"/>
            <a:ext cx="1096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80" name="Line 84"/>
          <p:cNvSpPr>
            <a:spLocks noChangeShapeType="1"/>
          </p:cNvSpPr>
          <p:nvPr/>
        </p:nvSpPr>
        <p:spPr bwMode="auto">
          <a:xfrm flipH="1">
            <a:off x="3910013" y="3279775"/>
            <a:ext cx="33337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81" name="Line 85"/>
          <p:cNvSpPr>
            <a:spLocks noChangeShapeType="1"/>
          </p:cNvSpPr>
          <p:nvPr/>
        </p:nvSpPr>
        <p:spPr bwMode="auto">
          <a:xfrm flipH="1">
            <a:off x="3962400" y="3279775"/>
            <a:ext cx="33338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83" name="Rectangle 87"/>
          <p:cNvSpPr>
            <a:spLocks noChangeArrowheads="1"/>
          </p:cNvSpPr>
          <p:nvPr/>
        </p:nvSpPr>
        <p:spPr bwMode="auto">
          <a:xfrm>
            <a:off x="3087688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84" name="Rectangle 88"/>
          <p:cNvSpPr>
            <a:spLocks noChangeArrowheads="1"/>
          </p:cNvSpPr>
          <p:nvPr/>
        </p:nvSpPr>
        <p:spPr bwMode="auto">
          <a:xfrm>
            <a:off x="3452813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85" name="Rectangle 89"/>
          <p:cNvSpPr>
            <a:spLocks noChangeArrowheads="1"/>
          </p:cNvSpPr>
          <p:nvPr/>
        </p:nvSpPr>
        <p:spPr bwMode="auto">
          <a:xfrm>
            <a:off x="3270250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86" name="Rectangle 90"/>
          <p:cNvSpPr>
            <a:spLocks noChangeArrowheads="1"/>
          </p:cNvSpPr>
          <p:nvPr/>
        </p:nvSpPr>
        <p:spPr bwMode="auto">
          <a:xfrm>
            <a:off x="3635375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87" name="Rectangle 91"/>
          <p:cNvSpPr>
            <a:spLocks noChangeArrowheads="1"/>
          </p:cNvSpPr>
          <p:nvPr/>
        </p:nvSpPr>
        <p:spPr bwMode="auto">
          <a:xfrm>
            <a:off x="4000500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88" name="Rectangle 92"/>
          <p:cNvSpPr>
            <a:spLocks noChangeArrowheads="1"/>
          </p:cNvSpPr>
          <p:nvPr/>
        </p:nvSpPr>
        <p:spPr bwMode="auto">
          <a:xfrm>
            <a:off x="3817938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89" name="Rectangle 93"/>
          <p:cNvSpPr>
            <a:spLocks noChangeArrowheads="1"/>
          </p:cNvSpPr>
          <p:nvPr/>
        </p:nvSpPr>
        <p:spPr bwMode="auto">
          <a:xfrm>
            <a:off x="4183063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0" name="Rectangle 94"/>
          <p:cNvSpPr>
            <a:spLocks noChangeArrowheads="1"/>
          </p:cNvSpPr>
          <p:nvPr/>
        </p:nvSpPr>
        <p:spPr bwMode="auto">
          <a:xfrm>
            <a:off x="4548188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1" name="Rectangle 95"/>
          <p:cNvSpPr>
            <a:spLocks noChangeArrowheads="1"/>
          </p:cNvSpPr>
          <p:nvPr/>
        </p:nvSpPr>
        <p:spPr bwMode="auto">
          <a:xfrm>
            <a:off x="4365625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2" name="Rectangle 96"/>
          <p:cNvSpPr>
            <a:spLocks noChangeArrowheads="1"/>
          </p:cNvSpPr>
          <p:nvPr/>
        </p:nvSpPr>
        <p:spPr bwMode="auto">
          <a:xfrm>
            <a:off x="4730750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3" name="Rectangle 97"/>
          <p:cNvSpPr>
            <a:spLocks noChangeArrowheads="1"/>
          </p:cNvSpPr>
          <p:nvPr/>
        </p:nvSpPr>
        <p:spPr bwMode="auto">
          <a:xfrm>
            <a:off x="5095875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4" name="Rectangle 98"/>
          <p:cNvSpPr>
            <a:spLocks noChangeArrowheads="1"/>
          </p:cNvSpPr>
          <p:nvPr/>
        </p:nvSpPr>
        <p:spPr bwMode="auto">
          <a:xfrm>
            <a:off x="4913313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5" name="Rectangle 99"/>
          <p:cNvSpPr>
            <a:spLocks noChangeArrowheads="1"/>
          </p:cNvSpPr>
          <p:nvPr/>
        </p:nvSpPr>
        <p:spPr bwMode="auto">
          <a:xfrm>
            <a:off x="5278438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6" name="Rectangle 100"/>
          <p:cNvSpPr>
            <a:spLocks noChangeArrowheads="1"/>
          </p:cNvSpPr>
          <p:nvPr/>
        </p:nvSpPr>
        <p:spPr bwMode="auto">
          <a:xfrm>
            <a:off x="5643563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7" name="Rectangle 101"/>
          <p:cNvSpPr>
            <a:spLocks noChangeArrowheads="1"/>
          </p:cNvSpPr>
          <p:nvPr/>
        </p:nvSpPr>
        <p:spPr bwMode="auto">
          <a:xfrm>
            <a:off x="5461000" y="4068763"/>
            <a:ext cx="88900" cy="4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98" name="Text Box 102"/>
          <p:cNvSpPr txBox="1">
            <a:spLocks noChangeArrowheads="1"/>
          </p:cNvSpPr>
          <p:nvPr/>
        </p:nvSpPr>
        <p:spPr bwMode="auto">
          <a:xfrm>
            <a:off x="3629025" y="4583113"/>
            <a:ext cx="4365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100</a:t>
            </a:r>
          </a:p>
        </p:txBody>
      </p:sp>
      <p:sp>
        <p:nvSpPr>
          <p:cNvPr id="208999" name="Text Box 103"/>
          <p:cNvSpPr txBox="1">
            <a:spLocks noChangeArrowheads="1"/>
          </p:cNvSpPr>
          <p:nvPr/>
        </p:nvSpPr>
        <p:spPr bwMode="auto">
          <a:xfrm>
            <a:off x="4573588" y="4583113"/>
            <a:ext cx="4365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200</a:t>
            </a:r>
          </a:p>
        </p:txBody>
      </p:sp>
      <p:sp>
        <p:nvSpPr>
          <p:cNvPr id="209000" name="Text Box 104"/>
          <p:cNvSpPr txBox="1">
            <a:spLocks noChangeArrowheads="1"/>
          </p:cNvSpPr>
          <p:nvPr/>
        </p:nvSpPr>
        <p:spPr bwMode="auto">
          <a:xfrm>
            <a:off x="6161088" y="5832475"/>
            <a:ext cx="2698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s</a:t>
            </a:r>
          </a:p>
        </p:txBody>
      </p:sp>
      <p:sp>
        <p:nvSpPr>
          <p:cNvPr id="209001" name="Text Box 105"/>
          <p:cNvSpPr txBox="1">
            <a:spLocks noChangeArrowheads="1"/>
          </p:cNvSpPr>
          <p:nvPr/>
        </p:nvSpPr>
        <p:spPr bwMode="auto">
          <a:xfrm>
            <a:off x="2800350" y="5811838"/>
            <a:ext cx="2682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09002" name="Text Box 106"/>
          <p:cNvSpPr txBox="1">
            <a:spLocks noChangeArrowheads="1"/>
          </p:cNvSpPr>
          <p:nvPr/>
        </p:nvSpPr>
        <p:spPr bwMode="auto">
          <a:xfrm>
            <a:off x="3503613" y="5811838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209003" name="Text Box 107"/>
          <p:cNvSpPr txBox="1">
            <a:spLocks noChangeArrowheads="1"/>
          </p:cNvSpPr>
          <p:nvPr/>
        </p:nvSpPr>
        <p:spPr bwMode="auto">
          <a:xfrm>
            <a:off x="4186238" y="5811838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2</a:t>
            </a:r>
          </a:p>
        </p:txBody>
      </p:sp>
      <p:sp>
        <p:nvSpPr>
          <p:cNvPr id="209004" name="Text Box 108"/>
          <p:cNvSpPr txBox="1">
            <a:spLocks noChangeArrowheads="1"/>
          </p:cNvSpPr>
          <p:nvPr/>
        </p:nvSpPr>
        <p:spPr bwMode="auto">
          <a:xfrm>
            <a:off x="4868863" y="5811838"/>
            <a:ext cx="2682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3</a:t>
            </a:r>
          </a:p>
        </p:txBody>
      </p:sp>
      <p:sp>
        <p:nvSpPr>
          <p:cNvPr id="209005" name="Text Box 109"/>
          <p:cNvSpPr txBox="1">
            <a:spLocks noChangeArrowheads="1"/>
          </p:cNvSpPr>
          <p:nvPr/>
        </p:nvSpPr>
        <p:spPr bwMode="auto">
          <a:xfrm>
            <a:off x="6089650" y="3870325"/>
            <a:ext cx="2662238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125000"/>
              </a:lnSpc>
            </a:pPr>
            <a:r>
              <a:rPr lang="en-GB" sz="1400"/>
              <a:t>repeated 200microsec twitches every 20ms for 5 sec</a:t>
            </a:r>
          </a:p>
        </p:txBody>
      </p:sp>
      <p:sp>
        <p:nvSpPr>
          <p:cNvPr id="209006" name="Text Box 110"/>
          <p:cNvSpPr txBox="1">
            <a:spLocks noChangeArrowheads="1"/>
          </p:cNvSpPr>
          <p:nvPr/>
        </p:nvSpPr>
        <p:spPr bwMode="auto">
          <a:xfrm>
            <a:off x="5970588" y="5189538"/>
            <a:ext cx="27813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125000"/>
              </a:lnSpc>
            </a:pPr>
            <a:r>
              <a:rPr lang="en-GB" sz="1400"/>
              <a:t>200microsec twitches every 1s</a:t>
            </a:r>
          </a:p>
        </p:txBody>
      </p:sp>
      <p:sp>
        <p:nvSpPr>
          <p:cNvPr id="209007" name="Text Box 111"/>
          <p:cNvSpPr txBox="1">
            <a:spLocks noChangeArrowheads="1"/>
          </p:cNvSpPr>
          <p:nvPr/>
        </p:nvSpPr>
        <p:spPr bwMode="auto">
          <a:xfrm>
            <a:off x="5983288" y="6319838"/>
            <a:ext cx="29876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NOTE: different time scales</a:t>
            </a:r>
          </a:p>
        </p:txBody>
      </p:sp>
      <p:sp>
        <p:nvSpPr>
          <p:cNvPr id="209008" name="Text Box 112"/>
          <p:cNvSpPr txBox="1">
            <a:spLocks noChangeArrowheads="1"/>
          </p:cNvSpPr>
          <p:nvPr/>
        </p:nvSpPr>
        <p:spPr bwMode="auto">
          <a:xfrm>
            <a:off x="5480050" y="4583113"/>
            <a:ext cx="4365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300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292100" y="228600"/>
            <a:ext cx="46212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715963" y="722313"/>
            <a:ext cx="24177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How does it work?</a:t>
            </a:r>
          </a:p>
        </p:txBody>
      </p:sp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1298575" y="1116013"/>
            <a:ext cx="31845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ECG ‘dots’ are placed:</a:t>
            </a:r>
          </a:p>
          <a:p>
            <a:pPr algn="l"/>
            <a:r>
              <a:rPr lang="en-GB" sz="2000"/>
              <a:t>	1 over a nerve</a:t>
            </a:r>
          </a:p>
          <a:p>
            <a:pPr algn="l"/>
            <a:r>
              <a:rPr lang="en-GB" sz="2000"/>
              <a:t>	1 away from nerve</a:t>
            </a:r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1298575" y="2201863"/>
            <a:ext cx="61327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Negative (black) </a:t>
            </a:r>
            <a:r>
              <a:rPr lang="en-GB" sz="2000" dirty="0"/>
              <a:t>connection attached to dot </a:t>
            </a:r>
            <a:r>
              <a:rPr lang="en-GB" sz="2000" dirty="0">
                <a:solidFill>
                  <a:srgbClr val="0070C0"/>
                </a:solidFill>
              </a:rPr>
              <a:t>over nerve</a:t>
            </a: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1298575" y="3152775"/>
            <a:ext cx="51133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 dirty="0"/>
              <a:t> ‘Dial up’ current setting – typically </a:t>
            </a:r>
            <a:r>
              <a:rPr lang="en-GB" sz="2000" dirty="0">
                <a:solidFill>
                  <a:srgbClr val="0070C0"/>
                </a:solidFill>
              </a:rPr>
              <a:t>40 - 60 </a:t>
            </a:r>
            <a:r>
              <a:rPr lang="en-GB" sz="2000" dirty="0" err="1">
                <a:solidFill>
                  <a:srgbClr val="0070C0"/>
                </a:solidFill>
              </a:rPr>
              <a:t>mA</a:t>
            </a:r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1298575" y="3629025"/>
            <a:ext cx="1217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Turn on</a:t>
            </a:r>
          </a:p>
        </p:txBody>
      </p:sp>
      <p:sp>
        <p:nvSpPr>
          <p:cNvPr id="202760" name="Text Box 8"/>
          <p:cNvSpPr txBox="1">
            <a:spLocks noChangeArrowheads="1"/>
          </p:cNvSpPr>
          <p:nvPr/>
        </p:nvSpPr>
        <p:spPr bwMode="auto">
          <a:xfrm>
            <a:off x="1298575" y="4103688"/>
            <a:ext cx="4378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Relevant stimulation button pressed</a:t>
            </a:r>
          </a:p>
        </p:txBody>
      </p:sp>
      <p:sp>
        <p:nvSpPr>
          <p:cNvPr id="202761" name="Text Box 9"/>
          <p:cNvSpPr txBox="1">
            <a:spLocks noChangeArrowheads="1"/>
          </p:cNvSpPr>
          <p:nvPr/>
        </p:nvSpPr>
        <p:spPr bwMode="auto">
          <a:xfrm>
            <a:off x="1298575" y="2676525"/>
            <a:ext cx="3883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Positive connection to other dot</a:t>
            </a:r>
          </a:p>
        </p:txBody>
      </p:sp>
      <p:sp>
        <p:nvSpPr>
          <p:cNvPr id="202762" name="Text Box 10"/>
          <p:cNvSpPr txBox="1">
            <a:spLocks noChangeArrowheads="1"/>
          </p:cNvSpPr>
          <p:nvPr/>
        </p:nvSpPr>
        <p:spPr bwMode="auto">
          <a:xfrm>
            <a:off x="1298575" y="4579938"/>
            <a:ext cx="41957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Light flashes with each stimulation</a:t>
            </a:r>
          </a:p>
        </p:txBody>
      </p:sp>
      <p:sp>
        <p:nvSpPr>
          <p:cNvPr id="202763" name="Text Box 11"/>
          <p:cNvSpPr txBox="1">
            <a:spLocks noChangeArrowheads="1"/>
          </p:cNvSpPr>
          <p:nvPr/>
        </p:nvSpPr>
        <p:spPr bwMode="auto">
          <a:xfrm>
            <a:off x="1298575" y="5056188"/>
            <a:ext cx="3376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Muscle response observed</a:t>
            </a:r>
          </a:p>
        </p:txBody>
      </p:sp>
      <p:sp>
        <p:nvSpPr>
          <p:cNvPr id="202764" name="Text Box 12"/>
          <p:cNvSpPr txBox="1">
            <a:spLocks noChangeArrowheads="1"/>
          </p:cNvSpPr>
          <p:nvPr/>
        </p:nvSpPr>
        <p:spPr bwMode="auto">
          <a:xfrm>
            <a:off x="3932238" y="1392238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**</a:t>
            </a:r>
          </a:p>
        </p:txBody>
      </p:sp>
      <p:sp>
        <p:nvSpPr>
          <p:cNvPr id="202765" name="Text Box 13"/>
          <p:cNvSpPr txBox="1">
            <a:spLocks noChangeArrowheads="1"/>
          </p:cNvSpPr>
          <p:nvPr/>
        </p:nvSpPr>
        <p:spPr bwMode="auto">
          <a:xfrm>
            <a:off x="2297113" y="5645150"/>
            <a:ext cx="2298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** suitable nerves: </a:t>
            </a:r>
          </a:p>
        </p:txBody>
      </p:sp>
      <p:sp>
        <p:nvSpPr>
          <p:cNvPr id="202766" name="Text Box 14"/>
          <p:cNvSpPr txBox="1">
            <a:spLocks noChangeArrowheads="1"/>
          </p:cNvSpPr>
          <p:nvPr/>
        </p:nvSpPr>
        <p:spPr bwMode="auto">
          <a:xfrm>
            <a:off x="4525963" y="5645150"/>
            <a:ext cx="44164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facial n (above parotid)</a:t>
            </a:r>
          </a:p>
          <a:p>
            <a:pPr algn="l"/>
            <a:r>
              <a:rPr lang="en-GB" sz="2000"/>
              <a:t>ulnar n (at wrist)</a:t>
            </a:r>
          </a:p>
          <a:p>
            <a:pPr algn="l"/>
            <a:r>
              <a:rPr lang="en-GB" sz="2000"/>
              <a:t>common peroneal n (just below knee)</a:t>
            </a:r>
          </a:p>
        </p:txBody>
      </p:sp>
      <p:sp>
        <p:nvSpPr>
          <p:cNvPr id="202767" name="Rectangle 15"/>
          <p:cNvSpPr>
            <a:spLocks noChangeArrowheads="1"/>
          </p:cNvSpPr>
          <p:nvPr/>
        </p:nvSpPr>
        <p:spPr bwMode="auto">
          <a:xfrm>
            <a:off x="2236788" y="5610225"/>
            <a:ext cx="6788150" cy="10556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860425" y="947738"/>
            <a:ext cx="3205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How does it work? (cont.)</a:t>
            </a:r>
          </a:p>
        </p:txBody>
      </p:sp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1135063" y="1484313"/>
            <a:ext cx="70132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Supra-maximal current </a:t>
            </a:r>
            <a:r>
              <a:rPr lang="en-GB" sz="2000" dirty="0">
                <a:cs typeface="Arial" charset="0"/>
              </a:rPr>
              <a:t>→ all motor fibres of nerve are stimulated</a:t>
            </a:r>
          </a:p>
        </p:txBody>
      </p:sp>
      <p:sp>
        <p:nvSpPr>
          <p:cNvPr id="210957" name="Text Box 13"/>
          <p:cNvSpPr txBox="1">
            <a:spLocks noChangeArrowheads="1"/>
          </p:cNvSpPr>
          <p:nvPr/>
        </p:nvSpPr>
        <p:spPr bwMode="auto">
          <a:xfrm>
            <a:off x="1147763" y="2019300"/>
            <a:ext cx="66524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Muscle response is observed </a:t>
            </a:r>
            <a:r>
              <a:rPr lang="en-GB" sz="2000" dirty="0"/>
              <a:t>= test of neuromuscular junction</a:t>
            </a:r>
            <a:endParaRPr lang="en-GB" sz="2000" dirty="0">
              <a:cs typeface="Arial" charset="0"/>
            </a:endParaRPr>
          </a:p>
        </p:txBody>
      </p:sp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1147763" y="2555875"/>
            <a:ext cx="606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e.g.</a:t>
            </a:r>
            <a:endParaRPr lang="en-GB" sz="2000">
              <a:cs typeface="Arial" charset="0"/>
            </a:endParaRP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2387600" y="2555875"/>
            <a:ext cx="3103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facial n </a:t>
            </a:r>
            <a:r>
              <a:rPr lang="en-GB" sz="2000">
                <a:cs typeface="Arial" charset="0"/>
              </a:rPr>
              <a:t>→ forehead twitch</a:t>
            </a: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2387600" y="3092450"/>
            <a:ext cx="3795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ulnar n </a:t>
            </a:r>
            <a:r>
              <a:rPr lang="en-GB" sz="2000">
                <a:cs typeface="Arial" charset="0"/>
              </a:rPr>
              <a:t>→ medial finger twitches</a:t>
            </a:r>
          </a:p>
        </p:txBody>
      </p:sp>
      <p:sp>
        <p:nvSpPr>
          <p:cNvPr id="210962" name="Text Box 18"/>
          <p:cNvSpPr txBox="1">
            <a:spLocks noChangeArrowheads="1"/>
          </p:cNvSpPr>
          <p:nvPr/>
        </p:nvSpPr>
        <p:spPr bwMode="auto">
          <a:xfrm>
            <a:off x="1147763" y="3581400"/>
            <a:ext cx="1073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 dirty="0">
                <a:solidFill>
                  <a:srgbClr val="0070C0"/>
                </a:solidFill>
              </a:rPr>
              <a:t>Normal:</a:t>
            </a:r>
            <a:endParaRPr lang="en-GB" sz="2000" u="sng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0963" name="Text Box 19"/>
          <p:cNvSpPr txBox="1">
            <a:spLocks noChangeArrowheads="1"/>
          </p:cNvSpPr>
          <p:nvPr/>
        </p:nvSpPr>
        <p:spPr bwMode="auto">
          <a:xfrm>
            <a:off x="557213" y="4152900"/>
            <a:ext cx="29606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Consistent size twitches even with repeated stimulation</a:t>
            </a:r>
            <a:endParaRPr lang="en-GB" sz="2000">
              <a:cs typeface="Arial" charset="0"/>
            </a:endParaRPr>
          </a:p>
        </p:txBody>
      </p:sp>
      <p:sp>
        <p:nvSpPr>
          <p:cNvPr id="210983" name="Text Box 39"/>
          <p:cNvSpPr txBox="1">
            <a:spLocks noChangeArrowheads="1"/>
          </p:cNvSpPr>
          <p:nvPr/>
        </p:nvSpPr>
        <p:spPr bwMode="auto">
          <a:xfrm>
            <a:off x="4700588" y="4152900"/>
            <a:ext cx="34274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 dirty="0"/>
              <a:t>Some increase in twitch size during tetany, but not after</a:t>
            </a:r>
            <a:endParaRPr lang="en-GB" sz="2000" dirty="0">
              <a:cs typeface="Arial" charset="0"/>
            </a:endParaRPr>
          </a:p>
        </p:txBody>
      </p:sp>
      <p:sp>
        <p:nvSpPr>
          <p:cNvPr id="210984" name="Line 40"/>
          <p:cNvSpPr>
            <a:spLocks noChangeShapeType="1"/>
          </p:cNvSpPr>
          <p:nvPr/>
        </p:nvSpPr>
        <p:spPr bwMode="auto">
          <a:xfrm flipH="1">
            <a:off x="1971675" y="4957763"/>
            <a:ext cx="100013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85" name="Line 41"/>
          <p:cNvSpPr>
            <a:spLocks noChangeShapeType="1"/>
          </p:cNvSpPr>
          <p:nvPr/>
        </p:nvSpPr>
        <p:spPr bwMode="auto">
          <a:xfrm flipH="1">
            <a:off x="4198938" y="4543425"/>
            <a:ext cx="750887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86" name="Line 42"/>
          <p:cNvSpPr>
            <a:spLocks noChangeShapeType="1"/>
          </p:cNvSpPr>
          <p:nvPr/>
        </p:nvSpPr>
        <p:spPr bwMode="auto">
          <a:xfrm flipH="1">
            <a:off x="5959475" y="4800600"/>
            <a:ext cx="750888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69" name="Line 25"/>
          <p:cNvSpPr>
            <a:spLocks noChangeShapeType="1"/>
          </p:cNvSpPr>
          <p:nvPr/>
        </p:nvSpPr>
        <p:spPr bwMode="auto">
          <a:xfrm>
            <a:off x="7273925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0" name="Line 26"/>
          <p:cNvSpPr>
            <a:spLocks noChangeShapeType="1"/>
          </p:cNvSpPr>
          <p:nvPr/>
        </p:nvSpPr>
        <p:spPr bwMode="auto">
          <a:xfrm>
            <a:off x="7658100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1" name="Line 27"/>
          <p:cNvSpPr>
            <a:spLocks noChangeShapeType="1"/>
          </p:cNvSpPr>
          <p:nvPr/>
        </p:nvSpPr>
        <p:spPr bwMode="auto">
          <a:xfrm>
            <a:off x="8043863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2" name="Line 28"/>
          <p:cNvSpPr>
            <a:spLocks noChangeShapeType="1"/>
          </p:cNvSpPr>
          <p:nvPr/>
        </p:nvSpPr>
        <p:spPr bwMode="auto">
          <a:xfrm>
            <a:off x="8429625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7" name="Rectangle 33"/>
          <p:cNvSpPr>
            <a:spLocks noChangeArrowheads="1"/>
          </p:cNvSpPr>
          <p:nvPr/>
        </p:nvSpPr>
        <p:spPr bwMode="auto">
          <a:xfrm>
            <a:off x="2624138" y="5103813"/>
            <a:ext cx="2336800" cy="7937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4" name="Line 20"/>
          <p:cNvSpPr>
            <a:spLocks noChangeShapeType="1"/>
          </p:cNvSpPr>
          <p:nvPr/>
        </p:nvSpPr>
        <p:spPr bwMode="auto">
          <a:xfrm>
            <a:off x="385763" y="5897563"/>
            <a:ext cx="8372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8" name="Text Box 34"/>
          <p:cNvSpPr txBox="1">
            <a:spLocks noChangeArrowheads="1"/>
          </p:cNvSpPr>
          <p:nvPr/>
        </p:nvSpPr>
        <p:spPr bwMode="auto">
          <a:xfrm>
            <a:off x="742950" y="594201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0979" name="Text Box 35"/>
          <p:cNvSpPr txBox="1">
            <a:spLocks noChangeArrowheads="1"/>
          </p:cNvSpPr>
          <p:nvPr/>
        </p:nvSpPr>
        <p:spPr bwMode="auto">
          <a:xfrm>
            <a:off x="7085013" y="5942013"/>
            <a:ext cx="15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 Hz twitches</a:t>
            </a:r>
          </a:p>
        </p:txBody>
      </p:sp>
      <p:sp>
        <p:nvSpPr>
          <p:cNvPr id="210980" name="Text Box 36"/>
          <p:cNvSpPr txBox="1">
            <a:spLocks noChangeArrowheads="1"/>
          </p:cNvSpPr>
          <p:nvPr/>
        </p:nvSpPr>
        <p:spPr bwMode="auto">
          <a:xfrm>
            <a:off x="5237163" y="594201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0981" name="Text Box 37"/>
          <p:cNvSpPr txBox="1">
            <a:spLocks noChangeArrowheads="1"/>
          </p:cNvSpPr>
          <p:nvPr/>
        </p:nvSpPr>
        <p:spPr bwMode="auto">
          <a:xfrm>
            <a:off x="2767013" y="5942013"/>
            <a:ext cx="193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Tetanic response</a:t>
            </a:r>
          </a:p>
        </p:txBody>
      </p:sp>
      <p:sp>
        <p:nvSpPr>
          <p:cNvPr id="210987" name="Line 43"/>
          <p:cNvSpPr>
            <a:spLocks noChangeShapeType="1"/>
          </p:cNvSpPr>
          <p:nvPr/>
        </p:nvSpPr>
        <p:spPr bwMode="auto">
          <a:xfrm flipV="1">
            <a:off x="385763" y="4129088"/>
            <a:ext cx="0" cy="1768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89" name="Line 45"/>
          <p:cNvSpPr>
            <a:spLocks noChangeShapeType="1"/>
          </p:cNvSpPr>
          <p:nvPr/>
        </p:nvSpPr>
        <p:spPr bwMode="auto">
          <a:xfrm>
            <a:off x="1385888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0" name="Line 46"/>
          <p:cNvSpPr>
            <a:spLocks noChangeShapeType="1"/>
          </p:cNvSpPr>
          <p:nvPr/>
        </p:nvSpPr>
        <p:spPr bwMode="auto">
          <a:xfrm>
            <a:off x="1190625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1" name="Line 47"/>
          <p:cNvSpPr>
            <a:spLocks noChangeShapeType="1"/>
          </p:cNvSpPr>
          <p:nvPr/>
        </p:nvSpPr>
        <p:spPr bwMode="auto">
          <a:xfrm>
            <a:off x="1581150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2" name="Line 48"/>
          <p:cNvSpPr>
            <a:spLocks noChangeShapeType="1"/>
          </p:cNvSpPr>
          <p:nvPr/>
        </p:nvSpPr>
        <p:spPr bwMode="auto">
          <a:xfrm>
            <a:off x="1778000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3" name="Line 49"/>
          <p:cNvSpPr>
            <a:spLocks noChangeShapeType="1"/>
          </p:cNvSpPr>
          <p:nvPr/>
        </p:nvSpPr>
        <p:spPr bwMode="auto">
          <a:xfrm>
            <a:off x="5856288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4" name="Line 50"/>
          <p:cNvSpPr>
            <a:spLocks noChangeShapeType="1"/>
          </p:cNvSpPr>
          <p:nvPr/>
        </p:nvSpPr>
        <p:spPr bwMode="auto">
          <a:xfrm>
            <a:off x="5661025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5" name="Line 51"/>
          <p:cNvSpPr>
            <a:spLocks noChangeShapeType="1"/>
          </p:cNvSpPr>
          <p:nvPr/>
        </p:nvSpPr>
        <p:spPr bwMode="auto">
          <a:xfrm>
            <a:off x="6051550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96" name="Line 52"/>
          <p:cNvSpPr>
            <a:spLocks noChangeShapeType="1"/>
          </p:cNvSpPr>
          <p:nvPr/>
        </p:nvSpPr>
        <p:spPr bwMode="auto">
          <a:xfrm>
            <a:off x="6248400" y="5430838"/>
            <a:ext cx="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502236"/>
            <a:ext cx="6477000" cy="487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62000" y="5715000"/>
            <a:ext cx="6857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Fig-A nerve stimulator used clinically to assess neuromuscular function </a:t>
            </a:r>
          </a:p>
          <a:p>
            <a:r>
              <a:rPr lang="en-US" dirty="0" smtClean="0"/>
              <a:t>subjectively (visually or tactilely).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1971" name="Text Box 3"/>
          <p:cNvSpPr txBox="1">
            <a:spLocks noChangeArrowheads="1"/>
          </p:cNvSpPr>
          <p:nvPr/>
        </p:nvSpPr>
        <p:spPr bwMode="auto">
          <a:xfrm>
            <a:off x="860425" y="947738"/>
            <a:ext cx="46794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 dirty="0"/>
              <a:t> With </a:t>
            </a:r>
            <a:r>
              <a:rPr lang="en-GB" sz="2000" u="sng" dirty="0">
                <a:solidFill>
                  <a:srgbClr val="0070C0"/>
                </a:solidFill>
              </a:rPr>
              <a:t>depolarising</a:t>
            </a:r>
            <a:r>
              <a:rPr lang="en-GB" sz="2000" dirty="0">
                <a:solidFill>
                  <a:srgbClr val="0070C0"/>
                </a:solidFill>
              </a:rPr>
              <a:t> block (</a:t>
            </a:r>
            <a:r>
              <a:rPr lang="en-GB" sz="2000" dirty="0" err="1">
                <a:solidFill>
                  <a:srgbClr val="0070C0"/>
                </a:solidFill>
              </a:rPr>
              <a:t>suxamethonium</a:t>
            </a:r>
            <a:r>
              <a:rPr lang="en-GB" sz="20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211973" name="Text Box 5"/>
          <p:cNvSpPr txBox="1">
            <a:spLocks noChangeArrowheads="1"/>
          </p:cNvSpPr>
          <p:nvPr/>
        </p:nvSpPr>
        <p:spPr bwMode="auto">
          <a:xfrm>
            <a:off x="1046163" y="1471613"/>
            <a:ext cx="3330885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Initial response after full dose:</a:t>
            </a:r>
            <a:endParaRPr lang="en-GB" sz="2000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1991" name="Line 23"/>
          <p:cNvSpPr>
            <a:spLocks noChangeShapeType="1"/>
          </p:cNvSpPr>
          <p:nvPr/>
        </p:nvSpPr>
        <p:spPr bwMode="auto">
          <a:xfrm>
            <a:off x="385763" y="2532063"/>
            <a:ext cx="8372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1992" name="Text Box 24"/>
          <p:cNvSpPr txBox="1">
            <a:spLocks noChangeArrowheads="1"/>
          </p:cNvSpPr>
          <p:nvPr/>
        </p:nvSpPr>
        <p:spPr bwMode="auto">
          <a:xfrm>
            <a:off x="742950" y="257651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1993" name="Text Box 25"/>
          <p:cNvSpPr txBox="1">
            <a:spLocks noChangeArrowheads="1"/>
          </p:cNvSpPr>
          <p:nvPr/>
        </p:nvSpPr>
        <p:spPr bwMode="auto">
          <a:xfrm>
            <a:off x="5145088" y="257651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1994" name="Text Box 26"/>
          <p:cNvSpPr txBox="1">
            <a:spLocks noChangeArrowheads="1"/>
          </p:cNvSpPr>
          <p:nvPr/>
        </p:nvSpPr>
        <p:spPr bwMode="auto">
          <a:xfrm>
            <a:off x="7239000" y="2576513"/>
            <a:ext cx="15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 Hz twitches</a:t>
            </a:r>
          </a:p>
        </p:txBody>
      </p:sp>
      <p:sp>
        <p:nvSpPr>
          <p:cNvPr id="211995" name="Text Box 27"/>
          <p:cNvSpPr txBox="1">
            <a:spLocks noChangeArrowheads="1"/>
          </p:cNvSpPr>
          <p:nvPr/>
        </p:nvSpPr>
        <p:spPr bwMode="auto">
          <a:xfrm>
            <a:off x="2767013" y="2576513"/>
            <a:ext cx="193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Tetanic response</a:t>
            </a:r>
          </a:p>
        </p:txBody>
      </p:sp>
      <p:sp>
        <p:nvSpPr>
          <p:cNvPr id="211996" name="Line 28"/>
          <p:cNvSpPr>
            <a:spLocks noChangeShapeType="1"/>
          </p:cNvSpPr>
          <p:nvPr/>
        </p:nvSpPr>
        <p:spPr bwMode="auto">
          <a:xfrm flipV="1">
            <a:off x="385763" y="1860550"/>
            <a:ext cx="0" cy="671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14" name="Text Box 46"/>
          <p:cNvSpPr txBox="1">
            <a:spLocks noChangeArrowheads="1"/>
          </p:cNvSpPr>
          <p:nvPr/>
        </p:nvSpPr>
        <p:spPr bwMode="auto">
          <a:xfrm>
            <a:off x="7024688" y="5656263"/>
            <a:ext cx="15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 Hz twitches</a:t>
            </a:r>
          </a:p>
        </p:txBody>
      </p:sp>
      <p:sp>
        <p:nvSpPr>
          <p:cNvPr id="212015" name="Text Box 47"/>
          <p:cNvSpPr txBox="1">
            <a:spLocks noChangeArrowheads="1"/>
          </p:cNvSpPr>
          <p:nvPr/>
        </p:nvSpPr>
        <p:spPr bwMode="auto">
          <a:xfrm>
            <a:off x="5195888" y="565626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2016" name="Text Box 48"/>
          <p:cNvSpPr txBox="1">
            <a:spLocks noChangeArrowheads="1"/>
          </p:cNvSpPr>
          <p:nvPr/>
        </p:nvSpPr>
        <p:spPr bwMode="auto">
          <a:xfrm>
            <a:off x="2767013" y="5656263"/>
            <a:ext cx="193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Tetanic response</a:t>
            </a:r>
          </a:p>
        </p:txBody>
      </p:sp>
      <p:sp>
        <p:nvSpPr>
          <p:cNvPr id="212003" name="Line 35"/>
          <p:cNvSpPr>
            <a:spLocks noChangeShapeType="1"/>
          </p:cNvSpPr>
          <p:nvPr/>
        </p:nvSpPr>
        <p:spPr bwMode="auto">
          <a:xfrm>
            <a:off x="7185025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04" name="Line 36"/>
          <p:cNvSpPr>
            <a:spLocks noChangeShapeType="1"/>
          </p:cNvSpPr>
          <p:nvPr/>
        </p:nvSpPr>
        <p:spPr bwMode="auto">
          <a:xfrm>
            <a:off x="7569200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05" name="Line 37"/>
          <p:cNvSpPr>
            <a:spLocks noChangeShapeType="1"/>
          </p:cNvSpPr>
          <p:nvPr/>
        </p:nvSpPr>
        <p:spPr bwMode="auto">
          <a:xfrm>
            <a:off x="7954963" y="5332413"/>
            <a:ext cx="1587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06" name="Line 38"/>
          <p:cNvSpPr>
            <a:spLocks noChangeShapeType="1"/>
          </p:cNvSpPr>
          <p:nvPr/>
        </p:nvSpPr>
        <p:spPr bwMode="auto">
          <a:xfrm>
            <a:off x="8340725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07" name="Line 39"/>
          <p:cNvSpPr>
            <a:spLocks noChangeShapeType="1"/>
          </p:cNvSpPr>
          <p:nvPr/>
        </p:nvSpPr>
        <p:spPr bwMode="auto">
          <a:xfrm>
            <a:off x="5916613" y="5332413"/>
            <a:ext cx="1587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08" name="Line 40"/>
          <p:cNvSpPr>
            <a:spLocks noChangeShapeType="1"/>
          </p:cNvSpPr>
          <p:nvPr/>
        </p:nvSpPr>
        <p:spPr bwMode="auto">
          <a:xfrm>
            <a:off x="5721350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09" name="Line 41"/>
          <p:cNvSpPr>
            <a:spLocks noChangeShapeType="1"/>
          </p:cNvSpPr>
          <p:nvPr/>
        </p:nvSpPr>
        <p:spPr bwMode="auto">
          <a:xfrm>
            <a:off x="6111875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10" name="Line 42"/>
          <p:cNvSpPr>
            <a:spLocks noChangeShapeType="1"/>
          </p:cNvSpPr>
          <p:nvPr/>
        </p:nvSpPr>
        <p:spPr bwMode="auto">
          <a:xfrm>
            <a:off x="6308725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11" name="Rectangle 43"/>
          <p:cNvSpPr>
            <a:spLocks noChangeArrowheads="1"/>
          </p:cNvSpPr>
          <p:nvPr/>
        </p:nvSpPr>
        <p:spPr bwMode="auto">
          <a:xfrm>
            <a:off x="2624138" y="5222875"/>
            <a:ext cx="2336800" cy="2651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2012" name="Line 44"/>
          <p:cNvSpPr>
            <a:spLocks noChangeShapeType="1"/>
          </p:cNvSpPr>
          <p:nvPr/>
        </p:nvSpPr>
        <p:spPr bwMode="auto">
          <a:xfrm>
            <a:off x="385763" y="5487988"/>
            <a:ext cx="8372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17" name="Line 49"/>
          <p:cNvSpPr>
            <a:spLocks noChangeShapeType="1"/>
          </p:cNvSpPr>
          <p:nvPr/>
        </p:nvSpPr>
        <p:spPr bwMode="auto">
          <a:xfrm flipV="1">
            <a:off x="385763" y="3719513"/>
            <a:ext cx="0" cy="1768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18" name="Text Box 50"/>
          <p:cNvSpPr txBox="1">
            <a:spLocks noChangeArrowheads="1"/>
          </p:cNvSpPr>
          <p:nvPr/>
        </p:nvSpPr>
        <p:spPr bwMode="auto">
          <a:xfrm>
            <a:off x="1046163" y="3373438"/>
            <a:ext cx="2481558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As effect “wears off” :</a:t>
            </a:r>
            <a:endParaRPr lang="en-GB" sz="2000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2020" name="Text Box 52"/>
          <p:cNvSpPr txBox="1">
            <a:spLocks noChangeArrowheads="1"/>
          </p:cNvSpPr>
          <p:nvPr/>
        </p:nvSpPr>
        <p:spPr bwMode="auto">
          <a:xfrm>
            <a:off x="557213" y="4008438"/>
            <a:ext cx="29606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u="sng"/>
              <a:t>Small twitches</a:t>
            </a:r>
            <a:r>
              <a:rPr lang="en-GB" sz="2000"/>
              <a:t> even with repeated stimulation</a:t>
            </a:r>
            <a:endParaRPr lang="en-GB" sz="2000">
              <a:cs typeface="Arial" charset="0"/>
            </a:endParaRPr>
          </a:p>
        </p:txBody>
      </p:sp>
      <p:sp>
        <p:nvSpPr>
          <p:cNvPr id="212021" name="Text Box 53"/>
          <p:cNvSpPr txBox="1">
            <a:spLocks noChangeArrowheads="1"/>
          </p:cNvSpPr>
          <p:nvPr/>
        </p:nvSpPr>
        <p:spPr bwMode="auto">
          <a:xfrm>
            <a:off x="4700588" y="4070350"/>
            <a:ext cx="34274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 dirty="0"/>
              <a:t>Slight increase in twitch size during tetany, but not after</a:t>
            </a:r>
            <a:endParaRPr lang="en-GB" sz="2000" dirty="0">
              <a:cs typeface="Arial" charset="0"/>
            </a:endParaRPr>
          </a:p>
        </p:txBody>
      </p:sp>
      <p:sp>
        <p:nvSpPr>
          <p:cNvPr id="212022" name="Line 54"/>
          <p:cNvSpPr>
            <a:spLocks noChangeShapeType="1"/>
          </p:cNvSpPr>
          <p:nvPr/>
        </p:nvSpPr>
        <p:spPr bwMode="auto">
          <a:xfrm flipH="1">
            <a:off x="1971675" y="4813300"/>
            <a:ext cx="100013" cy="468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23" name="Line 55"/>
          <p:cNvSpPr>
            <a:spLocks noChangeShapeType="1"/>
          </p:cNvSpPr>
          <p:nvPr/>
        </p:nvSpPr>
        <p:spPr bwMode="auto">
          <a:xfrm flipH="1">
            <a:off x="4198938" y="4460875"/>
            <a:ext cx="750887" cy="588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24" name="Line 56"/>
          <p:cNvSpPr>
            <a:spLocks noChangeShapeType="1"/>
          </p:cNvSpPr>
          <p:nvPr/>
        </p:nvSpPr>
        <p:spPr bwMode="auto">
          <a:xfrm flipH="1">
            <a:off x="5959475" y="4779963"/>
            <a:ext cx="750888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25" name="Text Box 57"/>
          <p:cNvSpPr txBox="1">
            <a:spLocks noChangeArrowheads="1"/>
          </p:cNvSpPr>
          <p:nvPr/>
        </p:nvSpPr>
        <p:spPr bwMode="auto">
          <a:xfrm>
            <a:off x="6278563" y="1947863"/>
            <a:ext cx="2289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i.e. fully paralysed</a:t>
            </a:r>
            <a:endParaRPr lang="en-GB" sz="2000">
              <a:cs typeface="Arial" charset="0"/>
            </a:endParaRPr>
          </a:p>
        </p:txBody>
      </p:sp>
      <p:sp>
        <p:nvSpPr>
          <p:cNvPr id="212027" name="Text Box 59"/>
          <p:cNvSpPr txBox="1">
            <a:spLocks noChangeArrowheads="1"/>
          </p:cNvSpPr>
          <p:nvPr/>
        </p:nvSpPr>
        <p:spPr bwMode="auto">
          <a:xfrm>
            <a:off x="1046163" y="6210300"/>
            <a:ext cx="4527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Eventually; response returns to normal</a:t>
            </a:r>
            <a:endParaRPr lang="en-GB" sz="2000">
              <a:cs typeface="Arial" charset="0"/>
            </a:endParaRPr>
          </a:p>
        </p:txBody>
      </p:sp>
      <p:sp>
        <p:nvSpPr>
          <p:cNvPr id="212028" name="Text Box 60"/>
          <p:cNvSpPr txBox="1">
            <a:spLocks noChangeArrowheads="1"/>
          </p:cNvSpPr>
          <p:nvPr/>
        </p:nvSpPr>
        <p:spPr bwMode="auto">
          <a:xfrm>
            <a:off x="758825" y="565626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2029" name="Line 61"/>
          <p:cNvSpPr>
            <a:spLocks noChangeShapeType="1"/>
          </p:cNvSpPr>
          <p:nvPr/>
        </p:nvSpPr>
        <p:spPr bwMode="auto">
          <a:xfrm>
            <a:off x="1528763" y="5332413"/>
            <a:ext cx="1587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30" name="Line 62"/>
          <p:cNvSpPr>
            <a:spLocks noChangeShapeType="1"/>
          </p:cNvSpPr>
          <p:nvPr/>
        </p:nvSpPr>
        <p:spPr bwMode="auto">
          <a:xfrm>
            <a:off x="1333500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31" name="Line 63"/>
          <p:cNvSpPr>
            <a:spLocks noChangeShapeType="1"/>
          </p:cNvSpPr>
          <p:nvPr/>
        </p:nvSpPr>
        <p:spPr bwMode="auto">
          <a:xfrm>
            <a:off x="1724025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2032" name="Line 64"/>
          <p:cNvSpPr>
            <a:spLocks noChangeShapeType="1"/>
          </p:cNvSpPr>
          <p:nvPr/>
        </p:nvSpPr>
        <p:spPr bwMode="auto">
          <a:xfrm>
            <a:off x="1920875" y="5332413"/>
            <a:ext cx="1588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1" name="Freeform 41"/>
          <p:cNvSpPr>
            <a:spLocks/>
          </p:cNvSpPr>
          <p:nvPr/>
        </p:nvSpPr>
        <p:spPr bwMode="auto">
          <a:xfrm>
            <a:off x="2625725" y="5267325"/>
            <a:ext cx="2082800" cy="377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" y="238"/>
              </a:cxn>
              <a:cxn ang="0">
                <a:pos x="1312" y="236"/>
              </a:cxn>
              <a:cxn ang="0">
                <a:pos x="1020" y="218"/>
              </a:cxn>
              <a:cxn ang="0">
                <a:pos x="812" y="202"/>
              </a:cxn>
              <a:cxn ang="0">
                <a:pos x="664" y="192"/>
              </a:cxn>
              <a:cxn ang="0">
                <a:pos x="516" y="176"/>
              </a:cxn>
              <a:cxn ang="0">
                <a:pos x="348" y="150"/>
              </a:cxn>
              <a:cxn ang="0">
                <a:pos x="160" y="108"/>
              </a:cxn>
              <a:cxn ang="0">
                <a:pos x="116" y="92"/>
              </a:cxn>
              <a:cxn ang="0">
                <a:pos x="88" y="76"/>
              </a:cxn>
              <a:cxn ang="0">
                <a:pos x="36" y="46"/>
              </a:cxn>
              <a:cxn ang="0">
                <a:pos x="0" y="0"/>
              </a:cxn>
            </a:cxnLst>
            <a:rect l="0" t="0" r="r" b="b"/>
            <a:pathLst>
              <a:path w="1312" h="238">
                <a:moveTo>
                  <a:pt x="0" y="0"/>
                </a:moveTo>
                <a:lnTo>
                  <a:pt x="2" y="238"/>
                </a:lnTo>
                <a:lnTo>
                  <a:pt x="1312" y="236"/>
                </a:lnTo>
                <a:lnTo>
                  <a:pt x="1020" y="218"/>
                </a:lnTo>
                <a:lnTo>
                  <a:pt x="812" y="202"/>
                </a:lnTo>
                <a:lnTo>
                  <a:pt x="664" y="192"/>
                </a:lnTo>
                <a:lnTo>
                  <a:pt x="516" y="176"/>
                </a:lnTo>
                <a:lnTo>
                  <a:pt x="348" y="150"/>
                </a:lnTo>
                <a:lnTo>
                  <a:pt x="160" y="108"/>
                </a:lnTo>
                <a:lnTo>
                  <a:pt x="116" y="92"/>
                </a:lnTo>
                <a:lnTo>
                  <a:pt x="88" y="76"/>
                </a:lnTo>
                <a:lnTo>
                  <a:pt x="36" y="46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5043" name="Text Box 3"/>
          <p:cNvSpPr txBox="1">
            <a:spLocks noChangeArrowheads="1"/>
          </p:cNvSpPr>
          <p:nvPr/>
        </p:nvSpPr>
        <p:spPr bwMode="auto">
          <a:xfrm>
            <a:off x="860425" y="947738"/>
            <a:ext cx="64617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 dirty="0"/>
              <a:t> With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u="sng" dirty="0">
                <a:solidFill>
                  <a:srgbClr val="0070C0"/>
                </a:solidFill>
              </a:rPr>
              <a:t>non</a:t>
            </a:r>
            <a:r>
              <a:rPr lang="en-GB" sz="2000" dirty="0">
                <a:solidFill>
                  <a:srgbClr val="0070C0"/>
                </a:solidFill>
              </a:rPr>
              <a:t>-depolarising block </a:t>
            </a:r>
            <a:r>
              <a:rPr lang="en-GB" sz="2000" dirty="0"/>
              <a:t>(</a:t>
            </a:r>
            <a:r>
              <a:rPr lang="en-GB" sz="2000" dirty="0" err="1"/>
              <a:t>vecuronium</a:t>
            </a:r>
            <a:r>
              <a:rPr lang="en-GB" sz="2000" dirty="0"/>
              <a:t> or </a:t>
            </a:r>
            <a:r>
              <a:rPr lang="en-GB" sz="2000" dirty="0" err="1"/>
              <a:t>pancuronium</a:t>
            </a:r>
            <a:r>
              <a:rPr lang="en-GB" sz="2000" dirty="0"/>
              <a:t>)</a:t>
            </a: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984250" y="1616075"/>
            <a:ext cx="3330885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Initial response after full dose:</a:t>
            </a:r>
            <a:endParaRPr lang="en-GB" sz="2000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5046" name="Line 6"/>
          <p:cNvSpPr>
            <a:spLocks noChangeShapeType="1"/>
          </p:cNvSpPr>
          <p:nvPr/>
        </p:nvSpPr>
        <p:spPr bwMode="auto">
          <a:xfrm>
            <a:off x="385763" y="2655888"/>
            <a:ext cx="8372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47" name="Text Box 7"/>
          <p:cNvSpPr txBox="1">
            <a:spLocks noChangeArrowheads="1"/>
          </p:cNvSpPr>
          <p:nvPr/>
        </p:nvSpPr>
        <p:spPr bwMode="auto">
          <a:xfrm>
            <a:off x="742950" y="2700338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5048" name="Text Box 8"/>
          <p:cNvSpPr txBox="1">
            <a:spLocks noChangeArrowheads="1"/>
          </p:cNvSpPr>
          <p:nvPr/>
        </p:nvSpPr>
        <p:spPr bwMode="auto">
          <a:xfrm>
            <a:off x="5145088" y="2700338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5049" name="Text Box 9"/>
          <p:cNvSpPr txBox="1">
            <a:spLocks noChangeArrowheads="1"/>
          </p:cNvSpPr>
          <p:nvPr/>
        </p:nvSpPr>
        <p:spPr bwMode="auto">
          <a:xfrm>
            <a:off x="7239000" y="2700338"/>
            <a:ext cx="15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 Hz twitches</a:t>
            </a:r>
          </a:p>
        </p:txBody>
      </p:sp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2767013" y="2700338"/>
            <a:ext cx="193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Tetanic response</a:t>
            </a:r>
          </a:p>
        </p:txBody>
      </p:sp>
      <p:sp>
        <p:nvSpPr>
          <p:cNvPr id="215051" name="Line 11"/>
          <p:cNvSpPr>
            <a:spLocks noChangeShapeType="1"/>
          </p:cNvSpPr>
          <p:nvPr/>
        </p:nvSpPr>
        <p:spPr bwMode="auto">
          <a:xfrm flipV="1">
            <a:off x="385763" y="1984375"/>
            <a:ext cx="0" cy="671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52" name="Text Box 12"/>
          <p:cNvSpPr txBox="1">
            <a:spLocks noChangeArrowheads="1"/>
          </p:cNvSpPr>
          <p:nvPr/>
        </p:nvSpPr>
        <p:spPr bwMode="auto">
          <a:xfrm>
            <a:off x="742950" y="590391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5053" name="Text Box 13"/>
          <p:cNvSpPr txBox="1">
            <a:spLocks noChangeArrowheads="1"/>
          </p:cNvSpPr>
          <p:nvPr/>
        </p:nvSpPr>
        <p:spPr bwMode="auto">
          <a:xfrm>
            <a:off x="7045325" y="5903913"/>
            <a:ext cx="15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 Hz twitches</a:t>
            </a:r>
          </a:p>
        </p:txBody>
      </p:sp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5176838" y="590391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5055" name="Text Box 15"/>
          <p:cNvSpPr txBox="1">
            <a:spLocks noChangeArrowheads="1"/>
          </p:cNvSpPr>
          <p:nvPr/>
        </p:nvSpPr>
        <p:spPr bwMode="auto">
          <a:xfrm>
            <a:off x="2767013" y="5903913"/>
            <a:ext cx="193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Tetanic response</a:t>
            </a:r>
          </a:p>
        </p:txBody>
      </p:sp>
      <p:sp>
        <p:nvSpPr>
          <p:cNvPr id="215068" name="Line 28"/>
          <p:cNvSpPr>
            <a:spLocks noChangeShapeType="1"/>
          </p:cNvSpPr>
          <p:nvPr/>
        </p:nvSpPr>
        <p:spPr bwMode="auto">
          <a:xfrm>
            <a:off x="5854700" y="5611813"/>
            <a:ext cx="1588" cy="41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70" name="Line 30"/>
          <p:cNvSpPr>
            <a:spLocks noChangeShapeType="1"/>
          </p:cNvSpPr>
          <p:nvPr/>
        </p:nvSpPr>
        <p:spPr bwMode="auto">
          <a:xfrm>
            <a:off x="385763" y="5653088"/>
            <a:ext cx="8372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71" name="Line 31"/>
          <p:cNvSpPr>
            <a:spLocks noChangeShapeType="1"/>
          </p:cNvSpPr>
          <p:nvPr/>
        </p:nvSpPr>
        <p:spPr bwMode="auto">
          <a:xfrm flipV="1">
            <a:off x="385763" y="3884613"/>
            <a:ext cx="0" cy="1768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72" name="Text Box 32"/>
          <p:cNvSpPr txBox="1">
            <a:spLocks noChangeArrowheads="1"/>
          </p:cNvSpPr>
          <p:nvPr/>
        </p:nvSpPr>
        <p:spPr bwMode="auto">
          <a:xfrm>
            <a:off x="984250" y="3559175"/>
            <a:ext cx="3822004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As effect first starts to “wear off” :</a:t>
            </a:r>
            <a:endParaRPr lang="en-GB" sz="2000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5073" name="Text Box 33"/>
          <p:cNvSpPr txBox="1">
            <a:spLocks noChangeArrowheads="1"/>
          </p:cNvSpPr>
          <p:nvPr/>
        </p:nvSpPr>
        <p:spPr bwMode="auto">
          <a:xfrm>
            <a:off x="638175" y="4343400"/>
            <a:ext cx="26574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Absent twitches with TOF stimulation</a:t>
            </a:r>
            <a:endParaRPr lang="en-GB" sz="2000">
              <a:cs typeface="Arial" charset="0"/>
            </a:endParaRPr>
          </a:p>
        </p:txBody>
      </p:sp>
      <p:sp>
        <p:nvSpPr>
          <p:cNvPr id="215074" name="Text Box 34"/>
          <p:cNvSpPr txBox="1">
            <a:spLocks noChangeArrowheads="1"/>
          </p:cNvSpPr>
          <p:nvPr/>
        </p:nvSpPr>
        <p:spPr bwMode="auto">
          <a:xfrm>
            <a:off x="3016250" y="3990975"/>
            <a:ext cx="36290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 dirty="0"/>
              <a:t>Some response during tetany, but not maintained</a:t>
            </a:r>
            <a:endParaRPr lang="en-GB" sz="2000" dirty="0">
              <a:cs typeface="Arial" charset="0"/>
            </a:endParaRPr>
          </a:p>
        </p:txBody>
      </p:sp>
      <p:sp>
        <p:nvSpPr>
          <p:cNvPr id="215075" name="Line 35"/>
          <p:cNvSpPr>
            <a:spLocks noChangeShapeType="1"/>
          </p:cNvSpPr>
          <p:nvPr/>
        </p:nvSpPr>
        <p:spPr bwMode="auto">
          <a:xfrm flipH="1">
            <a:off x="1579563" y="5081588"/>
            <a:ext cx="100012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76" name="Line 36"/>
          <p:cNvSpPr>
            <a:spLocks noChangeShapeType="1"/>
          </p:cNvSpPr>
          <p:nvPr/>
        </p:nvSpPr>
        <p:spPr bwMode="auto">
          <a:xfrm flipH="1">
            <a:off x="3203575" y="4605338"/>
            <a:ext cx="750888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77" name="Line 37"/>
          <p:cNvSpPr>
            <a:spLocks noChangeShapeType="1"/>
          </p:cNvSpPr>
          <p:nvPr/>
        </p:nvSpPr>
        <p:spPr bwMode="auto">
          <a:xfrm flipH="1">
            <a:off x="5594350" y="4516438"/>
            <a:ext cx="1482725" cy="71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78" name="Text Box 38"/>
          <p:cNvSpPr txBox="1">
            <a:spLocks noChangeArrowheads="1"/>
          </p:cNvSpPr>
          <p:nvPr/>
        </p:nvSpPr>
        <p:spPr bwMode="auto">
          <a:xfrm>
            <a:off x="6278563" y="2071688"/>
            <a:ext cx="2289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i.e. fully paralysed</a:t>
            </a:r>
            <a:endParaRPr lang="en-GB" sz="2000">
              <a:cs typeface="Arial" charset="0"/>
            </a:endParaRPr>
          </a:p>
        </p:txBody>
      </p:sp>
      <p:sp>
        <p:nvSpPr>
          <p:cNvPr id="215082" name="Line 42"/>
          <p:cNvSpPr>
            <a:spLocks noChangeShapeType="1"/>
          </p:cNvSpPr>
          <p:nvPr/>
        </p:nvSpPr>
        <p:spPr bwMode="auto">
          <a:xfrm>
            <a:off x="5453063" y="5172075"/>
            <a:ext cx="1587" cy="481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83" name="Line 43"/>
          <p:cNvSpPr>
            <a:spLocks noChangeShapeType="1"/>
          </p:cNvSpPr>
          <p:nvPr/>
        </p:nvSpPr>
        <p:spPr bwMode="auto">
          <a:xfrm>
            <a:off x="5653088" y="5356225"/>
            <a:ext cx="1587" cy="296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84" name="Text Box 44"/>
          <p:cNvSpPr txBox="1">
            <a:spLocks noChangeArrowheads="1"/>
          </p:cNvSpPr>
          <p:nvPr/>
        </p:nvSpPr>
        <p:spPr bwMode="auto">
          <a:xfrm>
            <a:off x="7113588" y="3963988"/>
            <a:ext cx="1638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“post-tetanic potentiation”</a:t>
            </a:r>
            <a:endParaRPr lang="en-GB" sz="2000">
              <a:cs typeface="Arial" charset="0"/>
            </a:endParaRPr>
          </a:p>
        </p:txBody>
      </p:sp>
      <p:sp>
        <p:nvSpPr>
          <p:cNvPr id="215085" name="Line 45"/>
          <p:cNvSpPr>
            <a:spLocks noChangeShapeType="1"/>
          </p:cNvSpPr>
          <p:nvPr/>
        </p:nvSpPr>
        <p:spPr bwMode="auto">
          <a:xfrm flipH="1">
            <a:off x="7740650" y="5180013"/>
            <a:ext cx="101600" cy="40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86" name="Text Box 46"/>
          <p:cNvSpPr txBox="1">
            <a:spLocks noChangeArrowheads="1"/>
          </p:cNvSpPr>
          <p:nvPr/>
        </p:nvSpPr>
        <p:spPr bwMode="auto">
          <a:xfrm>
            <a:off x="6899275" y="4751388"/>
            <a:ext cx="2141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(not maintained)</a:t>
            </a:r>
            <a:endParaRPr lang="en-GB" sz="200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69" name="Rectangle 105"/>
          <p:cNvSpPr>
            <a:spLocks noChangeArrowheads="1"/>
          </p:cNvSpPr>
          <p:nvPr/>
        </p:nvSpPr>
        <p:spPr bwMode="auto">
          <a:xfrm>
            <a:off x="6765925" y="3327400"/>
            <a:ext cx="141288" cy="406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170" name="Rectangle 106"/>
          <p:cNvSpPr>
            <a:spLocks noChangeArrowheads="1"/>
          </p:cNvSpPr>
          <p:nvPr/>
        </p:nvSpPr>
        <p:spPr bwMode="auto">
          <a:xfrm>
            <a:off x="7145338" y="3540125"/>
            <a:ext cx="141287" cy="1936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687388" y="966788"/>
            <a:ext cx="40334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 dirty="0"/>
              <a:t> With</a:t>
            </a:r>
            <a:r>
              <a:rPr lang="en-GB" sz="2000" dirty="0">
                <a:solidFill>
                  <a:srgbClr val="0070C0"/>
                </a:solidFill>
              </a:rPr>
              <a:t> non-depolarising</a:t>
            </a:r>
            <a:r>
              <a:rPr lang="en-GB" sz="2000" dirty="0"/>
              <a:t> block (cont.)</a:t>
            </a:r>
          </a:p>
        </p:txBody>
      </p:sp>
      <p:sp>
        <p:nvSpPr>
          <p:cNvPr id="216132" name="Text Box 68"/>
          <p:cNvSpPr txBox="1">
            <a:spLocks noChangeArrowheads="1"/>
          </p:cNvSpPr>
          <p:nvPr/>
        </p:nvSpPr>
        <p:spPr bwMode="auto">
          <a:xfrm>
            <a:off x="1017588" y="1522413"/>
            <a:ext cx="4528291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With further time for effect to ‘wear off’ :</a:t>
            </a:r>
            <a:endParaRPr lang="en-GB" sz="2000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6141" name="Text Box 77"/>
          <p:cNvSpPr txBox="1">
            <a:spLocks noChangeArrowheads="1"/>
          </p:cNvSpPr>
          <p:nvPr/>
        </p:nvSpPr>
        <p:spPr bwMode="auto">
          <a:xfrm>
            <a:off x="822325" y="3943350"/>
            <a:ext cx="164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TOF response</a:t>
            </a:r>
          </a:p>
        </p:txBody>
      </p:sp>
      <p:sp>
        <p:nvSpPr>
          <p:cNvPr id="216147" name="Line 83"/>
          <p:cNvSpPr>
            <a:spLocks noChangeShapeType="1"/>
          </p:cNvSpPr>
          <p:nvPr/>
        </p:nvSpPr>
        <p:spPr bwMode="auto">
          <a:xfrm>
            <a:off x="385763" y="3733800"/>
            <a:ext cx="8372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48" name="Line 84"/>
          <p:cNvSpPr>
            <a:spLocks noChangeShapeType="1"/>
          </p:cNvSpPr>
          <p:nvPr/>
        </p:nvSpPr>
        <p:spPr bwMode="auto">
          <a:xfrm flipV="1">
            <a:off x="385763" y="1965325"/>
            <a:ext cx="0" cy="1768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62" name="Line 98"/>
          <p:cNvSpPr>
            <a:spLocks noChangeShapeType="1"/>
          </p:cNvSpPr>
          <p:nvPr/>
        </p:nvSpPr>
        <p:spPr bwMode="auto">
          <a:xfrm>
            <a:off x="1136650" y="3252788"/>
            <a:ext cx="1588" cy="481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63" name="Line 99"/>
          <p:cNvSpPr>
            <a:spLocks noChangeShapeType="1"/>
          </p:cNvSpPr>
          <p:nvPr/>
        </p:nvSpPr>
        <p:spPr bwMode="auto">
          <a:xfrm>
            <a:off x="1355725" y="3436938"/>
            <a:ext cx="1588" cy="296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64" name="Line 100"/>
          <p:cNvSpPr>
            <a:spLocks noChangeShapeType="1"/>
          </p:cNvSpPr>
          <p:nvPr/>
        </p:nvSpPr>
        <p:spPr bwMode="auto">
          <a:xfrm>
            <a:off x="1576388" y="3578225"/>
            <a:ext cx="1587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66" name="Text Box 102"/>
          <p:cNvSpPr txBox="1">
            <a:spLocks noChangeArrowheads="1"/>
          </p:cNvSpPr>
          <p:nvPr/>
        </p:nvSpPr>
        <p:spPr bwMode="auto">
          <a:xfrm>
            <a:off x="592138" y="2051050"/>
            <a:ext cx="23907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 dirty="0"/>
              <a:t>Some twitches with TOF (even without tetany)</a:t>
            </a:r>
            <a:endParaRPr lang="en-GB" sz="2000" dirty="0">
              <a:cs typeface="Arial" charset="0"/>
            </a:endParaRPr>
          </a:p>
        </p:txBody>
      </p:sp>
      <p:sp>
        <p:nvSpPr>
          <p:cNvPr id="216167" name="Line 103"/>
          <p:cNvSpPr>
            <a:spLocks noChangeShapeType="1"/>
          </p:cNvSpPr>
          <p:nvPr/>
        </p:nvSpPr>
        <p:spPr bwMode="auto">
          <a:xfrm flipH="1">
            <a:off x="1533525" y="2767013"/>
            <a:ext cx="323850" cy="650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68" name="Text Box 104"/>
          <p:cNvSpPr txBox="1">
            <a:spLocks noChangeArrowheads="1"/>
          </p:cNvSpPr>
          <p:nvPr/>
        </p:nvSpPr>
        <p:spPr bwMode="auto">
          <a:xfrm>
            <a:off x="6583363" y="4078288"/>
            <a:ext cx="165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DBS response</a:t>
            </a:r>
          </a:p>
        </p:txBody>
      </p:sp>
      <p:sp>
        <p:nvSpPr>
          <p:cNvPr id="216171" name="Text Box 107"/>
          <p:cNvSpPr txBox="1">
            <a:spLocks noChangeArrowheads="1"/>
          </p:cNvSpPr>
          <p:nvPr/>
        </p:nvSpPr>
        <p:spPr bwMode="auto">
          <a:xfrm>
            <a:off x="6846888" y="2009775"/>
            <a:ext cx="18557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Obvious ‘fade’ between the 2 bursts of DBS</a:t>
            </a:r>
            <a:endParaRPr lang="en-GB" sz="2000">
              <a:cs typeface="Arial" charset="0"/>
            </a:endParaRPr>
          </a:p>
        </p:txBody>
      </p:sp>
      <p:sp>
        <p:nvSpPr>
          <p:cNvPr id="216172" name="Line 108"/>
          <p:cNvSpPr>
            <a:spLocks noChangeShapeType="1"/>
          </p:cNvSpPr>
          <p:nvPr/>
        </p:nvSpPr>
        <p:spPr bwMode="auto">
          <a:xfrm flipH="1">
            <a:off x="7192963" y="2965450"/>
            <a:ext cx="568325" cy="509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73" name="Line 109"/>
          <p:cNvSpPr>
            <a:spLocks noChangeShapeType="1"/>
          </p:cNvSpPr>
          <p:nvPr/>
        </p:nvSpPr>
        <p:spPr bwMode="auto">
          <a:xfrm>
            <a:off x="2406650" y="4692650"/>
            <a:ext cx="4329113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74" name="Text Box 110"/>
          <p:cNvSpPr txBox="1">
            <a:spLocks noChangeArrowheads="1"/>
          </p:cNvSpPr>
          <p:nvPr/>
        </p:nvSpPr>
        <p:spPr bwMode="auto">
          <a:xfrm>
            <a:off x="687388" y="5029200"/>
            <a:ext cx="7277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So, when is it okay to reverse the block (i.e. give neostigmine)?</a:t>
            </a:r>
            <a:endParaRPr lang="en-GB" sz="2000">
              <a:cs typeface="Arial" charset="0"/>
            </a:endParaRPr>
          </a:p>
        </p:txBody>
      </p:sp>
      <p:sp>
        <p:nvSpPr>
          <p:cNvPr id="216175" name="Text Box 111"/>
          <p:cNvSpPr txBox="1">
            <a:spLocks noChangeArrowheads="1"/>
          </p:cNvSpPr>
          <p:nvPr/>
        </p:nvSpPr>
        <p:spPr bwMode="auto">
          <a:xfrm>
            <a:off x="908050" y="5762625"/>
            <a:ext cx="7327900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 dirty="0"/>
              <a:t>Most </a:t>
            </a:r>
            <a:r>
              <a:rPr lang="en-GB" sz="2000" dirty="0" smtClean="0"/>
              <a:t>anaesthetists would </a:t>
            </a:r>
            <a:r>
              <a:rPr lang="en-GB" sz="2000" dirty="0"/>
              <a:t>give reversal once </a:t>
            </a:r>
            <a:r>
              <a:rPr lang="en-GB" sz="2000" dirty="0">
                <a:solidFill>
                  <a:srgbClr val="0070C0"/>
                </a:solidFill>
                <a:cs typeface="Arial" charset="0"/>
              </a:rPr>
              <a:t>≥</a:t>
            </a:r>
            <a:r>
              <a:rPr lang="en-GB" sz="2000" dirty="0">
                <a:solidFill>
                  <a:srgbClr val="0070C0"/>
                </a:solidFill>
              </a:rPr>
              <a:t> 3 twitches</a:t>
            </a:r>
            <a:r>
              <a:rPr lang="en-GB" sz="2000" dirty="0"/>
              <a:t> are seen during TOF stimulation (without tetany)</a:t>
            </a:r>
            <a:endParaRPr lang="en-GB" sz="2000" dirty="0">
              <a:cs typeface="Arial" charset="0"/>
            </a:endParaRPr>
          </a:p>
        </p:txBody>
      </p:sp>
      <p:sp>
        <p:nvSpPr>
          <p:cNvPr id="216176" name="Text Box 112"/>
          <p:cNvSpPr txBox="1">
            <a:spLocks noChangeArrowheads="1"/>
          </p:cNvSpPr>
          <p:nvPr/>
        </p:nvSpPr>
        <p:spPr bwMode="auto">
          <a:xfrm>
            <a:off x="3600450" y="3984625"/>
            <a:ext cx="1543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 Hz twitches</a:t>
            </a:r>
          </a:p>
        </p:txBody>
      </p:sp>
      <p:sp>
        <p:nvSpPr>
          <p:cNvPr id="216177" name="Text Box 113"/>
          <p:cNvSpPr txBox="1">
            <a:spLocks noChangeArrowheads="1"/>
          </p:cNvSpPr>
          <p:nvPr/>
        </p:nvSpPr>
        <p:spPr bwMode="auto">
          <a:xfrm>
            <a:off x="3567113" y="2051050"/>
            <a:ext cx="29606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Some twitches at 1 Hz</a:t>
            </a:r>
            <a:endParaRPr lang="en-GB" sz="2000">
              <a:cs typeface="Arial" charset="0"/>
            </a:endParaRPr>
          </a:p>
        </p:txBody>
      </p:sp>
      <p:sp>
        <p:nvSpPr>
          <p:cNvPr id="216178" name="Line 114"/>
          <p:cNvSpPr>
            <a:spLocks noChangeShapeType="1"/>
          </p:cNvSpPr>
          <p:nvPr/>
        </p:nvSpPr>
        <p:spPr bwMode="auto">
          <a:xfrm flipH="1">
            <a:off x="4291013" y="2492375"/>
            <a:ext cx="323850" cy="83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79" name="Line 115"/>
          <p:cNvSpPr>
            <a:spLocks noChangeShapeType="1"/>
          </p:cNvSpPr>
          <p:nvPr/>
        </p:nvSpPr>
        <p:spPr bwMode="auto">
          <a:xfrm>
            <a:off x="3854450" y="3252788"/>
            <a:ext cx="1588" cy="481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80" name="Line 116"/>
          <p:cNvSpPr>
            <a:spLocks noChangeShapeType="1"/>
          </p:cNvSpPr>
          <p:nvPr/>
        </p:nvSpPr>
        <p:spPr bwMode="auto">
          <a:xfrm>
            <a:off x="4238625" y="3436938"/>
            <a:ext cx="1588" cy="296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181" name="Line 117"/>
          <p:cNvSpPr>
            <a:spLocks noChangeShapeType="1"/>
          </p:cNvSpPr>
          <p:nvPr/>
        </p:nvSpPr>
        <p:spPr bwMode="auto">
          <a:xfrm>
            <a:off x="4624388" y="3578225"/>
            <a:ext cx="1587" cy="155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7093" name="Text Box 5"/>
          <p:cNvSpPr txBox="1">
            <a:spLocks noChangeArrowheads="1"/>
          </p:cNvSpPr>
          <p:nvPr/>
        </p:nvSpPr>
        <p:spPr bwMode="auto">
          <a:xfrm>
            <a:off x="687388" y="966788"/>
            <a:ext cx="425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With non-depolarising block (cont.)</a:t>
            </a:r>
          </a:p>
        </p:txBody>
      </p:sp>
      <p:sp>
        <p:nvSpPr>
          <p:cNvPr id="217113" name="Text Box 25"/>
          <p:cNvSpPr txBox="1">
            <a:spLocks noChangeArrowheads="1"/>
          </p:cNvSpPr>
          <p:nvPr/>
        </p:nvSpPr>
        <p:spPr bwMode="auto">
          <a:xfrm>
            <a:off x="1195388" y="1565275"/>
            <a:ext cx="7011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So, how much is the neuromuscular junction still blocked?</a:t>
            </a:r>
            <a:endParaRPr lang="en-GB" sz="2000">
              <a:cs typeface="Arial" charset="0"/>
            </a:endParaRPr>
          </a:p>
        </p:txBody>
      </p:sp>
      <p:sp>
        <p:nvSpPr>
          <p:cNvPr id="217114" name="Text Box 26"/>
          <p:cNvSpPr txBox="1">
            <a:spLocks noChangeArrowheads="1"/>
          </p:cNvSpPr>
          <p:nvPr/>
        </p:nvSpPr>
        <p:spPr bwMode="auto">
          <a:xfrm>
            <a:off x="755650" y="5824538"/>
            <a:ext cx="76327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 dirty="0"/>
              <a:t>Even if all 4 twitches are seen, there may be significant residual neuromuscular block – </a:t>
            </a:r>
            <a:r>
              <a:rPr lang="en-GB" sz="2000" dirty="0">
                <a:solidFill>
                  <a:srgbClr val="0070C0"/>
                </a:solidFill>
              </a:rPr>
              <a:t>it is still important to reverse paralysis</a:t>
            </a:r>
            <a:endParaRPr lang="en-GB" sz="2000" dirty="0">
              <a:solidFill>
                <a:srgbClr val="0070C0"/>
              </a:solidFill>
              <a:cs typeface="Arial" charset="0"/>
            </a:endParaRPr>
          </a:p>
        </p:txBody>
      </p:sp>
      <p:sp>
        <p:nvSpPr>
          <p:cNvPr id="217115" name="Text Box 27"/>
          <p:cNvSpPr txBox="1">
            <a:spLocks noChangeArrowheads="1"/>
          </p:cNvSpPr>
          <p:nvPr/>
        </p:nvSpPr>
        <p:spPr bwMode="auto">
          <a:xfrm>
            <a:off x="1698625" y="2406650"/>
            <a:ext cx="2444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Number of twitches with TOF</a:t>
            </a:r>
            <a:endParaRPr lang="en-GB" sz="2000">
              <a:cs typeface="Arial" charset="0"/>
            </a:endParaRPr>
          </a:p>
        </p:txBody>
      </p:sp>
      <p:sp>
        <p:nvSpPr>
          <p:cNvPr id="217116" name="Text Box 28"/>
          <p:cNvSpPr txBox="1">
            <a:spLocks noChangeArrowheads="1"/>
          </p:cNvSpPr>
          <p:nvPr/>
        </p:nvSpPr>
        <p:spPr bwMode="auto">
          <a:xfrm>
            <a:off x="4240213" y="2406650"/>
            <a:ext cx="2444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Proportion of NMJ receptors blocked</a:t>
            </a:r>
            <a:endParaRPr lang="en-GB" sz="2000">
              <a:cs typeface="Arial" charset="0"/>
            </a:endParaRPr>
          </a:p>
        </p:txBody>
      </p:sp>
      <p:sp>
        <p:nvSpPr>
          <p:cNvPr id="217121" name="Text Box 33"/>
          <p:cNvSpPr txBox="1">
            <a:spLocks noChangeArrowheads="1"/>
          </p:cNvSpPr>
          <p:nvPr/>
        </p:nvSpPr>
        <p:spPr bwMode="auto">
          <a:xfrm>
            <a:off x="2684463" y="3211513"/>
            <a:ext cx="474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0</a:t>
            </a:r>
            <a:endParaRPr lang="en-GB" sz="2000">
              <a:cs typeface="Arial" charset="0"/>
            </a:endParaRPr>
          </a:p>
        </p:txBody>
      </p:sp>
      <p:sp>
        <p:nvSpPr>
          <p:cNvPr id="217122" name="Text Box 34"/>
          <p:cNvSpPr txBox="1">
            <a:spLocks noChangeArrowheads="1"/>
          </p:cNvSpPr>
          <p:nvPr/>
        </p:nvSpPr>
        <p:spPr bwMode="auto">
          <a:xfrm>
            <a:off x="2684463" y="3660775"/>
            <a:ext cx="474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1</a:t>
            </a:r>
            <a:endParaRPr lang="en-GB" sz="2000">
              <a:cs typeface="Arial" charset="0"/>
            </a:endParaRPr>
          </a:p>
        </p:txBody>
      </p:sp>
      <p:sp>
        <p:nvSpPr>
          <p:cNvPr id="217123" name="Text Box 35"/>
          <p:cNvSpPr txBox="1">
            <a:spLocks noChangeArrowheads="1"/>
          </p:cNvSpPr>
          <p:nvPr/>
        </p:nvSpPr>
        <p:spPr bwMode="auto">
          <a:xfrm>
            <a:off x="2684463" y="4110038"/>
            <a:ext cx="474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2</a:t>
            </a:r>
            <a:endParaRPr lang="en-GB" sz="2000">
              <a:cs typeface="Arial" charset="0"/>
            </a:endParaRPr>
          </a:p>
        </p:txBody>
      </p:sp>
      <p:sp>
        <p:nvSpPr>
          <p:cNvPr id="217124" name="Text Box 36"/>
          <p:cNvSpPr txBox="1">
            <a:spLocks noChangeArrowheads="1"/>
          </p:cNvSpPr>
          <p:nvPr/>
        </p:nvSpPr>
        <p:spPr bwMode="auto">
          <a:xfrm>
            <a:off x="2684463" y="4559300"/>
            <a:ext cx="474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3</a:t>
            </a:r>
            <a:endParaRPr lang="en-GB" sz="2000">
              <a:cs typeface="Arial" charset="0"/>
            </a:endParaRPr>
          </a:p>
        </p:txBody>
      </p:sp>
      <p:sp>
        <p:nvSpPr>
          <p:cNvPr id="217125" name="Text Box 37"/>
          <p:cNvSpPr txBox="1">
            <a:spLocks noChangeArrowheads="1"/>
          </p:cNvSpPr>
          <p:nvPr/>
        </p:nvSpPr>
        <p:spPr bwMode="auto">
          <a:xfrm>
            <a:off x="2684463" y="5008563"/>
            <a:ext cx="474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4</a:t>
            </a:r>
            <a:endParaRPr lang="en-GB" sz="2000">
              <a:cs typeface="Arial" charset="0"/>
            </a:endParaRPr>
          </a:p>
        </p:txBody>
      </p:sp>
      <p:sp>
        <p:nvSpPr>
          <p:cNvPr id="217126" name="Text Box 38"/>
          <p:cNvSpPr txBox="1">
            <a:spLocks noChangeArrowheads="1"/>
          </p:cNvSpPr>
          <p:nvPr/>
        </p:nvSpPr>
        <p:spPr bwMode="auto">
          <a:xfrm>
            <a:off x="5100638" y="3211513"/>
            <a:ext cx="10842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&gt;90%</a:t>
            </a:r>
            <a:endParaRPr lang="en-GB" sz="2000">
              <a:cs typeface="Arial" charset="0"/>
            </a:endParaRPr>
          </a:p>
        </p:txBody>
      </p:sp>
      <p:sp>
        <p:nvSpPr>
          <p:cNvPr id="217127" name="Text Box 39"/>
          <p:cNvSpPr txBox="1">
            <a:spLocks noChangeArrowheads="1"/>
          </p:cNvSpPr>
          <p:nvPr/>
        </p:nvSpPr>
        <p:spPr bwMode="auto">
          <a:xfrm>
            <a:off x="5100638" y="3660775"/>
            <a:ext cx="800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90%</a:t>
            </a:r>
            <a:endParaRPr lang="en-GB" sz="2000">
              <a:cs typeface="Arial" charset="0"/>
            </a:endParaRPr>
          </a:p>
        </p:txBody>
      </p:sp>
      <p:sp>
        <p:nvSpPr>
          <p:cNvPr id="217128" name="Text Box 40"/>
          <p:cNvSpPr txBox="1">
            <a:spLocks noChangeArrowheads="1"/>
          </p:cNvSpPr>
          <p:nvPr/>
        </p:nvSpPr>
        <p:spPr bwMode="auto">
          <a:xfrm>
            <a:off x="5100638" y="4110038"/>
            <a:ext cx="7381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80%</a:t>
            </a:r>
            <a:endParaRPr lang="en-GB" sz="2000">
              <a:cs typeface="Arial" charset="0"/>
            </a:endParaRPr>
          </a:p>
        </p:txBody>
      </p:sp>
      <p:sp>
        <p:nvSpPr>
          <p:cNvPr id="217129" name="Text Box 41"/>
          <p:cNvSpPr txBox="1">
            <a:spLocks noChangeArrowheads="1"/>
          </p:cNvSpPr>
          <p:nvPr/>
        </p:nvSpPr>
        <p:spPr bwMode="auto">
          <a:xfrm>
            <a:off x="5100638" y="4559300"/>
            <a:ext cx="719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75%</a:t>
            </a:r>
            <a:endParaRPr lang="en-GB" sz="2000">
              <a:cs typeface="Arial" charset="0"/>
            </a:endParaRPr>
          </a:p>
        </p:txBody>
      </p:sp>
      <p:sp>
        <p:nvSpPr>
          <p:cNvPr id="217130" name="Text Box 42"/>
          <p:cNvSpPr txBox="1">
            <a:spLocks noChangeArrowheads="1"/>
          </p:cNvSpPr>
          <p:nvPr/>
        </p:nvSpPr>
        <p:spPr bwMode="auto">
          <a:xfrm>
            <a:off x="5100638" y="5008563"/>
            <a:ext cx="1185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>
                <a:cs typeface="Arial" charset="0"/>
              </a:rPr>
              <a:t>≤ </a:t>
            </a:r>
            <a:r>
              <a:rPr lang="en-GB" sz="2000"/>
              <a:t>70%</a:t>
            </a:r>
            <a:endParaRPr lang="en-GB" sz="2000">
              <a:cs typeface="Arial" charset="0"/>
            </a:endParaRPr>
          </a:p>
        </p:txBody>
      </p:sp>
      <p:sp>
        <p:nvSpPr>
          <p:cNvPr id="217131" name="Line 43"/>
          <p:cNvSpPr>
            <a:spLocks noChangeShapeType="1"/>
          </p:cNvSpPr>
          <p:nvPr/>
        </p:nvSpPr>
        <p:spPr bwMode="auto">
          <a:xfrm>
            <a:off x="5173663" y="5364163"/>
            <a:ext cx="73183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2" name="Line 44"/>
          <p:cNvSpPr>
            <a:spLocks noChangeShapeType="1"/>
          </p:cNvSpPr>
          <p:nvPr/>
        </p:nvSpPr>
        <p:spPr bwMode="auto">
          <a:xfrm>
            <a:off x="5173663" y="5416550"/>
            <a:ext cx="73183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3" name="Line 45"/>
          <p:cNvSpPr>
            <a:spLocks noChangeShapeType="1"/>
          </p:cNvSpPr>
          <p:nvPr/>
        </p:nvSpPr>
        <p:spPr bwMode="auto">
          <a:xfrm flipH="1">
            <a:off x="5975350" y="3149600"/>
            <a:ext cx="1136650" cy="20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4" name="Text Box 46"/>
          <p:cNvSpPr txBox="1">
            <a:spLocks noChangeArrowheads="1"/>
          </p:cNvSpPr>
          <p:nvPr/>
        </p:nvSpPr>
        <p:spPr bwMode="auto">
          <a:xfrm>
            <a:off x="6981825" y="2735263"/>
            <a:ext cx="16319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1800"/>
              <a:t>Assuming the machine is working</a:t>
            </a:r>
            <a:endParaRPr lang="en-GB" sz="180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14" grpId="0" animBg="1"/>
      <p:bldP spid="217126" grpId="0"/>
      <p:bldP spid="217127" grpId="0"/>
      <p:bldP spid="217128" grpId="0"/>
      <p:bldP spid="217129" grpId="0"/>
      <p:bldP spid="217130" grpId="0"/>
      <p:bldP spid="217131" grpId="0" animBg="1"/>
      <p:bldP spid="217132" grpId="0" animBg="1"/>
      <p:bldP spid="217133" grpId="0" animBg="1"/>
      <p:bldP spid="2171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860425" y="947738"/>
            <a:ext cx="6872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What do you see with </a:t>
            </a:r>
            <a:r>
              <a:rPr lang="en-GB" sz="2000" u="sng"/>
              <a:t>repeated doses</a:t>
            </a:r>
            <a:r>
              <a:rPr lang="en-GB" sz="2000"/>
              <a:t> of suxamethonium?</a:t>
            </a: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1114425" y="1808163"/>
            <a:ext cx="63337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Single dose </a:t>
            </a:r>
            <a:r>
              <a:rPr lang="en-GB" sz="2000" dirty="0"/>
              <a:t>of </a:t>
            </a:r>
            <a:r>
              <a:rPr lang="en-GB" sz="2000" dirty="0" err="1"/>
              <a:t>suxamethonium</a:t>
            </a:r>
            <a:r>
              <a:rPr lang="en-GB" sz="2000" dirty="0"/>
              <a:t> </a:t>
            </a:r>
            <a:r>
              <a:rPr lang="en-GB" sz="2000" dirty="0">
                <a:cs typeface="Arial" charset="0"/>
              </a:rPr>
              <a:t>→ </a:t>
            </a:r>
            <a:r>
              <a:rPr lang="en-GB" sz="2000" dirty="0">
                <a:solidFill>
                  <a:srgbClr val="0070C0"/>
                </a:solidFill>
                <a:cs typeface="Arial" charset="0"/>
              </a:rPr>
              <a:t>typical depolarising block</a:t>
            </a: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885825" y="2654300"/>
            <a:ext cx="72596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Multiple doses </a:t>
            </a:r>
            <a:r>
              <a:rPr lang="en-GB" sz="2000" dirty="0"/>
              <a:t>of </a:t>
            </a:r>
            <a:r>
              <a:rPr lang="en-GB" sz="2000" dirty="0" err="1"/>
              <a:t>suxamethonium</a:t>
            </a:r>
            <a:r>
              <a:rPr lang="en-GB" sz="2000" dirty="0"/>
              <a:t> </a:t>
            </a:r>
            <a:r>
              <a:rPr lang="en-GB" sz="2000" dirty="0">
                <a:cs typeface="Arial" charset="0"/>
              </a:rPr>
              <a:t>→ block </a:t>
            </a:r>
            <a:r>
              <a:rPr lang="en-GB" sz="2000" i="1" dirty="0">
                <a:solidFill>
                  <a:srgbClr val="0070C0"/>
                </a:solidFill>
                <a:cs typeface="Arial" charset="0"/>
              </a:rPr>
              <a:t>like</a:t>
            </a:r>
            <a:r>
              <a:rPr lang="en-GB" sz="2000" dirty="0">
                <a:solidFill>
                  <a:srgbClr val="0070C0"/>
                </a:solidFill>
                <a:cs typeface="Arial" charset="0"/>
              </a:rPr>
              <a:t> those from non-depolarising </a:t>
            </a:r>
            <a:r>
              <a:rPr lang="en-GB" sz="2000" dirty="0">
                <a:cs typeface="Arial" charset="0"/>
              </a:rPr>
              <a:t>drugs</a:t>
            </a:r>
          </a:p>
        </p:txBody>
      </p:sp>
      <p:sp>
        <p:nvSpPr>
          <p:cNvPr id="213002" name="Line 10"/>
          <p:cNvSpPr>
            <a:spLocks noChangeShapeType="1"/>
          </p:cNvSpPr>
          <p:nvPr/>
        </p:nvSpPr>
        <p:spPr bwMode="auto">
          <a:xfrm flipH="1">
            <a:off x="2033588" y="3184525"/>
            <a:ext cx="3433762" cy="1116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3003" name="Line 11"/>
          <p:cNvSpPr>
            <a:spLocks noChangeShapeType="1"/>
          </p:cNvSpPr>
          <p:nvPr/>
        </p:nvSpPr>
        <p:spPr bwMode="auto">
          <a:xfrm flipH="1">
            <a:off x="3862388" y="3182938"/>
            <a:ext cx="1808162" cy="1158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3004" name="Line 12"/>
          <p:cNvSpPr>
            <a:spLocks noChangeShapeType="1"/>
          </p:cNvSpPr>
          <p:nvPr/>
        </p:nvSpPr>
        <p:spPr bwMode="auto">
          <a:xfrm>
            <a:off x="5834063" y="3182938"/>
            <a:ext cx="222250" cy="2212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3007" name="Text Box 15"/>
          <p:cNvSpPr txBox="1">
            <a:spLocks noChangeArrowheads="1"/>
          </p:cNvSpPr>
          <p:nvPr/>
        </p:nvSpPr>
        <p:spPr bwMode="auto">
          <a:xfrm>
            <a:off x="995363" y="4394200"/>
            <a:ext cx="2019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Post-tetanic potentiation</a:t>
            </a:r>
            <a:endParaRPr lang="en-GB" sz="2000">
              <a:cs typeface="Arial" charset="0"/>
            </a:endParaRPr>
          </a:p>
        </p:txBody>
      </p:sp>
      <p:sp>
        <p:nvSpPr>
          <p:cNvPr id="213008" name="Text Box 16"/>
          <p:cNvSpPr txBox="1">
            <a:spLocks noChangeArrowheads="1"/>
          </p:cNvSpPr>
          <p:nvPr/>
        </p:nvSpPr>
        <p:spPr bwMode="auto">
          <a:xfrm>
            <a:off x="3386138" y="4394200"/>
            <a:ext cx="982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Fade</a:t>
            </a:r>
            <a:endParaRPr lang="en-GB" sz="2000">
              <a:cs typeface="Arial" charset="0"/>
            </a:endParaRPr>
          </a:p>
        </p:txBody>
      </p:sp>
      <p:sp>
        <p:nvSpPr>
          <p:cNvPr id="213009" name="Text Box 17"/>
          <p:cNvSpPr txBox="1">
            <a:spLocks noChangeArrowheads="1"/>
          </p:cNvSpPr>
          <p:nvPr/>
        </p:nvSpPr>
        <p:spPr bwMode="auto">
          <a:xfrm>
            <a:off x="4962525" y="5497513"/>
            <a:ext cx="3317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u="sng" dirty="0"/>
              <a:t>BUT</a:t>
            </a:r>
            <a:r>
              <a:rPr lang="en-GB" sz="2000" dirty="0"/>
              <a:t> this is </a:t>
            </a:r>
            <a:r>
              <a:rPr lang="en-GB" sz="2000" u="sng" dirty="0"/>
              <a:t>not</a:t>
            </a:r>
            <a:r>
              <a:rPr lang="en-GB" sz="2000" dirty="0"/>
              <a:t> amenable to reversal with </a:t>
            </a:r>
            <a:r>
              <a:rPr lang="en-GB" sz="2000" dirty="0" err="1"/>
              <a:t>neostigmine</a:t>
            </a:r>
            <a:endParaRPr lang="en-GB" sz="20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947738" y="3883025"/>
            <a:ext cx="3135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 dirty="0"/>
              <a:t> What are the limitations?</a:t>
            </a:r>
          </a:p>
        </p:txBody>
      </p:sp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1328738" y="4418013"/>
            <a:ext cx="7250112" cy="199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buFontTx/>
              <a:buChar char="•"/>
            </a:pPr>
            <a:r>
              <a:rPr lang="en-GB" sz="2000" dirty="0"/>
              <a:t> TOF stimulation can be difficult to judge (hence DBS used)</a:t>
            </a:r>
          </a:p>
          <a:p>
            <a:pPr algn="just">
              <a:lnSpc>
                <a:spcPct val="125000"/>
              </a:lnSpc>
              <a:buFontTx/>
              <a:buChar char="•"/>
            </a:pPr>
            <a:r>
              <a:rPr lang="en-GB" sz="2000" dirty="0"/>
              <a:t> 4 twitches with TOF does NOT mean reversal is not required</a:t>
            </a:r>
          </a:p>
          <a:p>
            <a:pPr algn="just">
              <a:lnSpc>
                <a:spcPct val="125000"/>
              </a:lnSpc>
              <a:buFontTx/>
              <a:buChar char="•"/>
            </a:pP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Different muscles may recover at different rates,</a:t>
            </a:r>
            <a:r>
              <a:rPr lang="en-GB" sz="2000" dirty="0"/>
              <a:t> so facial 	twitches do not mean diaphragm is necessarily 	recovering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947738" y="1035050"/>
            <a:ext cx="2894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What are the benefits?</a:t>
            </a:r>
          </a:p>
        </p:txBody>
      </p:sp>
      <p:sp>
        <p:nvSpPr>
          <p:cNvPr id="203783" name="Text Box 7"/>
          <p:cNvSpPr txBox="1">
            <a:spLocks noChangeArrowheads="1"/>
          </p:cNvSpPr>
          <p:nvPr/>
        </p:nvSpPr>
        <p:spPr bwMode="auto">
          <a:xfrm>
            <a:off x="1328738" y="1570038"/>
            <a:ext cx="708342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buFontTx/>
              <a:buChar char="•"/>
            </a:pPr>
            <a:r>
              <a:rPr lang="en-GB" sz="2000" dirty="0"/>
              <a:t> Indicates when further paralysis is required</a:t>
            </a:r>
          </a:p>
          <a:p>
            <a:pPr algn="just">
              <a:lnSpc>
                <a:spcPct val="125000"/>
              </a:lnSpc>
              <a:buFontTx/>
              <a:buChar char="•"/>
            </a:pPr>
            <a:r>
              <a:rPr lang="en-GB" sz="2000" dirty="0"/>
              <a:t> Indicates when </a:t>
            </a:r>
            <a:r>
              <a:rPr lang="en-GB" sz="2000" dirty="0" err="1"/>
              <a:t>neostigmine</a:t>
            </a:r>
            <a:r>
              <a:rPr lang="en-GB" sz="2000" dirty="0"/>
              <a:t> will safely reverse paralysis</a:t>
            </a:r>
          </a:p>
          <a:p>
            <a:pPr algn="just">
              <a:lnSpc>
                <a:spcPct val="125000"/>
              </a:lnSpc>
              <a:buFontTx/>
              <a:buChar char="•"/>
            </a:pPr>
            <a:r>
              <a:rPr lang="en-GB" sz="2000" dirty="0"/>
              <a:t> Number of twitches after </a:t>
            </a:r>
            <a:r>
              <a:rPr lang="en-GB" sz="2000" dirty="0" err="1"/>
              <a:t>tetanic</a:t>
            </a:r>
            <a:r>
              <a:rPr lang="en-GB" sz="2000" dirty="0"/>
              <a:t> stimulation gives some </a:t>
            </a:r>
            <a:r>
              <a:rPr lang="en-GB" sz="2000" dirty="0" smtClean="0"/>
              <a:t>idea </a:t>
            </a:r>
            <a:r>
              <a:rPr lang="en-GB" sz="2000" dirty="0"/>
              <a:t>of how long paralysis will take to wear off </a:t>
            </a:r>
            <a:r>
              <a:rPr lang="en-GB" sz="2000" dirty="0" smtClean="0"/>
              <a:t>(</a:t>
            </a:r>
            <a:r>
              <a:rPr lang="en-GB" sz="2000" dirty="0"/>
              <a:t>requires experience)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/>
      <p:bldP spid="203780" grpId="0"/>
      <p:bldP spid="2037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ChangeArrowheads="1"/>
          </p:cNvSpPr>
          <p:nvPr/>
        </p:nvSpPr>
        <p:spPr bwMode="auto">
          <a:xfrm>
            <a:off x="436563" y="290513"/>
            <a:ext cx="4621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Peripheral nerve stimulators</a:t>
            </a:r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638175" y="958850"/>
            <a:ext cx="2574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The clinical benefits</a:t>
            </a:r>
          </a:p>
        </p:txBody>
      </p:sp>
      <p:sp>
        <p:nvSpPr>
          <p:cNvPr id="226310" name="Text Box 6"/>
          <p:cNvSpPr txBox="1">
            <a:spLocks noChangeArrowheads="1"/>
          </p:cNvSpPr>
          <p:nvPr/>
        </p:nvSpPr>
        <p:spPr bwMode="auto">
          <a:xfrm>
            <a:off x="868363" y="1411288"/>
            <a:ext cx="5497512" cy="44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GB" sz="2000" dirty="0"/>
              <a:t>(1) Indicates </a:t>
            </a:r>
            <a:r>
              <a:rPr lang="en-GB" sz="2000" dirty="0">
                <a:solidFill>
                  <a:srgbClr val="0070C0"/>
                </a:solidFill>
              </a:rPr>
              <a:t>when further paralysis is required</a:t>
            </a:r>
          </a:p>
        </p:txBody>
      </p:sp>
      <p:sp>
        <p:nvSpPr>
          <p:cNvPr id="226311" name="Text Box 7"/>
          <p:cNvSpPr txBox="1">
            <a:spLocks noChangeArrowheads="1"/>
          </p:cNvSpPr>
          <p:nvPr/>
        </p:nvSpPr>
        <p:spPr bwMode="auto">
          <a:xfrm>
            <a:off x="868363" y="2913063"/>
            <a:ext cx="7083425" cy="44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GB" sz="2000" dirty="0"/>
              <a:t>(2) Indicates </a:t>
            </a:r>
            <a:r>
              <a:rPr lang="en-GB" sz="2000" dirty="0">
                <a:solidFill>
                  <a:srgbClr val="0070C0"/>
                </a:solidFill>
              </a:rPr>
              <a:t>when </a:t>
            </a:r>
            <a:r>
              <a:rPr lang="en-GB" sz="2000" dirty="0" err="1">
                <a:solidFill>
                  <a:srgbClr val="0070C0"/>
                </a:solidFill>
              </a:rPr>
              <a:t>neostigmine</a:t>
            </a:r>
            <a:r>
              <a:rPr lang="en-GB" sz="2000" dirty="0">
                <a:solidFill>
                  <a:srgbClr val="0070C0"/>
                </a:solidFill>
              </a:rPr>
              <a:t> will safely </a:t>
            </a:r>
            <a:r>
              <a:rPr lang="en-GB" sz="2000" dirty="0"/>
              <a:t>reverse paralysis</a:t>
            </a:r>
          </a:p>
        </p:txBody>
      </p:sp>
      <p:sp>
        <p:nvSpPr>
          <p:cNvPr id="226312" name="Text Box 8"/>
          <p:cNvSpPr txBox="1">
            <a:spLocks noChangeArrowheads="1"/>
          </p:cNvSpPr>
          <p:nvPr/>
        </p:nvSpPr>
        <p:spPr bwMode="auto">
          <a:xfrm>
            <a:off x="1190625" y="1941513"/>
            <a:ext cx="7431088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/>
              <a:t>This can save unnecessary  repeat does of non-</a:t>
            </a:r>
            <a:r>
              <a:rPr lang="en-US" sz="1800" dirty="0" err="1"/>
              <a:t>depolarising</a:t>
            </a:r>
            <a:r>
              <a:rPr lang="en-US" sz="1800" dirty="0"/>
              <a:t> blockers</a:t>
            </a:r>
          </a:p>
          <a:p>
            <a:pPr algn="l"/>
            <a:r>
              <a:rPr lang="en-US" sz="1800" dirty="0"/>
              <a:t>	(even if the surgeon asks for it, the patient may still be 	</a:t>
            </a:r>
            <a:r>
              <a:rPr lang="en-US" sz="1800" dirty="0" err="1"/>
              <a:t>paralysed</a:t>
            </a:r>
            <a:r>
              <a:rPr lang="en-US" sz="1800" dirty="0"/>
              <a:t>!)</a:t>
            </a:r>
          </a:p>
        </p:txBody>
      </p:sp>
      <p:sp>
        <p:nvSpPr>
          <p:cNvPr id="226313" name="Text Box 9"/>
          <p:cNvSpPr txBox="1">
            <a:spLocks noChangeArrowheads="1"/>
          </p:cNvSpPr>
          <p:nvPr/>
        </p:nvSpPr>
        <p:spPr bwMode="auto">
          <a:xfrm>
            <a:off x="1190625" y="3443288"/>
            <a:ext cx="304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/>
              <a:t>If reversal given too soon;</a:t>
            </a:r>
          </a:p>
        </p:txBody>
      </p:sp>
      <p:sp>
        <p:nvSpPr>
          <p:cNvPr id="226314" name="Text Box 10"/>
          <p:cNvSpPr txBox="1">
            <a:spLocks noChangeArrowheads="1"/>
          </p:cNvSpPr>
          <p:nvPr/>
        </p:nvSpPr>
        <p:spPr bwMode="auto">
          <a:xfrm>
            <a:off x="4294188" y="3443288"/>
            <a:ext cx="30416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US" sz="1800"/>
              <a:t> Poor respiratory effort</a:t>
            </a:r>
          </a:p>
          <a:p>
            <a:pPr algn="l">
              <a:buFontTx/>
              <a:buChar char="•"/>
            </a:pPr>
            <a:r>
              <a:rPr lang="en-US" sz="1800"/>
              <a:t> Hypoventilation</a:t>
            </a:r>
          </a:p>
          <a:p>
            <a:pPr algn="l">
              <a:buFontTx/>
              <a:buChar char="•"/>
            </a:pPr>
            <a:r>
              <a:rPr lang="en-US" sz="1800"/>
              <a:t> Risk of aspiration</a:t>
            </a:r>
          </a:p>
          <a:p>
            <a:pPr algn="l">
              <a:buFontTx/>
              <a:buChar char="•"/>
            </a:pPr>
            <a:r>
              <a:rPr lang="en-US" sz="1800"/>
              <a:t> Very unpleasant</a:t>
            </a:r>
          </a:p>
        </p:txBody>
      </p:sp>
      <p:sp>
        <p:nvSpPr>
          <p:cNvPr id="226315" name="Text Box 11"/>
          <p:cNvSpPr txBox="1">
            <a:spLocks noChangeArrowheads="1"/>
          </p:cNvSpPr>
          <p:nvPr/>
        </p:nvSpPr>
        <p:spPr bwMode="auto">
          <a:xfrm>
            <a:off x="755650" y="4689475"/>
            <a:ext cx="76327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Just because patient is seen to breath does NOT mean that paralysis is fully reversed</a:t>
            </a:r>
            <a:endParaRPr lang="en-GB" sz="2000">
              <a:cs typeface="Arial" charset="0"/>
            </a:endParaRPr>
          </a:p>
        </p:txBody>
      </p:sp>
      <p:sp>
        <p:nvSpPr>
          <p:cNvPr id="226316" name="Text Box 12"/>
          <p:cNvSpPr txBox="1">
            <a:spLocks noChangeArrowheads="1"/>
          </p:cNvSpPr>
          <p:nvPr/>
        </p:nvSpPr>
        <p:spPr bwMode="auto">
          <a:xfrm>
            <a:off x="758825" y="5524500"/>
            <a:ext cx="33067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/>
              <a:t>Useful clinical markers of full reversal:</a:t>
            </a:r>
          </a:p>
        </p:txBody>
      </p:sp>
      <p:sp>
        <p:nvSpPr>
          <p:cNvPr id="226317" name="Text Box 13"/>
          <p:cNvSpPr txBox="1">
            <a:spLocks noChangeArrowheads="1"/>
          </p:cNvSpPr>
          <p:nvPr/>
        </p:nvSpPr>
        <p:spPr bwMode="auto">
          <a:xfrm>
            <a:off x="4294188" y="5457825"/>
            <a:ext cx="45339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800"/>
              <a:t>Head raise for 5s</a:t>
            </a:r>
          </a:p>
          <a:p>
            <a:pPr algn="just"/>
            <a:r>
              <a:rPr lang="en-US" sz="1800"/>
              <a:t>Firm hand squeeze 10s</a:t>
            </a:r>
          </a:p>
          <a:p>
            <a:pPr algn="just"/>
            <a:r>
              <a:rPr lang="en-US" sz="1800"/>
              <a:t>Good cough &amp; maintaining normal ETCO</a:t>
            </a:r>
            <a:r>
              <a:rPr lang="en-US" sz="1800" baseline="-25000"/>
              <a:t>2</a:t>
            </a:r>
            <a:r>
              <a:rPr lang="en-US" sz="1800"/>
              <a:t> for a few minutes</a:t>
            </a:r>
          </a:p>
        </p:txBody>
      </p:sp>
      <p:sp>
        <p:nvSpPr>
          <p:cNvPr id="226318" name="AutoShape 14"/>
          <p:cNvSpPr>
            <a:spLocks/>
          </p:cNvSpPr>
          <p:nvPr/>
        </p:nvSpPr>
        <p:spPr bwMode="auto">
          <a:xfrm>
            <a:off x="4076700" y="5565775"/>
            <a:ext cx="88900" cy="976313"/>
          </a:xfrm>
          <a:prstGeom prst="leftBrace">
            <a:avLst>
              <a:gd name="adj1" fmla="val 915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4584192" cy="4572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Anesthetic Monitoring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11312" y="1423989"/>
            <a:ext cx="5399088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Clinical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Pulseoxymetry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Capnography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Non invasive Blood pressure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ECG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Peripheral nerve stimulators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Volatile / gas analyser &amp; anaesthesia depth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Temperature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Documentation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491868"/>
            <a:ext cx="1295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401638" y="490538"/>
            <a:ext cx="5273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Oxygen concentration analysers</a:t>
            </a:r>
          </a:p>
        </p:txBody>
      </p:sp>
      <p:sp>
        <p:nvSpPr>
          <p:cNvPr id="145427" name="Rectangle 19"/>
          <p:cNvSpPr>
            <a:spLocks noChangeArrowheads="1"/>
          </p:cNvSpPr>
          <p:nvPr/>
        </p:nvSpPr>
        <p:spPr bwMode="auto">
          <a:xfrm>
            <a:off x="401638" y="1316038"/>
            <a:ext cx="3756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What information does it give?</a:t>
            </a:r>
          </a:p>
        </p:txBody>
      </p:sp>
      <p:sp>
        <p:nvSpPr>
          <p:cNvPr id="145428" name="Text Box 20"/>
          <p:cNvSpPr txBox="1">
            <a:spLocks noChangeArrowheads="1"/>
          </p:cNvSpPr>
          <p:nvPr/>
        </p:nvSpPr>
        <p:spPr bwMode="auto">
          <a:xfrm>
            <a:off x="401638" y="2136775"/>
            <a:ext cx="6969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The oxygen concentration in gas mixture delivered to patient</a:t>
            </a:r>
          </a:p>
        </p:txBody>
      </p:sp>
      <p:sp>
        <p:nvSpPr>
          <p:cNvPr id="145429" name="Rectangle 21"/>
          <p:cNvSpPr>
            <a:spLocks noChangeArrowheads="1"/>
          </p:cNvSpPr>
          <p:nvPr/>
        </p:nvSpPr>
        <p:spPr bwMode="auto">
          <a:xfrm>
            <a:off x="401638" y="2959100"/>
            <a:ext cx="2838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Why is this important?</a:t>
            </a:r>
            <a:endParaRPr lang="en-US" sz="2000"/>
          </a:p>
        </p:txBody>
      </p:sp>
      <p:sp>
        <p:nvSpPr>
          <p:cNvPr id="145430" name="Rectangle 22"/>
          <p:cNvSpPr>
            <a:spLocks noChangeArrowheads="1"/>
          </p:cNvSpPr>
          <p:nvPr/>
        </p:nvSpPr>
        <p:spPr bwMode="auto">
          <a:xfrm>
            <a:off x="401638" y="3781425"/>
            <a:ext cx="7935912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/>
              <a:t>Essential to know concentration of oxygen being delivered to patient to prevent ventilation with hypoxic gas mixture</a:t>
            </a:r>
          </a:p>
          <a:p>
            <a:pPr algn="just"/>
            <a:endParaRPr lang="en-US" sz="2000"/>
          </a:p>
          <a:p>
            <a:pPr algn="just"/>
            <a:r>
              <a:rPr lang="en-US" sz="2000" b="1" u="sng"/>
              <a:t>No way</a:t>
            </a:r>
            <a:r>
              <a:rPr lang="en-US" sz="2000"/>
              <a:t> of </a:t>
            </a:r>
            <a:r>
              <a:rPr lang="en-US" sz="2000" u="sng"/>
              <a:t>accurately</a:t>
            </a:r>
            <a:r>
              <a:rPr lang="en-US" sz="2000"/>
              <a:t> knowing oxygen concentration without measuring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277813" y="201613"/>
            <a:ext cx="5273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Oxygen concentration analysers</a:t>
            </a:r>
          </a:p>
        </p:txBody>
      </p:sp>
      <p:sp>
        <p:nvSpPr>
          <p:cNvPr id="168967" name="Rectangle 7"/>
          <p:cNvSpPr>
            <a:spLocks noChangeArrowheads="1"/>
          </p:cNvSpPr>
          <p:nvPr/>
        </p:nvSpPr>
        <p:spPr bwMode="auto">
          <a:xfrm>
            <a:off x="277813" y="869950"/>
            <a:ext cx="7521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</a:t>
            </a:r>
            <a:r>
              <a:rPr lang="en-US" sz="2000"/>
              <a:t>Reasons oxygen delivery to patient may not be what you expect</a:t>
            </a:r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460375" y="1497013"/>
            <a:ext cx="8302625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Maximum concentration of oxygen produced by oxygen concentrator?</a:t>
            </a:r>
          </a:p>
          <a:p>
            <a:pPr algn="just">
              <a:lnSpc>
                <a:spcPct val="110000"/>
              </a:lnSpc>
              <a:buFontTx/>
              <a:buChar char="•"/>
            </a:pPr>
            <a:endParaRPr lang="en-US" sz="2000" dirty="0"/>
          </a:p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Is oxygen </a:t>
            </a:r>
            <a:r>
              <a:rPr lang="en-US" sz="2000" dirty="0">
                <a:solidFill>
                  <a:srgbClr val="0070C0"/>
                </a:solidFill>
              </a:rPr>
              <a:t>concentrator working properly</a:t>
            </a:r>
            <a:r>
              <a:rPr lang="en-US" sz="2000" dirty="0"/>
              <a:t>?</a:t>
            </a:r>
          </a:p>
          <a:p>
            <a:pPr algn="just">
              <a:lnSpc>
                <a:spcPct val="110000"/>
              </a:lnSpc>
              <a:buFontTx/>
              <a:buChar char="•"/>
            </a:pPr>
            <a:endParaRPr lang="en-US" sz="2000" dirty="0"/>
          </a:p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Is there a </a:t>
            </a:r>
            <a:r>
              <a:rPr lang="en-US" sz="2000" dirty="0">
                <a:solidFill>
                  <a:srgbClr val="0070C0"/>
                </a:solidFill>
              </a:rPr>
              <a:t>leak in oxygen piping </a:t>
            </a:r>
            <a:r>
              <a:rPr lang="en-US" sz="2000" dirty="0"/>
              <a:t>behind the wall?</a:t>
            </a:r>
          </a:p>
          <a:p>
            <a:pPr algn="just">
              <a:lnSpc>
                <a:spcPct val="110000"/>
              </a:lnSpc>
              <a:buFontTx/>
              <a:buChar char="•"/>
            </a:pPr>
            <a:endParaRPr lang="en-US" sz="2000" dirty="0"/>
          </a:p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Has the wall oxygen probe accidentally been </a:t>
            </a:r>
            <a:r>
              <a:rPr lang="en-US" sz="2000" dirty="0">
                <a:solidFill>
                  <a:srgbClr val="0070C0"/>
                </a:solidFill>
              </a:rPr>
              <a:t>connected to wrong socket</a:t>
            </a:r>
            <a:r>
              <a:rPr lang="en-US" sz="2000" dirty="0"/>
              <a:t>?</a:t>
            </a:r>
          </a:p>
          <a:p>
            <a:pPr algn="just">
              <a:lnSpc>
                <a:spcPct val="110000"/>
              </a:lnSpc>
              <a:buFontTx/>
              <a:buChar char="•"/>
            </a:pPr>
            <a:endParaRPr lang="en-US" sz="2000" dirty="0"/>
          </a:p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Is there a </a:t>
            </a:r>
            <a:r>
              <a:rPr lang="en-US" sz="2000" dirty="0">
                <a:solidFill>
                  <a:srgbClr val="0070C0"/>
                </a:solidFill>
              </a:rPr>
              <a:t>problem with the anaesthetic machine </a:t>
            </a:r>
            <a:r>
              <a:rPr lang="en-US" sz="2000" dirty="0"/>
              <a:t>(</a:t>
            </a:r>
            <a:r>
              <a:rPr lang="en-US" sz="2000" dirty="0" err="1"/>
              <a:t>eg</a:t>
            </a:r>
            <a:r>
              <a:rPr lang="en-US" sz="2000" dirty="0"/>
              <a:t>. cracked </a:t>
            </a:r>
            <a:r>
              <a:rPr lang="en-US" sz="2000" dirty="0" err="1"/>
              <a:t>rotameter</a:t>
            </a:r>
            <a:r>
              <a:rPr lang="en-US" sz="2000" dirty="0"/>
              <a:t>?)</a:t>
            </a:r>
          </a:p>
          <a:p>
            <a:pPr algn="just">
              <a:lnSpc>
                <a:spcPct val="110000"/>
              </a:lnSpc>
              <a:buFontTx/>
              <a:buChar char="•"/>
            </a:pPr>
            <a:endParaRPr lang="en-US" sz="2000" dirty="0"/>
          </a:p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Is there a </a:t>
            </a:r>
            <a:r>
              <a:rPr lang="en-US" sz="2000" dirty="0">
                <a:solidFill>
                  <a:srgbClr val="0070C0"/>
                </a:solidFill>
              </a:rPr>
              <a:t>leak</a:t>
            </a:r>
            <a:r>
              <a:rPr lang="en-US" sz="2000" dirty="0"/>
              <a:t> in the circuit?</a:t>
            </a:r>
          </a:p>
          <a:p>
            <a:pPr algn="just">
              <a:lnSpc>
                <a:spcPct val="110000"/>
              </a:lnSpc>
              <a:buFontTx/>
              <a:buChar char="•"/>
            </a:pPr>
            <a:endParaRPr lang="en-US" sz="2000" dirty="0"/>
          </a:p>
          <a:p>
            <a:pPr algn="just">
              <a:lnSpc>
                <a:spcPct val="110000"/>
              </a:lnSpc>
              <a:buFontTx/>
              <a:buChar char="•"/>
            </a:pPr>
            <a:r>
              <a:rPr lang="en-US" sz="2000" dirty="0"/>
              <a:t> How much oxygen is being </a:t>
            </a:r>
            <a:r>
              <a:rPr lang="en-US" sz="2000" dirty="0">
                <a:solidFill>
                  <a:srgbClr val="0070C0"/>
                </a:solidFill>
              </a:rPr>
              <a:t>consumed</a:t>
            </a:r>
            <a:r>
              <a:rPr lang="en-US" sz="2000" dirty="0"/>
              <a:t> by the patient?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15348"/>
            <a:ext cx="7334250" cy="5523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133600" y="6248400"/>
            <a:ext cx="362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Fig-inspired and expired gas analyzer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286000"/>
            <a:ext cx="749808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70C0"/>
                </a:solidFill>
                <a:effectLst/>
              </a:rPr>
              <a:t>Monitoring anaesthesia depth clinically</a:t>
            </a:r>
            <a:endParaRPr lang="en-US" sz="3600" dirty="0">
              <a:solidFill>
                <a:srgbClr val="0070C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533400"/>
            <a:ext cx="6184392" cy="8382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0070C0"/>
                </a:solidFill>
                <a:effectLst/>
              </a:rPr>
              <a:t>Most Reliable Signs of Anesthetic Depth initially </a:t>
            </a:r>
            <a:endParaRPr 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943088" cy="5029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Gross purposeful </a:t>
            </a:r>
            <a:r>
              <a:rPr lang="en-US" sz="2400" dirty="0" smtClean="0">
                <a:solidFill>
                  <a:srgbClr val="0070C0"/>
                </a:solidFill>
              </a:rPr>
              <a:t>movement </a:t>
            </a:r>
          </a:p>
          <a:p>
            <a:r>
              <a:rPr lang="en-US" sz="2400" dirty="0" smtClean="0">
                <a:solidFill>
                  <a:srgbClr val="0070C0"/>
                </a:solidFill>
              </a:rPr>
              <a:t>Reflex movement</a:t>
            </a:r>
            <a:r>
              <a:rPr lang="en-US" sz="2400" dirty="0" smtClean="0"/>
              <a:t> in response to stimulation 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Immediate</a:t>
            </a:r>
            <a:r>
              <a:rPr lang="en-US" sz="2400" dirty="0" smtClean="0">
                <a:solidFill>
                  <a:srgbClr val="0070C0"/>
                </a:solidFill>
              </a:rPr>
              <a:t> hemodynamic response</a:t>
            </a:r>
            <a:r>
              <a:rPr lang="en-US" sz="2400" dirty="0" smtClean="0"/>
              <a:t> to stimulation; sudden marked increase in heart rate or blood pressure. 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Immediate</a:t>
            </a:r>
            <a:r>
              <a:rPr lang="en-US" sz="2400" dirty="0" smtClean="0">
                <a:solidFill>
                  <a:srgbClr val="0070C0"/>
                </a:solidFill>
              </a:rPr>
              <a:t> respiratory response </a:t>
            </a:r>
            <a:r>
              <a:rPr lang="en-US" sz="2400" dirty="0" smtClean="0"/>
              <a:t>to stimulation; sudden marked increase in respiratory rate or depth of breathing. </a:t>
            </a:r>
          </a:p>
          <a:p>
            <a:r>
              <a:rPr lang="en-US" sz="2400" dirty="0" smtClean="0"/>
              <a:t>Response to stimulation </a:t>
            </a:r>
            <a:r>
              <a:rPr lang="en-US" sz="2400" dirty="0" smtClean="0">
                <a:solidFill>
                  <a:srgbClr val="0070C0"/>
                </a:solidFill>
              </a:rPr>
              <a:t>prior to actual incision </a:t>
            </a:r>
            <a:r>
              <a:rPr lang="en-US" sz="2400" dirty="0" smtClean="0"/>
              <a:t>(such as clipping, surgical preparation, drape, clamps). 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838200"/>
            <a:ext cx="5193792" cy="6096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0070C0"/>
                </a:solidFill>
                <a:effectLst/>
              </a:rPr>
              <a:t>Reliable Signs of Anesthetic Depth </a:t>
            </a:r>
            <a:endParaRPr 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05000"/>
            <a:ext cx="8001000" cy="4724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History of vaporizer setting </a:t>
            </a:r>
          </a:p>
          <a:p>
            <a:r>
              <a:rPr lang="en-US" sz="2400" dirty="0" smtClean="0"/>
              <a:t>Muscle tone (e.g. jaw tone) </a:t>
            </a:r>
          </a:p>
          <a:p>
            <a:r>
              <a:rPr lang="en-US" sz="2400" dirty="0" err="1" smtClean="0"/>
              <a:t>Pupillary</a:t>
            </a:r>
            <a:r>
              <a:rPr lang="en-US" sz="2400" dirty="0" smtClean="0"/>
              <a:t> light reflex </a:t>
            </a:r>
          </a:p>
          <a:p>
            <a:r>
              <a:rPr lang="en-US" sz="2400" dirty="0" err="1" smtClean="0"/>
              <a:t>Palpebral</a:t>
            </a:r>
            <a:r>
              <a:rPr lang="en-US" sz="2400" dirty="0" smtClean="0"/>
              <a:t> reflex </a:t>
            </a:r>
          </a:p>
          <a:p>
            <a:r>
              <a:rPr lang="en-US" sz="2400" dirty="0" smtClean="0"/>
              <a:t>Corneal reflex </a:t>
            </a:r>
          </a:p>
          <a:p>
            <a:r>
              <a:rPr lang="en-US" sz="2400" dirty="0" smtClean="0"/>
              <a:t>Moist cornea (</a:t>
            </a:r>
            <a:r>
              <a:rPr lang="en-US" sz="2400" dirty="0" err="1" smtClean="0"/>
              <a:t>lacrimination</a:t>
            </a:r>
            <a:r>
              <a:rPr lang="en-US" sz="2400" dirty="0" smtClean="0"/>
              <a:t> or tears) </a:t>
            </a:r>
          </a:p>
          <a:p>
            <a:r>
              <a:rPr lang="en-US" sz="2400" dirty="0" smtClean="0"/>
              <a:t>Position of the eyeball 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5955792" cy="4572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0070C0"/>
                </a:solidFill>
                <a:effectLst/>
              </a:rPr>
              <a:t>Less Reliable Signs of Anesthetic Depth</a:t>
            </a:r>
            <a:endParaRPr lang="en-US" sz="280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81600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rgbClr val="0070C0"/>
                </a:solidFill>
              </a:rPr>
              <a:t>Heart Rate: </a:t>
            </a:r>
            <a:r>
              <a:rPr lang="en-US" sz="2000" dirty="0" smtClean="0"/>
              <a:t>may increase or decrease with increased depth of anesthetic plane. At deep plane it may accompany </a:t>
            </a:r>
            <a:r>
              <a:rPr lang="en-US" sz="2000" dirty="0" err="1" smtClean="0"/>
              <a:t>bradycardia</a:t>
            </a:r>
            <a:r>
              <a:rPr lang="en-US" sz="2000" dirty="0" smtClean="0"/>
              <a:t>, but also severe cardiovascular depression may increase heart rate to compensate for fall in stroke volume. (differentiate from noxious stimulation induced increase; less marked in changes). </a:t>
            </a:r>
          </a:p>
          <a:p>
            <a:r>
              <a:rPr lang="en-US" sz="2000" dirty="0" smtClean="0">
                <a:solidFill>
                  <a:srgbClr val="0070C0"/>
                </a:solidFill>
              </a:rPr>
              <a:t>Respiration rate:</a:t>
            </a:r>
            <a:r>
              <a:rPr lang="en-US" sz="2000" dirty="0" smtClean="0"/>
              <a:t> may increase or decrease with deepening anesthesia. At deep plane, it may accompany apnea, but also may initiate a rapid shallow breath following a period of apnea as a compensation. (similar to </a:t>
            </a:r>
            <a:r>
              <a:rPr lang="en-US" sz="2000" dirty="0" err="1" smtClean="0"/>
              <a:t>hemodynamics</a:t>
            </a:r>
            <a:r>
              <a:rPr lang="en-US" sz="2000" dirty="0" smtClean="0"/>
              <a:t>, fall in tidal volume tends to increase respiration rate.) </a:t>
            </a:r>
          </a:p>
          <a:p>
            <a:r>
              <a:rPr lang="en-US" sz="2000" dirty="0" smtClean="0">
                <a:solidFill>
                  <a:srgbClr val="0070C0"/>
                </a:solidFill>
              </a:rPr>
              <a:t>Blood pressure</a:t>
            </a:r>
            <a:r>
              <a:rPr lang="en-US" sz="2000" dirty="0" smtClean="0"/>
              <a:t> is similar to heart rate, but probably more reliable. In general, the volatile anesthetics; halothane, </a:t>
            </a:r>
            <a:r>
              <a:rPr lang="en-US" sz="2000" dirty="0" err="1" smtClean="0"/>
              <a:t>isoflurane</a:t>
            </a:r>
            <a:r>
              <a:rPr lang="en-US" sz="2000" dirty="0" smtClean="0"/>
              <a:t>, </a:t>
            </a:r>
            <a:r>
              <a:rPr lang="en-US" sz="2000" dirty="0" err="1" smtClean="0"/>
              <a:t>sevoflurane</a:t>
            </a:r>
            <a:r>
              <a:rPr lang="en-US" sz="2000" dirty="0" smtClean="0"/>
              <a:t>, and </a:t>
            </a:r>
            <a:r>
              <a:rPr lang="en-US" sz="2000" dirty="0" err="1" smtClean="0"/>
              <a:t>desflurane</a:t>
            </a:r>
            <a:r>
              <a:rPr lang="en-US" sz="2000" dirty="0" smtClean="0"/>
              <a:t> produce a dose-dependent decrease in arterial blood pressure and many anesthetists use this depression to assess the depth of anesthesia. 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376238" y="198438"/>
            <a:ext cx="2501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Thermometers</a:t>
            </a:r>
          </a:p>
        </p:txBody>
      </p:sp>
      <p:sp>
        <p:nvSpPr>
          <p:cNvPr id="145427" name="Rectangle 19"/>
          <p:cNvSpPr>
            <a:spLocks noChangeArrowheads="1"/>
          </p:cNvSpPr>
          <p:nvPr/>
        </p:nvSpPr>
        <p:spPr bwMode="auto">
          <a:xfrm>
            <a:off x="388938" y="847725"/>
            <a:ext cx="38401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What information do they give?</a:t>
            </a:r>
          </a:p>
        </p:txBody>
      </p:sp>
      <p:sp>
        <p:nvSpPr>
          <p:cNvPr id="145429" name="Rectangle 21"/>
          <p:cNvSpPr>
            <a:spLocks noChangeArrowheads="1"/>
          </p:cNvSpPr>
          <p:nvPr/>
        </p:nvSpPr>
        <p:spPr bwMode="auto">
          <a:xfrm>
            <a:off x="388938" y="2638425"/>
            <a:ext cx="2564944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 smtClean="0">
                <a:solidFill>
                  <a:srgbClr val="0070C0"/>
                </a:solidFill>
              </a:rPr>
              <a:t>Why </a:t>
            </a:r>
            <a:r>
              <a:rPr lang="en-GB" sz="2000" dirty="0">
                <a:solidFill>
                  <a:srgbClr val="0070C0"/>
                </a:solidFill>
              </a:rPr>
              <a:t>is this important?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45430" name="Rectangle 22"/>
          <p:cNvSpPr>
            <a:spLocks noChangeArrowheads="1"/>
          </p:cNvSpPr>
          <p:nvPr/>
        </p:nvSpPr>
        <p:spPr bwMode="auto">
          <a:xfrm>
            <a:off x="592138" y="1223963"/>
            <a:ext cx="7935912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/>
              <a:t> Peripheral / skin or core temperature; often as constant reading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/>
              <a:t> If both are measured, the discrepancy gives an indication of peripheral perfusion</a:t>
            </a:r>
          </a:p>
        </p:txBody>
      </p:sp>
      <p:sp>
        <p:nvSpPr>
          <p:cNvPr id="145431" name="Rectangle 23"/>
          <p:cNvSpPr>
            <a:spLocks noChangeArrowheads="1"/>
          </p:cNvSpPr>
          <p:nvPr/>
        </p:nvSpPr>
        <p:spPr bwMode="auto">
          <a:xfrm>
            <a:off x="592138" y="3014663"/>
            <a:ext cx="8335962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Almost all patients lose heat during a general anaesthetic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Cool patients wake slower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Cool blood clots less effectively </a:t>
            </a:r>
            <a:r>
              <a:rPr lang="en-US" sz="2000" dirty="0">
                <a:cs typeface="Arial" charset="0"/>
              </a:rPr>
              <a:t>→ more blood loss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>
                <a:cs typeface="Arial" charset="0"/>
              </a:rPr>
              <a:t> Hypothermia increases wound infection and prolongs paralysis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Hyperthermic</a:t>
            </a:r>
            <a:r>
              <a:rPr lang="en-US" sz="2000" dirty="0"/>
              <a:t> patients </a:t>
            </a:r>
            <a:r>
              <a:rPr lang="en-US" sz="2000" dirty="0" err="1"/>
              <a:t>vasodilate</a:t>
            </a:r>
            <a:r>
              <a:rPr lang="en-US" sz="2000" dirty="0"/>
              <a:t> → may affect BP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Marked deviations from 37</a:t>
            </a:r>
            <a:r>
              <a:rPr lang="en-US" sz="2000" dirty="0">
                <a:cs typeface="Arial" charset="0"/>
              </a:rPr>
              <a:t>°</a:t>
            </a:r>
            <a:r>
              <a:rPr lang="en-US" sz="2000" dirty="0"/>
              <a:t>C are dangerous (e.g. myocardial ischaemia and arrhythmias)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Fever may indicate an underlying inflammatory response (</a:t>
            </a:r>
            <a:r>
              <a:rPr lang="en-US" sz="2000" dirty="0" err="1"/>
              <a:t>e.g.sepsis</a:t>
            </a:r>
            <a:r>
              <a:rPr lang="en-US" sz="2000" dirty="0"/>
              <a:t>)</a:t>
            </a:r>
          </a:p>
          <a:p>
            <a:pPr algn="just">
              <a:lnSpc>
                <a:spcPct val="130000"/>
              </a:lnSpc>
              <a:buFontTx/>
              <a:buChar char="•"/>
            </a:pPr>
            <a:r>
              <a:rPr lang="en-US" sz="2000" dirty="0"/>
              <a:t> Rapid rise in temperature may signal malignant hyperthermia#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363538" y="338138"/>
            <a:ext cx="2501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Thermometers</a:t>
            </a: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604838" y="55626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Skin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604838" y="1639888"/>
            <a:ext cx="13858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Ear drum</a:t>
            </a:r>
            <a:endParaRPr lang="en-US" sz="2000"/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515938" y="1030288"/>
            <a:ext cx="50387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/>
              <a:t>Sites for measurement of core temperature</a:t>
            </a:r>
          </a:p>
        </p:txBody>
      </p:sp>
      <p:sp>
        <p:nvSpPr>
          <p:cNvPr id="208902" name="Rectangle 6"/>
          <p:cNvSpPr>
            <a:spLocks noChangeArrowheads="1"/>
          </p:cNvSpPr>
          <p:nvPr/>
        </p:nvSpPr>
        <p:spPr bwMode="auto">
          <a:xfrm>
            <a:off x="2413000" y="1601788"/>
            <a:ext cx="65198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1800"/>
              <a:t>Accurately reflects brain temperature; usually single readings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604838" y="2820988"/>
            <a:ext cx="99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Nasal</a:t>
            </a:r>
            <a:endParaRPr lang="en-US" sz="2000"/>
          </a:p>
        </p:txBody>
      </p:sp>
      <p:sp>
        <p:nvSpPr>
          <p:cNvPr id="208906" name="Rectangle 10"/>
          <p:cNvSpPr>
            <a:spLocks noChangeArrowheads="1"/>
          </p:cNvSpPr>
          <p:nvPr/>
        </p:nvSpPr>
        <p:spPr bwMode="auto">
          <a:xfrm>
            <a:off x="604838" y="2249488"/>
            <a:ext cx="185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Oesophageal</a:t>
            </a:r>
            <a:endParaRPr lang="en-US" sz="2000"/>
          </a:p>
        </p:txBody>
      </p:sp>
      <p:sp>
        <p:nvSpPr>
          <p:cNvPr id="208907" name="Rectangle 11"/>
          <p:cNvSpPr>
            <a:spLocks noChangeArrowheads="1"/>
          </p:cNvSpPr>
          <p:nvPr/>
        </p:nvSpPr>
        <p:spPr bwMode="auto">
          <a:xfrm>
            <a:off x="604838" y="3771900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Bladder</a:t>
            </a:r>
            <a:endParaRPr lang="en-US" sz="2000"/>
          </a:p>
        </p:txBody>
      </p:sp>
      <p:sp>
        <p:nvSpPr>
          <p:cNvPr id="208908" name="Rectangle 12"/>
          <p:cNvSpPr>
            <a:spLocks noChangeArrowheads="1"/>
          </p:cNvSpPr>
          <p:nvPr/>
        </p:nvSpPr>
        <p:spPr bwMode="auto">
          <a:xfrm>
            <a:off x="515938" y="4991100"/>
            <a:ext cx="50387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/>
              <a:t>Other sites for peripheral temperature</a:t>
            </a:r>
          </a:p>
        </p:txBody>
      </p:sp>
      <p:sp>
        <p:nvSpPr>
          <p:cNvPr id="208909" name="Rectangle 13"/>
          <p:cNvSpPr>
            <a:spLocks noChangeArrowheads="1"/>
          </p:cNvSpPr>
          <p:nvPr/>
        </p:nvSpPr>
        <p:spPr bwMode="auto">
          <a:xfrm>
            <a:off x="604838" y="6134100"/>
            <a:ext cx="952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sz="2000"/>
              <a:t> Axilla</a:t>
            </a:r>
          </a:p>
        </p:txBody>
      </p:sp>
      <p:sp>
        <p:nvSpPr>
          <p:cNvPr id="208910" name="Rectangle 14"/>
          <p:cNvSpPr>
            <a:spLocks noChangeArrowheads="1"/>
          </p:cNvSpPr>
          <p:nvPr/>
        </p:nvSpPr>
        <p:spPr bwMode="auto">
          <a:xfrm>
            <a:off x="604838" y="4381500"/>
            <a:ext cx="1063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buFontTx/>
              <a:buChar char="•"/>
            </a:pPr>
            <a:r>
              <a:rPr lang="en-GB" sz="2000"/>
              <a:t> Rectal</a:t>
            </a:r>
            <a:endParaRPr lang="en-US" sz="2000"/>
          </a:p>
        </p:txBody>
      </p:sp>
      <p:sp>
        <p:nvSpPr>
          <p:cNvPr id="208911" name="Rectangle 15"/>
          <p:cNvSpPr>
            <a:spLocks noChangeArrowheads="1"/>
          </p:cNvSpPr>
          <p:nvPr/>
        </p:nvSpPr>
        <p:spPr bwMode="auto">
          <a:xfrm>
            <a:off x="2413000" y="2211388"/>
            <a:ext cx="65198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1800"/>
              <a:t>Lower 1/3 accurately reflects core temperature</a:t>
            </a:r>
          </a:p>
        </p:txBody>
      </p:sp>
      <p:sp>
        <p:nvSpPr>
          <p:cNvPr id="208912" name="Rectangle 16"/>
          <p:cNvSpPr>
            <a:spLocks noChangeArrowheads="1"/>
          </p:cNvSpPr>
          <p:nvPr/>
        </p:nvSpPr>
        <p:spPr bwMode="auto">
          <a:xfrm>
            <a:off x="2413000" y="2820988"/>
            <a:ext cx="6519863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1800"/>
              <a:t>If placed at back of nasal cavity reflects hypothalamic temperature (in theory), although any gas flow will alter this</a:t>
            </a:r>
          </a:p>
        </p:txBody>
      </p:sp>
      <p:sp>
        <p:nvSpPr>
          <p:cNvPr id="208913" name="Rectangle 17"/>
          <p:cNvSpPr>
            <a:spLocks noChangeArrowheads="1"/>
          </p:cNvSpPr>
          <p:nvPr/>
        </p:nvSpPr>
        <p:spPr bwMode="auto">
          <a:xfrm>
            <a:off x="2413000" y="3771900"/>
            <a:ext cx="65198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1800"/>
              <a:t>With normal urine output, represents core temperature</a:t>
            </a:r>
          </a:p>
        </p:txBody>
      </p:sp>
      <p:sp>
        <p:nvSpPr>
          <p:cNvPr id="208914" name="Rectangle 18"/>
          <p:cNvSpPr>
            <a:spLocks noChangeArrowheads="1"/>
          </p:cNvSpPr>
          <p:nvPr/>
        </p:nvSpPr>
        <p:spPr bwMode="auto">
          <a:xfrm>
            <a:off x="2413000" y="4381500"/>
            <a:ext cx="65198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1800"/>
              <a:t>Often slow to respond and may exceed core temperature</a:t>
            </a:r>
          </a:p>
        </p:txBody>
      </p:sp>
      <p:sp>
        <p:nvSpPr>
          <p:cNvPr id="208915" name="Rectangle 19"/>
          <p:cNvSpPr>
            <a:spLocks noChangeArrowheads="1"/>
          </p:cNvSpPr>
          <p:nvPr/>
        </p:nvSpPr>
        <p:spPr bwMode="auto">
          <a:xfrm>
            <a:off x="2413000" y="6134100"/>
            <a:ext cx="65198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1800"/>
              <a:t>Best site for detecting malignant hyperthermia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4584192" cy="4572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Anesthetic Monitoring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11312" y="1423989"/>
            <a:ext cx="5399088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Clinical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Pulseoxymetry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Capnography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Non invasive Blood pressure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ECG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Peripheral nerve stimulators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Volatile / gas analyser &amp; anaesthesia depth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Temperature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Documentation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491868"/>
            <a:ext cx="12954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endParaRPr lang="en-US" sz="22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808" y="1295400"/>
            <a:ext cx="3288792" cy="533400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0070C0"/>
                </a:solidFill>
                <a:effectLst/>
              </a:rPr>
              <a:t>Finally </a:t>
            </a:r>
            <a:endParaRPr 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743200"/>
            <a:ext cx="7943088" cy="3505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There is no substitute for substitute for a trained anesthetist to monitor a patient !!!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438400"/>
            <a:ext cx="8077200" cy="11430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6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end</a:t>
            </a:r>
            <a:endParaRPr lang="en-US" sz="6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5354</TotalTime>
  <Words>1695</Words>
  <Application>Microsoft Office PowerPoint</Application>
  <PresentationFormat>On-screen Show (4:3)</PresentationFormat>
  <Paragraphs>324</Paragraphs>
  <Slides>29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Anesthetic Monitoring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Anesthetic Monitoring </vt:lpstr>
      <vt:lpstr>Slide 18</vt:lpstr>
      <vt:lpstr>Slide 19</vt:lpstr>
      <vt:lpstr>Slide 20</vt:lpstr>
      <vt:lpstr>Monitoring anaesthesia depth clinically</vt:lpstr>
      <vt:lpstr>Most Reliable Signs of Anesthetic Depth initially </vt:lpstr>
      <vt:lpstr>Reliable Signs of Anesthetic Depth </vt:lpstr>
      <vt:lpstr>Less Reliable Signs of Anesthetic Depth</vt:lpstr>
      <vt:lpstr>Slide 25</vt:lpstr>
      <vt:lpstr>Slide 26</vt:lpstr>
      <vt:lpstr>Anesthetic Monitoring </vt:lpstr>
      <vt:lpstr>Finally </vt:lpstr>
      <vt:lpstr>end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wosen</cp:lastModifiedBy>
  <cp:revision>46</cp:revision>
  <dcterms:created xsi:type="dcterms:W3CDTF">2012-08-31T03:19:25Z</dcterms:created>
  <dcterms:modified xsi:type="dcterms:W3CDTF">2015-12-29T09:41:59Z</dcterms:modified>
</cp:coreProperties>
</file>