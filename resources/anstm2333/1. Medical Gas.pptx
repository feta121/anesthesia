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9"/>
  </p:notesMasterIdLst>
  <p:handoutMasterIdLst>
    <p:handoutMasterId r:id="rId70"/>
  </p:handoutMasterIdLst>
  <p:sldIdLst>
    <p:sldId id="331" r:id="rId2"/>
    <p:sldId id="330" r:id="rId3"/>
    <p:sldId id="332" r:id="rId4"/>
    <p:sldId id="266" r:id="rId5"/>
    <p:sldId id="341" r:id="rId6"/>
    <p:sldId id="342" r:id="rId7"/>
    <p:sldId id="343" r:id="rId8"/>
    <p:sldId id="344" r:id="rId9"/>
    <p:sldId id="345" r:id="rId10"/>
    <p:sldId id="346" r:id="rId11"/>
    <p:sldId id="268" r:id="rId12"/>
    <p:sldId id="270" r:id="rId13"/>
    <p:sldId id="339" r:id="rId14"/>
    <p:sldId id="272" r:id="rId15"/>
    <p:sldId id="271" r:id="rId16"/>
    <p:sldId id="347" r:id="rId17"/>
    <p:sldId id="348" r:id="rId18"/>
    <p:sldId id="349" r:id="rId19"/>
    <p:sldId id="356" r:id="rId20"/>
    <p:sldId id="357" r:id="rId21"/>
    <p:sldId id="335" r:id="rId22"/>
    <p:sldId id="358" r:id="rId23"/>
    <p:sldId id="359" r:id="rId24"/>
    <p:sldId id="360" r:id="rId25"/>
    <p:sldId id="361" r:id="rId26"/>
    <p:sldId id="287" r:id="rId27"/>
    <p:sldId id="362" r:id="rId28"/>
    <p:sldId id="363" r:id="rId29"/>
    <p:sldId id="364" r:id="rId30"/>
    <p:sldId id="365" r:id="rId31"/>
    <p:sldId id="366" r:id="rId32"/>
    <p:sldId id="283" r:id="rId33"/>
    <p:sldId id="367" r:id="rId34"/>
    <p:sldId id="350" r:id="rId35"/>
    <p:sldId id="368" r:id="rId36"/>
    <p:sldId id="351" r:id="rId37"/>
    <p:sldId id="355" r:id="rId38"/>
    <p:sldId id="289" r:id="rId39"/>
    <p:sldId id="329" r:id="rId40"/>
    <p:sldId id="290" r:id="rId41"/>
    <p:sldId id="369" r:id="rId42"/>
    <p:sldId id="292" r:id="rId43"/>
    <p:sldId id="293" r:id="rId44"/>
    <p:sldId id="294" r:id="rId45"/>
    <p:sldId id="352" r:id="rId46"/>
    <p:sldId id="296" r:id="rId47"/>
    <p:sldId id="299" r:id="rId48"/>
    <p:sldId id="300" r:id="rId49"/>
    <p:sldId id="370" r:id="rId50"/>
    <p:sldId id="371" r:id="rId51"/>
    <p:sldId id="372" r:id="rId52"/>
    <p:sldId id="302" r:id="rId53"/>
    <p:sldId id="373" r:id="rId54"/>
    <p:sldId id="374" r:id="rId55"/>
    <p:sldId id="375" r:id="rId56"/>
    <p:sldId id="376" r:id="rId57"/>
    <p:sldId id="306" r:id="rId58"/>
    <p:sldId id="307" r:id="rId59"/>
    <p:sldId id="308" r:id="rId60"/>
    <p:sldId id="309" r:id="rId61"/>
    <p:sldId id="377" r:id="rId62"/>
    <p:sldId id="378" r:id="rId63"/>
    <p:sldId id="311" r:id="rId64"/>
    <p:sldId id="312" r:id="rId65"/>
    <p:sldId id="313" r:id="rId66"/>
    <p:sldId id="337" r:id="rId67"/>
    <p:sldId id="340"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 Type="http://schemas.openxmlformats.org/officeDocument/2006/relationships/slide" Target="slides/slide6.xml" /><Relationship Id="rId71"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notesMaster" Target="notesMasters/notesMaster1.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viewProps" Target="viewProp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handoutMaster" Target="handoutMasters/handoutMaster1.xml" /><Relationship Id="rId1" Type="http://schemas.openxmlformats.org/officeDocument/2006/relationships/slideMaster" Target="slideMasters/slideMaster1.xml" /><Relationship Id="rId6" Type="http://schemas.openxmlformats.org/officeDocument/2006/relationships/slide" Target="slides/slide5.xml" /></Relationships>
</file>

<file path=ppt/diagrams/_rels/data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svg" /><Relationship Id="rId1" Type="http://schemas.openxmlformats.org/officeDocument/2006/relationships/image" Target="../media/image2.png"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svg" /></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svg" /><Relationship Id="rId1" Type="http://schemas.openxmlformats.org/officeDocument/2006/relationships/image" Target="../media/image2.png"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sv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29AAD9-1259-4330-82B6-F8110D3FBD7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F4DD05A-1F8E-4F93-8C0E-78B83EDFBAB9}">
      <dgm:prSet/>
      <dgm:spPr/>
      <dgm:t>
        <a:bodyPr/>
        <a:lstStyle/>
        <a:p>
          <a:pPr>
            <a:lnSpc>
              <a:spcPct val="100000"/>
            </a:lnSpc>
          </a:pPr>
          <a:r>
            <a:rPr lang="en-US"/>
            <a:t>Cylinders</a:t>
          </a:r>
        </a:p>
      </dgm:t>
    </dgm:pt>
    <dgm:pt modelId="{350E2B17-34BD-45C2-BD66-3D0891FEDAC4}" type="parTrans" cxnId="{9D70ACB9-5994-435B-A46C-D4E2BF02FDFA}">
      <dgm:prSet/>
      <dgm:spPr/>
      <dgm:t>
        <a:bodyPr/>
        <a:lstStyle/>
        <a:p>
          <a:endParaRPr lang="en-US"/>
        </a:p>
      </dgm:t>
    </dgm:pt>
    <dgm:pt modelId="{414EB8C1-058E-4C1B-90AB-0B15D9194554}" type="sibTrans" cxnId="{9D70ACB9-5994-435B-A46C-D4E2BF02FDFA}">
      <dgm:prSet/>
      <dgm:spPr/>
      <dgm:t>
        <a:bodyPr/>
        <a:lstStyle/>
        <a:p>
          <a:endParaRPr lang="en-US"/>
        </a:p>
      </dgm:t>
    </dgm:pt>
    <dgm:pt modelId="{0AA51DC4-7078-49D0-A2AC-8AEE01D8B669}">
      <dgm:prSet/>
      <dgm:spPr/>
      <dgm:t>
        <a:bodyPr/>
        <a:lstStyle/>
        <a:p>
          <a:pPr>
            <a:lnSpc>
              <a:spcPct val="100000"/>
            </a:lnSpc>
          </a:pPr>
          <a:r>
            <a:rPr lang="en-US"/>
            <a:t>Oxygen piping system and</a:t>
          </a:r>
        </a:p>
      </dgm:t>
    </dgm:pt>
    <dgm:pt modelId="{73569913-EA1B-4A2C-BCB3-D11F59374F3E}" type="parTrans" cxnId="{17601D2E-F2A2-407E-80A7-3828ADDF1823}">
      <dgm:prSet/>
      <dgm:spPr/>
      <dgm:t>
        <a:bodyPr/>
        <a:lstStyle/>
        <a:p>
          <a:endParaRPr lang="en-US"/>
        </a:p>
      </dgm:t>
    </dgm:pt>
    <dgm:pt modelId="{87F47E0A-B487-4C08-9A4C-D0A0107C53B6}" type="sibTrans" cxnId="{17601D2E-F2A2-407E-80A7-3828ADDF1823}">
      <dgm:prSet/>
      <dgm:spPr/>
      <dgm:t>
        <a:bodyPr/>
        <a:lstStyle/>
        <a:p>
          <a:endParaRPr lang="en-US"/>
        </a:p>
      </dgm:t>
    </dgm:pt>
    <dgm:pt modelId="{84DE4C04-B29F-4292-BC2E-A27B3A1C4179}">
      <dgm:prSet/>
      <dgm:spPr/>
      <dgm:t>
        <a:bodyPr/>
        <a:lstStyle/>
        <a:p>
          <a:pPr>
            <a:lnSpc>
              <a:spcPct val="100000"/>
            </a:lnSpc>
          </a:pPr>
          <a:r>
            <a:rPr lang="en-US"/>
            <a:t>Oxygen concentrator</a:t>
          </a:r>
        </a:p>
      </dgm:t>
    </dgm:pt>
    <dgm:pt modelId="{72316A88-1865-49A2-839F-A106C07E7940}" type="parTrans" cxnId="{52364E21-11DE-4C43-A280-8F8DC43903E4}">
      <dgm:prSet/>
      <dgm:spPr/>
      <dgm:t>
        <a:bodyPr/>
        <a:lstStyle/>
        <a:p>
          <a:endParaRPr lang="en-US"/>
        </a:p>
      </dgm:t>
    </dgm:pt>
    <dgm:pt modelId="{88050BED-D8BE-4889-8FF2-E1363FF78FFB}" type="sibTrans" cxnId="{52364E21-11DE-4C43-A280-8F8DC43903E4}">
      <dgm:prSet/>
      <dgm:spPr/>
      <dgm:t>
        <a:bodyPr/>
        <a:lstStyle/>
        <a:p>
          <a:endParaRPr lang="en-US"/>
        </a:p>
      </dgm:t>
    </dgm:pt>
    <dgm:pt modelId="{D770979D-257E-4F03-92DE-4831577E61AD}" type="pres">
      <dgm:prSet presAssocID="{2B29AAD9-1259-4330-82B6-F8110D3FBD7F}" presName="root" presStyleCnt="0">
        <dgm:presLayoutVars>
          <dgm:dir/>
          <dgm:resizeHandles val="exact"/>
        </dgm:presLayoutVars>
      </dgm:prSet>
      <dgm:spPr/>
    </dgm:pt>
    <dgm:pt modelId="{154DDCD2-D872-456A-9E9F-59DA350321DF}" type="pres">
      <dgm:prSet presAssocID="{2F4DD05A-1F8E-4F93-8C0E-78B83EDFBAB9}" presName="compNode" presStyleCnt="0"/>
      <dgm:spPr/>
    </dgm:pt>
    <dgm:pt modelId="{F2053552-2110-4164-9052-DF3209B50451}" type="pres">
      <dgm:prSet presAssocID="{2F4DD05A-1F8E-4F93-8C0E-78B83EDFBAB9}" presName="bgRect" presStyleLbl="bgShp" presStyleIdx="0" presStyleCnt="3"/>
      <dgm:spPr/>
    </dgm:pt>
    <dgm:pt modelId="{5BF65BB3-644C-47B6-9556-2D8A619CC039}" type="pres">
      <dgm:prSet presAssocID="{2F4DD05A-1F8E-4F93-8C0E-78B83EDFBAB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ttle"/>
        </a:ext>
      </dgm:extLst>
    </dgm:pt>
    <dgm:pt modelId="{3289C5F8-130C-4578-B60F-EDDDA16B30D3}" type="pres">
      <dgm:prSet presAssocID="{2F4DD05A-1F8E-4F93-8C0E-78B83EDFBAB9}" presName="spaceRect" presStyleCnt="0"/>
      <dgm:spPr/>
    </dgm:pt>
    <dgm:pt modelId="{D719B111-B0B5-42EB-8698-23AFD4B2BF1E}" type="pres">
      <dgm:prSet presAssocID="{2F4DD05A-1F8E-4F93-8C0E-78B83EDFBAB9}" presName="parTx" presStyleLbl="revTx" presStyleIdx="0" presStyleCnt="3">
        <dgm:presLayoutVars>
          <dgm:chMax val="0"/>
          <dgm:chPref val="0"/>
        </dgm:presLayoutVars>
      </dgm:prSet>
      <dgm:spPr/>
    </dgm:pt>
    <dgm:pt modelId="{CCE245C5-3867-47F8-A456-2244FA158581}" type="pres">
      <dgm:prSet presAssocID="{414EB8C1-058E-4C1B-90AB-0B15D9194554}" presName="sibTrans" presStyleCnt="0"/>
      <dgm:spPr/>
    </dgm:pt>
    <dgm:pt modelId="{C87A8813-65C3-4282-96B4-6F0E87E358AB}" type="pres">
      <dgm:prSet presAssocID="{0AA51DC4-7078-49D0-A2AC-8AEE01D8B669}" presName="compNode" presStyleCnt="0"/>
      <dgm:spPr/>
    </dgm:pt>
    <dgm:pt modelId="{888D9528-57D2-4EE6-8014-A31DEB038F1A}" type="pres">
      <dgm:prSet presAssocID="{0AA51DC4-7078-49D0-A2AC-8AEE01D8B669}" presName="bgRect" presStyleLbl="bgShp" presStyleIdx="1" presStyleCnt="3"/>
      <dgm:spPr/>
    </dgm:pt>
    <dgm:pt modelId="{3B10CDE1-EAC1-4224-9F50-AE57D7F46B55}" type="pres">
      <dgm:prSet presAssocID="{0AA51DC4-7078-49D0-A2AC-8AEE01D8B66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ne Arrow: Straight"/>
        </a:ext>
      </dgm:extLst>
    </dgm:pt>
    <dgm:pt modelId="{AC9EE2D4-5B64-4C87-82CE-BCB730E7595C}" type="pres">
      <dgm:prSet presAssocID="{0AA51DC4-7078-49D0-A2AC-8AEE01D8B669}" presName="spaceRect" presStyleCnt="0"/>
      <dgm:spPr/>
    </dgm:pt>
    <dgm:pt modelId="{4CCE4CDA-6EB7-4262-B3F2-6A016A969BED}" type="pres">
      <dgm:prSet presAssocID="{0AA51DC4-7078-49D0-A2AC-8AEE01D8B669}" presName="parTx" presStyleLbl="revTx" presStyleIdx="1" presStyleCnt="3">
        <dgm:presLayoutVars>
          <dgm:chMax val="0"/>
          <dgm:chPref val="0"/>
        </dgm:presLayoutVars>
      </dgm:prSet>
      <dgm:spPr/>
    </dgm:pt>
    <dgm:pt modelId="{C0DAAA40-D8DC-4ED4-8538-129CD20E9160}" type="pres">
      <dgm:prSet presAssocID="{87F47E0A-B487-4C08-9A4C-D0A0107C53B6}" presName="sibTrans" presStyleCnt="0"/>
      <dgm:spPr/>
    </dgm:pt>
    <dgm:pt modelId="{6C99BD50-11DB-4415-BDF5-4FFE409BE6D3}" type="pres">
      <dgm:prSet presAssocID="{84DE4C04-B29F-4292-BC2E-A27B3A1C4179}" presName="compNode" presStyleCnt="0"/>
      <dgm:spPr/>
    </dgm:pt>
    <dgm:pt modelId="{32F12D80-A4A5-44B2-B3E3-2AFD979FD449}" type="pres">
      <dgm:prSet presAssocID="{84DE4C04-B29F-4292-BC2E-A27B3A1C4179}" presName="bgRect" presStyleLbl="bgShp" presStyleIdx="2" presStyleCnt="3"/>
      <dgm:spPr/>
    </dgm:pt>
    <dgm:pt modelId="{E7089ACB-0D4C-480C-A21F-3B05D767B41B}" type="pres">
      <dgm:prSet presAssocID="{84DE4C04-B29F-4292-BC2E-A27B3A1C417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rrow: Slight curve"/>
        </a:ext>
      </dgm:extLst>
    </dgm:pt>
    <dgm:pt modelId="{C5104D52-65FE-47E5-950F-0931D9D8251D}" type="pres">
      <dgm:prSet presAssocID="{84DE4C04-B29F-4292-BC2E-A27B3A1C4179}" presName="spaceRect" presStyleCnt="0"/>
      <dgm:spPr/>
    </dgm:pt>
    <dgm:pt modelId="{813BA023-BF17-4E27-8A44-A460AFAD1D1C}" type="pres">
      <dgm:prSet presAssocID="{84DE4C04-B29F-4292-BC2E-A27B3A1C4179}" presName="parTx" presStyleLbl="revTx" presStyleIdx="2" presStyleCnt="3">
        <dgm:presLayoutVars>
          <dgm:chMax val="0"/>
          <dgm:chPref val="0"/>
        </dgm:presLayoutVars>
      </dgm:prSet>
      <dgm:spPr/>
    </dgm:pt>
  </dgm:ptLst>
  <dgm:cxnLst>
    <dgm:cxn modelId="{52364E21-11DE-4C43-A280-8F8DC43903E4}" srcId="{2B29AAD9-1259-4330-82B6-F8110D3FBD7F}" destId="{84DE4C04-B29F-4292-BC2E-A27B3A1C4179}" srcOrd="2" destOrd="0" parTransId="{72316A88-1865-49A2-839F-A106C07E7940}" sibTransId="{88050BED-D8BE-4889-8FF2-E1363FF78FFB}"/>
    <dgm:cxn modelId="{17601D2E-F2A2-407E-80A7-3828ADDF1823}" srcId="{2B29AAD9-1259-4330-82B6-F8110D3FBD7F}" destId="{0AA51DC4-7078-49D0-A2AC-8AEE01D8B669}" srcOrd="1" destOrd="0" parTransId="{73569913-EA1B-4A2C-BCB3-D11F59374F3E}" sibTransId="{87F47E0A-B487-4C08-9A4C-D0A0107C53B6}"/>
    <dgm:cxn modelId="{6D9BB23E-92B3-468C-950A-C388A9F824CF}" type="presOf" srcId="{2B29AAD9-1259-4330-82B6-F8110D3FBD7F}" destId="{D770979D-257E-4F03-92DE-4831577E61AD}" srcOrd="0" destOrd="0" presId="urn:microsoft.com/office/officeart/2018/2/layout/IconVerticalSolidList"/>
    <dgm:cxn modelId="{F7E91E6F-1816-40EB-B277-258DC8794E0A}" type="presOf" srcId="{84DE4C04-B29F-4292-BC2E-A27B3A1C4179}" destId="{813BA023-BF17-4E27-8A44-A460AFAD1D1C}" srcOrd="0" destOrd="0" presId="urn:microsoft.com/office/officeart/2018/2/layout/IconVerticalSolidList"/>
    <dgm:cxn modelId="{B493BEA4-BAA4-48CD-8B9A-FDD9DC1681B4}" type="presOf" srcId="{0AA51DC4-7078-49D0-A2AC-8AEE01D8B669}" destId="{4CCE4CDA-6EB7-4262-B3F2-6A016A969BED}" srcOrd="0" destOrd="0" presId="urn:microsoft.com/office/officeart/2018/2/layout/IconVerticalSolidList"/>
    <dgm:cxn modelId="{9D70ACB9-5994-435B-A46C-D4E2BF02FDFA}" srcId="{2B29AAD9-1259-4330-82B6-F8110D3FBD7F}" destId="{2F4DD05A-1F8E-4F93-8C0E-78B83EDFBAB9}" srcOrd="0" destOrd="0" parTransId="{350E2B17-34BD-45C2-BD66-3D0891FEDAC4}" sibTransId="{414EB8C1-058E-4C1B-90AB-0B15D9194554}"/>
    <dgm:cxn modelId="{CDF63ED6-C305-4767-8A78-BAD10F573879}" type="presOf" srcId="{2F4DD05A-1F8E-4F93-8C0E-78B83EDFBAB9}" destId="{D719B111-B0B5-42EB-8698-23AFD4B2BF1E}" srcOrd="0" destOrd="0" presId="urn:microsoft.com/office/officeart/2018/2/layout/IconVerticalSolidList"/>
    <dgm:cxn modelId="{5F559BFB-608F-49CC-968A-4FD86F8AE56D}" type="presParOf" srcId="{D770979D-257E-4F03-92DE-4831577E61AD}" destId="{154DDCD2-D872-456A-9E9F-59DA350321DF}" srcOrd="0" destOrd="0" presId="urn:microsoft.com/office/officeart/2018/2/layout/IconVerticalSolidList"/>
    <dgm:cxn modelId="{7D42FE40-1FB6-41C9-BEA3-136D5C6E5EBA}" type="presParOf" srcId="{154DDCD2-D872-456A-9E9F-59DA350321DF}" destId="{F2053552-2110-4164-9052-DF3209B50451}" srcOrd="0" destOrd="0" presId="urn:microsoft.com/office/officeart/2018/2/layout/IconVerticalSolidList"/>
    <dgm:cxn modelId="{57D2AADC-6104-491B-84C0-092698649500}" type="presParOf" srcId="{154DDCD2-D872-456A-9E9F-59DA350321DF}" destId="{5BF65BB3-644C-47B6-9556-2D8A619CC039}" srcOrd="1" destOrd="0" presId="urn:microsoft.com/office/officeart/2018/2/layout/IconVerticalSolidList"/>
    <dgm:cxn modelId="{F9FEEA79-AD71-4578-AF56-EF21435711A8}" type="presParOf" srcId="{154DDCD2-D872-456A-9E9F-59DA350321DF}" destId="{3289C5F8-130C-4578-B60F-EDDDA16B30D3}" srcOrd="2" destOrd="0" presId="urn:microsoft.com/office/officeart/2018/2/layout/IconVerticalSolidList"/>
    <dgm:cxn modelId="{AB928710-5135-463B-B42A-305E824C7C81}" type="presParOf" srcId="{154DDCD2-D872-456A-9E9F-59DA350321DF}" destId="{D719B111-B0B5-42EB-8698-23AFD4B2BF1E}" srcOrd="3" destOrd="0" presId="urn:microsoft.com/office/officeart/2018/2/layout/IconVerticalSolidList"/>
    <dgm:cxn modelId="{8C343E75-A4EB-4214-AC7D-93F370D9CE16}" type="presParOf" srcId="{D770979D-257E-4F03-92DE-4831577E61AD}" destId="{CCE245C5-3867-47F8-A456-2244FA158581}" srcOrd="1" destOrd="0" presId="urn:microsoft.com/office/officeart/2018/2/layout/IconVerticalSolidList"/>
    <dgm:cxn modelId="{D5118408-A4AF-451F-AB0D-13B346CDA46C}" type="presParOf" srcId="{D770979D-257E-4F03-92DE-4831577E61AD}" destId="{C87A8813-65C3-4282-96B4-6F0E87E358AB}" srcOrd="2" destOrd="0" presId="urn:microsoft.com/office/officeart/2018/2/layout/IconVerticalSolidList"/>
    <dgm:cxn modelId="{BA17BC87-23E7-449A-826D-34AED11BC50D}" type="presParOf" srcId="{C87A8813-65C3-4282-96B4-6F0E87E358AB}" destId="{888D9528-57D2-4EE6-8014-A31DEB038F1A}" srcOrd="0" destOrd="0" presId="urn:microsoft.com/office/officeart/2018/2/layout/IconVerticalSolidList"/>
    <dgm:cxn modelId="{4248A70E-435C-4EDE-B95F-16C7A660C778}" type="presParOf" srcId="{C87A8813-65C3-4282-96B4-6F0E87E358AB}" destId="{3B10CDE1-EAC1-4224-9F50-AE57D7F46B55}" srcOrd="1" destOrd="0" presId="urn:microsoft.com/office/officeart/2018/2/layout/IconVerticalSolidList"/>
    <dgm:cxn modelId="{46A48536-AF24-42BF-9402-21E52317E20C}" type="presParOf" srcId="{C87A8813-65C3-4282-96B4-6F0E87E358AB}" destId="{AC9EE2D4-5B64-4C87-82CE-BCB730E7595C}" srcOrd="2" destOrd="0" presId="urn:microsoft.com/office/officeart/2018/2/layout/IconVerticalSolidList"/>
    <dgm:cxn modelId="{9F584743-5141-49F1-9B91-EF6BC0373F89}" type="presParOf" srcId="{C87A8813-65C3-4282-96B4-6F0E87E358AB}" destId="{4CCE4CDA-6EB7-4262-B3F2-6A016A969BED}" srcOrd="3" destOrd="0" presId="urn:microsoft.com/office/officeart/2018/2/layout/IconVerticalSolidList"/>
    <dgm:cxn modelId="{93178754-CEAE-4545-8C18-D1522F172FFB}" type="presParOf" srcId="{D770979D-257E-4F03-92DE-4831577E61AD}" destId="{C0DAAA40-D8DC-4ED4-8538-129CD20E9160}" srcOrd="3" destOrd="0" presId="urn:microsoft.com/office/officeart/2018/2/layout/IconVerticalSolidList"/>
    <dgm:cxn modelId="{10A3ABF4-EA42-4DDB-8B1B-70EFEA9450E4}" type="presParOf" srcId="{D770979D-257E-4F03-92DE-4831577E61AD}" destId="{6C99BD50-11DB-4415-BDF5-4FFE409BE6D3}" srcOrd="4" destOrd="0" presId="urn:microsoft.com/office/officeart/2018/2/layout/IconVerticalSolidList"/>
    <dgm:cxn modelId="{C07CD1DE-1D16-45F5-ADED-19F06F0D0B26}" type="presParOf" srcId="{6C99BD50-11DB-4415-BDF5-4FFE409BE6D3}" destId="{32F12D80-A4A5-44B2-B3E3-2AFD979FD449}" srcOrd="0" destOrd="0" presId="urn:microsoft.com/office/officeart/2018/2/layout/IconVerticalSolidList"/>
    <dgm:cxn modelId="{D2E94AD1-9360-4B14-BFCF-8F244CC132D1}" type="presParOf" srcId="{6C99BD50-11DB-4415-BDF5-4FFE409BE6D3}" destId="{E7089ACB-0D4C-480C-A21F-3B05D767B41B}" srcOrd="1" destOrd="0" presId="urn:microsoft.com/office/officeart/2018/2/layout/IconVerticalSolidList"/>
    <dgm:cxn modelId="{04FF6A0E-7DF2-47FF-AA53-51C6A2AE8A5D}" type="presParOf" srcId="{6C99BD50-11DB-4415-BDF5-4FFE409BE6D3}" destId="{C5104D52-65FE-47E5-950F-0931D9D8251D}" srcOrd="2" destOrd="0" presId="urn:microsoft.com/office/officeart/2018/2/layout/IconVerticalSolidList"/>
    <dgm:cxn modelId="{1250714A-99F4-40F6-80BB-128C34426BB3}" type="presParOf" srcId="{6C99BD50-11DB-4415-BDF5-4FFE409BE6D3}" destId="{813BA023-BF17-4E27-8A44-A460AFAD1D1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53552-2110-4164-9052-DF3209B50451}">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F65BB3-644C-47B6-9556-2D8A619CC03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19B111-B0B5-42EB-8698-23AFD4B2BF1E}">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Cylinders</a:t>
          </a:r>
        </a:p>
      </dsp:txBody>
      <dsp:txXfrm>
        <a:off x="1435590" y="531"/>
        <a:ext cx="6451109" cy="1242935"/>
      </dsp:txXfrm>
    </dsp:sp>
    <dsp:sp modelId="{888D9528-57D2-4EE6-8014-A31DEB038F1A}">
      <dsp:nvSpPr>
        <dsp:cNvPr id="0" name=""/>
        <dsp:cNvSpPr/>
      </dsp:nvSpPr>
      <dsp:spPr>
        <a:xfrm>
          <a:off x="0" y="155420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10CDE1-EAC1-4224-9F50-AE57D7F46B55}">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CE4CDA-6EB7-4262-B3F2-6A016A969BED}">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Oxygen piping system and</a:t>
          </a:r>
        </a:p>
      </dsp:txBody>
      <dsp:txXfrm>
        <a:off x="1435590" y="1554201"/>
        <a:ext cx="6451109" cy="1242935"/>
      </dsp:txXfrm>
    </dsp:sp>
    <dsp:sp modelId="{32F12D80-A4A5-44B2-B3E3-2AFD979FD449}">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089ACB-0D4C-480C-A21F-3B05D767B41B}">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3BA023-BF17-4E27-8A44-A460AFAD1D1C}">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Oxygen concentrator</a:t>
          </a:r>
        </a:p>
      </dsp:txBody>
      <dsp:txXfrm>
        <a:off x="1435590" y="3107870"/>
        <a:ext cx="64511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96C4D40-7D64-43C9-B515-D37F08D21A1A}" type="datetimeFigureOut">
              <a:rPr lang="en-US" smtClean="0"/>
              <a:pPr/>
              <a:t>5/9/2023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CC2904-FBB5-4BDB-8D1C-A35FE48591EA}"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7A0E7D-2160-4BCC-8C3C-E4AE78063E0D}" type="datetimeFigureOut">
              <a:rPr lang="en-US" smtClean="0"/>
              <a:pPr/>
              <a:t>5/9/2023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1B7017-8788-4AF7-B4A6-846CFC5D24B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5BE16E6-5F7D-48BB-841C-6DAEEF22266B}"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26</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27</a:t>
            </a:fld>
            <a:endParaRPr lang="en-US"/>
          </a:p>
        </p:txBody>
      </p:sp>
    </p:spTree>
    <p:extLst>
      <p:ext uri="{BB962C8B-B14F-4D97-AF65-F5344CB8AC3E}">
        <p14:creationId xmlns:p14="http://schemas.microsoft.com/office/powerpoint/2010/main" val="1884152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28</a:t>
            </a:fld>
            <a:endParaRPr lang="en-US"/>
          </a:p>
        </p:txBody>
      </p:sp>
    </p:spTree>
    <p:extLst>
      <p:ext uri="{BB962C8B-B14F-4D97-AF65-F5344CB8AC3E}">
        <p14:creationId xmlns:p14="http://schemas.microsoft.com/office/powerpoint/2010/main" val="3158221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29</a:t>
            </a:fld>
            <a:endParaRPr lang="en-US"/>
          </a:p>
        </p:txBody>
      </p:sp>
    </p:spTree>
    <p:extLst>
      <p:ext uri="{BB962C8B-B14F-4D97-AF65-F5344CB8AC3E}">
        <p14:creationId xmlns:p14="http://schemas.microsoft.com/office/powerpoint/2010/main" val="1424425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30</a:t>
            </a:fld>
            <a:endParaRPr lang="en-US"/>
          </a:p>
        </p:txBody>
      </p:sp>
    </p:spTree>
    <p:extLst>
      <p:ext uri="{BB962C8B-B14F-4D97-AF65-F5344CB8AC3E}">
        <p14:creationId xmlns:p14="http://schemas.microsoft.com/office/powerpoint/2010/main" val="197558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31</a:t>
            </a:fld>
            <a:endParaRPr lang="en-US"/>
          </a:p>
        </p:txBody>
      </p:sp>
    </p:spTree>
    <p:extLst>
      <p:ext uri="{BB962C8B-B14F-4D97-AF65-F5344CB8AC3E}">
        <p14:creationId xmlns:p14="http://schemas.microsoft.com/office/powerpoint/2010/main" val="2659120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32</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33</a:t>
            </a:fld>
            <a:endParaRPr lang="en-US"/>
          </a:p>
        </p:txBody>
      </p:sp>
    </p:spTree>
    <p:extLst>
      <p:ext uri="{BB962C8B-B14F-4D97-AF65-F5344CB8AC3E}">
        <p14:creationId xmlns:p14="http://schemas.microsoft.com/office/powerpoint/2010/main" val="553177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35</a:t>
            </a:fld>
            <a:endParaRPr lang="en-US"/>
          </a:p>
        </p:txBody>
      </p:sp>
    </p:spTree>
    <p:extLst>
      <p:ext uri="{BB962C8B-B14F-4D97-AF65-F5344CB8AC3E}">
        <p14:creationId xmlns:p14="http://schemas.microsoft.com/office/powerpoint/2010/main" val="314896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38</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39</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41</a:t>
            </a:fld>
            <a:endParaRPr lang="en-US"/>
          </a:p>
        </p:txBody>
      </p:sp>
    </p:spTree>
    <p:extLst>
      <p:ext uri="{BB962C8B-B14F-4D97-AF65-F5344CB8AC3E}">
        <p14:creationId xmlns:p14="http://schemas.microsoft.com/office/powerpoint/2010/main" val="3436336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42</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43</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44</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47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2. They may contain combustible material</a:t>
            </a:r>
          </a:p>
        </p:txBody>
      </p:sp>
      <p:sp>
        <p:nvSpPr>
          <p:cNvPr id="4" name="Slide Number Placeholder 3"/>
          <p:cNvSpPr>
            <a:spLocks noGrp="1"/>
          </p:cNvSpPr>
          <p:nvPr>
            <p:ph type="sldNum" sz="quarter" idx="10"/>
          </p:nvPr>
        </p:nvSpPr>
        <p:spPr/>
        <p:txBody>
          <a:bodyPr/>
          <a:lstStyle/>
          <a:p>
            <a:fld id="{871B7017-8788-4AF7-B4A6-846CFC5D24BF}" type="slidenum">
              <a:rPr lang="en-US" smtClean="0"/>
              <a:pPr/>
              <a:t>48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52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57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58</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59</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60</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63</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64</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65</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1B7017-8788-4AF7-B4A6-846CFC5D24BF}" type="slidenum">
              <a:rPr lang="en-US" smtClean="0"/>
              <a:pPr/>
              <a:t>66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2690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1503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67367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83466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08324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60664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76173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7001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67067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7306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69574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5/9/2023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04753895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3.xml" /><Relationship Id="rId1" Type="http://schemas.openxmlformats.org/officeDocument/2006/relationships/slideLayout" Target="../slideLayouts/slideLayout1.xml" /><Relationship Id="rId5" Type="http://schemas.openxmlformats.org/officeDocument/2006/relationships/hyperlink" Target="https://creativecommons.org/licenses/by-sa/3.0/" TargetMode="External" /><Relationship Id="rId4" Type="http://schemas.openxmlformats.org/officeDocument/2006/relationships/hyperlink" Target="https://www.flickr.com/photos/huategas/7294032074" TargetMode="Externa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6.xml" /><Relationship Id="rId1" Type="http://schemas.openxmlformats.org/officeDocument/2006/relationships/slideLayout" Target="../slideLayouts/slideLayout2.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hyperlink" Target="http://emssolutionsint.blogspot.com/2011/01/cuanto-durara-el-o2-dependiendo-del.html" TargetMode="External" /><Relationship Id="rId2" Type="http://schemas.openxmlformats.org/officeDocument/2006/relationships/image" Target="../media/image9.jpeg" /><Relationship Id="rId1" Type="http://schemas.openxmlformats.org/officeDocument/2006/relationships/slideLayout" Target="../slideLayouts/slideLayout2.xml" /><Relationship Id="rId4" Type="http://schemas.openxmlformats.org/officeDocument/2006/relationships/hyperlink" Target="https://creativecommons.org/licenses/by-nc-nd/3.0/" TargetMode="External" /></Relationships>
</file>

<file path=ppt/slides/_rels/slide17.xml.rels><?xml version="1.0" encoding="UTF-8" standalone="yes"?>
<Relationships xmlns="http://schemas.openxmlformats.org/package/2006/relationships"><Relationship Id="rId3" Type="http://schemas.openxmlformats.org/officeDocument/2006/relationships/hyperlink" Target="https://commons.wikimedia.org/wiki/File:RECALLED_%E2%80%93_Portable_oxygen_cylinder_units_(8294127015).jpg" TargetMode="External" /><Relationship Id="rId2" Type="http://schemas.openxmlformats.org/officeDocument/2006/relationships/image" Target="../media/image10.jpeg" /><Relationship Id="rId1" Type="http://schemas.openxmlformats.org/officeDocument/2006/relationships/slideLayout" Target="../slideLayouts/slideLayout2.xml" /><Relationship Id="rId4" Type="http://schemas.openxmlformats.org/officeDocument/2006/relationships/hyperlink" Target="https://creativecommons.org/licenses/by-sa/3.0/" TargetMode="External" /></Relationships>
</file>

<file path=ppt/slides/_rels/slide18.xml.rels><?xml version="1.0" encoding="UTF-8" standalone="yes"?>
<Relationships xmlns="http://schemas.openxmlformats.org/package/2006/relationships"><Relationship Id="rId3" Type="http://schemas.openxmlformats.org/officeDocument/2006/relationships/hyperlink" Target="https://www.shroomery.org/forums/showflat.php/Number/6484736" TargetMode="External" /><Relationship Id="rId2" Type="http://schemas.openxmlformats.org/officeDocument/2006/relationships/image" Target="../media/image11.jpeg" /><Relationship Id="rId1" Type="http://schemas.openxmlformats.org/officeDocument/2006/relationships/slideLayout" Target="../slideLayouts/slideLayout2.xml" /><Relationship Id="rId4" Type="http://schemas.openxmlformats.org/officeDocument/2006/relationships/hyperlink" Target="https://creativecommons.org/licenses/by-nc-sa/3.0/" TargetMode="External" /></Relationships>
</file>

<file path=ppt/slides/_rels/slide19.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9.xml" /><Relationship Id="rId1" Type="http://schemas.openxmlformats.org/officeDocument/2006/relationships/slideLayout" Target="../slideLayouts/slideLayout2.xml" /><Relationship Id="rId4" Type="http://schemas.openxmlformats.org/officeDocument/2006/relationships/image" Target="../media/image15.png" /></Relationships>
</file>

<file path=ppt/slides/_rels/slide22.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18.jpeg" /><Relationship Id="rId2" Type="http://schemas.openxmlformats.org/officeDocument/2006/relationships/notesSlide" Target="../notesSlides/notesSlide10.xml" /><Relationship Id="rId1" Type="http://schemas.openxmlformats.org/officeDocument/2006/relationships/slideLayout" Target="../slideLayouts/slideLayout4.xml" /></Relationships>
</file>

<file path=ppt/slides/_rels/slide27.xml.rels><?xml version="1.0" encoding="UTF-8" standalone="yes"?>
<Relationships xmlns="http://schemas.openxmlformats.org/package/2006/relationships"><Relationship Id="rId3" Type="http://schemas.openxmlformats.org/officeDocument/2006/relationships/image" Target="../media/image19.jpeg" /><Relationship Id="rId2" Type="http://schemas.openxmlformats.org/officeDocument/2006/relationships/notesSlide" Target="../notesSlides/notesSlide11.xml" /><Relationship Id="rId1" Type="http://schemas.openxmlformats.org/officeDocument/2006/relationships/slideLayout" Target="../slideLayouts/slideLayout4.xml" /></Relationships>
</file>

<file path=ppt/slides/_rels/slide28.xml.rels><?xml version="1.0" encoding="UTF-8" standalone="yes"?>
<Relationships xmlns="http://schemas.openxmlformats.org/package/2006/relationships"><Relationship Id="rId3" Type="http://schemas.openxmlformats.org/officeDocument/2006/relationships/image" Target="../media/image20.jpeg" /><Relationship Id="rId2" Type="http://schemas.openxmlformats.org/officeDocument/2006/relationships/notesSlide" Target="../notesSlides/notesSlide12.xml" /><Relationship Id="rId1" Type="http://schemas.openxmlformats.org/officeDocument/2006/relationships/slideLayout" Target="../slideLayouts/slideLayout4.xml" /></Relationships>
</file>

<file path=ppt/slides/_rels/slide29.xml.rels><?xml version="1.0" encoding="UTF-8" standalone="yes"?>
<Relationships xmlns="http://schemas.openxmlformats.org/package/2006/relationships"><Relationship Id="rId3" Type="http://schemas.openxmlformats.org/officeDocument/2006/relationships/image" Target="../media/image21.jpeg" /><Relationship Id="rId2" Type="http://schemas.openxmlformats.org/officeDocument/2006/relationships/notesSlide" Target="../notesSlides/notesSlide13.xml" /><Relationship Id="rId1" Type="http://schemas.openxmlformats.org/officeDocument/2006/relationships/slideLayout" Target="../slideLayouts/slideLayout4.xml" /></Relationships>
</file>

<file path=ppt/slides/_rels/slide30.xml.rels><?xml version="1.0" encoding="UTF-8" standalone="yes"?>
<Relationships xmlns="http://schemas.openxmlformats.org/package/2006/relationships"><Relationship Id="rId3" Type="http://schemas.openxmlformats.org/officeDocument/2006/relationships/image" Target="../media/image22.jpeg" /><Relationship Id="rId2" Type="http://schemas.openxmlformats.org/officeDocument/2006/relationships/notesSlide" Target="../notesSlides/notesSlide14.xml" /><Relationship Id="rId1" Type="http://schemas.openxmlformats.org/officeDocument/2006/relationships/slideLayout" Target="../slideLayouts/slideLayout4.xml" /></Relationships>
</file>

<file path=ppt/slides/_rels/slide31.xml.rels><?xml version="1.0" encoding="UTF-8" standalone="yes"?>
<Relationships xmlns="http://schemas.openxmlformats.org/package/2006/relationships"><Relationship Id="rId3" Type="http://schemas.openxmlformats.org/officeDocument/2006/relationships/image" Target="../media/image21.jpeg" /><Relationship Id="rId2" Type="http://schemas.openxmlformats.org/officeDocument/2006/relationships/notesSlide" Target="../notesSlides/notesSlide15.xml" /><Relationship Id="rId1" Type="http://schemas.openxmlformats.org/officeDocument/2006/relationships/slideLayout" Target="../slideLayouts/slideLayout4.xml" /><Relationship Id="rId4" Type="http://schemas.openxmlformats.org/officeDocument/2006/relationships/image" Target="../media/image23.jpeg" /></Relationships>
</file>

<file path=ppt/slides/_rels/slide32.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16.xml" /><Relationship Id="rId1" Type="http://schemas.openxmlformats.org/officeDocument/2006/relationships/slideLayout" Target="../slideLayouts/slideLayout4.xml" /></Relationships>
</file>

<file path=ppt/slides/_rels/slide33.xml.rels><?xml version="1.0" encoding="UTF-8" standalone="yes"?>
<Relationships xmlns="http://schemas.openxmlformats.org/package/2006/relationships"><Relationship Id="rId3" Type="http://schemas.openxmlformats.org/officeDocument/2006/relationships/image" Target="../media/image25.jpeg" /><Relationship Id="rId2" Type="http://schemas.openxmlformats.org/officeDocument/2006/relationships/notesSlide" Target="../notesSlides/notesSlide17.xml" /><Relationship Id="rId1" Type="http://schemas.openxmlformats.org/officeDocument/2006/relationships/slideLayout" Target="../slideLayouts/slideLayout4.xml" /></Relationships>
</file>

<file path=ppt/slides/_rels/slide34.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4.xml" /></Relationships>
</file>

<file path=ppt/slides/_rels/slide35.xml.rels><?xml version="1.0" encoding="UTF-8" standalone="yes"?>
<Relationships xmlns="http://schemas.openxmlformats.org/package/2006/relationships"><Relationship Id="rId3" Type="http://schemas.openxmlformats.org/officeDocument/2006/relationships/image" Target="../media/image27.jpeg" /><Relationship Id="rId2" Type="http://schemas.openxmlformats.org/officeDocument/2006/relationships/notesSlide" Target="../notesSlides/notesSlide18.xml" /><Relationship Id="rId1" Type="http://schemas.openxmlformats.org/officeDocument/2006/relationships/slideLayout" Target="../slideLayouts/slideLayout4.xml" /></Relationships>
</file>

<file path=ppt/slides/_rels/slide36.xml.rels><?xml version="1.0" encoding="UTF-8" standalone="yes"?>
<Relationships xmlns="http://schemas.openxmlformats.org/package/2006/relationships"><Relationship Id="rId2" Type="http://schemas.openxmlformats.org/officeDocument/2006/relationships/image" Target="../media/image28.gif"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29.pn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image" Target="../media/image30.jpeg" /><Relationship Id="rId2" Type="http://schemas.openxmlformats.org/officeDocument/2006/relationships/notesSlide" Target="../notesSlides/notesSlide20.xml" /><Relationship Id="rId1" Type="http://schemas.openxmlformats.org/officeDocument/2006/relationships/slideLayout" Target="../slideLayouts/slideLayout6.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4.xml" /></Relationships>
</file>

<file path=ppt/slides/_rels/slide41.xml.rels><?xml version="1.0" encoding="UTF-8" standalone="yes"?>
<Relationships xmlns="http://schemas.openxmlformats.org/package/2006/relationships"><Relationship Id="rId3" Type="http://schemas.openxmlformats.org/officeDocument/2006/relationships/image" Target="../media/image27.jpeg" /><Relationship Id="rId2" Type="http://schemas.openxmlformats.org/officeDocument/2006/relationships/notesSlide" Target="../notesSlides/notesSlide22.xml" /><Relationship Id="rId1" Type="http://schemas.openxmlformats.org/officeDocument/2006/relationships/slideLayout" Target="../slideLayouts/slideLayout4.xml" /></Relationships>
</file>

<file path=ppt/slides/_rels/slide42.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notesSlide" Target="../notesSlides/notesSlide23.xml"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32.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4.xml" /></Relationships>
</file>

<file path=ppt/slides/_rels/slide47.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notesSlide" Target="../notesSlides/notesSlide27.xml" /><Relationship Id="rId1" Type="http://schemas.openxmlformats.org/officeDocument/2006/relationships/slideLayout" Target="../slideLayouts/slideLayout4.xml" /></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image" Target="../media/image34.jpeg" /><Relationship Id="rId2" Type="http://schemas.openxmlformats.org/officeDocument/2006/relationships/notesSlide" Target="../notesSlides/notesSlide29.xml" /><Relationship Id="rId1" Type="http://schemas.openxmlformats.org/officeDocument/2006/relationships/slideLayout" Target="../slideLayouts/slideLayout2.xml" /><Relationship Id="rId4" Type="http://schemas.openxmlformats.org/officeDocument/2006/relationships/image" Target="../media/image35.jpeg" /></Relationships>
</file>

<file path=ppt/slides/_rels/slide53.xml.rels><?xml version="1.0" encoding="UTF-8" standalone="yes"?>
<Relationships xmlns="http://schemas.openxmlformats.org/package/2006/relationships"><Relationship Id="rId2" Type="http://schemas.openxmlformats.org/officeDocument/2006/relationships/image" Target="../media/image36.jpe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2" Type="http://schemas.openxmlformats.org/officeDocument/2006/relationships/image" Target="../media/image37.jpeg"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37.jpe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37.jpeg"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38.jpe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image" Target="../media/image38.jpe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34.xml" /><Relationship Id="rId1" Type="http://schemas.openxmlformats.org/officeDocument/2006/relationships/slideLayout" Target="../slideLayouts/slideLayout4.xml" /></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2" Type="http://schemas.openxmlformats.org/officeDocument/2006/relationships/image" Target="../media/image40.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Anesthesia Monitoring and Equipment</a:t>
            </a:r>
          </a:p>
        </p:txBody>
      </p:sp>
      <p:sp>
        <p:nvSpPr>
          <p:cNvPr id="7" name="Subtitle 6"/>
          <p:cNvSpPr>
            <a:spLocks noGrp="1"/>
          </p:cNvSpPr>
          <p:nvPr>
            <p:ph type="subTitle" idx="1"/>
          </p:nvPr>
        </p:nvSpPr>
        <p:spPr>
          <a:xfrm>
            <a:off x="1371600" y="3886200"/>
            <a:ext cx="7029450" cy="1752600"/>
          </a:xfrm>
        </p:spPr>
        <p:txBody>
          <a:bodyPr>
            <a:normAutofit lnSpcReduction="10000"/>
          </a:bodyPr>
          <a:lstStyle/>
          <a:p>
            <a:pPr lvl="0" algn="r">
              <a:spcBef>
                <a:spcPct val="0"/>
              </a:spcBef>
              <a:defRPr/>
            </a:pPr>
            <a:endParaRPr lang="en-US">
              <a:solidFill>
                <a:schemeClr val="bg1">
                  <a:lumMod val="50000"/>
                </a:schemeClr>
              </a:solidFill>
            </a:endParaRPr>
          </a:p>
          <a:p>
            <a:pPr lvl="0" algn="r">
              <a:spcBef>
                <a:spcPct val="0"/>
              </a:spcBef>
              <a:defRPr/>
            </a:pPr>
            <a:endParaRPr lang="en-US" sz="2800">
              <a:solidFill>
                <a:schemeClr val="bg1">
                  <a:lumMod val="50000"/>
                </a:schemeClr>
              </a:solidFill>
            </a:endParaRPr>
          </a:p>
          <a:p>
            <a:pPr lvl="0" algn="r">
              <a:spcBef>
                <a:spcPct val="0"/>
              </a:spcBef>
              <a:defRPr/>
            </a:pPr>
            <a:r>
              <a:rPr lang="en-US" sz="2800">
                <a:solidFill>
                  <a:schemeClr val="bg1">
                    <a:lumMod val="50000"/>
                  </a:schemeClr>
                </a:solidFill>
              </a:rPr>
              <a:t>Wosenyeleh A. (BSc, Msc)</a:t>
            </a:r>
          </a:p>
          <a:p>
            <a:pPr lvl="0" algn="r">
              <a:spcBef>
                <a:spcPct val="0"/>
              </a:spcBef>
              <a:defRPr/>
            </a:pPr>
            <a:r>
              <a:rPr lang="en-US" sz="2800">
                <a:solidFill>
                  <a:schemeClr val="bg1">
                    <a:lumMod val="50000"/>
                  </a:schemeClr>
                </a:solidFill>
              </a:rPr>
              <a:t>AAU, Department Of Anaesthesia</a:t>
            </a:r>
          </a:p>
          <a:p>
            <a:endParaRPr lang="en-US"/>
          </a:p>
        </p:txBody>
      </p:sp>
      <p:sp>
        <p:nvSpPr>
          <p:cNvPr id="4" name="Title 1"/>
          <p:cNvSpPr txBox="1">
            <a:spLocks/>
          </p:cNvSpPr>
          <p:nvPr/>
        </p:nvSpPr>
        <p:spPr>
          <a:xfrm>
            <a:off x="3627120" y="5334000"/>
            <a:ext cx="5440680" cy="1295400"/>
          </a:xfrm>
          <a:prstGeom prst="rect">
            <a:avLst/>
          </a:prstGeom>
        </p:spPr>
        <p:txBody>
          <a:bodyPr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endParaRPr lang="en-US" sz="2400">
              <a:solidFill>
                <a:srgbClr val="002060"/>
              </a:solidFill>
              <a:effectLst>
                <a:outerShdw blurRad="50000" dist="30000" dir="5400000" algn="tl" rotWithShape="0">
                  <a:srgbClr val="000000">
                    <a:alpha val="30000"/>
                  </a:srgbClr>
                </a:outerShdw>
              </a:effectLst>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Anesthesia Equipments</a:t>
            </a:r>
          </a:p>
        </p:txBody>
      </p:sp>
      <p:sp>
        <p:nvSpPr>
          <p:cNvPr id="3" name="Content Placeholder 2"/>
          <p:cNvSpPr>
            <a:spLocks noGrp="1"/>
          </p:cNvSpPr>
          <p:nvPr>
            <p:ph idx="1"/>
          </p:nvPr>
        </p:nvSpPr>
        <p:spPr/>
        <p:txBody>
          <a:bodyPr>
            <a:normAutofit lnSpcReduction="10000"/>
          </a:bodyPr>
          <a:lstStyle/>
          <a:p>
            <a:r>
              <a:rPr lang="en-GB"/>
              <a:t>CONTENTS</a:t>
            </a:r>
          </a:p>
          <a:p>
            <a:pPr lvl="1"/>
            <a:r>
              <a:rPr lang="en-GB"/>
              <a:t>Medical Gas supply </a:t>
            </a:r>
          </a:p>
          <a:p>
            <a:pPr lvl="1"/>
            <a:r>
              <a:rPr lang="en-GB"/>
              <a:t>Anaesthetic machine</a:t>
            </a:r>
          </a:p>
          <a:p>
            <a:pPr lvl="1"/>
            <a:r>
              <a:rPr lang="en-GB"/>
              <a:t>Breathing systems</a:t>
            </a:r>
          </a:p>
          <a:p>
            <a:pPr lvl="1"/>
            <a:r>
              <a:rPr lang="en-GB"/>
              <a:t>Humidification and filtration</a:t>
            </a:r>
          </a:p>
          <a:p>
            <a:pPr lvl="1"/>
            <a:r>
              <a:rPr lang="en-GB"/>
              <a:t>Airways</a:t>
            </a:r>
          </a:p>
          <a:p>
            <a:pPr lvl="1"/>
            <a:r>
              <a:rPr lang="en-GB"/>
              <a:t>Tracheal intubation equipment</a:t>
            </a:r>
          </a:p>
          <a:p>
            <a:pPr lvl="1"/>
            <a:r>
              <a:rPr lang="en-GB"/>
              <a:t>Masks and oxygen delivery devices</a:t>
            </a:r>
          </a:p>
          <a:p>
            <a:pPr lvl="1"/>
            <a:r>
              <a:rPr lang="en-GB"/>
              <a:t>Ventilators</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nodeType="clickEffect">
                                  <p:stCondLst>
                                    <p:cond delay="0"/>
                                  </p:stCondLst>
                                  <p:childTnLst>
                                    <p:animEffect transition="out" filter="blinds(horizontal)">
                                      <p:cBhvr>
                                        <p:cTn id="16" dur="500"/>
                                        <p:tgtEl>
                                          <p:spTgt spid="3">
                                            <p:txEl>
                                              <p:pRg st="1" end="1"/>
                                            </p:txEl>
                                          </p:spTgt>
                                        </p:tgtEl>
                                      </p:cBhvr>
                                    </p:animEffect>
                                    <p:set>
                                      <p:cBhvr>
                                        <p:cTn id="17"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nodeType="clickEffect">
                                  <p:stCondLst>
                                    <p:cond delay="0"/>
                                  </p:stCondLst>
                                  <p:childTnLst>
                                    <p:animEffect transition="out" filter="blinds(horizontal)">
                                      <p:cBhvr>
                                        <p:cTn id="21" dur="500"/>
                                        <p:tgtEl>
                                          <p:spTgt spid="3">
                                            <p:txEl>
                                              <p:pRg st="0" end="0"/>
                                            </p:txEl>
                                          </p:spTgt>
                                        </p:tgtEl>
                                      </p:cBhvr>
                                    </p:animEffect>
                                    <p:set>
                                      <p:cBhvr>
                                        <p:cTn id="22" dur="1" fill="hold">
                                          <p:stCondLst>
                                            <p:cond delay="499"/>
                                          </p:stCondLst>
                                        </p:cTn>
                                        <p:tgtEl>
                                          <p:spTgt spid="3">
                                            <p:txEl>
                                              <p:pRg st="0" end="0"/>
                                            </p:txEl>
                                          </p:spTgt>
                                        </p:tgtEl>
                                        <p:attrNameLst>
                                          <p:attrName>style.visibility</p:attrName>
                                        </p:attrNameLst>
                                      </p:cBhvr>
                                      <p:to>
                                        <p:strVal val="hidden"/>
                                      </p:to>
                                    </p:set>
                                  </p:childTnLst>
                                </p:cTn>
                              </p:par>
                              <p:par>
                                <p:cTn id="23" presetID="3" presetClass="entr" presetSubtype="1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3">
                                            <p:txEl>
                                              <p:pRg st="2" end="2"/>
                                            </p:txEl>
                                          </p:spTgt>
                                        </p:tgtEl>
                                      </p:cBhvr>
                                    </p:animEffect>
                                    <p:set>
                                      <p:cBhvr>
                                        <p:cTn id="30" dur="1" fill="hold">
                                          <p:stCondLst>
                                            <p:cond delay="499"/>
                                          </p:stCondLst>
                                        </p:cTn>
                                        <p:tgtEl>
                                          <p:spTgt spid="3">
                                            <p:txEl>
                                              <p:pRg st="2" end="2"/>
                                            </p:txEl>
                                          </p:spTgt>
                                        </p:tgtEl>
                                        <p:attrNameLst>
                                          <p:attrName>style.visibility</p:attrName>
                                        </p:attrNameLst>
                                      </p:cBhvr>
                                      <p:to>
                                        <p:strVal val="hidden"/>
                                      </p:to>
                                    </p:set>
                                  </p:childTnLst>
                                </p:cTn>
                              </p:par>
                              <p:par>
                                <p:cTn id="31" presetID="3" presetClass="entr" presetSubtype="1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blinds(horizontal)">
                                      <p:cBhvr>
                                        <p:cTn id="33" dur="500"/>
                                        <p:tgtEl>
                                          <p:spTgt spid="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nodeType="clickEffect">
                                  <p:stCondLst>
                                    <p:cond delay="0"/>
                                  </p:stCondLst>
                                  <p:childTnLst>
                                    <p:animEffect transition="out" filter="blinds(horizontal)">
                                      <p:cBhvr>
                                        <p:cTn id="37" dur="500"/>
                                        <p:tgtEl>
                                          <p:spTgt spid="3">
                                            <p:txEl>
                                              <p:pRg st="3" end="3"/>
                                            </p:txEl>
                                          </p:spTgt>
                                        </p:tgtEl>
                                      </p:cBhvr>
                                    </p:animEffect>
                                    <p:set>
                                      <p:cBhvr>
                                        <p:cTn id="38" dur="1" fill="hold">
                                          <p:stCondLst>
                                            <p:cond delay="499"/>
                                          </p:stCondLst>
                                        </p:cTn>
                                        <p:tgtEl>
                                          <p:spTgt spid="3">
                                            <p:txEl>
                                              <p:pRg st="3" end="3"/>
                                            </p:txEl>
                                          </p:spTgt>
                                        </p:tgtEl>
                                        <p:attrNameLst>
                                          <p:attrName>style.visibility</p:attrName>
                                        </p:attrNameLst>
                                      </p:cBhvr>
                                      <p:to>
                                        <p:strVal val="hidden"/>
                                      </p:to>
                                    </p:set>
                                  </p:childTnLst>
                                </p:cTn>
                              </p:par>
                              <p:par>
                                <p:cTn id="39" presetID="3" presetClass="entr" presetSubtype="1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blinds(horizontal)">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nodeType="clickEffect">
                                  <p:stCondLst>
                                    <p:cond delay="0"/>
                                  </p:stCondLst>
                                  <p:childTnLst>
                                    <p:animEffect transition="out" filter="blinds(horizontal)">
                                      <p:cBhvr>
                                        <p:cTn id="45" dur="500"/>
                                        <p:tgtEl>
                                          <p:spTgt spid="3">
                                            <p:txEl>
                                              <p:pRg st="4" end="4"/>
                                            </p:txEl>
                                          </p:spTgt>
                                        </p:tgtEl>
                                      </p:cBhvr>
                                    </p:animEffect>
                                    <p:set>
                                      <p:cBhvr>
                                        <p:cTn id="46" dur="1" fill="hold">
                                          <p:stCondLst>
                                            <p:cond delay="499"/>
                                          </p:stCondLst>
                                        </p:cTn>
                                        <p:tgtEl>
                                          <p:spTgt spid="3">
                                            <p:txEl>
                                              <p:pRg st="4" end="4"/>
                                            </p:txEl>
                                          </p:spTgt>
                                        </p:tgtEl>
                                        <p:attrNameLst>
                                          <p:attrName>style.visibility</p:attrName>
                                        </p:attrNameLst>
                                      </p:cBhvr>
                                      <p:to>
                                        <p:strVal val="hidden"/>
                                      </p:to>
                                    </p:set>
                                  </p:childTnLst>
                                </p:cTn>
                              </p:par>
                              <p:par>
                                <p:cTn id="47" presetID="3" presetClass="entr" presetSubtype="10" fill="hold"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blinds(horizontal)">
                                      <p:cBhvr>
                                        <p:cTn id="49" dur="500"/>
                                        <p:tgtEl>
                                          <p:spTgt spid="3">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xit" presetSubtype="10" fill="hold" nodeType="clickEffect">
                                  <p:stCondLst>
                                    <p:cond delay="0"/>
                                  </p:stCondLst>
                                  <p:childTnLst>
                                    <p:animEffect transition="out" filter="blinds(horizontal)">
                                      <p:cBhvr>
                                        <p:cTn id="53" dur="500"/>
                                        <p:tgtEl>
                                          <p:spTgt spid="3">
                                            <p:txEl>
                                              <p:pRg st="5" end="5"/>
                                            </p:txEl>
                                          </p:spTgt>
                                        </p:tgtEl>
                                      </p:cBhvr>
                                    </p:animEffect>
                                    <p:set>
                                      <p:cBhvr>
                                        <p:cTn id="54" dur="1" fill="hold">
                                          <p:stCondLst>
                                            <p:cond delay="499"/>
                                          </p:stCondLst>
                                        </p:cTn>
                                        <p:tgtEl>
                                          <p:spTgt spid="3">
                                            <p:txEl>
                                              <p:pRg st="5" end="5"/>
                                            </p:txEl>
                                          </p:spTgt>
                                        </p:tgtEl>
                                        <p:attrNameLst>
                                          <p:attrName>style.visibility</p:attrName>
                                        </p:attrNameLst>
                                      </p:cBhvr>
                                      <p:to>
                                        <p:strVal val="hidden"/>
                                      </p:to>
                                    </p:set>
                                  </p:childTnLst>
                                </p:cTn>
                              </p:par>
                              <p:par>
                                <p:cTn id="55" presetID="3" presetClass="entr" presetSubtype="10" fill="hold" nodeType="with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blinds(horizontal)">
                                      <p:cBhvr>
                                        <p:cTn id="57" dur="500"/>
                                        <p:tgtEl>
                                          <p:spTgt spid="3">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nodeType="clickEffect">
                                  <p:stCondLst>
                                    <p:cond delay="0"/>
                                  </p:stCondLst>
                                  <p:childTnLst>
                                    <p:animEffect transition="out" filter="blinds(horizontal)">
                                      <p:cBhvr>
                                        <p:cTn id="61" dur="500"/>
                                        <p:tgtEl>
                                          <p:spTgt spid="3">
                                            <p:txEl>
                                              <p:pRg st="6" end="6"/>
                                            </p:txEl>
                                          </p:spTgt>
                                        </p:tgtEl>
                                      </p:cBhvr>
                                    </p:animEffect>
                                    <p:set>
                                      <p:cBhvr>
                                        <p:cTn id="62" dur="1" fill="hold">
                                          <p:stCondLst>
                                            <p:cond delay="499"/>
                                          </p:stCondLst>
                                        </p:cTn>
                                        <p:tgtEl>
                                          <p:spTgt spid="3">
                                            <p:txEl>
                                              <p:pRg st="6" end="6"/>
                                            </p:txEl>
                                          </p:spTgt>
                                        </p:tgtEl>
                                        <p:attrNameLst>
                                          <p:attrName>style.visibility</p:attrName>
                                        </p:attrNameLst>
                                      </p:cBhvr>
                                      <p:to>
                                        <p:strVal val="hidden"/>
                                      </p:to>
                                    </p:set>
                                  </p:childTnLst>
                                </p:cTn>
                              </p:par>
                              <p:par>
                                <p:cTn id="63" presetID="3" presetClass="entr" presetSubtype="10" fill="hold" nodeType="with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animEffect transition="in" filter="blinds(horizontal)">
                                      <p:cBhvr>
                                        <p:cTn id="65" dur="500"/>
                                        <p:tgtEl>
                                          <p:spTgt spid="3">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xit" presetSubtype="10" fill="hold" nodeType="clickEffect">
                                  <p:stCondLst>
                                    <p:cond delay="0"/>
                                  </p:stCondLst>
                                  <p:childTnLst>
                                    <p:animEffect transition="out" filter="blinds(horizontal)">
                                      <p:cBhvr>
                                        <p:cTn id="69" dur="500"/>
                                        <p:tgtEl>
                                          <p:spTgt spid="3">
                                            <p:txEl>
                                              <p:pRg st="7" end="7"/>
                                            </p:txEl>
                                          </p:spTgt>
                                        </p:tgtEl>
                                      </p:cBhvr>
                                    </p:animEffect>
                                    <p:set>
                                      <p:cBhvr>
                                        <p:cTn id="70" dur="1" fill="hold">
                                          <p:stCondLst>
                                            <p:cond delay="499"/>
                                          </p:stCondLst>
                                        </p:cTn>
                                        <p:tgtEl>
                                          <p:spTgt spid="3">
                                            <p:txEl>
                                              <p:pRg st="7" end="7"/>
                                            </p:txEl>
                                          </p:spTgt>
                                        </p:tgtEl>
                                        <p:attrNameLst>
                                          <p:attrName>style.visibility</p:attrName>
                                        </p:attrNameLst>
                                      </p:cBhvr>
                                      <p:to>
                                        <p:strVal val="hidden"/>
                                      </p:to>
                                    </p:set>
                                  </p:childTnLst>
                                </p:cTn>
                              </p:par>
                              <p:par>
                                <p:cTn id="71" presetID="3" presetClass="entr" presetSubtype="10" fill="hold" nodeType="withEffect">
                                  <p:stCondLst>
                                    <p:cond delay="0"/>
                                  </p:stCondLst>
                                  <p:childTnLst>
                                    <p:set>
                                      <p:cBhvr>
                                        <p:cTn id="72" dur="1" fill="hold">
                                          <p:stCondLst>
                                            <p:cond delay="0"/>
                                          </p:stCondLst>
                                        </p:cTn>
                                        <p:tgtEl>
                                          <p:spTgt spid="3">
                                            <p:txEl>
                                              <p:pRg st="8" end="8"/>
                                            </p:txEl>
                                          </p:spTgt>
                                        </p:tgtEl>
                                        <p:attrNameLst>
                                          <p:attrName>style.visibility</p:attrName>
                                        </p:attrNameLst>
                                      </p:cBhvr>
                                      <p:to>
                                        <p:strVal val="visible"/>
                                      </p:to>
                                    </p:set>
                                    <p:animEffect transition="in" filter="blinds(horizontal)">
                                      <p:cBhvr>
                                        <p:cTn id="7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6" name="Title 5"/>
          <p:cNvSpPr>
            <a:spLocks noGrp="1"/>
          </p:cNvSpPr>
          <p:nvPr>
            <p:ph type="ctrTitle"/>
          </p:nvPr>
        </p:nvSpPr>
        <p:spPr>
          <a:xfrm>
            <a:off x="5598460" y="1783959"/>
            <a:ext cx="3065480" cy="2889114"/>
          </a:xfrm>
        </p:spPr>
        <p:txBody>
          <a:bodyPr anchor="b">
            <a:normAutofit/>
          </a:bodyPr>
          <a:lstStyle/>
          <a:p>
            <a:pPr algn="l"/>
            <a:r>
              <a:rPr lang="en-US" sz="4700"/>
              <a:t>MEDICAL GAS SOURCES</a:t>
            </a:r>
          </a:p>
        </p:txBody>
      </p:sp>
      <p:sp>
        <p:nvSpPr>
          <p:cNvPr id="3" name="Subtitle 2"/>
          <p:cNvSpPr>
            <a:spLocks noGrp="1"/>
          </p:cNvSpPr>
          <p:nvPr>
            <p:ph type="subTitle" idx="1"/>
          </p:nvPr>
        </p:nvSpPr>
        <p:spPr>
          <a:xfrm>
            <a:off x="5598459" y="4750893"/>
            <a:ext cx="3065478" cy="1147863"/>
          </a:xfrm>
        </p:spPr>
        <p:txBody>
          <a:bodyPr anchor="t">
            <a:normAutofit/>
          </a:bodyPr>
          <a:lstStyle/>
          <a:p>
            <a:pPr algn="l"/>
            <a:endParaRPr lang="en-US" sz="1700"/>
          </a:p>
        </p:txBody>
      </p:sp>
      <p:pic>
        <p:nvPicPr>
          <p:cNvPr id="2" name="Picture 3" descr="A picture containing indoor, wall, counter, lined&#10;&#10;Description automatically generated">
            <a:extLst>
              <a:ext uri="{FF2B5EF4-FFF2-40B4-BE49-F238E27FC236}">
                <a16:creationId xmlns:a16="http://schemas.microsoft.com/office/drawing/2014/main" id="{1F8DF371-CA90-A12A-D9DF-A74C093B0A0E}"/>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357" r="12945"/>
          <a:stretch/>
        </p:blipFill>
        <p:spPr>
          <a:xfrm>
            <a:off x="20" y="10"/>
            <a:ext cx="5271352"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4" name="TextBox 3">
            <a:extLst>
              <a:ext uri="{FF2B5EF4-FFF2-40B4-BE49-F238E27FC236}">
                <a16:creationId xmlns:a16="http://schemas.microsoft.com/office/drawing/2014/main" id="{EBD8351E-C848-92B8-525C-94B8AD09AA86}"/>
              </a:ext>
            </a:extLst>
          </p:cNvPr>
          <p:cNvSpPr txBox="1"/>
          <p:nvPr/>
        </p:nvSpPr>
        <p:spPr>
          <a:xfrm>
            <a:off x="6822532" y="6657945"/>
            <a:ext cx="232146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4">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a:extLst>
                    <a:ext uri="{A12FA001-AC4F-418D-AE19-62706E023703}">
                      <ahyp:hlinkClr xmlns:ahyp="http://schemas.microsoft.com/office/drawing/2018/hyperlinkcolor" val="tx"/>
                    </a:ext>
                  </a:extLst>
                </a:hlinkClick>
              </a:rPr>
              <a:t>CC BY-SA</a:t>
            </a:r>
            <a:r>
              <a:rPr lang="en-US" sz="700">
                <a:solidFill>
                  <a:srgbClr val="FFFFFF"/>
                </a:solidFill>
              </a:rPr>
              <a:t>.</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learning medical gas?</a:t>
            </a:r>
          </a:p>
        </p:txBody>
      </p:sp>
      <p:sp>
        <p:nvSpPr>
          <p:cNvPr id="3" name="Subtitle 2"/>
          <p:cNvSpPr>
            <a:spLocks noGrp="1"/>
          </p:cNvSpPr>
          <p:nvPr>
            <p:ph idx="1"/>
          </p:nvPr>
        </p:nvSpPr>
        <p:spPr/>
        <p:txBody>
          <a:bodyPr vert="horz" lIns="91440" tIns="45720" rIns="91440" bIns="45720" rtlCol="0" anchor="t">
            <a:normAutofit fontScale="92500" lnSpcReduction="10000"/>
          </a:bodyPr>
          <a:lstStyle/>
          <a:p>
            <a:r>
              <a:rPr lang="en-US"/>
              <a:t>As the anesthetist, you are responsible for what is administered to the patient.</a:t>
            </a:r>
          </a:p>
          <a:p>
            <a:r>
              <a:rPr lang="en-US"/>
              <a:t>In the UK, all anesthetists are responsible for the gas supply from the wall of the theatre to the patient.</a:t>
            </a:r>
          </a:p>
          <a:p>
            <a:r>
              <a:rPr lang="en-US">
                <a:ea typeface="+mn-lt"/>
                <a:cs typeface="+mn-lt"/>
              </a:rPr>
              <a:t>In Ethiopia anesthetists may hold the most knowledge about gas supplies throughout the OR.</a:t>
            </a:r>
          </a:p>
          <a:p>
            <a:r>
              <a:rPr lang="en-US">
                <a:ea typeface="+mn-lt"/>
                <a:cs typeface="+mn-lt"/>
              </a:rPr>
              <a:t>An understanding basic physical principles is required to understand the gas supply.</a:t>
            </a:r>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nodeType="clickEffect">
                                  <p:stCondLst>
                                    <p:cond delay="0"/>
                                  </p:stCondLst>
                                  <p:childTnLst>
                                    <p:animEffect transition="out" filter="blinds(horizontal)">
                                      <p:cBhvr>
                                        <p:cTn id="25" dur="500"/>
                                        <p:tgtEl>
                                          <p:spTgt spid="3">
                                            <p:txEl>
                                              <p:pRg st="1" end="1"/>
                                            </p:txEl>
                                          </p:spTgt>
                                        </p:tgtEl>
                                      </p:cBhvr>
                                    </p:animEffect>
                                    <p:set>
                                      <p:cBhvr>
                                        <p:cTn id="26"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nodeType="clickEffect">
                                  <p:stCondLst>
                                    <p:cond delay="0"/>
                                  </p:stCondLst>
                                  <p:childTnLst>
                                    <p:animEffect transition="out" filter="blinds(horizontal)">
                                      <p:cBhvr>
                                        <p:cTn id="30" dur="500"/>
                                        <p:tgtEl>
                                          <p:spTgt spid="3">
                                            <p:txEl>
                                              <p:pRg st="2" end="2"/>
                                            </p:txEl>
                                          </p:spTgt>
                                        </p:tgtEl>
                                      </p:cBhvr>
                                    </p:animEffect>
                                    <p:set>
                                      <p:cBhvr>
                                        <p:cTn id="31"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269875" y="298450"/>
            <a:ext cx="3214688" cy="519113"/>
          </a:xfrm>
          <a:prstGeom prst="rect">
            <a:avLst/>
          </a:prstGeom>
          <a:noFill/>
          <a:ln w="9525">
            <a:noFill/>
            <a:miter lim="800000"/>
            <a:headEnd/>
            <a:tailEnd/>
          </a:ln>
          <a:effectLst/>
        </p:spPr>
        <p:txBody>
          <a:bodyPr wrap="none">
            <a:spAutoFit/>
          </a:bodyPr>
          <a:lstStyle/>
          <a:p>
            <a:pPr algn="l"/>
            <a:r>
              <a:rPr lang="en-GB" sz="2800"/>
              <a:t>Medical gas supply</a:t>
            </a:r>
          </a:p>
        </p:txBody>
      </p:sp>
      <p:sp>
        <p:nvSpPr>
          <p:cNvPr id="139267" name="Text Box 3"/>
          <p:cNvSpPr txBox="1">
            <a:spLocks noChangeArrowheads="1"/>
          </p:cNvSpPr>
          <p:nvPr/>
        </p:nvSpPr>
        <p:spPr bwMode="auto">
          <a:xfrm>
            <a:off x="533400" y="622300"/>
            <a:ext cx="5221288" cy="595313"/>
          </a:xfrm>
          <a:prstGeom prst="rect">
            <a:avLst/>
          </a:prstGeom>
          <a:noFill/>
          <a:ln w="9525">
            <a:noFill/>
            <a:miter lim="800000"/>
            <a:headEnd/>
            <a:tailEnd/>
          </a:ln>
          <a:effectLst/>
        </p:spPr>
        <p:txBody>
          <a:bodyPr>
            <a:spAutoFit/>
          </a:bodyPr>
          <a:lstStyle/>
          <a:p>
            <a:pPr algn="l">
              <a:lnSpc>
                <a:spcPct val="150000"/>
              </a:lnSpc>
            </a:pPr>
            <a:r>
              <a:rPr lang="en-GB" sz="2200"/>
              <a:t>A brief overview of relevant gas physics</a:t>
            </a:r>
          </a:p>
        </p:txBody>
      </p:sp>
      <p:sp>
        <p:nvSpPr>
          <p:cNvPr id="139268" name="Text Box 4"/>
          <p:cNvSpPr txBox="1">
            <a:spLocks noChangeArrowheads="1"/>
          </p:cNvSpPr>
          <p:nvPr/>
        </p:nvSpPr>
        <p:spPr bwMode="auto">
          <a:xfrm>
            <a:off x="792163" y="1141413"/>
            <a:ext cx="2543175" cy="595312"/>
          </a:xfrm>
          <a:prstGeom prst="rect">
            <a:avLst/>
          </a:prstGeom>
          <a:noFill/>
          <a:ln w="9525">
            <a:noFill/>
            <a:miter lim="800000"/>
            <a:headEnd/>
            <a:tailEnd/>
          </a:ln>
          <a:effectLst/>
        </p:spPr>
        <p:txBody>
          <a:bodyPr>
            <a:spAutoFit/>
          </a:bodyPr>
          <a:lstStyle/>
          <a:p>
            <a:pPr algn="l">
              <a:lnSpc>
                <a:spcPct val="150000"/>
              </a:lnSpc>
            </a:pPr>
            <a:r>
              <a:rPr lang="en-GB" sz="2200"/>
              <a:t>What is pressure?</a:t>
            </a:r>
          </a:p>
        </p:txBody>
      </p:sp>
      <p:grpSp>
        <p:nvGrpSpPr>
          <p:cNvPr id="2" name="Group 5"/>
          <p:cNvGrpSpPr>
            <a:grpSpLocks/>
          </p:cNvGrpSpPr>
          <p:nvPr/>
        </p:nvGrpSpPr>
        <p:grpSpPr bwMode="auto">
          <a:xfrm>
            <a:off x="990600" y="1798638"/>
            <a:ext cx="1819275" cy="1317625"/>
            <a:chOff x="624" y="1276"/>
            <a:chExt cx="1146" cy="830"/>
          </a:xfrm>
        </p:grpSpPr>
        <p:grpSp>
          <p:nvGrpSpPr>
            <p:cNvPr id="3" name="Group 6"/>
            <p:cNvGrpSpPr>
              <a:grpSpLocks/>
            </p:cNvGrpSpPr>
            <p:nvPr/>
          </p:nvGrpSpPr>
          <p:grpSpPr bwMode="auto">
            <a:xfrm>
              <a:off x="624" y="1276"/>
              <a:ext cx="1146" cy="830"/>
              <a:chOff x="1740" y="1523"/>
              <a:chExt cx="1146" cy="830"/>
            </a:xfrm>
          </p:grpSpPr>
          <p:sp>
            <p:nvSpPr>
              <p:cNvPr id="139271" name="Rectangle 7"/>
              <p:cNvSpPr>
                <a:spLocks noChangeArrowheads="1"/>
              </p:cNvSpPr>
              <p:nvPr/>
            </p:nvSpPr>
            <p:spPr bwMode="auto">
              <a:xfrm>
                <a:off x="1744" y="1679"/>
                <a:ext cx="755" cy="674"/>
              </a:xfrm>
              <a:prstGeom prst="rect">
                <a:avLst/>
              </a:prstGeom>
              <a:noFill/>
              <a:ln w="28575">
                <a:solidFill>
                  <a:schemeClr val="tx1"/>
                </a:solidFill>
                <a:miter lim="800000"/>
                <a:headEnd/>
                <a:tailEnd/>
              </a:ln>
              <a:effectLst/>
            </p:spPr>
            <p:txBody>
              <a:bodyPr wrap="none" anchor="ctr"/>
              <a:lstStyle/>
              <a:p>
                <a:endParaRPr lang="en-US"/>
              </a:p>
            </p:txBody>
          </p:sp>
          <p:sp>
            <p:nvSpPr>
              <p:cNvPr id="139272" name="Line 8"/>
              <p:cNvSpPr>
                <a:spLocks noChangeShapeType="1"/>
              </p:cNvSpPr>
              <p:nvPr/>
            </p:nvSpPr>
            <p:spPr bwMode="auto">
              <a:xfrm flipV="1">
                <a:off x="1740" y="1523"/>
                <a:ext cx="384" cy="154"/>
              </a:xfrm>
              <a:prstGeom prst="line">
                <a:avLst/>
              </a:prstGeom>
              <a:noFill/>
              <a:ln w="28575">
                <a:solidFill>
                  <a:schemeClr val="tx1"/>
                </a:solidFill>
                <a:round/>
                <a:headEnd/>
                <a:tailEnd/>
              </a:ln>
              <a:effectLst/>
            </p:spPr>
            <p:txBody>
              <a:bodyPr/>
              <a:lstStyle/>
              <a:p>
                <a:endParaRPr lang="en-US"/>
              </a:p>
            </p:txBody>
          </p:sp>
          <p:sp>
            <p:nvSpPr>
              <p:cNvPr id="139273" name="Line 9"/>
              <p:cNvSpPr>
                <a:spLocks noChangeShapeType="1"/>
              </p:cNvSpPr>
              <p:nvPr/>
            </p:nvSpPr>
            <p:spPr bwMode="auto">
              <a:xfrm flipV="1">
                <a:off x="2502" y="1525"/>
                <a:ext cx="384" cy="154"/>
              </a:xfrm>
              <a:prstGeom prst="line">
                <a:avLst/>
              </a:prstGeom>
              <a:noFill/>
              <a:ln w="28575">
                <a:solidFill>
                  <a:schemeClr val="tx1"/>
                </a:solidFill>
                <a:round/>
                <a:headEnd/>
                <a:tailEnd/>
              </a:ln>
              <a:effectLst/>
            </p:spPr>
            <p:txBody>
              <a:bodyPr/>
              <a:lstStyle/>
              <a:p>
                <a:endParaRPr lang="en-US"/>
              </a:p>
            </p:txBody>
          </p:sp>
          <p:sp>
            <p:nvSpPr>
              <p:cNvPr id="139274" name="Line 10"/>
              <p:cNvSpPr>
                <a:spLocks noChangeShapeType="1"/>
              </p:cNvSpPr>
              <p:nvPr/>
            </p:nvSpPr>
            <p:spPr bwMode="auto">
              <a:xfrm flipV="1">
                <a:off x="2502" y="2199"/>
                <a:ext cx="384" cy="154"/>
              </a:xfrm>
              <a:prstGeom prst="line">
                <a:avLst/>
              </a:prstGeom>
              <a:noFill/>
              <a:ln w="28575">
                <a:solidFill>
                  <a:schemeClr val="tx1"/>
                </a:solidFill>
                <a:round/>
                <a:headEnd/>
                <a:tailEnd/>
              </a:ln>
              <a:effectLst/>
            </p:spPr>
            <p:txBody>
              <a:bodyPr/>
              <a:lstStyle/>
              <a:p>
                <a:endParaRPr lang="en-US"/>
              </a:p>
            </p:txBody>
          </p:sp>
          <p:sp>
            <p:nvSpPr>
              <p:cNvPr id="139275" name="Line 11"/>
              <p:cNvSpPr>
                <a:spLocks noChangeShapeType="1"/>
              </p:cNvSpPr>
              <p:nvPr/>
            </p:nvSpPr>
            <p:spPr bwMode="auto">
              <a:xfrm flipV="1">
                <a:off x="1752" y="2193"/>
                <a:ext cx="384" cy="154"/>
              </a:xfrm>
              <a:prstGeom prst="line">
                <a:avLst/>
              </a:prstGeom>
              <a:noFill/>
              <a:ln w="28575" cap="rnd">
                <a:solidFill>
                  <a:schemeClr val="tx1"/>
                </a:solidFill>
                <a:prstDash val="sysDot"/>
                <a:round/>
                <a:headEnd/>
                <a:tailEnd/>
              </a:ln>
              <a:effectLst/>
            </p:spPr>
            <p:txBody>
              <a:bodyPr/>
              <a:lstStyle/>
              <a:p>
                <a:endParaRPr lang="en-US"/>
              </a:p>
            </p:txBody>
          </p:sp>
          <p:sp>
            <p:nvSpPr>
              <p:cNvPr id="139276" name="Line 12"/>
              <p:cNvSpPr>
                <a:spLocks noChangeShapeType="1"/>
              </p:cNvSpPr>
              <p:nvPr/>
            </p:nvSpPr>
            <p:spPr bwMode="auto">
              <a:xfrm>
                <a:off x="2122" y="1523"/>
                <a:ext cx="760" cy="0"/>
              </a:xfrm>
              <a:prstGeom prst="line">
                <a:avLst/>
              </a:prstGeom>
              <a:noFill/>
              <a:ln w="28575">
                <a:solidFill>
                  <a:schemeClr val="tx1"/>
                </a:solidFill>
                <a:round/>
                <a:headEnd/>
                <a:tailEnd/>
              </a:ln>
              <a:effectLst/>
            </p:spPr>
            <p:txBody>
              <a:bodyPr/>
              <a:lstStyle/>
              <a:p>
                <a:endParaRPr lang="en-US"/>
              </a:p>
            </p:txBody>
          </p:sp>
          <p:sp>
            <p:nvSpPr>
              <p:cNvPr id="139277" name="Line 13"/>
              <p:cNvSpPr>
                <a:spLocks noChangeShapeType="1"/>
              </p:cNvSpPr>
              <p:nvPr/>
            </p:nvSpPr>
            <p:spPr bwMode="auto">
              <a:xfrm rot="5400000">
                <a:off x="2543" y="1860"/>
                <a:ext cx="674" cy="0"/>
              </a:xfrm>
              <a:prstGeom prst="line">
                <a:avLst/>
              </a:prstGeom>
              <a:noFill/>
              <a:ln w="28575">
                <a:solidFill>
                  <a:schemeClr val="tx1"/>
                </a:solidFill>
                <a:round/>
                <a:headEnd/>
                <a:tailEnd/>
              </a:ln>
              <a:effectLst/>
            </p:spPr>
            <p:txBody>
              <a:bodyPr/>
              <a:lstStyle/>
              <a:p>
                <a:endParaRPr lang="en-US"/>
              </a:p>
            </p:txBody>
          </p:sp>
          <p:sp>
            <p:nvSpPr>
              <p:cNvPr id="139278" name="Line 14"/>
              <p:cNvSpPr>
                <a:spLocks noChangeShapeType="1"/>
              </p:cNvSpPr>
              <p:nvPr/>
            </p:nvSpPr>
            <p:spPr bwMode="auto">
              <a:xfrm>
                <a:off x="2132" y="2199"/>
                <a:ext cx="368" cy="0"/>
              </a:xfrm>
              <a:prstGeom prst="line">
                <a:avLst/>
              </a:prstGeom>
              <a:noFill/>
              <a:ln w="28575" cap="rnd">
                <a:solidFill>
                  <a:schemeClr val="tx1"/>
                </a:solidFill>
                <a:prstDash val="sysDot"/>
                <a:round/>
                <a:headEnd/>
                <a:tailEnd/>
              </a:ln>
              <a:effectLst/>
            </p:spPr>
            <p:txBody>
              <a:bodyPr/>
              <a:lstStyle/>
              <a:p>
                <a:endParaRPr lang="en-US"/>
              </a:p>
            </p:txBody>
          </p:sp>
          <p:sp>
            <p:nvSpPr>
              <p:cNvPr id="139279" name="Line 15"/>
              <p:cNvSpPr>
                <a:spLocks noChangeShapeType="1"/>
              </p:cNvSpPr>
              <p:nvPr/>
            </p:nvSpPr>
            <p:spPr bwMode="auto">
              <a:xfrm>
                <a:off x="2496" y="2199"/>
                <a:ext cx="390" cy="0"/>
              </a:xfrm>
              <a:prstGeom prst="line">
                <a:avLst/>
              </a:prstGeom>
              <a:noFill/>
              <a:ln w="28575">
                <a:solidFill>
                  <a:schemeClr val="tx1"/>
                </a:solidFill>
                <a:round/>
                <a:headEnd/>
                <a:tailEnd/>
              </a:ln>
              <a:effectLst/>
            </p:spPr>
            <p:txBody>
              <a:bodyPr/>
              <a:lstStyle/>
              <a:p>
                <a:endParaRPr lang="en-US"/>
              </a:p>
            </p:txBody>
          </p:sp>
          <p:sp>
            <p:nvSpPr>
              <p:cNvPr id="139280" name="Line 16"/>
              <p:cNvSpPr>
                <a:spLocks noChangeShapeType="1"/>
              </p:cNvSpPr>
              <p:nvPr/>
            </p:nvSpPr>
            <p:spPr bwMode="auto">
              <a:xfrm rot="5400000">
                <a:off x="2051" y="1602"/>
                <a:ext cx="150" cy="0"/>
              </a:xfrm>
              <a:prstGeom prst="line">
                <a:avLst/>
              </a:prstGeom>
              <a:noFill/>
              <a:ln w="28575">
                <a:solidFill>
                  <a:schemeClr val="tx1"/>
                </a:solidFill>
                <a:round/>
                <a:headEnd/>
                <a:tailEnd/>
              </a:ln>
              <a:effectLst/>
            </p:spPr>
            <p:txBody>
              <a:bodyPr/>
              <a:lstStyle/>
              <a:p>
                <a:endParaRPr lang="en-US"/>
              </a:p>
            </p:txBody>
          </p:sp>
          <p:sp>
            <p:nvSpPr>
              <p:cNvPr id="139281" name="Line 17"/>
              <p:cNvSpPr>
                <a:spLocks noChangeShapeType="1"/>
              </p:cNvSpPr>
              <p:nvPr/>
            </p:nvSpPr>
            <p:spPr bwMode="auto">
              <a:xfrm rot="16200000" flipH="1">
                <a:off x="1869" y="1942"/>
                <a:ext cx="516" cy="2"/>
              </a:xfrm>
              <a:prstGeom prst="line">
                <a:avLst/>
              </a:prstGeom>
              <a:noFill/>
              <a:ln w="28575" cap="rnd">
                <a:solidFill>
                  <a:schemeClr val="tx1"/>
                </a:solidFill>
                <a:prstDash val="sysDot"/>
                <a:round/>
                <a:headEnd/>
                <a:tailEnd/>
              </a:ln>
              <a:effectLst/>
            </p:spPr>
            <p:txBody>
              <a:bodyPr/>
              <a:lstStyle/>
              <a:p>
                <a:endParaRPr lang="en-US"/>
              </a:p>
            </p:txBody>
          </p:sp>
        </p:grpSp>
        <p:sp>
          <p:nvSpPr>
            <p:cNvPr id="139282" name="Oval 18"/>
            <p:cNvSpPr>
              <a:spLocks noChangeArrowheads="1"/>
            </p:cNvSpPr>
            <p:nvPr/>
          </p:nvSpPr>
          <p:spPr bwMode="auto">
            <a:xfrm>
              <a:off x="1165" y="1695"/>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283" name="Line 19"/>
            <p:cNvSpPr>
              <a:spLocks noChangeShapeType="1"/>
            </p:cNvSpPr>
            <p:nvPr/>
          </p:nvSpPr>
          <p:spPr bwMode="auto">
            <a:xfrm flipH="1">
              <a:off x="775" y="1723"/>
              <a:ext cx="330" cy="0"/>
            </a:xfrm>
            <a:prstGeom prst="line">
              <a:avLst/>
            </a:prstGeom>
            <a:noFill/>
            <a:ln w="9525">
              <a:solidFill>
                <a:schemeClr val="tx1"/>
              </a:solidFill>
              <a:round/>
              <a:headEnd/>
              <a:tailEnd type="triangle" w="med" len="med"/>
            </a:ln>
            <a:effectLst/>
          </p:spPr>
          <p:txBody>
            <a:bodyPr/>
            <a:lstStyle/>
            <a:p>
              <a:endParaRPr lang="en-US"/>
            </a:p>
          </p:txBody>
        </p:sp>
      </p:grpSp>
      <p:grpSp>
        <p:nvGrpSpPr>
          <p:cNvPr id="4" name="Group 20"/>
          <p:cNvGrpSpPr>
            <a:grpSpLocks/>
          </p:cNvGrpSpPr>
          <p:nvPr/>
        </p:nvGrpSpPr>
        <p:grpSpPr bwMode="auto">
          <a:xfrm>
            <a:off x="6645275" y="3211513"/>
            <a:ext cx="1819275" cy="1317625"/>
            <a:chOff x="3520" y="2391"/>
            <a:chExt cx="1146" cy="830"/>
          </a:xfrm>
        </p:grpSpPr>
        <p:grpSp>
          <p:nvGrpSpPr>
            <p:cNvPr id="5" name="Group 21"/>
            <p:cNvGrpSpPr>
              <a:grpSpLocks/>
            </p:cNvGrpSpPr>
            <p:nvPr/>
          </p:nvGrpSpPr>
          <p:grpSpPr bwMode="auto">
            <a:xfrm>
              <a:off x="3520" y="2391"/>
              <a:ext cx="1146" cy="830"/>
              <a:chOff x="1740" y="1523"/>
              <a:chExt cx="1146" cy="830"/>
            </a:xfrm>
          </p:grpSpPr>
          <p:sp>
            <p:nvSpPr>
              <p:cNvPr id="139286" name="Rectangle 22"/>
              <p:cNvSpPr>
                <a:spLocks noChangeArrowheads="1"/>
              </p:cNvSpPr>
              <p:nvPr/>
            </p:nvSpPr>
            <p:spPr bwMode="auto">
              <a:xfrm>
                <a:off x="1744" y="1679"/>
                <a:ext cx="755" cy="674"/>
              </a:xfrm>
              <a:prstGeom prst="rect">
                <a:avLst/>
              </a:prstGeom>
              <a:noFill/>
              <a:ln w="28575">
                <a:solidFill>
                  <a:schemeClr val="tx1"/>
                </a:solidFill>
                <a:miter lim="800000"/>
                <a:headEnd/>
                <a:tailEnd/>
              </a:ln>
              <a:effectLst/>
            </p:spPr>
            <p:txBody>
              <a:bodyPr wrap="none" anchor="ctr"/>
              <a:lstStyle/>
              <a:p>
                <a:endParaRPr lang="en-US"/>
              </a:p>
            </p:txBody>
          </p:sp>
          <p:sp>
            <p:nvSpPr>
              <p:cNvPr id="139287" name="Line 23"/>
              <p:cNvSpPr>
                <a:spLocks noChangeShapeType="1"/>
              </p:cNvSpPr>
              <p:nvPr/>
            </p:nvSpPr>
            <p:spPr bwMode="auto">
              <a:xfrm flipV="1">
                <a:off x="1740" y="1523"/>
                <a:ext cx="384" cy="154"/>
              </a:xfrm>
              <a:prstGeom prst="line">
                <a:avLst/>
              </a:prstGeom>
              <a:noFill/>
              <a:ln w="28575">
                <a:solidFill>
                  <a:schemeClr val="tx1"/>
                </a:solidFill>
                <a:round/>
                <a:headEnd/>
                <a:tailEnd/>
              </a:ln>
              <a:effectLst/>
            </p:spPr>
            <p:txBody>
              <a:bodyPr/>
              <a:lstStyle/>
              <a:p>
                <a:endParaRPr lang="en-US"/>
              </a:p>
            </p:txBody>
          </p:sp>
          <p:sp>
            <p:nvSpPr>
              <p:cNvPr id="139288" name="Line 24"/>
              <p:cNvSpPr>
                <a:spLocks noChangeShapeType="1"/>
              </p:cNvSpPr>
              <p:nvPr/>
            </p:nvSpPr>
            <p:spPr bwMode="auto">
              <a:xfrm flipV="1">
                <a:off x="2502" y="1525"/>
                <a:ext cx="384" cy="154"/>
              </a:xfrm>
              <a:prstGeom prst="line">
                <a:avLst/>
              </a:prstGeom>
              <a:noFill/>
              <a:ln w="28575">
                <a:solidFill>
                  <a:schemeClr val="tx1"/>
                </a:solidFill>
                <a:round/>
                <a:headEnd/>
                <a:tailEnd/>
              </a:ln>
              <a:effectLst/>
            </p:spPr>
            <p:txBody>
              <a:bodyPr/>
              <a:lstStyle/>
              <a:p>
                <a:endParaRPr lang="en-US"/>
              </a:p>
            </p:txBody>
          </p:sp>
          <p:sp>
            <p:nvSpPr>
              <p:cNvPr id="139289" name="Line 25"/>
              <p:cNvSpPr>
                <a:spLocks noChangeShapeType="1"/>
              </p:cNvSpPr>
              <p:nvPr/>
            </p:nvSpPr>
            <p:spPr bwMode="auto">
              <a:xfrm flipV="1">
                <a:off x="2502" y="2199"/>
                <a:ext cx="384" cy="154"/>
              </a:xfrm>
              <a:prstGeom prst="line">
                <a:avLst/>
              </a:prstGeom>
              <a:noFill/>
              <a:ln w="28575">
                <a:solidFill>
                  <a:schemeClr val="tx1"/>
                </a:solidFill>
                <a:round/>
                <a:headEnd/>
                <a:tailEnd/>
              </a:ln>
              <a:effectLst/>
            </p:spPr>
            <p:txBody>
              <a:bodyPr/>
              <a:lstStyle/>
              <a:p>
                <a:endParaRPr lang="en-US"/>
              </a:p>
            </p:txBody>
          </p:sp>
          <p:sp>
            <p:nvSpPr>
              <p:cNvPr id="139290" name="Line 26"/>
              <p:cNvSpPr>
                <a:spLocks noChangeShapeType="1"/>
              </p:cNvSpPr>
              <p:nvPr/>
            </p:nvSpPr>
            <p:spPr bwMode="auto">
              <a:xfrm flipV="1">
                <a:off x="1752" y="2193"/>
                <a:ext cx="384" cy="154"/>
              </a:xfrm>
              <a:prstGeom prst="line">
                <a:avLst/>
              </a:prstGeom>
              <a:noFill/>
              <a:ln w="28575" cap="rnd">
                <a:solidFill>
                  <a:schemeClr val="tx1"/>
                </a:solidFill>
                <a:prstDash val="sysDot"/>
                <a:round/>
                <a:headEnd/>
                <a:tailEnd/>
              </a:ln>
              <a:effectLst/>
            </p:spPr>
            <p:txBody>
              <a:bodyPr/>
              <a:lstStyle/>
              <a:p>
                <a:endParaRPr lang="en-US"/>
              </a:p>
            </p:txBody>
          </p:sp>
          <p:sp>
            <p:nvSpPr>
              <p:cNvPr id="139291" name="Line 27"/>
              <p:cNvSpPr>
                <a:spLocks noChangeShapeType="1"/>
              </p:cNvSpPr>
              <p:nvPr/>
            </p:nvSpPr>
            <p:spPr bwMode="auto">
              <a:xfrm>
                <a:off x="2122" y="1523"/>
                <a:ext cx="760" cy="0"/>
              </a:xfrm>
              <a:prstGeom prst="line">
                <a:avLst/>
              </a:prstGeom>
              <a:noFill/>
              <a:ln w="28575">
                <a:solidFill>
                  <a:schemeClr val="tx1"/>
                </a:solidFill>
                <a:round/>
                <a:headEnd/>
                <a:tailEnd/>
              </a:ln>
              <a:effectLst/>
            </p:spPr>
            <p:txBody>
              <a:bodyPr/>
              <a:lstStyle/>
              <a:p>
                <a:endParaRPr lang="en-US"/>
              </a:p>
            </p:txBody>
          </p:sp>
          <p:sp>
            <p:nvSpPr>
              <p:cNvPr id="139292" name="Line 28"/>
              <p:cNvSpPr>
                <a:spLocks noChangeShapeType="1"/>
              </p:cNvSpPr>
              <p:nvPr/>
            </p:nvSpPr>
            <p:spPr bwMode="auto">
              <a:xfrm rot="5400000">
                <a:off x="2543" y="1860"/>
                <a:ext cx="674" cy="0"/>
              </a:xfrm>
              <a:prstGeom prst="line">
                <a:avLst/>
              </a:prstGeom>
              <a:noFill/>
              <a:ln w="28575">
                <a:solidFill>
                  <a:schemeClr val="tx1"/>
                </a:solidFill>
                <a:round/>
                <a:headEnd/>
                <a:tailEnd/>
              </a:ln>
              <a:effectLst/>
            </p:spPr>
            <p:txBody>
              <a:bodyPr/>
              <a:lstStyle/>
              <a:p>
                <a:endParaRPr lang="en-US"/>
              </a:p>
            </p:txBody>
          </p:sp>
          <p:sp>
            <p:nvSpPr>
              <p:cNvPr id="139293" name="Line 29"/>
              <p:cNvSpPr>
                <a:spLocks noChangeShapeType="1"/>
              </p:cNvSpPr>
              <p:nvPr/>
            </p:nvSpPr>
            <p:spPr bwMode="auto">
              <a:xfrm>
                <a:off x="2132" y="2199"/>
                <a:ext cx="368" cy="0"/>
              </a:xfrm>
              <a:prstGeom prst="line">
                <a:avLst/>
              </a:prstGeom>
              <a:noFill/>
              <a:ln w="28575" cap="rnd">
                <a:solidFill>
                  <a:schemeClr val="tx1"/>
                </a:solidFill>
                <a:prstDash val="sysDot"/>
                <a:round/>
                <a:headEnd/>
                <a:tailEnd/>
              </a:ln>
              <a:effectLst/>
            </p:spPr>
            <p:txBody>
              <a:bodyPr/>
              <a:lstStyle/>
              <a:p>
                <a:endParaRPr lang="en-US"/>
              </a:p>
            </p:txBody>
          </p:sp>
          <p:sp>
            <p:nvSpPr>
              <p:cNvPr id="139294" name="Line 30"/>
              <p:cNvSpPr>
                <a:spLocks noChangeShapeType="1"/>
              </p:cNvSpPr>
              <p:nvPr/>
            </p:nvSpPr>
            <p:spPr bwMode="auto">
              <a:xfrm>
                <a:off x="2496" y="2199"/>
                <a:ext cx="390" cy="0"/>
              </a:xfrm>
              <a:prstGeom prst="line">
                <a:avLst/>
              </a:prstGeom>
              <a:noFill/>
              <a:ln w="28575">
                <a:solidFill>
                  <a:schemeClr val="tx1"/>
                </a:solidFill>
                <a:round/>
                <a:headEnd/>
                <a:tailEnd/>
              </a:ln>
              <a:effectLst/>
            </p:spPr>
            <p:txBody>
              <a:bodyPr/>
              <a:lstStyle/>
              <a:p>
                <a:endParaRPr lang="en-US"/>
              </a:p>
            </p:txBody>
          </p:sp>
          <p:sp>
            <p:nvSpPr>
              <p:cNvPr id="139295" name="Line 31"/>
              <p:cNvSpPr>
                <a:spLocks noChangeShapeType="1"/>
              </p:cNvSpPr>
              <p:nvPr/>
            </p:nvSpPr>
            <p:spPr bwMode="auto">
              <a:xfrm rot="5400000">
                <a:off x="2051" y="1602"/>
                <a:ext cx="150" cy="0"/>
              </a:xfrm>
              <a:prstGeom prst="line">
                <a:avLst/>
              </a:prstGeom>
              <a:noFill/>
              <a:ln w="28575">
                <a:solidFill>
                  <a:schemeClr val="tx1"/>
                </a:solidFill>
                <a:round/>
                <a:headEnd/>
                <a:tailEnd/>
              </a:ln>
              <a:effectLst/>
            </p:spPr>
            <p:txBody>
              <a:bodyPr/>
              <a:lstStyle/>
              <a:p>
                <a:endParaRPr lang="en-US"/>
              </a:p>
            </p:txBody>
          </p:sp>
          <p:sp>
            <p:nvSpPr>
              <p:cNvPr id="139296" name="Line 32"/>
              <p:cNvSpPr>
                <a:spLocks noChangeShapeType="1"/>
              </p:cNvSpPr>
              <p:nvPr/>
            </p:nvSpPr>
            <p:spPr bwMode="auto">
              <a:xfrm rot="16200000" flipH="1">
                <a:off x="1869" y="1942"/>
                <a:ext cx="516" cy="2"/>
              </a:xfrm>
              <a:prstGeom prst="line">
                <a:avLst/>
              </a:prstGeom>
              <a:noFill/>
              <a:ln w="28575" cap="rnd">
                <a:solidFill>
                  <a:schemeClr val="tx1"/>
                </a:solidFill>
                <a:prstDash val="sysDot"/>
                <a:round/>
                <a:headEnd/>
                <a:tailEnd/>
              </a:ln>
              <a:effectLst/>
            </p:spPr>
            <p:txBody>
              <a:bodyPr/>
              <a:lstStyle/>
              <a:p>
                <a:endParaRPr lang="en-US"/>
              </a:p>
            </p:txBody>
          </p:sp>
        </p:grpSp>
        <p:sp>
          <p:nvSpPr>
            <p:cNvPr id="139297" name="Oval 33"/>
            <p:cNvSpPr>
              <a:spLocks noChangeArrowheads="1"/>
            </p:cNvSpPr>
            <p:nvPr/>
          </p:nvSpPr>
          <p:spPr bwMode="auto">
            <a:xfrm>
              <a:off x="3694" y="2638"/>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298" name="Oval 34"/>
            <p:cNvSpPr>
              <a:spLocks noChangeArrowheads="1"/>
            </p:cNvSpPr>
            <p:nvPr/>
          </p:nvSpPr>
          <p:spPr bwMode="auto">
            <a:xfrm>
              <a:off x="3770" y="3008"/>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299" name="Oval 35"/>
            <p:cNvSpPr>
              <a:spLocks noChangeArrowheads="1"/>
            </p:cNvSpPr>
            <p:nvPr/>
          </p:nvSpPr>
          <p:spPr bwMode="auto">
            <a:xfrm>
              <a:off x="4122" y="2640"/>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00" name="Oval 36"/>
            <p:cNvSpPr>
              <a:spLocks noChangeArrowheads="1"/>
            </p:cNvSpPr>
            <p:nvPr/>
          </p:nvSpPr>
          <p:spPr bwMode="auto">
            <a:xfrm>
              <a:off x="4102" y="3046"/>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01" name="Oval 37"/>
            <p:cNvSpPr>
              <a:spLocks noChangeArrowheads="1"/>
            </p:cNvSpPr>
            <p:nvPr/>
          </p:nvSpPr>
          <p:spPr bwMode="auto">
            <a:xfrm>
              <a:off x="3966" y="2766"/>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02" name="Oval 38"/>
            <p:cNvSpPr>
              <a:spLocks noChangeArrowheads="1"/>
            </p:cNvSpPr>
            <p:nvPr/>
          </p:nvSpPr>
          <p:spPr bwMode="auto">
            <a:xfrm>
              <a:off x="4438" y="2782"/>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03" name="Oval 39"/>
            <p:cNvSpPr>
              <a:spLocks noChangeArrowheads="1"/>
            </p:cNvSpPr>
            <p:nvPr/>
          </p:nvSpPr>
          <p:spPr bwMode="auto">
            <a:xfrm>
              <a:off x="4190" y="2852"/>
              <a:ext cx="56" cy="5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04" name="Line 40"/>
            <p:cNvSpPr>
              <a:spLocks noChangeShapeType="1"/>
            </p:cNvSpPr>
            <p:nvPr/>
          </p:nvSpPr>
          <p:spPr bwMode="auto">
            <a:xfrm flipH="1" flipV="1">
              <a:off x="3838" y="2750"/>
              <a:ext cx="108" cy="30"/>
            </a:xfrm>
            <a:prstGeom prst="line">
              <a:avLst/>
            </a:prstGeom>
            <a:noFill/>
            <a:ln w="9525">
              <a:solidFill>
                <a:schemeClr val="tx1"/>
              </a:solidFill>
              <a:round/>
              <a:headEnd/>
              <a:tailEnd type="triangle" w="med" len="med"/>
            </a:ln>
            <a:effectLst/>
          </p:spPr>
          <p:txBody>
            <a:bodyPr/>
            <a:lstStyle/>
            <a:p>
              <a:endParaRPr lang="en-US"/>
            </a:p>
          </p:txBody>
        </p:sp>
        <p:sp>
          <p:nvSpPr>
            <p:cNvPr id="139305" name="Line 41"/>
            <p:cNvSpPr>
              <a:spLocks noChangeShapeType="1"/>
            </p:cNvSpPr>
            <p:nvPr/>
          </p:nvSpPr>
          <p:spPr bwMode="auto">
            <a:xfrm flipH="1">
              <a:off x="4370" y="2844"/>
              <a:ext cx="66" cy="66"/>
            </a:xfrm>
            <a:prstGeom prst="line">
              <a:avLst/>
            </a:prstGeom>
            <a:noFill/>
            <a:ln w="9525">
              <a:solidFill>
                <a:schemeClr val="tx1"/>
              </a:solidFill>
              <a:round/>
              <a:headEnd/>
              <a:tailEnd type="triangle" w="med" len="med"/>
            </a:ln>
            <a:effectLst/>
          </p:spPr>
          <p:txBody>
            <a:bodyPr/>
            <a:lstStyle/>
            <a:p>
              <a:endParaRPr lang="en-US"/>
            </a:p>
          </p:txBody>
        </p:sp>
        <p:sp>
          <p:nvSpPr>
            <p:cNvPr id="139306" name="Line 42"/>
            <p:cNvSpPr>
              <a:spLocks noChangeShapeType="1"/>
            </p:cNvSpPr>
            <p:nvPr/>
          </p:nvSpPr>
          <p:spPr bwMode="auto">
            <a:xfrm>
              <a:off x="3744" y="2698"/>
              <a:ext cx="126" cy="180"/>
            </a:xfrm>
            <a:prstGeom prst="line">
              <a:avLst/>
            </a:prstGeom>
            <a:noFill/>
            <a:ln w="9525">
              <a:solidFill>
                <a:schemeClr val="tx1"/>
              </a:solidFill>
              <a:round/>
              <a:headEnd/>
              <a:tailEnd type="triangle" w="med" len="med"/>
            </a:ln>
            <a:effectLst/>
          </p:spPr>
          <p:txBody>
            <a:bodyPr/>
            <a:lstStyle/>
            <a:p>
              <a:endParaRPr lang="en-US"/>
            </a:p>
          </p:txBody>
        </p:sp>
        <p:sp>
          <p:nvSpPr>
            <p:cNvPr id="139307" name="Line 43"/>
            <p:cNvSpPr>
              <a:spLocks noChangeShapeType="1"/>
            </p:cNvSpPr>
            <p:nvPr/>
          </p:nvSpPr>
          <p:spPr bwMode="auto">
            <a:xfrm flipV="1">
              <a:off x="4258" y="2798"/>
              <a:ext cx="138" cy="60"/>
            </a:xfrm>
            <a:prstGeom prst="line">
              <a:avLst/>
            </a:prstGeom>
            <a:noFill/>
            <a:ln w="9525">
              <a:solidFill>
                <a:schemeClr val="tx1"/>
              </a:solidFill>
              <a:round/>
              <a:headEnd/>
              <a:tailEnd type="triangle" w="med" len="med"/>
            </a:ln>
            <a:effectLst/>
          </p:spPr>
          <p:txBody>
            <a:bodyPr/>
            <a:lstStyle/>
            <a:p>
              <a:endParaRPr lang="en-US"/>
            </a:p>
          </p:txBody>
        </p:sp>
        <p:sp>
          <p:nvSpPr>
            <p:cNvPr id="139308" name="Line 44"/>
            <p:cNvSpPr>
              <a:spLocks noChangeShapeType="1"/>
            </p:cNvSpPr>
            <p:nvPr/>
          </p:nvSpPr>
          <p:spPr bwMode="auto">
            <a:xfrm flipH="1" flipV="1">
              <a:off x="3662" y="2976"/>
              <a:ext cx="90" cy="42"/>
            </a:xfrm>
            <a:prstGeom prst="line">
              <a:avLst/>
            </a:prstGeom>
            <a:noFill/>
            <a:ln w="9525">
              <a:solidFill>
                <a:schemeClr val="tx1"/>
              </a:solidFill>
              <a:round/>
              <a:headEnd/>
              <a:tailEnd type="triangle" w="med" len="med"/>
            </a:ln>
            <a:effectLst/>
          </p:spPr>
          <p:txBody>
            <a:bodyPr/>
            <a:lstStyle/>
            <a:p>
              <a:endParaRPr lang="en-US"/>
            </a:p>
          </p:txBody>
        </p:sp>
        <p:sp>
          <p:nvSpPr>
            <p:cNvPr id="139309" name="Line 45"/>
            <p:cNvSpPr>
              <a:spLocks noChangeShapeType="1"/>
            </p:cNvSpPr>
            <p:nvPr/>
          </p:nvSpPr>
          <p:spPr bwMode="auto">
            <a:xfrm flipH="1" flipV="1">
              <a:off x="4098" y="2722"/>
              <a:ext cx="24" cy="300"/>
            </a:xfrm>
            <a:prstGeom prst="line">
              <a:avLst/>
            </a:prstGeom>
            <a:noFill/>
            <a:ln w="9525">
              <a:solidFill>
                <a:schemeClr val="tx1"/>
              </a:solidFill>
              <a:round/>
              <a:headEnd/>
              <a:tailEnd type="triangle" w="med" len="med"/>
            </a:ln>
            <a:effectLst/>
          </p:spPr>
          <p:txBody>
            <a:bodyPr/>
            <a:lstStyle/>
            <a:p>
              <a:endParaRPr lang="en-US"/>
            </a:p>
          </p:txBody>
        </p:sp>
        <p:sp>
          <p:nvSpPr>
            <p:cNvPr id="139310" name="Line 46"/>
            <p:cNvSpPr>
              <a:spLocks noChangeShapeType="1"/>
            </p:cNvSpPr>
            <p:nvPr/>
          </p:nvSpPr>
          <p:spPr bwMode="auto">
            <a:xfrm flipV="1">
              <a:off x="4194" y="2662"/>
              <a:ext cx="204" cy="6"/>
            </a:xfrm>
            <a:prstGeom prst="line">
              <a:avLst/>
            </a:prstGeom>
            <a:noFill/>
            <a:ln w="9525">
              <a:solidFill>
                <a:schemeClr val="tx1"/>
              </a:solidFill>
              <a:round/>
              <a:headEnd/>
              <a:tailEnd type="triangle" w="med" len="med"/>
            </a:ln>
            <a:effectLst/>
          </p:spPr>
          <p:txBody>
            <a:bodyPr/>
            <a:lstStyle/>
            <a:p>
              <a:endParaRPr lang="en-US"/>
            </a:p>
          </p:txBody>
        </p:sp>
      </p:grpSp>
      <p:sp>
        <p:nvSpPr>
          <p:cNvPr id="139311" name="Text Box 47"/>
          <p:cNvSpPr txBox="1">
            <a:spLocks noChangeArrowheads="1"/>
          </p:cNvSpPr>
          <p:nvPr/>
        </p:nvSpPr>
        <p:spPr bwMode="auto">
          <a:xfrm>
            <a:off x="2995613" y="1954213"/>
            <a:ext cx="5619750" cy="1006475"/>
          </a:xfrm>
          <a:prstGeom prst="rect">
            <a:avLst/>
          </a:prstGeom>
          <a:noFill/>
          <a:ln w="9525">
            <a:noFill/>
            <a:miter lim="800000"/>
            <a:headEnd/>
            <a:tailEnd/>
          </a:ln>
          <a:effectLst/>
        </p:spPr>
        <p:txBody>
          <a:bodyPr>
            <a:spAutoFit/>
          </a:bodyPr>
          <a:lstStyle/>
          <a:p>
            <a:pPr algn="just"/>
            <a:r>
              <a:rPr lang="en-US" sz="2000"/>
              <a:t>A single molecule of O</a:t>
            </a:r>
            <a:r>
              <a:rPr lang="en-US" sz="2000" baseline="-25000"/>
              <a:t>2</a:t>
            </a:r>
            <a:r>
              <a:rPr lang="en-US" sz="2000"/>
              <a:t> moving within a box will bounce off the walls and  will impart a force each time</a:t>
            </a:r>
          </a:p>
        </p:txBody>
      </p:sp>
      <p:sp>
        <p:nvSpPr>
          <p:cNvPr id="139312" name="Text Box 48"/>
          <p:cNvSpPr txBox="1">
            <a:spLocks noChangeArrowheads="1"/>
          </p:cNvSpPr>
          <p:nvPr/>
        </p:nvSpPr>
        <p:spPr bwMode="auto">
          <a:xfrm>
            <a:off x="469900" y="3519488"/>
            <a:ext cx="5619750" cy="701675"/>
          </a:xfrm>
          <a:prstGeom prst="rect">
            <a:avLst/>
          </a:prstGeom>
          <a:noFill/>
          <a:ln w="9525">
            <a:noFill/>
            <a:miter lim="800000"/>
            <a:headEnd/>
            <a:tailEnd/>
          </a:ln>
          <a:effectLst/>
        </p:spPr>
        <p:txBody>
          <a:bodyPr>
            <a:spAutoFit/>
          </a:bodyPr>
          <a:lstStyle/>
          <a:p>
            <a:pPr algn="just"/>
            <a:r>
              <a:rPr lang="en-US" sz="2000"/>
              <a:t>Multiple molecules within the box will have lots impacts and will impart a higher average force</a:t>
            </a:r>
          </a:p>
        </p:txBody>
      </p:sp>
      <p:sp>
        <p:nvSpPr>
          <p:cNvPr id="139313" name="Text Box 49"/>
          <p:cNvSpPr txBox="1">
            <a:spLocks noChangeArrowheads="1"/>
          </p:cNvSpPr>
          <p:nvPr/>
        </p:nvSpPr>
        <p:spPr bwMode="auto">
          <a:xfrm>
            <a:off x="542925" y="4710113"/>
            <a:ext cx="8058150" cy="1006475"/>
          </a:xfrm>
          <a:prstGeom prst="rect">
            <a:avLst/>
          </a:prstGeom>
          <a:noFill/>
          <a:ln w="9525">
            <a:noFill/>
            <a:miter lim="800000"/>
            <a:headEnd/>
            <a:tailEnd/>
          </a:ln>
          <a:effectLst/>
        </p:spPr>
        <p:txBody>
          <a:bodyPr>
            <a:spAutoFit/>
          </a:bodyPr>
          <a:lstStyle/>
          <a:p>
            <a:pPr algn="just"/>
            <a:r>
              <a:rPr lang="en-US" sz="2000"/>
              <a:t>The </a:t>
            </a:r>
            <a:r>
              <a:rPr lang="en-US" sz="2000" i="1"/>
              <a:t>force per unit</a:t>
            </a:r>
            <a:r>
              <a:rPr lang="en-US" sz="2000"/>
              <a:t> area will be the same in all directions (on average).</a:t>
            </a:r>
          </a:p>
          <a:p>
            <a:pPr algn="just"/>
            <a:r>
              <a:rPr lang="en-US" sz="2000"/>
              <a:t>The more molecules or the faster they move (hotter gas), the greater the average force.</a:t>
            </a:r>
          </a:p>
        </p:txBody>
      </p:sp>
      <p:sp>
        <p:nvSpPr>
          <p:cNvPr id="139315" name="Text Box 51"/>
          <p:cNvSpPr txBox="1">
            <a:spLocks noChangeArrowheads="1"/>
          </p:cNvSpPr>
          <p:nvPr/>
        </p:nvSpPr>
        <p:spPr bwMode="auto">
          <a:xfrm>
            <a:off x="1255713" y="5894388"/>
            <a:ext cx="2246312" cy="396875"/>
          </a:xfrm>
          <a:prstGeom prst="rect">
            <a:avLst/>
          </a:prstGeom>
          <a:noFill/>
          <a:ln w="9525">
            <a:noFill/>
            <a:miter lim="800000"/>
            <a:headEnd/>
            <a:tailEnd/>
          </a:ln>
          <a:effectLst/>
        </p:spPr>
        <p:txBody>
          <a:bodyPr>
            <a:spAutoFit/>
          </a:bodyPr>
          <a:lstStyle/>
          <a:p>
            <a:pPr algn="just"/>
            <a:r>
              <a:rPr lang="en-US" sz="2000"/>
              <a:t>Pressure = force</a:t>
            </a:r>
          </a:p>
        </p:txBody>
      </p:sp>
      <p:sp>
        <p:nvSpPr>
          <p:cNvPr id="139316" name="Text Box 52"/>
          <p:cNvSpPr txBox="1">
            <a:spLocks noChangeArrowheads="1"/>
          </p:cNvSpPr>
          <p:nvPr/>
        </p:nvSpPr>
        <p:spPr bwMode="auto">
          <a:xfrm>
            <a:off x="2527300" y="6273800"/>
            <a:ext cx="803275" cy="396875"/>
          </a:xfrm>
          <a:prstGeom prst="rect">
            <a:avLst/>
          </a:prstGeom>
          <a:noFill/>
          <a:ln w="9525">
            <a:noFill/>
            <a:miter lim="800000"/>
            <a:headEnd/>
            <a:tailEnd/>
          </a:ln>
          <a:effectLst/>
        </p:spPr>
        <p:txBody>
          <a:bodyPr>
            <a:spAutoFit/>
          </a:bodyPr>
          <a:lstStyle/>
          <a:p>
            <a:r>
              <a:rPr lang="en-US" sz="2000"/>
              <a:t>area</a:t>
            </a:r>
          </a:p>
        </p:txBody>
      </p:sp>
      <p:sp>
        <p:nvSpPr>
          <p:cNvPr id="139317" name="Line 53"/>
          <p:cNvSpPr>
            <a:spLocks noChangeShapeType="1"/>
          </p:cNvSpPr>
          <p:nvPr/>
        </p:nvSpPr>
        <p:spPr bwMode="auto">
          <a:xfrm>
            <a:off x="2662238" y="6283325"/>
            <a:ext cx="531812" cy="0"/>
          </a:xfrm>
          <a:prstGeom prst="line">
            <a:avLst/>
          </a:prstGeom>
          <a:noFill/>
          <a:ln w="19050">
            <a:solidFill>
              <a:schemeClr val="tx1"/>
            </a:solidFill>
            <a:round/>
            <a:headEnd/>
            <a:tailEnd/>
          </a:ln>
          <a:effectLst/>
        </p:spPr>
        <p:txBody>
          <a:bodyPr/>
          <a:lstStyle/>
          <a:p>
            <a:endParaRPr lang="en-US"/>
          </a:p>
        </p:txBody>
      </p:sp>
      <p:sp>
        <p:nvSpPr>
          <p:cNvPr id="139318" name="Rectangle 54"/>
          <p:cNvSpPr>
            <a:spLocks noChangeArrowheads="1"/>
          </p:cNvSpPr>
          <p:nvPr/>
        </p:nvSpPr>
        <p:spPr bwMode="auto">
          <a:xfrm>
            <a:off x="1147763" y="5873750"/>
            <a:ext cx="2400300" cy="809625"/>
          </a:xfrm>
          <a:prstGeom prst="rect">
            <a:avLst/>
          </a:prstGeom>
          <a:noFill/>
          <a:ln w="19050">
            <a:solidFill>
              <a:schemeClr val="bg1"/>
            </a:solidFill>
            <a:miter lim="800000"/>
            <a:headEnd/>
            <a:tailEnd/>
          </a:ln>
          <a:effectLst/>
        </p:spPr>
        <p:txBody>
          <a:bodyPr wrap="none" anchor="ctr"/>
          <a:lstStyle/>
          <a:p>
            <a:endParaRPr lang="en-US"/>
          </a:p>
        </p:txBody>
      </p:sp>
      <p:sp>
        <p:nvSpPr>
          <p:cNvPr id="139319" name="Line 55"/>
          <p:cNvSpPr>
            <a:spLocks noChangeShapeType="1"/>
          </p:cNvSpPr>
          <p:nvPr/>
        </p:nvSpPr>
        <p:spPr bwMode="auto">
          <a:xfrm flipH="1" flipV="1">
            <a:off x="3365500" y="6097588"/>
            <a:ext cx="1077913" cy="141287"/>
          </a:xfrm>
          <a:prstGeom prst="line">
            <a:avLst/>
          </a:prstGeom>
          <a:noFill/>
          <a:ln w="9525">
            <a:solidFill>
              <a:schemeClr val="tx1"/>
            </a:solidFill>
            <a:round/>
            <a:headEnd/>
            <a:tailEnd type="triangle" w="med" len="med"/>
          </a:ln>
          <a:effectLst/>
        </p:spPr>
        <p:txBody>
          <a:bodyPr/>
          <a:lstStyle/>
          <a:p>
            <a:endParaRPr lang="en-US"/>
          </a:p>
        </p:txBody>
      </p:sp>
      <p:sp>
        <p:nvSpPr>
          <p:cNvPr id="139320" name="Text Box 56"/>
          <p:cNvSpPr txBox="1">
            <a:spLocks noChangeArrowheads="1"/>
          </p:cNvSpPr>
          <p:nvPr/>
        </p:nvSpPr>
        <p:spPr bwMode="auto">
          <a:xfrm>
            <a:off x="4494213" y="5970588"/>
            <a:ext cx="4032250" cy="641350"/>
          </a:xfrm>
          <a:prstGeom prst="rect">
            <a:avLst/>
          </a:prstGeom>
          <a:noFill/>
          <a:ln w="9525">
            <a:noFill/>
            <a:miter lim="800000"/>
            <a:headEnd/>
            <a:tailEnd/>
          </a:ln>
          <a:effectLst/>
        </p:spPr>
        <p:txBody>
          <a:bodyPr>
            <a:spAutoFit/>
          </a:bodyPr>
          <a:lstStyle/>
          <a:p>
            <a:pPr algn="just"/>
            <a:r>
              <a:rPr lang="en-US" sz="1800"/>
              <a:t>Generally, more molecules or hotter molecules increase the pressure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269875" y="298450"/>
            <a:ext cx="3214688" cy="519113"/>
          </a:xfrm>
          <a:prstGeom prst="rect">
            <a:avLst/>
          </a:prstGeom>
          <a:noFill/>
          <a:ln w="9525">
            <a:noFill/>
            <a:miter lim="800000"/>
            <a:headEnd/>
            <a:tailEnd/>
          </a:ln>
          <a:effectLst/>
        </p:spPr>
        <p:txBody>
          <a:bodyPr wrap="none">
            <a:spAutoFit/>
          </a:bodyPr>
          <a:lstStyle/>
          <a:p>
            <a:pPr algn="l"/>
            <a:r>
              <a:rPr lang="en-GB" sz="2800"/>
              <a:t>Medical gas supply</a:t>
            </a:r>
          </a:p>
        </p:txBody>
      </p:sp>
      <p:sp>
        <p:nvSpPr>
          <p:cNvPr id="130051" name="Text Box 3"/>
          <p:cNvSpPr txBox="1">
            <a:spLocks noChangeArrowheads="1"/>
          </p:cNvSpPr>
          <p:nvPr/>
        </p:nvSpPr>
        <p:spPr bwMode="auto">
          <a:xfrm>
            <a:off x="533400" y="766763"/>
            <a:ext cx="6502400" cy="595312"/>
          </a:xfrm>
          <a:prstGeom prst="rect">
            <a:avLst/>
          </a:prstGeom>
          <a:noFill/>
          <a:ln w="9525">
            <a:noFill/>
            <a:miter lim="800000"/>
            <a:headEnd/>
            <a:tailEnd/>
          </a:ln>
          <a:effectLst/>
        </p:spPr>
        <p:txBody>
          <a:bodyPr>
            <a:spAutoFit/>
          </a:bodyPr>
          <a:lstStyle/>
          <a:p>
            <a:pPr algn="l">
              <a:lnSpc>
                <a:spcPct val="150000"/>
              </a:lnSpc>
            </a:pPr>
            <a:r>
              <a:rPr lang="en-GB" sz="2200"/>
              <a:t>A brief overview of relevant gas physics (cont.)</a:t>
            </a:r>
          </a:p>
        </p:txBody>
      </p:sp>
      <p:sp>
        <p:nvSpPr>
          <p:cNvPr id="130052" name="Text Box 4"/>
          <p:cNvSpPr txBox="1">
            <a:spLocks noChangeArrowheads="1"/>
          </p:cNvSpPr>
          <p:nvPr/>
        </p:nvSpPr>
        <p:spPr bwMode="auto">
          <a:xfrm>
            <a:off x="395288" y="2565400"/>
            <a:ext cx="8351837" cy="1098550"/>
          </a:xfrm>
          <a:prstGeom prst="rect">
            <a:avLst/>
          </a:prstGeom>
          <a:noFill/>
          <a:ln w="9525">
            <a:noFill/>
            <a:miter lim="800000"/>
            <a:headEnd/>
            <a:tailEnd/>
          </a:ln>
          <a:effectLst/>
        </p:spPr>
        <p:txBody>
          <a:bodyPr>
            <a:spAutoFit/>
          </a:bodyPr>
          <a:lstStyle/>
          <a:p>
            <a:pPr algn="l">
              <a:lnSpc>
                <a:spcPct val="150000"/>
              </a:lnSpc>
            </a:pPr>
            <a:r>
              <a:rPr lang="en-GB" sz="2200"/>
              <a:t>What is the relationship between pressure, temperature and volume?</a:t>
            </a:r>
          </a:p>
        </p:txBody>
      </p:sp>
      <p:sp>
        <p:nvSpPr>
          <p:cNvPr id="130054" name="Text Box 6"/>
          <p:cNvSpPr txBox="1">
            <a:spLocks noChangeArrowheads="1"/>
          </p:cNvSpPr>
          <p:nvPr/>
        </p:nvSpPr>
        <p:spPr bwMode="auto">
          <a:xfrm>
            <a:off x="3479800" y="1547813"/>
            <a:ext cx="2246313" cy="396875"/>
          </a:xfrm>
          <a:prstGeom prst="rect">
            <a:avLst/>
          </a:prstGeom>
          <a:noFill/>
          <a:ln w="9525">
            <a:noFill/>
            <a:miter lim="800000"/>
            <a:headEnd/>
            <a:tailEnd/>
          </a:ln>
          <a:effectLst/>
        </p:spPr>
        <p:txBody>
          <a:bodyPr>
            <a:spAutoFit/>
          </a:bodyPr>
          <a:lstStyle/>
          <a:p>
            <a:pPr algn="just"/>
            <a:r>
              <a:rPr lang="en-US" sz="2000"/>
              <a:t>Pressure = force</a:t>
            </a:r>
          </a:p>
        </p:txBody>
      </p:sp>
      <p:sp>
        <p:nvSpPr>
          <p:cNvPr id="130055" name="Text Box 7"/>
          <p:cNvSpPr txBox="1">
            <a:spLocks noChangeArrowheads="1"/>
          </p:cNvSpPr>
          <p:nvPr/>
        </p:nvSpPr>
        <p:spPr bwMode="auto">
          <a:xfrm>
            <a:off x="4751388" y="1927225"/>
            <a:ext cx="803275" cy="396875"/>
          </a:xfrm>
          <a:prstGeom prst="rect">
            <a:avLst/>
          </a:prstGeom>
          <a:noFill/>
          <a:ln w="9525">
            <a:noFill/>
            <a:miter lim="800000"/>
            <a:headEnd/>
            <a:tailEnd/>
          </a:ln>
          <a:effectLst/>
        </p:spPr>
        <p:txBody>
          <a:bodyPr>
            <a:spAutoFit/>
          </a:bodyPr>
          <a:lstStyle/>
          <a:p>
            <a:r>
              <a:rPr lang="en-US" sz="2000"/>
              <a:t>area</a:t>
            </a:r>
          </a:p>
        </p:txBody>
      </p:sp>
      <p:sp>
        <p:nvSpPr>
          <p:cNvPr id="130056" name="Line 8"/>
          <p:cNvSpPr>
            <a:spLocks noChangeShapeType="1"/>
          </p:cNvSpPr>
          <p:nvPr/>
        </p:nvSpPr>
        <p:spPr bwMode="auto">
          <a:xfrm>
            <a:off x="4886325" y="1936750"/>
            <a:ext cx="531813" cy="0"/>
          </a:xfrm>
          <a:prstGeom prst="line">
            <a:avLst/>
          </a:prstGeom>
          <a:noFill/>
          <a:ln w="19050">
            <a:solidFill>
              <a:schemeClr val="tx1"/>
            </a:solidFill>
            <a:round/>
            <a:headEnd/>
            <a:tailEnd/>
          </a:ln>
          <a:effectLst/>
        </p:spPr>
        <p:txBody>
          <a:bodyPr/>
          <a:lstStyle/>
          <a:p>
            <a:endParaRPr lang="en-US"/>
          </a:p>
        </p:txBody>
      </p:sp>
      <p:sp>
        <p:nvSpPr>
          <p:cNvPr id="130057" name="Rectangle 9"/>
          <p:cNvSpPr>
            <a:spLocks noChangeArrowheads="1"/>
          </p:cNvSpPr>
          <p:nvPr/>
        </p:nvSpPr>
        <p:spPr bwMode="auto">
          <a:xfrm>
            <a:off x="3371850" y="1527175"/>
            <a:ext cx="2400300" cy="809625"/>
          </a:xfrm>
          <a:prstGeom prst="rect">
            <a:avLst/>
          </a:prstGeom>
          <a:noFill/>
          <a:ln w="19050">
            <a:solidFill>
              <a:schemeClr val="tx1"/>
            </a:solidFill>
            <a:miter lim="800000"/>
            <a:headEnd/>
            <a:tailEnd/>
          </a:ln>
          <a:effectLst/>
        </p:spPr>
        <p:txBody>
          <a:bodyPr wrap="none" anchor="ctr"/>
          <a:lstStyle/>
          <a:p>
            <a:endParaRPr lang="en-US"/>
          </a:p>
        </p:txBody>
      </p:sp>
      <p:sp>
        <p:nvSpPr>
          <p:cNvPr id="130058" name="Line 10"/>
          <p:cNvSpPr>
            <a:spLocks noChangeShapeType="1"/>
          </p:cNvSpPr>
          <p:nvPr/>
        </p:nvSpPr>
        <p:spPr bwMode="auto">
          <a:xfrm flipV="1">
            <a:off x="2560638" y="1727200"/>
            <a:ext cx="914400" cy="244475"/>
          </a:xfrm>
          <a:prstGeom prst="line">
            <a:avLst/>
          </a:prstGeom>
          <a:noFill/>
          <a:ln w="9525">
            <a:solidFill>
              <a:schemeClr val="tx1"/>
            </a:solidFill>
            <a:round/>
            <a:headEnd/>
            <a:tailEnd type="triangle" w="med" len="med"/>
          </a:ln>
          <a:effectLst/>
        </p:spPr>
        <p:txBody>
          <a:bodyPr/>
          <a:lstStyle/>
          <a:p>
            <a:endParaRPr lang="en-US"/>
          </a:p>
        </p:txBody>
      </p:sp>
      <p:sp>
        <p:nvSpPr>
          <p:cNvPr id="130059" name="Line 11"/>
          <p:cNvSpPr>
            <a:spLocks noChangeShapeType="1"/>
          </p:cNvSpPr>
          <p:nvPr/>
        </p:nvSpPr>
        <p:spPr bwMode="auto">
          <a:xfrm flipH="1">
            <a:off x="5507038" y="1463675"/>
            <a:ext cx="1098550" cy="203200"/>
          </a:xfrm>
          <a:prstGeom prst="line">
            <a:avLst/>
          </a:prstGeom>
          <a:noFill/>
          <a:ln w="9525">
            <a:solidFill>
              <a:schemeClr val="tx1"/>
            </a:solidFill>
            <a:round/>
            <a:headEnd/>
            <a:tailEnd type="triangle" w="med" len="med"/>
          </a:ln>
          <a:effectLst/>
        </p:spPr>
        <p:txBody>
          <a:bodyPr/>
          <a:lstStyle/>
          <a:p>
            <a:endParaRPr lang="en-US"/>
          </a:p>
        </p:txBody>
      </p:sp>
      <p:sp>
        <p:nvSpPr>
          <p:cNvPr id="130060" name="Line 12"/>
          <p:cNvSpPr>
            <a:spLocks noChangeShapeType="1"/>
          </p:cNvSpPr>
          <p:nvPr/>
        </p:nvSpPr>
        <p:spPr bwMode="auto">
          <a:xfrm flipH="1" flipV="1">
            <a:off x="5507038" y="2133600"/>
            <a:ext cx="1138237" cy="222250"/>
          </a:xfrm>
          <a:prstGeom prst="line">
            <a:avLst/>
          </a:prstGeom>
          <a:noFill/>
          <a:ln w="9525">
            <a:solidFill>
              <a:schemeClr val="tx1"/>
            </a:solidFill>
            <a:round/>
            <a:headEnd/>
            <a:tailEnd type="triangle" w="med" len="med"/>
          </a:ln>
          <a:effectLst/>
        </p:spPr>
        <p:txBody>
          <a:bodyPr/>
          <a:lstStyle/>
          <a:p>
            <a:endParaRPr lang="en-US"/>
          </a:p>
        </p:txBody>
      </p:sp>
      <p:sp>
        <p:nvSpPr>
          <p:cNvPr id="130061" name="Text Box 13"/>
          <p:cNvSpPr txBox="1">
            <a:spLocks noChangeArrowheads="1"/>
          </p:cNvSpPr>
          <p:nvPr/>
        </p:nvSpPr>
        <p:spPr bwMode="auto">
          <a:xfrm>
            <a:off x="1766888" y="1462088"/>
            <a:ext cx="1117600" cy="1098550"/>
          </a:xfrm>
          <a:prstGeom prst="rect">
            <a:avLst/>
          </a:prstGeom>
          <a:noFill/>
          <a:ln w="9525">
            <a:noFill/>
            <a:miter lim="800000"/>
            <a:headEnd/>
            <a:tailEnd/>
          </a:ln>
          <a:effectLst/>
        </p:spPr>
        <p:txBody>
          <a:bodyPr>
            <a:spAutoFit/>
          </a:bodyPr>
          <a:lstStyle/>
          <a:p>
            <a:pPr algn="l">
              <a:lnSpc>
                <a:spcPct val="150000"/>
              </a:lnSpc>
            </a:pPr>
            <a:r>
              <a:rPr lang="en-GB" sz="2200"/>
              <a:t>N / m</a:t>
            </a:r>
            <a:r>
              <a:rPr lang="en-GB" sz="2200" baseline="30000"/>
              <a:t>2</a:t>
            </a:r>
          </a:p>
          <a:p>
            <a:pPr algn="l">
              <a:lnSpc>
                <a:spcPct val="150000"/>
              </a:lnSpc>
            </a:pPr>
            <a:r>
              <a:rPr lang="en-GB" sz="2200"/>
              <a:t>(Pa)</a:t>
            </a:r>
          </a:p>
        </p:txBody>
      </p:sp>
      <p:sp>
        <p:nvSpPr>
          <p:cNvPr id="130062" name="Text Box 14"/>
          <p:cNvSpPr txBox="1">
            <a:spLocks noChangeArrowheads="1"/>
          </p:cNvSpPr>
          <p:nvPr/>
        </p:nvSpPr>
        <p:spPr bwMode="auto">
          <a:xfrm>
            <a:off x="6669088" y="2065338"/>
            <a:ext cx="568325" cy="595312"/>
          </a:xfrm>
          <a:prstGeom prst="rect">
            <a:avLst/>
          </a:prstGeom>
          <a:noFill/>
          <a:ln w="9525">
            <a:noFill/>
            <a:miter lim="800000"/>
            <a:headEnd/>
            <a:tailEnd/>
          </a:ln>
          <a:effectLst/>
        </p:spPr>
        <p:txBody>
          <a:bodyPr>
            <a:spAutoFit/>
          </a:bodyPr>
          <a:lstStyle/>
          <a:p>
            <a:pPr algn="l">
              <a:lnSpc>
                <a:spcPct val="150000"/>
              </a:lnSpc>
            </a:pPr>
            <a:r>
              <a:rPr lang="en-GB" sz="2200"/>
              <a:t>m</a:t>
            </a:r>
            <a:r>
              <a:rPr lang="en-GB" sz="2200" baseline="30000"/>
              <a:t>2</a:t>
            </a:r>
          </a:p>
        </p:txBody>
      </p:sp>
      <p:sp>
        <p:nvSpPr>
          <p:cNvPr id="130063" name="Text Box 15"/>
          <p:cNvSpPr txBox="1">
            <a:spLocks noChangeArrowheads="1"/>
          </p:cNvSpPr>
          <p:nvPr/>
        </p:nvSpPr>
        <p:spPr bwMode="auto">
          <a:xfrm>
            <a:off x="6669088" y="1122363"/>
            <a:ext cx="466725" cy="595312"/>
          </a:xfrm>
          <a:prstGeom prst="rect">
            <a:avLst/>
          </a:prstGeom>
          <a:noFill/>
          <a:ln w="9525">
            <a:noFill/>
            <a:miter lim="800000"/>
            <a:headEnd/>
            <a:tailEnd/>
          </a:ln>
          <a:effectLst/>
        </p:spPr>
        <p:txBody>
          <a:bodyPr>
            <a:spAutoFit/>
          </a:bodyPr>
          <a:lstStyle/>
          <a:p>
            <a:pPr algn="l">
              <a:lnSpc>
                <a:spcPct val="150000"/>
              </a:lnSpc>
            </a:pPr>
            <a:r>
              <a:rPr lang="en-GB" sz="2200"/>
              <a:t>N</a:t>
            </a:r>
          </a:p>
        </p:txBody>
      </p:sp>
      <p:sp>
        <p:nvSpPr>
          <p:cNvPr id="130064" name="Text Box 16"/>
          <p:cNvSpPr txBox="1">
            <a:spLocks noChangeArrowheads="1"/>
          </p:cNvSpPr>
          <p:nvPr/>
        </p:nvSpPr>
        <p:spPr bwMode="auto">
          <a:xfrm>
            <a:off x="1031875" y="3732213"/>
            <a:ext cx="7080250" cy="701675"/>
          </a:xfrm>
          <a:prstGeom prst="rect">
            <a:avLst/>
          </a:prstGeom>
          <a:noFill/>
          <a:ln w="9525">
            <a:noFill/>
            <a:miter lim="800000"/>
            <a:headEnd/>
            <a:tailEnd/>
          </a:ln>
          <a:effectLst/>
        </p:spPr>
        <p:txBody>
          <a:bodyPr>
            <a:spAutoFit/>
          </a:bodyPr>
          <a:lstStyle/>
          <a:p>
            <a:pPr algn="just"/>
            <a:r>
              <a:rPr lang="en-US" sz="2000"/>
              <a:t>As mentioned before, more molecules or hotter molecules give an increased pressure…</a:t>
            </a:r>
          </a:p>
        </p:txBody>
      </p:sp>
      <p:sp>
        <p:nvSpPr>
          <p:cNvPr id="130067" name="Text Box 19"/>
          <p:cNvSpPr txBox="1">
            <a:spLocks noChangeArrowheads="1"/>
          </p:cNvSpPr>
          <p:nvPr/>
        </p:nvSpPr>
        <p:spPr bwMode="auto">
          <a:xfrm>
            <a:off x="3692525" y="4686300"/>
            <a:ext cx="1758950" cy="466725"/>
          </a:xfrm>
          <a:prstGeom prst="rect">
            <a:avLst/>
          </a:prstGeom>
          <a:noFill/>
          <a:ln w="9525">
            <a:solidFill>
              <a:schemeClr val="tx1"/>
            </a:solidFill>
            <a:miter lim="800000"/>
            <a:headEnd/>
            <a:tailEnd/>
          </a:ln>
          <a:effectLst/>
        </p:spPr>
        <p:txBody>
          <a:bodyPr>
            <a:spAutoFit/>
          </a:bodyPr>
          <a:lstStyle/>
          <a:p>
            <a:r>
              <a:rPr lang="en-US" sz="2400"/>
              <a:t>PV = nRT</a:t>
            </a:r>
          </a:p>
        </p:txBody>
      </p:sp>
      <p:sp>
        <p:nvSpPr>
          <p:cNvPr id="130076" name="Line 28"/>
          <p:cNvSpPr>
            <a:spLocks noChangeShapeType="1"/>
          </p:cNvSpPr>
          <p:nvPr/>
        </p:nvSpPr>
        <p:spPr bwMode="auto">
          <a:xfrm>
            <a:off x="2286000" y="4686300"/>
            <a:ext cx="1362075" cy="141288"/>
          </a:xfrm>
          <a:prstGeom prst="line">
            <a:avLst/>
          </a:prstGeom>
          <a:noFill/>
          <a:ln w="9525">
            <a:solidFill>
              <a:schemeClr val="tx1"/>
            </a:solidFill>
            <a:round/>
            <a:headEnd/>
            <a:tailEnd type="triangle" w="med" len="med"/>
          </a:ln>
          <a:effectLst/>
        </p:spPr>
        <p:txBody>
          <a:bodyPr/>
          <a:lstStyle/>
          <a:p>
            <a:endParaRPr lang="en-US"/>
          </a:p>
        </p:txBody>
      </p:sp>
      <p:sp>
        <p:nvSpPr>
          <p:cNvPr id="130078" name="Line 30"/>
          <p:cNvSpPr>
            <a:spLocks noChangeShapeType="1"/>
          </p:cNvSpPr>
          <p:nvPr/>
        </p:nvSpPr>
        <p:spPr bwMode="auto">
          <a:xfrm flipV="1">
            <a:off x="2914650" y="5200650"/>
            <a:ext cx="1117600" cy="549275"/>
          </a:xfrm>
          <a:prstGeom prst="line">
            <a:avLst/>
          </a:prstGeom>
          <a:noFill/>
          <a:ln w="9525">
            <a:solidFill>
              <a:schemeClr val="tx1"/>
            </a:solidFill>
            <a:round/>
            <a:headEnd/>
            <a:tailEnd type="triangle" w="med" len="med"/>
          </a:ln>
          <a:effectLst/>
        </p:spPr>
        <p:txBody>
          <a:bodyPr/>
          <a:lstStyle/>
          <a:p>
            <a:endParaRPr lang="en-US"/>
          </a:p>
        </p:txBody>
      </p:sp>
      <p:sp>
        <p:nvSpPr>
          <p:cNvPr id="130079" name="Line 31"/>
          <p:cNvSpPr>
            <a:spLocks noChangeShapeType="1"/>
          </p:cNvSpPr>
          <p:nvPr/>
        </p:nvSpPr>
        <p:spPr bwMode="auto">
          <a:xfrm flipH="1" flipV="1">
            <a:off x="4714875" y="5180013"/>
            <a:ext cx="163513" cy="508000"/>
          </a:xfrm>
          <a:prstGeom prst="line">
            <a:avLst/>
          </a:prstGeom>
          <a:noFill/>
          <a:ln w="9525">
            <a:solidFill>
              <a:schemeClr val="tx1"/>
            </a:solidFill>
            <a:round/>
            <a:headEnd/>
            <a:tailEnd type="triangle" w="med" len="med"/>
          </a:ln>
          <a:effectLst/>
        </p:spPr>
        <p:txBody>
          <a:bodyPr/>
          <a:lstStyle/>
          <a:p>
            <a:endParaRPr lang="en-US"/>
          </a:p>
        </p:txBody>
      </p:sp>
      <p:sp>
        <p:nvSpPr>
          <p:cNvPr id="130080" name="Line 32"/>
          <p:cNvSpPr>
            <a:spLocks noChangeShapeType="1"/>
          </p:cNvSpPr>
          <p:nvPr/>
        </p:nvSpPr>
        <p:spPr bwMode="auto">
          <a:xfrm flipH="1">
            <a:off x="4686299" y="4400550"/>
            <a:ext cx="1398587" cy="285750"/>
          </a:xfrm>
          <a:prstGeom prst="line">
            <a:avLst/>
          </a:prstGeom>
          <a:noFill/>
          <a:ln w="9525">
            <a:solidFill>
              <a:schemeClr val="tx1"/>
            </a:solidFill>
            <a:round/>
            <a:headEnd/>
            <a:tailEnd type="triangle" w="med" len="med"/>
          </a:ln>
          <a:effectLst/>
        </p:spPr>
        <p:txBody>
          <a:bodyPr/>
          <a:lstStyle/>
          <a:p>
            <a:endParaRPr lang="en-US"/>
          </a:p>
        </p:txBody>
      </p:sp>
      <p:sp>
        <p:nvSpPr>
          <p:cNvPr id="130081" name="Line 33"/>
          <p:cNvSpPr>
            <a:spLocks noChangeShapeType="1"/>
          </p:cNvSpPr>
          <p:nvPr/>
        </p:nvSpPr>
        <p:spPr bwMode="auto">
          <a:xfrm flipH="1" flipV="1">
            <a:off x="4914900" y="5029200"/>
            <a:ext cx="1428750" cy="628650"/>
          </a:xfrm>
          <a:prstGeom prst="line">
            <a:avLst/>
          </a:prstGeom>
          <a:noFill/>
          <a:ln w="9525">
            <a:solidFill>
              <a:schemeClr val="tx1"/>
            </a:solidFill>
            <a:round/>
            <a:headEnd/>
            <a:tailEnd type="triangle" w="med" len="med"/>
          </a:ln>
          <a:effectLst/>
        </p:spPr>
        <p:txBody>
          <a:bodyPr/>
          <a:lstStyle/>
          <a:p>
            <a:endParaRPr lang="en-US"/>
          </a:p>
        </p:txBody>
      </p:sp>
      <p:sp>
        <p:nvSpPr>
          <p:cNvPr id="130082" name="Text Box 34"/>
          <p:cNvSpPr txBox="1">
            <a:spLocks noChangeArrowheads="1"/>
          </p:cNvSpPr>
          <p:nvPr/>
        </p:nvSpPr>
        <p:spPr bwMode="auto">
          <a:xfrm>
            <a:off x="695325" y="4402138"/>
            <a:ext cx="1970088" cy="549275"/>
          </a:xfrm>
          <a:prstGeom prst="rect">
            <a:avLst/>
          </a:prstGeom>
          <a:noFill/>
          <a:ln w="9525">
            <a:noFill/>
            <a:miter lim="800000"/>
            <a:headEnd/>
            <a:tailEnd/>
          </a:ln>
          <a:effectLst/>
        </p:spPr>
        <p:txBody>
          <a:bodyPr>
            <a:spAutoFit/>
          </a:bodyPr>
          <a:lstStyle/>
          <a:p>
            <a:pPr algn="l">
              <a:lnSpc>
                <a:spcPct val="150000"/>
              </a:lnSpc>
            </a:pPr>
            <a:r>
              <a:rPr lang="en-GB" sz="2000"/>
              <a:t>Pressure (Pa)</a:t>
            </a:r>
          </a:p>
        </p:txBody>
      </p:sp>
      <p:sp>
        <p:nvSpPr>
          <p:cNvPr id="130083" name="Text Box 35"/>
          <p:cNvSpPr txBox="1">
            <a:spLocks noChangeArrowheads="1"/>
          </p:cNvSpPr>
          <p:nvPr/>
        </p:nvSpPr>
        <p:spPr bwMode="auto">
          <a:xfrm>
            <a:off x="1298575" y="5411788"/>
            <a:ext cx="1624013" cy="549275"/>
          </a:xfrm>
          <a:prstGeom prst="rect">
            <a:avLst/>
          </a:prstGeom>
          <a:noFill/>
          <a:ln w="9525">
            <a:noFill/>
            <a:miter lim="800000"/>
            <a:headEnd/>
            <a:tailEnd/>
          </a:ln>
          <a:effectLst/>
        </p:spPr>
        <p:txBody>
          <a:bodyPr>
            <a:spAutoFit/>
          </a:bodyPr>
          <a:lstStyle/>
          <a:p>
            <a:pPr algn="l">
              <a:lnSpc>
                <a:spcPct val="150000"/>
              </a:lnSpc>
            </a:pPr>
            <a:r>
              <a:rPr lang="en-GB" sz="2000"/>
              <a:t>Volume (m</a:t>
            </a:r>
            <a:r>
              <a:rPr lang="en-GB" sz="2000" baseline="30000"/>
              <a:t>3</a:t>
            </a:r>
            <a:r>
              <a:rPr lang="en-GB" sz="2000"/>
              <a:t>)</a:t>
            </a:r>
          </a:p>
        </p:txBody>
      </p:sp>
      <p:sp>
        <p:nvSpPr>
          <p:cNvPr id="130084" name="Text Box 36"/>
          <p:cNvSpPr txBox="1">
            <a:spLocks noChangeArrowheads="1"/>
          </p:cNvSpPr>
          <p:nvPr/>
        </p:nvSpPr>
        <p:spPr bwMode="auto">
          <a:xfrm>
            <a:off x="3325813" y="5521325"/>
            <a:ext cx="3413125" cy="549275"/>
          </a:xfrm>
          <a:prstGeom prst="rect">
            <a:avLst/>
          </a:prstGeom>
          <a:noFill/>
          <a:ln w="9525">
            <a:noFill/>
            <a:miter lim="800000"/>
            <a:headEnd/>
            <a:tailEnd/>
          </a:ln>
          <a:effectLst/>
        </p:spPr>
        <p:txBody>
          <a:bodyPr>
            <a:spAutoFit/>
          </a:bodyPr>
          <a:lstStyle/>
          <a:p>
            <a:pPr algn="l">
              <a:lnSpc>
                <a:spcPct val="150000"/>
              </a:lnSpc>
            </a:pPr>
            <a:r>
              <a:rPr lang="en-GB" sz="2000"/>
              <a:t>Number of moles of gas</a:t>
            </a:r>
          </a:p>
        </p:txBody>
      </p:sp>
      <p:sp>
        <p:nvSpPr>
          <p:cNvPr id="130085" name="Text Box 37"/>
          <p:cNvSpPr txBox="1">
            <a:spLocks noChangeArrowheads="1"/>
          </p:cNvSpPr>
          <p:nvPr/>
        </p:nvSpPr>
        <p:spPr bwMode="auto">
          <a:xfrm>
            <a:off x="6342063" y="5197475"/>
            <a:ext cx="2581275" cy="854075"/>
          </a:xfrm>
          <a:prstGeom prst="rect">
            <a:avLst/>
          </a:prstGeom>
          <a:noFill/>
          <a:ln w="9525">
            <a:noFill/>
            <a:miter lim="800000"/>
            <a:headEnd/>
            <a:tailEnd/>
          </a:ln>
          <a:effectLst/>
        </p:spPr>
        <p:txBody>
          <a:bodyPr>
            <a:spAutoFit/>
          </a:bodyPr>
          <a:lstStyle/>
          <a:p>
            <a:pPr algn="l">
              <a:lnSpc>
                <a:spcPct val="125000"/>
              </a:lnSpc>
            </a:pPr>
            <a:r>
              <a:rPr lang="en-GB" sz="2000"/>
              <a:t>Absolute temperature (Kelvin)</a:t>
            </a:r>
          </a:p>
        </p:txBody>
      </p:sp>
      <p:sp>
        <p:nvSpPr>
          <p:cNvPr id="130086" name="Text Box 38"/>
          <p:cNvSpPr txBox="1">
            <a:spLocks noChangeArrowheads="1"/>
          </p:cNvSpPr>
          <p:nvPr/>
        </p:nvSpPr>
        <p:spPr bwMode="auto">
          <a:xfrm>
            <a:off x="6048375" y="4233863"/>
            <a:ext cx="2762250" cy="779462"/>
          </a:xfrm>
          <a:prstGeom prst="rect">
            <a:avLst/>
          </a:prstGeom>
          <a:noFill/>
          <a:ln w="9525">
            <a:noFill/>
            <a:miter lim="800000"/>
            <a:headEnd/>
            <a:tailEnd/>
          </a:ln>
          <a:effectLst/>
        </p:spPr>
        <p:txBody>
          <a:bodyPr>
            <a:spAutoFit/>
          </a:bodyPr>
          <a:lstStyle/>
          <a:p>
            <a:pPr algn="l">
              <a:lnSpc>
                <a:spcPct val="125000"/>
              </a:lnSpc>
            </a:pPr>
            <a:r>
              <a:rPr lang="en-GB" sz="2000"/>
              <a:t>Universal gas constant</a:t>
            </a:r>
          </a:p>
          <a:p>
            <a:pPr algn="l">
              <a:lnSpc>
                <a:spcPct val="125000"/>
              </a:lnSpc>
            </a:pPr>
            <a:r>
              <a:rPr lang="en-GB" sz="1600"/>
              <a:t>(8.314 J/mol/K)</a:t>
            </a:r>
          </a:p>
        </p:txBody>
      </p:sp>
      <p:sp>
        <p:nvSpPr>
          <p:cNvPr id="130087" name="Text Box 39"/>
          <p:cNvSpPr txBox="1">
            <a:spLocks noChangeArrowheads="1"/>
          </p:cNvSpPr>
          <p:nvPr/>
        </p:nvSpPr>
        <p:spPr bwMode="auto">
          <a:xfrm>
            <a:off x="2208213" y="6226175"/>
            <a:ext cx="4725987" cy="466725"/>
          </a:xfrm>
          <a:prstGeom prst="rect">
            <a:avLst/>
          </a:prstGeom>
          <a:noFill/>
          <a:ln w="9525">
            <a:solidFill>
              <a:schemeClr val="bg1"/>
            </a:solidFill>
            <a:miter lim="800000"/>
            <a:headEnd/>
            <a:tailEnd/>
          </a:ln>
          <a:effectLst/>
        </p:spPr>
        <p:txBody>
          <a:bodyPr>
            <a:spAutoFit/>
          </a:bodyPr>
          <a:lstStyle/>
          <a:p>
            <a:r>
              <a:rPr lang="en-US" sz="2400"/>
              <a:t>This is the “Universal Gas Law”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269875" y="298450"/>
            <a:ext cx="3214688" cy="519113"/>
          </a:xfrm>
          <a:prstGeom prst="rect">
            <a:avLst/>
          </a:prstGeom>
          <a:noFill/>
          <a:ln w="9525">
            <a:noFill/>
            <a:miter lim="800000"/>
            <a:headEnd/>
            <a:tailEnd/>
          </a:ln>
          <a:effectLst/>
        </p:spPr>
        <p:txBody>
          <a:bodyPr wrap="none">
            <a:spAutoFit/>
          </a:bodyPr>
          <a:lstStyle/>
          <a:p>
            <a:pPr algn="l"/>
            <a:r>
              <a:rPr lang="en-GB" sz="2800"/>
              <a:t>Medical gas supply</a:t>
            </a:r>
          </a:p>
        </p:txBody>
      </p:sp>
      <p:sp>
        <p:nvSpPr>
          <p:cNvPr id="135185" name="Text Box 17"/>
          <p:cNvSpPr txBox="1">
            <a:spLocks noChangeArrowheads="1"/>
          </p:cNvSpPr>
          <p:nvPr/>
        </p:nvSpPr>
        <p:spPr bwMode="auto">
          <a:xfrm>
            <a:off x="3692525" y="1857375"/>
            <a:ext cx="1758950" cy="406400"/>
          </a:xfrm>
          <a:prstGeom prst="rect">
            <a:avLst/>
          </a:prstGeom>
          <a:noFill/>
          <a:ln w="9525">
            <a:solidFill>
              <a:schemeClr val="tx1"/>
            </a:solidFill>
            <a:miter lim="800000"/>
            <a:headEnd/>
            <a:tailEnd/>
          </a:ln>
          <a:effectLst/>
        </p:spPr>
        <p:txBody>
          <a:bodyPr>
            <a:spAutoFit/>
          </a:bodyPr>
          <a:lstStyle/>
          <a:p>
            <a:r>
              <a:rPr lang="en-US" sz="2000"/>
              <a:t>PV = nRT</a:t>
            </a:r>
          </a:p>
        </p:txBody>
      </p:sp>
      <p:sp>
        <p:nvSpPr>
          <p:cNvPr id="135196" name="Text Box 28"/>
          <p:cNvSpPr txBox="1">
            <a:spLocks noChangeArrowheads="1"/>
          </p:cNvSpPr>
          <p:nvPr/>
        </p:nvSpPr>
        <p:spPr bwMode="auto">
          <a:xfrm>
            <a:off x="1130300" y="1349375"/>
            <a:ext cx="3100388" cy="396875"/>
          </a:xfrm>
          <a:prstGeom prst="rect">
            <a:avLst/>
          </a:prstGeom>
          <a:noFill/>
          <a:ln w="9525">
            <a:noFill/>
            <a:miter lim="800000"/>
            <a:headEnd/>
            <a:tailEnd/>
          </a:ln>
          <a:effectLst/>
        </p:spPr>
        <p:txBody>
          <a:bodyPr>
            <a:spAutoFit/>
          </a:bodyPr>
          <a:lstStyle/>
          <a:p>
            <a:pPr algn="just"/>
            <a:r>
              <a:rPr lang="en-US" sz="2000"/>
              <a:t>The “Universal Gas Law”</a:t>
            </a:r>
          </a:p>
        </p:txBody>
      </p:sp>
      <p:sp>
        <p:nvSpPr>
          <p:cNvPr id="135198" name="Text Box 30"/>
          <p:cNvSpPr txBox="1">
            <a:spLocks noChangeArrowheads="1"/>
          </p:cNvSpPr>
          <p:nvPr/>
        </p:nvSpPr>
        <p:spPr bwMode="auto">
          <a:xfrm>
            <a:off x="404813" y="2339975"/>
            <a:ext cx="658812" cy="396875"/>
          </a:xfrm>
          <a:prstGeom prst="rect">
            <a:avLst/>
          </a:prstGeom>
          <a:noFill/>
          <a:ln w="9525">
            <a:noFill/>
            <a:miter lim="800000"/>
            <a:headEnd/>
            <a:tailEnd/>
          </a:ln>
          <a:effectLst/>
        </p:spPr>
        <p:txBody>
          <a:bodyPr>
            <a:spAutoFit/>
          </a:bodyPr>
          <a:lstStyle/>
          <a:p>
            <a:pPr algn="just"/>
            <a:r>
              <a:rPr lang="en-US" sz="2000"/>
              <a:t>So;</a:t>
            </a:r>
          </a:p>
        </p:txBody>
      </p:sp>
      <p:sp>
        <p:nvSpPr>
          <p:cNvPr id="135199" name="Text Box 31"/>
          <p:cNvSpPr txBox="1">
            <a:spLocks noChangeArrowheads="1"/>
          </p:cNvSpPr>
          <p:nvPr/>
        </p:nvSpPr>
        <p:spPr bwMode="auto">
          <a:xfrm>
            <a:off x="404813" y="2871788"/>
            <a:ext cx="3706812" cy="701675"/>
          </a:xfrm>
          <a:prstGeom prst="rect">
            <a:avLst/>
          </a:prstGeom>
          <a:noFill/>
          <a:ln w="9525">
            <a:noFill/>
            <a:miter lim="800000"/>
            <a:headEnd/>
            <a:tailEnd/>
          </a:ln>
          <a:effectLst/>
        </p:spPr>
        <p:txBody>
          <a:bodyPr>
            <a:spAutoFit/>
          </a:bodyPr>
          <a:lstStyle/>
          <a:p>
            <a:pPr algn="just"/>
            <a:r>
              <a:rPr lang="en-US" sz="2000"/>
              <a:t>doubling the volume of a fixed amount of gas</a:t>
            </a:r>
          </a:p>
        </p:txBody>
      </p:sp>
      <p:sp>
        <p:nvSpPr>
          <p:cNvPr id="135200" name="Text Box 32"/>
          <p:cNvSpPr txBox="1">
            <a:spLocks noChangeArrowheads="1"/>
          </p:cNvSpPr>
          <p:nvPr/>
        </p:nvSpPr>
        <p:spPr bwMode="auto">
          <a:xfrm>
            <a:off x="4970463" y="2871788"/>
            <a:ext cx="3706812" cy="641350"/>
          </a:xfrm>
          <a:prstGeom prst="rect">
            <a:avLst/>
          </a:prstGeom>
          <a:noFill/>
          <a:ln w="9525">
            <a:noFill/>
            <a:miter lim="800000"/>
            <a:headEnd/>
            <a:tailEnd/>
          </a:ln>
          <a:effectLst/>
        </p:spPr>
        <p:txBody>
          <a:bodyPr>
            <a:spAutoFit/>
          </a:bodyPr>
          <a:lstStyle/>
          <a:p>
            <a:pPr algn="just"/>
            <a:r>
              <a:rPr lang="en-US" sz="2000"/>
              <a:t>will halve the gas pressure</a:t>
            </a:r>
          </a:p>
          <a:p>
            <a:pPr algn="just"/>
            <a:r>
              <a:rPr lang="en-US" sz="1600"/>
              <a:t>(at a constant temp)</a:t>
            </a:r>
          </a:p>
        </p:txBody>
      </p:sp>
      <p:sp>
        <p:nvSpPr>
          <p:cNvPr id="135201" name="Text Box 33"/>
          <p:cNvSpPr txBox="1">
            <a:spLocks noChangeArrowheads="1"/>
          </p:cNvSpPr>
          <p:nvPr/>
        </p:nvSpPr>
        <p:spPr bwMode="auto">
          <a:xfrm>
            <a:off x="404813" y="3708400"/>
            <a:ext cx="3706812" cy="701675"/>
          </a:xfrm>
          <a:prstGeom prst="rect">
            <a:avLst/>
          </a:prstGeom>
          <a:noFill/>
          <a:ln w="9525">
            <a:noFill/>
            <a:miter lim="800000"/>
            <a:headEnd/>
            <a:tailEnd/>
          </a:ln>
          <a:effectLst/>
        </p:spPr>
        <p:txBody>
          <a:bodyPr>
            <a:spAutoFit/>
          </a:bodyPr>
          <a:lstStyle/>
          <a:p>
            <a:pPr algn="just"/>
            <a:r>
              <a:rPr lang="en-US" sz="2000"/>
              <a:t>doubling the pressure of a fixed amount of gas</a:t>
            </a:r>
          </a:p>
        </p:txBody>
      </p:sp>
      <p:sp>
        <p:nvSpPr>
          <p:cNvPr id="135202" name="Text Box 34"/>
          <p:cNvSpPr txBox="1">
            <a:spLocks noChangeArrowheads="1"/>
          </p:cNvSpPr>
          <p:nvPr/>
        </p:nvSpPr>
        <p:spPr bwMode="auto">
          <a:xfrm>
            <a:off x="4970463" y="3708400"/>
            <a:ext cx="3706812" cy="641350"/>
          </a:xfrm>
          <a:prstGeom prst="rect">
            <a:avLst/>
          </a:prstGeom>
          <a:noFill/>
          <a:ln w="9525">
            <a:noFill/>
            <a:miter lim="800000"/>
            <a:headEnd/>
            <a:tailEnd/>
          </a:ln>
          <a:effectLst/>
        </p:spPr>
        <p:txBody>
          <a:bodyPr>
            <a:spAutoFit/>
          </a:bodyPr>
          <a:lstStyle/>
          <a:p>
            <a:pPr algn="just"/>
            <a:r>
              <a:rPr lang="en-US" sz="2000"/>
              <a:t>will halve the gas volume</a:t>
            </a:r>
          </a:p>
          <a:p>
            <a:pPr algn="just"/>
            <a:r>
              <a:rPr lang="en-US" sz="1600"/>
              <a:t>(at a constant temp)</a:t>
            </a:r>
          </a:p>
        </p:txBody>
      </p:sp>
      <p:sp>
        <p:nvSpPr>
          <p:cNvPr id="135203" name="Text Box 35"/>
          <p:cNvSpPr txBox="1">
            <a:spLocks noChangeArrowheads="1"/>
          </p:cNvSpPr>
          <p:nvPr/>
        </p:nvSpPr>
        <p:spPr bwMode="auto">
          <a:xfrm>
            <a:off x="404813" y="4545013"/>
            <a:ext cx="3706812" cy="1006475"/>
          </a:xfrm>
          <a:prstGeom prst="rect">
            <a:avLst/>
          </a:prstGeom>
          <a:noFill/>
          <a:ln w="9525">
            <a:noFill/>
            <a:miter lim="800000"/>
            <a:headEnd/>
            <a:tailEnd/>
          </a:ln>
          <a:effectLst/>
        </p:spPr>
        <p:txBody>
          <a:bodyPr>
            <a:spAutoFit/>
          </a:bodyPr>
          <a:lstStyle/>
          <a:p>
            <a:pPr algn="just"/>
            <a:r>
              <a:rPr lang="en-US" sz="2000"/>
              <a:t>doubling the temperature of a fixed amount of gas in a fixed volume</a:t>
            </a:r>
          </a:p>
        </p:txBody>
      </p:sp>
      <p:sp>
        <p:nvSpPr>
          <p:cNvPr id="135204" name="Text Box 36"/>
          <p:cNvSpPr txBox="1">
            <a:spLocks noChangeArrowheads="1"/>
          </p:cNvSpPr>
          <p:nvPr/>
        </p:nvSpPr>
        <p:spPr bwMode="auto">
          <a:xfrm>
            <a:off x="4970463" y="4545013"/>
            <a:ext cx="3706812" cy="396875"/>
          </a:xfrm>
          <a:prstGeom prst="rect">
            <a:avLst/>
          </a:prstGeom>
          <a:noFill/>
          <a:ln w="9525">
            <a:noFill/>
            <a:miter lim="800000"/>
            <a:headEnd/>
            <a:tailEnd/>
          </a:ln>
          <a:effectLst/>
        </p:spPr>
        <p:txBody>
          <a:bodyPr>
            <a:spAutoFit/>
          </a:bodyPr>
          <a:lstStyle/>
          <a:p>
            <a:pPr algn="just"/>
            <a:r>
              <a:rPr lang="en-US" sz="2000"/>
              <a:t>will double the gas pressure</a:t>
            </a:r>
          </a:p>
        </p:txBody>
      </p:sp>
      <p:sp>
        <p:nvSpPr>
          <p:cNvPr id="135205" name="Text Box 37"/>
          <p:cNvSpPr txBox="1">
            <a:spLocks noChangeArrowheads="1"/>
          </p:cNvSpPr>
          <p:nvPr/>
        </p:nvSpPr>
        <p:spPr bwMode="auto">
          <a:xfrm>
            <a:off x="404813" y="5686425"/>
            <a:ext cx="3706812" cy="1006475"/>
          </a:xfrm>
          <a:prstGeom prst="rect">
            <a:avLst/>
          </a:prstGeom>
          <a:noFill/>
          <a:ln w="9525">
            <a:noFill/>
            <a:miter lim="800000"/>
            <a:headEnd/>
            <a:tailEnd/>
          </a:ln>
          <a:effectLst/>
        </p:spPr>
        <p:txBody>
          <a:bodyPr>
            <a:spAutoFit/>
          </a:bodyPr>
          <a:lstStyle/>
          <a:p>
            <a:pPr algn="just"/>
            <a:r>
              <a:rPr lang="en-US" sz="2000"/>
              <a:t>doubling the temperature of a fixed amount of gas at a certain pressure</a:t>
            </a:r>
          </a:p>
        </p:txBody>
      </p:sp>
      <p:sp>
        <p:nvSpPr>
          <p:cNvPr id="135206" name="Text Box 38"/>
          <p:cNvSpPr txBox="1">
            <a:spLocks noChangeArrowheads="1"/>
          </p:cNvSpPr>
          <p:nvPr/>
        </p:nvSpPr>
        <p:spPr bwMode="auto">
          <a:xfrm>
            <a:off x="4970463" y="5686425"/>
            <a:ext cx="3706812" cy="396875"/>
          </a:xfrm>
          <a:prstGeom prst="rect">
            <a:avLst/>
          </a:prstGeom>
          <a:noFill/>
          <a:ln w="9525">
            <a:noFill/>
            <a:miter lim="800000"/>
            <a:headEnd/>
            <a:tailEnd/>
          </a:ln>
          <a:effectLst/>
        </p:spPr>
        <p:txBody>
          <a:bodyPr>
            <a:spAutoFit/>
          </a:bodyPr>
          <a:lstStyle/>
          <a:p>
            <a:pPr algn="just"/>
            <a:r>
              <a:rPr lang="en-US" sz="2000"/>
              <a:t>will double the volume</a:t>
            </a:r>
          </a:p>
        </p:txBody>
      </p:sp>
      <p:sp>
        <p:nvSpPr>
          <p:cNvPr id="135207" name="Text Box 39"/>
          <p:cNvSpPr txBox="1">
            <a:spLocks noChangeArrowheads="1"/>
          </p:cNvSpPr>
          <p:nvPr/>
        </p:nvSpPr>
        <p:spPr bwMode="auto">
          <a:xfrm>
            <a:off x="533400" y="766763"/>
            <a:ext cx="6502400" cy="595312"/>
          </a:xfrm>
          <a:prstGeom prst="rect">
            <a:avLst/>
          </a:prstGeom>
          <a:noFill/>
          <a:ln w="9525">
            <a:noFill/>
            <a:miter lim="800000"/>
            <a:headEnd/>
            <a:tailEnd/>
          </a:ln>
          <a:effectLst/>
        </p:spPr>
        <p:txBody>
          <a:bodyPr>
            <a:spAutoFit/>
          </a:bodyPr>
          <a:lstStyle/>
          <a:p>
            <a:pPr algn="l">
              <a:lnSpc>
                <a:spcPct val="150000"/>
              </a:lnSpc>
            </a:pPr>
            <a:r>
              <a:rPr lang="en-GB" sz="2200"/>
              <a:t>A brief overview of relevant gas physics (cont.)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52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5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52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52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52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5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99" grpId="0"/>
      <p:bldP spid="135200" grpId="0"/>
      <p:bldP spid="135201" grpId="0"/>
      <p:bldP spid="135202" grpId="0"/>
      <p:bldP spid="135203" grpId="0"/>
      <p:bldP spid="135204" grpId="0"/>
      <p:bldP spid="135205" grpId="0"/>
      <p:bldP spid="13520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269875" y="298450"/>
            <a:ext cx="3214688" cy="519113"/>
          </a:xfrm>
          <a:prstGeom prst="rect">
            <a:avLst/>
          </a:prstGeom>
          <a:noFill/>
          <a:ln w="9525">
            <a:noFill/>
            <a:miter lim="800000"/>
            <a:headEnd/>
            <a:tailEnd/>
          </a:ln>
          <a:effectLst/>
        </p:spPr>
        <p:txBody>
          <a:bodyPr wrap="none">
            <a:spAutoFit/>
          </a:bodyPr>
          <a:lstStyle/>
          <a:p>
            <a:pPr algn="l"/>
            <a:r>
              <a:rPr lang="en-GB" sz="2800"/>
              <a:t>Medical gas supply</a:t>
            </a:r>
          </a:p>
        </p:txBody>
      </p:sp>
      <p:sp>
        <p:nvSpPr>
          <p:cNvPr id="136196" name="Text Box 4"/>
          <p:cNvSpPr txBox="1">
            <a:spLocks noChangeArrowheads="1"/>
          </p:cNvSpPr>
          <p:nvPr/>
        </p:nvSpPr>
        <p:spPr bwMode="auto">
          <a:xfrm>
            <a:off x="2341563" y="1295400"/>
            <a:ext cx="4460875" cy="396875"/>
          </a:xfrm>
          <a:prstGeom prst="rect">
            <a:avLst/>
          </a:prstGeom>
          <a:noFill/>
          <a:ln w="9525">
            <a:noFill/>
            <a:miter lim="800000"/>
            <a:headEnd/>
            <a:tailEnd/>
          </a:ln>
          <a:effectLst/>
        </p:spPr>
        <p:txBody>
          <a:bodyPr>
            <a:spAutoFit/>
          </a:bodyPr>
          <a:lstStyle/>
          <a:p>
            <a:pPr algn="just"/>
            <a:r>
              <a:rPr lang="en-US" sz="2000"/>
              <a:t>The “Universal Gas Law” ; PV = nRT</a:t>
            </a:r>
          </a:p>
        </p:txBody>
      </p:sp>
      <p:sp>
        <p:nvSpPr>
          <p:cNvPr id="136198" name="Text Box 6"/>
          <p:cNvSpPr txBox="1">
            <a:spLocks noChangeArrowheads="1"/>
          </p:cNvSpPr>
          <p:nvPr/>
        </p:nvSpPr>
        <p:spPr bwMode="auto">
          <a:xfrm>
            <a:off x="404813" y="1751013"/>
            <a:ext cx="2570162" cy="396875"/>
          </a:xfrm>
          <a:prstGeom prst="rect">
            <a:avLst/>
          </a:prstGeom>
          <a:noFill/>
          <a:ln w="9525">
            <a:noFill/>
            <a:miter lim="800000"/>
            <a:headEnd/>
            <a:tailEnd/>
          </a:ln>
          <a:effectLst/>
        </p:spPr>
        <p:txBody>
          <a:bodyPr>
            <a:spAutoFit/>
          </a:bodyPr>
          <a:lstStyle/>
          <a:p>
            <a:pPr algn="just"/>
            <a:r>
              <a:rPr lang="en-US" sz="2000" u="sng"/>
              <a:t>A practical example:</a:t>
            </a:r>
          </a:p>
        </p:txBody>
      </p:sp>
      <p:sp>
        <p:nvSpPr>
          <p:cNvPr id="136207" name="Text Box 15"/>
          <p:cNvSpPr txBox="1">
            <a:spLocks noChangeArrowheads="1"/>
          </p:cNvSpPr>
          <p:nvPr/>
        </p:nvSpPr>
        <p:spPr bwMode="auto">
          <a:xfrm>
            <a:off x="404813" y="2227263"/>
            <a:ext cx="7954962" cy="701675"/>
          </a:xfrm>
          <a:prstGeom prst="rect">
            <a:avLst/>
          </a:prstGeom>
          <a:noFill/>
          <a:ln w="9525">
            <a:noFill/>
            <a:miter lim="800000"/>
            <a:headEnd/>
            <a:tailEnd/>
          </a:ln>
          <a:effectLst/>
        </p:spPr>
        <p:txBody>
          <a:bodyPr>
            <a:spAutoFit/>
          </a:bodyPr>
          <a:lstStyle/>
          <a:p>
            <a:pPr algn="just"/>
            <a:r>
              <a:rPr lang="en-US" sz="2000"/>
              <a:t>A size E oxygen cylinder has 5 L of compressed O</a:t>
            </a:r>
            <a:r>
              <a:rPr lang="en-US" sz="2000" baseline="-25000"/>
              <a:t>2</a:t>
            </a:r>
            <a:r>
              <a:rPr lang="en-US" sz="2000"/>
              <a:t> at a pressure of 13700 kPa</a:t>
            </a:r>
          </a:p>
        </p:txBody>
      </p:sp>
      <p:sp>
        <p:nvSpPr>
          <p:cNvPr id="136208" name="Text Box 16"/>
          <p:cNvSpPr txBox="1">
            <a:spLocks noChangeArrowheads="1"/>
          </p:cNvSpPr>
          <p:nvPr/>
        </p:nvSpPr>
        <p:spPr bwMode="auto">
          <a:xfrm>
            <a:off x="404813" y="3009900"/>
            <a:ext cx="7954962" cy="396875"/>
          </a:xfrm>
          <a:prstGeom prst="rect">
            <a:avLst/>
          </a:prstGeom>
          <a:noFill/>
          <a:ln w="9525">
            <a:noFill/>
            <a:miter lim="800000"/>
            <a:headEnd/>
            <a:tailEnd/>
          </a:ln>
          <a:effectLst/>
        </p:spPr>
        <p:txBody>
          <a:bodyPr>
            <a:spAutoFit/>
          </a:bodyPr>
          <a:lstStyle/>
          <a:p>
            <a:pPr algn="just"/>
            <a:r>
              <a:rPr lang="en-US" sz="2000"/>
              <a:t>What is the volume of O</a:t>
            </a:r>
            <a:r>
              <a:rPr lang="en-US" sz="2000" baseline="-25000"/>
              <a:t>2</a:t>
            </a:r>
            <a:r>
              <a:rPr lang="en-US" sz="2000"/>
              <a:t> at atmospheric pressure (101 kPa)?</a:t>
            </a:r>
          </a:p>
        </p:txBody>
      </p:sp>
      <p:sp>
        <p:nvSpPr>
          <p:cNvPr id="136209" name="Text Box 17"/>
          <p:cNvSpPr txBox="1">
            <a:spLocks noChangeArrowheads="1"/>
          </p:cNvSpPr>
          <p:nvPr/>
        </p:nvSpPr>
        <p:spPr bwMode="auto">
          <a:xfrm>
            <a:off x="280988" y="3662363"/>
            <a:ext cx="7083425" cy="396875"/>
          </a:xfrm>
          <a:prstGeom prst="rect">
            <a:avLst/>
          </a:prstGeom>
          <a:noFill/>
          <a:ln w="9525">
            <a:noFill/>
            <a:miter lim="800000"/>
            <a:headEnd/>
            <a:tailEnd/>
          </a:ln>
          <a:effectLst/>
        </p:spPr>
        <p:txBody>
          <a:bodyPr>
            <a:spAutoFit/>
          </a:bodyPr>
          <a:lstStyle/>
          <a:p>
            <a:pPr algn="just"/>
            <a:r>
              <a:rPr lang="en-US" sz="2000"/>
              <a:t>Assuming the gas temperature is the same at start and finish;</a:t>
            </a:r>
          </a:p>
        </p:txBody>
      </p:sp>
      <p:sp>
        <p:nvSpPr>
          <p:cNvPr id="136210" name="Text Box 18"/>
          <p:cNvSpPr txBox="1">
            <a:spLocks noChangeArrowheads="1"/>
          </p:cNvSpPr>
          <p:nvPr/>
        </p:nvSpPr>
        <p:spPr bwMode="auto">
          <a:xfrm>
            <a:off x="3403600" y="4135438"/>
            <a:ext cx="1758950" cy="396875"/>
          </a:xfrm>
          <a:prstGeom prst="rect">
            <a:avLst/>
          </a:prstGeom>
          <a:noFill/>
          <a:ln w="9525">
            <a:noFill/>
            <a:miter lim="800000"/>
            <a:headEnd/>
            <a:tailEnd/>
          </a:ln>
          <a:effectLst/>
        </p:spPr>
        <p:txBody>
          <a:bodyPr>
            <a:spAutoFit/>
          </a:bodyPr>
          <a:lstStyle/>
          <a:p>
            <a:r>
              <a:rPr lang="en-US" sz="2000"/>
              <a:t>P</a:t>
            </a:r>
            <a:r>
              <a:rPr lang="en-US" sz="2000" baseline="-25000"/>
              <a:t>1</a:t>
            </a:r>
            <a:r>
              <a:rPr lang="en-US" sz="2000"/>
              <a:t>V </a:t>
            </a:r>
            <a:r>
              <a:rPr lang="en-US" sz="2000" baseline="-25000"/>
              <a:t>1</a:t>
            </a:r>
            <a:r>
              <a:rPr lang="en-US" sz="2000"/>
              <a:t> = P</a:t>
            </a:r>
            <a:r>
              <a:rPr lang="en-US" sz="2000" baseline="-25000"/>
              <a:t>2</a:t>
            </a:r>
            <a:r>
              <a:rPr lang="en-US" sz="2000"/>
              <a:t>V</a:t>
            </a:r>
            <a:r>
              <a:rPr lang="en-US" sz="2000" baseline="-25000"/>
              <a:t>2</a:t>
            </a:r>
          </a:p>
        </p:txBody>
      </p:sp>
      <p:sp>
        <p:nvSpPr>
          <p:cNvPr id="136211" name="Text Box 19"/>
          <p:cNvSpPr txBox="1">
            <a:spLocks noChangeArrowheads="1"/>
          </p:cNvSpPr>
          <p:nvPr/>
        </p:nvSpPr>
        <p:spPr bwMode="auto">
          <a:xfrm>
            <a:off x="3111500" y="4608513"/>
            <a:ext cx="2673350" cy="396875"/>
          </a:xfrm>
          <a:prstGeom prst="rect">
            <a:avLst/>
          </a:prstGeom>
          <a:noFill/>
          <a:ln w="9525">
            <a:noFill/>
            <a:miter lim="800000"/>
            <a:headEnd/>
            <a:tailEnd/>
          </a:ln>
          <a:effectLst/>
        </p:spPr>
        <p:txBody>
          <a:bodyPr>
            <a:spAutoFit/>
          </a:bodyPr>
          <a:lstStyle/>
          <a:p>
            <a:r>
              <a:rPr lang="en-US" sz="2000"/>
              <a:t>So, V</a:t>
            </a:r>
            <a:r>
              <a:rPr lang="en-US" sz="2000" baseline="-25000"/>
              <a:t>2</a:t>
            </a:r>
            <a:r>
              <a:rPr lang="en-US" sz="2000"/>
              <a:t> = P</a:t>
            </a:r>
            <a:r>
              <a:rPr lang="en-US" sz="2000" baseline="-25000"/>
              <a:t>1</a:t>
            </a:r>
            <a:r>
              <a:rPr lang="en-US" sz="2000"/>
              <a:t>V</a:t>
            </a:r>
            <a:r>
              <a:rPr lang="en-US" sz="2000" baseline="-25000"/>
              <a:t>1</a:t>
            </a:r>
            <a:r>
              <a:rPr lang="en-US" sz="2000"/>
              <a:t> / P</a:t>
            </a:r>
            <a:r>
              <a:rPr lang="en-US" sz="2000" baseline="-25000"/>
              <a:t>2</a:t>
            </a:r>
          </a:p>
        </p:txBody>
      </p:sp>
      <p:sp>
        <p:nvSpPr>
          <p:cNvPr id="136212" name="Text Box 20"/>
          <p:cNvSpPr txBox="1">
            <a:spLocks noChangeArrowheads="1"/>
          </p:cNvSpPr>
          <p:nvPr/>
        </p:nvSpPr>
        <p:spPr bwMode="auto">
          <a:xfrm>
            <a:off x="3833813" y="5081588"/>
            <a:ext cx="3811587" cy="396875"/>
          </a:xfrm>
          <a:prstGeom prst="rect">
            <a:avLst/>
          </a:prstGeom>
          <a:noFill/>
          <a:ln w="9525">
            <a:noFill/>
            <a:miter lim="800000"/>
            <a:headEnd/>
            <a:tailEnd/>
          </a:ln>
          <a:effectLst/>
        </p:spPr>
        <p:txBody>
          <a:bodyPr>
            <a:spAutoFit/>
          </a:bodyPr>
          <a:lstStyle/>
          <a:p>
            <a:r>
              <a:rPr lang="en-US" sz="2000"/>
              <a:t>= 13700 kPa.V</a:t>
            </a:r>
            <a:r>
              <a:rPr lang="en-US" sz="2000" baseline="-25000"/>
              <a:t>1</a:t>
            </a:r>
            <a:r>
              <a:rPr lang="en-US" sz="2000"/>
              <a:t> / 101 kPa</a:t>
            </a:r>
            <a:endParaRPr lang="en-US" sz="2000" baseline="-25000"/>
          </a:p>
        </p:txBody>
      </p:sp>
      <p:sp>
        <p:nvSpPr>
          <p:cNvPr id="136213" name="Text Box 21"/>
          <p:cNvSpPr txBox="1">
            <a:spLocks noChangeArrowheads="1"/>
          </p:cNvSpPr>
          <p:nvPr/>
        </p:nvSpPr>
        <p:spPr bwMode="auto">
          <a:xfrm>
            <a:off x="3929063" y="5554663"/>
            <a:ext cx="1943100" cy="396875"/>
          </a:xfrm>
          <a:prstGeom prst="rect">
            <a:avLst/>
          </a:prstGeom>
          <a:noFill/>
          <a:ln w="9525">
            <a:noFill/>
            <a:miter lim="800000"/>
            <a:headEnd/>
            <a:tailEnd/>
          </a:ln>
          <a:effectLst/>
        </p:spPr>
        <p:txBody>
          <a:bodyPr>
            <a:spAutoFit/>
          </a:bodyPr>
          <a:lstStyle/>
          <a:p>
            <a:r>
              <a:rPr lang="en-US" sz="2000"/>
              <a:t>= 135 X  5 L</a:t>
            </a:r>
            <a:endParaRPr lang="en-US" sz="2000" baseline="-25000"/>
          </a:p>
        </p:txBody>
      </p:sp>
      <p:sp>
        <p:nvSpPr>
          <p:cNvPr id="136214" name="Text Box 22"/>
          <p:cNvSpPr txBox="1">
            <a:spLocks noChangeArrowheads="1"/>
          </p:cNvSpPr>
          <p:nvPr/>
        </p:nvSpPr>
        <p:spPr bwMode="auto">
          <a:xfrm>
            <a:off x="3817938" y="6029325"/>
            <a:ext cx="1758950" cy="396875"/>
          </a:xfrm>
          <a:prstGeom prst="rect">
            <a:avLst/>
          </a:prstGeom>
          <a:noFill/>
          <a:ln w="9525">
            <a:noFill/>
            <a:miter lim="800000"/>
            <a:headEnd/>
            <a:tailEnd/>
          </a:ln>
          <a:effectLst/>
        </p:spPr>
        <p:txBody>
          <a:bodyPr>
            <a:spAutoFit/>
          </a:bodyPr>
          <a:lstStyle/>
          <a:p>
            <a:r>
              <a:rPr lang="en-US" sz="2000">
                <a:cs typeface="Arial" charset="0"/>
              </a:rPr>
              <a:t>≈</a:t>
            </a:r>
            <a:r>
              <a:rPr lang="en-US" sz="2000"/>
              <a:t> 680 L</a:t>
            </a:r>
            <a:endParaRPr lang="en-US" sz="2000" baseline="-25000"/>
          </a:p>
        </p:txBody>
      </p:sp>
      <p:sp>
        <p:nvSpPr>
          <p:cNvPr id="136215" name="Line 23"/>
          <p:cNvSpPr>
            <a:spLocks noChangeShapeType="1"/>
          </p:cNvSpPr>
          <p:nvPr/>
        </p:nvSpPr>
        <p:spPr bwMode="auto">
          <a:xfrm>
            <a:off x="2009775" y="3535363"/>
            <a:ext cx="4876800" cy="0"/>
          </a:xfrm>
          <a:prstGeom prst="line">
            <a:avLst/>
          </a:prstGeom>
          <a:noFill/>
          <a:ln w="9525">
            <a:solidFill>
              <a:schemeClr val="tx1"/>
            </a:solidFill>
            <a:round/>
            <a:headEnd/>
            <a:tailEnd/>
          </a:ln>
          <a:effectLst/>
        </p:spPr>
        <p:txBody>
          <a:bodyPr/>
          <a:lstStyle/>
          <a:p>
            <a:endParaRPr lang="en-US"/>
          </a:p>
        </p:txBody>
      </p:sp>
      <p:sp>
        <p:nvSpPr>
          <p:cNvPr id="136216" name="Text Box 24"/>
          <p:cNvSpPr txBox="1">
            <a:spLocks noChangeArrowheads="1"/>
          </p:cNvSpPr>
          <p:nvPr/>
        </p:nvSpPr>
        <p:spPr bwMode="auto">
          <a:xfrm>
            <a:off x="533400" y="766763"/>
            <a:ext cx="6502400" cy="595312"/>
          </a:xfrm>
          <a:prstGeom prst="rect">
            <a:avLst/>
          </a:prstGeom>
          <a:noFill/>
          <a:ln w="9525">
            <a:noFill/>
            <a:miter lim="800000"/>
            <a:headEnd/>
            <a:tailEnd/>
          </a:ln>
          <a:effectLst/>
        </p:spPr>
        <p:txBody>
          <a:bodyPr>
            <a:spAutoFit/>
          </a:bodyPr>
          <a:lstStyle/>
          <a:p>
            <a:pPr algn="l">
              <a:lnSpc>
                <a:spcPct val="150000"/>
              </a:lnSpc>
            </a:pPr>
            <a:r>
              <a:rPr lang="en-GB" sz="2200"/>
              <a:t>A brief overview of relevant gas physics (cont.)</a:t>
            </a:r>
          </a:p>
        </p:txBody>
      </p:sp>
      <p:sp>
        <p:nvSpPr>
          <p:cNvPr id="136217" name="Text Box 25"/>
          <p:cNvSpPr txBox="1">
            <a:spLocks noChangeArrowheads="1"/>
          </p:cNvSpPr>
          <p:nvPr/>
        </p:nvSpPr>
        <p:spPr bwMode="auto">
          <a:xfrm>
            <a:off x="5495925" y="6029325"/>
            <a:ext cx="3524250" cy="701675"/>
          </a:xfrm>
          <a:prstGeom prst="rect">
            <a:avLst/>
          </a:prstGeom>
          <a:noFill/>
          <a:ln w="9525">
            <a:noFill/>
            <a:miter lim="800000"/>
            <a:headEnd/>
            <a:tailEnd/>
          </a:ln>
          <a:effectLst/>
        </p:spPr>
        <p:txBody>
          <a:bodyPr>
            <a:spAutoFit/>
          </a:bodyPr>
          <a:lstStyle/>
          <a:p>
            <a:r>
              <a:rPr lang="en-US" sz="2000">
                <a:cs typeface="Arial" charset="0"/>
              </a:rPr>
              <a:t>the volume of O</a:t>
            </a:r>
            <a:r>
              <a:rPr lang="en-US" sz="2000" baseline="-25000">
                <a:cs typeface="Arial" charset="0"/>
              </a:rPr>
              <a:t>2</a:t>
            </a:r>
            <a:r>
              <a:rPr lang="en-US" sz="2000">
                <a:cs typeface="Arial" charset="0"/>
              </a:rPr>
              <a:t> expected from a full size E cylinder</a:t>
            </a:r>
            <a:endParaRPr lang="en-US" sz="2000"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2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2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2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62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62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62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6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9" grpId="0"/>
      <p:bldP spid="136210" grpId="0"/>
      <p:bldP spid="136211" grpId="0"/>
      <p:bldP spid="136212" grpId="0"/>
      <p:bldP spid="136213" grpId="0"/>
      <p:bldP spid="136214" grpId="0"/>
      <p:bldP spid="1362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269875" y="298450"/>
            <a:ext cx="3214688" cy="519113"/>
          </a:xfrm>
          <a:prstGeom prst="rect">
            <a:avLst/>
          </a:prstGeom>
          <a:noFill/>
          <a:ln w="9525">
            <a:noFill/>
            <a:miter lim="800000"/>
            <a:headEnd/>
            <a:tailEnd/>
          </a:ln>
          <a:effectLst/>
        </p:spPr>
        <p:txBody>
          <a:bodyPr wrap="none">
            <a:spAutoFit/>
          </a:bodyPr>
          <a:lstStyle/>
          <a:p>
            <a:pPr algn="l"/>
            <a:r>
              <a:rPr lang="en-GB" sz="2800"/>
              <a:t>Medical gas supply</a:t>
            </a:r>
          </a:p>
        </p:txBody>
      </p:sp>
      <p:sp>
        <p:nvSpPr>
          <p:cNvPr id="124932" name="Text Box 4"/>
          <p:cNvSpPr txBox="1">
            <a:spLocks noChangeArrowheads="1"/>
          </p:cNvSpPr>
          <p:nvPr/>
        </p:nvSpPr>
        <p:spPr bwMode="auto">
          <a:xfrm>
            <a:off x="2894013" y="1285875"/>
            <a:ext cx="3354387" cy="595313"/>
          </a:xfrm>
          <a:prstGeom prst="rect">
            <a:avLst/>
          </a:prstGeom>
          <a:noFill/>
          <a:ln w="9525">
            <a:noFill/>
            <a:miter lim="800000"/>
            <a:headEnd/>
            <a:tailEnd/>
          </a:ln>
          <a:effectLst/>
        </p:spPr>
        <p:txBody>
          <a:bodyPr>
            <a:spAutoFit/>
          </a:bodyPr>
          <a:lstStyle/>
          <a:p>
            <a:pPr>
              <a:lnSpc>
                <a:spcPct val="150000"/>
              </a:lnSpc>
            </a:pPr>
            <a:r>
              <a:rPr lang="en-GB" sz="2200" u="sng"/>
              <a:t>Different pressure scales</a:t>
            </a:r>
          </a:p>
        </p:txBody>
      </p:sp>
      <p:sp>
        <p:nvSpPr>
          <p:cNvPr id="124933" name="Text Box 5"/>
          <p:cNvSpPr txBox="1">
            <a:spLocks noChangeArrowheads="1"/>
          </p:cNvSpPr>
          <p:nvPr/>
        </p:nvSpPr>
        <p:spPr bwMode="auto">
          <a:xfrm>
            <a:off x="533400" y="766763"/>
            <a:ext cx="6502400" cy="595312"/>
          </a:xfrm>
          <a:prstGeom prst="rect">
            <a:avLst/>
          </a:prstGeom>
          <a:noFill/>
          <a:ln w="9525">
            <a:noFill/>
            <a:miter lim="800000"/>
            <a:headEnd/>
            <a:tailEnd/>
          </a:ln>
          <a:effectLst/>
        </p:spPr>
        <p:txBody>
          <a:bodyPr>
            <a:spAutoFit/>
          </a:bodyPr>
          <a:lstStyle/>
          <a:p>
            <a:pPr algn="l">
              <a:lnSpc>
                <a:spcPct val="150000"/>
              </a:lnSpc>
            </a:pPr>
            <a:r>
              <a:rPr lang="en-GB" sz="2200"/>
              <a:t>A brief overview of relevant gas physics (cont.)</a:t>
            </a:r>
          </a:p>
        </p:txBody>
      </p:sp>
      <p:sp>
        <p:nvSpPr>
          <p:cNvPr id="124946" name="AutoShape 18"/>
          <p:cNvSpPr>
            <a:spLocks noChangeArrowheads="1"/>
          </p:cNvSpPr>
          <p:nvPr/>
        </p:nvSpPr>
        <p:spPr bwMode="auto">
          <a:xfrm>
            <a:off x="1944688" y="2689225"/>
            <a:ext cx="219075" cy="342900"/>
          </a:xfrm>
          <a:prstGeom prst="downArrow">
            <a:avLst>
              <a:gd name="adj1" fmla="val 50000"/>
              <a:gd name="adj2" fmla="val 39130"/>
            </a:avLst>
          </a:prstGeom>
          <a:noFill/>
          <a:ln w="19050">
            <a:solidFill>
              <a:schemeClr val="tx1"/>
            </a:solidFill>
            <a:miter lim="800000"/>
            <a:headEnd/>
            <a:tailEnd/>
          </a:ln>
          <a:effectLst/>
        </p:spPr>
        <p:txBody>
          <a:bodyPr vert="eaVert" wrap="none" anchor="ctr"/>
          <a:lstStyle/>
          <a:p>
            <a:endParaRPr lang="en-US"/>
          </a:p>
        </p:txBody>
      </p:sp>
      <p:grpSp>
        <p:nvGrpSpPr>
          <p:cNvPr id="2" name="Group 25"/>
          <p:cNvGrpSpPr>
            <a:grpSpLocks/>
          </p:cNvGrpSpPr>
          <p:nvPr/>
        </p:nvGrpSpPr>
        <p:grpSpPr bwMode="auto">
          <a:xfrm>
            <a:off x="1412875" y="3003550"/>
            <a:ext cx="708025" cy="3063875"/>
            <a:chOff x="955" y="1892"/>
            <a:chExt cx="446" cy="1930"/>
          </a:xfrm>
        </p:grpSpPr>
        <p:sp>
          <p:nvSpPr>
            <p:cNvPr id="124949" name="Freeform 21"/>
            <p:cNvSpPr>
              <a:spLocks/>
            </p:cNvSpPr>
            <p:nvPr/>
          </p:nvSpPr>
          <p:spPr bwMode="auto">
            <a:xfrm>
              <a:off x="957" y="2169"/>
              <a:ext cx="444" cy="1649"/>
            </a:xfrm>
            <a:custGeom>
              <a:avLst/>
              <a:gdLst/>
              <a:ahLst/>
              <a:cxnLst>
                <a:cxn ang="0">
                  <a:pos x="35" y="1"/>
                </a:cxn>
                <a:cxn ang="0">
                  <a:pos x="33" y="658"/>
                </a:cxn>
                <a:cxn ang="0">
                  <a:pos x="36" y="700"/>
                </a:cxn>
                <a:cxn ang="0">
                  <a:pos x="54" y="724"/>
                </a:cxn>
                <a:cxn ang="0">
                  <a:pos x="90" y="735"/>
                </a:cxn>
                <a:cxn ang="0">
                  <a:pos x="129" y="718"/>
                </a:cxn>
                <a:cxn ang="0">
                  <a:pos x="146" y="673"/>
                </a:cxn>
                <a:cxn ang="0">
                  <a:pos x="144" y="618"/>
                </a:cxn>
                <a:cxn ang="0">
                  <a:pos x="152" y="634"/>
                </a:cxn>
                <a:cxn ang="0">
                  <a:pos x="165" y="640"/>
                </a:cxn>
                <a:cxn ang="0">
                  <a:pos x="174" y="622"/>
                </a:cxn>
                <a:cxn ang="0">
                  <a:pos x="179" y="607"/>
                </a:cxn>
                <a:cxn ang="0">
                  <a:pos x="180" y="664"/>
                </a:cxn>
                <a:cxn ang="0">
                  <a:pos x="165" y="724"/>
                </a:cxn>
                <a:cxn ang="0">
                  <a:pos x="129" y="754"/>
                </a:cxn>
                <a:cxn ang="0">
                  <a:pos x="65" y="756"/>
                </a:cxn>
                <a:cxn ang="0">
                  <a:pos x="24" y="739"/>
                </a:cxn>
                <a:cxn ang="0">
                  <a:pos x="6" y="697"/>
                </a:cxn>
                <a:cxn ang="0">
                  <a:pos x="2" y="666"/>
                </a:cxn>
                <a:cxn ang="0">
                  <a:pos x="0" y="115"/>
                </a:cxn>
                <a:cxn ang="0">
                  <a:pos x="0" y="0"/>
                </a:cxn>
                <a:cxn ang="0">
                  <a:pos x="3" y="13"/>
                </a:cxn>
                <a:cxn ang="0">
                  <a:pos x="20" y="18"/>
                </a:cxn>
                <a:cxn ang="0">
                  <a:pos x="35" y="1"/>
                </a:cxn>
              </a:cxnLst>
              <a:rect l="0" t="0" r="r" b="b"/>
              <a:pathLst>
                <a:path w="180" h="756">
                  <a:moveTo>
                    <a:pt x="35" y="1"/>
                  </a:moveTo>
                  <a:lnTo>
                    <a:pt x="33" y="658"/>
                  </a:lnTo>
                  <a:lnTo>
                    <a:pt x="36" y="700"/>
                  </a:lnTo>
                  <a:lnTo>
                    <a:pt x="54" y="724"/>
                  </a:lnTo>
                  <a:lnTo>
                    <a:pt x="90" y="735"/>
                  </a:lnTo>
                  <a:lnTo>
                    <a:pt x="129" y="718"/>
                  </a:lnTo>
                  <a:lnTo>
                    <a:pt x="146" y="673"/>
                  </a:lnTo>
                  <a:lnTo>
                    <a:pt x="144" y="618"/>
                  </a:lnTo>
                  <a:lnTo>
                    <a:pt x="152" y="634"/>
                  </a:lnTo>
                  <a:lnTo>
                    <a:pt x="165" y="640"/>
                  </a:lnTo>
                  <a:lnTo>
                    <a:pt x="174" y="622"/>
                  </a:lnTo>
                  <a:lnTo>
                    <a:pt x="179" y="607"/>
                  </a:lnTo>
                  <a:lnTo>
                    <a:pt x="180" y="664"/>
                  </a:lnTo>
                  <a:lnTo>
                    <a:pt x="165" y="724"/>
                  </a:lnTo>
                  <a:lnTo>
                    <a:pt x="129" y="754"/>
                  </a:lnTo>
                  <a:lnTo>
                    <a:pt x="65" y="756"/>
                  </a:lnTo>
                  <a:lnTo>
                    <a:pt x="24" y="739"/>
                  </a:lnTo>
                  <a:lnTo>
                    <a:pt x="6" y="697"/>
                  </a:lnTo>
                  <a:lnTo>
                    <a:pt x="2" y="666"/>
                  </a:lnTo>
                  <a:lnTo>
                    <a:pt x="0" y="115"/>
                  </a:lnTo>
                  <a:lnTo>
                    <a:pt x="0" y="0"/>
                  </a:lnTo>
                  <a:lnTo>
                    <a:pt x="3" y="13"/>
                  </a:lnTo>
                  <a:lnTo>
                    <a:pt x="20" y="18"/>
                  </a:lnTo>
                  <a:lnTo>
                    <a:pt x="35" y="1"/>
                  </a:lnTo>
                  <a:close/>
                </a:path>
              </a:pathLst>
            </a:custGeom>
            <a:gradFill rotWithShape="1">
              <a:gsLst>
                <a:gs pos="0">
                  <a:schemeClr val="bg2"/>
                </a:gs>
                <a:gs pos="100000">
                  <a:schemeClr val="bg2">
                    <a:gamma/>
                    <a:shade val="46275"/>
                    <a:invGamma/>
                  </a:schemeClr>
                </a:gs>
              </a:gsLst>
              <a:lin ang="5400000" scaled="1"/>
            </a:gradFill>
            <a:ln w="9525">
              <a:solidFill>
                <a:schemeClr val="tx1"/>
              </a:solidFill>
              <a:round/>
              <a:headEnd/>
              <a:tailEnd/>
            </a:ln>
            <a:effectLst/>
          </p:spPr>
          <p:txBody>
            <a:bodyPr/>
            <a:lstStyle/>
            <a:p>
              <a:endParaRPr lang="en-US"/>
            </a:p>
          </p:txBody>
        </p:sp>
        <p:sp>
          <p:nvSpPr>
            <p:cNvPr id="124942" name="Freeform 14"/>
            <p:cNvSpPr>
              <a:spLocks/>
            </p:cNvSpPr>
            <p:nvPr/>
          </p:nvSpPr>
          <p:spPr bwMode="auto">
            <a:xfrm>
              <a:off x="1041" y="3632"/>
              <a:ext cx="271" cy="129"/>
            </a:xfrm>
            <a:custGeom>
              <a:avLst/>
              <a:gdLst/>
              <a:ahLst/>
              <a:cxnLst>
                <a:cxn ang="0">
                  <a:pos x="0" y="0"/>
                </a:cxn>
                <a:cxn ang="0">
                  <a:pos x="6" y="32"/>
                </a:cxn>
                <a:cxn ang="0">
                  <a:pos x="25" y="54"/>
                </a:cxn>
                <a:cxn ang="0">
                  <a:pos x="53" y="59"/>
                </a:cxn>
                <a:cxn ang="0">
                  <a:pos x="81" y="56"/>
                </a:cxn>
                <a:cxn ang="0">
                  <a:pos x="98" y="43"/>
                </a:cxn>
                <a:cxn ang="0">
                  <a:pos x="107" y="22"/>
                </a:cxn>
                <a:cxn ang="0">
                  <a:pos x="110" y="0"/>
                </a:cxn>
              </a:cxnLst>
              <a:rect l="0" t="0" r="r" b="b"/>
              <a:pathLst>
                <a:path w="110" h="59">
                  <a:moveTo>
                    <a:pt x="0" y="0"/>
                  </a:moveTo>
                  <a:cubicBezTo>
                    <a:pt x="1" y="5"/>
                    <a:pt x="2" y="23"/>
                    <a:pt x="6" y="32"/>
                  </a:cubicBezTo>
                  <a:cubicBezTo>
                    <a:pt x="10" y="41"/>
                    <a:pt x="17" y="49"/>
                    <a:pt x="25" y="54"/>
                  </a:cubicBezTo>
                  <a:cubicBezTo>
                    <a:pt x="33" y="59"/>
                    <a:pt x="44" y="59"/>
                    <a:pt x="53" y="59"/>
                  </a:cubicBezTo>
                  <a:cubicBezTo>
                    <a:pt x="62" y="59"/>
                    <a:pt x="74" y="59"/>
                    <a:pt x="81" y="56"/>
                  </a:cubicBezTo>
                  <a:cubicBezTo>
                    <a:pt x="88" y="53"/>
                    <a:pt x="94" y="49"/>
                    <a:pt x="98" y="43"/>
                  </a:cubicBezTo>
                  <a:cubicBezTo>
                    <a:pt x="102" y="37"/>
                    <a:pt x="105" y="29"/>
                    <a:pt x="107" y="22"/>
                  </a:cubicBezTo>
                  <a:cubicBezTo>
                    <a:pt x="109" y="15"/>
                    <a:pt x="110" y="5"/>
                    <a:pt x="110" y="0"/>
                  </a:cubicBezTo>
                </a:path>
              </a:pathLst>
            </a:custGeom>
            <a:noFill/>
            <a:ln w="19050" cmpd="sng">
              <a:solidFill>
                <a:schemeClr val="tx1"/>
              </a:solidFill>
              <a:round/>
              <a:headEnd/>
              <a:tailEnd/>
            </a:ln>
            <a:effectLst/>
          </p:spPr>
          <p:txBody>
            <a:bodyPr/>
            <a:lstStyle/>
            <a:p>
              <a:endParaRPr lang="en-US"/>
            </a:p>
          </p:txBody>
        </p:sp>
        <p:sp>
          <p:nvSpPr>
            <p:cNvPr id="124936" name="Line 8"/>
            <p:cNvSpPr>
              <a:spLocks noChangeShapeType="1"/>
            </p:cNvSpPr>
            <p:nvPr/>
          </p:nvSpPr>
          <p:spPr bwMode="auto">
            <a:xfrm>
              <a:off x="1315" y="1936"/>
              <a:ext cx="0" cy="1701"/>
            </a:xfrm>
            <a:prstGeom prst="line">
              <a:avLst/>
            </a:prstGeom>
            <a:noFill/>
            <a:ln w="19050">
              <a:solidFill>
                <a:schemeClr val="tx1"/>
              </a:solidFill>
              <a:round/>
              <a:headEnd/>
              <a:tailEnd/>
            </a:ln>
            <a:effectLst/>
          </p:spPr>
          <p:txBody>
            <a:bodyPr/>
            <a:lstStyle/>
            <a:p>
              <a:endParaRPr lang="en-US"/>
            </a:p>
          </p:txBody>
        </p:sp>
        <p:sp>
          <p:nvSpPr>
            <p:cNvPr id="124937" name="Line 9"/>
            <p:cNvSpPr>
              <a:spLocks noChangeShapeType="1"/>
            </p:cNvSpPr>
            <p:nvPr/>
          </p:nvSpPr>
          <p:spPr bwMode="auto">
            <a:xfrm>
              <a:off x="1398" y="1936"/>
              <a:ext cx="0" cy="1701"/>
            </a:xfrm>
            <a:prstGeom prst="line">
              <a:avLst/>
            </a:prstGeom>
            <a:noFill/>
            <a:ln w="19050">
              <a:solidFill>
                <a:schemeClr val="tx1"/>
              </a:solidFill>
              <a:round/>
              <a:headEnd/>
              <a:tailEnd/>
            </a:ln>
            <a:effectLst/>
          </p:spPr>
          <p:txBody>
            <a:bodyPr/>
            <a:lstStyle/>
            <a:p>
              <a:endParaRPr lang="en-US"/>
            </a:p>
          </p:txBody>
        </p:sp>
        <p:sp>
          <p:nvSpPr>
            <p:cNvPr id="124934" name="Line 6"/>
            <p:cNvSpPr>
              <a:spLocks noChangeShapeType="1"/>
            </p:cNvSpPr>
            <p:nvPr/>
          </p:nvSpPr>
          <p:spPr bwMode="auto">
            <a:xfrm>
              <a:off x="957" y="1936"/>
              <a:ext cx="0" cy="1701"/>
            </a:xfrm>
            <a:prstGeom prst="line">
              <a:avLst/>
            </a:prstGeom>
            <a:noFill/>
            <a:ln w="19050">
              <a:solidFill>
                <a:schemeClr val="tx1"/>
              </a:solidFill>
              <a:round/>
              <a:headEnd/>
              <a:tailEnd/>
            </a:ln>
            <a:effectLst/>
          </p:spPr>
          <p:txBody>
            <a:bodyPr/>
            <a:lstStyle/>
            <a:p>
              <a:endParaRPr lang="en-US"/>
            </a:p>
          </p:txBody>
        </p:sp>
        <p:sp>
          <p:nvSpPr>
            <p:cNvPr id="124935" name="Line 7"/>
            <p:cNvSpPr>
              <a:spLocks noChangeShapeType="1"/>
            </p:cNvSpPr>
            <p:nvPr/>
          </p:nvSpPr>
          <p:spPr bwMode="auto">
            <a:xfrm>
              <a:off x="1041" y="1936"/>
              <a:ext cx="0" cy="1701"/>
            </a:xfrm>
            <a:prstGeom prst="line">
              <a:avLst/>
            </a:prstGeom>
            <a:noFill/>
            <a:ln w="19050">
              <a:solidFill>
                <a:schemeClr val="tx1"/>
              </a:solidFill>
              <a:round/>
              <a:headEnd/>
              <a:tailEnd/>
            </a:ln>
            <a:effectLst/>
          </p:spPr>
          <p:txBody>
            <a:bodyPr/>
            <a:lstStyle/>
            <a:p>
              <a:endParaRPr lang="en-US"/>
            </a:p>
          </p:txBody>
        </p:sp>
        <p:sp>
          <p:nvSpPr>
            <p:cNvPr id="124939" name="Freeform 11"/>
            <p:cNvSpPr>
              <a:spLocks/>
            </p:cNvSpPr>
            <p:nvPr/>
          </p:nvSpPr>
          <p:spPr bwMode="auto">
            <a:xfrm>
              <a:off x="957" y="1892"/>
              <a:ext cx="82" cy="57"/>
            </a:xfrm>
            <a:custGeom>
              <a:avLst/>
              <a:gdLst/>
              <a:ahLst/>
              <a:cxnLst>
                <a:cxn ang="0">
                  <a:pos x="2" y="26"/>
                </a:cxn>
                <a:cxn ang="0">
                  <a:pos x="2" y="14"/>
                </a:cxn>
                <a:cxn ang="0">
                  <a:pos x="14" y="2"/>
                </a:cxn>
                <a:cxn ang="0">
                  <a:pos x="34" y="2"/>
                </a:cxn>
                <a:cxn ang="0">
                  <a:pos x="44" y="10"/>
                </a:cxn>
                <a:cxn ang="0">
                  <a:pos x="46" y="24"/>
                </a:cxn>
              </a:cxnLst>
              <a:rect l="0" t="0" r="r" b="b"/>
              <a:pathLst>
                <a:path w="46" h="26">
                  <a:moveTo>
                    <a:pt x="2" y="26"/>
                  </a:moveTo>
                  <a:cubicBezTo>
                    <a:pt x="1" y="22"/>
                    <a:pt x="0" y="18"/>
                    <a:pt x="2" y="14"/>
                  </a:cubicBezTo>
                  <a:cubicBezTo>
                    <a:pt x="4" y="10"/>
                    <a:pt x="9" y="4"/>
                    <a:pt x="14" y="2"/>
                  </a:cubicBezTo>
                  <a:cubicBezTo>
                    <a:pt x="19" y="0"/>
                    <a:pt x="29" y="1"/>
                    <a:pt x="34" y="2"/>
                  </a:cubicBezTo>
                  <a:cubicBezTo>
                    <a:pt x="39" y="3"/>
                    <a:pt x="42" y="6"/>
                    <a:pt x="44" y="10"/>
                  </a:cubicBezTo>
                  <a:cubicBezTo>
                    <a:pt x="46" y="14"/>
                    <a:pt x="46" y="19"/>
                    <a:pt x="46" y="24"/>
                  </a:cubicBezTo>
                </a:path>
              </a:pathLst>
            </a:custGeom>
            <a:noFill/>
            <a:ln w="19050" cmpd="sng">
              <a:solidFill>
                <a:schemeClr val="tx1"/>
              </a:solidFill>
              <a:round/>
              <a:headEnd/>
              <a:tailEnd/>
            </a:ln>
            <a:effectLst/>
          </p:spPr>
          <p:txBody>
            <a:bodyPr/>
            <a:lstStyle/>
            <a:p>
              <a:endParaRPr lang="en-US"/>
            </a:p>
          </p:txBody>
        </p:sp>
        <p:sp>
          <p:nvSpPr>
            <p:cNvPr id="124943" name="Freeform 15"/>
            <p:cNvSpPr>
              <a:spLocks/>
            </p:cNvSpPr>
            <p:nvPr/>
          </p:nvSpPr>
          <p:spPr bwMode="auto">
            <a:xfrm>
              <a:off x="955" y="3632"/>
              <a:ext cx="441" cy="190"/>
            </a:xfrm>
            <a:custGeom>
              <a:avLst/>
              <a:gdLst/>
              <a:ahLst/>
              <a:cxnLst>
                <a:cxn ang="0">
                  <a:pos x="0" y="0"/>
                </a:cxn>
                <a:cxn ang="0">
                  <a:pos x="6" y="32"/>
                </a:cxn>
                <a:cxn ang="0">
                  <a:pos x="25" y="54"/>
                </a:cxn>
                <a:cxn ang="0">
                  <a:pos x="53" y="59"/>
                </a:cxn>
                <a:cxn ang="0">
                  <a:pos x="81" y="56"/>
                </a:cxn>
                <a:cxn ang="0">
                  <a:pos x="98" y="43"/>
                </a:cxn>
                <a:cxn ang="0">
                  <a:pos x="107" y="22"/>
                </a:cxn>
                <a:cxn ang="0">
                  <a:pos x="110" y="0"/>
                </a:cxn>
              </a:cxnLst>
              <a:rect l="0" t="0" r="r" b="b"/>
              <a:pathLst>
                <a:path w="110" h="59">
                  <a:moveTo>
                    <a:pt x="0" y="0"/>
                  </a:moveTo>
                  <a:cubicBezTo>
                    <a:pt x="1" y="5"/>
                    <a:pt x="2" y="23"/>
                    <a:pt x="6" y="32"/>
                  </a:cubicBezTo>
                  <a:cubicBezTo>
                    <a:pt x="10" y="41"/>
                    <a:pt x="17" y="49"/>
                    <a:pt x="25" y="54"/>
                  </a:cubicBezTo>
                  <a:cubicBezTo>
                    <a:pt x="33" y="59"/>
                    <a:pt x="44" y="59"/>
                    <a:pt x="53" y="59"/>
                  </a:cubicBezTo>
                  <a:cubicBezTo>
                    <a:pt x="62" y="59"/>
                    <a:pt x="74" y="59"/>
                    <a:pt x="81" y="56"/>
                  </a:cubicBezTo>
                  <a:cubicBezTo>
                    <a:pt x="88" y="53"/>
                    <a:pt x="94" y="49"/>
                    <a:pt x="98" y="43"/>
                  </a:cubicBezTo>
                  <a:cubicBezTo>
                    <a:pt x="102" y="37"/>
                    <a:pt x="105" y="29"/>
                    <a:pt x="107" y="22"/>
                  </a:cubicBezTo>
                  <a:cubicBezTo>
                    <a:pt x="109" y="15"/>
                    <a:pt x="110" y="5"/>
                    <a:pt x="110" y="0"/>
                  </a:cubicBezTo>
                </a:path>
              </a:pathLst>
            </a:custGeom>
            <a:noFill/>
            <a:ln w="19050" cmpd="sng">
              <a:solidFill>
                <a:schemeClr val="tx1"/>
              </a:solidFill>
              <a:round/>
              <a:headEnd/>
              <a:tailEnd/>
            </a:ln>
            <a:effectLst/>
          </p:spPr>
          <p:txBody>
            <a:bodyPr/>
            <a:lstStyle/>
            <a:p>
              <a:endParaRPr lang="en-US"/>
            </a:p>
          </p:txBody>
        </p:sp>
        <p:sp>
          <p:nvSpPr>
            <p:cNvPr id="124945" name="Freeform 17"/>
            <p:cNvSpPr>
              <a:spLocks/>
            </p:cNvSpPr>
            <p:nvPr/>
          </p:nvSpPr>
          <p:spPr bwMode="auto">
            <a:xfrm flipV="1">
              <a:off x="957" y="2148"/>
              <a:ext cx="82" cy="58"/>
            </a:xfrm>
            <a:custGeom>
              <a:avLst/>
              <a:gdLst/>
              <a:ahLst/>
              <a:cxnLst>
                <a:cxn ang="0">
                  <a:pos x="2" y="26"/>
                </a:cxn>
                <a:cxn ang="0">
                  <a:pos x="2" y="14"/>
                </a:cxn>
                <a:cxn ang="0">
                  <a:pos x="14" y="2"/>
                </a:cxn>
                <a:cxn ang="0">
                  <a:pos x="34" y="2"/>
                </a:cxn>
                <a:cxn ang="0">
                  <a:pos x="44" y="10"/>
                </a:cxn>
                <a:cxn ang="0">
                  <a:pos x="46" y="24"/>
                </a:cxn>
              </a:cxnLst>
              <a:rect l="0" t="0" r="r" b="b"/>
              <a:pathLst>
                <a:path w="46" h="26">
                  <a:moveTo>
                    <a:pt x="2" y="26"/>
                  </a:moveTo>
                  <a:cubicBezTo>
                    <a:pt x="1" y="22"/>
                    <a:pt x="0" y="18"/>
                    <a:pt x="2" y="14"/>
                  </a:cubicBezTo>
                  <a:cubicBezTo>
                    <a:pt x="4" y="10"/>
                    <a:pt x="9" y="4"/>
                    <a:pt x="14" y="2"/>
                  </a:cubicBezTo>
                  <a:cubicBezTo>
                    <a:pt x="19" y="0"/>
                    <a:pt x="29" y="1"/>
                    <a:pt x="34" y="2"/>
                  </a:cubicBezTo>
                  <a:cubicBezTo>
                    <a:pt x="39" y="3"/>
                    <a:pt x="42" y="6"/>
                    <a:pt x="44" y="10"/>
                  </a:cubicBezTo>
                  <a:cubicBezTo>
                    <a:pt x="46" y="14"/>
                    <a:pt x="46" y="19"/>
                    <a:pt x="46" y="24"/>
                  </a:cubicBezTo>
                </a:path>
              </a:pathLst>
            </a:custGeom>
            <a:noFill/>
            <a:ln w="19050" cmpd="sng">
              <a:solidFill>
                <a:schemeClr val="tx1"/>
              </a:solidFill>
              <a:round/>
              <a:headEnd/>
              <a:tailEnd/>
            </a:ln>
            <a:effectLst/>
          </p:spPr>
          <p:txBody>
            <a:bodyPr/>
            <a:lstStyle/>
            <a:p>
              <a:endParaRPr lang="en-US"/>
            </a:p>
          </p:txBody>
        </p:sp>
        <p:sp>
          <p:nvSpPr>
            <p:cNvPr id="124947" name="Freeform 19"/>
            <p:cNvSpPr>
              <a:spLocks/>
            </p:cNvSpPr>
            <p:nvPr/>
          </p:nvSpPr>
          <p:spPr bwMode="auto">
            <a:xfrm flipV="1">
              <a:off x="1312" y="3495"/>
              <a:ext cx="82" cy="59"/>
            </a:xfrm>
            <a:custGeom>
              <a:avLst/>
              <a:gdLst/>
              <a:ahLst/>
              <a:cxnLst>
                <a:cxn ang="0">
                  <a:pos x="2" y="26"/>
                </a:cxn>
                <a:cxn ang="0">
                  <a:pos x="2" y="14"/>
                </a:cxn>
                <a:cxn ang="0">
                  <a:pos x="14" y="2"/>
                </a:cxn>
                <a:cxn ang="0">
                  <a:pos x="34" y="2"/>
                </a:cxn>
                <a:cxn ang="0">
                  <a:pos x="44" y="10"/>
                </a:cxn>
                <a:cxn ang="0">
                  <a:pos x="46" y="24"/>
                </a:cxn>
              </a:cxnLst>
              <a:rect l="0" t="0" r="r" b="b"/>
              <a:pathLst>
                <a:path w="46" h="26">
                  <a:moveTo>
                    <a:pt x="2" y="26"/>
                  </a:moveTo>
                  <a:cubicBezTo>
                    <a:pt x="1" y="22"/>
                    <a:pt x="0" y="18"/>
                    <a:pt x="2" y="14"/>
                  </a:cubicBezTo>
                  <a:cubicBezTo>
                    <a:pt x="4" y="10"/>
                    <a:pt x="9" y="4"/>
                    <a:pt x="14" y="2"/>
                  </a:cubicBezTo>
                  <a:cubicBezTo>
                    <a:pt x="19" y="0"/>
                    <a:pt x="29" y="1"/>
                    <a:pt x="34" y="2"/>
                  </a:cubicBezTo>
                  <a:cubicBezTo>
                    <a:pt x="39" y="3"/>
                    <a:pt x="42" y="6"/>
                    <a:pt x="44" y="10"/>
                  </a:cubicBezTo>
                  <a:cubicBezTo>
                    <a:pt x="46" y="14"/>
                    <a:pt x="46" y="19"/>
                    <a:pt x="46" y="24"/>
                  </a:cubicBezTo>
                </a:path>
              </a:pathLst>
            </a:custGeom>
            <a:noFill/>
            <a:ln w="19050" cmpd="sng">
              <a:solidFill>
                <a:schemeClr val="tx1"/>
              </a:solidFill>
              <a:round/>
              <a:headEnd/>
              <a:tailEnd/>
            </a:ln>
            <a:effectLst/>
          </p:spPr>
          <p:txBody>
            <a:bodyPr/>
            <a:lstStyle/>
            <a:p>
              <a:endParaRPr lang="en-US"/>
            </a:p>
          </p:txBody>
        </p:sp>
      </p:grpSp>
      <p:sp>
        <p:nvSpPr>
          <p:cNvPr id="124952" name="Text Box 24"/>
          <p:cNvSpPr txBox="1">
            <a:spLocks noChangeArrowheads="1"/>
          </p:cNvSpPr>
          <p:nvPr/>
        </p:nvSpPr>
        <p:spPr bwMode="auto">
          <a:xfrm>
            <a:off x="1249363" y="1785938"/>
            <a:ext cx="1749425" cy="917575"/>
          </a:xfrm>
          <a:prstGeom prst="rect">
            <a:avLst/>
          </a:prstGeom>
          <a:noFill/>
          <a:ln w="9525">
            <a:noFill/>
            <a:miter lim="800000"/>
            <a:headEnd/>
            <a:tailEnd/>
          </a:ln>
          <a:effectLst/>
        </p:spPr>
        <p:txBody>
          <a:bodyPr>
            <a:spAutoFit/>
          </a:bodyPr>
          <a:lstStyle/>
          <a:p>
            <a:pPr>
              <a:lnSpc>
                <a:spcPct val="150000"/>
              </a:lnSpc>
            </a:pPr>
            <a:r>
              <a:rPr lang="en-GB" sz="1800"/>
              <a:t>Atmospheric pressure</a:t>
            </a:r>
          </a:p>
        </p:txBody>
      </p:sp>
      <p:grpSp>
        <p:nvGrpSpPr>
          <p:cNvPr id="3" name="Group 31"/>
          <p:cNvGrpSpPr>
            <a:grpSpLocks/>
          </p:cNvGrpSpPr>
          <p:nvPr/>
        </p:nvGrpSpPr>
        <p:grpSpPr bwMode="auto">
          <a:xfrm>
            <a:off x="2409825" y="3490913"/>
            <a:ext cx="212725" cy="2130425"/>
            <a:chOff x="1583" y="2199"/>
            <a:chExt cx="134" cy="1342"/>
          </a:xfrm>
        </p:grpSpPr>
        <p:sp>
          <p:nvSpPr>
            <p:cNvPr id="124954" name="Line 26"/>
            <p:cNvSpPr>
              <a:spLocks noChangeShapeType="1"/>
            </p:cNvSpPr>
            <p:nvPr/>
          </p:nvSpPr>
          <p:spPr bwMode="auto">
            <a:xfrm>
              <a:off x="1650" y="2199"/>
              <a:ext cx="1" cy="1340"/>
            </a:xfrm>
            <a:prstGeom prst="line">
              <a:avLst/>
            </a:prstGeom>
            <a:noFill/>
            <a:ln w="19050">
              <a:solidFill>
                <a:schemeClr val="tx1"/>
              </a:solidFill>
              <a:round/>
              <a:headEnd type="arrow" w="lg" len="lg"/>
              <a:tailEnd type="arrow" w="lg" len="lg"/>
            </a:ln>
            <a:effectLst/>
          </p:spPr>
          <p:txBody>
            <a:bodyPr/>
            <a:lstStyle/>
            <a:p>
              <a:endParaRPr lang="en-US"/>
            </a:p>
          </p:txBody>
        </p:sp>
        <p:sp>
          <p:nvSpPr>
            <p:cNvPr id="124955" name="Line 27"/>
            <p:cNvSpPr>
              <a:spLocks noChangeShapeType="1"/>
            </p:cNvSpPr>
            <p:nvPr/>
          </p:nvSpPr>
          <p:spPr bwMode="auto">
            <a:xfrm>
              <a:off x="1583" y="3541"/>
              <a:ext cx="134" cy="0"/>
            </a:xfrm>
            <a:prstGeom prst="line">
              <a:avLst/>
            </a:prstGeom>
            <a:noFill/>
            <a:ln w="19050">
              <a:solidFill>
                <a:schemeClr val="tx1"/>
              </a:solidFill>
              <a:round/>
              <a:headEnd/>
              <a:tailEnd/>
            </a:ln>
            <a:effectLst/>
          </p:spPr>
          <p:txBody>
            <a:bodyPr/>
            <a:lstStyle/>
            <a:p>
              <a:endParaRPr lang="en-US"/>
            </a:p>
          </p:txBody>
        </p:sp>
        <p:sp>
          <p:nvSpPr>
            <p:cNvPr id="124958" name="Line 30"/>
            <p:cNvSpPr>
              <a:spLocks noChangeShapeType="1"/>
            </p:cNvSpPr>
            <p:nvPr/>
          </p:nvSpPr>
          <p:spPr bwMode="auto">
            <a:xfrm>
              <a:off x="1583" y="2199"/>
              <a:ext cx="134" cy="0"/>
            </a:xfrm>
            <a:prstGeom prst="line">
              <a:avLst/>
            </a:prstGeom>
            <a:noFill/>
            <a:ln w="19050">
              <a:solidFill>
                <a:schemeClr val="tx1"/>
              </a:solidFill>
              <a:round/>
              <a:headEnd/>
              <a:tailEnd/>
            </a:ln>
            <a:effectLst/>
          </p:spPr>
          <p:txBody>
            <a:bodyPr/>
            <a:lstStyle/>
            <a:p>
              <a:endParaRPr lang="en-US"/>
            </a:p>
          </p:txBody>
        </p:sp>
      </p:grpSp>
      <p:sp>
        <p:nvSpPr>
          <p:cNvPr id="124960" name="Text Box 32"/>
          <p:cNvSpPr txBox="1">
            <a:spLocks noChangeArrowheads="1"/>
          </p:cNvSpPr>
          <p:nvPr/>
        </p:nvSpPr>
        <p:spPr bwMode="auto">
          <a:xfrm>
            <a:off x="2643188" y="3505200"/>
            <a:ext cx="2195512" cy="2155825"/>
          </a:xfrm>
          <a:prstGeom prst="rect">
            <a:avLst/>
          </a:prstGeom>
          <a:noFill/>
          <a:ln w="9525">
            <a:noFill/>
            <a:miter lim="800000"/>
            <a:headEnd/>
            <a:tailEnd/>
          </a:ln>
          <a:effectLst/>
        </p:spPr>
        <p:txBody>
          <a:bodyPr>
            <a:spAutoFit/>
          </a:bodyPr>
          <a:lstStyle/>
          <a:p>
            <a:pPr algn="l">
              <a:lnSpc>
                <a:spcPct val="150000"/>
              </a:lnSpc>
            </a:pPr>
            <a:r>
              <a:rPr lang="en-GB" sz="1800"/>
              <a:t>Atmospheric pressure supports a column of water (1033.2 cm) or mercury (760 mm)</a:t>
            </a:r>
          </a:p>
        </p:txBody>
      </p:sp>
      <p:sp>
        <p:nvSpPr>
          <p:cNvPr id="124961" name="Text Box 33"/>
          <p:cNvSpPr txBox="1">
            <a:spLocks noChangeArrowheads="1"/>
          </p:cNvSpPr>
          <p:nvPr/>
        </p:nvSpPr>
        <p:spPr bwMode="auto">
          <a:xfrm>
            <a:off x="5394325" y="1992313"/>
            <a:ext cx="2541588" cy="504825"/>
          </a:xfrm>
          <a:prstGeom prst="rect">
            <a:avLst/>
          </a:prstGeom>
          <a:noFill/>
          <a:ln w="9525">
            <a:noFill/>
            <a:miter lim="800000"/>
            <a:headEnd/>
            <a:tailEnd/>
          </a:ln>
          <a:effectLst/>
        </p:spPr>
        <p:txBody>
          <a:bodyPr>
            <a:spAutoFit/>
          </a:bodyPr>
          <a:lstStyle/>
          <a:p>
            <a:pPr>
              <a:lnSpc>
                <a:spcPct val="150000"/>
              </a:lnSpc>
            </a:pPr>
            <a:r>
              <a:rPr lang="en-GB" sz="1800"/>
              <a:t>Atmospheric pressure</a:t>
            </a:r>
          </a:p>
        </p:txBody>
      </p:sp>
      <p:sp>
        <p:nvSpPr>
          <p:cNvPr id="124962" name="Text Box 34"/>
          <p:cNvSpPr txBox="1">
            <a:spLocks noChangeArrowheads="1"/>
          </p:cNvSpPr>
          <p:nvPr/>
        </p:nvSpPr>
        <p:spPr bwMode="auto">
          <a:xfrm>
            <a:off x="5394325" y="5692775"/>
            <a:ext cx="3540125" cy="917575"/>
          </a:xfrm>
          <a:prstGeom prst="rect">
            <a:avLst/>
          </a:prstGeom>
          <a:noFill/>
          <a:ln w="9525">
            <a:noFill/>
            <a:miter lim="800000"/>
            <a:headEnd/>
            <a:tailEnd/>
          </a:ln>
          <a:effectLst/>
        </p:spPr>
        <p:txBody>
          <a:bodyPr>
            <a:spAutoFit/>
          </a:bodyPr>
          <a:lstStyle/>
          <a:p>
            <a:pPr algn="l">
              <a:lnSpc>
                <a:spcPct val="150000"/>
              </a:lnSpc>
            </a:pPr>
            <a:r>
              <a:rPr lang="en-GB" sz="1800"/>
              <a:t>14.7 PSI</a:t>
            </a:r>
          </a:p>
          <a:p>
            <a:pPr algn="l">
              <a:lnSpc>
                <a:spcPct val="150000"/>
              </a:lnSpc>
            </a:pPr>
            <a:r>
              <a:rPr lang="en-GB" sz="1800"/>
              <a:t> (pounds per square inch (US))</a:t>
            </a:r>
          </a:p>
        </p:txBody>
      </p:sp>
      <p:sp>
        <p:nvSpPr>
          <p:cNvPr id="124963" name="Line 35"/>
          <p:cNvSpPr>
            <a:spLocks noChangeShapeType="1"/>
          </p:cNvSpPr>
          <p:nvPr/>
        </p:nvSpPr>
        <p:spPr bwMode="auto">
          <a:xfrm flipH="1">
            <a:off x="912813" y="3251200"/>
            <a:ext cx="569912" cy="568325"/>
          </a:xfrm>
          <a:prstGeom prst="line">
            <a:avLst/>
          </a:prstGeom>
          <a:noFill/>
          <a:ln w="19050">
            <a:solidFill>
              <a:schemeClr val="bg1"/>
            </a:solidFill>
            <a:round/>
            <a:headEnd type="arrow" w="med" len="med"/>
            <a:tailEnd/>
          </a:ln>
          <a:effectLst/>
        </p:spPr>
        <p:txBody>
          <a:bodyPr/>
          <a:lstStyle/>
          <a:p>
            <a:endParaRPr lang="en-US"/>
          </a:p>
        </p:txBody>
      </p:sp>
      <p:sp>
        <p:nvSpPr>
          <p:cNvPr id="124964" name="Text Box 36"/>
          <p:cNvSpPr txBox="1">
            <a:spLocks noChangeArrowheads="1"/>
          </p:cNvSpPr>
          <p:nvPr/>
        </p:nvSpPr>
        <p:spPr bwMode="auto">
          <a:xfrm>
            <a:off x="222250" y="3722688"/>
            <a:ext cx="1036638" cy="917575"/>
          </a:xfrm>
          <a:prstGeom prst="rect">
            <a:avLst/>
          </a:prstGeom>
          <a:noFill/>
          <a:ln w="9525">
            <a:noFill/>
            <a:miter lim="800000"/>
            <a:headEnd/>
            <a:tailEnd/>
          </a:ln>
          <a:effectLst/>
        </p:spPr>
        <p:txBody>
          <a:bodyPr>
            <a:spAutoFit/>
          </a:bodyPr>
          <a:lstStyle/>
          <a:p>
            <a:pPr>
              <a:lnSpc>
                <a:spcPct val="150000"/>
              </a:lnSpc>
            </a:pPr>
            <a:r>
              <a:rPr lang="en-GB" sz="1800"/>
              <a:t>Strong vacuum</a:t>
            </a:r>
          </a:p>
        </p:txBody>
      </p:sp>
      <p:sp>
        <p:nvSpPr>
          <p:cNvPr id="124966" name="Line 38"/>
          <p:cNvSpPr>
            <a:spLocks noChangeShapeType="1"/>
          </p:cNvSpPr>
          <p:nvPr/>
        </p:nvSpPr>
        <p:spPr bwMode="auto">
          <a:xfrm>
            <a:off x="4865688" y="2730500"/>
            <a:ext cx="1587" cy="3406775"/>
          </a:xfrm>
          <a:prstGeom prst="line">
            <a:avLst/>
          </a:prstGeom>
          <a:noFill/>
          <a:ln w="19050">
            <a:solidFill>
              <a:schemeClr val="bg1"/>
            </a:solidFill>
            <a:round/>
            <a:headEnd type="none" w="lg" len="lg"/>
            <a:tailEnd type="none" w="lg" len="lg"/>
          </a:ln>
          <a:effectLst/>
        </p:spPr>
        <p:txBody>
          <a:bodyPr/>
          <a:lstStyle/>
          <a:p>
            <a:endParaRPr lang="en-US"/>
          </a:p>
        </p:txBody>
      </p:sp>
      <p:sp>
        <p:nvSpPr>
          <p:cNvPr id="124969" name="Text Box 41"/>
          <p:cNvSpPr txBox="1">
            <a:spLocks noChangeArrowheads="1"/>
          </p:cNvSpPr>
          <p:nvPr/>
        </p:nvSpPr>
        <p:spPr bwMode="auto">
          <a:xfrm>
            <a:off x="5394325" y="2460625"/>
            <a:ext cx="2214563" cy="917575"/>
          </a:xfrm>
          <a:prstGeom prst="rect">
            <a:avLst/>
          </a:prstGeom>
          <a:noFill/>
          <a:ln w="9525">
            <a:noFill/>
            <a:miter lim="800000"/>
            <a:headEnd/>
            <a:tailEnd/>
          </a:ln>
          <a:effectLst/>
        </p:spPr>
        <p:txBody>
          <a:bodyPr>
            <a:spAutoFit/>
          </a:bodyPr>
          <a:lstStyle/>
          <a:p>
            <a:pPr algn="just">
              <a:lnSpc>
                <a:spcPct val="150000"/>
              </a:lnSpc>
            </a:pPr>
            <a:r>
              <a:rPr lang="en-GB" sz="1800"/>
              <a:t>1 atm</a:t>
            </a:r>
          </a:p>
          <a:p>
            <a:pPr algn="just">
              <a:lnSpc>
                <a:spcPct val="150000"/>
              </a:lnSpc>
            </a:pPr>
            <a:r>
              <a:rPr lang="en-GB" sz="1800"/>
              <a:t>1 Bar</a:t>
            </a:r>
          </a:p>
        </p:txBody>
      </p:sp>
      <p:sp>
        <p:nvSpPr>
          <p:cNvPr id="124973" name="Text Box 45"/>
          <p:cNvSpPr txBox="1">
            <a:spLocks noChangeArrowheads="1"/>
          </p:cNvSpPr>
          <p:nvPr/>
        </p:nvSpPr>
        <p:spPr bwMode="auto">
          <a:xfrm>
            <a:off x="5394325" y="5102225"/>
            <a:ext cx="2214563" cy="504825"/>
          </a:xfrm>
          <a:prstGeom prst="rect">
            <a:avLst/>
          </a:prstGeom>
          <a:noFill/>
          <a:ln w="9525">
            <a:noFill/>
            <a:miter lim="800000"/>
            <a:headEnd/>
            <a:tailEnd/>
          </a:ln>
          <a:effectLst/>
        </p:spPr>
        <p:txBody>
          <a:bodyPr>
            <a:spAutoFit/>
          </a:bodyPr>
          <a:lstStyle/>
          <a:p>
            <a:pPr algn="just">
              <a:lnSpc>
                <a:spcPct val="150000"/>
              </a:lnSpc>
            </a:pPr>
            <a:r>
              <a:rPr lang="en-GB" sz="1800"/>
              <a:t>1033 cm H</a:t>
            </a:r>
            <a:r>
              <a:rPr lang="en-GB" sz="1800" baseline="-25000"/>
              <a:t>2</a:t>
            </a:r>
            <a:r>
              <a:rPr lang="en-GB" sz="1800"/>
              <a:t>O</a:t>
            </a:r>
          </a:p>
        </p:txBody>
      </p:sp>
      <p:sp>
        <p:nvSpPr>
          <p:cNvPr id="124974" name="Text Box 46"/>
          <p:cNvSpPr txBox="1">
            <a:spLocks noChangeArrowheads="1"/>
          </p:cNvSpPr>
          <p:nvPr/>
        </p:nvSpPr>
        <p:spPr bwMode="auto">
          <a:xfrm>
            <a:off x="5394325" y="4633913"/>
            <a:ext cx="2214563" cy="504825"/>
          </a:xfrm>
          <a:prstGeom prst="rect">
            <a:avLst/>
          </a:prstGeom>
          <a:noFill/>
          <a:ln w="9525">
            <a:noFill/>
            <a:miter lim="800000"/>
            <a:headEnd/>
            <a:tailEnd/>
          </a:ln>
          <a:effectLst/>
        </p:spPr>
        <p:txBody>
          <a:bodyPr>
            <a:spAutoFit/>
          </a:bodyPr>
          <a:lstStyle/>
          <a:p>
            <a:pPr algn="just">
              <a:lnSpc>
                <a:spcPct val="150000"/>
              </a:lnSpc>
            </a:pPr>
            <a:r>
              <a:rPr lang="en-GB" sz="1800"/>
              <a:t>760 mm Hg</a:t>
            </a:r>
          </a:p>
        </p:txBody>
      </p:sp>
      <p:sp>
        <p:nvSpPr>
          <p:cNvPr id="124975" name="Text Box 47"/>
          <p:cNvSpPr txBox="1">
            <a:spLocks noChangeArrowheads="1"/>
          </p:cNvSpPr>
          <p:nvPr/>
        </p:nvSpPr>
        <p:spPr bwMode="auto">
          <a:xfrm>
            <a:off x="5394325" y="3341688"/>
            <a:ext cx="2214563" cy="1330325"/>
          </a:xfrm>
          <a:prstGeom prst="rect">
            <a:avLst/>
          </a:prstGeom>
          <a:noFill/>
          <a:ln w="9525">
            <a:noFill/>
            <a:miter lim="800000"/>
            <a:headEnd/>
            <a:tailEnd/>
          </a:ln>
          <a:effectLst/>
        </p:spPr>
        <p:txBody>
          <a:bodyPr>
            <a:spAutoFit/>
          </a:bodyPr>
          <a:lstStyle/>
          <a:p>
            <a:pPr algn="just">
              <a:lnSpc>
                <a:spcPct val="150000"/>
              </a:lnSpc>
            </a:pPr>
            <a:r>
              <a:rPr lang="en-GB" sz="1800"/>
              <a:t>101300 N / m2</a:t>
            </a:r>
          </a:p>
          <a:p>
            <a:pPr algn="just">
              <a:lnSpc>
                <a:spcPct val="150000"/>
              </a:lnSpc>
            </a:pPr>
            <a:r>
              <a:rPr lang="en-GB" sz="1800"/>
              <a:t>101300 Pa</a:t>
            </a:r>
          </a:p>
          <a:p>
            <a:pPr algn="just">
              <a:lnSpc>
                <a:spcPct val="150000"/>
              </a:lnSpc>
            </a:pPr>
            <a:r>
              <a:rPr lang="en-GB" sz="1800"/>
              <a:t>101.3 kPa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9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49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49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497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497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497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4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61" grpId="0"/>
      <p:bldP spid="124962" grpId="0"/>
      <p:bldP spid="124966" grpId="0" animBg="1"/>
      <p:bldP spid="124969" grpId="0"/>
      <p:bldP spid="124973" grpId="0"/>
      <p:bldP spid="124974" grpId="0"/>
      <p:bldP spid="1249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p:cNvSpPr txBox="1">
            <a:spLocks noChangeArrowheads="1"/>
          </p:cNvSpPr>
          <p:nvPr/>
        </p:nvSpPr>
        <p:spPr bwMode="auto">
          <a:xfrm>
            <a:off x="269875" y="298450"/>
            <a:ext cx="3214688" cy="519113"/>
          </a:xfrm>
          <a:prstGeom prst="rect">
            <a:avLst/>
          </a:prstGeom>
          <a:noFill/>
          <a:ln w="9525">
            <a:noFill/>
            <a:miter lim="800000"/>
            <a:headEnd/>
            <a:tailEnd/>
          </a:ln>
          <a:effectLst/>
        </p:spPr>
        <p:txBody>
          <a:bodyPr wrap="none">
            <a:spAutoFit/>
          </a:bodyPr>
          <a:lstStyle/>
          <a:p>
            <a:pPr algn="l"/>
            <a:r>
              <a:rPr lang="en-GB" sz="2800"/>
              <a:t>Medical gas supply</a:t>
            </a:r>
          </a:p>
        </p:txBody>
      </p:sp>
      <p:sp>
        <p:nvSpPr>
          <p:cNvPr id="137219" name="Text Box 3"/>
          <p:cNvSpPr txBox="1">
            <a:spLocks noChangeArrowheads="1"/>
          </p:cNvSpPr>
          <p:nvPr/>
        </p:nvSpPr>
        <p:spPr bwMode="auto">
          <a:xfrm>
            <a:off x="1339850" y="1285875"/>
            <a:ext cx="6462713" cy="595313"/>
          </a:xfrm>
          <a:prstGeom prst="rect">
            <a:avLst/>
          </a:prstGeom>
          <a:noFill/>
          <a:ln w="9525">
            <a:noFill/>
            <a:miter lim="800000"/>
            <a:headEnd/>
            <a:tailEnd/>
          </a:ln>
          <a:effectLst/>
        </p:spPr>
        <p:txBody>
          <a:bodyPr>
            <a:spAutoFit/>
          </a:bodyPr>
          <a:lstStyle/>
          <a:p>
            <a:pPr>
              <a:lnSpc>
                <a:spcPct val="150000"/>
              </a:lnSpc>
            </a:pPr>
            <a:r>
              <a:rPr lang="en-GB" sz="2200" u="sng"/>
              <a:t>Reference table for different pressure scales</a:t>
            </a:r>
          </a:p>
        </p:txBody>
      </p:sp>
      <p:sp>
        <p:nvSpPr>
          <p:cNvPr id="137220" name="Text Box 4"/>
          <p:cNvSpPr txBox="1">
            <a:spLocks noChangeArrowheads="1"/>
          </p:cNvSpPr>
          <p:nvPr/>
        </p:nvSpPr>
        <p:spPr bwMode="auto">
          <a:xfrm>
            <a:off x="533400" y="766763"/>
            <a:ext cx="6502400" cy="595312"/>
          </a:xfrm>
          <a:prstGeom prst="rect">
            <a:avLst/>
          </a:prstGeom>
          <a:noFill/>
          <a:ln w="9525">
            <a:noFill/>
            <a:miter lim="800000"/>
            <a:headEnd/>
            <a:tailEnd/>
          </a:ln>
          <a:effectLst/>
        </p:spPr>
        <p:txBody>
          <a:bodyPr>
            <a:spAutoFit/>
          </a:bodyPr>
          <a:lstStyle/>
          <a:p>
            <a:pPr algn="l">
              <a:lnSpc>
                <a:spcPct val="150000"/>
              </a:lnSpc>
            </a:pPr>
            <a:r>
              <a:rPr lang="en-GB" sz="2200"/>
              <a:t>A brief overview of relevant gas physics (cont.)</a:t>
            </a:r>
          </a:p>
        </p:txBody>
      </p:sp>
      <p:sp>
        <p:nvSpPr>
          <p:cNvPr id="137225" name="Text Box 9"/>
          <p:cNvSpPr txBox="1">
            <a:spLocks noChangeArrowheads="1"/>
          </p:cNvSpPr>
          <p:nvPr/>
        </p:nvSpPr>
        <p:spPr bwMode="auto">
          <a:xfrm>
            <a:off x="3382963" y="3084513"/>
            <a:ext cx="368300" cy="595312"/>
          </a:xfrm>
          <a:prstGeom prst="rect">
            <a:avLst/>
          </a:prstGeom>
          <a:noFill/>
          <a:ln w="9525">
            <a:noFill/>
            <a:miter lim="800000"/>
            <a:headEnd/>
            <a:tailEnd/>
          </a:ln>
          <a:effectLst/>
        </p:spPr>
        <p:txBody>
          <a:bodyPr>
            <a:spAutoFit/>
          </a:bodyPr>
          <a:lstStyle/>
          <a:p>
            <a:pPr>
              <a:lnSpc>
                <a:spcPct val="150000"/>
              </a:lnSpc>
            </a:pPr>
            <a:r>
              <a:rPr lang="en-GB" sz="2200"/>
              <a:t>1</a:t>
            </a:r>
          </a:p>
        </p:txBody>
      </p:sp>
      <p:sp>
        <p:nvSpPr>
          <p:cNvPr id="137241" name="Text Box 25"/>
          <p:cNvSpPr txBox="1">
            <a:spLocks noChangeArrowheads="1"/>
          </p:cNvSpPr>
          <p:nvPr/>
        </p:nvSpPr>
        <p:spPr bwMode="auto">
          <a:xfrm>
            <a:off x="927100" y="3084513"/>
            <a:ext cx="1198563" cy="595312"/>
          </a:xfrm>
          <a:prstGeom prst="rect">
            <a:avLst/>
          </a:prstGeom>
          <a:noFill/>
          <a:ln w="9525">
            <a:noFill/>
            <a:miter lim="800000"/>
            <a:headEnd/>
            <a:tailEnd/>
          </a:ln>
          <a:effectLst/>
        </p:spPr>
        <p:txBody>
          <a:bodyPr>
            <a:spAutoFit/>
          </a:bodyPr>
          <a:lstStyle/>
          <a:p>
            <a:pPr>
              <a:lnSpc>
                <a:spcPct val="150000"/>
              </a:lnSpc>
            </a:pPr>
            <a:r>
              <a:rPr lang="en-GB" sz="2200"/>
              <a:t>in Bar</a:t>
            </a:r>
          </a:p>
        </p:txBody>
      </p:sp>
      <p:sp>
        <p:nvSpPr>
          <p:cNvPr id="137222" name="Line 6"/>
          <p:cNvSpPr>
            <a:spLocks noChangeShapeType="1"/>
          </p:cNvSpPr>
          <p:nvPr/>
        </p:nvSpPr>
        <p:spPr bwMode="auto">
          <a:xfrm>
            <a:off x="547688" y="2124075"/>
            <a:ext cx="8047037" cy="0"/>
          </a:xfrm>
          <a:prstGeom prst="line">
            <a:avLst/>
          </a:prstGeom>
          <a:noFill/>
          <a:ln w="9525">
            <a:solidFill>
              <a:schemeClr val="tx1"/>
            </a:solidFill>
            <a:round/>
            <a:headEnd/>
            <a:tailEnd/>
          </a:ln>
          <a:effectLst/>
        </p:spPr>
        <p:txBody>
          <a:bodyPr/>
          <a:lstStyle/>
          <a:p>
            <a:endParaRPr lang="en-US"/>
          </a:p>
        </p:txBody>
      </p:sp>
      <p:sp>
        <p:nvSpPr>
          <p:cNvPr id="137223" name="Line 7"/>
          <p:cNvSpPr>
            <a:spLocks noChangeShapeType="1"/>
          </p:cNvSpPr>
          <p:nvPr/>
        </p:nvSpPr>
        <p:spPr bwMode="auto">
          <a:xfrm rot="5400000">
            <a:off x="-1597025" y="4268788"/>
            <a:ext cx="4289425" cy="0"/>
          </a:xfrm>
          <a:prstGeom prst="line">
            <a:avLst/>
          </a:prstGeom>
          <a:noFill/>
          <a:ln w="9525">
            <a:solidFill>
              <a:schemeClr val="tx1"/>
            </a:solidFill>
            <a:round/>
            <a:headEnd/>
            <a:tailEnd/>
          </a:ln>
          <a:effectLst/>
        </p:spPr>
        <p:txBody>
          <a:bodyPr/>
          <a:lstStyle/>
          <a:p>
            <a:endParaRPr lang="en-US"/>
          </a:p>
        </p:txBody>
      </p:sp>
      <p:sp>
        <p:nvSpPr>
          <p:cNvPr id="137227" name="Line 11"/>
          <p:cNvSpPr>
            <a:spLocks noChangeShapeType="1"/>
          </p:cNvSpPr>
          <p:nvPr/>
        </p:nvSpPr>
        <p:spPr bwMode="auto">
          <a:xfrm>
            <a:off x="547688" y="2981325"/>
            <a:ext cx="8047037" cy="0"/>
          </a:xfrm>
          <a:prstGeom prst="line">
            <a:avLst/>
          </a:prstGeom>
          <a:noFill/>
          <a:ln w="9525">
            <a:solidFill>
              <a:schemeClr val="tx1"/>
            </a:solidFill>
            <a:round/>
            <a:headEnd/>
            <a:tailEnd/>
          </a:ln>
          <a:effectLst/>
        </p:spPr>
        <p:txBody>
          <a:bodyPr/>
          <a:lstStyle/>
          <a:p>
            <a:endParaRPr lang="en-US"/>
          </a:p>
        </p:txBody>
      </p:sp>
      <p:sp>
        <p:nvSpPr>
          <p:cNvPr id="137228" name="Line 12"/>
          <p:cNvSpPr>
            <a:spLocks noChangeShapeType="1"/>
          </p:cNvSpPr>
          <p:nvPr/>
        </p:nvSpPr>
        <p:spPr bwMode="auto">
          <a:xfrm>
            <a:off x="547688" y="4697413"/>
            <a:ext cx="8047037" cy="0"/>
          </a:xfrm>
          <a:prstGeom prst="line">
            <a:avLst/>
          </a:prstGeom>
          <a:noFill/>
          <a:ln w="9525">
            <a:solidFill>
              <a:schemeClr val="tx1"/>
            </a:solidFill>
            <a:round/>
            <a:headEnd/>
            <a:tailEnd/>
          </a:ln>
          <a:effectLst/>
        </p:spPr>
        <p:txBody>
          <a:bodyPr/>
          <a:lstStyle/>
          <a:p>
            <a:endParaRPr lang="en-US"/>
          </a:p>
        </p:txBody>
      </p:sp>
      <p:sp>
        <p:nvSpPr>
          <p:cNvPr id="137229" name="Line 13"/>
          <p:cNvSpPr>
            <a:spLocks noChangeShapeType="1"/>
          </p:cNvSpPr>
          <p:nvPr/>
        </p:nvSpPr>
        <p:spPr bwMode="auto">
          <a:xfrm>
            <a:off x="547688" y="6413500"/>
            <a:ext cx="8047037" cy="0"/>
          </a:xfrm>
          <a:prstGeom prst="line">
            <a:avLst/>
          </a:prstGeom>
          <a:noFill/>
          <a:ln w="9525">
            <a:solidFill>
              <a:schemeClr val="tx1"/>
            </a:solidFill>
            <a:round/>
            <a:headEnd/>
            <a:tailEnd/>
          </a:ln>
          <a:effectLst/>
        </p:spPr>
        <p:txBody>
          <a:bodyPr/>
          <a:lstStyle/>
          <a:p>
            <a:endParaRPr lang="en-US"/>
          </a:p>
        </p:txBody>
      </p:sp>
      <p:sp>
        <p:nvSpPr>
          <p:cNvPr id="137230" name="Line 14"/>
          <p:cNvSpPr>
            <a:spLocks noChangeShapeType="1"/>
          </p:cNvSpPr>
          <p:nvPr/>
        </p:nvSpPr>
        <p:spPr bwMode="auto">
          <a:xfrm>
            <a:off x="547688" y="3838575"/>
            <a:ext cx="8047037" cy="0"/>
          </a:xfrm>
          <a:prstGeom prst="line">
            <a:avLst/>
          </a:prstGeom>
          <a:noFill/>
          <a:ln w="9525">
            <a:solidFill>
              <a:schemeClr val="tx1"/>
            </a:solidFill>
            <a:round/>
            <a:headEnd/>
            <a:tailEnd/>
          </a:ln>
          <a:effectLst/>
        </p:spPr>
        <p:txBody>
          <a:bodyPr/>
          <a:lstStyle/>
          <a:p>
            <a:endParaRPr lang="en-US"/>
          </a:p>
        </p:txBody>
      </p:sp>
      <p:sp>
        <p:nvSpPr>
          <p:cNvPr id="137231" name="Line 15"/>
          <p:cNvSpPr>
            <a:spLocks noChangeShapeType="1"/>
          </p:cNvSpPr>
          <p:nvPr/>
        </p:nvSpPr>
        <p:spPr bwMode="auto">
          <a:xfrm rot="5400000">
            <a:off x="414337" y="4268788"/>
            <a:ext cx="4289425" cy="0"/>
          </a:xfrm>
          <a:prstGeom prst="line">
            <a:avLst/>
          </a:prstGeom>
          <a:noFill/>
          <a:ln w="19050">
            <a:solidFill>
              <a:schemeClr val="tx1"/>
            </a:solidFill>
            <a:round/>
            <a:headEnd/>
            <a:tailEnd/>
          </a:ln>
          <a:effectLst/>
        </p:spPr>
        <p:txBody>
          <a:bodyPr/>
          <a:lstStyle/>
          <a:p>
            <a:endParaRPr lang="en-US"/>
          </a:p>
        </p:txBody>
      </p:sp>
      <p:sp>
        <p:nvSpPr>
          <p:cNvPr id="137236" name="Line 20"/>
          <p:cNvSpPr>
            <a:spLocks noChangeShapeType="1"/>
          </p:cNvSpPr>
          <p:nvPr/>
        </p:nvSpPr>
        <p:spPr bwMode="auto">
          <a:xfrm rot="5400000">
            <a:off x="6450012" y="4268788"/>
            <a:ext cx="4289425" cy="0"/>
          </a:xfrm>
          <a:prstGeom prst="line">
            <a:avLst/>
          </a:prstGeom>
          <a:noFill/>
          <a:ln w="19050">
            <a:solidFill>
              <a:schemeClr val="tx1"/>
            </a:solidFill>
            <a:round/>
            <a:headEnd/>
            <a:tailEnd/>
          </a:ln>
          <a:effectLst/>
        </p:spPr>
        <p:txBody>
          <a:bodyPr/>
          <a:lstStyle/>
          <a:p>
            <a:endParaRPr lang="en-US"/>
          </a:p>
        </p:txBody>
      </p:sp>
      <p:sp>
        <p:nvSpPr>
          <p:cNvPr id="137237" name="Line 21"/>
          <p:cNvSpPr>
            <a:spLocks noChangeShapeType="1"/>
          </p:cNvSpPr>
          <p:nvPr/>
        </p:nvSpPr>
        <p:spPr bwMode="auto">
          <a:xfrm rot="5400000">
            <a:off x="2425700" y="4268788"/>
            <a:ext cx="4289425" cy="0"/>
          </a:xfrm>
          <a:prstGeom prst="line">
            <a:avLst/>
          </a:prstGeom>
          <a:noFill/>
          <a:ln w="19050">
            <a:solidFill>
              <a:schemeClr val="tx1"/>
            </a:solidFill>
            <a:round/>
            <a:headEnd/>
            <a:tailEnd/>
          </a:ln>
          <a:effectLst/>
        </p:spPr>
        <p:txBody>
          <a:bodyPr/>
          <a:lstStyle/>
          <a:p>
            <a:endParaRPr lang="en-US"/>
          </a:p>
        </p:txBody>
      </p:sp>
      <p:sp>
        <p:nvSpPr>
          <p:cNvPr id="137238" name="Line 22"/>
          <p:cNvSpPr>
            <a:spLocks noChangeShapeType="1"/>
          </p:cNvSpPr>
          <p:nvPr/>
        </p:nvSpPr>
        <p:spPr bwMode="auto">
          <a:xfrm rot="5400000">
            <a:off x="4437062" y="4268788"/>
            <a:ext cx="4289425" cy="0"/>
          </a:xfrm>
          <a:prstGeom prst="line">
            <a:avLst/>
          </a:prstGeom>
          <a:noFill/>
          <a:ln w="19050">
            <a:solidFill>
              <a:schemeClr val="tx1"/>
            </a:solidFill>
            <a:round/>
            <a:headEnd/>
            <a:tailEnd/>
          </a:ln>
          <a:effectLst/>
        </p:spPr>
        <p:txBody>
          <a:bodyPr/>
          <a:lstStyle/>
          <a:p>
            <a:endParaRPr lang="en-US"/>
          </a:p>
        </p:txBody>
      </p:sp>
      <p:sp>
        <p:nvSpPr>
          <p:cNvPr id="137252" name="Line 36"/>
          <p:cNvSpPr>
            <a:spLocks noChangeShapeType="1"/>
          </p:cNvSpPr>
          <p:nvPr/>
        </p:nvSpPr>
        <p:spPr bwMode="auto">
          <a:xfrm>
            <a:off x="547688" y="5554663"/>
            <a:ext cx="8047037" cy="0"/>
          </a:xfrm>
          <a:prstGeom prst="line">
            <a:avLst/>
          </a:prstGeom>
          <a:noFill/>
          <a:ln w="9525">
            <a:solidFill>
              <a:schemeClr val="tx1"/>
            </a:solidFill>
            <a:round/>
            <a:headEnd/>
            <a:tailEnd/>
          </a:ln>
          <a:effectLst/>
        </p:spPr>
        <p:txBody>
          <a:bodyPr/>
          <a:lstStyle/>
          <a:p>
            <a:endParaRPr lang="en-US"/>
          </a:p>
        </p:txBody>
      </p:sp>
      <p:sp>
        <p:nvSpPr>
          <p:cNvPr id="137255" name="Text Box 39"/>
          <p:cNvSpPr txBox="1">
            <a:spLocks noChangeArrowheads="1"/>
          </p:cNvSpPr>
          <p:nvPr/>
        </p:nvSpPr>
        <p:spPr bwMode="auto">
          <a:xfrm>
            <a:off x="927100" y="3967163"/>
            <a:ext cx="1198563" cy="595312"/>
          </a:xfrm>
          <a:prstGeom prst="rect">
            <a:avLst/>
          </a:prstGeom>
          <a:noFill/>
          <a:ln w="9525">
            <a:noFill/>
            <a:miter lim="800000"/>
            <a:headEnd/>
            <a:tailEnd/>
          </a:ln>
          <a:effectLst/>
        </p:spPr>
        <p:txBody>
          <a:bodyPr>
            <a:spAutoFit/>
          </a:bodyPr>
          <a:lstStyle/>
          <a:p>
            <a:pPr>
              <a:lnSpc>
                <a:spcPct val="150000"/>
              </a:lnSpc>
            </a:pPr>
            <a:r>
              <a:rPr lang="en-GB" sz="2200"/>
              <a:t>in kPa</a:t>
            </a:r>
          </a:p>
        </p:txBody>
      </p:sp>
      <p:sp>
        <p:nvSpPr>
          <p:cNvPr id="137256" name="Text Box 40"/>
          <p:cNvSpPr txBox="1">
            <a:spLocks noChangeArrowheads="1"/>
          </p:cNvSpPr>
          <p:nvPr/>
        </p:nvSpPr>
        <p:spPr bwMode="auto">
          <a:xfrm>
            <a:off x="795338" y="4803775"/>
            <a:ext cx="1463675" cy="595313"/>
          </a:xfrm>
          <a:prstGeom prst="rect">
            <a:avLst/>
          </a:prstGeom>
          <a:noFill/>
          <a:ln w="9525">
            <a:noFill/>
            <a:miter lim="800000"/>
            <a:headEnd/>
            <a:tailEnd/>
          </a:ln>
          <a:effectLst/>
        </p:spPr>
        <p:txBody>
          <a:bodyPr>
            <a:spAutoFit/>
          </a:bodyPr>
          <a:lstStyle/>
          <a:p>
            <a:pPr>
              <a:lnSpc>
                <a:spcPct val="150000"/>
              </a:lnSpc>
            </a:pPr>
            <a:r>
              <a:rPr lang="en-GB" sz="2200"/>
              <a:t>in mm Hg</a:t>
            </a:r>
          </a:p>
        </p:txBody>
      </p:sp>
      <p:sp>
        <p:nvSpPr>
          <p:cNvPr id="137257" name="Text Box 41"/>
          <p:cNvSpPr txBox="1">
            <a:spLocks noChangeArrowheads="1"/>
          </p:cNvSpPr>
          <p:nvPr/>
        </p:nvSpPr>
        <p:spPr bwMode="auto">
          <a:xfrm>
            <a:off x="755650" y="5673725"/>
            <a:ext cx="1543050" cy="595313"/>
          </a:xfrm>
          <a:prstGeom prst="rect">
            <a:avLst/>
          </a:prstGeom>
          <a:noFill/>
          <a:ln w="9525">
            <a:noFill/>
            <a:miter lim="800000"/>
            <a:headEnd/>
            <a:tailEnd/>
          </a:ln>
          <a:effectLst/>
        </p:spPr>
        <p:txBody>
          <a:bodyPr>
            <a:spAutoFit/>
          </a:bodyPr>
          <a:lstStyle/>
          <a:p>
            <a:pPr>
              <a:lnSpc>
                <a:spcPct val="150000"/>
              </a:lnSpc>
            </a:pPr>
            <a:r>
              <a:rPr lang="en-GB" sz="2200"/>
              <a:t>in cm H</a:t>
            </a:r>
            <a:r>
              <a:rPr lang="en-GB" sz="2200" baseline="-25000"/>
              <a:t>2</a:t>
            </a:r>
            <a:r>
              <a:rPr lang="en-GB" sz="2200"/>
              <a:t>O</a:t>
            </a:r>
          </a:p>
        </p:txBody>
      </p:sp>
      <p:sp>
        <p:nvSpPr>
          <p:cNvPr id="137258" name="Text Box 42"/>
          <p:cNvSpPr txBox="1">
            <a:spLocks noChangeArrowheads="1"/>
          </p:cNvSpPr>
          <p:nvPr/>
        </p:nvSpPr>
        <p:spPr bwMode="auto">
          <a:xfrm>
            <a:off x="2968625" y="2252663"/>
            <a:ext cx="1198563" cy="595312"/>
          </a:xfrm>
          <a:prstGeom prst="rect">
            <a:avLst/>
          </a:prstGeom>
          <a:noFill/>
          <a:ln w="9525">
            <a:noFill/>
            <a:miter lim="800000"/>
            <a:headEnd/>
            <a:tailEnd/>
          </a:ln>
          <a:effectLst/>
        </p:spPr>
        <p:txBody>
          <a:bodyPr>
            <a:spAutoFit/>
          </a:bodyPr>
          <a:lstStyle/>
          <a:p>
            <a:pPr>
              <a:lnSpc>
                <a:spcPct val="150000"/>
              </a:lnSpc>
            </a:pPr>
            <a:r>
              <a:rPr lang="en-GB" sz="2200"/>
              <a:t>1 Bar</a:t>
            </a:r>
          </a:p>
        </p:txBody>
      </p:sp>
      <p:sp>
        <p:nvSpPr>
          <p:cNvPr id="137260" name="Text Box 44"/>
          <p:cNvSpPr txBox="1">
            <a:spLocks noChangeArrowheads="1"/>
          </p:cNvSpPr>
          <p:nvPr/>
        </p:nvSpPr>
        <p:spPr bwMode="auto">
          <a:xfrm>
            <a:off x="6889750" y="2254250"/>
            <a:ext cx="1341438" cy="595313"/>
          </a:xfrm>
          <a:prstGeom prst="rect">
            <a:avLst/>
          </a:prstGeom>
          <a:noFill/>
          <a:ln w="9525">
            <a:noFill/>
            <a:miter lim="800000"/>
            <a:headEnd/>
            <a:tailEnd/>
          </a:ln>
          <a:effectLst/>
        </p:spPr>
        <p:txBody>
          <a:bodyPr>
            <a:spAutoFit/>
          </a:bodyPr>
          <a:lstStyle/>
          <a:p>
            <a:pPr>
              <a:lnSpc>
                <a:spcPct val="150000"/>
              </a:lnSpc>
            </a:pPr>
            <a:r>
              <a:rPr lang="en-GB" sz="2200"/>
              <a:t>1 mm Hg</a:t>
            </a:r>
          </a:p>
        </p:txBody>
      </p:sp>
      <p:sp>
        <p:nvSpPr>
          <p:cNvPr id="137261" name="Text Box 45"/>
          <p:cNvSpPr txBox="1">
            <a:spLocks noChangeArrowheads="1"/>
          </p:cNvSpPr>
          <p:nvPr/>
        </p:nvSpPr>
        <p:spPr bwMode="auto">
          <a:xfrm>
            <a:off x="4951413" y="2252663"/>
            <a:ext cx="1198562" cy="595312"/>
          </a:xfrm>
          <a:prstGeom prst="rect">
            <a:avLst/>
          </a:prstGeom>
          <a:noFill/>
          <a:ln w="9525">
            <a:noFill/>
            <a:miter lim="800000"/>
            <a:headEnd/>
            <a:tailEnd/>
          </a:ln>
          <a:effectLst/>
        </p:spPr>
        <p:txBody>
          <a:bodyPr>
            <a:spAutoFit/>
          </a:bodyPr>
          <a:lstStyle/>
          <a:p>
            <a:pPr>
              <a:lnSpc>
                <a:spcPct val="150000"/>
              </a:lnSpc>
            </a:pPr>
            <a:r>
              <a:rPr lang="en-GB" sz="2200"/>
              <a:t>1 kPa</a:t>
            </a:r>
          </a:p>
        </p:txBody>
      </p:sp>
      <p:sp>
        <p:nvSpPr>
          <p:cNvPr id="137262" name="Text Box 46"/>
          <p:cNvSpPr txBox="1">
            <a:spLocks noChangeArrowheads="1"/>
          </p:cNvSpPr>
          <p:nvPr/>
        </p:nvSpPr>
        <p:spPr bwMode="auto">
          <a:xfrm>
            <a:off x="3008313" y="3967163"/>
            <a:ext cx="1119187" cy="595312"/>
          </a:xfrm>
          <a:prstGeom prst="rect">
            <a:avLst/>
          </a:prstGeom>
          <a:noFill/>
          <a:ln w="9525">
            <a:noFill/>
            <a:miter lim="800000"/>
            <a:headEnd/>
            <a:tailEnd/>
          </a:ln>
          <a:effectLst/>
        </p:spPr>
        <p:txBody>
          <a:bodyPr>
            <a:spAutoFit/>
          </a:bodyPr>
          <a:lstStyle/>
          <a:p>
            <a:pPr>
              <a:lnSpc>
                <a:spcPct val="150000"/>
              </a:lnSpc>
            </a:pPr>
            <a:r>
              <a:rPr lang="en-GB" sz="2200" b="1"/>
              <a:t>101.3</a:t>
            </a:r>
          </a:p>
        </p:txBody>
      </p:sp>
      <p:sp>
        <p:nvSpPr>
          <p:cNvPr id="137263" name="Text Box 47"/>
          <p:cNvSpPr txBox="1">
            <a:spLocks noChangeArrowheads="1"/>
          </p:cNvSpPr>
          <p:nvPr/>
        </p:nvSpPr>
        <p:spPr bwMode="auto">
          <a:xfrm>
            <a:off x="3008313" y="4802188"/>
            <a:ext cx="1119187" cy="595312"/>
          </a:xfrm>
          <a:prstGeom prst="rect">
            <a:avLst/>
          </a:prstGeom>
          <a:noFill/>
          <a:ln w="9525">
            <a:noFill/>
            <a:miter lim="800000"/>
            <a:headEnd/>
            <a:tailEnd/>
          </a:ln>
          <a:effectLst/>
        </p:spPr>
        <p:txBody>
          <a:bodyPr>
            <a:spAutoFit/>
          </a:bodyPr>
          <a:lstStyle/>
          <a:p>
            <a:pPr>
              <a:lnSpc>
                <a:spcPct val="150000"/>
              </a:lnSpc>
            </a:pPr>
            <a:r>
              <a:rPr lang="en-GB" sz="2200" b="1"/>
              <a:t>760</a:t>
            </a:r>
          </a:p>
        </p:txBody>
      </p:sp>
      <p:sp>
        <p:nvSpPr>
          <p:cNvPr id="137264" name="Text Box 48"/>
          <p:cNvSpPr txBox="1">
            <a:spLocks noChangeArrowheads="1"/>
          </p:cNvSpPr>
          <p:nvPr/>
        </p:nvSpPr>
        <p:spPr bwMode="auto">
          <a:xfrm>
            <a:off x="3008313" y="5673725"/>
            <a:ext cx="1119187" cy="595313"/>
          </a:xfrm>
          <a:prstGeom prst="rect">
            <a:avLst/>
          </a:prstGeom>
          <a:noFill/>
          <a:ln w="9525">
            <a:noFill/>
            <a:miter lim="800000"/>
            <a:headEnd/>
            <a:tailEnd/>
          </a:ln>
          <a:effectLst/>
        </p:spPr>
        <p:txBody>
          <a:bodyPr>
            <a:spAutoFit/>
          </a:bodyPr>
          <a:lstStyle/>
          <a:p>
            <a:pPr>
              <a:lnSpc>
                <a:spcPct val="150000"/>
              </a:lnSpc>
            </a:pPr>
            <a:r>
              <a:rPr lang="en-GB" sz="2200" b="1"/>
              <a:t>1033</a:t>
            </a:r>
          </a:p>
        </p:txBody>
      </p:sp>
      <p:sp>
        <p:nvSpPr>
          <p:cNvPr id="137268" name="Text Box 52"/>
          <p:cNvSpPr txBox="1">
            <a:spLocks noChangeArrowheads="1"/>
          </p:cNvSpPr>
          <p:nvPr/>
        </p:nvSpPr>
        <p:spPr bwMode="auto">
          <a:xfrm>
            <a:off x="5367338" y="3967163"/>
            <a:ext cx="368300" cy="595312"/>
          </a:xfrm>
          <a:prstGeom prst="rect">
            <a:avLst/>
          </a:prstGeom>
          <a:noFill/>
          <a:ln w="9525">
            <a:noFill/>
            <a:miter lim="800000"/>
            <a:headEnd/>
            <a:tailEnd/>
          </a:ln>
          <a:effectLst/>
        </p:spPr>
        <p:txBody>
          <a:bodyPr>
            <a:spAutoFit/>
          </a:bodyPr>
          <a:lstStyle/>
          <a:p>
            <a:pPr>
              <a:lnSpc>
                <a:spcPct val="150000"/>
              </a:lnSpc>
            </a:pPr>
            <a:r>
              <a:rPr lang="en-GB" sz="2200"/>
              <a:t>1</a:t>
            </a:r>
          </a:p>
        </p:txBody>
      </p:sp>
      <p:sp>
        <p:nvSpPr>
          <p:cNvPr id="137269" name="Text Box 53"/>
          <p:cNvSpPr txBox="1">
            <a:spLocks noChangeArrowheads="1"/>
          </p:cNvSpPr>
          <p:nvPr/>
        </p:nvSpPr>
        <p:spPr bwMode="auto">
          <a:xfrm>
            <a:off x="7377113" y="4803775"/>
            <a:ext cx="368300" cy="595313"/>
          </a:xfrm>
          <a:prstGeom prst="rect">
            <a:avLst/>
          </a:prstGeom>
          <a:noFill/>
          <a:ln w="9525">
            <a:noFill/>
            <a:miter lim="800000"/>
            <a:headEnd/>
            <a:tailEnd/>
          </a:ln>
          <a:effectLst/>
        </p:spPr>
        <p:txBody>
          <a:bodyPr>
            <a:spAutoFit/>
          </a:bodyPr>
          <a:lstStyle/>
          <a:p>
            <a:pPr>
              <a:lnSpc>
                <a:spcPct val="150000"/>
              </a:lnSpc>
            </a:pPr>
            <a:r>
              <a:rPr lang="en-GB" sz="2200"/>
              <a:t>1</a:t>
            </a:r>
          </a:p>
        </p:txBody>
      </p:sp>
      <p:sp>
        <p:nvSpPr>
          <p:cNvPr id="137274" name="Text Box 58"/>
          <p:cNvSpPr txBox="1">
            <a:spLocks noChangeArrowheads="1"/>
          </p:cNvSpPr>
          <p:nvPr/>
        </p:nvSpPr>
        <p:spPr bwMode="auto">
          <a:xfrm>
            <a:off x="4992688" y="4802188"/>
            <a:ext cx="1119187" cy="595312"/>
          </a:xfrm>
          <a:prstGeom prst="rect">
            <a:avLst/>
          </a:prstGeom>
          <a:noFill/>
          <a:ln w="9525">
            <a:noFill/>
            <a:miter lim="800000"/>
            <a:headEnd/>
            <a:tailEnd/>
          </a:ln>
          <a:effectLst/>
        </p:spPr>
        <p:txBody>
          <a:bodyPr>
            <a:spAutoFit/>
          </a:bodyPr>
          <a:lstStyle/>
          <a:p>
            <a:pPr>
              <a:lnSpc>
                <a:spcPct val="150000"/>
              </a:lnSpc>
            </a:pPr>
            <a:r>
              <a:rPr lang="en-GB" sz="2200" b="1"/>
              <a:t>7.50</a:t>
            </a:r>
          </a:p>
        </p:txBody>
      </p:sp>
      <p:sp>
        <p:nvSpPr>
          <p:cNvPr id="137275" name="Text Box 59"/>
          <p:cNvSpPr txBox="1">
            <a:spLocks noChangeArrowheads="1"/>
          </p:cNvSpPr>
          <p:nvPr/>
        </p:nvSpPr>
        <p:spPr bwMode="auto">
          <a:xfrm>
            <a:off x="4992688" y="5673725"/>
            <a:ext cx="1119187" cy="595313"/>
          </a:xfrm>
          <a:prstGeom prst="rect">
            <a:avLst/>
          </a:prstGeom>
          <a:noFill/>
          <a:ln w="9525">
            <a:noFill/>
            <a:miter lim="800000"/>
            <a:headEnd/>
            <a:tailEnd/>
          </a:ln>
          <a:effectLst/>
        </p:spPr>
        <p:txBody>
          <a:bodyPr>
            <a:spAutoFit/>
          </a:bodyPr>
          <a:lstStyle/>
          <a:p>
            <a:pPr>
              <a:lnSpc>
                <a:spcPct val="150000"/>
              </a:lnSpc>
            </a:pPr>
            <a:r>
              <a:rPr lang="en-GB" sz="2200" b="1"/>
              <a:t>10.19</a:t>
            </a:r>
          </a:p>
        </p:txBody>
      </p:sp>
      <p:sp>
        <p:nvSpPr>
          <p:cNvPr id="137276" name="Text Box 60"/>
          <p:cNvSpPr txBox="1">
            <a:spLocks noChangeArrowheads="1"/>
          </p:cNvSpPr>
          <p:nvPr/>
        </p:nvSpPr>
        <p:spPr bwMode="auto">
          <a:xfrm>
            <a:off x="7000875" y="5675313"/>
            <a:ext cx="1119188" cy="595312"/>
          </a:xfrm>
          <a:prstGeom prst="rect">
            <a:avLst/>
          </a:prstGeom>
          <a:noFill/>
          <a:ln w="9525">
            <a:noFill/>
            <a:miter lim="800000"/>
            <a:headEnd/>
            <a:tailEnd/>
          </a:ln>
          <a:effectLst/>
        </p:spPr>
        <p:txBody>
          <a:bodyPr>
            <a:spAutoFit/>
          </a:bodyPr>
          <a:lstStyle/>
          <a:p>
            <a:pPr>
              <a:lnSpc>
                <a:spcPct val="150000"/>
              </a:lnSpc>
            </a:pPr>
            <a:r>
              <a:rPr lang="en-GB" sz="2200"/>
              <a:t>1.36</a:t>
            </a:r>
          </a:p>
        </p:txBody>
      </p:sp>
      <p:sp>
        <p:nvSpPr>
          <p:cNvPr id="137277" name="Text Box 61"/>
          <p:cNvSpPr txBox="1">
            <a:spLocks noChangeArrowheads="1"/>
          </p:cNvSpPr>
          <p:nvPr/>
        </p:nvSpPr>
        <p:spPr bwMode="auto">
          <a:xfrm>
            <a:off x="2967038" y="6303963"/>
            <a:ext cx="1198562" cy="458787"/>
          </a:xfrm>
          <a:prstGeom prst="rect">
            <a:avLst/>
          </a:prstGeom>
          <a:noFill/>
          <a:ln w="9525">
            <a:noFill/>
            <a:miter lim="800000"/>
            <a:headEnd/>
            <a:tailEnd/>
          </a:ln>
          <a:effectLst/>
        </p:spPr>
        <p:txBody>
          <a:bodyPr>
            <a:spAutoFit/>
          </a:bodyPr>
          <a:lstStyle/>
          <a:p>
            <a:pPr>
              <a:lnSpc>
                <a:spcPct val="150000"/>
              </a:lnSpc>
            </a:pPr>
            <a:r>
              <a:rPr lang="en-GB" sz="1600"/>
              <a:t>(=1 atm)</a:t>
            </a:r>
          </a:p>
        </p:txBody>
      </p:sp>
      <p:sp>
        <p:nvSpPr>
          <p:cNvPr id="137278" name="Text Box 62"/>
          <p:cNvSpPr txBox="1">
            <a:spLocks noChangeArrowheads="1"/>
          </p:cNvSpPr>
          <p:nvPr/>
        </p:nvSpPr>
        <p:spPr bwMode="auto">
          <a:xfrm>
            <a:off x="4951413" y="6303963"/>
            <a:ext cx="1198562" cy="458787"/>
          </a:xfrm>
          <a:prstGeom prst="rect">
            <a:avLst/>
          </a:prstGeom>
          <a:noFill/>
          <a:ln w="9525">
            <a:noFill/>
            <a:miter lim="800000"/>
            <a:headEnd/>
            <a:tailEnd/>
          </a:ln>
          <a:effectLst/>
        </p:spPr>
        <p:txBody>
          <a:bodyPr>
            <a:spAutoFit/>
          </a:bodyPr>
          <a:lstStyle/>
          <a:p>
            <a:pPr>
              <a:lnSpc>
                <a:spcPct val="150000"/>
              </a:lnSpc>
            </a:pPr>
            <a:r>
              <a:rPr lang="en-GB" sz="1600"/>
              <a:t>(=1000 Pa)</a:t>
            </a:r>
          </a:p>
        </p:txBody>
      </p:sp>
      <p:sp>
        <p:nvSpPr>
          <p:cNvPr id="137279" name="Text Box 63"/>
          <p:cNvSpPr txBox="1">
            <a:spLocks noChangeArrowheads="1"/>
          </p:cNvSpPr>
          <p:nvPr/>
        </p:nvSpPr>
        <p:spPr bwMode="auto">
          <a:xfrm>
            <a:off x="6961188" y="6303963"/>
            <a:ext cx="1198562" cy="458787"/>
          </a:xfrm>
          <a:prstGeom prst="rect">
            <a:avLst/>
          </a:prstGeom>
          <a:noFill/>
          <a:ln w="9525">
            <a:noFill/>
            <a:miter lim="800000"/>
            <a:headEnd/>
            <a:tailEnd/>
          </a:ln>
          <a:effectLst/>
        </p:spPr>
        <p:txBody>
          <a:bodyPr>
            <a:spAutoFit/>
          </a:bodyPr>
          <a:lstStyle/>
          <a:p>
            <a:pPr>
              <a:lnSpc>
                <a:spcPct val="150000"/>
              </a:lnSpc>
            </a:pPr>
            <a:r>
              <a:rPr lang="en-GB" sz="1600"/>
              <a:t>(=1 Torr)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r>
              <a:rPr lang="en-GB"/>
              <a:t>Main Gases used in anaesthesia</a:t>
            </a:r>
            <a:endParaRPr lang="en-US"/>
          </a:p>
        </p:txBody>
      </p:sp>
      <p:sp>
        <p:nvSpPr>
          <p:cNvPr id="15" name="Text Box 4"/>
          <p:cNvSpPr txBox="1">
            <a:spLocks noChangeArrowheads="1"/>
          </p:cNvSpPr>
          <p:nvPr/>
        </p:nvSpPr>
        <p:spPr bwMode="auto">
          <a:xfrm>
            <a:off x="838200" y="2057400"/>
            <a:ext cx="1281112" cy="427038"/>
          </a:xfrm>
          <a:prstGeom prst="rect">
            <a:avLst/>
          </a:prstGeom>
          <a:noFill/>
          <a:ln w="9525">
            <a:noFill/>
            <a:miter lim="800000"/>
            <a:headEnd/>
            <a:tailEnd/>
          </a:ln>
          <a:effectLst/>
        </p:spPr>
        <p:txBody>
          <a:bodyPr>
            <a:spAutoFit/>
          </a:bodyPr>
          <a:lstStyle/>
          <a:p>
            <a:pPr algn="l"/>
            <a:r>
              <a:rPr lang="en-GB" sz="2200"/>
              <a:t>Oxygen</a:t>
            </a:r>
          </a:p>
        </p:txBody>
      </p:sp>
      <p:sp>
        <p:nvSpPr>
          <p:cNvPr id="16" name="Text Box 5"/>
          <p:cNvSpPr txBox="1">
            <a:spLocks noChangeArrowheads="1"/>
          </p:cNvSpPr>
          <p:nvPr/>
        </p:nvSpPr>
        <p:spPr bwMode="auto">
          <a:xfrm>
            <a:off x="914400" y="3257550"/>
            <a:ext cx="1281112" cy="427038"/>
          </a:xfrm>
          <a:prstGeom prst="rect">
            <a:avLst/>
          </a:prstGeom>
          <a:noFill/>
          <a:ln w="9525">
            <a:noFill/>
            <a:miter lim="800000"/>
            <a:headEnd/>
            <a:tailEnd/>
          </a:ln>
          <a:effectLst/>
        </p:spPr>
        <p:txBody>
          <a:bodyPr>
            <a:spAutoFit/>
          </a:bodyPr>
          <a:lstStyle/>
          <a:p>
            <a:pPr algn="l"/>
            <a:r>
              <a:rPr lang="en-GB" sz="2200"/>
              <a:t>Air</a:t>
            </a:r>
          </a:p>
        </p:txBody>
      </p:sp>
      <p:sp>
        <p:nvSpPr>
          <p:cNvPr id="17" name="Text Box 6"/>
          <p:cNvSpPr txBox="1">
            <a:spLocks noChangeArrowheads="1"/>
          </p:cNvSpPr>
          <p:nvPr/>
        </p:nvSpPr>
        <p:spPr bwMode="auto">
          <a:xfrm>
            <a:off x="906463" y="5178425"/>
            <a:ext cx="1281112" cy="427038"/>
          </a:xfrm>
          <a:prstGeom prst="rect">
            <a:avLst/>
          </a:prstGeom>
          <a:noFill/>
          <a:ln w="9525">
            <a:noFill/>
            <a:miter lim="800000"/>
            <a:headEnd/>
            <a:tailEnd/>
          </a:ln>
          <a:effectLst/>
        </p:spPr>
        <p:txBody>
          <a:bodyPr>
            <a:spAutoFit/>
          </a:bodyPr>
          <a:lstStyle/>
          <a:p>
            <a:pPr algn="l"/>
            <a:r>
              <a:rPr lang="en-GB" sz="2200"/>
              <a:t>N</a:t>
            </a:r>
            <a:r>
              <a:rPr lang="en-GB" sz="2200" baseline="-25000"/>
              <a:t>2</a:t>
            </a:r>
            <a:r>
              <a:rPr lang="en-GB" sz="2200"/>
              <a:t>O</a:t>
            </a:r>
          </a:p>
        </p:txBody>
      </p:sp>
      <p:sp>
        <p:nvSpPr>
          <p:cNvPr id="18" name="Text Box 7"/>
          <p:cNvSpPr txBox="1">
            <a:spLocks noChangeArrowheads="1"/>
          </p:cNvSpPr>
          <p:nvPr/>
        </p:nvSpPr>
        <p:spPr bwMode="auto">
          <a:xfrm>
            <a:off x="2281238" y="1905000"/>
            <a:ext cx="6405562" cy="1015663"/>
          </a:xfrm>
          <a:prstGeom prst="rect">
            <a:avLst/>
          </a:prstGeom>
          <a:noFill/>
          <a:ln w="9525">
            <a:noFill/>
            <a:miter lim="800000"/>
            <a:headEnd/>
            <a:tailEnd/>
          </a:ln>
          <a:effectLst/>
        </p:spPr>
        <p:txBody>
          <a:bodyPr wrap="square">
            <a:spAutoFit/>
          </a:bodyPr>
          <a:lstStyle/>
          <a:p>
            <a:pPr algn="l">
              <a:lnSpc>
                <a:spcPct val="150000"/>
              </a:lnSpc>
            </a:pPr>
            <a:r>
              <a:rPr lang="en-GB" sz="2000"/>
              <a:t>Essential for almost all general anaesthesia; physiological changes during GA mean patient requires higher FiO</a:t>
            </a:r>
            <a:r>
              <a:rPr lang="en-GB" sz="2000" baseline="-25000"/>
              <a:t>2</a:t>
            </a:r>
          </a:p>
        </p:txBody>
      </p:sp>
      <p:sp>
        <p:nvSpPr>
          <p:cNvPr id="19" name="Text Box 9"/>
          <p:cNvSpPr txBox="1">
            <a:spLocks noChangeArrowheads="1"/>
          </p:cNvSpPr>
          <p:nvPr/>
        </p:nvSpPr>
        <p:spPr bwMode="auto">
          <a:xfrm>
            <a:off x="2281238" y="3127375"/>
            <a:ext cx="6049962" cy="1938992"/>
          </a:xfrm>
          <a:prstGeom prst="rect">
            <a:avLst/>
          </a:prstGeom>
          <a:noFill/>
          <a:ln w="9525">
            <a:noFill/>
            <a:miter lim="800000"/>
            <a:headEnd/>
            <a:tailEnd/>
          </a:ln>
          <a:effectLst/>
        </p:spPr>
        <p:txBody>
          <a:bodyPr>
            <a:spAutoFit/>
          </a:bodyPr>
          <a:lstStyle/>
          <a:p>
            <a:pPr algn="l">
              <a:lnSpc>
                <a:spcPct val="150000"/>
              </a:lnSpc>
            </a:pPr>
            <a:r>
              <a:rPr lang="en-GB" sz="2000"/>
              <a:t>Preferable to avoid excessive FiO</a:t>
            </a:r>
            <a:r>
              <a:rPr lang="en-GB" sz="2000" baseline="-25000"/>
              <a:t>2</a:t>
            </a:r>
            <a:r>
              <a:rPr lang="en-GB" sz="2000"/>
              <a:t> (fractional inspired oxygen) if possible (requires judgment) </a:t>
            </a:r>
            <a:r>
              <a:rPr lang="en-GB" sz="2000">
                <a:sym typeface="Wingdings" pitchFamily="2" charset="2"/>
              </a:rPr>
              <a:t> excessive FiO</a:t>
            </a:r>
            <a:r>
              <a:rPr lang="en-GB" sz="2000" baseline="-25000">
                <a:sym typeface="Wingdings" pitchFamily="2" charset="2"/>
              </a:rPr>
              <a:t>2</a:t>
            </a:r>
            <a:r>
              <a:rPr lang="en-GB" sz="2000">
                <a:sym typeface="Wingdings" pitchFamily="2" charset="2"/>
              </a:rPr>
              <a:t> causes </a:t>
            </a:r>
            <a:r>
              <a:rPr lang="en-GB" sz="2000">
                <a:solidFill>
                  <a:srgbClr val="0070C0"/>
                </a:solidFill>
                <a:sym typeface="Wingdings" pitchFamily="2" charset="2"/>
              </a:rPr>
              <a:t>lung damage </a:t>
            </a:r>
            <a:r>
              <a:rPr lang="en-GB" sz="2000">
                <a:sym typeface="Wingdings" pitchFamily="2" charset="2"/>
              </a:rPr>
              <a:t>and </a:t>
            </a:r>
            <a:r>
              <a:rPr lang="en-GB" sz="2000">
                <a:solidFill>
                  <a:srgbClr val="0070C0"/>
                </a:solidFill>
                <a:sym typeface="Wingdings" pitchFamily="2" charset="2"/>
              </a:rPr>
              <a:t>decreases post-operative respiratory function</a:t>
            </a:r>
            <a:endParaRPr lang="en-GB" sz="2000" baseline="-25000">
              <a:solidFill>
                <a:srgbClr val="0070C0"/>
              </a:solidFill>
            </a:endParaRPr>
          </a:p>
        </p:txBody>
      </p:sp>
      <p:sp>
        <p:nvSpPr>
          <p:cNvPr id="20" name="Text Box 10"/>
          <p:cNvSpPr txBox="1">
            <a:spLocks noChangeArrowheads="1"/>
          </p:cNvSpPr>
          <p:nvPr/>
        </p:nvSpPr>
        <p:spPr bwMode="auto">
          <a:xfrm>
            <a:off x="2281238" y="5178425"/>
            <a:ext cx="6049962" cy="1463675"/>
          </a:xfrm>
          <a:prstGeom prst="rect">
            <a:avLst/>
          </a:prstGeom>
          <a:noFill/>
          <a:ln w="9525">
            <a:noFill/>
            <a:miter lim="800000"/>
            <a:headEnd/>
            <a:tailEnd/>
          </a:ln>
          <a:effectLst/>
        </p:spPr>
        <p:txBody>
          <a:bodyPr>
            <a:spAutoFit/>
          </a:bodyPr>
          <a:lstStyle/>
          <a:p>
            <a:pPr algn="l">
              <a:lnSpc>
                <a:spcPct val="150000"/>
              </a:lnSpc>
            </a:pPr>
            <a:r>
              <a:rPr lang="en-GB" sz="2000"/>
              <a:t>Variable use by anaesthesiologists. Used particularly for smooth gas inductions and for intra-operative analgesia by some.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1" nodeType="clickEffect">
                                  <p:stCondLst>
                                    <p:cond delay="0"/>
                                  </p:stCondLst>
                                  <p:childTnLst>
                                    <p:animEffect transition="out" filter="blinds(horizontal)">
                                      <p:cBhvr>
                                        <p:cTn id="16" dur="500"/>
                                        <p:tgtEl>
                                          <p:spTgt spid="18"/>
                                        </p:tgtEl>
                                      </p:cBhvr>
                                    </p:animEffect>
                                    <p:set>
                                      <p:cBhvr>
                                        <p:cTn id="17" dur="1" fill="hold">
                                          <p:stCondLst>
                                            <p:cond delay="499"/>
                                          </p:stCondLst>
                                        </p:cTn>
                                        <p:tgtEl>
                                          <p:spTgt spid="18"/>
                                        </p:tgtEl>
                                        <p:attrNameLst>
                                          <p:attrName>style.visibility</p:attrName>
                                        </p:attrNameLst>
                                      </p:cBhvr>
                                      <p:to>
                                        <p:strVal val="hidden"/>
                                      </p:to>
                                    </p:set>
                                  </p:childTnLst>
                                </p:cTn>
                              </p:par>
                              <p:par>
                                <p:cTn id="18" presetID="3" presetClass="entr" presetSubtype="1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linds(horizontal)">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1" nodeType="clickEffect">
                                  <p:stCondLst>
                                    <p:cond delay="0"/>
                                  </p:stCondLst>
                                  <p:childTnLst>
                                    <p:animEffect transition="out" filter="blinds(horizontal)">
                                      <p:cBhvr>
                                        <p:cTn id="29" dur="500"/>
                                        <p:tgtEl>
                                          <p:spTgt spid="19"/>
                                        </p:tgtEl>
                                      </p:cBhvr>
                                    </p:animEffect>
                                    <p:set>
                                      <p:cBhvr>
                                        <p:cTn id="30" dur="1" fill="hold">
                                          <p:stCondLst>
                                            <p:cond delay="499"/>
                                          </p:stCondLst>
                                        </p:cTn>
                                        <p:tgtEl>
                                          <p:spTgt spid="19"/>
                                        </p:tgtEl>
                                        <p:attrNameLst>
                                          <p:attrName>style.visibility</p:attrName>
                                        </p:attrNameLst>
                                      </p:cBhvr>
                                      <p:to>
                                        <p:strVal val="hidden"/>
                                      </p:to>
                                    </p:set>
                                  </p:childTnLst>
                                </p:cTn>
                              </p:par>
                              <p:par>
                                <p:cTn id="31" presetID="3" presetClass="entr" presetSubtype="1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linds(horizontal)">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blinds(horizontal)">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8" grpId="1"/>
      <p:bldP spid="19" grpId="0"/>
      <p:bldP spid="19" grpId="1"/>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Medical gas sources</a:t>
            </a:r>
          </a:p>
        </p:txBody>
      </p:sp>
      <p:graphicFrame>
        <p:nvGraphicFramePr>
          <p:cNvPr id="6" name="Content Placeholder 3">
            <a:extLst>
              <a:ext uri="{FF2B5EF4-FFF2-40B4-BE49-F238E27FC236}">
                <a16:creationId xmlns:a16="http://schemas.microsoft.com/office/drawing/2014/main" id="{57F2583C-CEDE-FBE7-C671-695EAFE50E3C}"/>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533400" y="642938"/>
            <a:ext cx="3394075" cy="595312"/>
          </a:xfrm>
          <a:prstGeom prst="rect">
            <a:avLst/>
          </a:prstGeom>
          <a:noFill/>
          <a:ln w="9525">
            <a:noFill/>
            <a:miter lim="800000"/>
            <a:headEnd/>
            <a:tailEnd/>
          </a:ln>
          <a:effectLst/>
        </p:spPr>
        <p:txBody>
          <a:bodyPr>
            <a:spAutoFit/>
          </a:bodyPr>
          <a:lstStyle/>
          <a:p>
            <a:pPr algn="l">
              <a:lnSpc>
                <a:spcPct val="150000"/>
              </a:lnSpc>
            </a:pPr>
            <a:r>
              <a:rPr lang="en-GB" sz="2200"/>
              <a:t>How are they supplied?</a:t>
            </a:r>
          </a:p>
        </p:txBody>
      </p:sp>
      <p:sp>
        <p:nvSpPr>
          <p:cNvPr id="6" name="Text Box 4"/>
          <p:cNvSpPr txBox="1">
            <a:spLocks noChangeArrowheads="1"/>
          </p:cNvSpPr>
          <p:nvPr/>
        </p:nvSpPr>
        <p:spPr bwMode="auto">
          <a:xfrm>
            <a:off x="661988" y="1327150"/>
            <a:ext cx="1281112" cy="396875"/>
          </a:xfrm>
          <a:prstGeom prst="rect">
            <a:avLst/>
          </a:prstGeom>
          <a:noFill/>
          <a:ln w="9525">
            <a:noFill/>
            <a:miter lim="800000"/>
            <a:headEnd/>
            <a:tailEnd/>
          </a:ln>
          <a:effectLst/>
        </p:spPr>
        <p:txBody>
          <a:bodyPr>
            <a:spAutoFit/>
          </a:bodyPr>
          <a:lstStyle/>
          <a:p>
            <a:pPr algn="l"/>
            <a:r>
              <a:rPr lang="en-GB" sz="2000"/>
              <a:t>Oxygen</a:t>
            </a:r>
          </a:p>
        </p:txBody>
      </p:sp>
      <p:sp>
        <p:nvSpPr>
          <p:cNvPr id="7" name="Text Box 5"/>
          <p:cNvSpPr txBox="1">
            <a:spLocks noChangeArrowheads="1"/>
          </p:cNvSpPr>
          <p:nvPr/>
        </p:nvSpPr>
        <p:spPr bwMode="auto">
          <a:xfrm>
            <a:off x="661988" y="4673600"/>
            <a:ext cx="671512" cy="396875"/>
          </a:xfrm>
          <a:prstGeom prst="rect">
            <a:avLst/>
          </a:prstGeom>
          <a:noFill/>
          <a:ln w="9525">
            <a:noFill/>
            <a:miter lim="800000"/>
            <a:headEnd/>
            <a:tailEnd/>
          </a:ln>
          <a:effectLst/>
        </p:spPr>
        <p:txBody>
          <a:bodyPr>
            <a:spAutoFit/>
          </a:bodyPr>
          <a:lstStyle/>
          <a:p>
            <a:pPr algn="l"/>
            <a:r>
              <a:rPr lang="en-GB" sz="2000"/>
              <a:t>Air</a:t>
            </a:r>
          </a:p>
        </p:txBody>
      </p:sp>
      <p:sp>
        <p:nvSpPr>
          <p:cNvPr id="8" name="Text Box 6"/>
          <p:cNvSpPr txBox="1">
            <a:spLocks noChangeArrowheads="1"/>
          </p:cNvSpPr>
          <p:nvPr/>
        </p:nvSpPr>
        <p:spPr bwMode="auto">
          <a:xfrm>
            <a:off x="661988" y="5784850"/>
            <a:ext cx="812800" cy="396875"/>
          </a:xfrm>
          <a:prstGeom prst="rect">
            <a:avLst/>
          </a:prstGeom>
          <a:noFill/>
          <a:ln w="9525">
            <a:noFill/>
            <a:miter lim="800000"/>
            <a:headEnd/>
            <a:tailEnd/>
          </a:ln>
          <a:effectLst/>
        </p:spPr>
        <p:txBody>
          <a:bodyPr>
            <a:spAutoFit/>
          </a:bodyPr>
          <a:lstStyle/>
          <a:p>
            <a:pPr algn="l"/>
            <a:r>
              <a:rPr lang="en-GB" sz="2000"/>
              <a:t>N</a:t>
            </a:r>
            <a:r>
              <a:rPr lang="en-GB" sz="2000" baseline="-25000"/>
              <a:t>2</a:t>
            </a:r>
            <a:r>
              <a:rPr lang="en-GB" sz="2000"/>
              <a:t>O</a:t>
            </a:r>
          </a:p>
        </p:txBody>
      </p:sp>
      <p:sp>
        <p:nvSpPr>
          <p:cNvPr id="9" name="Text Box 7"/>
          <p:cNvSpPr txBox="1">
            <a:spLocks noChangeArrowheads="1"/>
          </p:cNvSpPr>
          <p:nvPr/>
        </p:nvSpPr>
        <p:spPr bwMode="auto">
          <a:xfrm>
            <a:off x="1987550" y="1203325"/>
            <a:ext cx="6294438" cy="3292475"/>
          </a:xfrm>
          <a:prstGeom prst="rect">
            <a:avLst/>
          </a:prstGeom>
          <a:noFill/>
          <a:ln w="9525">
            <a:noFill/>
            <a:miter lim="800000"/>
            <a:headEnd/>
            <a:tailEnd/>
          </a:ln>
          <a:effectLst/>
        </p:spPr>
        <p:txBody>
          <a:bodyPr>
            <a:spAutoFit/>
          </a:bodyPr>
          <a:lstStyle/>
          <a:p>
            <a:pPr marL="342900" indent="-342900" algn="l">
              <a:lnSpc>
                <a:spcPct val="150000"/>
              </a:lnSpc>
              <a:buFontTx/>
              <a:buAutoNum type="arabicParenBoth"/>
            </a:pPr>
            <a:r>
              <a:rPr lang="en-GB" sz="2000"/>
              <a:t>Cylinders in theatre</a:t>
            </a:r>
          </a:p>
          <a:p>
            <a:pPr marL="342900" indent="-342900" algn="l">
              <a:lnSpc>
                <a:spcPct val="150000"/>
              </a:lnSpc>
              <a:buFontTx/>
              <a:buAutoNum type="arabicParenBoth"/>
            </a:pPr>
            <a:r>
              <a:rPr lang="en-GB" sz="2000"/>
              <a:t>C</a:t>
            </a:r>
            <a:r>
              <a:rPr lang="en-GB" sz="2000">
                <a:sym typeface="Wingdings" pitchFamily="2" charset="2"/>
              </a:rPr>
              <a:t>ylinder</a:t>
            </a:r>
            <a:r>
              <a:rPr lang="en-GB" sz="2000"/>
              <a:t> manifold (piped to theatre)</a:t>
            </a:r>
          </a:p>
          <a:p>
            <a:pPr marL="342900" indent="-342900" algn="l">
              <a:lnSpc>
                <a:spcPct val="150000"/>
              </a:lnSpc>
              <a:buFontTx/>
              <a:buAutoNum type="arabicParenBoth"/>
            </a:pPr>
            <a:r>
              <a:rPr lang="en-GB" sz="2000"/>
              <a:t> Oxygen concentrator </a:t>
            </a:r>
          </a:p>
          <a:p>
            <a:pPr marL="800100" lvl="1" indent="-342900" algn="l">
              <a:lnSpc>
                <a:spcPct val="150000"/>
              </a:lnSpc>
              <a:buFontTx/>
              <a:buChar char="•"/>
            </a:pPr>
            <a:r>
              <a:rPr lang="en-GB" sz="2000"/>
              <a:t> Piped to theatre</a:t>
            </a:r>
          </a:p>
          <a:p>
            <a:pPr marL="800100" lvl="1" indent="-342900" algn="l">
              <a:lnSpc>
                <a:spcPct val="150000"/>
              </a:lnSpc>
              <a:buFontTx/>
              <a:buChar char="•"/>
            </a:pPr>
            <a:r>
              <a:rPr lang="en-GB" sz="2000"/>
              <a:t> To fill cylinders</a:t>
            </a:r>
          </a:p>
          <a:p>
            <a:pPr marL="800100" lvl="1" indent="-342900" algn="l">
              <a:lnSpc>
                <a:spcPct val="150000"/>
              </a:lnSpc>
              <a:buFontTx/>
              <a:buChar char="•"/>
            </a:pPr>
            <a:r>
              <a:rPr lang="en-GB" sz="2000"/>
              <a:t> Directly at bedside</a:t>
            </a:r>
          </a:p>
          <a:p>
            <a:pPr marL="342900" indent="-342900" algn="l">
              <a:lnSpc>
                <a:spcPct val="150000"/>
              </a:lnSpc>
              <a:buFontTx/>
              <a:buAutoNum type="arabicParenBoth"/>
            </a:pPr>
            <a:r>
              <a:rPr lang="en-GB" sz="2000"/>
              <a:t> Vacuum insulated evaporator (piped to theatre)</a:t>
            </a:r>
          </a:p>
        </p:txBody>
      </p:sp>
      <p:sp>
        <p:nvSpPr>
          <p:cNvPr id="10" name="Text Box 10"/>
          <p:cNvSpPr txBox="1">
            <a:spLocks noChangeArrowheads="1"/>
          </p:cNvSpPr>
          <p:nvPr/>
        </p:nvSpPr>
        <p:spPr bwMode="auto">
          <a:xfrm>
            <a:off x="1987550" y="4532313"/>
            <a:ext cx="6294438" cy="1006475"/>
          </a:xfrm>
          <a:prstGeom prst="rect">
            <a:avLst/>
          </a:prstGeom>
          <a:noFill/>
          <a:ln w="9525">
            <a:noFill/>
            <a:miter lim="800000"/>
            <a:headEnd/>
            <a:tailEnd/>
          </a:ln>
          <a:effectLst/>
        </p:spPr>
        <p:txBody>
          <a:bodyPr>
            <a:spAutoFit/>
          </a:bodyPr>
          <a:lstStyle/>
          <a:p>
            <a:pPr marL="342900" indent="-342900" algn="l">
              <a:lnSpc>
                <a:spcPct val="150000"/>
              </a:lnSpc>
              <a:buFontTx/>
              <a:buAutoNum type="arabicParenBoth"/>
            </a:pPr>
            <a:r>
              <a:rPr lang="en-GB" sz="2000"/>
              <a:t>Cylinders in theatre</a:t>
            </a:r>
          </a:p>
          <a:p>
            <a:pPr marL="342900" indent="-342900" algn="l">
              <a:lnSpc>
                <a:spcPct val="150000"/>
              </a:lnSpc>
              <a:buFontTx/>
              <a:buAutoNum type="arabicParenBoth"/>
            </a:pPr>
            <a:r>
              <a:rPr lang="en-GB" sz="2000"/>
              <a:t> Directly from air compressor (via wall pipes)</a:t>
            </a:r>
          </a:p>
        </p:txBody>
      </p:sp>
      <p:sp>
        <p:nvSpPr>
          <p:cNvPr id="11" name="Text Box 11"/>
          <p:cNvSpPr txBox="1">
            <a:spLocks noChangeArrowheads="1"/>
          </p:cNvSpPr>
          <p:nvPr/>
        </p:nvSpPr>
        <p:spPr bwMode="auto">
          <a:xfrm>
            <a:off x="1987550" y="5576888"/>
            <a:ext cx="6294438" cy="1006475"/>
          </a:xfrm>
          <a:prstGeom prst="rect">
            <a:avLst/>
          </a:prstGeom>
          <a:noFill/>
          <a:ln w="9525">
            <a:noFill/>
            <a:miter lim="800000"/>
            <a:headEnd/>
            <a:tailEnd/>
          </a:ln>
          <a:effectLst/>
        </p:spPr>
        <p:txBody>
          <a:bodyPr>
            <a:spAutoFit/>
          </a:bodyPr>
          <a:lstStyle/>
          <a:p>
            <a:pPr marL="342900" indent="-342900" algn="l">
              <a:lnSpc>
                <a:spcPct val="150000"/>
              </a:lnSpc>
              <a:buFontTx/>
              <a:buAutoNum type="arabicParenBoth"/>
            </a:pPr>
            <a:r>
              <a:rPr lang="en-GB" sz="2000"/>
              <a:t>Cylinders in theatre</a:t>
            </a:r>
          </a:p>
          <a:p>
            <a:pPr marL="342900" indent="-342900" algn="l">
              <a:lnSpc>
                <a:spcPct val="150000"/>
              </a:lnSpc>
              <a:buFontTx/>
              <a:buAutoNum type="arabicParenBoth"/>
            </a:pPr>
            <a:r>
              <a:rPr lang="en-GB" sz="2000"/>
              <a:t>C</a:t>
            </a:r>
            <a:r>
              <a:rPr lang="en-GB" sz="2000">
                <a:sym typeface="Wingdings" pitchFamily="2" charset="2"/>
              </a:rPr>
              <a:t>ylinder</a:t>
            </a:r>
            <a:r>
              <a:rPr lang="en-GB" sz="2000"/>
              <a:t> manifold (piped to theatre)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compressed Gas</a:t>
            </a:r>
          </a:p>
        </p:txBody>
      </p:sp>
      <p:sp>
        <p:nvSpPr>
          <p:cNvPr id="3" name="Subtitle 2"/>
          <p:cNvSpPr>
            <a:spLocks noGrp="1"/>
          </p:cNvSpPr>
          <p:nvPr>
            <p:ph idx="1"/>
          </p:nvPr>
        </p:nvSpPr>
        <p:spPr/>
        <p:txBody>
          <a:bodyPr vert="horz" lIns="91440" tIns="45720" rIns="91440" bIns="45720" rtlCol="0" anchor="t">
            <a:normAutofit/>
          </a:bodyPr>
          <a:lstStyle/>
          <a:p>
            <a:r>
              <a:rPr lang="en-US"/>
              <a:t>Non-liquefied Compressed Gas</a:t>
            </a:r>
          </a:p>
          <a:p>
            <a:pPr lvl="1"/>
            <a:r>
              <a:rPr lang="en-US"/>
              <a:t>Gas that does not liquefy at ordinary temperatures regardless of the pressure applied.</a:t>
            </a:r>
          </a:p>
          <a:p>
            <a:pPr lvl="1"/>
            <a:r>
              <a:rPr lang="en-US"/>
              <a:t>Examples include O2, N, Air, and He.</a:t>
            </a:r>
          </a:p>
          <a:p>
            <a:pPr lvl="1"/>
            <a:r>
              <a:rPr lang="en-US"/>
              <a:t>Liquids at very low temperatures (cryogenic liquids)</a:t>
            </a:r>
            <a:endParaRPr lang="en-US">
              <a:ea typeface="Calibri"/>
              <a:cs typeface="Calibri"/>
            </a:endParaRPr>
          </a:p>
          <a:p>
            <a:r>
              <a:rPr lang="en-US">
                <a:ea typeface="+mn-lt"/>
                <a:cs typeface="+mn-lt"/>
              </a:rPr>
              <a:t>Liquefied Compressed Gas</a:t>
            </a:r>
          </a:p>
          <a:p>
            <a:pPr lvl="1"/>
            <a:r>
              <a:rPr lang="en-US">
                <a:ea typeface="+mn-lt"/>
                <a:cs typeface="+mn-lt"/>
              </a:rPr>
              <a:t>Gas that becomes liquid to a large extent in containers at ambient temperature and at pressures from 25 to 1500 </a:t>
            </a:r>
            <a:r>
              <a:rPr lang="en-US" err="1">
                <a:ea typeface="+mn-lt"/>
                <a:cs typeface="+mn-lt"/>
              </a:rPr>
              <a:t>psig</a:t>
            </a:r>
            <a:r>
              <a:rPr lang="en-US">
                <a:ea typeface="+mn-lt"/>
                <a:cs typeface="+mn-lt"/>
              </a:rPr>
              <a:t>.</a:t>
            </a:r>
          </a:p>
          <a:p>
            <a:pPr lvl="1"/>
            <a:r>
              <a:rPr lang="en-US">
                <a:ea typeface="+mn-lt"/>
                <a:cs typeface="+mn-lt"/>
              </a:rPr>
              <a:t>Examples include N2O &amp; CO2.</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nodeType="clickEffect">
                                  <p:stCondLst>
                                    <p:cond delay="0"/>
                                  </p:stCondLst>
                                  <p:childTnLst>
                                    <p:animEffect transition="out" filter="blinds(horizontal)">
                                      <p:cBhvr>
                                        <p:cTn id="16" dur="500"/>
                                        <p:tgtEl>
                                          <p:spTgt spid="3">
                                            <p:txEl>
                                              <p:pRg st="1" end="1"/>
                                            </p:txEl>
                                          </p:spTgt>
                                        </p:tgtEl>
                                      </p:cBhvr>
                                    </p:animEffect>
                                    <p:set>
                                      <p:cBhvr>
                                        <p:cTn id="17" dur="1" fill="hold">
                                          <p:stCondLst>
                                            <p:cond delay="499"/>
                                          </p:stCondLst>
                                        </p:cTn>
                                        <p:tgtEl>
                                          <p:spTgt spid="3">
                                            <p:txEl>
                                              <p:pRg st="1" end="1"/>
                                            </p:txEl>
                                          </p:spTgt>
                                        </p:tgtEl>
                                        <p:attrNameLst>
                                          <p:attrName>style.visibility</p:attrName>
                                        </p:attrNameLst>
                                      </p:cBhvr>
                                      <p:to>
                                        <p:strVal val="hidden"/>
                                      </p:to>
                                    </p:set>
                                  </p:childTnLst>
                                </p:cTn>
                              </p:par>
                              <p:par>
                                <p:cTn id="18" presetID="3" presetClass="entr" presetSubtype="1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xit" presetSubtype="10" fill="hold" nodeType="clickEffect">
                                  <p:stCondLst>
                                    <p:cond delay="0"/>
                                  </p:stCondLst>
                                  <p:childTnLst>
                                    <p:animEffect transition="out" filter="blinds(horizontal)">
                                      <p:cBhvr>
                                        <p:cTn id="33" dur="500"/>
                                        <p:tgtEl>
                                          <p:spTgt spid="3">
                                            <p:txEl>
                                              <p:pRg st="3" end="3"/>
                                            </p:txEl>
                                          </p:spTgt>
                                        </p:tgtEl>
                                      </p:cBhvr>
                                    </p:animEffect>
                                    <p:set>
                                      <p:cBhvr>
                                        <p:cTn id="34"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nodeType="clickEffect">
                                  <p:stCondLst>
                                    <p:cond delay="0"/>
                                  </p:stCondLst>
                                  <p:childTnLst>
                                    <p:animEffect transition="out" filter="blinds(horizontal)">
                                      <p:cBhvr>
                                        <p:cTn id="38" dur="500"/>
                                        <p:tgtEl>
                                          <p:spTgt spid="3">
                                            <p:txEl>
                                              <p:pRg st="4" end="4"/>
                                            </p:txEl>
                                          </p:spTgt>
                                        </p:tgtEl>
                                      </p:cBhvr>
                                    </p:animEffect>
                                    <p:set>
                                      <p:cBhvr>
                                        <p:cTn id="39"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3">
                                            <p:txEl>
                                              <p:pRg st="5" end="5"/>
                                            </p:txEl>
                                          </p:spTgt>
                                        </p:tgtEl>
                                      </p:cBhvr>
                                    </p:animEffect>
                                    <p:set>
                                      <p:cBhvr>
                                        <p:cTn id="44" dur="1" fill="hold">
                                          <p:stCondLst>
                                            <p:cond delay="499"/>
                                          </p:stCondLst>
                                        </p:cTn>
                                        <p:tgtEl>
                                          <p:spTgt spid="3">
                                            <p:txEl>
                                              <p:pRg st="5" end="5"/>
                                            </p:txEl>
                                          </p:spTgt>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nodeType="clickEffect">
                                  <p:stCondLst>
                                    <p:cond delay="0"/>
                                  </p:stCondLst>
                                  <p:childTnLst>
                                    <p:animEffect transition="out" filter="blinds(horizontal)">
                                      <p:cBhvr>
                                        <p:cTn id="48" dur="500"/>
                                        <p:tgtEl>
                                          <p:spTgt spid="3">
                                            <p:txEl>
                                              <p:pRg st="6" end="6"/>
                                            </p:txEl>
                                          </p:spTgt>
                                        </p:tgtEl>
                                      </p:cBhvr>
                                    </p:animEffect>
                                    <p:set>
                                      <p:cBhvr>
                                        <p:cTn id="49" dur="1" fill="hold">
                                          <p:stCondLst>
                                            <p:cond delay="499"/>
                                          </p:stCondLst>
                                        </p:cTn>
                                        <p:tgtEl>
                                          <p:spTgt spid="3">
                                            <p:txEl>
                                              <p:pRg st="6" end="6"/>
                                            </p:txEl>
                                          </p:spTgt>
                                        </p:tgtEl>
                                        <p:attrNameLst>
                                          <p:attrName>style.visibility</p:attrName>
                                        </p:attrNameLst>
                                      </p:cBhvr>
                                      <p:to>
                                        <p:strVal val="hidden"/>
                                      </p:to>
                                    </p:set>
                                  </p:childTnLst>
                                </p:cTn>
                              </p:par>
                              <p:par>
                                <p:cTn id="50" presetID="3" presetClass="entr" presetSubtype="10" fill="hold" nodeType="withEffect">
                                  <p:stCondLst>
                                    <p:cond delay="0"/>
                                  </p:stCondLst>
                                  <p:childTnLst>
                                    <p:set>
                                      <p:cBhvr>
                                        <p:cTn id="51" dur="1" fill="hold">
                                          <p:stCondLst>
                                            <p:cond delay="0"/>
                                          </p:stCondLst>
                                        </p:cTn>
                                        <p:tgtEl>
                                          <p:spTgt spid="3">
                                            <p:txEl>
                                              <p:pRg st="2" end="2"/>
                                            </p:txEl>
                                          </p:spTgt>
                                        </p:tgtEl>
                                        <p:attrNameLst>
                                          <p:attrName>style.visibility</p:attrName>
                                        </p:attrNameLst>
                                      </p:cBhvr>
                                      <p:to>
                                        <p:strVal val="visible"/>
                                      </p:to>
                                    </p:set>
                                    <p:animEffect transition="in" filter="blinds(horizontal)">
                                      <p:cBhvr>
                                        <p:cTn id="52" dur="500"/>
                                        <p:tgtEl>
                                          <p:spTgt spid="3">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nodeType="clickEffect">
                                  <p:stCondLst>
                                    <p:cond delay="0"/>
                                  </p:stCondLst>
                                  <p:childTnLst>
                                    <p:animEffect transition="out" filter="blinds(horizontal)">
                                      <p:cBhvr>
                                        <p:cTn id="56" dur="500"/>
                                        <p:tgtEl>
                                          <p:spTgt spid="3">
                                            <p:txEl>
                                              <p:pRg st="2" end="2"/>
                                            </p:txEl>
                                          </p:spTgt>
                                        </p:tgtEl>
                                      </p:cBhvr>
                                    </p:animEffect>
                                    <p:set>
                                      <p:cBhvr>
                                        <p:cTn id="5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130425"/>
            <a:ext cx="6172200" cy="1470025"/>
          </a:xfrm>
        </p:spPr>
        <p:txBody>
          <a:bodyPr/>
          <a:lstStyle/>
          <a:p>
            <a:r>
              <a:rPr lang="en-US"/>
              <a:t>Oxygen Cylinders</a:t>
            </a:r>
          </a:p>
        </p:txBody>
      </p:sp>
      <p:sp>
        <p:nvSpPr>
          <p:cNvPr id="3" name="Subtitle 2"/>
          <p:cNvSpPr>
            <a:spLocks noGrp="1"/>
          </p:cNvSpPr>
          <p:nvPr>
            <p:ph type="subTitle" idx="1"/>
          </p:nvPr>
        </p:nvSpPr>
        <p:spPr/>
        <p:txBody>
          <a:bodyPr/>
          <a:lstStyle/>
          <a:p>
            <a:endParaRPr lang="en-US"/>
          </a:p>
        </p:txBody>
      </p:sp>
      <p:pic>
        <p:nvPicPr>
          <p:cNvPr id="6145" name="Picture 1" descr="C:\Documents and Settings\User\Desktop\C 1.jpg"/>
          <p:cNvPicPr>
            <a:picLocks noChangeAspect="1" noChangeArrowheads="1"/>
          </p:cNvPicPr>
          <p:nvPr/>
        </p:nvPicPr>
        <p:blipFill>
          <a:blip r:embed="rId3" cstate="print"/>
          <a:srcRect/>
          <a:stretch>
            <a:fillRect/>
          </a:stretch>
        </p:blipFill>
        <p:spPr bwMode="auto">
          <a:xfrm>
            <a:off x="6172200" y="628650"/>
            <a:ext cx="2438400" cy="5867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145"/>
                                        </p:tgtEl>
                                        <p:attrNameLst>
                                          <p:attrName>style.visibility</p:attrName>
                                        </p:attrNameLst>
                                      </p:cBhvr>
                                      <p:to>
                                        <p:strVal val="visible"/>
                                      </p:to>
                                    </p:set>
                                    <p:animEffect transition="in" filter="box(in)">
                                      <p:cBhvr>
                                        <p:cTn id="12" dur="500"/>
                                        <p:tgtEl>
                                          <p:spTgt spid="6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86696" y="629266"/>
            <a:ext cx="2629122" cy="1622321"/>
          </a:xfrm>
        </p:spPr>
        <p:txBody>
          <a:bodyPr>
            <a:normAutofit/>
          </a:bodyPr>
          <a:lstStyle/>
          <a:p>
            <a:endParaRPr lang="en-US"/>
          </a:p>
        </p:txBody>
      </p:sp>
      <p:sp>
        <p:nvSpPr>
          <p:cNvPr id="3" name="Content Placeholder 2"/>
          <p:cNvSpPr>
            <a:spLocks noGrp="1"/>
          </p:cNvSpPr>
          <p:nvPr>
            <p:ph idx="1"/>
          </p:nvPr>
        </p:nvSpPr>
        <p:spPr>
          <a:xfrm>
            <a:off x="486698" y="2438400"/>
            <a:ext cx="2629120" cy="3785419"/>
          </a:xfrm>
        </p:spPr>
        <p:txBody>
          <a:bodyPr>
            <a:normAutofit/>
          </a:bodyPr>
          <a:lstStyle/>
          <a:p>
            <a:r>
              <a:rPr lang="en-US" sz="1700"/>
              <a:t>Although there are several types of o2 cylinders, There are two types which are common.</a:t>
            </a:r>
          </a:p>
          <a:p>
            <a:r>
              <a:rPr lang="en-US" sz="1700"/>
              <a:t>E-cylinders </a:t>
            </a:r>
          </a:p>
          <a:p>
            <a:r>
              <a:rPr lang="en-US" sz="1700"/>
              <a:t>H-cylinders</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557784"/>
            <a:ext cx="493807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3" descr="A picture containing chart&#10;&#10;Description automatically generated">
            <a:extLst>
              <a:ext uri="{FF2B5EF4-FFF2-40B4-BE49-F238E27FC236}">
                <a16:creationId xmlns:a16="http://schemas.microsoft.com/office/drawing/2014/main" id="{F9AC3729-DB95-F243-FB00-84C059F50B9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054396" y="1819087"/>
            <a:ext cx="4514498" cy="3216579"/>
          </a:xfrm>
          <a:prstGeom prst="rect">
            <a:avLst/>
          </a:prstGeom>
          <a:effectLst/>
        </p:spPr>
      </p:pic>
      <p:sp>
        <p:nvSpPr>
          <p:cNvPr id="4" name="TextBox 3">
            <a:extLst>
              <a:ext uri="{FF2B5EF4-FFF2-40B4-BE49-F238E27FC236}">
                <a16:creationId xmlns:a16="http://schemas.microsoft.com/office/drawing/2014/main" id="{0A7D3DDE-6CF9-136E-1C96-3B0271E8D0FF}"/>
              </a:ext>
            </a:extLst>
          </p:cNvPr>
          <p:cNvSpPr txBox="1"/>
          <p:nvPr/>
        </p:nvSpPr>
        <p:spPr>
          <a:xfrm>
            <a:off x="6095140" y="4835611"/>
            <a:ext cx="247375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BY-NC-ND</a:t>
            </a:r>
            <a:r>
              <a:rPr lang="en-US" sz="700">
                <a:solidFill>
                  <a:srgbClr val="FFFFFF"/>
                </a:solidFill>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3724072" y="629268"/>
            <a:ext cx="4939868" cy="1286160"/>
          </a:xfrm>
        </p:spPr>
        <p:txBody>
          <a:bodyPr anchor="b">
            <a:normAutofit/>
          </a:bodyPr>
          <a:lstStyle/>
          <a:p>
            <a:r>
              <a:rPr lang="en-US">
                <a:ea typeface="+mj-lt"/>
                <a:cs typeface="+mj-lt"/>
              </a:rPr>
              <a:t>E-cylinders</a:t>
            </a:r>
            <a:endParaRPr lang="en-US"/>
          </a:p>
        </p:txBody>
      </p:sp>
      <p:sp>
        <p:nvSpPr>
          <p:cNvPr id="3" name="Content Placeholder 2"/>
          <p:cNvSpPr>
            <a:spLocks noGrp="1"/>
          </p:cNvSpPr>
          <p:nvPr>
            <p:ph idx="1"/>
          </p:nvPr>
        </p:nvSpPr>
        <p:spPr>
          <a:xfrm>
            <a:off x="3724073" y="2438400"/>
            <a:ext cx="4939867" cy="3785419"/>
          </a:xfrm>
        </p:spPr>
        <p:txBody>
          <a:bodyPr vert="horz" lIns="91440" tIns="45720" rIns="91440" bIns="45720" rtlCol="0" anchor="t">
            <a:normAutofit/>
          </a:bodyPr>
          <a:lstStyle/>
          <a:p>
            <a:pPr lvl="1"/>
            <a:r>
              <a:rPr lang="en-US" sz="1700"/>
              <a:t>Approximately 2 feet long and 4 inches in diameter</a:t>
            </a:r>
            <a:endParaRPr lang="en-US" sz="1700">
              <a:ea typeface="Calibri"/>
              <a:cs typeface="Calibri"/>
            </a:endParaRPr>
          </a:p>
          <a:p>
            <a:pPr lvl="1"/>
            <a:r>
              <a:rPr lang="en-US" sz="1700"/>
              <a:t>Smaller than H sized cylinders</a:t>
            </a:r>
            <a:endParaRPr lang="en-US" sz="1700">
              <a:ea typeface="Calibri"/>
              <a:cs typeface="Calibri"/>
            </a:endParaRPr>
          </a:p>
          <a:p>
            <a:pPr lvl="1"/>
            <a:r>
              <a:rPr lang="en-US" sz="1700"/>
              <a:t>Usually placed at the back of the anesthesia machine</a:t>
            </a:r>
            <a:endParaRPr lang="en-US" sz="1700">
              <a:ea typeface="Calibri"/>
              <a:cs typeface="Calibri"/>
            </a:endParaRPr>
          </a:p>
          <a:p>
            <a:pPr lvl="1"/>
            <a:r>
              <a:rPr lang="en-US" sz="1700"/>
              <a:t>Routinely used as a portable oxygen source</a:t>
            </a:r>
            <a:endParaRPr lang="en-US" sz="1700">
              <a:ea typeface="Calibri"/>
              <a:cs typeface="Calibri"/>
            </a:endParaRPr>
          </a:p>
        </p:txBody>
      </p:sp>
      <p:pic>
        <p:nvPicPr>
          <p:cNvPr id="2" name="Picture 3" descr="A picture containing green, indoor, wall&#10;&#10;Description automatically generated">
            <a:extLst>
              <a:ext uri="{FF2B5EF4-FFF2-40B4-BE49-F238E27FC236}">
                <a16:creationId xmlns:a16="http://schemas.microsoft.com/office/drawing/2014/main" id="{A9ABF2FE-58BA-2CD9-8D01-DADE948FE313}"/>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30924" r="31055"/>
          <a:stretch/>
        </p:blipFill>
        <p:spPr>
          <a:xfrm>
            <a:off x="20" y="10"/>
            <a:ext cx="3476673" cy="6857990"/>
          </a:xfrm>
          <a:prstGeom prst="rect">
            <a:avLst/>
          </a:prstGeom>
          <a:effectLst/>
        </p:spPr>
      </p:pic>
      <p:cxnSp>
        <p:nvCxnSpPr>
          <p:cNvPr id="14"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C96248"/>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D6AD15A-E4E1-5EB8-B7D0-7163FFA5F571}"/>
              </a:ext>
            </a:extLst>
          </p:cNvPr>
          <p:cNvSpPr txBox="1"/>
          <p:nvPr/>
        </p:nvSpPr>
        <p:spPr>
          <a:xfrm>
            <a:off x="1155225" y="6657945"/>
            <a:ext cx="232146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a:t>
            </a:r>
            <a:r>
              <a:rPr lang="en-US" sz="700">
                <a:solidFill>
                  <a:srgbClr val="FFFFFF"/>
                </a:solidFill>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3724072" y="629266"/>
            <a:ext cx="4939868" cy="1676603"/>
          </a:xfrm>
        </p:spPr>
        <p:txBody>
          <a:bodyPr>
            <a:normAutofit/>
          </a:bodyPr>
          <a:lstStyle/>
          <a:p>
            <a:r>
              <a:rPr lang="en-US" sz="4700">
                <a:ea typeface="+mj-lt"/>
                <a:cs typeface="+mj-lt"/>
              </a:rPr>
              <a:t>H-cylinders</a:t>
            </a:r>
            <a:endParaRPr lang="en-US">
              <a:ea typeface="+mj-lt"/>
              <a:cs typeface="+mj-lt"/>
            </a:endParaRPr>
          </a:p>
        </p:txBody>
      </p:sp>
      <p:sp>
        <p:nvSpPr>
          <p:cNvPr id="3" name="Content Placeholder 2"/>
          <p:cNvSpPr>
            <a:spLocks noGrp="1"/>
          </p:cNvSpPr>
          <p:nvPr>
            <p:ph idx="1"/>
          </p:nvPr>
        </p:nvSpPr>
        <p:spPr>
          <a:xfrm>
            <a:off x="3724073" y="2438400"/>
            <a:ext cx="4939867" cy="3785419"/>
          </a:xfrm>
        </p:spPr>
        <p:txBody>
          <a:bodyPr vert="horz" lIns="91440" tIns="45720" rIns="91440" bIns="45720" rtlCol="0" anchor="t">
            <a:normAutofit/>
          </a:bodyPr>
          <a:lstStyle/>
          <a:p>
            <a:endParaRPr lang="en-US" sz="2100">
              <a:ea typeface="Calibri"/>
              <a:cs typeface="Calibri"/>
            </a:endParaRPr>
          </a:p>
          <a:p>
            <a:pPr lvl="1"/>
            <a:r>
              <a:rPr lang="en-US" sz="2100"/>
              <a:t>Larger, 4 feet long and 4 inch in diameter</a:t>
            </a:r>
            <a:endParaRPr lang="en-US" sz="2100">
              <a:ea typeface="Calibri"/>
              <a:cs typeface="Calibri"/>
            </a:endParaRPr>
          </a:p>
          <a:p>
            <a:pPr lvl="1"/>
            <a:r>
              <a:rPr lang="en-US" sz="2100"/>
              <a:t>Used as a source of gas and also used in the pipeline system</a:t>
            </a:r>
            <a:endParaRPr lang="en-US" sz="2100">
              <a:ea typeface="Calibri"/>
              <a:cs typeface="Calibri"/>
            </a:endParaRPr>
          </a:p>
          <a:p>
            <a:pPr lvl="1"/>
            <a:r>
              <a:rPr lang="en-US" sz="2100"/>
              <a:t>May be used as an intermediate or long-term source of gas at the patient’s bedside</a:t>
            </a:r>
            <a:endParaRPr lang="en-US" sz="2100">
              <a:ea typeface="Calibri"/>
              <a:cs typeface="Calibri"/>
            </a:endParaRPr>
          </a:p>
        </p:txBody>
      </p:sp>
      <p:pic>
        <p:nvPicPr>
          <p:cNvPr id="4" name="Picture 5" descr="A picture containing green, indoor&#10;&#10;Description automatically generated">
            <a:extLst>
              <a:ext uri="{FF2B5EF4-FFF2-40B4-BE49-F238E27FC236}">
                <a16:creationId xmlns:a16="http://schemas.microsoft.com/office/drawing/2014/main" id="{4C6C03A4-6EB3-A427-2215-B722188A1CD3}"/>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32406"/>
          <a:stretch/>
        </p:blipFill>
        <p:spPr>
          <a:xfrm>
            <a:off x="20" y="10"/>
            <a:ext cx="3476673" cy="6857990"/>
          </a:xfrm>
          <a:prstGeom prst="rect">
            <a:avLst/>
          </a:prstGeom>
          <a:effectLst/>
        </p:spPr>
      </p:pic>
      <p:sp>
        <p:nvSpPr>
          <p:cNvPr id="6" name="TextBox 5">
            <a:extLst>
              <a:ext uri="{FF2B5EF4-FFF2-40B4-BE49-F238E27FC236}">
                <a16:creationId xmlns:a16="http://schemas.microsoft.com/office/drawing/2014/main" id="{38A23D51-A7D3-ABFC-E194-B51CD94AEB5F}"/>
              </a:ext>
            </a:extLst>
          </p:cNvPr>
          <p:cNvSpPr txBox="1"/>
          <p:nvPr/>
        </p:nvSpPr>
        <p:spPr>
          <a:xfrm>
            <a:off x="1022175" y="6657945"/>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86696" y="629266"/>
            <a:ext cx="3708114" cy="1622321"/>
          </a:xfrm>
        </p:spPr>
        <p:txBody>
          <a:bodyPr>
            <a:normAutofit/>
          </a:bodyPr>
          <a:lstStyle/>
          <a:p>
            <a:r>
              <a:rPr lang="en-US">
                <a:ea typeface="+mj-lt"/>
                <a:cs typeface="+mj-lt"/>
              </a:rPr>
              <a:t>Parts of cylinder</a:t>
            </a:r>
          </a:p>
        </p:txBody>
      </p:sp>
      <p:sp>
        <p:nvSpPr>
          <p:cNvPr id="3" name="Content Placeholder 2"/>
          <p:cNvSpPr>
            <a:spLocks noGrp="1"/>
          </p:cNvSpPr>
          <p:nvPr>
            <p:ph idx="1"/>
          </p:nvPr>
        </p:nvSpPr>
        <p:spPr>
          <a:xfrm>
            <a:off x="486697" y="2438400"/>
            <a:ext cx="3708113" cy="3785419"/>
          </a:xfrm>
        </p:spPr>
        <p:txBody>
          <a:bodyPr vert="horz" lIns="91440" tIns="45720" rIns="91440" bIns="45720" rtlCol="0">
            <a:normAutofit/>
          </a:bodyPr>
          <a:lstStyle/>
          <a:p>
            <a:endParaRPr lang="en-US" sz="1600">
              <a:ea typeface="Calibri"/>
              <a:cs typeface="Calibri"/>
            </a:endParaRPr>
          </a:p>
          <a:p>
            <a:r>
              <a:rPr lang="en-US" sz="1600">
                <a:ea typeface="+mn-lt"/>
                <a:cs typeface="+mn-lt"/>
              </a:rPr>
              <a:t>Body</a:t>
            </a:r>
          </a:p>
          <a:p>
            <a:pPr lvl="1"/>
            <a:r>
              <a:rPr lang="en-US" sz="1600">
                <a:ea typeface="+mn-lt"/>
                <a:cs typeface="+mn-lt"/>
              </a:rPr>
              <a:t>Most are constructed of steel</a:t>
            </a:r>
          </a:p>
          <a:p>
            <a:pPr lvl="1"/>
            <a:r>
              <a:rPr lang="en-US" sz="1600">
                <a:ea typeface="+mn-lt"/>
                <a:cs typeface="+mn-lt"/>
              </a:rPr>
              <a:t>In recent years - steel carbon fiber cylinders -  hold more gas and are lighter.</a:t>
            </a:r>
          </a:p>
          <a:p>
            <a:pPr lvl="1"/>
            <a:r>
              <a:rPr lang="en-US" sz="1600">
                <a:ea typeface="+mn-lt"/>
                <a:cs typeface="+mn-lt"/>
              </a:rPr>
              <a:t>Cylinders made from aluminum have become available (MRI).</a:t>
            </a:r>
          </a:p>
          <a:p>
            <a:pPr lvl="1"/>
            <a:r>
              <a:rPr lang="en-US" sz="1600">
                <a:ea typeface="+mn-lt"/>
                <a:cs typeface="+mn-lt"/>
              </a:rPr>
              <a:t>Have flat or concave bottoms.</a:t>
            </a:r>
          </a:p>
          <a:p>
            <a:pPr lvl="1"/>
            <a:r>
              <a:rPr lang="en-US" sz="1600">
                <a:ea typeface="+mn-lt"/>
                <a:cs typeface="+mn-lt"/>
              </a:rPr>
              <a:t>The other end (neck) that is fitted with screw threads for attachment of the cylinder valve.</a:t>
            </a:r>
            <a:endParaRPr lang="en-US" sz="1600"/>
          </a:p>
        </p:txBody>
      </p:sp>
      <p:sp>
        <p:nvSpPr>
          <p:cNvPr id="10" name="Rectangle 9">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9712" y="0"/>
            <a:ext cx="457428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186" y="557784"/>
            <a:ext cx="384765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6" descr="MC Acetylene 10 cu ft Steel &amp; 20 cu ft Steel Oxygen Cylinder Set - DOT ...">
            <a:extLst>
              <a:ext uri="{FF2B5EF4-FFF2-40B4-BE49-F238E27FC236}">
                <a16:creationId xmlns:a16="http://schemas.microsoft.com/office/drawing/2014/main" id="{3FEDF627-13AC-2CCF-B300-558F3F3C863A}"/>
              </a:ext>
            </a:extLst>
          </p:cNvPr>
          <p:cNvPicPr>
            <a:picLocks noChangeAspect="1"/>
          </p:cNvPicPr>
          <p:nvPr/>
        </p:nvPicPr>
        <p:blipFill>
          <a:blip r:embed="rId2"/>
          <a:stretch>
            <a:fillRect/>
          </a:stretch>
        </p:blipFill>
        <p:spPr>
          <a:xfrm>
            <a:off x="5178531" y="1749052"/>
            <a:ext cx="3356649" cy="3356649"/>
          </a:xfrm>
          <a:prstGeom prst="rect">
            <a:avLst/>
          </a:prstGeom>
          <a:effectLst/>
        </p:spPr>
      </p:pic>
    </p:spTree>
    <p:extLst>
      <p:ext uri="{BB962C8B-B14F-4D97-AF65-F5344CB8AC3E}">
        <p14:creationId xmlns:p14="http://schemas.microsoft.com/office/powerpoint/2010/main" val="2528165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86696" y="629266"/>
            <a:ext cx="3708114" cy="1622321"/>
          </a:xfrm>
        </p:spPr>
        <p:txBody>
          <a:bodyPr>
            <a:normAutofit/>
          </a:bodyPr>
          <a:lstStyle/>
          <a:p>
            <a:endParaRPr lang="en-US">
              <a:ea typeface="+mj-lt"/>
              <a:cs typeface="+mj-lt"/>
            </a:endParaRPr>
          </a:p>
        </p:txBody>
      </p:sp>
      <p:sp>
        <p:nvSpPr>
          <p:cNvPr id="3" name="Content Placeholder 2"/>
          <p:cNvSpPr>
            <a:spLocks noGrp="1"/>
          </p:cNvSpPr>
          <p:nvPr>
            <p:ph idx="1"/>
          </p:nvPr>
        </p:nvSpPr>
        <p:spPr>
          <a:xfrm>
            <a:off x="486697" y="2438400"/>
            <a:ext cx="3708113" cy="3785419"/>
          </a:xfrm>
        </p:spPr>
        <p:txBody>
          <a:bodyPr vert="horz" lIns="91440" tIns="45720" rIns="91440" bIns="45720" rtlCol="0">
            <a:normAutofit/>
          </a:bodyPr>
          <a:lstStyle/>
          <a:p>
            <a:endParaRPr lang="en-US" sz="2100">
              <a:ea typeface="Calibri"/>
              <a:cs typeface="Calibri"/>
            </a:endParaRPr>
          </a:p>
          <a:p>
            <a:r>
              <a:rPr lang="en-US" sz="2100">
                <a:ea typeface="+mn-lt"/>
                <a:cs typeface="+mn-lt"/>
              </a:rPr>
              <a:t>Cylinders with integral pressure regulators and flow-metering devices as well as handles.</a:t>
            </a:r>
          </a:p>
          <a:p>
            <a:r>
              <a:rPr lang="en-US" sz="2100">
                <a:ea typeface="+mn-lt"/>
                <a:cs typeface="+mn-lt"/>
              </a:rPr>
              <a:t>Eliminates the need for pressure regulator, maintenance by the health care facility and simplifies use.</a:t>
            </a:r>
          </a:p>
        </p:txBody>
      </p:sp>
      <p:sp>
        <p:nvSpPr>
          <p:cNvPr id="17" name="Rectangle 16">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9712" y="0"/>
            <a:ext cx="457428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186" y="557784"/>
            <a:ext cx="384765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5">
            <a:extLst>
              <a:ext uri="{FF2B5EF4-FFF2-40B4-BE49-F238E27FC236}">
                <a16:creationId xmlns:a16="http://schemas.microsoft.com/office/drawing/2014/main" id="{A81924C2-7FDA-DD19-59B4-37FEAF2B6466}"/>
              </a:ext>
            </a:extLst>
          </p:cNvPr>
          <p:cNvPicPr>
            <a:picLocks noChangeAspect="1"/>
          </p:cNvPicPr>
          <p:nvPr/>
        </p:nvPicPr>
        <p:blipFill>
          <a:blip r:embed="rId2"/>
          <a:stretch>
            <a:fillRect/>
          </a:stretch>
        </p:blipFill>
        <p:spPr>
          <a:xfrm>
            <a:off x="5178531" y="1404780"/>
            <a:ext cx="3356649" cy="4045192"/>
          </a:xfrm>
          <a:prstGeom prst="rect">
            <a:avLst/>
          </a:prstGeom>
          <a:effectLst/>
        </p:spPr>
      </p:pic>
    </p:spTree>
    <p:extLst>
      <p:ext uri="{BB962C8B-B14F-4D97-AF65-F5344CB8AC3E}">
        <p14:creationId xmlns:p14="http://schemas.microsoft.com/office/powerpoint/2010/main" val="2384624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is the pressure reduced?</a:t>
            </a:r>
          </a:p>
        </p:txBody>
      </p:sp>
      <p:sp>
        <p:nvSpPr>
          <p:cNvPr id="3" name="Content Placeholder 2"/>
          <p:cNvSpPr>
            <a:spLocks noGrp="1"/>
          </p:cNvSpPr>
          <p:nvPr>
            <p:ph idx="1"/>
          </p:nvPr>
        </p:nvSpPr>
        <p:spPr/>
        <p:txBody>
          <a:bodyPr/>
          <a:lstStyle/>
          <a:p>
            <a:r>
              <a:rPr lang="en-GB"/>
              <a:t>Pressure reduction valves:</a:t>
            </a:r>
          </a:p>
          <a:p>
            <a:r>
              <a:rPr lang="en-GB"/>
              <a:t>These supply gases to the anaesthetic machine at about 4 Bar (or 400 kPa)</a:t>
            </a:r>
          </a:p>
          <a:p>
            <a:endParaRPr lang="en-US"/>
          </a:p>
        </p:txBody>
      </p:sp>
      <p:pic>
        <p:nvPicPr>
          <p:cNvPr id="5" name="Picture 6"/>
          <p:cNvPicPr>
            <a:picLocks noChangeAspect="1" noChangeArrowheads="1"/>
          </p:cNvPicPr>
          <p:nvPr/>
        </p:nvPicPr>
        <p:blipFill>
          <a:blip r:embed="rId3" cstate="print"/>
          <a:srcRect/>
          <a:stretch>
            <a:fillRect/>
          </a:stretch>
        </p:blipFill>
        <p:spPr bwMode="auto">
          <a:xfrm>
            <a:off x="2154238" y="3524250"/>
            <a:ext cx="4835525" cy="2981325"/>
          </a:xfrm>
          <a:prstGeom prst="rect">
            <a:avLst/>
          </a:prstGeom>
          <a:noFill/>
        </p:spPr>
      </p:pic>
      <p:sp>
        <p:nvSpPr>
          <p:cNvPr id="6" name="Text Box 9"/>
          <p:cNvSpPr txBox="1">
            <a:spLocks noChangeArrowheads="1"/>
          </p:cNvSpPr>
          <p:nvPr/>
        </p:nvSpPr>
        <p:spPr bwMode="auto">
          <a:xfrm>
            <a:off x="7108825" y="5640388"/>
            <a:ext cx="1547027" cy="338554"/>
          </a:xfrm>
          <a:prstGeom prst="rect">
            <a:avLst/>
          </a:prstGeom>
          <a:noFill/>
          <a:ln w="9525">
            <a:noFill/>
            <a:miter lim="800000"/>
            <a:headEnd/>
            <a:tailEnd/>
          </a:ln>
          <a:effectLst/>
        </p:spPr>
        <p:txBody>
          <a:bodyPr wrap="none">
            <a:spAutoFit/>
          </a:bodyPr>
          <a:lstStyle/>
          <a:p>
            <a:r>
              <a:rPr lang="en-US" sz="1600"/>
              <a:t>High Pressure in</a:t>
            </a:r>
          </a:p>
        </p:txBody>
      </p:sp>
      <p:sp>
        <p:nvSpPr>
          <p:cNvPr id="7" name="Text Box 8"/>
          <p:cNvSpPr txBox="1">
            <a:spLocks noChangeArrowheads="1"/>
          </p:cNvSpPr>
          <p:nvPr/>
        </p:nvSpPr>
        <p:spPr bwMode="auto">
          <a:xfrm>
            <a:off x="304800" y="5018088"/>
            <a:ext cx="1714957" cy="338554"/>
          </a:xfrm>
          <a:prstGeom prst="rect">
            <a:avLst/>
          </a:prstGeom>
          <a:noFill/>
          <a:ln w="9525">
            <a:noFill/>
            <a:miter lim="800000"/>
            <a:headEnd/>
            <a:tailEnd/>
          </a:ln>
          <a:effectLst/>
        </p:spPr>
        <p:txBody>
          <a:bodyPr wrap="none">
            <a:spAutoFit/>
          </a:bodyPr>
          <a:lstStyle/>
          <a:p>
            <a:r>
              <a:rPr lang="en-US" sz="1600"/>
              <a:t>Low Pressure Out</a:t>
            </a:r>
          </a:p>
        </p:txBody>
      </p:sp>
      <p:pic>
        <p:nvPicPr>
          <p:cNvPr id="8" name="Picture 5"/>
          <p:cNvPicPr>
            <a:picLocks noChangeAspect="1" noChangeArrowheads="1"/>
          </p:cNvPicPr>
          <p:nvPr/>
        </p:nvPicPr>
        <p:blipFill>
          <a:blip r:embed="rId4" cstate="print"/>
          <a:srcRect/>
          <a:stretch>
            <a:fillRect/>
          </a:stretch>
        </p:blipFill>
        <p:spPr bwMode="auto">
          <a:xfrm>
            <a:off x="7543800" y="1143000"/>
            <a:ext cx="1557338" cy="10287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xit" presetSubtype="10" fill="hold" grpId="1" nodeType="clickEffect">
                                  <p:stCondLst>
                                    <p:cond delay="0"/>
                                  </p:stCondLst>
                                  <p:childTnLst>
                                    <p:animEffect transition="out" filter="blinds(horizontal)">
                                      <p:cBhvr>
                                        <p:cTn id="32" dur="500"/>
                                        <p:tgtEl>
                                          <p:spTgt spid="6"/>
                                        </p:tgtEl>
                                      </p:cBhvr>
                                    </p:animEffect>
                                    <p:set>
                                      <p:cBhvr>
                                        <p:cTn id="33" dur="1" fill="hold">
                                          <p:stCondLst>
                                            <p:cond delay="499"/>
                                          </p:stCondLst>
                                        </p:cTn>
                                        <p:tgtEl>
                                          <p:spTgt spid="6"/>
                                        </p:tgtEl>
                                        <p:attrNameLst>
                                          <p:attrName>style.visibility</p:attrName>
                                        </p:attrNameLst>
                                      </p:cBhvr>
                                      <p:to>
                                        <p:strVal val="hidden"/>
                                      </p:to>
                                    </p:set>
                                  </p:childTnLst>
                                </p:cTn>
                              </p:par>
                              <p:par>
                                <p:cTn id="34" presetID="3" presetClass="entr" presetSubtype="1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blinds(horizontal)">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86696" y="629266"/>
            <a:ext cx="3708114" cy="1622321"/>
          </a:xfrm>
        </p:spPr>
        <p:txBody>
          <a:bodyPr>
            <a:normAutofit/>
          </a:bodyPr>
          <a:lstStyle/>
          <a:p>
            <a:endParaRPr lang="en-US">
              <a:ea typeface="+mj-lt"/>
              <a:cs typeface="+mj-lt"/>
            </a:endParaRPr>
          </a:p>
        </p:txBody>
      </p:sp>
      <p:sp>
        <p:nvSpPr>
          <p:cNvPr id="3" name="Content Placeholder 2"/>
          <p:cNvSpPr>
            <a:spLocks noGrp="1"/>
          </p:cNvSpPr>
          <p:nvPr>
            <p:ph idx="1"/>
          </p:nvPr>
        </p:nvSpPr>
        <p:spPr>
          <a:xfrm>
            <a:off x="486697" y="2438400"/>
            <a:ext cx="3708113" cy="3785419"/>
          </a:xfrm>
        </p:spPr>
        <p:txBody>
          <a:bodyPr vert="horz" lIns="91440" tIns="45720" rIns="91440" bIns="45720" rtlCol="0">
            <a:normAutofit/>
          </a:bodyPr>
          <a:lstStyle/>
          <a:p>
            <a:endParaRPr lang="en-US" sz="2100">
              <a:ea typeface="Calibri"/>
              <a:cs typeface="Calibri"/>
            </a:endParaRPr>
          </a:p>
          <a:p>
            <a:r>
              <a:rPr lang="en-US" sz="2100">
                <a:ea typeface="+mn-lt"/>
                <a:cs typeface="+mn-lt"/>
              </a:rPr>
              <a:t>Cylinders with integral pressure regulators and flow-metering devices as well as handles.</a:t>
            </a:r>
          </a:p>
          <a:p>
            <a:r>
              <a:rPr lang="en-US" sz="2100">
                <a:ea typeface="+mn-lt"/>
                <a:cs typeface="+mn-lt"/>
              </a:rPr>
              <a:t>Eliminates the need for pressure regulator, maintenance by the health care facility and simplifies use.</a:t>
            </a:r>
          </a:p>
        </p:txBody>
      </p:sp>
      <p:sp>
        <p:nvSpPr>
          <p:cNvPr id="17" name="Rectangle 16">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9712" y="0"/>
            <a:ext cx="457428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186" y="557784"/>
            <a:ext cx="384765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5">
            <a:extLst>
              <a:ext uri="{FF2B5EF4-FFF2-40B4-BE49-F238E27FC236}">
                <a16:creationId xmlns:a16="http://schemas.microsoft.com/office/drawing/2014/main" id="{A81924C2-7FDA-DD19-59B4-37FEAF2B6466}"/>
              </a:ext>
            </a:extLst>
          </p:cNvPr>
          <p:cNvPicPr>
            <a:picLocks noChangeAspect="1"/>
          </p:cNvPicPr>
          <p:nvPr/>
        </p:nvPicPr>
        <p:blipFill>
          <a:blip r:embed="rId2"/>
          <a:stretch>
            <a:fillRect/>
          </a:stretch>
        </p:blipFill>
        <p:spPr>
          <a:xfrm>
            <a:off x="5178531" y="1404780"/>
            <a:ext cx="3356649" cy="4045192"/>
          </a:xfrm>
          <a:prstGeom prst="rect">
            <a:avLst/>
          </a:prstGeom>
          <a:effectLst/>
        </p:spPr>
      </p:pic>
    </p:spTree>
    <p:extLst>
      <p:ext uri="{BB962C8B-B14F-4D97-AF65-F5344CB8AC3E}">
        <p14:creationId xmlns:p14="http://schemas.microsoft.com/office/powerpoint/2010/main" val="4276944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7CB8D1-5DCA-4F33-A14D-409891130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35C29E-9FBC-D24C-6800-86F41CB0BC17}"/>
              </a:ext>
            </a:extLst>
          </p:cNvPr>
          <p:cNvSpPr>
            <a:spLocks noGrp="1"/>
          </p:cNvSpPr>
          <p:nvPr>
            <p:ph type="title"/>
          </p:nvPr>
        </p:nvSpPr>
        <p:spPr>
          <a:xfrm>
            <a:off x="486696" y="629266"/>
            <a:ext cx="3840055" cy="1676603"/>
          </a:xfrm>
        </p:spPr>
        <p:txBody>
          <a:bodyPr>
            <a:normAutofit/>
          </a:bodyPr>
          <a:lstStyle/>
          <a:p>
            <a:r>
              <a:rPr lang="en-US">
                <a:ea typeface="Calibri Light"/>
                <a:cs typeface="Calibri Light"/>
              </a:rPr>
              <a:t>Cylinder valve</a:t>
            </a:r>
            <a:endParaRPr lang="en-US"/>
          </a:p>
        </p:txBody>
      </p:sp>
      <p:sp>
        <p:nvSpPr>
          <p:cNvPr id="3" name="Content Placeholder 2">
            <a:extLst>
              <a:ext uri="{FF2B5EF4-FFF2-40B4-BE49-F238E27FC236}">
                <a16:creationId xmlns:a16="http://schemas.microsoft.com/office/drawing/2014/main" id="{5E3D5E77-3DF8-E2B5-CB70-DE815EC7DD06}"/>
              </a:ext>
            </a:extLst>
          </p:cNvPr>
          <p:cNvSpPr>
            <a:spLocks noGrp="1"/>
          </p:cNvSpPr>
          <p:nvPr>
            <p:ph idx="1"/>
          </p:nvPr>
        </p:nvSpPr>
        <p:spPr>
          <a:xfrm>
            <a:off x="486698" y="2438400"/>
            <a:ext cx="3834835" cy="3785419"/>
          </a:xfrm>
        </p:spPr>
        <p:txBody>
          <a:bodyPr vert="horz" lIns="91440" tIns="45720" rIns="91440" bIns="45720" rtlCol="0">
            <a:normAutofit/>
          </a:bodyPr>
          <a:lstStyle/>
          <a:p>
            <a:r>
              <a:rPr lang="en-US" sz="1700">
                <a:ea typeface="+mn-lt"/>
                <a:cs typeface="+mn-lt"/>
              </a:rPr>
              <a:t>Cylinders are filled and discharged through valve,</a:t>
            </a:r>
          </a:p>
          <a:p>
            <a:r>
              <a:rPr lang="en-US" sz="1700">
                <a:ea typeface="+mn-lt"/>
                <a:cs typeface="+mn-lt"/>
              </a:rPr>
              <a:t>Made of bronze or brass,</a:t>
            </a:r>
          </a:p>
          <a:p>
            <a:r>
              <a:rPr lang="en-US" sz="1700">
                <a:ea typeface="+mn-lt"/>
                <a:cs typeface="+mn-lt"/>
              </a:rPr>
              <a:t>Should be removed only by the cylinder owner.</a:t>
            </a:r>
          </a:p>
        </p:txBody>
      </p:sp>
      <p:sp>
        <p:nvSpPr>
          <p:cNvPr id="11" name="Rectangle 10">
            <a:extLst>
              <a:ext uri="{FF2B5EF4-FFF2-40B4-BE49-F238E27FC236}">
                <a16:creationId xmlns:a16="http://schemas.microsoft.com/office/drawing/2014/main" id="{2FA7A195-03A4-44AB-A3D8-2507E2C9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313"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8F235346-20CC-4981-B836-23ECF1F4E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0098" y="559407"/>
            <a:ext cx="3856116"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COMPRESSED GAS CYLINDER VALVE BS4 (WITH SAFETY DISC BURST) – Việt Industry">
            <a:extLst>
              <a:ext uri="{FF2B5EF4-FFF2-40B4-BE49-F238E27FC236}">
                <a16:creationId xmlns:a16="http://schemas.microsoft.com/office/drawing/2014/main" id="{6DD7A8E0-C993-5D57-BF5F-3F01AA6C0685}"/>
              </a:ext>
            </a:extLst>
          </p:cNvPr>
          <p:cNvPicPr>
            <a:picLocks noChangeAspect="1"/>
          </p:cNvPicPr>
          <p:nvPr/>
        </p:nvPicPr>
        <p:blipFill rotWithShape="1">
          <a:blip r:embed="rId2"/>
          <a:srcRect l="17131" r="16230" b="-1"/>
          <a:stretch/>
        </p:blipFill>
        <p:spPr>
          <a:xfrm>
            <a:off x="5054502" y="722376"/>
            <a:ext cx="3607308" cy="5413248"/>
          </a:xfrm>
          <a:prstGeom prst="rect">
            <a:avLst/>
          </a:prstGeom>
          <a:effectLst/>
        </p:spPr>
      </p:pic>
    </p:spTree>
    <p:extLst>
      <p:ext uri="{BB962C8B-B14F-4D97-AF65-F5344CB8AC3E}">
        <p14:creationId xmlns:p14="http://schemas.microsoft.com/office/powerpoint/2010/main" val="2857568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7CB8D1-5DCA-4F33-A14D-409891130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35C29E-9FBC-D24C-6800-86F41CB0BC17}"/>
              </a:ext>
            </a:extLst>
          </p:cNvPr>
          <p:cNvSpPr>
            <a:spLocks noGrp="1"/>
          </p:cNvSpPr>
          <p:nvPr>
            <p:ph type="title"/>
          </p:nvPr>
        </p:nvSpPr>
        <p:spPr>
          <a:xfrm>
            <a:off x="486696" y="629266"/>
            <a:ext cx="3840055" cy="1676603"/>
          </a:xfrm>
        </p:spPr>
        <p:txBody>
          <a:bodyPr>
            <a:normAutofit/>
          </a:bodyPr>
          <a:lstStyle/>
          <a:p>
            <a:r>
              <a:rPr lang="en-US">
                <a:ea typeface="Calibri Light"/>
                <a:cs typeface="Calibri Light"/>
              </a:rPr>
              <a:t>Port </a:t>
            </a:r>
            <a:endParaRPr lang="en-US"/>
          </a:p>
        </p:txBody>
      </p:sp>
      <p:sp>
        <p:nvSpPr>
          <p:cNvPr id="3" name="Content Placeholder 2">
            <a:extLst>
              <a:ext uri="{FF2B5EF4-FFF2-40B4-BE49-F238E27FC236}">
                <a16:creationId xmlns:a16="http://schemas.microsoft.com/office/drawing/2014/main" id="{5E3D5E77-3DF8-E2B5-CB70-DE815EC7DD06}"/>
              </a:ext>
            </a:extLst>
          </p:cNvPr>
          <p:cNvSpPr>
            <a:spLocks noGrp="1"/>
          </p:cNvSpPr>
          <p:nvPr>
            <p:ph idx="1"/>
          </p:nvPr>
        </p:nvSpPr>
        <p:spPr>
          <a:xfrm>
            <a:off x="486698" y="2438400"/>
            <a:ext cx="3834835" cy="3785419"/>
          </a:xfrm>
        </p:spPr>
        <p:txBody>
          <a:bodyPr vert="horz" lIns="91440" tIns="45720" rIns="91440" bIns="45720" rtlCol="0" anchor="t">
            <a:normAutofit/>
          </a:bodyPr>
          <a:lstStyle/>
          <a:p>
            <a:r>
              <a:rPr lang="en-US" sz="1700">
                <a:ea typeface="+mn-lt"/>
                <a:cs typeface="+mn-lt"/>
              </a:rPr>
              <a:t>It is the point of exit for the gas.</a:t>
            </a:r>
          </a:p>
          <a:p>
            <a:r>
              <a:rPr lang="en-US" sz="1700">
                <a:ea typeface="+mn-lt"/>
                <a:cs typeface="+mn-lt"/>
              </a:rPr>
              <a:t>It should be protected in transit by a covering.</a:t>
            </a:r>
          </a:p>
          <a:p>
            <a:r>
              <a:rPr lang="en-US" sz="1700">
                <a:ea typeface="+mn-lt"/>
                <a:cs typeface="+mn-lt"/>
              </a:rPr>
              <a:t>Important not to mistake the port for the conical depression on the opposite side of the valve.</a:t>
            </a:r>
          </a:p>
          <a:p>
            <a:r>
              <a:rPr lang="en-US" sz="1700">
                <a:ea typeface="+mn-lt"/>
                <a:cs typeface="+mn-lt"/>
              </a:rPr>
              <a:t>Screw into the port may damage the port.</a:t>
            </a:r>
            <a:endParaRPr lang="en-US">
              <a:ea typeface="+mn-lt"/>
              <a:cs typeface="+mn-lt"/>
            </a:endParaRPr>
          </a:p>
        </p:txBody>
      </p:sp>
      <p:sp>
        <p:nvSpPr>
          <p:cNvPr id="11" name="Rectangle 10">
            <a:extLst>
              <a:ext uri="{FF2B5EF4-FFF2-40B4-BE49-F238E27FC236}">
                <a16:creationId xmlns:a16="http://schemas.microsoft.com/office/drawing/2014/main" id="{2FA7A195-03A4-44AB-A3D8-2507E2C9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313"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8F235346-20CC-4981-B836-23ECF1F4E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0098" y="559407"/>
            <a:ext cx="3856116"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COMPRESSED GAS CYLINDER VALVE BS4 (WITH SAFETY DISC BURST) – Việt Industry">
            <a:extLst>
              <a:ext uri="{FF2B5EF4-FFF2-40B4-BE49-F238E27FC236}">
                <a16:creationId xmlns:a16="http://schemas.microsoft.com/office/drawing/2014/main" id="{6DD7A8E0-C993-5D57-BF5F-3F01AA6C0685}"/>
              </a:ext>
            </a:extLst>
          </p:cNvPr>
          <p:cNvPicPr>
            <a:picLocks noChangeAspect="1"/>
          </p:cNvPicPr>
          <p:nvPr/>
        </p:nvPicPr>
        <p:blipFill rotWithShape="1">
          <a:blip r:embed="rId2"/>
          <a:srcRect l="17131" r="16230" b="-1"/>
          <a:stretch/>
        </p:blipFill>
        <p:spPr>
          <a:xfrm>
            <a:off x="5054502" y="722376"/>
            <a:ext cx="3607308" cy="5413248"/>
          </a:xfrm>
          <a:prstGeom prst="rect">
            <a:avLst/>
          </a:prstGeom>
          <a:effectLst/>
        </p:spPr>
      </p:pic>
    </p:spTree>
    <p:extLst>
      <p:ext uri="{BB962C8B-B14F-4D97-AF65-F5344CB8AC3E}">
        <p14:creationId xmlns:p14="http://schemas.microsoft.com/office/powerpoint/2010/main" val="552454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5C29E-9FBC-D24C-6800-86F41CB0BC17}"/>
              </a:ext>
            </a:extLst>
          </p:cNvPr>
          <p:cNvSpPr>
            <a:spLocks noGrp="1"/>
          </p:cNvSpPr>
          <p:nvPr>
            <p:ph type="title"/>
          </p:nvPr>
        </p:nvSpPr>
        <p:spPr>
          <a:xfrm>
            <a:off x="486696" y="629266"/>
            <a:ext cx="3840055" cy="1676603"/>
          </a:xfrm>
        </p:spPr>
        <p:txBody>
          <a:bodyPr>
            <a:normAutofit/>
          </a:bodyPr>
          <a:lstStyle/>
          <a:p>
            <a:r>
              <a:rPr lang="en-US">
                <a:ea typeface="Calibri Light"/>
                <a:cs typeface="Calibri Light"/>
              </a:rPr>
              <a:t>Stem</a:t>
            </a:r>
            <a:endParaRPr lang="en-US"/>
          </a:p>
        </p:txBody>
      </p:sp>
      <p:sp>
        <p:nvSpPr>
          <p:cNvPr id="3" name="Content Placeholder 2">
            <a:extLst>
              <a:ext uri="{FF2B5EF4-FFF2-40B4-BE49-F238E27FC236}">
                <a16:creationId xmlns:a16="http://schemas.microsoft.com/office/drawing/2014/main" id="{5E3D5E77-3DF8-E2B5-CB70-DE815EC7DD06}"/>
              </a:ext>
            </a:extLst>
          </p:cNvPr>
          <p:cNvSpPr>
            <a:spLocks noGrp="1"/>
          </p:cNvSpPr>
          <p:nvPr>
            <p:ph idx="1"/>
          </p:nvPr>
        </p:nvSpPr>
        <p:spPr>
          <a:xfrm>
            <a:off x="486698" y="2438400"/>
            <a:ext cx="3834835" cy="3785419"/>
          </a:xfrm>
        </p:spPr>
        <p:txBody>
          <a:bodyPr vert="horz" lIns="91440" tIns="45720" rIns="91440" bIns="45720" rtlCol="0">
            <a:normAutofit/>
          </a:bodyPr>
          <a:lstStyle/>
          <a:p>
            <a:r>
              <a:rPr lang="en-US" sz="2100">
                <a:ea typeface="+mn-lt"/>
                <a:cs typeface="+mn-lt"/>
              </a:rPr>
              <a:t>Each valve contains a stem, or shaft, that is rotated during valve opening or closing.</a:t>
            </a:r>
          </a:p>
          <a:p>
            <a:r>
              <a:rPr lang="en-US" sz="2100">
                <a:ea typeface="+mn-lt"/>
                <a:cs typeface="+mn-lt"/>
              </a:rPr>
              <a:t>To close the valve, the stem seals against the seat.</a:t>
            </a:r>
          </a:p>
          <a:p>
            <a:r>
              <a:rPr lang="en-US" sz="2100">
                <a:ea typeface="+mn-lt"/>
                <a:cs typeface="+mn-lt"/>
              </a:rPr>
              <a:t>When the valve is opened, the stem moves upward, allowing gas to flow out.</a:t>
            </a:r>
          </a:p>
        </p:txBody>
      </p:sp>
      <p:sp>
        <p:nvSpPr>
          <p:cNvPr id="18" name="Rectangle 17">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9712" y="0"/>
            <a:ext cx="457428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186" y="557784"/>
            <a:ext cx="384765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Diagram&#10;&#10;Description automatically generated">
            <a:extLst>
              <a:ext uri="{FF2B5EF4-FFF2-40B4-BE49-F238E27FC236}">
                <a16:creationId xmlns:a16="http://schemas.microsoft.com/office/drawing/2014/main" id="{7571F616-75E7-BEB2-DE2A-81618B0C7A97}"/>
              </a:ext>
            </a:extLst>
          </p:cNvPr>
          <p:cNvPicPr>
            <a:picLocks noChangeAspect="1"/>
          </p:cNvPicPr>
          <p:nvPr/>
        </p:nvPicPr>
        <p:blipFill>
          <a:blip r:embed="rId2"/>
          <a:stretch>
            <a:fillRect/>
          </a:stretch>
        </p:blipFill>
        <p:spPr>
          <a:xfrm>
            <a:off x="5178531" y="1265695"/>
            <a:ext cx="3356649" cy="4323363"/>
          </a:xfrm>
          <a:prstGeom prst="rect">
            <a:avLst/>
          </a:prstGeom>
          <a:effectLst/>
        </p:spPr>
      </p:pic>
    </p:spTree>
    <p:extLst>
      <p:ext uri="{BB962C8B-B14F-4D97-AF65-F5344CB8AC3E}">
        <p14:creationId xmlns:p14="http://schemas.microsoft.com/office/powerpoint/2010/main" val="616548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6" y="629266"/>
            <a:ext cx="2629122" cy="1622321"/>
          </a:xfrm>
        </p:spPr>
        <p:txBody>
          <a:bodyPr vert="horz" lIns="91440" tIns="45720" rIns="91440" bIns="45720" rtlCol="0" anchor="ctr">
            <a:normAutofit/>
          </a:bodyPr>
          <a:lstStyle/>
          <a:p>
            <a:r>
              <a:rPr lang="en-US" kern="1200">
                <a:solidFill>
                  <a:schemeClr val="tx1"/>
                </a:solidFill>
                <a:latin typeface="+mj-lt"/>
                <a:ea typeface="+mj-ea"/>
                <a:cs typeface="+mj-cs"/>
              </a:rPr>
              <a:t>Stem</a:t>
            </a: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486698" y="2438400"/>
            <a:ext cx="2629120" cy="3785419"/>
          </a:xfrm>
        </p:spPr>
        <p:txBody>
          <a:bodyPr vert="horz" lIns="91440" tIns="45720" rIns="91440" bIns="45720" rtlCol="0" anchor="t">
            <a:normAutofit/>
          </a:bodyPr>
          <a:lstStyle/>
          <a:p>
            <a:r>
              <a:rPr lang="en-US" sz="1700">
                <a:ea typeface="Calibri"/>
                <a:cs typeface="Calibri"/>
              </a:rPr>
              <a:t>Each valve contains a stem, or shaft, that is rotated during valve opening or closing.</a:t>
            </a:r>
            <a:endParaRPr lang="en-US" sz="1700"/>
          </a:p>
        </p:txBody>
      </p:sp>
      <p:sp>
        <p:nvSpPr>
          <p:cNvPr id="14" name="Rectangle 13">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557784"/>
            <a:ext cx="493807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picture containing metalware, screw, light, gear&#10;&#10;Description automatically generated">
            <a:extLst>
              <a:ext uri="{FF2B5EF4-FFF2-40B4-BE49-F238E27FC236}">
                <a16:creationId xmlns:a16="http://schemas.microsoft.com/office/drawing/2014/main" id="{8849E07B-686A-673A-A955-523B30E5C3A8}"/>
              </a:ext>
            </a:extLst>
          </p:cNvPr>
          <p:cNvPicPr>
            <a:picLocks noChangeAspect="1"/>
          </p:cNvPicPr>
          <p:nvPr/>
        </p:nvPicPr>
        <p:blipFill>
          <a:blip r:embed="rId3"/>
          <a:stretch>
            <a:fillRect/>
          </a:stretch>
        </p:blipFill>
        <p:spPr>
          <a:xfrm>
            <a:off x="4054396" y="1170128"/>
            <a:ext cx="4514498" cy="4514498"/>
          </a:xfrm>
          <a:prstGeom prst="rect">
            <a:avLst/>
          </a:prstGeom>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27">
            <a:extLst>
              <a:ext uri="{FF2B5EF4-FFF2-40B4-BE49-F238E27FC236}">
                <a16:creationId xmlns:a16="http://schemas.microsoft.com/office/drawing/2014/main" id="{477CB8D1-5DCA-4F33-A14D-409891130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629266"/>
            <a:ext cx="3840055" cy="1676603"/>
          </a:xfrm>
        </p:spPr>
        <p:txBody>
          <a:bodyPr vert="horz" lIns="91440" tIns="45720" rIns="91440" bIns="45720" rtlCol="0" anchor="ctr">
            <a:normAutofit/>
          </a:bodyPr>
          <a:lstStyle/>
          <a:p>
            <a:r>
              <a:rPr lang="en-US"/>
              <a:t>Diaphragm valve</a:t>
            </a: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486698" y="2438400"/>
            <a:ext cx="3834835" cy="3785419"/>
          </a:xfrm>
        </p:spPr>
        <p:txBody>
          <a:bodyPr vert="horz" lIns="91440" tIns="45720" rIns="91440" bIns="45720" rtlCol="0">
            <a:normAutofit/>
          </a:bodyPr>
          <a:lstStyle/>
          <a:p>
            <a:r>
              <a:rPr lang="en-US" sz="1700"/>
              <a:t>Diaphragm separates steam from the seat.</a:t>
            </a:r>
          </a:p>
          <a:p>
            <a:r>
              <a:rPr lang="en-US" sz="1700"/>
              <a:t>Turning the stem raises or lowers the diaphragm.</a:t>
            </a:r>
          </a:p>
          <a:p>
            <a:r>
              <a:rPr lang="en-US" sz="1700"/>
              <a:t>Turning the stem clockwise lowers the diaphragm which in turn, lowers the seat and closes the valve.</a:t>
            </a:r>
          </a:p>
          <a:p>
            <a:r>
              <a:rPr lang="en-US" sz="1700"/>
              <a:t>Inverse during counter.</a:t>
            </a:r>
          </a:p>
        </p:txBody>
      </p:sp>
      <p:sp>
        <p:nvSpPr>
          <p:cNvPr id="34" name="Rectangle 29">
            <a:extLst>
              <a:ext uri="{FF2B5EF4-FFF2-40B4-BE49-F238E27FC236}">
                <a16:creationId xmlns:a16="http://schemas.microsoft.com/office/drawing/2014/main" id="{2FA7A195-03A4-44AB-A3D8-2507E2C9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313"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9">
            <a:extLst>
              <a:ext uri="{FF2B5EF4-FFF2-40B4-BE49-F238E27FC236}">
                <a16:creationId xmlns:a16="http://schemas.microsoft.com/office/drawing/2014/main" id="{8F235346-20CC-4981-B836-23ECF1F4E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0098" y="559407"/>
            <a:ext cx="3856116"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descr="Diagram&#10;&#10;Description automatically generated">
            <a:extLst>
              <a:ext uri="{FF2B5EF4-FFF2-40B4-BE49-F238E27FC236}">
                <a16:creationId xmlns:a16="http://schemas.microsoft.com/office/drawing/2014/main" id="{47C2D562-E3CE-86FF-51C0-0611057601A3}"/>
              </a:ext>
            </a:extLst>
          </p:cNvPr>
          <p:cNvPicPr>
            <a:picLocks noChangeAspect="1"/>
          </p:cNvPicPr>
          <p:nvPr/>
        </p:nvPicPr>
        <p:blipFill rotWithShape="1">
          <a:blip r:embed="rId3"/>
          <a:srcRect l="12515" r="10651" b="3"/>
          <a:stretch/>
        </p:blipFill>
        <p:spPr>
          <a:xfrm>
            <a:off x="5054502" y="722376"/>
            <a:ext cx="3607308" cy="5413248"/>
          </a:xfrm>
          <a:prstGeom prst="rect">
            <a:avLst/>
          </a:prstGeom>
          <a:effectLst/>
        </p:spPr>
      </p:pic>
    </p:spTree>
    <p:extLst>
      <p:ext uri="{BB962C8B-B14F-4D97-AF65-F5344CB8AC3E}">
        <p14:creationId xmlns:p14="http://schemas.microsoft.com/office/powerpoint/2010/main" val="711878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3938487" cy="1807305"/>
          </a:xfrm>
        </p:spPr>
        <p:txBody>
          <a:bodyPr vert="horz" lIns="91440" tIns="45720" rIns="91440" bIns="45720" rtlCol="0" anchor="ctr">
            <a:normAutofit/>
          </a:bodyPr>
          <a:lstStyle/>
          <a:p>
            <a:r>
              <a:rPr lang="en-US"/>
              <a:t>Handle or hand wheel</a:t>
            </a: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628650" y="2333297"/>
            <a:ext cx="3464715" cy="3843666"/>
          </a:xfrm>
        </p:spPr>
        <p:txBody>
          <a:bodyPr vert="horz" lIns="91440" tIns="45720" rIns="91440" bIns="45720" rtlCol="0">
            <a:normAutofit/>
          </a:bodyPr>
          <a:lstStyle/>
          <a:p>
            <a:r>
              <a:rPr lang="en-US" sz="1700"/>
              <a:t>A handle or hand wheel used to open and close a cylinder valve.</a:t>
            </a:r>
          </a:p>
          <a:p>
            <a:r>
              <a:rPr lang="en-US" sz="1700"/>
              <a:t>Counterclockwise to open.</a:t>
            </a:r>
          </a:p>
          <a:p>
            <a:r>
              <a:rPr lang="en-US" sz="1700"/>
              <a:t>Unacquainted with cylinders could loosen the packing nut under the mistaken impression that he or she was opening the valve.</a:t>
            </a:r>
          </a:p>
          <a:p>
            <a:pPr lvl="1"/>
            <a:r>
              <a:rPr lang="en-US" sz="1700"/>
              <a:t>This could cause the valve stem and retaining nut to come off the cylinder with great force </a:t>
            </a:r>
          </a:p>
        </p:txBody>
      </p:sp>
      <p:pic>
        <p:nvPicPr>
          <p:cNvPr id="4" name="Picture 4">
            <a:extLst>
              <a:ext uri="{FF2B5EF4-FFF2-40B4-BE49-F238E27FC236}">
                <a16:creationId xmlns:a16="http://schemas.microsoft.com/office/drawing/2014/main" id="{93ACDD0B-7AF0-10B9-6A41-60A2E0C4E77A}"/>
              </a:ext>
            </a:extLst>
          </p:cNvPr>
          <p:cNvPicPr>
            <a:picLocks noChangeAspect="1"/>
          </p:cNvPicPr>
          <p:nvPr/>
        </p:nvPicPr>
        <p:blipFill rotWithShape="1">
          <a:blip r:embed="rId3"/>
          <a:srcRect l="11875" r="31719" b="1"/>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871555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3938487" cy="1807305"/>
          </a:xfrm>
        </p:spPr>
        <p:txBody>
          <a:bodyPr vert="horz" lIns="91440" tIns="45720" rIns="91440" bIns="45720" rtlCol="0" anchor="ctr">
            <a:normAutofit/>
          </a:bodyPr>
          <a:lstStyle/>
          <a:p>
            <a:r>
              <a:rPr lang="en-US">
                <a:cs typeface="Calibri Light"/>
              </a:rPr>
              <a:t>Pressure/Safety relief device</a:t>
            </a:r>
            <a:endParaRPr lang="en-US"/>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628650" y="2333297"/>
            <a:ext cx="3464715" cy="3843666"/>
          </a:xfrm>
        </p:spPr>
        <p:txBody>
          <a:bodyPr vert="horz" lIns="91440" tIns="45720" rIns="91440" bIns="45720" rtlCol="0">
            <a:normAutofit/>
          </a:bodyPr>
          <a:lstStyle/>
          <a:p>
            <a:r>
              <a:rPr lang="en-US" sz="1700"/>
              <a:t>Is a spring-loaded device designed to reclose and prevent cylinder contents from being discharged after a normal pressure has been restored.</a:t>
            </a:r>
          </a:p>
          <a:p>
            <a:r>
              <a:rPr lang="en-US" sz="1700"/>
              <a:t>The set pressure, at which it will start to discharge, is marked on the valve.</a:t>
            </a:r>
          </a:p>
          <a:p>
            <a:r>
              <a:rPr lang="en-US" sz="1700"/>
              <a:t>The purpose is to vent the cylinder's contents to atmosphere if the pressure of the enclosed gas increases to a dangerous level.</a:t>
            </a:r>
          </a:p>
          <a:p>
            <a:r>
              <a:rPr lang="en-US" sz="1700"/>
              <a:t>More susceptible to leaks than rupture discs or fusible plugs.</a:t>
            </a:r>
          </a:p>
        </p:txBody>
      </p:sp>
      <p:pic>
        <p:nvPicPr>
          <p:cNvPr id="3" name="Picture 4" descr="A picture containing metalware, screw, gear&#10;&#10;Description automatically generated">
            <a:extLst>
              <a:ext uri="{FF2B5EF4-FFF2-40B4-BE49-F238E27FC236}">
                <a16:creationId xmlns:a16="http://schemas.microsoft.com/office/drawing/2014/main" id="{F62224CD-0119-DD99-0A71-E1565488D568}"/>
              </a:ext>
            </a:extLst>
          </p:cNvPr>
          <p:cNvPicPr>
            <a:picLocks noChangeAspect="1"/>
          </p:cNvPicPr>
          <p:nvPr/>
        </p:nvPicPr>
        <p:blipFill rotWithShape="1">
          <a:blip r:embed="rId3"/>
          <a:srcRect l="17833" r="16957"/>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cxnSp>
        <p:nvCxnSpPr>
          <p:cNvPr id="6" name="Straight Arrow Connector 5">
            <a:extLst>
              <a:ext uri="{FF2B5EF4-FFF2-40B4-BE49-F238E27FC236}">
                <a16:creationId xmlns:a16="http://schemas.microsoft.com/office/drawing/2014/main" id="{AA9700FA-594C-B151-7925-9CB8A5EE5961}"/>
              </a:ext>
            </a:extLst>
          </p:cNvPr>
          <p:cNvCxnSpPr/>
          <p:nvPr/>
        </p:nvCxnSpPr>
        <p:spPr>
          <a:xfrm flipH="1" flipV="1">
            <a:off x="8077200" y="4691332"/>
            <a:ext cx="5751" cy="1414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Arrow: Up 9">
            <a:extLst>
              <a:ext uri="{FF2B5EF4-FFF2-40B4-BE49-F238E27FC236}">
                <a16:creationId xmlns:a16="http://schemas.microsoft.com/office/drawing/2014/main" id="{9F4EB440-AC74-08AA-5B04-2140D0562A10}"/>
              </a:ext>
            </a:extLst>
          </p:cNvPr>
          <p:cNvSpPr/>
          <p:nvPr/>
        </p:nvSpPr>
        <p:spPr>
          <a:xfrm>
            <a:off x="7793181" y="4675908"/>
            <a:ext cx="531962" cy="136584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4423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6" y="629266"/>
            <a:ext cx="3708114" cy="1622321"/>
          </a:xfrm>
        </p:spPr>
        <p:txBody>
          <a:bodyPr vert="horz" lIns="91440" tIns="45720" rIns="91440" bIns="45720" rtlCol="0" anchor="ctr">
            <a:normAutofit/>
          </a:bodyPr>
          <a:lstStyle/>
          <a:p>
            <a:r>
              <a:rPr lang="en-US" kern="1200">
                <a:solidFill>
                  <a:schemeClr val="tx1"/>
                </a:solidFill>
                <a:latin typeface="+mj-lt"/>
                <a:ea typeface="+mj-ea"/>
                <a:cs typeface="+mj-cs"/>
              </a:rPr>
              <a:t>Handle or hand wheel</a:t>
            </a: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486697" y="2438400"/>
            <a:ext cx="3708113" cy="3785419"/>
          </a:xfrm>
        </p:spPr>
        <p:txBody>
          <a:bodyPr vert="horz" lIns="91440" tIns="45720" rIns="91440" bIns="45720" rtlCol="0">
            <a:normAutofit/>
          </a:bodyPr>
          <a:lstStyle/>
          <a:p>
            <a:r>
              <a:rPr lang="en-US" sz="2100"/>
              <a:t>When the set pressure is exceeded, the pressure in the cylinder forces the spring to the left, and gas flows around the safety valve seat to the discharge channel.</a:t>
            </a:r>
          </a:p>
        </p:txBody>
      </p:sp>
      <p:sp>
        <p:nvSpPr>
          <p:cNvPr id="44" name="Rectangle 43">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9712" y="0"/>
            <a:ext cx="457428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186" y="557784"/>
            <a:ext cx="384765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4" descr="Diagram&#10;&#10;Description automatically generated">
            <a:extLst>
              <a:ext uri="{FF2B5EF4-FFF2-40B4-BE49-F238E27FC236}">
                <a16:creationId xmlns:a16="http://schemas.microsoft.com/office/drawing/2014/main" id="{47AE7851-068E-0A1B-60F6-259C2E2D9BC5}"/>
              </a:ext>
            </a:extLst>
          </p:cNvPr>
          <p:cNvPicPr>
            <a:picLocks noChangeAspect="1"/>
          </p:cNvPicPr>
          <p:nvPr/>
        </p:nvPicPr>
        <p:blipFill>
          <a:blip r:embed="rId3"/>
          <a:stretch>
            <a:fillRect/>
          </a:stretch>
        </p:blipFill>
        <p:spPr>
          <a:xfrm>
            <a:off x="5178531" y="1839467"/>
            <a:ext cx="3356649" cy="3175819"/>
          </a:xfrm>
          <a:prstGeom prst="rect">
            <a:avLst/>
          </a:prstGeom>
          <a:effectLst/>
        </p:spPr>
      </p:pic>
    </p:spTree>
    <p:extLst>
      <p:ext uri="{BB962C8B-B14F-4D97-AF65-F5344CB8AC3E}">
        <p14:creationId xmlns:p14="http://schemas.microsoft.com/office/powerpoint/2010/main" val="528846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metalware, screw, gear&#10;&#10;Description automatically generated">
            <a:extLst>
              <a:ext uri="{FF2B5EF4-FFF2-40B4-BE49-F238E27FC236}">
                <a16:creationId xmlns:a16="http://schemas.microsoft.com/office/drawing/2014/main" id="{A1B0A5B7-30DF-6B13-CEB4-AD7DDED8482B}"/>
              </a:ext>
            </a:extLst>
          </p:cNvPr>
          <p:cNvPicPr>
            <a:picLocks noChangeAspect="1"/>
          </p:cNvPicPr>
          <p:nvPr/>
        </p:nvPicPr>
        <p:blipFill rotWithShape="1">
          <a:blip r:embed="rId3"/>
          <a:srcRect t="19407" r="-2" b="19206"/>
          <a:stretch/>
        </p:blipFill>
        <p:spPr>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6" name="Picture 6">
            <a:extLst>
              <a:ext uri="{FF2B5EF4-FFF2-40B4-BE49-F238E27FC236}">
                <a16:creationId xmlns:a16="http://schemas.microsoft.com/office/drawing/2014/main" id="{E8CD6B28-44F2-9431-6A27-D6DD0A2CECA3}"/>
              </a:ext>
            </a:extLst>
          </p:cNvPr>
          <p:cNvPicPr>
            <a:picLocks noChangeAspect="1"/>
          </p:cNvPicPr>
          <p:nvPr/>
        </p:nvPicPr>
        <p:blipFill rotWithShape="1">
          <a:blip r:embed="rId4"/>
          <a:srcRect t="21940" r="-2" b="16673"/>
          <a:stretch/>
        </p:blipFill>
        <p:spPr>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53" name="Freeform: Shape 52">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5" name="Freeform: Shape 54">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499"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336042" y="859536"/>
            <a:ext cx="3624601" cy="1243584"/>
          </a:xfrm>
        </p:spPr>
        <p:txBody>
          <a:bodyPr vert="horz" lIns="91440" tIns="45720" rIns="91440" bIns="45720" rtlCol="0" anchor="ctr">
            <a:normAutofit/>
          </a:bodyPr>
          <a:lstStyle/>
          <a:p>
            <a:r>
              <a:rPr lang="en-US" sz="3000" kern="1200">
                <a:solidFill>
                  <a:schemeClr val="tx1"/>
                </a:solidFill>
                <a:latin typeface="+mj-lt"/>
                <a:ea typeface="+mj-ea"/>
                <a:cs typeface="+mj-cs"/>
              </a:rPr>
              <a:t>Rupture (frangible, burst) disc</a:t>
            </a:r>
          </a:p>
        </p:txBody>
      </p:sp>
      <p:sp>
        <p:nvSpPr>
          <p:cNvPr id="57" name="Rectangle 5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59" name="Rectangle 5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336042" y="2512611"/>
            <a:ext cx="3624602" cy="3664351"/>
          </a:xfrm>
        </p:spPr>
        <p:txBody>
          <a:bodyPr vert="horz" lIns="91440" tIns="45720" rIns="91440" bIns="45720" rtlCol="0">
            <a:normAutofit/>
          </a:bodyPr>
          <a:lstStyle/>
          <a:p>
            <a:r>
              <a:rPr lang="en-US" sz="1700"/>
              <a:t>When the predetermined pressure is reached, the disc ruptures and allows the cylinder contents to be discharged.</a:t>
            </a:r>
          </a:p>
          <a:p>
            <a:r>
              <a:rPr lang="en-US" sz="1700"/>
              <a:t>Protects against excess pressure as a result of high temperature or overfilling.</a:t>
            </a:r>
          </a:p>
        </p:txBody>
      </p:sp>
    </p:spTree>
    <p:extLst>
      <p:ext uri="{BB962C8B-B14F-4D97-AF65-F5344CB8AC3E}">
        <p14:creationId xmlns:p14="http://schemas.microsoft.com/office/powerpoint/2010/main" val="8606134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Subtitle 2"/>
          <p:cNvSpPr>
            <a:spLocks noGrp="1"/>
          </p:cNvSpPr>
          <p:nvPr>
            <p:ph sz="half" idx="1"/>
          </p:nvPr>
        </p:nvSpPr>
        <p:spPr/>
        <p:txBody>
          <a:bodyPr>
            <a:normAutofit/>
          </a:bodyPr>
          <a:lstStyle/>
          <a:p>
            <a:r>
              <a:rPr lang="en-US"/>
              <a:t>When the rated burst pressure is exceeded, the disc ruptures and gas flows from the approach channel into the pressure opening and to atmosphere through the discharge channels.</a:t>
            </a:r>
          </a:p>
        </p:txBody>
      </p:sp>
      <p:sp>
        <p:nvSpPr>
          <p:cNvPr id="7" name="Content Placeholder 6"/>
          <p:cNvSpPr>
            <a:spLocks noGrp="1"/>
          </p:cNvSpPr>
          <p:nvPr>
            <p:ph sz="half" idx="2"/>
          </p:nvPr>
        </p:nvSpPr>
        <p:spPr/>
        <p:txBody>
          <a:bodyPr>
            <a:normAutofit/>
          </a:bodyPr>
          <a:lstStyle/>
          <a:p>
            <a:endParaRPr lang="en-US"/>
          </a:p>
        </p:txBody>
      </p:sp>
      <p:pic>
        <p:nvPicPr>
          <p:cNvPr id="4" name="Picture 3" descr="C:\Documents and Settings\User\Desktop\Ruptured d.bmp"/>
          <p:cNvPicPr/>
          <p:nvPr/>
        </p:nvPicPr>
        <p:blipFill>
          <a:blip r:embed="rId3" cstate="print"/>
          <a:srcRect/>
          <a:stretch>
            <a:fillRect/>
          </a:stretch>
        </p:blipFill>
        <p:spPr bwMode="auto">
          <a:xfrm>
            <a:off x="4457700" y="1771650"/>
            <a:ext cx="3962400" cy="3886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6" y="629266"/>
            <a:ext cx="2629122" cy="1622321"/>
          </a:xfrm>
        </p:spPr>
        <p:txBody>
          <a:bodyPr vert="horz" lIns="91440" tIns="45720" rIns="91440" bIns="45720" rtlCol="0" anchor="ctr">
            <a:normAutofit/>
          </a:bodyPr>
          <a:lstStyle/>
          <a:p>
            <a:r>
              <a:rPr lang="en-US" sz="4100" kern="1200">
                <a:solidFill>
                  <a:schemeClr val="tx1"/>
                </a:solidFill>
                <a:latin typeface="+mj-lt"/>
                <a:ea typeface="+mj-ea"/>
                <a:cs typeface="+mj-cs"/>
              </a:rPr>
              <a:t>Conical depression</a:t>
            </a: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486698" y="2438400"/>
            <a:ext cx="2629120" cy="3785419"/>
          </a:xfrm>
        </p:spPr>
        <p:txBody>
          <a:bodyPr vert="horz" lIns="91440" tIns="45720" rIns="91440" bIns="45720" rtlCol="0">
            <a:normAutofit/>
          </a:bodyPr>
          <a:lstStyle/>
          <a:p>
            <a:r>
              <a:rPr lang="en-US" sz="1700"/>
              <a:t>Found above the safety relief device on small cylinders.</a:t>
            </a:r>
          </a:p>
          <a:p>
            <a:r>
              <a:rPr lang="en-US" sz="1700"/>
              <a:t>Receives the retaining screw of the yoke.</a:t>
            </a:r>
          </a:p>
          <a:p>
            <a:r>
              <a:rPr lang="en-US" sz="1700"/>
              <a:t>Must be distinguished from the safety relief device. </a:t>
            </a:r>
          </a:p>
          <a:p>
            <a:r>
              <a:rPr lang="en-US" sz="1700"/>
              <a:t>If the retaining screw is tightened into the safety relief device, the device may be damaged and the cylinder contents escape </a:t>
            </a:r>
          </a:p>
        </p:txBody>
      </p:sp>
      <p:sp>
        <p:nvSpPr>
          <p:cNvPr id="66" name="Rectangle 65">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557784"/>
            <a:ext cx="493807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descr="A picture containing text, indoor&#10;&#10;Description automatically generated">
            <a:extLst>
              <a:ext uri="{FF2B5EF4-FFF2-40B4-BE49-F238E27FC236}">
                <a16:creationId xmlns:a16="http://schemas.microsoft.com/office/drawing/2014/main" id="{1EE38B16-2DEF-FEE2-56F3-AD90D1BEBB4B}"/>
              </a:ext>
            </a:extLst>
          </p:cNvPr>
          <p:cNvPicPr>
            <a:picLocks noChangeAspect="1"/>
          </p:cNvPicPr>
          <p:nvPr/>
        </p:nvPicPr>
        <p:blipFill>
          <a:blip r:embed="rId3"/>
          <a:stretch>
            <a:fillRect/>
          </a:stretch>
        </p:blipFill>
        <p:spPr>
          <a:xfrm>
            <a:off x="4054396" y="1734440"/>
            <a:ext cx="4514498" cy="3385873"/>
          </a:xfrm>
          <a:prstGeom prst="rect">
            <a:avLst/>
          </a:prstGeom>
          <a:effectLst/>
        </p:spPr>
      </p:pic>
    </p:spTree>
    <p:extLst>
      <p:ext uri="{BB962C8B-B14F-4D97-AF65-F5344CB8AC3E}">
        <p14:creationId xmlns:p14="http://schemas.microsoft.com/office/powerpoint/2010/main" val="3215605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pic>
        <p:nvPicPr>
          <p:cNvPr id="7" name="Content Placeholder 6" descr="C:\Documents and Settings\User\Desktop\Conical d.bmp"/>
          <p:cNvPicPr>
            <a:picLocks noGrp="1"/>
          </p:cNvPicPr>
          <p:nvPr>
            <p:ph sz="half" idx="1"/>
          </p:nvPr>
        </p:nvPicPr>
        <p:blipFill>
          <a:blip r:embed="rId2" cstate="print"/>
          <a:stretch>
            <a:fillRect/>
          </a:stretch>
        </p:blipFill>
        <p:spPr bwMode="auto">
          <a:xfrm>
            <a:off x="628650" y="2642757"/>
            <a:ext cx="3886200" cy="2717074"/>
          </a:xfrm>
          <a:prstGeom prst="rect">
            <a:avLst/>
          </a:prstGeom>
          <a:noFill/>
          <a:ln w="9525">
            <a:noFill/>
            <a:miter lim="800000"/>
            <a:headEnd/>
            <a:tailEnd/>
          </a:ln>
        </p:spPr>
      </p:pic>
      <p:sp>
        <p:nvSpPr>
          <p:cNvPr id="6" name="Content Placeholder 5"/>
          <p:cNvSpPr>
            <a:spLocks noGrp="1"/>
          </p:cNvSpPr>
          <p:nvPr>
            <p:ph sz="half" idx="2"/>
          </p:nvPr>
        </p:nvSpPr>
        <p:spPr/>
        <p:txBody>
          <a:bodyPr/>
          <a:lstStyle/>
          <a:p>
            <a:pPr marL="341313" indent="-341313">
              <a:buFont typeface="Courier New" pitchFamily="49" charset="0"/>
              <a:buChar char="o"/>
            </a:pPr>
            <a:endParaRPr lang="en-US" b="1">
              <a:solidFill>
                <a:srgbClr val="0070C0"/>
              </a:solidFill>
            </a:endParaRPr>
          </a:p>
          <a:p>
            <a:pPr marL="341313" indent="-341313"/>
            <a:r>
              <a:rPr lang="en-US" b="1">
                <a:solidFill>
                  <a:srgbClr val="0070C0"/>
                </a:solidFill>
              </a:rPr>
              <a:t>Left: -</a:t>
            </a:r>
            <a:r>
              <a:rPr lang="en-US">
                <a:solidFill>
                  <a:srgbClr val="0070C0"/>
                </a:solidFill>
              </a:rPr>
              <a:t> </a:t>
            </a:r>
            <a:r>
              <a:rPr lang="en-US"/>
              <a:t>The conical depression is above the pressure relief device. </a:t>
            </a:r>
          </a:p>
          <a:p>
            <a:pPr marL="341313" indent="-341313"/>
            <a:r>
              <a:rPr lang="en-US" b="1">
                <a:solidFill>
                  <a:srgbClr val="0070C0"/>
                </a:solidFill>
              </a:rPr>
              <a:t>Right: -</a:t>
            </a:r>
            <a:r>
              <a:rPr lang="en-US">
                <a:solidFill>
                  <a:srgbClr val="0070C0"/>
                </a:solidFill>
              </a:rPr>
              <a:t> </a:t>
            </a:r>
            <a:r>
              <a:rPr lang="en-US"/>
              <a:t>The port is above the Pin Index Safety System holes.</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vert="horz" lIns="91440" tIns="45720" rIns="91440" bIns="45720" rtlCol="0" anchor="b">
            <a:normAutofit/>
          </a:bodyPr>
          <a:lstStyle/>
          <a:p>
            <a:r>
              <a:rPr lang="en-US" sz="4300"/>
              <a:t>Pin index safety system</a:t>
            </a:r>
          </a:p>
        </p:txBody>
      </p:sp>
      <p:sp>
        <p:nvSpPr>
          <p:cNvPr id="8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480060" y="2872899"/>
            <a:ext cx="3182691" cy="3320668"/>
          </a:xfrm>
        </p:spPr>
        <p:txBody>
          <a:bodyPr vert="horz" lIns="91440" tIns="45720" rIns="91440" bIns="45720" rtlCol="0">
            <a:normAutofit/>
          </a:bodyPr>
          <a:lstStyle/>
          <a:p>
            <a:r>
              <a:rPr lang="en-US" sz="1600"/>
              <a:t>In the past, cylinders containing the wrong gas—for example, nitrous oxide instead of oxygen—were sometimes connected to anesthesia gas delivery systems, with disastrous results. This led to the development of systems designed to help ensure use of the correct cylinder. </a:t>
            </a:r>
          </a:p>
          <a:p>
            <a:r>
              <a:rPr lang="en-US" sz="1600"/>
              <a:t>pin index safety system was developed in 1952 for the E cylinder types</a:t>
            </a:r>
          </a:p>
        </p:txBody>
      </p:sp>
      <p:pic>
        <p:nvPicPr>
          <p:cNvPr id="5" name="Picture 5">
            <a:extLst>
              <a:ext uri="{FF2B5EF4-FFF2-40B4-BE49-F238E27FC236}">
                <a16:creationId xmlns:a16="http://schemas.microsoft.com/office/drawing/2014/main" id="{0386D84E-6CAB-65CE-AAEB-EBB300112B5C}"/>
              </a:ext>
            </a:extLst>
          </p:cNvPr>
          <p:cNvPicPr>
            <a:picLocks noChangeAspect="1"/>
          </p:cNvPicPr>
          <p:nvPr/>
        </p:nvPicPr>
        <p:blipFill rotWithShape="1">
          <a:blip r:embed="rId3"/>
          <a:srcRect l="28725" r="21249"/>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081384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anchor="b">
            <a:normAutofit/>
          </a:bodyPr>
          <a:lstStyle/>
          <a:p>
            <a:endParaRPr lang="en-US" sz="470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3202" y="2807208"/>
            <a:ext cx="2571750" cy="3410712"/>
          </a:xfrm>
        </p:spPr>
        <p:txBody>
          <a:bodyPr anchor="t">
            <a:normAutofit/>
          </a:bodyPr>
          <a:lstStyle/>
          <a:p>
            <a:r>
              <a:rPr lang="en-US" sz="1600"/>
              <a:t>The pin index system relies on two 5-mm stainless steel pins on the cylinder yoke connector just below the fitting for the valve outlet port. </a:t>
            </a:r>
          </a:p>
          <a:p>
            <a:r>
              <a:rPr lang="en-US" sz="1600"/>
              <a:t>Seven different pin positions are possible depending on the type of gas in the cylinder</a:t>
            </a:r>
          </a:p>
          <a:p>
            <a:r>
              <a:rPr lang="en-US" sz="1600"/>
              <a:t>Unless the pins and holes are aligned, the port will not seat</a:t>
            </a:r>
          </a:p>
          <a:p>
            <a:endParaRPr lang="en-US" sz="1600"/>
          </a:p>
        </p:txBody>
      </p:sp>
      <p:pic>
        <p:nvPicPr>
          <p:cNvPr id="5" name="Picture 5" descr="A picture containing icon&#10;&#10;Description automatically generated">
            <a:extLst>
              <a:ext uri="{FF2B5EF4-FFF2-40B4-BE49-F238E27FC236}">
                <a16:creationId xmlns:a16="http://schemas.microsoft.com/office/drawing/2014/main" id="{DC243BC4-73D9-B205-55CD-EB3130FF1422}"/>
              </a:ext>
            </a:extLst>
          </p:cNvPr>
          <p:cNvPicPr>
            <a:picLocks noChangeAspect="1"/>
          </p:cNvPicPr>
          <p:nvPr/>
        </p:nvPicPr>
        <p:blipFill>
          <a:blip r:embed="rId2"/>
          <a:stretch>
            <a:fillRect/>
          </a:stretch>
        </p:blipFill>
        <p:spPr>
          <a:xfrm>
            <a:off x="3490722" y="1743342"/>
            <a:ext cx="5177790" cy="337131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857250" y="173044"/>
            <a:ext cx="7429500" cy="6511912"/>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Subtitle 2"/>
          <p:cNvSpPr>
            <a:spLocks noGrp="1"/>
          </p:cNvSpPr>
          <p:nvPr>
            <p:ph idx="1"/>
          </p:nvPr>
        </p:nvSpPr>
        <p:spPr/>
        <p:txBody>
          <a:bodyPr>
            <a:normAutofit fontScale="92500"/>
          </a:bodyPr>
          <a:lstStyle/>
          <a:p>
            <a:pPr lvl="0"/>
            <a:r>
              <a:rPr lang="en-US"/>
              <a:t>Pin index system works well for the common gases used in anesthesia.</a:t>
            </a:r>
          </a:p>
          <a:p>
            <a:pPr lvl="0"/>
            <a:r>
              <a:rPr lang="en-US"/>
              <a:t>There are problems when specialized gas mixtures are used. </a:t>
            </a:r>
          </a:p>
          <a:p>
            <a:pPr lvl="0"/>
            <a:r>
              <a:rPr lang="en-US"/>
              <a:t>As an example, a 5% CO2 mixture with oxygen has a different pin index than 100% carbon dioxide. </a:t>
            </a:r>
          </a:p>
          <a:p>
            <a:pPr lvl="0"/>
            <a:r>
              <a:rPr lang="en-US"/>
              <a:t>Carbon dioxide mixtures of 7% or greater CO2 would be fitted with the pin index of 100% CO2.</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pic>
        <p:nvPicPr>
          <p:cNvPr id="3" name="Picture 3" descr="C:\Documents and Settings\User\Desktop\DSC05264.JPG"/>
          <p:cNvPicPr>
            <a:picLocks noChangeAspect="1" noChangeArrowheads="1"/>
          </p:cNvPicPr>
          <p:nvPr/>
        </p:nvPicPr>
        <p:blipFill>
          <a:blip r:embed="rId3" cstate="print"/>
          <a:srcRect/>
          <a:stretch>
            <a:fillRect/>
          </a:stretch>
        </p:blipFill>
        <p:spPr bwMode="auto">
          <a:xfrm>
            <a:off x="1905000" y="1981200"/>
            <a:ext cx="5638800" cy="4114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Size</a:t>
            </a:r>
          </a:p>
        </p:txBody>
      </p:sp>
      <p:sp>
        <p:nvSpPr>
          <p:cNvPr id="3" name="Subtitle 2"/>
          <p:cNvSpPr>
            <a:spLocks noGrp="1"/>
          </p:cNvSpPr>
          <p:nvPr>
            <p:ph sz="half" idx="1"/>
          </p:nvPr>
        </p:nvSpPr>
        <p:spPr/>
        <p:txBody>
          <a:bodyPr>
            <a:normAutofit fontScale="92500" lnSpcReduction="20000"/>
          </a:bodyPr>
          <a:lstStyle/>
          <a:p>
            <a:r>
              <a:rPr lang="en-US"/>
              <a:t>Classified cylinders using a letter code</a:t>
            </a:r>
          </a:p>
          <a:p>
            <a:r>
              <a:rPr lang="en-US"/>
              <a:t>A begin the smallest</a:t>
            </a:r>
          </a:p>
          <a:p>
            <a:r>
              <a:rPr lang="en-US"/>
              <a:t>E is the cylinder most commonly used on anesthesia machines.</a:t>
            </a:r>
          </a:p>
          <a:p>
            <a:r>
              <a:rPr lang="en-US"/>
              <a:t>The volume and pressure of gas in a particular size cylinder vary.</a:t>
            </a:r>
          </a:p>
          <a:p>
            <a:r>
              <a:rPr lang="en-US"/>
              <a:t>O2 and air are similar in volumes and pressures.</a:t>
            </a:r>
          </a:p>
          <a:p>
            <a:r>
              <a:rPr lang="en-US"/>
              <a:t>True for CO2 and N2O.</a:t>
            </a:r>
          </a:p>
        </p:txBody>
      </p:sp>
      <p:sp>
        <p:nvSpPr>
          <p:cNvPr id="7" name="Content Placeholder 6"/>
          <p:cNvSpPr>
            <a:spLocks noGrp="1"/>
          </p:cNvSpPr>
          <p:nvPr>
            <p:ph sz="half" idx="2"/>
          </p:nvPr>
        </p:nvSpPr>
        <p:spPr/>
        <p:txBody>
          <a:bodyPr>
            <a:normAutofit fontScale="92500" lnSpcReduction="20000"/>
          </a:bodyPr>
          <a:lstStyle/>
          <a:p>
            <a:endParaRPr lang="en-US"/>
          </a:p>
        </p:txBody>
      </p:sp>
      <p:graphicFrame>
        <p:nvGraphicFramePr>
          <p:cNvPr id="4" name="Table 3"/>
          <p:cNvGraphicFramePr>
            <a:graphicFrameLocks noGrp="1"/>
          </p:cNvGraphicFramePr>
          <p:nvPr/>
        </p:nvGraphicFramePr>
        <p:xfrm>
          <a:off x="4629150" y="1714500"/>
          <a:ext cx="3714750" cy="4267200"/>
        </p:xfrm>
        <a:graphic>
          <a:graphicData uri="http://schemas.openxmlformats.org/drawingml/2006/table">
            <a:tbl>
              <a:tblPr>
                <a:tableStyleId>{69C7853C-536D-4A76-A0AE-DD22124D55A5}</a:tableStyleId>
              </a:tblPr>
              <a:tblGrid>
                <a:gridCol w="1316560">
                  <a:extLst>
                    <a:ext uri="{9D8B030D-6E8A-4147-A177-3AD203B41FA5}">
                      <a16:colId xmlns:a16="http://schemas.microsoft.com/office/drawing/2014/main" val="20000"/>
                    </a:ext>
                  </a:extLst>
                </a:gridCol>
                <a:gridCol w="985450">
                  <a:extLst>
                    <a:ext uri="{9D8B030D-6E8A-4147-A177-3AD203B41FA5}">
                      <a16:colId xmlns:a16="http://schemas.microsoft.com/office/drawing/2014/main" val="20001"/>
                    </a:ext>
                  </a:extLst>
                </a:gridCol>
                <a:gridCol w="1412740">
                  <a:extLst>
                    <a:ext uri="{9D8B030D-6E8A-4147-A177-3AD203B41FA5}">
                      <a16:colId xmlns:a16="http://schemas.microsoft.com/office/drawing/2014/main" val="20002"/>
                    </a:ext>
                  </a:extLst>
                </a:gridCol>
              </a:tblGrid>
              <a:tr h="711200">
                <a:tc>
                  <a:txBody>
                    <a:bodyPr/>
                    <a:lstStyle/>
                    <a:p>
                      <a:pPr marL="0" marR="0" algn="just">
                        <a:lnSpc>
                          <a:spcPct val="150000"/>
                        </a:lnSpc>
                        <a:spcBef>
                          <a:spcPts val="0"/>
                        </a:spcBef>
                        <a:spcAft>
                          <a:spcPts val="0"/>
                        </a:spcAft>
                      </a:pPr>
                      <a:r>
                        <a:rPr lang="en-US" sz="1400"/>
                        <a:t>Cylinder size </a:t>
                      </a:r>
                      <a:endParaRPr lang="en-US" sz="1600" b="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Capacity </a:t>
                      </a:r>
                      <a:endParaRPr lang="en-US" sz="1600" b="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Pressure/psig </a:t>
                      </a:r>
                      <a:endParaRPr lang="en-US" sz="1600" b="0">
                        <a:latin typeface="Times New Roman"/>
                        <a:ea typeface="Times New Roman"/>
                      </a:endParaRPr>
                    </a:p>
                  </a:txBody>
                  <a:tcPr marL="68580" marR="68580" marT="0" marB="0"/>
                </a:tc>
                <a:extLst>
                  <a:ext uri="{0D108BD9-81ED-4DB2-BD59-A6C34878D82A}">
                    <a16:rowId xmlns:a16="http://schemas.microsoft.com/office/drawing/2014/main" val="10000"/>
                  </a:ext>
                </a:extLst>
              </a:tr>
              <a:tr h="711200">
                <a:tc>
                  <a:txBody>
                    <a:bodyPr/>
                    <a:lstStyle/>
                    <a:p>
                      <a:pPr marL="0" marR="0" algn="just">
                        <a:lnSpc>
                          <a:spcPct val="150000"/>
                        </a:lnSpc>
                        <a:spcBef>
                          <a:spcPts val="0"/>
                        </a:spcBef>
                        <a:spcAft>
                          <a:spcPts val="0"/>
                        </a:spcAft>
                      </a:pPr>
                      <a:r>
                        <a:rPr lang="en-US" sz="1400"/>
                        <a:t>B</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200</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1900</a:t>
                      </a:r>
                      <a:endParaRPr lang="en-US" sz="1600">
                        <a:latin typeface="Times New Roman"/>
                        <a:ea typeface="Times New Roman"/>
                      </a:endParaRPr>
                    </a:p>
                  </a:txBody>
                  <a:tcPr marL="68580" marR="68580" marT="0" marB="0"/>
                </a:tc>
                <a:extLst>
                  <a:ext uri="{0D108BD9-81ED-4DB2-BD59-A6C34878D82A}">
                    <a16:rowId xmlns:a16="http://schemas.microsoft.com/office/drawing/2014/main" val="10001"/>
                  </a:ext>
                </a:extLst>
              </a:tr>
              <a:tr h="711200">
                <a:tc>
                  <a:txBody>
                    <a:bodyPr/>
                    <a:lstStyle/>
                    <a:p>
                      <a:pPr marL="0" marR="0" algn="just">
                        <a:lnSpc>
                          <a:spcPct val="150000"/>
                        </a:lnSpc>
                        <a:spcBef>
                          <a:spcPts val="0"/>
                        </a:spcBef>
                        <a:spcAft>
                          <a:spcPts val="0"/>
                        </a:spcAft>
                      </a:pPr>
                      <a:r>
                        <a:rPr lang="en-US" sz="1400"/>
                        <a:t>D</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400</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1900</a:t>
                      </a:r>
                      <a:endParaRPr lang="en-US" sz="1600">
                        <a:latin typeface="Times New Roman"/>
                        <a:ea typeface="Times New Roman"/>
                      </a:endParaRPr>
                    </a:p>
                  </a:txBody>
                  <a:tcPr marL="68580" marR="68580" marT="0" marB="0"/>
                </a:tc>
                <a:extLst>
                  <a:ext uri="{0D108BD9-81ED-4DB2-BD59-A6C34878D82A}">
                    <a16:rowId xmlns:a16="http://schemas.microsoft.com/office/drawing/2014/main" val="10002"/>
                  </a:ext>
                </a:extLst>
              </a:tr>
              <a:tr h="711200">
                <a:tc>
                  <a:txBody>
                    <a:bodyPr/>
                    <a:lstStyle/>
                    <a:p>
                      <a:pPr marL="0" marR="0" algn="just">
                        <a:lnSpc>
                          <a:spcPct val="150000"/>
                        </a:lnSpc>
                        <a:spcBef>
                          <a:spcPts val="0"/>
                        </a:spcBef>
                        <a:spcAft>
                          <a:spcPts val="0"/>
                        </a:spcAft>
                      </a:pPr>
                      <a:r>
                        <a:rPr lang="en-US" sz="1400"/>
                        <a:t>E</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660</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1900</a:t>
                      </a:r>
                      <a:endParaRPr lang="en-US" sz="1600">
                        <a:latin typeface="Times New Roman"/>
                        <a:ea typeface="Times New Roman"/>
                      </a:endParaRPr>
                    </a:p>
                  </a:txBody>
                  <a:tcPr marL="68580" marR="68580" marT="0" marB="0"/>
                </a:tc>
                <a:extLst>
                  <a:ext uri="{0D108BD9-81ED-4DB2-BD59-A6C34878D82A}">
                    <a16:rowId xmlns:a16="http://schemas.microsoft.com/office/drawing/2014/main" val="10003"/>
                  </a:ext>
                </a:extLst>
              </a:tr>
              <a:tr h="711200">
                <a:tc>
                  <a:txBody>
                    <a:bodyPr/>
                    <a:lstStyle/>
                    <a:p>
                      <a:pPr marL="0" marR="0" algn="just">
                        <a:lnSpc>
                          <a:spcPct val="150000"/>
                        </a:lnSpc>
                        <a:spcBef>
                          <a:spcPts val="0"/>
                        </a:spcBef>
                        <a:spcAft>
                          <a:spcPts val="0"/>
                        </a:spcAft>
                      </a:pPr>
                      <a:r>
                        <a:rPr lang="en-US" sz="1400"/>
                        <a:t>M</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3450</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2200</a:t>
                      </a:r>
                      <a:endParaRPr lang="en-US" sz="1600">
                        <a:latin typeface="Times New Roman"/>
                        <a:ea typeface="Times New Roman"/>
                      </a:endParaRPr>
                    </a:p>
                  </a:txBody>
                  <a:tcPr marL="68580" marR="68580" marT="0" marB="0"/>
                </a:tc>
                <a:extLst>
                  <a:ext uri="{0D108BD9-81ED-4DB2-BD59-A6C34878D82A}">
                    <a16:rowId xmlns:a16="http://schemas.microsoft.com/office/drawing/2014/main" val="10004"/>
                  </a:ext>
                </a:extLst>
              </a:tr>
              <a:tr h="711200">
                <a:tc>
                  <a:txBody>
                    <a:bodyPr/>
                    <a:lstStyle/>
                    <a:p>
                      <a:pPr marL="0" marR="0" algn="just">
                        <a:lnSpc>
                          <a:spcPct val="150000"/>
                        </a:lnSpc>
                        <a:spcBef>
                          <a:spcPts val="0"/>
                        </a:spcBef>
                        <a:spcAft>
                          <a:spcPts val="0"/>
                        </a:spcAft>
                      </a:pPr>
                      <a:r>
                        <a:rPr lang="en-US" sz="1400"/>
                        <a:t>H</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6900</a:t>
                      </a:r>
                      <a:endParaRPr lang="en-US" sz="160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a:t>2200</a:t>
                      </a:r>
                      <a:endParaRPr lang="en-US" sz="1600">
                        <a:latin typeface="Times New Roman"/>
                        <a:ea typeface="Times New Roman"/>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linds(horizontal)">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nodeType="clickEffect">
                                  <p:stCondLst>
                                    <p:cond delay="0"/>
                                  </p:stCondLst>
                                  <p:childTnLst>
                                    <p:animEffect transition="out" filter="blinds(horizontal)">
                                      <p:cBhvr>
                                        <p:cTn id="24" dur="500"/>
                                        <p:tgtEl>
                                          <p:spTgt spid="3">
                                            <p:txEl>
                                              <p:pRg st="1" end="1"/>
                                            </p:txEl>
                                          </p:spTgt>
                                        </p:tgtEl>
                                      </p:cBhvr>
                                    </p:animEffect>
                                    <p:set>
                                      <p:cBhvr>
                                        <p:cTn id="25" dur="1" fill="hold">
                                          <p:stCondLst>
                                            <p:cond delay="499"/>
                                          </p:stCondLst>
                                        </p:cTn>
                                        <p:tgtEl>
                                          <p:spTgt spid="3">
                                            <p:txEl>
                                              <p:pRg st="1" end="1"/>
                                            </p:txEl>
                                          </p:spTgt>
                                        </p:tgtEl>
                                        <p:attrNameLst>
                                          <p:attrName>style.visibility</p:attrName>
                                        </p:attrNameLst>
                                      </p:cBhvr>
                                      <p:to>
                                        <p:strVal val="hidden"/>
                                      </p:to>
                                    </p:set>
                                  </p:childTnLst>
                                </p:cTn>
                              </p:par>
                              <p:par>
                                <p:cTn id="26" presetID="3" presetClass="entr" presetSubtype="10" fill="hold" nodeType="with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blinds(horizontal)">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xit" presetSubtype="10" fill="hold" nodeType="clickEffect">
                                  <p:stCondLst>
                                    <p:cond delay="0"/>
                                  </p:stCondLst>
                                  <p:childTnLst>
                                    <p:animEffect transition="out" filter="blinds(horizontal)">
                                      <p:cBhvr>
                                        <p:cTn id="32" dur="500"/>
                                        <p:tgtEl>
                                          <p:spTgt spid="3">
                                            <p:txEl>
                                              <p:pRg st="2" end="2"/>
                                            </p:txEl>
                                          </p:spTgt>
                                        </p:tgtEl>
                                      </p:cBhvr>
                                    </p:animEffect>
                                    <p:set>
                                      <p:cBhvr>
                                        <p:cTn id="33" dur="1" fill="hold">
                                          <p:stCondLst>
                                            <p:cond delay="499"/>
                                          </p:stCondLst>
                                        </p:cTn>
                                        <p:tgtEl>
                                          <p:spTgt spid="3">
                                            <p:txEl>
                                              <p:pRg st="2" end="2"/>
                                            </p:txEl>
                                          </p:spTgt>
                                        </p:tgtEl>
                                        <p:attrNameLst>
                                          <p:attrName>style.visibility</p:attrName>
                                        </p:attrNameLst>
                                      </p:cBhvr>
                                      <p:to>
                                        <p:strVal val="hidden"/>
                                      </p:to>
                                    </p:set>
                                  </p:childTnLst>
                                </p:cTn>
                              </p:par>
                              <p:par>
                                <p:cTn id="34" presetID="3" presetClass="entr" presetSubtype="10" fill="hold" nodeType="with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blinds(horizontal)">
                                      <p:cBhvr>
                                        <p:cTn id="36" dur="500"/>
                                        <p:tgtEl>
                                          <p:spTgt spid="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xit" presetSubtype="10" fill="hold" nodeType="clickEffect">
                                  <p:stCondLst>
                                    <p:cond delay="0"/>
                                  </p:stCondLst>
                                  <p:childTnLst>
                                    <p:animEffect transition="out" filter="blinds(horizontal)">
                                      <p:cBhvr>
                                        <p:cTn id="40" dur="500"/>
                                        <p:tgtEl>
                                          <p:spTgt spid="3">
                                            <p:txEl>
                                              <p:pRg st="3" end="3"/>
                                            </p:txEl>
                                          </p:spTgt>
                                        </p:tgtEl>
                                      </p:cBhvr>
                                    </p:animEffect>
                                    <p:set>
                                      <p:cBhvr>
                                        <p:cTn id="41" dur="1" fill="hold">
                                          <p:stCondLst>
                                            <p:cond delay="499"/>
                                          </p:stCondLst>
                                        </p:cTn>
                                        <p:tgtEl>
                                          <p:spTgt spid="3">
                                            <p:txEl>
                                              <p:pRg st="3" end="3"/>
                                            </p:txEl>
                                          </p:spTgt>
                                        </p:tgtEl>
                                        <p:attrNameLst>
                                          <p:attrName>style.visibility</p:attrName>
                                        </p:attrNameLst>
                                      </p:cBhvr>
                                      <p:to>
                                        <p:strVal val="hidden"/>
                                      </p:to>
                                    </p:set>
                                  </p:childTnLst>
                                </p:cTn>
                              </p:par>
                              <p:par>
                                <p:cTn id="42" presetID="3" presetClass="entr" presetSubtype="10" fill="hold" nodeType="with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animEffect transition="in" filter="blinds(horizontal)">
                                      <p:cBhvr>
                                        <p:cTn id="44" dur="500"/>
                                        <p:tgtEl>
                                          <p:spTgt spid="3">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nodeType="clickEffect">
                                  <p:stCondLst>
                                    <p:cond delay="0"/>
                                  </p:stCondLst>
                                  <p:childTnLst>
                                    <p:animEffect transition="out" filter="blinds(horizontal)">
                                      <p:cBhvr>
                                        <p:cTn id="48" dur="500"/>
                                        <p:tgtEl>
                                          <p:spTgt spid="3">
                                            <p:txEl>
                                              <p:pRg st="4" end="4"/>
                                            </p:txEl>
                                          </p:spTgt>
                                        </p:tgtEl>
                                      </p:cBhvr>
                                    </p:animEffect>
                                    <p:set>
                                      <p:cBhvr>
                                        <p:cTn id="49" dur="1" fill="hold">
                                          <p:stCondLst>
                                            <p:cond delay="499"/>
                                          </p:stCondLst>
                                        </p:cTn>
                                        <p:tgtEl>
                                          <p:spTgt spid="3">
                                            <p:txEl>
                                              <p:pRg st="4" end="4"/>
                                            </p:txEl>
                                          </p:spTgt>
                                        </p:tgtEl>
                                        <p:attrNameLst>
                                          <p:attrName>style.visibility</p:attrName>
                                        </p:attrNameLst>
                                      </p:cBhvr>
                                      <p:to>
                                        <p:strVal val="hidden"/>
                                      </p:to>
                                    </p:set>
                                  </p:childTnLst>
                                </p:cTn>
                              </p:par>
                              <p:par>
                                <p:cTn id="50" presetID="3" presetClass="entr" presetSubtype="10" fill="hold" nodeType="with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Effect transition="in" filter="blinds(horizontal)">
                                      <p:cBhvr>
                                        <p:cTn id="5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0386D84E-6CAB-65CE-AAEB-EBB300112B5C}"/>
              </a:ext>
            </a:extLst>
          </p:cNvPr>
          <p:cNvPicPr>
            <a:picLocks noChangeAspect="1"/>
          </p:cNvPicPr>
          <p:nvPr/>
        </p:nvPicPr>
        <p:blipFill rotWithShape="1">
          <a:blip r:embed="rId3"/>
          <a:srcRect t="6039" r="19394" b="3051"/>
          <a:stretch/>
        </p:blipFill>
        <p:spPr>
          <a:xfrm>
            <a:off x="20" y="10"/>
            <a:ext cx="9143980" cy="6857990"/>
          </a:xfrm>
          <a:prstGeom prst="rect">
            <a:avLst/>
          </a:prstGeom>
        </p:spPr>
      </p:pic>
      <p:sp>
        <p:nvSpPr>
          <p:cNvPr id="93" name="Rectangle 92">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2663" y="321176"/>
            <a:ext cx="5398329"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6103" y="640263"/>
            <a:ext cx="4964858" cy="1344975"/>
          </a:xfrm>
        </p:spPr>
        <p:txBody>
          <a:bodyPr vert="horz" lIns="91440" tIns="45720" rIns="91440" bIns="45720" rtlCol="0" anchor="ctr">
            <a:normAutofit/>
          </a:bodyPr>
          <a:lstStyle/>
          <a:p>
            <a:r>
              <a:rPr lang="en-US" sz="3500"/>
              <a:t>Contents and pressure</a:t>
            </a:r>
          </a:p>
        </p:txBody>
      </p:sp>
      <p:sp>
        <p:nvSpPr>
          <p:cNvPr id="11" name="Content Placeholder 10">
            <a:extLst>
              <a:ext uri="{FF2B5EF4-FFF2-40B4-BE49-F238E27FC236}">
                <a16:creationId xmlns:a16="http://schemas.microsoft.com/office/drawing/2014/main" id="{5E1E6A6E-7A13-1268-8893-775546242BB2}"/>
              </a:ext>
            </a:extLst>
          </p:cNvPr>
          <p:cNvSpPr>
            <a:spLocks noGrp="1"/>
          </p:cNvSpPr>
          <p:nvPr>
            <p:ph sz="half" idx="1"/>
          </p:nvPr>
        </p:nvSpPr>
        <p:spPr>
          <a:xfrm>
            <a:off x="445581" y="2121763"/>
            <a:ext cx="4965379" cy="3773010"/>
          </a:xfrm>
        </p:spPr>
        <p:txBody>
          <a:bodyPr vert="horz" lIns="91440" tIns="45720" rIns="91440" bIns="45720" rtlCol="0">
            <a:normAutofit/>
          </a:bodyPr>
          <a:lstStyle/>
          <a:p>
            <a:r>
              <a:rPr lang="en-US" sz="2100"/>
              <a:t>In cylinder containing a non liquefied gas the pressure declines steadily as the contents are withdrawn, therefore, the pressure can be used to measure the cylinder contents. </a:t>
            </a:r>
          </a:p>
          <a:p>
            <a:r>
              <a:rPr lang="en-US" sz="2100"/>
              <a:t>In cylinder containing a liquefied gas, the pressure depends on the vapor pressure of the liquid and is not an indication of the amount of gas remaining in the cylinder as long as the contents are partly in the liquid phase.</a:t>
            </a:r>
          </a:p>
        </p:txBody>
      </p:sp>
    </p:spTree>
    <p:extLst>
      <p:ext uri="{BB962C8B-B14F-4D97-AF65-F5344CB8AC3E}">
        <p14:creationId xmlns:p14="http://schemas.microsoft.com/office/powerpoint/2010/main" val="23165960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C:\Documents and Settings\User\Desktop\New Picture (1).bmp"/>
          <p:cNvPicPr/>
          <p:nvPr/>
        </p:nvPicPr>
        <p:blipFill>
          <a:blip r:embed="rId3" cstate="print"/>
          <a:srcRect/>
          <a:stretch>
            <a:fillRect/>
          </a:stretch>
        </p:blipFill>
        <p:spPr bwMode="auto">
          <a:xfrm>
            <a:off x="514350" y="400050"/>
            <a:ext cx="7886700" cy="5924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Subtitle 2"/>
          <p:cNvSpPr>
            <a:spLocks noGrp="1"/>
          </p:cNvSpPr>
          <p:nvPr>
            <p:ph idx="1"/>
          </p:nvPr>
        </p:nvSpPr>
        <p:spPr/>
        <p:txBody>
          <a:bodyPr>
            <a:normAutofit fontScale="92500" lnSpcReduction="10000"/>
          </a:bodyPr>
          <a:lstStyle/>
          <a:p>
            <a:pPr lvl="0"/>
            <a:r>
              <a:rPr lang="en-US"/>
              <a:t>A: A gas stored partially in liquid form, such as nitrous oxide, will show a constant pressure (assuming constant temperature) until all the liquid has evaporated, at which time the pressure will drop in direct proportion to the rate at which gas is withdrawn. </a:t>
            </a:r>
          </a:p>
          <a:p>
            <a:pPr lvl="0"/>
            <a:r>
              <a:rPr lang="en-US"/>
              <a:t>B: A nonliquefied gas such as oxygen will show a steady decline in pressure until the cylinder is evacuated. Each cylinder, however, will show a steady decline in weight as gas is discharged.</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Testing</a:t>
            </a:r>
          </a:p>
        </p:txBody>
      </p:sp>
      <p:sp>
        <p:nvSpPr>
          <p:cNvPr id="3" name="Subtitle 2"/>
          <p:cNvSpPr>
            <a:spLocks noGrp="1"/>
          </p:cNvSpPr>
          <p:nvPr>
            <p:ph idx="1"/>
          </p:nvPr>
        </p:nvSpPr>
        <p:spPr/>
        <p:txBody>
          <a:bodyPr>
            <a:normAutofit/>
          </a:bodyPr>
          <a:lstStyle/>
          <a:p>
            <a:r>
              <a:rPr lang="en-US"/>
              <a:t>A cylinder must be inspected and subjected to internal hydrostatic pressure testing at least every 5 years or with special permit up to every 10 years.</a:t>
            </a:r>
          </a:p>
          <a:p>
            <a:r>
              <a:rPr lang="en-US"/>
              <a:t>The test (month and year) must be permanently stamped.</a:t>
            </a:r>
          </a:p>
          <a:p>
            <a:r>
              <a:rPr lang="en-US"/>
              <a:t>A cylinder that leaks or expands more than the allowable limit must be rejected.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2170" y="856180"/>
            <a:ext cx="3420438" cy="1128068"/>
          </a:xfrm>
        </p:spPr>
        <p:txBody>
          <a:bodyPr anchor="ctr">
            <a:normAutofit/>
          </a:bodyPr>
          <a:lstStyle/>
          <a:p>
            <a:r>
              <a:rPr lang="en-US" sz="3500"/>
              <a:t>Color </a:t>
            </a:r>
          </a:p>
        </p:txBody>
      </p:sp>
      <p:grpSp>
        <p:nvGrpSpPr>
          <p:cNvPr id="19" name="Group 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266396" cy="673460"/>
            <a:chOff x="0" y="823811"/>
            <a:chExt cx="355196" cy="673460"/>
          </a:xfrm>
        </p:grpSpPr>
        <p:sp>
          <p:nvSpPr>
            <p:cNvPr id="20" name="Rectangle 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8813" y="2090569"/>
            <a:ext cx="32232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43039" y="2330505"/>
            <a:ext cx="3419569" cy="3979585"/>
          </a:xfrm>
        </p:spPr>
        <p:txBody>
          <a:bodyPr anchor="ctr">
            <a:normAutofit/>
          </a:bodyPr>
          <a:lstStyle/>
          <a:p>
            <a:r>
              <a:rPr lang="en-US" sz="1700"/>
              <a:t>Used as a means to aid in identifying gases in use.</a:t>
            </a:r>
          </a:p>
          <a:p>
            <a:r>
              <a:rPr lang="en-US" sz="1700"/>
              <a:t>The top and shoulder of each cylinder are painted the color assigned to the gas it contains.</a:t>
            </a:r>
          </a:p>
          <a:p>
            <a:r>
              <a:rPr lang="en-US" sz="1700"/>
              <a:t>An international color code has been adopted.</a:t>
            </a:r>
          </a:p>
          <a:p>
            <a:pPr lvl="0"/>
            <a:r>
              <a:rPr lang="en-US" sz="1700"/>
              <a:t>Is useful to identify the contents of a cylinder from a distance.</a:t>
            </a:r>
          </a:p>
          <a:p>
            <a:endParaRPr lang="en-US" sz="1700"/>
          </a:p>
          <a:p>
            <a:endParaRPr lang="en-US" sz="1700"/>
          </a:p>
        </p:txBody>
      </p:sp>
      <p:sp>
        <p:nvSpPr>
          <p:cNvPr id="25" name="Rectangle 2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513853"/>
            <a:ext cx="4507025"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descr="Shape, circle&#10;&#10;Description automatically generated">
            <a:extLst>
              <a:ext uri="{FF2B5EF4-FFF2-40B4-BE49-F238E27FC236}">
                <a16:creationId xmlns:a16="http://schemas.microsoft.com/office/drawing/2014/main" id="{98A2C633-9CE7-6CAD-0B9F-9EE25EB11A19}"/>
              </a:ext>
            </a:extLst>
          </p:cNvPr>
          <p:cNvPicPr>
            <a:picLocks noChangeAspect="1"/>
          </p:cNvPicPr>
          <p:nvPr/>
        </p:nvPicPr>
        <p:blipFill rotWithShape="1">
          <a:blip r:embed="rId2"/>
          <a:srcRect l="13428" r="35296"/>
          <a:stretch/>
        </p:blipFill>
        <p:spPr>
          <a:xfrm>
            <a:off x="4483341" y="799352"/>
            <a:ext cx="4069057" cy="525929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Color cont.</a:t>
            </a:r>
          </a:p>
        </p:txBody>
      </p:sp>
      <p:sp>
        <p:nvSpPr>
          <p:cNvPr id="12" name="Content Placeholder 11"/>
          <p:cNvSpPr>
            <a:spLocks noGrp="1"/>
          </p:cNvSpPr>
          <p:nvPr>
            <p:ph sz="half" idx="1"/>
          </p:nvPr>
        </p:nvSpPr>
        <p:spPr/>
        <p:txBody>
          <a:bodyPr/>
          <a:lstStyle/>
          <a:p>
            <a:pPr marL="395288" lvl="0" indent="-395288">
              <a:spcBef>
                <a:spcPct val="0"/>
              </a:spcBef>
            </a:pPr>
            <a:endParaRPr lang="en-US"/>
          </a:p>
          <a:p>
            <a:pPr marL="395288" indent="-395288">
              <a:spcBef>
                <a:spcPct val="0"/>
              </a:spcBef>
            </a:pPr>
            <a:r>
              <a:rPr lang="en-US"/>
              <a:t>Color should be not be used as the primary means for identification of  cylinder contents.</a:t>
            </a:r>
          </a:p>
          <a:p>
            <a:pPr marL="395288" indent="-395288">
              <a:spcBef>
                <a:spcPct val="0"/>
              </a:spcBef>
            </a:pPr>
            <a:r>
              <a:rPr lang="en-US"/>
              <a:t>Cylinder labels are the best method.</a:t>
            </a:r>
          </a:p>
          <a:p>
            <a:pPr lvl="0">
              <a:spcBef>
                <a:spcPct val="0"/>
              </a:spcBef>
              <a:buFont typeface="Courier New" pitchFamily="49" charset="0"/>
              <a:buChar char="o"/>
            </a:pPr>
            <a:endParaRPr lang="en-US" sz="1400">
              <a:solidFill>
                <a:srgbClr val="002060"/>
              </a:solidFill>
            </a:endParaRPr>
          </a:p>
          <a:p>
            <a:endParaRPr lang="en-US"/>
          </a:p>
        </p:txBody>
      </p:sp>
      <p:sp>
        <p:nvSpPr>
          <p:cNvPr id="13" name="Content Placeholder 12"/>
          <p:cNvSpPr>
            <a:spLocks noGrp="1"/>
          </p:cNvSpPr>
          <p:nvPr>
            <p:ph sz="half" idx="2"/>
          </p:nvPr>
        </p:nvSpPr>
        <p:spPr/>
        <p:txBody>
          <a:bodyPr/>
          <a:lstStyle/>
          <a:p>
            <a:endParaRPr lang="en-US"/>
          </a:p>
        </p:txBody>
      </p:sp>
      <p:graphicFrame>
        <p:nvGraphicFramePr>
          <p:cNvPr id="4" name="Table 3"/>
          <p:cNvGraphicFramePr>
            <a:graphicFrameLocks noGrp="1"/>
          </p:cNvGraphicFramePr>
          <p:nvPr/>
        </p:nvGraphicFramePr>
        <p:xfrm>
          <a:off x="4972050" y="2000252"/>
          <a:ext cx="3200400" cy="3371851"/>
        </p:xfrm>
        <a:graphic>
          <a:graphicData uri="http://schemas.openxmlformats.org/drawingml/2006/table">
            <a:tbl>
              <a:tblPr/>
              <a:tblGrid>
                <a:gridCol w="1269390">
                  <a:extLst>
                    <a:ext uri="{9D8B030D-6E8A-4147-A177-3AD203B41FA5}">
                      <a16:colId xmlns:a16="http://schemas.microsoft.com/office/drawing/2014/main" val="20000"/>
                    </a:ext>
                  </a:extLst>
                </a:gridCol>
                <a:gridCol w="1931010">
                  <a:extLst>
                    <a:ext uri="{9D8B030D-6E8A-4147-A177-3AD203B41FA5}">
                      <a16:colId xmlns:a16="http://schemas.microsoft.com/office/drawing/2014/main" val="20001"/>
                    </a:ext>
                  </a:extLst>
                </a:gridCol>
              </a:tblGrid>
              <a:tr h="481693">
                <a:tc>
                  <a:txBody>
                    <a:bodyPr/>
                    <a:lstStyle/>
                    <a:p>
                      <a:pPr marL="0" marR="0" algn="just">
                        <a:lnSpc>
                          <a:spcPct val="150000"/>
                        </a:lnSpc>
                        <a:spcBef>
                          <a:spcPts val="0"/>
                        </a:spcBef>
                        <a:spcAft>
                          <a:spcPts val="0"/>
                        </a:spcAft>
                      </a:pPr>
                      <a:r>
                        <a:rPr lang="en-US" sz="1200" b="1">
                          <a:solidFill>
                            <a:srgbClr val="000000"/>
                          </a:solidFill>
                          <a:latin typeface="Georgia"/>
                          <a:ea typeface="Times New Roman"/>
                          <a:cs typeface="Times New Roman"/>
                        </a:rPr>
                        <a:t>Gas</a:t>
                      </a:r>
                      <a:endParaRPr lang="en-US" sz="1400">
                        <a:solidFill>
                          <a:srgbClr val="000000"/>
                        </a:solidFill>
                        <a:latin typeface="Times New Roman"/>
                        <a:ea typeface="Times New Roman"/>
                        <a:cs typeface="Times New Roman"/>
                      </a:endParaRPr>
                    </a:p>
                  </a:txBody>
                  <a:tcPr marL="68580" marR="68580" marT="0" marB="0">
                    <a:lnL>
                      <a:noFill/>
                    </a:lnL>
                    <a:lnR>
                      <a:noFill/>
                    </a:lnR>
                    <a:lnT>
                      <a:noFill/>
                    </a:lnT>
                    <a:lnB w="38100" cap="flat" cmpd="sng" algn="ctr">
                      <a:solidFill>
                        <a:srgbClr val="4BACC6"/>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200" b="1">
                          <a:solidFill>
                            <a:srgbClr val="000000"/>
                          </a:solidFill>
                          <a:latin typeface="Georgia"/>
                          <a:ea typeface="Times New Roman"/>
                          <a:cs typeface="Times New Roman"/>
                        </a:rPr>
                        <a:t>International</a:t>
                      </a:r>
                      <a:endParaRPr lang="en-US" sz="1400">
                        <a:solidFill>
                          <a:srgbClr val="000000"/>
                        </a:solidFill>
                        <a:latin typeface="Times New Roman"/>
                        <a:ea typeface="Times New Roman"/>
                        <a:cs typeface="Times New Roman"/>
                      </a:endParaRPr>
                    </a:p>
                  </a:txBody>
                  <a:tcPr marL="68580" marR="68580" marT="0" marB="0">
                    <a:lnL>
                      <a:noFill/>
                    </a:lnL>
                    <a:lnR>
                      <a:noFill/>
                    </a:lnR>
                    <a:lnT>
                      <a:noFill/>
                    </a:lnT>
                    <a:lnB w="38100" cap="flat" cmpd="sng" algn="ctr">
                      <a:solidFill>
                        <a:srgbClr val="4BACC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81693">
                <a:tc>
                  <a:txBody>
                    <a:bodyPr/>
                    <a:lstStyle/>
                    <a:p>
                      <a:pPr marL="0" marR="0" algn="just">
                        <a:lnSpc>
                          <a:spcPct val="150000"/>
                        </a:lnSpc>
                        <a:spcBef>
                          <a:spcPts val="0"/>
                        </a:spcBef>
                        <a:spcAft>
                          <a:spcPts val="0"/>
                        </a:spcAft>
                      </a:pPr>
                      <a:r>
                        <a:rPr lang="en-US" sz="1400" b="1">
                          <a:solidFill>
                            <a:srgbClr val="000000"/>
                          </a:solidFill>
                          <a:latin typeface="Georgia"/>
                          <a:ea typeface="Times New Roman"/>
                          <a:cs typeface="Times New Roman"/>
                        </a:rPr>
                        <a:t>O2</a:t>
                      </a:r>
                      <a:endParaRPr lang="en-US" sz="1600">
                        <a:solidFill>
                          <a:srgbClr val="000000"/>
                        </a:solidFill>
                        <a:latin typeface="Times New Roman"/>
                        <a:ea typeface="Times New Roman"/>
                        <a:cs typeface="Times New Roman"/>
                      </a:endParaRPr>
                    </a:p>
                  </a:txBody>
                  <a:tcPr marL="68580" marR="68580" marT="0" marB="0">
                    <a:lnL>
                      <a:noFill/>
                    </a:lnL>
                    <a:lnR w="12700" cap="flat" cmpd="sng" algn="ctr">
                      <a:solidFill>
                        <a:srgbClr val="4BACC6"/>
                      </a:solidFill>
                      <a:prstDash val="solid"/>
                      <a:round/>
                      <a:headEnd type="none" w="med" len="med"/>
                      <a:tailEnd type="none" w="med" len="med"/>
                    </a:lnR>
                    <a:lnT w="38100" cap="flat" cmpd="sng" algn="ctr">
                      <a:solidFill>
                        <a:srgbClr val="4BACC6"/>
                      </a:solidFill>
                      <a:prstDash val="solid"/>
                      <a:round/>
                      <a:headEnd type="none" w="med" len="med"/>
                      <a:tailEnd type="none" w="med" len="med"/>
                    </a:lnT>
                    <a:lnB>
                      <a:noFill/>
                    </a:lnB>
                    <a:solidFill>
                      <a:srgbClr val="FFFFFF"/>
                    </a:solidFill>
                  </a:tcPr>
                </a:tc>
                <a:tc>
                  <a:txBody>
                    <a:bodyPr/>
                    <a:lstStyle/>
                    <a:p>
                      <a:pPr marL="0" marR="0" algn="just">
                        <a:lnSpc>
                          <a:spcPct val="150000"/>
                        </a:lnSpc>
                        <a:spcBef>
                          <a:spcPts val="0"/>
                        </a:spcBef>
                        <a:spcAft>
                          <a:spcPts val="0"/>
                        </a:spcAft>
                      </a:pPr>
                      <a:r>
                        <a:rPr lang="en-US" sz="1400">
                          <a:solidFill>
                            <a:srgbClr val="000000"/>
                          </a:solidFill>
                          <a:latin typeface="Georgia"/>
                          <a:ea typeface="Times New Roman"/>
                          <a:cs typeface="Times New Roman"/>
                        </a:rPr>
                        <a:t>White</a:t>
                      </a:r>
                      <a:endParaRPr lang="en-US" sz="1600">
                        <a:solidFill>
                          <a:srgbClr val="000000"/>
                        </a:solidFill>
                        <a:latin typeface="Times New Roman"/>
                        <a:ea typeface="Times New Roman"/>
                        <a:cs typeface="Times New Roman"/>
                      </a:endParaRPr>
                    </a:p>
                  </a:txBody>
                  <a:tcPr marL="68580" marR="68580" marT="0" marB="0">
                    <a:lnL w="12700" cap="flat" cmpd="sng" algn="ctr">
                      <a:solidFill>
                        <a:srgbClr val="4BACC6"/>
                      </a:solidFill>
                      <a:prstDash val="solid"/>
                      <a:round/>
                      <a:headEnd type="none" w="med" len="med"/>
                      <a:tailEnd type="none" w="med" len="med"/>
                    </a:lnL>
                    <a:lnR>
                      <a:noFill/>
                    </a:lnR>
                    <a:lnT w="38100" cap="flat" cmpd="sng" algn="ctr">
                      <a:solidFill>
                        <a:srgbClr val="4BACC6"/>
                      </a:solidFill>
                      <a:prstDash val="solid"/>
                      <a:round/>
                      <a:headEnd type="none" w="med" len="med"/>
                      <a:tailEnd type="none" w="med" len="med"/>
                    </a:lnT>
                    <a:lnB>
                      <a:noFill/>
                    </a:lnB>
                    <a:solidFill>
                      <a:srgbClr val="D2EAF1"/>
                    </a:solidFill>
                  </a:tcPr>
                </a:tc>
                <a:extLst>
                  <a:ext uri="{0D108BD9-81ED-4DB2-BD59-A6C34878D82A}">
                    <a16:rowId xmlns:a16="http://schemas.microsoft.com/office/drawing/2014/main" val="10001"/>
                  </a:ext>
                </a:extLst>
              </a:tr>
              <a:tr h="481693">
                <a:tc>
                  <a:txBody>
                    <a:bodyPr/>
                    <a:lstStyle/>
                    <a:p>
                      <a:pPr marL="0" marR="0" algn="just">
                        <a:lnSpc>
                          <a:spcPct val="150000"/>
                        </a:lnSpc>
                        <a:spcBef>
                          <a:spcPts val="0"/>
                        </a:spcBef>
                        <a:spcAft>
                          <a:spcPts val="0"/>
                        </a:spcAft>
                      </a:pPr>
                      <a:r>
                        <a:rPr lang="en-US" sz="1400" b="1">
                          <a:solidFill>
                            <a:srgbClr val="000000"/>
                          </a:solidFill>
                          <a:latin typeface="Georgia"/>
                          <a:ea typeface="Times New Roman"/>
                          <a:cs typeface="Times New Roman"/>
                        </a:rPr>
                        <a:t>CO2</a:t>
                      </a:r>
                      <a:endParaRPr lang="en-US" sz="1600">
                        <a:solidFill>
                          <a:srgbClr val="000000"/>
                        </a:solidFill>
                        <a:latin typeface="Times New Roman"/>
                        <a:ea typeface="Times New Roman"/>
                        <a:cs typeface="Times New Roman"/>
                      </a:endParaRPr>
                    </a:p>
                  </a:txBody>
                  <a:tcPr marL="68580" marR="68580" marT="0" marB="0">
                    <a:lnL>
                      <a:noFill/>
                    </a:lnL>
                    <a:lnR w="12700" cap="flat" cmpd="sng" algn="ctr">
                      <a:solidFill>
                        <a:srgbClr val="4BACC6"/>
                      </a:solidFill>
                      <a:prstDash val="solid"/>
                      <a:round/>
                      <a:headEnd type="none" w="med" len="med"/>
                      <a:tailEnd type="none" w="med" len="med"/>
                    </a:lnR>
                    <a:lnT>
                      <a:noFill/>
                    </a:lnT>
                    <a:lnB>
                      <a:noFill/>
                    </a:lnB>
                    <a:solidFill>
                      <a:srgbClr val="FFFFFF"/>
                    </a:solidFill>
                  </a:tcPr>
                </a:tc>
                <a:tc>
                  <a:txBody>
                    <a:bodyPr/>
                    <a:lstStyle/>
                    <a:p>
                      <a:pPr marL="0" marR="0" algn="just">
                        <a:lnSpc>
                          <a:spcPct val="150000"/>
                        </a:lnSpc>
                        <a:spcBef>
                          <a:spcPts val="0"/>
                        </a:spcBef>
                        <a:spcAft>
                          <a:spcPts val="0"/>
                        </a:spcAft>
                      </a:pPr>
                      <a:r>
                        <a:rPr lang="en-US" sz="1400">
                          <a:solidFill>
                            <a:srgbClr val="000000"/>
                          </a:solidFill>
                          <a:latin typeface="Georgia"/>
                          <a:ea typeface="Times New Roman"/>
                          <a:cs typeface="Times New Roman"/>
                        </a:rPr>
                        <a:t>Gray</a:t>
                      </a:r>
                      <a:endParaRPr lang="en-US" sz="1600">
                        <a:solidFill>
                          <a:srgbClr val="000000"/>
                        </a:solidFill>
                        <a:latin typeface="Times New Roman"/>
                        <a:ea typeface="Times New Roman"/>
                        <a:cs typeface="Times New Roman"/>
                      </a:endParaRPr>
                    </a:p>
                  </a:txBody>
                  <a:tcPr marL="68580" marR="68580" marT="0" marB="0">
                    <a:lnL w="12700" cap="flat" cmpd="sng" algn="ctr">
                      <a:solidFill>
                        <a:srgbClr val="4BACC6"/>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481693">
                <a:tc>
                  <a:txBody>
                    <a:bodyPr/>
                    <a:lstStyle/>
                    <a:p>
                      <a:pPr marL="0" marR="0" algn="just">
                        <a:lnSpc>
                          <a:spcPct val="150000"/>
                        </a:lnSpc>
                        <a:spcBef>
                          <a:spcPts val="0"/>
                        </a:spcBef>
                        <a:spcAft>
                          <a:spcPts val="0"/>
                        </a:spcAft>
                      </a:pPr>
                      <a:r>
                        <a:rPr lang="en-US" sz="1400" b="1">
                          <a:solidFill>
                            <a:srgbClr val="000000"/>
                          </a:solidFill>
                          <a:latin typeface="Georgia"/>
                          <a:ea typeface="Times New Roman"/>
                          <a:cs typeface="Times New Roman"/>
                        </a:rPr>
                        <a:t>N2O</a:t>
                      </a:r>
                      <a:endParaRPr lang="en-US" sz="1600">
                        <a:solidFill>
                          <a:srgbClr val="000000"/>
                        </a:solidFill>
                        <a:latin typeface="Times New Roman"/>
                        <a:ea typeface="Times New Roman"/>
                        <a:cs typeface="Times New Roman"/>
                      </a:endParaRPr>
                    </a:p>
                  </a:txBody>
                  <a:tcPr marL="68580" marR="68580" marT="0" marB="0">
                    <a:lnL>
                      <a:noFill/>
                    </a:lnL>
                    <a:lnR w="12700" cap="flat" cmpd="sng" algn="ctr">
                      <a:solidFill>
                        <a:srgbClr val="4BACC6"/>
                      </a:solidFill>
                      <a:prstDash val="solid"/>
                      <a:round/>
                      <a:headEnd type="none" w="med" len="med"/>
                      <a:tailEnd type="none" w="med" len="med"/>
                    </a:lnR>
                    <a:lnT>
                      <a:noFill/>
                    </a:lnT>
                    <a:lnB>
                      <a:noFill/>
                    </a:lnB>
                    <a:solidFill>
                      <a:srgbClr val="FFFFFF"/>
                    </a:solidFill>
                  </a:tcPr>
                </a:tc>
                <a:tc>
                  <a:txBody>
                    <a:bodyPr/>
                    <a:lstStyle/>
                    <a:p>
                      <a:pPr marL="0" marR="0" algn="just">
                        <a:lnSpc>
                          <a:spcPct val="150000"/>
                        </a:lnSpc>
                        <a:spcBef>
                          <a:spcPts val="0"/>
                        </a:spcBef>
                        <a:spcAft>
                          <a:spcPts val="0"/>
                        </a:spcAft>
                      </a:pPr>
                      <a:r>
                        <a:rPr lang="en-US" sz="1400">
                          <a:solidFill>
                            <a:srgbClr val="000000"/>
                          </a:solidFill>
                          <a:latin typeface="Georgia"/>
                          <a:ea typeface="Times New Roman"/>
                          <a:cs typeface="Times New Roman"/>
                        </a:rPr>
                        <a:t>Blue</a:t>
                      </a:r>
                      <a:endParaRPr lang="en-US" sz="1600">
                        <a:solidFill>
                          <a:srgbClr val="000000"/>
                        </a:solidFill>
                        <a:latin typeface="Times New Roman"/>
                        <a:ea typeface="Times New Roman"/>
                        <a:cs typeface="Times New Roman"/>
                      </a:endParaRPr>
                    </a:p>
                  </a:txBody>
                  <a:tcPr marL="68580" marR="68580" marT="0" marB="0">
                    <a:lnL w="12700" cap="flat" cmpd="sng" algn="ctr">
                      <a:solidFill>
                        <a:srgbClr val="4BACC6"/>
                      </a:solidFill>
                      <a:prstDash val="solid"/>
                      <a:round/>
                      <a:headEnd type="none" w="med" len="med"/>
                      <a:tailEnd type="none" w="med" len="med"/>
                    </a:lnL>
                    <a:lnR>
                      <a:noFill/>
                    </a:lnR>
                    <a:lnT>
                      <a:noFill/>
                    </a:lnT>
                    <a:lnB>
                      <a:noFill/>
                    </a:lnB>
                    <a:solidFill>
                      <a:srgbClr val="D2EAF1"/>
                    </a:solidFill>
                  </a:tcPr>
                </a:tc>
                <a:extLst>
                  <a:ext uri="{0D108BD9-81ED-4DB2-BD59-A6C34878D82A}">
                    <a16:rowId xmlns:a16="http://schemas.microsoft.com/office/drawing/2014/main" val="10003"/>
                  </a:ext>
                </a:extLst>
              </a:tr>
              <a:tr h="481693">
                <a:tc>
                  <a:txBody>
                    <a:bodyPr/>
                    <a:lstStyle/>
                    <a:p>
                      <a:pPr marL="0" marR="0" algn="just">
                        <a:lnSpc>
                          <a:spcPct val="150000"/>
                        </a:lnSpc>
                        <a:spcBef>
                          <a:spcPts val="0"/>
                        </a:spcBef>
                        <a:spcAft>
                          <a:spcPts val="0"/>
                        </a:spcAft>
                      </a:pPr>
                      <a:r>
                        <a:rPr lang="en-US" sz="1400" b="1">
                          <a:solidFill>
                            <a:srgbClr val="000000"/>
                          </a:solidFill>
                          <a:latin typeface="Georgia"/>
                          <a:ea typeface="Times New Roman"/>
                          <a:cs typeface="Times New Roman"/>
                        </a:rPr>
                        <a:t>He</a:t>
                      </a:r>
                      <a:endParaRPr lang="en-US" sz="1600">
                        <a:solidFill>
                          <a:srgbClr val="000000"/>
                        </a:solidFill>
                        <a:latin typeface="Times New Roman"/>
                        <a:ea typeface="Times New Roman"/>
                        <a:cs typeface="Times New Roman"/>
                      </a:endParaRPr>
                    </a:p>
                  </a:txBody>
                  <a:tcPr marL="68580" marR="68580" marT="0" marB="0">
                    <a:lnL>
                      <a:noFill/>
                    </a:lnL>
                    <a:lnR w="12700" cap="flat" cmpd="sng" algn="ctr">
                      <a:solidFill>
                        <a:srgbClr val="4BACC6"/>
                      </a:solidFill>
                      <a:prstDash val="solid"/>
                      <a:round/>
                      <a:headEnd type="none" w="med" len="med"/>
                      <a:tailEnd type="none" w="med" len="med"/>
                    </a:lnR>
                    <a:lnT>
                      <a:noFill/>
                    </a:lnT>
                    <a:lnB>
                      <a:noFill/>
                    </a:lnB>
                    <a:solidFill>
                      <a:srgbClr val="FFFFFF"/>
                    </a:solidFill>
                  </a:tcPr>
                </a:tc>
                <a:tc>
                  <a:txBody>
                    <a:bodyPr/>
                    <a:lstStyle/>
                    <a:p>
                      <a:pPr marL="0" marR="0" algn="just">
                        <a:lnSpc>
                          <a:spcPct val="150000"/>
                        </a:lnSpc>
                        <a:spcBef>
                          <a:spcPts val="0"/>
                        </a:spcBef>
                        <a:spcAft>
                          <a:spcPts val="0"/>
                        </a:spcAft>
                      </a:pPr>
                      <a:r>
                        <a:rPr lang="en-US" sz="1400">
                          <a:solidFill>
                            <a:srgbClr val="000000"/>
                          </a:solidFill>
                          <a:latin typeface="Georgia"/>
                          <a:ea typeface="Times New Roman"/>
                          <a:cs typeface="Times New Roman"/>
                        </a:rPr>
                        <a:t>Brown</a:t>
                      </a:r>
                      <a:endParaRPr lang="en-US" sz="1600">
                        <a:solidFill>
                          <a:srgbClr val="000000"/>
                        </a:solidFill>
                        <a:latin typeface="Times New Roman"/>
                        <a:ea typeface="Times New Roman"/>
                        <a:cs typeface="Times New Roman"/>
                      </a:endParaRPr>
                    </a:p>
                  </a:txBody>
                  <a:tcPr marL="68580" marR="68580" marT="0" marB="0">
                    <a:lnL w="12700" cap="flat" cmpd="sng" algn="ctr">
                      <a:solidFill>
                        <a:srgbClr val="4BACC6"/>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481693">
                <a:tc>
                  <a:txBody>
                    <a:bodyPr/>
                    <a:lstStyle/>
                    <a:p>
                      <a:pPr marL="0" marR="0" algn="just">
                        <a:lnSpc>
                          <a:spcPct val="150000"/>
                        </a:lnSpc>
                        <a:spcBef>
                          <a:spcPts val="0"/>
                        </a:spcBef>
                        <a:spcAft>
                          <a:spcPts val="0"/>
                        </a:spcAft>
                      </a:pPr>
                      <a:r>
                        <a:rPr lang="en-US" sz="1400" b="1">
                          <a:solidFill>
                            <a:srgbClr val="000000"/>
                          </a:solidFill>
                          <a:latin typeface="Georgia"/>
                          <a:ea typeface="Times New Roman"/>
                          <a:cs typeface="Times New Roman"/>
                        </a:rPr>
                        <a:t>N2</a:t>
                      </a:r>
                      <a:endParaRPr lang="en-US" sz="1600">
                        <a:solidFill>
                          <a:srgbClr val="000000"/>
                        </a:solidFill>
                        <a:latin typeface="Times New Roman"/>
                        <a:ea typeface="Times New Roman"/>
                        <a:cs typeface="Times New Roman"/>
                      </a:endParaRPr>
                    </a:p>
                  </a:txBody>
                  <a:tcPr marL="68580" marR="68580" marT="0" marB="0">
                    <a:lnL>
                      <a:noFill/>
                    </a:lnL>
                    <a:lnR w="12700" cap="flat" cmpd="sng" algn="ctr">
                      <a:solidFill>
                        <a:srgbClr val="4BACC6"/>
                      </a:solidFill>
                      <a:prstDash val="solid"/>
                      <a:round/>
                      <a:headEnd type="none" w="med" len="med"/>
                      <a:tailEnd type="none" w="med" len="med"/>
                    </a:lnR>
                    <a:lnT>
                      <a:noFill/>
                    </a:lnT>
                    <a:lnB>
                      <a:noFill/>
                    </a:lnB>
                    <a:solidFill>
                      <a:srgbClr val="FFFFFF"/>
                    </a:solidFill>
                  </a:tcPr>
                </a:tc>
                <a:tc>
                  <a:txBody>
                    <a:bodyPr/>
                    <a:lstStyle/>
                    <a:p>
                      <a:pPr marL="0" marR="0" algn="just">
                        <a:lnSpc>
                          <a:spcPct val="150000"/>
                        </a:lnSpc>
                        <a:spcBef>
                          <a:spcPts val="0"/>
                        </a:spcBef>
                        <a:spcAft>
                          <a:spcPts val="0"/>
                        </a:spcAft>
                      </a:pPr>
                      <a:r>
                        <a:rPr lang="en-US" sz="1400">
                          <a:solidFill>
                            <a:srgbClr val="000000"/>
                          </a:solidFill>
                          <a:latin typeface="Georgia"/>
                          <a:ea typeface="Times New Roman"/>
                          <a:cs typeface="Times New Roman"/>
                        </a:rPr>
                        <a:t>Black</a:t>
                      </a:r>
                      <a:endParaRPr lang="en-US" sz="1600">
                        <a:solidFill>
                          <a:srgbClr val="000000"/>
                        </a:solidFill>
                        <a:latin typeface="Times New Roman"/>
                        <a:ea typeface="Times New Roman"/>
                        <a:cs typeface="Times New Roman"/>
                      </a:endParaRPr>
                    </a:p>
                  </a:txBody>
                  <a:tcPr marL="68580" marR="68580" marT="0" marB="0">
                    <a:lnL w="12700" cap="flat" cmpd="sng" algn="ctr">
                      <a:solidFill>
                        <a:srgbClr val="4BACC6"/>
                      </a:solidFill>
                      <a:prstDash val="solid"/>
                      <a:round/>
                      <a:headEnd type="none" w="med" len="med"/>
                      <a:tailEnd type="none" w="med" len="med"/>
                    </a:lnL>
                    <a:lnR>
                      <a:noFill/>
                    </a:lnR>
                    <a:lnT>
                      <a:noFill/>
                    </a:lnT>
                    <a:lnB>
                      <a:noFill/>
                    </a:lnB>
                    <a:solidFill>
                      <a:srgbClr val="D2EAF1"/>
                    </a:solidFill>
                  </a:tcPr>
                </a:tc>
                <a:extLst>
                  <a:ext uri="{0D108BD9-81ED-4DB2-BD59-A6C34878D82A}">
                    <a16:rowId xmlns:a16="http://schemas.microsoft.com/office/drawing/2014/main" val="10005"/>
                  </a:ext>
                </a:extLst>
              </a:tr>
              <a:tr h="481693">
                <a:tc>
                  <a:txBody>
                    <a:bodyPr/>
                    <a:lstStyle/>
                    <a:p>
                      <a:pPr marL="0" marR="0" algn="just">
                        <a:lnSpc>
                          <a:spcPct val="150000"/>
                        </a:lnSpc>
                        <a:spcBef>
                          <a:spcPts val="0"/>
                        </a:spcBef>
                        <a:spcAft>
                          <a:spcPts val="0"/>
                        </a:spcAft>
                      </a:pPr>
                      <a:r>
                        <a:rPr lang="en-US" sz="1400" b="1">
                          <a:solidFill>
                            <a:srgbClr val="000000"/>
                          </a:solidFill>
                          <a:latin typeface="Georgia"/>
                          <a:ea typeface="Times New Roman"/>
                          <a:cs typeface="Times New Roman"/>
                        </a:rPr>
                        <a:t>Air</a:t>
                      </a:r>
                      <a:endParaRPr lang="en-US" sz="1600">
                        <a:solidFill>
                          <a:srgbClr val="000000"/>
                        </a:solidFill>
                        <a:latin typeface="Times New Roman"/>
                        <a:ea typeface="Times New Roman"/>
                        <a:cs typeface="Times New Roman"/>
                      </a:endParaRPr>
                    </a:p>
                  </a:txBody>
                  <a:tcPr marL="68580" marR="68580" marT="0" marB="0">
                    <a:lnL>
                      <a:noFill/>
                    </a:lnL>
                    <a:lnR w="12700" cap="flat" cmpd="sng" algn="ctr">
                      <a:solidFill>
                        <a:srgbClr val="4BACC6"/>
                      </a:solidFill>
                      <a:prstDash val="solid"/>
                      <a:round/>
                      <a:headEnd type="none" w="med" len="med"/>
                      <a:tailEnd type="none" w="med" len="med"/>
                    </a:lnR>
                    <a:lnT>
                      <a:noFill/>
                    </a:lnT>
                    <a:lnB>
                      <a:noFill/>
                    </a:lnB>
                    <a:solidFill>
                      <a:srgbClr val="FFFFFF"/>
                    </a:solidFill>
                  </a:tcPr>
                </a:tc>
                <a:tc>
                  <a:txBody>
                    <a:bodyPr/>
                    <a:lstStyle/>
                    <a:p>
                      <a:pPr marL="0" marR="0" algn="just">
                        <a:lnSpc>
                          <a:spcPct val="150000"/>
                        </a:lnSpc>
                        <a:spcBef>
                          <a:spcPts val="0"/>
                        </a:spcBef>
                        <a:spcAft>
                          <a:spcPts val="0"/>
                        </a:spcAft>
                      </a:pPr>
                      <a:r>
                        <a:rPr lang="en-US" sz="1400">
                          <a:solidFill>
                            <a:srgbClr val="000000"/>
                          </a:solidFill>
                          <a:latin typeface="Georgia"/>
                          <a:ea typeface="Times New Roman"/>
                          <a:cs typeface="Times New Roman"/>
                        </a:rPr>
                        <a:t>White &amp; black</a:t>
                      </a:r>
                      <a:endParaRPr lang="en-US" sz="1600">
                        <a:solidFill>
                          <a:srgbClr val="000000"/>
                        </a:solidFill>
                        <a:latin typeface="Times New Roman"/>
                        <a:ea typeface="Times New Roman"/>
                        <a:cs typeface="Times New Roman"/>
                      </a:endParaRPr>
                    </a:p>
                  </a:txBody>
                  <a:tcPr marL="68580" marR="68580" marT="0" marB="0">
                    <a:lnL w="12700" cap="flat" cmpd="sng" algn="ctr">
                      <a:solidFill>
                        <a:srgbClr val="4BACC6"/>
                      </a:solidFill>
                      <a:prstDash val="solid"/>
                      <a:round/>
                      <a:headEnd type="none" w="med" len="med"/>
                      <a:tailEnd type="none" w="med" len="med"/>
                    </a:lnL>
                    <a:lnR>
                      <a:noFill/>
                    </a:lnR>
                    <a:lnT>
                      <a:noFill/>
                    </a:lnT>
                    <a:lnB w="12700" cap="flat" cmpd="sng" algn="ctr">
                      <a:solidFill>
                        <a:srgbClr val="4BACC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itle 1"/>
          <p:cNvSpPr txBox="1">
            <a:spLocks/>
          </p:cNvSpPr>
          <p:nvPr/>
        </p:nvSpPr>
        <p:spPr>
          <a:xfrm>
            <a:off x="990600" y="5029200"/>
            <a:ext cx="7010400" cy="1447800"/>
          </a:xfrm>
          <a:prstGeom prst="rect">
            <a:avLst/>
          </a:prstGeom>
        </p:spPr>
        <p:txBody>
          <a:bodyPr vert="horz" lIns="91440" tIns="45720" rIns="91440" bIns="45720" rtlCol="0" anchor="ctr">
            <a:noAutofit/>
          </a:bodyPr>
          <a:lstStyle/>
          <a:p>
            <a:pPr lvl="0">
              <a:spcBef>
                <a:spcPct val="0"/>
              </a:spcBef>
              <a:buFont typeface="Courier New" pitchFamily="49" charset="0"/>
              <a:buChar char="o"/>
            </a:pPr>
            <a:endParaRPr kumimoji="0" lang="en-US" sz="1100" b="0" i="0" u="none" strike="noStrike" kern="1200" cap="none" spc="0" normalizeH="0" baseline="0" noProof="0">
              <a:ln>
                <a:noFill/>
              </a:ln>
              <a:solidFill>
                <a:srgbClr val="00206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Tags</a:t>
            </a:r>
          </a:p>
        </p:txBody>
      </p:sp>
      <p:sp>
        <p:nvSpPr>
          <p:cNvPr id="3" name="Subtitle 2"/>
          <p:cNvSpPr>
            <a:spLocks noGrp="1"/>
          </p:cNvSpPr>
          <p:nvPr>
            <p:ph sz="half" idx="1"/>
          </p:nvPr>
        </p:nvSpPr>
        <p:spPr/>
        <p:txBody>
          <a:bodyPr>
            <a:normAutofit fontScale="77500" lnSpcReduction="20000"/>
          </a:bodyPr>
          <a:lstStyle/>
          <a:p>
            <a:r>
              <a:rPr lang="en-US"/>
              <a:t>It has three sections</a:t>
            </a:r>
          </a:p>
          <a:p>
            <a:pPr lvl="2"/>
            <a:r>
              <a:rPr lang="en-US"/>
              <a:t>EMPTY, </a:t>
            </a:r>
          </a:p>
          <a:p>
            <a:pPr lvl="2"/>
            <a:r>
              <a:rPr lang="en-US"/>
              <a:t>IN USE, and </a:t>
            </a:r>
          </a:p>
          <a:p>
            <a:pPr lvl="2"/>
            <a:r>
              <a:rPr lang="en-US"/>
              <a:t>FULL</a:t>
            </a:r>
          </a:p>
          <a:p>
            <a:r>
              <a:rPr lang="en-US"/>
              <a:t>When a cylinder is put into service, the FULL portion of the tag should be detached. When the cylinder is empty, the IN USE portion should be removed, leaving the EMPTY label.</a:t>
            </a:r>
          </a:p>
          <a:p>
            <a:r>
              <a:rPr lang="en-US"/>
              <a:t>Primarily a means of denoting the amount of cylinder contents, not an identification device.</a:t>
            </a:r>
          </a:p>
        </p:txBody>
      </p:sp>
      <p:sp>
        <p:nvSpPr>
          <p:cNvPr id="7" name="Content Placeholder 6"/>
          <p:cNvSpPr>
            <a:spLocks noGrp="1"/>
          </p:cNvSpPr>
          <p:nvPr>
            <p:ph sz="half" idx="2"/>
          </p:nvPr>
        </p:nvSpPr>
        <p:spPr/>
        <p:txBody>
          <a:bodyPr>
            <a:normAutofit fontScale="77500" lnSpcReduction="20000"/>
          </a:bodyPr>
          <a:lstStyle/>
          <a:p>
            <a:endParaRPr lang="en-US"/>
          </a:p>
        </p:txBody>
      </p:sp>
      <p:pic>
        <p:nvPicPr>
          <p:cNvPr id="4" name="Picture 3" descr="C:\Documents and Settings\User\Desktop\New Picture (2).bmp"/>
          <p:cNvPicPr/>
          <p:nvPr/>
        </p:nvPicPr>
        <p:blipFill>
          <a:blip r:embed="rId3" cstate="print"/>
          <a:srcRect/>
          <a:stretch>
            <a:fillRect/>
          </a:stretch>
        </p:blipFill>
        <p:spPr bwMode="auto">
          <a:xfrm>
            <a:off x="4686300" y="1771650"/>
            <a:ext cx="3714750" cy="42291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nodeType="clickEffect">
                                  <p:stCondLst>
                                    <p:cond delay="0"/>
                                  </p:stCondLst>
                                  <p:childTnLst>
                                    <p:animEffect transition="out" filter="blinds(horizontal)">
                                      <p:cBhvr>
                                        <p:cTn id="20" dur="500"/>
                                        <p:tgtEl>
                                          <p:spTgt spid="3">
                                            <p:txEl>
                                              <p:pRg st="0" end="0"/>
                                            </p:txEl>
                                          </p:spTgt>
                                        </p:tgtEl>
                                      </p:cBhvr>
                                    </p:animEffect>
                                    <p:set>
                                      <p:cBhvr>
                                        <p:cTn id="21" dur="1" fill="hold">
                                          <p:stCondLst>
                                            <p:cond delay="499"/>
                                          </p:stCondLst>
                                        </p:cTn>
                                        <p:tgtEl>
                                          <p:spTgt spid="3">
                                            <p:txEl>
                                              <p:pRg st="0" end="0"/>
                                            </p:txEl>
                                          </p:spTgt>
                                        </p:tgtEl>
                                        <p:attrNameLst>
                                          <p:attrName>style.visibility</p:attrName>
                                        </p:attrNameLst>
                                      </p:cBhvr>
                                      <p:to>
                                        <p:strVal val="hidden"/>
                                      </p:to>
                                    </p:set>
                                  </p:childTnLst>
                                </p:cTn>
                              </p:par>
                              <p:par>
                                <p:cTn id="22" presetID="3" presetClass="exit" presetSubtype="10" fill="hold" nodeType="withEffect">
                                  <p:stCondLst>
                                    <p:cond delay="0"/>
                                  </p:stCondLst>
                                  <p:childTnLst>
                                    <p:animEffect transition="out" filter="blinds(horizontal)">
                                      <p:cBhvr>
                                        <p:cTn id="23" dur="500"/>
                                        <p:tgtEl>
                                          <p:spTgt spid="3">
                                            <p:txEl>
                                              <p:pRg st="1" end="1"/>
                                            </p:txEl>
                                          </p:spTgt>
                                        </p:tgtEl>
                                      </p:cBhvr>
                                    </p:animEffect>
                                    <p:set>
                                      <p:cBhvr>
                                        <p:cTn id="24" dur="1" fill="hold">
                                          <p:stCondLst>
                                            <p:cond delay="499"/>
                                          </p:stCondLst>
                                        </p:cTn>
                                        <p:tgtEl>
                                          <p:spTgt spid="3">
                                            <p:txEl>
                                              <p:pRg st="1" end="1"/>
                                            </p:txEl>
                                          </p:spTgt>
                                        </p:tgtEl>
                                        <p:attrNameLst>
                                          <p:attrName>style.visibility</p:attrName>
                                        </p:attrNameLst>
                                      </p:cBhvr>
                                      <p:to>
                                        <p:strVal val="hidden"/>
                                      </p:to>
                                    </p:set>
                                  </p:childTnLst>
                                </p:cTn>
                              </p:par>
                              <p:par>
                                <p:cTn id="25" presetID="3" presetClass="exit" presetSubtype="10" fill="hold" nodeType="withEffect">
                                  <p:stCondLst>
                                    <p:cond delay="0"/>
                                  </p:stCondLst>
                                  <p:childTnLst>
                                    <p:animEffect transition="out" filter="blinds(horizontal)">
                                      <p:cBhvr>
                                        <p:cTn id="26" dur="500"/>
                                        <p:tgtEl>
                                          <p:spTgt spid="3">
                                            <p:txEl>
                                              <p:pRg st="2" end="2"/>
                                            </p:txEl>
                                          </p:spTgt>
                                        </p:tgtEl>
                                      </p:cBhvr>
                                    </p:animEffect>
                                    <p:set>
                                      <p:cBhvr>
                                        <p:cTn id="27" dur="1" fill="hold">
                                          <p:stCondLst>
                                            <p:cond delay="499"/>
                                          </p:stCondLst>
                                        </p:cTn>
                                        <p:tgtEl>
                                          <p:spTgt spid="3">
                                            <p:txEl>
                                              <p:pRg st="2" end="2"/>
                                            </p:txEl>
                                          </p:spTgt>
                                        </p:tgtEl>
                                        <p:attrNameLst>
                                          <p:attrName>style.visibility</p:attrName>
                                        </p:attrNameLst>
                                      </p:cBhvr>
                                      <p:to>
                                        <p:strVal val="hidden"/>
                                      </p:to>
                                    </p:set>
                                  </p:childTnLst>
                                </p:cTn>
                              </p:par>
                              <p:par>
                                <p:cTn id="28" presetID="3" presetClass="exit" presetSubtype="10" fill="hold" nodeType="withEffect">
                                  <p:stCondLst>
                                    <p:cond delay="0"/>
                                  </p:stCondLst>
                                  <p:childTnLst>
                                    <p:animEffect transition="out" filter="blinds(horizontal)">
                                      <p:cBhvr>
                                        <p:cTn id="29" dur="500"/>
                                        <p:tgtEl>
                                          <p:spTgt spid="3">
                                            <p:txEl>
                                              <p:pRg st="3" end="3"/>
                                            </p:txEl>
                                          </p:spTgt>
                                        </p:tgtEl>
                                      </p:cBhvr>
                                    </p:animEffect>
                                    <p:set>
                                      <p:cBhvr>
                                        <p:cTn id="30" dur="1" fill="hold">
                                          <p:stCondLst>
                                            <p:cond delay="499"/>
                                          </p:stCondLst>
                                        </p:cTn>
                                        <p:tgtEl>
                                          <p:spTgt spid="3">
                                            <p:txEl>
                                              <p:pRg st="3" end="3"/>
                                            </p:txEl>
                                          </p:spTgt>
                                        </p:tgtEl>
                                        <p:attrNameLst>
                                          <p:attrName>style.visibility</p:attrName>
                                        </p:attrNameLst>
                                      </p:cBhvr>
                                      <p:to>
                                        <p:strVal val="hidden"/>
                                      </p:to>
                                    </p:set>
                                  </p:childTnLst>
                                </p:cTn>
                              </p:par>
                              <p:par>
                                <p:cTn id="31" presetID="3" presetClass="entr" presetSubtype="1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blinds(horizontal)">
                                      <p:cBhvr>
                                        <p:cTn id="38" dur="500"/>
                                        <p:tgtEl>
                                          <p:spTgt spid="3">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nodeType="clickEffect">
                                  <p:stCondLst>
                                    <p:cond delay="0"/>
                                  </p:stCondLst>
                                  <p:childTnLst>
                                    <p:animEffect transition="out" filter="blinds(horizontal)">
                                      <p:cBhvr>
                                        <p:cTn id="42" dur="500"/>
                                        <p:tgtEl>
                                          <p:spTgt spid="3">
                                            <p:txEl>
                                              <p:pRg st="4" end="4"/>
                                            </p:txEl>
                                          </p:spTgt>
                                        </p:tgtEl>
                                      </p:cBhvr>
                                    </p:animEffect>
                                    <p:set>
                                      <p:cBhvr>
                                        <p:cTn id="43" dur="1" fill="hold">
                                          <p:stCondLst>
                                            <p:cond delay="499"/>
                                          </p:stCondLst>
                                        </p:cTn>
                                        <p:tgtEl>
                                          <p:spTgt spid="3">
                                            <p:txEl>
                                              <p:pRg st="4" end="4"/>
                                            </p:txEl>
                                          </p:spTgt>
                                        </p:tgtEl>
                                        <p:attrNameLst>
                                          <p:attrName>style.visibility</p:attrName>
                                        </p:attrNameLst>
                                      </p:cBhvr>
                                      <p:to>
                                        <p:strVal val="hidden"/>
                                      </p:to>
                                    </p:set>
                                  </p:childTnLst>
                                </p:cTn>
                              </p:par>
                              <p:par>
                                <p:cTn id="44" presetID="3" presetClass="entr" presetSubtype="10" fill="hold" nodeType="with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blinds(horizontal)">
                                      <p:cBhvr>
                                        <p:cTn id="4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a:p>
        </p:txBody>
      </p:sp>
      <p:sp>
        <p:nvSpPr>
          <p:cNvPr id="3" name="Subtitle 2"/>
          <p:cNvSpPr>
            <a:spLocks noGrp="1"/>
          </p:cNvSpPr>
          <p:nvPr>
            <p:ph idx="1"/>
          </p:nvPr>
        </p:nvSpPr>
        <p:spPr/>
        <p:txBody>
          <a:bodyPr vert="horz" lIns="91440" tIns="45720" rIns="91440" bIns="45720" rtlCol="0" anchor="t">
            <a:normAutofit/>
          </a:bodyPr>
          <a:lstStyle/>
          <a:p>
            <a:pPr marL="514350" indent="-514350">
              <a:buFont typeface="+mj-lt"/>
              <a:buAutoNum type="arabicPeriod"/>
            </a:pPr>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nodePh="1">
                                  <p:stCondLst>
                                    <p:cond delay="0"/>
                                  </p:stCondLst>
                                  <p:endCondLst>
                                    <p:cond evt="begin" delay="0">
                                      <p:tn val="10"/>
                                    </p:cond>
                                  </p:end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631825"/>
            <a:ext cx="7886700" cy="1325563"/>
          </a:xfrm>
        </p:spPr>
        <p:txBody>
          <a:bodyPr>
            <a:normAutofit/>
          </a:bodyPr>
          <a:lstStyle/>
          <a:p>
            <a:pPr algn="ctr"/>
            <a:r>
              <a:rPr lang="en-US">
                <a:ea typeface="+mj-lt"/>
                <a:cs typeface="+mj-lt"/>
              </a:rPr>
              <a:t>General rules for safe use of cylinders</a:t>
            </a:r>
          </a:p>
        </p:txBody>
      </p:sp>
      <p:cxnSp>
        <p:nvCxnSpPr>
          <p:cNvPr id="37" name="Straight Connector 33">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3227" y="1957388"/>
            <a:ext cx="7797546"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28650" y="2269173"/>
            <a:ext cx="7886700" cy="3659988"/>
          </a:xfrm>
        </p:spPr>
        <p:txBody>
          <a:bodyPr>
            <a:normAutofit/>
          </a:bodyPr>
          <a:lstStyle/>
          <a:p>
            <a:pPr marL="514350" indent="-514350">
              <a:buAutoNum type="arabicPeriod"/>
            </a:pPr>
            <a:r>
              <a:rPr lang="en-US" sz="2100">
                <a:ea typeface="+mn-lt"/>
                <a:cs typeface="+mn-lt"/>
              </a:rPr>
              <a:t>Should be handled only by trained personnel.</a:t>
            </a:r>
          </a:p>
          <a:p>
            <a:pPr marL="514350" indent="-514350">
              <a:buAutoNum type="arabicPeriod"/>
            </a:pPr>
            <a:r>
              <a:rPr lang="en-US" sz="2100">
                <a:ea typeface="+mn-lt"/>
                <a:cs typeface="+mn-lt"/>
              </a:rPr>
              <a:t>Valves, pressure regulators, gauges, or fittings should never come in contact with oils, greases, organic lubricants, rubber.</a:t>
            </a:r>
          </a:p>
          <a:p>
            <a:pPr marL="514350" indent="-514350">
              <a:buAutoNum type="arabicPeriod"/>
            </a:pPr>
            <a:r>
              <a:rPr lang="en-US" sz="2100">
                <a:ea typeface="+mn-lt"/>
                <a:cs typeface="+mn-lt"/>
              </a:rPr>
              <a:t>No part of any cylinder should ever be subjected to a temperature above </a:t>
            </a:r>
            <a:r>
              <a:rPr lang="en-US" sz="2100" b="1">
                <a:ea typeface="+mn-lt"/>
                <a:cs typeface="+mn-lt"/>
              </a:rPr>
              <a:t>54°C (130°F) </a:t>
            </a:r>
            <a:r>
              <a:rPr lang="en-US" sz="2100">
                <a:ea typeface="+mn-lt"/>
                <a:cs typeface="+mn-lt"/>
              </a:rPr>
              <a:t>or below -</a:t>
            </a:r>
            <a:r>
              <a:rPr lang="en-US" sz="2100" b="1">
                <a:ea typeface="+mn-lt"/>
                <a:cs typeface="+mn-lt"/>
              </a:rPr>
              <a:t>7°C (20°F).</a:t>
            </a:r>
            <a:endParaRPr lang="en-US" sz="2100">
              <a:ea typeface="+mn-lt"/>
              <a:cs typeface="+mn-lt"/>
            </a:endParaRPr>
          </a:p>
          <a:p>
            <a:pPr marL="514350" indent="-514350">
              <a:buAutoNum type="arabicPeriod"/>
            </a:pPr>
            <a:r>
              <a:rPr lang="en-US" sz="2100">
                <a:ea typeface="+mn-lt"/>
                <a:cs typeface="+mn-lt"/>
              </a:rPr>
              <a:t>Connections to d/t equipments should always be kept tight to prevent leaks. </a:t>
            </a:r>
          </a:p>
          <a:p>
            <a:pPr marL="514350" indent="-514350">
              <a:buAutoNum type="arabicPeriod"/>
            </a:pPr>
            <a:r>
              <a:rPr lang="en-US" sz="2100">
                <a:ea typeface="+mn-lt"/>
                <a:cs typeface="+mn-lt"/>
              </a:rPr>
              <a:t>Pressure relief device or the valve outlet must not be obstructed.</a:t>
            </a:r>
          </a:p>
          <a:p>
            <a:endParaRPr lang="en-US" sz="2100"/>
          </a:p>
          <a:p>
            <a:endParaRPr lang="en-US" sz="2100"/>
          </a:p>
        </p:txBody>
      </p:sp>
    </p:spTree>
    <p:extLst>
      <p:ext uri="{BB962C8B-B14F-4D97-AF65-F5344CB8AC3E}">
        <p14:creationId xmlns:p14="http://schemas.microsoft.com/office/powerpoint/2010/main" val="1093882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631825"/>
            <a:ext cx="7886700" cy="1325563"/>
          </a:xfrm>
        </p:spPr>
        <p:txBody>
          <a:bodyPr>
            <a:normAutofit/>
          </a:bodyPr>
          <a:lstStyle/>
          <a:p>
            <a:pPr algn="ctr"/>
            <a:r>
              <a:rPr lang="en-US">
                <a:ea typeface="+mj-lt"/>
                <a:cs typeface="+mj-lt"/>
              </a:rPr>
              <a:t>General rules for safe use of cylinders</a:t>
            </a:r>
          </a:p>
        </p:txBody>
      </p:sp>
      <p:cxnSp>
        <p:nvCxnSpPr>
          <p:cNvPr id="37" name="Straight Connector 33">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3227" y="1957388"/>
            <a:ext cx="7797546"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28650" y="2269173"/>
            <a:ext cx="7886700" cy="3659988"/>
          </a:xfrm>
        </p:spPr>
        <p:txBody>
          <a:bodyPr vert="horz" lIns="91440" tIns="45720" rIns="91440" bIns="45720" rtlCol="0" anchor="t">
            <a:normAutofit/>
          </a:bodyPr>
          <a:lstStyle/>
          <a:p>
            <a:pPr marL="0" indent="0">
              <a:buNone/>
            </a:pPr>
            <a:r>
              <a:rPr lang="en-US" sz="2100">
                <a:ea typeface="+mn-lt"/>
                <a:cs typeface="+mn-lt"/>
              </a:rPr>
              <a:t>6. 6. Adapters to change the outlet size of a cylinder valve should not be used. </a:t>
            </a:r>
            <a:endParaRPr lang="en-US">
              <a:ea typeface="+mn-lt"/>
              <a:cs typeface="+mn-lt"/>
            </a:endParaRPr>
          </a:p>
          <a:p>
            <a:pPr marL="0" indent="0">
              <a:buNone/>
            </a:pPr>
            <a:r>
              <a:rPr lang="en-US" sz="2100">
                <a:ea typeface="+mn-lt"/>
                <a:cs typeface="+mn-lt"/>
              </a:rPr>
              <a:t>7. The valve should be kept closed at all times except when the cylinder is in use. </a:t>
            </a:r>
            <a:endParaRPr lang="en-US">
              <a:ea typeface="+mn-lt"/>
              <a:cs typeface="+mn-lt"/>
            </a:endParaRPr>
          </a:p>
          <a:p>
            <a:pPr marL="0" indent="0">
              <a:buNone/>
            </a:pPr>
            <a:r>
              <a:rPr lang="en-US" sz="2100">
                <a:ea typeface="+mn-lt"/>
                <a:cs typeface="+mn-lt"/>
              </a:rPr>
              <a:t>8. No part of the cylinder or its valve should be tampered with, painted, altered, repaired, or modified by the user. </a:t>
            </a:r>
            <a:endParaRPr lang="en-US">
              <a:ea typeface="+mn-lt"/>
              <a:cs typeface="+mn-lt"/>
            </a:endParaRPr>
          </a:p>
          <a:p>
            <a:pPr marL="0" indent="0">
              <a:buNone/>
            </a:pPr>
            <a:r>
              <a:rPr lang="en-US" sz="2100">
                <a:ea typeface="+mn-lt"/>
                <a:cs typeface="+mn-lt"/>
              </a:rPr>
              <a:t>9. Markings, labels, or tags must not be defaced, altered, or removed.</a:t>
            </a:r>
            <a:endParaRPr lang="en-US">
              <a:ea typeface="+mn-lt"/>
              <a:cs typeface="+mn-lt"/>
            </a:endParaRPr>
          </a:p>
          <a:p>
            <a:pPr marL="0" indent="0">
              <a:buNone/>
            </a:pPr>
            <a:r>
              <a:rPr lang="en-US" sz="2100">
                <a:ea typeface="+mn-lt"/>
                <a:cs typeface="+mn-lt"/>
              </a:rPr>
              <a:t>10. A cylinder should not be used as a roller, support, or for any other purpose.</a:t>
            </a:r>
            <a:endParaRPr lang="en-US">
              <a:ea typeface="+mn-lt"/>
              <a:cs typeface="+mn-lt"/>
            </a:endParaRPr>
          </a:p>
          <a:p>
            <a:endParaRPr lang="en-US" sz="2100"/>
          </a:p>
          <a:p>
            <a:endParaRPr lang="en-US" sz="2100"/>
          </a:p>
        </p:txBody>
      </p:sp>
    </p:spTree>
    <p:extLst>
      <p:ext uri="{BB962C8B-B14F-4D97-AF65-F5344CB8AC3E}">
        <p14:creationId xmlns:p14="http://schemas.microsoft.com/office/powerpoint/2010/main" val="3843814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631825"/>
            <a:ext cx="7886700" cy="1325563"/>
          </a:xfrm>
        </p:spPr>
        <p:txBody>
          <a:bodyPr>
            <a:normAutofit/>
          </a:bodyPr>
          <a:lstStyle/>
          <a:p>
            <a:pPr algn="ctr"/>
            <a:r>
              <a:rPr lang="en-US">
                <a:ea typeface="+mj-lt"/>
                <a:cs typeface="+mj-lt"/>
              </a:rPr>
              <a:t>General rules for safe use of cylinders</a:t>
            </a:r>
            <a:endParaRPr lang="en-US"/>
          </a:p>
        </p:txBody>
      </p:sp>
      <p:cxnSp>
        <p:nvCxnSpPr>
          <p:cNvPr id="37" name="Straight Connector 33">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3227" y="1957388"/>
            <a:ext cx="7797546"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28650" y="2269173"/>
            <a:ext cx="7886700" cy="3659988"/>
          </a:xfrm>
        </p:spPr>
        <p:txBody>
          <a:bodyPr vert="horz" lIns="91440" tIns="45720" rIns="91440" bIns="45720" rtlCol="0" anchor="t">
            <a:normAutofit/>
          </a:bodyPr>
          <a:lstStyle/>
          <a:p>
            <a:pPr marL="0" indent="0">
              <a:buNone/>
            </a:pPr>
            <a:r>
              <a:rPr lang="en-US" sz="2100">
                <a:ea typeface="+mn-lt"/>
                <a:cs typeface="+mn-lt"/>
              </a:rPr>
              <a:t>6. 6. Adapters to change the outlet size of a cylinder valve should not be used. </a:t>
            </a:r>
            <a:endParaRPr lang="en-US">
              <a:ea typeface="+mn-lt"/>
              <a:cs typeface="+mn-lt"/>
            </a:endParaRPr>
          </a:p>
          <a:p>
            <a:pPr marL="0" indent="0">
              <a:buNone/>
            </a:pPr>
            <a:r>
              <a:rPr lang="en-US" sz="2100">
                <a:ea typeface="+mn-lt"/>
                <a:cs typeface="+mn-lt"/>
              </a:rPr>
              <a:t>7. The valve should be kept closed at all times except when the cylinder is in use. </a:t>
            </a:r>
            <a:endParaRPr lang="en-US">
              <a:ea typeface="+mn-lt"/>
              <a:cs typeface="+mn-lt"/>
            </a:endParaRPr>
          </a:p>
          <a:p>
            <a:pPr marL="0" indent="0">
              <a:buNone/>
            </a:pPr>
            <a:r>
              <a:rPr lang="en-US" sz="2100">
                <a:ea typeface="+mn-lt"/>
                <a:cs typeface="+mn-lt"/>
              </a:rPr>
              <a:t>8. No part of the cylinder or its valve should be tampered with, painted, altered, repaired, or modified by the user. </a:t>
            </a:r>
            <a:endParaRPr lang="en-US">
              <a:ea typeface="+mn-lt"/>
              <a:cs typeface="+mn-lt"/>
            </a:endParaRPr>
          </a:p>
          <a:p>
            <a:pPr marL="0" indent="0">
              <a:buNone/>
            </a:pPr>
            <a:r>
              <a:rPr lang="en-US" sz="2100">
                <a:ea typeface="+mn-lt"/>
                <a:cs typeface="+mn-lt"/>
              </a:rPr>
              <a:t>9. Markings, labels, or tags must not be defaced, altered, or removed.</a:t>
            </a:r>
            <a:endParaRPr lang="en-US">
              <a:ea typeface="+mn-lt"/>
              <a:cs typeface="+mn-lt"/>
            </a:endParaRPr>
          </a:p>
          <a:p>
            <a:pPr marL="0" indent="0">
              <a:buNone/>
            </a:pPr>
            <a:r>
              <a:rPr lang="en-US" sz="2100">
                <a:ea typeface="+mn-lt"/>
                <a:cs typeface="+mn-lt"/>
              </a:rPr>
              <a:t>10. A cylinder should not be used as a roller, support, or for any other purpose.</a:t>
            </a:r>
            <a:endParaRPr lang="en-US">
              <a:ea typeface="+mn-lt"/>
              <a:cs typeface="+mn-lt"/>
            </a:endParaRPr>
          </a:p>
          <a:p>
            <a:endParaRPr lang="en-US" sz="2100"/>
          </a:p>
          <a:p>
            <a:endParaRPr lang="en-US" sz="2100"/>
          </a:p>
        </p:txBody>
      </p:sp>
    </p:spTree>
    <p:extLst>
      <p:ext uri="{BB962C8B-B14F-4D97-AF65-F5344CB8AC3E}">
        <p14:creationId xmlns:p14="http://schemas.microsoft.com/office/powerpoint/2010/main" val="3459659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Subtitle 2"/>
          <p:cNvSpPr>
            <a:spLocks noGrp="1"/>
          </p:cNvSpPr>
          <p:nvPr>
            <p:ph idx="1"/>
          </p:nvPr>
        </p:nvSpPr>
        <p:spPr/>
        <p:txBody>
          <a:bodyPr/>
          <a:lstStyle/>
          <a:p>
            <a:pPr>
              <a:buNone/>
            </a:pPr>
            <a:r>
              <a:rPr lang="en-US"/>
              <a:t>11. Cylinders not be placed or used in a manner where they can become part of an electrical circuit.</a:t>
            </a:r>
          </a:p>
          <a:p>
            <a:endParaRPr lang="en-US"/>
          </a:p>
        </p:txBody>
      </p:sp>
      <p:sp>
        <p:nvSpPr>
          <p:cNvPr id="4" name="Subtitle 2"/>
          <p:cNvSpPr txBox="1">
            <a:spLocks/>
          </p:cNvSpPr>
          <p:nvPr/>
        </p:nvSpPr>
        <p:spPr>
          <a:xfrm>
            <a:off x="4191000" y="2895600"/>
            <a:ext cx="4419600" cy="1295400"/>
          </a:xfrm>
          <a:prstGeom prst="rect">
            <a:avLst/>
          </a:prstGeom>
        </p:spPr>
        <p:txBody>
          <a:bodyPr vert="horz" lIns="91440" tIns="45720" rIns="91440" bIns="45720" rtlCol="0">
            <a:noAutofit/>
          </a:bodyPr>
          <a:lstStyle/>
          <a:p>
            <a:pPr marL="514350" marR="0" lvl="0" indent="-514350" defTabSz="914400" rtl="0" eaLnBrk="1" fontAlgn="auto" latinLnBrk="0" hangingPunct="1">
              <a:lnSpc>
                <a:spcPct val="100000"/>
              </a:lnSpc>
              <a:spcBef>
                <a:spcPct val="20000"/>
              </a:spcBef>
              <a:spcAft>
                <a:spcPts val="0"/>
              </a:spcAft>
              <a:buClrTx/>
              <a:buSzTx/>
              <a:buFont typeface="+mj-lt"/>
              <a:buAutoNum type="arabicPeriod" startAt="12"/>
              <a:tabLst/>
              <a:defRPr/>
            </a:pPr>
            <a:r>
              <a:rPr kumimoji="0" lang="en-US" sz="2400" b="0" i="0" u="none" strike="noStrike" kern="1200" cap="none" spc="0" normalizeH="0" baseline="0" noProof="0">
                <a:ln>
                  <a:noFill/>
                </a:ln>
                <a:effectLst/>
                <a:uLnTx/>
                <a:uFillTx/>
                <a:latin typeface="+mn-lt"/>
                <a:ea typeface="+mn-ea"/>
                <a:cs typeface="+mn-cs"/>
              </a:rPr>
              <a:t>Cylinders should not be dropped, dragged, slid, or rolled, even for short distances.</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a:ln>
                <a:noFill/>
              </a:ln>
              <a:effectLst/>
              <a:uLnTx/>
              <a:uFillTx/>
              <a:latin typeface="+mn-lt"/>
              <a:ea typeface="+mn-ea"/>
              <a:cs typeface="+mn-cs"/>
            </a:endParaRPr>
          </a:p>
        </p:txBody>
      </p:sp>
      <p:pic>
        <p:nvPicPr>
          <p:cNvPr id="1026" name="Picture 2" descr="C:\Documents and Settings\User\Desktop\C3.jpg"/>
          <p:cNvPicPr>
            <a:picLocks noChangeAspect="1" noChangeArrowheads="1"/>
          </p:cNvPicPr>
          <p:nvPr/>
        </p:nvPicPr>
        <p:blipFill>
          <a:blip r:embed="rId3" cstate="print"/>
          <a:srcRect/>
          <a:stretch>
            <a:fillRect/>
          </a:stretch>
        </p:blipFill>
        <p:spPr bwMode="auto">
          <a:xfrm>
            <a:off x="533400" y="3124200"/>
            <a:ext cx="3429000" cy="3124200"/>
          </a:xfrm>
          <a:prstGeom prst="rect">
            <a:avLst/>
          </a:prstGeom>
          <a:noFill/>
        </p:spPr>
      </p:pic>
      <p:pic>
        <p:nvPicPr>
          <p:cNvPr id="1027" name="Picture 3" descr="C:\Documents and Settings\User\Desktop\C2.jpg"/>
          <p:cNvPicPr>
            <a:picLocks noChangeAspect="1" noChangeArrowheads="1"/>
          </p:cNvPicPr>
          <p:nvPr/>
        </p:nvPicPr>
        <p:blipFill>
          <a:blip r:embed="rId4" cstate="print"/>
          <a:srcRect/>
          <a:stretch>
            <a:fillRect/>
          </a:stretch>
        </p:blipFill>
        <p:spPr bwMode="auto">
          <a:xfrm>
            <a:off x="4419600" y="4038600"/>
            <a:ext cx="3200400" cy="2590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blinds(horizontal)">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4">
                                            <p:txEl>
                                              <p:pRg st="0" end="0"/>
                                            </p:txEl>
                                          </p:spTgt>
                                        </p:tgtEl>
                                      </p:cBhvr>
                                    </p:animEffect>
                                    <p:set>
                                      <p:cBhvr>
                                        <p:cTn id="20" dur="1" fill="hold">
                                          <p:stCondLst>
                                            <p:cond delay="499"/>
                                          </p:stCondLst>
                                        </p:cTn>
                                        <p:tgtEl>
                                          <p:spTgt spid="4">
                                            <p:txEl>
                                              <p:pRg st="0" end="0"/>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blinds(horizontal)">
                                      <p:cBhvr>
                                        <p:cTn id="23" dur="500"/>
                                        <p:tgtEl>
                                          <p:spTgt spid="1026"/>
                                        </p:tgtEl>
                                      </p:cBhvr>
                                    </p:animEffect>
                                  </p:childTnLst>
                                </p:cTn>
                              </p:par>
                              <p:par>
                                <p:cTn id="24" presetID="3" presetClass="entr" presetSubtype="10" fill="hold" nodeType="withEffect">
                                  <p:stCondLst>
                                    <p:cond delay="0"/>
                                  </p:stCondLst>
                                  <p:childTnLst>
                                    <p:set>
                                      <p:cBhvr>
                                        <p:cTn id="25" dur="1" fill="hold">
                                          <p:stCondLst>
                                            <p:cond delay="0"/>
                                          </p:stCondLst>
                                        </p:cTn>
                                        <p:tgtEl>
                                          <p:spTgt spid="1027"/>
                                        </p:tgtEl>
                                        <p:attrNameLst>
                                          <p:attrName>style.visibility</p:attrName>
                                        </p:attrNameLst>
                                      </p:cBhvr>
                                      <p:to>
                                        <p:strVal val="visible"/>
                                      </p:to>
                                    </p:set>
                                    <p:animEffect transition="in" filter="blinds(horizontal)">
                                      <p:cBhvr>
                                        <p:cTn id="26"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675F1-6FBD-FFFA-AAAB-E7F9CC3BDEAE}"/>
              </a:ext>
            </a:extLst>
          </p:cNvPr>
          <p:cNvSpPr>
            <a:spLocks noGrp="1"/>
          </p:cNvSpPr>
          <p:nvPr>
            <p:ph type="title"/>
          </p:nvPr>
        </p:nvSpPr>
        <p:spPr>
          <a:xfrm>
            <a:off x="628650" y="365125"/>
            <a:ext cx="3938487" cy="1807305"/>
          </a:xfrm>
        </p:spPr>
        <p:txBody>
          <a:bodyPr>
            <a:normAutofit/>
          </a:bodyPr>
          <a:lstStyle/>
          <a:p>
            <a:r>
              <a:rPr lang="en-US" sz="4100">
                <a:cs typeface="Calibri Light"/>
              </a:rPr>
              <a:t>General rules for safe use of cylinders</a:t>
            </a:r>
            <a:endParaRPr lang="en-US" sz="4100"/>
          </a:p>
        </p:txBody>
      </p:sp>
      <p:sp>
        <p:nvSpPr>
          <p:cNvPr id="3" name="Content Placeholder 2">
            <a:extLst>
              <a:ext uri="{FF2B5EF4-FFF2-40B4-BE49-F238E27FC236}">
                <a16:creationId xmlns:a16="http://schemas.microsoft.com/office/drawing/2014/main" id="{D298389E-73DA-4CDA-C902-7575A928849F}"/>
              </a:ext>
            </a:extLst>
          </p:cNvPr>
          <p:cNvSpPr>
            <a:spLocks noGrp="1"/>
          </p:cNvSpPr>
          <p:nvPr>
            <p:ph idx="1"/>
          </p:nvPr>
        </p:nvSpPr>
        <p:spPr>
          <a:xfrm>
            <a:off x="628650" y="2333297"/>
            <a:ext cx="3464715" cy="3843666"/>
          </a:xfrm>
        </p:spPr>
        <p:txBody>
          <a:bodyPr vert="horz" lIns="91440" tIns="45720" rIns="91440" bIns="45720" rtlCol="0">
            <a:normAutofit/>
          </a:bodyPr>
          <a:lstStyle/>
          <a:p>
            <a:pPr marL="0" indent="0">
              <a:buNone/>
            </a:pPr>
            <a:r>
              <a:rPr lang="en-US" sz="1700">
                <a:ea typeface="+mn-lt"/>
                <a:cs typeface="+mn-lt"/>
              </a:rPr>
              <a:t>12. The owner of the cylinder must be notified if any damage is noticed.</a:t>
            </a:r>
          </a:p>
          <a:p>
            <a:pPr marL="0" indent="0">
              <a:buNone/>
            </a:pPr>
            <a:r>
              <a:rPr lang="en-US" sz="1700">
                <a:ea typeface="+mn-lt"/>
                <a:cs typeface="+mn-lt"/>
              </a:rPr>
              <a:t>13.Disposition of unserviceable cylinders should be done only by qualified personnel.</a:t>
            </a:r>
          </a:p>
          <a:p>
            <a:pPr marL="0" indent="0">
              <a:buNone/>
            </a:pPr>
            <a:r>
              <a:rPr lang="en-US" sz="1700">
                <a:ea typeface="+mn-lt"/>
                <a:cs typeface="+mn-lt"/>
              </a:rPr>
              <a:t>14. Cylinders should be properly secured at all times to prevent them from falling or being knocked over.</a:t>
            </a:r>
            <a:endParaRPr lang="en-US" sz="1700">
              <a:cs typeface="Calibri"/>
            </a:endParaRPr>
          </a:p>
          <a:p>
            <a:endParaRPr lang="en-US" sz="1700">
              <a:cs typeface="Calibri"/>
            </a:endParaRPr>
          </a:p>
        </p:txBody>
      </p:sp>
      <p:pic>
        <p:nvPicPr>
          <p:cNvPr id="4" name="Picture 4">
            <a:extLst>
              <a:ext uri="{FF2B5EF4-FFF2-40B4-BE49-F238E27FC236}">
                <a16:creationId xmlns:a16="http://schemas.microsoft.com/office/drawing/2014/main" id="{F8928C18-C57F-0045-3491-230C458CF480}"/>
              </a:ext>
            </a:extLst>
          </p:cNvPr>
          <p:cNvPicPr>
            <a:picLocks noChangeAspect="1"/>
          </p:cNvPicPr>
          <p:nvPr/>
        </p:nvPicPr>
        <p:blipFill rotWithShape="1">
          <a:blip r:embed="rId2"/>
          <a:srcRect l="19813" r="15792"/>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2420317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5" descr="A picture containing wall, indoor&#10;&#10;Description automatically generated">
            <a:extLst>
              <a:ext uri="{FF2B5EF4-FFF2-40B4-BE49-F238E27FC236}">
                <a16:creationId xmlns:a16="http://schemas.microsoft.com/office/drawing/2014/main" id="{CD8AEF1A-D768-E8E4-9972-677A7E9A70BB}"/>
              </a:ext>
            </a:extLst>
          </p:cNvPr>
          <p:cNvPicPr>
            <a:picLocks noChangeAspect="1"/>
          </p:cNvPicPr>
          <p:nvPr/>
        </p:nvPicPr>
        <p:blipFill rotWithShape="1">
          <a:blip r:embed="rId2"/>
          <a:srcRect l="2486" r="8513" b="-1"/>
          <a:stretch/>
        </p:blipFill>
        <p:spPr>
          <a:xfrm>
            <a:off x="20" y="10"/>
            <a:ext cx="9143980" cy="6857990"/>
          </a:xfrm>
          <a:prstGeom prst="rect">
            <a:avLst/>
          </a:prstGeom>
        </p:spPr>
      </p:pic>
      <p:sp>
        <p:nvSpPr>
          <p:cNvPr id="25" name="Rectangle 2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7404"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675F1-6FBD-FFFA-AAAB-E7F9CC3BDEAE}"/>
              </a:ext>
            </a:extLst>
          </p:cNvPr>
          <p:cNvSpPr>
            <a:spLocks noGrp="1"/>
          </p:cNvSpPr>
          <p:nvPr>
            <p:ph type="title"/>
          </p:nvPr>
        </p:nvSpPr>
        <p:spPr>
          <a:xfrm>
            <a:off x="482600" y="321734"/>
            <a:ext cx="5168389" cy="1135737"/>
          </a:xfrm>
        </p:spPr>
        <p:txBody>
          <a:bodyPr>
            <a:normAutofit/>
          </a:bodyPr>
          <a:lstStyle/>
          <a:p>
            <a:r>
              <a:rPr lang="en-US" sz="3100">
                <a:cs typeface="Calibri Light"/>
              </a:rPr>
              <a:t>storage</a:t>
            </a:r>
            <a:endParaRPr lang="en-US" sz="3100"/>
          </a:p>
        </p:txBody>
      </p:sp>
      <p:sp>
        <p:nvSpPr>
          <p:cNvPr id="3" name="Content Placeholder 2">
            <a:extLst>
              <a:ext uri="{FF2B5EF4-FFF2-40B4-BE49-F238E27FC236}">
                <a16:creationId xmlns:a16="http://schemas.microsoft.com/office/drawing/2014/main" id="{D298389E-73DA-4CDA-C902-7575A928849F}"/>
              </a:ext>
            </a:extLst>
          </p:cNvPr>
          <p:cNvSpPr>
            <a:spLocks noGrp="1"/>
          </p:cNvSpPr>
          <p:nvPr>
            <p:ph idx="1"/>
          </p:nvPr>
        </p:nvSpPr>
        <p:spPr>
          <a:xfrm>
            <a:off x="482600" y="1782981"/>
            <a:ext cx="5168390" cy="4393982"/>
          </a:xfrm>
        </p:spPr>
        <p:txBody>
          <a:bodyPr vert="horz" lIns="91440" tIns="45720" rIns="91440" bIns="45720" rtlCol="0">
            <a:normAutofit/>
          </a:bodyPr>
          <a:lstStyle/>
          <a:p>
            <a:pPr>
              <a:buFont typeface="Arial"/>
              <a:buChar char="•"/>
            </a:pPr>
            <a:r>
              <a:rPr lang="en-US" sz="1700">
                <a:ea typeface="+mn-lt"/>
                <a:cs typeface="+mn-lt"/>
              </a:rPr>
              <a:t>A definite area should be designated (Not OR).</a:t>
            </a:r>
          </a:p>
          <a:p>
            <a:pPr>
              <a:buFont typeface="Arial"/>
              <a:buChar char="•"/>
            </a:pPr>
            <a:r>
              <a:rPr lang="en-US" sz="1700">
                <a:ea typeface="+mn-lt"/>
                <a:cs typeface="+mn-lt"/>
              </a:rPr>
              <a:t>The storage area should be in a cool, dry clean, well-ventilated room that is constructed of fire-resistant material.</a:t>
            </a:r>
          </a:p>
          <a:p>
            <a:pPr>
              <a:buFont typeface="Arial"/>
            </a:pPr>
            <a:r>
              <a:rPr lang="en-US" sz="1700">
                <a:ea typeface="+mn-lt"/>
                <a:cs typeface="+mn-lt"/>
              </a:rPr>
              <a:t>Easily visible signs with texts such as:- </a:t>
            </a:r>
          </a:p>
          <a:p>
            <a:pPr marL="971550" lvl="1" indent="-285750">
              <a:buFont typeface="Arial"/>
            </a:pPr>
            <a:r>
              <a:rPr lang="en-US" sz="1700">
                <a:ea typeface="+mn-lt"/>
                <a:cs typeface="+mn-lt"/>
              </a:rPr>
              <a:t>“GAS CYLINDERS” </a:t>
            </a:r>
          </a:p>
          <a:p>
            <a:pPr marL="971550" lvl="1" indent="-285750">
              <a:buFont typeface="Arial"/>
            </a:pPr>
            <a:r>
              <a:rPr lang="en-US" sz="1700">
                <a:ea typeface="+mn-lt"/>
                <a:cs typeface="+mn-lt"/>
              </a:rPr>
              <a:t>“REMOVE  TO A SAFE PLACE IN THE EVENT OF FIRE”</a:t>
            </a:r>
          </a:p>
          <a:p>
            <a:pPr marL="971550" lvl="1" indent="-285750">
              <a:buFont typeface="Arial"/>
            </a:pPr>
            <a:r>
              <a:rPr lang="en-US" sz="1700">
                <a:ea typeface="+mn-lt"/>
                <a:cs typeface="+mn-lt"/>
              </a:rPr>
              <a:t>“OFF LIMITS TO UNAUTHORIZED PERSONNEL”</a:t>
            </a:r>
          </a:p>
          <a:p>
            <a:pPr marL="971550" lvl="1" indent="-285750">
              <a:buFont typeface="Arial"/>
            </a:pPr>
            <a:r>
              <a:rPr lang="en-US" sz="1700">
                <a:ea typeface="+mn-lt"/>
                <a:cs typeface="+mn-lt"/>
              </a:rPr>
              <a:t> “NO SMOKING,” </a:t>
            </a:r>
          </a:p>
          <a:p>
            <a:pPr marL="971550" lvl="1" indent="-285750">
              <a:buFont typeface="Arial"/>
            </a:pPr>
            <a:r>
              <a:rPr lang="en-US" sz="1700">
                <a:ea typeface="+mn-lt"/>
                <a:cs typeface="+mn-lt"/>
              </a:rPr>
              <a:t>“NO OPEN FLAMES OR SPARKS,” </a:t>
            </a:r>
          </a:p>
          <a:p>
            <a:pPr marL="971550" lvl="1" indent="-285750">
              <a:buFont typeface="Arial"/>
            </a:pPr>
            <a:r>
              <a:rPr lang="en-US" sz="1700">
                <a:ea typeface="+mn-lt"/>
                <a:cs typeface="+mn-lt"/>
              </a:rPr>
              <a:t>“NO OIL OR GREASE,” and </a:t>
            </a:r>
          </a:p>
          <a:p>
            <a:pPr marL="971550" lvl="1" indent="-285750">
              <a:buFont typeface="Arial"/>
            </a:pPr>
            <a:r>
              <a:rPr lang="en-US" sz="1700">
                <a:ea typeface="+mn-lt"/>
                <a:cs typeface="+mn-lt"/>
              </a:rPr>
              <a:t>“NO COMBUSTIBLE MATERIALS”</a:t>
            </a:r>
            <a:endParaRPr lang="en-US" sz="1700"/>
          </a:p>
        </p:txBody>
      </p:sp>
      <p:grpSp>
        <p:nvGrpSpPr>
          <p:cNvPr id="27" name="Group 26">
            <a:extLst>
              <a:ext uri="{FF2B5EF4-FFF2-40B4-BE49-F238E27FC236}">
                <a16:creationId xmlns:a16="http://schemas.microsoft.com/office/drawing/2014/main" id="{07EAA094-9CF6-4695-958A-33D9BCAA9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42340" y="713128"/>
            <a:ext cx="801649" cy="2126625"/>
            <a:chOff x="10918968" y="713127"/>
            <a:chExt cx="1273032" cy="2532832"/>
          </a:xfrm>
        </p:grpSpPr>
        <p:sp>
          <p:nvSpPr>
            <p:cNvPr id="28" name="Rectangle 27">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Isosceles Triangle 30">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8518" y="5230015"/>
            <a:ext cx="2017580" cy="760545"/>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60240" y="5789405"/>
            <a:ext cx="485578" cy="36418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44532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5" descr="A picture containing wall, indoor&#10;&#10;Description automatically generated">
            <a:extLst>
              <a:ext uri="{FF2B5EF4-FFF2-40B4-BE49-F238E27FC236}">
                <a16:creationId xmlns:a16="http://schemas.microsoft.com/office/drawing/2014/main" id="{CD8AEF1A-D768-E8E4-9972-677A7E9A70BB}"/>
              </a:ext>
            </a:extLst>
          </p:cNvPr>
          <p:cNvPicPr>
            <a:picLocks noChangeAspect="1"/>
          </p:cNvPicPr>
          <p:nvPr/>
        </p:nvPicPr>
        <p:blipFill rotWithShape="1">
          <a:blip r:embed="rId2"/>
          <a:srcRect l="2486" r="8513" b="-1"/>
          <a:stretch/>
        </p:blipFill>
        <p:spPr>
          <a:xfrm>
            <a:off x="20" y="10"/>
            <a:ext cx="9143980" cy="6857990"/>
          </a:xfrm>
          <a:prstGeom prst="rect">
            <a:avLst/>
          </a:prstGeom>
        </p:spPr>
      </p:pic>
      <p:sp>
        <p:nvSpPr>
          <p:cNvPr id="25" name="Rectangle 2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7404"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675F1-6FBD-FFFA-AAAB-E7F9CC3BDEAE}"/>
              </a:ext>
            </a:extLst>
          </p:cNvPr>
          <p:cNvSpPr>
            <a:spLocks noGrp="1"/>
          </p:cNvSpPr>
          <p:nvPr>
            <p:ph type="title"/>
          </p:nvPr>
        </p:nvSpPr>
        <p:spPr>
          <a:xfrm>
            <a:off x="482600" y="321734"/>
            <a:ext cx="5168389" cy="1135737"/>
          </a:xfrm>
        </p:spPr>
        <p:txBody>
          <a:bodyPr>
            <a:normAutofit/>
          </a:bodyPr>
          <a:lstStyle/>
          <a:p>
            <a:r>
              <a:rPr lang="en-US" sz="3100">
                <a:cs typeface="Calibri Light"/>
              </a:rPr>
              <a:t>storage</a:t>
            </a:r>
            <a:endParaRPr lang="en-US" sz="3100"/>
          </a:p>
        </p:txBody>
      </p:sp>
      <p:sp>
        <p:nvSpPr>
          <p:cNvPr id="3" name="Content Placeholder 2">
            <a:extLst>
              <a:ext uri="{FF2B5EF4-FFF2-40B4-BE49-F238E27FC236}">
                <a16:creationId xmlns:a16="http://schemas.microsoft.com/office/drawing/2014/main" id="{D298389E-73DA-4CDA-C902-7575A928849F}"/>
              </a:ext>
            </a:extLst>
          </p:cNvPr>
          <p:cNvSpPr>
            <a:spLocks noGrp="1"/>
          </p:cNvSpPr>
          <p:nvPr>
            <p:ph idx="1"/>
          </p:nvPr>
        </p:nvSpPr>
        <p:spPr>
          <a:xfrm>
            <a:off x="482600" y="1782981"/>
            <a:ext cx="5168390" cy="4393982"/>
          </a:xfrm>
        </p:spPr>
        <p:txBody>
          <a:bodyPr vert="horz" lIns="91440" tIns="45720" rIns="91440" bIns="45720" rtlCol="0" anchor="t">
            <a:normAutofit/>
          </a:bodyPr>
          <a:lstStyle/>
          <a:p>
            <a:pPr>
              <a:buFont typeface="Arial"/>
              <a:buChar char="•"/>
            </a:pPr>
            <a:r>
              <a:rPr lang="en-US" sz="1700">
                <a:ea typeface="+mn-lt"/>
                <a:cs typeface="+mn-lt"/>
              </a:rPr>
              <a:t>Should be protected against extremes of weather.</a:t>
            </a:r>
          </a:p>
          <a:p>
            <a:pPr>
              <a:buFont typeface="Arial"/>
              <a:buChar char="•"/>
            </a:pPr>
            <a:r>
              <a:rPr lang="en-US" sz="1700">
                <a:ea typeface="+mn-lt"/>
                <a:cs typeface="+mn-lt"/>
              </a:rPr>
              <a:t>Cylinders should be stored in a secure area.</a:t>
            </a:r>
          </a:p>
          <a:p>
            <a:pPr>
              <a:buFont typeface="Arial"/>
            </a:pPr>
            <a:r>
              <a:rPr lang="en-US" sz="1700">
                <a:ea typeface="+mn-lt"/>
                <a:cs typeface="+mn-lt"/>
              </a:rPr>
              <a:t>Combustible materials should not be kept near cylinders (with rare exceptions).</a:t>
            </a:r>
          </a:p>
          <a:p>
            <a:pPr>
              <a:buFont typeface="Arial"/>
            </a:pPr>
            <a:r>
              <a:rPr lang="en-US" sz="1700">
                <a:ea typeface="+mn-lt"/>
                <a:cs typeface="+mn-lt"/>
              </a:rPr>
              <a:t>Cylinders should be protected from mechanical shock.</a:t>
            </a:r>
          </a:p>
          <a:p>
            <a:pPr>
              <a:buFont typeface="Arial"/>
            </a:pPr>
            <a:r>
              <a:rPr lang="en-US" sz="1700">
                <a:ea typeface="+mn-lt"/>
                <a:cs typeface="+mn-lt"/>
              </a:rPr>
              <a:t>Small cylinders are best stored upright or horizontally while Large cylinders should be stored upright against a wall and chained in place.</a:t>
            </a:r>
          </a:p>
          <a:p>
            <a:pPr>
              <a:buFont typeface="Arial"/>
            </a:pPr>
            <a:r>
              <a:rPr lang="en-US" sz="1700">
                <a:ea typeface="+mn-lt"/>
                <a:cs typeface="+mn-lt"/>
              </a:rPr>
              <a:t>There should be a system of inventory for both empty and full cylinders.</a:t>
            </a:r>
            <a:endParaRPr lang="en-US"/>
          </a:p>
        </p:txBody>
      </p:sp>
      <p:grpSp>
        <p:nvGrpSpPr>
          <p:cNvPr id="27" name="Group 26">
            <a:extLst>
              <a:ext uri="{FF2B5EF4-FFF2-40B4-BE49-F238E27FC236}">
                <a16:creationId xmlns:a16="http://schemas.microsoft.com/office/drawing/2014/main" id="{07EAA094-9CF6-4695-958A-33D9BCAA9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42340" y="713128"/>
            <a:ext cx="801649" cy="2126625"/>
            <a:chOff x="10918968" y="713127"/>
            <a:chExt cx="1273032" cy="2532832"/>
          </a:xfrm>
        </p:grpSpPr>
        <p:sp>
          <p:nvSpPr>
            <p:cNvPr id="28" name="Rectangle 27">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Isosceles Triangle 30">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8518" y="5230015"/>
            <a:ext cx="2017580" cy="760545"/>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60240" y="5789405"/>
            <a:ext cx="485578" cy="36418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98944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5" descr="A picture containing wall, indoor&#10;&#10;Description automatically generated">
            <a:extLst>
              <a:ext uri="{FF2B5EF4-FFF2-40B4-BE49-F238E27FC236}">
                <a16:creationId xmlns:a16="http://schemas.microsoft.com/office/drawing/2014/main" id="{CD8AEF1A-D768-E8E4-9972-677A7E9A70BB}"/>
              </a:ext>
            </a:extLst>
          </p:cNvPr>
          <p:cNvPicPr>
            <a:picLocks noChangeAspect="1"/>
          </p:cNvPicPr>
          <p:nvPr/>
        </p:nvPicPr>
        <p:blipFill rotWithShape="1">
          <a:blip r:embed="rId2"/>
          <a:srcRect l="2486" r="8513" b="-1"/>
          <a:stretch/>
        </p:blipFill>
        <p:spPr>
          <a:xfrm>
            <a:off x="20" y="10"/>
            <a:ext cx="9143980" cy="6857990"/>
          </a:xfrm>
          <a:prstGeom prst="rect">
            <a:avLst/>
          </a:prstGeom>
        </p:spPr>
      </p:pic>
      <p:sp>
        <p:nvSpPr>
          <p:cNvPr id="25" name="Rectangle 2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7404"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675F1-6FBD-FFFA-AAAB-E7F9CC3BDEAE}"/>
              </a:ext>
            </a:extLst>
          </p:cNvPr>
          <p:cNvSpPr>
            <a:spLocks noGrp="1"/>
          </p:cNvSpPr>
          <p:nvPr>
            <p:ph type="title"/>
          </p:nvPr>
        </p:nvSpPr>
        <p:spPr>
          <a:xfrm>
            <a:off x="482600" y="321734"/>
            <a:ext cx="5168389" cy="1135737"/>
          </a:xfrm>
        </p:spPr>
        <p:txBody>
          <a:bodyPr>
            <a:normAutofit/>
          </a:bodyPr>
          <a:lstStyle/>
          <a:p>
            <a:r>
              <a:rPr lang="en-US" sz="3100">
                <a:cs typeface="Calibri Light"/>
              </a:rPr>
              <a:t>storage</a:t>
            </a:r>
            <a:endParaRPr lang="en-US" sz="3100"/>
          </a:p>
        </p:txBody>
      </p:sp>
      <p:sp>
        <p:nvSpPr>
          <p:cNvPr id="3" name="Content Placeholder 2">
            <a:extLst>
              <a:ext uri="{FF2B5EF4-FFF2-40B4-BE49-F238E27FC236}">
                <a16:creationId xmlns:a16="http://schemas.microsoft.com/office/drawing/2014/main" id="{D298389E-73DA-4CDA-C902-7575A928849F}"/>
              </a:ext>
            </a:extLst>
          </p:cNvPr>
          <p:cNvSpPr>
            <a:spLocks noGrp="1"/>
          </p:cNvSpPr>
          <p:nvPr>
            <p:ph idx="1"/>
          </p:nvPr>
        </p:nvSpPr>
        <p:spPr>
          <a:xfrm>
            <a:off x="482600" y="1782981"/>
            <a:ext cx="5168390" cy="4393982"/>
          </a:xfrm>
        </p:spPr>
        <p:txBody>
          <a:bodyPr vert="horz" lIns="91440" tIns="45720" rIns="91440" bIns="45720" rtlCol="0" anchor="t">
            <a:normAutofit/>
          </a:bodyPr>
          <a:lstStyle/>
          <a:p>
            <a:pPr>
              <a:buFont typeface="Arial"/>
              <a:buChar char="•"/>
            </a:pPr>
            <a:r>
              <a:rPr lang="en-US" sz="1700">
                <a:ea typeface="+mn-lt"/>
                <a:cs typeface="+mn-lt"/>
              </a:rPr>
              <a:t>Should be protected against extremes of weather.</a:t>
            </a:r>
          </a:p>
          <a:p>
            <a:pPr>
              <a:buFont typeface="Arial"/>
              <a:buChar char="•"/>
            </a:pPr>
            <a:r>
              <a:rPr lang="en-US" sz="1700">
                <a:ea typeface="+mn-lt"/>
                <a:cs typeface="+mn-lt"/>
              </a:rPr>
              <a:t>Cylinders should be stored in a secure area.</a:t>
            </a:r>
          </a:p>
          <a:p>
            <a:pPr>
              <a:buFont typeface="Arial"/>
            </a:pPr>
            <a:r>
              <a:rPr lang="en-US" sz="1700">
                <a:ea typeface="+mn-lt"/>
                <a:cs typeface="+mn-lt"/>
              </a:rPr>
              <a:t>Combustible materials should not be kept near cylinders (with rare exceptions).</a:t>
            </a:r>
          </a:p>
          <a:p>
            <a:pPr>
              <a:buFont typeface="Arial"/>
            </a:pPr>
            <a:r>
              <a:rPr lang="en-US" sz="1700">
                <a:ea typeface="+mn-lt"/>
                <a:cs typeface="+mn-lt"/>
              </a:rPr>
              <a:t>Cylinders should be protected from mechanical shock.</a:t>
            </a:r>
          </a:p>
          <a:p>
            <a:pPr>
              <a:buFont typeface="Arial"/>
            </a:pPr>
            <a:r>
              <a:rPr lang="en-US" sz="1700">
                <a:ea typeface="+mn-lt"/>
                <a:cs typeface="+mn-lt"/>
              </a:rPr>
              <a:t>Small cylinders are best stored upright or horizontally while Large cylinders should be stored upright against a wall and chained in place.</a:t>
            </a:r>
          </a:p>
          <a:p>
            <a:pPr>
              <a:buFont typeface="Arial"/>
            </a:pPr>
            <a:r>
              <a:rPr lang="en-US" sz="1700">
                <a:ea typeface="+mn-lt"/>
                <a:cs typeface="+mn-lt"/>
              </a:rPr>
              <a:t>There should be a system of inventory for both empty and full cylinders.</a:t>
            </a:r>
            <a:endParaRPr lang="en-US"/>
          </a:p>
        </p:txBody>
      </p:sp>
      <p:grpSp>
        <p:nvGrpSpPr>
          <p:cNvPr id="27" name="Group 26">
            <a:extLst>
              <a:ext uri="{FF2B5EF4-FFF2-40B4-BE49-F238E27FC236}">
                <a16:creationId xmlns:a16="http://schemas.microsoft.com/office/drawing/2014/main" id="{07EAA094-9CF6-4695-958A-33D9BCAA9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42340" y="713128"/>
            <a:ext cx="801649" cy="2126625"/>
            <a:chOff x="10918968" y="713127"/>
            <a:chExt cx="1273032" cy="2532832"/>
          </a:xfrm>
        </p:grpSpPr>
        <p:sp>
          <p:nvSpPr>
            <p:cNvPr id="28" name="Rectangle 27">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Isosceles Triangle 30">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8518" y="5230015"/>
            <a:ext cx="2017580" cy="760545"/>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60240" y="5789405"/>
            <a:ext cx="485578" cy="36418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6089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During use</a:t>
            </a:r>
          </a:p>
        </p:txBody>
      </p:sp>
      <p:sp>
        <p:nvSpPr>
          <p:cNvPr id="3" name="Subtitle 2"/>
          <p:cNvSpPr>
            <a:spLocks noGrp="1"/>
          </p:cNvSpPr>
          <p:nvPr>
            <p:ph idx="1"/>
          </p:nvPr>
        </p:nvSpPr>
        <p:spPr/>
        <p:txBody>
          <a:bodyPr>
            <a:normAutofit fontScale="85000" lnSpcReduction="10000"/>
          </a:bodyPr>
          <a:lstStyle/>
          <a:p>
            <a:r>
              <a:rPr lang="en-US"/>
              <a:t>Before use the content of the cylinder should be identified. </a:t>
            </a:r>
          </a:p>
          <a:p>
            <a:r>
              <a:rPr lang="en-US"/>
              <a:t>A pressure regulator should always be used.</a:t>
            </a:r>
          </a:p>
          <a:p>
            <a:r>
              <a:rPr lang="en-US"/>
              <a:t>Before a regulator is connected to a cylinder, it should be inspected for signs of damage and FB.</a:t>
            </a:r>
          </a:p>
          <a:p>
            <a:r>
              <a:rPr lang="en-US"/>
              <a:t>Before any fitting apply slow and brief opening (“cracking”) of the valve.</a:t>
            </a:r>
          </a:p>
          <a:p>
            <a:r>
              <a:rPr lang="en-US"/>
              <a:t>Protection cap should be removed just before connecting.</a:t>
            </a:r>
          </a:p>
          <a:p>
            <a:pPr lvl="0"/>
            <a:r>
              <a:rPr lang="en-US"/>
              <a:t>Connectors that do not fit should never be forced.</a:t>
            </a:r>
          </a:p>
          <a:p>
            <a:endParaRPr lang="en-US"/>
          </a:p>
          <a:p>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3">
                                            <p:txEl>
                                              <p:pRg st="4" end="4"/>
                                            </p:txEl>
                                          </p:spTgt>
                                        </p:tgtEl>
                                      </p:cBhvr>
                                    </p:animEffect>
                                    <p:set>
                                      <p:cBhvr>
                                        <p:cTn id="44" dur="1" fill="hold">
                                          <p:stCondLst>
                                            <p:cond delay="499"/>
                                          </p:stCondLst>
                                        </p:cTn>
                                        <p:tgtEl>
                                          <p:spTgt spid="3">
                                            <p:txEl>
                                              <p:pRg st="4" end="4"/>
                                            </p:txEl>
                                          </p:spTgt>
                                        </p:tgtEl>
                                        <p:attrNameLst>
                                          <p:attrName>style.visibility</p:attrName>
                                        </p:attrNameLst>
                                      </p:cBhvr>
                                      <p:to>
                                        <p:strVal val="hidden"/>
                                      </p:to>
                                    </p:set>
                                  </p:childTnLst>
                                </p:cTn>
                              </p:par>
                              <p:par>
                                <p:cTn id="45" presetID="3" presetClass="entr" presetSubtype="1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blinds(horizontal)">
                                      <p:cBhvr>
                                        <p:cTn id="4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Subtitle 2"/>
          <p:cNvSpPr>
            <a:spLocks noGrp="1"/>
          </p:cNvSpPr>
          <p:nvPr>
            <p:ph idx="1"/>
          </p:nvPr>
        </p:nvSpPr>
        <p:spPr/>
        <p:txBody>
          <a:bodyPr>
            <a:normAutofit fontScale="92500" lnSpcReduction="20000"/>
          </a:bodyPr>
          <a:lstStyle/>
          <a:p>
            <a:r>
              <a:rPr lang="en-US"/>
              <a:t>The person opening a cylinder valve should position himself or herself… &amp; goggles.</a:t>
            </a:r>
          </a:p>
          <a:p>
            <a:pPr lvl="0"/>
            <a:r>
              <a:rPr lang="en-US"/>
              <a:t>A cylinder valve should always be opened SLOWLY ?</a:t>
            </a:r>
          </a:p>
          <a:p>
            <a:r>
              <a:rPr lang="en-US"/>
              <a:t>After the cylinder valve is opened, the pressure should be checked.</a:t>
            </a:r>
          </a:p>
          <a:p>
            <a:r>
              <a:rPr lang="en-US"/>
              <a:t>Cylinder must be secured to a cylinder stand or to apparatus of sufficient size to render the entire assembly stable.</a:t>
            </a:r>
          </a:p>
          <a:p>
            <a:r>
              <a:rPr lang="en-US"/>
              <a:t>The valve should always be fully open when a cylinder is in use.</a:t>
            </a:r>
          </a:p>
          <a:p>
            <a:endParaRPr lang="en-US"/>
          </a:p>
          <a:p>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After use</a:t>
            </a:r>
          </a:p>
        </p:txBody>
      </p:sp>
      <p:sp>
        <p:nvSpPr>
          <p:cNvPr id="3" name="Subtitle 2"/>
          <p:cNvSpPr>
            <a:spLocks noGrp="1"/>
          </p:cNvSpPr>
          <p:nvPr>
            <p:ph idx="1"/>
          </p:nvPr>
        </p:nvSpPr>
        <p:spPr/>
        <p:txBody>
          <a:bodyPr>
            <a:normAutofit fontScale="92500" lnSpcReduction="10000"/>
          </a:bodyPr>
          <a:lstStyle/>
          <a:p>
            <a:r>
              <a:rPr lang="en-US"/>
              <a:t>Valve should be closed.</a:t>
            </a:r>
          </a:p>
          <a:p>
            <a:pPr lvl="0"/>
            <a:r>
              <a:rPr lang="en-US"/>
              <a:t>An empty or near-empty cylinder should not be left on an anesthesia machine. </a:t>
            </a:r>
          </a:p>
          <a:p>
            <a:r>
              <a:rPr lang="en-US"/>
              <a:t>Before removing a cylinder the valve should be closed and all downstream pressure released.</a:t>
            </a:r>
          </a:p>
          <a:p>
            <a:r>
              <a:rPr lang="en-US"/>
              <a:t>Valves should be completely closed on all empty cylinders.</a:t>
            </a:r>
          </a:p>
          <a:p>
            <a:r>
              <a:rPr lang="en-US"/>
              <a:t>Valve protection caps should be replaced before shipment.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Hazards</a:t>
            </a:r>
          </a:p>
        </p:txBody>
      </p:sp>
      <p:sp>
        <p:nvSpPr>
          <p:cNvPr id="3" name="Subtitle 2"/>
          <p:cNvSpPr>
            <a:spLocks noGrp="1"/>
          </p:cNvSpPr>
          <p:nvPr>
            <p:ph idx="1"/>
          </p:nvPr>
        </p:nvSpPr>
        <p:spPr/>
        <p:txBody>
          <a:bodyPr>
            <a:normAutofit fontScale="85000" lnSpcReduction="20000"/>
          </a:bodyPr>
          <a:lstStyle/>
          <a:p>
            <a:r>
              <a:rPr lang="en-US"/>
              <a:t>Incorrect cylinder - pins</a:t>
            </a:r>
          </a:p>
          <a:p>
            <a:r>
              <a:rPr lang="en-US"/>
              <a:t>Incorrect content – wrong &amp; not mixed</a:t>
            </a:r>
          </a:p>
          <a:p>
            <a:r>
              <a:rPr lang="en-US"/>
              <a:t>Incorrect valve</a:t>
            </a:r>
          </a:p>
          <a:p>
            <a:r>
              <a:rPr lang="en-US"/>
              <a:t>Incorrect color</a:t>
            </a:r>
          </a:p>
          <a:p>
            <a:r>
              <a:rPr lang="en-US"/>
              <a:t>Incorrect labeling</a:t>
            </a:r>
          </a:p>
          <a:p>
            <a:r>
              <a:rPr lang="en-US"/>
              <a:t>Inoperable/ Damaged Valve</a:t>
            </a:r>
          </a:p>
          <a:p>
            <a:r>
              <a:rPr lang="en-US"/>
              <a:t>Projectile damage</a:t>
            </a:r>
          </a:p>
          <a:p>
            <a:r>
              <a:rPr lang="en-US"/>
              <a:t>Blocked flow meter</a:t>
            </a:r>
          </a:p>
          <a:p>
            <a:r>
              <a:rPr lang="en-US"/>
              <a:t>Fires,</a:t>
            </a:r>
          </a:p>
          <a:p>
            <a:r>
              <a:rPr lang="en-US"/>
              <a:t>Explosion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3">
                                            <p:txEl>
                                              <p:pRg st="4" end="4"/>
                                            </p:txEl>
                                          </p:spTgt>
                                        </p:tgtEl>
                                      </p:cBhvr>
                                    </p:animEffect>
                                    <p:set>
                                      <p:cBhvr>
                                        <p:cTn id="44" dur="1" fill="hold">
                                          <p:stCondLst>
                                            <p:cond delay="499"/>
                                          </p:stCondLst>
                                        </p:cTn>
                                        <p:tgtEl>
                                          <p:spTgt spid="3">
                                            <p:txEl>
                                              <p:pRg st="4" end="4"/>
                                            </p:txEl>
                                          </p:spTgt>
                                        </p:tgtEl>
                                        <p:attrNameLst>
                                          <p:attrName>style.visibility</p:attrName>
                                        </p:attrNameLst>
                                      </p:cBhvr>
                                      <p:to>
                                        <p:strVal val="hidden"/>
                                      </p:to>
                                    </p:set>
                                  </p:childTnLst>
                                </p:cTn>
                              </p:par>
                              <p:par>
                                <p:cTn id="45" presetID="3" presetClass="entr" presetSubtype="1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blinds(horizontal)">
                                      <p:cBhvr>
                                        <p:cTn id="47" dur="500"/>
                                        <p:tgtEl>
                                          <p:spTgt spid="3">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nodeType="clickEffect">
                                  <p:stCondLst>
                                    <p:cond delay="0"/>
                                  </p:stCondLst>
                                  <p:childTnLst>
                                    <p:animEffect transition="out" filter="blinds(horizontal)">
                                      <p:cBhvr>
                                        <p:cTn id="51" dur="500"/>
                                        <p:tgtEl>
                                          <p:spTgt spid="3">
                                            <p:txEl>
                                              <p:pRg st="5" end="5"/>
                                            </p:txEl>
                                          </p:spTgt>
                                        </p:tgtEl>
                                      </p:cBhvr>
                                    </p:animEffect>
                                    <p:set>
                                      <p:cBhvr>
                                        <p:cTn id="52" dur="1" fill="hold">
                                          <p:stCondLst>
                                            <p:cond delay="499"/>
                                          </p:stCondLst>
                                        </p:cTn>
                                        <p:tgtEl>
                                          <p:spTgt spid="3">
                                            <p:txEl>
                                              <p:pRg st="5" end="5"/>
                                            </p:txEl>
                                          </p:spTgt>
                                        </p:tgtEl>
                                        <p:attrNameLst>
                                          <p:attrName>style.visibility</p:attrName>
                                        </p:attrNameLst>
                                      </p:cBhvr>
                                      <p:to>
                                        <p:strVal val="hidden"/>
                                      </p:to>
                                    </p:set>
                                  </p:childTnLst>
                                </p:cTn>
                              </p:par>
                              <p:par>
                                <p:cTn id="53" presetID="3" presetClass="entr" presetSubtype="10" fill="hold" nodeType="with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blinds(horizontal)">
                                      <p:cBhvr>
                                        <p:cTn id="55" dur="500"/>
                                        <p:tgtEl>
                                          <p:spTgt spid="3">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nodeType="clickEffect">
                                  <p:stCondLst>
                                    <p:cond delay="0"/>
                                  </p:stCondLst>
                                  <p:childTnLst>
                                    <p:animEffect transition="out" filter="blinds(horizontal)">
                                      <p:cBhvr>
                                        <p:cTn id="59" dur="500"/>
                                        <p:tgtEl>
                                          <p:spTgt spid="3">
                                            <p:txEl>
                                              <p:pRg st="6" end="6"/>
                                            </p:txEl>
                                          </p:spTgt>
                                        </p:tgtEl>
                                      </p:cBhvr>
                                    </p:animEffect>
                                    <p:set>
                                      <p:cBhvr>
                                        <p:cTn id="60" dur="1" fill="hold">
                                          <p:stCondLst>
                                            <p:cond delay="499"/>
                                          </p:stCondLst>
                                        </p:cTn>
                                        <p:tgtEl>
                                          <p:spTgt spid="3">
                                            <p:txEl>
                                              <p:pRg st="6" end="6"/>
                                            </p:txEl>
                                          </p:spTgt>
                                        </p:tgtEl>
                                        <p:attrNameLst>
                                          <p:attrName>style.visibility</p:attrName>
                                        </p:attrNameLst>
                                      </p:cBhvr>
                                      <p:to>
                                        <p:strVal val="hidden"/>
                                      </p:to>
                                    </p:set>
                                  </p:childTnLst>
                                </p:cTn>
                              </p:par>
                              <p:par>
                                <p:cTn id="61" presetID="3" presetClass="entr" presetSubtype="10" fill="hold" nodeType="with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blinds(horizontal)">
                                      <p:cBhvr>
                                        <p:cTn id="63" dur="500"/>
                                        <p:tgtEl>
                                          <p:spTgt spid="3">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xit" presetSubtype="10" fill="hold" nodeType="clickEffect">
                                  <p:stCondLst>
                                    <p:cond delay="0"/>
                                  </p:stCondLst>
                                  <p:childTnLst>
                                    <p:animEffect transition="out" filter="blinds(horizontal)">
                                      <p:cBhvr>
                                        <p:cTn id="67" dur="500"/>
                                        <p:tgtEl>
                                          <p:spTgt spid="3">
                                            <p:txEl>
                                              <p:pRg st="7" end="7"/>
                                            </p:txEl>
                                          </p:spTgt>
                                        </p:tgtEl>
                                      </p:cBhvr>
                                    </p:animEffect>
                                    <p:set>
                                      <p:cBhvr>
                                        <p:cTn id="68" dur="1" fill="hold">
                                          <p:stCondLst>
                                            <p:cond delay="499"/>
                                          </p:stCondLst>
                                        </p:cTn>
                                        <p:tgtEl>
                                          <p:spTgt spid="3">
                                            <p:txEl>
                                              <p:pRg st="7" end="7"/>
                                            </p:txEl>
                                          </p:spTgt>
                                        </p:tgtEl>
                                        <p:attrNameLst>
                                          <p:attrName>style.visibility</p:attrName>
                                        </p:attrNameLst>
                                      </p:cBhvr>
                                      <p:to>
                                        <p:strVal val="hidden"/>
                                      </p:to>
                                    </p:set>
                                  </p:childTnLst>
                                </p:cTn>
                              </p:par>
                              <p:par>
                                <p:cTn id="69" presetID="3" presetClass="entr" presetSubtype="10" fill="hold" nodeType="withEffect">
                                  <p:stCondLst>
                                    <p:cond delay="0"/>
                                  </p:stCondLst>
                                  <p:childTnLst>
                                    <p:set>
                                      <p:cBhvr>
                                        <p:cTn id="70" dur="1" fill="hold">
                                          <p:stCondLst>
                                            <p:cond delay="0"/>
                                          </p:stCondLst>
                                        </p:cTn>
                                        <p:tgtEl>
                                          <p:spTgt spid="3">
                                            <p:txEl>
                                              <p:pRg st="8" end="8"/>
                                            </p:txEl>
                                          </p:spTgt>
                                        </p:tgtEl>
                                        <p:attrNameLst>
                                          <p:attrName>style.visibility</p:attrName>
                                        </p:attrNameLst>
                                      </p:cBhvr>
                                      <p:to>
                                        <p:strVal val="visible"/>
                                      </p:to>
                                    </p:set>
                                    <p:animEffect transition="in" filter="blinds(horizontal)">
                                      <p:cBhvr>
                                        <p:cTn id="71" dur="500"/>
                                        <p:tgtEl>
                                          <p:spTgt spid="3">
                                            <p:txEl>
                                              <p:pRg st="8" end="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xit" presetSubtype="10" fill="hold" nodeType="clickEffect">
                                  <p:stCondLst>
                                    <p:cond delay="0"/>
                                  </p:stCondLst>
                                  <p:childTnLst>
                                    <p:animEffect transition="out" filter="blinds(horizontal)">
                                      <p:cBhvr>
                                        <p:cTn id="75" dur="500"/>
                                        <p:tgtEl>
                                          <p:spTgt spid="3">
                                            <p:txEl>
                                              <p:pRg st="8" end="8"/>
                                            </p:txEl>
                                          </p:spTgt>
                                        </p:tgtEl>
                                      </p:cBhvr>
                                    </p:animEffect>
                                    <p:set>
                                      <p:cBhvr>
                                        <p:cTn id="76" dur="1" fill="hold">
                                          <p:stCondLst>
                                            <p:cond delay="499"/>
                                          </p:stCondLst>
                                        </p:cTn>
                                        <p:tgtEl>
                                          <p:spTgt spid="3">
                                            <p:txEl>
                                              <p:pRg st="8" end="8"/>
                                            </p:txEl>
                                          </p:spTgt>
                                        </p:tgtEl>
                                        <p:attrNameLst>
                                          <p:attrName>style.visibility</p:attrName>
                                        </p:attrNameLst>
                                      </p:cBhvr>
                                      <p:to>
                                        <p:strVal val="hidden"/>
                                      </p:to>
                                    </p:set>
                                  </p:childTnLst>
                                </p:cTn>
                              </p:par>
                              <p:par>
                                <p:cTn id="77" presetID="3" presetClass="entr" presetSubtype="10" fill="hold" nodeType="with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animEffect transition="in" filter="blinds(horizontal)">
                                      <p:cBhvr>
                                        <p:cTn id="7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675F1-6FBD-FFFA-AAAB-E7F9CC3BDEAE}"/>
              </a:ext>
            </a:extLst>
          </p:cNvPr>
          <p:cNvSpPr>
            <a:spLocks noGrp="1"/>
          </p:cNvSpPr>
          <p:nvPr>
            <p:ph type="title"/>
          </p:nvPr>
        </p:nvSpPr>
        <p:spPr>
          <a:xfrm>
            <a:off x="442170" y="856180"/>
            <a:ext cx="3420438" cy="1128068"/>
          </a:xfrm>
        </p:spPr>
        <p:txBody>
          <a:bodyPr anchor="ctr">
            <a:normAutofit/>
          </a:bodyPr>
          <a:lstStyle/>
          <a:p>
            <a:r>
              <a:rPr lang="en-US" sz="3500">
                <a:ea typeface="+mj-lt"/>
                <a:cs typeface="+mj-lt"/>
              </a:rPr>
              <a:t>Oxygen concentrators</a:t>
            </a:r>
          </a:p>
          <a:p>
            <a:endParaRPr lang="en-US" sz="3500">
              <a:cs typeface="Calibri Light"/>
            </a:endParaRPr>
          </a:p>
        </p:txBody>
      </p:sp>
      <p:grpSp>
        <p:nvGrpSpPr>
          <p:cNvPr id="42" name="Group 4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266396" cy="673460"/>
            <a:chOff x="0" y="823811"/>
            <a:chExt cx="355196" cy="673460"/>
          </a:xfrm>
        </p:grpSpPr>
        <p:sp>
          <p:nvSpPr>
            <p:cNvPr id="43" name="Rectangle 4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8813" y="2090569"/>
            <a:ext cx="32232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36">
            <a:extLst>
              <a:ext uri="{FF2B5EF4-FFF2-40B4-BE49-F238E27FC236}">
                <a16:creationId xmlns:a16="http://schemas.microsoft.com/office/drawing/2014/main" id="{30651DD5-83A6-A0E3-FDA1-1CDED3C3D523}"/>
              </a:ext>
            </a:extLst>
          </p:cNvPr>
          <p:cNvSpPr>
            <a:spLocks noGrp="1"/>
          </p:cNvSpPr>
          <p:nvPr>
            <p:ph idx="1"/>
          </p:nvPr>
        </p:nvSpPr>
        <p:spPr>
          <a:xfrm>
            <a:off x="443039" y="2330505"/>
            <a:ext cx="3419569" cy="3979585"/>
          </a:xfrm>
        </p:spPr>
        <p:txBody>
          <a:bodyPr anchor="ctr">
            <a:normAutofit/>
          </a:bodyPr>
          <a:lstStyle/>
          <a:p>
            <a:endParaRPr lang="en-US" sz="1700"/>
          </a:p>
        </p:txBody>
      </p:sp>
      <p:sp>
        <p:nvSpPr>
          <p:cNvPr id="48" name="Rectangle 4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513853"/>
            <a:ext cx="4507025"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5" descr="A picture containing white, kitchen appliance&#10;&#10;Description automatically generated">
            <a:extLst>
              <a:ext uri="{FF2B5EF4-FFF2-40B4-BE49-F238E27FC236}">
                <a16:creationId xmlns:a16="http://schemas.microsoft.com/office/drawing/2014/main" id="{92EC74CF-3217-6E54-58E0-5EB21B9921AD}"/>
              </a:ext>
            </a:extLst>
          </p:cNvPr>
          <p:cNvPicPr>
            <a:picLocks noChangeAspect="1"/>
          </p:cNvPicPr>
          <p:nvPr/>
        </p:nvPicPr>
        <p:blipFill rotWithShape="1">
          <a:blip r:embed="rId2"/>
          <a:srcRect l="17531" r="5099" b="-2"/>
          <a:stretch/>
        </p:blipFill>
        <p:spPr>
          <a:xfrm>
            <a:off x="4483341" y="799352"/>
            <a:ext cx="4069057" cy="5259296"/>
          </a:xfrm>
          <a:prstGeom prst="rect">
            <a:avLst/>
          </a:prstGeom>
        </p:spPr>
      </p:pic>
    </p:spTree>
    <p:extLst>
      <p:ext uri="{BB962C8B-B14F-4D97-AF65-F5344CB8AC3E}">
        <p14:creationId xmlns:p14="http://schemas.microsoft.com/office/powerpoint/2010/main" val="40708905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675F1-6FBD-FFFA-AAAB-E7F9CC3BDEAE}"/>
              </a:ext>
            </a:extLst>
          </p:cNvPr>
          <p:cNvSpPr>
            <a:spLocks noGrp="1"/>
          </p:cNvSpPr>
          <p:nvPr>
            <p:ph type="title"/>
          </p:nvPr>
        </p:nvSpPr>
        <p:spPr>
          <a:xfrm>
            <a:off x="442170" y="856180"/>
            <a:ext cx="3420438" cy="1128068"/>
          </a:xfrm>
        </p:spPr>
        <p:txBody>
          <a:bodyPr anchor="ctr">
            <a:normAutofit/>
          </a:bodyPr>
          <a:lstStyle/>
          <a:p>
            <a:r>
              <a:rPr lang="en-US" sz="3500">
                <a:ea typeface="+mj-lt"/>
                <a:cs typeface="+mj-lt"/>
              </a:rPr>
              <a:t>Oxygen concentrators</a:t>
            </a:r>
          </a:p>
          <a:p>
            <a:endParaRPr lang="en-US" sz="3500">
              <a:cs typeface="Calibri Light"/>
            </a:endParaRPr>
          </a:p>
        </p:txBody>
      </p:sp>
      <p:grpSp>
        <p:nvGrpSpPr>
          <p:cNvPr id="42" name="Group 4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266396" cy="673460"/>
            <a:chOff x="0" y="823811"/>
            <a:chExt cx="355196" cy="673460"/>
          </a:xfrm>
        </p:grpSpPr>
        <p:sp>
          <p:nvSpPr>
            <p:cNvPr id="43" name="Rectangle 4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8813" y="2090569"/>
            <a:ext cx="32232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36">
            <a:extLst>
              <a:ext uri="{FF2B5EF4-FFF2-40B4-BE49-F238E27FC236}">
                <a16:creationId xmlns:a16="http://schemas.microsoft.com/office/drawing/2014/main" id="{30651DD5-83A6-A0E3-FDA1-1CDED3C3D523}"/>
              </a:ext>
            </a:extLst>
          </p:cNvPr>
          <p:cNvSpPr>
            <a:spLocks noGrp="1"/>
          </p:cNvSpPr>
          <p:nvPr>
            <p:ph idx="1"/>
          </p:nvPr>
        </p:nvSpPr>
        <p:spPr>
          <a:xfrm>
            <a:off x="443039" y="2330505"/>
            <a:ext cx="3419569" cy="3979585"/>
          </a:xfrm>
        </p:spPr>
        <p:txBody>
          <a:bodyPr anchor="ctr">
            <a:normAutofit/>
          </a:bodyPr>
          <a:lstStyle/>
          <a:p>
            <a:pPr>
              <a:buFont typeface="Arial"/>
              <a:buChar char="•"/>
            </a:pPr>
            <a:r>
              <a:rPr lang="en-US" sz="1700" dirty="0">
                <a:ea typeface="+mn-lt"/>
                <a:cs typeface="+mn-lt"/>
              </a:rPr>
              <a:t>Oxygen is generated by the selective adsorption of the components of air with molecular sieve technology. </a:t>
            </a:r>
          </a:p>
          <a:p>
            <a:pPr>
              <a:buFont typeface="Arial"/>
              <a:buChar char="•"/>
            </a:pPr>
            <a:r>
              <a:rPr lang="en-US" sz="1700" dirty="0">
                <a:ea typeface="+mn-lt"/>
                <a:cs typeface="+mn-lt"/>
              </a:rPr>
              <a:t>Most concentrators use an inorganic silicate belonging to a class of crystalline compounds known as </a:t>
            </a:r>
            <a:r>
              <a:rPr lang="en-US" sz="1700" b="1" dirty="0">
                <a:ea typeface="+mn-lt"/>
                <a:cs typeface="+mn-lt"/>
              </a:rPr>
              <a:t>zeolites</a:t>
            </a:r>
            <a:r>
              <a:rPr lang="en-US" sz="1700" dirty="0">
                <a:ea typeface="+mn-lt"/>
                <a:cs typeface="+mn-lt"/>
              </a:rPr>
              <a:t> for the molecular sieve</a:t>
            </a:r>
          </a:p>
          <a:p>
            <a:pPr>
              <a:buFont typeface="Arial"/>
              <a:buChar char="•"/>
            </a:pPr>
            <a:r>
              <a:rPr lang="en-US" sz="1700" dirty="0">
                <a:ea typeface="+mn-lt"/>
                <a:cs typeface="+mn-lt"/>
              </a:rPr>
              <a:t>Air is forced through the sieves under pressure, and oxygen and nitrogen are generated. </a:t>
            </a:r>
            <a:endParaRPr lang="en-US" sz="1700" dirty="0">
              <a:cs typeface="Calibri"/>
            </a:endParaRPr>
          </a:p>
        </p:txBody>
      </p:sp>
      <p:sp>
        <p:nvSpPr>
          <p:cNvPr id="48" name="Rectangle 4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513853"/>
            <a:ext cx="4507025"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5" descr="A picture containing white, kitchen appliance&#10;&#10;Description automatically generated">
            <a:extLst>
              <a:ext uri="{FF2B5EF4-FFF2-40B4-BE49-F238E27FC236}">
                <a16:creationId xmlns:a16="http://schemas.microsoft.com/office/drawing/2014/main" id="{92EC74CF-3217-6E54-58E0-5EB21B9921AD}"/>
              </a:ext>
            </a:extLst>
          </p:cNvPr>
          <p:cNvPicPr>
            <a:picLocks noChangeAspect="1"/>
          </p:cNvPicPr>
          <p:nvPr/>
        </p:nvPicPr>
        <p:blipFill rotWithShape="1">
          <a:blip r:embed="rId2"/>
          <a:srcRect l="17531" r="5099" b="-2"/>
          <a:stretch/>
        </p:blipFill>
        <p:spPr>
          <a:xfrm>
            <a:off x="4483341" y="799352"/>
            <a:ext cx="4069057" cy="5259296"/>
          </a:xfrm>
          <a:prstGeom prst="rect">
            <a:avLst/>
          </a:prstGeom>
        </p:spPr>
      </p:pic>
    </p:spTree>
    <p:extLst>
      <p:ext uri="{BB962C8B-B14F-4D97-AF65-F5344CB8AC3E}">
        <p14:creationId xmlns:p14="http://schemas.microsoft.com/office/powerpoint/2010/main" val="37244927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Mechanism</a:t>
            </a:r>
          </a:p>
        </p:txBody>
      </p:sp>
      <p:sp>
        <p:nvSpPr>
          <p:cNvPr id="7" name="Content Placeholder 6"/>
          <p:cNvSpPr>
            <a:spLocks noGrp="1"/>
          </p:cNvSpPr>
          <p:nvPr>
            <p:ph sz="half" idx="1"/>
          </p:nvPr>
        </p:nvSpPr>
        <p:spPr/>
        <p:txBody>
          <a:bodyPr>
            <a:normAutofit lnSpcReduction="10000"/>
          </a:bodyPr>
          <a:lstStyle/>
          <a:p>
            <a:r>
              <a:rPr lang="en-US"/>
              <a:t>The oxygen is then used clinically, and the nitrogen is vented to the atmosphere. </a:t>
            </a:r>
          </a:p>
          <a:p>
            <a:r>
              <a:rPr lang="en-US"/>
              <a:t>The maximum oxygen concentration produced by concentrators is approximately 90% to 96%, with the balance made up mostly of argon</a:t>
            </a:r>
          </a:p>
          <a:p>
            <a:endParaRPr lang="en-US"/>
          </a:p>
        </p:txBody>
      </p:sp>
      <p:sp>
        <p:nvSpPr>
          <p:cNvPr id="8" name="Content Placeholder 7"/>
          <p:cNvSpPr>
            <a:spLocks noGrp="1"/>
          </p:cNvSpPr>
          <p:nvPr>
            <p:ph sz="half" idx="2"/>
          </p:nvPr>
        </p:nvSpPr>
        <p:spPr/>
        <p:txBody>
          <a:bodyPr>
            <a:normAutofit lnSpcReduction="10000"/>
          </a:bodyPr>
          <a:lstStyle/>
          <a:p>
            <a:endParaRPr lang="en-US"/>
          </a:p>
        </p:txBody>
      </p:sp>
      <p:pic>
        <p:nvPicPr>
          <p:cNvPr id="4" name="Picture 3"/>
          <p:cNvPicPr/>
          <p:nvPr/>
        </p:nvPicPr>
        <p:blipFill>
          <a:blip r:embed="rId3" cstate="print"/>
          <a:srcRect/>
          <a:stretch>
            <a:fillRect/>
          </a:stretch>
        </p:blipFill>
        <p:spPr bwMode="auto">
          <a:xfrm>
            <a:off x="4114800" y="1943100"/>
            <a:ext cx="4805665" cy="3810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Advantages</a:t>
            </a:r>
          </a:p>
        </p:txBody>
      </p:sp>
      <p:sp>
        <p:nvSpPr>
          <p:cNvPr id="3" name="Subtitle 2"/>
          <p:cNvSpPr>
            <a:spLocks noGrp="1"/>
          </p:cNvSpPr>
          <p:nvPr>
            <p:ph idx="1"/>
          </p:nvPr>
        </p:nvSpPr>
        <p:spPr/>
        <p:txBody>
          <a:bodyPr>
            <a:normAutofit/>
          </a:bodyPr>
          <a:lstStyle/>
          <a:p>
            <a:pPr lvl="0"/>
            <a:r>
              <a:rPr lang="en-US"/>
              <a:t>Cost Savings decreases</a:t>
            </a:r>
          </a:p>
          <a:p>
            <a:pPr lvl="0"/>
            <a:r>
              <a:rPr lang="en-US"/>
              <a:t>Contaminant Filtration</a:t>
            </a:r>
          </a:p>
          <a:p>
            <a:r>
              <a:rPr lang="en-US"/>
              <a:t>Compatibility with Most Gas Monitors</a:t>
            </a:r>
          </a:p>
          <a:p>
            <a:pPr lvl="0"/>
            <a:r>
              <a:rPr lang="en-US"/>
              <a:t>Reliability – not affected by altitude changes</a:t>
            </a:r>
          </a:p>
          <a:p>
            <a:pPr lvl="0"/>
            <a:r>
              <a:rPr lang="en-US"/>
              <a:t>Simplicity </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t>Disadvantages</a:t>
            </a:r>
          </a:p>
        </p:txBody>
      </p:sp>
      <p:sp>
        <p:nvSpPr>
          <p:cNvPr id="3" name="Subtitle 2"/>
          <p:cNvSpPr>
            <a:spLocks noGrp="1"/>
          </p:cNvSpPr>
          <p:nvPr>
            <p:ph idx="1"/>
          </p:nvPr>
        </p:nvSpPr>
        <p:spPr/>
        <p:txBody>
          <a:bodyPr>
            <a:normAutofit fontScale="92500" lnSpcReduction="20000"/>
          </a:bodyPr>
          <a:lstStyle/>
          <a:p>
            <a:pPr lvl="0"/>
            <a:r>
              <a:rPr lang="en-US"/>
              <a:t>Maintenance – filter change</a:t>
            </a:r>
          </a:p>
          <a:p>
            <a:r>
              <a:rPr lang="en-US"/>
              <a:t>Less Than 100% Oxygen Produced</a:t>
            </a:r>
          </a:p>
          <a:p>
            <a:pPr lvl="0"/>
            <a:r>
              <a:rPr lang="en-US"/>
              <a:t>Fires Hazards – overheated, tube rub…</a:t>
            </a:r>
          </a:p>
          <a:p>
            <a:r>
              <a:rPr lang="en-US"/>
              <a:t>Water Contamination – very high humidity decreases o2 concentration</a:t>
            </a:r>
          </a:p>
          <a:p>
            <a:pPr lvl="0"/>
            <a:r>
              <a:rPr lang="en-US"/>
              <a:t>Contaminated Intake Air – premature exhaustion</a:t>
            </a:r>
          </a:p>
          <a:p>
            <a:pPr lvl="0"/>
            <a:r>
              <a:rPr lang="en-US"/>
              <a:t>Device Malfunction – restricted flow to it, kink, run but no o2</a:t>
            </a:r>
          </a:p>
          <a:p>
            <a:pPr lvl="0"/>
            <a:r>
              <a:rPr lang="en-US"/>
              <a:t>Argon Accumulation – max 5%, problem if 0.5L/m, no patient effect</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3">
                                            <p:txEl>
                                              <p:pRg st="4" end="4"/>
                                            </p:txEl>
                                          </p:spTgt>
                                        </p:tgtEl>
                                      </p:cBhvr>
                                    </p:animEffect>
                                    <p:set>
                                      <p:cBhvr>
                                        <p:cTn id="44" dur="1" fill="hold">
                                          <p:stCondLst>
                                            <p:cond delay="499"/>
                                          </p:stCondLst>
                                        </p:cTn>
                                        <p:tgtEl>
                                          <p:spTgt spid="3">
                                            <p:txEl>
                                              <p:pRg st="4" end="4"/>
                                            </p:txEl>
                                          </p:spTgt>
                                        </p:tgtEl>
                                        <p:attrNameLst>
                                          <p:attrName>style.visibility</p:attrName>
                                        </p:attrNameLst>
                                      </p:cBhvr>
                                      <p:to>
                                        <p:strVal val="hidden"/>
                                      </p:to>
                                    </p:set>
                                  </p:childTnLst>
                                </p:cTn>
                              </p:par>
                              <p:par>
                                <p:cTn id="45" presetID="3" presetClass="entr" presetSubtype="1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blinds(horizontal)">
                                      <p:cBhvr>
                                        <p:cTn id="47" dur="500"/>
                                        <p:tgtEl>
                                          <p:spTgt spid="3">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nodeType="clickEffect">
                                  <p:stCondLst>
                                    <p:cond delay="0"/>
                                  </p:stCondLst>
                                  <p:childTnLst>
                                    <p:animEffect transition="out" filter="blinds(horizontal)">
                                      <p:cBhvr>
                                        <p:cTn id="51" dur="500"/>
                                        <p:tgtEl>
                                          <p:spTgt spid="3">
                                            <p:txEl>
                                              <p:pRg st="5" end="5"/>
                                            </p:txEl>
                                          </p:spTgt>
                                        </p:tgtEl>
                                      </p:cBhvr>
                                    </p:animEffect>
                                    <p:set>
                                      <p:cBhvr>
                                        <p:cTn id="52" dur="1" fill="hold">
                                          <p:stCondLst>
                                            <p:cond delay="499"/>
                                          </p:stCondLst>
                                        </p:cTn>
                                        <p:tgtEl>
                                          <p:spTgt spid="3">
                                            <p:txEl>
                                              <p:pRg st="5" end="5"/>
                                            </p:txEl>
                                          </p:spTgt>
                                        </p:tgtEl>
                                        <p:attrNameLst>
                                          <p:attrName>style.visibility</p:attrName>
                                        </p:attrNameLst>
                                      </p:cBhvr>
                                      <p:to>
                                        <p:strVal val="hidden"/>
                                      </p:to>
                                    </p:set>
                                  </p:childTnLst>
                                </p:cTn>
                              </p:par>
                              <p:par>
                                <p:cTn id="53" presetID="3" presetClass="entr" presetSubtype="10" fill="hold" nodeType="with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blinds(horizontal)">
                                      <p:cBhvr>
                                        <p:cTn id="5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Anesthesia Equipments</a:t>
            </a:r>
          </a:p>
        </p:txBody>
      </p:sp>
      <p:sp>
        <p:nvSpPr>
          <p:cNvPr id="3" name="Content Placeholder 2"/>
          <p:cNvSpPr>
            <a:spLocks noGrp="1"/>
          </p:cNvSpPr>
          <p:nvPr>
            <p:ph idx="1"/>
          </p:nvPr>
        </p:nvSpPr>
        <p:spPr/>
        <p:txBody>
          <a:bodyPr>
            <a:normAutofit lnSpcReduction="10000"/>
          </a:bodyPr>
          <a:lstStyle/>
          <a:p>
            <a:r>
              <a:rPr lang="en-GB"/>
              <a:t>Medical Gas supply                                     √ </a:t>
            </a:r>
          </a:p>
          <a:p>
            <a:r>
              <a:rPr lang="en-GB"/>
              <a:t>Anaesthetic machine</a:t>
            </a:r>
          </a:p>
          <a:p>
            <a:r>
              <a:rPr lang="en-GB"/>
              <a:t>Breathing systems</a:t>
            </a:r>
          </a:p>
          <a:p>
            <a:r>
              <a:rPr lang="en-GB"/>
              <a:t>Humidification and filtration</a:t>
            </a:r>
          </a:p>
          <a:p>
            <a:r>
              <a:rPr lang="en-GB"/>
              <a:t>Airways</a:t>
            </a:r>
          </a:p>
          <a:p>
            <a:r>
              <a:rPr lang="en-GB"/>
              <a:t>Tracheal intubation equipment</a:t>
            </a:r>
          </a:p>
          <a:p>
            <a:r>
              <a:rPr lang="en-GB"/>
              <a:t>Masks and oxygen delivery devices</a:t>
            </a:r>
          </a:p>
          <a:p>
            <a:r>
              <a:rPr lang="en-GB"/>
              <a:t>Ventilators</a:t>
            </a:r>
          </a:p>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D:\Mine Files\My Pictures\question-mark1a.jpg"/>
          <p:cNvPicPr>
            <a:picLocks noChangeAspect="1" noChangeArrowheads="1"/>
          </p:cNvPicPr>
          <p:nvPr/>
        </p:nvPicPr>
        <p:blipFill>
          <a:blip r:embed="rId2"/>
          <a:srcRect/>
          <a:stretch>
            <a:fillRect/>
          </a:stretch>
        </p:blipFill>
        <p:spPr bwMode="auto">
          <a:xfrm>
            <a:off x="2209800" y="838200"/>
            <a:ext cx="4648200" cy="6019800"/>
          </a:xfrm>
          <a:prstGeom prst="rect">
            <a:avLst/>
          </a:prstGeom>
          <a:noFill/>
        </p:spPr>
      </p:pic>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67</Slides>
  <Notes>37</Notes>
  <HiddenSlides>0</HiddenSlide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Anesthesia Monitoring and Equipment</vt:lpstr>
      <vt:lpstr>Anesthesia Equipments</vt:lpstr>
      <vt:lpstr>MEDICAL GAS SOURCES</vt:lpstr>
      <vt:lpstr>Why learning medical gas?</vt:lpstr>
      <vt:lpstr>PowerPoint Presentation</vt:lpstr>
      <vt:lpstr>PowerPoint Presentation</vt:lpstr>
      <vt:lpstr>PowerPoint Presentation</vt:lpstr>
      <vt:lpstr>PowerPoint Presentation</vt:lpstr>
      <vt:lpstr>PowerPoint Presentation</vt:lpstr>
      <vt:lpstr>PowerPoint Presentation</vt:lpstr>
      <vt:lpstr>Main Gases used in anaesthesia</vt:lpstr>
      <vt:lpstr>Medical gas sources</vt:lpstr>
      <vt:lpstr>PowerPoint Presentation</vt:lpstr>
      <vt:lpstr>Types of compressed Gas</vt:lpstr>
      <vt:lpstr>Oxygen Cylinders</vt:lpstr>
      <vt:lpstr>PowerPoint Presentation</vt:lpstr>
      <vt:lpstr>E-cylinders</vt:lpstr>
      <vt:lpstr>H-cylinders</vt:lpstr>
      <vt:lpstr>Parts of cylinder</vt:lpstr>
      <vt:lpstr>PowerPoint Presentation</vt:lpstr>
      <vt:lpstr>How is the pressure reduced?</vt:lpstr>
      <vt:lpstr>PowerPoint Presentation</vt:lpstr>
      <vt:lpstr>Cylinder valve</vt:lpstr>
      <vt:lpstr>Port </vt:lpstr>
      <vt:lpstr>Stem</vt:lpstr>
      <vt:lpstr>Stem</vt:lpstr>
      <vt:lpstr>Diaphragm valve</vt:lpstr>
      <vt:lpstr>Handle or hand wheel</vt:lpstr>
      <vt:lpstr>Pressure/Safety relief device</vt:lpstr>
      <vt:lpstr>Handle or hand wheel</vt:lpstr>
      <vt:lpstr>Rupture (frangible, burst) disc</vt:lpstr>
      <vt:lpstr>Cont’d</vt:lpstr>
      <vt:lpstr>Conical depression</vt:lpstr>
      <vt:lpstr>PowerPoint Presentation</vt:lpstr>
      <vt:lpstr>Pin index safety system</vt:lpstr>
      <vt:lpstr>PowerPoint Presentation</vt:lpstr>
      <vt:lpstr>PowerPoint Presentation</vt:lpstr>
      <vt:lpstr>Cont’d</vt:lpstr>
      <vt:lpstr>Cont’d</vt:lpstr>
      <vt:lpstr>Size</vt:lpstr>
      <vt:lpstr>Contents and pressure</vt:lpstr>
      <vt:lpstr>PowerPoint Presentation</vt:lpstr>
      <vt:lpstr>Cont’d</vt:lpstr>
      <vt:lpstr>Testing</vt:lpstr>
      <vt:lpstr>Color </vt:lpstr>
      <vt:lpstr>Color cont.</vt:lpstr>
      <vt:lpstr>Tags</vt:lpstr>
      <vt:lpstr>PowerPoint Presentation</vt:lpstr>
      <vt:lpstr>General rules for safe use of cylinders</vt:lpstr>
      <vt:lpstr>General rules for safe use of cylinders</vt:lpstr>
      <vt:lpstr>General rules for safe use of cylinders</vt:lpstr>
      <vt:lpstr>Cont’d</vt:lpstr>
      <vt:lpstr>General rules for safe use of cylinders</vt:lpstr>
      <vt:lpstr>storage</vt:lpstr>
      <vt:lpstr>storage</vt:lpstr>
      <vt:lpstr>storage</vt:lpstr>
      <vt:lpstr>During use</vt:lpstr>
      <vt:lpstr>Cont’d</vt:lpstr>
      <vt:lpstr>After use</vt:lpstr>
      <vt:lpstr>Hazards</vt:lpstr>
      <vt:lpstr>Oxygen concentrators </vt:lpstr>
      <vt:lpstr>Oxygen concentrators </vt:lpstr>
      <vt:lpstr>Mechanism</vt:lpstr>
      <vt:lpstr>Advantages</vt:lpstr>
      <vt:lpstr>Disadvantages</vt:lpstr>
      <vt:lpstr>Anesthesia Equipments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Administratr</dc:creator>
  <cp:lastModifiedBy>Wosen Admasu</cp:lastModifiedBy>
  <cp:revision>3</cp:revision>
  <dcterms:created xsi:type="dcterms:W3CDTF">2010-12-21T19:13:43Z</dcterms:created>
  <dcterms:modified xsi:type="dcterms:W3CDTF">2023-05-09T07:46:56Z</dcterms:modified>
</cp:coreProperties>
</file>