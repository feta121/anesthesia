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7"/>
  </p:notesMasterIdLst>
  <p:handoutMasterIdLst>
    <p:handoutMasterId r:id="rId68"/>
  </p:handoutMasterIdLst>
  <p:sldIdLst>
    <p:sldId id="312" r:id="rId2"/>
    <p:sldId id="315" r:id="rId3"/>
    <p:sldId id="316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13" r:id="rId14"/>
    <p:sldId id="317" r:id="rId15"/>
    <p:sldId id="372" r:id="rId16"/>
    <p:sldId id="318" r:id="rId17"/>
    <p:sldId id="319" r:id="rId18"/>
    <p:sldId id="320" r:id="rId19"/>
    <p:sldId id="321" r:id="rId20"/>
    <p:sldId id="373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64" r:id="rId29"/>
    <p:sldId id="365" r:id="rId30"/>
    <p:sldId id="329" r:id="rId31"/>
    <p:sldId id="330" r:id="rId32"/>
    <p:sldId id="331" r:id="rId33"/>
    <p:sldId id="332" r:id="rId34"/>
    <p:sldId id="335" r:id="rId35"/>
    <p:sldId id="336" r:id="rId36"/>
    <p:sldId id="337" r:id="rId37"/>
    <p:sldId id="338" r:id="rId38"/>
    <p:sldId id="368" r:id="rId39"/>
    <p:sldId id="369" r:id="rId40"/>
    <p:sldId id="370" r:id="rId41"/>
    <p:sldId id="371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55" r:id="rId50"/>
    <p:sldId id="356" r:id="rId51"/>
    <p:sldId id="358" r:id="rId52"/>
    <p:sldId id="359" r:id="rId53"/>
    <p:sldId id="366" r:id="rId54"/>
    <p:sldId id="367" r:id="rId55"/>
    <p:sldId id="362" r:id="rId56"/>
    <p:sldId id="363" r:id="rId57"/>
    <p:sldId id="346" r:id="rId58"/>
    <p:sldId id="347" r:id="rId59"/>
    <p:sldId id="348" r:id="rId60"/>
    <p:sldId id="349" r:id="rId61"/>
    <p:sldId id="351" r:id="rId62"/>
    <p:sldId id="352" r:id="rId63"/>
    <p:sldId id="353" r:id="rId64"/>
    <p:sldId id="354" r:id="rId65"/>
    <p:sldId id="314" r:id="rId6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9AD44D7-D68F-4BDA-A31E-F7AB71A6A8A8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4CAF899-7C39-4AE7-8C91-D3A13EC694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21F6C-6634-4239-ABF5-824663397E5F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B4996-B4D7-48CE-8DAA-E835B226820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Ag-silver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DB4996-B4D7-48CE-8DAA-E835B2268200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Users\pc\Desktop\logo[1]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1" y="-1"/>
            <a:ext cx="1600199" cy="76200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C:\Users\pc\Desktop\logo[1]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1" y="-1"/>
            <a:ext cx="1600199" cy="76200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 descr="C:\Users\pc\Desktop\logo[1]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1" y="-1"/>
            <a:ext cx="1600199" cy="76200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pc\Desktop\logo[1]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1" y="-1"/>
            <a:ext cx="1600199" cy="76200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pc\Desktop\logo[1]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1" y="-1"/>
            <a:ext cx="1600199" cy="76200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20574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20574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For more presentations www.medicalppt.blogspot.com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BD7EE-2EF9-4F92-8C2E-BC0AED4536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DD53F-A8E7-4662-8607-56B5A0FE7C69}" type="datetimeFigureOut">
              <a:rPr lang="en-US" smtClean="0"/>
              <a:pPr/>
              <a:t>30/4/2015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B294E-F577-4186-824B-44FA1D4A39C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Users\pc\Desktop\logo[1]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543801" y="-1"/>
            <a:ext cx="1600199" cy="762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762000"/>
            <a:ext cx="4584192" cy="4572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Anesthetic Monitoring 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11312" y="1423989"/>
            <a:ext cx="5399088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Clinical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Pulseoxymetry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Capnography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/>
              <a:t>Non invasive Blood pressure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/>
              <a:t>ECG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Peripheral nerve stimulators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Volatile / gas analyser &amp; anaesthesia depth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Temperature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Documentation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484623"/>
            <a:ext cx="1295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295400"/>
            <a:ext cx="7406640" cy="1472184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Chapter Six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3048000"/>
            <a:ext cx="7406640" cy="1752600"/>
          </a:xfrm>
        </p:spPr>
        <p:txBody>
          <a:bodyPr/>
          <a:lstStyle/>
          <a:p>
            <a:pPr algn="ctr"/>
            <a:r>
              <a:rPr lang="en-US" sz="4300" dirty="0" smtClean="0">
                <a:solidFill>
                  <a:srgbClr val="4F271C">
                    <a:satMod val="130000"/>
                  </a:srgb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ea typeface="+mj-ea"/>
                <a:cs typeface="+mj-cs"/>
              </a:rPr>
              <a:t>Cardiovascular System Monitoring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124200" y="5410200"/>
            <a:ext cx="5410200" cy="914400"/>
          </a:xfrm>
          <a:prstGeom prst="rect">
            <a:avLst/>
          </a:prstGeom>
        </p:spPr>
        <p:txBody>
          <a:bodyPr tIns="0">
            <a:normAutofit/>
          </a:bodyPr>
          <a:lstStyle/>
          <a:p>
            <a:pPr marL="27432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Wosen A.</a:t>
            </a:r>
          </a:p>
          <a:p>
            <a:pPr marL="27432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2400" dirty="0" smtClean="0">
                <a:solidFill>
                  <a:schemeClr val="tx2">
                    <a:shade val="30000"/>
                    <a:satMod val="150000"/>
                  </a:schemeClr>
                </a:solidFill>
              </a:rPr>
              <a:t>AAU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hade val="30000"/>
                  <a:satMod val="1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057400"/>
            <a:ext cx="6172200" cy="1676400"/>
          </a:xfrm>
          <a:prstGeom prst="round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sz="3600" dirty="0" smtClean="0">
                <a:solidFill>
                  <a:srgbClr val="0070C0"/>
                </a:solidFill>
              </a:rPr>
              <a:t>1. Non invasive arterial blood pressure (NIABP) </a:t>
            </a:r>
            <a:br>
              <a:rPr lang="en-GB" sz="3600" dirty="0" smtClean="0">
                <a:solidFill>
                  <a:srgbClr val="0070C0"/>
                </a:solidFill>
              </a:rPr>
            </a:br>
            <a:r>
              <a:rPr lang="en-GB" sz="3600" dirty="0" smtClean="0">
                <a:solidFill>
                  <a:srgbClr val="0070C0"/>
                </a:solidFill>
              </a:rPr>
              <a:t>measurement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>
                <a:solidFill>
                  <a:schemeClr val="tx1"/>
                </a:solidFill>
              </a:rPr>
              <a:t>Non-invasive blood pressure monitoring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93700" y="2057400"/>
            <a:ext cx="7797800" cy="37512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Manual sphygmomanometer</a:t>
            </a:r>
          </a:p>
          <a:p>
            <a:pPr>
              <a:lnSpc>
                <a:spcPct val="90000"/>
              </a:lnSpc>
            </a:pPr>
            <a:endParaRPr lang="en-GB" sz="2800" dirty="0"/>
          </a:p>
          <a:p>
            <a:pPr>
              <a:lnSpc>
                <a:spcPct val="90000"/>
              </a:lnSpc>
            </a:pPr>
            <a:r>
              <a:rPr lang="en-GB" sz="2800" dirty="0"/>
              <a:t>DINAMAP ( Device for Indirect Non-invasive Automatic Mean Arterial Pressure)</a:t>
            </a:r>
          </a:p>
          <a:p>
            <a:pPr>
              <a:lnSpc>
                <a:spcPct val="90000"/>
              </a:lnSpc>
            </a:pPr>
            <a:endParaRPr lang="en-GB" sz="2800" dirty="0"/>
          </a:p>
          <a:p>
            <a:pPr>
              <a:lnSpc>
                <a:spcPct val="90000"/>
              </a:lnSpc>
            </a:pPr>
            <a:r>
              <a:rPr lang="en-GB" sz="2800" dirty="0" err="1"/>
              <a:t>Finapres</a:t>
            </a:r>
            <a:r>
              <a:rPr lang="en-GB" sz="2800" dirty="0" smtClean="0"/>
              <a:t>™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06400" y="215900"/>
            <a:ext cx="73326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3200"/>
              <a:t>Non-invasive blood pressure monitoring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495300" y="2387600"/>
            <a:ext cx="79502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•"/>
            </a:pPr>
            <a:r>
              <a:rPr lang="en-GB" sz="2400"/>
              <a:t> What information does it give?</a:t>
            </a:r>
          </a:p>
          <a:p>
            <a:pPr lvl="1" algn="l"/>
            <a:r>
              <a:rPr lang="en-GB" sz="2400"/>
              <a:t>	Systolic/diastolic blood pressure</a:t>
            </a:r>
          </a:p>
          <a:p>
            <a:pPr lvl="1" algn="l"/>
            <a:r>
              <a:rPr lang="en-GB" sz="2400"/>
              <a:t>	Intermittent monitoring</a:t>
            </a: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495300" y="4198938"/>
            <a:ext cx="79502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•"/>
            </a:pPr>
            <a:r>
              <a:rPr lang="en-GB" sz="2400"/>
              <a:t> How does it work</a:t>
            </a:r>
          </a:p>
          <a:p>
            <a:pPr lvl="2" algn="l"/>
            <a:r>
              <a:rPr lang="en-GB" sz="2400"/>
              <a:t>Cuff inflated above systolic BP</a:t>
            </a:r>
          </a:p>
          <a:p>
            <a:pPr lvl="2" algn="l"/>
            <a:r>
              <a:rPr lang="en-GB" sz="2400"/>
              <a:t>Controlled deflation (3 mmHg / sec)</a:t>
            </a:r>
          </a:p>
          <a:p>
            <a:pPr lvl="2" algn="l"/>
            <a:r>
              <a:rPr lang="en-GB" sz="2400"/>
              <a:t>Korotkoff sounds</a:t>
            </a:r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406400" y="1138238"/>
            <a:ext cx="7332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Manual sphygmomanometer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7" name="Rectangle 7"/>
          <p:cNvSpPr>
            <a:spLocks noChangeArrowheads="1"/>
          </p:cNvSpPr>
          <p:nvPr/>
        </p:nvSpPr>
        <p:spPr bwMode="auto">
          <a:xfrm>
            <a:off x="406400" y="1803400"/>
            <a:ext cx="42291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•"/>
            </a:pPr>
            <a:r>
              <a:rPr lang="en-GB" sz="2400" dirty="0"/>
              <a:t> Limitations</a:t>
            </a:r>
          </a:p>
          <a:p>
            <a:pPr algn="l"/>
            <a:r>
              <a:rPr lang="en-GB" sz="2400" dirty="0"/>
              <a:t>Labour intensive</a:t>
            </a:r>
          </a:p>
          <a:p>
            <a:pPr algn="l"/>
            <a:r>
              <a:rPr lang="en-GB" sz="2400" dirty="0"/>
              <a:t>Requires good access</a:t>
            </a:r>
          </a:p>
          <a:p>
            <a:pPr algn="l"/>
            <a:r>
              <a:rPr lang="en-GB" sz="2400" dirty="0"/>
              <a:t>Difficult in noisy environment</a:t>
            </a:r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5359400" y="1790700"/>
            <a:ext cx="2794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•"/>
            </a:pPr>
            <a:r>
              <a:rPr lang="en-GB" sz="2400"/>
              <a:t> Benefits</a:t>
            </a:r>
          </a:p>
          <a:p>
            <a:pPr algn="l"/>
            <a:r>
              <a:rPr lang="en-GB" sz="2400"/>
              <a:t>Cheap</a:t>
            </a:r>
          </a:p>
          <a:p>
            <a:pPr algn="l"/>
            <a:r>
              <a:rPr lang="en-GB" sz="2400"/>
              <a:t>No power needed</a:t>
            </a:r>
          </a:p>
        </p:txBody>
      </p:sp>
      <p:sp>
        <p:nvSpPr>
          <p:cNvPr id="76810" name="Rectangle 10"/>
          <p:cNvSpPr>
            <a:spLocks noChangeArrowheads="1"/>
          </p:cNvSpPr>
          <p:nvPr/>
        </p:nvSpPr>
        <p:spPr bwMode="auto">
          <a:xfrm>
            <a:off x="406400" y="4318000"/>
            <a:ext cx="42291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•"/>
            </a:pPr>
            <a:r>
              <a:rPr lang="en-GB" sz="2400"/>
              <a:t> Sources of error</a:t>
            </a:r>
          </a:p>
          <a:p>
            <a:pPr algn="l"/>
            <a:r>
              <a:rPr lang="en-GB" sz="2400"/>
              <a:t>Operator dependent</a:t>
            </a:r>
          </a:p>
          <a:p>
            <a:pPr algn="l"/>
            <a:r>
              <a:rPr lang="en-GB" sz="2400"/>
              <a:t>Small cuff -&gt; over-reads</a:t>
            </a:r>
          </a:p>
          <a:p>
            <a:pPr algn="l"/>
            <a:r>
              <a:rPr lang="en-GB" sz="2400"/>
              <a:t>Large cuff -&gt; under-reads</a:t>
            </a:r>
          </a:p>
        </p:txBody>
      </p:sp>
      <p:sp>
        <p:nvSpPr>
          <p:cNvPr id="76813" name="Rectangle 13"/>
          <p:cNvSpPr>
            <a:spLocks noChangeArrowheads="1"/>
          </p:cNvSpPr>
          <p:nvPr/>
        </p:nvSpPr>
        <p:spPr bwMode="auto">
          <a:xfrm>
            <a:off x="406400" y="215900"/>
            <a:ext cx="73326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3200"/>
              <a:t>Non-invasive blood pressure monitoring</a:t>
            </a:r>
          </a:p>
        </p:txBody>
      </p:sp>
      <p:sp>
        <p:nvSpPr>
          <p:cNvPr id="76814" name="Rectangle 14"/>
          <p:cNvSpPr>
            <a:spLocks noChangeArrowheads="1"/>
          </p:cNvSpPr>
          <p:nvPr/>
        </p:nvSpPr>
        <p:spPr bwMode="auto">
          <a:xfrm>
            <a:off x="406400" y="1138238"/>
            <a:ext cx="7332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Manual sphygmomanometer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509588" y="215900"/>
            <a:ext cx="73326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3200"/>
              <a:t>Non-invasive blood pressure monitoring</a:t>
            </a:r>
            <a:endParaRPr lang="en-GB" sz="2000"/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509588" y="3441700"/>
            <a:ext cx="795020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•"/>
            </a:pPr>
            <a:r>
              <a:rPr lang="en-GB" sz="2400"/>
              <a:t>Components</a:t>
            </a:r>
          </a:p>
          <a:p>
            <a:pPr lvl="2" algn="l"/>
            <a:r>
              <a:rPr lang="en-GB" sz="2400"/>
              <a:t>Cuff with tubing for inflation</a:t>
            </a:r>
          </a:p>
          <a:p>
            <a:pPr lvl="1" algn="l"/>
            <a:r>
              <a:rPr lang="en-GB" sz="2400"/>
              <a:t>	Case with microprocessor and pressure </a:t>
            </a:r>
          </a:p>
          <a:p>
            <a:pPr lvl="2" algn="l"/>
            <a:r>
              <a:rPr lang="en-GB" sz="2400"/>
              <a:t>	transducer	</a:t>
            </a:r>
          </a:p>
          <a:p>
            <a:pPr lvl="1" algn="l"/>
            <a:r>
              <a:rPr lang="en-GB" sz="2400"/>
              <a:t>	Case also houses display and timing mechanism</a:t>
            </a: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509588" y="1149350"/>
            <a:ext cx="15414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DINAMAP</a:t>
            </a: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509588" y="1900238"/>
            <a:ext cx="79502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•"/>
            </a:pPr>
            <a:r>
              <a:rPr lang="en-GB" sz="2400"/>
              <a:t>What information does it give?</a:t>
            </a:r>
          </a:p>
          <a:p>
            <a:pPr lvl="1" algn="l"/>
            <a:r>
              <a:rPr lang="en-GB" sz="2400"/>
              <a:t>	Systolic + MAP</a:t>
            </a:r>
          </a:p>
          <a:p>
            <a:pPr lvl="1" algn="l"/>
            <a:r>
              <a:rPr lang="en-GB" sz="2400"/>
              <a:t>	Intermittent monitoring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406400" y="1362075"/>
            <a:ext cx="83312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How does it work?</a:t>
            </a:r>
          </a:p>
          <a:p>
            <a:pPr lvl="1" algn="l"/>
            <a:r>
              <a:rPr lang="en-GB" sz="2000"/>
              <a:t>Oscillometry</a:t>
            </a:r>
          </a:p>
          <a:p>
            <a:pPr lvl="1" algn="l"/>
            <a:r>
              <a:rPr lang="en-GB" sz="2000"/>
              <a:t>Microprocessor controls sequence inflation and deflation</a:t>
            </a:r>
          </a:p>
          <a:p>
            <a:pPr lvl="1" algn="l"/>
            <a:r>
              <a:rPr lang="en-GB" sz="2000"/>
              <a:t>Cuff inflates to pressure above previous systolic </a:t>
            </a:r>
          </a:p>
          <a:p>
            <a:pPr lvl="1" algn="l"/>
            <a:r>
              <a:rPr lang="en-GB" sz="2000"/>
              <a:t>Cuff deflates incrementally – return of blood flow causes </a:t>
            </a:r>
          </a:p>
          <a:p>
            <a:pPr lvl="2" algn="l"/>
            <a:r>
              <a:rPr lang="en-GB" sz="2000"/>
              <a:t>oscillation in cuff pressure -&gt; detected by transducer</a:t>
            </a:r>
          </a:p>
        </p:txBody>
      </p:sp>
      <p:sp>
        <p:nvSpPr>
          <p:cNvPr id="43014" name="Freeform 6"/>
          <p:cNvSpPr>
            <a:spLocks/>
          </p:cNvSpPr>
          <p:nvPr/>
        </p:nvSpPr>
        <p:spPr bwMode="auto">
          <a:xfrm>
            <a:off x="4568825" y="4206875"/>
            <a:ext cx="866775" cy="1714500"/>
          </a:xfrm>
          <a:custGeom>
            <a:avLst/>
            <a:gdLst/>
            <a:ahLst/>
            <a:cxnLst>
              <a:cxn ang="0">
                <a:pos x="0" y="252"/>
              </a:cxn>
              <a:cxn ang="0">
                <a:pos x="12" y="198"/>
              </a:cxn>
              <a:cxn ang="0">
                <a:pos x="24" y="284"/>
              </a:cxn>
              <a:cxn ang="0">
                <a:pos x="36" y="156"/>
              </a:cxn>
              <a:cxn ang="0">
                <a:pos x="48" y="326"/>
              </a:cxn>
              <a:cxn ang="0">
                <a:pos x="70" y="112"/>
              </a:cxn>
              <a:cxn ang="0">
                <a:pos x="82" y="366"/>
              </a:cxn>
              <a:cxn ang="0">
                <a:pos x="118" y="44"/>
              </a:cxn>
              <a:cxn ang="0">
                <a:pos x="130" y="424"/>
              </a:cxn>
              <a:cxn ang="0">
                <a:pos x="178" y="0"/>
              </a:cxn>
              <a:cxn ang="0">
                <a:pos x="186" y="372"/>
              </a:cxn>
              <a:cxn ang="0">
                <a:pos x="226" y="62"/>
              </a:cxn>
              <a:cxn ang="0">
                <a:pos x="242" y="318"/>
              </a:cxn>
              <a:cxn ang="0">
                <a:pos x="266" y="136"/>
              </a:cxn>
              <a:cxn ang="0">
                <a:pos x="272" y="272"/>
              </a:cxn>
              <a:cxn ang="0">
                <a:pos x="290" y="202"/>
              </a:cxn>
              <a:cxn ang="0">
                <a:pos x="298" y="242"/>
              </a:cxn>
            </a:cxnLst>
            <a:rect l="0" t="0" r="r" b="b"/>
            <a:pathLst>
              <a:path w="298" h="424">
                <a:moveTo>
                  <a:pt x="0" y="252"/>
                </a:moveTo>
                <a:lnTo>
                  <a:pt x="12" y="198"/>
                </a:lnTo>
                <a:lnTo>
                  <a:pt x="24" y="284"/>
                </a:lnTo>
                <a:lnTo>
                  <a:pt x="36" y="156"/>
                </a:lnTo>
                <a:lnTo>
                  <a:pt x="48" y="326"/>
                </a:lnTo>
                <a:lnTo>
                  <a:pt x="70" y="112"/>
                </a:lnTo>
                <a:lnTo>
                  <a:pt x="82" y="366"/>
                </a:lnTo>
                <a:lnTo>
                  <a:pt x="118" y="44"/>
                </a:lnTo>
                <a:lnTo>
                  <a:pt x="130" y="424"/>
                </a:lnTo>
                <a:lnTo>
                  <a:pt x="178" y="0"/>
                </a:lnTo>
                <a:lnTo>
                  <a:pt x="186" y="372"/>
                </a:lnTo>
                <a:lnTo>
                  <a:pt x="226" y="62"/>
                </a:lnTo>
                <a:lnTo>
                  <a:pt x="242" y="318"/>
                </a:lnTo>
                <a:lnTo>
                  <a:pt x="266" y="136"/>
                </a:lnTo>
                <a:lnTo>
                  <a:pt x="272" y="272"/>
                </a:lnTo>
                <a:lnTo>
                  <a:pt x="290" y="202"/>
                </a:lnTo>
                <a:lnTo>
                  <a:pt x="298" y="24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15" name="Line 7"/>
          <p:cNvSpPr>
            <a:spLocks noChangeShapeType="1"/>
          </p:cNvSpPr>
          <p:nvPr/>
        </p:nvSpPr>
        <p:spPr bwMode="auto">
          <a:xfrm>
            <a:off x="2463800" y="3708400"/>
            <a:ext cx="0" cy="2857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lg" len="lg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16" name="Line 8"/>
          <p:cNvSpPr>
            <a:spLocks noChangeShapeType="1"/>
          </p:cNvSpPr>
          <p:nvPr/>
        </p:nvSpPr>
        <p:spPr bwMode="auto">
          <a:xfrm rot="-5400000">
            <a:off x="4965700" y="4095750"/>
            <a:ext cx="0" cy="495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4772025" y="3514725"/>
            <a:ext cx="623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600"/>
              <a:t>MAP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3375025" y="4860925"/>
            <a:ext cx="882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1600"/>
              <a:t>Systolic</a:t>
            </a:r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5584825" y="4860925"/>
            <a:ext cx="9493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1600"/>
              <a:t>Diastolic</a:t>
            </a:r>
          </a:p>
        </p:txBody>
      </p:sp>
      <p:sp>
        <p:nvSpPr>
          <p:cNvPr id="43020" name="AutoShape 12"/>
          <p:cNvSpPr>
            <a:spLocks noChangeArrowheads="1"/>
          </p:cNvSpPr>
          <p:nvPr/>
        </p:nvSpPr>
        <p:spPr bwMode="auto">
          <a:xfrm flipV="1">
            <a:off x="4114800" y="5334000"/>
            <a:ext cx="369888" cy="38417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1" name="AutoShape 13"/>
          <p:cNvSpPr>
            <a:spLocks noChangeArrowheads="1"/>
          </p:cNvSpPr>
          <p:nvPr/>
        </p:nvSpPr>
        <p:spPr bwMode="auto">
          <a:xfrm flipH="1" flipV="1">
            <a:off x="5511800" y="5334000"/>
            <a:ext cx="369888" cy="384175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2" name="AutoShape 14"/>
          <p:cNvSpPr>
            <a:spLocks noChangeArrowheads="1"/>
          </p:cNvSpPr>
          <p:nvPr/>
        </p:nvSpPr>
        <p:spPr bwMode="auto">
          <a:xfrm>
            <a:off x="4979988" y="3810000"/>
            <a:ext cx="206375" cy="366713"/>
          </a:xfrm>
          <a:prstGeom prst="downArrow">
            <a:avLst>
              <a:gd name="adj1" fmla="val 50000"/>
              <a:gd name="adj2" fmla="val 4442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898525" y="3832225"/>
            <a:ext cx="15970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1600"/>
              <a:t>Signal from cuff</a:t>
            </a:r>
          </a:p>
        </p:txBody>
      </p:sp>
      <p:sp>
        <p:nvSpPr>
          <p:cNvPr id="43024" name="Text Box 16"/>
          <p:cNvSpPr txBox="1">
            <a:spLocks noChangeArrowheads="1"/>
          </p:cNvSpPr>
          <p:nvPr/>
        </p:nvSpPr>
        <p:spPr bwMode="auto">
          <a:xfrm>
            <a:off x="5241925" y="6130925"/>
            <a:ext cx="3292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1600"/>
              <a:t>Time (or decreasing cuff pressure)</a:t>
            </a:r>
          </a:p>
        </p:txBody>
      </p:sp>
      <p:sp>
        <p:nvSpPr>
          <p:cNvPr id="43026" name="Rectangle 18"/>
          <p:cNvSpPr>
            <a:spLocks noChangeArrowheads="1"/>
          </p:cNvSpPr>
          <p:nvPr/>
        </p:nvSpPr>
        <p:spPr bwMode="auto">
          <a:xfrm>
            <a:off x="406400" y="215900"/>
            <a:ext cx="7332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800"/>
              <a:t>Non-invasive blood pressure monitoring</a:t>
            </a:r>
          </a:p>
        </p:txBody>
      </p:sp>
      <p:sp>
        <p:nvSpPr>
          <p:cNvPr id="43027" name="Rectangle 19"/>
          <p:cNvSpPr>
            <a:spLocks noChangeArrowheads="1"/>
          </p:cNvSpPr>
          <p:nvPr/>
        </p:nvSpPr>
        <p:spPr bwMode="auto">
          <a:xfrm>
            <a:off x="406400" y="819150"/>
            <a:ext cx="7332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DINAMAP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519113" y="1949450"/>
            <a:ext cx="8331200" cy="356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algn="l">
              <a:lnSpc>
                <a:spcPct val="115000"/>
              </a:lnSpc>
            </a:pPr>
            <a:r>
              <a:rPr lang="en-GB" sz="2200"/>
              <a:t>Onset rapidly increasing oscillations = systolic pressure</a:t>
            </a:r>
          </a:p>
          <a:p>
            <a:pPr lvl="1" algn="l">
              <a:lnSpc>
                <a:spcPct val="115000"/>
              </a:lnSpc>
            </a:pPr>
            <a:r>
              <a:rPr lang="en-GB" sz="2200"/>
              <a:t>Maximum oscillation = MAP</a:t>
            </a:r>
          </a:p>
          <a:p>
            <a:pPr lvl="1" algn="l">
              <a:lnSpc>
                <a:spcPct val="115000"/>
              </a:lnSpc>
            </a:pPr>
            <a:r>
              <a:rPr lang="en-GB" sz="2200"/>
              <a:t>Diastolic = MAP – (1/2 difference between</a:t>
            </a:r>
          </a:p>
          <a:p>
            <a:pPr lvl="2" algn="l">
              <a:lnSpc>
                <a:spcPct val="115000"/>
              </a:lnSpc>
            </a:pPr>
            <a:r>
              <a:rPr lang="en-GB" sz="2200"/>
              <a:t>MAP and systolic)</a:t>
            </a:r>
          </a:p>
          <a:p>
            <a:pPr lvl="2" algn="l">
              <a:lnSpc>
                <a:spcPct val="115000"/>
              </a:lnSpc>
            </a:pPr>
            <a:endParaRPr lang="en-GB" sz="2200"/>
          </a:p>
          <a:p>
            <a:pPr lvl="2" algn="l">
              <a:lnSpc>
                <a:spcPct val="115000"/>
              </a:lnSpc>
            </a:pPr>
            <a:endParaRPr lang="en-GB" sz="2200"/>
          </a:p>
          <a:p>
            <a:pPr lvl="2" algn="l">
              <a:lnSpc>
                <a:spcPct val="115000"/>
              </a:lnSpc>
            </a:pPr>
            <a:endParaRPr lang="en-GB" sz="2200"/>
          </a:p>
          <a:p>
            <a:pPr lvl="2" algn="l">
              <a:lnSpc>
                <a:spcPct val="115000"/>
              </a:lnSpc>
            </a:pPr>
            <a:endParaRPr lang="en-GB" sz="2200"/>
          </a:p>
          <a:p>
            <a:pPr lvl="1" algn="l">
              <a:lnSpc>
                <a:spcPct val="115000"/>
              </a:lnSpc>
            </a:pPr>
            <a:r>
              <a:rPr lang="en-GB" sz="2200"/>
              <a:t>Cuff must be 2/3 upper arm &amp; 40% mid circumference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1682750" y="4024313"/>
            <a:ext cx="5880100" cy="522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algn="l">
              <a:lnSpc>
                <a:spcPct val="115000"/>
              </a:lnSpc>
            </a:pPr>
            <a:r>
              <a:rPr lang="en-GB" sz="2400"/>
              <a:t>MAP = Diastolic + 1/3 pulse pressure</a:t>
            </a: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927100" y="5794375"/>
            <a:ext cx="75819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Fast cuff inflation required to avoid venous congestion</a:t>
            </a:r>
          </a:p>
          <a:p>
            <a:pPr algn="l"/>
            <a:r>
              <a:rPr lang="en-GB" sz="2400"/>
              <a:t>Slow cuff deflation required to detect arterial pulsation</a:t>
            </a:r>
            <a:endParaRPr lang="en-GB"/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406400" y="1362075"/>
            <a:ext cx="833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How does it work?</a:t>
            </a: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406400" y="215900"/>
            <a:ext cx="7332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800"/>
              <a:t>Non-invasive blood pressure monitoring</a:t>
            </a:r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406400" y="819150"/>
            <a:ext cx="7332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DINAMAP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406400" y="1831975"/>
            <a:ext cx="8382000" cy="472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15000"/>
              </a:lnSpc>
            </a:pPr>
            <a:r>
              <a:rPr lang="en-GB" sz="2200"/>
              <a:t>Small cuff –&gt; false high BP (greater error)</a:t>
            </a:r>
          </a:p>
          <a:p>
            <a:pPr algn="l">
              <a:lnSpc>
                <a:spcPct val="115000"/>
              </a:lnSpc>
            </a:pPr>
            <a:r>
              <a:rPr lang="en-GB" sz="2200"/>
              <a:t>Large cuff –&gt; false low BP</a:t>
            </a:r>
          </a:p>
          <a:p>
            <a:pPr algn="l">
              <a:lnSpc>
                <a:spcPct val="115000"/>
              </a:lnSpc>
            </a:pPr>
            <a:r>
              <a:rPr lang="en-GB" sz="2200"/>
              <a:t>Hypotension –&gt; systolic over-reads</a:t>
            </a:r>
          </a:p>
          <a:p>
            <a:pPr algn="l">
              <a:lnSpc>
                <a:spcPct val="115000"/>
              </a:lnSpc>
            </a:pPr>
            <a:r>
              <a:rPr lang="en-GB" sz="2200"/>
              <a:t>Hypertension –&gt; systolic under-reads</a:t>
            </a:r>
          </a:p>
          <a:p>
            <a:pPr algn="l">
              <a:lnSpc>
                <a:spcPct val="115000"/>
              </a:lnSpc>
            </a:pPr>
            <a:r>
              <a:rPr lang="en-GB" sz="2200"/>
              <a:t>AF and arrhythmias will affect performance</a:t>
            </a:r>
          </a:p>
          <a:p>
            <a:pPr algn="l">
              <a:lnSpc>
                <a:spcPct val="115000"/>
              </a:lnSpc>
            </a:pPr>
            <a:r>
              <a:rPr lang="en-GB" sz="2200"/>
              <a:t>External pressure will cause inaccuracies</a:t>
            </a:r>
          </a:p>
          <a:p>
            <a:pPr algn="l">
              <a:lnSpc>
                <a:spcPct val="115000"/>
              </a:lnSpc>
            </a:pPr>
            <a:endParaRPr lang="en-GB" sz="2200"/>
          </a:p>
          <a:p>
            <a:pPr algn="l">
              <a:lnSpc>
                <a:spcPct val="115000"/>
              </a:lnSpc>
            </a:pPr>
            <a:r>
              <a:rPr lang="en-GB" sz="2200" u="sng"/>
              <a:t>Risks</a:t>
            </a:r>
          </a:p>
          <a:p>
            <a:pPr algn="l">
              <a:lnSpc>
                <a:spcPct val="115000"/>
              </a:lnSpc>
            </a:pPr>
            <a:r>
              <a:rPr lang="en-GB" sz="2200"/>
              <a:t>Pain </a:t>
            </a:r>
          </a:p>
          <a:p>
            <a:pPr algn="l">
              <a:lnSpc>
                <a:spcPct val="115000"/>
              </a:lnSpc>
            </a:pPr>
            <a:r>
              <a:rPr lang="en-GB" sz="2200"/>
              <a:t>Limb oedema (avoid if axillary lymph node clearance)</a:t>
            </a:r>
          </a:p>
          <a:p>
            <a:pPr algn="l">
              <a:lnSpc>
                <a:spcPct val="115000"/>
              </a:lnSpc>
            </a:pPr>
            <a:r>
              <a:rPr lang="en-GB" sz="2200"/>
              <a:t>Ulnar nerve palsy</a:t>
            </a:r>
          </a:p>
          <a:p>
            <a:pPr algn="l">
              <a:lnSpc>
                <a:spcPct val="115000"/>
              </a:lnSpc>
            </a:pPr>
            <a:r>
              <a:rPr lang="en-GB" sz="2200"/>
              <a:t>Petechial haemorrhage on skin</a:t>
            </a:r>
          </a:p>
        </p:txBody>
      </p:sp>
      <p:sp>
        <p:nvSpPr>
          <p:cNvPr id="44043" name="Rectangle 11"/>
          <p:cNvSpPr>
            <a:spLocks noChangeArrowheads="1"/>
          </p:cNvSpPr>
          <p:nvPr/>
        </p:nvSpPr>
        <p:spPr bwMode="auto">
          <a:xfrm>
            <a:off x="406400" y="1362075"/>
            <a:ext cx="833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Limitations</a:t>
            </a:r>
          </a:p>
        </p:txBody>
      </p: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406400" y="215900"/>
            <a:ext cx="7332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800"/>
              <a:t>Non-invasive blood pressure monitoring</a:t>
            </a:r>
          </a:p>
        </p:txBody>
      </p:sp>
      <p:sp>
        <p:nvSpPr>
          <p:cNvPr id="44045" name="Rectangle 13"/>
          <p:cNvSpPr>
            <a:spLocks noChangeArrowheads="1"/>
          </p:cNvSpPr>
          <p:nvPr/>
        </p:nvSpPr>
        <p:spPr bwMode="auto">
          <a:xfrm>
            <a:off x="406400" y="819150"/>
            <a:ext cx="7332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DINAMAP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1330325" y="1784350"/>
            <a:ext cx="61753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u="sng"/>
              <a:t>Costs</a:t>
            </a:r>
          </a:p>
          <a:p>
            <a:pPr algn="l"/>
            <a:r>
              <a:rPr lang="en-GB" sz="2400"/>
              <a:t>Expensive if part of integrated monitor</a:t>
            </a:r>
            <a:endParaRPr lang="en-GB"/>
          </a:p>
        </p:txBody>
      </p:sp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1330325" y="3481388"/>
            <a:ext cx="5529263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u="sng"/>
              <a:t>Benefits</a:t>
            </a:r>
          </a:p>
          <a:p>
            <a:pPr algn="l"/>
            <a:r>
              <a:rPr lang="en-GB" sz="2400"/>
              <a:t>Labour saving</a:t>
            </a:r>
          </a:p>
          <a:p>
            <a:pPr algn="l"/>
            <a:r>
              <a:rPr lang="en-GB" sz="2400"/>
              <a:t>Regular intervals</a:t>
            </a:r>
          </a:p>
          <a:p>
            <a:pPr algn="l"/>
            <a:r>
              <a:rPr lang="en-GB" sz="2400"/>
              <a:t>More reproducible than manual BP</a:t>
            </a:r>
          </a:p>
          <a:p>
            <a:pPr algn="l"/>
            <a:r>
              <a:rPr lang="en-GB" sz="2400"/>
              <a:t>Less problems with access to a limb</a:t>
            </a:r>
          </a:p>
          <a:p>
            <a:pPr algn="l"/>
            <a:endParaRPr lang="en-GB"/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406400" y="215900"/>
            <a:ext cx="7332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800"/>
              <a:t>Non-invasive blood pressure monitoring</a:t>
            </a:r>
          </a:p>
        </p:txBody>
      </p:sp>
      <p:sp>
        <p:nvSpPr>
          <p:cNvPr id="78858" name="Rectangle 10"/>
          <p:cNvSpPr>
            <a:spLocks noChangeArrowheads="1"/>
          </p:cNvSpPr>
          <p:nvPr/>
        </p:nvSpPr>
        <p:spPr bwMode="auto">
          <a:xfrm>
            <a:off x="406400" y="819150"/>
            <a:ext cx="7332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DINAMAP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342900" y="1557338"/>
            <a:ext cx="61753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u="sng"/>
              <a:t>What information does it give?</a:t>
            </a:r>
          </a:p>
          <a:p>
            <a:pPr algn="l"/>
            <a:r>
              <a:rPr lang="en-GB" sz="2400"/>
              <a:t>Continuous blood pressure measurement</a:t>
            </a:r>
            <a:endParaRPr lang="en-GB"/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auto">
          <a:xfrm>
            <a:off x="342900" y="2563813"/>
            <a:ext cx="61753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u="sng"/>
              <a:t>Components</a:t>
            </a:r>
          </a:p>
          <a:p>
            <a:pPr algn="l"/>
            <a:r>
              <a:rPr lang="en-GB" sz="2400"/>
              <a:t>Finger cuff, oscillometer and control unit</a:t>
            </a:r>
            <a:endParaRPr lang="en-GB"/>
          </a:p>
        </p:txBody>
      </p:sp>
      <p:sp>
        <p:nvSpPr>
          <p:cNvPr id="90120" name="Rectangle 8"/>
          <p:cNvSpPr>
            <a:spLocks noChangeArrowheads="1"/>
          </p:cNvSpPr>
          <p:nvPr/>
        </p:nvSpPr>
        <p:spPr bwMode="auto">
          <a:xfrm>
            <a:off x="342900" y="3568700"/>
            <a:ext cx="8405813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u="sng"/>
              <a:t>How does it work?</a:t>
            </a:r>
          </a:p>
          <a:p>
            <a:pPr algn="l"/>
            <a:r>
              <a:rPr lang="en-GB" sz="2400"/>
              <a:t>Assesses beat-to-beat blood pressure via oscillations in finger cuff which is automatically inflated and deflated</a:t>
            </a:r>
            <a:endParaRPr lang="en-GB"/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auto">
          <a:xfrm>
            <a:off x="342900" y="4940300"/>
            <a:ext cx="38925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u="sng"/>
              <a:t>Limitations</a:t>
            </a:r>
          </a:p>
          <a:p>
            <a:pPr algn="l"/>
            <a:r>
              <a:rPr lang="en-GB" sz="2400"/>
              <a:t>Novel</a:t>
            </a:r>
          </a:p>
          <a:p>
            <a:pPr algn="l"/>
            <a:r>
              <a:rPr lang="en-GB" sz="2400"/>
              <a:t>Limited clinical experience</a:t>
            </a:r>
          </a:p>
          <a:p>
            <a:pPr algn="l"/>
            <a:r>
              <a:rPr lang="en-GB" sz="2400"/>
              <a:t>Research tool</a:t>
            </a:r>
            <a:endParaRPr lang="en-GB"/>
          </a:p>
        </p:txBody>
      </p:sp>
      <p:sp>
        <p:nvSpPr>
          <p:cNvPr id="90122" name="Rectangle 10"/>
          <p:cNvSpPr>
            <a:spLocks noChangeArrowheads="1"/>
          </p:cNvSpPr>
          <p:nvPr/>
        </p:nvSpPr>
        <p:spPr bwMode="auto">
          <a:xfrm>
            <a:off x="5032375" y="4940300"/>
            <a:ext cx="35782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u="sng"/>
              <a:t>Benefits</a:t>
            </a:r>
          </a:p>
          <a:p>
            <a:pPr algn="l"/>
            <a:r>
              <a:rPr lang="en-GB" sz="2400"/>
              <a:t>Only potential method for non-invasive beat-to-beat BP measurement</a:t>
            </a:r>
            <a:endParaRPr lang="en-GB"/>
          </a:p>
        </p:txBody>
      </p:sp>
      <p:sp>
        <p:nvSpPr>
          <p:cNvPr id="90124" name="Rectangle 12"/>
          <p:cNvSpPr>
            <a:spLocks noChangeArrowheads="1"/>
          </p:cNvSpPr>
          <p:nvPr/>
        </p:nvSpPr>
        <p:spPr bwMode="auto">
          <a:xfrm>
            <a:off x="342900" y="215900"/>
            <a:ext cx="7332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800"/>
              <a:t>Non-invasive blood pressure monitoring</a:t>
            </a:r>
          </a:p>
        </p:txBody>
      </p:sp>
      <p:sp>
        <p:nvSpPr>
          <p:cNvPr id="90125" name="Rectangle 13"/>
          <p:cNvSpPr>
            <a:spLocks noChangeArrowheads="1"/>
          </p:cNvSpPr>
          <p:nvPr/>
        </p:nvSpPr>
        <p:spPr bwMode="auto">
          <a:xfrm>
            <a:off x="342900" y="917575"/>
            <a:ext cx="7332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Finapres™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762000"/>
            <a:ext cx="4584192" cy="4572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Anesthetic Monitoring 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11312" y="1423989"/>
            <a:ext cx="5399088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Clinical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Pulseoxymetry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Capnography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Non invasive Blood pressure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/>
              <a:t>ECG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Peripheral nerve stimulators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Volatile / gas analyser &amp; anaesthesia depth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Temperature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Documentation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0" y="1447800"/>
            <a:ext cx="12954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057400" y="2971800"/>
            <a:ext cx="6172200" cy="762000"/>
          </a:xfrm>
          <a:prstGeom prst="round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b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 smtClean="0">
                <a:solidFill>
                  <a:srgbClr val="0070C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r>
              <a:rPr kumimoji="0" lang="en-GB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  Electrocardiography (ECG)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Objectives 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4712" y="1828800"/>
            <a:ext cx="7866888" cy="4800600"/>
          </a:xfrm>
        </p:spPr>
        <p:txBody>
          <a:bodyPr>
            <a:normAutofit/>
          </a:bodyPr>
          <a:lstStyle/>
          <a:p>
            <a:pPr marL="365125" lvl="0" indent="-365125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dirty="0" smtClean="0"/>
              <a:t>Define ECG </a:t>
            </a:r>
          </a:p>
          <a:p>
            <a:pPr marL="365125" lvl="0" indent="-365125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dirty="0" smtClean="0"/>
              <a:t>Describe the working/ operating mechanism/ principles of ECG (Electrocardiogram)</a:t>
            </a:r>
          </a:p>
          <a:p>
            <a:pPr marL="365125" lvl="0" indent="-365125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dirty="0" smtClean="0"/>
              <a:t>Analyze steps to interpret an ECG report</a:t>
            </a:r>
          </a:p>
          <a:p>
            <a:pPr marL="365125" lvl="0" indent="-365125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dirty="0" smtClean="0"/>
              <a:t>Interpret normal ECG wave using the five steps</a:t>
            </a:r>
          </a:p>
          <a:p>
            <a:pPr marL="365125" indent="-365125"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dirty="0" smtClean="0"/>
              <a:t>Interpret abnormal ECG waves using the five steps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ChangeArrowheads="1"/>
          </p:cNvSpPr>
          <p:nvPr/>
        </p:nvSpPr>
        <p:spPr bwMode="auto">
          <a:xfrm>
            <a:off x="2398712" y="782638"/>
            <a:ext cx="4840288" cy="646986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/>
            <a:r>
              <a:rPr lang="en-GB" sz="3200"/>
              <a:t>Electrocardiography</a:t>
            </a:r>
          </a:p>
        </p:txBody>
      </p:sp>
      <p:sp>
        <p:nvSpPr>
          <p:cNvPr id="147459" name="Rectangle 3"/>
          <p:cNvSpPr>
            <a:spLocks noChangeArrowheads="1"/>
          </p:cNvSpPr>
          <p:nvPr/>
        </p:nvSpPr>
        <p:spPr bwMode="auto">
          <a:xfrm>
            <a:off x="1066800" y="1763713"/>
            <a:ext cx="7642225" cy="151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GB" sz="2400" dirty="0"/>
              <a:t>What information does it give?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GB" sz="2000" dirty="0"/>
              <a:t>Continuous trace of </a:t>
            </a:r>
            <a:r>
              <a:rPr lang="en-GB" sz="2000" dirty="0">
                <a:solidFill>
                  <a:srgbClr val="0070C0"/>
                </a:solidFill>
              </a:rPr>
              <a:t>electrical activity of whole heart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GB" sz="2000" dirty="0"/>
              <a:t>Provides </a:t>
            </a:r>
            <a:r>
              <a:rPr lang="en-GB" sz="2000" dirty="0">
                <a:solidFill>
                  <a:srgbClr val="0070C0"/>
                </a:solidFill>
              </a:rPr>
              <a:t>continuous information </a:t>
            </a:r>
            <a:r>
              <a:rPr lang="en-GB" sz="2000" dirty="0"/>
              <a:t>about </a:t>
            </a:r>
            <a:r>
              <a:rPr lang="en-GB" sz="2000" dirty="0">
                <a:solidFill>
                  <a:srgbClr val="0070C0"/>
                </a:solidFill>
              </a:rPr>
              <a:t>heart rate</a:t>
            </a:r>
            <a:r>
              <a:rPr lang="en-GB" sz="2000" dirty="0"/>
              <a:t>, presence of </a:t>
            </a:r>
            <a:r>
              <a:rPr lang="en-GB" sz="2000" dirty="0">
                <a:solidFill>
                  <a:srgbClr val="0070C0"/>
                </a:solidFill>
              </a:rPr>
              <a:t>arrhythmias,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0070C0"/>
                </a:solidFill>
              </a:rPr>
              <a:t>ischaemia</a:t>
            </a:r>
            <a:r>
              <a:rPr lang="en-GB" sz="2000" dirty="0"/>
              <a:t> and </a:t>
            </a:r>
            <a:r>
              <a:rPr lang="en-GB" sz="2000" dirty="0">
                <a:solidFill>
                  <a:srgbClr val="0070C0"/>
                </a:solidFill>
              </a:rPr>
              <a:t>conduction defects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1198562" y="3962400"/>
            <a:ext cx="7107238" cy="51276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GB" sz="2400" dirty="0"/>
              <a:t>ECG gives </a:t>
            </a:r>
            <a:r>
              <a:rPr lang="en-GB" sz="2400" u="sng" dirty="0">
                <a:solidFill>
                  <a:srgbClr val="0070C0"/>
                </a:solidFill>
              </a:rPr>
              <a:t>NO</a:t>
            </a:r>
            <a:r>
              <a:rPr lang="en-GB" sz="2400" dirty="0">
                <a:solidFill>
                  <a:srgbClr val="0070C0"/>
                </a:solidFill>
              </a:rPr>
              <a:t> information about cardiac output</a:t>
            </a:r>
          </a:p>
        </p:txBody>
      </p:sp>
      <p:sp>
        <p:nvSpPr>
          <p:cNvPr id="147462" name="Rectangle 6"/>
          <p:cNvSpPr>
            <a:spLocks noChangeArrowheads="1"/>
          </p:cNvSpPr>
          <p:nvPr/>
        </p:nvSpPr>
        <p:spPr bwMode="auto">
          <a:xfrm>
            <a:off x="1066800" y="5024438"/>
            <a:ext cx="7631113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 algn="l">
              <a:spcBef>
                <a:spcPct val="20000"/>
              </a:spcBef>
            </a:pPr>
            <a:r>
              <a:rPr lang="en-GB" sz="1800" dirty="0"/>
              <a:t>e.g. </a:t>
            </a:r>
            <a:r>
              <a:rPr lang="en-GB" sz="1800" dirty="0" smtClean="0"/>
              <a:t>“Pulseless </a:t>
            </a:r>
            <a:r>
              <a:rPr lang="en-GB" sz="1800" dirty="0"/>
              <a:t>electrical activity” (PEA); ECG may look normal, but NO cardiac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506413" y="533400"/>
            <a:ext cx="49418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3200"/>
              <a:t>Electrocardiography (cont)</a:t>
            </a: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506413" y="1281113"/>
            <a:ext cx="417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Components continued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01650" y="2733675"/>
            <a:ext cx="8326438" cy="2351088"/>
            <a:chOff x="139" y="1445"/>
            <a:chExt cx="5245" cy="1481"/>
          </a:xfrm>
        </p:grpSpPr>
        <p:sp>
          <p:nvSpPr>
            <p:cNvPr id="66566" name="Rectangle 6"/>
            <p:cNvSpPr>
              <a:spLocks noChangeArrowheads="1"/>
            </p:cNvSpPr>
            <p:nvPr/>
          </p:nvSpPr>
          <p:spPr bwMode="auto">
            <a:xfrm>
              <a:off x="2622" y="1445"/>
              <a:ext cx="292" cy="5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67" name="Rectangle 7"/>
            <p:cNvSpPr>
              <a:spLocks noChangeArrowheads="1"/>
            </p:cNvSpPr>
            <p:nvPr/>
          </p:nvSpPr>
          <p:spPr bwMode="auto">
            <a:xfrm>
              <a:off x="1823" y="2028"/>
              <a:ext cx="1890" cy="34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1823" y="2375"/>
              <a:ext cx="1890" cy="2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1" name="Rectangle 11"/>
            <p:cNvSpPr>
              <a:spLocks noChangeArrowheads="1"/>
            </p:cNvSpPr>
            <p:nvPr/>
          </p:nvSpPr>
          <p:spPr bwMode="auto">
            <a:xfrm>
              <a:off x="887" y="2247"/>
              <a:ext cx="938" cy="34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3" name="Rectangle 13"/>
            <p:cNvSpPr>
              <a:spLocks noChangeArrowheads="1"/>
            </p:cNvSpPr>
            <p:nvPr/>
          </p:nvSpPr>
          <p:spPr bwMode="auto">
            <a:xfrm>
              <a:off x="3718" y="2247"/>
              <a:ext cx="938" cy="34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7" name="Rectangle 17"/>
            <p:cNvSpPr>
              <a:spLocks noChangeArrowheads="1"/>
            </p:cNvSpPr>
            <p:nvPr/>
          </p:nvSpPr>
          <p:spPr bwMode="auto">
            <a:xfrm>
              <a:off x="154" y="2596"/>
              <a:ext cx="5230" cy="33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6" name="Line 16"/>
            <p:cNvSpPr>
              <a:spLocks noChangeShapeType="1"/>
            </p:cNvSpPr>
            <p:nvPr/>
          </p:nvSpPr>
          <p:spPr bwMode="auto">
            <a:xfrm>
              <a:off x="139" y="2597"/>
              <a:ext cx="52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579" name="Rectangle 19"/>
          <p:cNvSpPr>
            <a:spLocks noChangeArrowheads="1"/>
          </p:cNvSpPr>
          <p:nvPr/>
        </p:nvSpPr>
        <p:spPr bwMode="auto">
          <a:xfrm>
            <a:off x="506413" y="1946275"/>
            <a:ext cx="3203575" cy="4016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 algn="l">
              <a:spcBef>
                <a:spcPct val="20000"/>
              </a:spcBef>
            </a:pPr>
            <a:r>
              <a:rPr lang="en-GB" sz="1800"/>
              <a:t>An ECG skin electrode</a:t>
            </a:r>
          </a:p>
        </p:txBody>
      </p:sp>
      <p:sp>
        <p:nvSpPr>
          <p:cNvPr id="66580" name="Text Box 20"/>
          <p:cNvSpPr txBox="1">
            <a:spLocks noChangeArrowheads="1"/>
          </p:cNvSpPr>
          <p:nvPr/>
        </p:nvSpPr>
        <p:spPr bwMode="auto">
          <a:xfrm>
            <a:off x="601663" y="5510213"/>
            <a:ext cx="679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Skin</a:t>
            </a:r>
          </a:p>
        </p:txBody>
      </p:sp>
      <p:sp>
        <p:nvSpPr>
          <p:cNvPr id="66581" name="Line 21"/>
          <p:cNvSpPr>
            <a:spLocks noChangeShapeType="1"/>
          </p:cNvSpPr>
          <p:nvPr/>
        </p:nvSpPr>
        <p:spPr bwMode="auto">
          <a:xfrm flipV="1">
            <a:off x="1023938" y="4827588"/>
            <a:ext cx="292100" cy="695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82" name="Text Box 22"/>
          <p:cNvSpPr txBox="1">
            <a:spLocks noChangeArrowheads="1"/>
          </p:cNvSpPr>
          <p:nvPr/>
        </p:nvSpPr>
        <p:spPr bwMode="auto">
          <a:xfrm>
            <a:off x="2266950" y="5605463"/>
            <a:ext cx="18653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Conductive gel</a:t>
            </a:r>
          </a:p>
        </p:txBody>
      </p:sp>
      <p:sp>
        <p:nvSpPr>
          <p:cNvPr id="66583" name="Line 23"/>
          <p:cNvSpPr>
            <a:spLocks noChangeShapeType="1"/>
          </p:cNvSpPr>
          <p:nvPr/>
        </p:nvSpPr>
        <p:spPr bwMode="auto">
          <a:xfrm flipV="1">
            <a:off x="3436938" y="4445000"/>
            <a:ext cx="1155700" cy="1108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84" name="Text Box 24"/>
          <p:cNvSpPr txBox="1">
            <a:spLocks noChangeArrowheads="1"/>
          </p:cNvSpPr>
          <p:nvPr/>
        </p:nvSpPr>
        <p:spPr bwMode="auto">
          <a:xfrm>
            <a:off x="258763" y="3116263"/>
            <a:ext cx="2005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Adhesive mount</a:t>
            </a:r>
          </a:p>
        </p:txBody>
      </p:sp>
      <p:sp>
        <p:nvSpPr>
          <p:cNvPr id="66585" name="Line 25"/>
          <p:cNvSpPr>
            <a:spLocks noChangeShapeType="1"/>
          </p:cNvSpPr>
          <p:nvPr/>
        </p:nvSpPr>
        <p:spPr bwMode="auto">
          <a:xfrm>
            <a:off x="1179513" y="3567113"/>
            <a:ext cx="461962" cy="658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86" name="Text Box 26"/>
          <p:cNvSpPr txBox="1">
            <a:spLocks noChangeArrowheads="1"/>
          </p:cNvSpPr>
          <p:nvPr/>
        </p:nvSpPr>
        <p:spPr bwMode="auto">
          <a:xfrm>
            <a:off x="5870575" y="2600325"/>
            <a:ext cx="2371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Ag / AgCl electrode</a:t>
            </a:r>
          </a:p>
        </p:txBody>
      </p:sp>
      <p:sp>
        <p:nvSpPr>
          <p:cNvPr id="66587" name="Line 27"/>
          <p:cNvSpPr>
            <a:spLocks noChangeShapeType="1"/>
          </p:cNvSpPr>
          <p:nvPr/>
        </p:nvSpPr>
        <p:spPr bwMode="auto">
          <a:xfrm flipH="1">
            <a:off x="4918075" y="3052763"/>
            <a:ext cx="1268413" cy="889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88" name="Text Box 28"/>
          <p:cNvSpPr txBox="1">
            <a:spLocks noChangeArrowheads="1"/>
          </p:cNvSpPr>
          <p:nvPr/>
        </p:nvSpPr>
        <p:spPr bwMode="auto">
          <a:xfrm>
            <a:off x="6249988" y="1560513"/>
            <a:ext cx="1470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Connection</a:t>
            </a:r>
          </a:p>
        </p:txBody>
      </p:sp>
      <p:sp>
        <p:nvSpPr>
          <p:cNvPr id="66589" name="Line 29"/>
          <p:cNvSpPr>
            <a:spLocks noChangeShapeType="1"/>
          </p:cNvSpPr>
          <p:nvPr/>
        </p:nvSpPr>
        <p:spPr bwMode="auto">
          <a:xfrm flipH="1">
            <a:off x="4805363" y="1841500"/>
            <a:ext cx="1268412" cy="889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90" name="Text Box 30"/>
          <p:cNvSpPr txBox="1">
            <a:spLocks noChangeArrowheads="1"/>
          </p:cNvSpPr>
          <p:nvPr/>
        </p:nvSpPr>
        <p:spPr bwMode="auto">
          <a:xfrm>
            <a:off x="4575175" y="5964238"/>
            <a:ext cx="44053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2000"/>
              <a:t>It is difficult to get a good reading without using ECG electrodes (‘dots’)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ChangeArrowheads="1"/>
          </p:cNvSpPr>
          <p:nvPr/>
        </p:nvSpPr>
        <p:spPr bwMode="auto">
          <a:xfrm>
            <a:off x="433388" y="317500"/>
            <a:ext cx="49418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3200"/>
              <a:t>Electrocardiography (cont)</a:t>
            </a:r>
          </a:p>
        </p:txBody>
      </p:sp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573088" y="1073150"/>
            <a:ext cx="4654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Position of electrodes for a </a:t>
            </a:r>
            <a:r>
              <a:rPr lang="en-GB" sz="2000" u="sng"/>
              <a:t>3-lead</a:t>
            </a:r>
            <a:r>
              <a:rPr lang="en-GB" sz="2000"/>
              <a:t> ECG: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76300" y="1781175"/>
            <a:ext cx="4616450" cy="4322763"/>
            <a:chOff x="1753" y="1414"/>
            <a:chExt cx="1779" cy="2185"/>
          </a:xfrm>
        </p:grpSpPr>
        <p:sp>
          <p:nvSpPr>
            <p:cNvPr id="119815" name="Oval 7"/>
            <p:cNvSpPr>
              <a:spLocks noChangeArrowheads="1"/>
            </p:cNvSpPr>
            <p:nvPr/>
          </p:nvSpPr>
          <p:spPr bwMode="auto">
            <a:xfrm>
              <a:off x="2462" y="1414"/>
              <a:ext cx="345" cy="4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6" name="Rectangle 8"/>
            <p:cNvSpPr>
              <a:spLocks noChangeArrowheads="1"/>
            </p:cNvSpPr>
            <p:nvPr/>
          </p:nvSpPr>
          <p:spPr bwMode="auto">
            <a:xfrm>
              <a:off x="2588" y="1851"/>
              <a:ext cx="92" cy="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7" name="Rectangle 9"/>
            <p:cNvSpPr>
              <a:spLocks noChangeArrowheads="1"/>
            </p:cNvSpPr>
            <p:nvPr/>
          </p:nvSpPr>
          <p:spPr bwMode="auto">
            <a:xfrm>
              <a:off x="2381" y="1912"/>
              <a:ext cx="507" cy="7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8" name="Rectangle 10"/>
            <p:cNvSpPr>
              <a:spLocks noChangeArrowheads="1"/>
            </p:cNvSpPr>
            <p:nvPr/>
          </p:nvSpPr>
          <p:spPr bwMode="auto">
            <a:xfrm rot="-3842438">
              <a:off x="2043" y="2035"/>
              <a:ext cx="368" cy="1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19" name="Rectangle 11"/>
            <p:cNvSpPr>
              <a:spLocks noChangeArrowheads="1"/>
            </p:cNvSpPr>
            <p:nvPr/>
          </p:nvSpPr>
          <p:spPr bwMode="auto">
            <a:xfrm>
              <a:off x="1753" y="2274"/>
              <a:ext cx="368" cy="1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20" name="Rectangle 12"/>
            <p:cNvSpPr>
              <a:spLocks noChangeArrowheads="1"/>
            </p:cNvSpPr>
            <p:nvPr/>
          </p:nvSpPr>
          <p:spPr bwMode="auto">
            <a:xfrm rot="3842438" flipH="1">
              <a:off x="2870" y="2032"/>
              <a:ext cx="368" cy="1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21" name="Rectangle 13"/>
            <p:cNvSpPr>
              <a:spLocks noChangeArrowheads="1"/>
            </p:cNvSpPr>
            <p:nvPr/>
          </p:nvSpPr>
          <p:spPr bwMode="auto">
            <a:xfrm flipH="1">
              <a:off x="3164" y="2271"/>
              <a:ext cx="368" cy="1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22" name="Rectangle 14"/>
            <p:cNvSpPr>
              <a:spLocks noChangeArrowheads="1"/>
            </p:cNvSpPr>
            <p:nvPr/>
          </p:nvSpPr>
          <p:spPr bwMode="auto">
            <a:xfrm rot="494962">
              <a:off x="2335" y="2665"/>
              <a:ext cx="200" cy="4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23" name="Rectangle 15"/>
            <p:cNvSpPr>
              <a:spLocks noChangeArrowheads="1"/>
            </p:cNvSpPr>
            <p:nvPr/>
          </p:nvSpPr>
          <p:spPr bwMode="auto">
            <a:xfrm>
              <a:off x="2325" y="3169"/>
              <a:ext cx="154" cy="4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24" name="Rectangle 16"/>
            <p:cNvSpPr>
              <a:spLocks noChangeArrowheads="1"/>
            </p:cNvSpPr>
            <p:nvPr/>
          </p:nvSpPr>
          <p:spPr bwMode="auto">
            <a:xfrm rot="21105038" flipH="1">
              <a:off x="2709" y="2665"/>
              <a:ext cx="200" cy="4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825" name="Rectangle 17"/>
            <p:cNvSpPr>
              <a:spLocks noChangeArrowheads="1"/>
            </p:cNvSpPr>
            <p:nvPr/>
          </p:nvSpPr>
          <p:spPr bwMode="auto">
            <a:xfrm flipH="1">
              <a:off x="2787" y="3169"/>
              <a:ext cx="154" cy="4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9827" name="Oval 19"/>
          <p:cNvSpPr>
            <a:spLocks noChangeArrowheads="1"/>
          </p:cNvSpPr>
          <p:nvPr/>
        </p:nvSpPr>
        <p:spPr bwMode="auto">
          <a:xfrm>
            <a:off x="2540000" y="2813050"/>
            <a:ext cx="203200" cy="1587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28" name="Oval 20"/>
          <p:cNvSpPr>
            <a:spLocks noChangeArrowheads="1"/>
          </p:cNvSpPr>
          <p:nvPr/>
        </p:nvSpPr>
        <p:spPr bwMode="auto">
          <a:xfrm>
            <a:off x="3581401" y="2822574"/>
            <a:ext cx="176212" cy="14922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29" name="Oval 21"/>
          <p:cNvSpPr>
            <a:spLocks noChangeArrowheads="1"/>
          </p:cNvSpPr>
          <p:nvPr/>
        </p:nvSpPr>
        <p:spPr bwMode="auto">
          <a:xfrm>
            <a:off x="3581400" y="3378200"/>
            <a:ext cx="168275" cy="203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36" name="Oval 28"/>
          <p:cNvSpPr>
            <a:spLocks noChangeArrowheads="1"/>
          </p:cNvSpPr>
          <p:nvPr/>
        </p:nvSpPr>
        <p:spPr bwMode="auto">
          <a:xfrm>
            <a:off x="3006725" y="2073275"/>
            <a:ext cx="88900" cy="984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37" name="Oval 29"/>
          <p:cNvSpPr>
            <a:spLocks noChangeArrowheads="1"/>
          </p:cNvSpPr>
          <p:nvPr/>
        </p:nvSpPr>
        <p:spPr bwMode="auto">
          <a:xfrm>
            <a:off x="3222625" y="2073275"/>
            <a:ext cx="88900" cy="984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38" name="Oval 30"/>
          <p:cNvSpPr>
            <a:spLocks noChangeArrowheads="1"/>
          </p:cNvSpPr>
          <p:nvPr/>
        </p:nvSpPr>
        <p:spPr bwMode="auto">
          <a:xfrm>
            <a:off x="3067050" y="2365375"/>
            <a:ext cx="182563" cy="88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39" name="AutoShape 31"/>
          <p:cNvSpPr>
            <a:spLocks noChangeArrowheads="1"/>
          </p:cNvSpPr>
          <p:nvPr/>
        </p:nvSpPr>
        <p:spPr bwMode="auto">
          <a:xfrm>
            <a:off x="3128963" y="2109788"/>
            <a:ext cx="60325" cy="2063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40" name="Text Box 32"/>
          <p:cNvSpPr txBox="1">
            <a:spLocks noChangeArrowheads="1"/>
          </p:cNvSpPr>
          <p:nvPr/>
        </p:nvSpPr>
        <p:spPr bwMode="auto">
          <a:xfrm>
            <a:off x="4564063" y="1993900"/>
            <a:ext cx="12144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800"/>
              <a:t>Electrode</a:t>
            </a:r>
          </a:p>
        </p:txBody>
      </p:sp>
      <p:sp>
        <p:nvSpPr>
          <p:cNvPr id="119841" name="Line 33"/>
          <p:cNvSpPr>
            <a:spLocks noChangeShapeType="1"/>
          </p:cNvSpPr>
          <p:nvPr/>
        </p:nvSpPr>
        <p:spPr bwMode="auto">
          <a:xfrm flipH="1">
            <a:off x="3748088" y="2322513"/>
            <a:ext cx="868362" cy="4905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9842" name="Text Box 34"/>
          <p:cNvSpPr txBox="1">
            <a:spLocks noChangeArrowheads="1"/>
          </p:cNvSpPr>
          <p:nvPr/>
        </p:nvSpPr>
        <p:spPr bwMode="auto">
          <a:xfrm>
            <a:off x="4578350" y="4994275"/>
            <a:ext cx="4346575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NOTE: the electrodes are generally colour coded;</a:t>
            </a:r>
          </a:p>
          <a:p>
            <a:pPr algn="l"/>
            <a:r>
              <a:rPr lang="en-GB" sz="2000" b="1" dirty="0">
                <a:solidFill>
                  <a:srgbClr val="0070C0"/>
                </a:solidFill>
              </a:rPr>
              <a:t>R</a:t>
            </a:r>
            <a:r>
              <a:rPr lang="en-GB" sz="2000" dirty="0"/>
              <a:t>ed – </a:t>
            </a:r>
            <a:r>
              <a:rPr lang="en-GB" sz="2000" b="1" dirty="0" smtClean="0">
                <a:solidFill>
                  <a:srgbClr val="0070C0"/>
                </a:solidFill>
              </a:rPr>
              <a:t>R</a:t>
            </a:r>
            <a:r>
              <a:rPr lang="en-GB" sz="2000" dirty="0" smtClean="0"/>
              <a:t>ight </a:t>
            </a:r>
            <a:r>
              <a:rPr lang="en-GB" sz="2000" dirty="0"/>
              <a:t>arm / shoulder</a:t>
            </a:r>
          </a:p>
          <a:p>
            <a:pPr algn="l"/>
            <a:r>
              <a:rPr lang="en-GB" sz="2000" dirty="0" err="1" smtClean="0"/>
              <a:t>Yel</a:t>
            </a:r>
            <a:r>
              <a:rPr lang="en-GB" sz="2000" b="1" dirty="0" err="1" smtClean="0">
                <a:solidFill>
                  <a:srgbClr val="0070C0"/>
                </a:solidFill>
              </a:rPr>
              <a:t>L</a:t>
            </a:r>
            <a:r>
              <a:rPr lang="en-GB" sz="2000" dirty="0" err="1" smtClean="0"/>
              <a:t>ow</a:t>
            </a:r>
            <a:r>
              <a:rPr lang="en-GB" sz="2000" dirty="0" smtClean="0"/>
              <a:t> </a:t>
            </a:r>
            <a:r>
              <a:rPr lang="en-GB" sz="2000" dirty="0"/>
              <a:t>– </a:t>
            </a:r>
            <a:r>
              <a:rPr lang="en-GB" sz="2000" b="1" dirty="0" smtClean="0">
                <a:solidFill>
                  <a:srgbClr val="0070C0"/>
                </a:solidFill>
              </a:rPr>
              <a:t>L</a:t>
            </a:r>
            <a:r>
              <a:rPr lang="en-GB" sz="2000" dirty="0" smtClean="0"/>
              <a:t>eft </a:t>
            </a:r>
            <a:r>
              <a:rPr lang="en-GB" sz="2000" dirty="0"/>
              <a:t>arm / shoulder</a:t>
            </a:r>
          </a:p>
          <a:p>
            <a:pPr algn="l"/>
            <a:r>
              <a:rPr lang="en-GB" sz="2000" b="1" dirty="0">
                <a:solidFill>
                  <a:srgbClr val="0070C0"/>
                </a:solidFill>
              </a:rPr>
              <a:t>G</a:t>
            </a:r>
            <a:r>
              <a:rPr lang="en-GB" sz="2000" dirty="0"/>
              <a:t>reen – lower left </a:t>
            </a:r>
            <a:r>
              <a:rPr lang="en-GB" sz="2000" dirty="0" smtClean="0"/>
              <a:t>chest (</a:t>
            </a:r>
            <a:r>
              <a:rPr lang="en-GB" sz="2000" dirty="0" err="1" smtClean="0"/>
              <a:t>Le</a:t>
            </a:r>
            <a:r>
              <a:rPr lang="en-GB" sz="2000" b="1" dirty="0" err="1" smtClean="0">
                <a:solidFill>
                  <a:srgbClr val="0070C0"/>
                </a:solidFill>
              </a:rPr>
              <a:t>G</a:t>
            </a:r>
            <a:r>
              <a:rPr lang="en-GB" sz="2000" dirty="0" smtClean="0"/>
              <a:t>)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342900" y="317500"/>
            <a:ext cx="49418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3200"/>
              <a:t>Electrocardiography (cont)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990600" y="2422525"/>
            <a:ext cx="78486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l"/>
            <a:r>
              <a:rPr lang="en-GB" sz="2000" dirty="0" smtClean="0"/>
              <a:t>For </a:t>
            </a:r>
            <a:r>
              <a:rPr lang="en-GB" sz="2000" dirty="0"/>
              <a:t>a monitoring ECG, only 3 electrodes are used,</a:t>
            </a:r>
          </a:p>
          <a:p>
            <a:pPr marL="342900" indent="-342900" algn="l"/>
            <a:r>
              <a:rPr lang="en-GB" sz="2000" dirty="0"/>
              <a:t>	so only 3 leads are possible</a:t>
            </a:r>
          </a:p>
          <a:p>
            <a:pPr marL="342900" indent="-342900" algn="l"/>
            <a:endParaRPr lang="en-GB" sz="2000" dirty="0"/>
          </a:p>
          <a:p>
            <a:pPr marL="342900" indent="-342900" algn="l"/>
            <a:r>
              <a:rPr lang="en-GB" sz="2000" dirty="0"/>
              <a:t>		I</a:t>
            </a:r>
          </a:p>
          <a:p>
            <a:pPr marL="342900" indent="-342900" algn="l"/>
            <a:r>
              <a:rPr lang="en-GB" sz="2000" dirty="0"/>
              <a:t>		II</a:t>
            </a:r>
          </a:p>
          <a:p>
            <a:pPr marL="342900" indent="-342900" algn="l"/>
            <a:r>
              <a:rPr lang="en-GB" sz="2000" dirty="0"/>
              <a:t>		III</a:t>
            </a:r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1173162" y="4792663"/>
            <a:ext cx="7513638" cy="406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/>
            <a:r>
              <a:rPr lang="en-GB" sz="2000"/>
              <a:t>Note: on monitors in the OR, the ECG is generally set to Lead II</a:t>
            </a:r>
          </a:p>
        </p:txBody>
      </p: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1066800" y="5705475"/>
            <a:ext cx="75882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l"/>
            <a:r>
              <a:rPr lang="en-GB" sz="2000" dirty="0"/>
              <a:t>(Sometimes, if Lead II gives a poor trace, a useful trace can be seen on Lead I or III)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12-Leads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57400"/>
            <a:ext cx="4495800" cy="68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The 12-leads include:</a:t>
            </a:r>
            <a:endParaRPr lang="en-US" altLang="en-US" sz="2800" smtClean="0"/>
          </a:p>
        </p:txBody>
      </p:sp>
      <p:pic>
        <p:nvPicPr>
          <p:cNvPr id="8197" name="Picture 6" descr="leads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878388" y="2057400"/>
            <a:ext cx="3656012" cy="4114800"/>
          </a:xfrm>
        </p:spPr>
      </p:pic>
      <p:sp>
        <p:nvSpPr>
          <p:cNvPr id="113671" name="Text Box 7"/>
          <p:cNvSpPr txBox="1">
            <a:spLocks noChangeArrowheads="1"/>
          </p:cNvSpPr>
          <p:nvPr/>
        </p:nvSpPr>
        <p:spPr bwMode="auto">
          <a:xfrm>
            <a:off x="304800" y="2743200"/>
            <a:ext cx="4800600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66725" lvl="1">
              <a:spcBef>
                <a:spcPct val="20000"/>
              </a:spcBef>
              <a:buClr>
                <a:schemeClr val="tx2"/>
              </a:buClr>
              <a:buFontTx/>
              <a:buChar char="–"/>
            </a:pPr>
            <a:r>
              <a:rPr lang="en-US" altLang="en-US" sz="3200">
                <a:solidFill>
                  <a:srgbClr val="FF5050"/>
                </a:solidFill>
                <a:latin typeface="Arial" charset="0"/>
              </a:rPr>
              <a:t>3 Limb leads</a:t>
            </a:r>
            <a:r>
              <a:rPr lang="en-US" altLang="en-US" sz="3200">
                <a:latin typeface="Arial" charset="0"/>
              </a:rPr>
              <a:t>          	   	(I, II, III)</a:t>
            </a:r>
            <a:endParaRPr lang="en-US"/>
          </a:p>
        </p:txBody>
      </p:sp>
      <p:sp>
        <p:nvSpPr>
          <p:cNvPr id="113672" name="Text Box 8"/>
          <p:cNvSpPr txBox="1">
            <a:spLocks noChangeArrowheads="1"/>
          </p:cNvSpPr>
          <p:nvPr/>
        </p:nvSpPr>
        <p:spPr bwMode="auto">
          <a:xfrm>
            <a:off x="228600" y="3962400"/>
            <a:ext cx="4953000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tx2"/>
              </a:buClr>
              <a:buFontTx/>
              <a:buChar char="–"/>
            </a:pPr>
            <a:r>
              <a:rPr lang="en-US" altLang="en-US" sz="3200">
                <a:solidFill>
                  <a:schemeClr val="hlink"/>
                </a:solidFill>
                <a:latin typeface="Arial" charset="0"/>
              </a:rPr>
              <a:t>3 Augmented leads</a:t>
            </a:r>
            <a:r>
              <a:rPr lang="en-US" altLang="en-US" sz="3200">
                <a:latin typeface="Arial" charset="0"/>
              </a:rPr>
              <a:t> 	  	(aVR, aVL, aVF)</a:t>
            </a:r>
            <a:endParaRPr lang="en-US"/>
          </a:p>
        </p:txBody>
      </p:sp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228600" y="5273675"/>
            <a:ext cx="4876800" cy="14319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tx2"/>
              </a:buClr>
              <a:buFontTx/>
              <a:buChar char="–"/>
            </a:pPr>
            <a:r>
              <a:rPr lang="en-US" altLang="en-US" sz="3200">
                <a:solidFill>
                  <a:schemeClr val="accent1"/>
                </a:solidFill>
                <a:latin typeface="Arial" charset="0"/>
              </a:rPr>
              <a:t>6 Precordial leads</a:t>
            </a:r>
            <a:r>
              <a:rPr lang="en-US" altLang="en-US" sz="3200">
                <a:latin typeface="Arial" charset="0"/>
              </a:rPr>
              <a:t> 	  	(V</a:t>
            </a:r>
            <a:r>
              <a:rPr lang="en-US" altLang="en-US" sz="3200" baseline="-25000">
                <a:latin typeface="Arial" charset="0"/>
              </a:rPr>
              <a:t>1</a:t>
            </a:r>
            <a:r>
              <a:rPr lang="en-US" altLang="en-US" sz="3200">
                <a:latin typeface="Arial" charset="0"/>
              </a:rPr>
              <a:t>- V</a:t>
            </a:r>
            <a:r>
              <a:rPr lang="en-US" altLang="en-US" sz="3200" baseline="-25000">
                <a:latin typeface="Arial" charset="0"/>
              </a:rPr>
              <a:t>6</a:t>
            </a:r>
            <a:r>
              <a:rPr lang="en-US" altLang="en-US" sz="3200">
                <a:latin typeface="Arial" charset="0"/>
              </a:rPr>
              <a:t>)</a:t>
            </a:r>
          </a:p>
          <a:p>
            <a:endParaRPr 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562600" y="3048000"/>
            <a:ext cx="2057400" cy="2438400"/>
            <a:chOff x="3504" y="1920"/>
            <a:chExt cx="1296" cy="1536"/>
          </a:xfrm>
        </p:grpSpPr>
        <p:sp>
          <p:nvSpPr>
            <p:cNvPr id="8207" name="Line 11"/>
            <p:cNvSpPr>
              <a:spLocks noChangeShapeType="1"/>
            </p:cNvSpPr>
            <p:nvPr/>
          </p:nvSpPr>
          <p:spPr bwMode="auto">
            <a:xfrm>
              <a:off x="3600" y="2976"/>
              <a:ext cx="240" cy="480"/>
            </a:xfrm>
            <a:prstGeom prst="line">
              <a:avLst/>
            </a:prstGeom>
            <a:noFill/>
            <a:ln w="57150">
              <a:solidFill>
                <a:srgbClr val="FF505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8" name="Line 12"/>
            <p:cNvSpPr>
              <a:spLocks noChangeShapeType="1"/>
            </p:cNvSpPr>
            <p:nvPr/>
          </p:nvSpPr>
          <p:spPr bwMode="auto">
            <a:xfrm flipH="1">
              <a:off x="4560" y="3024"/>
              <a:ext cx="240" cy="432"/>
            </a:xfrm>
            <a:prstGeom prst="line">
              <a:avLst/>
            </a:prstGeom>
            <a:noFill/>
            <a:ln w="57150">
              <a:solidFill>
                <a:srgbClr val="FF505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Line 13"/>
            <p:cNvSpPr>
              <a:spLocks noChangeShapeType="1"/>
            </p:cNvSpPr>
            <p:nvPr/>
          </p:nvSpPr>
          <p:spPr bwMode="auto">
            <a:xfrm flipH="1">
              <a:off x="3504" y="1920"/>
              <a:ext cx="480" cy="0"/>
            </a:xfrm>
            <a:prstGeom prst="line">
              <a:avLst/>
            </a:prstGeom>
            <a:noFill/>
            <a:ln w="57150">
              <a:solidFill>
                <a:srgbClr val="FF5050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181600" y="3429000"/>
            <a:ext cx="3200400" cy="1905000"/>
            <a:chOff x="3264" y="2160"/>
            <a:chExt cx="2016" cy="1200"/>
          </a:xfrm>
        </p:grpSpPr>
        <p:sp>
          <p:nvSpPr>
            <p:cNvPr id="8204" name="Line 14"/>
            <p:cNvSpPr>
              <a:spLocks noChangeShapeType="1"/>
            </p:cNvSpPr>
            <p:nvPr/>
          </p:nvSpPr>
          <p:spPr bwMode="auto">
            <a:xfrm flipH="1">
              <a:off x="4272" y="2736"/>
              <a:ext cx="0" cy="624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Line 15"/>
            <p:cNvSpPr>
              <a:spLocks noChangeShapeType="1"/>
            </p:cNvSpPr>
            <p:nvPr/>
          </p:nvSpPr>
          <p:spPr bwMode="auto">
            <a:xfrm flipV="1">
              <a:off x="4848" y="2160"/>
              <a:ext cx="432" cy="28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Line 16"/>
            <p:cNvSpPr>
              <a:spLocks noChangeShapeType="1"/>
            </p:cNvSpPr>
            <p:nvPr/>
          </p:nvSpPr>
          <p:spPr bwMode="auto">
            <a:xfrm flipH="1" flipV="1">
              <a:off x="3264" y="2160"/>
              <a:ext cx="432" cy="28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681" name="Oval 17"/>
          <p:cNvSpPr>
            <a:spLocks noChangeArrowheads="1"/>
          </p:cNvSpPr>
          <p:nvPr/>
        </p:nvSpPr>
        <p:spPr bwMode="auto">
          <a:xfrm>
            <a:off x="6248400" y="3429000"/>
            <a:ext cx="1447800" cy="685800"/>
          </a:xfrm>
          <a:prstGeom prst="ellipse">
            <a:avLst/>
          </a:prstGeom>
          <a:noFill/>
          <a:ln w="762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1" grpId="0" autoUpdateAnimBg="0"/>
      <p:bldP spid="113672" grpId="0" autoUpdateAnimBg="0"/>
      <p:bldP spid="113673" grpId="0" autoUpdateAnimBg="0"/>
      <p:bldP spid="11368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436563" y="228600"/>
            <a:ext cx="49418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3200"/>
              <a:t>Electrocardiography (cont)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436563" y="923925"/>
            <a:ext cx="40211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So, what do the ‘leads’ represent?</a:t>
            </a:r>
          </a:p>
        </p:txBody>
      </p:sp>
      <p:sp>
        <p:nvSpPr>
          <p:cNvPr id="103441" name="Text Box 17"/>
          <p:cNvSpPr txBox="1">
            <a:spLocks noChangeArrowheads="1"/>
          </p:cNvSpPr>
          <p:nvPr/>
        </p:nvSpPr>
        <p:spPr bwMode="auto">
          <a:xfrm>
            <a:off x="754063" y="1436688"/>
            <a:ext cx="81724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Leads V1 – V6 </a:t>
            </a:r>
            <a:r>
              <a:rPr lang="en-GB" sz="2000" dirty="0"/>
              <a:t>predominantly represent electrical activity of the </a:t>
            </a:r>
            <a:r>
              <a:rPr lang="en-GB" sz="2000" dirty="0">
                <a:solidFill>
                  <a:srgbClr val="0070C0"/>
                </a:solidFill>
              </a:rPr>
              <a:t>ventricles</a:t>
            </a:r>
          </a:p>
        </p:txBody>
      </p:sp>
      <p:sp>
        <p:nvSpPr>
          <p:cNvPr id="103443" name="Text Box 19"/>
          <p:cNvSpPr txBox="1">
            <a:spLocks noChangeArrowheads="1"/>
          </p:cNvSpPr>
          <p:nvPr/>
        </p:nvSpPr>
        <p:spPr bwMode="auto">
          <a:xfrm>
            <a:off x="754063" y="3986213"/>
            <a:ext cx="81724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This allows ‘patterns’ to be recognised, to give an anatomical description to ECG changes</a:t>
            </a:r>
          </a:p>
        </p:txBody>
      </p:sp>
      <p:sp>
        <p:nvSpPr>
          <p:cNvPr id="103444" name="Text Box 20"/>
          <p:cNvSpPr txBox="1">
            <a:spLocks noChangeArrowheads="1"/>
          </p:cNvSpPr>
          <p:nvPr/>
        </p:nvSpPr>
        <p:spPr bwMode="auto">
          <a:xfrm>
            <a:off x="754063" y="4803775"/>
            <a:ext cx="1370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u="sng"/>
              <a:t>Examples:</a:t>
            </a:r>
          </a:p>
        </p:txBody>
      </p:sp>
      <p:sp>
        <p:nvSpPr>
          <p:cNvPr id="103445" name="Text Box 21"/>
          <p:cNvSpPr txBox="1">
            <a:spLocks noChangeArrowheads="1"/>
          </p:cNvSpPr>
          <p:nvPr/>
        </p:nvSpPr>
        <p:spPr bwMode="auto">
          <a:xfrm>
            <a:off x="754063" y="2254250"/>
            <a:ext cx="5722937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>
                <a:solidFill>
                  <a:srgbClr val="0070C0"/>
                </a:solidFill>
              </a:rPr>
              <a:t>V1, 2 : Right </a:t>
            </a:r>
            <a:r>
              <a:rPr lang="en-GB" sz="2000" dirty="0"/>
              <a:t>ventricle</a:t>
            </a:r>
          </a:p>
          <a:p>
            <a:pPr algn="l"/>
            <a:endParaRPr lang="en-GB" sz="2000" dirty="0"/>
          </a:p>
          <a:p>
            <a:pPr algn="l"/>
            <a:r>
              <a:rPr lang="en-GB" sz="2000" dirty="0">
                <a:solidFill>
                  <a:srgbClr val="0070C0"/>
                </a:solidFill>
              </a:rPr>
              <a:t>V3, 4 : </a:t>
            </a:r>
            <a:r>
              <a:rPr lang="en-GB" sz="2000" dirty="0" err="1">
                <a:solidFill>
                  <a:srgbClr val="0070C0"/>
                </a:solidFill>
              </a:rPr>
              <a:t>interventricular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dirty="0"/>
              <a:t>septum</a:t>
            </a:r>
          </a:p>
          <a:p>
            <a:pPr algn="l"/>
            <a:endParaRPr lang="en-GB" sz="2000" dirty="0"/>
          </a:p>
          <a:p>
            <a:pPr algn="l"/>
            <a:r>
              <a:rPr lang="en-GB" sz="2000" dirty="0">
                <a:solidFill>
                  <a:srgbClr val="0070C0"/>
                </a:solidFill>
              </a:rPr>
              <a:t>V5, 6 : Left </a:t>
            </a:r>
            <a:r>
              <a:rPr lang="en-GB" sz="2000" dirty="0"/>
              <a:t>ventricle</a:t>
            </a:r>
          </a:p>
        </p:txBody>
      </p:sp>
      <p:sp>
        <p:nvSpPr>
          <p:cNvPr id="103446" name="Text Box 22"/>
          <p:cNvSpPr txBox="1">
            <a:spLocks noChangeArrowheads="1"/>
          </p:cNvSpPr>
          <p:nvPr/>
        </p:nvSpPr>
        <p:spPr bwMode="auto">
          <a:xfrm>
            <a:off x="1200150" y="5316538"/>
            <a:ext cx="77152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2000" dirty="0"/>
              <a:t>II, III &amp; </a:t>
            </a:r>
            <a:r>
              <a:rPr lang="en-GB" sz="2000" dirty="0" err="1"/>
              <a:t>aVF</a:t>
            </a:r>
            <a:r>
              <a:rPr lang="en-GB" sz="2000" dirty="0"/>
              <a:t> </a:t>
            </a:r>
            <a:r>
              <a:rPr lang="en-GB" sz="2000" dirty="0">
                <a:cs typeface="Arial" charset="0"/>
              </a:rPr>
              <a:t>→ </a:t>
            </a:r>
            <a:r>
              <a:rPr lang="en-GB" sz="2000" dirty="0" smtClean="0">
                <a:cs typeface="Arial" charset="0"/>
              </a:rPr>
              <a:t>‘Inferior</a:t>
            </a:r>
            <a:r>
              <a:rPr lang="en-GB" sz="2000" dirty="0">
                <a:cs typeface="Arial" charset="0"/>
              </a:rPr>
              <a:t>’</a:t>
            </a:r>
          </a:p>
          <a:p>
            <a:pPr algn="l"/>
            <a:r>
              <a:rPr lang="en-GB" sz="2000" dirty="0"/>
              <a:t>V2 &amp; V3 → </a:t>
            </a:r>
            <a:r>
              <a:rPr lang="en-GB" sz="2000" dirty="0" smtClean="0"/>
              <a:t>‘Anterior</a:t>
            </a:r>
            <a:r>
              <a:rPr lang="en-GB" sz="2000" dirty="0"/>
              <a:t>’</a:t>
            </a:r>
            <a:endParaRPr lang="en-GB" sz="2000" dirty="0">
              <a:cs typeface="Arial" charset="0"/>
            </a:endParaRPr>
          </a:p>
          <a:p>
            <a:pPr algn="l"/>
            <a:r>
              <a:rPr lang="en-GB" sz="2000" dirty="0">
                <a:cs typeface="Arial" charset="0"/>
              </a:rPr>
              <a:t>V3 &amp; V4 → </a:t>
            </a:r>
            <a:r>
              <a:rPr lang="en-GB" sz="2000" dirty="0" smtClean="0">
                <a:cs typeface="Arial" charset="0"/>
              </a:rPr>
              <a:t>‘</a:t>
            </a:r>
            <a:r>
              <a:rPr lang="en-GB" sz="2000" dirty="0" err="1">
                <a:cs typeface="Arial" charset="0"/>
              </a:rPr>
              <a:t>S</a:t>
            </a:r>
            <a:r>
              <a:rPr lang="en-GB" sz="2000" dirty="0" err="1" smtClean="0">
                <a:cs typeface="Arial" charset="0"/>
              </a:rPr>
              <a:t>eptal</a:t>
            </a:r>
            <a:r>
              <a:rPr lang="en-GB" sz="2000" dirty="0">
                <a:cs typeface="Arial" charset="0"/>
              </a:rPr>
              <a:t>’</a:t>
            </a:r>
          </a:p>
          <a:p>
            <a:pPr algn="l"/>
            <a:r>
              <a:rPr lang="en-GB" sz="2000" dirty="0">
                <a:cs typeface="Arial" charset="0"/>
              </a:rPr>
              <a:t>V5 &amp; V6 → </a:t>
            </a:r>
            <a:r>
              <a:rPr lang="en-GB" sz="2000" dirty="0" smtClean="0">
                <a:cs typeface="Arial" charset="0"/>
              </a:rPr>
              <a:t>‘Lateral</a:t>
            </a:r>
            <a:r>
              <a:rPr lang="en-GB" sz="2000" dirty="0">
                <a:cs typeface="Arial" charset="0"/>
              </a:rPr>
              <a:t>’</a:t>
            </a:r>
          </a:p>
        </p:txBody>
      </p:sp>
      <p:sp>
        <p:nvSpPr>
          <p:cNvPr id="103447" name="AutoShape 23"/>
          <p:cNvSpPr>
            <a:spLocks/>
          </p:cNvSpPr>
          <p:nvPr/>
        </p:nvSpPr>
        <p:spPr bwMode="auto">
          <a:xfrm>
            <a:off x="4633913" y="2357438"/>
            <a:ext cx="292100" cy="1500187"/>
          </a:xfrm>
          <a:prstGeom prst="rightBrace">
            <a:avLst>
              <a:gd name="adj1" fmla="val 4279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8" name="Text Box 24"/>
          <p:cNvSpPr txBox="1">
            <a:spLocks noChangeArrowheads="1"/>
          </p:cNvSpPr>
          <p:nvPr/>
        </p:nvSpPr>
        <p:spPr bwMode="auto">
          <a:xfrm>
            <a:off x="5140325" y="2908300"/>
            <a:ext cx="2651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in 12-lead ECGs only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436563" y="2397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436563" y="950913"/>
            <a:ext cx="4035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does a basic trace look like?</a:t>
            </a:r>
          </a:p>
        </p:txBody>
      </p:sp>
      <p:sp>
        <p:nvSpPr>
          <p:cNvPr id="107551" name="Text Box 31"/>
          <p:cNvSpPr txBox="1">
            <a:spLocks noChangeArrowheads="1"/>
          </p:cNvSpPr>
          <p:nvPr/>
        </p:nvSpPr>
        <p:spPr bwMode="auto">
          <a:xfrm>
            <a:off x="4037013" y="5319713"/>
            <a:ext cx="38211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T wave – represents ventricular </a:t>
            </a:r>
            <a:r>
              <a:rPr lang="en-GB" sz="2000" u="sng" dirty="0"/>
              <a:t>re</a:t>
            </a:r>
            <a:r>
              <a:rPr lang="en-GB" sz="2000" dirty="0"/>
              <a:t>polarisation</a:t>
            </a:r>
          </a:p>
        </p:txBody>
      </p:sp>
      <p:sp>
        <p:nvSpPr>
          <p:cNvPr id="107559" name="Text Box 39"/>
          <p:cNvSpPr txBox="1">
            <a:spLocks noChangeArrowheads="1"/>
          </p:cNvSpPr>
          <p:nvPr/>
        </p:nvSpPr>
        <p:spPr bwMode="auto">
          <a:xfrm>
            <a:off x="4318000" y="6249988"/>
            <a:ext cx="4586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dirty="0"/>
              <a:t>Note: </a:t>
            </a:r>
            <a:r>
              <a:rPr lang="en-GB" sz="2000" dirty="0" err="1"/>
              <a:t>atrial</a:t>
            </a:r>
            <a:r>
              <a:rPr lang="en-GB" sz="2000" dirty="0"/>
              <a:t> </a:t>
            </a:r>
            <a:r>
              <a:rPr lang="en-GB" sz="2000" u="sng" dirty="0"/>
              <a:t>re</a:t>
            </a:r>
            <a:r>
              <a:rPr lang="en-GB" sz="2000" dirty="0"/>
              <a:t>polarisation is rarely seen</a:t>
            </a:r>
          </a:p>
        </p:txBody>
      </p:sp>
      <p:pic>
        <p:nvPicPr>
          <p:cNvPr id="107534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2538" y="1668463"/>
            <a:ext cx="6157912" cy="175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53" name="Line 33"/>
          <p:cNvSpPr>
            <a:spLocks noChangeShapeType="1"/>
          </p:cNvSpPr>
          <p:nvPr/>
        </p:nvSpPr>
        <p:spPr bwMode="auto">
          <a:xfrm flipH="1" flipV="1">
            <a:off x="3033713" y="2749550"/>
            <a:ext cx="547687" cy="1719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7554" name="Line 34"/>
          <p:cNvSpPr>
            <a:spLocks noChangeShapeType="1"/>
          </p:cNvSpPr>
          <p:nvPr/>
        </p:nvSpPr>
        <p:spPr bwMode="auto">
          <a:xfrm flipH="1" flipV="1">
            <a:off x="4114800" y="2587625"/>
            <a:ext cx="511175" cy="2744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1427163" y="3668713"/>
            <a:ext cx="38449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P wave – represents atrial depolarisation</a:t>
            </a:r>
          </a:p>
        </p:txBody>
      </p:sp>
      <p:sp>
        <p:nvSpPr>
          <p:cNvPr id="107532" name="AutoShape 12"/>
          <p:cNvSpPr>
            <a:spLocks noChangeAspect="1" noChangeArrowheads="1" noTextEdit="1"/>
          </p:cNvSpPr>
          <p:nvPr/>
        </p:nvSpPr>
        <p:spPr bwMode="auto">
          <a:xfrm>
            <a:off x="1462088" y="2108200"/>
            <a:ext cx="467677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238625" y="1936750"/>
            <a:ext cx="889000" cy="839788"/>
            <a:chOff x="2047" y="2584"/>
            <a:chExt cx="683" cy="683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2117" y="2584"/>
              <a:ext cx="544" cy="683"/>
              <a:chOff x="2117" y="2143"/>
              <a:chExt cx="544" cy="683"/>
            </a:xfrm>
          </p:grpSpPr>
          <p:sp>
            <p:nvSpPr>
              <p:cNvPr id="107537" name="Line 17"/>
              <p:cNvSpPr>
                <a:spLocks noChangeShapeType="1"/>
              </p:cNvSpPr>
              <p:nvPr/>
            </p:nvSpPr>
            <p:spPr bwMode="auto">
              <a:xfrm>
                <a:off x="2117" y="2143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38" name="Line 18"/>
              <p:cNvSpPr>
                <a:spLocks noChangeShapeType="1"/>
              </p:cNvSpPr>
              <p:nvPr/>
            </p:nvSpPr>
            <p:spPr bwMode="auto">
              <a:xfrm>
                <a:off x="2225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39" name="Line 19"/>
              <p:cNvSpPr>
                <a:spLocks noChangeShapeType="1"/>
              </p:cNvSpPr>
              <p:nvPr/>
            </p:nvSpPr>
            <p:spPr bwMode="auto">
              <a:xfrm>
                <a:off x="2334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40" name="Line 20"/>
              <p:cNvSpPr>
                <a:spLocks noChangeShapeType="1"/>
              </p:cNvSpPr>
              <p:nvPr/>
            </p:nvSpPr>
            <p:spPr bwMode="auto">
              <a:xfrm>
                <a:off x="2552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41" name="Line 21"/>
              <p:cNvSpPr>
                <a:spLocks noChangeShapeType="1"/>
              </p:cNvSpPr>
              <p:nvPr/>
            </p:nvSpPr>
            <p:spPr bwMode="auto">
              <a:xfrm>
                <a:off x="2661" y="2143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42" name="Line 22"/>
              <p:cNvSpPr>
                <a:spLocks noChangeShapeType="1"/>
              </p:cNvSpPr>
              <p:nvPr/>
            </p:nvSpPr>
            <p:spPr bwMode="auto">
              <a:xfrm>
                <a:off x="2443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23"/>
            <p:cNvGrpSpPr>
              <a:grpSpLocks/>
            </p:cNvGrpSpPr>
            <p:nvPr/>
          </p:nvGrpSpPr>
          <p:grpSpPr bwMode="auto">
            <a:xfrm>
              <a:off x="2047" y="2654"/>
              <a:ext cx="683" cy="544"/>
              <a:chOff x="2039" y="2213"/>
              <a:chExt cx="683" cy="544"/>
            </a:xfrm>
          </p:grpSpPr>
          <p:sp>
            <p:nvSpPr>
              <p:cNvPr id="107544" name="Line 24"/>
              <p:cNvSpPr>
                <a:spLocks noChangeShapeType="1"/>
              </p:cNvSpPr>
              <p:nvPr/>
            </p:nvSpPr>
            <p:spPr bwMode="auto">
              <a:xfrm rot="5400000">
                <a:off x="2381" y="1871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45" name="Line 25"/>
              <p:cNvSpPr>
                <a:spLocks noChangeShapeType="1"/>
              </p:cNvSpPr>
              <p:nvPr/>
            </p:nvSpPr>
            <p:spPr bwMode="auto">
              <a:xfrm rot="5400000">
                <a:off x="2381" y="1979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46" name="Line 26"/>
              <p:cNvSpPr>
                <a:spLocks noChangeShapeType="1"/>
              </p:cNvSpPr>
              <p:nvPr/>
            </p:nvSpPr>
            <p:spPr bwMode="auto">
              <a:xfrm rot="5400000">
                <a:off x="2381" y="2088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47" name="Line 27"/>
              <p:cNvSpPr>
                <a:spLocks noChangeShapeType="1"/>
              </p:cNvSpPr>
              <p:nvPr/>
            </p:nvSpPr>
            <p:spPr bwMode="auto">
              <a:xfrm rot="5400000">
                <a:off x="2381" y="2306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48" name="Line 28"/>
              <p:cNvSpPr>
                <a:spLocks noChangeShapeType="1"/>
              </p:cNvSpPr>
              <p:nvPr/>
            </p:nvSpPr>
            <p:spPr bwMode="auto">
              <a:xfrm rot="5400000" flipH="1">
                <a:off x="2381" y="2415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49" name="Line 29"/>
              <p:cNvSpPr>
                <a:spLocks noChangeShapeType="1"/>
              </p:cNvSpPr>
              <p:nvPr/>
            </p:nvSpPr>
            <p:spPr bwMode="auto">
              <a:xfrm rot="5400000">
                <a:off x="2381" y="2197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7550" name="Text Box 30"/>
          <p:cNvSpPr txBox="1">
            <a:spLocks noChangeArrowheads="1"/>
          </p:cNvSpPr>
          <p:nvPr/>
        </p:nvSpPr>
        <p:spPr bwMode="auto">
          <a:xfrm>
            <a:off x="2979738" y="4494213"/>
            <a:ext cx="54308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QRS complex – represents ventricular </a:t>
            </a:r>
            <a:r>
              <a:rPr lang="en-GB" sz="2000" u="sng"/>
              <a:t>de</a:t>
            </a:r>
            <a:r>
              <a:rPr lang="en-GB" sz="2000"/>
              <a:t>polarisation</a:t>
            </a:r>
          </a:p>
        </p:txBody>
      </p:sp>
      <p:sp>
        <p:nvSpPr>
          <p:cNvPr id="107552" name="Line 32"/>
          <p:cNvSpPr>
            <a:spLocks noChangeShapeType="1"/>
          </p:cNvSpPr>
          <p:nvPr/>
        </p:nvSpPr>
        <p:spPr bwMode="auto">
          <a:xfrm flipV="1">
            <a:off x="2038350" y="2632075"/>
            <a:ext cx="414338" cy="1000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7555" name="Text Box 35"/>
          <p:cNvSpPr txBox="1">
            <a:spLocks noChangeArrowheads="1"/>
          </p:cNvSpPr>
          <p:nvPr/>
        </p:nvSpPr>
        <p:spPr bwMode="auto">
          <a:xfrm>
            <a:off x="6059488" y="2722563"/>
            <a:ext cx="3825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b="1"/>
              <a:t>Q</a:t>
            </a:r>
          </a:p>
        </p:txBody>
      </p: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6210300" y="1703388"/>
            <a:ext cx="382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b="1"/>
              <a:t>R</a:t>
            </a:r>
          </a:p>
        </p:txBody>
      </p:sp>
      <p:sp>
        <p:nvSpPr>
          <p:cNvPr id="107557" name="Text Box 37"/>
          <p:cNvSpPr txBox="1">
            <a:spLocks noChangeArrowheads="1"/>
          </p:cNvSpPr>
          <p:nvPr/>
        </p:nvSpPr>
        <p:spPr bwMode="auto">
          <a:xfrm>
            <a:off x="6381750" y="2722563"/>
            <a:ext cx="382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b="1"/>
              <a:t>S</a:t>
            </a:r>
          </a:p>
        </p:txBody>
      </p:sp>
      <p:sp>
        <p:nvSpPr>
          <p:cNvPr id="107560" name="Text Box 40"/>
          <p:cNvSpPr txBox="1">
            <a:spLocks noChangeArrowheads="1"/>
          </p:cNvSpPr>
          <p:nvPr/>
        </p:nvSpPr>
        <p:spPr bwMode="auto">
          <a:xfrm>
            <a:off x="5859463" y="776288"/>
            <a:ext cx="27844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0.5 cm grid (with 1 mm small squares)</a:t>
            </a:r>
          </a:p>
        </p:txBody>
      </p:sp>
      <p:sp>
        <p:nvSpPr>
          <p:cNvPr id="107561" name="Line 41"/>
          <p:cNvSpPr>
            <a:spLocks noChangeShapeType="1"/>
          </p:cNvSpPr>
          <p:nvPr/>
        </p:nvSpPr>
        <p:spPr bwMode="auto">
          <a:xfrm flipH="1">
            <a:off x="5156200" y="1203325"/>
            <a:ext cx="708025" cy="949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7563" name="Text Box 43"/>
          <p:cNvSpPr txBox="1">
            <a:spLocks noChangeArrowheads="1"/>
          </p:cNvSpPr>
          <p:nvPr/>
        </p:nvSpPr>
        <p:spPr bwMode="auto">
          <a:xfrm>
            <a:off x="166688" y="5149850"/>
            <a:ext cx="3117850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600" dirty="0"/>
              <a:t>NOTE:</a:t>
            </a:r>
          </a:p>
          <a:p>
            <a:pPr algn="l"/>
            <a:r>
              <a:rPr lang="en-GB" sz="1600" dirty="0"/>
              <a:t>Ventricular depolarisation is ‘inwards’ (towards </a:t>
            </a:r>
            <a:r>
              <a:rPr lang="en-GB" sz="1600" dirty="0" err="1"/>
              <a:t>endocardium</a:t>
            </a:r>
            <a:r>
              <a:rPr lang="en-GB" sz="1600" dirty="0"/>
              <a:t>), but repolarisation is ‘outwards’ </a:t>
            </a:r>
            <a:r>
              <a:rPr lang="en-GB" sz="1600" dirty="0">
                <a:cs typeface="Arial" charset="0"/>
              </a:rPr>
              <a:t>so T waves are positive (like QRS complex)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436563" y="2397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577850" y="950913"/>
            <a:ext cx="3752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Why does a trace look like this?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915988" y="1557338"/>
            <a:ext cx="44148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(2) A schematic of cardiac conduction</a:t>
            </a:r>
          </a:p>
        </p:txBody>
      </p:sp>
      <p:sp>
        <p:nvSpPr>
          <p:cNvPr id="118792" name="Freeform 8"/>
          <p:cNvSpPr>
            <a:spLocks/>
          </p:cNvSpPr>
          <p:nvPr/>
        </p:nvSpPr>
        <p:spPr bwMode="auto">
          <a:xfrm>
            <a:off x="2162175" y="2741613"/>
            <a:ext cx="1724025" cy="2012950"/>
          </a:xfrm>
          <a:custGeom>
            <a:avLst/>
            <a:gdLst/>
            <a:ahLst/>
            <a:cxnLst>
              <a:cxn ang="0">
                <a:pos x="22" y="604"/>
              </a:cxn>
              <a:cxn ang="0">
                <a:pos x="88" y="412"/>
              </a:cxn>
              <a:cxn ang="0">
                <a:pos x="250" y="196"/>
              </a:cxn>
              <a:cxn ang="0">
                <a:pos x="418" y="34"/>
              </a:cxn>
              <a:cxn ang="0">
                <a:pos x="634" y="34"/>
              </a:cxn>
              <a:cxn ang="0">
                <a:pos x="832" y="238"/>
              </a:cxn>
              <a:cxn ang="0">
                <a:pos x="946" y="442"/>
              </a:cxn>
              <a:cxn ang="0">
                <a:pos x="898" y="706"/>
              </a:cxn>
              <a:cxn ang="0">
                <a:pos x="508" y="1030"/>
              </a:cxn>
              <a:cxn ang="0">
                <a:pos x="262" y="1168"/>
              </a:cxn>
              <a:cxn ang="0">
                <a:pos x="40" y="814"/>
              </a:cxn>
              <a:cxn ang="0">
                <a:pos x="22" y="604"/>
              </a:cxn>
            </a:cxnLst>
            <a:rect l="0" t="0" r="r" b="b"/>
            <a:pathLst>
              <a:path w="971" h="1204">
                <a:moveTo>
                  <a:pt x="22" y="604"/>
                </a:moveTo>
                <a:cubicBezTo>
                  <a:pt x="31" y="534"/>
                  <a:pt x="50" y="480"/>
                  <a:pt x="88" y="412"/>
                </a:cubicBezTo>
                <a:cubicBezTo>
                  <a:pt x="126" y="344"/>
                  <a:pt x="195" y="259"/>
                  <a:pt x="250" y="196"/>
                </a:cubicBezTo>
                <a:cubicBezTo>
                  <a:pt x="305" y="133"/>
                  <a:pt x="354" y="61"/>
                  <a:pt x="418" y="34"/>
                </a:cubicBezTo>
                <a:cubicBezTo>
                  <a:pt x="482" y="7"/>
                  <a:pt x="565" y="0"/>
                  <a:pt x="634" y="34"/>
                </a:cubicBezTo>
                <a:cubicBezTo>
                  <a:pt x="703" y="68"/>
                  <a:pt x="780" y="170"/>
                  <a:pt x="832" y="238"/>
                </a:cubicBezTo>
                <a:cubicBezTo>
                  <a:pt x="884" y="306"/>
                  <a:pt x="935" y="364"/>
                  <a:pt x="946" y="442"/>
                </a:cubicBezTo>
                <a:cubicBezTo>
                  <a:pt x="957" y="520"/>
                  <a:pt x="971" y="608"/>
                  <a:pt x="898" y="706"/>
                </a:cubicBezTo>
                <a:cubicBezTo>
                  <a:pt x="825" y="804"/>
                  <a:pt x="614" y="953"/>
                  <a:pt x="508" y="1030"/>
                </a:cubicBezTo>
                <a:cubicBezTo>
                  <a:pt x="402" y="1107"/>
                  <a:pt x="340" y="1204"/>
                  <a:pt x="262" y="1168"/>
                </a:cubicBezTo>
                <a:cubicBezTo>
                  <a:pt x="184" y="1132"/>
                  <a:pt x="80" y="908"/>
                  <a:pt x="40" y="814"/>
                </a:cubicBezTo>
                <a:cubicBezTo>
                  <a:pt x="0" y="720"/>
                  <a:pt x="26" y="648"/>
                  <a:pt x="22" y="604"/>
                </a:cubicBezTo>
                <a:close/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793" name="Freeform 9"/>
          <p:cNvSpPr>
            <a:spLocks/>
          </p:cNvSpPr>
          <p:nvPr/>
        </p:nvSpPr>
        <p:spPr bwMode="auto">
          <a:xfrm>
            <a:off x="3268663" y="2227263"/>
            <a:ext cx="2163762" cy="1339850"/>
          </a:xfrm>
          <a:custGeom>
            <a:avLst/>
            <a:gdLst/>
            <a:ahLst/>
            <a:cxnLst>
              <a:cxn ang="0">
                <a:pos x="40" y="228"/>
              </a:cxn>
              <a:cxn ang="0">
                <a:pos x="280" y="474"/>
              </a:cxn>
              <a:cxn ang="0">
                <a:pos x="478" y="750"/>
              </a:cxn>
              <a:cxn ang="0">
                <a:pos x="742" y="750"/>
              </a:cxn>
              <a:cxn ang="0">
                <a:pos x="1162" y="444"/>
              </a:cxn>
              <a:cxn ang="0">
                <a:pos x="1078" y="228"/>
              </a:cxn>
              <a:cxn ang="0">
                <a:pos x="850" y="48"/>
              </a:cxn>
              <a:cxn ang="0">
                <a:pos x="694" y="24"/>
              </a:cxn>
              <a:cxn ang="0">
                <a:pos x="502" y="6"/>
              </a:cxn>
              <a:cxn ang="0">
                <a:pos x="286" y="60"/>
              </a:cxn>
              <a:cxn ang="0">
                <a:pos x="130" y="114"/>
              </a:cxn>
              <a:cxn ang="0">
                <a:pos x="40" y="162"/>
              </a:cxn>
              <a:cxn ang="0">
                <a:pos x="40" y="228"/>
              </a:cxn>
            </a:cxnLst>
            <a:rect l="0" t="0" r="r" b="b"/>
            <a:pathLst>
              <a:path w="1218" h="801">
                <a:moveTo>
                  <a:pt x="40" y="228"/>
                </a:moveTo>
                <a:cubicBezTo>
                  <a:pt x="80" y="280"/>
                  <a:pt x="207" y="387"/>
                  <a:pt x="280" y="474"/>
                </a:cubicBezTo>
                <a:cubicBezTo>
                  <a:pt x="353" y="561"/>
                  <a:pt x="401" y="704"/>
                  <a:pt x="478" y="750"/>
                </a:cubicBezTo>
                <a:cubicBezTo>
                  <a:pt x="555" y="796"/>
                  <a:pt x="628" y="801"/>
                  <a:pt x="742" y="750"/>
                </a:cubicBezTo>
                <a:cubicBezTo>
                  <a:pt x="856" y="699"/>
                  <a:pt x="1106" y="531"/>
                  <a:pt x="1162" y="444"/>
                </a:cubicBezTo>
                <a:cubicBezTo>
                  <a:pt x="1218" y="357"/>
                  <a:pt x="1130" y="294"/>
                  <a:pt x="1078" y="228"/>
                </a:cubicBezTo>
                <a:cubicBezTo>
                  <a:pt x="1026" y="162"/>
                  <a:pt x="914" y="82"/>
                  <a:pt x="850" y="48"/>
                </a:cubicBezTo>
                <a:cubicBezTo>
                  <a:pt x="786" y="14"/>
                  <a:pt x="752" y="31"/>
                  <a:pt x="694" y="24"/>
                </a:cubicBezTo>
                <a:cubicBezTo>
                  <a:pt x="636" y="17"/>
                  <a:pt x="570" y="0"/>
                  <a:pt x="502" y="6"/>
                </a:cubicBezTo>
                <a:cubicBezTo>
                  <a:pt x="434" y="12"/>
                  <a:pt x="348" y="42"/>
                  <a:pt x="286" y="60"/>
                </a:cubicBezTo>
                <a:cubicBezTo>
                  <a:pt x="224" y="78"/>
                  <a:pt x="171" y="97"/>
                  <a:pt x="130" y="114"/>
                </a:cubicBezTo>
                <a:cubicBezTo>
                  <a:pt x="89" y="131"/>
                  <a:pt x="51" y="140"/>
                  <a:pt x="40" y="162"/>
                </a:cubicBezTo>
                <a:cubicBezTo>
                  <a:pt x="29" y="184"/>
                  <a:pt x="0" y="176"/>
                  <a:pt x="40" y="228"/>
                </a:cubicBezTo>
                <a:close/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794" name="Freeform 10"/>
          <p:cNvSpPr>
            <a:spLocks/>
          </p:cNvSpPr>
          <p:nvPr/>
        </p:nvSpPr>
        <p:spPr bwMode="auto">
          <a:xfrm>
            <a:off x="2811463" y="4013200"/>
            <a:ext cx="3151187" cy="2282825"/>
          </a:xfrm>
          <a:custGeom>
            <a:avLst/>
            <a:gdLst/>
            <a:ahLst/>
            <a:cxnLst>
              <a:cxn ang="0">
                <a:pos x="190" y="720"/>
              </a:cxn>
              <a:cxn ang="0">
                <a:pos x="64" y="582"/>
              </a:cxn>
              <a:cxn ang="0">
                <a:pos x="28" y="498"/>
              </a:cxn>
              <a:cxn ang="0">
                <a:pos x="232" y="306"/>
              </a:cxn>
              <a:cxn ang="0">
                <a:pos x="448" y="108"/>
              </a:cxn>
              <a:cxn ang="0">
                <a:pos x="730" y="6"/>
              </a:cxn>
              <a:cxn ang="0">
                <a:pos x="850" y="144"/>
              </a:cxn>
              <a:cxn ang="0">
                <a:pos x="1198" y="630"/>
              </a:cxn>
              <a:cxn ang="0">
                <a:pos x="1330" y="834"/>
              </a:cxn>
              <a:cxn ang="0">
                <a:pos x="1582" y="1152"/>
              </a:cxn>
              <a:cxn ang="0">
                <a:pos x="1738" y="1332"/>
              </a:cxn>
              <a:cxn ang="0">
                <a:pos x="1360" y="1350"/>
              </a:cxn>
              <a:cxn ang="0">
                <a:pos x="1054" y="1278"/>
              </a:cxn>
              <a:cxn ang="0">
                <a:pos x="784" y="1200"/>
              </a:cxn>
              <a:cxn ang="0">
                <a:pos x="472" y="996"/>
              </a:cxn>
              <a:cxn ang="0">
                <a:pos x="292" y="870"/>
              </a:cxn>
              <a:cxn ang="0">
                <a:pos x="190" y="720"/>
              </a:cxn>
            </a:cxnLst>
            <a:rect l="0" t="0" r="r" b="b"/>
            <a:pathLst>
              <a:path w="1775" h="1365">
                <a:moveTo>
                  <a:pt x="190" y="720"/>
                </a:moveTo>
                <a:cubicBezTo>
                  <a:pt x="152" y="672"/>
                  <a:pt x="91" y="619"/>
                  <a:pt x="64" y="582"/>
                </a:cubicBezTo>
                <a:cubicBezTo>
                  <a:pt x="37" y="545"/>
                  <a:pt x="0" y="544"/>
                  <a:pt x="28" y="498"/>
                </a:cubicBezTo>
                <a:cubicBezTo>
                  <a:pt x="56" y="452"/>
                  <a:pt x="162" y="371"/>
                  <a:pt x="232" y="306"/>
                </a:cubicBezTo>
                <a:cubicBezTo>
                  <a:pt x="302" y="241"/>
                  <a:pt x="365" y="158"/>
                  <a:pt x="448" y="108"/>
                </a:cubicBezTo>
                <a:cubicBezTo>
                  <a:pt x="531" y="58"/>
                  <a:pt x="663" y="0"/>
                  <a:pt x="730" y="6"/>
                </a:cubicBezTo>
                <a:cubicBezTo>
                  <a:pt x="797" y="12"/>
                  <a:pt x="772" y="40"/>
                  <a:pt x="850" y="144"/>
                </a:cubicBezTo>
                <a:cubicBezTo>
                  <a:pt x="928" y="248"/>
                  <a:pt x="1118" y="515"/>
                  <a:pt x="1198" y="630"/>
                </a:cubicBezTo>
                <a:cubicBezTo>
                  <a:pt x="1278" y="745"/>
                  <a:pt x="1266" y="747"/>
                  <a:pt x="1330" y="834"/>
                </a:cubicBezTo>
                <a:cubicBezTo>
                  <a:pt x="1394" y="921"/>
                  <a:pt x="1514" y="1069"/>
                  <a:pt x="1582" y="1152"/>
                </a:cubicBezTo>
                <a:cubicBezTo>
                  <a:pt x="1650" y="1235"/>
                  <a:pt x="1775" y="1299"/>
                  <a:pt x="1738" y="1332"/>
                </a:cubicBezTo>
                <a:cubicBezTo>
                  <a:pt x="1701" y="1365"/>
                  <a:pt x="1474" y="1359"/>
                  <a:pt x="1360" y="1350"/>
                </a:cubicBezTo>
                <a:cubicBezTo>
                  <a:pt x="1246" y="1341"/>
                  <a:pt x="1150" y="1303"/>
                  <a:pt x="1054" y="1278"/>
                </a:cubicBezTo>
                <a:cubicBezTo>
                  <a:pt x="958" y="1253"/>
                  <a:pt x="881" y="1247"/>
                  <a:pt x="784" y="1200"/>
                </a:cubicBezTo>
                <a:cubicBezTo>
                  <a:pt x="687" y="1153"/>
                  <a:pt x="554" y="1051"/>
                  <a:pt x="472" y="996"/>
                </a:cubicBezTo>
                <a:cubicBezTo>
                  <a:pt x="390" y="941"/>
                  <a:pt x="339" y="915"/>
                  <a:pt x="292" y="870"/>
                </a:cubicBezTo>
                <a:cubicBezTo>
                  <a:pt x="245" y="825"/>
                  <a:pt x="228" y="768"/>
                  <a:pt x="190" y="720"/>
                </a:cubicBezTo>
                <a:close/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795" name="Freeform 11"/>
          <p:cNvSpPr>
            <a:spLocks/>
          </p:cNvSpPr>
          <p:nvPr/>
        </p:nvSpPr>
        <p:spPr bwMode="auto">
          <a:xfrm>
            <a:off x="4354513" y="3302000"/>
            <a:ext cx="2306637" cy="2874963"/>
          </a:xfrm>
          <a:custGeom>
            <a:avLst/>
            <a:gdLst/>
            <a:ahLst/>
            <a:cxnLst>
              <a:cxn ang="0">
                <a:pos x="26" y="338"/>
              </a:cxn>
              <a:cxn ang="0">
                <a:pos x="53" y="311"/>
              </a:cxn>
              <a:cxn ang="0">
                <a:pos x="257" y="185"/>
              </a:cxn>
              <a:cxn ang="0">
                <a:pos x="443" y="44"/>
              </a:cxn>
              <a:cxn ang="0">
                <a:pos x="614" y="26"/>
              </a:cxn>
              <a:cxn ang="0">
                <a:pos x="707" y="203"/>
              </a:cxn>
              <a:cxn ang="0">
                <a:pos x="938" y="533"/>
              </a:cxn>
              <a:cxn ang="0">
                <a:pos x="1124" y="962"/>
              </a:cxn>
              <a:cxn ang="0">
                <a:pos x="1274" y="1358"/>
              </a:cxn>
              <a:cxn ang="0">
                <a:pos x="1277" y="1664"/>
              </a:cxn>
              <a:cxn ang="0">
                <a:pos x="1163" y="1688"/>
              </a:cxn>
              <a:cxn ang="0">
                <a:pos x="1016" y="1664"/>
              </a:cxn>
              <a:cxn ang="0">
                <a:pos x="794" y="1463"/>
              </a:cxn>
              <a:cxn ang="0">
                <a:pos x="563" y="1112"/>
              </a:cxn>
              <a:cxn ang="0">
                <a:pos x="389" y="887"/>
              </a:cxn>
              <a:cxn ang="0">
                <a:pos x="134" y="545"/>
              </a:cxn>
              <a:cxn ang="0">
                <a:pos x="29" y="422"/>
              </a:cxn>
              <a:cxn ang="0">
                <a:pos x="8" y="395"/>
              </a:cxn>
              <a:cxn ang="0">
                <a:pos x="5" y="377"/>
              </a:cxn>
              <a:cxn ang="0">
                <a:pos x="5" y="353"/>
              </a:cxn>
              <a:cxn ang="0">
                <a:pos x="26" y="338"/>
              </a:cxn>
            </a:cxnLst>
            <a:rect l="0" t="0" r="r" b="b"/>
            <a:pathLst>
              <a:path w="1299" h="1719">
                <a:moveTo>
                  <a:pt x="26" y="338"/>
                </a:moveTo>
                <a:cubicBezTo>
                  <a:pt x="34" y="331"/>
                  <a:pt x="14" y="337"/>
                  <a:pt x="53" y="311"/>
                </a:cubicBezTo>
                <a:cubicBezTo>
                  <a:pt x="92" y="285"/>
                  <a:pt x="192" y="229"/>
                  <a:pt x="257" y="185"/>
                </a:cubicBezTo>
                <a:cubicBezTo>
                  <a:pt x="322" y="141"/>
                  <a:pt x="383" y="71"/>
                  <a:pt x="443" y="44"/>
                </a:cubicBezTo>
                <a:cubicBezTo>
                  <a:pt x="503" y="17"/>
                  <a:pt x="570" y="0"/>
                  <a:pt x="614" y="26"/>
                </a:cubicBezTo>
                <a:cubicBezTo>
                  <a:pt x="658" y="52"/>
                  <a:pt x="653" y="119"/>
                  <a:pt x="707" y="203"/>
                </a:cubicBezTo>
                <a:cubicBezTo>
                  <a:pt x="761" y="287"/>
                  <a:pt x="869" y="407"/>
                  <a:pt x="938" y="533"/>
                </a:cubicBezTo>
                <a:cubicBezTo>
                  <a:pt x="1007" y="659"/>
                  <a:pt x="1068" y="825"/>
                  <a:pt x="1124" y="962"/>
                </a:cubicBezTo>
                <a:cubicBezTo>
                  <a:pt x="1180" y="1099"/>
                  <a:pt x="1249" y="1241"/>
                  <a:pt x="1274" y="1358"/>
                </a:cubicBezTo>
                <a:cubicBezTo>
                  <a:pt x="1299" y="1475"/>
                  <a:pt x="1295" y="1609"/>
                  <a:pt x="1277" y="1664"/>
                </a:cubicBezTo>
                <a:cubicBezTo>
                  <a:pt x="1259" y="1719"/>
                  <a:pt x="1206" y="1688"/>
                  <a:pt x="1163" y="1688"/>
                </a:cubicBezTo>
                <a:cubicBezTo>
                  <a:pt x="1120" y="1688"/>
                  <a:pt x="1078" y="1702"/>
                  <a:pt x="1016" y="1664"/>
                </a:cubicBezTo>
                <a:cubicBezTo>
                  <a:pt x="954" y="1626"/>
                  <a:pt x="869" y="1555"/>
                  <a:pt x="794" y="1463"/>
                </a:cubicBezTo>
                <a:cubicBezTo>
                  <a:pt x="719" y="1371"/>
                  <a:pt x="631" y="1208"/>
                  <a:pt x="563" y="1112"/>
                </a:cubicBezTo>
                <a:cubicBezTo>
                  <a:pt x="495" y="1016"/>
                  <a:pt x="461" y="981"/>
                  <a:pt x="389" y="887"/>
                </a:cubicBezTo>
                <a:cubicBezTo>
                  <a:pt x="317" y="793"/>
                  <a:pt x="194" y="622"/>
                  <a:pt x="134" y="545"/>
                </a:cubicBezTo>
                <a:cubicBezTo>
                  <a:pt x="74" y="468"/>
                  <a:pt x="50" y="447"/>
                  <a:pt x="29" y="422"/>
                </a:cubicBezTo>
                <a:cubicBezTo>
                  <a:pt x="8" y="397"/>
                  <a:pt x="12" y="402"/>
                  <a:pt x="8" y="395"/>
                </a:cubicBezTo>
                <a:cubicBezTo>
                  <a:pt x="4" y="388"/>
                  <a:pt x="5" y="384"/>
                  <a:pt x="5" y="377"/>
                </a:cubicBezTo>
                <a:cubicBezTo>
                  <a:pt x="5" y="370"/>
                  <a:pt x="0" y="362"/>
                  <a:pt x="5" y="353"/>
                </a:cubicBezTo>
                <a:cubicBezTo>
                  <a:pt x="10" y="344"/>
                  <a:pt x="18" y="345"/>
                  <a:pt x="26" y="338"/>
                </a:cubicBezTo>
                <a:close/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796" name="Freeform 12"/>
          <p:cNvSpPr>
            <a:spLocks/>
          </p:cNvSpPr>
          <p:nvPr/>
        </p:nvSpPr>
        <p:spPr bwMode="auto">
          <a:xfrm>
            <a:off x="1868488" y="2074863"/>
            <a:ext cx="5289550" cy="4578350"/>
          </a:xfrm>
          <a:custGeom>
            <a:avLst/>
            <a:gdLst/>
            <a:ahLst/>
            <a:cxnLst>
              <a:cxn ang="0">
                <a:pos x="371" y="421"/>
              </a:cxn>
              <a:cxn ang="0">
                <a:pos x="432" y="352"/>
              </a:cxn>
              <a:cxn ang="0">
                <a:pos x="693" y="198"/>
              </a:cxn>
              <a:cxn ang="0">
                <a:pos x="1085" y="37"/>
              </a:cxn>
              <a:cxn ang="0">
                <a:pos x="1577" y="14"/>
              </a:cxn>
              <a:cxn ang="0">
                <a:pos x="1853" y="121"/>
              </a:cxn>
              <a:cxn ang="0">
                <a:pos x="2022" y="290"/>
              </a:cxn>
              <a:cxn ang="0">
                <a:pos x="2268" y="644"/>
              </a:cxn>
              <a:cxn ang="0">
                <a:pos x="2560" y="1174"/>
              </a:cxn>
              <a:cxn ang="0">
                <a:pos x="2913" y="2003"/>
              </a:cxn>
              <a:cxn ang="0">
                <a:pos x="2959" y="2326"/>
              </a:cxn>
              <a:cxn ang="0">
                <a:pos x="2913" y="2617"/>
              </a:cxn>
              <a:cxn ang="0">
                <a:pos x="2698" y="2725"/>
              </a:cxn>
              <a:cxn ang="0">
                <a:pos x="1953" y="2694"/>
              </a:cxn>
              <a:cxn ang="0">
                <a:pos x="1346" y="2510"/>
              </a:cxn>
              <a:cxn ang="0">
                <a:pos x="962" y="2280"/>
              </a:cxn>
              <a:cxn ang="0">
                <a:pos x="524" y="1949"/>
              </a:cxn>
              <a:cxn ang="0">
                <a:pos x="279" y="1619"/>
              </a:cxn>
              <a:cxn ang="0">
                <a:pos x="110" y="1366"/>
              </a:cxn>
              <a:cxn ang="0">
                <a:pos x="18" y="936"/>
              </a:cxn>
              <a:cxn ang="0">
                <a:pos x="217" y="536"/>
              </a:cxn>
              <a:cxn ang="0">
                <a:pos x="371" y="421"/>
              </a:cxn>
            </a:cxnLst>
            <a:rect l="0" t="0" r="r" b="b"/>
            <a:pathLst>
              <a:path w="2979" h="2738">
                <a:moveTo>
                  <a:pt x="371" y="421"/>
                </a:moveTo>
                <a:cubicBezTo>
                  <a:pt x="407" y="390"/>
                  <a:pt x="378" y="389"/>
                  <a:pt x="432" y="352"/>
                </a:cubicBezTo>
                <a:cubicBezTo>
                  <a:pt x="486" y="315"/>
                  <a:pt x="584" y="251"/>
                  <a:pt x="693" y="198"/>
                </a:cubicBezTo>
                <a:cubicBezTo>
                  <a:pt x="802" y="145"/>
                  <a:pt x="938" y="68"/>
                  <a:pt x="1085" y="37"/>
                </a:cubicBezTo>
                <a:cubicBezTo>
                  <a:pt x="1232" y="6"/>
                  <a:pt x="1449" y="0"/>
                  <a:pt x="1577" y="14"/>
                </a:cubicBezTo>
                <a:cubicBezTo>
                  <a:pt x="1705" y="28"/>
                  <a:pt x="1779" y="75"/>
                  <a:pt x="1853" y="121"/>
                </a:cubicBezTo>
                <a:cubicBezTo>
                  <a:pt x="1927" y="167"/>
                  <a:pt x="1953" y="203"/>
                  <a:pt x="2022" y="290"/>
                </a:cubicBezTo>
                <a:cubicBezTo>
                  <a:pt x="2091" y="377"/>
                  <a:pt x="2178" y="497"/>
                  <a:pt x="2268" y="644"/>
                </a:cubicBezTo>
                <a:cubicBezTo>
                  <a:pt x="2358" y="791"/>
                  <a:pt x="2453" y="948"/>
                  <a:pt x="2560" y="1174"/>
                </a:cubicBezTo>
                <a:cubicBezTo>
                  <a:pt x="2667" y="1400"/>
                  <a:pt x="2847" y="1811"/>
                  <a:pt x="2913" y="2003"/>
                </a:cubicBezTo>
                <a:cubicBezTo>
                  <a:pt x="2979" y="2195"/>
                  <a:pt x="2959" y="2224"/>
                  <a:pt x="2959" y="2326"/>
                </a:cubicBezTo>
                <a:cubicBezTo>
                  <a:pt x="2959" y="2428"/>
                  <a:pt x="2956" y="2551"/>
                  <a:pt x="2913" y="2617"/>
                </a:cubicBezTo>
                <a:cubicBezTo>
                  <a:pt x="2870" y="2683"/>
                  <a:pt x="2858" y="2712"/>
                  <a:pt x="2698" y="2725"/>
                </a:cubicBezTo>
                <a:cubicBezTo>
                  <a:pt x="2538" y="2738"/>
                  <a:pt x="2178" y="2730"/>
                  <a:pt x="1953" y="2694"/>
                </a:cubicBezTo>
                <a:cubicBezTo>
                  <a:pt x="1728" y="2658"/>
                  <a:pt x="1511" y="2579"/>
                  <a:pt x="1346" y="2510"/>
                </a:cubicBezTo>
                <a:cubicBezTo>
                  <a:pt x="1181" y="2441"/>
                  <a:pt x="1099" y="2373"/>
                  <a:pt x="962" y="2280"/>
                </a:cubicBezTo>
                <a:cubicBezTo>
                  <a:pt x="825" y="2187"/>
                  <a:pt x="638" y="2059"/>
                  <a:pt x="524" y="1949"/>
                </a:cubicBezTo>
                <a:cubicBezTo>
                  <a:pt x="410" y="1839"/>
                  <a:pt x="348" y="1716"/>
                  <a:pt x="279" y="1619"/>
                </a:cubicBezTo>
                <a:cubicBezTo>
                  <a:pt x="210" y="1522"/>
                  <a:pt x="153" y="1480"/>
                  <a:pt x="110" y="1366"/>
                </a:cubicBezTo>
                <a:cubicBezTo>
                  <a:pt x="67" y="1252"/>
                  <a:pt x="0" y="1074"/>
                  <a:pt x="18" y="936"/>
                </a:cubicBezTo>
                <a:cubicBezTo>
                  <a:pt x="36" y="798"/>
                  <a:pt x="160" y="622"/>
                  <a:pt x="217" y="536"/>
                </a:cubicBezTo>
                <a:cubicBezTo>
                  <a:pt x="274" y="450"/>
                  <a:pt x="335" y="452"/>
                  <a:pt x="371" y="421"/>
                </a:cubicBezTo>
                <a:close/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797" name="Oval 13"/>
          <p:cNvSpPr>
            <a:spLocks noChangeArrowheads="1"/>
          </p:cNvSpPr>
          <p:nvPr/>
        </p:nvSpPr>
        <p:spPr bwMode="auto">
          <a:xfrm>
            <a:off x="2813050" y="3394075"/>
            <a:ext cx="273050" cy="269875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798" name="AutoShape 14"/>
          <p:cNvSpPr>
            <a:spLocks noChangeArrowheads="1"/>
          </p:cNvSpPr>
          <p:nvPr/>
        </p:nvSpPr>
        <p:spPr bwMode="auto">
          <a:xfrm rot="-1774935">
            <a:off x="3046413" y="3178175"/>
            <a:ext cx="346075" cy="204788"/>
          </a:xfrm>
          <a:prstGeom prst="rightArrow">
            <a:avLst>
              <a:gd name="adj1" fmla="val 50000"/>
              <a:gd name="adj2" fmla="val 4224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799" name="AutoShape 15"/>
          <p:cNvSpPr>
            <a:spLocks noChangeArrowheads="1"/>
          </p:cNvSpPr>
          <p:nvPr/>
        </p:nvSpPr>
        <p:spPr bwMode="auto">
          <a:xfrm rot="-1180656">
            <a:off x="3459163" y="2943225"/>
            <a:ext cx="346075" cy="203200"/>
          </a:xfrm>
          <a:prstGeom prst="rightArrow">
            <a:avLst>
              <a:gd name="adj1" fmla="val 50000"/>
              <a:gd name="adj2" fmla="val 4257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0" name="AutoShape 16"/>
          <p:cNvSpPr>
            <a:spLocks noChangeArrowheads="1"/>
          </p:cNvSpPr>
          <p:nvPr/>
        </p:nvSpPr>
        <p:spPr bwMode="auto">
          <a:xfrm rot="908226">
            <a:off x="3921125" y="2957513"/>
            <a:ext cx="346075" cy="204787"/>
          </a:xfrm>
          <a:prstGeom prst="rightArrow">
            <a:avLst>
              <a:gd name="adj1" fmla="val 50000"/>
              <a:gd name="adj2" fmla="val 4224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1" name="AutoShape 17"/>
          <p:cNvSpPr>
            <a:spLocks noChangeArrowheads="1"/>
          </p:cNvSpPr>
          <p:nvPr/>
        </p:nvSpPr>
        <p:spPr bwMode="auto">
          <a:xfrm rot="908226">
            <a:off x="3192463" y="3465513"/>
            <a:ext cx="347662" cy="204787"/>
          </a:xfrm>
          <a:prstGeom prst="rightArrow">
            <a:avLst>
              <a:gd name="adj1" fmla="val 50000"/>
              <a:gd name="adj2" fmla="val 4244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2" name="AutoShape 18"/>
          <p:cNvSpPr>
            <a:spLocks noChangeArrowheads="1"/>
          </p:cNvSpPr>
          <p:nvPr/>
        </p:nvSpPr>
        <p:spPr bwMode="auto">
          <a:xfrm rot="5276293">
            <a:off x="2741612" y="3836988"/>
            <a:ext cx="327025" cy="215900"/>
          </a:xfrm>
          <a:prstGeom prst="rightArrow">
            <a:avLst>
              <a:gd name="adj1" fmla="val 50000"/>
              <a:gd name="adj2" fmla="val 3786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3" name="AutoShape 19"/>
          <p:cNvSpPr>
            <a:spLocks noChangeArrowheads="1"/>
          </p:cNvSpPr>
          <p:nvPr/>
        </p:nvSpPr>
        <p:spPr bwMode="auto">
          <a:xfrm rot="908226">
            <a:off x="3611563" y="3570288"/>
            <a:ext cx="346075" cy="203200"/>
          </a:xfrm>
          <a:prstGeom prst="rightArrow">
            <a:avLst>
              <a:gd name="adj1" fmla="val 50000"/>
              <a:gd name="adj2" fmla="val 4257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4" name="AutoShape 20"/>
          <p:cNvSpPr>
            <a:spLocks noChangeArrowheads="1"/>
          </p:cNvSpPr>
          <p:nvPr/>
        </p:nvSpPr>
        <p:spPr bwMode="auto">
          <a:xfrm rot="3345705">
            <a:off x="4163219" y="3971132"/>
            <a:ext cx="325437" cy="215900"/>
          </a:xfrm>
          <a:prstGeom prst="rightArrow">
            <a:avLst>
              <a:gd name="adj1" fmla="val 50000"/>
              <a:gd name="adj2" fmla="val 37684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5" name="Oval 21"/>
          <p:cNvSpPr>
            <a:spLocks noChangeArrowheads="1"/>
          </p:cNvSpPr>
          <p:nvPr/>
        </p:nvSpPr>
        <p:spPr bwMode="auto">
          <a:xfrm>
            <a:off x="3960813" y="3641725"/>
            <a:ext cx="273050" cy="269875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6" name="AutoShape 22"/>
          <p:cNvSpPr>
            <a:spLocks noChangeArrowheads="1"/>
          </p:cNvSpPr>
          <p:nvPr/>
        </p:nvSpPr>
        <p:spPr bwMode="auto">
          <a:xfrm rot="3345705">
            <a:off x="4674394" y="4593432"/>
            <a:ext cx="325437" cy="215900"/>
          </a:xfrm>
          <a:prstGeom prst="rightArrow">
            <a:avLst>
              <a:gd name="adj1" fmla="val 50000"/>
              <a:gd name="adj2" fmla="val 37684"/>
            </a:avLst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7" name="AutoShape 23"/>
          <p:cNvSpPr>
            <a:spLocks noChangeArrowheads="1"/>
          </p:cNvSpPr>
          <p:nvPr/>
        </p:nvSpPr>
        <p:spPr bwMode="auto">
          <a:xfrm rot="3345705">
            <a:off x="5824537" y="6024563"/>
            <a:ext cx="327025" cy="215900"/>
          </a:xfrm>
          <a:prstGeom prst="rightArrow">
            <a:avLst>
              <a:gd name="adj1" fmla="val 50000"/>
              <a:gd name="adj2" fmla="val 37868"/>
            </a:avLst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8" name="AutoShape 24"/>
          <p:cNvSpPr>
            <a:spLocks noChangeArrowheads="1"/>
          </p:cNvSpPr>
          <p:nvPr/>
        </p:nvSpPr>
        <p:spPr bwMode="auto">
          <a:xfrm rot="3345705">
            <a:off x="5242719" y="5376069"/>
            <a:ext cx="325438" cy="215900"/>
          </a:xfrm>
          <a:prstGeom prst="rightArrow">
            <a:avLst>
              <a:gd name="adj1" fmla="val 50000"/>
              <a:gd name="adj2" fmla="val 37684"/>
            </a:avLst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09" name="AutoShape 25"/>
          <p:cNvSpPr>
            <a:spLocks noChangeArrowheads="1"/>
          </p:cNvSpPr>
          <p:nvPr/>
        </p:nvSpPr>
        <p:spPr bwMode="auto">
          <a:xfrm rot="9721317">
            <a:off x="5734050" y="6384925"/>
            <a:ext cx="246063" cy="138113"/>
          </a:xfrm>
          <a:prstGeom prst="rightArrow">
            <a:avLst>
              <a:gd name="adj1" fmla="val 50000"/>
              <a:gd name="adj2" fmla="val 44540"/>
            </a:avLst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0" name="AutoShape 26"/>
          <p:cNvSpPr>
            <a:spLocks noChangeArrowheads="1"/>
          </p:cNvSpPr>
          <p:nvPr/>
        </p:nvSpPr>
        <p:spPr bwMode="auto">
          <a:xfrm rot="-3899602">
            <a:off x="6757193" y="5952332"/>
            <a:ext cx="233363" cy="146050"/>
          </a:xfrm>
          <a:prstGeom prst="rightArrow">
            <a:avLst>
              <a:gd name="adj1" fmla="val 50000"/>
              <a:gd name="adj2" fmla="val 39946"/>
            </a:avLst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1" name="AutoShape 27"/>
          <p:cNvSpPr>
            <a:spLocks noChangeArrowheads="1"/>
          </p:cNvSpPr>
          <p:nvPr/>
        </p:nvSpPr>
        <p:spPr bwMode="auto">
          <a:xfrm rot="-227187">
            <a:off x="6437313" y="6278563"/>
            <a:ext cx="246062" cy="136525"/>
          </a:xfrm>
          <a:prstGeom prst="rightArrow">
            <a:avLst>
              <a:gd name="adj1" fmla="val 50000"/>
              <a:gd name="adj2" fmla="val 45058"/>
            </a:avLst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2" name="AutoShape 28"/>
          <p:cNvSpPr>
            <a:spLocks noChangeArrowheads="1"/>
          </p:cNvSpPr>
          <p:nvPr/>
        </p:nvSpPr>
        <p:spPr bwMode="auto">
          <a:xfrm rot="14950547">
            <a:off x="6515893" y="4888707"/>
            <a:ext cx="233363" cy="146050"/>
          </a:xfrm>
          <a:prstGeom prst="rightArrow">
            <a:avLst>
              <a:gd name="adj1" fmla="val 50000"/>
              <a:gd name="adj2" fmla="val 39946"/>
            </a:avLst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3" name="AutoShape 29"/>
          <p:cNvSpPr>
            <a:spLocks noChangeArrowheads="1"/>
          </p:cNvSpPr>
          <p:nvPr/>
        </p:nvSpPr>
        <p:spPr bwMode="auto">
          <a:xfrm rot="15722311">
            <a:off x="6735762" y="5457826"/>
            <a:ext cx="233363" cy="144462"/>
          </a:xfrm>
          <a:prstGeom prst="rightArrow">
            <a:avLst>
              <a:gd name="adj1" fmla="val 50000"/>
              <a:gd name="adj2" fmla="val 40385"/>
            </a:avLst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4" name="AutoShape 30"/>
          <p:cNvSpPr>
            <a:spLocks noChangeArrowheads="1"/>
          </p:cNvSpPr>
          <p:nvPr/>
        </p:nvSpPr>
        <p:spPr bwMode="auto">
          <a:xfrm rot="11231389">
            <a:off x="4981575" y="6311900"/>
            <a:ext cx="246063" cy="136525"/>
          </a:xfrm>
          <a:prstGeom prst="rightArrow">
            <a:avLst>
              <a:gd name="adj1" fmla="val 50000"/>
              <a:gd name="adj2" fmla="val 45058"/>
            </a:avLst>
          </a:prstGeom>
          <a:solidFill>
            <a:schemeClr val="tx1">
              <a:lumMod val="95000"/>
              <a:lumOff val="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8815" name="Text Box 31"/>
          <p:cNvSpPr txBox="1">
            <a:spLocks noChangeArrowheads="1"/>
          </p:cNvSpPr>
          <p:nvPr/>
        </p:nvSpPr>
        <p:spPr bwMode="auto">
          <a:xfrm>
            <a:off x="717550" y="4581525"/>
            <a:ext cx="1158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AV node</a:t>
            </a:r>
          </a:p>
        </p:txBody>
      </p:sp>
      <p:sp>
        <p:nvSpPr>
          <p:cNvPr id="118816" name="Text Box 32"/>
          <p:cNvSpPr txBox="1">
            <a:spLocks noChangeArrowheads="1"/>
          </p:cNvSpPr>
          <p:nvPr/>
        </p:nvSpPr>
        <p:spPr bwMode="auto">
          <a:xfrm>
            <a:off x="536575" y="3036888"/>
            <a:ext cx="1158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SA node</a:t>
            </a:r>
          </a:p>
        </p:txBody>
      </p:sp>
      <p:sp>
        <p:nvSpPr>
          <p:cNvPr id="118817" name="Freeform 33"/>
          <p:cNvSpPr>
            <a:spLocks/>
          </p:cNvSpPr>
          <p:nvPr/>
        </p:nvSpPr>
        <p:spPr bwMode="auto">
          <a:xfrm>
            <a:off x="4175125" y="3895725"/>
            <a:ext cx="2674938" cy="2416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88" y="244"/>
              </a:cxn>
              <a:cxn ang="0">
                <a:pos x="252" y="276"/>
              </a:cxn>
              <a:cxn ang="0">
                <a:pos x="404" y="488"/>
              </a:cxn>
              <a:cxn ang="0">
                <a:pos x="592" y="732"/>
              </a:cxn>
              <a:cxn ang="0">
                <a:pos x="632" y="816"/>
              </a:cxn>
              <a:cxn ang="0">
                <a:pos x="772" y="1024"/>
              </a:cxn>
              <a:cxn ang="0">
                <a:pos x="944" y="1224"/>
              </a:cxn>
              <a:cxn ang="0">
                <a:pos x="1132" y="1388"/>
              </a:cxn>
              <a:cxn ang="0">
                <a:pos x="1292" y="1444"/>
              </a:cxn>
              <a:cxn ang="0">
                <a:pos x="1396" y="1392"/>
              </a:cxn>
              <a:cxn ang="0">
                <a:pos x="1456" y="1264"/>
              </a:cxn>
              <a:cxn ang="0">
                <a:pos x="1500" y="1056"/>
              </a:cxn>
              <a:cxn ang="0">
                <a:pos x="1416" y="756"/>
              </a:cxn>
              <a:cxn ang="0">
                <a:pos x="1316" y="468"/>
              </a:cxn>
            </a:cxnLst>
            <a:rect l="0" t="0" r="r" b="b"/>
            <a:pathLst>
              <a:path w="1507" h="1445">
                <a:moveTo>
                  <a:pt x="0" y="0"/>
                </a:moveTo>
                <a:cubicBezTo>
                  <a:pt x="73" y="99"/>
                  <a:pt x="146" y="198"/>
                  <a:pt x="188" y="244"/>
                </a:cubicBezTo>
                <a:cubicBezTo>
                  <a:pt x="230" y="290"/>
                  <a:pt x="216" y="235"/>
                  <a:pt x="252" y="276"/>
                </a:cubicBezTo>
                <a:cubicBezTo>
                  <a:pt x="288" y="317"/>
                  <a:pt x="347" y="412"/>
                  <a:pt x="404" y="488"/>
                </a:cubicBezTo>
                <a:cubicBezTo>
                  <a:pt x="461" y="564"/>
                  <a:pt x="554" y="677"/>
                  <a:pt x="592" y="732"/>
                </a:cubicBezTo>
                <a:cubicBezTo>
                  <a:pt x="630" y="787"/>
                  <a:pt x="602" y="767"/>
                  <a:pt x="632" y="816"/>
                </a:cubicBezTo>
                <a:cubicBezTo>
                  <a:pt x="662" y="865"/>
                  <a:pt x="720" y="956"/>
                  <a:pt x="772" y="1024"/>
                </a:cubicBezTo>
                <a:cubicBezTo>
                  <a:pt x="824" y="1092"/>
                  <a:pt x="884" y="1163"/>
                  <a:pt x="944" y="1224"/>
                </a:cubicBezTo>
                <a:cubicBezTo>
                  <a:pt x="1004" y="1285"/>
                  <a:pt x="1074" y="1351"/>
                  <a:pt x="1132" y="1388"/>
                </a:cubicBezTo>
                <a:cubicBezTo>
                  <a:pt x="1190" y="1425"/>
                  <a:pt x="1248" y="1443"/>
                  <a:pt x="1292" y="1444"/>
                </a:cubicBezTo>
                <a:cubicBezTo>
                  <a:pt x="1336" y="1445"/>
                  <a:pt x="1369" y="1422"/>
                  <a:pt x="1396" y="1392"/>
                </a:cubicBezTo>
                <a:cubicBezTo>
                  <a:pt x="1423" y="1362"/>
                  <a:pt x="1439" y="1320"/>
                  <a:pt x="1456" y="1264"/>
                </a:cubicBezTo>
                <a:cubicBezTo>
                  <a:pt x="1473" y="1208"/>
                  <a:pt x="1507" y="1141"/>
                  <a:pt x="1500" y="1056"/>
                </a:cubicBezTo>
                <a:cubicBezTo>
                  <a:pt x="1493" y="971"/>
                  <a:pt x="1447" y="854"/>
                  <a:pt x="1416" y="756"/>
                </a:cubicBezTo>
                <a:cubicBezTo>
                  <a:pt x="1385" y="658"/>
                  <a:pt x="1350" y="563"/>
                  <a:pt x="1316" y="4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818" name="Freeform 34"/>
          <p:cNvSpPr>
            <a:spLocks/>
          </p:cNvSpPr>
          <p:nvPr/>
        </p:nvSpPr>
        <p:spPr bwMode="auto">
          <a:xfrm>
            <a:off x="4295775" y="4337050"/>
            <a:ext cx="1831975" cy="2193925"/>
          </a:xfrm>
          <a:custGeom>
            <a:avLst/>
            <a:gdLst/>
            <a:ahLst/>
            <a:cxnLst>
              <a:cxn ang="0">
                <a:pos x="144" y="0"/>
              </a:cxn>
              <a:cxn ang="0">
                <a:pos x="156" y="64"/>
              </a:cxn>
              <a:cxn ang="0">
                <a:pos x="192" y="120"/>
              </a:cxn>
              <a:cxn ang="0">
                <a:pos x="360" y="368"/>
              </a:cxn>
              <a:cxn ang="0">
                <a:pos x="500" y="544"/>
              </a:cxn>
              <a:cxn ang="0">
                <a:pos x="520" y="600"/>
              </a:cxn>
              <a:cxn ang="0">
                <a:pos x="580" y="696"/>
              </a:cxn>
              <a:cxn ang="0">
                <a:pos x="724" y="860"/>
              </a:cxn>
              <a:cxn ang="0">
                <a:pos x="864" y="1024"/>
              </a:cxn>
              <a:cxn ang="0">
                <a:pos x="1008" y="1180"/>
              </a:cxn>
              <a:cxn ang="0">
                <a:pos x="1008" y="1276"/>
              </a:cxn>
              <a:cxn ang="0">
                <a:pos x="892" y="1296"/>
              </a:cxn>
              <a:cxn ang="0">
                <a:pos x="672" y="1300"/>
              </a:cxn>
              <a:cxn ang="0">
                <a:pos x="336" y="1224"/>
              </a:cxn>
              <a:cxn ang="0">
                <a:pos x="184" y="1172"/>
              </a:cxn>
              <a:cxn ang="0">
                <a:pos x="0" y="1104"/>
              </a:cxn>
            </a:cxnLst>
            <a:rect l="0" t="0" r="r" b="b"/>
            <a:pathLst>
              <a:path w="1032" h="1312">
                <a:moveTo>
                  <a:pt x="144" y="0"/>
                </a:moveTo>
                <a:cubicBezTo>
                  <a:pt x="146" y="22"/>
                  <a:pt x="148" y="44"/>
                  <a:pt x="156" y="64"/>
                </a:cubicBezTo>
                <a:cubicBezTo>
                  <a:pt x="164" y="84"/>
                  <a:pt x="158" y="69"/>
                  <a:pt x="192" y="120"/>
                </a:cubicBezTo>
                <a:cubicBezTo>
                  <a:pt x="226" y="171"/>
                  <a:pt x="309" y="297"/>
                  <a:pt x="360" y="368"/>
                </a:cubicBezTo>
                <a:cubicBezTo>
                  <a:pt x="411" y="439"/>
                  <a:pt x="473" y="505"/>
                  <a:pt x="500" y="544"/>
                </a:cubicBezTo>
                <a:cubicBezTo>
                  <a:pt x="527" y="583"/>
                  <a:pt x="507" y="575"/>
                  <a:pt x="520" y="600"/>
                </a:cubicBezTo>
                <a:cubicBezTo>
                  <a:pt x="533" y="625"/>
                  <a:pt x="546" y="653"/>
                  <a:pt x="580" y="696"/>
                </a:cubicBezTo>
                <a:cubicBezTo>
                  <a:pt x="614" y="739"/>
                  <a:pt x="677" y="805"/>
                  <a:pt x="724" y="860"/>
                </a:cubicBezTo>
                <a:cubicBezTo>
                  <a:pt x="771" y="915"/>
                  <a:pt x="817" y="971"/>
                  <a:pt x="864" y="1024"/>
                </a:cubicBezTo>
                <a:cubicBezTo>
                  <a:pt x="911" y="1077"/>
                  <a:pt x="984" y="1138"/>
                  <a:pt x="1008" y="1180"/>
                </a:cubicBezTo>
                <a:cubicBezTo>
                  <a:pt x="1032" y="1222"/>
                  <a:pt x="1027" y="1257"/>
                  <a:pt x="1008" y="1276"/>
                </a:cubicBezTo>
                <a:cubicBezTo>
                  <a:pt x="989" y="1295"/>
                  <a:pt x="948" y="1292"/>
                  <a:pt x="892" y="1296"/>
                </a:cubicBezTo>
                <a:cubicBezTo>
                  <a:pt x="836" y="1300"/>
                  <a:pt x="765" y="1312"/>
                  <a:pt x="672" y="1300"/>
                </a:cubicBezTo>
                <a:cubicBezTo>
                  <a:pt x="579" y="1288"/>
                  <a:pt x="417" y="1245"/>
                  <a:pt x="336" y="1224"/>
                </a:cubicBezTo>
                <a:cubicBezTo>
                  <a:pt x="255" y="1203"/>
                  <a:pt x="240" y="1192"/>
                  <a:pt x="184" y="1172"/>
                </a:cubicBezTo>
                <a:cubicBezTo>
                  <a:pt x="128" y="1152"/>
                  <a:pt x="64" y="1128"/>
                  <a:pt x="0" y="110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819" name="Text Box 35"/>
          <p:cNvSpPr txBox="1">
            <a:spLocks noChangeArrowheads="1"/>
          </p:cNvSpPr>
          <p:nvPr/>
        </p:nvSpPr>
        <p:spPr bwMode="auto">
          <a:xfrm>
            <a:off x="6807200" y="4011613"/>
            <a:ext cx="179387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dirty="0"/>
              <a:t>Purkinje fibres</a:t>
            </a:r>
          </a:p>
        </p:txBody>
      </p:sp>
      <p:sp>
        <p:nvSpPr>
          <p:cNvPr id="118820" name="Text Box 36"/>
          <p:cNvSpPr txBox="1">
            <a:spLocks noChangeArrowheads="1"/>
          </p:cNvSpPr>
          <p:nvPr/>
        </p:nvSpPr>
        <p:spPr bwMode="auto">
          <a:xfrm>
            <a:off x="5821363" y="2481263"/>
            <a:ext cx="1695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Bundle of His</a:t>
            </a:r>
          </a:p>
        </p:txBody>
      </p:sp>
      <p:sp>
        <p:nvSpPr>
          <p:cNvPr id="118821" name="Line 37"/>
          <p:cNvSpPr>
            <a:spLocks noChangeShapeType="1"/>
          </p:cNvSpPr>
          <p:nvPr/>
        </p:nvSpPr>
        <p:spPr bwMode="auto">
          <a:xfrm>
            <a:off x="1708150" y="3305175"/>
            <a:ext cx="1049338" cy="179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822" name="Line 38"/>
          <p:cNvSpPr>
            <a:spLocks noChangeShapeType="1"/>
          </p:cNvSpPr>
          <p:nvPr/>
        </p:nvSpPr>
        <p:spPr bwMode="auto">
          <a:xfrm flipH="1">
            <a:off x="5264150" y="4394200"/>
            <a:ext cx="2073275" cy="730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823" name="Line 39"/>
          <p:cNvSpPr>
            <a:spLocks noChangeShapeType="1"/>
          </p:cNvSpPr>
          <p:nvPr/>
        </p:nvSpPr>
        <p:spPr bwMode="auto">
          <a:xfrm flipH="1">
            <a:off x="4413250" y="2887663"/>
            <a:ext cx="1868488" cy="1358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824" name="Line 40"/>
          <p:cNvSpPr>
            <a:spLocks noChangeShapeType="1"/>
          </p:cNvSpPr>
          <p:nvPr/>
        </p:nvSpPr>
        <p:spPr bwMode="auto">
          <a:xfrm flipV="1">
            <a:off x="1955800" y="3884613"/>
            <a:ext cx="1963738" cy="9001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825" name="Text Box 41"/>
          <p:cNvSpPr txBox="1">
            <a:spLocks noChangeArrowheads="1"/>
          </p:cNvSpPr>
          <p:nvPr/>
        </p:nvSpPr>
        <p:spPr bwMode="auto">
          <a:xfrm>
            <a:off x="182563" y="3371850"/>
            <a:ext cx="17145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dirty="0"/>
              <a:t>Onset of AP </a:t>
            </a:r>
            <a:r>
              <a:rPr lang="en-GB" sz="1600" dirty="0">
                <a:cs typeface="Arial" charset="0"/>
              </a:rPr>
              <a:t>→ </a:t>
            </a:r>
            <a:r>
              <a:rPr lang="en-GB" sz="1600" dirty="0">
                <a:solidFill>
                  <a:srgbClr val="0070C0"/>
                </a:solidFill>
                <a:cs typeface="Arial" charset="0"/>
              </a:rPr>
              <a:t>P wave</a:t>
            </a:r>
          </a:p>
        </p:txBody>
      </p:sp>
      <p:sp>
        <p:nvSpPr>
          <p:cNvPr id="118826" name="Text Box 42"/>
          <p:cNvSpPr txBox="1">
            <a:spLocks noChangeArrowheads="1"/>
          </p:cNvSpPr>
          <p:nvPr/>
        </p:nvSpPr>
        <p:spPr bwMode="auto">
          <a:xfrm>
            <a:off x="409575" y="4889500"/>
            <a:ext cx="1714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dirty="0"/>
              <a:t>AVN delays conduction between atria and ventricles </a:t>
            </a:r>
            <a:r>
              <a:rPr lang="en-GB" sz="1600" dirty="0">
                <a:cs typeface="Arial" charset="0"/>
              </a:rPr>
              <a:t>→ </a:t>
            </a:r>
            <a:r>
              <a:rPr lang="en-GB" sz="1600" dirty="0">
                <a:solidFill>
                  <a:srgbClr val="0070C0"/>
                </a:solidFill>
                <a:cs typeface="Arial" charset="0"/>
              </a:rPr>
              <a:t>PR interval</a:t>
            </a:r>
          </a:p>
        </p:txBody>
      </p:sp>
      <p:sp>
        <p:nvSpPr>
          <p:cNvPr id="118827" name="Text Box 43"/>
          <p:cNvSpPr txBox="1">
            <a:spLocks noChangeArrowheads="1"/>
          </p:cNvSpPr>
          <p:nvPr/>
        </p:nvSpPr>
        <p:spPr bwMode="auto">
          <a:xfrm>
            <a:off x="7208838" y="5178425"/>
            <a:ext cx="1935162" cy="10699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dirty="0"/>
              <a:t>Larger left ventricle dominates; R waves are largest in V3 – V6</a:t>
            </a:r>
            <a:endParaRPr lang="en-GB" sz="1600" dirty="0">
              <a:cs typeface="Arial" charset="0"/>
            </a:endParaRPr>
          </a:p>
        </p:txBody>
      </p:sp>
      <p:sp>
        <p:nvSpPr>
          <p:cNvPr id="118828" name="Text Box 44"/>
          <p:cNvSpPr txBox="1">
            <a:spLocks noChangeArrowheads="1"/>
          </p:cNvSpPr>
          <p:nvPr/>
        </p:nvSpPr>
        <p:spPr bwMode="auto">
          <a:xfrm>
            <a:off x="6559550" y="3114675"/>
            <a:ext cx="17145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dirty="0"/>
              <a:t>Ventricular conduction </a:t>
            </a:r>
            <a:r>
              <a:rPr lang="en-GB" sz="1600" dirty="0">
                <a:cs typeface="Arial" charset="0"/>
              </a:rPr>
              <a:t>→ </a:t>
            </a:r>
            <a:r>
              <a:rPr lang="en-GB" sz="1600" dirty="0">
                <a:solidFill>
                  <a:srgbClr val="0070C0"/>
                </a:solidFill>
                <a:cs typeface="Arial" charset="0"/>
              </a:rPr>
              <a:t>QRS complex</a:t>
            </a:r>
          </a:p>
        </p:txBody>
      </p:sp>
      <p:sp>
        <p:nvSpPr>
          <p:cNvPr id="118830" name="Text Box 46"/>
          <p:cNvSpPr txBox="1">
            <a:spLocks noChangeArrowheads="1"/>
          </p:cNvSpPr>
          <p:nvPr/>
        </p:nvSpPr>
        <p:spPr bwMode="auto">
          <a:xfrm>
            <a:off x="3751263" y="4986338"/>
            <a:ext cx="501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RV</a:t>
            </a:r>
          </a:p>
        </p:txBody>
      </p:sp>
      <p:sp>
        <p:nvSpPr>
          <p:cNvPr id="118831" name="Text Box 47"/>
          <p:cNvSpPr txBox="1">
            <a:spLocks noChangeArrowheads="1"/>
          </p:cNvSpPr>
          <p:nvPr/>
        </p:nvSpPr>
        <p:spPr bwMode="auto">
          <a:xfrm>
            <a:off x="2222500" y="3679825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RA</a:t>
            </a:r>
          </a:p>
        </p:txBody>
      </p:sp>
      <p:sp>
        <p:nvSpPr>
          <p:cNvPr id="118832" name="Text Box 48"/>
          <p:cNvSpPr txBox="1">
            <a:spLocks noChangeArrowheads="1"/>
          </p:cNvSpPr>
          <p:nvPr/>
        </p:nvSpPr>
        <p:spPr bwMode="auto">
          <a:xfrm>
            <a:off x="3968750" y="2406650"/>
            <a:ext cx="46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LA</a:t>
            </a:r>
          </a:p>
        </p:txBody>
      </p:sp>
      <p:sp>
        <p:nvSpPr>
          <p:cNvPr id="118833" name="Text Box 49"/>
          <p:cNvSpPr txBox="1">
            <a:spLocks noChangeArrowheads="1"/>
          </p:cNvSpPr>
          <p:nvPr/>
        </p:nvSpPr>
        <p:spPr bwMode="auto">
          <a:xfrm>
            <a:off x="5356225" y="4267200"/>
            <a:ext cx="46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LV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8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1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1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1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18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18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1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18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18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8" grpId="0" animBg="1"/>
      <p:bldP spid="118799" grpId="0" animBg="1"/>
      <p:bldP spid="118800" grpId="0" animBg="1"/>
      <p:bldP spid="118801" grpId="0" animBg="1"/>
      <p:bldP spid="118802" grpId="0" animBg="1"/>
      <p:bldP spid="118803" grpId="0" animBg="1"/>
      <p:bldP spid="118804" grpId="0" animBg="1"/>
      <p:bldP spid="118805" grpId="0" animBg="1"/>
      <p:bldP spid="118806" grpId="0" animBg="1"/>
      <p:bldP spid="118807" grpId="0" animBg="1"/>
      <p:bldP spid="118808" grpId="0" animBg="1"/>
      <p:bldP spid="118809" grpId="0" animBg="1"/>
      <p:bldP spid="118810" grpId="0" animBg="1"/>
      <p:bldP spid="118811" grpId="0" animBg="1"/>
      <p:bldP spid="118812" grpId="0" animBg="1"/>
      <p:bldP spid="118813" grpId="0" animBg="1"/>
      <p:bldP spid="118814" grpId="0" animBg="1"/>
      <p:bldP spid="118815" grpId="0"/>
      <p:bldP spid="118816" grpId="0"/>
      <p:bldP spid="118819" grpId="0" animBg="1"/>
      <p:bldP spid="118820" grpId="0"/>
      <p:bldP spid="118821" grpId="0" animBg="1"/>
      <p:bldP spid="118822" grpId="0" animBg="1"/>
      <p:bldP spid="118823" grpId="0" animBg="1"/>
      <p:bldP spid="118824" grpId="0" animBg="1"/>
      <p:bldP spid="118825" grpId="0"/>
      <p:bldP spid="118826" grpId="0"/>
      <p:bldP spid="118827" grpId="0" animBg="1"/>
      <p:bldP spid="1188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433388" y="190500"/>
            <a:ext cx="49418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3200"/>
              <a:t>Electrocardiography (cont)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433388" y="760413"/>
            <a:ext cx="4021137" cy="55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GB" sz="2400"/>
              <a:t>A normal 12-lead ECG</a:t>
            </a:r>
          </a:p>
        </p:txBody>
      </p:sp>
      <p:grpSp>
        <p:nvGrpSpPr>
          <p:cNvPr id="2" name="Group 211"/>
          <p:cNvGrpSpPr>
            <a:grpSpLocks/>
          </p:cNvGrpSpPr>
          <p:nvPr/>
        </p:nvGrpSpPr>
        <p:grpSpPr bwMode="auto">
          <a:xfrm>
            <a:off x="944563" y="1239838"/>
            <a:ext cx="7666037" cy="4164012"/>
            <a:chOff x="473" y="861"/>
            <a:chExt cx="4829" cy="2623"/>
          </a:xfrm>
        </p:grpSpPr>
        <p:grpSp>
          <p:nvGrpSpPr>
            <p:cNvPr id="3" name="Group 210"/>
            <p:cNvGrpSpPr>
              <a:grpSpLocks/>
            </p:cNvGrpSpPr>
            <p:nvPr/>
          </p:nvGrpSpPr>
          <p:grpSpPr bwMode="auto">
            <a:xfrm>
              <a:off x="473" y="862"/>
              <a:ext cx="4829" cy="2622"/>
              <a:chOff x="473" y="862"/>
              <a:chExt cx="4829" cy="2622"/>
            </a:xfrm>
          </p:grpSpPr>
          <p:graphicFrame>
            <p:nvGraphicFramePr>
              <p:cNvPr id="96465" name="Object 209"/>
              <p:cNvGraphicFramePr>
                <a:graphicFrameLocks noChangeAspect="1"/>
              </p:cNvGraphicFramePr>
              <p:nvPr/>
            </p:nvGraphicFramePr>
            <p:xfrm>
              <a:off x="473" y="862"/>
              <a:ext cx="4829" cy="2622"/>
            </p:xfrm>
            <a:graphic>
              <a:graphicData uri="http://schemas.openxmlformats.org/presentationml/2006/ole">
                <p:oleObj spid="_x0000_s1026" name="Bitmap Image" r:id="rId3" imgW="7666667" imgH="4161905" progId="PBrush">
                  <p:embed/>
                </p:oleObj>
              </a:graphicData>
            </a:graphic>
          </p:graphicFrame>
          <p:grpSp>
            <p:nvGrpSpPr>
              <p:cNvPr id="4" name="Group 119"/>
              <p:cNvGrpSpPr>
                <a:grpSpLocks/>
              </p:cNvGrpSpPr>
              <p:nvPr/>
            </p:nvGrpSpPr>
            <p:grpSpPr bwMode="auto">
              <a:xfrm>
                <a:off x="473" y="862"/>
                <a:ext cx="4817" cy="2603"/>
                <a:chOff x="528" y="478"/>
                <a:chExt cx="3975" cy="1938"/>
              </a:xfrm>
            </p:grpSpPr>
            <p:sp>
              <p:nvSpPr>
                <p:cNvPr id="96376" name="Line 120"/>
                <p:cNvSpPr>
                  <a:spLocks noChangeShapeType="1"/>
                </p:cNvSpPr>
                <p:nvPr/>
              </p:nvSpPr>
              <p:spPr bwMode="auto">
                <a:xfrm>
                  <a:off x="528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77" name="Line 121"/>
                <p:cNvSpPr>
                  <a:spLocks noChangeShapeType="1"/>
                </p:cNvSpPr>
                <p:nvPr/>
              </p:nvSpPr>
              <p:spPr bwMode="auto">
                <a:xfrm>
                  <a:off x="597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78" name="Line 122"/>
                <p:cNvSpPr>
                  <a:spLocks noChangeShapeType="1"/>
                </p:cNvSpPr>
                <p:nvPr/>
              </p:nvSpPr>
              <p:spPr bwMode="auto">
                <a:xfrm>
                  <a:off x="666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79" name="Line 123"/>
                <p:cNvSpPr>
                  <a:spLocks noChangeShapeType="1"/>
                </p:cNvSpPr>
                <p:nvPr/>
              </p:nvSpPr>
              <p:spPr bwMode="auto">
                <a:xfrm>
                  <a:off x="736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0" name="Line 124"/>
                <p:cNvSpPr>
                  <a:spLocks noChangeShapeType="1"/>
                </p:cNvSpPr>
                <p:nvPr/>
              </p:nvSpPr>
              <p:spPr bwMode="auto">
                <a:xfrm>
                  <a:off x="805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1" name="Line 125"/>
                <p:cNvSpPr>
                  <a:spLocks noChangeShapeType="1"/>
                </p:cNvSpPr>
                <p:nvPr/>
              </p:nvSpPr>
              <p:spPr bwMode="auto">
                <a:xfrm>
                  <a:off x="875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2" name="Line 126"/>
                <p:cNvSpPr>
                  <a:spLocks noChangeShapeType="1"/>
                </p:cNvSpPr>
                <p:nvPr/>
              </p:nvSpPr>
              <p:spPr bwMode="auto">
                <a:xfrm>
                  <a:off x="944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3" name="Line 127"/>
                <p:cNvSpPr>
                  <a:spLocks noChangeShapeType="1"/>
                </p:cNvSpPr>
                <p:nvPr/>
              </p:nvSpPr>
              <p:spPr bwMode="auto">
                <a:xfrm>
                  <a:off x="1013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4" name="Line 128"/>
                <p:cNvSpPr>
                  <a:spLocks noChangeShapeType="1"/>
                </p:cNvSpPr>
                <p:nvPr/>
              </p:nvSpPr>
              <p:spPr bwMode="auto">
                <a:xfrm>
                  <a:off x="1083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5" name="Line 129"/>
                <p:cNvSpPr>
                  <a:spLocks noChangeShapeType="1"/>
                </p:cNvSpPr>
                <p:nvPr/>
              </p:nvSpPr>
              <p:spPr bwMode="auto">
                <a:xfrm>
                  <a:off x="1152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6" name="Line 130"/>
                <p:cNvSpPr>
                  <a:spLocks noChangeShapeType="1"/>
                </p:cNvSpPr>
                <p:nvPr/>
              </p:nvSpPr>
              <p:spPr bwMode="auto">
                <a:xfrm>
                  <a:off x="1222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7" name="Line 131"/>
                <p:cNvSpPr>
                  <a:spLocks noChangeShapeType="1"/>
                </p:cNvSpPr>
                <p:nvPr/>
              </p:nvSpPr>
              <p:spPr bwMode="auto">
                <a:xfrm>
                  <a:off x="1291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8" name="Line 132"/>
                <p:cNvSpPr>
                  <a:spLocks noChangeShapeType="1"/>
                </p:cNvSpPr>
                <p:nvPr/>
              </p:nvSpPr>
              <p:spPr bwMode="auto">
                <a:xfrm>
                  <a:off x="1360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9" name="Line 133"/>
                <p:cNvSpPr>
                  <a:spLocks noChangeShapeType="1"/>
                </p:cNvSpPr>
                <p:nvPr/>
              </p:nvSpPr>
              <p:spPr bwMode="auto">
                <a:xfrm>
                  <a:off x="1430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0" name="Line 134"/>
                <p:cNvSpPr>
                  <a:spLocks noChangeShapeType="1"/>
                </p:cNvSpPr>
                <p:nvPr/>
              </p:nvSpPr>
              <p:spPr bwMode="auto">
                <a:xfrm>
                  <a:off x="1499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1" name="Line 135"/>
                <p:cNvSpPr>
                  <a:spLocks noChangeShapeType="1"/>
                </p:cNvSpPr>
                <p:nvPr/>
              </p:nvSpPr>
              <p:spPr bwMode="auto">
                <a:xfrm>
                  <a:off x="1569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2" name="Line 136"/>
                <p:cNvSpPr>
                  <a:spLocks noChangeShapeType="1"/>
                </p:cNvSpPr>
                <p:nvPr/>
              </p:nvSpPr>
              <p:spPr bwMode="auto">
                <a:xfrm>
                  <a:off x="1638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3" name="Line 137"/>
                <p:cNvSpPr>
                  <a:spLocks noChangeShapeType="1"/>
                </p:cNvSpPr>
                <p:nvPr/>
              </p:nvSpPr>
              <p:spPr bwMode="auto">
                <a:xfrm>
                  <a:off x="1708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4" name="Line 138"/>
                <p:cNvSpPr>
                  <a:spLocks noChangeShapeType="1"/>
                </p:cNvSpPr>
                <p:nvPr/>
              </p:nvSpPr>
              <p:spPr bwMode="auto">
                <a:xfrm>
                  <a:off x="1777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5" name="Line 139"/>
                <p:cNvSpPr>
                  <a:spLocks noChangeShapeType="1"/>
                </p:cNvSpPr>
                <p:nvPr/>
              </p:nvSpPr>
              <p:spPr bwMode="auto">
                <a:xfrm>
                  <a:off x="1846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6" name="Line 140"/>
                <p:cNvSpPr>
                  <a:spLocks noChangeShapeType="1"/>
                </p:cNvSpPr>
                <p:nvPr/>
              </p:nvSpPr>
              <p:spPr bwMode="auto">
                <a:xfrm>
                  <a:off x="1916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7" name="Line 141"/>
                <p:cNvSpPr>
                  <a:spLocks noChangeShapeType="1"/>
                </p:cNvSpPr>
                <p:nvPr/>
              </p:nvSpPr>
              <p:spPr bwMode="auto">
                <a:xfrm>
                  <a:off x="1985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8" name="Line 142"/>
                <p:cNvSpPr>
                  <a:spLocks noChangeShapeType="1"/>
                </p:cNvSpPr>
                <p:nvPr/>
              </p:nvSpPr>
              <p:spPr bwMode="auto">
                <a:xfrm>
                  <a:off x="2055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9" name="Line 143"/>
                <p:cNvSpPr>
                  <a:spLocks noChangeShapeType="1"/>
                </p:cNvSpPr>
                <p:nvPr/>
              </p:nvSpPr>
              <p:spPr bwMode="auto">
                <a:xfrm>
                  <a:off x="2124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0" name="Line 144"/>
                <p:cNvSpPr>
                  <a:spLocks noChangeShapeType="1"/>
                </p:cNvSpPr>
                <p:nvPr/>
              </p:nvSpPr>
              <p:spPr bwMode="auto">
                <a:xfrm>
                  <a:off x="2193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1" name="Line 145"/>
                <p:cNvSpPr>
                  <a:spLocks noChangeShapeType="1"/>
                </p:cNvSpPr>
                <p:nvPr/>
              </p:nvSpPr>
              <p:spPr bwMode="auto">
                <a:xfrm>
                  <a:off x="2263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2" name="Line 146"/>
                <p:cNvSpPr>
                  <a:spLocks noChangeShapeType="1"/>
                </p:cNvSpPr>
                <p:nvPr/>
              </p:nvSpPr>
              <p:spPr bwMode="auto">
                <a:xfrm>
                  <a:off x="2332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3" name="Line 147"/>
                <p:cNvSpPr>
                  <a:spLocks noChangeShapeType="1"/>
                </p:cNvSpPr>
                <p:nvPr/>
              </p:nvSpPr>
              <p:spPr bwMode="auto">
                <a:xfrm>
                  <a:off x="2402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4" name="Line 148"/>
                <p:cNvSpPr>
                  <a:spLocks noChangeShapeType="1"/>
                </p:cNvSpPr>
                <p:nvPr/>
              </p:nvSpPr>
              <p:spPr bwMode="auto">
                <a:xfrm>
                  <a:off x="2471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5" name="Line 149"/>
                <p:cNvSpPr>
                  <a:spLocks noChangeShapeType="1"/>
                </p:cNvSpPr>
                <p:nvPr/>
              </p:nvSpPr>
              <p:spPr bwMode="auto">
                <a:xfrm>
                  <a:off x="2541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6" name="Line 150"/>
                <p:cNvSpPr>
                  <a:spLocks noChangeShapeType="1"/>
                </p:cNvSpPr>
                <p:nvPr/>
              </p:nvSpPr>
              <p:spPr bwMode="auto">
                <a:xfrm>
                  <a:off x="2610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7" name="Line 151"/>
                <p:cNvSpPr>
                  <a:spLocks noChangeShapeType="1"/>
                </p:cNvSpPr>
                <p:nvPr/>
              </p:nvSpPr>
              <p:spPr bwMode="auto">
                <a:xfrm>
                  <a:off x="2679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8" name="Line 152"/>
                <p:cNvSpPr>
                  <a:spLocks noChangeShapeType="1"/>
                </p:cNvSpPr>
                <p:nvPr/>
              </p:nvSpPr>
              <p:spPr bwMode="auto">
                <a:xfrm>
                  <a:off x="2749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9" name="Line 153"/>
                <p:cNvSpPr>
                  <a:spLocks noChangeShapeType="1"/>
                </p:cNvSpPr>
                <p:nvPr/>
              </p:nvSpPr>
              <p:spPr bwMode="auto">
                <a:xfrm>
                  <a:off x="2818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0" name="Line 154"/>
                <p:cNvSpPr>
                  <a:spLocks noChangeShapeType="1"/>
                </p:cNvSpPr>
                <p:nvPr/>
              </p:nvSpPr>
              <p:spPr bwMode="auto">
                <a:xfrm>
                  <a:off x="2888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1" name="Line 155"/>
                <p:cNvSpPr>
                  <a:spLocks noChangeShapeType="1"/>
                </p:cNvSpPr>
                <p:nvPr/>
              </p:nvSpPr>
              <p:spPr bwMode="auto">
                <a:xfrm>
                  <a:off x="2957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2" name="Line 156"/>
                <p:cNvSpPr>
                  <a:spLocks noChangeShapeType="1"/>
                </p:cNvSpPr>
                <p:nvPr/>
              </p:nvSpPr>
              <p:spPr bwMode="auto">
                <a:xfrm>
                  <a:off x="3026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3" name="Line 157"/>
                <p:cNvSpPr>
                  <a:spLocks noChangeShapeType="1"/>
                </p:cNvSpPr>
                <p:nvPr/>
              </p:nvSpPr>
              <p:spPr bwMode="auto">
                <a:xfrm>
                  <a:off x="3096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4" name="Line 158"/>
                <p:cNvSpPr>
                  <a:spLocks noChangeShapeType="1"/>
                </p:cNvSpPr>
                <p:nvPr/>
              </p:nvSpPr>
              <p:spPr bwMode="auto">
                <a:xfrm>
                  <a:off x="3165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5" name="Line 159"/>
                <p:cNvSpPr>
                  <a:spLocks noChangeShapeType="1"/>
                </p:cNvSpPr>
                <p:nvPr/>
              </p:nvSpPr>
              <p:spPr bwMode="auto">
                <a:xfrm>
                  <a:off x="3235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6" name="Line 160"/>
                <p:cNvSpPr>
                  <a:spLocks noChangeShapeType="1"/>
                </p:cNvSpPr>
                <p:nvPr/>
              </p:nvSpPr>
              <p:spPr bwMode="auto">
                <a:xfrm>
                  <a:off x="3304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7" name="Line 161"/>
                <p:cNvSpPr>
                  <a:spLocks noChangeShapeType="1"/>
                </p:cNvSpPr>
                <p:nvPr/>
              </p:nvSpPr>
              <p:spPr bwMode="auto">
                <a:xfrm>
                  <a:off x="3374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8" name="Line 162"/>
                <p:cNvSpPr>
                  <a:spLocks noChangeShapeType="1"/>
                </p:cNvSpPr>
                <p:nvPr/>
              </p:nvSpPr>
              <p:spPr bwMode="auto">
                <a:xfrm>
                  <a:off x="3443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9" name="Line 163"/>
                <p:cNvSpPr>
                  <a:spLocks noChangeShapeType="1"/>
                </p:cNvSpPr>
                <p:nvPr/>
              </p:nvSpPr>
              <p:spPr bwMode="auto">
                <a:xfrm>
                  <a:off x="3512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0" name="Line 164"/>
                <p:cNvSpPr>
                  <a:spLocks noChangeShapeType="1"/>
                </p:cNvSpPr>
                <p:nvPr/>
              </p:nvSpPr>
              <p:spPr bwMode="auto">
                <a:xfrm>
                  <a:off x="3582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1" name="Line 165"/>
                <p:cNvSpPr>
                  <a:spLocks noChangeShapeType="1"/>
                </p:cNvSpPr>
                <p:nvPr/>
              </p:nvSpPr>
              <p:spPr bwMode="auto">
                <a:xfrm>
                  <a:off x="3651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2" name="Line 166"/>
                <p:cNvSpPr>
                  <a:spLocks noChangeShapeType="1"/>
                </p:cNvSpPr>
                <p:nvPr/>
              </p:nvSpPr>
              <p:spPr bwMode="auto">
                <a:xfrm>
                  <a:off x="3721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3" name="Line 167"/>
                <p:cNvSpPr>
                  <a:spLocks noChangeShapeType="1"/>
                </p:cNvSpPr>
                <p:nvPr/>
              </p:nvSpPr>
              <p:spPr bwMode="auto">
                <a:xfrm>
                  <a:off x="3790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4" name="Line 168"/>
                <p:cNvSpPr>
                  <a:spLocks noChangeShapeType="1"/>
                </p:cNvSpPr>
                <p:nvPr/>
              </p:nvSpPr>
              <p:spPr bwMode="auto">
                <a:xfrm>
                  <a:off x="3859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5" name="Line 169"/>
                <p:cNvSpPr>
                  <a:spLocks noChangeShapeType="1"/>
                </p:cNvSpPr>
                <p:nvPr/>
              </p:nvSpPr>
              <p:spPr bwMode="auto">
                <a:xfrm>
                  <a:off x="3929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6" name="Line 170"/>
                <p:cNvSpPr>
                  <a:spLocks noChangeShapeType="1"/>
                </p:cNvSpPr>
                <p:nvPr/>
              </p:nvSpPr>
              <p:spPr bwMode="auto">
                <a:xfrm>
                  <a:off x="3998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7" name="Line 171"/>
                <p:cNvSpPr>
                  <a:spLocks noChangeShapeType="1"/>
                </p:cNvSpPr>
                <p:nvPr/>
              </p:nvSpPr>
              <p:spPr bwMode="auto">
                <a:xfrm>
                  <a:off x="4068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8" name="Line 172"/>
                <p:cNvSpPr>
                  <a:spLocks noChangeShapeType="1"/>
                </p:cNvSpPr>
                <p:nvPr/>
              </p:nvSpPr>
              <p:spPr bwMode="auto">
                <a:xfrm>
                  <a:off x="4137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9" name="Line 173"/>
                <p:cNvSpPr>
                  <a:spLocks noChangeShapeType="1"/>
                </p:cNvSpPr>
                <p:nvPr/>
              </p:nvSpPr>
              <p:spPr bwMode="auto">
                <a:xfrm>
                  <a:off x="4276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0" name="Line 174"/>
                <p:cNvSpPr>
                  <a:spLocks noChangeShapeType="1"/>
                </p:cNvSpPr>
                <p:nvPr/>
              </p:nvSpPr>
              <p:spPr bwMode="auto">
                <a:xfrm>
                  <a:off x="4415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1" name="Line 175"/>
                <p:cNvSpPr>
                  <a:spLocks noChangeShapeType="1"/>
                </p:cNvSpPr>
                <p:nvPr/>
              </p:nvSpPr>
              <p:spPr bwMode="auto">
                <a:xfrm>
                  <a:off x="4207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2" name="Line 176"/>
                <p:cNvSpPr>
                  <a:spLocks noChangeShapeType="1"/>
                </p:cNvSpPr>
                <p:nvPr/>
              </p:nvSpPr>
              <p:spPr bwMode="auto">
                <a:xfrm>
                  <a:off x="4345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3" name="Line 177"/>
                <p:cNvSpPr>
                  <a:spLocks noChangeShapeType="1"/>
                </p:cNvSpPr>
                <p:nvPr/>
              </p:nvSpPr>
              <p:spPr bwMode="auto">
                <a:xfrm>
                  <a:off x="4484" y="478"/>
                  <a:ext cx="0" cy="1938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4" name="Line 178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291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5" name="Line 179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224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6" name="Line 180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91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7" name="Line 181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43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8" name="Line 182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243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9" name="Line 183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443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0" name="Line 184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709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1" name="Line 185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158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2" name="Line 186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24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3" name="Line 187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76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4" name="Line 188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377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5" name="Line 189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643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6" name="Line 190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910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7" name="Line 191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110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8" name="Line 192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09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9" name="Line 193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309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0" name="Line 194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577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1" name="Line 195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843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2" name="Line 196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043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3" name="Line 197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243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4" name="Line 198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377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5" name="Line 199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509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6" name="Line 200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777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7" name="Line 201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977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8" name="Line 202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177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9" name="Line 203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310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60" name="Line 204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444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61" name="Line 205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-1510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62" name="Line 206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425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63" name="Line 207"/>
                <p:cNvSpPr>
                  <a:spLocks noChangeShapeType="1"/>
                </p:cNvSpPr>
                <p:nvPr/>
              </p:nvSpPr>
              <p:spPr bwMode="auto">
                <a:xfrm rot="-5400000">
                  <a:off x="2516" y="358"/>
                  <a:ext cx="0" cy="3975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96268" name="Text Box 12"/>
            <p:cNvSpPr txBox="1">
              <a:spLocks noChangeArrowheads="1"/>
            </p:cNvSpPr>
            <p:nvPr/>
          </p:nvSpPr>
          <p:spPr bwMode="auto">
            <a:xfrm>
              <a:off x="503" y="907"/>
              <a:ext cx="1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96269" name="Text Box 13"/>
            <p:cNvSpPr txBox="1">
              <a:spLocks noChangeArrowheads="1"/>
            </p:cNvSpPr>
            <p:nvPr/>
          </p:nvSpPr>
          <p:spPr bwMode="auto">
            <a:xfrm>
              <a:off x="499" y="1483"/>
              <a:ext cx="2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II</a:t>
              </a:r>
            </a:p>
          </p:txBody>
        </p:sp>
        <p:sp>
          <p:nvSpPr>
            <p:cNvPr id="96270" name="Text Box 14"/>
            <p:cNvSpPr txBox="1">
              <a:spLocks noChangeArrowheads="1"/>
            </p:cNvSpPr>
            <p:nvPr/>
          </p:nvSpPr>
          <p:spPr bwMode="auto">
            <a:xfrm>
              <a:off x="503" y="2106"/>
              <a:ext cx="27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III</a:t>
              </a:r>
            </a:p>
          </p:txBody>
        </p:sp>
        <p:sp>
          <p:nvSpPr>
            <p:cNvPr id="96272" name="Text Box 16"/>
            <p:cNvSpPr txBox="1">
              <a:spLocks noChangeArrowheads="1"/>
            </p:cNvSpPr>
            <p:nvPr/>
          </p:nvSpPr>
          <p:spPr bwMode="auto">
            <a:xfrm>
              <a:off x="2772" y="905"/>
              <a:ext cx="3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V1</a:t>
              </a:r>
            </a:p>
          </p:txBody>
        </p:sp>
        <p:sp>
          <p:nvSpPr>
            <p:cNvPr id="96273" name="Text Box 17"/>
            <p:cNvSpPr txBox="1">
              <a:spLocks noChangeArrowheads="1"/>
            </p:cNvSpPr>
            <p:nvPr/>
          </p:nvSpPr>
          <p:spPr bwMode="auto">
            <a:xfrm>
              <a:off x="1664" y="899"/>
              <a:ext cx="4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aVR</a:t>
              </a:r>
            </a:p>
          </p:txBody>
        </p:sp>
        <p:sp>
          <p:nvSpPr>
            <p:cNvPr id="96274" name="Text Box 18"/>
            <p:cNvSpPr txBox="1">
              <a:spLocks noChangeArrowheads="1"/>
            </p:cNvSpPr>
            <p:nvPr/>
          </p:nvSpPr>
          <p:spPr bwMode="auto">
            <a:xfrm>
              <a:off x="1698" y="1497"/>
              <a:ext cx="40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aVL</a:t>
              </a:r>
            </a:p>
          </p:txBody>
        </p:sp>
        <p:sp>
          <p:nvSpPr>
            <p:cNvPr id="96275" name="Text Box 19"/>
            <p:cNvSpPr txBox="1">
              <a:spLocks noChangeArrowheads="1"/>
            </p:cNvSpPr>
            <p:nvPr/>
          </p:nvSpPr>
          <p:spPr bwMode="auto">
            <a:xfrm>
              <a:off x="1701" y="2057"/>
              <a:ext cx="3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aVF</a:t>
              </a:r>
            </a:p>
          </p:txBody>
        </p:sp>
        <p:sp>
          <p:nvSpPr>
            <p:cNvPr id="96276" name="Text Box 20"/>
            <p:cNvSpPr txBox="1">
              <a:spLocks noChangeArrowheads="1"/>
            </p:cNvSpPr>
            <p:nvPr/>
          </p:nvSpPr>
          <p:spPr bwMode="auto">
            <a:xfrm>
              <a:off x="2803" y="1530"/>
              <a:ext cx="3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V2</a:t>
              </a:r>
            </a:p>
          </p:txBody>
        </p:sp>
        <p:sp>
          <p:nvSpPr>
            <p:cNvPr id="96277" name="Text Box 21"/>
            <p:cNvSpPr txBox="1">
              <a:spLocks noChangeArrowheads="1"/>
            </p:cNvSpPr>
            <p:nvPr/>
          </p:nvSpPr>
          <p:spPr bwMode="auto">
            <a:xfrm>
              <a:off x="2833" y="2166"/>
              <a:ext cx="3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V3</a:t>
              </a:r>
            </a:p>
          </p:txBody>
        </p:sp>
        <p:sp>
          <p:nvSpPr>
            <p:cNvPr id="96278" name="Text Box 22"/>
            <p:cNvSpPr txBox="1">
              <a:spLocks noChangeArrowheads="1"/>
            </p:cNvSpPr>
            <p:nvPr/>
          </p:nvSpPr>
          <p:spPr bwMode="auto">
            <a:xfrm>
              <a:off x="3913" y="861"/>
              <a:ext cx="3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V4</a:t>
              </a:r>
            </a:p>
          </p:txBody>
        </p:sp>
        <p:sp>
          <p:nvSpPr>
            <p:cNvPr id="96279" name="Text Box 23"/>
            <p:cNvSpPr txBox="1">
              <a:spLocks noChangeArrowheads="1"/>
            </p:cNvSpPr>
            <p:nvPr/>
          </p:nvSpPr>
          <p:spPr bwMode="auto">
            <a:xfrm>
              <a:off x="3944" y="1440"/>
              <a:ext cx="3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V5</a:t>
              </a:r>
            </a:p>
          </p:txBody>
        </p:sp>
        <p:sp>
          <p:nvSpPr>
            <p:cNvPr id="96280" name="Text Box 24"/>
            <p:cNvSpPr txBox="1">
              <a:spLocks noChangeArrowheads="1"/>
            </p:cNvSpPr>
            <p:nvPr/>
          </p:nvSpPr>
          <p:spPr bwMode="auto">
            <a:xfrm>
              <a:off x="3944" y="2054"/>
              <a:ext cx="3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>
                  <a:latin typeface="Times New Roman" pitchFamily="18" charset="0"/>
                </a:rPr>
                <a:t>V6</a:t>
              </a:r>
            </a:p>
          </p:txBody>
        </p:sp>
      </p:grpSp>
      <p:sp>
        <p:nvSpPr>
          <p:cNvPr id="96468" name="Rectangle 212"/>
          <p:cNvSpPr>
            <a:spLocks noChangeArrowheads="1"/>
          </p:cNvSpPr>
          <p:nvPr/>
        </p:nvSpPr>
        <p:spPr bwMode="auto">
          <a:xfrm>
            <a:off x="828675" y="5664200"/>
            <a:ext cx="7666038" cy="55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GB" sz="2400"/>
              <a:t>Standard lead layout, standard paper speed and scale</a:t>
            </a:r>
          </a:p>
        </p:txBody>
      </p:sp>
      <p:sp>
        <p:nvSpPr>
          <p:cNvPr id="96469" name="Line 213"/>
          <p:cNvSpPr>
            <a:spLocks noChangeShapeType="1"/>
          </p:cNvSpPr>
          <p:nvPr/>
        </p:nvSpPr>
        <p:spPr bwMode="auto">
          <a:xfrm flipH="1" flipV="1">
            <a:off x="1171575" y="3517900"/>
            <a:ext cx="1390650" cy="2227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6470" name="Line 214"/>
          <p:cNvSpPr>
            <a:spLocks noChangeShapeType="1"/>
          </p:cNvSpPr>
          <p:nvPr/>
        </p:nvSpPr>
        <p:spPr bwMode="auto">
          <a:xfrm flipH="1" flipV="1">
            <a:off x="1055688" y="2538413"/>
            <a:ext cx="1778000" cy="3219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6471" name="Line 215"/>
          <p:cNvSpPr>
            <a:spLocks noChangeShapeType="1"/>
          </p:cNvSpPr>
          <p:nvPr/>
        </p:nvSpPr>
        <p:spPr bwMode="auto">
          <a:xfrm flipH="1" flipV="1">
            <a:off x="2806700" y="5270500"/>
            <a:ext cx="3270250" cy="47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6472" name="Line 216"/>
          <p:cNvSpPr>
            <a:spLocks noChangeShapeType="1"/>
          </p:cNvSpPr>
          <p:nvPr/>
        </p:nvSpPr>
        <p:spPr bwMode="auto">
          <a:xfrm flipH="1" flipV="1">
            <a:off x="4849813" y="5232400"/>
            <a:ext cx="2781300" cy="527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6473" name="Rectangle 217"/>
          <p:cNvSpPr>
            <a:spLocks noChangeArrowheads="1"/>
          </p:cNvSpPr>
          <p:nvPr/>
        </p:nvSpPr>
        <p:spPr bwMode="auto">
          <a:xfrm>
            <a:off x="828675" y="6142038"/>
            <a:ext cx="7666038" cy="55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GB" sz="2400"/>
              <a:t>Normal axis; QRS mainly positive in lead II</a:t>
            </a:r>
          </a:p>
        </p:txBody>
      </p:sp>
      <p:sp>
        <p:nvSpPr>
          <p:cNvPr id="96475" name="Text Box 219"/>
          <p:cNvSpPr txBox="1">
            <a:spLocks noChangeArrowheads="1"/>
          </p:cNvSpPr>
          <p:nvPr/>
        </p:nvSpPr>
        <p:spPr bwMode="auto">
          <a:xfrm>
            <a:off x="5695950" y="273050"/>
            <a:ext cx="31178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600"/>
              <a:t>NOTE:</a:t>
            </a:r>
          </a:p>
          <a:p>
            <a:pPr algn="l"/>
            <a:r>
              <a:rPr lang="en-GB" sz="1600"/>
              <a:t>Long rhythm strip at bottom is usually lead II</a:t>
            </a:r>
            <a:endParaRPr lang="en-GB" sz="160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436563" y="317500"/>
            <a:ext cx="49418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3200"/>
              <a:t>Electrocardiography (cont)</a:t>
            </a:r>
          </a:p>
        </p:txBody>
      </p:sp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506413" y="1381125"/>
            <a:ext cx="6219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information can be derived from a 3–lead ECG?</a:t>
            </a:r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728663" y="2262188"/>
            <a:ext cx="1308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(1) Rate</a:t>
            </a:r>
          </a:p>
        </p:txBody>
      </p:sp>
      <p:sp>
        <p:nvSpPr>
          <p:cNvPr id="102412" name="Text Box 12"/>
          <p:cNvSpPr txBox="1">
            <a:spLocks noChangeArrowheads="1"/>
          </p:cNvSpPr>
          <p:nvPr/>
        </p:nvSpPr>
        <p:spPr bwMode="auto">
          <a:xfrm>
            <a:off x="728663" y="3348038"/>
            <a:ext cx="201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(2) Rhythm</a:t>
            </a:r>
          </a:p>
        </p:txBody>
      </p:sp>
      <p:sp>
        <p:nvSpPr>
          <p:cNvPr id="102413" name="Text Box 13"/>
          <p:cNvSpPr txBox="1">
            <a:spLocks noChangeArrowheads="1"/>
          </p:cNvSpPr>
          <p:nvPr/>
        </p:nvSpPr>
        <p:spPr bwMode="auto">
          <a:xfrm>
            <a:off x="728663" y="4433888"/>
            <a:ext cx="3551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(3) Conduction abnormalities</a:t>
            </a:r>
          </a:p>
        </p:txBody>
      </p:sp>
      <p:sp>
        <p:nvSpPr>
          <p:cNvPr id="102414" name="Text Box 14"/>
          <p:cNvSpPr txBox="1">
            <a:spLocks noChangeArrowheads="1"/>
          </p:cNvSpPr>
          <p:nvPr/>
        </p:nvSpPr>
        <p:spPr bwMode="auto">
          <a:xfrm>
            <a:off x="728663" y="5519738"/>
            <a:ext cx="28178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(4) Signs of ischaemia</a:t>
            </a:r>
          </a:p>
        </p:txBody>
      </p:sp>
      <p:sp>
        <p:nvSpPr>
          <p:cNvPr id="102417" name="Text Box 17"/>
          <p:cNvSpPr txBox="1">
            <a:spLocks noChangeArrowheads="1"/>
          </p:cNvSpPr>
          <p:nvPr/>
        </p:nvSpPr>
        <p:spPr bwMode="auto">
          <a:xfrm>
            <a:off x="4337050" y="4433888"/>
            <a:ext cx="4394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Better seen on a 12–lead ECG, but can be picked up on 3–lead ECGs</a:t>
            </a:r>
          </a:p>
        </p:txBody>
      </p:sp>
      <p:sp>
        <p:nvSpPr>
          <p:cNvPr id="102418" name="Text Box 18"/>
          <p:cNvSpPr txBox="1">
            <a:spLocks noChangeArrowheads="1"/>
          </p:cNvSpPr>
          <p:nvPr/>
        </p:nvSpPr>
        <p:spPr bwMode="auto">
          <a:xfrm>
            <a:off x="4337050" y="5519738"/>
            <a:ext cx="29908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Again, better picked up on a 12–lead ECG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436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436563" y="746125"/>
            <a:ext cx="6219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information can be derived from a 3–lead ECG?</a:t>
            </a:r>
          </a:p>
        </p:txBody>
      </p:sp>
      <p:sp>
        <p:nvSpPr>
          <p:cNvPr id="99334" name="Text Box 6"/>
          <p:cNvSpPr txBox="1">
            <a:spLocks noChangeArrowheads="1"/>
          </p:cNvSpPr>
          <p:nvPr/>
        </p:nvSpPr>
        <p:spPr bwMode="auto">
          <a:xfrm>
            <a:off x="436563" y="1220788"/>
            <a:ext cx="12239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(1) Rate</a:t>
            </a:r>
          </a:p>
        </p:txBody>
      </p:sp>
      <p:sp>
        <p:nvSpPr>
          <p:cNvPr id="99340" name="Text Box 12"/>
          <p:cNvSpPr txBox="1">
            <a:spLocks noChangeArrowheads="1"/>
          </p:cNvSpPr>
          <p:nvPr/>
        </p:nvSpPr>
        <p:spPr bwMode="auto">
          <a:xfrm>
            <a:off x="931863" y="1692275"/>
            <a:ext cx="78946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ECG paper has 5 small squares (1 mm) per large square (of 0.5 cm)  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3300413" y="2251075"/>
            <a:ext cx="1084262" cy="1084263"/>
            <a:chOff x="2047" y="2584"/>
            <a:chExt cx="683" cy="683"/>
          </a:xfrm>
        </p:grpSpPr>
        <p:grpSp>
          <p:nvGrpSpPr>
            <p:cNvPr id="3" name="Group 29"/>
            <p:cNvGrpSpPr>
              <a:grpSpLocks/>
            </p:cNvGrpSpPr>
            <p:nvPr/>
          </p:nvGrpSpPr>
          <p:grpSpPr bwMode="auto">
            <a:xfrm>
              <a:off x="2117" y="2584"/>
              <a:ext cx="544" cy="683"/>
              <a:chOff x="2117" y="2143"/>
              <a:chExt cx="544" cy="683"/>
            </a:xfrm>
          </p:grpSpPr>
          <p:sp>
            <p:nvSpPr>
              <p:cNvPr id="99341" name="Line 13"/>
              <p:cNvSpPr>
                <a:spLocks noChangeShapeType="1"/>
              </p:cNvSpPr>
              <p:nvPr/>
            </p:nvSpPr>
            <p:spPr bwMode="auto">
              <a:xfrm>
                <a:off x="2117" y="2143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2" name="Line 14"/>
              <p:cNvSpPr>
                <a:spLocks noChangeShapeType="1"/>
              </p:cNvSpPr>
              <p:nvPr/>
            </p:nvSpPr>
            <p:spPr bwMode="auto">
              <a:xfrm>
                <a:off x="2225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3" name="Line 15"/>
              <p:cNvSpPr>
                <a:spLocks noChangeShapeType="1"/>
              </p:cNvSpPr>
              <p:nvPr/>
            </p:nvSpPr>
            <p:spPr bwMode="auto">
              <a:xfrm>
                <a:off x="2334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4" name="Line 16"/>
              <p:cNvSpPr>
                <a:spLocks noChangeShapeType="1"/>
              </p:cNvSpPr>
              <p:nvPr/>
            </p:nvSpPr>
            <p:spPr bwMode="auto">
              <a:xfrm>
                <a:off x="2552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5" name="Line 17"/>
              <p:cNvSpPr>
                <a:spLocks noChangeShapeType="1"/>
              </p:cNvSpPr>
              <p:nvPr/>
            </p:nvSpPr>
            <p:spPr bwMode="auto">
              <a:xfrm>
                <a:off x="2661" y="2143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4" name="Line 26"/>
              <p:cNvSpPr>
                <a:spLocks noChangeShapeType="1"/>
              </p:cNvSpPr>
              <p:nvPr/>
            </p:nvSpPr>
            <p:spPr bwMode="auto">
              <a:xfrm>
                <a:off x="2443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2047" y="2654"/>
              <a:ext cx="683" cy="544"/>
              <a:chOff x="2039" y="2213"/>
              <a:chExt cx="683" cy="544"/>
            </a:xfrm>
          </p:grpSpPr>
          <p:sp>
            <p:nvSpPr>
              <p:cNvPr id="99348" name="Line 20"/>
              <p:cNvSpPr>
                <a:spLocks noChangeShapeType="1"/>
              </p:cNvSpPr>
              <p:nvPr/>
            </p:nvSpPr>
            <p:spPr bwMode="auto">
              <a:xfrm rot="5400000">
                <a:off x="2381" y="1871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9" name="Line 21"/>
              <p:cNvSpPr>
                <a:spLocks noChangeShapeType="1"/>
              </p:cNvSpPr>
              <p:nvPr/>
            </p:nvSpPr>
            <p:spPr bwMode="auto">
              <a:xfrm rot="5400000">
                <a:off x="2381" y="1979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0" name="Line 22"/>
              <p:cNvSpPr>
                <a:spLocks noChangeShapeType="1"/>
              </p:cNvSpPr>
              <p:nvPr/>
            </p:nvSpPr>
            <p:spPr bwMode="auto">
              <a:xfrm rot="5400000">
                <a:off x="2381" y="2088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1" name="Line 23"/>
              <p:cNvSpPr>
                <a:spLocks noChangeShapeType="1"/>
              </p:cNvSpPr>
              <p:nvPr/>
            </p:nvSpPr>
            <p:spPr bwMode="auto">
              <a:xfrm rot="5400000">
                <a:off x="2381" y="2306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2" name="Line 24"/>
              <p:cNvSpPr>
                <a:spLocks noChangeShapeType="1"/>
              </p:cNvSpPr>
              <p:nvPr/>
            </p:nvSpPr>
            <p:spPr bwMode="auto">
              <a:xfrm rot="5400000" flipH="1">
                <a:off x="2381" y="2415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5" name="Line 27"/>
              <p:cNvSpPr>
                <a:spLocks noChangeShapeType="1"/>
              </p:cNvSpPr>
              <p:nvPr/>
            </p:nvSpPr>
            <p:spPr bwMode="auto">
              <a:xfrm rot="5400000">
                <a:off x="2381" y="2197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9359" name="Line 31"/>
          <p:cNvSpPr>
            <a:spLocks noChangeShapeType="1"/>
          </p:cNvSpPr>
          <p:nvPr/>
        </p:nvSpPr>
        <p:spPr bwMode="auto">
          <a:xfrm>
            <a:off x="3451225" y="3524250"/>
            <a:ext cx="8540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60" name="Line 32"/>
          <p:cNvSpPr>
            <a:spLocks noChangeShapeType="1"/>
          </p:cNvSpPr>
          <p:nvPr/>
        </p:nvSpPr>
        <p:spPr bwMode="auto">
          <a:xfrm rot="-5400000">
            <a:off x="2640012" y="2784476"/>
            <a:ext cx="8540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61" name="Text Box 33"/>
          <p:cNvSpPr txBox="1">
            <a:spLocks noChangeArrowheads="1"/>
          </p:cNvSpPr>
          <p:nvPr/>
        </p:nvSpPr>
        <p:spPr bwMode="auto">
          <a:xfrm>
            <a:off x="1987550" y="2657475"/>
            <a:ext cx="10620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/>
              <a:t>0.5 cm  </a:t>
            </a:r>
          </a:p>
        </p:txBody>
      </p:sp>
      <p:sp>
        <p:nvSpPr>
          <p:cNvPr id="99362" name="Text Box 34"/>
          <p:cNvSpPr txBox="1">
            <a:spLocks noChangeArrowheads="1"/>
          </p:cNvSpPr>
          <p:nvPr/>
        </p:nvSpPr>
        <p:spPr bwMode="auto">
          <a:xfrm>
            <a:off x="3371850" y="3517900"/>
            <a:ext cx="9763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0.5 cm  </a:t>
            </a:r>
          </a:p>
        </p:txBody>
      </p:sp>
      <p:sp>
        <p:nvSpPr>
          <p:cNvPr id="99363" name="Text Box 35"/>
          <p:cNvSpPr txBox="1">
            <a:spLocks noChangeArrowheads="1"/>
          </p:cNvSpPr>
          <p:nvPr/>
        </p:nvSpPr>
        <p:spPr bwMode="auto">
          <a:xfrm>
            <a:off x="931863" y="3921125"/>
            <a:ext cx="6083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The standard paper rate is 25 mm / s </a:t>
            </a:r>
          </a:p>
          <a:p>
            <a:pPr algn="l"/>
            <a:r>
              <a:rPr lang="en-GB" sz="2000"/>
              <a:t>The standard voltage response is 1 mV / cm, so:</a:t>
            </a:r>
          </a:p>
        </p:txBody>
      </p:sp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3300413" y="5132388"/>
            <a:ext cx="1084262" cy="1084262"/>
            <a:chOff x="2047" y="2584"/>
            <a:chExt cx="683" cy="683"/>
          </a:xfrm>
        </p:grpSpPr>
        <p:grpSp>
          <p:nvGrpSpPr>
            <p:cNvPr id="6" name="Group 37"/>
            <p:cNvGrpSpPr>
              <a:grpSpLocks/>
            </p:cNvGrpSpPr>
            <p:nvPr/>
          </p:nvGrpSpPr>
          <p:grpSpPr bwMode="auto">
            <a:xfrm>
              <a:off x="2117" y="2584"/>
              <a:ext cx="544" cy="683"/>
              <a:chOff x="2117" y="2143"/>
              <a:chExt cx="544" cy="683"/>
            </a:xfrm>
          </p:grpSpPr>
          <p:sp>
            <p:nvSpPr>
              <p:cNvPr id="99366" name="Line 38"/>
              <p:cNvSpPr>
                <a:spLocks noChangeShapeType="1"/>
              </p:cNvSpPr>
              <p:nvPr/>
            </p:nvSpPr>
            <p:spPr bwMode="auto">
              <a:xfrm>
                <a:off x="2117" y="2143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7" name="Line 39"/>
              <p:cNvSpPr>
                <a:spLocks noChangeShapeType="1"/>
              </p:cNvSpPr>
              <p:nvPr/>
            </p:nvSpPr>
            <p:spPr bwMode="auto">
              <a:xfrm>
                <a:off x="2225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8" name="Line 40"/>
              <p:cNvSpPr>
                <a:spLocks noChangeShapeType="1"/>
              </p:cNvSpPr>
              <p:nvPr/>
            </p:nvSpPr>
            <p:spPr bwMode="auto">
              <a:xfrm>
                <a:off x="2334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9" name="Line 41"/>
              <p:cNvSpPr>
                <a:spLocks noChangeShapeType="1"/>
              </p:cNvSpPr>
              <p:nvPr/>
            </p:nvSpPr>
            <p:spPr bwMode="auto">
              <a:xfrm>
                <a:off x="2552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70" name="Line 42"/>
              <p:cNvSpPr>
                <a:spLocks noChangeShapeType="1"/>
              </p:cNvSpPr>
              <p:nvPr/>
            </p:nvSpPr>
            <p:spPr bwMode="auto">
              <a:xfrm>
                <a:off x="2661" y="2143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71" name="Line 43"/>
              <p:cNvSpPr>
                <a:spLocks noChangeShapeType="1"/>
              </p:cNvSpPr>
              <p:nvPr/>
            </p:nvSpPr>
            <p:spPr bwMode="auto">
              <a:xfrm>
                <a:off x="2443" y="2143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44"/>
            <p:cNvGrpSpPr>
              <a:grpSpLocks/>
            </p:cNvGrpSpPr>
            <p:nvPr/>
          </p:nvGrpSpPr>
          <p:grpSpPr bwMode="auto">
            <a:xfrm>
              <a:off x="2047" y="2654"/>
              <a:ext cx="683" cy="544"/>
              <a:chOff x="2039" y="2213"/>
              <a:chExt cx="683" cy="544"/>
            </a:xfrm>
          </p:grpSpPr>
          <p:sp>
            <p:nvSpPr>
              <p:cNvPr id="99373" name="Line 45"/>
              <p:cNvSpPr>
                <a:spLocks noChangeShapeType="1"/>
              </p:cNvSpPr>
              <p:nvPr/>
            </p:nvSpPr>
            <p:spPr bwMode="auto">
              <a:xfrm rot="5400000">
                <a:off x="2381" y="1871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74" name="Line 46"/>
              <p:cNvSpPr>
                <a:spLocks noChangeShapeType="1"/>
              </p:cNvSpPr>
              <p:nvPr/>
            </p:nvSpPr>
            <p:spPr bwMode="auto">
              <a:xfrm rot="5400000">
                <a:off x="2381" y="1979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75" name="Line 47"/>
              <p:cNvSpPr>
                <a:spLocks noChangeShapeType="1"/>
              </p:cNvSpPr>
              <p:nvPr/>
            </p:nvSpPr>
            <p:spPr bwMode="auto">
              <a:xfrm rot="5400000">
                <a:off x="2381" y="2088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76" name="Line 48"/>
              <p:cNvSpPr>
                <a:spLocks noChangeShapeType="1"/>
              </p:cNvSpPr>
              <p:nvPr/>
            </p:nvSpPr>
            <p:spPr bwMode="auto">
              <a:xfrm rot="5400000">
                <a:off x="2381" y="2306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77" name="Line 49"/>
              <p:cNvSpPr>
                <a:spLocks noChangeShapeType="1"/>
              </p:cNvSpPr>
              <p:nvPr/>
            </p:nvSpPr>
            <p:spPr bwMode="auto">
              <a:xfrm rot="5400000" flipH="1">
                <a:off x="2381" y="2415"/>
                <a:ext cx="0" cy="6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78" name="Line 50"/>
              <p:cNvSpPr>
                <a:spLocks noChangeShapeType="1"/>
              </p:cNvSpPr>
              <p:nvPr/>
            </p:nvSpPr>
            <p:spPr bwMode="auto">
              <a:xfrm rot="5400000">
                <a:off x="2381" y="2197"/>
                <a:ext cx="0" cy="6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9379" name="Line 51"/>
          <p:cNvSpPr>
            <a:spLocks noChangeShapeType="1"/>
          </p:cNvSpPr>
          <p:nvPr/>
        </p:nvSpPr>
        <p:spPr bwMode="auto">
          <a:xfrm>
            <a:off x="3451225" y="6375400"/>
            <a:ext cx="8540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80" name="Line 52"/>
          <p:cNvSpPr>
            <a:spLocks noChangeShapeType="1"/>
          </p:cNvSpPr>
          <p:nvPr/>
        </p:nvSpPr>
        <p:spPr bwMode="auto">
          <a:xfrm rot="-5400000">
            <a:off x="2640012" y="5699126"/>
            <a:ext cx="8540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81" name="Text Box 53"/>
          <p:cNvSpPr txBox="1">
            <a:spLocks noChangeArrowheads="1"/>
          </p:cNvSpPr>
          <p:nvPr/>
        </p:nvSpPr>
        <p:spPr bwMode="auto">
          <a:xfrm>
            <a:off x="2008188" y="5595938"/>
            <a:ext cx="989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/>
              <a:t>0.5 mV  </a:t>
            </a:r>
          </a:p>
        </p:txBody>
      </p:sp>
      <p:sp>
        <p:nvSpPr>
          <p:cNvPr id="99382" name="Text Box 54"/>
          <p:cNvSpPr txBox="1">
            <a:spLocks noChangeArrowheads="1"/>
          </p:cNvSpPr>
          <p:nvPr/>
        </p:nvSpPr>
        <p:spPr bwMode="auto">
          <a:xfrm>
            <a:off x="3443288" y="6345238"/>
            <a:ext cx="817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0.2 s  </a:t>
            </a:r>
          </a:p>
        </p:txBody>
      </p:sp>
      <p:sp>
        <p:nvSpPr>
          <p:cNvPr id="99383" name="Line 55"/>
          <p:cNvSpPr>
            <a:spLocks noChangeShapeType="1"/>
          </p:cNvSpPr>
          <p:nvPr/>
        </p:nvSpPr>
        <p:spPr bwMode="auto">
          <a:xfrm>
            <a:off x="3921125" y="5027613"/>
            <a:ext cx="180975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84" name="Text Box 56"/>
          <p:cNvSpPr txBox="1">
            <a:spLocks noChangeArrowheads="1"/>
          </p:cNvSpPr>
          <p:nvPr/>
        </p:nvSpPr>
        <p:spPr bwMode="auto">
          <a:xfrm>
            <a:off x="3584575" y="4676775"/>
            <a:ext cx="901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/>
              <a:t>0.04 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436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436563" y="746125"/>
            <a:ext cx="6219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information can be derived from a 3–lead ECG?</a:t>
            </a:r>
          </a:p>
        </p:txBody>
      </p:sp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436563" y="1220788"/>
            <a:ext cx="2089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(1) Rate (cont.)</a:t>
            </a:r>
          </a:p>
        </p:txBody>
      </p:sp>
      <p:sp>
        <p:nvSpPr>
          <p:cNvPr id="105479" name="Text Box 7"/>
          <p:cNvSpPr txBox="1">
            <a:spLocks noChangeArrowheads="1"/>
          </p:cNvSpPr>
          <p:nvPr/>
        </p:nvSpPr>
        <p:spPr bwMode="auto">
          <a:xfrm>
            <a:off x="884238" y="1593850"/>
            <a:ext cx="7748587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u="sng"/>
              <a:t>Example:</a:t>
            </a:r>
          </a:p>
          <a:p>
            <a:pPr algn="l"/>
            <a:endParaRPr lang="en-GB" sz="2000" u="sng"/>
          </a:p>
          <a:p>
            <a:pPr algn="l"/>
            <a:r>
              <a:rPr lang="en-GB" sz="2000"/>
              <a:t>Each large square represents 0.2 s</a:t>
            </a:r>
          </a:p>
          <a:p>
            <a:pPr algn="l"/>
            <a:endParaRPr lang="en-GB" sz="2000"/>
          </a:p>
          <a:p>
            <a:pPr algn="l"/>
            <a:r>
              <a:rPr lang="en-GB" sz="2000"/>
              <a:t>There are 60 s / min, so an ECG covers 300 large squares / min</a:t>
            </a:r>
          </a:p>
          <a:p>
            <a:pPr algn="l"/>
            <a:endParaRPr lang="en-GB" sz="2000"/>
          </a:p>
          <a:p>
            <a:pPr algn="l"/>
            <a:r>
              <a:rPr lang="en-GB" sz="2000"/>
              <a:t>	 so, </a:t>
            </a:r>
            <a:r>
              <a:rPr lang="en-GB" sz="2000" i="1"/>
              <a:t>if</a:t>
            </a:r>
            <a:r>
              <a:rPr lang="en-GB" sz="2000"/>
              <a:t> there is a beat every 5 large squares;</a:t>
            </a:r>
          </a:p>
          <a:p>
            <a:pPr algn="l"/>
            <a:endParaRPr lang="en-GB" sz="2000"/>
          </a:p>
          <a:p>
            <a:pPr algn="l"/>
            <a:r>
              <a:rPr lang="en-GB" sz="2000"/>
              <a:t>		rate =   300   = 60 / min</a:t>
            </a:r>
          </a:p>
        </p:txBody>
      </p:sp>
      <p:sp>
        <p:nvSpPr>
          <p:cNvPr id="105520" name="Rectangle 48"/>
          <p:cNvSpPr>
            <a:spLocks noChangeArrowheads="1"/>
          </p:cNvSpPr>
          <p:nvPr/>
        </p:nvSpPr>
        <p:spPr bwMode="auto">
          <a:xfrm>
            <a:off x="3717925" y="4379913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5</a:t>
            </a:r>
          </a:p>
        </p:txBody>
      </p:sp>
      <p:sp>
        <p:nvSpPr>
          <p:cNvPr id="105521" name="Line 49"/>
          <p:cNvSpPr>
            <a:spLocks noChangeShapeType="1"/>
          </p:cNvSpPr>
          <p:nvPr/>
        </p:nvSpPr>
        <p:spPr bwMode="auto">
          <a:xfrm>
            <a:off x="3763963" y="4411663"/>
            <a:ext cx="23495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5522" name="Text Box 50"/>
          <p:cNvSpPr txBox="1">
            <a:spLocks noChangeArrowheads="1"/>
          </p:cNvSpPr>
          <p:nvPr/>
        </p:nvSpPr>
        <p:spPr bwMode="auto">
          <a:xfrm>
            <a:off x="884238" y="4892675"/>
            <a:ext cx="1530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u="sng"/>
              <a:t>Generally:</a:t>
            </a:r>
          </a:p>
        </p:txBody>
      </p:sp>
      <p:sp>
        <p:nvSpPr>
          <p:cNvPr id="105523" name="Text Box 51"/>
          <p:cNvSpPr txBox="1">
            <a:spLocks noChangeArrowheads="1"/>
          </p:cNvSpPr>
          <p:nvPr/>
        </p:nvSpPr>
        <p:spPr bwMode="auto">
          <a:xfrm>
            <a:off x="1371600" y="5502275"/>
            <a:ext cx="6591300" cy="7302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Rate =   [ 300 / number of large squares between beats ]</a:t>
            </a:r>
          </a:p>
          <a:p>
            <a:pPr algn="l"/>
            <a:r>
              <a:rPr lang="en-GB" sz="2000"/>
              <a:t>(in beats per minute)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436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436563" y="746125"/>
            <a:ext cx="6219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information can be derived from a 3–lead ECG?</a:t>
            </a: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436563" y="1220788"/>
            <a:ext cx="2089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(1) Rate (cont.)</a:t>
            </a:r>
          </a:p>
        </p:txBody>
      </p:sp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2841625" y="1857375"/>
            <a:ext cx="31638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So, what is the rate here?</a:t>
            </a:r>
          </a:p>
        </p:txBody>
      </p:sp>
      <p:sp>
        <p:nvSpPr>
          <p:cNvPr id="117769" name="Text Box 9"/>
          <p:cNvSpPr txBox="1">
            <a:spLocks noChangeArrowheads="1"/>
          </p:cNvSpPr>
          <p:nvPr/>
        </p:nvSpPr>
        <p:spPr bwMode="auto">
          <a:xfrm>
            <a:off x="1128713" y="3781425"/>
            <a:ext cx="6591300" cy="70788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b="1" dirty="0" smtClean="0">
                <a:solidFill>
                  <a:srgbClr val="0070C0"/>
                </a:solidFill>
              </a:rPr>
              <a:t>Option 1</a:t>
            </a:r>
            <a:r>
              <a:rPr lang="en-GB" sz="2000" dirty="0" smtClean="0"/>
              <a:t>, Rate </a:t>
            </a:r>
            <a:r>
              <a:rPr lang="en-GB" sz="2000" dirty="0"/>
              <a:t>=   [ 300 / number of large squares between beats </a:t>
            </a:r>
            <a:r>
              <a:rPr lang="en-GB" sz="2000" dirty="0" smtClean="0"/>
              <a:t>] (</a:t>
            </a:r>
            <a:r>
              <a:rPr lang="en-GB" sz="2000" dirty="0"/>
              <a:t>in beats per minute)</a:t>
            </a:r>
          </a:p>
        </p:txBody>
      </p:sp>
      <p:pic>
        <p:nvPicPr>
          <p:cNvPr id="11777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85975" y="2493963"/>
            <a:ext cx="467677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7771" name="Text Box 11"/>
          <p:cNvSpPr txBox="1">
            <a:spLocks noChangeArrowheads="1"/>
          </p:cNvSpPr>
          <p:nvPr/>
        </p:nvSpPr>
        <p:spPr bwMode="auto">
          <a:xfrm>
            <a:off x="1128713" y="4751388"/>
            <a:ext cx="3006725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      =   [ 300 / 4.6 ]</a:t>
            </a:r>
          </a:p>
          <a:p>
            <a:pPr algn="l"/>
            <a:r>
              <a:rPr lang="en-GB" sz="2000" dirty="0"/>
              <a:t>          beats per minute</a:t>
            </a:r>
          </a:p>
        </p:txBody>
      </p:sp>
      <p:sp>
        <p:nvSpPr>
          <p:cNvPr id="117772" name="Text Box 12"/>
          <p:cNvSpPr txBox="1">
            <a:spLocks noChangeArrowheads="1"/>
          </p:cNvSpPr>
          <p:nvPr/>
        </p:nvSpPr>
        <p:spPr bwMode="auto">
          <a:xfrm>
            <a:off x="4352925" y="4751388"/>
            <a:ext cx="39338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((4 large and 3 small squares))</a:t>
            </a:r>
          </a:p>
        </p:txBody>
      </p:sp>
      <p:sp>
        <p:nvSpPr>
          <p:cNvPr id="117773" name="Text Box 13"/>
          <p:cNvSpPr txBox="1">
            <a:spLocks noChangeArrowheads="1"/>
          </p:cNvSpPr>
          <p:nvPr/>
        </p:nvSpPr>
        <p:spPr bwMode="auto">
          <a:xfrm>
            <a:off x="1128713" y="5692775"/>
            <a:ext cx="33734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      = 65 beats per minute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436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436563" y="746125"/>
            <a:ext cx="6219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information can be derived from a 3–lead ECG?</a:t>
            </a: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436563" y="1220788"/>
            <a:ext cx="2089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(1) Rate (cont.)</a:t>
            </a:r>
          </a:p>
        </p:txBody>
      </p:sp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1676400" y="1857375"/>
            <a:ext cx="43291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2000" dirty="0" smtClean="0"/>
              <a:t>Example,  what </a:t>
            </a:r>
            <a:r>
              <a:rPr lang="en-GB" sz="2000" dirty="0"/>
              <a:t>is the rate here?</a:t>
            </a:r>
          </a:p>
        </p:txBody>
      </p:sp>
      <p:sp>
        <p:nvSpPr>
          <p:cNvPr id="117769" name="Text Box 9"/>
          <p:cNvSpPr txBox="1">
            <a:spLocks noChangeArrowheads="1"/>
          </p:cNvSpPr>
          <p:nvPr/>
        </p:nvSpPr>
        <p:spPr bwMode="auto">
          <a:xfrm>
            <a:off x="1128713" y="3940314"/>
            <a:ext cx="6591300" cy="70788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 dirty="0" smtClean="0"/>
              <a:t>Rate =   [ 300 / number of large squares between beats ] (in beats per minute)</a:t>
            </a:r>
            <a:endParaRPr lang="en-GB" sz="2000" dirty="0"/>
          </a:p>
        </p:txBody>
      </p:sp>
      <p:sp>
        <p:nvSpPr>
          <p:cNvPr id="117771" name="Text Box 11"/>
          <p:cNvSpPr txBox="1">
            <a:spLocks noChangeArrowheads="1"/>
          </p:cNvSpPr>
          <p:nvPr/>
        </p:nvSpPr>
        <p:spPr bwMode="auto">
          <a:xfrm>
            <a:off x="1128713" y="5105400"/>
            <a:ext cx="3006725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      =   [ </a:t>
            </a:r>
            <a:r>
              <a:rPr lang="en-GB" sz="2000" dirty="0" smtClean="0"/>
              <a:t>300/ 3.3 </a:t>
            </a:r>
            <a:r>
              <a:rPr lang="en-GB" sz="2000" dirty="0"/>
              <a:t>]</a:t>
            </a:r>
          </a:p>
          <a:p>
            <a:pPr algn="l"/>
            <a:r>
              <a:rPr lang="en-GB" sz="2000" dirty="0"/>
              <a:t>          beats per minute</a:t>
            </a:r>
          </a:p>
        </p:txBody>
      </p:sp>
      <p:sp>
        <p:nvSpPr>
          <p:cNvPr id="117773" name="Text Box 13"/>
          <p:cNvSpPr txBox="1">
            <a:spLocks noChangeArrowheads="1"/>
          </p:cNvSpPr>
          <p:nvPr/>
        </p:nvSpPr>
        <p:spPr bwMode="auto">
          <a:xfrm>
            <a:off x="1128713" y="6156325"/>
            <a:ext cx="33734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      = </a:t>
            </a:r>
            <a:r>
              <a:rPr lang="en-GB" sz="2000" dirty="0" smtClean="0"/>
              <a:t>90 </a:t>
            </a:r>
            <a:r>
              <a:rPr lang="en-GB" sz="2000" dirty="0"/>
              <a:t>beats per minute</a:t>
            </a:r>
          </a:p>
        </p:txBody>
      </p:sp>
      <p:pic>
        <p:nvPicPr>
          <p:cNvPr id="17" name="Picture 12" descr="nsr-m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286001"/>
            <a:ext cx="7772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436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436563" y="746125"/>
            <a:ext cx="6219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information can be derived from a 3–lead ECG?</a:t>
            </a: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436563" y="1220788"/>
            <a:ext cx="2089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(1) Rate (cont.)</a:t>
            </a:r>
          </a:p>
        </p:txBody>
      </p:sp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2841625" y="1857375"/>
            <a:ext cx="31638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So, what is the rate here?</a:t>
            </a:r>
          </a:p>
        </p:txBody>
      </p:sp>
      <p:sp>
        <p:nvSpPr>
          <p:cNvPr id="117769" name="Text Box 9"/>
          <p:cNvSpPr txBox="1">
            <a:spLocks noChangeArrowheads="1"/>
          </p:cNvSpPr>
          <p:nvPr/>
        </p:nvSpPr>
        <p:spPr bwMode="auto">
          <a:xfrm>
            <a:off x="1128713" y="3940314"/>
            <a:ext cx="6591300" cy="70788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lvl="1"/>
            <a:r>
              <a:rPr lang="en-GB" sz="2000" b="1" dirty="0" smtClean="0">
                <a:solidFill>
                  <a:srgbClr val="0070C0"/>
                </a:solidFill>
              </a:rPr>
              <a:t>Option 2</a:t>
            </a:r>
            <a:r>
              <a:rPr lang="en-GB" sz="2000" dirty="0" smtClean="0"/>
              <a:t>, Rate </a:t>
            </a:r>
            <a:r>
              <a:rPr lang="en-GB" sz="2000" dirty="0"/>
              <a:t>=   </a:t>
            </a:r>
            <a:r>
              <a:rPr lang="en-US" altLang="en-US" sz="2000" dirty="0" smtClean="0"/>
              <a:t>Count the number of R waves in a 6 second rhythm strip, then multiply by 10, </a:t>
            </a:r>
            <a:r>
              <a:rPr lang="en-GB" sz="2000" dirty="0" smtClean="0"/>
              <a:t>(</a:t>
            </a:r>
            <a:r>
              <a:rPr lang="en-GB" sz="2000" dirty="0"/>
              <a:t>in beats per minute)</a:t>
            </a:r>
          </a:p>
        </p:txBody>
      </p:sp>
      <p:sp>
        <p:nvSpPr>
          <p:cNvPr id="117771" name="Text Box 11"/>
          <p:cNvSpPr txBox="1">
            <a:spLocks noChangeArrowheads="1"/>
          </p:cNvSpPr>
          <p:nvPr/>
        </p:nvSpPr>
        <p:spPr bwMode="auto">
          <a:xfrm>
            <a:off x="1128713" y="5105400"/>
            <a:ext cx="3006725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      =   [ </a:t>
            </a:r>
            <a:r>
              <a:rPr lang="en-GB" sz="2000" dirty="0" smtClean="0"/>
              <a:t>9 x 10 </a:t>
            </a:r>
            <a:r>
              <a:rPr lang="en-GB" sz="2000" dirty="0"/>
              <a:t>]</a:t>
            </a:r>
          </a:p>
          <a:p>
            <a:pPr algn="l"/>
            <a:r>
              <a:rPr lang="en-GB" sz="2000" dirty="0"/>
              <a:t>          beats per minute</a:t>
            </a:r>
          </a:p>
        </p:txBody>
      </p:sp>
      <p:sp>
        <p:nvSpPr>
          <p:cNvPr id="117773" name="Text Box 13"/>
          <p:cNvSpPr txBox="1">
            <a:spLocks noChangeArrowheads="1"/>
          </p:cNvSpPr>
          <p:nvPr/>
        </p:nvSpPr>
        <p:spPr bwMode="auto">
          <a:xfrm>
            <a:off x="1128713" y="6156325"/>
            <a:ext cx="33734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      = </a:t>
            </a:r>
            <a:r>
              <a:rPr lang="en-GB" sz="2000" dirty="0" smtClean="0"/>
              <a:t>90 </a:t>
            </a:r>
            <a:r>
              <a:rPr lang="en-GB" sz="2000" dirty="0"/>
              <a:t>beats per minute</a:t>
            </a:r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 flipV="1">
            <a:off x="8915400" y="2511425"/>
            <a:ext cx="0" cy="38100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 flipV="1">
            <a:off x="1143000" y="2511425"/>
            <a:ext cx="0" cy="38100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1295400" y="2587625"/>
            <a:ext cx="3505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2590800" y="2373313"/>
            <a:ext cx="990600" cy="954107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dirty="0">
                <a:solidFill>
                  <a:srgbClr val="FF5050"/>
                </a:solidFill>
              </a:rPr>
              <a:t>3 sec</a:t>
            </a: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5181600" y="2587625"/>
            <a:ext cx="3505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6400800" y="2359025"/>
            <a:ext cx="990600" cy="954107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dirty="0">
                <a:solidFill>
                  <a:srgbClr val="FF5050"/>
                </a:solidFill>
              </a:rPr>
              <a:t>3 sec</a:t>
            </a:r>
          </a:p>
        </p:txBody>
      </p:sp>
      <p:pic>
        <p:nvPicPr>
          <p:cNvPr id="17" name="Picture 12" descr="nsr-m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816225"/>
            <a:ext cx="7772400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436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436563" y="746125"/>
            <a:ext cx="6219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information can be derived from a 3–lead ECG?</a:t>
            </a: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436563" y="1220788"/>
            <a:ext cx="14430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(2) Rhythm</a:t>
            </a:r>
          </a:p>
        </p:txBody>
      </p: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736600" y="1838325"/>
            <a:ext cx="23828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‘</a:t>
            </a:r>
            <a:r>
              <a:rPr lang="en-GB" sz="2000" dirty="0">
                <a:solidFill>
                  <a:srgbClr val="0070C0"/>
                </a:solidFill>
              </a:rPr>
              <a:t>sinus rhythm</a:t>
            </a:r>
            <a:r>
              <a:rPr lang="en-GB" sz="2000" dirty="0"/>
              <a:t>’?  </a:t>
            </a:r>
          </a:p>
        </p:txBody>
      </p:sp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762000" y="3028950"/>
            <a:ext cx="2919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</a:t>
            </a:r>
            <a:r>
              <a:rPr lang="en-GB" sz="2000" dirty="0">
                <a:solidFill>
                  <a:srgbClr val="0070C0"/>
                </a:solidFill>
              </a:rPr>
              <a:t>regular or irregular</a:t>
            </a:r>
            <a:r>
              <a:rPr lang="en-GB" sz="2000" dirty="0"/>
              <a:t>?  </a:t>
            </a:r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736600" y="4219575"/>
            <a:ext cx="23828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the </a:t>
            </a:r>
            <a:r>
              <a:rPr lang="en-GB" sz="2000" dirty="0">
                <a:solidFill>
                  <a:srgbClr val="0070C0"/>
                </a:solidFill>
              </a:rPr>
              <a:t>PR interval </a:t>
            </a:r>
            <a:r>
              <a:rPr lang="en-GB" sz="2000" dirty="0"/>
              <a:t>prolonged?  </a:t>
            </a:r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736600" y="5411788"/>
            <a:ext cx="23828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the </a:t>
            </a:r>
            <a:r>
              <a:rPr lang="en-GB" sz="2000" dirty="0">
                <a:solidFill>
                  <a:srgbClr val="0070C0"/>
                </a:solidFill>
              </a:rPr>
              <a:t>QRS complex broad</a:t>
            </a:r>
            <a:r>
              <a:rPr lang="en-GB" sz="2000" dirty="0"/>
              <a:t>?  </a:t>
            </a:r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3244850" y="1838325"/>
            <a:ext cx="5640388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- are P waves and QRS complexes always seen </a:t>
            </a:r>
            <a:r>
              <a:rPr lang="en-GB" sz="2000" dirty="0">
                <a:solidFill>
                  <a:srgbClr val="0070C0"/>
                </a:solidFill>
              </a:rPr>
              <a:t>together?</a:t>
            </a:r>
          </a:p>
        </p:txBody>
      </p:sp>
      <p:sp>
        <p:nvSpPr>
          <p:cNvPr id="106507" name="Text Box 11"/>
          <p:cNvSpPr txBox="1">
            <a:spLocks noChangeArrowheads="1"/>
          </p:cNvSpPr>
          <p:nvPr/>
        </p:nvSpPr>
        <p:spPr bwMode="auto">
          <a:xfrm>
            <a:off x="3886200" y="3028950"/>
            <a:ext cx="5202238" cy="707886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- mark R-R interval on a piece of paper and move it along ECG; </a:t>
            </a:r>
            <a:r>
              <a:rPr lang="en-GB" sz="2000" dirty="0">
                <a:solidFill>
                  <a:srgbClr val="0070C0"/>
                </a:solidFill>
              </a:rPr>
              <a:t>is the interval consistent?</a:t>
            </a:r>
          </a:p>
        </p:txBody>
      </p:sp>
      <p:sp>
        <p:nvSpPr>
          <p:cNvPr id="106508" name="Text Box 12"/>
          <p:cNvSpPr txBox="1">
            <a:spLocks noChangeArrowheads="1"/>
          </p:cNvSpPr>
          <p:nvPr/>
        </p:nvSpPr>
        <p:spPr bwMode="auto">
          <a:xfrm>
            <a:off x="3244850" y="5411788"/>
            <a:ext cx="5640388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- this should be ≤ 0.12 s (i.e. ≤ 3 small squares)</a:t>
            </a:r>
          </a:p>
        </p:txBody>
      </p:sp>
      <p:sp>
        <p:nvSpPr>
          <p:cNvPr id="106509" name="Text Box 13"/>
          <p:cNvSpPr txBox="1">
            <a:spLocks noChangeArrowheads="1"/>
          </p:cNvSpPr>
          <p:nvPr/>
        </p:nvSpPr>
        <p:spPr bwMode="auto">
          <a:xfrm>
            <a:off x="3244850" y="4219575"/>
            <a:ext cx="5640388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- this should be </a:t>
            </a:r>
            <a:r>
              <a:rPr lang="en-GB" sz="2000">
                <a:cs typeface="Arial" charset="0"/>
              </a:rPr>
              <a:t>≤ 0.2 s (i.e. ≤ 5 small squares)</a:t>
            </a:r>
          </a:p>
        </p:txBody>
      </p:sp>
      <p:sp>
        <p:nvSpPr>
          <p:cNvPr id="106510" name="Text Box 14"/>
          <p:cNvSpPr txBox="1">
            <a:spLocks noChangeArrowheads="1"/>
          </p:cNvSpPr>
          <p:nvPr/>
        </p:nvSpPr>
        <p:spPr bwMode="auto">
          <a:xfrm>
            <a:off x="4751388" y="6265863"/>
            <a:ext cx="4217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these are best shown by example…</a:t>
            </a:r>
          </a:p>
        </p:txBody>
      </p:sp>
      <p:sp>
        <p:nvSpPr>
          <p:cNvPr id="106511" name="Text Box 15"/>
          <p:cNvSpPr txBox="1">
            <a:spLocks noChangeArrowheads="1"/>
          </p:cNvSpPr>
          <p:nvPr/>
        </p:nvSpPr>
        <p:spPr bwMode="auto">
          <a:xfrm>
            <a:off x="3478213" y="4606925"/>
            <a:ext cx="406842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1600" dirty="0"/>
              <a:t>[NOTE: this is </a:t>
            </a:r>
            <a:r>
              <a:rPr lang="en-GB" sz="1600" dirty="0">
                <a:solidFill>
                  <a:srgbClr val="0070C0"/>
                </a:solidFill>
              </a:rPr>
              <a:t>from </a:t>
            </a:r>
            <a:r>
              <a:rPr lang="en-GB" sz="1600" u="sng" dirty="0">
                <a:solidFill>
                  <a:srgbClr val="0070C0"/>
                </a:solidFill>
              </a:rPr>
              <a:t>start</a:t>
            </a:r>
            <a:r>
              <a:rPr lang="en-GB" sz="1600" dirty="0">
                <a:solidFill>
                  <a:srgbClr val="0070C0"/>
                </a:solidFill>
              </a:rPr>
              <a:t> of P to </a:t>
            </a:r>
            <a:r>
              <a:rPr lang="en-GB" sz="1600" u="sng" dirty="0">
                <a:solidFill>
                  <a:srgbClr val="0070C0"/>
                </a:solidFill>
              </a:rPr>
              <a:t>start</a:t>
            </a:r>
            <a:r>
              <a:rPr lang="en-GB" sz="1600" dirty="0">
                <a:solidFill>
                  <a:srgbClr val="0070C0"/>
                </a:solidFill>
              </a:rPr>
              <a:t> of QRS]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436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16758" name="Text Box 22"/>
          <p:cNvSpPr txBox="1">
            <a:spLocks noChangeArrowheads="1"/>
          </p:cNvSpPr>
          <p:nvPr/>
        </p:nvSpPr>
        <p:spPr bwMode="auto">
          <a:xfrm>
            <a:off x="1281113" y="35290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16759" name="Text Box 23"/>
          <p:cNvSpPr txBox="1">
            <a:spLocks noChangeArrowheads="1"/>
          </p:cNvSpPr>
          <p:nvPr/>
        </p:nvSpPr>
        <p:spPr bwMode="auto">
          <a:xfrm>
            <a:off x="4846638" y="3529013"/>
            <a:ext cx="2925762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2000" dirty="0"/>
              <a:t>approx. </a:t>
            </a:r>
            <a:r>
              <a:rPr lang="en-GB" sz="2000" dirty="0" smtClean="0"/>
              <a:t>90 bpm, </a:t>
            </a:r>
            <a:endParaRPr lang="en-GB" sz="2000" dirty="0"/>
          </a:p>
        </p:txBody>
      </p:sp>
      <p:sp>
        <p:nvSpPr>
          <p:cNvPr id="116760" name="Text Box 24"/>
          <p:cNvSpPr txBox="1">
            <a:spLocks noChangeArrowheads="1"/>
          </p:cNvSpPr>
          <p:nvPr/>
        </p:nvSpPr>
        <p:spPr bwMode="auto">
          <a:xfrm>
            <a:off x="1281113" y="43402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sinus rhythm?</a:t>
            </a:r>
          </a:p>
        </p:txBody>
      </p:sp>
      <p:sp>
        <p:nvSpPr>
          <p:cNvPr id="116761" name="Text Box 25"/>
          <p:cNvSpPr txBox="1">
            <a:spLocks noChangeArrowheads="1"/>
          </p:cNvSpPr>
          <p:nvPr/>
        </p:nvSpPr>
        <p:spPr bwMode="auto">
          <a:xfrm>
            <a:off x="1293813" y="51514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PR interval?</a:t>
            </a:r>
          </a:p>
        </p:txBody>
      </p:sp>
      <p:sp>
        <p:nvSpPr>
          <p:cNvPr id="116762" name="Text Box 26"/>
          <p:cNvSpPr txBox="1">
            <a:spLocks noChangeArrowheads="1"/>
          </p:cNvSpPr>
          <p:nvPr/>
        </p:nvSpPr>
        <p:spPr bwMode="auto">
          <a:xfrm>
            <a:off x="1281113" y="59642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QRS duration?</a:t>
            </a:r>
          </a:p>
        </p:txBody>
      </p:sp>
      <p:sp>
        <p:nvSpPr>
          <p:cNvPr id="116766" name="Text Box 30"/>
          <p:cNvSpPr txBox="1">
            <a:spLocks noChangeArrowheads="1"/>
          </p:cNvSpPr>
          <p:nvPr/>
        </p:nvSpPr>
        <p:spPr bwMode="auto">
          <a:xfrm>
            <a:off x="1181100" y="869950"/>
            <a:ext cx="3006725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Normal sinus rhythm</a:t>
            </a:r>
          </a:p>
        </p:txBody>
      </p:sp>
      <p:sp>
        <p:nvSpPr>
          <p:cNvPr id="116767" name="Text Box 31"/>
          <p:cNvSpPr txBox="1">
            <a:spLocks noChangeArrowheads="1"/>
          </p:cNvSpPr>
          <p:nvPr/>
        </p:nvSpPr>
        <p:spPr bwMode="auto">
          <a:xfrm>
            <a:off x="4846638" y="4337050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 dirty="0" smtClean="0"/>
              <a:t>Yes, </a:t>
            </a:r>
            <a:r>
              <a:rPr lang="en-GB" sz="2000" b="1" dirty="0" smtClean="0"/>
              <a:t>Regular</a:t>
            </a:r>
            <a:r>
              <a:rPr lang="en-GB" sz="2000" dirty="0" smtClean="0"/>
              <a:t> </a:t>
            </a:r>
            <a:endParaRPr lang="en-GB" sz="2000" dirty="0"/>
          </a:p>
        </p:txBody>
      </p:sp>
      <p:sp>
        <p:nvSpPr>
          <p:cNvPr id="116768" name="Text Box 32"/>
          <p:cNvSpPr txBox="1">
            <a:spLocks noChangeArrowheads="1"/>
          </p:cNvSpPr>
          <p:nvPr/>
        </p:nvSpPr>
        <p:spPr bwMode="auto">
          <a:xfrm>
            <a:off x="4846638" y="5146675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0.2 s (normal) </a:t>
            </a:r>
          </a:p>
        </p:txBody>
      </p:sp>
      <p:sp>
        <p:nvSpPr>
          <p:cNvPr id="116769" name="Text Box 33"/>
          <p:cNvSpPr txBox="1">
            <a:spLocks noChangeArrowheads="1"/>
          </p:cNvSpPr>
          <p:nvPr/>
        </p:nvSpPr>
        <p:spPr bwMode="auto">
          <a:xfrm>
            <a:off x="4846638" y="59563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</a:t>
            </a:r>
          </a:p>
        </p:txBody>
      </p:sp>
      <p:pic>
        <p:nvPicPr>
          <p:cNvPr id="13" name="Picture 12" descr="nsr-m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524001"/>
            <a:ext cx="7772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436563" y="2143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pic>
        <p:nvPicPr>
          <p:cNvPr id="115740" name="Picture 28" descr="ecg_sinus_rhythm_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0337" y="1585913"/>
            <a:ext cx="7027863" cy="1749425"/>
          </a:xfrm>
          <a:prstGeom prst="rect">
            <a:avLst/>
          </a:prstGeom>
          <a:noFill/>
        </p:spPr>
      </p:pic>
      <p:sp>
        <p:nvSpPr>
          <p:cNvPr id="115753" name="Text Box 41"/>
          <p:cNvSpPr txBox="1">
            <a:spLocks noChangeArrowheads="1"/>
          </p:cNvSpPr>
          <p:nvPr/>
        </p:nvSpPr>
        <p:spPr bwMode="auto">
          <a:xfrm>
            <a:off x="1344613" y="36306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rate?</a:t>
            </a:r>
          </a:p>
        </p:txBody>
      </p:sp>
      <p:sp>
        <p:nvSpPr>
          <p:cNvPr id="115754" name="Text Box 42"/>
          <p:cNvSpPr txBox="1">
            <a:spLocks noChangeArrowheads="1"/>
          </p:cNvSpPr>
          <p:nvPr/>
        </p:nvSpPr>
        <p:spPr bwMode="auto">
          <a:xfrm>
            <a:off x="4910138" y="36306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approx. 75 bpm </a:t>
            </a:r>
          </a:p>
        </p:txBody>
      </p:sp>
      <p:sp>
        <p:nvSpPr>
          <p:cNvPr id="115755" name="Text Box 43"/>
          <p:cNvSpPr txBox="1">
            <a:spLocks noChangeArrowheads="1"/>
          </p:cNvSpPr>
          <p:nvPr/>
        </p:nvSpPr>
        <p:spPr bwMode="auto">
          <a:xfrm>
            <a:off x="1344613" y="44418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Is it sinus rhythm?</a:t>
            </a:r>
          </a:p>
        </p:txBody>
      </p:sp>
      <p:sp>
        <p:nvSpPr>
          <p:cNvPr id="115756" name="Text Box 44"/>
          <p:cNvSpPr txBox="1">
            <a:spLocks noChangeArrowheads="1"/>
          </p:cNvSpPr>
          <p:nvPr/>
        </p:nvSpPr>
        <p:spPr bwMode="auto">
          <a:xfrm>
            <a:off x="1357313" y="52530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PR interval?</a:t>
            </a:r>
          </a:p>
        </p:txBody>
      </p:sp>
      <p:sp>
        <p:nvSpPr>
          <p:cNvPr id="115757" name="Text Box 45"/>
          <p:cNvSpPr txBox="1">
            <a:spLocks noChangeArrowheads="1"/>
          </p:cNvSpPr>
          <p:nvPr/>
        </p:nvSpPr>
        <p:spPr bwMode="auto">
          <a:xfrm>
            <a:off x="1344613" y="60658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QRS duration?</a:t>
            </a:r>
          </a:p>
        </p:txBody>
      </p:sp>
      <p:sp>
        <p:nvSpPr>
          <p:cNvPr id="115758" name="Text Box 46"/>
          <p:cNvSpPr txBox="1">
            <a:spLocks noChangeArrowheads="1"/>
          </p:cNvSpPr>
          <p:nvPr/>
        </p:nvSpPr>
        <p:spPr bwMode="auto">
          <a:xfrm>
            <a:off x="4910138" y="4438650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yes </a:t>
            </a:r>
          </a:p>
        </p:txBody>
      </p:sp>
      <p:sp>
        <p:nvSpPr>
          <p:cNvPr id="115759" name="Text Box 47"/>
          <p:cNvSpPr txBox="1">
            <a:spLocks noChangeArrowheads="1"/>
          </p:cNvSpPr>
          <p:nvPr/>
        </p:nvSpPr>
        <p:spPr bwMode="auto">
          <a:xfrm>
            <a:off x="4910138" y="5248275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0.2 s (normal) </a:t>
            </a:r>
          </a:p>
        </p:txBody>
      </p:sp>
      <p:sp>
        <p:nvSpPr>
          <p:cNvPr id="115760" name="Text Box 48"/>
          <p:cNvSpPr txBox="1">
            <a:spLocks noChangeArrowheads="1"/>
          </p:cNvSpPr>
          <p:nvPr/>
        </p:nvSpPr>
        <p:spPr bwMode="auto">
          <a:xfrm>
            <a:off x="4910138" y="60579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</a:t>
            </a:r>
          </a:p>
        </p:txBody>
      </p:sp>
      <p:sp>
        <p:nvSpPr>
          <p:cNvPr id="115764" name="Text Box 52"/>
          <p:cNvSpPr txBox="1">
            <a:spLocks noChangeArrowheads="1"/>
          </p:cNvSpPr>
          <p:nvPr/>
        </p:nvSpPr>
        <p:spPr bwMode="auto">
          <a:xfrm>
            <a:off x="1244600" y="971550"/>
            <a:ext cx="3006725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Normal sinus rhythm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0" name="Text Box 6"/>
          <p:cNvSpPr txBox="1">
            <a:spLocks noChangeArrowheads="1"/>
          </p:cNvSpPr>
          <p:nvPr/>
        </p:nvSpPr>
        <p:spPr bwMode="auto">
          <a:xfrm>
            <a:off x="1333500" y="920750"/>
            <a:ext cx="2811463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Sinus </a:t>
            </a:r>
            <a:r>
              <a:rPr lang="en-GB" sz="2400" dirty="0" err="1"/>
              <a:t>bradycardia</a:t>
            </a:r>
            <a:endParaRPr lang="en-GB" sz="2400" dirty="0"/>
          </a:p>
        </p:txBody>
      </p:sp>
      <p:sp>
        <p:nvSpPr>
          <p:cNvPr id="113683" name="Text Box 19"/>
          <p:cNvSpPr txBox="1">
            <a:spLocks noChangeArrowheads="1"/>
          </p:cNvSpPr>
          <p:nvPr/>
        </p:nvSpPr>
        <p:spPr bwMode="auto">
          <a:xfrm>
            <a:off x="1649413" y="37957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13684" name="Text Box 20"/>
          <p:cNvSpPr txBox="1">
            <a:spLocks noChangeArrowheads="1"/>
          </p:cNvSpPr>
          <p:nvPr/>
        </p:nvSpPr>
        <p:spPr bwMode="auto">
          <a:xfrm>
            <a:off x="5214938" y="3795713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approx </a:t>
            </a:r>
            <a:r>
              <a:rPr lang="en-GB" sz="2000" dirty="0" smtClean="0"/>
              <a:t>38 </a:t>
            </a:r>
            <a:r>
              <a:rPr lang="en-GB" sz="2000" dirty="0"/>
              <a:t>bpm</a:t>
            </a:r>
          </a:p>
        </p:txBody>
      </p:sp>
      <p:sp>
        <p:nvSpPr>
          <p:cNvPr id="113685" name="Text Box 21"/>
          <p:cNvSpPr txBox="1">
            <a:spLocks noChangeArrowheads="1"/>
          </p:cNvSpPr>
          <p:nvPr/>
        </p:nvSpPr>
        <p:spPr bwMode="auto">
          <a:xfrm>
            <a:off x="1649413" y="46069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sinus rhythm?</a:t>
            </a:r>
          </a:p>
        </p:txBody>
      </p:sp>
      <p:sp>
        <p:nvSpPr>
          <p:cNvPr id="113686" name="Text Box 22"/>
          <p:cNvSpPr txBox="1">
            <a:spLocks noChangeArrowheads="1"/>
          </p:cNvSpPr>
          <p:nvPr/>
        </p:nvSpPr>
        <p:spPr bwMode="auto">
          <a:xfrm>
            <a:off x="1662113" y="54181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PR interval?</a:t>
            </a:r>
          </a:p>
        </p:txBody>
      </p:sp>
      <p:sp>
        <p:nvSpPr>
          <p:cNvPr id="113687" name="Text Box 23"/>
          <p:cNvSpPr txBox="1">
            <a:spLocks noChangeArrowheads="1"/>
          </p:cNvSpPr>
          <p:nvPr/>
        </p:nvSpPr>
        <p:spPr bwMode="auto">
          <a:xfrm>
            <a:off x="1649413" y="62309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QRS duration?</a:t>
            </a:r>
          </a:p>
        </p:txBody>
      </p:sp>
      <p:sp>
        <p:nvSpPr>
          <p:cNvPr id="113688" name="Text Box 24"/>
          <p:cNvSpPr txBox="1">
            <a:spLocks noChangeArrowheads="1"/>
          </p:cNvSpPr>
          <p:nvPr/>
        </p:nvSpPr>
        <p:spPr bwMode="auto">
          <a:xfrm>
            <a:off x="5214938" y="4603750"/>
            <a:ext cx="367665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yes </a:t>
            </a:r>
          </a:p>
        </p:txBody>
      </p:sp>
      <p:sp>
        <p:nvSpPr>
          <p:cNvPr id="113689" name="Text Box 25"/>
          <p:cNvSpPr txBox="1">
            <a:spLocks noChangeArrowheads="1"/>
          </p:cNvSpPr>
          <p:nvPr/>
        </p:nvSpPr>
        <p:spPr bwMode="auto">
          <a:xfrm>
            <a:off x="5214938" y="5413375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0.2 s (normal)</a:t>
            </a:r>
          </a:p>
        </p:txBody>
      </p:sp>
      <p:sp>
        <p:nvSpPr>
          <p:cNvPr id="113690" name="Text Box 26"/>
          <p:cNvSpPr txBox="1">
            <a:spLocks noChangeArrowheads="1"/>
          </p:cNvSpPr>
          <p:nvPr/>
        </p:nvSpPr>
        <p:spPr bwMode="auto">
          <a:xfrm>
            <a:off x="5214938" y="62230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</a:t>
            </a:r>
          </a:p>
        </p:txBody>
      </p:sp>
      <p:sp>
        <p:nvSpPr>
          <p:cNvPr id="113691" name="Rectangle 27"/>
          <p:cNvSpPr>
            <a:spLocks noChangeArrowheads="1"/>
          </p:cNvSpPr>
          <p:nvPr/>
        </p:nvSpPr>
        <p:spPr bwMode="auto">
          <a:xfrm>
            <a:off x="500063" y="2143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7300" y="1700213"/>
            <a:ext cx="7200900" cy="180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ChangeArrowheads="1"/>
          </p:cNvSpPr>
          <p:nvPr/>
        </p:nvSpPr>
        <p:spPr bwMode="auto">
          <a:xfrm>
            <a:off x="309563" y="2778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52579" name="Text Box 3"/>
          <p:cNvSpPr txBox="1">
            <a:spLocks noChangeArrowheads="1"/>
          </p:cNvSpPr>
          <p:nvPr/>
        </p:nvSpPr>
        <p:spPr bwMode="auto">
          <a:xfrm>
            <a:off x="957263" y="1012825"/>
            <a:ext cx="3387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Causes of sinus bradycardia</a:t>
            </a:r>
          </a:p>
        </p:txBody>
      </p:sp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1376363" y="1557338"/>
            <a:ext cx="6116637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Fit and healthy adult</a:t>
            </a:r>
          </a:p>
          <a:p>
            <a:pPr algn="l"/>
            <a:r>
              <a:rPr lang="en-GB" sz="2000"/>
              <a:t>Hypoxia (especially in children)</a:t>
            </a:r>
          </a:p>
          <a:p>
            <a:pPr algn="l"/>
            <a:r>
              <a:rPr lang="en-GB" sz="2000"/>
              <a:t>Vagal stimulation</a:t>
            </a:r>
          </a:p>
          <a:p>
            <a:pPr algn="l"/>
            <a:r>
              <a:rPr lang="en-GB" sz="2000"/>
              <a:t>Cardiac disease</a:t>
            </a:r>
          </a:p>
          <a:p>
            <a:pPr algn="l"/>
            <a:r>
              <a:rPr lang="en-GB" sz="2000"/>
              <a:t>Drugs (eg suxamethonium, beta-blockers, etc.)</a:t>
            </a: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957263" y="35258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52582" name="Text Box 6"/>
          <p:cNvSpPr txBox="1">
            <a:spLocks noChangeArrowheads="1"/>
          </p:cNvSpPr>
          <p:nvPr/>
        </p:nvSpPr>
        <p:spPr bwMode="auto">
          <a:xfrm>
            <a:off x="1376363" y="4135438"/>
            <a:ext cx="64262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O</a:t>
            </a:r>
            <a:r>
              <a:rPr lang="en-GB" sz="2000" baseline="-25000"/>
              <a:t>2</a:t>
            </a:r>
          </a:p>
          <a:p>
            <a:pPr algn="l"/>
            <a:r>
              <a:rPr lang="en-GB" sz="2000"/>
              <a:t>Treat underlying cause (e.g stop surgical stimulus)</a:t>
            </a:r>
          </a:p>
          <a:p>
            <a:pPr algn="l"/>
            <a:r>
              <a:rPr lang="en-GB" sz="2000"/>
              <a:t>Anticholinergic (e.g. atropine, or glycopyrolate)</a:t>
            </a:r>
          </a:p>
          <a:p>
            <a:pPr algn="l"/>
            <a:r>
              <a:rPr lang="en-GB" sz="2000"/>
              <a:t>Consider adrenaline if resistant</a:t>
            </a:r>
          </a:p>
          <a:p>
            <a:pPr algn="l"/>
            <a:endParaRPr lang="en-GB" sz="2000"/>
          </a:p>
          <a:p>
            <a:pPr algn="l"/>
            <a:r>
              <a:rPr lang="en-GB" sz="2000"/>
              <a:t>Note: beta-blocked patients may respond to glucagon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1384300" y="971550"/>
            <a:ext cx="27876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Sinus tachycardia</a:t>
            </a:r>
          </a:p>
        </p:txBody>
      </p:sp>
      <p:sp>
        <p:nvSpPr>
          <p:cNvPr id="111635" name="Text Box 19"/>
          <p:cNvSpPr txBox="1">
            <a:spLocks noChangeArrowheads="1"/>
          </p:cNvSpPr>
          <p:nvPr/>
        </p:nvSpPr>
        <p:spPr bwMode="auto">
          <a:xfrm>
            <a:off x="1700213" y="38465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11636" name="Text Box 20"/>
          <p:cNvSpPr txBox="1">
            <a:spLocks noChangeArrowheads="1"/>
          </p:cNvSpPr>
          <p:nvPr/>
        </p:nvSpPr>
        <p:spPr bwMode="auto">
          <a:xfrm>
            <a:off x="5265738" y="3846513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Approx </a:t>
            </a:r>
            <a:r>
              <a:rPr lang="en-GB" sz="2000" dirty="0" smtClean="0"/>
              <a:t>120 </a:t>
            </a:r>
            <a:r>
              <a:rPr lang="en-GB" sz="2000" dirty="0"/>
              <a:t>bpm</a:t>
            </a:r>
          </a:p>
        </p:txBody>
      </p:sp>
      <p:sp>
        <p:nvSpPr>
          <p:cNvPr id="111637" name="Text Box 21"/>
          <p:cNvSpPr txBox="1">
            <a:spLocks noChangeArrowheads="1"/>
          </p:cNvSpPr>
          <p:nvPr/>
        </p:nvSpPr>
        <p:spPr bwMode="auto">
          <a:xfrm>
            <a:off x="1700213" y="46577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sinus rhythm?</a:t>
            </a:r>
          </a:p>
        </p:txBody>
      </p:sp>
      <p:sp>
        <p:nvSpPr>
          <p:cNvPr id="111638" name="Text Box 22"/>
          <p:cNvSpPr txBox="1">
            <a:spLocks noChangeArrowheads="1"/>
          </p:cNvSpPr>
          <p:nvPr/>
        </p:nvSpPr>
        <p:spPr bwMode="auto">
          <a:xfrm>
            <a:off x="1712913" y="54689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PR interval?</a:t>
            </a:r>
          </a:p>
        </p:txBody>
      </p:sp>
      <p:sp>
        <p:nvSpPr>
          <p:cNvPr id="111639" name="Text Box 23"/>
          <p:cNvSpPr txBox="1">
            <a:spLocks noChangeArrowheads="1"/>
          </p:cNvSpPr>
          <p:nvPr/>
        </p:nvSpPr>
        <p:spPr bwMode="auto">
          <a:xfrm>
            <a:off x="1700213" y="62817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QRS duration?</a:t>
            </a:r>
          </a:p>
        </p:txBody>
      </p:sp>
      <p:sp>
        <p:nvSpPr>
          <p:cNvPr id="111640" name="Text Box 24"/>
          <p:cNvSpPr txBox="1">
            <a:spLocks noChangeArrowheads="1"/>
          </p:cNvSpPr>
          <p:nvPr/>
        </p:nvSpPr>
        <p:spPr bwMode="auto">
          <a:xfrm>
            <a:off x="5265738" y="4654550"/>
            <a:ext cx="367665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yes </a:t>
            </a:r>
          </a:p>
        </p:txBody>
      </p:sp>
      <p:sp>
        <p:nvSpPr>
          <p:cNvPr id="111641" name="Text Box 25"/>
          <p:cNvSpPr txBox="1">
            <a:spLocks noChangeArrowheads="1"/>
          </p:cNvSpPr>
          <p:nvPr/>
        </p:nvSpPr>
        <p:spPr bwMode="auto">
          <a:xfrm>
            <a:off x="5265738" y="5464175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0.2 s (normal)</a:t>
            </a:r>
          </a:p>
        </p:txBody>
      </p:sp>
      <p:sp>
        <p:nvSpPr>
          <p:cNvPr id="111642" name="Text Box 26"/>
          <p:cNvSpPr txBox="1">
            <a:spLocks noChangeArrowheads="1"/>
          </p:cNvSpPr>
          <p:nvPr/>
        </p:nvSpPr>
        <p:spPr bwMode="auto">
          <a:xfrm>
            <a:off x="5265738" y="62738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</a:t>
            </a:r>
          </a:p>
        </p:txBody>
      </p:sp>
      <p:sp>
        <p:nvSpPr>
          <p:cNvPr id="111643" name="Rectangle 27"/>
          <p:cNvSpPr>
            <a:spLocks noChangeArrowheads="1"/>
          </p:cNvSpPr>
          <p:nvPr/>
        </p:nvSpPr>
        <p:spPr bwMode="auto">
          <a:xfrm>
            <a:off x="550863" y="2651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524000"/>
            <a:ext cx="7772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830263" y="936625"/>
            <a:ext cx="3359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Causes of sinus tachycardia</a:t>
            </a:r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1317625" y="1562100"/>
            <a:ext cx="3252788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Inadequate anaesthesia</a:t>
            </a:r>
          </a:p>
          <a:p>
            <a:pPr algn="l"/>
            <a:r>
              <a:rPr lang="en-GB" sz="2000" dirty="0"/>
              <a:t>Pain</a:t>
            </a:r>
          </a:p>
          <a:p>
            <a:pPr algn="l"/>
            <a:r>
              <a:rPr lang="en-GB" sz="2000" dirty="0"/>
              <a:t>Fever / sepsis</a:t>
            </a:r>
          </a:p>
          <a:p>
            <a:pPr algn="l"/>
            <a:r>
              <a:rPr lang="en-GB" sz="2000" dirty="0" err="1"/>
              <a:t>Hypovolaemia</a:t>
            </a:r>
            <a:endParaRPr lang="en-GB" sz="2000" dirty="0"/>
          </a:p>
          <a:p>
            <a:pPr algn="l"/>
            <a:r>
              <a:rPr lang="en-GB" sz="2000" dirty="0"/>
              <a:t>Anaemia</a:t>
            </a:r>
          </a:p>
          <a:p>
            <a:pPr algn="l"/>
            <a:r>
              <a:rPr lang="en-GB" sz="2000" dirty="0"/>
              <a:t>Heart failure</a:t>
            </a:r>
          </a:p>
        </p:txBody>
      </p:sp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830263" y="43513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 dirty="0"/>
              <a:t>Brief</a:t>
            </a:r>
            <a:r>
              <a:rPr lang="en-GB" sz="2000" dirty="0"/>
              <a:t> over-view of treatment</a:t>
            </a:r>
          </a:p>
        </p:txBody>
      </p:sp>
      <p:sp>
        <p:nvSpPr>
          <p:cNvPr id="155654" name="Text Box 6"/>
          <p:cNvSpPr txBox="1">
            <a:spLocks noChangeArrowheads="1"/>
          </p:cNvSpPr>
          <p:nvPr/>
        </p:nvSpPr>
        <p:spPr bwMode="auto">
          <a:xfrm>
            <a:off x="1317625" y="5187950"/>
            <a:ext cx="6426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O</a:t>
            </a:r>
            <a:r>
              <a:rPr lang="en-GB" sz="2000" baseline="-25000"/>
              <a:t>2</a:t>
            </a:r>
          </a:p>
          <a:p>
            <a:pPr algn="l"/>
            <a:r>
              <a:rPr lang="en-GB" sz="2000"/>
              <a:t>Treat underlying cause</a:t>
            </a:r>
          </a:p>
        </p:txBody>
      </p:sp>
      <p:sp>
        <p:nvSpPr>
          <p:cNvPr id="155655" name="Text Box 7"/>
          <p:cNvSpPr txBox="1">
            <a:spLocks noChangeArrowheads="1"/>
          </p:cNvSpPr>
          <p:nvPr/>
        </p:nvSpPr>
        <p:spPr bwMode="auto">
          <a:xfrm>
            <a:off x="4787900" y="1562100"/>
            <a:ext cx="3252788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 err="1"/>
              <a:t>Thyrotoxicosis</a:t>
            </a:r>
            <a:endParaRPr lang="en-GB" sz="2000" dirty="0"/>
          </a:p>
          <a:p>
            <a:pPr algn="l"/>
            <a:r>
              <a:rPr lang="en-GB" sz="2000" dirty="0"/>
              <a:t>Drugs (including </a:t>
            </a:r>
            <a:r>
              <a:rPr lang="en-GB" sz="2000" dirty="0" err="1"/>
              <a:t>ketamine</a:t>
            </a:r>
            <a:r>
              <a:rPr lang="en-GB" sz="2000" dirty="0"/>
              <a:t>, atropine)</a:t>
            </a:r>
          </a:p>
          <a:p>
            <a:pPr algn="l"/>
            <a:r>
              <a:rPr lang="en-GB" sz="2000" dirty="0"/>
              <a:t>Anaphylaxis</a:t>
            </a:r>
          </a:p>
          <a:p>
            <a:pPr algn="l"/>
            <a:r>
              <a:rPr lang="en-GB" sz="2000" dirty="0"/>
              <a:t>Pulmonary embolism</a:t>
            </a:r>
          </a:p>
          <a:p>
            <a:pPr algn="r"/>
            <a:r>
              <a:rPr lang="en-GB" sz="2000" dirty="0"/>
              <a:t>etc…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1270000" y="908050"/>
            <a:ext cx="5627688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 smtClean="0"/>
              <a:t>Atrial </a:t>
            </a:r>
            <a:r>
              <a:rPr lang="en-GB" sz="2400" dirty="0"/>
              <a:t>fibrillation (“AF”)</a:t>
            </a:r>
          </a:p>
        </p:txBody>
      </p:sp>
      <p:sp>
        <p:nvSpPr>
          <p:cNvPr id="114706" name="Text Box 18"/>
          <p:cNvSpPr txBox="1">
            <a:spLocks noChangeArrowheads="1"/>
          </p:cNvSpPr>
          <p:nvPr/>
        </p:nvSpPr>
        <p:spPr bwMode="auto">
          <a:xfrm>
            <a:off x="1585913" y="37830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14707" name="Text Box 19"/>
          <p:cNvSpPr txBox="1">
            <a:spLocks noChangeArrowheads="1"/>
          </p:cNvSpPr>
          <p:nvPr/>
        </p:nvSpPr>
        <p:spPr bwMode="auto">
          <a:xfrm>
            <a:off x="5151438" y="3783013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variable; average  </a:t>
            </a:r>
            <a:r>
              <a:rPr lang="en-GB" sz="2000" dirty="0" smtClean="0"/>
              <a:t>80 (ventricular)</a:t>
            </a:r>
            <a:endParaRPr lang="en-GB" sz="2000" dirty="0"/>
          </a:p>
        </p:txBody>
      </p:sp>
      <p:sp>
        <p:nvSpPr>
          <p:cNvPr id="114708" name="Text Box 20"/>
          <p:cNvSpPr txBox="1">
            <a:spLocks noChangeArrowheads="1"/>
          </p:cNvSpPr>
          <p:nvPr/>
        </p:nvSpPr>
        <p:spPr bwMode="auto">
          <a:xfrm>
            <a:off x="1585913" y="45942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sinus rhythm?</a:t>
            </a:r>
          </a:p>
        </p:txBody>
      </p:sp>
      <p:sp>
        <p:nvSpPr>
          <p:cNvPr id="114709" name="Text Box 21"/>
          <p:cNvSpPr txBox="1">
            <a:spLocks noChangeArrowheads="1"/>
          </p:cNvSpPr>
          <p:nvPr/>
        </p:nvSpPr>
        <p:spPr bwMode="auto">
          <a:xfrm>
            <a:off x="1598613" y="54054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PR interval?</a:t>
            </a:r>
          </a:p>
        </p:txBody>
      </p:sp>
      <p:sp>
        <p:nvSpPr>
          <p:cNvPr id="114710" name="Text Box 22"/>
          <p:cNvSpPr txBox="1">
            <a:spLocks noChangeArrowheads="1"/>
          </p:cNvSpPr>
          <p:nvPr/>
        </p:nvSpPr>
        <p:spPr bwMode="auto">
          <a:xfrm>
            <a:off x="1585913" y="62182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QRS duration?</a:t>
            </a:r>
          </a:p>
        </p:txBody>
      </p:sp>
      <p:sp>
        <p:nvSpPr>
          <p:cNvPr id="114711" name="Text Box 23"/>
          <p:cNvSpPr txBox="1">
            <a:spLocks noChangeArrowheads="1"/>
          </p:cNvSpPr>
          <p:nvPr/>
        </p:nvSpPr>
        <p:spPr bwMode="auto">
          <a:xfrm>
            <a:off x="5151438" y="4591050"/>
            <a:ext cx="3676650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no; </a:t>
            </a:r>
            <a:r>
              <a:rPr lang="en-GB" sz="2000" b="1" dirty="0"/>
              <a:t>irregular</a:t>
            </a:r>
            <a:r>
              <a:rPr lang="en-GB" sz="2000" dirty="0"/>
              <a:t> &amp; no P </a:t>
            </a:r>
            <a:r>
              <a:rPr lang="en-GB" sz="2000" dirty="0" err="1"/>
              <a:t>wave:QRS</a:t>
            </a:r>
            <a:r>
              <a:rPr lang="en-GB" sz="2000" dirty="0"/>
              <a:t> relationship </a:t>
            </a:r>
          </a:p>
        </p:txBody>
      </p:sp>
      <p:sp>
        <p:nvSpPr>
          <p:cNvPr id="114712" name="Text Box 24"/>
          <p:cNvSpPr txBox="1">
            <a:spLocks noChangeArrowheads="1"/>
          </p:cNvSpPr>
          <p:nvPr/>
        </p:nvSpPr>
        <p:spPr bwMode="auto">
          <a:xfrm>
            <a:off x="5151438" y="5400675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unknown </a:t>
            </a:r>
          </a:p>
        </p:txBody>
      </p:sp>
      <p:sp>
        <p:nvSpPr>
          <p:cNvPr id="114713" name="Text Box 25"/>
          <p:cNvSpPr txBox="1">
            <a:spLocks noChangeArrowheads="1"/>
          </p:cNvSpPr>
          <p:nvPr/>
        </p:nvSpPr>
        <p:spPr bwMode="auto">
          <a:xfrm>
            <a:off x="5151438" y="62103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</a:t>
            </a:r>
          </a:p>
        </p:txBody>
      </p:sp>
      <p:sp>
        <p:nvSpPr>
          <p:cNvPr id="114714" name="Rectangle 26"/>
          <p:cNvSpPr>
            <a:spLocks noChangeArrowheads="1"/>
          </p:cNvSpPr>
          <p:nvPr/>
        </p:nvSpPr>
        <p:spPr bwMode="auto">
          <a:xfrm>
            <a:off x="436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6325" y="1371600"/>
            <a:ext cx="7762875" cy="2281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51557" name="Text Box 5"/>
          <p:cNvSpPr txBox="1">
            <a:spLocks noChangeArrowheads="1"/>
          </p:cNvSpPr>
          <p:nvPr/>
        </p:nvSpPr>
        <p:spPr bwMode="auto">
          <a:xfrm>
            <a:off x="957263" y="936625"/>
            <a:ext cx="3824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dirty="0"/>
              <a:t>Causes of </a:t>
            </a:r>
            <a:r>
              <a:rPr lang="en-GB" sz="2000" dirty="0" err="1"/>
              <a:t>atrial</a:t>
            </a:r>
            <a:r>
              <a:rPr lang="en-GB" sz="2000" dirty="0"/>
              <a:t> fibrillation (“AF”)</a:t>
            </a:r>
          </a:p>
        </p:txBody>
      </p:sp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1566863" y="1481138"/>
            <a:ext cx="4059237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Electrolyte disturbances</a:t>
            </a:r>
          </a:p>
          <a:p>
            <a:pPr algn="l"/>
            <a:r>
              <a:rPr lang="en-GB" sz="2000" dirty="0"/>
              <a:t>Sepsis</a:t>
            </a:r>
          </a:p>
          <a:p>
            <a:pPr algn="l"/>
            <a:r>
              <a:rPr lang="en-GB" sz="2000" dirty="0" err="1"/>
              <a:t>Thyrotoxicosis</a:t>
            </a:r>
            <a:endParaRPr lang="en-GB" sz="2000" dirty="0"/>
          </a:p>
          <a:p>
            <a:pPr algn="l"/>
            <a:r>
              <a:rPr lang="en-GB" sz="2000" dirty="0"/>
              <a:t>Excessive sympathetic stimulation</a:t>
            </a:r>
          </a:p>
          <a:p>
            <a:pPr algn="l"/>
            <a:r>
              <a:rPr lang="en-GB" sz="2000" dirty="0"/>
              <a:t>Mitral valve disease</a:t>
            </a:r>
          </a:p>
          <a:p>
            <a:pPr algn="l"/>
            <a:r>
              <a:rPr lang="en-GB" sz="2000" dirty="0" err="1"/>
              <a:t>Pericarditis</a:t>
            </a:r>
            <a:endParaRPr lang="en-GB" sz="2000" dirty="0"/>
          </a:p>
        </p:txBody>
      </p:sp>
      <p:sp>
        <p:nvSpPr>
          <p:cNvPr id="151565" name="Text Box 13"/>
          <p:cNvSpPr txBox="1">
            <a:spLocks noChangeArrowheads="1"/>
          </p:cNvSpPr>
          <p:nvPr/>
        </p:nvSpPr>
        <p:spPr bwMode="auto">
          <a:xfrm>
            <a:off x="957263" y="38179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51566" name="Text Box 14"/>
          <p:cNvSpPr txBox="1">
            <a:spLocks noChangeArrowheads="1"/>
          </p:cNvSpPr>
          <p:nvPr/>
        </p:nvSpPr>
        <p:spPr bwMode="auto">
          <a:xfrm>
            <a:off x="1566863" y="4351338"/>
            <a:ext cx="642620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O</a:t>
            </a:r>
            <a:r>
              <a:rPr lang="en-GB" sz="2000" baseline="-25000"/>
              <a:t>2</a:t>
            </a:r>
          </a:p>
          <a:p>
            <a:pPr algn="l"/>
            <a:r>
              <a:rPr lang="en-GB" sz="2000"/>
              <a:t>Treat underlying cause</a:t>
            </a:r>
          </a:p>
          <a:p>
            <a:pPr algn="l"/>
            <a:r>
              <a:rPr lang="en-GB" sz="2000"/>
              <a:t>Depending on duration, consider</a:t>
            </a:r>
          </a:p>
          <a:p>
            <a:pPr algn="l"/>
            <a:r>
              <a:rPr lang="en-GB" sz="2000"/>
              <a:t>	- electrical cardioversion (synchronised)</a:t>
            </a:r>
          </a:p>
          <a:p>
            <a:pPr algn="l"/>
            <a:r>
              <a:rPr lang="en-GB" sz="2000"/>
              <a:t>	- chemical cardioversion (eg amiodarone)</a:t>
            </a:r>
          </a:p>
          <a:p>
            <a:pPr algn="l"/>
            <a:r>
              <a:rPr lang="en-GB" sz="2000"/>
              <a:t>	- rate control (eg digoxin)</a:t>
            </a:r>
          </a:p>
          <a:p>
            <a:pPr algn="l"/>
            <a:r>
              <a:rPr lang="en-GB" sz="2000"/>
              <a:t>	- consider anticoagulation</a:t>
            </a:r>
          </a:p>
        </p:txBody>
      </p:sp>
      <p:sp>
        <p:nvSpPr>
          <p:cNvPr id="151567" name="Text Box 15"/>
          <p:cNvSpPr txBox="1">
            <a:spLocks noChangeArrowheads="1"/>
          </p:cNvSpPr>
          <p:nvPr/>
        </p:nvSpPr>
        <p:spPr bwMode="auto">
          <a:xfrm>
            <a:off x="5730875" y="1481138"/>
            <a:ext cx="2500313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Hypertension</a:t>
            </a:r>
          </a:p>
          <a:p>
            <a:pPr algn="l"/>
            <a:r>
              <a:rPr lang="en-GB" sz="2000" dirty="0"/>
              <a:t>Ischaemia</a:t>
            </a:r>
          </a:p>
          <a:p>
            <a:pPr algn="l"/>
            <a:r>
              <a:rPr lang="en-GB" sz="2000" dirty="0"/>
              <a:t>Alcohol</a:t>
            </a:r>
          </a:p>
          <a:p>
            <a:pPr algn="l"/>
            <a:r>
              <a:rPr lang="en-GB" sz="2000" dirty="0"/>
              <a:t>Caffeine</a:t>
            </a:r>
          </a:p>
          <a:p>
            <a:pPr algn="l"/>
            <a:r>
              <a:rPr lang="en-GB" sz="2000" dirty="0"/>
              <a:t>Thoracic surgery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1270000" y="946150"/>
            <a:ext cx="40767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Atrial </a:t>
            </a:r>
            <a:r>
              <a:rPr lang="en-GB" sz="2400" dirty="0" smtClean="0"/>
              <a:t>flutter</a:t>
            </a:r>
            <a:endParaRPr lang="en-GB" sz="2400" dirty="0"/>
          </a:p>
        </p:txBody>
      </p:sp>
      <p:sp>
        <p:nvSpPr>
          <p:cNvPr id="112659" name="Text Box 19"/>
          <p:cNvSpPr txBox="1">
            <a:spLocks noChangeArrowheads="1"/>
          </p:cNvSpPr>
          <p:nvPr/>
        </p:nvSpPr>
        <p:spPr bwMode="auto">
          <a:xfrm>
            <a:off x="1585913" y="4343400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12660" name="Text Box 20"/>
          <p:cNvSpPr txBox="1">
            <a:spLocks noChangeArrowheads="1"/>
          </p:cNvSpPr>
          <p:nvPr/>
        </p:nvSpPr>
        <p:spPr bwMode="auto">
          <a:xfrm>
            <a:off x="5151438" y="4419600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approx </a:t>
            </a:r>
            <a:r>
              <a:rPr lang="en-GB" sz="2000" dirty="0" smtClean="0"/>
              <a:t>75 </a:t>
            </a:r>
            <a:r>
              <a:rPr lang="en-GB" sz="2000" dirty="0"/>
              <a:t>bpm</a:t>
            </a:r>
          </a:p>
        </p:txBody>
      </p:sp>
      <p:sp>
        <p:nvSpPr>
          <p:cNvPr id="112661" name="Text Box 21"/>
          <p:cNvSpPr txBox="1">
            <a:spLocks noChangeArrowheads="1"/>
          </p:cNvSpPr>
          <p:nvPr/>
        </p:nvSpPr>
        <p:spPr bwMode="auto">
          <a:xfrm>
            <a:off x="1585913" y="5105400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sinus rhythm?</a:t>
            </a:r>
          </a:p>
        </p:txBody>
      </p:sp>
      <p:sp>
        <p:nvSpPr>
          <p:cNvPr id="112662" name="Text Box 22"/>
          <p:cNvSpPr txBox="1">
            <a:spLocks noChangeArrowheads="1"/>
          </p:cNvSpPr>
          <p:nvPr/>
        </p:nvSpPr>
        <p:spPr bwMode="auto">
          <a:xfrm>
            <a:off x="1598613" y="5638800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PR interval?</a:t>
            </a:r>
          </a:p>
        </p:txBody>
      </p:sp>
      <p:sp>
        <p:nvSpPr>
          <p:cNvPr id="112663" name="Text Box 23"/>
          <p:cNvSpPr txBox="1">
            <a:spLocks noChangeArrowheads="1"/>
          </p:cNvSpPr>
          <p:nvPr/>
        </p:nvSpPr>
        <p:spPr bwMode="auto">
          <a:xfrm>
            <a:off x="1585913" y="62563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QRS duration?</a:t>
            </a:r>
          </a:p>
        </p:txBody>
      </p:sp>
      <p:sp>
        <p:nvSpPr>
          <p:cNvPr id="112665" name="Text Box 25"/>
          <p:cNvSpPr txBox="1">
            <a:spLocks noChangeArrowheads="1"/>
          </p:cNvSpPr>
          <p:nvPr/>
        </p:nvSpPr>
        <p:spPr bwMode="auto">
          <a:xfrm>
            <a:off x="5151438" y="5638800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no normal P waves</a:t>
            </a:r>
          </a:p>
        </p:txBody>
      </p:sp>
      <p:sp>
        <p:nvSpPr>
          <p:cNvPr id="112666" name="Text Box 26"/>
          <p:cNvSpPr txBox="1">
            <a:spLocks noChangeArrowheads="1"/>
          </p:cNvSpPr>
          <p:nvPr/>
        </p:nvSpPr>
        <p:spPr bwMode="auto">
          <a:xfrm>
            <a:off x="5151438" y="62611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</a:t>
            </a:r>
          </a:p>
        </p:txBody>
      </p:sp>
      <p:sp>
        <p:nvSpPr>
          <p:cNvPr id="112667" name="Rectangle 27"/>
          <p:cNvSpPr>
            <a:spLocks noChangeArrowheads="1"/>
          </p:cNvSpPr>
          <p:nvPr/>
        </p:nvSpPr>
        <p:spPr bwMode="auto">
          <a:xfrm>
            <a:off x="436563" y="2397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12916" name="Text Box 276"/>
          <p:cNvSpPr txBox="1">
            <a:spLocks noChangeArrowheads="1"/>
          </p:cNvSpPr>
          <p:nvPr/>
        </p:nvSpPr>
        <p:spPr bwMode="auto">
          <a:xfrm>
            <a:off x="5151438" y="5105400"/>
            <a:ext cx="5461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no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5350" y="1752601"/>
            <a:ext cx="824865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830263" y="936625"/>
            <a:ext cx="2651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Causes of atrial flutter</a:t>
            </a:r>
          </a:p>
        </p:txBody>
      </p:sp>
      <p:sp>
        <p:nvSpPr>
          <p:cNvPr id="154628" name="Text Box 4"/>
          <p:cNvSpPr txBox="1">
            <a:spLocks noChangeArrowheads="1"/>
          </p:cNvSpPr>
          <p:nvPr/>
        </p:nvSpPr>
        <p:spPr bwMode="auto">
          <a:xfrm>
            <a:off x="1668463" y="2006600"/>
            <a:ext cx="4059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As for atrial fibrillation</a:t>
            </a:r>
          </a:p>
        </p:txBody>
      </p:sp>
      <p:sp>
        <p:nvSpPr>
          <p:cNvPr id="154629" name="Text Box 5"/>
          <p:cNvSpPr txBox="1">
            <a:spLocks noChangeArrowheads="1"/>
          </p:cNvSpPr>
          <p:nvPr/>
        </p:nvSpPr>
        <p:spPr bwMode="auto">
          <a:xfrm>
            <a:off x="830263" y="35512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54630" name="Text Box 6"/>
          <p:cNvSpPr txBox="1">
            <a:spLocks noChangeArrowheads="1"/>
          </p:cNvSpPr>
          <p:nvPr/>
        </p:nvSpPr>
        <p:spPr bwMode="auto">
          <a:xfrm>
            <a:off x="1668463" y="4084638"/>
            <a:ext cx="642620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O</a:t>
            </a:r>
            <a:r>
              <a:rPr lang="en-GB" sz="2000" baseline="-25000"/>
              <a:t>2</a:t>
            </a:r>
          </a:p>
          <a:p>
            <a:pPr algn="l"/>
            <a:r>
              <a:rPr lang="en-GB" sz="2000"/>
              <a:t>Treat underlying cause</a:t>
            </a:r>
          </a:p>
          <a:p>
            <a:pPr algn="l"/>
            <a:r>
              <a:rPr lang="en-GB" sz="2000"/>
              <a:t>Depending on duration, consider</a:t>
            </a:r>
          </a:p>
          <a:p>
            <a:pPr algn="l"/>
            <a:r>
              <a:rPr lang="en-GB" sz="2000"/>
              <a:t>	- electrical cardioversion (synchronised)</a:t>
            </a:r>
          </a:p>
          <a:p>
            <a:pPr algn="l"/>
            <a:r>
              <a:rPr lang="en-GB" sz="2000"/>
              <a:t>	- chemical cardioversion (seek expert advice)</a:t>
            </a:r>
          </a:p>
          <a:p>
            <a:pPr algn="l"/>
            <a:r>
              <a:rPr lang="en-GB" sz="2000"/>
              <a:t>	- rate control (seek expert advice)</a:t>
            </a:r>
          </a:p>
          <a:p>
            <a:pPr algn="l"/>
            <a:r>
              <a:rPr lang="en-GB" sz="2000"/>
              <a:t>	- consider anticoagulation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7" name="Text Box 5"/>
          <p:cNvSpPr txBox="1">
            <a:spLocks noChangeArrowheads="1"/>
          </p:cNvSpPr>
          <p:nvPr/>
        </p:nvSpPr>
        <p:spPr bwMode="auto">
          <a:xfrm>
            <a:off x="1371600" y="933450"/>
            <a:ext cx="4030663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Ventricular fibrillation (“VF”)</a:t>
            </a:r>
          </a:p>
        </p:txBody>
      </p:sp>
      <p:sp>
        <p:nvSpPr>
          <p:cNvPr id="120850" name="Text Box 18"/>
          <p:cNvSpPr txBox="1">
            <a:spLocks noChangeArrowheads="1"/>
          </p:cNvSpPr>
          <p:nvPr/>
        </p:nvSpPr>
        <p:spPr bwMode="auto">
          <a:xfrm>
            <a:off x="1687513" y="38084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20851" name="Text Box 19"/>
          <p:cNvSpPr txBox="1">
            <a:spLocks noChangeArrowheads="1"/>
          </p:cNvSpPr>
          <p:nvPr/>
        </p:nvSpPr>
        <p:spPr bwMode="auto">
          <a:xfrm>
            <a:off x="5253038" y="3808413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completely chaotic</a:t>
            </a:r>
          </a:p>
        </p:txBody>
      </p:sp>
      <p:sp>
        <p:nvSpPr>
          <p:cNvPr id="120852" name="Text Box 20"/>
          <p:cNvSpPr txBox="1">
            <a:spLocks noChangeArrowheads="1"/>
          </p:cNvSpPr>
          <p:nvPr/>
        </p:nvSpPr>
        <p:spPr bwMode="auto">
          <a:xfrm>
            <a:off x="1687513" y="46196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sinus rhythm?</a:t>
            </a:r>
          </a:p>
        </p:txBody>
      </p:sp>
      <p:sp>
        <p:nvSpPr>
          <p:cNvPr id="120853" name="Text Box 21"/>
          <p:cNvSpPr txBox="1">
            <a:spLocks noChangeArrowheads="1"/>
          </p:cNvSpPr>
          <p:nvPr/>
        </p:nvSpPr>
        <p:spPr bwMode="auto">
          <a:xfrm>
            <a:off x="1700213" y="54308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PR interval?</a:t>
            </a:r>
          </a:p>
        </p:txBody>
      </p:sp>
      <p:sp>
        <p:nvSpPr>
          <p:cNvPr id="120854" name="Text Box 22"/>
          <p:cNvSpPr txBox="1">
            <a:spLocks noChangeArrowheads="1"/>
          </p:cNvSpPr>
          <p:nvPr/>
        </p:nvSpPr>
        <p:spPr bwMode="auto">
          <a:xfrm>
            <a:off x="1687513" y="62436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QRS duration?</a:t>
            </a:r>
          </a:p>
        </p:txBody>
      </p:sp>
      <p:sp>
        <p:nvSpPr>
          <p:cNvPr id="120855" name="Text Box 23"/>
          <p:cNvSpPr txBox="1">
            <a:spLocks noChangeArrowheads="1"/>
          </p:cNvSpPr>
          <p:nvPr/>
        </p:nvSpPr>
        <p:spPr bwMode="auto">
          <a:xfrm>
            <a:off x="5253038" y="4616450"/>
            <a:ext cx="16732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no </a:t>
            </a:r>
          </a:p>
        </p:txBody>
      </p:sp>
      <p:sp>
        <p:nvSpPr>
          <p:cNvPr id="120856" name="Text Box 24"/>
          <p:cNvSpPr txBox="1">
            <a:spLocks noChangeArrowheads="1"/>
          </p:cNvSpPr>
          <p:nvPr/>
        </p:nvSpPr>
        <p:spPr bwMode="auto">
          <a:xfrm>
            <a:off x="5253038" y="5426075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unknown</a:t>
            </a:r>
          </a:p>
        </p:txBody>
      </p:sp>
      <p:sp>
        <p:nvSpPr>
          <p:cNvPr id="120857" name="Text Box 25"/>
          <p:cNvSpPr txBox="1">
            <a:spLocks noChangeArrowheads="1"/>
          </p:cNvSpPr>
          <p:nvPr/>
        </p:nvSpPr>
        <p:spPr bwMode="auto">
          <a:xfrm>
            <a:off x="5253038" y="62357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unrecognisable</a:t>
            </a:r>
          </a:p>
        </p:txBody>
      </p:sp>
      <p:sp>
        <p:nvSpPr>
          <p:cNvPr id="120858" name="Rectangle 26"/>
          <p:cNvSpPr>
            <a:spLocks noChangeArrowheads="1"/>
          </p:cNvSpPr>
          <p:nvPr/>
        </p:nvSpPr>
        <p:spPr bwMode="auto">
          <a:xfrm>
            <a:off x="538163" y="2270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20860" name="Text Box 28"/>
          <p:cNvSpPr txBox="1">
            <a:spLocks noChangeArrowheads="1"/>
          </p:cNvSpPr>
          <p:nvPr/>
        </p:nvSpPr>
        <p:spPr bwMode="auto">
          <a:xfrm>
            <a:off x="5932488" y="598488"/>
            <a:ext cx="2643187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600"/>
              <a:t>NOTE:</a:t>
            </a:r>
          </a:p>
          <a:p>
            <a:pPr algn="l"/>
            <a:r>
              <a:rPr lang="en-GB" sz="1600"/>
              <a:t>This is incompatible with a viable cardiac output</a:t>
            </a:r>
            <a:endParaRPr lang="en-GB" sz="1600">
              <a:cs typeface="Arial" charset="0"/>
            </a:endParaRP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9675" y="1600200"/>
            <a:ext cx="77057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830263" y="936625"/>
            <a:ext cx="5743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REVERSIBLE causes of VF (from ALS algorithm)</a:t>
            </a: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1209675" y="2157413"/>
            <a:ext cx="3252788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Hypoxia</a:t>
            </a:r>
          </a:p>
          <a:p>
            <a:pPr algn="l"/>
            <a:r>
              <a:rPr lang="en-GB" sz="2000" dirty="0" err="1"/>
              <a:t>Hypovolaemia</a:t>
            </a:r>
            <a:endParaRPr lang="en-GB" sz="2000" dirty="0"/>
          </a:p>
          <a:p>
            <a:pPr algn="l"/>
            <a:r>
              <a:rPr lang="en-GB" sz="2000" dirty="0"/>
              <a:t>Hyper/</a:t>
            </a:r>
            <a:r>
              <a:rPr lang="en-GB" sz="2000" dirty="0" err="1"/>
              <a:t>hypokalaemia</a:t>
            </a:r>
            <a:endParaRPr lang="en-GB" sz="2000" dirty="0"/>
          </a:p>
          <a:p>
            <a:pPr algn="l"/>
            <a:r>
              <a:rPr lang="en-GB" sz="2000" dirty="0"/>
              <a:t>Hypothermia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830263" y="38941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 dirty="0"/>
              <a:t>Brief</a:t>
            </a:r>
            <a:r>
              <a:rPr lang="en-GB" sz="2000" dirty="0"/>
              <a:t> over-view of treatment</a:t>
            </a: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1209675" y="4610100"/>
            <a:ext cx="6426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Advanced Life Support algorithm (ALS)</a:t>
            </a:r>
          </a:p>
          <a:p>
            <a:pPr algn="l"/>
            <a:r>
              <a:rPr lang="en-GB" sz="2000" dirty="0"/>
              <a:t>Identify and treat cause appropriately</a:t>
            </a:r>
          </a:p>
        </p:txBody>
      </p:sp>
      <p:sp>
        <p:nvSpPr>
          <p:cNvPr id="156679" name="Text Box 7"/>
          <p:cNvSpPr txBox="1">
            <a:spLocks noChangeArrowheads="1"/>
          </p:cNvSpPr>
          <p:nvPr/>
        </p:nvSpPr>
        <p:spPr bwMode="auto">
          <a:xfrm>
            <a:off x="4640263" y="2157413"/>
            <a:ext cx="3252787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Tension </a:t>
            </a:r>
            <a:r>
              <a:rPr lang="en-GB" sz="2000" dirty="0" err="1"/>
              <a:t>pneumothorax</a:t>
            </a:r>
            <a:endParaRPr lang="en-GB" sz="2000" dirty="0"/>
          </a:p>
          <a:p>
            <a:pPr algn="l"/>
            <a:r>
              <a:rPr lang="en-GB" sz="2000" dirty="0" err="1"/>
              <a:t>Tamponade</a:t>
            </a:r>
            <a:endParaRPr lang="en-GB" sz="2000" dirty="0"/>
          </a:p>
          <a:p>
            <a:pPr algn="l"/>
            <a:r>
              <a:rPr lang="en-GB" sz="2000" dirty="0" err="1"/>
              <a:t>Thrombo</a:t>
            </a:r>
            <a:r>
              <a:rPr lang="en-GB" sz="2000" dirty="0"/>
              <a:t>-embolism</a:t>
            </a:r>
          </a:p>
          <a:p>
            <a:pPr algn="l"/>
            <a:r>
              <a:rPr lang="en-GB" sz="2000" dirty="0"/>
              <a:t>Toxic (</a:t>
            </a:r>
            <a:r>
              <a:rPr lang="en-GB" sz="2000" dirty="0" err="1"/>
              <a:t>eg</a:t>
            </a:r>
            <a:r>
              <a:rPr lang="en-GB" sz="2000" dirty="0"/>
              <a:t> drugs)</a:t>
            </a:r>
          </a:p>
        </p:txBody>
      </p:sp>
      <p:sp>
        <p:nvSpPr>
          <p:cNvPr id="156680" name="Text Box 8"/>
          <p:cNvSpPr txBox="1">
            <a:spLocks noChangeArrowheads="1"/>
          </p:cNvSpPr>
          <p:nvPr/>
        </p:nvSpPr>
        <p:spPr bwMode="auto">
          <a:xfrm>
            <a:off x="1209675" y="1541463"/>
            <a:ext cx="2593975" cy="406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/>
            <a:r>
              <a:rPr lang="en-GB" sz="2000"/>
              <a:t>The 4 ‘H’s and 4 ‘T’s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1309688" y="936625"/>
            <a:ext cx="4079875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Ventricular </a:t>
            </a:r>
            <a:r>
              <a:rPr lang="en-GB" sz="2400" dirty="0" err="1" smtClean="0"/>
              <a:t>Ectopics</a:t>
            </a:r>
            <a:r>
              <a:rPr lang="en-GB" sz="2400" dirty="0" smtClean="0"/>
              <a:t> </a:t>
            </a:r>
            <a:r>
              <a:rPr lang="en-GB" sz="2400" dirty="0"/>
              <a:t>(“VEs”)</a:t>
            </a:r>
          </a:p>
        </p:txBody>
      </p:sp>
      <p:sp>
        <p:nvSpPr>
          <p:cNvPr id="109586" name="Text Box 18"/>
          <p:cNvSpPr txBox="1">
            <a:spLocks noChangeArrowheads="1"/>
          </p:cNvSpPr>
          <p:nvPr/>
        </p:nvSpPr>
        <p:spPr bwMode="auto">
          <a:xfrm>
            <a:off x="1357313" y="35417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09587" name="Text Box 19"/>
          <p:cNvSpPr txBox="1">
            <a:spLocks noChangeArrowheads="1"/>
          </p:cNvSpPr>
          <p:nvPr/>
        </p:nvSpPr>
        <p:spPr bwMode="auto">
          <a:xfrm>
            <a:off x="4922838" y="3541713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Approx </a:t>
            </a:r>
            <a:r>
              <a:rPr lang="en-GB" sz="2000" dirty="0" smtClean="0"/>
              <a:t>100 </a:t>
            </a:r>
            <a:r>
              <a:rPr lang="en-GB" sz="2000" dirty="0"/>
              <a:t>bpm</a:t>
            </a:r>
          </a:p>
        </p:txBody>
      </p:sp>
      <p:sp>
        <p:nvSpPr>
          <p:cNvPr id="109588" name="Text Box 20"/>
          <p:cNvSpPr txBox="1">
            <a:spLocks noChangeArrowheads="1"/>
          </p:cNvSpPr>
          <p:nvPr/>
        </p:nvSpPr>
        <p:spPr bwMode="auto">
          <a:xfrm>
            <a:off x="1357313" y="43529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sinus rhythm?</a:t>
            </a:r>
          </a:p>
        </p:txBody>
      </p:sp>
      <p:sp>
        <p:nvSpPr>
          <p:cNvPr id="109589" name="Text Box 21"/>
          <p:cNvSpPr txBox="1">
            <a:spLocks noChangeArrowheads="1"/>
          </p:cNvSpPr>
          <p:nvPr/>
        </p:nvSpPr>
        <p:spPr bwMode="auto">
          <a:xfrm>
            <a:off x="1370013" y="51641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PR interval?</a:t>
            </a:r>
          </a:p>
        </p:txBody>
      </p:sp>
      <p:sp>
        <p:nvSpPr>
          <p:cNvPr id="109590" name="Text Box 22"/>
          <p:cNvSpPr txBox="1">
            <a:spLocks noChangeArrowheads="1"/>
          </p:cNvSpPr>
          <p:nvPr/>
        </p:nvSpPr>
        <p:spPr bwMode="auto">
          <a:xfrm>
            <a:off x="1357313" y="59769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QRS duration?</a:t>
            </a:r>
          </a:p>
        </p:txBody>
      </p:sp>
      <p:sp>
        <p:nvSpPr>
          <p:cNvPr id="109591" name="Text Box 23"/>
          <p:cNvSpPr txBox="1">
            <a:spLocks noChangeArrowheads="1"/>
          </p:cNvSpPr>
          <p:nvPr/>
        </p:nvSpPr>
        <p:spPr bwMode="auto">
          <a:xfrm>
            <a:off x="4922838" y="4349750"/>
            <a:ext cx="3676650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yes; but with superimposed abnormal QRS complexes </a:t>
            </a:r>
          </a:p>
        </p:txBody>
      </p:sp>
      <p:sp>
        <p:nvSpPr>
          <p:cNvPr id="109592" name="Text Box 24"/>
          <p:cNvSpPr txBox="1">
            <a:spLocks noChangeArrowheads="1"/>
          </p:cNvSpPr>
          <p:nvPr/>
        </p:nvSpPr>
        <p:spPr bwMode="auto">
          <a:xfrm>
            <a:off x="4922838" y="5159375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0.2 s (normal)</a:t>
            </a:r>
          </a:p>
        </p:txBody>
      </p:sp>
      <p:sp>
        <p:nvSpPr>
          <p:cNvPr id="109593" name="Text Box 25"/>
          <p:cNvSpPr txBox="1">
            <a:spLocks noChangeArrowheads="1"/>
          </p:cNvSpPr>
          <p:nvPr/>
        </p:nvSpPr>
        <p:spPr bwMode="auto">
          <a:xfrm>
            <a:off x="4922838" y="5969000"/>
            <a:ext cx="3890962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… except for the abnormal complexes</a:t>
            </a:r>
          </a:p>
        </p:txBody>
      </p:sp>
      <p:sp>
        <p:nvSpPr>
          <p:cNvPr id="109594" name="Rectangle 26"/>
          <p:cNvSpPr>
            <a:spLocks noChangeArrowheads="1"/>
          </p:cNvSpPr>
          <p:nvPr/>
        </p:nvSpPr>
        <p:spPr bwMode="auto">
          <a:xfrm>
            <a:off x="538163" y="2270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09598" name="Text Box 30"/>
          <p:cNvSpPr txBox="1">
            <a:spLocks noChangeArrowheads="1"/>
          </p:cNvSpPr>
          <p:nvPr/>
        </p:nvSpPr>
        <p:spPr bwMode="auto">
          <a:xfrm>
            <a:off x="5678488" y="598488"/>
            <a:ext cx="31178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600"/>
              <a:t>NOTE:</a:t>
            </a:r>
          </a:p>
          <a:p>
            <a:pPr algn="l"/>
            <a:r>
              <a:rPr lang="en-GB" sz="1600"/>
              <a:t>These require experience to recognise</a:t>
            </a:r>
            <a:endParaRPr lang="en-GB" sz="1600">
              <a:cs typeface="Arial" charset="0"/>
            </a:endParaRPr>
          </a:p>
        </p:txBody>
      </p:sp>
      <p:pic>
        <p:nvPicPr>
          <p:cNvPr id="14" name="Picture 13" descr="C:\Users\pc\Desktop\ECG1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819275"/>
            <a:ext cx="76962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57699" name="Text Box 3"/>
          <p:cNvSpPr txBox="1">
            <a:spLocks noChangeArrowheads="1"/>
          </p:cNvSpPr>
          <p:nvPr/>
        </p:nvSpPr>
        <p:spPr bwMode="auto">
          <a:xfrm>
            <a:off x="830263" y="936625"/>
            <a:ext cx="3570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Causes of ventricular ectopics</a:t>
            </a: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1317625" y="1562100"/>
            <a:ext cx="3252788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Idiopathic</a:t>
            </a:r>
          </a:p>
          <a:p>
            <a:pPr algn="l"/>
            <a:r>
              <a:rPr lang="en-GB" sz="2000" dirty="0"/>
              <a:t>Electrolyte disturbance</a:t>
            </a:r>
          </a:p>
          <a:p>
            <a:pPr algn="l"/>
            <a:r>
              <a:rPr lang="en-GB" sz="2000" dirty="0"/>
              <a:t>Halothane</a:t>
            </a:r>
          </a:p>
          <a:p>
            <a:pPr algn="l"/>
            <a:r>
              <a:rPr lang="en-GB" sz="2000" dirty="0"/>
              <a:t>Light anaesthesia</a:t>
            </a:r>
          </a:p>
          <a:p>
            <a:pPr algn="l"/>
            <a:r>
              <a:rPr lang="en-GB" sz="2000" dirty="0"/>
              <a:t>Raised CO</a:t>
            </a:r>
            <a:r>
              <a:rPr lang="en-GB" sz="2000" baseline="-25000" dirty="0"/>
              <a:t>2</a:t>
            </a:r>
          </a:p>
          <a:p>
            <a:pPr algn="l"/>
            <a:r>
              <a:rPr lang="en-GB" sz="2000" dirty="0"/>
              <a:t>Surgical stimulation</a:t>
            </a: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830263" y="37036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1317625" y="4273550"/>
            <a:ext cx="6426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If no structural heart disease, these are usually benign</a:t>
            </a:r>
          </a:p>
          <a:p>
            <a:pPr algn="l"/>
            <a:r>
              <a:rPr lang="en-GB" sz="2000"/>
              <a:t>Treat underlying cause</a:t>
            </a:r>
          </a:p>
          <a:p>
            <a:pPr algn="l"/>
            <a:r>
              <a:rPr lang="en-GB" sz="2000"/>
              <a:t>(could consider low dose beta-blocker)</a:t>
            </a: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1317625" y="5454650"/>
            <a:ext cx="6426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If the P waves are slow, ectopic beats may be ‘ventricular escape beats’ (consider atropine)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3" name="Text Box 5"/>
          <p:cNvSpPr txBox="1">
            <a:spLocks noChangeArrowheads="1"/>
          </p:cNvSpPr>
          <p:nvPr/>
        </p:nvSpPr>
        <p:spPr bwMode="auto">
          <a:xfrm>
            <a:off x="1371600" y="933450"/>
            <a:ext cx="44831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Ventricular tachycardia (“VT”)</a:t>
            </a:r>
          </a:p>
        </p:txBody>
      </p:sp>
      <p:sp>
        <p:nvSpPr>
          <p:cNvPr id="124946" name="Text Box 18"/>
          <p:cNvSpPr txBox="1">
            <a:spLocks noChangeArrowheads="1"/>
          </p:cNvSpPr>
          <p:nvPr/>
        </p:nvSpPr>
        <p:spPr bwMode="auto">
          <a:xfrm>
            <a:off x="1230313" y="37703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24947" name="Text Box 19"/>
          <p:cNvSpPr txBox="1">
            <a:spLocks noChangeArrowheads="1"/>
          </p:cNvSpPr>
          <p:nvPr/>
        </p:nvSpPr>
        <p:spPr bwMode="auto">
          <a:xfrm>
            <a:off x="4859338" y="3770313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Approx </a:t>
            </a:r>
            <a:r>
              <a:rPr lang="en-GB" sz="2000" dirty="0" smtClean="0"/>
              <a:t>167 </a:t>
            </a:r>
            <a:r>
              <a:rPr lang="en-GB" sz="2000" dirty="0"/>
              <a:t>bpm</a:t>
            </a:r>
          </a:p>
        </p:txBody>
      </p:sp>
      <p:sp>
        <p:nvSpPr>
          <p:cNvPr id="124948" name="Text Box 20"/>
          <p:cNvSpPr txBox="1">
            <a:spLocks noChangeArrowheads="1"/>
          </p:cNvSpPr>
          <p:nvPr/>
        </p:nvSpPr>
        <p:spPr bwMode="auto">
          <a:xfrm>
            <a:off x="1230313" y="45815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sinus rhythm?</a:t>
            </a:r>
          </a:p>
        </p:txBody>
      </p:sp>
      <p:sp>
        <p:nvSpPr>
          <p:cNvPr id="124949" name="Text Box 21"/>
          <p:cNvSpPr txBox="1">
            <a:spLocks noChangeArrowheads="1"/>
          </p:cNvSpPr>
          <p:nvPr/>
        </p:nvSpPr>
        <p:spPr bwMode="auto">
          <a:xfrm>
            <a:off x="1243013" y="53927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PR interval?</a:t>
            </a:r>
          </a:p>
        </p:txBody>
      </p:sp>
      <p:sp>
        <p:nvSpPr>
          <p:cNvPr id="124950" name="Text Box 22"/>
          <p:cNvSpPr txBox="1">
            <a:spLocks noChangeArrowheads="1"/>
          </p:cNvSpPr>
          <p:nvPr/>
        </p:nvSpPr>
        <p:spPr bwMode="auto">
          <a:xfrm>
            <a:off x="1230313" y="62055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QRS duration?</a:t>
            </a:r>
          </a:p>
        </p:txBody>
      </p:sp>
      <p:sp>
        <p:nvSpPr>
          <p:cNvPr id="124951" name="Text Box 23"/>
          <p:cNvSpPr txBox="1">
            <a:spLocks noChangeArrowheads="1"/>
          </p:cNvSpPr>
          <p:nvPr/>
        </p:nvSpPr>
        <p:spPr bwMode="auto">
          <a:xfrm>
            <a:off x="4859338" y="4578350"/>
            <a:ext cx="3910012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no (no P waves, but </a:t>
            </a:r>
            <a:r>
              <a:rPr lang="en-GB" sz="2000" b="1" dirty="0"/>
              <a:t>fairly regular</a:t>
            </a:r>
            <a:r>
              <a:rPr lang="en-GB" sz="2000" dirty="0"/>
              <a:t> (abnormal) QRS complexes)</a:t>
            </a:r>
          </a:p>
        </p:txBody>
      </p:sp>
      <p:sp>
        <p:nvSpPr>
          <p:cNvPr id="124952" name="Text Box 24"/>
          <p:cNvSpPr txBox="1">
            <a:spLocks noChangeArrowheads="1"/>
          </p:cNvSpPr>
          <p:nvPr/>
        </p:nvSpPr>
        <p:spPr bwMode="auto">
          <a:xfrm>
            <a:off x="4859338" y="5387975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not known</a:t>
            </a:r>
          </a:p>
        </p:txBody>
      </p:sp>
      <p:sp>
        <p:nvSpPr>
          <p:cNvPr id="124953" name="Text Box 25"/>
          <p:cNvSpPr txBox="1">
            <a:spLocks noChangeArrowheads="1"/>
          </p:cNvSpPr>
          <p:nvPr/>
        </p:nvSpPr>
        <p:spPr bwMode="auto">
          <a:xfrm>
            <a:off x="4859338" y="61976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‘broad’; &gt; 0.12 s</a:t>
            </a:r>
          </a:p>
        </p:txBody>
      </p:sp>
      <p:sp>
        <p:nvSpPr>
          <p:cNvPr id="124954" name="Rectangle 26"/>
          <p:cNvSpPr>
            <a:spLocks noChangeArrowheads="1"/>
          </p:cNvSpPr>
          <p:nvPr/>
        </p:nvSpPr>
        <p:spPr bwMode="auto">
          <a:xfrm>
            <a:off x="538163" y="2270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24956" name="Text Box 28"/>
          <p:cNvSpPr txBox="1">
            <a:spLocks noChangeArrowheads="1"/>
          </p:cNvSpPr>
          <p:nvPr/>
        </p:nvSpPr>
        <p:spPr bwMode="auto">
          <a:xfrm>
            <a:off x="5799138" y="890588"/>
            <a:ext cx="31178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600"/>
              <a:t>NOTE:</a:t>
            </a:r>
          </a:p>
          <a:p>
            <a:pPr algn="l"/>
            <a:r>
              <a:rPr lang="en-GB" sz="1600"/>
              <a:t>This requires urgent treatment</a:t>
            </a:r>
            <a:endParaRPr lang="en-GB" sz="1600">
              <a:cs typeface="Arial" charset="0"/>
            </a:endParaRP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676400"/>
            <a:ext cx="8153400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525463" y="936625"/>
            <a:ext cx="46688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Causes of ventricular tachycardia (“VT”)</a:t>
            </a:r>
          </a:p>
        </p:txBody>
      </p:sp>
      <p:sp>
        <p:nvSpPr>
          <p:cNvPr id="158724" name="Text Box 4"/>
          <p:cNvSpPr txBox="1">
            <a:spLocks noChangeArrowheads="1"/>
          </p:cNvSpPr>
          <p:nvPr/>
        </p:nvSpPr>
        <p:spPr bwMode="auto">
          <a:xfrm>
            <a:off x="1050925" y="1600200"/>
            <a:ext cx="43815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Myocardial ischaemia</a:t>
            </a:r>
          </a:p>
          <a:p>
            <a:pPr algn="l"/>
            <a:r>
              <a:rPr lang="en-GB" sz="2000" dirty="0"/>
              <a:t>Hypoxia</a:t>
            </a:r>
          </a:p>
          <a:p>
            <a:pPr algn="l"/>
            <a:r>
              <a:rPr lang="en-GB" sz="2000" dirty="0"/>
              <a:t>Hypotension</a:t>
            </a:r>
          </a:p>
          <a:p>
            <a:pPr algn="l"/>
            <a:r>
              <a:rPr lang="en-GB" sz="2000" dirty="0"/>
              <a:t>Fluid overload</a:t>
            </a:r>
          </a:p>
          <a:p>
            <a:pPr algn="l"/>
            <a:r>
              <a:rPr lang="en-GB" sz="2000" dirty="0"/>
              <a:t>Electrolyte imbalance</a:t>
            </a:r>
          </a:p>
          <a:p>
            <a:pPr algn="l"/>
            <a:r>
              <a:rPr lang="en-GB" sz="2000" dirty="0"/>
              <a:t>Adrenaline (or other </a:t>
            </a:r>
            <a:r>
              <a:rPr lang="en-GB" sz="2000" dirty="0" err="1"/>
              <a:t>catecholamines</a:t>
            </a:r>
            <a:r>
              <a:rPr lang="en-GB" sz="2000" dirty="0"/>
              <a:t>)</a:t>
            </a:r>
          </a:p>
        </p:txBody>
      </p:sp>
      <p:sp>
        <p:nvSpPr>
          <p:cNvPr id="158725" name="Text Box 5"/>
          <p:cNvSpPr txBox="1">
            <a:spLocks noChangeArrowheads="1"/>
          </p:cNvSpPr>
          <p:nvPr/>
        </p:nvSpPr>
        <p:spPr bwMode="auto">
          <a:xfrm>
            <a:off x="525463" y="42497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58726" name="Text Box 6"/>
          <p:cNvSpPr txBox="1">
            <a:spLocks noChangeArrowheads="1"/>
          </p:cNvSpPr>
          <p:nvPr/>
        </p:nvSpPr>
        <p:spPr bwMode="auto">
          <a:xfrm>
            <a:off x="1050925" y="4891088"/>
            <a:ext cx="754221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Call for ‘HELP’</a:t>
            </a:r>
          </a:p>
          <a:p>
            <a:pPr algn="l"/>
            <a:r>
              <a:rPr lang="en-GB" sz="2000" dirty="0"/>
              <a:t>If </a:t>
            </a:r>
            <a:r>
              <a:rPr lang="en-GB" sz="2000" dirty="0" err="1"/>
              <a:t>pulseless</a:t>
            </a:r>
            <a:r>
              <a:rPr lang="en-GB" sz="2000" dirty="0"/>
              <a:t>; as for ALS algorithm</a:t>
            </a:r>
          </a:p>
          <a:p>
            <a:pPr algn="l"/>
            <a:r>
              <a:rPr lang="en-GB" sz="2000" dirty="0"/>
              <a:t>If unstable; DC </a:t>
            </a:r>
            <a:r>
              <a:rPr lang="en-GB" sz="2000" dirty="0" err="1"/>
              <a:t>cardioversion</a:t>
            </a:r>
            <a:endParaRPr lang="en-GB" sz="2000" dirty="0"/>
          </a:p>
          <a:p>
            <a:pPr algn="l"/>
            <a:r>
              <a:rPr lang="en-GB" sz="2000" dirty="0"/>
              <a:t>If stable; consider </a:t>
            </a:r>
            <a:r>
              <a:rPr lang="en-GB" sz="2000" dirty="0" err="1"/>
              <a:t>amiodarone</a:t>
            </a:r>
            <a:r>
              <a:rPr lang="en-GB" sz="2000" dirty="0"/>
              <a:t> (expert advice required urgently)</a:t>
            </a:r>
          </a:p>
        </p:txBody>
      </p:sp>
      <p:sp>
        <p:nvSpPr>
          <p:cNvPr id="158729" name="Text Box 9"/>
          <p:cNvSpPr txBox="1">
            <a:spLocks noChangeArrowheads="1"/>
          </p:cNvSpPr>
          <p:nvPr/>
        </p:nvSpPr>
        <p:spPr bwMode="auto">
          <a:xfrm>
            <a:off x="5499100" y="955675"/>
            <a:ext cx="30607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This is an EMERGENCY!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436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45413" name="Text Box 5"/>
          <p:cNvSpPr txBox="1">
            <a:spLocks noChangeArrowheads="1"/>
          </p:cNvSpPr>
          <p:nvPr/>
        </p:nvSpPr>
        <p:spPr bwMode="auto">
          <a:xfrm>
            <a:off x="436563" y="746125"/>
            <a:ext cx="6219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information can be derived from a 3–lead ECG?</a:t>
            </a:r>
          </a:p>
        </p:txBody>
      </p:sp>
      <p:sp>
        <p:nvSpPr>
          <p:cNvPr id="145414" name="Text Box 6"/>
          <p:cNvSpPr txBox="1">
            <a:spLocks noChangeArrowheads="1"/>
          </p:cNvSpPr>
          <p:nvPr/>
        </p:nvSpPr>
        <p:spPr bwMode="auto">
          <a:xfrm>
            <a:off x="436563" y="1303338"/>
            <a:ext cx="40084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(3) Conduction abnormalities</a:t>
            </a:r>
          </a:p>
        </p:txBody>
      </p:sp>
      <p:sp>
        <p:nvSpPr>
          <p:cNvPr id="145415" name="Text Box 7"/>
          <p:cNvSpPr txBox="1">
            <a:spLocks noChangeArrowheads="1"/>
          </p:cNvSpPr>
          <p:nvPr/>
        </p:nvSpPr>
        <p:spPr bwMode="auto">
          <a:xfrm>
            <a:off x="736600" y="1838325"/>
            <a:ext cx="29876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There are many possible sites of conduction abnormality</a:t>
            </a:r>
          </a:p>
        </p:txBody>
      </p:sp>
      <p:sp>
        <p:nvSpPr>
          <p:cNvPr id="145419" name="Text Box 11"/>
          <p:cNvSpPr txBox="1">
            <a:spLocks noChangeArrowheads="1"/>
          </p:cNvSpPr>
          <p:nvPr/>
        </p:nvSpPr>
        <p:spPr bwMode="auto">
          <a:xfrm>
            <a:off x="4024313" y="1838325"/>
            <a:ext cx="4860925" cy="2530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u="sng"/>
              <a:t>Slow:</a:t>
            </a:r>
          </a:p>
          <a:p>
            <a:pPr algn="l">
              <a:buFontTx/>
              <a:buChar char="•"/>
            </a:pPr>
            <a:r>
              <a:rPr lang="en-GB" sz="2000"/>
              <a:t> Atrial / AV node</a:t>
            </a:r>
          </a:p>
          <a:p>
            <a:pPr algn="l">
              <a:buFontTx/>
              <a:buChar char="•"/>
            </a:pPr>
            <a:r>
              <a:rPr lang="en-GB" sz="2000"/>
              <a:t> Bundle of His</a:t>
            </a:r>
          </a:p>
          <a:p>
            <a:pPr algn="l">
              <a:buFontTx/>
              <a:buChar char="•"/>
            </a:pPr>
            <a:r>
              <a:rPr lang="en-GB" sz="2000"/>
              <a:t> Left or right bundles</a:t>
            </a:r>
          </a:p>
          <a:p>
            <a:pPr algn="l">
              <a:buFontTx/>
              <a:buChar char="•"/>
            </a:pPr>
            <a:r>
              <a:rPr lang="en-GB" sz="2000"/>
              <a:t> Conducting fascicles</a:t>
            </a:r>
          </a:p>
          <a:p>
            <a:pPr algn="l"/>
            <a:endParaRPr lang="en-GB" sz="2000"/>
          </a:p>
          <a:p>
            <a:pPr algn="l"/>
            <a:r>
              <a:rPr lang="en-GB" sz="2000" u="sng"/>
              <a:t>Aberrant </a:t>
            </a:r>
            <a:r>
              <a:rPr lang="en-GB" sz="2000"/>
              <a:t>(i.e. pathways which should not be there)</a:t>
            </a:r>
          </a:p>
        </p:txBody>
      </p:sp>
      <p:sp>
        <p:nvSpPr>
          <p:cNvPr id="145425" name="Text Box 17"/>
          <p:cNvSpPr txBox="1">
            <a:spLocks noChangeArrowheads="1"/>
          </p:cNvSpPr>
          <p:nvPr/>
        </p:nvSpPr>
        <p:spPr bwMode="auto">
          <a:xfrm>
            <a:off x="4024313" y="4822825"/>
            <a:ext cx="4860925" cy="1006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We will concentrate on AV node conduction problems (which are the most common)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1163638" y="774700"/>
            <a:ext cx="3970337" cy="8223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First degree heart block (“1</a:t>
            </a:r>
            <a:r>
              <a:rPr lang="en-GB" sz="2400" baseline="30000" dirty="0"/>
              <a:t>st</a:t>
            </a:r>
            <a:r>
              <a:rPr lang="en-GB" sz="2400" dirty="0"/>
              <a:t> DHB”)</a:t>
            </a:r>
          </a:p>
        </p:txBody>
      </p:sp>
      <p:sp>
        <p:nvSpPr>
          <p:cNvPr id="121874" name="Text Box 18"/>
          <p:cNvSpPr txBox="1">
            <a:spLocks noChangeArrowheads="1"/>
          </p:cNvSpPr>
          <p:nvPr/>
        </p:nvSpPr>
        <p:spPr bwMode="auto">
          <a:xfrm>
            <a:off x="1687513" y="38084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21875" name="Text Box 19"/>
          <p:cNvSpPr txBox="1">
            <a:spLocks noChangeArrowheads="1"/>
          </p:cNvSpPr>
          <p:nvPr/>
        </p:nvSpPr>
        <p:spPr bwMode="auto">
          <a:xfrm>
            <a:off x="5253038" y="3808413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Approx 60 bpm</a:t>
            </a:r>
          </a:p>
        </p:txBody>
      </p:sp>
      <p:sp>
        <p:nvSpPr>
          <p:cNvPr id="121876" name="Text Box 20"/>
          <p:cNvSpPr txBox="1">
            <a:spLocks noChangeArrowheads="1"/>
          </p:cNvSpPr>
          <p:nvPr/>
        </p:nvSpPr>
        <p:spPr bwMode="auto">
          <a:xfrm>
            <a:off x="1687513" y="46196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Is it sinus rhythm?</a:t>
            </a:r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1700213" y="54308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PR interval?</a:t>
            </a:r>
          </a:p>
        </p:txBody>
      </p:sp>
      <p:sp>
        <p:nvSpPr>
          <p:cNvPr id="121878" name="Text Box 22"/>
          <p:cNvSpPr txBox="1">
            <a:spLocks noChangeArrowheads="1"/>
          </p:cNvSpPr>
          <p:nvPr/>
        </p:nvSpPr>
        <p:spPr bwMode="auto">
          <a:xfrm>
            <a:off x="1687513" y="62436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QRS duration?</a:t>
            </a:r>
          </a:p>
        </p:txBody>
      </p:sp>
      <p:sp>
        <p:nvSpPr>
          <p:cNvPr id="121879" name="Text Box 23"/>
          <p:cNvSpPr txBox="1">
            <a:spLocks noChangeArrowheads="1"/>
          </p:cNvSpPr>
          <p:nvPr/>
        </p:nvSpPr>
        <p:spPr bwMode="auto">
          <a:xfrm>
            <a:off x="5253038" y="4616450"/>
            <a:ext cx="367665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yes </a:t>
            </a:r>
          </a:p>
        </p:txBody>
      </p:sp>
      <p:sp>
        <p:nvSpPr>
          <p:cNvPr id="121880" name="Text Box 24"/>
          <p:cNvSpPr txBox="1">
            <a:spLocks noChangeArrowheads="1"/>
          </p:cNvSpPr>
          <p:nvPr/>
        </p:nvSpPr>
        <p:spPr bwMode="auto">
          <a:xfrm>
            <a:off x="5253038" y="5426075"/>
            <a:ext cx="25304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&gt; 0.2 s (</a:t>
            </a:r>
            <a:r>
              <a:rPr lang="en-GB" sz="2000" b="1" dirty="0"/>
              <a:t>prolonged</a:t>
            </a:r>
            <a:r>
              <a:rPr lang="en-GB" sz="2000" dirty="0"/>
              <a:t>)</a:t>
            </a:r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5253038" y="62357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</a:t>
            </a:r>
          </a:p>
        </p:txBody>
      </p:sp>
      <p:sp>
        <p:nvSpPr>
          <p:cNvPr id="121882" name="Rectangle 26"/>
          <p:cNvSpPr>
            <a:spLocks noChangeArrowheads="1"/>
          </p:cNvSpPr>
          <p:nvPr/>
        </p:nvSpPr>
        <p:spPr bwMode="auto">
          <a:xfrm>
            <a:off x="538163" y="2270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pic>
        <p:nvPicPr>
          <p:cNvPr id="13" name="Picture 15" descr="1AV-m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82775"/>
            <a:ext cx="7772400" cy="154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61795" name="Text Box 3"/>
          <p:cNvSpPr txBox="1">
            <a:spLocks noChangeArrowheads="1"/>
          </p:cNvSpPr>
          <p:nvPr/>
        </p:nvSpPr>
        <p:spPr bwMode="auto">
          <a:xfrm>
            <a:off x="525463" y="936625"/>
            <a:ext cx="22748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dirty="0"/>
              <a:t>Causes of 1</a:t>
            </a:r>
            <a:r>
              <a:rPr lang="en-GB" sz="2000" baseline="30000" dirty="0"/>
              <a:t>st</a:t>
            </a:r>
            <a:r>
              <a:rPr lang="en-GB" sz="2000" dirty="0"/>
              <a:t> DHB</a:t>
            </a:r>
          </a:p>
        </p:txBody>
      </p:sp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1050925" y="1600200"/>
            <a:ext cx="43815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Idiopathic (benign</a:t>
            </a:r>
            <a:r>
              <a:rPr lang="en-GB" sz="2000" dirty="0" smtClean="0"/>
              <a:t>)</a:t>
            </a:r>
          </a:p>
          <a:p>
            <a:r>
              <a:rPr lang="en-US" altLang="en-US" sz="2000" dirty="0" smtClean="0"/>
              <a:t>Prolonged conduction delay in the AV node or Bundle of His.</a:t>
            </a:r>
          </a:p>
          <a:p>
            <a:pPr algn="l"/>
            <a:endParaRPr lang="en-GB" sz="2000" dirty="0"/>
          </a:p>
        </p:txBody>
      </p:sp>
      <p:sp>
        <p:nvSpPr>
          <p:cNvPr id="161797" name="Text Box 5"/>
          <p:cNvSpPr txBox="1">
            <a:spLocks noChangeArrowheads="1"/>
          </p:cNvSpPr>
          <p:nvPr/>
        </p:nvSpPr>
        <p:spPr bwMode="auto">
          <a:xfrm>
            <a:off x="525463" y="42497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1050925" y="4891088"/>
            <a:ext cx="528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None required in the absence of symptoms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5" name="Text Box 5"/>
          <p:cNvSpPr txBox="1">
            <a:spLocks noChangeArrowheads="1"/>
          </p:cNvSpPr>
          <p:nvPr/>
        </p:nvSpPr>
        <p:spPr bwMode="auto">
          <a:xfrm>
            <a:off x="825500" y="755650"/>
            <a:ext cx="4278313" cy="8223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Second degree heart block (</a:t>
            </a:r>
            <a:r>
              <a:rPr lang="en-GB" sz="2400" dirty="0" err="1"/>
              <a:t>Mobitz</a:t>
            </a:r>
            <a:r>
              <a:rPr lang="en-GB" sz="2400" dirty="0"/>
              <a:t> Type I / </a:t>
            </a:r>
            <a:r>
              <a:rPr lang="en-GB" sz="2400" dirty="0" err="1"/>
              <a:t>Wenkebach</a:t>
            </a:r>
            <a:r>
              <a:rPr lang="en-GB" sz="2400" dirty="0"/>
              <a:t>)</a:t>
            </a:r>
          </a:p>
        </p:txBody>
      </p:sp>
      <p:sp>
        <p:nvSpPr>
          <p:cNvPr id="122898" name="Text Box 18"/>
          <p:cNvSpPr txBox="1">
            <a:spLocks noChangeArrowheads="1"/>
          </p:cNvSpPr>
          <p:nvPr/>
        </p:nvSpPr>
        <p:spPr bwMode="auto">
          <a:xfrm>
            <a:off x="1166813" y="37830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22899" name="Text Box 19"/>
          <p:cNvSpPr txBox="1">
            <a:spLocks noChangeArrowheads="1"/>
          </p:cNvSpPr>
          <p:nvPr/>
        </p:nvSpPr>
        <p:spPr bwMode="auto">
          <a:xfrm>
            <a:off x="4732338" y="3694113"/>
            <a:ext cx="3579812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Background of </a:t>
            </a:r>
            <a:r>
              <a:rPr lang="en-GB" sz="2000" dirty="0" smtClean="0"/>
              <a:t>60 </a:t>
            </a:r>
            <a:r>
              <a:rPr lang="en-GB" sz="2000" dirty="0"/>
              <a:t>bpm with missed beats</a:t>
            </a:r>
          </a:p>
        </p:txBody>
      </p:sp>
      <p:sp>
        <p:nvSpPr>
          <p:cNvPr id="122900" name="Text Box 20"/>
          <p:cNvSpPr txBox="1">
            <a:spLocks noChangeArrowheads="1"/>
          </p:cNvSpPr>
          <p:nvPr/>
        </p:nvSpPr>
        <p:spPr bwMode="auto">
          <a:xfrm>
            <a:off x="1166813" y="45942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Is it sinus rhythm?</a:t>
            </a:r>
          </a:p>
        </p:txBody>
      </p:sp>
      <p:sp>
        <p:nvSpPr>
          <p:cNvPr id="122901" name="Text Box 21"/>
          <p:cNvSpPr txBox="1">
            <a:spLocks noChangeArrowheads="1"/>
          </p:cNvSpPr>
          <p:nvPr/>
        </p:nvSpPr>
        <p:spPr bwMode="auto">
          <a:xfrm>
            <a:off x="1179513" y="54054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PR interval?</a:t>
            </a:r>
          </a:p>
        </p:txBody>
      </p:sp>
      <p:sp>
        <p:nvSpPr>
          <p:cNvPr id="122902" name="Text Box 22"/>
          <p:cNvSpPr txBox="1">
            <a:spLocks noChangeArrowheads="1"/>
          </p:cNvSpPr>
          <p:nvPr/>
        </p:nvSpPr>
        <p:spPr bwMode="auto">
          <a:xfrm>
            <a:off x="1166813" y="62182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QRS duration?</a:t>
            </a:r>
          </a:p>
        </p:txBody>
      </p:sp>
      <p:sp>
        <p:nvSpPr>
          <p:cNvPr id="122903" name="Text Box 23"/>
          <p:cNvSpPr txBox="1">
            <a:spLocks noChangeArrowheads="1"/>
          </p:cNvSpPr>
          <p:nvPr/>
        </p:nvSpPr>
        <p:spPr bwMode="auto">
          <a:xfrm>
            <a:off x="4732338" y="4591050"/>
            <a:ext cx="3676650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yes, but with some missed QRS complexes </a:t>
            </a:r>
          </a:p>
        </p:txBody>
      </p:sp>
      <p:sp>
        <p:nvSpPr>
          <p:cNvPr id="122904" name="Text Box 24"/>
          <p:cNvSpPr txBox="1">
            <a:spLocks noChangeArrowheads="1"/>
          </p:cNvSpPr>
          <p:nvPr/>
        </p:nvSpPr>
        <p:spPr bwMode="auto">
          <a:xfrm>
            <a:off x="4732338" y="5400675"/>
            <a:ext cx="4259262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2000" b="1" dirty="0"/>
              <a:t>prolongs with each successive beat</a:t>
            </a:r>
          </a:p>
        </p:txBody>
      </p:sp>
      <p:sp>
        <p:nvSpPr>
          <p:cNvPr id="122905" name="Text Box 25"/>
          <p:cNvSpPr txBox="1">
            <a:spLocks noChangeArrowheads="1"/>
          </p:cNvSpPr>
          <p:nvPr/>
        </p:nvSpPr>
        <p:spPr bwMode="auto">
          <a:xfrm>
            <a:off x="4732338" y="62103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</a:t>
            </a:r>
          </a:p>
        </p:txBody>
      </p:sp>
      <p:sp>
        <p:nvSpPr>
          <p:cNvPr id="122906" name="Rectangle 26"/>
          <p:cNvSpPr>
            <a:spLocks noChangeArrowheads="1"/>
          </p:cNvSpPr>
          <p:nvPr/>
        </p:nvSpPr>
        <p:spPr bwMode="auto">
          <a:xfrm>
            <a:off x="4619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22908" name="Text Box 28"/>
          <p:cNvSpPr txBox="1">
            <a:spLocks noChangeArrowheads="1"/>
          </p:cNvSpPr>
          <p:nvPr/>
        </p:nvSpPr>
        <p:spPr bwMode="auto">
          <a:xfrm>
            <a:off x="5005388" y="781050"/>
            <a:ext cx="396557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600" dirty="0"/>
              <a:t>NOTE:</a:t>
            </a:r>
          </a:p>
          <a:p>
            <a:pPr algn="l"/>
            <a:r>
              <a:rPr lang="en-GB" sz="1600" dirty="0"/>
              <a:t>The PR interval increases with successive beats, until a QRS is missed</a:t>
            </a:r>
            <a:endParaRPr lang="en-GB" sz="1600" dirty="0">
              <a:cs typeface="Arial" charset="0"/>
            </a:endParaRPr>
          </a:p>
        </p:txBody>
      </p:sp>
      <p:pic>
        <p:nvPicPr>
          <p:cNvPr id="14" name="Picture 4" descr="2IAV-m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981200"/>
            <a:ext cx="77724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Freeform 16"/>
          <p:cNvSpPr>
            <a:spLocks/>
          </p:cNvSpPr>
          <p:nvPr/>
        </p:nvSpPr>
        <p:spPr bwMode="auto">
          <a:xfrm>
            <a:off x="4759325" y="2514600"/>
            <a:ext cx="727075" cy="914400"/>
          </a:xfrm>
          <a:custGeom>
            <a:avLst/>
            <a:gdLst>
              <a:gd name="T0" fmla="*/ 246 w 500"/>
              <a:gd name="T1" fmla="*/ 13 h 572"/>
              <a:gd name="T2" fmla="*/ 77 w 500"/>
              <a:gd name="T3" fmla="*/ 169 h 572"/>
              <a:gd name="T4" fmla="*/ 155 w 500"/>
              <a:gd name="T5" fmla="*/ 561 h 572"/>
              <a:gd name="T6" fmla="*/ 442 w 500"/>
              <a:gd name="T7" fmla="*/ 495 h 572"/>
              <a:gd name="T8" fmla="*/ 429 w 500"/>
              <a:gd name="T9" fmla="*/ 117 h 572"/>
              <a:gd name="T10" fmla="*/ 311 w 500"/>
              <a:gd name="T11" fmla="*/ 0 h 572"/>
              <a:gd name="T12" fmla="*/ 246 w 500"/>
              <a:gd name="T13" fmla="*/ 13 h 5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0"/>
              <a:gd name="T22" fmla="*/ 0 h 572"/>
              <a:gd name="T23" fmla="*/ 500 w 500"/>
              <a:gd name="T24" fmla="*/ 572 h 5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0" h="572">
                <a:moveTo>
                  <a:pt x="246" y="13"/>
                </a:moveTo>
                <a:cubicBezTo>
                  <a:pt x="169" y="39"/>
                  <a:pt x="121" y="102"/>
                  <a:pt x="77" y="169"/>
                </a:cubicBezTo>
                <a:cubicBezTo>
                  <a:pt x="42" y="309"/>
                  <a:pt x="0" y="505"/>
                  <a:pt x="155" y="561"/>
                </a:cubicBezTo>
                <a:cubicBezTo>
                  <a:pt x="314" y="550"/>
                  <a:pt x="339" y="572"/>
                  <a:pt x="442" y="495"/>
                </a:cubicBezTo>
                <a:cubicBezTo>
                  <a:pt x="500" y="350"/>
                  <a:pt x="496" y="250"/>
                  <a:pt x="429" y="117"/>
                </a:cubicBezTo>
                <a:cubicBezTo>
                  <a:pt x="397" y="52"/>
                  <a:pt x="385" y="24"/>
                  <a:pt x="311" y="0"/>
                </a:cubicBezTo>
                <a:cubicBezTo>
                  <a:pt x="255" y="14"/>
                  <a:pt x="277" y="13"/>
                  <a:pt x="246" y="13"/>
                </a:cubicBezTo>
                <a:close/>
              </a:path>
            </a:pathLst>
          </a:custGeom>
          <a:noFill/>
          <a:ln w="57150">
            <a:solidFill>
              <a:srgbClr val="FF505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62819" name="Text Box 3"/>
          <p:cNvSpPr txBox="1">
            <a:spLocks noChangeArrowheads="1"/>
          </p:cNvSpPr>
          <p:nvPr/>
        </p:nvSpPr>
        <p:spPr bwMode="auto">
          <a:xfrm>
            <a:off x="525463" y="936625"/>
            <a:ext cx="3992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Causes of 2</a:t>
            </a:r>
            <a:r>
              <a:rPr lang="en-GB" sz="2000" baseline="30000"/>
              <a:t>nd</a:t>
            </a:r>
            <a:r>
              <a:rPr lang="en-GB" sz="2000"/>
              <a:t> DHB, Mobitz Type I</a:t>
            </a:r>
          </a:p>
        </p:txBody>
      </p:sp>
      <p:sp>
        <p:nvSpPr>
          <p:cNvPr id="162820" name="Text Box 4"/>
          <p:cNvSpPr txBox="1">
            <a:spLocks noChangeArrowheads="1"/>
          </p:cNvSpPr>
          <p:nvPr/>
        </p:nvSpPr>
        <p:spPr bwMode="auto">
          <a:xfrm>
            <a:off x="1050925" y="1600200"/>
            <a:ext cx="58467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Post-myocardial infarction (especially inferior MI)</a:t>
            </a:r>
          </a:p>
          <a:p>
            <a:pPr algn="l"/>
            <a:r>
              <a:rPr lang="en-GB" sz="2000"/>
              <a:t>Any structural heart disease</a:t>
            </a:r>
          </a:p>
        </p:txBody>
      </p:sp>
      <p:sp>
        <p:nvSpPr>
          <p:cNvPr id="162821" name="Text Box 5"/>
          <p:cNvSpPr txBox="1">
            <a:spLocks noChangeArrowheads="1"/>
          </p:cNvSpPr>
          <p:nvPr/>
        </p:nvSpPr>
        <p:spPr bwMode="auto">
          <a:xfrm>
            <a:off x="525463" y="33734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62822" name="Text Box 6"/>
          <p:cNvSpPr txBox="1">
            <a:spLocks noChangeArrowheads="1"/>
          </p:cNvSpPr>
          <p:nvPr/>
        </p:nvSpPr>
        <p:spPr bwMode="auto">
          <a:xfrm>
            <a:off x="1050925" y="3963988"/>
            <a:ext cx="68167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Usually self-limiting (no treatment required for arrhythmia)</a:t>
            </a:r>
          </a:p>
          <a:p>
            <a:pPr algn="l"/>
            <a:endParaRPr lang="en-GB" sz="2000"/>
          </a:p>
          <a:p>
            <a:pPr algn="l"/>
            <a:r>
              <a:rPr lang="en-GB" sz="2000"/>
              <a:t>(Treat underlying cause)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5" name="Text Box 5"/>
          <p:cNvSpPr txBox="1">
            <a:spLocks noChangeArrowheads="1"/>
          </p:cNvSpPr>
          <p:nvPr/>
        </p:nvSpPr>
        <p:spPr bwMode="auto">
          <a:xfrm>
            <a:off x="825500" y="755650"/>
            <a:ext cx="4278313" cy="83099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Second degree heart block </a:t>
            </a:r>
            <a:endParaRPr lang="en-GB" sz="2400" dirty="0" smtClean="0"/>
          </a:p>
          <a:p>
            <a:pPr algn="l"/>
            <a:r>
              <a:rPr lang="en-GB" sz="2400" dirty="0" smtClean="0"/>
              <a:t>(Type II )</a:t>
            </a:r>
            <a:endParaRPr lang="en-GB" sz="2400" dirty="0"/>
          </a:p>
        </p:txBody>
      </p:sp>
      <p:sp>
        <p:nvSpPr>
          <p:cNvPr id="122898" name="Text Box 18"/>
          <p:cNvSpPr txBox="1">
            <a:spLocks noChangeArrowheads="1"/>
          </p:cNvSpPr>
          <p:nvPr/>
        </p:nvSpPr>
        <p:spPr bwMode="auto">
          <a:xfrm>
            <a:off x="1166813" y="37830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rate?</a:t>
            </a:r>
          </a:p>
        </p:txBody>
      </p:sp>
      <p:sp>
        <p:nvSpPr>
          <p:cNvPr id="122899" name="Text Box 19"/>
          <p:cNvSpPr txBox="1">
            <a:spLocks noChangeArrowheads="1"/>
          </p:cNvSpPr>
          <p:nvPr/>
        </p:nvSpPr>
        <p:spPr bwMode="auto">
          <a:xfrm>
            <a:off x="4732338" y="3694113"/>
            <a:ext cx="3579812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Background of </a:t>
            </a:r>
            <a:r>
              <a:rPr lang="en-GB" sz="2000" dirty="0" smtClean="0"/>
              <a:t>40, regular</a:t>
            </a:r>
            <a:endParaRPr lang="en-GB" sz="2000" dirty="0"/>
          </a:p>
        </p:txBody>
      </p:sp>
      <p:sp>
        <p:nvSpPr>
          <p:cNvPr id="122900" name="Text Box 20"/>
          <p:cNvSpPr txBox="1">
            <a:spLocks noChangeArrowheads="1"/>
          </p:cNvSpPr>
          <p:nvPr/>
        </p:nvSpPr>
        <p:spPr bwMode="auto">
          <a:xfrm>
            <a:off x="1166813" y="45942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Is it sinus rhythm?</a:t>
            </a:r>
          </a:p>
        </p:txBody>
      </p:sp>
      <p:sp>
        <p:nvSpPr>
          <p:cNvPr id="122901" name="Text Box 21"/>
          <p:cNvSpPr txBox="1">
            <a:spLocks noChangeArrowheads="1"/>
          </p:cNvSpPr>
          <p:nvPr/>
        </p:nvSpPr>
        <p:spPr bwMode="auto">
          <a:xfrm>
            <a:off x="1179513" y="54054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PR interval?</a:t>
            </a:r>
          </a:p>
        </p:txBody>
      </p:sp>
      <p:sp>
        <p:nvSpPr>
          <p:cNvPr id="122902" name="Text Box 22"/>
          <p:cNvSpPr txBox="1">
            <a:spLocks noChangeArrowheads="1"/>
          </p:cNvSpPr>
          <p:nvPr/>
        </p:nvSpPr>
        <p:spPr bwMode="auto">
          <a:xfrm>
            <a:off x="1166813" y="62182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QRS duration?</a:t>
            </a:r>
          </a:p>
        </p:txBody>
      </p:sp>
      <p:sp>
        <p:nvSpPr>
          <p:cNvPr id="122903" name="Text Box 23"/>
          <p:cNvSpPr txBox="1">
            <a:spLocks noChangeArrowheads="1"/>
          </p:cNvSpPr>
          <p:nvPr/>
        </p:nvSpPr>
        <p:spPr bwMode="auto">
          <a:xfrm>
            <a:off x="4732338" y="4591050"/>
            <a:ext cx="4106862" cy="707886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2000" dirty="0"/>
              <a:t>yes, but </a:t>
            </a:r>
            <a:r>
              <a:rPr lang="en-GB" sz="2000" dirty="0" smtClean="0"/>
              <a:t>with some missed QRS complexes &amp; P,  2/3 Ps without QRS </a:t>
            </a:r>
            <a:endParaRPr lang="en-GB" sz="2000" dirty="0"/>
          </a:p>
        </p:txBody>
      </p:sp>
      <p:sp>
        <p:nvSpPr>
          <p:cNvPr id="122904" name="Text Box 24"/>
          <p:cNvSpPr txBox="1">
            <a:spLocks noChangeArrowheads="1"/>
          </p:cNvSpPr>
          <p:nvPr/>
        </p:nvSpPr>
        <p:spPr bwMode="auto">
          <a:xfrm>
            <a:off x="4732338" y="5400675"/>
            <a:ext cx="4259262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2000" b="1" dirty="0" smtClean="0"/>
              <a:t>&lt; 0.2 s (Normal)</a:t>
            </a:r>
            <a:endParaRPr lang="en-GB" sz="2000" b="1" dirty="0"/>
          </a:p>
        </p:txBody>
      </p:sp>
      <p:sp>
        <p:nvSpPr>
          <p:cNvPr id="122905" name="Text Box 25"/>
          <p:cNvSpPr txBox="1">
            <a:spLocks noChangeArrowheads="1"/>
          </p:cNvSpPr>
          <p:nvPr/>
        </p:nvSpPr>
        <p:spPr bwMode="auto">
          <a:xfrm>
            <a:off x="4732338" y="6210300"/>
            <a:ext cx="242093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&lt; 0.12 s (normal) </a:t>
            </a:r>
          </a:p>
        </p:txBody>
      </p:sp>
      <p:sp>
        <p:nvSpPr>
          <p:cNvPr id="122906" name="Rectangle 26"/>
          <p:cNvSpPr>
            <a:spLocks noChangeArrowheads="1"/>
          </p:cNvSpPr>
          <p:nvPr/>
        </p:nvSpPr>
        <p:spPr bwMode="auto">
          <a:xfrm>
            <a:off x="4619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22908" name="Text Box 28"/>
          <p:cNvSpPr txBox="1">
            <a:spLocks noChangeArrowheads="1"/>
          </p:cNvSpPr>
          <p:nvPr/>
        </p:nvSpPr>
        <p:spPr bwMode="auto">
          <a:xfrm>
            <a:off x="5178425" y="228600"/>
            <a:ext cx="396557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600" dirty="0"/>
              <a:t>NOTE:</a:t>
            </a:r>
          </a:p>
          <a:p>
            <a:r>
              <a:rPr lang="en-US" altLang="en-US" sz="1600" dirty="0" smtClean="0"/>
              <a:t>Conduction is all or nothing (no prolongation of PR interval); typically block occurs in the Bundle of His</a:t>
            </a:r>
            <a:r>
              <a:rPr lang="en-US" altLang="en-US" sz="1600" dirty="0" smtClean="0"/>
              <a:t>.</a:t>
            </a:r>
          </a:p>
          <a:p>
            <a:r>
              <a:rPr lang="en-US" sz="1600" dirty="0" smtClean="0"/>
              <a:t>Conduction </a:t>
            </a:r>
            <a:r>
              <a:rPr lang="en-US" sz="1600" dirty="0" smtClean="0"/>
              <a:t>ratio (P waves to QRS complexes) is commonly 2:1, 3:1, or 4:1.</a:t>
            </a:r>
            <a:endParaRPr lang="en-GB" sz="1600" dirty="0">
              <a:cs typeface="Arial" charset="0"/>
            </a:endParaRPr>
          </a:p>
        </p:txBody>
      </p:sp>
      <p:pic>
        <p:nvPicPr>
          <p:cNvPr id="16" name="Picture 4" descr="2IIAV-m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28800"/>
            <a:ext cx="7924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Freeform 16"/>
          <p:cNvSpPr>
            <a:spLocks/>
          </p:cNvSpPr>
          <p:nvPr/>
        </p:nvSpPr>
        <p:spPr bwMode="auto">
          <a:xfrm>
            <a:off x="4572000" y="2286000"/>
            <a:ext cx="609600" cy="685800"/>
          </a:xfrm>
          <a:custGeom>
            <a:avLst/>
            <a:gdLst>
              <a:gd name="T0" fmla="*/ 246 w 500"/>
              <a:gd name="T1" fmla="*/ 13 h 572"/>
              <a:gd name="T2" fmla="*/ 77 w 500"/>
              <a:gd name="T3" fmla="*/ 169 h 572"/>
              <a:gd name="T4" fmla="*/ 155 w 500"/>
              <a:gd name="T5" fmla="*/ 561 h 572"/>
              <a:gd name="T6" fmla="*/ 442 w 500"/>
              <a:gd name="T7" fmla="*/ 495 h 572"/>
              <a:gd name="T8" fmla="*/ 429 w 500"/>
              <a:gd name="T9" fmla="*/ 117 h 572"/>
              <a:gd name="T10" fmla="*/ 311 w 500"/>
              <a:gd name="T11" fmla="*/ 0 h 572"/>
              <a:gd name="T12" fmla="*/ 246 w 500"/>
              <a:gd name="T13" fmla="*/ 13 h 5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0"/>
              <a:gd name="T22" fmla="*/ 0 h 572"/>
              <a:gd name="T23" fmla="*/ 500 w 500"/>
              <a:gd name="T24" fmla="*/ 572 h 5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0" h="572">
                <a:moveTo>
                  <a:pt x="246" y="13"/>
                </a:moveTo>
                <a:cubicBezTo>
                  <a:pt x="169" y="39"/>
                  <a:pt x="121" y="102"/>
                  <a:pt x="77" y="169"/>
                </a:cubicBezTo>
                <a:cubicBezTo>
                  <a:pt x="42" y="309"/>
                  <a:pt x="0" y="505"/>
                  <a:pt x="155" y="561"/>
                </a:cubicBezTo>
                <a:cubicBezTo>
                  <a:pt x="314" y="550"/>
                  <a:pt x="339" y="572"/>
                  <a:pt x="442" y="495"/>
                </a:cubicBezTo>
                <a:cubicBezTo>
                  <a:pt x="500" y="350"/>
                  <a:pt x="496" y="250"/>
                  <a:pt x="429" y="117"/>
                </a:cubicBezTo>
                <a:cubicBezTo>
                  <a:pt x="397" y="52"/>
                  <a:pt x="385" y="24"/>
                  <a:pt x="311" y="0"/>
                </a:cubicBezTo>
                <a:cubicBezTo>
                  <a:pt x="255" y="14"/>
                  <a:pt x="277" y="13"/>
                  <a:pt x="246" y="13"/>
                </a:cubicBezTo>
                <a:close/>
              </a:path>
            </a:pathLst>
          </a:custGeom>
          <a:noFill/>
          <a:ln w="57150">
            <a:solidFill>
              <a:srgbClr val="FF505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257800" y="2286000"/>
            <a:ext cx="609600" cy="685800"/>
          </a:xfrm>
          <a:custGeom>
            <a:avLst/>
            <a:gdLst>
              <a:gd name="T0" fmla="*/ 246 w 500"/>
              <a:gd name="T1" fmla="*/ 13 h 572"/>
              <a:gd name="T2" fmla="*/ 77 w 500"/>
              <a:gd name="T3" fmla="*/ 169 h 572"/>
              <a:gd name="T4" fmla="*/ 155 w 500"/>
              <a:gd name="T5" fmla="*/ 561 h 572"/>
              <a:gd name="T6" fmla="*/ 442 w 500"/>
              <a:gd name="T7" fmla="*/ 495 h 572"/>
              <a:gd name="T8" fmla="*/ 429 w 500"/>
              <a:gd name="T9" fmla="*/ 117 h 572"/>
              <a:gd name="T10" fmla="*/ 311 w 500"/>
              <a:gd name="T11" fmla="*/ 0 h 572"/>
              <a:gd name="T12" fmla="*/ 246 w 500"/>
              <a:gd name="T13" fmla="*/ 13 h 5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0"/>
              <a:gd name="T22" fmla="*/ 0 h 572"/>
              <a:gd name="T23" fmla="*/ 500 w 500"/>
              <a:gd name="T24" fmla="*/ 572 h 5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0" h="572">
                <a:moveTo>
                  <a:pt x="246" y="13"/>
                </a:moveTo>
                <a:cubicBezTo>
                  <a:pt x="169" y="39"/>
                  <a:pt x="121" y="102"/>
                  <a:pt x="77" y="169"/>
                </a:cubicBezTo>
                <a:cubicBezTo>
                  <a:pt x="42" y="309"/>
                  <a:pt x="0" y="505"/>
                  <a:pt x="155" y="561"/>
                </a:cubicBezTo>
                <a:cubicBezTo>
                  <a:pt x="314" y="550"/>
                  <a:pt x="339" y="572"/>
                  <a:pt x="442" y="495"/>
                </a:cubicBezTo>
                <a:cubicBezTo>
                  <a:pt x="500" y="350"/>
                  <a:pt x="496" y="250"/>
                  <a:pt x="429" y="117"/>
                </a:cubicBezTo>
                <a:cubicBezTo>
                  <a:pt x="397" y="52"/>
                  <a:pt x="385" y="24"/>
                  <a:pt x="311" y="0"/>
                </a:cubicBezTo>
                <a:cubicBezTo>
                  <a:pt x="255" y="14"/>
                  <a:pt x="277" y="13"/>
                  <a:pt x="246" y="13"/>
                </a:cubicBezTo>
                <a:close/>
              </a:path>
            </a:pathLst>
          </a:custGeom>
          <a:noFill/>
          <a:ln w="57150">
            <a:solidFill>
              <a:srgbClr val="FF505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525463" y="936625"/>
            <a:ext cx="22669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dirty="0"/>
              <a:t>Causes of 2</a:t>
            </a:r>
            <a:r>
              <a:rPr lang="en-GB" sz="2000" baseline="30000" dirty="0"/>
              <a:t>nd</a:t>
            </a:r>
            <a:r>
              <a:rPr lang="en-GB" sz="2000" dirty="0"/>
              <a:t> DHB, </a:t>
            </a:r>
          </a:p>
        </p:txBody>
      </p:sp>
      <p:sp>
        <p:nvSpPr>
          <p:cNvPr id="163844" name="Text Box 4"/>
          <p:cNvSpPr txBox="1">
            <a:spLocks noChangeArrowheads="1"/>
          </p:cNvSpPr>
          <p:nvPr/>
        </p:nvSpPr>
        <p:spPr bwMode="auto">
          <a:xfrm>
            <a:off x="1050925" y="1600200"/>
            <a:ext cx="43815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Myocardial ischaemia</a:t>
            </a:r>
          </a:p>
          <a:p>
            <a:pPr algn="l"/>
            <a:r>
              <a:rPr lang="en-GB" sz="2000"/>
              <a:t>Structural heart disease</a:t>
            </a:r>
          </a:p>
        </p:txBody>
      </p:sp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525463" y="33353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63846" name="Text Box 6"/>
          <p:cNvSpPr txBox="1">
            <a:spLocks noChangeArrowheads="1"/>
          </p:cNvSpPr>
          <p:nvPr/>
        </p:nvSpPr>
        <p:spPr bwMode="auto">
          <a:xfrm>
            <a:off x="1050925" y="3976688"/>
            <a:ext cx="60356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Pre-operative: expert advice</a:t>
            </a:r>
          </a:p>
          <a:p>
            <a:pPr algn="l"/>
            <a:r>
              <a:rPr lang="en-GB" sz="2000"/>
              <a:t>Consider pacing wire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755650" y="847725"/>
            <a:ext cx="5434013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Complete heart block (“CHB”)</a:t>
            </a:r>
          </a:p>
        </p:txBody>
      </p:sp>
      <p:sp>
        <p:nvSpPr>
          <p:cNvPr id="129042" name="Text Box 18"/>
          <p:cNvSpPr txBox="1">
            <a:spLocks noChangeArrowheads="1"/>
          </p:cNvSpPr>
          <p:nvPr/>
        </p:nvSpPr>
        <p:spPr bwMode="auto">
          <a:xfrm>
            <a:off x="1192213" y="38084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29043" name="Text Box 19"/>
          <p:cNvSpPr txBox="1">
            <a:spLocks noChangeArrowheads="1"/>
          </p:cNvSpPr>
          <p:nvPr/>
        </p:nvSpPr>
        <p:spPr bwMode="auto">
          <a:xfrm>
            <a:off x="4757738" y="3808413"/>
            <a:ext cx="3852862" cy="707886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2000" dirty="0" smtClean="0"/>
              <a:t>Approx 30 bpm, but </a:t>
            </a:r>
            <a:r>
              <a:rPr lang="en-GB" sz="2000" dirty="0" err="1" smtClean="0"/>
              <a:t>atrial</a:t>
            </a:r>
            <a:r>
              <a:rPr lang="en-GB" sz="2000" dirty="0" smtClean="0"/>
              <a:t> 60-100bpm</a:t>
            </a:r>
            <a:endParaRPr lang="en-GB" sz="2000" dirty="0"/>
          </a:p>
        </p:txBody>
      </p:sp>
      <p:sp>
        <p:nvSpPr>
          <p:cNvPr id="129044" name="Text Box 20"/>
          <p:cNvSpPr txBox="1">
            <a:spLocks noChangeArrowheads="1"/>
          </p:cNvSpPr>
          <p:nvPr/>
        </p:nvSpPr>
        <p:spPr bwMode="auto">
          <a:xfrm>
            <a:off x="1192213" y="46196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Is it sinus rhythm?</a:t>
            </a:r>
          </a:p>
        </p:txBody>
      </p:sp>
      <p:sp>
        <p:nvSpPr>
          <p:cNvPr id="129045" name="Text Box 21"/>
          <p:cNvSpPr txBox="1">
            <a:spLocks noChangeArrowheads="1"/>
          </p:cNvSpPr>
          <p:nvPr/>
        </p:nvSpPr>
        <p:spPr bwMode="auto">
          <a:xfrm>
            <a:off x="1204913" y="54308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PR interval?</a:t>
            </a:r>
          </a:p>
        </p:txBody>
      </p:sp>
      <p:sp>
        <p:nvSpPr>
          <p:cNvPr id="129046" name="Text Box 22"/>
          <p:cNvSpPr txBox="1">
            <a:spLocks noChangeArrowheads="1"/>
          </p:cNvSpPr>
          <p:nvPr/>
        </p:nvSpPr>
        <p:spPr bwMode="auto">
          <a:xfrm>
            <a:off x="1192213" y="62436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the QRS duration?</a:t>
            </a:r>
          </a:p>
        </p:txBody>
      </p:sp>
      <p:sp>
        <p:nvSpPr>
          <p:cNvPr id="129047" name="Text Box 23"/>
          <p:cNvSpPr txBox="1">
            <a:spLocks noChangeArrowheads="1"/>
          </p:cNvSpPr>
          <p:nvPr/>
        </p:nvSpPr>
        <p:spPr bwMode="auto">
          <a:xfrm>
            <a:off x="4757738" y="4616450"/>
            <a:ext cx="3676650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no (no relationship between P and QRS)</a:t>
            </a:r>
          </a:p>
        </p:txBody>
      </p:sp>
      <p:sp>
        <p:nvSpPr>
          <p:cNvPr id="129048" name="Text Box 24"/>
          <p:cNvSpPr txBox="1">
            <a:spLocks noChangeArrowheads="1"/>
          </p:cNvSpPr>
          <p:nvPr/>
        </p:nvSpPr>
        <p:spPr bwMode="auto">
          <a:xfrm>
            <a:off x="4757738" y="5426075"/>
            <a:ext cx="35671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no relationship</a:t>
            </a:r>
          </a:p>
        </p:txBody>
      </p:sp>
      <p:sp>
        <p:nvSpPr>
          <p:cNvPr id="129049" name="Text Box 25"/>
          <p:cNvSpPr txBox="1">
            <a:spLocks noChangeArrowheads="1"/>
          </p:cNvSpPr>
          <p:nvPr/>
        </p:nvSpPr>
        <p:spPr bwMode="auto">
          <a:xfrm>
            <a:off x="4757738" y="6235700"/>
            <a:ext cx="372586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>
                <a:cs typeface="Arial" charset="0"/>
              </a:rPr>
              <a:t>~</a:t>
            </a:r>
            <a:r>
              <a:rPr lang="en-GB" sz="2000"/>
              <a:t> 0.12 s (borderline prolonged) </a:t>
            </a:r>
          </a:p>
        </p:txBody>
      </p:sp>
      <p:sp>
        <p:nvSpPr>
          <p:cNvPr id="129050" name="Rectangle 26"/>
          <p:cNvSpPr>
            <a:spLocks noChangeArrowheads="1"/>
          </p:cNvSpPr>
          <p:nvPr/>
        </p:nvSpPr>
        <p:spPr bwMode="auto">
          <a:xfrm>
            <a:off x="322263" y="2270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29052" name="Text Box 28"/>
          <p:cNvSpPr txBox="1">
            <a:spLocks noChangeArrowheads="1"/>
          </p:cNvSpPr>
          <p:nvPr/>
        </p:nvSpPr>
        <p:spPr bwMode="auto">
          <a:xfrm>
            <a:off x="5410200" y="152400"/>
            <a:ext cx="3557588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1600" dirty="0"/>
              <a:t>NOTE:</a:t>
            </a:r>
          </a:p>
          <a:p>
            <a:r>
              <a:rPr lang="en-US" sz="1600" dirty="0" smtClean="0"/>
              <a:t>-Conduction </a:t>
            </a:r>
            <a:r>
              <a:rPr lang="en-US" sz="1600" dirty="0" smtClean="0"/>
              <a:t>between atria and ventricles is absent because of electrical block at or below </a:t>
            </a:r>
            <a:r>
              <a:rPr lang="en-US" sz="1600" dirty="0" smtClean="0"/>
              <a:t>the AV </a:t>
            </a:r>
            <a:r>
              <a:rPr lang="en-US" sz="1600" dirty="0" smtClean="0"/>
              <a:t>node.</a:t>
            </a:r>
            <a:endParaRPr lang="en-GB" sz="1600" dirty="0">
              <a:cs typeface="Arial" charset="0"/>
            </a:endParaRPr>
          </a:p>
        </p:txBody>
      </p:sp>
      <p:pic>
        <p:nvPicPr>
          <p:cNvPr id="14" name="Picture 2" descr="3AV-m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54" y="1828800"/>
            <a:ext cx="8765346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525463" y="936625"/>
            <a:ext cx="4683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Causes of complete heart block (“CHB”)</a:t>
            </a:r>
          </a:p>
        </p:txBody>
      </p:sp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1050925" y="1600200"/>
            <a:ext cx="43815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Myocardial </a:t>
            </a:r>
            <a:r>
              <a:rPr lang="en-GB" sz="2000" dirty="0" err="1"/>
              <a:t>ischaemia</a:t>
            </a:r>
            <a:endParaRPr lang="en-GB" sz="2000" dirty="0"/>
          </a:p>
          <a:p>
            <a:pPr algn="l"/>
            <a:r>
              <a:rPr lang="en-GB" sz="2000" dirty="0"/>
              <a:t>Structural heart disease</a:t>
            </a:r>
          </a:p>
          <a:p>
            <a:pPr algn="l"/>
            <a:r>
              <a:rPr lang="en-GB" sz="2000" dirty="0" smtClean="0"/>
              <a:t>(</a:t>
            </a:r>
            <a:r>
              <a:rPr lang="en-GB" sz="2000" dirty="0"/>
              <a:t>rarely;	</a:t>
            </a:r>
            <a:r>
              <a:rPr lang="en-GB" sz="2000" dirty="0" err="1"/>
              <a:t>vagal</a:t>
            </a:r>
            <a:r>
              <a:rPr lang="en-GB" sz="2000" dirty="0"/>
              <a:t> stimulation</a:t>
            </a:r>
          </a:p>
          <a:p>
            <a:pPr algn="l"/>
            <a:r>
              <a:rPr lang="en-GB" sz="2000" dirty="0"/>
              <a:t>	congenital)</a:t>
            </a:r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525463" y="36274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64870" name="Text Box 6"/>
          <p:cNvSpPr txBox="1">
            <a:spLocks noChangeArrowheads="1"/>
          </p:cNvSpPr>
          <p:nvPr/>
        </p:nvSpPr>
        <p:spPr bwMode="auto">
          <a:xfrm>
            <a:off x="1050925" y="4230688"/>
            <a:ext cx="754221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Stop vagal stimulation</a:t>
            </a:r>
          </a:p>
          <a:p>
            <a:pPr algn="l"/>
            <a:r>
              <a:rPr lang="en-GB" sz="2000"/>
              <a:t>Try atropine</a:t>
            </a:r>
          </a:p>
          <a:p>
            <a:pPr algn="l"/>
            <a:r>
              <a:rPr lang="en-GB" sz="2000"/>
              <a:t>Expert help</a:t>
            </a:r>
          </a:p>
          <a:p>
            <a:pPr algn="l"/>
            <a:r>
              <a:rPr lang="en-GB" sz="2000"/>
              <a:t>Pacemaker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309563" y="746125"/>
            <a:ext cx="6219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/>
              <a:t>What information can be derived from a 3–lead ECG?</a:t>
            </a:r>
          </a:p>
        </p:txBody>
      </p:sp>
      <p:sp>
        <p:nvSpPr>
          <p:cNvPr id="146436" name="Text Box 4"/>
          <p:cNvSpPr txBox="1">
            <a:spLocks noChangeArrowheads="1"/>
          </p:cNvSpPr>
          <p:nvPr/>
        </p:nvSpPr>
        <p:spPr bwMode="auto">
          <a:xfrm>
            <a:off x="309563" y="1373188"/>
            <a:ext cx="4746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(4) Signs of ischaemia </a:t>
            </a:r>
            <a:r>
              <a:rPr lang="en-GB" sz="2000" i="1" dirty="0"/>
              <a:t>(a brief overview)</a:t>
            </a: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711200" y="2117725"/>
            <a:ext cx="29876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Ischaemic changes (cell hypoxia / hypoperfusion)</a:t>
            </a:r>
          </a:p>
        </p:txBody>
      </p:sp>
      <p:sp>
        <p:nvSpPr>
          <p:cNvPr id="146438" name="Text Box 6"/>
          <p:cNvSpPr txBox="1">
            <a:spLocks noChangeArrowheads="1"/>
          </p:cNvSpPr>
          <p:nvPr/>
        </p:nvSpPr>
        <p:spPr bwMode="auto">
          <a:xfrm>
            <a:off x="4138613" y="2117725"/>
            <a:ext cx="4483100" cy="13112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ST depression</a:t>
            </a:r>
          </a:p>
          <a:p>
            <a:pPr algn="l"/>
            <a:r>
              <a:rPr lang="en-GB" sz="2000"/>
              <a:t>T wave inversion</a:t>
            </a:r>
          </a:p>
          <a:p>
            <a:pPr algn="l"/>
            <a:r>
              <a:rPr lang="en-GB" sz="2000"/>
              <a:t>Possible rhythm disturbance (may be cause or effect)</a:t>
            </a:r>
          </a:p>
        </p:txBody>
      </p:sp>
      <p:sp>
        <p:nvSpPr>
          <p:cNvPr id="146439" name="Text Box 7"/>
          <p:cNvSpPr txBox="1">
            <a:spLocks noChangeArrowheads="1"/>
          </p:cNvSpPr>
          <p:nvPr/>
        </p:nvSpPr>
        <p:spPr bwMode="auto">
          <a:xfrm>
            <a:off x="711200" y="3559175"/>
            <a:ext cx="29876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Acute signs of infarct (cell death)</a:t>
            </a:r>
          </a:p>
        </p:txBody>
      </p:sp>
      <p:sp>
        <p:nvSpPr>
          <p:cNvPr id="146440" name="Text Box 8"/>
          <p:cNvSpPr txBox="1">
            <a:spLocks noChangeArrowheads="1"/>
          </p:cNvSpPr>
          <p:nvPr/>
        </p:nvSpPr>
        <p:spPr bwMode="auto">
          <a:xfrm>
            <a:off x="4138613" y="5305425"/>
            <a:ext cx="4324350" cy="1006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Q waves</a:t>
            </a:r>
          </a:p>
          <a:p>
            <a:pPr algn="l"/>
            <a:r>
              <a:rPr lang="en-GB" sz="2000"/>
              <a:t>Flattened T waves</a:t>
            </a:r>
          </a:p>
          <a:p>
            <a:pPr algn="l"/>
            <a:r>
              <a:rPr lang="en-GB" sz="2000"/>
              <a:t>Persistent conduction abnormalities</a:t>
            </a:r>
          </a:p>
        </p:txBody>
      </p:sp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711200" y="5305425"/>
            <a:ext cx="29876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Signs of a previous infarct (mature changes)</a:t>
            </a: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4138613" y="3559175"/>
            <a:ext cx="3757612" cy="16160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ST elevation</a:t>
            </a:r>
          </a:p>
          <a:p>
            <a:pPr algn="l"/>
            <a:r>
              <a:rPr lang="en-GB" sz="2000"/>
              <a:t>T wave inversion</a:t>
            </a:r>
          </a:p>
          <a:p>
            <a:pPr algn="l"/>
            <a:r>
              <a:rPr lang="en-GB" sz="2000"/>
              <a:t>New conduction abnormalities</a:t>
            </a:r>
          </a:p>
          <a:p>
            <a:pPr algn="l"/>
            <a:r>
              <a:rPr lang="en-GB" sz="2000"/>
              <a:t>Q waves (after a few hours)</a:t>
            </a:r>
          </a:p>
          <a:p>
            <a:pPr algn="l"/>
            <a:r>
              <a:rPr lang="en-GB" sz="2000"/>
              <a:t>Arrhythmias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412750" y="1000125"/>
            <a:ext cx="847725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So, this is sinus tachycardia, but WHAT ELSE is going on??</a:t>
            </a:r>
          </a:p>
        </p:txBody>
      </p:sp>
      <p:sp>
        <p:nvSpPr>
          <p:cNvPr id="101395" name="Text Box 19"/>
          <p:cNvSpPr txBox="1">
            <a:spLocks noChangeArrowheads="1"/>
          </p:cNvSpPr>
          <p:nvPr/>
        </p:nvSpPr>
        <p:spPr bwMode="auto">
          <a:xfrm>
            <a:off x="1103313" y="3808413"/>
            <a:ext cx="20923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rate?</a:t>
            </a:r>
          </a:p>
        </p:txBody>
      </p:sp>
      <p:sp>
        <p:nvSpPr>
          <p:cNvPr id="101396" name="Text Box 20"/>
          <p:cNvSpPr txBox="1">
            <a:spLocks noChangeArrowheads="1"/>
          </p:cNvSpPr>
          <p:nvPr/>
        </p:nvSpPr>
        <p:spPr bwMode="auto">
          <a:xfrm>
            <a:off x="4668838" y="3808413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approx 150 bpm</a:t>
            </a:r>
          </a:p>
        </p:txBody>
      </p:sp>
      <p:sp>
        <p:nvSpPr>
          <p:cNvPr id="101397" name="Text Box 21"/>
          <p:cNvSpPr txBox="1">
            <a:spLocks noChangeArrowheads="1"/>
          </p:cNvSpPr>
          <p:nvPr/>
        </p:nvSpPr>
        <p:spPr bwMode="auto">
          <a:xfrm>
            <a:off x="1103313" y="4619625"/>
            <a:ext cx="23368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Is it sinus rhythm?</a:t>
            </a:r>
          </a:p>
        </p:txBody>
      </p:sp>
      <p:sp>
        <p:nvSpPr>
          <p:cNvPr id="101398" name="Text Box 22"/>
          <p:cNvSpPr txBox="1">
            <a:spLocks noChangeArrowheads="1"/>
          </p:cNvSpPr>
          <p:nvPr/>
        </p:nvSpPr>
        <p:spPr bwMode="auto">
          <a:xfrm>
            <a:off x="1116013" y="54308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PR interval?</a:t>
            </a:r>
          </a:p>
        </p:txBody>
      </p:sp>
      <p:sp>
        <p:nvSpPr>
          <p:cNvPr id="101399" name="Text Box 23"/>
          <p:cNvSpPr txBox="1">
            <a:spLocks noChangeArrowheads="1"/>
          </p:cNvSpPr>
          <p:nvPr/>
        </p:nvSpPr>
        <p:spPr bwMode="auto">
          <a:xfrm>
            <a:off x="1103313" y="62436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What is the QRS duration?</a:t>
            </a:r>
          </a:p>
        </p:txBody>
      </p:sp>
      <p:sp>
        <p:nvSpPr>
          <p:cNvPr id="101400" name="Text Box 24"/>
          <p:cNvSpPr txBox="1">
            <a:spLocks noChangeArrowheads="1"/>
          </p:cNvSpPr>
          <p:nvPr/>
        </p:nvSpPr>
        <p:spPr bwMode="auto">
          <a:xfrm>
            <a:off x="4668838" y="4616450"/>
            <a:ext cx="367665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yes</a:t>
            </a:r>
          </a:p>
        </p:txBody>
      </p:sp>
      <p:sp>
        <p:nvSpPr>
          <p:cNvPr id="101401" name="Text Box 25"/>
          <p:cNvSpPr txBox="1">
            <a:spLocks noChangeArrowheads="1"/>
          </p:cNvSpPr>
          <p:nvPr/>
        </p:nvSpPr>
        <p:spPr bwMode="auto">
          <a:xfrm>
            <a:off x="4668838" y="5426075"/>
            <a:ext cx="35671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hard to see (but normal)</a:t>
            </a:r>
          </a:p>
        </p:txBody>
      </p:sp>
      <p:sp>
        <p:nvSpPr>
          <p:cNvPr id="101402" name="Text Box 26"/>
          <p:cNvSpPr txBox="1">
            <a:spLocks noChangeArrowheads="1"/>
          </p:cNvSpPr>
          <p:nvPr/>
        </p:nvSpPr>
        <p:spPr bwMode="auto">
          <a:xfrm>
            <a:off x="4668838" y="6235700"/>
            <a:ext cx="372586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>
                <a:cs typeface="Arial" charset="0"/>
              </a:rPr>
              <a:t>&lt;</a:t>
            </a:r>
            <a:r>
              <a:rPr lang="en-GB" sz="2000"/>
              <a:t> 0.12 s (normal) </a:t>
            </a:r>
          </a:p>
        </p:txBody>
      </p:sp>
      <p:sp>
        <p:nvSpPr>
          <p:cNvPr id="101403" name="Rectangle 27"/>
          <p:cNvSpPr>
            <a:spLocks noChangeArrowheads="1"/>
          </p:cNvSpPr>
          <p:nvPr/>
        </p:nvSpPr>
        <p:spPr bwMode="auto">
          <a:xfrm>
            <a:off x="233363" y="2270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pic>
        <p:nvPicPr>
          <p:cNvPr id="101406" name="Picture 30" descr="ST elevation EC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63700"/>
            <a:ext cx="8001000" cy="16129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889000" y="1074738"/>
            <a:ext cx="3190875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 dirty="0"/>
              <a:t>Myocardial ischaemia</a:t>
            </a:r>
          </a:p>
        </p:txBody>
      </p:sp>
      <p:sp>
        <p:nvSpPr>
          <p:cNvPr id="131090" name="Text Box 18"/>
          <p:cNvSpPr txBox="1">
            <a:spLocks noChangeArrowheads="1"/>
          </p:cNvSpPr>
          <p:nvPr/>
        </p:nvSpPr>
        <p:spPr bwMode="auto">
          <a:xfrm>
            <a:off x="722313" y="4329113"/>
            <a:ext cx="3189287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Do the QRS complexes look normal?</a:t>
            </a:r>
          </a:p>
        </p:txBody>
      </p:sp>
      <p:sp>
        <p:nvSpPr>
          <p:cNvPr id="131091" name="Text Box 19"/>
          <p:cNvSpPr txBox="1">
            <a:spLocks noChangeArrowheads="1"/>
          </p:cNvSpPr>
          <p:nvPr/>
        </p:nvSpPr>
        <p:spPr bwMode="auto">
          <a:xfrm>
            <a:off x="4287838" y="4430713"/>
            <a:ext cx="35798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yes</a:t>
            </a:r>
          </a:p>
        </p:txBody>
      </p:sp>
      <p:sp>
        <p:nvSpPr>
          <p:cNvPr id="131092" name="Text Box 20"/>
          <p:cNvSpPr txBox="1">
            <a:spLocks noChangeArrowheads="1"/>
          </p:cNvSpPr>
          <p:nvPr/>
        </p:nvSpPr>
        <p:spPr bwMode="auto">
          <a:xfrm>
            <a:off x="722313" y="5140325"/>
            <a:ext cx="3165475" cy="7016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Do the ST segments look normal?</a:t>
            </a:r>
          </a:p>
        </p:txBody>
      </p:sp>
      <p:sp>
        <p:nvSpPr>
          <p:cNvPr id="131093" name="Text Box 21"/>
          <p:cNvSpPr txBox="1">
            <a:spLocks noChangeArrowheads="1"/>
          </p:cNvSpPr>
          <p:nvPr/>
        </p:nvSpPr>
        <p:spPr bwMode="auto">
          <a:xfrm>
            <a:off x="735013" y="5951538"/>
            <a:ext cx="31781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What is wrong with them?</a:t>
            </a:r>
          </a:p>
        </p:txBody>
      </p:sp>
      <p:sp>
        <p:nvSpPr>
          <p:cNvPr id="131096" name="Text Box 24"/>
          <p:cNvSpPr txBox="1">
            <a:spLocks noChangeArrowheads="1"/>
          </p:cNvSpPr>
          <p:nvPr/>
        </p:nvSpPr>
        <p:spPr bwMode="auto">
          <a:xfrm>
            <a:off x="4287838" y="5946775"/>
            <a:ext cx="423545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There is marked “ST depression”</a:t>
            </a:r>
          </a:p>
        </p:txBody>
      </p:sp>
      <p:sp>
        <p:nvSpPr>
          <p:cNvPr id="131098" name="Rectangle 26"/>
          <p:cNvSpPr>
            <a:spLocks noChangeArrowheads="1"/>
          </p:cNvSpPr>
          <p:nvPr/>
        </p:nvSpPr>
        <p:spPr bwMode="auto">
          <a:xfrm>
            <a:off x="233363" y="2270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pic>
        <p:nvPicPr>
          <p:cNvPr id="131099" name="Picture 27" descr="ST elevation EC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184400"/>
            <a:ext cx="7924800" cy="1701800"/>
          </a:xfrm>
          <a:prstGeom prst="rect">
            <a:avLst/>
          </a:prstGeom>
          <a:noFill/>
        </p:spPr>
      </p:pic>
      <p:sp>
        <p:nvSpPr>
          <p:cNvPr id="131100" name="Text Box 28"/>
          <p:cNvSpPr txBox="1">
            <a:spLocks noChangeArrowheads="1"/>
          </p:cNvSpPr>
          <p:nvPr/>
        </p:nvSpPr>
        <p:spPr bwMode="auto">
          <a:xfrm>
            <a:off x="4856163" y="488950"/>
            <a:ext cx="38862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600"/>
              <a:t>NOTE:</a:t>
            </a:r>
          </a:p>
          <a:p>
            <a:pPr algn="l"/>
            <a:r>
              <a:rPr lang="en-GB" sz="1600"/>
              <a:t>The pattern of the ischaemic changes in different leads indicates which region of the heart is affected</a:t>
            </a:r>
            <a:endParaRPr lang="en-GB" sz="1600">
              <a:cs typeface="Arial" charset="0"/>
            </a:endParaRPr>
          </a:p>
        </p:txBody>
      </p:sp>
      <p:sp>
        <p:nvSpPr>
          <p:cNvPr id="131101" name="Text Box 29"/>
          <p:cNvSpPr txBox="1">
            <a:spLocks noChangeArrowheads="1"/>
          </p:cNvSpPr>
          <p:nvPr/>
        </p:nvSpPr>
        <p:spPr bwMode="auto">
          <a:xfrm>
            <a:off x="468313" y="1770063"/>
            <a:ext cx="804386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>
                <a:latin typeface="BrushScrD" pitchFamily="66" charset="0"/>
              </a:rPr>
              <a:t>(THIS IS THE SAME ECG AS THE PREVIOUS SLIDE)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9" name="Text Box 5"/>
          <p:cNvSpPr txBox="1">
            <a:spLocks noChangeArrowheads="1"/>
          </p:cNvSpPr>
          <p:nvPr/>
        </p:nvSpPr>
        <p:spPr bwMode="auto">
          <a:xfrm>
            <a:off x="647700" y="806450"/>
            <a:ext cx="5434013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Acute myocardial infarction (“MI”)</a:t>
            </a:r>
          </a:p>
        </p:txBody>
      </p:sp>
      <p:sp>
        <p:nvSpPr>
          <p:cNvPr id="139282" name="Text Box 18"/>
          <p:cNvSpPr txBox="1">
            <a:spLocks noChangeArrowheads="1"/>
          </p:cNvSpPr>
          <p:nvPr/>
        </p:nvSpPr>
        <p:spPr bwMode="auto">
          <a:xfrm>
            <a:off x="1116013" y="5230813"/>
            <a:ext cx="336708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How do we know it’s an MI?</a:t>
            </a:r>
          </a:p>
        </p:txBody>
      </p:sp>
      <p:sp>
        <p:nvSpPr>
          <p:cNvPr id="139283" name="Text Box 19"/>
          <p:cNvSpPr txBox="1">
            <a:spLocks noChangeArrowheads="1"/>
          </p:cNvSpPr>
          <p:nvPr/>
        </p:nvSpPr>
        <p:spPr bwMode="auto">
          <a:xfrm>
            <a:off x="5151438" y="5230813"/>
            <a:ext cx="177800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ST elevation</a:t>
            </a:r>
          </a:p>
        </p:txBody>
      </p:sp>
      <p:sp>
        <p:nvSpPr>
          <p:cNvPr id="139284" name="Text Box 20"/>
          <p:cNvSpPr txBox="1">
            <a:spLocks noChangeArrowheads="1"/>
          </p:cNvSpPr>
          <p:nvPr/>
        </p:nvSpPr>
        <p:spPr bwMode="auto">
          <a:xfrm>
            <a:off x="1116013" y="5743575"/>
            <a:ext cx="34448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Which leads are involved?</a:t>
            </a:r>
          </a:p>
        </p:txBody>
      </p:sp>
      <p:sp>
        <p:nvSpPr>
          <p:cNvPr id="139286" name="Text Box 22"/>
          <p:cNvSpPr txBox="1">
            <a:spLocks noChangeArrowheads="1"/>
          </p:cNvSpPr>
          <p:nvPr/>
        </p:nvSpPr>
        <p:spPr bwMode="auto">
          <a:xfrm>
            <a:off x="1116013" y="6243638"/>
            <a:ext cx="33115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Where is the infarction?</a:t>
            </a:r>
          </a:p>
        </p:txBody>
      </p:sp>
      <p:sp>
        <p:nvSpPr>
          <p:cNvPr id="139287" name="Text Box 23"/>
          <p:cNvSpPr txBox="1">
            <a:spLocks noChangeArrowheads="1"/>
          </p:cNvSpPr>
          <p:nvPr/>
        </p:nvSpPr>
        <p:spPr bwMode="auto">
          <a:xfrm>
            <a:off x="5151438" y="5743575"/>
            <a:ext cx="180975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II, III and aVF</a:t>
            </a:r>
          </a:p>
        </p:txBody>
      </p:sp>
      <p:sp>
        <p:nvSpPr>
          <p:cNvPr id="139288" name="Text Box 24"/>
          <p:cNvSpPr txBox="1">
            <a:spLocks noChangeArrowheads="1"/>
          </p:cNvSpPr>
          <p:nvPr/>
        </p:nvSpPr>
        <p:spPr bwMode="auto">
          <a:xfrm>
            <a:off x="5151438" y="6243638"/>
            <a:ext cx="163036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 smtClean="0"/>
              <a:t>Inferior </a:t>
            </a:r>
            <a:r>
              <a:rPr lang="en-GB" sz="2000" dirty="0"/>
              <a:t>MI</a:t>
            </a:r>
          </a:p>
        </p:txBody>
      </p:sp>
      <p:sp>
        <p:nvSpPr>
          <p:cNvPr id="139290" name="Rectangle 26"/>
          <p:cNvSpPr>
            <a:spLocks noChangeArrowheads="1"/>
          </p:cNvSpPr>
          <p:nvPr/>
        </p:nvSpPr>
        <p:spPr bwMode="auto">
          <a:xfrm>
            <a:off x="322263" y="2270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pic>
        <p:nvPicPr>
          <p:cNvPr id="139388" name="Picture 124" descr="infm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0800" y="1519238"/>
            <a:ext cx="7366000" cy="36512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grpSp>
        <p:nvGrpSpPr>
          <p:cNvPr id="2" name="Group 125"/>
          <p:cNvGrpSpPr>
            <a:grpSpLocks/>
          </p:cNvGrpSpPr>
          <p:nvPr/>
        </p:nvGrpSpPr>
        <p:grpSpPr bwMode="auto">
          <a:xfrm>
            <a:off x="1320800" y="1528763"/>
            <a:ext cx="7366000" cy="3629025"/>
            <a:chOff x="431" y="478"/>
            <a:chExt cx="3982" cy="1986"/>
          </a:xfrm>
        </p:grpSpPr>
        <p:sp>
          <p:nvSpPr>
            <p:cNvPr id="139390" name="Line 126"/>
            <p:cNvSpPr>
              <a:spLocks noChangeShapeType="1"/>
            </p:cNvSpPr>
            <p:nvPr/>
          </p:nvSpPr>
          <p:spPr bwMode="auto">
            <a:xfrm>
              <a:off x="431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391" name="Line 127"/>
            <p:cNvSpPr>
              <a:spLocks noChangeShapeType="1"/>
            </p:cNvSpPr>
            <p:nvPr/>
          </p:nvSpPr>
          <p:spPr bwMode="auto">
            <a:xfrm>
              <a:off x="503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392" name="Line 128"/>
            <p:cNvSpPr>
              <a:spLocks noChangeShapeType="1"/>
            </p:cNvSpPr>
            <p:nvPr/>
          </p:nvSpPr>
          <p:spPr bwMode="auto">
            <a:xfrm>
              <a:off x="575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393" name="Line 129"/>
            <p:cNvSpPr>
              <a:spLocks noChangeShapeType="1"/>
            </p:cNvSpPr>
            <p:nvPr/>
          </p:nvSpPr>
          <p:spPr bwMode="auto">
            <a:xfrm>
              <a:off x="647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394" name="Line 130"/>
            <p:cNvSpPr>
              <a:spLocks noChangeShapeType="1"/>
            </p:cNvSpPr>
            <p:nvPr/>
          </p:nvSpPr>
          <p:spPr bwMode="auto">
            <a:xfrm>
              <a:off x="719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395" name="Line 131"/>
            <p:cNvSpPr>
              <a:spLocks noChangeShapeType="1"/>
            </p:cNvSpPr>
            <p:nvPr/>
          </p:nvSpPr>
          <p:spPr bwMode="auto">
            <a:xfrm>
              <a:off x="792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396" name="Line 132"/>
            <p:cNvSpPr>
              <a:spLocks noChangeShapeType="1"/>
            </p:cNvSpPr>
            <p:nvPr/>
          </p:nvSpPr>
          <p:spPr bwMode="auto">
            <a:xfrm>
              <a:off x="864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397" name="Line 133"/>
            <p:cNvSpPr>
              <a:spLocks noChangeShapeType="1"/>
            </p:cNvSpPr>
            <p:nvPr/>
          </p:nvSpPr>
          <p:spPr bwMode="auto">
            <a:xfrm>
              <a:off x="937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398" name="Line 134"/>
            <p:cNvSpPr>
              <a:spLocks noChangeShapeType="1"/>
            </p:cNvSpPr>
            <p:nvPr/>
          </p:nvSpPr>
          <p:spPr bwMode="auto">
            <a:xfrm>
              <a:off x="1008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399" name="Line 135"/>
            <p:cNvSpPr>
              <a:spLocks noChangeShapeType="1"/>
            </p:cNvSpPr>
            <p:nvPr/>
          </p:nvSpPr>
          <p:spPr bwMode="auto">
            <a:xfrm>
              <a:off x="1080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0" name="Line 136"/>
            <p:cNvSpPr>
              <a:spLocks noChangeShapeType="1"/>
            </p:cNvSpPr>
            <p:nvPr/>
          </p:nvSpPr>
          <p:spPr bwMode="auto">
            <a:xfrm>
              <a:off x="1153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1" name="Line 137"/>
            <p:cNvSpPr>
              <a:spLocks noChangeShapeType="1"/>
            </p:cNvSpPr>
            <p:nvPr/>
          </p:nvSpPr>
          <p:spPr bwMode="auto">
            <a:xfrm>
              <a:off x="1225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2" name="Line 138"/>
            <p:cNvSpPr>
              <a:spLocks noChangeShapeType="1"/>
            </p:cNvSpPr>
            <p:nvPr/>
          </p:nvSpPr>
          <p:spPr bwMode="auto">
            <a:xfrm>
              <a:off x="1298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3" name="Line 139"/>
            <p:cNvSpPr>
              <a:spLocks noChangeShapeType="1"/>
            </p:cNvSpPr>
            <p:nvPr/>
          </p:nvSpPr>
          <p:spPr bwMode="auto">
            <a:xfrm>
              <a:off x="1369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4" name="Line 140"/>
            <p:cNvSpPr>
              <a:spLocks noChangeShapeType="1"/>
            </p:cNvSpPr>
            <p:nvPr/>
          </p:nvSpPr>
          <p:spPr bwMode="auto">
            <a:xfrm>
              <a:off x="1441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5" name="Line 141"/>
            <p:cNvSpPr>
              <a:spLocks noChangeShapeType="1"/>
            </p:cNvSpPr>
            <p:nvPr/>
          </p:nvSpPr>
          <p:spPr bwMode="auto">
            <a:xfrm>
              <a:off x="1514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6" name="Line 142"/>
            <p:cNvSpPr>
              <a:spLocks noChangeShapeType="1"/>
            </p:cNvSpPr>
            <p:nvPr/>
          </p:nvSpPr>
          <p:spPr bwMode="auto">
            <a:xfrm>
              <a:off x="1586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7" name="Line 143"/>
            <p:cNvSpPr>
              <a:spLocks noChangeShapeType="1"/>
            </p:cNvSpPr>
            <p:nvPr/>
          </p:nvSpPr>
          <p:spPr bwMode="auto">
            <a:xfrm>
              <a:off x="1659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8" name="Line 144"/>
            <p:cNvSpPr>
              <a:spLocks noChangeShapeType="1"/>
            </p:cNvSpPr>
            <p:nvPr/>
          </p:nvSpPr>
          <p:spPr bwMode="auto">
            <a:xfrm>
              <a:off x="1730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09" name="Line 145"/>
            <p:cNvSpPr>
              <a:spLocks noChangeShapeType="1"/>
            </p:cNvSpPr>
            <p:nvPr/>
          </p:nvSpPr>
          <p:spPr bwMode="auto">
            <a:xfrm>
              <a:off x="1803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0" name="Line 146"/>
            <p:cNvSpPr>
              <a:spLocks noChangeShapeType="1"/>
            </p:cNvSpPr>
            <p:nvPr/>
          </p:nvSpPr>
          <p:spPr bwMode="auto">
            <a:xfrm>
              <a:off x="1875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1" name="Line 147"/>
            <p:cNvSpPr>
              <a:spLocks noChangeShapeType="1"/>
            </p:cNvSpPr>
            <p:nvPr/>
          </p:nvSpPr>
          <p:spPr bwMode="auto">
            <a:xfrm>
              <a:off x="1947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2" name="Line 148"/>
            <p:cNvSpPr>
              <a:spLocks noChangeShapeType="1"/>
            </p:cNvSpPr>
            <p:nvPr/>
          </p:nvSpPr>
          <p:spPr bwMode="auto">
            <a:xfrm>
              <a:off x="2020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3" name="Line 149"/>
            <p:cNvSpPr>
              <a:spLocks noChangeShapeType="1"/>
            </p:cNvSpPr>
            <p:nvPr/>
          </p:nvSpPr>
          <p:spPr bwMode="auto">
            <a:xfrm>
              <a:off x="2091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4" name="Line 150"/>
            <p:cNvSpPr>
              <a:spLocks noChangeShapeType="1"/>
            </p:cNvSpPr>
            <p:nvPr/>
          </p:nvSpPr>
          <p:spPr bwMode="auto">
            <a:xfrm>
              <a:off x="2164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5" name="Line 151"/>
            <p:cNvSpPr>
              <a:spLocks noChangeShapeType="1"/>
            </p:cNvSpPr>
            <p:nvPr/>
          </p:nvSpPr>
          <p:spPr bwMode="auto">
            <a:xfrm>
              <a:off x="2236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6" name="Line 152"/>
            <p:cNvSpPr>
              <a:spLocks noChangeShapeType="1"/>
            </p:cNvSpPr>
            <p:nvPr/>
          </p:nvSpPr>
          <p:spPr bwMode="auto">
            <a:xfrm>
              <a:off x="2308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7" name="Line 153"/>
            <p:cNvSpPr>
              <a:spLocks noChangeShapeType="1"/>
            </p:cNvSpPr>
            <p:nvPr/>
          </p:nvSpPr>
          <p:spPr bwMode="auto">
            <a:xfrm>
              <a:off x="2381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8" name="Line 154"/>
            <p:cNvSpPr>
              <a:spLocks noChangeShapeType="1"/>
            </p:cNvSpPr>
            <p:nvPr/>
          </p:nvSpPr>
          <p:spPr bwMode="auto">
            <a:xfrm>
              <a:off x="2452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19" name="Line 155"/>
            <p:cNvSpPr>
              <a:spLocks noChangeShapeType="1"/>
            </p:cNvSpPr>
            <p:nvPr/>
          </p:nvSpPr>
          <p:spPr bwMode="auto">
            <a:xfrm>
              <a:off x="2525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0" name="Line 156"/>
            <p:cNvSpPr>
              <a:spLocks noChangeShapeType="1"/>
            </p:cNvSpPr>
            <p:nvPr/>
          </p:nvSpPr>
          <p:spPr bwMode="auto">
            <a:xfrm>
              <a:off x="2597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1" name="Line 157"/>
            <p:cNvSpPr>
              <a:spLocks noChangeShapeType="1"/>
            </p:cNvSpPr>
            <p:nvPr/>
          </p:nvSpPr>
          <p:spPr bwMode="auto">
            <a:xfrm>
              <a:off x="2670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2" name="Line 158"/>
            <p:cNvSpPr>
              <a:spLocks noChangeShapeType="1"/>
            </p:cNvSpPr>
            <p:nvPr/>
          </p:nvSpPr>
          <p:spPr bwMode="auto">
            <a:xfrm>
              <a:off x="2742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3" name="Line 159"/>
            <p:cNvSpPr>
              <a:spLocks noChangeShapeType="1"/>
            </p:cNvSpPr>
            <p:nvPr/>
          </p:nvSpPr>
          <p:spPr bwMode="auto">
            <a:xfrm>
              <a:off x="2813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4" name="Line 160"/>
            <p:cNvSpPr>
              <a:spLocks noChangeShapeType="1"/>
            </p:cNvSpPr>
            <p:nvPr/>
          </p:nvSpPr>
          <p:spPr bwMode="auto">
            <a:xfrm>
              <a:off x="2886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5" name="Line 161"/>
            <p:cNvSpPr>
              <a:spLocks noChangeShapeType="1"/>
            </p:cNvSpPr>
            <p:nvPr/>
          </p:nvSpPr>
          <p:spPr bwMode="auto">
            <a:xfrm>
              <a:off x="2958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6" name="Line 162"/>
            <p:cNvSpPr>
              <a:spLocks noChangeShapeType="1"/>
            </p:cNvSpPr>
            <p:nvPr/>
          </p:nvSpPr>
          <p:spPr bwMode="auto">
            <a:xfrm>
              <a:off x="3031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7" name="Line 163"/>
            <p:cNvSpPr>
              <a:spLocks noChangeShapeType="1"/>
            </p:cNvSpPr>
            <p:nvPr/>
          </p:nvSpPr>
          <p:spPr bwMode="auto">
            <a:xfrm>
              <a:off x="3103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8" name="Line 164"/>
            <p:cNvSpPr>
              <a:spLocks noChangeShapeType="1"/>
            </p:cNvSpPr>
            <p:nvPr/>
          </p:nvSpPr>
          <p:spPr bwMode="auto">
            <a:xfrm>
              <a:off x="3174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29" name="Line 165"/>
            <p:cNvSpPr>
              <a:spLocks noChangeShapeType="1"/>
            </p:cNvSpPr>
            <p:nvPr/>
          </p:nvSpPr>
          <p:spPr bwMode="auto">
            <a:xfrm>
              <a:off x="3247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0" name="Line 166"/>
            <p:cNvSpPr>
              <a:spLocks noChangeShapeType="1"/>
            </p:cNvSpPr>
            <p:nvPr/>
          </p:nvSpPr>
          <p:spPr bwMode="auto">
            <a:xfrm>
              <a:off x="3319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1" name="Line 167"/>
            <p:cNvSpPr>
              <a:spLocks noChangeShapeType="1"/>
            </p:cNvSpPr>
            <p:nvPr/>
          </p:nvSpPr>
          <p:spPr bwMode="auto">
            <a:xfrm>
              <a:off x="3392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2" name="Line 168"/>
            <p:cNvSpPr>
              <a:spLocks noChangeShapeType="1"/>
            </p:cNvSpPr>
            <p:nvPr/>
          </p:nvSpPr>
          <p:spPr bwMode="auto">
            <a:xfrm>
              <a:off x="3464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3" name="Line 169"/>
            <p:cNvSpPr>
              <a:spLocks noChangeShapeType="1"/>
            </p:cNvSpPr>
            <p:nvPr/>
          </p:nvSpPr>
          <p:spPr bwMode="auto">
            <a:xfrm>
              <a:off x="3608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4" name="Line 170"/>
            <p:cNvSpPr>
              <a:spLocks noChangeShapeType="1"/>
            </p:cNvSpPr>
            <p:nvPr/>
          </p:nvSpPr>
          <p:spPr bwMode="auto">
            <a:xfrm>
              <a:off x="3753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5" name="Line 171"/>
            <p:cNvSpPr>
              <a:spLocks noChangeShapeType="1"/>
            </p:cNvSpPr>
            <p:nvPr/>
          </p:nvSpPr>
          <p:spPr bwMode="auto">
            <a:xfrm>
              <a:off x="3897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6" name="Line 172"/>
            <p:cNvSpPr>
              <a:spLocks noChangeShapeType="1"/>
            </p:cNvSpPr>
            <p:nvPr/>
          </p:nvSpPr>
          <p:spPr bwMode="auto">
            <a:xfrm>
              <a:off x="4041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7" name="Line 173"/>
            <p:cNvSpPr>
              <a:spLocks noChangeShapeType="1"/>
            </p:cNvSpPr>
            <p:nvPr/>
          </p:nvSpPr>
          <p:spPr bwMode="auto">
            <a:xfrm>
              <a:off x="4186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8" name="Line 174"/>
            <p:cNvSpPr>
              <a:spLocks noChangeShapeType="1"/>
            </p:cNvSpPr>
            <p:nvPr/>
          </p:nvSpPr>
          <p:spPr bwMode="auto">
            <a:xfrm>
              <a:off x="4330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39" name="Line 175"/>
            <p:cNvSpPr>
              <a:spLocks noChangeShapeType="1"/>
            </p:cNvSpPr>
            <p:nvPr/>
          </p:nvSpPr>
          <p:spPr bwMode="auto">
            <a:xfrm>
              <a:off x="3536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0" name="Line 176"/>
            <p:cNvSpPr>
              <a:spLocks noChangeShapeType="1"/>
            </p:cNvSpPr>
            <p:nvPr/>
          </p:nvSpPr>
          <p:spPr bwMode="auto">
            <a:xfrm>
              <a:off x="3680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1" name="Line 177"/>
            <p:cNvSpPr>
              <a:spLocks noChangeShapeType="1"/>
            </p:cNvSpPr>
            <p:nvPr/>
          </p:nvSpPr>
          <p:spPr bwMode="auto">
            <a:xfrm>
              <a:off x="3825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2" name="Line 178"/>
            <p:cNvSpPr>
              <a:spLocks noChangeShapeType="1"/>
            </p:cNvSpPr>
            <p:nvPr/>
          </p:nvSpPr>
          <p:spPr bwMode="auto">
            <a:xfrm>
              <a:off x="3969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3" name="Line 179"/>
            <p:cNvSpPr>
              <a:spLocks noChangeShapeType="1"/>
            </p:cNvSpPr>
            <p:nvPr/>
          </p:nvSpPr>
          <p:spPr bwMode="auto">
            <a:xfrm>
              <a:off x="4114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4" name="Line 180"/>
            <p:cNvSpPr>
              <a:spLocks noChangeShapeType="1"/>
            </p:cNvSpPr>
            <p:nvPr/>
          </p:nvSpPr>
          <p:spPr bwMode="auto">
            <a:xfrm>
              <a:off x="4258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5" name="Line 181"/>
            <p:cNvSpPr>
              <a:spLocks noChangeShapeType="1"/>
            </p:cNvSpPr>
            <p:nvPr/>
          </p:nvSpPr>
          <p:spPr bwMode="auto">
            <a:xfrm>
              <a:off x="4403" y="478"/>
              <a:ext cx="0" cy="1986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6" name="Line 182"/>
            <p:cNvSpPr>
              <a:spLocks noChangeShapeType="1"/>
            </p:cNvSpPr>
            <p:nvPr/>
          </p:nvSpPr>
          <p:spPr bwMode="auto">
            <a:xfrm rot="-5400000">
              <a:off x="2422" y="390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7" name="Line 183"/>
            <p:cNvSpPr>
              <a:spLocks noChangeShapeType="1"/>
            </p:cNvSpPr>
            <p:nvPr/>
          </p:nvSpPr>
          <p:spPr bwMode="auto">
            <a:xfrm rot="-5400000">
              <a:off x="2422" y="259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8" name="Line 184"/>
            <p:cNvSpPr>
              <a:spLocks noChangeShapeType="1"/>
            </p:cNvSpPr>
            <p:nvPr/>
          </p:nvSpPr>
          <p:spPr bwMode="auto">
            <a:xfrm rot="-5400000">
              <a:off x="2422" y="62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49" name="Line 185"/>
            <p:cNvSpPr>
              <a:spLocks noChangeShapeType="1"/>
            </p:cNvSpPr>
            <p:nvPr/>
          </p:nvSpPr>
          <p:spPr bwMode="auto">
            <a:xfrm rot="-5400000">
              <a:off x="2422" y="-70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0" name="Line 186"/>
            <p:cNvSpPr>
              <a:spLocks noChangeShapeType="1"/>
            </p:cNvSpPr>
            <p:nvPr/>
          </p:nvSpPr>
          <p:spPr bwMode="auto">
            <a:xfrm rot="-5400000">
              <a:off x="2422" y="-266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1" name="Line 187"/>
            <p:cNvSpPr>
              <a:spLocks noChangeShapeType="1"/>
            </p:cNvSpPr>
            <p:nvPr/>
          </p:nvSpPr>
          <p:spPr bwMode="auto">
            <a:xfrm rot="-5400000">
              <a:off x="2422" y="-463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2" name="Line 188"/>
            <p:cNvSpPr>
              <a:spLocks noChangeShapeType="1"/>
            </p:cNvSpPr>
            <p:nvPr/>
          </p:nvSpPr>
          <p:spPr bwMode="auto">
            <a:xfrm rot="-5400000">
              <a:off x="2422" y="-726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3" name="Line 189"/>
            <p:cNvSpPr>
              <a:spLocks noChangeShapeType="1"/>
            </p:cNvSpPr>
            <p:nvPr/>
          </p:nvSpPr>
          <p:spPr bwMode="auto">
            <a:xfrm rot="-5400000">
              <a:off x="2422" y="127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4" name="Line 190"/>
            <p:cNvSpPr>
              <a:spLocks noChangeShapeType="1"/>
            </p:cNvSpPr>
            <p:nvPr/>
          </p:nvSpPr>
          <p:spPr bwMode="auto">
            <a:xfrm rot="-5400000">
              <a:off x="2422" y="-4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5" name="Line 191"/>
            <p:cNvSpPr>
              <a:spLocks noChangeShapeType="1"/>
            </p:cNvSpPr>
            <p:nvPr/>
          </p:nvSpPr>
          <p:spPr bwMode="auto">
            <a:xfrm rot="-5400000">
              <a:off x="2422" y="-201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6" name="Line 192"/>
            <p:cNvSpPr>
              <a:spLocks noChangeShapeType="1"/>
            </p:cNvSpPr>
            <p:nvPr/>
          </p:nvSpPr>
          <p:spPr bwMode="auto">
            <a:xfrm rot="-5400000">
              <a:off x="2422" y="-398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7" name="Line 193"/>
            <p:cNvSpPr>
              <a:spLocks noChangeShapeType="1"/>
            </p:cNvSpPr>
            <p:nvPr/>
          </p:nvSpPr>
          <p:spPr bwMode="auto">
            <a:xfrm rot="-5400000">
              <a:off x="2422" y="-660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8" name="Line 194"/>
            <p:cNvSpPr>
              <a:spLocks noChangeShapeType="1"/>
            </p:cNvSpPr>
            <p:nvPr/>
          </p:nvSpPr>
          <p:spPr bwMode="auto">
            <a:xfrm rot="-5400000">
              <a:off x="2422" y="-923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59" name="Line 195"/>
            <p:cNvSpPr>
              <a:spLocks noChangeShapeType="1"/>
            </p:cNvSpPr>
            <p:nvPr/>
          </p:nvSpPr>
          <p:spPr bwMode="auto">
            <a:xfrm rot="-5400000">
              <a:off x="2422" y="-1120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0" name="Line 196"/>
            <p:cNvSpPr>
              <a:spLocks noChangeShapeType="1"/>
            </p:cNvSpPr>
            <p:nvPr/>
          </p:nvSpPr>
          <p:spPr bwMode="auto">
            <a:xfrm rot="-5400000">
              <a:off x="2422" y="-135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1" name="Line 197"/>
            <p:cNvSpPr>
              <a:spLocks noChangeShapeType="1"/>
            </p:cNvSpPr>
            <p:nvPr/>
          </p:nvSpPr>
          <p:spPr bwMode="auto">
            <a:xfrm rot="-5400000">
              <a:off x="2422" y="-332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2" name="Line 198"/>
            <p:cNvSpPr>
              <a:spLocks noChangeShapeType="1"/>
            </p:cNvSpPr>
            <p:nvPr/>
          </p:nvSpPr>
          <p:spPr bwMode="auto">
            <a:xfrm rot="-5400000">
              <a:off x="2422" y="-595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3" name="Line 199"/>
            <p:cNvSpPr>
              <a:spLocks noChangeShapeType="1"/>
            </p:cNvSpPr>
            <p:nvPr/>
          </p:nvSpPr>
          <p:spPr bwMode="auto">
            <a:xfrm rot="-5400000">
              <a:off x="2422" y="-857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4" name="Line 200"/>
            <p:cNvSpPr>
              <a:spLocks noChangeShapeType="1"/>
            </p:cNvSpPr>
            <p:nvPr/>
          </p:nvSpPr>
          <p:spPr bwMode="auto">
            <a:xfrm rot="-5400000">
              <a:off x="2422" y="-1054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5" name="Line 201"/>
            <p:cNvSpPr>
              <a:spLocks noChangeShapeType="1"/>
            </p:cNvSpPr>
            <p:nvPr/>
          </p:nvSpPr>
          <p:spPr bwMode="auto">
            <a:xfrm rot="-5400000">
              <a:off x="2422" y="-1251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6" name="Line 202"/>
            <p:cNvSpPr>
              <a:spLocks noChangeShapeType="1"/>
            </p:cNvSpPr>
            <p:nvPr/>
          </p:nvSpPr>
          <p:spPr bwMode="auto">
            <a:xfrm rot="-5400000">
              <a:off x="2422" y="-1382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7" name="Line 203"/>
            <p:cNvSpPr>
              <a:spLocks noChangeShapeType="1"/>
            </p:cNvSpPr>
            <p:nvPr/>
          </p:nvSpPr>
          <p:spPr bwMode="auto">
            <a:xfrm rot="-5400000">
              <a:off x="2422" y="-529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8" name="Line 204"/>
            <p:cNvSpPr>
              <a:spLocks noChangeShapeType="1"/>
            </p:cNvSpPr>
            <p:nvPr/>
          </p:nvSpPr>
          <p:spPr bwMode="auto">
            <a:xfrm rot="-5400000">
              <a:off x="2422" y="-792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69" name="Line 205"/>
            <p:cNvSpPr>
              <a:spLocks noChangeShapeType="1"/>
            </p:cNvSpPr>
            <p:nvPr/>
          </p:nvSpPr>
          <p:spPr bwMode="auto">
            <a:xfrm rot="-5400000">
              <a:off x="2422" y="-988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70" name="Line 206"/>
            <p:cNvSpPr>
              <a:spLocks noChangeShapeType="1"/>
            </p:cNvSpPr>
            <p:nvPr/>
          </p:nvSpPr>
          <p:spPr bwMode="auto">
            <a:xfrm rot="-5400000">
              <a:off x="2422" y="-1185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71" name="Line 207"/>
            <p:cNvSpPr>
              <a:spLocks noChangeShapeType="1"/>
            </p:cNvSpPr>
            <p:nvPr/>
          </p:nvSpPr>
          <p:spPr bwMode="auto">
            <a:xfrm rot="-5400000">
              <a:off x="2422" y="-1317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72" name="Line 208"/>
            <p:cNvSpPr>
              <a:spLocks noChangeShapeType="1"/>
            </p:cNvSpPr>
            <p:nvPr/>
          </p:nvSpPr>
          <p:spPr bwMode="auto">
            <a:xfrm rot="-5400000">
              <a:off x="2422" y="-1448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73" name="Line 209"/>
            <p:cNvSpPr>
              <a:spLocks noChangeShapeType="1"/>
            </p:cNvSpPr>
            <p:nvPr/>
          </p:nvSpPr>
          <p:spPr bwMode="auto">
            <a:xfrm rot="-5400000">
              <a:off x="2422" y="-1513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74" name="Line 210"/>
            <p:cNvSpPr>
              <a:spLocks noChangeShapeType="1"/>
            </p:cNvSpPr>
            <p:nvPr/>
          </p:nvSpPr>
          <p:spPr bwMode="auto">
            <a:xfrm rot="-5400000">
              <a:off x="2422" y="456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75" name="Line 211"/>
            <p:cNvSpPr>
              <a:spLocks noChangeShapeType="1"/>
            </p:cNvSpPr>
            <p:nvPr/>
          </p:nvSpPr>
          <p:spPr bwMode="auto">
            <a:xfrm rot="-5400000">
              <a:off x="2422" y="193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476" name="Line 212"/>
            <p:cNvSpPr>
              <a:spLocks noChangeShapeType="1"/>
            </p:cNvSpPr>
            <p:nvPr/>
          </p:nvSpPr>
          <p:spPr bwMode="auto">
            <a:xfrm rot="-5400000">
              <a:off x="2422" y="324"/>
              <a:ext cx="0" cy="3982"/>
            </a:xfrm>
            <a:prstGeom prst="line">
              <a:avLst/>
            </a:prstGeom>
            <a:noFill/>
            <a:ln w="3175">
              <a:solidFill>
                <a:srgbClr val="FFCC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9477" name="Text Box 213"/>
          <p:cNvSpPr txBox="1">
            <a:spLocks noChangeArrowheads="1"/>
          </p:cNvSpPr>
          <p:nvPr/>
        </p:nvSpPr>
        <p:spPr bwMode="auto">
          <a:xfrm>
            <a:off x="5772150" y="300038"/>
            <a:ext cx="30924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600" dirty="0"/>
              <a:t>NOTE:</a:t>
            </a:r>
          </a:p>
          <a:p>
            <a:pPr algn="l"/>
            <a:r>
              <a:rPr lang="en-GB" sz="1600" dirty="0"/>
              <a:t>There is ST depression (ischaemia) in other leads</a:t>
            </a:r>
            <a:endParaRPr lang="en-GB" sz="1600" dirty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8"/>
          <p:cNvGrpSpPr>
            <a:grpSpLocks/>
          </p:cNvGrpSpPr>
          <p:nvPr/>
        </p:nvGrpSpPr>
        <p:grpSpPr bwMode="auto">
          <a:xfrm>
            <a:off x="1922463" y="1885950"/>
            <a:ext cx="5297487" cy="1981200"/>
            <a:chOff x="1177" y="959"/>
            <a:chExt cx="3337" cy="1248"/>
          </a:xfrm>
        </p:grpSpPr>
        <p:sp>
          <p:nvSpPr>
            <p:cNvPr id="126049" name="Rectangle 97"/>
            <p:cNvSpPr>
              <a:spLocks noChangeArrowheads="1"/>
            </p:cNvSpPr>
            <p:nvPr/>
          </p:nvSpPr>
          <p:spPr bwMode="auto">
            <a:xfrm>
              <a:off x="1177" y="959"/>
              <a:ext cx="3337" cy="12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96"/>
            <p:cNvGrpSpPr>
              <a:grpSpLocks/>
            </p:cNvGrpSpPr>
            <p:nvPr/>
          </p:nvGrpSpPr>
          <p:grpSpPr bwMode="auto">
            <a:xfrm>
              <a:off x="1177" y="965"/>
              <a:ext cx="3322" cy="1242"/>
              <a:chOff x="423" y="643"/>
              <a:chExt cx="3322" cy="1073"/>
            </a:xfrm>
          </p:grpSpPr>
          <p:grpSp>
            <p:nvGrpSpPr>
              <p:cNvPr id="4" name="Group 95"/>
              <p:cNvGrpSpPr>
                <a:grpSpLocks/>
              </p:cNvGrpSpPr>
              <p:nvPr/>
            </p:nvGrpSpPr>
            <p:grpSpPr bwMode="auto">
              <a:xfrm>
                <a:off x="426" y="647"/>
                <a:ext cx="3315" cy="1065"/>
                <a:chOff x="1302" y="1371"/>
                <a:chExt cx="3315" cy="2319"/>
              </a:xfrm>
            </p:grpSpPr>
            <p:sp>
              <p:nvSpPr>
                <p:cNvPr id="125969" name="Line 17"/>
                <p:cNvSpPr>
                  <a:spLocks noChangeShapeType="1"/>
                </p:cNvSpPr>
                <p:nvPr/>
              </p:nvSpPr>
              <p:spPr bwMode="auto">
                <a:xfrm>
                  <a:off x="1302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0" name="Line 18"/>
                <p:cNvSpPr>
                  <a:spLocks noChangeShapeType="1"/>
                </p:cNvSpPr>
                <p:nvPr/>
              </p:nvSpPr>
              <p:spPr bwMode="auto">
                <a:xfrm>
                  <a:off x="1391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1" name="Line 19"/>
                <p:cNvSpPr>
                  <a:spLocks noChangeShapeType="1"/>
                </p:cNvSpPr>
                <p:nvPr/>
              </p:nvSpPr>
              <p:spPr bwMode="auto">
                <a:xfrm>
                  <a:off x="1482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2" name="Line 20"/>
                <p:cNvSpPr>
                  <a:spLocks noChangeShapeType="1"/>
                </p:cNvSpPr>
                <p:nvPr/>
              </p:nvSpPr>
              <p:spPr bwMode="auto">
                <a:xfrm>
                  <a:off x="1570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3" name="Line 21"/>
                <p:cNvSpPr>
                  <a:spLocks noChangeShapeType="1"/>
                </p:cNvSpPr>
                <p:nvPr/>
              </p:nvSpPr>
              <p:spPr bwMode="auto">
                <a:xfrm>
                  <a:off x="1659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4" name="Line 22"/>
                <p:cNvSpPr>
                  <a:spLocks noChangeShapeType="1"/>
                </p:cNvSpPr>
                <p:nvPr/>
              </p:nvSpPr>
              <p:spPr bwMode="auto">
                <a:xfrm>
                  <a:off x="1750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5" name="Line 23"/>
                <p:cNvSpPr>
                  <a:spLocks noChangeShapeType="1"/>
                </p:cNvSpPr>
                <p:nvPr/>
              </p:nvSpPr>
              <p:spPr bwMode="auto">
                <a:xfrm>
                  <a:off x="1839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6" name="Line 24"/>
                <p:cNvSpPr>
                  <a:spLocks noChangeShapeType="1"/>
                </p:cNvSpPr>
                <p:nvPr/>
              </p:nvSpPr>
              <p:spPr bwMode="auto">
                <a:xfrm>
                  <a:off x="1929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7" name="Line 25"/>
                <p:cNvSpPr>
                  <a:spLocks noChangeShapeType="1"/>
                </p:cNvSpPr>
                <p:nvPr/>
              </p:nvSpPr>
              <p:spPr bwMode="auto">
                <a:xfrm>
                  <a:off x="2018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8" name="Line 26"/>
                <p:cNvSpPr>
                  <a:spLocks noChangeShapeType="1"/>
                </p:cNvSpPr>
                <p:nvPr/>
              </p:nvSpPr>
              <p:spPr bwMode="auto">
                <a:xfrm>
                  <a:off x="2108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79" name="Line 27"/>
                <p:cNvSpPr>
                  <a:spLocks noChangeShapeType="1"/>
                </p:cNvSpPr>
                <p:nvPr/>
              </p:nvSpPr>
              <p:spPr bwMode="auto">
                <a:xfrm>
                  <a:off x="2197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0" name="Line 28"/>
                <p:cNvSpPr>
                  <a:spLocks noChangeShapeType="1"/>
                </p:cNvSpPr>
                <p:nvPr/>
              </p:nvSpPr>
              <p:spPr bwMode="auto">
                <a:xfrm>
                  <a:off x="2287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1" name="Line 29"/>
                <p:cNvSpPr>
                  <a:spLocks noChangeShapeType="1"/>
                </p:cNvSpPr>
                <p:nvPr/>
              </p:nvSpPr>
              <p:spPr bwMode="auto">
                <a:xfrm>
                  <a:off x="2377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2" name="Line 30"/>
                <p:cNvSpPr>
                  <a:spLocks noChangeShapeType="1"/>
                </p:cNvSpPr>
                <p:nvPr/>
              </p:nvSpPr>
              <p:spPr bwMode="auto">
                <a:xfrm>
                  <a:off x="2465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3" name="Line 31"/>
                <p:cNvSpPr>
                  <a:spLocks noChangeShapeType="1"/>
                </p:cNvSpPr>
                <p:nvPr/>
              </p:nvSpPr>
              <p:spPr bwMode="auto">
                <a:xfrm>
                  <a:off x="2556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4" name="Line 32"/>
                <p:cNvSpPr>
                  <a:spLocks noChangeShapeType="1"/>
                </p:cNvSpPr>
                <p:nvPr/>
              </p:nvSpPr>
              <p:spPr bwMode="auto">
                <a:xfrm>
                  <a:off x="2645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5" name="Line 33"/>
                <p:cNvSpPr>
                  <a:spLocks noChangeShapeType="1"/>
                </p:cNvSpPr>
                <p:nvPr/>
              </p:nvSpPr>
              <p:spPr bwMode="auto">
                <a:xfrm>
                  <a:off x="2735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6" name="Line 34"/>
                <p:cNvSpPr>
                  <a:spLocks noChangeShapeType="1"/>
                </p:cNvSpPr>
                <p:nvPr/>
              </p:nvSpPr>
              <p:spPr bwMode="auto">
                <a:xfrm>
                  <a:off x="2825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7" name="Line 35"/>
                <p:cNvSpPr>
                  <a:spLocks noChangeShapeType="1"/>
                </p:cNvSpPr>
                <p:nvPr/>
              </p:nvSpPr>
              <p:spPr bwMode="auto">
                <a:xfrm>
                  <a:off x="2913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8" name="Line 36"/>
                <p:cNvSpPr>
                  <a:spLocks noChangeShapeType="1"/>
                </p:cNvSpPr>
                <p:nvPr/>
              </p:nvSpPr>
              <p:spPr bwMode="auto">
                <a:xfrm>
                  <a:off x="3004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89" name="Line 37"/>
                <p:cNvSpPr>
                  <a:spLocks noChangeShapeType="1"/>
                </p:cNvSpPr>
                <p:nvPr/>
              </p:nvSpPr>
              <p:spPr bwMode="auto">
                <a:xfrm>
                  <a:off x="3093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0" name="Line 38"/>
                <p:cNvSpPr>
                  <a:spLocks noChangeShapeType="1"/>
                </p:cNvSpPr>
                <p:nvPr/>
              </p:nvSpPr>
              <p:spPr bwMode="auto">
                <a:xfrm>
                  <a:off x="3184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1" name="Line 39"/>
                <p:cNvSpPr>
                  <a:spLocks noChangeShapeType="1"/>
                </p:cNvSpPr>
                <p:nvPr/>
              </p:nvSpPr>
              <p:spPr bwMode="auto">
                <a:xfrm>
                  <a:off x="3273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2" name="Line 40"/>
                <p:cNvSpPr>
                  <a:spLocks noChangeShapeType="1"/>
                </p:cNvSpPr>
                <p:nvPr/>
              </p:nvSpPr>
              <p:spPr bwMode="auto">
                <a:xfrm>
                  <a:off x="3361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3" name="Line 41"/>
                <p:cNvSpPr>
                  <a:spLocks noChangeShapeType="1"/>
                </p:cNvSpPr>
                <p:nvPr/>
              </p:nvSpPr>
              <p:spPr bwMode="auto">
                <a:xfrm>
                  <a:off x="3452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4" name="Line 42"/>
                <p:cNvSpPr>
                  <a:spLocks noChangeShapeType="1"/>
                </p:cNvSpPr>
                <p:nvPr/>
              </p:nvSpPr>
              <p:spPr bwMode="auto">
                <a:xfrm>
                  <a:off x="3541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5" name="Line 43"/>
                <p:cNvSpPr>
                  <a:spLocks noChangeShapeType="1"/>
                </p:cNvSpPr>
                <p:nvPr/>
              </p:nvSpPr>
              <p:spPr bwMode="auto">
                <a:xfrm>
                  <a:off x="3632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6" name="Line 44"/>
                <p:cNvSpPr>
                  <a:spLocks noChangeShapeType="1"/>
                </p:cNvSpPr>
                <p:nvPr/>
              </p:nvSpPr>
              <p:spPr bwMode="auto">
                <a:xfrm>
                  <a:off x="3721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7" name="Line 45"/>
                <p:cNvSpPr>
                  <a:spLocks noChangeShapeType="1"/>
                </p:cNvSpPr>
                <p:nvPr/>
              </p:nvSpPr>
              <p:spPr bwMode="auto">
                <a:xfrm>
                  <a:off x="3809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8" name="Line 46"/>
                <p:cNvSpPr>
                  <a:spLocks noChangeShapeType="1"/>
                </p:cNvSpPr>
                <p:nvPr/>
              </p:nvSpPr>
              <p:spPr bwMode="auto">
                <a:xfrm>
                  <a:off x="3899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999" name="Line 47"/>
                <p:cNvSpPr>
                  <a:spLocks noChangeShapeType="1"/>
                </p:cNvSpPr>
                <p:nvPr/>
              </p:nvSpPr>
              <p:spPr bwMode="auto">
                <a:xfrm>
                  <a:off x="3989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00" name="Line 48"/>
                <p:cNvSpPr>
                  <a:spLocks noChangeShapeType="1"/>
                </p:cNvSpPr>
                <p:nvPr/>
              </p:nvSpPr>
              <p:spPr bwMode="auto">
                <a:xfrm>
                  <a:off x="4079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01" name="Line 49"/>
                <p:cNvSpPr>
                  <a:spLocks noChangeShapeType="1"/>
                </p:cNvSpPr>
                <p:nvPr/>
              </p:nvSpPr>
              <p:spPr bwMode="auto">
                <a:xfrm>
                  <a:off x="4169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02" name="Line 50"/>
                <p:cNvSpPr>
                  <a:spLocks noChangeShapeType="1"/>
                </p:cNvSpPr>
                <p:nvPr/>
              </p:nvSpPr>
              <p:spPr bwMode="auto">
                <a:xfrm>
                  <a:off x="4347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03" name="Line 51"/>
                <p:cNvSpPr>
                  <a:spLocks noChangeShapeType="1"/>
                </p:cNvSpPr>
                <p:nvPr/>
              </p:nvSpPr>
              <p:spPr bwMode="auto">
                <a:xfrm>
                  <a:off x="4527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08" name="Line 56"/>
                <p:cNvSpPr>
                  <a:spLocks noChangeShapeType="1"/>
                </p:cNvSpPr>
                <p:nvPr/>
              </p:nvSpPr>
              <p:spPr bwMode="auto">
                <a:xfrm>
                  <a:off x="4258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09" name="Line 57"/>
                <p:cNvSpPr>
                  <a:spLocks noChangeShapeType="1"/>
                </p:cNvSpPr>
                <p:nvPr/>
              </p:nvSpPr>
              <p:spPr bwMode="auto">
                <a:xfrm>
                  <a:off x="4437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10" name="Line 58"/>
                <p:cNvSpPr>
                  <a:spLocks noChangeShapeType="1"/>
                </p:cNvSpPr>
                <p:nvPr/>
              </p:nvSpPr>
              <p:spPr bwMode="auto">
                <a:xfrm>
                  <a:off x="4617" y="1371"/>
                  <a:ext cx="0" cy="2319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94"/>
              <p:cNvGrpSpPr>
                <a:grpSpLocks/>
              </p:cNvGrpSpPr>
              <p:nvPr/>
            </p:nvGrpSpPr>
            <p:grpSpPr bwMode="auto">
              <a:xfrm>
                <a:off x="423" y="643"/>
                <a:ext cx="3322" cy="1073"/>
                <a:chOff x="406" y="3765"/>
                <a:chExt cx="4940" cy="1073"/>
              </a:xfrm>
            </p:grpSpPr>
            <p:sp>
              <p:nvSpPr>
                <p:cNvPr id="126015" name="Line 63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2291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16" name="Line 64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2138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17" name="Line 65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908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18" name="Line 66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754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19" name="Line 67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525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20" name="Line 68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295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22" name="Line 70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984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23" name="Line 71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831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24" name="Line 72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601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25" name="Line 73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371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29" name="Line 77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678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30" name="Line 78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1448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43" name="Line 91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2368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44" name="Line 92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2061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045" name="Line 93"/>
                <p:cNvSpPr>
                  <a:spLocks noChangeShapeType="1"/>
                </p:cNvSpPr>
                <p:nvPr/>
              </p:nvSpPr>
              <p:spPr bwMode="auto">
                <a:xfrm rot="-5400000">
                  <a:off x="2876" y="2214"/>
                  <a:ext cx="0" cy="4940"/>
                </a:xfrm>
                <a:prstGeom prst="line">
                  <a:avLst/>
                </a:prstGeom>
                <a:noFill/>
                <a:ln w="3175">
                  <a:solidFill>
                    <a:srgbClr val="FFCC99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26051" name="Text Box 99"/>
          <p:cNvSpPr txBox="1">
            <a:spLocks noChangeArrowheads="1"/>
          </p:cNvSpPr>
          <p:nvPr/>
        </p:nvSpPr>
        <p:spPr bwMode="auto">
          <a:xfrm>
            <a:off x="2030413" y="3916363"/>
            <a:ext cx="50847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>
                <a:latin typeface="BrushScrD" pitchFamily="66" charset="0"/>
              </a:rPr>
              <a:t>This is representation; not an actual recording</a:t>
            </a:r>
          </a:p>
        </p:txBody>
      </p:sp>
      <p:sp>
        <p:nvSpPr>
          <p:cNvPr id="126055" name="Text Box 103"/>
          <p:cNvSpPr txBox="1">
            <a:spLocks noChangeArrowheads="1"/>
          </p:cNvSpPr>
          <p:nvPr/>
        </p:nvSpPr>
        <p:spPr bwMode="auto">
          <a:xfrm>
            <a:off x="863600" y="1120775"/>
            <a:ext cx="4748213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Disconnection / equipment failure</a:t>
            </a:r>
          </a:p>
        </p:txBody>
      </p:sp>
      <p:sp>
        <p:nvSpPr>
          <p:cNvPr id="126065" name="Text Box 113"/>
          <p:cNvSpPr txBox="1">
            <a:spLocks noChangeArrowheads="1"/>
          </p:cNvSpPr>
          <p:nvPr/>
        </p:nvSpPr>
        <p:spPr bwMode="auto">
          <a:xfrm>
            <a:off x="739775" y="5202238"/>
            <a:ext cx="4281488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How would you describe the trace?</a:t>
            </a:r>
          </a:p>
        </p:txBody>
      </p:sp>
      <p:sp>
        <p:nvSpPr>
          <p:cNvPr id="126066" name="Text Box 114"/>
          <p:cNvSpPr txBox="1">
            <a:spLocks noChangeArrowheads="1"/>
          </p:cNvSpPr>
          <p:nvPr/>
        </p:nvSpPr>
        <p:spPr bwMode="auto">
          <a:xfrm>
            <a:off x="5367338" y="5203825"/>
            <a:ext cx="20732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Completely flat</a:t>
            </a:r>
          </a:p>
        </p:txBody>
      </p:sp>
      <p:sp>
        <p:nvSpPr>
          <p:cNvPr id="126071" name="Rectangle 119"/>
          <p:cNvSpPr>
            <a:spLocks noChangeArrowheads="1"/>
          </p:cNvSpPr>
          <p:nvPr/>
        </p:nvSpPr>
        <p:spPr bwMode="auto">
          <a:xfrm>
            <a:off x="538163" y="3159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26073" name="Line 121"/>
          <p:cNvSpPr>
            <a:spLocks noChangeShapeType="1"/>
          </p:cNvSpPr>
          <p:nvPr/>
        </p:nvSpPr>
        <p:spPr bwMode="auto">
          <a:xfrm>
            <a:off x="2017713" y="2932113"/>
            <a:ext cx="51228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08" name="Text Box 64"/>
          <p:cNvSpPr txBox="1">
            <a:spLocks noChangeArrowheads="1"/>
          </p:cNvSpPr>
          <p:nvPr/>
        </p:nvSpPr>
        <p:spPr bwMode="auto">
          <a:xfrm>
            <a:off x="850900" y="1057275"/>
            <a:ext cx="1400175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400"/>
              <a:t>Asystole</a:t>
            </a:r>
          </a:p>
        </p:txBody>
      </p:sp>
      <p:sp>
        <p:nvSpPr>
          <p:cNvPr id="134212" name="Text Box 68"/>
          <p:cNvSpPr txBox="1">
            <a:spLocks noChangeArrowheads="1"/>
          </p:cNvSpPr>
          <p:nvPr/>
        </p:nvSpPr>
        <p:spPr bwMode="auto">
          <a:xfrm>
            <a:off x="955675" y="5418138"/>
            <a:ext cx="4281488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How would you describe the trace?</a:t>
            </a:r>
          </a:p>
        </p:txBody>
      </p:sp>
      <p:sp>
        <p:nvSpPr>
          <p:cNvPr id="134213" name="Text Box 69"/>
          <p:cNvSpPr txBox="1">
            <a:spLocks noChangeArrowheads="1"/>
          </p:cNvSpPr>
          <p:nvPr/>
        </p:nvSpPr>
        <p:spPr bwMode="auto">
          <a:xfrm>
            <a:off x="5583238" y="5419725"/>
            <a:ext cx="31226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 dirty="0"/>
              <a:t>no cardiac activity seen</a:t>
            </a:r>
          </a:p>
        </p:txBody>
      </p:sp>
      <p:sp>
        <p:nvSpPr>
          <p:cNvPr id="134214" name="Rectangle 70"/>
          <p:cNvSpPr>
            <a:spLocks noChangeArrowheads="1"/>
          </p:cNvSpPr>
          <p:nvPr/>
        </p:nvSpPr>
        <p:spPr bwMode="auto">
          <a:xfrm>
            <a:off x="525463" y="3921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34215" name="Text Box 71"/>
          <p:cNvSpPr txBox="1">
            <a:spLocks noChangeArrowheads="1"/>
          </p:cNvSpPr>
          <p:nvPr/>
        </p:nvSpPr>
        <p:spPr bwMode="auto">
          <a:xfrm>
            <a:off x="5649913" y="584200"/>
            <a:ext cx="30670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800"/>
              <a:t>NOTE:</a:t>
            </a:r>
          </a:p>
          <a:p>
            <a:pPr algn="l"/>
            <a:r>
              <a:rPr lang="en-GB" sz="1800"/>
              <a:t>Although this is known as a ‘flatline’ in films, it is NOT a completely flat line!</a:t>
            </a:r>
            <a:endParaRPr lang="en-GB" sz="1800">
              <a:cs typeface="Arial" charset="0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286000"/>
            <a:ext cx="7238999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ChangeArrowheads="1"/>
          </p:cNvSpPr>
          <p:nvPr/>
        </p:nvSpPr>
        <p:spPr bwMode="auto">
          <a:xfrm>
            <a:off x="309563" y="201613"/>
            <a:ext cx="4364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/>
              <a:t>Electrocardiography (cont)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830263" y="936625"/>
            <a:ext cx="6350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/>
              <a:t>REVERSIBLE causes of asystole (from ALS algorithm)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1209675" y="2157413"/>
            <a:ext cx="3252788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Hypoxia</a:t>
            </a:r>
          </a:p>
          <a:p>
            <a:pPr algn="l"/>
            <a:r>
              <a:rPr lang="en-GB" sz="2000"/>
              <a:t>Hypovolaemia</a:t>
            </a:r>
          </a:p>
          <a:p>
            <a:pPr algn="l"/>
            <a:r>
              <a:rPr lang="en-GB" sz="2000"/>
              <a:t>Hyper/hypokalaemia</a:t>
            </a:r>
          </a:p>
          <a:p>
            <a:pPr algn="l"/>
            <a:r>
              <a:rPr lang="en-GB" sz="2000"/>
              <a:t>Hypothermia</a:t>
            </a:r>
          </a:p>
        </p:txBody>
      </p:sp>
      <p:sp>
        <p:nvSpPr>
          <p:cNvPr id="159749" name="Text Box 5"/>
          <p:cNvSpPr txBox="1">
            <a:spLocks noChangeArrowheads="1"/>
          </p:cNvSpPr>
          <p:nvPr/>
        </p:nvSpPr>
        <p:spPr bwMode="auto">
          <a:xfrm>
            <a:off x="830263" y="3894138"/>
            <a:ext cx="3284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u="sng"/>
              <a:t>Brief</a:t>
            </a:r>
            <a:r>
              <a:rPr lang="en-GB" sz="2000"/>
              <a:t> over-view of treatment</a:t>
            </a:r>
          </a:p>
        </p:txBody>
      </p:sp>
      <p:sp>
        <p:nvSpPr>
          <p:cNvPr id="159751" name="Text Box 7"/>
          <p:cNvSpPr txBox="1">
            <a:spLocks noChangeArrowheads="1"/>
          </p:cNvSpPr>
          <p:nvPr/>
        </p:nvSpPr>
        <p:spPr bwMode="auto">
          <a:xfrm>
            <a:off x="4640263" y="2157413"/>
            <a:ext cx="3252787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Tension pneumothorax</a:t>
            </a:r>
          </a:p>
          <a:p>
            <a:pPr algn="l"/>
            <a:r>
              <a:rPr lang="en-GB" sz="2000"/>
              <a:t>Tamponade</a:t>
            </a:r>
          </a:p>
          <a:p>
            <a:pPr algn="l"/>
            <a:r>
              <a:rPr lang="en-GB" sz="2000"/>
              <a:t>Thrombo-embolism</a:t>
            </a:r>
          </a:p>
          <a:p>
            <a:pPr algn="l"/>
            <a:r>
              <a:rPr lang="en-GB" sz="2000"/>
              <a:t>Toxic (eg drugs)</a:t>
            </a:r>
          </a:p>
        </p:txBody>
      </p:sp>
      <p:sp>
        <p:nvSpPr>
          <p:cNvPr id="159752" name="Text Box 8"/>
          <p:cNvSpPr txBox="1">
            <a:spLocks noChangeArrowheads="1"/>
          </p:cNvSpPr>
          <p:nvPr/>
        </p:nvSpPr>
        <p:spPr bwMode="auto">
          <a:xfrm>
            <a:off x="1209675" y="1541463"/>
            <a:ext cx="3252788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The 4 ‘H’s and 4 ‘T’s</a:t>
            </a:r>
          </a:p>
        </p:txBody>
      </p:sp>
      <p:sp>
        <p:nvSpPr>
          <p:cNvPr id="159753" name="Text Box 9"/>
          <p:cNvSpPr txBox="1">
            <a:spLocks noChangeArrowheads="1"/>
          </p:cNvSpPr>
          <p:nvPr/>
        </p:nvSpPr>
        <p:spPr bwMode="auto">
          <a:xfrm>
            <a:off x="1209675" y="4610100"/>
            <a:ext cx="6426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2000"/>
              <a:t>Advanced Life Support algorithm (ALS)</a:t>
            </a:r>
          </a:p>
          <a:p>
            <a:pPr algn="l"/>
            <a:r>
              <a:rPr lang="en-GB" sz="2000"/>
              <a:t>Identify and treat cause appropriately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762000"/>
            <a:ext cx="4584192" cy="4572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Anesthetic Monitoring 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11312" y="1423989"/>
            <a:ext cx="5399088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Clinical monitoring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>
                <a:solidFill>
                  <a:srgbClr val="FF0000"/>
                </a:solidFill>
              </a:rPr>
              <a:t>Pulseoxymetry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Capnography 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Non invasive Blood pressure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US" sz="2200" dirty="0" smtClean="0">
                <a:solidFill>
                  <a:srgbClr val="FF0000"/>
                </a:solidFill>
              </a:rPr>
              <a:t>ECG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Peripheral nerve stimulators</a:t>
            </a:r>
          </a:p>
          <a:p>
            <a:pPr marL="360363" indent="-360363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Volatile / gas analyser &amp; anaesthesia depth</a:t>
            </a:r>
          </a:p>
          <a:p>
            <a:pPr marL="360363" indent="-360363" algn="l">
              <a:lnSpc>
                <a:spcPct val="150000"/>
              </a:lnSpc>
              <a:buFontTx/>
              <a:buChar char="•"/>
            </a:pPr>
            <a:r>
              <a:rPr lang="en-GB" sz="2200" dirty="0" smtClean="0"/>
              <a:t>Temperature </a:t>
            </a:r>
            <a:r>
              <a:rPr lang="en-GB" sz="2200" dirty="0" smtClean="0"/>
              <a:t>monitoring</a:t>
            </a:r>
            <a:endParaRPr lang="en-GB" sz="2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239000" y="1447800"/>
            <a:ext cx="1295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rgbClr val="FF0000"/>
                </a:solidFill>
              </a:rPr>
              <a:t>√</a:t>
            </a: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035808" y="2544762"/>
            <a:ext cx="3745992" cy="731838"/>
          </a:xfrm>
          <a:prstGeom prst="rect">
            <a:avLst/>
          </a:prstGeom>
        </p:spPr>
        <p:txBody>
          <a:bodyPr anchor="ctr">
            <a:normAutofit fontScale="975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all" spc="0" normalizeH="0" baseline="0" noProof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+mj-lt"/>
                <a:ea typeface="+mj-ea"/>
                <a:cs typeface="+mj-cs"/>
              </a:rPr>
              <a:t>END!!!</a:t>
            </a:r>
            <a:endParaRPr kumimoji="0" lang="en-US" sz="4300" b="1" i="0" u="none" strike="noStrike" kern="1200" cap="all" spc="0" normalizeH="0" baseline="0" noProof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2066</TotalTime>
  <Words>3241</Words>
  <Application>Microsoft Office PowerPoint</Application>
  <PresentationFormat>On-screen Show (4:3)</PresentationFormat>
  <Paragraphs>694</Paragraphs>
  <Slides>65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7" baseType="lpstr">
      <vt:lpstr>Office Theme</vt:lpstr>
      <vt:lpstr>Bitmap Image</vt:lpstr>
      <vt:lpstr>Anesthetic Monitoring </vt:lpstr>
      <vt:lpstr>Chapter Six</vt:lpstr>
      <vt:lpstr>1. Non invasive arterial blood pressure (NIABP)  measurement</vt:lpstr>
      <vt:lpstr>Non-invasive blood pressure monitoring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Anesthetic Monitoring </vt:lpstr>
      <vt:lpstr>Slide 14</vt:lpstr>
      <vt:lpstr>Objectives </vt:lpstr>
      <vt:lpstr>Slide 16</vt:lpstr>
      <vt:lpstr>Slide 17</vt:lpstr>
      <vt:lpstr>Slide 18</vt:lpstr>
      <vt:lpstr>Slide 19</vt:lpstr>
      <vt:lpstr>The 12-Leads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Anesthetic Monitoring </vt:lpstr>
      <vt:lpstr>Slide 65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Anesthetic Monitoring </dc:title>
  <dc:creator>pc</dc:creator>
  <cp:lastModifiedBy>wosen</cp:lastModifiedBy>
  <cp:revision>144</cp:revision>
  <dcterms:created xsi:type="dcterms:W3CDTF">2012-08-22T01:52:34Z</dcterms:created>
  <dcterms:modified xsi:type="dcterms:W3CDTF">2015-04-30T19:13:29Z</dcterms:modified>
</cp:coreProperties>
</file>