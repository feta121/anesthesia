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2" r:id="rId6"/>
    <p:sldId id="263" r:id="rId7"/>
    <p:sldId id="264" r:id="rId8"/>
    <p:sldId id="265" r:id="rId9"/>
    <p:sldId id="324" r:id="rId10"/>
    <p:sldId id="330" r:id="rId11"/>
    <p:sldId id="333" r:id="rId12"/>
    <p:sldId id="329" r:id="rId13"/>
    <p:sldId id="267" r:id="rId14"/>
    <p:sldId id="269" r:id="rId15"/>
    <p:sldId id="270" r:id="rId16"/>
    <p:sldId id="271" r:id="rId17"/>
    <p:sldId id="278" r:id="rId18"/>
    <p:sldId id="279" r:id="rId19"/>
    <p:sldId id="272" r:id="rId20"/>
    <p:sldId id="273" r:id="rId21"/>
    <p:sldId id="280" r:id="rId22"/>
    <p:sldId id="281" r:id="rId23"/>
    <p:sldId id="277" r:id="rId24"/>
    <p:sldId id="275" r:id="rId25"/>
    <p:sldId id="282" r:id="rId26"/>
    <p:sldId id="283" r:id="rId27"/>
    <p:sldId id="331" r:id="rId28"/>
    <p:sldId id="284" r:id="rId29"/>
    <p:sldId id="285" r:id="rId30"/>
    <p:sldId id="320" r:id="rId31"/>
    <p:sldId id="286" r:id="rId32"/>
    <p:sldId id="287" r:id="rId33"/>
    <p:sldId id="332" r:id="rId34"/>
    <p:sldId id="321" r:id="rId35"/>
    <p:sldId id="289" r:id="rId36"/>
    <p:sldId id="290" r:id="rId37"/>
    <p:sldId id="288" r:id="rId38"/>
    <p:sldId id="292" r:id="rId39"/>
    <p:sldId id="293" r:id="rId40"/>
    <p:sldId id="294" r:id="rId41"/>
    <p:sldId id="295" r:id="rId42"/>
    <p:sldId id="296" r:id="rId43"/>
    <p:sldId id="322" r:id="rId44"/>
    <p:sldId id="297" r:id="rId45"/>
    <p:sldId id="298" r:id="rId46"/>
    <p:sldId id="299" r:id="rId47"/>
    <p:sldId id="300" r:id="rId48"/>
    <p:sldId id="301" r:id="rId49"/>
    <p:sldId id="303" r:id="rId50"/>
    <p:sldId id="304" r:id="rId51"/>
    <p:sldId id="305" r:id="rId52"/>
    <p:sldId id="306" r:id="rId53"/>
    <p:sldId id="307" r:id="rId54"/>
    <p:sldId id="310" r:id="rId55"/>
    <p:sldId id="308" r:id="rId56"/>
    <p:sldId id="309" r:id="rId57"/>
    <p:sldId id="311" r:id="rId58"/>
    <p:sldId id="315" r:id="rId59"/>
    <p:sldId id="312" r:id="rId60"/>
    <p:sldId id="313" r:id="rId61"/>
    <p:sldId id="316" r:id="rId62"/>
    <p:sldId id="314" r:id="rId63"/>
    <p:sldId id="317" r:id="rId64"/>
    <p:sldId id="325" r:id="rId65"/>
    <p:sldId id="326" r:id="rId66"/>
    <p:sldId id="328" r:id="rId67"/>
    <p:sldId id="319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B3BBB6-A3A7-4D35-910B-FEB5BB45C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F14733-339F-4FB9-8482-4670717E6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1EC4BA-5A2D-463F-8BE9-D5FFAABE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B87394-0AE4-4E2C-85DE-6E7E40DD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507AE6-74FC-4D1C-BF88-30CE71E8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19DF4D-9A3D-483D-B66D-251EC834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2A5A88-5EBE-4866-B28A-23BECB33B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053032-98B6-43BE-88E8-97BB55F5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BF2CFF-0613-4B9A-AC1A-44245A5D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A3D990-95F8-4D64-8701-BD7F973B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9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9D2B74-04C6-4793-8D79-30F5227BA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D9B731-235A-475D-AF64-95886B57B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A7DC4C-8610-4D3A-9E21-97712580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4FC8B2-A285-4179-B9DD-3DC5AB15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495FC6-9E2B-457C-B05D-09C5048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9FF120-BDE5-4944-81CA-3D844B64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9C8787-1EE2-4685-8562-298F54827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4B761CA-AB83-4EFC-A62D-B05014AA5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C4FC378-A0C9-48EA-8CA5-BBB001D5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AE8114-9E66-4602-9074-B1FBA209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CCCDC0-9A1A-4792-AB9E-187DA193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6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0AE7BF-3391-4EA4-A348-9B7668B83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5C9B74-449E-42E8-A134-3BF243BC4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2236319-45FE-4ABA-91AD-5F32F7D5E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DD68732-F12F-46EB-A324-0B82E4B29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A7EAA75-94E1-493C-9005-1EDC9F3F4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1EDE791-22EB-43FC-901D-C4D0F458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F087F1F-1D83-4740-9840-CDD07267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C4C00DF-315E-478D-9A2B-573215F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3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AF9C73-C0F9-431B-948D-1EF840A2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C26E28F-EA82-497F-BB78-D80809DC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A103E6-26F8-4EC4-9683-5FDD8FD9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C78ADA-4FC3-4982-AED5-C6154B38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7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E5A19D9-051F-4388-8677-C219993C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D8D3875-19F9-4EDB-980E-AA0471CD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23252F4-EC56-4FD5-87D0-D54D84FC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0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CA2743-923A-4B9E-A81F-DE56285C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636A24-132B-4426-ADC9-902650B6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995AF1-09FB-47F9-90CA-1599BAFF9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C633AF4-617D-4C4A-8BFC-5880A9DA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5ECA12C-BC0D-416A-900F-5B2B31BA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573AA4E-966E-48EF-AACA-BA98417A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4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E9C4C-B263-4B05-81B5-7796F8A5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10E21A6-F1ED-49A5-8F8A-951C31A66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E58D482-7867-4D45-AA1A-6A91F3064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526550-8FA0-4226-9BA1-87E14554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B4E1D28-0D67-4741-996A-66C883D2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160BFAC-7E17-4C4F-B0B6-2AA8C3FE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AB7484-D41E-40C6-86E0-CA5E678B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F0DA7BE-9667-404D-AE4C-AE5BF95B5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09383C-AEEE-4758-B37D-30D2D99A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2DDB2B-0566-4709-B073-DA980A2C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F4F8DF-2068-4F50-B89C-EDF9237A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6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54D6EE5-01D3-41DF-B3BF-DDCAA0A0E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1375757-3112-42A0-B715-9809C720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189502-271F-4C75-8123-FFDE19D9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CF95B3-AE17-42BF-8A32-62ED9E2E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10EE8A-AB9C-49AD-B2F1-7DD802D8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B3FA506-3812-4633-AFD3-124A4AFDA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AAC2D5-825F-4E7A-A939-EDF35EAFB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FC04A1-DDAB-4590-AE63-BFA028243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6091B-B242-4324-8697-20826B3867E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CB278A-0894-4B90-9C9A-806098216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EE979A-D51B-44AB-8E47-DC8E6D013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F5880-CBAD-4DF5-9992-9C8464AF9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0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613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3BB661-5D3E-4D84-846B-4E4592F4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98"/>
            <a:ext cx="10515600" cy="6520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8F0DF7-0816-4AB0-8337-56C7469F6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381"/>
            <a:ext cx="10515600" cy="5756222"/>
          </a:xfrm>
        </p:spPr>
        <p:txBody>
          <a:bodyPr>
            <a:normAutofit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all biochemical reactions in the body are dependent on maintenance of a physiological hydrogen ion concentration.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concentrations of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bicarbonate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 in plasma must be precisely regulated to optimize enzyme activity, oxygen transport, and rates of chemical reactions within cells.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body is able to maintain this intricate acid-base balance by utilizing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pulmonary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excretion of carbon dioxide, and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renal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elimination of acid.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regulation—often referred to as acid–base balance—is of prime importance to anesthetists.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ventilation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perfusion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infusion of electrolyte-containing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are common during anesthesia and can rapidly alter acid–base balance.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0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73064B-9206-4C4D-B8A1-D9D2AF95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59566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3BE3B-11C5-400E-87B8-6BF17708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4479"/>
            <a:ext cx="10515600" cy="6063519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b="1" i="0" u="none" strike="noStrike" baseline="0" dirty="0">
                <a:solidFill>
                  <a:srgbClr val="0066E6"/>
                </a:solidFill>
                <a:latin typeface="FrescoSansPro-Bold"/>
              </a:rPr>
              <a:t>  </a:t>
            </a:r>
            <a:r>
              <a:rPr lang="en-US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Acids and Bases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Bronsted and Lowry defined an acid as a molecule that can act as a proton (H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donor.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 as a molecule that can act as a proton acceptor.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strong acid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a substance that readily and almost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irreversibly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gives up an 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increases [H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], whereas a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strong base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avidly binds 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decreases [H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].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contrast,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weak acids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reversibly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donate 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whereas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weak bases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reversibly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bind 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Biological compounds are either weak acids or weak bases.</a:t>
            </a:r>
          </a:p>
          <a:p>
            <a:pPr algn="l"/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9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3B24AB-C4AD-4A12-AF29-08E96D8D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95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86A4F5-9CE9-42F7-AE21-4AD465DB3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610849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free (H+) ion concentration and (HCO3-) in the blood must be precisely maintained with in very narrow limits to maintain life.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regulation often referred to as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acid–base balance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37° C, the normal hydrogen ion concentration in arterial blood and extracellular fluid is 35 to 45 nmol/L, which is equivalent to an arterial pH of 7.45 to 7.35, respectively.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normal plasma bicarbonate ion concentration </a:t>
            </a:r>
            <a:r>
              <a:rPr lang="nl-N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24 ± 2 mEq/L.</a:t>
            </a:r>
          </a:p>
          <a:p>
            <a:pPr algn="l">
              <a:lnSpc>
                <a:spcPct val="100000"/>
              </a:lnSpc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normal plasma CO2 (PaCO2) level is 35-45 mmHg.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Almost all enzyme systems in the body are influenced by H+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134387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455C6E-0972-4F41-8ED9-EDB9B9B2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852"/>
            <a:ext cx="10515600" cy="749510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of Hydrogen 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7E1C0D-BE09-4C66-9C7A-9497FD1A8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262"/>
            <a:ext cx="10515600" cy="5508886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processes of metabolism generate hydrogen ions.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xidation of amino acids and the anaerobic metabolism of glucose to lactic and pyruvic acid.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more acid is produced as a result of carbon dioxide (CO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release from oxidative (aerobic) metabolism.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Acids or bases may also be ingested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06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BF6FCB-8189-4F5A-89D1-57C753C4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63"/>
            <a:ext cx="10515600" cy="62958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FD99C4-7B97-4DE9-92C0-CEE8CA476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262"/>
            <a:ext cx="10515600" cy="5523875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b="0" i="0" u="none" strike="noStrike" baseline="0" dirty="0">
                <a:latin typeface="Roboto-Regular"/>
              </a:rPr>
              <a:t> </a:t>
            </a: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hydrogen ion concentration and pH of body fluids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2800" b="0" i="0" u="none" strike="noStrike" baseline="0" dirty="0">
              <a:latin typeface="Roboto-Regular"/>
            </a:endParaRP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blood H+ concentration is normally maintained within tight limits around a normal value of about (40nEq/L).</a:t>
            </a: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variations are only about 3 to 5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nEq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/L, but under extreme conditions, the H+ concentration can vary from as low as 10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nEq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to as high as 160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nEq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without causing death.</a:t>
            </a: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intracellular hydrogen ion concentration is approximately 160 nmol/L, which is equivalent to a pH of 6.8.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18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2CBA5-996D-4B46-82AA-26F20A66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4616"/>
          </a:xfrm>
        </p:spPr>
        <p:txBody>
          <a:bodyPr>
            <a:normAutofit fontScale="90000"/>
          </a:bodyPr>
          <a:lstStyle/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Regular"/>
                <a:ea typeface="+mn-ea"/>
                <a:cs typeface="+mn-cs"/>
              </a:rPr>
              <a:t>     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50DF5D-B8C1-44D3-847D-3791BA48E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6108492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much simpler way to describe [H+].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Ranges from 0 to 14</a:t>
            </a:r>
            <a:endParaRPr lang="en-US" sz="3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convenient descriptor for power of hydrogen.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= -log [H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algn="l"/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Inversely </a:t>
            </a: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to the 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normal pH of </a:t>
            </a: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arterial</a:t>
            </a: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</a:t>
            </a: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7.35-7.45</a:t>
            </a:r>
          </a:p>
        </p:txBody>
      </p:sp>
    </p:spTree>
    <p:extLst>
      <p:ext uri="{BB962C8B-B14F-4D97-AF65-F5344CB8AC3E}">
        <p14:creationId xmlns:p14="http://schemas.microsoft.com/office/powerpoint/2010/main" val="257548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212599-8827-4FF4-811E-AC654F64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388"/>
            <a:ext cx="10515600" cy="68205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4428E1-961E-47D5-B06B-4B9EC83F3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440"/>
            <a:ext cx="10515600" cy="5831173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person is considered to have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acidosis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 the pH falls below 7.4.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Caused by accumulation of acid or loss of base.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have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alkalosis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when the pH rises above 7.4.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Caused by accumulation of base or loss of acid.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lower limit of pH at which a person can live more than a few hours is about 6.8, and the upper limit is about 8.0.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5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34014F-3DB3-4541-813E-415E8208B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911"/>
            <a:ext cx="10515600" cy="884419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Henderson-Hasselbalch Equation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F311B0-AA2F-40E2-BBE7-B1C895DC5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331"/>
            <a:ext cx="10515600" cy="5157632"/>
          </a:xfrm>
        </p:spPr>
        <p:txBody>
          <a:bodyPr/>
          <a:lstStyle/>
          <a:p>
            <a:pPr algn="l"/>
            <a:endParaRPr lang="en-US" sz="32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relationship between pH and concentrations of conjugate acid and base.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 in concentration of any component in an equilibrium reaction necessitates a concomitant change in every component.</a:t>
            </a: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Henderson and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hasselbalch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equation is a convenient way of viewing the relationship between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of a solution 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amounts of conjugate base and acid present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9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FAD7DF-3B67-0F50-A66D-B9F06CF8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775"/>
            <a:ext cx="10515600" cy="599606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….</a:t>
            </a:r>
            <a:endParaRPr lang="en-US" dirty="0"/>
          </a:p>
        </p:txBody>
      </p:sp>
      <p:pic>
        <p:nvPicPr>
          <p:cNvPr id="1026" name="Picture 2" descr="Henderson-Hasselbalch Equation: Derivation and Problems">
            <a:extLst>
              <a:ext uri="{FF2B5EF4-FFF2-40B4-BE49-F238E27FC236}">
                <a16:creationId xmlns:a16="http://schemas.microsoft.com/office/drawing/2014/main" xmlns="" id="{B941EA13-A103-F105-BE10-FD5CC2A38B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049338"/>
            <a:ext cx="8785484" cy="512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8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54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Cont..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291" y="1093788"/>
            <a:ext cx="7701418" cy="537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369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2E9554-4537-CC44-BAA1-DE02DEF4D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….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DBC22028-729F-CE4C-7BD2-E7ACC97EF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7108" y="1063625"/>
            <a:ext cx="6817784" cy="511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7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55236-7D09-43C3-806E-71461179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833"/>
            <a:ext cx="10515600" cy="674557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acid-base disorders and their compensation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9E60DA-8F11-446A-BF21-A5DBA7A80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1"/>
            <a:ext cx="10515600" cy="568127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disorder that tends to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pH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less than normal value is an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acidosis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hereas one tending to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pH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termed an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alkalosis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disorder primarily affects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[HCO 3 − ],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termed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disorder primarily affects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PaCo2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it is termed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arterial blood pH is normally 7.35–7.45 in adults, the term </a:t>
            </a:r>
            <a:r>
              <a:rPr lang="en-US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acidemia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signifies a pH &lt;7.35, whereas </a:t>
            </a:r>
            <a:r>
              <a:rPr lang="en-US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alkalemia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signifies a pH &gt;7.45.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62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13B886-794A-4428-9BF3-68347A40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912"/>
            <a:ext cx="10515600" cy="546126"/>
          </a:xfrm>
        </p:spPr>
        <p:txBody>
          <a:bodyPr>
            <a:normAutofit fontScale="90000"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Defining acid–base disorders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0485CCC3-F42F-446F-B776-8AFA5D8764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598984"/>
              </p:ext>
            </p:extLst>
          </p:nvPr>
        </p:nvGraphicFramePr>
        <p:xfrm>
          <a:off x="838200" y="809468"/>
          <a:ext cx="10515597" cy="6287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xmlns="" val="18120363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xmlns="" val="1657322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xmlns="" val="3332672821"/>
                    </a:ext>
                  </a:extLst>
                </a:gridCol>
              </a:tblGrid>
              <a:tr h="1499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Disorder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Primary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change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Compensatory Response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96674416"/>
                  </a:ext>
                </a:extLst>
              </a:tr>
              <a:tr h="2319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Respiratory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Acidosis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Alkalosis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PaCo2</a:t>
                      </a:r>
                    </a:p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Decrease PaCo2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HCO3-</a:t>
                      </a:r>
                    </a:p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Decrease HCO3-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7617851"/>
                  </a:ext>
                </a:extLst>
              </a:tr>
              <a:tr h="1738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Metabolic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Acidosis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Alkalosis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Decrease HCO3-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Increase HCO3-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Decrease PaCo2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Increase PaCo2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973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12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492A79-E849-4BA2-9613-9F6EC904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7"/>
            <a:ext cx="10515600" cy="637309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 of the hydrogen ion concentration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AA1E9C-C9A8-41EE-A83D-8B93B2A37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528"/>
            <a:ext cx="10515600" cy="549534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 changes to acid-base disturbances are corrected by three systems—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Ventilation and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response. </a:t>
            </a: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provide an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chemical response. </a:t>
            </a: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ventilatory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occurs in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minutes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possible, and, </a:t>
            </a:r>
            <a:endParaRPr lang="en-US" b="0" i="0" u="none" strike="noStrike" baseline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can </a:t>
            </a:r>
            <a:r>
              <a:rPr lang="en-US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slowly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nearly complete restoration of the pH, but it can take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1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38A447-66AC-4DC5-B065-0703E38E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Systems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4EE818-A85F-4B02-8289-ADA7A719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183"/>
            <a:ext cx="10515600" cy="541145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buffer is defined as a substance within a solution that can prevent extreme changes in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buffer is a solution that contains a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acid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conjugate base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base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conjugate acid.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chemical acid-base buffer systems of the body fluids, which immediately combine with acid or base to prevent excessive changes in H+ concentration.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systems do not eliminate H+ from or add them to the body but only keep them tied up until balance can be reestablished.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075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4E0235-3D97-4ECE-BF26-A40CAC10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546"/>
            <a:ext cx="10515600" cy="706582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377928-D449-4B70-AF63-9383266F6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964"/>
            <a:ext cx="10515600" cy="5417127"/>
          </a:xfrm>
        </p:spPr>
        <p:txBody>
          <a:bodyPr>
            <a:normAutofit fontScale="55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base molecules of the buffer system bind excess hydrogen ions, and the weak acid protonates excess base molecules. </a:t>
            </a:r>
            <a:endParaRPr kumimoji="0" lang="en-US" sz="45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4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dissociation ionization </a:t>
            </a:r>
            <a:r>
              <a:rPr lang="en-US" sz="4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(</a:t>
            </a:r>
            <a:r>
              <a:rPr lang="en-US" sz="45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lang="en-US" sz="4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4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quantitative measure of the extent to which a compound dissociates into its constituent ions in a solution</a:t>
            </a:r>
            <a:r>
              <a:rPr lang="en-US" sz="4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A higher </a:t>
            </a:r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Ka</a:t>
            </a:r>
            <a:r>
              <a:rPr lang="en-US" sz="4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value 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indicates a stronger acid that dissociates more completely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4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negative </a:t>
            </a:r>
            <a:r>
              <a:rPr lang="en-US" sz="4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logarithm of the acid dissociation </a:t>
            </a:r>
            <a:r>
              <a:rPr lang="en-US" sz="4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kumimoji="0" lang="en-US" sz="4500" b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pKa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4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completely an acid dissociates into its ions in solution.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4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lower the value of </a:t>
            </a:r>
            <a:r>
              <a:rPr lang="en-US" sz="45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pKa</a:t>
            </a:r>
            <a:r>
              <a:rPr lang="en-US" sz="4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stronger the acid and the greater its ability to donate its protons.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42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76EB8B-2903-4238-A77B-30E25090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03"/>
            <a:ext cx="10515600" cy="53113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 of H+ ions in the body fluids (General rule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36DC5C-3CBB-4C57-821C-722D1572A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9430"/>
            <a:ext cx="10515600" cy="565129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+ H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HBuffer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H+ combines with the buffer to form a weak acid (H buffer) that can either remain as an unassociated molecule or dissociate back to buffer and H+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H+ concentration increases, the reaction is forced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more H+ binds to the buffer, as long as buffer is available.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when the H+ concentration decreases, the reaction shifts toward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H+ is released from the buffer 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xmlns="" id="{5B889123-18DB-47DE-BD6F-C7BC54EB213C}"/>
              </a:ext>
            </a:extLst>
          </p:cNvPr>
          <p:cNvSpPr/>
          <p:nvPr/>
        </p:nvSpPr>
        <p:spPr>
          <a:xfrm flipV="1">
            <a:off x="2788171" y="1514004"/>
            <a:ext cx="884419" cy="20986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55B242-6D75-46FD-AF88-8A4E178B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255"/>
          </a:xfrm>
        </p:spPr>
        <p:txBody>
          <a:bodyPr>
            <a:normAutofit fontScale="90000"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F1DE46-449D-4A60-8772-D201FE8E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292"/>
            <a:ext cx="10515600" cy="5413583"/>
          </a:xfrm>
        </p:spPr>
        <p:txBody>
          <a:bodyPr>
            <a:normAutofit/>
          </a:bodyPr>
          <a:lstStyle/>
          <a:p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buffer systems in blood are the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Bicarbonate buffer system (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H2CO3</a:t>
            </a:r>
            <a:r>
              <a:rPr lang="en-US" sz="5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/HCO3-</a:t>
            </a:r>
            <a:r>
              <a:rPr lang="en-US" sz="5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Hemoglobin buffer system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Other protein buffer systems (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PrH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(4) Phosphate buffer system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H2PO4-/HPO4 2-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Ammonia buffer system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(NH3-/NH4+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18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7479CE-1407-4DE1-B8C0-36B0454E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6E3C7E-4A31-4291-9D1A-3A1C9F372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5456420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Bicarbonate is the most important buffer in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extracellular fluid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compartment.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Hemoglobin, though restricted inside red blood cells, also functions as an important buffer in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proteins probably play a major role in buffering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intracellular fluid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compartment.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Phosphate and ammonium ions are important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urinary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54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7B3690-CF8D-4C78-8690-76E8D545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Bicarbonate Buffer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853944-F62C-48DE-B562-D05C986F0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262"/>
            <a:ext cx="10515600" cy="50527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Quantitatively the most important in the extracellular fluid.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 of a water solution that contains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H2CO3 and HCO3-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+ H2O               H2CO3               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+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HCO3 -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Bicarbonate Buffer System Is the Most Important Extracellular Buffer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DCA0BF6-2DF0-401C-9B0A-2DA884C6B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27" y="3650612"/>
            <a:ext cx="1060796" cy="457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C184209-D814-4EA1-A5D8-246C39B4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054" y="3650612"/>
            <a:ext cx="1060796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84A1B6-33EE-4D80-958C-18360698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742"/>
            <a:ext cx="10515600" cy="51929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928170-24F0-40C7-B6C3-83FDAA068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9448"/>
            <a:ext cx="10515600" cy="5856809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concentration of bicarbonate ion is regulated by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kidney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the concentration of carbon dioxide (carbonic acid) is regulated by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respiratory system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Carbon dioxide, generated through aerobic metabolism, slowly combines with water to form carbonic acid, which spontaneously and rapidly deprotonates to form bicarbonate.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this system, the base molecule is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bicarbonate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and its weak conjugate acid is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carbonic acid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5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E20546-3A80-4C9B-B2CB-81293759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216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554573-3A49-41BD-9009-4B57FED4E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0227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strong acid such as HCl is added to the bicarbonate buffer solution, the increased H+ released from the acid is buffered by HCO3–.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HCl         H+ + Cl- 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H+  + HCO3–         H2CO3           CO2 + H2O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more H2CO3 is formed, causing increased CO2 and H2O production.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these reactions H+ from the strong acid HCl reacts with HCO3 – to form the very weak acid H2CO3, which in turn forms CO2 and H2O.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xmlns="" id="{44B2AADA-DC91-4CE6-A5DB-DAE2FB26E375}"/>
              </a:ext>
            </a:extLst>
          </p:cNvPr>
          <p:cNvSpPr/>
          <p:nvPr/>
        </p:nvSpPr>
        <p:spPr>
          <a:xfrm>
            <a:off x="1768840" y="2638269"/>
            <a:ext cx="464696" cy="1049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B7E6D6-68D4-496E-85A4-F2B459F8B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838" y="3135295"/>
            <a:ext cx="560603" cy="170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E8C5558-FAEA-4F71-9716-3CE5C0814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591" y="3139741"/>
            <a:ext cx="587318" cy="17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9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27AC13-BEAC-4D96-A19A-2D6E6F2D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167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phosphate Buffer System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8E3D5E-82E2-4659-AD2D-2B7F91B8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174"/>
            <a:ext cx="10515600" cy="5233701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consists of a weak acid dihydrogen phosphate (H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form of sodium dihydrogen phosphate and the base hydrogen phosphate (HPO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/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Na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HPO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Na H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NaCl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(Strong acid)                  (Weak acid)</a:t>
            </a:r>
          </a:p>
          <a:p>
            <a:pPr algn="l"/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NaOH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NaH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Na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HPO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H</a:t>
            </a:r>
            <a:r>
              <a:rPr lang="pl-PL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pPr marL="0" indent="0" algn="l"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(Strong base)                  (Weak base)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69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4E0CB4-69AA-419F-A3A0-20E63F81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167"/>
          </a:xfrm>
        </p:spPr>
        <p:txBody>
          <a:bodyPr>
            <a:normAutofit fontScale="90000"/>
          </a:bodyPr>
          <a:lstStyle/>
          <a:p>
            <a:pPr marL="228600" marR="0" lvl="0" indent="-2286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Regular"/>
                <a:ea typeface="+mn-ea"/>
                <a:cs typeface="+mn-cs"/>
              </a:rPr>
              <a:t/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Regular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Protein buffer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Regular"/>
                <a:ea typeface="+mn-ea"/>
                <a:cs typeface="+mn-cs"/>
              </a:rPr>
              <a:t/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Regular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6861B7-64FB-412D-8715-D087D5AB4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184"/>
            <a:ext cx="10515600" cy="514162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for the majority of intracellular buffering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proteins, and notably albumin, contain weak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acidic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groups within their structure.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lasma and other proteins form important buffering systems.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Intracellular proteins limit pH changes within cells</a:t>
            </a:r>
          </a:p>
        </p:txBody>
      </p:sp>
    </p:spTree>
    <p:extLst>
      <p:ext uri="{BB962C8B-B14F-4D97-AF65-F5344CB8AC3E}">
        <p14:creationId xmlns:p14="http://schemas.microsoft.com/office/powerpoint/2010/main" val="105278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07EF67-2796-4B17-8ADF-DF88BA7A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Hemoglobin Buffer System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4722F1-4C81-4222-9841-469F060C0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2"/>
            <a:ext cx="10515600" cy="5278671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b="0" i="0" u="none" strike="noStrike" baseline="0" dirty="0">
                <a:solidFill>
                  <a:srgbClr val="008000"/>
                </a:solidFill>
                <a:latin typeface="FrescoSansPro-Normal"/>
              </a:rPr>
              <a:t>  </a:t>
            </a:r>
            <a:endParaRPr lang="en-US" sz="2800" b="0" i="0" u="none" strike="noStrike" baseline="0" dirty="0">
              <a:latin typeface="FrescoSansPro-Normal"/>
            </a:endParaRP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hemoglobin protein is the second most important buffering system because of multiple histidine residues.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Histidine is an effective buffer from pH 5.7 to 7.7 because it contains multiple protonatable sites on the imidazole side chains.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freely diffuses into erythrocytes, where it combines with water to form carbonic acid, which rapidly deprotonates.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protons generated are bound up by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hemoglobin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bicarbonate anions are exchanged back into plasma.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0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0109"/>
            <a:ext cx="10515600" cy="526473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Cont.…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291" y="734293"/>
            <a:ext cx="7938654" cy="5569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75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580433-67B7-47B8-9462-4F9301BD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9196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acid base compensation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932EED-22A0-4237-8D77-9E351F327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192"/>
            <a:ext cx="10515600" cy="5263681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alveolar ventilation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</a:t>
            </a:r>
            <a:r>
              <a:rPr lang="en-US" sz="2800" b="0" i="0" u="none" strike="noStrike" baseline="0" dirty="0">
                <a:latin typeface="MinionPro-Regular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compensation of Paco2 are mediated by chemoreceptor within the brainstem.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receptors respond to changes in cerebrospinal fluid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diffuses across the blood-brain barrier to elevate cerebrospinal fluid (CSF) hydrogen ion concentration, which activates the chemoreceptors and increases alveolar ventilation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Minute ventilation increases 1–4 L/min for every (acute) 1 mm Hg increase in Paco2 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Adjustments by the respiratory take minutes to hours to accomplish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99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8F3863-1618-4337-B3EB-42E39679F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417"/>
            <a:ext cx="10515600" cy="54714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919E53-3F72-470D-864C-F845ED044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4557"/>
            <a:ext cx="10515600" cy="6056027"/>
          </a:xfrm>
        </p:spPr>
        <p:txBody>
          <a:bodyPr>
            <a:normAutofit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chemoreceptors are located at the bifurcation of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carotid arteries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surrounding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aortic arch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carotid bodies are the principal peripheral chemoreceptors and are sensitive to changes in Pa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o2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pH, and arterial perfusion pressure.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the central chemoreceptors, which are more sensitive to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ions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carotid bodies are most sensitive to </a:t>
            </a:r>
            <a:r>
              <a:rPr lang="en-US" sz="4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O2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rate of metabolic formation of carbon dioxide becomes increased, its concentration in the ECF is likewise increased.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decreased metabolism decreases the carbon dioxide production.</a:t>
            </a:r>
          </a:p>
        </p:txBody>
      </p:sp>
    </p:spTree>
    <p:extLst>
      <p:ext uri="{BB962C8B-B14F-4D97-AF65-F5344CB8AC3E}">
        <p14:creationId xmlns:p14="http://schemas.microsoft.com/office/powerpoint/2010/main" val="213943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4B6738-7D19-42B8-8480-8A26E2A7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4"/>
          </a:xfrm>
        </p:spPr>
        <p:txBody>
          <a:bodyPr>
            <a:normAutofit fontScale="90000"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034F73-2662-43E2-85B7-4B1562DAD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618"/>
            <a:ext cx="10515600" cy="5486400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 the other hand if the rate of pulmonary ventilation is increased, carbon dioxide is blown off from the lungs &amp; the amount of carbon dioxide in the ECF decreases.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pulmonary response to metabolic alkalosis is usually less than the response to metabolic acidosis.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is because progressive hypoventilation results in hypoxemia when breathing room air.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Hypoxemia activates oxygen-sensitive chemoreceptors and limits the compensatory decrease in minute ventilation.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does not rise above 55 mm Hg in response to metabolic alkalosis for patients not receiving oxygen supplementation.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B2B4D0-D475-43CD-9550-2A6760E9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226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acid-base compensation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8524F8-5FBF-48F6-A909-85FE7C73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262"/>
            <a:ext cx="10515600" cy="5486400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of the kidneys 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control the amount of HCO3− reabsorbed from filtered tubular fluid,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new HCO3− , and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liminate H+ in the form of titratable acids and ammonium ions.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them to exert a major influence on pH during both metabolic and respiratory acid–base disturbances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6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764F04-1CA6-4449-A761-789C5258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157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Compensation During </a:t>
            </a:r>
            <a:r>
              <a:rPr lang="en-US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Acidosis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986461-D9CA-42CE-916A-01BE0139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527867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renal response to acidemia is 3-fold:</a:t>
            </a:r>
          </a:p>
          <a:p>
            <a:pPr marL="514350" indent="-514350" algn="l">
              <a:lnSpc>
                <a:spcPct val="100000"/>
              </a:lnSpc>
              <a:buAutoNum type="arabicParenBoth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reabsorption of the filtered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HCO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3 −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Increased excretion of titratable acids, and </a:t>
            </a:r>
          </a:p>
          <a:p>
            <a:pPr marL="0" indent="0" algn="l"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Increased production of ammonia.</a:t>
            </a:r>
            <a:r>
              <a:rPr lang="en-US" sz="2800" b="0" i="0" u="none" strike="noStrike" baseline="0" dirty="0">
                <a:latin typeface="RotisSerifStd"/>
              </a:rPr>
              <a:t>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tubular fluid,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with hydrogen ion to form NH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trapped within the tubule and excreted in the urine.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mechanisms are probably activated immediately, their effects are generally not appreciable for 12–24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may not be maximal for up to 5 days.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837" y="138545"/>
            <a:ext cx="7827818" cy="6525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477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4C3CA7-8E70-4ACE-BFA3-853840D2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74"/>
            <a:ext cx="10515600" cy="689317"/>
          </a:xfrm>
        </p:spPr>
        <p:txBody>
          <a:bodyPr>
            <a:normAutofit fontScale="90000"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4D9F28C3-961A-4DD5-B26A-A61DA1C933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787790"/>
            <a:ext cx="10515600" cy="607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70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85B88B-E0EA-4933-A284-682271C5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226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Compensation During </a:t>
            </a:r>
            <a:r>
              <a:rPr lang="en-US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Alkalosis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D40660-5A61-4C41-BE39-83EA8421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022720"/>
          </a:xfrm>
        </p:spPr>
        <p:txBody>
          <a:bodyPr/>
          <a:lstStyle/>
          <a:p>
            <a:pPr algn="l"/>
            <a:endParaRPr lang="en-US" sz="2800" b="0" i="0" u="none" strike="noStrike" baseline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tremendous amount of HCO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3 −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 filtered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subsequently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reabsorbed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the kidneys to rapidly excrete large amounts of bicarbonate. </a:t>
            </a:r>
            <a:endParaRPr lang="en-US" sz="2800" b="0" i="0" u="none" strike="noStrike" baseline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 kidneys are highly effective in protecting against metabolic alkalosis.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59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2936F3-0961-4B21-8B20-858543F9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263"/>
            <a:ext cx="10515600" cy="759137"/>
          </a:xfrm>
        </p:spPr>
        <p:txBody>
          <a:bodyPr/>
          <a:lstStyle/>
          <a:p>
            <a:r>
              <a:rPr lang="en-US" sz="4400" b="0" i="0" u="none" strike="noStrike" baseline="0" dirty="0">
                <a:latin typeface="Roboto-Regular"/>
              </a:rPr>
              <a:t>    </a:t>
            </a:r>
            <a:r>
              <a:rPr lang="en-US" sz="4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08B21E-7DFF-4972-9A14-6DB986258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330"/>
            <a:ext cx="10515600" cy="5561351"/>
          </a:xfrm>
        </p:spPr>
        <p:txBody>
          <a:bodyPr/>
          <a:lstStyle/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acidemia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blood pH &lt;7.20 and is associated with the following major effects: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Impairment of cardiac contractility, cardiac output, and the response to catecholamines.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Susceptibility to recurrent arrhythmias and lowering the threshold for ventricular fibrillation</a:t>
            </a:r>
          </a:p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Arteriolar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vasodilation resulting in hypotension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Vasoconstriction of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vasculature, leading to increased pulmonary vascular resistance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3CA315-4AF4-4615-B68C-42C736CC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420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12B4DE-BADA-4720-8DF1-F1CC3DCE9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222"/>
            <a:ext cx="10515600" cy="5426439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Hyperventilation (a compensatory response)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brain, this rapid increase in carbon dioxide can lead to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consciousness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seizures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Insulin resistance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Inhibition of glycolysis and adenosine triphosphate synthesis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Hyperkalemia as potassium ions are shifted extracellularly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34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21937E-DA1A-445E-B8E5-B0E6A6FD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32"/>
            <a:ext cx="10515600" cy="554636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4A585C-8EAF-43E6-B085-0859F3286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213" y="854438"/>
            <a:ext cx="10515600" cy="6003561"/>
          </a:xfrm>
        </p:spPr>
        <p:txBody>
          <a:bodyPr>
            <a:normAutofit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acidosis occurs when alveolar minute ventilation is inadequate relative to carbon dioxide production.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disorder is a ↓PH due to ↑Paco2(&gt;45mmHg),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e.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hypercapinea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Partial pressure of </a:t>
            </a:r>
            <a:r>
              <a:rPr lang="en-US" sz="2800" b="0" i="0" u="none" strike="noStrike" baseline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carbo-ndioxide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(Paco2)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balance between CO2 production and CO2 elimination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 CO2 =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CO2production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∕Alveolar ventilation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is a byproduct of fat and carbohydrate metabolism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acidosis may produce more rapid and profound myocardial dysfunction than metabolic acidosis because of the rapid entry of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cardiac cell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CO2, H+ 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 do not readily penetrate the blood–brain barrier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64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E38893-0BBA-4CD3-9076-678C5B2F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59566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respiratory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BF4641-99EE-47D9-99ED-B879F063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4480"/>
            <a:ext cx="10515600" cy="5823678"/>
          </a:xfrm>
        </p:spPr>
        <p:txBody>
          <a:bodyPr>
            <a:noAutofit/>
          </a:bodyPr>
          <a:lstStyle/>
          <a:p>
            <a:pPr algn="l"/>
            <a:r>
              <a:rPr lang="en-US" sz="2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Alveolar hypoventilation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nervous system depression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Drug-induced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Sleep disorders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Obesity hypoventilation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Cerebral ischemia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Cerebral trauma</a:t>
            </a:r>
          </a:p>
          <a:p>
            <a:pPr algn="l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Neuromuscular disorders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Myopathies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Neuropathies</a:t>
            </a:r>
          </a:p>
          <a:p>
            <a:pPr algn="l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wall abnormalities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Flail chest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Kyphoscoliosis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05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3371D-D505-4B38-88C0-666650B6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9960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9E6DB3-278F-429F-ACFE-6A61D7B7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4518"/>
            <a:ext cx="10515600" cy="5936105"/>
          </a:xfrm>
        </p:spPr>
        <p:txBody>
          <a:bodyPr>
            <a:noAutofit/>
          </a:bodyPr>
          <a:lstStyle/>
          <a:p>
            <a:pPr algn="l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Pleural abnormalities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Pneumothorax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Pleural effusion</a:t>
            </a:r>
          </a:p>
          <a:p>
            <a:pPr algn="l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Airway obstruction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airway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Foreign body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Tumor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Laryngospasm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Sleep disorders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airway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Severe asthma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Chronic obstructive pulmonary disease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Tumor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43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55BE5-C310-4395-8C86-CAC31472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22"/>
            <a:ext cx="10515600" cy="614596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2F7E8B-1CAA-457A-ACE8-9A627E87A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9430"/>
            <a:ext cx="10515600" cy="5868647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Parenchymal lung disease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Pulmonary edema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Cardiogenic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Noncardiogenic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Pulmonary emboli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Pneumonia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Aspiration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Interstitial lung disease</a:t>
            </a: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Ventilator malfunction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1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4F910-E43D-4949-A860-B6A9604F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305"/>
          </a:xfrm>
        </p:spPr>
        <p:txBody>
          <a:bodyPr>
            <a:normAutofit fontScale="90000"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Cont….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F8F8C3-7F9A-46A5-A204-202F6FB1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11"/>
            <a:ext cx="10515600" cy="5621312"/>
          </a:xfrm>
        </p:spPr>
        <p:txBody>
          <a:bodyPr/>
          <a:lstStyle/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caloric loads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Malignant hyperthermia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Intensive shivering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Prolonged seizure activity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Thyroid storm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Extensive thermal injury (burns)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4BBCCB-8D75-4474-A6CE-D93CE8BA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678"/>
            <a:ext cx="10515600" cy="365759"/>
          </a:xfrm>
        </p:spPr>
        <p:txBody>
          <a:bodyPr>
            <a:normAutofit fontScale="90000"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Causes of respiratory acidosis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834F59-823B-4A80-BC3D-0A59124F7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978"/>
            <a:ext cx="10515600" cy="623902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Malignant hyperthermia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Hyperthyroidism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Overfeeding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CO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Intrinsic pulmonary disease (pneumonia, ARDS, fibrosis, edema)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Upper airway obstruction (laryngospasm, foreign body, OSA)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airway obstruction (asthma, COPD)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Chest wall restriction (obesity, scoliosis, burns)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CNS depression (anesthetics, opioids, CNS lesions)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Decreased skeletal muscle strength (residual effects of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euromuscular blocking drugs, myopathy, neuropathy)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rebreathing or absorption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Exhausted soda lime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Incompetent one-way valve in breathing circuit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Laparoscopic surgery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07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7507BB-EC2F-4DA4-AEB7-4907118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285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Respiratory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3696E1-6C7E-48DC-803E-8408477C4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1"/>
            <a:ext cx="10515600" cy="5458554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compensatory response to acute (6–12 h) elevations in Paco2 is limited.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 is primarily provided by hemoglobin and the exchange of extracellular H+ for Na+ and K+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intracellular fluid compartment.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renal response to retain more bicarbonate is acutely very limited.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plasma [HCO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3 −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increases only about 1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mEq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for each 10 mm Hg increase in Pa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 </a:t>
            </a:r>
            <a:r>
              <a:rPr lang="en-US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mm Hg.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68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6FFAC4-7761-4621-9AD4-48DEE00D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4265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Respiratory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3B3BE2-CD8A-4B81-8CA2-708FD8F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262"/>
            <a:ext cx="10515600" cy="5368613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Roboto-Regular"/>
              </a:rPr>
              <a:t>“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Full” renal compensation characterizes chronic respiratory acidosis.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compensation is appreciable only after 12–24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may not peak until 3–5 days.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chronic respiratory acidosis, plasma [HCO3−] increases approximately 4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mEq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for each 10 mm Hg increase in Paco2 above 40 mm Hg.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43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EA745D-1C06-4105-A182-0A286E40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31"/>
            <a:ext cx="10515600" cy="479685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respiratory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CE4D54-577B-4186-949F-525F4D3A5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9528"/>
            <a:ext cx="10515600" cy="613847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acidosis is treated by reversing the imbalance between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and alveolar ventilation.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instances, this is accomplished by increasing alveolar ventilation.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temporizing measures aimed at improving alveolar ventilation (in addition to controlled mechanical ventilation) include bronchodilation, reversal of narcosis, or improving lung compliance.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aimed at reducing CO2 production are useful only in specific instances e.g.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Dantrolene for malignant hyperthermia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Antithyroid medication for thyroid storm, and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caloric intake in patients receiving enteral or parenteral nutrition).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Intravenous sodium bicarbonate (NaHCO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rarely necessary, unless pH is &lt;7.10 and HCO3 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&lt;15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mEq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7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B945B4-60EE-41BD-AA24-CAAD1791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9295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57A385-D1B5-42E2-8E91-5E15B8E7D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59133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acidosis is defined as a primary decrease in [HCO 3 − ].</a:t>
            </a: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disorder is a ↓PH due to ↓[HCO3−].</a:t>
            </a:r>
          </a:p>
          <a:p>
            <a:pPr algn="l">
              <a:lnSpc>
                <a:spcPct val="100000"/>
              </a:lnSpc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Pathological processes can initiate metabolic acidosis by one of three mechanisms: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Consumption of HCO3− by a strong nonvolatile acid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Renal or gastrointestinal wasting of bicarbonate, or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Rapid dilution of the extracellular fluid compartment with a bicarbonate-free fluid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87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1E5DAF-5360-41CD-A179-AA6F1DAD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Causes of Metabolic acidosis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D06E5D-B6C7-4322-AEE1-E7BE8BDA7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428573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anion gap; ↑ fixed [H+]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production of endogenous nonvolatile acids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Ingestion of toxin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Rhabdomyolysis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anion gap; loss or ↓ reabsorption of HCO3−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gastrointestinal losses of HCO3−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renal losses of HCO3−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Dilutional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6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156E01-1FC7-47C0-B81D-7EFE1BB0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350"/>
            <a:ext cx="10515600" cy="794478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metabolic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E90DC8-2F25-4E8D-BB3A-768F88CF5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330"/>
            <a:ext cx="10515600" cy="5606321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Intravenous administration 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sodium bicarbonate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 often given for a non anion gap metabolic acidosis because the problem is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bicarbonate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loss. 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arterial blood pH remains below 7.20,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alkalin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therapy, usually in the form of NaHCO3 (usually a 7.5% solution), may be necessary.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an anion gap metabolic acidosis is guided by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and treatment of the underlying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in order to remove the nonvolatile acids from the circulation.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therapy for diabetic ketoacidosis includes replacement of the existing fluid deficit(as a result of a hyperglycemic osmotic diuresis) first, as well as insulin,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potassium.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hypoxia leading to lactic acidosis should be corrected if possible with oxygen, fluid resuscitation, and circulatory support.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38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7A05DC-FD68-4EB6-BB5C-FC5EE8F18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813"/>
            <a:ext cx="10515600" cy="659567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Anesthetic consideration of patients with acidosis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39EE64-2F14-4485-A9FE-4BA1DE732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561350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Acidemia can potentiate the depressant effects of most sedatives and anesthetic agents on the CNS and circulatory systems.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sedation and depression of airway reflexes may predispose to pulmonary aspiration.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is important to recognize and treat acidosis immediately before anesthesia 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sedatives , cardiovascular and respiratory depressant anesthetics drug in patients with acidosis.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69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5FC673-AB9B-4D49-899D-FE18EC4D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813"/>
            <a:ext cx="10515600" cy="674557"/>
          </a:xfrm>
        </p:spPr>
        <p:txBody>
          <a:bodyPr>
            <a:normAutofit fontScale="90000"/>
          </a:bodyPr>
          <a:lstStyle/>
          <a:p>
            <a:r>
              <a:rPr lang="en-US" sz="4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Alkalosis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86BAE2-FE34-4AF3-B5A5-B896AB025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9370"/>
            <a:ext cx="10515600" cy="5613817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condition increasing arterial PH.</a:t>
            </a:r>
          </a:p>
          <a:p>
            <a:pPr algn="l">
              <a:lnSpc>
                <a:spcPct val="100000"/>
              </a:lnSpc>
            </a:pP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alkalemia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blood pH &gt;7.60 and is associated with the following major physiological effects: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ecreased cerebral and coronary blood flow as a result of arteriolar vasoconstriction.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Refractory ventricular arrhythmias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spasm/vasoconstriction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the lungs, respiratory alkalosis increases bronchial smooth muscle tone (bronchoconstriction) but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Vasodilatation of the pulmonary vasculature, leading to decreased pulmonary vascular resistance</a:t>
            </a:r>
          </a:p>
          <a:p>
            <a:pPr algn="l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8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F51A71-8DFA-42E0-A91D-551ECEE5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22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C9F572-F99A-4807-88AE-29B4B4B71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352"/>
            <a:ext cx="10515600" cy="56363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Hypoventilation (which can frustrate efforts to wean patients from mechanical ventilation)</a:t>
            </a:r>
          </a:p>
          <a:p>
            <a:pPr algn="l">
              <a:lnSpc>
                <a:spcPct val="100000"/>
              </a:lnSpc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Cerebral vasoconstriction</a:t>
            </a:r>
          </a:p>
          <a:p>
            <a:pPr algn="l">
              <a:lnSpc>
                <a:spcPct val="100000"/>
              </a:lnSpc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Alkalosis increases the affinity of hemoglobin for oxygen and shifts the oxygen dissociation curve to the left making it more difficult for hemoglobin to give up oxygen to tissues.</a:t>
            </a:r>
          </a:p>
          <a:p>
            <a:pPr algn="l">
              <a:lnSpc>
                <a:spcPct val="100000"/>
              </a:lnSpc>
            </a:pPr>
            <a:r>
              <a:rPr lang="en-US" sz="3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of H+ out of cells in exchange for the movement of extracellular K+ into cells can produce hypokalemia</a:t>
            </a:r>
            <a:r>
              <a:rPr lang="en-US" sz="2800" b="0" i="0" u="none" strike="noStrike" baseline="0" dirty="0">
                <a:latin typeface="Roboto-Regular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60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B474E5-8031-477D-890F-5CA964F8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216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alkalosis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62A289-9319-451D-BE8B-C2F9B18DD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232"/>
            <a:ext cx="10515600" cy="5323641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alkalosis is defined as a primary decrease in Paco2.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mechanism is usually an inappropriate increase in alveolar ventilation relative to CO2 production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decreased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PaCO2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increased pH trigger the peripheral and central chemoreceptors to decrease the stimulus to breathe.</a:t>
            </a:r>
          </a:p>
        </p:txBody>
      </p:sp>
    </p:spTree>
    <p:extLst>
      <p:ext uri="{BB962C8B-B14F-4D97-AF65-F5344CB8AC3E}">
        <p14:creationId xmlns:p14="http://schemas.microsoft.com/office/powerpoint/2010/main" val="143141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BE2A3-43FC-4D2A-BDE3-503A98CE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285"/>
          </a:xfrm>
        </p:spPr>
        <p:txBody>
          <a:bodyPr>
            <a:normAutofit fontScale="90000"/>
          </a:bodyPr>
          <a:lstStyle/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Causes of respiratory alkalosis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49B199-F9AA-4776-B7C2-550DA92E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428573"/>
          </a:xfrm>
        </p:spPr>
        <p:txBody>
          <a:bodyPr>
            <a:normAutofit/>
          </a:bodyPr>
          <a:lstStyle/>
          <a:p>
            <a:pPr algn="l"/>
            <a:r>
              <a:rPr lang="en-US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stimulation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Anxiety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Ischemia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Fever</a:t>
            </a:r>
          </a:p>
          <a:p>
            <a:pPr algn="l"/>
            <a:r>
              <a:rPr lang="en-US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stimulation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Hypoxemia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altitude</a:t>
            </a:r>
          </a:p>
          <a:p>
            <a:pPr marL="457200" lvl="1" indent="0">
              <a:buNone/>
            </a:pP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80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D959DC-2DFD-4260-8D02-3BA20B0D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216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Respiratory Alkalosis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F53A6B-FC59-4525-BA3C-286F6BA6D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213"/>
            <a:ext cx="10515600" cy="5501390"/>
          </a:xfrm>
        </p:spPr>
        <p:txBody>
          <a:bodyPr>
            <a:normAutofit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alkalosis is compensated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8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reabsorption of bicarbonate ions from the renal tubules and increased urinary excretion of bicarbonate.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respiratory alkalosis is directed at correcting the underlying disorder.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rare cases, severe acute respiratory alkalosis (pH &gt; 7.6) may require sedation.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general anesthesia, acute respiratory alkalosis is easily remedied by decreasing total minute ventilation.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72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9D7750-2B42-4632-8DE6-A72CA578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236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alkalosis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A529A0-635A-4007-8157-4150AAE70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252"/>
            <a:ext cx="10515600" cy="5353622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alkalosis is present when the pH is higher than 7.45 due to gain of bicarbonate ions or loss of hydrogen ions.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cases of metabolic alkalosis can be divided into: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hloride sensitive (NaCl deficiency and extracellular fluid depletion and urinary Chloride concentration &lt;25mg/dl)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hloride-resistant (associated with enhanced mineralocorticoid activity and urinary Chloride concentration &gt;25mg/dl)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49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241894-2975-49A4-9739-5092E7F9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Chloride-Sensitive Metabolic Alkalosis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571DE5-59DA-4491-9AA1-1BF17446B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1"/>
            <a:ext cx="10515600" cy="5458554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Depletion of extracellular fluid causes the renal tubules to avidly reabsorb Na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not enough Cl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available to accompany all the Na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 reabsorbed, increased 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secretion must take place to maintain electroneutrality.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effect, HCO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 that might otherwise have been excreted are reabsorbed, resulting in metabolic alkalosis.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60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168EBB-4BF4-455B-B0BE-A961CCEE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175"/>
            <a:ext cx="10515600" cy="699177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metabolic alkalosis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7CF234-A59A-4396-99FD-A132CCAE3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428573"/>
          </a:xfrm>
        </p:spPr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Chloride-sensitive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Gastrointestinal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Vomiting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Gastric drainage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Chloride diarrhea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Renal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Diuretics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chloride intake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4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93D7D4-C43B-4ECE-A388-61B108DE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285"/>
          </a:xfrm>
        </p:spPr>
        <p:txBody>
          <a:bodyPr>
            <a:normAutofit fontScale="90000"/>
          </a:bodyPr>
          <a:lstStyle/>
          <a:p>
            <a:r>
              <a:rPr lang="en-US" sz="4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Chloride-Resistant Metabolic Alkalosis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E36685-F479-4479-87B5-B6A5C697D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1"/>
            <a:ext cx="10515600" cy="5636302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mineralocorticoid activity commonly results in metabolic alkalosis, even when it is not associated with extracellular volume depletion.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increases in mineralocorticoid activity cause sodium retention and expansion of extracellular fluid volume.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H 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K </a:t>
            </a:r>
            <a:r>
              <a:rPr lang="en-US" sz="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secretion takes place to balance enhanced mineralocorticoid mediated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sodium reabsorption, resulting in metabolic alkalosis and hypokalemia.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Urinary chloride concentrations are typically greater than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mEq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in such cases.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1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183A71-514A-48E4-AE21-52F3E6AA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882"/>
            <a:ext cx="10515600" cy="659567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Causes of metabolic alkalosis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A44146-9674-4700-A631-A23D10CDF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360"/>
            <a:ext cx="10515600" cy="5703757"/>
          </a:xfrm>
        </p:spPr>
        <p:txBody>
          <a:bodyPr/>
          <a:lstStyle/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Chloride-resistant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mineralocorticoid activity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hyperaldosteronism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Edematous disorders (secondary hyperaldosteronism)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Cushing’s syndrome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9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7714DF-7E36-4C56-9A8B-27C79F0E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873"/>
            <a:ext cx="10515600" cy="689547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Metabolic Alkalosis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2B9D1-DE40-40C8-8C37-7362DEFE9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332"/>
            <a:ext cx="10515600" cy="5473544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the underlying cause.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minute ventilation to normalize Paco2 .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dministration of intravenous saline (NaCl) and potassium (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H2-blocker therapy is useful when excessive loss of gastric fluid is a factor.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Alkalosis associated with primary increases in mineralocorticoid activity readily responds to aldosterone antagonists (spironolactone).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09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84E404-3EF3-4627-BED9-299F4E02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852"/>
            <a:ext cx="10515600" cy="584617"/>
          </a:xfrm>
        </p:spPr>
        <p:txBody>
          <a:bodyPr>
            <a:no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Anesthetic considerations in patients with alkalemia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57CBED-9680-42DC-87BD-BC7228ECD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9370"/>
            <a:ext cx="10515600" cy="545642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Prolong the duration of opioid-induced respiratory depression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Cerebral ischemia can occur from marked reduction in cerebral blood flow during respiratory alkalosis, particularly during hypotension.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alkalemia and hypokalemia can precipitate severe atrial and ventricular arrhythmias.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Potentiation of nondepolarizing neuromuscular blockade is reported with alkalemia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2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3D103D-A4B5-4ABA-AB16-8E6B89F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02"/>
            <a:ext cx="10515600" cy="839450"/>
          </a:xfrm>
        </p:spPr>
        <p:txBody>
          <a:bodyPr>
            <a:noAutofit/>
          </a:bodyPr>
          <a:lstStyle/>
          <a:p>
            <a:r>
              <a:rPr lang="en-US" sz="4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of acid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disorders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733815-2BA9-4EEB-AC05-F4469018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352"/>
            <a:ext cx="10515600" cy="571874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acid–base status from analysis of blood gases requires a systematic approach. </a:t>
            </a:r>
          </a:p>
          <a:p>
            <a:pPr algn="l">
              <a:lnSpc>
                <a:spcPct val="100000"/>
              </a:lnSpc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recommended approach follows</a:t>
            </a:r>
          </a:p>
          <a:p>
            <a:pPr marL="514350" indent="-514350" algn="l">
              <a:lnSpc>
                <a:spcPct val="100000"/>
              </a:lnSpc>
              <a:buAutoNum type="arabicPeriod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arterial pH: Is acidemia or alkalemia present?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 less than 7.35 acid   pH greater than 7.45 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Metabolic or Respiratory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Bicarbonate= Base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CO2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Acid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Compensation? </a:t>
            </a:r>
            <a:r>
              <a:rPr lang="en-US" sz="28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any compensation  to bring back the pH to</a:t>
            </a:r>
            <a:r>
              <a:rPr lang="en-US" sz="28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normal value?</a:t>
            </a:r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89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71A3F3-FD50-4411-884C-40DBA168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02"/>
            <a:ext cx="10515600" cy="71952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E13B78-93F2-4B4B-8696-5A9D36ADE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360"/>
            <a:ext cx="10515600" cy="54414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 1. Mister x was admitted in ICU. Analysis of the arterial blood gave the following values, PH 7.15, PC02 44, HCO3- 19. What is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undelying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acid base disorder?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Acidosis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E.G 2. Analysis of the arterial blood gave the following values, PH 7.6, PC02 21, HCO3- 22. What is the underlying acid base disorder?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Respiratory alkalosis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3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32888A-167F-4729-BA3A-298DD73F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892"/>
            <a:ext cx="10515600" cy="68954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6EA008-2214-47A4-9683-A3E21CA9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292"/>
            <a:ext cx="10515600" cy="5276538"/>
          </a:xfrm>
        </p:spPr>
        <p:txBody>
          <a:bodyPr/>
          <a:lstStyle/>
          <a:p>
            <a:pPr marL="0" indent="0"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E.g. 3 Analysis of the arterial blood gave the following values, PH 7.5, PC02 37, HCO3- 29. What is the underlying acid base disorder?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Metabolic Alkalosis</a:t>
            </a: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E.g. 4 Analysis of the arterial blood gave the following values, PH 7.31, PC02 49, HCO3- 24. What is the underlying acid base disorder?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Respiratory Acidosis</a:t>
            </a:r>
          </a:p>
        </p:txBody>
      </p:sp>
    </p:spTree>
    <p:extLst>
      <p:ext uri="{BB962C8B-B14F-4D97-AF65-F5344CB8AC3E}">
        <p14:creationId xmlns:p14="http://schemas.microsoft.com/office/powerpoint/2010/main" val="283435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479D51-9409-4888-8C9A-885F07B9D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22"/>
            <a:ext cx="10515600" cy="65956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8E26E1-238F-44F4-9D59-87B8DDF12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42857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E.G 5 Analysis of the arterial blood gave the following values, PH 7.47, PC02 26, HCO3- 19. What is the underlying acid base disorder?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Answer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Partially compensated Respiratory Alkalosis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E.G 6. Analysis of the arterial blood gave the following values, PH 7.34, PC02 30, HCO3- 20. What is the underlying acid base disorder?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Answer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Partially compensated Metabolic Acidosis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23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AA05B6-E0CB-468D-ABF2-EEC8B78DA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5101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63613F7-7C64-4CA8-8F27-C33D6DBC9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68052"/>
            <a:ext cx="9144000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91028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39783</TotalTime>
  <Words>4054</Words>
  <Application>Microsoft Office PowerPoint</Application>
  <PresentationFormat>Custom</PresentationFormat>
  <Paragraphs>434</Paragraphs>
  <Slides>67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PowerPoint Presentation</vt:lpstr>
      <vt:lpstr>Introduction</vt:lpstr>
      <vt:lpstr>Definitions</vt:lpstr>
      <vt:lpstr>Cont….</vt:lpstr>
      <vt:lpstr>Production of Hydrogen Ions</vt:lpstr>
      <vt:lpstr>PowerPoint Presentation</vt:lpstr>
      <vt:lpstr>      pH</vt:lpstr>
      <vt:lpstr>Cont….</vt:lpstr>
      <vt:lpstr>Henderson-Hasselbalch Equation</vt:lpstr>
      <vt:lpstr>Cont….</vt:lpstr>
      <vt:lpstr>Cont..</vt:lpstr>
      <vt:lpstr>Cont….</vt:lpstr>
      <vt:lpstr>Common acid-base disorders and their compensation</vt:lpstr>
      <vt:lpstr>Defining acid–base disorders</vt:lpstr>
      <vt:lpstr>Regulation of the hydrogen ion concentration</vt:lpstr>
      <vt:lpstr>Buffer Systems</vt:lpstr>
      <vt:lpstr>Cont…</vt:lpstr>
      <vt:lpstr>Buffering of H+ ions in the body fluids (General rule)</vt:lpstr>
      <vt:lpstr>Cont…</vt:lpstr>
      <vt:lpstr>Cont…</vt:lpstr>
      <vt:lpstr>The Bicarbonate Buffer</vt:lpstr>
      <vt:lpstr>Cont….</vt:lpstr>
      <vt:lpstr>Cont…</vt:lpstr>
      <vt:lpstr>The phosphate Buffer System</vt:lpstr>
      <vt:lpstr> Protein buffer </vt:lpstr>
      <vt:lpstr>Hemoglobin Buffer System</vt:lpstr>
      <vt:lpstr>Cont.…</vt:lpstr>
      <vt:lpstr>Respiratory acid base compensation</vt:lpstr>
      <vt:lpstr>Cont….</vt:lpstr>
      <vt:lpstr>Cont…</vt:lpstr>
      <vt:lpstr>Renal acid-base compensation</vt:lpstr>
      <vt:lpstr>Renal Compensation During Acidosis</vt:lpstr>
      <vt:lpstr>PowerPoint Presentation</vt:lpstr>
      <vt:lpstr>Cont…</vt:lpstr>
      <vt:lpstr>Renal Compensation During Alkalosis</vt:lpstr>
      <vt:lpstr>    Acidosis</vt:lpstr>
      <vt:lpstr>Cont….</vt:lpstr>
      <vt:lpstr>Respiratory acidosis</vt:lpstr>
      <vt:lpstr>Causes of respiratory acidosis</vt:lpstr>
      <vt:lpstr>Cont….</vt:lpstr>
      <vt:lpstr>Cont….</vt:lpstr>
      <vt:lpstr>Cont….</vt:lpstr>
      <vt:lpstr>Causes of respiratory acidosis</vt:lpstr>
      <vt:lpstr>Acute Respiratory Acidosis</vt:lpstr>
      <vt:lpstr>Chronic Respiratory Acidosis</vt:lpstr>
      <vt:lpstr>Treatment of respiratory acidosis</vt:lpstr>
      <vt:lpstr>Metabolic acidosis</vt:lpstr>
      <vt:lpstr>Causes of Metabolic acidosis</vt:lpstr>
      <vt:lpstr>Treatment of metabolic acidosis</vt:lpstr>
      <vt:lpstr>Anesthetic consideration of patients with acidosis</vt:lpstr>
      <vt:lpstr>  Alkalosis</vt:lpstr>
      <vt:lpstr>Cont….</vt:lpstr>
      <vt:lpstr>Respiratory alkalosis</vt:lpstr>
      <vt:lpstr>  Causes of respiratory alkalosis. </vt:lpstr>
      <vt:lpstr>Treatment of Respiratory Alkalosis</vt:lpstr>
      <vt:lpstr>Metabolic alkalosis</vt:lpstr>
      <vt:lpstr>Chloride-Sensitive Metabolic Alkalosis</vt:lpstr>
      <vt:lpstr>Causes of metabolic alkalosis</vt:lpstr>
      <vt:lpstr>Chloride-Resistant Metabolic Alkalosis</vt:lpstr>
      <vt:lpstr>Causes of metabolic alkalosis</vt:lpstr>
      <vt:lpstr>Treatment of Metabolic Alkalosis</vt:lpstr>
      <vt:lpstr>Anesthetic considerations in patients with alkalemia</vt:lpstr>
      <vt:lpstr>Diagnosis of acid-base disorders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 Base Balance</dc:title>
  <dc:creator>fissiha fentie</dc:creator>
  <cp:lastModifiedBy>ismail - [2010]</cp:lastModifiedBy>
  <cp:revision>218</cp:revision>
  <dcterms:created xsi:type="dcterms:W3CDTF">2021-10-25T20:33:12Z</dcterms:created>
  <dcterms:modified xsi:type="dcterms:W3CDTF">2025-01-03T09:18:45Z</dcterms:modified>
</cp:coreProperties>
</file>