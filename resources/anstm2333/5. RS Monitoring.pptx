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2"/>
  </p:notesMasterIdLst>
  <p:handoutMasterIdLst>
    <p:handoutMasterId r:id="rId83"/>
  </p:handoutMasterIdLst>
  <p:sldIdLst>
    <p:sldId id="256" r:id="rId2"/>
    <p:sldId id="258" r:id="rId3"/>
    <p:sldId id="259" r:id="rId4"/>
    <p:sldId id="264" r:id="rId5"/>
    <p:sldId id="265" r:id="rId6"/>
    <p:sldId id="266" r:id="rId7"/>
    <p:sldId id="268" r:id="rId8"/>
    <p:sldId id="269" r:id="rId9"/>
    <p:sldId id="310" r:id="rId10"/>
    <p:sldId id="272" r:id="rId11"/>
    <p:sldId id="274" r:id="rId12"/>
    <p:sldId id="275" r:id="rId13"/>
    <p:sldId id="280" r:id="rId14"/>
    <p:sldId id="277" r:id="rId15"/>
    <p:sldId id="327" r:id="rId16"/>
    <p:sldId id="279" r:id="rId17"/>
    <p:sldId id="312" r:id="rId18"/>
    <p:sldId id="317" r:id="rId19"/>
    <p:sldId id="318" r:id="rId20"/>
    <p:sldId id="319" r:id="rId21"/>
    <p:sldId id="283" r:id="rId22"/>
    <p:sldId id="286" r:id="rId23"/>
    <p:sldId id="313" r:id="rId24"/>
    <p:sldId id="284" r:id="rId25"/>
    <p:sldId id="287" r:id="rId26"/>
    <p:sldId id="289" r:id="rId27"/>
    <p:sldId id="314" r:id="rId28"/>
    <p:sldId id="315" r:id="rId29"/>
    <p:sldId id="290" r:id="rId30"/>
    <p:sldId id="281" r:id="rId31"/>
    <p:sldId id="359" r:id="rId32"/>
    <p:sldId id="309" r:id="rId33"/>
    <p:sldId id="298" r:id="rId34"/>
    <p:sldId id="299" r:id="rId35"/>
    <p:sldId id="301" r:id="rId36"/>
    <p:sldId id="302" r:id="rId37"/>
    <p:sldId id="303" r:id="rId38"/>
    <p:sldId id="305" r:id="rId39"/>
    <p:sldId id="304" r:id="rId40"/>
    <p:sldId id="306" r:id="rId41"/>
    <p:sldId id="320" r:id="rId42"/>
    <p:sldId id="307" r:id="rId43"/>
    <p:sldId id="322" r:id="rId44"/>
    <p:sldId id="323" r:id="rId45"/>
    <p:sldId id="324" r:id="rId46"/>
    <p:sldId id="282" r:id="rId47"/>
    <p:sldId id="321" r:id="rId48"/>
    <p:sldId id="311" r:id="rId49"/>
    <p:sldId id="328" r:id="rId50"/>
    <p:sldId id="329" r:id="rId51"/>
    <p:sldId id="330" r:id="rId52"/>
    <p:sldId id="331" r:id="rId53"/>
    <p:sldId id="332" r:id="rId54"/>
    <p:sldId id="333" r:id="rId55"/>
    <p:sldId id="334" r:id="rId56"/>
    <p:sldId id="335" r:id="rId57"/>
    <p:sldId id="336" r:id="rId58"/>
    <p:sldId id="358" r:id="rId59"/>
    <p:sldId id="337" r:id="rId60"/>
    <p:sldId id="338" r:id="rId61"/>
    <p:sldId id="339" r:id="rId62"/>
    <p:sldId id="340" r:id="rId63"/>
    <p:sldId id="341" r:id="rId64"/>
    <p:sldId id="342" r:id="rId65"/>
    <p:sldId id="343" r:id="rId66"/>
    <p:sldId id="344" r:id="rId67"/>
    <p:sldId id="345" r:id="rId68"/>
    <p:sldId id="346" r:id="rId69"/>
    <p:sldId id="347" r:id="rId70"/>
    <p:sldId id="348" r:id="rId71"/>
    <p:sldId id="349" r:id="rId72"/>
    <p:sldId id="350" r:id="rId73"/>
    <p:sldId id="351" r:id="rId74"/>
    <p:sldId id="352" r:id="rId75"/>
    <p:sldId id="353" r:id="rId76"/>
    <p:sldId id="354" r:id="rId77"/>
    <p:sldId id="355" r:id="rId78"/>
    <p:sldId id="356" r:id="rId79"/>
    <p:sldId id="357" r:id="rId80"/>
    <p:sldId id="325" r:id="rId8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615C3037-C329-43BC-8331-D4504F417F1B}" type="datetimeFigureOut">
              <a:rPr lang="en-US" smtClean="0"/>
              <a:pPr/>
              <a:t>3/16/2023</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E6587B2E-88C4-4942-B597-8524D7FC56CA}"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E0669EB1-5F17-4CE6-9361-E3BC4A8B2364}" type="datetimeFigureOut">
              <a:rPr lang="en-US" smtClean="0"/>
              <a:pPr/>
              <a:t>3/16/2023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6D01830-83F3-447A-B7CD-9C47658097A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6D01830-83F3-447A-B7CD-9C47658097A3}"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674892A4-17C4-4B0D-AE36-53F9D558A785}" type="datetimeFigureOut">
              <a:rPr lang="en-US" smtClean="0"/>
              <a:pPr/>
              <a:t>3/16/2023</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3C9485D-5D56-4628-B7CA-5F9867A80017}"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74892A4-17C4-4B0D-AE36-53F9D558A785}" type="datetimeFigureOut">
              <a:rPr lang="en-US" smtClean="0"/>
              <a:pPr/>
              <a:t>3/16/2023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74892A4-17C4-4B0D-AE36-53F9D558A785}" type="datetimeFigureOut">
              <a:rPr lang="en-US" smtClean="0"/>
              <a:pPr/>
              <a:t>3/16/2023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9485D-5D56-4628-B7CA-5F9867A80017}"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74892A4-17C4-4B0D-AE36-53F9D558A785}" type="datetimeFigureOut">
              <a:rPr lang="en-US" smtClean="0"/>
              <a:pPr/>
              <a:t>3/16/2023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674892A4-17C4-4B0D-AE36-53F9D558A785}" type="datetimeFigureOut">
              <a:rPr lang="en-US" smtClean="0"/>
              <a:pPr/>
              <a:t>3/16/2023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74892A4-17C4-4B0D-AE36-53F9D558A785}" type="datetimeFigureOut">
              <a:rPr lang="en-US" smtClean="0"/>
              <a:pPr/>
              <a:t>3/16/2023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674892A4-17C4-4B0D-AE36-53F9D558A785}" type="datetimeFigureOut">
              <a:rPr lang="en-US" smtClean="0"/>
              <a:pPr/>
              <a:t>3/16/2023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C9485D-5D56-4628-B7CA-5F9867A80017}"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74892A4-17C4-4B0D-AE36-53F9D558A785}" type="datetimeFigureOut">
              <a:rPr lang="en-US" smtClean="0"/>
              <a:pPr/>
              <a:t>3/16/2023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74892A4-17C4-4B0D-AE36-53F9D558A785}" type="datetimeFigureOut">
              <a:rPr lang="en-US" smtClean="0"/>
              <a:pPr/>
              <a:t>3/16/2023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C9485D-5D56-4628-B7CA-5F9867A80017}"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74892A4-17C4-4B0D-AE36-53F9D558A785}" type="datetimeFigureOut">
              <a:rPr lang="en-US" smtClean="0"/>
              <a:pPr/>
              <a:t>3/16/2023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74892A4-17C4-4B0D-AE36-53F9D558A785}" type="datetimeFigureOut">
              <a:rPr lang="en-US" smtClean="0"/>
              <a:pPr/>
              <a:t>3/16/2023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C9485D-5D56-4628-B7CA-5F9867A8001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74892A4-17C4-4B0D-AE36-53F9D558A785}" type="datetimeFigureOut">
              <a:rPr lang="en-US" smtClean="0"/>
              <a:pPr/>
              <a:t>3/16/2023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3C9485D-5D56-4628-B7CA-5F9867A80017}"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2050" name="Picture 2" descr="C:\Users\pc\Desktop\logo[1].png"/>
          <p:cNvPicPr>
            <a:picLocks noChangeAspect="1" noChangeArrowheads="1"/>
          </p:cNvPicPr>
          <p:nvPr userDrawn="1"/>
        </p:nvPicPr>
        <p:blipFill>
          <a:blip r:embed="rId13" cstate="print"/>
          <a:srcRect/>
          <a:stretch>
            <a:fillRect/>
          </a:stretch>
        </p:blipFill>
        <p:spPr bwMode="auto">
          <a:xfrm>
            <a:off x="7543801" y="-1"/>
            <a:ext cx="1600199" cy="762001"/>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9.wmf"/></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1905000"/>
            <a:ext cx="7406640" cy="1447800"/>
          </a:xfrm>
        </p:spPr>
        <p:txBody>
          <a:bodyPr/>
          <a:lstStyle/>
          <a:p>
            <a:pPr algn="ctr"/>
            <a:r>
              <a:rPr lang="en-US" dirty="0" smtClean="0">
                <a:solidFill>
                  <a:srgbClr val="002060"/>
                </a:solidFill>
                <a:effectLst/>
              </a:rPr>
              <a:t>Monitoring in anaesthesia</a:t>
            </a:r>
            <a:endParaRPr lang="en-US" dirty="0">
              <a:solidFill>
                <a:srgbClr val="002060"/>
              </a:solidFill>
              <a:effectLst/>
            </a:endParaRPr>
          </a:p>
        </p:txBody>
      </p:sp>
      <p:sp>
        <p:nvSpPr>
          <p:cNvPr id="3" name="Subtitle 2"/>
          <p:cNvSpPr>
            <a:spLocks noGrp="1"/>
          </p:cNvSpPr>
          <p:nvPr>
            <p:ph type="subTitle" idx="1"/>
          </p:nvPr>
        </p:nvSpPr>
        <p:spPr>
          <a:xfrm>
            <a:off x="1584960" y="5562600"/>
            <a:ext cx="7406640" cy="1066800"/>
          </a:xfrm>
        </p:spPr>
        <p:txBody>
          <a:bodyPr>
            <a:normAutofit/>
          </a:bodyPr>
          <a:lstStyle/>
          <a:p>
            <a:pPr algn="r"/>
            <a:r>
              <a:rPr lang="en-US" dirty="0" smtClean="0">
                <a:solidFill>
                  <a:srgbClr val="002060"/>
                </a:solidFill>
              </a:rPr>
              <a:t>By – Wosen. A (BSc, Msc)</a:t>
            </a:r>
          </a:p>
          <a:p>
            <a:pPr algn="r"/>
            <a:r>
              <a:rPr lang="en-US" dirty="0" smtClean="0">
                <a:solidFill>
                  <a:srgbClr val="002060"/>
                </a:solidFill>
              </a:rPr>
              <a:t>Department of Anaesthesia, AAU</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7" name="Text Box 3"/>
          <p:cNvSpPr txBox="1">
            <a:spLocks noChangeArrowheads="1"/>
          </p:cNvSpPr>
          <p:nvPr/>
        </p:nvSpPr>
        <p:spPr bwMode="auto">
          <a:xfrm>
            <a:off x="990600" y="1338352"/>
            <a:ext cx="7924800" cy="1862048"/>
          </a:xfrm>
          <a:prstGeom prst="rect">
            <a:avLst/>
          </a:prstGeom>
          <a:noFill/>
          <a:ln w="9525">
            <a:noFill/>
            <a:miter lim="800000"/>
            <a:headEnd/>
            <a:tailEnd/>
          </a:ln>
          <a:effectLst/>
        </p:spPr>
        <p:txBody>
          <a:bodyPr wrap="square">
            <a:spAutoFit/>
          </a:bodyPr>
          <a:lstStyle/>
          <a:p>
            <a:pPr algn="l">
              <a:buFontTx/>
              <a:buChar char="•"/>
            </a:pPr>
            <a:r>
              <a:rPr lang="en-GB" sz="2300" dirty="0"/>
              <a:t> Improved patient safety</a:t>
            </a:r>
          </a:p>
          <a:p>
            <a:pPr algn="l">
              <a:buFontTx/>
              <a:buChar char="•"/>
            </a:pPr>
            <a:r>
              <a:rPr lang="en-GB" sz="2300" dirty="0"/>
              <a:t> Improved quality of anaesthesia;</a:t>
            </a:r>
          </a:p>
          <a:p>
            <a:pPr algn="l"/>
            <a:r>
              <a:rPr lang="en-GB" sz="2300" dirty="0"/>
              <a:t>	analgesia</a:t>
            </a:r>
          </a:p>
          <a:p>
            <a:pPr algn="l"/>
            <a:r>
              <a:rPr lang="en-GB" sz="2300" dirty="0"/>
              <a:t>	awareness</a:t>
            </a:r>
          </a:p>
          <a:p>
            <a:pPr algn="l">
              <a:buFontTx/>
              <a:buChar char="•"/>
            </a:pPr>
            <a:r>
              <a:rPr lang="en-GB" sz="2300" dirty="0"/>
              <a:t> There is a minimum standard of monitoring (UK)</a:t>
            </a:r>
          </a:p>
        </p:txBody>
      </p:sp>
      <p:sp>
        <p:nvSpPr>
          <p:cNvPr id="31748" name="Text Box 4"/>
          <p:cNvSpPr txBox="1">
            <a:spLocks noChangeArrowheads="1"/>
          </p:cNvSpPr>
          <p:nvPr/>
        </p:nvSpPr>
        <p:spPr bwMode="auto">
          <a:xfrm>
            <a:off x="1066800" y="681335"/>
            <a:ext cx="3948645"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lgn="l"/>
            <a:r>
              <a:rPr lang="en-GB" sz="2400" dirty="0">
                <a:solidFill>
                  <a:srgbClr val="0070C0"/>
                </a:solidFill>
              </a:rPr>
              <a:t>Why is monitoring important?</a:t>
            </a:r>
          </a:p>
        </p:txBody>
      </p:sp>
      <p:sp>
        <p:nvSpPr>
          <p:cNvPr id="31752" name="Text Box 8"/>
          <p:cNvSpPr txBox="1">
            <a:spLocks noChangeArrowheads="1"/>
          </p:cNvSpPr>
          <p:nvPr/>
        </p:nvSpPr>
        <p:spPr bwMode="auto">
          <a:xfrm>
            <a:off x="990600" y="4337209"/>
            <a:ext cx="7924800" cy="2215991"/>
          </a:xfrm>
          <a:prstGeom prst="rect">
            <a:avLst/>
          </a:prstGeom>
          <a:noFill/>
          <a:ln w="9525">
            <a:noFill/>
            <a:miter lim="800000"/>
            <a:headEnd/>
            <a:tailEnd/>
          </a:ln>
          <a:effectLst/>
        </p:spPr>
        <p:txBody>
          <a:bodyPr wrap="square">
            <a:spAutoFit/>
          </a:bodyPr>
          <a:lstStyle/>
          <a:p>
            <a:pPr marL="401638" indent="-401638" algn="l">
              <a:buFontTx/>
              <a:buChar char="•"/>
            </a:pPr>
            <a:r>
              <a:rPr lang="en-GB" sz="2300" dirty="0" smtClean="0"/>
              <a:t>Increasingly </a:t>
            </a:r>
            <a:r>
              <a:rPr lang="en-GB" sz="2300" dirty="0">
                <a:solidFill>
                  <a:srgbClr val="0070C0"/>
                </a:solidFill>
              </a:rPr>
              <a:t>sophisticated</a:t>
            </a:r>
          </a:p>
          <a:p>
            <a:pPr marL="401638" indent="-401638" algn="l">
              <a:buFontTx/>
              <a:buChar char="•"/>
            </a:pPr>
            <a:r>
              <a:rPr lang="en-GB" sz="2300" dirty="0" smtClean="0"/>
              <a:t>Awareness </a:t>
            </a:r>
            <a:r>
              <a:rPr lang="en-GB" sz="2300" dirty="0"/>
              <a:t>of </a:t>
            </a:r>
            <a:r>
              <a:rPr lang="en-GB" sz="2300" dirty="0">
                <a:solidFill>
                  <a:srgbClr val="0070C0"/>
                </a:solidFill>
              </a:rPr>
              <a:t>limitations</a:t>
            </a:r>
            <a:r>
              <a:rPr lang="en-GB" sz="2300" dirty="0"/>
              <a:t> and sources of error essential</a:t>
            </a:r>
          </a:p>
          <a:p>
            <a:pPr marL="401638" indent="-401638" algn="l">
              <a:buFontTx/>
              <a:buChar char="•"/>
            </a:pPr>
            <a:r>
              <a:rPr lang="en-GB" sz="2300" dirty="0" smtClean="0"/>
              <a:t>Knowledge </a:t>
            </a:r>
            <a:r>
              <a:rPr lang="en-GB" sz="2300" dirty="0"/>
              <a:t>enables </a:t>
            </a:r>
            <a:r>
              <a:rPr lang="en-GB" sz="2300" dirty="0">
                <a:solidFill>
                  <a:srgbClr val="0070C0"/>
                </a:solidFill>
              </a:rPr>
              <a:t>sensible purchasing</a:t>
            </a:r>
          </a:p>
          <a:p>
            <a:pPr marL="401638" indent="-401638" algn="l">
              <a:buFontTx/>
              <a:buChar char="•"/>
            </a:pPr>
            <a:r>
              <a:rPr lang="en-GB" sz="2300" dirty="0" smtClean="0"/>
              <a:t>Particularly </a:t>
            </a:r>
            <a:r>
              <a:rPr lang="en-GB" sz="2300" dirty="0"/>
              <a:t>in resource-limited environment;</a:t>
            </a:r>
          </a:p>
          <a:p>
            <a:pPr marL="858838" lvl="1" indent="-401638">
              <a:buFont typeface="Gill Sans MT" pitchFamily="34" charset="0"/>
              <a:buChar char="–"/>
            </a:pPr>
            <a:r>
              <a:rPr lang="en-GB" sz="2300" dirty="0" smtClean="0"/>
              <a:t>Ability </a:t>
            </a:r>
            <a:r>
              <a:rPr lang="en-GB" sz="2300" dirty="0"/>
              <a:t>to </a:t>
            </a:r>
            <a:r>
              <a:rPr lang="en-GB" sz="2300" dirty="0">
                <a:solidFill>
                  <a:srgbClr val="0070C0"/>
                </a:solidFill>
              </a:rPr>
              <a:t>solve simple equipment </a:t>
            </a:r>
            <a:r>
              <a:rPr lang="en-GB" sz="2300" dirty="0" smtClean="0"/>
              <a:t>problems</a:t>
            </a:r>
          </a:p>
          <a:p>
            <a:pPr marL="858838" lvl="1" indent="-401638">
              <a:buFont typeface="Gill Sans MT" pitchFamily="34" charset="0"/>
              <a:buChar char="–"/>
            </a:pPr>
            <a:r>
              <a:rPr lang="en-GB" sz="2300" dirty="0" smtClean="0"/>
              <a:t>Equipment </a:t>
            </a:r>
            <a:r>
              <a:rPr lang="en-GB" sz="2300" dirty="0">
                <a:solidFill>
                  <a:srgbClr val="0070C0"/>
                </a:solidFill>
              </a:rPr>
              <a:t>maintenance</a:t>
            </a:r>
          </a:p>
        </p:txBody>
      </p:sp>
      <p:sp>
        <p:nvSpPr>
          <p:cNvPr id="31753" name="Text Box 9"/>
          <p:cNvSpPr txBox="1">
            <a:spLocks noChangeArrowheads="1"/>
          </p:cNvSpPr>
          <p:nvPr/>
        </p:nvSpPr>
        <p:spPr bwMode="auto">
          <a:xfrm>
            <a:off x="1063625" y="3805535"/>
            <a:ext cx="7851775"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GB" sz="2400" dirty="0">
                <a:solidFill>
                  <a:srgbClr val="0070C0"/>
                </a:solidFill>
              </a:rPr>
              <a:t>Why is it important to learn about monitoring equipment?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linds(horizontal)">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31747"/>
                                        </p:tgtEl>
                                      </p:cBhvr>
                                    </p:animEffect>
                                    <p:set>
                                      <p:cBhvr>
                                        <p:cTn id="12" dur="1" fill="hold">
                                          <p:stCondLst>
                                            <p:cond delay="499"/>
                                          </p:stCondLst>
                                        </p:cTn>
                                        <p:tgtEl>
                                          <p:spTgt spid="31747"/>
                                        </p:tgtEl>
                                        <p:attrNameLst>
                                          <p:attrName>style.visibility</p:attrName>
                                        </p:attrNameLst>
                                      </p:cBhvr>
                                      <p:to>
                                        <p:strVal val="hidden"/>
                                      </p:to>
                                    </p:set>
                                  </p:childTnLst>
                                </p:cTn>
                              </p:par>
                              <p:par>
                                <p:cTn id="13" presetID="3" presetClass="entr" presetSubtype="10" fill="hold" grpId="0" nodeType="withEffect">
                                  <p:stCondLst>
                                    <p:cond delay="0"/>
                                  </p:stCondLst>
                                  <p:childTnLst>
                                    <p:set>
                                      <p:cBhvr>
                                        <p:cTn id="14" dur="1" fill="hold">
                                          <p:stCondLst>
                                            <p:cond delay="0"/>
                                          </p:stCondLst>
                                        </p:cTn>
                                        <p:tgtEl>
                                          <p:spTgt spid="31752"/>
                                        </p:tgtEl>
                                        <p:attrNameLst>
                                          <p:attrName>style.visibility</p:attrName>
                                        </p:attrNameLst>
                                      </p:cBhvr>
                                      <p:to>
                                        <p:strVal val="visible"/>
                                      </p:to>
                                    </p:set>
                                    <p:animEffect transition="in" filter="blinds(horizontal)">
                                      <p:cBhvr>
                                        <p:cTn id="15"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7" grpId="1"/>
      <p:bldP spid="31752"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901700" y="1577975"/>
            <a:ext cx="1986826" cy="3416320"/>
          </a:xfrm>
          <a:prstGeom prst="rect">
            <a:avLst/>
          </a:prstGeom>
          <a:noFill/>
          <a:ln w="9525">
            <a:noFill/>
            <a:miter lim="800000"/>
            <a:headEnd/>
            <a:tailEnd/>
          </a:ln>
          <a:effectLst/>
        </p:spPr>
        <p:txBody>
          <a:bodyPr wrap="none">
            <a:spAutoFit/>
          </a:bodyPr>
          <a:lstStyle/>
          <a:p>
            <a:pPr algn="l">
              <a:buFontTx/>
              <a:buChar char="•"/>
            </a:pPr>
            <a:r>
              <a:rPr lang="en-GB" sz="2400" dirty="0"/>
              <a:t> </a:t>
            </a:r>
            <a:r>
              <a:rPr lang="en-GB" sz="2400" dirty="0">
                <a:solidFill>
                  <a:srgbClr val="0070C0"/>
                </a:solidFill>
              </a:rPr>
              <a:t>Clinical</a:t>
            </a:r>
          </a:p>
          <a:p>
            <a:pPr algn="l">
              <a:buFontTx/>
              <a:buChar char="•"/>
            </a:pPr>
            <a:endParaRPr lang="en-GB" sz="2400" dirty="0"/>
          </a:p>
          <a:p>
            <a:pPr algn="l">
              <a:buFontTx/>
              <a:buChar char="•"/>
            </a:pPr>
            <a:endParaRPr lang="en-GB" sz="2400" dirty="0"/>
          </a:p>
          <a:p>
            <a:pPr algn="l">
              <a:buFontTx/>
              <a:buChar char="•"/>
            </a:pPr>
            <a:endParaRPr lang="en-GB" sz="2400" dirty="0"/>
          </a:p>
          <a:p>
            <a:pPr algn="l">
              <a:buFontTx/>
              <a:buChar char="•"/>
            </a:pPr>
            <a:r>
              <a:rPr lang="en-GB" sz="2400" dirty="0"/>
              <a:t> </a:t>
            </a:r>
            <a:r>
              <a:rPr lang="en-GB" sz="2400" dirty="0">
                <a:solidFill>
                  <a:srgbClr val="0070C0"/>
                </a:solidFill>
              </a:rPr>
              <a:t>Non-invasive</a:t>
            </a:r>
          </a:p>
          <a:p>
            <a:pPr algn="l">
              <a:buFontTx/>
              <a:buChar char="•"/>
            </a:pPr>
            <a:endParaRPr lang="en-GB" sz="2400" dirty="0"/>
          </a:p>
          <a:p>
            <a:pPr algn="l">
              <a:buFontTx/>
              <a:buChar char="•"/>
            </a:pPr>
            <a:endParaRPr lang="en-GB" sz="2400" dirty="0"/>
          </a:p>
          <a:p>
            <a:pPr algn="l">
              <a:buFontTx/>
              <a:buChar char="•"/>
            </a:pPr>
            <a:endParaRPr lang="en-GB" sz="2400" dirty="0"/>
          </a:p>
          <a:p>
            <a:pPr algn="l">
              <a:buFontTx/>
              <a:buChar char="•"/>
            </a:pPr>
            <a:r>
              <a:rPr lang="en-GB" sz="2400" dirty="0"/>
              <a:t> </a:t>
            </a:r>
            <a:r>
              <a:rPr lang="en-GB" sz="2400" dirty="0">
                <a:solidFill>
                  <a:srgbClr val="0070C0"/>
                </a:solidFill>
              </a:rPr>
              <a:t>Invasive</a:t>
            </a:r>
          </a:p>
        </p:txBody>
      </p:sp>
      <p:sp>
        <p:nvSpPr>
          <p:cNvPr id="33797" name="Text Box 5"/>
          <p:cNvSpPr txBox="1">
            <a:spLocks noChangeArrowheads="1"/>
          </p:cNvSpPr>
          <p:nvPr/>
        </p:nvSpPr>
        <p:spPr bwMode="auto">
          <a:xfrm>
            <a:off x="635000" y="554038"/>
            <a:ext cx="4154488" cy="579437"/>
          </a:xfrm>
          <a:prstGeom prst="rect">
            <a:avLst/>
          </a:prstGeom>
          <a:noFill/>
          <a:ln w="9525">
            <a:noFill/>
            <a:miter lim="800000"/>
            <a:headEnd/>
            <a:tailEnd/>
          </a:ln>
          <a:effectLst/>
        </p:spPr>
        <p:txBody>
          <a:bodyPr wrap="none">
            <a:spAutoFit/>
          </a:bodyPr>
          <a:lstStyle/>
          <a:p>
            <a:pPr algn="l"/>
            <a:r>
              <a:rPr lang="en-GB" sz="3200"/>
              <a:t>Classifying monitoring</a:t>
            </a:r>
          </a:p>
        </p:txBody>
      </p:sp>
      <p:sp>
        <p:nvSpPr>
          <p:cNvPr id="33798" name="Text Box 6"/>
          <p:cNvSpPr txBox="1">
            <a:spLocks noChangeArrowheads="1"/>
          </p:cNvSpPr>
          <p:nvPr/>
        </p:nvSpPr>
        <p:spPr bwMode="auto">
          <a:xfrm>
            <a:off x="3319463" y="1765300"/>
            <a:ext cx="2408237" cy="825500"/>
          </a:xfrm>
          <a:prstGeom prst="rect">
            <a:avLst/>
          </a:prstGeom>
          <a:noFill/>
          <a:ln w="9525">
            <a:noFill/>
            <a:miter lim="800000"/>
            <a:headEnd/>
            <a:tailEnd/>
          </a:ln>
          <a:effectLst/>
        </p:spPr>
        <p:txBody>
          <a:bodyPr wrap="none">
            <a:spAutoFit/>
          </a:bodyPr>
          <a:lstStyle/>
          <a:p>
            <a:pPr algn="l"/>
            <a:r>
              <a:rPr lang="en-GB" sz="1600" dirty="0"/>
              <a:t>Free</a:t>
            </a:r>
          </a:p>
          <a:p>
            <a:pPr algn="l"/>
            <a:r>
              <a:rPr lang="en-GB" sz="1600" dirty="0"/>
              <a:t>No side effects</a:t>
            </a:r>
          </a:p>
          <a:p>
            <a:pPr algn="l"/>
            <a:r>
              <a:rPr lang="en-GB" sz="1600" dirty="0"/>
              <a:t>Not dependent on power</a:t>
            </a:r>
          </a:p>
        </p:txBody>
      </p:sp>
      <p:sp>
        <p:nvSpPr>
          <p:cNvPr id="33799" name="Text Box 7"/>
          <p:cNvSpPr txBox="1">
            <a:spLocks noChangeArrowheads="1"/>
          </p:cNvSpPr>
          <p:nvPr/>
        </p:nvSpPr>
        <p:spPr bwMode="auto">
          <a:xfrm>
            <a:off x="3319463" y="3162300"/>
            <a:ext cx="2409825" cy="1069975"/>
          </a:xfrm>
          <a:prstGeom prst="rect">
            <a:avLst/>
          </a:prstGeom>
          <a:noFill/>
          <a:ln w="9525">
            <a:noFill/>
            <a:miter lim="800000"/>
            <a:headEnd/>
            <a:tailEnd/>
          </a:ln>
          <a:effectLst/>
        </p:spPr>
        <p:txBody>
          <a:bodyPr wrap="none">
            <a:spAutoFit/>
          </a:bodyPr>
          <a:lstStyle/>
          <a:p>
            <a:pPr algn="l"/>
            <a:r>
              <a:rPr lang="en-GB" sz="1600" dirty="0"/>
              <a:t>No side effects</a:t>
            </a:r>
          </a:p>
          <a:p>
            <a:pPr algn="l"/>
            <a:r>
              <a:rPr lang="en-GB" sz="1600" dirty="0"/>
              <a:t>Very informative</a:t>
            </a:r>
          </a:p>
          <a:p>
            <a:pPr algn="l"/>
            <a:r>
              <a:rPr lang="en-GB" sz="1600" dirty="0"/>
              <a:t>Known to improve safety</a:t>
            </a:r>
          </a:p>
          <a:p>
            <a:pPr algn="l"/>
            <a:r>
              <a:rPr lang="en-GB" sz="1600" dirty="0"/>
              <a:t>Labour saving</a:t>
            </a:r>
          </a:p>
        </p:txBody>
      </p:sp>
      <p:sp>
        <p:nvSpPr>
          <p:cNvPr id="33800" name="Text Box 8"/>
          <p:cNvSpPr txBox="1">
            <a:spLocks noChangeArrowheads="1"/>
          </p:cNvSpPr>
          <p:nvPr/>
        </p:nvSpPr>
        <p:spPr bwMode="auto">
          <a:xfrm>
            <a:off x="3319463" y="4660900"/>
            <a:ext cx="2135187" cy="336550"/>
          </a:xfrm>
          <a:prstGeom prst="rect">
            <a:avLst/>
          </a:prstGeom>
          <a:noFill/>
          <a:ln w="9525">
            <a:noFill/>
            <a:miter lim="800000"/>
            <a:headEnd/>
            <a:tailEnd/>
          </a:ln>
          <a:effectLst/>
        </p:spPr>
        <p:txBody>
          <a:bodyPr wrap="none">
            <a:spAutoFit/>
          </a:bodyPr>
          <a:lstStyle/>
          <a:p>
            <a:pPr algn="l"/>
            <a:r>
              <a:rPr lang="en-GB" sz="1600" i="1" dirty="0"/>
              <a:t>Additional</a:t>
            </a:r>
            <a:r>
              <a:rPr lang="en-GB" sz="1600" dirty="0"/>
              <a:t> information</a:t>
            </a:r>
          </a:p>
        </p:txBody>
      </p:sp>
      <p:sp>
        <p:nvSpPr>
          <p:cNvPr id="33801" name="Text Box 9"/>
          <p:cNvSpPr txBox="1">
            <a:spLocks noChangeArrowheads="1"/>
          </p:cNvSpPr>
          <p:nvPr/>
        </p:nvSpPr>
        <p:spPr bwMode="auto">
          <a:xfrm>
            <a:off x="3630613" y="1206500"/>
            <a:ext cx="1255712" cy="336550"/>
          </a:xfrm>
          <a:prstGeom prst="rect">
            <a:avLst/>
          </a:prstGeom>
          <a:noFill/>
          <a:ln w="9525">
            <a:noFill/>
            <a:miter lim="800000"/>
            <a:headEnd/>
            <a:tailEnd/>
          </a:ln>
          <a:effectLst/>
        </p:spPr>
        <p:txBody>
          <a:bodyPr wrap="none">
            <a:spAutoFit/>
          </a:bodyPr>
          <a:lstStyle/>
          <a:p>
            <a:pPr algn="l"/>
            <a:r>
              <a:rPr lang="en-GB" sz="1600" u="sng"/>
              <a:t>Advantages</a:t>
            </a:r>
          </a:p>
        </p:txBody>
      </p:sp>
      <p:sp>
        <p:nvSpPr>
          <p:cNvPr id="33802" name="Text Box 10"/>
          <p:cNvSpPr txBox="1">
            <a:spLocks noChangeArrowheads="1"/>
          </p:cNvSpPr>
          <p:nvPr/>
        </p:nvSpPr>
        <p:spPr bwMode="auto">
          <a:xfrm>
            <a:off x="6642100" y="1270000"/>
            <a:ext cx="1525588" cy="336550"/>
          </a:xfrm>
          <a:prstGeom prst="rect">
            <a:avLst/>
          </a:prstGeom>
          <a:noFill/>
          <a:ln w="9525">
            <a:noFill/>
            <a:miter lim="800000"/>
            <a:headEnd/>
            <a:tailEnd/>
          </a:ln>
          <a:effectLst/>
        </p:spPr>
        <p:txBody>
          <a:bodyPr wrap="none">
            <a:spAutoFit/>
          </a:bodyPr>
          <a:lstStyle/>
          <a:p>
            <a:pPr algn="l"/>
            <a:r>
              <a:rPr lang="en-GB" sz="1600" u="sng"/>
              <a:t>Disadvantages</a:t>
            </a:r>
          </a:p>
        </p:txBody>
      </p:sp>
      <p:sp>
        <p:nvSpPr>
          <p:cNvPr id="33803" name="Text Box 11"/>
          <p:cNvSpPr txBox="1">
            <a:spLocks noChangeArrowheads="1"/>
          </p:cNvSpPr>
          <p:nvPr/>
        </p:nvSpPr>
        <p:spPr bwMode="auto">
          <a:xfrm>
            <a:off x="6286500" y="1765300"/>
            <a:ext cx="1920875" cy="581025"/>
          </a:xfrm>
          <a:prstGeom prst="rect">
            <a:avLst/>
          </a:prstGeom>
          <a:noFill/>
          <a:ln w="9525">
            <a:noFill/>
            <a:miter lim="800000"/>
            <a:headEnd/>
            <a:tailEnd/>
          </a:ln>
          <a:effectLst/>
        </p:spPr>
        <p:txBody>
          <a:bodyPr wrap="none">
            <a:spAutoFit/>
          </a:bodyPr>
          <a:lstStyle/>
          <a:p>
            <a:pPr algn="l"/>
            <a:r>
              <a:rPr lang="en-GB" sz="1600" dirty="0"/>
              <a:t>Limited information</a:t>
            </a:r>
          </a:p>
          <a:p>
            <a:pPr algn="l"/>
            <a:r>
              <a:rPr lang="en-GB" sz="1600" dirty="0"/>
              <a:t>Practical limitations</a:t>
            </a:r>
          </a:p>
        </p:txBody>
      </p:sp>
      <p:sp>
        <p:nvSpPr>
          <p:cNvPr id="33804" name="Text Box 12"/>
          <p:cNvSpPr txBox="1">
            <a:spLocks noChangeArrowheads="1"/>
          </p:cNvSpPr>
          <p:nvPr/>
        </p:nvSpPr>
        <p:spPr bwMode="auto">
          <a:xfrm>
            <a:off x="6286500" y="3213100"/>
            <a:ext cx="2146300" cy="581025"/>
          </a:xfrm>
          <a:prstGeom prst="rect">
            <a:avLst/>
          </a:prstGeom>
          <a:noFill/>
          <a:ln w="9525">
            <a:noFill/>
            <a:miter lim="800000"/>
            <a:headEnd/>
            <a:tailEnd/>
          </a:ln>
          <a:effectLst/>
        </p:spPr>
        <p:txBody>
          <a:bodyPr wrap="none">
            <a:spAutoFit/>
          </a:bodyPr>
          <a:lstStyle/>
          <a:p>
            <a:pPr algn="l"/>
            <a:r>
              <a:rPr lang="en-GB" sz="1600" dirty="0"/>
              <a:t>May be expensive</a:t>
            </a:r>
          </a:p>
          <a:p>
            <a:pPr algn="l"/>
            <a:r>
              <a:rPr lang="en-GB" sz="1600" dirty="0"/>
              <a:t>Usually require power</a:t>
            </a:r>
          </a:p>
        </p:txBody>
      </p:sp>
      <p:sp>
        <p:nvSpPr>
          <p:cNvPr id="33805" name="Text Box 13"/>
          <p:cNvSpPr txBox="1">
            <a:spLocks noChangeArrowheads="1"/>
          </p:cNvSpPr>
          <p:nvPr/>
        </p:nvSpPr>
        <p:spPr bwMode="auto">
          <a:xfrm>
            <a:off x="6286500" y="4660900"/>
            <a:ext cx="2643188" cy="1069975"/>
          </a:xfrm>
          <a:prstGeom prst="rect">
            <a:avLst/>
          </a:prstGeom>
          <a:noFill/>
          <a:ln w="9525">
            <a:noFill/>
            <a:miter lim="800000"/>
            <a:headEnd/>
            <a:tailEnd/>
          </a:ln>
          <a:effectLst/>
        </p:spPr>
        <p:txBody>
          <a:bodyPr wrap="none">
            <a:spAutoFit/>
          </a:bodyPr>
          <a:lstStyle/>
          <a:p>
            <a:pPr algn="l"/>
            <a:r>
              <a:rPr lang="en-GB" sz="1600"/>
              <a:t>Very expensive</a:t>
            </a:r>
          </a:p>
          <a:p>
            <a:pPr algn="l"/>
            <a:r>
              <a:rPr lang="en-GB" sz="1600"/>
              <a:t>Risk of injury</a:t>
            </a:r>
          </a:p>
          <a:p>
            <a:pPr algn="l"/>
            <a:r>
              <a:rPr lang="en-GB" sz="1600"/>
              <a:t>Risk of infection</a:t>
            </a:r>
          </a:p>
          <a:p>
            <a:pPr algn="l"/>
            <a:r>
              <a:rPr lang="en-GB" sz="1600"/>
              <a:t>Significant training required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3798"/>
                                        </p:tgtEl>
                                        <p:attrNameLst>
                                          <p:attrName>style.visibility</p:attrName>
                                        </p:attrNameLst>
                                      </p:cBhvr>
                                      <p:to>
                                        <p:strVal val="visible"/>
                                      </p:to>
                                    </p:set>
                                    <p:anim calcmode="lin" valueType="num">
                                      <p:cBhvr additive="base">
                                        <p:cTn id="7" dur="500" fill="hold"/>
                                        <p:tgtEl>
                                          <p:spTgt spid="33798"/>
                                        </p:tgtEl>
                                        <p:attrNameLst>
                                          <p:attrName>ppt_x</p:attrName>
                                        </p:attrNameLst>
                                      </p:cBhvr>
                                      <p:tavLst>
                                        <p:tav tm="0">
                                          <p:val>
                                            <p:strVal val="1+#ppt_w/2"/>
                                          </p:val>
                                        </p:tav>
                                        <p:tav tm="100000">
                                          <p:val>
                                            <p:strVal val="#ppt_x"/>
                                          </p:val>
                                        </p:tav>
                                      </p:tavLst>
                                    </p:anim>
                                    <p:anim calcmode="lin" valueType="num">
                                      <p:cBhvr additive="base">
                                        <p:cTn id="8" dur="500" fill="hold"/>
                                        <p:tgtEl>
                                          <p:spTgt spid="337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3803"/>
                                        </p:tgtEl>
                                        <p:attrNameLst>
                                          <p:attrName>style.visibility</p:attrName>
                                        </p:attrNameLst>
                                      </p:cBhvr>
                                      <p:to>
                                        <p:strVal val="visible"/>
                                      </p:to>
                                    </p:set>
                                    <p:anim calcmode="lin" valueType="num">
                                      <p:cBhvr additive="base">
                                        <p:cTn id="13" dur="500" fill="hold"/>
                                        <p:tgtEl>
                                          <p:spTgt spid="33803"/>
                                        </p:tgtEl>
                                        <p:attrNameLst>
                                          <p:attrName>ppt_x</p:attrName>
                                        </p:attrNameLst>
                                      </p:cBhvr>
                                      <p:tavLst>
                                        <p:tav tm="0">
                                          <p:val>
                                            <p:strVal val="1+#ppt_w/2"/>
                                          </p:val>
                                        </p:tav>
                                        <p:tav tm="100000">
                                          <p:val>
                                            <p:strVal val="#ppt_x"/>
                                          </p:val>
                                        </p:tav>
                                      </p:tavLst>
                                    </p:anim>
                                    <p:anim calcmode="lin" valueType="num">
                                      <p:cBhvr additive="base">
                                        <p:cTn id="14" dur="500" fill="hold"/>
                                        <p:tgtEl>
                                          <p:spTgt spid="3380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3799"/>
                                        </p:tgtEl>
                                        <p:attrNameLst>
                                          <p:attrName>style.visibility</p:attrName>
                                        </p:attrNameLst>
                                      </p:cBhvr>
                                      <p:to>
                                        <p:strVal val="visible"/>
                                      </p:to>
                                    </p:set>
                                    <p:anim calcmode="lin" valueType="num">
                                      <p:cBhvr additive="base">
                                        <p:cTn id="19" dur="500" fill="hold"/>
                                        <p:tgtEl>
                                          <p:spTgt spid="33799"/>
                                        </p:tgtEl>
                                        <p:attrNameLst>
                                          <p:attrName>ppt_x</p:attrName>
                                        </p:attrNameLst>
                                      </p:cBhvr>
                                      <p:tavLst>
                                        <p:tav tm="0">
                                          <p:val>
                                            <p:strVal val="1+#ppt_w/2"/>
                                          </p:val>
                                        </p:tav>
                                        <p:tav tm="100000">
                                          <p:val>
                                            <p:strVal val="#ppt_x"/>
                                          </p:val>
                                        </p:tav>
                                      </p:tavLst>
                                    </p:anim>
                                    <p:anim calcmode="lin" valueType="num">
                                      <p:cBhvr additive="base">
                                        <p:cTn id="20" dur="500" fill="hold"/>
                                        <p:tgtEl>
                                          <p:spTgt spid="3379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3804"/>
                                        </p:tgtEl>
                                        <p:attrNameLst>
                                          <p:attrName>style.visibility</p:attrName>
                                        </p:attrNameLst>
                                      </p:cBhvr>
                                      <p:to>
                                        <p:strVal val="visible"/>
                                      </p:to>
                                    </p:set>
                                    <p:anim calcmode="lin" valueType="num">
                                      <p:cBhvr additive="base">
                                        <p:cTn id="25" dur="500" fill="hold"/>
                                        <p:tgtEl>
                                          <p:spTgt spid="33804"/>
                                        </p:tgtEl>
                                        <p:attrNameLst>
                                          <p:attrName>ppt_x</p:attrName>
                                        </p:attrNameLst>
                                      </p:cBhvr>
                                      <p:tavLst>
                                        <p:tav tm="0">
                                          <p:val>
                                            <p:strVal val="1+#ppt_w/2"/>
                                          </p:val>
                                        </p:tav>
                                        <p:tav tm="100000">
                                          <p:val>
                                            <p:strVal val="#ppt_x"/>
                                          </p:val>
                                        </p:tav>
                                      </p:tavLst>
                                    </p:anim>
                                    <p:anim calcmode="lin" valueType="num">
                                      <p:cBhvr additive="base">
                                        <p:cTn id="26" dur="500" fill="hold"/>
                                        <p:tgtEl>
                                          <p:spTgt spid="3380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3800"/>
                                        </p:tgtEl>
                                        <p:attrNameLst>
                                          <p:attrName>style.visibility</p:attrName>
                                        </p:attrNameLst>
                                      </p:cBhvr>
                                      <p:to>
                                        <p:strVal val="visible"/>
                                      </p:to>
                                    </p:set>
                                    <p:anim calcmode="lin" valueType="num">
                                      <p:cBhvr additive="base">
                                        <p:cTn id="31" dur="500" fill="hold"/>
                                        <p:tgtEl>
                                          <p:spTgt spid="33800"/>
                                        </p:tgtEl>
                                        <p:attrNameLst>
                                          <p:attrName>ppt_x</p:attrName>
                                        </p:attrNameLst>
                                      </p:cBhvr>
                                      <p:tavLst>
                                        <p:tav tm="0">
                                          <p:val>
                                            <p:strVal val="1+#ppt_w/2"/>
                                          </p:val>
                                        </p:tav>
                                        <p:tav tm="100000">
                                          <p:val>
                                            <p:strVal val="#ppt_x"/>
                                          </p:val>
                                        </p:tav>
                                      </p:tavLst>
                                    </p:anim>
                                    <p:anim calcmode="lin" valueType="num">
                                      <p:cBhvr additive="base">
                                        <p:cTn id="32" dur="500" fill="hold"/>
                                        <p:tgtEl>
                                          <p:spTgt spid="3380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3805"/>
                                        </p:tgtEl>
                                        <p:attrNameLst>
                                          <p:attrName>style.visibility</p:attrName>
                                        </p:attrNameLst>
                                      </p:cBhvr>
                                      <p:to>
                                        <p:strVal val="visible"/>
                                      </p:to>
                                    </p:set>
                                    <p:anim calcmode="lin" valueType="num">
                                      <p:cBhvr additive="base">
                                        <p:cTn id="37" dur="500" fill="hold"/>
                                        <p:tgtEl>
                                          <p:spTgt spid="33805"/>
                                        </p:tgtEl>
                                        <p:attrNameLst>
                                          <p:attrName>ppt_x</p:attrName>
                                        </p:attrNameLst>
                                      </p:cBhvr>
                                      <p:tavLst>
                                        <p:tav tm="0">
                                          <p:val>
                                            <p:strVal val="1+#ppt_w/2"/>
                                          </p:val>
                                        </p:tav>
                                        <p:tav tm="100000">
                                          <p:val>
                                            <p:strVal val="#ppt_x"/>
                                          </p:val>
                                        </p:tav>
                                      </p:tavLst>
                                    </p:anim>
                                    <p:anim calcmode="lin" valueType="num">
                                      <p:cBhvr additive="base">
                                        <p:cTn id="38" dur="500" fill="hold"/>
                                        <p:tgtEl>
                                          <p:spTgt spid="338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799" grpId="0"/>
      <p:bldP spid="33800" grpId="0"/>
      <p:bldP spid="33803" grpId="0"/>
      <p:bldP spid="33804" grpId="0"/>
      <p:bldP spid="33805"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588498"/>
            <a:ext cx="7406640" cy="554502"/>
          </a:xfrm>
        </p:spPr>
        <p:txBody>
          <a:bodyPr>
            <a:normAutofit fontScale="90000"/>
          </a:bodyPr>
          <a:lstStyle/>
          <a:p>
            <a:pPr algn="ctr"/>
            <a:r>
              <a:rPr lang="en-US" sz="3200" dirty="0" smtClean="0">
                <a:solidFill>
                  <a:srgbClr val="0070C0"/>
                </a:solidFill>
                <a:effectLst/>
              </a:rPr>
              <a:t>Standards for basic anesthetic monitoring </a:t>
            </a:r>
            <a:r>
              <a:rPr lang="en-US" sz="1800" dirty="0" smtClean="0">
                <a:solidFill>
                  <a:srgbClr val="0070C0"/>
                </a:solidFill>
                <a:effectLst/>
              </a:rPr>
              <a:t>(AAGBI)</a:t>
            </a:r>
            <a:endParaRPr lang="en-US" sz="3200" dirty="0">
              <a:solidFill>
                <a:srgbClr val="0070C0"/>
              </a:solidFill>
              <a:effectLst/>
            </a:endParaRPr>
          </a:p>
        </p:txBody>
      </p:sp>
      <p:sp>
        <p:nvSpPr>
          <p:cNvPr id="3" name="Subtitle 2"/>
          <p:cNvSpPr>
            <a:spLocks noGrp="1"/>
          </p:cNvSpPr>
          <p:nvPr>
            <p:ph type="subTitle" idx="1"/>
          </p:nvPr>
        </p:nvSpPr>
        <p:spPr>
          <a:xfrm>
            <a:off x="990600" y="1905000"/>
            <a:ext cx="7924800" cy="1066800"/>
          </a:xfrm>
        </p:spPr>
        <p:txBody>
          <a:bodyPr>
            <a:noAutofit/>
          </a:bodyPr>
          <a:lstStyle/>
          <a:p>
            <a:pPr marL="346075" indent="-319088">
              <a:buFont typeface="Courier New" pitchFamily="49" charset="0"/>
              <a:buChar char="o"/>
            </a:pPr>
            <a:r>
              <a:rPr lang="en-US" sz="2200" dirty="0" smtClean="0"/>
              <a:t>Qualified anesthesia personnel shall be present in the room </a:t>
            </a:r>
            <a:r>
              <a:rPr lang="en-US" sz="2200" dirty="0" smtClean="0">
                <a:solidFill>
                  <a:srgbClr val="0070C0"/>
                </a:solidFill>
              </a:rPr>
              <a:t>throughout</a:t>
            </a:r>
            <a:r>
              <a:rPr lang="en-US" sz="2200" dirty="0" smtClean="0"/>
              <a:t> the conduct of all GA, RA and monitored anesthesia care (MAC).  </a:t>
            </a:r>
            <a:endParaRPr lang="en-US" sz="2200" dirty="0"/>
          </a:p>
        </p:txBody>
      </p:sp>
      <p:sp>
        <p:nvSpPr>
          <p:cNvPr id="4" name="Title 1"/>
          <p:cNvSpPr txBox="1">
            <a:spLocks/>
          </p:cNvSpPr>
          <p:nvPr/>
        </p:nvSpPr>
        <p:spPr>
          <a:xfrm>
            <a:off x="1143000" y="1274298"/>
            <a:ext cx="2514600" cy="402102"/>
          </a:xfrm>
          <a:prstGeom prst="round2DiagRect">
            <a:avLst/>
          </a:prstGeom>
        </p:spPr>
        <p:style>
          <a:lnRef idx="2">
            <a:schemeClr val="accent2"/>
          </a:lnRef>
          <a:fillRef idx="1">
            <a:schemeClr val="lt1"/>
          </a:fillRef>
          <a:effectRef idx="0">
            <a:schemeClr val="accent2"/>
          </a:effectRef>
          <a:fontRef idx="minor">
            <a:schemeClr val="dk1"/>
          </a:fontRef>
        </p:style>
        <p:txBody>
          <a:bodyPr anchor="b">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i="0" u="none" strike="noStrike" kern="1200" cap="none" spc="0" normalizeH="0" baseline="0" noProof="0" dirty="0" smtClean="0">
                <a:ln>
                  <a:noFill/>
                </a:ln>
                <a:solidFill>
                  <a:srgbClr val="0070C0"/>
                </a:solidFill>
                <a:effectLst/>
                <a:uLnTx/>
                <a:uFillTx/>
                <a:latin typeface="+mj-lt"/>
                <a:ea typeface="+mj-ea"/>
                <a:cs typeface="+mj-cs"/>
              </a:rPr>
              <a:t>STANDARD  I</a:t>
            </a:r>
            <a:endParaRPr kumimoji="0" lang="en-US" sz="2400" i="0" u="none" strike="noStrike" kern="1200" cap="none" spc="0" normalizeH="0" baseline="0" noProof="0" dirty="0">
              <a:ln>
                <a:noFill/>
              </a:ln>
              <a:solidFill>
                <a:srgbClr val="0070C0"/>
              </a:solidFill>
              <a:effectLst/>
              <a:uLnTx/>
              <a:uFillTx/>
              <a:latin typeface="+mj-lt"/>
              <a:ea typeface="+mj-ea"/>
              <a:cs typeface="+mj-cs"/>
            </a:endParaRPr>
          </a:p>
        </p:txBody>
      </p:sp>
      <p:sp>
        <p:nvSpPr>
          <p:cNvPr id="5" name="Subtitle 2"/>
          <p:cNvSpPr txBox="1">
            <a:spLocks/>
          </p:cNvSpPr>
          <p:nvPr/>
        </p:nvSpPr>
        <p:spPr>
          <a:xfrm>
            <a:off x="990600" y="3657600"/>
            <a:ext cx="8001000" cy="2895600"/>
          </a:xfrm>
          <a:prstGeom prst="rect">
            <a:avLst/>
          </a:prstGeom>
        </p:spPr>
        <p:txBody>
          <a:bodyPr tIns="0">
            <a:noAutofit/>
          </a:bodyPr>
          <a:lstStyle/>
          <a:p>
            <a:pPr marL="346075" lvl="0" indent="-346075">
              <a:spcBef>
                <a:spcPts val="600"/>
              </a:spcBef>
              <a:buClr>
                <a:schemeClr val="accent1"/>
              </a:buClr>
              <a:buSzPct val="80000"/>
              <a:buFont typeface="Courier New" pitchFamily="49" charset="0"/>
              <a:buChar char="o"/>
            </a:pPr>
            <a:r>
              <a:rPr lang="en-US" sz="2200" dirty="0"/>
              <a:t>Because of the </a:t>
            </a:r>
            <a:r>
              <a:rPr lang="en-US" sz="2200" dirty="0">
                <a:solidFill>
                  <a:srgbClr val="0070C0"/>
                </a:solidFill>
              </a:rPr>
              <a:t>rapid changes </a:t>
            </a:r>
            <a:r>
              <a:rPr lang="en-US" sz="2200" dirty="0"/>
              <a:t>in patient status during anesthesia, qualified anesthesia personnel shall be </a:t>
            </a:r>
            <a:r>
              <a:rPr lang="en-US" sz="2200" dirty="0">
                <a:solidFill>
                  <a:srgbClr val="0070C0"/>
                </a:solidFill>
              </a:rPr>
              <a:t>continuously</a:t>
            </a:r>
            <a:r>
              <a:rPr lang="en-US" sz="2200" dirty="0"/>
              <a:t> present to monitor the patient and provide anesthesia </a:t>
            </a:r>
            <a:r>
              <a:rPr lang="en-US" sz="2200" dirty="0" smtClean="0"/>
              <a:t>care.</a:t>
            </a:r>
          </a:p>
          <a:p>
            <a:pPr marL="346075" lvl="0" indent="-346075">
              <a:spcBef>
                <a:spcPts val="600"/>
              </a:spcBef>
              <a:buClr>
                <a:schemeClr val="accent1"/>
              </a:buClr>
              <a:buSzPct val="80000"/>
              <a:buFont typeface="Courier New" pitchFamily="49" charset="0"/>
              <a:buChar char="o"/>
            </a:pPr>
            <a:r>
              <a:rPr lang="en-US" sz="2200" dirty="0" smtClean="0"/>
              <a:t>Remote </a:t>
            </a:r>
            <a:r>
              <a:rPr lang="en-US" sz="2200" dirty="0"/>
              <a:t>observation of the </a:t>
            </a:r>
            <a:r>
              <a:rPr lang="en-US" sz="2200" dirty="0" smtClean="0"/>
              <a:t>patient in a known </a:t>
            </a:r>
            <a:r>
              <a:rPr lang="en-US" sz="2200" dirty="0" smtClean="0">
                <a:solidFill>
                  <a:srgbClr val="0070C0"/>
                </a:solidFill>
              </a:rPr>
              <a:t>hazard area</a:t>
            </a:r>
            <a:r>
              <a:rPr lang="en-US" sz="2200" dirty="0" smtClean="0"/>
              <a:t>.</a:t>
            </a:r>
          </a:p>
          <a:p>
            <a:pPr marL="346075" lvl="0" indent="-346075">
              <a:spcBef>
                <a:spcPts val="600"/>
              </a:spcBef>
              <a:buClr>
                <a:schemeClr val="accent1"/>
              </a:buClr>
              <a:buSzPct val="80000"/>
              <a:buFont typeface="Courier New" pitchFamily="49" charset="0"/>
              <a:buChar char="o"/>
            </a:pPr>
            <a:r>
              <a:rPr lang="en-US" sz="2200" dirty="0" smtClean="0"/>
              <a:t>Temporary </a:t>
            </a:r>
            <a:r>
              <a:rPr lang="en-US" sz="2200" dirty="0"/>
              <a:t>absence </a:t>
            </a:r>
            <a:r>
              <a:rPr lang="en-US" sz="2200" dirty="0" smtClean="0">
                <a:sym typeface="Wingdings" pitchFamily="2" charset="2"/>
              </a:rPr>
              <a:t> </a:t>
            </a:r>
            <a:r>
              <a:rPr lang="en-US" sz="2200" dirty="0" smtClean="0">
                <a:solidFill>
                  <a:srgbClr val="0070C0"/>
                </a:solidFill>
                <a:sym typeface="Wingdings" pitchFamily="2" charset="2"/>
              </a:rPr>
              <a:t>C</a:t>
            </a:r>
            <a:r>
              <a:rPr lang="en-US" sz="2200" dirty="0" smtClean="0">
                <a:solidFill>
                  <a:srgbClr val="0070C0"/>
                </a:solidFill>
              </a:rPr>
              <a:t>omparison</a:t>
            </a:r>
            <a:r>
              <a:rPr lang="en-US" sz="2200" dirty="0" smtClean="0"/>
              <a:t> of </a:t>
            </a:r>
            <a:r>
              <a:rPr lang="en-US" sz="2200" dirty="0"/>
              <a:t>the emergency with the anesthetized patient’s condition and </a:t>
            </a:r>
            <a:r>
              <a:rPr lang="en-US" sz="2200" dirty="0" smtClean="0"/>
              <a:t>the </a:t>
            </a:r>
            <a:r>
              <a:rPr lang="en-US" sz="2200" dirty="0"/>
              <a:t>selection of the person left responsible for the anesthetic during the temporary absence.</a:t>
            </a:r>
            <a:endParaRPr lang="en-US" sz="2200" dirty="0" smtClean="0"/>
          </a:p>
          <a:p>
            <a:pPr marL="346075" lvl="0" indent="-346075">
              <a:spcBef>
                <a:spcPts val="600"/>
              </a:spcBef>
              <a:buClr>
                <a:schemeClr val="accent1"/>
              </a:buClr>
              <a:buSzPct val="80000"/>
              <a:buFont typeface="Courier New" pitchFamily="49" charset="0"/>
              <a:buChar char="o"/>
            </a:pPr>
            <a:endParaRPr kumimoji="0" lang="en-US" sz="2200" b="0" i="0" u="none" strike="noStrike" kern="1200" cap="none" spc="0" normalizeH="0" baseline="0" noProof="0" dirty="0">
              <a:ln>
                <a:noFill/>
              </a:ln>
              <a:solidFill>
                <a:schemeClr val="tx2">
                  <a:shade val="30000"/>
                  <a:satMod val="150000"/>
                </a:schemeClr>
              </a:solidFill>
              <a:effectLst/>
              <a:uLnTx/>
              <a:uFillTx/>
              <a:latin typeface="+mn-lt"/>
              <a:ea typeface="+mn-ea"/>
              <a:cs typeface="+mn-cs"/>
            </a:endParaRPr>
          </a:p>
        </p:txBody>
      </p:sp>
      <p:sp>
        <p:nvSpPr>
          <p:cNvPr id="6" name="TextBox 5"/>
          <p:cNvSpPr txBox="1"/>
          <p:nvPr/>
        </p:nvSpPr>
        <p:spPr>
          <a:xfrm>
            <a:off x="1219200" y="3124200"/>
            <a:ext cx="1371600"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b="1" dirty="0" smtClean="0">
                <a:solidFill>
                  <a:srgbClr val="0070C0"/>
                </a:solidFill>
              </a:rPr>
              <a:t>Objective </a:t>
            </a:r>
            <a:endParaRPr lang="en-US" sz="20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linds(horizontal)">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90600"/>
            <a:ext cx="2590800" cy="427038"/>
          </a:xfrm>
          <a:prstGeom prst="round2Diag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400" dirty="0" smtClean="0">
                <a:solidFill>
                  <a:srgbClr val="0070C0"/>
                </a:solidFill>
                <a:effectLst/>
              </a:rPr>
              <a:t>STANDARD  II</a:t>
            </a:r>
            <a:endParaRPr lang="en-US" sz="2400" dirty="0">
              <a:solidFill>
                <a:srgbClr val="0070C0"/>
              </a:solidFill>
              <a:effectLst/>
            </a:endParaRPr>
          </a:p>
        </p:txBody>
      </p:sp>
      <p:sp>
        <p:nvSpPr>
          <p:cNvPr id="3" name="Content Placeholder 2"/>
          <p:cNvSpPr>
            <a:spLocks noGrp="1"/>
          </p:cNvSpPr>
          <p:nvPr>
            <p:ph idx="1"/>
          </p:nvPr>
        </p:nvSpPr>
        <p:spPr>
          <a:xfrm>
            <a:off x="990600" y="1752600"/>
            <a:ext cx="7943088" cy="4953000"/>
          </a:xfrm>
        </p:spPr>
        <p:txBody>
          <a:bodyPr>
            <a:normAutofit/>
          </a:bodyPr>
          <a:lstStyle/>
          <a:p>
            <a:r>
              <a:rPr lang="en-US" sz="2400" dirty="0" smtClean="0"/>
              <a:t>During all anesthetics, the patient’s </a:t>
            </a:r>
            <a:r>
              <a:rPr lang="en-US" sz="2400" dirty="0" smtClean="0">
                <a:solidFill>
                  <a:srgbClr val="0070C0"/>
                </a:solidFill>
              </a:rPr>
              <a:t>oxygenation, ventilation, circulation</a:t>
            </a:r>
            <a:r>
              <a:rPr lang="en-US" sz="2400" dirty="0" smtClean="0"/>
              <a:t> and </a:t>
            </a:r>
            <a:r>
              <a:rPr lang="en-US" sz="2400" dirty="0" smtClean="0">
                <a:solidFill>
                  <a:srgbClr val="0070C0"/>
                </a:solidFill>
              </a:rPr>
              <a:t>temperature</a:t>
            </a:r>
            <a:r>
              <a:rPr lang="en-US" sz="2400" dirty="0" smtClean="0"/>
              <a:t> shall be </a:t>
            </a:r>
            <a:r>
              <a:rPr lang="en-US" sz="2400" dirty="0" smtClean="0">
                <a:solidFill>
                  <a:srgbClr val="0070C0"/>
                </a:solidFill>
              </a:rPr>
              <a:t>continually</a:t>
            </a:r>
            <a:r>
              <a:rPr lang="en-US" sz="2400" dirty="0" smtClean="0"/>
              <a:t> evaluated.</a:t>
            </a:r>
          </a:p>
          <a:p>
            <a:pPr lvl="1">
              <a:buFont typeface="Gill Sans MT" pitchFamily="34" charset="0"/>
              <a:buChar char="–"/>
            </a:pPr>
            <a:r>
              <a:rPr lang="en-US" sz="2400" dirty="0" smtClean="0">
                <a:solidFill>
                  <a:srgbClr val="0070C0"/>
                </a:solidFill>
              </a:rPr>
              <a:t>“Continual” </a:t>
            </a:r>
            <a:r>
              <a:rPr lang="en-US" sz="2400" dirty="0" smtClean="0"/>
              <a:t>is defined as “repeated regularly and frequently in steady rapid succession” whereas </a:t>
            </a:r>
          </a:p>
          <a:p>
            <a:pPr lvl="1">
              <a:buFont typeface="Gill Sans MT" pitchFamily="34" charset="0"/>
              <a:buChar char="–"/>
            </a:pPr>
            <a:r>
              <a:rPr lang="en-US" sz="2400" dirty="0" smtClean="0">
                <a:solidFill>
                  <a:srgbClr val="0070C0"/>
                </a:solidFill>
              </a:rPr>
              <a:t>“Continuous” </a:t>
            </a:r>
            <a:r>
              <a:rPr lang="en-US" sz="2400" dirty="0" smtClean="0"/>
              <a:t>means “prolonged without any interruption at any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2602992" cy="427038"/>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1. Oxygenation </a:t>
            </a:r>
            <a:endParaRPr lang="en-US" sz="2800" dirty="0">
              <a:solidFill>
                <a:srgbClr val="0070C0"/>
              </a:solidFill>
              <a:effectLst/>
            </a:endParaRPr>
          </a:p>
        </p:txBody>
      </p:sp>
      <p:sp>
        <p:nvSpPr>
          <p:cNvPr id="3" name="Content Placeholder 2"/>
          <p:cNvSpPr>
            <a:spLocks noGrp="1"/>
          </p:cNvSpPr>
          <p:nvPr>
            <p:ph idx="1"/>
          </p:nvPr>
        </p:nvSpPr>
        <p:spPr>
          <a:xfrm>
            <a:off x="990600" y="1676400"/>
            <a:ext cx="8001000" cy="5029200"/>
          </a:xfrm>
        </p:spPr>
        <p:txBody>
          <a:bodyPr>
            <a:normAutofit/>
          </a:bodyPr>
          <a:lstStyle/>
          <a:p>
            <a:pPr>
              <a:buNone/>
            </a:pPr>
            <a:r>
              <a:rPr lang="en-US" sz="2400" dirty="0" smtClean="0">
                <a:solidFill>
                  <a:srgbClr val="0070C0"/>
                </a:solidFill>
              </a:rPr>
              <a:t>OBJECTIVE</a:t>
            </a:r>
            <a:r>
              <a:rPr lang="en-US" sz="2400" dirty="0" smtClean="0"/>
              <a:t> </a:t>
            </a:r>
          </a:p>
          <a:p>
            <a:pPr lvl="1"/>
            <a:r>
              <a:rPr lang="en-US" sz="2400" dirty="0" smtClean="0"/>
              <a:t>To ensure </a:t>
            </a:r>
            <a:r>
              <a:rPr lang="en-US" sz="2400" dirty="0" smtClean="0">
                <a:solidFill>
                  <a:srgbClr val="0070C0"/>
                </a:solidFill>
              </a:rPr>
              <a:t>adequate oxygen concentration </a:t>
            </a:r>
            <a:r>
              <a:rPr lang="en-US" sz="2400" dirty="0" smtClean="0"/>
              <a:t>in the inspired gas and the blood during all anesthetics. </a:t>
            </a:r>
          </a:p>
          <a:p>
            <a:pPr>
              <a:buNone/>
            </a:pPr>
            <a:r>
              <a:rPr lang="en-US" sz="2400" dirty="0" smtClean="0">
                <a:solidFill>
                  <a:srgbClr val="0070C0"/>
                </a:solidFill>
              </a:rPr>
              <a:t>METHODS </a:t>
            </a:r>
          </a:p>
          <a:p>
            <a:pPr marL="813816" lvl="1" indent="-457200">
              <a:buFont typeface="+mj-lt"/>
              <a:buAutoNum type="arabicPeriod"/>
            </a:pPr>
            <a:r>
              <a:rPr lang="en-US" sz="2200" dirty="0" smtClean="0">
                <a:solidFill>
                  <a:srgbClr val="0070C0"/>
                </a:solidFill>
              </a:rPr>
              <a:t>Inspired gas: </a:t>
            </a:r>
            <a:r>
              <a:rPr lang="en-US" sz="2200" dirty="0" smtClean="0"/>
              <a:t>During every administration of GA using an anesthesia machine, the concentration of oxygen in the patient breathing system shall be measured by </a:t>
            </a:r>
            <a:r>
              <a:rPr lang="en-US" sz="2200" dirty="0" smtClean="0">
                <a:solidFill>
                  <a:srgbClr val="0070C0"/>
                </a:solidFill>
              </a:rPr>
              <a:t>an oxygen analyzer</a:t>
            </a:r>
            <a:r>
              <a:rPr lang="en-US" sz="2200" dirty="0" smtClean="0"/>
              <a:t> with a low oxygen concentration </a:t>
            </a:r>
            <a:r>
              <a:rPr lang="en-US" sz="2200" dirty="0" smtClean="0">
                <a:solidFill>
                  <a:srgbClr val="0070C0"/>
                </a:solidFill>
              </a:rPr>
              <a:t>limit alarm </a:t>
            </a:r>
            <a:r>
              <a:rPr lang="en-US" sz="2200" dirty="0" smtClean="0"/>
              <a:t>in use. </a:t>
            </a:r>
          </a:p>
          <a:p>
            <a:pPr marL="813816" lvl="1" indent="-457200">
              <a:buFont typeface="+mj-lt"/>
              <a:buAutoNum type="arabicPeriod"/>
            </a:pPr>
            <a:r>
              <a:rPr lang="en-US" sz="2200" dirty="0" smtClean="0">
                <a:solidFill>
                  <a:srgbClr val="0070C0"/>
                </a:solidFill>
              </a:rPr>
              <a:t>Blood oxygenation: </a:t>
            </a:r>
            <a:r>
              <a:rPr lang="en-US" sz="2200" dirty="0" smtClean="0"/>
              <a:t>During all anesthetics, a quantitative method of assessing oxygenation such as pulseoxymetry shall be employed. When a pulseoxymetry is utilized, the variable pitch pulse tone and the low threshold </a:t>
            </a:r>
            <a:r>
              <a:rPr lang="en-US" sz="2200" dirty="0" smtClean="0">
                <a:solidFill>
                  <a:srgbClr val="0070C0"/>
                </a:solidFill>
              </a:rPr>
              <a:t>alarm shall be audible</a:t>
            </a:r>
            <a:r>
              <a:rPr lang="en-US" sz="2200" dirty="0" smtClean="0"/>
              <a:t>.</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14400"/>
            <a:ext cx="2221992" cy="457200"/>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2.  Ventilation</a:t>
            </a:r>
            <a:endParaRPr lang="en-US" sz="2800" dirty="0">
              <a:solidFill>
                <a:srgbClr val="0070C0"/>
              </a:solidFill>
              <a:effectLst/>
            </a:endParaRPr>
          </a:p>
        </p:txBody>
      </p:sp>
      <p:sp>
        <p:nvSpPr>
          <p:cNvPr id="3" name="Content Placeholder 2"/>
          <p:cNvSpPr>
            <a:spLocks noGrp="1"/>
          </p:cNvSpPr>
          <p:nvPr>
            <p:ph idx="1"/>
          </p:nvPr>
        </p:nvSpPr>
        <p:spPr>
          <a:xfrm>
            <a:off x="990600" y="1524000"/>
            <a:ext cx="7943088" cy="5181600"/>
          </a:xfrm>
        </p:spPr>
        <p:txBody>
          <a:bodyPr>
            <a:noAutofit/>
          </a:bodyPr>
          <a:lstStyle/>
          <a:p>
            <a:pPr>
              <a:buNone/>
            </a:pPr>
            <a:r>
              <a:rPr lang="en-US" sz="2400" dirty="0" smtClean="0">
                <a:solidFill>
                  <a:srgbClr val="0070C0"/>
                </a:solidFill>
              </a:rPr>
              <a:t>OBJECTIVE</a:t>
            </a:r>
            <a:r>
              <a:rPr lang="en-US" sz="2400" dirty="0" smtClean="0"/>
              <a:t> </a:t>
            </a:r>
          </a:p>
          <a:p>
            <a:r>
              <a:rPr lang="en-US" sz="2400" dirty="0" smtClean="0"/>
              <a:t>To ensure adequate ventilation of the patient during all anesthetics. </a:t>
            </a:r>
          </a:p>
          <a:p>
            <a:pPr>
              <a:buNone/>
            </a:pPr>
            <a:r>
              <a:rPr lang="en-US" sz="2400" dirty="0" smtClean="0">
                <a:solidFill>
                  <a:srgbClr val="0070C0"/>
                </a:solidFill>
              </a:rPr>
              <a:t>METHODS</a:t>
            </a:r>
            <a:r>
              <a:rPr lang="en-US" sz="2400" dirty="0" smtClean="0"/>
              <a:t> </a:t>
            </a:r>
          </a:p>
          <a:p>
            <a:pPr marL="813816" lvl="1" indent="-457200">
              <a:buFont typeface="+mj-lt"/>
              <a:buAutoNum type="arabicParenR"/>
            </a:pPr>
            <a:r>
              <a:rPr lang="en-US" sz="2200" dirty="0" smtClean="0"/>
              <a:t>Every patient receiving GA shall have the adequacy of ventilation continually evaluated. Qualitative clinical signs such as </a:t>
            </a:r>
            <a:r>
              <a:rPr lang="en-US" sz="2200" dirty="0" smtClean="0">
                <a:solidFill>
                  <a:srgbClr val="0070C0"/>
                </a:solidFill>
              </a:rPr>
              <a:t>chest excursion, observation of the reservoir breathing bag</a:t>
            </a:r>
            <a:r>
              <a:rPr lang="en-US" sz="2200" dirty="0" smtClean="0"/>
              <a:t> and </a:t>
            </a:r>
            <a:r>
              <a:rPr lang="en-US" sz="2200" dirty="0" smtClean="0">
                <a:solidFill>
                  <a:srgbClr val="0070C0"/>
                </a:solidFill>
              </a:rPr>
              <a:t>auscultation of breath sounds </a:t>
            </a:r>
            <a:r>
              <a:rPr lang="en-US" sz="2200" dirty="0" smtClean="0"/>
              <a:t>are useful. </a:t>
            </a:r>
          </a:p>
          <a:p>
            <a:pPr marL="813816" lvl="1" indent="-457200">
              <a:buFont typeface="+mj-lt"/>
              <a:buAutoNum type="arabicParenR"/>
            </a:pPr>
            <a:r>
              <a:rPr lang="en-US" sz="2200" dirty="0" smtClean="0"/>
              <a:t>During RA &amp; MAC continual </a:t>
            </a:r>
            <a:r>
              <a:rPr lang="en-US" sz="2400" dirty="0" smtClean="0"/>
              <a:t>observation of qualitative </a:t>
            </a:r>
            <a:r>
              <a:rPr lang="en-US" sz="2400" dirty="0" smtClean="0">
                <a:solidFill>
                  <a:srgbClr val="0070C0"/>
                </a:solidFill>
              </a:rPr>
              <a:t>clinical signs</a:t>
            </a:r>
            <a:r>
              <a:rPr lang="en-US" sz="2400" dirty="0" smtClean="0"/>
              <a:t> and/or monitoring for the presence of </a:t>
            </a:r>
            <a:r>
              <a:rPr lang="en-US" sz="2400" dirty="0" smtClean="0">
                <a:solidFill>
                  <a:srgbClr val="0070C0"/>
                </a:solidFill>
              </a:rPr>
              <a:t>exhaled carbon dioxide </a:t>
            </a:r>
            <a:r>
              <a:rPr lang="en-US" sz="2200" dirty="0" smtClean="0"/>
              <a:t>shall be performed.</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295400"/>
            <a:ext cx="7943088" cy="5181600"/>
          </a:xfrm>
        </p:spPr>
        <p:txBody>
          <a:bodyPr>
            <a:normAutofit/>
          </a:bodyPr>
          <a:lstStyle/>
          <a:p>
            <a:pPr marL="870966" lvl="1" indent="-514350">
              <a:buFont typeface="+mj-lt"/>
              <a:buAutoNum type="arabicParenR" startAt="3"/>
            </a:pPr>
            <a:r>
              <a:rPr lang="en-US" sz="2200" dirty="0" smtClean="0"/>
              <a:t>Continual </a:t>
            </a:r>
            <a:r>
              <a:rPr lang="en-US" sz="2200" dirty="0" smtClean="0">
                <a:solidFill>
                  <a:srgbClr val="0070C0"/>
                </a:solidFill>
              </a:rPr>
              <a:t>end-tidal carbon dioxide analysis</a:t>
            </a:r>
            <a:r>
              <a:rPr lang="en-US" sz="2200" dirty="0" smtClean="0"/>
              <a:t>, in use from the time of endotracheal tube/laryngeal mask placement, until extubation/removal or initiating transfer to a postoperative care location, shall be performed using a quantitative method such as </a:t>
            </a:r>
            <a:r>
              <a:rPr lang="en-US" sz="2200" dirty="0" smtClean="0">
                <a:solidFill>
                  <a:srgbClr val="0070C0"/>
                </a:solidFill>
              </a:rPr>
              <a:t>Capnography, Capnometry </a:t>
            </a:r>
            <a:r>
              <a:rPr lang="en-US" sz="2200" dirty="0" smtClean="0"/>
              <a:t>or </a:t>
            </a:r>
            <a:r>
              <a:rPr lang="en-US" sz="2200" dirty="0" smtClean="0">
                <a:solidFill>
                  <a:srgbClr val="0070C0"/>
                </a:solidFill>
              </a:rPr>
              <a:t>mass spectroscopy. </a:t>
            </a:r>
          </a:p>
          <a:p>
            <a:pPr marL="870966" lvl="1" indent="-514350">
              <a:buFont typeface="+mj-lt"/>
              <a:buAutoNum type="arabicParenR" startAt="3"/>
            </a:pPr>
            <a:r>
              <a:rPr lang="en-US" sz="2400" dirty="0" smtClean="0"/>
              <a:t>When ventilation is controlled by a mechanical ventilator, there shall be a continuous use a </a:t>
            </a:r>
            <a:r>
              <a:rPr lang="en-US" sz="2400" dirty="0" smtClean="0">
                <a:solidFill>
                  <a:srgbClr val="0070C0"/>
                </a:solidFill>
              </a:rPr>
              <a:t>device</a:t>
            </a:r>
            <a:r>
              <a:rPr lang="en-US" sz="2400" dirty="0" smtClean="0"/>
              <a:t> that is capable of giving an </a:t>
            </a:r>
            <a:r>
              <a:rPr lang="en-US" sz="2400" dirty="0" smtClean="0">
                <a:solidFill>
                  <a:srgbClr val="0070C0"/>
                </a:solidFill>
              </a:rPr>
              <a:t>alarm when</a:t>
            </a:r>
            <a:r>
              <a:rPr lang="en-US" sz="2400" dirty="0" smtClean="0"/>
              <a:t> its alarm threshold is exceeded. </a:t>
            </a:r>
            <a:endParaRPr lang="en-US" sz="2200" dirty="0" smtClean="0">
              <a:solidFill>
                <a:srgbClr val="0070C0"/>
              </a:solidFill>
            </a:endParaRPr>
          </a:p>
          <a:p>
            <a:pPr marL="870966" lvl="1" indent="-514350">
              <a:buFont typeface="+mj-lt"/>
              <a:buAutoNum type="arabicParenR" startAt="3"/>
            </a:pPr>
            <a:endParaRPr lang="en-US" sz="22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2526792" cy="427038"/>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3. Circulation</a:t>
            </a:r>
            <a:endParaRPr lang="en-US" sz="2800" dirty="0">
              <a:solidFill>
                <a:srgbClr val="0070C0"/>
              </a:solidFill>
              <a:effectLst/>
            </a:endParaRPr>
          </a:p>
        </p:txBody>
      </p:sp>
      <p:sp>
        <p:nvSpPr>
          <p:cNvPr id="3" name="Content Placeholder 2"/>
          <p:cNvSpPr>
            <a:spLocks noGrp="1"/>
          </p:cNvSpPr>
          <p:nvPr>
            <p:ph idx="1"/>
          </p:nvPr>
        </p:nvSpPr>
        <p:spPr>
          <a:xfrm>
            <a:off x="990600" y="1752600"/>
            <a:ext cx="7943088" cy="4800600"/>
          </a:xfrm>
        </p:spPr>
        <p:txBody>
          <a:bodyPr>
            <a:noAutofit/>
          </a:bodyPr>
          <a:lstStyle/>
          <a:p>
            <a:pPr>
              <a:buNone/>
            </a:pPr>
            <a:r>
              <a:rPr lang="en-US" sz="2400" dirty="0" smtClean="0">
                <a:solidFill>
                  <a:srgbClr val="0070C0"/>
                </a:solidFill>
              </a:rPr>
              <a:t>OBJECTIVE </a:t>
            </a:r>
          </a:p>
          <a:p>
            <a:pPr lvl="1"/>
            <a:r>
              <a:rPr lang="en-US" sz="2200" dirty="0" smtClean="0"/>
              <a:t>To ensure the adequacy of the patient’s </a:t>
            </a:r>
            <a:r>
              <a:rPr lang="en-US" sz="2200" dirty="0" smtClean="0">
                <a:solidFill>
                  <a:srgbClr val="0070C0"/>
                </a:solidFill>
              </a:rPr>
              <a:t>circulatory function </a:t>
            </a:r>
            <a:r>
              <a:rPr lang="en-US" sz="2200" dirty="0" smtClean="0"/>
              <a:t>during all anesthetics. </a:t>
            </a:r>
          </a:p>
          <a:p>
            <a:pPr>
              <a:buNone/>
            </a:pPr>
            <a:r>
              <a:rPr lang="en-US" sz="2400" dirty="0" smtClean="0">
                <a:solidFill>
                  <a:srgbClr val="0070C0"/>
                </a:solidFill>
              </a:rPr>
              <a:t>METHODS </a:t>
            </a:r>
          </a:p>
          <a:p>
            <a:pPr marL="813816" lvl="1" indent="-457200">
              <a:buFont typeface="+mj-lt"/>
              <a:buAutoNum type="arabicPeriod"/>
            </a:pPr>
            <a:r>
              <a:rPr lang="en-US" sz="2200" dirty="0" smtClean="0"/>
              <a:t>Every patient receiving anesthesia shall have the </a:t>
            </a:r>
            <a:r>
              <a:rPr lang="en-US" sz="2200" dirty="0" smtClean="0">
                <a:solidFill>
                  <a:srgbClr val="0070C0"/>
                </a:solidFill>
              </a:rPr>
              <a:t>ECG</a:t>
            </a:r>
            <a:r>
              <a:rPr lang="en-US" sz="2200" dirty="0" smtClean="0"/>
              <a:t>  continuously displayed . </a:t>
            </a:r>
          </a:p>
          <a:p>
            <a:pPr marL="813816" lvl="1" indent="-457200">
              <a:buFont typeface="+mj-lt"/>
              <a:buAutoNum type="arabicPeriod"/>
            </a:pPr>
            <a:r>
              <a:rPr lang="en-US" sz="2200" dirty="0" smtClean="0"/>
              <a:t>Every patient receiving anesthesia shall have arterial </a:t>
            </a:r>
            <a:r>
              <a:rPr lang="en-US" sz="2200" dirty="0" smtClean="0">
                <a:solidFill>
                  <a:srgbClr val="0070C0"/>
                </a:solidFill>
              </a:rPr>
              <a:t>BP &amp; HR  </a:t>
            </a:r>
            <a:r>
              <a:rPr lang="en-US" sz="2200" dirty="0" smtClean="0"/>
              <a:t>determined and evaluated at least every five minutes. </a:t>
            </a:r>
          </a:p>
          <a:p>
            <a:pPr marL="813816" lvl="1" indent="-457200">
              <a:buFont typeface="+mj-lt"/>
              <a:buAutoNum type="arabicPeriod"/>
            </a:pPr>
            <a:r>
              <a:rPr lang="en-US" sz="2200" dirty="0" smtClean="0">
                <a:solidFill>
                  <a:srgbClr val="0070C0"/>
                </a:solidFill>
              </a:rPr>
              <a:t>In addition </a:t>
            </a:r>
            <a:r>
              <a:rPr lang="en-US" sz="2200" dirty="0" smtClean="0"/>
              <a:t>to the above, circulatory function continually evaluated by at least one of : </a:t>
            </a:r>
            <a:r>
              <a:rPr lang="en-US" sz="2200" dirty="0" smtClean="0">
                <a:solidFill>
                  <a:srgbClr val="0070C0"/>
                </a:solidFill>
              </a:rPr>
              <a:t>palpation of a pulse, auscultation of heart sounds</a:t>
            </a:r>
            <a:r>
              <a:rPr lang="en-US" sz="2200" dirty="0" smtClean="0"/>
              <a:t>,  or </a:t>
            </a:r>
            <a:r>
              <a:rPr lang="en-US" sz="2200" dirty="0" smtClean="0">
                <a:solidFill>
                  <a:srgbClr val="0070C0"/>
                </a:solidFill>
              </a:rPr>
              <a:t>pulse plethysmography </a:t>
            </a:r>
            <a:r>
              <a:rPr lang="en-US" sz="2200" dirty="0" smtClean="0"/>
              <a:t>or </a:t>
            </a:r>
            <a:r>
              <a:rPr lang="en-US" sz="2200" dirty="0" smtClean="0">
                <a:solidFill>
                  <a:srgbClr val="0070C0"/>
                </a:solidFill>
              </a:rPr>
              <a:t>oximetry.</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066800"/>
            <a:ext cx="3505200" cy="457200"/>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4.  Body Temperature </a:t>
            </a:r>
            <a:endParaRPr lang="en-US" sz="2800" dirty="0">
              <a:solidFill>
                <a:srgbClr val="0070C0"/>
              </a:solidFill>
              <a:effectLst/>
            </a:endParaRPr>
          </a:p>
        </p:txBody>
      </p:sp>
      <p:sp>
        <p:nvSpPr>
          <p:cNvPr id="3" name="Content Placeholder 2"/>
          <p:cNvSpPr>
            <a:spLocks noGrp="1"/>
          </p:cNvSpPr>
          <p:nvPr>
            <p:ph idx="1"/>
          </p:nvPr>
        </p:nvSpPr>
        <p:spPr>
          <a:xfrm>
            <a:off x="990600" y="1828800"/>
            <a:ext cx="7943088" cy="4876800"/>
          </a:xfrm>
        </p:spPr>
        <p:txBody>
          <a:bodyPr>
            <a:normAutofit/>
          </a:bodyPr>
          <a:lstStyle/>
          <a:p>
            <a:pPr>
              <a:buNone/>
            </a:pPr>
            <a:r>
              <a:rPr lang="en-US" sz="2400" dirty="0" smtClean="0">
                <a:solidFill>
                  <a:srgbClr val="0070C0"/>
                </a:solidFill>
              </a:rPr>
              <a:t>OBJECTIVE</a:t>
            </a:r>
            <a:r>
              <a:rPr lang="en-US" sz="2400" dirty="0" smtClean="0"/>
              <a:t> </a:t>
            </a:r>
          </a:p>
          <a:p>
            <a:pPr lvl="1">
              <a:buFont typeface="Gill Sans MT" pitchFamily="34" charset="0"/>
              <a:buChar char="–"/>
            </a:pPr>
            <a:r>
              <a:rPr lang="en-US" sz="2400" dirty="0" smtClean="0"/>
              <a:t>To aid in the maintenance of appropriate body temperature during all anesthetics. </a:t>
            </a:r>
          </a:p>
          <a:p>
            <a:pPr>
              <a:buNone/>
            </a:pPr>
            <a:r>
              <a:rPr lang="en-US" sz="2400" dirty="0" smtClean="0">
                <a:solidFill>
                  <a:srgbClr val="0070C0"/>
                </a:solidFill>
              </a:rPr>
              <a:t>METHODS</a:t>
            </a:r>
            <a:r>
              <a:rPr lang="en-US" sz="2400" dirty="0" smtClean="0"/>
              <a:t> </a:t>
            </a:r>
          </a:p>
          <a:p>
            <a:pPr lvl="1">
              <a:buFont typeface="Gill Sans MT" pitchFamily="34" charset="0"/>
              <a:buChar char="–"/>
            </a:pPr>
            <a:r>
              <a:rPr lang="en-US" sz="2400" dirty="0" smtClean="0"/>
              <a:t>Every patient receiving anesthesia shall have temperature monitored when clinically significant changes in body temperature are </a:t>
            </a:r>
            <a:r>
              <a:rPr lang="en-US" sz="2400" dirty="0" smtClean="0">
                <a:solidFill>
                  <a:srgbClr val="0070C0"/>
                </a:solidFill>
              </a:rPr>
              <a:t>intended</a:t>
            </a:r>
            <a:r>
              <a:rPr lang="en-US" sz="2400" dirty="0" smtClean="0"/>
              <a:t>, </a:t>
            </a:r>
            <a:r>
              <a:rPr lang="en-US" sz="2400" dirty="0" smtClean="0">
                <a:solidFill>
                  <a:srgbClr val="0070C0"/>
                </a:solidFill>
              </a:rPr>
              <a:t>anticipated</a:t>
            </a:r>
            <a:r>
              <a:rPr lang="en-US" sz="2400" dirty="0" smtClean="0"/>
              <a:t> or </a:t>
            </a:r>
            <a:r>
              <a:rPr lang="en-US" sz="2400" dirty="0" smtClean="0">
                <a:solidFill>
                  <a:srgbClr val="0070C0"/>
                </a:solidFill>
              </a:rPr>
              <a:t>suspected.</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685800"/>
            <a:ext cx="3364992" cy="533400"/>
          </a:xfrm>
        </p:spPr>
        <p:style>
          <a:lnRef idx="2">
            <a:schemeClr val="accent1"/>
          </a:lnRef>
          <a:fillRef idx="1">
            <a:schemeClr val="lt1"/>
          </a:fillRef>
          <a:effectRef idx="0">
            <a:schemeClr val="accent1"/>
          </a:effectRef>
          <a:fontRef idx="minor">
            <a:schemeClr val="dk1"/>
          </a:fontRef>
        </p:style>
        <p:txBody>
          <a:bodyPr>
            <a:noAutofit/>
          </a:bodyPr>
          <a:lstStyle/>
          <a:p>
            <a:r>
              <a:rPr lang="en-US" sz="2400" dirty="0" smtClean="0">
                <a:solidFill>
                  <a:srgbClr val="0070C0"/>
                </a:solidFill>
              </a:rPr>
              <a:t>STANDARD II </a:t>
            </a:r>
            <a:r>
              <a:rPr lang="en-US" sz="1800" dirty="0" smtClean="0">
                <a:solidFill>
                  <a:srgbClr val="0070C0"/>
                </a:solidFill>
              </a:rPr>
              <a:t>- summary</a:t>
            </a:r>
            <a:endParaRPr lang="en-US" sz="2400" dirty="0">
              <a:solidFill>
                <a:srgbClr val="0070C0"/>
              </a:solidFill>
            </a:endParaRPr>
          </a:p>
        </p:txBody>
      </p:sp>
      <p:sp>
        <p:nvSpPr>
          <p:cNvPr id="3" name="Content Placeholder 2"/>
          <p:cNvSpPr>
            <a:spLocks noGrp="1"/>
          </p:cNvSpPr>
          <p:nvPr>
            <p:ph idx="1"/>
          </p:nvPr>
        </p:nvSpPr>
        <p:spPr>
          <a:xfrm>
            <a:off x="1143000" y="1447800"/>
            <a:ext cx="7790688" cy="5257800"/>
          </a:xfrm>
        </p:spPr>
        <p:txBody>
          <a:bodyPr>
            <a:normAutofit fontScale="70000" lnSpcReduction="20000"/>
          </a:bodyPr>
          <a:lstStyle/>
          <a:p>
            <a:pPr>
              <a:buNone/>
            </a:pPr>
            <a:r>
              <a:rPr lang="en-US" dirty="0" smtClean="0">
                <a:solidFill>
                  <a:srgbClr val="0070C0"/>
                </a:solidFill>
              </a:rPr>
              <a:t>Oxygenation</a:t>
            </a:r>
            <a:r>
              <a:rPr lang="en-US" dirty="0" smtClean="0"/>
              <a:t> </a:t>
            </a:r>
          </a:p>
          <a:p>
            <a:pPr lvl="1"/>
            <a:r>
              <a:rPr lang="en-US" dirty="0" smtClean="0"/>
              <a:t>Oxygen analyzer for inspired gases </a:t>
            </a:r>
          </a:p>
          <a:p>
            <a:pPr lvl="1"/>
            <a:r>
              <a:rPr lang="en-US" dirty="0" smtClean="0"/>
              <a:t>Observation of the patient </a:t>
            </a:r>
          </a:p>
          <a:p>
            <a:pPr lvl="1"/>
            <a:r>
              <a:rPr lang="en-US" dirty="0" smtClean="0"/>
              <a:t>Pulseoxymetry </a:t>
            </a:r>
          </a:p>
          <a:p>
            <a:pPr>
              <a:buNone/>
            </a:pPr>
            <a:r>
              <a:rPr lang="en-US" dirty="0" smtClean="0">
                <a:solidFill>
                  <a:srgbClr val="0070C0"/>
                </a:solidFill>
              </a:rPr>
              <a:t>Ventilation </a:t>
            </a:r>
          </a:p>
          <a:p>
            <a:pPr lvl="1"/>
            <a:r>
              <a:rPr lang="en-US" dirty="0" smtClean="0"/>
              <a:t>Auscultation </a:t>
            </a:r>
          </a:p>
          <a:p>
            <a:pPr lvl="1"/>
            <a:r>
              <a:rPr lang="en-US" dirty="0" smtClean="0"/>
              <a:t>Observation of the patient </a:t>
            </a:r>
          </a:p>
          <a:p>
            <a:pPr lvl="1"/>
            <a:r>
              <a:rPr lang="en-US" dirty="0" smtClean="0"/>
              <a:t>Observation of reservoir  </a:t>
            </a:r>
          </a:p>
          <a:p>
            <a:pPr lvl="1"/>
            <a:r>
              <a:rPr lang="en-US" dirty="0" smtClean="0"/>
              <a:t>End-tidal carbon dioxide analysis </a:t>
            </a:r>
          </a:p>
          <a:p>
            <a:pPr>
              <a:buNone/>
            </a:pPr>
            <a:r>
              <a:rPr lang="en-US" dirty="0" smtClean="0">
                <a:solidFill>
                  <a:srgbClr val="0070C0"/>
                </a:solidFill>
              </a:rPr>
              <a:t>Circulation </a:t>
            </a:r>
          </a:p>
          <a:p>
            <a:pPr lvl="1"/>
            <a:r>
              <a:rPr lang="en-US" dirty="0" smtClean="0"/>
              <a:t>Continuous ECG display </a:t>
            </a:r>
          </a:p>
          <a:p>
            <a:pPr lvl="1"/>
            <a:r>
              <a:rPr lang="en-US" dirty="0" smtClean="0"/>
              <a:t>Heart rate and BP recorded every 5 min </a:t>
            </a:r>
          </a:p>
          <a:p>
            <a:pPr lvl="1"/>
            <a:r>
              <a:rPr lang="en-US" dirty="0" smtClean="0"/>
              <a:t>Auscultation of heart sound, palpation of pulse, pulse plethysmography, pulseoxymetry, intra-arterial pressure tracing  </a:t>
            </a:r>
          </a:p>
          <a:p>
            <a:pPr>
              <a:buNone/>
            </a:pPr>
            <a:r>
              <a:rPr lang="en-US" dirty="0" smtClean="0">
                <a:solidFill>
                  <a:srgbClr val="0070C0"/>
                </a:solidFill>
              </a:rPr>
              <a:t>Temperature </a:t>
            </a:r>
          </a:p>
          <a:p>
            <a:pPr lvl="1"/>
            <a:r>
              <a:rPr lang="en-US" dirty="0" smtClean="0"/>
              <a:t>Core and/or skin temperature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nodeType="clickEffect">
                                  <p:stCondLst>
                                    <p:cond delay="0"/>
                                  </p:stCondLst>
                                  <p:childTnLst>
                                    <p:animEffect transition="out" filter="blinds(horizontal)">
                                      <p:cBhvr>
                                        <p:cTn id="20" dur="500"/>
                                        <p:tgtEl>
                                          <p:spTgt spid="3">
                                            <p:txEl>
                                              <p:pRg st="0" end="0"/>
                                            </p:txEl>
                                          </p:spTgt>
                                        </p:tgtEl>
                                      </p:cBhvr>
                                    </p:animEffect>
                                    <p:set>
                                      <p:cBhvr>
                                        <p:cTn id="21" dur="1" fill="hold">
                                          <p:stCondLst>
                                            <p:cond delay="499"/>
                                          </p:stCondLst>
                                        </p:cTn>
                                        <p:tgtEl>
                                          <p:spTgt spid="3">
                                            <p:txEl>
                                              <p:pRg st="0" end="0"/>
                                            </p:txEl>
                                          </p:spTgt>
                                        </p:tgtEl>
                                        <p:attrNameLst>
                                          <p:attrName>style.visibility</p:attrName>
                                        </p:attrNameLst>
                                      </p:cBhvr>
                                      <p:to>
                                        <p:strVal val="hidden"/>
                                      </p:to>
                                    </p:set>
                                  </p:childTnLst>
                                </p:cTn>
                              </p:par>
                              <p:par>
                                <p:cTn id="22" presetID="3" presetClass="exit" presetSubtype="10" fill="hold" nodeType="withEffect">
                                  <p:stCondLst>
                                    <p:cond delay="0"/>
                                  </p:stCondLst>
                                  <p:childTnLst>
                                    <p:animEffect transition="out" filter="blinds(horizontal)">
                                      <p:cBhvr>
                                        <p:cTn id="23" dur="500"/>
                                        <p:tgtEl>
                                          <p:spTgt spid="3">
                                            <p:txEl>
                                              <p:pRg st="1" end="1"/>
                                            </p:txEl>
                                          </p:spTgt>
                                        </p:tgtEl>
                                      </p:cBhvr>
                                    </p:animEffect>
                                    <p:set>
                                      <p:cBhvr>
                                        <p:cTn id="24" dur="1" fill="hold">
                                          <p:stCondLst>
                                            <p:cond delay="499"/>
                                          </p:stCondLst>
                                        </p:cTn>
                                        <p:tgtEl>
                                          <p:spTgt spid="3">
                                            <p:txEl>
                                              <p:pRg st="1" end="1"/>
                                            </p:txEl>
                                          </p:spTgt>
                                        </p:tgtEl>
                                        <p:attrNameLst>
                                          <p:attrName>style.visibility</p:attrName>
                                        </p:attrNameLst>
                                      </p:cBhvr>
                                      <p:to>
                                        <p:strVal val="hidden"/>
                                      </p:to>
                                    </p:set>
                                  </p:childTnLst>
                                </p:cTn>
                              </p:par>
                              <p:par>
                                <p:cTn id="25" presetID="3" presetClass="exit" presetSubtype="10" fill="hold" nodeType="withEffect">
                                  <p:stCondLst>
                                    <p:cond delay="0"/>
                                  </p:stCondLst>
                                  <p:childTnLst>
                                    <p:animEffect transition="out" filter="blinds(horizontal)">
                                      <p:cBhvr>
                                        <p:cTn id="26" dur="500"/>
                                        <p:tgtEl>
                                          <p:spTgt spid="3">
                                            <p:txEl>
                                              <p:pRg st="2" end="2"/>
                                            </p:txEl>
                                          </p:spTgt>
                                        </p:tgtEl>
                                      </p:cBhvr>
                                    </p:animEffect>
                                    <p:set>
                                      <p:cBhvr>
                                        <p:cTn id="27" dur="1" fill="hold">
                                          <p:stCondLst>
                                            <p:cond delay="499"/>
                                          </p:stCondLst>
                                        </p:cTn>
                                        <p:tgtEl>
                                          <p:spTgt spid="3">
                                            <p:txEl>
                                              <p:pRg st="2" end="2"/>
                                            </p:txEl>
                                          </p:spTgt>
                                        </p:tgtEl>
                                        <p:attrNameLst>
                                          <p:attrName>style.visibility</p:attrName>
                                        </p:attrNameLst>
                                      </p:cBhvr>
                                      <p:to>
                                        <p:strVal val="hidden"/>
                                      </p:to>
                                    </p:set>
                                  </p:childTnLst>
                                </p:cTn>
                              </p:par>
                              <p:par>
                                <p:cTn id="28" presetID="3" presetClass="exit" presetSubtype="10" fill="hold" nodeType="withEffect">
                                  <p:stCondLst>
                                    <p:cond delay="0"/>
                                  </p:stCondLst>
                                  <p:childTnLst>
                                    <p:animEffect transition="out" filter="blinds(horizontal)">
                                      <p:cBhvr>
                                        <p:cTn id="29" dur="500"/>
                                        <p:tgtEl>
                                          <p:spTgt spid="3">
                                            <p:txEl>
                                              <p:pRg st="3" end="3"/>
                                            </p:txEl>
                                          </p:spTgt>
                                        </p:tgtEl>
                                      </p:cBhvr>
                                    </p:animEffect>
                                    <p:set>
                                      <p:cBhvr>
                                        <p:cTn id="30" dur="1" fill="hold">
                                          <p:stCondLst>
                                            <p:cond delay="499"/>
                                          </p:stCondLst>
                                        </p:cTn>
                                        <p:tgtEl>
                                          <p:spTgt spid="3">
                                            <p:txEl>
                                              <p:pRg st="3" end="3"/>
                                            </p:txEl>
                                          </p:spTgt>
                                        </p:tgtEl>
                                        <p:attrNameLst>
                                          <p:attrName>style.visibility</p:attrName>
                                        </p:attrNameLst>
                                      </p:cBhvr>
                                      <p:to>
                                        <p:strVal val="hidden"/>
                                      </p:to>
                                    </p:set>
                                  </p:childTnLst>
                                </p:cTn>
                              </p:par>
                              <p:par>
                                <p:cTn id="31" presetID="3" presetClass="entr" presetSubtype="1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blinds(horizontal)">
                                      <p:cBhvr>
                                        <p:cTn id="39" dur="500"/>
                                        <p:tgtEl>
                                          <p:spTgt spid="3">
                                            <p:txEl>
                                              <p:pRg st="6" end="6"/>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blinds(horizontal)">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nodeType="clickEffect">
                                  <p:stCondLst>
                                    <p:cond delay="0"/>
                                  </p:stCondLst>
                                  <p:childTnLst>
                                    <p:animEffect transition="out" filter="blinds(horizontal)">
                                      <p:cBhvr>
                                        <p:cTn id="49" dur="500"/>
                                        <p:tgtEl>
                                          <p:spTgt spid="3">
                                            <p:txEl>
                                              <p:pRg st="4" end="4"/>
                                            </p:txEl>
                                          </p:spTgt>
                                        </p:tgtEl>
                                      </p:cBhvr>
                                    </p:animEffect>
                                    <p:set>
                                      <p:cBhvr>
                                        <p:cTn id="50" dur="1" fill="hold">
                                          <p:stCondLst>
                                            <p:cond delay="499"/>
                                          </p:stCondLst>
                                        </p:cTn>
                                        <p:tgtEl>
                                          <p:spTgt spid="3">
                                            <p:txEl>
                                              <p:pRg st="4" end="4"/>
                                            </p:txEl>
                                          </p:spTgt>
                                        </p:tgtEl>
                                        <p:attrNameLst>
                                          <p:attrName>style.visibility</p:attrName>
                                        </p:attrNameLst>
                                      </p:cBhvr>
                                      <p:to>
                                        <p:strVal val="hidden"/>
                                      </p:to>
                                    </p:set>
                                  </p:childTnLst>
                                </p:cTn>
                              </p:par>
                              <p:par>
                                <p:cTn id="51" presetID="3" presetClass="exit" presetSubtype="10" fill="hold" nodeType="withEffect">
                                  <p:stCondLst>
                                    <p:cond delay="0"/>
                                  </p:stCondLst>
                                  <p:childTnLst>
                                    <p:animEffect transition="out" filter="blinds(horizontal)">
                                      <p:cBhvr>
                                        <p:cTn id="52" dur="500"/>
                                        <p:tgtEl>
                                          <p:spTgt spid="3">
                                            <p:txEl>
                                              <p:pRg st="5" end="5"/>
                                            </p:txEl>
                                          </p:spTgt>
                                        </p:tgtEl>
                                      </p:cBhvr>
                                    </p:animEffect>
                                    <p:set>
                                      <p:cBhvr>
                                        <p:cTn id="53" dur="1" fill="hold">
                                          <p:stCondLst>
                                            <p:cond delay="499"/>
                                          </p:stCondLst>
                                        </p:cTn>
                                        <p:tgtEl>
                                          <p:spTgt spid="3">
                                            <p:txEl>
                                              <p:pRg st="5" end="5"/>
                                            </p:txEl>
                                          </p:spTgt>
                                        </p:tgtEl>
                                        <p:attrNameLst>
                                          <p:attrName>style.visibility</p:attrName>
                                        </p:attrNameLst>
                                      </p:cBhvr>
                                      <p:to>
                                        <p:strVal val="hidden"/>
                                      </p:to>
                                    </p:set>
                                  </p:childTnLst>
                                </p:cTn>
                              </p:par>
                              <p:par>
                                <p:cTn id="54" presetID="3" presetClass="exit" presetSubtype="10" fill="hold" nodeType="withEffect">
                                  <p:stCondLst>
                                    <p:cond delay="0"/>
                                  </p:stCondLst>
                                  <p:childTnLst>
                                    <p:animEffect transition="out" filter="blinds(horizontal)">
                                      <p:cBhvr>
                                        <p:cTn id="55" dur="500"/>
                                        <p:tgtEl>
                                          <p:spTgt spid="3">
                                            <p:txEl>
                                              <p:pRg st="6" end="6"/>
                                            </p:txEl>
                                          </p:spTgt>
                                        </p:tgtEl>
                                      </p:cBhvr>
                                    </p:animEffect>
                                    <p:set>
                                      <p:cBhvr>
                                        <p:cTn id="56" dur="1" fill="hold">
                                          <p:stCondLst>
                                            <p:cond delay="499"/>
                                          </p:stCondLst>
                                        </p:cTn>
                                        <p:tgtEl>
                                          <p:spTgt spid="3">
                                            <p:txEl>
                                              <p:pRg st="6" end="6"/>
                                            </p:txEl>
                                          </p:spTgt>
                                        </p:tgtEl>
                                        <p:attrNameLst>
                                          <p:attrName>style.visibility</p:attrName>
                                        </p:attrNameLst>
                                      </p:cBhvr>
                                      <p:to>
                                        <p:strVal val="hidden"/>
                                      </p:to>
                                    </p:set>
                                  </p:childTnLst>
                                </p:cTn>
                              </p:par>
                              <p:par>
                                <p:cTn id="57" presetID="3" presetClass="exit" presetSubtype="10" fill="hold" nodeType="withEffect">
                                  <p:stCondLst>
                                    <p:cond delay="0"/>
                                  </p:stCondLst>
                                  <p:childTnLst>
                                    <p:animEffect transition="out" filter="blinds(horizontal)">
                                      <p:cBhvr>
                                        <p:cTn id="58" dur="500"/>
                                        <p:tgtEl>
                                          <p:spTgt spid="3">
                                            <p:txEl>
                                              <p:pRg st="7" end="7"/>
                                            </p:txEl>
                                          </p:spTgt>
                                        </p:tgtEl>
                                      </p:cBhvr>
                                    </p:animEffect>
                                    <p:set>
                                      <p:cBhvr>
                                        <p:cTn id="59" dur="1" fill="hold">
                                          <p:stCondLst>
                                            <p:cond delay="499"/>
                                          </p:stCondLst>
                                        </p:cTn>
                                        <p:tgtEl>
                                          <p:spTgt spid="3">
                                            <p:txEl>
                                              <p:pRg st="7" end="7"/>
                                            </p:txEl>
                                          </p:spTgt>
                                        </p:tgtEl>
                                        <p:attrNameLst>
                                          <p:attrName>style.visibility</p:attrName>
                                        </p:attrNameLst>
                                      </p:cBhvr>
                                      <p:to>
                                        <p:strVal val="hidden"/>
                                      </p:to>
                                    </p:set>
                                  </p:childTnLst>
                                </p:cTn>
                              </p:par>
                              <p:par>
                                <p:cTn id="60" presetID="3" presetClass="exit" presetSubtype="10" fill="hold" nodeType="withEffect">
                                  <p:stCondLst>
                                    <p:cond delay="0"/>
                                  </p:stCondLst>
                                  <p:childTnLst>
                                    <p:animEffect transition="out" filter="blinds(horizontal)">
                                      <p:cBhvr>
                                        <p:cTn id="61" dur="500"/>
                                        <p:tgtEl>
                                          <p:spTgt spid="3">
                                            <p:txEl>
                                              <p:pRg st="8" end="8"/>
                                            </p:txEl>
                                          </p:spTgt>
                                        </p:tgtEl>
                                      </p:cBhvr>
                                    </p:animEffect>
                                    <p:set>
                                      <p:cBhvr>
                                        <p:cTn id="62" dur="1" fill="hold">
                                          <p:stCondLst>
                                            <p:cond delay="499"/>
                                          </p:stCondLst>
                                        </p:cTn>
                                        <p:tgtEl>
                                          <p:spTgt spid="3">
                                            <p:txEl>
                                              <p:pRg st="8" end="8"/>
                                            </p:txEl>
                                          </p:spTgt>
                                        </p:tgtEl>
                                        <p:attrNameLst>
                                          <p:attrName>style.visibility</p:attrName>
                                        </p:attrNameLst>
                                      </p:cBhvr>
                                      <p:to>
                                        <p:strVal val="hidden"/>
                                      </p:to>
                                    </p:set>
                                  </p:childTnLst>
                                </p:cTn>
                              </p:par>
                              <p:par>
                                <p:cTn id="63" presetID="3" presetClass="entr" presetSubtype="10" fill="hold" nodeType="with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Effect transition="in" filter="blinds(horizontal)">
                                      <p:cBhvr>
                                        <p:cTn id="65" dur="500"/>
                                        <p:tgtEl>
                                          <p:spTgt spid="3">
                                            <p:txEl>
                                              <p:pRg st="9" end="9"/>
                                            </p:txEl>
                                          </p:spTgt>
                                        </p:tgtEl>
                                      </p:cBhvr>
                                    </p:animEffect>
                                  </p:childTnLst>
                                </p:cTn>
                              </p:par>
                              <p:par>
                                <p:cTn id="66" presetID="3" presetClass="entr" presetSubtype="10" fill="hold" nodeType="withEffect">
                                  <p:stCondLst>
                                    <p:cond delay="0"/>
                                  </p:stCondLst>
                                  <p:childTnLst>
                                    <p:set>
                                      <p:cBhvr>
                                        <p:cTn id="67" dur="1" fill="hold">
                                          <p:stCondLst>
                                            <p:cond delay="0"/>
                                          </p:stCondLst>
                                        </p:cTn>
                                        <p:tgtEl>
                                          <p:spTgt spid="3">
                                            <p:txEl>
                                              <p:pRg st="10" end="10"/>
                                            </p:txEl>
                                          </p:spTgt>
                                        </p:tgtEl>
                                        <p:attrNameLst>
                                          <p:attrName>style.visibility</p:attrName>
                                        </p:attrNameLst>
                                      </p:cBhvr>
                                      <p:to>
                                        <p:strVal val="visible"/>
                                      </p:to>
                                    </p:set>
                                    <p:animEffect transition="in" filter="blinds(horizontal)">
                                      <p:cBhvr>
                                        <p:cTn id="68" dur="500"/>
                                        <p:tgtEl>
                                          <p:spTgt spid="3">
                                            <p:txEl>
                                              <p:pRg st="10" end="10"/>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3">
                                            <p:txEl>
                                              <p:pRg st="11" end="11"/>
                                            </p:txEl>
                                          </p:spTgt>
                                        </p:tgtEl>
                                        <p:attrNameLst>
                                          <p:attrName>style.visibility</p:attrName>
                                        </p:attrNameLst>
                                      </p:cBhvr>
                                      <p:to>
                                        <p:strVal val="visible"/>
                                      </p:to>
                                    </p:set>
                                    <p:animEffect transition="in" filter="blinds(horizontal)">
                                      <p:cBhvr>
                                        <p:cTn id="71" dur="500"/>
                                        <p:tgtEl>
                                          <p:spTgt spid="3">
                                            <p:txEl>
                                              <p:pRg st="11" end="11"/>
                                            </p:txEl>
                                          </p:spTgt>
                                        </p:tgtEl>
                                      </p:cBhvr>
                                    </p:animEffect>
                                  </p:childTnLst>
                                </p:cTn>
                              </p:par>
                              <p:par>
                                <p:cTn id="72" presetID="3" presetClass="entr" presetSubtype="10" fill="hold" nodeType="withEffect">
                                  <p:stCondLst>
                                    <p:cond delay="0"/>
                                  </p:stCondLst>
                                  <p:childTnLst>
                                    <p:set>
                                      <p:cBhvr>
                                        <p:cTn id="73" dur="1" fill="hold">
                                          <p:stCondLst>
                                            <p:cond delay="0"/>
                                          </p:stCondLst>
                                        </p:cTn>
                                        <p:tgtEl>
                                          <p:spTgt spid="3">
                                            <p:txEl>
                                              <p:pRg st="12" end="12"/>
                                            </p:txEl>
                                          </p:spTgt>
                                        </p:tgtEl>
                                        <p:attrNameLst>
                                          <p:attrName>style.visibility</p:attrName>
                                        </p:attrNameLst>
                                      </p:cBhvr>
                                      <p:to>
                                        <p:strVal val="visible"/>
                                      </p:to>
                                    </p:set>
                                    <p:animEffect transition="in" filter="blinds(horizontal)">
                                      <p:cBhvr>
                                        <p:cTn id="74" dur="500"/>
                                        <p:tgtEl>
                                          <p:spTgt spid="3">
                                            <p:txEl>
                                              <p:pRg st="12" end="1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xit" presetSubtype="10" fill="hold" nodeType="clickEffect">
                                  <p:stCondLst>
                                    <p:cond delay="0"/>
                                  </p:stCondLst>
                                  <p:childTnLst>
                                    <p:animEffect transition="out" filter="blinds(horizontal)">
                                      <p:cBhvr>
                                        <p:cTn id="78" dur="500"/>
                                        <p:tgtEl>
                                          <p:spTgt spid="3">
                                            <p:txEl>
                                              <p:pRg st="9" end="9"/>
                                            </p:txEl>
                                          </p:spTgt>
                                        </p:tgtEl>
                                      </p:cBhvr>
                                    </p:animEffect>
                                    <p:set>
                                      <p:cBhvr>
                                        <p:cTn id="79" dur="1" fill="hold">
                                          <p:stCondLst>
                                            <p:cond delay="499"/>
                                          </p:stCondLst>
                                        </p:cTn>
                                        <p:tgtEl>
                                          <p:spTgt spid="3">
                                            <p:txEl>
                                              <p:pRg st="9" end="9"/>
                                            </p:txEl>
                                          </p:spTgt>
                                        </p:tgtEl>
                                        <p:attrNameLst>
                                          <p:attrName>style.visibility</p:attrName>
                                        </p:attrNameLst>
                                      </p:cBhvr>
                                      <p:to>
                                        <p:strVal val="hidden"/>
                                      </p:to>
                                    </p:set>
                                  </p:childTnLst>
                                </p:cTn>
                              </p:par>
                              <p:par>
                                <p:cTn id="80" presetID="3" presetClass="exit" presetSubtype="10" fill="hold" nodeType="withEffect">
                                  <p:stCondLst>
                                    <p:cond delay="0"/>
                                  </p:stCondLst>
                                  <p:childTnLst>
                                    <p:animEffect transition="out" filter="blinds(horizontal)">
                                      <p:cBhvr>
                                        <p:cTn id="81" dur="500"/>
                                        <p:tgtEl>
                                          <p:spTgt spid="3">
                                            <p:txEl>
                                              <p:pRg st="10" end="10"/>
                                            </p:txEl>
                                          </p:spTgt>
                                        </p:tgtEl>
                                      </p:cBhvr>
                                    </p:animEffect>
                                    <p:set>
                                      <p:cBhvr>
                                        <p:cTn id="82" dur="1" fill="hold">
                                          <p:stCondLst>
                                            <p:cond delay="499"/>
                                          </p:stCondLst>
                                        </p:cTn>
                                        <p:tgtEl>
                                          <p:spTgt spid="3">
                                            <p:txEl>
                                              <p:pRg st="10" end="10"/>
                                            </p:txEl>
                                          </p:spTgt>
                                        </p:tgtEl>
                                        <p:attrNameLst>
                                          <p:attrName>style.visibility</p:attrName>
                                        </p:attrNameLst>
                                      </p:cBhvr>
                                      <p:to>
                                        <p:strVal val="hidden"/>
                                      </p:to>
                                    </p:set>
                                  </p:childTnLst>
                                </p:cTn>
                              </p:par>
                              <p:par>
                                <p:cTn id="83" presetID="3" presetClass="exit" presetSubtype="10" fill="hold" nodeType="withEffect">
                                  <p:stCondLst>
                                    <p:cond delay="0"/>
                                  </p:stCondLst>
                                  <p:childTnLst>
                                    <p:animEffect transition="out" filter="blinds(horizontal)">
                                      <p:cBhvr>
                                        <p:cTn id="84" dur="500"/>
                                        <p:tgtEl>
                                          <p:spTgt spid="3">
                                            <p:txEl>
                                              <p:pRg st="11" end="11"/>
                                            </p:txEl>
                                          </p:spTgt>
                                        </p:tgtEl>
                                      </p:cBhvr>
                                    </p:animEffect>
                                    <p:set>
                                      <p:cBhvr>
                                        <p:cTn id="85" dur="1" fill="hold">
                                          <p:stCondLst>
                                            <p:cond delay="499"/>
                                          </p:stCondLst>
                                        </p:cTn>
                                        <p:tgtEl>
                                          <p:spTgt spid="3">
                                            <p:txEl>
                                              <p:pRg st="11" end="11"/>
                                            </p:txEl>
                                          </p:spTgt>
                                        </p:tgtEl>
                                        <p:attrNameLst>
                                          <p:attrName>style.visibility</p:attrName>
                                        </p:attrNameLst>
                                      </p:cBhvr>
                                      <p:to>
                                        <p:strVal val="hidden"/>
                                      </p:to>
                                    </p:set>
                                  </p:childTnLst>
                                </p:cTn>
                              </p:par>
                              <p:par>
                                <p:cTn id="86" presetID="3" presetClass="exit" presetSubtype="10" fill="hold" nodeType="withEffect">
                                  <p:stCondLst>
                                    <p:cond delay="0"/>
                                  </p:stCondLst>
                                  <p:childTnLst>
                                    <p:animEffect transition="out" filter="blinds(horizontal)">
                                      <p:cBhvr>
                                        <p:cTn id="87" dur="500"/>
                                        <p:tgtEl>
                                          <p:spTgt spid="3">
                                            <p:txEl>
                                              <p:pRg st="12" end="12"/>
                                            </p:txEl>
                                          </p:spTgt>
                                        </p:tgtEl>
                                      </p:cBhvr>
                                    </p:animEffect>
                                    <p:set>
                                      <p:cBhvr>
                                        <p:cTn id="88" dur="1" fill="hold">
                                          <p:stCondLst>
                                            <p:cond delay="499"/>
                                          </p:stCondLst>
                                        </p:cTn>
                                        <p:tgtEl>
                                          <p:spTgt spid="3">
                                            <p:txEl>
                                              <p:pRg st="12" end="12"/>
                                            </p:txEl>
                                          </p:spTgt>
                                        </p:tgtEl>
                                        <p:attrNameLst>
                                          <p:attrName>style.visibility</p:attrName>
                                        </p:attrNameLst>
                                      </p:cBhvr>
                                      <p:to>
                                        <p:strVal val="hidden"/>
                                      </p:to>
                                    </p:set>
                                  </p:childTnLst>
                                </p:cTn>
                              </p:par>
                              <p:par>
                                <p:cTn id="89" presetID="3" presetClass="entr" presetSubtype="10" fill="hold" nodeType="withEffect">
                                  <p:stCondLst>
                                    <p:cond delay="0"/>
                                  </p:stCondLst>
                                  <p:childTnLst>
                                    <p:set>
                                      <p:cBhvr>
                                        <p:cTn id="90" dur="1" fill="hold">
                                          <p:stCondLst>
                                            <p:cond delay="0"/>
                                          </p:stCondLst>
                                        </p:cTn>
                                        <p:tgtEl>
                                          <p:spTgt spid="3">
                                            <p:txEl>
                                              <p:pRg st="13" end="13"/>
                                            </p:txEl>
                                          </p:spTgt>
                                        </p:tgtEl>
                                        <p:attrNameLst>
                                          <p:attrName>style.visibility</p:attrName>
                                        </p:attrNameLst>
                                      </p:cBhvr>
                                      <p:to>
                                        <p:strVal val="visible"/>
                                      </p:to>
                                    </p:set>
                                    <p:animEffect transition="in" filter="blinds(horizontal)">
                                      <p:cBhvr>
                                        <p:cTn id="91" dur="500"/>
                                        <p:tgtEl>
                                          <p:spTgt spid="3">
                                            <p:txEl>
                                              <p:pRg st="13" end="13"/>
                                            </p:txEl>
                                          </p:spTgt>
                                        </p:tgtEl>
                                      </p:cBhvr>
                                    </p:animEffect>
                                  </p:childTnLst>
                                </p:cTn>
                              </p:par>
                              <p:par>
                                <p:cTn id="92" presetID="3" presetClass="entr" presetSubtype="10" fill="hold" nodeType="withEffect">
                                  <p:stCondLst>
                                    <p:cond delay="0"/>
                                  </p:stCondLst>
                                  <p:childTnLst>
                                    <p:set>
                                      <p:cBhvr>
                                        <p:cTn id="93" dur="1" fill="hold">
                                          <p:stCondLst>
                                            <p:cond delay="0"/>
                                          </p:stCondLst>
                                        </p:cTn>
                                        <p:tgtEl>
                                          <p:spTgt spid="3">
                                            <p:txEl>
                                              <p:pRg st="14" end="14"/>
                                            </p:txEl>
                                          </p:spTgt>
                                        </p:tgtEl>
                                        <p:attrNameLst>
                                          <p:attrName>style.visibility</p:attrName>
                                        </p:attrNameLst>
                                      </p:cBhvr>
                                      <p:to>
                                        <p:strVal val="visible"/>
                                      </p:to>
                                    </p:set>
                                    <p:animEffect transition="in" filter="blinds(horizontal)">
                                      <p:cBhvr>
                                        <p:cTn id="94"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62000"/>
            <a:ext cx="2069592" cy="457200"/>
          </a:xfrm>
        </p:spPr>
        <p:txBody>
          <a:bodyPr>
            <a:noAutofit/>
          </a:bodyPr>
          <a:lstStyle/>
          <a:p>
            <a:r>
              <a:rPr lang="en-US" sz="3200" dirty="0" smtClean="0">
                <a:solidFill>
                  <a:srgbClr val="0070C0"/>
                </a:solidFill>
              </a:rPr>
              <a:t>Contents</a:t>
            </a:r>
            <a:endParaRPr lang="en-US" sz="3200" dirty="0">
              <a:solidFill>
                <a:srgbClr val="0070C0"/>
              </a:solidFill>
            </a:endParaRPr>
          </a:p>
        </p:txBody>
      </p:sp>
      <p:sp>
        <p:nvSpPr>
          <p:cNvPr id="4" name="Text Box 2"/>
          <p:cNvSpPr txBox="1">
            <a:spLocks noChangeArrowheads="1"/>
          </p:cNvSpPr>
          <p:nvPr/>
        </p:nvSpPr>
        <p:spPr bwMode="auto">
          <a:xfrm>
            <a:off x="1611312" y="1423989"/>
            <a:ext cx="5399088" cy="4662815"/>
          </a:xfrm>
          <a:prstGeom prst="rect">
            <a:avLst/>
          </a:prstGeom>
          <a:noFill/>
          <a:ln w="9525">
            <a:noFill/>
            <a:miter lim="800000"/>
            <a:headEnd/>
            <a:tailEnd/>
          </a:ln>
          <a:effectLst/>
        </p:spPr>
        <p:txBody>
          <a:bodyPr wrap="square">
            <a:spAutoFit/>
          </a:bodyPr>
          <a:lstStyle/>
          <a:p>
            <a:pPr marL="360363" indent="-360363" algn="l">
              <a:lnSpc>
                <a:spcPct val="150000"/>
              </a:lnSpc>
              <a:buFontTx/>
              <a:buChar char="•"/>
            </a:pPr>
            <a:r>
              <a:rPr lang="en-GB" sz="2200" dirty="0" smtClean="0"/>
              <a:t>Clinical monitoring</a:t>
            </a:r>
          </a:p>
          <a:p>
            <a:pPr marL="360363" indent="-360363" algn="l">
              <a:lnSpc>
                <a:spcPct val="150000"/>
              </a:lnSpc>
              <a:buFontTx/>
              <a:buChar char="•"/>
            </a:pPr>
            <a:r>
              <a:rPr lang="en-GB" sz="2200" dirty="0" smtClean="0"/>
              <a:t>Pulseoxymetry </a:t>
            </a:r>
          </a:p>
          <a:p>
            <a:pPr marL="360363" indent="-360363">
              <a:lnSpc>
                <a:spcPct val="150000"/>
              </a:lnSpc>
              <a:buFontTx/>
              <a:buChar char="•"/>
            </a:pPr>
            <a:r>
              <a:rPr lang="en-US" sz="2200" dirty="0" smtClean="0"/>
              <a:t>Capnography </a:t>
            </a:r>
          </a:p>
          <a:p>
            <a:pPr marL="360363" indent="-360363">
              <a:lnSpc>
                <a:spcPct val="150000"/>
              </a:lnSpc>
              <a:buFontTx/>
              <a:buChar char="•"/>
            </a:pPr>
            <a:r>
              <a:rPr lang="en-US" sz="2200" dirty="0" smtClean="0"/>
              <a:t>Non invasive Blood pressure</a:t>
            </a:r>
          </a:p>
          <a:p>
            <a:pPr marL="360363" indent="-360363">
              <a:lnSpc>
                <a:spcPct val="150000"/>
              </a:lnSpc>
              <a:buFontTx/>
              <a:buChar char="•"/>
            </a:pPr>
            <a:r>
              <a:rPr lang="en-US" sz="2200" dirty="0" smtClean="0"/>
              <a:t>ECG</a:t>
            </a:r>
          </a:p>
          <a:p>
            <a:pPr marL="360363" indent="-360363">
              <a:lnSpc>
                <a:spcPct val="150000"/>
              </a:lnSpc>
              <a:buFontTx/>
              <a:buChar char="•"/>
            </a:pPr>
            <a:r>
              <a:rPr lang="en-GB" sz="2200" dirty="0" smtClean="0"/>
              <a:t>Peripheral nerve stimulators</a:t>
            </a:r>
          </a:p>
          <a:p>
            <a:pPr marL="360363" indent="-360363">
              <a:lnSpc>
                <a:spcPct val="150000"/>
              </a:lnSpc>
              <a:buFontTx/>
              <a:buChar char="•"/>
            </a:pPr>
            <a:r>
              <a:rPr lang="en-GB" sz="2200" dirty="0" smtClean="0"/>
              <a:t>Volatile / gas analyser &amp; anaesthesia depth</a:t>
            </a:r>
          </a:p>
          <a:p>
            <a:pPr marL="360363" indent="-360363" algn="l">
              <a:lnSpc>
                <a:spcPct val="150000"/>
              </a:lnSpc>
              <a:buFontTx/>
              <a:buChar char="•"/>
            </a:pPr>
            <a:r>
              <a:rPr lang="en-GB" sz="2200" dirty="0" smtClean="0"/>
              <a:t>Temperature monitoring</a:t>
            </a:r>
          </a:p>
          <a:p>
            <a:pPr marL="360363" indent="-360363" algn="l">
              <a:lnSpc>
                <a:spcPct val="150000"/>
              </a:lnSpc>
              <a:buFontTx/>
              <a:buChar char="•"/>
            </a:pPr>
            <a:r>
              <a:rPr lang="en-GB" sz="2200" dirty="0" smtClean="0"/>
              <a:t>Documentation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linds(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linds(horizontal)">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blinds(horizontal)">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blinds(horizontal)">
                                      <p:cBhvr>
                                        <p:cTn id="4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2" name="Text Box 4"/>
          <p:cNvSpPr txBox="1">
            <a:spLocks noChangeArrowheads="1"/>
          </p:cNvSpPr>
          <p:nvPr/>
        </p:nvSpPr>
        <p:spPr bwMode="auto">
          <a:xfrm>
            <a:off x="990600" y="1374775"/>
            <a:ext cx="6629400" cy="5355312"/>
          </a:xfrm>
          <a:prstGeom prst="rect">
            <a:avLst/>
          </a:prstGeom>
          <a:noFill/>
          <a:ln w="9525">
            <a:noFill/>
            <a:miter lim="800000"/>
            <a:headEnd/>
            <a:tailEnd/>
          </a:ln>
          <a:effectLst/>
        </p:spPr>
        <p:txBody>
          <a:bodyPr wrap="square">
            <a:spAutoFit/>
          </a:bodyPr>
          <a:lstStyle/>
          <a:p>
            <a:pPr marL="457200" indent="-457200" algn="l">
              <a:buFont typeface="+mj-lt"/>
              <a:buAutoNum type="alphaLcParenR"/>
            </a:pPr>
            <a:r>
              <a:rPr lang="en-GB" sz="2800" dirty="0">
                <a:solidFill>
                  <a:srgbClr val="0070C0"/>
                </a:solidFill>
              </a:rPr>
              <a:t> </a:t>
            </a:r>
            <a:r>
              <a:rPr lang="en-GB" sz="2400" dirty="0">
                <a:solidFill>
                  <a:srgbClr val="0070C0"/>
                </a:solidFill>
              </a:rPr>
              <a:t>What information does it give?</a:t>
            </a:r>
          </a:p>
          <a:p>
            <a:pPr marL="1371600" lvl="2" indent="-457200">
              <a:buFont typeface="+mj-lt"/>
              <a:buAutoNum type="alphaLcParenR"/>
            </a:pPr>
            <a:r>
              <a:rPr lang="en-GB" sz="2200" dirty="0" smtClean="0"/>
              <a:t>Physiology</a:t>
            </a:r>
            <a:endParaRPr lang="en-GB" sz="2200" dirty="0"/>
          </a:p>
          <a:p>
            <a:pPr marL="1371600" lvl="2" indent="-457200">
              <a:buFont typeface="+mj-lt"/>
              <a:buAutoNum type="alphaLcParenR"/>
            </a:pPr>
            <a:r>
              <a:rPr lang="en-GB" sz="2200" dirty="0" smtClean="0"/>
              <a:t>Continuous </a:t>
            </a:r>
            <a:r>
              <a:rPr lang="en-GB" sz="2200" dirty="0"/>
              <a:t>/ periodic</a:t>
            </a:r>
          </a:p>
          <a:p>
            <a:pPr marL="1371600" lvl="2" indent="-457200">
              <a:buFont typeface="+mj-lt"/>
              <a:buAutoNum type="alphaLcParenR"/>
            </a:pPr>
            <a:r>
              <a:rPr lang="en-GB" sz="2200" dirty="0" smtClean="0"/>
              <a:t>Interpretation</a:t>
            </a:r>
            <a:endParaRPr lang="en-GB" sz="2200" dirty="0"/>
          </a:p>
          <a:p>
            <a:pPr marL="1371600" lvl="2" indent="-457200">
              <a:buFont typeface="+mj-lt"/>
              <a:buAutoNum type="alphaLcParenR"/>
            </a:pPr>
            <a:r>
              <a:rPr lang="en-GB" sz="2200" dirty="0" smtClean="0"/>
              <a:t>Clinical relevance</a:t>
            </a:r>
          </a:p>
          <a:p>
            <a:pPr marL="914400" lvl="1" indent="-457200" algn="l"/>
            <a:endParaRPr lang="en-GB" sz="2200" dirty="0"/>
          </a:p>
          <a:p>
            <a:pPr marL="457200" indent="-457200" algn="l">
              <a:buFont typeface="+mj-lt"/>
              <a:buAutoNum type="alphaLcParenR"/>
            </a:pPr>
            <a:r>
              <a:rPr lang="en-GB" sz="2400" dirty="0">
                <a:solidFill>
                  <a:srgbClr val="0070C0"/>
                </a:solidFill>
              </a:rPr>
              <a:t> </a:t>
            </a:r>
            <a:r>
              <a:rPr lang="en-GB" sz="2400" dirty="0" smtClean="0">
                <a:solidFill>
                  <a:srgbClr val="0070C0"/>
                </a:solidFill>
              </a:rPr>
              <a:t>Components</a:t>
            </a:r>
            <a:endParaRPr lang="en-GB" sz="2400" dirty="0"/>
          </a:p>
          <a:p>
            <a:pPr marL="457200" indent="-457200" algn="l">
              <a:buFont typeface="+mj-lt"/>
              <a:buAutoNum type="alphaLcParenR"/>
            </a:pPr>
            <a:r>
              <a:rPr lang="en-GB" sz="2400" dirty="0">
                <a:solidFill>
                  <a:srgbClr val="0070C0"/>
                </a:solidFill>
              </a:rPr>
              <a:t> How does it work?</a:t>
            </a:r>
          </a:p>
          <a:p>
            <a:pPr marL="1371600" lvl="2" indent="-457200">
              <a:buFont typeface="+mj-lt"/>
              <a:buAutoNum type="alphaLcParenR"/>
            </a:pPr>
            <a:r>
              <a:rPr lang="en-GB" sz="2200" dirty="0" smtClean="0"/>
              <a:t>What </a:t>
            </a:r>
            <a:r>
              <a:rPr lang="en-GB" sz="2200" dirty="0"/>
              <a:t>exactly is being </a:t>
            </a:r>
            <a:r>
              <a:rPr lang="en-GB" sz="2200" dirty="0" smtClean="0"/>
              <a:t>measured and</a:t>
            </a:r>
            <a:endParaRPr lang="en-GB" sz="2200" dirty="0"/>
          </a:p>
          <a:p>
            <a:pPr marL="1371600" lvl="2" indent="-457200">
              <a:buFont typeface="+mj-lt"/>
              <a:buAutoNum type="alphaLcParenR"/>
            </a:pPr>
            <a:r>
              <a:rPr lang="en-GB" sz="2200" dirty="0" smtClean="0"/>
              <a:t>How?</a:t>
            </a:r>
          </a:p>
          <a:p>
            <a:pPr marL="914400" lvl="1" indent="-457200" algn="l"/>
            <a:endParaRPr lang="en-GB" sz="2200" dirty="0">
              <a:solidFill>
                <a:srgbClr val="0070C0"/>
              </a:solidFill>
            </a:endParaRPr>
          </a:p>
          <a:p>
            <a:pPr marL="457200" indent="-457200" algn="l">
              <a:buFont typeface="+mj-lt"/>
              <a:buAutoNum type="alphaLcParenR"/>
            </a:pPr>
            <a:r>
              <a:rPr lang="en-GB" sz="2400" dirty="0">
                <a:solidFill>
                  <a:srgbClr val="0070C0"/>
                </a:solidFill>
              </a:rPr>
              <a:t> What are the limitations / benefits?</a:t>
            </a:r>
          </a:p>
          <a:p>
            <a:pPr marL="1371600" lvl="2" indent="-457200">
              <a:buFont typeface="+mj-lt"/>
              <a:buAutoNum type="alphaLcParenR"/>
            </a:pPr>
            <a:r>
              <a:rPr lang="en-GB" sz="2200" dirty="0" smtClean="0"/>
              <a:t>Sources </a:t>
            </a:r>
            <a:r>
              <a:rPr lang="en-GB" sz="2200" dirty="0"/>
              <a:t>of error</a:t>
            </a:r>
          </a:p>
          <a:p>
            <a:pPr marL="1371600" lvl="2" indent="-457200">
              <a:buFont typeface="+mj-lt"/>
              <a:buAutoNum type="alphaLcParenR"/>
            </a:pPr>
            <a:r>
              <a:rPr lang="en-GB" sz="2200" dirty="0" smtClean="0"/>
              <a:t>Cost</a:t>
            </a:r>
            <a:endParaRPr lang="en-GB" sz="2200" dirty="0"/>
          </a:p>
          <a:p>
            <a:pPr marL="1371600" lvl="2" indent="-457200">
              <a:buFont typeface="+mj-lt"/>
              <a:buAutoNum type="alphaLcParenR"/>
            </a:pPr>
            <a:r>
              <a:rPr lang="en-GB" sz="2200" dirty="0" smtClean="0"/>
              <a:t>Risks</a:t>
            </a:r>
            <a:endParaRPr lang="en-GB" sz="2200" dirty="0"/>
          </a:p>
        </p:txBody>
      </p:sp>
      <p:sp>
        <p:nvSpPr>
          <p:cNvPr id="37893" name="Text Box 5"/>
          <p:cNvSpPr txBox="1">
            <a:spLocks noChangeArrowheads="1"/>
          </p:cNvSpPr>
          <p:nvPr/>
        </p:nvSpPr>
        <p:spPr bwMode="auto">
          <a:xfrm>
            <a:off x="1077912" y="695980"/>
            <a:ext cx="5551488" cy="523220"/>
          </a:xfrm>
          <a:prstGeom prst="rect">
            <a:avLst/>
          </a:prstGeom>
          <a:noFill/>
          <a:ln w="9525">
            <a:noFill/>
            <a:miter lim="800000"/>
            <a:headEnd/>
            <a:tailEnd/>
          </a:ln>
          <a:effectLst/>
        </p:spPr>
        <p:txBody>
          <a:bodyPr wrap="square">
            <a:spAutoFit/>
          </a:bodyPr>
          <a:lstStyle/>
          <a:p>
            <a:pPr algn="l"/>
            <a:r>
              <a:rPr lang="en-GB" sz="2800" dirty="0">
                <a:solidFill>
                  <a:srgbClr val="0070C0"/>
                </a:solidFill>
              </a:rPr>
              <a:t>How to think about monitoring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animEffect transition="in" filter="blinds(horizontal)">
                                      <p:cBhvr>
                                        <p:cTn id="7" dur="500"/>
                                        <p:tgtEl>
                                          <p:spTgt spid="3789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892">
                                            <p:txEl>
                                              <p:pRg st="1" end="1"/>
                                            </p:txEl>
                                          </p:spTgt>
                                        </p:tgtEl>
                                        <p:attrNameLst>
                                          <p:attrName>style.visibility</p:attrName>
                                        </p:attrNameLst>
                                      </p:cBhvr>
                                      <p:to>
                                        <p:strVal val="visible"/>
                                      </p:to>
                                    </p:set>
                                    <p:animEffect transition="in" filter="blinds(horizontal)">
                                      <p:cBhvr>
                                        <p:cTn id="10" dur="500"/>
                                        <p:tgtEl>
                                          <p:spTgt spid="3789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892">
                                            <p:txEl>
                                              <p:pRg st="2" end="2"/>
                                            </p:txEl>
                                          </p:spTgt>
                                        </p:tgtEl>
                                        <p:attrNameLst>
                                          <p:attrName>style.visibility</p:attrName>
                                        </p:attrNameLst>
                                      </p:cBhvr>
                                      <p:to>
                                        <p:strVal val="visible"/>
                                      </p:to>
                                    </p:set>
                                    <p:animEffect transition="in" filter="blinds(horizontal)">
                                      <p:cBhvr>
                                        <p:cTn id="13" dur="500"/>
                                        <p:tgtEl>
                                          <p:spTgt spid="3789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7892">
                                            <p:txEl>
                                              <p:pRg st="3" end="3"/>
                                            </p:txEl>
                                          </p:spTgt>
                                        </p:tgtEl>
                                        <p:attrNameLst>
                                          <p:attrName>style.visibility</p:attrName>
                                        </p:attrNameLst>
                                      </p:cBhvr>
                                      <p:to>
                                        <p:strVal val="visible"/>
                                      </p:to>
                                    </p:set>
                                    <p:animEffect transition="in" filter="blinds(horizontal)">
                                      <p:cBhvr>
                                        <p:cTn id="16" dur="500"/>
                                        <p:tgtEl>
                                          <p:spTgt spid="37892">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7892">
                                            <p:txEl>
                                              <p:pRg st="4" end="4"/>
                                            </p:txEl>
                                          </p:spTgt>
                                        </p:tgtEl>
                                        <p:attrNameLst>
                                          <p:attrName>style.visibility</p:attrName>
                                        </p:attrNameLst>
                                      </p:cBhvr>
                                      <p:to>
                                        <p:strVal val="visible"/>
                                      </p:to>
                                    </p:set>
                                    <p:animEffect transition="in" filter="blinds(horizontal)">
                                      <p:cBhvr>
                                        <p:cTn id="19" dur="500"/>
                                        <p:tgtEl>
                                          <p:spTgt spid="3789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xit" presetSubtype="10" fill="hold" nodeType="clickEffect">
                                  <p:stCondLst>
                                    <p:cond delay="0"/>
                                  </p:stCondLst>
                                  <p:childTnLst>
                                    <p:animEffect transition="out" filter="blinds(horizontal)">
                                      <p:cBhvr>
                                        <p:cTn id="23" dur="500"/>
                                        <p:tgtEl>
                                          <p:spTgt spid="37892">
                                            <p:txEl>
                                              <p:pRg st="0" end="0"/>
                                            </p:txEl>
                                          </p:spTgt>
                                        </p:tgtEl>
                                      </p:cBhvr>
                                    </p:animEffect>
                                    <p:set>
                                      <p:cBhvr>
                                        <p:cTn id="24" dur="1" fill="hold">
                                          <p:stCondLst>
                                            <p:cond delay="499"/>
                                          </p:stCondLst>
                                        </p:cTn>
                                        <p:tgtEl>
                                          <p:spTgt spid="37892">
                                            <p:txEl>
                                              <p:pRg st="0" end="0"/>
                                            </p:txEl>
                                          </p:spTgt>
                                        </p:tgtEl>
                                        <p:attrNameLst>
                                          <p:attrName>style.visibility</p:attrName>
                                        </p:attrNameLst>
                                      </p:cBhvr>
                                      <p:to>
                                        <p:strVal val="hidden"/>
                                      </p:to>
                                    </p:set>
                                  </p:childTnLst>
                                </p:cTn>
                              </p:par>
                              <p:par>
                                <p:cTn id="25" presetID="3" presetClass="exit" presetSubtype="10" fill="hold" nodeType="withEffect">
                                  <p:stCondLst>
                                    <p:cond delay="0"/>
                                  </p:stCondLst>
                                  <p:childTnLst>
                                    <p:animEffect transition="out" filter="blinds(horizontal)">
                                      <p:cBhvr>
                                        <p:cTn id="26" dur="500"/>
                                        <p:tgtEl>
                                          <p:spTgt spid="37892">
                                            <p:txEl>
                                              <p:pRg st="1" end="1"/>
                                            </p:txEl>
                                          </p:spTgt>
                                        </p:tgtEl>
                                      </p:cBhvr>
                                    </p:animEffect>
                                    <p:set>
                                      <p:cBhvr>
                                        <p:cTn id="27" dur="1" fill="hold">
                                          <p:stCondLst>
                                            <p:cond delay="499"/>
                                          </p:stCondLst>
                                        </p:cTn>
                                        <p:tgtEl>
                                          <p:spTgt spid="37892">
                                            <p:txEl>
                                              <p:pRg st="1" end="1"/>
                                            </p:txEl>
                                          </p:spTgt>
                                        </p:tgtEl>
                                        <p:attrNameLst>
                                          <p:attrName>style.visibility</p:attrName>
                                        </p:attrNameLst>
                                      </p:cBhvr>
                                      <p:to>
                                        <p:strVal val="hidden"/>
                                      </p:to>
                                    </p:set>
                                  </p:childTnLst>
                                </p:cTn>
                              </p:par>
                              <p:par>
                                <p:cTn id="28" presetID="3" presetClass="exit" presetSubtype="10" fill="hold" nodeType="withEffect">
                                  <p:stCondLst>
                                    <p:cond delay="0"/>
                                  </p:stCondLst>
                                  <p:childTnLst>
                                    <p:animEffect transition="out" filter="blinds(horizontal)">
                                      <p:cBhvr>
                                        <p:cTn id="29" dur="500"/>
                                        <p:tgtEl>
                                          <p:spTgt spid="37892">
                                            <p:txEl>
                                              <p:pRg st="2" end="2"/>
                                            </p:txEl>
                                          </p:spTgt>
                                        </p:tgtEl>
                                      </p:cBhvr>
                                    </p:animEffect>
                                    <p:set>
                                      <p:cBhvr>
                                        <p:cTn id="30" dur="1" fill="hold">
                                          <p:stCondLst>
                                            <p:cond delay="499"/>
                                          </p:stCondLst>
                                        </p:cTn>
                                        <p:tgtEl>
                                          <p:spTgt spid="37892">
                                            <p:txEl>
                                              <p:pRg st="2" end="2"/>
                                            </p:txEl>
                                          </p:spTgt>
                                        </p:tgtEl>
                                        <p:attrNameLst>
                                          <p:attrName>style.visibility</p:attrName>
                                        </p:attrNameLst>
                                      </p:cBhvr>
                                      <p:to>
                                        <p:strVal val="hidden"/>
                                      </p:to>
                                    </p:set>
                                  </p:childTnLst>
                                </p:cTn>
                              </p:par>
                              <p:par>
                                <p:cTn id="31" presetID="3" presetClass="exit" presetSubtype="10" fill="hold" nodeType="withEffect">
                                  <p:stCondLst>
                                    <p:cond delay="0"/>
                                  </p:stCondLst>
                                  <p:childTnLst>
                                    <p:animEffect transition="out" filter="blinds(horizontal)">
                                      <p:cBhvr>
                                        <p:cTn id="32" dur="500"/>
                                        <p:tgtEl>
                                          <p:spTgt spid="37892">
                                            <p:txEl>
                                              <p:pRg st="3" end="3"/>
                                            </p:txEl>
                                          </p:spTgt>
                                        </p:tgtEl>
                                      </p:cBhvr>
                                    </p:animEffect>
                                    <p:set>
                                      <p:cBhvr>
                                        <p:cTn id="33" dur="1" fill="hold">
                                          <p:stCondLst>
                                            <p:cond delay="499"/>
                                          </p:stCondLst>
                                        </p:cTn>
                                        <p:tgtEl>
                                          <p:spTgt spid="37892">
                                            <p:txEl>
                                              <p:pRg st="3" end="3"/>
                                            </p:txEl>
                                          </p:spTgt>
                                        </p:tgtEl>
                                        <p:attrNameLst>
                                          <p:attrName>style.visibility</p:attrName>
                                        </p:attrNameLst>
                                      </p:cBhvr>
                                      <p:to>
                                        <p:strVal val="hidden"/>
                                      </p:to>
                                    </p:set>
                                  </p:childTnLst>
                                </p:cTn>
                              </p:par>
                              <p:par>
                                <p:cTn id="34" presetID="3" presetClass="exit" presetSubtype="10" fill="hold" nodeType="withEffect">
                                  <p:stCondLst>
                                    <p:cond delay="0"/>
                                  </p:stCondLst>
                                  <p:childTnLst>
                                    <p:animEffect transition="out" filter="blinds(horizontal)">
                                      <p:cBhvr>
                                        <p:cTn id="35" dur="500"/>
                                        <p:tgtEl>
                                          <p:spTgt spid="37892">
                                            <p:txEl>
                                              <p:pRg st="4" end="4"/>
                                            </p:txEl>
                                          </p:spTgt>
                                        </p:tgtEl>
                                      </p:cBhvr>
                                    </p:animEffect>
                                    <p:set>
                                      <p:cBhvr>
                                        <p:cTn id="36" dur="1" fill="hold">
                                          <p:stCondLst>
                                            <p:cond delay="499"/>
                                          </p:stCondLst>
                                        </p:cTn>
                                        <p:tgtEl>
                                          <p:spTgt spid="37892">
                                            <p:txEl>
                                              <p:pRg st="4" end="4"/>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7892">
                                            <p:txEl>
                                              <p:pRg st="6" end="6"/>
                                            </p:txEl>
                                          </p:spTgt>
                                        </p:tgtEl>
                                        <p:attrNameLst>
                                          <p:attrName>style.visibility</p:attrName>
                                        </p:attrNameLst>
                                      </p:cBhvr>
                                      <p:to>
                                        <p:strVal val="visible"/>
                                      </p:to>
                                    </p:set>
                                    <p:animEffect transition="in" filter="blinds(horizontal)">
                                      <p:cBhvr>
                                        <p:cTn id="39" dur="500"/>
                                        <p:tgtEl>
                                          <p:spTgt spid="37892">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37892">
                                            <p:txEl>
                                              <p:pRg st="6" end="6"/>
                                            </p:txEl>
                                          </p:spTgt>
                                        </p:tgtEl>
                                      </p:cBhvr>
                                    </p:animEffect>
                                    <p:set>
                                      <p:cBhvr>
                                        <p:cTn id="44" dur="1" fill="hold">
                                          <p:stCondLst>
                                            <p:cond delay="499"/>
                                          </p:stCondLst>
                                        </p:cTn>
                                        <p:tgtEl>
                                          <p:spTgt spid="37892">
                                            <p:txEl>
                                              <p:pRg st="6" end="6"/>
                                            </p:txEl>
                                          </p:spTgt>
                                        </p:tgtEl>
                                        <p:attrNameLst>
                                          <p:attrName>style.visibility</p:attrName>
                                        </p:attrNameLst>
                                      </p:cBhvr>
                                      <p:to>
                                        <p:strVal val="hidden"/>
                                      </p:to>
                                    </p:set>
                                  </p:childTnLst>
                                </p:cTn>
                              </p:par>
                              <p:par>
                                <p:cTn id="45" presetID="3" presetClass="entr" presetSubtype="10" fill="hold" nodeType="withEffect">
                                  <p:stCondLst>
                                    <p:cond delay="0"/>
                                  </p:stCondLst>
                                  <p:childTnLst>
                                    <p:set>
                                      <p:cBhvr>
                                        <p:cTn id="46" dur="1" fill="hold">
                                          <p:stCondLst>
                                            <p:cond delay="0"/>
                                          </p:stCondLst>
                                        </p:cTn>
                                        <p:tgtEl>
                                          <p:spTgt spid="37892">
                                            <p:txEl>
                                              <p:pRg st="7" end="7"/>
                                            </p:txEl>
                                          </p:spTgt>
                                        </p:tgtEl>
                                        <p:attrNameLst>
                                          <p:attrName>style.visibility</p:attrName>
                                        </p:attrNameLst>
                                      </p:cBhvr>
                                      <p:to>
                                        <p:strVal val="visible"/>
                                      </p:to>
                                    </p:set>
                                    <p:animEffect transition="in" filter="blinds(horizontal)">
                                      <p:cBhvr>
                                        <p:cTn id="47" dur="500"/>
                                        <p:tgtEl>
                                          <p:spTgt spid="37892">
                                            <p:txEl>
                                              <p:pRg st="7" end="7"/>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37892">
                                            <p:txEl>
                                              <p:pRg st="8" end="8"/>
                                            </p:txEl>
                                          </p:spTgt>
                                        </p:tgtEl>
                                        <p:attrNameLst>
                                          <p:attrName>style.visibility</p:attrName>
                                        </p:attrNameLst>
                                      </p:cBhvr>
                                      <p:to>
                                        <p:strVal val="visible"/>
                                      </p:to>
                                    </p:set>
                                    <p:animEffect transition="in" filter="blinds(horizontal)">
                                      <p:cBhvr>
                                        <p:cTn id="50" dur="500"/>
                                        <p:tgtEl>
                                          <p:spTgt spid="37892">
                                            <p:txEl>
                                              <p:pRg st="8" end="8"/>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37892">
                                            <p:txEl>
                                              <p:pRg st="9" end="9"/>
                                            </p:txEl>
                                          </p:spTgt>
                                        </p:tgtEl>
                                        <p:attrNameLst>
                                          <p:attrName>style.visibility</p:attrName>
                                        </p:attrNameLst>
                                      </p:cBhvr>
                                      <p:to>
                                        <p:strVal val="visible"/>
                                      </p:to>
                                    </p:set>
                                    <p:animEffect transition="in" filter="blinds(horizontal)">
                                      <p:cBhvr>
                                        <p:cTn id="53" dur="500"/>
                                        <p:tgtEl>
                                          <p:spTgt spid="37892">
                                            <p:txEl>
                                              <p:pRg st="9"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xit" presetSubtype="10" fill="hold" nodeType="clickEffect">
                                  <p:stCondLst>
                                    <p:cond delay="0"/>
                                  </p:stCondLst>
                                  <p:childTnLst>
                                    <p:animEffect transition="out" filter="blinds(horizontal)">
                                      <p:cBhvr>
                                        <p:cTn id="57" dur="500"/>
                                        <p:tgtEl>
                                          <p:spTgt spid="37892">
                                            <p:txEl>
                                              <p:pRg st="7" end="7"/>
                                            </p:txEl>
                                          </p:spTgt>
                                        </p:tgtEl>
                                      </p:cBhvr>
                                    </p:animEffect>
                                    <p:set>
                                      <p:cBhvr>
                                        <p:cTn id="58" dur="1" fill="hold">
                                          <p:stCondLst>
                                            <p:cond delay="499"/>
                                          </p:stCondLst>
                                        </p:cTn>
                                        <p:tgtEl>
                                          <p:spTgt spid="37892">
                                            <p:txEl>
                                              <p:pRg st="7" end="7"/>
                                            </p:txEl>
                                          </p:spTgt>
                                        </p:tgtEl>
                                        <p:attrNameLst>
                                          <p:attrName>style.visibility</p:attrName>
                                        </p:attrNameLst>
                                      </p:cBhvr>
                                      <p:to>
                                        <p:strVal val="hidden"/>
                                      </p:to>
                                    </p:set>
                                  </p:childTnLst>
                                </p:cTn>
                              </p:par>
                              <p:par>
                                <p:cTn id="59" presetID="3" presetClass="exit" presetSubtype="10" fill="hold" nodeType="withEffect">
                                  <p:stCondLst>
                                    <p:cond delay="0"/>
                                  </p:stCondLst>
                                  <p:childTnLst>
                                    <p:animEffect transition="out" filter="blinds(horizontal)">
                                      <p:cBhvr>
                                        <p:cTn id="60" dur="500"/>
                                        <p:tgtEl>
                                          <p:spTgt spid="37892">
                                            <p:txEl>
                                              <p:pRg st="8" end="8"/>
                                            </p:txEl>
                                          </p:spTgt>
                                        </p:tgtEl>
                                      </p:cBhvr>
                                    </p:animEffect>
                                    <p:set>
                                      <p:cBhvr>
                                        <p:cTn id="61" dur="1" fill="hold">
                                          <p:stCondLst>
                                            <p:cond delay="499"/>
                                          </p:stCondLst>
                                        </p:cTn>
                                        <p:tgtEl>
                                          <p:spTgt spid="37892">
                                            <p:txEl>
                                              <p:pRg st="8" end="8"/>
                                            </p:txEl>
                                          </p:spTgt>
                                        </p:tgtEl>
                                        <p:attrNameLst>
                                          <p:attrName>style.visibility</p:attrName>
                                        </p:attrNameLst>
                                      </p:cBhvr>
                                      <p:to>
                                        <p:strVal val="hidden"/>
                                      </p:to>
                                    </p:set>
                                  </p:childTnLst>
                                </p:cTn>
                              </p:par>
                              <p:par>
                                <p:cTn id="62" presetID="3" presetClass="exit" presetSubtype="10" fill="hold" nodeType="withEffect">
                                  <p:stCondLst>
                                    <p:cond delay="0"/>
                                  </p:stCondLst>
                                  <p:childTnLst>
                                    <p:animEffect transition="out" filter="blinds(horizontal)">
                                      <p:cBhvr>
                                        <p:cTn id="63" dur="500"/>
                                        <p:tgtEl>
                                          <p:spTgt spid="37892">
                                            <p:txEl>
                                              <p:pRg st="9" end="9"/>
                                            </p:txEl>
                                          </p:spTgt>
                                        </p:tgtEl>
                                      </p:cBhvr>
                                    </p:animEffect>
                                    <p:set>
                                      <p:cBhvr>
                                        <p:cTn id="64" dur="1" fill="hold">
                                          <p:stCondLst>
                                            <p:cond delay="499"/>
                                          </p:stCondLst>
                                        </p:cTn>
                                        <p:tgtEl>
                                          <p:spTgt spid="37892">
                                            <p:txEl>
                                              <p:pRg st="9" end="9"/>
                                            </p:txEl>
                                          </p:spTgt>
                                        </p:tgtEl>
                                        <p:attrNameLst>
                                          <p:attrName>style.visibility</p:attrName>
                                        </p:attrNameLst>
                                      </p:cBhvr>
                                      <p:to>
                                        <p:strVal val="hidden"/>
                                      </p:to>
                                    </p:set>
                                  </p:childTnLst>
                                </p:cTn>
                              </p:par>
                              <p:par>
                                <p:cTn id="65" presetID="3" presetClass="entr" presetSubtype="10" fill="hold" nodeType="withEffect">
                                  <p:stCondLst>
                                    <p:cond delay="0"/>
                                  </p:stCondLst>
                                  <p:childTnLst>
                                    <p:set>
                                      <p:cBhvr>
                                        <p:cTn id="66" dur="1" fill="hold">
                                          <p:stCondLst>
                                            <p:cond delay="0"/>
                                          </p:stCondLst>
                                        </p:cTn>
                                        <p:tgtEl>
                                          <p:spTgt spid="37892">
                                            <p:txEl>
                                              <p:pRg st="11" end="11"/>
                                            </p:txEl>
                                          </p:spTgt>
                                        </p:tgtEl>
                                        <p:attrNameLst>
                                          <p:attrName>style.visibility</p:attrName>
                                        </p:attrNameLst>
                                      </p:cBhvr>
                                      <p:to>
                                        <p:strVal val="visible"/>
                                      </p:to>
                                    </p:set>
                                    <p:animEffect transition="in" filter="blinds(horizontal)">
                                      <p:cBhvr>
                                        <p:cTn id="67" dur="500"/>
                                        <p:tgtEl>
                                          <p:spTgt spid="37892">
                                            <p:txEl>
                                              <p:pRg st="11" end="11"/>
                                            </p:txEl>
                                          </p:spTgt>
                                        </p:tgtEl>
                                      </p:cBhvr>
                                    </p:animEffect>
                                  </p:childTnLst>
                                </p:cTn>
                              </p:par>
                              <p:par>
                                <p:cTn id="68" presetID="3" presetClass="entr" presetSubtype="10" fill="hold" nodeType="withEffect">
                                  <p:stCondLst>
                                    <p:cond delay="0"/>
                                  </p:stCondLst>
                                  <p:childTnLst>
                                    <p:set>
                                      <p:cBhvr>
                                        <p:cTn id="69" dur="1" fill="hold">
                                          <p:stCondLst>
                                            <p:cond delay="0"/>
                                          </p:stCondLst>
                                        </p:cTn>
                                        <p:tgtEl>
                                          <p:spTgt spid="37892">
                                            <p:txEl>
                                              <p:pRg st="12" end="12"/>
                                            </p:txEl>
                                          </p:spTgt>
                                        </p:tgtEl>
                                        <p:attrNameLst>
                                          <p:attrName>style.visibility</p:attrName>
                                        </p:attrNameLst>
                                      </p:cBhvr>
                                      <p:to>
                                        <p:strVal val="visible"/>
                                      </p:to>
                                    </p:set>
                                    <p:animEffect transition="in" filter="blinds(horizontal)">
                                      <p:cBhvr>
                                        <p:cTn id="70" dur="500"/>
                                        <p:tgtEl>
                                          <p:spTgt spid="37892">
                                            <p:txEl>
                                              <p:pRg st="12" end="12"/>
                                            </p:txEl>
                                          </p:spTgt>
                                        </p:tgtEl>
                                      </p:cBhvr>
                                    </p:animEffect>
                                  </p:childTnLst>
                                </p:cTn>
                              </p:par>
                              <p:par>
                                <p:cTn id="71" presetID="3" presetClass="entr" presetSubtype="10" fill="hold" nodeType="withEffect">
                                  <p:stCondLst>
                                    <p:cond delay="0"/>
                                  </p:stCondLst>
                                  <p:childTnLst>
                                    <p:set>
                                      <p:cBhvr>
                                        <p:cTn id="72" dur="1" fill="hold">
                                          <p:stCondLst>
                                            <p:cond delay="0"/>
                                          </p:stCondLst>
                                        </p:cTn>
                                        <p:tgtEl>
                                          <p:spTgt spid="37892">
                                            <p:txEl>
                                              <p:pRg st="13" end="13"/>
                                            </p:txEl>
                                          </p:spTgt>
                                        </p:tgtEl>
                                        <p:attrNameLst>
                                          <p:attrName>style.visibility</p:attrName>
                                        </p:attrNameLst>
                                      </p:cBhvr>
                                      <p:to>
                                        <p:strVal val="visible"/>
                                      </p:to>
                                    </p:set>
                                    <p:animEffect transition="in" filter="blinds(horizontal)">
                                      <p:cBhvr>
                                        <p:cTn id="73" dur="500"/>
                                        <p:tgtEl>
                                          <p:spTgt spid="37892">
                                            <p:txEl>
                                              <p:pRg st="13" end="13"/>
                                            </p:txEl>
                                          </p:spTgt>
                                        </p:tgtEl>
                                      </p:cBhvr>
                                    </p:animEffect>
                                  </p:childTnLst>
                                </p:cTn>
                              </p:par>
                              <p:par>
                                <p:cTn id="74" presetID="3" presetClass="entr" presetSubtype="10" fill="hold" nodeType="withEffect">
                                  <p:stCondLst>
                                    <p:cond delay="0"/>
                                  </p:stCondLst>
                                  <p:childTnLst>
                                    <p:set>
                                      <p:cBhvr>
                                        <p:cTn id="75" dur="1" fill="hold">
                                          <p:stCondLst>
                                            <p:cond delay="0"/>
                                          </p:stCondLst>
                                        </p:cTn>
                                        <p:tgtEl>
                                          <p:spTgt spid="37892">
                                            <p:txEl>
                                              <p:pRg st="14" end="14"/>
                                            </p:txEl>
                                          </p:spTgt>
                                        </p:tgtEl>
                                        <p:attrNameLst>
                                          <p:attrName>style.visibility</p:attrName>
                                        </p:attrNameLst>
                                      </p:cBhvr>
                                      <p:to>
                                        <p:strVal val="visible"/>
                                      </p:to>
                                    </p:set>
                                    <p:animEffect transition="in" filter="blinds(horizontal)">
                                      <p:cBhvr>
                                        <p:cTn id="76" dur="500"/>
                                        <p:tgtEl>
                                          <p:spTgt spid="3789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825500" y="1031875"/>
            <a:ext cx="459700" cy="5632311"/>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a:spAutoFit/>
          </a:bodyPr>
          <a:lstStyle/>
          <a:p>
            <a:pPr algn="l"/>
            <a:r>
              <a:rPr lang="en-GB" sz="2400" dirty="0"/>
              <a:t>A</a:t>
            </a:r>
          </a:p>
          <a:p>
            <a:pPr algn="l"/>
            <a:endParaRPr lang="en-GB" sz="2400" dirty="0"/>
          </a:p>
          <a:p>
            <a:pPr algn="l"/>
            <a:endParaRPr lang="en-GB" sz="2400" dirty="0"/>
          </a:p>
          <a:p>
            <a:pPr algn="l"/>
            <a:r>
              <a:rPr lang="en-GB" sz="2400" dirty="0"/>
              <a:t>B</a:t>
            </a:r>
          </a:p>
          <a:p>
            <a:pPr algn="l"/>
            <a:endParaRPr lang="en-GB" sz="2400" dirty="0"/>
          </a:p>
          <a:p>
            <a:pPr algn="l"/>
            <a:endParaRPr lang="en-GB" sz="2400" dirty="0"/>
          </a:p>
          <a:p>
            <a:pPr algn="l"/>
            <a:r>
              <a:rPr lang="en-GB" sz="2400" dirty="0"/>
              <a:t>C</a:t>
            </a:r>
          </a:p>
          <a:p>
            <a:pPr algn="l"/>
            <a:endParaRPr lang="en-GB" sz="2400" dirty="0"/>
          </a:p>
          <a:p>
            <a:pPr algn="l"/>
            <a:endParaRPr lang="en-GB" sz="2400" dirty="0"/>
          </a:p>
          <a:p>
            <a:pPr algn="l"/>
            <a:r>
              <a:rPr lang="en-GB" sz="2400" dirty="0"/>
              <a:t>D</a:t>
            </a:r>
          </a:p>
          <a:p>
            <a:pPr algn="l"/>
            <a:endParaRPr lang="en-GB" sz="2400" dirty="0"/>
          </a:p>
          <a:p>
            <a:pPr algn="l"/>
            <a:endParaRPr lang="en-GB" sz="2400" dirty="0"/>
          </a:p>
          <a:p>
            <a:pPr algn="l"/>
            <a:endParaRPr lang="en-GB" sz="2400" dirty="0"/>
          </a:p>
          <a:p>
            <a:pPr algn="l"/>
            <a:endParaRPr lang="en-GB" sz="2400" dirty="0"/>
          </a:p>
          <a:p>
            <a:pPr algn="l"/>
            <a:r>
              <a:rPr lang="en-GB" sz="2400" dirty="0"/>
              <a:t>E</a:t>
            </a:r>
          </a:p>
        </p:txBody>
      </p:sp>
      <p:sp>
        <p:nvSpPr>
          <p:cNvPr id="34821" name="Text Box 5"/>
          <p:cNvSpPr txBox="1">
            <a:spLocks noChangeArrowheads="1"/>
          </p:cNvSpPr>
          <p:nvPr/>
        </p:nvSpPr>
        <p:spPr bwMode="auto">
          <a:xfrm>
            <a:off x="647700" y="388938"/>
            <a:ext cx="5935663" cy="579437"/>
          </a:xfrm>
          <a:prstGeom prst="rect">
            <a:avLst/>
          </a:prstGeom>
          <a:noFill/>
          <a:ln w="9525">
            <a:noFill/>
            <a:miter lim="800000"/>
            <a:headEnd/>
            <a:tailEnd/>
          </a:ln>
          <a:effectLst/>
        </p:spPr>
        <p:txBody>
          <a:bodyPr wrap="none">
            <a:spAutoFit/>
          </a:bodyPr>
          <a:lstStyle/>
          <a:p>
            <a:pPr algn="l"/>
            <a:r>
              <a:rPr lang="en-GB" sz="3200"/>
              <a:t>Clinical monitoring / observation</a:t>
            </a:r>
          </a:p>
        </p:txBody>
      </p:sp>
      <p:sp>
        <p:nvSpPr>
          <p:cNvPr id="34822" name="Text Box 6"/>
          <p:cNvSpPr txBox="1">
            <a:spLocks noChangeArrowheads="1"/>
          </p:cNvSpPr>
          <p:nvPr/>
        </p:nvSpPr>
        <p:spPr bwMode="auto">
          <a:xfrm>
            <a:off x="1358900" y="1044575"/>
            <a:ext cx="1337540" cy="510778"/>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lgn="l"/>
            <a:r>
              <a:rPr lang="en-GB" sz="2400" dirty="0"/>
              <a:t>= </a:t>
            </a:r>
            <a:r>
              <a:rPr lang="en-GB" sz="2400" dirty="0" smtClean="0"/>
              <a:t>Airway</a:t>
            </a:r>
            <a:endParaRPr lang="en-GB" sz="2400" dirty="0"/>
          </a:p>
        </p:txBody>
      </p:sp>
      <p:sp>
        <p:nvSpPr>
          <p:cNvPr id="34824" name="Text Box 8"/>
          <p:cNvSpPr txBox="1">
            <a:spLocks noChangeArrowheads="1"/>
          </p:cNvSpPr>
          <p:nvPr/>
        </p:nvSpPr>
        <p:spPr bwMode="auto">
          <a:xfrm>
            <a:off x="1358900" y="2174875"/>
            <a:ext cx="1673199" cy="510778"/>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lgn="l"/>
            <a:r>
              <a:rPr lang="en-GB" sz="2400" dirty="0"/>
              <a:t>= </a:t>
            </a:r>
            <a:r>
              <a:rPr lang="en-GB" sz="2400" dirty="0" smtClean="0"/>
              <a:t>Breathing</a:t>
            </a:r>
            <a:endParaRPr lang="en-GB" sz="2400" dirty="0"/>
          </a:p>
        </p:txBody>
      </p:sp>
      <p:sp>
        <p:nvSpPr>
          <p:cNvPr id="34825" name="Text Box 9"/>
          <p:cNvSpPr txBox="1">
            <a:spLocks noChangeArrowheads="1"/>
          </p:cNvSpPr>
          <p:nvPr/>
        </p:nvSpPr>
        <p:spPr bwMode="auto">
          <a:xfrm>
            <a:off x="1358900" y="3279775"/>
            <a:ext cx="1865058" cy="510778"/>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lgn="l"/>
            <a:r>
              <a:rPr lang="en-GB" sz="2400" dirty="0"/>
              <a:t>= </a:t>
            </a:r>
            <a:r>
              <a:rPr lang="en-GB" sz="2400" dirty="0" smtClean="0"/>
              <a:t>Circulation</a:t>
            </a:r>
            <a:endParaRPr lang="en-GB" sz="2400" dirty="0"/>
          </a:p>
        </p:txBody>
      </p:sp>
      <p:sp>
        <p:nvSpPr>
          <p:cNvPr id="34826" name="Text Box 10"/>
          <p:cNvSpPr txBox="1">
            <a:spLocks noChangeArrowheads="1"/>
          </p:cNvSpPr>
          <p:nvPr/>
        </p:nvSpPr>
        <p:spPr bwMode="auto">
          <a:xfrm>
            <a:off x="1358900" y="4308475"/>
            <a:ext cx="3088433" cy="510778"/>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lgn="l"/>
            <a:r>
              <a:rPr lang="en-GB" sz="2400" dirty="0"/>
              <a:t>= </a:t>
            </a:r>
            <a:r>
              <a:rPr lang="en-GB" sz="2400" dirty="0" smtClean="0"/>
              <a:t>Depth </a:t>
            </a:r>
            <a:r>
              <a:rPr lang="en-GB" sz="2400" dirty="0"/>
              <a:t>of anaesthesia</a:t>
            </a:r>
          </a:p>
        </p:txBody>
      </p:sp>
      <p:sp>
        <p:nvSpPr>
          <p:cNvPr id="34827" name="Text Box 11"/>
          <p:cNvSpPr txBox="1">
            <a:spLocks noChangeArrowheads="1"/>
          </p:cNvSpPr>
          <p:nvPr/>
        </p:nvSpPr>
        <p:spPr bwMode="auto">
          <a:xfrm>
            <a:off x="1358900" y="6143625"/>
            <a:ext cx="2178591" cy="510778"/>
          </a:xfrm>
          <a:prstGeom prst="round2Diag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lgn="l"/>
            <a:r>
              <a:rPr lang="en-GB" sz="2400" dirty="0"/>
              <a:t>= </a:t>
            </a:r>
            <a:r>
              <a:rPr lang="en-GB" sz="2400" dirty="0" smtClean="0"/>
              <a:t>‘Environment</a:t>
            </a:r>
            <a:r>
              <a:rPr lang="en-GB" sz="2400" dirty="0"/>
              <a:t>’</a:t>
            </a:r>
          </a:p>
        </p:txBody>
      </p:sp>
      <p:sp>
        <p:nvSpPr>
          <p:cNvPr id="34828" name="Text Box 12"/>
          <p:cNvSpPr txBox="1">
            <a:spLocks noChangeArrowheads="1"/>
          </p:cNvSpPr>
          <p:nvPr/>
        </p:nvSpPr>
        <p:spPr bwMode="auto">
          <a:xfrm>
            <a:off x="4648200" y="1044575"/>
            <a:ext cx="3010248" cy="877163"/>
          </a:xfrm>
          <a:prstGeom prst="rect">
            <a:avLst/>
          </a:prstGeom>
          <a:noFill/>
          <a:ln w="9525">
            <a:noFill/>
            <a:miter lim="800000"/>
            <a:headEnd/>
            <a:tailEnd/>
          </a:ln>
          <a:effectLst/>
        </p:spPr>
        <p:txBody>
          <a:bodyPr wrap="none">
            <a:spAutoFit/>
          </a:bodyPr>
          <a:lstStyle/>
          <a:p>
            <a:pPr algn="l"/>
            <a:r>
              <a:rPr lang="en-GB" sz="1700" dirty="0"/>
              <a:t>Mask / ET tube </a:t>
            </a:r>
            <a:r>
              <a:rPr lang="en-GB" sz="1700" dirty="0" smtClean="0"/>
              <a:t>misting/</a:t>
            </a:r>
            <a:r>
              <a:rPr lang="en-GB" sz="1700" dirty="0" err="1" smtClean="0"/>
              <a:t>vaporing</a:t>
            </a:r>
            <a:endParaRPr lang="en-GB" sz="1700" dirty="0"/>
          </a:p>
          <a:p>
            <a:pPr algn="l"/>
            <a:r>
              <a:rPr lang="en-GB" sz="1700" dirty="0"/>
              <a:t>Feel of reservoir bag</a:t>
            </a:r>
          </a:p>
          <a:p>
            <a:pPr algn="l"/>
            <a:r>
              <a:rPr lang="en-GB" sz="1700" dirty="0"/>
              <a:t>Chest movement</a:t>
            </a:r>
          </a:p>
        </p:txBody>
      </p:sp>
      <p:sp>
        <p:nvSpPr>
          <p:cNvPr id="34829" name="Text Box 13"/>
          <p:cNvSpPr txBox="1">
            <a:spLocks noChangeArrowheads="1"/>
          </p:cNvSpPr>
          <p:nvPr/>
        </p:nvSpPr>
        <p:spPr bwMode="auto">
          <a:xfrm>
            <a:off x="4648200" y="4425950"/>
            <a:ext cx="1918602" cy="1661993"/>
          </a:xfrm>
          <a:prstGeom prst="rect">
            <a:avLst/>
          </a:prstGeom>
          <a:noFill/>
          <a:ln w="9525">
            <a:noFill/>
            <a:miter lim="800000"/>
            <a:headEnd/>
            <a:tailEnd/>
          </a:ln>
          <a:effectLst/>
        </p:spPr>
        <p:txBody>
          <a:bodyPr wrap="none">
            <a:spAutoFit/>
          </a:bodyPr>
          <a:lstStyle/>
          <a:p>
            <a:pPr algn="l"/>
            <a:r>
              <a:rPr lang="en-GB" sz="1700" dirty="0"/>
              <a:t>Eyes</a:t>
            </a:r>
          </a:p>
          <a:p>
            <a:pPr algn="l"/>
            <a:r>
              <a:rPr lang="en-GB" sz="1700" dirty="0"/>
              <a:t>Movement</a:t>
            </a:r>
          </a:p>
          <a:p>
            <a:pPr algn="l"/>
            <a:r>
              <a:rPr lang="en-GB" sz="1700" dirty="0" smtClean="0"/>
              <a:t>Response </a:t>
            </a:r>
            <a:r>
              <a:rPr lang="en-GB" sz="1700" dirty="0"/>
              <a:t>to stimuli</a:t>
            </a:r>
          </a:p>
          <a:p>
            <a:pPr algn="l"/>
            <a:r>
              <a:rPr lang="en-GB" sz="1700" dirty="0" smtClean="0"/>
              <a:t>Pulse, BP</a:t>
            </a:r>
            <a:endParaRPr lang="en-GB" sz="1700" dirty="0"/>
          </a:p>
          <a:p>
            <a:pPr algn="l"/>
            <a:r>
              <a:rPr lang="en-GB" sz="1700" dirty="0"/>
              <a:t>Respiratory rate</a:t>
            </a:r>
          </a:p>
          <a:p>
            <a:pPr algn="l"/>
            <a:r>
              <a:rPr lang="en-GB" sz="1700" dirty="0"/>
              <a:t>Ability to ventilate</a:t>
            </a:r>
          </a:p>
        </p:txBody>
      </p:sp>
      <p:sp>
        <p:nvSpPr>
          <p:cNvPr id="34830" name="Text Box 14"/>
          <p:cNvSpPr txBox="1">
            <a:spLocks noChangeArrowheads="1"/>
          </p:cNvSpPr>
          <p:nvPr/>
        </p:nvSpPr>
        <p:spPr bwMode="auto">
          <a:xfrm>
            <a:off x="4648200" y="2171700"/>
            <a:ext cx="2948179" cy="1138773"/>
          </a:xfrm>
          <a:prstGeom prst="rect">
            <a:avLst/>
          </a:prstGeom>
          <a:noFill/>
          <a:ln w="9525">
            <a:noFill/>
            <a:miter lim="800000"/>
            <a:headEnd/>
            <a:tailEnd/>
          </a:ln>
          <a:effectLst/>
        </p:spPr>
        <p:txBody>
          <a:bodyPr wrap="none">
            <a:spAutoFit/>
          </a:bodyPr>
          <a:lstStyle/>
          <a:p>
            <a:pPr algn="l"/>
            <a:r>
              <a:rPr lang="en-GB" sz="1700" dirty="0"/>
              <a:t>Colour</a:t>
            </a:r>
          </a:p>
          <a:p>
            <a:pPr algn="l"/>
            <a:r>
              <a:rPr lang="en-GB" sz="1700" dirty="0"/>
              <a:t>Bilateral equal chest movement</a:t>
            </a:r>
          </a:p>
          <a:p>
            <a:pPr algn="l"/>
            <a:r>
              <a:rPr lang="en-GB" sz="1700" dirty="0"/>
              <a:t>Bilateral equal air entry</a:t>
            </a:r>
          </a:p>
          <a:p>
            <a:pPr algn="l"/>
            <a:r>
              <a:rPr lang="en-GB" sz="1700" dirty="0"/>
              <a:t>Pulse</a:t>
            </a:r>
          </a:p>
        </p:txBody>
      </p:sp>
      <p:sp>
        <p:nvSpPr>
          <p:cNvPr id="34831" name="Text Box 15"/>
          <p:cNvSpPr txBox="1">
            <a:spLocks noChangeArrowheads="1"/>
          </p:cNvSpPr>
          <p:nvPr/>
        </p:nvSpPr>
        <p:spPr bwMode="auto">
          <a:xfrm>
            <a:off x="4648200" y="3298825"/>
            <a:ext cx="3576300" cy="1138773"/>
          </a:xfrm>
          <a:prstGeom prst="rect">
            <a:avLst/>
          </a:prstGeom>
          <a:noFill/>
          <a:ln w="9525">
            <a:noFill/>
            <a:miter lim="800000"/>
            <a:headEnd/>
            <a:tailEnd/>
          </a:ln>
          <a:effectLst/>
        </p:spPr>
        <p:txBody>
          <a:bodyPr wrap="none">
            <a:spAutoFit/>
          </a:bodyPr>
          <a:lstStyle/>
          <a:p>
            <a:pPr algn="l"/>
            <a:r>
              <a:rPr lang="en-GB" sz="1700" dirty="0"/>
              <a:t>Colour</a:t>
            </a:r>
          </a:p>
          <a:p>
            <a:pPr algn="l"/>
            <a:r>
              <a:rPr lang="en-GB" sz="1700" dirty="0"/>
              <a:t>Peripheral </a:t>
            </a:r>
            <a:r>
              <a:rPr lang="en-GB" sz="1700" dirty="0" err="1"/>
              <a:t>vs</a:t>
            </a:r>
            <a:r>
              <a:rPr lang="en-GB" sz="1700" dirty="0"/>
              <a:t> central temperature</a:t>
            </a:r>
          </a:p>
          <a:p>
            <a:pPr algn="l"/>
            <a:r>
              <a:rPr lang="en-GB" sz="1700" dirty="0"/>
              <a:t>Pulse (present, character, </a:t>
            </a:r>
            <a:r>
              <a:rPr lang="en-GB" sz="1700" dirty="0">
                <a:solidFill>
                  <a:srgbClr val="0070C0"/>
                </a:solidFill>
              </a:rPr>
              <a:t>rate, rhythm</a:t>
            </a:r>
            <a:r>
              <a:rPr lang="en-GB" sz="1700" dirty="0"/>
              <a:t>)</a:t>
            </a:r>
          </a:p>
          <a:p>
            <a:pPr algn="l"/>
            <a:r>
              <a:rPr lang="en-GB" sz="1700" dirty="0"/>
              <a:t>Urine output</a:t>
            </a:r>
          </a:p>
        </p:txBody>
      </p:sp>
      <p:sp>
        <p:nvSpPr>
          <p:cNvPr id="34832" name="Text Box 16"/>
          <p:cNvSpPr txBox="1">
            <a:spLocks noChangeArrowheads="1"/>
          </p:cNvSpPr>
          <p:nvPr/>
        </p:nvSpPr>
        <p:spPr bwMode="auto">
          <a:xfrm>
            <a:off x="4635500" y="6264275"/>
            <a:ext cx="2017347" cy="353943"/>
          </a:xfrm>
          <a:prstGeom prst="rect">
            <a:avLst/>
          </a:prstGeom>
          <a:noFill/>
          <a:ln w="9525">
            <a:noFill/>
            <a:miter lim="800000"/>
            <a:headEnd/>
            <a:tailEnd/>
          </a:ln>
          <a:effectLst/>
        </p:spPr>
        <p:txBody>
          <a:bodyPr wrap="none">
            <a:spAutoFit/>
          </a:bodyPr>
          <a:lstStyle/>
          <a:p>
            <a:pPr algn="l"/>
            <a:r>
              <a:rPr lang="en-GB" sz="1700" dirty="0"/>
              <a:t>Central temperature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8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4828"/>
                                        </p:tgtEl>
                                        <p:attrNameLst>
                                          <p:attrName>style.visibility</p:attrName>
                                        </p:attrNameLst>
                                      </p:cBhvr>
                                      <p:to>
                                        <p:strVal val="visible"/>
                                      </p:to>
                                    </p:set>
                                    <p:anim calcmode="lin" valueType="num">
                                      <p:cBhvr additive="base">
                                        <p:cTn id="19" dur="500" fill="hold"/>
                                        <p:tgtEl>
                                          <p:spTgt spid="34828"/>
                                        </p:tgtEl>
                                        <p:attrNameLst>
                                          <p:attrName>ppt_x</p:attrName>
                                        </p:attrNameLst>
                                      </p:cBhvr>
                                      <p:tavLst>
                                        <p:tav tm="0">
                                          <p:val>
                                            <p:strVal val="1+#ppt_w/2"/>
                                          </p:val>
                                        </p:tav>
                                        <p:tav tm="100000">
                                          <p:val>
                                            <p:strVal val="#ppt_x"/>
                                          </p:val>
                                        </p:tav>
                                      </p:tavLst>
                                    </p:anim>
                                    <p:anim calcmode="lin" valueType="num">
                                      <p:cBhvr additive="base">
                                        <p:cTn id="20" dur="500" fill="hold"/>
                                        <p:tgtEl>
                                          <p:spTgt spid="348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4830"/>
                                        </p:tgtEl>
                                        <p:attrNameLst>
                                          <p:attrName>style.visibility</p:attrName>
                                        </p:attrNameLst>
                                      </p:cBhvr>
                                      <p:to>
                                        <p:strVal val="visible"/>
                                      </p:to>
                                    </p:set>
                                    <p:anim calcmode="lin" valueType="num">
                                      <p:cBhvr additive="base">
                                        <p:cTn id="25" dur="500" fill="hold"/>
                                        <p:tgtEl>
                                          <p:spTgt spid="34830"/>
                                        </p:tgtEl>
                                        <p:attrNameLst>
                                          <p:attrName>ppt_x</p:attrName>
                                        </p:attrNameLst>
                                      </p:cBhvr>
                                      <p:tavLst>
                                        <p:tav tm="0">
                                          <p:val>
                                            <p:strVal val="1+#ppt_w/2"/>
                                          </p:val>
                                        </p:tav>
                                        <p:tav tm="100000">
                                          <p:val>
                                            <p:strVal val="#ppt_x"/>
                                          </p:val>
                                        </p:tav>
                                      </p:tavLst>
                                    </p:anim>
                                    <p:anim calcmode="lin" valueType="num">
                                      <p:cBhvr additive="base">
                                        <p:cTn id="26" dur="500" fill="hold"/>
                                        <p:tgtEl>
                                          <p:spTgt spid="3483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4831"/>
                                        </p:tgtEl>
                                        <p:attrNameLst>
                                          <p:attrName>style.visibility</p:attrName>
                                        </p:attrNameLst>
                                      </p:cBhvr>
                                      <p:to>
                                        <p:strVal val="visible"/>
                                      </p:to>
                                    </p:set>
                                    <p:anim calcmode="lin" valueType="num">
                                      <p:cBhvr additive="base">
                                        <p:cTn id="31" dur="500" fill="hold"/>
                                        <p:tgtEl>
                                          <p:spTgt spid="34831"/>
                                        </p:tgtEl>
                                        <p:attrNameLst>
                                          <p:attrName>ppt_x</p:attrName>
                                        </p:attrNameLst>
                                      </p:cBhvr>
                                      <p:tavLst>
                                        <p:tav tm="0">
                                          <p:val>
                                            <p:strVal val="1+#ppt_w/2"/>
                                          </p:val>
                                        </p:tav>
                                        <p:tav tm="100000">
                                          <p:val>
                                            <p:strVal val="#ppt_x"/>
                                          </p:val>
                                        </p:tav>
                                      </p:tavLst>
                                    </p:anim>
                                    <p:anim calcmode="lin" valueType="num">
                                      <p:cBhvr additive="base">
                                        <p:cTn id="32" dur="500" fill="hold"/>
                                        <p:tgtEl>
                                          <p:spTgt spid="3483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4829"/>
                                        </p:tgtEl>
                                        <p:attrNameLst>
                                          <p:attrName>style.visibility</p:attrName>
                                        </p:attrNameLst>
                                      </p:cBhvr>
                                      <p:to>
                                        <p:strVal val="visible"/>
                                      </p:to>
                                    </p:set>
                                    <p:anim calcmode="lin" valueType="num">
                                      <p:cBhvr additive="base">
                                        <p:cTn id="37" dur="500" fill="hold"/>
                                        <p:tgtEl>
                                          <p:spTgt spid="34829"/>
                                        </p:tgtEl>
                                        <p:attrNameLst>
                                          <p:attrName>ppt_x</p:attrName>
                                        </p:attrNameLst>
                                      </p:cBhvr>
                                      <p:tavLst>
                                        <p:tav tm="0">
                                          <p:val>
                                            <p:strVal val="1+#ppt_w/2"/>
                                          </p:val>
                                        </p:tav>
                                        <p:tav tm="100000">
                                          <p:val>
                                            <p:strVal val="#ppt_x"/>
                                          </p:val>
                                        </p:tav>
                                      </p:tavLst>
                                    </p:anim>
                                    <p:anim calcmode="lin" valueType="num">
                                      <p:cBhvr additive="base">
                                        <p:cTn id="38" dur="500" fill="hold"/>
                                        <p:tgtEl>
                                          <p:spTgt spid="3482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4832"/>
                                        </p:tgtEl>
                                        <p:attrNameLst>
                                          <p:attrName>style.visibility</p:attrName>
                                        </p:attrNameLst>
                                      </p:cBhvr>
                                      <p:to>
                                        <p:strVal val="visible"/>
                                      </p:to>
                                    </p:set>
                                    <p:anim calcmode="lin" valueType="num">
                                      <p:cBhvr additive="base">
                                        <p:cTn id="43" dur="500" fill="hold"/>
                                        <p:tgtEl>
                                          <p:spTgt spid="34832"/>
                                        </p:tgtEl>
                                        <p:attrNameLst>
                                          <p:attrName>ppt_x</p:attrName>
                                        </p:attrNameLst>
                                      </p:cBhvr>
                                      <p:tavLst>
                                        <p:tav tm="0">
                                          <p:val>
                                            <p:strVal val="1+#ppt_w/2"/>
                                          </p:val>
                                        </p:tav>
                                        <p:tav tm="100000">
                                          <p:val>
                                            <p:strVal val="#ppt_x"/>
                                          </p:val>
                                        </p:tav>
                                      </p:tavLst>
                                    </p:anim>
                                    <p:anim calcmode="lin" valueType="num">
                                      <p:cBhvr additive="base">
                                        <p:cTn id="44" dur="500" fill="hold"/>
                                        <p:tgtEl>
                                          <p:spTgt spid="348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animBg="1"/>
      <p:bldP spid="34824" grpId="0" animBg="1"/>
      <p:bldP spid="34825" grpId="0" animBg="1"/>
      <p:bldP spid="34826" grpId="0" animBg="1"/>
      <p:bldP spid="34827" grpId="0" animBg="1"/>
      <p:bldP spid="34828" grpId="0"/>
      <p:bldP spid="34829" grpId="0"/>
      <p:bldP spid="34830" grpId="0"/>
      <p:bldP spid="34831" grpId="0"/>
      <p:bldP spid="3483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975360" y="1676400"/>
            <a:ext cx="7406640" cy="1472184"/>
          </a:xfrm>
        </p:spPr>
        <p:txBody>
          <a:bodyPr/>
          <a:lstStyle/>
          <a:p>
            <a:r>
              <a:rPr lang="en-US" dirty="0" smtClean="0">
                <a:solidFill>
                  <a:srgbClr val="002060"/>
                </a:solidFill>
              </a:rPr>
              <a:t>Chapter Five</a:t>
            </a:r>
            <a:endParaRPr lang="en-US" dirty="0">
              <a:solidFill>
                <a:srgbClr val="002060"/>
              </a:solidFill>
            </a:endParaRPr>
          </a:p>
        </p:txBody>
      </p:sp>
      <p:sp>
        <p:nvSpPr>
          <p:cNvPr id="3" name="Subtitle 2"/>
          <p:cNvSpPr>
            <a:spLocks noGrp="1"/>
          </p:cNvSpPr>
          <p:nvPr>
            <p:ph type="subTitle" idx="1"/>
          </p:nvPr>
        </p:nvSpPr>
        <p:spPr>
          <a:xfrm>
            <a:off x="1432560" y="3657600"/>
            <a:ext cx="7406640" cy="1752600"/>
          </a:xfrm>
        </p:spPr>
        <p:txBody>
          <a:bodyPr/>
          <a:lstStyle/>
          <a:p>
            <a:r>
              <a:rPr lang="en-US" sz="4300" dirty="0" smtClean="0">
                <a:solidFill>
                  <a:srgbClr val="4F271C">
                    <a:satMod val="130000"/>
                  </a:srgbClr>
                </a:solidFill>
                <a:effectLst>
                  <a:outerShdw blurRad="50000" dist="30000" dir="5400000" algn="tl" rotWithShape="0">
                    <a:srgbClr val="000000">
                      <a:alpha val="30000"/>
                    </a:srgbClr>
                  </a:outerShdw>
                </a:effectLst>
                <a:ea typeface="+mj-ea"/>
                <a:cs typeface="+mj-cs"/>
              </a:rPr>
              <a:t>Respiratory System Monitoring</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9400" y="2739918"/>
            <a:ext cx="3886200" cy="689082"/>
          </a:xfrm>
          <a:prstGeom prst="round2DiagRect">
            <a:avLst/>
          </a:prstGeom>
        </p:spPr>
        <p:style>
          <a:lnRef idx="2">
            <a:schemeClr val="accent2"/>
          </a:lnRef>
          <a:fillRef idx="1">
            <a:schemeClr val="lt1"/>
          </a:fillRef>
          <a:effectRef idx="0">
            <a:schemeClr val="accent2"/>
          </a:effectRef>
          <a:fontRef idx="minor">
            <a:schemeClr val="dk1"/>
          </a:fontRef>
        </p:style>
        <p:txBody>
          <a:bodyPr>
            <a:normAutofit fontScale="90000"/>
          </a:bodyPr>
          <a:lstStyle/>
          <a:p>
            <a:pPr algn="ctr"/>
            <a:r>
              <a:rPr lang="en-GB" sz="3600" dirty="0" smtClean="0">
                <a:solidFill>
                  <a:srgbClr val="0070C0"/>
                </a:solidFill>
              </a:rPr>
              <a:t>1. Pulseoxymetry</a:t>
            </a:r>
            <a:endParaRPr lang="en-US" sz="3600" dirty="0">
              <a:solidFill>
                <a:srgbClr val="0070C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2145792" cy="427038"/>
          </a:xfr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Introduction </a:t>
            </a:r>
            <a:endParaRPr lang="en-US" sz="2800" dirty="0">
              <a:solidFill>
                <a:srgbClr val="0070C0"/>
              </a:solidFill>
              <a:effectLst/>
            </a:endParaRPr>
          </a:p>
        </p:txBody>
      </p:sp>
      <p:sp>
        <p:nvSpPr>
          <p:cNvPr id="4" name="TextBox 3"/>
          <p:cNvSpPr txBox="1"/>
          <p:nvPr/>
        </p:nvSpPr>
        <p:spPr>
          <a:xfrm>
            <a:off x="990600" y="1752600"/>
            <a:ext cx="7772400" cy="3416320"/>
          </a:xfrm>
          <a:prstGeom prst="rect">
            <a:avLst/>
          </a:prstGeom>
          <a:noFill/>
        </p:spPr>
        <p:txBody>
          <a:bodyPr wrap="square" rtlCol="0">
            <a:spAutoFit/>
          </a:bodyPr>
          <a:lstStyle/>
          <a:p>
            <a:pPr marL="457200" indent="-457200">
              <a:buFont typeface="Courier New" pitchFamily="49" charset="0"/>
              <a:buChar char="o"/>
            </a:pPr>
            <a:r>
              <a:rPr lang="en-US" sz="2400" dirty="0" smtClean="0"/>
              <a:t>Pulse oximetry, sometimes called the </a:t>
            </a:r>
            <a:r>
              <a:rPr lang="en-US" sz="2400" dirty="0" smtClean="0">
                <a:solidFill>
                  <a:srgbClr val="0070C0"/>
                </a:solidFill>
              </a:rPr>
              <a:t>fifth vital sign</a:t>
            </a:r>
            <a:r>
              <a:rPr lang="en-US" sz="2400" dirty="0" smtClean="0"/>
              <a:t>, is a </a:t>
            </a:r>
            <a:r>
              <a:rPr lang="en-US" sz="2400" dirty="0" smtClean="0">
                <a:solidFill>
                  <a:srgbClr val="0070C0"/>
                </a:solidFill>
              </a:rPr>
              <a:t>continuous noninvasive </a:t>
            </a:r>
            <a:r>
              <a:rPr lang="en-US" sz="2400" dirty="0" smtClean="0"/>
              <a:t>method of measuring </a:t>
            </a:r>
            <a:r>
              <a:rPr lang="en-US" sz="2400" dirty="0" smtClean="0">
                <a:solidFill>
                  <a:srgbClr val="0070C0"/>
                </a:solidFill>
              </a:rPr>
              <a:t>hemoglobin saturation (SpO</a:t>
            </a:r>
            <a:r>
              <a:rPr lang="en-US" sz="2400" baseline="-25000" dirty="0" smtClean="0">
                <a:solidFill>
                  <a:srgbClr val="0070C0"/>
                </a:solidFill>
              </a:rPr>
              <a:t>2</a:t>
            </a:r>
            <a:r>
              <a:rPr lang="en-US" sz="2400" dirty="0" smtClean="0">
                <a:solidFill>
                  <a:srgbClr val="0070C0"/>
                </a:solidFill>
              </a:rPr>
              <a:t>) </a:t>
            </a:r>
            <a:r>
              <a:rPr lang="en-US" sz="2400" dirty="0" smtClean="0"/>
              <a:t>by using a light signal transmitted through tissue. </a:t>
            </a:r>
          </a:p>
          <a:p>
            <a:pPr marL="457200" indent="-457200">
              <a:buFont typeface="Courier New" pitchFamily="49" charset="0"/>
              <a:buChar char="o"/>
            </a:pPr>
            <a:r>
              <a:rPr lang="en-GB" sz="2400" dirty="0" smtClean="0"/>
              <a:t>Arterial blood haemoglobin saturation at the </a:t>
            </a:r>
            <a:r>
              <a:rPr lang="en-GB" sz="2400" dirty="0" smtClean="0">
                <a:solidFill>
                  <a:srgbClr val="0070C0"/>
                </a:solidFill>
              </a:rPr>
              <a:t>level of arterioles.</a:t>
            </a:r>
          </a:p>
          <a:p>
            <a:pPr marL="457200" indent="-457200">
              <a:buFont typeface="Courier New" pitchFamily="49" charset="0"/>
              <a:buChar char="o"/>
            </a:pPr>
            <a:r>
              <a:rPr lang="en-US" sz="2400" dirty="0" smtClean="0"/>
              <a:t>A low SpO</a:t>
            </a:r>
            <a:r>
              <a:rPr lang="en-US" sz="2400" baseline="-25000" dirty="0" smtClean="0"/>
              <a:t>2</a:t>
            </a:r>
            <a:r>
              <a:rPr lang="en-US" sz="2400" dirty="0" smtClean="0"/>
              <a:t> can provide warning of hypoxemia before other signs such as </a:t>
            </a:r>
            <a:r>
              <a:rPr lang="en-US" sz="2400" dirty="0" smtClean="0">
                <a:solidFill>
                  <a:srgbClr val="0070C0"/>
                </a:solidFill>
              </a:rPr>
              <a:t>cyanosis</a:t>
            </a:r>
            <a:r>
              <a:rPr lang="en-US" sz="2400" dirty="0" smtClean="0"/>
              <a:t> or a </a:t>
            </a:r>
            <a:r>
              <a:rPr lang="en-US" sz="2400" dirty="0" smtClean="0">
                <a:solidFill>
                  <a:srgbClr val="0070C0"/>
                </a:solidFill>
              </a:rPr>
              <a:t>change in heart rate</a:t>
            </a:r>
            <a:r>
              <a:rPr lang="en-US" sz="2400" dirty="0" smtClean="0"/>
              <a:t> are observed.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834918"/>
            <a:ext cx="4358640" cy="460482"/>
          </a:xfrm>
          <a:prstGeom prst="round2Diag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What is oxygen saturation ?</a:t>
            </a:r>
            <a:endParaRPr lang="en-US" sz="2800" dirty="0">
              <a:solidFill>
                <a:srgbClr val="0070C0"/>
              </a:solidFill>
              <a:effectLst/>
            </a:endParaRPr>
          </a:p>
        </p:txBody>
      </p:sp>
      <p:sp>
        <p:nvSpPr>
          <p:cNvPr id="3" name="Subtitle 2"/>
          <p:cNvSpPr>
            <a:spLocks noGrp="1"/>
          </p:cNvSpPr>
          <p:nvPr>
            <p:ph type="subTitle" idx="1"/>
          </p:nvPr>
        </p:nvSpPr>
        <p:spPr>
          <a:xfrm>
            <a:off x="990600" y="1752600"/>
            <a:ext cx="7848600" cy="4876800"/>
          </a:xfrm>
        </p:spPr>
        <p:txBody>
          <a:bodyPr>
            <a:noAutofit/>
          </a:bodyPr>
          <a:lstStyle/>
          <a:p>
            <a:pPr marL="401638" indent="-401638">
              <a:buFont typeface="Courier New" pitchFamily="49" charset="0"/>
              <a:buChar char="o"/>
            </a:pPr>
            <a:r>
              <a:rPr lang="en-US" sz="2250" dirty="0" smtClean="0"/>
              <a:t>Red blood cells contain hemoglobin. </a:t>
            </a:r>
          </a:p>
          <a:p>
            <a:pPr marL="401638" indent="-401638">
              <a:buFont typeface="Courier New" pitchFamily="49" charset="0"/>
              <a:buChar char="o"/>
            </a:pPr>
            <a:r>
              <a:rPr lang="en-US" sz="2250" dirty="0" smtClean="0">
                <a:solidFill>
                  <a:srgbClr val="0070C0"/>
                </a:solidFill>
              </a:rPr>
              <a:t>One</a:t>
            </a:r>
            <a:r>
              <a:rPr lang="en-US" sz="2250" dirty="0" smtClean="0"/>
              <a:t> molecule of hemoglobin can carry up to </a:t>
            </a:r>
            <a:r>
              <a:rPr lang="en-US" sz="2250" dirty="0" smtClean="0">
                <a:solidFill>
                  <a:srgbClr val="0070C0"/>
                </a:solidFill>
              </a:rPr>
              <a:t>four</a:t>
            </a:r>
            <a:r>
              <a:rPr lang="en-US" sz="2250" dirty="0" smtClean="0"/>
              <a:t> molecules of oxygen after which it is described as </a:t>
            </a:r>
            <a:r>
              <a:rPr lang="en-US" sz="2250" dirty="0" smtClean="0">
                <a:solidFill>
                  <a:srgbClr val="0070C0"/>
                </a:solidFill>
              </a:rPr>
              <a:t>“saturated”</a:t>
            </a:r>
            <a:r>
              <a:rPr lang="en-US" sz="2250" dirty="0" smtClean="0"/>
              <a:t> with oxygen. </a:t>
            </a:r>
          </a:p>
          <a:p>
            <a:pPr marL="401638" indent="-401638">
              <a:buFont typeface="Courier New" pitchFamily="49" charset="0"/>
              <a:buChar char="o"/>
            </a:pPr>
            <a:r>
              <a:rPr lang="en-US" sz="2250" dirty="0" smtClean="0"/>
              <a:t>If all the binding sites on the hemoglobin molecule are carrying oxygen, the hemoglobin is said to have a saturation of 100%.</a:t>
            </a:r>
          </a:p>
          <a:p>
            <a:pPr marL="401638" indent="-401638">
              <a:buFont typeface="Courier New" pitchFamily="49" charset="0"/>
              <a:buChar char="o"/>
            </a:pPr>
            <a:r>
              <a:rPr lang="en-US" sz="2250" dirty="0" smtClean="0"/>
              <a:t>Most of the hemoglobin in blood combines with oxygen as it passes through the lungs. </a:t>
            </a:r>
          </a:p>
          <a:p>
            <a:pPr marL="401638" indent="-401638">
              <a:buFont typeface="Courier New" pitchFamily="49" charset="0"/>
              <a:buChar char="o"/>
            </a:pPr>
            <a:r>
              <a:rPr lang="en-US" sz="2250" dirty="0" smtClean="0"/>
              <a:t>A healthy individual with normal lungs breathing air will have an arterial oxygen saturation of </a:t>
            </a:r>
            <a:r>
              <a:rPr lang="en-US" sz="2250" dirty="0" smtClean="0">
                <a:solidFill>
                  <a:srgbClr val="0070C0"/>
                </a:solidFill>
              </a:rPr>
              <a:t>95% – 100%.</a:t>
            </a:r>
          </a:p>
          <a:p>
            <a:pPr marL="401638" indent="-401638">
              <a:buFont typeface="Courier New" pitchFamily="49" charset="0"/>
              <a:buChar char="o"/>
            </a:pPr>
            <a:r>
              <a:rPr lang="en-US" sz="2250" dirty="0" smtClean="0"/>
              <a:t>Venous blood that is collected from the tissues contains less oxygen and normally has a saturation of around </a:t>
            </a:r>
            <a:r>
              <a:rPr lang="en-US" sz="2250" dirty="0" smtClean="0">
                <a:solidFill>
                  <a:srgbClr val="0070C0"/>
                </a:solidFill>
              </a:rPr>
              <a:t>75%.</a:t>
            </a:r>
            <a:endParaRPr lang="en-US" sz="2250" dirty="0">
              <a:solidFill>
                <a:srgbClr val="0070C0"/>
              </a:solidFill>
            </a:endParaRPr>
          </a:p>
        </p:txBody>
      </p:sp>
      <p:pic>
        <p:nvPicPr>
          <p:cNvPr id="29698" name="Picture 2" descr="http://t3.gstatic.com/images?q=tbn:ANd9GcR3cDAkdPcfcYFomTi0qhgGlw0R-1Fsr_wJsv90gtfdQZdkfB55"/>
          <p:cNvPicPr>
            <a:picLocks noChangeAspect="1" noChangeArrowheads="1"/>
          </p:cNvPicPr>
          <p:nvPr/>
        </p:nvPicPr>
        <p:blipFill>
          <a:blip r:embed="rId2"/>
          <a:srcRect/>
          <a:stretch>
            <a:fillRect/>
          </a:stretch>
        </p:blipFill>
        <p:spPr bwMode="auto">
          <a:xfrm>
            <a:off x="6330597" y="0"/>
            <a:ext cx="2813403" cy="2209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9698"/>
                                        </p:tgtEl>
                                        <p:attrNameLst>
                                          <p:attrName>style.visibility</p:attrName>
                                        </p:attrNameLst>
                                      </p:cBhvr>
                                      <p:to>
                                        <p:strVal val="visible"/>
                                      </p:to>
                                    </p:set>
                                    <p:animEffect transition="in" filter="blinds(horizontal)">
                                      <p:cBhvr>
                                        <p:cTn id="15" dur="500"/>
                                        <p:tgtEl>
                                          <p:spTgt spid="2969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blinds(horizontal)">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blinds(horizontal)">
                                      <p:cBhvr>
                                        <p:cTn id="3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685800"/>
            <a:ext cx="2298192" cy="457200"/>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
        <p:nvSpPr>
          <p:cNvPr id="3" name="Content Placeholder 2"/>
          <p:cNvSpPr>
            <a:spLocks noGrp="1"/>
          </p:cNvSpPr>
          <p:nvPr>
            <p:ph idx="1"/>
          </p:nvPr>
        </p:nvSpPr>
        <p:spPr>
          <a:xfrm>
            <a:off x="990600" y="1371600"/>
            <a:ext cx="7943088" cy="5257800"/>
          </a:xfrm>
        </p:spPr>
        <p:txBody>
          <a:bodyPr>
            <a:noAutofit/>
          </a:bodyPr>
          <a:lstStyle/>
          <a:p>
            <a:pPr marL="457200" indent="-457200">
              <a:buFont typeface="Courier New" pitchFamily="49" charset="0"/>
              <a:buChar char="o"/>
            </a:pPr>
            <a:r>
              <a:rPr lang="en-US" sz="2300" dirty="0" smtClean="0"/>
              <a:t>Arterial blood looks </a:t>
            </a:r>
            <a:r>
              <a:rPr lang="en-US" sz="2300" dirty="0" smtClean="0">
                <a:solidFill>
                  <a:srgbClr val="0070C0"/>
                </a:solidFill>
              </a:rPr>
              <a:t>bright red</a:t>
            </a:r>
            <a:r>
              <a:rPr lang="en-US" sz="2300" dirty="0" smtClean="0"/>
              <a:t> whilst venous blood looks </a:t>
            </a:r>
            <a:r>
              <a:rPr lang="en-US" sz="2300" dirty="0" smtClean="0">
                <a:solidFill>
                  <a:srgbClr val="0070C0"/>
                </a:solidFill>
              </a:rPr>
              <a:t>dark red</a:t>
            </a:r>
            <a:r>
              <a:rPr lang="en-US" sz="2300" dirty="0" smtClean="0"/>
              <a:t>.  </a:t>
            </a:r>
          </a:p>
          <a:p>
            <a:pPr marL="457200" indent="-457200">
              <a:buFont typeface="Courier New" pitchFamily="49" charset="0"/>
              <a:buChar char="o"/>
            </a:pPr>
            <a:r>
              <a:rPr lang="en-US" sz="2300" dirty="0" smtClean="0"/>
              <a:t>The difference in color is due to the difference in hemoglobin saturation. </a:t>
            </a:r>
          </a:p>
          <a:p>
            <a:pPr marL="457200" indent="-457200">
              <a:buFont typeface="Courier New" pitchFamily="49" charset="0"/>
              <a:buChar char="o"/>
            </a:pPr>
            <a:r>
              <a:rPr lang="en-US" sz="2300" dirty="0" smtClean="0"/>
              <a:t>When patients are well saturated their tongues and lips appear </a:t>
            </a:r>
            <a:r>
              <a:rPr lang="en-US" sz="2300" dirty="0" smtClean="0">
                <a:solidFill>
                  <a:srgbClr val="0070C0"/>
                </a:solidFill>
              </a:rPr>
              <a:t>pink</a:t>
            </a:r>
            <a:r>
              <a:rPr lang="en-US" sz="2300" dirty="0" smtClean="0"/>
              <a:t> in color; when they are very de-saturated they appear </a:t>
            </a:r>
            <a:r>
              <a:rPr lang="en-US" sz="2300" dirty="0" smtClean="0">
                <a:solidFill>
                  <a:srgbClr val="0070C0"/>
                </a:solidFill>
              </a:rPr>
              <a:t>blue</a:t>
            </a:r>
            <a:r>
              <a:rPr lang="en-US" sz="2300" dirty="0" smtClean="0"/>
              <a:t>. This is called </a:t>
            </a:r>
            <a:r>
              <a:rPr lang="en-US" sz="2300" dirty="0" smtClean="0">
                <a:solidFill>
                  <a:srgbClr val="0070C0"/>
                </a:solidFill>
              </a:rPr>
              <a:t>cyanosis</a:t>
            </a:r>
            <a:r>
              <a:rPr lang="en-US" sz="2300" dirty="0" smtClean="0"/>
              <a:t>.</a:t>
            </a:r>
          </a:p>
          <a:p>
            <a:pPr marL="457200" indent="-457200">
              <a:buFont typeface="Courier New" pitchFamily="49" charset="0"/>
              <a:buChar char="o"/>
            </a:pPr>
            <a:r>
              <a:rPr lang="en-US" sz="2300" dirty="0" smtClean="0"/>
              <a:t>However, it is difficult to detect cyanosis clinically, particularly in a </a:t>
            </a:r>
            <a:r>
              <a:rPr lang="en-US" sz="2300" dirty="0" smtClean="0">
                <a:solidFill>
                  <a:srgbClr val="0070C0"/>
                </a:solidFill>
              </a:rPr>
              <a:t>dark skinned</a:t>
            </a:r>
            <a:r>
              <a:rPr lang="en-US" sz="2300" dirty="0" smtClean="0"/>
              <a:t> patient, and you may not notice this sign until the oxygen saturation is </a:t>
            </a:r>
            <a:r>
              <a:rPr lang="en-US" sz="2300" dirty="0" smtClean="0">
                <a:solidFill>
                  <a:srgbClr val="0070C0"/>
                </a:solidFill>
              </a:rPr>
              <a:t>less than 90%.</a:t>
            </a:r>
            <a:r>
              <a:rPr lang="en-US" sz="2300" dirty="0" smtClean="0"/>
              <a:t> </a:t>
            </a:r>
          </a:p>
          <a:p>
            <a:pPr marL="457200" indent="-457200">
              <a:buFont typeface="Courier New" pitchFamily="49" charset="0"/>
              <a:buChar char="o"/>
            </a:pPr>
            <a:r>
              <a:rPr lang="en-US" sz="2300" dirty="0" smtClean="0"/>
              <a:t>In a dark operating theatre detecting cyanosis is even harder!</a:t>
            </a:r>
          </a:p>
          <a:p>
            <a:pPr marL="457200" indent="-457200">
              <a:buFont typeface="Courier New" pitchFamily="49" charset="0"/>
              <a:buChar char="o"/>
            </a:pPr>
            <a:r>
              <a:rPr lang="en-US" sz="2300" dirty="0" smtClean="0"/>
              <a:t>Cyanosis is only visible when the hemoglobin concentration is </a:t>
            </a:r>
            <a:r>
              <a:rPr lang="en-US" sz="2300" dirty="0" smtClean="0">
                <a:solidFill>
                  <a:srgbClr val="0070C0"/>
                </a:solidFill>
              </a:rPr>
              <a:t>greater than 5 g/dl.</a:t>
            </a:r>
            <a:r>
              <a:rPr lang="en-US" sz="23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14400"/>
            <a:ext cx="2526792" cy="457200"/>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
        <p:nvSpPr>
          <p:cNvPr id="3" name="Content Placeholder 2"/>
          <p:cNvSpPr>
            <a:spLocks noGrp="1"/>
          </p:cNvSpPr>
          <p:nvPr>
            <p:ph idx="1"/>
          </p:nvPr>
        </p:nvSpPr>
        <p:spPr>
          <a:xfrm>
            <a:off x="990600" y="1600200"/>
            <a:ext cx="7943088" cy="5105400"/>
          </a:xfrm>
        </p:spPr>
        <p:txBody>
          <a:bodyPr>
            <a:normAutofit/>
          </a:bodyPr>
          <a:lstStyle/>
          <a:p>
            <a:pPr>
              <a:buFont typeface="Courier New" pitchFamily="49" charset="0"/>
              <a:buChar char="o"/>
            </a:pPr>
            <a:r>
              <a:rPr lang="en-US" sz="2400" dirty="0" smtClean="0"/>
              <a:t>A severely anemic patient may not appear cyanosed even when extremely hypoxic as there is very little hemoglobin circulating through the tissues.</a:t>
            </a:r>
          </a:p>
          <a:p>
            <a:pPr>
              <a:buFont typeface="Courier New" pitchFamily="49" charset="0"/>
              <a:buChar char="o"/>
            </a:pPr>
            <a:r>
              <a:rPr lang="en-US" sz="2400" dirty="0" smtClean="0"/>
              <a:t>During anaesthesia the oxygen saturation should always be </a:t>
            </a:r>
            <a:r>
              <a:rPr lang="en-US" sz="2400" dirty="0" smtClean="0">
                <a:solidFill>
                  <a:srgbClr val="0070C0"/>
                </a:solidFill>
              </a:rPr>
              <a:t>95 - 100%</a:t>
            </a:r>
            <a:r>
              <a:rPr lang="en-US" sz="2400" dirty="0" smtClean="0"/>
              <a:t>. </a:t>
            </a:r>
          </a:p>
          <a:p>
            <a:pPr>
              <a:buFont typeface="Courier New" pitchFamily="49" charset="0"/>
              <a:buChar char="o"/>
            </a:pPr>
            <a:r>
              <a:rPr lang="en-US" sz="2400" dirty="0" smtClean="0"/>
              <a:t>If the oxygen saturation is 94% or lower, the patient is hypoxic and needs to be treated quickly. </a:t>
            </a:r>
          </a:p>
          <a:p>
            <a:pPr>
              <a:buFont typeface="Courier New" pitchFamily="49" charset="0"/>
              <a:buChar char="o"/>
            </a:pPr>
            <a:r>
              <a:rPr lang="en-US" sz="2400" b="1" dirty="0" smtClean="0">
                <a:solidFill>
                  <a:srgbClr val="0070C0"/>
                </a:solidFill>
              </a:rPr>
              <a:t>A saturation of less than 90% is a clinical emergency.</a:t>
            </a:r>
          </a:p>
          <a:p>
            <a:pPr>
              <a:buFont typeface="Courier New" pitchFamily="49" charset="0"/>
              <a:buChar char="o"/>
            </a:pPr>
            <a:endParaRPr lang="en-US" sz="2400" b="1" dirty="0" smtClean="0"/>
          </a:p>
          <a:p>
            <a:pPr>
              <a:buFont typeface="Courier New" pitchFamily="49" charset="0"/>
              <a:buChar char="o"/>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14400"/>
            <a:ext cx="2907792" cy="503238"/>
          </a:xfrm>
        </p:spPr>
        <p:style>
          <a:lnRef idx="2">
            <a:schemeClr val="accent2"/>
          </a:lnRef>
          <a:fillRef idx="1">
            <a:schemeClr val="lt1"/>
          </a:fillRef>
          <a:effectRef idx="0">
            <a:schemeClr val="accent2"/>
          </a:effectRef>
          <a:fontRef idx="minor">
            <a:schemeClr val="dk1"/>
          </a:fontRef>
        </p:style>
        <p:txBody>
          <a:bodyPr>
            <a:normAutofit fontScale="90000"/>
          </a:bodyPr>
          <a:lstStyle/>
          <a:p>
            <a:r>
              <a:rPr lang="en-US" sz="2800" dirty="0" smtClean="0">
                <a:solidFill>
                  <a:srgbClr val="0070C0"/>
                </a:solidFill>
                <a:effectLst/>
              </a:rPr>
              <a:t>Operating Principles</a:t>
            </a:r>
            <a:endParaRPr lang="en-US" sz="2800" dirty="0">
              <a:solidFill>
                <a:srgbClr val="0070C0"/>
              </a:solidFill>
              <a:effectLst/>
            </a:endParaRPr>
          </a:p>
        </p:txBody>
      </p:sp>
      <p:sp>
        <p:nvSpPr>
          <p:cNvPr id="3" name="Content Placeholder 2"/>
          <p:cNvSpPr>
            <a:spLocks noGrp="1"/>
          </p:cNvSpPr>
          <p:nvPr>
            <p:ph idx="1"/>
          </p:nvPr>
        </p:nvSpPr>
        <p:spPr>
          <a:xfrm>
            <a:off x="990600" y="1600200"/>
            <a:ext cx="8077200" cy="5105400"/>
          </a:xfrm>
        </p:spPr>
        <p:txBody>
          <a:bodyPr>
            <a:normAutofit lnSpcReduction="10000"/>
          </a:bodyPr>
          <a:lstStyle/>
          <a:p>
            <a:pPr marL="365125" indent="-365125">
              <a:buFont typeface="Courier New" pitchFamily="49" charset="0"/>
              <a:buChar char="o"/>
            </a:pPr>
            <a:r>
              <a:rPr lang="en-US" sz="2400" dirty="0" smtClean="0"/>
              <a:t>The pulseoxymetry estimates SpO</a:t>
            </a:r>
            <a:r>
              <a:rPr lang="en-US" sz="2400" baseline="-25000" dirty="0" smtClean="0"/>
              <a:t>2</a:t>
            </a:r>
            <a:r>
              <a:rPr lang="en-US" sz="2400" dirty="0" smtClean="0"/>
              <a:t> from the </a:t>
            </a:r>
            <a:r>
              <a:rPr lang="en-US" sz="2400" dirty="0" smtClean="0">
                <a:solidFill>
                  <a:srgbClr val="0070C0"/>
                </a:solidFill>
              </a:rPr>
              <a:t>differential absorption</a:t>
            </a:r>
            <a:r>
              <a:rPr lang="en-US" sz="2400" dirty="0" smtClean="0"/>
              <a:t> of </a:t>
            </a:r>
            <a:r>
              <a:rPr lang="en-US" sz="2400" dirty="0" smtClean="0">
                <a:solidFill>
                  <a:srgbClr val="0070C0"/>
                </a:solidFill>
              </a:rPr>
              <a:t>red</a:t>
            </a:r>
            <a:r>
              <a:rPr lang="en-US" sz="2400" dirty="0" smtClean="0"/>
              <a:t> and </a:t>
            </a:r>
            <a:r>
              <a:rPr lang="en-US" sz="2400" dirty="0" smtClean="0">
                <a:solidFill>
                  <a:srgbClr val="0070C0"/>
                </a:solidFill>
              </a:rPr>
              <a:t>infrared</a:t>
            </a:r>
            <a:r>
              <a:rPr lang="en-US" sz="2400" dirty="0" smtClean="0"/>
              <a:t> light in tissue.</a:t>
            </a:r>
          </a:p>
          <a:p>
            <a:pPr marL="365125" indent="-365125">
              <a:buFont typeface="Courier New" pitchFamily="49" charset="0"/>
              <a:buChar char="o"/>
            </a:pPr>
            <a:r>
              <a:rPr lang="en-US" sz="2400" dirty="0" smtClean="0"/>
              <a:t>The two wavelengths allow differentiation of reduced hemoglobin and oxyhemoglobin. </a:t>
            </a:r>
          </a:p>
          <a:p>
            <a:pPr marL="365125" indent="-365125">
              <a:buFont typeface="Courier New" pitchFamily="49" charset="0"/>
              <a:buChar char="o"/>
            </a:pPr>
            <a:r>
              <a:rPr lang="en-US" sz="2400" dirty="0" smtClean="0">
                <a:solidFill>
                  <a:srgbClr val="0070C0"/>
                </a:solidFill>
              </a:rPr>
              <a:t>Reduced</a:t>
            </a:r>
            <a:r>
              <a:rPr lang="en-US" sz="2400" dirty="0" smtClean="0"/>
              <a:t> hemoglobin absorbs more light in the </a:t>
            </a:r>
            <a:r>
              <a:rPr lang="en-US" sz="2400" dirty="0" smtClean="0">
                <a:solidFill>
                  <a:srgbClr val="0070C0"/>
                </a:solidFill>
              </a:rPr>
              <a:t>red</a:t>
            </a:r>
            <a:r>
              <a:rPr lang="en-US" sz="2400" dirty="0" smtClean="0"/>
              <a:t> band than oxyhemoglobin while the </a:t>
            </a:r>
            <a:r>
              <a:rPr lang="en-US" sz="2400" dirty="0" smtClean="0">
                <a:solidFill>
                  <a:srgbClr val="0070C0"/>
                </a:solidFill>
              </a:rPr>
              <a:t>oxyhemoglobin</a:t>
            </a:r>
            <a:r>
              <a:rPr lang="en-US" sz="2400" dirty="0" smtClean="0"/>
              <a:t> absorbs more light in the </a:t>
            </a:r>
            <a:r>
              <a:rPr lang="en-US" sz="2400" dirty="0" smtClean="0">
                <a:solidFill>
                  <a:srgbClr val="0070C0"/>
                </a:solidFill>
              </a:rPr>
              <a:t>infrared</a:t>
            </a:r>
            <a:r>
              <a:rPr lang="en-US" sz="2400" dirty="0" smtClean="0"/>
              <a:t> band. </a:t>
            </a:r>
          </a:p>
          <a:p>
            <a:pPr marL="365125" indent="-365125">
              <a:buFont typeface="Courier New" pitchFamily="49" charset="0"/>
              <a:buChar char="o"/>
            </a:pPr>
            <a:r>
              <a:rPr lang="en-US" sz="2400" dirty="0" smtClean="0"/>
              <a:t>The pulseoxymetry computes the </a:t>
            </a:r>
            <a:r>
              <a:rPr lang="en-US" sz="2400" dirty="0" smtClean="0">
                <a:solidFill>
                  <a:srgbClr val="0070C0"/>
                </a:solidFill>
              </a:rPr>
              <a:t>ratio</a:t>
            </a:r>
            <a:r>
              <a:rPr lang="en-US" sz="2400" dirty="0" smtClean="0"/>
              <a:t> between these two signals and relates this ratio to the arterial oxygen saturation, using an empirical algorithm.</a:t>
            </a:r>
          </a:p>
          <a:p>
            <a:pPr marL="365125" indent="-365125">
              <a:buFont typeface="Courier New" pitchFamily="49" charset="0"/>
              <a:buChar char="o"/>
            </a:pPr>
            <a:r>
              <a:rPr lang="en-US" sz="2400" dirty="0" smtClean="0"/>
              <a:t>Pulseoxymetry discriminates between arterial blood and other components by determining the change in transmitted light caused by the flow of arterial blood. </a:t>
            </a:r>
          </a:p>
          <a:p>
            <a:pPr marL="365125" indent="-365125">
              <a:buFont typeface="Courier New" pitchFamily="49" charset="0"/>
              <a:buChar char="o"/>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09600"/>
            <a:ext cx="6172200" cy="457200"/>
          </a:xfrm>
        </p:spPr>
        <p:style>
          <a:lnRef idx="2">
            <a:schemeClr val="accent2"/>
          </a:lnRef>
          <a:fillRef idx="1">
            <a:schemeClr val="lt1"/>
          </a:fillRef>
          <a:effectRef idx="0">
            <a:schemeClr val="accent2"/>
          </a:effectRef>
          <a:fontRef idx="minor">
            <a:schemeClr val="dk1"/>
          </a:fontRef>
        </p:style>
        <p:txBody>
          <a:bodyPr>
            <a:noAutofit/>
          </a:bodyPr>
          <a:lstStyle/>
          <a:p>
            <a:r>
              <a:rPr lang="en-US" sz="2400" dirty="0" smtClean="0">
                <a:solidFill>
                  <a:srgbClr val="0070C0"/>
                </a:solidFill>
                <a:effectLst/>
              </a:rPr>
              <a:t>Absorbance of light as a function of wavelength.</a:t>
            </a:r>
            <a:endParaRPr lang="en-US" sz="2400" dirty="0">
              <a:solidFill>
                <a:srgbClr val="0070C0"/>
              </a:solidFill>
              <a:effectLst/>
            </a:endParaRPr>
          </a:p>
        </p:txBody>
      </p:sp>
      <p:sp>
        <p:nvSpPr>
          <p:cNvPr id="3" name="Content Placeholder 2"/>
          <p:cNvSpPr>
            <a:spLocks noGrp="1"/>
          </p:cNvSpPr>
          <p:nvPr>
            <p:ph idx="1"/>
          </p:nvPr>
        </p:nvSpPr>
        <p:spPr>
          <a:xfrm>
            <a:off x="990600" y="1676400"/>
            <a:ext cx="2514600" cy="4800600"/>
          </a:xfrm>
        </p:spPr>
        <p:txBody>
          <a:bodyPr>
            <a:normAutofit/>
          </a:bodyPr>
          <a:lstStyle/>
          <a:p>
            <a:pPr>
              <a:buFont typeface="Courier New" pitchFamily="49" charset="0"/>
              <a:buChar char="o"/>
            </a:pPr>
            <a:r>
              <a:rPr lang="en-US" sz="2200" dirty="0" smtClean="0"/>
              <a:t>At the red wavelengths </a:t>
            </a:r>
            <a:r>
              <a:rPr lang="en-US" sz="2200" dirty="0" smtClean="0">
                <a:solidFill>
                  <a:srgbClr val="0070C0"/>
                </a:solidFill>
              </a:rPr>
              <a:t>(650 to 750 nm)</a:t>
            </a:r>
            <a:r>
              <a:rPr lang="en-US" sz="2200" dirty="0" smtClean="0"/>
              <a:t>, </a:t>
            </a:r>
            <a:r>
              <a:rPr lang="en-US" sz="2200" dirty="0" smtClean="0">
                <a:solidFill>
                  <a:srgbClr val="0070C0"/>
                </a:solidFill>
              </a:rPr>
              <a:t>reduced hemoglobin</a:t>
            </a:r>
            <a:r>
              <a:rPr lang="en-US" sz="2200" dirty="0" smtClean="0"/>
              <a:t> absorbs more light than does oxyhemoglobin. </a:t>
            </a:r>
          </a:p>
          <a:p>
            <a:pPr>
              <a:buFont typeface="Courier New" pitchFamily="49" charset="0"/>
              <a:buChar char="o"/>
            </a:pPr>
            <a:r>
              <a:rPr lang="en-US" sz="2200" dirty="0" smtClean="0"/>
              <a:t>In the </a:t>
            </a:r>
            <a:r>
              <a:rPr lang="en-US" sz="2200" dirty="0" smtClean="0">
                <a:solidFill>
                  <a:srgbClr val="0070C0"/>
                </a:solidFill>
              </a:rPr>
              <a:t>infrared region (900 to 1000 nm)</a:t>
            </a:r>
            <a:r>
              <a:rPr lang="en-US" sz="2200" dirty="0" smtClean="0"/>
              <a:t>, the </a:t>
            </a:r>
            <a:r>
              <a:rPr lang="en-US" sz="2200" dirty="0" smtClean="0">
                <a:solidFill>
                  <a:srgbClr val="0070C0"/>
                </a:solidFill>
              </a:rPr>
              <a:t>reverse</a:t>
            </a:r>
            <a:r>
              <a:rPr lang="en-US" sz="2200" dirty="0" smtClean="0"/>
              <a:t> is true.</a:t>
            </a:r>
            <a:endParaRPr lang="en-US" sz="2200" dirty="0"/>
          </a:p>
        </p:txBody>
      </p:sp>
      <p:pic>
        <p:nvPicPr>
          <p:cNvPr id="1026" name="Picture 2" descr="D:\Mine Files\My Pictures\New Picture.bmp"/>
          <p:cNvPicPr>
            <a:picLocks noChangeAspect="1" noChangeArrowheads="1"/>
          </p:cNvPicPr>
          <p:nvPr/>
        </p:nvPicPr>
        <p:blipFill>
          <a:blip r:embed="rId2"/>
          <a:srcRect/>
          <a:stretch>
            <a:fillRect/>
          </a:stretch>
        </p:blipFill>
        <p:spPr bwMode="auto">
          <a:xfrm>
            <a:off x="3733800" y="1295400"/>
            <a:ext cx="5334000" cy="551973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5" name="Text Box 5"/>
          <p:cNvSpPr txBox="1">
            <a:spLocks noChangeArrowheads="1"/>
          </p:cNvSpPr>
          <p:nvPr/>
        </p:nvSpPr>
        <p:spPr bwMode="auto">
          <a:xfrm>
            <a:off x="1078677" y="609600"/>
            <a:ext cx="2350323" cy="5232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GB" sz="2800" dirty="0" smtClean="0">
                <a:solidFill>
                  <a:srgbClr val="0070C0"/>
                </a:solidFill>
              </a:rPr>
              <a:t>Components</a:t>
            </a:r>
            <a:endParaRPr lang="en-GB" sz="2800" dirty="0">
              <a:solidFill>
                <a:srgbClr val="0070C0"/>
              </a:solidFill>
            </a:endParaRPr>
          </a:p>
        </p:txBody>
      </p:sp>
      <p:grpSp>
        <p:nvGrpSpPr>
          <p:cNvPr id="2" name="Group 15"/>
          <p:cNvGrpSpPr>
            <a:grpSpLocks/>
          </p:cNvGrpSpPr>
          <p:nvPr/>
        </p:nvGrpSpPr>
        <p:grpSpPr bwMode="auto">
          <a:xfrm>
            <a:off x="1557338" y="3448050"/>
            <a:ext cx="2847975" cy="933450"/>
            <a:chOff x="710" y="1317"/>
            <a:chExt cx="2568" cy="829"/>
          </a:xfrm>
        </p:grpSpPr>
        <p:sp>
          <p:nvSpPr>
            <p:cNvPr id="40969" name="Freeform 9"/>
            <p:cNvSpPr>
              <a:spLocks/>
            </p:cNvSpPr>
            <p:nvPr/>
          </p:nvSpPr>
          <p:spPr bwMode="auto">
            <a:xfrm>
              <a:off x="710" y="1317"/>
              <a:ext cx="2568" cy="829"/>
            </a:xfrm>
            <a:custGeom>
              <a:avLst/>
              <a:gdLst/>
              <a:ahLst/>
              <a:cxnLst>
                <a:cxn ang="0">
                  <a:pos x="39" y="65"/>
                </a:cxn>
                <a:cxn ang="0">
                  <a:pos x="580" y="77"/>
                </a:cxn>
                <a:cxn ang="0">
                  <a:pos x="1341" y="65"/>
                </a:cxn>
                <a:cxn ang="0">
                  <a:pos x="1375" y="77"/>
                </a:cxn>
                <a:cxn ang="0">
                  <a:pos x="1444" y="123"/>
                </a:cxn>
                <a:cxn ang="0">
                  <a:pos x="1502" y="169"/>
                </a:cxn>
                <a:cxn ang="0">
                  <a:pos x="1559" y="215"/>
                </a:cxn>
                <a:cxn ang="0">
                  <a:pos x="1951" y="261"/>
                </a:cxn>
                <a:cxn ang="0">
                  <a:pos x="2262" y="273"/>
                </a:cxn>
                <a:cxn ang="0">
                  <a:pos x="2354" y="250"/>
                </a:cxn>
                <a:cxn ang="0">
                  <a:pos x="2493" y="169"/>
                </a:cxn>
                <a:cxn ang="0">
                  <a:pos x="2539" y="342"/>
                </a:cxn>
                <a:cxn ang="0">
                  <a:pos x="2470" y="572"/>
                </a:cxn>
                <a:cxn ang="0">
                  <a:pos x="2066" y="699"/>
                </a:cxn>
                <a:cxn ang="0">
                  <a:pos x="1870" y="722"/>
                </a:cxn>
                <a:cxn ang="0">
                  <a:pos x="834" y="734"/>
                </a:cxn>
                <a:cxn ang="0">
                  <a:pos x="695" y="664"/>
                </a:cxn>
                <a:cxn ang="0">
                  <a:pos x="396" y="687"/>
                </a:cxn>
                <a:cxn ang="0">
                  <a:pos x="189" y="768"/>
                </a:cxn>
                <a:cxn ang="0">
                  <a:pos x="39" y="780"/>
                </a:cxn>
                <a:cxn ang="0">
                  <a:pos x="4" y="803"/>
                </a:cxn>
              </a:cxnLst>
              <a:rect l="0" t="0" r="r" b="b"/>
              <a:pathLst>
                <a:path w="2568" h="829">
                  <a:moveTo>
                    <a:pt x="39" y="65"/>
                  </a:moveTo>
                  <a:cubicBezTo>
                    <a:pt x="258" y="88"/>
                    <a:pt x="290" y="85"/>
                    <a:pt x="580" y="77"/>
                  </a:cubicBezTo>
                  <a:cubicBezTo>
                    <a:pt x="888" y="0"/>
                    <a:pt x="640" y="53"/>
                    <a:pt x="1341" y="65"/>
                  </a:cubicBezTo>
                  <a:cubicBezTo>
                    <a:pt x="1352" y="69"/>
                    <a:pt x="1365" y="71"/>
                    <a:pt x="1375" y="77"/>
                  </a:cubicBezTo>
                  <a:cubicBezTo>
                    <a:pt x="1399" y="91"/>
                    <a:pt x="1444" y="123"/>
                    <a:pt x="1444" y="123"/>
                  </a:cubicBezTo>
                  <a:cubicBezTo>
                    <a:pt x="1510" y="223"/>
                    <a:pt x="1422" y="105"/>
                    <a:pt x="1502" y="169"/>
                  </a:cubicBezTo>
                  <a:cubicBezTo>
                    <a:pt x="1577" y="229"/>
                    <a:pt x="1473" y="187"/>
                    <a:pt x="1559" y="215"/>
                  </a:cubicBezTo>
                  <a:cubicBezTo>
                    <a:pt x="1674" y="290"/>
                    <a:pt x="1816" y="256"/>
                    <a:pt x="1951" y="261"/>
                  </a:cubicBezTo>
                  <a:cubicBezTo>
                    <a:pt x="2059" y="289"/>
                    <a:pt x="2151" y="281"/>
                    <a:pt x="2262" y="273"/>
                  </a:cubicBezTo>
                  <a:cubicBezTo>
                    <a:pt x="2274" y="271"/>
                    <a:pt x="2336" y="260"/>
                    <a:pt x="2354" y="250"/>
                  </a:cubicBezTo>
                  <a:cubicBezTo>
                    <a:pt x="2405" y="222"/>
                    <a:pt x="2439" y="188"/>
                    <a:pt x="2493" y="169"/>
                  </a:cubicBezTo>
                  <a:cubicBezTo>
                    <a:pt x="2533" y="230"/>
                    <a:pt x="2530" y="261"/>
                    <a:pt x="2539" y="342"/>
                  </a:cubicBezTo>
                  <a:cubicBezTo>
                    <a:pt x="2533" y="439"/>
                    <a:pt x="2568" y="540"/>
                    <a:pt x="2470" y="572"/>
                  </a:cubicBezTo>
                  <a:cubicBezTo>
                    <a:pt x="2375" y="635"/>
                    <a:pt x="2181" y="684"/>
                    <a:pt x="2066" y="699"/>
                  </a:cubicBezTo>
                  <a:cubicBezTo>
                    <a:pt x="2001" y="707"/>
                    <a:pt x="1870" y="722"/>
                    <a:pt x="1870" y="722"/>
                  </a:cubicBezTo>
                  <a:cubicBezTo>
                    <a:pt x="1567" y="829"/>
                    <a:pt x="871" y="734"/>
                    <a:pt x="834" y="734"/>
                  </a:cubicBezTo>
                  <a:cubicBezTo>
                    <a:pt x="783" y="717"/>
                    <a:pt x="746" y="681"/>
                    <a:pt x="695" y="664"/>
                  </a:cubicBezTo>
                  <a:cubicBezTo>
                    <a:pt x="648" y="666"/>
                    <a:pt x="481" y="664"/>
                    <a:pt x="396" y="687"/>
                  </a:cubicBezTo>
                  <a:cubicBezTo>
                    <a:pt x="324" y="707"/>
                    <a:pt x="261" y="745"/>
                    <a:pt x="189" y="768"/>
                  </a:cubicBezTo>
                  <a:cubicBezTo>
                    <a:pt x="141" y="783"/>
                    <a:pt x="89" y="776"/>
                    <a:pt x="39" y="780"/>
                  </a:cubicBezTo>
                  <a:cubicBezTo>
                    <a:pt x="0" y="792"/>
                    <a:pt x="4" y="779"/>
                    <a:pt x="4" y="803"/>
                  </a:cubicBezTo>
                </a:path>
              </a:pathLst>
            </a:custGeom>
            <a:solidFill>
              <a:srgbClr val="FF0000"/>
            </a:solidFill>
            <a:ln w="28575" cmpd="sng">
              <a:solidFill>
                <a:schemeClr val="tx1"/>
              </a:solidFill>
              <a:round/>
              <a:headEnd/>
              <a:tailEnd/>
            </a:ln>
            <a:effectLst/>
          </p:spPr>
          <p:txBody>
            <a:bodyPr/>
            <a:lstStyle/>
            <a:p>
              <a:endParaRPr lang="en-US"/>
            </a:p>
          </p:txBody>
        </p:sp>
        <p:sp>
          <p:nvSpPr>
            <p:cNvPr id="40971" name="Freeform 11"/>
            <p:cNvSpPr>
              <a:spLocks/>
            </p:cNvSpPr>
            <p:nvPr/>
          </p:nvSpPr>
          <p:spPr bwMode="auto">
            <a:xfrm>
              <a:off x="2120" y="1377"/>
              <a:ext cx="1060" cy="109"/>
            </a:xfrm>
            <a:custGeom>
              <a:avLst/>
              <a:gdLst/>
              <a:ahLst/>
              <a:cxnLst>
                <a:cxn ang="0">
                  <a:pos x="0" y="17"/>
                </a:cxn>
                <a:cxn ang="0">
                  <a:pos x="910" y="63"/>
                </a:cxn>
                <a:cxn ang="0">
                  <a:pos x="990" y="86"/>
                </a:cxn>
                <a:cxn ang="0">
                  <a:pos x="1060" y="109"/>
                </a:cxn>
              </a:cxnLst>
              <a:rect l="0" t="0" r="r" b="b"/>
              <a:pathLst>
                <a:path w="1060" h="109">
                  <a:moveTo>
                    <a:pt x="0" y="17"/>
                  </a:moveTo>
                  <a:cubicBezTo>
                    <a:pt x="734" y="27"/>
                    <a:pt x="547" y="0"/>
                    <a:pt x="910" y="63"/>
                  </a:cubicBezTo>
                  <a:cubicBezTo>
                    <a:pt x="999" y="94"/>
                    <a:pt x="880" y="54"/>
                    <a:pt x="990" y="86"/>
                  </a:cubicBezTo>
                  <a:cubicBezTo>
                    <a:pt x="1014" y="93"/>
                    <a:pt x="1060" y="109"/>
                    <a:pt x="1060" y="109"/>
                  </a:cubicBezTo>
                </a:path>
              </a:pathLst>
            </a:custGeom>
            <a:noFill/>
            <a:ln w="28575" cmpd="sng">
              <a:solidFill>
                <a:schemeClr val="tx1"/>
              </a:solidFill>
              <a:round/>
              <a:headEnd/>
              <a:tailEnd/>
            </a:ln>
            <a:effectLst/>
          </p:spPr>
          <p:txBody>
            <a:bodyPr/>
            <a:lstStyle/>
            <a:p>
              <a:endParaRPr lang="en-US"/>
            </a:p>
          </p:txBody>
        </p:sp>
        <p:sp>
          <p:nvSpPr>
            <p:cNvPr id="40972" name="Freeform 12"/>
            <p:cNvSpPr>
              <a:spLocks/>
            </p:cNvSpPr>
            <p:nvPr/>
          </p:nvSpPr>
          <p:spPr bwMode="auto">
            <a:xfrm>
              <a:off x="1175" y="1475"/>
              <a:ext cx="23" cy="149"/>
            </a:xfrm>
            <a:custGeom>
              <a:avLst/>
              <a:gdLst/>
              <a:ahLst/>
              <a:cxnLst>
                <a:cxn ang="0">
                  <a:pos x="23" y="0"/>
                </a:cxn>
                <a:cxn ang="0">
                  <a:pos x="12" y="149"/>
                </a:cxn>
              </a:cxnLst>
              <a:rect l="0" t="0" r="r" b="b"/>
              <a:pathLst>
                <a:path w="23" h="149">
                  <a:moveTo>
                    <a:pt x="23" y="0"/>
                  </a:moveTo>
                  <a:cubicBezTo>
                    <a:pt x="0" y="70"/>
                    <a:pt x="12" y="22"/>
                    <a:pt x="12" y="149"/>
                  </a:cubicBezTo>
                </a:path>
              </a:pathLst>
            </a:custGeom>
            <a:noFill/>
            <a:ln w="28575" cmpd="sng">
              <a:solidFill>
                <a:schemeClr val="tx1"/>
              </a:solidFill>
              <a:round/>
              <a:headEnd/>
              <a:tailEnd/>
            </a:ln>
            <a:effectLst/>
          </p:spPr>
          <p:txBody>
            <a:bodyPr/>
            <a:lstStyle/>
            <a:p>
              <a:endParaRPr lang="en-US"/>
            </a:p>
          </p:txBody>
        </p:sp>
        <p:sp>
          <p:nvSpPr>
            <p:cNvPr id="40973" name="Freeform 13"/>
            <p:cNvSpPr>
              <a:spLocks/>
            </p:cNvSpPr>
            <p:nvPr/>
          </p:nvSpPr>
          <p:spPr bwMode="auto">
            <a:xfrm>
              <a:off x="1302" y="1417"/>
              <a:ext cx="21" cy="196"/>
            </a:xfrm>
            <a:custGeom>
              <a:avLst/>
              <a:gdLst/>
              <a:ahLst/>
              <a:cxnLst>
                <a:cxn ang="0">
                  <a:pos x="0" y="0"/>
                </a:cxn>
                <a:cxn ang="0">
                  <a:pos x="0" y="196"/>
                </a:cxn>
              </a:cxnLst>
              <a:rect l="0" t="0" r="r" b="b"/>
              <a:pathLst>
                <a:path w="21" h="196">
                  <a:moveTo>
                    <a:pt x="0" y="0"/>
                  </a:moveTo>
                  <a:cubicBezTo>
                    <a:pt x="21" y="66"/>
                    <a:pt x="0" y="126"/>
                    <a:pt x="0" y="196"/>
                  </a:cubicBezTo>
                </a:path>
              </a:pathLst>
            </a:custGeom>
            <a:noFill/>
            <a:ln w="28575" cmpd="sng">
              <a:solidFill>
                <a:schemeClr val="tx1"/>
              </a:solidFill>
              <a:round/>
              <a:headEnd/>
              <a:tailEnd/>
            </a:ln>
            <a:effectLst/>
          </p:spPr>
          <p:txBody>
            <a:bodyPr/>
            <a:lstStyle/>
            <a:p>
              <a:endParaRPr lang="en-US"/>
            </a:p>
          </p:txBody>
        </p:sp>
        <p:sp>
          <p:nvSpPr>
            <p:cNvPr id="40974" name="Freeform 14"/>
            <p:cNvSpPr>
              <a:spLocks/>
            </p:cNvSpPr>
            <p:nvPr/>
          </p:nvSpPr>
          <p:spPr bwMode="auto">
            <a:xfrm>
              <a:off x="1140" y="1774"/>
              <a:ext cx="104" cy="150"/>
            </a:xfrm>
            <a:custGeom>
              <a:avLst/>
              <a:gdLst/>
              <a:ahLst/>
              <a:cxnLst>
                <a:cxn ang="0">
                  <a:pos x="0" y="0"/>
                </a:cxn>
                <a:cxn ang="0">
                  <a:pos x="47" y="104"/>
                </a:cxn>
                <a:cxn ang="0">
                  <a:pos x="104" y="150"/>
                </a:cxn>
              </a:cxnLst>
              <a:rect l="0" t="0" r="r" b="b"/>
              <a:pathLst>
                <a:path w="104" h="150">
                  <a:moveTo>
                    <a:pt x="0" y="0"/>
                  </a:moveTo>
                  <a:cubicBezTo>
                    <a:pt x="11" y="33"/>
                    <a:pt x="20" y="77"/>
                    <a:pt x="47" y="104"/>
                  </a:cubicBezTo>
                  <a:cubicBezTo>
                    <a:pt x="64" y="121"/>
                    <a:pt x="87" y="133"/>
                    <a:pt x="104" y="150"/>
                  </a:cubicBezTo>
                </a:path>
              </a:pathLst>
            </a:custGeom>
            <a:noFill/>
            <a:ln w="28575" cmpd="sng">
              <a:solidFill>
                <a:schemeClr val="tx1"/>
              </a:solidFill>
              <a:round/>
              <a:headEnd/>
              <a:tailEnd/>
            </a:ln>
            <a:effectLst/>
          </p:spPr>
          <p:txBody>
            <a:bodyPr/>
            <a:lstStyle/>
            <a:p>
              <a:endParaRPr lang="en-US"/>
            </a:p>
          </p:txBody>
        </p:sp>
      </p:grpSp>
      <p:sp>
        <p:nvSpPr>
          <p:cNvPr id="40976" name="Line 16"/>
          <p:cNvSpPr>
            <a:spLocks noChangeShapeType="1"/>
          </p:cNvSpPr>
          <p:nvPr/>
        </p:nvSpPr>
        <p:spPr bwMode="auto">
          <a:xfrm flipV="1">
            <a:off x="3630613" y="4337050"/>
            <a:ext cx="0" cy="360363"/>
          </a:xfrm>
          <a:prstGeom prst="line">
            <a:avLst/>
          </a:prstGeom>
          <a:noFill/>
          <a:ln w="28575">
            <a:solidFill>
              <a:schemeClr val="tx1"/>
            </a:solidFill>
            <a:round/>
            <a:headEnd/>
            <a:tailEnd type="arrow" w="lg" len="lg"/>
          </a:ln>
          <a:effectLst/>
        </p:spPr>
        <p:txBody>
          <a:bodyPr/>
          <a:lstStyle/>
          <a:p>
            <a:endParaRPr lang="en-US"/>
          </a:p>
        </p:txBody>
      </p:sp>
      <p:sp>
        <p:nvSpPr>
          <p:cNvPr id="40978" name="Line 18"/>
          <p:cNvSpPr>
            <a:spLocks noChangeShapeType="1"/>
          </p:cNvSpPr>
          <p:nvPr/>
        </p:nvSpPr>
        <p:spPr bwMode="auto">
          <a:xfrm flipV="1">
            <a:off x="3630613" y="3136900"/>
            <a:ext cx="0" cy="358775"/>
          </a:xfrm>
          <a:prstGeom prst="line">
            <a:avLst/>
          </a:prstGeom>
          <a:noFill/>
          <a:ln w="25400">
            <a:solidFill>
              <a:schemeClr val="tx1"/>
            </a:solidFill>
            <a:round/>
            <a:headEnd/>
            <a:tailEnd type="arrow" w="lg" len="lg"/>
          </a:ln>
          <a:effectLst/>
        </p:spPr>
        <p:txBody>
          <a:bodyPr/>
          <a:lstStyle/>
          <a:p>
            <a:endParaRPr lang="en-US"/>
          </a:p>
        </p:txBody>
      </p:sp>
      <p:sp>
        <p:nvSpPr>
          <p:cNvPr id="40979" name="Oval 19"/>
          <p:cNvSpPr>
            <a:spLocks noChangeArrowheads="1"/>
          </p:cNvSpPr>
          <p:nvPr/>
        </p:nvSpPr>
        <p:spPr bwMode="auto">
          <a:xfrm>
            <a:off x="2897188" y="4713288"/>
            <a:ext cx="668337" cy="733425"/>
          </a:xfrm>
          <a:prstGeom prst="ellipse">
            <a:avLst/>
          </a:prstGeom>
          <a:noFill/>
          <a:ln w="28575">
            <a:solidFill>
              <a:schemeClr val="tx1"/>
            </a:solidFill>
            <a:round/>
            <a:headEnd/>
            <a:tailEnd/>
          </a:ln>
          <a:effectLst/>
        </p:spPr>
        <p:txBody>
          <a:bodyPr wrap="none" anchor="ctr"/>
          <a:lstStyle/>
          <a:p>
            <a:endParaRPr lang="en-US"/>
          </a:p>
        </p:txBody>
      </p:sp>
      <p:sp>
        <p:nvSpPr>
          <p:cNvPr id="40980" name="Oval 20"/>
          <p:cNvSpPr>
            <a:spLocks noChangeArrowheads="1"/>
          </p:cNvSpPr>
          <p:nvPr/>
        </p:nvSpPr>
        <p:spPr bwMode="auto">
          <a:xfrm>
            <a:off x="3644900" y="4713288"/>
            <a:ext cx="668338" cy="733425"/>
          </a:xfrm>
          <a:prstGeom prst="ellipse">
            <a:avLst/>
          </a:prstGeom>
          <a:noFill/>
          <a:ln w="28575">
            <a:solidFill>
              <a:schemeClr val="tx1"/>
            </a:solidFill>
            <a:round/>
            <a:headEnd/>
            <a:tailEnd/>
          </a:ln>
          <a:effectLst/>
        </p:spPr>
        <p:txBody>
          <a:bodyPr wrap="none" anchor="ctr"/>
          <a:lstStyle/>
          <a:p>
            <a:endParaRPr lang="en-US"/>
          </a:p>
        </p:txBody>
      </p:sp>
      <p:sp>
        <p:nvSpPr>
          <p:cNvPr id="40981" name="Rectangle 21"/>
          <p:cNvSpPr>
            <a:spLocks noChangeArrowheads="1"/>
          </p:cNvSpPr>
          <p:nvPr/>
        </p:nvSpPr>
        <p:spPr bwMode="auto">
          <a:xfrm>
            <a:off x="1909763" y="2593975"/>
            <a:ext cx="2909887" cy="504825"/>
          </a:xfrm>
          <a:prstGeom prst="rect">
            <a:avLst/>
          </a:prstGeom>
          <a:noFill/>
          <a:ln w="28575">
            <a:solidFill>
              <a:schemeClr val="tx1"/>
            </a:solidFill>
            <a:miter lim="800000"/>
            <a:headEnd/>
            <a:tailEnd/>
          </a:ln>
          <a:effectLst/>
        </p:spPr>
        <p:txBody>
          <a:bodyPr wrap="none" anchor="ctr"/>
          <a:lstStyle/>
          <a:p>
            <a:endParaRPr lang="en-US"/>
          </a:p>
        </p:txBody>
      </p:sp>
      <p:sp>
        <p:nvSpPr>
          <p:cNvPr id="40982" name="Line 22"/>
          <p:cNvSpPr>
            <a:spLocks noChangeShapeType="1"/>
          </p:cNvSpPr>
          <p:nvPr/>
        </p:nvSpPr>
        <p:spPr bwMode="auto">
          <a:xfrm rot="5400000" flipV="1">
            <a:off x="5207001" y="2554287"/>
            <a:ext cx="0" cy="441325"/>
          </a:xfrm>
          <a:prstGeom prst="line">
            <a:avLst/>
          </a:prstGeom>
          <a:noFill/>
          <a:ln w="28575">
            <a:solidFill>
              <a:schemeClr val="tx1"/>
            </a:solidFill>
            <a:round/>
            <a:headEnd/>
            <a:tailEnd type="arrow" w="lg" len="lg"/>
          </a:ln>
          <a:effectLst/>
        </p:spPr>
        <p:txBody>
          <a:bodyPr/>
          <a:lstStyle/>
          <a:p>
            <a:endParaRPr lang="en-US"/>
          </a:p>
        </p:txBody>
      </p:sp>
      <p:sp>
        <p:nvSpPr>
          <p:cNvPr id="40984" name="Rectangle 24"/>
          <p:cNvSpPr>
            <a:spLocks noChangeArrowheads="1"/>
          </p:cNvSpPr>
          <p:nvPr/>
        </p:nvSpPr>
        <p:spPr bwMode="auto">
          <a:xfrm>
            <a:off x="5559425" y="2589213"/>
            <a:ext cx="2911475" cy="506412"/>
          </a:xfrm>
          <a:prstGeom prst="rect">
            <a:avLst/>
          </a:prstGeom>
          <a:noFill/>
          <a:ln w="28575">
            <a:solidFill>
              <a:schemeClr val="tx1"/>
            </a:solidFill>
            <a:miter lim="800000"/>
            <a:headEnd/>
            <a:tailEnd/>
          </a:ln>
          <a:effectLst/>
        </p:spPr>
        <p:txBody>
          <a:bodyPr wrap="none" anchor="ctr"/>
          <a:lstStyle/>
          <a:p>
            <a:endParaRPr lang="en-US"/>
          </a:p>
        </p:txBody>
      </p:sp>
      <p:sp>
        <p:nvSpPr>
          <p:cNvPr id="40985" name="Text Box 25"/>
          <p:cNvSpPr txBox="1">
            <a:spLocks noChangeArrowheads="1"/>
          </p:cNvSpPr>
          <p:nvPr/>
        </p:nvSpPr>
        <p:spPr bwMode="auto">
          <a:xfrm>
            <a:off x="2927350" y="4794250"/>
            <a:ext cx="608013" cy="701675"/>
          </a:xfrm>
          <a:prstGeom prst="rect">
            <a:avLst/>
          </a:prstGeom>
          <a:noFill/>
          <a:ln w="9525">
            <a:noFill/>
            <a:miter lim="800000"/>
            <a:headEnd/>
            <a:tailEnd/>
          </a:ln>
          <a:effectLst/>
        </p:spPr>
        <p:txBody>
          <a:bodyPr wrap="none">
            <a:spAutoFit/>
          </a:bodyPr>
          <a:lstStyle/>
          <a:p>
            <a:r>
              <a:rPr lang="en-GB" sz="2000" dirty="0"/>
              <a:t>660</a:t>
            </a:r>
          </a:p>
          <a:p>
            <a:r>
              <a:rPr lang="en-GB" sz="2000" dirty="0"/>
              <a:t>nm</a:t>
            </a:r>
          </a:p>
        </p:txBody>
      </p:sp>
      <p:sp>
        <p:nvSpPr>
          <p:cNvPr id="40986" name="Text Box 26"/>
          <p:cNvSpPr txBox="1">
            <a:spLocks noChangeArrowheads="1"/>
          </p:cNvSpPr>
          <p:nvPr/>
        </p:nvSpPr>
        <p:spPr bwMode="auto">
          <a:xfrm>
            <a:off x="3675063" y="4794250"/>
            <a:ext cx="608012" cy="701675"/>
          </a:xfrm>
          <a:prstGeom prst="rect">
            <a:avLst/>
          </a:prstGeom>
          <a:noFill/>
          <a:ln w="9525">
            <a:noFill/>
            <a:miter lim="800000"/>
            <a:headEnd/>
            <a:tailEnd/>
          </a:ln>
          <a:effectLst/>
        </p:spPr>
        <p:txBody>
          <a:bodyPr wrap="none">
            <a:spAutoFit/>
          </a:bodyPr>
          <a:lstStyle/>
          <a:p>
            <a:r>
              <a:rPr lang="en-GB" sz="2000"/>
              <a:t>940</a:t>
            </a:r>
          </a:p>
          <a:p>
            <a:r>
              <a:rPr lang="en-GB" sz="2000"/>
              <a:t>nm</a:t>
            </a:r>
          </a:p>
        </p:txBody>
      </p:sp>
      <p:sp>
        <p:nvSpPr>
          <p:cNvPr id="40987" name="Text Box 27"/>
          <p:cNvSpPr txBox="1">
            <a:spLocks noChangeArrowheads="1"/>
          </p:cNvSpPr>
          <p:nvPr/>
        </p:nvSpPr>
        <p:spPr bwMode="auto">
          <a:xfrm>
            <a:off x="2163763" y="2587625"/>
            <a:ext cx="2401887" cy="519113"/>
          </a:xfrm>
          <a:prstGeom prst="rect">
            <a:avLst/>
          </a:prstGeom>
          <a:noFill/>
          <a:ln w="9525">
            <a:noFill/>
            <a:miter lim="800000"/>
            <a:headEnd/>
            <a:tailEnd/>
          </a:ln>
          <a:effectLst/>
        </p:spPr>
        <p:txBody>
          <a:bodyPr wrap="none">
            <a:spAutoFit/>
          </a:bodyPr>
          <a:lstStyle/>
          <a:p>
            <a:r>
              <a:rPr lang="en-GB" sz="2800"/>
              <a:t>Photodetector</a:t>
            </a:r>
          </a:p>
        </p:txBody>
      </p:sp>
      <p:sp>
        <p:nvSpPr>
          <p:cNvPr id="40988" name="Text Box 28"/>
          <p:cNvSpPr txBox="1">
            <a:spLocks noChangeArrowheads="1"/>
          </p:cNvSpPr>
          <p:nvPr/>
        </p:nvSpPr>
        <p:spPr bwMode="auto">
          <a:xfrm>
            <a:off x="5703888" y="2584450"/>
            <a:ext cx="2620962" cy="519113"/>
          </a:xfrm>
          <a:prstGeom prst="rect">
            <a:avLst/>
          </a:prstGeom>
          <a:noFill/>
          <a:ln w="9525">
            <a:noFill/>
            <a:miter lim="800000"/>
            <a:headEnd/>
            <a:tailEnd/>
          </a:ln>
          <a:effectLst/>
        </p:spPr>
        <p:txBody>
          <a:bodyPr wrap="none">
            <a:spAutoFit/>
          </a:bodyPr>
          <a:lstStyle/>
          <a:p>
            <a:r>
              <a:rPr lang="en-GB" sz="2800"/>
              <a:t>Microprocessor</a:t>
            </a:r>
          </a:p>
        </p:txBody>
      </p:sp>
      <p:sp>
        <p:nvSpPr>
          <p:cNvPr id="40991" name="Text Box 31"/>
          <p:cNvSpPr txBox="1">
            <a:spLocks noChangeArrowheads="1"/>
          </p:cNvSpPr>
          <p:nvPr/>
        </p:nvSpPr>
        <p:spPr bwMode="auto">
          <a:xfrm>
            <a:off x="2998788" y="5526088"/>
            <a:ext cx="466725" cy="396875"/>
          </a:xfrm>
          <a:prstGeom prst="rect">
            <a:avLst/>
          </a:prstGeom>
          <a:noFill/>
          <a:ln w="9525">
            <a:noFill/>
            <a:miter lim="800000"/>
            <a:headEnd/>
            <a:tailEnd/>
          </a:ln>
          <a:effectLst/>
        </p:spPr>
        <p:txBody>
          <a:bodyPr wrap="none">
            <a:spAutoFit/>
          </a:bodyPr>
          <a:lstStyle/>
          <a:p>
            <a:r>
              <a:rPr lang="en-GB" sz="2000"/>
              <a:t>on</a:t>
            </a:r>
          </a:p>
        </p:txBody>
      </p:sp>
      <p:sp>
        <p:nvSpPr>
          <p:cNvPr id="40992" name="Text Box 32"/>
          <p:cNvSpPr txBox="1">
            <a:spLocks noChangeArrowheads="1"/>
          </p:cNvSpPr>
          <p:nvPr/>
        </p:nvSpPr>
        <p:spPr bwMode="auto">
          <a:xfrm>
            <a:off x="2998788" y="5872163"/>
            <a:ext cx="465137" cy="396875"/>
          </a:xfrm>
          <a:prstGeom prst="rect">
            <a:avLst/>
          </a:prstGeom>
          <a:noFill/>
          <a:ln w="9525">
            <a:noFill/>
            <a:miter lim="800000"/>
            <a:headEnd/>
            <a:tailEnd/>
          </a:ln>
          <a:effectLst/>
        </p:spPr>
        <p:txBody>
          <a:bodyPr wrap="none">
            <a:spAutoFit/>
          </a:bodyPr>
          <a:lstStyle/>
          <a:p>
            <a:r>
              <a:rPr lang="en-GB" sz="2000"/>
              <a:t>off</a:t>
            </a:r>
          </a:p>
        </p:txBody>
      </p:sp>
      <p:sp>
        <p:nvSpPr>
          <p:cNvPr id="40993" name="Text Box 33"/>
          <p:cNvSpPr txBox="1">
            <a:spLocks noChangeArrowheads="1"/>
          </p:cNvSpPr>
          <p:nvPr/>
        </p:nvSpPr>
        <p:spPr bwMode="auto">
          <a:xfrm>
            <a:off x="2998788" y="6219825"/>
            <a:ext cx="465137" cy="396875"/>
          </a:xfrm>
          <a:prstGeom prst="rect">
            <a:avLst/>
          </a:prstGeom>
          <a:noFill/>
          <a:ln w="9525">
            <a:noFill/>
            <a:miter lim="800000"/>
            <a:headEnd/>
            <a:tailEnd/>
          </a:ln>
          <a:effectLst/>
        </p:spPr>
        <p:txBody>
          <a:bodyPr wrap="none">
            <a:spAutoFit/>
          </a:bodyPr>
          <a:lstStyle/>
          <a:p>
            <a:r>
              <a:rPr lang="en-GB" sz="2000"/>
              <a:t>off</a:t>
            </a:r>
          </a:p>
        </p:txBody>
      </p:sp>
      <p:sp>
        <p:nvSpPr>
          <p:cNvPr id="40994" name="Text Box 34"/>
          <p:cNvSpPr txBox="1">
            <a:spLocks noChangeArrowheads="1"/>
          </p:cNvSpPr>
          <p:nvPr/>
        </p:nvSpPr>
        <p:spPr bwMode="auto">
          <a:xfrm>
            <a:off x="3746500" y="5526088"/>
            <a:ext cx="465138" cy="396875"/>
          </a:xfrm>
          <a:prstGeom prst="rect">
            <a:avLst/>
          </a:prstGeom>
          <a:noFill/>
          <a:ln w="9525">
            <a:noFill/>
            <a:miter lim="800000"/>
            <a:headEnd/>
            <a:tailEnd/>
          </a:ln>
          <a:effectLst/>
        </p:spPr>
        <p:txBody>
          <a:bodyPr wrap="none">
            <a:spAutoFit/>
          </a:bodyPr>
          <a:lstStyle/>
          <a:p>
            <a:r>
              <a:rPr lang="en-GB" sz="2000"/>
              <a:t>off</a:t>
            </a:r>
          </a:p>
        </p:txBody>
      </p:sp>
      <p:sp>
        <p:nvSpPr>
          <p:cNvPr id="40995" name="Text Box 35"/>
          <p:cNvSpPr txBox="1">
            <a:spLocks noChangeArrowheads="1"/>
          </p:cNvSpPr>
          <p:nvPr/>
        </p:nvSpPr>
        <p:spPr bwMode="auto">
          <a:xfrm>
            <a:off x="3744913" y="5872163"/>
            <a:ext cx="466725" cy="396875"/>
          </a:xfrm>
          <a:prstGeom prst="rect">
            <a:avLst/>
          </a:prstGeom>
          <a:noFill/>
          <a:ln w="9525">
            <a:noFill/>
            <a:miter lim="800000"/>
            <a:headEnd/>
            <a:tailEnd/>
          </a:ln>
          <a:effectLst/>
        </p:spPr>
        <p:txBody>
          <a:bodyPr wrap="none">
            <a:spAutoFit/>
          </a:bodyPr>
          <a:lstStyle/>
          <a:p>
            <a:r>
              <a:rPr lang="en-GB" sz="2000"/>
              <a:t>on</a:t>
            </a:r>
          </a:p>
        </p:txBody>
      </p:sp>
      <p:sp>
        <p:nvSpPr>
          <p:cNvPr id="40996" name="Text Box 36"/>
          <p:cNvSpPr txBox="1">
            <a:spLocks noChangeArrowheads="1"/>
          </p:cNvSpPr>
          <p:nvPr/>
        </p:nvSpPr>
        <p:spPr bwMode="auto">
          <a:xfrm>
            <a:off x="3746500" y="6219825"/>
            <a:ext cx="465138" cy="396875"/>
          </a:xfrm>
          <a:prstGeom prst="rect">
            <a:avLst/>
          </a:prstGeom>
          <a:noFill/>
          <a:ln w="9525">
            <a:noFill/>
            <a:miter lim="800000"/>
            <a:headEnd/>
            <a:tailEnd/>
          </a:ln>
          <a:effectLst/>
        </p:spPr>
        <p:txBody>
          <a:bodyPr wrap="none">
            <a:spAutoFit/>
          </a:bodyPr>
          <a:lstStyle/>
          <a:p>
            <a:r>
              <a:rPr lang="en-GB" sz="2000"/>
              <a:t>off</a:t>
            </a:r>
          </a:p>
        </p:txBody>
      </p:sp>
      <p:sp>
        <p:nvSpPr>
          <p:cNvPr id="40997" name="Oval 37"/>
          <p:cNvSpPr>
            <a:spLocks noChangeArrowheads="1"/>
          </p:cNvSpPr>
          <p:nvPr/>
        </p:nvSpPr>
        <p:spPr bwMode="auto">
          <a:xfrm>
            <a:off x="4319588" y="5510213"/>
            <a:ext cx="525462" cy="1076325"/>
          </a:xfrm>
          <a:prstGeom prst="ellipse">
            <a:avLst/>
          </a:prstGeom>
          <a:noFill/>
          <a:ln w="28575">
            <a:solidFill>
              <a:schemeClr val="tx1"/>
            </a:solidFill>
            <a:round/>
            <a:headEnd/>
            <a:tailEnd/>
          </a:ln>
          <a:effectLst/>
        </p:spPr>
        <p:txBody>
          <a:bodyPr wrap="none" anchor="ctr"/>
          <a:lstStyle/>
          <a:p>
            <a:endParaRPr lang="en-US"/>
          </a:p>
        </p:txBody>
      </p:sp>
      <p:sp>
        <p:nvSpPr>
          <p:cNvPr id="40998" name="Line 38"/>
          <p:cNvSpPr>
            <a:spLocks noChangeShapeType="1"/>
          </p:cNvSpPr>
          <p:nvPr/>
        </p:nvSpPr>
        <p:spPr bwMode="auto">
          <a:xfrm>
            <a:off x="4833938" y="5972175"/>
            <a:ext cx="9525" cy="149225"/>
          </a:xfrm>
          <a:prstGeom prst="line">
            <a:avLst/>
          </a:prstGeom>
          <a:ln>
            <a:headEnd/>
            <a:tailEnd type="arrow" w="lg" len="lg"/>
          </a:ln>
        </p:spPr>
        <p:style>
          <a:lnRef idx="3">
            <a:schemeClr val="dk1"/>
          </a:lnRef>
          <a:fillRef idx="0">
            <a:schemeClr val="dk1"/>
          </a:fillRef>
          <a:effectRef idx="2">
            <a:schemeClr val="dk1"/>
          </a:effectRef>
          <a:fontRef idx="minor">
            <a:schemeClr val="tx1"/>
          </a:fontRef>
        </p:style>
        <p:txBody>
          <a:bodyPr/>
          <a:lstStyle/>
          <a:p>
            <a:endParaRPr lang="en-US"/>
          </a:p>
        </p:txBody>
      </p:sp>
      <p:sp>
        <p:nvSpPr>
          <p:cNvPr id="40999" name="Text Box 39"/>
          <p:cNvSpPr txBox="1">
            <a:spLocks noChangeArrowheads="1"/>
          </p:cNvSpPr>
          <p:nvPr/>
        </p:nvSpPr>
        <p:spPr bwMode="auto">
          <a:xfrm>
            <a:off x="4916488" y="5824538"/>
            <a:ext cx="2171700" cy="396875"/>
          </a:xfrm>
          <a:prstGeom prst="rect">
            <a:avLst/>
          </a:prstGeom>
          <a:noFill/>
          <a:ln w="9525">
            <a:noFill/>
            <a:miter lim="800000"/>
            <a:headEnd/>
            <a:tailEnd/>
          </a:ln>
          <a:effectLst/>
        </p:spPr>
        <p:txBody>
          <a:bodyPr wrap="none">
            <a:spAutoFit/>
          </a:bodyPr>
          <a:lstStyle/>
          <a:p>
            <a:pPr algn="l"/>
            <a:r>
              <a:rPr lang="en-GB" sz="2000"/>
              <a:t>30 times / second</a:t>
            </a:r>
          </a:p>
        </p:txBody>
      </p:sp>
      <p:sp>
        <p:nvSpPr>
          <p:cNvPr id="41001" name="Text Box 41"/>
          <p:cNvSpPr txBox="1">
            <a:spLocks noChangeArrowheads="1"/>
          </p:cNvSpPr>
          <p:nvPr/>
        </p:nvSpPr>
        <p:spPr bwMode="auto">
          <a:xfrm>
            <a:off x="990599" y="1302603"/>
            <a:ext cx="7599363" cy="830997"/>
          </a:xfrm>
          <a:prstGeom prst="rect">
            <a:avLst/>
          </a:prstGeom>
          <a:noFill/>
          <a:ln w="9525">
            <a:noFill/>
            <a:miter lim="800000"/>
            <a:headEnd/>
            <a:tailEnd/>
          </a:ln>
          <a:effectLst/>
        </p:spPr>
        <p:txBody>
          <a:bodyPr wrap="square">
            <a:spAutoFit/>
          </a:bodyPr>
          <a:lstStyle/>
          <a:p>
            <a:pPr marL="457200" indent="-457200" algn="l">
              <a:buFont typeface="Courier New" pitchFamily="49" charset="0"/>
              <a:buChar char="o"/>
            </a:pPr>
            <a:r>
              <a:rPr lang="en-GB" sz="2400" dirty="0" smtClean="0"/>
              <a:t>Probe </a:t>
            </a:r>
            <a:r>
              <a:rPr lang="en-GB" sz="2400" dirty="0"/>
              <a:t>with </a:t>
            </a:r>
            <a:r>
              <a:rPr lang="en-GB" sz="2400" dirty="0">
                <a:solidFill>
                  <a:srgbClr val="0070C0"/>
                </a:solidFill>
              </a:rPr>
              <a:t>2 LED’</a:t>
            </a:r>
            <a:r>
              <a:rPr lang="en-GB" sz="2400" dirty="0"/>
              <a:t>s and </a:t>
            </a:r>
            <a:r>
              <a:rPr lang="en-GB" sz="2400" dirty="0" err="1">
                <a:solidFill>
                  <a:srgbClr val="0070C0"/>
                </a:solidFill>
              </a:rPr>
              <a:t>photodetector</a:t>
            </a:r>
            <a:endParaRPr lang="en-GB" sz="2400" dirty="0">
              <a:solidFill>
                <a:srgbClr val="0070C0"/>
              </a:solidFill>
            </a:endParaRPr>
          </a:p>
          <a:p>
            <a:pPr marL="457200" indent="-457200" algn="l">
              <a:buFont typeface="Courier New" pitchFamily="49" charset="0"/>
              <a:buChar char="o"/>
            </a:pPr>
            <a:r>
              <a:rPr lang="en-GB" sz="2400" dirty="0" smtClean="0"/>
              <a:t>Case </a:t>
            </a:r>
            <a:r>
              <a:rPr lang="en-GB" sz="2400" dirty="0"/>
              <a:t>contains </a:t>
            </a:r>
            <a:r>
              <a:rPr lang="en-GB" sz="2400" dirty="0">
                <a:solidFill>
                  <a:srgbClr val="0070C0"/>
                </a:solidFill>
              </a:rPr>
              <a:t>microprocessor</a:t>
            </a:r>
            <a:r>
              <a:rPr lang="en-GB" sz="2400" dirty="0"/>
              <a:t> and </a:t>
            </a:r>
            <a:r>
              <a:rPr lang="en-GB" sz="2400" dirty="0">
                <a:solidFill>
                  <a:srgbClr val="0070C0"/>
                </a:solidFill>
              </a:rPr>
              <a:t>display screen</a:t>
            </a:r>
          </a:p>
        </p:txBody>
      </p:sp>
      <p:sp>
        <p:nvSpPr>
          <p:cNvPr id="41004" name="Line 44"/>
          <p:cNvSpPr>
            <a:spLocks noChangeShapeType="1"/>
          </p:cNvSpPr>
          <p:nvPr/>
        </p:nvSpPr>
        <p:spPr bwMode="auto">
          <a:xfrm flipH="1" flipV="1">
            <a:off x="2336800" y="6096000"/>
            <a:ext cx="673100" cy="342900"/>
          </a:xfrm>
          <a:prstGeom prst="line">
            <a:avLst/>
          </a:prstGeom>
          <a:noFill/>
          <a:ln w="9525">
            <a:solidFill>
              <a:schemeClr val="tx1"/>
            </a:solidFill>
            <a:round/>
            <a:headEnd/>
            <a:tailEnd type="triangle" w="med" len="med"/>
          </a:ln>
          <a:effectLst/>
        </p:spPr>
        <p:txBody>
          <a:bodyPr/>
          <a:lstStyle/>
          <a:p>
            <a:endParaRPr lang="en-US"/>
          </a:p>
        </p:txBody>
      </p:sp>
      <p:sp>
        <p:nvSpPr>
          <p:cNvPr id="41005" name="Text Box 45"/>
          <p:cNvSpPr txBox="1">
            <a:spLocks noChangeArrowheads="1"/>
          </p:cNvSpPr>
          <p:nvPr/>
        </p:nvSpPr>
        <p:spPr bwMode="auto">
          <a:xfrm>
            <a:off x="250825" y="5688013"/>
            <a:ext cx="2470150" cy="641350"/>
          </a:xfrm>
          <a:prstGeom prst="rect">
            <a:avLst/>
          </a:prstGeom>
          <a:noFill/>
          <a:ln w="9525">
            <a:noFill/>
            <a:miter lim="800000"/>
            <a:headEnd/>
            <a:tailEnd/>
          </a:ln>
          <a:effectLst/>
        </p:spPr>
        <p:txBody>
          <a:bodyPr>
            <a:spAutoFit/>
          </a:bodyPr>
          <a:lstStyle/>
          <a:p>
            <a:pPr algn="l"/>
            <a:r>
              <a:rPr lang="en-GB" sz="1800" dirty="0"/>
              <a:t>Allows for subtraction of background light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79"/>
                                        </p:tgtEl>
                                        <p:attrNameLst>
                                          <p:attrName>style.visibility</p:attrName>
                                        </p:attrNameLst>
                                      </p:cBhvr>
                                      <p:to>
                                        <p:strVal val="visible"/>
                                      </p:to>
                                    </p:set>
                                    <p:animEffect transition="in" filter="blinds(horizontal)">
                                      <p:cBhvr>
                                        <p:cTn id="7" dur="500"/>
                                        <p:tgtEl>
                                          <p:spTgt spid="4097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980"/>
                                        </p:tgtEl>
                                        <p:attrNameLst>
                                          <p:attrName>style.visibility</p:attrName>
                                        </p:attrNameLst>
                                      </p:cBhvr>
                                      <p:to>
                                        <p:strVal val="visible"/>
                                      </p:to>
                                    </p:set>
                                    <p:animEffect transition="in" filter="blinds(horizontal)">
                                      <p:cBhvr>
                                        <p:cTn id="10" dur="500"/>
                                        <p:tgtEl>
                                          <p:spTgt spid="4098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0985"/>
                                        </p:tgtEl>
                                        <p:attrNameLst>
                                          <p:attrName>style.visibility</p:attrName>
                                        </p:attrNameLst>
                                      </p:cBhvr>
                                      <p:to>
                                        <p:strVal val="visible"/>
                                      </p:to>
                                    </p:set>
                                    <p:animEffect transition="in" filter="blinds(horizontal)">
                                      <p:cBhvr>
                                        <p:cTn id="13" dur="500"/>
                                        <p:tgtEl>
                                          <p:spTgt spid="4098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0986"/>
                                        </p:tgtEl>
                                        <p:attrNameLst>
                                          <p:attrName>style.visibility</p:attrName>
                                        </p:attrNameLst>
                                      </p:cBhvr>
                                      <p:to>
                                        <p:strVal val="visible"/>
                                      </p:to>
                                    </p:set>
                                    <p:animEffect transition="in" filter="blinds(horizontal)">
                                      <p:cBhvr>
                                        <p:cTn id="16" dur="500"/>
                                        <p:tgtEl>
                                          <p:spTgt spid="4098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0991"/>
                                        </p:tgtEl>
                                        <p:attrNameLst>
                                          <p:attrName>style.visibility</p:attrName>
                                        </p:attrNameLst>
                                      </p:cBhvr>
                                      <p:to>
                                        <p:strVal val="visible"/>
                                      </p:to>
                                    </p:set>
                                    <p:animEffect transition="in" filter="blinds(horizontal)">
                                      <p:cBhvr>
                                        <p:cTn id="19" dur="500"/>
                                        <p:tgtEl>
                                          <p:spTgt spid="4099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0992"/>
                                        </p:tgtEl>
                                        <p:attrNameLst>
                                          <p:attrName>style.visibility</p:attrName>
                                        </p:attrNameLst>
                                      </p:cBhvr>
                                      <p:to>
                                        <p:strVal val="visible"/>
                                      </p:to>
                                    </p:set>
                                    <p:animEffect transition="in" filter="blinds(horizontal)">
                                      <p:cBhvr>
                                        <p:cTn id="22" dur="500"/>
                                        <p:tgtEl>
                                          <p:spTgt spid="4099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0993"/>
                                        </p:tgtEl>
                                        <p:attrNameLst>
                                          <p:attrName>style.visibility</p:attrName>
                                        </p:attrNameLst>
                                      </p:cBhvr>
                                      <p:to>
                                        <p:strVal val="visible"/>
                                      </p:to>
                                    </p:set>
                                    <p:animEffect transition="in" filter="blinds(horizontal)">
                                      <p:cBhvr>
                                        <p:cTn id="25" dur="500"/>
                                        <p:tgtEl>
                                          <p:spTgt spid="40993"/>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0994"/>
                                        </p:tgtEl>
                                        <p:attrNameLst>
                                          <p:attrName>style.visibility</p:attrName>
                                        </p:attrNameLst>
                                      </p:cBhvr>
                                      <p:to>
                                        <p:strVal val="visible"/>
                                      </p:to>
                                    </p:set>
                                    <p:animEffect transition="in" filter="blinds(horizontal)">
                                      <p:cBhvr>
                                        <p:cTn id="28" dur="500"/>
                                        <p:tgtEl>
                                          <p:spTgt spid="4099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0995"/>
                                        </p:tgtEl>
                                        <p:attrNameLst>
                                          <p:attrName>style.visibility</p:attrName>
                                        </p:attrNameLst>
                                      </p:cBhvr>
                                      <p:to>
                                        <p:strVal val="visible"/>
                                      </p:to>
                                    </p:set>
                                    <p:animEffect transition="in" filter="blinds(horizontal)">
                                      <p:cBhvr>
                                        <p:cTn id="31" dur="500"/>
                                        <p:tgtEl>
                                          <p:spTgt spid="4099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0996"/>
                                        </p:tgtEl>
                                        <p:attrNameLst>
                                          <p:attrName>style.visibility</p:attrName>
                                        </p:attrNameLst>
                                      </p:cBhvr>
                                      <p:to>
                                        <p:strVal val="visible"/>
                                      </p:to>
                                    </p:set>
                                    <p:animEffect transition="in" filter="blinds(horizontal)">
                                      <p:cBhvr>
                                        <p:cTn id="34" dur="500"/>
                                        <p:tgtEl>
                                          <p:spTgt spid="4099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40997"/>
                                        </p:tgtEl>
                                        <p:attrNameLst>
                                          <p:attrName>style.visibility</p:attrName>
                                        </p:attrNameLst>
                                      </p:cBhvr>
                                      <p:to>
                                        <p:strVal val="visible"/>
                                      </p:to>
                                    </p:set>
                                    <p:animEffect transition="in" filter="blinds(horizontal)">
                                      <p:cBhvr>
                                        <p:cTn id="37" dur="500"/>
                                        <p:tgtEl>
                                          <p:spTgt spid="40997"/>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40998"/>
                                        </p:tgtEl>
                                        <p:attrNameLst>
                                          <p:attrName>style.visibility</p:attrName>
                                        </p:attrNameLst>
                                      </p:cBhvr>
                                      <p:to>
                                        <p:strVal val="visible"/>
                                      </p:to>
                                    </p:set>
                                    <p:animEffect transition="in" filter="blinds(horizontal)">
                                      <p:cBhvr>
                                        <p:cTn id="40" dur="500"/>
                                        <p:tgtEl>
                                          <p:spTgt spid="40998"/>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40999"/>
                                        </p:tgtEl>
                                        <p:attrNameLst>
                                          <p:attrName>style.visibility</p:attrName>
                                        </p:attrNameLst>
                                      </p:cBhvr>
                                      <p:to>
                                        <p:strVal val="visible"/>
                                      </p:to>
                                    </p:set>
                                    <p:animEffect transition="in" filter="blinds(horizontal)">
                                      <p:cBhvr>
                                        <p:cTn id="43" dur="500"/>
                                        <p:tgtEl>
                                          <p:spTgt spid="40999"/>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1004"/>
                                        </p:tgtEl>
                                        <p:attrNameLst>
                                          <p:attrName>style.visibility</p:attrName>
                                        </p:attrNameLst>
                                      </p:cBhvr>
                                      <p:to>
                                        <p:strVal val="visible"/>
                                      </p:to>
                                    </p:set>
                                    <p:animEffect transition="in" filter="blinds(horizontal)">
                                      <p:cBhvr>
                                        <p:cTn id="46" dur="500"/>
                                        <p:tgtEl>
                                          <p:spTgt spid="41004"/>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40981"/>
                                        </p:tgtEl>
                                        <p:attrNameLst>
                                          <p:attrName>style.visibility</p:attrName>
                                        </p:attrNameLst>
                                      </p:cBhvr>
                                      <p:to>
                                        <p:strVal val="visible"/>
                                      </p:to>
                                    </p:set>
                                    <p:animEffect transition="in" filter="blinds(horizontal)">
                                      <p:cBhvr>
                                        <p:cTn id="51" dur="500"/>
                                        <p:tgtEl>
                                          <p:spTgt spid="40981"/>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40987"/>
                                        </p:tgtEl>
                                        <p:attrNameLst>
                                          <p:attrName>style.visibility</p:attrName>
                                        </p:attrNameLst>
                                      </p:cBhvr>
                                      <p:to>
                                        <p:strVal val="visible"/>
                                      </p:to>
                                    </p:set>
                                    <p:animEffect transition="in" filter="blinds(horizontal)">
                                      <p:cBhvr>
                                        <p:cTn id="54" dur="500"/>
                                        <p:tgtEl>
                                          <p:spTgt spid="40987"/>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40984"/>
                                        </p:tgtEl>
                                        <p:attrNameLst>
                                          <p:attrName>style.visibility</p:attrName>
                                        </p:attrNameLst>
                                      </p:cBhvr>
                                      <p:to>
                                        <p:strVal val="visible"/>
                                      </p:to>
                                    </p:set>
                                    <p:animEffect transition="in" filter="blinds(horizontal)">
                                      <p:cBhvr>
                                        <p:cTn id="59" dur="500"/>
                                        <p:tgtEl>
                                          <p:spTgt spid="40984"/>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40988"/>
                                        </p:tgtEl>
                                        <p:attrNameLst>
                                          <p:attrName>style.visibility</p:attrName>
                                        </p:attrNameLst>
                                      </p:cBhvr>
                                      <p:to>
                                        <p:strVal val="visible"/>
                                      </p:to>
                                    </p:set>
                                    <p:animEffect transition="in" filter="blinds(horizontal)">
                                      <p:cBhvr>
                                        <p:cTn id="62" dur="500"/>
                                        <p:tgtEl>
                                          <p:spTgt spid="40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9" grpId="0" animBg="1"/>
      <p:bldP spid="40980" grpId="0" animBg="1"/>
      <p:bldP spid="40981" grpId="0" animBg="1"/>
      <p:bldP spid="40984" grpId="0" animBg="1"/>
      <p:bldP spid="40985" grpId="0"/>
      <p:bldP spid="40986" grpId="0"/>
      <p:bldP spid="40987" grpId="0"/>
      <p:bldP spid="40988" grpId="0"/>
      <p:bldP spid="40991" grpId="0"/>
      <p:bldP spid="40992" grpId="0"/>
      <p:bldP spid="40993" grpId="0"/>
      <p:bldP spid="40994" grpId="0"/>
      <p:bldP spid="40995" grpId="0"/>
      <p:bldP spid="40996" grpId="0"/>
      <p:bldP spid="40997" grpId="0" animBg="1"/>
      <p:bldP spid="40998" grpId="0" animBg="1"/>
      <p:bldP spid="40999" grpId="0"/>
      <p:bldP spid="41004"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685800"/>
            <a:ext cx="1688592" cy="457200"/>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
        <p:nvSpPr>
          <p:cNvPr id="3" name="Content Placeholder 2"/>
          <p:cNvSpPr>
            <a:spLocks noGrp="1"/>
          </p:cNvSpPr>
          <p:nvPr>
            <p:ph idx="1"/>
          </p:nvPr>
        </p:nvSpPr>
        <p:spPr>
          <a:xfrm>
            <a:off x="990600" y="1447800"/>
            <a:ext cx="7943088" cy="4800600"/>
          </a:xfrm>
        </p:spPr>
        <p:txBody>
          <a:bodyPr>
            <a:normAutofit/>
          </a:bodyPr>
          <a:lstStyle/>
          <a:p>
            <a:pPr marL="365125" indent="-365125">
              <a:buFont typeface="Courier New" pitchFamily="49" charset="0"/>
              <a:buChar char="o"/>
            </a:pPr>
            <a:r>
              <a:rPr lang="en-US" sz="2400" dirty="0" smtClean="0"/>
              <a:t>The oximeter pulses the red and infrared LEDs </a:t>
            </a:r>
            <a:r>
              <a:rPr lang="en-US" sz="2400" dirty="0" smtClean="0">
                <a:solidFill>
                  <a:srgbClr val="0070C0"/>
                </a:solidFill>
              </a:rPr>
              <a:t>ON </a:t>
            </a:r>
            <a:r>
              <a:rPr lang="en-US" sz="2400" dirty="0" smtClean="0"/>
              <a:t>and </a:t>
            </a:r>
            <a:r>
              <a:rPr lang="en-US" sz="2400" dirty="0" smtClean="0">
                <a:solidFill>
                  <a:srgbClr val="0070C0"/>
                </a:solidFill>
              </a:rPr>
              <a:t>OFF</a:t>
            </a:r>
            <a:r>
              <a:rPr lang="en-US" sz="2400" dirty="0" smtClean="0"/>
              <a:t> several hundred times per second. </a:t>
            </a:r>
          </a:p>
          <a:p>
            <a:pPr marL="365125" indent="-365125">
              <a:buFont typeface="Courier New" pitchFamily="49" charset="0"/>
              <a:buChar char="o"/>
            </a:pPr>
            <a:r>
              <a:rPr lang="en-US" sz="2400" dirty="0" smtClean="0"/>
              <a:t>Oximeters have a phase with both </a:t>
            </a:r>
            <a:r>
              <a:rPr lang="en-US" sz="2400" dirty="0" smtClean="0">
                <a:solidFill>
                  <a:srgbClr val="0070C0"/>
                </a:solidFill>
              </a:rPr>
              <a:t>LEDs OFF</a:t>
            </a:r>
            <a:r>
              <a:rPr lang="en-US" sz="2400" dirty="0" smtClean="0"/>
              <a:t> to allow detection of and compensation for </a:t>
            </a:r>
            <a:r>
              <a:rPr lang="en-US" sz="2400" dirty="0" smtClean="0">
                <a:solidFill>
                  <a:srgbClr val="0070C0"/>
                </a:solidFill>
              </a:rPr>
              <a:t>extraneous light</a:t>
            </a:r>
            <a:r>
              <a:rPr lang="en-US" sz="2400" dirty="0" smtClean="0"/>
              <a:t>. Light readings during the OFF period are </a:t>
            </a:r>
            <a:r>
              <a:rPr lang="en-US" sz="2400" dirty="0" smtClean="0">
                <a:solidFill>
                  <a:srgbClr val="0070C0"/>
                </a:solidFill>
              </a:rPr>
              <a:t>subtracted</a:t>
            </a:r>
            <a:r>
              <a:rPr lang="en-US" sz="2400" dirty="0" smtClean="0"/>
              <a:t> from the next sequence.</a:t>
            </a:r>
          </a:p>
          <a:p>
            <a:pPr marL="365125" indent="-365125">
              <a:buFont typeface="Courier New" pitchFamily="49" charset="0"/>
              <a:buChar char="o"/>
            </a:pPr>
            <a:r>
              <a:rPr lang="en-US" sz="2400" dirty="0" smtClean="0">
                <a:solidFill>
                  <a:srgbClr val="0070C0"/>
                </a:solidFill>
              </a:rPr>
              <a:t>Fractional oxygen saturation (% HbO</a:t>
            </a:r>
            <a:r>
              <a:rPr lang="en-US" sz="2400" baseline="-25000" dirty="0" smtClean="0">
                <a:solidFill>
                  <a:srgbClr val="0070C0"/>
                </a:solidFill>
              </a:rPr>
              <a:t>2</a:t>
            </a:r>
            <a:r>
              <a:rPr lang="en-US" sz="2400" dirty="0" smtClean="0">
                <a:solidFill>
                  <a:srgbClr val="0070C0"/>
                </a:solidFill>
              </a:rPr>
              <a:t>) </a:t>
            </a:r>
            <a:r>
              <a:rPr lang="en-US" sz="2400" dirty="0" smtClean="0"/>
              <a:t>is the ratio of oxyhemoglobin to the sum of </a:t>
            </a:r>
            <a:r>
              <a:rPr lang="en-US" sz="2400" dirty="0" smtClean="0">
                <a:solidFill>
                  <a:srgbClr val="0070C0"/>
                </a:solidFill>
              </a:rPr>
              <a:t>all</a:t>
            </a:r>
            <a:r>
              <a:rPr lang="en-US" sz="2400" dirty="0" smtClean="0"/>
              <a:t> hemoglobin </a:t>
            </a:r>
            <a:r>
              <a:rPr lang="en-US" sz="2400" dirty="0" smtClean="0">
                <a:solidFill>
                  <a:srgbClr val="0070C0"/>
                </a:solidFill>
              </a:rPr>
              <a:t>species</a:t>
            </a:r>
            <a:r>
              <a:rPr lang="en-US" sz="2400" dirty="0" smtClean="0"/>
              <a:t> present, whether available for reversible binding to oxygen or not. </a:t>
            </a:r>
          </a:p>
          <a:p>
            <a:pPr marL="365125" indent="-365125">
              <a:buFont typeface="Courier New" pitchFamily="49" charset="0"/>
              <a:buChar char="o"/>
            </a:pPr>
            <a:r>
              <a:rPr lang="en-US" sz="2400" dirty="0" smtClean="0">
                <a:solidFill>
                  <a:srgbClr val="0070C0"/>
                </a:solidFill>
              </a:rPr>
              <a:t>Functional oxygen saturation (SaO</a:t>
            </a:r>
            <a:r>
              <a:rPr lang="en-US" sz="2400" baseline="-25000" dirty="0" smtClean="0">
                <a:solidFill>
                  <a:srgbClr val="0070C0"/>
                </a:solidFill>
              </a:rPr>
              <a:t>2</a:t>
            </a:r>
            <a:r>
              <a:rPr lang="en-US" sz="2400" dirty="0" smtClean="0">
                <a:solidFill>
                  <a:srgbClr val="0070C0"/>
                </a:solidFill>
              </a:rPr>
              <a:t>)</a:t>
            </a:r>
            <a:r>
              <a:rPr lang="en-US" sz="2400" dirty="0" smtClean="0"/>
              <a:t> is defined as the ratio of oxyhemoglobin to </a:t>
            </a:r>
            <a:r>
              <a:rPr lang="en-US" sz="2400" dirty="0" smtClean="0">
                <a:solidFill>
                  <a:srgbClr val="0070C0"/>
                </a:solidFill>
              </a:rPr>
              <a:t>all functional</a:t>
            </a:r>
            <a:r>
              <a:rPr lang="en-US" sz="2400" dirty="0" smtClean="0"/>
              <a:t> hemoglobins.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914400"/>
            <a:ext cx="1536192" cy="381000"/>
          </a:xfrm>
          <a:prstGeom prst="round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Types </a:t>
            </a:r>
            <a:endParaRPr lang="en-US" sz="2800" dirty="0">
              <a:solidFill>
                <a:srgbClr val="0070C0"/>
              </a:solidFill>
              <a:effectLst/>
            </a:endParaRPr>
          </a:p>
        </p:txBody>
      </p:sp>
      <p:sp>
        <p:nvSpPr>
          <p:cNvPr id="3" name="Content Placeholder 2"/>
          <p:cNvSpPr>
            <a:spLocks noGrp="1"/>
          </p:cNvSpPr>
          <p:nvPr>
            <p:ph idx="1"/>
          </p:nvPr>
        </p:nvSpPr>
        <p:spPr>
          <a:xfrm>
            <a:off x="990600" y="1600200"/>
            <a:ext cx="7943088" cy="4343400"/>
          </a:xfrm>
        </p:spPr>
        <p:txBody>
          <a:bodyPr>
            <a:noAutofit/>
          </a:bodyPr>
          <a:lstStyle/>
          <a:p>
            <a:pPr marL="539496" indent="-457200">
              <a:buSzPct val="90000"/>
              <a:buFont typeface="+mj-lt"/>
              <a:buAutoNum type="arabicPeriod"/>
            </a:pPr>
            <a:r>
              <a:rPr lang="en-US" sz="2400" dirty="0" smtClean="0">
                <a:solidFill>
                  <a:srgbClr val="0070C0"/>
                </a:solidFill>
              </a:rPr>
              <a:t>Transmission Pulse Oximetry</a:t>
            </a:r>
          </a:p>
          <a:p>
            <a:pPr lvl="1">
              <a:buFont typeface="Courier New" pitchFamily="49" charset="0"/>
              <a:buChar char="o"/>
            </a:pPr>
            <a:r>
              <a:rPr lang="en-US" sz="2200" dirty="0" smtClean="0"/>
              <a:t>Most common type of pulse oximeter.</a:t>
            </a:r>
          </a:p>
          <a:p>
            <a:pPr lvl="1">
              <a:buFont typeface="Courier New" pitchFamily="49" charset="0"/>
              <a:buChar char="o"/>
            </a:pPr>
            <a:r>
              <a:rPr lang="en-US" sz="2200" dirty="0" smtClean="0"/>
              <a:t> With this technology, a light beam is transmitted through a vascular bed and is detected on the opposite side of that bed.</a:t>
            </a:r>
          </a:p>
          <a:p>
            <a:pPr marL="539496" indent="-457200">
              <a:buFont typeface="+mj-lt"/>
              <a:buAutoNum type="arabicPeriod" startAt="2"/>
            </a:pPr>
            <a:r>
              <a:rPr lang="en-US" sz="2400" dirty="0" smtClean="0">
                <a:solidFill>
                  <a:srgbClr val="0070C0"/>
                </a:solidFill>
              </a:rPr>
              <a:t>Reflectance Pulse Oximetry</a:t>
            </a:r>
          </a:p>
          <a:p>
            <a:pPr lvl="1">
              <a:buFont typeface="Courier New" pitchFamily="49" charset="0"/>
              <a:buChar char="o"/>
            </a:pPr>
            <a:r>
              <a:rPr lang="en-US" sz="2200" dirty="0" smtClean="0"/>
              <a:t>Reflectance oximetry relies on light that is reflected (backscattered) to determine oxygen saturation. </a:t>
            </a:r>
          </a:p>
          <a:p>
            <a:pPr lvl="1">
              <a:buFont typeface="Courier New" pitchFamily="49" charset="0"/>
              <a:buChar char="o"/>
            </a:pPr>
            <a:r>
              <a:rPr lang="en-US" sz="2200" dirty="0" smtClean="0"/>
              <a:t>The probe has both an LED and a photodiode.</a:t>
            </a:r>
          </a:p>
          <a:p>
            <a:pPr lvl="1">
              <a:buFont typeface="Courier New" pitchFamily="49" charset="0"/>
              <a:buChar char="o"/>
            </a:pPr>
            <a:r>
              <a:rPr lang="en-US" sz="2200" dirty="0" smtClean="0"/>
              <a:t>The </a:t>
            </a:r>
            <a:r>
              <a:rPr lang="en-US" sz="2200" dirty="0" smtClean="0">
                <a:solidFill>
                  <a:srgbClr val="0070C0"/>
                </a:solidFill>
              </a:rPr>
              <a:t>signals are weaker</a:t>
            </a:r>
            <a:r>
              <a:rPr lang="en-US" sz="2200" dirty="0" smtClean="0"/>
              <a:t> than those found in transmission oximetry, so the photodiode area needs to be </a:t>
            </a:r>
            <a:r>
              <a:rPr lang="en-US" sz="2200" dirty="0" smtClean="0">
                <a:solidFill>
                  <a:srgbClr val="0070C0"/>
                </a:solidFill>
              </a:rPr>
              <a:t>as large</a:t>
            </a:r>
            <a:r>
              <a:rPr lang="en-US" sz="2200" dirty="0" smtClean="0"/>
              <a:t> as possible.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14400"/>
            <a:ext cx="1905000" cy="503238"/>
          </a:xfrm>
          <a:prstGeom prst="round2Diag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Physiology </a:t>
            </a:r>
            <a:endParaRPr lang="en-US" sz="2800" dirty="0">
              <a:solidFill>
                <a:srgbClr val="0070C0"/>
              </a:solidFill>
              <a:effectLst/>
            </a:endParaRPr>
          </a:p>
        </p:txBody>
      </p:sp>
      <p:sp>
        <p:nvSpPr>
          <p:cNvPr id="3" name="Content Placeholder 2"/>
          <p:cNvSpPr>
            <a:spLocks noGrp="1"/>
          </p:cNvSpPr>
          <p:nvPr>
            <p:ph idx="1"/>
          </p:nvPr>
        </p:nvSpPr>
        <p:spPr>
          <a:xfrm>
            <a:off x="990600" y="1600200"/>
            <a:ext cx="7943088" cy="5029200"/>
          </a:xfrm>
        </p:spPr>
        <p:txBody>
          <a:bodyPr>
            <a:normAutofit/>
          </a:bodyPr>
          <a:lstStyle/>
          <a:p>
            <a:pPr marL="365125" indent="-365125">
              <a:buFont typeface="Courier New" pitchFamily="49" charset="0"/>
              <a:buChar char="o"/>
            </a:pPr>
            <a:r>
              <a:rPr lang="en-US" sz="2100" dirty="0" smtClean="0"/>
              <a:t>Efficient oxygen transport relies on the ability of hemoglobin to reversibly load and unload oxygen. </a:t>
            </a:r>
          </a:p>
          <a:p>
            <a:pPr marL="365125" indent="-365125">
              <a:buFont typeface="Courier New" pitchFamily="49" charset="0"/>
              <a:buChar char="o"/>
            </a:pPr>
            <a:r>
              <a:rPr lang="en-US" sz="2200" dirty="0" smtClean="0"/>
              <a:t>There are </a:t>
            </a:r>
            <a:r>
              <a:rPr lang="en-US" sz="2200" i="1" dirty="0" smtClean="0">
                <a:solidFill>
                  <a:srgbClr val="0070C0"/>
                </a:solidFill>
              </a:rPr>
              <a:t>five important</a:t>
            </a:r>
            <a:r>
              <a:rPr lang="en-US" sz="2200" dirty="0" smtClean="0"/>
              <a:t> things that must happen in order to deliver enough oxygen to the tissues:</a:t>
            </a:r>
          </a:p>
          <a:p>
            <a:pPr marL="1060704" lvl="2" indent="-457200">
              <a:buClrTx/>
              <a:buFont typeface="+mj-lt"/>
              <a:buAutoNum type="arabicPeriod"/>
            </a:pPr>
            <a:r>
              <a:rPr lang="en-US" sz="2050" dirty="0" smtClean="0"/>
              <a:t>Oxygen must be </a:t>
            </a:r>
            <a:r>
              <a:rPr lang="en-US" sz="2050" dirty="0" smtClean="0">
                <a:solidFill>
                  <a:srgbClr val="0070C0"/>
                </a:solidFill>
              </a:rPr>
              <a:t>breathed in</a:t>
            </a:r>
            <a:r>
              <a:rPr lang="en-US" sz="2050" dirty="0" smtClean="0"/>
              <a:t> (or inspired) from the air or anaesthesia circuit into the lungs.</a:t>
            </a:r>
          </a:p>
          <a:p>
            <a:pPr marL="1060704" lvl="2" indent="-457200">
              <a:buClrTx/>
              <a:buFont typeface="+mj-lt"/>
              <a:buAutoNum type="arabicPeriod"/>
            </a:pPr>
            <a:r>
              <a:rPr lang="en-US" sz="2050" dirty="0" smtClean="0"/>
              <a:t>Oxygen must pass from the air spaces in the lung (called the alveoli) to the blood. This is called </a:t>
            </a:r>
            <a:r>
              <a:rPr lang="en-US" sz="2050" dirty="0" smtClean="0">
                <a:solidFill>
                  <a:srgbClr val="0070C0"/>
                </a:solidFill>
              </a:rPr>
              <a:t>alveolar gas exchange.</a:t>
            </a:r>
          </a:p>
          <a:p>
            <a:pPr marL="1060704" lvl="2" indent="-457200">
              <a:buClrTx/>
              <a:buFont typeface="+mj-lt"/>
              <a:buAutoNum type="arabicPeriod"/>
            </a:pPr>
            <a:r>
              <a:rPr lang="en-US" sz="2050" dirty="0" smtClean="0"/>
              <a:t>The blood must contain </a:t>
            </a:r>
            <a:r>
              <a:rPr lang="en-US" sz="2050" dirty="0" smtClean="0">
                <a:solidFill>
                  <a:srgbClr val="0070C0"/>
                </a:solidFill>
              </a:rPr>
              <a:t>enough hemoglobin</a:t>
            </a:r>
            <a:r>
              <a:rPr lang="en-US" sz="2050" dirty="0" smtClean="0"/>
              <a:t> to carry sufficient oxygen to the tissues.</a:t>
            </a:r>
          </a:p>
          <a:p>
            <a:pPr marL="1060704" lvl="2" indent="-457200">
              <a:buClrTx/>
              <a:buFont typeface="+mj-lt"/>
              <a:buAutoNum type="arabicPeriod"/>
            </a:pPr>
            <a:r>
              <a:rPr lang="en-US" sz="2050" dirty="0" smtClean="0"/>
              <a:t>The </a:t>
            </a:r>
            <a:r>
              <a:rPr lang="en-US" sz="2050" dirty="0" smtClean="0">
                <a:solidFill>
                  <a:srgbClr val="0070C0"/>
                </a:solidFill>
              </a:rPr>
              <a:t>heart</a:t>
            </a:r>
            <a:r>
              <a:rPr lang="en-US" sz="2050" dirty="0" smtClean="0"/>
              <a:t> must be able to </a:t>
            </a:r>
            <a:r>
              <a:rPr lang="en-US" sz="2050" dirty="0" smtClean="0">
                <a:solidFill>
                  <a:srgbClr val="0070C0"/>
                </a:solidFill>
              </a:rPr>
              <a:t>pump </a:t>
            </a:r>
            <a:r>
              <a:rPr lang="en-US" sz="2050" dirty="0" smtClean="0"/>
              <a:t>enough blood to the tissues to meet the patient’s oxygen requirements</a:t>
            </a:r>
          </a:p>
          <a:p>
            <a:pPr marL="1060704" lvl="2" indent="-457200">
              <a:buClrTx/>
              <a:buFont typeface="+mj-lt"/>
              <a:buAutoNum type="arabicPeriod"/>
            </a:pPr>
            <a:r>
              <a:rPr lang="en-US" sz="2050" dirty="0" smtClean="0"/>
              <a:t>The </a:t>
            </a:r>
            <a:r>
              <a:rPr lang="en-US" sz="2050" dirty="0" smtClean="0">
                <a:solidFill>
                  <a:srgbClr val="0070C0"/>
                </a:solidFill>
              </a:rPr>
              <a:t>volume of blood</a:t>
            </a:r>
            <a:r>
              <a:rPr lang="en-US" sz="2050" dirty="0" smtClean="0"/>
              <a:t> in the circulation must be adequate to ensure oxygenated blood is distributed to all the tissues.</a:t>
            </a:r>
          </a:p>
          <a:p>
            <a:pPr marL="365125" indent="-365125">
              <a:buFont typeface="Courier New" pitchFamily="49" charset="0"/>
              <a:buChar char="o"/>
            </a:pPr>
            <a:endParaRPr 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762000"/>
            <a:ext cx="2450592" cy="304800"/>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
        <p:nvSpPr>
          <p:cNvPr id="3" name="Content Placeholder 2"/>
          <p:cNvSpPr>
            <a:spLocks noGrp="1"/>
          </p:cNvSpPr>
          <p:nvPr>
            <p:ph idx="1"/>
          </p:nvPr>
        </p:nvSpPr>
        <p:spPr>
          <a:xfrm>
            <a:off x="990600" y="1447800"/>
            <a:ext cx="7943088" cy="4800600"/>
          </a:xfrm>
        </p:spPr>
        <p:txBody>
          <a:bodyPr>
            <a:normAutofit/>
          </a:bodyPr>
          <a:lstStyle/>
          <a:p>
            <a:pPr>
              <a:buFont typeface="Courier New" pitchFamily="49" charset="0"/>
              <a:buChar char="o"/>
            </a:pPr>
            <a:r>
              <a:rPr lang="en-US" sz="2400" dirty="0" smtClean="0"/>
              <a:t>The heart normally pumps approximately </a:t>
            </a:r>
            <a:r>
              <a:rPr lang="en-US" sz="2400" dirty="0" smtClean="0">
                <a:solidFill>
                  <a:srgbClr val="0070C0"/>
                </a:solidFill>
              </a:rPr>
              <a:t>5000 ml of blood per minute</a:t>
            </a:r>
            <a:r>
              <a:rPr lang="en-US" sz="2400" dirty="0" smtClean="0"/>
              <a:t> to the tissues in an average sized adult. </a:t>
            </a:r>
          </a:p>
          <a:p>
            <a:pPr>
              <a:buFont typeface="Courier New" pitchFamily="49" charset="0"/>
              <a:buChar char="o"/>
            </a:pPr>
            <a:r>
              <a:rPr lang="en-US" sz="2400" dirty="0" smtClean="0"/>
              <a:t>This delivers about </a:t>
            </a:r>
            <a:r>
              <a:rPr lang="en-US" sz="2400" dirty="0" smtClean="0">
                <a:solidFill>
                  <a:srgbClr val="0070C0"/>
                </a:solidFill>
              </a:rPr>
              <a:t>1000</a:t>
            </a:r>
            <a:r>
              <a:rPr lang="en-US" sz="2400" dirty="0" smtClean="0"/>
              <a:t> </a:t>
            </a:r>
            <a:r>
              <a:rPr lang="en-US" sz="2400" dirty="0" smtClean="0">
                <a:solidFill>
                  <a:srgbClr val="0070C0"/>
                </a:solidFill>
              </a:rPr>
              <a:t>ml of oxygen</a:t>
            </a:r>
            <a:r>
              <a:rPr lang="en-US" sz="2400" dirty="0" smtClean="0"/>
              <a:t> to the tissues per minute.</a:t>
            </a:r>
          </a:p>
          <a:p>
            <a:pPr>
              <a:buFont typeface="Courier New" pitchFamily="49" charset="0"/>
              <a:buChar char="o"/>
            </a:pPr>
            <a:r>
              <a:rPr lang="en-US" sz="2400" dirty="0" smtClean="0"/>
              <a:t>The cells in the tissues extract oxygen from the blood for metabolism, normally around 250ml of oxygen per minute. </a:t>
            </a:r>
          </a:p>
          <a:p>
            <a:pPr>
              <a:buFont typeface="Courier New" pitchFamily="49" charset="0"/>
              <a:buChar char="o"/>
            </a:pPr>
            <a:r>
              <a:rPr lang="en-US" sz="2400" dirty="0" smtClean="0"/>
              <a:t>This means that if there is no oxygen being exchanged in the lung, there is only enough oxygen stored in the blood for around</a:t>
            </a:r>
            <a:r>
              <a:rPr lang="en-US" sz="2400" dirty="0" smtClean="0">
                <a:solidFill>
                  <a:srgbClr val="0070C0"/>
                </a:solidFill>
              </a:rPr>
              <a:t> 3 minutes</a:t>
            </a:r>
            <a:r>
              <a:rPr lang="en-US" sz="2400" dirty="0" smtClean="0"/>
              <a:t>.</a:t>
            </a:r>
          </a:p>
          <a:p>
            <a:pPr>
              <a:buFont typeface="Courier New" pitchFamily="49" charset="0"/>
              <a:buChar char="o"/>
            </a:pPr>
            <a:r>
              <a:rPr lang="en-US" sz="2400" dirty="0" smtClean="0">
                <a:solidFill>
                  <a:srgbClr val="0070C0"/>
                </a:solidFill>
              </a:rPr>
              <a:t>Anemic</a:t>
            </a:r>
            <a:r>
              <a:rPr lang="en-US" sz="2400" dirty="0" smtClean="0"/>
              <a:t> patients have lower levels of hemoglobin and are therefore unable to carry as much oxygen in the blood.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447800"/>
            <a:ext cx="7943088" cy="5257800"/>
          </a:xfrm>
        </p:spPr>
        <p:txBody>
          <a:bodyPr>
            <a:normAutofit/>
          </a:bodyPr>
          <a:lstStyle/>
          <a:p>
            <a:pPr marL="401638" indent="-401638">
              <a:buFont typeface="Courier New" pitchFamily="49" charset="0"/>
              <a:buChar char="o"/>
            </a:pPr>
            <a:r>
              <a:rPr lang="en-US" sz="2400" dirty="0" smtClean="0"/>
              <a:t>At a hemoglobin concentration of </a:t>
            </a:r>
            <a:r>
              <a:rPr lang="en-US" sz="2400" dirty="0" smtClean="0">
                <a:solidFill>
                  <a:srgbClr val="0070C0"/>
                </a:solidFill>
              </a:rPr>
              <a:t>less than 6g/dl</a:t>
            </a:r>
            <a:r>
              <a:rPr lang="en-US" sz="2400" dirty="0" smtClean="0"/>
              <a:t>, delivery of oxygen to the tissues may become </a:t>
            </a:r>
            <a:r>
              <a:rPr lang="en-US" sz="2400" dirty="0" smtClean="0">
                <a:solidFill>
                  <a:srgbClr val="0070C0"/>
                </a:solidFill>
              </a:rPr>
              <a:t>too low</a:t>
            </a:r>
            <a:r>
              <a:rPr lang="en-US" sz="2400" dirty="0" smtClean="0"/>
              <a:t> to meet the metabolic demands. </a:t>
            </a:r>
          </a:p>
          <a:p>
            <a:pPr marL="401638" indent="-401638">
              <a:buFont typeface="Courier New" pitchFamily="49" charset="0"/>
              <a:buChar char="o"/>
            </a:pPr>
            <a:r>
              <a:rPr lang="en-US" sz="2400" dirty="0" smtClean="0"/>
              <a:t>Patients who suffer major blood loss during surgery and become acutely anemic should be given </a:t>
            </a:r>
            <a:r>
              <a:rPr lang="en-US" sz="2400" dirty="0" smtClean="0">
                <a:solidFill>
                  <a:srgbClr val="0070C0"/>
                </a:solidFill>
              </a:rPr>
              <a:t>100% oxygen</a:t>
            </a:r>
            <a:r>
              <a:rPr lang="en-US" sz="2400" dirty="0" smtClean="0"/>
              <a:t> to breathe. </a:t>
            </a:r>
          </a:p>
          <a:p>
            <a:pPr marL="401638" indent="-401638">
              <a:buFont typeface="Courier New" pitchFamily="49" charset="0"/>
              <a:buChar char="o"/>
            </a:pPr>
            <a:r>
              <a:rPr lang="en-US" sz="2400" dirty="0" smtClean="0"/>
              <a:t>This will increase the amount of dissolved oxygen in the blood and will improve tissue oxygen delivery by a small amount.</a:t>
            </a:r>
          </a:p>
          <a:p>
            <a:pPr marL="401638" indent="-401638">
              <a:buFont typeface="Courier New" pitchFamily="49" charset="0"/>
              <a:buChar char="o"/>
            </a:pPr>
            <a:r>
              <a:rPr lang="en-US" sz="2400" dirty="0" smtClean="0"/>
              <a:t>The relationship between oxygen tension and oxygen binding is seen in the </a:t>
            </a:r>
            <a:r>
              <a:rPr lang="en-US" sz="2400" dirty="0" smtClean="0">
                <a:solidFill>
                  <a:srgbClr val="0070C0"/>
                </a:solidFill>
              </a:rPr>
              <a:t>oxyhemoglobin dissociation curve</a:t>
            </a:r>
            <a:r>
              <a:rPr lang="en-US" sz="2400" dirty="0" smtClean="0"/>
              <a:t>, which plots the hemoglobin oxygen saturation against the oxygen tension.</a:t>
            </a:r>
          </a:p>
          <a:p>
            <a:pPr marL="401638" indent="-401638">
              <a:buFont typeface="Courier New" pitchFamily="49" charset="0"/>
              <a:buChar char="o"/>
            </a:pPr>
            <a:endParaRPr lang="en-US" sz="2400" dirty="0"/>
          </a:p>
        </p:txBody>
      </p:sp>
      <p:sp>
        <p:nvSpPr>
          <p:cNvPr id="4" name="Title 1"/>
          <p:cNvSpPr>
            <a:spLocks noGrp="1"/>
          </p:cNvSpPr>
          <p:nvPr>
            <p:ph type="title"/>
          </p:nvPr>
        </p:nvSpPr>
        <p:spPr>
          <a:xfrm>
            <a:off x="1295400" y="762000"/>
            <a:ext cx="2450592" cy="304800"/>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427038"/>
            <a:ext cx="2374392" cy="411162"/>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
        <p:nvSpPr>
          <p:cNvPr id="3" name="Content Placeholder 2"/>
          <p:cNvSpPr>
            <a:spLocks noGrp="1"/>
          </p:cNvSpPr>
          <p:nvPr>
            <p:ph idx="1"/>
          </p:nvPr>
        </p:nvSpPr>
        <p:spPr>
          <a:xfrm>
            <a:off x="990600" y="1295400"/>
            <a:ext cx="7943088" cy="5334000"/>
          </a:xfrm>
        </p:spPr>
        <p:txBody>
          <a:bodyPr>
            <a:normAutofit/>
          </a:bodyPr>
          <a:lstStyle/>
          <a:p>
            <a:pPr marL="365125" indent="-365125">
              <a:buFont typeface="Courier New" pitchFamily="49" charset="0"/>
              <a:buChar char="o"/>
            </a:pPr>
            <a:r>
              <a:rPr lang="en-US" sz="2400" dirty="0" smtClean="0"/>
              <a:t>The sigmoid shape of the curve is essential for physiologic transport. </a:t>
            </a:r>
          </a:p>
          <a:p>
            <a:pPr marL="365125" indent="-365125">
              <a:buFont typeface="Courier New" pitchFamily="49" charset="0"/>
              <a:buChar char="o"/>
            </a:pPr>
            <a:r>
              <a:rPr lang="en-US" sz="2400" dirty="0" smtClean="0"/>
              <a:t>As oxygen is taken up in the lungs, the blood is nearly fully saturated over a large range of tensions.</a:t>
            </a:r>
          </a:p>
          <a:p>
            <a:pPr marL="365125" indent="-365125">
              <a:buFont typeface="Courier New" pitchFamily="49" charset="0"/>
              <a:buChar char="o"/>
            </a:pPr>
            <a:r>
              <a:rPr lang="en-US" sz="2400" dirty="0" smtClean="0"/>
              <a:t>During passage through the systemic capillaries, a large amount of oxygen is released with a relatively </a:t>
            </a:r>
            <a:r>
              <a:rPr lang="en-US" sz="2400" dirty="0" smtClean="0">
                <a:solidFill>
                  <a:srgbClr val="0070C0"/>
                </a:solidFill>
              </a:rPr>
              <a:t>small drop in tension. </a:t>
            </a:r>
          </a:p>
          <a:p>
            <a:pPr marL="365125" indent="-365125">
              <a:buFont typeface="Courier New" pitchFamily="49" charset="0"/>
              <a:buChar char="o"/>
            </a:pPr>
            <a:r>
              <a:rPr lang="en-US" sz="2400" dirty="0" smtClean="0"/>
              <a:t>This allows oxygen to be released at </a:t>
            </a:r>
            <a:r>
              <a:rPr lang="en-US" sz="2400" dirty="0" smtClean="0">
                <a:solidFill>
                  <a:srgbClr val="0070C0"/>
                </a:solidFill>
              </a:rPr>
              <a:t>sufficiently high concentrations</a:t>
            </a:r>
            <a:r>
              <a:rPr lang="en-US" sz="2400" dirty="0" smtClean="0"/>
              <a:t> to provide an adequate gradient for diffusion into the cells.</a:t>
            </a:r>
          </a:p>
          <a:p>
            <a:pPr marL="365125" indent="-365125">
              <a:buFont typeface="Courier New" pitchFamily="49" charset="0"/>
              <a:buChar char="o"/>
            </a:pPr>
            <a:r>
              <a:rPr lang="en-US" sz="2400" dirty="0" smtClean="0"/>
              <a:t>The shape of the oxyhemoglobin dissociation curve limits the degree of </a:t>
            </a:r>
            <a:r>
              <a:rPr lang="en-US" sz="2400" dirty="0" smtClean="0">
                <a:solidFill>
                  <a:srgbClr val="0070C0"/>
                </a:solidFill>
              </a:rPr>
              <a:t>desaturation</a:t>
            </a:r>
            <a:r>
              <a:rPr lang="en-US" sz="2400" dirty="0" smtClean="0"/>
              <a:t> that can be </a:t>
            </a:r>
            <a:r>
              <a:rPr lang="en-US" sz="2400" dirty="0" smtClean="0">
                <a:solidFill>
                  <a:srgbClr val="0070C0"/>
                </a:solidFill>
              </a:rPr>
              <a:t>tolerated</a:t>
            </a:r>
            <a:r>
              <a:rPr lang="en-US" sz="24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r="3053"/>
          <a:stretch>
            <a:fillRect/>
          </a:stretch>
        </p:blipFill>
        <p:spPr bwMode="auto">
          <a:xfrm>
            <a:off x="4191000" y="1219200"/>
            <a:ext cx="4953000" cy="5181600"/>
          </a:xfrm>
          <a:prstGeom prst="rect">
            <a:avLst/>
          </a:prstGeom>
          <a:noFill/>
          <a:ln w="9525">
            <a:noFill/>
            <a:miter lim="800000"/>
            <a:headEnd/>
            <a:tailEnd/>
          </a:ln>
          <a:effectLst/>
        </p:spPr>
      </p:pic>
      <p:sp>
        <p:nvSpPr>
          <p:cNvPr id="7" name="TextBox 6"/>
          <p:cNvSpPr txBox="1"/>
          <p:nvPr/>
        </p:nvSpPr>
        <p:spPr>
          <a:xfrm>
            <a:off x="990600" y="1384042"/>
            <a:ext cx="3200400" cy="5016758"/>
          </a:xfrm>
          <a:prstGeom prst="rect">
            <a:avLst/>
          </a:prstGeom>
          <a:noFill/>
        </p:spPr>
        <p:txBody>
          <a:bodyPr wrap="square" rtlCol="0">
            <a:spAutoFit/>
          </a:bodyPr>
          <a:lstStyle/>
          <a:p>
            <a:pPr marL="365125" indent="-365125">
              <a:buFont typeface="Courier New" pitchFamily="49" charset="0"/>
              <a:buChar char="o"/>
            </a:pPr>
            <a:r>
              <a:rPr lang="en-US" sz="2000" dirty="0" smtClean="0"/>
              <a:t>Between </a:t>
            </a:r>
            <a:r>
              <a:rPr lang="en-US" sz="2000" dirty="0" smtClean="0">
                <a:solidFill>
                  <a:srgbClr val="0070C0"/>
                </a:solidFill>
              </a:rPr>
              <a:t>90% and 100% </a:t>
            </a:r>
            <a:r>
              <a:rPr lang="en-US" sz="2000" dirty="0" smtClean="0"/>
              <a:t>saturation, the partial pressure of oxygen in arterial blood (PaO</a:t>
            </a:r>
            <a:r>
              <a:rPr lang="en-US" sz="2000" baseline="-25000" dirty="0" smtClean="0"/>
              <a:t>2</a:t>
            </a:r>
            <a:r>
              <a:rPr lang="en-US" sz="2000" dirty="0" smtClean="0"/>
              <a:t>) will be </a:t>
            </a:r>
            <a:r>
              <a:rPr lang="en-US" sz="2000" dirty="0" smtClean="0">
                <a:solidFill>
                  <a:srgbClr val="0070C0"/>
                </a:solidFill>
              </a:rPr>
              <a:t>60 mmHg or above.</a:t>
            </a:r>
            <a:r>
              <a:rPr lang="en-US" sz="2000" dirty="0" smtClean="0"/>
              <a:t> </a:t>
            </a:r>
          </a:p>
          <a:p>
            <a:pPr marL="365125" indent="-365125">
              <a:buFont typeface="Courier New" pitchFamily="49" charset="0"/>
              <a:buChar char="o"/>
            </a:pPr>
            <a:r>
              <a:rPr lang="en-US" sz="2000" dirty="0" smtClean="0">
                <a:solidFill>
                  <a:srgbClr val="0070C0"/>
                </a:solidFill>
              </a:rPr>
              <a:t>Below 90%</a:t>
            </a:r>
            <a:r>
              <a:rPr lang="en-US" sz="2000" dirty="0" smtClean="0"/>
              <a:t> saturation, the curve becomes </a:t>
            </a:r>
            <a:r>
              <a:rPr lang="en-US" sz="2000" dirty="0" smtClean="0">
                <a:solidFill>
                  <a:srgbClr val="0070C0"/>
                </a:solidFill>
              </a:rPr>
              <a:t>steeper,</a:t>
            </a:r>
            <a:r>
              <a:rPr lang="en-US" sz="2000" dirty="0" smtClean="0"/>
              <a:t> and </a:t>
            </a:r>
            <a:r>
              <a:rPr lang="en-US" sz="2000" dirty="0" smtClean="0">
                <a:solidFill>
                  <a:srgbClr val="0070C0"/>
                </a:solidFill>
              </a:rPr>
              <a:t>small drops</a:t>
            </a:r>
            <a:r>
              <a:rPr lang="en-US" sz="2000" dirty="0" smtClean="0"/>
              <a:t> in saturation correspond to </a:t>
            </a:r>
            <a:r>
              <a:rPr lang="en-US" sz="2000" dirty="0" smtClean="0">
                <a:solidFill>
                  <a:srgbClr val="0070C0"/>
                </a:solidFill>
              </a:rPr>
              <a:t>large drops</a:t>
            </a:r>
            <a:r>
              <a:rPr lang="en-US" sz="2000" dirty="0" smtClean="0"/>
              <a:t> in oxygen partial </a:t>
            </a:r>
            <a:r>
              <a:rPr lang="en-US" sz="2000" dirty="0" smtClean="0">
                <a:solidFill>
                  <a:srgbClr val="0070C0"/>
                </a:solidFill>
              </a:rPr>
              <a:t>pressure</a:t>
            </a:r>
            <a:r>
              <a:rPr lang="en-US" sz="2000" dirty="0" smtClean="0"/>
              <a:t>. </a:t>
            </a:r>
          </a:p>
          <a:p>
            <a:pPr marL="365125" indent="-365125">
              <a:buFont typeface="Courier New" pitchFamily="49" charset="0"/>
              <a:buChar char="o"/>
            </a:pPr>
            <a:r>
              <a:rPr lang="en-US" sz="2000" dirty="0" smtClean="0"/>
              <a:t>If a problem develops, there may </a:t>
            </a:r>
            <a:r>
              <a:rPr lang="en-US" sz="2000" dirty="0" smtClean="0">
                <a:solidFill>
                  <a:srgbClr val="0070C0"/>
                </a:solidFill>
              </a:rPr>
              <a:t>not be much warning</a:t>
            </a:r>
            <a:r>
              <a:rPr lang="en-US" sz="2000" dirty="0" smtClean="0"/>
              <a:t> before the oxygen level becomes dangerously low.</a:t>
            </a:r>
          </a:p>
        </p:txBody>
      </p:sp>
      <p:sp>
        <p:nvSpPr>
          <p:cNvPr id="9" name="TextBox 8"/>
          <p:cNvSpPr txBox="1"/>
          <p:nvPr/>
        </p:nvSpPr>
        <p:spPr>
          <a:xfrm>
            <a:off x="990600" y="6324600"/>
            <a:ext cx="8077200" cy="400110"/>
          </a:xfrm>
          <a:prstGeom prst="rect">
            <a:avLst/>
          </a:prstGeom>
          <a:noFill/>
        </p:spPr>
        <p:txBody>
          <a:bodyPr wrap="square" rtlCol="0">
            <a:spAutoFit/>
          </a:bodyPr>
          <a:lstStyle/>
          <a:p>
            <a:pPr marL="346075" indent="-346075">
              <a:buFont typeface="Courier New" pitchFamily="49" charset="0"/>
              <a:buChar char="o"/>
            </a:pPr>
            <a:r>
              <a:rPr lang="en-US" sz="2000" dirty="0" smtClean="0"/>
              <a:t>Normal saturation will decrease as altitude above sea level increases. </a:t>
            </a:r>
            <a:r>
              <a:rPr lang="en-US" sz="2000" dirty="0" smtClean="0">
                <a:solidFill>
                  <a:srgbClr val="0070C0"/>
                </a:solidFill>
              </a:rPr>
              <a:t>FX</a:t>
            </a:r>
            <a:endParaRPr lang="en-US" sz="2000" dirty="0">
              <a:solidFill>
                <a:srgbClr val="0070C0"/>
              </a:solidFill>
            </a:endParaRPr>
          </a:p>
        </p:txBody>
      </p:sp>
      <p:sp>
        <p:nvSpPr>
          <p:cNvPr id="10" name="Title 1"/>
          <p:cNvSpPr>
            <a:spLocks noGrp="1"/>
          </p:cNvSpPr>
          <p:nvPr>
            <p:ph type="title"/>
          </p:nvPr>
        </p:nvSpPr>
        <p:spPr>
          <a:xfrm>
            <a:off x="1435608" y="731838"/>
            <a:ext cx="2374392" cy="411162"/>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blinds(horizontal)">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undef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5412"/>
            <a:ext cx="7162800" cy="6738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970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7760" y="685800"/>
            <a:ext cx="3215640" cy="457200"/>
          </a:xfrm>
          <a:prstGeom prst="round2Diag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Plethysmography </a:t>
            </a:r>
            <a:endParaRPr lang="en-US" sz="2800" dirty="0">
              <a:solidFill>
                <a:srgbClr val="0070C0"/>
              </a:solidFill>
              <a:effectLst/>
            </a:endParaRPr>
          </a:p>
        </p:txBody>
      </p:sp>
      <p:sp>
        <p:nvSpPr>
          <p:cNvPr id="3" name="Subtitle 2"/>
          <p:cNvSpPr>
            <a:spLocks noGrp="1"/>
          </p:cNvSpPr>
          <p:nvPr>
            <p:ph type="subTitle" idx="1"/>
          </p:nvPr>
        </p:nvSpPr>
        <p:spPr>
          <a:xfrm>
            <a:off x="990600" y="1447800"/>
            <a:ext cx="7848600" cy="5257800"/>
          </a:xfrm>
        </p:spPr>
        <p:txBody>
          <a:bodyPr>
            <a:noAutofit/>
          </a:bodyPr>
          <a:lstStyle/>
          <a:p>
            <a:pPr marL="401638" indent="-374650">
              <a:buFont typeface="Courier New" pitchFamily="49" charset="0"/>
              <a:buChar char="o"/>
            </a:pPr>
            <a:r>
              <a:rPr lang="en-US" sz="2200" dirty="0" smtClean="0"/>
              <a:t>The </a:t>
            </a:r>
            <a:r>
              <a:rPr lang="en-US" sz="2200" i="1" dirty="0" smtClean="0">
                <a:solidFill>
                  <a:srgbClr val="0070C0"/>
                </a:solidFill>
              </a:rPr>
              <a:t>plethysmograph signal amplitude </a:t>
            </a:r>
            <a:r>
              <a:rPr lang="en-US" sz="2200" dirty="0" smtClean="0"/>
              <a:t>is directly proportional to the </a:t>
            </a:r>
            <a:r>
              <a:rPr lang="en-US" sz="2200" i="1" dirty="0" smtClean="0">
                <a:solidFill>
                  <a:srgbClr val="0070C0"/>
                </a:solidFill>
              </a:rPr>
              <a:t>vascular distensibility</a:t>
            </a:r>
            <a:r>
              <a:rPr lang="en-US" sz="2200" i="1" dirty="0" smtClean="0"/>
              <a:t> </a:t>
            </a:r>
            <a:r>
              <a:rPr lang="en-US" sz="2200" dirty="0" smtClean="0"/>
              <a:t>over a wide range of cardiac output. </a:t>
            </a:r>
          </a:p>
          <a:p>
            <a:pPr marL="401638" indent="-374650">
              <a:buFont typeface="Courier New" pitchFamily="49" charset="0"/>
              <a:buChar char="o"/>
            </a:pPr>
            <a:r>
              <a:rPr lang="en-US" sz="2200" dirty="0" smtClean="0"/>
              <a:t>A correlation between </a:t>
            </a:r>
            <a:r>
              <a:rPr lang="en-US" sz="2200" dirty="0" smtClean="0">
                <a:solidFill>
                  <a:srgbClr val="0070C0"/>
                </a:solidFill>
              </a:rPr>
              <a:t>pulse waveform amplitude</a:t>
            </a:r>
            <a:r>
              <a:rPr lang="en-US" sz="2200" dirty="0" smtClean="0"/>
              <a:t> variation during PPV and hypovolemia has been reported.</a:t>
            </a:r>
          </a:p>
          <a:p>
            <a:pPr marL="401638" indent="-374650">
              <a:buFont typeface="Courier New" pitchFamily="49" charset="0"/>
              <a:buChar char="o"/>
            </a:pPr>
            <a:r>
              <a:rPr lang="en-US" sz="2200" dirty="0" smtClean="0"/>
              <a:t>If </a:t>
            </a:r>
            <a:r>
              <a:rPr lang="en-US" sz="2200" dirty="0" smtClean="0">
                <a:solidFill>
                  <a:srgbClr val="0070C0"/>
                </a:solidFill>
              </a:rPr>
              <a:t>brief interruption </a:t>
            </a:r>
            <a:r>
              <a:rPr lang="en-US" sz="2200" dirty="0" smtClean="0"/>
              <a:t>of ventilation causes the waveform to </a:t>
            </a:r>
            <a:r>
              <a:rPr lang="en-US" sz="2200" dirty="0" smtClean="0">
                <a:solidFill>
                  <a:srgbClr val="0070C0"/>
                </a:solidFill>
              </a:rPr>
              <a:t>return to normal</a:t>
            </a:r>
            <a:r>
              <a:rPr lang="en-US" sz="2200" dirty="0" smtClean="0"/>
              <a:t> or more constant function, a trial of </a:t>
            </a:r>
            <a:r>
              <a:rPr lang="en-US" sz="2200" dirty="0" smtClean="0">
                <a:solidFill>
                  <a:srgbClr val="0070C0"/>
                </a:solidFill>
              </a:rPr>
              <a:t>fluid therapy</a:t>
            </a:r>
            <a:r>
              <a:rPr lang="en-US" sz="2200" dirty="0" smtClean="0"/>
              <a:t> may be warranted.</a:t>
            </a:r>
          </a:p>
          <a:p>
            <a:pPr marL="401638" indent="-374650">
              <a:buFont typeface="Courier New" pitchFamily="49" charset="0"/>
              <a:buChar char="o"/>
            </a:pPr>
            <a:r>
              <a:rPr lang="en-US" sz="2200" dirty="0" smtClean="0"/>
              <a:t>During anesthesia, the un-gained pulseoximeter signal may be used to determine the extent of attenuation of the </a:t>
            </a:r>
            <a:r>
              <a:rPr lang="en-US" sz="2200" i="1" dirty="0" smtClean="0">
                <a:solidFill>
                  <a:srgbClr val="0070C0"/>
                </a:solidFill>
              </a:rPr>
              <a:t>sympathetic response to stimuli</a:t>
            </a:r>
            <a:r>
              <a:rPr lang="en-US" sz="2200" i="1" dirty="0" smtClean="0"/>
              <a:t>.</a:t>
            </a:r>
          </a:p>
          <a:p>
            <a:pPr marL="401638" indent="-374650">
              <a:buFont typeface="Courier New" pitchFamily="49" charset="0"/>
              <a:buChar char="o"/>
            </a:pPr>
            <a:r>
              <a:rPr lang="en-US" sz="2200" dirty="0" smtClean="0"/>
              <a:t>Another important feature of the waveform is the </a:t>
            </a:r>
            <a:r>
              <a:rPr lang="en-US" sz="2200" i="1" dirty="0" smtClean="0">
                <a:solidFill>
                  <a:srgbClr val="0070C0"/>
                </a:solidFill>
              </a:rPr>
              <a:t>dicrotic notch. </a:t>
            </a:r>
          </a:p>
          <a:p>
            <a:pPr marL="401638" indent="-374650">
              <a:buFont typeface="Courier New" pitchFamily="49" charset="0"/>
              <a:buChar char="o"/>
            </a:pPr>
            <a:r>
              <a:rPr lang="en-US" sz="2200" dirty="0" smtClean="0"/>
              <a:t>The notch tends to </a:t>
            </a:r>
            <a:r>
              <a:rPr lang="en-US" sz="2200" i="1" dirty="0" smtClean="0">
                <a:solidFill>
                  <a:srgbClr val="0070C0"/>
                </a:solidFill>
              </a:rPr>
              <a:t>descend</a:t>
            </a:r>
            <a:r>
              <a:rPr lang="en-US" sz="2200" i="1" dirty="0" smtClean="0"/>
              <a:t> </a:t>
            </a:r>
            <a:r>
              <a:rPr lang="en-US" sz="2200" dirty="0" smtClean="0"/>
              <a:t>toward the baseline during </a:t>
            </a:r>
            <a:r>
              <a:rPr lang="en-US" sz="2200" i="1" dirty="0" smtClean="0">
                <a:solidFill>
                  <a:srgbClr val="0070C0"/>
                </a:solidFill>
              </a:rPr>
              <a:t>increasing vasodilation</a:t>
            </a:r>
            <a:r>
              <a:rPr lang="en-US" sz="2200" dirty="0" smtClean="0"/>
              <a:t> and gets </a:t>
            </a:r>
            <a:r>
              <a:rPr lang="en-US" sz="2200" i="1" dirty="0" smtClean="0">
                <a:solidFill>
                  <a:srgbClr val="0070C0"/>
                </a:solidFill>
              </a:rPr>
              <a:t>higher</a:t>
            </a:r>
            <a:r>
              <a:rPr lang="en-US" sz="2200" dirty="0" smtClean="0">
                <a:solidFill>
                  <a:srgbClr val="0070C0"/>
                </a:solidFill>
              </a:rPr>
              <a:t> </a:t>
            </a:r>
            <a:r>
              <a:rPr lang="en-US" sz="2200" dirty="0" smtClean="0"/>
              <a:t>with </a:t>
            </a:r>
            <a:r>
              <a:rPr lang="en-US" sz="2200" i="1" dirty="0" smtClean="0">
                <a:solidFill>
                  <a:srgbClr val="0070C0"/>
                </a:solidFill>
              </a:rPr>
              <a:t>vasoconstriction.</a:t>
            </a:r>
            <a:endParaRPr lang="en-US" sz="2200" i="1" dirty="0">
              <a:solidFill>
                <a:srgbClr val="0070C0"/>
              </a:solidFill>
            </a:endParaRPr>
          </a:p>
        </p:txBody>
      </p:sp>
      <p:pic>
        <p:nvPicPr>
          <p:cNvPr id="16385" name="Picture 1" descr="C:\Users\pc\Desktop\Arterial-Pulsation-Wave-Form_WEB2.jpg"/>
          <p:cNvPicPr>
            <a:picLocks noChangeAspect="1" noChangeArrowheads="1"/>
          </p:cNvPicPr>
          <p:nvPr/>
        </p:nvPicPr>
        <p:blipFill>
          <a:blip r:embed="rId2"/>
          <a:srcRect/>
          <a:stretch>
            <a:fillRect/>
          </a:stretch>
        </p:blipFill>
        <p:spPr bwMode="auto">
          <a:xfrm>
            <a:off x="4819650" y="76200"/>
            <a:ext cx="2266950" cy="141446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457200"/>
            <a:ext cx="1082040" cy="457200"/>
          </a:xfrm>
          <a:prstGeom prst="round2Diag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Sites </a:t>
            </a:r>
            <a:endParaRPr lang="en-US" sz="2800" dirty="0">
              <a:solidFill>
                <a:srgbClr val="0070C0"/>
              </a:solidFill>
              <a:effectLst/>
            </a:endParaRPr>
          </a:p>
        </p:txBody>
      </p:sp>
      <p:sp>
        <p:nvSpPr>
          <p:cNvPr id="3" name="Subtitle 2"/>
          <p:cNvSpPr>
            <a:spLocks noGrp="1"/>
          </p:cNvSpPr>
          <p:nvPr>
            <p:ph type="subTitle" idx="1"/>
          </p:nvPr>
        </p:nvSpPr>
        <p:spPr>
          <a:xfrm>
            <a:off x="990600" y="1981200"/>
            <a:ext cx="7848600" cy="4419600"/>
          </a:xfrm>
        </p:spPr>
        <p:txBody>
          <a:bodyPr>
            <a:noAutofit/>
          </a:bodyPr>
          <a:lstStyle/>
          <a:p>
            <a:pPr marL="401638" indent="-401638">
              <a:buFont typeface="Courier New" pitchFamily="49" charset="0"/>
              <a:buChar char="o"/>
            </a:pPr>
            <a:r>
              <a:rPr lang="en-US" sz="2200" dirty="0" smtClean="0"/>
              <a:t>The probe is </a:t>
            </a:r>
            <a:r>
              <a:rPr lang="en-US" sz="2200" i="1" dirty="0" smtClean="0">
                <a:solidFill>
                  <a:srgbClr val="0070C0"/>
                </a:solidFill>
              </a:rPr>
              <a:t>most commonly attached </a:t>
            </a:r>
            <a:r>
              <a:rPr lang="en-US" sz="2200" dirty="0" smtClean="0"/>
              <a:t>over the fingertip.</a:t>
            </a:r>
          </a:p>
          <a:p>
            <a:pPr marL="401638" indent="-401638">
              <a:buFont typeface="Courier New" pitchFamily="49" charset="0"/>
              <a:buChar char="o"/>
            </a:pPr>
            <a:r>
              <a:rPr lang="en-US" sz="2200" dirty="0" smtClean="0"/>
              <a:t> The </a:t>
            </a:r>
            <a:r>
              <a:rPr lang="en-US" sz="2200" i="1" dirty="0" smtClean="0">
                <a:solidFill>
                  <a:srgbClr val="0070C0"/>
                </a:solidFill>
              </a:rPr>
              <a:t>failure rate is less</a:t>
            </a:r>
            <a:r>
              <a:rPr lang="en-US" sz="2200" dirty="0" smtClean="0"/>
              <a:t>, and </a:t>
            </a:r>
            <a:r>
              <a:rPr lang="en-US" sz="2200" i="1" dirty="0" smtClean="0">
                <a:solidFill>
                  <a:srgbClr val="0070C0"/>
                </a:solidFill>
              </a:rPr>
              <a:t>accuracy is better </a:t>
            </a:r>
            <a:r>
              <a:rPr lang="en-US" sz="2200" dirty="0" smtClean="0"/>
              <a:t>when the probe is placed on the finger than on the earlobe.</a:t>
            </a:r>
          </a:p>
          <a:p>
            <a:pPr marL="401638" indent="-401638">
              <a:buFont typeface="Courier New" pitchFamily="49" charset="0"/>
              <a:buChar char="o"/>
            </a:pPr>
            <a:r>
              <a:rPr lang="en-US" sz="2200" dirty="0" smtClean="0"/>
              <a:t>The finger is relatively </a:t>
            </a:r>
            <a:r>
              <a:rPr lang="en-US" sz="2200" i="1" dirty="0" smtClean="0">
                <a:solidFill>
                  <a:srgbClr val="0070C0"/>
                </a:solidFill>
              </a:rPr>
              <a:t>sensitive to sympathetic system </a:t>
            </a:r>
            <a:r>
              <a:rPr lang="en-US" sz="2200" dirty="0" smtClean="0"/>
              <a:t>vasoconstriction. </a:t>
            </a:r>
          </a:p>
          <a:p>
            <a:pPr marL="401638" indent="-401638">
              <a:buFont typeface="Courier New" pitchFamily="49" charset="0"/>
              <a:buChar char="o"/>
            </a:pPr>
            <a:r>
              <a:rPr lang="en-US" sz="2200" dirty="0" smtClean="0"/>
              <a:t>Vigorously </a:t>
            </a:r>
            <a:r>
              <a:rPr lang="en-US" sz="2200" i="1" dirty="0" smtClean="0">
                <a:solidFill>
                  <a:srgbClr val="0070C0"/>
                </a:solidFill>
              </a:rPr>
              <a:t>rubbing</a:t>
            </a:r>
            <a:r>
              <a:rPr lang="en-US" sz="2200" dirty="0" smtClean="0"/>
              <a:t> the fingertip may temporarily improve circulation to the area.</a:t>
            </a:r>
          </a:p>
          <a:p>
            <a:pPr marL="401638" indent="-401638">
              <a:buFont typeface="Courier New" pitchFamily="49" charset="0"/>
              <a:buChar char="o"/>
            </a:pPr>
            <a:r>
              <a:rPr lang="en-US" sz="2200" dirty="0" smtClean="0"/>
              <a:t>A </a:t>
            </a:r>
            <a:r>
              <a:rPr lang="en-US" sz="2200" i="1" dirty="0" smtClean="0">
                <a:solidFill>
                  <a:srgbClr val="0070C0"/>
                </a:solidFill>
              </a:rPr>
              <a:t>disadvantage</a:t>
            </a:r>
            <a:r>
              <a:rPr lang="en-US" sz="2200" dirty="0" smtClean="0"/>
              <a:t> of placing a probe on an extremity is that </a:t>
            </a:r>
            <a:r>
              <a:rPr lang="en-US" sz="2200" i="1" dirty="0" smtClean="0">
                <a:solidFill>
                  <a:srgbClr val="0070C0"/>
                </a:solidFill>
              </a:rPr>
              <a:t>detection</a:t>
            </a:r>
            <a:r>
              <a:rPr lang="en-US" sz="2200" dirty="0" smtClean="0"/>
              <a:t> of desaturation and re-saturation is </a:t>
            </a:r>
            <a:r>
              <a:rPr lang="en-US" sz="2200" i="1" dirty="0" smtClean="0">
                <a:solidFill>
                  <a:srgbClr val="0070C0"/>
                </a:solidFill>
              </a:rPr>
              <a:t>slower</a:t>
            </a:r>
            <a:r>
              <a:rPr lang="en-US" sz="2200" dirty="0" smtClean="0"/>
              <a:t> than when probes are placed more centrally. </a:t>
            </a:r>
          </a:p>
          <a:p>
            <a:pPr marL="401638" indent="-401638">
              <a:buFont typeface="Courier New" pitchFamily="49" charset="0"/>
              <a:buChar char="o"/>
            </a:pPr>
            <a:r>
              <a:rPr lang="en-US" sz="2200" dirty="0" smtClean="0"/>
              <a:t>Response time may be quicker when the probe is placed on the </a:t>
            </a:r>
            <a:r>
              <a:rPr lang="en-US" sz="2200" i="1" dirty="0" smtClean="0">
                <a:solidFill>
                  <a:srgbClr val="0070C0"/>
                </a:solidFill>
              </a:rPr>
              <a:t>thumb.</a:t>
            </a:r>
            <a:endParaRPr lang="en-US" sz="2200" i="1" dirty="0">
              <a:solidFill>
                <a:srgbClr val="0070C0"/>
              </a:solidFill>
            </a:endParaRPr>
          </a:p>
        </p:txBody>
      </p:sp>
      <p:sp>
        <p:nvSpPr>
          <p:cNvPr id="4" name="TextBox 3"/>
          <p:cNvSpPr txBox="1"/>
          <p:nvPr/>
        </p:nvSpPr>
        <p:spPr>
          <a:xfrm>
            <a:off x="1295400" y="1143000"/>
            <a:ext cx="1981200" cy="510778"/>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smtClean="0">
                <a:solidFill>
                  <a:srgbClr val="0070C0"/>
                </a:solidFill>
              </a:rPr>
              <a:t>1.  Finger </a:t>
            </a:r>
            <a:endParaRPr lang="en-US" sz="2400" dirty="0">
              <a:solidFill>
                <a:srgbClr val="0070C0"/>
              </a:solidFill>
            </a:endParaRPr>
          </a:p>
        </p:txBody>
      </p:sp>
      <p:sp>
        <p:nvSpPr>
          <p:cNvPr id="15362" name="AutoShape 2" descr="data:image/jpeg;base64,/9j/4AAQSkZJRgABAQAAAQABAAD/2wBDAAkGBwgHBgkIBwgKCgkLDRYPDQwMDRsUFRAWIB0iIiAdHx8kKDQsJCYxJx8fLT0tMTU3Ojo6Iys/RD84QzQ5Ojf/2wBDAQoKCg0MDRoPDxo3JR8lNzc3Nzc3Nzc3Nzc3Nzc3Nzc3Nzc3Nzc3Nzc3Nzc3Nzc3Nzc3Nzc3Nzc3Nzc3Nzc3Nzf/wAARCACGAMIDASIAAhEBAxEB/8QAGwAAAQUBAQAAAAAAAAAAAAAAAAIDBAUGAQf/xAA8EAABAwIEAwYEBAQFBQAAAAABAAIDBBEFEiExE0FRBiIyYXGRFEKBoRUjYrEzcpLRQ1JT4fAWNKKywf/EABkBAQADAQEAAAAAAAAAAAAAAAABAgMEBf/EACIRAQACAgEEAwEBAAAAAAAAAAABAgMRIQQSMVETFEFCYf/aAAwDAQACEQMRAD8A9xQhVfaTE5sIw34qngbPIZo4msdnt33Bt+41ztL30BQWiFmI+2ELqch9JLHWxvjjmgcCAxzmxvOpAPhkadQDyICIO3GGTz08DIK3izzGLJwbmO2TvPAN2j8xnnre1gSg06FnqrtDNT4hIw0kT6NkroCWTfnmQR59GEAWsObgeeyjjtvQmBtVHT1MtNLE2WIsYMxYQ8lxBIsMsZPXla+iDUoWVrO29HTtlbHQV0s8cDpXRiNoDXDN3HOvYO7jvLTe5Ck03a2kqqxtLT0de+V1SacXhDRcZszrkjujI7z00BuLhoUIQgEIQgFwm26TJI2NuZ5AHmqvEcRm4Ego+5IGnK5wvr6ILdIfIxgu9wb6qi/GxJTtkMoaHAXDd7pqJ9XWd6kp3Fh/xH6A+6C4kxGFps1r3eYGiR+I32iP1coceE1jh+bUxsPPI0u+5snm4IPnq5SfIAIHxiPWL2cujEY/mY76WKjuwRvy1Uw9QCmHYFODeOuPo5iCzZXU7rXfl9Qn2Sxv8D2n0Kzz8LxOO+R8Mo5WNj9/7po/GQfxqWQW+Zrb/cINTdCzMWLPbtK5o6HVT4MWNhnYHDqxBboUP8Tp+rv6UIJiRJGyUASMa4BwcMwvYjUFLQgivw6ikqHVD6SB07gA6QxguIG2qQzCMNjMZZQUrTHIZWWib3Xndw00PmpqEEOXC8PmqH1MtDTPnfGYnSOiBc5h3aT08kr8OoruPwkHevf8sa3vf/2PuVKQghy4Xh8zy+WhpnvLHRlzogSWuN3D0JJulQYdRUzy+npIInF2clkYBzWtf1topSEAhJe9rGlzyGtG5OgChRYvSyTGNvEuBcOLDY/VBOO29lEnrWtuIu8evJR6modNpctZ0HNRXkRg3IaPNAuVzpDmkdc+aiVNQxpaxl3yE2DGi5K7D8RiDyykFoxo6Zw0Hp1VzQ4dBRi7BmkPikd4igqsKwQsrnVtRGxt2kCI97W416LQADouhCAQhJcbAkoOlZ7G+00NATFSgTzDQ691vqRv6Kux/tEah76TDpCIx3Xyt3d5A9PNZ7gA73ssMmT8q68PT75sequ0uNyEuZWPYD8scbbD7E/dco+3OLUbstW1lW39YDHe4FvsmHMY0eig1TYS03aLrGL2j9dHxUnjTY03bPAMRGWvhdTPOhMrAR9HD/ZWLcMpayEVGD1rHsd4bPztP1Gq8kmYA4mO10UVbWYbPxqCokppeZjOh9QdD9VrXNP6xt0sfy9V/DcXGmWP+sIWQb2/xgNF20hNtSYzr/5IV/mqx+tkeroQhasAhCEAhCLoBR6uqjpWXkOp2aNymq2tEPcis6X7NVU6N8zi6Qkk8ygTPVS1jncTRgGjBt/ulxMDWMc0AXFr+achgsfooc04ozI2UExgEgb3QP1NUynF3ak7AJVJhs9aRLX3ji3EWznevRVnZev/ABjF5JoqR0lJCC11RIR3JOgF9T+yt8W7Q09ETHTgTzjQgHutPmf/AIomYjytWs2nULmONkcbWRsDWgWDQNl1r2uvZwNuh2XnNfiWIV7rzVDw0HwMNm+ygQxywuzMlewk3Ja4g/ZYznj06I6W0xzL1a6Lry4PmOrp5SfN5K6HTD/Gk/qKj549J+pPt6VV1cNHC6aokbHG0alyxWOdopMQDoYCYqbnY96T16DyVO9jn+N73fzElJ4VtCq3zTPhfHgivM8kmQN0aPZdzSHyTjY7DZKDFjt0o5YTqU1LT52mw1U7hkhdEVxogz1RTZBfYDdRJIs22y0dRCHAg7HdU80bqd+vhOyQlX/D+qFPsOoQpQ9xQhC73kBCFwnTdB1VtbXG5ipzcjxPHL0SaysMpMUJs35nDn6JFPT3sgbhgJ1I3UxkAA2TrGho2SkDTY232VbjzIfg3mUgOIIabak9FNra+KlDhcOkDblpdYNHUnkFkK+umr5HCJxcxwIMpFrjo0ch9yqXvFYaY8c3nhnOy78To8GZhxnIjMj5ZXsuHSOcb2JvtysrlkJuABoE7T04jAAAACkZmt6XXJNpmdy9CtYrGoNsgGWx3QaXXkh1RZ41XHVFlC3JJpiDpZdNP6JPxISHVHmoC+CBa66Ym9E0akDdDakEoHuGByXOELXSBPdBmQKyW5ro0OoTPGKDLogXNG12otZVdfEHsNxdTnPJGhUSQknUpKYlS8A+aFYlovshQtw9iQhcXovGCrKyqMpMUR7mxI5pVdVZ3GCI/wAzh+y5TwaA2QJp4BpopoYGiwXQA0WCRLNHCxz5Hta1ou4nYIO21VZiWLxU7Dw5P05xrc9GjmfsFBxXGHPJhiB1+TYn+boPLfqqOaSxMsz80lrX6DoOgWV8sV8N8eGbcz4OTvkrHXm0izXEYO56uPMoL2s0AVdLiDQ7dR5K8bg3XLMzPl3RWKxqFq+UqJNVBvNJgo8RrReKAsjPzy90f3VjH2XYYj8VVyGQjQRtsB7q0UtKtstK+ZZ2fELSauXWYgHDdNYhgFdE6RzyCyM7s1uOvkqtsJEgYSWk81M4rRG5RGek27YXZrR1XBWXPiVc6klb4ZAfUJh/GjOrgPOxWemy64+Y7p6OZltTqsy6qkBABzHkAd06yoqQQXxuAG900cNM2Zp2K6ZQeazzK+xsdE9+IBvLnumkLriW5o4ul1VMrQ87hONqe79UFi6UAXTbgST5KMx5lcAFOsCEDPDCE7YIQ29SlkbFG573ZWgXJVGcTqJi57DkidoxttbdU7jfGkfHHqKfdxA0JTFNG0kE6AeEdF6DyD9NFaxKsYzZthv0VbO5wAaCWg72TTXZdABb0V645tG1JvEJeLYpT4VSOqaokNGgDRcuPIBYn/qmfFXyksEOR3dyknKD9s3n7LSYrEyuw+SnnaXxkai+o8wsbh8X4dJNhdTEXU07hJDUZdA/bK4/TRUyUmI00x3jcTJySrZG0htgP3TEcVfiTstJBI9v+a1mj6nRamhwjDKaJkzow95AOaV2ax6AbfZWPGdlyxRkDkSLBc8Yfbrt1MfzDMUfZOQ2diFS0X3ZDqfcq9pKDDsO/wC3hbxOTj3nJ9wcdZJDbo3RIL2MFmgC+9lrFKx4c9st7eZOPkkfs2w/UU2QN3OJ6tvomzISQGgm+wG6l0+FT1BBnPCb0O/srs0F5Dxw2NuDpYDdYXFuGzFpoIhYQuyOuLd7mvYKWhgpW/lMGbm46krz3thgU8GOPrYYy+GscCC0eF9tQel7X91ll328N+n138qZpHDu7ayhVDWP+Unyurr4HheMB9uYRwIzs0Lkeiy8kLgQY22INxZTBO2SnAkGVw0IPPzV26kY7kFHmw5h2apGemZY3YdFJicJ4QDbaydqcPsS1tx6JiOlmhNmOuOhCBh8JhkDxawU6OTMwOHNNyteG/mRu9Rqk0uYAixtfTRELCkf3w52wVk17SfEFVRwSTC5JA6DmpsdOxo1Bv1uoE7KhMZj/wACE3KHq9k2+CJ/ijaU6heg8lX11I3hh8QsW7i/JV3NaEqsxN0LNmt4h1JG4WtMnbGpUtTfMK6eWOGGSWZwbGxuZ7jyHNQKajZV4RDDXMIfJE3iDZzSbH6EfuE9U8GUgvu4NcHBrtrjY+aM8sptGxzj0AuovfuKVmDo4UV8gF+Z5pLp0/DhFXNq+0Q/UdfZWNPg9PFrJeQ+eg9lmupWNmndaJjnnoArCnwWR1jUPDR/lbqVdMY1gysaGjoBZKQR6akgph+VG1p67n3UiyEIBUfamcxUcbPle+xV4oOLUAr6R0N8rt2O6FVtG40tSYi0TLFhrH+Fwv0KTU04ZCx7gA5zrA9QotfFVYbMGVkZjcfC4+F3oUVFe2SGmAeCLG+vNck8eXpRzzEnWsFtQkcIuJ6JEc1/cKTG8BpPMHVVW3pGdAAbEXKbNOD8oVmWB2pXHNaETtUmkaflSW0jW3s0K0c1pSDGFBtAZBlOmieEYHJSmxC6VwAiNolm9EKXwEKdG3oqEIXe8kmRzmxuc1uZwBIaOZ6LLYca/GKuf4ijnpIWG3FlFs/8o3WrQgroMIpWWc8Okd+o6eynRxRxDLGxrR0aLJaEAhCEAhCEAhCEAuWXUIImJYfTYlSvpquMSRuHPkeo6FeV43gtTgldw5LuiN+FJyeP7jovX1DxTDqfE6R9NVMzMOx5tPUdCs70i0NcWWaT/jy6knEjAL2I6qY2UWdY6ZSoONYZVYLW8GY6HWOUDSQf85KNDiUQ0k/Ld57Fcs7idS9CJi0bhoRMLDXkllwPNVIlm4bJRFIYnC7XhpsR5FLZWhvjuPVQLG6LqKypa7VrgfqlcZNmklrtU6COSgcQ3T7Jbc02aSboTPGHkhNmnoqEIXe8oIQhAIQhAIQhAIQhAIQhAIQhAIKEIIWJ4XSYpT8CtiEjL3BvYtPUHkqSn7B4HDMJXQyTW1ySyEt9uf1QhRNYlaL2iNRLSNjaxgY1rQxosGgWAXHRRuFnRscPNoQhTpCNNhGHTfxaGnJPPhi/uoU3ZfC5L5YnxX/03kIQqzWPSYvaPEoMnY+MH8itkA6PYD+1kw7snUjVtXCfVhCELO1K+mtct/Zk9ma3/Xp/uhCFXsq0+W/t/9k="/>
          <p:cNvSpPr>
            <a:spLocks noChangeAspect="1" noChangeArrowheads="1"/>
          </p:cNvSpPr>
          <p:nvPr/>
        </p:nvSpPr>
        <p:spPr bwMode="auto">
          <a:xfrm>
            <a:off x="0" y="-576263"/>
            <a:ext cx="1714500" cy="11811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364" name="Picture 4" descr="http://www.yalemedicalgroup.org/stw/images/126094.jpg"/>
          <p:cNvPicPr>
            <a:picLocks noChangeAspect="1" noChangeArrowheads="1"/>
          </p:cNvPicPr>
          <p:nvPr/>
        </p:nvPicPr>
        <p:blipFill>
          <a:blip r:embed="rId2"/>
          <a:srcRect/>
          <a:stretch>
            <a:fillRect/>
          </a:stretch>
        </p:blipFill>
        <p:spPr bwMode="auto">
          <a:xfrm>
            <a:off x="3962400" y="95249"/>
            <a:ext cx="3581400" cy="180975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447800"/>
            <a:ext cx="7943088" cy="5257800"/>
          </a:xfrm>
        </p:spPr>
        <p:txBody>
          <a:bodyPr>
            <a:normAutofit/>
          </a:bodyPr>
          <a:lstStyle/>
          <a:p>
            <a:pPr marL="457200" indent="-457200">
              <a:buFont typeface="Courier New" pitchFamily="49" charset="0"/>
              <a:buChar char="o"/>
            </a:pPr>
            <a:r>
              <a:rPr lang="en-US" sz="2200" i="1" dirty="0" smtClean="0">
                <a:solidFill>
                  <a:srgbClr val="0070C0"/>
                </a:solidFill>
              </a:rPr>
              <a:t>Motion artifacts </a:t>
            </a:r>
            <a:r>
              <a:rPr lang="en-US" sz="2200" dirty="0" smtClean="0"/>
              <a:t>are </a:t>
            </a:r>
            <a:r>
              <a:rPr lang="en-US" sz="2200" i="1" dirty="0" smtClean="0">
                <a:solidFill>
                  <a:srgbClr val="0070C0"/>
                </a:solidFill>
              </a:rPr>
              <a:t>less</a:t>
            </a:r>
            <a:r>
              <a:rPr lang="en-US" sz="2200" dirty="0" smtClean="0"/>
              <a:t> frequent when the probe is placed on one of the larger fingers.</a:t>
            </a:r>
          </a:p>
          <a:p>
            <a:pPr marL="457200" indent="-457200">
              <a:buFont typeface="Courier New" pitchFamily="49" charset="0"/>
              <a:buChar char="o"/>
            </a:pPr>
            <a:r>
              <a:rPr lang="en-US" sz="2200" dirty="0" smtClean="0"/>
              <a:t>The probe may be placed over a finger that has a </a:t>
            </a:r>
            <a:r>
              <a:rPr lang="en-US" sz="2200" i="1" dirty="0" smtClean="0">
                <a:solidFill>
                  <a:srgbClr val="0070C0"/>
                </a:solidFill>
              </a:rPr>
              <a:t>burn.</a:t>
            </a:r>
          </a:p>
          <a:p>
            <a:pPr marL="457200" indent="-457200">
              <a:buFont typeface="Courier New" pitchFamily="49" charset="0"/>
              <a:buChar char="o"/>
            </a:pPr>
            <a:r>
              <a:rPr lang="en-US" sz="2200" dirty="0" smtClean="0"/>
              <a:t>The probe should </a:t>
            </a:r>
            <a:r>
              <a:rPr lang="en-US" sz="2200" i="1" dirty="0" smtClean="0">
                <a:solidFill>
                  <a:srgbClr val="0070C0"/>
                </a:solidFill>
              </a:rPr>
              <a:t>not be on the index finger </a:t>
            </a:r>
            <a:r>
              <a:rPr lang="en-US" sz="2200" dirty="0" smtClean="0"/>
              <a:t>during recovery.  As a patient awakens, the patient often will want to rub his or her eye, usually with the index finger. If the oximeter probe is on that finger, the cornea can be scratched.</a:t>
            </a:r>
          </a:p>
          <a:p>
            <a:pPr marL="457200" indent="-457200">
              <a:buFont typeface="Courier New" pitchFamily="49" charset="0"/>
              <a:buChar char="o"/>
            </a:pPr>
            <a:r>
              <a:rPr lang="en-US" sz="2200" dirty="0" smtClean="0"/>
              <a:t>In general, the arm </a:t>
            </a:r>
            <a:r>
              <a:rPr lang="en-US" sz="2200" i="1" dirty="0" smtClean="0">
                <a:solidFill>
                  <a:srgbClr val="0070C0"/>
                </a:solidFill>
              </a:rPr>
              <a:t>opposite</a:t>
            </a:r>
            <a:r>
              <a:rPr lang="en-US" sz="2200" dirty="0" smtClean="0"/>
              <a:t> from that on which the </a:t>
            </a:r>
            <a:r>
              <a:rPr lang="en-US" sz="2200" i="1" dirty="0" smtClean="0">
                <a:solidFill>
                  <a:srgbClr val="0070C0"/>
                </a:solidFill>
              </a:rPr>
              <a:t>blood pressure cuff </a:t>
            </a:r>
            <a:r>
              <a:rPr lang="en-US" sz="2200" dirty="0" smtClean="0"/>
              <a:t>is applied or in which an arterial catheter has been inserted should be used.</a:t>
            </a:r>
          </a:p>
          <a:p>
            <a:pPr marL="457200" indent="-457200">
              <a:buFont typeface="Courier New" pitchFamily="49" charset="0"/>
              <a:buChar char="o"/>
            </a:pPr>
            <a:r>
              <a:rPr lang="en-US" sz="2200" dirty="0" smtClean="0"/>
              <a:t>Occasionally, </a:t>
            </a:r>
            <a:r>
              <a:rPr lang="en-US" sz="2200" i="1" dirty="0" smtClean="0">
                <a:solidFill>
                  <a:srgbClr val="0070C0"/>
                </a:solidFill>
              </a:rPr>
              <a:t>poor function </a:t>
            </a:r>
            <a:r>
              <a:rPr lang="en-US" sz="2200" dirty="0" smtClean="0"/>
              <a:t>may occur with probe attachment to the same extremity as the intravenous infusion, due to local </a:t>
            </a:r>
            <a:r>
              <a:rPr lang="en-US" sz="2200" i="1" dirty="0" smtClean="0">
                <a:solidFill>
                  <a:srgbClr val="0070C0"/>
                </a:solidFill>
              </a:rPr>
              <a:t>hypothermia</a:t>
            </a:r>
            <a:r>
              <a:rPr lang="en-US" sz="2200" dirty="0" smtClean="0"/>
              <a:t> and </a:t>
            </a:r>
            <a:r>
              <a:rPr lang="en-US" sz="2200" i="1" dirty="0" smtClean="0">
                <a:solidFill>
                  <a:srgbClr val="0070C0"/>
                </a:solidFill>
              </a:rPr>
              <a:t>vasoconstriction.</a:t>
            </a:r>
          </a:p>
        </p:txBody>
      </p:sp>
      <p:sp>
        <p:nvSpPr>
          <p:cNvPr id="4" name="Title 1"/>
          <p:cNvSpPr>
            <a:spLocks noGrp="1"/>
          </p:cNvSpPr>
          <p:nvPr>
            <p:ph type="title"/>
          </p:nvPr>
        </p:nvSpPr>
        <p:spPr>
          <a:xfrm>
            <a:off x="1435608" y="808038"/>
            <a:ext cx="2374392" cy="411162"/>
          </a:xfrm>
        </p:spPr>
        <p:txBody>
          <a:bodyPr>
            <a:noAutofit/>
          </a:bodyPr>
          <a:lstStyle/>
          <a:p>
            <a:r>
              <a:rPr lang="en-US" sz="2800" dirty="0" smtClean="0">
                <a:solidFill>
                  <a:srgbClr val="0070C0"/>
                </a:solidFill>
                <a:effectLst/>
              </a:rPr>
              <a:t>Cont’d …</a:t>
            </a:r>
            <a:endParaRPr lang="en-US" sz="2800" dirty="0">
              <a:solidFill>
                <a:srgbClr val="0070C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066800"/>
            <a:ext cx="1307592" cy="350838"/>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2.  Toe </a:t>
            </a:r>
            <a:endParaRPr lang="en-US" sz="2800" dirty="0">
              <a:solidFill>
                <a:srgbClr val="0070C0"/>
              </a:solidFill>
              <a:effectLst/>
            </a:endParaRPr>
          </a:p>
        </p:txBody>
      </p:sp>
      <p:sp>
        <p:nvSpPr>
          <p:cNvPr id="3" name="Content Placeholder 2"/>
          <p:cNvSpPr>
            <a:spLocks noGrp="1"/>
          </p:cNvSpPr>
          <p:nvPr>
            <p:ph idx="1"/>
          </p:nvPr>
        </p:nvSpPr>
        <p:spPr>
          <a:xfrm>
            <a:off x="990600" y="1676400"/>
            <a:ext cx="7943088" cy="4876800"/>
          </a:xfrm>
        </p:spPr>
        <p:txBody>
          <a:bodyPr>
            <a:normAutofit/>
          </a:bodyPr>
          <a:lstStyle/>
          <a:p>
            <a:pPr marL="457200" indent="-457200">
              <a:buFont typeface="Courier New" pitchFamily="49" charset="0"/>
              <a:buChar char="o"/>
            </a:pPr>
            <a:r>
              <a:rPr lang="en-US" sz="2200" dirty="0" smtClean="0"/>
              <a:t>An alternate site when the finger is </a:t>
            </a:r>
            <a:r>
              <a:rPr lang="en-US" sz="2200" dirty="0" smtClean="0">
                <a:solidFill>
                  <a:srgbClr val="0070C0"/>
                </a:solidFill>
              </a:rPr>
              <a:t>not available</a:t>
            </a:r>
            <a:r>
              <a:rPr lang="en-US" sz="2200" dirty="0" smtClean="0"/>
              <a:t> or the signal from the finger is </a:t>
            </a:r>
            <a:r>
              <a:rPr lang="en-US" sz="2200" dirty="0" smtClean="0">
                <a:solidFill>
                  <a:srgbClr val="0070C0"/>
                </a:solidFill>
              </a:rPr>
              <a:t>unsatisfactory.</a:t>
            </a:r>
            <a:r>
              <a:rPr lang="en-US" sz="2200" dirty="0" smtClean="0"/>
              <a:t> </a:t>
            </a:r>
          </a:p>
          <a:p>
            <a:pPr marL="457200" indent="-457200">
              <a:buFont typeface="Courier New" pitchFamily="49" charset="0"/>
              <a:buChar char="o"/>
            </a:pPr>
            <a:r>
              <a:rPr lang="en-US" sz="2200" dirty="0" smtClean="0"/>
              <a:t>Detection of desaturation or re-saturation will not be as rapid as with more centrally placed probes. </a:t>
            </a:r>
          </a:p>
          <a:p>
            <a:pPr marL="457200" indent="-457200">
              <a:buFont typeface="Courier New" pitchFamily="49" charset="0"/>
              <a:buChar char="o"/>
            </a:pPr>
            <a:r>
              <a:rPr lang="en-US" sz="2200" dirty="0" smtClean="0"/>
              <a:t>The delay in detection of hypoxemia may be up to </a:t>
            </a:r>
            <a:r>
              <a:rPr lang="en-US" sz="2200" i="1" dirty="0" smtClean="0">
                <a:solidFill>
                  <a:srgbClr val="0070C0"/>
                </a:solidFill>
              </a:rPr>
              <a:t>1 to 2 minutes. </a:t>
            </a:r>
          </a:p>
          <a:p>
            <a:pPr marL="457200" indent="-457200">
              <a:buFont typeface="Courier New" pitchFamily="49" charset="0"/>
              <a:buChar char="o"/>
            </a:pPr>
            <a:r>
              <a:rPr lang="en-US" sz="2200" dirty="0" smtClean="0"/>
              <a:t>The toe may provide a more reliable signal in patients who have had an </a:t>
            </a:r>
            <a:r>
              <a:rPr lang="en-US" sz="2200" i="1" dirty="0" smtClean="0">
                <a:solidFill>
                  <a:srgbClr val="0070C0"/>
                </a:solidFill>
              </a:rPr>
              <a:t>epidural block.</a:t>
            </a:r>
          </a:p>
          <a:p>
            <a:pPr marL="457200" indent="-457200">
              <a:buFont typeface="Courier New" pitchFamily="49" charset="0"/>
              <a:buChar char="o"/>
            </a:pPr>
            <a:r>
              <a:rPr lang="en-US" sz="2200" dirty="0" smtClean="0"/>
              <a:t>An increase in pulse amplitude from the toe may be a sign of a </a:t>
            </a:r>
            <a:r>
              <a:rPr lang="en-US" sz="2200" i="1" dirty="0" smtClean="0">
                <a:solidFill>
                  <a:srgbClr val="0070C0"/>
                </a:solidFill>
              </a:rPr>
              <a:t>successful block.</a:t>
            </a:r>
            <a:endParaRPr lang="en-US" sz="2200" i="1" dirty="0">
              <a:solidFill>
                <a:srgbClr val="0070C0"/>
              </a:solidFill>
            </a:endParaRPr>
          </a:p>
        </p:txBody>
      </p:sp>
      <p:sp>
        <p:nvSpPr>
          <p:cNvPr id="13314" name="AutoShape 2" descr="data:image/jpeg;base64,/9j/4AAQSkZJRgABAQAAAQABAAD/2wCEAAkGBhQRERQUExMUFBIUFRYUFxQVFxQUFBQTFxQVFBUVEhUXGyYfGBkjGRQUHy8gJCcpLCwsFR49NTAqNSYrLCkBCQoKDgwOGg8PGiwkHyUpKS0qLC8pLDUsLywpLCwsKTUpKSwsLCwsKS0qKSwsKSkuKSwsKTU1NSwpKSwsLDUsKf/AABEIAFMAeAMBIgACEQEDEQH/xAAbAAABBQEBAAAAAAAAAAAAAAAEAAIDBQYBB//EADcQAAIBAgMFBgUCBQUAAAAAAAECAAMRBAUhEjFBUXEGImGRocEUMoGx0VLhE1NykqIHIzNCYv/EABoBAAMBAQEBAAAAAAAAAAAAAAECAwQABQb/xAAjEQACAgICAgIDAQAAAAAAAAAAAQIREiEDMRNBBCIyUbEj/9oADAMBAAIRAxEAPwDz9KLu2zT1cnQXmjy1XTuuGVhzB9Dxmpyz/TmnQIc7bODe7Hj0E0+Hyg8oPmTjzTtFeGT41TMLT2mHdVm/pBMny7su9Vg9bupvFPW55bf4nodHK7brD6WhCYEA7piXHsvLntUijw+XIoFgIUuFlu2DHITq4USmJDIrFo24TqnwlqcLG/DQ4gsEWT0xJfhYjZd5A6mdVHAGOoag8/vI1ELxeKplfm6WglGg9TcNheZ3noIy5Y9di+N9kNUAbzOJTJF7G3SWIwy0wSLMwG9tdfaFtU21uLW6bjy1jZurBgiiencRSZV0sTqCR6xRnFPYqk46LE09YQqyGviFQd468uJ+kBObncosOZ1PlEKFnoAb8BeCPmgC3CubW3Dn1gD4kkXO0fT7Stq4iu24WH/o8JKXIk6KRg2adcZcaIdf1WW3WKhiNonVW8E1t1N5nabvb/cbbPjqB0Ek+KNrXNuQ0HpIP5Csp4WaNsQBvsOpH2g75oOAJ+0o1rx/xEV/Ib6CuFewzE5k53EKPDf5yHD4F313X/7N7QGvXvLXKczBoXPzKSvW270tBH/R/ZjS+i+oR8NTojacjTi3sJV47P2YgUluOLHQASpzSq3eerUv4DRQOXjKOl2iZnFOlSqXY2F1Kg9LzXcIaWzOozntmsbOCq2Niba/tJsv7U0lDLVdU1JBYjW/E+PCZ9uzWKq6tUVF5DVvSEYLsJQUhqhaq2/XQX+8McnoLcEtstxi0rFmpsHW41U31tOQujh1QWQBQOA0nJoWlRle3YMTz1PMxvxAEqnzUC94O2dr4es8jb9nqUi9qYoWg1TGylfNQZE2Pk2OqLh8T4yFsw8ZT1cfBTiTFoYvTjp0Y6UBxBjqeIMNAZeGveGZjjDRqUaS2Kqu1UHFi3I898rsj79amD+oH6DX2kOa4var1W5sQOi6SsdKyTWUqDcXmtMtrbTcOX7yAZ0nECUVWgtU/MVPMQdsiP8APP8AaPzF79lYpJUaCrntMcosr7SBnUIT8wUrckEE2uLnfMs+St/P/wAf3nez4/h4pNkhm2xaw+bXjcy3GqfZdQhLjnq3R6yKkUYbGKemfPmDqVrmROLyShSBW5NrGd21Hj0nk4nq2QqhkO1C2xSjgZXVcagPzC/Kc0vRybJiZzajUrqeIjgwPEeYi0GzhjqccKMetK0KidZddlv+YtwSmzelveUFSte5PEk+ZvL/ALPCyYluVK3nf8TPUjuBjSWkLH8mcXACqLrU2G8/MSJsnxA3VUI6MDCKuSX71KpsnkdVPuJA1DErp3DbjtEe0VFkDYnK6irtNWHRR+TL/sBlKhDXZdpttlSoeVhew3X1IvA+yuFXE4n+FWYkbJNqZIsR+okbuE9ObAqtIJTUKqjQDhNfCqeyfyeRxg+Oqb/gEHiiAim08cxpyJt+0x+gnFyOqxAUHqbWAm/pYHwkyZeBwmDxr9G/yMwNbsiTozMelljaPYxUFgD1JuZ6KmBHGELQXlGXGK5s81HZAHeZFjOwibN1JB9J6a2DXlBsRghaHA7M8rwnZTEK2jEDqbeUPrZVXQc/oJvKVK2lp10HKLiHNmSyem64XFbQsbKBpv3yg04iei1KI2GFt5ErauRK19BBiFTMiMJtfKxU+Yk1HImc96rp4DWXGIyAjdJcFljg6wYIbyyXTDOz+SUsPc0177fM51Y/geE0K6wTCULDWGqJSKJSk5O2UtYbLEeMUlzUWcHmIpsW0Y5dl4pnbxRSJpHCK87FOOHXjH3RRQHAjDWOde7FFFCCOun1E5s6RRRUcOtHU1EUUJxJHAzkUJxX5sNF6+0UUUtHohPs/9k="/>
          <p:cNvSpPr>
            <a:spLocks noChangeAspect="1" noChangeArrowheads="1"/>
          </p:cNvSpPr>
          <p:nvPr/>
        </p:nvSpPr>
        <p:spPr bwMode="auto">
          <a:xfrm>
            <a:off x="0" y="-385763"/>
            <a:ext cx="1143000" cy="7905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3316" name="AutoShape 4" descr="data:image/jpeg;base64,/9j/4AAQSkZJRgABAQAAAQABAAD/2wCEAAkGBhQRERQUExMUFBIUFRYUFxQVFxQUFBQTFxQVFBUVEhUXGyYfGBkjGRQUHy8gJCcpLCwsFR49NTAqNSYrLCkBCQoKDgwOGg8PGiwkHyUpKS0qLC8pLDUsLywpLCwsKTUpKSwsLCwsKS0qKSwsKSkuKSwsKTU1NSwpKSwsLDUsKf/AABEIAFMAeAMBIgACEQEDEQH/xAAbAAABBQEBAAAAAAAAAAAAAAAEAAIDBQYBB//EADcQAAIBAgMFBgUCBQUAAAAAAAECAAMRBAUhEjFBUXEGImGRocEUMoGx0VLhE1NykqIHIzNCYv/EABoBAAMBAQEBAAAAAAAAAAAAAAECAwQABQb/xAAjEQACAgICAgIDAQAAAAAAAAAAAQIREiEDMRNBBCIyUbEj/9oADAMBAAIRAxEAPwDz9KLu2zT1cnQXmjy1XTuuGVhzB9Dxmpyz/TmnQIc7bODe7Hj0E0+Hyg8oPmTjzTtFeGT41TMLT2mHdVm/pBMny7su9Vg9bupvFPW55bf4nodHK7brD6WhCYEA7piXHsvLntUijw+XIoFgIUuFlu2DHITq4USmJDIrFo24TqnwlqcLG/DQ4gsEWT0xJfhYjZd5A6mdVHAGOoag8/vI1ELxeKplfm6WglGg9TcNheZ3noIy5Y9di+N9kNUAbzOJTJF7G3SWIwy0wSLMwG9tdfaFtU21uLW6bjy1jZurBgiiencRSZV0sTqCR6xRnFPYqk46LE09YQqyGviFQd468uJ+kBObncosOZ1PlEKFnoAb8BeCPmgC3CubW3Dn1gD4kkXO0fT7Stq4iu24WH/o8JKXIk6KRg2adcZcaIdf1WW3WKhiNonVW8E1t1N5nabvb/cbbPjqB0Ek+KNrXNuQ0HpIP5Csp4WaNsQBvsOpH2g75oOAJ+0o1rx/xEV/Ib6CuFewzE5k53EKPDf5yHD4F313X/7N7QGvXvLXKczBoXPzKSvW270tBH/R/ZjS+i+oR8NTojacjTi3sJV47P2YgUluOLHQASpzSq3eerUv4DRQOXjKOl2iZnFOlSqXY2F1Kg9LzXcIaWzOozntmsbOCq2Niba/tJsv7U0lDLVdU1JBYjW/E+PCZ9uzWKq6tUVF5DVvSEYLsJQUhqhaq2/XQX+8McnoLcEtstxi0rFmpsHW41U31tOQujh1QWQBQOA0nJoWlRle3YMTz1PMxvxAEqnzUC94O2dr4es8jb9nqUi9qYoWg1TGylfNQZE2Pk2OqLh8T4yFsw8ZT1cfBTiTFoYvTjp0Y6UBxBjqeIMNAZeGveGZjjDRqUaS2Kqu1UHFi3I898rsj79amD+oH6DX2kOa4var1W5sQOi6SsdKyTWUqDcXmtMtrbTcOX7yAZ0nECUVWgtU/MVPMQdsiP8APP8AaPzF79lYpJUaCrntMcosr7SBnUIT8wUrckEE2uLnfMs+St/P/wAf3nez4/h4pNkhm2xaw+bXjcy3GqfZdQhLjnq3R6yKkUYbGKemfPmDqVrmROLyShSBW5NrGd21Hj0nk4nq2QqhkO1C2xSjgZXVcagPzC/Kc0vRybJiZzajUrqeIjgwPEeYi0GzhjqccKMetK0KidZddlv+YtwSmzelveUFSte5PEk+ZvL/ALPCyYluVK3nf8TPUjuBjSWkLH8mcXACqLrU2G8/MSJsnxA3VUI6MDCKuSX71KpsnkdVPuJA1DErp3DbjtEe0VFkDYnK6irtNWHRR+TL/sBlKhDXZdpttlSoeVhew3X1IvA+yuFXE4n+FWYkbJNqZIsR+okbuE9ObAqtIJTUKqjQDhNfCqeyfyeRxg+Oqb/gEHiiAim08cxpyJt+0x+gnFyOqxAUHqbWAm/pYHwkyZeBwmDxr9G/yMwNbsiTozMelljaPYxUFgD1JuZ6KmBHGELQXlGXGK5s81HZAHeZFjOwibN1JB9J6a2DXlBsRghaHA7M8rwnZTEK2jEDqbeUPrZVXQc/oJvKVK2lp10HKLiHNmSyem64XFbQsbKBpv3yg04iei1KI2GFt5ErauRK19BBiFTMiMJtfKxU+Yk1HImc96rp4DWXGIyAjdJcFljg6wYIbyyXTDOz+SUsPc0177fM51Y/geE0K6wTCULDWGqJSKJSk5O2UtYbLEeMUlzUWcHmIpsW0Y5dl4pnbxRSJpHCK87FOOHXjH3RRQHAjDWOde7FFFCCOun1E5s6RRRUcOtHU1EUUJxJHAzkUJxX5sNF6+0UUUtHohPs/9k="/>
          <p:cNvSpPr>
            <a:spLocks noChangeAspect="1" noChangeArrowheads="1"/>
          </p:cNvSpPr>
          <p:nvPr/>
        </p:nvSpPr>
        <p:spPr bwMode="auto">
          <a:xfrm>
            <a:off x="0" y="-385763"/>
            <a:ext cx="1143000" cy="7905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3317" name="Picture 5" descr="C:\Users\pc\Desktop\faq1.jpg"/>
          <p:cNvPicPr>
            <a:picLocks noChangeAspect="1" noChangeArrowheads="1"/>
          </p:cNvPicPr>
          <p:nvPr/>
        </p:nvPicPr>
        <p:blipFill>
          <a:blip r:embed="rId2"/>
          <a:srcRect/>
          <a:stretch>
            <a:fillRect/>
          </a:stretch>
        </p:blipFill>
        <p:spPr bwMode="auto">
          <a:xfrm>
            <a:off x="4819650" y="0"/>
            <a:ext cx="2647950" cy="1676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1688592" cy="381000"/>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3.  Nose </a:t>
            </a:r>
            <a:endParaRPr lang="en-US" sz="2800" dirty="0">
              <a:solidFill>
                <a:srgbClr val="0070C0"/>
              </a:solidFill>
              <a:effectLst/>
            </a:endParaRPr>
          </a:p>
        </p:txBody>
      </p:sp>
      <p:sp>
        <p:nvSpPr>
          <p:cNvPr id="3" name="Content Placeholder 2"/>
          <p:cNvSpPr>
            <a:spLocks noGrp="1"/>
          </p:cNvSpPr>
          <p:nvPr>
            <p:ph idx="1"/>
          </p:nvPr>
        </p:nvSpPr>
        <p:spPr>
          <a:xfrm>
            <a:off x="990600" y="2133600"/>
            <a:ext cx="7943088" cy="3657600"/>
          </a:xfrm>
        </p:spPr>
        <p:txBody>
          <a:bodyPr>
            <a:noAutofit/>
          </a:bodyPr>
          <a:lstStyle/>
          <a:p>
            <a:pPr marL="401638" indent="-401638">
              <a:buFont typeface="Courier New" pitchFamily="49" charset="0"/>
              <a:buChar char="o"/>
            </a:pPr>
            <a:r>
              <a:rPr lang="en-US" sz="2200" dirty="0" smtClean="0"/>
              <a:t>The nose is usually a </a:t>
            </a:r>
            <a:r>
              <a:rPr lang="en-US" sz="2200" i="1" dirty="0" smtClean="0">
                <a:solidFill>
                  <a:srgbClr val="0070C0"/>
                </a:solidFill>
              </a:rPr>
              <a:t>convenient location.</a:t>
            </a:r>
            <a:r>
              <a:rPr lang="en-US" sz="2200" dirty="0" smtClean="0"/>
              <a:t> </a:t>
            </a:r>
          </a:p>
          <a:p>
            <a:pPr marL="401638" indent="-401638">
              <a:buFont typeface="Courier New" pitchFamily="49" charset="0"/>
              <a:buChar char="o"/>
            </a:pPr>
            <a:r>
              <a:rPr lang="en-US" sz="2200" dirty="0" smtClean="0"/>
              <a:t>Nasal probes </a:t>
            </a:r>
            <a:r>
              <a:rPr lang="en-US" sz="2200" i="1" dirty="0" smtClean="0">
                <a:solidFill>
                  <a:srgbClr val="0070C0"/>
                </a:solidFill>
              </a:rPr>
              <a:t>respond more rapidly</a:t>
            </a:r>
            <a:r>
              <a:rPr lang="en-US" sz="2200" dirty="0" smtClean="0"/>
              <a:t> to changes in saturation than probes placed on extremities. </a:t>
            </a:r>
          </a:p>
          <a:p>
            <a:pPr marL="401638" indent="-401638">
              <a:buFont typeface="Courier New" pitchFamily="49" charset="0"/>
              <a:buChar char="o"/>
            </a:pPr>
            <a:r>
              <a:rPr lang="en-US" sz="2200" dirty="0" smtClean="0"/>
              <a:t>The bridge, the wings of the nostrils, and the nasal septum have been used.</a:t>
            </a:r>
          </a:p>
          <a:p>
            <a:pPr marL="401638" indent="-401638">
              <a:buFont typeface="Courier New" pitchFamily="49" charset="0"/>
              <a:buChar char="o"/>
            </a:pPr>
            <a:r>
              <a:rPr lang="en-US" sz="2200" dirty="0" smtClean="0"/>
              <a:t>It has been recommended under conditions such as hypothermia, hypotension, and infusion of vasoconstrictor drugs.</a:t>
            </a:r>
          </a:p>
          <a:p>
            <a:pPr marL="401638" indent="-401638">
              <a:buFont typeface="Courier New" pitchFamily="49" charset="0"/>
              <a:buChar char="o"/>
            </a:pPr>
            <a:r>
              <a:rPr lang="en-US" sz="2200" dirty="0" smtClean="0"/>
              <a:t>If the patient is placed in the </a:t>
            </a:r>
            <a:r>
              <a:rPr lang="en-US" sz="2200" i="1" dirty="0" smtClean="0">
                <a:solidFill>
                  <a:srgbClr val="0070C0"/>
                </a:solidFill>
              </a:rPr>
              <a:t>Trendelenberg position</a:t>
            </a:r>
            <a:r>
              <a:rPr lang="en-US" sz="2200" dirty="0" smtClean="0"/>
              <a:t>, venous congestion may occur around the nose, causing the pulse oximeter to display </a:t>
            </a:r>
            <a:r>
              <a:rPr lang="en-US" sz="2200" i="1" dirty="0" smtClean="0">
                <a:solidFill>
                  <a:srgbClr val="0070C0"/>
                </a:solidFill>
              </a:rPr>
              <a:t>artificially low saturations.</a:t>
            </a:r>
            <a:endParaRPr lang="en-US" sz="2200" i="1" dirty="0">
              <a:solidFill>
                <a:srgbClr val="0070C0"/>
              </a:solidFill>
            </a:endParaRPr>
          </a:p>
        </p:txBody>
      </p:sp>
      <p:pic>
        <p:nvPicPr>
          <p:cNvPr id="12289" name="Picture 1" descr="D:\Mine Files\My Pictures\New Picture (1).bmp"/>
          <p:cNvPicPr>
            <a:picLocks noChangeAspect="1" noChangeArrowheads="1"/>
          </p:cNvPicPr>
          <p:nvPr/>
        </p:nvPicPr>
        <p:blipFill>
          <a:blip r:embed="rId2"/>
          <a:srcRect/>
          <a:stretch>
            <a:fillRect/>
          </a:stretch>
        </p:blipFill>
        <p:spPr bwMode="auto">
          <a:xfrm>
            <a:off x="5410200" y="76200"/>
            <a:ext cx="1995488" cy="20574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219200"/>
            <a:ext cx="1459992" cy="381000"/>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4.  Ear </a:t>
            </a:r>
            <a:endParaRPr lang="en-US" sz="2800" dirty="0">
              <a:solidFill>
                <a:srgbClr val="0070C0"/>
              </a:solidFill>
              <a:effectLst/>
            </a:endParaRPr>
          </a:p>
        </p:txBody>
      </p:sp>
      <p:sp>
        <p:nvSpPr>
          <p:cNvPr id="3" name="Content Placeholder 2"/>
          <p:cNvSpPr>
            <a:spLocks noGrp="1"/>
          </p:cNvSpPr>
          <p:nvPr>
            <p:ph idx="1"/>
          </p:nvPr>
        </p:nvSpPr>
        <p:spPr>
          <a:xfrm>
            <a:off x="990600" y="2362200"/>
            <a:ext cx="7943088" cy="4343400"/>
          </a:xfrm>
        </p:spPr>
        <p:txBody>
          <a:bodyPr>
            <a:normAutofit/>
          </a:bodyPr>
          <a:lstStyle/>
          <a:p>
            <a:pPr marL="401638" indent="-401638">
              <a:buFont typeface="Courier New" pitchFamily="49" charset="0"/>
              <a:buChar char="o"/>
            </a:pPr>
            <a:r>
              <a:rPr lang="en-US" sz="2200" dirty="0" smtClean="0"/>
              <a:t>The earlobe should be </a:t>
            </a:r>
            <a:r>
              <a:rPr lang="en-US" sz="2200" i="1" dirty="0" smtClean="0">
                <a:solidFill>
                  <a:srgbClr val="0070C0"/>
                </a:solidFill>
              </a:rPr>
              <a:t>massaged for 30 to 45 seconds</a:t>
            </a:r>
            <a:r>
              <a:rPr lang="en-US" sz="2200" dirty="0" smtClean="0"/>
              <a:t> with alcohol or vasodilator.</a:t>
            </a:r>
          </a:p>
          <a:p>
            <a:pPr marL="401638" indent="-401638">
              <a:buFont typeface="Courier New" pitchFamily="49" charset="0"/>
              <a:buChar char="o"/>
            </a:pPr>
            <a:r>
              <a:rPr lang="en-US" sz="2200" dirty="0" smtClean="0"/>
              <a:t>An ear probe can be particularly useful when there is finger motion. </a:t>
            </a:r>
          </a:p>
          <a:p>
            <a:pPr marL="401638" indent="-401638">
              <a:buFont typeface="Courier New" pitchFamily="49" charset="0"/>
              <a:buChar char="o"/>
            </a:pPr>
            <a:r>
              <a:rPr lang="en-US" sz="2200" dirty="0" smtClean="0"/>
              <a:t>Response time is </a:t>
            </a:r>
            <a:r>
              <a:rPr lang="en-US" sz="2200" i="1" dirty="0" smtClean="0">
                <a:solidFill>
                  <a:srgbClr val="0070C0"/>
                </a:solidFill>
              </a:rPr>
              <a:t>faster</a:t>
            </a:r>
            <a:r>
              <a:rPr lang="en-US" sz="2200" dirty="0" smtClean="0"/>
              <a:t> with an ear probe than with a finger probe.</a:t>
            </a:r>
          </a:p>
          <a:p>
            <a:pPr marL="401638" indent="-401638">
              <a:buFont typeface="Courier New" pitchFamily="49" charset="0"/>
              <a:buChar char="o"/>
            </a:pPr>
            <a:r>
              <a:rPr lang="en-US" sz="2200" dirty="0" smtClean="0"/>
              <a:t>A steep </a:t>
            </a:r>
            <a:r>
              <a:rPr lang="en-US" sz="2200" i="1" dirty="0" smtClean="0">
                <a:solidFill>
                  <a:srgbClr val="0070C0"/>
                </a:solidFill>
              </a:rPr>
              <a:t>head down position</a:t>
            </a:r>
            <a:r>
              <a:rPr lang="en-US" sz="2200" dirty="0" smtClean="0"/>
              <a:t> may result in erroneous readings.</a:t>
            </a:r>
            <a:endParaRPr lang="en-US" sz="2200" dirty="0"/>
          </a:p>
        </p:txBody>
      </p:sp>
      <p:sp>
        <p:nvSpPr>
          <p:cNvPr id="11266" name="AutoShape 2" descr="mk:@MSITStore:D:\Mine%20Files\Books\Anesthesia\Equipment\Understanding%20Anesthesia%20Equipment.chm::/HTML/24_files/DA4C24FF7.png"/>
          <p:cNvSpPr>
            <a:spLocks noChangeAspect="1" noChangeArrowheads="1"/>
          </p:cNvSpPr>
          <p:nvPr/>
        </p:nvSpPr>
        <p:spPr bwMode="auto">
          <a:xfrm>
            <a:off x="155575" y="-3138488"/>
            <a:ext cx="4533900" cy="65436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267" name="Picture 3" descr="D:\Mine Files\My Pictures\New Picture (2).bmp"/>
          <p:cNvPicPr>
            <a:picLocks noChangeAspect="1" noChangeArrowheads="1"/>
          </p:cNvPicPr>
          <p:nvPr/>
        </p:nvPicPr>
        <p:blipFill>
          <a:blip r:embed="rId2"/>
          <a:srcRect/>
          <a:stretch>
            <a:fillRect/>
          </a:stretch>
        </p:blipFill>
        <p:spPr bwMode="auto">
          <a:xfrm>
            <a:off x="5029200" y="0"/>
            <a:ext cx="2376488" cy="206216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2145792" cy="427038"/>
          </a:xfrm>
          <a:prstGeom prst="roundRect">
            <a:avLst/>
          </a:prstGeom>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5.  Forehead </a:t>
            </a:r>
            <a:endParaRPr lang="en-US" sz="2800" dirty="0">
              <a:solidFill>
                <a:srgbClr val="0070C0"/>
              </a:solidFill>
              <a:effectLst/>
            </a:endParaRPr>
          </a:p>
        </p:txBody>
      </p:sp>
      <p:sp>
        <p:nvSpPr>
          <p:cNvPr id="3" name="Content Placeholder 2"/>
          <p:cNvSpPr>
            <a:spLocks noGrp="1"/>
          </p:cNvSpPr>
          <p:nvPr>
            <p:ph idx="1"/>
          </p:nvPr>
        </p:nvSpPr>
        <p:spPr>
          <a:xfrm>
            <a:off x="990600" y="1828800"/>
            <a:ext cx="7943088" cy="4876800"/>
          </a:xfrm>
        </p:spPr>
        <p:txBody>
          <a:bodyPr>
            <a:normAutofit/>
          </a:bodyPr>
          <a:lstStyle/>
          <a:p>
            <a:pPr marL="457200" indent="-457200">
              <a:buFont typeface="Courier New" pitchFamily="49" charset="0"/>
              <a:buChar char="o"/>
            </a:pPr>
            <a:r>
              <a:rPr lang="en-US" sz="2200" dirty="0" smtClean="0"/>
              <a:t>A flat </a:t>
            </a:r>
            <a:r>
              <a:rPr lang="en-US" sz="2200" i="1" dirty="0" smtClean="0">
                <a:solidFill>
                  <a:srgbClr val="0070C0"/>
                </a:solidFill>
              </a:rPr>
              <a:t>reflectance</a:t>
            </a:r>
            <a:r>
              <a:rPr lang="en-US" sz="2200" dirty="0" smtClean="0"/>
              <a:t> pulse oximeter sensor can be used on the forehead.</a:t>
            </a:r>
          </a:p>
          <a:p>
            <a:pPr marL="457200" indent="-457200">
              <a:buFont typeface="Courier New" pitchFamily="49" charset="0"/>
              <a:buChar char="o"/>
            </a:pPr>
            <a:r>
              <a:rPr lang="en-US" sz="2200" dirty="0" smtClean="0"/>
              <a:t>It should be placed just </a:t>
            </a:r>
            <a:r>
              <a:rPr lang="en-US" sz="2200" i="1" dirty="0" smtClean="0">
                <a:solidFill>
                  <a:srgbClr val="0070C0"/>
                </a:solidFill>
              </a:rPr>
              <a:t>above the eyebrow</a:t>
            </a:r>
            <a:r>
              <a:rPr lang="en-US" sz="2200" dirty="0" smtClean="0"/>
              <a:t> so that it is centered slightly lateral of the iris.</a:t>
            </a:r>
          </a:p>
          <a:p>
            <a:pPr marL="457200" indent="-457200">
              <a:buFont typeface="Courier New" pitchFamily="49" charset="0"/>
              <a:buChar char="o"/>
            </a:pPr>
            <a:r>
              <a:rPr lang="en-US" sz="2200" dirty="0" smtClean="0"/>
              <a:t>This site is usually easily </a:t>
            </a:r>
            <a:r>
              <a:rPr lang="en-US" sz="2200" i="1" dirty="0" smtClean="0">
                <a:solidFill>
                  <a:srgbClr val="0070C0"/>
                </a:solidFill>
              </a:rPr>
              <a:t>accessible. </a:t>
            </a:r>
          </a:p>
          <a:p>
            <a:pPr marL="457200" indent="-457200">
              <a:buFont typeface="Courier New" pitchFamily="49" charset="0"/>
              <a:buChar char="o"/>
            </a:pPr>
            <a:r>
              <a:rPr lang="en-US" sz="2200" dirty="0" smtClean="0"/>
              <a:t>The forehead is </a:t>
            </a:r>
            <a:r>
              <a:rPr lang="en-US" sz="2200" i="1" dirty="0" smtClean="0">
                <a:solidFill>
                  <a:srgbClr val="0070C0"/>
                </a:solidFill>
              </a:rPr>
              <a:t>less affected by vasoconstriction</a:t>
            </a:r>
            <a:r>
              <a:rPr lang="en-US" sz="2200" dirty="0" smtClean="0"/>
              <a:t> from cold or poor perfusion than the ear or finger.</a:t>
            </a:r>
          </a:p>
          <a:p>
            <a:pPr marL="457200" indent="-457200">
              <a:buFont typeface="Courier New" pitchFamily="49" charset="0"/>
              <a:buChar char="o"/>
            </a:pPr>
            <a:r>
              <a:rPr lang="en-US" sz="2200" dirty="0" smtClean="0"/>
              <a:t>Changes in saturation can be detected </a:t>
            </a:r>
            <a:r>
              <a:rPr lang="en-US" sz="2200" i="1" dirty="0" smtClean="0">
                <a:solidFill>
                  <a:srgbClr val="0070C0"/>
                </a:solidFill>
              </a:rPr>
              <a:t>more rapidly</a:t>
            </a:r>
            <a:r>
              <a:rPr lang="en-US" sz="2200" dirty="0" smtClean="0"/>
              <a:t> at the forehead than at the finger. </a:t>
            </a:r>
          </a:p>
          <a:p>
            <a:pPr marL="457200" indent="-457200">
              <a:buFont typeface="Courier New" pitchFamily="49" charset="0"/>
              <a:buChar char="o"/>
            </a:pPr>
            <a:r>
              <a:rPr lang="en-US" sz="2200" dirty="0" smtClean="0"/>
              <a:t>However, pooling of venous blood due to compromised return to the heart may cause low saturation readings and It should not be used if the patient is in the </a:t>
            </a:r>
            <a:r>
              <a:rPr lang="en-US" sz="2200" i="1" dirty="0" err="1" smtClean="0">
                <a:solidFill>
                  <a:srgbClr val="0070C0"/>
                </a:solidFill>
              </a:rPr>
              <a:t>trendelenburg</a:t>
            </a:r>
            <a:r>
              <a:rPr lang="en-US" sz="2200" i="1" dirty="0" smtClean="0">
                <a:solidFill>
                  <a:srgbClr val="0070C0"/>
                </a:solidFill>
              </a:rPr>
              <a:t> position.</a:t>
            </a:r>
            <a:endParaRPr lang="en-US" sz="2200" i="1" dirty="0">
              <a:solidFill>
                <a:srgbClr val="0070C0"/>
              </a:solidFill>
            </a:endParaRPr>
          </a:p>
        </p:txBody>
      </p:sp>
      <p:pic>
        <p:nvPicPr>
          <p:cNvPr id="10241" name="Picture 1" descr="D:\Mine Files\My Pictures\New Picture (3).bmp"/>
          <p:cNvPicPr>
            <a:picLocks noChangeAspect="1" noChangeArrowheads="1"/>
          </p:cNvPicPr>
          <p:nvPr/>
        </p:nvPicPr>
        <p:blipFill>
          <a:blip r:embed="rId2"/>
          <a:srcRect/>
          <a:stretch>
            <a:fillRect/>
          </a:stretch>
        </p:blipFill>
        <p:spPr bwMode="auto">
          <a:xfrm>
            <a:off x="5624512" y="0"/>
            <a:ext cx="1843088" cy="19050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066800"/>
            <a:ext cx="2526792" cy="350838"/>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6.  Other sites</a:t>
            </a:r>
            <a:endParaRPr lang="en-US" sz="2800" dirty="0">
              <a:solidFill>
                <a:srgbClr val="0070C0"/>
              </a:solidFill>
              <a:effectLst/>
            </a:endParaRPr>
          </a:p>
        </p:txBody>
      </p:sp>
      <p:sp>
        <p:nvSpPr>
          <p:cNvPr id="3" name="Content Placeholder 2"/>
          <p:cNvSpPr>
            <a:spLocks noGrp="1"/>
          </p:cNvSpPr>
          <p:nvPr>
            <p:ph idx="1"/>
          </p:nvPr>
        </p:nvSpPr>
        <p:spPr>
          <a:xfrm>
            <a:off x="990600" y="1676400"/>
            <a:ext cx="7943088" cy="4800600"/>
          </a:xfrm>
        </p:spPr>
        <p:txBody>
          <a:bodyPr>
            <a:normAutofit/>
          </a:bodyPr>
          <a:lstStyle/>
          <a:p>
            <a:pPr marL="457200" indent="-457200">
              <a:buFont typeface="Courier New" pitchFamily="49" charset="0"/>
              <a:buChar char="o"/>
            </a:pPr>
            <a:r>
              <a:rPr lang="en-US" sz="2200" dirty="0" smtClean="0"/>
              <a:t>Tongue, cheek, esophagus, palm, foot, penis, ankle, lower calf, or even the arm in infants.</a:t>
            </a:r>
          </a:p>
          <a:p>
            <a:pPr marL="457200" indent="-457200">
              <a:buFont typeface="Courier New" pitchFamily="49" charset="0"/>
              <a:buChar char="o"/>
            </a:pPr>
            <a:r>
              <a:rPr lang="en-US" sz="2200" dirty="0" smtClean="0"/>
              <a:t>Pulse oximetry may be used to monitor </a:t>
            </a:r>
            <a:r>
              <a:rPr lang="en-US" sz="2200" i="1" dirty="0" smtClean="0">
                <a:solidFill>
                  <a:srgbClr val="0070C0"/>
                </a:solidFill>
              </a:rPr>
              <a:t>fetal oxygenation during labor</a:t>
            </a:r>
            <a:r>
              <a:rPr lang="en-US" sz="2200" dirty="0" smtClean="0"/>
              <a:t> by attaching a reflectance pulse oximetry probe to the presenting part.</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2450592" cy="427038"/>
          </a:xfrm>
          <a:prstGeom prst="round2DiagRect">
            <a:avLst/>
          </a:prstGeom>
        </p:spPr>
        <p:style>
          <a:lnRef idx="2">
            <a:schemeClr val="accent1"/>
          </a:lnRef>
          <a:fillRef idx="1">
            <a:schemeClr val="lt1"/>
          </a:fillRef>
          <a:effectRef idx="0">
            <a:schemeClr val="accent1"/>
          </a:effectRef>
          <a:fontRef idx="minor">
            <a:schemeClr val="dk1"/>
          </a:fontRef>
        </p:style>
        <p:txBody>
          <a:bodyPr>
            <a:noAutofit/>
          </a:bodyPr>
          <a:lstStyle/>
          <a:p>
            <a:r>
              <a:rPr lang="en-US" sz="3200" dirty="0" smtClean="0">
                <a:solidFill>
                  <a:srgbClr val="0070C0"/>
                </a:solidFill>
                <a:effectLst/>
              </a:rPr>
              <a:t>Applications </a:t>
            </a:r>
            <a:endParaRPr lang="en-US" sz="3200" dirty="0">
              <a:solidFill>
                <a:srgbClr val="0070C0"/>
              </a:solidFill>
              <a:effectLst/>
            </a:endParaRPr>
          </a:p>
        </p:txBody>
      </p:sp>
      <p:sp>
        <p:nvSpPr>
          <p:cNvPr id="3" name="Content Placeholder 2"/>
          <p:cNvSpPr>
            <a:spLocks noGrp="1"/>
          </p:cNvSpPr>
          <p:nvPr>
            <p:ph idx="1"/>
          </p:nvPr>
        </p:nvSpPr>
        <p:spPr>
          <a:xfrm>
            <a:off x="990600" y="1600200"/>
            <a:ext cx="7943088" cy="4800600"/>
          </a:xfrm>
        </p:spPr>
        <p:txBody>
          <a:bodyPr>
            <a:noAutofit/>
          </a:bodyPr>
          <a:lstStyle/>
          <a:p>
            <a:pPr marL="365125" indent="-365125">
              <a:buFont typeface="Courier New" pitchFamily="49" charset="0"/>
              <a:buChar char="o"/>
            </a:pPr>
            <a:r>
              <a:rPr lang="en-US" sz="2400" dirty="0" smtClean="0"/>
              <a:t>Anesthesizing areas</a:t>
            </a:r>
          </a:p>
          <a:p>
            <a:pPr marL="365125" indent="-365125">
              <a:buFont typeface="Courier New" pitchFamily="49" charset="0"/>
              <a:buChar char="o"/>
            </a:pPr>
            <a:r>
              <a:rPr lang="en-US" sz="2400" dirty="0" smtClean="0"/>
              <a:t>Post-anesthesia Care Unit</a:t>
            </a:r>
          </a:p>
          <a:p>
            <a:pPr marL="365125" indent="-365125">
              <a:buFont typeface="Courier New" pitchFamily="49" charset="0"/>
              <a:buChar char="o"/>
            </a:pPr>
            <a:r>
              <a:rPr lang="en-US" sz="2400" dirty="0" smtClean="0"/>
              <a:t>Transport</a:t>
            </a:r>
          </a:p>
          <a:p>
            <a:pPr marL="365125" indent="-365125">
              <a:buFont typeface="Courier New" pitchFamily="49" charset="0"/>
              <a:buChar char="o"/>
            </a:pPr>
            <a:r>
              <a:rPr lang="en-US" sz="2400" dirty="0" smtClean="0"/>
              <a:t>Other Intra-hospital Areas</a:t>
            </a:r>
          </a:p>
          <a:p>
            <a:pPr marL="365125" indent="-365125">
              <a:buFont typeface="Courier New" pitchFamily="49" charset="0"/>
              <a:buChar char="o"/>
            </a:pPr>
            <a:r>
              <a:rPr lang="en-US" sz="2400" dirty="0" smtClean="0"/>
              <a:t>Out-of-hospital Use</a:t>
            </a:r>
          </a:p>
          <a:p>
            <a:pPr marL="365125" indent="-365125">
              <a:buFont typeface="Courier New" pitchFamily="49" charset="0"/>
              <a:buChar char="o"/>
            </a:pPr>
            <a:r>
              <a:rPr lang="en-US" sz="2400" dirty="0" smtClean="0"/>
              <a:t>Controlling Oxygen Administration/ Avoiding Hyperoxemia</a:t>
            </a:r>
          </a:p>
          <a:p>
            <a:pPr marL="365125" indent="-365125">
              <a:buFont typeface="Courier New" pitchFamily="49" charset="0"/>
              <a:buChar char="o"/>
            </a:pPr>
            <a:r>
              <a:rPr lang="en-US" sz="2400" dirty="0" smtClean="0"/>
              <a:t>Monitoring Peripheral Circulation – SA, Ortho, </a:t>
            </a:r>
          </a:p>
          <a:p>
            <a:pPr marL="365125" indent="-365125">
              <a:buFont typeface="Courier New" pitchFamily="49" charset="0"/>
              <a:buChar char="o"/>
            </a:pPr>
            <a:r>
              <a:rPr lang="en-US" sz="2400" dirty="0" smtClean="0"/>
              <a:t>Determining Systolic Blood Pressure</a:t>
            </a:r>
          </a:p>
          <a:p>
            <a:pPr marL="365125" indent="-365125">
              <a:buFont typeface="Courier New" pitchFamily="49" charset="0"/>
              <a:buChar char="o"/>
            </a:pPr>
            <a:r>
              <a:rPr lang="en-US" sz="2400" dirty="0" smtClean="0"/>
              <a:t>Locating Arteries - apply &amp; block artery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792162"/>
            <a:ext cx="7498080" cy="808038"/>
          </a:xfrm>
        </p:spPr>
        <p:style>
          <a:lnRef idx="2">
            <a:schemeClr val="accent1"/>
          </a:lnRef>
          <a:fillRef idx="1">
            <a:schemeClr val="lt1"/>
          </a:fillRef>
          <a:effectRef idx="0">
            <a:schemeClr val="accent1"/>
          </a:effectRef>
          <a:fontRef idx="minor">
            <a:schemeClr val="dk1"/>
          </a:fontRef>
        </p:style>
        <p:txBody>
          <a:bodyPr>
            <a:noAutofit/>
          </a:bodyPr>
          <a:lstStyle/>
          <a:p>
            <a:r>
              <a:rPr lang="en-US" sz="2400" dirty="0" smtClean="0">
                <a:solidFill>
                  <a:srgbClr val="0070C0"/>
                </a:solidFill>
                <a:effectLst/>
              </a:rPr>
              <a:t>If no signal is obtained on the oximeter after the probe has been placed on a finger, check the following:</a:t>
            </a:r>
            <a:endParaRPr lang="en-US" sz="2400" dirty="0">
              <a:solidFill>
                <a:srgbClr val="0070C0"/>
              </a:solidFill>
              <a:effectLst/>
            </a:endParaRPr>
          </a:p>
        </p:txBody>
      </p:sp>
      <p:sp>
        <p:nvSpPr>
          <p:cNvPr id="3" name="Content Placeholder 2"/>
          <p:cNvSpPr>
            <a:spLocks noGrp="1"/>
          </p:cNvSpPr>
          <p:nvPr>
            <p:ph idx="1"/>
          </p:nvPr>
        </p:nvSpPr>
        <p:spPr>
          <a:xfrm>
            <a:off x="990600" y="1981200"/>
            <a:ext cx="7943088" cy="4800600"/>
          </a:xfrm>
        </p:spPr>
        <p:txBody>
          <a:bodyPr>
            <a:noAutofit/>
          </a:bodyPr>
          <a:lstStyle/>
          <a:p>
            <a:pPr marL="457200" indent="-457200">
              <a:buFont typeface="+mj-lt"/>
              <a:buAutoNum type="alphaLcParenR"/>
            </a:pPr>
            <a:r>
              <a:rPr lang="en-US" sz="2400" dirty="0" smtClean="0"/>
              <a:t>Is the probe </a:t>
            </a:r>
            <a:r>
              <a:rPr lang="en-US" sz="2400" dirty="0" smtClean="0">
                <a:solidFill>
                  <a:srgbClr val="0070C0"/>
                </a:solidFill>
              </a:rPr>
              <a:t>working</a:t>
            </a:r>
            <a:r>
              <a:rPr lang="en-US" sz="2400" dirty="0" smtClean="0"/>
              <a:t> and correctly </a:t>
            </a:r>
            <a:r>
              <a:rPr lang="en-US" sz="2400" dirty="0" smtClean="0">
                <a:solidFill>
                  <a:srgbClr val="0070C0"/>
                </a:solidFill>
              </a:rPr>
              <a:t>positioned</a:t>
            </a:r>
            <a:r>
              <a:rPr lang="en-US" sz="2400" dirty="0" smtClean="0"/>
              <a:t>? Try another location.</a:t>
            </a:r>
          </a:p>
          <a:p>
            <a:pPr marL="457200" indent="-457200">
              <a:buFont typeface="+mj-lt"/>
              <a:buAutoNum type="alphaLcParenR"/>
            </a:pPr>
            <a:r>
              <a:rPr lang="en-US" sz="2400" dirty="0" smtClean="0"/>
              <a:t>Does the patient have </a:t>
            </a:r>
            <a:r>
              <a:rPr lang="en-US" sz="2400" dirty="0" smtClean="0">
                <a:solidFill>
                  <a:srgbClr val="0070C0"/>
                </a:solidFill>
              </a:rPr>
              <a:t>poor perfusion</a:t>
            </a:r>
            <a:r>
              <a:rPr lang="en-US" sz="2400" dirty="0" smtClean="0"/>
              <a:t>?</a:t>
            </a:r>
          </a:p>
          <a:p>
            <a:pPr marL="457200" indent="-457200">
              <a:buFont typeface="+mj-lt"/>
              <a:buAutoNum type="alphaLcParenR"/>
            </a:pPr>
            <a:r>
              <a:rPr lang="en-US" sz="2400" dirty="0" smtClean="0"/>
              <a:t>Check for </a:t>
            </a:r>
            <a:r>
              <a:rPr lang="en-US" sz="2400" dirty="0" smtClean="0">
                <a:solidFill>
                  <a:srgbClr val="0070C0"/>
                </a:solidFill>
              </a:rPr>
              <a:t>low cardiac output </a:t>
            </a:r>
            <a:r>
              <a:rPr lang="en-US" sz="2400" dirty="0" smtClean="0"/>
              <a:t>especially due to hypovolemia, cardiac problems or septic shock. If hypotension is present, resuscitation of the patient is required immediately. The signal will improve when the clinical condition of the patient improves.</a:t>
            </a:r>
          </a:p>
          <a:p>
            <a:pPr marL="457200" indent="-457200">
              <a:buFont typeface="+mj-lt"/>
              <a:buAutoNum type="alphaLcParenR"/>
            </a:pPr>
            <a:r>
              <a:rPr lang="en-US" sz="2400" dirty="0" smtClean="0"/>
              <a:t>Check the </a:t>
            </a:r>
            <a:r>
              <a:rPr lang="en-US" sz="2400" dirty="0" smtClean="0">
                <a:solidFill>
                  <a:srgbClr val="0070C0"/>
                </a:solidFill>
              </a:rPr>
              <a:t>temperature</a:t>
            </a:r>
            <a:r>
              <a:rPr lang="en-US" sz="2400" dirty="0" smtClean="0"/>
              <a:t> of the patient. If the patient or the limb is cold, gentle rubbing of the digit or ear lobe may restore a signal.</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92162"/>
            <a:ext cx="7498080" cy="960438"/>
          </a:xfrm>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problems that can cause a drop in oxygen saturation include </a:t>
            </a:r>
            <a:r>
              <a:rPr lang="en-US" sz="2000" dirty="0" smtClean="0">
                <a:solidFill>
                  <a:schemeClr val="tx1"/>
                </a:solidFill>
                <a:effectLst/>
              </a:rPr>
              <a:t>(Discuss and group)</a:t>
            </a:r>
            <a:endParaRPr lang="en-US" sz="2800" dirty="0">
              <a:solidFill>
                <a:schemeClr val="tx1"/>
              </a:solidFill>
              <a:effectLst/>
            </a:endParaRPr>
          </a:p>
        </p:txBody>
      </p:sp>
      <p:sp>
        <p:nvSpPr>
          <p:cNvPr id="3" name="Content Placeholder 2"/>
          <p:cNvSpPr>
            <a:spLocks noGrp="1"/>
          </p:cNvSpPr>
          <p:nvPr>
            <p:ph idx="1"/>
          </p:nvPr>
        </p:nvSpPr>
        <p:spPr>
          <a:xfrm>
            <a:off x="1066800" y="2133600"/>
            <a:ext cx="3505200" cy="4038600"/>
          </a:xfrm>
        </p:spPr>
        <p:txBody>
          <a:bodyPr>
            <a:normAutofit fontScale="92500"/>
          </a:bodyPr>
          <a:lstStyle/>
          <a:p>
            <a:pPr marL="401638" indent="-401638">
              <a:buFont typeface="Courier New" pitchFamily="49" charset="0"/>
              <a:buChar char="o"/>
            </a:pPr>
            <a:r>
              <a:rPr lang="en-US" sz="2400" dirty="0" smtClean="0"/>
              <a:t>Fat embolism, </a:t>
            </a:r>
          </a:p>
          <a:p>
            <a:pPr marL="401638" indent="-401638">
              <a:buFont typeface="Courier New" pitchFamily="49" charset="0"/>
              <a:buChar char="o"/>
            </a:pPr>
            <a:r>
              <a:rPr lang="en-US" sz="2400" dirty="0" smtClean="0"/>
              <a:t>Amniotic fluid embolism, </a:t>
            </a:r>
          </a:p>
          <a:p>
            <a:pPr marL="401638" indent="-401638">
              <a:buFont typeface="Courier New" pitchFamily="49" charset="0"/>
              <a:buChar char="o"/>
            </a:pPr>
            <a:r>
              <a:rPr lang="en-US" sz="2400" dirty="0" smtClean="0"/>
              <a:t>Pulmonary edema, </a:t>
            </a:r>
          </a:p>
          <a:p>
            <a:pPr marL="401638" indent="-401638">
              <a:buFont typeface="Courier New" pitchFamily="49" charset="0"/>
              <a:buChar char="o"/>
            </a:pPr>
            <a:r>
              <a:rPr lang="en-US" sz="2400" dirty="0" smtClean="0"/>
              <a:t>Breathing system disconnections and leaks, </a:t>
            </a:r>
          </a:p>
          <a:p>
            <a:pPr marL="401638" indent="-401638">
              <a:buFont typeface="Courier New" pitchFamily="49" charset="0"/>
              <a:buChar char="o"/>
            </a:pPr>
            <a:r>
              <a:rPr lang="en-US" sz="2400" dirty="0" smtClean="0"/>
              <a:t>Aspiration, </a:t>
            </a:r>
          </a:p>
          <a:p>
            <a:pPr marL="401638" indent="-401638">
              <a:buFont typeface="Courier New" pitchFamily="49" charset="0"/>
              <a:buChar char="o"/>
            </a:pPr>
            <a:r>
              <a:rPr lang="en-US" sz="2400" dirty="0" smtClean="0"/>
              <a:t>Tracheal tube obstruction, </a:t>
            </a:r>
          </a:p>
          <a:p>
            <a:pPr marL="401638" lvl="0" indent="-401638">
              <a:buFont typeface="Courier New" pitchFamily="49" charset="0"/>
              <a:buChar char="o"/>
            </a:pPr>
            <a:r>
              <a:rPr lang="en-US" sz="2400" dirty="0" smtClean="0"/>
              <a:t>Hypoxic gas mixture, </a:t>
            </a:r>
          </a:p>
        </p:txBody>
      </p:sp>
      <p:sp>
        <p:nvSpPr>
          <p:cNvPr id="4" name="Content Placeholder 2"/>
          <p:cNvSpPr txBox="1">
            <a:spLocks/>
          </p:cNvSpPr>
          <p:nvPr/>
        </p:nvSpPr>
        <p:spPr>
          <a:xfrm>
            <a:off x="5257800" y="2133600"/>
            <a:ext cx="3581400" cy="4267200"/>
          </a:xfrm>
          <a:prstGeom prst="rect">
            <a:avLst/>
          </a:prstGeom>
        </p:spPr>
        <p:txBody>
          <a:bodyPr>
            <a:normAutofit/>
          </a:bodyPr>
          <a:lstStyle/>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Oxygen delivery failure, </a:t>
            </a:r>
          </a:p>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Hypoventilation, </a:t>
            </a:r>
          </a:p>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Anaphylaxis, </a:t>
            </a:r>
          </a:p>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Bronchospasm, </a:t>
            </a:r>
          </a:p>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Pneumothorax,   </a:t>
            </a:r>
          </a:p>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Malignant hyperthermia, and </a:t>
            </a:r>
          </a:p>
          <a:p>
            <a:pPr marL="401638" marR="0" lvl="0" indent="-401638" algn="l" defTabSz="914400" rtl="0" eaLnBrk="1" fontAlgn="auto" latinLnBrk="0" hangingPunct="1">
              <a:lnSpc>
                <a:spcPct val="100000"/>
              </a:lnSpc>
              <a:spcBef>
                <a:spcPts val="600"/>
              </a:spcBef>
              <a:spcAft>
                <a:spcPts val="0"/>
              </a:spcAft>
              <a:buClr>
                <a:schemeClr val="accent1"/>
              </a:buClr>
              <a:buSzPct val="80000"/>
              <a:buFont typeface="Courier New" pitchFamily="49" charset="0"/>
              <a:buChar char="o"/>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Pulmonary embolism</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blinds(horizontal)">
                                      <p:cBhvr>
                                        <p:cTn id="42" dur="500"/>
                                        <p:tgtEl>
                                          <p:spTgt spid="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blinds(horizontal)">
                                      <p:cBhvr>
                                        <p:cTn id="47" dur="500"/>
                                        <p:tgtEl>
                                          <p:spTgt spid="4">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Effect transition="in" filter="blinds(horizontal)">
                                      <p:cBhvr>
                                        <p:cTn id="52" dur="500"/>
                                        <p:tgtEl>
                                          <p:spTgt spid="4">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Effect transition="in" filter="blinds(horizontal)">
                                      <p:cBhvr>
                                        <p:cTn id="57" dur="500"/>
                                        <p:tgtEl>
                                          <p:spTgt spid="4">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blinds(horizontal)">
                                      <p:cBhvr>
                                        <p:cTn id="62" dur="500"/>
                                        <p:tgtEl>
                                          <p:spTgt spid="4">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animEffect transition="in" filter="blinds(horizontal)">
                                      <p:cBhvr>
                                        <p:cTn id="67" dur="500"/>
                                        <p:tgtEl>
                                          <p:spTgt spid="4">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4">
                                            <p:txEl>
                                              <p:pRg st="6" end="6"/>
                                            </p:txEl>
                                          </p:spTgt>
                                        </p:tgtEl>
                                        <p:attrNameLst>
                                          <p:attrName>style.visibility</p:attrName>
                                        </p:attrNameLst>
                                      </p:cBhvr>
                                      <p:to>
                                        <p:strVal val="visible"/>
                                      </p:to>
                                    </p:set>
                                    <p:animEffect transition="in" filter="blinds(horizontal)">
                                      <p:cBhvr>
                                        <p:cTn id="7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2602992" cy="381000"/>
          </a:xfrm>
          <a:prstGeom prst="round2Diag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Limitations </a:t>
            </a:r>
            <a:endParaRPr lang="en-US" sz="2800" dirty="0">
              <a:solidFill>
                <a:srgbClr val="0070C0"/>
              </a:solidFill>
              <a:effectLst/>
            </a:endParaRPr>
          </a:p>
        </p:txBody>
      </p:sp>
      <p:sp>
        <p:nvSpPr>
          <p:cNvPr id="3" name="Content Placeholder 2"/>
          <p:cNvSpPr>
            <a:spLocks noGrp="1"/>
          </p:cNvSpPr>
          <p:nvPr>
            <p:ph idx="1"/>
          </p:nvPr>
        </p:nvSpPr>
        <p:spPr>
          <a:xfrm>
            <a:off x="990600" y="1752600"/>
            <a:ext cx="7943088" cy="4876800"/>
          </a:xfrm>
        </p:spPr>
        <p:txBody>
          <a:bodyPr>
            <a:normAutofit/>
          </a:bodyPr>
          <a:lstStyle/>
          <a:p>
            <a:pPr marL="457200" indent="-457200">
              <a:lnSpc>
                <a:spcPct val="120000"/>
              </a:lnSpc>
              <a:buFont typeface="Courier New" pitchFamily="49" charset="0"/>
              <a:buChar char="o"/>
            </a:pPr>
            <a:r>
              <a:rPr lang="en-GB" sz="2400" dirty="0" smtClean="0"/>
              <a:t>Accuracy   -  +/- 2% (in 70-100% range)</a:t>
            </a:r>
          </a:p>
          <a:p>
            <a:pPr marL="457200" indent="-457200">
              <a:lnSpc>
                <a:spcPct val="120000"/>
              </a:lnSpc>
              <a:buNone/>
            </a:pPr>
            <a:r>
              <a:rPr lang="en-GB" sz="2400" dirty="0" smtClean="0"/>
              <a:t>       	           -  Trend is important</a:t>
            </a:r>
          </a:p>
          <a:p>
            <a:pPr marL="457200" indent="-457200">
              <a:lnSpc>
                <a:spcPct val="120000"/>
              </a:lnSpc>
              <a:buFont typeface="Courier New" pitchFamily="49" charset="0"/>
              <a:buChar char="o"/>
            </a:pPr>
            <a:r>
              <a:rPr lang="en-GB" sz="2400" dirty="0" smtClean="0"/>
              <a:t>Severe hypoperfusion limits reading</a:t>
            </a:r>
          </a:p>
          <a:p>
            <a:pPr marL="457200" indent="-457200">
              <a:lnSpc>
                <a:spcPct val="120000"/>
              </a:lnSpc>
              <a:buFont typeface="Courier New" pitchFamily="49" charset="0"/>
              <a:buChar char="o"/>
            </a:pPr>
            <a:r>
              <a:rPr lang="en-GB" sz="2400" dirty="0" smtClean="0"/>
              <a:t>Only measures O</a:t>
            </a:r>
            <a:r>
              <a:rPr lang="en-GB" sz="2400" baseline="-25000" dirty="0" smtClean="0"/>
              <a:t>2</a:t>
            </a:r>
            <a:r>
              <a:rPr lang="en-GB" sz="2400" dirty="0" smtClean="0"/>
              <a:t> saturation (not about O</a:t>
            </a:r>
            <a:r>
              <a:rPr lang="en-GB" sz="2400" baseline="-25000" dirty="0" smtClean="0"/>
              <a:t>2</a:t>
            </a:r>
            <a:r>
              <a:rPr lang="en-GB" sz="2400" dirty="0" smtClean="0"/>
              <a:t> tissue delivery or CO</a:t>
            </a:r>
            <a:r>
              <a:rPr lang="en-GB" sz="2400" baseline="-25000" dirty="0" smtClean="0"/>
              <a:t>2</a:t>
            </a:r>
            <a:r>
              <a:rPr lang="en-GB" sz="2400" dirty="0" smtClean="0"/>
              <a:t> removal)</a:t>
            </a:r>
          </a:p>
          <a:p>
            <a:pPr marL="457200" indent="-457200">
              <a:lnSpc>
                <a:spcPct val="120000"/>
              </a:lnSpc>
              <a:buFont typeface="Courier New" pitchFamily="49" charset="0"/>
              <a:buChar char="o"/>
            </a:pPr>
            <a:r>
              <a:rPr lang="en-GB" sz="2400" dirty="0" smtClean="0"/>
              <a:t>Delay in response time to desaturation (NOT suitable for primary assessment of intubation)</a:t>
            </a:r>
          </a:p>
          <a:p>
            <a:pPr marL="457200" indent="-457200">
              <a:lnSpc>
                <a:spcPct val="120000"/>
              </a:lnSpc>
              <a:buFont typeface="Courier New" pitchFamily="49" charset="0"/>
              <a:buChar char="o"/>
            </a:pPr>
            <a:r>
              <a:rPr lang="en-GB" sz="2400" dirty="0" smtClean="0"/>
              <a:t>Movement may affect reading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90600"/>
            <a:ext cx="4431792" cy="427038"/>
          </a:xfrm>
          <a:prstGeom prst="round2DiagRect">
            <a:avLst/>
          </a:prstGeom>
          <a:solidFill>
            <a:schemeClr val="bg1">
              <a:lumMod val="95000"/>
            </a:schemeClr>
          </a:solidFill>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Limitations – </a:t>
            </a:r>
            <a:r>
              <a:rPr lang="en-US" sz="2400" dirty="0" smtClean="0">
                <a:solidFill>
                  <a:srgbClr val="0070C0"/>
                </a:solidFill>
                <a:effectLst/>
              </a:rPr>
              <a:t>source of error</a:t>
            </a:r>
            <a:endParaRPr lang="en-US" sz="2800" dirty="0">
              <a:solidFill>
                <a:srgbClr val="0070C0"/>
              </a:solidFill>
              <a:effectLst/>
            </a:endParaRPr>
          </a:p>
        </p:txBody>
      </p:sp>
      <p:sp>
        <p:nvSpPr>
          <p:cNvPr id="3" name="Content Placeholder 2"/>
          <p:cNvSpPr>
            <a:spLocks noGrp="1"/>
          </p:cNvSpPr>
          <p:nvPr>
            <p:ph idx="1"/>
          </p:nvPr>
        </p:nvSpPr>
        <p:spPr>
          <a:xfrm>
            <a:off x="990600" y="1752600"/>
            <a:ext cx="7943088" cy="4953000"/>
          </a:xfrm>
        </p:spPr>
        <p:txBody>
          <a:bodyPr>
            <a:normAutofit lnSpcReduction="10000"/>
          </a:bodyPr>
          <a:lstStyle/>
          <a:p>
            <a:pPr marL="457200" indent="-457200">
              <a:buFont typeface="Courier New" pitchFamily="49" charset="0"/>
              <a:buChar char="o"/>
            </a:pPr>
            <a:r>
              <a:rPr lang="en-GB" sz="2200" dirty="0" smtClean="0"/>
              <a:t>Increased venous pulsation may cause inaccuracy</a:t>
            </a:r>
          </a:p>
          <a:p>
            <a:pPr marL="457200" indent="-457200">
              <a:buFont typeface="Courier New" pitchFamily="49" charset="0"/>
              <a:buChar char="o"/>
            </a:pPr>
            <a:r>
              <a:rPr lang="en-GB" sz="2200" dirty="0" err="1" smtClean="0"/>
              <a:t>HbF</a:t>
            </a:r>
            <a:r>
              <a:rPr lang="en-GB" sz="2200" dirty="0" smtClean="0"/>
              <a:t>		No significant change</a:t>
            </a:r>
          </a:p>
          <a:p>
            <a:pPr marL="457200" indent="-457200">
              <a:buFont typeface="Courier New" pitchFamily="49" charset="0"/>
              <a:buChar char="o"/>
            </a:pPr>
            <a:r>
              <a:rPr lang="en-GB" sz="2200" dirty="0" err="1" smtClean="0"/>
              <a:t>MetHb</a:t>
            </a:r>
            <a:r>
              <a:rPr lang="en-GB" sz="2200" dirty="0" smtClean="0"/>
              <a:t>		False low reading (tends to 85%)</a:t>
            </a:r>
          </a:p>
          <a:p>
            <a:pPr marL="457200" indent="-457200">
              <a:buFont typeface="Courier New" pitchFamily="49" charset="0"/>
              <a:buChar char="o"/>
            </a:pPr>
            <a:r>
              <a:rPr lang="en-GB" sz="2200" dirty="0" err="1" smtClean="0"/>
              <a:t>CO.Hb</a:t>
            </a:r>
            <a:r>
              <a:rPr lang="en-GB" sz="2200" dirty="0" smtClean="0"/>
              <a:t>		False high reading</a:t>
            </a:r>
          </a:p>
          <a:p>
            <a:pPr marL="457200" indent="-457200">
              <a:buFont typeface="Courier New" pitchFamily="49" charset="0"/>
              <a:buChar char="o"/>
            </a:pPr>
            <a:r>
              <a:rPr lang="en-GB" sz="2200" dirty="0" err="1" smtClean="0"/>
              <a:t>SulphHb</a:t>
            </a:r>
            <a:r>
              <a:rPr lang="en-GB" sz="2200" dirty="0" smtClean="0"/>
              <a:t>		No problem</a:t>
            </a:r>
          </a:p>
          <a:p>
            <a:pPr marL="457200" indent="-457200">
              <a:buFont typeface="Courier New" pitchFamily="49" charset="0"/>
              <a:buChar char="o"/>
            </a:pPr>
            <a:r>
              <a:rPr lang="en-GB" sz="2200" dirty="0" smtClean="0"/>
              <a:t>Dark skin		No problem</a:t>
            </a:r>
          </a:p>
          <a:p>
            <a:pPr marL="457200" indent="-457200">
              <a:buFont typeface="Courier New" pitchFamily="49" charset="0"/>
              <a:buChar char="o"/>
            </a:pPr>
            <a:r>
              <a:rPr lang="en-GB" sz="2200" dirty="0" err="1" smtClean="0"/>
              <a:t>Methylene</a:t>
            </a:r>
            <a:r>
              <a:rPr lang="en-GB" sz="2200" dirty="0" smtClean="0"/>
              <a:t> blue	False low reading</a:t>
            </a:r>
            <a:endParaRPr lang="en-GB" sz="2200" dirty="0" smtClean="0">
              <a:solidFill>
                <a:srgbClr val="0070C0"/>
              </a:solidFill>
            </a:endParaRPr>
          </a:p>
          <a:p>
            <a:pPr marL="457200" indent="-457200">
              <a:buFont typeface="Courier New" pitchFamily="49" charset="0"/>
              <a:buChar char="o"/>
            </a:pPr>
            <a:r>
              <a:rPr lang="en-GB" sz="2200" dirty="0" smtClean="0"/>
              <a:t>Nail varnish		May cause false low reading </a:t>
            </a:r>
            <a:endParaRPr lang="en-GB" sz="2200" dirty="0" smtClean="0"/>
          </a:p>
          <a:p>
            <a:pPr marL="457200" indent="-457200">
              <a:buFont typeface="Courier New" pitchFamily="49" charset="0"/>
              <a:buChar char="o"/>
            </a:pPr>
            <a:r>
              <a:rPr lang="en-GB" sz="2400" dirty="0" smtClean="0"/>
              <a:t>Costs </a:t>
            </a:r>
            <a:r>
              <a:rPr lang="en-GB" sz="2400" dirty="0" smtClean="0"/>
              <a:t>		Starting from $200</a:t>
            </a:r>
          </a:p>
          <a:p>
            <a:pPr marL="457200" indent="-457200">
              <a:buNone/>
            </a:pPr>
            <a:r>
              <a:rPr lang="en-GB" sz="2400" dirty="0" smtClean="0"/>
              <a:t>			           FRAGILE</a:t>
            </a:r>
          </a:p>
          <a:p>
            <a:pPr marL="457200" indent="-457200">
              <a:buFont typeface="Courier New" pitchFamily="49" charset="0"/>
              <a:buChar char="o"/>
            </a:pPr>
            <a:r>
              <a:rPr lang="en-GB" sz="2400" dirty="0" smtClean="0"/>
              <a:t>Risks         	May cause pressure sores with       </a:t>
            </a:r>
          </a:p>
          <a:p>
            <a:pPr marL="457200" indent="-457200">
              <a:buNone/>
            </a:pPr>
            <a:r>
              <a:rPr lang="en-GB" sz="2400" dirty="0" smtClean="0"/>
              <a:t>                                  prolonged 	use</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685800"/>
            <a:ext cx="5346192" cy="427038"/>
          </a:xfrm>
        </p:spPr>
        <p:txBody>
          <a:bodyPr>
            <a:noAutofit/>
          </a:bodyPr>
          <a:lstStyle/>
          <a:p>
            <a:r>
              <a:rPr lang="en-US" sz="2800" dirty="0" smtClean="0">
                <a:solidFill>
                  <a:srgbClr val="0070C0"/>
                </a:solidFill>
                <a:effectLst/>
              </a:rPr>
              <a:t>Say something about these pictures</a:t>
            </a:r>
            <a:endParaRPr lang="en-US" sz="2800" dirty="0">
              <a:solidFill>
                <a:srgbClr val="0070C0"/>
              </a:solidFill>
              <a:effectLst/>
            </a:endParaRPr>
          </a:p>
        </p:txBody>
      </p:sp>
      <p:pic>
        <p:nvPicPr>
          <p:cNvPr id="61442" name="Picture 2"/>
          <p:cNvPicPr>
            <a:picLocks noChangeAspect="1" noChangeArrowheads="1"/>
          </p:cNvPicPr>
          <p:nvPr/>
        </p:nvPicPr>
        <p:blipFill>
          <a:blip r:embed="rId2"/>
          <a:srcRect/>
          <a:stretch>
            <a:fillRect/>
          </a:stretch>
        </p:blipFill>
        <p:spPr bwMode="auto">
          <a:xfrm>
            <a:off x="5105400" y="1447801"/>
            <a:ext cx="3505200" cy="1676400"/>
          </a:xfrm>
          <a:prstGeom prst="rect">
            <a:avLst/>
          </a:prstGeom>
          <a:noFill/>
          <a:ln w="9525">
            <a:noFill/>
            <a:miter lim="800000"/>
            <a:headEnd/>
            <a:tailEnd/>
          </a:ln>
          <a:effectLst/>
        </p:spPr>
      </p:pic>
      <p:pic>
        <p:nvPicPr>
          <p:cNvPr id="61443" name="Picture 3"/>
          <p:cNvPicPr>
            <a:picLocks noChangeAspect="1" noChangeArrowheads="1"/>
          </p:cNvPicPr>
          <p:nvPr/>
        </p:nvPicPr>
        <p:blipFill>
          <a:blip r:embed="rId3"/>
          <a:srcRect/>
          <a:stretch>
            <a:fillRect/>
          </a:stretch>
        </p:blipFill>
        <p:spPr bwMode="auto">
          <a:xfrm>
            <a:off x="1295400" y="1447800"/>
            <a:ext cx="3257550" cy="1828800"/>
          </a:xfrm>
          <a:prstGeom prst="rect">
            <a:avLst/>
          </a:prstGeom>
          <a:noFill/>
          <a:ln w="9525">
            <a:noFill/>
            <a:miter lim="800000"/>
            <a:headEnd/>
            <a:tailEnd/>
          </a:ln>
          <a:effectLst/>
        </p:spPr>
      </p:pic>
      <p:pic>
        <p:nvPicPr>
          <p:cNvPr id="61444" name="Picture 4"/>
          <p:cNvPicPr>
            <a:picLocks noChangeAspect="1" noChangeArrowheads="1"/>
          </p:cNvPicPr>
          <p:nvPr/>
        </p:nvPicPr>
        <p:blipFill>
          <a:blip r:embed="rId4"/>
          <a:srcRect/>
          <a:stretch>
            <a:fillRect/>
          </a:stretch>
        </p:blipFill>
        <p:spPr bwMode="auto">
          <a:xfrm>
            <a:off x="1066800" y="3505200"/>
            <a:ext cx="5210175" cy="1419225"/>
          </a:xfrm>
          <a:prstGeom prst="rect">
            <a:avLst/>
          </a:prstGeom>
          <a:noFill/>
          <a:ln w="9525">
            <a:noFill/>
            <a:miter lim="800000"/>
            <a:headEnd/>
            <a:tailEnd/>
          </a:ln>
          <a:effectLst/>
        </p:spPr>
      </p:pic>
      <p:pic>
        <p:nvPicPr>
          <p:cNvPr id="61445" name="Picture 5"/>
          <p:cNvPicPr>
            <a:picLocks noChangeAspect="1" noChangeArrowheads="1"/>
          </p:cNvPicPr>
          <p:nvPr/>
        </p:nvPicPr>
        <p:blipFill>
          <a:blip r:embed="rId5"/>
          <a:srcRect/>
          <a:stretch>
            <a:fillRect/>
          </a:stretch>
        </p:blipFill>
        <p:spPr bwMode="auto">
          <a:xfrm>
            <a:off x="990600" y="5105400"/>
            <a:ext cx="5267325" cy="1600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blinds(horizontal)">
                                      <p:cBhvr>
                                        <p:cTn id="7" dur="500"/>
                                        <p:tgtEl>
                                          <p:spTgt spid="6144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45"/>
                                        </p:tgtEl>
                                        <p:attrNameLst>
                                          <p:attrName>style.visibility</p:attrName>
                                        </p:attrNameLst>
                                      </p:cBhvr>
                                      <p:to>
                                        <p:strVal val="visible"/>
                                      </p:to>
                                    </p:set>
                                    <p:animEffect transition="in" filter="blinds(horizontal)">
                                      <p:cBhvr>
                                        <p:cTn id="12" dur="500"/>
                                        <p:tgtEl>
                                          <p:spTgt spid="61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2667000" cy="685800"/>
          </a:xfrm>
          <a:prstGeom prst="round2DiagRect">
            <a:avLst/>
          </a:prstGeom>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r>
              <a:rPr lang="en-US" sz="2400" dirty="0" smtClean="0"/>
              <a:t>Desaturation Rx algorithm</a:t>
            </a:r>
            <a:endParaRPr lang="en-US" sz="2400" dirty="0"/>
          </a:p>
        </p:txBody>
      </p:sp>
      <p:pic>
        <p:nvPicPr>
          <p:cNvPr id="1026" name="Picture 2"/>
          <p:cNvPicPr>
            <a:picLocks noChangeAspect="1" noChangeArrowheads="1"/>
          </p:cNvPicPr>
          <p:nvPr/>
        </p:nvPicPr>
        <p:blipFill>
          <a:blip r:embed="rId2"/>
          <a:srcRect/>
          <a:stretch>
            <a:fillRect/>
          </a:stretch>
        </p:blipFill>
        <p:spPr bwMode="auto">
          <a:xfrm>
            <a:off x="2743200" y="0"/>
            <a:ext cx="64008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457200"/>
            <a:ext cx="3974592" cy="457200"/>
          </a:xfrm>
          <a:prstGeom prst="round2DiagRect">
            <a:avLst/>
          </a:prstGeom>
        </p:spPr>
        <p:style>
          <a:lnRef idx="2">
            <a:schemeClr val="accent2"/>
          </a:lnRef>
          <a:fillRef idx="1">
            <a:schemeClr val="lt1"/>
          </a:fillRef>
          <a:effectRef idx="0">
            <a:schemeClr val="accent2"/>
          </a:effectRef>
          <a:fontRef idx="minor">
            <a:schemeClr val="dk1"/>
          </a:fontRef>
        </p:style>
        <p:txBody>
          <a:bodyPr>
            <a:noAutofit/>
          </a:bodyPr>
          <a:lstStyle/>
          <a:p>
            <a:r>
              <a:rPr lang="en-US" sz="2800" dirty="0" smtClean="0">
                <a:solidFill>
                  <a:srgbClr val="0070C0"/>
                </a:solidFill>
                <a:effectLst/>
              </a:rPr>
              <a:t>Learning points summary</a:t>
            </a:r>
            <a:endParaRPr lang="en-US" sz="2800" dirty="0">
              <a:solidFill>
                <a:srgbClr val="0070C0"/>
              </a:solidFill>
              <a:effectLst/>
            </a:endParaRPr>
          </a:p>
        </p:txBody>
      </p:sp>
      <p:sp>
        <p:nvSpPr>
          <p:cNvPr id="3" name="Content Placeholder 2"/>
          <p:cNvSpPr>
            <a:spLocks noGrp="1"/>
          </p:cNvSpPr>
          <p:nvPr>
            <p:ph idx="1"/>
          </p:nvPr>
        </p:nvSpPr>
        <p:spPr>
          <a:xfrm>
            <a:off x="990600" y="1219200"/>
            <a:ext cx="7943088" cy="5486400"/>
          </a:xfrm>
        </p:spPr>
        <p:txBody>
          <a:bodyPr>
            <a:normAutofit fontScale="70000" lnSpcReduction="20000"/>
          </a:bodyPr>
          <a:lstStyle/>
          <a:p>
            <a:pPr marL="457200" indent="-457200">
              <a:buFont typeface="Courier New" pitchFamily="49" charset="0"/>
              <a:buChar char="o"/>
            </a:pPr>
            <a:r>
              <a:rPr lang="en-US" dirty="0" smtClean="0"/>
              <a:t>It is </a:t>
            </a:r>
            <a:r>
              <a:rPr lang="en-US" dirty="0" smtClean="0">
                <a:solidFill>
                  <a:srgbClr val="0070C0"/>
                </a:solidFill>
              </a:rPr>
              <a:t>difficult to detect cyanosis</a:t>
            </a:r>
            <a:r>
              <a:rPr lang="en-US" dirty="0" smtClean="0"/>
              <a:t> clinically until the saturation is </a:t>
            </a:r>
            <a:r>
              <a:rPr lang="en-US" dirty="0" smtClean="0">
                <a:solidFill>
                  <a:srgbClr val="0070C0"/>
                </a:solidFill>
              </a:rPr>
              <a:t>&lt;90%.</a:t>
            </a:r>
            <a:r>
              <a:rPr lang="en-US" dirty="0" smtClean="0"/>
              <a:t>  A patient who is </a:t>
            </a:r>
            <a:r>
              <a:rPr lang="en-US" dirty="0" smtClean="0">
                <a:solidFill>
                  <a:srgbClr val="0070C0"/>
                </a:solidFill>
              </a:rPr>
              <a:t>severely anemic</a:t>
            </a:r>
            <a:r>
              <a:rPr lang="en-US" dirty="0" smtClean="0"/>
              <a:t> may not appear cyanosed, even if the oxygen saturation is very low.</a:t>
            </a:r>
          </a:p>
          <a:p>
            <a:pPr marL="457200" indent="-457200">
              <a:buFont typeface="Courier New" pitchFamily="49" charset="0"/>
              <a:buChar char="o"/>
            </a:pPr>
            <a:r>
              <a:rPr lang="en-US" dirty="0" smtClean="0"/>
              <a:t>In order to get a satisfactory reading the probe must be emitting a </a:t>
            </a:r>
            <a:r>
              <a:rPr lang="en-US" dirty="0" smtClean="0">
                <a:solidFill>
                  <a:srgbClr val="0070C0"/>
                </a:solidFill>
              </a:rPr>
              <a:t>red</a:t>
            </a:r>
            <a:r>
              <a:rPr lang="en-US" dirty="0" smtClean="0"/>
              <a:t> light and must be </a:t>
            </a:r>
            <a:r>
              <a:rPr lang="en-US" dirty="0" smtClean="0">
                <a:solidFill>
                  <a:srgbClr val="0070C0"/>
                </a:solidFill>
              </a:rPr>
              <a:t>correctly positioned</a:t>
            </a:r>
            <a:r>
              <a:rPr lang="en-US" dirty="0" smtClean="0"/>
              <a:t> to detect </a:t>
            </a:r>
            <a:r>
              <a:rPr lang="en-US" dirty="0" err="1" smtClean="0"/>
              <a:t>pulsatile</a:t>
            </a:r>
            <a:r>
              <a:rPr lang="en-US" dirty="0" smtClean="0"/>
              <a:t> blood flow.</a:t>
            </a:r>
          </a:p>
          <a:p>
            <a:pPr marL="457200" indent="-457200">
              <a:buFont typeface="Courier New" pitchFamily="49" charset="0"/>
              <a:buChar char="o"/>
            </a:pPr>
            <a:r>
              <a:rPr lang="en-US" dirty="0" smtClean="0"/>
              <a:t>If you are uncertain that the probe is working properly, check it by testing it on </a:t>
            </a:r>
            <a:r>
              <a:rPr lang="en-US" dirty="0" smtClean="0">
                <a:solidFill>
                  <a:srgbClr val="0070C0"/>
                </a:solidFill>
              </a:rPr>
              <a:t>your own finger</a:t>
            </a:r>
            <a:r>
              <a:rPr lang="en-US" dirty="0" smtClean="0"/>
              <a:t>.</a:t>
            </a:r>
          </a:p>
          <a:p>
            <a:pPr marL="457200" indent="-457200">
              <a:buFont typeface="Courier New" pitchFamily="49" charset="0"/>
              <a:buChar char="o"/>
            </a:pPr>
            <a:r>
              <a:rPr lang="en-US" dirty="0" smtClean="0"/>
              <a:t>During anaesthesia the SpO2 should be </a:t>
            </a:r>
            <a:r>
              <a:rPr lang="en-US" dirty="0" smtClean="0">
                <a:solidFill>
                  <a:srgbClr val="0070C0"/>
                </a:solidFill>
              </a:rPr>
              <a:t>95% or above</a:t>
            </a:r>
            <a:r>
              <a:rPr lang="en-US" dirty="0" smtClean="0"/>
              <a:t>. If SpO2 is 94% or below, the patient must be assessed quickly to identify and treat the cause.</a:t>
            </a:r>
          </a:p>
          <a:p>
            <a:pPr marL="457200" indent="-457200">
              <a:buFont typeface="Courier New" pitchFamily="49" charset="0"/>
              <a:buChar char="o"/>
            </a:pPr>
            <a:r>
              <a:rPr lang="en-US" dirty="0" smtClean="0"/>
              <a:t>SpO2 OF ! 90% IS A CLINICAL EMERGENCY AND SHOULD BE TREATED URGENTLY.</a:t>
            </a:r>
          </a:p>
          <a:p>
            <a:pPr marL="457200" indent="-457200">
              <a:buFont typeface="Courier New" pitchFamily="49" charset="0"/>
              <a:buChar char="o"/>
            </a:pPr>
            <a:r>
              <a:rPr lang="en-US" dirty="0" smtClean="0">
                <a:solidFill>
                  <a:srgbClr val="0070C0"/>
                </a:solidFill>
              </a:rPr>
              <a:t>Hypovolemia</a:t>
            </a:r>
            <a:r>
              <a:rPr lang="en-US" dirty="0" smtClean="0"/>
              <a:t> is the most common cause of a weak pulse oximeter signal during anaesthesia. </a:t>
            </a:r>
            <a:r>
              <a:rPr lang="en-US" dirty="0" smtClean="0">
                <a:solidFill>
                  <a:srgbClr val="0070C0"/>
                </a:solidFill>
              </a:rPr>
              <a:t>Hypothermia</a:t>
            </a:r>
            <a:r>
              <a:rPr lang="en-US" dirty="0" smtClean="0"/>
              <a:t> should also be considered.</a:t>
            </a:r>
          </a:p>
          <a:p>
            <a:pPr marL="457200" indent="-457200">
              <a:buFont typeface="Courier New" pitchFamily="49" charset="0"/>
              <a:buChar char="o"/>
            </a:pPr>
            <a:r>
              <a:rPr lang="en-US" sz="3400" b="1" dirty="0" smtClean="0">
                <a:solidFill>
                  <a:srgbClr val="0070C0"/>
                </a:solidFill>
              </a:rPr>
              <a:t>ALWAYS</a:t>
            </a:r>
            <a:r>
              <a:rPr lang="en-US" dirty="0" smtClean="0"/>
              <a:t> make sure the </a:t>
            </a:r>
            <a:r>
              <a:rPr lang="en-US" sz="3400" b="1" dirty="0" smtClean="0">
                <a:solidFill>
                  <a:srgbClr val="0070C0"/>
                </a:solidFill>
              </a:rPr>
              <a:t>ALARMS</a:t>
            </a:r>
            <a:r>
              <a:rPr lang="en-US" dirty="0" smtClean="0"/>
              <a:t> are </a:t>
            </a:r>
            <a:r>
              <a:rPr lang="en-US" sz="3400" b="1" dirty="0" smtClean="0">
                <a:solidFill>
                  <a:srgbClr val="0070C0"/>
                </a:solidFill>
              </a:rPr>
              <a:t>ON</a:t>
            </a:r>
            <a:r>
              <a:rPr lang="en-US" b="1" dirty="0" smtClean="0">
                <a:solidFill>
                  <a:srgbClr val="0070C0"/>
                </a:solidFill>
              </a:rPr>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xEl>
                                              <p:pRg st="0" end="0"/>
                                            </p:txEl>
                                          </p:spTgt>
                                        </p:tgtEl>
                                      </p:cBhvr>
                                    </p:animEffect>
                                    <p:set>
                                      <p:cBhvr>
                                        <p:cTn id="12" dur="1" fill="hold">
                                          <p:stCondLst>
                                            <p:cond delay="499"/>
                                          </p:stCondLst>
                                        </p:cTn>
                                        <p:tgtEl>
                                          <p:spTgt spid="3">
                                            <p:txEl>
                                              <p:pRg st="0" end="0"/>
                                            </p:txEl>
                                          </p:spTgt>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nodeType="clickEffect">
                                  <p:stCondLst>
                                    <p:cond delay="0"/>
                                  </p:stCondLst>
                                  <p:childTnLst>
                                    <p:animEffect transition="out" filter="blinds(horizontal)">
                                      <p:cBhvr>
                                        <p:cTn id="19" dur="500"/>
                                        <p:tgtEl>
                                          <p:spTgt spid="3">
                                            <p:txEl>
                                              <p:pRg st="1" end="1"/>
                                            </p:txEl>
                                          </p:spTgt>
                                        </p:tgtEl>
                                      </p:cBhvr>
                                    </p:animEffect>
                                    <p:set>
                                      <p:cBhvr>
                                        <p:cTn id="20" dur="1" fill="hold">
                                          <p:stCondLst>
                                            <p:cond delay="499"/>
                                          </p:stCondLst>
                                        </p:cTn>
                                        <p:tgtEl>
                                          <p:spTgt spid="3">
                                            <p:txEl>
                                              <p:pRg st="1" end="1"/>
                                            </p:txEl>
                                          </p:spTgt>
                                        </p:tgtEl>
                                        <p:attrNameLst>
                                          <p:attrName>style.visibility</p:attrName>
                                        </p:attrNameLst>
                                      </p:cBhvr>
                                      <p:to>
                                        <p:strVal val="hidden"/>
                                      </p:to>
                                    </p:set>
                                  </p:childTnLst>
                                </p:cTn>
                              </p:par>
                              <p:par>
                                <p:cTn id="21" presetID="3" presetClass="entr" presetSubtype="1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nodeType="clickEffect">
                                  <p:stCondLst>
                                    <p:cond delay="0"/>
                                  </p:stCondLst>
                                  <p:childTnLst>
                                    <p:animEffect transition="out" filter="blinds(horizontal)">
                                      <p:cBhvr>
                                        <p:cTn id="27" dur="500"/>
                                        <p:tgtEl>
                                          <p:spTgt spid="3">
                                            <p:txEl>
                                              <p:pRg st="2" end="2"/>
                                            </p:txEl>
                                          </p:spTgt>
                                        </p:tgtEl>
                                      </p:cBhvr>
                                    </p:animEffect>
                                    <p:set>
                                      <p:cBhvr>
                                        <p:cTn id="28" dur="1" fill="hold">
                                          <p:stCondLst>
                                            <p:cond delay="499"/>
                                          </p:stCondLst>
                                        </p:cTn>
                                        <p:tgtEl>
                                          <p:spTgt spid="3">
                                            <p:txEl>
                                              <p:pRg st="2" end="2"/>
                                            </p:txEl>
                                          </p:spTgt>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blinds(horizontal)">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nodeType="clickEffect">
                                  <p:stCondLst>
                                    <p:cond delay="0"/>
                                  </p:stCondLst>
                                  <p:childTnLst>
                                    <p:animEffect transition="out" filter="blinds(horizontal)">
                                      <p:cBhvr>
                                        <p:cTn id="35" dur="500"/>
                                        <p:tgtEl>
                                          <p:spTgt spid="3">
                                            <p:txEl>
                                              <p:pRg st="3" end="3"/>
                                            </p:txEl>
                                          </p:spTgt>
                                        </p:tgtEl>
                                      </p:cBhvr>
                                    </p:animEffect>
                                    <p:set>
                                      <p:cBhvr>
                                        <p:cTn id="36" dur="1" fill="hold">
                                          <p:stCondLst>
                                            <p:cond delay="499"/>
                                          </p:stCondLst>
                                        </p:cTn>
                                        <p:tgtEl>
                                          <p:spTgt spid="3">
                                            <p:txEl>
                                              <p:pRg st="3" end="3"/>
                                            </p:txEl>
                                          </p:spTgt>
                                        </p:tgtEl>
                                        <p:attrNameLst>
                                          <p:attrName>style.visibility</p:attrName>
                                        </p:attrNameLst>
                                      </p:cBhvr>
                                      <p:to>
                                        <p:strVal val="hidden"/>
                                      </p:to>
                                    </p:set>
                                  </p:childTnLst>
                                </p:cTn>
                              </p:par>
                              <p:par>
                                <p:cTn id="37" presetID="3" presetClass="entr" presetSubtype="1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blinds(horizontal)">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xit" presetSubtype="10" fill="hold" nodeType="clickEffect">
                                  <p:stCondLst>
                                    <p:cond delay="0"/>
                                  </p:stCondLst>
                                  <p:childTnLst>
                                    <p:animEffect transition="out" filter="blinds(horizontal)">
                                      <p:cBhvr>
                                        <p:cTn id="43" dur="500"/>
                                        <p:tgtEl>
                                          <p:spTgt spid="3">
                                            <p:txEl>
                                              <p:pRg st="4" end="4"/>
                                            </p:txEl>
                                          </p:spTgt>
                                        </p:tgtEl>
                                      </p:cBhvr>
                                    </p:animEffect>
                                    <p:set>
                                      <p:cBhvr>
                                        <p:cTn id="44" dur="1" fill="hold">
                                          <p:stCondLst>
                                            <p:cond delay="499"/>
                                          </p:stCondLst>
                                        </p:cTn>
                                        <p:tgtEl>
                                          <p:spTgt spid="3">
                                            <p:txEl>
                                              <p:pRg st="4" end="4"/>
                                            </p:txEl>
                                          </p:spTgt>
                                        </p:tgtEl>
                                        <p:attrNameLst>
                                          <p:attrName>style.visibility</p:attrName>
                                        </p:attrNameLst>
                                      </p:cBhvr>
                                      <p:to>
                                        <p:strVal val="hidden"/>
                                      </p:to>
                                    </p:set>
                                  </p:childTnLst>
                                </p:cTn>
                              </p:par>
                              <p:par>
                                <p:cTn id="45" presetID="3" presetClass="entr" presetSubtype="1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blinds(horizontal)">
                                      <p:cBhvr>
                                        <p:cTn id="47" dur="500"/>
                                        <p:tgtEl>
                                          <p:spTgt spid="3">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nodeType="clickEffect">
                                  <p:stCondLst>
                                    <p:cond delay="0"/>
                                  </p:stCondLst>
                                  <p:childTnLst>
                                    <p:animEffect transition="out" filter="blinds(horizontal)">
                                      <p:cBhvr>
                                        <p:cTn id="51" dur="500"/>
                                        <p:tgtEl>
                                          <p:spTgt spid="3">
                                            <p:txEl>
                                              <p:pRg st="5" end="5"/>
                                            </p:txEl>
                                          </p:spTgt>
                                        </p:tgtEl>
                                      </p:cBhvr>
                                    </p:animEffect>
                                    <p:set>
                                      <p:cBhvr>
                                        <p:cTn id="52" dur="1" fill="hold">
                                          <p:stCondLst>
                                            <p:cond delay="499"/>
                                          </p:stCondLst>
                                        </p:cTn>
                                        <p:tgtEl>
                                          <p:spTgt spid="3">
                                            <p:txEl>
                                              <p:pRg st="5" end="5"/>
                                            </p:txEl>
                                          </p:spTgt>
                                        </p:tgtEl>
                                        <p:attrNameLst>
                                          <p:attrName>style.visibility</p:attrName>
                                        </p:attrNameLst>
                                      </p:cBhvr>
                                      <p:to>
                                        <p:strVal val="hidden"/>
                                      </p:to>
                                    </p:set>
                                  </p:childTnLst>
                                </p:cTn>
                              </p:par>
                              <p:par>
                                <p:cTn id="53" presetID="3" presetClass="entr" presetSubtype="10" fill="hold" nodeType="with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blinds(horizontal)">
                                      <p:cBhvr>
                                        <p:cTn id="5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62000"/>
            <a:ext cx="4584192" cy="457200"/>
          </a:xfrm>
        </p:spPr>
        <p:txBody>
          <a:bodyPr>
            <a:noAutofit/>
          </a:bodyPr>
          <a:lstStyle/>
          <a:p>
            <a:r>
              <a:rPr lang="en-US" sz="3200" dirty="0" smtClean="0">
                <a:solidFill>
                  <a:srgbClr val="0070C0"/>
                </a:solidFill>
              </a:rPr>
              <a:t>Anesthetic Monitoring </a:t>
            </a:r>
            <a:endParaRPr lang="en-US" sz="3200" dirty="0">
              <a:solidFill>
                <a:srgbClr val="0070C0"/>
              </a:solidFill>
            </a:endParaRPr>
          </a:p>
        </p:txBody>
      </p:sp>
      <p:sp>
        <p:nvSpPr>
          <p:cNvPr id="4" name="Text Box 2"/>
          <p:cNvSpPr txBox="1">
            <a:spLocks noChangeArrowheads="1"/>
          </p:cNvSpPr>
          <p:nvPr/>
        </p:nvSpPr>
        <p:spPr bwMode="auto">
          <a:xfrm>
            <a:off x="1611312" y="1423989"/>
            <a:ext cx="5399088" cy="4662815"/>
          </a:xfrm>
          <a:prstGeom prst="rect">
            <a:avLst/>
          </a:prstGeom>
          <a:noFill/>
          <a:ln w="9525">
            <a:noFill/>
            <a:miter lim="800000"/>
            <a:headEnd/>
            <a:tailEnd/>
          </a:ln>
          <a:effectLst/>
        </p:spPr>
        <p:txBody>
          <a:bodyPr wrap="square">
            <a:spAutoFit/>
          </a:bodyPr>
          <a:lstStyle/>
          <a:p>
            <a:pPr marL="360363" indent="-360363" algn="l">
              <a:lnSpc>
                <a:spcPct val="150000"/>
              </a:lnSpc>
              <a:buFontTx/>
              <a:buChar char="•"/>
            </a:pPr>
            <a:r>
              <a:rPr lang="en-GB" sz="2200" dirty="0" smtClean="0">
                <a:solidFill>
                  <a:srgbClr val="FF0000"/>
                </a:solidFill>
              </a:rPr>
              <a:t>Clinical monitoring</a:t>
            </a:r>
          </a:p>
          <a:p>
            <a:pPr marL="360363" indent="-360363" algn="l">
              <a:lnSpc>
                <a:spcPct val="150000"/>
              </a:lnSpc>
              <a:buFontTx/>
              <a:buChar char="•"/>
            </a:pPr>
            <a:r>
              <a:rPr lang="en-GB" sz="2200" dirty="0" smtClean="0">
                <a:solidFill>
                  <a:srgbClr val="FF0000"/>
                </a:solidFill>
              </a:rPr>
              <a:t>Pulseoxymetry </a:t>
            </a:r>
          </a:p>
          <a:p>
            <a:pPr marL="360363" indent="-360363">
              <a:lnSpc>
                <a:spcPct val="150000"/>
              </a:lnSpc>
              <a:buFontTx/>
              <a:buChar char="•"/>
            </a:pPr>
            <a:r>
              <a:rPr lang="en-US" sz="2200" dirty="0" smtClean="0"/>
              <a:t>Capnography </a:t>
            </a:r>
          </a:p>
          <a:p>
            <a:pPr marL="360363" indent="-360363">
              <a:lnSpc>
                <a:spcPct val="150000"/>
              </a:lnSpc>
              <a:buFontTx/>
              <a:buChar char="•"/>
            </a:pPr>
            <a:r>
              <a:rPr lang="en-US" sz="2200" dirty="0" smtClean="0"/>
              <a:t>Non invasive Blood pressure</a:t>
            </a:r>
          </a:p>
          <a:p>
            <a:pPr marL="360363" indent="-360363">
              <a:lnSpc>
                <a:spcPct val="150000"/>
              </a:lnSpc>
              <a:buFontTx/>
              <a:buChar char="•"/>
            </a:pPr>
            <a:r>
              <a:rPr lang="en-US" sz="2200" dirty="0" smtClean="0"/>
              <a:t>ECG</a:t>
            </a:r>
          </a:p>
          <a:p>
            <a:pPr marL="360363" indent="-360363">
              <a:lnSpc>
                <a:spcPct val="150000"/>
              </a:lnSpc>
              <a:buFontTx/>
              <a:buChar char="•"/>
            </a:pPr>
            <a:r>
              <a:rPr lang="en-GB" sz="2200" dirty="0" smtClean="0"/>
              <a:t>Peripheral nerve stimulators</a:t>
            </a:r>
          </a:p>
          <a:p>
            <a:pPr marL="360363" indent="-360363">
              <a:lnSpc>
                <a:spcPct val="150000"/>
              </a:lnSpc>
              <a:buFontTx/>
              <a:buChar char="•"/>
            </a:pPr>
            <a:r>
              <a:rPr lang="en-GB" sz="2200" dirty="0" smtClean="0"/>
              <a:t>Volatile / gas analyser &amp; anaesthesia depth</a:t>
            </a:r>
          </a:p>
          <a:p>
            <a:pPr marL="360363" indent="-360363" algn="l">
              <a:lnSpc>
                <a:spcPct val="150000"/>
              </a:lnSpc>
              <a:buFontTx/>
              <a:buChar char="•"/>
            </a:pPr>
            <a:r>
              <a:rPr lang="en-GB" sz="2200" dirty="0" smtClean="0"/>
              <a:t>Temperature monitoring</a:t>
            </a:r>
          </a:p>
          <a:p>
            <a:pPr marL="360363" indent="-360363" algn="l">
              <a:lnSpc>
                <a:spcPct val="150000"/>
              </a:lnSpc>
              <a:buFontTx/>
              <a:buChar char="•"/>
            </a:pPr>
            <a:r>
              <a:rPr lang="en-GB" sz="2200" dirty="0" smtClean="0"/>
              <a:t>Documentation </a:t>
            </a:r>
          </a:p>
        </p:txBody>
      </p:sp>
      <p:sp>
        <p:nvSpPr>
          <p:cNvPr id="6" name="TextBox 5"/>
          <p:cNvSpPr txBox="1"/>
          <p:nvPr/>
        </p:nvSpPr>
        <p:spPr>
          <a:xfrm>
            <a:off x="7620000" y="1491868"/>
            <a:ext cx="1295400" cy="1556132"/>
          </a:xfrm>
          <a:prstGeom prst="rect">
            <a:avLst/>
          </a:prstGeom>
          <a:noFill/>
        </p:spPr>
        <p:txBody>
          <a:bodyPr wrap="square" rtlCol="0">
            <a:spAutoFit/>
          </a:bodyPr>
          <a:lstStyle/>
          <a:p>
            <a:pPr>
              <a:lnSpc>
                <a:spcPct val="150000"/>
              </a:lnSpc>
            </a:pPr>
            <a:r>
              <a:rPr lang="en-US" sz="2200" b="1" dirty="0" smtClean="0">
                <a:solidFill>
                  <a:srgbClr val="FF0000"/>
                </a:solidFill>
              </a:rPr>
              <a:t>√</a:t>
            </a:r>
          </a:p>
          <a:p>
            <a:pPr>
              <a:lnSpc>
                <a:spcPct val="150000"/>
              </a:lnSpc>
            </a:pPr>
            <a:r>
              <a:rPr lang="en-US" sz="2200" b="1" dirty="0" smtClean="0">
                <a:solidFill>
                  <a:srgbClr val="FF0000"/>
                </a:solidFill>
              </a:rPr>
              <a:t>√</a:t>
            </a:r>
          </a:p>
          <a:p>
            <a:pPr>
              <a:lnSpc>
                <a:spcPct val="150000"/>
              </a:lnSpc>
            </a:pPr>
            <a:endParaRPr lang="en-US" sz="2200" b="1" dirty="0">
              <a:solidFill>
                <a:srgbClr val="FF000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
          <p:cNvSpPr>
            <a:spLocks noGrp="1"/>
          </p:cNvSpPr>
          <p:nvPr>
            <p:ph type="ctrTitle"/>
          </p:nvPr>
        </p:nvSpPr>
        <p:spPr>
          <a:xfrm>
            <a:off x="2819400" y="2739918"/>
            <a:ext cx="3886200" cy="689082"/>
          </a:xfrm>
          <a:prstGeom prst="round2DiagRect">
            <a:avLst/>
          </a:prstGeom>
        </p:spPr>
        <p:style>
          <a:lnRef idx="2">
            <a:schemeClr val="accent2"/>
          </a:lnRef>
          <a:fillRef idx="1">
            <a:schemeClr val="lt1"/>
          </a:fillRef>
          <a:effectRef idx="0">
            <a:schemeClr val="accent2"/>
          </a:effectRef>
          <a:fontRef idx="minor">
            <a:schemeClr val="dk1"/>
          </a:fontRef>
        </p:style>
        <p:txBody>
          <a:bodyPr>
            <a:normAutofit fontScale="90000"/>
          </a:bodyPr>
          <a:lstStyle/>
          <a:p>
            <a:pPr algn="ctr"/>
            <a:r>
              <a:rPr lang="en-GB" sz="3600" dirty="0" smtClean="0">
                <a:solidFill>
                  <a:srgbClr val="0070C0"/>
                </a:solidFill>
              </a:rPr>
              <a:t>2. Capnography</a:t>
            </a:r>
            <a:endParaRPr lang="en-US" sz="3600" dirty="0">
              <a:solidFill>
                <a:srgbClr val="0070C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600200"/>
            <a:ext cx="3276600" cy="381000"/>
          </a:xfrm>
          <a:prstGeom prst="roundRect">
            <a:avLst/>
          </a:prstGeom>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2060"/>
                </a:solidFill>
                <a:effectLst/>
              </a:rPr>
              <a:t>Learning Objective</a:t>
            </a:r>
            <a:endParaRPr lang="en-US" sz="2800" dirty="0">
              <a:solidFill>
                <a:srgbClr val="002060"/>
              </a:solidFill>
              <a:effectLst/>
            </a:endParaRPr>
          </a:p>
        </p:txBody>
      </p:sp>
      <p:sp>
        <p:nvSpPr>
          <p:cNvPr id="3" name="Content Placeholder 2"/>
          <p:cNvSpPr>
            <a:spLocks noGrp="1"/>
          </p:cNvSpPr>
          <p:nvPr>
            <p:ph idx="1"/>
          </p:nvPr>
        </p:nvSpPr>
        <p:spPr>
          <a:xfrm>
            <a:off x="990600" y="2362200"/>
            <a:ext cx="7924800" cy="4038600"/>
          </a:xfrm>
        </p:spPr>
        <p:txBody>
          <a:bodyPr>
            <a:normAutofit/>
          </a:bodyPr>
          <a:lstStyle/>
          <a:p>
            <a:pPr marL="596646" indent="-514350">
              <a:buFont typeface="+mj-lt"/>
              <a:buAutoNum type="arabicPeriod"/>
            </a:pPr>
            <a:r>
              <a:rPr lang="en-US" sz="2400" dirty="0" smtClean="0"/>
              <a:t>Define and describe ETCO</a:t>
            </a:r>
            <a:r>
              <a:rPr lang="en-US" sz="2400" baseline="-25000" dirty="0" smtClean="0"/>
              <a:t>2</a:t>
            </a:r>
          </a:p>
          <a:p>
            <a:pPr marL="596646" indent="-514350">
              <a:buFont typeface="+mj-lt"/>
              <a:buAutoNum type="arabicPeriod"/>
            </a:pPr>
            <a:r>
              <a:rPr lang="en-US" sz="2400" dirty="0" smtClean="0"/>
              <a:t>Explain Methods of measuring ETCO</a:t>
            </a:r>
            <a:r>
              <a:rPr lang="en-US" sz="2400" baseline="-25000" dirty="0" smtClean="0"/>
              <a:t>2</a:t>
            </a:r>
          </a:p>
          <a:p>
            <a:pPr marL="596646" indent="-514350">
              <a:buFont typeface="+mj-lt"/>
              <a:buAutoNum type="arabicPeriod"/>
            </a:pPr>
            <a:r>
              <a:rPr lang="en-US" sz="2400" dirty="0" smtClean="0"/>
              <a:t>Describe various clinical applications of ETCO</a:t>
            </a:r>
            <a:r>
              <a:rPr lang="en-US" sz="2400" baseline="-25000" dirty="0" smtClean="0"/>
              <a:t>2</a:t>
            </a:r>
          </a:p>
          <a:p>
            <a:pPr marL="596646" indent="-514350">
              <a:buFont typeface="+mj-lt"/>
              <a:buAutoNum type="arabicPeriod"/>
            </a:pPr>
            <a:r>
              <a:rPr lang="en-US" sz="2400" dirty="0" smtClean="0"/>
              <a:t>Describe relationship between exhaled and arterial ETCO</a:t>
            </a:r>
            <a:r>
              <a:rPr lang="en-US" sz="2400" baseline="-25000" dirty="0" smtClean="0"/>
              <a:t>2</a:t>
            </a:r>
          </a:p>
          <a:p>
            <a:pPr marL="596646" indent="-514350">
              <a:buFont typeface="+mj-lt"/>
              <a:buAutoNum type="arabicPeriod"/>
            </a:pPr>
            <a:r>
              <a:rPr lang="en-US" sz="2400" dirty="0" smtClean="0"/>
              <a:t>Identify common waveforms</a:t>
            </a:r>
            <a:endParaRPr lang="en-US" sz="24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0070C0"/>
                </a:solidFill>
                <a:effectLst/>
              </a:rPr>
              <a:t>Introduction</a:t>
            </a:r>
            <a:endParaRPr lang="en-US" sz="3600" dirty="0">
              <a:solidFill>
                <a:srgbClr val="0070C0"/>
              </a:solidFill>
              <a:effectLst/>
            </a:endParaRPr>
          </a:p>
        </p:txBody>
      </p:sp>
      <p:sp>
        <p:nvSpPr>
          <p:cNvPr id="3" name="Content Placeholder 2"/>
          <p:cNvSpPr>
            <a:spLocks noGrp="1"/>
          </p:cNvSpPr>
          <p:nvPr>
            <p:ph idx="1"/>
          </p:nvPr>
        </p:nvSpPr>
        <p:spPr>
          <a:xfrm>
            <a:off x="990600" y="1447800"/>
            <a:ext cx="7943088" cy="5257800"/>
          </a:xfrm>
        </p:spPr>
        <p:txBody>
          <a:bodyPr>
            <a:normAutofit/>
          </a:bodyPr>
          <a:lstStyle/>
          <a:p>
            <a:pPr marL="457200" indent="-457200">
              <a:buFont typeface="Courier New" pitchFamily="49" charset="0"/>
              <a:buChar char="o"/>
            </a:pPr>
            <a:r>
              <a:rPr lang="en-US" sz="2400" dirty="0" smtClean="0"/>
              <a:t>The measurement of end-tidal CO</a:t>
            </a:r>
            <a:r>
              <a:rPr lang="en-US" sz="1600" dirty="0" smtClean="0"/>
              <a:t>2</a:t>
            </a:r>
            <a:r>
              <a:rPr lang="en-US" sz="2400" dirty="0" smtClean="0"/>
              <a:t> (ETCO</a:t>
            </a:r>
            <a:r>
              <a:rPr lang="en-US" sz="1600" dirty="0" smtClean="0"/>
              <a:t>2</a:t>
            </a:r>
            <a:r>
              <a:rPr lang="en-US" sz="2400" dirty="0" smtClean="0"/>
              <a:t>) currently is the optimal method of continuously monitoring the adequacy of </a:t>
            </a:r>
            <a:r>
              <a:rPr lang="en-US" sz="2400" dirty="0" smtClean="0">
                <a:solidFill>
                  <a:srgbClr val="0070C0"/>
                </a:solidFill>
              </a:rPr>
              <a:t>ventilation</a:t>
            </a:r>
            <a:r>
              <a:rPr lang="en-US" sz="2400" dirty="0" smtClean="0"/>
              <a:t> and </a:t>
            </a:r>
            <a:r>
              <a:rPr lang="en-US" sz="2400" dirty="0" smtClean="0">
                <a:solidFill>
                  <a:srgbClr val="0070C0"/>
                </a:solidFill>
              </a:rPr>
              <a:t>circulation</a:t>
            </a:r>
            <a:r>
              <a:rPr lang="en-US" sz="2400" dirty="0" smtClean="0"/>
              <a:t> in adult through infants. </a:t>
            </a:r>
          </a:p>
          <a:p>
            <a:pPr marL="457200" indent="-457200">
              <a:buFont typeface="Courier New" pitchFamily="49" charset="0"/>
              <a:buChar char="o"/>
            </a:pPr>
            <a:r>
              <a:rPr lang="en-US" sz="2400" dirty="0" smtClean="0"/>
              <a:t>Capnography measures expired carbon dioxide using infrared spectroscopy (</a:t>
            </a:r>
            <a:r>
              <a:rPr lang="en-GB" sz="2400" dirty="0" smtClean="0">
                <a:solidFill>
                  <a:srgbClr val="0070C0"/>
                </a:solidFill>
              </a:rPr>
              <a:t>Real time end-tidal CO</a:t>
            </a:r>
            <a:r>
              <a:rPr lang="en-GB" sz="2400" baseline="-25000" dirty="0" smtClean="0">
                <a:solidFill>
                  <a:srgbClr val="0070C0"/>
                </a:solidFill>
              </a:rPr>
              <a:t>2</a:t>
            </a:r>
            <a:r>
              <a:rPr lang="en-GB" sz="2400" dirty="0" smtClean="0">
                <a:solidFill>
                  <a:srgbClr val="0070C0"/>
                </a:solidFill>
              </a:rPr>
              <a:t> recording</a:t>
            </a:r>
            <a:r>
              <a:rPr lang="en-US" sz="2400" dirty="0" smtClean="0"/>
              <a:t>). </a:t>
            </a:r>
          </a:p>
          <a:p>
            <a:pPr marL="457200" indent="-457200">
              <a:buFont typeface="Courier New" pitchFamily="49" charset="0"/>
              <a:buChar char="o"/>
            </a:pPr>
            <a:r>
              <a:rPr lang="en-US" sz="2400" dirty="0" smtClean="0"/>
              <a:t>Normally end-tidal CO</a:t>
            </a:r>
            <a:r>
              <a:rPr lang="en-US" sz="1600" dirty="0" smtClean="0"/>
              <a:t>2</a:t>
            </a:r>
            <a:r>
              <a:rPr lang="en-US" sz="2400" baseline="30000" dirty="0" smtClean="0"/>
              <a:t> </a:t>
            </a:r>
            <a:r>
              <a:rPr lang="en-US" sz="2400" dirty="0" smtClean="0"/>
              <a:t>reflects the </a:t>
            </a:r>
            <a:r>
              <a:rPr lang="en-US" sz="2400" dirty="0" smtClean="0">
                <a:solidFill>
                  <a:srgbClr val="0070C0"/>
                </a:solidFill>
              </a:rPr>
              <a:t>partial pressure of CO</a:t>
            </a:r>
            <a:r>
              <a:rPr lang="en-US" sz="1400" dirty="0" smtClean="0">
                <a:solidFill>
                  <a:srgbClr val="0070C0"/>
                </a:solidFill>
              </a:rPr>
              <a:t>2</a:t>
            </a:r>
            <a:r>
              <a:rPr lang="en-US" sz="2400" baseline="30000" dirty="0" smtClean="0">
                <a:solidFill>
                  <a:srgbClr val="0070C0"/>
                </a:solidFill>
              </a:rPr>
              <a:t> </a:t>
            </a:r>
            <a:r>
              <a:rPr lang="en-US" sz="2400" dirty="0" smtClean="0">
                <a:solidFill>
                  <a:srgbClr val="0070C0"/>
                </a:solidFill>
              </a:rPr>
              <a:t>in the alveoli. </a:t>
            </a:r>
          </a:p>
          <a:p>
            <a:pPr marL="457200" indent="-457200">
              <a:buFont typeface="Courier New" pitchFamily="49" charset="0"/>
              <a:buChar char="o"/>
            </a:pPr>
            <a:r>
              <a:rPr lang="en-US" sz="2400" dirty="0" smtClean="0"/>
              <a:t>ETCO</a:t>
            </a:r>
            <a:r>
              <a:rPr lang="en-US" sz="1600" dirty="0" smtClean="0"/>
              <a:t>2</a:t>
            </a:r>
            <a:r>
              <a:rPr lang="en-US" sz="2400" dirty="0" smtClean="0"/>
              <a:t> can be of value in the assessment of </a:t>
            </a:r>
            <a:r>
              <a:rPr lang="en-US" sz="2400" dirty="0" smtClean="0">
                <a:solidFill>
                  <a:srgbClr val="0070C0"/>
                </a:solidFill>
              </a:rPr>
              <a:t>ventilation</a:t>
            </a:r>
            <a:r>
              <a:rPr lang="en-US" sz="2400" dirty="0" smtClean="0"/>
              <a:t>, </a:t>
            </a:r>
            <a:r>
              <a:rPr lang="en-US" sz="2400" dirty="0" smtClean="0">
                <a:solidFill>
                  <a:srgbClr val="0070C0"/>
                </a:solidFill>
              </a:rPr>
              <a:t>metabolism,</a:t>
            </a:r>
            <a:r>
              <a:rPr lang="en-US" sz="2400" dirty="0" smtClean="0"/>
              <a:t> and of a patient’s </a:t>
            </a:r>
            <a:r>
              <a:rPr lang="en-US" sz="2400" dirty="0" smtClean="0">
                <a:solidFill>
                  <a:srgbClr val="0070C0"/>
                </a:solidFill>
              </a:rPr>
              <a:t>circulation</a:t>
            </a:r>
            <a:r>
              <a:rPr lang="en-US" sz="2400" dirty="0" smtClean="0"/>
              <a:t> status.</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609600"/>
            <a:ext cx="7498080" cy="609600"/>
          </a:xfrm>
        </p:spPr>
        <p:txBody>
          <a:bodyPr>
            <a:noAutofit/>
          </a:bodyPr>
          <a:lstStyle/>
          <a:p>
            <a:r>
              <a:rPr lang="en-US" sz="3600" dirty="0" smtClean="0">
                <a:solidFill>
                  <a:srgbClr val="0070C0"/>
                </a:solidFill>
                <a:effectLst/>
              </a:rPr>
              <a:t>Cont’d …</a:t>
            </a:r>
            <a:endParaRPr lang="en-US" sz="3600" dirty="0">
              <a:solidFill>
                <a:srgbClr val="0070C0"/>
              </a:solidFill>
              <a:effectLst/>
            </a:endParaRPr>
          </a:p>
        </p:txBody>
      </p:sp>
      <p:sp>
        <p:nvSpPr>
          <p:cNvPr id="3" name="Content Placeholder 2"/>
          <p:cNvSpPr>
            <a:spLocks noGrp="1"/>
          </p:cNvSpPr>
          <p:nvPr>
            <p:ph idx="1"/>
          </p:nvPr>
        </p:nvSpPr>
        <p:spPr>
          <a:xfrm>
            <a:off x="990600" y="1447800"/>
            <a:ext cx="7943088" cy="4800600"/>
          </a:xfrm>
        </p:spPr>
        <p:txBody>
          <a:bodyPr>
            <a:normAutofit/>
          </a:bodyPr>
          <a:lstStyle/>
          <a:p>
            <a:pPr marL="457200" indent="-457200">
              <a:buFont typeface="Courier New" pitchFamily="49" charset="0"/>
              <a:buChar char="o"/>
            </a:pPr>
            <a:r>
              <a:rPr lang="en-GB" sz="2400" dirty="0" smtClean="0">
                <a:solidFill>
                  <a:srgbClr val="0070C0"/>
                </a:solidFill>
              </a:rPr>
              <a:t>Vast amount of information </a:t>
            </a:r>
            <a:r>
              <a:rPr lang="en-GB" sz="2400" dirty="0" smtClean="0"/>
              <a:t>can be interpreted from the CO</a:t>
            </a:r>
            <a:r>
              <a:rPr lang="en-GB" sz="2400" baseline="-25000" dirty="0" smtClean="0"/>
              <a:t>2</a:t>
            </a:r>
            <a:r>
              <a:rPr lang="en-GB" sz="2400" dirty="0" smtClean="0"/>
              <a:t> trace.</a:t>
            </a:r>
          </a:p>
          <a:p>
            <a:pPr marL="457200" indent="-457200">
              <a:buFont typeface="Courier New" pitchFamily="49" charset="0"/>
              <a:buChar char="o"/>
            </a:pPr>
            <a:r>
              <a:rPr lang="en-US" sz="2400" dirty="0" smtClean="0"/>
              <a:t>Normal PaCO</a:t>
            </a:r>
            <a:r>
              <a:rPr lang="en-US" sz="1600" dirty="0" smtClean="0"/>
              <a:t>2</a:t>
            </a:r>
            <a:r>
              <a:rPr lang="en-US" sz="2400" dirty="0" smtClean="0"/>
              <a:t> is </a:t>
            </a:r>
            <a:r>
              <a:rPr lang="en-US" sz="2400" dirty="0" smtClean="0">
                <a:solidFill>
                  <a:srgbClr val="0070C0"/>
                </a:solidFill>
              </a:rPr>
              <a:t>35-45 mmHg.</a:t>
            </a:r>
          </a:p>
          <a:p>
            <a:pPr marL="457200" indent="-457200">
              <a:buFont typeface="Courier New" pitchFamily="49" charset="0"/>
              <a:buChar char="o"/>
            </a:pPr>
            <a:r>
              <a:rPr lang="en-US" sz="2400" dirty="0" smtClean="0"/>
              <a:t>In adults with normal cardiorespiratory function (normal ventilation and perfusion) the ETCO</a:t>
            </a:r>
            <a:r>
              <a:rPr lang="en-US" sz="1600" dirty="0" smtClean="0"/>
              <a:t>2</a:t>
            </a:r>
            <a:r>
              <a:rPr lang="en-US" sz="2400" dirty="0" smtClean="0"/>
              <a:t> is </a:t>
            </a:r>
            <a:r>
              <a:rPr lang="en-US" sz="2400" dirty="0" smtClean="0">
                <a:solidFill>
                  <a:srgbClr val="0070C0"/>
                </a:solidFill>
              </a:rPr>
              <a:t>2-5mmHg</a:t>
            </a:r>
            <a:r>
              <a:rPr lang="en-US" sz="2400" dirty="0" smtClean="0"/>
              <a:t> lower than the PaCO</a:t>
            </a:r>
            <a:r>
              <a:rPr lang="en-US" sz="1600" dirty="0" smtClean="0"/>
              <a:t>2</a:t>
            </a:r>
            <a:r>
              <a:rPr lang="en-US" sz="2400" dirty="0" smtClean="0"/>
              <a:t>, this is generally due to alveolar mixing.</a:t>
            </a:r>
          </a:p>
          <a:p>
            <a:pPr marL="457200" indent="-457200">
              <a:buFont typeface="Courier New" pitchFamily="49" charset="0"/>
              <a:buChar char="o"/>
            </a:pPr>
            <a:r>
              <a:rPr lang="en-US" sz="2400" dirty="0" smtClean="0"/>
              <a:t>In infants and small children the gradient is lower and closely reflects PaCO</a:t>
            </a:r>
            <a:r>
              <a:rPr lang="en-US" sz="1600" dirty="0" smtClean="0"/>
              <a:t>2</a:t>
            </a:r>
            <a:r>
              <a:rPr lang="en-US" sz="2400" dirty="0" smtClean="0"/>
              <a:t> </a:t>
            </a:r>
            <a:r>
              <a:rPr lang="en-US" sz="2400" dirty="0" smtClean="0">
                <a:solidFill>
                  <a:srgbClr val="0070C0"/>
                </a:solidFill>
              </a:rPr>
              <a:t>(&lt; 3mmHg). </a:t>
            </a:r>
            <a:r>
              <a:rPr lang="en-US" sz="2400" dirty="0" smtClean="0"/>
              <a:t>This is due to better V/Q matching and hence a </a:t>
            </a:r>
            <a:r>
              <a:rPr lang="en-US" sz="2400" dirty="0" smtClean="0">
                <a:solidFill>
                  <a:srgbClr val="0070C0"/>
                </a:solidFill>
              </a:rPr>
              <a:t>lower alveolar dead space</a:t>
            </a:r>
          </a:p>
          <a:p>
            <a:pPr marL="457200" indent="-457200">
              <a:buFont typeface="Courier New" pitchFamily="49" charset="0"/>
              <a:buChar char="o"/>
            </a:pPr>
            <a:r>
              <a:rPr lang="en-US" sz="2400" dirty="0" smtClean="0"/>
              <a:t>Generally: </a:t>
            </a:r>
          </a:p>
        </p:txBody>
      </p:sp>
      <p:sp>
        <p:nvSpPr>
          <p:cNvPr id="4" name="Rectangle 8"/>
          <p:cNvSpPr>
            <a:spLocks noChangeArrowheads="1"/>
          </p:cNvSpPr>
          <p:nvPr/>
        </p:nvSpPr>
        <p:spPr bwMode="auto">
          <a:xfrm>
            <a:off x="3276600" y="5562600"/>
            <a:ext cx="3808412" cy="560388"/>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pPr>
              <a:spcBef>
                <a:spcPct val="20000"/>
              </a:spcBef>
            </a:pPr>
            <a:r>
              <a:rPr lang="en-GB" sz="2400" dirty="0">
                <a:solidFill>
                  <a:srgbClr val="002060"/>
                </a:solidFill>
              </a:rPr>
              <a:t>ET</a:t>
            </a:r>
            <a:r>
              <a:rPr lang="en-GB" sz="2400" baseline="-25000" dirty="0">
                <a:solidFill>
                  <a:srgbClr val="002060"/>
                </a:solidFill>
              </a:rPr>
              <a:t>CO2</a:t>
            </a:r>
            <a:r>
              <a:rPr lang="en-GB" sz="2400" dirty="0">
                <a:solidFill>
                  <a:srgbClr val="002060"/>
                </a:solidFill>
              </a:rPr>
              <a:t>  &lt;  PA</a:t>
            </a:r>
            <a:r>
              <a:rPr lang="en-GB" sz="2400" baseline="-25000" dirty="0">
                <a:solidFill>
                  <a:srgbClr val="002060"/>
                </a:solidFill>
              </a:rPr>
              <a:t>CO2</a:t>
            </a:r>
            <a:r>
              <a:rPr lang="en-GB" sz="2400" dirty="0">
                <a:solidFill>
                  <a:srgbClr val="002060"/>
                </a:solidFill>
              </a:rPr>
              <a:t>  &lt;  Pa</a:t>
            </a:r>
            <a:r>
              <a:rPr lang="en-GB" sz="2400" baseline="-25000" dirty="0">
                <a:solidFill>
                  <a:srgbClr val="002060"/>
                </a:solidFill>
              </a:rPr>
              <a:t>CO2</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609600"/>
            <a:ext cx="1764792" cy="457200"/>
          </a:xfrm>
          <a:prstGeom prst="round2Diag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Glossary </a:t>
            </a:r>
            <a:endParaRPr lang="en-US" sz="2800" dirty="0">
              <a:solidFill>
                <a:srgbClr val="0070C0"/>
              </a:solidFill>
              <a:effectLst/>
            </a:endParaRPr>
          </a:p>
        </p:txBody>
      </p:sp>
      <p:sp>
        <p:nvSpPr>
          <p:cNvPr id="3" name="Content Placeholder 2"/>
          <p:cNvSpPr>
            <a:spLocks noGrp="1"/>
          </p:cNvSpPr>
          <p:nvPr>
            <p:ph idx="1"/>
          </p:nvPr>
        </p:nvSpPr>
        <p:spPr>
          <a:xfrm>
            <a:off x="990600" y="1447800"/>
            <a:ext cx="7772400" cy="4800600"/>
          </a:xfrm>
        </p:spPr>
        <p:txBody>
          <a:bodyPr>
            <a:noAutofit/>
          </a:bodyPr>
          <a:lstStyle/>
          <a:p>
            <a:pPr marL="401638" indent="-401638">
              <a:buFont typeface="Courier New" pitchFamily="49" charset="0"/>
              <a:buChar char="o"/>
            </a:pPr>
            <a:r>
              <a:rPr lang="en-US" sz="2400" dirty="0" smtClean="0">
                <a:solidFill>
                  <a:srgbClr val="0070C0"/>
                </a:solidFill>
              </a:rPr>
              <a:t>Capnography –</a:t>
            </a:r>
            <a:r>
              <a:rPr lang="en-US" sz="2400" dirty="0" smtClean="0"/>
              <a:t> Measurement with </a:t>
            </a:r>
            <a:r>
              <a:rPr lang="en-US" sz="2400" dirty="0" smtClean="0">
                <a:solidFill>
                  <a:srgbClr val="0070C0"/>
                </a:solidFill>
              </a:rPr>
              <a:t>graphic as well as numeric</a:t>
            </a:r>
            <a:r>
              <a:rPr lang="en-US" sz="2400" dirty="0" smtClean="0"/>
              <a:t> display of carbon dioxide</a:t>
            </a:r>
          </a:p>
          <a:p>
            <a:pPr marL="401638" indent="-401638">
              <a:buFont typeface="Courier New" pitchFamily="49" charset="0"/>
              <a:buChar char="o"/>
            </a:pPr>
            <a:r>
              <a:rPr lang="en-US" sz="2400" dirty="0" smtClean="0">
                <a:solidFill>
                  <a:srgbClr val="0070C0"/>
                </a:solidFill>
              </a:rPr>
              <a:t>Capnogram –</a:t>
            </a:r>
            <a:r>
              <a:rPr lang="en-US" sz="2400" dirty="0" smtClean="0"/>
              <a:t> A </a:t>
            </a:r>
            <a:r>
              <a:rPr lang="en-US" sz="2400" dirty="0" smtClean="0">
                <a:solidFill>
                  <a:srgbClr val="0070C0"/>
                </a:solidFill>
              </a:rPr>
              <a:t>graphical </a:t>
            </a:r>
            <a:r>
              <a:rPr lang="en-US" sz="2400" dirty="0" smtClean="0"/>
              <a:t>waveform display of carbon dioxide concentration over time</a:t>
            </a:r>
          </a:p>
          <a:p>
            <a:pPr marL="401638" indent="-401638">
              <a:buFont typeface="Courier New" pitchFamily="49" charset="0"/>
              <a:buChar char="o"/>
            </a:pPr>
            <a:r>
              <a:rPr lang="en-US" sz="2400" dirty="0" smtClean="0">
                <a:solidFill>
                  <a:srgbClr val="0070C0"/>
                </a:solidFill>
              </a:rPr>
              <a:t>Capnometry –</a:t>
            </a:r>
            <a:r>
              <a:rPr lang="en-US" sz="2400" dirty="0" smtClean="0"/>
              <a:t> Measurement with </a:t>
            </a:r>
            <a:r>
              <a:rPr lang="en-US" sz="2400" dirty="0" smtClean="0">
                <a:solidFill>
                  <a:srgbClr val="0070C0"/>
                </a:solidFill>
              </a:rPr>
              <a:t>numeric</a:t>
            </a:r>
            <a:r>
              <a:rPr lang="en-US" sz="2400" dirty="0" smtClean="0"/>
              <a:t> display of carbon dioxide</a:t>
            </a:r>
          </a:p>
          <a:p>
            <a:pPr marL="401638" indent="-401638">
              <a:buFont typeface="Courier New" pitchFamily="49" charset="0"/>
              <a:buChar char="o"/>
            </a:pPr>
            <a:r>
              <a:rPr lang="en-US" sz="2400" dirty="0" smtClean="0">
                <a:solidFill>
                  <a:srgbClr val="0070C0"/>
                </a:solidFill>
              </a:rPr>
              <a:t>CO2 –</a:t>
            </a:r>
            <a:r>
              <a:rPr lang="en-US" sz="2400" dirty="0" smtClean="0"/>
              <a:t> Carbon Dioxide, a byproduct of cellular metabolism that is exhaled during the respiratory cycle</a:t>
            </a:r>
          </a:p>
          <a:p>
            <a:pPr marL="401638" indent="-401638">
              <a:buFont typeface="Courier New" pitchFamily="49" charset="0"/>
              <a:buChar char="o"/>
            </a:pPr>
            <a:r>
              <a:rPr lang="en-US" sz="2400" dirty="0" smtClean="0">
                <a:solidFill>
                  <a:srgbClr val="0070C0"/>
                </a:solidFill>
              </a:rPr>
              <a:t>End Tidal CO2 –</a:t>
            </a:r>
            <a:r>
              <a:rPr lang="en-US" sz="2400" dirty="0" smtClean="0"/>
              <a:t> Peak concentration of carbon dioxide occurring at the end of expiration.</a:t>
            </a:r>
            <a:endParaRPr lang="en-US" sz="24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427038"/>
            <a:ext cx="4584192" cy="487362"/>
          </a:xfrm>
          <a:prstGeom prst="round2DiagRect">
            <a:avLst/>
          </a:prstGeom>
          <a:ln/>
        </p:spPr>
        <p:style>
          <a:lnRef idx="2">
            <a:schemeClr val="accent1"/>
          </a:lnRef>
          <a:fillRef idx="1">
            <a:schemeClr val="lt1"/>
          </a:fillRef>
          <a:effectRef idx="0">
            <a:schemeClr val="accent1"/>
          </a:effectRef>
          <a:fontRef idx="minor">
            <a:schemeClr val="dk1"/>
          </a:fontRef>
        </p:style>
        <p:txBody>
          <a:bodyPr>
            <a:noAutofit/>
          </a:bodyPr>
          <a:lstStyle/>
          <a:p>
            <a:r>
              <a:rPr lang="en-GB" sz="2800" dirty="0" smtClean="0">
                <a:solidFill>
                  <a:srgbClr val="0070C0"/>
                </a:solidFill>
                <a:effectLst/>
              </a:rPr>
              <a:t>Normal capnograph trace</a:t>
            </a:r>
            <a:endParaRPr lang="en-GB" sz="2800" dirty="0">
              <a:solidFill>
                <a:srgbClr val="0070C0"/>
              </a:solidFill>
              <a:effectLst/>
            </a:endParaRPr>
          </a:p>
        </p:txBody>
      </p:sp>
      <p:pic>
        <p:nvPicPr>
          <p:cNvPr id="1026" name="Picture 2"/>
          <p:cNvPicPr>
            <a:picLocks noGrp="1" noChangeAspect="1" noChangeArrowheads="1"/>
          </p:cNvPicPr>
          <p:nvPr>
            <p:ph idx="1"/>
          </p:nvPr>
        </p:nvPicPr>
        <p:blipFill>
          <a:blip r:embed="rId2"/>
          <a:srcRect/>
          <a:stretch>
            <a:fillRect/>
          </a:stretch>
        </p:blipFill>
        <p:spPr bwMode="auto">
          <a:xfrm>
            <a:off x="3962400" y="1600200"/>
            <a:ext cx="5181600" cy="2667000"/>
          </a:xfrm>
          <a:prstGeom prst="rect">
            <a:avLst/>
          </a:prstGeom>
          <a:noFill/>
          <a:ln w="9525">
            <a:noFill/>
            <a:miter lim="800000"/>
            <a:headEnd/>
            <a:tailEnd/>
          </a:ln>
          <a:effectLst/>
        </p:spPr>
      </p:pic>
      <p:sp>
        <p:nvSpPr>
          <p:cNvPr id="6" name="TextBox 5"/>
          <p:cNvSpPr txBox="1"/>
          <p:nvPr/>
        </p:nvSpPr>
        <p:spPr>
          <a:xfrm>
            <a:off x="990600" y="4800600"/>
            <a:ext cx="8001000" cy="1862048"/>
          </a:xfrm>
          <a:prstGeom prst="rect">
            <a:avLst/>
          </a:prstGeom>
          <a:noFill/>
        </p:spPr>
        <p:txBody>
          <a:bodyPr wrap="square" rtlCol="0">
            <a:spAutoFit/>
          </a:bodyPr>
          <a:lstStyle/>
          <a:p>
            <a:pPr marL="401638" indent="-401638">
              <a:buFont typeface="Courier New" pitchFamily="49" charset="0"/>
              <a:buChar char="o"/>
            </a:pPr>
            <a:r>
              <a:rPr lang="en-US" sz="2300" dirty="0" smtClean="0">
                <a:solidFill>
                  <a:srgbClr val="0070C0"/>
                </a:solidFill>
              </a:rPr>
              <a:t>A-B:</a:t>
            </a:r>
            <a:r>
              <a:rPr lang="en-US" sz="2300" dirty="0" smtClean="0"/>
              <a:t> exhalation of </a:t>
            </a:r>
            <a:r>
              <a:rPr lang="en-US" sz="2300" dirty="0" smtClean="0">
                <a:solidFill>
                  <a:srgbClr val="0070C0"/>
                </a:solidFill>
              </a:rPr>
              <a:t>CO2</a:t>
            </a:r>
            <a:r>
              <a:rPr lang="en-US" sz="2300" baseline="30000" dirty="0" smtClean="0">
                <a:solidFill>
                  <a:srgbClr val="0070C0"/>
                </a:solidFill>
              </a:rPr>
              <a:t> </a:t>
            </a:r>
            <a:r>
              <a:rPr lang="en-US" sz="2300" dirty="0" smtClean="0">
                <a:solidFill>
                  <a:srgbClr val="0070C0"/>
                </a:solidFill>
              </a:rPr>
              <a:t>free gas </a:t>
            </a:r>
            <a:r>
              <a:rPr lang="en-US" sz="2300" dirty="0" smtClean="0"/>
              <a:t>contained in </a:t>
            </a:r>
            <a:r>
              <a:rPr lang="en-US" sz="2300" dirty="0" smtClean="0">
                <a:solidFill>
                  <a:srgbClr val="0070C0"/>
                </a:solidFill>
              </a:rPr>
              <a:t>dead space </a:t>
            </a:r>
            <a:r>
              <a:rPr lang="en-US" sz="2300" dirty="0" smtClean="0"/>
              <a:t>at the beginning of exhalation (emptying upper airway dead space). </a:t>
            </a:r>
            <a:r>
              <a:rPr lang="en-US" sz="2300" b="1" dirty="0" smtClean="0">
                <a:solidFill>
                  <a:srgbClr val="0070C0"/>
                </a:solidFill>
              </a:rPr>
              <a:t>Phase I</a:t>
            </a:r>
          </a:p>
          <a:p>
            <a:pPr marL="401638" indent="-401638">
              <a:buFont typeface="Courier New" pitchFamily="49" charset="0"/>
              <a:buChar char="o"/>
            </a:pPr>
            <a:r>
              <a:rPr lang="en-US" sz="2300" dirty="0" smtClean="0"/>
              <a:t>The baseline should have a value of </a:t>
            </a:r>
            <a:r>
              <a:rPr lang="en-US" sz="2300" dirty="0" smtClean="0">
                <a:solidFill>
                  <a:srgbClr val="0070C0"/>
                </a:solidFill>
              </a:rPr>
              <a:t>zero</a:t>
            </a:r>
            <a:r>
              <a:rPr lang="en-US" sz="2300" dirty="0" smtClean="0"/>
              <a:t> otherwise the patient is re-breathing CO</a:t>
            </a:r>
            <a:r>
              <a:rPr lang="en-US" sz="1600" dirty="0" smtClean="0"/>
              <a:t>2</a:t>
            </a:r>
            <a:r>
              <a:rPr lang="en-US" sz="2300" dirty="0" smtClean="0"/>
              <a:t>. </a:t>
            </a:r>
          </a:p>
        </p:txBody>
      </p:sp>
      <p:sp>
        <p:nvSpPr>
          <p:cNvPr id="7" name="TextBox 6"/>
          <p:cNvSpPr txBox="1"/>
          <p:nvPr/>
        </p:nvSpPr>
        <p:spPr>
          <a:xfrm>
            <a:off x="990600" y="1665744"/>
            <a:ext cx="2743200" cy="2677656"/>
          </a:xfrm>
          <a:prstGeom prst="rect">
            <a:avLst/>
          </a:prstGeom>
          <a:noFill/>
        </p:spPr>
        <p:txBody>
          <a:bodyPr wrap="square" rtlCol="0">
            <a:spAutoFit/>
          </a:bodyPr>
          <a:lstStyle/>
          <a:p>
            <a:r>
              <a:rPr lang="en-US" sz="2400" b="1" i="1" dirty="0" smtClean="0">
                <a:solidFill>
                  <a:srgbClr val="0070C0"/>
                </a:solidFill>
              </a:rPr>
              <a:t>Phase I: </a:t>
            </a:r>
            <a:r>
              <a:rPr lang="en-US" sz="2400" i="1" dirty="0" smtClean="0">
                <a:solidFill>
                  <a:srgbClr val="0070C0"/>
                </a:solidFill>
              </a:rPr>
              <a:t>Inspiratory baseline,</a:t>
            </a:r>
            <a:r>
              <a:rPr lang="en-US" sz="2400" i="1" dirty="0" smtClean="0"/>
              <a:t> </a:t>
            </a:r>
            <a:r>
              <a:rPr lang="en-US" sz="2400" dirty="0" smtClean="0"/>
              <a:t>which represents fresh gas flow, anesthetic plus oxygen, past the CO</a:t>
            </a:r>
            <a:r>
              <a:rPr lang="en-US" sz="1600" dirty="0" smtClean="0"/>
              <a:t>2</a:t>
            </a:r>
            <a:r>
              <a:rPr lang="en-US" sz="1600" baseline="30000" dirty="0" smtClean="0"/>
              <a:t> </a:t>
            </a:r>
            <a:r>
              <a:rPr lang="en-US" sz="2400" dirty="0" smtClean="0"/>
              <a:t>sensor during inspiration.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US" dirty="0" smtClean="0"/>
              <a:t>Cont’d …</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962400" y="1524000"/>
            <a:ext cx="5181600" cy="2667000"/>
          </a:xfrm>
          <a:prstGeom prst="rect">
            <a:avLst/>
          </a:prstGeom>
          <a:noFill/>
          <a:ln w="9525">
            <a:noFill/>
            <a:miter lim="800000"/>
            <a:headEnd/>
            <a:tailEnd/>
          </a:ln>
          <a:effectLst/>
        </p:spPr>
      </p:pic>
      <p:sp>
        <p:nvSpPr>
          <p:cNvPr id="6" name="TextBox 5"/>
          <p:cNvSpPr txBox="1"/>
          <p:nvPr/>
        </p:nvSpPr>
        <p:spPr>
          <a:xfrm>
            <a:off x="990600" y="5181600"/>
            <a:ext cx="7696200" cy="1200329"/>
          </a:xfrm>
          <a:prstGeom prst="rect">
            <a:avLst/>
          </a:prstGeom>
          <a:noFill/>
        </p:spPr>
        <p:txBody>
          <a:bodyPr wrap="square" rtlCol="0">
            <a:spAutoFit/>
          </a:bodyPr>
          <a:lstStyle/>
          <a:p>
            <a:pPr marL="346075" indent="-346075">
              <a:buFont typeface="Courier New" pitchFamily="49" charset="0"/>
              <a:buChar char="o"/>
            </a:pPr>
            <a:r>
              <a:rPr lang="en-US" sz="2400" dirty="0" smtClean="0">
                <a:solidFill>
                  <a:srgbClr val="0070C0"/>
                </a:solidFill>
              </a:rPr>
              <a:t>B-C: </a:t>
            </a:r>
            <a:r>
              <a:rPr lang="en-US" sz="2400" dirty="0" smtClean="0"/>
              <a:t>respiratory upstroke, representing the emptying of connecting airways &amp; the beginning of emptying of alveoli. </a:t>
            </a:r>
            <a:r>
              <a:rPr lang="en-US" sz="2400" b="1" dirty="0" smtClean="0">
                <a:solidFill>
                  <a:srgbClr val="0070C0"/>
                </a:solidFill>
              </a:rPr>
              <a:t>Phase II </a:t>
            </a:r>
            <a:endParaRPr lang="en-US" sz="2400" b="1" dirty="0">
              <a:solidFill>
                <a:srgbClr val="0070C0"/>
              </a:solidFill>
            </a:endParaRPr>
          </a:p>
        </p:txBody>
      </p:sp>
      <p:sp>
        <p:nvSpPr>
          <p:cNvPr id="7" name="TextBox 6"/>
          <p:cNvSpPr txBox="1"/>
          <p:nvPr/>
        </p:nvSpPr>
        <p:spPr>
          <a:xfrm>
            <a:off x="990600" y="1295400"/>
            <a:ext cx="2971800" cy="3046988"/>
          </a:xfrm>
          <a:prstGeom prst="rect">
            <a:avLst/>
          </a:prstGeom>
          <a:noFill/>
        </p:spPr>
        <p:txBody>
          <a:bodyPr wrap="square" rtlCol="0">
            <a:spAutoFit/>
          </a:bodyPr>
          <a:lstStyle/>
          <a:p>
            <a:endParaRPr lang="en-US" sz="2400" dirty="0" smtClean="0"/>
          </a:p>
          <a:p>
            <a:r>
              <a:rPr lang="en-US" sz="2400" b="1" i="1" dirty="0" smtClean="0">
                <a:solidFill>
                  <a:srgbClr val="0070C0"/>
                </a:solidFill>
              </a:rPr>
              <a:t>Phase II</a:t>
            </a:r>
            <a:r>
              <a:rPr lang="en-US" sz="2400" i="1" dirty="0" smtClean="0">
                <a:solidFill>
                  <a:srgbClr val="0070C0"/>
                </a:solidFill>
              </a:rPr>
              <a:t>: expiratory upstroke</a:t>
            </a:r>
            <a:r>
              <a:rPr lang="en-US" sz="2400" i="1" dirty="0" smtClean="0"/>
              <a:t>, </a:t>
            </a:r>
            <a:r>
              <a:rPr lang="en-US" sz="2400" dirty="0" smtClean="0"/>
              <a:t>which represents the arrival of CO</a:t>
            </a:r>
            <a:r>
              <a:rPr lang="en-US" sz="2400" baseline="-25000" dirty="0" smtClean="0"/>
              <a:t>2</a:t>
            </a:r>
            <a:r>
              <a:rPr lang="en-US" sz="2400" baseline="30000" dirty="0" smtClean="0"/>
              <a:t> </a:t>
            </a:r>
            <a:r>
              <a:rPr lang="en-US" sz="2400" dirty="0" smtClean="0"/>
              <a:t>at the sensor just as exhalation begins. Usually </a:t>
            </a:r>
            <a:r>
              <a:rPr lang="en-US" sz="2400" dirty="0" smtClean="0">
                <a:solidFill>
                  <a:srgbClr val="0070C0"/>
                </a:solidFill>
              </a:rPr>
              <a:t>very steep. </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US" dirty="0" smtClean="0"/>
              <a:t>Cont’d …</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962400" y="1524000"/>
            <a:ext cx="5181600" cy="2667000"/>
          </a:xfrm>
          <a:prstGeom prst="rect">
            <a:avLst/>
          </a:prstGeom>
          <a:noFill/>
          <a:ln w="9525">
            <a:noFill/>
            <a:miter lim="800000"/>
            <a:headEnd/>
            <a:tailEnd/>
          </a:ln>
          <a:effectLst/>
        </p:spPr>
      </p:pic>
      <p:sp>
        <p:nvSpPr>
          <p:cNvPr id="6" name="TextBox 5"/>
          <p:cNvSpPr txBox="1"/>
          <p:nvPr/>
        </p:nvSpPr>
        <p:spPr>
          <a:xfrm>
            <a:off x="990600" y="5181600"/>
            <a:ext cx="7696200" cy="1508105"/>
          </a:xfrm>
          <a:prstGeom prst="rect">
            <a:avLst/>
          </a:prstGeom>
          <a:noFill/>
        </p:spPr>
        <p:txBody>
          <a:bodyPr wrap="square" rtlCol="0">
            <a:spAutoFit/>
          </a:bodyPr>
          <a:lstStyle/>
          <a:p>
            <a:pPr marL="457200" indent="-457200">
              <a:buFont typeface="Courier New" pitchFamily="49" charset="0"/>
              <a:buChar char="o"/>
            </a:pPr>
            <a:r>
              <a:rPr lang="en-US" sz="2300" dirty="0" smtClean="0">
                <a:solidFill>
                  <a:srgbClr val="0070C0"/>
                </a:solidFill>
              </a:rPr>
              <a:t>C-D:</a:t>
            </a:r>
            <a:r>
              <a:rPr lang="en-US" sz="2300" dirty="0" smtClean="0"/>
              <a:t> Expiratory (or alveolar) plateau, representing of </a:t>
            </a:r>
            <a:r>
              <a:rPr lang="en-US" sz="2300" i="1" dirty="0" smtClean="0">
                <a:solidFill>
                  <a:srgbClr val="0070C0"/>
                </a:solidFill>
              </a:rPr>
              <a:t>emptying of alveoli </a:t>
            </a:r>
            <a:r>
              <a:rPr lang="en-US" sz="2300" dirty="0" smtClean="0"/>
              <a:t>- due to </a:t>
            </a:r>
            <a:r>
              <a:rPr lang="en-US" sz="2300" i="1" dirty="0" smtClean="0">
                <a:solidFill>
                  <a:srgbClr val="0070C0"/>
                </a:solidFill>
              </a:rPr>
              <a:t>uneven emptying </a:t>
            </a:r>
            <a:r>
              <a:rPr lang="en-US" sz="2300" dirty="0" smtClean="0"/>
              <a:t>of alveoli, the slope continues to rise gradually during the expiratory pause. </a:t>
            </a:r>
            <a:r>
              <a:rPr lang="en-US" sz="2300" b="1" dirty="0" smtClean="0">
                <a:solidFill>
                  <a:srgbClr val="0070C0"/>
                </a:solidFill>
              </a:rPr>
              <a:t>Phase III </a:t>
            </a:r>
            <a:endParaRPr lang="en-US" sz="2300" b="1" dirty="0">
              <a:solidFill>
                <a:srgbClr val="0070C0"/>
              </a:solidFill>
            </a:endParaRPr>
          </a:p>
        </p:txBody>
      </p:sp>
      <p:sp>
        <p:nvSpPr>
          <p:cNvPr id="7" name="TextBox 6"/>
          <p:cNvSpPr txBox="1"/>
          <p:nvPr/>
        </p:nvSpPr>
        <p:spPr>
          <a:xfrm>
            <a:off x="1066800" y="1513344"/>
            <a:ext cx="2971800" cy="2677656"/>
          </a:xfrm>
          <a:prstGeom prst="rect">
            <a:avLst/>
          </a:prstGeom>
          <a:noFill/>
        </p:spPr>
        <p:txBody>
          <a:bodyPr wrap="square" rtlCol="0">
            <a:spAutoFit/>
          </a:bodyPr>
          <a:lstStyle/>
          <a:p>
            <a:endParaRPr lang="en-US" sz="2400" dirty="0" smtClean="0"/>
          </a:p>
          <a:p>
            <a:r>
              <a:rPr lang="en-US" sz="2400" b="1" i="1" dirty="0" smtClean="0">
                <a:solidFill>
                  <a:srgbClr val="0070C0"/>
                </a:solidFill>
              </a:rPr>
              <a:t>Phase III</a:t>
            </a:r>
            <a:r>
              <a:rPr lang="en-US" sz="2400" i="1" dirty="0" smtClean="0">
                <a:solidFill>
                  <a:srgbClr val="0070C0"/>
                </a:solidFill>
              </a:rPr>
              <a:t>: expiratory plateau</a:t>
            </a:r>
            <a:r>
              <a:rPr lang="en-US" sz="2400" dirty="0" smtClean="0"/>
              <a:t>, which represents exhaled CO</a:t>
            </a:r>
            <a:r>
              <a:rPr lang="en-US" sz="1400" dirty="0" smtClean="0"/>
              <a:t>2</a:t>
            </a:r>
            <a:r>
              <a:rPr lang="en-US" sz="2400" dirty="0" smtClean="0"/>
              <a:t>. The peak of this exhaled CO</a:t>
            </a:r>
            <a:r>
              <a:rPr lang="en-US" sz="1600" dirty="0" smtClean="0"/>
              <a:t>2</a:t>
            </a:r>
            <a:r>
              <a:rPr lang="en-US" sz="2400" baseline="30000" dirty="0" smtClean="0"/>
              <a:t> </a:t>
            </a:r>
            <a:r>
              <a:rPr lang="en-US" sz="2400" dirty="0" smtClean="0"/>
              <a:t>is called </a:t>
            </a:r>
            <a:r>
              <a:rPr lang="en-US" sz="2400" i="1" dirty="0" smtClean="0">
                <a:solidFill>
                  <a:srgbClr val="0070C0"/>
                </a:solidFill>
              </a:rPr>
              <a:t>the end-tidal CO</a:t>
            </a:r>
            <a:r>
              <a:rPr lang="en-US" sz="1600" i="1" dirty="0" smtClean="0">
                <a:solidFill>
                  <a:srgbClr val="0070C0"/>
                </a:solidFill>
              </a:rPr>
              <a:t>2</a:t>
            </a:r>
            <a:r>
              <a:rPr lang="en-US" sz="2400" i="1" dirty="0" smtClean="0">
                <a:solidFill>
                  <a:srgbClr val="0070C0"/>
                </a:solidFill>
              </a:rPr>
              <a:t>. </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US" dirty="0" smtClean="0"/>
              <a:t>Cont’d …</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962400" y="1524000"/>
            <a:ext cx="5181600" cy="2667000"/>
          </a:xfrm>
          <a:prstGeom prst="rect">
            <a:avLst/>
          </a:prstGeom>
          <a:noFill/>
          <a:ln w="9525">
            <a:noFill/>
            <a:miter lim="800000"/>
            <a:headEnd/>
            <a:tailEnd/>
          </a:ln>
          <a:effectLst/>
        </p:spPr>
      </p:pic>
      <p:sp>
        <p:nvSpPr>
          <p:cNvPr id="6" name="TextBox 5"/>
          <p:cNvSpPr txBox="1"/>
          <p:nvPr/>
        </p:nvSpPr>
        <p:spPr>
          <a:xfrm>
            <a:off x="990600" y="4953000"/>
            <a:ext cx="7696200" cy="1862048"/>
          </a:xfrm>
          <a:prstGeom prst="rect">
            <a:avLst/>
          </a:prstGeom>
          <a:noFill/>
        </p:spPr>
        <p:txBody>
          <a:bodyPr wrap="square" rtlCol="0">
            <a:spAutoFit/>
          </a:bodyPr>
          <a:lstStyle/>
          <a:p>
            <a:pPr marL="457200" indent="-457200">
              <a:buFont typeface="Courier New" pitchFamily="49" charset="0"/>
              <a:buChar char="o"/>
            </a:pPr>
            <a:r>
              <a:rPr lang="en-US" sz="2300" dirty="0" smtClean="0">
                <a:solidFill>
                  <a:srgbClr val="0070C0"/>
                </a:solidFill>
              </a:rPr>
              <a:t>D:</a:t>
            </a:r>
            <a:r>
              <a:rPr lang="en-US" sz="2300" dirty="0" smtClean="0"/>
              <a:t> End-tidal CO</a:t>
            </a:r>
            <a:r>
              <a:rPr lang="en-US" sz="1400" dirty="0" smtClean="0"/>
              <a:t>2</a:t>
            </a:r>
            <a:r>
              <a:rPr lang="en-US" sz="2300" baseline="30000" dirty="0" smtClean="0"/>
              <a:t> </a:t>
            </a:r>
            <a:r>
              <a:rPr lang="en-US" sz="2300" dirty="0" smtClean="0"/>
              <a:t>level - the best approximation of alveolar CO</a:t>
            </a:r>
            <a:r>
              <a:rPr lang="en-US" sz="1600" dirty="0" smtClean="0"/>
              <a:t>2</a:t>
            </a:r>
            <a:r>
              <a:rPr lang="en-US" sz="2300" baseline="30000" dirty="0" smtClean="0"/>
              <a:t> </a:t>
            </a:r>
            <a:r>
              <a:rPr lang="en-US" sz="2300" dirty="0" smtClean="0"/>
              <a:t>level </a:t>
            </a:r>
          </a:p>
          <a:p>
            <a:pPr marL="457200" indent="-457200">
              <a:buFont typeface="Courier New" pitchFamily="49" charset="0"/>
              <a:buChar char="o"/>
            </a:pPr>
            <a:r>
              <a:rPr lang="en-US" sz="2300" dirty="0" smtClean="0">
                <a:solidFill>
                  <a:srgbClr val="0070C0"/>
                </a:solidFill>
              </a:rPr>
              <a:t>D-E:</a:t>
            </a:r>
            <a:r>
              <a:rPr lang="en-US" sz="2300" dirty="0" smtClean="0"/>
              <a:t> Inspiratory downstroke, as the patient begins to inhale fresh gas. </a:t>
            </a:r>
            <a:r>
              <a:rPr lang="en-US" sz="2300" b="1" dirty="0" smtClean="0">
                <a:solidFill>
                  <a:srgbClr val="0070C0"/>
                </a:solidFill>
              </a:rPr>
              <a:t>Phase IV </a:t>
            </a:r>
          </a:p>
          <a:p>
            <a:pPr marL="457200" indent="-457200">
              <a:buFont typeface="Courier New" pitchFamily="49" charset="0"/>
              <a:buChar char="o"/>
            </a:pPr>
            <a:r>
              <a:rPr lang="en-US" sz="2300" dirty="0" smtClean="0">
                <a:solidFill>
                  <a:srgbClr val="0070C0"/>
                </a:solidFill>
              </a:rPr>
              <a:t>E-A: </a:t>
            </a:r>
            <a:r>
              <a:rPr lang="en-US" sz="2300" dirty="0" smtClean="0"/>
              <a:t>Inspiratory pause, where CO</a:t>
            </a:r>
            <a:r>
              <a:rPr lang="en-US" sz="1600" dirty="0" smtClean="0"/>
              <a:t>2</a:t>
            </a:r>
            <a:r>
              <a:rPr lang="en-US" sz="2300" baseline="30000" dirty="0" smtClean="0"/>
              <a:t> </a:t>
            </a:r>
            <a:r>
              <a:rPr lang="en-US" sz="2300" dirty="0" smtClean="0"/>
              <a:t>remains at 0. </a:t>
            </a:r>
            <a:endParaRPr lang="en-US" sz="2300" dirty="0"/>
          </a:p>
        </p:txBody>
      </p:sp>
      <p:sp>
        <p:nvSpPr>
          <p:cNvPr id="7" name="TextBox 6"/>
          <p:cNvSpPr txBox="1"/>
          <p:nvPr/>
        </p:nvSpPr>
        <p:spPr>
          <a:xfrm>
            <a:off x="990600" y="1295400"/>
            <a:ext cx="2971800" cy="2677656"/>
          </a:xfrm>
          <a:prstGeom prst="rect">
            <a:avLst/>
          </a:prstGeom>
          <a:noFill/>
        </p:spPr>
        <p:txBody>
          <a:bodyPr wrap="square" rtlCol="0">
            <a:spAutoFit/>
          </a:bodyPr>
          <a:lstStyle/>
          <a:p>
            <a:endParaRPr lang="en-US" sz="2400" dirty="0" smtClean="0"/>
          </a:p>
          <a:p>
            <a:r>
              <a:rPr lang="en-US" sz="2400" b="1" i="1" dirty="0" smtClean="0">
                <a:solidFill>
                  <a:srgbClr val="0070C0"/>
                </a:solidFill>
              </a:rPr>
              <a:t>Phase IV: </a:t>
            </a:r>
            <a:r>
              <a:rPr lang="en-US" sz="2400" i="1" dirty="0" smtClean="0">
                <a:solidFill>
                  <a:srgbClr val="0070C0"/>
                </a:solidFill>
              </a:rPr>
              <a:t>inspiratory downstroke</a:t>
            </a:r>
            <a:r>
              <a:rPr lang="en-US" sz="2400" dirty="0" smtClean="0"/>
              <a:t>, which is the beginning of the inhalation and the CO</a:t>
            </a:r>
            <a:r>
              <a:rPr lang="en-US" sz="1400" dirty="0" smtClean="0"/>
              <a:t>2</a:t>
            </a:r>
            <a:r>
              <a:rPr lang="en-US" sz="2400" baseline="30000" dirty="0" smtClean="0"/>
              <a:t> </a:t>
            </a:r>
            <a:r>
              <a:rPr lang="en-US" sz="2400" dirty="0" smtClean="0"/>
              <a:t>graphic curve falls </a:t>
            </a:r>
            <a:r>
              <a:rPr lang="en-US" sz="2400" i="1" dirty="0" smtClean="0">
                <a:solidFill>
                  <a:srgbClr val="0070C0"/>
                </a:solidFill>
              </a:rPr>
              <a:t>steeply to zero.</a:t>
            </a:r>
            <a:r>
              <a:rPr lang="en-US" sz="2400" dirty="0" smtClean="0"/>
              <a:t>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026" name="Object 2"/>
          <p:cNvGraphicFramePr>
            <a:graphicFrameLocks/>
          </p:cNvGraphicFramePr>
          <p:nvPr/>
        </p:nvGraphicFramePr>
        <p:xfrm>
          <a:off x="1905000" y="228600"/>
          <a:ext cx="5486400" cy="6400800"/>
        </p:xfrm>
        <a:graphic>
          <a:graphicData uri="http://schemas.openxmlformats.org/presentationml/2006/ole">
            <mc:AlternateContent xmlns:mc="http://schemas.openxmlformats.org/markup-compatibility/2006">
              <mc:Choice xmlns:v="urn:schemas-microsoft-com:vml" Requires="v">
                <p:oleObj spid="_x0000_s1029" name="CorelDRAW 6.0" r:id="rId3" imgW="2768400" imgH="4340160" progId="">
                  <p:embed/>
                </p:oleObj>
              </mc:Choice>
              <mc:Fallback>
                <p:oleObj name="CorelDRAW 6.0" r:id="rId3" imgW="2768400" imgH="4340160" progId="">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28600"/>
                        <a:ext cx="54864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4008" y="76200"/>
            <a:ext cx="2602992" cy="579438"/>
          </a:xfrm>
        </p:spPr>
        <p:txBody>
          <a:bodyPr>
            <a:normAutofit/>
          </a:bodyPr>
          <a:lstStyle/>
          <a:p>
            <a:r>
              <a:rPr lang="en-US" sz="2800" dirty="0" smtClean="0"/>
              <a:t>Physiology </a:t>
            </a:r>
            <a:endParaRPr lang="en-US" sz="2800" dirty="0"/>
          </a:p>
        </p:txBody>
      </p:sp>
      <p:sp>
        <p:nvSpPr>
          <p:cNvPr id="3" name="Content Placeholder 2"/>
          <p:cNvSpPr>
            <a:spLocks noGrp="1"/>
          </p:cNvSpPr>
          <p:nvPr>
            <p:ph idx="1"/>
          </p:nvPr>
        </p:nvSpPr>
        <p:spPr>
          <a:xfrm>
            <a:off x="990600" y="2971800"/>
            <a:ext cx="7943088" cy="3657600"/>
          </a:xfrm>
        </p:spPr>
        <p:txBody>
          <a:bodyPr>
            <a:normAutofit/>
          </a:bodyPr>
          <a:lstStyle/>
          <a:p>
            <a:r>
              <a:rPr lang="en-US" sz="2400" dirty="0" smtClean="0"/>
              <a:t>In order for CO2 to be effectively eliminated from the body, there must be:- </a:t>
            </a:r>
          </a:p>
          <a:p>
            <a:pPr marL="859536" lvl="1" indent="-457200">
              <a:buFont typeface="+mj-lt"/>
              <a:buAutoNum type="arabicPeriod"/>
            </a:pPr>
            <a:r>
              <a:rPr lang="en-US" sz="2200" dirty="0" smtClean="0"/>
              <a:t>Adequate </a:t>
            </a:r>
            <a:r>
              <a:rPr lang="en-US" sz="2200" dirty="0" smtClean="0">
                <a:solidFill>
                  <a:srgbClr val="0070C0"/>
                </a:solidFill>
              </a:rPr>
              <a:t>blood flow </a:t>
            </a:r>
            <a:r>
              <a:rPr lang="en-US" sz="2200" dirty="0" smtClean="0"/>
              <a:t>to the lungs, </a:t>
            </a:r>
          </a:p>
          <a:p>
            <a:pPr marL="859536" lvl="1" indent="-457200">
              <a:buFont typeface="+mj-lt"/>
              <a:buAutoNum type="arabicPeriod"/>
            </a:pPr>
            <a:r>
              <a:rPr lang="en-US" sz="2200" dirty="0" smtClean="0"/>
              <a:t>Adequate </a:t>
            </a:r>
            <a:r>
              <a:rPr lang="en-US" sz="2200" dirty="0" smtClean="0">
                <a:solidFill>
                  <a:srgbClr val="0070C0"/>
                </a:solidFill>
              </a:rPr>
              <a:t>gas exchange</a:t>
            </a:r>
            <a:r>
              <a:rPr lang="en-US" sz="2200" dirty="0" smtClean="0"/>
              <a:t> across the alveolar-capillary membrane, and </a:t>
            </a:r>
          </a:p>
          <a:p>
            <a:pPr marL="859536" lvl="1" indent="-457200">
              <a:buFont typeface="+mj-lt"/>
              <a:buAutoNum type="arabicPeriod"/>
            </a:pPr>
            <a:r>
              <a:rPr lang="en-US" sz="2200" dirty="0" smtClean="0"/>
              <a:t>Adequate </a:t>
            </a:r>
            <a:r>
              <a:rPr lang="en-US" sz="2200" dirty="0" smtClean="0">
                <a:solidFill>
                  <a:srgbClr val="0070C0"/>
                </a:solidFill>
              </a:rPr>
              <a:t>ventilation</a:t>
            </a:r>
            <a:r>
              <a:rPr lang="en-US" sz="2200" dirty="0" smtClean="0"/>
              <a:t> of the lungs to “blow off” the CO2. </a:t>
            </a:r>
          </a:p>
          <a:p>
            <a:r>
              <a:rPr lang="en-US" sz="2400" dirty="0" smtClean="0"/>
              <a:t>Therefore, changes in respired CO</a:t>
            </a:r>
            <a:r>
              <a:rPr lang="en-US" sz="1600" dirty="0" smtClean="0"/>
              <a:t>2 </a:t>
            </a:r>
            <a:r>
              <a:rPr lang="en-US" sz="2400" dirty="0" smtClean="0"/>
              <a:t>may reflect alterations in </a:t>
            </a:r>
            <a:r>
              <a:rPr lang="en-US" sz="2400" dirty="0" smtClean="0">
                <a:solidFill>
                  <a:srgbClr val="0070C0"/>
                </a:solidFill>
              </a:rPr>
              <a:t>metabolism, circulation, respiration</a:t>
            </a:r>
            <a:r>
              <a:rPr lang="en-US" sz="2400" dirty="0" smtClean="0"/>
              <a:t>, the </a:t>
            </a:r>
            <a:r>
              <a:rPr lang="en-US" sz="2400" dirty="0" smtClean="0">
                <a:solidFill>
                  <a:srgbClr val="0070C0"/>
                </a:solidFill>
              </a:rPr>
              <a:t>airway or breathing system.</a:t>
            </a:r>
            <a:endParaRPr lang="en-US" sz="2400" dirty="0">
              <a:solidFill>
                <a:srgbClr val="0070C0"/>
              </a:solidFill>
            </a:endParaRPr>
          </a:p>
        </p:txBody>
      </p:sp>
      <p:pic>
        <p:nvPicPr>
          <p:cNvPr id="1026" name="Picture 2"/>
          <p:cNvPicPr>
            <a:picLocks noChangeAspect="1" noChangeArrowheads="1"/>
          </p:cNvPicPr>
          <p:nvPr/>
        </p:nvPicPr>
        <p:blipFill>
          <a:blip r:embed="rId2"/>
          <a:srcRect/>
          <a:stretch>
            <a:fillRect/>
          </a:stretch>
        </p:blipFill>
        <p:spPr bwMode="auto">
          <a:xfrm>
            <a:off x="2057399" y="228600"/>
            <a:ext cx="6934201" cy="2362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14400"/>
            <a:ext cx="2298192" cy="457200"/>
          </a:xfrm>
          <a:prstGeom prst="roundRect">
            <a:avLst/>
          </a:prstGeom>
          <a:ln/>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1. Metabolism</a:t>
            </a:r>
            <a:endParaRPr lang="en-US" sz="2800" dirty="0">
              <a:solidFill>
                <a:srgbClr val="0070C0"/>
              </a:solidFill>
              <a:effectLst/>
            </a:endParaRPr>
          </a:p>
        </p:txBody>
      </p:sp>
      <p:sp>
        <p:nvSpPr>
          <p:cNvPr id="3" name="Content Placeholder 2"/>
          <p:cNvSpPr>
            <a:spLocks noGrp="1"/>
          </p:cNvSpPr>
          <p:nvPr>
            <p:ph idx="1"/>
          </p:nvPr>
        </p:nvSpPr>
        <p:spPr>
          <a:xfrm>
            <a:off x="990600" y="1828800"/>
            <a:ext cx="7943088" cy="4876800"/>
          </a:xfrm>
        </p:spPr>
        <p:txBody>
          <a:bodyPr>
            <a:normAutofit/>
          </a:bodyPr>
          <a:lstStyle/>
          <a:p>
            <a:pPr marL="457200" indent="-457200">
              <a:buFont typeface="Courier New" pitchFamily="49" charset="0"/>
              <a:buChar char="o"/>
            </a:pPr>
            <a:r>
              <a:rPr lang="en-US" sz="2300" dirty="0" smtClean="0"/>
              <a:t>Changes in ETCO</a:t>
            </a:r>
            <a:r>
              <a:rPr lang="en-US" sz="1400" dirty="0" smtClean="0"/>
              <a:t>2</a:t>
            </a:r>
            <a:r>
              <a:rPr lang="en-US" sz="2300" dirty="0" smtClean="0"/>
              <a:t> can be a reliable indicator in metabolic changes.</a:t>
            </a:r>
          </a:p>
          <a:p>
            <a:pPr marL="457200" indent="-457200">
              <a:buFont typeface="Courier New" pitchFamily="49" charset="0"/>
              <a:buChar char="o"/>
            </a:pPr>
            <a:r>
              <a:rPr lang="en-US" sz="2300" dirty="0" smtClean="0"/>
              <a:t>Metabolic conditions that may increase ETCO</a:t>
            </a:r>
            <a:r>
              <a:rPr lang="en-US" sz="1400" dirty="0" smtClean="0"/>
              <a:t>2</a:t>
            </a:r>
            <a:r>
              <a:rPr lang="en-US" sz="2300" dirty="0" smtClean="0"/>
              <a:t>: fever, sepsis, shivering and convulsions</a:t>
            </a:r>
          </a:p>
          <a:p>
            <a:pPr marL="457200" indent="-457200">
              <a:buFont typeface="Courier New" pitchFamily="49" charset="0"/>
              <a:buChar char="o"/>
            </a:pPr>
            <a:r>
              <a:rPr lang="en-US" sz="2300" dirty="0" smtClean="0"/>
              <a:t>Metabolic conditions that may decrease ETCO</a:t>
            </a:r>
            <a:r>
              <a:rPr lang="en-US" sz="1600" dirty="0" smtClean="0"/>
              <a:t>2</a:t>
            </a:r>
            <a:r>
              <a:rPr lang="en-US" sz="2300" dirty="0" smtClean="0"/>
              <a:t>: hypothermia, paralytics and sedation</a:t>
            </a:r>
          </a:p>
          <a:p>
            <a:pPr marL="457200" indent="-457200">
              <a:buFont typeface="Courier New" pitchFamily="49" charset="0"/>
              <a:buChar char="o"/>
            </a:pPr>
            <a:r>
              <a:rPr lang="en-US" sz="2300" dirty="0" smtClean="0"/>
              <a:t>Malignant hyperthermia is a hypermetabolic state with a massive increase in CO</a:t>
            </a:r>
            <a:r>
              <a:rPr lang="en-US" sz="1400" dirty="0" smtClean="0"/>
              <a:t>2</a:t>
            </a:r>
            <a:r>
              <a:rPr lang="en-US" sz="2300" dirty="0" smtClean="0"/>
              <a:t> production. </a:t>
            </a:r>
          </a:p>
          <a:p>
            <a:pPr marL="731520" lvl="1" indent="-457200">
              <a:buFont typeface="Courier New" pitchFamily="49" charset="0"/>
              <a:buChar char="o"/>
            </a:pPr>
            <a:r>
              <a:rPr lang="en-US" sz="2100" dirty="0" smtClean="0"/>
              <a:t>The increase occurs early, </a:t>
            </a:r>
            <a:r>
              <a:rPr lang="en-US" sz="2100" dirty="0" smtClean="0">
                <a:solidFill>
                  <a:srgbClr val="0070C0"/>
                </a:solidFill>
              </a:rPr>
              <a:t>before the rise in temperature. </a:t>
            </a:r>
          </a:p>
          <a:p>
            <a:pPr marL="731520" lvl="1" indent="-457200">
              <a:buFont typeface="Courier New" pitchFamily="49" charset="0"/>
              <a:buChar char="o"/>
            </a:pPr>
            <a:r>
              <a:rPr lang="en-US" sz="2100" dirty="0" smtClean="0">
                <a:solidFill>
                  <a:srgbClr val="0070C0"/>
                </a:solidFill>
              </a:rPr>
              <a:t>Early detection</a:t>
            </a:r>
            <a:r>
              <a:rPr lang="en-US" sz="2100" dirty="0" smtClean="0"/>
              <a:t> of this syndrome is one of the most important reasons for routinely monitoring CO</a:t>
            </a:r>
            <a:r>
              <a:rPr lang="en-US" sz="1400" dirty="0" smtClean="0"/>
              <a:t>2</a:t>
            </a:r>
            <a:endParaRPr lang="en-US" sz="21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914400"/>
            <a:ext cx="2374392" cy="533400"/>
          </a:xfrm>
          <a:prstGeom prst="roundRect">
            <a:avLst/>
          </a:prstGeom>
          <a:ln/>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2. Circulation</a:t>
            </a:r>
            <a:endParaRPr lang="en-US" sz="2800" dirty="0">
              <a:solidFill>
                <a:srgbClr val="0070C0"/>
              </a:solidFill>
              <a:effectLst/>
            </a:endParaRPr>
          </a:p>
        </p:txBody>
      </p:sp>
      <p:sp>
        <p:nvSpPr>
          <p:cNvPr id="3" name="Content Placeholder 2"/>
          <p:cNvSpPr>
            <a:spLocks noGrp="1"/>
          </p:cNvSpPr>
          <p:nvPr>
            <p:ph idx="1"/>
          </p:nvPr>
        </p:nvSpPr>
        <p:spPr>
          <a:xfrm>
            <a:off x="990600" y="1828800"/>
            <a:ext cx="7943088" cy="4800600"/>
          </a:xfrm>
        </p:spPr>
        <p:txBody>
          <a:bodyPr>
            <a:normAutofit/>
          </a:bodyPr>
          <a:lstStyle/>
          <a:p>
            <a:pPr marL="457200" indent="-457200">
              <a:buFont typeface="Courier New" pitchFamily="49" charset="0"/>
              <a:buChar char="o"/>
            </a:pPr>
            <a:r>
              <a:rPr lang="en-US" sz="2300" dirty="0" smtClean="0"/>
              <a:t>A decrease in ETCO</a:t>
            </a:r>
            <a:r>
              <a:rPr lang="en-US" sz="1800" dirty="0" smtClean="0"/>
              <a:t>2</a:t>
            </a:r>
            <a:r>
              <a:rPr lang="en-US" sz="2300" dirty="0" smtClean="0"/>
              <a:t> is seen with a decrease in </a:t>
            </a:r>
            <a:r>
              <a:rPr lang="en-US" sz="2300" dirty="0" smtClean="0">
                <a:solidFill>
                  <a:srgbClr val="0070C0"/>
                </a:solidFill>
              </a:rPr>
              <a:t>cardiac output</a:t>
            </a:r>
            <a:r>
              <a:rPr lang="en-US" sz="2300" dirty="0" smtClean="0"/>
              <a:t> if </a:t>
            </a:r>
            <a:r>
              <a:rPr lang="en-US" sz="2300" dirty="0" smtClean="0">
                <a:solidFill>
                  <a:srgbClr val="0070C0"/>
                </a:solidFill>
              </a:rPr>
              <a:t>ventilation remains constant</a:t>
            </a:r>
            <a:r>
              <a:rPr lang="en-US" sz="2300" dirty="0" smtClean="0"/>
              <a:t>. </a:t>
            </a:r>
          </a:p>
          <a:p>
            <a:pPr marL="457200" indent="-457200">
              <a:buFont typeface="Courier New" pitchFamily="49" charset="0"/>
              <a:buChar char="o"/>
            </a:pPr>
            <a:r>
              <a:rPr lang="en-US" sz="2300" dirty="0" smtClean="0"/>
              <a:t>ETCO</a:t>
            </a:r>
            <a:r>
              <a:rPr lang="en-US" sz="1600" dirty="0" smtClean="0"/>
              <a:t>2 </a:t>
            </a:r>
            <a:r>
              <a:rPr lang="en-US" sz="2300" dirty="0" smtClean="0"/>
              <a:t>transport to the lungs is dependent on adequate cardiovascular function; any factor that alters cardiovascular function can affect CO</a:t>
            </a:r>
            <a:r>
              <a:rPr lang="en-US" sz="1600" dirty="0" smtClean="0"/>
              <a:t>2</a:t>
            </a:r>
            <a:r>
              <a:rPr lang="en-US" sz="2300" dirty="0" smtClean="0"/>
              <a:t> transport to the lungs.</a:t>
            </a:r>
          </a:p>
          <a:p>
            <a:pPr marL="457200" indent="-457200">
              <a:buFont typeface="Courier New" pitchFamily="49" charset="0"/>
              <a:buChar char="o"/>
            </a:pPr>
            <a:r>
              <a:rPr lang="en-US" sz="2300" dirty="0" smtClean="0"/>
              <a:t>ETCO</a:t>
            </a:r>
            <a:r>
              <a:rPr lang="en-US" sz="1600" dirty="0" smtClean="0"/>
              <a:t>2</a:t>
            </a:r>
            <a:r>
              <a:rPr lang="en-US" sz="2300" dirty="0" smtClean="0"/>
              <a:t> can alert the clinicians to changes in cardiovascular function of the patient with a “normal” respiratory status. </a:t>
            </a:r>
          </a:p>
          <a:p>
            <a:pPr marL="457200" indent="-457200">
              <a:buFont typeface="Courier New" pitchFamily="49" charset="0"/>
              <a:buChar char="o"/>
            </a:pPr>
            <a:r>
              <a:rPr lang="en-US" sz="2300" dirty="0" smtClean="0"/>
              <a:t>Cardiac conditions that may decrease ETCO</a:t>
            </a:r>
            <a:r>
              <a:rPr lang="en-US" sz="1600" dirty="0" smtClean="0"/>
              <a:t>2</a:t>
            </a:r>
            <a:r>
              <a:rPr lang="en-US" sz="2300" dirty="0" smtClean="0"/>
              <a:t>: hypovolemia, hypotension</a:t>
            </a:r>
            <a:endParaRPr lang="en-US" sz="23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066800"/>
            <a:ext cx="2374392" cy="457200"/>
          </a:xfrm>
          <a:prstGeom prst="roundRect">
            <a:avLst/>
          </a:prstGeom>
          <a:ln/>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3. Respiratory</a:t>
            </a:r>
            <a:endParaRPr lang="en-US" sz="2800" dirty="0">
              <a:solidFill>
                <a:srgbClr val="0070C0"/>
              </a:solidFill>
              <a:effectLst/>
            </a:endParaRPr>
          </a:p>
        </p:txBody>
      </p:sp>
      <p:sp>
        <p:nvSpPr>
          <p:cNvPr id="3" name="Content Placeholder 2"/>
          <p:cNvSpPr>
            <a:spLocks noGrp="1"/>
          </p:cNvSpPr>
          <p:nvPr>
            <p:ph idx="1"/>
          </p:nvPr>
        </p:nvSpPr>
        <p:spPr>
          <a:xfrm>
            <a:off x="990600" y="1905000"/>
            <a:ext cx="7943088" cy="4343400"/>
          </a:xfrm>
        </p:spPr>
        <p:txBody>
          <a:bodyPr>
            <a:normAutofit/>
          </a:bodyPr>
          <a:lstStyle/>
          <a:p>
            <a:pPr marL="457200" indent="-457200">
              <a:buFont typeface="Courier New" pitchFamily="49" charset="0"/>
              <a:buChar char="o"/>
            </a:pPr>
            <a:r>
              <a:rPr lang="en-US" sz="2400" dirty="0" smtClean="0"/>
              <a:t>ETCO</a:t>
            </a:r>
            <a:r>
              <a:rPr lang="en-US" sz="1600" dirty="0" smtClean="0"/>
              <a:t>2</a:t>
            </a:r>
            <a:r>
              <a:rPr lang="en-US" sz="2400" dirty="0" smtClean="0"/>
              <a:t> can be a guide for determining the ventilation requirement of a patient.</a:t>
            </a:r>
          </a:p>
          <a:p>
            <a:pPr marL="457200" indent="-457200">
              <a:buFont typeface="Courier New" pitchFamily="49" charset="0"/>
              <a:buChar char="o"/>
            </a:pPr>
            <a:r>
              <a:rPr lang="en-US" sz="2400" dirty="0" smtClean="0"/>
              <a:t>Changes in respiratory function will affect the removal of CO</a:t>
            </a:r>
            <a:r>
              <a:rPr lang="en-US" sz="1600" dirty="0" smtClean="0"/>
              <a:t>2</a:t>
            </a:r>
            <a:r>
              <a:rPr lang="en-US" sz="2400" dirty="0" smtClean="0"/>
              <a:t> from the lung thus affecting the ETCO</a:t>
            </a:r>
            <a:r>
              <a:rPr lang="en-US" sz="1400" dirty="0" smtClean="0"/>
              <a:t>2.</a:t>
            </a:r>
          </a:p>
          <a:p>
            <a:pPr marL="457200" indent="-457200">
              <a:buFont typeface="Courier New" pitchFamily="49" charset="0"/>
              <a:buChar char="o"/>
            </a:pPr>
            <a:r>
              <a:rPr lang="en-US" sz="2400" dirty="0" smtClean="0"/>
              <a:t>Respiratory conditions decreasing ETCO2 includes hyperventilation &amp; large TV ventilation.</a:t>
            </a:r>
            <a:endParaRPr lang="en-US" sz="24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27038"/>
            <a:ext cx="3429000" cy="487362"/>
          </a:xfrm>
          <a:prstGeom prst="round2Diag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Normal Capnograph </a:t>
            </a:r>
            <a:endParaRPr lang="en-US" sz="2800" dirty="0">
              <a:solidFill>
                <a:srgbClr val="0070C0"/>
              </a:solidFill>
              <a:effectLst/>
            </a:endParaRPr>
          </a:p>
        </p:txBody>
      </p:sp>
      <p:sp>
        <p:nvSpPr>
          <p:cNvPr id="3" name="Content Placeholder 2"/>
          <p:cNvSpPr>
            <a:spLocks noGrp="1"/>
          </p:cNvSpPr>
          <p:nvPr>
            <p:ph idx="1"/>
          </p:nvPr>
        </p:nvSpPr>
        <p:spPr>
          <a:xfrm>
            <a:off x="990600" y="4114800"/>
            <a:ext cx="7848600" cy="2514600"/>
          </a:xfrm>
        </p:spPr>
        <p:txBody>
          <a:bodyPr>
            <a:noAutofit/>
          </a:bodyPr>
          <a:lstStyle/>
          <a:p>
            <a:pPr>
              <a:buNone/>
            </a:pPr>
            <a:r>
              <a:rPr lang="en-US" sz="2200" dirty="0" smtClean="0"/>
              <a:t>Features: </a:t>
            </a:r>
          </a:p>
          <a:p>
            <a:pPr lvl="1"/>
            <a:r>
              <a:rPr lang="en-US" sz="2150" dirty="0" smtClean="0"/>
              <a:t>Baseline (should be zero)</a:t>
            </a:r>
          </a:p>
          <a:p>
            <a:pPr lvl="1"/>
            <a:r>
              <a:rPr lang="en-US" sz="2150" dirty="0" smtClean="0"/>
              <a:t>Expiratory Upstroke (sharp rise)</a:t>
            </a:r>
          </a:p>
          <a:p>
            <a:pPr lvl="1"/>
            <a:r>
              <a:rPr lang="en-US" sz="2150" dirty="0" smtClean="0"/>
              <a:t>Expiratory Plateau (should be straight)</a:t>
            </a:r>
          </a:p>
          <a:p>
            <a:pPr lvl="1"/>
            <a:r>
              <a:rPr lang="en-US" sz="2150" dirty="0" smtClean="0"/>
              <a:t>End-Tidal Concentration (average 37)</a:t>
            </a:r>
          </a:p>
          <a:p>
            <a:pPr lvl="1"/>
            <a:r>
              <a:rPr lang="en-US" sz="2150" dirty="0" smtClean="0"/>
              <a:t>Inspiratory down stroke (sharp down stroke)</a:t>
            </a:r>
          </a:p>
        </p:txBody>
      </p:sp>
      <p:pic>
        <p:nvPicPr>
          <p:cNvPr id="2051" name="Picture 3"/>
          <p:cNvPicPr>
            <a:picLocks noChangeAspect="1" noChangeArrowheads="1"/>
          </p:cNvPicPr>
          <p:nvPr/>
        </p:nvPicPr>
        <p:blipFill>
          <a:blip r:embed="rId2"/>
          <a:srcRect/>
          <a:stretch>
            <a:fillRect/>
          </a:stretch>
        </p:blipFill>
        <p:spPr bwMode="auto">
          <a:xfrm>
            <a:off x="2286000" y="1047750"/>
            <a:ext cx="6705600" cy="2914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27038"/>
            <a:ext cx="38100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Increasing ETCO</a:t>
            </a:r>
            <a:r>
              <a:rPr lang="en-US" sz="1800" dirty="0" smtClean="0">
                <a:solidFill>
                  <a:srgbClr val="0070C0"/>
                </a:solidFill>
                <a:effectLst/>
              </a:rPr>
              <a:t>2</a:t>
            </a:r>
            <a:r>
              <a:rPr lang="en-US" sz="2800" dirty="0" smtClean="0">
                <a:solidFill>
                  <a:srgbClr val="0070C0"/>
                </a:solidFill>
                <a:effectLst/>
              </a:rPr>
              <a:t> level</a:t>
            </a:r>
            <a:endParaRPr lang="en-US" sz="2800" dirty="0">
              <a:solidFill>
                <a:srgbClr val="0070C0"/>
              </a:solidFill>
              <a:effectLst/>
            </a:endParaRPr>
          </a:p>
        </p:txBody>
      </p:sp>
      <p:sp>
        <p:nvSpPr>
          <p:cNvPr id="3" name="Content Placeholder 2"/>
          <p:cNvSpPr>
            <a:spLocks noGrp="1"/>
          </p:cNvSpPr>
          <p:nvPr>
            <p:ph idx="1"/>
          </p:nvPr>
        </p:nvSpPr>
        <p:spPr>
          <a:xfrm>
            <a:off x="990600" y="4114800"/>
            <a:ext cx="7848600" cy="2286000"/>
          </a:xfrm>
        </p:spPr>
        <p:txBody>
          <a:bodyPr>
            <a:noAutofit/>
          </a:bodyPr>
          <a:lstStyle/>
          <a:p>
            <a:pPr>
              <a:buNone/>
            </a:pPr>
            <a:r>
              <a:rPr lang="en-US" sz="2200" dirty="0" smtClean="0"/>
              <a:t>An increase in the level of ETCO2 from previous levels</a:t>
            </a:r>
          </a:p>
          <a:p>
            <a:pPr>
              <a:buNone/>
            </a:pPr>
            <a:r>
              <a:rPr lang="en-US" sz="2200" dirty="0" smtClean="0"/>
              <a:t>Possible Causes:</a:t>
            </a:r>
          </a:p>
          <a:p>
            <a:pPr lvl="1"/>
            <a:r>
              <a:rPr lang="en-US" sz="2000" dirty="0" smtClean="0"/>
              <a:t>Decrease in respiratory rate (hypoventilation)</a:t>
            </a:r>
          </a:p>
          <a:p>
            <a:pPr lvl="1"/>
            <a:r>
              <a:rPr lang="en-US" sz="2000" dirty="0" smtClean="0"/>
              <a:t>Decrease in tidal volume (hypoventilation)</a:t>
            </a:r>
          </a:p>
          <a:p>
            <a:pPr lvl="1"/>
            <a:r>
              <a:rPr lang="en-US" sz="2000" dirty="0" smtClean="0"/>
              <a:t>Increase in metabolic rate</a:t>
            </a:r>
          </a:p>
          <a:p>
            <a:pPr lvl="1"/>
            <a:r>
              <a:rPr lang="en-US" sz="2000" dirty="0" smtClean="0"/>
              <a:t>Rapid rise in body temperature</a:t>
            </a:r>
          </a:p>
          <a:p>
            <a:pPr lvl="1"/>
            <a:r>
              <a:rPr lang="en-US" sz="2000" dirty="0" smtClean="0"/>
              <a:t>Malignant hyperthermia</a:t>
            </a:r>
            <a:endParaRPr lang="en-US" sz="2000" dirty="0"/>
          </a:p>
        </p:txBody>
      </p:sp>
      <p:pic>
        <p:nvPicPr>
          <p:cNvPr id="2050" name="Picture 2"/>
          <p:cNvPicPr>
            <a:picLocks noChangeAspect="1" noChangeArrowheads="1"/>
          </p:cNvPicPr>
          <p:nvPr/>
        </p:nvPicPr>
        <p:blipFill>
          <a:blip r:embed="rId2"/>
          <a:srcRect/>
          <a:stretch>
            <a:fillRect/>
          </a:stretch>
        </p:blipFill>
        <p:spPr bwMode="auto">
          <a:xfrm>
            <a:off x="2667000" y="1219200"/>
            <a:ext cx="63246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27038"/>
            <a:ext cx="40386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Decreasing ETCO</a:t>
            </a:r>
            <a:r>
              <a:rPr lang="en-US" sz="1800" dirty="0" smtClean="0">
                <a:solidFill>
                  <a:srgbClr val="0070C0"/>
                </a:solidFill>
                <a:effectLst/>
              </a:rPr>
              <a:t>2</a:t>
            </a:r>
            <a:r>
              <a:rPr lang="en-US" sz="2800" dirty="0" smtClean="0">
                <a:solidFill>
                  <a:srgbClr val="0070C0"/>
                </a:solidFill>
                <a:effectLst/>
              </a:rPr>
              <a:t> level</a:t>
            </a:r>
            <a:endParaRPr lang="en-US" sz="2800" dirty="0">
              <a:solidFill>
                <a:srgbClr val="0070C0"/>
              </a:solidFill>
              <a:effectLst/>
            </a:endParaRPr>
          </a:p>
        </p:txBody>
      </p:sp>
      <p:sp>
        <p:nvSpPr>
          <p:cNvPr id="3" name="Content Placeholder 2"/>
          <p:cNvSpPr>
            <a:spLocks noGrp="1"/>
          </p:cNvSpPr>
          <p:nvPr>
            <p:ph idx="1"/>
          </p:nvPr>
        </p:nvSpPr>
        <p:spPr>
          <a:xfrm>
            <a:off x="990600" y="3962400"/>
            <a:ext cx="7848600" cy="2286000"/>
          </a:xfrm>
        </p:spPr>
        <p:txBody>
          <a:bodyPr>
            <a:noAutofit/>
          </a:bodyPr>
          <a:lstStyle/>
          <a:p>
            <a:pPr>
              <a:buNone/>
            </a:pPr>
            <a:r>
              <a:rPr lang="en-US" sz="2400" dirty="0" smtClean="0"/>
              <a:t>A decrease in the level of ETCO2 from previous levels</a:t>
            </a:r>
          </a:p>
          <a:p>
            <a:pPr>
              <a:buNone/>
            </a:pPr>
            <a:r>
              <a:rPr lang="en-US" sz="2400" dirty="0" smtClean="0"/>
              <a:t>Possible Causes:</a:t>
            </a:r>
          </a:p>
          <a:p>
            <a:pPr lvl="1"/>
            <a:r>
              <a:rPr lang="en-US" sz="2200" dirty="0" smtClean="0"/>
              <a:t>Increase in respiratory rate (hyperventilation)</a:t>
            </a:r>
          </a:p>
          <a:p>
            <a:pPr lvl="1"/>
            <a:r>
              <a:rPr lang="en-US" sz="2200" dirty="0" smtClean="0"/>
              <a:t>Increase in tidal volume (hyperventilation)</a:t>
            </a:r>
          </a:p>
          <a:p>
            <a:pPr lvl="1"/>
            <a:r>
              <a:rPr lang="en-US" sz="2200" dirty="0" smtClean="0"/>
              <a:t>Decrease in metabolic rate</a:t>
            </a:r>
          </a:p>
          <a:p>
            <a:pPr lvl="1"/>
            <a:r>
              <a:rPr lang="en-US" sz="2200" dirty="0" smtClean="0"/>
              <a:t>Decrease in core body temperature</a:t>
            </a:r>
          </a:p>
          <a:p>
            <a:pPr lvl="1"/>
            <a:r>
              <a:rPr lang="en-US" sz="2200" dirty="0" smtClean="0"/>
              <a:t>Hypovolemia/ Hypotension </a:t>
            </a:r>
            <a:endParaRPr lang="en-US" sz="2200" dirty="0"/>
          </a:p>
        </p:txBody>
      </p:sp>
      <p:pic>
        <p:nvPicPr>
          <p:cNvPr id="3075" name="Picture 3"/>
          <p:cNvPicPr>
            <a:picLocks noChangeAspect="1" noChangeArrowheads="1"/>
          </p:cNvPicPr>
          <p:nvPr/>
        </p:nvPicPr>
        <p:blipFill>
          <a:blip r:embed="rId2"/>
          <a:srcRect/>
          <a:stretch>
            <a:fillRect/>
          </a:stretch>
        </p:blipFill>
        <p:spPr bwMode="auto">
          <a:xfrm>
            <a:off x="2514600" y="1081088"/>
            <a:ext cx="6477000" cy="288131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27038"/>
            <a:ext cx="20574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Rebreathing</a:t>
            </a:r>
            <a:endParaRPr lang="en-US" sz="2800" dirty="0">
              <a:solidFill>
                <a:srgbClr val="0070C0"/>
              </a:solidFill>
              <a:effectLst/>
            </a:endParaRPr>
          </a:p>
        </p:txBody>
      </p:sp>
      <p:sp>
        <p:nvSpPr>
          <p:cNvPr id="3" name="Content Placeholder 2"/>
          <p:cNvSpPr>
            <a:spLocks noGrp="1"/>
          </p:cNvSpPr>
          <p:nvPr>
            <p:ph idx="1"/>
          </p:nvPr>
        </p:nvSpPr>
        <p:spPr>
          <a:xfrm>
            <a:off x="990600" y="3962400"/>
            <a:ext cx="8001000" cy="2895600"/>
          </a:xfrm>
        </p:spPr>
        <p:txBody>
          <a:bodyPr>
            <a:noAutofit/>
          </a:bodyPr>
          <a:lstStyle/>
          <a:p>
            <a:pPr marL="55563" indent="0">
              <a:buNone/>
            </a:pPr>
            <a:r>
              <a:rPr lang="en-US" sz="2200" dirty="0" smtClean="0"/>
              <a:t>Elevation of the baseline indicates rebreathing (may show increase in ETCO2), Possible Causes</a:t>
            </a:r>
          </a:p>
          <a:p>
            <a:pPr marL="747713" lvl="1" indent="-344488"/>
            <a:r>
              <a:rPr lang="en-US" sz="2150" dirty="0" smtClean="0"/>
              <a:t>Faulty expiratory valve on ventilator or anesthesia machine</a:t>
            </a:r>
          </a:p>
          <a:p>
            <a:pPr marL="747713" lvl="1" indent="-344488"/>
            <a:r>
              <a:rPr lang="en-GB" sz="2150" dirty="0" smtClean="0"/>
              <a:t>Insufficient fresh gas flow in Mapelson circuit</a:t>
            </a:r>
          </a:p>
          <a:p>
            <a:pPr marL="747713" lvl="1" indent="-344488"/>
            <a:r>
              <a:rPr lang="en-US" sz="2150" dirty="0" smtClean="0"/>
              <a:t>Malfunction of system (Excessive dead space in circuit)</a:t>
            </a:r>
          </a:p>
          <a:p>
            <a:pPr marL="747713" lvl="1" indent="-344488"/>
            <a:r>
              <a:rPr lang="en-US" sz="2150" dirty="0" smtClean="0"/>
              <a:t>Exhausted/ expired soda lime (circle system) </a:t>
            </a:r>
          </a:p>
          <a:p>
            <a:pPr marL="747713" lvl="1" indent="-344488"/>
            <a:r>
              <a:rPr lang="en-US" sz="2150" dirty="0" smtClean="0"/>
              <a:t>Insufficient expiratory time</a:t>
            </a:r>
            <a:endParaRPr lang="en-US" sz="2150" dirty="0"/>
          </a:p>
        </p:txBody>
      </p:sp>
      <p:pic>
        <p:nvPicPr>
          <p:cNvPr id="4098" name="Picture 2"/>
          <p:cNvPicPr>
            <a:picLocks noChangeAspect="1" noChangeArrowheads="1"/>
          </p:cNvPicPr>
          <p:nvPr/>
        </p:nvPicPr>
        <p:blipFill>
          <a:blip r:embed="rId2"/>
          <a:srcRect/>
          <a:stretch>
            <a:fillRect/>
          </a:stretch>
        </p:blipFill>
        <p:spPr bwMode="auto">
          <a:xfrm>
            <a:off x="2438399" y="990600"/>
            <a:ext cx="6400801" cy="29432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50838"/>
            <a:ext cx="79248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Muscle Relaxants (</a:t>
            </a:r>
            <a:r>
              <a:rPr lang="en-GB" sz="2800" dirty="0" smtClean="0">
                <a:solidFill>
                  <a:srgbClr val="0070C0"/>
                </a:solidFill>
                <a:effectLst/>
              </a:rPr>
              <a:t>Patient breathing whilst ventilated</a:t>
            </a:r>
            <a:r>
              <a:rPr lang="en-US" sz="2800" dirty="0" smtClean="0">
                <a:solidFill>
                  <a:srgbClr val="0070C0"/>
                </a:solidFill>
                <a:effectLst/>
              </a:rPr>
              <a:t>)</a:t>
            </a:r>
            <a:endParaRPr lang="en-US" sz="2800" dirty="0">
              <a:solidFill>
                <a:srgbClr val="0070C0"/>
              </a:solidFill>
              <a:effectLst/>
            </a:endParaRPr>
          </a:p>
        </p:txBody>
      </p:sp>
      <p:sp>
        <p:nvSpPr>
          <p:cNvPr id="3" name="Content Placeholder 2"/>
          <p:cNvSpPr>
            <a:spLocks noGrp="1"/>
          </p:cNvSpPr>
          <p:nvPr>
            <p:ph idx="1"/>
          </p:nvPr>
        </p:nvSpPr>
        <p:spPr>
          <a:xfrm>
            <a:off x="990600" y="3733800"/>
            <a:ext cx="8001000" cy="2286000"/>
          </a:xfrm>
        </p:spPr>
        <p:txBody>
          <a:bodyPr>
            <a:noAutofit/>
          </a:bodyPr>
          <a:lstStyle/>
          <a:p>
            <a:pPr marL="55563" indent="0">
              <a:buNone/>
            </a:pPr>
            <a:r>
              <a:rPr lang="en-US" sz="2200" dirty="0" smtClean="0"/>
              <a:t>Curare Clefts are seen in the plateau portion of the capnogram. They appear when the action of the muscle relaxants begin to subside and spontaneous ventilation returns.</a:t>
            </a:r>
          </a:p>
          <a:p>
            <a:pPr>
              <a:buNone/>
            </a:pPr>
            <a:r>
              <a:rPr lang="en-US" sz="2200" dirty="0" smtClean="0"/>
              <a:t>Characteristics:</a:t>
            </a:r>
          </a:p>
          <a:p>
            <a:pPr marL="747713" lvl="1" indent="-344488"/>
            <a:r>
              <a:rPr lang="en-US" sz="2100" dirty="0" smtClean="0"/>
              <a:t>Depth of the cleft is </a:t>
            </a:r>
            <a:r>
              <a:rPr lang="en-US" sz="2100" dirty="0" smtClean="0">
                <a:solidFill>
                  <a:srgbClr val="0070C0"/>
                </a:solidFill>
              </a:rPr>
              <a:t>inversely proportional</a:t>
            </a:r>
            <a:r>
              <a:rPr lang="en-US" sz="2100" dirty="0" smtClean="0"/>
              <a:t> to the degree of drug activity</a:t>
            </a:r>
          </a:p>
          <a:p>
            <a:pPr marL="747713" lvl="1" indent="-344488"/>
            <a:r>
              <a:rPr lang="en-US" sz="2100" dirty="0" smtClean="0">
                <a:solidFill>
                  <a:srgbClr val="0070C0"/>
                </a:solidFill>
              </a:rPr>
              <a:t>Position is fairly constant</a:t>
            </a:r>
            <a:r>
              <a:rPr lang="en-US" sz="2100" dirty="0" smtClean="0"/>
              <a:t> on the same patient but not necessarily present with every breath</a:t>
            </a:r>
            <a:endParaRPr lang="en-US" sz="2100" dirty="0"/>
          </a:p>
        </p:txBody>
      </p:sp>
      <p:pic>
        <p:nvPicPr>
          <p:cNvPr id="5122" name="Picture 2"/>
          <p:cNvPicPr>
            <a:picLocks noChangeAspect="1" noChangeArrowheads="1"/>
          </p:cNvPicPr>
          <p:nvPr/>
        </p:nvPicPr>
        <p:blipFill>
          <a:blip r:embed="rId2"/>
          <a:srcRect/>
          <a:stretch>
            <a:fillRect/>
          </a:stretch>
        </p:blipFill>
        <p:spPr bwMode="auto">
          <a:xfrm>
            <a:off x="2362201" y="914401"/>
            <a:ext cx="6629399" cy="266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50838"/>
            <a:ext cx="54102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Endotracheal Tube in the Esophagus</a:t>
            </a:r>
            <a:endParaRPr lang="en-US" sz="2800" dirty="0">
              <a:solidFill>
                <a:srgbClr val="0070C0"/>
              </a:solidFill>
              <a:effectLst/>
            </a:endParaRPr>
          </a:p>
        </p:txBody>
      </p:sp>
      <p:sp>
        <p:nvSpPr>
          <p:cNvPr id="3" name="Content Placeholder 2"/>
          <p:cNvSpPr>
            <a:spLocks noGrp="1"/>
          </p:cNvSpPr>
          <p:nvPr>
            <p:ph idx="1"/>
          </p:nvPr>
        </p:nvSpPr>
        <p:spPr>
          <a:xfrm>
            <a:off x="990600" y="4038600"/>
            <a:ext cx="8001000" cy="2286000"/>
          </a:xfrm>
        </p:spPr>
        <p:txBody>
          <a:bodyPr>
            <a:noAutofit/>
          </a:bodyPr>
          <a:lstStyle/>
          <a:p>
            <a:pPr marL="401638" indent="-401638">
              <a:buFont typeface="Courier New" pitchFamily="49" charset="0"/>
              <a:buChar char="o"/>
            </a:pPr>
            <a:r>
              <a:rPr lang="en-US" sz="2400" dirty="0" smtClean="0"/>
              <a:t>A normal capnogram is the </a:t>
            </a:r>
            <a:r>
              <a:rPr lang="en-US" sz="2400" dirty="0" smtClean="0">
                <a:solidFill>
                  <a:srgbClr val="0070C0"/>
                </a:solidFill>
              </a:rPr>
              <a:t>best available evidence</a:t>
            </a:r>
            <a:r>
              <a:rPr lang="en-US" sz="2400" dirty="0" smtClean="0"/>
              <a:t> that the ET tube is correctly positioned and that proper ventilation is occurring. </a:t>
            </a:r>
          </a:p>
          <a:p>
            <a:pPr marL="401638" indent="-401638">
              <a:buFont typeface="Courier New" pitchFamily="49" charset="0"/>
              <a:buChar char="o"/>
            </a:pPr>
            <a:r>
              <a:rPr lang="en-US" sz="2400" dirty="0" smtClean="0"/>
              <a:t>When the ET tube is placed in the esophagus, either no CO</a:t>
            </a:r>
            <a:r>
              <a:rPr lang="en-US" sz="1600" dirty="0" smtClean="0"/>
              <a:t>2</a:t>
            </a:r>
            <a:r>
              <a:rPr lang="en-US" sz="2400" dirty="0" smtClean="0"/>
              <a:t> is sensed or only </a:t>
            </a:r>
            <a:r>
              <a:rPr lang="en-US" sz="2400" dirty="0" smtClean="0">
                <a:solidFill>
                  <a:srgbClr val="0070C0"/>
                </a:solidFill>
              </a:rPr>
              <a:t>small transient </a:t>
            </a:r>
            <a:r>
              <a:rPr lang="en-US" sz="2400" dirty="0" smtClean="0"/>
              <a:t>waveforms are present.</a:t>
            </a:r>
            <a:endParaRPr lang="en-US" sz="2200" dirty="0"/>
          </a:p>
        </p:txBody>
      </p:sp>
      <p:pic>
        <p:nvPicPr>
          <p:cNvPr id="6146" name="Picture 2"/>
          <p:cNvPicPr>
            <a:picLocks noChangeAspect="1" noChangeArrowheads="1"/>
          </p:cNvPicPr>
          <p:nvPr/>
        </p:nvPicPr>
        <p:blipFill>
          <a:blip r:embed="rId2"/>
          <a:srcRect/>
          <a:stretch>
            <a:fillRect/>
          </a:stretch>
        </p:blipFill>
        <p:spPr bwMode="auto">
          <a:xfrm>
            <a:off x="2286000" y="1190625"/>
            <a:ext cx="6705600" cy="2543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50838"/>
            <a:ext cx="67818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Obstruction in Breathing Circuit or Airway</a:t>
            </a:r>
            <a:endParaRPr lang="en-US" sz="2800" dirty="0">
              <a:solidFill>
                <a:srgbClr val="0070C0"/>
              </a:solidFill>
              <a:effectLst/>
            </a:endParaRPr>
          </a:p>
        </p:txBody>
      </p:sp>
      <p:sp>
        <p:nvSpPr>
          <p:cNvPr id="3" name="Content Placeholder 2"/>
          <p:cNvSpPr>
            <a:spLocks noGrp="1"/>
          </p:cNvSpPr>
          <p:nvPr>
            <p:ph idx="1"/>
          </p:nvPr>
        </p:nvSpPr>
        <p:spPr>
          <a:xfrm>
            <a:off x="990600" y="3886200"/>
            <a:ext cx="8001000" cy="2895600"/>
          </a:xfrm>
        </p:spPr>
        <p:txBody>
          <a:bodyPr>
            <a:noAutofit/>
          </a:bodyPr>
          <a:lstStyle/>
          <a:p>
            <a:pPr marL="55563" indent="26988">
              <a:buNone/>
            </a:pPr>
            <a:r>
              <a:rPr lang="en-US" sz="2200" dirty="0" smtClean="0"/>
              <a:t>Obstructed expiratory gas flow is noted as a change in the slope of the ascending limb of the capnogram (</a:t>
            </a:r>
            <a:r>
              <a:rPr lang="en-US" sz="2200" i="1" dirty="0" smtClean="0">
                <a:solidFill>
                  <a:srgbClr val="0070C0"/>
                </a:solidFill>
              </a:rPr>
              <a:t>expiratory plateau may be absent</a:t>
            </a:r>
            <a:r>
              <a:rPr lang="en-US" sz="2200" dirty="0" smtClean="0"/>
              <a:t>)</a:t>
            </a:r>
          </a:p>
          <a:p>
            <a:pPr marL="747713" lvl="1" indent="-344488"/>
            <a:r>
              <a:rPr lang="en-US" sz="2000" dirty="0" smtClean="0"/>
              <a:t>Obstruction in the expiratory limb (ETT) of the breathing circuit</a:t>
            </a:r>
          </a:p>
          <a:p>
            <a:pPr marL="747713" lvl="1" indent="-344488"/>
            <a:r>
              <a:rPr lang="en-US" sz="2000" dirty="0" smtClean="0"/>
              <a:t>Presence of a foreign body in the upper airway</a:t>
            </a:r>
          </a:p>
          <a:p>
            <a:pPr marL="747713" lvl="1" indent="-344488"/>
            <a:r>
              <a:rPr lang="en-US" sz="2000" dirty="0" smtClean="0"/>
              <a:t>Partially kinked or occluded artificial airway</a:t>
            </a:r>
          </a:p>
          <a:p>
            <a:pPr marL="747713" lvl="1" indent="-344488"/>
            <a:r>
              <a:rPr lang="en-US" sz="2000" dirty="0" smtClean="0"/>
              <a:t>Bronchospasm (anaphylaxis, asthma,)</a:t>
            </a:r>
          </a:p>
          <a:p>
            <a:pPr marL="747713" lvl="1" indent="-344488"/>
            <a:r>
              <a:rPr lang="en-US" sz="2000" dirty="0" smtClean="0"/>
              <a:t>Chronic obstructive pulmonary disease (COPD)</a:t>
            </a:r>
            <a:endParaRPr lang="en-US" sz="2000" dirty="0"/>
          </a:p>
        </p:txBody>
      </p:sp>
      <p:pic>
        <p:nvPicPr>
          <p:cNvPr id="7170" name="Picture 2"/>
          <p:cNvPicPr>
            <a:picLocks noChangeAspect="1" noChangeArrowheads="1"/>
          </p:cNvPicPr>
          <p:nvPr/>
        </p:nvPicPr>
        <p:blipFill>
          <a:blip r:embed="rId2"/>
          <a:srcRect/>
          <a:stretch>
            <a:fillRect/>
          </a:stretch>
        </p:blipFill>
        <p:spPr bwMode="auto">
          <a:xfrm>
            <a:off x="2362200" y="990600"/>
            <a:ext cx="6629400" cy="26527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50838"/>
            <a:ext cx="14478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US" sz="2800" dirty="0" smtClean="0">
                <a:solidFill>
                  <a:srgbClr val="0070C0"/>
                </a:solidFill>
                <a:effectLst/>
              </a:rPr>
              <a:t>Apnea</a:t>
            </a:r>
            <a:endParaRPr lang="en-US" sz="2800" dirty="0">
              <a:solidFill>
                <a:srgbClr val="0070C0"/>
              </a:solidFill>
              <a:effectLst/>
            </a:endParaRPr>
          </a:p>
        </p:txBody>
      </p:sp>
      <p:sp>
        <p:nvSpPr>
          <p:cNvPr id="3" name="Content Placeholder 2"/>
          <p:cNvSpPr>
            <a:spLocks noGrp="1"/>
          </p:cNvSpPr>
          <p:nvPr>
            <p:ph idx="1"/>
          </p:nvPr>
        </p:nvSpPr>
        <p:spPr>
          <a:xfrm>
            <a:off x="990600" y="4191000"/>
            <a:ext cx="8001000" cy="2667000"/>
          </a:xfrm>
        </p:spPr>
        <p:txBody>
          <a:bodyPr>
            <a:noAutofit/>
          </a:bodyPr>
          <a:lstStyle/>
          <a:p>
            <a:pPr>
              <a:buFont typeface="Courier New" pitchFamily="49" charset="0"/>
              <a:buChar char="o"/>
            </a:pPr>
            <a:r>
              <a:rPr lang="en-US" sz="2400" dirty="0" smtClean="0"/>
              <a:t>Complete loss of waveform indicating no CO</a:t>
            </a:r>
            <a:r>
              <a:rPr lang="en-US" sz="1600" dirty="0" smtClean="0"/>
              <a:t>2</a:t>
            </a:r>
            <a:r>
              <a:rPr lang="en-US" sz="2400" dirty="0" smtClean="0"/>
              <a:t> present, since this occurred suddenly</a:t>
            </a:r>
          </a:p>
          <a:p>
            <a:pPr>
              <a:buFont typeface="Courier New" pitchFamily="49" charset="0"/>
              <a:buChar char="o"/>
            </a:pPr>
            <a:r>
              <a:rPr lang="en-US" sz="2400" dirty="0" smtClean="0"/>
              <a:t>Consider:</a:t>
            </a:r>
          </a:p>
          <a:p>
            <a:pPr marL="1025525" lvl="2" indent="-368300">
              <a:buClr>
                <a:srgbClr val="002060"/>
              </a:buClr>
              <a:buFont typeface="Arial" pitchFamily="34" charset="0"/>
              <a:buChar char="•"/>
            </a:pPr>
            <a:r>
              <a:rPr lang="en-US" sz="2200" dirty="0" smtClean="0"/>
              <a:t>Dislodge ET tube or disconnection</a:t>
            </a:r>
          </a:p>
          <a:p>
            <a:pPr marL="1025525" lvl="2" indent="-368300">
              <a:buClr>
                <a:srgbClr val="002060"/>
              </a:buClr>
              <a:buFont typeface="Arial" pitchFamily="34" charset="0"/>
              <a:buChar char="•"/>
            </a:pPr>
            <a:r>
              <a:rPr lang="en-US" sz="2200" dirty="0" smtClean="0"/>
              <a:t>Total obstruction of ET tube</a:t>
            </a:r>
          </a:p>
          <a:p>
            <a:pPr marL="1025525" lvl="2" indent="-368300">
              <a:buClr>
                <a:srgbClr val="002060"/>
              </a:buClr>
              <a:buFont typeface="Arial" pitchFamily="34" charset="0"/>
              <a:buChar char="•"/>
            </a:pPr>
            <a:r>
              <a:rPr lang="en-US" sz="2200" dirty="0" smtClean="0"/>
              <a:t>Equipment malfunction, check all connections</a:t>
            </a:r>
            <a:endParaRPr lang="en-US" sz="2200" dirty="0"/>
          </a:p>
        </p:txBody>
      </p:sp>
      <p:pic>
        <p:nvPicPr>
          <p:cNvPr id="8194" name="Picture 2"/>
          <p:cNvPicPr>
            <a:picLocks noChangeAspect="1" noChangeArrowheads="1"/>
          </p:cNvPicPr>
          <p:nvPr/>
        </p:nvPicPr>
        <p:blipFill>
          <a:blip r:embed="rId2"/>
          <a:srcRect/>
          <a:stretch>
            <a:fillRect/>
          </a:stretch>
        </p:blipFill>
        <p:spPr bwMode="auto">
          <a:xfrm>
            <a:off x="2285999" y="990601"/>
            <a:ext cx="6629401" cy="2819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50838"/>
            <a:ext cx="6629400" cy="487362"/>
          </a:xfrm>
          <a:prstGeom prst="round2Diag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a:noAutofit/>
          </a:bodyPr>
          <a:lstStyle/>
          <a:p>
            <a:r>
              <a:rPr lang="en-GB" sz="2800" dirty="0" smtClean="0">
                <a:solidFill>
                  <a:srgbClr val="0070C0"/>
                </a:solidFill>
                <a:effectLst/>
              </a:rPr>
              <a:t>Cardiac oscillations in self-ventilating patient</a:t>
            </a:r>
            <a:endParaRPr lang="en-GB" sz="2800" dirty="0">
              <a:solidFill>
                <a:srgbClr val="0070C0"/>
              </a:solidFill>
              <a:effectLst/>
            </a:endParaRPr>
          </a:p>
        </p:txBody>
      </p:sp>
      <p:sp>
        <p:nvSpPr>
          <p:cNvPr id="3" name="Content Placeholder 2"/>
          <p:cNvSpPr>
            <a:spLocks noGrp="1"/>
          </p:cNvSpPr>
          <p:nvPr>
            <p:ph idx="1"/>
          </p:nvPr>
        </p:nvSpPr>
        <p:spPr>
          <a:xfrm>
            <a:off x="990600" y="4191000"/>
            <a:ext cx="8001000" cy="2667000"/>
          </a:xfrm>
        </p:spPr>
        <p:txBody>
          <a:bodyPr>
            <a:noAutofit/>
          </a:bodyPr>
          <a:lstStyle/>
          <a:p>
            <a:pPr>
              <a:buFont typeface="Courier New" pitchFamily="49" charset="0"/>
              <a:buChar char="o"/>
            </a:pPr>
            <a:r>
              <a:rPr lang="en-US" sz="2400" dirty="0" smtClean="0"/>
              <a:t>Cardiogenic oscillations appear as </a:t>
            </a:r>
            <a:r>
              <a:rPr lang="en-US" sz="2400" dirty="0" smtClean="0">
                <a:solidFill>
                  <a:srgbClr val="0070C0"/>
                </a:solidFill>
              </a:rPr>
              <a:t>small, regular, tooth-like humps</a:t>
            </a:r>
            <a:r>
              <a:rPr lang="en-US" sz="2400" dirty="0" smtClean="0"/>
              <a:t> at the </a:t>
            </a:r>
            <a:r>
              <a:rPr lang="en-US" sz="2400" dirty="0" smtClean="0">
                <a:solidFill>
                  <a:srgbClr val="0070C0"/>
                </a:solidFill>
              </a:rPr>
              <a:t>end of the expiratory phase</a:t>
            </a:r>
            <a:r>
              <a:rPr lang="en-US" sz="2400" dirty="0" smtClean="0"/>
              <a:t>. </a:t>
            </a:r>
          </a:p>
          <a:p>
            <a:pPr>
              <a:buFont typeface="Courier New" pitchFamily="49" charset="0"/>
              <a:buChar char="o"/>
            </a:pPr>
            <a:r>
              <a:rPr lang="en-US" sz="2400" dirty="0" smtClean="0"/>
              <a:t>They may be single or multiple, and the heights may vary considerably. </a:t>
            </a:r>
          </a:p>
          <a:p>
            <a:pPr>
              <a:buFont typeface="Courier New" pitchFamily="49" charset="0"/>
              <a:buChar char="o"/>
            </a:pPr>
            <a:r>
              <a:rPr lang="en-US" sz="2400" dirty="0" smtClean="0"/>
              <a:t>They are believed to be due to the </a:t>
            </a:r>
            <a:r>
              <a:rPr lang="en-US" sz="2400" dirty="0" smtClean="0">
                <a:solidFill>
                  <a:srgbClr val="0070C0"/>
                </a:solidFill>
              </a:rPr>
              <a:t>heart beating against the lungs</a:t>
            </a:r>
            <a:endParaRPr lang="en-US" sz="2200" dirty="0">
              <a:solidFill>
                <a:srgbClr val="0070C0"/>
              </a:solidFill>
            </a:endParaRPr>
          </a:p>
        </p:txBody>
      </p:sp>
      <p:pic>
        <p:nvPicPr>
          <p:cNvPr id="5" name="Picture 2" descr="D:\Mine Files\My Pictures\New Picture (4).bmp"/>
          <p:cNvPicPr>
            <a:picLocks noChangeAspect="1" noChangeArrowheads="1"/>
          </p:cNvPicPr>
          <p:nvPr/>
        </p:nvPicPr>
        <p:blipFill>
          <a:blip r:embed="rId2"/>
          <a:srcRect/>
          <a:stretch>
            <a:fillRect/>
          </a:stretch>
        </p:blipFill>
        <p:spPr bwMode="auto">
          <a:xfrm>
            <a:off x="3200400" y="1143000"/>
            <a:ext cx="5667375" cy="25479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3" name="Line 5"/>
          <p:cNvSpPr>
            <a:spLocks noChangeShapeType="1"/>
          </p:cNvSpPr>
          <p:nvPr/>
        </p:nvSpPr>
        <p:spPr bwMode="auto">
          <a:xfrm>
            <a:off x="1803400" y="1682750"/>
            <a:ext cx="0" cy="2857500"/>
          </a:xfrm>
          <a:prstGeom prst="line">
            <a:avLst/>
          </a:prstGeom>
          <a:noFill/>
          <a:ln w="28575">
            <a:solidFill>
              <a:schemeClr val="tx1"/>
            </a:solidFill>
            <a:round/>
            <a:headEnd type="arrow" w="lg" len="lg"/>
            <a:tailEnd/>
          </a:ln>
          <a:effectLst/>
        </p:spPr>
        <p:txBody>
          <a:bodyPr/>
          <a:lstStyle/>
          <a:p>
            <a:endParaRPr lang="en-US"/>
          </a:p>
        </p:txBody>
      </p:sp>
      <p:sp>
        <p:nvSpPr>
          <p:cNvPr id="68614" name="Line 6"/>
          <p:cNvSpPr>
            <a:spLocks noChangeShapeType="1"/>
          </p:cNvSpPr>
          <p:nvPr/>
        </p:nvSpPr>
        <p:spPr bwMode="auto">
          <a:xfrm rot="-5400000">
            <a:off x="4921250" y="1422400"/>
            <a:ext cx="0" cy="6235700"/>
          </a:xfrm>
          <a:prstGeom prst="line">
            <a:avLst/>
          </a:prstGeom>
          <a:noFill/>
          <a:ln w="28575">
            <a:solidFill>
              <a:schemeClr val="tx1"/>
            </a:solidFill>
            <a:round/>
            <a:headEnd/>
            <a:tailEnd type="arrow" w="lg" len="lg"/>
          </a:ln>
          <a:effectLst/>
        </p:spPr>
        <p:txBody>
          <a:bodyPr/>
          <a:lstStyle/>
          <a:p>
            <a:endParaRPr lang="en-US"/>
          </a:p>
        </p:txBody>
      </p:sp>
      <p:sp>
        <p:nvSpPr>
          <p:cNvPr id="68615" name="Text Box 7"/>
          <p:cNvSpPr txBox="1">
            <a:spLocks noChangeArrowheads="1"/>
          </p:cNvSpPr>
          <p:nvPr/>
        </p:nvSpPr>
        <p:spPr bwMode="auto">
          <a:xfrm>
            <a:off x="911225" y="1774825"/>
            <a:ext cx="679450" cy="336550"/>
          </a:xfrm>
          <a:prstGeom prst="rect">
            <a:avLst/>
          </a:prstGeom>
          <a:noFill/>
          <a:ln w="9525">
            <a:noFill/>
            <a:miter lim="800000"/>
            <a:headEnd/>
            <a:tailEnd/>
          </a:ln>
          <a:effectLst/>
        </p:spPr>
        <p:txBody>
          <a:bodyPr wrap="none">
            <a:spAutoFit/>
          </a:bodyPr>
          <a:lstStyle/>
          <a:p>
            <a:pPr algn="l"/>
            <a:r>
              <a:rPr lang="en-GB" sz="1600"/>
              <a:t>pCO</a:t>
            </a:r>
            <a:r>
              <a:rPr lang="en-GB" sz="1600" baseline="-25000"/>
              <a:t>2</a:t>
            </a:r>
          </a:p>
        </p:txBody>
      </p:sp>
      <p:sp>
        <p:nvSpPr>
          <p:cNvPr id="68616" name="Text Box 8"/>
          <p:cNvSpPr txBox="1">
            <a:spLocks noChangeArrowheads="1"/>
          </p:cNvSpPr>
          <p:nvPr/>
        </p:nvSpPr>
        <p:spPr bwMode="auto">
          <a:xfrm>
            <a:off x="7261225" y="4683125"/>
            <a:ext cx="568325" cy="336550"/>
          </a:xfrm>
          <a:prstGeom prst="rect">
            <a:avLst/>
          </a:prstGeom>
          <a:noFill/>
          <a:ln w="9525">
            <a:noFill/>
            <a:miter lim="800000"/>
            <a:headEnd/>
            <a:tailEnd/>
          </a:ln>
          <a:effectLst/>
        </p:spPr>
        <p:txBody>
          <a:bodyPr wrap="none">
            <a:spAutoFit/>
          </a:bodyPr>
          <a:lstStyle/>
          <a:p>
            <a:pPr algn="l"/>
            <a:r>
              <a:rPr lang="en-GB" sz="1600"/>
              <a:t>time</a:t>
            </a:r>
          </a:p>
        </p:txBody>
      </p:sp>
      <p:sp>
        <p:nvSpPr>
          <p:cNvPr id="68617" name="Freeform 9"/>
          <p:cNvSpPr>
            <a:spLocks/>
          </p:cNvSpPr>
          <p:nvPr/>
        </p:nvSpPr>
        <p:spPr bwMode="auto">
          <a:xfrm>
            <a:off x="1946275" y="3311525"/>
            <a:ext cx="676275" cy="1235075"/>
          </a:xfrm>
          <a:custGeom>
            <a:avLst/>
            <a:gdLst/>
            <a:ahLst/>
            <a:cxnLst>
              <a:cxn ang="0">
                <a:pos x="0" y="1082"/>
              </a:cxn>
              <a:cxn ang="0">
                <a:pos x="114" y="1056"/>
              </a:cxn>
              <a:cxn ang="0">
                <a:pos x="174" y="1034"/>
              </a:cxn>
              <a:cxn ang="0">
                <a:pos x="291" y="815"/>
              </a:cxn>
              <a:cxn ang="0">
                <a:pos x="338" y="573"/>
              </a:cxn>
              <a:cxn ang="0">
                <a:pos x="364" y="428"/>
              </a:cxn>
              <a:cxn ang="0">
                <a:pos x="401" y="260"/>
              </a:cxn>
              <a:cxn ang="0">
                <a:pos x="433" y="213"/>
              </a:cxn>
              <a:cxn ang="0">
                <a:pos x="532" y="124"/>
              </a:cxn>
              <a:cxn ang="0">
                <a:pos x="607" y="80"/>
              </a:cxn>
              <a:cxn ang="0">
                <a:pos x="1084" y="12"/>
              </a:cxn>
              <a:cxn ang="0">
                <a:pos x="1208" y="14"/>
              </a:cxn>
              <a:cxn ang="0">
                <a:pos x="1247" y="80"/>
              </a:cxn>
              <a:cxn ang="0">
                <a:pos x="1296" y="758"/>
              </a:cxn>
              <a:cxn ang="0">
                <a:pos x="1408" y="1022"/>
              </a:cxn>
              <a:cxn ang="0">
                <a:pos x="1490" y="1082"/>
              </a:cxn>
            </a:cxnLst>
            <a:rect l="0" t="0" r="r" b="b"/>
            <a:pathLst>
              <a:path w="1490" h="1082">
                <a:moveTo>
                  <a:pt x="0" y="1082"/>
                </a:moveTo>
                <a:cubicBezTo>
                  <a:pt x="27" y="1079"/>
                  <a:pt x="92" y="1066"/>
                  <a:pt x="114" y="1056"/>
                </a:cubicBezTo>
                <a:cubicBezTo>
                  <a:pt x="141" y="1052"/>
                  <a:pt x="153" y="1048"/>
                  <a:pt x="174" y="1034"/>
                </a:cubicBezTo>
                <a:cubicBezTo>
                  <a:pt x="251" y="983"/>
                  <a:pt x="264" y="896"/>
                  <a:pt x="291" y="815"/>
                </a:cubicBezTo>
                <a:cubicBezTo>
                  <a:pt x="318" y="734"/>
                  <a:pt x="325" y="658"/>
                  <a:pt x="338" y="573"/>
                </a:cubicBezTo>
                <a:cubicBezTo>
                  <a:pt x="346" y="523"/>
                  <a:pt x="357" y="479"/>
                  <a:pt x="364" y="428"/>
                </a:cubicBezTo>
                <a:cubicBezTo>
                  <a:pt x="372" y="370"/>
                  <a:pt x="383" y="314"/>
                  <a:pt x="401" y="260"/>
                </a:cubicBezTo>
                <a:cubicBezTo>
                  <a:pt x="407" y="242"/>
                  <a:pt x="422" y="228"/>
                  <a:pt x="433" y="213"/>
                </a:cubicBezTo>
                <a:cubicBezTo>
                  <a:pt x="473" y="154"/>
                  <a:pt x="469" y="166"/>
                  <a:pt x="532" y="124"/>
                </a:cubicBezTo>
                <a:cubicBezTo>
                  <a:pt x="552" y="110"/>
                  <a:pt x="583" y="87"/>
                  <a:pt x="607" y="80"/>
                </a:cubicBezTo>
                <a:cubicBezTo>
                  <a:pt x="757" y="30"/>
                  <a:pt x="932" y="42"/>
                  <a:pt x="1084" y="12"/>
                </a:cubicBezTo>
                <a:cubicBezTo>
                  <a:pt x="1124" y="15"/>
                  <a:pt x="1170" y="0"/>
                  <a:pt x="1208" y="14"/>
                </a:cubicBezTo>
                <a:cubicBezTo>
                  <a:pt x="1227" y="21"/>
                  <a:pt x="1239" y="55"/>
                  <a:pt x="1247" y="80"/>
                </a:cubicBezTo>
                <a:cubicBezTo>
                  <a:pt x="1274" y="205"/>
                  <a:pt x="1273" y="593"/>
                  <a:pt x="1296" y="758"/>
                </a:cubicBezTo>
                <a:cubicBezTo>
                  <a:pt x="1323" y="915"/>
                  <a:pt x="1376" y="968"/>
                  <a:pt x="1408" y="1022"/>
                </a:cubicBezTo>
                <a:cubicBezTo>
                  <a:pt x="1440" y="1076"/>
                  <a:pt x="1473" y="1070"/>
                  <a:pt x="1490" y="1082"/>
                </a:cubicBezTo>
              </a:path>
            </a:pathLst>
          </a:custGeom>
          <a:noFill/>
          <a:ln w="9525">
            <a:solidFill>
              <a:schemeClr val="tx1"/>
            </a:solidFill>
            <a:round/>
            <a:headEnd/>
            <a:tailEnd/>
          </a:ln>
          <a:effectLst/>
        </p:spPr>
        <p:txBody>
          <a:bodyPr/>
          <a:lstStyle/>
          <a:p>
            <a:endParaRPr lang="en-US"/>
          </a:p>
        </p:txBody>
      </p:sp>
      <p:sp>
        <p:nvSpPr>
          <p:cNvPr id="68618" name="Freeform 10"/>
          <p:cNvSpPr>
            <a:spLocks/>
          </p:cNvSpPr>
          <p:nvPr/>
        </p:nvSpPr>
        <p:spPr bwMode="auto">
          <a:xfrm>
            <a:off x="3487738" y="4213225"/>
            <a:ext cx="676275" cy="333375"/>
          </a:xfrm>
          <a:custGeom>
            <a:avLst/>
            <a:gdLst/>
            <a:ahLst/>
            <a:cxnLst>
              <a:cxn ang="0">
                <a:pos x="0" y="1082"/>
              </a:cxn>
              <a:cxn ang="0">
                <a:pos x="114" y="1056"/>
              </a:cxn>
              <a:cxn ang="0">
                <a:pos x="174" y="1034"/>
              </a:cxn>
              <a:cxn ang="0">
                <a:pos x="291" y="815"/>
              </a:cxn>
              <a:cxn ang="0">
                <a:pos x="338" y="573"/>
              </a:cxn>
              <a:cxn ang="0">
                <a:pos x="364" y="428"/>
              </a:cxn>
              <a:cxn ang="0">
                <a:pos x="401" y="260"/>
              </a:cxn>
              <a:cxn ang="0">
                <a:pos x="433" y="213"/>
              </a:cxn>
              <a:cxn ang="0">
                <a:pos x="532" y="124"/>
              </a:cxn>
              <a:cxn ang="0">
                <a:pos x="607" y="80"/>
              </a:cxn>
              <a:cxn ang="0">
                <a:pos x="1084" y="12"/>
              </a:cxn>
              <a:cxn ang="0">
                <a:pos x="1208" y="14"/>
              </a:cxn>
              <a:cxn ang="0">
                <a:pos x="1247" y="80"/>
              </a:cxn>
              <a:cxn ang="0">
                <a:pos x="1296" y="758"/>
              </a:cxn>
              <a:cxn ang="0">
                <a:pos x="1408" y="1022"/>
              </a:cxn>
              <a:cxn ang="0">
                <a:pos x="1490" y="1082"/>
              </a:cxn>
            </a:cxnLst>
            <a:rect l="0" t="0" r="r" b="b"/>
            <a:pathLst>
              <a:path w="1490" h="1082">
                <a:moveTo>
                  <a:pt x="0" y="1082"/>
                </a:moveTo>
                <a:cubicBezTo>
                  <a:pt x="27" y="1079"/>
                  <a:pt x="92" y="1066"/>
                  <a:pt x="114" y="1056"/>
                </a:cubicBezTo>
                <a:cubicBezTo>
                  <a:pt x="141" y="1052"/>
                  <a:pt x="153" y="1048"/>
                  <a:pt x="174" y="1034"/>
                </a:cubicBezTo>
                <a:cubicBezTo>
                  <a:pt x="251" y="983"/>
                  <a:pt x="264" y="896"/>
                  <a:pt x="291" y="815"/>
                </a:cubicBezTo>
                <a:cubicBezTo>
                  <a:pt x="318" y="734"/>
                  <a:pt x="325" y="658"/>
                  <a:pt x="338" y="573"/>
                </a:cubicBezTo>
                <a:cubicBezTo>
                  <a:pt x="346" y="523"/>
                  <a:pt x="357" y="479"/>
                  <a:pt x="364" y="428"/>
                </a:cubicBezTo>
                <a:cubicBezTo>
                  <a:pt x="372" y="370"/>
                  <a:pt x="383" y="314"/>
                  <a:pt x="401" y="260"/>
                </a:cubicBezTo>
                <a:cubicBezTo>
                  <a:pt x="407" y="242"/>
                  <a:pt x="422" y="228"/>
                  <a:pt x="433" y="213"/>
                </a:cubicBezTo>
                <a:cubicBezTo>
                  <a:pt x="473" y="154"/>
                  <a:pt x="469" y="166"/>
                  <a:pt x="532" y="124"/>
                </a:cubicBezTo>
                <a:cubicBezTo>
                  <a:pt x="552" y="110"/>
                  <a:pt x="583" y="87"/>
                  <a:pt x="607" y="80"/>
                </a:cubicBezTo>
                <a:cubicBezTo>
                  <a:pt x="757" y="30"/>
                  <a:pt x="932" y="42"/>
                  <a:pt x="1084" y="12"/>
                </a:cubicBezTo>
                <a:cubicBezTo>
                  <a:pt x="1124" y="15"/>
                  <a:pt x="1170" y="0"/>
                  <a:pt x="1208" y="14"/>
                </a:cubicBezTo>
                <a:cubicBezTo>
                  <a:pt x="1227" y="21"/>
                  <a:pt x="1239" y="55"/>
                  <a:pt x="1247" y="80"/>
                </a:cubicBezTo>
                <a:cubicBezTo>
                  <a:pt x="1274" y="205"/>
                  <a:pt x="1273" y="593"/>
                  <a:pt x="1296" y="758"/>
                </a:cubicBezTo>
                <a:cubicBezTo>
                  <a:pt x="1323" y="915"/>
                  <a:pt x="1376" y="968"/>
                  <a:pt x="1408" y="1022"/>
                </a:cubicBezTo>
                <a:cubicBezTo>
                  <a:pt x="1440" y="1076"/>
                  <a:pt x="1473" y="1070"/>
                  <a:pt x="1490" y="1082"/>
                </a:cubicBezTo>
              </a:path>
            </a:pathLst>
          </a:custGeom>
          <a:noFill/>
          <a:ln w="9525">
            <a:solidFill>
              <a:schemeClr val="tx1"/>
            </a:solidFill>
            <a:round/>
            <a:headEnd/>
            <a:tailEnd/>
          </a:ln>
          <a:effectLst/>
        </p:spPr>
        <p:txBody>
          <a:bodyPr/>
          <a:lstStyle/>
          <a:p>
            <a:endParaRPr lang="en-US"/>
          </a:p>
        </p:txBody>
      </p:sp>
      <p:sp>
        <p:nvSpPr>
          <p:cNvPr id="68619" name="Freeform 11"/>
          <p:cNvSpPr>
            <a:spLocks/>
          </p:cNvSpPr>
          <p:nvPr/>
        </p:nvSpPr>
        <p:spPr bwMode="auto">
          <a:xfrm>
            <a:off x="5030788" y="4213225"/>
            <a:ext cx="676275" cy="333375"/>
          </a:xfrm>
          <a:custGeom>
            <a:avLst/>
            <a:gdLst/>
            <a:ahLst/>
            <a:cxnLst>
              <a:cxn ang="0">
                <a:pos x="0" y="1082"/>
              </a:cxn>
              <a:cxn ang="0">
                <a:pos x="114" y="1056"/>
              </a:cxn>
              <a:cxn ang="0">
                <a:pos x="174" y="1034"/>
              </a:cxn>
              <a:cxn ang="0">
                <a:pos x="291" y="815"/>
              </a:cxn>
              <a:cxn ang="0">
                <a:pos x="338" y="573"/>
              </a:cxn>
              <a:cxn ang="0">
                <a:pos x="364" y="428"/>
              </a:cxn>
              <a:cxn ang="0">
                <a:pos x="401" y="260"/>
              </a:cxn>
              <a:cxn ang="0">
                <a:pos x="433" y="213"/>
              </a:cxn>
              <a:cxn ang="0">
                <a:pos x="532" y="124"/>
              </a:cxn>
              <a:cxn ang="0">
                <a:pos x="607" y="80"/>
              </a:cxn>
              <a:cxn ang="0">
                <a:pos x="1084" y="12"/>
              </a:cxn>
              <a:cxn ang="0">
                <a:pos x="1208" y="14"/>
              </a:cxn>
              <a:cxn ang="0">
                <a:pos x="1247" y="80"/>
              </a:cxn>
              <a:cxn ang="0">
                <a:pos x="1296" y="758"/>
              </a:cxn>
              <a:cxn ang="0">
                <a:pos x="1408" y="1022"/>
              </a:cxn>
              <a:cxn ang="0">
                <a:pos x="1490" y="1082"/>
              </a:cxn>
            </a:cxnLst>
            <a:rect l="0" t="0" r="r" b="b"/>
            <a:pathLst>
              <a:path w="1490" h="1082">
                <a:moveTo>
                  <a:pt x="0" y="1082"/>
                </a:moveTo>
                <a:cubicBezTo>
                  <a:pt x="27" y="1079"/>
                  <a:pt x="92" y="1066"/>
                  <a:pt x="114" y="1056"/>
                </a:cubicBezTo>
                <a:cubicBezTo>
                  <a:pt x="141" y="1052"/>
                  <a:pt x="153" y="1048"/>
                  <a:pt x="174" y="1034"/>
                </a:cubicBezTo>
                <a:cubicBezTo>
                  <a:pt x="251" y="983"/>
                  <a:pt x="264" y="896"/>
                  <a:pt x="291" y="815"/>
                </a:cubicBezTo>
                <a:cubicBezTo>
                  <a:pt x="318" y="734"/>
                  <a:pt x="325" y="658"/>
                  <a:pt x="338" y="573"/>
                </a:cubicBezTo>
                <a:cubicBezTo>
                  <a:pt x="346" y="523"/>
                  <a:pt x="357" y="479"/>
                  <a:pt x="364" y="428"/>
                </a:cubicBezTo>
                <a:cubicBezTo>
                  <a:pt x="372" y="370"/>
                  <a:pt x="383" y="314"/>
                  <a:pt x="401" y="260"/>
                </a:cubicBezTo>
                <a:cubicBezTo>
                  <a:pt x="407" y="242"/>
                  <a:pt x="422" y="228"/>
                  <a:pt x="433" y="213"/>
                </a:cubicBezTo>
                <a:cubicBezTo>
                  <a:pt x="473" y="154"/>
                  <a:pt x="469" y="166"/>
                  <a:pt x="532" y="124"/>
                </a:cubicBezTo>
                <a:cubicBezTo>
                  <a:pt x="552" y="110"/>
                  <a:pt x="583" y="87"/>
                  <a:pt x="607" y="80"/>
                </a:cubicBezTo>
                <a:cubicBezTo>
                  <a:pt x="757" y="30"/>
                  <a:pt x="932" y="42"/>
                  <a:pt x="1084" y="12"/>
                </a:cubicBezTo>
                <a:cubicBezTo>
                  <a:pt x="1124" y="15"/>
                  <a:pt x="1170" y="0"/>
                  <a:pt x="1208" y="14"/>
                </a:cubicBezTo>
                <a:cubicBezTo>
                  <a:pt x="1227" y="21"/>
                  <a:pt x="1239" y="55"/>
                  <a:pt x="1247" y="80"/>
                </a:cubicBezTo>
                <a:cubicBezTo>
                  <a:pt x="1274" y="205"/>
                  <a:pt x="1273" y="593"/>
                  <a:pt x="1296" y="758"/>
                </a:cubicBezTo>
                <a:cubicBezTo>
                  <a:pt x="1323" y="915"/>
                  <a:pt x="1376" y="968"/>
                  <a:pt x="1408" y="1022"/>
                </a:cubicBezTo>
                <a:cubicBezTo>
                  <a:pt x="1440" y="1076"/>
                  <a:pt x="1473" y="1070"/>
                  <a:pt x="1490" y="1082"/>
                </a:cubicBezTo>
              </a:path>
            </a:pathLst>
          </a:custGeom>
          <a:noFill/>
          <a:ln w="9525">
            <a:solidFill>
              <a:schemeClr val="tx1"/>
            </a:solidFill>
            <a:round/>
            <a:headEnd/>
            <a:tailEnd/>
          </a:ln>
          <a:effectLst/>
        </p:spPr>
        <p:txBody>
          <a:bodyPr/>
          <a:lstStyle/>
          <a:p>
            <a:endParaRPr lang="en-US"/>
          </a:p>
        </p:txBody>
      </p:sp>
      <p:sp>
        <p:nvSpPr>
          <p:cNvPr id="68620" name="Freeform 12"/>
          <p:cNvSpPr>
            <a:spLocks/>
          </p:cNvSpPr>
          <p:nvPr/>
        </p:nvSpPr>
        <p:spPr bwMode="auto">
          <a:xfrm>
            <a:off x="6573838" y="4213225"/>
            <a:ext cx="676275" cy="333375"/>
          </a:xfrm>
          <a:custGeom>
            <a:avLst/>
            <a:gdLst/>
            <a:ahLst/>
            <a:cxnLst>
              <a:cxn ang="0">
                <a:pos x="0" y="1082"/>
              </a:cxn>
              <a:cxn ang="0">
                <a:pos x="114" y="1056"/>
              </a:cxn>
              <a:cxn ang="0">
                <a:pos x="174" y="1034"/>
              </a:cxn>
              <a:cxn ang="0">
                <a:pos x="291" y="815"/>
              </a:cxn>
              <a:cxn ang="0">
                <a:pos x="338" y="573"/>
              </a:cxn>
              <a:cxn ang="0">
                <a:pos x="364" y="428"/>
              </a:cxn>
              <a:cxn ang="0">
                <a:pos x="401" y="260"/>
              </a:cxn>
              <a:cxn ang="0">
                <a:pos x="433" y="213"/>
              </a:cxn>
              <a:cxn ang="0">
                <a:pos x="532" y="124"/>
              </a:cxn>
              <a:cxn ang="0">
                <a:pos x="607" y="80"/>
              </a:cxn>
              <a:cxn ang="0">
                <a:pos x="1084" y="12"/>
              </a:cxn>
              <a:cxn ang="0">
                <a:pos x="1208" y="14"/>
              </a:cxn>
              <a:cxn ang="0">
                <a:pos x="1247" y="80"/>
              </a:cxn>
              <a:cxn ang="0">
                <a:pos x="1296" y="758"/>
              </a:cxn>
              <a:cxn ang="0">
                <a:pos x="1408" y="1022"/>
              </a:cxn>
              <a:cxn ang="0">
                <a:pos x="1490" y="1082"/>
              </a:cxn>
            </a:cxnLst>
            <a:rect l="0" t="0" r="r" b="b"/>
            <a:pathLst>
              <a:path w="1490" h="1082">
                <a:moveTo>
                  <a:pt x="0" y="1082"/>
                </a:moveTo>
                <a:cubicBezTo>
                  <a:pt x="27" y="1079"/>
                  <a:pt x="92" y="1066"/>
                  <a:pt x="114" y="1056"/>
                </a:cubicBezTo>
                <a:cubicBezTo>
                  <a:pt x="141" y="1052"/>
                  <a:pt x="153" y="1048"/>
                  <a:pt x="174" y="1034"/>
                </a:cubicBezTo>
                <a:cubicBezTo>
                  <a:pt x="251" y="983"/>
                  <a:pt x="264" y="896"/>
                  <a:pt x="291" y="815"/>
                </a:cubicBezTo>
                <a:cubicBezTo>
                  <a:pt x="318" y="734"/>
                  <a:pt x="325" y="658"/>
                  <a:pt x="338" y="573"/>
                </a:cubicBezTo>
                <a:cubicBezTo>
                  <a:pt x="346" y="523"/>
                  <a:pt x="357" y="479"/>
                  <a:pt x="364" y="428"/>
                </a:cubicBezTo>
                <a:cubicBezTo>
                  <a:pt x="372" y="370"/>
                  <a:pt x="383" y="314"/>
                  <a:pt x="401" y="260"/>
                </a:cubicBezTo>
                <a:cubicBezTo>
                  <a:pt x="407" y="242"/>
                  <a:pt x="422" y="228"/>
                  <a:pt x="433" y="213"/>
                </a:cubicBezTo>
                <a:cubicBezTo>
                  <a:pt x="473" y="154"/>
                  <a:pt x="469" y="166"/>
                  <a:pt x="532" y="124"/>
                </a:cubicBezTo>
                <a:cubicBezTo>
                  <a:pt x="552" y="110"/>
                  <a:pt x="583" y="87"/>
                  <a:pt x="607" y="80"/>
                </a:cubicBezTo>
                <a:cubicBezTo>
                  <a:pt x="757" y="30"/>
                  <a:pt x="932" y="42"/>
                  <a:pt x="1084" y="12"/>
                </a:cubicBezTo>
                <a:cubicBezTo>
                  <a:pt x="1124" y="15"/>
                  <a:pt x="1170" y="0"/>
                  <a:pt x="1208" y="14"/>
                </a:cubicBezTo>
                <a:cubicBezTo>
                  <a:pt x="1227" y="21"/>
                  <a:pt x="1239" y="55"/>
                  <a:pt x="1247" y="80"/>
                </a:cubicBezTo>
                <a:cubicBezTo>
                  <a:pt x="1274" y="205"/>
                  <a:pt x="1273" y="593"/>
                  <a:pt x="1296" y="758"/>
                </a:cubicBezTo>
                <a:cubicBezTo>
                  <a:pt x="1323" y="915"/>
                  <a:pt x="1376" y="968"/>
                  <a:pt x="1408" y="1022"/>
                </a:cubicBezTo>
                <a:cubicBezTo>
                  <a:pt x="1440" y="1076"/>
                  <a:pt x="1473" y="1070"/>
                  <a:pt x="1490" y="1082"/>
                </a:cubicBezTo>
              </a:path>
            </a:pathLst>
          </a:custGeom>
          <a:noFill/>
          <a:ln w="9525">
            <a:solidFill>
              <a:schemeClr val="tx1"/>
            </a:solidFill>
            <a:round/>
            <a:headEnd/>
            <a:tailEnd/>
          </a:ln>
          <a:effectLst/>
        </p:spPr>
        <p:txBody>
          <a:bodyPr/>
          <a:lstStyle/>
          <a:p>
            <a:endParaRPr lang="en-US"/>
          </a:p>
        </p:txBody>
      </p:sp>
      <p:sp>
        <p:nvSpPr>
          <p:cNvPr id="68623" name="Text Box 15"/>
          <p:cNvSpPr txBox="1">
            <a:spLocks noChangeArrowheads="1"/>
          </p:cNvSpPr>
          <p:nvPr/>
        </p:nvSpPr>
        <p:spPr bwMode="auto">
          <a:xfrm>
            <a:off x="3019425" y="5267325"/>
            <a:ext cx="2135188" cy="581025"/>
          </a:xfrm>
          <a:prstGeom prst="rect">
            <a:avLst/>
          </a:prstGeom>
          <a:noFill/>
          <a:ln w="9525">
            <a:noFill/>
            <a:miter lim="800000"/>
            <a:headEnd/>
            <a:tailEnd/>
          </a:ln>
          <a:effectLst/>
        </p:spPr>
        <p:txBody>
          <a:bodyPr>
            <a:spAutoFit/>
          </a:bodyPr>
          <a:lstStyle/>
          <a:p>
            <a:pPr algn="l"/>
            <a:r>
              <a:rPr lang="en-GB" sz="1600"/>
              <a:t>Sudden drop in ET</a:t>
            </a:r>
            <a:r>
              <a:rPr lang="en-GB" sz="1600" baseline="-25000"/>
              <a:t>CO2</a:t>
            </a:r>
          </a:p>
        </p:txBody>
      </p:sp>
      <p:sp>
        <p:nvSpPr>
          <p:cNvPr id="68666" name="Line 58"/>
          <p:cNvSpPr>
            <a:spLocks noChangeShapeType="1"/>
          </p:cNvSpPr>
          <p:nvPr/>
        </p:nvSpPr>
        <p:spPr bwMode="auto">
          <a:xfrm flipH="1">
            <a:off x="1574800" y="3327400"/>
            <a:ext cx="228600" cy="0"/>
          </a:xfrm>
          <a:prstGeom prst="line">
            <a:avLst/>
          </a:prstGeom>
          <a:noFill/>
          <a:ln w="28575">
            <a:solidFill>
              <a:schemeClr val="tx1"/>
            </a:solidFill>
            <a:round/>
            <a:headEnd/>
            <a:tailEnd/>
          </a:ln>
          <a:effectLst/>
        </p:spPr>
        <p:txBody>
          <a:bodyPr/>
          <a:lstStyle/>
          <a:p>
            <a:endParaRPr lang="en-US"/>
          </a:p>
        </p:txBody>
      </p:sp>
      <p:sp>
        <p:nvSpPr>
          <p:cNvPr id="68667" name="Text Box 59"/>
          <p:cNvSpPr txBox="1">
            <a:spLocks noChangeArrowheads="1"/>
          </p:cNvSpPr>
          <p:nvPr/>
        </p:nvSpPr>
        <p:spPr bwMode="auto">
          <a:xfrm>
            <a:off x="1203325" y="3146425"/>
            <a:ext cx="409575" cy="336550"/>
          </a:xfrm>
          <a:prstGeom prst="rect">
            <a:avLst/>
          </a:prstGeom>
          <a:noFill/>
          <a:ln w="9525">
            <a:noFill/>
            <a:miter lim="800000"/>
            <a:headEnd/>
            <a:tailEnd/>
          </a:ln>
          <a:effectLst/>
        </p:spPr>
        <p:txBody>
          <a:bodyPr wrap="none">
            <a:spAutoFit/>
          </a:bodyPr>
          <a:lstStyle/>
          <a:p>
            <a:pPr algn="l"/>
            <a:r>
              <a:rPr lang="en-GB" sz="1600"/>
              <a:t>35</a:t>
            </a:r>
          </a:p>
        </p:txBody>
      </p:sp>
      <p:sp>
        <p:nvSpPr>
          <p:cNvPr id="68672" name="Rectangle 64"/>
          <p:cNvSpPr>
            <a:spLocks noChangeArrowheads="1"/>
          </p:cNvSpPr>
          <p:nvPr/>
        </p:nvSpPr>
        <p:spPr bwMode="auto">
          <a:xfrm>
            <a:off x="1333500" y="609600"/>
            <a:ext cx="7124700" cy="457200"/>
          </a:xfrm>
          <a:prstGeom prst="round2DiagRect">
            <a:avLst/>
          </a:prstGeom>
          <a:solidFill>
            <a:schemeClr val="bg1">
              <a:lumMod val="95000"/>
            </a:schemeClr>
          </a:solidFill>
          <a:ln>
            <a:headEnd/>
            <a:tailEnd/>
          </a:ln>
        </p:spPr>
        <p:style>
          <a:lnRef idx="2">
            <a:schemeClr val="dk1"/>
          </a:lnRef>
          <a:fillRef idx="1">
            <a:schemeClr val="lt1"/>
          </a:fillRef>
          <a:effectRef idx="0">
            <a:schemeClr val="dk1"/>
          </a:effectRef>
          <a:fontRef idx="minor">
            <a:schemeClr val="dk1"/>
          </a:fontRef>
        </p:style>
        <p:txBody>
          <a:bodyPr anchor="ctr"/>
          <a:lstStyle/>
          <a:p>
            <a:pPr algn="l"/>
            <a:r>
              <a:rPr lang="en-GB" sz="2800" dirty="0">
                <a:solidFill>
                  <a:srgbClr val="0070C0"/>
                </a:solidFill>
              </a:rPr>
              <a:t>Sudden loss of cardiac output </a:t>
            </a:r>
            <a:r>
              <a:rPr lang="en-GB" dirty="0">
                <a:solidFill>
                  <a:srgbClr val="0070C0"/>
                </a:solidFill>
              </a:rPr>
              <a:t>(</a:t>
            </a:r>
            <a:r>
              <a:rPr lang="en-GB" dirty="0" err="1">
                <a:solidFill>
                  <a:srgbClr val="0070C0"/>
                </a:solidFill>
              </a:rPr>
              <a:t>eg</a:t>
            </a:r>
            <a:r>
              <a:rPr lang="en-GB" dirty="0">
                <a:solidFill>
                  <a:srgbClr val="0070C0"/>
                </a:solidFill>
              </a:rPr>
              <a:t> pulmonary embolism)</a:t>
            </a:r>
            <a:endParaRPr lang="en-GB" sz="2800" dirty="0">
              <a:solidFill>
                <a:srgbClr val="0070C0"/>
              </a:solidFill>
            </a:endParaRPr>
          </a:p>
        </p:txBody>
      </p:sp>
      <p:sp>
        <p:nvSpPr>
          <p:cNvPr id="68677" name="Line 69"/>
          <p:cNvSpPr>
            <a:spLocks noChangeShapeType="1"/>
          </p:cNvSpPr>
          <p:nvPr/>
        </p:nvSpPr>
        <p:spPr bwMode="auto">
          <a:xfrm flipH="1">
            <a:off x="3733800" y="4267200"/>
            <a:ext cx="266700" cy="889000"/>
          </a:xfrm>
          <a:prstGeom prst="line">
            <a:avLst/>
          </a:prstGeom>
          <a:noFill/>
          <a:ln w="28575">
            <a:solidFill>
              <a:schemeClr val="tx1"/>
            </a:solidFill>
            <a:round/>
            <a:headEnd type="triangle" w="med" len="med"/>
            <a:tailEnd/>
          </a:ln>
          <a:effectLst/>
        </p:spPr>
        <p:txBody>
          <a:bodyPr/>
          <a:lstStyle/>
          <a:p>
            <a:endParaRPr 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338138"/>
            <a:ext cx="3429000" cy="1143000"/>
          </a:xfrm>
        </p:spPr>
        <p:txBody>
          <a:bodyPr/>
          <a:lstStyle/>
          <a:p>
            <a:pPr algn="l"/>
            <a:r>
              <a:rPr lang="en-GB" sz="2400">
                <a:solidFill>
                  <a:schemeClr val="tx1"/>
                </a:solidFill>
              </a:rPr>
              <a:t>Capnography (cont)</a:t>
            </a:r>
          </a:p>
        </p:txBody>
      </p:sp>
      <p:sp>
        <p:nvSpPr>
          <p:cNvPr id="56323" name="Rectangle 3"/>
          <p:cNvSpPr>
            <a:spLocks noGrp="1" noChangeArrowheads="1"/>
          </p:cNvSpPr>
          <p:nvPr>
            <p:ph idx="1"/>
          </p:nvPr>
        </p:nvSpPr>
        <p:spPr>
          <a:xfrm>
            <a:off x="5461000" y="2768600"/>
            <a:ext cx="3213100" cy="2278063"/>
          </a:xfrm>
        </p:spPr>
        <p:txBody>
          <a:bodyPr/>
          <a:lstStyle/>
          <a:p>
            <a:pPr>
              <a:buFontTx/>
              <a:buNone/>
            </a:pPr>
            <a:r>
              <a:rPr lang="en-GB" sz="2400" u="sng" dirty="0"/>
              <a:t>Decreased ET</a:t>
            </a:r>
            <a:r>
              <a:rPr lang="en-GB" sz="2400" u="sng" baseline="-25000" dirty="0"/>
              <a:t>CO2</a:t>
            </a:r>
          </a:p>
          <a:p>
            <a:pPr>
              <a:buFontTx/>
              <a:buNone/>
            </a:pPr>
            <a:r>
              <a:rPr lang="en-GB" sz="2400" dirty="0"/>
              <a:t>Hyperventilation</a:t>
            </a:r>
          </a:p>
          <a:p>
            <a:pPr>
              <a:buFontTx/>
              <a:buNone/>
            </a:pPr>
            <a:r>
              <a:rPr lang="en-GB" sz="2400" dirty="0"/>
              <a:t>Reduced CO	</a:t>
            </a:r>
          </a:p>
          <a:p>
            <a:pPr>
              <a:buFontTx/>
              <a:buNone/>
            </a:pPr>
            <a:r>
              <a:rPr lang="en-GB" sz="2400" dirty="0"/>
              <a:t>Hypothermia</a:t>
            </a:r>
          </a:p>
          <a:p>
            <a:pPr>
              <a:buFontTx/>
              <a:buNone/>
            </a:pPr>
            <a:r>
              <a:rPr lang="en-GB" sz="2400" dirty="0" err="1"/>
              <a:t>Hypometabolism</a:t>
            </a:r>
            <a:endParaRPr lang="en-GB" sz="2400" dirty="0"/>
          </a:p>
        </p:txBody>
      </p:sp>
      <p:sp>
        <p:nvSpPr>
          <p:cNvPr id="56324" name="Rectangle 4"/>
          <p:cNvSpPr>
            <a:spLocks noChangeArrowheads="1"/>
          </p:cNvSpPr>
          <p:nvPr/>
        </p:nvSpPr>
        <p:spPr bwMode="auto">
          <a:xfrm>
            <a:off x="457200" y="1855788"/>
            <a:ext cx="5295900" cy="538162"/>
          </a:xfrm>
          <a:prstGeom prst="rect">
            <a:avLst/>
          </a:prstGeom>
          <a:noFill/>
          <a:ln w="9525">
            <a:noFill/>
            <a:miter lim="800000"/>
            <a:headEnd/>
            <a:tailEnd/>
          </a:ln>
          <a:effectLst/>
        </p:spPr>
        <p:txBody>
          <a:bodyPr/>
          <a:lstStyle/>
          <a:p>
            <a:pPr marL="342900" indent="-342900" algn="l">
              <a:spcBef>
                <a:spcPct val="20000"/>
              </a:spcBef>
            </a:pPr>
            <a:r>
              <a:rPr lang="en-GB" sz="2400" dirty="0" smtClean="0"/>
              <a:t>Summary </a:t>
            </a:r>
            <a:r>
              <a:rPr lang="en-GB" sz="2400" dirty="0"/>
              <a:t>of interpretation</a:t>
            </a:r>
          </a:p>
        </p:txBody>
      </p:sp>
      <p:sp>
        <p:nvSpPr>
          <p:cNvPr id="56325" name="Rectangle 5"/>
          <p:cNvSpPr>
            <a:spLocks noChangeArrowheads="1"/>
          </p:cNvSpPr>
          <p:nvPr/>
        </p:nvSpPr>
        <p:spPr bwMode="auto">
          <a:xfrm>
            <a:off x="457200" y="2768600"/>
            <a:ext cx="5067300" cy="3128963"/>
          </a:xfrm>
          <a:prstGeom prst="rect">
            <a:avLst/>
          </a:prstGeom>
          <a:noFill/>
          <a:ln w="9525">
            <a:noFill/>
            <a:miter lim="800000"/>
            <a:headEnd/>
            <a:tailEnd/>
          </a:ln>
          <a:effectLst/>
        </p:spPr>
        <p:txBody>
          <a:bodyPr/>
          <a:lstStyle/>
          <a:p>
            <a:pPr marL="342900" indent="-342900" algn="l">
              <a:spcBef>
                <a:spcPct val="20000"/>
              </a:spcBef>
            </a:pPr>
            <a:r>
              <a:rPr lang="en-GB" sz="2400" u="sng" dirty="0"/>
              <a:t>Increased ET</a:t>
            </a:r>
            <a:r>
              <a:rPr lang="en-GB" sz="2400" u="sng" baseline="-25000" dirty="0"/>
              <a:t>CO2</a:t>
            </a:r>
            <a:r>
              <a:rPr lang="en-GB" sz="2400" dirty="0"/>
              <a:t>	</a:t>
            </a:r>
            <a:endParaRPr lang="en-GB" sz="2400" u="sng" dirty="0"/>
          </a:p>
          <a:p>
            <a:pPr marL="342900" indent="-342900" algn="l">
              <a:spcBef>
                <a:spcPct val="20000"/>
              </a:spcBef>
            </a:pPr>
            <a:r>
              <a:rPr lang="en-GB" sz="2400" dirty="0"/>
              <a:t>Rebreathing</a:t>
            </a:r>
          </a:p>
          <a:p>
            <a:pPr marL="342900" indent="-342900" algn="l">
              <a:spcBef>
                <a:spcPct val="20000"/>
              </a:spcBef>
            </a:pPr>
            <a:r>
              <a:rPr lang="en-GB" sz="2400" dirty="0"/>
              <a:t>Hypoventilation</a:t>
            </a:r>
          </a:p>
          <a:p>
            <a:pPr marL="342900" indent="-342900" algn="l">
              <a:spcBef>
                <a:spcPct val="20000"/>
              </a:spcBef>
            </a:pPr>
            <a:r>
              <a:rPr lang="en-GB" sz="2400" dirty="0"/>
              <a:t>Increased production</a:t>
            </a:r>
          </a:p>
          <a:p>
            <a:pPr marL="342900" indent="-342900" algn="l">
              <a:spcBef>
                <a:spcPct val="20000"/>
              </a:spcBef>
            </a:pPr>
            <a:r>
              <a:rPr lang="en-GB" sz="2400" dirty="0"/>
              <a:t>		</a:t>
            </a:r>
            <a:r>
              <a:rPr lang="en-GB" sz="2400" dirty="0" smtClean="0"/>
              <a:t>-Sepsis</a:t>
            </a:r>
            <a:endParaRPr lang="en-GB" sz="2400" dirty="0"/>
          </a:p>
          <a:p>
            <a:pPr marL="342900" indent="-342900" algn="l">
              <a:spcBef>
                <a:spcPct val="20000"/>
              </a:spcBef>
            </a:pPr>
            <a:r>
              <a:rPr lang="en-GB" sz="2400" dirty="0"/>
              <a:t>		</a:t>
            </a:r>
            <a:r>
              <a:rPr lang="en-GB" sz="2400" dirty="0" smtClean="0"/>
              <a:t>-Malignant </a:t>
            </a:r>
            <a:r>
              <a:rPr lang="en-GB" sz="2400" dirty="0"/>
              <a:t>hyperthermia</a:t>
            </a:r>
          </a:p>
          <a:p>
            <a:pPr marL="342900" indent="-342900" algn="l">
              <a:spcBef>
                <a:spcPct val="20000"/>
              </a:spcBef>
            </a:pPr>
            <a:r>
              <a:rPr lang="en-GB" sz="2400" dirty="0"/>
              <a:t>		</a:t>
            </a:r>
            <a:r>
              <a:rPr lang="en-GB" sz="2400" dirty="0" smtClean="0"/>
              <a:t>-</a:t>
            </a:r>
            <a:r>
              <a:rPr lang="en-GB" sz="2400" dirty="0" err="1" smtClean="0"/>
              <a:t>Hypermetabolism</a:t>
            </a:r>
            <a:endParaRPr lang="en-GB" sz="2400"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6" name="Rectangle 4"/>
          <p:cNvSpPr>
            <a:spLocks noChangeArrowheads="1"/>
          </p:cNvSpPr>
          <p:nvPr/>
        </p:nvSpPr>
        <p:spPr bwMode="auto">
          <a:xfrm>
            <a:off x="622300" y="279400"/>
            <a:ext cx="4090988" cy="796925"/>
          </a:xfrm>
          <a:prstGeom prst="rect">
            <a:avLst/>
          </a:prstGeom>
          <a:noFill/>
          <a:ln w="9525">
            <a:noFill/>
            <a:miter lim="800000"/>
            <a:headEnd/>
            <a:tailEnd/>
          </a:ln>
          <a:effectLst/>
        </p:spPr>
        <p:txBody>
          <a:bodyPr anchor="ctr"/>
          <a:lstStyle/>
          <a:p>
            <a:pPr algn="l"/>
            <a:r>
              <a:rPr lang="en-GB" sz="2400"/>
              <a:t>Capnography (cont.)</a:t>
            </a:r>
          </a:p>
        </p:txBody>
      </p:sp>
      <p:sp>
        <p:nvSpPr>
          <p:cNvPr id="79877" name="Rectangle 5"/>
          <p:cNvSpPr>
            <a:spLocks noChangeArrowheads="1"/>
          </p:cNvSpPr>
          <p:nvPr/>
        </p:nvSpPr>
        <p:spPr bwMode="auto">
          <a:xfrm>
            <a:off x="635000" y="2362200"/>
            <a:ext cx="7835900" cy="4279900"/>
          </a:xfrm>
          <a:prstGeom prst="rect">
            <a:avLst/>
          </a:prstGeom>
          <a:noFill/>
          <a:ln w="9525">
            <a:noFill/>
            <a:miter lim="800000"/>
            <a:headEnd/>
            <a:tailEnd/>
          </a:ln>
          <a:effectLst/>
        </p:spPr>
        <p:txBody>
          <a:bodyPr/>
          <a:lstStyle/>
          <a:p>
            <a:pPr algn="l">
              <a:lnSpc>
                <a:spcPct val="120000"/>
              </a:lnSpc>
              <a:spcBef>
                <a:spcPct val="20000"/>
              </a:spcBef>
              <a:buFontTx/>
              <a:buChar char="•"/>
            </a:pPr>
            <a:r>
              <a:rPr lang="en-GB" sz="2400" dirty="0" smtClean="0"/>
              <a:t> Components</a:t>
            </a:r>
            <a:endParaRPr lang="en-GB" sz="2400" dirty="0"/>
          </a:p>
          <a:p>
            <a:pPr algn="l">
              <a:lnSpc>
                <a:spcPct val="120000"/>
              </a:lnSpc>
              <a:spcBef>
                <a:spcPct val="20000"/>
              </a:spcBef>
              <a:buFontTx/>
              <a:buChar char="•"/>
            </a:pPr>
            <a:endParaRPr lang="en-GB" sz="2400" dirty="0"/>
          </a:p>
          <a:p>
            <a:pPr algn="l">
              <a:lnSpc>
                <a:spcPct val="120000"/>
              </a:lnSpc>
              <a:spcBef>
                <a:spcPct val="20000"/>
              </a:spcBef>
            </a:pPr>
            <a:r>
              <a:rPr lang="en-GB" sz="2200" dirty="0">
                <a:solidFill>
                  <a:srgbClr val="0070C0"/>
                </a:solidFill>
              </a:rPr>
              <a:t>(1) </a:t>
            </a:r>
            <a:r>
              <a:rPr lang="en-GB" sz="2200" dirty="0" smtClean="0">
                <a:solidFill>
                  <a:srgbClr val="0070C0"/>
                </a:solidFill>
              </a:rPr>
              <a:t>Side stream </a:t>
            </a:r>
            <a:r>
              <a:rPr lang="en-GB" sz="2200" dirty="0"/>
              <a:t>– 1.2mm internal diameter tube made of Teflon (samples 150-200 </a:t>
            </a:r>
            <a:r>
              <a:rPr lang="en-GB" sz="2200" dirty="0" err="1"/>
              <a:t>mL</a:t>
            </a:r>
            <a:r>
              <a:rPr lang="en-GB" sz="2200" dirty="0"/>
              <a:t> / min; often lost from circuit) </a:t>
            </a:r>
          </a:p>
          <a:p>
            <a:pPr algn="l">
              <a:lnSpc>
                <a:spcPct val="120000"/>
              </a:lnSpc>
              <a:spcBef>
                <a:spcPct val="20000"/>
              </a:spcBef>
            </a:pPr>
            <a:endParaRPr lang="en-GB" sz="2200" dirty="0"/>
          </a:p>
          <a:p>
            <a:pPr algn="l">
              <a:lnSpc>
                <a:spcPct val="120000"/>
              </a:lnSpc>
              <a:spcBef>
                <a:spcPct val="20000"/>
              </a:spcBef>
            </a:pPr>
            <a:r>
              <a:rPr lang="en-GB" sz="2200" dirty="0"/>
              <a:t>Connected to patient end (small increase in dead space) then delivers gases to sample chamber</a:t>
            </a:r>
          </a:p>
          <a:p>
            <a:pPr algn="l">
              <a:lnSpc>
                <a:spcPct val="120000"/>
              </a:lnSpc>
              <a:spcBef>
                <a:spcPct val="20000"/>
              </a:spcBef>
            </a:pPr>
            <a:endParaRPr lang="en-GB" sz="2200" dirty="0"/>
          </a:p>
          <a:p>
            <a:pPr algn="l">
              <a:lnSpc>
                <a:spcPct val="120000"/>
              </a:lnSpc>
              <a:spcBef>
                <a:spcPct val="20000"/>
              </a:spcBef>
            </a:pPr>
            <a:r>
              <a:rPr lang="en-GB" sz="2200" dirty="0" err="1" smtClean="0"/>
              <a:t>Disadv</a:t>
            </a:r>
            <a:r>
              <a:rPr lang="en-GB" sz="2200" dirty="0" smtClean="0"/>
              <a:t>-Moisture </a:t>
            </a:r>
            <a:r>
              <a:rPr lang="en-GB" sz="2200" dirty="0"/>
              <a:t>trap with exhaust port</a:t>
            </a:r>
          </a:p>
          <a:p>
            <a:pPr algn="l">
              <a:lnSpc>
                <a:spcPct val="120000"/>
              </a:lnSpc>
              <a:spcBef>
                <a:spcPct val="20000"/>
              </a:spcBef>
            </a:pPr>
            <a:endParaRPr lang="en-GB" sz="2200" dirty="0"/>
          </a:p>
          <a:p>
            <a:pPr algn="l">
              <a:lnSpc>
                <a:spcPct val="120000"/>
              </a:lnSpc>
              <a:spcBef>
                <a:spcPct val="20000"/>
              </a:spcBef>
            </a:pPr>
            <a:r>
              <a:rPr lang="en-GB" sz="2200" dirty="0" err="1"/>
              <a:t>Photodetector</a:t>
            </a:r>
            <a:endParaRPr lang="en-GB" sz="2200" i="1" dirty="0"/>
          </a:p>
        </p:txBody>
      </p:sp>
      <p:pic>
        <p:nvPicPr>
          <p:cNvPr id="4" name="Picture 2" descr="mainstream vs sidestream"/>
          <p:cNvPicPr>
            <a:picLocks noChangeAspect="1" noChangeArrowheads="1"/>
          </p:cNvPicPr>
          <p:nvPr/>
        </p:nvPicPr>
        <p:blipFill>
          <a:blip r:embed="rId2"/>
          <a:srcRect l="47500"/>
          <a:stretch>
            <a:fillRect/>
          </a:stretch>
        </p:blipFill>
        <p:spPr bwMode="auto">
          <a:xfrm>
            <a:off x="4267200" y="0"/>
            <a:ext cx="4800600" cy="3505200"/>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901" name="Rectangle 5"/>
          <p:cNvSpPr>
            <a:spLocks noChangeArrowheads="1"/>
          </p:cNvSpPr>
          <p:nvPr/>
        </p:nvSpPr>
        <p:spPr bwMode="auto">
          <a:xfrm>
            <a:off x="635000" y="2286000"/>
            <a:ext cx="7835900" cy="4356100"/>
          </a:xfrm>
          <a:prstGeom prst="rect">
            <a:avLst/>
          </a:prstGeom>
          <a:noFill/>
          <a:ln w="9525">
            <a:noFill/>
            <a:miter lim="800000"/>
            <a:headEnd/>
            <a:tailEnd/>
          </a:ln>
          <a:effectLst/>
        </p:spPr>
        <p:txBody>
          <a:bodyPr/>
          <a:lstStyle/>
          <a:p>
            <a:pPr algn="l">
              <a:lnSpc>
                <a:spcPct val="115000"/>
              </a:lnSpc>
              <a:spcBef>
                <a:spcPct val="20000"/>
              </a:spcBef>
              <a:buFontTx/>
              <a:buChar char="•"/>
            </a:pPr>
            <a:r>
              <a:rPr lang="en-GB" sz="2400" dirty="0"/>
              <a:t> alternative design</a:t>
            </a:r>
          </a:p>
          <a:p>
            <a:pPr algn="l">
              <a:lnSpc>
                <a:spcPct val="115000"/>
              </a:lnSpc>
              <a:spcBef>
                <a:spcPct val="20000"/>
              </a:spcBef>
              <a:buFontTx/>
              <a:buChar char="•"/>
            </a:pPr>
            <a:endParaRPr lang="en-GB" sz="2400" dirty="0"/>
          </a:p>
          <a:p>
            <a:pPr algn="l">
              <a:lnSpc>
                <a:spcPct val="115000"/>
              </a:lnSpc>
              <a:spcBef>
                <a:spcPct val="20000"/>
              </a:spcBef>
            </a:pPr>
            <a:r>
              <a:rPr lang="en-GB" sz="2400" dirty="0">
                <a:solidFill>
                  <a:srgbClr val="0070C0"/>
                </a:solidFill>
              </a:rPr>
              <a:t>(2) Mainstream </a:t>
            </a:r>
            <a:r>
              <a:rPr lang="en-GB" sz="2400" dirty="0"/>
              <a:t>– </a:t>
            </a:r>
            <a:r>
              <a:rPr lang="en-GB" sz="2400" dirty="0" smtClean="0"/>
              <a:t>Infrared Ray </a:t>
            </a:r>
            <a:r>
              <a:rPr lang="en-GB" sz="2400" dirty="0"/>
              <a:t>source and detector placed on either side of circuit, near patient (with clear plastic tubing)</a:t>
            </a:r>
          </a:p>
          <a:p>
            <a:pPr algn="l">
              <a:lnSpc>
                <a:spcPct val="115000"/>
              </a:lnSpc>
              <a:spcBef>
                <a:spcPct val="20000"/>
              </a:spcBef>
            </a:pPr>
            <a:endParaRPr lang="en-GB" sz="2400" dirty="0"/>
          </a:p>
          <a:p>
            <a:pPr algn="l">
              <a:lnSpc>
                <a:spcPct val="115000"/>
              </a:lnSpc>
              <a:spcBef>
                <a:spcPct val="20000"/>
              </a:spcBef>
            </a:pPr>
            <a:r>
              <a:rPr lang="en-GB" sz="2400" dirty="0"/>
              <a:t>No extraction of gases from circuit</a:t>
            </a:r>
          </a:p>
          <a:p>
            <a:pPr algn="l">
              <a:lnSpc>
                <a:spcPct val="115000"/>
              </a:lnSpc>
              <a:spcBef>
                <a:spcPct val="20000"/>
              </a:spcBef>
            </a:pPr>
            <a:endParaRPr lang="en-GB" sz="2400" dirty="0"/>
          </a:p>
          <a:p>
            <a:pPr algn="l">
              <a:lnSpc>
                <a:spcPct val="115000"/>
              </a:lnSpc>
              <a:spcBef>
                <a:spcPct val="20000"/>
              </a:spcBef>
            </a:pPr>
            <a:r>
              <a:rPr lang="en-GB" sz="2400" dirty="0"/>
              <a:t>Electrical signal from near-patient transducer passed to display unit</a:t>
            </a:r>
            <a:endParaRPr lang="en-GB" sz="2400" i="1" dirty="0"/>
          </a:p>
        </p:txBody>
      </p:sp>
      <p:sp>
        <p:nvSpPr>
          <p:cNvPr id="80902" name="Rectangle 6"/>
          <p:cNvSpPr>
            <a:spLocks noChangeArrowheads="1"/>
          </p:cNvSpPr>
          <p:nvPr/>
        </p:nvSpPr>
        <p:spPr bwMode="auto">
          <a:xfrm>
            <a:off x="622300" y="279400"/>
            <a:ext cx="4090988" cy="796925"/>
          </a:xfrm>
          <a:prstGeom prst="rect">
            <a:avLst/>
          </a:prstGeom>
          <a:noFill/>
          <a:ln w="9525">
            <a:noFill/>
            <a:miter lim="800000"/>
            <a:headEnd/>
            <a:tailEnd/>
          </a:ln>
          <a:effectLst/>
        </p:spPr>
        <p:txBody>
          <a:bodyPr anchor="ctr"/>
          <a:lstStyle/>
          <a:p>
            <a:pPr algn="l"/>
            <a:r>
              <a:rPr lang="en-GB" sz="2400"/>
              <a:t>Capnography (cont.)</a:t>
            </a:r>
          </a:p>
        </p:txBody>
      </p:sp>
      <p:pic>
        <p:nvPicPr>
          <p:cNvPr id="4" name="Picture 2" descr="mainstream vs sidestream"/>
          <p:cNvPicPr>
            <a:picLocks noChangeAspect="1" noChangeArrowheads="1"/>
          </p:cNvPicPr>
          <p:nvPr/>
        </p:nvPicPr>
        <p:blipFill>
          <a:blip r:embed="rId2"/>
          <a:srcRect r="38318"/>
          <a:stretch>
            <a:fillRect/>
          </a:stretch>
        </p:blipFill>
        <p:spPr bwMode="auto">
          <a:xfrm>
            <a:off x="4114800" y="0"/>
            <a:ext cx="5029200" cy="3200400"/>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5" name="Rectangle 5"/>
          <p:cNvSpPr>
            <a:spLocks noChangeArrowheads="1"/>
          </p:cNvSpPr>
          <p:nvPr/>
        </p:nvSpPr>
        <p:spPr bwMode="auto">
          <a:xfrm>
            <a:off x="635000" y="1079500"/>
            <a:ext cx="7835900" cy="685800"/>
          </a:xfrm>
          <a:prstGeom prst="rect">
            <a:avLst/>
          </a:prstGeom>
          <a:noFill/>
          <a:ln w="9525">
            <a:noFill/>
            <a:miter lim="800000"/>
            <a:headEnd/>
            <a:tailEnd/>
          </a:ln>
          <a:effectLst/>
        </p:spPr>
        <p:txBody>
          <a:bodyPr/>
          <a:lstStyle/>
          <a:p>
            <a:pPr algn="l">
              <a:lnSpc>
                <a:spcPct val="115000"/>
              </a:lnSpc>
              <a:spcBef>
                <a:spcPct val="20000"/>
              </a:spcBef>
              <a:buFontTx/>
              <a:buChar char="•"/>
            </a:pPr>
            <a:r>
              <a:rPr lang="en-GB" sz="2400"/>
              <a:t> Sidestream vs mainstream capnography</a:t>
            </a:r>
          </a:p>
        </p:txBody>
      </p:sp>
      <p:sp>
        <p:nvSpPr>
          <p:cNvPr id="81926" name="Rectangle 6"/>
          <p:cNvSpPr>
            <a:spLocks noChangeArrowheads="1"/>
          </p:cNvSpPr>
          <p:nvPr/>
        </p:nvSpPr>
        <p:spPr bwMode="auto">
          <a:xfrm>
            <a:off x="4635500" y="1701800"/>
            <a:ext cx="3365500" cy="685800"/>
          </a:xfrm>
          <a:prstGeom prst="rect">
            <a:avLst/>
          </a:prstGeom>
          <a:noFill/>
          <a:ln w="9525">
            <a:noFill/>
            <a:miter lim="800000"/>
            <a:headEnd/>
            <a:tailEnd/>
          </a:ln>
          <a:effectLst/>
        </p:spPr>
        <p:txBody>
          <a:bodyPr/>
          <a:lstStyle/>
          <a:p>
            <a:pPr>
              <a:lnSpc>
                <a:spcPct val="115000"/>
              </a:lnSpc>
              <a:spcBef>
                <a:spcPct val="20000"/>
              </a:spcBef>
            </a:pPr>
            <a:r>
              <a:rPr lang="en-GB" sz="2400" u="sng" dirty="0">
                <a:solidFill>
                  <a:srgbClr val="0070C0"/>
                </a:solidFill>
              </a:rPr>
              <a:t>M</a:t>
            </a:r>
            <a:r>
              <a:rPr lang="en-GB" sz="2400" u="sng" dirty="0" smtClean="0">
                <a:solidFill>
                  <a:srgbClr val="0070C0"/>
                </a:solidFill>
              </a:rPr>
              <a:t>ainstream</a:t>
            </a:r>
            <a:endParaRPr lang="en-GB" sz="2400" u="sng" dirty="0">
              <a:solidFill>
                <a:srgbClr val="0070C0"/>
              </a:solidFill>
            </a:endParaRPr>
          </a:p>
        </p:txBody>
      </p:sp>
      <p:sp>
        <p:nvSpPr>
          <p:cNvPr id="81927" name="Rectangle 7"/>
          <p:cNvSpPr>
            <a:spLocks noChangeArrowheads="1"/>
          </p:cNvSpPr>
          <p:nvPr/>
        </p:nvSpPr>
        <p:spPr bwMode="auto">
          <a:xfrm>
            <a:off x="685800" y="1701800"/>
            <a:ext cx="3365500" cy="685800"/>
          </a:xfrm>
          <a:prstGeom prst="rect">
            <a:avLst/>
          </a:prstGeom>
          <a:noFill/>
          <a:ln w="9525">
            <a:noFill/>
            <a:miter lim="800000"/>
            <a:headEnd/>
            <a:tailEnd/>
          </a:ln>
          <a:effectLst/>
        </p:spPr>
        <p:txBody>
          <a:bodyPr/>
          <a:lstStyle/>
          <a:p>
            <a:pPr>
              <a:lnSpc>
                <a:spcPct val="115000"/>
              </a:lnSpc>
              <a:spcBef>
                <a:spcPct val="20000"/>
              </a:spcBef>
            </a:pPr>
            <a:r>
              <a:rPr lang="en-GB" sz="2400" u="sng" dirty="0" smtClean="0">
                <a:solidFill>
                  <a:srgbClr val="0070C0"/>
                </a:solidFill>
              </a:rPr>
              <a:t>Side stream</a:t>
            </a:r>
            <a:endParaRPr lang="en-GB" sz="2400" u="sng" dirty="0">
              <a:solidFill>
                <a:srgbClr val="0070C0"/>
              </a:solidFill>
            </a:endParaRPr>
          </a:p>
        </p:txBody>
      </p:sp>
      <p:sp>
        <p:nvSpPr>
          <p:cNvPr id="81928" name="Rectangle 8"/>
          <p:cNvSpPr>
            <a:spLocks noChangeArrowheads="1"/>
          </p:cNvSpPr>
          <p:nvPr/>
        </p:nvSpPr>
        <p:spPr bwMode="auto">
          <a:xfrm>
            <a:off x="4635500" y="2582863"/>
            <a:ext cx="3365500" cy="685800"/>
          </a:xfrm>
          <a:prstGeom prst="rect">
            <a:avLst/>
          </a:prstGeom>
          <a:noFill/>
          <a:ln w="9525">
            <a:noFill/>
            <a:miter lim="800000"/>
            <a:headEnd/>
            <a:tailEnd/>
          </a:ln>
          <a:effectLst/>
        </p:spPr>
        <p:txBody>
          <a:bodyPr/>
          <a:lstStyle/>
          <a:p>
            <a:pPr>
              <a:lnSpc>
                <a:spcPct val="115000"/>
              </a:lnSpc>
              <a:spcBef>
                <a:spcPct val="20000"/>
              </a:spcBef>
            </a:pPr>
            <a:r>
              <a:rPr lang="en-GB" sz="1800" dirty="0"/>
              <a:t>CO</a:t>
            </a:r>
            <a:r>
              <a:rPr lang="en-GB" sz="1800" baseline="-25000" dirty="0"/>
              <a:t>2</a:t>
            </a:r>
            <a:r>
              <a:rPr lang="en-GB" sz="1800" dirty="0"/>
              <a:t> measurement only</a:t>
            </a:r>
          </a:p>
        </p:txBody>
      </p:sp>
      <p:sp>
        <p:nvSpPr>
          <p:cNvPr id="81929" name="Rectangle 9"/>
          <p:cNvSpPr>
            <a:spLocks noChangeArrowheads="1"/>
          </p:cNvSpPr>
          <p:nvPr/>
        </p:nvSpPr>
        <p:spPr bwMode="auto">
          <a:xfrm>
            <a:off x="685800" y="2579688"/>
            <a:ext cx="3365500" cy="685800"/>
          </a:xfrm>
          <a:prstGeom prst="rect">
            <a:avLst/>
          </a:prstGeom>
          <a:noFill/>
          <a:ln w="9525">
            <a:noFill/>
            <a:miter lim="800000"/>
            <a:headEnd/>
            <a:tailEnd/>
          </a:ln>
          <a:effectLst/>
        </p:spPr>
        <p:txBody>
          <a:bodyPr/>
          <a:lstStyle/>
          <a:p>
            <a:pPr>
              <a:lnSpc>
                <a:spcPct val="115000"/>
              </a:lnSpc>
              <a:spcBef>
                <a:spcPct val="20000"/>
              </a:spcBef>
            </a:pPr>
            <a:r>
              <a:rPr lang="en-GB" sz="1800"/>
              <a:t>Multiple gases can be analysed (O</a:t>
            </a:r>
            <a:r>
              <a:rPr lang="en-GB" sz="1800" baseline="-25000"/>
              <a:t>2</a:t>
            </a:r>
            <a:r>
              <a:rPr lang="en-GB" sz="1800"/>
              <a:t>, volatile, N</a:t>
            </a:r>
            <a:r>
              <a:rPr lang="en-GB" sz="1800" baseline="-25000"/>
              <a:t>2</a:t>
            </a:r>
            <a:r>
              <a:rPr lang="en-GB" sz="1800"/>
              <a:t>0)</a:t>
            </a:r>
          </a:p>
        </p:txBody>
      </p:sp>
      <p:sp>
        <p:nvSpPr>
          <p:cNvPr id="81931" name="Rectangle 11"/>
          <p:cNvSpPr>
            <a:spLocks noChangeArrowheads="1"/>
          </p:cNvSpPr>
          <p:nvPr/>
        </p:nvSpPr>
        <p:spPr bwMode="auto">
          <a:xfrm>
            <a:off x="4635500" y="3463925"/>
            <a:ext cx="3365500" cy="495300"/>
          </a:xfrm>
          <a:prstGeom prst="rect">
            <a:avLst/>
          </a:prstGeom>
          <a:noFill/>
          <a:ln w="9525">
            <a:noFill/>
            <a:miter lim="800000"/>
            <a:headEnd/>
            <a:tailEnd/>
          </a:ln>
          <a:effectLst/>
        </p:spPr>
        <p:txBody>
          <a:bodyPr/>
          <a:lstStyle/>
          <a:p>
            <a:pPr>
              <a:lnSpc>
                <a:spcPct val="115000"/>
              </a:lnSpc>
              <a:spcBef>
                <a:spcPct val="20000"/>
              </a:spcBef>
            </a:pPr>
            <a:r>
              <a:rPr lang="en-GB" sz="1800"/>
              <a:t>Virtually instantaneous</a:t>
            </a:r>
          </a:p>
        </p:txBody>
      </p:sp>
      <p:sp>
        <p:nvSpPr>
          <p:cNvPr id="81932" name="Rectangle 12"/>
          <p:cNvSpPr>
            <a:spLocks noChangeArrowheads="1"/>
          </p:cNvSpPr>
          <p:nvPr/>
        </p:nvSpPr>
        <p:spPr bwMode="auto">
          <a:xfrm>
            <a:off x="685800" y="3459163"/>
            <a:ext cx="3365500" cy="508000"/>
          </a:xfrm>
          <a:prstGeom prst="rect">
            <a:avLst/>
          </a:prstGeom>
          <a:noFill/>
          <a:ln w="9525">
            <a:noFill/>
            <a:miter lim="800000"/>
            <a:headEnd/>
            <a:tailEnd/>
          </a:ln>
          <a:effectLst/>
        </p:spPr>
        <p:txBody>
          <a:bodyPr/>
          <a:lstStyle/>
          <a:p>
            <a:pPr>
              <a:lnSpc>
                <a:spcPct val="115000"/>
              </a:lnSpc>
              <a:spcBef>
                <a:spcPct val="20000"/>
              </a:spcBef>
            </a:pPr>
            <a:r>
              <a:rPr lang="en-GB" sz="1800"/>
              <a:t>Delay in display output</a:t>
            </a:r>
          </a:p>
        </p:txBody>
      </p:sp>
      <p:sp>
        <p:nvSpPr>
          <p:cNvPr id="81933" name="Rectangle 13"/>
          <p:cNvSpPr>
            <a:spLocks noChangeArrowheads="1"/>
          </p:cNvSpPr>
          <p:nvPr/>
        </p:nvSpPr>
        <p:spPr bwMode="auto">
          <a:xfrm>
            <a:off x="4635500" y="4154488"/>
            <a:ext cx="3365500" cy="685800"/>
          </a:xfrm>
          <a:prstGeom prst="rect">
            <a:avLst/>
          </a:prstGeom>
          <a:noFill/>
          <a:ln w="9525">
            <a:noFill/>
            <a:miter lim="800000"/>
            <a:headEnd/>
            <a:tailEnd/>
          </a:ln>
          <a:effectLst/>
        </p:spPr>
        <p:txBody>
          <a:bodyPr/>
          <a:lstStyle/>
          <a:p>
            <a:pPr>
              <a:lnSpc>
                <a:spcPct val="115000"/>
              </a:lnSpc>
              <a:spcBef>
                <a:spcPct val="20000"/>
              </a:spcBef>
            </a:pPr>
            <a:r>
              <a:rPr lang="en-GB" sz="1800"/>
              <a:t>Any leaks obvious</a:t>
            </a:r>
          </a:p>
        </p:txBody>
      </p:sp>
      <p:sp>
        <p:nvSpPr>
          <p:cNvPr id="81934" name="Rectangle 14"/>
          <p:cNvSpPr>
            <a:spLocks noChangeArrowheads="1"/>
          </p:cNvSpPr>
          <p:nvPr/>
        </p:nvSpPr>
        <p:spPr bwMode="auto">
          <a:xfrm>
            <a:off x="685800" y="4159250"/>
            <a:ext cx="3365500" cy="685800"/>
          </a:xfrm>
          <a:prstGeom prst="rect">
            <a:avLst/>
          </a:prstGeom>
          <a:noFill/>
          <a:ln w="9525">
            <a:noFill/>
            <a:miter lim="800000"/>
            <a:headEnd/>
            <a:tailEnd/>
          </a:ln>
          <a:effectLst/>
        </p:spPr>
        <p:txBody>
          <a:bodyPr/>
          <a:lstStyle/>
          <a:p>
            <a:pPr>
              <a:lnSpc>
                <a:spcPct val="115000"/>
              </a:lnSpc>
              <a:spcBef>
                <a:spcPct val="20000"/>
              </a:spcBef>
            </a:pPr>
            <a:r>
              <a:rPr lang="en-GB" sz="1800"/>
              <a:t>Can give subtle (hard to detect) leak</a:t>
            </a:r>
          </a:p>
        </p:txBody>
      </p:sp>
      <p:sp>
        <p:nvSpPr>
          <p:cNvPr id="81935" name="Rectangle 15"/>
          <p:cNvSpPr>
            <a:spLocks noChangeArrowheads="1"/>
          </p:cNvSpPr>
          <p:nvPr/>
        </p:nvSpPr>
        <p:spPr bwMode="auto">
          <a:xfrm>
            <a:off x="4635500" y="5035550"/>
            <a:ext cx="3365500" cy="685800"/>
          </a:xfrm>
          <a:prstGeom prst="rect">
            <a:avLst/>
          </a:prstGeom>
          <a:noFill/>
          <a:ln w="9525">
            <a:noFill/>
            <a:miter lim="800000"/>
            <a:headEnd/>
            <a:tailEnd/>
          </a:ln>
          <a:effectLst/>
        </p:spPr>
        <p:txBody>
          <a:bodyPr/>
          <a:lstStyle/>
          <a:p>
            <a:pPr>
              <a:lnSpc>
                <a:spcPct val="115000"/>
              </a:lnSpc>
              <a:spcBef>
                <a:spcPct val="20000"/>
              </a:spcBef>
            </a:pPr>
            <a:r>
              <a:rPr lang="en-GB" sz="1800"/>
              <a:t>Sensor close to patient and vulnerable to damage</a:t>
            </a:r>
          </a:p>
        </p:txBody>
      </p:sp>
      <p:sp>
        <p:nvSpPr>
          <p:cNvPr id="81936" name="Rectangle 16"/>
          <p:cNvSpPr>
            <a:spLocks noChangeArrowheads="1"/>
          </p:cNvSpPr>
          <p:nvPr/>
        </p:nvSpPr>
        <p:spPr bwMode="auto">
          <a:xfrm>
            <a:off x="685800" y="5038725"/>
            <a:ext cx="3365500" cy="685800"/>
          </a:xfrm>
          <a:prstGeom prst="rect">
            <a:avLst/>
          </a:prstGeom>
          <a:noFill/>
          <a:ln w="9525">
            <a:noFill/>
            <a:miter lim="800000"/>
            <a:headEnd/>
            <a:tailEnd/>
          </a:ln>
          <a:effectLst/>
        </p:spPr>
        <p:txBody>
          <a:bodyPr/>
          <a:lstStyle/>
          <a:p>
            <a:pPr>
              <a:lnSpc>
                <a:spcPct val="115000"/>
              </a:lnSpc>
              <a:spcBef>
                <a:spcPct val="20000"/>
              </a:spcBef>
            </a:pPr>
            <a:r>
              <a:rPr lang="en-GB" sz="1800"/>
              <a:t>Sensor damage less common</a:t>
            </a:r>
          </a:p>
        </p:txBody>
      </p:sp>
      <p:sp>
        <p:nvSpPr>
          <p:cNvPr id="81937" name="Rectangle 17"/>
          <p:cNvSpPr>
            <a:spLocks noChangeArrowheads="1"/>
          </p:cNvSpPr>
          <p:nvPr/>
        </p:nvSpPr>
        <p:spPr bwMode="auto">
          <a:xfrm>
            <a:off x="4635500" y="5918200"/>
            <a:ext cx="3365500" cy="685800"/>
          </a:xfrm>
          <a:prstGeom prst="rect">
            <a:avLst/>
          </a:prstGeom>
          <a:noFill/>
          <a:ln w="9525">
            <a:noFill/>
            <a:miter lim="800000"/>
            <a:headEnd/>
            <a:tailEnd/>
          </a:ln>
          <a:effectLst/>
        </p:spPr>
        <p:txBody>
          <a:bodyPr/>
          <a:lstStyle/>
          <a:p>
            <a:pPr>
              <a:lnSpc>
                <a:spcPct val="115000"/>
              </a:lnSpc>
              <a:spcBef>
                <a:spcPct val="20000"/>
              </a:spcBef>
            </a:pPr>
            <a:r>
              <a:rPr lang="en-GB" sz="1800" dirty="0"/>
              <a:t>Only used with breathing circuit</a:t>
            </a:r>
          </a:p>
        </p:txBody>
      </p:sp>
      <p:sp>
        <p:nvSpPr>
          <p:cNvPr id="81938" name="Rectangle 18"/>
          <p:cNvSpPr>
            <a:spLocks noChangeArrowheads="1"/>
          </p:cNvSpPr>
          <p:nvPr/>
        </p:nvSpPr>
        <p:spPr bwMode="auto">
          <a:xfrm>
            <a:off x="685800" y="5918200"/>
            <a:ext cx="3365500" cy="685800"/>
          </a:xfrm>
          <a:prstGeom prst="rect">
            <a:avLst/>
          </a:prstGeom>
          <a:noFill/>
          <a:ln w="9525">
            <a:noFill/>
            <a:miter lim="800000"/>
            <a:headEnd/>
            <a:tailEnd/>
          </a:ln>
          <a:effectLst/>
        </p:spPr>
        <p:txBody>
          <a:bodyPr/>
          <a:lstStyle/>
          <a:p>
            <a:pPr>
              <a:lnSpc>
                <a:spcPct val="115000"/>
              </a:lnSpc>
              <a:spcBef>
                <a:spcPct val="20000"/>
              </a:spcBef>
            </a:pPr>
            <a:r>
              <a:rPr lang="en-GB" sz="1800"/>
              <a:t>Can be used with nasal prongs / face mask</a:t>
            </a:r>
          </a:p>
        </p:txBody>
      </p:sp>
      <p:sp>
        <p:nvSpPr>
          <p:cNvPr id="81939" name="Rectangle 19"/>
          <p:cNvSpPr>
            <a:spLocks noChangeArrowheads="1"/>
          </p:cNvSpPr>
          <p:nvPr/>
        </p:nvSpPr>
        <p:spPr bwMode="auto">
          <a:xfrm>
            <a:off x="622300" y="279400"/>
            <a:ext cx="4090988" cy="796925"/>
          </a:xfrm>
          <a:prstGeom prst="rect">
            <a:avLst/>
          </a:prstGeom>
          <a:noFill/>
          <a:ln w="9525">
            <a:noFill/>
            <a:miter lim="800000"/>
            <a:headEnd/>
            <a:tailEnd/>
          </a:ln>
          <a:effectLst/>
        </p:spPr>
        <p:txBody>
          <a:bodyPr anchor="ctr"/>
          <a:lstStyle/>
          <a:p>
            <a:pPr algn="l"/>
            <a:r>
              <a:rPr lang="en-GB" sz="2400"/>
              <a:t>Capnography (cont.)</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495300" y="1346200"/>
            <a:ext cx="2933700" cy="500063"/>
          </a:xfrm>
        </p:spPr>
        <p:txBody>
          <a:bodyPr/>
          <a:lstStyle/>
          <a:p>
            <a:pPr>
              <a:buFontTx/>
              <a:buNone/>
            </a:pPr>
            <a:r>
              <a:rPr lang="en-GB" sz="2400"/>
              <a:t>General limitations</a:t>
            </a:r>
          </a:p>
        </p:txBody>
      </p:sp>
      <p:sp>
        <p:nvSpPr>
          <p:cNvPr id="55300" name="Rectangle 4"/>
          <p:cNvSpPr>
            <a:spLocks noChangeArrowheads="1"/>
          </p:cNvSpPr>
          <p:nvPr/>
        </p:nvSpPr>
        <p:spPr bwMode="auto">
          <a:xfrm>
            <a:off x="469900" y="2057400"/>
            <a:ext cx="8229600" cy="4297363"/>
          </a:xfrm>
          <a:prstGeom prst="rect">
            <a:avLst/>
          </a:prstGeom>
          <a:noFill/>
          <a:ln w="9525">
            <a:noFill/>
            <a:miter lim="800000"/>
            <a:headEnd/>
            <a:tailEnd/>
          </a:ln>
          <a:effectLst/>
        </p:spPr>
        <p:txBody>
          <a:bodyPr/>
          <a:lstStyle/>
          <a:p>
            <a:pPr marL="342900" indent="-342900" algn="l">
              <a:lnSpc>
                <a:spcPct val="120000"/>
              </a:lnSpc>
              <a:spcBef>
                <a:spcPct val="20000"/>
              </a:spcBef>
            </a:pPr>
            <a:r>
              <a:rPr lang="en-GB" sz="2400" dirty="0"/>
              <a:t>ET</a:t>
            </a:r>
            <a:r>
              <a:rPr lang="en-GB" sz="2400" baseline="-25000" dirty="0"/>
              <a:t>CO2</a:t>
            </a:r>
            <a:r>
              <a:rPr lang="en-GB" sz="2400" dirty="0"/>
              <a:t> may not reflect Pa</a:t>
            </a:r>
            <a:r>
              <a:rPr lang="en-GB" sz="2400" baseline="-25000" dirty="0"/>
              <a:t>CO2</a:t>
            </a:r>
          </a:p>
          <a:p>
            <a:pPr marL="342900" indent="-342900" algn="l">
              <a:lnSpc>
                <a:spcPct val="120000"/>
              </a:lnSpc>
              <a:spcBef>
                <a:spcPct val="20000"/>
              </a:spcBef>
            </a:pPr>
            <a:r>
              <a:rPr lang="en-GB" sz="2400" dirty="0"/>
              <a:t>	- COPD (trace still rising at onset of inspiration)</a:t>
            </a:r>
          </a:p>
          <a:p>
            <a:pPr marL="342900" indent="-342900" algn="l">
              <a:lnSpc>
                <a:spcPct val="120000"/>
              </a:lnSpc>
              <a:spcBef>
                <a:spcPct val="20000"/>
              </a:spcBef>
            </a:pPr>
            <a:r>
              <a:rPr lang="en-GB" sz="2400" dirty="0"/>
              <a:t>	- sudden changes in cardiac output</a:t>
            </a:r>
          </a:p>
          <a:p>
            <a:pPr marL="342900" indent="-342900" algn="l">
              <a:lnSpc>
                <a:spcPct val="120000"/>
              </a:lnSpc>
              <a:spcBef>
                <a:spcPct val="20000"/>
              </a:spcBef>
            </a:pPr>
            <a:r>
              <a:rPr lang="en-GB" sz="2400" dirty="0"/>
              <a:t>	- significant parenchymal lung disease (diffusion barrier)</a:t>
            </a:r>
          </a:p>
          <a:p>
            <a:pPr marL="342900" indent="-342900" algn="l">
              <a:lnSpc>
                <a:spcPct val="120000"/>
              </a:lnSpc>
              <a:spcBef>
                <a:spcPct val="20000"/>
              </a:spcBef>
            </a:pPr>
            <a:r>
              <a:rPr lang="en-GB" sz="2400" dirty="0"/>
              <a:t>Difficulties in paediatric patients (small volumes, high rate)</a:t>
            </a:r>
          </a:p>
          <a:p>
            <a:pPr marL="342900" indent="-342900" algn="l">
              <a:lnSpc>
                <a:spcPct val="120000"/>
              </a:lnSpc>
              <a:spcBef>
                <a:spcPct val="20000"/>
              </a:spcBef>
            </a:pPr>
            <a:r>
              <a:rPr lang="en-GB" sz="2400" dirty="0"/>
              <a:t>N</a:t>
            </a:r>
            <a:r>
              <a:rPr lang="en-GB" sz="2400" baseline="-25000" dirty="0"/>
              <a:t>2</a:t>
            </a:r>
            <a:r>
              <a:rPr lang="en-GB" sz="2400" dirty="0"/>
              <a:t>O use may cause interference</a:t>
            </a:r>
          </a:p>
          <a:p>
            <a:pPr marL="342900" indent="-342900" algn="l">
              <a:lnSpc>
                <a:spcPct val="120000"/>
              </a:lnSpc>
              <a:spcBef>
                <a:spcPct val="20000"/>
              </a:spcBef>
            </a:pPr>
            <a:r>
              <a:rPr lang="en-GB" sz="2400" dirty="0"/>
              <a:t>		- similar absorption spectra</a:t>
            </a:r>
          </a:p>
          <a:p>
            <a:pPr marL="342900" indent="-342900" algn="l">
              <a:lnSpc>
                <a:spcPct val="120000"/>
              </a:lnSpc>
              <a:spcBef>
                <a:spcPct val="20000"/>
              </a:spcBef>
            </a:pPr>
            <a:r>
              <a:rPr lang="en-GB" sz="2400" dirty="0"/>
              <a:t>	</a:t>
            </a:r>
          </a:p>
        </p:txBody>
      </p:sp>
      <p:sp>
        <p:nvSpPr>
          <p:cNvPr id="55304" name="Rectangle 8"/>
          <p:cNvSpPr>
            <a:spLocks noChangeArrowheads="1"/>
          </p:cNvSpPr>
          <p:nvPr/>
        </p:nvSpPr>
        <p:spPr bwMode="auto">
          <a:xfrm>
            <a:off x="622300" y="279400"/>
            <a:ext cx="4090988" cy="796925"/>
          </a:xfrm>
          <a:prstGeom prst="rect">
            <a:avLst/>
          </a:prstGeom>
          <a:noFill/>
          <a:ln w="9525">
            <a:noFill/>
            <a:miter lim="800000"/>
            <a:headEnd/>
            <a:tailEnd/>
          </a:ln>
          <a:effectLst/>
        </p:spPr>
        <p:txBody>
          <a:bodyPr anchor="ctr"/>
          <a:lstStyle/>
          <a:p>
            <a:pPr algn="l"/>
            <a:r>
              <a:rPr lang="en-GB" sz="2400"/>
              <a:t>Capnography (cont.)</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533400"/>
            <a:ext cx="5346192" cy="533400"/>
          </a:xfrm>
          <a:prstGeom prst="round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a:noAutofit/>
          </a:bodyPr>
          <a:lstStyle/>
          <a:p>
            <a:r>
              <a:rPr lang="en-US" sz="2800" dirty="0" smtClean="0">
                <a:solidFill>
                  <a:srgbClr val="0070C0"/>
                </a:solidFill>
                <a:effectLst/>
              </a:rPr>
              <a:t>Pulse Oximetry or Capnography?</a:t>
            </a:r>
            <a:endParaRPr lang="en-US" sz="2800" dirty="0">
              <a:solidFill>
                <a:srgbClr val="0070C0"/>
              </a:solidFill>
              <a:effectLst/>
            </a:endParaRPr>
          </a:p>
        </p:txBody>
      </p:sp>
      <p:sp>
        <p:nvSpPr>
          <p:cNvPr id="3" name="Content Placeholder 2"/>
          <p:cNvSpPr>
            <a:spLocks noGrp="1"/>
          </p:cNvSpPr>
          <p:nvPr>
            <p:ph idx="1"/>
          </p:nvPr>
        </p:nvSpPr>
        <p:spPr>
          <a:xfrm>
            <a:off x="990600" y="1447800"/>
            <a:ext cx="7943088" cy="5257800"/>
          </a:xfrm>
        </p:spPr>
        <p:txBody>
          <a:bodyPr>
            <a:normAutofit/>
          </a:bodyPr>
          <a:lstStyle/>
          <a:p>
            <a:pPr marL="457200" indent="-457200">
              <a:buFont typeface="Courier New" pitchFamily="49" charset="0"/>
              <a:buChar char="o"/>
            </a:pPr>
            <a:r>
              <a:rPr lang="en-US" sz="2400" dirty="0" smtClean="0"/>
              <a:t>Capnographs monitor ventilation whereas pulseoximeters monitor oxygen saturation.</a:t>
            </a:r>
          </a:p>
          <a:p>
            <a:pPr marL="457200" indent="-457200">
              <a:buFont typeface="Courier New" pitchFamily="49" charset="0"/>
              <a:buChar char="o"/>
            </a:pPr>
            <a:r>
              <a:rPr lang="en-US" sz="2400" dirty="0" smtClean="0"/>
              <a:t>With Capnography, </a:t>
            </a:r>
            <a:r>
              <a:rPr lang="en-US" sz="2400" dirty="0" smtClean="0">
                <a:solidFill>
                  <a:srgbClr val="0070C0"/>
                </a:solidFill>
              </a:rPr>
              <a:t>apnea periods in the patient are reflected immediately</a:t>
            </a:r>
            <a:r>
              <a:rPr lang="en-US" sz="2400" dirty="0" smtClean="0"/>
              <a:t> on occurrence with breath-to-breath feedback; by contrast, pulse oximetry has a lag time during breath-to-breath changes. </a:t>
            </a:r>
          </a:p>
          <a:p>
            <a:pPr marL="457200" indent="-457200">
              <a:buFont typeface="Courier New" pitchFamily="49" charset="0"/>
              <a:buChar char="o"/>
            </a:pPr>
            <a:r>
              <a:rPr lang="en-US" sz="2400" dirty="0" smtClean="0"/>
              <a:t>Because a patient often is given supplemental oxygen, this actually may mask an apnic event keeping the oxygen saturation artificially high during apnic episodes. </a:t>
            </a:r>
          </a:p>
          <a:p>
            <a:pPr marL="457200" indent="-457200">
              <a:buFont typeface="Courier New" pitchFamily="49" charset="0"/>
              <a:buChar char="o"/>
            </a:pPr>
            <a:r>
              <a:rPr lang="en-US" sz="2400" dirty="0" smtClean="0"/>
              <a:t>Best practice: to use pulse oximetry in conjunction with Capnography to understand the patient’s overall status.</a:t>
            </a:r>
            <a:endParaRPr lang="en-US" sz="24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62000"/>
            <a:ext cx="4584192" cy="457200"/>
          </a:xfrm>
        </p:spPr>
        <p:txBody>
          <a:bodyPr>
            <a:noAutofit/>
          </a:bodyPr>
          <a:lstStyle/>
          <a:p>
            <a:r>
              <a:rPr lang="en-US" sz="3200" dirty="0" smtClean="0">
                <a:solidFill>
                  <a:srgbClr val="0070C0"/>
                </a:solidFill>
              </a:rPr>
              <a:t>Anesthetic Monitoring </a:t>
            </a:r>
            <a:endParaRPr lang="en-US" sz="3200" dirty="0">
              <a:solidFill>
                <a:srgbClr val="0070C0"/>
              </a:solidFill>
            </a:endParaRPr>
          </a:p>
        </p:txBody>
      </p:sp>
      <p:sp>
        <p:nvSpPr>
          <p:cNvPr id="4" name="Text Box 2"/>
          <p:cNvSpPr txBox="1">
            <a:spLocks noChangeArrowheads="1"/>
          </p:cNvSpPr>
          <p:nvPr/>
        </p:nvSpPr>
        <p:spPr bwMode="auto">
          <a:xfrm>
            <a:off x="1611312" y="1423989"/>
            <a:ext cx="5399088" cy="4662815"/>
          </a:xfrm>
          <a:prstGeom prst="rect">
            <a:avLst/>
          </a:prstGeom>
          <a:noFill/>
          <a:ln w="9525">
            <a:noFill/>
            <a:miter lim="800000"/>
            <a:headEnd/>
            <a:tailEnd/>
          </a:ln>
          <a:effectLst/>
        </p:spPr>
        <p:txBody>
          <a:bodyPr wrap="square">
            <a:spAutoFit/>
          </a:bodyPr>
          <a:lstStyle/>
          <a:p>
            <a:pPr marL="360363" indent="-360363" algn="l">
              <a:lnSpc>
                <a:spcPct val="150000"/>
              </a:lnSpc>
              <a:buFontTx/>
              <a:buChar char="•"/>
            </a:pPr>
            <a:r>
              <a:rPr lang="en-GB" sz="2200" dirty="0" smtClean="0">
                <a:solidFill>
                  <a:srgbClr val="FF0000"/>
                </a:solidFill>
              </a:rPr>
              <a:t>Clinical monitoring</a:t>
            </a:r>
          </a:p>
          <a:p>
            <a:pPr marL="360363" indent="-360363" algn="l">
              <a:lnSpc>
                <a:spcPct val="150000"/>
              </a:lnSpc>
              <a:buFontTx/>
              <a:buChar char="•"/>
            </a:pPr>
            <a:r>
              <a:rPr lang="en-GB" sz="2200" dirty="0" smtClean="0">
                <a:solidFill>
                  <a:srgbClr val="FF0000"/>
                </a:solidFill>
              </a:rPr>
              <a:t>Pulseoxymetry </a:t>
            </a:r>
          </a:p>
          <a:p>
            <a:pPr marL="360363" indent="-360363">
              <a:lnSpc>
                <a:spcPct val="150000"/>
              </a:lnSpc>
              <a:buFontTx/>
              <a:buChar char="•"/>
            </a:pPr>
            <a:r>
              <a:rPr lang="en-US" sz="2200" dirty="0" smtClean="0">
                <a:solidFill>
                  <a:srgbClr val="FF0000"/>
                </a:solidFill>
              </a:rPr>
              <a:t>Capnography </a:t>
            </a:r>
          </a:p>
          <a:p>
            <a:pPr marL="360363" indent="-360363">
              <a:lnSpc>
                <a:spcPct val="150000"/>
              </a:lnSpc>
              <a:buFontTx/>
              <a:buChar char="•"/>
            </a:pPr>
            <a:r>
              <a:rPr lang="en-US" sz="2200" dirty="0" smtClean="0"/>
              <a:t>Non invasive Blood pressure</a:t>
            </a:r>
          </a:p>
          <a:p>
            <a:pPr marL="360363" indent="-360363">
              <a:lnSpc>
                <a:spcPct val="150000"/>
              </a:lnSpc>
              <a:buFontTx/>
              <a:buChar char="•"/>
            </a:pPr>
            <a:r>
              <a:rPr lang="en-US" sz="2200" dirty="0" smtClean="0"/>
              <a:t>ECG</a:t>
            </a:r>
          </a:p>
          <a:p>
            <a:pPr marL="360363" indent="-360363">
              <a:lnSpc>
                <a:spcPct val="150000"/>
              </a:lnSpc>
              <a:buFontTx/>
              <a:buChar char="•"/>
            </a:pPr>
            <a:r>
              <a:rPr lang="en-GB" sz="2200" dirty="0" smtClean="0"/>
              <a:t>Peripheral nerve stimulators</a:t>
            </a:r>
          </a:p>
          <a:p>
            <a:pPr marL="360363" indent="-360363">
              <a:lnSpc>
                <a:spcPct val="150000"/>
              </a:lnSpc>
              <a:buFontTx/>
              <a:buChar char="•"/>
            </a:pPr>
            <a:r>
              <a:rPr lang="en-GB" sz="2200" dirty="0" smtClean="0"/>
              <a:t>Volatile / gas analyser &amp; anaesthesia depth</a:t>
            </a:r>
          </a:p>
          <a:p>
            <a:pPr marL="360363" indent="-360363" algn="l">
              <a:lnSpc>
                <a:spcPct val="150000"/>
              </a:lnSpc>
              <a:buFontTx/>
              <a:buChar char="•"/>
            </a:pPr>
            <a:r>
              <a:rPr lang="en-GB" sz="2200" dirty="0" smtClean="0"/>
              <a:t>Temperature monitoring</a:t>
            </a:r>
          </a:p>
          <a:p>
            <a:pPr marL="360363" indent="-360363" algn="l">
              <a:lnSpc>
                <a:spcPct val="150000"/>
              </a:lnSpc>
              <a:buFontTx/>
              <a:buChar char="•"/>
            </a:pPr>
            <a:r>
              <a:rPr lang="en-GB" sz="2200" dirty="0" smtClean="0"/>
              <a:t>Documentation </a:t>
            </a:r>
          </a:p>
        </p:txBody>
      </p:sp>
      <p:sp>
        <p:nvSpPr>
          <p:cNvPr id="6" name="TextBox 5"/>
          <p:cNvSpPr txBox="1"/>
          <p:nvPr/>
        </p:nvSpPr>
        <p:spPr>
          <a:xfrm>
            <a:off x="7086600" y="1484623"/>
            <a:ext cx="1295400" cy="2123658"/>
          </a:xfrm>
          <a:prstGeom prst="rect">
            <a:avLst/>
          </a:prstGeom>
          <a:noFill/>
        </p:spPr>
        <p:txBody>
          <a:bodyPr wrap="square" rtlCol="0">
            <a:spAutoFit/>
          </a:bodyPr>
          <a:lstStyle/>
          <a:p>
            <a:pPr>
              <a:lnSpc>
                <a:spcPct val="150000"/>
              </a:lnSpc>
            </a:pPr>
            <a:r>
              <a:rPr lang="en-US" sz="2200" dirty="0" smtClean="0">
                <a:solidFill>
                  <a:srgbClr val="FF0000"/>
                </a:solidFill>
              </a:rPr>
              <a:t>√</a:t>
            </a:r>
          </a:p>
          <a:p>
            <a:pPr>
              <a:lnSpc>
                <a:spcPct val="150000"/>
              </a:lnSpc>
            </a:pPr>
            <a:r>
              <a:rPr lang="en-US" sz="2200" dirty="0" smtClean="0">
                <a:solidFill>
                  <a:srgbClr val="FF0000"/>
                </a:solidFill>
              </a:rPr>
              <a:t>√</a:t>
            </a:r>
          </a:p>
          <a:p>
            <a:pPr>
              <a:lnSpc>
                <a:spcPct val="150000"/>
              </a:lnSpc>
            </a:pPr>
            <a:r>
              <a:rPr lang="en-US" sz="2200" dirty="0" smtClean="0">
                <a:solidFill>
                  <a:srgbClr val="FF0000"/>
                </a:solidFill>
              </a:rPr>
              <a:t>√</a:t>
            </a:r>
          </a:p>
          <a:p>
            <a:pPr>
              <a:lnSpc>
                <a:spcPct val="150000"/>
              </a:lnSpc>
            </a:pPr>
            <a:endParaRPr lang="en-US" sz="2200" dirty="0">
              <a:solidFill>
                <a:srgbClr val="FF0000"/>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35808" y="2544762"/>
            <a:ext cx="3745992" cy="731838"/>
          </a:xfrm>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C u soon !!!</a:t>
            </a:r>
            <a:endPar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2857</TotalTime>
  <Words>5016</Words>
  <Application>Microsoft Office PowerPoint</Application>
  <PresentationFormat>On-screen Show (4:3)</PresentationFormat>
  <Paragraphs>578</Paragraphs>
  <Slides>80</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9" baseType="lpstr">
      <vt:lpstr>Arial</vt:lpstr>
      <vt:lpstr>Calibri</vt:lpstr>
      <vt:lpstr>Courier New</vt:lpstr>
      <vt:lpstr>Gill Sans MT</vt:lpstr>
      <vt:lpstr>Verdana</vt:lpstr>
      <vt:lpstr>Wingdings</vt:lpstr>
      <vt:lpstr>Wingdings 2</vt:lpstr>
      <vt:lpstr>Solstice</vt:lpstr>
      <vt:lpstr>CorelDRAW 6.0</vt:lpstr>
      <vt:lpstr>Monitoring in anaesthesia</vt:lpstr>
      <vt:lpstr>PowerPoint Presentation</vt:lpstr>
      <vt:lpstr>PowerPoint Presentation</vt:lpstr>
      <vt:lpstr>Standards for basic anesthetic monitoring (AAGBI)</vt:lpstr>
      <vt:lpstr>STANDARD  II</vt:lpstr>
      <vt:lpstr>1. Oxygenation </vt:lpstr>
      <vt:lpstr>2.  Ventilation</vt:lpstr>
      <vt:lpstr>PowerPoint Presentation</vt:lpstr>
      <vt:lpstr>3. Circulation</vt:lpstr>
      <vt:lpstr>4.  Body Temperature </vt:lpstr>
      <vt:lpstr>STANDARD II - summary</vt:lpstr>
      <vt:lpstr>Contents</vt:lpstr>
      <vt:lpstr>PowerPoint Presentation</vt:lpstr>
      <vt:lpstr>PowerPoint Presentation</vt:lpstr>
      <vt:lpstr>Chapter Five</vt:lpstr>
      <vt:lpstr>1. Pulseoxymetry</vt:lpstr>
      <vt:lpstr>Introduction </vt:lpstr>
      <vt:lpstr>What is oxygen saturation ?</vt:lpstr>
      <vt:lpstr>Cont’d …</vt:lpstr>
      <vt:lpstr>Cont’d …</vt:lpstr>
      <vt:lpstr>Operating Principles</vt:lpstr>
      <vt:lpstr>Absorbance of light as a function of wavelength.</vt:lpstr>
      <vt:lpstr>PowerPoint Presentation</vt:lpstr>
      <vt:lpstr>Cont’d …</vt:lpstr>
      <vt:lpstr>Types </vt:lpstr>
      <vt:lpstr>Physiology </vt:lpstr>
      <vt:lpstr>Cont’d …</vt:lpstr>
      <vt:lpstr>Cont’d …</vt:lpstr>
      <vt:lpstr>Cont’d …</vt:lpstr>
      <vt:lpstr>Cont’d …</vt:lpstr>
      <vt:lpstr>PowerPoint Presentation</vt:lpstr>
      <vt:lpstr>Plethysmography </vt:lpstr>
      <vt:lpstr>Sites </vt:lpstr>
      <vt:lpstr>Cont’d …</vt:lpstr>
      <vt:lpstr>2.  Toe </vt:lpstr>
      <vt:lpstr>3.  Nose </vt:lpstr>
      <vt:lpstr>4.  Ear </vt:lpstr>
      <vt:lpstr>5.  Forehead </vt:lpstr>
      <vt:lpstr>6.  Other sites</vt:lpstr>
      <vt:lpstr>Applications </vt:lpstr>
      <vt:lpstr>If no signal is obtained on the oximeter after the probe has been placed on a finger, check the following:</vt:lpstr>
      <vt:lpstr>problems that can cause a drop in oxygen saturation include (Discuss and group)</vt:lpstr>
      <vt:lpstr>Limitations </vt:lpstr>
      <vt:lpstr>Limitations – source of error</vt:lpstr>
      <vt:lpstr>Say something about these pictures</vt:lpstr>
      <vt:lpstr>PowerPoint Presentation</vt:lpstr>
      <vt:lpstr>Learning points summary</vt:lpstr>
      <vt:lpstr>Anesthetic Monitoring </vt:lpstr>
      <vt:lpstr>2. Capnography</vt:lpstr>
      <vt:lpstr>Learning Objective</vt:lpstr>
      <vt:lpstr>Introduction</vt:lpstr>
      <vt:lpstr>Cont’d …</vt:lpstr>
      <vt:lpstr>Glossary </vt:lpstr>
      <vt:lpstr>Normal capnograph trace</vt:lpstr>
      <vt:lpstr>Cont’d …</vt:lpstr>
      <vt:lpstr>Cont’d …</vt:lpstr>
      <vt:lpstr>Cont’d …</vt:lpstr>
      <vt:lpstr>PowerPoint Presentation</vt:lpstr>
      <vt:lpstr>Physiology </vt:lpstr>
      <vt:lpstr>1. Metabolism</vt:lpstr>
      <vt:lpstr>2. Circulation</vt:lpstr>
      <vt:lpstr>3. Respiratory</vt:lpstr>
      <vt:lpstr>Normal Capnograph </vt:lpstr>
      <vt:lpstr>Increasing ETCO2 level</vt:lpstr>
      <vt:lpstr>Decreasing ETCO2 level</vt:lpstr>
      <vt:lpstr>Rebreathing</vt:lpstr>
      <vt:lpstr>Muscle Relaxants (Patient breathing whilst ventilated)</vt:lpstr>
      <vt:lpstr>Endotracheal Tube in the Esophagus</vt:lpstr>
      <vt:lpstr>Obstruction in Breathing Circuit or Airway</vt:lpstr>
      <vt:lpstr>Apnea</vt:lpstr>
      <vt:lpstr>Cardiac oscillations in self-ventilating patient</vt:lpstr>
      <vt:lpstr>PowerPoint Presentation</vt:lpstr>
      <vt:lpstr>Capnography (cont)</vt:lpstr>
      <vt:lpstr>PowerPoint Presentation</vt:lpstr>
      <vt:lpstr>PowerPoint Presentation</vt:lpstr>
      <vt:lpstr>PowerPoint Presentation</vt:lpstr>
      <vt:lpstr>PowerPoint Presentation</vt:lpstr>
      <vt:lpstr>Pulse Oximetry or Capnography?</vt:lpstr>
      <vt:lpstr>Anesthetic Monitoring </vt:lpstr>
      <vt:lpstr>C u soon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Monitoring in anaesthesia</dc:title>
  <dc:creator>pc</dc:creator>
  <cp:lastModifiedBy>Wes</cp:lastModifiedBy>
  <cp:revision>196</cp:revision>
  <dcterms:created xsi:type="dcterms:W3CDTF">2012-08-18T20:53:04Z</dcterms:created>
  <dcterms:modified xsi:type="dcterms:W3CDTF">2023-03-16T19:42:25Z</dcterms:modified>
</cp:coreProperties>
</file>