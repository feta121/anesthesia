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0"/>
  </p:notesMasterIdLst>
  <p:sldIdLst>
    <p:sldId id="256" r:id="rId2"/>
    <p:sldId id="257" r:id="rId3"/>
    <p:sldId id="387" r:id="rId4"/>
    <p:sldId id="388" r:id="rId5"/>
    <p:sldId id="389" r:id="rId6"/>
    <p:sldId id="390" r:id="rId7"/>
    <p:sldId id="392" r:id="rId8"/>
    <p:sldId id="393" r:id="rId9"/>
    <p:sldId id="356" r:id="rId10"/>
    <p:sldId id="354" r:id="rId11"/>
    <p:sldId id="357" r:id="rId12"/>
    <p:sldId id="355" r:id="rId13"/>
    <p:sldId id="358" r:id="rId14"/>
    <p:sldId id="359" r:id="rId15"/>
    <p:sldId id="362" r:id="rId16"/>
    <p:sldId id="363" r:id="rId17"/>
    <p:sldId id="364" r:id="rId18"/>
    <p:sldId id="365" r:id="rId19"/>
    <p:sldId id="367" r:id="rId20"/>
    <p:sldId id="368" r:id="rId21"/>
    <p:sldId id="366" r:id="rId22"/>
    <p:sldId id="370" r:id="rId23"/>
    <p:sldId id="371" r:id="rId24"/>
    <p:sldId id="372" r:id="rId25"/>
    <p:sldId id="373" r:id="rId26"/>
    <p:sldId id="374" r:id="rId27"/>
    <p:sldId id="379" r:id="rId28"/>
    <p:sldId id="380" r:id="rId29"/>
    <p:sldId id="381" r:id="rId30"/>
    <p:sldId id="382" r:id="rId31"/>
    <p:sldId id="383" r:id="rId32"/>
    <p:sldId id="384" r:id="rId33"/>
    <p:sldId id="385" r:id="rId34"/>
    <p:sldId id="260" r:id="rId35"/>
    <p:sldId id="262" r:id="rId36"/>
    <p:sldId id="265" r:id="rId37"/>
    <p:sldId id="264" r:id="rId38"/>
    <p:sldId id="404" r:id="rId39"/>
    <p:sldId id="266" r:id="rId40"/>
    <p:sldId id="271" r:id="rId41"/>
    <p:sldId id="272" r:id="rId42"/>
    <p:sldId id="273" r:id="rId43"/>
    <p:sldId id="274" r:id="rId44"/>
    <p:sldId id="278" r:id="rId45"/>
    <p:sldId id="275" r:id="rId46"/>
    <p:sldId id="277" r:id="rId47"/>
    <p:sldId id="279" r:id="rId48"/>
    <p:sldId id="280" r:id="rId49"/>
    <p:sldId id="281" r:id="rId50"/>
    <p:sldId id="282" r:id="rId51"/>
    <p:sldId id="283" r:id="rId52"/>
    <p:sldId id="284" r:id="rId53"/>
    <p:sldId id="286" r:id="rId54"/>
    <p:sldId id="287" r:id="rId55"/>
    <p:sldId id="288" r:id="rId56"/>
    <p:sldId id="289" r:id="rId57"/>
    <p:sldId id="290" r:id="rId58"/>
    <p:sldId id="291" r:id="rId59"/>
    <p:sldId id="292" r:id="rId60"/>
    <p:sldId id="293" r:id="rId61"/>
    <p:sldId id="295" r:id="rId62"/>
    <p:sldId id="296" r:id="rId63"/>
    <p:sldId id="297" r:id="rId64"/>
    <p:sldId id="298" r:id="rId65"/>
    <p:sldId id="299" r:id="rId66"/>
    <p:sldId id="300" r:id="rId67"/>
    <p:sldId id="301" r:id="rId68"/>
    <p:sldId id="302" r:id="rId69"/>
    <p:sldId id="303" r:id="rId70"/>
    <p:sldId id="304" r:id="rId71"/>
    <p:sldId id="305" r:id="rId72"/>
    <p:sldId id="306" r:id="rId73"/>
    <p:sldId id="307" r:id="rId74"/>
    <p:sldId id="308" r:id="rId75"/>
    <p:sldId id="309" r:id="rId76"/>
    <p:sldId id="311" r:id="rId77"/>
    <p:sldId id="312" r:id="rId78"/>
    <p:sldId id="317" r:id="rId79"/>
    <p:sldId id="318" r:id="rId80"/>
    <p:sldId id="314" r:id="rId81"/>
    <p:sldId id="315" r:id="rId82"/>
    <p:sldId id="316" r:id="rId83"/>
    <p:sldId id="319" r:id="rId84"/>
    <p:sldId id="320" r:id="rId85"/>
    <p:sldId id="322" r:id="rId86"/>
    <p:sldId id="323" r:id="rId87"/>
    <p:sldId id="324" r:id="rId88"/>
    <p:sldId id="325" r:id="rId89"/>
    <p:sldId id="326" r:id="rId90"/>
    <p:sldId id="327" r:id="rId91"/>
    <p:sldId id="328" r:id="rId92"/>
    <p:sldId id="329" r:id="rId93"/>
    <p:sldId id="330" r:id="rId94"/>
    <p:sldId id="331" r:id="rId95"/>
    <p:sldId id="332" r:id="rId96"/>
    <p:sldId id="333" r:id="rId97"/>
    <p:sldId id="334" r:id="rId98"/>
    <p:sldId id="335" r:id="rId99"/>
    <p:sldId id="336" r:id="rId100"/>
    <p:sldId id="337" r:id="rId101"/>
    <p:sldId id="338" r:id="rId102"/>
    <p:sldId id="339" r:id="rId103"/>
    <p:sldId id="340" r:id="rId104"/>
    <p:sldId id="341" r:id="rId105"/>
    <p:sldId id="342" r:id="rId106"/>
    <p:sldId id="343" r:id="rId107"/>
    <p:sldId id="344" r:id="rId108"/>
    <p:sldId id="345" r:id="rId109"/>
    <p:sldId id="394" r:id="rId110"/>
    <p:sldId id="395" r:id="rId111"/>
    <p:sldId id="396" r:id="rId112"/>
    <p:sldId id="397" r:id="rId113"/>
    <p:sldId id="398" r:id="rId114"/>
    <p:sldId id="399" r:id="rId115"/>
    <p:sldId id="400" r:id="rId116"/>
    <p:sldId id="401" r:id="rId117"/>
    <p:sldId id="402" r:id="rId118"/>
    <p:sldId id="403" r:id="rId1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8" autoAdjust="0"/>
    <p:restoredTop sz="94660"/>
  </p:normalViewPr>
  <p:slideViewPr>
    <p:cSldViewPr snapToGrid="0">
      <p:cViewPr varScale="1">
        <p:scale>
          <a:sx n="74" d="100"/>
          <a:sy n="74" d="100"/>
        </p:scale>
        <p:origin x="-582"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1C3D47-9B46-4BA7-872C-764B6B1350EF}" type="datetimeFigureOut">
              <a:rPr lang="en-US" smtClean="0"/>
              <a:t>12/22/2024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F6E65C-4D3C-4FB7-A738-AB776F8A7688}" type="slidenum">
              <a:rPr lang="en-US" smtClean="0"/>
              <a:t>‹#›</a:t>
            </a:fld>
            <a:endParaRPr lang="en-US"/>
          </a:p>
        </p:txBody>
      </p:sp>
    </p:spTree>
    <p:extLst>
      <p:ext uri="{BB962C8B-B14F-4D97-AF65-F5344CB8AC3E}">
        <p14:creationId xmlns:p14="http://schemas.microsoft.com/office/powerpoint/2010/main" val="2158818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F6E65C-4D3C-4FB7-A738-AB776F8A7688}" type="slidenum">
              <a:rPr lang="en-US" smtClean="0"/>
              <a:t>101</a:t>
            </a:fld>
            <a:endParaRPr lang="en-US"/>
          </a:p>
        </p:txBody>
      </p:sp>
    </p:spTree>
    <p:extLst>
      <p:ext uri="{BB962C8B-B14F-4D97-AF65-F5344CB8AC3E}">
        <p14:creationId xmlns:p14="http://schemas.microsoft.com/office/powerpoint/2010/main" val="2878698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19E363-DD44-4A79-9ABD-8D1F43575B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C3ED5F11-5D0D-4915-A2D5-1263C01BF2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FD68D03F-C63A-463F-B62B-7475A7491FDC}"/>
              </a:ext>
            </a:extLst>
          </p:cNvPr>
          <p:cNvSpPr>
            <a:spLocks noGrp="1"/>
          </p:cNvSpPr>
          <p:nvPr>
            <p:ph type="dt" sz="half" idx="10"/>
          </p:nvPr>
        </p:nvSpPr>
        <p:spPr/>
        <p:txBody>
          <a:bodyPr/>
          <a:lstStyle/>
          <a:p>
            <a:r>
              <a:rPr lang="en-US"/>
              <a:t>23-Dec-22</a:t>
            </a:r>
          </a:p>
        </p:txBody>
      </p:sp>
      <p:sp>
        <p:nvSpPr>
          <p:cNvPr id="5" name="Footer Placeholder 4">
            <a:extLst>
              <a:ext uri="{FF2B5EF4-FFF2-40B4-BE49-F238E27FC236}">
                <a16:creationId xmlns:a16="http://schemas.microsoft.com/office/drawing/2014/main" xmlns="" id="{405AE98A-CA9A-44D5-B710-BAA74696DC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07625EB-DF53-45FE-8839-F1F3D7B36094}"/>
              </a:ext>
            </a:extLst>
          </p:cNvPr>
          <p:cNvSpPr>
            <a:spLocks noGrp="1"/>
          </p:cNvSpPr>
          <p:nvPr>
            <p:ph type="sldNum" sz="quarter" idx="12"/>
          </p:nvPr>
        </p:nvSpPr>
        <p:spPr/>
        <p:txBody>
          <a:bodyPr/>
          <a:lstStyle/>
          <a:p>
            <a:fld id="{CB22993B-EEE5-4EB1-BEE5-4FFFA489F796}" type="slidenum">
              <a:rPr lang="en-US" smtClean="0"/>
              <a:t>‹#›</a:t>
            </a:fld>
            <a:endParaRPr lang="en-US"/>
          </a:p>
        </p:txBody>
      </p:sp>
    </p:spTree>
    <p:extLst>
      <p:ext uri="{BB962C8B-B14F-4D97-AF65-F5344CB8AC3E}">
        <p14:creationId xmlns:p14="http://schemas.microsoft.com/office/powerpoint/2010/main" val="1130230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5A54C5-46FA-4C3D-BB4E-1D404C5826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7F65AF2E-1791-4D0C-A596-E451F1AD6B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A66475A-CB0A-4DAF-8115-B1C03513E518}"/>
              </a:ext>
            </a:extLst>
          </p:cNvPr>
          <p:cNvSpPr>
            <a:spLocks noGrp="1"/>
          </p:cNvSpPr>
          <p:nvPr>
            <p:ph type="dt" sz="half" idx="10"/>
          </p:nvPr>
        </p:nvSpPr>
        <p:spPr/>
        <p:txBody>
          <a:bodyPr/>
          <a:lstStyle/>
          <a:p>
            <a:r>
              <a:rPr lang="en-US"/>
              <a:t>23-Dec-22</a:t>
            </a:r>
          </a:p>
        </p:txBody>
      </p:sp>
      <p:sp>
        <p:nvSpPr>
          <p:cNvPr id="5" name="Footer Placeholder 4">
            <a:extLst>
              <a:ext uri="{FF2B5EF4-FFF2-40B4-BE49-F238E27FC236}">
                <a16:creationId xmlns:a16="http://schemas.microsoft.com/office/drawing/2014/main" xmlns="" id="{A249291A-D397-48C8-84E2-EFD316BA52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C2E27A2-77CD-4A61-88A9-F51E8FB3F6E4}"/>
              </a:ext>
            </a:extLst>
          </p:cNvPr>
          <p:cNvSpPr>
            <a:spLocks noGrp="1"/>
          </p:cNvSpPr>
          <p:nvPr>
            <p:ph type="sldNum" sz="quarter" idx="12"/>
          </p:nvPr>
        </p:nvSpPr>
        <p:spPr/>
        <p:txBody>
          <a:bodyPr/>
          <a:lstStyle/>
          <a:p>
            <a:fld id="{CB22993B-EEE5-4EB1-BEE5-4FFFA489F796}" type="slidenum">
              <a:rPr lang="en-US" smtClean="0"/>
              <a:t>‹#›</a:t>
            </a:fld>
            <a:endParaRPr lang="en-US"/>
          </a:p>
        </p:txBody>
      </p:sp>
    </p:spTree>
    <p:extLst>
      <p:ext uri="{BB962C8B-B14F-4D97-AF65-F5344CB8AC3E}">
        <p14:creationId xmlns:p14="http://schemas.microsoft.com/office/powerpoint/2010/main" val="3910448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9D32A4-0B36-4B68-9C3D-E1016E4FF3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2454B8DC-814D-4B4E-BC04-439514FA98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826A2798-8337-445A-B2FE-03AA7DD452E4}"/>
              </a:ext>
            </a:extLst>
          </p:cNvPr>
          <p:cNvSpPr>
            <a:spLocks noGrp="1"/>
          </p:cNvSpPr>
          <p:nvPr>
            <p:ph type="dt" sz="half" idx="10"/>
          </p:nvPr>
        </p:nvSpPr>
        <p:spPr/>
        <p:txBody>
          <a:bodyPr/>
          <a:lstStyle/>
          <a:p>
            <a:r>
              <a:rPr lang="en-US"/>
              <a:t>23-Dec-22</a:t>
            </a:r>
          </a:p>
        </p:txBody>
      </p:sp>
      <p:sp>
        <p:nvSpPr>
          <p:cNvPr id="5" name="Footer Placeholder 4">
            <a:extLst>
              <a:ext uri="{FF2B5EF4-FFF2-40B4-BE49-F238E27FC236}">
                <a16:creationId xmlns:a16="http://schemas.microsoft.com/office/drawing/2014/main" xmlns="" id="{F48B0B52-FD18-4B6E-AF45-926065EED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7412CCE-4883-4D70-9F6A-B4A4BFD0EC3C}"/>
              </a:ext>
            </a:extLst>
          </p:cNvPr>
          <p:cNvSpPr>
            <a:spLocks noGrp="1"/>
          </p:cNvSpPr>
          <p:nvPr>
            <p:ph type="sldNum" sz="quarter" idx="12"/>
          </p:nvPr>
        </p:nvSpPr>
        <p:spPr/>
        <p:txBody>
          <a:bodyPr/>
          <a:lstStyle/>
          <a:p>
            <a:fld id="{CB22993B-EEE5-4EB1-BEE5-4FFFA489F796}" type="slidenum">
              <a:rPr lang="en-US" smtClean="0"/>
              <a:t>‹#›</a:t>
            </a:fld>
            <a:endParaRPr lang="en-US"/>
          </a:p>
        </p:txBody>
      </p:sp>
    </p:spTree>
    <p:extLst>
      <p:ext uri="{BB962C8B-B14F-4D97-AF65-F5344CB8AC3E}">
        <p14:creationId xmlns:p14="http://schemas.microsoft.com/office/powerpoint/2010/main" val="2261758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1C0CF6-5D76-46AB-82CF-DC5D7EB016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FE8B04E2-DCA6-4DB4-877F-BDAFD7DCBC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724BB147-4AAA-4FDB-8CD8-CB21E3D007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2180A2D9-8A8C-40C1-9F28-E242AF489232}"/>
              </a:ext>
            </a:extLst>
          </p:cNvPr>
          <p:cNvSpPr>
            <a:spLocks noGrp="1"/>
          </p:cNvSpPr>
          <p:nvPr>
            <p:ph type="dt" sz="half" idx="10"/>
          </p:nvPr>
        </p:nvSpPr>
        <p:spPr/>
        <p:txBody>
          <a:bodyPr/>
          <a:lstStyle/>
          <a:p>
            <a:r>
              <a:rPr lang="en-US"/>
              <a:t>23-Dec-22</a:t>
            </a:r>
          </a:p>
        </p:txBody>
      </p:sp>
      <p:sp>
        <p:nvSpPr>
          <p:cNvPr id="6" name="Footer Placeholder 5">
            <a:extLst>
              <a:ext uri="{FF2B5EF4-FFF2-40B4-BE49-F238E27FC236}">
                <a16:creationId xmlns:a16="http://schemas.microsoft.com/office/drawing/2014/main" xmlns="" id="{454620AC-C680-4A6E-A458-35F1FF0184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F7934280-484D-4DAD-9FFA-A84E71020F15}"/>
              </a:ext>
            </a:extLst>
          </p:cNvPr>
          <p:cNvSpPr>
            <a:spLocks noGrp="1"/>
          </p:cNvSpPr>
          <p:nvPr>
            <p:ph type="sldNum" sz="quarter" idx="12"/>
          </p:nvPr>
        </p:nvSpPr>
        <p:spPr/>
        <p:txBody>
          <a:bodyPr/>
          <a:lstStyle/>
          <a:p>
            <a:fld id="{CB22993B-EEE5-4EB1-BEE5-4FFFA489F796}" type="slidenum">
              <a:rPr lang="en-US" smtClean="0"/>
              <a:t>‹#›</a:t>
            </a:fld>
            <a:endParaRPr lang="en-US"/>
          </a:p>
        </p:txBody>
      </p:sp>
    </p:spTree>
    <p:extLst>
      <p:ext uri="{BB962C8B-B14F-4D97-AF65-F5344CB8AC3E}">
        <p14:creationId xmlns:p14="http://schemas.microsoft.com/office/powerpoint/2010/main" val="64218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1F960B-B45F-4B1F-816E-DEB6CFDA3D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E53A936C-DEB3-4811-889A-2AC9C8F906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BD9D24BC-A57D-410D-B594-193F68A0DF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6E366BA2-AC12-4F3C-B3BA-0FE95EF1E4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592F7685-E240-4805-B9E5-1B28C5A6DD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087744EB-0B2A-4136-9E0C-B30841305C31}"/>
              </a:ext>
            </a:extLst>
          </p:cNvPr>
          <p:cNvSpPr>
            <a:spLocks noGrp="1"/>
          </p:cNvSpPr>
          <p:nvPr>
            <p:ph type="dt" sz="half" idx="10"/>
          </p:nvPr>
        </p:nvSpPr>
        <p:spPr/>
        <p:txBody>
          <a:bodyPr/>
          <a:lstStyle/>
          <a:p>
            <a:r>
              <a:rPr lang="en-US"/>
              <a:t>23-Dec-22</a:t>
            </a:r>
          </a:p>
        </p:txBody>
      </p:sp>
      <p:sp>
        <p:nvSpPr>
          <p:cNvPr id="8" name="Footer Placeholder 7">
            <a:extLst>
              <a:ext uri="{FF2B5EF4-FFF2-40B4-BE49-F238E27FC236}">
                <a16:creationId xmlns:a16="http://schemas.microsoft.com/office/drawing/2014/main" xmlns="" id="{80227163-4BD5-4106-A9EB-E5322AA7C2C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D6EF8367-0109-42D0-8CA1-B1C3D549321B}"/>
              </a:ext>
            </a:extLst>
          </p:cNvPr>
          <p:cNvSpPr>
            <a:spLocks noGrp="1"/>
          </p:cNvSpPr>
          <p:nvPr>
            <p:ph type="sldNum" sz="quarter" idx="12"/>
          </p:nvPr>
        </p:nvSpPr>
        <p:spPr/>
        <p:txBody>
          <a:bodyPr/>
          <a:lstStyle/>
          <a:p>
            <a:fld id="{CB22993B-EEE5-4EB1-BEE5-4FFFA489F796}" type="slidenum">
              <a:rPr lang="en-US" smtClean="0"/>
              <a:t>‹#›</a:t>
            </a:fld>
            <a:endParaRPr lang="en-US"/>
          </a:p>
        </p:txBody>
      </p:sp>
    </p:spTree>
    <p:extLst>
      <p:ext uri="{BB962C8B-B14F-4D97-AF65-F5344CB8AC3E}">
        <p14:creationId xmlns:p14="http://schemas.microsoft.com/office/powerpoint/2010/main" val="404361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14DD42-F258-4FEA-B0D5-AB6339BD877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D9939F98-9AD4-4F35-AAAD-5FC58ADCBB01}"/>
              </a:ext>
            </a:extLst>
          </p:cNvPr>
          <p:cNvSpPr>
            <a:spLocks noGrp="1"/>
          </p:cNvSpPr>
          <p:nvPr>
            <p:ph type="dt" sz="half" idx="10"/>
          </p:nvPr>
        </p:nvSpPr>
        <p:spPr/>
        <p:txBody>
          <a:bodyPr/>
          <a:lstStyle/>
          <a:p>
            <a:r>
              <a:rPr lang="en-US"/>
              <a:t>23-Dec-22</a:t>
            </a:r>
          </a:p>
        </p:txBody>
      </p:sp>
      <p:sp>
        <p:nvSpPr>
          <p:cNvPr id="4" name="Footer Placeholder 3">
            <a:extLst>
              <a:ext uri="{FF2B5EF4-FFF2-40B4-BE49-F238E27FC236}">
                <a16:creationId xmlns:a16="http://schemas.microsoft.com/office/drawing/2014/main" xmlns="" id="{D0BB4A5C-31A2-4066-9BDF-D591B022A4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DA62B6A0-F454-4392-B272-D8C246CC5D4C}"/>
              </a:ext>
            </a:extLst>
          </p:cNvPr>
          <p:cNvSpPr>
            <a:spLocks noGrp="1"/>
          </p:cNvSpPr>
          <p:nvPr>
            <p:ph type="sldNum" sz="quarter" idx="12"/>
          </p:nvPr>
        </p:nvSpPr>
        <p:spPr/>
        <p:txBody>
          <a:bodyPr/>
          <a:lstStyle/>
          <a:p>
            <a:fld id="{CB22993B-EEE5-4EB1-BEE5-4FFFA489F796}" type="slidenum">
              <a:rPr lang="en-US" smtClean="0"/>
              <a:t>‹#›</a:t>
            </a:fld>
            <a:endParaRPr lang="en-US"/>
          </a:p>
        </p:txBody>
      </p:sp>
    </p:spTree>
    <p:extLst>
      <p:ext uri="{BB962C8B-B14F-4D97-AF65-F5344CB8AC3E}">
        <p14:creationId xmlns:p14="http://schemas.microsoft.com/office/powerpoint/2010/main" val="1802207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1592CFB-54F1-4944-A8BC-33C9E197D166}"/>
              </a:ext>
            </a:extLst>
          </p:cNvPr>
          <p:cNvSpPr>
            <a:spLocks noGrp="1"/>
          </p:cNvSpPr>
          <p:nvPr>
            <p:ph type="dt" sz="half" idx="10"/>
          </p:nvPr>
        </p:nvSpPr>
        <p:spPr/>
        <p:txBody>
          <a:bodyPr/>
          <a:lstStyle/>
          <a:p>
            <a:r>
              <a:rPr lang="en-US"/>
              <a:t>23-Dec-22</a:t>
            </a:r>
          </a:p>
        </p:txBody>
      </p:sp>
      <p:sp>
        <p:nvSpPr>
          <p:cNvPr id="3" name="Footer Placeholder 2">
            <a:extLst>
              <a:ext uri="{FF2B5EF4-FFF2-40B4-BE49-F238E27FC236}">
                <a16:creationId xmlns:a16="http://schemas.microsoft.com/office/drawing/2014/main" xmlns="" id="{4C557D7A-7371-4780-B974-16E8E5D18F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2AF0F39B-14D2-4192-AD83-C03E7648BF81}"/>
              </a:ext>
            </a:extLst>
          </p:cNvPr>
          <p:cNvSpPr>
            <a:spLocks noGrp="1"/>
          </p:cNvSpPr>
          <p:nvPr>
            <p:ph type="sldNum" sz="quarter" idx="12"/>
          </p:nvPr>
        </p:nvSpPr>
        <p:spPr/>
        <p:txBody>
          <a:bodyPr/>
          <a:lstStyle/>
          <a:p>
            <a:fld id="{CB22993B-EEE5-4EB1-BEE5-4FFFA489F796}" type="slidenum">
              <a:rPr lang="en-US" smtClean="0"/>
              <a:t>‹#›</a:t>
            </a:fld>
            <a:endParaRPr lang="en-US"/>
          </a:p>
        </p:txBody>
      </p:sp>
    </p:spTree>
    <p:extLst>
      <p:ext uri="{BB962C8B-B14F-4D97-AF65-F5344CB8AC3E}">
        <p14:creationId xmlns:p14="http://schemas.microsoft.com/office/powerpoint/2010/main" val="1771641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B30A42-743F-491F-8460-D563DEF2FD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BA7A3AF7-3E4D-427D-A203-0F073DC2E7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AA8F31EF-38F8-420C-BCDE-0D99390446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E552D48-78E1-434E-BAF2-051768D3A359}"/>
              </a:ext>
            </a:extLst>
          </p:cNvPr>
          <p:cNvSpPr>
            <a:spLocks noGrp="1"/>
          </p:cNvSpPr>
          <p:nvPr>
            <p:ph type="dt" sz="half" idx="10"/>
          </p:nvPr>
        </p:nvSpPr>
        <p:spPr/>
        <p:txBody>
          <a:bodyPr/>
          <a:lstStyle/>
          <a:p>
            <a:r>
              <a:rPr lang="en-US"/>
              <a:t>23-Dec-22</a:t>
            </a:r>
          </a:p>
        </p:txBody>
      </p:sp>
      <p:sp>
        <p:nvSpPr>
          <p:cNvPr id="6" name="Footer Placeholder 5">
            <a:extLst>
              <a:ext uri="{FF2B5EF4-FFF2-40B4-BE49-F238E27FC236}">
                <a16:creationId xmlns:a16="http://schemas.microsoft.com/office/drawing/2014/main" xmlns="" id="{4A02EE1E-A858-4F80-B0E0-53298CA133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6DBB013D-CD6C-44E0-90F2-80D238854928}"/>
              </a:ext>
            </a:extLst>
          </p:cNvPr>
          <p:cNvSpPr>
            <a:spLocks noGrp="1"/>
          </p:cNvSpPr>
          <p:nvPr>
            <p:ph type="sldNum" sz="quarter" idx="12"/>
          </p:nvPr>
        </p:nvSpPr>
        <p:spPr/>
        <p:txBody>
          <a:bodyPr/>
          <a:lstStyle/>
          <a:p>
            <a:fld id="{CB22993B-EEE5-4EB1-BEE5-4FFFA489F796}" type="slidenum">
              <a:rPr lang="en-US" smtClean="0"/>
              <a:t>‹#›</a:t>
            </a:fld>
            <a:endParaRPr lang="en-US"/>
          </a:p>
        </p:txBody>
      </p:sp>
    </p:spTree>
    <p:extLst>
      <p:ext uri="{BB962C8B-B14F-4D97-AF65-F5344CB8AC3E}">
        <p14:creationId xmlns:p14="http://schemas.microsoft.com/office/powerpoint/2010/main" val="2355301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2D47EA-F368-4E61-86A3-C677DAF8FB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E9D59A79-1E11-46D0-BE3C-827F34944D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4C2A1965-0DAC-44CC-AE3E-0D73B0BF91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2939B61-881F-43CD-8973-34B967308B3B}"/>
              </a:ext>
            </a:extLst>
          </p:cNvPr>
          <p:cNvSpPr>
            <a:spLocks noGrp="1"/>
          </p:cNvSpPr>
          <p:nvPr>
            <p:ph type="dt" sz="half" idx="10"/>
          </p:nvPr>
        </p:nvSpPr>
        <p:spPr/>
        <p:txBody>
          <a:bodyPr/>
          <a:lstStyle/>
          <a:p>
            <a:r>
              <a:rPr lang="en-US"/>
              <a:t>23-Dec-22</a:t>
            </a:r>
          </a:p>
        </p:txBody>
      </p:sp>
      <p:sp>
        <p:nvSpPr>
          <p:cNvPr id="6" name="Footer Placeholder 5">
            <a:extLst>
              <a:ext uri="{FF2B5EF4-FFF2-40B4-BE49-F238E27FC236}">
                <a16:creationId xmlns:a16="http://schemas.microsoft.com/office/drawing/2014/main" xmlns="" id="{CB03B642-25FB-408C-8260-8E94AC32C7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1CBB4555-6FC5-4F7C-B7AF-2CC39A93C231}"/>
              </a:ext>
            </a:extLst>
          </p:cNvPr>
          <p:cNvSpPr>
            <a:spLocks noGrp="1"/>
          </p:cNvSpPr>
          <p:nvPr>
            <p:ph type="sldNum" sz="quarter" idx="12"/>
          </p:nvPr>
        </p:nvSpPr>
        <p:spPr/>
        <p:txBody>
          <a:bodyPr/>
          <a:lstStyle/>
          <a:p>
            <a:fld id="{CB22993B-EEE5-4EB1-BEE5-4FFFA489F796}" type="slidenum">
              <a:rPr lang="en-US" smtClean="0"/>
              <a:t>‹#›</a:t>
            </a:fld>
            <a:endParaRPr lang="en-US"/>
          </a:p>
        </p:txBody>
      </p:sp>
    </p:spTree>
    <p:extLst>
      <p:ext uri="{BB962C8B-B14F-4D97-AF65-F5344CB8AC3E}">
        <p14:creationId xmlns:p14="http://schemas.microsoft.com/office/powerpoint/2010/main" val="4094065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8157E1-0701-473A-A00C-6AB156795B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10F38868-050D-46D5-A802-43B25FB411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D3EC3EB-184F-4150-A96E-8C6439AA4B29}"/>
              </a:ext>
            </a:extLst>
          </p:cNvPr>
          <p:cNvSpPr>
            <a:spLocks noGrp="1"/>
          </p:cNvSpPr>
          <p:nvPr>
            <p:ph type="dt" sz="half" idx="10"/>
          </p:nvPr>
        </p:nvSpPr>
        <p:spPr/>
        <p:txBody>
          <a:bodyPr/>
          <a:lstStyle/>
          <a:p>
            <a:r>
              <a:rPr lang="en-US"/>
              <a:t>23-Dec-22</a:t>
            </a:r>
          </a:p>
        </p:txBody>
      </p:sp>
      <p:sp>
        <p:nvSpPr>
          <p:cNvPr id="5" name="Footer Placeholder 4">
            <a:extLst>
              <a:ext uri="{FF2B5EF4-FFF2-40B4-BE49-F238E27FC236}">
                <a16:creationId xmlns:a16="http://schemas.microsoft.com/office/drawing/2014/main" xmlns="" id="{64C1AB50-B897-49AB-9B33-E506479AC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83C1A74-B476-4FBE-878B-BC2018280368}"/>
              </a:ext>
            </a:extLst>
          </p:cNvPr>
          <p:cNvSpPr>
            <a:spLocks noGrp="1"/>
          </p:cNvSpPr>
          <p:nvPr>
            <p:ph type="sldNum" sz="quarter" idx="12"/>
          </p:nvPr>
        </p:nvSpPr>
        <p:spPr/>
        <p:txBody>
          <a:bodyPr/>
          <a:lstStyle/>
          <a:p>
            <a:fld id="{CB22993B-EEE5-4EB1-BEE5-4FFFA489F796}" type="slidenum">
              <a:rPr lang="en-US" smtClean="0"/>
              <a:t>‹#›</a:t>
            </a:fld>
            <a:endParaRPr lang="en-US"/>
          </a:p>
        </p:txBody>
      </p:sp>
    </p:spTree>
    <p:extLst>
      <p:ext uri="{BB962C8B-B14F-4D97-AF65-F5344CB8AC3E}">
        <p14:creationId xmlns:p14="http://schemas.microsoft.com/office/powerpoint/2010/main" val="1489794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578DA887-1C72-49C3-BC18-D62F97674F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07E20864-4D6B-4602-B623-BCF986EA39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37002B3-06CB-498E-B2E4-2F66335260C2}"/>
              </a:ext>
            </a:extLst>
          </p:cNvPr>
          <p:cNvSpPr>
            <a:spLocks noGrp="1"/>
          </p:cNvSpPr>
          <p:nvPr>
            <p:ph type="dt" sz="half" idx="10"/>
          </p:nvPr>
        </p:nvSpPr>
        <p:spPr/>
        <p:txBody>
          <a:bodyPr/>
          <a:lstStyle/>
          <a:p>
            <a:r>
              <a:rPr lang="en-US"/>
              <a:t>23-Dec-22</a:t>
            </a:r>
          </a:p>
        </p:txBody>
      </p:sp>
      <p:sp>
        <p:nvSpPr>
          <p:cNvPr id="5" name="Footer Placeholder 4">
            <a:extLst>
              <a:ext uri="{FF2B5EF4-FFF2-40B4-BE49-F238E27FC236}">
                <a16:creationId xmlns:a16="http://schemas.microsoft.com/office/drawing/2014/main" xmlns="" id="{55CA2AC7-3D5E-4AA9-B73B-66775CF300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79759C71-0743-4644-A79C-67F8D15C42AA}"/>
              </a:ext>
            </a:extLst>
          </p:cNvPr>
          <p:cNvSpPr>
            <a:spLocks noGrp="1"/>
          </p:cNvSpPr>
          <p:nvPr>
            <p:ph type="sldNum" sz="quarter" idx="12"/>
          </p:nvPr>
        </p:nvSpPr>
        <p:spPr/>
        <p:txBody>
          <a:bodyPr/>
          <a:lstStyle/>
          <a:p>
            <a:fld id="{CB22993B-EEE5-4EB1-BEE5-4FFFA489F796}" type="slidenum">
              <a:rPr lang="en-US" smtClean="0"/>
              <a:t>‹#›</a:t>
            </a:fld>
            <a:endParaRPr lang="en-US"/>
          </a:p>
        </p:txBody>
      </p:sp>
    </p:spTree>
    <p:extLst>
      <p:ext uri="{BB962C8B-B14F-4D97-AF65-F5344CB8AC3E}">
        <p14:creationId xmlns:p14="http://schemas.microsoft.com/office/powerpoint/2010/main" val="2528120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46DC067-6B06-4F23-8B25-BEA0D02E67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C2F91B2E-2A71-4E5D-9537-6DDEDF8FB5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842D614-2D32-47D5-A9D1-B4B4743B46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23-Dec-22</a:t>
            </a:r>
          </a:p>
        </p:txBody>
      </p:sp>
      <p:sp>
        <p:nvSpPr>
          <p:cNvPr id="5" name="Footer Placeholder 4">
            <a:extLst>
              <a:ext uri="{FF2B5EF4-FFF2-40B4-BE49-F238E27FC236}">
                <a16:creationId xmlns:a16="http://schemas.microsoft.com/office/drawing/2014/main" xmlns="" id="{D6ACACAE-69E2-4014-8D7B-46284A7EB5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957F1567-6D53-4E97-A228-78A81A7BB6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22993B-EEE5-4EB1-BEE5-4FFFA489F796}" type="slidenum">
              <a:rPr lang="en-US" smtClean="0"/>
              <a:t>‹#›</a:t>
            </a:fld>
            <a:endParaRPr lang="en-US"/>
          </a:p>
        </p:txBody>
      </p:sp>
    </p:spTree>
    <p:extLst>
      <p:ext uri="{BB962C8B-B14F-4D97-AF65-F5344CB8AC3E}">
        <p14:creationId xmlns:p14="http://schemas.microsoft.com/office/powerpoint/2010/main" val="1208244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51141E-09F7-4C77-9E67-F5C1ADF72790}"/>
              </a:ext>
            </a:extLst>
          </p:cNvPr>
          <p:cNvSpPr>
            <a:spLocks noGrp="1"/>
          </p:cNvSpPr>
          <p:nvPr>
            <p:ph type="ctrTitle"/>
          </p:nvPr>
        </p:nvSpPr>
        <p:spPr>
          <a:xfrm>
            <a:off x="1034603" y="478420"/>
            <a:ext cx="8457127" cy="1092803"/>
          </a:xfrm>
        </p:spPr>
        <p:txBody>
          <a:bodyPr/>
          <a:lstStyle/>
          <a:p>
            <a:r>
              <a:rPr kumimoji="0" lang="en-US" sz="4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Electrolyte Balance</a:t>
            </a:r>
            <a:endParaRPr lang="en-US"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xmlns="" id="{EBAE72EE-8872-F254-7A6F-EF931B7096AE}"/>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0ED4AFF2-8CBA-0428-455E-C5A0092BE593}"/>
              </a:ext>
            </a:extLst>
          </p:cNvPr>
          <p:cNvSpPr>
            <a:spLocks noGrp="1"/>
          </p:cNvSpPr>
          <p:nvPr>
            <p:ph type="sldNum" sz="quarter" idx="12"/>
          </p:nvPr>
        </p:nvSpPr>
        <p:spPr/>
        <p:txBody>
          <a:bodyPr/>
          <a:lstStyle/>
          <a:p>
            <a:fld id="{CB22993B-EEE5-4EB1-BEE5-4FFFA489F796}" type="slidenum">
              <a:rPr lang="en-US" smtClean="0"/>
              <a:t>1</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3830" y="1944711"/>
            <a:ext cx="4597759" cy="3933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1070" y="1984957"/>
            <a:ext cx="4713669" cy="385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4763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1053FB-DE9C-4299-9015-738541691EBE}"/>
              </a:ext>
            </a:extLst>
          </p:cNvPr>
          <p:cNvSpPr>
            <a:spLocks noGrp="1"/>
          </p:cNvSpPr>
          <p:nvPr>
            <p:ph type="title"/>
          </p:nvPr>
        </p:nvSpPr>
        <p:spPr>
          <a:xfrm>
            <a:off x="838200" y="365126"/>
            <a:ext cx="10515600" cy="684186"/>
          </a:xfrm>
        </p:spPr>
        <p:txBody>
          <a:bodyPr>
            <a:normAutofit fontScale="90000"/>
          </a:bodyPr>
          <a:lstStyle/>
          <a:p>
            <a:r>
              <a:rPr lang="en-US" dirty="0"/>
              <a:t> </a:t>
            </a:r>
            <a:r>
              <a:rPr lang="en-US"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xmlns="" id="{100DE32D-97D5-4438-9886-71A20F05B301}"/>
              </a:ext>
            </a:extLst>
          </p:cNvPr>
          <p:cNvSpPr>
            <a:spLocks noGrp="1"/>
          </p:cNvSpPr>
          <p:nvPr>
            <p:ph idx="1"/>
          </p:nvPr>
        </p:nvSpPr>
        <p:spPr>
          <a:xfrm>
            <a:off x="838200" y="1199212"/>
            <a:ext cx="10515600" cy="5426439"/>
          </a:xfrm>
        </p:spPr>
        <p:txBody>
          <a:bodyPr/>
          <a:lstStyle/>
          <a:p>
            <a:pPr algn="l"/>
            <a:r>
              <a:rPr lang="en-US" sz="2800" b="1" i="0" u="none" strike="noStrike" baseline="0" dirty="0">
                <a:latin typeface="Times New Roman" panose="02020603050405020304" pitchFamily="18" charset="0"/>
              </a:rPr>
              <a:t>Electrolytes</a:t>
            </a:r>
            <a:r>
              <a:rPr lang="en-US" sz="2800" b="0" i="0" u="none" strike="noStrike" baseline="0" dirty="0">
                <a:latin typeface="Times New Roman" panose="02020603050405020304" pitchFamily="18" charset="0"/>
              </a:rPr>
              <a:t> are chemical substances that release cations (positively charged ions) and anions (negatively charged ions) when they are dissolved in water.</a:t>
            </a:r>
          </a:p>
          <a:p>
            <a:pPr marL="0" indent="0" algn="l">
              <a:buNone/>
            </a:pPr>
            <a:endParaRPr lang="en-US" sz="2800" b="0" i="0" u="none" strike="noStrike" baseline="0" dirty="0">
              <a:latin typeface="Times New Roman" panose="02020603050405020304" pitchFamily="18" charset="0"/>
            </a:endParaRPr>
          </a:p>
          <a:p>
            <a:pPr algn="l"/>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They are mineral salts that conduct electricity when mixed with water. E.g. Sodium, Potassium, Chloride, Phosphorus.</a:t>
            </a:r>
          </a:p>
          <a:p>
            <a:pPr algn="l"/>
            <a:endParaRPr lang="en-US" dirty="0">
              <a:solidFill>
                <a:prstClr val="black"/>
              </a:solidFill>
              <a:latin typeface="Times New Roman" panose="02020603050405020304" pitchFamily="18" charset="0"/>
              <a:cs typeface="Times New Roman" panose="02020603050405020304" pitchFamily="18" charset="0"/>
            </a:endParaRPr>
          </a:p>
          <a:p>
            <a:pPr algn="l"/>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Electrolyte balance </a:t>
            </a:r>
            <a:r>
              <a:rPr kumimoji="0" lang="en-US" sz="2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is</a:t>
            </a: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an equilibrium between the amounts of </a:t>
            </a:r>
            <a:r>
              <a:rPr kumimoji="0" lang="en-US" sz="2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electrolytes</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(as calcium and sodium and potassium) that is essential for normal health and functioning.</a:t>
            </a:r>
            <a:endParaRPr lang="en-US" dirty="0"/>
          </a:p>
        </p:txBody>
      </p:sp>
      <p:sp>
        <p:nvSpPr>
          <p:cNvPr id="4" name="Date Placeholder 3">
            <a:extLst>
              <a:ext uri="{FF2B5EF4-FFF2-40B4-BE49-F238E27FC236}">
                <a16:creationId xmlns:a16="http://schemas.microsoft.com/office/drawing/2014/main" xmlns="" id="{707C6A6F-2D8A-3620-3F29-05AB16114156}"/>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CB595718-373A-B1E5-D13B-0F08C70AB257}"/>
              </a:ext>
            </a:extLst>
          </p:cNvPr>
          <p:cNvSpPr>
            <a:spLocks noGrp="1"/>
          </p:cNvSpPr>
          <p:nvPr>
            <p:ph type="sldNum" sz="quarter" idx="12"/>
          </p:nvPr>
        </p:nvSpPr>
        <p:spPr/>
        <p:txBody>
          <a:bodyPr/>
          <a:lstStyle/>
          <a:p>
            <a:fld id="{CB22993B-EEE5-4EB1-BEE5-4FFFA489F796}" type="slidenum">
              <a:rPr lang="en-US" smtClean="0"/>
              <a:t>2</a:t>
            </a:fld>
            <a:endParaRPr lang="en-US"/>
          </a:p>
        </p:txBody>
      </p:sp>
    </p:spTree>
    <p:extLst>
      <p:ext uri="{BB962C8B-B14F-4D97-AF65-F5344CB8AC3E}">
        <p14:creationId xmlns:p14="http://schemas.microsoft.com/office/powerpoint/2010/main" val="2398208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F2A469-4D6C-4BA8-A6B8-D07F559D142D}"/>
              </a:ext>
            </a:extLst>
          </p:cNvPr>
          <p:cNvSpPr>
            <a:spLocks noGrp="1"/>
          </p:cNvSpPr>
          <p:nvPr>
            <p:ph type="title"/>
          </p:nvPr>
        </p:nvSpPr>
        <p:spPr>
          <a:xfrm>
            <a:off x="838200" y="217357"/>
            <a:ext cx="10515600" cy="742013"/>
          </a:xfrm>
        </p:spPr>
        <p:txBody>
          <a:bodyPr>
            <a:normAutofit/>
          </a:bodyPr>
          <a:lstStyle/>
          <a:p>
            <a:r>
              <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Continue….</a:t>
            </a:r>
            <a:endParaRPr lang="en-US" dirty="0"/>
          </a:p>
        </p:txBody>
      </p:sp>
      <p:sp>
        <p:nvSpPr>
          <p:cNvPr id="3" name="Content Placeholder 2">
            <a:extLst>
              <a:ext uri="{FF2B5EF4-FFF2-40B4-BE49-F238E27FC236}">
                <a16:creationId xmlns:a16="http://schemas.microsoft.com/office/drawing/2014/main" xmlns="" id="{84FB2DCA-56A7-46BB-885F-A371D3AC4ABB}"/>
              </a:ext>
            </a:extLst>
          </p:cNvPr>
          <p:cNvSpPr>
            <a:spLocks noGrp="1"/>
          </p:cNvSpPr>
          <p:nvPr>
            <p:ph idx="1"/>
          </p:nvPr>
        </p:nvSpPr>
        <p:spPr>
          <a:xfrm>
            <a:off x="838200" y="1274164"/>
            <a:ext cx="10515600" cy="5366479"/>
          </a:xfrm>
        </p:spPr>
        <p:txBody>
          <a:bodyPr/>
          <a:lstStyle/>
          <a:p>
            <a:pPr marL="0" indent="0" algn="l">
              <a:buNone/>
            </a:pPr>
            <a:r>
              <a:rPr lang="en-US" sz="3200" b="0" i="0" u="none" strike="noStrike" baseline="0" dirty="0">
                <a:solidFill>
                  <a:srgbClr val="000000"/>
                </a:solidFill>
                <a:latin typeface="Times New Roman" panose="02020603050405020304" pitchFamily="18" charset="0"/>
              </a:rPr>
              <a:t>Electrolytes serve </a:t>
            </a:r>
            <a:r>
              <a:rPr lang="en-US" sz="3200" b="1" i="0" u="none" strike="noStrike" baseline="0" dirty="0">
                <a:solidFill>
                  <a:srgbClr val="FF0000"/>
                </a:solidFill>
                <a:latin typeface="Times New Roman" panose="02020603050405020304" pitchFamily="18" charset="0"/>
              </a:rPr>
              <a:t>4 </a:t>
            </a:r>
            <a:r>
              <a:rPr lang="en-US" sz="3200" b="0" i="0" u="none" strike="noStrike" baseline="0" dirty="0">
                <a:solidFill>
                  <a:srgbClr val="000000"/>
                </a:solidFill>
                <a:latin typeface="Times New Roman" panose="02020603050405020304" pitchFamily="18" charset="0"/>
              </a:rPr>
              <a:t>primary functions in the body.</a:t>
            </a:r>
          </a:p>
          <a:p>
            <a:pPr>
              <a:lnSpc>
                <a:spcPct val="100000"/>
              </a:lnSpc>
            </a:pPr>
            <a:r>
              <a:rPr lang="en-US" dirty="0">
                <a:latin typeface="Times New Roman" panose="02020603050405020304" pitchFamily="18" charset="0"/>
                <a:cs typeface="Times New Roman" panose="02020603050405020304" pitchFamily="18" charset="0"/>
              </a:rPr>
              <a:t>As essential minerals (e.g. Iodine, calcium).</a:t>
            </a:r>
          </a:p>
          <a:p>
            <a:pPr>
              <a:lnSpc>
                <a:spcPct val="100000"/>
              </a:lnSpc>
            </a:pPr>
            <a:r>
              <a:rPr lang="en-US" dirty="0">
                <a:latin typeface="Times New Roman" panose="02020603050405020304" pitchFamily="18" charset="0"/>
                <a:cs typeface="Times New Roman" panose="02020603050405020304" pitchFamily="18" charset="0"/>
              </a:rPr>
              <a:t>Control osmosis between body compartments by establishing proper osmotic pressure (e.g. Sodium, chloride).</a:t>
            </a:r>
          </a:p>
          <a:p>
            <a:pPr>
              <a:lnSpc>
                <a:spcPct val="100000"/>
              </a:lnSpc>
            </a:pPr>
            <a:r>
              <a:rPr lang="en-US" dirty="0">
                <a:latin typeface="Times New Roman" panose="02020603050405020304" pitchFamily="18" charset="0"/>
                <a:cs typeface="Times New Roman" panose="02020603050405020304" pitchFamily="18" charset="0"/>
              </a:rPr>
              <a:t>Help maintain acid-base balance (e.g. Hydrogen ion, bicarbonate ion).</a:t>
            </a:r>
          </a:p>
          <a:p>
            <a:pPr>
              <a:lnSpc>
                <a:spcPct val="100000"/>
              </a:lnSpc>
            </a:pPr>
            <a:r>
              <a:rPr lang="en-US" dirty="0">
                <a:latin typeface="Times New Roman" panose="02020603050405020304" pitchFamily="18" charset="0"/>
                <a:cs typeface="Times New Roman" panose="02020603050405020304" pitchFamily="18" charset="0"/>
              </a:rPr>
              <a:t>Carry electrical current that allows the production of action potentials (e.g. Sodium, potassium).</a:t>
            </a:r>
          </a:p>
        </p:txBody>
      </p:sp>
      <p:sp>
        <p:nvSpPr>
          <p:cNvPr id="4" name="Date Placeholder 3">
            <a:extLst>
              <a:ext uri="{FF2B5EF4-FFF2-40B4-BE49-F238E27FC236}">
                <a16:creationId xmlns:a16="http://schemas.microsoft.com/office/drawing/2014/main" xmlns="" id="{99274AD3-3AB9-37A1-0054-5E1277ADBDD5}"/>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ACE40167-3F26-91AC-81AD-12A8C4036FF2}"/>
              </a:ext>
            </a:extLst>
          </p:cNvPr>
          <p:cNvSpPr>
            <a:spLocks noGrp="1"/>
          </p:cNvSpPr>
          <p:nvPr>
            <p:ph type="sldNum" sz="quarter" idx="12"/>
          </p:nvPr>
        </p:nvSpPr>
        <p:spPr/>
        <p:txBody>
          <a:bodyPr/>
          <a:lstStyle/>
          <a:p>
            <a:fld id="{CB22993B-EEE5-4EB1-BEE5-4FFFA489F796}" type="slidenum">
              <a:rPr lang="en-US" smtClean="0"/>
              <a:t>3</a:t>
            </a:fld>
            <a:endParaRPr lang="en-US"/>
          </a:p>
        </p:txBody>
      </p:sp>
    </p:spTree>
    <p:extLst>
      <p:ext uri="{BB962C8B-B14F-4D97-AF65-F5344CB8AC3E}">
        <p14:creationId xmlns:p14="http://schemas.microsoft.com/office/powerpoint/2010/main" val="2770957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81F3FA-E2F0-4E98-83C1-6EAF84D1692C}"/>
              </a:ext>
            </a:extLst>
          </p:cNvPr>
          <p:cNvSpPr>
            <a:spLocks noGrp="1"/>
          </p:cNvSpPr>
          <p:nvPr>
            <p:ph type="title"/>
          </p:nvPr>
        </p:nvSpPr>
        <p:spPr>
          <a:xfrm>
            <a:off x="838200" y="365125"/>
            <a:ext cx="10515600" cy="504305"/>
          </a:xfrm>
        </p:spPr>
        <p:txBody>
          <a:bodyPr>
            <a:normAutofit fontScale="90000"/>
          </a:bodyPr>
          <a:lstStyle/>
          <a:p>
            <a:r>
              <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Continue….</a:t>
            </a:r>
            <a:endParaRPr lang="en-US" dirty="0"/>
          </a:p>
        </p:txBody>
      </p:sp>
      <p:sp>
        <p:nvSpPr>
          <p:cNvPr id="3" name="Content Placeholder 2">
            <a:extLst>
              <a:ext uri="{FF2B5EF4-FFF2-40B4-BE49-F238E27FC236}">
                <a16:creationId xmlns:a16="http://schemas.microsoft.com/office/drawing/2014/main" xmlns="" id="{0D42FF8C-4069-44FE-A263-53EA466B360B}"/>
              </a:ext>
            </a:extLst>
          </p:cNvPr>
          <p:cNvSpPr>
            <a:spLocks noGrp="1"/>
          </p:cNvSpPr>
          <p:nvPr>
            <p:ph idx="1"/>
          </p:nvPr>
        </p:nvSpPr>
        <p:spPr>
          <a:xfrm>
            <a:off x="838200" y="1064303"/>
            <a:ext cx="10515600" cy="5793698"/>
          </a:xfrm>
        </p:spPr>
        <p:txBody>
          <a:bodyPr>
            <a:normAutofit/>
          </a:bodyPr>
          <a:lstStyle/>
          <a:p>
            <a:pPr algn="l">
              <a:lnSpc>
                <a:spcPct val="100000"/>
              </a:lnSpc>
            </a:pPr>
            <a:r>
              <a:rPr lang="en-US" sz="2800" b="1" i="0" u="none" strike="noStrike" baseline="0" dirty="0">
                <a:solidFill>
                  <a:srgbClr val="C00000"/>
                </a:solidFill>
                <a:latin typeface="Times New Roman" panose="02020603050405020304" pitchFamily="18" charset="0"/>
              </a:rPr>
              <a:t>Na</a:t>
            </a:r>
            <a:r>
              <a:rPr lang="en-US" sz="1800" b="1" i="0" u="none" strike="noStrike" baseline="0" dirty="0">
                <a:solidFill>
                  <a:srgbClr val="C00000"/>
                </a:solidFill>
                <a:latin typeface="Times New Roman" panose="02020603050405020304" pitchFamily="18" charset="0"/>
              </a:rPr>
              <a:t>+ </a:t>
            </a:r>
            <a:r>
              <a:rPr lang="en-US" sz="2800" b="0" i="0" u="none" strike="noStrike" baseline="0" dirty="0">
                <a:solidFill>
                  <a:srgbClr val="000000"/>
                </a:solidFill>
                <a:latin typeface="Times New Roman" panose="02020603050405020304" pitchFamily="18" charset="0"/>
              </a:rPr>
              <a:t>is the most abundant extracellular cation; involved in nerve impulse transmission, muscle contraction, and creation of osmotic pressure.</a:t>
            </a:r>
          </a:p>
          <a:p>
            <a:pPr algn="l">
              <a:lnSpc>
                <a:spcPct val="100000"/>
              </a:lnSpc>
            </a:pPr>
            <a:r>
              <a:rPr lang="en-US" sz="2800" b="1" i="0" u="none" strike="noStrike" baseline="0" dirty="0">
                <a:solidFill>
                  <a:srgbClr val="C00000"/>
                </a:solidFill>
                <a:latin typeface="Times New Roman" panose="02020603050405020304" pitchFamily="18" charset="0"/>
              </a:rPr>
              <a:t>Cl</a:t>
            </a:r>
            <a:r>
              <a:rPr lang="en-US" sz="1800" b="1" i="0" u="none" strike="noStrike" baseline="0" dirty="0">
                <a:solidFill>
                  <a:srgbClr val="C00000"/>
                </a:solidFill>
                <a:latin typeface="Times New Roman" panose="02020603050405020304" pitchFamily="18" charset="0"/>
              </a:rPr>
              <a:t>- </a:t>
            </a:r>
            <a:r>
              <a:rPr lang="en-US" sz="2800" b="0" i="0" u="none" strike="noStrike" baseline="0" dirty="0">
                <a:solidFill>
                  <a:srgbClr val="000000"/>
                </a:solidFill>
                <a:latin typeface="Times New Roman" panose="02020603050405020304" pitchFamily="18" charset="0"/>
              </a:rPr>
              <a:t>is a major extracellular anion; involved in regulating osmotic pressure between body compartments, forming HCI in stomach, and involved in the “chloride shift” process in blood.</a:t>
            </a:r>
          </a:p>
          <a:p>
            <a:pPr algn="l">
              <a:lnSpc>
                <a:spcPct val="100000"/>
              </a:lnSpc>
            </a:pPr>
            <a:r>
              <a:rPr lang="en-US" sz="2800" b="1" i="0" u="none" strike="noStrike" baseline="0" dirty="0">
                <a:solidFill>
                  <a:srgbClr val="C00000"/>
                </a:solidFill>
                <a:latin typeface="Times New Roman" panose="02020603050405020304" pitchFamily="18" charset="0"/>
              </a:rPr>
              <a:t>K</a:t>
            </a:r>
            <a:r>
              <a:rPr lang="en-US" sz="1800" b="1" i="0" u="none" strike="noStrike" baseline="0" dirty="0">
                <a:solidFill>
                  <a:srgbClr val="C00000"/>
                </a:solidFill>
                <a:latin typeface="Times New Roman" panose="02020603050405020304" pitchFamily="18" charset="0"/>
              </a:rPr>
              <a:t>+ </a:t>
            </a:r>
            <a:r>
              <a:rPr lang="en-US" sz="2800" b="0" i="0" u="none" strike="noStrike" baseline="0" dirty="0">
                <a:solidFill>
                  <a:srgbClr val="000000"/>
                </a:solidFill>
                <a:latin typeface="Times New Roman" panose="02020603050405020304" pitchFamily="18" charset="0"/>
              </a:rPr>
              <a:t>is the most abundant cation in ICF; involved in maintaining fluid volume, nerve impulse transmission, muscle contraction, and regulating </a:t>
            </a:r>
            <a:r>
              <a:rPr lang="en-US" sz="2800" b="0" i="0" u="none" strike="noStrike" baseline="0" dirty="0" err="1">
                <a:solidFill>
                  <a:srgbClr val="000000"/>
                </a:solidFill>
                <a:latin typeface="Times New Roman" panose="02020603050405020304" pitchFamily="18" charset="0"/>
              </a:rPr>
              <a:t>pH.</a:t>
            </a:r>
            <a:endParaRPr lang="en-US" dirty="0"/>
          </a:p>
        </p:txBody>
      </p:sp>
      <p:sp>
        <p:nvSpPr>
          <p:cNvPr id="4" name="Date Placeholder 3">
            <a:extLst>
              <a:ext uri="{FF2B5EF4-FFF2-40B4-BE49-F238E27FC236}">
                <a16:creationId xmlns:a16="http://schemas.microsoft.com/office/drawing/2014/main" xmlns="" id="{E32C232D-D766-1315-8CA1-658F71D9F32F}"/>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41F8535E-8A02-B6F3-7D63-6A7736717073}"/>
              </a:ext>
            </a:extLst>
          </p:cNvPr>
          <p:cNvSpPr>
            <a:spLocks noGrp="1"/>
          </p:cNvSpPr>
          <p:nvPr>
            <p:ph type="sldNum" sz="quarter" idx="12"/>
          </p:nvPr>
        </p:nvSpPr>
        <p:spPr/>
        <p:txBody>
          <a:bodyPr/>
          <a:lstStyle/>
          <a:p>
            <a:fld id="{CB22993B-EEE5-4EB1-BEE5-4FFFA489F796}" type="slidenum">
              <a:rPr lang="en-US" smtClean="0"/>
              <a:t>4</a:t>
            </a:fld>
            <a:endParaRPr lang="en-US"/>
          </a:p>
        </p:txBody>
      </p:sp>
    </p:spTree>
    <p:extLst>
      <p:ext uri="{BB962C8B-B14F-4D97-AF65-F5344CB8AC3E}">
        <p14:creationId xmlns:p14="http://schemas.microsoft.com/office/powerpoint/2010/main" val="1741491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483728-7305-4D18-AD64-529206B1C9D6}"/>
              </a:ext>
            </a:extLst>
          </p:cNvPr>
          <p:cNvSpPr>
            <a:spLocks noGrp="1"/>
          </p:cNvSpPr>
          <p:nvPr>
            <p:ph type="title"/>
          </p:nvPr>
        </p:nvSpPr>
        <p:spPr>
          <a:xfrm>
            <a:off x="838200" y="359764"/>
            <a:ext cx="10515600" cy="644578"/>
          </a:xfrm>
        </p:spPr>
        <p:txBody>
          <a:bodyPr>
            <a:normAutofit/>
          </a:bodyPr>
          <a:lstStyle/>
          <a:p>
            <a:r>
              <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Continue….</a:t>
            </a:r>
            <a:endParaRPr lang="en-US" dirty="0"/>
          </a:p>
        </p:txBody>
      </p:sp>
      <p:sp>
        <p:nvSpPr>
          <p:cNvPr id="3" name="Content Placeholder 2">
            <a:extLst>
              <a:ext uri="{FF2B5EF4-FFF2-40B4-BE49-F238E27FC236}">
                <a16:creationId xmlns:a16="http://schemas.microsoft.com/office/drawing/2014/main" xmlns="" id="{66D96329-5842-4D0C-B8DD-AF2A9FACACBD}"/>
              </a:ext>
            </a:extLst>
          </p:cNvPr>
          <p:cNvSpPr>
            <a:spLocks noGrp="1"/>
          </p:cNvSpPr>
          <p:nvPr>
            <p:ph idx="1"/>
          </p:nvPr>
        </p:nvSpPr>
        <p:spPr>
          <a:xfrm>
            <a:off x="838200" y="1169233"/>
            <a:ext cx="10515600" cy="5546360"/>
          </a:xfrm>
        </p:spPr>
        <p:txBody>
          <a:bodyPr/>
          <a:lstStyle/>
          <a:p>
            <a:pPr algn="l"/>
            <a:r>
              <a:rPr lang="en-US" sz="2800" b="1" i="0" u="none" strike="noStrike" baseline="0" dirty="0">
                <a:solidFill>
                  <a:srgbClr val="C00000"/>
                </a:solidFill>
                <a:latin typeface="Times New Roman" panose="02020603050405020304" pitchFamily="18" charset="0"/>
              </a:rPr>
              <a:t>Ca</a:t>
            </a:r>
            <a:r>
              <a:rPr lang="en-US" sz="1800" b="1" i="0" u="none" strike="noStrike" baseline="0" dirty="0">
                <a:solidFill>
                  <a:srgbClr val="C00000"/>
                </a:solidFill>
                <a:latin typeface="Times New Roman" panose="02020603050405020304" pitchFamily="18" charset="0"/>
              </a:rPr>
              <a:t>++ </a:t>
            </a:r>
            <a:r>
              <a:rPr lang="en-US" sz="2800" b="0" i="0" u="none" strike="noStrike" baseline="0" dirty="0">
                <a:solidFill>
                  <a:srgbClr val="000000"/>
                </a:solidFill>
                <a:latin typeface="Times New Roman" panose="02020603050405020304" pitchFamily="18" charset="0"/>
              </a:rPr>
              <a:t>is the most abundant cation in the body, located mainly in ECF; a major structural component of bones and teeth; functions in blood clotting, neurotransmitter release, muscle tone, and excitability of nervous and muscle tissues.</a:t>
            </a:r>
          </a:p>
          <a:p>
            <a:pPr algn="l"/>
            <a:r>
              <a:rPr lang="en-US" sz="2800" b="1" i="0" u="none" strike="noStrike" baseline="0" dirty="0">
                <a:solidFill>
                  <a:srgbClr val="C00000"/>
                </a:solidFill>
                <a:latin typeface="Times New Roman" panose="02020603050405020304" pitchFamily="18" charset="0"/>
              </a:rPr>
              <a:t>HPO</a:t>
            </a:r>
            <a:r>
              <a:rPr lang="en-US" sz="1800" b="1" i="0" u="none" strike="noStrike" baseline="0" dirty="0">
                <a:solidFill>
                  <a:srgbClr val="C00000"/>
                </a:solidFill>
                <a:latin typeface="Times New Roman" panose="02020603050405020304" pitchFamily="18" charset="0"/>
              </a:rPr>
              <a:t>4 2- </a:t>
            </a:r>
            <a:r>
              <a:rPr lang="en-US" sz="2800" b="0" i="0" u="none" strike="noStrike" baseline="0" dirty="0">
                <a:solidFill>
                  <a:srgbClr val="000000"/>
                </a:solidFill>
                <a:latin typeface="Times New Roman" panose="02020603050405020304" pitchFamily="18" charset="0"/>
              </a:rPr>
              <a:t>is an important intracellular anion; another major structural component of bones and teeth; required for synthesis of nucleic acids and ATP, and for buffering reactions.</a:t>
            </a:r>
            <a:endParaRPr lang="en-US" dirty="0"/>
          </a:p>
        </p:txBody>
      </p:sp>
      <p:sp>
        <p:nvSpPr>
          <p:cNvPr id="4" name="Date Placeholder 3">
            <a:extLst>
              <a:ext uri="{FF2B5EF4-FFF2-40B4-BE49-F238E27FC236}">
                <a16:creationId xmlns:a16="http://schemas.microsoft.com/office/drawing/2014/main" xmlns="" id="{688F084D-0B16-18B5-9FC0-9CB867F61944}"/>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0E9FA1FB-6E19-101D-DD20-CF8CFCEEBBF0}"/>
              </a:ext>
            </a:extLst>
          </p:cNvPr>
          <p:cNvSpPr>
            <a:spLocks noGrp="1"/>
          </p:cNvSpPr>
          <p:nvPr>
            <p:ph type="sldNum" sz="quarter" idx="12"/>
          </p:nvPr>
        </p:nvSpPr>
        <p:spPr/>
        <p:txBody>
          <a:bodyPr/>
          <a:lstStyle/>
          <a:p>
            <a:fld id="{CB22993B-EEE5-4EB1-BEE5-4FFFA489F796}" type="slidenum">
              <a:rPr lang="en-US" smtClean="0"/>
              <a:t>5</a:t>
            </a:fld>
            <a:endParaRPr lang="en-US"/>
          </a:p>
        </p:txBody>
      </p:sp>
    </p:spTree>
    <p:extLst>
      <p:ext uri="{BB962C8B-B14F-4D97-AF65-F5344CB8AC3E}">
        <p14:creationId xmlns:p14="http://schemas.microsoft.com/office/powerpoint/2010/main" val="1772296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4CCD1C3-61D3-49AF-8854-0D5DAA3FA9FE}"/>
              </a:ext>
            </a:extLst>
          </p:cNvPr>
          <p:cNvSpPr>
            <a:spLocks noGrp="1"/>
          </p:cNvSpPr>
          <p:nvPr>
            <p:ph idx="1"/>
          </p:nvPr>
        </p:nvSpPr>
        <p:spPr>
          <a:xfrm>
            <a:off x="838200" y="899410"/>
            <a:ext cx="10515600" cy="5958589"/>
          </a:xfrm>
        </p:spPr>
        <p:txBody>
          <a:bodyPr>
            <a:normAutofit/>
          </a:bodyPr>
          <a:lstStyle/>
          <a:p>
            <a:pPr marL="0" indent="0" algn="l">
              <a:buNone/>
            </a:pPr>
            <a:r>
              <a:rPr lang="en-US" sz="3200" b="0" i="0" u="none" strike="noStrike" baseline="0" dirty="0">
                <a:solidFill>
                  <a:srgbClr val="000000"/>
                </a:solidFill>
                <a:latin typeface="Times New Roman" panose="02020603050405020304" pitchFamily="18" charset="0"/>
              </a:rPr>
              <a:t> </a:t>
            </a:r>
            <a:r>
              <a:rPr lang="en-US" sz="3200" b="1" i="0" u="none" strike="noStrike" baseline="0" dirty="0">
                <a:solidFill>
                  <a:srgbClr val="000000"/>
                </a:solidFill>
                <a:latin typeface="Times New Roman" panose="02020603050405020304" pitchFamily="18" charset="0"/>
              </a:rPr>
              <a:t>Level of electrolytes are mainly regulated by hormones</a:t>
            </a:r>
            <a:r>
              <a:rPr lang="en-US" sz="3200" b="0" i="0" u="none" strike="noStrike" baseline="0" dirty="0">
                <a:solidFill>
                  <a:srgbClr val="000000"/>
                </a:solidFill>
                <a:latin typeface="Times New Roman" panose="02020603050405020304" pitchFamily="18" charset="0"/>
              </a:rPr>
              <a:t>:</a:t>
            </a:r>
            <a:endParaRPr lang="en-US" sz="2800" b="1" i="0" u="none" strike="noStrike" baseline="0" dirty="0">
              <a:solidFill>
                <a:srgbClr val="0071C0"/>
              </a:solidFill>
              <a:latin typeface="Times New Roman" panose="02020603050405020304" pitchFamily="18" charset="0"/>
            </a:endParaRPr>
          </a:p>
          <a:p>
            <a:pPr algn="l">
              <a:lnSpc>
                <a:spcPct val="100000"/>
              </a:lnSpc>
            </a:pPr>
            <a:endParaRPr lang="en-US" sz="2800" i="0" u="none" strike="noStrike" baseline="0" dirty="0">
              <a:latin typeface="Times New Roman" panose="02020603050405020304" pitchFamily="18" charset="0"/>
            </a:endParaRPr>
          </a:p>
          <a:p>
            <a:pPr algn="l">
              <a:lnSpc>
                <a:spcPct val="100000"/>
              </a:lnSpc>
            </a:pPr>
            <a:r>
              <a:rPr lang="en-US" sz="2800" i="0" u="none" strike="noStrike" baseline="0" dirty="0">
                <a:latin typeface="Times New Roman" panose="02020603050405020304" pitchFamily="18" charset="0"/>
              </a:rPr>
              <a:t>Aldosterone (from adrenal cortex) causes an increase in sodium reabsorption and potassium secretion at the kidney tubules.</a:t>
            </a:r>
          </a:p>
          <a:p>
            <a:pPr marR="0" lvl="0" algn="l" defTabSz="914400" rtl="0" eaLnBrk="1" fontAlgn="auto" latinLnBrk="0" hangingPunct="1">
              <a:lnSpc>
                <a:spcPct val="100000"/>
              </a:lnSpc>
              <a:spcBef>
                <a:spcPts val="1000"/>
              </a:spcBef>
              <a:spcAft>
                <a:spcPts val="0"/>
              </a:spcAft>
              <a:buClrTx/>
              <a:buSzTx/>
              <a:tabLst/>
              <a:defRPr/>
            </a:pPr>
            <a:r>
              <a:rPr kumimoji="0" lang="en-GB"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Atrial natriuretic peptide (ANP</a:t>
            </a:r>
            <a:r>
              <a:rPr kumimoji="0" lang="en-GB"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release from the atria is stimulated when blood volume and pressure are elevated.</a:t>
            </a:r>
          </a:p>
          <a:p>
            <a:pPr marR="0" lvl="0" algn="l" defTabSz="914400" rtl="0" eaLnBrk="1" fontAlgn="auto" latinLnBrk="0" hangingPunct="1">
              <a:lnSpc>
                <a:spcPct val="100000"/>
              </a:lnSpc>
              <a:spcBef>
                <a:spcPts val="1000"/>
              </a:spcBef>
              <a:spcAft>
                <a:spcPts val="0"/>
              </a:spcAft>
              <a:buClrTx/>
              <a:buSzTx/>
              <a:tabLst/>
              <a:defRPr/>
            </a:pPr>
            <a:r>
              <a:rPr lang="en-GB" dirty="0">
                <a:solidFill>
                  <a:prstClr val="black"/>
                </a:solidFill>
                <a:latin typeface="Times New Roman" panose="02020603050405020304" pitchFamily="18" charset="0"/>
                <a:cs typeface="Times New Roman" panose="02020603050405020304" pitchFamily="18" charset="0"/>
              </a:rPr>
              <a:t>ANP</a:t>
            </a:r>
            <a:r>
              <a:rPr kumimoji="0" lang="en-GB"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promotes both fluid and sodium loss by the kidneys.</a:t>
            </a:r>
          </a:p>
          <a:p>
            <a:pPr algn="l">
              <a:lnSpc>
                <a:spcPct val="100000"/>
              </a:lnSpc>
            </a:pPr>
            <a:r>
              <a:rPr lang="en-US" sz="3000" b="0" i="0" u="none" strike="noStrike" baseline="0" dirty="0">
                <a:latin typeface="Times New Roman" panose="02020603050405020304" pitchFamily="18" charset="0"/>
                <a:cs typeface="Times New Roman" panose="02020603050405020304" pitchFamily="18" charset="0"/>
              </a:rPr>
              <a:t>ADH, which is secreted in response to increased osmolality or decreased blood pressure, primarily regulates [Na+].</a:t>
            </a:r>
            <a:endParaRPr lang="en-US" sz="2800" i="0" u="none" strike="noStrike" baseline="0" dirty="0">
              <a:latin typeface="Times New Roman" panose="02020603050405020304" pitchFamily="18" charset="0"/>
            </a:endParaRPr>
          </a:p>
        </p:txBody>
      </p:sp>
      <p:sp>
        <p:nvSpPr>
          <p:cNvPr id="4" name="Date Placeholder 3">
            <a:extLst>
              <a:ext uri="{FF2B5EF4-FFF2-40B4-BE49-F238E27FC236}">
                <a16:creationId xmlns:a16="http://schemas.microsoft.com/office/drawing/2014/main" xmlns="" id="{E0D0CBEC-F782-F120-5F94-0B00EEBFC523}"/>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FBDEE3E9-2932-CC77-917D-44B21872CF7F}"/>
              </a:ext>
            </a:extLst>
          </p:cNvPr>
          <p:cNvSpPr>
            <a:spLocks noGrp="1"/>
          </p:cNvSpPr>
          <p:nvPr>
            <p:ph type="sldNum" sz="quarter" idx="12"/>
          </p:nvPr>
        </p:nvSpPr>
        <p:spPr/>
        <p:txBody>
          <a:bodyPr/>
          <a:lstStyle/>
          <a:p>
            <a:fld id="{CB22993B-EEE5-4EB1-BEE5-4FFFA489F796}" type="slidenum">
              <a:rPr lang="en-US" smtClean="0"/>
              <a:t>6</a:t>
            </a:fld>
            <a:endParaRPr lang="en-US"/>
          </a:p>
        </p:txBody>
      </p:sp>
    </p:spTree>
    <p:extLst>
      <p:ext uri="{BB962C8B-B14F-4D97-AF65-F5344CB8AC3E}">
        <p14:creationId xmlns:p14="http://schemas.microsoft.com/office/powerpoint/2010/main" val="415758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235FB7-7616-4FFE-A96E-1FC835694C62}"/>
              </a:ext>
            </a:extLst>
          </p:cNvPr>
          <p:cNvSpPr>
            <a:spLocks noGrp="1"/>
          </p:cNvSpPr>
          <p:nvPr>
            <p:ph type="title"/>
          </p:nvPr>
        </p:nvSpPr>
        <p:spPr>
          <a:xfrm>
            <a:off x="838200" y="365126"/>
            <a:ext cx="10515600" cy="849078"/>
          </a:xfrm>
        </p:spPr>
        <p:txBody>
          <a:bodyPr/>
          <a:lstStyle/>
          <a:p>
            <a:r>
              <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Continue….</a:t>
            </a:r>
            <a:endParaRPr lang="en-US" dirty="0"/>
          </a:p>
        </p:txBody>
      </p:sp>
      <p:sp>
        <p:nvSpPr>
          <p:cNvPr id="3" name="Content Placeholder 2">
            <a:extLst>
              <a:ext uri="{FF2B5EF4-FFF2-40B4-BE49-F238E27FC236}">
                <a16:creationId xmlns:a16="http://schemas.microsoft.com/office/drawing/2014/main" xmlns="" id="{24BA3AEF-9722-4FCF-93E3-7820479D9463}"/>
              </a:ext>
            </a:extLst>
          </p:cNvPr>
          <p:cNvSpPr>
            <a:spLocks noGrp="1"/>
          </p:cNvSpPr>
          <p:nvPr>
            <p:ph idx="1"/>
          </p:nvPr>
        </p:nvSpPr>
        <p:spPr>
          <a:xfrm>
            <a:off x="838200" y="1469036"/>
            <a:ext cx="10515600" cy="5023838"/>
          </a:xfrm>
        </p:spPr>
        <p:txBody>
          <a:bodyPr/>
          <a:lstStyle/>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endParaRPr kumimoji="0" lang="en-US" sz="28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28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Parathyroid hormone (PTH) from the parathyroid glands and Calcitonin </a:t>
            </a:r>
            <a:r>
              <a:rPr kumimoji="0" lang="en-US" sz="280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(CT) from the thyroid gland regulate </a:t>
            </a:r>
            <a:r>
              <a:rPr kumimoji="0" lang="en-US"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calcium balance</a:t>
            </a:r>
            <a:r>
              <a:rPr kumimoji="0" lang="en-US" sz="280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endParaRPr kumimoji="0" lang="en-US" sz="280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algn="l">
              <a:lnSpc>
                <a:spcPct val="100000"/>
              </a:lnSpc>
            </a:pPr>
            <a:r>
              <a:rPr lang="en-US" sz="2800" i="0" u="none" strike="noStrike" baseline="0" dirty="0">
                <a:latin typeface="Times New Roman" panose="02020603050405020304" pitchFamily="18" charset="0"/>
                <a:cs typeface="Times New Roman" panose="02020603050405020304" pitchFamily="18" charset="0"/>
              </a:rPr>
              <a:t>Phosphorus -Primarily renal mechanisms Minor: PTH.</a:t>
            </a:r>
          </a:p>
          <a:p>
            <a:pPr algn="l">
              <a:lnSpc>
                <a:spcPct val="100000"/>
              </a:lnSpc>
            </a:pPr>
            <a:endParaRPr lang="en-US" sz="2800" i="0" u="none" strike="noStrike" baseline="0" dirty="0">
              <a:latin typeface="Times New Roman" panose="02020603050405020304" pitchFamily="18" charset="0"/>
              <a:cs typeface="Times New Roman" panose="02020603050405020304" pitchFamily="18" charset="0"/>
            </a:endParaRPr>
          </a:p>
          <a:p>
            <a:pPr algn="l">
              <a:lnSpc>
                <a:spcPct val="100000"/>
              </a:lnSpc>
            </a:pPr>
            <a:r>
              <a:rPr lang="en-US" sz="2800" i="0" u="none" strike="noStrike" baseline="0" dirty="0">
                <a:latin typeface="Times New Roman" panose="02020603050405020304" pitchFamily="18" charset="0"/>
                <a:cs typeface="Times New Roman" panose="02020603050405020304" pitchFamily="18" charset="0"/>
              </a:rPr>
              <a:t>Magnesium- Primarily renal mechanisms Minor: PTH, vitamin D</a:t>
            </a:r>
            <a:endParaRPr kumimoji="0" lang="en-US" sz="28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endParaRPr lang="en-US" dirty="0"/>
          </a:p>
        </p:txBody>
      </p:sp>
      <p:sp>
        <p:nvSpPr>
          <p:cNvPr id="4" name="Date Placeholder 3">
            <a:extLst>
              <a:ext uri="{FF2B5EF4-FFF2-40B4-BE49-F238E27FC236}">
                <a16:creationId xmlns:a16="http://schemas.microsoft.com/office/drawing/2014/main" xmlns="" id="{76A72D80-92DD-329B-62F8-FE9CFA29BDB0}"/>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15787A21-577C-E1D0-BB73-631433BCE0A8}"/>
              </a:ext>
            </a:extLst>
          </p:cNvPr>
          <p:cNvSpPr>
            <a:spLocks noGrp="1"/>
          </p:cNvSpPr>
          <p:nvPr>
            <p:ph type="sldNum" sz="quarter" idx="12"/>
          </p:nvPr>
        </p:nvSpPr>
        <p:spPr/>
        <p:txBody>
          <a:bodyPr/>
          <a:lstStyle/>
          <a:p>
            <a:fld id="{CB22993B-EEE5-4EB1-BEE5-4FFFA489F796}" type="slidenum">
              <a:rPr lang="en-US" smtClean="0"/>
              <a:t>7</a:t>
            </a:fld>
            <a:endParaRPr lang="en-US"/>
          </a:p>
        </p:txBody>
      </p:sp>
    </p:spTree>
    <p:extLst>
      <p:ext uri="{BB962C8B-B14F-4D97-AF65-F5344CB8AC3E}">
        <p14:creationId xmlns:p14="http://schemas.microsoft.com/office/powerpoint/2010/main" val="2060363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7B794E-6F08-4A6E-A4B0-AB29CFC0CF0B}"/>
              </a:ext>
            </a:extLst>
          </p:cNvPr>
          <p:cNvSpPr>
            <a:spLocks noGrp="1"/>
          </p:cNvSpPr>
          <p:nvPr>
            <p:ph type="title"/>
          </p:nvPr>
        </p:nvSpPr>
        <p:spPr>
          <a:xfrm>
            <a:off x="838200" y="239843"/>
            <a:ext cx="10515600" cy="704537"/>
          </a:xfrm>
        </p:spPr>
        <p:txBody>
          <a:bodyPr>
            <a:normAutofit/>
          </a:bodyPr>
          <a:lstStyle/>
          <a:p>
            <a:pPr marL="228600" marR="0" lvl="0" indent="-228600" defTabSz="914400" rtl="0" eaLnBrk="1" fontAlgn="auto" latinLnBrk="0" hangingPunct="1">
              <a:lnSpc>
                <a:spcPct val="90000"/>
              </a:lnSpc>
              <a:spcBef>
                <a:spcPts val="1000"/>
              </a:spcBef>
              <a:spcAft>
                <a:spcPts val="0"/>
              </a:spcAft>
              <a:tabLst/>
              <a:defRPr/>
            </a:pPr>
            <a:r>
              <a:rPr kumimoji="0" lang="en-US" sz="36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Regulation of electrolyte Intake &amp; output</a:t>
            </a:r>
            <a:endParaRPr lang="en-US" sz="5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38451056-B2D2-4EB8-AE39-50EF93ED371E}"/>
              </a:ext>
            </a:extLst>
          </p:cNvPr>
          <p:cNvSpPr>
            <a:spLocks noGrp="1"/>
          </p:cNvSpPr>
          <p:nvPr>
            <p:ph idx="1"/>
          </p:nvPr>
        </p:nvSpPr>
        <p:spPr>
          <a:xfrm>
            <a:off x="838200" y="1184224"/>
            <a:ext cx="10515600" cy="5673776"/>
          </a:xfrm>
        </p:spPr>
        <p:txBody>
          <a:bodyPr>
            <a:normAutofit/>
          </a:bodyPr>
          <a:lstStyle/>
          <a:p>
            <a:pPr algn="l"/>
            <a:r>
              <a:rPr lang="en-US" sz="2800" b="1" i="0" u="none" strike="noStrike" baseline="0" dirty="0">
                <a:latin typeface="Times New Roman" panose="02020603050405020304" pitchFamily="18" charset="0"/>
                <a:cs typeface="Times New Roman" panose="02020603050405020304" pitchFamily="18" charset="0"/>
              </a:rPr>
              <a:t>Electrolyte intake:</a:t>
            </a:r>
          </a:p>
          <a:p>
            <a:pPr algn="l"/>
            <a:r>
              <a:rPr lang="en-US" sz="2800" b="0" i="0" u="none" strike="noStrike" baseline="0" dirty="0">
                <a:latin typeface="Times New Roman" panose="02020603050405020304" pitchFamily="18" charset="0"/>
                <a:cs typeface="Times New Roman" panose="02020603050405020304" pitchFamily="18" charset="0"/>
              </a:rPr>
              <a:t>Electrolytes are usually obtained in sufficient quantities in response to hunger and thirst mechanism.</a:t>
            </a:r>
          </a:p>
          <a:p>
            <a:pPr marL="0" indent="0" algn="l">
              <a:buNone/>
            </a:pPr>
            <a:endParaRPr lang="en-US" sz="2800" b="0" i="0" u="none" strike="noStrike" baseline="0" dirty="0">
              <a:latin typeface="Times New Roman" panose="02020603050405020304" pitchFamily="18" charset="0"/>
              <a:cs typeface="Times New Roman" panose="02020603050405020304" pitchFamily="18" charset="0"/>
            </a:endParaRPr>
          </a:p>
          <a:p>
            <a:pPr marL="0" indent="0" algn="l">
              <a:buNone/>
            </a:pPr>
            <a:r>
              <a:rPr lang="en-US" sz="1700" b="0" i="0" u="none" strike="noStrike" baseline="0" dirty="0">
                <a:latin typeface="Times New Roman" panose="02020603050405020304" pitchFamily="18" charset="0"/>
                <a:cs typeface="Times New Roman" panose="02020603050405020304" pitchFamily="18" charset="0"/>
              </a:rPr>
              <a:t> </a:t>
            </a:r>
            <a:r>
              <a:rPr lang="en-US" sz="2800" b="1" i="0" u="none" strike="noStrike" baseline="0" dirty="0">
                <a:latin typeface="Times New Roman" panose="02020603050405020304" pitchFamily="18" charset="0"/>
                <a:cs typeface="Times New Roman" panose="02020603050405020304" pitchFamily="18" charset="0"/>
              </a:rPr>
              <a:t>Electrolyte output:</a:t>
            </a:r>
          </a:p>
          <a:p>
            <a:pPr algn="l"/>
            <a:r>
              <a:rPr lang="en-US" sz="2800" b="0" i="0" u="none" strike="noStrike" baseline="0" dirty="0">
                <a:latin typeface="Times New Roman" panose="02020603050405020304" pitchFamily="18" charset="0"/>
                <a:cs typeface="Times New Roman" panose="02020603050405020304" pitchFamily="18" charset="0"/>
              </a:rPr>
              <a:t>Electrolytes are lost through perspiration, feces and urine. </a:t>
            </a:r>
          </a:p>
          <a:p>
            <a:pPr algn="l"/>
            <a:r>
              <a:rPr lang="en-US" sz="2800" b="0" i="0" u="none" strike="noStrike" baseline="0" dirty="0">
                <a:latin typeface="Times New Roman" panose="02020603050405020304" pitchFamily="18" charset="0"/>
                <a:cs typeface="Times New Roman" panose="02020603050405020304" pitchFamily="18" charset="0"/>
              </a:rPr>
              <a:t>The greatest electrolyte loss occurs as a result of </a:t>
            </a:r>
            <a:r>
              <a:rPr lang="en-US" sz="2800" b="1" i="0" u="none" strike="noStrike" baseline="0" dirty="0">
                <a:latin typeface="Times New Roman" panose="02020603050405020304" pitchFamily="18" charset="0"/>
                <a:cs typeface="Times New Roman" panose="02020603050405020304" pitchFamily="18" charset="0"/>
              </a:rPr>
              <a:t>kidney</a:t>
            </a:r>
            <a:r>
              <a:rPr lang="en-US" sz="2800" b="0" i="0" u="none" strike="noStrike" baseline="0" dirty="0">
                <a:latin typeface="Times New Roman" panose="02020603050405020304" pitchFamily="18" charset="0"/>
                <a:cs typeface="Times New Roman" panose="02020603050405020304" pitchFamily="18" charset="0"/>
              </a:rPr>
              <a:t> functions.</a:t>
            </a:r>
          </a:p>
          <a:p>
            <a:pPr algn="l"/>
            <a:r>
              <a:rPr lang="en-US" sz="2800" b="0" i="0" u="none" strike="noStrike" baseline="0" dirty="0">
                <a:latin typeface="Times New Roman" panose="02020603050405020304" pitchFamily="18" charset="0"/>
                <a:cs typeface="Times New Roman" panose="02020603050405020304" pitchFamily="18" charset="0"/>
              </a:rPr>
              <a:t>Quantities lost vary with temperature and exercise.</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F4E052C9-E8AD-7363-EBB0-DFF83A666207}"/>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4337EEBF-F51F-EC4C-A109-9B77BB5AA91F}"/>
              </a:ext>
            </a:extLst>
          </p:cNvPr>
          <p:cNvSpPr>
            <a:spLocks noGrp="1"/>
          </p:cNvSpPr>
          <p:nvPr>
            <p:ph type="sldNum" sz="quarter" idx="12"/>
          </p:nvPr>
        </p:nvSpPr>
        <p:spPr/>
        <p:txBody>
          <a:bodyPr/>
          <a:lstStyle/>
          <a:p>
            <a:fld id="{CB22993B-EEE5-4EB1-BEE5-4FFFA489F796}" type="slidenum">
              <a:rPr lang="en-US" smtClean="0"/>
              <a:t>8</a:t>
            </a:fld>
            <a:endParaRPr lang="en-US"/>
          </a:p>
        </p:txBody>
      </p:sp>
    </p:spTree>
    <p:extLst>
      <p:ext uri="{BB962C8B-B14F-4D97-AF65-F5344CB8AC3E}">
        <p14:creationId xmlns:p14="http://schemas.microsoft.com/office/powerpoint/2010/main" val="1563539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9CFD0A-4B1F-4190-A4DA-25C8256889CD}"/>
              </a:ext>
            </a:extLst>
          </p:cNvPr>
          <p:cNvSpPr>
            <a:spLocks noGrp="1"/>
          </p:cNvSpPr>
          <p:nvPr>
            <p:ph type="title"/>
          </p:nvPr>
        </p:nvSpPr>
        <p:spPr>
          <a:xfrm>
            <a:off x="838200" y="365125"/>
            <a:ext cx="10515600" cy="699177"/>
          </a:xfrm>
        </p:spPr>
        <p:txBody>
          <a:bodyPr>
            <a:normAutofit/>
          </a:bodyPr>
          <a:lstStyle/>
          <a:p>
            <a:r>
              <a:rPr lang="en-US" sz="4000" dirty="0">
                <a:latin typeface="Times New Roman" panose="02020603050405020304" pitchFamily="18" charset="0"/>
                <a:cs typeface="Times New Roman" panose="02020603050405020304" pitchFamily="18" charset="0"/>
              </a:rPr>
              <a:t>Sodium</a:t>
            </a:r>
          </a:p>
        </p:txBody>
      </p:sp>
      <p:sp>
        <p:nvSpPr>
          <p:cNvPr id="3" name="Content Placeholder 2">
            <a:extLst>
              <a:ext uri="{FF2B5EF4-FFF2-40B4-BE49-F238E27FC236}">
                <a16:creationId xmlns:a16="http://schemas.microsoft.com/office/drawing/2014/main" xmlns="" id="{999D4F98-0734-4F5E-9BFF-6EE9BD48724E}"/>
              </a:ext>
            </a:extLst>
          </p:cNvPr>
          <p:cNvSpPr>
            <a:spLocks noGrp="1"/>
          </p:cNvSpPr>
          <p:nvPr>
            <p:ph idx="1"/>
          </p:nvPr>
        </p:nvSpPr>
        <p:spPr>
          <a:xfrm>
            <a:off x="838200" y="1229193"/>
            <a:ext cx="5948966" cy="5263682"/>
          </a:xfrm>
        </p:spPr>
        <p:txBody>
          <a:bodyPr>
            <a:normAutofit lnSpcReduction="10000"/>
          </a:bodyPr>
          <a:lstStyle/>
          <a:p>
            <a:pPr algn="l">
              <a:lnSpc>
                <a:spcPct val="150000"/>
              </a:lnSpc>
            </a:pPr>
            <a:r>
              <a:rPr lang="en-US" sz="2800" b="0" i="0" u="none" strike="noStrike" baseline="0" dirty="0">
                <a:latin typeface="Times New Roman" panose="02020603050405020304" pitchFamily="18" charset="0"/>
                <a:cs typeface="Times New Roman" panose="02020603050405020304" pitchFamily="18" charset="0"/>
              </a:rPr>
              <a:t>Major extracellular cation</a:t>
            </a:r>
          </a:p>
          <a:p>
            <a:pPr algn="l">
              <a:lnSpc>
                <a:spcPct val="150000"/>
              </a:lnSpc>
            </a:pPr>
            <a:r>
              <a:rPr lang="en-US" sz="2800" b="0" i="0" u="none" strike="noStrike" baseline="0" dirty="0">
                <a:latin typeface="Times New Roman" panose="02020603050405020304" pitchFamily="18" charset="0"/>
                <a:cs typeface="Times New Roman" panose="02020603050405020304" pitchFamily="18" charset="0"/>
              </a:rPr>
              <a:t>Attracts fluid and helps preserve fluid volume</a:t>
            </a:r>
          </a:p>
          <a:p>
            <a:pPr algn="l">
              <a:lnSpc>
                <a:spcPct val="150000"/>
              </a:lnSpc>
            </a:pPr>
            <a:r>
              <a:rPr lang="en-US" sz="2800" b="0" i="0" u="none" strike="noStrike" baseline="0" dirty="0">
                <a:latin typeface="Times New Roman" panose="02020603050405020304" pitchFamily="18" charset="0"/>
                <a:cs typeface="Times New Roman" panose="02020603050405020304" pitchFamily="18" charset="0"/>
              </a:rPr>
              <a:t>Combines with chloride and bicarbonate to help regulate acid-base balance</a:t>
            </a:r>
          </a:p>
          <a:p>
            <a:pPr algn="l">
              <a:lnSpc>
                <a:spcPct val="150000"/>
              </a:lnSpc>
            </a:pPr>
            <a:r>
              <a:rPr lang="en-US" sz="2800" b="0" i="0" u="none" strike="noStrike" baseline="0" dirty="0">
                <a:latin typeface="Times New Roman" panose="02020603050405020304" pitchFamily="18" charset="0"/>
                <a:cs typeface="Times New Roman" panose="02020603050405020304" pitchFamily="18" charset="0"/>
              </a:rPr>
              <a:t>Normal range of serum sodium 135 - 145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2D77E593-F559-A4E6-0838-1DFBB80BD7CB}"/>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ADB53A3D-EC8D-2870-ACFB-233D76777899}"/>
              </a:ext>
            </a:extLst>
          </p:cNvPr>
          <p:cNvSpPr>
            <a:spLocks noGrp="1"/>
          </p:cNvSpPr>
          <p:nvPr>
            <p:ph type="sldNum" sz="quarter" idx="12"/>
          </p:nvPr>
        </p:nvSpPr>
        <p:spPr/>
        <p:txBody>
          <a:bodyPr/>
          <a:lstStyle/>
          <a:p>
            <a:fld id="{CB22993B-EEE5-4EB1-BEE5-4FFFA489F796}" type="slidenum">
              <a:rPr lang="en-US" smtClean="0"/>
              <a:t>9</a:t>
            </a:fld>
            <a:endParaRPr lang="en-US"/>
          </a:p>
        </p:txBody>
      </p:sp>
    </p:spTree>
    <p:extLst>
      <p:ext uri="{BB962C8B-B14F-4D97-AF65-F5344CB8AC3E}">
        <p14:creationId xmlns:p14="http://schemas.microsoft.com/office/powerpoint/2010/main" val="2183652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39BB3A-3398-400E-9E4A-2AE825F1FCE5}"/>
              </a:ext>
            </a:extLst>
          </p:cNvPr>
          <p:cNvSpPr>
            <a:spLocks noGrp="1"/>
          </p:cNvSpPr>
          <p:nvPr>
            <p:ph type="title"/>
          </p:nvPr>
        </p:nvSpPr>
        <p:spPr>
          <a:xfrm>
            <a:off x="838200" y="365125"/>
            <a:ext cx="10515600" cy="729157"/>
          </a:xfrm>
        </p:spPr>
        <p:txBody>
          <a:bodyPr>
            <a:normAutofit fontScale="90000"/>
          </a:bodyPr>
          <a:lstStyle/>
          <a:p>
            <a:r>
              <a:rPr lang="en-US" dirty="0"/>
              <a:t>  </a:t>
            </a:r>
            <a:r>
              <a:rPr lang="en-US" sz="4800" dirty="0">
                <a:latin typeface="Times New Roman" panose="02020603050405020304" pitchFamily="18" charset="0"/>
                <a:cs typeface="Times New Roman" panose="02020603050405020304" pitchFamily="18" charset="0"/>
              </a:rPr>
              <a:t>Hyponatremia</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44585C20-0976-4D9D-B093-2823B54A6D13}"/>
              </a:ext>
            </a:extLst>
          </p:cNvPr>
          <p:cNvSpPr>
            <a:spLocks noGrp="1"/>
          </p:cNvSpPr>
          <p:nvPr>
            <p:ph idx="1"/>
          </p:nvPr>
        </p:nvSpPr>
        <p:spPr>
          <a:xfrm>
            <a:off x="838200" y="1094282"/>
            <a:ext cx="10515600" cy="5763718"/>
          </a:xfrm>
        </p:spPr>
        <p:txBody>
          <a:bodyPr/>
          <a:lstStyle/>
          <a:p>
            <a:endParaRPr lang="en-US" sz="2800" b="0" i="0" u="none" strike="noStrike" baseline="0" dirty="0">
              <a:latin typeface="MinionPro-Regular"/>
            </a:endParaRPr>
          </a:p>
          <a:p>
            <a:pPr>
              <a:lnSpc>
                <a:spcPct val="100000"/>
              </a:lnSpc>
            </a:pPr>
            <a:r>
              <a:rPr lang="en-US" sz="2800" b="0" i="0" u="none" strike="noStrike" baseline="0" dirty="0">
                <a:latin typeface="Times New Roman" panose="02020603050405020304" pitchFamily="18" charset="0"/>
                <a:cs typeface="Times New Roman" panose="02020603050405020304" pitchFamily="18" charset="0"/>
              </a:rPr>
              <a:t>Serum [Na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&lt; 135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 is considered hyponatremia.</a:t>
            </a:r>
          </a:p>
          <a:p>
            <a:pPr>
              <a:lnSpc>
                <a:spcPct val="100000"/>
              </a:lnSpc>
            </a:pPr>
            <a:r>
              <a:rPr lang="en-US" dirty="0">
                <a:latin typeface="Times New Roman" panose="02020603050405020304" pitchFamily="18" charset="0"/>
                <a:cs typeface="Times New Roman" panose="02020603050405020304" pitchFamily="18" charset="0"/>
              </a:rPr>
              <a:t>Due to an </a:t>
            </a:r>
            <a:r>
              <a:rPr lang="en-US" b="1" dirty="0">
                <a:latin typeface="Times New Roman" panose="02020603050405020304" pitchFamily="18" charset="0"/>
                <a:cs typeface="Times New Roman" panose="02020603050405020304" pitchFamily="18" charset="0"/>
              </a:rPr>
              <a:t>excess of body water </a:t>
            </a:r>
            <a:r>
              <a:rPr lang="en-US" dirty="0">
                <a:latin typeface="Times New Roman" panose="02020603050405020304" pitchFamily="18" charset="0"/>
                <a:cs typeface="Times New Roman" panose="02020603050405020304" pitchFamily="18" charset="0"/>
              </a:rPr>
              <a:t>relative to body sodium content.</a:t>
            </a:r>
            <a:endParaRPr lang="en-US" sz="2800" b="0" i="0" u="none" strike="noStrike" baseline="0" dirty="0">
              <a:latin typeface="Times New Roman" panose="02020603050405020304" pitchFamily="18" charset="0"/>
              <a:cs typeface="Times New Roman" panose="02020603050405020304" pitchFamily="18" charset="0"/>
            </a:endParaRP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Hyponatremia invariably reflects water retention from either an absolute increase in TBW or a loss of sodium in relative excess to loss of water.</a:t>
            </a: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kidneys’ ability to vary urinary Na </a:t>
            </a:r>
            <a:r>
              <a:rPr kumimoji="0" lang="en-US" sz="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excretion from less than 1 </a:t>
            </a:r>
            <a:r>
              <a:rPr kumimoji="0" lang="en-US" sz="2800" b="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mEq</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 to more than 100 </a:t>
            </a:r>
            <a:r>
              <a:rPr kumimoji="0" lang="en-US" sz="2800" b="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mEq</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 allows them to play a critical role in sodium balance.</a:t>
            </a:r>
          </a:p>
          <a:p>
            <a:pPr algn="l"/>
            <a:endParaRPr lang="en-US" sz="2800" b="0" i="0" u="none" strike="noStrike" baseline="0" dirty="0">
              <a:latin typeface="MinionPro-Regular"/>
            </a:endParaRPr>
          </a:p>
          <a:p>
            <a:endParaRPr lang="en-US" dirty="0"/>
          </a:p>
        </p:txBody>
      </p:sp>
      <p:sp>
        <p:nvSpPr>
          <p:cNvPr id="4" name="Date Placeholder 3">
            <a:extLst>
              <a:ext uri="{FF2B5EF4-FFF2-40B4-BE49-F238E27FC236}">
                <a16:creationId xmlns:a16="http://schemas.microsoft.com/office/drawing/2014/main" xmlns="" id="{A89687C4-006B-4BEE-BB9F-F3CA9A3DE4EA}"/>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B0D3E48E-9191-DEE4-5783-DC1137DEB321}"/>
              </a:ext>
            </a:extLst>
          </p:cNvPr>
          <p:cNvSpPr>
            <a:spLocks noGrp="1"/>
          </p:cNvSpPr>
          <p:nvPr>
            <p:ph type="sldNum" sz="quarter" idx="12"/>
          </p:nvPr>
        </p:nvSpPr>
        <p:spPr/>
        <p:txBody>
          <a:bodyPr/>
          <a:lstStyle/>
          <a:p>
            <a:fld id="{CB22993B-EEE5-4EB1-BEE5-4FFFA489F796}" type="slidenum">
              <a:rPr lang="en-US" smtClean="0"/>
              <a:t>10</a:t>
            </a:fld>
            <a:endParaRPr lang="en-US"/>
          </a:p>
        </p:txBody>
      </p:sp>
    </p:spTree>
    <p:extLst>
      <p:ext uri="{BB962C8B-B14F-4D97-AF65-F5344CB8AC3E}">
        <p14:creationId xmlns:p14="http://schemas.microsoft.com/office/powerpoint/2010/main" val="4100925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0334DA-1EA1-4160-BFC5-E1B64D02FF1D}"/>
              </a:ext>
            </a:extLst>
          </p:cNvPr>
          <p:cNvSpPr>
            <a:spLocks noGrp="1"/>
          </p:cNvSpPr>
          <p:nvPr>
            <p:ph type="title"/>
          </p:nvPr>
        </p:nvSpPr>
        <p:spPr>
          <a:xfrm>
            <a:off x="838200" y="365125"/>
            <a:ext cx="10515600" cy="714167"/>
          </a:xfrm>
        </p:spPr>
        <p:txBody>
          <a:bodyPr>
            <a:normAutofit/>
          </a:bodyPr>
          <a:lstStyle/>
          <a:p>
            <a:r>
              <a:rPr lang="en-US" dirty="0">
                <a:latin typeface="Times New Roman" panose="02020603050405020304" pitchFamily="18" charset="0"/>
                <a:cs typeface="Times New Roman" panose="02020603050405020304" pitchFamily="18" charset="0"/>
              </a:rPr>
              <a:t> Cont….</a:t>
            </a:r>
          </a:p>
        </p:txBody>
      </p:sp>
      <p:sp>
        <p:nvSpPr>
          <p:cNvPr id="3" name="Content Placeholder 2">
            <a:extLst>
              <a:ext uri="{FF2B5EF4-FFF2-40B4-BE49-F238E27FC236}">
                <a16:creationId xmlns:a16="http://schemas.microsoft.com/office/drawing/2014/main" xmlns="" id="{9709E98C-0466-410E-9B22-8A0D17B9B032}"/>
              </a:ext>
            </a:extLst>
          </p:cNvPr>
          <p:cNvSpPr>
            <a:spLocks noGrp="1"/>
          </p:cNvSpPr>
          <p:nvPr>
            <p:ph idx="1"/>
          </p:nvPr>
        </p:nvSpPr>
        <p:spPr>
          <a:xfrm>
            <a:off x="838200" y="1244184"/>
            <a:ext cx="10515600" cy="5396459"/>
          </a:xfrm>
        </p:spPr>
        <p:txBody>
          <a:bodyPr/>
          <a:lstStyle/>
          <a:p>
            <a:pPr algn="l"/>
            <a:r>
              <a:rPr lang="en-US" sz="3200" b="0" i="0" u="none" strike="noStrike" baseline="0" dirty="0">
                <a:latin typeface="Times New Roman" panose="02020603050405020304" pitchFamily="18" charset="0"/>
                <a:cs typeface="Times New Roman" panose="02020603050405020304" pitchFamily="18" charset="0"/>
              </a:rPr>
              <a:t>Hyponatremia may occur in the presence of </a:t>
            </a:r>
            <a:r>
              <a:rPr lang="en-US" sz="3200" b="1" i="0" u="none" strike="noStrike" baseline="0" dirty="0">
                <a:latin typeface="Times New Roman" panose="02020603050405020304" pitchFamily="18" charset="0"/>
                <a:cs typeface="Times New Roman" panose="02020603050405020304" pitchFamily="18" charset="0"/>
              </a:rPr>
              <a:t>hypotonicity, normal tonicity, </a:t>
            </a:r>
            <a:r>
              <a:rPr lang="en-US" sz="3200" i="0" u="none" strike="noStrike" baseline="0" dirty="0">
                <a:latin typeface="Times New Roman" panose="02020603050405020304" pitchFamily="18" charset="0"/>
                <a:cs typeface="Times New Roman" panose="02020603050405020304" pitchFamily="18" charset="0"/>
              </a:rPr>
              <a:t>or</a:t>
            </a:r>
            <a:r>
              <a:rPr lang="en-US" sz="3200" b="1" i="0" u="none" strike="noStrike" baseline="0" dirty="0">
                <a:latin typeface="Times New Roman" panose="02020603050405020304" pitchFamily="18" charset="0"/>
                <a:cs typeface="Times New Roman" panose="02020603050405020304" pitchFamily="18" charset="0"/>
              </a:rPr>
              <a:t> hypertonicity</a:t>
            </a:r>
            <a:r>
              <a:rPr lang="en-US" sz="3200" b="0" i="0" u="none" strike="noStrike" baseline="0" dirty="0">
                <a:latin typeface="Times New Roman" panose="02020603050405020304" pitchFamily="18" charset="0"/>
                <a:cs typeface="Times New Roman" panose="02020603050405020304" pitchFamily="18" charset="0"/>
              </a:rPr>
              <a:t>; thus it is important to measure serum </a:t>
            </a:r>
            <a:r>
              <a:rPr lang="en-US" sz="3200" b="1" i="0" u="none" strike="noStrike" baseline="0" dirty="0">
                <a:latin typeface="Times New Roman" panose="02020603050405020304" pitchFamily="18" charset="0"/>
                <a:cs typeface="Times New Roman" panose="02020603050405020304" pitchFamily="18" charset="0"/>
              </a:rPr>
              <a:t>osmolality</a:t>
            </a:r>
            <a:r>
              <a:rPr lang="en-US" sz="3200" b="0" i="0" u="none" strike="noStrike" baseline="0" dirty="0">
                <a:latin typeface="Times New Roman" panose="02020603050405020304" pitchFamily="18" charset="0"/>
                <a:cs typeface="Times New Roman" panose="02020603050405020304" pitchFamily="18" charset="0"/>
              </a:rPr>
              <a:t> to determine the cause of hyponatremia.</a:t>
            </a:r>
            <a:endPar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endParaRPr lang="en-US" dirty="0"/>
          </a:p>
        </p:txBody>
      </p:sp>
      <p:sp>
        <p:nvSpPr>
          <p:cNvPr id="4" name="Date Placeholder 3">
            <a:extLst>
              <a:ext uri="{FF2B5EF4-FFF2-40B4-BE49-F238E27FC236}">
                <a16:creationId xmlns:a16="http://schemas.microsoft.com/office/drawing/2014/main" xmlns="" id="{0C27289A-26DA-7A09-013E-7E22C312FB2C}"/>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34E8831D-4806-D93B-09D4-A23DCF1A0C1A}"/>
              </a:ext>
            </a:extLst>
          </p:cNvPr>
          <p:cNvSpPr>
            <a:spLocks noGrp="1"/>
          </p:cNvSpPr>
          <p:nvPr>
            <p:ph type="sldNum" sz="quarter" idx="12"/>
          </p:nvPr>
        </p:nvSpPr>
        <p:spPr/>
        <p:txBody>
          <a:bodyPr/>
          <a:lstStyle/>
          <a:p>
            <a:fld id="{CB22993B-EEE5-4EB1-BEE5-4FFFA489F796}" type="slidenum">
              <a:rPr lang="en-US" smtClean="0"/>
              <a:t>11</a:t>
            </a:fld>
            <a:endParaRPr lang="en-US"/>
          </a:p>
        </p:txBody>
      </p:sp>
    </p:spTree>
    <p:extLst>
      <p:ext uri="{BB962C8B-B14F-4D97-AF65-F5344CB8AC3E}">
        <p14:creationId xmlns:p14="http://schemas.microsoft.com/office/powerpoint/2010/main" val="1774118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7206E1-2C52-4ECC-AE95-2614901B0A77}"/>
              </a:ext>
            </a:extLst>
          </p:cNvPr>
          <p:cNvSpPr>
            <a:spLocks noGrp="1"/>
          </p:cNvSpPr>
          <p:nvPr>
            <p:ph type="title"/>
          </p:nvPr>
        </p:nvSpPr>
        <p:spPr>
          <a:xfrm>
            <a:off x="838200" y="365126"/>
            <a:ext cx="10515600" cy="639216"/>
          </a:xfrm>
        </p:spPr>
        <p:txBody>
          <a:bodyPr>
            <a:noAutofit/>
          </a:bodyPr>
          <a:lstStyle/>
          <a:p>
            <a:r>
              <a:rPr lang="en-US" sz="3200" i="0" u="none" strike="noStrike" baseline="0" dirty="0">
                <a:latin typeface="MyriadPro-Bold"/>
              </a:rPr>
              <a:t> </a:t>
            </a:r>
            <a:r>
              <a:rPr lang="en-US" sz="3200" i="0" u="none" strike="noStrike" baseline="0" dirty="0">
                <a:latin typeface="Times New Roman" panose="02020603050405020304" pitchFamily="18" charset="0"/>
                <a:cs typeface="Times New Roman" panose="02020603050405020304" pitchFamily="18" charset="0"/>
              </a:rPr>
              <a:t>Hypovolemic hyponatremia</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89D1379B-DA9E-4133-96C2-5049E852305D}"/>
              </a:ext>
            </a:extLst>
          </p:cNvPr>
          <p:cNvSpPr>
            <a:spLocks noGrp="1"/>
          </p:cNvSpPr>
          <p:nvPr>
            <p:ph idx="1"/>
          </p:nvPr>
        </p:nvSpPr>
        <p:spPr>
          <a:xfrm>
            <a:off x="838200" y="1154242"/>
            <a:ext cx="10515600" cy="5338631"/>
          </a:xfrm>
        </p:spPr>
        <p:txBody>
          <a:bodyPr/>
          <a:lstStyle/>
          <a:p>
            <a:pPr algn="l"/>
            <a:r>
              <a:rPr lang="en-US" dirty="0">
                <a:latin typeface="Times New Roman" panose="02020603050405020304" pitchFamily="18" charset="0"/>
                <a:cs typeface="Times New Roman" panose="02020603050405020304" pitchFamily="18" charset="0"/>
              </a:rPr>
              <a:t>There is both </a:t>
            </a:r>
            <a:r>
              <a:rPr lang="en-US" sz="2800" b="0" i="0" u="none" strike="noStrike" baseline="0" dirty="0">
                <a:latin typeface="Times New Roman" panose="02020603050405020304" pitchFamily="18" charset="0"/>
                <a:cs typeface="Times New Roman" panose="02020603050405020304" pitchFamily="18" charset="0"/>
              </a:rPr>
              <a:t>Na+ and water loss</a:t>
            </a:r>
          </a:p>
          <a:p>
            <a:pPr algn="l"/>
            <a:r>
              <a:rPr lang="en-US" sz="2800" b="0" i="0" u="none" strike="noStrike" baseline="0" dirty="0">
                <a:latin typeface="Times New Roman" panose="02020603050405020304" pitchFamily="18" charset="0"/>
                <a:cs typeface="Times New Roman" panose="02020603050405020304" pitchFamily="18" charset="0"/>
              </a:rPr>
              <a:t>Na+ loss is greater than water loss</a:t>
            </a:r>
          </a:p>
          <a:p>
            <a:pPr algn="l"/>
            <a:r>
              <a:rPr lang="en-US" sz="2800" b="0" i="0" u="none" strike="noStrike" baseline="0" dirty="0">
                <a:latin typeface="Times New Roman" panose="02020603050405020304" pitchFamily="18" charset="0"/>
                <a:cs typeface="Times New Roman" panose="02020603050405020304" pitchFamily="18" charset="0"/>
              </a:rPr>
              <a:t>Fluid losses resulting in hyponatremia may be renal or extrarenal in origin. </a:t>
            </a:r>
          </a:p>
          <a:p>
            <a:pPr algn="l"/>
            <a:r>
              <a:rPr lang="en-US" sz="2800" b="0" i="0" u="none" strike="noStrike" baseline="0" dirty="0">
                <a:latin typeface="Times New Roman" panose="02020603050405020304" pitchFamily="18" charset="0"/>
                <a:cs typeface="Times New Roman" panose="02020603050405020304" pitchFamily="18" charset="0"/>
              </a:rPr>
              <a:t>Renal losses are most commonly related to </a:t>
            </a:r>
            <a:r>
              <a:rPr lang="en-US" sz="2800" b="1" i="0" u="none" strike="noStrike" baseline="0" dirty="0">
                <a:latin typeface="Times New Roman" panose="02020603050405020304" pitchFamily="18" charset="0"/>
                <a:cs typeface="Times New Roman" panose="02020603050405020304" pitchFamily="18" charset="0"/>
              </a:rPr>
              <a:t>thiazide diuretics </a:t>
            </a:r>
            <a:r>
              <a:rPr lang="en-US" sz="2800" b="0" i="0" u="none" strike="noStrike" baseline="0" dirty="0">
                <a:latin typeface="Times New Roman" panose="02020603050405020304" pitchFamily="18" charset="0"/>
                <a:cs typeface="Times New Roman" panose="02020603050405020304" pitchFamily="18" charset="0"/>
              </a:rPr>
              <a:t>and result in a urinary [Na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greater than 20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 </a:t>
            </a:r>
          </a:p>
          <a:p>
            <a:pPr algn="l"/>
            <a:r>
              <a:rPr lang="en-US" sz="2800" b="0" i="0" u="none" strike="noStrike" baseline="0" dirty="0">
                <a:latin typeface="Times New Roman" panose="02020603050405020304" pitchFamily="18" charset="0"/>
                <a:cs typeface="Times New Roman" panose="02020603050405020304" pitchFamily="18" charset="0"/>
              </a:rPr>
              <a:t>Extrarenal</a:t>
            </a:r>
            <a:r>
              <a:rPr lang="en-US"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losses are typically gastrointestinal and usually produce a urinary [Na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of less than 10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FFDCDF08-B392-427A-60BC-303F336E674A}"/>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D714AC35-D414-9656-F97F-572C6B9329F9}"/>
              </a:ext>
            </a:extLst>
          </p:cNvPr>
          <p:cNvSpPr>
            <a:spLocks noGrp="1"/>
          </p:cNvSpPr>
          <p:nvPr>
            <p:ph type="sldNum" sz="quarter" idx="12"/>
          </p:nvPr>
        </p:nvSpPr>
        <p:spPr/>
        <p:txBody>
          <a:bodyPr/>
          <a:lstStyle/>
          <a:p>
            <a:fld id="{CB22993B-EEE5-4EB1-BEE5-4FFFA489F796}" type="slidenum">
              <a:rPr lang="en-US" smtClean="0"/>
              <a:t>12</a:t>
            </a:fld>
            <a:endParaRPr lang="en-US"/>
          </a:p>
        </p:txBody>
      </p:sp>
    </p:spTree>
    <p:extLst>
      <p:ext uri="{BB962C8B-B14F-4D97-AF65-F5344CB8AC3E}">
        <p14:creationId xmlns:p14="http://schemas.microsoft.com/office/powerpoint/2010/main" val="1062711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1DFA40-29B5-4EFB-AFDA-F674D3A5BA6D}"/>
              </a:ext>
            </a:extLst>
          </p:cNvPr>
          <p:cNvSpPr>
            <a:spLocks noGrp="1"/>
          </p:cNvSpPr>
          <p:nvPr>
            <p:ph type="title"/>
          </p:nvPr>
        </p:nvSpPr>
        <p:spPr>
          <a:xfrm>
            <a:off x="838200" y="365125"/>
            <a:ext cx="10515600" cy="594245"/>
          </a:xfrm>
        </p:spPr>
        <p:txBody>
          <a:bodyPr>
            <a:noAutofit/>
          </a:bodyPr>
          <a:lstStyle/>
          <a:p>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Hypervolemic hyponatremia</a:t>
            </a:r>
            <a:endParaRPr lang="en-US" sz="3600" dirty="0"/>
          </a:p>
        </p:txBody>
      </p:sp>
      <p:sp>
        <p:nvSpPr>
          <p:cNvPr id="3" name="Content Placeholder 2">
            <a:extLst>
              <a:ext uri="{FF2B5EF4-FFF2-40B4-BE49-F238E27FC236}">
                <a16:creationId xmlns:a16="http://schemas.microsoft.com/office/drawing/2014/main" xmlns="" id="{AFAA8D5A-6035-4202-B437-C706B5F2056B}"/>
              </a:ext>
            </a:extLst>
          </p:cNvPr>
          <p:cNvSpPr>
            <a:spLocks noGrp="1"/>
          </p:cNvSpPr>
          <p:nvPr>
            <p:ph idx="1"/>
          </p:nvPr>
        </p:nvSpPr>
        <p:spPr>
          <a:xfrm>
            <a:off x="838200" y="1094282"/>
            <a:ext cx="10515600" cy="5398593"/>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Water gain is greater than Na+ gain.</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Edematous disorders include congestive heart failure, cirrhosis, kidney failure, and nephrotic syndrome.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Hyponatremia in these settings results from progressive impairment of renal free water excretion and generally parallels underlying disease severity</a:t>
            </a:r>
            <a:r>
              <a:rPr lang="en-US" sz="2800" b="0" i="0" u="none" strike="noStrike" baseline="0" dirty="0">
                <a:latin typeface="MinionPro-Regular"/>
              </a:rPr>
              <a:t>.</a:t>
            </a:r>
            <a:endParaRPr lang="en-US" dirty="0"/>
          </a:p>
        </p:txBody>
      </p:sp>
      <p:sp>
        <p:nvSpPr>
          <p:cNvPr id="4" name="Date Placeholder 3">
            <a:extLst>
              <a:ext uri="{FF2B5EF4-FFF2-40B4-BE49-F238E27FC236}">
                <a16:creationId xmlns:a16="http://schemas.microsoft.com/office/drawing/2014/main" xmlns="" id="{270AA8EB-B9FD-3BDC-777B-701D0EA37083}"/>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BE36E897-1993-4D7D-6101-4DF45E75774D}"/>
              </a:ext>
            </a:extLst>
          </p:cNvPr>
          <p:cNvSpPr>
            <a:spLocks noGrp="1"/>
          </p:cNvSpPr>
          <p:nvPr>
            <p:ph type="sldNum" sz="quarter" idx="12"/>
          </p:nvPr>
        </p:nvSpPr>
        <p:spPr/>
        <p:txBody>
          <a:bodyPr/>
          <a:lstStyle/>
          <a:p>
            <a:fld id="{CB22993B-EEE5-4EB1-BEE5-4FFFA489F796}" type="slidenum">
              <a:rPr lang="en-US" smtClean="0"/>
              <a:t>13</a:t>
            </a:fld>
            <a:endParaRPr lang="en-US"/>
          </a:p>
        </p:txBody>
      </p:sp>
    </p:spTree>
    <p:extLst>
      <p:ext uri="{BB962C8B-B14F-4D97-AF65-F5344CB8AC3E}">
        <p14:creationId xmlns:p14="http://schemas.microsoft.com/office/powerpoint/2010/main" val="4256630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F581E2-E5F1-4277-ABE9-0DD56E38337C}"/>
              </a:ext>
            </a:extLst>
          </p:cNvPr>
          <p:cNvSpPr>
            <a:spLocks noGrp="1"/>
          </p:cNvSpPr>
          <p:nvPr>
            <p:ph type="title"/>
          </p:nvPr>
        </p:nvSpPr>
        <p:spPr>
          <a:xfrm>
            <a:off x="838200" y="365126"/>
            <a:ext cx="10515600" cy="684186"/>
          </a:xfrm>
        </p:spPr>
        <p:txBody>
          <a:bodyPr>
            <a:normAutofit/>
          </a:bodyPr>
          <a:lstStyle/>
          <a:p>
            <a:r>
              <a:rPr lang="en-US" sz="3200" dirty="0">
                <a:solidFill>
                  <a:prstClr val="black"/>
                </a:solidFill>
                <a:latin typeface="Times New Roman" panose="02020603050405020304" pitchFamily="18" charset="0"/>
                <a:cs typeface="Times New Roman" panose="02020603050405020304" pitchFamily="18" charset="0"/>
              </a:rPr>
              <a:t>Iso</a:t>
            </a:r>
            <a:r>
              <a:rPr kumimoji="0" lang="en-US" sz="3200" b="0" i="0" u="none" strike="noStrike" kern="1200" cap="none" spc="0" normalizeH="0" baseline="0" noProof="0" dirty="0" err="1">
                <a:ln>
                  <a:noFill/>
                </a:ln>
                <a:solidFill>
                  <a:prstClr val="black"/>
                </a:solidFill>
                <a:effectLst/>
                <a:uLnTx/>
                <a:uFillTx/>
                <a:latin typeface="Times New Roman" panose="02020603050405020304" pitchFamily="18" charset="0"/>
                <a:ea typeface="+mj-ea"/>
                <a:cs typeface="Times New Roman" panose="02020603050405020304" pitchFamily="18" charset="0"/>
              </a:rPr>
              <a:t>volemic</a:t>
            </a:r>
            <a:r>
              <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 hyponatremia</a:t>
            </a:r>
            <a:endParaRPr lang="en-US" sz="3200" dirty="0"/>
          </a:p>
        </p:txBody>
      </p:sp>
      <p:sp>
        <p:nvSpPr>
          <p:cNvPr id="3" name="Content Placeholder 2">
            <a:extLst>
              <a:ext uri="{FF2B5EF4-FFF2-40B4-BE49-F238E27FC236}">
                <a16:creationId xmlns:a16="http://schemas.microsoft.com/office/drawing/2014/main" xmlns="" id="{270D9E15-BFD2-428F-8E17-4D80BF6DE9A9}"/>
              </a:ext>
            </a:extLst>
          </p:cNvPr>
          <p:cNvSpPr>
            <a:spLocks noGrp="1"/>
          </p:cNvSpPr>
          <p:nvPr>
            <p:ph idx="1"/>
          </p:nvPr>
        </p:nvSpPr>
        <p:spPr>
          <a:xfrm>
            <a:off x="838200" y="1184222"/>
            <a:ext cx="10515600" cy="5673778"/>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Normal Na+ level, too much fluid (dilutional hyponatremia</a:t>
            </a:r>
            <a:r>
              <a:rPr lang="en-US" sz="2800" b="0" i="0" u="none" strike="noStrike" baseline="0" dirty="0">
                <a:latin typeface="MinionPro-Regular"/>
              </a:rPr>
              <a:t>)</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Hyponatremia in the absence of edema or hypovolemia may be seen with </a:t>
            </a:r>
            <a:r>
              <a:rPr lang="en-US" sz="2800" b="1" i="0" u="none" strike="noStrike" baseline="0" dirty="0">
                <a:latin typeface="Times New Roman" panose="02020603050405020304" pitchFamily="18" charset="0"/>
                <a:cs typeface="Times New Roman" panose="02020603050405020304" pitchFamily="18" charset="0"/>
              </a:rPr>
              <a:t>glucocorticoid insufficiency</a:t>
            </a:r>
            <a:r>
              <a:rPr lang="en-US" sz="2800" b="0" i="0" u="none" strike="noStrike" baseline="0" dirty="0">
                <a:latin typeface="Times New Roman" panose="02020603050405020304" pitchFamily="18" charset="0"/>
                <a:cs typeface="Times New Roman" panose="02020603050405020304" pitchFamily="18" charset="0"/>
              </a:rPr>
              <a:t>, </a:t>
            </a:r>
            <a:r>
              <a:rPr lang="en-US" sz="2800" b="1" i="0" u="none" strike="noStrike" baseline="0" dirty="0">
                <a:latin typeface="Times New Roman" panose="02020603050405020304" pitchFamily="18" charset="0"/>
                <a:cs typeface="Times New Roman" panose="02020603050405020304" pitchFamily="18" charset="0"/>
              </a:rPr>
              <a:t>hypothyroidism</a:t>
            </a:r>
            <a:r>
              <a:rPr lang="en-US" sz="2800" b="0" i="0" u="none" strike="noStrike" baseline="0" dirty="0">
                <a:latin typeface="Times New Roman" panose="02020603050405020304" pitchFamily="18" charset="0"/>
                <a:cs typeface="Times New Roman" panose="02020603050405020304" pitchFamily="18" charset="0"/>
              </a:rPr>
              <a:t> and the syndrome of inappropriate antidiuretic hormone secretion (SIADH).</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Diagnosis of SIADH requires exclusion of other causes of hyponatremia and the absence of hypovolemia, edema, and adrenal, renal, or thyroid disease.</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Various malignant tumors and central nervous system disorders are commonly associated with SIADH.</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84DE2363-F84E-FDD9-CA08-282C8BD670F3}"/>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7B72450A-B3DB-C263-6987-194EBF66A01D}"/>
              </a:ext>
            </a:extLst>
          </p:cNvPr>
          <p:cNvSpPr>
            <a:spLocks noGrp="1"/>
          </p:cNvSpPr>
          <p:nvPr>
            <p:ph type="sldNum" sz="quarter" idx="12"/>
          </p:nvPr>
        </p:nvSpPr>
        <p:spPr/>
        <p:txBody>
          <a:bodyPr/>
          <a:lstStyle/>
          <a:p>
            <a:fld id="{CB22993B-EEE5-4EB1-BEE5-4FFFA489F796}" type="slidenum">
              <a:rPr lang="en-US" smtClean="0"/>
              <a:t>14</a:t>
            </a:fld>
            <a:endParaRPr lang="en-US"/>
          </a:p>
        </p:txBody>
      </p:sp>
    </p:spTree>
    <p:extLst>
      <p:ext uri="{BB962C8B-B14F-4D97-AF65-F5344CB8AC3E}">
        <p14:creationId xmlns:p14="http://schemas.microsoft.com/office/powerpoint/2010/main" val="2250628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D78345-1026-4EC7-8645-638A7E95847B}"/>
              </a:ext>
            </a:extLst>
          </p:cNvPr>
          <p:cNvSpPr>
            <a:spLocks noGrp="1"/>
          </p:cNvSpPr>
          <p:nvPr>
            <p:ph type="title"/>
          </p:nvPr>
        </p:nvSpPr>
        <p:spPr>
          <a:xfrm>
            <a:off x="838200" y="365126"/>
            <a:ext cx="10515600" cy="624226"/>
          </a:xfrm>
        </p:spPr>
        <p:txBody>
          <a:bodyPr>
            <a:noAutofit/>
          </a:bodyPr>
          <a:lstStyle/>
          <a:p>
            <a:r>
              <a:rPr lang="en-US" sz="3200" i="0" u="none" strike="noStrike" baseline="0" dirty="0">
                <a:latin typeface="Times New Roman" panose="02020603050405020304" pitchFamily="18" charset="0"/>
                <a:cs typeface="Times New Roman" panose="02020603050405020304" pitchFamily="18" charset="0"/>
              </a:rPr>
              <a:t>Clinical Manifestations of Hyponatremia</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82CA6C70-9577-49F8-B3C6-8D0AA5D58D3F}"/>
              </a:ext>
            </a:extLst>
          </p:cNvPr>
          <p:cNvSpPr>
            <a:spLocks noGrp="1"/>
          </p:cNvSpPr>
          <p:nvPr>
            <p:ph idx="1"/>
          </p:nvPr>
        </p:nvSpPr>
        <p:spPr>
          <a:xfrm>
            <a:off x="838200" y="1139252"/>
            <a:ext cx="10515600" cy="5353622"/>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Symptoms of hyponatremia are primarily </a:t>
            </a:r>
            <a:r>
              <a:rPr lang="en-US" sz="2800" b="1" i="0" u="none" strike="noStrike" baseline="0" dirty="0">
                <a:latin typeface="Times New Roman" panose="02020603050405020304" pitchFamily="18" charset="0"/>
                <a:cs typeface="Times New Roman" panose="02020603050405020304" pitchFamily="18" charset="0"/>
              </a:rPr>
              <a:t>neurological</a:t>
            </a:r>
            <a:r>
              <a:rPr lang="en-US" sz="2800" b="0" i="0" u="none" strike="noStrike" baseline="0" dirty="0">
                <a:latin typeface="Times New Roman" panose="02020603050405020304" pitchFamily="18" charset="0"/>
                <a:cs typeface="Times New Roman" panose="02020603050405020304" pitchFamily="18" charset="0"/>
              </a:rPr>
              <a:t> and result from an increase in intracellular water.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Their severity is generally related to the rapidity with which extracellular hypoosmolality develops.</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Patients with mild to moderate hyponatremia ([Na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&gt; 125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 are frequently asymptomatic.</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Early symptoms are typically nonspecific and may include </a:t>
            </a:r>
            <a:r>
              <a:rPr lang="en-US" sz="2800" b="1" i="0" u="none" strike="noStrike" baseline="0" dirty="0">
                <a:latin typeface="Times New Roman" panose="02020603050405020304" pitchFamily="18" charset="0"/>
                <a:cs typeface="Times New Roman" panose="02020603050405020304" pitchFamily="18" charset="0"/>
              </a:rPr>
              <a:t>anorexia, nausea, </a:t>
            </a:r>
            <a:r>
              <a:rPr lang="en-US" sz="2800" i="0" u="none" strike="noStrike" baseline="0" dirty="0">
                <a:latin typeface="Times New Roman" panose="02020603050405020304" pitchFamily="18" charset="0"/>
                <a:cs typeface="Times New Roman" panose="02020603050405020304" pitchFamily="18" charset="0"/>
              </a:rPr>
              <a:t>and</a:t>
            </a:r>
            <a:r>
              <a:rPr lang="en-US" sz="2800" b="1" i="0" u="none" strike="noStrike" baseline="0" dirty="0">
                <a:latin typeface="Times New Roman" panose="02020603050405020304" pitchFamily="18" charset="0"/>
                <a:cs typeface="Times New Roman" panose="02020603050405020304" pitchFamily="18" charset="0"/>
              </a:rPr>
              <a:t> weakness.</a:t>
            </a:r>
            <a:endParaRPr lang="en-US"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5ED63726-DF36-0761-56CE-FE7DB8BAB181}"/>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B69C66E0-0608-50D9-21D2-EA526004BA5D}"/>
              </a:ext>
            </a:extLst>
          </p:cNvPr>
          <p:cNvSpPr>
            <a:spLocks noGrp="1"/>
          </p:cNvSpPr>
          <p:nvPr>
            <p:ph type="sldNum" sz="quarter" idx="12"/>
          </p:nvPr>
        </p:nvSpPr>
        <p:spPr/>
        <p:txBody>
          <a:bodyPr/>
          <a:lstStyle/>
          <a:p>
            <a:fld id="{CB22993B-EEE5-4EB1-BEE5-4FFFA489F796}" type="slidenum">
              <a:rPr lang="en-US" smtClean="0"/>
              <a:t>15</a:t>
            </a:fld>
            <a:endParaRPr lang="en-US"/>
          </a:p>
        </p:txBody>
      </p:sp>
    </p:spTree>
    <p:extLst>
      <p:ext uri="{BB962C8B-B14F-4D97-AF65-F5344CB8AC3E}">
        <p14:creationId xmlns:p14="http://schemas.microsoft.com/office/powerpoint/2010/main" val="3439818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3C0B83-84B1-4696-8987-F9A72A4B6658}"/>
              </a:ext>
            </a:extLst>
          </p:cNvPr>
          <p:cNvSpPr>
            <a:spLocks noGrp="1"/>
          </p:cNvSpPr>
          <p:nvPr>
            <p:ph type="title"/>
          </p:nvPr>
        </p:nvSpPr>
        <p:spPr>
          <a:xfrm>
            <a:off x="838200" y="365126"/>
            <a:ext cx="10515600" cy="639216"/>
          </a:xfrm>
        </p:spPr>
        <p:txBody>
          <a:bodyPr>
            <a:normAutofit fontScale="90000"/>
          </a:bodyPr>
          <a:lstStyle/>
          <a:p>
            <a:r>
              <a:rPr kumimoji="0" lang="en-US" sz="44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FBEB27F8-81FD-4FC8-BC50-B1EC0285CDFD}"/>
              </a:ext>
            </a:extLst>
          </p:cNvPr>
          <p:cNvSpPr>
            <a:spLocks noGrp="1"/>
          </p:cNvSpPr>
          <p:nvPr>
            <p:ph idx="1"/>
          </p:nvPr>
        </p:nvSpPr>
        <p:spPr>
          <a:xfrm>
            <a:off x="838200" y="1154243"/>
            <a:ext cx="10515600" cy="5531370"/>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Progressive cerebral edema, however, results in lethargy, confusion, seizures, coma, and finally death.</a:t>
            </a:r>
          </a:p>
          <a:p>
            <a:pPr algn="l">
              <a:lnSpc>
                <a:spcPct val="100000"/>
              </a:lnSpc>
            </a:pPr>
            <a:r>
              <a:rPr lang="en-US" sz="2800" b="1" i="0" u="none" strike="noStrike" baseline="0" dirty="0">
                <a:latin typeface="Times New Roman" panose="02020603050405020304" pitchFamily="18" charset="0"/>
                <a:cs typeface="Times New Roman" panose="02020603050405020304" pitchFamily="18" charset="0"/>
              </a:rPr>
              <a:t>Serious </a:t>
            </a:r>
            <a:r>
              <a:rPr lang="en-US" sz="2800" b="0" i="0" u="none" strike="noStrike" baseline="0" dirty="0">
                <a:latin typeface="Times New Roman" panose="02020603050405020304" pitchFamily="18" charset="0"/>
                <a:cs typeface="Times New Roman" panose="02020603050405020304" pitchFamily="18" charset="0"/>
              </a:rPr>
              <a:t>manifestations of hyponatremia are generally associated with plasma sodium concentrations less than 120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Neurological symptoms in patients with chronic hyponatremia may be related more closely to changes in cell membrane potential (due to a low extracellular [Na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than to changes in cell volume.</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FDF669B4-3EBD-F165-7AF4-A26141527CA9}"/>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9BDDDC98-F1A6-AA0D-2761-5928382A4014}"/>
              </a:ext>
            </a:extLst>
          </p:cNvPr>
          <p:cNvSpPr>
            <a:spLocks noGrp="1"/>
          </p:cNvSpPr>
          <p:nvPr>
            <p:ph type="sldNum" sz="quarter" idx="12"/>
          </p:nvPr>
        </p:nvSpPr>
        <p:spPr/>
        <p:txBody>
          <a:bodyPr/>
          <a:lstStyle/>
          <a:p>
            <a:fld id="{CB22993B-EEE5-4EB1-BEE5-4FFFA489F796}" type="slidenum">
              <a:rPr lang="en-US" smtClean="0"/>
              <a:t>16</a:t>
            </a:fld>
            <a:endParaRPr lang="en-US"/>
          </a:p>
        </p:txBody>
      </p:sp>
    </p:spTree>
    <p:extLst>
      <p:ext uri="{BB962C8B-B14F-4D97-AF65-F5344CB8AC3E}">
        <p14:creationId xmlns:p14="http://schemas.microsoft.com/office/powerpoint/2010/main" val="1945235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5C281B-EB23-4BD4-B02F-A1A308581C9B}"/>
              </a:ext>
            </a:extLst>
          </p:cNvPr>
          <p:cNvSpPr>
            <a:spLocks noGrp="1"/>
          </p:cNvSpPr>
          <p:nvPr>
            <p:ph type="title"/>
          </p:nvPr>
        </p:nvSpPr>
        <p:spPr>
          <a:xfrm>
            <a:off x="838200" y="365126"/>
            <a:ext cx="10515600" cy="624226"/>
          </a:xfrm>
        </p:spPr>
        <p:txBody>
          <a:bodyPr>
            <a:noAutofit/>
          </a:bodyPr>
          <a:lstStyle/>
          <a:p>
            <a:r>
              <a:rPr lang="en-US" sz="3200" i="0" u="none" strike="noStrike" baseline="0" dirty="0">
                <a:latin typeface="Times New Roman" panose="02020603050405020304" pitchFamily="18" charset="0"/>
                <a:cs typeface="Times New Roman" panose="02020603050405020304" pitchFamily="18" charset="0"/>
              </a:rPr>
              <a:t>Treatment of Hyponatremia</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9265EB5F-DC73-47D9-AF3E-3794DE7E40DC}"/>
              </a:ext>
            </a:extLst>
          </p:cNvPr>
          <p:cNvSpPr>
            <a:spLocks noGrp="1"/>
          </p:cNvSpPr>
          <p:nvPr>
            <p:ph idx="1"/>
          </p:nvPr>
        </p:nvSpPr>
        <p:spPr>
          <a:xfrm>
            <a:off x="838200" y="1199212"/>
            <a:ext cx="10515600" cy="5293661"/>
          </a:xfrm>
        </p:spPr>
        <p:txBody>
          <a:bodyPr/>
          <a:lstStyle/>
          <a:p>
            <a:pPr algn="l">
              <a:lnSpc>
                <a:spcPct val="100000"/>
              </a:lnSpc>
            </a:pPr>
            <a:r>
              <a:rPr lang="en-US" dirty="0">
                <a:solidFill>
                  <a:srgbClr val="000000"/>
                </a:solidFill>
                <a:latin typeface="Times New Roman" panose="02020603050405020304" pitchFamily="18" charset="0"/>
                <a:cs typeface="Times New Roman" panose="02020603050405020304" pitchFamily="18" charset="0"/>
              </a:rPr>
              <a:t>T</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reatment of hyponatremia is directed at correcting both the underlying disorder as well as the plasma [Na </a:t>
            </a:r>
            <a:r>
              <a:rPr lang="en-US" sz="8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a:t>
            </a:r>
          </a:p>
          <a:p>
            <a:pPr algn="l">
              <a:lnSpc>
                <a:spcPct val="100000"/>
              </a:lnSpc>
            </a:pPr>
            <a:r>
              <a:rPr lang="en-US" sz="2800" b="1" i="0" u="none" strike="noStrike" baseline="0" dirty="0">
                <a:solidFill>
                  <a:srgbClr val="000000"/>
                </a:solidFill>
                <a:latin typeface="Times New Roman" panose="02020603050405020304" pitchFamily="18" charset="0"/>
                <a:cs typeface="Times New Roman" panose="02020603050405020304" pitchFamily="18" charset="0"/>
              </a:rPr>
              <a:t>Isotonic saline </a:t>
            </a:r>
            <a:r>
              <a:rPr lang="en-US" sz="2800" i="0" u="none" strike="noStrike" baseline="0" dirty="0">
                <a:solidFill>
                  <a:srgbClr val="000000"/>
                </a:solidFill>
                <a:latin typeface="Times New Roman" panose="02020603050405020304" pitchFamily="18" charset="0"/>
                <a:cs typeface="Times New Roman" panose="02020603050405020304" pitchFamily="18" charset="0"/>
              </a:rPr>
              <a:t>is generally the treatment of choice for hyponatremic patients with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decreased</a:t>
            </a:r>
            <a:r>
              <a:rPr lang="en-US" sz="2800" i="0" u="none" strike="noStrike" baseline="0" dirty="0">
                <a:solidFill>
                  <a:srgbClr val="000000"/>
                </a:solidFill>
                <a:latin typeface="Times New Roman" panose="02020603050405020304" pitchFamily="18" charset="0"/>
                <a:cs typeface="Times New Roman" panose="02020603050405020304" pitchFamily="18" charset="0"/>
              </a:rPr>
              <a:t> total body sodium content. </a:t>
            </a:r>
          </a:p>
          <a:p>
            <a:pPr algn="l">
              <a:lnSpc>
                <a:spcPct val="100000"/>
              </a:lnSpc>
            </a:pPr>
            <a:r>
              <a:rPr lang="en-US" dirty="0">
                <a:solidFill>
                  <a:srgbClr val="000000"/>
                </a:solidFill>
                <a:latin typeface="Times New Roman" panose="02020603050405020304" pitchFamily="18" charset="0"/>
                <a:cs typeface="Times New Roman" panose="02020603050405020304" pitchFamily="18" charset="0"/>
              </a:rPr>
              <a:t>W</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ater restriction is the primary treatment for hyponatremic patients with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normal </a:t>
            </a:r>
            <a:r>
              <a:rPr lang="en-US" sz="2800" i="0" u="none" strike="noStrike" baseline="0" dirty="0">
                <a:solidFill>
                  <a:srgbClr val="000000"/>
                </a:solidFill>
                <a:latin typeface="Times New Roman" panose="02020603050405020304" pitchFamily="18" charset="0"/>
                <a:cs typeface="Times New Roman" panose="02020603050405020304" pitchFamily="18" charset="0"/>
              </a:rPr>
              <a:t>or</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 increased</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total body sodium.</a:t>
            </a:r>
          </a:p>
          <a:p>
            <a:pPr algn="l">
              <a:lnSpc>
                <a:spcPct val="100000"/>
              </a:lnSpc>
            </a:pPr>
            <a:r>
              <a:rPr lang="en-US" sz="2800" b="1" i="0" u="none" strike="noStrike" baseline="0" dirty="0">
                <a:latin typeface="Times New Roman" panose="02020603050405020304" pitchFamily="18" charset="0"/>
                <a:cs typeface="Times New Roman" panose="02020603050405020304" pitchFamily="18" charset="0"/>
              </a:rPr>
              <a:t>Demeclocycline</a:t>
            </a:r>
            <a:r>
              <a:rPr lang="en-US" sz="2800" b="0" i="0" u="none" strike="noStrike" baseline="0" dirty="0">
                <a:latin typeface="Times New Roman" panose="02020603050405020304" pitchFamily="18" charset="0"/>
                <a:cs typeface="Times New Roman" panose="02020603050405020304" pitchFamily="18" charset="0"/>
              </a:rPr>
              <a:t>, a drug that antagonizes ADH activity at the renal tubules, has proved to be a useful adjunct to water restriction in the treatment of patients with SIADH.</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AC02B7CB-DA53-C9EF-A4D2-4C52EB0A0710}"/>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AC26125C-4038-7B69-C289-268FF1B50D4E}"/>
              </a:ext>
            </a:extLst>
          </p:cNvPr>
          <p:cNvSpPr>
            <a:spLocks noGrp="1"/>
          </p:cNvSpPr>
          <p:nvPr>
            <p:ph type="sldNum" sz="quarter" idx="12"/>
          </p:nvPr>
        </p:nvSpPr>
        <p:spPr/>
        <p:txBody>
          <a:bodyPr/>
          <a:lstStyle/>
          <a:p>
            <a:fld id="{CB22993B-EEE5-4EB1-BEE5-4FFFA489F796}" type="slidenum">
              <a:rPr lang="en-US" smtClean="0"/>
              <a:t>17</a:t>
            </a:fld>
            <a:endParaRPr lang="en-US"/>
          </a:p>
        </p:txBody>
      </p:sp>
    </p:spTree>
    <p:extLst>
      <p:ext uri="{BB962C8B-B14F-4D97-AF65-F5344CB8AC3E}">
        <p14:creationId xmlns:p14="http://schemas.microsoft.com/office/powerpoint/2010/main" val="3557592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FFB2F9-9E29-4176-AAF6-02C70DC116F7}"/>
              </a:ext>
            </a:extLst>
          </p:cNvPr>
          <p:cNvSpPr>
            <a:spLocks noGrp="1"/>
          </p:cNvSpPr>
          <p:nvPr>
            <p:ph type="title"/>
          </p:nvPr>
        </p:nvSpPr>
        <p:spPr>
          <a:xfrm>
            <a:off x="838200" y="365126"/>
            <a:ext cx="10515600" cy="684186"/>
          </a:xfrm>
        </p:spPr>
        <p:txBody>
          <a:bodyPr>
            <a:normAutofit fontScale="90000"/>
          </a:bodyPr>
          <a:lstStyle/>
          <a:p>
            <a:r>
              <a:rPr kumimoji="0" lang="en-US" sz="44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E082110A-C5B0-44AE-BC68-B440EA6B6587}"/>
              </a:ext>
            </a:extLst>
          </p:cNvPr>
          <p:cNvSpPr>
            <a:spLocks noGrp="1"/>
          </p:cNvSpPr>
          <p:nvPr>
            <p:ph idx="1"/>
          </p:nvPr>
        </p:nvSpPr>
        <p:spPr>
          <a:xfrm>
            <a:off x="838200" y="1319133"/>
            <a:ext cx="10515600" cy="5381469"/>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Acute symptomatic hyponatremia requires prompt treatment. </a:t>
            </a:r>
          </a:p>
          <a:p>
            <a:pPr algn="l"/>
            <a:r>
              <a:rPr lang="en-US" sz="2800" b="0" i="0" u="none" strike="noStrike" baseline="0" dirty="0">
                <a:latin typeface="Times New Roman" panose="02020603050405020304" pitchFamily="18" charset="0"/>
                <a:cs typeface="Times New Roman" panose="02020603050405020304" pitchFamily="18" charset="0"/>
              </a:rPr>
              <a:t>In such instances, correction of plasma [Na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to greater than 125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 is usually sufficient to alleviate symptoms.</a:t>
            </a:r>
          </a:p>
          <a:p>
            <a:pPr algn="l"/>
            <a:r>
              <a:rPr lang="en-US" sz="2800" b="0" i="0" u="none" strike="noStrike" baseline="0" dirty="0">
                <a:latin typeface="Times New Roman" panose="02020603050405020304" pitchFamily="18" charset="0"/>
                <a:cs typeface="Times New Roman" panose="02020603050405020304" pitchFamily="18" charset="0"/>
              </a:rPr>
              <a:t>The amount of NaCl necessary to raise plasma [Na </a:t>
            </a:r>
            <a:r>
              <a:rPr lang="en-US" sz="800" b="0" i="0" u="none" strike="noStrike" baseline="0" dirty="0">
                <a:latin typeface="Times New Roman" panose="02020603050405020304" pitchFamily="18" charset="0"/>
                <a:cs typeface="Times New Roman" panose="02020603050405020304" pitchFamily="18" charset="0"/>
              </a:rPr>
              <a:t>+ </a:t>
            </a:r>
            <a:r>
              <a:rPr lang="en-US" sz="2800" b="1"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to the desired value, the Na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deficit, can be estimated by the following formula</a:t>
            </a:r>
            <a:r>
              <a:rPr lang="en-US" sz="2800" b="1" i="0" u="none" strike="noStrike" baseline="0" dirty="0">
                <a:latin typeface="Times New Roman" panose="02020603050405020304" pitchFamily="18" charset="0"/>
                <a:cs typeface="Times New Roman" panose="02020603050405020304" pitchFamily="18" charset="0"/>
              </a:rPr>
              <a:t>:</a:t>
            </a:r>
          </a:p>
          <a:p>
            <a:pPr algn="l"/>
            <a:r>
              <a:rPr lang="en-US" sz="2800" b="0" i="0" u="none" strike="noStrike" baseline="0" dirty="0">
                <a:latin typeface="Times New Roman" panose="02020603050405020304" pitchFamily="18" charset="0"/>
                <a:cs typeface="Times New Roman" panose="02020603050405020304" pitchFamily="18" charset="0"/>
              </a:rPr>
              <a:t>Na+ deficit = TBW</a:t>
            </a:r>
            <a:r>
              <a:rPr lang="en-US" sz="2000" b="1" dirty="0">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a:ln>
                  <a:noFill/>
                </a:ln>
                <a:solidFill>
                  <a:prstClr val="black"/>
                </a:solidFill>
                <a:effectLst/>
                <a:uLnTx/>
                <a:uFillTx/>
                <a:latin typeface="Symbol" panose="05050102010706020507" pitchFamily="18" charset="2"/>
                <a:ea typeface="+mn-ea"/>
                <a:cs typeface="+mn-cs"/>
                <a:sym typeface="Symbol" panose="05050102010706020507" pitchFamily="18" charset="2"/>
              </a:rPr>
              <a:t> (</a:t>
            </a:r>
            <a:r>
              <a:rPr lang="en-US" sz="2800" b="0" i="0" u="none" strike="noStrike" baseline="0" dirty="0">
                <a:latin typeface="Times New Roman" panose="02020603050405020304" pitchFamily="18" charset="0"/>
                <a:cs typeface="Times New Roman" panose="02020603050405020304" pitchFamily="18" charset="0"/>
              </a:rPr>
              <a:t>desired [Na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r>
              <a:rPr lang="en-US" sz="2800" b="0" i="0" u="none" strike="noStrike" baseline="0" dirty="0">
                <a:latin typeface="Times New Roman" panose="02020603050405020304" pitchFamily="18" charset="0"/>
                <a:cs typeface="Times New Roman" panose="02020603050405020304" pitchFamily="18" charset="0"/>
              </a:rPr>
              <a:t> present [Na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61FFBF7B-1672-3E2E-5092-5710549BFCF6}"/>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A9B56852-1E31-1FD0-CD71-3559AC017174}"/>
              </a:ext>
            </a:extLst>
          </p:cNvPr>
          <p:cNvSpPr>
            <a:spLocks noGrp="1"/>
          </p:cNvSpPr>
          <p:nvPr>
            <p:ph type="sldNum" sz="quarter" idx="12"/>
          </p:nvPr>
        </p:nvSpPr>
        <p:spPr/>
        <p:txBody>
          <a:bodyPr/>
          <a:lstStyle/>
          <a:p>
            <a:fld id="{CB22993B-EEE5-4EB1-BEE5-4FFFA489F796}" type="slidenum">
              <a:rPr lang="en-US" smtClean="0"/>
              <a:t>18</a:t>
            </a:fld>
            <a:endParaRPr lang="en-US"/>
          </a:p>
        </p:txBody>
      </p:sp>
    </p:spTree>
    <p:extLst>
      <p:ext uri="{BB962C8B-B14F-4D97-AF65-F5344CB8AC3E}">
        <p14:creationId xmlns:p14="http://schemas.microsoft.com/office/powerpoint/2010/main" val="40320726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DFDC30-962D-49D5-9DB0-85FD7C9D7E4C}"/>
              </a:ext>
            </a:extLst>
          </p:cNvPr>
          <p:cNvSpPr>
            <a:spLocks noGrp="1"/>
          </p:cNvSpPr>
          <p:nvPr>
            <p:ph type="title"/>
          </p:nvPr>
        </p:nvSpPr>
        <p:spPr>
          <a:xfrm>
            <a:off x="838200" y="365126"/>
            <a:ext cx="10515600" cy="639216"/>
          </a:xfrm>
        </p:spPr>
        <p:txBody>
          <a:bodyPr>
            <a:normAutofit fontScale="90000"/>
          </a:bodyPr>
          <a:lstStyle/>
          <a:p>
            <a:r>
              <a:rPr kumimoji="0" lang="en-US" sz="44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0A4A5564-DBD8-47B3-B2A4-FF74DFFEAF06}"/>
              </a:ext>
            </a:extLst>
          </p:cNvPr>
          <p:cNvSpPr>
            <a:spLocks noGrp="1"/>
          </p:cNvSpPr>
          <p:nvPr>
            <p:ph idx="1"/>
          </p:nvPr>
        </p:nvSpPr>
        <p:spPr>
          <a:xfrm>
            <a:off x="838200" y="1229193"/>
            <a:ext cx="10515600" cy="5111646"/>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Excessively rapid correction of hyponatremia has been associated with demyelinating lesions in the pons ( </a:t>
            </a:r>
            <a:r>
              <a:rPr lang="en-US" sz="2800" b="0" i="1" u="none" strike="noStrike" baseline="0" dirty="0">
                <a:latin typeface="Times New Roman" panose="02020603050405020304" pitchFamily="18" charset="0"/>
                <a:cs typeface="Times New Roman" panose="02020603050405020304" pitchFamily="18" charset="0"/>
              </a:rPr>
              <a:t>central pontine myelinolysis </a:t>
            </a:r>
            <a:r>
              <a:rPr lang="en-US" sz="2800" b="0" i="0" u="none" strike="noStrike" baseline="0" dirty="0">
                <a:latin typeface="Times New Roman" panose="02020603050405020304" pitchFamily="18" charset="0"/>
                <a:cs typeface="Times New Roman" panose="02020603050405020304" pitchFamily="18" charset="0"/>
              </a:rPr>
              <a:t>), resulting in permanent neurological sequelae.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The</a:t>
            </a:r>
            <a:r>
              <a:rPr lang="en-US"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rapidity with which hyponatremia is corrected should be tailored to the severity of symptoms.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The</a:t>
            </a:r>
            <a:r>
              <a:rPr lang="en-US"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following correction rates have been suggested: for mild symptoms, 0.5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/L/h or less; for moderate symptoms, 1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/L/h or less; and for severe symptoms, 1.5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/L/h or less.</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1B2C2A75-8146-00C8-5BB4-EB59BD9C769D}"/>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C0E6E9FF-0226-A95B-2D60-75D258D6927E}"/>
              </a:ext>
            </a:extLst>
          </p:cNvPr>
          <p:cNvSpPr>
            <a:spLocks noGrp="1"/>
          </p:cNvSpPr>
          <p:nvPr>
            <p:ph type="sldNum" sz="quarter" idx="12"/>
          </p:nvPr>
        </p:nvSpPr>
        <p:spPr/>
        <p:txBody>
          <a:bodyPr/>
          <a:lstStyle/>
          <a:p>
            <a:fld id="{CB22993B-EEE5-4EB1-BEE5-4FFFA489F796}" type="slidenum">
              <a:rPr lang="en-US" smtClean="0"/>
              <a:t>19</a:t>
            </a:fld>
            <a:endParaRPr lang="en-US"/>
          </a:p>
        </p:txBody>
      </p:sp>
    </p:spTree>
    <p:extLst>
      <p:ext uri="{BB962C8B-B14F-4D97-AF65-F5344CB8AC3E}">
        <p14:creationId xmlns:p14="http://schemas.microsoft.com/office/powerpoint/2010/main" val="1201964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87DA01-9289-4BC1-8A45-53632EB7273E}"/>
              </a:ext>
            </a:extLst>
          </p:cNvPr>
          <p:cNvSpPr>
            <a:spLocks noGrp="1"/>
          </p:cNvSpPr>
          <p:nvPr>
            <p:ph type="title"/>
          </p:nvPr>
        </p:nvSpPr>
        <p:spPr>
          <a:xfrm>
            <a:off x="838200" y="365126"/>
            <a:ext cx="10515600" cy="639216"/>
          </a:xfrm>
        </p:spPr>
        <p:txBody>
          <a:bodyPr>
            <a:normAutofit fontScale="90000"/>
          </a:bodyPr>
          <a:lstStyle/>
          <a:p>
            <a:r>
              <a:rPr kumimoji="0" lang="en-US" sz="44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EF935580-F197-4C49-A3D9-FBB99E18D140}"/>
              </a:ext>
            </a:extLst>
          </p:cNvPr>
          <p:cNvSpPr>
            <a:spLocks noGrp="1"/>
          </p:cNvSpPr>
          <p:nvPr>
            <p:ph idx="1"/>
          </p:nvPr>
        </p:nvSpPr>
        <p:spPr>
          <a:xfrm>
            <a:off x="838200" y="1169232"/>
            <a:ext cx="10515600" cy="5323641"/>
          </a:xfrm>
        </p:spPr>
        <p:txBody>
          <a:bodyPr>
            <a:normAutofit/>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More rapid correction of hyponatremia can be achieved by giving a </a:t>
            </a:r>
            <a:r>
              <a:rPr lang="en-US" sz="2800" b="1" i="0" u="none" strike="noStrike" baseline="0" dirty="0">
                <a:latin typeface="Times New Roman" panose="02020603050405020304" pitchFamily="18" charset="0"/>
                <a:cs typeface="Times New Roman" panose="02020603050405020304" pitchFamily="18" charset="0"/>
              </a:rPr>
              <a:t>loop diuretic </a:t>
            </a:r>
            <a:r>
              <a:rPr lang="en-US" sz="2800" b="0" i="0" u="none" strike="noStrike" baseline="0" dirty="0">
                <a:latin typeface="Times New Roman" panose="02020603050405020304" pitchFamily="18" charset="0"/>
                <a:cs typeface="Times New Roman" panose="02020603050405020304" pitchFamily="18" charset="0"/>
              </a:rPr>
              <a:t>to induce water diuresis while replacing urinary Na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losses with </a:t>
            </a:r>
            <a:r>
              <a:rPr lang="en-US" sz="2800" b="1" i="0" u="none" strike="noStrike" baseline="0" dirty="0">
                <a:latin typeface="Times New Roman" panose="02020603050405020304" pitchFamily="18" charset="0"/>
                <a:cs typeface="Times New Roman" panose="02020603050405020304" pitchFamily="18" charset="0"/>
              </a:rPr>
              <a:t>isotonic saline</a:t>
            </a:r>
            <a:r>
              <a:rPr lang="en-US" sz="2800" b="0" i="0" u="none" strike="noStrike" baseline="0" dirty="0">
                <a:latin typeface="Times New Roman" panose="02020603050405020304" pitchFamily="18" charset="0"/>
                <a:cs typeface="Times New Roman" panose="02020603050405020304" pitchFamily="18" charset="0"/>
              </a:rPr>
              <a:t>. </a:t>
            </a:r>
          </a:p>
          <a:p>
            <a:pPr algn="l">
              <a:lnSpc>
                <a:spcPct val="100000"/>
              </a:lnSpc>
            </a:pPr>
            <a:r>
              <a:rPr lang="en-US" dirty="0">
                <a:latin typeface="Times New Roman" panose="02020603050405020304" pitchFamily="18" charset="0"/>
                <a:cs typeface="Times New Roman" panose="02020603050405020304" pitchFamily="18" charset="0"/>
              </a:rPr>
              <a:t>M</a:t>
            </a:r>
            <a:r>
              <a:rPr lang="en-US" sz="2800" b="0" i="0" u="none" strike="noStrike" baseline="0" dirty="0">
                <a:latin typeface="Times New Roman" panose="02020603050405020304" pitchFamily="18" charset="0"/>
                <a:cs typeface="Times New Roman" panose="02020603050405020304" pitchFamily="18" charset="0"/>
              </a:rPr>
              <a:t>ore rapid corrections can be achieved with intravenous </a:t>
            </a:r>
            <a:r>
              <a:rPr lang="en-US" sz="2800" b="1" i="0" u="none" strike="noStrike" baseline="0" dirty="0">
                <a:latin typeface="Times New Roman" panose="02020603050405020304" pitchFamily="18" charset="0"/>
                <a:cs typeface="Times New Roman" panose="02020603050405020304" pitchFamily="18" charset="0"/>
              </a:rPr>
              <a:t>hypertonic saline</a:t>
            </a:r>
            <a:r>
              <a:rPr lang="en-US" sz="2800" b="0" i="0" u="none" strike="noStrike" baseline="0" dirty="0">
                <a:latin typeface="Times New Roman" panose="02020603050405020304" pitchFamily="18" charset="0"/>
                <a:cs typeface="Times New Roman" panose="02020603050405020304" pitchFamily="18" charset="0"/>
              </a:rPr>
              <a:t> (3% NaCl).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Hypertonic saline may be indicated in markedly symptomatic patients with plasma [Na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less than 110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Three percent NaCl should be given cautiously as it can precipitate pulmonary edema and hyperchloremic metabolic acidosis.</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F817C17F-DDEF-DAE7-74BD-0CC76D47A85A}"/>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5963BD4E-4F66-9573-04C9-35E96672F5BF}"/>
              </a:ext>
            </a:extLst>
          </p:cNvPr>
          <p:cNvSpPr>
            <a:spLocks noGrp="1"/>
          </p:cNvSpPr>
          <p:nvPr>
            <p:ph type="sldNum" sz="quarter" idx="12"/>
          </p:nvPr>
        </p:nvSpPr>
        <p:spPr/>
        <p:txBody>
          <a:bodyPr/>
          <a:lstStyle/>
          <a:p>
            <a:fld id="{CB22993B-EEE5-4EB1-BEE5-4FFFA489F796}" type="slidenum">
              <a:rPr lang="en-US" smtClean="0"/>
              <a:t>20</a:t>
            </a:fld>
            <a:endParaRPr lang="en-US"/>
          </a:p>
        </p:txBody>
      </p:sp>
    </p:spTree>
    <p:extLst>
      <p:ext uri="{BB962C8B-B14F-4D97-AF65-F5344CB8AC3E}">
        <p14:creationId xmlns:p14="http://schemas.microsoft.com/office/powerpoint/2010/main" val="280393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C21F92-86FA-4EC0-BFD3-092EFF1C66A9}"/>
              </a:ext>
            </a:extLst>
          </p:cNvPr>
          <p:cNvSpPr>
            <a:spLocks noGrp="1"/>
          </p:cNvSpPr>
          <p:nvPr>
            <p:ph type="title"/>
          </p:nvPr>
        </p:nvSpPr>
        <p:spPr>
          <a:xfrm>
            <a:off x="838200" y="365125"/>
            <a:ext cx="10515600" cy="579255"/>
          </a:xfrm>
        </p:spPr>
        <p:txBody>
          <a:bodyPr>
            <a:normAutofit fontScale="90000"/>
          </a:bodyPr>
          <a:lstStyle/>
          <a:p>
            <a:r>
              <a:rPr kumimoji="0" lang="en-US" sz="44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ACB25F25-C8D6-4C9C-9B0C-88B143D415E3}"/>
              </a:ext>
            </a:extLst>
          </p:cNvPr>
          <p:cNvSpPr>
            <a:spLocks noGrp="1"/>
          </p:cNvSpPr>
          <p:nvPr>
            <p:ph idx="1"/>
          </p:nvPr>
        </p:nvSpPr>
        <p:spPr>
          <a:xfrm>
            <a:off x="838200" y="1139252"/>
            <a:ext cx="10515600" cy="5486400"/>
          </a:xfrm>
        </p:spPr>
        <p:txBody>
          <a:bodyPr/>
          <a:lstStyle/>
          <a:p>
            <a:pPr algn="l"/>
            <a:r>
              <a:rPr lang="en-US" sz="2800" b="1" i="0" u="none" strike="noStrike" baseline="0" dirty="0">
                <a:latin typeface="Times New Roman" panose="02020603050405020304" pitchFamily="18" charset="0"/>
                <a:cs typeface="Times New Roman" panose="02020603050405020304" pitchFamily="18" charset="0"/>
              </a:rPr>
              <a:t>Example</a:t>
            </a:r>
          </a:p>
          <a:p>
            <a:pPr algn="l"/>
            <a:r>
              <a:rPr lang="en-US" sz="2800" b="0" i="0" u="none" strike="noStrike" baseline="0" dirty="0">
                <a:latin typeface="Times New Roman" panose="02020603050405020304" pitchFamily="18" charset="0"/>
                <a:cs typeface="Times New Roman" panose="02020603050405020304" pitchFamily="18" charset="0"/>
              </a:rPr>
              <a:t>An 80-kg woman is lethargic and is found to have plasma [Na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of 118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 How much NaCl must be given to raise her plasma [Na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to 130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a:t>
            </a:r>
          </a:p>
          <a:p>
            <a:pPr algn="l"/>
            <a:r>
              <a:rPr lang="en-US" sz="2800" b="0" i="0" u="none" strike="noStrike" baseline="0" dirty="0">
                <a:latin typeface="Times New Roman" panose="02020603050405020304" pitchFamily="18" charset="0"/>
                <a:cs typeface="Times New Roman" panose="02020603050405020304" pitchFamily="18" charset="0"/>
              </a:rPr>
              <a:t>Na</a:t>
            </a:r>
            <a:r>
              <a:rPr lang="en-US" sz="800" dirty="0">
                <a:latin typeface="Times New Roman" panose="02020603050405020304" pitchFamily="18" charset="0"/>
                <a:cs typeface="Times New Roman" panose="02020603050405020304" pitchFamily="18" charset="0"/>
              </a:rPr>
              <a:t>+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deficit = TBW </a:t>
            </a:r>
            <a:r>
              <a:rPr lang="en-US" sz="2800" b="0" i="0" u="none" strike="noStrike" baseline="0" dirty="0">
                <a:latin typeface="Times New Roman" panose="02020603050405020304" pitchFamily="18" charset="0"/>
                <a:cs typeface="Times New Roman" panose="02020603050405020304" pitchFamily="18" charset="0"/>
                <a:sym typeface="Symbol" panose="05050102010706020507" pitchFamily="18" charset="2"/>
              </a:rPr>
              <a:t></a:t>
            </a:r>
            <a:r>
              <a:rPr lang="en-US" sz="2800" b="0" i="0" u="none" strike="noStrike" baseline="0" dirty="0">
                <a:latin typeface="Times New Roman" panose="02020603050405020304" pitchFamily="18" charset="0"/>
                <a:cs typeface="Times New Roman" panose="02020603050405020304" pitchFamily="18" charset="0"/>
              </a:rPr>
              <a:t>(130 </a:t>
            </a:r>
            <a:r>
              <a:rPr lang="en-US" dirty="0">
                <a:latin typeface="Times New Roman" panose="02020603050405020304" pitchFamily="18" charset="0"/>
                <a:cs typeface="Times New Roman" panose="02020603050405020304" pitchFamily="18" charset="0"/>
              </a:rPr>
              <a:t>-</a:t>
            </a:r>
            <a:r>
              <a:rPr lang="en-US" sz="2800" b="0" i="0" u="none" strike="noStrike" baseline="0" dirty="0">
                <a:latin typeface="Times New Roman" panose="02020603050405020304" pitchFamily="18" charset="0"/>
                <a:cs typeface="Times New Roman" panose="02020603050405020304" pitchFamily="18" charset="0"/>
              </a:rPr>
              <a:t> 118)</a:t>
            </a:r>
          </a:p>
          <a:p>
            <a:pPr algn="l"/>
            <a:r>
              <a:rPr lang="en-US" sz="2800" b="0" i="0" u="none" strike="noStrike" baseline="0" dirty="0">
                <a:latin typeface="Times New Roman" panose="02020603050405020304" pitchFamily="18" charset="0"/>
                <a:cs typeface="Times New Roman" panose="02020603050405020304" pitchFamily="18" charset="0"/>
              </a:rPr>
              <a:t>TBW is approximately 50% of body weight in females:</a:t>
            </a:r>
          </a:p>
          <a:p>
            <a:pPr algn="l"/>
            <a:r>
              <a:rPr lang="en-US" sz="2800" b="0" i="0" u="none" strike="noStrike" baseline="0" dirty="0">
                <a:latin typeface="Times New Roman" panose="02020603050405020304" pitchFamily="18" charset="0"/>
                <a:cs typeface="Times New Roman" panose="02020603050405020304" pitchFamily="18" charset="0"/>
              </a:rPr>
              <a:t>Na</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deficit = 80 </a:t>
            </a:r>
            <a:r>
              <a:rPr lang="en-US" dirty="0">
                <a:latin typeface="Times New Roman" panose="02020603050405020304" pitchFamily="18" charset="0"/>
                <a:cs typeface="Times New Roman" panose="02020603050405020304" pitchFamily="18" charset="0"/>
                <a:sym typeface="Symbol" panose="05050102010706020507" pitchFamily="18" charset="2"/>
              </a:rPr>
              <a:t></a:t>
            </a:r>
            <a:r>
              <a:rPr lang="en-US" sz="2800" b="0" i="0" u="none" strike="noStrike" baseline="0" dirty="0">
                <a:latin typeface="Times New Roman" panose="02020603050405020304" pitchFamily="18" charset="0"/>
                <a:cs typeface="Times New Roman" panose="02020603050405020304" pitchFamily="18" charset="0"/>
              </a:rPr>
              <a:t>0.5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Symbol" panose="05050102010706020507" pitchFamily="18" charset="2"/>
              </a:rPr>
              <a:t></a:t>
            </a:r>
            <a:r>
              <a:rPr lang="en-US" sz="2800" b="0" i="0" u="none" strike="noStrike" baseline="0" dirty="0">
                <a:latin typeface="Times New Roman" panose="02020603050405020304" pitchFamily="18" charset="0"/>
                <a:cs typeface="Times New Roman" panose="02020603050405020304" pitchFamily="18" charset="0"/>
              </a:rPr>
              <a:t>(130 </a:t>
            </a:r>
            <a:r>
              <a:rPr lang="en-US" dirty="0">
                <a:latin typeface="Times New Roman" panose="02020603050405020304" pitchFamily="18" charset="0"/>
                <a:cs typeface="Times New Roman" panose="02020603050405020304" pitchFamily="18" charset="0"/>
              </a:rPr>
              <a:t>-</a:t>
            </a:r>
            <a:r>
              <a:rPr lang="en-US" sz="2800" b="0" i="0" u="none" strike="noStrike" baseline="0" dirty="0">
                <a:latin typeface="Times New Roman" panose="02020603050405020304" pitchFamily="18" charset="0"/>
                <a:cs typeface="Times New Roman" panose="02020603050405020304" pitchFamily="18" charset="0"/>
              </a:rPr>
              <a:t> 118) = 480 </a:t>
            </a:r>
            <a:r>
              <a:rPr lang="en-US" sz="2800" b="0" i="0" u="none" strike="noStrike" baseline="0" dirty="0" err="1">
                <a:latin typeface="Times New Roman" panose="02020603050405020304" pitchFamily="18" charset="0"/>
                <a:cs typeface="Times New Roman" panose="02020603050405020304" pitchFamily="18" charset="0"/>
              </a:rPr>
              <a:t>mEq</a:t>
            </a:r>
            <a:endParaRPr lang="en-US" sz="2800" b="0" i="0" u="none" strike="noStrike" baseline="0" dirty="0">
              <a:latin typeface="Times New Roman" panose="02020603050405020304" pitchFamily="18" charset="0"/>
              <a:cs typeface="Times New Roman" panose="02020603050405020304" pitchFamily="18" charset="0"/>
            </a:endParaRPr>
          </a:p>
          <a:p>
            <a:pPr algn="l"/>
            <a:r>
              <a:rPr lang="en-US" sz="2800" b="0" i="0" u="none" strike="noStrike" baseline="0" dirty="0">
                <a:latin typeface="Times New Roman" panose="02020603050405020304" pitchFamily="18" charset="0"/>
                <a:cs typeface="Times New Roman" panose="02020603050405020304" pitchFamily="18" charset="0"/>
              </a:rPr>
              <a:t>Because normal (isotonic) saline contains 154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 the patient should receive 480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 /154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 or 3.12 L of normal saline</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C4E3DD7E-C29E-BC95-0A84-46D6484ED88A}"/>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5648C4E9-388A-7C91-4D36-36626C911216}"/>
              </a:ext>
            </a:extLst>
          </p:cNvPr>
          <p:cNvSpPr>
            <a:spLocks noGrp="1"/>
          </p:cNvSpPr>
          <p:nvPr>
            <p:ph type="sldNum" sz="quarter" idx="12"/>
          </p:nvPr>
        </p:nvSpPr>
        <p:spPr/>
        <p:txBody>
          <a:bodyPr/>
          <a:lstStyle/>
          <a:p>
            <a:fld id="{CB22993B-EEE5-4EB1-BEE5-4FFFA489F796}" type="slidenum">
              <a:rPr lang="en-US" smtClean="0"/>
              <a:t>21</a:t>
            </a:fld>
            <a:endParaRPr lang="en-US"/>
          </a:p>
        </p:txBody>
      </p:sp>
    </p:spTree>
    <p:extLst>
      <p:ext uri="{BB962C8B-B14F-4D97-AF65-F5344CB8AC3E}">
        <p14:creationId xmlns:p14="http://schemas.microsoft.com/office/powerpoint/2010/main" val="22917572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xmlns="" id="{B241CC82-17E8-4850-A453-EBB3BFC27F8B}"/>
              </a:ext>
            </a:extLst>
          </p:cNvPr>
          <p:cNvGraphicFramePr>
            <a:graphicFrameLocks noGrp="1"/>
          </p:cNvGraphicFramePr>
          <p:nvPr>
            <p:ph idx="1"/>
            <p:extLst>
              <p:ext uri="{D42A27DB-BD31-4B8C-83A1-F6EECF244321}">
                <p14:modId xmlns:p14="http://schemas.microsoft.com/office/powerpoint/2010/main" val="150090030"/>
              </p:ext>
            </p:extLst>
          </p:nvPr>
        </p:nvGraphicFramePr>
        <p:xfrm>
          <a:off x="838200" y="164893"/>
          <a:ext cx="10749194" cy="579120"/>
        </p:xfrm>
        <a:graphic>
          <a:graphicData uri="http://schemas.openxmlformats.org/drawingml/2006/table">
            <a:tbl>
              <a:tblPr firstRow="1" bandRow="1">
                <a:tableStyleId>{00A15C55-8517-42AA-B614-E9B94910E393}</a:tableStyleId>
              </a:tblPr>
              <a:tblGrid>
                <a:gridCol w="10749194">
                  <a:extLst>
                    <a:ext uri="{9D8B030D-6E8A-4147-A177-3AD203B41FA5}">
                      <a16:colId xmlns:a16="http://schemas.microsoft.com/office/drawing/2014/main" xmlns="" val="207912242"/>
                    </a:ext>
                  </a:extLst>
                </a:gridCol>
              </a:tblGrid>
              <a:tr h="569625">
                <a:tc>
                  <a:txBody>
                    <a:bodyPr/>
                    <a:lstStyle/>
                    <a:p>
                      <a:r>
                        <a:rPr lang="pt-BR" sz="3200" b="0" i="0" u="none" strike="noStrike" baseline="0" dirty="0">
                          <a:solidFill>
                            <a:srgbClr val="002060"/>
                          </a:solidFill>
                          <a:latin typeface="Times New Roman" panose="02020603050405020304" pitchFamily="18" charset="0"/>
                          <a:cs typeface="Times New Roman" panose="02020603050405020304" pitchFamily="18" charset="0"/>
                        </a:rPr>
                        <a:t>Causes of hyponatremia</a:t>
                      </a:r>
                      <a:endParaRPr lang="en-US" sz="3200" dirty="0">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880416536"/>
                  </a:ext>
                </a:extLst>
              </a:tr>
            </a:tbl>
          </a:graphicData>
        </a:graphic>
      </p:graphicFrame>
      <p:graphicFrame>
        <p:nvGraphicFramePr>
          <p:cNvPr id="6" name="Table 6">
            <a:extLst>
              <a:ext uri="{FF2B5EF4-FFF2-40B4-BE49-F238E27FC236}">
                <a16:creationId xmlns:a16="http://schemas.microsoft.com/office/drawing/2014/main" xmlns="" id="{17B1AF2F-C297-4B9C-AEC2-068C4FAEC9DA}"/>
              </a:ext>
            </a:extLst>
          </p:cNvPr>
          <p:cNvGraphicFramePr>
            <a:graphicFrameLocks noGrp="1"/>
          </p:cNvGraphicFramePr>
          <p:nvPr>
            <p:extLst>
              <p:ext uri="{D42A27DB-BD31-4B8C-83A1-F6EECF244321}">
                <p14:modId xmlns:p14="http://schemas.microsoft.com/office/powerpoint/2010/main" val="835237592"/>
              </p:ext>
            </p:extLst>
          </p:nvPr>
        </p:nvGraphicFramePr>
        <p:xfrm>
          <a:off x="838199" y="1139252"/>
          <a:ext cx="10749195" cy="5553855"/>
        </p:xfrm>
        <a:graphic>
          <a:graphicData uri="http://schemas.openxmlformats.org/drawingml/2006/table">
            <a:tbl>
              <a:tblPr firstRow="1" bandRow="1">
                <a:tableStyleId>{5C22544A-7EE6-4342-B048-85BDC9FD1C3A}</a:tableStyleId>
              </a:tblPr>
              <a:tblGrid>
                <a:gridCol w="3583065">
                  <a:extLst>
                    <a:ext uri="{9D8B030D-6E8A-4147-A177-3AD203B41FA5}">
                      <a16:colId xmlns:a16="http://schemas.microsoft.com/office/drawing/2014/main" xmlns="" val="3444815346"/>
                    </a:ext>
                  </a:extLst>
                </a:gridCol>
                <a:gridCol w="3583065">
                  <a:extLst>
                    <a:ext uri="{9D8B030D-6E8A-4147-A177-3AD203B41FA5}">
                      <a16:colId xmlns:a16="http://schemas.microsoft.com/office/drawing/2014/main" xmlns="" val="1506507709"/>
                    </a:ext>
                  </a:extLst>
                </a:gridCol>
                <a:gridCol w="3583065">
                  <a:extLst>
                    <a:ext uri="{9D8B030D-6E8A-4147-A177-3AD203B41FA5}">
                      <a16:colId xmlns:a16="http://schemas.microsoft.com/office/drawing/2014/main" xmlns="" val="151167565"/>
                    </a:ext>
                  </a:extLst>
                </a:gridCol>
              </a:tblGrid>
              <a:tr h="991672">
                <a:tc>
                  <a:txBody>
                    <a:bodyPr/>
                    <a:lstStyle/>
                    <a:p>
                      <a:pPr algn="l"/>
                      <a:r>
                        <a:rPr lang="en-US" sz="1800" b="0" i="0" u="none" strike="noStrike" baseline="0" dirty="0">
                          <a:latin typeface="Roboto-Regular"/>
                        </a:rPr>
                        <a:t>Total Sodium</a:t>
                      </a:r>
                    </a:p>
                    <a:p>
                      <a:pPr algn="l"/>
                      <a:r>
                        <a:rPr lang="en-US" sz="1800" b="0" i="0" u="none" strike="noStrike" baseline="0" dirty="0">
                          <a:latin typeface="Roboto-Regular"/>
                        </a:rPr>
                        <a:t>Content</a:t>
                      </a:r>
                      <a:endParaRPr lang="en-US" dirty="0"/>
                    </a:p>
                  </a:txBody>
                  <a:tcPr/>
                </a:tc>
                <a:tc>
                  <a:txBody>
                    <a:bodyPr/>
                    <a:lstStyle/>
                    <a:p>
                      <a:r>
                        <a:rPr lang="en-US" sz="1800" b="0" i="0" u="none" strike="noStrike" baseline="0" dirty="0">
                          <a:latin typeface="Roboto-Regular"/>
                        </a:rPr>
                        <a:t>Causes</a:t>
                      </a:r>
                      <a:endParaRPr lang="en-US" dirty="0"/>
                    </a:p>
                  </a:txBody>
                  <a:tcPr/>
                </a:tc>
                <a:tc>
                  <a:txBody>
                    <a:bodyPr/>
                    <a:lstStyle/>
                    <a:p>
                      <a:pPr algn="l"/>
                      <a:r>
                        <a:rPr lang="en-US" sz="1800" b="0" i="0" u="none" strike="noStrike" baseline="0" dirty="0">
                          <a:latin typeface="Roboto-Regular"/>
                        </a:rPr>
                        <a:t>Treatment (Always</a:t>
                      </a:r>
                    </a:p>
                    <a:p>
                      <a:pPr algn="l"/>
                      <a:r>
                        <a:rPr lang="en-US" sz="1800" b="0" i="0" u="none" strike="noStrike" baseline="0" dirty="0">
                          <a:latin typeface="Roboto-Regular"/>
                        </a:rPr>
                        <a:t>Treat</a:t>
                      </a:r>
                    </a:p>
                    <a:p>
                      <a:pPr algn="l"/>
                      <a:r>
                        <a:rPr lang="en-US" sz="1800" b="0" i="0" u="none" strike="noStrike" baseline="0" dirty="0">
                          <a:latin typeface="Roboto-Regular"/>
                        </a:rPr>
                        <a:t>Underlying Disorder</a:t>
                      </a:r>
                      <a:endParaRPr lang="en-US" dirty="0"/>
                    </a:p>
                  </a:txBody>
                  <a:tcPr/>
                </a:tc>
                <a:extLst>
                  <a:ext uri="{0D108BD9-81ED-4DB2-BD59-A6C34878D82A}">
                    <a16:rowId xmlns:a16="http://schemas.microsoft.com/office/drawing/2014/main" xmlns="" val="3467295278"/>
                  </a:ext>
                </a:extLst>
              </a:tr>
              <a:tr h="1795855">
                <a:tc>
                  <a:txBody>
                    <a:bodyPr/>
                    <a:lstStyle/>
                    <a:p>
                      <a:pPr algn="l"/>
                      <a:r>
                        <a:rPr lang="en-US" sz="1800" b="0" i="0" u="none" strike="noStrike" baseline="0" dirty="0">
                          <a:latin typeface="Roboto-Regular"/>
                        </a:rPr>
                        <a:t>Decreased</a:t>
                      </a:r>
                    </a:p>
                    <a:p>
                      <a:pPr algn="l"/>
                      <a:r>
                        <a:rPr lang="en-US" sz="1800" b="0" i="0" u="none" strike="noStrike" baseline="0" dirty="0">
                          <a:latin typeface="Roboto-Regular"/>
                        </a:rPr>
                        <a:t>(</a:t>
                      </a:r>
                      <a:r>
                        <a:rPr lang="en-US" sz="1800" b="0" i="0" u="none" strike="noStrike" baseline="0" dirty="0" err="1">
                          <a:latin typeface="Roboto-Regular"/>
                        </a:rPr>
                        <a:t>hypovolemicn</a:t>
                      </a:r>
                      <a:r>
                        <a:rPr lang="en-US" sz="1800" b="0" i="0" u="none" strike="noStrike" baseline="0" dirty="0">
                          <a:latin typeface="Roboto-Regular"/>
                        </a:rPr>
                        <a:t> hyponatremia)</a:t>
                      </a:r>
                      <a:endParaRPr lang="en-US" dirty="0"/>
                    </a:p>
                  </a:txBody>
                  <a:tcPr/>
                </a:tc>
                <a:tc>
                  <a:txBody>
                    <a:bodyPr/>
                    <a:lstStyle/>
                    <a:p>
                      <a:pPr algn="l"/>
                      <a:r>
                        <a:rPr lang="en-US" sz="1800" b="0" i="0" u="none" strike="noStrike" baseline="0" dirty="0">
                          <a:latin typeface="Roboto-Regular"/>
                        </a:rPr>
                        <a:t>Diuretics (including osmotic</a:t>
                      </a:r>
                    </a:p>
                    <a:p>
                      <a:pPr algn="l"/>
                      <a:r>
                        <a:rPr lang="en-US" sz="1800" b="0" i="0" u="none" strike="noStrike" baseline="0" dirty="0">
                          <a:latin typeface="Roboto-Regular"/>
                        </a:rPr>
                        <a:t>diuretics); renal tubular</a:t>
                      </a:r>
                    </a:p>
                    <a:p>
                      <a:pPr algn="l"/>
                      <a:r>
                        <a:rPr lang="en-US" sz="1800" b="0" i="0" u="none" strike="noStrike" baseline="0" dirty="0">
                          <a:latin typeface="Roboto-Regular"/>
                        </a:rPr>
                        <a:t>acidosis;</a:t>
                      </a:r>
                    </a:p>
                    <a:p>
                      <a:pPr algn="l"/>
                      <a:r>
                        <a:rPr lang="en-US" sz="1800" b="0" i="0" u="none" strike="noStrike" baseline="0" dirty="0">
                          <a:latin typeface="Roboto-Regular"/>
                        </a:rPr>
                        <a:t>hypoaldosteronism; salt wasting</a:t>
                      </a:r>
                    </a:p>
                    <a:p>
                      <a:pPr algn="l"/>
                      <a:r>
                        <a:rPr lang="en-US" sz="1800" b="0" i="0" u="none" strike="noStrike" baseline="0" dirty="0">
                          <a:latin typeface="Roboto-Regular"/>
                        </a:rPr>
                        <a:t>nephropathies,</a:t>
                      </a:r>
                    </a:p>
                    <a:p>
                      <a:pPr algn="l"/>
                      <a:r>
                        <a:rPr lang="en-US" sz="1800" b="0" i="0" u="none" strike="noStrike" baseline="0" dirty="0">
                          <a:latin typeface="Roboto-Regular"/>
                        </a:rPr>
                        <a:t>vomiting; diarrhea</a:t>
                      </a:r>
                      <a:endParaRPr lang="en-US" dirty="0"/>
                    </a:p>
                  </a:txBody>
                  <a:tcPr/>
                </a:tc>
                <a:tc>
                  <a:txBody>
                    <a:bodyPr/>
                    <a:lstStyle/>
                    <a:p>
                      <a:pPr algn="l"/>
                      <a:r>
                        <a:rPr lang="en-US" sz="1800" b="0" i="0" u="none" strike="noStrike" baseline="0" dirty="0">
                          <a:latin typeface="Roboto-Regular"/>
                        </a:rPr>
                        <a:t>Restore fluid and sodium</a:t>
                      </a:r>
                    </a:p>
                    <a:p>
                      <a:pPr algn="l"/>
                      <a:r>
                        <a:rPr lang="en-US" sz="1800" b="0" i="0" u="none" strike="noStrike" baseline="0" dirty="0">
                          <a:latin typeface="Roboto-Regular"/>
                        </a:rPr>
                        <a:t>deficits with isotonic</a:t>
                      </a:r>
                    </a:p>
                    <a:p>
                      <a:pPr algn="l"/>
                      <a:r>
                        <a:rPr lang="en-US" sz="1800" b="0" i="0" u="none" strike="noStrike" baseline="0" dirty="0">
                          <a:latin typeface="Roboto-Regular"/>
                        </a:rPr>
                        <a:t>saline</a:t>
                      </a:r>
                      <a:endParaRPr lang="en-US" dirty="0"/>
                    </a:p>
                  </a:txBody>
                  <a:tcPr/>
                </a:tc>
                <a:extLst>
                  <a:ext uri="{0D108BD9-81ED-4DB2-BD59-A6C34878D82A}">
                    <a16:rowId xmlns:a16="http://schemas.microsoft.com/office/drawing/2014/main" xmlns="" val="2292672945"/>
                  </a:ext>
                </a:extLst>
              </a:tr>
              <a:tr h="1383164">
                <a:tc>
                  <a:txBody>
                    <a:bodyPr/>
                    <a:lstStyle/>
                    <a:p>
                      <a:r>
                        <a:rPr lang="en-US" sz="1800" b="0" i="0" u="none" strike="noStrike" baseline="0" dirty="0">
                          <a:latin typeface="Roboto-Regular"/>
                        </a:rPr>
                        <a:t>Normal (Isovolumic hyponatremia)</a:t>
                      </a:r>
                      <a:endParaRPr lang="en-US" dirty="0"/>
                    </a:p>
                  </a:txBody>
                  <a:tcPr/>
                </a:tc>
                <a:tc>
                  <a:txBody>
                    <a:bodyPr/>
                    <a:lstStyle/>
                    <a:p>
                      <a:pPr algn="l"/>
                      <a:r>
                        <a:rPr lang="en-US" sz="1800" b="0" i="0" u="none" strike="noStrike" baseline="0" dirty="0">
                          <a:latin typeface="Roboto-Regular"/>
                        </a:rPr>
                        <a:t>SIADH; hypothyroidism;</a:t>
                      </a:r>
                    </a:p>
                    <a:p>
                      <a:pPr algn="l"/>
                      <a:r>
                        <a:rPr lang="en-US" sz="1800" b="0" i="0" u="none" strike="noStrike" baseline="0" dirty="0">
                          <a:latin typeface="Roboto-Regular"/>
                        </a:rPr>
                        <a:t>cortisol deficiency</a:t>
                      </a:r>
                      <a:endParaRPr lang="en-US" dirty="0"/>
                    </a:p>
                  </a:txBody>
                  <a:tcPr/>
                </a:tc>
                <a:tc>
                  <a:txBody>
                    <a:bodyPr/>
                    <a:lstStyle/>
                    <a:p>
                      <a:r>
                        <a:rPr lang="en-US" sz="1800" b="0" i="0" u="none" strike="noStrike" baseline="0" dirty="0">
                          <a:latin typeface="Roboto-Regular"/>
                        </a:rPr>
                        <a:t>Water restriction</a:t>
                      </a:r>
                      <a:endParaRPr lang="en-US" dirty="0"/>
                    </a:p>
                  </a:txBody>
                  <a:tcPr/>
                </a:tc>
                <a:extLst>
                  <a:ext uri="{0D108BD9-81ED-4DB2-BD59-A6C34878D82A}">
                    <a16:rowId xmlns:a16="http://schemas.microsoft.com/office/drawing/2014/main" xmlns="" val="1965696948"/>
                  </a:ext>
                </a:extLst>
              </a:tr>
              <a:tr h="1383164">
                <a:tc>
                  <a:txBody>
                    <a:bodyPr/>
                    <a:lstStyle/>
                    <a:p>
                      <a:r>
                        <a:rPr lang="en-US" sz="1800" b="0" i="0" u="none" strike="noStrike" baseline="0" dirty="0">
                          <a:latin typeface="Roboto-Regular"/>
                        </a:rPr>
                        <a:t>Increased (</a:t>
                      </a:r>
                      <a:r>
                        <a:rPr lang="en-US" sz="1800" b="0" i="0" u="none" strike="noStrike" baseline="0" dirty="0" err="1">
                          <a:latin typeface="Roboto-Regular"/>
                        </a:rPr>
                        <a:t>hypervolumic</a:t>
                      </a:r>
                      <a:r>
                        <a:rPr lang="en-US" sz="1800" b="0" i="0" u="none" strike="noStrike" baseline="0" dirty="0">
                          <a:latin typeface="Roboto-Regular"/>
                        </a:rPr>
                        <a:t> </a:t>
                      </a:r>
                      <a:r>
                        <a:rPr lang="en-US" sz="1800" b="0" i="0" u="none" strike="noStrike" baseline="0" dirty="0" err="1">
                          <a:latin typeface="Roboto-Regular"/>
                        </a:rPr>
                        <a:t>hyponatermia</a:t>
                      </a:r>
                      <a:endParaRPr lang="en-US" dirty="0"/>
                    </a:p>
                  </a:txBody>
                  <a:tcPr/>
                </a:tc>
                <a:tc>
                  <a:txBody>
                    <a:bodyPr/>
                    <a:lstStyle/>
                    <a:p>
                      <a:pPr algn="l"/>
                      <a:r>
                        <a:rPr lang="en-US" sz="1800" b="0" i="0" u="none" strike="noStrike" baseline="0" dirty="0">
                          <a:latin typeface="Roboto-Regular"/>
                        </a:rPr>
                        <a:t>Congestive heart failure;</a:t>
                      </a:r>
                    </a:p>
                    <a:p>
                      <a:pPr algn="l"/>
                      <a:r>
                        <a:rPr lang="en-US" sz="1800" b="0" i="0" u="none" strike="noStrike" baseline="0" dirty="0">
                          <a:latin typeface="Roboto-Regular"/>
                        </a:rPr>
                        <a:t>cirrhosis; nephrotic</a:t>
                      </a:r>
                    </a:p>
                    <a:p>
                      <a:pPr algn="l"/>
                      <a:r>
                        <a:rPr lang="en-US" sz="1800" b="0" i="0" u="none" strike="noStrike" baseline="0" dirty="0">
                          <a:latin typeface="Roboto-Regular"/>
                        </a:rPr>
                        <a:t>syndrome</a:t>
                      </a:r>
                      <a:endParaRPr lang="en-US" dirty="0"/>
                    </a:p>
                  </a:txBody>
                  <a:tcPr/>
                </a:tc>
                <a:tc>
                  <a:txBody>
                    <a:bodyPr/>
                    <a:lstStyle/>
                    <a:p>
                      <a:pPr algn="l"/>
                      <a:r>
                        <a:rPr lang="en-US" sz="1800" b="0" i="0" u="none" strike="noStrike" baseline="0" dirty="0">
                          <a:latin typeface="Roboto-Regular"/>
                        </a:rPr>
                        <a:t>Water restriction,</a:t>
                      </a:r>
                    </a:p>
                    <a:p>
                      <a:pPr algn="l"/>
                      <a:r>
                        <a:rPr lang="en-US" sz="1800" b="0" i="0" u="none" strike="noStrike" baseline="0" dirty="0">
                          <a:latin typeface="Roboto-Regular"/>
                        </a:rPr>
                        <a:t>loop diuretics</a:t>
                      </a:r>
                      <a:endParaRPr lang="en-US" dirty="0"/>
                    </a:p>
                  </a:txBody>
                  <a:tcPr/>
                </a:tc>
                <a:extLst>
                  <a:ext uri="{0D108BD9-81ED-4DB2-BD59-A6C34878D82A}">
                    <a16:rowId xmlns:a16="http://schemas.microsoft.com/office/drawing/2014/main" xmlns="" val="2764139169"/>
                  </a:ext>
                </a:extLst>
              </a:tr>
            </a:tbl>
          </a:graphicData>
        </a:graphic>
      </p:graphicFrame>
      <p:sp>
        <p:nvSpPr>
          <p:cNvPr id="2" name="Date Placeholder 1">
            <a:extLst>
              <a:ext uri="{FF2B5EF4-FFF2-40B4-BE49-F238E27FC236}">
                <a16:creationId xmlns:a16="http://schemas.microsoft.com/office/drawing/2014/main" xmlns="" id="{B92F9A49-E690-FAFD-4879-1925FF20F13C}"/>
              </a:ext>
            </a:extLst>
          </p:cNvPr>
          <p:cNvSpPr>
            <a:spLocks noGrp="1"/>
          </p:cNvSpPr>
          <p:nvPr>
            <p:ph type="dt" sz="half" idx="10"/>
          </p:nvPr>
        </p:nvSpPr>
        <p:spPr/>
        <p:txBody>
          <a:bodyPr/>
          <a:lstStyle/>
          <a:p>
            <a:r>
              <a:rPr lang="en-US"/>
              <a:t>23-Dec-22</a:t>
            </a:r>
          </a:p>
        </p:txBody>
      </p:sp>
      <p:sp>
        <p:nvSpPr>
          <p:cNvPr id="3" name="Slide Number Placeholder 2">
            <a:extLst>
              <a:ext uri="{FF2B5EF4-FFF2-40B4-BE49-F238E27FC236}">
                <a16:creationId xmlns:a16="http://schemas.microsoft.com/office/drawing/2014/main" xmlns="" id="{594F45A6-50CA-0626-437C-079CCCFB820D}"/>
              </a:ext>
            </a:extLst>
          </p:cNvPr>
          <p:cNvSpPr>
            <a:spLocks noGrp="1"/>
          </p:cNvSpPr>
          <p:nvPr>
            <p:ph type="sldNum" sz="quarter" idx="12"/>
          </p:nvPr>
        </p:nvSpPr>
        <p:spPr/>
        <p:txBody>
          <a:bodyPr/>
          <a:lstStyle/>
          <a:p>
            <a:fld id="{CB22993B-EEE5-4EB1-BEE5-4FFFA489F796}" type="slidenum">
              <a:rPr lang="en-US" smtClean="0"/>
              <a:t>22</a:t>
            </a:fld>
            <a:endParaRPr lang="en-US"/>
          </a:p>
        </p:txBody>
      </p:sp>
    </p:spTree>
    <p:extLst>
      <p:ext uri="{BB962C8B-B14F-4D97-AF65-F5344CB8AC3E}">
        <p14:creationId xmlns:p14="http://schemas.microsoft.com/office/powerpoint/2010/main" val="38946494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295906-87A3-459C-A37D-7CC8F25C816F}"/>
              </a:ext>
            </a:extLst>
          </p:cNvPr>
          <p:cNvSpPr>
            <a:spLocks noGrp="1"/>
          </p:cNvSpPr>
          <p:nvPr>
            <p:ph type="title"/>
          </p:nvPr>
        </p:nvSpPr>
        <p:spPr>
          <a:xfrm>
            <a:off x="838200" y="127416"/>
            <a:ext cx="10515600" cy="412230"/>
          </a:xfrm>
        </p:spPr>
        <p:txBody>
          <a:bodyPr>
            <a:noAutofit/>
          </a:bodyPr>
          <a:lstStyle/>
          <a:p>
            <a:r>
              <a:rPr lang="en-US" sz="3200" i="0" u="none" strike="noStrike" baseline="0" dirty="0">
                <a:solidFill>
                  <a:srgbClr val="002060"/>
                </a:solidFill>
                <a:latin typeface="Times New Roman" panose="02020603050405020304" pitchFamily="18" charset="0"/>
                <a:cs typeface="Times New Roman" panose="02020603050405020304" pitchFamily="18" charset="0"/>
              </a:rPr>
              <a:t>Anesthetic Considerations</a:t>
            </a:r>
            <a:endParaRPr lang="en-US" sz="3200"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544B930-72E3-4E12-B001-3FAB94A13E60}"/>
              </a:ext>
            </a:extLst>
          </p:cNvPr>
          <p:cNvSpPr>
            <a:spLocks noGrp="1"/>
          </p:cNvSpPr>
          <p:nvPr>
            <p:ph idx="1"/>
          </p:nvPr>
        </p:nvSpPr>
        <p:spPr>
          <a:xfrm>
            <a:off x="838200" y="539646"/>
            <a:ext cx="10515600" cy="6190938"/>
          </a:xfrm>
        </p:spPr>
        <p:txBody>
          <a:bodyPr>
            <a:noAutofit/>
          </a:bodyPr>
          <a:lstStyle/>
          <a:p>
            <a:pPr algn="l">
              <a:lnSpc>
                <a:spcPct val="110000"/>
              </a:lnSpc>
            </a:pPr>
            <a:r>
              <a:rPr lang="en-US" b="0" i="0" u="none" strike="noStrike" baseline="0" dirty="0">
                <a:latin typeface="Times New Roman" panose="02020603050405020304" pitchFamily="18" charset="0"/>
                <a:cs typeface="Times New Roman" panose="02020603050405020304" pitchFamily="18" charset="0"/>
              </a:rPr>
              <a:t>A plasma sodium concentration greater than 130 </a:t>
            </a:r>
            <a:r>
              <a:rPr lang="en-US" b="0" i="0" u="none" strike="noStrike" baseline="0" dirty="0" err="1">
                <a:latin typeface="Times New Roman" panose="02020603050405020304" pitchFamily="18" charset="0"/>
                <a:cs typeface="Times New Roman" panose="02020603050405020304" pitchFamily="18" charset="0"/>
              </a:rPr>
              <a:t>mEq</a:t>
            </a:r>
            <a:r>
              <a:rPr lang="en-US" b="0" i="0" u="none" strike="noStrike" baseline="0" dirty="0">
                <a:latin typeface="Times New Roman" panose="02020603050405020304" pitchFamily="18" charset="0"/>
                <a:cs typeface="Times New Roman" panose="02020603050405020304" pitchFamily="18" charset="0"/>
              </a:rPr>
              <a:t>/L is usually considered safe for patients undergoing general anesthesia. </a:t>
            </a:r>
          </a:p>
          <a:p>
            <a:pPr algn="l">
              <a:lnSpc>
                <a:spcPct val="110000"/>
              </a:lnSpc>
            </a:pPr>
            <a:r>
              <a:rPr lang="en-US" b="0" i="0" u="none" strike="noStrike" baseline="0" dirty="0">
                <a:latin typeface="Times New Roman" panose="02020603050405020304" pitchFamily="18" charset="0"/>
                <a:cs typeface="Times New Roman" panose="02020603050405020304" pitchFamily="18" charset="0"/>
              </a:rPr>
              <a:t>In most circumstances, plasma [Na+] should be corrected to greater than 130 </a:t>
            </a:r>
            <a:r>
              <a:rPr lang="en-US" b="0" i="0" u="none" strike="noStrike" baseline="0" dirty="0" err="1">
                <a:latin typeface="Times New Roman" panose="02020603050405020304" pitchFamily="18" charset="0"/>
                <a:cs typeface="Times New Roman" panose="02020603050405020304" pitchFamily="18" charset="0"/>
              </a:rPr>
              <a:t>mEq</a:t>
            </a:r>
            <a:r>
              <a:rPr lang="en-US" b="0" i="0" u="none" strike="noStrike" baseline="0" dirty="0">
                <a:latin typeface="Times New Roman" panose="02020603050405020304" pitchFamily="18" charset="0"/>
                <a:cs typeface="Times New Roman" panose="02020603050405020304" pitchFamily="18" charset="0"/>
              </a:rPr>
              <a:t>/L for elective procedures, even in the absence of neurological symptoms.</a:t>
            </a:r>
          </a:p>
          <a:p>
            <a:pPr algn="l">
              <a:lnSpc>
                <a:spcPct val="110000"/>
              </a:lnSpc>
            </a:pPr>
            <a:r>
              <a:rPr lang="en-US" b="0" i="0" u="none" strike="noStrike" baseline="0" dirty="0">
                <a:latin typeface="Times New Roman" panose="02020603050405020304" pitchFamily="18" charset="0"/>
                <a:cs typeface="Times New Roman" panose="02020603050405020304" pitchFamily="18" charset="0"/>
              </a:rPr>
              <a:t>Lower concentrations may result in significant cerebral edema that can be manifested intraoperatively as a decrease in minimum alveolar concentration or postoperatively as agitation, confusion, or somnolence.</a:t>
            </a:r>
          </a:p>
          <a:p>
            <a:pPr algn="l">
              <a:lnSpc>
                <a:spcPct val="110000"/>
              </a:lnSpc>
            </a:pPr>
            <a:r>
              <a:rPr lang="en-US" b="0" i="0" u="none" strike="noStrike" baseline="0" dirty="0">
                <a:latin typeface="Times New Roman" panose="02020603050405020304" pitchFamily="18" charset="0"/>
                <a:cs typeface="Times New Roman" panose="02020603050405020304" pitchFamily="18" charset="0"/>
              </a:rPr>
              <a:t>Patients undergoing transurethral resection of the prostate can absorb </a:t>
            </a:r>
            <a:r>
              <a:rPr lang="en-US" b="0" i="0" u="none" strike="noStrike" baseline="0" dirty="0" err="1">
                <a:latin typeface="Times New Roman" panose="02020603050405020304" pitchFamily="18" charset="0"/>
                <a:cs typeface="Times New Roman" panose="02020603050405020304" pitchFamily="18" charset="0"/>
              </a:rPr>
              <a:t>signifcant</a:t>
            </a:r>
            <a:r>
              <a:rPr lang="en-US" b="0" i="0" u="none" strike="noStrike" baseline="0" dirty="0">
                <a:latin typeface="Times New Roman" panose="02020603050405020304" pitchFamily="18" charset="0"/>
                <a:cs typeface="Times New Roman" panose="02020603050405020304" pitchFamily="18" charset="0"/>
              </a:rPr>
              <a:t> amounts of water from irrigation fluids (as much as 20 mL/min) and are at high risk for rapid development of hyponatremia.</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814DC541-8F34-90AB-C59F-A3916A1F2E61}"/>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BB549B11-2E83-44C3-3A25-A4D97976A9A5}"/>
              </a:ext>
            </a:extLst>
          </p:cNvPr>
          <p:cNvSpPr>
            <a:spLocks noGrp="1"/>
          </p:cNvSpPr>
          <p:nvPr>
            <p:ph type="sldNum" sz="quarter" idx="12"/>
          </p:nvPr>
        </p:nvSpPr>
        <p:spPr/>
        <p:txBody>
          <a:bodyPr/>
          <a:lstStyle/>
          <a:p>
            <a:fld id="{CB22993B-EEE5-4EB1-BEE5-4FFFA489F796}" type="slidenum">
              <a:rPr lang="en-US" smtClean="0"/>
              <a:t>23</a:t>
            </a:fld>
            <a:endParaRPr lang="en-US"/>
          </a:p>
        </p:txBody>
      </p:sp>
    </p:spTree>
    <p:extLst>
      <p:ext uri="{BB962C8B-B14F-4D97-AF65-F5344CB8AC3E}">
        <p14:creationId xmlns:p14="http://schemas.microsoft.com/office/powerpoint/2010/main" val="30911453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01AC33-502C-4097-8489-A8693E737FD5}"/>
              </a:ext>
            </a:extLst>
          </p:cNvPr>
          <p:cNvSpPr>
            <a:spLocks noGrp="1"/>
          </p:cNvSpPr>
          <p:nvPr>
            <p:ph type="title"/>
          </p:nvPr>
        </p:nvSpPr>
        <p:spPr>
          <a:xfrm>
            <a:off x="838200" y="365126"/>
            <a:ext cx="10515600" cy="684186"/>
          </a:xfrm>
        </p:spPr>
        <p:txBody>
          <a:bodyPr/>
          <a:lstStyle/>
          <a:p>
            <a:r>
              <a:rPr kumimoji="0" 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Hypernatremia</a:t>
            </a:r>
            <a:r>
              <a:rPr kumimoji="0" 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high levels of sodium</a:t>
            </a:r>
            <a:r>
              <a:rPr kumimoji="0" 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D5B348F5-B67F-490A-AE18-A4626A841798}"/>
              </a:ext>
            </a:extLst>
          </p:cNvPr>
          <p:cNvSpPr>
            <a:spLocks noGrp="1"/>
          </p:cNvSpPr>
          <p:nvPr>
            <p:ph idx="1"/>
          </p:nvPr>
        </p:nvSpPr>
        <p:spPr>
          <a:xfrm>
            <a:off x="838200" y="1259173"/>
            <a:ext cx="10515600" cy="5456419"/>
          </a:xfrm>
        </p:spPr>
        <p:txBody>
          <a:bodyPr>
            <a:normAutofit/>
          </a:bodyPr>
          <a:lstStyle/>
          <a:p>
            <a:pPr algn="l"/>
            <a:r>
              <a:rPr lang="en-US" sz="2800" b="0" i="0" u="none" strike="noStrike" baseline="0" dirty="0">
                <a:latin typeface="Times New Roman" panose="02020603050405020304" pitchFamily="18" charset="0"/>
                <a:cs typeface="Times New Roman" panose="02020603050405020304" pitchFamily="18" charset="0"/>
              </a:rPr>
              <a:t>Plasma Na+ &gt; 145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 L</a:t>
            </a:r>
          </a:p>
          <a:p>
            <a:pPr algn="l"/>
            <a:r>
              <a:rPr lang="en-US" sz="2800" b="0" i="0" u="none" strike="noStrike" baseline="0" dirty="0">
                <a:latin typeface="Times New Roman" panose="02020603050405020304" pitchFamily="18" charset="0"/>
                <a:cs typeface="Times New Roman" panose="02020603050405020304" pitchFamily="18" charset="0"/>
              </a:rPr>
              <a:t>Due to increase Na+ or decrease water</a:t>
            </a:r>
          </a:p>
          <a:p>
            <a:pPr algn="l"/>
            <a:r>
              <a:rPr lang="en-US" sz="2800" b="0" i="0" u="none" strike="noStrike" baseline="0" dirty="0">
                <a:latin typeface="Times New Roman" panose="02020603050405020304" pitchFamily="18" charset="0"/>
                <a:cs typeface="Times New Roman" panose="02020603050405020304" pitchFamily="18" charset="0"/>
              </a:rPr>
              <a:t>Water moves from ICF </a:t>
            </a:r>
            <a:r>
              <a:rPr lang="en-US" dirty="0">
                <a:latin typeface="Times New Roman" panose="02020603050405020304" pitchFamily="18" charset="0"/>
                <a:cs typeface="Times New Roman" panose="02020603050405020304" pitchFamily="18" charset="0"/>
              </a:rPr>
              <a:t>to </a:t>
            </a:r>
            <a:r>
              <a:rPr lang="en-US" sz="2800" b="0" i="0" u="none" strike="noStrike" baseline="0" dirty="0">
                <a:latin typeface="Times New Roman" panose="02020603050405020304" pitchFamily="18" charset="0"/>
                <a:cs typeface="Times New Roman" panose="02020603050405020304" pitchFamily="18" charset="0"/>
              </a:rPr>
              <a:t>ECF </a:t>
            </a:r>
          </a:p>
          <a:p>
            <a:pPr algn="l"/>
            <a:r>
              <a:rPr lang="en-US" sz="2800" b="0" i="0" u="none" strike="noStrike" baseline="0" dirty="0">
                <a:latin typeface="Times New Roman" panose="02020603050405020304" pitchFamily="18" charset="0"/>
                <a:cs typeface="Times New Roman" panose="02020603050405020304" pitchFamily="18" charset="0"/>
              </a:rPr>
              <a:t>Cells dehydrate</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Hypernatremia is nearly always the result of either a relative loss of water in excess of sodium (</a:t>
            </a:r>
            <a:r>
              <a:rPr lang="en-US" sz="2800" b="1" i="0" u="none" strike="noStrike" baseline="0" dirty="0">
                <a:latin typeface="Times New Roman" panose="02020603050405020304" pitchFamily="18" charset="0"/>
                <a:cs typeface="Times New Roman" panose="02020603050405020304" pitchFamily="18" charset="0"/>
              </a:rPr>
              <a:t>hypotonic fluid loss</a:t>
            </a:r>
            <a:r>
              <a:rPr lang="en-US" sz="2800" b="0" i="0" u="none" strike="noStrike" baseline="0" dirty="0">
                <a:latin typeface="Times New Roman" panose="02020603050405020304" pitchFamily="18" charset="0"/>
                <a:cs typeface="Times New Roman" panose="02020603050405020304" pitchFamily="18" charset="0"/>
              </a:rPr>
              <a:t>) or the retention of large quantities of sodium.</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Hypernatremia is therefore most commonly seen in </a:t>
            </a:r>
            <a:r>
              <a:rPr lang="en-US" sz="2800" b="1" i="0" u="none" strike="noStrike" baseline="0" dirty="0">
                <a:latin typeface="Times New Roman" panose="02020603050405020304" pitchFamily="18" charset="0"/>
                <a:cs typeface="Times New Roman" panose="02020603050405020304" pitchFamily="18" charset="0"/>
              </a:rPr>
              <a:t>debilitated </a:t>
            </a:r>
            <a:r>
              <a:rPr lang="en-US" sz="2800" b="0" i="0" u="none" strike="noStrike" baseline="0" dirty="0">
                <a:latin typeface="Times New Roman" panose="02020603050405020304" pitchFamily="18" charset="0"/>
                <a:cs typeface="Times New Roman" panose="02020603050405020304" pitchFamily="18" charset="0"/>
              </a:rPr>
              <a:t>patients who are unable to drink, the very aged, anesthetized patients and patients with altered consciousness.</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C0D773FA-0AEB-A5DE-72BF-C3E4F2D47AAE}"/>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9B9F27BA-B783-EEFB-9981-F2A2EC467C57}"/>
              </a:ext>
            </a:extLst>
          </p:cNvPr>
          <p:cNvSpPr>
            <a:spLocks noGrp="1"/>
          </p:cNvSpPr>
          <p:nvPr>
            <p:ph type="sldNum" sz="quarter" idx="12"/>
          </p:nvPr>
        </p:nvSpPr>
        <p:spPr/>
        <p:txBody>
          <a:bodyPr/>
          <a:lstStyle/>
          <a:p>
            <a:fld id="{CB22993B-EEE5-4EB1-BEE5-4FFFA489F796}" type="slidenum">
              <a:rPr lang="en-US" smtClean="0"/>
              <a:t>24</a:t>
            </a:fld>
            <a:endParaRPr lang="en-US"/>
          </a:p>
        </p:txBody>
      </p:sp>
    </p:spTree>
    <p:extLst>
      <p:ext uri="{BB962C8B-B14F-4D97-AF65-F5344CB8AC3E}">
        <p14:creationId xmlns:p14="http://schemas.microsoft.com/office/powerpoint/2010/main" val="5285617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C156F0-09F1-48EC-92C4-DEF6E7DA851A}"/>
              </a:ext>
            </a:extLst>
          </p:cNvPr>
          <p:cNvSpPr>
            <a:spLocks noGrp="1"/>
          </p:cNvSpPr>
          <p:nvPr>
            <p:ph type="title"/>
          </p:nvPr>
        </p:nvSpPr>
        <p:spPr>
          <a:xfrm>
            <a:off x="838200" y="136525"/>
            <a:ext cx="10515600" cy="792865"/>
          </a:xfrm>
        </p:spPr>
        <p:txBody>
          <a:bodyPr>
            <a:normAutofit/>
          </a:bodyPr>
          <a:lstStyle/>
          <a:p>
            <a:r>
              <a:rPr lang="en-US" sz="3200" i="0" u="none" strike="noStrike" baseline="0" dirty="0">
                <a:latin typeface="Times New Roman" panose="02020603050405020304" pitchFamily="18" charset="0"/>
                <a:cs typeface="Times New Roman" panose="02020603050405020304" pitchFamily="18" charset="0"/>
              </a:rPr>
              <a:t>Hypernatremia &amp; Low Total Body Sodium Content</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54DDE8A-C41F-4E34-A17F-18DD8783C8FE}"/>
              </a:ext>
            </a:extLst>
          </p:cNvPr>
          <p:cNvSpPr>
            <a:spLocks noGrp="1"/>
          </p:cNvSpPr>
          <p:nvPr>
            <p:ph idx="1"/>
          </p:nvPr>
        </p:nvSpPr>
        <p:spPr>
          <a:xfrm>
            <a:off x="838200" y="929390"/>
            <a:ext cx="10515600" cy="5591331"/>
          </a:xfrm>
        </p:spPr>
        <p:txBody>
          <a:bodyPr/>
          <a:lstStyle/>
          <a:p>
            <a:pPr algn="l"/>
            <a:endParaRPr lang="en-US" sz="2800" b="0" i="0" u="none" strike="noStrike" baseline="0" dirty="0">
              <a:latin typeface="MinionPro-Regular"/>
            </a:endParaRP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These patients have lost both </a:t>
            </a:r>
            <a:r>
              <a:rPr lang="en-US" sz="2800" b="1" i="0" u="none" strike="noStrike" baseline="0" dirty="0">
                <a:latin typeface="Times New Roman" panose="02020603050405020304" pitchFamily="18" charset="0"/>
                <a:cs typeface="Times New Roman" panose="02020603050405020304" pitchFamily="18" charset="0"/>
              </a:rPr>
              <a:t>sodium </a:t>
            </a:r>
            <a:r>
              <a:rPr lang="en-US" sz="2800" i="0" u="none" strike="noStrike" baseline="0" dirty="0">
                <a:latin typeface="Times New Roman" panose="02020603050405020304" pitchFamily="18" charset="0"/>
                <a:cs typeface="Times New Roman" panose="02020603050405020304" pitchFamily="18" charset="0"/>
              </a:rPr>
              <a:t>and </a:t>
            </a:r>
            <a:r>
              <a:rPr lang="en-US" sz="2800" b="1" i="0" u="none" strike="noStrike" baseline="0" dirty="0">
                <a:latin typeface="Times New Roman" panose="02020603050405020304" pitchFamily="18" charset="0"/>
                <a:cs typeface="Times New Roman" panose="02020603050405020304" pitchFamily="18" charset="0"/>
              </a:rPr>
              <a:t>water</a:t>
            </a:r>
            <a:r>
              <a:rPr lang="en-US" sz="2800" b="0" i="0" u="none" strike="noStrike" baseline="0" dirty="0">
                <a:latin typeface="Times New Roman" panose="02020603050405020304" pitchFamily="18" charset="0"/>
                <a:cs typeface="Times New Roman" panose="02020603050405020304" pitchFamily="18" charset="0"/>
              </a:rPr>
              <a:t>, but the water loss is in relative excess to that of the sodium loss.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Hypotonic losses can be renal (osmotic diuresis) or extrarenal (diarrhea or sweat).</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In either case, patients usually manifest signs of hypovolemia.</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Urinary sodium concentration is generally greater than 20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 with renal losses and less than 10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 with extrarenal losses.</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83915EEF-7D67-A566-A13F-D1785A6B8727}"/>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18AD266A-6395-C57B-16D6-BE12FF12BBD8}"/>
              </a:ext>
            </a:extLst>
          </p:cNvPr>
          <p:cNvSpPr>
            <a:spLocks noGrp="1"/>
          </p:cNvSpPr>
          <p:nvPr>
            <p:ph type="sldNum" sz="quarter" idx="12"/>
          </p:nvPr>
        </p:nvSpPr>
        <p:spPr/>
        <p:txBody>
          <a:bodyPr/>
          <a:lstStyle/>
          <a:p>
            <a:fld id="{CB22993B-EEE5-4EB1-BEE5-4FFFA489F796}" type="slidenum">
              <a:rPr lang="en-US" smtClean="0"/>
              <a:t>25</a:t>
            </a:fld>
            <a:endParaRPr lang="en-US"/>
          </a:p>
        </p:txBody>
      </p:sp>
    </p:spTree>
    <p:extLst>
      <p:ext uri="{BB962C8B-B14F-4D97-AF65-F5344CB8AC3E}">
        <p14:creationId xmlns:p14="http://schemas.microsoft.com/office/powerpoint/2010/main" val="3838912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9E77E7-83FA-48CE-BA39-404F7135EFCA}"/>
              </a:ext>
            </a:extLst>
          </p:cNvPr>
          <p:cNvSpPr>
            <a:spLocks noGrp="1"/>
          </p:cNvSpPr>
          <p:nvPr>
            <p:ph type="title"/>
          </p:nvPr>
        </p:nvSpPr>
        <p:spPr>
          <a:xfrm>
            <a:off x="838200" y="365125"/>
            <a:ext cx="10515600" cy="699177"/>
          </a:xfrm>
        </p:spPr>
        <p:txBody>
          <a:bodyPr>
            <a:noAutofit/>
          </a:bodyPr>
          <a:lstStyle/>
          <a:p>
            <a:r>
              <a:rPr lang="en-US" sz="3200" i="0" u="none" strike="noStrike" baseline="0" dirty="0">
                <a:latin typeface="Times New Roman" panose="02020603050405020304" pitchFamily="18" charset="0"/>
                <a:cs typeface="Times New Roman" panose="02020603050405020304" pitchFamily="18" charset="0"/>
              </a:rPr>
              <a:t>Hypernatremia &amp; Normal Total Body Sodium Content</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97899583-1B71-4956-8E4C-AB041760FE5E}"/>
              </a:ext>
            </a:extLst>
          </p:cNvPr>
          <p:cNvSpPr>
            <a:spLocks noGrp="1"/>
          </p:cNvSpPr>
          <p:nvPr>
            <p:ph idx="1"/>
          </p:nvPr>
        </p:nvSpPr>
        <p:spPr>
          <a:xfrm>
            <a:off x="838200" y="1199213"/>
            <a:ext cx="10515600" cy="5293662"/>
          </a:xfrm>
        </p:spPr>
        <p:txBody>
          <a:bodyPr>
            <a:normAutofit/>
          </a:bodyPr>
          <a:lstStyle/>
          <a:p>
            <a:pPr algn="l"/>
            <a:r>
              <a:rPr lang="en-US" sz="2800" b="0" i="0" u="none" strike="noStrike" baseline="0" dirty="0">
                <a:latin typeface="Times New Roman" panose="02020603050405020304" pitchFamily="18" charset="0"/>
                <a:cs typeface="Times New Roman" panose="02020603050405020304" pitchFamily="18" charset="0"/>
              </a:rPr>
              <a:t>Total body sodium content is generally normal. </a:t>
            </a:r>
          </a:p>
          <a:p>
            <a:pPr algn="l"/>
            <a:r>
              <a:rPr lang="en-US" sz="2800" b="0" i="0" u="none" strike="noStrike" baseline="0" dirty="0">
                <a:latin typeface="Times New Roman" panose="02020603050405020304" pitchFamily="18" charset="0"/>
                <a:cs typeface="Times New Roman" panose="02020603050405020304" pitchFamily="18" charset="0"/>
              </a:rPr>
              <a:t>Nearly </a:t>
            </a:r>
            <a:r>
              <a:rPr lang="en-US" sz="2800" b="1" i="0" u="none" strike="noStrike" baseline="0" dirty="0">
                <a:latin typeface="Times New Roman" panose="02020603050405020304" pitchFamily="18" charset="0"/>
                <a:cs typeface="Times New Roman" panose="02020603050405020304" pitchFamily="18" charset="0"/>
              </a:rPr>
              <a:t>pure water losses </a:t>
            </a:r>
            <a:r>
              <a:rPr lang="en-US" sz="2800" b="0" i="0" u="none" strike="noStrike" baseline="0" dirty="0">
                <a:latin typeface="Times New Roman" panose="02020603050405020304" pitchFamily="18" charset="0"/>
                <a:cs typeface="Times New Roman" panose="02020603050405020304" pitchFamily="18" charset="0"/>
              </a:rPr>
              <a:t>can occur via the skin, respiratory tract, or kidneys.</a:t>
            </a:r>
          </a:p>
          <a:p>
            <a:pPr algn="l"/>
            <a:r>
              <a:rPr lang="en-US" sz="2800" b="0" i="0" u="none" strike="noStrike" baseline="0" dirty="0">
                <a:latin typeface="Times New Roman" panose="02020603050405020304" pitchFamily="18" charset="0"/>
                <a:cs typeface="Times New Roman" panose="02020603050405020304" pitchFamily="18" charset="0"/>
              </a:rPr>
              <a:t>The most common cause of hypernatremia in conscious patients with normal total body sodium content is </a:t>
            </a:r>
            <a:r>
              <a:rPr lang="en-US" sz="2800" b="1" i="0" u="none" strike="noStrike" baseline="0" dirty="0">
                <a:latin typeface="Times New Roman" panose="02020603050405020304" pitchFamily="18" charset="0"/>
                <a:cs typeface="Times New Roman" panose="02020603050405020304" pitchFamily="18" charset="0"/>
              </a:rPr>
              <a:t>diabetes insipidus </a:t>
            </a:r>
            <a:r>
              <a:rPr lang="en-US" sz="2800" b="0" i="0" u="none" strike="noStrike" baseline="0" dirty="0">
                <a:latin typeface="Times New Roman" panose="02020603050405020304" pitchFamily="18" charset="0"/>
                <a:cs typeface="Times New Roman" panose="02020603050405020304" pitchFamily="18" charset="0"/>
              </a:rPr>
              <a:t>. </a:t>
            </a:r>
          </a:p>
          <a:p>
            <a:pPr marL="0" indent="0" algn="l">
              <a:buNone/>
            </a:pPr>
            <a:endParaRPr lang="en-US" sz="2800" b="0" i="0" u="none" strike="noStrike" baseline="0" dirty="0">
              <a:latin typeface="Times New Roman" panose="02020603050405020304" pitchFamily="18" charset="0"/>
              <a:cs typeface="Times New Roman" panose="02020603050405020304" pitchFamily="18" charset="0"/>
            </a:endParaRPr>
          </a:p>
          <a:p>
            <a:pPr algn="l"/>
            <a:r>
              <a:rPr lang="en-US" sz="2800" b="0" i="0" u="none" strike="noStrike" baseline="0" dirty="0">
                <a:latin typeface="Times New Roman" panose="02020603050405020304" pitchFamily="18" charset="0"/>
                <a:cs typeface="Times New Roman" panose="02020603050405020304" pitchFamily="18" charset="0"/>
              </a:rPr>
              <a:t>Diabetes insipidus is characterized by marked impairment in renal concentrating ability that is due either to decreased ADH secretion (</a:t>
            </a:r>
            <a:r>
              <a:rPr lang="en-US" sz="2800" b="1" i="0" u="none" strike="noStrike" baseline="0" dirty="0">
                <a:latin typeface="Times New Roman" panose="02020603050405020304" pitchFamily="18" charset="0"/>
                <a:cs typeface="Times New Roman" panose="02020603050405020304" pitchFamily="18" charset="0"/>
              </a:rPr>
              <a:t>central diabetes insipidus</a:t>
            </a:r>
            <a:r>
              <a:rPr lang="en-US" sz="2800" b="0" i="0" u="none" strike="noStrike" baseline="0" dirty="0">
                <a:latin typeface="Times New Roman" panose="02020603050405020304" pitchFamily="18" charset="0"/>
                <a:cs typeface="Times New Roman" panose="02020603050405020304" pitchFamily="18" charset="0"/>
              </a:rPr>
              <a:t>) or failure of the renal tubules to respond normally to circulating ADH (</a:t>
            </a:r>
            <a:r>
              <a:rPr lang="en-US" sz="2800" b="1" i="0" u="none" strike="noStrike" baseline="0" dirty="0">
                <a:latin typeface="Times New Roman" panose="02020603050405020304" pitchFamily="18" charset="0"/>
                <a:cs typeface="Times New Roman" panose="02020603050405020304" pitchFamily="18" charset="0"/>
              </a:rPr>
              <a:t>nephrogenic diabetes insipidus).</a:t>
            </a:r>
            <a:endParaRPr lang="en-US"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7608CFBB-181F-69A4-E18D-BA902934295D}"/>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4DE22D2F-78FA-A63F-C89D-E967BF61971B}"/>
              </a:ext>
            </a:extLst>
          </p:cNvPr>
          <p:cNvSpPr>
            <a:spLocks noGrp="1"/>
          </p:cNvSpPr>
          <p:nvPr>
            <p:ph type="sldNum" sz="quarter" idx="12"/>
          </p:nvPr>
        </p:nvSpPr>
        <p:spPr/>
        <p:txBody>
          <a:bodyPr/>
          <a:lstStyle/>
          <a:p>
            <a:fld id="{CB22993B-EEE5-4EB1-BEE5-4FFFA489F796}" type="slidenum">
              <a:rPr lang="en-US" smtClean="0"/>
              <a:t>26</a:t>
            </a:fld>
            <a:endParaRPr lang="en-US"/>
          </a:p>
        </p:txBody>
      </p:sp>
    </p:spTree>
    <p:extLst>
      <p:ext uri="{BB962C8B-B14F-4D97-AF65-F5344CB8AC3E}">
        <p14:creationId xmlns:p14="http://schemas.microsoft.com/office/powerpoint/2010/main" val="3817356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FEE867-011E-4C38-B692-72D3EDE437FC}"/>
              </a:ext>
            </a:extLst>
          </p:cNvPr>
          <p:cNvSpPr>
            <a:spLocks noGrp="1"/>
          </p:cNvSpPr>
          <p:nvPr>
            <p:ph type="title"/>
          </p:nvPr>
        </p:nvSpPr>
        <p:spPr>
          <a:xfrm>
            <a:off x="838200" y="365126"/>
            <a:ext cx="10515600" cy="624226"/>
          </a:xfrm>
        </p:spPr>
        <p:txBody>
          <a:bodyPr>
            <a:noAutofit/>
          </a:bodyPr>
          <a:lstStyle/>
          <a:p>
            <a:r>
              <a:rPr lang="en-US" sz="3200" i="0" u="none" strike="noStrike" baseline="0" dirty="0">
                <a:latin typeface="Times New Roman" panose="02020603050405020304" pitchFamily="18" charset="0"/>
                <a:cs typeface="Times New Roman" panose="02020603050405020304" pitchFamily="18" charset="0"/>
              </a:rPr>
              <a:t>Hypernatremia &amp; Increased Total Body Sodium Content</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794F8C1B-72E9-40D0-BCFB-5D6CC1D44834}"/>
              </a:ext>
            </a:extLst>
          </p:cNvPr>
          <p:cNvSpPr>
            <a:spLocks noGrp="1"/>
          </p:cNvSpPr>
          <p:nvPr>
            <p:ph idx="1"/>
          </p:nvPr>
        </p:nvSpPr>
        <p:spPr>
          <a:xfrm>
            <a:off x="838200" y="1199213"/>
            <a:ext cx="10515600" cy="4977750"/>
          </a:xfrm>
        </p:spPr>
        <p:txBody>
          <a:bodyPr>
            <a:normAutofit/>
          </a:bodyPr>
          <a:lstStyle/>
          <a:p>
            <a:pPr algn="l"/>
            <a:r>
              <a:rPr lang="en-US" sz="3200" b="0" i="0" u="none" strike="noStrike" baseline="0" dirty="0">
                <a:latin typeface="Times New Roman" panose="02020603050405020304" pitchFamily="18" charset="0"/>
                <a:cs typeface="Times New Roman" panose="02020603050405020304" pitchFamily="18" charset="0"/>
              </a:rPr>
              <a:t>This condition most commonly results from the administration of large quantities of hypertonic saline solutions (3% NaCl</a:t>
            </a:r>
            <a:r>
              <a:rPr lang="en-US" sz="900" b="0" i="0" u="none" strike="noStrike" baseline="0" dirty="0">
                <a:latin typeface="Times New Roman" panose="02020603050405020304" pitchFamily="18" charset="0"/>
                <a:cs typeface="Times New Roman" panose="02020603050405020304" pitchFamily="18" charset="0"/>
              </a:rPr>
              <a:t> </a:t>
            </a:r>
            <a:r>
              <a:rPr lang="en-US" sz="3200" b="0" i="0" u="none" strike="noStrike" baseline="0" dirty="0">
                <a:latin typeface="Times New Roman" panose="02020603050405020304" pitchFamily="18" charset="0"/>
                <a:cs typeface="Times New Roman" panose="02020603050405020304" pitchFamily="18" charset="0"/>
              </a:rPr>
              <a:t>).</a:t>
            </a:r>
          </a:p>
          <a:p>
            <a:pPr algn="l"/>
            <a:endParaRPr lang="en-US" sz="3200" b="0" i="0" u="none" strike="noStrike" baseline="0" dirty="0">
              <a:latin typeface="Times New Roman" panose="02020603050405020304" pitchFamily="18" charset="0"/>
              <a:cs typeface="Times New Roman" panose="02020603050405020304" pitchFamily="18" charset="0"/>
            </a:endParaRPr>
          </a:p>
          <a:p>
            <a:pPr algn="l"/>
            <a:r>
              <a:rPr lang="en-US" sz="3200" b="0" i="0" u="none" strike="noStrike" baseline="0" dirty="0">
                <a:latin typeface="Times New Roman" panose="02020603050405020304" pitchFamily="18" charset="0"/>
                <a:cs typeface="Times New Roman" panose="02020603050405020304" pitchFamily="18" charset="0"/>
              </a:rPr>
              <a:t>Patients with primary </a:t>
            </a:r>
            <a:r>
              <a:rPr lang="en-US" sz="3200" b="1" i="0" u="none" strike="noStrike" baseline="0" dirty="0">
                <a:latin typeface="Times New Roman" panose="02020603050405020304" pitchFamily="18" charset="0"/>
                <a:cs typeface="Times New Roman" panose="02020603050405020304" pitchFamily="18" charset="0"/>
              </a:rPr>
              <a:t>hyperaldosteronism</a:t>
            </a:r>
            <a:r>
              <a:rPr lang="en-US" sz="3200" b="0" i="0" u="none" strike="noStrike" baseline="0" dirty="0">
                <a:latin typeface="Times New Roman" panose="02020603050405020304" pitchFamily="18" charset="0"/>
                <a:cs typeface="Times New Roman" panose="02020603050405020304" pitchFamily="18" charset="0"/>
              </a:rPr>
              <a:t> and </a:t>
            </a:r>
            <a:r>
              <a:rPr lang="en-US" sz="3200" b="1" i="0" u="none" strike="noStrike" baseline="0" dirty="0">
                <a:latin typeface="Times New Roman" panose="02020603050405020304" pitchFamily="18" charset="0"/>
                <a:cs typeface="Times New Roman" panose="02020603050405020304" pitchFamily="18" charset="0"/>
              </a:rPr>
              <a:t>Cushing’s syndrome </a:t>
            </a:r>
            <a:r>
              <a:rPr lang="en-US" sz="3200" b="0" i="0" u="none" strike="noStrike" baseline="0" dirty="0">
                <a:latin typeface="Times New Roman" panose="02020603050405020304" pitchFamily="18" charset="0"/>
                <a:cs typeface="Times New Roman" panose="02020603050405020304" pitchFamily="18" charset="0"/>
              </a:rPr>
              <a:t>may also have elevations in serum sodium concentration along with signs of increased sodium retention.</a:t>
            </a:r>
            <a:endParaRPr lang="en-US" sz="3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964445C5-4B22-ECF5-874A-3B2D761AC9FF}"/>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422A8362-FAD6-F2D4-68FA-0490F4103889}"/>
              </a:ext>
            </a:extLst>
          </p:cNvPr>
          <p:cNvSpPr>
            <a:spLocks noGrp="1"/>
          </p:cNvSpPr>
          <p:nvPr>
            <p:ph type="sldNum" sz="quarter" idx="12"/>
          </p:nvPr>
        </p:nvSpPr>
        <p:spPr/>
        <p:txBody>
          <a:bodyPr/>
          <a:lstStyle/>
          <a:p>
            <a:fld id="{CB22993B-EEE5-4EB1-BEE5-4FFFA489F796}" type="slidenum">
              <a:rPr lang="en-US" smtClean="0"/>
              <a:t>27</a:t>
            </a:fld>
            <a:endParaRPr lang="en-US"/>
          </a:p>
        </p:txBody>
      </p:sp>
    </p:spTree>
    <p:extLst>
      <p:ext uri="{BB962C8B-B14F-4D97-AF65-F5344CB8AC3E}">
        <p14:creationId xmlns:p14="http://schemas.microsoft.com/office/powerpoint/2010/main" val="40617565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E3D633-EB86-4A1A-AF30-829818B99676}"/>
              </a:ext>
            </a:extLst>
          </p:cNvPr>
          <p:cNvSpPr>
            <a:spLocks noGrp="1"/>
          </p:cNvSpPr>
          <p:nvPr>
            <p:ph type="title"/>
          </p:nvPr>
        </p:nvSpPr>
        <p:spPr>
          <a:xfrm>
            <a:off x="838200" y="127418"/>
            <a:ext cx="10515600" cy="517160"/>
          </a:xfrm>
        </p:spPr>
        <p:txBody>
          <a:bodyPr>
            <a:normAutofit fontScale="90000"/>
          </a:bodyPr>
          <a:lstStyle/>
          <a:p>
            <a:r>
              <a:rPr lang="en-US" sz="3200" i="0" u="none" strike="noStrike" baseline="0" dirty="0">
                <a:latin typeface="MyriadPro-Bold"/>
              </a:rPr>
              <a:t>  </a:t>
            </a:r>
            <a:r>
              <a:rPr lang="en-US" sz="3200" i="0" u="none" strike="noStrike" baseline="0" dirty="0">
                <a:latin typeface="Times New Roman" panose="02020603050405020304" pitchFamily="18" charset="0"/>
                <a:cs typeface="Times New Roman" panose="02020603050405020304" pitchFamily="18" charset="0"/>
              </a:rPr>
              <a:t>Major causes of hypernatremia</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DD26FF7B-9514-4D7F-A351-8246CEE1D283}"/>
              </a:ext>
            </a:extLst>
          </p:cNvPr>
          <p:cNvSpPr>
            <a:spLocks noGrp="1"/>
          </p:cNvSpPr>
          <p:nvPr>
            <p:ph idx="1"/>
          </p:nvPr>
        </p:nvSpPr>
        <p:spPr>
          <a:xfrm>
            <a:off x="838200" y="899410"/>
            <a:ext cx="10515600" cy="5831173"/>
          </a:xfrm>
        </p:spPr>
        <p:txBody>
          <a:bodyPr>
            <a:normAutofit lnSpcReduction="10000"/>
          </a:bodyPr>
          <a:lstStyle/>
          <a:p>
            <a:pPr algn="l"/>
            <a:r>
              <a:rPr lang="en-US" sz="2800" b="1" i="0" u="none" strike="noStrike" baseline="0" dirty="0">
                <a:latin typeface="Times New Roman" panose="02020603050405020304" pitchFamily="18" charset="0"/>
                <a:cs typeface="Times New Roman" panose="02020603050405020304" pitchFamily="18" charset="0"/>
              </a:rPr>
              <a:t>Impaired thirst</a:t>
            </a:r>
          </a:p>
          <a:p>
            <a:pPr lvl="1">
              <a:buFont typeface="Wingdings" panose="05000000000000000000" pitchFamily="2" charset="2"/>
              <a:buChar char="Ø"/>
            </a:pPr>
            <a:r>
              <a:rPr lang="en-US" sz="2600" b="0" i="0" u="none" strike="noStrike" baseline="0" dirty="0">
                <a:latin typeface="Times New Roman" panose="02020603050405020304" pitchFamily="18" charset="0"/>
                <a:cs typeface="Times New Roman" panose="02020603050405020304" pitchFamily="18" charset="0"/>
              </a:rPr>
              <a:t>Coma</a:t>
            </a:r>
          </a:p>
          <a:p>
            <a:pPr lvl="1">
              <a:buFont typeface="Wingdings" panose="05000000000000000000" pitchFamily="2" charset="2"/>
              <a:buChar char="Ø"/>
            </a:pPr>
            <a:r>
              <a:rPr lang="en-US" sz="2600" b="0" i="0" u="none" strike="noStrike" baseline="0" dirty="0">
                <a:latin typeface="Times New Roman" panose="02020603050405020304" pitchFamily="18" charset="0"/>
                <a:cs typeface="Times New Roman" panose="02020603050405020304" pitchFamily="18" charset="0"/>
              </a:rPr>
              <a:t>Essential hypernatremia</a:t>
            </a:r>
          </a:p>
          <a:p>
            <a:pPr algn="l"/>
            <a:r>
              <a:rPr lang="en-US" sz="2800" b="1" i="0" u="none" strike="noStrike" baseline="0" dirty="0">
                <a:latin typeface="Times New Roman" panose="02020603050405020304" pitchFamily="18" charset="0"/>
                <a:cs typeface="Times New Roman" panose="02020603050405020304" pitchFamily="18" charset="0"/>
              </a:rPr>
              <a:t>Solute diuresis</a:t>
            </a:r>
          </a:p>
          <a:p>
            <a:pPr lvl="1">
              <a:buFont typeface="Wingdings" panose="05000000000000000000" pitchFamily="2" charset="2"/>
              <a:buChar char="Ø"/>
            </a:pPr>
            <a:r>
              <a:rPr lang="en-US" sz="2600" b="0" i="0" u="none" strike="noStrike" baseline="0" dirty="0">
                <a:latin typeface="Times New Roman" panose="02020603050405020304" pitchFamily="18" charset="0"/>
                <a:cs typeface="Times New Roman" panose="02020603050405020304" pitchFamily="18" charset="0"/>
              </a:rPr>
              <a:t>Osmotic diuresis: diabetic ketoacidosis, nonketotic hyperosmolar coma, mannitol administration</a:t>
            </a:r>
          </a:p>
          <a:p>
            <a:pPr algn="l"/>
            <a:r>
              <a:rPr lang="en-US" sz="2800" b="1" i="0" u="none" strike="noStrike" baseline="0" dirty="0">
                <a:latin typeface="Times New Roman" panose="02020603050405020304" pitchFamily="18" charset="0"/>
                <a:cs typeface="Times New Roman" panose="02020603050405020304" pitchFamily="18" charset="0"/>
              </a:rPr>
              <a:t>Excessive water losses</a:t>
            </a:r>
          </a:p>
          <a:p>
            <a:pPr marL="457200" lvl="1" indent="0">
              <a:buNone/>
            </a:pPr>
            <a:r>
              <a:rPr lang="en-US" sz="2600" b="0" i="0" u="none" strike="noStrike" baseline="0" dirty="0">
                <a:latin typeface="Times New Roman" panose="02020603050405020304" pitchFamily="18" charset="0"/>
                <a:cs typeface="Times New Roman" panose="02020603050405020304" pitchFamily="18" charset="0"/>
              </a:rPr>
              <a:t>Renal</a:t>
            </a:r>
          </a:p>
          <a:p>
            <a:pPr lvl="1">
              <a:buFont typeface="Wingdings" panose="05000000000000000000" pitchFamily="2" charset="2"/>
              <a:buChar char="Ø"/>
            </a:pPr>
            <a:r>
              <a:rPr lang="en-US" sz="2600" b="0" i="0" u="none" strike="noStrike" baseline="0" dirty="0">
                <a:latin typeface="Times New Roman" panose="02020603050405020304" pitchFamily="18" charset="0"/>
                <a:cs typeface="Times New Roman" panose="02020603050405020304" pitchFamily="18" charset="0"/>
              </a:rPr>
              <a:t>Neurogenic diabetes insipidus</a:t>
            </a:r>
          </a:p>
          <a:p>
            <a:pPr lvl="1">
              <a:buFont typeface="Wingdings" panose="05000000000000000000" pitchFamily="2" charset="2"/>
              <a:buChar char="Ø"/>
            </a:pPr>
            <a:r>
              <a:rPr lang="en-US" sz="2600" b="0" i="0" u="none" strike="noStrike" baseline="0" dirty="0">
                <a:latin typeface="Times New Roman" panose="02020603050405020304" pitchFamily="18" charset="0"/>
                <a:cs typeface="Times New Roman" panose="02020603050405020304" pitchFamily="18" charset="0"/>
              </a:rPr>
              <a:t>Nephrogenic diabetes insipidus</a:t>
            </a:r>
          </a:p>
          <a:p>
            <a:pPr marL="457200" lvl="1" indent="0">
              <a:buNone/>
            </a:pPr>
            <a:r>
              <a:rPr lang="en-US" sz="2600" b="0" i="0" u="none" strike="noStrike" baseline="0" dirty="0">
                <a:latin typeface="Times New Roman" panose="02020603050405020304" pitchFamily="18" charset="0"/>
                <a:cs typeface="Times New Roman" panose="02020603050405020304" pitchFamily="18" charset="0"/>
              </a:rPr>
              <a:t>Extrarenal</a:t>
            </a:r>
          </a:p>
          <a:p>
            <a:pPr lvl="1">
              <a:buFont typeface="Wingdings" panose="05000000000000000000" pitchFamily="2" charset="2"/>
              <a:buChar char="Ø"/>
            </a:pPr>
            <a:r>
              <a:rPr lang="en-US" sz="2600" b="0" i="0" u="none" strike="noStrike" baseline="0" dirty="0">
                <a:latin typeface="Times New Roman" panose="02020603050405020304" pitchFamily="18" charset="0"/>
                <a:cs typeface="Times New Roman" panose="02020603050405020304" pitchFamily="18" charset="0"/>
              </a:rPr>
              <a:t>Sweating</a:t>
            </a:r>
          </a:p>
          <a:p>
            <a:pPr algn="l"/>
            <a:r>
              <a:rPr lang="en-US" sz="2800" b="1" i="0" u="none" strike="noStrike" baseline="0" dirty="0">
                <a:latin typeface="Times New Roman" panose="02020603050405020304" pitchFamily="18" charset="0"/>
                <a:cs typeface="Times New Roman" panose="02020603050405020304" pitchFamily="18" charset="0"/>
              </a:rPr>
              <a:t>Combined disorders</a:t>
            </a:r>
          </a:p>
          <a:p>
            <a:pPr lvl="1">
              <a:buFont typeface="Wingdings" panose="05000000000000000000" pitchFamily="2" charset="2"/>
              <a:buChar char="Ø"/>
            </a:pPr>
            <a:r>
              <a:rPr lang="en-US" sz="2600" b="0" i="0" u="none" strike="noStrike" baseline="0" dirty="0">
                <a:latin typeface="Times New Roman" panose="02020603050405020304" pitchFamily="18" charset="0"/>
                <a:cs typeface="Times New Roman" panose="02020603050405020304" pitchFamily="18" charset="0"/>
              </a:rPr>
              <a:t>Coma plus hypertonic nasogastric feeding</a:t>
            </a:r>
            <a:endParaRPr lang="en-US" sz="26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ED5C193C-715F-BABA-4151-E48FB3FA0EF8}"/>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C6FF538A-EC52-E873-84C3-9380CA5FE219}"/>
              </a:ext>
            </a:extLst>
          </p:cNvPr>
          <p:cNvSpPr>
            <a:spLocks noGrp="1"/>
          </p:cNvSpPr>
          <p:nvPr>
            <p:ph type="sldNum" sz="quarter" idx="12"/>
          </p:nvPr>
        </p:nvSpPr>
        <p:spPr/>
        <p:txBody>
          <a:bodyPr/>
          <a:lstStyle/>
          <a:p>
            <a:fld id="{CB22993B-EEE5-4EB1-BEE5-4FFFA489F796}" type="slidenum">
              <a:rPr lang="en-US" smtClean="0"/>
              <a:t>28</a:t>
            </a:fld>
            <a:endParaRPr lang="en-US"/>
          </a:p>
        </p:txBody>
      </p:sp>
    </p:spTree>
    <p:extLst>
      <p:ext uri="{BB962C8B-B14F-4D97-AF65-F5344CB8AC3E}">
        <p14:creationId xmlns:p14="http://schemas.microsoft.com/office/powerpoint/2010/main" val="26353592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7987DE-4AD4-41C3-B32C-B47A9590CF8C}"/>
              </a:ext>
            </a:extLst>
          </p:cNvPr>
          <p:cNvSpPr>
            <a:spLocks noGrp="1"/>
          </p:cNvSpPr>
          <p:nvPr>
            <p:ph type="title"/>
          </p:nvPr>
        </p:nvSpPr>
        <p:spPr>
          <a:xfrm>
            <a:off x="838200" y="365125"/>
            <a:ext cx="10515600" cy="594245"/>
          </a:xfrm>
        </p:spPr>
        <p:txBody>
          <a:bodyPr>
            <a:noAutofit/>
          </a:bodyPr>
          <a:lstStyle/>
          <a:p>
            <a:r>
              <a:rPr lang="en-US" sz="3200" i="0" u="none" strike="noStrike" baseline="0" dirty="0">
                <a:latin typeface="Times New Roman" panose="02020603050405020304" pitchFamily="18" charset="0"/>
                <a:cs typeface="Times New Roman" panose="02020603050405020304" pitchFamily="18" charset="0"/>
              </a:rPr>
              <a:t>Clinical Manifestations of Hypernatremia</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2C145712-54C9-46CE-8CB7-D0E99B496D78}"/>
              </a:ext>
            </a:extLst>
          </p:cNvPr>
          <p:cNvSpPr>
            <a:spLocks noGrp="1"/>
          </p:cNvSpPr>
          <p:nvPr>
            <p:ph idx="1"/>
          </p:nvPr>
        </p:nvSpPr>
        <p:spPr>
          <a:xfrm>
            <a:off x="838200" y="1109272"/>
            <a:ext cx="10515600" cy="5383603"/>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Neurological manifestations predominate in patients with hypernatremia and are generally thought to result from cellular dehydration.</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Restlessness, lethargy, and hyperreflexia can progress to seizures, coma, and ultimately death.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Symptoms correlate more closely with the rate of movement of water out of brain cells than with the absolute level of hypernatremia.</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Rapid decreases in brain volume can rupture cerebral veins and result in </a:t>
            </a:r>
            <a:r>
              <a:rPr lang="en-US" sz="2800" b="1" i="0" u="none" strike="noStrike" baseline="0" dirty="0">
                <a:latin typeface="Times New Roman" panose="02020603050405020304" pitchFamily="18" charset="0"/>
                <a:cs typeface="Times New Roman" panose="02020603050405020304" pitchFamily="18" charset="0"/>
              </a:rPr>
              <a:t>focal intracerebral </a:t>
            </a:r>
            <a:r>
              <a:rPr lang="en-US" sz="2800" b="0" i="0" u="none" strike="noStrike" baseline="0" dirty="0">
                <a:latin typeface="Times New Roman" panose="02020603050405020304" pitchFamily="18" charset="0"/>
                <a:cs typeface="Times New Roman" panose="02020603050405020304" pitchFamily="18" charset="0"/>
              </a:rPr>
              <a:t>or </a:t>
            </a:r>
            <a:r>
              <a:rPr lang="en-US" sz="2800" b="1" i="0" u="none" strike="noStrike" baseline="0" dirty="0">
                <a:latin typeface="Times New Roman" panose="02020603050405020304" pitchFamily="18" charset="0"/>
                <a:cs typeface="Times New Roman" panose="02020603050405020304" pitchFamily="18" charset="0"/>
              </a:rPr>
              <a:t>subarachnoid</a:t>
            </a:r>
            <a:r>
              <a:rPr lang="en-US" sz="2800" b="0" i="0" u="none" strike="noStrike" baseline="0" dirty="0">
                <a:latin typeface="Times New Roman" panose="02020603050405020304" pitchFamily="18" charset="0"/>
                <a:cs typeface="Times New Roman" panose="02020603050405020304" pitchFamily="18" charset="0"/>
              </a:rPr>
              <a:t> hemorrhage.</a:t>
            </a:r>
          </a:p>
          <a:p>
            <a:pPr algn="l"/>
            <a:r>
              <a:rPr lang="en-US" sz="2800" b="0" i="0" u="none" strike="noStrike" baseline="0" dirty="0">
                <a:latin typeface="Times New Roman" panose="02020603050405020304" pitchFamily="18" charset="0"/>
                <a:cs typeface="Times New Roman" panose="02020603050405020304" pitchFamily="18" charset="0"/>
              </a:rPr>
              <a:t>Chronic hypernatremia is usually better tolerated than the acute form.</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235B9FAD-39D7-BEF8-184B-B17E022AD66F}"/>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3008D32E-1E88-27F7-8F15-90F85571F3B0}"/>
              </a:ext>
            </a:extLst>
          </p:cNvPr>
          <p:cNvSpPr>
            <a:spLocks noGrp="1"/>
          </p:cNvSpPr>
          <p:nvPr>
            <p:ph type="sldNum" sz="quarter" idx="12"/>
          </p:nvPr>
        </p:nvSpPr>
        <p:spPr/>
        <p:txBody>
          <a:bodyPr/>
          <a:lstStyle/>
          <a:p>
            <a:fld id="{CB22993B-EEE5-4EB1-BEE5-4FFFA489F796}" type="slidenum">
              <a:rPr lang="en-US" smtClean="0"/>
              <a:t>29</a:t>
            </a:fld>
            <a:endParaRPr lang="en-US"/>
          </a:p>
        </p:txBody>
      </p:sp>
    </p:spTree>
    <p:extLst>
      <p:ext uri="{BB962C8B-B14F-4D97-AF65-F5344CB8AC3E}">
        <p14:creationId xmlns:p14="http://schemas.microsoft.com/office/powerpoint/2010/main" val="9684135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ECC970-57B0-4581-AC42-FF585E0D8C09}"/>
              </a:ext>
            </a:extLst>
          </p:cNvPr>
          <p:cNvSpPr>
            <a:spLocks noGrp="1"/>
          </p:cNvSpPr>
          <p:nvPr>
            <p:ph type="title"/>
          </p:nvPr>
        </p:nvSpPr>
        <p:spPr>
          <a:xfrm>
            <a:off x="838200" y="365126"/>
            <a:ext cx="10515600" cy="609236"/>
          </a:xfrm>
        </p:spPr>
        <p:txBody>
          <a:bodyPr>
            <a:noAutofit/>
          </a:bodyPr>
          <a:lstStyle/>
          <a:p>
            <a:r>
              <a:rPr lang="en-US" sz="3200" i="0" u="none" strike="noStrike" baseline="0" dirty="0">
                <a:latin typeface="MyriadPro-Bold"/>
              </a:rPr>
              <a:t>  </a:t>
            </a:r>
            <a:r>
              <a:rPr lang="en-US" sz="3200" i="0" u="none" strike="noStrike" baseline="0" dirty="0">
                <a:latin typeface="Times New Roman" panose="02020603050405020304" pitchFamily="18" charset="0"/>
                <a:cs typeface="Times New Roman" panose="02020603050405020304" pitchFamily="18" charset="0"/>
              </a:rPr>
              <a:t>Treatment of Hypernatremia</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2212D4AD-A965-4559-B017-0E30B498DC11}"/>
              </a:ext>
            </a:extLst>
          </p:cNvPr>
          <p:cNvSpPr>
            <a:spLocks noGrp="1"/>
          </p:cNvSpPr>
          <p:nvPr>
            <p:ph idx="1"/>
          </p:nvPr>
        </p:nvSpPr>
        <p:spPr>
          <a:xfrm>
            <a:off x="838200" y="1124262"/>
            <a:ext cx="10515600" cy="5368612"/>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The treatment of hypernatremia is aimed at restoring plasma osmolality to normal as well as correcting the underlying cause. </a:t>
            </a:r>
          </a:p>
          <a:p>
            <a:pPr algn="l"/>
            <a:r>
              <a:rPr lang="en-US" sz="2800" b="0" i="0" u="none" strike="noStrike" baseline="0" dirty="0">
                <a:latin typeface="Times New Roman" panose="02020603050405020304" pitchFamily="18" charset="0"/>
                <a:cs typeface="Times New Roman" panose="02020603050405020304" pitchFamily="18" charset="0"/>
              </a:rPr>
              <a:t>Water deficits should generally be corrected over 48 h with a </a:t>
            </a:r>
            <a:r>
              <a:rPr lang="en-US" sz="2800" b="1" i="0" u="none" strike="noStrike" baseline="0" dirty="0">
                <a:latin typeface="Times New Roman" panose="02020603050405020304" pitchFamily="18" charset="0"/>
                <a:cs typeface="Times New Roman" panose="02020603050405020304" pitchFamily="18" charset="0"/>
              </a:rPr>
              <a:t>hypotonic solution </a:t>
            </a:r>
            <a:r>
              <a:rPr lang="en-US" sz="2800" b="0" i="0" u="none" strike="noStrike" baseline="0" dirty="0">
                <a:latin typeface="Times New Roman" panose="02020603050405020304" pitchFamily="18" charset="0"/>
                <a:cs typeface="Times New Roman" panose="02020603050405020304" pitchFamily="18" charset="0"/>
              </a:rPr>
              <a:t>such as 5% dextrose in water.</a:t>
            </a:r>
          </a:p>
          <a:p>
            <a:pPr algn="l"/>
            <a:r>
              <a:rPr lang="en-US" sz="2800" b="0" i="0" u="none" strike="noStrike" baseline="0" dirty="0">
                <a:latin typeface="Times New Roman" panose="02020603050405020304" pitchFamily="18" charset="0"/>
                <a:cs typeface="Times New Roman" panose="02020603050405020304" pitchFamily="18" charset="0"/>
              </a:rPr>
              <a:t>Hypernatremic patients with decreased total body sodium should be given </a:t>
            </a:r>
            <a:r>
              <a:rPr lang="en-US" sz="2800" b="1" i="0" u="none" strike="noStrike" baseline="0" dirty="0">
                <a:latin typeface="Times New Roman" panose="02020603050405020304" pitchFamily="18" charset="0"/>
                <a:cs typeface="Times New Roman" panose="02020603050405020304" pitchFamily="18" charset="0"/>
              </a:rPr>
              <a:t>isotonic fluids </a:t>
            </a:r>
            <a:r>
              <a:rPr lang="en-US" sz="2800" b="0" i="0" u="none" strike="noStrike" baseline="0" dirty="0">
                <a:latin typeface="Times New Roman" panose="02020603050405020304" pitchFamily="18" charset="0"/>
                <a:cs typeface="Times New Roman" panose="02020603050405020304" pitchFamily="18" charset="0"/>
              </a:rPr>
              <a:t>to restore plasma volume to normal </a:t>
            </a:r>
            <a:r>
              <a:rPr lang="en-US" sz="2800" b="0" i="1" u="none" strike="noStrike" baseline="0" dirty="0">
                <a:latin typeface="Times New Roman" panose="02020603050405020304" pitchFamily="18" charset="0"/>
                <a:cs typeface="Times New Roman" panose="02020603050405020304" pitchFamily="18" charset="0"/>
              </a:rPr>
              <a:t>prior </a:t>
            </a:r>
            <a:r>
              <a:rPr lang="en-US" sz="2800" b="0" i="0" u="none" strike="noStrike" baseline="0" dirty="0">
                <a:latin typeface="Times New Roman" panose="02020603050405020304" pitchFamily="18" charset="0"/>
                <a:cs typeface="Times New Roman" panose="02020603050405020304" pitchFamily="18" charset="0"/>
              </a:rPr>
              <a:t>to treatment with a hypotonic solution. </a:t>
            </a:r>
          </a:p>
        </p:txBody>
      </p:sp>
      <p:sp>
        <p:nvSpPr>
          <p:cNvPr id="4" name="Date Placeholder 3">
            <a:extLst>
              <a:ext uri="{FF2B5EF4-FFF2-40B4-BE49-F238E27FC236}">
                <a16:creationId xmlns:a16="http://schemas.microsoft.com/office/drawing/2014/main" xmlns="" id="{4032F0BD-D455-5435-A784-D66AE88084CE}"/>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99685887-0F1B-1AE2-28C3-5BE626FB73EA}"/>
              </a:ext>
            </a:extLst>
          </p:cNvPr>
          <p:cNvSpPr>
            <a:spLocks noGrp="1"/>
          </p:cNvSpPr>
          <p:nvPr>
            <p:ph type="sldNum" sz="quarter" idx="12"/>
          </p:nvPr>
        </p:nvSpPr>
        <p:spPr/>
        <p:txBody>
          <a:bodyPr/>
          <a:lstStyle/>
          <a:p>
            <a:fld id="{CB22993B-EEE5-4EB1-BEE5-4FFFA489F796}" type="slidenum">
              <a:rPr lang="en-US" smtClean="0"/>
              <a:t>30</a:t>
            </a:fld>
            <a:endParaRPr lang="en-US"/>
          </a:p>
        </p:txBody>
      </p:sp>
    </p:spTree>
    <p:extLst>
      <p:ext uri="{BB962C8B-B14F-4D97-AF65-F5344CB8AC3E}">
        <p14:creationId xmlns:p14="http://schemas.microsoft.com/office/powerpoint/2010/main" val="39630865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A17144-9CD6-4E90-AB09-47A452AA7B26}"/>
              </a:ext>
            </a:extLst>
          </p:cNvPr>
          <p:cNvSpPr>
            <a:spLocks noGrp="1"/>
          </p:cNvSpPr>
          <p:nvPr>
            <p:ph type="title"/>
          </p:nvPr>
        </p:nvSpPr>
        <p:spPr>
          <a:xfrm>
            <a:off x="838200" y="365125"/>
            <a:ext cx="10515600" cy="519295"/>
          </a:xfrm>
        </p:spPr>
        <p:txBody>
          <a:bodyPr>
            <a:normAutofit fontScale="90000"/>
          </a:bodyPr>
          <a:lstStyle/>
          <a:p>
            <a:r>
              <a:rPr kumimoji="0" lang="en-US" sz="44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EDD90E2B-01B9-4722-8068-56E18AC476DA}"/>
              </a:ext>
            </a:extLst>
          </p:cNvPr>
          <p:cNvSpPr>
            <a:spLocks noGrp="1"/>
          </p:cNvSpPr>
          <p:nvPr>
            <p:ph idx="1"/>
          </p:nvPr>
        </p:nvSpPr>
        <p:spPr>
          <a:xfrm>
            <a:off x="838200" y="1109272"/>
            <a:ext cx="10515600" cy="5067691"/>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Hypernatremic patients with increased total body sodium should be treated with a </a:t>
            </a: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loop diuretic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along with intravenous 5% dextrose in water.</a:t>
            </a:r>
          </a:p>
          <a:p>
            <a:pPr algn="l"/>
            <a:r>
              <a:rPr lang="en-US" sz="2800" b="0" i="0" u="none" strike="noStrike" baseline="0" dirty="0">
                <a:latin typeface="Times New Roman" panose="02020603050405020304" pitchFamily="18" charset="0"/>
                <a:cs typeface="Times New Roman" panose="02020603050405020304" pitchFamily="18" charset="0"/>
              </a:rPr>
              <a:t>Rapid correction of hypernatremia can result </a:t>
            </a:r>
            <a:r>
              <a:rPr lang="fr-FR" sz="2800" b="0" i="0" u="none" strike="noStrike" baseline="0" dirty="0">
                <a:latin typeface="Times New Roman" panose="02020603050405020304" pitchFamily="18" charset="0"/>
                <a:cs typeface="Times New Roman" panose="02020603050405020304" pitchFamily="18" charset="0"/>
              </a:rPr>
              <a:t>in </a:t>
            </a:r>
            <a:r>
              <a:rPr lang="fr-FR" sz="2800" b="0" i="0" u="none" strike="noStrike" baseline="0" dirty="0" err="1">
                <a:latin typeface="Times New Roman" panose="02020603050405020304" pitchFamily="18" charset="0"/>
                <a:cs typeface="Times New Roman" panose="02020603050405020304" pitchFamily="18" charset="0"/>
              </a:rPr>
              <a:t>seizures</a:t>
            </a:r>
            <a:r>
              <a:rPr lang="fr-FR" sz="2800" b="0" i="0" u="none" strike="noStrike" baseline="0" dirty="0">
                <a:latin typeface="Times New Roman" panose="02020603050405020304" pitchFamily="18" charset="0"/>
                <a:cs typeface="Times New Roman" panose="02020603050405020304" pitchFamily="18" charset="0"/>
              </a:rPr>
              <a:t>, </a:t>
            </a:r>
            <a:r>
              <a:rPr lang="fr-FR" sz="2800" b="0" i="0" u="none" strike="noStrike" baseline="0" dirty="0" err="1">
                <a:latin typeface="Times New Roman" panose="02020603050405020304" pitchFamily="18" charset="0"/>
                <a:cs typeface="Times New Roman" panose="02020603050405020304" pitchFamily="18" charset="0"/>
              </a:rPr>
              <a:t>brain</a:t>
            </a:r>
            <a:r>
              <a:rPr lang="fr-FR" sz="2800" b="0" i="0" u="none" strike="noStrike" baseline="0" dirty="0">
                <a:latin typeface="Times New Roman" panose="02020603050405020304" pitchFamily="18" charset="0"/>
                <a:cs typeface="Times New Roman" panose="02020603050405020304" pitchFamily="18" charset="0"/>
              </a:rPr>
              <a:t> </a:t>
            </a:r>
            <a:r>
              <a:rPr lang="fr-FR" sz="2800" b="0" i="0" u="none" strike="noStrike" baseline="0" dirty="0" err="1">
                <a:latin typeface="Times New Roman" panose="02020603050405020304" pitchFamily="18" charset="0"/>
                <a:cs typeface="Times New Roman" panose="02020603050405020304" pitchFamily="18" charset="0"/>
              </a:rPr>
              <a:t>edema</a:t>
            </a:r>
            <a:r>
              <a:rPr lang="fr-FR" sz="2800" b="0" i="0" u="none" strike="noStrike" baseline="0" dirty="0">
                <a:latin typeface="Times New Roman" panose="02020603050405020304" pitchFamily="18" charset="0"/>
                <a:cs typeface="Times New Roman" panose="02020603050405020304" pitchFamily="18" charset="0"/>
              </a:rPr>
              <a:t>, permanent </a:t>
            </a:r>
            <a:r>
              <a:rPr lang="fr-FR" sz="2800" b="0" i="0" u="none" strike="noStrike" baseline="0" dirty="0" err="1">
                <a:latin typeface="Times New Roman" panose="02020603050405020304" pitchFamily="18" charset="0"/>
                <a:cs typeface="Times New Roman" panose="02020603050405020304" pitchFamily="18" charset="0"/>
              </a:rPr>
              <a:t>neurological</a:t>
            </a:r>
            <a:r>
              <a:rPr lang="fr-FR"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damage, and even death.</a:t>
            </a:r>
          </a:p>
          <a:p>
            <a:pPr algn="l"/>
            <a:r>
              <a:rPr lang="en-US" sz="2800" b="0" i="0" u="none" strike="noStrike" baseline="0" dirty="0">
                <a:latin typeface="Times New Roman" panose="02020603050405020304" pitchFamily="18" charset="0"/>
                <a:cs typeface="Times New Roman" panose="02020603050405020304" pitchFamily="18" charset="0"/>
              </a:rPr>
              <a:t>Serial Na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err="1">
                <a:latin typeface="Times New Roman" panose="02020603050405020304" pitchFamily="18" charset="0"/>
                <a:cs typeface="Times New Roman" panose="02020603050405020304" pitchFamily="18" charset="0"/>
              </a:rPr>
              <a:t>osmolalities</a:t>
            </a:r>
            <a:r>
              <a:rPr lang="en-US"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should be obtained during treatment. </a:t>
            </a:r>
          </a:p>
          <a:p>
            <a:pPr algn="l"/>
            <a:r>
              <a:rPr lang="en-US" sz="2800" b="0" i="0" u="none" strike="noStrike" baseline="0" dirty="0">
                <a:latin typeface="Times New Roman" panose="02020603050405020304" pitchFamily="18" charset="0"/>
                <a:cs typeface="Times New Roman" panose="02020603050405020304" pitchFamily="18" charset="0"/>
              </a:rPr>
              <a:t>In general, decreases in plasma sodium concentration should not proceed at a rate faster than 0.5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/L/h.</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37EEBCEE-C3D3-A6DE-F56F-BA89EBE1782A}"/>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214D0D8C-CF86-DE89-EB03-029F5FA03E98}"/>
              </a:ext>
            </a:extLst>
          </p:cNvPr>
          <p:cNvSpPr>
            <a:spLocks noGrp="1"/>
          </p:cNvSpPr>
          <p:nvPr>
            <p:ph type="sldNum" sz="quarter" idx="12"/>
          </p:nvPr>
        </p:nvSpPr>
        <p:spPr/>
        <p:txBody>
          <a:bodyPr/>
          <a:lstStyle/>
          <a:p>
            <a:fld id="{CB22993B-EEE5-4EB1-BEE5-4FFFA489F796}" type="slidenum">
              <a:rPr lang="en-US" smtClean="0"/>
              <a:t>31</a:t>
            </a:fld>
            <a:endParaRPr lang="en-US"/>
          </a:p>
        </p:txBody>
      </p:sp>
    </p:spTree>
    <p:extLst>
      <p:ext uri="{BB962C8B-B14F-4D97-AF65-F5344CB8AC3E}">
        <p14:creationId xmlns:p14="http://schemas.microsoft.com/office/powerpoint/2010/main" val="15508544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82D0C7-A591-4EDF-A2FC-56445071A9DB}"/>
              </a:ext>
            </a:extLst>
          </p:cNvPr>
          <p:cNvSpPr>
            <a:spLocks noGrp="1"/>
          </p:cNvSpPr>
          <p:nvPr>
            <p:ph type="title"/>
          </p:nvPr>
        </p:nvSpPr>
        <p:spPr>
          <a:xfrm>
            <a:off x="838200" y="164893"/>
            <a:ext cx="10515600" cy="659566"/>
          </a:xfrm>
        </p:spPr>
        <p:txBody>
          <a:bodyPr>
            <a:normAutofit fontScale="90000"/>
          </a:bodyPr>
          <a:lstStyle/>
          <a:p>
            <a:r>
              <a:rPr lang="en-US" dirty="0">
                <a:latin typeface="MyriadPro-Regular"/>
              </a:rPr>
              <a:t>   </a:t>
            </a:r>
            <a:r>
              <a:rPr lang="en-US" sz="3600" dirty="0">
                <a:latin typeface="Times New Roman" panose="02020603050405020304" pitchFamily="18" charset="0"/>
                <a:cs typeface="Times New Roman" panose="02020603050405020304" pitchFamily="18" charset="0"/>
              </a:rPr>
              <a:t>T</a:t>
            </a:r>
            <a:r>
              <a:rPr lang="en-US" sz="3600" b="0" i="0" u="none" strike="noStrike" baseline="0" dirty="0">
                <a:latin typeface="Times New Roman" panose="02020603050405020304" pitchFamily="18" charset="0"/>
                <a:cs typeface="Times New Roman" panose="02020603050405020304" pitchFamily="18" charset="0"/>
              </a:rPr>
              <a:t>reatment of hypernatremia</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99D586D7-A3B1-4BE1-AD9C-AF574517BD02}"/>
              </a:ext>
            </a:extLst>
          </p:cNvPr>
          <p:cNvSpPr>
            <a:spLocks noGrp="1"/>
          </p:cNvSpPr>
          <p:nvPr>
            <p:ph idx="1"/>
          </p:nvPr>
        </p:nvSpPr>
        <p:spPr>
          <a:xfrm>
            <a:off x="838200" y="944380"/>
            <a:ext cx="10515600" cy="5748727"/>
          </a:xfrm>
        </p:spPr>
        <p:txBody>
          <a:bodyPr/>
          <a:lstStyle/>
          <a:p>
            <a:pPr marL="0" indent="0">
              <a:buNone/>
            </a:pPr>
            <a:r>
              <a:rPr lang="en-US" sz="2800" b="0" i="0" u="none" strike="noStrike" baseline="0" dirty="0">
                <a:latin typeface="HelveticaLTStd-Roman"/>
              </a:rPr>
              <a:t>                                          Hypernatremia</a:t>
            </a:r>
            <a:endParaRPr lang="en-US" dirty="0"/>
          </a:p>
        </p:txBody>
      </p:sp>
      <p:cxnSp>
        <p:nvCxnSpPr>
          <p:cNvPr id="5" name="Straight Arrow Connector 4">
            <a:extLst>
              <a:ext uri="{FF2B5EF4-FFF2-40B4-BE49-F238E27FC236}">
                <a16:creationId xmlns:a16="http://schemas.microsoft.com/office/drawing/2014/main" xmlns="" id="{28C258D1-D3C2-4A30-9D91-14520AE526F4}"/>
              </a:ext>
            </a:extLst>
          </p:cNvPr>
          <p:cNvCxnSpPr>
            <a:cxnSpLocks/>
          </p:cNvCxnSpPr>
          <p:nvPr/>
        </p:nvCxnSpPr>
        <p:spPr>
          <a:xfrm flipH="1">
            <a:off x="3837482" y="1259173"/>
            <a:ext cx="1309141" cy="5996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xmlns="" id="{6BCEDB7C-C47D-4F66-A1FE-F0E397654E8B}"/>
              </a:ext>
            </a:extLst>
          </p:cNvPr>
          <p:cNvCxnSpPr>
            <a:cxnSpLocks/>
          </p:cNvCxnSpPr>
          <p:nvPr/>
        </p:nvCxnSpPr>
        <p:spPr>
          <a:xfrm>
            <a:off x="7515069" y="1259173"/>
            <a:ext cx="1786952" cy="7495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xmlns="" id="{818B55C7-321F-4960-9A14-B08C8BD9A329}"/>
              </a:ext>
            </a:extLst>
          </p:cNvPr>
          <p:cNvCxnSpPr>
            <a:cxnSpLocks/>
          </p:cNvCxnSpPr>
          <p:nvPr/>
        </p:nvCxnSpPr>
        <p:spPr>
          <a:xfrm>
            <a:off x="6096000" y="1259173"/>
            <a:ext cx="0" cy="7495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xmlns="" id="{F42B16E9-FD19-49A4-92D5-D98766A4E5BA}"/>
              </a:ext>
            </a:extLst>
          </p:cNvPr>
          <p:cNvSpPr/>
          <p:nvPr/>
        </p:nvSpPr>
        <p:spPr>
          <a:xfrm>
            <a:off x="1389091" y="2008682"/>
            <a:ext cx="2338463" cy="4197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Water and Na+ loss</a:t>
            </a:r>
          </a:p>
        </p:txBody>
      </p:sp>
      <p:sp>
        <p:nvSpPr>
          <p:cNvPr id="19" name="Rectangle 18">
            <a:extLst>
              <a:ext uri="{FF2B5EF4-FFF2-40B4-BE49-F238E27FC236}">
                <a16:creationId xmlns:a16="http://schemas.microsoft.com/office/drawing/2014/main" xmlns="" id="{6397B707-2235-4401-BDA6-EA6ECE7EDF13}"/>
              </a:ext>
            </a:extLst>
          </p:cNvPr>
          <p:cNvSpPr/>
          <p:nvPr/>
        </p:nvSpPr>
        <p:spPr>
          <a:xfrm flipH="1">
            <a:off x="5516377" y="2068643"/>
            <a:ext cx="1484023" cy="5696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Water loss</a:t>
            </a:r>
          </a:p>
        </p:txBody>
      </p:sp>
      <p:sp>
        <p:nvSpPr>
          <p:cNvPr id="23" name="Rectangle 22">
            <a:extLst>
              <a:ext uri="{FF2B5EF4-FFF2-40B4-BE49-F238E27FC236}">
                <a16:creationId xmlns:a16="http://schemas.microsoft.com/office/drawing/2014/main" xmlns="" id="{FC108DF8-82DC-47EE-A431-BD4E7240B6DE}"/>
              </a:ext>
            </a:extLst>
          </p:cNvPr>
          <p:cNvSpPr/>
          <p:nvPr/>
        </p:nvSpPr>
        <p:spPr>
          <a:xfrm>
            <a:off x="9443802" y="2068643"/>
            <a:ext cx="1909997" cy="7045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Increased Na+ content</a:t>
            </a:r>
          </a:p>
        </p:txBody>
      </p:sp>
      <p:cxnSp>
        <p:nvCxnSpPr>
          <p:cNvPr id="25" name="Straight Arrow Connector 24">
            <a:extLst>
              <a:ext uri="{FF2B5EF4-FFF2-40B4-BE49-F238E27FC236}">
                <a16:creationId xmlns:a16="http://schemas.microsoft.com/office/drawing/2014/main" xmlns="" id="{267BC788-8634-4AA0-9128-DEAE35779803}"/>
              </a:ext>
            </a:extLst>
          </p:cNvPr>
          <p:cNvCxnSpPr>
            <a:cxnSpLocks/>
          </p:cNvCxnSpPr>
          <p:nvPr/>
        </p:nvCxnSpPr>
        <p:spPr>
          <a:xfrm>
            <a:off x="2173574" y="2428408"/>
            <a:ext cx="0" cy="7045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xmlns="" id="{A9B3C00D-467A-426F-96E1-D6810626A8DD}"/>
              </a:ext>
            </a:extLst>
          </p:cNvPr>
          <p:cNvCxnSpPr/>
          <p:nvPr/>
        </p:nvCxnSpPr>
        <p:spPr>
          <a:xfrm>
            <a:off x="6220918" y="2908092"/>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xmlns="" id="{24EA9C33-2268-42C4-A0FC-90F418AE8ECB}"/>
              </a:ext>
            </a:extLst>
          </p:cNvPr>
          <p:cNvCxnSpPr>
            <a:cxnSpLocks/>
          </p:cNvCxnSpPr>
          <p:nvPr/>
        </p:nvCxnSpPr>
        <p:spPr>
          <a:xfrm>
            <a:off x="6243400" y="2638272"/>
            <a:ext cx="0" cy="727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xmlns="" id="{AC30438F-7EF0-4A1B-A630-2994023FC3BE}"/>
              </a:ext>
            </a:extLst>
          </p:cNvPr>
          <p:cNvCxnSpPr>
            <a:cxnSpLocks/>
            <a:stCxn id="23" idx="2"/>
          </p:cNvCxnSpPr>
          <p:nvPr/>
        </p:nvCxnSpPr>
        <p:spPr>
          <a:xfrm flipH="1">
            <a:off x="10398800" y="2773180"/>
            <a:ext cx="1" cy="655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xmlns="" id="{F337AB92-94DE-4AF8-A2AD-029D507D05E3}"/>
              </a:ext>
            </a:extLst>
          </p:cNvPr>
          <p:cNvSpPr/>
          <p:nvPr/>
        </p:nvSpPr>
        <p:spPr>
          <a:xfrm>
            <a:off x="1389091" y="3132944"/>
            <a:ext cx="2338463" cy="4197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Replace isotonic loss</a:t>
            </a:r>
          </a:p>
        </p:txBody>
      </p:sp>
      <p:cxnSp>
        <p:nvCxnSpPr>
          <p:cNvPr id="46" name="Straight Arrow Connector 45">
            <a:extLst>
              <a:ext uri="{FF2B5EF4-FFF2-40B4-BE49-F238E27FC236}">
                <a16:creationId xmlns:a16="http://schemas.microsoft.com/office/drawing/2014/main" xmlns="" id="{6750DA6C-6CAA-483B-B023-4B1DBDFA7F8E}"/>
              </a:ext>
            </a:extLst>
          </p:cNvPr>
          <p:cNvCxnSpPr>
            <a:cxnSpLocks/>
          </p:cNvCxnSpPr>
          <p:nvPr/>
        </p:nvCxnSpPr>
        <p:spPr>
          <a:xfrm>
            <a:off x="2173574" y="3552669"/>
            <a:ext cx="0" cy="899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xmlns="" id="{F9A5CCBC-27AB-4D4B-B40B-79EC034AD038}"/>
              </a:ext>
            </a:extLst>
          </p:cNvPr>
          <p:cNvSpPr/>
          <p:nvPr/>
        </p:nvSpPr>
        <p:spPr>
          <a:xfrm>
            <a:off x="1389091" y="4572001"/>
            <a:ext cx="2338463" cy="5396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Replace water deficit</a:t>
            </a:r>
          </a:p>
        </p:txBody>
      </p:sp>
      <p:sp>
        <p:nvSpPr>
          <p:cNvPr id="50" name="Rectangle 49">
            <a:extLst>
              <a:ext uri="{FF2B5EF4-FFF2-40B4-BE49-F238E27FC236}">
                <a16:creationId xmlns:a16="http://schemas.microsoft.com/office/drawing/2014/main" xmlns="" id="{93D538D8-61EF-4FAA-81BF-651DF6E2EEB8}"/>
              </a:ext>
            </a:extLst>
          </p:cNvPr>
          <p:cNvSpPr/>
          <p:nvPr/>
        </p:nvSpPr>
        <p:spPr>
          <a:xfrm>
            <a:off x="5351493" y="3383281"/>
            <a:ext cx="1648902" cy="6558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Replace water deficit</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1" name="Rectangle 50">
            <a:extLst>
              <a:ext uri="{FF2B5EF4-FFF2-40B4-BE49-F238E27FC236}">
                <a16:creationId xmlns:a16="http://schemas.microsoft.com/office/drawing/2014/main" xmlns="" id="{C35EA7D2-951B-4615-92BF-1694CA68FA5B}"/>
              </a:ext>
            </a:extLst>
          </p:cNvPr>
          <p:cNvSpPr/>
          <p:nvPr/>
        </p:nvSpPr>
        <p:spPr>
          <a:xfrm flipH="1">
            <a:off x="9443798" y="3429000"/>
            <a:ext cx="1909996" cy="4684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Loop diuretics</a:t>
            </a:r>
          </a:p>
        </p:txBody>
      </p:sp>
      <p:cxnSp>
        <p:nvCxnSpPr>
          <p:cNvPr id="53" name="Straight Arrow Connector 52">
            <a:extLst>
              <a:ext uri="{FF2B5EF4-FFF2-40B4-BE49-F238E27FC236}">
                <a16:creationId xmlns:a16="http://schemas.microsoft.com/office/drawing/2014/main" xmlns="" id="{5C5FCE07-DB2D-4C39-9A52-B1F59BF337AE}"/>
              </a:ext>
            </a:extLst>
          </p:cNvPr>
          <p:cNvCxnSpPr>
            <a:cxnSpLocks/>
            <a:stCxn id="51" idx="2"/>
          </p:cNvCxnSpPr>
          <p:nvPr/>
        </p:nvCxnSpPr>
        <p:spPr>
          <a:xfrm>
            <a:off x="10398796" y="3897442"/>
            <a:ext cx="4" cy="6745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xmlns="" id="{9169B52B-6BFA-4B0E-BA65-ABC53AD146D5}"/>
              </a:ext>
            </a:extLst>
          </p:cNvPr>
          <p:cNvSpPr/>
          <p:nvPr/>
        </p:nvSpPr>
        <p:spPr>
          <a:xfrm>
            <a:off x="9443798" y="4572000"/>
            <a:ext cx="1909996" cy="6745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Replace any water deficit</a:t>
            </a:r>
          </a:p>
        </p:txBody>
      </p:sp>
      <p:sp>
        <p:nvSpPr>
          <p:cNvPr id="4" name="Date Placeholder 3">
            <a:extLst>
              <a:ext uri="{FF2B5EF4-FFF2-40B4-BE49-F238E27FC236}">
                <a16:creationId xmlns:a16="http://schemas.microsoft.com/office/drawing/2014/main" xmlns="" id="{4051B792-9630-A0F5-710E-1E7D92FDEBA8}"/>
              </a:ext>
            </a:extLst>
          </p:cNvPr>
          <p:cNvSpPr>
            <a:spLocks noGrp="1"/>
          </p:cNvSpPr>
          <p:nvPr>
            <p:ph type="dt" sz="half" idx="10"/>
          </p:nvPr>
        </p:nvSpPr>
        <p:spPr/>
        <p:txBody>
          <a:bodyPr/>
          <a:lstStyle/>
          <a:p>
            <a:r>
              <a:rPr lang="en-US"/>
              <a:t>23-Dec-22</a:t>
            </a:r>
          </a:p>
        </p:txBody>
      </p:sp>
      <p:sp>
        <p:nvSpPr>
          <p:cNvPr id="6" name="Slide Number Placeholder 5">
            <a:extLst>
              <a:ext uri="{FF2B5EF4-FFF2-40B4-BE49-F238E27FC236}">
                <a16:creationId xmlns:a16="http://schemas.microsoft.com/office/drawing/2014/main" xmlns="" id="{467A4F68-885E-11CA-3259-075526D3A461}"/>
              </a:ext>
            </a:extLst>
          </p:cNvPr>
          <p:cNvSpPr>
            <a:spLocks noGrp="1"/>
          </p:cNvSpPr>
          <p:nvPr>
            <p:ph type="sldNum" sz="quarter" idx="12"/>
          </p:nvPr>
        </p:nvSpPr>
        <p:spPr/>
        <p:txBody>
          <a:bodyPr/>
          <a:lstStyle/>
          <a:p>
            <a:fld id="{CB22993B-EEE5-4EB1-BEE5-4FFFA489F796}" type="slidenum">
              <a:rPr lang="en-US" smtClean="0"/>
              <a:t>32</a:t>
            </a:fld>
            <a:endParaRPr lang="en-US"/>
          </a:p>
        </p:txBody>
      </p:sp>
    </p:spTree>
    <p:extLst>
      <p:ext uri="{BB962C8B-B14F-4D97-AF65-F5344CB8AC3E}">
        <p14:creationId xmlns:p14="http://schemas.microsoft.com/office/powerpoint/2010/main" val="1602409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4B71AD-2384-446D-8654-EA56E211E9B0}"/>
              </a:ext>
            </a:extLst>
          </p:cNvPr>
          <p:cNvSpPr>
            <a:spLocks noGrp="1"/>
          </p:cNvSpPr>
          <p:nvPr>
            <p:ph type="title"/>
          </p:nvPr>
        </p:nvSpPr>
        <p:spPr>
          <a:xfrm>
            <a:off x="838200" y="365125"/>
            <a:ext cx="10515600" cy="519295"/>
          </a:xfrm>
        </p:spPr>
        <p:txBody>
          <a:bodyPr>
            <a:noAutofit/>
          </a:bodyPr>
          <a:lstStyle/>
          <a:p>
            <a:r>
              <a:rPr lang="en-US" sz="3200" i="0" u="none" strike="noStrike" baseline="0" dirty="0">
                <a:latin typeface="Times New Roman" panose="02020603050405020304" pitchFamily="18" charset="0"/>
                <a:cs typeface="Times New Roman" panose="02020603050405020304" pitchFamily="18" charset="0"/>
              </a:rPr>
              <a:t>Anesthetic Considerations</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9715FBF1-4672-4B04-8448-4C6C4551B575}"/>
              </a:ext>
            </a:extLst>
          </p:cNvPr>
          <p:cNvSpPr>
            <a:spLocks noGrp="1"/>
          </p:cNvSpPr>
          <p:nvPr>
            <p:ph idx="1"/>
          </p:nvPr>
        </p:nvSpPr>
        <p:spPr>
          <a:xfrm>
            <a:off x="838200" y="1124262"/>
            <a:ext cx="10515600" cy="5486400"/>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Hypernatremia has been demonstrated to increase the minimum alveolar concentration for inhalation anesthetics (enhancement of Na+ conduction). </a:t>
            </a:r>
          </a:p>
          <a:p>
            <a:pPr algn="l"/>
            <a:r>
              <a:rPr lang="en-US" sz="2800" b="0" i="0" u="none" strike="noStrike" baseline="0" dirty="0">
                <a:latin typeface="Times New Roman" panose="02020603050405020304" pitchFamily="18" charset="0"/>
                <a:cs typeface="Times New Roman" panose="02020603050405020304" pitchFamily="18" charset="0"/>
              </a:rPr>
              <a:t>Hypovolemia accentuates any vasodilation or cardiac depression from anesthetic agents and predisposes to hypotension and hypoperfusion of tissues.</a:t>
            </a:r>
          </a:p>
          <a:p>
            <a:pPr algn="l"/>
            <a:r>
              <a:rPr lang="en-US" sz="2800" b="0" i="0" u="none" strike="noStrike" baseline="0" dirty="0">
                <a:latin typeface="Times New Roman" panose="02020603050405020304" pitchFamily="18" charset="0"/>
                <a:cs typeface="Times New Roman" panose="02020603050405020304" pitchFamily="18" charset="0"/>
              </a:rPr>
              <a:t>Decreases in the volume of distribution for drugs necessitate dose reductions for most intravenous agents, whereas decreases in cardiac output enhance the uptake of inhalation anesthetics.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Elective surgery should be postponed in patients with significant hypernatremia (&gt;150 </a:t>
            </a:r>
            <a:r>
              <a:rPr kumimoji="0" lang="en-US" sz="2800" b="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mEq</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 until the cause is established and fluid deficits are corrected.</a:t>
            </a:r>
          </a:p>
          <a:p>
            <a:pPr algn="l"/>
            <a:endParaRPr lang="en-US" sz="2800" b="0" i="0" u="none" strike="noStrike" baseline="0" dirty="0">
              <a:latin typeface="Times New Roman" panose="02020603050405020304" pitchFamily="18" charset="0"/>
              <a:cs typeface="Times New Roman" panose="02020603050405020304" pitchFamily="18" charset="0"/>
            </a:endParaRPr>
          </a:p>
          <a:p>
            <a:pPr algn="l"/>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8A5D219F-F165-0D85-607F-64A54677A46A}"/>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6B0C2B02-F476-20AC-4EAA-D6C28886F4DF}"/>
              </a:ext>
            </a:extLst>
          </p:cNvPr>
          <p:cNvSpPr>
            <a:spLocks noGrp="1"/>
          </p:cNvSpPr>
          <p:nvPr>
            <p:ph type="sldNum" sz="quarter" idx="12"/>
          </p:nvPr>
        </p:nvSpPr>
        <p:spPr/>
        <p:txBody>
          <a:bodyPr/>
          <a:lstStyle/>
          <a:p>
            <a:fld id="{CB22993B-EEE5-4EB1-BEE5-4FFFA489F796}" type="slidenum">
              <a:rPr lang="en-US" smtClean="0"/>
              <a:t>33</a:t>
            </a:fld>
            <a:endParaRPr lang="en-US"/>
          </a:p>
        </p:txBody>
      </p:sp>
    </p:spTree>
    <p:extLst>
      <p:ext uri="{BB962C8B-B14F-4D97-AF65-F5344CB8AC3E}">
        <p14:creationId xmlns:p14="http://schemas.microsoft.com/office/powerpoint/2010/main" val="6742046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1F9BFF-CAAB-4CCA-B889-92F237FACA4C}"/>
              </a:ext>
            </a:extLst>
          </p:cNvPr>
          <p:cNvSpPr>
            <a:spLocks noGrp="1"/>
          </p:cNvSpPr>
          <p:nvPr>
            <p:ph type="title"/>
          </p:nvPr>
        </p:nvSpPr>
        <p:spPr>
          <a:xfrm>
            <a:off x="838200" y="365125"/>
            <a:ext cx="10515600" cy="744147"/>
          </a:xfrm>
        </p:spPr>
        <p:txBody>
          <a:bodyPr/>
          <a:lstStyle/>
          <a:p>
            <a:r>
              <a:rPr lang="en-US" dirty="0"/>
              <a:t>    </a:t>
            </a:r>
            <a:r>
              <a:rPr lang="en-US" dirty="0">
                <a:latin typeface="Times New Roman" panose="02020603050405020304" pitchFamily="18" charset="0"/>
                <a:cs typeface="Times New Roman" panose="02020603050405020304" pitchFamily="18" charset="0"/>
              </a:rPr>
              <a:t>Potassium (K+)</a:t>
            </a:r>
          </a:p>
        </p:txBody>
      </p:sp>
      <p:sp>
        <p:nvSpPr>
          <p:cNvPr id="3" name="Content Placeholder 2">
            <a:extLst>
              <a:ext uri="{FF2B5EF4-FFF2-40B4-BE49-F238E27FC236}">
                <a16:creationId xmlns:a16="http://schemas.microsoft.com/office/drawing/2014/main" xmlns="" id="{5F6F7D9F-40F7-43C3-A8D1-4CD59AD802A9}"/>
              </a:ext>
            </a:extLst>
          </p:cNvPr>
          <p:cNvSpPr>
            <a:spLocks noGrp="1"/>
          </p:cNvSpPr>
          <p:nvPr>
            <p:ph idx="1"/>
          </p:nvPr>
        </p:nvSpPr>
        <p:spPr>
          <a:xfrm>
            <a:off x="838200" y="1109272"/>
            <a:ext cx="10515600" cy="5383603"/>
          </a:xfrm>
        </p:spPr>
        <p:txBody>
          <a:bodyPr/>
          <a:lstStyle/>
          <a:p>
            <a:pPr algn="l"/>
            <a:r>
              <a:rPr lang="en-US" sz="2800" b="0" i="0" u="none" strike="noStrike" baseline="0" dirty="0">
                <a:solidFill>
                  <a:srgbClr val="231F20"/>
                </a:solidFill>
                <a:latin typeface="Times New Roman" panose="02020603050405020304" pitchFamily="18" charset="0"/>
                <a:cs typeface="Times New Roman" panose="02020603050405020304" pitchFamily="18" charset="0"/>
              </a:rPr>
              <a:t>Potassium is the major intracellular cation.</a:t>
            </a:r>
            <a:endParaRPr lang="en-US" dirty="0">
              <a:latin typeface="Times New Roman" panose="02020603050405020304" pitchFamily="18" charset="0"/>
              <a:cs typeface="Times New Roman" panose="02020603050405020304" pitchFamily="18" charset="0"/>
            </a:endParaRPr>
          </a:p>
          <a:p>
            <a:pPr algn="l"/>
            <a:r>
              <a:rPr lang="en-US" sz="2800" b="0" i="0" u="none" strike="noStrike" baseline="0" dirty="0">
                <a:latin typeface="Times New Roman" panose="02020603050405020304" pitchFamily="18" charset="0"/>
                <a:cs typeface="Times New Roman" panose="02020603050405020304" pitchFamily="18" charset="0"/>
              </a:rPr>
              <a:t>Potassium plays an important role in </a:t>
            </a:r>
            <a:r>
              <a:rPr lang="en-US" sz="2800" b="1" i="0" u="none" strike="noStrike" baseline="0" dirty="0">
                <a:latin typeface="Times New Roman" panose="02020603050405020304" pitchFamily="18" charset="0"/>
                <a:cs typeface="Times New Roman" panose="02020603050405020304" pitchFamily="18" charset="0"/>
              </a:rPr>
              <a:t>cell membrane physiology, </a:t>
            </a:r>
            <a:r>
              <a:rPr lang="en-US" sz="2800" b="0" i="0" u="none" strike="noStrike" baseline="0" dirty="0">
                <a:latin typeface="Times New Roman" panose="02020603050405020304" pitchFamily="18" charset="0"/>
                <a:cs typeface="Times New Roman" panose="02020603050405020304" pitchFamily="18" charset="0"/>
              </a:rPr>
              <a:t>especially in maintaining </a:t>
            </a:r>
            <a:r>
              <a:rPr lang="en-US" sz="2800" b="1" i="0" u="none" strike="noStrike" baseline="0" dirty="0">
                <a:latin typeface="Times New Roman" panose="02020603050405020304" pitchFamily="18" charset="0"/>
                <a:cs typeface="Times New Roman" panose="02020603050405020304" pitchFamily="18" charset="0"/>
              </a:rPr>
              <a:t>resting membrane potentials </a:t>
            </a:r>
            <a:r>
              <a:rPr lang="en-US" sz="2800" b="0" i="0" u="none" strike="noStrike" baseline="0" dirty="0">
                <a:latin typeface="Times New Roman" panose="02020603050405020304" pitchFamily="18" charset="0"/>
                <a:cs typeface="Times New Roman" panose="02020603050405020304" pitchFamily="18" charset="0"/>
              </a:rPr>
              <a:t>and in generating </a:t>
            </a:r>
            <a:r>
              <a:rPr lang="en-US" sz="2800" b="1" i="0" u="none" strike="noStrike" baseline="0" dirty="0">
                <a:latin typeface="Times New Roman" panose="02020603050405020304" pitchFamily="18" charset="0"/>
                <a:cs typeface="Times New Roman" panose="02020603050405020304" pitchFamily="18" charset="0"/>
              </a:rPr>
              <a:t>action potentials </a:t>
            </a:r>
            <a:r>
              <a:rPr lang="en-US" sz="2800" b="0" i="0" u="none" strike="noStrike" baseline="0" dirty="0">
                <a:latin typeface="Times New Roman" panose="02020603050405020304" pitchFamily="18" charset="0"/>
                <a:cs typeface="Times New Roman" panose="02020603050405020304" pitchFamily="18" charset="0"/>
              </a:rPr>
              <a:t>in the central nervous system and heart. </a:t>
            </a:r>
          </a:p>
          <a:p>
            <a:pPr algn="l"/>
            <a:r>
              <a:rPr lang="en-US" sz="2800" b="0" i="0" u="none" strike="noStrike" baseline="0" dirty="0">
                <a:latin typeface="Times New Roman" panose="02020603050405020304" pitchFamily="18" charset="0"/>
                <a:cs typeface="Times New Roman" panose="02020603050405020304" pitchFamily="18" charset="0"/>
              </a:rPr>
              <a:t>Potassium is actively transported into cells by a Na/K adenosine triphosphatase (ATPase) pump, which maintains an intracellular [K</a:t>
            </a:r>
            <a:r>
              <a:rPr lang="en-US" sz="1800" b="0" i="0" u="none" strike="noStrike" baseline="0" dirty="0">
                <a:latin typeface="Times New Roman" panose="02020603050405020304" pitchFamily="18" charset="0"/>
                <a:cs typeface="Times New Roman" panose="02020603050405020304" pitchFamily="18" charset="0"/>
              </a:rPr>
              <a:t>+</a:t>
            </a:r>
            <a:r>
              <a:rPr lang="en-US" sz="2800" b="0" i="0" u="none" strike="noStrike" baseline="0" dirty="0">
                <a:latin typeface="Times New Roman" panose="02020603050405020304" pitchFamily="18" charset="0"/>
                <a:cs typeface="Times New Roman" panose="02020603050405020304" pitchFamily="18" charset="0"/>
              </a:rPr>
              <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resting cell membrane potential is normally dependent on the ratio of intracellular to extracellular potassium concentrations.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Normal K+ level 3.5-5.5 </a:t>
            </a:r>
            <a:r>
              <a:rPr kumimoji="0" lang="en-US" sz="2800" b="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mEq</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a:t>
            </a:r>
            <a:r>
              <a:rPr lang="en-US" sz="2800" b="0" i="0" u="none" strike="noStrike" baseline="0"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02F95A02-D3C7-6DFC-8840-F77FE76DE2BC}"/>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205F2DE4-9D6D-EBEE-F123-C81EC0745383}"/>
              </a:ext>
            </a:extLst>
          </p:cNvPr>
          <p:cNvSpPr>
            <a:spLocks noGrp="1"/>
          </p:cNvSpPr>
          <p:nvPr>
            <p:ph type="sldNum" sz="quarter" idx="12"/>
          </p:nvPr>
        </p:nvSpPr>
        <p:spPr/>
        <p:txBody>
          <a:bodyPr/>
          <a:lstStyle/>
          <a:p>
            <a:fld id="{CB22993B-EEE5-4EB1-BEE5-4FFFA489F796}" type="slidenum">
              <a:rPr lang="en-US" smtClean="0"/>
              <a:t>34</a:t>
            </a:fld>
            <a:endParaRPr lang="en-US"/>
          </a:p>
        </p:txBody>
      </p:sp>
    </p:spTree>
    <p:extLst>
      <p:ext uri="{BB962C8B-B14F-4D97-AF65-F5344CB8AC3E}">
        <p14:creationId xmlns:p14="http://schemas.microsoft.com/office/powerpoint/2010/main" val="38946848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6DCA04-E7C0-47CD-BCCB-0EB2B4A47B83}"/>
              </a:ext>
            </a:extLst>
          </p:cNvPr>
          <p:cNvSpPr>
            <a:spLocks noGrp="1"/>
          </p:cNvSpPr>
          <p:nvPr>
            <p:ph type="title"/>
          </p:nvPr>
        </p:nvSpPr>
        <p:spPr>
          <a:xfrm>
            <a:off x="838200" y="136525"/>
            <a:ext cx="10515600" cy="570057"/>
          </a:xfrm>
        </p:spPr>
        <p:txBody>
          <a:bodyPr>
            <a:normAutofit fontScale="90000"/>
          </a:bodyPr>
          <a:lstStyle/>
          <a:p>
            <a:r>
              <a:rPr lang="en-US" sz="3600" i="0" u="none" strike="noStrike" baseline="0" dirty="0">
                <a:latin typeface="Times New Roman" panose="02020603050405020304" pitchFamily="18" charset="0"/>
                <a:cs typeface="Times New Roman" panose="02020603050405020304" pitchFamily="18" charset="0"/>
              </a:rPr>
              <a:t>Normal potassium balance</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E09504D7-1ED1-4A06-AA29-2699225474E8}"/>
              </a:ext>
            </a:extLst>
          </p:cNvPr>
          <p:cNvSpPr>
            <a:spLocks noGrp="1"/>
          </p:cNvSpPr>
          <p:nvPr>
            <p:ph idx="1"/>
          </p:nvPr>
        </p:nvSpPr>
        <p:spPr>
          <a:xfrm>
            <a:off x="838200" y="803564"/>
            <a:ext cx="10515600" cy="5897039"/>
          </a:xfrm>
        </p:spPr>
        <p:txBody>
          <a:bodyPr>
            <a:normAutofit/>
          </a:bodyPr>
          <a:lstStyle/>
          <a:p>
            <a:pPr algn="l"/>
            <a:r>
              <a:rPr lang="en-US" sz="2800" b="0" i="0" u="none" strike="noStrike" baseline="0" dirty="0">
                <a:latin typeface="Times New Roman" panose="02020603050405020304" pitchFamily="18" charset="0"/>
                <a:cs typeface="Times New Roman" panose="02020603050405020304" pitchFamily="18" charset="0"/>
              </a:rPr>
              <a:t>Dietary potassium intake averages 80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/d in adults.</a:t>
            </a:r>
          </a:p>
          <a:p>
            <a:pPr algn="l"/>
            <a:r>
              <a:rPr lang="en-US" sz="2800" b="0" i="0" u="none" strike="noStrike" baseline="0" dirty="0">
                <a:latin typeface="Times New Roman" panose="02020603050405020304" pitchFamily="18" charset="0"/>
                <a:cs typeface="Times New Roman" panose="02020603050405020304" pitchFamily="18" charset="0"/>
              </a:rPr>
              <a:t>About 70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 of that amount is normally excreted in urine, whereas the remaining 10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 is lost through the gastrointestinal tract.</a:t>
            </a:r>
          </a:p>
          <a:p>
            <a:pPr algn="l"/>
            <a:r>
              <a:rPr lang="en-US" b="0" i="0" u="none" strike="noStrike" baseline="0" dirty="0">
                <a:latin typeface="Times New Roman" panose="02020603050405020304" pitchFamily="18" charset="0"/>
                <a:cs typeface="Times New Roman" panose="02020603050405020304" pitchFamily="18" charset="0"/>
              </a:rPr>
              <a:t>Nearly all the potassium filtered in glomeruli is normally reabsorbed in the proximal tubule and the loop of Henle.</a:t>
            </a:r>
          </a:p>
          <a:p>
            <a:pPr algn="l"/>
            <a:r>
              <a:rPr lang="en-US" sz="2800" b="0" i="0" u="none" strike="noStrike" baseline="0" dirty="0">
                <a:latin typeface="Times New Roman" panose="02020603050405020304" pitchFamily="18" charset="0"/>
                <a:cs typeface="Times New Roman" panose="02020603050405020304" pitchFamily="18" charset="0"/>
              </a:rPr>
              <a:t>Renal excretion of potassium in urine is the result of </a:t>
            </a:r>
            <a:r>
              <a:rPr lang="en-US" sz="2800" b="1" i="0" u="none" strike="noStrike" baseline="0" dirty="0">
                <a:latin typeface="Times New Roman" panose="02020603050405020304" pitchFamily="18" charset="0"/>
                <a:cs typeface="Times New Roman" panose="02020603050405020304" pitchFamily="18" charset="0"/>
              </a:rPr>
              <a:t>distal tubular secretion. </a:t>
            </a:r>
          </a:p>
          <a:p>
            <a:pPr algn="l"/>
            <a:r>
              <a:rPr lang="en-US" sz="2800" b="0" i="0" u="none" strike="noStrike" baseline="0" dirty="0">
                <a:latin typeface="Times New Roman" panose="02020603050405020304" pitchFamily="18" charset="0"/>
                <a:cs typeface="Times New Roman" panose="02020603050405020304" pitchFamily="18" charset="0"/>
              </a:rPr>
              <a:t>Potassium secretion in the distal tubules is coupled to aldosterone-mediated reabsorption of sodium.</a:t>
            </a:r>
          </a:p>
          <a:p>
            <a:pPr algn="l"/>
            <a:r>
              <a:rPr lang="en-US" b="0" i="0" u="none" strike="noStrike" baseline="0" dirty="0">
                <a:latin typeface="Times New Roman" panose="02020603050405020304" pitchFamily="18" charset="0"/>
                <a:cs typeface="Times New Roman" panose="02020603050405020304" pitchFamily="18" charset="0"/>
              </a:rPr>
              <a:t>Extracellular potassium concentration is determined by cell membrane Na + –K + -ATPase activity and plasma [K + ], and is influenced by the balance of potassium intake and excretion.</a:t>
            </a:r>
          </a:p>
          <a:p>
            <a:pPr algn="l"/>
            <a:endParaRPr lang="en-US" dirty="0"/>
          </a:p>
        </p:txBody>
      </p:sp>
      <p:sp>
        <p:nvSpPr>
          <p:cNvPr id="4" name="Date Placeholder 3">
            <a:extLst>
              <a:ext uri="{FF2B5EF4-FFF2-40B4-BE49-F238E27FC236}">
                <a16:creationId xmlns:a16="http://schemas.microsoft.com/office/drawing/2014/main" xmlns="" id="{B3C47D53-5AB3-E1F3-0F8B-42E2B4A87903}"/>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C3110124-E207-A2A5-3C87-4DF99485F498}"/>
              </a:ext>
            </a:extLst>
          </p:cNvPr>
          <p:cNvSpPr>
            <a:spLocks noGrp="1"/>
          </p:cNvSpPr>
          <p:nvPr>
            <p:ph type="sldNum" sz="quarter" idx="12"/>
          </p:nvPr>
        </p:nvSpPr>
        <p:spPr/>
        <p:txBody>
          <a:bodyPr/>
          <a:lstStyle/>
          <a:p>
            <a:fld id="{CB22993B-EEE5-4EB1-BEE5-4FFFA489F796}" type="slidenum">
              <a:rPr lang="en-US" smtClean="0"/>
              <a:t>35</a:t>
            </a:fld>
            <a:endParaRPr lang="en-US"/>
          </a:p>
        </p:txBody>
      </p:sp>
    </p:spTree>
    <p:extLst>
      <p:ext uri="{BB962C8B-B14F-4D97-AF65-F5344CB8AC3E}">
        <p14:creationId xmlns:p14="http://schemas.microsoft.com/office/powerpoint/2010/main" val="40048778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A16AFB-ADD2-4D69-BECA-6504CCBFF474}"/>
              </a:ext>
            </a:extLst>
          </p:cNvPr>
          <p:cNvSpPr>
            <a:spLocks noGrp="1"/>
          </p:cNvSpPr>
          <p:nvPr>
            <p:ph type="title"/>
          </p:nvPr>
        </p:nvSpPr>
        <p:spPr>
          <a:xfrm>
            <a:off x="838200" y="179882"/>
            <a:ext cx="10515600" cy="764498"/>
          </a:xfrm>
        </p:spPr>
        <p:txBody>
          <a:bodyPr>
            <a:normAutofit/>
          </a:bodyPr>
          <a:lstStyle/>
          <a:p>
            <a:r>
              <a:rPr lang="en-US" sz="3600" dirty="0">
                <a:latin typeface="Times New Roman" panose="02020603050405020304" pitchFamily="18" charset="0"/>
                <a:cs typeface="Times New Roman" panose="02020603050405020304" pitchFamily="18" charset="0"/>
              </a:rPr>
              <a:t>PH Regulation of potassium</a:t>
            </a:r>
          </a:p>
        </p:txBody>
      </p:sp>
      <p:sp>
        <p:nvSpPr>
          <p:cNvPr id="3" name="Content Placeholder 2">
            <a:extLst>
              <a:ext uri="{FF2B5EF4-FFF2-40B4-BE49-F238E27FC236}">
                <a16:creationId xmlns:a16="http://schemas.microsoft.com/office/drawing/2014/main" xmlns="" id="{702B4939-3E53-4BDA-A677-EEF0685BF56A}"/>
              </a:ext>
            </a:extLst>
          </p:cNvPr>
          <p:cNvSpPr>
            <a:spLocks noGrp="1"/>
          </p:cNvSpPr>
          <p:nvPr>
            <p:ph idx="1"/>
          </p:nvPr>
        </p:nvSpPr>
        <p:spPr>
          <a:xfrm>
            <a:off x="838200" y="1214204"/>
            <a:ext cx="10515600" cy="5293660"/>
          </a:xfrm>
        </p:spPr>
        <p:txBody>
          <a:bodyPr>
            <a:normAutofit/>
          </a:bodyPr>
          <a:lstStyle/>
          <a:p>
            <a:pPr algn="l"/>
            <a:r>
              <a:rPr lang="en-US" dirty="0">
                <a:latin typeface="Times New Roman" panose="02020603050405020304" pitchFamily="18" charset="0"/>
                <a:cs typeface="Times New Roman" panose="02020603050405020304" pitchFamily="18" charset="0"/>
              </a:rPr>
              <a:t>C</a:t>
            </a:r>
            <a:r>
              <a:rPr lang="en-US" sz="2800" b="0" i="0" u="none" strike="noStrike" baseline="0" dirty="0">
                <a:latin typeface="Times New Roman" panose="02020603050405020304" pitchFamily="18" charset="0"/>
                <a:cs typeface="Times New Roman" panose="02020603050405020304" pitchFamily="18" charset="0"/>
              </a:rPr>
              <a:t>hanges in extracellular hydrogen ion concentration (pH) directly affect</a:t>
            </a:r>
            <a:r>
              <a:rPr lang="en-US"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extracellular [K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a:t>
            </a:r>
          </a:p>
          <a:p>
            <a:pPr algn="l"/>
            <a:r>
              <a:rPr lang="en-US" sz="2800" b="0" i="0" u="none" strike="noStrike" baseline="0" dirty="0">
                <a:latin typeface="Times New Roman" panose="02020603050405020304" pitchFamily="18" charset="0"/>
                <a:cs typeface="Times New Roman" panose="02020603050405020304" pitchFamily="18" charset="0"/>
              </a:rPr>
              <a:t>In the setting of </a:t>
            </a:r>
            <a:r>
              <a:rPr lang="en-US" sz="2800" b="1" i="0" u="none" strike="noStrike" baseline="0" dirty="0">
                <a:latin typeface="Times New Roman" panose="02020603050405020304" pitchFamily="18" charset="0"/>
                <a:cs typeface="Times New Roman" panose="02020603050405020304" pitchFamily="18" charset="0"/>
              </a:rPr>
              <a:t>acidosis</a:t>
            </a:r>
            <a:r>
              <a:rPr lang="en-US" sz="2800" b="0" i="0" u="none" strike="noStrike" baseline="0" dirty="0">
                <a:latin typeface="Times New Roman" panose="02020603050405020304" pitchFamily="18" charset="0"/>
                <a:cs typeface="Times New Roman" panose="02020603050405020304" pitchFamily="18" charset="0"/>
              </a:rPr>
              <a:t>, extracellular hydrogen ions enter cells, displacing intracellular potassium ions; the resultant movement of potassium ions out of cells maintains electrical balance but increases extracellular and plasma [K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a:t>
            </a:r>
          </a:p>
          <a:p>
            <a:pPr algn="l"/>
            <a:r>
              <a:rPr lang="en-US" sz="2800" b="0" i="0" u="none" strike="noStrike" baseline="0" dirty="0">
                <a:latin typeface="Times New Roman" panose="02020603050405020304" pitchFamily="18" charset="0"/>
                <a:cs typeface="Times New Roman" panose="02020603050405020304" pitchFamily="18" charset="0"/>
              </a:rPr>
              <a:t>Conversely, during </a:t>
            </a:r>
            <a:r>
              <a:rPr lang="en-US" sz="2800" b="1" i="0" u="none" strike="noStrike" baseline="0" dirty="0">
                <a:latin typeface="Times New Roman" panose="02020603050405020304" pitchFamily="18" charset="0"/>
                <a:cs typeface="Times New Roman" panose="02020603050405020304" pitchFamily="18" charset="0"/>
              </a:rPr>
              <a:t>alkalosis</a:t>
            </a:r>
            <a:r>
              <a:rPr lang="en-US" sz="2800" b="0" i="0" u="none" strike="noStrike" baseline="0" dirty="0">
                <a:latin typeface="Times New Roman" panose="02020603050405020304" pitchFamily="18" charset="0"/>
                <a:cs typeface="Times New Roman" panose="02020603050405020304" pitchFamily="18" charset="0"/>
              </a:rPr>
              <a:t>, extracellular potassium ions move into cells to balance the movement of hydrogen ions out of cells; as a result, plasma [K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decreases.</a:t>
            </a:r>
          </a:p>
          <a:p>
            <a:pPr algn="l"/>
            <a:r>
              <a:rPr lang="en-US" dirty="0">
                <a:latin typeface="Times New Roman" panose="02020603050405020304" pitchFamily="18" charset="0"/>
                <a:cs typeface="Times New Roman" panose="02020603050405020304" pitchFamily="18" charset="0"/>
              </a:rPr>
              <a:t>P</a:t>
            </a:r>
            <a:r>
              <a:rPr lang="en-US" sz="2800" b="0" i="0" u="none" strike="noStrike" baseline="0" dirty="0">
                <a:latin typeface="Times New Roman" panose="02020603050405020304" pitchFamily="18" charset="0"/>
                <a:cs typeface="Times New Roman" panose="02020603050405020304" pitchFamily="18" charset="0"/>
              </a:rPr>
              <a:t>lasma potassium concentration changes approximately 0.6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 per 0.1 unit change in arterial pH</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87E9EB41-00FC-1D45-52DC-3FE77D1610AB}"/>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CB42B7B7-1838-BCE2-88FA-5B2BFB75099E}"/>
              </a:ext>
            </a:extLst>
          </p:cNvPr>
          <p:cNvSpPr>
            <a:spLocks noGrp="1"/>
          </p:cNvSpPr>
          <p:nvPr>
            <p:ph type="sldNum" sz="quarter" idx="12"/>
          </p:nvPr>
        </p:nvSpPr>
        <p:spPr/>
        <p:txBody>
          <a:bodyPr/>
          <a:lstStyle/>
          <a:p>
            <a:fld id="{CB22993B-EEE5-4EB1-BEE5-4FFFA489F796}" type="slidenum">
              <a:rPr lang="en-US" smtClean="0"/>
              <a:t>36</a:t>
            </a:fld>
            <a:endParaRPr lang="en-US"/>
          </a:p>
        </p:txBody>
      </p:sp>
    </p:spTree>
    <p:extLst>
      <p:ext uri="{BB962C8B-B14F-4D97-AF65-F5344CB8AC3E}">
        <p14:creationId xmlns:p14="http://schemas.microsoft.com/office/powerpoint/2010/main" val="14514602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A41176-FBB6-4FEC-A068-63D700D125E2}"/>
              </a:ext>
            </a:extLst>
          </p:cNvPr>
          <p:cNvSpPr>
            <a:spLocks noGrp="1"/>
          </p:cNvSpPr>
          <p:nvPr>
            <p:ph type="title"/>
          </p:nvPr>
        </p:nvSpPr>
        <p:spPr>
          <a:xfrm>
            <a:off x="838200" y="365125"/>
            <a:ext cx="10515600" cy="909039"/>
          </a:xfrm>
        </p:spPr>
        <p:txBody>
          <a:bodyPr>
            <a:normAutofit/>
          </a:bodyPr>
          <a:lstStyle/>
          <a:p>
            <a:r>
              <a:rPr lang="en-US" sz="3600" dirty="0">
                <a:latin typeface="Times New Roman" panose="02020603050405020304" pitchFamily="18" charset="0"/>
                <a:cs typeface="Times New Roman" panose="02020603050405020304" pitchFamily="18" charset="0"/>
              </a:rPr>
              <a:t>Renal Regulation</a:t>
            </a:r>
          </a:p>
        </p:txBody>
      </p:sp>
      <p:sp>
        <p:nvSpPr>
          <p:cNvPr id="3" name="Content Placeholder 2">
            <a:extLst>
              <a:ext uri="{FF2B5EF4-FFF2-40B4-BE49-F238E27FC236}">
                <a16:creationId xmlns:a16="http://schemas.microsoft.com/office/drawing/2014/main" xmlns="" id="{13A10094-CA09-448F-B262-A713C69616D5}"/>
              </a:ext>
            </a:extLst>
          </p:cNvPr>
          <p:cNvSpPr>
            <a:spLocks noGrp="1"/>
          </p:cNvSpPr>
          <p:nvPr>
            <p:ph idx="1"/>
          </p:nvPr>
        </p:nvSpPr>
        <p:spPr>
          <a:xfrm>
            <a:off x="838200" y="1499016"/>
            <a:ext cx="10515600" cy="4677947"/>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800" b="0" i="0" u="none" strike="noStrike" baseline="0" dirty="0">
                <a:latin typeface="Times New Roman" panose="02020603050405020304" pitchFamily="18" charset="0"/>
                <a:cs typeface="Times New Roman" panose="02020603050405020304" pitchFamily="18" charset="0"/>
              </a:rPr>
              <a:t>Urinary potassium excretion generally parallels its extracellular concentration. </a:t>
            </a:r>
            <a:endParaRPr lang="en-US" dirty="0">
              <a:solidFill>
                <a:prstClr val="black"/>
              </a:solidFill>
              <a:latin typeface="Times New Roman" panose="02020603050405020304" pitchFamily="18"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solidFill>
                  <a:prstClr val="black"/>
                </a:solidFill>
                <a:latin typeface="Times New Roman" panose="02020603050405020304" pitchFamily="18" charset="0"/>
                <a:cs typeface="Times New Roman" panose="02020603050405020304" pitchFamily="18" charset="0"/>
              </a:rPr>
              <a:t>P</a:t>
            </a:r>
            <a:r>
              <a:rPr kumimoji="0" 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lasma</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 + ] is the major determinant of urinary potassium excretion.</a:t>
            </a:r>
            <a:endParaRPr lang="en-US" sz="2800" b="0" i="0" u="none" strike="noStrike" baseline="0" dirty="0">
              <a:latin typeface="Times New Roman" panose="02020603050405020304" pitchFamily="18" charset="0"/>
              <a:cs typeface="Times New Roman" panose="02020603050405020304" pitchFamily="18" charset="0"/>
            </a:endParaRPr>
          </a:p>
          <a:p>
            <a:pPr algn="l"/>
            <a:r>
              <a:rPr lang="en-US" sz="2800" b="0" i="0" u="none" strike="noStrike" baseline="0" dirty="0">
                <a:latin typeface="Times New Roman" panose="02020603050405020304" pitchFamily="18" charset="0"/>
                <a:cs typeface="Times New Roman" panose="02020603050405020304" pitchFamily="18" charset="0"/>
              </a:rPr>
              <a:t>Potassium is secreted by tubular cells in the </a:t>
            </a:r>
            <a:r>
              <a:rPr lang="en-US" sz="2800" b="1" i="0" u="none" strike="noStrike" baseline="0" dirty="0">
                <a:latin typeface="Times New Roman" panose="02020603050405020304" pitchFamily="18" charset="0"/>
                <a:cs typeface="Times New Roman" panose="02020603050405020304" pitchFamily="18" charset="0"/>
              </a:rPr>
              <a:t>distal nephron</a:t>
            </a:r>
            <a:r>
              <a:rPr lang="en-US" sz="2800" b="0" i="0" u="none" strike="noStrike" baseline="0" dirty="0">
                <a:latin typeface="Times New Roman" panose="02020603050405020304" pitchFamily="18" charset="0"/>
                <a:cs typeface="Times New Roman" panose="02020603050405020304" pitchFamily="18" charset="0"/>
              </a:rPr>
              <a:t>.</a:t>
            </a:r>
          </a:p>
          <a:p>
            <a:pPr algn="l"/>
            <a:r>
              <a:rPr lang="en-US" sz="2800" b="0" i="0" u="none" strike="noStrike" baseline="0" dirty="0">
                <a:latin typeface="Times New Roman" panose="02020603050405020304" pitchFamily="18" charset="0"/>
                <a:cs typeface="Times New Roman" panose="02020603050405020304" pitchFamily="18" charset="0"/>
              </a:rPr>
              <a:t>Hyperkalemia stimulates aldosterone secretion, whereas hypokalemia suppresses aldosterone secretion.</a:t>
            </a:r>
          </a:p>
          <a:p>
            <a:pPr algn="l"/>
            <a:r>
              <a:rPr lang="en-US" b="1" dirty="0">
                <a:latin typeface="Times New Roman" panose="02020603050405020304" pitchFamily="18" charset="0"/>
                <a:cs typeface="Times New Roman" panose="02020603050405020304" pitchFamily="18" charset="0"/>
              </a:rPr>
              <a:t>Aldosterone</a:t>
            </a:r>
            <a:r>
              <a:rPr lang="en-US" dirty="0">
                <a:latin typeface="Times New Roman" panose="02020603050405020304" pitchFamily="18" charset="0"/>
                <a:cs typeface="Times New Roman" panose="02020603050405020304" pitchFamily="18" charset="0"/>
              </a:rPr>
              <a:t> causes Na+ reabsorption and K+ excretion</a:t>
            </a:r>
          </a:p>
        </p:txBody>
      </p:sp>
      <p:sp>
        <p:nvSpPr>
          <p:cNvPr id="4" name="Date Placeholder 3">
            <a:extLst>
              <a:ext uri="{FF2B5EF4-FFF2-40B4-BE49-F238E27FC236}">
                <a16:creationId xmlns:a16="http://schemas.microsoft.com/office/drawing/2014/main" xmlns="" id="{74EE8877-D94D-984C-67ED-660A84A88D03}"/>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05CC2749-A5C5-3633-DDEB-E6AB1E0C5C0E}"/>
              </a:ext>
            </a:extLst>
          </p:cNvPr>
          <p:cNvSpPr>
            <a:spLocks noGrp="1"/>
          </p:cNvSpPr>
          <p:nvPr>
            <p:ph type="sldNum" sz="quarter" idx="12"/>
          </p:nvPr>
        </p:nvSpPr>
        <p:spPr/>
        <p:txBody>
          <a:bodyPr/>
          <a:lstStyle/>
          <a:p>
            <a:fld id="{CB22993B-EEE5-4EB1-BEE5-4FFFA489F796}" type="slidenum">
              <a:rPr lang="en-US" smtClean="0"/>
              <a:t>37</a:t>
            </a:fld>
            <a:endParaRPr lang="en-US"/>
          </a:p>
        </p:txBody>
      </p:sp>
    </p:spTree>
    <p:extLst>
      <p:ext uri="{BB962C8B-B14F-4D97-AF65-F5344CB8AC3E}">
        <p14:creationId xmlns:p14="http://schemas.microsoft.com/office/powerpoint/2010/main" val="2173581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A946330-321E-4CAA-AF1B-84E99286D6A9}"/>
              </a:ext>
            </a:extLst>
          </p:cNvPr>
          <p:cNvSpPr>
            <a:spLocks noGrp="1"/>
          </p:cNvSpPr>
          <p:nvPr>
            <p:ph idx="1"/>
          </p:nvPr>
        </p:nvSpPr>
        <p:spPr>
          <a:xfrm>
            <a:off x="838200" y="1124262"/>
            <a:ext cx="10515600" cy="5052701"/>
          </a:xfrm>
        </p:spPr>
        <p:txBody>
          <a:bodyPr/>
          <a:lstStyle/>
          <a:p>
            <a:pPr marL="0" indent="0" algn="l">
              <a:buNone/>
            </a:pPr>
            <a:r>
              <a:rPr lang="en-US" sz="3600" b="0" i="0" u="none" strike="noStrike" baseline="0" dirty="0">
                <a:latin typeface="Times New Roman" panose="02020603050405020304" pitchFamily="18" charset="0"/>
                <a:cs typeface="Times New Roman" panose="02020603050405020304" pitchFamily="18" charset="0"/>
              </a:rPr>
              <a:t>   Sodium/Potassium Pump</a:t>
            </a:r>
          </a:p>
          <a:p>
            <a:pPr marL="0" indent="0" algn="l">
              <a:buNone/>
            </a:pPr>
            <a:endParaRPr lang="en-US" sz="2800" b="0" i="0" u="none" strike="noStrike" baseline="0" dirty="0">
              <a:latin typeface="Roboto-Regular"/>
            </a:endParaRPr>
          </a:p>
          <a:p>
            <a:pPr algn="l"/>
            <a:r>
              <a:rPr lang="en-US" b="0" i="0" u="none" strike="noStrike" baseline="0" dirty="0">
                <a:latin typeface="Times New Roman" panose="02020603050405020304" pitchFamily="18" charset="0"/>
                <a:cs typeface="Times New Roman" panose="02020603050405020304" pitchFamily="18" charset="0"/>
              </a:rPr>
              <a:t>Cell membrane Na + –K + -ATPase activity regulates the distribution of potassium between cells and ECF. </a:t>
            </a:r>
          </a:p>
          <a:p>
            <a:pPr algn="l"/>
            <a:r>
              <a:rPr lang="en-US" sz="2800" b="0" i="0" u="none" strike="noStrike" baseline="0" dirty="0">
                <a:latin typeface="Times New Roman" panose="02020603050405020304" pitchFamily="18" charset="0"/>
                <a:cs typeface="Times New Roman" panose="02020603050405020304" pitchFamily="18" charset="0"/>
              </a:rPr>
              <a:t>Uses ATP to pump potassium into cells pumps sodium out of cells creates a balance.</a:t>
            </a:r>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4EE214C4-00BD-3BB1-13B3-7787CC2068BA}"/>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03EB0EFC-6777-2BC3-3C04-B06964380E7F}"/>
              </a:ext>
            </a:extLst>
          </p:cNvPr>
          <p:cNvSpPr>
            <a:spLocks noGrp="1"/>
          </p:cNvSpPr>
          <p:nvPr>
            <p:ph type="sldNum" sz="quarter" idx="12"/>
          </p:nvPr>
        </p:nvSpPr>
        <p:spPr/>
        <p:txBody>
          <a:bodyPr/>
          <a:lstStyle/>
          <a:p>
            <a:fld id="{CB22993B-EEE5-4EB1-BEE5-4FFFA489F796}" type="slidenum">
              <a:rPr lang="en-US" smtClean="0"/>
              <a:t>38</a:t>
            </a:fld>
            <a:endParaRPr lang="en-US"/>
          </a:p>
        </p:txBody>
      </p:sp>
    </p:spTree>
    <p:extLst>
      <p:ext uri="{BB962C8B-B14F-4D97-AF65-F5344CB8AC3E}">
        <p14:creationId xmlns:p14="http://schemas.microsoft.com/office/powerpoint/2010/main" val="29134786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FA03C7-C6D3-45A3-A9D6-6B99D43A7494}"/>
              </a:ext>
            </a:extLst>
          </p:cNvPr>
          <p:cNvSpPr>
            <a:spLocks noGrp="1"/>
          </p:cNvSpPr>
          <p:nvPr>
            <p:ph type="title"/>
          </p:nvPr>
        </p:nvSpPr>
        <p:spPr>
          <a:xfrm>
            <a:off x="838200" y="365126"/>
            <a:ext cx="10515600" cy="684186"/>
          </a:xfrm>
        </p:spPr>
        <p:txBody>
          <a:bodyPr>
            <a:normAutofit fontScale="90000"/>
          </a:bodyPr>
          <a:lstStyle/>
          <a:p>
            <a:r>
              <a:rPr lang="en-US" dirty="0"/>
              <a:t>    </a:t>
            </a:r>
            <a:r>
              <a:rPr lang="en-US" sz="3600" dirty="0">
                <a:latin typeface="Times New Roman" panose="02020603050405020304" pitchFamily="18" charset="0"/>
                <a:cs typeface="Times New Roman" panose="02020603050405020304" pitchFamily="18" charset="0"/>
              </a:rPr>
              <a:t>Hypokalemia</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A9C15D18-7A51-44F1-9F50-82A36C3BF3CA}"/>
              </a:ext>
            </a:extLst>
          </p:cNvPr>
          <p:cNvSpPr>
            <a:spLocks noGrp="1"/>
          </p:cNvSpPr>
          <p:nvPr>
            <p:ph idx="1"/>
          </p:nvPr>
        </p:nvSpPr>
        <p:spPr>
          <a:xfrm>
            <a:off x="838200" y="1244184"/>
            <a:ext cx="10515600" cy="5248690"/>
          </a:xfrm>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Hypokalemia, defined as plasma [K + ] less than 3.5 </a:t>
            </a:r>
            <a:r>
              <a:rPr lang="en-US" b="0" i="0" u="none" strike="noStrike" baseline="0" dirty="0" err="1">
                <a:latin typeface="Times New Roman" panose="02020603050405020304" pitchFamily="18" charset="0"/>
                <a:cs typeface="Times New Roman" panose="02020603050405020304" pitchFamily="18" charset="0"/>
              </a:rPr>
              <a:t>mEq</a:t>
            </a:r>
            <a:r>
              <a:rPr lang="en-US" b="0" i="0" u="none" strike="noStrike" baseline="0" dirty="0">
                <a:latin typeface="Times New Roman" panose="02020603050405020304" pitchFamily="18" charset="0"/>
                <a:cs typeface="Times New Roman" panose="02020603050405020304" pitchFamily="18" charset="0"/>
              </a:rPr>
              <a:t>/L.</a:t>
            </a:r>
          </a:p>
          <a:p>
            <a:pPr algn="l"/>
            <a:r>
              <a:rPr lang="en-US" dirty="0">
                <a:latin typeface="Times New Roman" panose="02020603050405020304" pitchFamily="18" charset="0"/>
                <a:cs typeface="Times New Roman" panose="02020603050405020304" pitchFamily="18" charset="0"/>
              </a:rPr>
              <a:t>C</a:t>
            </a:r>
            <a:r>
              <a:rPr lang="en-US" b="0" i="0" u="none" strike="noStrike" baseline="0" dirty="0">
                <a:latin typeface="Times New Roman" panose="02020603050405020304" pitchFamily="18" charset="0"/>
                <a:cs typeface="Times New Roman" panose="02020603050405020304" pitchFamily="18" charset="0"/>
              </a:rPr>
              <a:t>an occur as a result of </a:t>
            </a:r>
          </a:p>
          <a:p>
            <a:pPr algn="l">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An intercompartmental shift of K</a:t>
            </a:r>
            <a:r>
              <a:rPr lang="en-US" sz="28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a:t>
            </a:r>
            <a:r>
              <a:rPr lang="en-US" sz="2800" b="0" i="0" u="none" strike="noStrike" baseline="0" dirty="0">
                <a:latin typeface="Times New Roman" panose="02020603050405020304" pitchFamily="18" charset="0"/>
                <a:cs typeface="Times New Roman" panose="02020603050405020304" pitchFamily="18" charset="0"/>
              </a:rPr>
              <a:t>alkalosis, insulin therapy, Beta-adrenergic agonists, and hypothermia and during attacks of hypokalemic periodic paralysis</a:t>
            </a:r>
            <a:r>
              <a:rPr lang="en-US"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Increased potassium loss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An inadequate potassium intake</a:t>
            </a:r>
          </a:p>
        </p:txBody>
      </p:sp>
      <p:sp>
        <p:nvSpPr>
          <p:cNvPr id="4" name="Date Placeholder 3">
            <a:extLst>
              <a:ext uri="{FF2B5EF4-FFF2-40B4-BE49-F238E27FC236}">
                <a16:creationId xmlns:a16="http://schemas.microsoft.com/office/drawing/2014/main" xmlns="" id="{D1D5E8BD-92CC-5333-5A3D-A0A998981B59}"/>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162DBAEB-07DE-6BA7-4DE3-638BA17CBAD1}"/>
              </a:ext>
            </a:extLst>
          </p:cNvPr>
          <p:cNvSpPr>
            <a:spLocks noGrp="1"/>
          </p:cNvSpPr>
          <p:nvPr>
            <p:ph type="sldNum" sz="quarter" idx="12"/>
          </p:nvPr>
        </p:nvSpPr>
        <p:spPr/>
        <p:txBody>
          <a:bodyPr/>
          <a:lstStyle/>
          <a:p>
            <a:fld id="{CB22993B-EEE5-4EB1-BEE5-4FFFA489F796}" type="slidenum">
              <a:rPr lang="en-US" smtClean="0"/>
              <a:t>39</a:t>
            </a:fld>
            <a:endParaRPr lang="en-US"/>
          </a:p>
        </p:txBody>
      </p:sp>
    </p:spTree>
    <p:extLst>
      <p:ext uri="{BB962C8B-B14F-4D97-AF65-F5344CB8AC3E}">
        <p14:creationId xmlns:p14="http://schemas.microsoft.com/office/powerpoint/2010/main" val="1310224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5EAD56-D006-4368-8B6F-C9B685B8BE30}"/>
              </a:ext>
            </a:extLst>
          </p:cNvPr>
          <p:cNvSpPr>
            <a:spLocks noGrp="1"/>
          </p:cNvSpPr>
          <p:nvPr>
            <p:ph type="title"/>
          </p:nvPr>
        </p:nvSpPr>
        <p:spPr>
          <a:xfrm>
            <a:off x="838200" y="365126"/>
            <a:ext cx="10515600" cy="804108"/>
          </a:xfrm>
        </p:spPr>
        <p:txBody>
          <a:bodyPr>
            <a:normAutofit/>
          </a:bodyPr>
          <a:lstStyle/>
          <a:p>
            <a:r>
              <a:rPr lang="en-US" sz="4000" i="0" u="none" strike="noStrike" baseline="0" dirty="0">
                <a:latin typeface="MyriadPro-Bold"/>
              </a:rPr>
              <a:t>       </a:t>
            </a:r>
            <a:r>
              <a:rPr lang="en-US" sz="3600" i="0" u="none" strike="noStrike" baseline="0" dirty="0">
                <a:latin typeface="Times New Roman" panose="02020603050405020304" pitchFamily="18" charset="0"/>
                <a:cs typeface="Times New Roman" panose="02020603050405020304" pitchFamily="18" charset="0"/>
              </a:rPr>
              <a:t>Major causes of hypokalemia</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EFA2A031-AFBA-456F-92C1-FEED9A7867B9}"/>
              </a:ext>
            </a:extLst>
          </p:cNvPr>
          <p:cNvSpPr>
            <a:spLocks noGrp="1"/>
          </p:cNvSpPr>
          <p:nvPr>
            <p:ph idx="1"/>
          </p:nvPr>
        </p:nvSpPr>
        <p:spPr>
          <a:xfrm>
            <a:off x="838200" y="1304144"/>
            <a:ext cx="10515600" cy="5351489"/>
          </a:xfrm>
        </p:spPr>
        <p:txBody>
          <a:bodyPr>
            <a:normAutofit/>
          </a:bodyPr>
          <a:lstStyle/>
          <a:p>
            <a:pPr algn="l"/>
            <a:r>
              <a:rPr lang="en-US" sz="3200" i="0" u="none" strike="noStrike" baseline="0" dirty="0">
                <a:latin typeface="Times New Roman" panose="02020603050405020304" pitchFamily="18" charset="0"/>
                <a:cs typeface="Times New Roman" panose="02020603050405020304" pitchFamily="18" charset="0"/>
              </a:rPr>
              <a:t>Excess renal loss</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Mineralocorticoid excess (e.g. Aldosterone)</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Primary hyperaldosteronism (Conn’s syndrome)</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Renin excess (RAAS)</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Bartter’s syndrome (genetic kidney defect)</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Liddle’s syndrome (hereditary, cause K+ excretion but Na+ and H2O retain)</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Diuresis</a:t>
            </a:r>
          </a:p>
        </p:txBody>
      </p:sp>
      <p:sp>
        <p:nvSpPr>
          <p:cNvPr id="4" name="Date Placeholder 3">
            <a:extLst>
              <a:ext uri="{FF2B5EF4-FFF2-40B4-BE49-F238E27FC236}">
                <a16:creationId xmlns:a16="http://schemas.microsoft.com/office/drawing/2014/main" xmlns="" id="{6FE2AFE0-9043-0450-0D03-834D275D1523}"/>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B94DDFCA-759E-4EB8-D574-735E0BDF93F1}"/>
              </a:ext>
            </a:extLst>
          </p:cNvPr>
          <p:cNvSpPr>
            <a:spLocks noGrp="1"/>
          </p:cNvSpPr>
          <p:nvPr>
            <p:ph type="sldNum" sz="quarter" idx="12"/>
          </p:nvPr>
        </p:nvSpPr>
        <p:spPr/>
        <p:txBody>
          <a:bodyPr/>
          <a:lstStyle/>
          <a:p>
            <a:fld id="{CB22993B-EEE5-4EB1-BEE5-4FFFA489F796}" type="slidenum">
              <a:rPr lang="en-US" smtClean="0"/>
              <a:t>40</a:t>
            </a:fld>
            <a:endParaRPr lang="en-US"/>
          </a:p>
        </p:txBody>
      </p:sp>
    </p:spTree>
    <p:extLst>
      <p:ext uri="{BB962C8B-B14F-4D97-AF65-F5344CB8AC3E}">
        <p14:creationId xmlns:p14="http://schemas.microsoft.com/office/powerpoint/2010/main" val="26306377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8D5A07C-A7E8-4F03-9411-AB0819247790}"/>
              </a:ext>
            </a:extLst>
          </p:cNvPr>
          <p:cNvSpPr>
            <a:spLocks noGrp="1"/>
          </p:cNvSpPr>
          <p:nvPr>
            <p:ph type="title"/>
          </p:nvPr>
        </p:nvSpPr>
        <p:spPr>
          <a:xfrm>
            <a:off x="838200" y="365125"/>
            <a:ext cx="10515600" cy="564265"/>
          </a:xfrm>
        </p:spPr>
        <p:txBody>
          <a:bodyPr>
            <a:normAutofit fontScale="90000"/>
          </a:bodyPr>
          <a:lstStyle/>
          <a:p>
            <a:r>
              <a:rPr kumimoji="0" lang="en-US" sz="44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D4EFBAB4-8726-4E37-8B34-1E921ED46E5B}"/>
              </a:ext>
            </a:extLst>
          </p:cNvPr>
          <p:cNvSpPr>
            <a:spLocks noGrp="1"/>
          </p:cNvSpPr>
          <p:nvPr>
            <p:ph idx="1"/>
          </p:nvPr>
        </p:nvSpPr>
        <p:spPr>
          <a:xfrm>
            <a:off x="838200" y="1109272"/>
            <a:ext cx="10515600" cy="5383603"/>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Antibiotics (induce renal K+ excretion )</a:t>
            </a:r>
          </a:p>
          <a:p>
            <a:pPr lvl="1">
              <a:spcBef>
                <a:spcPts val="1000"/>
              </a:spcBef>
              <a:buFont typeface="Wingdings" panose="05000000000000000000" pitchFamily="2" charset="2"/>
              <a:buChar char="Ø"/>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Carbenicillin</a:t>
            </a:r>
          </a:p>
          <a:p>
            <a:pPr lvl="1">
              <a:spcBef>
                <a:spcPts val="1000"/>
              </a:spcBef>
              <a:buFont typeface="Wingdings" panose="05000000000000000000" pitchFamily="2" charset="2"/>
              <a:buChar char="Ø"/>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Gentamicin</a:t>
            </a:r>
          </a:p>
          <a:p>
            <a:pPr lvl="1">
              <a:spcBef>
                <a:spcPts val="1000"/>
              </a:spcBef>
              <a:buFont typeface="Wingdings" panose="05000000000000000000" pitchFamily="2" charset="2"/>
              <a:buChar char="Ø"/>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Amphotericin B</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Renal tubular acidosis</a:t>
            </a:r>
          </a:p>
          <a:p>
            <a:pPr lvl="1">
              <a:spcBef>
                <a:spcPts val="1000"/>
              </a:spcBef>
              <a:buFont typeface="Wingdings" panose="05000000000000000000" pitchFamily="2" charset="2"/>
              <a:buChar char="Ø"/>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Proximal</a:t>
            </a:r>
          </a:p>
          <a:p>
            <a:pPr marL="0" indent="0">
              <a:buNone/>
            </a:pPr>
            <a:endParaRPr lang="en-US" dirty="0"/>
          </a:p>
        </p:txBody>
      </p:sp>
      <p:sp>
        <p:nvSpPr>
          <p:cNvPr id="4" name="Date Placeholder 3">
            <a:extLst>
              <a:ext uri="{FF2B5EF4-FFF2-40B4-BE49-F238E27FC236}">
                <a16:creationId xmlns:a16="http://schemas.microsoft.com/office/drawing/2014/main" xmlns="" id="{6FD0CA70-3412-FDB5-AAD1-C956CCE05EAC}"/>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FE12472B-2852-FCCD-AFEA-D7FE3C643144}"/>
              </a:ext>
            </a:extLst>
          </p:cNvPr>
          <p:cNvSpPr>
            <a:spLocks noGrp="1"/>
          </p:cNvSpPr>
          <p:nvPr>
            <p:ph type="sldNum" sz="quarter" idx="12"/>
          </p:nvPr>
        </p:nvSpPr>
        <p:spPr/>
        <p:txBody>
          <a:bodyPr/>
          <a:lstStyle/>
          <a:p>
            <a:fld id="{CB22993B-EEE5-4EB1-BEE5-4FFFA489F796}" type="slidenum">
              <a:rPr lang="en-US" smtClean="0"/>
              <a:t>41</a:t>
            </a:fld>
            <a:endParaRPr lang="en-US"/>
          </a:p>
        </p:txBody>
      </p:sp>
    </p:spTree>
    <p:extLst>
      <p:ext uri="{BB962C8B-B14F-4D97-AF65-F5344CB8AC3E}">
        <p14:creationId xmlns:p14="http://schemas.microsoft.com/office/powerpoint/2010/main" val="26450987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885D5C-7859-4E0E-9FC5-F280809BAFA3}"/>
              </a:ext>
            </a:extLst>
          </p:cNvPr>
          <p:cNvSpPr>
            <a:spLocks noGrp="1"/>
          </p:cNvSpPr>
          <p:nvPr>
            <p:ph type="title"/>
          </p:nvPr>
        </p:nvSpPr>
        <p:spPr>
          <a:xfrm>
            <a:off x="838200" y="365126"/>
            <a:ext cx="10515600" cy="654206"/>
          </a:xfrm>
        </p:spPr>
        <p:txBody>
          <a:bodyPr>
            <a:normAutofit fontScale="90000"/>
          </a:bodyPr>
          <a:lstStyle/>
          <a:p>
            <a:r>
              <a:rPr kumimoji="0" lang="en-US" sz="44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C036CFC3-78DA-4929-979F-11A50BAD3E5A}"/>
              </a:ext>
            </a:extLst>
          </p:cNvPr>
          <p:cNvSpPr>
            <a:spLocks noGrp="1"/>
          </p:cNvSpPr>
          <p:nvPr>
            <p:ph idx="1"/>
          </p:nvPr>
        </p:nvSpPr>
        <p:spPr>
          <a:xfrm>
            <a:off x="838200" y="1244184"/>
            <a:ext cx="10515600" cy="5486400"/>
          </a:xfrm>
        </p:spPr>
        <p:txBody>
          <a:bodyPr>
            <a:normAutofit/>
          </a:bodyPr>
          <a:lstStyle/>
          <a:p>
            <a:pPr algn="l"/>
            <a:r>
              <a:rPr lang="en-US" sz="2800" b="1" i="0" u="none" strike="noStrike" baseline="0" dirty="0">
                <a:latin typeface="Times New Roman" panose="02020603050405020304" pitchFamily="18" charset="0"/>
                <a:cs typeface="Times New Roman" panose="02020603050405020304" pitchFamily="18" charset="0"/>
              </a:rPr>
              <a:t>Gastrointestinal losses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Vomiting</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Diarrhea</a:t>
            </a:r>
          </a:p>
          <a:p>
            <a:pPr algn="l"/>
            <a:r>
              <a:rPr lang="en-US" sz="2800" b="1" i="0" u="none" strike="noStrike" baseline="0" dirty="0">
                <a:latin typeface="Times New Roman" panose="02020603050405020304" pitchFamily="18" charset="0"/>
                <a:cs typeface="Times New Roman" panose="02020603050405020304" pitchFamily="18" charset="0"/>
              </a:rPr>
              <a:t>ECF to ICF shifts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Acute alkalosis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Barium ingestion</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Insulin therapy</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Vitamin B </a:t>
            </a:r>
            <a:r>
              <a:rPr lang="en-US" sz="500" b="0" i="0" u="none" strike="noStrike" baseline="0" dirty="0">
                <a:latin typeface="Times New Roman" panose="02020603050405020304" pitchFamily="18" charset="0"/>
                <a:cs typeface="Times New Roman" panose="02020603050405020304" pitchFamily="18" charset="0"/>
              </a:rPr>
              <a:t>12 </a:t>
            </a:r>
            <a:r>
              <a:rPr lang="en-US" sz="2800" b="0" i="0" u="none" strike="noStrike" baseline="0" dirty="0">
                <a:latin typeface="Times New Roman" panose="02020603050405020304" pitchFamily="18" charset="0"/>
                <a:cs typeface="Times New Roman" panose="02020603050405020304" pitchFamily="18" charset="0"/>
              </a:rPr>
              <a:t>therapy (increased hematopoiesis, increased cellular use of potassium)</a:t>
            </a:r>
          </a:p>
          <a:p>
            <a:pPr algn="l"/>
            <a:r>
              <a:rPr lang="en-US" sz="2800" b="1" i="0" u="none" strike="noStrike" baseline="0" dirty="0">
                <a:latin typeface="Times New Roman" panose="02020603050405020304" pitchFamily="18" charset="0"/>
                <a:cs typeface="Times New Roman" panose="02020603050405020304" pitchFamily="18" charset="0"/>
              </a:rPr>
              <a:t>Inadequate intake</a:t>
            </a:r>
            <a:endParaRPr lang="en-US" dirty="0">
              <a:latin typeface="Times New Roman" panose="02020603050405020304" pitchFamily="18" charset="0"/>
              <a:cs typeface="Times New Roman" panose="02020603050405020304" pitchFamily="18" charset="0"/>
            </a:endParaRPr>
          </a:p>
        </p:txBody>
      </p:sp>
      <p:cxnSp>
        <p:nvCxnSpPr>
          <p:cNvPr id="5" name="Straight Arrow Connector 4">
            <a:extLst>
              <a:ext uri="{FF2B5EF4-FFF2-40B4-BE49-F238E27FC236}">
                <a16:creationId xmlns:a16="http://schemas.microsoft.com/office/drawing/2014/main" xmlns="" id="{84DA3D8B-FBC7-496D-81B8-AD44C47A643A}"/>
              </a:ext>
            </a:extLst>
          </p:cNvPr>
          <p:cNvCxnSpPr>
            <a:cxnSpLocks/>
          </p:cNvCxnSpPr>
          <p:nvPr/>
        </p:nvCxnSpPr>
        <p:spPr>
          <a:xfrm flipH="1">
            <a:off x="1888761" y="2803161"/>
            <a:ext cx="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xmlns="" id="{4C5DFBC6-6048-7BE0-46FC-C0141A25615F}"/>
              </a:ext>
            </a:extLst>
          </p:cNvPr>
          <p:cNvSpPr>
            <a:spLocks noGrp="1"/>
          </p:cNvSpPr>
          <p:nvPr>
            <p:ph type="dt" sz="half" idx="10"/>
          </p:nvPr>
        </p:nvSpPr>
        <p:spPr/>
        <p:txBody>
          <a:bodyPr/>
          <a:lstStyle/>
          <a:p>
            <a:r>
              <a:rPr lang="en-US"/>
              <a:t>23-Dec-22</a:t>
            </a:r>
          </a:p>
        </p:txBody>
      </p:sp>
      <p:sp>
        <p:nvSpPr>
          <p:cNvPr id="6" name="Slide Number Placeholder 5">
            <a:extLst>
              <a:ext uri="{FF2B5EF4-FFF2-40B4-BE49-F238E27FC236}">
                <a16:creationId xmlns:a16="http://schemas.microsoft.com/office/drawing/2014/main" xmlns="" id="{A4D4ED37-9610-C0E8-0F9C-043CC5379DF4}"/>
              </a:ext>
            </a:extLst>
          </p:cNvPr>
          <p:cNvSpPr>
            <a:spLocks noGrp="1"/>
          </p:cNvSpPr>
          <p:nvPr>
            <p:ph type="sldNum" sz="quarter" idx="12"/>
          </p:nvPr>
        </p:nvSpPr>
        <p:spPr/>
        <p:txBody>
          <a:bodyPr/>
          <a:lstStyle/>
          <a:p>
            <a:fld id="{CB22993B-EEE5-4EB1-BEE5-4FFFA489F796}" type="slidenum">
              <a:rPr lang="en-US" smtClean="0"/>
              <a:t>42</a:t>
            </a:fld>
            <a:endParaRPr lang="en-US"/>
          </a:p>
        </p:txBody>
      </p:sp>
    </p:spTree>
    <p:extLst>
      <p:ext uri="{BB962C8B-B14F-4D97-AF65-F5344CB8AC3E}">
        <p14:creationId xmlns:p14="http://schemas.microsoft.com/office/powerpoint/2010/main" val="38920288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2A819B-02E1-48CB-9D84-9F48B0039E51}"/>
              </a:ext>
            </a:extLst>
          </p:cNvPr>
          <p:cNvSpPr>
            <a:spLocks noGrp="1"/>
          </p:cNvSpPr>
          <p:nvPr>
            <p:ph type="title"/>
          </p:nvPr>
        </p:nvSpPr>
        <p:spPr>
          <a:xfrm>
            <a:off x="838200" y="365126"/>
            <a:ext cx="10515600" cy="669196"/>
          </a:xfrm>
        </p:spPr>
        <p:txBody>
          <a:bodyPr>
            <a:normAutofit/>
          </a:bodyPr>
          <a:lstStyle/>
          <a:p>
            <a:r>
              <a:rPr lang="en-US" sz="3600" i="0" u="none" strike="noStrike" baseline="0" dirty="0">
                <a:latin typeface="Times New Roman" panose="02020603050405020304" pitchFamily="18" charset="0"/>
                <a:cs typeface="Times New Roman" panose="02020603050405020304" pitchFamily="18" charset="0"/>
              </a:rPr>
              <a:t>Clinical Manifestations of Hypokalemia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B74FEF19-07BD-4CAE-81A2-28089B2E7E82}"/>
              </a:ext>
            </a:extLst>
          </p:cNvPr>
          <p:cNvSpPr>
            <a:spLocks noGrp="1"/>
          </p:cNvSpPr>
          <p:nvPr>
            <p:ph idx="1"/>
          </p:nvPr>
        </p:nvSpPr>
        <p:spPr>
          <a:xfrm>
            <a:off x="838200" y="1214203"/>
            <a:ext cx="10515600" cy="5501390"/>
          </a:xfrm>
        </p:spPr>
        <p:txBody>
          <a:bodyPr>
            <a:normAutofit/>
          </a:bodyPr>
          <a:lstStyle/>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Hypokalemia can produce widespread organ dysfunction.</a:t>
            </a: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Most patients are asymptomatic until plasma [K </a:t>
            </a:r>
            <a:r>
              <a:rPr lang="en-US" sz="8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falls below 3 </a:t>
            </a:r>
            <a:r>
              <a:rPr lang="en-US" sz="2800" b="0" i="0" u="none" strike="noStrike" baseline="0" dirty="0" err="1">
                <a:solidFill>
                  <a:srgbClr val="000000"/>
                </a:solidFill>
                <a:latin typeface="Times New Roman" panose="02020603050405020304" pitchFamily="18" charset="0"/>
                <a:cs typeface="Times New Roman" panose="02020603050405020304" pitchFamily="18" charset="0"/>
              </a:rPr>
              <a:t>mEq</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/L. </a:t>
            </a:r>
          </a:p>
          <a:p>
            <a:pPr algn="l"/>
            <a:r>
              <a:rPr lang="en-US" sz="2800" b="1" i="0" u="none" strike="noStrike" baseline="0" dirty="0">
                <a:solidFill>
                  <a:srgbClr val="000000"/>
                </a:solidFill>
                <a:latin typeface="Times New Roman" panose="02020603050405020304" pitchFamily="18" charset="0"/>
                <a:cs typeface="Times New Roman" panose="02020603050405020304" pitchFamily="18" charset="0"/>
              </a:rPr>
              <a:t>Cardiovascular effects and neuromuscular effects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are </a:t>
            </a:r>
            <a:r>
              <a:rPr lang="en-US" sz="2800" i="0" u="none" strike="noStrike" baseline="0" dirty="0">
                <a:solidFill>
                  <a:srgbClr val="000000"/>
                </a:solidFill>
                <a:latin typeface="Times New Roman" panose="02020603050405020304" pitchFamily="18" charset="0"/>
                <a:cs typeface="Times New Roman" panose="02020603050405020304" pitchFamily="18" charset="0"/>
              </a:rPr>
              <a:t>most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prominent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and include an abnormal ECG, arrhythmias, decreased cardiac contractility, </a:t>
            </a:r>
            <a:r>
              <a:rPr lang="en-US" sz="2800" b="0" i="0" u="none" strike="noStrike" baseline="0" dirty="0">
                <a:solidFill>
                  <a:srgbClr val="231F20"/>
                </a:solidFill>
                <a:latin typeface="Times New Roman" panose="02020603050405020304" pitchFamily="18" charset="0"/>
                <a:cs typeface="Times New Roman" panose="02020603050405020304" pitchFamily="18" charset="0"/>
              </a:rPr>
              <a:t>muscle weakness, cramps, paralysis, and ileus</a:t>
            </a:r>
            <a:r>
              <a:rPr lang="en-US" sz="2800" b="0" i="0" u="none" strike="noStrike" baseline="0" dirty="0">
                <a:solidFill>
                  <a:srgbClr val="231F20"/>
                </a:solidFill>
                <a:latin typeface="AdvP3E76B0"/>
              </a:rPr>
              <a:t>.</a:t>
            </a:r>
            <a:endParaRPr lang="en-US" sz="2800" b="0" i="0" u="none" strike="noStrike" baseline="0" dirty="0">
              <a:solidFill>
                <a:srgbClr val="000000"/>
              </a:solidFill>
              <a:latin typeface="Times New Roman" panose="02020603050405020304" pitchFamily="18" charset="0"/>
              <a:cs typeface="Times New Roman" panose="02020603050405020304" pitchFamily="18" charset="0"/>
            </a:endParaRPr>
          </a:p>
          <a:p>
            <a:pPr algn="l"/>
            <a:r>
              <a:rPr lang="en-US" sz="2800" i="0" u="none" strike="noStrike" baseline="0" dirty="0">
                <a:solidFill>
                  <a:srgbClr val="000000"/>
                </a:solidFill>
                <a:latin typeface="Times New Roman" panose="02020603050405020304" pitchFamily="18" charset="0"/>
                <a:cs typeface="Times New Roman" panose="02020603050405020304" pitchFamily="18" charset="0"/>
              </a:rPr>
              <a:t>ECG manifestations are primarily due to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delayed ventricular repolarization</a:t>
            </a:r>
            <a:r>
              <a:rPr lang="en-US" sz="2800" i="0" u="none" strike="noStrike" baseline="0" dirty="0">
                <a:solidFill>
                  <a:srgbClr val="000000"/>
                </a:solidFill>
                <a:latin typeface="Times New Roman" panose="02020603050405020304" pitchFamily="18" charset="0"/>
                <a:cs typeface="Times New Roman" panose="02020603050405020304" pitchFamily="18" charset="0"/>
              </a:rPr>
              <a:t> and include T-wave flattening</a:t>
            </a:r>
            <a:r>
              <a:rPr lang="en-US" dirty="0">
                <a:solidFill>
                  <a:srgbClr val="000000"/>
                </a:solidFill>
                <a:latin typeface="Times New Roman" panose="02020603050405020304" pitchFamily="18" charset="0"/>
                <a:cs typeface="Times New Roman" panose="02020603050405020304" pitchFamily="18" charset="0"/>
              </a:rPr>
              <a:t> </a:t>
            </a:r>
            <a:r>
              <a:rPr lang="en-US" sz="2800" i="0" u="none" strike="noStrike" baseline="0" dirty="0">
                <a:solidFill>
                  <a:srgbClr val="000000"/>
                </a:solidFill>
                <a:latin typeface="Times New Roman" panose="02020603050405020304" pitchFamily="18" charset="0"/>
                <a:cs typeface="Times New Roman" panose="02020603050405020304" pitchFamily="18" charset="0"/>
              </a:rPr>
              <a:t>and inversion, an increasingly prominent U wave, ST-segment depression, increased P-wave amplitude, and prolongation of the P–R interval .</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E6739FB4-4EF3-7EA6-A44D-F3E11C0F8DBC}"/>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CE11852C-3ABE-0B70-B7B9-357F56DD0F91}"/>
              </a:ext>
            </a:extLst>
          </p:cNvPr>
          <p:cNvSpPr>
            <a:spLocks noGrp="1"/>
          </p:cNvSpPr>
          <p:nvPr>
            <p:ph type="sldNum" sz="quarter" idx="12"/>
          </p:nvPr>
        </p:nvSpPr>
        <p:spPr/>
        <p:txBody>
          <a:bodyPr/>
          <a:lstStyle/>
          <a:p>
            <a:fld id="{CB22993B-EEE5-4EB1-BEE5-4FFFA489F796}" type="slidenum">
              <a:rPr lang="en-US" smtClean="0"/>
              <a:t>43</a:t>
            </a:fld>
            <a:endParaRPr lang="en-US"/>
          </a:p>
        </p:txBody>
      </p:sp>
    </p:spTree>
    <p:extLst>
      <p:ext uri="{BB962C8B-B14F-4D97-AF65-F5344CB8AC3E}">
        <p14:creationId xmlns:p14="http://schemas.microsoft.com/office/powerpoint/2010/main" val="10091563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AA77EF-FDBD-4C5B-A85E-26C984B19851}"/>
              </a:ext>
            </a:extLst>
          </p:cNvPr>
          <p:cNvSpPr>
            <a:spLocks noGrp="1"/>
          </p:cNvSpPr>
          <p:nvPr>
            <p:ph type="title"/>
          </p:nvPr>
        </p:nvSpPr>
        <p:spPr>
          <a:xfrm>
            <a:off x="838200" y="149903"/>
            <a:ext cx="10515600" cy="659566"/>
          </a:xfrm>
        </p:spPr>
        <p:txBody>
          <a:bodyPr>
            <a:normAutofit/>
          </a:bodyPr>
          <a:lstStyle/>
          <a:p>
            <a:r>
              <a:rPr lang="en-US" sz="3600" dirty="0">
                <a:latin typeface="Times New Roman" panose="02020603050405020304" pitchFamily="18" charset="0"/>
                <a:cs typeface="Times New Roman" panose="02020603050405020304" pitchFamily="18" charset="0"/>
              </a:rPr>
              <a:t>ECG changes of hypokalemia</a:t>
            </a:r>
          </a:p>
        </p:txBody>
      </p:sp>
      <p:pic>
        <p:nvPicPr>
          <p:cNvPr id="7" name="Content Placeholder 6">
            <a:extLst>
              <a:ext uri="{FF2B5EF4-FFF2-40B4-BE49-F238E27FC236}">
                <a16:creationId xmlns:a16="http://schemas.microsoft.com/office/drawing/2014/main" xmlns="" id="{258BA3E9-20F3-4B0D-B8DA-24AAA4941F34}"/>
              </a:ext>
            </a:extLst>
          </p:cNvPr>
          <p:cNvPicPr>
            <a:picLocks noGrp="1" noChangeAspect="1"/>
          </p:cNvPicPr>
          <p:nvPr>
            <p:ph idx="1"/>
          </p:nvPr>
        </p:nvPicPr>
        <p:blipFill>
          <a:blip r:embed="rId2"/>
          <a:stretch>
            <a:fillRect/>
          </a:stretch>
        </p:blipFill>
        <p:spPr>
          <a:xfrm flipV="1">
            <a:off x="838200" y="1169229"/>
            <a:ext cx="9609943" cy="4916777"/>
          </a:xfrm>
        </p:spPr>
      </p:pic>
      <p:sp>
        <p:nvSpPr>
          <p:cNvPr id="3" name="Date Placeholder 2">
            <a:extLst>
              <a:ext uri="{FF2B5EF4-FFF2-40B4-BE49-F238E27FC236}">
                <a16:creationId xmlns:a16="http://schemas.microsoft.com/office/drawing/2014/main" xmlns="" id="{E6983580-D789-D246-9844-462B2F095972}"/>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BC25BA77-3448-4712-0046-54F29AE5FFC1}"/>
              </a:ext>
            </a:extLst>
          </p:cNvPr>
          <p:cNvSpPr>
            <a:spLocks noGrp="1"/>
          </p:cNvSpPr>
          <p:nvPr>
            <p:ph type="sldNum" sz="quarter" idx="12"/>
          </p:nvPr>
        </p:nvSpPr>
        <p:spPr/>
        <p:txBody>
          <a:bodyPr/>
          <a:lstStyle/>
          <a:p>
            <a:fld id="{CB22993B-EEE5-4EB1-BEE5-4FFFA489F796}" type="slidenum">
              <a:rPr lang="en-US" smtClean="0"/>
              <a:t>44</a:t>
            </a:fld>
            <a:endParaRPr lang="en-US"/>
          </a:p>
        </p:txBody>
      </p:sp>
    </p:spTree>
    <p:extLst>
      <p:ext uri="{BB962C8B-B14F-4D97-AF65-F5344CB8AC3E}">
        <p14:creationId xmlns:p14="http://schemas.microsoft.com/office/powerpoint/2010/main" val="37418115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5D0374-6238-45E6-BDEB-050ED04D2BEC}"/>
              </a:ext>
            </a:extLst>
          </p:cNvPr>
          <p:cNvSpPr>
            <a:spLocks noGrp="1"/>
          </p:cNvSpPr>
          <p:nvPr>
            <p:ph type="title"/>
          </p:nvPr>
        </p:nvSpPr>
        <p:spPr>
          <a:xfrm>
            <a:off x="838200" y="0"/>
            <a:ext cx="10515600" cy="824460"/>
          </a:xfrm>
        </p:spPr>
        <p:txBody>
          <a:bodyPr>
            <a:normAutofit/>
          </a:bodyPr>
          <a:lstStyle/>
          <a:p>
            <a:r>
              <a:rPr lang="en-US" sz="3200" i="0" u="none" strike="noStrike" baseline="0" dirty="0">
                <a:latin typeface="MyriadPro-Bold"/>
              </a:rPr>
              <a:t>       </a:t>
            </a:r>
            <a:r>
              <a:rPr lang="en-US" sz="3600" i="0" u="none" strike="noStrike" baseline="0" dirty="0">
                <a:latin typeface="Times New Roman" panose="02020603050405020304" pitchFamily="18" charset="0"/>
                <a:cs typeface="Times New Roman" panose="02020603050405020304" pitchFamily="18" charset="0"/>
              </a:rPr>
              <a:t>Effects of hypokalemia</a:t>
            </a:r>
            <a:endParaRPr lang="en-US" sz="6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D2C12660-278D-4616-9052-DC1CEAF7E933}"/>
              </a:ext>
            </a:extLst>
          </p:cNvPr>
          <p:cNvSpPr>
            <a:spLocks noGrp="1"/>
          </p:cNvSpPr>
          <p:nvPr>
            <p:ph idx="1"/>
          </p:nvPr>
        </p:nvSpPr>
        <p:spPr>
          <a:xfrm>
            <a:off x="838200" y="824460"/>
            <a:ext cx="10515600" cy="5831173"/>
          </a:xfrm>
        </p:spPr>
        <p:txBody>
          <a:bodyPr>
            <a:normAutofit/>
          </a:bodyPr>
          <a:lstStyle/>
          <a:p>
            <a:pPr algn="l"/>
            <a:r>
              <a:rPr lang="en-US" sz="2800" b="1" i="0" u="none" strike="noStrike" baseline="0" dirty="0">
                <a:latin typeface="Times New Roman" panose="02020603050405020304" pitchFamily="18" charset="0"/>
                <a:cs typeface="Times New Roman" panose="02020603050405020304" pitchFamily="18" charset="0"/>
              </a:rPr>
              <a:t>Cardiovascular</a:t>
            </a:r>
          </a:p>
          <a:p>
            <a:pPr lvl="1">
              <a:buFont typeface="Wingdings" panose="05000000000000000000" pitchFamily="2" charset="2"/>
              <a:buChar char="Ø"/>
            </a:pPr>
            <a:r>
              <a:rPr lang="en-US" sz="2600" b="0" i="0" u="none" strike="noStrike" baseline="0" dirty="0">
                <a:latin typeface="Times New Roman" panose="02020603050405020304" pitchFamily="18" charset="0"/>
                <a:cs typeface="Times New Roman" panose="02020603050405020304" pitchFamily="18" charset="0"/>
              </a:rPr>
              <a:t>Electrocardiographic changes/arrhythmias</a:t>
            </a:r>
          </a:p>
          <a:p>
            <a:pPr lvl="1">
              <a:buFont typeface="Wingdings" panose="05000000000000000000" pitchFamily="2" charset="2"/>
              <a:buChar char="Ø"/>
            </a:pPr>
            <a:r>
              <a:rPr lang="en-US" sz="2600" b="0" i="0" u="none" strike="noStrike" baseline="0" dirty="0">
                <a:latin typeface="Times New Roman" panose="02020603050405020304" pitchFamily="18" charset="0"/>
                <a:cs typeface="Times New Roman" panose="02020603050405020304" pitchFamily="18" charset="0"/>
              </a:rPr>
              <a:t>Myocardial dysfunction</a:t>
            </a:r>
          </a:p>
          <a:p>
            <a:pPr algn="l"/>
            <a:r>
              <a:rPr lang="en-US" sz="2800" b="1" i="0" u="none" strike="noStrike" baseline="0" dirty="0">
                <a:latin typeface="Times New Roman" panose="02020603050405020304" pitchFamily="18" charset="0"/>
                <a:cs typeface="Times New Roman" panose="02020603050405020304" pitchFamily="18" charset="0"/>
              </a:rPr>
              <a:t>Neuromuscular</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Skeletal muscle weakness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Rhabdomyolysis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Ileus</a:t>
            </a:r>
          </a:p>
          <a:p>
            <a:pPr algn="l"/>
            <a:r>
              <a:rPr lang="en-US" sz="2800" b="1" i="0" u="none" strike="noStrike" baseline="0" dirty="0">
                <a:latin typeface="Times New Roman" panose="02020603050405020304" pitchFamily="18" charset="0"/>
                <a:cs typeface="Times New Roman" panose="02020603050405020304" pitchFamily="18" charset="0"/>
              </a:rPr>
              <a:t>Renal</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Polyuria (nephrogenic diabetes insipidus)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Hormonal</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Decreased insulin secretion</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Decreased aldosterone secretion</a:t>
            </a:r>
          </a:p>
          <a:p>
            <a:pPr marL="457200" lvl="1" indent="0">
              <a:buNone/>
            </a:pPr>
            <a:endParaRPr lang="en-US" sz="2800" b="0" i="0" u="none" strike="noStrike" baseline="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6D454B3C-00FF-38E9-0C18-93055BA29FBD}"/>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5BB47A1D-517E-E383-ECCE-4579E603C4F8}"/>
              </a:ext>
            </a:extLst>
          </p:cNvPr>
          <p:cNvSpPr>
            <a:spLocks noGrp="1"/>
          </p:cNvSpPr>
          <p:nvPr>
            <p:ph type="sldNum" sz="quarter" idx="12"/>
          </p:nvPr>
        </p:nvSpPr>
        <p:spPr/>
        <p:txBody>
          <a:bodyPr/>
          <a:lstStyle/>
          <a:p>
            <a:fld id="{CB22993B-EEE5-4EB1-BEE5-4FFFA489F796}" type="slidenum">
              <a:rPr lang="en-US" smtClean="0"/>
              <a:t>45</a:t>
            </a:fld>
            <a:endParaRPr lang="en-US"/>
          </a:p>
        </p:txBody>
      </p:sp>
    </p:spTree>
    <p:extLst>
      <p:ext uri="{BB962C8B-B14F-4D97-AF65-F5344CB8AC3E}">
        <p14:creationId xmlns:p14="http://schemas.microsoft.com/office/powerpoint/2010/main" val="3064435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60290C-B995-42D4-974B-CBBA696C14E6}"/>
              </a:ext>
            </a:extLst>
          </p:cNvPr>
          <p:cNvSpPr>
            <a:spLocks noGrp="1"/>
          </p:cNvSpPr>
          <p:nvPr>
            <p:ph type="title"/>
          </p:nvPr>
        </p:nvSpPr>
        <p:spPr>
          <a:xfrm>
            <a:off x="838200" y="365126"/>
            <a:ext cx="10515600" cy="654206"/>
          </a:xfrm>
        </p:spPr>
        <p:txBody>
          <a:bodyPr>
            <a:normAutofit/>
          </a:bodyPr>
          <a:lstStyle/>
          <a:p>
            <a:r>
              <a:rPr lang="en-US" sz="3600" i="0" u="none" strike="noStrike" baseline="0" dirty="0">
                <a:latin typeface="Times New Roman" panose="02020603050405020304" pitchFamily="18" charset="0"/>
                <a:cs typeface="Times New Roman" panose="02020603050405020304" pitchFamily="18" charset="0"/>
              </a:rPr>
              <a:t>Treatment of Hypokalemia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31728463-37BD-43CF-9C9A-89DCFA5B51FA}"/>
              </a:ext>
            </a:extLst>
          </p:cNvPr>
          <p:cNvSpPr>
            <a:spLocks noGrp="1"/>
          </p:cNvSpPr>
          <p:nvPr>
            <p:ph idx="1"/>
          </p:nvPr>
        </p:nvSpPr>
        <p:spPr>
          <a:xfrm>
            <a:off x="838200" y="1184223"/>
            <a:ext cx="10515600" cy="4992740"/>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The treatment of hypokalemia depends on the presence and severity of any associated organ dysfunction. </a:t>
            </a:r>
          </a:p>
          <a:p>
            <a:pPr algn="l"/>
            <a:r>
              <a:rPr lang="en-US" sz="2800" b="0" i="0" u="none" strike="noStrike" baseline="0" dirty="0">
                <a:latin typeface="Times New Roman" panose="02020603050405020304" pitchFamily="18" charset="0"/>
                <a:cs typeface="Times New Roman" panose="02020603050405020304" pitchFamily="18" charset="0"/>
              </a:rPr>
              <a:t>Significant ECG changes such as S-T segment</a:t>
            </a:r>
            <a:r>
              <a:rPr lang="en-US"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changes or arrhythmias mandate continuous ECG monitoring, particularly during intravenous K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replacement. </a:t>
            </a:r>
          </a:p>
          <a:p>
            <a:pPr algn="l"/>
            <a:r>
              <a:rPr lang="en-US" sz="2800" b="0" i="0" u="none" strike="noStrike" baseline="0" dirty="0">
                <a:latin typeface="Times New Roman" panose="02020603050405020304" pitchFamily="18" charset="0"/>
                <a:cs typeface="Times New Roman" panose="02020603050405020304" pitchFamily="18" charset="0"/>
              </a:rPr>
              <a:t>Digoxin therapy—as well as the hypokalemia itself—sensitizes the heart to changes in potassium ion concentration. </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F20F20D9-486A-0344-EA90-7F32ECC2DE44}"/>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5EB547BB-5371-31DD-54EB-97838A5772BF}"/>
              </a:ext>
            </a:extLst>
          </p:cNvPr>
          <p:cNvSpPr>
            <a:spLocks noGrp="1"/>
          </p:cNvSpPr>
          <p:nvPr>
            <p:ph type="sldNum" sz="quarter" idx="12"/>
          </p:nvPr>
        </p:nvSpPr>
        <p:spPr/>
        <p:txBody>
          <a:bodyPr/>
          <a:lstStyle/>
          <a:p>
            <a:fld id="{CB22993B-EEE5-4EB1-BEE5-4FFFA489F796}" type="slidenum">
              <a:rPr lang="en-US" smtClean="0"/>
              <a:t>46</a:t>
            </a:fld>
            <a:endParaRPr lang="en-US"/>
          </a:p>
        </p:txBody>
      </p:sp>
    </p:spTree>
    <p:extLst>
      <p:ext uri="{BB962C8B-B14F-4D97-AF65-F5344CB8AC3E}">
        <p14:creationId xmlns:p14="http://schemas.microsoft.com/office/powerpoint/2010/main" val="21045881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D57E77-622E-448B-A94C-098E4AC55290}"/>
              </a:ext>
            </a:extLst>
          </p:cNvPr>
          <p:cNvSpPr>
            <a:spLocks noGrp="1"/>
          </p:cNvSpPr>
          <p:nvPr>
            <p:ph type="title"/>
          </p:nvPr>
        </p:nvSpPr>
        <p:spPr>
          <a:xfrm>
            <a:off x="838200" y="365125"/>
            <a:ext cx="10515600" cy="594245"/>
          </a:xfrm>
        </p:spPr>
        <p:txBody>
          <a:bodyPr>
            <a:normAutofit fontScale="90000"/>
          </a:bodyPr>
          <a:lstStyle/>
          <a:p>
            <a:r>
              <a:rPr kumimoji="0" lang="en-US" sz="44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ED0B2503-FC74-44F4-A58E-5DAB64BB2FD0}"/>
              </a:ext>
            </a:extLst>
          </p:cNvPr>
          <p:cNvSpPr>
            <a:spLocks noGrp="1"/>
          </p:cNvSpPr>
          <p:nvPr>
            <p:ph idx="1"/>
          </p:nvPr>
        </p:nvSpPr>
        <p:spPr>
          <a:xfrm>
            <a:off x="838200" y="1094282"/>
            <a:ext cx="10515600" cy="5531370"/>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In most circumstances, the safest method by which to correct a potassium deficit is </a:t>
            </a:r>
            <a:r>
              <a:rPr lang="en-US" sz="2800" b="1" i="0" u="none" strike="noStrike" baseline="0" dirty="0">
                <a:latin typeface="Times New Roman" panose="02020603050405020304" pitchFamily="18" charset="0"/>
                <a:cs typeface="Times New Roman" panose="02020603050405020304" pitchFamily="18" charset="0"/>
              </a:rPr>
              <a:t>oral replacement </a:t>
            </a:r>
            <a:r>
              <a:rPr lang="en-US" sz="2800" b="0" i="0" u="none" strike="noStrike" baseline="0" dirty="0">
                <a:latin typeface="Times New Roman" panose="02020603050405020304" pitchFamily="18" charset="0"/>
                <a:cs typeface="Times New Roman" panose="02020603050405020304" pitchFamily="18" charset="0"/>
              </a:rPr>
              <a:t>over several days using a </a:t>
            </a:r>
            <a:r>
              <a:rPr lang="en-US" sz="2800" b="1" i="0" u="none" strike="noStrike" baseline="0" dirty="0">
                <a:latin typeface="Times New Roman" panose="02020603050405020304" pitchFamily="18" charset="0"/>
                <a:cs typeface="Times New Roman" panose="02020603050405020304" pitchFamily="18" charset="0"/>
              </a:rPr>
              <a:t>potassium chloride </a:t>
            </a:r>
            <a:r>
              <a:rPr lang="fr-FR" sz="2800" b="0" i="0" u="none" strike="noStrike" baseline="0" dirty="0">
                <a:latin typeface="Times New Roman" panose="02020603050405020304" pitchFamily="18" charset="0"/>
                <a:cs typeface="Times New Roman" panose="02020603050405020304" pitchFamily="18" charset="0"/>
              </a:rPr>
              <a:t>solution (60–80 mEq/d). </a:t>
            </a:r>
          </a:p>
          <a:p>
            <a:pPr algn="l">
              <a:lnSpc>
                <a:spcPct val="100000"/>
              </a:lnSpc>
            </a:pPr>
            <a:r>
              <a:rPr lang="fr-FR" sz="2800" b="0" i="0" u="none" strike="noStrike" baseline="0" dirty="0">
                <a:latin typeface="Times New Roman" panose="02020603050405020304" pitchFamily="18" charset="0"/>
                <a:cs typeface="Times New Roman" panose="02020603050405020304" pitchFamily="18" charset="0"/>
              </a:rPr>
              <a:t>Intervenus</a:t>
            </a:r>
            <a:r>
              <a:rPr lang="fr-FR"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replacement of potassium chloride is usually be reserved for patients with, or at risk for, significant cardiac manifestations or severe muscle weakness.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The goal of intravenous therapy is to remove the patient from immediate danger, not to correct the entire potassium deficit.</a:t>
            </a:r>
          </a:p>
        </p:txBody>
      </p:sp>
      <p:sp>
        <p:nvSpPr>
          <p:cNvPr id="4" name="Date Placeholder 3">
            <a:extLst>
              <a:ext uri="{FF2B5EF4-FFF2-40B4-BE49-F238E27FC236}">
                <a16:creationId xmlns:a16="http://schemas.microsoft.com/office/drawing/2014/main" xmlns="" id="{A3E2EDF0-4F12-A453-94C1-C9F53E793922}"/>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CAEC413E-0431-C7A3-7B33-B8E13AF81143}"/>
              </a:ext>
            </a:extLst>
          </p:cNvPr>
          <p:cNvSpPr>
            <a:spLocks noGrp="1"/>
          </p:cNvSpPr>
          <p:nvPr>
            <p:ph type="sldNum" sz="quarter" idx="12"/>
          </p:nvPr>
        </p:nvSpPr>
        <p:spPr/>
        <p:txBody>
          <a:bodyPr/>
          <a:lstStyle/>
          <a:p>
            <a:fld id="{CB22993B-EEE5-4EB1-BEE5-4FFFA489F796}" type="slidenum">
              <a:rPr lang="en-US" smtClean="0"/>
              <a:t>47</a:t>
            </a:fld>
            <a:endParaRPr lang="en-US"/>
          </a:p>
        </p:txBody>
      </p:sp>
    </p:spTree>
    <p:extLst>
      <p:ext uri="{BB962C8B-B14F-4D97-AF65-F5344CB8AC3E}">
        <p14:creationId xmlns:p14="http://schemas.microsoft.com/office/powerpoint/2010/main" val="19273802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106C2A-7E21-4529-8796-6C7ED9C2D529}"/>
              </a:ext>
            </a:extLst>
          </p:cNvPr>
          <p:cNvSpPr>
            <a:spLocks noGrp="1"/>
          </p:cNvSpPr>
          <p:nvPr>
            <p:ph type="title"/>
          </p:nvPr>
        </p:nvSpPr>
        <p:spPr>
          <a:xfrm>
            <a:off x="838200" y="365126"/>
            <a:ext cx="10515600" cy="639216"/>
          </a:xfrm>
        </p:spPr>
        <p:txBody>
          <a:bodyPr>
            <a:normAutofit fontScale="90000"/>
          </a:bodyPr>
          <a:lstStyle/>
          <a:p>
            <a:r>
              <a:rPr kumimoji="0" lang="en-US" sz="44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ADEE777C-88BC-453A-8E21-2D12ADE78575}"/>
              </a:ext>
            </a:extLst>
          </p:cNvPr>
          <p:cNvSpPr>
            <a:spLocks noGrp="1"/>
          </p:cNvSpPr>
          <p:nvPr>
            <p:ph idx="1"/>
          </p:nvPr>
        </p:nvSpPr>
        <p:spPr>
          <a:xfrm>
            <a:off x="838200" y="1169233"/>
            <a:ext cx="10515600" cy="5486400"/>
          </a:xfrm>
        </p:spPr>
        <p:txBody>
          <a:bodyPr/>
          <a:lstStyle/>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Because of </a:t>
            </a:r>
            <a:r>
              <a:rPr kumimoji="0" lang="fr-FR"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potassium’s</a:t>
            </a:r>
            <a:r>
              <a:rPr kumimoji="0" lang="fr-FR"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irritative </a:t>
            </a:r>
            <a:r>
              <a:rPr kumimoji="0" lang="fr-FR"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effect</a:t>
            </a:r>
            <a:r>
              <a:rPr kumimoji="0" lang="fr-FR"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on </a:t>
            </a:r>
            <a:r>
              <a:rPr kumimoji="0" lang="fr-FR"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pheripheral</a:t>
            </a:r>
            <a:r>
              <a:rPr kumimoji="0" lang="fr-FR"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fr-FR"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veins</a:t>
            </a:r>
            <a:r>
              <a:rPr kumimoji="0" lang="fr-FR"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peripheral intravenous replacement should not exceed 8 </a:t>
            </a:r>
            <a:r>
              <a:rPr kumimoji="0" lang="en-US" sz="2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mEq</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a:t>
            </a:r>
          </a:p>
          <a:p>
            <a:pPr algn="l"/>
            <a:r>
              <a:rPr lang="en-US" sz="2800" b="0" i="0" u="none" strike="noStrike" baseline="0" dirty="0">
                <a:solidFill>
                  <a:srgbClr val="FF0000"/>
                </a:solidFill>
                <a:latin typeface="Times New Roman" panose="02020603050405020304" pitchFamily="18" charset="0"/>
                <a:cs typeface="Times New Roman" panose="02020603050405020304" pitchFamily="18" charset="0"/>
              </a:rPr>
              <a:t>Potassium solutions should never be given as intravenous push and should be administered as a dilute solution.</a:t>
            </a:r>
          </a:p>
          <a:p>
            <a:pPr algn="l"/>
            <a:r>
              <a:rPr lang="en-US" sz="2800" b="0" i="0" u="none" strike="noStrike" baseline="0" dirty="0">
                <a:latin typeface="Times New Roman" panose="02020603050405020304" pitchFamily="18" charset="0"/>
                <a:cs typeface="Times New Roman" panose="02020603050405020304" pitchFamily="18" charset="0"/>
              </a:rPr>
              <a:t>Dextrose-containing solutions should generally be avoided because the resulting hyperglycemia and secondary insulin secretion may actually worsen the low plasma [K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a:t>
            </a:r>
          </a:p>
          <a:p>
            <a:pPr algn="l"/>
            <a:r>
              <a:rPr lang="en-US" sz="2800" b="0" i="0" u="none" strike="noStrike" baseline="0" dirty="0">
                <a:latin typeface="Times New Roman" panose="02020603050405020304" pitchFamily="18" charset="0"/>
                <a:cs typeface="Times New Roman" panose="02020603050405020304" pitchFamily="18" charset="0"/>
              </a:rPr>
              <a:t>More rapid intravenous potassium replacement (10–20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/h) requires central venous administration and close monitoring of the ECG. </a:t>
            </a:r>
          </a:p>
          <a:p>
            <a:pPr algn="l"/>
            <a:r>
              <a:rPr lang="en-US" sz="2800" b="0" i="0" u="none" strike="noStrike" baseline="0" dirty="0">
                <a:latin typeface="Times New Roman" panose="02020603050405020304" pitchFamily="18" charset="0"/>
                <a:cs typeface="Times New Roman" panose="02020603050405020304" pitchFamily="18" charset="0"/>
              </a:rPr>
              <a:t>Intravenous replacement should generally not exceed 240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/d</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A71F4EE3-F44A-138C-E3A3-00AB88BAE5FE}"/>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DAE38036-8954-E0E6-9771-033F6F5E47E2}"/>
              </a:ext>
            </a:extLst>
          </p:cNvPr>
          <p:cNvSpPr>
            <a:spLocks noGrp="1"/>
          </p:cNvSpPr>
          <p:nvPr>
            <p:ph type="sldNum" sz="quarter" idx="12"/>
          </p:nvPr>
        </p:nvSpPr>
        <p:spPr/>
        <p:txBody>
          <a:bodyPr/>
          <a:lstStyle/>
          <a:p>
            <a:fld id="{CB22993B-EEE5-4EB1-BEE5-4FFFA489F796}" type="slidenum">
              <a:rPr lang="en-US" smtClean="0"/>
              <a:t>48</a:t>
            </a:fld>
            <a:endParaRPr lang="en-US"/>
          </a:p>
        </p:txBody>
      </p:sp>
    </p:spTree>
    <p:extLst>
      <p:ext uri="{BB962C8B-B14F-4D97-AF65-F5344CB8AC3E}">
        <p14:creationId xmlns:p14="http://schemas.microsoft.com/office/powerpoint/2010/main" val="29307868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524BBC-8F48-4A9F-A76A-E11891421AD0}"/>
              </a:ext>
            </a:extLst>
          </p:cNvPr>
          <p:cNvSpPr>
            <a:spLocks noGrp="1"/>
          </p:cNvSpPr>
          <p:nvPr>
            <p:ph type="title"/>
          </p:nvPr>
        </p:nvSpPr>
        <p:spPr>
          <a:xfrm>
            <a:off x="838200" y="365126"/>
            <a:ext cx="10515600" cy="789117"/>
          </a:xfrm>
        </p:spPr>
        <p:txBody>
          <a:bodyPr/>
          <a:lstStyle/>
          <a:p>
            <a:r>
              <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C9482A77-1B72-4B25-B91D-3D7F4500CDC5}"/>
              </a:ext>
            </a:extLst>
          </p:cNvPr>
          <p:cNvSpPr>
            <a:spLocks noGrp="1"/>
          </p:cNvSpPr>
          <p:nvPr>
            <p:ph idx="1"/>
          </p:nvPr>
        </p:nvSpPr>
        <p:spPr>
          <a:xfrm>
            <a:off x="838200" y="1409074"/>
            <a:ext cx="10515600" cy="5448925"/>
          </a:xfrm>
        </p:spPr>
        <p:txBody>
          <a:bodyPr/>
          <a:lstStyle/>
          <a:p>
            <a:pPr algn="l"/>
            <a:r>
              <a:rPr lang="en-US" sz="2800" b="1" i="0" u="none" strike="noStrike" baseline="0" dirty="0">
                <a:latin typeface="Times New Roman" panose="02020603050405020304" pitchFamily="18" charset="0"/>
                <a:cs typeface="Times New Roman" panose="02020603050405020304" pitchFamily="18" charset="0"/>
              </a:rPr>
              <a:t>Potassium chloride </a:t>
            </a:r>
            <a:r>
              <a:rPr lang="en-US" sz="2800" b="0" i="0" u="none" strike="noStrike" baseline="0" dirty="0">
                <a:latin typeface="Times New Roman" panose="02020603050405020304" pitchFamily="18" charset="0"/>
                <a:cs typeface="Times New Roman" panose="02020603050405020304" pitchFamily="18" charset="0"/>
              </a:rPr>
              <a:t>is the preferred potassium salt when a metabolic alkalosis is also present because it also corrects the chloride deficit.</a:t>
            </a:r>
          </a:p>
          <a:p>
            <a:pPr algn="l"/>
            <a:r>
              <a:rPr lang="en-US" sz="2800" b="1" i="0" u="none" strike="noStrike" baseline="0" dirty="0">
                <a:latin typeface="Times New Roman" panose="02020603050405020304" pitchFamily="18" charset="0"/>
                <a:cs typeface="Times New Roman" panose="02020603050405020304" pitchFamily="18" charset="0"/>
              </a:rPr>
              <a:t>Potassium bicarbonate </a:t>
            </a:r>
            <a:r>
              <a:rPr lang="en-US" sz="2800" b="0" i="0" u="none" strike="noStrike" baseline="0" dirty="0">
                <a:latin typeface="Times New Roman" panose="02020603050405020304" pitchFamily="18" charset="0"/>
                <a:cs typeface="Times New Roman" panose="02020603050405020304" pitchFamily="18" charset="0"/>
              </a:rPr>
              <a:t>is preferable for patients with metabolic acidosis. </a:t>
            </a:r>
          </a:p>
          <a:p>
            <a:pPr algn="l"/>
            <a:r>
              <a:rPr lang="en-US" sz="2800" b="1" i="0" u="none" strike="noStrike" baseline="0" dirty="0">
                <a:latin typeface="Times New Roman" panose="02020603050405020304" pitchFamily="18" charset="0"/>
                <a:cs typeface="Times New Roman" panose="02020603050405020304" pitchFamily="18" charset="0"/>
              </a:rPr>
              <a:t>Potassium phosphate </a:t>
            </a:r>
            <a:r>
              <a:rPr lang="en-US" sz="2800" b="0" i="0" u="none" strike="noStrike" baseline="0" dirty="0">
                <a:latin typeface="Times New Roman" panose="02020603050405020304" pitchFamily="18" charset="0"/>
                <a:cs typeface="Times New Roman" panose="02020603050405020304" pitchFamily="18" charset="0"/>
              </a:rPr>
              <a:t>is a suitable alternative with concomitant hypophosphatemia (diabetic ketoacidosis).</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2AD686C2-0402-D1C3-0B2D-EAC1C8A33938}"/>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D7A3695E-2638-0E61-1675-2212DF7C6A69}"/>
              </a:ext>
            </a:extLst>
          </p:cNvPr>
          <p:cNvSpPr>
            <a:spLocks noGrp="1"/>
          </p:cNvSpPr>
          <p:nvPr>
            <p:ph type="sldNum" sz="quarter" idx="12"/>
          </p:nvPr>
        </p:nvSpPr>
        <p:spPr/>
        <p:txBody>
          <a:bodyPr/>
          <a:lstStyle/>
          <a:p>
            <a:fld id="{CB22993B-EEE5-4EB1-BEE5-4FFFA489F796}" type="slidenum">
              <a:rPr lang="en-US" smtClean="0"/>
              <a:t>49</a:t>
            </a:fld>
            <a:endParaRPr lang="en-US"/>
          </a:p>
        </p:txBody>
      </p:sp>
    </p:spTree>
    <p:extLst>
      <p:ext uri="{BB962C8B-B14F-4D97-AF65-F5344CB8AC3E}">
        <p14:creationId xmlns:p14="http://schemas.microsoft.com/office/powerpoint/2010/main" val="14306002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B70CBF-98D5-4462-A0F8-2B0BC15223D0}"/>
              </a:ext>
            </a:extLst>
          </p:cNvPr>
          <p:cNvSpPr>
            <a:spLocks noGrp="1"/>
          </p:cNvSpPr>
          <p:nvPr>
            <p:ph type="title"/>
          </p:nvPr>
        </p:nvSpPr>
        <p:spPr>
          <a:xfrm>
            <a:off x="838200" y="365126"/>
            <a:ext cx="10515600" cy="684186"/>
          </a:xfrm>
        </p:spPr>
        <p:txBody>
          <a:bodyPr>
            <a:normAutofit/>
          </a:bodyPr>
          <a:lstStyle/>
          <a:p>
            <a:r>
              <a:rPr lang="en-US" sz="3600" i="0" u="none" strike="noStrike" baseline="0" dirty="0">
                <a:latin typeface="MyriadPro-Bold"/>
              </a:rPr>
              <a:t>  </a:t>
            </a:r>
            <a:r>
              <a:rPr lang="en-US" sz="3600" i="0" u="none" strike="noStrike" baseline="0" dirty="0">
                <a:latin typeface="Times New Roman" panose="02020603050405020304" pitchFamily="18" charset="0"/>
                <a:cs typeface="Times New Roman" panose="02020603050405020304" pitchFamily="18" charset="0"/>
              </a:rPr>
              <a:t>Anesthetic Considerations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4E231CB4-C2BB-485D-8190-C56745EC4CA6}"/>
              </a:ext>
            </a:extLst>
          </p:cNvPr>
          <p:cNvSpPr>
            <a:spLocks noGrp="1"/>
          </p:cNvSpPr>
          <p:nvPr>
            <p:ph idx="1"/>
          </p:nvPr>
        </p:nvSpPr>
        <p:spPr>
          <a:xfrm>
            <a:off x="838200" y="1259174"/>
            <a:ext cx="10515600" cy="5381469"/>
          </a:xfrm>
        </p:spPr>
        <p:txBody>
          <a:bodyPr>
            <a:normAutofit/>
          </a:bodyPr>
          <a:lstStyle/>
          <a:p>
            <a:pPr algn="l"/>
            <a:r>
              <a:rPr lang="en-US" sz="2800" b="0" i="0" u="none" strike="noStrike" baseline="0" dirty="0">
                <a:latin typeface="Times New Roman" panose="02020603050405020304" pitchFamily="18" charset="0"/>
                <a:cs typeface="Times New Roman" panose="02020603050405020304" pitchFamily="18" charset="0"/>
              </a:rPr>
              <a:t>The decision to proceed with elective surgery is often based on the rate at which the hypokalemia developed as well as the presence or absence of secondary organ dysfunction. </a:t>
            </a:r>
          </a:p>
          <a:p>
            <a:pPr algn="l"/>
            <a:r>
              <a:rPr lang="en-US" sz="2800" b="0" i="0" u="none" strike="noStrike" baseline="0" dirty="0">
                <a:latin typeface="Times New Roman" panose="02020603050405020304" pitchFamily="18" charset="0"/>
                <a:cs typeface="Times New Roman" panose="02020603050405020304" pitchFamily="18" charset="0"/>
              </a:rPr>
              <a:t>In general, chronic mild hypokalemia (3–3.5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 without ECG changes does not substantially increase anesthetic risk. </a:t>
            </a:r>
          </a:p>
          <a:p>
            <a:pPr algn="l"/>
            <a:r>
              <a:rPr lang="en-US" sz="2800" b="0" i="0" u="none" strike="noStrike" baseline="0" dirty="0">
                <a:latin typeface="Times New Roman" panose="02020603050405020304" pitchFamily="18" charset="0"/>
                <a:cs typeface="Times New Roman" panose="02020603050405020304" pitchFamily="18" charset="0"/>
              </a:rPr>
              <a:t>The latter may not apply to patients receiving </a:t>
            </a:r>
            <a:r>
              <a:rPr lang="en-US" sz="2800" b="1" i="0" u="none" strike="noStrike" baseline="0" dirty="0">
                <a:latin typeface="Times New Roman" panose="02020603050405020304" pitchFamily="18" charset="0"/>
                <a:cs typeface="Times New Roman" panose="02020603050405020304" pitchFamily="18" charset="0"/>
              </a:rPr>
              <a:t>digoxin</a:t>
            </a:r>
            <a:r>
              <a:rPr lang="en-US" sz="2800" b="0" i="0" u="none" strike="noStrike" baseline="0" dirty="0">
                <a:latin typeface="Times New Roman" panose="02020603050405020304" pitchFamily="18" charset="0"/>
                <a:cs typeface="Times New Roman" panose="02020603050405020304" pitchFamily="18" charset="0"/>
              </a:rPr>
              <a:t>, who may be at increased risk of developing </a:t>
            </a:r>
            <a:r>
              <a:rPr lang="en-US" sz="2800" b="1" i="0" u="none" strike="noStrike" baseline="0" dirty="0">
                <a:latin typeface="Times New Roman" panose="02020603050405020304" pitchFamily="18" charset="0"/>
                <a:cs typeface="Times New Roman" panose="02020603050405020304" pitchFamily="18" charset="0"/>
              </a:rPr>
              <a:t>digoxin toxicity </a:t>
            </a:r>
            <a:r>
              <a:rPr lang="en-US" sz="2800" b="0" i="0" u="none" strike="noStrike" baseline="0" dirty="0">
                <a:latin typeface="Times New Roman" panose="02020603050405020304" pitchFamily="18" charset="0"/>
                <a:cs typeface="Times New Roman" panose="02020603050405020304" pitchFamily="18" charset="0"/>
              </a:rPr>
              <a:t>from the </a:t>
            </a:r>
            <a:r>
              <a:rPr lang="en-US" sz="2800" b="1" i="0" u="none" strike="noStrike" baseline="0" dirty="0">
                <a:latin typeface="Times New Roman" panose="02020603050405020304" pitchFamily="18" charset="0"/>
                <a:cs typeface="Times New Roman" panose="02020603050405020304" pitchFamily="18" charset="0"/>
              </a:rPr>
              <a:t>hypokalemia</a:t>
            </a:r>
            <a:r>
              <a:rPr lang="en-US" sz="2800" b="0" i="0" u="none" strike="noStrike" baseline="0" dirty="0">
                <a:latin typeface="Times New Roman" panose="02020603050405020304" pitchFamily="18" charset="0"/>
                <a:cs typeface="Times New Roman" panose="02020603050405020304" pitchFamily="18" charset="0"/>
              </a:rPr>
              <a:t>; plasma [K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values above 4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 are desirable in such patients.</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6BA72996-8238-C725-D54A-F5E5253275E2}"/>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977851A3-50A2-6EAD-8D6D-A31DBD91721A}"/>
              </a:ext>
            </a:extLst>
          </p:cNvPr>
          <p:cNvSpPr>
            <a:spLocks noGrp="1"/>
          </p:cNvSpPr>
          <p:nvPr>
            <p:ph type="sldNum" sz="quarter" idx="12"/>
          </p:nvPr>
        </p:nvSpPr>
        <p:spPr/>
        <p:txBody>
          <a:bodyPr/>
          <a:lstStyle/>
          <a:p>
            <a:fld id="{CB22993B-EEE5-4EB1-BEE5-4FFFA489F796}" type="slidenum">
              <a:rPr lang="en-US" smtClean="0"/>
              <a:t>50</a:t>
            </a:fld>
            <a:endParaRPr lang="en-US"/>
          </a:p>
        </p:txBody>
      </p:sp>
    </p:spTree>
    <p:extLst>
      <p:ext uri="{BB962C8B-B14F-4D97-AF65-F5344CB8AC3E}">
        <p14:creationId xmlns:p14="http://schemas.microsoft.com/office/powerpoint/2010/main" val="42783566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3ACF3B-4035-4B25-A101-099C2B4BA704}"/>
              </a:ext>
            </a:extLst>
          </p:cNvPr>
          <p:cNvSpPr>
            <a:spLocks noGrp="1"/>
          </p:cNvSpPr>
          <p:nvPr>
            <p:ph type="title"/>
          </p:nvPr>
        </p:nvSpPr>
        <p:spPr>
          <a:xfrm>
            <a:off x="838200" y="365126"/>
            <a:ext cx="10515600" cy="834088"/>
          </a:xfrm>
        </p:spPr>
        <p:txBody>
          <a:bodyPr/>
          <a:lstStyle/>
          <a:p>
            <a:r>
              <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BA14E9DF-83DC-4B16-8635-F72CB4DEF44C}"/>
              </a:ext>
            </a:extLst>
          </p:cNvPr>
          <p:cNvSpPr>
            <a:spLocks noGrp="1"/>
          </p:cNvSpPr>
          <p:nvPr>
            <p:ph idx="1"/>
          </p:nvPr>
        </p:nvSpPr>
        <p:spPr>
          <a:xfrm>
            <a:off x="838200" y="1364105"/>
            <a:ext cx="10515600" cy="4812858"/>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The intraoperative management of hypokalemia requires vigilant ECG monitoring. </a:t>
            </a:r>
          </a:p>
          <a:p>
            <a:pPr algn="l"/>
            <a:r>
              <a:rPr lang="en-US" sz="2800" b="0" i="0" u="none" strike="noStrike" baseline="0" dirty="0">
                <a:latin typeface="Times New Roman" panose="02020603050405020304" pitchFamily="18" charset="0"/>
                <a:cs typeface="Times New Roman" panose="02020603050405020304" pitchFamily="18" charset="0"/>
              </a:rPr>
              <a:t>Glucose-free intravenous solutions should be used and hyperventilation avoided to prevent further decreases in plasma [K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a:t>
            </a:r>
          </a:p>
          <a:p>
            <a:pPr algn="l"/>
            <a:r>
              <a:rPr lang="en-US" sz="2800" b="0" i="0" u="none" strike="noStrike" baseline="0" dirty="0">
                <a:latin typeface="Times New Roman" panose="02020603050405020304" pitchFamily="18" charset="0"/>
                <a:cs typeface="Times New Roman" panose="02020603050405020304" pitchFamily="18" charset="0"/>
              </a:rPr>
              <a:t>Increased sensitivity to neuromuscular blockers (NMBs) may be seen; therefore dosages of NMBs should be reduced 25–50%.</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DC0B9506-B5BF-DEB1-9DCE-C31D9F0BDC9D}"/>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54C7F0AA-4F06-9A5F-CAA5-E094E4068369}"/>
              </a:ext>
            </a:extLst>
          </p:cNvPr>
          <p:cNvSpPr>
            <a:spLocks noGrp="1"/>
          </p:cNvSpPr>
          <p:nvPr>
            <p:ph type="sldNum" sz="quarter" idx="12"/>
          </p:nvPr>
        </p:nvSpPr>
        <p:spPr/>
        <p:txBody>
          <a:bodyPr/>
          <a:lstStyle/>
          <a:p>
            <a:fld id="{CB22993B-EEE5-4EB1-BEE5-4FFFA489F796}" type="slidenum">
              <a:rPr lang="en-US" smtClean="0"/>
              <a:t>51</a:t>
            </a:fld>
            <a:endParaRPr lang="en-US"/>
          </a:p>
        </p:txBody>
      </p:sp>
    </p:spTree>
    <p:extLst>
      <p:ext uri="{BB962C8B-B14F-4D97-AF65-F5344CB8AC3E}">
        <p14:creationId xmlns:p14="http://schemas.microsoft.com/office/powerpoint/2010/main" val="25696183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21FA05-9072-4212-8779-8C54AD39AF2E}"/>
              </a:ext>
            </a:extLst>
          </p:cNvPr>
          <p:cNvSpPr>
            <a:spLocks noGrp="1"/>
          </p:cNvSpPr>
          <p:nvPr>
            <p:ph type="title"/>
          </p:nvPr>
        </p:nvSpPr>
        <p:spPr>
          <a:xfrm>
            <a:off x="838200" y="290175"/>
            <a:ext cx="10515600" cy="624226"/>
          </a:xfrm>
        </p:spPr>
        <p:txBody>
          <a:bodyPr>
            <a:normAutofit fontScale="90000"/>
          </a:bodyPr>
          <a:lstStyle/>
          <a:p>
            <a:r>
              <a:rPr lang="en-US" sz="4400" i="0" u="none" strike="noStrike" baseline="0" dirty="0">
                <a:latin typeface="MyriadPro-Black"/>
              </a:rPr>
              <a:t>      </a:t>
            </a:r>
            <a:r>
              <a:rPr lang="en-US" sz="4000" i="0" u="none" strike="noStrike" baseline="0" dirty="0">
                <a:latin typeface="Times New Roman" panose="02020603050405020304" pitchFamily="18" charset="0"/>
                <a:cs typeface="Times New Roman" panose="02020603050405020304" pitchFamily="18" charset="0"/>
              </a:rPr>
              <a:t>Hyperkalemia</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5EF3CC7-69F7-47C5-A610-154D0E98BDCE}"/>
              </a:ext>
            </a:extLst>
          </p:cNvPr>
          <p:cNvSpPr>
            <a:spLocks noGrp="1"/>
          </p:cNvSpPr>
          <p:nvPr>
            <p:ph idx="1"/>
          </p:nvPr>
        </p:nvSpPr>
        <p:spPr>
          <a:xfrm>
            <a:off x="838200" y="1049311"/>
            <a:ext cx="10515600" cy="5518514"/>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Hyperkalemia exists when plasma [K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exceeds 5.5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a:t>
            </a:r>
          </a:p>
          <a:p>
            <a:pPr algn="l"/>
            <a:r>
              <a:rPr lang="en-US" sz="2800" b="0" i="0" u="none" strike="noStrike" baseline="0" dirty="0">
                <a:latin typeface="Times New Roman" panose="02020603050405020304" pitchFamily="18" charset="0"/>
                <a:cs typeface="Times New Roman" panose="02020603050405020304" pitchFamily="18" charset="0"/>
              </a:rPr>
              <a:t>When potassium intake is increased slowly, the kidneys can excrete as much as 500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 of K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per day.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Hyperkalemia can result from </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An intercompartmental shift of potassium ions</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Decreased urinary excretion of potassium </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An increased potassium intake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Measurements of plasma potassium concentration can be spuriously elevated if red cells hemolyze in a blood specimen.</a:t>
            </a:r>
          </a:p>
          <a:p>
            <a:pPr algn="l"/>
            <a:endParaRPr lang="en-US" sz="2800" b="0" i="0" u="none" strike="noStrike" baseline="0" dirty="0">
              <a:latin typeface="Times New Roman" panose="02020603050405020304" pitchFamily="18" charset="0"/>
              <a:cs typeface="Times New Roman" panose="02020603050405020304" pitchFamily="18" charset="0"/>
            </a:endParaRPr>
          </a:p>
          <a:p>
            <a:pPr algn="l"/>
            <a:endParaRPr lang="en-US" sz="2800" b="0" i="0" u="none" strike="noStrike" baseline="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739FF75F-377E-497F-E5CB-3132883A1FDC}"/>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C6F52484-B8A6-5883-46DA-5879F92511EB}"/>
              </a:ext>
            </a:extLst>
          </p:cNvPr>
          <p:cNvSpPr>
            <a:spLocks noGrp="1"/>
          </p:cNvSpPr>
          <p:nvPr>
            <p:ph type="sldNum" sz="quarter" idx="12"/>
          </p:nvPr>
        </p:nvSpPr>
        <p:spPr/>
        <p:txBody>
          <a:bodyPr/>
          <a:lstStyle/>
          <a:p>
            <a:fld id="{CB22993B-EEE5-4EB1-BEE5-4FFFA489F796}" type="slidenum">
              <a:rPr lang="en-US" smtClean="0"/>
              <a:t>52</a:t>
            </a:fld>
            <a:endParaRPr lang="en-US"/>
          </a:p>
        </p:txBody>
      </p:sp>
    </p:spTree>
    <p:extLst>
      <p:ext uri="{BB962C8B-B14F-4D97-AF65-F5344CB8AC3E}">
        <p14:creationId xmlns:p14="http://schemas.microsoft.com/office/powerpoint/2010/main" val="40409901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7A66E2-DC51-478B-90D6-983543719DC0}"/>
              </a:ext>
            </a:extLst>
          </p:cNvPr>
          <p:cNvSpPr>
            <a:spLocks noGrp="1"/>
          </p:cNvSpPr>
          <p:nvPr>
            <p:ph type="title"/>
          </p:nvPr>
        </p:nvSpPr>
        <p:spPr>
          <a:xfrm>
            <a:off x="838200" y="127418"/>
            <a:ext cx="10515600" cy="532149"/>
          </a:xfrm>
        </p:spPr>
        <p:txBody>
          <a:bodyPr>
            <a:noAutofit/>
          </a:bodyPr>
          <a:lstStyle/>
          <a:p>
            <a:r>
              <a:rPr lang="en-US" sz="3200" i="0" u="none" strike="noStrike" baseline="0" dirty="0">
                <a:latin typeface="Times New Roman" panose="02020603050405020304" pitchFamily="18" charset="0"/>
                <a:cs typeface="Times New Roman" panose="02020603050405020304" pitchFamily="18" charset="0"/>
              </a:rPr>
              <a:t>Hyperkalemia due to Extracellular Movement of Potassium</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B06F67DD-3BC2-4FB7-BCD5-BFC59FAC35D2}"/>
              </a:ext>
            </a:extLst>
          </p:cNvPr>
          <p:cNvSpPr>
            <a:spLocks noGrp="1"/>
          </p:cNvSpPr>
          <p:nvPr>
            <p:ph idx="1"/>
          </p:nvPr>
        </p:nvSpPr>
        <p:spPr>
          <a:xfrm>
            <a:off x="838200" y="824460"/>
            <a:ext cx="10515600" cy="5906124"/>
          </a:xfrm>
        </p:spPr>
        <p:txBody>
          <a:bodyPr>
            <a:normAutofit/>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Movement of K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out of cells can be seen with acidosis, cell lysis following chemotherapy, hemolysis rhabdomyolysis, massive tissue trauma, hyperosmolality, digitalis overdoses, during episodes of hyperkalemic periodic paralysis, and with administration of succinylcholine, and </a:t>
            </a:r>
            <a:r>
              <a:rPr lang="en-US" dirty="0">
                <a:latin typeface="Times New Roman" panose="02020603050405020304" pitchFamily="18" charset="0"/>
                <a:cs typeface="Times New Roman" panose="02020603050405020304" pitchFamily="18" charset="0"/>
              </a:rPr>
              <a:t>B</a:t>
            </a:r>
            <a:r>
              <a:rPr lang="en-US" sz="2800" b="0" i="0" u="none" strike="noStrike" baseline="0" dirty="0">
                <a:latin typeface="Times New Roman" panose="02020603050405020304" pitchFamily="18" charset="0"/>
                <a:cs typeface="Times New Roman" panose="02020603050405020304" pitchFamily="18" charset="0"/>
              </a:rPr>
              <a:t>-adrenergic blockers. </a:t>
            </a:r>
          </a:p>
          <a:p>
            <a:pPr algn="l">
              <a:lnSpc>
                <a:spcPct val="100000"/>
              </a:lnSpc>
            </a:pPr>
            <a:endParaRPr lang="en-US" sz="2800" b="0" i="0" u="none" strike="noStrike" baseline="0" dirty="0">
              <a:latin typeface="Times New Roman" panose="02020603050405020304" pitchFamily="18" charset="0"/>
              <a:cs typeface="Times New Roman" panose="02020603050405020304" pitchFamily="18" charset="0"/>
            </a:endParaRP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The average increase in plasma [K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of 0.5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 following </a:t>
            </a:r>
            <a:r>
              <a:rPr lang="en-US" sz="2800" b="1" i="0" u="none" strike="noStrike" baseline="0" dirty="0">
                <a:latin typeface="Times New Roman" panose="02020603050405020304" pitchFamily="18" charset="0"/>
                <a:cs typeface="Times New Roman" panose="02020603050405020304" pitchFamily="18" charset="0"/>
              </a:rPr>
              <a:t>succinylcholine</a:t>
            </a:r>
            <a:r>
              <a:rPr lang="en-US" sz="2800" b="0" i="0" u="none" strike="noStrike" baseline="0" dirty="0">
                <a:latin typeface="Times New Roman" panose="02020603050405020304" pitchFamily="18" charset="0"/>
                <a:cs typeface="Times New Roman" panose="02020603050405020304" pitchFamily="18" charset="0"/>
              </a:rPr>
              <a:t> administration can be exaggerated in patients with large burns or severe muscle trauma and in those with muscle denervation, and its use in these settings should be </a:t>
            </a:r>
            <a:r>
              <a:rPr lang="en-US" sz="2800" b="1" i="0" u="none" strike="noStrike" baseline="0" dirty="0">
                <a:latin typeface="Times New Roman" panose="02020603050405020304" pitchFamily="18" charset="0"/>
                <a:cs typeface="Times New Roman" panose="02020603050405020304" pitchFamily="18" charset="0"/>
              </a:rPr>
              <a:t>avoided</a:t>
            </a:r>
            <a:r>
              <a:rPr lang="en-US" sz="2800" b="0" i="0" u="none" strike="noStrike" baseline="0" dirty="0">
                <a:latin typeface="Times New Roman" panose="02020603050405020304" pitchFamily="18" charset="0"/>
                <a:cs typeface="Times New Roman" panose="02020603050405020304" pitchFamily="18" charset="0"/>
              </a:rPr>
              <a:t>. </a:t>
            </a:r>
          </a:p>
        </p:txBody>
      </p:sp>
      <p:sp>
        <p:nvSpPr>
          <p:cNvPr id="4" name="Date Placeholder 3">
            <a:extLst>
              <a:ext uri="{FF2B5EF4-FFF2-40B4-BE49-F238E27FC236}">
                <a16:creationId xmlns:a16="http://schemas.microsoft.com/office/drawing/2014/main" xmlns="" id="{814369B7-8DF5-7F49-64FA-9D0849816845}"/>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013A7721-B84A-9D86-C8D4-88A78A27A3ED}"/>
              </a:ext>
            </a:extLst>
          </p:cNvPr>
          <p:cNvSpPr>
            <a:spLocks noGrp="1"/>
          </p:cNvSpPr>
          <p:nvPr>
            <p:ph type="sldNum" sz="quarter" idx="12"/>
          </p:nvPr>
        </p:nvSpPr>
        <p:spPr/>
        <p:txBody>
          <a:bodyPr/>
          <a:lstStyle/>
          <a:p>
            <a:fld id="{CB22993B-EEE5-4EB1-BEE5-4FFFA489F796}" type="slidenum">
              <a:rPr lang="en-US" smtClean="0"/>
              <a:t>53</a:t>
            </a:fld>
            <a:endParaRPr lang="en-US"/>
          </a:p>
        </p:txBody>
      </p:sp>
    </p:spTree>
    <p:extLst>
      <p:ext uri="{BB962C8B-B14F-4D97-AF65-F5344CB8AC3E}">
        <p14:creationId xmlns:p14="http://schemas.microsoft.com/office/powerpoint/2010/main" val="17894410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58E705-C45C-4C86-BDB3-E3A4EDF7FF1F}"/>
              </a:ext>
            </a:extLst>
          </p:cNvPr>
          <p:cNvSpPr>
            <a:spLocks noGrp="1"/>
          </p:cNvSpPr>
          <p:nvPr>
            <p:ph type="title"/>
          </p:nvPr>
        </p:nvSpPr>
        <p:spPr>
          <a:xfrm>
            <a:off x="838200" y="365125"/>
            <a:ext cx="10515600" cy="564265"/>
          </a:xfrm>
        </p:spPr>
        <p:txBody>
          <a:bodyPr>
            <a:noAutofit/>
          </a:bodyPr>
          <a:lstStyle/>
          <a:p>
            <a:r>
              <a:rPr lang="en-US" sz="3200" i="0" u="none" strike="noStrike" baseline="0" dirty="0">
                <a:latin typeface="Times New Roman" panose="02020603050405020304" pitchFamily="18" charset="0"/>
                <a:cs typeface="Times New Roman" panose="02020603050405020304" pitchFamily="18" charset="0"/>
              </a:rPr>
              <a:t>Hyperkalemia due to Decreased Renal Excretion of Potassium</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EFAF255E-372F-4B07-A6F2-918ABD4C1D66}"/>
              </a:ext>
            </a:extLst>
          </p:cNvPr>
          <p:cNvSpPr>
            <a:spLocks noGrp="1"/>
          </p:cNvSpPr>
          <p:nvPr>
            <p:ph idx="1"/>
          </p:nvPr>
        </p:nvSpPr>
        <p:spPr>
          <a:xfrm>
            <a:off x="838200" y="1079292"/>
            <a:ext cx="10515600" cy="5097671"/>
          </a:xfrm>
        </p:spPr>
        <p:txBody>
          <a:bodyPr/>
          <a:lstStyle/>
          <a:p>
            <a:pPr algn="l"/>
            <a:endParaRPr lang="en-US" sz="2800" b="0" i="0" u="none" strike="noStrike" baseline="0" dirty="0">
              <a:latin typeface="Times New Roman" panose="02020603050405020304" pitchFamily="18" charset="0"/>
              <a:cs typeface="Times New Roman" panose="02020603050405020304" pitchFamily="18" charset="0"/>
            </a:endParaRPr>
          </a:p>
          <a:p>
            <a:pPr algn="l"/>
            <a:r>
              <a:rPr lang="en-US" sz="2800" b="0" i="0" u="none" strike="noStrike" baseline="0" dirty="0">
                <a:latin typeface="Times New Roman" panose="02020603050405020304" pitchFamily="18" charset="0"/>
                <a:cs typeface="Times New Roman" panose="02020603050405020304" pitchFamily="18" charset="0"/>
              </a:rPr>
              <a:t>Decreased renal excretion of potassium can result from </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Marked reductions in glomerular filtration</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Decreased aldosterone activity</a:t>
            </a:r>
            <a:r>
              <a:rPr lang="en-US" sz="280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or </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A defect in potassium secretion in the distal nephron.</a:t>
            </a:r>
            <a:endParaRPr lang="en-US"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11D41E8E-8636-3D2F-9A4F-6D3E46555EAE}"/>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03B99B12-07E7-8D7F-8D0F-9C90BF572472}"/>
              </a:ext>
            </a:extLst>
          </p:cNvPr>
          <p:cNvSpPr>
            <a:spLocks noGrp="1"/>
          </p:cNvSpPr>
          <p:nvPr>
            <p:ph type="sldNum" sz="quarter" idx="12"/>
          </p:nvPr>
        </p:nvSpPr>
        <p:spPr/>
        <p:txBody>
          <a:bodyPr/>
          <a:lstStyle/>
          <a:p>
            <a:fld id="{CB22993B-EEE5-4EB1-BEE5-4FFFA489F796}" type="slidenum">
              <a:rPr lang="en-US" smtClean="0"/>
              <a:t>54</a:t>
            </a:fld>
            <a:endParaRPr lang="en-US"/>
          </a:p>
        </p:txBody>
      </p:sp>
    </p:spTree>
    <p:extLst>
      <p:ext uri="{BB962C8B-B14F-4D97-AF65-F5344CB8AC3E}">
        <p14:creationId xmlns:p14="http://schemas.microsoft.com/office/powerpoint/2010/main" val="11673211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3FB9FB-3A08-4C8A-9138-7001500AD256}"/>
              </a:ext>
            </a:extLst>
          </p:cNvPr>
          <p:cNvSpPr>
            <a:spLocks noGrp="1"/>
          </p:cNvSpPr>
          <p:nvPr>
            <p:ph type="title"/>
          </p:nvPr>
        </p:nvSpPr>
        <p:spPr>
          <a:xfrm>
            <a:off x="838200" y="365125"/>
            <a:ext cx="10515600" cy="549275"/>
          </a:xfrm>
        </p:spPr>
        <p:txBody>
          <a:bodyPr>
            <a:normAutofit fontScale="90000"/>
          </a:bodyPr>
          <a:lstStyle/>
          <a:p>
            <a:r>
              <a:rPr lang="en-US" sz="4400" b="1" i="0" u="none" strike="noStrike" baseline="0" dirty="0">
                <a:latin typeface="MyriadPro-Bold"/>
              </a:rPr>
              <a:t>   </a:t>
            </a:r>
            <a:r>
              <a:rPr lang="en-US" sz="4400" i="0" u="none" strike="noStrike" baseline="0" dirty="0">
                <a:latin typeface="Times New Roman" panose="02020603050405020304" pitchFamily="18" charset="0"/>
                <a:cs typeface="Times New Roman" panose="02020603050405020304" pitchFamily="18" charset="0"/>
              </a:rPr>
              <a:t>Causes of hyperkalemia</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6D12EAAF-1AF5-4745-9A0C-1DF26BDE4980}"/>
              </a:ext>
            </a:extLst>
          </p:cNvPr>
          <p:cNvSpPr>
            <a:spLocks noGrp="1"/>
          </p:cNvSpPr>
          <p:nvPr>
            <p:ph idx="1"/>
          </p:nvPr>
        </p:nvSpPr>
        <p:spPr>
          <a:xfrm>
            <a:off x="838200" y="1109272"/>
            <a:ext cx="10515600" cy="5576341"/>
          </a:xfrm>
        </p:spPr>
        <p:txBody>
          <a:bodyPr/>
          <a:lstStyle/>
          <a:p>
            <a:pPr algn="l"/>
            <a:endParaRPr lang="en-US" sz="2800" b="1" i="0" u="none" strike="noStrike" baseline="0" dirty="0">
              <a:latin typeface="Times New Roman" panose="02020603050405020304" pitchFamily="18" charset="0"/>
              <a:cs typeface="Times New Roman" panose="02020603050405020304" pitchFamily="18" charset="0"/>
            </a:endParaRPr>
          </a:p>
          <a:p>
            <a:pPr algn="l"/>
            <a:r>
              <a:rPr lang="en-US" sz="2800" b="1" i="0" u="none" strike="noStrike" baseline="0" dirty="0">
                <a:latin typeface="Times New Roman" panose="02020603050405020304" pitchFamily="18" charset="0"/>
                <a:cs typeface="Times New Roman" panose="02020603050405020304" pitchFamily="18" charset="0"/>
              </a:rPr>
              <a:t>Pseudo hyperkalemia</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Red cell hemolysis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Marked leukocytosis/thrombocytosis</a:t>
            </a:r>
          </a:p>
          <a:p>
            <a:pPr algn="l"/>
            <a:r>
              <a:rPr lang="en-US" sz="2800" b="1" i="0" u="none" strike="noStrike" baseline="0" dirty="0">
                <a:latin typeface="Times New Roman" panose="02020603050405020304" pitchFamily="18" charset="0"/>
                <a:cs typeface="Times New Roman" panose="02020603050405020304" pitchFamily="18" charset="0"/>
              </a:rPr>
              <a:t>Intercompartmental shifts</a:t>
            </a:r>
          </a:p>
          <a:p>
            <a:pPr lvl="1">
              <a:buFont typeface="Wingdings" panose="05000000000000000000" pitchFamily="2" charset="2"/>
              <a:buChar char="Ø"/>
            </a:pPr>
            <a:r>
              <a:rPr lang="en-US"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Acidosis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Hypertonicity</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Rhabdomyolysis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Excessive exercise</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Periodic paralysis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Succinylcholine</a:t>
            </a:r>
            <a:endParaRPr lang="en-US"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17EE99B3-1EBB-FA44-5F83-636437F79232}"/>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C0209D79-6FA5-AB1F-030C-ECB7B44C140F}"/>
              </a:ext>
            </a:extLst>
          </p:cNvPr>
          <p:cNvSpPr>
            <a:spLocks noGrp="1"/>
          </p:cNvSpPr>
          <p:nvPr>
            <p:ph type="sldNum" sz="quarter" idx="12"/>
          </p:nvPr>
        </p:nvSpPr>
        <p:spPr/>
        <p:txBody>
          <a:bodyPr/>
          <a:lstStyle/>
          <a:p>
            <a:fld id="{CB22993B-EEE5-4EB1-BEE5-4FFFA489F796}" type="slidenum">
              <a:rPr lang="en-US" smtClean="0"/>
              <a:t>55</a:t>
            </a:fld>
            <a:endParaRPr lang="en-US"/>
          </a:p>
        </p:txBody>
      </p:sp>
    </p:spTree>
    <p:extLst>
      <p:ext uri="{BB962C8B-B14F-4D97-AF65-F5344CB8AC3E}">
        <p14:creationId xmlns:p14="http://schemas.microsoft.com/office/powerpoint/2010/main" val="5663511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C054A4-8F4F-4499-B75D-AFE3A2394AF0}"/>
              </a:ext>
            </a:extLst>
          </p:cNvPr>
          <p:cNvSpPr>
            <a:spLocks noGrp="1"/>
          </p:cNvSpPr>
          <p:nvPr>
            <p:ph type="title"/>
          </p:nvPr>
        </p:nvSpPr>
        <p:spPr>
          <a:xfrm>
            <a:off x="838200" y="365125"/>
            <a:ext cx="10515600" cy="579255"/>
          </a:xfrm>
        </p:spPr>
        <p:txBody>
          <a:bodyPr>
            <a:normAutofit fontScale="90000"/>
          </a:bodyPr>
          <a:lstStyle/>
          <a:p>
            <a:r>
              <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8187BB5B-09FC-441D-BDB3-062B2CA8B974}"/>
              </a:ext>
            </a:extLst>
          </p:cNvPr>
          <p:cNvSpPr>
            <a:spLocks noGrp="1"/>
          </p:cNvSpPr>
          <p:nvPr>
            <p:ph idx="1"/>
          </p:nvPr>
        </p:nvSpPr>
        <p:spPr>
          <a:xfrm>
            <a:off x="838200" y="1079292"/>
            <a:ext cx="10515600" cy="5606321"/>
          </a:xfrm>
        </p:spPr>
        <p:txBody>
          <a:bodyPr>
            <a:normAutofit/>
          </a:bodyPr>
          <a:lstStyle/>
          <a:p>
            <a:pPr algn="l"/>
            <a:r>
              <a:rPr lang="en-US" sz="2800" b="1" i="0" u="none" strike="noStrike" baseline="0" dirty="0">
                <a:latin typeface="Times New Roman" panose="02020603050405020304" pitchFamily="18" charset="0"/>
                <a:cs typeface="Times New Roman" panose="02020603050405020304" pitchFamily="18" charset="0"/>
              </a:rPr>
              <a:t>Decreased renal potassium excretion</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Renal failure</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Decreased mineralocorticoid activity </a:t>
            </a:r>
          </a:p>
          <a:p>
            <a:pPr>
              <a:buFont typeface="Wingdings" panose="05000000000000000000" pitchFamily="2" charset="2"/>
              <a:buChar char="Ø"/>
            </a:pPr>
            <a:r>
              <a:rPr lang="en-US" sz="3200" b="0" i="0" u="none" strike="noStrike" baseline="0" dirty="0">
                <a:latin typeface="Times New Roman" panose="02020603050405020304" pitchFamily="18" charset="0"/>
                <a:cs typeface="Times New Roman" panose="02020603050405020304" pitchFamily="18" charset="0"/>
              </a:rPr>
              <a:t>Potassium-sparing diuretics</a:t>
            </a:r>
          </a:p>
          <a:p>
            <a:pPr lvl="2">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Spironolactone</a:t>
            </a:r>
          </a:p>
          <a:p>
            <a:pPr lvl="2">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Eplerenone</a:t>
            </a:r>
          </a:p>
          <a:p>
            <a:pPr lvl="2">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Amiloride</a:t>
            </a:r>
          </a:p>
          <a:p>
            <a:pPr lvl="2">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Triamteren</a:t>
            </a:r>
            <a:r>
              <a:rPr lang="en-US" sz="2400" b="0" i="0" u="none" strike="noStrike" baseline="0" dirty="0">
                <a:latin typeface="Times New Roman" panose="02020603050405020304" pitchFamily="18" charset="0"/>
                <a:cs typeface="Times New Roman" panose="02020603050405020304" pitchFamily="18" charset="0"/>
              </a:rPr>
              <a:t>e</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ACE inhibitors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Nonsteroidal anti-inflammatory drugs </a:t>
            </a:r>
          </a:p>
          <a:p>
            <a:pPr lvl="1">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DD5A6CB0-CAD4-340D-7CA0-96DD6D7C1F06}"/>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ED2E7497-81FC-C4C7-1631-5A9F8480411F}"/>
              </a:ext>
            </a:extLst>
          </p:cNvPr>
          <p:cNvSpPr>
            <a:spLocks noGrp="1"/>
          </p:cNvSpPr>
          <p:nvPr>
            <p:ph type="sldNum" sz="quarter" idx="12"/>
          </p:nvPr>
        </p:nvSpPr>
        <p:spPr/>
        <p:txBody>
          <a:bodyPr/>
          <a:lstStyle/>
          <a:p>
            <a:fld id="{CB22993B-EEE5-4EB1-BEE5-4FFFA489F796}" type="slidenum">
              <a:rPr lang="en-US" smtClean="0"/>
              <a:t>56</a:t>
            </a:fld>
            <a:endParaRPr lang="en-US"/>
          </a:p>
        </p:txBody>
      </p:sp>
    </p:spTree>
    <p:extLst>
      <p:ext uri="{BB962C8B-B14F-4D97-AF65-F5344CB8AC3E}">
        <p14:creationId xmlns:p14="http://schemas.microsoft.com/office/powerpoint/2010/main" val="31703248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87E8E0-36C0-4304-856F-F38AF2FDB824}"/>
              </a:ext>
            </a:extLst>
          </p:cNvPr>
          <p:cNvSpPr>
            <a:spLocks noGrp="1"/>
          </p:cNvSpPr>
          <p:nvPr>
            <p:ph type="title"/>
          </p:nvPr>
        </p:nvSpPr>
        <p:spPr>
          <a:xfrm>
            <a:off x="838200" y="365126"/>
            <a:ext cx="10515600" cy="609236"/>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Clinical Manifestations of Hyperkalemia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A0363DFE-A5D7-4815-8630-BBCB48510BA8}"/>
              </a:ext>
            </a:extLst>
          </p:cNvPr>
          <p:cNvSpPr>
            <a:spLocks noGrp="1"/>
          </p:cNvSpPr>
          <p:nvPr>
            <p:ph idx="1"/>
          </p:nvPr>
        </p:nvSpPr>
        <p:spPr>
          <a:xfrm>
            <a:off x="838200" y="1184222"/>
            <a:ext cx="10515600" cy="5308651"/>
          </a:xfrm>
        </p:spPr>
        <p:txBody>
          <a:bodyPr/>
          <a:lstStyle/>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The most important effects of hyperkalemia are on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skeletal and cardiac muscle. </a:t>
            </a: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Skeletal muscle weakness is generally not seen until plasma [K </a:t>
            </a:r>
            <a:r>
              <a:rPr lang="en-US" sz="8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is greater than 8 </a:t>
            </a:r>
            <a:r>
              <a:rPr lang="en-US" sz="2800" b="0" i="0" u="none" strike="noStrike" baseline="0" dirty="0" err="1">
                <a:solidFill>
                  <a:srgbClr val="000000"/>
                </a:solidFill>
                <a:latin typeface="Times New Roman" panose="02020603050405020304" pitchFamily="18" charset="0"/>
                <a:cs typeface="Times New Roman" panose="02020603050405020304" pitchFamily="18" charset="0"/>
              </a:rPr>
              <a:t>mEq</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/L, and is due to sustained spontaneous depolarization and inactivation of Na </a:t>
            </a:r>
            <a:r>
              <a:rPr lang="en-US" sz="8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channels of muscle membrane, eventually resulting in paralysis.</a:t>
            </a: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Cardiac manifestations are primarily due to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delayed depolarization</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and are consistently present when plasma [K </a:t>
            </a:r>
            <a:r>
              <a:rPr lang="en-US" sz="8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is greater than 7 </a:t>
            </a:r>
            <a:r>
              <a:rPr lang="en-US" sz="2800" b="0" i="0" u="none" strike="noStrike" baseline="0" dirty="0" err="1">
                <a:solidFill>
                  <a:srgbClr val="000000"/>
                </a:solidFill>
                <a:latin typeface="Times New Roman" panose="02020603050405020304" pitchFamily="18" charset="0"/>
                <a:cs typeface="Times New Roman" panose="02020603050405020304" pitchFamily="18" charset="0"/>
              </a:rPr>
              <a:t>mEq</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/L.</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54C41FB4-98B7-7007-D552-6B11D413DF66}"/>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9ADBD8A8-D6B1-A899-030A-CD764DCADDB4}"/>
              </a:ext>
            </a:extLst>
          </p:cNvPr>
          <p:cNvSpPr>
            <a:spLocks noGrp="1"/>
          </p:cNvSpPr>
          <p:nvPr>
            <p:ph type="sldNum" sz="quarter" idx="12"/>
          </p:nvPr>
        </p:nvSpPr>
        <p:spPr/>
        <p:txBody>
          <a:bodyPr/>
          <a:lstStyle/>
          <a:p>
            <a:fld id="{CB22993B-EEE5-4EB1-BEE5-4FFFA489F796}" type="slidenum">
              <a:rPr lang="en-US" smtClean="0"/>
              <a:t>57</a:t>
            </a:fld>
            <a:endParaRPr lang="en-US"/>
          </a:p>
        </p:txBody>
      </p:sp>
    </p:spTree>
    <p:extLst>
      <p:ext uri="{BB962C8B-B14F-4D97-AF65-F5344CB8AC3E}">
        <p14:creationId xmlns:p14="http://schemas.microsoft.com/office/powerpoint/2010/main" val="24877222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DCBB43-F51C-480A-987C-78BDBF0CBFD5}"/>
              </a:ext>
            </a:extLst>
          </p:cNvPr>
          <p:cNvSpPr>
            <a:spLocks noGrp="1"/>
          </p:cNvSpPr>
          <p:nvPr>
            <p:ph type="title"/>
          </p:nvPr>
        </p:nvSpPr>
        <p:spPr>
          <a:xfrm>
            <a:off x="838200" y="365125"/>
            <a:ext cx="10515600" cy="549275"/>
          </a:xfrm>
        </p:spPr>
        <p:txBody>
          <a:bodyPr>
            <a:normAutofit fontScale="90000"/>
          </a:bodyPr>
          <a:lstStyle/>
          <a:p>
            <a:r>
              <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A18F72A7-5C44-458C-B64A-B40D3108624B}"/>
              </a:ext>
            </a:extLst>
          </p:cNvPr>
          <p:cNvSpPr>
            <a:spLocks noGrp="1"/>
          </p:cNvSpPr>
          <p:nvPr>
            <p:ph idx="1"/>
          </p:nvPr>
        </p:nvSpPr>
        <p:spPr>
          <a:xfrm>
            <a:off x="838200" y="1034320"/>
            <a:ext cx="10515600" cy="5591331"/>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ECG changes characteristically progress sequentially from symmetrically peaked T waves (often</a:t>
            </a:r>
            <a:r>
              <a:rPr lang="en-US"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with a shortened QT interval) </a:t>
            </a:r>
            <a:r>
              <a:rPr lang="en-US" dirty="0">
                <a:latin typeface="Times New Roman" panose="02020603050405020304" pitchFamily="18" charset="0"/>
                <a:cs typeface="Times New Roman" panose="02020603050405020304" pitchFamily="18" charset="0"/>
              </a:rPr>
              <a:t>-</a:t>
            </a:r>
            <a:r>
              <a:rPr lang="en-US" sz="2800" b="0" i="0" u="none" strike="noStrike" baseline="0" dirty="0">
                <a:latin typeface="Times New Roman" panose="02020603050405020304" pitchFamily="18" charset="0"/>
                <a:cs typeface="Times New Roman" panose="02020603050405020304" pitchFamily="18" charset="0"/>
              </a:rPr>
              <a:t> widening of the QRS complex </a:t>
            </a:r>
            <a:r>
              <a:rPr lang="en-US" dirty="0">
                <a:latin typeface="Times New Roman" panose="02020603050405020304" pitchFamily="18" charset="0"/>
                <a:cs typeface="Times New Roman" panose="02020603050405020304" pitchFamily="18" charset="0"/>
              </a:rPr>
              <a:t>-</a:t>
            </a:r>
            <a:r>
              <a:rPr lang="en-US" sz="2800" b="0" i="0" u="none" strike="noStrike" baseline="0" dirty="0">
                <a:latin typeface="Times New Roman" panose="02020603050405020304" pitchFamily="18" charset="0"/>
                <a:cs typeface="Times New Roman" panose="02020603050405020304" pitchFamily="18" charset="0"/>
              </a:rPr>
              <a:t>prolongation of the P–R interval -loss of the P wave </a:t>
            </a:r>
            <a:r>
              <a:rPr lang="en-US" dirty="0">
                <a:latin typeface="Times New Roman" panose="02020603050405020304" pitchFamily="18" charset="0"/>
                <a:cs typeface="Times New Roman" panose="02020603050405020304" pitchFamily="18" charset="0"/>
              </a:rPr>
              <a:t>-</a:t>
            </a:r>
            <a:r>
              <a:rPr lang="en-US" sz="2800" b="0" i="0" u="none" strike="noStrike" baseline="0" dirty="0">
                <a:latin typeface="Times New Roman" panose="02020603050405020304" pitchFamily="18" charset="0"/>
                <a:cs typeface="Times New Roman" panose="02020603050405020304" pitchFamily="18" charset="0"/>
              </a:rPr>
              <a:t> loss of R-wave amplitude </a:t>
            </a:r>
            <a:r>
              <a:rPr lang="en-US"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ST-segment depression (occasionally elevation) </a:t>
            </a:r>
            <a:r>
              <a:rPr lang="en-US"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progression to ventricular fibrillation and asystole.</a:t>
            </a:r>
          </a:p>
          <a:p>
            <a:pPr algn="l"/>
            <a:r>
              <a:rPr lang="en-US" sz="2800" b="0" i="0" u="none" strike="noStrike" baseline="0" dirty="0">
                <a:latin typeface="Times New Roman" panose="02020603050405020304" pitchFamily="18" charset="0"/>
                <a:cs typeface="Times New Roman" panose="02020603050405020304" pitchFamily="18" charset="0"/>
              </a:rPr>
              <a:t>Hypocalcemia, hyponatremia, and acidosis accentuate the cardiac effects of hyperkalemia.</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6FD11E29-EC52-B2FD-E8BB-09B39DB9EC86}"/>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0009A651-F9AD-4339-8DE1-BE516B8AD574}"/>
              </a:ext>
            </a:extLst>
          </p:cNvPr>
          <p:cNvSpPr>
            <a:spLocks noGrp="1"/>
          </p:cNvSpPr>
          <p:nvPr>
            <p:ph type="sldNum" sz="quarter" idx="12"/>
          </p:nvPr>
        </p:nvSpPr>
        <p:spPr/>
        <p:txBody>
          <a:bodyPr/>
          <a:lstStyle/>
          <a:p>
            <a:fld id="{CB22993B-EEE5-4EB1-BEE5-4FFFA489F796}" type="slidenum">
              <a:rPr lang="en-US" smtClean="0"/>
              <a:t>58</a:t>
            </a:fld>
            <a:endParaRPr lang="en-US"/>
          </a:p>
        </p:txBody>
      </p:sp>
    </p:spTree>
    <p:extLst>
      <p:ext uri="{BB962C8B-B14F-4D97-AF65-F5344CB8AC3E}">
        <p14:creationId xmlns:p14="http://schemas.microsoft.com/office/powerpoint/2010/main" val="8337666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097204-FDC3-432B-A2FC-A9C3982806A0}"/>
              </a:ext>
            </a:extLst>
          </p:cNvPr>
          <p:cNvSpPr>
            <a:spLocks noGrp="1"/>
          </p:cNvSpPr>
          <p:nvPr>
            <p:ph type="title"/>
          </p:nvPr>
        </p:nvSpPr>
        <p:spPr>
          <a:xfrm>
            <a:off x="838200" y="365125"/>
            <a:ext cx="10515600" cy="549275"/>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Treatment of Hyperkalemia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33C8B7AC-8CA1-4F31-93C1-8186DA5EA0D5}"/>
              </a:ext>
            </a:extLst>
          </p:cNvPr>
          <p:cNvSpPr>
            <a:spLocks noGrp="1"/>
          </p:cNvSpPr>
          <p:nvPr>
            <p:ph idx="1"/>
          </p:nvPr>
        </p:nvSpPr>
        <p:spPr>
          <a:xfrm>
            <a:off x="838200" y="1229193"/>
            <a:ext cx="10515600" cy="5426440"/>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Because of its lethal potential, hyperkalemia exceeding 6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/L should always be corrected.</a:t>
            </a:r>
          </a:p>
          <a:p>
            <a:pPr algn="l"/>
            <a:r>
              <a:rPr lang="en-US" sz="2800" b="0" i="0" u="none" strike="noStrike" baseline="0" dirty="0">
                <a:latin typeface="Times New Roman" panose="02020603050405020304" pitchFamily="18" charset="0"/>
                <a:cs typeface="Times New Roman" panose="02020603050405020304" pitchFamily="18" charset="0"/>
              </a:rPr>
              <a:t>Treatment is directed to reversal of cardiac manifestations and skeletal muscle weakness, and to restoration of normal plasma [K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a:t>
            </a:r>
          </a:p>
          <a:p>
            <a:pPr algn="l"/>
            <a:r>
              <a:rPr lang="en-US" sz="2800" b="0" i="0" u="none" strike="noStrike" baseline="0" dirty="0">
                <a:latin typeface="Times New Roman" panose="02020603050405020304" pitchFamily="18" charset="0"/>
                <a:cs typeface="Times New Roman" panose="02020603050405020304" pitchFamily="18" charset="0"/>
              </a:rPr>
              <a:t>Therapeutic modalities employed depend on the cause of hyperkalemia and the severity of manifestations.</a:t>
            </a:r>
          </a:p>
          <a:p>
            <a:pPr algn="l"/>
            <a:r>
              <a:rPr lang="en-US" sz="2800" b="0" i="0" u="none" strike="noStrike" baseline="0" dirty="0">
                <a:latin typeface="Times New Roman" panose="02020603050405020304" pitchFamily="18" charset="0"/>
                <a:cs typeface="Times New Roman" panose="02020603050405020304" pitchFamily="18" charset="0"/>
              </a:rPr>
              <a:t>Hyperkalemia associated with </a:t>
            </a:r>
            <a:r>
              <a:rPr lang="en-US" sz="2800" b="1" i="0" u="none" strike="noStrike" baseline="0" dirty="0">
                <a:latin typeface="Times New Roman" panose="02020603050405020304" pitchFamily="18" charset="0"/>
                <a:cs typeface="Times New Roman" panose="02020603050405020304" pitchFamily="18" charset="0"/>
              </a:rPr>
              <a:t>hypoaldosteronism</a:t>
            </a:r>
            <a:r>
              <a:rPr lang="en-US" sz="2800" b="0" i="0" u="none" strike="noStrike" baseline="0" dirty="0">
                <a:latin typeface="Times New Roman" panose="02020603050405020304" pitchFamily="18" charset="0"/>
                <a:cs typeface="Times New Roman" panose="02020603050405020304" pitchFamily="18" charset="0"/>
              </a:rPr>
              <a:t> can be treated with mineralocorticoid replacement.</a:t>
            </a:r>
          </a:p>
          <a:p>
            <a:pPr algn="l"/>
            <a:r>
              <a:rPr lang="en-US" sz="2800" b="0" i="0" u="none" strike="noStrike" baseline="0" dirty="0">
                <a:latin typeface="Times New Roman" panose="02020603050405020304" pitchFamily="18" charset="0"/>
                <a:cs typeface="Times New Roman" panose="02020603050405020304" pitchFamily="18" charset="0"/>
              </a:rPr>
              <a:t>Drugs contributing to hyperkalemia should be discontinued and sources of increased potassium intake reduced or stopped.</a:t>
            </a:r>
          </a:p>
          <a:p>
            <a:pPr algn="l"/>
            <a:r>
              <a:rPr lang="en-US" sz="2800" b="0" i="0" u="none" strike="noStrike" baseline="0" dirty="0">
                <a:latin typeface="Times New Roman" panose="02020603050405020304" pitchFamily="18" charset="0"/>
                <a:cs typeface="Times New Roman" panose="02020603050405020304" pitchFamily="18" charset="0"/>
              </a:rPr>
              <a:t>Beta agonists </a:t>
            </a:r>
            <a:r>
              <a:rPr lang="en-US" sz="2800" b="0" i="0" u="none" strike="noStrike" baseline="0" dirty="0">
                <a:latin typeface="Roboto-Regular"/>
              </a:rPr>
              <a:t>(</a:t>
            </a:r>
            <a:r>
              <a:rPr lang="en-US" sz="2800" b="0" i="0" u="none" strike="noStrike" baseline="0" dirty="0">
                <a:latin typeface="Times New Roman" panose="02020603050405020304" pitchFamily="18" charset="0"/>
                <a:cs typeface="Times New Roman" panose="02020603050405020304" pitchFamily="18" charset="0"/>
              </a:rPr>
              <a:t>albuterol)</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C97A3301-E813-C674-A89F-BD3F1D3A6792}"/>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F43F394A-AA29-6C5C-65C4-C71771F1D503}"/>
              </a:ext>
            </a:extLst>
          </p:cNvPr>
          <p:cNvSpPr>
            <a:spLocks noGrp="1"/>
          </p:cNvSpPr>
          <p:nvPr>
            <p:ph type="sldNum" sz="quarter" idx="12"/>
          </p:nvPr>
        </p:nvSpPr>
        <p:spPr/>
        <p:txBody>
          <a:bodyPr/>
          <a:lstStyle/>
          <a:p>
            <a:fld id="{CB22993B-EEE5-4EB1-BEE5-4FFFA489F796}" type="slidenum">
              <a:rPr lang="en-US" smtClean="0"/>
              <a:t>59</a:t>
            </a:fld>
            <a:endParaRPr lang="en-US"/>
          </a:p>
        </p:txBody>
      </p:sp>
    </p:spTree>
    <p:extLst>
      <p:ext uri="{BB962C8B-B14F-4D97-AF65-F5344CB8AC3E}">
        <p14:creationId xmlns:p14="http://schemas.microsoft.com/office/powerpoint/2010/main" val="2044604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3E6BAA-C207-4D7C-90E3-30BD3FBDB115}"/>
              </a:ext>
            </a:extLst>
          </p:cNvPr>
          <p:cNvSpPr>
            <a:spLocks noGrp="1"/>
          </p:cNvSpPr>
          <p:nvPr>
            <p:ph type="title"/>
          </p:nvPr>
        </p:nvSpPr>
        <p:spPr>
          <a:xfrm>
            <a:off x="838200" y="290174"/>
            <a:ext cx="10515600" cy="504305"/>
          </a:xfrm>
        </p:spPr>
        <p:txBody>
          <a:bodyPr>
            <a:normAutofit fontScale="90000"/>
          </a:bodyPr>
          <a:lstStyle/>
          <a:p>
            <a:r>
              <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356E333B-A5FE-4085-8BF7-9CBF46ECF8F2}"/>
              </a:ext>
            </a:extLst>
          </p:cNvPr>
          <p:cNvSpPr>
            <a:spLocks noGrp="1"/>
          </p:cNvSpPr>
          <p:nvPr>
            <p:ph idx="1"/>
          </p:nvPr>
        </p:nvSpPr>
        <p:spPr>
          <a:xfrm>
            <a:off x="838200" y="1004341"/>
            <a:ext cx="10515600" cy="5711252"/>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Calcium (5–10 mL of 10% calcium gluconate or 3–5 mL of 10% calcium chloride) partially antagonizes the cardiac effects of hyperkalemia and is useful in patients with marked hyperkalemia.</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When metabolic acidosis is present, intravenous sodium bicarbonate (usually 45 </a:t>
            </a:r>
            <a:r>
              <a:rPr lang="en-US" sz="2800" b="0" i="0" u="none" strike="noStrike" baseline="0" dirty="0" err="1">
                <a:latin typeface="Times New Roman" panose="02020603050405020304" pitchFamily="18" charset="0"/>
                <a:cs typeface="Times New Roman" panose="02020603050405020304" pitchFamily="18" charset="0"/>
              </a:rPr>
              <a:t>mEq</a:t>
            </a:r>
            <a:r>
              <a:rPr lang="en-US" sz="2800" b="0" i="0" u="none" strike="noStrike" baseline="0" dirty="0">
                <a:latin typeface="Times New Roman" panose="02020603050405020304" pitchFamily="18" charset="0"/>
                <a:cs typeface="Times New Roman" panose="02020603050405020304" pitchFamily="18" charset="0"/>
              </a:rPr>
              <a:t>) will promote cellular uptake of potassium and can decrease plasma [K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within 15 min.</a:t>
            </a: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en-US" sz="2800" b="0" i="0" u="none" strike="noStrike" baseline="0" dirty="0">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An intravenous infusion of glucose and insulin (30–50 g of glucose with 10 units of insulin) is also effective in promoting cellular uptake of potassium and lowering plasma [K </a:t>
            </a:r>
            <a:r>
              <a:rPr kumimoji="0" lang="en-US" sz="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but may take up to 1 h for peak effect.</a:t>
            </a:r>
          </a:p>
          <a:p>
            <a:pPr algn="l"/>
            <a:endParaRPr lang="en-US" dirty="0">
              <a:latin typeface="Symbol" panose="05050102010706020507" pitchFamily="18" charset="2"/>
            </a:endParaRPr>
          </a:p>
        </p:txBody>
      </p:sp>
      <p:sp>
        <p:nvSpPr>
          <p:cNvPr id="4" name="Date Placeholder 3">
            <a:extLst>
              <a:ext uri="{FF2B5EF4-FFF2-40B4-BE49-F238E27FC236}">
                <a16:creationId xmlns:a16="http://schemas.microsoft.com/office/drawing/2014/main" xmlns="" id="{1DE31493-4894-CFE1-2EFE-6390B42FC3D2}"/>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0BDBC163-E2F0-D9C2-A8AA-4A8897B0A772}"/>
              </a:ext>
            </a:extLst>
          </p:cNvPr>
          <p:cNvSpPr>
            <a:spLocks noGrp="1"/>
          </p:cNvSpPr>
          <p:nvPr>
            <p:ph type="sldNum" sz="quarter" idx="12"/>
          </p:nvPr>
        </p:nvSpPr>
        <p:spPr/>
        <p:txBody>
          <a:bodyPr/>
          <a:lstStyle/>
          <a:p>
            <a:fld id="{CB22993B-EEE5-4EB1-BEE5-4FFFA489F796}" type="slidenum">
              <a:rPr lang="en-US" smtClean="0"/>
              <a:t>60</a:t>
            </a:fld>
            <a:endParaRPr lang="en-US"/>
          </a:p>
        </p:txBody>
      </p:sp>
    </p:spTree>
    <p:extLst>
      <p:ext uri="{BB962C8B-B14F-4D97-AF65-F5344CB8AC3E}">
        <p14:creationId xmlns:p14="http://schemas.microsoft.com/office/powerpoint/2010/main" val="29053813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DB9027-8F39-4819-8D8F-AB12E619772D}"/>
              </a:ext>
            </a:extLst>
          </p:cNvPr>
          <p:cNvSpPr>
            <a:spLocks noGrp="1"/>
          </p:cNvSpPr>
          <p:nvPr>
            <p:ph type="title"/>
          </p:nvPr>
        </p:nvSpPr>
        <p:spPr>
          <a:xfrm>
            <a:off x="838200" y="365125"/>
            <a:ext cx="10515600" cy="519295"/>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Anesthetic Considerations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1BEC720C-2417-416C-9B53-9C2E8898A7B5}"/>
              </a:ext>
            </a:extLst>
          </p:cNvPr>
          <p:cNvSpPr>
            <a:spLocks noGrp="1"/>
          </p:cNvSpPr>
          <p:nvPr>
            <p:ph idx="1"/>
          </p:nvPr>
        </p:nvSpPr>
        <p:spPr>
          <a:xfrm>
            <a:off x="838200" y="1094282"/>
            <a:ext cx="10515600" cy="5576341"/>
          </a:xfrm>
        </p:spPr>
        <p:txBody>
          <a:bodyPr>
            <a:normAutofit lnSpcReduction="10000"/>
          </a:bodyPr>
          <a:lstStyle/>
          <a:p>
            <a:pPr algn="l"/>
            <a:r>
              <a:rPr lang="en-US" sz="2800" b="0" i="0" u="none" strike="noStrike" baseline="0" dirty="0">
                <a:latin typeface="Times New Roman" panose="02020603050405020304" pitchFamily="18" charset="0"/>
                <a:cs typeface="Times New Roman" panose="02020603050405020304" pitchFamily="18" charset="0"/>
              </a:rPr>
              <a:t>Elective surgery should </a:t>
            </a:r>
            <a:r>
              <a:rPr lang="en-US" sz="2800" b="1" i="0" u="none" strike="noStrike" baseline="0" dirty="0">
                <a:latin typeface="Times New Roman" panose="02020603050405020304" pitchFamily="18" charset="0"/>
                <a:cs typeface="Times New Roman" panose="02020603050405020304" pitchFamily="18" charset="0"/>
              </a:rPr>
              <a:t>not</a:t>
            </a:r>
            <a:r>
              <a:rPr lang="en-US" sz="2800" b="0" i="0" u="none" strike="noStrike" baseline="0" dirty="0">
                <a:latin typeface="Times New Roman" panose="02020603050405020304" pitchFamily="18" charset="0"/>
                <a:cs typeface="Times New Roman" panose="02020603050405020304" pitchFamily="18" charset="0"/>
              </a:rPr>
              <a:t> be undertaken in patients with significant hyperkalemia. </a:t>
            </a:r>
          </a:p>
          <a:p>
            <a:pPr algn="l"/>
            <a:r>
              <a:rPr lang="en-US" sz="2800" b="0" i="0" u="none" strike="noStrike" baseline="0" dirty="0">
                <a:latin typeface="Times New Roman" panose="02020603050405020304" pitchFamily="18" charset="0"/>
                <a:cs typeface="Times New Roman" panose="02020603050405020304" pitchFamily="18" charset="0"/>
              </a:rPr>
              <a:t>Anesthetic management of hyperkalemic surgical patients is directed at both lowering the plasma potassium concentration and preventing any further increases. </a:t>
            </a:r>
          </a:p>
          <a:p>
            <a:pPr algn="l"/>
            <a:r>
              <a:rPr lang="en-US" sz="2800" b="1" i="0" u="none" strike="noStrike" baseline="0" dirty="0">
                <a:latin typeface="Times New Roman" panose="02020603050405020304" pitchFamily="18" charset="0"/>
                <a:cs typeface="Times New Roman" panose="02020603050405020304" pitchFamily="18" charset="0"/>
              </a:rPr>
              <a:t>Succinylcholine</a:t>
            </a:r>
            <a:r>
              <a:rPr lang="en-US" sz="2800" b="0" i="0" u="none" strike="noStrike" baseline="0" dirty="0">
                <a:latin typeface="Times New Roman" panose="02020603050405020304" pitchFamily="18" charset="0"/>
                <a:cs typeface="Times New Roman" panose="02020603050405020304" pitchFamily="18" charset="0"/>
              </a:rPr>
              <a:t> is contraindicated, as is the use of any potassium containing intravenous solutions such as </a:t>
            </a:r>
            <a:r>
              <a:rPr lang="en-US" sz="2800" b="1" i="0" u="none" strike="noStrike" baseline="0" dirty="0">
                <a:latin typeface="Times New Roman" panose="02020603050405020304" pitchFamily="18" charset="0"/>
                <a:cs typeface="Times New Roman" panose="02020603050405020304" pitchFamily="18" charset="0"/>
              </a:rPr>
              <a:t>lactated Ringer’s </a:t>
            </a:r>
            <a:r>
              <a:rPr lang="en-US" sz="2800" b="0" i="0" u="none" strike="noStrike" baseline="0" dirty="0">
                <a:latin typeface="Times New Roman" panose="02020603050405020304" pitchFamily="18" charset="0"/>
                <a:cs typeface="Times New Roman" panose="02020603050405020304" pitchFamily="18" charset="0"/>
              </a:rPr>
              <a:t>injection. </a:t>
            </a:r>
            <a:endParaRPr lang="en-US" dirty="0">
              <a:latin typeface="Times New Roman" panose="02020603050405020304" pitchFamily="18" charset="0"/>
              <a:cs typeface="Times New Roman" panose="02020603050405020304" pitchFamily="18" charset="0"/>
            </a:endParaRPr>
          </a:p>
          <a:p>
            <a:pPr algn="l"/>
            <a:r>
              <a:rPr lang="en-US" sz="2800" b="0" i="0" u="none" strike="noStrike" baseline="0" dirty="0">
                <a:latin typeface="Times New Roman" panose="02020603050405020304" pitchFamily="18" charset="0"/>
                <a:cs typeface="Times New Roman" panose="02020603050405020304" pitchFamily="18" charset="0"/>
              </a:rPr>
              <a:t>The avoidance of </a:t>
            </a:r>
            <a:r>
              <a:rPr lang="en-US" sz="2800" b="1" i="0" u="none" strike="noStrike" baseline="0" dirty="0">
                <a:latin typeface="Times New Roman" panose="02020603050405020304" pitchFamily="18" charset="0"/>
                <a:cs typeface="Times New Roman" panose="02020603050405020304" pitchFamily="18" charset="0"/>
              </a:rPr>
              <a:t>metabolic </a:t>
            </a:r>
            <a:r>
              <a:rPr lang="en-US" sz="2800" i="0" u="none" strike="noStrike" baseline="0" dirty="0">
                <a:latin typeface="Times New Roman" panose="02020603050405020304" pitchFamily="18" charset="0"/>
                <a:cs typeface="Times New Roman" panose="02020603050405020304" pitchFamily="18" charset="0"/>
              </a:rPr>
              <a:t>or</a:t>
            </a:r>
            <a:r>
              <a:rPr lang="en-US" sz="2800" b="1" i="0" u="none" strike="noStrike" baseline="0" dirty="0">
                <a:latin typeface="Times New Roman" panose="02020603050405020304" pitchFamily="18" charset="0"/>
                <a:cs typeface="Times New Roman" panose="02020603050405020304" pitchFamily="18" charset="0"/>
              </a:rPr>
              <a:t> respiratory </a:t>
            </a:r>
            <a:r>
              <a:rPr lang="en-US" sz="2800" b="0" i="0" u="none" strike="noStrike" baseline="0" dirty="0">
                <a:latin typeface="Times New Roman" panose="02020603050405020304" pitchFamily="18" charset="0"/>
                <a:cs typeface="Times New Roman" panose="02020603050405020304" pitchFamily="18" charset="0"/>
              </a:rPr>
              <a:t>acidosis is critical to prevent further increases in plasma [K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a:t>
            </a:r>
          </a:p>
          <a:p>
            <a:pPr algn="l"/>
            <a:r>
              <a:rPr lang="en-US" sz="2800" b="0" i="0" u="none" strike="noStrike" baseline="0" dirty="0">
                <a:latin typeface="Times New Roman" panose="02020603050405020304" pitchFamily="18" charset="0"/>
                <a:cs typeface="Times New Roman" panose="02020603050405020304" pitchFamily="18" charset="0"/>
              </a:rPr>
              <a:t>Ventilation should be controlled under general anesthesia, and mild </a:t>
            </a:r>
            <a:r>
              <a:rPr lang="en-US" sz="2800" b="1" i="0" u="none" strike="noStrike" baseline="0" dirty="0">
                <a:latin typeface="Times New Roman" panose="02020603050405020304" pitchFamily="18" charset="0"/>
                <a:cs typeface="Times New Roman" panose="02020603050405020304" pitchFamily="18" charset="0"/>
              </a:rPr>
              <a:t>hyperventilation</a:t>
            </a:r>
            <a:r>
              <a:rPr lang="en-US" sz="2800" b="0" i="0" u="none" strike="noStrike" baseline="0" dirty="0">
                <a:latin typeface="Times New Roman" panose="02020603050405020304" pitchFamily="18" charset="0"/>
                <a:cs typeface="Times New Roman" panose="02020603050405020304" pitchFamily="18" charset="0"/>
              </a:rPr>
              <a:t> may be desirable. </a:t>
            </a:r>
          </a:p>
          <a:p>
            <a:pPr algn="l"/>
            <a:r>
              <a:rPr lang="en-US" sz="2800" b="0" i="0" u="none" strike="noStrike" baseline="0" dirty="0">
                <a:latin typeface="Times New Roman" panose="02020603050405020304" pitchFamily="18" charset="0"/>
                <a:cs typeface="Times New Roman" panose="02020603050405020304" pitchFamily="18" charset="0"/>
              </a:rPr>
              <a:t>Neuromuscular function should be monitored closely, as hyperkalemia can accentuate the effects of NMBs.</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7F329B6D-7EE2-F016-B679-77FAFB97531B}"/>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D92A7AFC-E17F-A81F-77BF-8F2D09ED27DE}"/>
              </a:ext>
            </a:extLst>
          </p:cNvPr>
          <p:cNvSpPr>
            <a:spLocks noGrp="1"/>
          </p:cNvSpPr>
          <p:nvPr>
            <p:ph type="sldNum" sz="quarter" idx="12"/>
          </p:nvPr>
        </p:nvSpPr>
        <p:spPr/>
        <p:txBody>
          <a:bodyPr/>
          <a:lstStyle/>
          <a:p>
            <a:fld id="{CB22993B-EEE5-4EB1-BEE5-4FFFA489F796}" type="slidenum">
              <a:rPr lang="en-US" smtClean="0"/>
              <a:t>61</a:t>
            </a:fld>
            <a:endParaRPr lang="en-US"/>
          </a:p>
        </p:txBody>
      </p:sp>
    </p:spTree>
    <p:extLst>
      <p:ext uri="{BB962C8B-B14F-4D97-AF65-F5344CB8AC3E}">
        <p14:creationId xmlns:p14="http://schemas.microsoft.com/office/powerpoint/2010/main" val="22607590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D8036E-CB7E-4675-9B6D-7B022658CED7}"/>
              </a:ext>
            </a:extLst>
          </p:cNvPr>
          <p:cNvSpPr>
            <a:spLocks noGrp="1"/>
          </p:cNvSpPr>
          <p:nvPr>
            <p:ph type="title"/>
          </p:nvPr>
        </p:nvSpPr>
        <p:spPr>
          <a:xfrm>
            <a:off x="838200" y="365125"/>
            <a:ext cx="10515600" cy="594245"/>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Disorders of Calcium Balance</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73CC24DE-C9AD-4D57-A1AB-944441DA6642}"/>
              </a:ext>
            </a:extLst>
          </p:cNvPr>
          <p:cNvSpPr>
            <a:spLocks noGrp="1"/>
          </p:cNvSpPr>
          <p:nvPr>
            <p:ph idx="1"/>
          </p:nvPr>
        </p:nvSpPr>
        <p:spPr>
          <a:xfrm>
            <a:off x="838200" y="1079292"/>
            <a:ext cx="10515600" cy="5097671"/>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Although 98% of total body calcium is in bone, maintenance of a normal extracellular calcium concentration is critical to homeostasis. </a:t>
            </a:r>
          </a:p>
          <a:p>
            <a:pPr algn="l"/>
            <a:r>
              <a:rPr lang="en-US" sz="2800" b="0" i="0" u="none" strike="noStrike" baseline="0" dirty="0">
                <a:latin typeface="Times New Roman" panose="02020603050405020304" pitchFamily="18" charset="0"/>
                <a:cs typeface="Times New Roman" panose="02020603050405020304" pitchFamily="18" charset="0"/>
              </a:rPr>
              <a:t>Calcium ions are involved in nearly all essential biological functions, including </a:t>
            </a:r>
          </a:p>
          <a:p>
            <a:pPr lvl="1"/>
            <a:r>
              <a:rPr lang="en-US" sz="2800" b="0" i="0" u="none" strike="noStrike" baseline="0" dirty="0">
                <a:latin typeface="Times New Roman" panose="02020603050405020304" pitchFamily="18" charset="0"/>
                <a:cs typeface="Times New Roman" panose="02020603050405020304" pitchFamily="18" charset="0"/>
              </a:rPr>
              <a:t>Muscle contraction (including cardiac muscles)</a:t>
            </a:r>
          </a:p>
          <a:p>
            <a:pPr lvl="1"/>
            <a:r>
              <a:rPr lang="en-US" sz="2800" b="0" i="0" u="none" strike="noStrike" baseline="0" dirty="0">
                <a:latin typeface="Times New Roman" panose="02020603050405020304" pitchFamily="18" charset="0"/>
                <a:cs typeface="Times New Roman" panose="02020603050405020304" pitchFamily="18" charset="0"/>
              </a:rPr>
              <a:t>The release of neurotransmitters and </a:t>
            </a:r>
            <a:r>
              <a:rPr lang="en-US" sz="2800" b="0" i="0" u="none" strike="noStrike" baseline="0" dirty="0" smtClean="0">
                <a:latin typeface="Times New Roman" panose="02020603050405020304" pitchFamily="18" charset="0"/>
                <a:cs typeface="Times New Roman" panose="02020603050405020304" pitchFamily="18" charset="0"/>
              </a:rPr>
              <a:t>hormones</a:t>
            </a:r>
            <a:endParaRPr lang="en-US" sz="2800" b="0" i="0" u="none" strike="noStrike" baseline="0" dirty="0">
              <a:latin typeface="Times New Roman" panose="02020603050405020304" pitchFamily="18" charset="0"/>
              <a:cs typeface="Times New Roman" panose="02020603050405020304" pitchFamily="18" charset="0"/>
            </a:endParaRPr>
          </a:p>
          <a:p>
            <a:pPr lvl="1"/>
            <a:r>
              <a:rPr lang="en-US" sz="2800" b="0" i="0" u="none" strike="noStrike" baseline="0" dirty="0">
                <a:latin typeface="Times New Roman" panose="02020603050405020304" pitchFamily="18" charset="0"/>
                <a:cs typeface="Times New Roman" panose="02020603050405020304" pitchFamily="18" charset="0"/>
              </a:rPr>
              <a:t>Blood coagulation</a:t>
            </a:r>
          </a:p>
          <a:p>
            <a:pPr lvl="1"/>
            <a:r>
              <a:rPr lang="en-US" sz="2800" b="0" i="0" u="none" strike="noStrike" baseline="0" dirty="0">
                <a:latin typeface="Times New Roman" panose="02020603050405020304" pitchFamily="18" charset="0"/>
                <a:cs typeface="Times New Roman" panose="02020603050405020304" pitchFamily="18" charset="0"/>
              </a:rPr>
              <a:t>Works with phosphorus to form bones and teeth</a:t>
            </a:r>
            <a:endParaRPr lang="en-US"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5A8DB1FA-F155-2068-C718-11360BFAC90A}"/>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9F6BF5CF-90AF-5AAC-5D3A-14B1FDD1A460}"/>
              </a:ext>
            </a:extLst>
          </p:cNvPr>
          <p:cNvSpPr>
            <a:spLocks noGrp="1"/>
          </p:cNvSpPr>
          <p:nvPr>
            <p:ph type="sldNum" sz="quarter" idx="12"/>
          </p:nvPr>
        </p:nvSpPr>
        <p:spPr/>
        <p:txBody>
          <a:bodyPr/>
          <a:lstStyle/>
          <a:p>
            <a:fld id="{CB22993B-EEE5-4EB1-BEE5-4FFFA489F796}" type="slidenum">
              <a:rPr lang="en-US" smtClean="0"/>
              <a:t>62</a:t>
            </a:fld>
            <a:endParaRPr lang="en-US"/>
          </a:p>
        </p:txBody>
      </p:sp>
    </p:spTree>
    <p:extLst>
      <p:ext uri="{BB962C8B-B14F-4D97-AF65-F5344CB8AC3E}">
        <p14:creationId xmlns:p14="http://schemas.microsoft.com/office/powerpoint/2010/main" val="25690531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3D8B3C-A506-4616-87A5-F5034B6D080E}"/>
              </a:ext>
            </a:extLst>
          </p:cNvPr>
          <p:cNvSpPr>
            <a:spLocks noGrp="1"/>
          </p:cNvSpPr>
          <p:nvPr>
            <p:ph type="title"/>
          </p:nvPr>
        </p:nvSpPr>
        <p:spPr>
          <a:xfrm>
            <a:off x="838200" y="365126"/>
            <a:ext cx="10515600" cy="609236"/>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Normal calcium balance</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6C545255-B0EF-43A5-A7CD-2412A89DFC25}"/>
              </a:ext>
            </a:extLst>
          </p:cNvPr>
          <p:cNvSpPr>
            <a:spLocks noGrp="1"/>
          </p:cNvSpPr>
          <p:nvPr>
            <p:ph idx="1"/>
          </p:nvPr>
        </p:nvSpPr>
        <p:spPr>
          <a:xfrm>
            <a:off x="838200" y="1139252"/>
            <a:ext cx="10515600" cy="5718748"/>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Calcium intake in adults averages 600–800 mg/d.</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Intestinal absorption of calcium occurs primarily in the proximal </a:t>
            </a:r>
            <a:r>
              <a:rPr lang="en-US" sz="2800" b="1" i="0" u="none" strike="noStrike" baseline="0" dirty="0">
                <a:latin typeface="Times New Roman" panose="02020603050405020304" pitchFamily="18" charset="0"/>
                <a:cs typeface="Times New Roman" panose="02020603050405020304" pitchFamily="18" charset="0"/>
              </a:rPr>
              <a:t>small bowel.</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The kidneys are responsible for most calcium excretion.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Renal calcium excretion averages 100 mg/d but may vary from as low as 50 mg/d to more than 300 mg/d.</a:t>
            </a:r>
          </a:p>
          <a:p>
            <a:pPr algn="l">
              <a:lnSpc>
                <a:spcPct val="100000"/>
              </a:lnSpc>
            </a:pPr>
            <a:r>
              <a:rPr lang="en-US" dirty="0">
                <a:latin typeface="Times New Roman" panose="02020603050405020304" pitchFamily="18" charset="0"/>
                <a:cs typeface="Times New Roman" panose="02020603050405020304" pitchFamily="18" charset="0"/>
              </a:rPr>
              <a:t>Normal calcium concentrations are maintained as a result of tightly regulated ion transport by the </a:t>
            </a:r>
            <a:r>
              <a:rPr lang="en-US" b="1" dirty="0">
                <a:latin typeface="Times New Roman" panose="02020603050405020304" pitchFamily="18" charset="0"/>
                <a:cs typeface="Times New Roman" panose="02020603050405020304" pitchFamily="18" charset="0"/>
              </a:rPr>
              <a:t>kidneys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intestinal tract </a:t>
            </a:r>
            <a:r>
              <a:rPr lang="en-US" dirty="0">
                <a:latin typeface="Times New Roman" panose="02020603050405020304" pitchFamily="18" charset="0"/>
                <a:cs typeface="Times New Roman" panose="02020603050405020304" pitchFamily="18" charset="0"/>
              </a:rPr>
              <a:t>and</a:t>
            </a:r>
            <a:r>
              <a:rPr lang="en-US" b="1" dirty="0">
                <a:latin typeface="Times New Roman" panose="02020603050405020304" pitchFamily="18" charset="0"/>
                <a:cs typeface="Times New Roman" panose="02020603050405020304" pitchFamily="18" charset="0"/>
              </a:rPr>
              <a:t> bone</a:t>
            </a:r>
            <a:r>
              <a:rPr lang="en-US" dirty="0">
                <a:latin typeface="Times New Roman" panose="02020603050405020304" pitchFamily="18" charset="0"/>
                <a:cs typeface="Times New Roman" panose="02020603050405020304" pitchFamily="18" charset="0"/>
              </a:rPr>
              <a:t>.</a:t>
            </a:r>
          </a:p>
        </p:txBody>
      </p:sp>
      <p:sp>
        <p:nvSpPr>
          <p:cNvPr id="4" name="Date Placeholder 3">
            <a:extLst>
              <a:ext uri="{FF2B5EF4-FFF2-40B4-BE49-F238E27FC236}">
                <a16:creationId xmlns:a16="http://schemas.microsoft.com/office/drawing/2014/main" xmlns="" id="{DB72B60B-763A-9AC1-8BAA-FC83989AFC25}"/>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15D91E35-1E1D-1459-6E18-D6B947B6632C}"/>
              </a:ext>
            </a:extLst>
          </p:cNvPr>
          <p:cNvSpPr>
            <a:spLocks noGrp="1"/>
          </p:cNvSpPr>
          <p:nvPr>
            <p:ph type="sldNum" sz="quarter" idx="12"/>
          </p:nvPr>
        </p:nvSpPr>
        <p:spPr/>
        <p:txBody>
          <a:bodyPr/>
          <a:lstStyle/>
          <a:p>
            <a:fld id="{CB22993B-EEE5-4EB1-BEE5-4FFFA489F796}" type="slidenum">
              <a:rPr lang="en-US" smtClean="0"/>
              <a:t>63</a:t>
            </a:fld>
            <a:endParaRPr lang="en-US"/>
          </a:p>
        </p:txBody>
      </p:sp>
    </p:spTree>
    <p:extLst>
      <p:ext uri="{BB962C8B-B14F-4D97-AF65-F5344CB8AC3E}">
        <p14:creationId xmlns:p14="http://schemas.microsoft.com/office/powerpoint/2010/main" val="3776428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39CA3D-1B24-4959-B54A-CC117CDACE81}"/>
              </a:ext>
            </a:extLst>
          </p:cNvPr>
          <p:cNvSpPr>
            <a:spLocks noGrp="1"/>
          </p:cNvSpPr>
          <p:nvPr>
            <p:ph type="title"/>
          </p:nvPr>
        </p:nvSpPr>
        <p:spPr>
          <a:xfrm>
            <a:off x="838200" y="365126"/>
            <a:ext cx="10515600" cy="624226"/>
          </a:xfrm>
        </p:spPr>
        <p:txBody>
          <a:bodyPr>
            <a:normAutofit fontScale="90000"/>
          </a:bodyPr>
          <a:lstStyle/>
          <a:p>
            <a:r>
              <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F5E63DB7-2ABA-4AC4-9FFC-4AE351AD643A}"/>
              </a:ext>
            </a:extLst>
          </p:cNvPr>
          <p:cNvSpPr>
            <a:spLocks noGrp="1"/>
          </p:cNvSpPr>
          <p:nvPr>
            <p:ph idx="1"/>
          </p:nvPr>
        </p:nvSpPr>
        <p:spPr>
          <a:xfrm>
            <a:off x="838200" y="1109272"/>
            <a:ext cx="10515600" cy="5383602"/>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Normally, 98% of the filterable</a:t>
            </a:r>
            <a:r>
              <a:rPr lang="en-US"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calcium is reabsorbed.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Calcium reabsorption parallels that of sodium in the proximal renal tubules and the ascending loop of Henle.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In the distal tubules, however, calcium reabsorption is dependent on </a:t>
            </a:r>
            <a:r>
              <a:rPr lang="en-US" sz="2800" b="1" i="0" u="none" strike="noStrike" baseline="0" dirty="0">
                <a:latin typeface="Times New Roman" panose="02020603050405020304" pitchFamily="18" charset="0"/>
                <a:cs typeface="Times New Roman" panose="02020603050405020304" pitchFamily="18" charset="0"/>
              </a:rPr>
              <a:t>parathyroid hormone </a:t>
            </a:r>
            <a:r>
              <a:rPr lang="en-US" sz="2800" b="0" i="0" u="none" strike="noStrike" baseline="0" dirty="0">
                <a:latin typeface="Times New Roman" panose="02020603050405020304" pitchFamily="18" charset="0"/>
                <a:cs typeface="Times New Roman" panose="02020603050405020304" pitchFamily="18" charset="0"/>
              </a:rPr>
              <a:t>(PTH) secretion, whereas sodium reabsorption is dependent on </a:t>
            </a:r>
            <a:r>
              <a:rPr lang="en-US" sz="2800" b="1" i="0" u="none" strike="noStrike" baseline="0" dirty="0">
                <a:latin typeface="Times New Roman" panose="02020603050405020304" pitchFamily="18" charset="0"/>
                <a:cs typeface="Times New Roman" panose="02020603050405020304" pitchFamily="18" charset="0"/>
              </a:rPr>
              <a:t>aldosterone</a:t>
            </a:r>
            <a:r>
              <a:rPr lang="en-US" sz="2800" b="0" i="0" u="none" strike="noStrike" baseline="0" dirty="0">
                <a:latin typeface="Times New Roman" panose="02020603050405020304" pitchFamily="18" charset="0"/>
                <a:cs typeface="Times New Roman" panose="02020603050405020304" pitchFamily="18" charset="0"/>
              </a:rPr>
              <a:t> secretion.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Increased PTH levels enhance distal calcium reabsorption and thereby decrease urinary calcium excretion.</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1B66E385-4ECC-CCC1-87AA-4F6846C8B07F}"/>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B3B509F6-8E7C-FBBB-EFA8-EE9D3A27406A}"/>
              </a:ext>
            </a:extLst>
          </p:cNvPr>
          <p:cNvSpPr>
            <a:spLocks noGrp="1"/>
          </p:cNvSpPr>
          <p:nvPr>
            <p:ph type="sldNum" sz="quarter" idx="12"/>
          </p:nvPr>
        </p:nvSpPr>
        <p:spPr/>
        <p:txBody>
          <a:bodyPr/>
          <a:lstStyle/>
          <a:p>
            <a:fld id="{CB22993B-EEE5-4EB1-BEE5-4FFFA489F796}" type="slidenum">
              <a:rPr lang="en-US" smtClean="0"/>
              <a:t>64</a:t>
            </a:fld>
            <a:endParaRPr lang="en-US"/>
          </a:p>
        </p:txBody>
      </p:sp>
    </p:spTree>
    <p:extLst>
      <p:ext uri="{BB962C8B-B14F-4D97-AF65-F5344CB8AC3E}">
        <p14:creationId xmlns:p14="http://schemas.microsoft.com/office/powerpoint/2010/main" val="18471243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C375ED-ADE8-42A3-87E4-8CE33F555561}"/>
              </a:ext>
            </a:extLst>
          </p:cNvPr>
          <p:cNvSpPr>
            <a:spLocks noGrp="1"/>
          </p:cNvSpPr>
          <p:nvPr>
            <p:ph type="title"/>
          </p:nvPr>
        </p:nvSpPr>
        <p:spPr>
          <a:xfrm>
            <a:off x="838200" y="365125"/>
            <a:ext cx="10515600" cy="564265"/>
          </a:xfrm>
        </p:spPr>
        <p:txBody>
          <a:bodyPr>
            <a:normAutofit fontScale="90000"/>
          </a:bodyPr>
          <a:lstStyle/>
          <a:p>
            <a:r>
              <a:rPr lang="en-US" sz="4400" b="1" i="0" u="none" strike="noStrike" baseline="0" dirty="0">
                <a:solidFill>
                  <a:srgbClr val="0081A6"/>
                </a:solidFill>
                <a:latin typeface="MyriadPro-Bold"/>
              </a:rPr>
              <a:t> </a:t>
            </a:r>
            <a:r>
              <a:rPr lang="en-US" sz="4000" i="0" u="none" strike="noStrike" baseline="0" dirty="0">
                <a:latin typeface="Times New Roman" panose="02020603050405020304" pitchFamily="18" charset="0"/>
                <a:cs typeface="Times New Roman" panose="02020603050405020304" pitchFamily="18" charset="0"/>
              </a:rPr>
              <a:t>Plasma Calcium Concentration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6D15FCE3-A199-44BD-8EF8-785C0E75F19A}"/>
              </a:ext>
            </a:extLst>
          </p:cNvPr>
          <p:cNvSpPr>
            <a:spLocks noGrp="1"/>
          </p:cNvSpPr>
          <p:nvPr>
            <p:ph idx="1"/>
          </p:nvPr>
        </p:nvSpPr>
        <p:spPr>
          <a:xfrm>
            <a:off x="838200" y="1049311"/>
            <a:ext cx="10515600" cy="5127652"/>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The normal plasma calcium concentration is 8.5–10.5 </a:t>
            </a:r>
            <a:r>
              <a:rPr lang="en-US" sz="2800" b="0" i="0" u="none" strike="noStrike" baseline="0" dirty="0" smtClean="0">
                <a:latin typeface="Times New Roman" panose="02020603050405020304" pitchFamily="18" charset="0"/>
                <a:cs typeface="Times New Roman" panose="02020603050405020304" pitchFamily="18" charset="0"/>
              </a:rPr>
              <a:t>mg/</a:t>
            </a:r>
            <a:r>
              <a:rPr lang="en-US" sz="2800" b="0" i="0" u="none" strike="noStrike" baseline="0" dirty="0" err="1" smtClean="0">
                <a:latin typeface="Times New Roman" panose="02020603050405020304" pitchFamily="18" charset="0"/>
                <a:cs typeface="Times New Roman" panose="02020603050405020304" pitchFamily="18" charset="0"/>
              </a:rPr>
              <a:t>dL</a:t>
            </a:r>
            <a:r>
              <a:rPr lang="en-US" sz="2800" b="0" i="0" u="none" strike="noStrike" baseline="0" dirty="0" smtClean="0">
                <a:latin typeface="Times New Roman" panose="02020603050405020304" pitchFamily="18" charset="0"/>
                <a:cs typeface="Times New Roman" panose="02020603050405020304" pitchFamily="18" charset="0"/>
              </a:rPr>
              <a:t>. </a:t>
            </a:r>
            <a:endParaRPr lang="en-US" sz="2800" b="0" i="0" u="none" strike="noStrike" baseline="0" dirty="0">
              <a:latin typeface="Times New Roman" panose="02020603050405020304" pitchFamily="18" charset="0"/>
              <a:cs typeface="Times New Roman" panose="02020603050405020304" pitchFamily="18" charset="0"/>
            </a:endParaRPr>
          </a:p>
          <a:p>
            <a:pPr algn="l"/>
            <a:r>
              <a:rPr lang="en-US" sz="2800" b="0" i="0" u="none" strike="noStrike" baseline="0" dirty="0">
                <a:latin typeface="Times New Roman" panose="02020603050405020304" pitchFamily="18" charset="0"/>
                <a:cs typeface="Times New Roman" panose="02020603050405020304" pitchFamily="18" charset="0"/>
              </a:rPr>
              <a:t>Approximately</a:t>
            </a:r>
            <a:r>
              <a:rPr lang="en-US"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50% is in the free ionized form, 40% is protein bound (mainly to albumin), and 10% is complexed with anions such as citrate and amino acids.</a:t>
            </a:r>
          </a:p>
          <a:p>
            <a:pPr algn="l"/>
            <a:r>
              <a:rPr lang="en-US" sz="2800" b="0" i="0" u="none" strike="noStrike" baseline="0" dirty="0">
                <a:latin typeface="Times New Roman" panose="02020603050405020304" pitchFamily="18" charset="0"/>
                <a:cs typeface="Times New Roman" panose="02020603050405020304" pitchFamily="18" charset="0"/>
              </a:rPr>
              <a:t>The free ionized calcium concentration ([Ca </a:t>
            </a:r>
            <a:r>
              <a:rPr lang="en-US" sz="800" b="0" i="0" u="none" strike="noStrike" baseline="0" dirty="0">
                <a:latin typeface="Times New Roman" panose="02020603050405020304" pitchFamily="18" charset="0"/>
                <a:cs typeface="Times New Roman" panose="02020603050405020304" pitchFamily="18" charset="0"/>
              </a:rPr>
              <a:t>2+ </a:t>
            </a:r>
            <a:r>
              <a:rPr lang="en-US" sz="2800" b="0" i="0" u="none" strike="noStrike" baseline="0" dirty="0">
                <a:latin typeface="Times New Roman" panose="02020603050405020304" pitchFamily="18" charset="0"/>
                <a:cs typeface="Times New Roman" panose="02020603050405020304" pitchFamily="18" charset="0"/>
              </a:rPr>
              <a:t>]) is physiologically most important. </a:t>
            </a:r>
          </a:p>
        </p:txBody>
      </p:sp>
      <p:sp>
        <p:nvSpPr>
          <p:cNvPr id="4" name="Date Placeholder 3">
            <a:extLst>
              <a:ext uri="{FF2B5EF4-FFF2-40B4-BE49-F238E27FC236}">
                <a16:creationId xmlns:a16="http://schemas.microsoft.com/office/drawing/2014/main" xmlns="" id="{EF53EF2C-240D-0CF1-A0FA-9345E27032EE}"/>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8715C0B6-9BD1-3056-E034-C4CE0A9E2AF3}"/>
              </a:ext>
            </a:extLst>
          </p:cNvPr>
          <p:cNvSpPr>
            <a:spLocks noGrp="1"/>
          </p:cNvSpPr>
          <p:nvPr>
            <p:ph type="sldNum" sz="quarter" idx="12"/>
          </p:nvPr>
        </p:nvSpPr>
        <p:spPr/>
        <p:txBody>
          <a:bodyPr/>
          <a:lstStyle/>
          <a:p>
            <a:fld id="{CB22993B-EEE5-4EB1-BEE5-4FFFA489F796}" type="slidenum">
              <a:rPr lang="en-US" smtClean="0"/>
              <a:t>65</a:t>
            </a:fld>
            <a:endParaRPr lang="en-US"/>
          </a:p>
        </p:txBody>
      </p:sp>
    </p:spTree>
    <p:extLst>
      <p:ext uri="{BB962C8B-B14F-4D97-AF65-F5344CB8AC3E}">
        <p14:creationId xmlns:p14="http://schemas.microsoft.com/office/powerpoint/2010/main" val="422102014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CD3A2B-21A1-4F6E-BFB8-FA372A5EB65A}"/>
              </a:ext>
            </a:extLst>
          </p:cNvPr>
          <p:cNvSpPr>
            <a:spLocks noGrp="1"/>
          </p:cNvSpPr>
          <p:nvPr>
            <p:ph type="title"/>
          </p:nvPr>
        </p:nvSpPr>
        <p:spPr>
          <a:xfrm>
            <a:off x="838200" y="365125"/>
            <a:ext cx="10515600" cy="594245"/>
          </a:xfrm>
        </p:spPr>
        <p:txBody>
          <a:bodyPr>
            <a:normAutofit fontScale="90000"/>
          </a:bodyPr>
          <a:lstStyle/>
          <a:p>
            <a:r>
              <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DFFB03D1-2334-48BB-95B8-117554B4EF23}"/>
              </a:ext>
            </a:extLst>
          </p:cNvPr>
          <p:cNvSpPr>
            <a:spLocks noGrp="1"/>
          </p:cNvSpPr>
          <p:nvPr>
            <p:ph idx="1"/>
          </p:nvPr>
        </p:nvSpPr>
        <p:spPr>
          <a:xfrm>
            <a:off x="838200" y="1109272"/>
            <a:ext cx="10515600" cy="5383603"/>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Changes in plasma pH directly affect the degree of protein binding and thus ionized calcium concentration.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Acidosis</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decreases protein binding resulting in </a:t>
            </a: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increased</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free calcium level.</a:t>
            </a:r>
            <a:endParaRPr lang="en-US" sz="2800" b="0" i="0" u="none" strike="noStrike" baseline="0" dirty="0">
              <a:latin typeface="Times New Roman" panose="02020603050405020304" pitchFamily="18" charset="0"/>
              <a:cs typeface="Times New Roman" panose="02020603050405020304" pitchFamily="18" charset="0"/>
            </a:endParaRPr>
          </a:p>
          <a:p>
            <a:pPr algn="l"/>
            <a:r>
              <a:rPr lang="en-US" b="1" dirty="0">
                <a:latin typeface="Times New Roman" panose="02020603050405020304" pitchFamily="18" charset="0"/>
                <a:cs typeface="Times New Roman" panose="02020603050405020304" pitchFamily="18" charset="0"/>
              </a:rPr>
              <a:t>Alkalosis</a:t>
            </a:r>
            <a:r>
              <a:rPr lang="en-US" dirty="0">
                <a:latin typeface="Times New Roman" panose="02020603050405020304" pitchFamily="18" charset="0"/>
                <a:cs typeface="Times New Roman" panose="02020603050405020304" pitchFamily="18" charset="0"/>
              </a:rPr>
              <a:t> promotes increased protein binding, which decreases free calcium levels.</a:t>
            </a:r>
          </a:p>
          <a:p>
            <a:pPr algn="l"/>
            <a:r>
              <a:rPr lang="en-US" sz="2800" b="0" i="0" u="none" strike="noStrike" baseline="0" dirty="0">
                <a:latin typeface="Times New Roman" panose="02020603050405020304" pitchFamily="18" charset="0"/>
                <a:cs typeface="Times New Roman" panose="02020603050405020304" pitchFamily="18" charset="0"/>
              </a:rPr>
              <a:t>Ionized calcium increases approximately 0.16 mg/dL for each decrease of 0.1 unit in plasma pH and decreases by the same amount for each 0.1 unit increase in </a:t>
            </a:r>
            <a:r>
              <a:rPr lang="en-US" sz="2800" b="0" i="0" u="none" strike="noStrike" baseline="0" dirty="0" err="1">
                <a:latin typeface="Times New Roman" panose="02020603050405020304" pitchFamily="18" charset="0"/>
                <a:cs typeface="Times New Roman" panose="02020603050405020304" pitchFamily="18" charset="0"/>
              </a:rPr>
              <a:t>pH.</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ED873032-D23F-777B-F3E5-58A04FA1DAE1}"/>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266DCE10-C2B5-CBD5-9B1D-2B97643A55D2}"/>
              </a:ext>
            </a:extLst>
          </p:cNvPr>
          <p:cNvSpPr>
            <a:spLocks noGrp="1"/>
          </p:cNvSpPr>
          <p:nvPr>
            <p:ph type="sldNum" sz="quarter" idx="12"/>
          </p:nvPr>
        </p:nvSpPr>
        <p:spPr/>
        <p:txBody>
          <a:bodyPr/>
          <a:lstStyle/>
          <a:p>
            <a:fld id="{CB22993B-EEE5-4EB1-BEE5-4FFFA489F796}" type="slidenum">
              <a:rPr lang="en-US" smtClean="0"/>
              <a:t>66</a:t>
            </a:fld>
            <a:endParaRPr lang="en-US"/>
          </a:p>
        </p:txBody>
      </p:sp>
    </p:spTree>
    <p:extLst>
      <p:ext uri="{BB962C8B-B14F-4D97-AF65-F5344CB8AC3E}">
        <p14:creationId xmlns:p14="http://schemas.microsoft.com/office/powerpoint/2010/main" val="270936007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BE0C78-8F57-42FD-A8F2-640892F0F39E}"/>
              </a:ext>
            </a:extLst>
          </p:cNvPr>
          <p:cNvSpPr>
            <a:spLocks noGrp="1"/>
          </p:cNvSpPr>
          <p:nvPr>
            <p:ph type="title"/>
          </p:nvPr>
        </p:nvSpPr>
        <p:spPr>
          <a:xfrm>
            <a:off x="838200" y="365125"/>
            <a:ext cx="10515600" cy="519295"/>
          </a:xfrm>
        </p:spPr>
        <p:txBody>
          <a:bodyPr>
            <a:noAutofit/>
          </a:bodyPr>
          <a:lstStyle/>
          <a:p>
            <a:r>
              <a:rPr lang="en-US" sz="3200" i="0" u="none" strike="noStrike" baseline="0" dirty="0">
                <a:latin typeface="Times New Roman" panose="02020603050405020304" pitchFamily="18" charset="0"/>
                <a:cs typeface="Times New Roman" panose="02020603050405020304" pitchFamily="18" charset="0"/>
              </a:rPr>
              <a:t>Regulation of Extracellular Ionized Calcium Concentration </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0283F43B-B0B3-4296-8549-EEC91500A4E5}"/>
              </a:ext>
            </a:extLst>
          </p:cNvPr>
          <p:cNvSpPr>
            <a:spLocks noGrp="1"/>
          </p:cNvSpPr>
          <p:nvPr>
            <p:ph idx="1"/>
          </p:nvPr>
        </p:nvSpPr>
        <p:spPr>
          <a:xfrm>
            <a:off x="838200" y="1049311"/>
            <a:ext cx="10515600" cy="5443564"/>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Calcium normally enters ECF by either </a:t>
            </a:r>
            <a:r>
              <a:rPr lang="en-US" sz="2800" b="1" i="0" u="none" strike="noStrike" baseline="0" dirty="0">
                <a:latin typeface="Times New Roman" panose="02020603050405020304" pitchFamily="18" charset="0"/>
                <a:cs typeface="Times New Roman" panose="02020603050405020304" pitchFamily="18" charset="0"/>
              </a:rPr>
              <a:t>absorption</a:t>
            </a:r>
            <a:r>
              <a:rPr lang="en-US" sz="2800" b="0" i="0" u="none" strike="noStrike" baseline="0" dirty="0">
                <a:latin typeface="Times New Roman" panose="02020603050405020304" pitchFamily="18" charset="0"/>
                <a:cs typeface="Times New Roman" panose="02020603050405020304" pitchFamily="18" charset="0"/>
              </a:rPr>
              <a:t> from the intestinal tract or </a:t>
            </a:r>
            <a:r>
              <a:rPr lang="en-US" sz="2800" b="1" i="0" u="none" strike="noStrike" baseline="0" dirty="0">
                <a:latin typeface="Times New Roman" panose="02020603050405020304" pitchFamily="18" charset="0"/>
                <a:cs typeface="Times New Roman" panose="02020603050405020304" pitchFamily="18" charset="0"/>
              </a:rPr>
              <a:t>resorption</a:t>
            </a:r>
            <a:r>
              <a:rPr lang="en-US" sz="2800" b="0" i="0" u="none" strike="noStrike" baseline="0" dirty="0">
                <a:latin typeface="Times New Roman" panose="02020603050405020304" pitchFamily="18" charset="0"/>
                <a:cs typeface="Times New Roman" panose="02020603050405020304" pitchFamily="18" charset="0"/>
              </a:rPr>
              <a:t> of bone; only 0.5–1% of calcium in bone is exchangeable with ECF. </a:t>
            </a:r>
          </a:p>
          <a:p>
            <a:pPr algn="l"/>
            <a:r>
              <a:rPr lang="en-US" dirty="0">
                <a:latin typeface="Times New Roman" panose="02020603050405020304" pitchFamily="18" charset="0"/>
                <a:cs typeface="Times New Roman" panose="02020603050405020304" pitchFamily="18" charset="0"/>
              </a:rPr>
              <a:t>C</a:t>
            </a:r>
            <a:r>
              <a:rPr lang="en-US" b="0" i="0" u="none" strike="noStrike" baseline="0" dirty="0">
                <a:latin typeface="Times New Roman" panose="02020603050405020304" pitchFamily="18" charset="0"/>
                <a:cs typeface="Times New Roman" panose="02020603050405020304" pitchFamily="18" charset="0"/>
              </a:rPr>
              <a:t>alcium normally leaves the extracellular compartment by </a:t>
            </a:r>
          </a:p>
          <a:p>
            <a:pPr lvl="1">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Deposition into bone</a:t>
            </a:r>
          </a:p>
          <a:p>
            <a:pPr lvl="1">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Urinary excretion</a:t>
            </a:r>
          </a:p>
          <a:p>
            <a:pPr lvl="1">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Secretion into the intestinal tract, and </a:t>
            </a:r>
          </a:p>
          <a:p>
            <a:pPr lvl="1">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S</a:t>
            </a:r>
            <a:r>
              <a:rPr lang="en-US" sz="2800" b="0" i="0" u="none" strike="noStrike" baseline="0" dirty="0">
                <a:latin typeface="Times New Roman" panose="02020603050405020304" pitchFamily="18" charset="0"/>
                <a:cs typeface="Times New Roman" panose="02020603050405020304" pitchFamily="18" charset="0"/>
              </a:rPr>
              <a:t>weat formation.</a:t>
            </a:r>
            <a:endParaRPr lang="en-US"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28A9FE6C-B9D4-6B83-3082-E5E51B0C7DE1}"/>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B7175B6A-61C7-0655-E3A4-ADAB4EB55D80}"/>
              </a:ext>
            </a:extLst>
          </p:cNvPr>
          <p:cNvSpPr>
            <a:spLocks noGrp="1"/>
          </p:cNvSpPr>
          <p:nvPr>
            <p:ph type="sldNum" sz="quarter" idx="12"/>
          </p:nvPr>
        </p:nvSpPr>
        <p:spPr/>
        <p:txBody>
          <a:bodyPr/>
          <a:lstStyle/>
          <a:p>
            <a:fld id="{CB22993B-EEE5-4EB1-BEE5-4FFFA489F796}" type="slidenum">
              <a:rPr lang="en-US" smtClean="0"/>
              <a:t>67</a:t>
            </a:fld>
            <a:endParaRPr lang="en-US"/>
          </a:p>
        </p:txBody>
      </p:sp>
    </p:spTree>
    <p:extLst>
      <p:ext uri="{BB962C8B-B14F-4D97-AF65-F5344CB8AC3E}">
        <p14:creationId xmlns:p14="http://schemas.microsoft.com/office/powerpoint/2010/main" val="64189964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838018-BE92-4B38-B228-3138C8E818C1}"/>
              </a:ext>
            </a:extLst>
          </p:cNvPr>
          <p:cNvSpPr>
            <a:spLocks noGrp="1"/>
          </p:cNvSpPr>
          <p:nvPr>
            <p:ph type="title"/>
          </p:nvPr>
        </p:nvSpPr>
        <p:spPr>
          <a:xfrm>
            <a:off x="838200" y="365125"/>
            <a:ext cx="10515600" cy="579255"/>
          </a:xfrm>
        </p:spPr>
        <p:txBody>
          <a:bodyPr>
            <a:normAutofit fontScale="90000"/>
          </a:bodyPr>
          <a:lstStyle/>
          <a:p>
            <a:r>
              <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4B617465-DFDB-47B9-A6F5-A97A83E157E0}"/>
              </a:ext>
            </a:extLst>
          </p:cNvPr>
          <p:cNvSpPr>
            <a:spLocks noGrp="1"/>
          </p:cNvSpPr>
          <p:nvPr>
            <p:ph idx="1"/>
          </p:nvPr>
        </p:nvSpPr>
        <p:spPr>
          <a:xfrm>
            <a:off x="838200" y="1064302"/>
            <a:ext cx="10515600" cy="5112661"/>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Extracellular [Ca </a:t>
            </a:r>
            <a:r>
              <a:rPr lang="en-US" sz="800" b="0" i="0" u="none" strike="noStrike" baseline="0" dirty="0">
                <a:latin typeface="Times New Roman" panose="02020603050405020304" pitchFamily="18" charset="0"/>
                <a:cs typeface="Times New Roman" panose="02020603050405020304" pitchFamily="18" charset="0"/>
              </a:rPr>
              <a:t>2+ </a:t>
            </a:r>
            <a:r>
              <a:rPr lang="en-US" sz="2800" b="0" i="0" u="none" strike="noStrike" baseline="0" dirty="0">
                <a:latin typeface="Times New Roman" panose="02020603050405020304" pitchFamily="18" charset="0"/>
                <a:cs typeface="Times New Roman" panose="02020603050405020304" pitchFamily="18" charset="0"/>
              </a:rPr>
              <a:t>] is closely regulated by three hormones: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Parathyroid hormone (PTH)</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Vitamin</a:t>
            </a:r>
            <a:r>
              <a:rPr lang="en-US" sz="280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D </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Calcitonin </a:t>
            </a:r>
          </a:p>
          <a:p>
            <a:pPr algn="l"/>
            <a:r>
              <a:rPr lang="en-US" sz="2800" b="0" i="0" u="none" strike="noStrike" baseline="0" dirty="0">
                <a:latin typeface="Times New Roman" panose="02020603050405020304" pitchFamily="18" charset="0"/>
                <a:cs typeface="Times New Roman" panose="02020603050405020304" pitchFamily="18" charset="0"/>
              </a:rPr>
              <a:t>These hormones act primarily on bone, the distal renal tubules, and the small bowel.</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A04B5357-B814-BB0E-35A6-51825F8EAB3C}"/>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EED105DF-FE62-D297-D72C-3D193A735B45}"/>
              </a:ext>
            </a:extLst>
          </p:cNvPr>
          <p:cNvSpPr>
            <a:spLocks noGrp="1"/>
          </p:cNvSpPr>
          <p:nvPr>
            <p:ph type="sldNum" sz="quarter" idx="12"/>
          </p:nvPr>
        </p:nvSpPr>
        <p:spPr/>
        <p:txBody>
          <a:bodyPr/>
          <a:lstStyle/>
          <a:p>
            <a:fld id="{CB22993B-EEE5-4EB1-BEE5-4FFFA489F796}" type="slidenum">
              <a:rPr lang="en-US" smtClean="0"/>
              <a:t>68</a:t>
            </a:fld>
            <a:endParaRPr lang="en-US"/>
          </a:p>
        </p:txBody>
      </p:sp>
    </p:spTree>
    <p:extLst>
      <p:ext uri="{BB962C8B-B14F-4D97-AF65-F5344CB8AC3E}">
        <p14:creationId xmlns:p14="http://schemas.microsoft.com/office/powerpoint/2010/main" val="293566176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12398A-A7F6-4DFD-9713-CA2591F7507D}"/>
              </a:ext>
            </a:extLst>
          </p:cNvPr>
          <p:cNvSpPr>
            <a:spLocks noGrp="1"/>
          </p:cNvSpPr>
          <p:nvPr>
            <p:ph type="title"/>
          </p:nvPr>
        </p:nvSpPr>
        <p:spPr>
          <a:xfrm>
            <a:off x="838200" y="365125"/>
            <a:ext cx="10515600" cy="564265"/>
          </a:xfrm>
        </p:spPr>
        <p:txBody>
          <a:bodyPr>
            <a:normAutofit fontScale="90000"/>
          </a:bodyPr>
          <a:lstStyle/>
          <a:p>
            <a:r>
              <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70C7B6D4-7ABE-41F5-8AF4-692C65F62A37}"/>
              </a:ext>
            </a:extLst>
          </p:cNvPr>
          <p:cNvSpPr>
            <a:spLocks noGrp="1"/>
          </p:cNvSpPr>
          <p:nvPr>
            <p:ph idx="1"/>
          </p:nvPr>
        </p:nvSpPr>
        <p:spPr>
          <a:xfrm>
            <a:off x="838200" y="1079292"/>
            <a:ext cx="10515600" cy="5097671"/>
          </a:xfrm>
        </p:spPr>
        <p:txBody>
          <a:bodyPr>
            <a:normAutofit/>
          </a:bodyPr>
          <a:lstStyle/>
          <a:p>
            <a:pPr algn="l"/>
            <a:r>
              <a:rPr lang="en-US" sz="2800" b="1" i="0" u="none" strike="noStrike" baseline="0" dirty="0">
                <a:latin typeface="Times New Roman" panose="02020603050405020304" pitchFamily="18" charset="0"/>
                <a:cs typeface="Times New Roman" panose="02020603050405020304" pitchFamily="18" charset="0"/>
              </a:rPr>
              <a:t>PTH </a:t>
            </a:r>
            <a:r>
              <a:rPr lang="en-US" sz="2800" b="0" i="0" u="none" strike="noStrike" baseline="0" dirty="0">
                <a:latin typeface="Times New Roman" panose="02020603050405020304" pitchFamily="18" charset="0"/>
                <a:cs typeface="Times New Roman" panose="02020603050405020304" pitchFamily="18" charset="0"/>
              </a:rPr>
              <a:t>is the most important regulator of plasma [Ca </a:t>
            </a:r>
            <a:r>
              <a:rPr lang="en-US" sz="800" b="0" i="0" u="none" strike="noStrike" baseline="0" dirty="0">
                <a:latin typeface="Times New Roman" panose="02020603050405020304" pitchFamily="18" charset="0"/>
                <a:cs typeface="Times New Roman" panose="02020603050405020304" pitchFamily="18" charset="0"/>
              </a:rPr>
              <a:t>2+ </a:t>
            </a:r>
            <a:r>
              <a:rPr lang="en-US" sz="2800" b="0" i="0" u="none" strike="noStrike" baseline="0" dirty="0">
                <a:latin typeface="Times New Roman" panose="02020603050405020304" pitchFamily="18" charset="0"/>
                <a:cs typeface="Times New Roman" panose="02020603050405020304" pitchFamily="18" charset="0"/>
              </a:rPr>
              <a:t>]. </a:t>
            </a:r>
          </a:p>
          <a:p>
            <a:pPr algn="l"/>
            <a:r>
              <a:rPr lang="en-US" sz="2800" b="0" i="0" u="none" strike="noStrike" baseline="0" dirty="0">
                <a:latin typeface="Times New Roman" panose="02020603050405020304" pitchFamily="18" charset="0"/>
                <a:cs typeface="Times New Roman" panose="02020603050405020304" pitchFamily="18" charset="0"/>
              </a:rPr>
              <a:t>Decreases in plasma [Ca </a:t>
            </a:r>
            <a:r>
              <a:rPr lang="en-US" sz="800" b="0" i="0" u="none" strike="noStrike" baseline="0" dirty="0">
                <a:latin typeface="Times New Roman" panose="02020603050405020304" pitchFamily="18" charset="0"/>
                <a:cs typeface="Times New Roman" panose="02020603050405020304" pitchFamily="18" charset="0"/>
              </a:rPr>
              <a:t>2+ </a:t>
            </a:r>
            <a:r>
              <a:rPr lang="en-US" sz="2800" b="0" i="0" u="none" strike="noStrike" baseline="0" dirty="0">
                <a:latin typeface="Times New Roman" panose="02020603050405020304" pitchFamily="18" charset="0"/>
                <a:cs typeface="Times New Roman" panose="02020603050405020304" pitchFamily="18" charset="0"/>
              </a:rPr>
              <a:t>] stimulate PTH secretion, while increases in plasma [Ca </a:t>
            </a:r>
            <a:r>
              <a:rPr lang="en-US" sz="800" b="0" i="0" u="none" strike="noStrike" baseline="0" dirty="0">
                <a:latin typeface="Times New Roman" panose="02020603050405020304" pitchFamily="18" charset="0"/>
                <a:cs typeface="Times New Roman" panose="02020603050405020304" pitchFamily="18" charset="0"/>
              </a:rPr>
              <a:t>2+ </a:t>
            </a:r>
            <a:r>
              <a:rPr lang="en-US" sz="2800" b="0" i="0" u="none" strike="noStrike" baseline="0" dirty="0">
                <a:latin typeface="Times New Roman" panose="02020603050405020304" pitchFamily="18" charset="0"/>
                <a:cs typeface="Times New Roman" panose="02020603050405020304" pitchFamily="18" charset="0"/>
              </a:rPr>
              <a:t>] inhibit PTH secretion. </a:t>
            </a:r>
          </a:p>
          <a:p>
            <a:pPr algn="l"/>
            <a:r>
              <a:rPr lang="en-US" sz="2800" b="0" i="0" u="none" strike="noStrike" baseline="0" dirty="0">
                <a:latin typeface="Times New Roman" panose="02020603050405020304" pitchFamily="18" charset="0"/>
                <a:cs typeface="Times New Roman" panose="02020603050405020304" pitchFamily="18" charset="0"/>
              </a:rPr>
              <a:t>The calcemic effect of PTH is due to</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Mobilization of calcium from bone</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Enhancement of calcium reabsorption in the distal renal tubules, and </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An indirect increase in intestinal absorption of calcium via acceleration of 1,25-dihydroxycholecalciferol synthesis in the kidneys. </a:t>
            </a:r>
          </a:p>
        </p:txBody>
      </p:sp>
      <p:sp>
        <p:nvSpPr>
          <p:cNvPr id="4" name="Date Placeholder 3">
            <a:extLst>
              <a:ext uri="{FF2B5EF4-FFF2-40B4-BE49-F238E27FC236}">
                <a16:creationId xmlns:a16="http://schemas.microsoft.com/office/drawing/2014/main" xmlns="" id="{CC46AAE9-B520-71A4-B4C9-5814C51FD0FE}"/>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0576329E-A18B-8190-2452-BAD6C2F461E3}"/>
              </a:ext>
            </a:extLst>
          </p:cNvPr>
          <p:cNvSpPr>
            <a:spLocks noGrp="1"/>
          </p:cNvSpPr>
          <p:nvPr>
            <p:ph type="sldNum" sz="quarter" idx="12"/>
          </p:nvPr>
        </p:nvSpPr>
        <p:spPr/>
        <p:txBody>
          <a:bodyPr/>
          <a:lstStyle/>
          <a:p>
            <a:fld id="{CB22993B-EEE5-4EB1-BEE5-4FFFA489F796}" type="slidenum">
              <a:rPr lang="en-US" smtClean="0"/>
              <a:t>69</a:t>
            </a:fld>
            <a:endParaRPr lang="en-US"/>
          </a:p>
        </p:txBody>
      </p:sp>
    </p:spTree>
    <p:extLst>
      <p:ext uri="{BB962C8B-B14F-4D97-AF65-F5344CB8AC3E}">
        <p14:creationId xmlns:p14="http://schemas.microsoft.com/office/powerpoint/2010/main" val="90657968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8151D7-D4A4-424E-A39D-874F418234AF}"/>
              </a:ext>
            </a:extLst>
          </p:cNvPr>
          <p:cNvSpPr>
            <a:spLocks noGrp="1"/>
          </p:cNvSpPr>
          <p:nvPr>
            <p:ph type="title"/>
          </p:nvPr>
        </p:nvSpPr>
        <p:spPr>
          <a:xfrm>
            <a:off x="838200" y="365125"/>
            <a:ext cx="10515600" cy="549275"/>
          </a:xfrm>
        </p:spPr>
        <p:txBody>
          <a:bodyPr>
            <a:normAutofit fontScale="90000"/>
          </a:bodyPr>
          <a:lstStyle/>
          <a:p>
            <a:r>
              <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2E110269-60EF-4EA9-A21B-6C3A551D435B}"/>
              </a:ext>
            </a:extLst>
          </p:cNvPr>
          <p:cNvSpPr>
            <a:spLocks noGrp="1"/>
          </p:cNvSpPr>
          <p:nvPr>
            <p:ph idx="1"/>
          </p:nvPr>
        </p:nvSpPr>
        <p:spPr>
          <a:xfrm>
            <a:off x="838200" y="1109272"/>
            <a:ext cx="10515600" cy="5383603"/>
          </a:xfrm>
        </p:spPr>
        <p:txBody>
          <a:bodyPr>
            <a:normAutofit/>
          </a:bodyPr>
          <a:lstStyle/>
          <a:p>
            <a:pPr algn="l">
              <a:lnSpc>
                <a:spcPct val="100000"/>
              </a:lnSpc>
            </a:pPr>
            <a:r>
              <a:rPr lang="en-US" sz="2800" b="1" i="0" u="none" strike="noStrike" baseline="0" dirty="0">
                <a:latin typeface="Times New Roman" panose="02020603050405020304" pitchFamily="18" charset="0"/>
                <a:cs typeface="Times New Roman" panose="02020603050405020304" pitchFamily="18" charset="0"/>
              </a:rPr>
              <a:t>Vitamin D </a:t>
            </a:r>
            <a:r>
              <a:rPr lang="en-US" sz="2800" b="0" i="0" u="none" strike="noStrike" baseline="0" dirty="0">
                <a:latin typeface="Times New Roman" panose="02020603050405020304" pitchFamily="18" charset="0"/>
                <a:cs typeface="Times New Roman" panose="02020603050405020304" pitchFamily="18" charset="0"/>
              </a:rPr>
              <a:t>exists in several forms in the body, but 1,25 dihydroxycholecalciferol has the most important biological activity.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It is the product of the metabolic conversion of (primarily endogenous) cholecalciferol, first by the liver to 25-cholecalciferol and then by the kidneys to 1,25-dihydroxycholecalciferol.</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The latter transformation is enhanced by secretion of </a:t>
            </a:r>
            <a:r>
              <a:rPr lang="en-US" sz="2800" b="1" i="0" u="none" strike="noStrike" baseline="0" dirty="0">
                <a:latin typeface="Times New Roman" panose="02020603050405020304" pitchFamily="18" charset="0"/>
                <a:cs typeface="Times New Roman" panose="02020603050405020304" pitchFamily="18" charset="0"/>
              </a:rPr>
              <a:t>PTH</a:t>
            </a:r>
            <a:r>
              <a:rPr lang="en-US" sz="2800" b="0" i="0" u="none" strike="noStrike" baseline="0" dirty="0">
                <a:latin typeface="Times New Roman" panose="02020603050405020304" pitchFamily="18" charset="0"/>
                <a:cs typeface="Times New Roman" panose="02020603050405020304" pitchFamily="18" charset="0"/>
              </a:rPr>
              <a:t> as well as </a:t>
            </a:r>
            <a:r>
              <a:rPr lang="en-US" sz="2800" b="1" i="0" u="none" strike="noStrike" baseline="0" dirty="0">
                <a:latin typeface="Times New Roman" panose="02020603050405020304" pitchFamily="18" charset="0"/>
                <a:cs typeface="Times New Roman" panose="02020603050405020304" pitchFamily="18" charset="0"/>
              </a:rPr>
              <a:t>hypophosphatemia</a:t>
            </a:r>
            <a:r>
              <a:rPr lang="en-US" sz="2800" b="0" i="0" u="none" strike="noStrike" baseline="0" dirty="0">
                <a:latin typeface="Times New Roman" panose="02020603050405020304" pitchFamily="18" charset="0"/>
                <a:cs typeface="Times New Roman" panose="02020603050405020304" pitchFamily="18" charset="0"/>
              </a:rPr>
              <a:t>.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Vitamin D augments intestinal absorption of calcium, facilitates the action of PTH on bone, and appears to augment renal reabsorption of calcium in the distal tubules.</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508FE5AD-202E-FFE6-94FA-3D6E9044EC8F}"/>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3C3FF5F3-FCB2-DDDA-64CB-D56403EEEEB0}"/>
              </a:ext>
            </a:extLst>
          </p:cNvPr>
          <p:cNvSpPr>
            <a:spLocks noGrp="1"/>
          </p:cNvSpPr>
          <p:nvPr>
            <p:ph type="sldNum" sz="quarter" idx="12"/>
          </p:nvPr>
        </p:nvSpPr>
        <p:spPr/>
        <p:txBody>
          <a:bodyPr/>
          <a:lstStyle/>
          <a:p>
            <a:fld id="{CB22993B-EEE5-4EB1-BEE5-4FFFA489F796}" type="slidenum">
              <a:rPr lang="en-US" smtClean="0"/>
              <a:t>70</a:t>
            </a:fld>
            <a:endParaRPr lang="en-US"/>
          </a:p>
        </p:txBody>
      </p:sp>
    </p:spTree>
    <p:extLst>
      <p:ext uri="{BB962C8B-B14F-4D97-AF65-F5344CB8AC3E}">
        <p14:creationId xmlns:p14="http://schemas.microsoft.com/office/powerpoint/2010/main" val="35162677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69BD8C-EF43-4EB0-9B02-2E5177DE4B4E}"/>
              </a:ext>
            </a:extLst>
          </p:cNvPr>
          <p:cNvSpPr>
            <a:spLocks noGrp="1"/>
          </p:cNvSpPr>
          <p:nvPr>
            <p:ph type="title"/>
          </p:nvPr>
        </p:nvSpPr>
        <p:spPr>
          <a:xfrm>
            <a:off x="838200" y="365125"/>
            <a:ext cx="10515600" cy="744147"/>
          </a:xfrm>
        </p:spPr>
        <p:txBody>
          <a:bodyPr/>
          <a:lstStyle/>
          <a:p>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6581C8B2-9719-4634-85D6-1576E7C18E78}"/>
              </a:ext>
            </a:extLst>
          </p:cNvPr>
          <p:cNvSpPr>
            <a:spLocks noGrp="1"/>
          </p:cNvSpPr>
          <p:nvPr>
            <p:ph idx="1"/>
          </p:nvPr>
        </p:nvSpPr>
        <p:spPr/>
        <p:txBody>
          <a:bodyPr/>
          <a:lstStyle/>
          <a:p>
            <a:pPr algn="l"/>
            <a:r>
              <a:rPr lang="en-US" sz="2800" b="1" i="0" u="none" strike="noStrike" baseline="0" dirty="0">
                <a:latin typeface="Times New Roman" panose="02020603050405020304" pitchFamily="18" charset="0"/>
                <a:cs typeface="Times New Roman" panose="02020603050405020304" pitchFamily="18" charset="0"/>
              </a:rPr>
              <a:t>Calcitonin </a:t>
            </a:r>
            <a:r>
              <a:rPr lang="en-US" sz="2800" b="0" i="0" u="none" strike="noStrike" baseline="0" dirty="0">
                <a:latin typeface="Times New Roman" panose="02020603050405020304" pitchFamily="18" charset="0"/>
                <a:cs typeface="Times New Roman" panose="02020603050405020304" pitchFamily="18" charset="0"/>
              </a:rPr>
              <a:t>is a polypeptide hormone that is secreted by parafollicular cells in the thyroid gland.</a:t>
            </a:r>
          </a:p>
          <a:p>
            <a:pPr algn="l"/>
            <a:r>
              <a:rPr lang="en-US" sz="2800" b="0" i="0" u="none" strike="noStrike" baseline="0" dirty="0">
                <a:latin typeface="Times New Roman" panose="02020603050405020304" pitchFamily="18" charset="0"/>
                <a:cs typeface="Times New Roman" panose="02020603050405020304" pitchFamily="18" charset="0"/>
              </a:rPr>
              <a:t>Its secretion is stimulated by </a:t>
            </a:r>
            <a:r>
              <a:rPr lang="en-US" sz="2800" b="1" i="0" u="none" strike="noStrike" baseline="0" dirty="0">
                <a:latin typeface="Times New Roman" panose="02020603050405020304" pitchFamily="18" charset="0"/>
                <a:cs typeface="Times New Roman" panose="02020603050405020304" pitchFamily="18" charset="0"/>
              </a:rPr>
              <a:t>hypercalcemia</a:t>
            </a:r>
            <a:r>
              <a:rPr lang="en-US" sz="2800" b="0" i="0" u="none" strike="noStrike" baseline="0" dirty="0">
                <a:latin typeface="Times New Roman" panose="02020603050405020304" pitchFamily="18" charset="0"/>
                <a:cs typeface="Times New Roman" panose="02020603050405020304" pitchFamily="18" charset="0"/>
              </a:rPr>
              <a:t> and inhibited by </a:t>
            </a:r>
            <a:r>
              <a:rPr lang="en-US" sz="2800" b="1" i="0" u="none" strike="noStrike" baseline="0" dirty="0">
                <a:latin typeface="Times New Roman" panose="02020603050405020304" pitchFamily="18" charset="0"/>
                <a:cs typeface="Times New Roman" panose="02020603050405020304" pitchFamily="18" charset="0"/>
              </a:rPr>
              <a:t>hypocalcemia</a:t>
            </a:r>
            <a:r>
              <a:rPr lang="en-US" sz="2800" b="0" i="0" u="none" strike="noStrike" baseline="0" dirty="0">
                <a:latin typeface="Times New Roman" panose="02020603050405020304" pitchFamily="18" charset="0"/>
                <a:cs typeface="Times New Roman" panose="02020603050405020304" pitchFamily="18" charset="0"/>
              </a:rPr>
              <a:t>. </a:t>
            </a:r>
          </a:p>
          <a:p>
            <a:pPr algn="l"/>
            <a:r>
              <a:rPr lang="en-US" sz="2800" b="0" i="0" u="none" strike="noStrike" baseline="0" dirty="0">
                <a:latin typeface="Times New Roman" panose="02020603050405020304" pitchFamily="18" charset="0"/>
                <a:cs typeface="Times New Roman" panose="02020603050405020304" pitchFamily="18" charset="0"/>
              </a:rPr>
              <a:t>Calcitonin inhibits bone reabsorption and increases urinary calcium excretion.</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AEE3FB33-9E91-D603-9A08-E356FD9E09CE}"/>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1B72D31D-1D79-2846-DA5D-77AF20752DAC}"/>
              </a:ext>
            </a:extLst>
          </p:cNvPr>
          <p:cNvSpPr>
            <a:spLocks noGrp="1"/>
          </p:cNvSpPr>
          <p:nvPr>
            <p:ph type="sldNum" sz="quarter" idx="12"/>
          </p:nvPr>
        </p:nvSpPr>
        <p:spPr/>
        <p:txBody>
          <a:bodyPr/>
          <a:lstStyle/>
          <a:p>
            <a:fld id="{CB22993B-EEE5-4EB1-BEE5-4FFFA489F796}" type="slidenum">
              <a:rPr lang="en-US" smtClean="0"/>
              <a:t>71</a:t>
            </a:fld>
            <a:endParaRPr lang="en-US"/>
          </a:p>
        </p:txBody>
      </p:sp>
    </p:spTree>
    <p:extLst>
      <p:ext uri="{BB962C8B-B14F-4D97-AF65-F5344CB8AC3E}">
        <p14:creationId xmlns:p14="http://schemas.microsoft.com/office/powerpoint/2010/main" val="25266482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7B9E64-BA92-4AB1-90A6-5B84C5AEF6F2}"/>
              </a:ext>
            </a:extLst>
          </p:cNvPr>
          <p:cNvSpPr>
            <a:spLocks noGrp="1"/>
          </p:cNvSpPr>
          <p:nvPr>
            <p:ph type="title"/>
          </p:nvPr>
        </p:nvSpPr>
        <p:spPr>
          <a:xfrm>
            <a:off x="838200" y="365126"/>
            <a:ext cx="10515600" cy="669196"/>
          </a:xfrm>
        </p:spPr>
        <p:txBody>
          <a:bodyPr>
            <a:normAutofit/>
          </a:bodyPr>
          <a:lstStyle/>
          <a:p>
            <a:r>
              <a:rPr lang="en-US" sz="3600" i="0" u="none" strike="noStrike" baseline="0" dirty="0">
                <a:latin typeface="Times New Roman" panose="02020603050405020304" pitchFamily="18" charset="0"/>
                <a:cs typeface="Times New Roman" panose="02020603050405020304" pitchFamily="18" charset="0"/>
              </a:rPr>
              <a:t>Hypercalcemia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E3D1EF39-C12D-4232-A0E8-09D89F1345ED}"/>
              </a:ext>
            </a:extLst>
          </p:cNvPr>
          <p:cNvSpPr>
            <a:spLocks noGrp="1"/>
          </p:cNvSpPr>
          <p:nvPr>
            <p:ph idx="1"/>
          </p:nvPr>
        </p:nvSpPr>
        <p:spPr>
          <a:xfrm>
            <a:off x="838200" y="1244184"/>
            <a:ext cx="10515600" cy="5248690"/>
          </a:xfrm>
        </p:spPr>
        <p:txBody>
          <a:bodyPr>
            <a:normAutofit/>
          </a:bodyPr>
          <a:lstStyle/>
          <a:p>
            <a:pPr algn="l"/>
            <a:r>
              <a:rPr lang="pt-BR" sz="2800" b="0" i="0" u="none" strike="noStrike" baseline="0" dirty="0">
                <a:latin typeface="Times New Roman" panose="02020603050405020304" pitchFamily="18" charset="0"/>
                <a:cs typeface="Times New Roman" panose="02020603050405020304" pitchFamily="18" charset="0"/>
              </a:rPr>
              <a:t>Serum calcium &gt;10.5mg/dl</a:t>
            </a:r>
          </a:p>
          <a:p>
            <a:pPr algn="l"/>
            <a:r>
              <a:rPr lang="en-US" sz="2800" b="0" i="0" u="none" strike="noStrike" baseline="0" dirty="0">
                <a:latin typeface="Times New Roman" panose="02020603050405020304" pitchFamily="18" charset="0"/>
                <a:cs typeface="Times New Roman" panose="02020603050405020304" pitchFamily="18" charset="0"/>
              </a:rPr>
              <a:t>Ionized calcium &gt; 5.2 mg/dl</a:t>
            </a:r>
            <a:endParaRPr lang="pt-BR" sz="2800" b="0" i="0" u="none" strike="noStrike" baseline="0" dirty="0">
              <a:latin typeface="Times New Roman" panose="02020603050405020304" pitchFamily="18" charset="0"/>
              <a:cs typeface="Times New Roman" panose="02020603050405020304" pitchFamily="18" charset="0"/>
            </a:endParaRPr>
          </a:p>
          <a:p>
            <a:pPr algn="l"/>
            <a:r>
              <a:rPr lang="en-US" sz="2800" b="1" u="none" strike="noStrike" baseline="0" dirty="0">
                <a:latin typeface="Times New Roman" panose="02020603050405020304" pitchFamily="18" charset="0"/>
                <a:cs typeface="Times New Roman" panose="02020603050405020304" pitchFamily="18" charset="0"/>
              </a:rPr>
              <a:t>Hyperparathyroidism</a:t>
            </a:r>
            <a:r>
              <a:rPr lang="en-US" sz="2800" b="0" u="none" strike="noStrike" baseline="0" dirty="0">
                <a:latin typeface="Times New Roman" panose="02020603050405020304" pitchFamily="18" charset="0"/>
                <a:cs typeface="Times New Roman" panose="02020603050405020304" pitchFamily="18" charset="0"/>
              </a:rPr>
              <a:t> increases secretion of PTH </a:t>
            </a:r>
            <a:r>
              <a:rPr lang="en-US" dirty="0">
                <a:latin typeface="Times New Roman" panose="02020603050405020304" pitchFamily="18" charset="0"/>
                <a:cs typeface="Times New Roman" panose="02020603050405020304" pitchFamily="18" charset="0"/>
              </a:rPr>
              <a:t>leads to hypercalcemia</a:t>
            </a:r>
            <a:endParaRPr lang="en-US" sz="2800" b="0" u="none" strike="noStrike" baseline="0" dirty="0">
              <a:latin typeface="Times New Roman" panose="02020603050405020304" pitchFamily="18" charset="0"/>
              <a:cs typeface="Times New Roman" panose="02020603050405020304" pitchFamily="18" charset="0"/>
            </a:endParaRPr>
          </a:p>
          <a:p>
            <a:pPr algn="l"/>
            <a:r>
              <a:rPr lang="en-US" sz="2800" b="0" i="0" u="none" strike="noStrike" baseline="0" dirty="0">
                <a:latin typeface="Times New Roman" panose="02020603050405020304" pitchFamily="18" charset="0"/>
                <a:cs typeface="Times New Roman" panose="02020603050405020304" pitchFamily="18" charset="0"/>
              </a:rPr>
              <a:t>Patients with </a:t>
            </a:r>
            <a:r>
              <a:rPr lang="en-US" sz="2800" b="1" i="0" u="none" strike="noStrike" baseline="0" dirty="0">
                <a:latin typeface="Times New Roman" panose="02020603050405020304" pitchFamily="18" charset="0"/>
                <a:cs typeface="Times New Roman" panose="02020603050405020304" pitchFamily="18" charset="0"/>
              </a:rPr>
              <a:t>cancer </a:t>
            </a:r>
            <a:r>
              <a:rPr lang="en-US" sz="2800" b="0" i="0" u="none" strike="noStrike" baseline="0" dirty="0">
                <a:latin typeface="Times New Roman" panose="02020603050405020304" pitchFamily="18" charset="0"/>
                <a:cs typeface="Times New Roman" panose="02020603050405020304" pitchFamily="18" charset="0"/>
              </a:rPr>
              <a:t>can present with hypercalcemia whether or not bone metastases are present.</a:t>
            </a:r>
          </a:p>
          <a:p>
            <a:pPr algn="l"/>
            <a:r>
              <a:rPr lang="en-US" sz="2800" b="0" i="0" u="none" strike="noStrike" baseline="0" dirty="0">
                <a:latin typeface="Times New Roman" panose="02020603050405020304" pitchFamily="18" charset="0"/>
                <a:cs typeface="Times New Roman" panose="02020603050405020304" pitchFamily="18" charset="0"/>
              </a:rPr>
              <a:t>Increased gastrointestinal absorption of calcium can lead to hypercalcemia.</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4F3F6AB5-54DD-A31E-B3E6-3AC5EEB5379F}"/>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9F128F7B-A0D7-EB62-D123-DDF733E6CAA7}"/>
              </a:ext>
            </a:extLst>
          </p:cNvPr>
          <p:cNvSpPr>
            <a:spLocks noGrp="1"/>
          </p:cNvSpPr>
          <p:nvPr>
            <p:ph type="sldNum" sz="quarter" idx="12"/>
          </p:nvPr>
        </p:nvSpPr>
        <p:spPr/>
        <p:txBody>
          <a:bodyPr/>
          <a:lstStyle/>
          <a:p>
            <a:fld id="{CB22993B-EEE5-4EB1-BEE5-4FFFA489F796}" type="slidenum">
              <a:rPr lang="en-US" smtClean="0"/>
              <a:t>72</a:t>
            </a:fld>
            <a:endParaRPr lang="en-US"/>
          </a:p>
        </p:txBody>
      </p:sp>
    </p:spTree>
    <p:extLst>
      <p:ext uri="{BB962C8B-B14F-4D97-AF65-F5344CB8AC3E}">
        <p14:creationId xmlns:p14="http://schemas.microsoft.com/office/powerpoint/2010/main" val="13189682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D9F8CA-FCA4-402B-AEFD-14EC36832EFF}"/>
              </a:ext>
            </a:extLst>
          </p:cNvPr>
          <p:cNvSpPr>
            <a:spLocks noGrp="1"/>
          </p:cNvSpPr>
          <p:nvPr>
            <p:ph type="title"/>
          </p:nvPr>
        </p:nvSpPr>
        <p:spPr>
          <a:xfrm>
            <a:off x="838200" y="365125"/>
            <a:ext cx="10515600" cy="564265"/>
          </a:xfrm>
        </p:spPr>
        <p:txBody>
          <a:bodyPr>
            <a:normAutofit fontScale="90000"/>
          </a:bodyPr>
          <a:lstStyle/>
          <a:p>
            <a:r>
              <a:rPr lang="en-US" sz="4400" b="1" i="0" u="none" strike="noStrike" baseline="0" dirty="0">
                <a:latin typeface="Times New Roman" panose="02020603050405020304" pitchFamily="18" charset="0"/>
                <a:cs typeface="Times New Roman" panose="02020603050405020304" pitchFamily="18" charset="0"/>
              </a:rPr>
              <a:t>Causes of hypercalcemia</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68A02A6-83FE-4C8E-938D-5F90444F4F1D}"/>
              </a:ext>
            </a:extLst>
          </p:cNvPr>
          <p:cNvSpPr>
            <a:spLocks noGrp="1"/>
          </p:cNvSpPr>
          <p:nvPr>
            <p:ph idx="1"/>
          </p:nvPr>
        </p:nvSpPr>
        <p:spPr>
          <a:xfrm>
            <a:off x="838200" y="1049311"/>
            <a:ext cx="10515600" cy="5443564"/>
          </a:xfrm>
        </p:spPr>
        <p:txBody>
          <a:bodyPr>
            <a:normAutofit/>
          </a:bodyPr>
          <a:lstStyle/>
          <a:p>
            <a:pPr algn="l"/>
            <a:endParaRPr lang="en-US" sz="2800" b="0" i="0" u="none" strike="noStrike" baseline="0" dirty="0">
              <a:latin typeface="Times New Roman" panose="02020603050405020304" pitchFamily="18" charset="0"/>
              <a:cs typeface="Times New Roman" panose="02020603050405020304" pitchFamily="18" charset="0"/>
            </a:endParaRPr>
          </a:p>
          <a:p>
            <a:pPr algn="l"/>
            <a:r>
              <a:rPr lang="en-US" sz="2800" b="0" i="0" u="none" strike="noStrike" baseline="0" dirty="0">
                <a:latin typeface="Times New Roman" panose="02020603050405020304" pitchFamily="18" charset="0"/>
                <a:cs typeface="Times New Roman" panose="02020603050405020304" pitchFamily="18" charset="0"/>
              </a:rPr>
              <a:t>Hyperparathyroidism</a:t>
            </a:r>
          </a:p>
          <a:p>
            <a:pPr algn="l"/>
            <a:r>
              <a:rPr lang="en-US" sz="2800" b="0" i="0" u="none" strike="noStrike" baseline="0" dirty="0">
                <a:latin typeface="Times New Roman" panose="02020603050405020304" pitchFamily="18" charset="0"/>
                <a:cs typeface="Times New Roman" panose="02020603050405020304" pitchFamily="18" charset="0"/>
              </a:rPr>
              <a:t>Malignancy</a:t>
            </a:r>
          </a:p>
          <a:p>
            <a:pPr algn="l"/>
            <a:r>
              <a:rPr lang="en-US" sz="2800" b="0" i="0" u="none" strike="noStrike" baseline="0" dirty="0">
                <a:latin typeface="Times New Roman" panose="02020603050405020304" pitchFamily="18" charset="0"/>
                <a:cs typeface="Times New Roman" panose="02020603050405020304" pitchFamily="18" charset="0"/>
              </a:rPr>
              <a:t>Excessive vitamin D intake</a:t>
            </a:r>
          </a:p>
        </p:txBody>
      </p:sp>
      <p:sp>
        <p:nvSpPr>
          <p:cNvPr id="4" name="Date Placeholder 3">
            <a:extLst>
              <a:ext uri="{FF2B5EF4-FFF2-40B4-BE49-F238E27FC236}">
                <a16:creationId xmlns:a16="http://schemas.microsoft.com/office/drawing/2014/main" xmlns="" id="{2374B95F-B543-38E5-45B0-FE9E20B85A05}"/>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DBB908B6-D25D-E319-85E2-B1B66FFB23A6}"/>
              </a:ext>
            </a:extLst>
          </p:cNvPr>
          <p:cNvSpPr>
            <a:spLocks noGrp="1"/>
          </p:cNvSpPr>
          <p:nvPr>
            <p:ph type="sldNum" sz="quarter" idx="12"/>
          </p:nvPr>
        </p:nvSpPr>
        <p:spPr/>
        <p:txBody>
          <a:bodyPr/>
          <a:lstStyle/>
          <a:p>
            <a:fld id="{CB22993B-EEE5-4EB1-BEE5-4FFFA489F796}" type="slidenum">
              <a:rPr lang="en-US" smtClean="0"/>
              <a:t>73</a:t>
            </a:fld>
            <a:endParaRPr lang="en-US"/>
          </a:p>
        </p:txBody>
      </p:sp>
    </p:spTree>
    <p:extLst>
      <p:ext uri="{BB962C8B-B14F-4D97-AF65-F5344CB8AC3E}">
        <p14:creationId xmlns:p14="http://schemas.microsoft.com/office/powerpoint/2010/main" val="2942679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64D24A-7CE8-43A4-944A-B901EE12A6AD}"/>
              </a:ext>
            </a:extLst>
          </p:cNvPr>
          <p:cNvSpPr>
            <a:spLocks noGrp="1"/>
          </p:cNvSpPr>
          <p:nvPr>
            <p:ph type="title"/>
          </p:nvPr>
        </p:nvSpPr>
        <p:spPr>
          <a:xfrm>
            <a:off x="838200" y="365125"/>
            <a:ext cx="10515600" cy="549275"/>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Clinical Manifestations of Hypercalcemia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3888D257-583E-429D-AB02-674921A3D232}"/>
              </a:ext>
            </a:extLst>
          </p:cNvPr>
          <p:cNvSpPr>
            <a:spLocks noGrp="1"/>
          </p:cNvSpPr>
          <p:nvPr>
            <p:ph idx="1"/>
          </p:nvPr>
        </p:nvSpPr>
        <p:spPr>
          <a:xfrm>
            <a:off x="838200" y="1049311"/>
            <a:ext cx="10515600" cy="5443564"/>
          </a:xfrm>
        </p:spPr>
        <p:txBody>
          <a:bodyPr/>
          <a:lstStyle/>
          <a:p>
            <a:pPr algn="l">
              <a:lnSpc>
                <a:spcPct val="100000"/>
              </a:lnSpc>
            </a:pPr>
            <a:r>
              <a:rPr lang="es-ES" sz="2800" b="0" i="0" u="none" strike="noStrike" baseline="0" dirty="0">
                <a:latin typeface="Times New Roman" panose="02020603050405020304" pitchFamily="18" charset="0"/>
                <a:cs typeface="Times New Roman" panose="02020603050405020304" pitchFamily="18" charset="0"/>
              </a:rPr>
              <a:t>Hypercalemia often produces anorexia, nausea, </a:t>
            </a:r>
            <a:r>
              <a:rPr lang="en-US" sz="2800" b="0" i="0" u="none" strike="noStrike" baseline="0" dirty="0">
                <a:latin typeface="Times New Roman" panose="02020603050405020304" pitchFamily="18" charset="0"/>
                <a:cs typeface="Times New Roman" panose="02020603050405020304" pitchFamily="18" charset="0"/>
              </a:rPr>
              <a:t>vomiting, muscle weakness, and polyuria.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Ataxia, irritability, lethargy, or confusion and coma.</a:t>
            </a:r>
          </a:p>
          <a:p>
            <a:pPr algn="l">
              <a:lnSpc>
                <a:spcPct val="100000"/>
              </a:lnSpc>
            </a:pPr>
            <a:r>
              <a:rPr lang="en-US" dirty="0">
                <a:latin typeface="Times New Roman" panose="02020603050405020304" pitchFamily="18" charset="0"/>
                <a:cs typeface="Times New Roman" panose="02020603050405020304" pitchFamily="18" charset="0"/>
              </a:rPr>
              <a:t>Cardiac arrest</a:t>
            </a:r>
            <a:r>
              <a:rPr lang="en-US" sz="2800" b="0" i="0" u="none" strike="noStrike" baseline="0" dirty="0">
                <a:latin typeface="Times New Roman" panose="02020603050405020304" pitchFamily="18" charset="0"/>
                <a:cs typeface="Times New Roman" panose="02020603050405020304" pitchFamily="18" charset="0"/>
              </a:rPr>
              <a:t>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ECG signs include a shortened ST segment and a shortened QT interval.</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Hypercalcemia increases cardiac sensitivity to digitalis.</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64E277B0-3F81-AD06-07EB-66AD0CB45296}"/>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763F9F14-4B47-340D-2729-CA23D6D8556E}"/>
              </a:ext>
            </a:extLst>
          </p:cNvPr>
          <p:cNvSpPr>
            <a:spLocks noGrp="1"/>
          </p:cNvSpPr>
          <p:nvPr>
            <p:ph type="sldNum" sz="quarter" idx="12"/>
          </p:nvPr>
        </p:nvSpPr>
        <p:spPr/>
        <p:txBody>
          <a:bodyPr/>
          <a:lstStyle/>
          <a:p>
            <a:fld id="{CB22993B-EEE5-4EB1-BEE5-4FFFA489F796}" type="slidenum">
              <a:rPr lang="en-US" smtClean="0"/>
              <a:t>74</a:t>
            </a:fld>
            <a:endParaRPr lang="en-US"/>
          </a:p>
        </p:txBody>
      </p:sp>
    </p:spTree>
    <p:extLst>
      <p:ext uri="{BB962C8B-B14F-4D97-AF65-F5344CB8AC3E}">
        <p14:creationId xmlns:p14="http://schemas.microsoft.com/office/powerpoint/2010/main" val="373906443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EE7838-B823-4D88-B5AA-0401D8C1CD91}"/>
              </a:ext>
            </a:extLst>
          </p:cNvPr>
          <p:cNvSpPr>
            <a:spLocks noGrp="1"/>
          </p:cNvSpPr>
          <p:nvPr>
            <p:ph type="title"/>
          </p:nvPr>
        </p:nvSpPr>
        <p:spPr>
          <a:xfrm>
            <a:off x="838200" y="365125"/>
            <a:ext cx="10515600" cy="504305"/>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Treatment of Hypercalcemia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E19ED47-1F09-4BE2-9CB9-DA243325B4BC}"/>
              </a:ext>
            </a:extLst>
          </p:cNvPr>
          <p:cNvSpPr>
            <a:spLocks noGrp="1"/>
          </p:cNvSpPr>
          <p:nvPr>
            <p:ph idx="1"/>
          </p:nvPr>
        </p:nvSpPr>
        <p:spPr>
          <a:xfrm>
            <a:off x="838200" y="1034320"/>
            <a:ext cx="10515600" cy="5336499"/>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It is necessary to look for the underlying etiology and direct appropriate treatment toward the cause of the hypercalcemia.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The most effective initial treatment is </a:t>
            </a:r>
            <a:r>
              <a:rPr lang="en-US" sz="2800" b="1" i="0" u="none" strike="noStrike" baseline="0" dirty="0">
                <a:latin typeface="Times New Roman" panose="02020603050405020304" pitchFamily="18" charset="0"/>
                <a:cs typeface="Times New Roman" panose="02020603050405020304" pitchFamily="18" charset="0"/>
              </a:rPr>
              <a:t>rehydration</a:t>
            </a:r>
            <a:r>
              <a:rPr lang="en-US" sz="2800" b="0" i="0" u="none" strike="noStrike" baseline="0" dirty="0">
                <a:latin typeface="Times New Roman" panose="02020603050405020304" pitchFamily="18" charset="0"/>
                <a:cs typeface="Times New Roman" panose="02020603050405020304" pitchFamily="18" charset="0"/>
              </a:rPr>
              <a:t> followed by  diuresis utilizing intravenous saline infusion and a </a:t>
            </a:r>
            <a:r>
              <a:rPr lang="en-US" sz="2800" b="1" i="0" u="none" strike="noStrike" baseline="0" dirty="0">
                <a:latin typeface="Times New Roman" panose="02020603050405020304" pitchFamily="18" charset="0"/>
                <a:cs typeface="Times New Roman" panose="02020603050405020304" pitchFamily="18" charset="0"/>
              </a:rPr>
              <a:t>loop diuretic </a:t>
            </a:r>
            <a:r>
              <a:rPr lang="en-US" sz="2800" b="0" i="0" u="none" strike="noStrike" baseline="0" dirty="0">
                <a:latin typeface="Times New Roman" panose="02020603050405020304" pitchFamily="18" charset="0"/>
                <a:cs typeface="Times New Roman" panose="02020603050405020304" pitchFamily="18" charset="0"/>
              </a:rPr>
              <a:t>to accelerate calcium excretion.</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Additional therapy with </a:t>
            </a:r>
            <a:r>
              <a:rPr lang="en-US" sz="2800" b="1" i="0" u="none" strike="noStrike" baseline="0" dirty="0">
                <a:latin typeface="Times New Roman" panose="02020603050405020304" pitchFamily="18" charset="0"/>
                <a:cs typeface="Times New Roman" panose="02020603050405020304" pitchFamily="18" charset="0"/>
              </a:rPr>
              <a:t>calcitonin</a:t>
            </a:r>
            <a:r>
              <a:rPr lang="en-US" sz="2800" b="0" i="0" u="none" strike="noStrike" baseline="0" dirty="0">
                <a:latin typeface="Times New Roman" panose="02020603050405020304" pitchFamily="18" charset="0"/>
                <a:cs typeface="Times New Roman" panose="02020603050405020304" pitchFamily="18" charset="0"/>
              </a:rPr>
              <a:t> may be required to further lower the serum calcium level.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Dialysis is very effective in correcting severe hypercalcemia and may be necessary in the presence of kidney or heart failure.</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120150FF-3DC8-931B-9FA0-A84D34DA10B2}"/>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7E4B4A35-0909-3911-BD1D-17ED5D24CF81}"/>
              </a:ext>
            </a:extLst>
          </p:cNvPr>
          <p:cNvSpPr>
            <a:spLocks noGrp="1"/>
          </p:cNvSpPr>
          <p:nvPr>
            <p:ph type="sldNum" sz="quarter" idx="12"/>
          </p:nvPr>
        </p:nvSpPr>
        <p:spPr/>
        <p:txBody>
          <a:bodyPr/>
          <a:lstStyle/>
          <a:p>
            <a:fld id="{CB22993B-EEE5-4EB1-BEE5-4FFFA489F796}" type="slidenum">
              <a:rPr lang="en-US" smtClean="0"/>
              <a:t>75</a:t>
            </a:fld>
            <a:endParaRPr lang="en-US"/>
          </a:p>
        </p:txBody>
      </p:sp>
    </p:spTree>
    <p:extLst>
      <p:ext uri="{BB962C8B-B14F-4D97-AF65-F5344CB8AC3E}">
        <p14:creationId xmlns:p14="http://schemas.microsoft.com/office/powerpoint/2010/main" val="2446465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7BF896-66F6-41FC-9072-A25B48FE5698}"/>
              </a:ext>
            </a:extLst>
          </p:cNvPr>
          <p:cNvSpPr>
            <a:spLocks noGrp="1"/>
          </p:cNvSpPr>
          <p:nvPr>
            <p:ph type="title"/>
          </p:nvPr>
        </p:nvSpPr>
        <p:spPr>
          <a:xfrm>
            <a:off x="838200" y="365125"/>
            <a:ext cx="10515600" cy="519295"/>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Anesthetic Considerations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1DDB47B9-ACB9-4846-AA40-7234A5E4ADD5}"/>
              </a:ext>
            </a:extLst>
          </p:cNvPr>
          <p:cNvSpPr>
            <a:spLocks noGrp="1"/>
          </p:cNvSpPr>
          <p:nvPr>
            <p:ph idx="1"/>
          </p:nvPr>
        </p:nvSpPr>
        <p:spPr>
          <a:xfrm>
            <a:off x="838200" y="1124262"/>
            <a:ext cx="10515600" cy="5531371"/>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Significant hypercalcemia is a </a:t>
            </a:r>
            <a:r>
              <a:rPr lang="en-US" sz="2800" b="1" i="0" u="none" strike="noStrike" baseline="0" dirty="0">
                <a:latin typeface="Times New Roman" panose="02020603050405020304" pitchFamily="18" charset="0"/>
                <a:cs typeface="Times New Roman" panose="02020603050405020304" pitchFamily="18" charset="0"/>
              </a:rPr>
              <a:t>medical emergency </a:t>
            </a:r>
            <a:r>
              <a:rPr lang="en-US" sz="2800" b="0" i="0" u="none" strike="noStrike" baseline="0" dirty="0">
                <a:latin typeface="Times New Roman" panose="02020603050405020304" pitchFamily="18" charset="0"/>
                <a:cs typeface="Times New Roman" panose="02020603050405020304" pitchFamily="18" charset="0"/>
              </a:rPr>
              <a:t>and should be corrected, if possible, before administration of any anesthetic.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Ionized calcium levels should be monitored closely.</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If surgery must be performed, saline diuresis should be continued intraoperatively with care to avoid hypovolemia.</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Ventilation should be controlled under general anesthesia.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Acidosis should be avoided so as to not worsen the elevated plasma [Ca </a:t>
            </a:r>
            <a:r>
              <a:rPr lang="en-US" sz="800" b="0" i="0" u="none" strike="noStrike" baseline="0" dirty="0">
                <a:latin typeface="Times New Roman" panose="02020603050405020304" pitchFamily="18" charset="0"/>
                <a:cs typeface="Times New Roman" panose="02020603050405020304" pitchFamily="18" charset="0"/>
              </a:rPr>
              <a:t>2+ </a:t>
            </a:r>
            <a:r>
              <a:rPr lang="en-US" sz="2800" b="0" i="0" u="none" strike="noStrike" baseline="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2862EF05-0C9B-FA69-516F-02A289E1AC60}"/>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DCB8E6EE-A5E9-112E-C9DD-D0088B1D52BD}"/>
              </a:ext>
            </a:extLst>
          </p:cNvPr>
          <p:cNvSpPr>
            <a:spLocks noGrp="1"/>
          </p:cNvSpPr>
          <p:nvPr>
            <p:ph type="sldNum" sz="quarter" idx="12"/>
          </p:nvPr>
        </p:nvSpPr>
        <p:spPr/>
        <p:txBody>
          <a:bodyPr/>
          <a:lstStyle/>
          <a:p>
            <a:fld id="{CB22993B-EEE5-4EB1-BEE5-4FFFA489F796}" type="slidenum">
              <a:rPr lang="en-US" smtClean="0"/>
              <a:t>76</a:t>
            </a:fld>
            <a:endParaRPr lang="en-US"/>
          </a:p>
        </p:txBody>
      </p:sp>
    </p:spTree>
    <p:extLst>
      <p:ext uri="{BB962C8B-B14F-4D97-AF65-F5344CB8AC3E}">
        <p14:creationId xmlns:p14="http://schemas.microsoft.com/office/powerpoint/2010/main" val="23915362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2EEEF4-F497-4DCE-997A-88FE3B4C9D8A}"/>
              </a:ext>
            </a:extLst>
          </p:cNvPr>
          <p:cNvSpPr>
            <a:spLocks noGrp="1"/>
          </p:cNvSpPr>
          <p:nvPr>
            <p:ph type="title"/>
          </p:nvPr>
        </p:nvSpPr>
        <p:spPr>
          <a:xfrm>
            <a:off x="838200" y="365125"/>
            <a:ext cx="10515600" cy="594245"/>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Hypocalcemia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26D08D4D-E892-4CC9-9CDA-01F806FF9E06}"/>
              </a:ext>
            </a:extLst>
          </p:cNvPr>
          <p:cNvSpPr>
            <a:spLocks noGrp="1"/>
          </p:cNvSpPr>
          <p:nvPr>
            <p:ph idx="1"/>
          </p:nvPr>
        </p:nvSpPr>
        <p:spPr>
          <a:xfrm>
            <a:off x="838200" y="1109272"/>
            <a:ext cx="10515600" cy="5383603"/>
          </a:xfrm>
        </p:spPr>
        <p:txBody>
          <a:bodyPr>
            <a:normAutofit/>
          </a:bodyPr>
          <a:lstStyle/>
          <a:p>
            <a:pPr algn="l"/>
            <a:r>
              <a:rPr lang="pt-BR" sz="2800" b="0" i="0" u="none" strike="noStrike" baseline="0" dirty="0">
                <a:latin typeface="Times New Roman" panose="02020603050405020304" pitchFamily="18" charset="0"/>
                <a:cs typeface="Times New Roman" panose="02020603050405020304" pitchFamily="18" charset="0"/>
              </a:rPr>
              <a:t>Serum calcium &lt; 8.5 mg/dl</a:t>
            </a:r>
          </a:p>
          <a:p>
            <a:pPr algn="l"/>
            <a:r>
              <a:rPr lang="en-US" sz="2800" b="0" i="0" u="none" strike="noStrike" baseline="0" dirty="0">
                <a:latin typeface="Times New Roman" panose="02020603050405020304" pitchFamily="18" charset="0"/>
                <a:cs typeface="Times New Roman" panose="02020603050405020304" pitchFamily="18" charset="0"/>
              </a:rPr>
              <a:t>Ionized calcium level &lt; 4.4 mg/dl</a:t>
            </a:r>
            <a:endParaRPr lang="en-US" dirty="0">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rPr>
              <a:t>Hypocalcemia due to </a:t>
            </a:r>
            <a:r>
              <a:rPr lang="en-US" b="1" dirty="0">
                <a:latin typeface="Times New Roman" panose="02020603050405020304" pitchFamily="18" charset="0"/>
                <a:cs typeface="Times New Roman" panose="02020603050405020304" pitchFamily="18" charset="0"/>
              </a:rPr>
              <a:t>hypoparathyroidism</a:t>
            </a:r>
            <a:r>
              <a:rPr lang="en-US" dirty="0">
                <a:latin typeface="Times New Roman" panose="02020603050405020304" pitchFamily="18" charset="0"/>
                <a:cs typeface="Times New Roman" panose="02020603050405020304" pitchFamily="18" charset="0"/>
              </a:rPr>
              <a:t> is a relatively common cause of symptomatic hypocalcemia.</a:t>
            </a:r>
          </a:p>
          <a:p>
            <a:pPr algn="l"/>
            <a:r>
              <a:rPr lang="en-US" sz="2800" b="1" i="0" u="none" strike="noStrike" baseline="0" dirty="0">
                <a:latin typeface="Times New Roman" panose="02020603050405020304" pitchFamily="18" charset="0"/>
                <a:cs typeface="Times New Roman" panose="02020603050405020304" pitchFamily="18" charset="0"/>
              </a:rPr>
              <a:t>Magnesium</a:t>
            </a:r>
            <a:r>
              <a:rPr lang="en-US" sz="2800" b="0" i="0" u="none" strike="noStrike" baseline="0" dirty="0">
                <a:latin typeface="Times New Roman" panose="02020603050405020304" pitchFamily="18" charset="0"/>
                <a:cs typeface="Times New Roman" panose="02020603050405020304" pitchFamily="18" charset="0"/>
              </a:rPr>
              <a:t> deficiency may impair the secretion of PTH and antagonize the effects of PTH on bone. </a:t>
            </a:r>
          </a:p>
          <a:p>
            <a:pPr algn="l"/>
            <a:r>
              <a:rPr lang="en-US" sz="2800" b="0" i="0" u="none" strike="noStrike" baseline="0" dirty="0">
                <a:latin typeface="Times New Roman" panose="02020603050405020304" pitchFamily="18" charset="0"/>
                <a:cs typeface="Times New Roman" panose="02020603050405020304" pitchFamily="18" charset="0"/>
              </a:rPr>
              <a:t>Hypocalcemia due to vitamin D deficiency may be the result of a markedly reduced intake.</a:t>
            </a: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Binding of calcium ions with the citrate ions in blood preservatives is an important cause of perioperative hypocalcemia in transfused patients.</a:t>
            </a:r>
          </a:p>
          <a:p>
            <a:pPr algn="l"/>
            <a:endParaRPr lang="en-US" dirty="0"/>
          </a:p>
        </p:txBody>
      </p:sp>
      <p:sp>
        <p:nvSpPr>
          <p:cNvPr id="4" name="Date Placeholder 3">
            <a:extLst>
              <a:ext uri="{FF2B5EF4-FFF2-40B4-BE49-F238E27FC236}">
                <a16:creationId xmlns:a16="http://schemas.microsoft.com/office/drawing/2014/main" xmlns="" id="{672B8674-2BE0-4FE1-949F-B91468DAA1D0}"/>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1B3CC425-3FA9-D1F8-6BED-D54189FF06A2}"/>
              </a:ext>
            </a:extLst>
          </p:cNvPr>
          <p:cNvSpPr>
            <a:spLocks noGrp="1"/>
          </p:cNvSpPr>
          <p:nvPr>
            <p:ph type="sldNum" sz="quarter" idx="12"/>
          </p:nvPr>
        </p:nvSpPr>
        <p:spPr/>
        <p:txBody>
          <a:bodyPr/>
          <a:lstStyle/>
          <a:p>
            <a:fld id="{CB22993B-EEE5-4EB1-BEE5-4FFFA489F796}" type="slidenum">
              <a:rPr lang="en-US" smtClean="0"/>
              <a:t>77</a:t>
            </a:fld>
            <a:endParaRPr lang="en-US"/>
          </a:p>
        </p:txBody>
      </p:sp>
    </p:spTree>
    <p:extLst>
      <p:ext uri="{BB962C8B-B14F-4D97-AF65-F5344CB8AC3E}">
        <p14:creationId xmlns:p14="http://schemas.microsoft.com/office/powerpoint/2010/main" val="166962540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9C08D7-3945-49F2-8E49-A2A4D1C227DA}"/>
              </a:ext>
            </a:extLst>
          </p:cNvPr>
          <p:cNvSpPr>
            <a:spLocks noGrp="1"/>
          </p:cNvSpPr>
          <p:nvPr>
            <p:ph type="title"/>
          </p:nvPr>
        </p:nvSpPr>
        <p:spPr>
          <a:xfrm>
            <a:off x="838200" y="365125"/>
            <a:ext cx="10515600" cy="549275"/>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Causes of hypocalcemia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73F2A271-88A7-41F9-81C2-BD97A88EF106}"/>
              </a:ext>
            </a:extLst>
          </p:cNvPr>
          <p:cNvSpPr>
            <a:spLocks noGrp="1"/>
          </p:cNvSpPr>
          <p:nvPr>
            <p:ph idx="1"/>
          </p:nvPr>
        </p:nvSpPr>
        <p:spPr>
          <a:xfrm>
            <a:off x="838200" y="1034321"/>
            <a:ext cx="10515600" cy="5636302"/>
          </a:xfrm>
        </p:spPr>
        <p:txBody>
          <a:bodyPr/>
          <a:lstStyle/>
          <a:p>
            <a:pPr algn="l">
              <a:lnSpc>
                <a:spcPct val="100000"/>
              </a:lnSpc>
            </a:pPr>
            <a:r>
              <a:rPr lang="en-US" sz="2800" i="0" u="none" strike="noStrike" baseline="0" dirty="0">
                <a:latin typeface="Times New Roman" panose="02020603050405020304" pitchFamily="18" charset="0"/>
                <a:cs typeface="Times New Roman" panose="02020603050405020304" pitchFamily="18" charset="0"/>
              </a:rPr>
              <a:t>Hypoparathyroidism</a:t>
            </a:r>
          </a:p>
          <a:p>
            <a:pPr algn="l">
              <a:lnSpc>
                <a:spcPct val="100000"/>
              </a:lnSpc>
            </a:pPr>
            <a:r>
              <a:rPr lang="en-US" sz="2800" i="0" u="none" strike="noStrike" baseline="0" dirty="0">
                <a:latin typeface="Times New Roman" panose="02020603050405020304" pitchFamily="18" charset="0"/>
                <a:cs typeface="Times New Roman" panose="02020603050405020304" pitchFamily="18" charset="0"/>
              </a:rPr>
              <a:t>Vitamin D deficiency</a:t>
            </a:r>
          </a:p>
          <a:p>
            <a:pPr lvl="1">
              <a:lnSpc>
                <a:spcPct val="100000"/>
              </a:lnSpc>
              <a:buFont typeface="Wingdings" panose="05000000000000000000" pitchFamily="2" charset="2"/>
              <a:buChar char="Ø"/>
            </a:pPr>
            <a:r>
              <a:rPr lang="en-US" sz="2800" i="0" u="none" strike="noStrike" baseline="0" dirty="0">
                <a:latin typeface="Times New Roman" panose="02020603050405020304" pitchFamily="18" charset="0"/>
                <a:cs typeface="Times New Roman" panose="02020603050405020304" pitchFamily="18" charset="0"/>
              </a:rPr>
              <a:t> Nutritional</a:t>
            </a:r>
          </a:p>
          <a:p>
            <a:pPr lvl="1">
              <a:lnSpc>
                <a:spcPct val="100000"/>
              </a:lnSpc>
              <a:buFont typeface="Wingdings" panose="05000000000000000000" pitchFamily="2" charset="2"/>
              <a:buChar char="Ø"/>
            </a:pPr>
            <a:r>
              <a:rPr lang="en-US" sz="2800" i="0" u="none" strike="noStrike" baseline="0" dirty="0">
                <a:latin typeface="Times New Roman" panose="02020603050405020304" pitchFamily="18" charset="0"/>
                <a:cs typeface="Times New Roman" panose="02020603050405020304" pitchFamily="18" charset="0"/>
              </a:rPr>
              <a:t> Malabsorption</a:t>
            </a:r>
          </a:p>
          <a:p>
            <a:pPr lvl="1">
              <a:lnSpc>
                <a:spcPct val="100000"/>
              </a:lnSpc>
              <a:buFont typeface="Wingdings" panose="05000000000000000000" pitchFamily="2" charset="2"/>
              <a:buChar char="Ø"/>
            </a:pPr>
            <a:r>
              <a:rPr lang="en-US" sz="2800" i="0" u="none" strike="noStrike" baseline="0" dirty="0">
                <a:latin typeface="Times New Roman" panose="02020603050405020304" pitchFamily="18" charset="0"/>
                <a:cs typeface="Times New Roman" panose="02020603050405020304" pitchFamily="18" charset="0"/>
              </a:rPr>
              <a:t> Postsurgical (gastrectomy, short bowel)</a:t>
            </a:r>
          </a:p>
          <a:p>
            <a:pPr lvl="1">
              <a:lnSpc>
                <a:spcPct val="100000"/>
              </a:lnSpc>
              <a:buFont typeface="Wingdings" panose="05000000000000000000" pitchFamily="2" charset="2"/>
              <a:buChar char="Ø"/>
            </a:pPr>
            <a:r>
              <a:rPr lang="en-US" sz="2800" i="0" u="none" strike="noStrike" baseline="0" dirty="0">
                <a:latin typeface="Times New Roman" panose="02020603050405020304" pitchFamily="18" charset="0"/>
                <a:cs typeface="Times New Roman" panose="02020603050405020304" pitchFamily="18" charset="0"/>
              </a:rPr>
              <a:t> Inflammatory bowel disease</a:t>
            </a:r>
          </a:p>
          <a:p>
            <a:pPr lvl="1">
              <a:lnSpc>
                <a:spcPct val="100000"/>
              </a:lnSpc>
              <a:buFont typeface="Wingdings" panose="05000000000000000000" pitchFamily="2" charset="2"/>
              <a:buChar char="Ø"/>
            </a:pPr>
            <a:r>
              <a:rPr lang="en-US" sz="2800" i="0" u="none" strike="noStrike" baseline="0" dirty="0">
                <a:latin typeface="Times New Roman" panose="02020603050405020304" pitchFamily="18" charset="0"/>
                <a:cs typeface="Times New Roman" panose="02020603050405020304" pitchFamily="18" charset="0"/>
              </a:rPr>
              <a:t> Altered vitamin D metabolism</a:t>
            </a:r>
            <a:endParaRPr lang="en-US"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4D9335D3-C6A6-8BBD-6398-501B54EFAAC5}"/>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FBC56047-0A8A-B0E5-0136-48C65C7377E8}"/>
              </a:ext>
            </a:extLst>
          </p:cNvPr>
          <p:cNvSpPr>
            <a:spLocks noGrp="1"/>
          </p:cNvSpPr>
          <p:nvPr>
            <p:ph type="sldNum" sz="quarter" idx="12"/>
          </p:nvPr>
        </p:nvSpPr>
        <p:spPr/>
        <p:txBody>
          <a:bodyPr/>
          <a:lstStyle/>
          <a:p>
            <a:fld id="{CB22993B-EEE5-4EB1-BEE5-4FFFA489F796}" type="slidenum">
              <a:rPr lang="en-US" smtClean="0"/>
              <a:t>78</a:t>
            </a:fld>
            <a:endParaRPr lang="en-US"/>
          </a:p>
        </p:txBody>
      </p:sp>
    </p:spTree>
    <p:extLst>
      <p:ext uri="{BB962C8B-B14F-4D97-AF65-F5344CB8AC3E}">
        <p14:creationId xmlns:p14="http://schemas.microsoft.com/office/powerpoint/2010/main" val="33134921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88D86B-EC69-4B20-946A-EBC3FED00EA9}"/>
              </a:ext>
            </a:extLst>
          </p:cNvPr>
          <p:cNvSpPr>
            <a:spLocks noGrp="1"/>
          </p:cNvSpPr>
          <p:nvPr>
            <p:ph type="title"/>
          </p:nvPr>
        </p:nvSpPr>
        <p:spPr>
          <a:xfrm>
            <a:off x="838200" y="365125"/>
            <a:ext cx="10515600" cy="819097"/>
          </a:xfrm>
        </p:spPr>
        <p:txBody>
          <a:bodyPr>
            <a:normAutofit/>
          </a:bodyPr>
          <a:lstStyle/>
          <a:p>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0A9AB6AD-E91F-4779-BBD3-B876D0E6D6D8}"/>
              </a:ext>
            </a:extLst>
          </p:cNvPr>
          <p:cNvSpPr>
            <a:spLocks noGrp="1"/>
          </p:cNvSpPr>
          <p:nvPr>
            <p:ph idx="1"/>
          </p:nvPr>
        </p:nvSpPr>
        <p:spPr>
          <a:xfrm>
            <a:off x="838200" y="1349115"/>
            <a:ext cx="10515600" cy="4827848"/>
          </a:xfrm>
        </p:spPr>
        <p:txBody>
          <a:bodyPr/>
          <a:lstStyle/>
          <a:p>
            <a:pPr algn="l"/>
            <a:r>
              <a:rPr lang="en-US" sz="2800" b="1" i="0" u="none" strike="noStrike" baseline="0" dirty="0">
                <a:latin typeface="Times New Roman" panose="02020603050405020304" pitchFamily="18" charset="0"/>
                <a:cs typeface="Times New Roman" panose="02020603050405020304" pitchFamily="18" charset="0"/>
              </a:rPr>
              <a:t>Hyperphosphatemia </a:t>
            </a:r>
            <a:r>
              <a:rPr lang="en-US" sz="2800" i="0" u="none" strike="noStrike" baseline="0" dirty="0">
                <a:latin typeface="Times New Roman" panose="02020603050405020304" pitchFamily="18" charset="0"/>
                <a:cs typeface="Times New Roman" panose="02020603050405020304" pitchFamily="18" charset="0"/>
              </a:rPr>
              <a:t>(binds calcium)</a:t>
            </a:r>
          </a:p>
          <a:p>
            <a:pPr algn="l"/>
            <a:r>
              <a:rPr lang="en-US" sz="2800" b="1" i="0" u="none" strike="noStrike" baseline="0" dirty="0">
                <a:latin typeface="Times New Roman" panose="02020603050405020304" pitchFamily="18" charset="0"/>
                <a:cs typeface="Times New Roman" panose="02020603050405020304" pitchFamily="18" charset="0"/>
              </a:rPr>
              <a:t>Precipitation of calcium</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Pancreatitis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Rhabdomyolysis</a:t>
            </a:r>
          </a:p>
          <a:p>
            <a:pPr algn="l"/>
            <a:r>
              <a:rPr lang="en-US" sz="2800" b="1" i="0" u="none" strike="noStrike" baseline="0" dirty="0">
                <a:latin typeface="Times New Roman" panose="02020603050405020304" pitchFamily="18" charset="0"/>
                <a:cs typeface="Times New Roman" panose="02020603050405020304" pitchFamily="18" charset="0"/>
              </a:rPr>
              <a:t>Chelation of calcium</a:t>
            </a:r>
          </a:p>
          <a:p>
            <a:pPr lvl="1">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B</a:t>
            </a:r>
            <a:r>
              <a:rPr lang="en-US" sz="2800" b="0" i="0" u="none" strike="noStrike" baseline="0" dirty="0">
                <a:latin typeface="Times New Roman" panose="02020603050405020304" pitchFamily="18" charset="0"/>
                <a:cs typeface="Times New Roman" panose="02020603050405020304" pitchFamily="18" charset="0"/>
              </a:rPr>
              <a:t>lood transfusions</a:t>
            </a:r>
          </a:p>
        </p:txBody>
      </p:sp>
      <p:sp>
        <p:nvSpPr>
          <p:cNvPr id="4" name="Date Placeholder 3">
            <a:extLst>
              <a:ext uri="{FF2B5EF4-FFF2-40B4-BE49-F238E27FC236}">
                <a16:creationId xmlns:a16="http://schemas.microsoft.com/office/drawing/2014/main" xmlns="" id="{0EB61CC8-2C52-81A4-1B54-3F1A5F554B51}"/>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0FCB6448-EBBC-1A6D-4413-01889B5CB8C1}"/>
              </a:ext>
            </a:extLst>
          </p:cNvPr>
          <p:cNvSpPr>
            <a:spLocks noGrp="1"/>
          </p:cNvSpPr>
          <p:nvPr>
            <p:ph type="sldNum" sz="quarter" idx="12"/>
          </p:nvPr>
        </p:nvSpPr>
        <p:spPr/>
        <p:txBody>
          <a:bodyPr/>
          <a:lstStyle/>
          <a:p>
            <a:fld id="{CB22993B-EEE5-4EB1-BEE5-4FFFA489F796}" type="slidenum">
              <a:rPr lang="en-US" smtClean="0"/>
              <a:t>79</a:t>
            </a:fld>
            <a:endParaRPr lang="en-US"/>
          </a:p>
        </p:txBody>
      </p:sp>
    </p:spTree>
    <p:extLst>
      <p:ext uri="{BB962C8B-B14F-4D97-AF65-F5344CB8AC3E}">
        <p14:creationId xmlns:p14="http://schemas.microsoft.com/office/powerpoint/2010/main" val="38831998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EB07B2-DC06-4EE8-A795-E4BF31F4D290}"/>
              </a:ext>
            </a:extLst>
          </p:cNvPr>
          <p:cNvSpPr>
            <a:spLocks noGrp="1"/>
          </p:cNvSpPr>
          <p:nvPr>
            <p:ph type="title"/>
          </p:nvPr>
        </p:nvSpPr>
        <p:spPr>
          <a:xfrm>
            <a:off x="838200" y="365126"/>
            <a:ext cx="10515600" cy="669196"/>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Clinical Manifestations of Hypocalcemia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8D28B646-4F71-4AD7-9624-E03F7D00C605}"/>
              </a:ext>
            </a:extLst>
          </p:cNvPr>
          <p:cNvSpPr>
            <a:spLocks noGrp="1"/>
          </p:cNvSpPr>
          <p:nvPr>
            <p:ph idx="1"/>
          </p:nvPr>
        </p:nvSpPr>
        <p:spPr>
          <a:xfrm>
            <a:off x="838200" y="1184222"/>
            <a:ext cx="10515600" cy="5486401"/>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Manifestations of hypocalcemia include </a:t>
            </a:r>
            <a:r>
              <a:rPr lang="en-US" sz="2800" b="0" i="0" u="none" strike="noStrike" baseline="0" dirty="0" err="1">
                <a:latin typeface="Times New Roman" panose="02020603050405020304" pitchFamily="18" charset="0"/>
                <a:cs typeface="Times New Roman" panose="02020603050405020304" pitchFamily="18" charset="0"/>
              </a:rPr>
              <a:t>paresthesias</a:t>
            </a:r>
            <a:r>
              <a:rPr lang="en-US" sz="2800" b="0" i="0" u="none" strike="noStrike" baseline="0" dirty="0">
                <a:latin typeface="Times New Roman" panose="02020603050405020304" pitchFamily="18" charset="0"/>
                <a:cs typeface="Times New Roman" panose="02020603050405020304" pitchFamily="18" charset="0"/>
              </a:rPr>
              <a:t>, confusion, laryngeal stridor (laryngospasm), bronchospasm, bone fracture, carpopedal spasm (Trousseau’s sign), masseter spasm (Chvostek’s sign), and seizures.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ECG</a:t>
            </a:r>
            <a:r>
              <a:rPr lang="en-US"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may reveal cardiac irritability or QT interval prolongation.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Decreased cardiac contractility may result in heart failure, hypotension or both.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Decreased responsiveness to digoxin and β-adrenergic agonists may also occur</a:t>
            </a:r>
            <a:r>
              <a:rPr lang="en-US" sz="2800" b="0" i="0" u="none" strike="noStrike" baseline="0" dirty="0">
                <a:latin typeface="MinionPro-Regular"/>
              </a:rPr>
              <a:t>.</a:t>
            </a:r>
            <a:endParaRPr lang="en-US" dirty="0"/>
          </a:p>
        </p:txBody>
      </p:sp>
      <p:sp>
        <p:nvSpPr>
          <p:cNvPr id="4" name="Date Placeholder 3">
            <a:extLst>
              <a:ext uri="{FF2B5EF4-FFF2-40B4-BE49-F238E27FC236}">
                <a16:creationId xmlns:a16="http://schemas.microsoft.com/office/drawing/2014/main" xmlns="" id="{4C1DFC03-C32D-169E-DACC-076D75871DE4}"/>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29CCC9F9-818D-E6A6-E1E0-DF066F2F7C05}"/>
              </a:ext>
            </a:extLst>
          </p:cNvPr>
          <p:cNvSpPr>
            <a:spLocks noGrp="1"/>
          </p:cNvSpPr>
          <p:nvPr>
            <p:ph type="sldNum" sz="quarter" idx="12"/>
          </p:nvPr>
        </p:nvSpPr>
        <p:spPr/>
        <p:txBody>
          <a:bodyPr/>
          <a:lstStyle/>
          <a:p>
            <a:fld id="{CB22993B-EEE5-4EB1-BEE5-4FFFA489F796}" type="slidenum">
              <a:rPr lang="en-US" smtClean="0"/>
              <a:t>80</a:t>
            </a:fld>
            <a:endParaRPr lang="en-US"/>
          </a:p>
        </p:txBody>
      </p:sp>
    </p:spTree>
    <p:extLst>
      <p:ext uri="{BB962C8B-B14F-4D97-AF65-F5344CB8AC3E}">
        <p14:creationId xmlns:p14="http://schemas.microsoft.com/office/powerpoint/2010/main" val="16020246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2BCD90-8594-423C-A1A5-552D4D75E867}"/>
              </a:ext>
            </a:extLst>
          </p:cNvPr>
          <p:cNvSpPr>
            <a:spLocks noGrp="1"/>
          </p:cNvSpPr>
          <p:nvPr>
            <p:ph type="title"/>
          </p:nvPr>
        </p:nvSpPr>
        <p:spPr>
          <a:xfrm>
            <a:off x="974360" y="365125"/>
            <a:ext cx="10379439" cy="564265"/>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Treatment of Hypocalcemia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7266FCBB-CE12-44FF-99F3-8E371BAD40CE}"/>
              </a:ext>
            </a:extLst>
          </p:cNvPr>
          <p:cNvSpPr>
            <a:spLocks noGrp="1"/>
          </p:cNvSpPr>
          <p:nvPr>
            <p:ph idx="1"/>
          </p:nvPr>
        </p:nvSpPr>
        <p:spPr>
          <a:xfrm>
            <a:off x="838200" y="1079292"/>
            <a:ext cx="10515600" cy="5413583"/>
          </a:xfrm>
        </p:spPr>
        <p:txBody>
          <a:bodyPr>
            <a:normAutofit/>
          </a:bodyPr>
          <a:lstStyle/>
          <a:p>
            <a:pPr algn="l"/>
            <a:r>
              <a:rPr lang="en-US" sz="2800" b="0" i="0" u="none" strike="noStrike" baseline="0" dirty="0">
                <a:latin typeface="Times New Roman" panose="02020603050405020304" pitchFamily="18" charset="0"/>
                <a:cs typeface="Times New Roman" panose="02020603050405020304" pitchFamily="18" charset="0"/>
              </a:rPr>
              <a:t>Intravenous </a:t>
            </a:r>
            <a:r>
              <a:rPr lang="en-US" sz="2800" b="1" i="0" u="none" strike="noStrike" baseline="0" dirty="0">
                <a:latin typeface="Times New Roman" panose="02020603050405020304" pitchFamily="18" charset="0"/>
                <a:cs typeface="Times New Roman" panose="02020603050405020304" pitchFamily="18" charset="0"/>
              </a:rPr>
              <a:t>calcium chloride </a:t>
            </a:r>
            <a:r>
              <a:rPr lang="en-US" sz="2800" b="0" i="0" u="none" strike="noStrike" baseline="0" dirty="0">
                <a:latin typeface="Times New Roman" panose="02020603050405020304" pitchFamily="18" charset="0"/>
                <a:cs typeface="Times New Roman" panose="02020603050405020304" pitchFamily="18" charset="0"/>
              </a:rPr>
              <a:t>(3–5 mL of a 10% solution) or </a:t>
            </a:r>
            <a:r>
              <a:rPr lang="en-US" sz="2800" b="1" i="0" u="none" strike="noStrike" baseline="0" dirty="0">
                <a:latin typeface="Times New Roman" panose="02020603050405020304" pitchFamily="18" charset="0"/>
                <a:cs typeface="Times New Roman" panose="02020603050405020304" pitchFamily="18" charset="0"/>
              </a:rPr>
              <a:t>calcium gluconate</a:t>
            </a:r>
            <a:r>
              <a:rPr lang="en-US" sz="2800" b="0" i="0" u="none" strike="noStrike" baseline="0" dirty="0">
                <a:latin typeface="Times New Roman" panose="02020603050405020304" pitchFamily="18" charset="0"/>
                <a:cs typeface="Times New Roman" panose="02020603050405020304" pitchFamily="18" charset="0"/>
              </a:rPr>
              <a:t> (10–20 mL of a 10% solution).</a:t>
            </a:r>
          </a:p>
          <a:p>
            <a:pPr algn="l"/>
            <a:r>
              <a:rPr lang="en-US" sz="2800" b="0" i="0" u="none" strike="noStrike" baseline="0" dirty="0">
                <a:latin typeface="Times New Roman" panose="02020603050405020304" pitchFamily="18" charset="0"/>
                <a:cs typeface="Times New Roman" panose="02020603050405020304" pitchFamily="18" charset="0"/>
              </a:rPr>
              <a:t>To avoid precipitation, intravenous calcium should not be given with bicarbonate- or phosphate-containing solutions.</a:t>
            </a:r>
          </a:p>
          <a:p>
            <a:pPr algn="l"/>
            <a:r>
              <a:rPr lang="en-US" sz="2800" b="0" i="0" u="none" strike="noStrike" baseline="0" dirty="0">
                <a:latin typeface="Times New Roman" panose="02020603050405020304" pitchFamily="18" charset="0"/>
                <a:cs typeface="Times New Roman" panose="02020603050405020304" pitchFamily="18" charset="0"/>
              </a:rPr>
              <a:t>Serial ionized calcium measurements are mandatory.</a:t>
            </a:r>
          </a:p>
          <a:p>
            <a:pPr algn="l"/>
            <a:r>
              <a:rPr lang="en-US" sz="2800" b="0" i="0" u="none" strike="noStrike" baseline="0" dirty="0">
                <a:latin typeface="Times New Roman" panose="02020603050405020304" pitchFamily="18" charset="0"/>
                <a:cs typeface="Times New Roman" panose="02020603050405020304" pitchFamily="18" charset="0"/>
              </a:rPr>
              <a:t>Plasma </a:t>
            </a:r>
            <a:r>
              <a:rPr lang="en-US" sz="2800" i="0" u="none" strike="noStrike" baseline="0" dirty="0">
                <a:latin typeface="Times New Roman" panose="02020603050405020304" pitchFamily="18" charset="0"/>
                <a:cs typeface="Times New Roman" panose="02020603050405020304" pitchFamily="18" charset="0"/>
              </a:rPr>
              <a:t>magnesium</a:t>
            </a:r>
            <a:r>
              <a:rPr lang="en-US" sz="2800" b="0" i="0" u="none" strike="noStrike" baseline="0" dirty="0">
                <a:latin typeface="Times New Roman" panose="02020603050405020304" pitchFamily="18" charset="0"/>
                <a:cs typeface="Times New Roman" panose="02020603050405020304" pitchFamily="18" charset="0"/>
              </a:rPr>
              <a:t> concentration should be checked to exclude </a:t>
            </a:r>
            <a:r>
              <a:rPr lang="en-US" sz="2800" b="1" i="0" u="none" strike="noStrike" baseline="0" dirty="0">
                <a:latin typeface="Times New Roman" panose="02020603050405020304" pitchFamily="18" charset="0"/>
                <a:cs typeface="Times New Roman" panose="02020603050405020304" pitchFamily="18" charset="0"/>
              </a:rPr>
              <a:t>hypomagnesemia</a:t>
            </a:r>
            <a:r>
              <a:rPr lang="en-US" sz="2800" b="0" i="0" u="none" strike="noStrike" baseline="0" dirty="0">
                <a:latin typeface="Times New Roman" panose="02020603050405020304" pitchFamily="18" charset="0"/>
                <a:cs typeface="Times New Roman" panose="02020603050405020304" pitchFamily="18" charset="0"/>
              </a:rPr>
              <a:t>.</a:t>
            </a:r>
          </a:p>
          <a:p>
            <a:pPr algn="l"/>
            <a:r>
              <a:rPr lang="it-IT" sz="2800" b="0" i="0" u="none" strike="noStrike" baseline="0" dirty="0">
                <a:latin typeface="Times New Roman" panose="02020603050405020304" pitchFamily="18" charset="0"/>
                <a:cs typeface="Times New Roman" panose="02020603050405020304" pitchFamily="18" charset="0"/>
              </a:rPr>
              <a:t>In chronic hypocalcemia, oral </a:t>
            </a:r>
            <a:r>
              <a:rPr lang="it-IT" sz="2800" b="1" i="0" u="none" strike="noStrike" baseline="0" dirty="0">
                <a:latin typeface="Times New Roman" panose="02020603050405020304" pitchFamily="18" charset="0"/>
                <a:cs typeface="Times New Roman" panose="02020603050405020304" pitchFamily="18" charset="0"/>
              </a:rPr>
              <a:t>calcium carbonate </a:t>
            </a:r>
            <a:r>
              <a:rPr lang="en-US" sz="2800" b="0" i="0" u="none" strike="noStrike" baseline="0" dirty="0">
                <a:latin typeface="Times New Roman" panose="02020603050405020304" pitchFamily="18" charset="0"/>
                <a:cs typeface="Times New Roman" panose="02020603050405020304" pitchFamily="18" charset="0"/>
              </a:rPr>
              <a:t>(</a:t>
            </a:r>
            <a:r>
              <a:rPr lang="en-US" sz="2800" b="0" i="0" u="none" strike="noStrike" baseline="0" dirty="0" err="1">
                <a:latin typeface="Times New Roman" panose="02020603050405020304" pitchFamily="18" charset="0"/>
                <a:cs typeface="Times New Roman" panose="02020603050405020304" pitchFamily="18" charset="0"/>
              </a:rPr>
              <a:t>CaCO</a:t>
            </a:r>
            <a:r>
              <a:rPr lang="en-US" sz="2800" b="0" i="0" u="none" strike="noStrike" baseline="0" dirty="0">
                <a:latin typeface="Times New Roman" panose="02020603050405020304" pitchFamily="18" charset="0"/>
                <a:cs typeface="Times New Roman" panose="02020603050405020304" pitchFamily="18" charset="0"/>
              </a:rPr>
              <a:t> </a:t>
            </a:r>
            <a:r>
              <a:rPr lang="en-US" sz="800" b="0" i="0" u="none" strike="noStrike" baseline="0" dirty="0">
                <a:latin typeface="Times New Roman" panose="02020603050405020304" pitchFamily="18" charset="0"/>
                <a:cs typeface="Times New Roman" panose="02020603050405020304" pitchFamily="18" charset="0"/>
              </a:rPr>
              <a:t>3 </a:t>
            </a:r>
            <a:r>
              <a:rPr lang="en-US" sz="2800" b="0" i="0" u="none" strike="noStrike" baseline="0" dirty="0">
                <a:latin typeface="Times New Roman" panose="02020603050405020304" pitchFamily="18" charset="0"/>
                <a:cs typeface="Times New Roman" panose="02020603050405020304" pitchFamily="18" charset="0"/>
              </a:rPr>
              <a:t>) and </a:t>
            </a:r>
            <a:r>
              <a:rPr lang="en-US" sz="2800" b="1" i="0" u="none" strike="noStrike" baseline="0" dirty="0">
                <a:latin typeface="Times New Roman" panose="02020603050405020304" pitchFamily="18" charset="0"/>
                <a:cs typeface="Times New Roman" panose="02020603050405020304" pitchFamily="18" charset="0"/>
              </a:rPr>
              <a:t>vitamin D</a:t>
            </a:r>
            <a:r>
              <a:rPr lang="en-US" sz="2800" b="0" i="0" u="none" strike="noStrike" baseline="0" dirty="0">
                <a:latin typeface="Times New Roman" panose="02020603050405020304" pitchFamily="18" charset="0"/>
                <a:cs typeface="Times New Roman" panose="02020603050405020304" pitchFamily="18" charset="0"/>
              </a:rPr>
              <a:t> replacement are usually necessary.</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9AE3A398-23C1-AA4C-A390-050A478A996F}"/>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92EE46F1-99A7-B4BA-7FA4-AA15218EDE04}"/>
              </a:ext>
            </a:extLst>
          </p:cNvPr>
          <p:cNvSpPr>
            <a:spLocks noGrp="1"/>
          </p:cNvSpPr>
          <p:nvPr>
            <p:ph type="sldNum" sz="quarter" idx="12"/>
          </p:nvPr>
        </p:nvSpPr>
        <p:spPr/>
        <p:txBody>
          <a:bodyPr/>
          <a:lstStyle/>
          <a:p>
            <a:fld id="{CB22993B-EEE5-4EB1-BEE5-4FFFA489F796}" type="slidenum">
              <a:rPr lang="en-US" smtClean="0"/>
              <a:t>81</a:t>
            </a:fld>
            <a:endParaRPr lang="en-US"/>
          </a:p>
        </p:txBody>
      </p:sp>
    </p:spTree>
    <p:extLst>
      <p:ext uri="{BB962C8B-B14F-4D97-AF65-F5344CB8AC3E}">
        <p14:creationId xmlns:p14="http://schemas.microsoft.com/office/powerpoint/2010/main" val="35042031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BA31CD-78E5-463A-9A77-D203B4DA73AE}"/>
              </a:ext>
            </a:extLst>
          </p:cNvPr>
          <p:cNvSpPr>
            <a:spLocks noGrp="1"/>
          </p:cNvSpPr>
          <p:nvPr>
            <p:ph type="title"/>
          </p:nvPr>
        </p:nvSpPr>
        <p:spPr>
          <a:xfrm>
            <a:off x="838200" y="365125"/>
            <a:ext cx="10515600" cy="519295"/>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Anesthetic Considerations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148819CC-82AF-4B48-9C90-B8648DED34B6}"/>
              </a:ext>
            </a:extLst>
          </p:cNvPr>
          <p:cNvSpPr>
            <a:spLocks noGrp="1"/>
          </p:cNvSpPr>
          <p:nvPr>
            <p:ph idx="1"/>
          </p:nvPr>
        </p:nvSpPr>
        <p:spPr>
          <a:xfrm>
            <a:off x="838200" y="1229194"/>
            <a:ext cx="10515600" cy="5428573"/>
          </a:xfrm>
        </p:spPr>
        <p:txBody>
          <a:bodyPr>
            <a:normAutofit/>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Significant hypocalcemia should be corrected preoperatively.</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Serial ionized calcium levels should be monitored intraoperatively in patients with a history of hypocalcemia.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Alkalosis should be avoided to prevent further decreases in [Ca </a:t>
            </a:r>
            <a:r>
              <a:rPr lang="en-US" sz="800" b="0" i="0" u="none" strike="noStrike" baseline="0" dirty="0">
                <a:latin typeface="Times New Roman" panose="02020603050405020304" pitchFamily="18" charset="0"/>
                <a:cs typeface="Times New Roman" panose="02020603050405020304" pitchFamily="18" charset="0"/>
              </a:rPr>
              <a:t>2+ </a:t>
            </a:r>
            <a:r>
              <a:rPr lang="en-US" sz="2800" b="0" i="0" u="none" strike="noStrike" baseline="0" dirty="0">
                <a:latin typeface="Times New Roman" panose="02020603050405020304" pitchFamily="18" charset="0"/>
                <a:cs typeface="Times New Roman" panose="02020603050405020304" pitchFamily="18" charset="0"/>
              </a:rPr>
              <a:t>].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Intravenous calcium may be necessary following rapid transfusions of citrated blood products or large volumes of albumin solutions.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Potentiation of the negative inotropic effects of barbiturates and volatile anesthetics should be expected.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Responses to NMBs are inconsistent and require close monitoring with a nerve stimulator.</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318C83D3-5DC2-7C86-6C0B-3D0F76EC1087}"/>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CD24688C-9BF7-A455-45AD-BC649FF55DC3}"/>
              </a:ext>
            </a:extLst>
          </p:cNvPr>
          <p:cNvSpPr>
            <a:spLocks noGrp="1"/>
          </p:cNvSpPr>
          <p:nvPr>
            <p:ph type="sldNum" sz="quarter" idx="12"/>
          </p:nvPr>
        </p:nvSpPr>
        <p:spPr/>
        <p:txBody>
          <a:bodyPr/>
          <a:lstStyle/>
          <a:p>
            <a:fld id="{CB22993B-EEE5-4EB1-BEE5-4FFFA489F796}" type="slidenum">
              <a:rPr lang="en-US" smtClean="0"/>
              <a:t>82</a:t>
            </a:fld>
            <a:endParaRPr lang="en-US"/>
          </a:p>
        </p:txBody>
      </p:sp>
    </p:spTree>
    <p:extLst>
      <p:ext uri="{BB962C8B-B14F-4D97-AF65-F5344CB8AC3E}">
        <p14:creationId xmlns:p14="http://schemas.microsoft.com/office/powerpoint/2010/main" val="9285675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29EAAD-8992-4ECD-AECA-FBCD0B14E795}"/>
              </a:ext>
            </a:extLst>
          </p:cNvPr>
          <p:cNvSpPr>
            <a:spLocks noGrp="1"/>
          </p:cNvSpPr>
          <p:nvPr>
            <p:ph type="title"/>
          </p:nvPr>
        </p:nvSpPr>
        <p:spPr>
          <a:xfrm>
            <a:off x="838200" y="365125"/>
            <a:ext cx="10515600" cy="714167"/>
          </a:xfrm>
        </p:spPr>
        <p:txBody>
          <a:bodyPr>
            <a:normAutofit/>
          </a:bodyPr>
          <a:lstStyle/>
          <a:p>
            <a:r>
              <a:rPr lang="en-US" sz="3600" i="0" u="none" strike="noStrike" baseline="0" dirty="0">
                <a:latin typeface="Times New Roman" panose="02020603050405020304" pitchFamily="18" charset="0"/>
                <a:cs typeface="Times New Roman" panose="02020603050405020304" pitchFamily="18" charset="0"/>
              </a:rPr>
              <a:t>Disorders of Phosphorus Balance</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5B553D0B-5557-461B-B7DA-88FFFD098101}"/>
              </a:ext>
            </a:extLst>
          </p:cNvPr>
          <p:cNvSpPr>
            <a:spLocks noGrp="1"/>
          </p:cNvSpPr>
          <p:nvPr>
            <p:ph idx="1"/>
          </p:nvPr>
        </p:nvSpPr>
        <p:spPr>
          <a:xfrm>
            <a:off x="838200" y="1214203"/>
            <a:ext cx="10515600" cy="5278672"/>
          </a:xfrm>
        </p:spPr>
        <p:txBody>
          <a:bodyPr>
            <a:normAutofit/>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Phosphorus is an important intracellular anion constituent.</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Its presence is required for the </a:t>
            </a:r>
            <a:r>
              <a:rPr lang="en-US" sz="2800" b="1" i="0" u="none" strike="noStrike" baseline="0" dirty="0">
                <a:latin typeface="Times New Roman" panose="02020603050405020304" pitchFamily="18" charset="0"/>
                <a:cs typeface="Times New Roman" panose="02020603050405020304" pitchFamily="18" charset="0"/>
              </a:rPr>
              <a:t>synthesis</a:t>
            </a:r>
            <a:r>
              <a:rPr lang="en-US" sz="2800" b="0" i="0" u="none" strike="noStrike" baseline="0" dirty="0">
                <a:latin typeface="Times New Roman" panose="02020603050405020304" pitchFamily="18" charset="0"/>
                <a:cs typeface="Times New Roman" panose="02020603050405020304" pitchFamily="18" charset="0"/>
              </a:rPr>
              <a:t> of</a:t>
            </a:r>
          </a:p>
          <a:p>
            <a:pPr marL="971550" lvl="1" indent="-514350">
              <a:lnSpc>
                <a:spcPct val="100000"/>
              </a:lnSpc>
              <a:buFont typeface="+mj-lt"/>
              <a:buAutoNum type="arabicPeriod"/>
            </a:pPr>
            <a:r>
              <a:rPr lang="en-US" sz="2800" b="0" i="0" u="none" strike="noStrike" baseline="0" dirty="0">
                <a:latin typeface="Times New Roman" panose="02020603050405020304" pitchFamily="18" charset="0"/>
                <a:cs typeface="Times New Roman" panose="02020603050405020304" pitchFamily="18" charset="0"/>
              </a:rPr>
              <a:t>The phospholipids and phosphoproteins in cell membranes and intracellular organelles</a:t>
            </a:r>
          </a:p>
          <a:p>
            <a:pPr marL="971550" lvl="1" indent="-514350">
              <a:lnSpc>
                <a:spcPct val="100000"/>
              </a:lnSpc>
              <a:buFont typeface="+mj-lt"/>
              <a:buAutoNum type="arabicPeriod"/>
            </a:pPr>
            <a:r>
              <a:rPr lang="en-US" sz="2800" b="0" i="0" u="none" strike="noStrike" baseline="0" dirty="0">
                <a:latin typeface="Times New Roman" panose="02020603050405020304" pitchFamily="18" charset="0"/>
                <a:cs typeface="Times New Roman" panose="02020603050405020304" pitchFamily="18" charset="0"/>
              </a:rPr>
              <a:t>The </a:t>
            </a:r>
            <a:r>
              <a:rPr lang="en-US" sz="2800" b="0" i="0" u="none" strike="noStrike" baseline="0" dirty="0" err="1">
                <a:latin typeface="Times New Roman" panose="02020603050405020304" pitchFamily="18" charset="0"/>
                <a:cs typeface="Times New Roman" panose="02020603050405020304" pitchFamily="18" charset="0"/>
              </a:rPr>
              <a:t>phosphonucleotides</a:t>
            </a:r>
            <a:r>
              <a:rPr lang="en-US" sz="2800" b="0" i="0" u="none" strike="noStrike" baseline="0" dirty="0">
                <a:latin typeface="Times New Roman" panose="02020603050405020304" pitchFamily="18" charset="0"/>
                <a:cs typeface="Times New Roman" panose="02020603050405020304" pitchFamily="18" charset="0"/>
              </a:rPr>
              <a:t> involved in protein synthesis and reproduction, and </a:t>
            </a:r>
          </a:p>
          <a:p>
            <a:pPr marL="971550" lvl="1" indent="-514350">
              <a:lnSpc>
                <a:spcPct val="100000"/>
              </a:lnSpc>
              <a:buFont typeface="+mj-lt"/>
              <a:buAutoNum type="arabicPeriod"/>
            </a:pPr>
            <a:r>
              <a:rPr lang="en-US" sz="2800" b="0" i="0" u="none" strike="noStrike" baseline="0" dirty="0">
                <a:latin typeface="Times New Roman" panose="02020603050405020304" pitchFamily="18" charset="0"/>
                <a:cs typeface="Times New Roman" panose="02020603050405020304" pitchFamily="18" charset="0"/>
              </a:rPr>
              <a:t>ATP used for the storage of energy. </a:t>
            </a:r>
            <a:endParaRPr lang="en-US" sz="2800" dirty="0">
              <a:latin typeface="Times New Roman" panose="02020603050405020304" pitchFamily="18" charset="0"/>
              <a:cs typeface="Times New Roman" panose="02020603050405020304" pitchFamily="18" charset="0"/>
            </a:endParaRPr>
          </a:p>
          <a:p>
            <a:pPr marL="971550" lvl="1" indent="-514350">
              <a:lnSpc>
                <a:spcPct val="100000"/>
              </a:lnSpc>
              <a:buFont typeface="+mj-lt"/>
              <a:buAutoNum type="arabicPeriod"/>
            </a:pPr>
            <a:r>
              <a:rPr lang="en-US" sz="2800" dirty="0">
                <a:latin typeface="Times New Roman" panose="02020603050405020304" pitchFamily="18" charset="0"/>
                <a:cs typeface="Times New Roman" panose="02020603050405020304" pitchFamily="18" charset="0"/>
              </a:rPr>
              <a:t>Formation of bone and teeth</a:t>
            </a:r>
            <a:endParaRPr lang="en-US" sz="2800" b="0" i="0" u="none" strike="noStrike" baseline="0" dirty="0">
              <a:latin typeface="Times New Roman" panose="02020603050405020304" pitchFamily="18" charset="0"/>
              <a:cs typeface="Times New Roman" panose="02020603050405020304" pitchFamily="18" charset="0"/>
            </a:endParaRP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Only 0.1% of total body phosphorus is in ECF; 85% is in bone and 15% is intracellular.</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865FA133-BC2D-AC63-4578-128C4B46DFD3}"/>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3106621A-6848-E5E9-6ABF-DF18F8898BA8}"/>
              </a:ext>
            </a:extLst>
          </p:cNvPr>
          <p:cNvSpPr>
            <a:spLocks noGrp="1"/>
          </p:cNvSpPr>
          <p:nvPr>
            <p:ph type="sldNum" sz="quarter" idx="12"/>
          </p:nvPr>
        </p:nvSpPr>
        <p:spPr/>
        <p:txBody>
          <a:bodyPr/>
          <a:lstStyle/>
          <a:p>
            <a:fld id="{CB22993B-EEE5-4EB1-BEE5-4FFFA489F796}" type="slidenum">
              <a:rPr lang="en-US" smtClean="0"/>
              <a:t>83</a:t>
            </a:fld>
            <a:endParaRPr lang="en-US"/>
          </a:p>
        </p:txBody>
      </p:sp>
    </p:spTree>
    <p:extLst>
      <p:ext uri="{BB962C8B-B14F-4D97-AF65-F5344CB8AC3E}">
        <p14:creationId xmlns:p14="http://schemas.microsoft.com/office/powerpoint/2010/main" val="8369357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771365-D025-4F41-8434-9BE7E5E5B774}"/>
              </a:ext>
            </a:extLst>
          </p:cNvPr>
          <p:cNvSpPr>
            <a:spLocks noGrp="1"/>
          </p:cNvSpPr>
          <p:nvPr>
            <p:ph type="title"/>
          </p:nvPr>
        </p:nvSpPr>
        <p:spPr>
          <a:xfrm>
            <a:off x="838200" y="365125"/>
            <a:ext cx="10515600" cy="549275"/>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Normal phosphorus balance</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B75FAE77-7393-45B3-87B8-E270C968AE3A}"/>
              </a:ext>
            </a:extLst>
          </p:cNvPr>
          <p:cNvSpPr>
            <a:spLocks noGrp="1"/>
          </p:cNvSpPr>
          <p:nvPr>
            <p:ph idx="1"/>
          </p:nvPr>
        </p:nvSpPr>
        <p:spPr>
          <a:xfrm>
            <a:off x="838200" y="1079292"/>
            <a:ext cx="10515600" cy="5546360"/>
          </a:xfrm>
        </p:spPr>
        <p:txBody>
          <a:bodyPr>
            <a:normAutofit/>
          </a:bodyPr>
          <a:lstStyle/>
          <a:p>
            <a:pPr algn="l"/>
            <a:r>
              <a:rPr lang="en-US" sz="2800" b="0" i="0" u="none" strike="noStrike" baseline="0" dirty="0">
                <a:latin typeface="Times New Roman" panose="02020603050405020304" pitchFamily="18" charset="0"/>
                <a:cs typeface="Times New Roman" panose="02020603050405020304" pitchFamily="18" charset="0"/>
              </a:rPr>
              <a:t>Phosphorus intake averages 800–1500 mg/d in adults. </a:t>
            </a:r>
          </a:p>
          <a:p>
            <a:pPr algn="l"/>
            <a:r>
              <a:rPr lang="en-US" sz="2800" b="0" i="0" u="none" strike="noStrike" baseline="0" dirty="0">
                <a:latin typeface="Times New Roman" panose="02020603050405020304" pitchFamily="18" charset="0"/>
                <a:cs typeface="Times New Roman" panose="02020603050405020304" pitchFamily="18" charset="0"/>
              </a:rPr>
              <a:t>About 80% of that amount is normally absorbed in the proximal </a:t>
            </a:r>
            <a:r>
              <a:rPr lang="en-US" sz="2800" b="1" i="0" u="none" strike="noStrike" baseline="0" dirty="0">
                <a:latin typeface="Times New Roman" panose="02020603050405020304" pitchFamily="18" charset="0"/>
                <a:cs typeface="Times New Roman" panose="02020603050405020304" pitchFamily="18" charset="0"/>
              </a:rPr>
              <a:t>small bowel</a:t>
            </a:r>
            <a:r>
              <a:rPr lang="en-US" sz="2800" b="0" i="0" u="none" strike="noStrike" baseline="0" dirty="0">
                <a:latin typeface="Times New Roman" panose="02020603050405020304" pitchFamily="18" charset="0"/>
                <a:cs typeface="Times New Roman" panose="02020603050405020304" pitchFamily="18" charset="0"/>
              </a:rPr>
              <a:t>. </a:t>
            </a:r>
          </a:p>
          <a:p>
            <a:pPr algn="l"/>
            <a:r>
              <a:rPr lang="en-US" sz="2800" b="0" i="0" u="none" strike="noStrike" baseline="0" dirty="0">
                <a:latin typeface="Times New Roman" panose="02020603050405020304" pitchFamily="18" charset="0"/>
                <a:cs typeface="Times New Roman" panose="02020603050405020304" pitchFamily="18" charset="0"/>
              </a:rPr>
              <a:t>Vitamin</a:t>
            </a:r>
            <a:r>
              <a:rPr lang="en-US"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D increases intestinal absorption of phosphorus.</a:t>
            </a:r>
          </a:p>
          <a:p>
            <a:pPr algn="l"/>
            <a:r>
              <a:rPr lang="en-US" sz="2800" b="0" i="0" u="none" strike="noStrike" baseline="0" dirty="0">
                <a:latin typeface="Times New Roman" panose="02020603050405020304" pitchFamily="18" charset="0"/>
                <a:cs typeface="Times New Roman" panose="02020603050405020304" pitchFamily="18" charset="0"/>
              </a:rPr>
              <a:t>The kidneys are the major route for phosphorus excretion and are responsible for regulating total body phosphorus content. </a:t>
            </a:r>
          </a:p>
          <a:p>
            <a:pPr algn="l"/>
            <a:r>
              <a:rPr lang="en-US" sz="2800" b="0" i="0" u="none" strike="noStrike" baseline="0" dirty="0">
                <a:latin typeface="Times New Roman" panose="02020603050405020304" pitchFamily="18" charset="0"/>
                <a:cs typeface="Times New Roman" panose="02020603050405020304" pitchFamily="18" charset="0"/>
              </a:rPr>
              <a:t>Urinary excretion of phosphorus depends on both intake and plasma concentration. </a:t>
            </a:r>
          </a:p>
          <a:p>
            <a:pPr algn="l"/>
            <a:r>
              <a:rPr lang="en-US" sz="2800" b="0" i="0" u="none" strike="noStrike" baseline="0" dirty="0">
                <a:latin typeface="Times New Roman" panose="02020603050405020304" pitchFamily="18" charset="0"/>
                <a:cs typeface="Times New Roman" panose="02020603050405020304" pitchFamily="18" charset="0"/>
              </a:rPr>
              <a:t>Secretion of PTH can augment urinary phosphorus </a:t>
            </a:r>
            <a:r>
              <a:rPr lang="en-US" sz="2800" b="1" i="0" u="none" strike="noStrike" baseline="0" dirty="0">
                <a:latin typeface="Times New Roman" panose="02020603050405020304" pitchFamily="18" charset="0"/>
                <a:cs typeface="Times New Roman" panose="02020603050405020304" pitchFamily="18" charset="0"/>
              </a:rPr>
              <a:t>excretion</a:t>
            </a:r>
            <a:r>
              <a:rPr lang="en-US" sz="2800" b="0" i="0" u="none" strike="noStrike" baseline="0" dirty="0">
                <a:latin typeface="Times New Roman" panose="02020603050405020304" pitchFamily="18" charset="0"/>
                <a:cs typeface="Times New Roman" panose="02020603050405020304" pitchFamily="18" charset="0"/>
              </a:rPr>
              <a:t> by </a:t>
            </a:r>
            <a:r>
              <a:rPr lang="en-US" sz="2800" b="1" i="0" u="none" strike="noStrike" baseline="0" dirty="0">
                <a:latin typeface="Times New Roman" panose="02020603050405020304" pitchFamily="18" charset="0"/>
                <a:cs typeface="Times New Roman" panose="02020603050405020304" pitchFamily="18" charset="0"/>
              </a:rPr>
              <a:t>inhibiting</a:t>
            </a:r>
            <a:r>
              <a:rPr lang="en-US" sz="2800" b="0" i="0" u="none" strike="noStrike" baseline="0" dirty="0">
                <a:latin typeface="Times New Roman" panose="02020603050405020304" pitchFamily="18" charset="0"/>
                <a:cs typeface="Times New Roman" panose="02020603050405020304" pitchFamily="18" charset="0"/>
              </a:rPr>
              <a:t> its proximal tubular </a:t>
            </a:r>
            <a:r>
              <a:rPr lang="en-US" sz="2800" b="1" i="0" u="none" strike="noStrike" baseline="0" dirty="0">
                <a:latin typeface="Times New Roman" panose="02020603050405020304" pitchFamily="18" charset="0"/>
                <a:cs typeface="Times New Roman" panose="02020603050405020304" pitchFamily="18" charset="0"/>
              </a:rPr>
              <a:t>reabsorption</a:t>
            </a:r>
            <a:r>
              <a:rPr lang="en-US" sz="2800" b="0" i="0" u="none" strike="noStrike" baseline="0" dirty="0">
                <a:latin typeface="Times New Roman" panose="02020603050405020304" pitchFamily="18" charset="0"/>
                <a:cs typeface="Times New Roman" panose="02020603050405020304" pitchFamily="18" charset="0"/>
              </a:rPr>
              <a:t>. </a:t>
            </a:r>
          </a:p>
        </p:txBody>
      </p:sp>
      <p:sp>
        <p:nvSpPr>
          <p:cNvPr id="4" name="Date Placeholder 3">
            <a:extLst>
              <a:ext uri="{FF2B5EF4-FFF2-40B4-BE49-F238E27FC236}">
                <a16:creationId xmlns:a16="http://schemas.microsoft.com/office/drawing/2014/main" xmlns="" id="{586A9879-9426-1CE2-56AF-07BF8269ACF9}"/>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E45A21E6-E3C6-1752-1D8D-BE79D22D9B36}"/>
              </a:ext>
            </a:extLst>
          </p:cNvPr>
          <p:cNvSpPr>
            <a:spLocks noGrp="1"/>
          </p:cNvSpPr>
          <p:nvPr>
            <p:ph type="sldNum" sz="quarter" idx="12"/>
          </p:nvPr>
        </p:nvSpPr>
        <p:spPr/>
        <p:txBody>
          <a:bodyPr/>
          <a:lstStyle/>
          <a:p>
            <a:fld id="{CB22993B-EEE5-4EB1-BEE5-4FFFA489F796}" type="slidenum">
              <a:rPr lang="en-US" smtClean="0"/>
              <a:t>84</a:t>
            </a:fld>
            <a:endParaRPr lang="en-US"/>
          </a:p>
        </p:txBody>
      </p:sp>
    </p:spTree>
    <p:extLst>
      <p:ext uri="{BB962C8B-B14F-4D97-AF65-F5344CB8AC3E}">
        <p14:creationId xmlns:p14="http://schemas.microsoft.com/office/powerpoint/2010/main" val="230594670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899383-65C3-4148-960E-7CD9B8851414}"/>
              </a:ext>
            </a:extLst>
          </p:cNvPr>
          <p:cNvSpPr>
            <a:spLocks noGrp="1"/>
          </p:cNvSpPr>
          <p:nvPr>
            <p:ph type="title"/>
          </p:nvPr>
        </p:nvSpPr>
        <p:spPr>
          <a:xfrm>
            <a:off x="838200" y="365125"/>
            <a:ext cx="10515600" cy="639215"/>
          </a:xfrm>
        </p:spPr>
        <p:txBody>
          <a:bodyPr>
            <a:normAutofit/>
          </a:bodyPr>
          <a:lstStyle/>
          <a:p>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66EC3EE4-E781-46DF-94D0-ABFE9FD87862}"/>
              </a:ext>
            </a:extLst>
          </p:cNvPr>
          <p:cNvSpPr>
            <a:spLocks noGrp="1"/>
          </p:cNvSpPr>
          <p:nvPr>
            <p:ph idx="1"/>
          </p:nvPr>
        </p:nvSpPr>
        <p:spPr>
          <a:xfrm>
            <a:off x="838200" y="1124262"/>
            <a:ext cx="10515600" cy="5368613"/>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Normal plasma phosphorus concentration is 2.5–4.5 mg/dL (0.8–1.45 mmol/L) in adults and up to 6 mg/dL in children.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Plasma phosphorus concentration is usually measured during fasting, because a recent carbohydrate intake transiently decreases the plasma phosphorus concentration.</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Hypophosphatemia increases vitamin D production, whereas hyperphosphatemia depresses it.</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3666AD56-6EC0-167E-0A90-A7116CE7BE5B}"/>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B455CDD6-7224-1D44-9A61-3BF74187ADA8}"/>
              </a:ext>
            </a:extLst>
          </p:cNvPr>
          <p:cNvSpPr>
            <a:spLocks noGrp="1"/>
          </p:cNvSpPr>
          <p:nvPr>
            <p:ph type="sldNum" sz="quarter" idx="12"/>
          </p:nvPr>
        </p:nvSpPr>
        <p:spPr/>
        <p:txBody>
          <a:bodyPr/>
          <a:lstStyle/>
          <a:p>
            <a:fld id="{CB22993B-EEE5-4EB1-BEE5-4FFFA489F796}" type="slidenum">
              <a:rPr lang="en-US" smtClean="0"/>
              <a:t>85</a:t>
            </a:fld>
            <a:endParaRPr lang="en-US"/>
          </a:p>
        </p:txBody>
      </p:sp>
    </p:spTree>
    <p:extLst>
      <p:ext uri="{BB962C8B-B14F-4D97-AF65-F5344CB8AC3E}">
        <p14:creationId xmlns:p14="http://schemas.microsoft.com/office/powerpoint/2010/main" val="13257336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2AFDD2-6AC2-485A-BFE8-438AD3BB5134}"/>
              </a:ext>
            </a:extLst>
          </p:cNvPr>
          <p:cNvSpPr>
            <a:spLocks noGrp="1"/>
          </p:cNvSpPr>
          <p:nvPr>
            <p:ph type="title"/>
          </p:nvPr>
        </p:nvSpPr>
        <p:spPr>
          <a:xfrm>
            <a:off x="838200" y="365126"/>
            <a:ext cx="10515600" cy="489314"/>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Hyperphosphatemia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52491B7C-9C6E-4338-B4FF-928898713053}"/>
              </a:ext>
            </a:extLst>
          </p:cNvPr>
          <p:cNvSpPr>
            <a:spLocks noGrp="1"/>
          </p:cNvSpPr>
          <p:nvPr>
            <p:ph idx="1"/>
          </p:nvPr>
        </p:nvSpPr>
        <p:spPr>
          <a:xfrm>
            <a:off x="838200" y="1049311"/>
            <a:ext cx="10515600" cy="5127652"/>
          </a:xfrm>
        </p:spPr>
        <p:txBody>
          <a:bodyPr/>
          <a:lstStyle/>
          <a:p>
            <a:pPr algn="l">
              <a:lnSpc>
                <a:spcPct val="100000"/>
              </a:lnSpc>
            </a:pPr>
            <a:r>
              <a:rPr lang="de-DE" sz="2800" b="0" i="0" u="none" strike="noStrike" baseline="0" dirty="0">
                <a:latin typeface="Times New Roman" panose="02020603050405020304" pitchFamily="18" charset="0"/>
                <a:cs typeface="Times New Roman" panose="02020603050405020304" pitchFamily="18" charset="0"/>
              </a:rPr>
              <a:t>Serum phosphorus &gt; 4.5 mg/dl</a:t>
            </a:r>
            <a:endParaRPr lang="en-US" sz="2800" b="0" i="0" u="none" strike="noStrike" baseline="0" dirty="0">
              <a:latin typeface="Times New Roman" panose="02020603050405020304" pitchFamily="18" charset="0"/>
              <a:cs typeface="Times New Roman" panose="02020603050405020304" pitchFamily="18" charset="0"/>
            </a:endParaRP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Hyperphosphatemia may be seen with increased</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Phosphorus intake (excessive potassium phosphate a </a:t>
            </a:r>
            <a:r>
              <a:rPr lang="en-US" sz="2800" b="0" i="0" u="none" strike="noStrike" baseline="0" dirty="0" err="1">
                <a:latin typeface="Times New Roman" panose="02020603050405020304" pitchFamily="18" charset="0"/>
                <a:cs typeface="Times New Roman" panose="02020603050405020304" pitchFamily="18" charset="0"/>
              </a:rPr>
              <a:t>dministration</a:t>
            </a:r>
            <a:r>
              <a:rPr lang="en-US" sz="2800" b="0" i="0" u="none" strike="noStrike" baseline="0" dirty="0">
                <a:latin typeface="Times New Roman" panose="02020603050405020304" pitchFamily="18" charset="0"/>
                <a:cs typeface="Times New Roman" panose="02020603050405020304" pitchFamily="18" charset="0"/>
              </a:rPr>
              <a:t>),</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Decreased phosphorus excretion (renal insufficiency)</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Massive cell lysis (following chemotherapy for lymphoma or leukemia).</a:t>
            </a:r>
            <a:endParaRPr lang="en-US"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86ACA80D-DC4C-21FF-F8D9-934570CB4AC1}"/>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FA11CC8C-464F-92C0-E38B-4A65CBED58BB}"/>
              </a:ext>
            </a:extLst>
          </p:cNvPr>
          <p:cNvSpPr>
            <a:spLocks noGrp="1"/>
          </p:cNvSpPr>
          <p:nvPr>
            <p:ph type="sldNum" sz="quarter" idx="12"/>
          </p:nvPr>
        </p:nvSpPr>
        <p:spPr/>
        <p:txBody>
          <a:bodyPr/>
          <a:lstStyle/>
          <a:p>
            <a:fld id="{CB22993B-EEE5-4EB1-BEE5-4FFFA489F796}" type="slidenum">
              <a:rPr lang="en-US" smtClean="0"/>
              <a:t>86</a:t>
            </a:fld>
            <a:endParaRPr lang="en-US"/>
          </a:p>
        </p:txBody>
      </p:sp>
    </p:spTree>
    <p:extLst>
      <p:ext uri="{BB962C8B-B14F-4D97-AF65-F5344CB8AC3E}">
        <p14:creationId xmlns:p14="http://schemas.microsoft.com/office/powerpoint/2010/main" val="12310529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DDEDE4-2413-48FE-9333-94C0F90BF828}"/>
              </a:ext>
            </a:extLst>
          </p:cNvPr>
          <p:cNvSpPr>
            <a:spLocks noGrp="1"/>
          </p:cNvSpPr>
          <p:nvPr>
            <p:ph type="title"/>
          </p:nvPr>
        </p:nvSpPr>
        <p:spPr>
          <a:xfrm>
            <a:off x="838200" y="365125"/>
            <a:ext cx="10515600" cy="579255"/>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Clinical Manifestations of Hyperphosphatemia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9B67ED9B-BBD8-4CD2-8604-4CD9AEFC27DF}"/>
              </a:ext>
            </a:extLst>
          </p:cNvPr>
          <p:cNvSpPr>
            <a:spLocks noGrp="1"/>
          </p:cNvSpPr>
          <p:nvPr>
            <p:ph idx="1"/>
          </p:nvPr>
        </p:nvSpPr>
        <p:spPr>
          <a:xfrm>
            <a:off x="838200" y="1109272"/>
            <a:ext cx="10515600" cy="5383603"/>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Although hyperphosphatemia itself does not appear to be directly responsible for any functional disturbances, its secondary effect on plasma [Ca </a:t>
            </a:r>
            <a:r>
              <a:rPr lang="en-US" sz="800" b="0" i="0" u="none" strike="noStrike" baseline="0" dirty="0">
                <a:latin typeface="Times New Roman" panose="02020603050405020304" pitchFamily="18" charset="0"/>
                <a:cs typeface="Times New Roman" panose="02020603050405020304" pitchFamily="18" charset="0"/>
              </a:rPr>
              <a:t>2+ </a:t>
            </a:r>
            <a:r>
              <a:rPr lang="en-US" sz="2800" b="0" i="0" u="none" strike="noStrike" baseline="0" dirty="0">
                <a:latin typeface="Times New Roman" panose="02020603050405020304" pitchFamily="18" charset="0"/>
                <a:cs typeface="Times New Roman" panose="02020603050405020304" pitchFamily="18" charset="0"/>
              </a:rPr>
              <a:t>] can be important.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Marked </a:t>
            </a:r>
            <a:r>
              <a:rPr lang="en-US" sz="2800" b="1" i="0" u="none" strike="noStrike" baseline="0" dirty="0">
                <a:latin typeface="Times New Roman" panose="02020603050405020304" pitchFamily="18" charset="0"/>
                <a:cs typeface="Times New Roman" panose="02020603050405020304" pitchFamily="18" charset="0"/>
              </a:rPr>
              <a:t>hyperphosphatemia</a:t>
            </a:r>
            <a:r>
              <a:rPr lang="en-US" sz="2800" b="0" i="0" u="none" strike="noStrike" baseline="0" dirty="0">
                <a:latin typeface="Times New Roman" panose="02020603050405020304" pitchFamily="18" charset="0"/>
                <a:cs typeface="Times New Roman" panose="02020603050405020304" pitchFamily="18" charset="0"/>
              </a:rPr>
              <a:t> is thought to </a:t>
            </a:r>
            <a:r>
              <a:rPr lang="en-US" sz="2800" b="1" i="0" u="none" strike="noStrike" baseline="0" dirty="0">
                <a:latin typeface="Times New Roman" panose="02020603050405020304" pitchFamily="18" charset="0"/>
                <a:cs typeface="Times New Roman" panose="02020603050405020304" pitchFamily="18" charset="0"/>
              </a:rPr>
              <a:t>lower plasma [Ca </a:t>
            </a:r>
            <a:r>
              <a:rPr lang="en-US" sz="800" b="1" i="0" u="none" strike="noStrike" baseline="0" dirty="0">
                <a:latin typeface="Times New Roman" panose="02020603050405020304" pitchFamily="18" charset="0"/>
                <a:cs typeface="Times New Roman" panose="02020603050405020304" pitchFamily="18" charset="0"/>
              </a:rPr>
              <a:t>2+ </a:t>
            </a:r>
            <a:r>
              <a:rPr lang="en-US" sz="2800" b="0" i="0" u="none" strike="noStrike" baseline="0" dirty="0">
                <a:latin typeface="Times New Roman" panose="02020603050405020304" pitchFamily="18" charset="0"/>
                <a:cs typeface="Times New Roman" panose="02020603050405020304" pitchFamily="18" charset="0"/>
              </a:rPr>
              <a:t>] by precipitation and deposition of calcium phosphate in bone and soft tissues.</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20E7ABC7-5A47-BB43-63E1-9A5EA3F1B754}"/>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A2C584F8-77E6-B9D6-3945-A637F5E31C70}"/>
              </a:ext>
            </a:extLst>
          </p:cNvPr>
          <p:cNvSpPr>
            <a:spLocks noGrp="1"/>
          </p:cNvSpPr>
          <p:nvPr>
            <p:ph type="sldNum" sz="quarter" idx="12"/>
          </p:nvPr>
        </p:nvSpPr>
        <p:spPr/>
        <p:txBody>
          <a:bodyPr/>
          <a:lstStyle/>
          <a:p>
            <a:fld id="{CB22993B-EEE5-4EB1-BEE5-4FFFA489F796}" type="slidenum">
              <a:rPr lang="en-US" smtClean="0"/>
              <a:t>87</a:t>
            </a:fld>
            <a:endParaRPr lang="en-US"/>
          </a:p>
        </p:txBody>
      </p:sp>
    </p:spTree>
    <p:extLst>
      <p:ext uri="{BB962C8B-B14F-4D97-AF65-F5344CB8AC3E}">
        <p14:creationId xmlns:p14="http://schemas.microsoft.com/office/powerpoint/2010/main" val="41894485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B2DDEFE-705E-411A-AB2B-FED5280DCB96}"/>
              </a:ext>
            </a:extLst>
          </p:cNvPr>
          <p:cNvSpPr>
            <a:spLocks noGrp="1"/>
          </p:cNvSpPr>
          <p:nvPr>
            <p:ph idx="1"/>
          </p:nvPr>
        </p:nvSpPr>
        <p:spPr>
          <a:xfrm>
            <a:off x="838200" y="644576"/>
            <a:ext cx="10515600" cy="5921115"/>
          </a:xfrm>
        </p:spPr>
        <p:txBody>
          <a:bodyPr/>
          <a:lstStyle/>
          <a:p>
            <a:pPr marL="0" indent="0" algn="l">
              <a:buNone/>
            </a:pPr>
            <a:r>
              <a:rPr lang="en-US" sz="4000" b="1" i="0" u="none" strike="noStrike" baseline="0" dirty="0">
                <a:solidFill>
                  <a:srgbClr val="0081A6"/>
                </a:solidFill>
                <a:latin typeface="MyriadPro-Bold"/>
              </a:rPr>
              <a:t>  </a:t>
            </a:r>
            <a:r>
              <a:rPr lang="en-US" sz="3600" i="0" u="none" strike="noStrike" baseline="0" dirty="0">
                <a:latin typeface="Times New Roman" panose="02020603050405020304" pitchFamily="18" charset="0"/>
                <a:cs typeface="Times New Roman" panose="02020603050405020304" pitchFamily="18" charset="0"/>
              </a:rPr>
              <a:t>Treatment of Hyperphosphatemia</a:t>
            </a: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Hyperphosphatemia is generally treated with phosphate- binding antacids such as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aluminum hydroxide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or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aluminum carbonate</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a:t>
            </a:r>
          </a:p>
          <a:p>
            <a:pPr marL="0" indent="0" algn="l">
              <a:buNone/>
            </a:pPr>
            <a:r>
              <a:rPr lang="en-US" sz="4000" b="1" i="0" u="none" strike="noStrike" baseline="0" dirty="0">
                <a:solidFill>
                  <a:srgbClr val="0081A6"/>
                </a:solidFill>
                <a:latin typeface="Times New Roman" panose="02020603050405020304" pitchFamily="18" charset="0"/>
                <a:cs typeface="Times New Roman" panose="02020603050405020304" pitchFamily="18" charset="0"/>
              </a:rPr>
              <a:t>  </a:t>
            </a:r>
          </a:p>
          <a:p>
            <a:pPr marL="0" indent="0" algn="l">
              <a:buNone/>
            </a:pPr>
            <a:r>
              <a:rPr lang="en-US" sz="3600" i="0" u="none" strike="noStrike" baseline="0" dirty="0">
                <a:latin typeface="Times New Roman" panose="02020603050405020304" pitchFamily="18" charset="0"/>
                <a:cs typeface="Times New Roman" panose="02020603050405020304" pitchFamily="18" charset="0"/>
              </a:rPr>
              <a:t>Anesthetic Considerations</a:t>
            </a: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Although specific interactions between hyperphosphatemia and anesthesia are generally not described,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renal function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should be carefully evaluated. </a:t>
            </a: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Secondary hypocalcemia should also be excluded.</a:t>
            </a:r>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5A7834A6-073D-E028-C799-3133686DC381}"/>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2575E7F6-45FB-1146-4DD9-CB157DD4BF11}"/>
              </a:ext>
            </a:extLst>
          </p:cNvPr>
          <p:cNvSpPr>
            <a:spLocks noGrp="1"/>
          </p:cNvSpPr>
          <p:nvPr>
            <p:ph type="sldNum" sz="quarter" idx="12"/>
          </p:nvPr>
        </p:nvSpPr>
        <p:spPr/>
        <p:txBody>
          <a:bodyPr/>
          <a:lstStyle/>
          <a:p>
            <a:fld id="{CB22993B-EEE5-4EB1-BEE5-4FFFA489F796}" type="slidenum">
              <a:rPr lang="en-US" smtClean="0"/>
              <a:t>88</a:t>
            </a:fld>
            <a:endParaRPr lang="en-US"/>
          </a:p>
        </p:txBody>
      </p:sp>
    </p:spTree>
    <p:extLst>
      <p:ext uri="{BB962C8B-B14F-4D97-AF65-F5344CB8AC3E}">
        <p14:creationId xmlns:p14="http://schemas.microsoft.com/office/powerpoint/2010/main" val="372361955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BE5375-633F-4172-9AD0-5C6FA8117742}"/>
              </a:ext>
            </a:extLst>
          </p:cNvPr>
          <p:cNvSpPr>
            <a:spLocks noGrp="1"/>
          </p:cNvSpPr>
          <p:nvPr>
            <p:ph type="title"/>
          </p:nvPr>
        </p:nvSpPr>
        <p:spPr>
          <a:xfrm>
            <a:off x="838200" y="365125"/>
            <a:ext cx="10515600" cy="534285"/>
          </a:xfrm>
        </p:spPr>
        <p:txBody>
          <a:bodyPr>
            <a:normAutofit fontScale="90000"/>
          </a:bodyPr>
          <a:lstStyle/>
          <a:p>
            <a:r>
              <a:rPr lang="en-US" sz="4400" b="1" i="0" u="none" strike="noStrike" baseline="0" dirty="0">
                <a:solidFill>
                  <a:srgbClr val="6850A2"/>
                </a:solidFill>
                <a:latin typeface="MyriadPro-Black"/>
              </a:rPr>
              <a:t> </a:t>
            </a:r>
            <a:r>
              <a:rPr lang="en-US" sz="4000" i="0" u="none" strike="noStrike" baseline="0" dirty="0">
                <a:latin typeface="Times New Roman" panose="02020603050405020304" pitchFamily="18" charset="0"/>
                <a:cs typeface="Times New Roman" panose="02020603050405020304" pitchFamily="18" charset="0"/>
              </a:rPr>
              <a:t>Hypophosphatemia</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210EC4B1-9D04-43B7-883B-1F6C74EA2AAA}"/>
              </a:ext>
            </a:extLst>
          </p:cNvPr>
          <p:cNvSpPr>
            <a:spLocks noGrp="1"/>
          </p:cNvSpPr>
          <p:nvPr>
            <p:ph idx="1"/>
          </p:nvPr>
        </p:nvSpPr>
        <p:spPr>
          <a:xfrm>
            <a:off x="838200" y="1019330"/>
            <a:ext cx="10515600" cy="5838669"/>
          </a:xfrm>
        </p:spPr>
        <p:txBody>
          <a:bodyPr>
            <a:normAutofit lnSpcReduction="10000"/>
          </a:bodyPr>
          <a:lstStyle/>
          <a:p>
            <a:pPr algn="l">
              <a:lnSpc>
                <a:spcPct val="100000"/>
              </a:lnSpc>
            </a:pPr>
            <a:r>
              <a:rPr lang="de-DE" sz="2800" b="0" i="0" u="none" strike="noStrike" baseline="0" dirty="0">
                <a:latin typeface="Times New Roman" panose="02020603050405020304" pitchFamily="18" charset="0"/>
                <a:cs typeface="Times New Roman" panose="02020603050405020304" pitchFamily="18" charset="0"/>
              </a:rPr>
              <a:t>Serum phosphorus &lt; 2.5 mg/dl</a:t>
            </a:r>
            <a:endParaRPr lang="en-US" sz="2800" b="0" i="0" u="none" strike="noStrike" baseline="0" dirty="0">
              <a:latin typeface="Times New Roman" panose="02020603050405020304" pitchFamily="18" charset="0"/>
              <a:cs typeface="Times New Roman" panose="02020603050405020304" pitchFamily="18" charset="0"/>
            </a:endParaRP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Hypophosphatemia is usually the result of either </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A negative phosphorus balance or </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Cellular uptake of extracellular phosphorus (an intercompartmental shift ).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Intercompartmental shifts of phosphorus can occur during </a:t>
            </a:r>
            <a:r>
              <a:rPr lang="en-US" sz="2800" b="1" i="0" u="none" strike="noStrike" baseline="0" dirty="0">
                <a:latin typeface="Times New Roman" panose="02020603050405020304" pitchFamily="18" charset="0"/>
                <a:cs typeface="Times New Roman" panose="02020603050405020304" pitchFamily="18" charset="0"/>
              </a:rPr>
              <a:t>alkalosis </a:t>
            </a:r>
            <a:r>
              <a:rPr lang="en-US" sz="2800" b="0" i="0" u="none" strike="noStrike" baseline="0" dirty="0">
                <a:latin typeface="Times New Roman" panose="02020603050405020304" pitchFamily="18" charset="0"/>
                <a:cs typeface="Times New Roman" panose="02020603050405020304" pitchFamily="18" charset="0"/>
              </a:rPr>
              <a:t>and following </a:t>
            </a:r>
            <a:r>
              <a:rPr lang="en-US" sz="2800" b="1" i="0" u="none" strike="noStrike" baseline="0" dirty="0">
                <a:latin typeface="Times New Roman" panose="02020603050405020304" pitchFamily="18" charset="0"/>
                <a:cs typeface="Times New Roman" panose="02020603050405020304" pitchFamily="18" charset="0"/>
              </a:rPr>
              <a:t>carbohydrate ingestion </a:t>
            </a:r>
            <a:r>
              <a:rPr lang="en-US" sz="2800" b="0" i="0" u="none" strike="noStrike" baseline="0" dirty="0">
                <a:latin typeface="Times New Roman" panose="02020603050405020304" pitchFamily="18" charset="0"/>
                <a:cs typeface="Times New Roman" panose="02020603050405020304" pitchFamily="18" charset="0"/>
              </a:rPr>
              <a:t>or </a:t>
            </a:r>
            <a:r>
              <a:rPr lang="en-US" sz="2800" b="1" i="0" u="none" strike="noStrike" baseline="0" dirty="0">
                <a:latin typeface="Times New Roman" panose="02020603050405020304" pitchFamily="18" charset="0"/>
                <a:cs typeface="Times New Roman" panose="02020603050405020304" pitchFamily="18" charset="0"/>
              </a:rPr>
              <a:t>insulin administration</a:t>
            </a:r>
            <a:r>
              <a:rPr lang="en-US" sz="2800" b="0" i="0" u="none" strike="noStrike" baseline="0" dirty="0">
                <a:latin typeface="Times New Roman" panose="02020603050405020304" pitchFamily="18" charset="0"/>
                <a:cs typeface="Times New Roman" panose="02020603050405020304" pitchFamily="18" charset="0"/>
              </a:rPr>
              <a:t>.</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Large doses of aluminum or magnesium-containing antacids, severe burns, inadequate phosphorus supplementation during hyperalimentation, diabetic ketoacidosis, alcohol withdrawal, and prolonged respiratory alkalosis can all produce a negative phosphorus balance and lead to severe hypophosphatemia (&lt;0.3 mmol/dL or &lt;1.0 mg/dL).</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6018B697-563C-80E9-0149-F4B0CED9E023}"/>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052BBE00-D76F-94FC-D3C8-B8A427FCE947}"/>
              </a:ext>
            </a:extLst>
          </p:cNvPr>
          <p:cNvSpPr>
            <a:spLocks noGrp="1"/>
          </p:cNvSpPr>
          <p:nvPr>
            <p:ph type="sldNum" sz="quarter" idx="12"/>
          </p:nvPr>
        </p:nvSpPr>
        <p:spPr/>
        <p:txBody>
          <a:bodyPr/>
          <a:lstStyle/>
          <a:p>
            <a:fld id="{CB22993B-EEE5-4EB1-BEE5-4FFFA489F796}" type="slidenum">
              <a:rPr lang="en-US" smtClean="0"/>
              <a:t>89</a:t>
            </a:fld>
            <a:endParaRPr lang="en-US"/>
          </a:p>
        </p:txBody>
      </p:sp>
    </p:spTree>
    <p:extLst>
      <p:ext uri="{BB962C8B-B14F-4D97-AF65-F5344CB8AC3E}">
        <p14:creationId xmlns:p14="http://schemas.microsoft.com/office/powerpoint/2010/main" val="54148966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2CD9BC-7A2C-46DC-A2C5-AFB48ECA51DE}"/>
              </a:ext>
            </a:extLst>
          </p:cNvPr>
          <p:cNvSpPr>
            <a:spLocks noGrp="1"/>
          </p:cNvSpPr>
          <p:nvPr>
            <p:ph type="title"/>
          </p:nvPr>
        </p:nvSpPr>
        <p:spPr>
          <a:xfrm>
            <a:off x="838200" y="383914"/>
            <a:ext cx="10515600" cy="594245"/>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Clinical Manifestations of Hypophosphatemia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AEF1675B-25FB-4B25-8E07-5A2FA520C5BB}"/>
              </a:ext>
            </a:extLst>
          </p:cNvPr>
          <p:cNvSpPr>
            <a:spLocks noGrp="1"/>
          </p:cNvSpPr>
          <p:nvPr>
            <p:ph idx="1"/>
          </p:nvPr>
        </p:nvSpPr>
        <p:spPr>
          <a:xfrm>
            <a:off x="838200" y="1139252"/>
            <a:ext cx="10515600" cy="5546361"/>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Mild to moderate hypophosphatemia (1.5–2.5 mg/ dL) is generally asymptomatic.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In contrast, severe hypophosphatemia (&lt;1.0 mg/dL) is often associated with widespread organ dysfunction.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Cardiomyopathy, impaired oxygen delivery (decreased 2,3-diphosphoglycerate levels), hemolysis, impaired leukocyte function, platelet dysfunction, encephalopathy, skeletal myopathy, respiratory failure, rhabdomyolysis, skeletal demineralization, metabolic acidosis, and hepatic dysfunction have all been associated with severe hypophosphatemia</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C3312177-E1AE-2FA1-5D0D-1124B859C490}"/>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FEA177E6-A51A-DCFA-0A13-4C1D55498250}"/>
              </a:ext>
            </a:extLst>
          </p:cNvPr>
          <p:cNvSpPr>
            <a:spLocks noGrp="1"/>
          </p:cNvSpPr>
          <p:nvPr>
            <p:ph type="sldNum" sz="quarter" idx="12"/>
          </p:nvPr>
        </p:nvSpPr>
        <p:spPr/>
        <p:txBody>
          <a:bodyPr/>
          <a:lstStyle/>
          <a:p>
            <a:fld id="{CB22993B-EEE5-4EB1-BEE5-4FFFA489F796}" type="slidenum">
              <a:rPr lang="en-US" smtClean="0"/>
              <a:t>90</a:t>
            </a:fld>
            <a:endParaRPr lang="en-US"/>
          </a:p>
        </p:txBody>
      </p:sp>
    </p:spTree>
    <p:extLst>
      <p:ext uri="{BB962C8B-B14F-4D97-AF65-F5344CB8AC3E}">
        <p14:creationId xmlns:p14="http://schemas.microsoft.com/office/powerpoint/2010/main" val="415634467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12A9161-F8E2-47E3-9C7B-36B159D4A848}"/>
              </a:ext>
            </a:extLst>
          </p:cNvPr>
          <p:cNvSpPr>
            <a:spLocks noGrp="1"/>
          </p:cNvSpPr>
          <p:nvPr>
            <p:ph idx="1"/>
          </p:nvPr>
        </p:nvSpPr>
        <p:spPr>
          <a:xfrm>
            <a:off x="838200" y="344774"/>
            <a:ext cx="10515600" cy="6265887"/>
          </a:xfrm>
        </p:spPr>
        <p:txBody>
          <a:bodyPr/>
          <a:lstStyle/>
          <a:p>
            <a:pPr marL="0" indent="0" algn="l">
              <a:buNone/>
            </a:pPr>
            <a:r>
              <a:rPr lang="en-US" sz="4000" b="1" i="0" u="none" strike="noStrike" baseline="0" dirty="0">
                <a:solidFill>
                  <a:srgbClr val="0081A6"/>
                </a:solidFill>
                <a:latin typeface="MyriadPro-Bold"/>
              </a:rPr>
              <a:t> </a:t>
            </a:r>
            <a:r>
              <a:rPr lang="en-US" sz="3600" i="0" u="none" strike="noStrike" baseline="0" dirty="0">
                <a:latin typeface="Times New Roman" panose="02020603050405020304" pitchFamily="18" charset="0"/>
                <a:cs typeface="Times New Roman" panose="02020603050405020304" pitchFamily="18" charset="0"/>
              </a:rPr>
              <a:t>Treatment of Hypophosphatemia</a:t>
            </a:r>
            <a:endParaRPr lang="en-US" sz="4000" i="0" u="none" strike="noStrike" baseline="0" dirty="0">
              <a:latin typeface="Times New Roman" panose="02020603050405020304" pitchFamily="18" charset="0"/>
              <a:cs typeface="Times New Roman" panose="02020603050405020304" pitchFamily="18" charset="0"/>
            </a:endParaRPr>
          </a:p>
          <a:p>
            <a:pPr algn="l">
              <a:lnSpc>
                <a:spcPct val="10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Oral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phosphorus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replacement is generally preferable to parenteral replacement because of the increased risk of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phosphate precipitation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with calcium, resulting in hypocalcemia, and also because of the increased risks of hyperphosphatemia, hypomagnesemia, and hypotension. </a:t>
            </a:r>
          </a:p>
          <a:p>
            <a:pPr algn="l">
              <a:lnSpc>
                <a:spcPct val="10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Accordingly, intravenous replacement therapy is usually reserved for instances of symptomatic hypophosphatemia and extremely low phosphate levels (&lt;0.32 mmol/L). </a:t>
            </a:r>
          </a:p>
          <a:p>
            <a:pPr algn="l">
              <a:lnSpc>
                <a:spcPct val="10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In situations where oral phosphate replacement is utilized, vitamin D is required for intestinal phosphate absorption.</a:t>
            </a:r>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F44A2A67-3C07-BBE1-B7E0-1A5D8F538B07}"/>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DE917528-0433-AA81-C803-D5D9A24875FF}"/>
              </a:ext>
            </a:extLst>
          </p:cNvPr>
          <p:cNvSpPr>
            <a:spLocks noGrp="1"/>
          </p:cNvSpPr>
          <p:nvPr>
            <p:ph type="sldNum" sz="quarter" idx="12"/>
          </p:nvPr>
        </p:nvSpPr>
        <p:spPr/>
        <p:txBody>
          <a:bodyPr/>
          <a:lstStyle/>
          <a:p>
            <a:fld id="{CB22993B-EEE5-4EB1-BEE5-4FFFA489F796}" type="slidenum">
              <a:rPr lang="en-US" smtClean="0"/>
              <a:t>91</a:t>
            </a:fld>
            <a:endParaRPr lang="en-US"/>
          </a:p>
        </p:txBody>
      </p:sp>
    </p:spTree>
    <p:extLst>
      <p:ext uri="{BB962C8B-B14F-4D97-AF65-F5344CB8AC3E}">
        <p14:creationId xmlns:p14="http://schemas.microsoft.com/office/powerpoint/2010/main" val="417808901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F2EEFF2-8657-4776-8B6C-E594D5CB3A58}"/>
              </a:ext>
            </a:extLst>
          </p:cNvPr>
          <p:cNvSpPr>
            <a:spLocks noGrp="1"/>
          </p:cNvSpPr>
          <p:nvPr>
            <p:ph idx="1"/>
          </p:nvPr>
        </p:nvSpPr>
        <p:spPr>
          <a:xfrm>
            <a:off x="838200" y="719528"/>
            <a:ext cx="10515600" cy="5966085"/>
          </a:xfrm>
        </p:spPr>
        <p:txBody>
          <a:bodyPr/>
          <a:lstStyle/>
          <a:p>
            <a:pPr marL="0" indent="0" algn="l">
              <a:buNone/>
            </a:pPr>
            <a:r>
              <a:rPr lang="en-US" sz="4000" b="1" i="0" u="none" strike="noStrike" baseline="0" dirty="0">
                <a:solidFill>
                  <a:srgbClr val="0081A6"/>
                </a:solidFill>
                <a:latin typeface="MyriadPro-Bold"/>
              </a:rPr>
              <a:t> </a:t>
            </a:r>
            <a:r>
              <a:rPr lang="en-US" sz="3600" i="0" u="none" strike="noStrike" baseline="0" dirty="0">
                <a:latin typeface="Times New Roman" panose="02020603050405020304" pitchFamily="18" charset="0"/>
                <a:cs typeface="Times New Roman" panose="02020603050405020304" pitchFamily="18" charset="0"/>
              </a:rPr>
              <a:t>Anesthetic Considerations</a:t>
            </a:r>
            <a:endParaRPr lang="en-US" sz="4000" i="0" u="none" strike="noStrike" baseline="0" dirty="0">
              <a:latin typeface="Times New Roman" panose="02020603050405020304" pitchFamily="18" charset="0"/>
              <a:cs typeface="Times New Roman" panose="02020603050405020304" pitchFamily="18" charset="0"/>
            </a:endParaRPr>
          </a:p>
          <a:p>
            <a:pPr algn="l">
              <a:lnSpc>
                <a:spcPct val="10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Anesthetic management of patients with hypophosphatemia requires familiarity with its complications. </a:t>
            </a:r>
          </a:p>
          <a:p>
            <a:pPr algn="l">
              <a:lnSpc>
                <a:spcPct val="100000"/>
              </a:lnSpc>
            </a:pPr>
            <a:r>
              <a:rPr lang="en-US" sz="2800" b="1" i="0" u="none" strike="noStrike" baseline="0" dirty="0">
                <a:solidFill>
                  <a:srgbClr val="000000"/>
                </a:solidFill>
                <a:latin typeface="Times New Roman" panose="02020603050405020304" pitchFamily="18" charset="0"/>
                <a:cs typeface="Times New Roman" panose="02020603050405020304" pitchFamily="18" charset="0"/>
              </a:rPr>
              <a:t>Hyperglycemia</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and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respiratory alkalosis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should be avoided to prevent further decreases </a:t>
            </a:r>
            <a:r>
              <a:rPr lang="fr-FR" sz="2800" b="0" i="0" u="none" strike="noStrike" baseline="0" dirty="0">
                <a:solidFill>
                  <a:srgbClr val="000000"/>
                </a:solidFill>
                <a:latin typeface="Times New Roman" panose="02020603050405020304" pitchFamily="18" charset="0"/>
                <a:cs typeface="Times New Roman" panose="02020603050405020304" pitchFamily="18" charset="0"/>
              </a:rPr>
              <a:t>in plasma </a:t>
            </a:r>
            <a:r>
              <a:rPr lang="fr-FR" sz="2800" b="0" i="0" u="none" strike="noStrike" baseline="0" dirty="0" err="1">
                <a:solidFill>
                  <a:srgbClr val="000000"/>
                </a:solidFill>
                <a:latin typeface="Times New Roman" panose="02020603050405020304" pitchFamily="18" charset="0"/>
                <a:cs typeface="Times New Roman" panose="02020603050405020304" pitchFamily="18" charset="0"/>
              </a:rPr>
              <a:t>phosphorus</a:t>
            </a:r>
            <a:r>
              <a:rPr lang="fr-FR" sz="2800" b="0" i="0" u="none" strike="noStrike" baseline="0" dirty="0">
                <a:solidFill>
                  <a:srgbClr val="000000"/>
                </a:solidFill>
                <a:latin typeface="Times New Roman" panose="02020603050405020304" pitchFamily="18" charset="0"/>
                <a:cs typeface="Times New Roman" panose="02020603050405020304" pitchFamily="18" charset="0"/>
              </a:rPr>
              <a:t> concentration. </a:t>
            </a:r>
          </a:p>
          <a:p>
            <a:pPr algn="l">
              <a:lnSpc>
                <a:spcPct val="100000"/>
              </a:lnSpc>
            </a:pPr>
            <a:r>
              <a:rPr lang="fr-FR" sz="2800" b="0" i="0" u="none" strike="noStrike" baseline="0" dirty="0" err="1">
                <a:solidFill>
                  <a:srgbClr val="000000"/>
                </a:solidFill>
                <a:latin typeface="Times New Roman" panose="02020603050405020304" pitchFamily="18" charset="0"/>
                <a:cs typeface="Times New Roman" panose="02020603050405020304" pitchFamily="18" charset="0"/>
              </a:rPr>
              <a:t>Neuromuscular</a:t>
            </a:r>
            <a:r>
              <a:rPr lang="fr-FR" dirty="0">
                <a:solidFill>
                  <a:srgbClr val="000000"/>
                </a:solidFill>
                <a:latin typeface="Times New Roman" panose="02020603050405020304" pitchFamily="18" charset="0"/>
                <a:cs typeface="Times New Roman" panose="02020603050405020304" pitchFamily="18" charset="0"/>
              </a:rPr>
              <a:t>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function must be monitored carefully when NMBs are given. </a:t>
            </a:r>
          </a:p>
          <a:p>
            <a:pPr algn="l">
              <a:lnSpc>
                <a:spcPct val="10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Some patients with severe hypophosphatemia may require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mechanical ventilation postoperatively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because of muscle weakness.</a:t>
            </a:r>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1D64B438-342E-02E7-EC51-F6C0E20A9311}"/>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3773F4B6-3259-29BB-F5C1-D4234DAF8B29}"/>
              </a:ext>
            </a:extLst>
          </p:cNvPr>
          <p:cNvSpPr>
            <a:spLocks noGrp="1"/>
          </p:cNvSpPr>
          <p:nvPr>
            <p:ph type="sldNum" sz="quarter" idx="12"/>
          </p:nvPr>
        </p:nvSpPr>
        <p:spPr/>
        <p:txBody>
          <a:bodyPr/>
          <a:lstStyle/>
          <a:p>
            <a:fld id="{CB22993B-EEE5-4EB1-BEE5-4FFFA489F796}" type="slidenum">
              <a:rPr lang="en-US" smtClean="0"/>
              <a:t>92</a:t>
            </a:fld>
            <a:endParaRPr lang="en-US"/>
          </a:p>
        </p:txBody>
      </p:sp>
    </p:spTree>
    <p:extLst>
      <p:ext uri="{BB962C8B-B14F-4D97-AF65-F5344CB8AC3E}">
        <p14:creationId xmlns:p14="http://schemas.microsoft.com/office/powerpoint/2010/main" val="126382128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9B3F346-1883-4B7E-99A4-A746E70BC257}"/>
              </a:ext>
            </a:extLst>
          </p:cNvPr>
          <p:cNvSpPr>
            <a:spLocks noGrp="1"/>
          </p:cNvSpPr>
          <p:nvPr>
            <p:ph idx="1"/>
          </p:nvPr>
        </p:nvSpPr>
        <p:spPr>
          <a:xfrm>
            <a:off x="838200" y="284813"/>
            <a:ext cx="10515600" cy="6573187"/>
          </a:xfrm>
        </p:spPr>
        <p:txBody>
          <a:bodyPr>
            <a:normAutofit lnSpcReduction="10000"/>
          </a:bodyPr>
          <a:lstStyle/>
          <a:p>
            <a:pPr marL="0" indent="0" algn="l">
              <a:buNone/>
            </a:pPr>
            <a:r>
              <a:rPr lang="en-US" sz="4800" b="1" i="0" u="none" strike="noStrike" baseline="0" dirty="0">
                <a:solidFill>
                  <a:srgbClr val="CF8B14"/>
                </a:solidFill>
                <a:latin typeface="MyriadPro-Black"/>
              </a:rPr>
              <a:t> </a:t>
            </a:r>
            <a:r>
              <a:rPr lang="en-US" sz="3600" i="0" u="none" strike="noStrike" baseline="0" dirty="0">
                <a:latin typeface="Times New Roman" panose="02020603050405020304" pitchFamily="18" charset="0"/>
                <a:cs typeface="Times New Roman" panose="02020603050405020304" pitchFamily="18" charset="0"/>
              </a:rPr>
              <a:t>Disorders of Magnesium Balance</a:t>
            </a:r>
            <a:endParaRPr lang="en-US" sz="4800" i="0" u="none" strike="noStrike" baseline="0" dirty="0">
              <a:latin typeface="Times New Roman" panose="02020603050405020304" pitchFamily="18" charset="0"/>
              <a:cs typeface="Times New Roman" panose="02020603050405020304" pitchFamily="18" charset="0"/>
            </a:endParaRPr>
          </a:p>
          <a:p>
            <a:pPr algn="l">
              <a:lnSpc>
                <a:spcPct val="11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Magnesium is an important intracellular cation that functions as a cofactor in many enzyme pathways.</a:t>
            </a:r>
          </a:p>
          <a:p>
            <a:pPr algn="l">
              <a:lnSpc>
                <a:spcPct val="11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Only 1–2% of total body magnesium stores is present in the ECF compartment; 67% is contained in bone, and the remaining 31% is intracellular. </a:t>
            </a:r>
          </a:p>
          <a:p>
            <a:pPr algn="l">
              <a:lnSpc>
                <a:spcPct val="11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Magnesium has been reported to decrease anesthetic requirements, attenuate nociception, blunt the cardiovascular response to laryngoscopy and intubation, and potentiate NMBs. </a:t>
            </a:r>
          </a:p>
          <a:p>
            <a:pPr algn="l">
              <a:lnSpc>
                <a:spcPct val="11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Suggested mechanisms of action include altering central nervous system neurotransmitter</a:t>
            </a:r>
            <a:r>
              <a:rPr lang="en-US" sz="2800" b="0" i="0" u="none" strike="noStrike" baseline="0" dirty="0">
                <a:latin typeface="Times New Roman" panose="02020603050405020304" pitchFamily="18" charset="0"/>
                <a:cs typeface="Times New Roman" panose="02020603050405020304" pitchFamily="18" charset="0"/>
              </a:rPr>
              <a:t> release, moderating adrenal medullary catecholamine release, and antagonizing the effect of calcium on vascular smooth muscle.</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58CD6686-B32A-BA4D-6710-E4BC76FA9872}"/>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129FCE24-77B6-75C0-82BE-69AEF9485D8A}"/>
              </a:ext>
            </a:extLst>
          </p:cNvPr>
          <p:cNvSpPr>
            <a:spLocks noGrp="1"/>
          </p:cNvSpPr>
          <p:nvPr>
            <p:ph type="sldNum" sz="quarter" idx="12"/>
          </p:nvPr>
        </p:nvSpPr>
        <p:spPr/>
        <p:txBody>
          <a:bodyPr/>
          <a:lstStyle/>
          <a:p>
            <a:fld id="{CB22993B-EEE5-4EB1-BEE5-4FFFA489F796}" type="slidenum">
              <a:rPr lang="en-US" smtClean="0"/>
              <a:t>93</a:t>
            </a:fld>
            <a:endParaRPr lang="en-US"/>
          </a:p>
        </p:txBody>
      </p:sp>
    </p:spTree>
    <p:extLst>
      <p:ext uri="{BB962C8B-B14F-4D97-AF65-F5344CB8AC3E}">
        <p14:creationId xmlns:p14="http://schemas.microsoft.com/office/powerpoint/2010/main" val="265283163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C5F638-238F-40D2-97C6-0E8D634BB557}"/>
              </a:ext>
            </a:extLst>
          </p:cNvPr>
          <p:cNvSpPr>
            <a:spLocks noGrp="1"/>
          </p:cNvSpPr>
          <p:nvPr>
            <p:ph type="title"/>
          </p:nvPr>
        </p:nvSpPr>
        <p:spPr>
          <a:xfrm>
            <a:off x="838200" y="365125"/>
            <a:ext cx="10515600" cy="564265"/>
          </a:xfrm>
        </p:spPr>
        <p:txBody>
          <a:bodyPr>
            <a:normAutofit fontScale="90000"/>
          </a:bodyPr>
          <a:lstStyle/>
          <a:p>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DACB7976-41F1-4254-B0C8-9D4AD822A0D1}"/>
              </a:ext>
            </a:extLst>
          </p:cNvPr>
          <p:cNvSpPr>
            <a:spLocks noGrp="1"/>
          </p:cNvSpPr>
          <p:nvPr>
            <p:ph idx="1"/>
          </p:nvPr>
        </p:nvSpPr>
        <p:spPr>
          <a:xfrm>
            <a:off x="743262" y="1184223"/>
            <a:ext cx="10515600" cy="5308652"/>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Magnesium impairs the calcium-mediated presynaptic release of acetylcholine and may also decrease motor end-plate sensitivity to acetylcholine and alter myocyte membrane potential.</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In addition to the treatment of magnesium deficiency, administration of magnesium is utilized therapeutically for </a:t>
            </a:r>
            <a:r>
              <a:rPr lang="en-US" sz="2800" b="1" i="0" u="none" strike="noStrike" baseline="0" dirty="0">
                <a:latin typeface="Times New Roman" panose="02020603050405020304" pitchFamily="18" charset="0"/>
                <a:cs typeface="Times New Roman" panose="02020603050405020304" pitchFamily="18" charset="0"/>
              </a:rPr>
              <a:t>preeclampsia</a:t>
            </a:r>
            <a:r>
              <a:rPr lang="en-US" sz="2800" b="0" i="0" u="none" strike="noStrike" baseline="0" dirty="0">
                <a:latin typeface="Times New Roman" panose="02020603050405020304" pitchFamily="18" charset="0"/>
                <a:cs typeface="Times New Roman" panose="02020603050405020304" pitchFamily="18" charset="0"/>
              </a:rPr>
              <a:t> and </a:t>
            </a:r>
            <a:r>
              <a:rPr lang="en-US" sz="2800" b="1" i="0" u="none" strike="noStrike" baseline="0" dirty="0">
                <a:latin typeface="Times New Roman" panose="02020603050405020304" pitchFamily="18" charset="0"/>
                <a:cs typeface="Times New Roman" panose="02020603050405020304" pitchFamily="18" charset="0"/>
              </a:rPr>
              <a:t>eclampsia</a:t>
            </a:r>
            <a:r>
              <a:rPr lang="en-US" sz="2800" b="0" i="0" u="none" strike="noStrike" baseline="0" dirty="0">
                <a:latin typeface="Times New Roman" panose="02020603050405020304" pitchFamily="18" charset="0"/>
                <a:cs typeface="Times New Roman" panose="02020603050405020304" pitchFamily="18" charset="0"/>
              </a:rPr>
              <a:t>, </a:t>
            </a:r>
            <a:r>
              <a:rPr lang="en-US" sz="2800" b="1" i="0" u="none" strike="noStrike" baseline="0" dirty="0" err="1">
                <a:latin typeface="Times New Roman" panose="02020603050405020304" pitchFamily="18" charset="0"/>
                <a:cs typeface="Times New Roman" panose="02020603050405020304" pitchFamily="18" charset="0"/>
              </a:rPr>
              <a:t>torsades</a:t>
            </a:r>
            <a:r>
              <a:rPr lang="en-US" sz="2800" b="1" i="0" u="none" strike="noStrike" baseline="0" dirty="0">
                <a:latin typeface="Times New Roman" panose="02020603050405020304" pitchFamily="18" charset="0"/>
                <a:cs typeface="Times New Roman" panose="02020603050405020304" pitchFamily="18" charset="0"/>
              </a:rPr>
              <a:t> de pointes </a:t>
            </a:r>
            <a:r>
              <a:rPr lang="en-US" sz="2800" b="0" i="0" u="none" strike="noStrike" baseline="0" dirty="0">
                <a:latin typeface="Times New Roman" panose="02020603050405020304" pitchFamily="18" charset="0"/>
                <a:cs typeface="Times New Roman" panose="02020603050405020304" pitchFamily="18" charset="0"/>
              </a:rPr>
              <a:t>and </a:t>
            </a:r>
            <a:r>
              <a:rPr lang="en-US" sz="2800" b="1" i="0" u="none" strike="noStrike" baseline="0" dirty="0">
                <a:latin typeface="Times New Roman" panose="02020603050405020304" pitchFamily="18" charset="0"/>
                <a:cs typeface="Times New Roman" panose="02020603050405020304" pitchFamily="18" charset="0"/>
              </a:rPr>
              <a:t>digoxin-induced cardiac tachyarrhythmias</a:t>
            </a:r>
            <a:r>
              <a:rPr lang="en-US" sz="2800" b="0" i="0" u="none" strike="noStrike" baseline="0" dirty="0">
                <a:latin typeface="Times New Roman" panose="02020603050405020304" pitchFamily="18" charset="0"/>
                <a:cs typeface="Times New Roman" panose="02020603050405020304" pitchFamily="18" charset="0"/>
              </a:rPr>
              <a:t>, and </a:t>
            </a:r>
            <a:r>
              <a:rPr lang="en-US" sz="2800" b="1" i="0" u="none" strike="noStrike" baseline="0" dirty="0">
                <a:latin typeface="Times New Roman" panose="02020603050405020304" pitchFamily="18" charset="0"/>
                <a:cs typeface="Times New Roman" panose="02020603050405020304" pitchFamily="18" charset="0"/>
              </a:rPr>
              <a:t>status asthmaticus</a:t>
            </a:r>
            <a:r>
              <a:rPr lang="en-US" sz="2800" b="0" i="0" u="none" strike="noStrike" baseline="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1F32A358-F704-92D9-5228-AC5EC613412C}"/>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BE50B248-FCA4-DB48-6CDA-5F9AC77E3C7C}"/>
              </a:ext>
            </a:extLst>
          </p:cNvPr>
          <p:cNvSpPr>
            <a:spLocks noGrp="1"/>
          </p:cNvSpPr>
          <p:nvPr>
            <p:ph type="sldNum" sz="quarter" idx="12"/>
          </p:nvPr>
        </p:nvSpPr>
        <p:spPr/>
        <p:txBody>
          <a:bodyPr/>
          <a:lstStyle/>
          <a:p>
            <a:fld id="{CB22993B-EEE5-4EB1-BEE5-4FFFA489F796}" type="slidenum">
              <a:rPr lang="en-US" smtClean="0"/>
              <a:t>94</a:t>
            </a:fld>
            <a:endParaRPr lang="en-US"/>
          </a:p>
        </p:txBody>
      </p:sp>
    </p:spTree>
    <p:extLst>
      <p:ext uri="{BB962C8B-B14F-4D97-AF65-F5344CB8AC3E}">
        <p14:creationId xmlns:p14="http://schemas.microsoft.com/office/powerpoint/2010/main" val="346124157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399CFE2-EF0F-4D1D-8B01-87BAE4C8A1EF}"/>
              </a:ext>
            </a:extLst>
          </p:cNvPr>
          <p:cNvSpPr>
            <a:spLocks noGrp="1"/>
          </p:cNvSpPr>
          <p:nvPr>
            <p:ph idx="1"/>
          </p:nvPr>
        </p:nvSpPr>
        <p:spPr>
          <a:xfrm>
            <a:off x="733269" y="716352"/>
            <a:ext cx="10515600" cy="5894309"/>
          </a:xfrm>
        </p:spPr>
        <p:txBody>
          <a:bodyPr>
            <a:normAutofit/>
          </a:bodyPr>
          <a:lstStyle/>
          <a:p>
            <a:pPr marL="0" indent="0" algn="l">
              <a:buNone/>
            </a:pPr>
            <a:r>
              <a:rPr lang="en-US" sz="4400" b="1" i="0" u="none" strike="noStrike" baseline="0" dirty="0">
                <a:solidFill>
                  <a:srgbClr val="6850A2"/>
                </a:solidFill>
                <a:latin typeface="MyriadPro-Black"/>
              </a:rPr>
              <a:t>  </a:t>
            </a:r>
            <a:r>
              <a:rPr lang="en-US" sz="4000" i="0" u="none" strike="noStrike" baseline="0" dirty="0">
                <a:latin typeface="Times New Roman" panose="02020603050405020304" pitchFamily="18" charset="0"/>
                <a:cs typeface="Times New Roman" panose="02020603050405020304" pitchFamily="18" charset="0"/>
              </a:rPr>
              <a:t>Normal magnesium balance</a:t>
            </a:r>
            <a:endParaRPr lang="en-US" sz="4400" i="0" u="none" strike="noStrike" baseline="0" dirty="0">
              <a:latin typeface="Times New Roman" panose="02020603050405020304" pitchFamily="18" charset="0"/>
              <a:cs typeface="Times New Roman" panose="02020603050405020304" pitchFamily="18" charset="0"/>
            </a:endParaRP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Magnesium intake averages 20–30 </a:t>
            </a:r>
            <a:r>
              <a:rPr lang="en-US" sz="2800" b="0" i="0" u="none" strike="noStrike" baseline="0" dirty="0" err="1">
                <a:solidFill>
                  <a:srgbClr val="000000"/>
                </a:solidFill>
                <a:latin typeface="Times New Roman" panose="02020603050405020304" pitchFamily="18" charset="0"/>
                <a:cs typeface="Times New Roman" panose="02020603050405020304" pitchFamily="18" charset="0"/>
              </a:rPr>
              <a:t>mEq</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/d (240– 370 mg/d) in adults. </a:t>
            </a: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Of that amount, only 30–40% is absorbed, mainly in the distal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small bowel. </a:t>
            </a: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Renal</a:t>
            </a:r>
            <a:r>
              <a:rPr lang="en-US" dirty="0">
                <a:solidFill>
                  <a:srgbClr val="000000"/>
                </a:solidFill>
                <a:latin typeface="Times New Roman" panose="02020603050405020304" pitchFamily="18" charset="0"/>
                <a:cs typeface="Times New Roman" panose="02020603050405020304" pitchFamily="18" charset="0"/>
              </a:rPr>
              <a:t>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excretion is the primary route for elimination, averaging 6–12 </a:t>
            </a:r>
            <a:r>
              <a:rPr lang="en-US" sz="2800" b="0" i="0" u="none" strike="noStrike" baseline="0" dirty="0" err="1">
                <a:solidFill>
                  <a:srgbClr val="000000"/>
                </a:solidFill>
                <a:latin typeface="Times New Roman" panose="02020603050405020304" pitchFamily="18" charset="0"/>
                <a:cs typeface="Times New Roman" panose="02020603050405020304" pitchFamily="18" charset="0"/>
              </a:rPr>
              <a:t>mEq</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/d. </a:t>
            </a:r>
          </a:p>
          <a:p>
            <a:r>
              <a:rPr lang="en-US" dirty="0" smtClean="0">
                <a:solidFill>
                  <a:srgbClr val="000000"/>
                </a:solidFill>
                <a:latin typeface="Times New Roman" panose="02020603050405020304" pitchFamily="18" charset="0"/>
                <a:cs typeface="Times New Roman" panose="02020603050405020304" pitchFamily="18" charset="0"/>
              </a:rPr>
              <a:t>25%</a:t>
            </a:r>
            <a:r>
              <a:rPr lang="en-US" sz="2800" b="0" i="0" u="none" strike="noStrike" baseline="0" dirty="0" smtClean="0">
                <a:solidFill>
                  <a:srgbClr val="000000"/>
                </a:solidFill>
                <a:latin typeface="Times New Roman" panose="02020603050405020304" pitchFamily="18" charset="0"/>
                <a:cs typeface="Times New Roman" panose="02020603050405020304" pitchFamily="18" charset="0"/>
              </a:rPr>
              <a:t>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of filtered magnesium is reabsorbed in the proximal tubule, whereas 50–60% is reabsorbed in the thick ascending limb of the loop of Henle</a:t>
            </a:r>
            <a:r>
              <a:rPr lang="en-US" sz="2800" b="0" i="0" u="none" strike="noStrike" baseline="0" dirty="0">
                <a:solidFill>
                  <a:srgbClr val="000000"/>
                </a:solidFill>
                <a:latin typeface="MinionPro-Regular"/>
              </a:rPr>
              <a:t>.</a:t>
            </a:r>
            <a:endParaRPr lang="en-US" dirty="0"/>
          </a:p>
        </p:txBody>
      </p:sp>
      <p:sp>
        <p:nvSpPr>
          <p:cNvPr id="2" name="Date Placeholder 1">
            <a:extLst>
              <a:ext uri="{FF2B5EF4-FFF2-40B4-BE49-F238E27FC236}">
                <a16:creationId xmlns:a16="http://schemas.microsoft.com/office/drawing/2014/main" xmlns="" id="{FF02A606-290A-129E-2AEA-643154B1E756}"/>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CBC9E4B1-8326-9A14-A145-227C4FE7EA81}"/>
              </a:ext>
            </a:extLst>
          </p:cNvPr>
          <p:cNvSpPr>
            <a:spLocks noGrp="1"/>
          </p:cNvSpPr>
          <p:nvPr>
            <p:ph type="sldNum" sz="quarter" idx="12"/>
          </p:nvPr>
        </p:nvSpPr>
        <p:spPr/>
        <p:txBody>
          <a:bodyPr/>
          <a:lstStyle/>
          <a:p>
            <a:fld id="{CB22993B-EEE5-4EB1-BEE5-4FFFA489F796}" type="slidenum">
              <a:rPr lang="en-US" smtClean="0"/>
              <a:t>95</a:t>
            </a:fld>
            <a:endParaRPr lang="en-US"/>
          </a:p>
        </p:txBody>
      </p:sp>
    </p:spTree>
    <p:extLst>
      <p:ext uri="{BB962C8B-B14F-4D97-AF65-F5344CB8AC3E}">
        <p14:creationId xmlns:p14="http://schemas.microsoft.com/office/powerpoint/2010/main" val="34600941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3C78EA-7BFF-45F5-B515-1CA9DD21222F}"/>
              </a:ext>
            </a:extLst>
          </p:cNvPr>
          <p:cNvSpPr>
            <a:spLocks noGrp="1"/>
          </p:cNvSpPr>
          <p:nvPr>
            <p:ph type="title"/>
          </p:nvPr>
        </p:nvSpPr>
        <p:spPr>
          <a:xfrm>
            <a:off x="838200" y="365125"/>
            <a:ext cx="10515600" cy="504305"/>
          </a:xfrm>
        </p:spPr>
        <p:txBody>
          <a:bodyPr>
            <a:normAutofit fontScale="90000"/>
          </a:bodyPr>
          <a:lstStyle/>
          <a:p>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624E67DA-9EBF-4400-9FF4-27F81B4B9C8A}"/>
              </a:ext>
            </a:extLst>
          </p:cNvPr>
          <p:cNvSpPr>
            <a:spLocks noGrp="1"/>
          </p:cNvSpPr>
          <p:nvPr>
            <p:ph idx="1"/>
          </p:nvPr>
        </p:nvSpPr>
        <p:spPr>
          <a:xfrm>
            <a:off x="838200" y="1379095"/>
            <a:ext cx="10515600" cy="4797868"/>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Factors known to increase magnesium reabsorption in the kidneys include hypomagnesemia, PTH, hypocalcemia, ECF depletion, and metabolic alkalosis.</a:t>
            </a:r>
          </a:p>
          <a:p>
            <a:pPr algn="l"/>
            <a:endParaRPr lang="en-US" sz="2800" b="0" i="0" u="none" strike="noStrike" baseline="0" dirty="0">
              <a:latin typeface="Times New Roman" panose="02020603050405020304" pitchFamily="18" charset="0"/>
              <a:cs typeface="Times New Roman" panose="02020603050405020304" pitchFamily="18" charset="0"/>
            </a:endParaRPr>
          </a:p>
          <a:p>
            <a:pPr algn="l"/>
            <a:r>
              <a:rPr lang="en-US" sz="2800" b="0" i="0" u="none" strike="noStrike" baseline="0" dirty="0">
                <a:latin typeface="Times New Roman" panose="02020603050405020304" pitchFamily="18" charset="0"/>
                <a:cs typeface="Times New Roman" panose="02020603050405020304" pitchFamily="18" charset="0"/>
              </a:rPr>
              <a:t>Factors known to increase renal excretion include </a:t>
            </a:r>
            <a:r>
              <a:rPr lang="it-IT" sz="2800" b="0" i="0" u="none" strike="noStrike" baseline="0" dirty="0">
                <a:latin typeface="Times New Roman" panose="02020603050405020304" pitchFamily="18" charset="0"/>
                <a:cs typeface="Times New Roman" panose="02020603050405020304" pitchFamily="18" charset="0"/>
              </a:rPr>
              <a:t>hypermagnesemia, acute volume expansion, hyperaldosteronism, </a:t>
            </a:r>
            <a:r>
              <a:rPr lang="en-US" sz="2800" b="0" i="0" u="none" strike="noStrike" baseline="0" dirty="0">
                <a:latin typeface="Times New Roman" panose="02020603050405020304" pitchFamily="18" charset="0"/>
                <a:cs typeface="Times New Roman" panose="02020603050405020304" pitchFamily="18" charset="0"/>
              </a:rPr>
              <a:t>hypercalcemia, ketoacidosis, diuretics, phosphate depletion, and alcohol ingestion</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A31A173F-2E20-149B-1B31-7D29D2BD29EB}"/>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2000CB40-CCA4-296D-8478-4EFF85949E8E}"/>
              </a:ext>
            </a:extLst>
          </p:cNvPr>
          <p:cNvSpPr>
            <a:spLocks noGrp="1"/>
          </p:cNvSpPr>
          <p:nvPr>
            <p:ph type="sldNum" sz="quarter" idx="12"/>
          </p:nvPr>
        </p:nvSpPr>
        <p:spPr/>
        <p:txBody>
          <a:bodyPr/>
          <a:lstStyle/>
          <a:p>
            <a:fld id="{CB22993B-EEE5-4EB1-BEE5-4FFFA489F796}" type="slidenum">
              <a:rPr lang="en-US" smtClean="0"/>
              <a:t>96</a:t>
            </a:fld>
            <a:endParaRPr lang="en-US"/>
          </a:p>
        </p:txBody>
      </p:sp>
    </p:spTree>
    <p:extLst>
      <p:ext uri="{BB962C8B-B14F-4D97-AF65-F5344CB8AC3E}">
        <p14:creationId xmlns:p14="http://schemas.microsoft.com/office/powerpoint/2010/main" val="344226845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CF915DD-474D-4A35-AD40-10CD3CF7BDD0}"/>
              </a:ext>
            </a:extLst>
          </p:cNvPr>
          <p:cNvSpPr>
            <a:spLocks noGrp="1"/>
          </p:cNvSpPr>
          <p:nvPr>
            <p:ph idx="1"/>
          </p:nvPr>
        </p:nvSpPr>
        <p:spPr>
          <a:xfrm>
            <a:off x="838200" y="1064302"/>
            <a:ext cx="10515600" cy="5112661"/>
          </a:xfrm>
        </p:spPr>
        <p:txBody>
          <a:bodyPr/>
          <a:lstStyle/>
          <a:p>
            <a:pPr marL="0" indent="0" algn="l">
              <a:buNone/>
            </a:pPr>
            <a:r>
              <a:rPr lang="en-US" sz="4000" b="1" i="0" u="none" strike="noStrike" baseline="0" dirty="0">
                <a:solidFill>
                  <a:srgbClr val="0081A6"/>
                </a:solidFill>
                <a:latin typeface="MyriadPro-Bold"/>
              </a:rPr>
              <a:t>  </a:t>
            </a:r>
            <a:r>
              <a:rPr lang="en-US" sz="3600" i="0" u="none" strike="noStrike" baseline="0" dirty="0">
                <a:latin typeface="Times New Roman" panose="02020603050405020304" pitchFamily="18" charset="0"/>
                <a:cs typeface="Times New Roman" panose="02020603050405020304" pitchFamily="18" charset="0"/>
              </a:rPr>
              <a:t>Plasma Magnesium Concentration</a:t>
            </a:r>
            <a:endParaRPr lang="en-US" sz="4000" i="0" u="none" strike="noStrike" baseline="0" dirty="0">
              <a:latin typeface="Times New Roman" panose="02020603050405020304" pitchFamily="18" charset="0"/>
              <a:cs typeface="Times New Roman" panose="02020603050405020304" pitchFamily="18" charset="0"/>
            </a:endParaRP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Plasma [Mg </a:t>
            </a:r>
            <a:r>
              <a:rPr lang="en-US" sz="800" b="0" i="0" u="none" strike="noStrike" baseline="0" dirty="0">
                <a:solidFill>
                  <a:srgbClr val="000000"/>
                </a:solidFill>
                <a:latin typeface="Times New Roman" panose="02020603050405020304" pitchFamily="18" charset="0"/>
                <a:cs typeface="Times New Roman" panose="02020603050405020304" pitchFamily="18" charset="0"/>
              </a:rPr>
              <a:t>2+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is closely regulated between 1.7 and 2.1 </a:t>
            </a:r>
            <a:r>
              <a:rPr lang="en-US" sz="2800" b="0" i="0" u="none" strike="noStrike" baseline="0" dirty="0" err="1">
                <a:solidFill>
                  <a:srgbClr val="000000"/>
                </a:solidFill>
                <a:latin typeface="Times New Roman" panose="02020603050405020304" pitchFamily="18" charset="0"/>
                <a:cs typeface="Times New Roman" panose="02020603050405020304" pitchFamily="18" charset="0"/>
              </a:rPr>
              <a:t>mEq</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/L (0.7–1 mmol/L) through interaction of the gastrointestinal tract (absorption), bone (storage), and the kidneys (excretion).</a:t>
            </a: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Approximately 50–60% of plasma magnesium is unbound and diffusible.</a:t>
            </a:r>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471B298A-E0E1-0BA8-20DB-23B74A0E6213}"/>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FD49C8FC-2291-F85D-2631-2924B9E47E32}"/>
              </a:ext>
            </a:extLst>
          </p:cNvPr>
          <p:cNvSpPr>
            <a:spLocks noGrp="1"/>
          </p:cNvSpPr>
          <p:nvPr>
            <p:ph type="sldNum" sz="quarter" idx="12"/>
          </p:nvPr>
        </p:nvSpPr>
        <p:spPr/>
        <p:txBody>
          <a:bodyPr/>
          <a:lstStyle/>
          <a:p>
            <a:fld id="{CB22993B-EEE5-4EB1-BEE5-4FFFA489F796}" type="slidenum">
              <a:rPr lang="en-US" smtClean="0"/>
              <a:t>97</a:t>
            </a:fld>
            <a:endParaRPr lang="en-US"/>
          </a:p>
        </p:txBody>
      </p:sp>
    </p:spTree>
    <p:extLst>
      <p:ext uri="{BB962C8B-B14F-4D97-AF65-F5344CB8AC3E}">
        <p14:creationId xmlns:p14="http://schemas.microsoft.com/office/powerpoint/2010/main" val="360287413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CDB9218-0257-4D9A-AF59-9EEE8C868F54}"/>
              </a:ext>
            </a:extLst>
          </p:cNvPr>
          <p:cNvSpPr>
            <a:spLocks noGrp="1"/>
          </p:cNvSpPr>
          <p:nvPr>
            <p:ph idx="1"/>
          </p:nvPr>
        </p:nvSpPr>
        <p:spPr>
          <a:xfrm>
            <a:off x="838200" y="492370"/>
            <a:ext cx="10515600" cy="6000504"/>
          </a:xfrm>
        </p:spPr>
        <p:txBody>
          <a:bodyPr/>
          <a:lstStyle/>
          <a:p>
            <a:pPr marL="0" indent="0" algn="l">
              <a:buNone/>
            </a:pPr>
            <a:r>
              <a:rPr lang="en-US" sz="4400" b="1" i="0" u="none" strike="noStrike" baseline="0" dirty="0">
                <a:solidFill>
                  <a:srgbClr val="6850A2"/>
                </a:solidFill>
                <a:latin typeface="MyriadPro-Black"/>
              </a:rPr>
              <a:t> </a:t>
            </a:r>
            <a:r>
              <a:rPr lang="en-US" sz="3600" i="0" u="none" strike="noStrike" baseline="0" dirty="0">
                <a:latin typeface="Times New Roman" panose="02020603050405020304" pitchFamily="18" charset="0"/>
                <a:cs typeface="Times New Roman" panose="02020603050405020304" pitchFamily="18" charset="0"/>
              </a:rPr>
              <a:t>Hypermagnesemia</a:t>
            </a:r>
            <a:endParaRPr lang="en-US" sz="3200" i="0" u="none" strike="noStrike" baseline="0" dirty="0">
              <a:latin typeface="Times New Roman" panose="02020603050405020304" pitchFamily="18" charset="0"/>
              <a:cs typeface="Times New Roman" panose="02020603050405020304" pitchFamily="18" charset="0"/>
            </a:endParaRP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Increases in plasma [Mg </a:t>
            </a:r>
            <a:r>
              <a:rPr lang="en-US" sz="800" b="0" i="0" u="none" strike="noStrike" baseline="0" dirty="0">
                <a:solidFill>
                  <a:srgbClr val="000000"/>
                </a:solidFill>
                <a:latin typeface="Times New Roman" panose="02020603050405020304" pitchFamily="18" charset="0"/>
                <a:cs typeface="Times New Roman" panose="02020603050405020304" pitchFamily="18" charset="0"/>
              </a:rPr>
              <a:t>2+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are nearly always due to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excessive intake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(magnesium-containing antacids or laxatives),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renal impairment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(GFR &lt; 30 mL/min), or both. </a:t>
            </a: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Less common causes include adrenal</a:t>
            </a:r>
            <a:r>
              <a:rPr lang="en-US" sz="2800" b="0" i="0" u="none" strike="noStrike" baseline="0" dirty="0">
                <a:latin typeface="Times New Roman" panose="02020603050405020304" pitchFamily="18" charset="0"/>
                <a:cs typeface="Times New Roman" panose="02020603050405020304" pitchFamily="18" charset="0"/>
              </a:rPr>
              <a:t> insufficiency, hypothyroidism, rhabdomyolysis, and lithium administration. </a:t>
            </a:r>
          </a:p>
          <a:p>
            <a:pPr algn="l"/>
            <a:r>
              <a:rPr lang="en-US" sz="2800" b="0" i="0" u="none" strike="noStrike" baseline="0" dirty="0">
                <a:latin typeface="Times New Roman" panose="02020603050405020304" pitchFamily="18" charset="0"/>
                <a:cs typeface="Times New Roman" panose="02020603050405020304" pitchFamily="18" charset="0"/>
              </a:rPr>
              <a:t>Magnesium sulfate therapy for preeclampsia and eclampsia can cause hypermagnesemia in the mother as well as in the fetus.</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5A5F6757-08B5-F3A3-0385-843B79121FE2}"/>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ACDD020F-0488-47D6-96BA-D89F2B84E896}"/>
              </a:ext>
            </a:extLst>
          </p:cNvPr>
          <p:cNvSpPr>
            <a:spLocks noGrp="1"/>
          </p:cNvSpPr>
          <p:nvPr>
            <p:ph type="sldNum" sz="quarter" idx="12"/>
          </p:nvPr>
        </p:nvSpPr>
        <p:spPr/>
        <p:txBody>
          <a:bodyPr/>
          <a:lstStyle/>
          <a:p>
            <a:fld id="{CB22993B-EEE5-4EB1-BEE5-4FFFA489F796}" type="slidenum">
              <a:rPr lang="en-US" smtClean="0"/>
              <a:t>98</a:t>
            </a:fld>
            <a:endParaRPr lang="en-US"/>
          </a:p>
        </p:txBody>
      </p:sp>
    </p:spTree>
    <p:extLst>
      <p:ext uri="{BB962C8B-B14F-4D97-AF65-F5344CB8AC3E}">
        <p14:creationId xmlns:p14="http://schemas.microsoft.com/office/powerpoint/2010/main" val="422174854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3909ABD-EE53-43C1-AF71-4E93F2E86E8D}"/>
              </a:ext>
            </a:extLst>
          </p:cNvPr>
          <p:cNvSpPr>
            <a:spLocks noGrp="1"/>
          </p:cNvSpPr>
          <p:nvPr>
            <p:ph idx="1"/>
          </p:nvPr>
        </p:nvSpPr>
        <p:spPr>
          <a:xfrm>
            <a:off x="838200" y="674558"/>
            <a:ext cx="10515600" cy="5818316"/>
          </a:xfrm>
        </p:spPr>
        <p:txBody>
          <a:bodyPr>
            <a:normAutofit/>
          </a:bodyPr>
          <a:lstStyle/>
          <a:p>
            <a:pPr marL="0" indent="0" algn="l">
              <a:buNone/>
            </a:pPr>
            <a:r>
              <a:rPr lang="en-US" sz="4000" b="1" i="0" u="none" strike="noStrike" baseline="0" dirty="0">
                <a:solidFill>
                  <a:srgbClr val="0081A6"/>
                </a:solidFill>
                <a:latin typeface="MyriadPro-Bold"/>
              </a:rPr>
              <a:t>  </a:t>
            </a:r>
            <a:r>
              <a:rPr lang="en-US" sz="3600" i="0" u="none" strike="noStrike" baseline="0" dirty="0">
                <a:latin typeface="Times New Roman" panose="02020603050405020304" pitchFamily="18" charset="0"/>
                <a:cs typeface="Times New Roman" panose="02020603050405020304" pitchFamily="18" charset="0"/>
              </a:rPr>
              <a:t>Clinical Manifestations of Hypermagnesemia</a:t>
            </a:r>
            <a:endParaRPr lang="en-US" sz="4000" i="0" u="none" strike="noStrike" baseline="0" dirty="0">
              <a:latin typeface="Times New Roman" panose="02020603050405020304" pitchFamily="18" charset="0"/>
              <a:cs typeface="Times New Roman" panose="02020603050405020304" pitchFamily="18" charset="0"/>
            </a:endParaRPr>
          </a:p>
          <a:p>
            <a:pPr algn="l">
              <a:lnSpc>
                <a:spcPct val="10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Symptomatic hypermagnesemia typically presents with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neurological, neuromuscular, and cardiac manifestations</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including hyporeflexia, sedation, muscle weakness, and respiratory depression.</a:t>
            </a:r>
          </a:p>
          <a:p>
            <a:pPr algn="l">
              <a:lnSpc>
                <a:spcPct val="10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Vasodilation, bradycardia, and myocardial depression may cause hypotension. </a:t>
            </a:r>
          </a:p>
          <a:p>
            <a:pPr algn="l">
              <a:lnSpc>
                <a:spcPct val="10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ECG signs may include prolongation of the P–R interval and widening of the QRS complex. </a:t>
            </a:r>
          </a:p>
          <a:p>
            <a:pPr algn="l">
              <a:lnSpc>
                <a:spcPct val="10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Marked hypermagnesemia can lead to respiratory and cardiac arrest.</a:t>
            </a:r>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10C26DEE-E23E-E14C-38D5-4C1EBEA86542}"/>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1A3930A3-BF03-ED44-2416-0B22286D86F9}"/>
              </a:ext>
            </a:extLst>
          </p:cNvPr>
          <p:cNvSpPr>
            <a:spLocks noGrp="1"/>
          </p:cNvSpPr>
          <p:nvPr>
            <p:ph type="sldNum" sz="quarter" idx="12"/>
          </p:nvPr>
        </p:nvSpPr>
        <p:spPr/>
        <p:txBody>
          <a:bodyPr/>
          <a:lstStyle/>
          <a:p>
            <a:fld id="{CB22993B-EEE5-4EB1-BEE5-4FFFA489F796}" type="slidenum">
              <a:rPr lang="en-US" smtClean="0"/>
              <a:t>99</a:t>
            </a:fld>
            <a:endParaRPr lang="en-US"/>
          </a:p>
        </p:txBody>
      </p:sp>
    </p:spTree>
    <p:extLst>
      <p:ext uri="{BB962C8B-B14F-4D97-AF65-F5344CB8AC3E}">
        <p14:creationId xmlns:p14="http://schemas.microsoft.com/office/powerpoint/2010/main" val="125340044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FD08E08-3819-4A49-B5C9-F07FE34B7B37}"/>
              </a:ext>
            </a:extLst>
          </p:cNvPr>
          <p:cNvSpPr>
            <a:spLocks noGrp="1"/>
          </p:cNvSpPr>
          <p:nvPr>
            <p:ph idx="1"/>
          </p:nvPr>
        </p:nvSpPr>
        <p:spPr>
          <a:xfrm>
            <a:off x="838200" y="1154242"/>
            <a:ext cx="10515600" cy="5216577"/>
          </a:xfrm>
        </p:spPr>
        <p:txBody>
          <a:bodyPr/>
          <a:lstStyle/>
          <a:p>
            <a:pPr marL="0" indent="0" algn="l">
              <a:buNone/>
            </a:pPr>
            <a:r>
              <a:rPr lang="en-US" sz="4000" b="1" i="0" u="none" strike="noStrike" baseline="0" dirty="0">
                <a:solidFill>
                  <a:srgbClr val="0081A6"/>
                </a:solidFill>
                <a:latin typeface="MyriadPro-Bold"/>
              </a:rPr>
              <a:t>  </a:t>
            </a:r>
            <a:r>
              <a:rPr lang="en-US" sz="3600" i="0" u="none" strike="noStrike" baseline="0" dirty="0">
                <a:latin typeface="Times New Roman" panose="02020603050405020304" pitchFamily="18" charset="0"/>
                <a:cs typeface="Times New Roman" panose="02020603050405020304" pitchFamily="18" charset="0"/>
              </a:rPr>
              <a:t>Treatment of Hypermagnesemia</a:t>
            </a:r>
            <a:endParaRPr lang="en-US" sz="4000" i="0" u="none" strike="noStrike" baseline="0" dirty="0">
              <a:latin typeface="Times New Roman" panose="02020603050405020304" pitchFamily="18" charset="0"/>
              <a:cs typeface="Times New Roman" panose="02020603050405020304" pitchFamily="18" charset="0"/>
            </a:endParaRP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With relatively mild hypermagnesemia, all that is usually necessary is to discontinue source(s) of magnesium intake (most often antacids). </a:t>
            </a: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In cases of relatively high [Mg </a:t>
            </a:r>
            <a:r>
              <a:rPr lang="en-US" sz="800" b="0" i="0" u="none" strike="noStrike" baseline="0" dirty="0">
                <a:solidFill>
                  <a:srgbClr val="000000"/>
                </a:solidFill>
                <a:latin typeface="Times New Roman" panose="02020603050405020304" pitchFamily="18" charset="0"/>
                <a:cs typeface="Times New Roman" panose="02020603050405020304" pitchFamily="18" charset="0"/>
              </a:rPr>
              <a:t>2+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and especially in the presence of clinical signs of magnesium toxicity,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intravenous calcium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can temporarily antagonize most of the effects of clinical toxicity.</a:t>
            </a:r>
          </a:p>
          <a:p>
            <a:pPr algn="l"/>
            <a:r>
              <a:rPr lang="en-US" sz="2800" b="0" i="0" u="none" strike="noStrike" baseline="0" dirty="0">
                <a:latin typeface="Times New Roman" panose="02020603050405020304" pitchFamily="18" charset="0"/>
                <a:cs typeface="Times New Roman" panose="02020603050405020304" pitchFamily="18" charset="0"/>
              </a:rPr>
              <a:t>A </a:t>
            </a:r>
            <a:r>
              <a:rPr lang="en-US" sz="2800" b="1" i="0" u="none" strike="noStrike" baseline="0" dirty="0">
                <a:latin typeface="Times New Roman" panose="02020603050405020304" pitchFamily="18" charset="0"/>
                <a:cs typeface="Times New Roman" panose="02020603050405020304" pitchFamily="18" charset="0"/>
              </a:rPr>
              <a:t>loop diuretic </a:t>
            </a:r>
            <a:r>
              <a:rPr lang="en-US" sz="2800" b="0" i="0" u="none" strike="noStrike" baseline="0" dirty="0">
                <a:latin typeface="Times New Roman" panose="02020603050405020304" pitchFamily="18" charset="0"/>
                <a:cs typeface="Times New Roman" panose="02020603050405020304" pitchFamily="18" charset="0"/>
              </a:rPr>
              <a:t>in conjunction with intravenous fluid replacement enhances urinary magnesium excretion in patients with adequate renal function.</a:t>
            </a:r>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9523E613-F33E-1BFF-8C45-C95094D9D6BA}"/>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62301834-EB31-4AF3-9997-C3045BAC3ABF}"/>
              </a:ext>
            </a:extLst>
          </p:cNvPr>
          <p:cNvSpPr>
            <a:spLocks noGrp="1"/>
          </p:cNvSpPr>
          <p:nvPr>
            <p:ph type="sldNum" sz="quarter" idx="12"/>
          </p:nvPr>
        </p:nvSpPr>
        <p:spPr/>
        <p:txBody>
          <a:bodyPr/>
          <a:lstStyle/>
          <a:p>
            <a:fld id="{CB22993B-EEE5-4EB1-BEE5-4FFFA489F796}" type="slidenum">
              <a:rPr lang="en-US" smtClean="0"/>
              <a:t>100</a:t>
            </a:fld>
            <a:endParaRPr lang="en-US"/>
          </a:p>
        </p:txBody>
      </p:sp>
    </p:spTree>
    <p:extLst>
      <p:ext uri="{BB962C8B-B14F-4D97-AF65-F5344CB8AC3E}">
        <p14:creationId xmlns:p14="http://schemas.microsoft.com/office/powerpoint/2010/main" val="177695795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563A3B-5CD1-47C1-B341-D774D3C99EB5}"/>
              </a:ext>
            </a:extLst>
          </p:cNvPr>
          <p:cNvSpPr>
            <a:spLocks noGrp="1"/>
          </p:cNvSpPr>
          <p:nvPr>
            <p:ph type="title"/>
          </p:nvPr>
        </p:nvSpPr>
        <p:spPr>
          <a:xfrm>
            <a:off x="838200" y="365125"/>
            <a:ext cx="10515600" cy="549275"/>
          </a:xfrm>
        </p:spPr>
        <p:txBody>
          <a:bodyPr>
            <a:normAutofit fontScale="90000"/>
          </a:bodyPr>
          <a:lstStyle/>
          <a:p>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AA6E7562-A71F-463D-BE8A-019E476EAF3D}"/>
              </a:ext>
            </a:extLst>
          </p:cNvPr>
          <p:cNvSpPr>
            <a:spLocks noGrp="1"/>
          </p:cNvSpPr>
          <p:nvPr>
            <p:ph idx="1"/>
          </p:nvPr>
        </p:nvSpPr>
        <p:spPr>
          <a:xfrm>
            <a:off x="838200" y="1049311"/>
            <a:ext cx="10515600" cy="5443564"/>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When diuretic administration with intravenous infusion is used to enhance magnesium excretion, serial measurements of [Ca </a:t>
            </a:r>
            <a:r>
              <a:rPr lang="en-US" sz="800" b="0" i="0" u="none" strike="noStrike" baseline="0" dirty="0">
                <a:latin typeface="Times New Roman" panose="02020603050405020304" pitchFamily="18" charset="0"/>
                <a:cs typeface="Times New Roman" panose="02020603050405020304" pitchFamily="18" charset="0"/>
              </a:rPr>
              <a:t>2+ </a:t>
            </a:r>
            <a:r>
              <a:rPr lang="en-US" sz="2800" b="0" i="0" u="none" strike="noStrike" baseline="0" dirty="0">
                <a:latin typeface="Times New Roman" panose="02020603050405020304" pitchFamily="18" charset="0"/>
                <a:cs typeface="Times New Roman" panose="02020603050405020304" pitchFamily="18" charset="0"/>
              </a:rPr>
              <a:t>] and   [Mg </a:t>
            </a:r>
            <a:r>
              <a:rPr lang="en-US" sz="800" b="0" i="0" u="none" strike="noStrike" baseline="0" dirty="0">
                <a:latin typeface="Times New Roman" panose="02020603050405020304" pitchFamily="18" charset="0"/>
                <a:cs typeface="Times New Roman" panose="02020603050405020304" pitchFamily="18" charset="0"/>
              </a:rPr>
              <a:t>2+ </a:t>
            </a:r>
            <a:r>
              <a:rPr lang="en-US" sz="2800" b="0" i="0" u="none" strike="noStrike" baseline="0" dirty="0">
                <a:latin typeface="Times New Roman" panose="02020603050405020304" pitchFamily="18" charset="0"/>
                <a:cs typeface="Times New Roman" panose="02020603050405020304" pitchFamily="18" charset="0"/>
              </a:rPr>
              <a:t>] should be obtained, a urinary catheter is required, and goal-directed hemodynamic and fluid management should be considered.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Dialysis may be necessary in patients with marked renal impairment. </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In cases of severe magnesium toxicity, ventilatory or circulatory support, or both, may be necessary.</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ED7B92AB-B747-9FA8-E7FA-66ED305B8881}"/>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75EC1FAB-8675-ACF7-E942-C6BDE43DB402}"/>
              </a:ext>
            </a:extLst>
          </p:cNvPr>
          <p:cNvSpPr>
            <a:spLocks noGrp="1"/>
          </p:cNvSpPr>
          <p:nvPr>
            <p:ph type="sldNum" sz="quarter" idx="12"/>
          </p:nvPr>
        </p:nvSpPr>
        <p:spPr/>
        <p:txBody>
          <a:bodyPr/>
          <a:lstStyle/>
          <a:p>
            <a:fld id="{CB22993B-EEE5-4EB1-BEE5-4FFFA489F796}" type="slidenum">
              <a:rPr lang="en-US" smtClean="0"/>
              <a:t>101</a:t>
            </a:fld>
            <a:endParaRPr lang="en-US"/>
          </a:p>
        </p:txBody>
      </p:sp>
    </p:spTree>
    <p:extLst>
      <p:ext uri="{BB962C8B-B14F-4D97-AF65-F5344CB8AC3E}">
        <p14:creationId xmlns:p14="http://schemas.microsoft.com/office/powerpoint/2010/main" val="300946587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231A5C0-F32E-4DCA-BD45-C52B9FC37831}"/>
              </a:ext>
            </a:extLst>
          </p:cNvPr>
          <p:cNvSpPr>
            <a:spLocks noGrp="1"/>
          </p:cNvSpPr>
          <p:nvPr>
            <p:ph idx="1"/>
          </p:nvPr>
        </p:nvSpPr>
        <p:spPr>
          <a:xfrm>
            <a:off x="838200" y="1229193"/>
            <a:ext cx="10515600" cy="4947770"/>
          </a:xfrm>
        </p:spPr>
        <p:txBody>
          <a:bodyPr/>
          <a:lstStyle/>
          <a:p>
            <a:pPr marL="0" indent="0" algn="l">
              <a:buNone/>
            </a:pPr>
            <a:r>
              <a:rPr lang="en-US" sz="4000" b="1" i="0" u="none" strike="noStrike" baseline="0" dirty="0">
                <a:solidFill>
                  <a:srgbClr val="0081A6"/>
                </a:solidFill>
                <a:latin typeface="MyriadPro-Bold"/>
              </a:rPr>
              <a:t>  </a:t>
            </a:r>
            <a:r>
              <a:rPr lang="en-US" sz="3600" i="0" u="none" strike="noStrike" baseline="0" dirty="0">
                <a:latin typeface="Times New Roman" panose="02020603050405020304" pitchFamily="18" charset="0"/>
                <a:cs typeface="Times New Roman" panose="02020603050405020304" pitchFamily="18" charset="0"/>
              </a:rPr>
              <a:t>Anesthetic Considerations</a:t>
            </a:r>
            <a:endParaRPr lang="en-US" sz="4000" i="0" u="none" strike="noStrike" baseline="0" dirty="0">
              <a:latin typeface="Times New Roman" panose="02020603050405020304" pitchFamily="18" charset="0"/>
              <a:cs typeface="Times New Roman" panose="02020603050405020304" pitchFamily="18" charset="0"/>
            </a:endParaRP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Hypermagnesemia requires close monitoring of the ECG, blood pressure, and neuromuscular function. </a:t>
            </a: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Potentiation of the vasodilatory and negative inotropic properties of anesthetics should be expected. </a:t>
            </a: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Dosages of nondepolarizing NMBs should be reduced</a:t>
            </a:r>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FD5220E5-9167-355B-8FF8-EC7AB6F5356B}"/>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7FF65A21-2268-980F-F6E8-7E2D78E1380F}"/>
              </a:ext>
            </a:extLst>
          </p:cNvPr>
          <p:cNvSpPr>
            <a:spLocks noGrp="1"/>
          </p:cNvSpPr>
          <p:nvPr>
            <p:ph type="sldNum" sz="quarter" idx="12"/>
          </p:nvPr>
        </p:nvSpPr>
        <p:spPr/>
        <p:txBody>
          <a:bodyPr/>
          <a:lstStyle/>
          <a:p>
            <a:fld id="{CB22993B-EEE5-4EB1-BEE5-4FFFA489F796}" type="slidenum">
              <a:rPr lang="en-US" smtClean="0"/>
              <a:t>102</a:t>
            </a:fld>
            <a:endParaRPr lang="en-US"/>
          </a:p>
        </p:txBody>
      </p:sp>
    </p:spTree>
    <p:extLst>
      <p:ext uri="{BB962C8B-B14F-4D97-AF65-F5344CB8AC3E}">
        <p14:creationId xmlns:p14="http://schemas.microsoft.com/office/powerpoint/2010/main" val="61934113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54BD1E-3256-4985-9CD8-4422D98264E3}"/>
              </a:ext>
            </a:extLst>
          </p:cNvPr>
          <p:cNvSpPr>
            <a:spLocks noGrp="1"/>
          </p:cNvSpPr>
          <p:nvPr>
            <p:ph type="title"/>
          </p:nvPr>
        </p:nvSpPr>
        <p:spPr>
          <a:xfrm>
            <a:off x="838200" y="365126"/>
            <a:ext cx="10515600" cy="609236"/>
          </a:xfrm>
        </p:spPr>
        <p:txBody>
          <a:bodyPr>
            <a:noAutofit/>
          </a:bodyPr>
          <a:lstStyle/>
          <a:p>
            <a:r>
              <a:rPr lang="en-US" sz="3600" i="0" u="none" strike="noStrike" baseline="0" dirty="0">
                <a:latin typeface="Times New Roman" panose="02020603050405020304" pitchFamily="18" charset="0"/>
                <a:cs typeface="Times New Roman" panose="02020603050405020304" pitchFamily="18" charset="0"/>
              </a:rPr>
              <a:t>Hypomagnesemia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4659EF52-64CE-4C25-909E-D23ADB492A42}"/>
              </a:ext>
            </a:extLst>
          </p:cNvPr>
          <p:cNvSpPr>
            <a:spLocks noGrp="1"/>
          </p:cNvSpPr>
          <p:nvPr>
            <p:ph idx="1"/>
          </p:nvPr>
        </p:nvSpPr>
        <p:spPr>
          <a:xfrm>
            <a:off x="838200" y="1214202"/>
            <a:ext cx="10515600" cy="5278671"/>
          </a:xfrm>
        </p:spPr>
        <p:txBody>
          <a:bodyPr>
            <a:normAutofit/>
          </a:bodyPr>
          <a:lstStyle/>
          <a:p>
            <a:pPr algn="l">
              <a:lnSpc>
                <a:spcPct val="10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It is commonly found in patients undergoing major cardiothoracic or abdominal operations, and its incidence among patients in intensive  care units may exceed 50%. </a:t>
            </a:r>
          </a:p>
          <a:p>
            <a:pPr algn="l">
              <a:lnSpc>
                <a:spcPct val="10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Deficiencies of magnesium are generally the result of inadequate intake, reduced gastrointestinal absorption, and increased renal excretion.</a:t>
            </a:r>
          </a:p>
          <a:p>
            <a:pPr algn="l">
              <a:lnSpc>
                <a:spcPct val="100000"/>
              </a:lnSpc>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Drugs that cause renal wasting of magnesium include ethanol, theophylline, diuretics, cisplatin, aminoglycosides, cyclosporine, amphotericin </a:t>
            </a:r>
            <a:r>
              <a:rPr lang="en-US" sz="2800" b="0" i="0" u="none" strike="noStrike" baseline="0" dirty="0" smtClean="0">
                <a:solidFill>
                  <a:srgbClr val="000000"/>
                </a:solidFill>
                <a:latin typeface="Times New Roman" panose="02020603050405020304" pitchFamily="18" charset="0"/>
                <a:cs typeface="Times New Roman" panose="02020603050405020304" pitchFamily="18" charset="0"/>
              </a:rPr>
              <a:t>B and </a:t>
            </a:r>
            <a:r>
              <a:rPr lang="en-US" sz="2800" b="0" i="0" u="none" strike="noStrike" baseline="0" dirty="0" err="1" smtClean="0">
                <a:solidFill>
                  <a:srgbClr val="000000"/>
                </a:solidFill>
                <a:latin typeface="Times New Roman" panose="02020603050405020304" pitchFamily="18" charset="0"/>
                <a:cs typeface="Times New Roman" panose="02020603050405020304" pitchFamily="18" charset="0"/>
              </a:rPr>
              <a:t>pentamidine</a:t>
            </a:r>
            <a:r>
              <a:rPr lang="en-US" sz="2800" b="0" i="0" u="none" strike="noStrike" baseline="0" dirty="0" smtClean="0">
                <a:solidFill>
                  <a:srgbClr val="000000"/>
                </a:solidFill>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C73C6B29-5636-41AA-931A-02142EEA19BB}"/>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6C146964-49DF-3241-8E8B-9B640E823318}"/>
              </a:ext>
            </a:extLst>
          </p:cNvPr>
          <p:cNvSpPr>
            <a:spLocks noGrp="1"/>
          </p:cNvSpPr>
          <p:nvPr>
            <p:ph type="sldNum" sz="quarter" idx="12"/>
          </p:nvPr>
        </p:nvSpPr>
        <p:spPr/>
        <p:txBody>
          <a:bodyPr/>
          <a:lstStyle/>
          <a:p>
            <a:fld id="{CB22993B-EEE5-4EB1-BEE5-4FFFA489F796}" type="slidenum">
              <a:rPr lang="en-US" smtClean="0"/>
              <a:t>103</a:t>
            </a:fld>
            <a:endParaRPr lang="en-US"/>
          </a:p>
        </p:txBody>
      </p:sp>
    </p:spTree>
    <p:extLst>
      <p:ext uri="{BB962C8B-B14F-4D97-AF65-F5344CB8AC3E}">
        <p14:creationId xmlns:p14="http://schemas.microsoft.com/office/powerpoint/2010/main" val="23404486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0C4628E-F141-4BC9-828F-6ECD5F24A042}"/>
              </a:ext>
            </a:extLst>
          </p:cNvPr>
          <p:cNvSpPr>
            <a:spLocks noGrp="1"/>
          </p:cNvSpPr>
          <p:nvPr>
            <p:ph idx="1"/>
          </p:nvPr>
        </p:nvSpPr>
        <p:spPr>
          <a:xfrm>
            <a:off x="838200" y="1109272"/>
            <a:ext cx="10515600" cy="5383602"/>
          </a:xfrm>
        </p:spPr>
        <p:txBody>
          <a:bodyPr/>
          <a:lstStyle/>
          <a:p>
            <a:pPr marL="0" indent="0" algn="l">
              <a:buNone/>
            </a:pPr>
            <a:r>
              <a:rPr lang="en-US" sz="3600" b="1" i="0" u="none" strike="noStrike" baseline="0" dirty="0">
                <a:latin typeface="MyriadPro-Bold"/>
              </a:rPr>
              <a:t>  </a:t>
            </a:r>
            <a:r>
              <a:rPr lang="en-US" sz="3600" i="0" u="none" strike="noStrike" baseline="0" dirty="0">
                <a:latin typeface="Times New Roman" panose="02020603050405020304" pitchFamily="18" charset="0"/>
                <a:cs typeface="Times New Roman" panose="02020603050405020304" pitchFamily="18" charset="0"/>
              </a:rPr>
              <a:t>Causes of hypomagnesemia</a:t>
            </a:r>
            <a:r>
              <a:rPr lang="en-US" sz="3600" b="1" i="0" u="none" strike="noStrike" baseline="0" dirty="0">
                <a:latin typeface="MyriadPro-Bold"/>
              </a:rPr>
              <a:t>.</a:t>
            </a:r>
          </a:p>
          <a:p>
            <a:pPr algn="l">
              <a:lnSpc>
                <a:spcPct val="100000"/>
              </a:lnSpc>
            </a:pPr>
            <a:r>
              <a:rPr lang="en-US" sz="2800" b="1" i="0" u="none" strike="noStrike" baseline="0" dirty="0">
                <a:latin typeface="Times New Roman" panose="02020603050405020304" pitchFamily="18" charset="0"/>
                <a:cs typeface="Times New Roman" panose="02020603050405020304" pitchFamily="18" charset="0"/>
              </a:rPr>
              <a:t>Inadequate intake</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Nutritional</a:t>
            </a:r>
          </a:p>
          <a:p>
            <a:pPr algn="l">
              <a:lnSpc>
                <a:spcPct val="100000"/>
              </a:lnSpc>
            </a:pPr>
            <a:r>
              <a:rPr lang="en-US" sz="2800" b="1" i="0" u="none" strike="noStrike" baseline="0" dirty="0">
                <a:latin typeface="Times New Roman" panose="02020603050405020304" pitchFamily="18" charset="0"/>
                <a:cs typeface="Times New Roman" panose="02020603050405020304" pitchFamily="18" charset="0"/>
              </a:rPr>
              <a:t>Reduced gastrointestinal absorption</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Malabsorption syndromes</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Small bowel or biliary fistulas</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Prolonged nasogastric suctioning</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Severe vomiting or diarrhea</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Chronic laxative abuse</a:t>
            </a:r>
            <a:endParaRPr lang="en-US" sz="28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F33EDC5E-7358-51FF-5FE7-FB35C9C1B249}"/>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69D98C6E-7CE1-5382-75CE-583525B4127D}"/>
              </a:ext>
            </a:extLst>
          </p:cNvPr>
          <p:cNvSpPr>
            <a:spLocks noGrp="1"/>
          </p:cNvSpPr>
          <p:nvPr>
            <p:ph type="sldNum" sz="quarter" idx="12"/>
          </p:nvPr>
        </p:nvSpPr>
        <p:spPr/>
        <p:txBody>
          <a:bodyPr/>
          <a:lstStyle/>
          <a:p>
            <a:fld id="{CB22993B-EEE5-4EB1-BEE5-4FFFA489F796}" type="slidenum">
              <a:rPr lang="en-US" smtClean="0"/>
              <a:t>104</a:t>
            </a:fld>
            <a:endParaRPr lang="en-US"/>
          </a:p>
        </p:txBody>
      </p:sp>
    </p:spTree>
    <p:extLst>
      <p:ext uri="{BB962C8B-B14F-4D97-AF65-F5344CB8AC3E}">
        <p14:creationId xmlns:p14="http://schemas.microsoft.com/office/powerpoint/2010/main" val="139629763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21FEBC-757A-4400-A379-F30CB046AC5A}"/>
              </a:ext>
            </a:extLst>
          </p:cNvPr>
          <p:cNvSpPr>
            <a:spLocks noGrp="1"/>
          </p:cNvSpPr>
          <p:nvPr>
            <p:ph type="title"/>
          </p:nvPr>
        </p:nvSpPr>
        <p:spPr>
          <a:xfrm>
            <a:off x="838200" y="149903"/>
            <a:ext cx="10515600" cy="434713"/>
          </a:xfrm>
        </p:spPr>
        <p:txBody>
          <a:bodyPr>
            <a:normAutofit fontScale="90000"/>
          </a:bodyPr>
          <a:lstStyle/>
          <a:p>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xmlns="" id="{409E6B5B-EA6F-4DDC-920C-00F7DACE482C}"/>
              </a:ext>
            </a:extLst>
          </p:cNvPr>
          <p:cNvSpPr>
            <a:spLocks noGrp="1"/>
          </p:cNvSpPr>
          <p:nvPr>
            <p:ph idx="1"/>
          </p:nvPr>
        </p:nvSpPr>
        <p:spPr>
          <a:xfrm>
            <a:off x="838200" y="809470"/>
            <a:ext cx="10515600" cy="6048530"/>
          </a:xfrm>
        </p:spPr>
        <p:txBody>
          <a:bodyPr>
            <a:normAutofit lnSpcReduction="10000"/>
          </a:bodyPr>
          <a:lstStyle/>
          <a:p>
            <a:pPr algn="l"/>
            <a:r>
              <a:rPr lang="en-US" b="1" i="0" u="none" strike="noStrike" baseline="0" dirty="0">
                <a:latin typeface="Times New Roman" panose="02020603050405020304" pitchFamily="18" charset="0"/>
                <a:cs typeface="Times New Roman" panose="02020603050405020304" pitchFamily="18" charset="0"/>
              </a:rPr>
              <a:t>Increased renal losses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Diuresis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Diabetic ketoacidosis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Hyperparathyroidism</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Hyperaldosteronism</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Hypophosphatemia</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Nephrotoxic drugs</a:t>
            </a:r>
          </a:p>
          <a:p>
            <a:pPr lvl="1">
              <a:buFont typeface="Wingdings" panose="05000000000000000000" pitchFamily="2" charset="2"/>
              <a:buChar char="Ø"/>
            </a:pPr>
            <a:r>
              <a:rPr lang="en-US" sz="2800" b="0" i="0" u="none" strike="noStrike" baseline="0" dirty="0" err="1">
                <a:latin typeface="Times New Roman" panose="02020603050405020304" pitchFamily="18" charset="0"/>
                <a:cs typeface="Times New Roman" panose="02020603050405020304" pitchFamily="18" charset="0"/>
              </a:rPr>
              <a:t>Postobstructive</a:t>
            </a:r>
            <a:r>
              <a:rPr lang="en-US" sz="2800" b="0" i="0" u="none" strike="noStrike" baseline="0" dirty="0">
                <a:latin typeface="Times New Roman" panose="02020603050405020304" pitchFamily="18" charset="0"/>
                <a:cs typeface="Times New Roman" panose="02020603050405020304" pitchFamily="18" charset="0"/>
              </a:rPr>
              <a:t> diuresis</a:t>
            </a:r>
          </a:p>
          <a:p>
            <a:pPr algn="l"/>
            <a:r>
              <a:rPr lang="en-US" b="1" i="0" u="none" strike="noStrike" baseline="0" dirty="0">
                <a:latin typeface="Times New Roman" panose="02020603050405020304" pitchFamily="18" charset="0"/>
                <a:cs typeface="Times New Roman" panose="02020603050405020304" pitchFamily="18" charset="0"/>
              </a:rPr>
              <a:t>Multifactorial</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Chronic alcoholism</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Protein–calorie malnutrition</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Hyperthyroidism</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Pancreatitis</a:t>
            </a:r>
          </a:p>
          <a:p>
            <a:pPr lvl="1">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Burns</a:t>
            </a:r>
            <a:endParaRPr lang="en-US"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104A0D11-13B6-ECA6-0DF2-EFB946404AA7}"/>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5E6202B5-3942-75BE-B586-3F4EA8D3BA2C}"/>
              </a:ext>
            </a:extLst>
          </p:cNvPr>
          <p:cNvSpPr>
            <a:spLocks noGrp="1"/>
          </p:cNvSpPr>
          <p:nvPr>
            <p:ph type="sldNum" sz="quarter" idx="12"/>
          </p:nvPr>
        </p:nvSpPr>
        <p:spPr/>
        <p:txBody>
          <a:bodyPr/>
          <a:lstStyle/>
          <a:p>
            <a:fld id="{CB22993B-EEE5-4EB1-BEE5-4FFFA489F796}" type="slidenum">
              <a:rPr lang="en-US" smtClean="0"/>
              <a:t>105</a:t>
            </a:fld>
            <a:endParaRPr lang="en-US"/>
          </a:p>
        </p:txBody>
      </p:sp>
    </p:spTree>
    <p:extLst>
      <p:ext uri="{BB962C8B-B14F-4D97-AF65-F5344CB8AC3E}">
        <p14:creationId xmlns:p14="http://schemas.microsoft.com/office/powerpoint/2010/main" val="229195113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3DA3F95-33AB-4567-9D93-12F84F716853}"/>
              </a:ext>
            </a:extLst>
          </p:cNvPr>
          <p:cNvSpPr>
            <a:spLocks noGrp="1"/>
          </p:cNvSpPr>
          <p:nvPr>
            <p:ph idx="1"/>
          </p:nvPr>
        </p:nvSpPr>
        <p:spPr>
          <a:xfrm>
            <a:off x="838200" y="614597"/>
            <a:ext cx="10515600" cy="5996065"/>
          </a:xfrm>
        </p:spPr>
        <p:txBody>
          <a:bodyPr>
            <a:normAutofit/>
          </a:bodyPr>
          <a:lstStyle/>
          <a:p>
            <a:pPr marL="0" indent="0" algn="l">
              <a:buNone/>
            </a:pPr>
            <a:r>
              <a:rPr lang="en-US" sz="4000" b="1" i="0" u="none" strike="noStrike" baseline="0" dirty="0">
                <a:solidFill>
                  <a:srgbClr val="0081A6"/>
                </a:solidFill>
                <a:latin typeface="MyriadPro-Bold"/>
              </a:rPr>
              <a:t>  </a:t>
            </a:r>
            <a:r>
              <a:rPr lang="en-US" sz="3600" i="0" u="none" strike="noStrike" baseline="0" dirty="0">
                <a:latin typeface="Times New Roman" panose="02020603050405020304" pitchFamily="18" charset="0"/>
                <a:cs typeface="Times New Roman" panose="02020603050405020304" pitchFamily="18" charset="0"/>
              </a:rPr>
              <a:t>Clinical Manifestations of Hypomagnesemia</a:t>
            </a:r>
            <a:endParaRPr lang="en-US" sz="4000" i="0" u="none" strike="noStrike" baseline="0" dirty="0">
              <a:latin typeface="Times New Roman" panose="02020603050405020304" pitchFamily="18" charset="0"/>
              <a:cs typeface="Times New Roman" panose="02020603050405020304" pitchFamily="18" charset="0"/>
            </a:endParaRP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Most patients with hypomagnesemia are asymptomatic, but anorexia, weakness, fasciculation, </a:t>
            </a:r>
            <a:r>
              <a:rPr lang="en-US" sz="2800" b="0" i="0" u="none" strike="noStrike" baseline="0" dirty="0" err="1">
                <a:solidFill>
                  <a:srgbClr val="000000"/>
                </a:solidFill>
                <a:latin typeface="Times New Roman" panose="02020603050405020304" pitchFamily="18" charset="0"/>
                <a:cs typeface="Times New Roman" panose="02020603050405020304" pitchFamily="18" charset="0"/>
              </a:rPr>
              <a:t>paresthesias</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confusion, ataxia, and seizures may be </a:t>
            </a:r>
            <a:r>
              <a:rPr lang="en-US" sz="2800" b="0" i="0" u="none" strike="noStrike" baseline="0" dirty="0">
                <a:latin typeface="Times New Roman" panose="02020603050405020304" pitchFamily="18" charset="0"/>
                <a:cs typeface="Times New Roman" panose="02020603050405020304" pitchFamily="18" charset="0"/>
              </a:rPr>
              <a:t>encountered. </a:t>
            </a:r>
          </a:p>
          <a:p>
            <a:pPr algn="l"/>
            <a:r>
              <a:rPr lang="en-US" sz="2800" b="0" i="0" u="none" strike="noStrike" baseline="0" dirty="0">
                <a:latin typeface="Times New Roman" panose="02020603050405020304" pitchFamily="18" charset="0"/>
                <a:cs typeface="Times New Roman" panose="02020603050405020304" pitchFamily="18" charset="0"/>
              </a:rPr>
              <a:t>Hypomagnesemia is frequently associated with both hypocalcemia (impaired PTH secretion) and hypokalemia (due to renal K </a:t>
            </a:r>
            <a:r>
              <a:rPr lang="en-US" sz="8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wasting).</a:t>
            </a:r>
          </a:p>
          <a:p>
            <a:pPr algn="l"/>
            <a:r>
              <a:rPr lang="en-US" sz="2800" b="0" i="0" u="none" strike="noStrike" baseline="0" dirty="0">
                <a:latin typeface="Times New Roman" panose="02020603050405020304" pitchFamily="18" charset="0"/>
                <a:cs typeface="Times New Roman" panose="02020603050405020304" pitchFamily="18" charset="0"/>
              </a:rPr>
              <a:t>Cardiac manifestations include electrical irritability and potentiation of digoxin toxicity; both factors are aggravated by hypokalemia. </a:t>
            </a:r>
          </a:p>
          <a:p>
            <a:pPr algn="l"/>
            <a:r>
              <a:rPr lang="en-US" sz="2800" b="0" i="0" u="none" strike="noStrike" baseline="0" dirty="0">
                <a:latin typeface="Times New Roman" panose="02020603050405020304" pitchFamily="18" charset="0"/>
                <a:cs typeface="Times New Roman" panose="02020603050405020304" pitchFamily="18" charset="0"/>
              </a:rPr>
              <a:t>Hypomagnesemia is associated with an increased incidence of atrial fibrillation. </a:t>
            </a:r>
          </a:p>
          <a:p>
            <a:pPr algn="l"/>
            <a:r>
              <a:rPr lang="en-US" sz="2800" b="0" i="0" u="none" strike="noStrike" baseline="0" dirty="0">
                <a:latin typeface="Times New Roman" panose="02020603050405020304" pitchFamily="18" charset="0"/>
                <a:cs typeface="Times New Roman" panose="02020603050405020304" pitchFamily="18" charset="0"/>
              </a:rPr>
              <a:t>Prolongation of the P–R and QT intervals may also be present.</a:t>
            </a:r>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A61A2F4C-AADC-FF77-A3FD-9BB959750AB6}"/>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7A6E2843-22CD-65F5-CB31-D882B324ADE5}"/>
              </a:ext>
            </a:extLst>
          </p:cNvPr>
          <p:cNvSpPr>
            <a:spLocks noGrp="1"/>
          </p:cNvSpPr>
          <p:nvPr>
            <p:ph type="sldNum" sz="quarter" idx="12"/>
          </p:nvPr>
        </p:nvSpPr>
        <p:spPr/>
        <p:txBody>
          <a:bodyPr/>
          <a:lstStyle/>
          <a:p>
            <a:fld id="{CB22993B-EEE5-4EB1-BEE5-4FFFA489F796}" type="slidenum">
              <a:rPr lang="en-US" smtClean="0"/>
              <a:t>106</a:t>
            </a:fld>
            <a:endParaRPr lang="en-US"/>
          </a:p>
        </p:txBody>
      </p:sp>
    </p:spTree>
    <p:extLst>
      <p:ext uri="{BB962C8B-B14F-4D97-AF65-F5344CB8AC3E}">
        <p14:creationId xmlns:p14="http://schemas.microsoft.com/office/powerpoint/2010/main" val="367285365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64416EF-EFB2-413D-9194-B7E05147E1CF}"/>
              </a:ext>
            </a:extLst>
          </p:cNvPr>
          <p:cNvSpPr>
            <a:spLocks noGrp="1"/>
          </p:cNvSpPr>
          <p:nvPr>
            <p:ph idx="1"/>
          </p:nvPr>
        </p:nvSpPr>
        <p:spPr>
          <a:xfrm>
            <a:off x="838200" y="1229192"/>
            <a:ext cx="10515600" cy="5263681"/>
          </a:xfrm>
        </p:spPr>
        <p:txBody>
          <a:bodyPr/>
          <a:lstStyle/>
          <a:p>
            <a:pPr marL="0" indent="0" algn="l">
              <a:buNone/>
            </a:pPr>
            <a:r>
              <a:rPr lang="en-US" sz="4000" b="1" i="0" u="none" strike="noStrike" baseline="0" dirty="0">
                <a:solidFill>
                  <a:srgbClr val="0081A6"/>
                </a:solidFill>
                <a:latin typeface="MyriadPro-Bold"/>
              </a:rPr>
              <a:t> </a:t>
            </a:r>
            <a:r>
              <a:rPr lang="en-US" sz="3600" i="0" u="none" strike="noStrike" baseline="0" dirty="0">
                <a:latin typeface="Times New Roman" panose="02020603050405020304" pitchFamily="18" charset="0"/>
                <a:cs typeface="Times New Roman" panose="02020603050405020304" pitchFamily="18" charset="0"/>
              </a:rPr>
              <a:t>Treatment of Hypomagnesemia</a:t>
            </a:r>
            <a:endParaRPr lang="en-US" sz="4000" i="0" u="none" strike="noStrike" baseline="0" dirty="0">
              <a:latin typeface="Times New Roman" panose="02020603050405020304" pitchFamily="18" charset="0"/>
              <a:cs typeface="Times New Roman" panose="02020603050405020304" pitchFamily="18" charset="0"/>
            </a:endParaRP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Asymptomatic hypomagnesemia can be treated orally or intramuscularly. </a:t>
            </a: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Serious manifestations such as seizures should be treated with intravenous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magnesium sulfate</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1–2 g (8–16 </a:t>
            </a:r>
            <a:r>
              <a:rPr lang="en-US" sz="2800" b="0" i="0" u="none" strike="noStrike" baseline="0" dirty="0" err="1">
                <a:solidFill>
                  <a:srgbClr val="000000"/>
                </a:solidFill>
                <a:latin typeface="Times New Roman" panose="02020603050405020304" pitchFamily="18" charset="0"/>
                <a:cs typeface="Times New Roman" panose="02020603050405020304" pitchFamily="18" charset="0"/>
              </a:rPr>
              <a:t>mEq</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or 4–8 mmol) given slowly over 15–60 min.</a:t>
            </a:r>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031ABC1F-306D-3F01-192B-A32DD9DF53B7}"/>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2E9BB933-E346-F6B4-DD81-869757B417F7}"/>
              </a:ext>
            </a:extLst>
          </p:cNvPr>
          <p:cNvSpPr>
            <a:spLocks noGrp="1"/>
          </p:cNvSpPr>
          <p:nvPr>
            <p:ph type="sldNum" sz="quarter" idx="12"/>
          </p:nvPr>
        </p:nvSpPr>
        <p:spPr/>
        <p:txBody>
          <a:bodyPr/>
          <a:lstStyle/>
          <a:p>
            <a:fld id="{CB22993B-EEE5-4EB1-BEE5-4FFFA489F796}" type="slidenum">
              <a:rPr lang="en-US" smtClean="0"/>
              <a:t>107</a:t>
            </a:fld>
            <a:endParaRPr lang="en-US"/>
          </a:p>
        </p:txBody>
      </p:sp>
    </p:spTree>
    <p:extLst>
      <p:ext uri="{BB962C8B-B14F-4D97-AF65-F5344CB8AC3E}">
        <p14:creationId xmlns:p14="http://schemas.microsoft.com/office/powerpoint/2010/main" val="263251748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2AA344D-E8F3-42C9-B3F5-F1E3062E88A7}"/>
              </a:ext>
            </a:extLst>
          </p:cNvPr>
          <p:cNvSpPr>
            <a:spLocks noGrp="1"/>
          </p:cNvSpPr>
          <p:nvPr>
            <p:ph idx="1"/>
          </p:nvPr>
        </p:nvSpPr>
        <p:spPr>
          <a:xfrm>
            <a:off x="838200" y="1064302"/>
            <a:ext cx="10515600" cy="5793698"/>
          </a:xfrm>
        </p:spPr>
        <p:txBody>
          <a:bodyPr/>
          <a:lstStyle/>
          <a:p>
            <a:pPr marL="0" indent="0" algn="l">
              <a:buNone/>
            </a:pPr>
            <a:r>
              <a:rPr lang="en-US" sz="4000" b="1" i="0" u="none" strike="noStrike" baseline="0" dirty="0">
                <a:solidFill>
                  <a:srgbClr val="0081A6"/>
                </a:solidFill>
                <a:latin typeface="MyriadPro-Bold"/>
              </a:rPr>
              <a:t> </a:t>
            </a:r>
            <a:r>
              <a:rPr lang="en-US" sz="3600" i="0" u="none" strike="noStrike" baseline="0" dirty="0">
                <a:latin typeface="Times New Roman" panose="02020603050405020304" pitchFamily="18" charset="0"/>
                <a:cs typeface="Times New Roman" panose="02020603050405020304" pitchFamily="18" charset="0"/>
              </a:rPr>
              <a:t>Anesthetic Considerations</a:t>
            </a:r>
            <a:endParaRPr lang="en-US" sz="4000" i="0" u="none" strike="noStrike" baseline="0" dirty="0">
              <a:latin typeface="Times New Roman" panose="02020603050405020304" pitchFamily="18" charset="0"/>
              <a:cs typeface="Times New Roman" panose="02020603050405020304" pitchFamily="18" charset="0"/>
            </a:endParaRP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Although no specific anesthetic interactions are described, coexistent electrolyte disturbances such as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hypokalemia, hypophosphatemia</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and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hypocalcemia</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are often present and should be corrected prior to surgery. </a:t>
            </a: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Isolated hypomagnesemia should be corrected prior to elective procedures because of its potential for causing cardiac arrhythmias.</a:t>
            </a:r>
          </a:p>
          <a:p>
            <a:pPr algn="l"/>
            <a:r>
              <a:rPr lang="en-US" sz="2800" b="0" i="0" u="none" strike="noStrike" baseline="0" dirty="0">
                <a:latin typeface="Times New Roman" panose="02020603050405020304" pitchFamily="18" charset="0"/>
                <a:cs typeface="Times New Roman" panose="02020603050405020304" pitchFamily="18" charset="0"/>
              </a:rPr>
              <a:t>It is frequently administered preemptively to lessen the risk of postoperative </a:t>
            </a:r>
            <a:r>
              <a:rPr lang="en-US" sz="2800" b="1" i="0" u="none" strike="noStrike" baseline="0" dirty="0">
                <a:latin typeface="Times New Roman" panose="02020603050405020304" pitchFamily="18" charset="0"/>
                <a:cs typeface="Times New Roman" panose="02020603050405020304" pitchFamily="18" charset="0"/>
              </a:rPr>
              <a:t>atrial fibrillation </a:t>
            </a:r>
            <a:r>
              <a:rPr lang="en-US" sz="2800" b="0" i="0" u="none" strike="noStrike" baseline="0" dirty="0">
                <a:latin typeface="Times New Roman" panose="02020603050405020304" pitchFamily="18" charset="0"/>
                <a:cs typeface="Times New Roman" panose="02020603050405020304" pitchFamily="18" charset="0"/>
              </a:rPr>
              <a:t>in patients undergoing cardiac surgery.</a:t>
            </a:r>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72A5C8FD-29D9-2EF9-99BE-7C5174C5EE72}"/>
              </a:ext>
            </a:extLst>
          </p:cNvPr>
          <p:cNvSpPr>
            <a:spLocks noGrp="1"/>
          </p:cNvSpPr>
          <p:nvPr>
            <p:ph type="dt" sz="half" idx="10"/>
          </p:nvPr>
        </p:nvSpPr>
        <p:spPr/>
        <p:txBody>
          <a:bodyPr/>
          <a:lstStyle/>
          <a:p>
            <a:r>
              <a:rPr lang="en-US"/>
              <a:t>23-Dec-22</a:t>
            </a:r>
          </a:p>
        </p:txBody>
      </p:sp>
      <p:sp>
        <p:nvSpPr>
          <p:cNvPr id="4" name="Slide Number Placeholder 3">
            <a:extLst>
              <a:ext uri="{FF2B5EF4-FFF2-40B4-BE49-F238E27FC236}">
                <a16:creationId xmlns:a16="http://schemas.microsoft.com/office/drawing/2014/main" xmlns="" id="{E2ACBA78-CD4D-3964-0D52-81B510235C4D}"/>
              </a:ext>
            </a:extLst>
          </p:cNvPr>
          <p:cNvSpPr>
            <a:spLocks noGrp="1"/>
          </p:cNvSpPr>
          <p:nvPr>
            <p:ph type="sldNum" sz="quarter" idx="12"/>
          </p:nvPr>
        </p:nvSpPr>
        <p:spPr/>
        <p:txBody>
          <a:bodyPr/>
          <a:lstStyle/>
          <a:p>
            <a:fld id="{CB22993B-EEE5-4EB1-BEE5-4FFFA489F796}" type="slidenum">
              <a:rPr lang="en-US" smtClean="0"/>
              <a:t>108</a:t>
            </a:fld>
            <a:endParaRPr lang="en-US"/>
          </a:p>
        </p:txBody>
      </p:sp>
    </p:spTree>
    <p:extLst>
      <p:ext uri="{BB962C8B-B14F-4D97-AF65-F5344CB8AC3E}">
        <p14:creationId xmlns:p14="http://schemas.microsoft.com/office/powerpoint/2010/main" val="180017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7EDE51-947F-465D-B653-8FB34C5C6F8B}"/>
              </a:ext>
            </a:extLst>
          </p:cNvPr>
          <p:cNvSpPr>
            <a:spLocks noGrp="1"/>
          </p:cNvSpPr>
          <p:nvPr>
            <p:ph type="title"/>
          </p:nvPr>
        </p:nvSpPr>
        <p:spPr>
          <a:xfrm>
            <a:off x="838200" y="119576"/>
            <a:ext cx="10515600" cy="513470"/>
          </a:xfrm>
        </p:spPr>
        <p:txBody>
          <a:bodyPr>
            <a:normAutofit fontScale="90000"/>
          </a:bodyPr>
          <a:lstStyle/>
          <a:p>
            <a:r>
              <a:rPr lang="en-US" sz="4000" b="0" i="0" u="none" strike="noStrike" baseline="0" dirty="0">
                <a:latin typeface="Times New Roman" panose="02020603050405020304" pitchFamily="18" charset="0"/>
                <a:cs typeface="Times New Roman" panose="02020603050405020304" pitchFamily="18" charset="0"/>
              </a:rPr>
              <a:t>    Chloride</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EDBEB06-3414-44A2-A755-AAA590A13809}"/>
              </a:ext>
            </a:extLst>
          </p:cNvPr>
          <p:cNvSpPr>
            <a:spLocks noGrp="1"/>
          </p:cNvSpPr>
          <p:nvPr>
            <p:ph idx="1"/>
          </p:nvPr>
        </p:nvSpPr>
        <p:spPr>
          <a:xfrm>
            <a:off x="838200" y="731521"/>
            <a:ext cx="10515600" cy="6006904"/>
          </a:xfrm>
        </p:spPr>
        <p:txBody>
          <a:bodyPr>
            <a:normAutofit/>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Major extracellular anion</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Sodium and chloride maintain water balance</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Secreted in the stomach as hydrochloric acid</a:t>
            </a:r>
          </a:p>
          <a:p>
            <a:pPr algn="l">
              <a:lnSpc>
                <a:spcPct val="100000"/>
              </a:lnSpc>
            </a:pPr>
            <a:r>
              <a:rPr lang="nl-NL" sz="2800" b="0" i="0" u="none" strike="noStrike" baseline="0" dirty="0">
                <a:latin typeface="Times New Roman" panose="02020603050405020304" pitchFamily="18" charset="0"/>
                <a:cs typeface="Times New Roman" panose="02020603050405020304" pitchFamily="18" charset="0"/>
              </a:rPr>
              <a:t>Aids carbon dioxide transport in blood</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The normal range of chloride 98 to </a:t>
            </a:r>
            <a:r>
              <a:rPr lang="en-US" sz="2800" b="0" i="0" u="none" strike="noStrike" baseline="0" dirty="0" smtClean="0">
                <a:latin typeface="Times New Roman" panose="02020603050405020304" pitchFamily="18" charset="0"/>
                <a:cs typeface="Times New Roman" panose="02020603050405020304" pitchFamily="18" charset="0"/>
              </a:rPr>
              <a:t>106meq/L.</a:t>
            </a:r>
            <a:endParaRPr lang="en-US" sz="2800" b="0" i="0" u="none" strike="noStrike" baseline="0" dirty="0">
              <a:latin typeface="Times New Roman" panose="02020603050405020304" pitchFamily="18" charset="0"/>
              <a:cs typeface="Times New Roman" panose="02020603050405020304" pitchFamily="18" charset="0"/>
            </a:endParaRPr>
          </a:p>
          <a:p>
            <a:pPr algn="l">
              <a:lnSpc>
                <a:spcPct val="100000"/>
              </a:lnSpc>
            </a:pPr>
            <a:r>
              <a:rPr lang="en-US" dirty="0">
                <a:latin typeface="Times New Roman" panose="02020603050405020304" pitchFamily="18" charset="0"/>
                <a:cs typeface="Times New Roman" panose="02020603050405020304" pitchFamily="18" charset="0"/>
              </a:rPr>
              <a:t>H</a:t>
            </a:r>
            <a:r>
              <a:rPr lang="en-US" sz="2800" b="0" i="0" u="none" strike="noStrike" baseline="0" dirty="0">
                <a:latin typeface="Times New Roman" panose="02020603050405020304" pitchFamily="18" charset="0"/>
                <a:cs typeface="Times New Roman" panose="02020603050405020304" pitchFamily="18" charset="0"/>
              </a:rPr>
              <a:t>elps keep the body's acid-base balance</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Regulated by the kidneys</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In the CNS, the inhibitory action of glycine and some of the action of GABA relies on the entry of Cl</a:t>
            </a:r>
            <a:r>
              <a:rPr lang="en-US" sz="2000" b="0" i="0"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into specific neurons</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DB78DA64-25DC-32CE-98B7-8E23DEEE613E}"/>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242A0842-C0DF-A1B5-7DF5-D6E67B442A51}"/>
              </a:ext>
            </a:extLst>
          </p:cNvPr>
          <p:cNvSpPr>
            <a:spLocks noGrp="1"/>
          </p:cNvSpPr>
          <p:nvPr>
            <p:ph type="sldNum" sz="quarter" idx="12"/>
          </p:nvPr>
        </p:nvSpPr>
        <p:spPr/>
        <p:txBody>
          <a:bodyPr/>
          <a:lstStyle/>
          <a:p>
            <a:fld id="{CB22993B-EEE5-4EB1-BEE5-4FFFA489F796}" type="slidenum">
              <a:rPr lang="en-US" smtClean="0"/>
              <a:t>109</a:t>
            </a:fld>
            <a:endParaRPr lang="en-US"/>
          </a:p>
        </p:txBody>
      </p:sp>
    </p:spTree>
    <p:extLst>
      <p:ext uri="{BB962C8B-B14F-4D97-AF65-F5344CB8AC3E}">
        <p14:creationId xmlns:p14="http://schemas.microsoft.com/office/powerpoint/2010/main" val="28950922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3E892B-05A3-4F45-883B-2386A4F5D9E8}"/>
              </a:ext>
            </a:extLst>
          </p:cNvPr>
          <p:cNvSpPr>
            <a:spLocks noGrp="1"/>
          </p:cNvSpPr>
          <p:nvPr>
            <p:ph type="title"/>
          </p:nvPr>
        </p:nvSpPr>
        <p:spPr>
          <a:xfrm>
            <a:off x="838200" y="281355"/>
            <a:ext cx="10515600" cy="633046"/>
          </a:xfrm>
        </p:spPr>
        <p:txBody>
          <a:bodyPr>
            <a:noAutofit/>
          </a:bodyPr>
          <a:lstStyle/>
          <a:p>
            <a:r>
              <a:rPr lang="en-US" sz="3600" b="0" i="0" u="none" strike="noStrike" baseline="0" dirty="0">
                <a:latin typeface="Times New Roman" panose="02020603050405020304" pitchFamily="18" charset="0"/>
                <a:cs typeface="Times New Roman" panose="02020603050405020304" pitchFamily="18" charset="0"/>
              </a:rPr>
              <a:t>Hypochloremia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18766581-89BA-42DA-B49D-4502B149F9D0}"/>
              </a:ext>
            </a:extLst>
          </p:cNvPr>
          <p:cNvSpPr>
            <a:spLocks noGrp="1"/>
          </p:cNvSpPr>
          <p:nvPr>
            <p:ph idx="1"/>
          </p:nvPr>
        </p:nvSpPr>
        <p:spPr>
          <a:xfrm>
            <a:off x="838200" y="1139483"/>
            <a:ext cx="10515600" cy="5037480"/>
          </a:xfrm>
        </p:spPr>
        <p:txBody>
          <a:bodyPr/>
          <a:lstStyle/>
          <a:p>
            <a:pPr algn="l"/>
            <a:r>
              <a:rPr lang="en-US" dirty="0">
                <a:latin typeface="Times New Roman" panose="02020603050405020304" pitchFamily="18" charset="0"/>
                <a:cs typeface="Times New Roman" panose="02020603050405020304" pitchFamily="18" charset="0"/>
              </a:rPr>
              <a:t>A </a:t>
            </a:r>
            <a:r>
              <a:rPr lang="en-US" sz="2800" b="0" i="0" u="none" strike="noStrike" baseline="0" dirty="0">
                <a:latin typeface="Times New Roman" panose="02020603050405020304" pitchFamily="18" charset="0"/>
                <a:cs typeface="Times New Roman" panose="02020603050405020304" pitchFamily="18" charset="0"/>
              </a:rPr>
              <a:t>low level of chloride in the blood; less than 98mEq/L</a:t>
            </a:r>
          </a:p>
          <a:p>
            <a:pPr marL="0" indent="0" algn="l">
              <a:buNone/>
            </a:pPr>
            <a:endParaRPr lang="en-US" sz="2800" b="0" i="0" u="none" strike="noStrike" baseline="0" dirty="0">
              <a:latin typeface="Times New Roman" panose="02020603050405020304" pitchFamily="18" charset="0"/>
              <a:cs typeface="Times New Roman" panose="02020603050405020304" pitchFamily="18" charset="0"/>
            </a:endParaRPr>
          </a:p>
          <a:p>
            <a:pPr marL="0" indent="0" algn="l">
              <a:buNone/>
            </a:pPr>
            <a:r>
              <a:rPr lang="en-US" sz="3200" b="0" i="0" u="none" strike="noStrike" baseline="0" dirty="0">
                <a:latin typeface="Times New Roman" panose="02020603050405020304" pitchFamily="18" charset="0"/>
                <a:cs typeface="Times New Roman" panose="02020603050405020304" pitchFamily="18" charset="0"/>
              </a:rPr>
              <a:t>Causes of </a:t>
            </a:r>
            <a:r>
              <a:rPr lang="en-US" sz="3200" b="0" i="0" u="none" strike="noStrike" baseline="0" dirty="0" err="1">
                <a:latin typeface="Times New Roman" panose="02020603050405020304" pitchFamily="18" charset="0"/>
                <a:cs typeface="Times New Roman" panose="02020603050405020304" pitchFamily="18" charset="0"/>
              </a:rPr>
              <a:t>Hypochlormia</a:t>
            </a:r>
            <a:r>
              <a:rPr lang="en-US" sz="3200" b="0" i="0" u="none" strike="noStrike" baseline="0" dirty="0">
                <a:latin typeface="Times New Roman" panose="02020603050405020304" pitchFamily="18" charset="0"/>
                <a:cs typeface="Times New Roman" panose="02020603050405020304" pitchFamily="18" charset="0"/>
              </a:rPr>
              <a:t> </a:t>
            </a:r>
          </a:p>
          <a:p>
            <a:pPr lvl="1">
              <a:lnSpc>
                <a:spcPct val="10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D</a:t>
            </a:r>
            <a:r>
              <a:rPr lang="en-US" sz="2800" b="0" i="0" u="none" strike="noStrike" baseline="0" dirty="0">
                <a:latin typeface="Times New Roman" panose="02020603050405020304" pitchFamily="18" charset="0"/>
                <a:cs typeface="Times New Roman" panose="02020603050405020304" pitchFamily="18" charset="0"/>
              </a:rPr>
              <a:t>iarrhea, Vomiting, excessive sweating</a:t>
            </a:r>
          </a:p>
          <a:p>
            <a:pPr lvl="1">
              <a:lnSpc>
                <a:spcPct val="10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R</a:t>
            </a:r>
            <a:r>
              <a:rPr lang="en-US" sz="2800" b="0" i="0" u="none" strike="noStrike" baseline="0" dirty="0">
                <a:latin typeface="Times New Roman" panose="02020603050405020304" pitchFamily="18" charset="0"/>
                <a:cs typeface="Times New Roman" panose="02020603050405020304" pitchFamily="18" charset="0"/>
              </a:rPr>
              <a:t>espiratory losses, NG Suction</a:t>
            </a:r>
          </a:p>
          <a:p>
            <a:pPr lvl="1">
              <a:lnSpc>
                <a:spcPct val="100000"/>
              </a:lnSpc>
              <a:buFont typeface="Wingdings" panose="05000000000000000000" pitchFamily="2" charset="2"/>
              <a:buChar char="Ø"/>
            </a:pPr>
            <a:r>
              <a:rPr lang="en-US" sz="2800" b="0" i="0" u="none" strike="noStrike" baseline="0" dirty="0" smtClean="0">
                <a:latin typeface="Times New Roman" panose="02020603050405020304" pitchFamily="18" charset="0"/>
                <a:cs typeface="Times New Roman" panose="02020603050405020304" pitchFamily="18" charset="0"/>
              </a:rPr>
              <a:t>Loop </a:t>
            </a:r>
            <a:r>
              <a:rPr lang="en-US" sz="2800" b="0" i="0" u="none" strike="noStrike" baseline="0" dirty="0">
                <a:latin typeface="Times New Roman" panose="02020603050405020304" pitchFamily="18" charset="0"/>
                <a:cs typeface="Times New Roman" panose="02020603050405020304" pitchFamily="18" charset="0"/>
              </a:rPr>
              <a:t>and, Thiazide Diuretics</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Aldosterone,</a:t>
            </a:r>
            <a:r>
              <a:rPr lang="en-US" sz="280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corticosteroids</a:t>
            </a:r>
          </a:p>
          <a:p>
            <a:pPr lvl="1">
              <a:lnSpc>
                <a:spcPct val="100000"/>
              </a:lnSpc>
              <a:buFont typeface="Wingdings" panose="05000000000000000000" pitchFamily="2" charset="2"/>
              <a:buChar char="Ø"/>
            </a:pPr>
            <a:r>
              <a:rPr lang="en-US" sz="2800" b="0" i="0" u="none" strike="noStrike" baseline="0" dirty="0">
                <a:latin typeface="Times New Roman" panose="02020603050405020304" pitchFamily="18" charset="0"/>
                <a:cs typeface="Times New Roman" panose="02020603050405020304" pitchFamily="18" charset="0"/>
              </a:rPr>
              <a:t> Bicarbonates, Laxatives</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A7FEB939-7B90-CC20-1371-87D4FFA4FA92}"/>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229A691E-C1BF-6192-ED1F-ABBCE7B2857D}"/>
              </a:ext>
            </a:extLst>
          </p:cNvPr>
          <p:cNvSpPr>
            <a:spLocks noGrp="1"/>
          </p:cNvSpPr>
          <p:nvPr>
            <p:ph type="sldNum" sz="quarter" idx="12"/>
          </p:nvPr>
        </p:nvSpPr>
        <p:spPr/>
        <p:txBody>
          <a:bodyPr/>
          <a:lstStyle/>
          <a:p>
            <a:fld id="{CB22993B-EEE5-4EB1-BEE5-4FFFA489F796}" type="slidenum">
              <a:rPr lang="en-US" smtClean="0"/>
              <a:t>110</a:t>
            </a:fld>
            <a:endParaRPr lang="en-US"/>
          </a:p>
        </p:txBody>
      </p:sp>
    </p:spTree>
    <p:extLst>
      <p:ext uri="{BB962C8B-B14F-4D97-AF65-F5344CB8AC3E}">
        <p14:creationId xmlns:p14="http://schemas.microsoft.com/office/powerpoint/2010/main" val="336698522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D5F169-D085-4F63-A659-3A511DB84AF3}"/>
              </a:ext>
            </a:extLst>
          </p:cNvPr>
          <p:cNvSpPr>
            <a:spLocks noGrp="1"/>
          </p:cNvSpPr>
          <p:nvPr>
            <p:ph type="title"/>
          </p:nvPr>
        </p:nvSpPr>
        <p:spPr>
          <a:xfrm>
            <a:off x="838200" y="253219"/>
            <a:ext cx="10515600" cy="675250"/>
          </a:xfrm>
        </p:spPr>
        <p:txBody>
          <a:bodyPr>
            <a:normAutofit/>
          </a:bodyPr>
          <a:lstStyle/>
          <a:p>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Clinical Manifestations </a:t>
            </a:r>
            <a:r>
              <a:rPr kumimoji="0" lang="en-US" sz="3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Hypochlormia</a:t>
            </a:r>
            <a:endParaRPr lang="en-US" dirty="0"/>
          </a:p>
        </p:txBody>
      </p:sp>
      <p:sp>
        <p:nvSpPr>
          <p:cNvPr id="3" name="Content Placeholder 2">
            <a:extLst>
              <a:ext uri="{FF2B5EF4-FFF2-40B4-BE49-F238E27FC236}">
                <a16:creationId xmlns:a16="http://schemas.microsoft.com/office/drawing/2014/main" xmlns="" id="{1B304498-8BEC-471B-9F7C-451C326B9870}"/>
              </a:ext>
            </a:extLst>
          </p:cNvPr>
          <p:cNvSpPr>
            <a:spLocks noGrp="1"/>
          </p:cNvSpPr>
          <p:nvPr>
            <p:ph idx="1"/>
          </p:nvPr>
        </p:nvSpPr>
        <p:spPr>
          <a:xfrm>
            <a:off x="838200" y="1083212"/>
            <a:ext cx="10515600" cy="5261317"/>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Agitation, irritability</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Hyperactive </a:t>
            </a:r>
            <a:r>
              <a:rPr lang="en-US" sz="2800" b="0" i="0" u="none" strike="noStrike" baseline="0" dirty="0" smtClean="0">
                <a:latin typeface="Times New Roman" panose="02020603050405020304" pitchFamily="18" charset="0"/>
                <a:cs typeface="Times New Roman" panose="02020603050405020304" pitchFamily="18" charset="0"/>
              </a:rPr>
              <a:t>deep tendon reflex (DTRs), </a:t>
            </a:r>
            <a:r>
              <a:rPr lang="en-US" sz="2800" b="0" i="0" u="none" strike="noStrike" baseline="0" dirty="0">
                <a:latin typeface="Times New Roman" panose="02020603050405020304" pitchFamily="18" charset="0"/>
                <a:cs typeface="Times New Roman" panose="02020603050405020304" pitchFamily="18" charset="0"/>
              </a:rPr>
              <a:t>tetany</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Muscle cramps, hypertonicity</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Shallow, slow respirations</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Seizures, coma</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Arrhythmias</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94A2823C-5A94-D960-D344-F9F5037968C0}"/>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BD6EAA5F-99C6-2222-DAF0-AFD0A61ED2B2}"/>
              </a:ext>
            </a:extLst>
          </p:cNvPr>
          <p:cNvSpPr>
            <a:spLocks noGrp="1"/>
          </p:cNvSpPr>
          <p:nvPr>
            <p:ph type="sldNum" sz="quarter" idx="12"/>
          </p:nvPr>
        </p:nvSpPr>
        <p:spPr/>
        <p:txBody>
          <a:bodyPr/>
          <a:lstStyle/>
          <a:p>
            <a:fld id="{CB22993B-EEE5-4EB1-BEE5-4FFFA489F796}" type="slidenum">
              <a:rPr lang="en-US" smtClean="0"/>
              <a:t>111</a:t>
            </a:fld>
            <a:endParaRPr lang="en-US"/>
          </a:p>
        </p:txBody>
      </p:sp>
    </p:spTree>
    <p:extLst>
      <p:ext uri="{BB962C8B-B14F-4D97-AF65-F5344CB8AC3E}">
        <p14:creationId xmlns:p14="http://schemas.microsoft.com/office/powerpoint/2010/main" val="115779077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DC6401-E52B-40A8-888B-93CB715CD968}"/>
              </a:ext>
            </a:extLst>
          </p:cNvPr>
          <p:cNvSpPr>
            <a:spLocks noGrp="1"/>
          </p:cNvSpPr>
          <p:nvPr>
            <p:ph type="title"/>
          </p:nvPr>
        </p:nvSpPr>
        <p:spPr>
          <a:xfrm>
            <a:off x="838200" y="365126"/>
            <a:ext cx="10515600" cy="774358"/>
          </a:xfrm>
        </p:spPr>
        <p:txBody>
          <a:bodyPr>
            <a:normAutofit/>
          </a:bodyPr>
          <a:lstStyle/>
          <a:p>
            <a:r>
              <a:rPr lang="en-US" sz="3600" dirty="0">
                <a:latin typeface="Times New Roman" panose="02020603050405020304" pitchFamily="18" charset="0"/>
                <a:cs typeface="Times New Roman" panose="02020603050405020304" pitchFamily="18" charset="0"/>
              </a:rPr>
              <a:t>Treatment of hypochloremia</a:t>
            </a:r>
          </a:p>
        </p:txBody>
      </p:sp>
      <p:sp>
        <p:nvSpPr>
          <p:cNvPr id="3" name="Content Placeholder 2">
            <a:extLst>
              <a:ext uri="{FF2B5EF4-FFF2-40B4-BE49-F238E27FC236}">
                <a16:creationId xmlns:a16="http://schemas.microsoft.com/office/drawing/2014/main" xmlns="" id="{178D9CBD-9F15-4535-8DE2-ECA0F7B97517}"/>
              </a:ext>
            </a:extLst>
          </p:cNvPr>
          <p:cNvSpPr>
            <a:spLocks noGrp="1"/>
          </p:cNvSpPr>
          <p:nvPr>
            <p:ph idx="1"/>
          </p:nvPr>
        </p:nvSpPr>
        <p:spPr>
          <a:xfrm>
            <a:off x="838200" y="1392702"/>
            <a:ext cx="10515600" cy="4784261"/>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Treat underlying cause</a:t>
            </a:r>
          </a:p>
          <a:p>
            <a:pPr algn="l"/>
            <a:r>
              <a:rPr lang="en-US" sz="2800" b="0" i="0" u="none" strike="noStrike" baseline="0" dirty="0">
                <a:latin typeface="Times New Roman" panose="02020603050405020304" pitchFamily="18" charset="0"/>
                <a:cs typeface="Times New Roman" panose="02020603050405020304" pitchFamily="18" charset="0"/>
              </a:rPr>
              <a:t>Oral or IV replacement in a </a:t>
            </a:r>
            <a:r>
              <a:rPr lang="en-US" sz="2800" b="1" i="0" u="none" strike="noStrike" baseline="0" dirty="0">
                <a:latin typeface="Times New Roman" panose="02020603050405020304" pitchFamily="18" charset="0"/>
                <a:cs typeface="Times New Roman" panose="02020603050405020304" pitchFamily="18" charset="0"/>
              </a:rPr>
              <a:t>sodium chloride </a:t>
            </a:r>
            <a:r>
              <a:rPr lang="en-US" sz="2800" b="0" i="0" u="none" strike="noStrike" baseline="0" dirty="0">
                <a:latin typeface="Times New Roman" panose="02020603050405020304" pitchFamily="18" charset="0"/>
                <a:cs typeface="Times New Roman" panose="02020603050405020304" pitchFamily="18" charset="0"/>
              </a:rPr>
              <a:t>or </a:t>
            </a:r>
            <a:r>
              <a:rPr lang="en-US" sz="2800" b="1" i="0" u="none" strike="noStrike" baseline="0" dirty="0">
                <a:latin typeface="Times New Roman" panose="02020603050405020304" pitchFamily="18" charset="0"/>
                <a:cs typeface="Times New Roman" panose="02020603050405020304" pitchFamily="18" charset="0"/>
              </a:rPr>
              <a:t>potassium chloride </a:t>
            </a:r>
            <a:r>
              <a:rPr lang="en-US" sz="2800" b="0" i="0" u="none" strike="noStrike" baseline="0" dirty="0">
                <a:latin typeface="Times New Roman" panose="02020603050405020304" pitchFamily="18" charset="0"/>
                <a:cs typeface="Times New Roman" panose="02020603050405020304" pitchFamily="18" charset="0"/>
              </a:rPr>
              <a:t>solution.</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8264279F-1056-5DD9-A342-2B0E7A5A470B}"/>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73502BD7-69A8-1C68-58F9-9DE217374127}"/>
              </a:ext>
            </a:extLst>
          </p:cNvPr>
          <p:cNvSpPr>
            <a:spLocks noGrp="1"/>
          </p:cNvSpPr>
          <p:nvPr>
            <p:ph type="sldNum" sz="quarter" idx="12"/>
          </p:nvPr>
        </p:nvSpPr>
        <p:spPr/>
        <p:txBody>
          <a:bodyPr/>
          <a:lstStyle/>
          <a:p>
            <a:fld id="{CB22993B-EEE5-4EB1-BEE5-4FFFA489F796}" type="slidenum">
              <a:rPr lang="en-US" smtClean="0"/>
              <a:t>112</a:t>
            </a:fld>
            <a:endParaRPr lang="en-US"/>
          </a:p>
        </p:txBody>
      </p:sp>
    </p:spTree>
    <p:extLst>
      <p:ext uri="{BB962C8B-B14F-4D97-AF65-F5344CB8AC3E}">
        <p14:creationId xmlns:p14="http://schemas.microsoft.com/office/powerpoint/2010/main" val="198729234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61CBEA-0AF3-4853-87DC-59A417BC7AE0}"/>
              </a:ext>
            </a:extLst>
          </p:cNvPr>
          <p:cNvSpPr>
            <a:spLocks noGrp="1"/>
          </p:cNvSpPr>
          <p:nvPr>
            <p:ph type="title"/>
          </p:nvPr>
        </p:nvSpPr>
        <p:spPr>
          <a:xfrm>
            <a:off x="838200" y="365125"/>
            <a:ext cx="10515600" cy="619613"/>
          </a:xfrm>
        </p:spPr>
        <p:txBody>
          <a:bodyPr>
            <a:normAutofit/>
          </a:bodyPr>
          <a:lstStyle/>
          <a:p>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Anesthetic Considerations</a:t>
            </a:r>
            <a:endParaRPr lang="en-US" dirty="0"/>
          </a:p>
        </p:txBody>
      </p:sp>
      <p:sp>
        <p:nvSpPr>
          <p:cNvPr id="3" name="Content Placeholder 2">
            <a:extLst>
              <a:ext uri="{FF2B5EF4-FFF2-40B4-BE49-F238E27FC236}">
                <a16:creationId xmlns:a16="http://schemas.microsoft.com/office/drawing/2014/main" xmlns="" id="{0C3D6410-6925-459E-80E5-CDFF7E07165C}"/>
              </a:ext>
            </a:extLst>
          </p:cNvPr>
          <p:cNvSpPr>
            <a:spLocks noGrp="1"/>
          </p:cNvSpPr>
          <p:nvPr>
            <p:ph idx="1"/>
          </p:nvPr>
        </p:nvSpPr>
        <p:spPr>
          <a:xfrm>
            <a:off x="838200" y="1167618"/>
            <a:ext cx="10515600" cy="5009345"/>
          </a:xfrm>
        </p:spPr>
        <p:txBody>
          <a:bodyPr/>
          <a:lstStyle/>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Hydration status and electrolyte levels must be assessed.</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Iv administration of normal (0.9 sodium chloride)</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Ammonium chloride (an acidifying agent)–for treating the metabolic alkalosis</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Normal saline administration for those stay on enema preparation</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C21F8639-57EF-8659-3642-B043A8132633}"/>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95AF0EAB-D6A1-3343-B30D-B53EFEF35375}"/>
              </a:ext>
            </a:extLst>
          </p:cNvPr>
          <p:cNvSpPr>
            <a:spLocks noGrp="1"/>
          </p:cNvSpPr>
          <p:nvPr>
            <p:ph type="sldNum" sz="quarter" idx="12"/>
          </p:nvPr>
        </p:nvSpPr>
        <p:spPr/>
        <p:txBody>
          <a:bodyPr/>
          <a:lstStyle/>
          <a:p>
            <a:fld id="{CB22993B-EEE5-4EB1-BEE5-4FFFA489F796}" type="slidenum">
              <a:rPr lang="en-US" smtClean="0"/>
              <a:t>113</a:t>
            </a:fld>
            <a:endParaRPr lang="en-US"/>
          </a:p>
        </p:txBody>
      </p:sp>
    </p:spTree>
    <p:extLst>
      <p:ext uri="{BB962C8B-B14F-4D97-AF65-F5344CB8AC3E}">
        <p14:creationId xmlns:p14="http://schemas.microsoft.com/office/powerpoint/2010/main" val="224484725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245E05-036D-4F0A-8F48-6483C236B033}"/>
              </a:ext>
            </a:extLst>
          </p:cNvPr>
          <p:cNvSpPr>
            <a:spLocks noGrp="1"/>
          </p:cNvSpPr>
          <p:nvPr>
            <p:ph type="title"/>
          </p:nvPr>
        </p:nvSpPr>
        <p:spPr>
          <a:xfrm>
            <a:off x="838200" y="365125"/>
            <a:ext cx="10515600" cy="647749"/>
          </a:xfrm>
        </p:spPr>
        <p:txBody>
          <a:bodyPr>
            <a:normAutofit/>
          </a:bodyPr>
          <a:lstStyle/>
          <a:p>
            <a:r>
              <a:rPr lang="en-US" sz="3600" b="0" i="0" u="none" strike="noStrike" baseline="0" dirty="0">
                <a:latin typeface="Times New Roman" panose="02020603050405020304" pitchFamily="18" charset="0"/>
                <a:cs typeface="Times New Roman" panose="02020603050405020304" pitchFamily="18" charset="0"/>
              </a:rPr>
              <a:t>Hyperchloremia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6C29E63-5F88-41D4-9C24-FB4C930723C4}"/>
              </a:ext>
            </a:extLst>
          </p:cNvPr>
          <p:cNvSpPr>
            <a:spLocks noGrp="1"/>
          </p:cNvSpPr>
          <p:nvPr>
            <p:ph idx="1"/>
          </p:nvPr>
        </p:nvSpPr>
        <p:spPr>
          <a:xfrm>
            <a:off x="838200" y="1252025"/>
            <a:ext cx="10515600" cy="4924938"/>
          </a:xfrm>
        </p:spPr>
        <p:txBody>
          <a:bodyPr/>
          <a:lstStyle/>
          <a:p>
            <a:pPr algn="l"/>
            <a:r>
              <a:rPr lang="pt-BR" sz="2800" b="0" i="0" u="none" strike="noStrike" baseline="0" dirty="0">
                <a:latin typeface="Times New Roman" panose="02020603050405020304" pitchFamily="18" charset="0"/>
                <a:cs typeface="Times New Roman" panose="02020603050405020304" pitchFamily="18" charset="0"/>
              </a:rPr>
              <a:t>Serum chloride &gt; 106 mEq/L </a:t>
            </a:r>
          </a:p>
          <a:p>
            <a:pPr algn="l"/>
            <a:r>
              <a:rPr lang="en-US" sz="2800" b="0" i="0" u="none" strike="noStrike" baseline="0" dirty="0">
                <a:latin typeface="Times New Roman" panose="02020603050405020304" pitchFamily="18" charset="0"/>
                <a:cs typeface="Times New Roman" panose="02020603050405020304" pitchFamily="18" charset="0"/>
              </a:rPr>
              <a:t>Rarely occurs alone</a:t>
            </a:r>
          </a:p>
          <a:p>
            <a:pPr algn="l"/>
            <a:r>
              <a:rPr lang="en-US" sz="2800" b="0" i="0" u="none" strike="noStrike" baseline="0" dirty="0">
                <a:latin typeface="Times New Roman" panose="02020603050405020304" pitchFamily="18" charset="0"/>
                <a:cs typeface="Times New Roman" panose="02020603050405020304" pitchFamily="18" charset="0"/>
              </a:rPr>
              <a:t>Caused by dehydration, renal failure, respiratory alkalosis, salicylate toxicity, </a:t>
            </a:r>
            <a:r>
              <a:rPr lang="en-US" sz="2800" b="0" i="0" u="none" strike="noStrike" baseline="0" dirty="0" err="1">
                <a:latin typeface="Times New Roman" panose="02020603050405020304" pitchFamily="18" charset="0"/>
                <a:cs typeface="Times New Roman" panose="02020603050405020304" pitchFamily="18" charset="0"/>
              </a:rPr>
              <a:t>hyperpara-thyroidism</a:t>
            </a:r>
            <a:r>
              <a:rPr lang="en-US" sz="2800" b="0" i="0" u="none" strike="noStrike" baseline="0" dirty="0">
                <a:latin typeface="Times New Roman" panose="02020603050405020304" pitchFamily="18" charset="0"/>
                <a:cs typeface="Times New Roman" panose="02020603050405020304" pitchFamily="18" charset="0"/>
              </a:rPr>
              <a:t>, hyperaldosteronism, hypernatremia</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C0DF307B-E7F8-530F-348E-8A5697EE90EC}"/>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7DA467FF-B35E-BE2F-B166-3C1006C86718}"/>
              </a:ext>
            </a:extLst>
          </p:cNvPr>
          <p:cNvSpPr>
            <a:spLocks noGrp="1"/>
          </p:cNvSpPr>
          <p:nvPr>
            <p:ph type="sldNum" sz="quarter" idx="12"/>
          </p:nvPr>
        </p:nvSpPr>
        <p:spPr/>
        <p:txBody>
          <a:bodyPr/>
          <a:lstStyle/>
          <a:p>
            <a:fld id="{CB22993B-EEE5-4EB1-BEE5-4FFFA489F796}" type="slidenum">
              <a:rPr lang="en-US" smtClean="0"/>
              <a:t>114</a:t>
            </a:fld>
            <a:endParaRPr lang="en-US"/>
          </a:p>
        </p:txBody>
      </p:sp>
    </p:spTree>
    <p:extLst>
      <p:ext uri="{BB962C8B-B14F-4D97-AF65-F5344CB8AC3E}">
        <p14:creationId xmlns:p14="http://schemas.microsoft.com/office/powerpoint/2010/main" val="168421813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9E4E58-EDC6-4EDC-BA39-330D9AD46A8B}"/>
              </a:ext>
            </a:extLst>
          </p:cNvPr>
          <p:cNvSpPr>
            <a:spLocks noGrp="1"/>
          </p:cNvSpPr>
          <p:nvPr>
            <p:ph type="title"/>
          </p:nvPr>
        </p:nvSpPr>
        <p:spPr>
          <a:xfrm>
            <a:off x="838200" y="365126"/>
            <a:ext cx="10515600" cy="675884"/>
          </a:xfrm>
        </p:spPr>
        <p:txBody>
          <a:bodyPr>
            <a:normAutofit/>
          </a:bodyPr>
          <a:lstStyle/>
          <a:p>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Clinical Manifestations </a:t>
            </a:r>
            <a:r>
              <a:rPr kumimoji="0" lang="en-US" sz="3200" b="0" i="0" u="none" strike="noStrike" kern="1200" cap="none" spc="0" normalizeH="0" baseline="0" noProof="0" dirty="0" err="1">
                <a:ln>
                  <a:noFill/>
                </a:ln>
                <a:solidFill>
                  <a:prstClr val="black"/>
                </a:solidFill>
                <a:effectLst/>
                <a:uLnTx/>
                <a:uFillTx/>
                <a:latin typeface="Times New Roman" panose="02020603050405020304" pitchFamily="18" charset="0"/>
                <a:ea typeface="+mj-ea"/>
                <a:cs typeface="Times New Roman" panose="02020603050405020304" pitchFamily="18" charset="0"/>
              </a:rPr>
              <a:t>Hyperchlormia</a:t>
            </a:r>
            <a:endParaRPr lang="en-US" dirty="0"/>
          </a:p>
        </p:txBody>
      </p:sp>
      <p:sp>
        <p:nvSpPr>
          <p:cNvPr id="3" name="Content Placeholder 2">
            <a:extLst>
              <a:ext uri="{FF2B5EF4-FFF2-40B4-BE49-F238E27FC236}">
                <a16:creationId xmlns:a16="http://schemas.microsoft.com/office/drawing/2014/main" xmlns="" id="{41B67533-39B5-4502-AD08-0DE26AF54CE7}"/>
              </a:ext>
            </a:extLst>
          </p:cNvPr>
          <p:cNvSpPr>
            <a:spLocks noGrp="1"/>
          </p:cNvSpPr>
          <p:nvPr>
            <p:ph idx="1"/>
          </p:nvPr>
        </p:nvSpPr>
        <p:spPr>
          <a:xfrm>
            <a:off x="838200" y="1308295"/>
            <a:ext cx="10515600" cy="4868668"/>
          </a:xfrm>
        </p:spPr>
        <p:txBody>
          <a:bodyPr/>
          <a:lstStyle/>
          <a:p>
            <a:pPr marL="0" indent="0" algn="l">
              <a:buNone/>
            </a:pPr>
            <a:r>
              <a:rPr lang="en-US" sz="3200" b="0" i="0" u="none" strike="noStrike" baseline="0" dirty="0">
                <a:latin typeface="Roboto-Regular"/>
              </a:rPr>
              <a:t>  </a:t>
            </a:r>
            <a:r>
              <a:rPr lang="en-US" sz="3200" b="0" i="0" u="none" strike="noStrike" baseline="0" dirty="0">
                <a:latin typeface="Times New Roman" panose="02020603050405020304" pitchFamily="18" charset="0"/>
                <a:cs typeface="Times New Roman" panose="02020603050405020304" pitchFamily="18" charset="0"/>
              </a:rPr>
              <a:t>Metabolic Acidosis</a:t>
            </a:r>
            <a:endParaRPr lang="en-US" sz="2800" b="0" i="0" u="none" strike="noStrike" baseline="0" dirty="0">
              <a:latin typeface="Times New Roman" panose="02020603050405020304" pitchFamily="18" charset="0"/>
              <a:cs typeface="Times New Roman" panose="02020603050405020304" pitchFamily="18" charset="0"/>
            </a:endParaRPr>
          </a:p>
          <a:p>
            <a:pPr lvl="1">
              <a:lnSpc>
                <a:spcPct val="100000"/>
              </a:lnSpc>
            </a:pPr>
            <a:r>
              <a:rPr lang="en-US" sz="2800" b="0" i="0" u="none" strike="noStrike" baseline="0" dirty="0" err="1">
                <a:latin typeface="Times New Roman" panose="02020603050405020304" pitchFamily="18" charset="0"/>
                <a:cs typeface="Times New Roman" panose="02020603050405020304" pitchFamily="18" charset="0"/>
              </a:rPr>
              <a:t>Kussmaul’s</a:t>
            </a:r>
            <a:r>
              <a:rPr lang="en-US" sz="2800" b="0" i="0" u="none" strike="noStrike" baseline="0" dirty="0">
                <a:latin typeface="Times New Roman" panose="02020603050405020304" pitchFamily="18" charset="0"/>
                <a:cs typeface="Times New Roman" panose="02020603050405020304" pitchFamily="18" charset="0"/>
              </a:rPr>
              <a:t> respirations</a:t>
            </a:r>
          </a:p>
          <a:p>
            <a:pPr lvl="1">
              <a:lnSpc>
                <a:spcPct val="100000"/>
              </a:lnSpc>
            </a:pPr>
            <a:r>
              <a:rPr lang="en-US" sz="2800" b="0" i="0" u="none" strike="noStrike" baseline="0" dirty="0">
                <a:latin typeface="Times New Roman" panose="02020603050405020304" pitchFamily="18" charset="0"/>
                <a:cs typeface="Times New Roman" panose="02020603050405020304" pitchFamily="18" charset="0"/>
              </a:rPr>
              <a:t>Weakness</a:t>
            </a:r>
          </a:p>
          <a:p>
            <a:pPr algn="l"/>
            <a:r>
              <a:rPr lang="en-US" sz="3200" b="0" i="0" u="none" strike="noStrike" baseline="0" dirty="0">
                <a:latin typeface="Times New Roman" panose="02020603050405020304" pitchFamily="18" charset="0"/>
                <a:cs typeface="Times New Roman" panose="02020603050405020304" pitchFamily="18" charset="0"/>
              </a:rPr>
              <a:t>Hypernatremia</a:t>
            </a:r>
          </a:p>
          <a:p>
            <a:pPr lvl="1"/>
            <a:r>
              <a:rPr lang="en-US" sz="2800" b="0" i="0" u="none" strike="noStrike" baseline="0" dirty="0">
                <a:latin typeface="Times New Roman" panose="02020603050405020304" pitchFamily="18" charset="0"/>
                <a:cs typeface="Times New Roman" panose="02020603050405020304" pitchFamily="18" charset="0"/>
              </a:rPr>
              <a:t>Agitation</a:t>
            </a:r>
          </a:p>
          <a:p>
            <a:pPr lvl="1"/>
            <a:r>
              <a:rPr lang="en-US" sz="2800" b="0" i="0" u="none" strike="noStrike" baseline="0" dirty="0">
                <a:latin typeface="Times New Roman" panose="02020603050405020304" pitchFamily="18" charset="0"/>
                <a:cs typeface="Times New Roman" panose="02020603050405020304" pitchFamily="18" charset="0"/>
              </a:rPr>
              <a:t>Tachycardia, dyspnea,</a:t>
            </a:r>
          </a:p>
          <a:p>
            <a:pPr lvl="1"/>
            <a:r>
              <a:rPr lang="en-US" sz="2800" b="0" i="0" u="none" strike="noStrike" baseline="0" dirty="0">
                <a:latin typeface="Times New Roman" panose="02020603050405020304" pitchFamily="18" charset="0"/>
                <a:cs typeface="Times New Roman" panose="02020603050405020304" pitchFamily="18" charset="0"/>
              </a:rPr>
              <a:t>Tachypnea, HTN</a:t>
            </a:r>
          </a:p>
          <a:p>
            <a:pPr lvl="1"/>
            <a:r>
              <a:rPr lang="en-US" sz="2800" b="0" i="0" u="none" strike="noStrike" baseline="0" dirty="0">
                <a:latin typeface="Times New Roman" panose="02020603050405020304" pitchFamily="18" charset="0"/>
                <a:cs typeface="Times New Roman" panose="02020603050405020304" pitchFamily="18" charset="0"/>
              </a:rPr>
              <a:t>Edema</a:t>
            </a:r>
            <a:endParaRPr lang="en-US"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337C865E-DCA1-E915-B613-83122E2A014F}"/>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DA71B133-EDD0-7738-A114-711D718548A6}"/>
              </a:ext>
            </a:extLst>
          </p:cNvPr>
          <p:cNvSpPr>
            <a:spLocks noGrp="1"/>
          </p:cNvSpPr>
          <p:nvPr>
            <p:ph type="sldNum" sz="quarter" idx="12"/>
          </p:nvPr>
        </p:nvSpPr>
        <p:spPr/>
        <p:txBody>
          <a:bodyPr/>
          <a:lstStyle/>
          <a:p>
            <a:fld id="{CB22993B-EEE5-4EB1-BEE5-4FFFA489F796}" type="slidenum">
              <a:rPr lang="en-US" smtClean="0"/>
              <a:t>115</a:t>
            </a:fld>
            <a:endParaRPr lang="en-US"/>
          </a:p>
        </p:txBody>
      </p:sp>
    </p:spTree>
    <p:extLst>
      <p:ext uri="{BB962C8B-B14F-4D97-AF65-F5344CB8AC3E}">
        <p14:creationId xmlns:p14="http://schemas.microsoft.com/office/powerpoint/2010/main" val="408714581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247C61-1866-4337-8940-36E961534E85}"/>
              </a:ext>
            </a:extLst>
          </p:cNvPr>
          <p:cNvSpPr>
            <a:spLocks noGrp="1"/>
          </p:cNvSpPr>
          <p:nvPr>
            <p:ph type="title"/>
          </p:nvPr>
        </p:nvSpPr>
        <p:spPr>
          <a:xfrm>
            <a:off x="838200" y="365126"/>
            <a:ext cx="10515600" cy="591478"/>
          </a:xfrm>
        </p:spPr>
        <p:txBody>
          <a:bodyPr>
            <a:normAutofit/>
          </a:bodyPr>
          <a:lstStyle/>
          <a:p>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Treatment of hyperchloremia</a:t>
            </a:r>
            <a:endParaRPr lang="en-US" dirty="0"/>
          </a:p>
        </p:txBody>
      </p:sp>
      <p:sp>
        <p:nvSpPr>
          <p:cNvPr id="3" name="Content Placeholder 2">
            <a:extLst>
              <a:ext uri="{FF2B5EF4-FFF2-40B4-BE49-F238E27FC236}">
                <a16:creationId xmlns:a16="http://schemas.microsoft.com/office/drawing/2014/main" xmlns="" id="{381F1B86-BCFC-44A5-BC58-1C47F9128050}"/>
              </a:ext>
            </a:extLst>
          </p:cNvPr>
          <p:cNvSpPr>
            <a:spLocks noGrp="1"/>
          </p:cNvSpPr>
          <p:nvPr>
            <p:ph idx="1"/>
          </p:nvPr>
        </p:nvSpPr>
        <p:spPr>
          <a:xfrm>
            <a:off x="838200" y="1167618"/>
            <a:ext cx="10515600" cy="5009345"/>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Correct underlying cause</a:t>
            </a:r>
          </a:p>
          <a:p>
            <a:pPr algn="l"/>
            <a:r>
              <a:rPr lang="en-US" sz="2800" b="0" i="0" u="none" strike="noStrike" baseline="0" dirty="0">
                <a:latin typeface="Times New Roman" panose="02020603050405020304" pitchFamily="18" charset="0"/>
                <a:cs typeface="Times New Roman" panose="02020603050405020304" pitchFamily="18" charset="0"/>
              </a:rPr>
              <a:t>Restore fluid, electrolyte and acid-base balance</a:t>
            </a:r>
          </a:p>
          <a:p>
            <a:pPr algn="l"/>
            <a:r>
              <a:rPr lang="en-US" sz="2800" b="0" i="0" u="none" strike="noStrike" baseline="0" dirty="0">
                <a:latin typeface="Times New Roman" panose="02020603050405020304" pitchFamily="18" charset="0"/>
                <a:cs typeface="Times New Roman" panose="02020603050405020304" pitchFamily="18" charset="0"/>
              </a:rPr>
              <a:t>IV Lactated Ringer’s solution to correct acidosis</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E5B717CF-0A82-2EC8-C360-6F231430E5BB}"/>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DCC00EB3-85F4-7F12-7729-71D18A655F72}"/>
              </a:ext>
            </a:extLst>
          </p:cNvPr>
          <p:cNvSpPr>
            <a:spLocks noGrp="1"/>
          </p:cNvSpPr>
          <p:nvPr>
            <p:ph type="sldNum" sz="quarter" idx="12"/>
          </p:nvPr>
        </p:nvSpPr>
        <p:spPr/>
        <p:txBody>
          <a:bodyPr/>
          <a:lstStyle/>
          <a:p>
            <a:fld id="{CB22993B-EEE5-4EB1-BEE5-4FFFA489F796}" type="slidenum">
              <a:rPr lang="en-US" smtClean="0"/>
              <a:t>116</a:t>
            </a:fld>
            <a:endParaRPr lang="en-US"/>
          </a:p>
        </p:txBody>
      </p:sp>
    </p:spTree>
    <p:extLst>
      <p:ext uri="{BB962C8B-B14F-4D97-AF65-F5344CB8AC3E}">
        <p14:creationId xmlns:p14="http://schemas.microsoft.com/office/powerpoint/2010/main" val="395438273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61C2B5-072B-4F07-B097-9A077B1CDB18}"/>
              </a:ext>
            </a:extLst>
          </p:cNvPr>
          <p:cNvSpPr>
            <a:spLocks noGrp="1"/>
          </p:cNvSpPr>
          <p:nvPr>
            <p:ph type="title"/>
          </p:nvPr>
        </p:nvSpPr>
        <p:spPr>
          <a:xfrm>
            <a:off x="838200" y="365126"/>
            <a:ext cx="10515600" cy="675884"/>
          </a:xfrm>
        </p:spPr>
        <p:txBody>
          <a:bodyPr>
            <a:normAutofit/>
          </a:bodyPr>
          <a:lstStyle/>
          <a:p>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Anesthetic Considerations</a:t>
            </a:r>
            <a:endParaRPr lang="en-US" dirty="0"/>
          </a:p>
        </p:txBody>
      </p:sp>
      <p:sp>
        <p:nvSpPr>
          <p:cNvPr id="3" name="Content Placeholder 2">
            <a:extLst>
              <a:ext uri="{FF2B5EF4-FFF2-40B4-BE49-F238E27FC236}">
                <a16:creationId xmlns:a16="http://schemas.microsoft.com/office/drawing/2014/main" xmlns="" id="{C0C53A88-082C-4AF5-9145-AB15010AEB33}"/>
              </a:ext>
            </a:extLst>
          </p:cNvPr>
          <p:cNvSpPr>
            <a:spLocks noGrp="1"/>
          </p:cNvSpPr>
          <p:nvPr>
            <p:ph idx="1"/>
          </p:nvPr>
        </p:nvSpPr>
        <p:spPr>
          <a:xfrm>
            <a:off x="838200" y="1280160"/>
            <a:ext cx="10515600" cy="4896803"/>
          </a:xfrm>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Metabolic acidosis ( an increment in minute ventilation of up to 4- to- 8-fold may occur in persons with respiratory compensation).</a:t>
            </a:r>
          </a:p>
          <a:p>
            <a:pPr algn="l"/>
            <a:r>
              <a:rPr lang="en-US" sz="2800" b="0" i="0" u="none" strike="noStrike" baseline="0" dirty="0">
                <a:latin typeface="Times New Roman" panose="02020603050405020304" pitchFamily="18" charset="0"/>
                <a:cs typeface="Times New Roman" panose="02020603050405020304" pitchFamily="18" charset="0"/>
              </a:rPr>
              <a:t>Persistent tachypnea or hyperpnea (affecting the depth more than the rate of ventilation) which implies the patient may develop </a:t>
            </a:r>
            <a:r>
              <a:rPr lang="en-US" sz="2800" b="0" i="0" u="none" strike="noStrike" baseline="0" dirty="0" err="1">
                <a:latin typeface="Times New Roman" panose="02020603050405020304" pitchFamily="18" charset="0"/>
                <a:cs typeface="Times New Roman" panose="02020603050405020304" pitchFamily="18" charset="0"/>
              </a:rPr>
              <a:t>atlectasis</a:t>
            </a:r>
            <a:r>
              <a:rPr lang="en-US" sz="2800" b="0" i="0" u="none" strike="noStrike" baseline="0" dirty="0">
                <a:latin typeface="Times New Roman" panose="02020603050405020304" pitchFamily="18" charset="0"/>
                <a:cs typeface="Times New Roman" panose="02020603050405020304" pitchFamily="18" charset="0"/>
              </a:rPr>
              <a:t>.</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Direct impairment of myocardial contraction (especially at a </a:t>
            </a:r>
            <a:r>
              <a:rPr lang="en-US" sz="2800" b="0" i="0" u="none" strike="noStrike" baseline="0" dirty="0" err="1">
                <a:latin typeface="Times New Roman" panose="02020603050405020304" pitchFamily="18" charset="0"/>
                <a:cs typeface="Times New Roman" panose="02020603050405020304" pitchFamily="18" charset="0"/>
              </a:rPr>
              <a:t>ph</a:t>
            </a:r>
            <a:r>
              <a:rPr lang="en-US" sz="2800" b="0" i="0" u="none" strike="noStrike" baseline="0" dirty="0">
                <a:latin typeface="Times New Roman" panose="02020603050405020304" pitchFamily="18" charset="0"/>
                <a:cs typeface="Times New Roman" panose="02020603050405020304" pitchFamily="18" charset="0"/>
              </a:rPr>
              <a:t> &lt; 7.2), tachycardia, and increased risk of ventricular fibrillation or heart failure with pulmonary edema</a:t>
            </a:r>
          </a:p>
          <a:p>
            <a:pPr algn="l">
              <a:lnSpc>
                <a:spcPct val="100000"/>
              </a:lnSpc>
            </a:pPr>
            <a:r>
              <a:rPr lang="en-US" sz="2800" b="0" i="0" u="none" strike="noStrike" baseline="0" dirty="0">
                <a:latin typeface="Times New Roman" panose="02020603050405020304" pitchFamily="18" charset="0"/>
                <a:cs typeface="Times New Roman" panose="02020603050405020304" pitchFamily="18" charset="0"/>
              </a:rPr>
              <a:t>Avoid chloride containing solution</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E3E112F3-618F-F6AC-CE60-E904D6B01820}"/>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E45E3849-6C02-0B40-8220-A79D2303A89F}"/>
              </a:ext>
            </a:extLst>
          </p:cNvPr>
          <p:cNvSpPr>
            <a:spLocks noGrp="1"/>
          </p:cNvSpPr>
          <p:nvPr>
            <p:ph type="sldNum" sz="quarter" idx="12"/>
          </p:nvPr>
        </p:nvSpPr>
        <p:spPr/>
        <p:txBody>
          <a:bodyPr/>
          <a:lstStyle/>
          <a:p>
            <a:fld id="{CB22993B-EEE5-4EB1-BEE5-4FFFA489F796}" type="slidenum">
              <a:rPr lang="en-US" smtClean="0"/>
              <a:t>117</a:t>
            </a:fld>
            <a:endParaRPr lang="en-US"/>
          </a:p>
        </p:txBody>
      </p:sp>
    </p:spTree>
    <p:extLst>
      <p:ext uri="{BB962C8B-B14F-4D97-AF65-F5344CB8AC3E}">
        <p14:creationId xmlns:p14="http://schemas.microsoft.com/office/powerpoint/2010/main" val="307266009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DB195A-4B06-4C03-985D-171710417A3D}"/>
              </a:ext>
            </a:extLst>
          </p:cNvPr>
          <p:cNvSpPr>
            <a:spLocks noGrp="1"/>
          </p:cNvSpPr>
          <p:nvPr>
            <p:ph type="ctrTitle"/>
          </p:nvPr>
        </p:nvSpPr>
        <p:spPr/>
        <p:txBody>
          <a:bodyPr/>
          <a:lstStyle/>
          <a:p>
            <a:r>
              <a:rPr lang="en-US" dirty="0">
                <a:solidFill>
                  <a:schemeClr val="accent6"/>
                </a:solidFill>
                <a:latin typeface="Times New Roman" panose="02020603050405020304" pitchFamily="18" charset="0"/>
                <a:cs typeface="Times New Roman" panose="02020603050405020304" pitchFamily="18" charset="0"/>
              </a:rPr>
              <a:t>Thank you!</a:t>
            </a:r>
          </a:p>
        </p:txBody>
      </p:sp>
      <p:sp>
        <p:nvSpPr>
          <p:cNvPr id="3" name="Subtitle 2">
            <a:extLst>
              <a:ext uri="{FF2B5EF4-FFF2-40B4-BE49-F238E27FC236}">
                <a16:creationId xmlns:a16="http://schemas.microsoft.com/office/drawing/2014/main" xmlns="" id="{4EE7EF8E-4ED6-481F-86EC-6761983E85B4}"/>
              </a:ext>
            </a:extLst>
          </p:cNvPr>
          <p:cNvSpPr>
            <a:spLocks noGrp="1"/>
          </p:cNvSpPr>
          <p:nvPr>
            <p:ph type="subTitle" idx="1"/>
          </p:nvPr>
        </p:nvSpPr>
        <p:spPr>
          <a:xfrm>
            <a:off x="1524000" y="4002374"/>
            <a:ext cx="9144000" cy="2098622"/>
          </a:xfrm>
        </p:spPr>
        <p:txBody>
          <a:bodyPr>
            <a:normAutofit/>
          </a:bodyPr>
          <a:lstStyle/>
          <a:p>
            <a:r>
              <a:rPr lang="en-US" sz="4800" dirty="0">
                <a:solidFill>
                  <a:schemeClr val="accent6"/>
                </a:solidFill>
                <a:latin typeface="Times New Roman" panose="02020603050405020304" pitchFamily="18" charset="0"/>
                <a:cs typeface="Times New Roman" panose="02020603050405020304" pitchFamily="18" charset="0"/>
              </a:rPr>
              <a:t>???</a:t>
            </a:r>
          </a:p>
        </p:txBody>
      </p:sp>
      <p:sp>
        <p:nvSpPr>
          <p:cNvPr id="4" name="Date Placeholder 3">
            <a:extLst>
              <a:ext uri="{FF2B5EF4-FFF2-40B4-BE49-F238E27FC236}">
                <a16:creationId xmlns:a16="http://schemas.microsoft.com/office/drawing/2014/main" xmlns="" id="{E4BDB614-3987-0007-CA54-53C93E9E27C9}"/>
              </a:ext>
            </a:extLst>
          </p:cNvPr>
          <p:cNvSpPr>
            <a:spLocks noGrp="1"/>
          </p:cNvSpPr>
          <p:nvPr>
            <p:ph type="dt" sz="half" idx="10"/>
          </p:nvPr>
        </p:nvSpPr>
        <p:spPr/>
        <p:txBody>
          <a:bodyPr/>
          <a:lstStyle/>
          <a:p>
            <a:r>
              <a:rPr lang="en-US"/>
              <a:t>23-Dec-22</a:t>
            </a:r>
          </a:p>
        </p:txBody>
      </p:sp>
      <p:sp>
        <p:nvSpPr>
          <p:cNvPr id="5" name="Slide Number Placeholder 4">
            <a:extLst>
              <a:ext uri="{FF2B5EF4-FFF2-40B4-BE49-F238E27FC236}">
                <a16:creationId xmlns:a16="http://schemas.microsoft.com/office/drawing/2014/main" xmlns="" id="{4509ACC0-521E-21D0-FC51-0AE984215F1A}"/>
              </a:ext>
            </a:extLst>
          </p:cNvPr>
          <p:cNvSpPr>
            <a:spLocks noGrp="1"/>
          </p:cNvSpPr>
          <p:nvPr>
            <p:ph type="sldNum" sz="quarter" idx="12"/>
          </p:nvPr>
        </p:nvSpPr>
        <p:spPr/>
        <p:txBody>
          <a:bodyPr/>
          <a:lstStyle/>
          <a:p>
            <a:fld id="{CB22993B-EEE5-4EB1-BEE5-4FFFA489F796}" type="slidenum">
              <a:rPr lang="en-US" smtClean="0"/>
              <a:t>118</a:t>
            </a:fld>
            <a:endParaRPr lang="en-US"/>
          </a:p>
        </p:txBody>
      </p:sp>
    </p:spTree>
    <p:extLst>
      <p:ext uri="{BB962C8B-B14F-4D97-AF65-F5344CB8AC3E}">
        <p14:creationId xmlns:p14="http://schemas.microsoft.com/office/powerpoint/2010/main" val="27733251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119129</TotalTime>
  <Words>7715</Words>
  <Application>Microsoft Office PowerPoint</Application>
  <PresentationFormat>Custom</PresentationFormat>
  <Paragraphs>930</Paragraphs>
  <Slides>118</Slides>
  <Notes>1</Notes>
  <HiddenSlides>0</HiddenSlides>
  <MMClips>0</MMClips>
  <ScaleCrop>false</ScaleCrop>
  <HeadingPairs>
    <vt:vector size="4" baseType="variant">
      <vt:variant>
        <vt:lpstr>Theme</vt:lpstr>
      </vt:variant>
      <vt:variant>
        <vt:i4>1</vt:i4>
      </vt:variant>
      <vt:variant>
        <vt:lpstr>Slide Titles</vt:lpstr>
      </vt:variant>
      <vt:variant>
        <vt:i4>118</vt:i4>
      </vt:variant>
    </vt:vector>
  </HeadingPairs>
  <TitlesOfParts>
    <vt:vector size="119" baseType="lpstr">
      <vt:lpstr>Office Theme</vt:lpstr>
      <vt:lpstr>Electrolyte Balance</vt:lpstr>
      <vt:lpstr> Introduction</vt:lpstr>
      <vt:lpstr>Continue….</vt:lpstr>
      <vt:lpstr>Continue….</vt:lpstr>
      <vt:lpstr>Continue….</vt:lpstr>
      <vt:lpstr>PowerPoint Presentation</vt:lpstr>
      <vt:lpstr>Continue….</vt:lpstr>
      <vt:lpstr>Regulation of electrolyte Intake &amp; output</vt:lpstr>
      <vt:lpstr>Sodium</vt:lpstr>
      <vt:lpstr>  Hyponatremia</vt:lpstr>
      <vt:lpstr> Cont….</vt:lpstr>
      <vt:lpstr> Hypovolemic hyponatremia</vt:lpstr>
      <vt:lpstr>Hypervolemic hyponatremia</vt:lpstr>
      <vt:lpstr>Isovolemic hyponatremia</vt:lpstr>
      <vt:lpstr>Clinical Manifestations of Hyponatremia</vt:lpstr>
      <vt:lpstr>Cont….</vt:lpstr>
      <vt:lpstr>Treatment of Hyponatremia</vt:lpstr>
      <vt:lpstr>Cont….</vt:lpstr>
      <vt:lpstr>Cont….</vt:lpstr>
      <vt:lpstr>Cont….</vt:lpstr>
      <vt:lpstr>Cont….</vt:lpstr>
      <vt:lpstr>PowerPoint Presentation</vt:lpstr>
      <vt:lpstr>Anesthetic Considerations</vt:lpstr>
      <vt:lpstr>Hypernatremia (high levels of sodium)</vt:lpstr>
      <vt:lpstr>Hypernatremia &amp; Low Total Body Sodium Content</vt:lpstr>
      <vt:lpstr>Hypernatremia &amp; Normal Total Body Sodium Content</vt:lpstr>
      <vt:lpstr>Hypernatremia &amp; Increased Total Body Sodium Content</vt:lpstr>
      <vt:lpstr>  Major causes of hypernatremia</vt:lpstr>
      <vt:lpstr>Clinical Manifestations of Hypernatremia</vt:lpstr>
      <vt:lpstr>  Treatment of Hypernatremia</vt:lpstr>
      <vt:lpstr>Cont….</vt:lpstr>
      <vt:lpstr>   Treatment of hypernatremia</vt:lpstr>
      <vt:lpstr>Anesthetic Considerations</vt:lpstr>
      <vt:lpstr>    Potassium (K+)</vt:lpstr>
      <vt:lpstr>Normal potassium balance</vt:lpstr>
      <vt:lpstr>PH Regulation of potassium</vt:lpstr>
      <vt:lpstr>Renal Regulation</vt:lpstr>
      <vt:lpstr>PowerPoint Presentation</vt:lpstr>
      <vt:lpstr>    Hypokalemia</vt:lpstr>
      <vt:lpstr>       Major causes of hypokalemia</vt:lpstr>
      <vt:lpstr>Cont….</vt:lpstr>
      <vt:lpstr>Cont….</vt:lpstr>
      <vt:lpstr>Clinical Manifestations of Hypokalemia</vt:lpstr>
      <vt:lpstr>ECG changes of hypokalemia</vt:lpstr>
      <vt:lpstr>       Effects of hypokalemia</vt:lpstr>
      <vt:lpstr>Treatment of Hypokalemia</vt:lpstr>
      <vt:lpstr>Cont….</vt:lpstr>
      <vt:lpstr>Cont….</vt:lpstr>
      <vt:lpstr>Cont….</vt:lpstr>
      <vt:lpstr>  Anesthetic Considerations</vt:lpstr>
      <vt:lpstr>Cont….</vt:lpstr>
      <vt:lpstr>      Hyperkalemia</vt:lpstr>
      <vt:lpstr>Hyperkalemia due to Extracellular Movement of Potassium</vt:lpstr>
      <vt:lpstr>Hyperkalemia due to Decreased Renal Excretion of Potassium</vt:lpstr>
      <vt:lpstr>   Causes of hyperkalemia</vt:lpstr>
      <vt:lpstr>Cont….</vt:lpstr>
      <vt:lpstr>Clinical Manifestations of Hyperkalemia</vt:lpstr>
      <vt:lpstr>Cont….</vt:lpstr>
      <vt:lpstr>Treatment of Hyperkalemia</vt:lpstr>
      <vt:lpstr>Cont….</vt:lpstr>
      <vt:lpstr>Anesthetic Considerations</vt:lpstr>
      <vt:lpstr>Disorders of Calcium Balance</vt:lpstr>
      <vt:lpstr>Normal calcium balance</vt:lpstr>
      <vt:lpstr>Cont….</vt:lpstr>
      <vt:lpstr> Plasma Calcium Concentration</vt:lpstr>
      <vt:lpstr>Cont….</vt:lpstr>
      <vt:lpstr>Regulation of Extracellular Ionized Calcium Concentration </vt:lpstr>
      <vt:lpstr>Cont….</vt:lpstr>
      <vt:lpstr>Cont….</vt:lpstr>
      <vt:lpstr>Cont….</vt:lpstr>
      <vt:lpstr>Cont….</vt:lpstr>
      <vt:lpstr>Hypercalcemia</vt:lpstr>
      <vt:lpstr>Causes of hypercalcemia</vt:lpstr>
      <vt:lpstr>Clinical Manifestations of Hypercalcemia</vt:lpstr>
      <vt:lpstr>Treatment of Hypercalcemia</vt:lpstr>
      <vt:lpstr>Anesthetic Considerations</vt:lpstr>
      <vt:lpstr>Hypocalcemia</vt:lpstr>
      <vt:lpstr>Causes of hypocalcemia</vt:lpstr>
      <vt:lpstr>Cont….</vt:lpstr>
      <vt:lpstr>Clinical Manifestations of Hypocalcemia</vt:lpstr>
      <vt:lpstr>Treatment of Hypocalcemia</vt:lpstr>
      <vt:lpstr>Anesthetic Considerations</vt:lpstr>
      <vt:lpstr>Disorders of Phosphorus Balance</vt:lpstr>
      <vt:lpstr>Normal phosphorus balance</vt:lpstr>
      <vt:lpstr>Cont….</vt:lpstr>
      <vt:lpstr>Hyperphosphatemia</vt:lpstr>
      <vt:lpstr>Clinical Manifestations of Hyperphosphatemia</vt:lpstr>
      <vt:lpstr>PowerPoint Presentation</vt:lpstr>
      <vt:lpstr> Hypophosphatemia</vt:lpstr>
      <vt:lpstr>Clinical Manifestations of Hypophosphatemia</vt:lpstr>
      <vt:lpstr>PowerPoint Presentation</vt:lpstr>
      <vt:lpstr>PowerPoint Presentation</vt:lpstr>
      <vt:lpstr>PowerPoint Presentation</vt:lpstr>
      <vt:lpstr>Cont….</vt:lpstr>
      <vt:lpstr>PowerPoint Presentation</vt:lpstr>
      <vt:lpstr>Cont….</vt:lpstr>
      <vt:lpstr>PowerPoint Presentation</vt:lpstr>
      <vt:lpstr>PowerPoint Presentation</vt:lpstr>
      <vt:lpstr>PowerPoint Presentation</vt:lpstr>
      <vt:lpstr>PowerPoint Presentation</vt:lpstr>
      <vt:lpstr>Cont….</vt:lpstr>
      <vt:lpstr>PowerPoint Presentation</vt:lpstr>
      <vt:lpstr>Hypomagnesemia</vt:lpstr>
      <vt:lpstr>PowerPoint Presentation</vt:lpstr>
      <vt:lpstr>Cont….</vt:lpstr>
      <vt:lpstr>PowerPoint Presentation</vt:lpstr>
      <vt:lpstr>PowerPoint Presentation</vt:lpstr>
      <vt:lpstr>PowerPoint Presentation</vt:lpstr>
      <vt:lpstr>    Chloride</vt:lpstr>
      <vt:lpstr>Hypochloremia</vt:lpstr>
      <vt:lpstr>Clinical Manifestations Hypochlormia</vt:lpstr>
      <vt:lpstr>Treatment of hypochloremia</vt:lpstr>
      <vt:lpstr>Anesthetic Considerations</vt:lpstr>
      <vt:lpstr>Hyperchloremia</vt:lpstr>
      <vt:lpstr>Clinical Manifestations Hyperchlormia</vt:lpstr>
      <vt:lpstr>Treatment of hyperchloremia</vt:lpstr>
      <vt:lpstr>Anesthetic Considerations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Electrolyte Balance</dc:title>
  <dc:creator>fissiha fentie</dc:creator>
  <cp:lastModifiedBy>ismail - [2010]</cp:lastModifiedBy>
  <cp:revision>254</cp:revision>
  <dcterms:created xsi:type="dcterms:W3CDTF">2021-09-29T01:58:32Z</dcterms:created>
  <dcterms:modified xsi:type="dcterms:W3CDTF">2024-12-22T08:50:42Z</dcterms:modified>
</cp:coreProperties>
</file>