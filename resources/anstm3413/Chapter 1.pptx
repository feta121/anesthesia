
<file path=[Content_Types].xml><?xml version="1.0" encoding="utf-8"?>
<Types xmlns="http://schemas.openxmlformats.org/package/2006/content-types">
  <Default Extension="bin" ContentType="application/vnd.openxmlformats-officedocument.oleObject"/>
  <Default Extension="tmp" ContentType="image/png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0"/>
  </p:notesMasterIdLst>
  <p:sldIdLst>
    <p:sldId id="256" r:id="rId2"/>
    <p:sldId id="307" r:id="rId3"/>
    <p:sldId id="308" r:id="rId4"/>
    <p:sldId id="376" r:id="rId5"/>
    <p:sldId id="377" r:id="rId6"/>
    <p:sldId id="378" r:id="rId7"/>
    <p:sldId id="309" r:id="rId8"/>
    <p:sldId id="312" r:id="rId9"/>
    <p:sldId id="310" r:id="rId10"/>
    <p:sldId id="258" r:id="rId11"/>
    <p:sldId id="313" r:id="rId12"/>
    <p:sldId id="314" r:id="rId13"/>
    <p:sldId id="315" r:id="rId14"/>
    <p:sldId id="316" r:id="rId15"/>
    <p:sldId id="317" r:id="rId16"/>
    <p:sldId id="318" r:id="rId17"/>
    <p:sldId id="319" r:id="rId18"/>
    <p:sldId id="320" r:id="rId19"/>
    <p:sldId id="321" r:id="rId20"/>
    <p:sldId id="322" r:id="rId21"/>
    <p:sldId id="323" r:id="rId22"/>
    <p:sldId id="324" r:id="rId23"/>
    <p:sldId id="325" r:id="rId24"/>
    <p:sldId id="326" r:id="rId25"/>
    <p:sldId id="327" r:id="rId26"/>
    <p:sldId id="332" r:id="rId27"/>
    <p:sldId id="333" r:id="rId28"/>
    <p:sldId id="334" r:id="rId29"/>
    <p:sldId id="335" r:id="rId30"/>
    <p:sldId id="336" r:id="rId31"/>
    <p:sldId id="337" r:id="rId32"/>
    <p:sldId id="338" r:id="rId33"/>
    <p:sldId id="339" r:id="rId34"/>
    <p:sldId id="340" r:id="rId35"/>
    <p:sldId id="341" r:id="rId36"/>
    <p:sldId id="342" r:id="rId37"/>
    <p:sldId id="343" r:id="rId38"/>
    <p:sldId id="344" r:id="rId39"/>
    <p:sldId id="345" r:id="rId40"/>
    <p:sldId id="346" r:id="rId41"/>
    <p:sldId id="347" r:id="rId42"/>
    <p:sldId id="348" r:id="rId43"/>
    <p:sldId id="349" r:id="rId44"/>
    <p:sldId id="350" r:id="rId45"/>
    <p:sldId id="351" r:id="rId46"/>
    <p:sldId id="352" r:id="rId47"/>
    <p:sldId id="353" r:id="rId48"/>
    <p:sldId id="374" r:id="rId49"/>
    <p:sldId id="355" r:id="rId50"/>
    <p:sldId id="356" r:id="rId51"/>
    <p:sldId id="357" r:id="rId52"/>
    <p:sldId id="358" r:id="rId53"/>
    <p:sldId id="359" r:id="rId54"/>
    <p:sldId id="360" r:id="rId55"/>
    <p:sldId id="375" r:id="rId56"/>
    <p:sldId id="373" r:id="rId57"/>
    <p:sldId id="361" r:id="rId58"/>
    <p:sldId id="362" r:id="rId59"/>
    <p:sldId id="363" r:id="rId60"/>
    <p:sldId id="364" r:id="rId61"/>
    <p:sldId id="365" r:id="rId62"/>
    <p:sldId id="366" r:id="rId63"/>
    <p:sldId id="367" r:id="rId64"/>
    <p:sldId id="368" r:id="rId65"/>
    <p:sldId id="369" r:id="rId66"/>
    <p:sldId id="370" r:id="rId67"/>
    <p:sldId id="371" r:id="rId68"/>
    <p:sldId id="262" r:id="rId6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3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74C5E6-A5AE-4CD3-8A65-49DAE164CA46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F2920-90D3-40D2-9345-404020C4D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658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A393B3-11AB-40F9-AA0B-78585532F32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956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16D43-3B17-4189-842F-A15217ED235A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69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29A30-C78F-415C-BB44-7D67B7306C17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225A-6218-4CCF-80D8-A50BF2E1F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928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29A30-C78F-415C-BB44-7D67B7306C17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225A-6218-4CCF-80D8-A50BF2E1F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842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29A30-C78F-415C-BB44-7D67B7306C17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225A-6218-4CCF-80D8-A50BF2E1F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869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29A30-C78F-415C-BB44-7D67B7306C17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225A-6218-4CCF-80D8-A50BF2E1F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315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29A30-C78F-415C-BB44-7D67B7306C17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225A-6218-4CCF-80D8-A50BF2E1F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623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29A30-C78F-415C-BB44-7D67B7306C17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225A-6218-4CCF-80D8-A50BF2E1F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783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29A30-C78F-415C-BB44-7D67B7306C17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225A-6218-4CCF-80D8-A50BF2E1F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690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29A30-C78F-415C-BB44-7D67B7306C17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225A-6218-4CCF-80D8-A50BF2E1F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945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29A30-C78F-415C-BB44-7D67B7306C17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225A-6218-4CCF-80D8-A50BF2E1F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729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29A30-C78F-415C-BB44-7D67B7306C17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225A-6218-4CCF-80D8-A50BF2E1F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44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29A30-C78F-415C-BB44-7D67B7306C17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225A-6218-4CCF-80D8-A50BF2E1F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149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29A30-C78F-415C-BB44-7D67B7306C17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2225A-6218-4CCF-80D8-A50BF2E1F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781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Chapter one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Physiologic changes during pregnancy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92258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 </a:t>
            </a:r>
          </a:p>
          <a:p>
            <a:r>
              <a:rPr lang="en-US" dirty="0" smtClean="0"/>
              <a:t>Physiologic changes in different body systems</a:t>
            </a:r>
          </a:p>
          <a:p>
            <a:r>
              <a:rPr lang="en-US" dirty="0" smtClean="0"/>
              <a:t>Implication of physiologic changes during anesthesia</a:t>
            </a:r>
          </a:p>
          <a:p>
            <a:r>
              <a:rPr lang="en-US" dirty="0" smtClean="0"/>
              <a:t>summary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393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At the end of this chapter you should be able to:</a:t>
            </a:r>
          </a:p>
          <a:p>
            <a:r>
              <a:rPr lang="en-US" dirty="0" smtClean="0"/>
              <a:t>Explain the physiologic changes during pregnancy in different body parts</a:t>
            </a:r>
          </a:p>
          <a:p>
            <a:r>
              <a:rPr lang="en-US" dirty="0" smtClean="0"/>
              <a:t>Describe the implication of physiologic changes during anesthesia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712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564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Briefly describe the anesthetic implication of physiologic changes on the respiratory 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What are the factors that reduce fetal exposure to anesthetic agents?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Briefly describe why physiologic changes occur during pregnancy.</a:t>
            </a:r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484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Briefly describe the anesthetic implication of physiologic changes on the respiratory 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What are the factors that reduce fetal exposure to anesthetic agents?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Briefly describe why physiologic changes occur during pregnancy.</a:t>
            </a:r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484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Why physiologic changes occur during pregnancy?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148702"/>
              </p:ext>
            </p:extLst>
          </p:nvPr>
        </p:nvGraphicFramePr>
        <p:xfrm>
          <a:off x="1447800" y="1865312"/>
          <a:ext cx="4052887" cy="399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Clip" r:id="rId3" imgW="1857375" imgH="3995738" progId="">
                  <p:embed/>
                </p:oleObj>
              </mc:Choice>
              <mc:Fallback>
                <p:oleObj name="Clip" r:id="rId3" imgW="1857375" imgH="3995738" progId="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865312"/>
                        <a:ext cx="4052887" cy="3995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7962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Introduction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Maternal physiological changes during pregnancy occurs due to 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Hormonal alterations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Mechanical effects of the gravid uterus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Increased metabolic and oxygen requirements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Hemodynamic alterations associated with the placental circulation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415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Introduction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r>
              <a:rPr lang="en-US" dirty="0"/>
              <a:t>Physiological changes are essential to: </a:t>
            </a:r>
          </a:p>
          <a:p>
            <a:pPr lvl="1"/>
            <a:r>
              <a:rPr lang="en-US" sz="3200" dirty="0"/>
              <a:t>support and protect the developing fetus and </a:t>
            </a:r>
          </a:p>
          <a:p>
            <a:pPr lvl="1"/>
            <a:r>
              <a:rPr lang="en-US" sz="3200" dirty="0"/>
              <a:t>to prepare the mother for </a:t>
            </a:r>
            <a:r>
              <a:rPr lang="en-US" sz="3200" dirty="0" smtClean="0"/>
              <a:t>parturition</a:t>
            </a: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062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Pregnancy represents a serious challenge to all body systems</a:t>
            </a:r>
          </a:p>
          <a:p>
            <a:r>
              <a:rPr lang="en-US" dirty="0" smtClean="0"/>
              <a:t>This causes no major problems for healthy women</a:t>
            </a:r>
          </a:p>
          <a:p>
            <a:r>
              <a:rPr lang="en-US" dirty="0" smtClean="0"/>
              <a:t>Causes significant adaptation problem in women with clinical or subclinical pathologies</a:t>
            </a:r>
          </a:p>
          <a:p>
            <a:r>
              <a:rPr lang="en-US" dirty="0" smtClean="0"/>
              <a:t>The physiologic changes can directly affect the anesthesia technique.....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062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30762"/>
          </a:xfrm>
        </p:spPr>
        <p:txBody>
          <a:bodyPr>
            <a:normAutofit/>
          </a:bodyPr>
          <a:lstStyle/>
          <a:p>
            <a:r>
              <a:rPr lang="en-US" dirty="0"/>
              <a:t>Cardiovascular changes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370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Heart rate and stroke volume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heart rate ↑20-30%</a:t>
            </a:r>
          </a:p>
          <a:p>
            <a:r>
              <a:rPr lang="en-US" dirty="0" smtClean="0"/>
              <a:t>Starts ≈ 4</a:t>
            </a:r>
            <a:r>
              <a:rPr lang="en-US" baseline="30000" dirty="0" smtClean="0"/>
              <a:t>th</a:t>
            </a:r>
            <a:r>
              <a:rPr lang="en-US" dirty="0" smtClean="0"/>
              <a:t> to 5</a:t>
            </a:r>
            <a:r>
              <a:rPr lang="en-US" baseline="30000" dirty="0" smtClean="0"/>
              <a:t>th</a:t>
            </a:r>
            <a:r>
              <a:rPr lang="en-US" dirty="0" smtClean="0"/>
              <a:t>  wk GA</a:t>
            </a:r>
          </a:p>
          <a:p>
            <a:pPr lvl="1"/>
            <a:r>
              <a:rPr lang="en-US" sz="3200" dirty="0" smtClean="0"/>
              <a:t>A response for ↓ SVR </a:t>
            </a:r>
          </a:p>
          <a:p>
            <a:r>
              <a:rPr lang="en-US" dirty="0" smtClean="0"/>
              <a:t>↑ by 20% in the 3</a:t>
            </a:r>
            <a:r>
              <a:rPr lang="en-US" baseline="30000" dirty="0" smtClean="0"/>
              <a:t>rd</a:t>
            </a:r>
            <a:r>
              <a:rPr lang="en-US" dirty="0" smtClean="0"/>
              <a:t> trimester</a:t>
            </a:r>
          </a:p>
          <a:p>
            <a:r>
              <a:rPr lang="en-US" dirty="0" smtClean="0"/>
              <a:t>SV ↑ 20-50%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816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Cardiac output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 ↑30-50% ,starting ≈5 wks after conception</a:t>
            </a:r>
          </a:p>
          <a:p>
            <a:pPr lvl="1"/>
            <a:r>
              <a:rPr lang="en-US" dirty="0" smtClean="0"/>
              <a:t>↑SV and HR</a:t>
            </a:r>
          </a:p>
          <a:p>
            <a:r>
              <a:rPr lang="en-US" dirty="0" smtClean="0"/>
              <a:t>20-30% ↑CO at 2</a:t>
            </a:r>
            <a:r>
              <a:rPr lang="en-US" baseline="30000" dirty="0" smtClean="0"/>
              <a:t>nd</a:t>
            </a:r>
            <a:r>
              <a:rPr lang="en-US" dirty="0" smtClean="0"/>
              <a:t> trimester</a:t>
            </a:r>
          </a:p>
          <a:p>
            <a:r>
              <a:rPr lang="en-US" dirty="0" smtClean="0"/>
              <a:t>3</a:t>
            </a:r>
            <a:r>
              <a:rPr lang="en-US" baseline="30000" dirty="0" smtClean="0"/>
              <a:t>rd</a:t>
            </a:r>
            <a:r>
              <a:rPr lang="en-US" dirty="0" smtClean="0"/>
              <a:t> trimester it ↓s in supine position</a:t>
            </a:r>
          </a:p>
          <a:p>
            <a:pPr lvl="1"/>
            <a:r>
              <a:rPr lang="en-US" dirty="0" smtClean="0"/>
              <a:t>Aortocaval compression</a:t>
            </a:r>
          </a:p>
          <a:p>
            <a:r>
              <a:rPr lang="en-US" dirty="0" smtClean="0"/>
              <a:t>↑s during Labor and delivery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808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Cardiac output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92500" lnSpcReduction="20000"/>
          </a:bodyPr>
          <a:lstStyle/>
          <a:p>
            <a:r>
              <a:rPr lang="en-US" sz="3500" dirty="0" smtClean="0"/>
              <a:t>In valvular and coronary heart disease </a:t>
            </a:r>
          </a:p>
          <a:p>
            <a:pPr lvl="1"/>
            <a:r>
              <a:rPr lang="en-US" sz="3500" dirty="0" smtClean="0"/>
              <a:t>Might not be well tolerated</a:t>
            </a:r>
          </a:p>
          <a:p>
            <a:r>
              <a:rPr lang="en-US" sz="3500" dirty="0" smtClean="0"/>
              <a:t>Risk of decompensation:</a:t>
            </a:r>
          </a:p>
          <a:p>
            <a:pPr lvl="1"/>
            <a:r>
              <a:rPr lang="en-US" sz="3000" dirty="0" smtClean="0"/>
              <a:t>24 wks of gestation</a:t>
            </a:r>
          </a:p>
          <a:p>
            <a:pPr lvl="1"/>
            <a:r>
              <a:rPr lang="en-US" sz="3000" dirty="0" smtClean="0"/>
              <a:t>Labor</a:t>
            </a:r>
          </a:p>
          <a:p>
            <a:pPr lvl="1"/>
            <a:r>
              <a:rPr lang="en-US" sz="3000" dirty="0" smtClean="0"/>
              <a:t>Immediately after delivery(↑CO by 50% of predelivery values)</a:t>
            </a:r>
          </a:p>
          <a:p>
            <a:r>
              <a:rPr lang="en-US" sz="3500" dirty="0" smtClean="0"/>
              <a:t>CO, HR and SV</a:t>
            </a:r>
          </a:p>
          <a:p>
            <a:pPr lvl="1"/>
            <a:r>
              <a:rPr lang="en-US" sz="3500" dirty="0" smtClean="0"/>
              <a:t>24-72 hrs post partum→ prelabor value</a:t>
            </a:r>
          </a:p>
          <a:p>
            <a:pPr lvl="1"/>
            <a:r>
              <a:rPr lang="en-US" sz="3500" dirty="0" smtClean="0"/>
              <a:t>6-8 wks after delivery→ non-pregnant value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512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Cardiac changes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Both position and size change</a:t>
            </a:r>
          </a:p>
          <a:p>
            <a:r>
              <a:rPr lang="en-US" dirty="0" smtClean="0"/>
              <a:t>The heart is enlarged</a:t>
            </a:r>
          </a:p>
          <a:p>
            <a:r>
              <a:rPr lang="en-US" dirty="0" smtClean="0"/>
              <a:t>Flow murmurs...↑plasma volume and CO</a:t>
            </a:r>
          </a:p>
          <a:p>
            <a:r>
              <a:rPr lang="en-US" dirty="0" smtClean="0"/>
              <a:t>Regurgitant murmurs...cardiac dilatation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3886200"/>
            <a:ext cx="35814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661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ECG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Anatomically the heart is displaced upward and to the left by the gravid uterus </a:t>
            </a:r>
            <a:endParaRPr lang="en-US" dirty="0" smtClean="0"/>
          </a:p>
          <a:p>
            <a:r>
              <a:rPr lang="en-US" dirty="0" smtClean="0"/>
              <a:t>left </a:t>
            </a:r>
            <a:r>
              <a:rPr lang="en-US" dirty="0"/>
              <a:t>axis </a:t>
            </a:r>
            <a:r>
              <a:rPr lang="en-US" dirty="0" smtClean="0"/>
              <a:t>deviation</a:t>
            </a:r>
          </a:p>
          <a:p>
            <a:r>
              <a:rPr lang="en-US" dirty="0" smtClean="0"/>
              <a:t>ST </a:t>
            </a:r>
            <a:r>
              <a:rPr lang="en-US" dirty="0"/>
              <a:t>segment depression and </a:t>
            </a:r>
            <a:endParaRPr lang="en-US" dirty="0" smtClean="0"/>
          </a:p>
          <a:p>
            <a:r>
              <a:rPr lang="en-US" dirty="0" smtClean="0"/>
              <a:t>T wave flattening</a:t>
            </a:r>
          </a:p>
        </p:txBody>
      </p:sp>
    </p:spTree>
    <p:extLst>
      <p:ext uri="{BB962C8B-B14F-4D97-AF65-F5344CB8AC3E}">
        <p14:creationId xmlns:p14="http://schemas.microsoft.com/office/powerpoint/2010/main" val="970844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Hemodynamics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SVR ↓s by 20%</a:t>
            </a:r>
          </a:p>
          <a:p>
            <a:pPr marL="857250" lvl="1" indent="-457200"/>
            <a:r>
              <a:rPr lang="en-US" dirty="0" smtClean="0"/>
              <a:t>Vasodilatory effects of progesterone</a:t>
            </a:r>
          </a:p>
          <a:p>
            <a:pPr marL="857250" lvl="1" indent="-457200"/>
            <a:r>
              <a:rPr lang="en-US" dirty="0" smtClean="0"/>
              <a:t>Proliferation of low resistance vascular beds in the inter-villous spaces of the placenta</a:t>
            </a:r>
          </a:p>
          <a:p>
            <a:pPr marL="457200" indent="-457200"/>
            <a:r>
              <a:rPr lang="en-US" dirty="0" smtClean="0"/>
              <a:t>DBP ↓s by 20%</a:t>
            </a:r>
          </a:p>
          <a:p>
            <a:pPr marL="457200" indent="-457200"/>
            <a:r>
              <a:rPr lang="en-US" dirty="0" smtClean="0"/>
              <a:t>SBP ↓s by 8%</a:t>
            </a:r>
          </a:p>
          <a:p>
            <a:pPr marL="457200" indent="-457200"/>
            <a:r>
              <a:rPr lang="en-US" dirty="0" smtClean="0"/>
              <a:t>Supine hypotension syndrome</a:t>
            </a:r>
          </a:p>
          <a:p>
            <a:pPr marL="457200" indent="-457200"/>
            <a:endParaRPr lang="en-US" dirty="0" smtClean="0"/>
          </a:p>
          <a:p>
            <a:pPr marL="457200" indent="-457200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994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Blood pressure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Blood pressure ↓s   → peripheral vasodilation</a:t>
            </a:r>
          </a:p>
          <a:p>
            <a:r>
              <a:rPr lang="en-US" dirty="0" smtClean="0"/>
              <a:t>peripheral </a:t>
            </a:r>
            <a:r>
              <a:rPr lang="en-US" dirty="0"/>
              <a:t>arterial vasodilatation </a:t>
            </a:r>
            <a:r>
              <a:rPr lang="en-US" dirty="0" smtClean="0"/>
              <a:t>in early pregnancy is </a:t>
            </a:r>
            <a:r>
              <a:rPr lang="en-US" dirty="0"/>
              <a:t>mediated by </a:t>
            </a:r>
            <a:r>
              <a:rPr lang="en-US" dirty="0" smtClean="0"/>
              <a:t>progesterone</a:t>
            </a:r>
          </a:p>
          <a:p>
            <a:r>
              <a:rPr lang="en-US" dirty="0" smtClean="0"/>
              <a:t>↓s </a:t>
            </a:r>
            <a:r>
              <a:rPr lang="en-US" dirty="0"/>
              <a:t>by ≈</a:t>
            </a:r>
            <a:r>
              <a:rPr lang="en-US" dirty="0" smtClean="0"/>
              <a:t> 10</a:t>
            </a:r>
            <a:r>
              <a:rPr lang="en-US" dirty="0"/>
              <a:t>% by 7–8 </a:t>
            </a:r>
            <a:r>
              <a:rPr lang="en-US" dirty="0" smtClean="0"/>
              <a:t>wks </a:t>
            </a:r>
            <a:r>
              <a:rPr lang="en-US" dirty="0"/>
              <a:t>of </a:t>
            </a:r>
            <a:r>
              <a:rPr lang="en-US" dirty="0" smtClean="0"/>
              <a:t>gestation</a:t>
            </a:r>
          </a:p>
          <a:p>
            <a:r>
              <a:rPr lang="en-US" dirty="0" smtClean="0"/>
              <a:t>Peak fall occurs around 24 wks of gestation</a:t>
            </a:r>
          </a:p>
          <a:p>
            <a:r>
              <a:rPr lang="en-US" dirty="0" smtClean="0"/>
              <a:t>Returns to pre-pregnancy value at term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465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Blood volume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↑Blood volume – (fetal and maternal  </a:t>
            </a:r>
          </a:p>
          <a:p>
            <a:pPr marL="0" indent="0">
              <a:buNone/>
            </a:pPr>
            <a:r>
              <a:rPr lang="en-US" dirty="0" smtClean="0"/>
              <a:t>                                     hormone production)</a:t>
            </a:r>
          </a:p>
          <a:p>
            <a:pPr marL="0" indent="0">
              <a:buNone/>
            </a:pPr>
            <a:r>
              <a:rPr lang="en-US" dirty="0" smtClean="0"/>
              <a:t>   - plasma volume…↑40-50%</a:t>
            </a:r>
          </a:p>
          <a:p>
            <a:pPr marL="0" indent="0">
              <a:buNone/>
            </a:pPr>
            <a:r>
              <a:rPr lang="en-US" dirty="0" smtClean="0"/>
              <a:t>   - RBC...↑15-20%(↑erythropoietin production)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-  iron deficiency anemia</a:t>
            </a:r>
          </a:p>
          <a:p>
            <a:pPr marL="0" indent="0">
              <a:buNone/>
            </a:pPr>
            <a:r>
              <a:rPr lang="en-US" dirty="0" smtClean="0"/>
              <a:t>   - WBC ↑s</a:t>
            </a:r>
          </a:p>
          <a:p>
            <a:r>
              <a:rPr lang="en-US" dirty="0" smtClean="0"/>
              <a:t>15% drop in hemoglobin concentration</a:t>
            </a:r>
          </a:p>
          <a:p>
            <a:pPr lvl="1"/>
            <a:r>
              <a:rPr lang="en-US" dirty="0" smtClean="0"/>
              <a:t>Physiologic/dilutional anemia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269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Blood volume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↑s progressively from 6 </a:t>
            </a:r>
            <a:r>
              <a:rPr lang="en-US" dirty="0"/>
              <a:t>-</a:t>
            </a:r>
            <a:r>
              <a:rPr lang="en-US" dirty="0" smtClean="0"/>
              <a:t> 8 wks of gestation</a:t>
            </a:r>
          </a:p>
          <a:p>
            <a:r>
              <a:rPr lang="en-US" dirty="0" smtClean="0"/>
              <a:t>Reaches maximum ≈ 32 – 34 wks of gestation</a:t>
            </a:r>
          </a:p>
          <a:p>
            <a:r>
              <a:rPr lang="en-US" dirty="0"/>
              <a:t>No sign of overload in a healthy pregnant women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649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Blood volume...cont’d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038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The increased blood volume:</a:t>
            </a:r>
          </a:p>
          <a:p>
            <a:r>
              <a:rPr lang="en-US" dirty="0" smtClean="0"/>
              <a:t>Facilitates </a:t>
            </a:r>
            <a:r>
              <a:rPr lang="en-US" dirty="0"/>
              <a:t>maternal and fetal exchanges of </a:t>
            </a:r>
            <a:r>
              <a:rPr lang="en-US" dirty="0" smtClean="0"/>
              <a:t>respiratory gases</a:t>
            </a:r>
            <a:r>
              <a:rPr lang="en-US" dirty="0"/>
              <a:t>, nutrients and </a:t>
            </a:r>
            <a:r>
              <a:rPr lang="en-US" dirty="0" smtClean="0"/>
              <a:t>metabolites</a:t>
            </a:r>
          </a:p>
          <a:p>
            <a:r>
              <a:rPr lang="en-US" dirty="0" smtClean="0"/>
              <a:t>Reduces  the </a:t>
            </a:r>
            <a:r>
              <a:rPr lang="en-US" dirty="0"/>
              <a:t>impact of maternal blood loss at </a:t>
            </a:r>
            <a:r>
              <a:rPr lang="en-US" dirty="0" smtClean="0"/>
              <a:t>delivery</a:t>
            </a:r>
          </a:p>
          <a:p>
            <a:r>
              <a:rPr lang="en-US" dirty="0"/>
              <a:t>It takes about 8 </a:t>
            </a:r>
            <a:r>
              <a:rPr lang="en-US" dirty="0" smtClean="0"/>
              <a:t>wks </a:t>
            </a:r>
            <a:r>
              <a:rPr lang="en-US" dirty="0"/>
              <a:t>after delivery for the blood </a:t>
            </a:r>
            <a:r>
              <a:rPr lang="en-US" dirty="0" smtClean="0"/>
              <a:t>volume to </a:t>
            </a:r>
            <a:r>
              <a:rPr lang="en-US" dirty="0"/>
              <a:t>return to normal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4173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600200"/>
            <a:ext cx="7010400" cy="3886200"/>
          </a:xfrm>
        </p:spPr>
      </p:pic>
    </p:spTree>
    <p:extLst>
      <p:ext uri="{BB962C8B-B14F-4D97-AF65-F5344CB8AC3E}">
        <p14:creationId xmlns:p14="http://schemas.microsoft.com/office/powerpoint/2010/main" val="2013746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Plasma protein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52600"/>
            <a:ext cx="83820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224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Coagulation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Pregnancy is a relatively hypercoagulable state</a:t>
            </a:r>
          </a:p>
          <a:p>
            <a:pPr lvl="1"/>
            <a:r>
              <a:rPr lang="en-US" dirty="0"/>
              <a:t>An ↑ in clotting </a:t>
            </a:r>
            <a:r>
              <a:rPr lang="en-US" dirty="0" smtClean="0"/>
              <a:t>factors</a:t>
            </a:r>
          </a:p>
          <a:p>
            <a:pPr lvl="1"/>
            <a:r>
              <a:rPr lang="en-US" dirty="0" smtClean="0"/>
              <a:t>Prevents excessive bleeding at delivery </a:t>
            </a:r>
          </a:p>
          <a:p>
            <a:pPr lvl="1"/>
            <a:r>
              <a:rPr lang="en-US" dirty="0" smtClean="0"/>
              <a:t>↑s the risk of thromboembolism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541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Coagulation factors in pregnancy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1695897"/>
              </p:ext>
            </p:extLst>
          </p:nvPr>
        </p:nvGraphicFramePr>
        <p:xfrm>
          <a:off x="457200" y="1600200"/>
          <a:ext cx="8229600" cy="415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Factor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Change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II       (prothrombin)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Unchanged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V       (proaccelerin)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Unchanged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I        (Fibrinogen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Increased</a:t>
                      </a:r>
                      <a:r>
                        <a:rPr lang="en-US" baseline="0" dirty="0" smtClean="0"/>
                        <a:t> +++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VII    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(proconvertin)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Increased</a:t>
                      </a:r>
                      <a:r>
                        <a:rPr lang="en-US" baseline="0" dirty="0" smtClean="0"/>
                        <a:t> +++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VIII    (antihemophilic</a:t>
                      </a:r>
                      <a:r>
                        <a:rPr lang="en-US" baseline="0" dirty="0" smtClean="0"/>
                        <a:t>)</a:t>
                      </a:r>
                      <a:endParaRPr lang="en-US" dirty="0" smtClean="0"/>
                    </a:p>
                    <a:p>
                      <a:r>
                        <a:rPr lang="en-US" dirty="0" smtClean="0"/>
                        <a:t>IX      (Christmas )</a:t>
                      </a:r>
                    </a:p>
                    <a:p>
                      <a:r>
                        <a:rPr lang="en-US" dirty="0" smtClean="0"/>
                        <a:t>X       (Stuart-Power)</a:t>
                      </a:r>
                    </a:p>
                    <a:p>
                      <a:r>
                        <a:rPr lang="en-US" dirty="0" smtClean="0"/>
                        <a:t>XII     (Hageman)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Increased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Platelets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r>
                        <a:rPr lang="en-US" baseline="0" dirty="0" smtClean="0"/>
                        <a:t> change or decreased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XI     (thromboplastin antecedent)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reduced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XIII   (fibrin stabilizin</a:t>
                      </a:r>
                      <a:r>
                        <a:rPr lang="en-US" baseline="0" dirty="0" smtClean="0"/>
                        <a:t>g factor)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reduced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0248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700" dirty="0" smtClean="0"/>
              <a:t>Summery of cardiovascular changes during pregnancy</a:t>
            </a:r>
            <a:endParaRPr lang="en-US" sz="27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3958693"/>
              </p:ext>
            </p:extLst>
          </p:nvPr>
        </p:nvGraphicFramePr>
        <p:xfrm>
          <a:off x="381000" y="990599"/>
          <a:ext cx="8077200" cy="5603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590800"/>
              </a:tblGrid>
              <a:tr h="389413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Parameter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Change 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Amount(%)</a:t>
                      </a:r>
                      <a:endParaRPr lang="en-US" sz="1800" dirty="0"/>
                    </a:p>
                  </a:txBody>
                  <a:tcPr/>
                </a:tc>
              </a:tr>
              <a:tr h="389413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Heart rate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Increased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20</a:t>
                      </a:r>
                      <a:r>
                        <a:rPr lang="en-US" sz="1800" baseline="0" dirty="0" smtClean="0"/>
                        <a:t> - 30</a:t>
                      </a:r>
                      <a:endParaRPr lang="en-US" sz="1800" dirty="0"/>
                    </a:p>
                  </a:txBody>
                  <a:tcPr/>
                </a:tc>
              </a:tr>
              <a:tr h="389413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Stroke volume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Increased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20 - 50</a:t>
                      </a:r>
                      <a:endParaRPr lang="en-US" sz="1800" dirty="0"/>
                    </a:p>
                  </a:txBody>
                  <a:tcPr/>
                </a:tc>
              </a:tr>
              <a:tr h="389413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Cardiac</a:t>
                      </a:r>
                      <a:r>
                        <a:rPr lang="en-US" sz="1800" baseline="0" dirty="0" smtClean="0"/>
                        <a:t> output 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Increased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30 - 50</a:t>
                      </a:r>
                      <a:endParaRPr lang="en-US" sz="1800" dirty="0"/>
                    </a:p>
                  </a:txBody>
                  <a:tcPr/>
                </a:tc>
              </a:tr>
              <a:tr h="389413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Contractility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Variable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± 10</a:t>
                      </a:r>
                      <a:endParaRPr lang="en-US" sz="1800" dirty="0"/>
                    </a:p>
                  </a:txBody>
                  <a:tcPr/>
                </a:tc>
              </a:tr>
              <a:tr h="41796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Central</a:t>
                      </a:r>
                      <a:r>
                        <a:rPr lang="en-US" sz="1800" baseline="0" dirty="0" smtClean="0"/>
                        <a:t> venous pressure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Unchanged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</a:tr>
              <a:tr h="77621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Pulmonary capillary</a:t>
                      </a:r>
                      <a:r>
                        <a:rPr lang="en-US" sz="1800" baseline="0" dirty="0" smtClean="0"/>
                        <a:t> wedge pressure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Unchanged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</a:tr>
              <a:tr h="68147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Systemic vascular resistance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Decreased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20</a:t>
                      </a:r>
                      <a:endParaRPr lang="en-US" sz="1800" dirty="0"/>
                    </a:p>
                  </a:txBody>
                  <a:tcPr/>
                </a:tc>
              </a:tr>
              <a:tr h="68147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Systemic blood pressure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Slightly decreased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Mid</a:t>
                      </a:r>
                      <a:r>
                        <a:rPr lang="en-US" sz="1800" baseline="0" dirty="0" smtClean="0"/>
                        <a:t> trimester 10 – 15 mmHg then rises</a:t>
                      </a:r>
                      <a:endParaRPr lang="en-US" sz="1800" dirty="0"/>
                    </a:p>
                  </a:txBody>
                  <a:tcPr/>
                </a:tc>
              </a:tr>
              <a:tr h="68147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Pulmonary vascular resistance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Decreased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30</a:t>
                      </a:r>
                      <a:endParaRPr lang="en-US" sz="1800" dirty="0"/>
                    </a:p>
                  </a:txBody>
                  <a:tcPr/>
                </a:tc>
              </a:tr>
              <a:tr h="41796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Pulmonary artery</a:t>
                      </a:r>
                      <a:r>
                        <a:rPr lang="en-US" sz="1800" baseline="0" dirty="0" smtClean="0"/>
                        <a:t> pressure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Slightly</a:t>
                      </a:r>
                      <a:r>
                        <a:rPr lang="en-US" sz="1800" baseline="0" dirty="0" smtClean="0"/>
                        <a:t> decreased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0097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Respiratory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Anatomy </a:t>
            </a:r>
          </a:p>
          <a:p>
            <a:r>
              <a:rPr lang="en-US" dirty="0" smtClean="0"/>
              <a:t>Circumference of thoracic cage increases by 5 to 7 centimeter</a:t>
            </a:r>
          </a:p>
          <a:p>
            <a:pPr marL="400050" lvl="1" indent="0">
              <a:buNone/>
            </a:pPr>
            <a:r>
              <a:rPr lang="en-US" dirty="0" smtClean="0"/>
              <a:t>→↑in anteroposterior and transverse  diameter(2cm)</a:t>
            </a:r>
          </a:p>
          <a:p>
            <a:r>
              <a:rPr lang="en-US" dirty="0" smtClean="0"/>
              <a:t>Flaring of the ribs </a:t>
            </a:r>
          </a:p>
          <a:p>
            <a:pPr lvl="1"/>
            <a:r>
              <a:rPr lang="en-US" dirty="0" smtClean="0"/>
              <a:t>68.5 to 103.5 degree</a:t>
            </a:r>
          </a:p>
          <a:p>
            <a:r>
              <a:rPr lang="en-US" dirty="0" smtClean="0"/>
              <a:t>↓ In vertical chest measurement by 4 cm  </a:t>
            </a:r>
          </a:p>
          <a:p>
            <a:pPr lvl="1"/>
            <a:r>
              <a:rPr lang="en-US" dirty="0" smtClean="0"/>
              <a:t>Elevated position of the diaphragm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645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Chest wall changes </a:t>
            </a:r>
            <a:endParaRPr lang="en-US" dirty="0"/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1" y="1524001"/>
            <a:ext cx="5334000" cy="4038600"/>
          </a:xfrm>
        </p:spPr>
      </p:pic>
      <p:sp>
        <p:nvSpPr>
          <p:cNvPr id="5" name="TextBox 4"/>
          <p:cNvSpPr txBox="1"/>
          <p:nvPr/>
        </p:nvSpPr>
        <p:spPr>
          <a:xfrm>
            <a:off x="762000" y="6096000"/>
            <a:ext cx="80804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An increase in subcostal angle, anterior-posterior and transverse diameter and chest </a:t>
            </a:r>
          </a:p>
          <a:p>
            <a:r>
              <a:rPr lang="en-US" dirty="0" smtClean="0"/>
              <a:t>wall circumference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16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Respiratory ...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Mechanical </a:t>
            </a:r>
          </a:p>
          <a:p>
            <a:r>
              <a:rPr lang="en-US" dirty="0" smtClean="0"/>
              <a:t>Diaphragmatic excursion ↑s</a:t>
            </a:r>
          </a:p>
          <a:p>
            <a:r>
              <a:rPr lang="en-US" dirty="0" smtClean="0"/>
              <a:t>Chest wall excursion ↓</a:t>
            </a:r>
          </a:p>
          <a:p>
            <a:r>
              <a:rPr lang="en-US" dirty="0" smtClean="0"/>
              <a:t>Pulmonary resistance ↓</a:t>
            </a:r>
          </a:p>
          <a:p>
            <a:r>
              <a:rPr lang="en-US" dirty="0" smtClean="0"/>
              <a:t>Closing capacity – no change(upright position)</a:t>
            </a:r>
          </a:p>
          <a:p>
            <a:r>
              <a:rPr lang="en-US" dirty="0" smtClean="0"/>
              <a:t>Lung compliance is unchanged but chest wall compliance decreases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22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Respiratory changes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 smtClean="0"/>
                  <a:t>Minute ventilation ↑50%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:r>
                  <a:rPr lang="en-US" sz="2000" dirty="0" smtClean="0"/>
                  <a:t>     tidal volume ↑40%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:r>
                  <a:rPr lang="en-US" sz="2000" dirty="0" smtClean="0"/>
                  <a:t>     RR ↑15%</a:t>
                </a:r>
              </a:p>
              <a:p>
                <a:r>
                  <a:rPr lang="en-US" sz="2000" dirty="0" smtClean="0"/>
                  <a:t>Alveolar ventilation ↑70%</a:t>
                </a:r>
              </a:p>
              <a:p>
                <a:r>
                  <a:rPr lang="en-US" sz="2000" dirty="0"/>
                  <a:t>F</a:t>
                </a:r>
                <a:r>
                  <a:rPr lang="en-US" sz="2000" dirty="0" smtClean="0"/>
                  <a:t>unctional residual capacity (FRC) ↓20%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𝑃𝑐𝑜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 smtClean="0"/>
                  <a:t> ↓s</a:t>
                </a:r>
              </a:p>
              <a:p>
                <a:r>
                  <a:rPr lang="en-US" sz="2000" dirty="0" smtClean="0"/>
                  <a:t>RV and ERV ↓s</a:t>
                </a:r>
              </a:p>
              <a:p>
                <a:r>
                  <a:rPr lang="en-US" sz="2000" dirty="0" smtClean="0"/>
                  <a:t>Inspiratory capacity ↑s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:r>
                  <a:rPr lang="en-US" sz="2000" dirty="0" smtClean="0"/>
                  <a:t>    ↑TV and IRV</a:t>
                </a:r>
              </a:p>
              <a:p>
                <a:pPr marL="0" indent="0">
                  <a:buNone/>
                </a:pPr>
                <a:r>
                  <a:rPr lang="en-US" sz="2000" dirty="0" smtClean="0"/>
                  <a:t>Vital capacity- unchanged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 rotWithShape="1">
                <a:blip r:embed="rId2"/>
                <a:stretch>
                  <a:fillRect l="-1852" t="-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1371600"/>
            <a:ext cx="3505200" cy="377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769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Respiratory …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Total lung capacity- slightly reduced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↑in chest circumference</a:t>
            </a:r>
          </a:p>
          <a:p>
            <a:r>
              <a:rPr lang="en-US" dirty="0" smtClean="0"/>
              <a:t>Respiratory mucus membrane – vascular, edematous and friable</a:t>
            </a:r>
          </a:p>
          <a:p>
            <a:r>
              <a:rPr lang="en-US" dirty="0"/>
              <a:t>The ratio FRC/CC ↓s → faster small-airway closure when lung volume is reduced; thus, parturients can desaturate at a much faster rate </a:t>
            </a:r>
          </a:p>
          <a:p>
            <a:endParaRPr lang="en-US" sz="28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321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Hyperventilation</a:t>
            </a:r>
            <a:endParaRPr lang="en-US" dirty="0"/>
          </a:p>
          <a:p>
            <a:r>
              <a:rPr lang="en-US" dirty="0" smtClean="0"/>
              <a:t>progesterone </a:t>
            </a:r>
            <a:r>
              <a:rPr lang="en-US" dirty="0"/>
              <a:t>effect decreases </a:t>
            </a:r>
            <a:r>
              <a:rPr lang="en-US" dirty="0" smtClean="0"/>
              <a:t>the threshold </a:t>
            </a:r>
            <a:r>
              <a:rPr lang="en-US" dirty="0"/>
              <a:t>and increases the sensitivity of </a:t>
            </a:r>
            <a:r>
              <a:rPr lang="en-US" dirty="0" smtClean="0"/>
              <a:t>the central </a:t>
            </a:r>
            <a:r>
              <a:rPr lang="en-US" dirty="0"/>
              <a:t>ventilatory chemoreflex response </a:t>
            </a:r>
            <a:r>
              <a:rPr lang="en-US" dirty="0" smtClean="0"/>
              <a:t>to CO2</a:t>
            </a:r>
            <a:endParaRPr lang="en-US" dirty="0"/>
          </a:p>
          <a:p>
            <a:r>
              <a:rPr lang="en-US" dirty="0"/>
              <a:t>an increased metabolic rate and </a:t>
            </a:r>
            <a:endParaRPr lang="en-US" dirty="0" smtClean="0"/>
          </a:p>
          <a:p>
            <a:r>
              <a:rPr lang="en-US" dirty="0" smtClean="0"/>
              <a:t>increased CO2 production</a:t>
            </a:r>
          </a:p>
          <a:p>
            <a:r>
              <a:rPr lang="en-US" dirty="0"/>
              <a:t>The </a:t>
            </a:r>
            <a:r>
              <a:rPr lang="en-US" dirty="0" smtClean="0"/>
              <a:t>PaCO2 decreases </a:t>
            </a:r>
            <a:r>
              <a:rPr lang="en-US" dirty="0"/>
              <a:t>from </a:t>
            </a:r>
            <a:r>
              <a:rPr lang="en-US" dirty="0" smtClean="0"/>
              <a:t>35 </a:t>
            </a:r>
            <a:r>
              <a:rPr lang="en-US" dirty="0"/>
              <a:t>to 40 </a:t>
            </a:r>
            <a:r>
              <a:rPr lang="en-US" dirty="0" smtClean="0"/>
              <a:t>mmHg </a:t>
            </a:r>
            <a:r>
              <a:rPr lang="en-US" dirty="0"/>
              <a:t>to </a:t>
            </a:r>
            <a:r>
              <a:rPr lang="en-US" dirty="0" smtClean="0"/>
              <a:t>30 </a:t>
            </a:r>
            <a:r>
              <a:rPr lang="en-US" dirty="0"/>
              <a:t>to </a:t>
            </a:r>
            <a:r>
              <a:rPr lang="en-US" dirty="0" smtClean="0"/>
              <a:t>32 </a:t>
            </a:r>
            <a:r>
              <a:rPr lang="en-US" dirty="0"/>
              <a:t>mm Hg </a:t>
            </a:r>
          </a:p>
        </p:txBody>
      </p:sp>
    </p:spTree>
    <p:extLst>
      <p:ext uri="{BB962C8B-B14F-4D97-AF65-F5344CB8AC3E}">
        <p14:creationId xmlns:p14="http://schemas.microsoft.com/office/powerpoint/2010/main" val="1974699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Compensatory renal </a:t>
            </a:r>
            <a:r>
              <a:rPr lang="en-US" dirty="0" smtClean="0"/>
              <a:t>mechanisms</a:t>
            </a:r>
          </a:p>
          <a:p>
            <a:pPr lvl="1"/>
            <a:r>
              <a:rPr lang="en-US" dirty="0"/>
              <a:t>excrete </a:t>
            </a:r>
            <a:r>
              <a:rPr lang="en-US" dirty="0" smtClean="0"/>
              <a:t>bicarbonate</a:t>
            </a:r>
            <a:r>
              <a:rPr lang="en-US" dirty="0"/>
              <a:t>→</a:t>
            </a:r>
            <a:r>
              <a:rPr lang="en-US" dirty="0" smtClean="0"/>
              <a:t> bicarbonate level </a:t>
            </a:r>
            <a:r>
              <a:rPr lang="en-US" dirty="0"/>
              <a:t>of 18 to 22 mEq/L in late </a:t>
            </a:r>
            <a:r>
              <a:rPr lang="en-US" dirty="0" smtClean="0"/>
              <a:t>pregnancy</a:t>
            </a:r>
          </a:p>
          <a:p>
            <a:r>
              <a:rPr lang="en-US" dirty="0" smtClean="0"/>
              <a:t>The chronic alkalosis→ </a:t>
            </a:r>
            <a:r>
              <a:rPr lang="en-US" dirty="0"/>
              <a:t>stimulates </a:t>
            </a:r>
            <a:r>
              <a:rPr lang="en-US" dirty="0" smtClean="0"/>
              <a:t>2,3-DPG synthesis → a </a:t>
            </a:r>
            <a:r>
              <a:rPr lang="en-US" dirty="0"/>
              <a:t>rightward shift of the </a:t>
            </a:r>
            <a:r>
              <a:rPr lang="en-US" dirty="0" smtClean="0"/>
              <a:t>oxyhemoglobin</a:t>
            </a:r>
            <a:r>
              <a:rPr lang="en-US" dirty="0"/>
              <a:t> </a:t>
            </a:r>
            <a:r>
              <a:rPr lang="en-US" dirty="0" smtClean="0"/>
              <a:t>dissociation </a:t>
            </a:r>
            <a:r>
              <a:rPr lang="en-US" dirty="0"/>
              <a:t>curve, which aids </a:t>
            </a:r>
            <a:r>
              <a:rPr lang="en-US" dirty="0" smtClean="0"/>
              <a:t>oxygen transfer </a:t>
            </a:r>
            <a:r>
              <a:rPr lang="en-US" dirty="0"/>
              <a:t>across the placenta</a:t>
            </a:r>
          </a:p>
        </p:txBody>
      </p:sp>
    </p:spTree>
    <p:extLst>
      <p:ext uri="{BB962C8B-B14F-4D97-AF65-F5344CB8AC3E}">
        <p14:creationId xmlns:p14="http://schemas.microsoft.com/office/powerpoint/2010/main" val="3903532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Blood gases during pregnancy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95400"/>
            <a:ext cx="8305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889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Implication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A rapid development of maternal hypoxia</a:t>
                </a:r>
              </a:p>
              <a:p>
                <a:r>
                  <a:rPr lang="en-US" dirty="0" smtClean="0"/>
                  <a:t>MAC of inhalational agents is reduced</a:t>
                </a:r>
              </a:p>
              <a:p>
                <a:r>
                  <a:rPr lang="en-US" dirty="0" smtClean="0"/>
                  <a:t>Avoid </a:t>
                </a:r>
                <a:r>
                  <a:rPr lang="en-US" dirty="0"/>
                  <a:t>nasal intubation and use small endotracheal </a:t>
                </a:r>
                <a:r>
                  <a:rPr lang="en-US" dirty="0" smtClean="0"/>
                  <a:t>tubes</a:t>
                </a:r>
              </a:p>
              <a:p>
                <a:r>
                  <a:rPr lang="en-US" dirty="0" smtClean="0"/>
                  <a:t>Airway </a:t>
                </a:r>
                <a:r>
                  <a:rPr lang="en-US" dirty="0"/>
                  <a:t>management is more challenging during </a:t>
                </a:r>
                <a:r>
                  <a:rPr lang="en-US" dirty="0" smtClean="0"/>
                  <a:t>pregnancy.</a:t>
                </a:r>
              </a:p>
              <a:p>
                <a:r>
                  <a:rPr lang="en-US" dirty="0" smtClean="0"/>
                  <a:t>Maternal </a:t>
                </a:r>
                <a:r>
                  <a:rPr lang="en-US" dirty="0"/>
                  <a:t>alkalosis associated with decreased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𝑝𝑐𝑜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values due to hyperventilation as a result of labor pain causes fetal acidosis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2830" r="-2593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7674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b="1" dirty="0">
                <a:solidFill>
                  <a:prstClr val="black"/>
                </a:solidFill>
              </a:rPr>
              <a:t>Gastrointestinal system changes</a:t>
            </a:r>
            <a:br>
              <a:rPr lang="en-US" b="1" dirty="0">
                <a:solidFill>
                  <a:prstClr val="black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Autofit/>
          </a:bodyPr>
          <a:lstStyle/>
          <a:p>
            <a:r>
              <a:rPr lang="en-US" dirty="0"/>
              <a:t>Morning sickness</a:t>
            </a:r>
          </a:p>
          <a:p>
            <a:pPr lvl="1"/>
            <a:r>
              <a:rPr lang="en-US" dirty="0"/>
              <a:t>Early pregnancy(hormonal changes</a:t>
            </a:r>
            <a:r>
              <a:rPr lang="en-US" dirty="0" smtClean="0"/>
              <a:t>)</a:t>
            </a:r>
            <a:endParaRPr lang="en-US" sz="2800" dirty="0">
              <a:solidFill>
                <a:prstClr val="black"/>
              </a:solidFill>
            </a:endParaRPr>
          </a:p>
          <a:p>
            <a:r>
              <a:rPr lang="en-US" sz="2800" dirty="0" smtClean="0">
                <a:solidFill>
                  <a:prstClr val="black"/>
                </a:solidFill>
              </a:rPr>
              <a:t>↓Intestinal motility and </a:t>
            </a:r>
            <a:r>
              <a:rPr lang="en-US" sz="2800" dirty="0">
                <a:solidFill>
                  <a:prstClr val="black"/>
                </a:solidFill>
              </a:rPr>
              <a:t>food absorption </a:t>
            </a:r>
            <a:endParaRPr lang="en-US" sz="2800" dirty="0" smtClean="0">
              <a:solidFill>
                <a:prstClr val="black"/>
              </a:solidFill>
            </a:endParaRPr>
          </a:p>
          <a:p>
            <a:r>
              <a:rPr lang="en-US" dirty="0"/>
              <a:t>Reflux and heartburn </a:t>
            </a:r>
          </a:p>
          <a:p>
            <a:pPr lvl="1"/>
            <a:r>
              <a:rPr lang="en-US" dirty="0"/>
              <a:t>Lower esophageal sphincter relaxation</a:t>
            </a:r>
          </a:p>
          <a:p>
            <a:pPr lvl="1"/>
            <a:r>
              <a:rPr lang="en-US" dirty="0"/>
              <a:t>Increased intragastric pressure(enlarging uterus</a:t>
            </a:r>
            <a:r>
              <a:rPr lang="en-US" dirty="0" smtClean="0"/>
              <a:t>)</a:t>
            </a:r>
            <a:endParaRPr lang="en-US" sz="2800" dirty="0" smtClean="0">
              <a:solidFill>
                <a:prstClr val="black"/>
              </a:solidFill>
            </a:endParaRPr>
          </a:p>
          <a:p>
            <a:pPr marL="0" lvl="0" indent="0">
              <a:buNone/>
            </a:pP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8743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Gastrointestinal....cont’d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/>
                </a:solidFill>
              </a:rPr>
              <a:t>The gastric emptying time of solid as well as liquid material is not changed during pregnancy (controversial</a:t>
            </a:r>
            <a:r>
              <a:rPr lang="en-US" dirty="0" smtClean="0">
                <a:solidFill>
                  <a:prstClr val="black"/>
                </a:solidFill>
              </a:rPr>
              <a:t>)</a:t>
            </a:r>
          </a:p>
          <a:p>
            <a:pPr marL="0" lvl="0" indent="0">
              <a:buNone/>
            </a:pPr>
            <a:endParaRPr lang="en-US" dirty="0">
              <a:solidFill>
                <a:prstClr val="black"/>
              </a:solidFill>
            </a:endParaRPr>
          </a:p>
          <a:p>
            <a:pPr lvl="0"/>
            <a:r>
              <a:rPr lang="en-US" dirty="0">
                <a:solidFill>
                  <a:prstClr val="black"/>
                </a:solidFill>
              </a:rPr>
              <a:t>Gastric emptying time is significantly slower during labor and hence gastric volume is increased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23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Change in gastro intestinal physiology during pregnancy</a:t>
            </a:r>
            <a:endParaRPr lang="en-US" sz="2800" dirty="0"/>
          </a:p>
        </p:txBody>
      </p:sp>
      <p:pic>
        <p:nvPicPr>
          <p:cNvPr id="5" name="Content Placeholder 4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71600"/>
            <a:ext cx="8229600" cy="46482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76444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Implications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Considered </a:t>
            </a:r>
            <a:r>
              <a:rPr lang="en-US" dirty="0"/>
              <a:t>to have a full stomach irrespective of the time of their last </a:t>
            </a:r>
            <a:r>
              <a:rPr lang="en-US" dirty="0" smtClean="0"/>
              <a:t>meal</a:t>
            </a:r>
          </a:p>
          <a:p>
            <a:r>
              <a:rPr lang="en-US" dirty="0"/>
              <a:t>General anesthesia should be avoided when </a:t>
            </a:r>
            <a:r>
              <a:rPr lang="en-US" dirty="0" smtClean="0"/>
              <a:t>possible</a:t>
            </a:r>
          </a:p>
          <a:p>
            <a:r>
              <a:rPr lang="en-US" dirty="0" smtClean="0"/>
              <a:t>Use cuffed endotracheal tubes</a:t>
            </a:r>
          </a:p>
          <a:p>
            <a:r>
              <a:rPr lang="en-US" dirty="0"/>
              <a:t>The routine use of non particulate anti acid is important</a:t>
            </a:r>
          </a:p>
        </p:txBody>
      </p:sp>
    </p:spTree>
    <p:extLst>
      <p:ext uri="{BB962C8B-B14F-4D97-AF65-F5344CB8AC3E}">
        <p14:creationId xmlns:p14="http://schemas.microsoft.com/office/powerpoint/2010/main" val="1298228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Metabolism and endocrine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000" dirty="0" smtClean="0"/>
                  <a:t>↑basal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/>
                          </a:rPr>
                          <m:t>𝑂</m:t>
                        </m:r>
                      </m:e>
                      <m:sub>
                        <m:r>
                          <a:rPr lang="en-US" sz="30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000" dirty="0" smtClean="0"/>
                  <a:t>consumption</a:t>
                </a:r>
              </a:p>
              <a:p>
                <a:r>
                  <a:rPr lang="en-US" sz="3000" dirty="0" smtClean="0"/>
                  <a:t>pituitary gland and prolactin </a:t>
                </a:r>
                <a:r>
                  <a:rPr lang="en-US" sz="3000" dirty="0" err="1" smtClean="0"/>
                  <a:t>secretion↑s</a:t>
                </a:r>
                <a:endParaRPr lang="en-US" sz="3000" dirty="0" smtClean="0"/>
              </a:p>
              <a:p>
                <a:r>
                  <a:rPr lang="en-US" sz="3000" dirty="0" smtClean="0"/>
                  <a:t>↑ corticotrophin, cortisol levels and human placental lactogen → insulin resistance</a:t>
                </a:r>
              </a:p>
              <a:p>
                <a:pPr marL="0" indent="0">
                  <a:buNone/>
                </a:pPr>
                <a:r>
                  <a:rPr lang="en-US" sz="3000" dirty="0"/>
                  <a:t>Adrenal cortical function</a:t>
                </a:r>
              </a:p>
              <a:p>
                <a:pPr lvl="1"/>
                <a:r>
                  <a:rPr lang="en-US" sz="2600" dirty="0"/>
                  <a:t>Hypertrophy of the zona fasciculata</a:t>
                </a:r>
              </a:p>
              <a:p>
                <a:pPr lvl="1"/>
                <a:r>
                  <a:rPr lang="en-US" sz="2600" dirty="0"/>
                  <a:t>Decreased clearance</a:t>
                </a:r>
              </a:p>
              <a:p>
                <a:pPr lvl="2"/>
                <a:r>
                  <a:rPr lang="en-US" sz="2600" dirty="0"/>
                  <a:t>Free cortisol level ↑</a:t>
                </a:r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04" t="-1617" b="-5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9304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Endocrine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Thyroid</a:t>
            </a:r>
          </a:p>
          <a:p>
            <a:r>
              <a:rPr lang="en-US" dirty="0"/>
              <a:t>gland </a:t>
            </a:r>
            <a:r>
              <a:rPr lang="en-US" dirty="0" smtClean="0"/>
              <a:t>enlarges-hyperplasia </a:t>
            </a:r>
            <a:r>
              <a:rPr lang="en-US" dirty="0"/>
              <a:t>and increased </a:t>
            </a:r>
            <a:r>
              <a:rPr lang="en-US" dirty="0" smtClean="0"/>
              <a:t>vascularity</a:t>
            </a:r>
          </a:p>
          <a:p>
            <a:r>
              <a:rPr lang="en-US" dirty="0" smtClean="0"/>
              <a:t>↑ T3 and T4 production</a:t>
            </a:r>
          </a:p>
          <a:p>
            <a:r>
              <a:rPr lang="en-US" dirty="0"/>
              <a:t>↑</a:t>
            </a:r>
            <a:r>
              <a:rPr lang="en-US" dirty="0" smtClean="0"/>
              <a:t>in </a:t>
            </a:r>
            <a:r>
              <a:rPr lang="en-US" dirty="0"/>
              <a:t>thyroid-binding globulin </a:t>
            </a:r>
            <a:endParaRPr lang="en-US" dirty="0" smtClean="0"/>
          </a:p>
          <a:p>
            <a:r>
              <a:rPr lang="en-US" dirty="0"/>
              <a:t>Pregnancy is a state of iodine deficiency</a:t>
            </a:r>
          </a:p>
          <a:p>
            <a:pPr lvl="1"/>
            <a:r>
              <a:rPr lang="en-US" dirty="0"/>
              <a:t>Inadequate intake</a:t>
            </a:r>
          </a:p>
          <a:p>
            <a:pPr lvl="1"/>
            <a:r>
              <a:rPr lang="en-US" dirty="0"/>
              <a:t>Increased renal </a:t>
            </a:r>
            <a:r>
              <a:rPr lang="en-US" dirty="0" smtClean="0"/>
              <a:t>clearance</a:t>
            </a:r>
          </a:p>
          <a:p>
            <a:r>
              <a:rPr lang="en-US" dirty="0" smtClean="0"/>
              <a:t>TSH decreases while T3 and T4 remains constant</a:t>
            </a:r>
          </a:p>
          <a:p>
            <a:pPr marL="1257300" lvl="3" indent="-400050"/>
            <a:r>
              <a:rPr lang="en-US" dirty="0" smtClean="0"/>
              <a:t>HCG </a:t>
            </a:r>
            <a:r>
              <a:rPr lang="en-US" dirty="0"/>
              <a:t>is structurally similar with TSH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57150" indent="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373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02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Pancreas   </a:t>
            </a:r>
          </a:p>
          <a:p>
            <a:r>
              <a:rPr lang="en-US" sz="2800" dirty="0" smtClean="0"/>
              <a:t>↑ed insulin secretion</a:t>
            </a:r>
          </a:p>
          <a:p>
            <a:pPr lvl="1"/>
            <a:r>
              <a:rPr lang="en-US" dirty="0" smtClean="0"/>
              <a:t>β-</a:t>
            </a:r>
            <a:r>
              <a:rPr lang="en-US" dirty="0" err="1" smtClean="0"/>
              <a:t>islat</a:t>
            </a:r>
            <a:r>
              <a:rPr lang="en-US" dirty="0" smtClean="0"/>
              <a:t> cells hyperplasia</a:t>
            </a:r>
          </a:p>
          <a:p>
            <a:r>
              <a:rPr lang="en-US" sz="2800" dirty="0" smtClean="0"/>
              <a:t>Insulin resistance</a:t>
            </a:r>
          </a:p>
          <a:p>
            <a:pPr lvl="1"/>
            <a:r>
              <a:rPr lang="en-US" dirty="0" smtClean="0"/>
              <a:t>corticotrophin, cortisol levels and human placental lactogen → insulin resistance</a:t>
            </a:r>
          </a:p>
          <a:p>
            <a:pPr lvl="1"/>
            <a:r>
              <a:rPr lang="en-US" dirty="0">
                <a:solidFill>
                  <a:prstClr val="black"/>
                </a:solidFill>
              </a:rPr>
              <a:t>development of gestational diabetes </a:t>
            </a:r>
          </a:p>
          <a:p>
            <a:pPr lvl="1"/>
            <a:r>
              <a:rPr lang="en-US" dirty="0" smtClean="0">
                <a:solidFill>
                  <a:prstClr val="black"/>
                </a:solidFill>
              </a:rPr>
              <a:t>exacerbation </a:t>
            </a:r>
            <a:r>
              <a:rPr lang="en-US" dirty="0">
                <a:solidFill>
                  <a:prstClr val="black"/>
                </a:solidFill>
              </a:rPr>
              <a:t>of preexisting </a:t>
            </a:r>
            <a:r>
              <a:rPr lang="en-US" dirty="0" smtClean="0">
                <a:solidFill>
                  <a:prstClr val="black"/>
                </a:solidFill>
              </a:rPr>
              <a:t>DM</a:t>
            </a:r>
            <a:endParaRPr lang="en-US" dirty="0"/>
          </a:p>
          <a:p>
            <a:r>
              <a:rPr lang="en-US" sz="2800" dirty="0"/>
              <a:t>Decreased glucose </a:t>
            </a:r>
            <a:r>
              <a:rPr lang="en-US" sz="2800" dirty="0" smtClean="0"/>
              <a:t>tolerance</a:t>
            </a:r>
            <a:endParaRPr lang="en-US" sz="2800" dirty="0"/>
          </a:p>
          <a:p>
            <a:pPr lvl="1"/>
            <a:endParaRPr lang="en-US" sz="3500" dirty="0" smtClean="0"/>
          </a:p>
          <a:p>
            <a:pPr marL="0" indent="0">
              <a:buNone/>
            </a:pPr>
            <a:endParaRPr lang="en-US" dirty="0" smtClean="0"/>
          </a:p>
          <a:p>
            <a:pPr marL="5715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20067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Metabolic changes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03817804"/>
                  </p:ext>
                </p:extLst>
              </p:nvPr>
            </p:nvGraphicFramePr>
            <p:xfrm>
              <a:off x="457200" y="1600200"/>
              <a:ext cx="8229600" cy="3205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43200"/>
                    <a:gridCol w="2743200"/>
                    <a:gridCol w="274320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 smtClean="0"/>
                            <a:t>Variable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smtClean="0"/>
                            <a:t>Change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smtClean="0"/>
                            <a:t>Amount</a:t>
                          </a:r>
                          <a:endParaRPr lang="en-US" sz="1800" dirty="0"/>
                        </a:p>
                      </a:txBody>
                      <a:tcPr/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sz="1800" dirty="0" smtClean="0"/>
                            <a:t>Oxygen consumption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smtClean="0"/>
                            <a:t>↑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smtClean="0"/>
                            <a:t>20%</a:t>
                          </a:r>
                          <a:endParaRPr lang="en-US" sz="1800" dirty="0"/>
                        </a:p>
                      </a:txBody>
                      <a:tcPr/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sz="1800" dirty="0" smtClean="0"/>
                            <a:t>Arterial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𝐶𝑂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2 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dirty="0" smtClean="0"/>
                            <a:t>tension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smtClean="0"/>
                            <a:t>↓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smtClean="0"/>
                            <a:t>10 mmHg</a:t>
                          </a:r>
                          <a:endParaRPr lang="en-US" sz="1800" dirty="0"/>
                        </a:p>
                      </a:txBody>
                      <a:tcPr/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sz="1800" dirty="0" smtClean="0"/>
                            <a:t>Arterial</a:t>
                          </a:r>
                          <a:r>
                            <a:rPr lang="en-US" sz="1800" baseline="0" dirty="0" smtClean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 baseline="0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baseline="0" smtClean="0">
                                      <a:latin typeface="Cambria Math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US" sz="1800" b="0" i="1" baseline="0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baseline="0" dirty="0" smtClean="0"/>
                            <a:t> tension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smtClean="0"/>
                            <a:t>↑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smtClean="0"/>
                            <a:t>10 mmHg</a:t>
                          </a:r>
                          <a:endParaRPr lang="en-US" sz="1800" dirty="0"/>
                        </a:p>
                      </a:txBody>
                      <a:tcPr/>
                    </a:tc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n-US" sz="1800" dirty="0" smtClean="0"/>
                            <a:t>Minimum alveolar concentration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smtClean="0"/>
                            <a:t>↓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smtClean="0"/>
                            <a:t>32 – 40%</a:t>
                          </a:r>
                          <a:endParaRPr lang="en-US" sz="18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21530925"/>
                  </p:ext>
                </p:extLst>
              </p:nvPr>
            </p:nvGraphicFramePr>
            <p:xfrm>
              <a:off x="457200" y="1600201"/>
              <a:ext cx="8229600" cy="3205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43200"/>
                    <a:gridCol w="2743200"/>
                    <a:gridCol w="274320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 smtClean="0"/>
                            <a:t>Variable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smtClean="0"/>
                            <a:t>Change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smtClean="0"/>
                            <a:t>Amount</a:t>
                          </a:r>
                          <a:endParaRPr lang="en-US" sz="1800" dirty="0"/>
                        </a:p>
                      </a:txBody>
                      <a:tcPr/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sz="1800" dirty="0" smtClean="0"/>
                            <a:t>Oxygen consumption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smtClean="0"/>
                            <a:t>↑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smtClean="0"/>
                            <a:t>20%</a:t>
                          </a:r>
                          <a:endParaRPr lang="en-US" sz="1800" dirty="0"/>
                        </a:p>
                      </a:txBody>
                      <a:tcPr/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164423" r="-200000" b="-2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smtClean="0"/>
                            <a:t>↓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smtClean="0"/>
                            <a:t>10 mmHg</a:t>
                          </a:r>
                          <a:endParaRPr lang="en-US" sz="1800" dirty="0"/>
                        </a:p>
                      </a:txBody>
                      <a:tcPr/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261905" r="-200000" b="-14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smtClean="0"/>
                            <a:t>↑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smtClean="0"/>
                            <a:t>10 mmHg</a:t>
                          </a:r>
                          <a:endParaRPr lang="en-US" sz="1800" dirty="0"/>
                        </a:p>
                      </a:txBody>
                      <a:tcPr/>
                    </a:tc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n-US" sz="1800" dirty="0" smtClean="0"/>
                            <a:t>Minimum alveolar concentration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smtClean="0"/>
                            <a:t>↓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smtClean="0"/>
                            <a:t>32 – 40%</a:t>
                          </a:r>
                          <a:endParaRPr lang="en-US" sz="18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83103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Nervous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Increased sensitivity to both general and regional anesthetics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- reduced plasma and CSF protein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- hormonal changes</a:t>
            </a:r>
          </a:p>
          <a:p>
            <a:r>
              <a:rPr lang="en-US" dirty="0" smtClean="0"/>
              <a:t>MAC decreased</a:t>
            </a:r>
          </a:p>
          <a:p>
            <a:pPr marL="0" indent="0">
              <a:buNone/>
            </a:pPr>
            <a:r>
              <a:rPr lang="en-US" dirty="0" smtClean="0"/>
              <a:t>    - halothane 25%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- isoflurane 40%</a:t>
            </a:r>
          </a:p>
        </p:txBody>
      </p:sp>
    </p:spTree>
    <p:extLst>
      <p:ext uri="{BB962C8B-B14F-4D97-AF65-F5344CB8AC3E}">
        <p14:creationId xmlns:p14="http://schemas.microsoft.com/office/powerpoint/2010/main" val="3990052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Nervous...cont’d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Alterations in mood and cognitive functions</a:t>
            </a:r>
          </a:p>
          <a:p>
            <a:r>
              <a:rPr lang="en-US" dirty="0"/>
              <a:t>Hemodynamic stability depends on SNS</a:t>
            </a:r>
          </a:p>
          <a:p>
            <a:r>
              <a:rPr lang="en-US" dirty="0"/>
              <a:t>Epidural anesthesia – wider dermatomal spread</a:t>
            </a:r>
          </a:p>
          <a:p>
            <a:r>
              <a:rPr lang="en-US" dirty="0"/>
              <a:t>elevation in the threshold to pain and discomfort near the end of pregnancy and during labor </a:t>
            </a:r>
          </a:p>
          <a:p>
            <a:pPr lvl="1"/>
            <a:r>
              <a:rPr lang="en-US" dirty="0" smtClean="0"/>
              <a:t>endorphins</a:t>
            </a:r>
            <a:r>
              <a:rPr lang="en-US" dirty="0"/>
              <a:t>, enkephaline and others</a:t>
            </a:r>
          </a:p>
        </p:txBody>
      </p:sp>
    </p:spTree>
    <p:extLst>
      <p:ext uri="{BB962C8B-B14F-4D97-AF65-F5344CB8AC3E}">
        <p14:creationId xmlns:p14="http://schemas.microsoft.com/office/powerpoint/2010/main" val="2044274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kidney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kidneys increase in </a:t>
            </a:r>
            <a:r>
              <a:rPr lang="en-US" dirty="0" smtClean="0"/>
              <a:t>length ≈ </a:t>
            </a:r>
            <a:r>
              <a:rPr lang="en-US" dirty="0"/>
              <a:t>1 cm as a result of the increase in blood volume</a:t>
            </a:r>
          </a:p>
          <a:p>
            <a:r>
              <a:rPr lang="en-US" dirty="0" smtClean="0"/>
              <a:t>↑GFR 50%</a:t>
            </a:r>
          </a:p>
          <a:p>
            <a:r>
              <a:rPr lang="en-US" dirty="0" smtClean="0"/>
              <a:t>Rise in urea, creatinine and uric acid clearance</a:t>
            </a:r>
          </a:p>
          <a:p>
            <a:r>
              <a:rPr lang="en-US" dirty="0"/>
              <a:t>Glycosuria</a:t>
            </a:r>
          </a:p>
          <a:p>
            <a:pPr lvl="1"/>
            <a:r>
              <a:rPr lang="en-US" dirty="0"/>
              <a:t>Reduced distal tubular reabsorption</a:t>
            </a:r>
          </a:p>
          <a:p>
            <a:pPr lvl="1"/>
            <a:r>
              <a:rPr lang="en-US" dirty="0"/>
              <a:t>↑GFR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78289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Kidney...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Protein uria</a:t>
            </a:r>
          </a:p>
          <a:p>
            <a:r>
              <a:rPr lang="en-US" dirty="0" smtClean="0"/>
              <a:t>↑ed tubular reabsorption of sodium</a:t>
            </a:r>
          </a:p>
          <a:p>
            <a:r>
              <a:rPr lang="en-US" dirty="0" smtClean="0"/>
              <a:t>ureters and renal pelvis dilate</a:t>
            </a:r>
          </a:p>
          <a:p>
            <a:r>
              <a:rPr lang="en-US" dirty="0" smtClean="0"/>
              <a:t>Urinary stasis...</a:t>
            </a:r>
          </a:p>
          <a:p>
            <a:r>
              <a:rPr lang="en-US" dirty="0" smtClean="0"/>
              <a:t>The </a:t>
            </a:r>
            <a:r>
              <a:rPr lang="en-US" dirty="0"/>
              <a:t>GFR and BUN concentration slowly return to non pregnant values by the sixth post partum week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109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9679020"/>
              </p:ext>
            </p:extLst>
          </p:nvPr>
        </p:nvGraphicFramePr>
        <p:xfrm>
          <a:off x="457200" y="1600200"/>
          <a:ext cx="54864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Parameter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pregnant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Creatinine</a:t>
                      </a:r>
                      <a:r>
                        <a:rPr lang="en-US" baseline="0" dirty="0" smtClean="0"/>
                        <a:t> clearance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150 to 200 mL/min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BUN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 to</a:t>
                      </a:r>
                      <a:r>
                        <a:rPr lang="en-US" baseline="0" dirty="0" smtClean="0"/>
                        <a:t> 9 mg/dl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Serum</a:t>
                      </a:r>
                      <a:r>
                        <a:rPr lang="en-US" baseline="0" dirty="0" smtClean="0"/>
                        <a:t> creatinine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0.5 to</a:t>
                      </a:r>
                      <a:r>
                        <a:rPr lang="en-US" baseline="0" dirty="0" smtClean="0"/>
                        <a:t> 0.6 mg/dl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79751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Implication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 pregnant values of BUN and creatinine in </a:t>
            </a:r>
            <a:r>
              <a:rPr lang="en-US" dirty="0" smtClean="0"/>
              <a:t>parturient </a:t>
            </a:r>
            <a:r>
              <a:rPr lang="en-US" dirty="0"/>
              <a:t>will suggest abnormal kidney </a:t>
            </a:r>
            <a:r>
              <a:rPr lang="en-US" dirty="0" smtClean="0"/>
              <a:t>function</a:t>
            </a:r>
          </a:p>
          <a:p>
            <a:r>
              <a:rPr lang="en-US" dirty="0"/>
              <a:t>Urinary stasis predisposes them to infection</a:t>
            </a:r>
          </a:p>
        </p:txBody>
      </p:sp>
    </p:spTree>
    <p:extLst>
      <p:ext uri="{BB962C8B-B14F-4D97-AF65-F5344CB8AC3E}">
        <p14:creationId xmlns:p14="http://schemas.microsoft.com/office/powerpoint/2010/main" val="18549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Liver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liver size, morphology, and blood flow do not change during </a:t>
            </a:r>
            <a:r>
              <a:rPr lang="en-US" dirty="0" smtClean="0"/>
              <a:t>pregnancy</a:t>
            </a:r>
          </a:p>
          <a:p>
            <a:r>
              <a:rPr lang="en-US" dirty="0"/>
              <a:t>Upward, posterior and to the right displaced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741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Serum bilirubin                                                  raise to</a:t>
            </a:r>
          </a:p>
          <a:p>
            <a:r>
              <a:rPr lang="en-US" sz="2800" dirty="0" smtClean="0"/>
              <a:t>Alanine aminotransferase (ALT,SGPT)            the upper</a:t>
            </a:r>
          </a:p>
          <a:p>
            <a:r>
              <a:rPr lang="en-US" sz="2800" dirty="0" smtClean="0"/>
              <a:t>Aspartate aminotransferase(AST,SGOT)         limit</a:t>
            </a:r>
          </a:p>
          <a:p>
            <a:r>
              <a:rPr lang="en-US" sz="2800" dirty="0" smtClean="0"/>
              <a:t>Lactic dehydrogenase</a:t>
            </a:r>
          </a:p>
          <a:p>
            <a:r>
              <a:rPr lang="en-US" sz="2800" dirty="0" smtClean="0"/>
              <a:t>An ↑in total plasma alkaline phosphatase concentration ( placental production)</a:t>
            </a:r>
          </a:p>
        </p:txBody>
      </p:sp>
      <p:sp>
        <p:nvSpPr>
          <p:cNvPr id="5" name="Right Brace 4"/>
          <p:cNvSpPr/>
          <p:nvPr/>
        </p:nvSpPr>
        <p:spPr>
          <a:xfrm>
            <a:off x="6172200" y="1752600"/>
            <a:ext cx="762000" cy="2057400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958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Impaired gall bladder function and empting</a:t>
            </a:r>
          </a:p>
          <a:p>
            <a:r>
              <a:rPr lang="en-US" dirty="0"/>
              <a:t>Reduction in serum cholinesterase activity</a:t>
            </a:r>
          </a:p>
          <a:p>
            <a:r>
              <a:rPr lang="en-US" dirty="0"/>
              <a:t>normal dosing of succinylcholine for intubation (1 to 1.5 mg/kg ) is not associated with prolonged neuromuscular blockade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628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Physiological change in the other parts of the body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Weight gain 17% of non pregnant weight(10 to 12kg)</a:t>
            </a:r>
          </a:p>
          <a:p>
            <a:pPr lvl="1"/>
            <a:r>
              <a:rPr lang="en-US" sz="2400" dirty="0" smtClean="0"/>
              <a:t>1</a:t>
            </a:r>
            <a:r>
              <a:rPr lang="en-US" sz="2400" baseline="30000" dirty="0" smtClean="0"/>
              <a:t>st</a:t>
            </a:r>
            <a:r>
              <a:rPr lang="en-US" sz="2400" dirty="0" smtClean="0"/>
              <a:t> trimester 1-2 kg</a:t>
            </a:r>
          </a:p>
          <a:p>
            <a:pPr lvl="1"/>
            <a:r>
              <a:rPr lang="en-US" sz="2400" dirty="0" smtClean="0"/>
              <a:t>2</a:t>
            </a:r>
            <a:r>
              <a:rPr lang="en-US" sz="2400" baseline="30000" dirty="0" smtClean="0"/>
              <a:t>nd</a:t>
            </a:r>
            <a:r>
              <a:rPr lang="en-US" sz="2400" dirty="0" smtClean="0"/>
              <a:t> and 3</a:t>
            </a:r>
            <a:r>
              <a:rPr lang="en-US" sz="2400" baseline="30000" dirty="0" smtClean="0"/>
              <a:t>rd</a:t>
            </a:r>
            <a:r>
              <a:rPr lang="en-US" sz="2400" dirty="0" smtClean="0"/>
              <a:t> trimester 5-6 kg</a:t>
            </a:r>
          </a:p>
          <a:p>
            <a:r>
              <a:rPr lang="en-US" sz="2800" dirty="0" smtClean="0"/>
              <a:t>Generalized ligamentous relaxation and softening of collagenous tissues</a:t>
            </a:r>
          </a:p>
          <a:p>
            <a:pPr lvl="1"/>
            <a:r>
              <a:rPr lang="en-US" sz="2400" dirty="0" smtClean="0"/>
              <a:t>Relaxin </a:t>
            </a:r>
          </a:p>
          <a:p>
            <a:r>
              <a:rPr lang="en-US" sz="2800" dirty="0" smtClean="0"/>
              <a:t>Hyperpigmentation of certain parts of the body</a:t>
            </a:r>
          </a:p>
          <a:p>
            <a:r>
              <a:rPr lang="en-US" sz="2800" dirty="0" smtClean="0"/>
              <a:t>Enlargement of the breast</a:t>
            </a:r>
          </a:p>
          <a:p>
            <a:r>
              <a:rPr lang="en-US" sz="2800" dirty="0" smtClean="0"/>
              <a:t>Reduction in intraocular pressure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96917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Physiological change in the other parts of the body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Weight gain 17% of non pregnant weight(10 to 12kg)</a:t>
            </a:r>
          </a:p>
          <a:p>
            <a:pPr lvl="1"/>
            <a:r>
              <a:rPr lang="en-US" sz="2400" dirty="0" smtClean="0"/>
              <a:t>1</a:t>
            </a:r>
            <a:r>
              <a:rPr lang="en-US" sz="2400" baseline="30000" dirty="0" smtClean="0"/>
              <a:t>st</a:t>
            </a:r>
            <a:r>
              <a:rPr lang="en-US" sz="2400" dirty="0" smtClean="0"/>
              <a:t> trimester 1-2 kg</a:t>
            </a:r>
          </a:p>
          <a:p>
            <a:pPr lvl="1"/>
            <a:r>
              <a:rPr lang="en-US" sz="2400" dirty="0" smtClean="0"/>
              <a:t>2</a:t>
            </a:r>
            <a:r>
              <a:rPr lang="en-US" sz="2400" baseline="30000" dirty="0" smtClean="0"/>
              <a:t>nd</a:t>
            </a:r>
            <a:r>
              <a:rPr lang="en-US" sz="2400" dirty="0" smtClean="0"/>
              <a:t> and 3</a:t>
            </a:r>
            <a:r>
              <a:rPr lang="en-US" sz="2400" baseline="30000" dirty="0" smtClean="0"/>
              <a:t>rd</a:t>
            </a:r>
            <a:r>
              <a:rPr lang="en-US" sz="2400" dirty="0" smtClean="0"/>
              <a:t> trimester 5-6 kg</a:t>
            </a:r>
          </a:p>
          <a:p>
            <a:r>
              <a:rPr lang="en-US" sz="2800" dirty="0" smtClean="0"/>
              <a:t>Generalized ligamentous relaxation and softening of collagenous tissues</a:t>
            </a:r>
          </a:p>
          <a:p>
            <a:pPr lvl="1"/>
            <a:r>
              <a:rPr lang="en-US" sz="2400" dirty="0" smtClean="0"/>
              <a:t>Relaxin </a:t>
            </a:r>
          </a:p>
          <a:p>
            <a:r>
              <a:rPr lang="en-US" sz="2800" dirty="0" smtClean="0"/>
              <a:t>Hyperpigmentation of certain parts of the body</a:t>
            </a:r>
          </a:p>
          <a:p>
            <a:r>
              <a:rPr lang="en-US" sz="2800" dirty="0" smtClean="0"/>
              <a:t>Enlargement of the breast</a:t>
            </a:r>
          </a:p>
          <a:p>
            <a:r>
              <a:rPr lang="en-US" sz="2800" dirty="0" smtClean="0"/>
              <a:t>Reduction in intraocular pressure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96917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230562"/>
          </a:xfrm>
        </p:spPr>
        <p:txBody>
          <a:bodyPr>
            <a:normAutofit/>
          </a:bodyPr>
          <a:lstStyle/>
          <a:p>
            <a:r>
              <a:rPr lang="en-US" dirty="0" smtClean="0"/>
              <a:t>What is the anesthetic implication of the physiologic changes?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188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Anesthetic implications of physiologic changes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Positioning of pregnant woman</a:t>
            </a:r>
          </a:p>
          <a:p>
            <a:r>
              <a:rPr lang="en-US" sz="2800" dirty="0" smtClean="0"/>
              <a:t>Minimize aortocaval compression in all pregnant women by placing a cushion or wedge under the parturient’s right hip.</a:t>
            </a:r>
          </a:p>
          <a:p>
            <a:pPr marL="0" indent="0">
              <a:buNone/>
            </a:pPr>
            <a:endParaRPr lang="en-US" sz="2000" dirty="0" smtClean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48000"/>
            <a:ext cx="7086600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486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Become hypoxemic more rapidly during episodes of apnea  </a:t>
                </a:r>
              </a:p>
              <a:p>
                <a:pPr marL="400050" lvl="1" indent="0">
                  <a:buNone/>
                </a:pPr>
                <a:r>
                  <a:rPr lang="en-US" dirty="0" smtClean="0"/>
                  <a:t>- </a:t>
                </a:r>
                <a:r>
                  <a:rPr lang="en-US" dirty="0"/>
                  <a:t>↓</a:t>
                </a:r>
                <a:r>
                  <a:rPr lang="en-US" dirty="0" smtClean="0"/>
                  <a:t>FRC ↑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consumption </a:t>
                </a:r>
                <a:r>
                  <a:rPr lang="en-US" dirty="0"/>
                  <a:t>of pregnant </a:t>
                </a:r>
                <a:r>
                  <a:rPr lang="en-US" dirty="0" smtClean="0"/>
                  <a:t>women</a:t>
                </a:r>
              </a:p>
              <a:p>
                <a:r>
                  <a:rPr lang="en-US" dirty="0"/>
                  <a:t>Engorgement of the oropharyngeal </a:t>
                </a:r>
                <a:r>
                  <a:rPr lang="en-US" dirty="0" smtClean="0"/>
                  <a:t>mucosa</a:t>
                </a:r>
                <a:r>
                  <a:rPr lang="en-US" baseline="30000" dirty="0"/>
                  <a:t> </a:t>
                </a:r>
                <a:r>
                  <a:rPr lang="en-US" dirty="0" smtClean="0"/>
                  <a:t>most </a:t>
                </a:r>
                <a:r>
                  <a:rPr lang="en-US" dirty="0"/>
                  <a:t>likely accounts for the increase in Mallampati score </a:t>
                </a:r>
                <a:endParaRPr lang="en-US" dirty="0" smtClean="0"/>
              </a:p>
              <a:p>
                <a:r>
                  <a:rPr lang="en-US" dirty="0"/>
                  <a:t>Ventilation during general anesthesia should be adjusted so that the Pa</a:t>
                </a:r>
                <a:r>
                  <a:rPr lang="en-US" cap="small" dirty="0"/>
                  <a:t>co</a:t>
                </a:r>
                <a:r>
                  <a:rPr lang="en-US" baseline="-25000" dirty="0"/>
                  <a:t>2</a:t>
                </a:r>
                <a:r>
                  <a:rPr lang="en-US" dirty="0"/>
                  <a:t> of the parturient is maintained at 30 mm Hg.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2830" r="-2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4614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Allowing the Pa</a:t>
            </a:r>
            <a:r>
              <a:rPr lang="en-US" cap="small" dirty="0"/>
              <a:t>co</a:t>
            </a:r>
            <a:r>
              <a:rPr lang="en-US" baseline="-25000" dirty="0"/>
              <a:t>2</a:t>
            </a:r>
            <a:r>
              <a:rPr lang="en-US" dirty="0"/>
              <a:t> to increase to the normal level for nonpregnant women (40 mm Hg) results in acute </a:t>
            </a:r>
            <a:r>
              <a:rPr lang="en-US" dirty="0" smtClean="0"/>
              <a:t>respiratory acidosis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The ↑ed MV </a:t>
            </a:r>
            <a:r>
              <a:rPr lang="en-US" dirty="0"/>
              <a:t>combined </a:t>
            </a:r>
            <a:r>
              <a:rPr lang="en-US" dirty="0" smtClean="0"/>
              <a:t>with ↓ed FRC enhances inhalation induction or </a:t>
            </a:r>
            <a:r>
              <a:rPr lang="en-US" dirty="0"/>
              <a:t>changes in depth of </a:t>
            </a:r>
            <a:r>
              <a:rPr lang="en-US" dirty="0" smtClean="0"/>
              <a:t>anesthesia </a:t>
            </a:r>
            <a:r>
              <a:rPr lang="en-US" dirty="0"/>
              <a:t>when breathing spontaneously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90397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Aspiration prophylaxis is necessary</a:t>
            </a:r>
          </a:p>
          <a:p>
            <a:pPr lvl="1"/>
            <a:r>
              <a:rPr lang="en-US" dirty="0" smtClean="0"/>
              <a:t>clear </a:t>
            </a:r>
            <a:r>
              <a:rPr lang="en-US" dirty="0"/>
              <a:t>antacids such as sodium citrate (0.3mol) </a:t>
            </a:r>
            <a:r>
              <a:rPr lang="en-US" dirty="0" smtClean="0"/>
              <a:t>or </a:t>
            </a:r>
            <a:r>
              <a:rPr lang="en-US" dirty="0"/>
              <a:t>bicarbonate </a:t>
            </a:r>
            <a:r>
              <a:rPr lang="en-US" dirty="0" smtClean="0"/>
              <a:t>should be used</a:t>
            </a:r>
          </a:p>
          <a:p>
            <a:pPr lvl="1"/>
            <a:r>
              <a:rPr lang="en-US" dirty="0" smtClean="0"/>
              <a:t>H2 receptor antagonists</a:t>
            </a:r>
          </a:p>
          <a:p>
            <a:r>
              <a:rPr lang="en-US" dirty="0"/>
              <a:t>a cuffed endotracheal </a:t>
            </a:r>
            <a:r>
              <a:rPr lang="en-US" dirty="0" smtClean="0"/>
              <a:t>tube is mandatory</a:t>
            </a:r>
          </a:p>
          <a:p>
            <a:r>
              <a:rPr lang="en-US" dirty="0"/>
              <a:t>a reduced drug requirement, manifest in both regional and </a:t>
            </a:r>
            <a:r>
              <a:rPr lang="en-US" dirty="0" smtClean="0"/>
              <a:t>general anesthesia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780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73162"/>
          </a:xfrm>
        </p:spPr>
        <p:txBody>
          <a:bodyPr>
            <a:noAutofit/>
          </a:bodyPr>
          <a:lstStyle/>
          <a:p>
            <a:r>
              <a:rPr lang="en-US" sz="2800" dirty="0" smtClean="0"/>
              <a:t>Anesthetic implication…cont’d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334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/>
              <a:t>    Blood replacement </a:t>
            </a:r>
            <a:endParaRPr lang="en-US" sz="2800" b="1" dirty="0"/>
          </a:p>
          <a:p>
            <a:pPr marL="0" indent="0">
              <a:buNone/>
            </a:pPr>
            <a:endParaRPr lang="en-US" sz="2800" b="1" dirty="0" smtClean="0"/>
          </a:p>
          <a:p>
            <a:r>
              <a:rPr lang="en-US" sz="2800" dirty="0" smtClean="0"/>
              <a:t>Parturients can tolerate greater blood loss than non pregnant women undergoing surgery</a:t>
            </a:r>
          </a:p>
          <a:p>
            <a:pPr marL="0" indent="0">
              <a:buNone/>
            </a:pPr>
            <a:endParaRPr lang="en-US" sz="2800" dirty="0" smtClean="0"/>
          </a:p>
          <a:p>
            <a:r>
              <a:rPr lang="en-US" sz="2800" dirty="0" smtClean="0"/>
              <a:t>Blood loss up to 500 ml do not need to be replaced for hemodynamic stability during delivery</a:t>
            </a:r>
          </a:p>
          <a:p>
            <a:endParaRPr lang="en-US" sz="28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71265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Anesthetic consideration...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General anesthesia</a:t>
            </a:r>
          </a:p>
          <a:p>
            <a:pPr marL="0" indent="0">
              <a:buNone/>
            </a:pPr>
            <a:r>
              <a:rPr lang="en-US" dirty="0"/>
              <a:t>Endotracheal intubation</a:t>
            </a:r>
          </a:p>
          <a:p>
            <a:r>
              <a:rPr lang="en-US" dirty="0"/>
              <a:t>Smaller endotracheal tubes required</a:t>
            </a:r>
          </a:p>
          <a:p>
            <a:r>
              <a:rPr lang="en-US" dirty="0"/>
              <a:t>Increased risk of trauma with nasotracheal intubation</a:t>
            </a:r>
          </a:p>
          <a:p>
            <a:r>
              <a:rPr lang="en-US" dirty="0"/>
              <a:t>Increased risk of failed intubation</a:t>
            </a:r>
          </a:p>
          <a:p>
            <a:r>
              <a:rPr lang="en-US" dirty="0"/>
              <a:t>Increased risk of pulmonary aspiration of gastric content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452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Autofit/>
          </a:bodyPr>
          <a:lstStyle/>
          <a:p>
            <a:r>
              <a:rPr lang="en-US" sz="2800" dirty="0" smtClean="0"/>
              <a:t>Anesthetic implication…cont’d 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762000"/>
                <a:ext cx="8229600" cy="59436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800" dirty="0" smtClean="0"/>
                  <a:t>Maternal oxygenation</a:t>
                </a:r>
              </a:p>
              <a:p>
                <a:r>
                  <a:rPr lang="en-US" sz="2800" dirty="0" smtClean="0"/>
                  <a:t>Increased physiological shunt when supine</a:t>
                </a:r>
              </a:p>
              <a:p>
                <a:r>
                  <a:rPr lang="en-US" sz="2800" dirty="0" smtClean="0"/>
                  <a:t>Increased rate of decline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𝑃𝑎𝑂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 smtClean="0"/>
                  <a:t> during apnea</a:t>
                </a:r>
              </a:p>
              <a:p>
                <a:pPr marL="0" indent="0">
                  <a:buNone/>
                </a:pPr>
                <a:r>
                  <a:rPr lang="en-US" sz="2800" dirty="0"/>
                  <a:t> </a:t>
                </a:r>
                <a:r>
                  <a:rPr lang="en-US" sz="2800" dirty="0" smtClean="0"/>
                  <a:t>             .    Decreased FRC ( store of oxygen )</a:t>
                </a:r>
              </a:p>
              <a:p>
                <a:pPr marL="0" indent="0">
                  <a:buNone/>
                </a:pPr>
                <a:r>
                  <a:rPr lang="en-US" sz="2800" dirty="0"/>
                  <a:t> </a:t>
                </a:r>
                <a:r>
                  <a:rPr lang="en-US" sz="2800" dirty="0" smtClean="0"/>
                  <a:t>             .    Increased oxygen consumption</a:t>
                </a:r>
              </a:p>
              <a:p>
                <a:r>
                  <a:rPr lang="en-US" sz="2800" dirty="0" smtClean="0"/>
                  <a:t>Maternal ventilation</a:t>
                </a:r>
              </a:p>
              <a:p>
                <a:pPr marL="0" indent="0">
                  <a:buNone/>
                </a:pPr>
                <a:r>
                  <a:rPr lang="en-US" sz="2800" dirty="0" smtClean="0"/>
                  <a:t>              .     Increased minute ventilation</a:t>
                </a:r>
              </a:p>
              <a:p>
                <a:pPr marL="0" indent="0">
                  <a:buNone/>
                </a:pPr>
                <a:endParaRPr lang="en-US" sz="2800" dirty="0" smtClean="0"/>
              </a:p>
              <a:p>
                <a:pPr marL="0" indent="0">
                  <a:buNone/>
                </a:pPr>
                <a:endParaRPr lang="en-US" sz="2800" dirty="0" smtClean="0"/>
              </a:p>
              <a:p>
                <a:endParaRPr lang="en-US" sz="2000" dirty="0" smtClean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62000"/>
                <a:ext cx="8229600" cy="5943600"/>
              </a:xfrm>
              <a:blipFill rotWithShape="1">
                <a:blip r:embed="rId2"/>
                <a:stretch>
                  <a:fillRect l="-1481" t="-5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3174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Pregnant and postpartum women exhibit enhanced sensitivity to the aminosteroid muscle relaxants </a:t>
            </a:r>
            <a:r>
              <a:rPr lang="en-US" dirty="0" smtClean="0"/>
              <a:t>vecuronium </a:t>
            </a:r>
            <a:r>
              <a:rPr lang="en-US" dirty="0"/>
              <a:t>and </a:t>
            </a:r>
            <a:r>
              <a:rPr lang="en-US" dirty="0" smtClean="0"/>
              <a:t>rocuronium</a:t>
            </a:r>
          </a:p>
          <a:p>
            <a:r>
              <a:rPr lang="en-US" dirty="0" smtClean="0"/>
              <a:t>Atracurium – no alterations</a:t>
            </a:r>
          </a:p>
          <a:p>
            <a:r>
              <a:rPr lang="en-US" dirty="0" smtClean="0"/>
              <a:t>The </a:t>
            </a:r>
            <a:r>
              <a:rPr lang="en-US" dirty="0"/>
              <a:t>chronotropic response to isoproterenol and </a:t>
            </a:r>
            <a:r>
              <a:rPr lang="en-US" dirty="0" smtClean="0"/>
              <a:t>epinephrine</a:t>
            </a:r>
            <a:r>
              <a:rPr lang="en-US" dirty="0"/>
              <a:t> </a:t>
            </a:r>
            <a:r>
              <a:rPr lang="en-US" dirty="0" smtClean="0"/>
              <a:t>is reduced (</a:t>
            </a:r>
            <a:r>
              <a:rPr lang="en-US" dirty="0"/>
              <a:t>down-regulation of beta-adrenergic receptors</a:t>
            </a:r>
            <a:r>
              <a:rPr lang="en-US" dirty="0" smtClean="0"/>
              <a:t>)</a:t>
            </a:r>
          </a:p>
          <a:p>
            <a:pPr lvl="1"/>
            <a:r>
              <a:rPr lang="en-US" dirty="0"/>
              <a:t>less sensitive markers of </a:t>
            </a:r>
            <a:r>
              <a:rPr lang="en-US" dirty="0" smtClean="0"/>
              <a:t>IV </a:t>
            </a:r>
            <a:r>
              <a:rPr lang="en-US" dirty="0"/>
              <a:t>injection during </a:t>
            </a:r>
            <a:r>
              <a:rPr lang="en-US" dirty="0" smtClean="0"/>
              <a:t>RA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13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Anesthetic implication …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14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Regional anesthesia</a:t>
            </a:r>
          </a:p>
          <a:p>
            <a:r>
              <a:rPr lang="en-US" sz="2800" dirty="0" smtClean="0"/>
              <a:t>Technical difficulty during regional anesthesia may occur due to enhanced lumbar lordosis and it reduces the vertebral interspinous gap.</a:t>
            </a:r>
          </a:p>
          <a:p>
            <a:pPr marL="0" indent="0">
              <a:buNone/>
            </a:pPr>
            <a:r>
              <a:rPr lang="en-US" sz="2800" dirty="0" smtClean="0"/>
              <a:t> </a:t>
            </a:r>
            <a:endParaRPr lang="en-US" sz="2800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667000"/>
            <a:ext cx="4876801" cy="33369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0991" y="6128266"/>
            <a:ext cx="1482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Non pregnant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114799" y="6034851"/>
            <a:ext cx="1037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pregnant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878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Anesthetic implication…cont’d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63879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Widening of the pelvic results in head- down tilt when the parturient is in lateral position. </a:t>
            </a:r>
          </a:p>
          <a:p>
            <a:r>
              <a:rPr lang="en-US" sz="2800" dirty="0" smtClean="0"/>
              <a:t>If hyper baric solution is injected in this position the head-down tilt will enhance the spread of anesthetic solution.</a:t>
            </a:r>
            <a:endParaRPr lang="en-US" sz="2800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3124200"/>
            <a:ext cx="5791200" cy="3352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1615" y="3382304"/>
            <a:ext cx="1090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Pregnant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96243" y="5181600"/>
            <a:ext cx="1482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Non pregnant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346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Distension of the extradural veins </a:t>
            </a:r>
            <a:r>
              <a:rPr lang="en-US" dirty="0" smtClean="0"/>
              <a:t>↑s the </a:t>
            </a:r>
            <a:r>
              <a:rPr lang="en-US" dirty="0"/>
              <a:t>risk of </a:t>
            </a:r>
            <a:r>
              <a:rPr lang="en-US" dirty="0" smtClean="0"/>
              <a:t>vascular damage </a:t>
            </a:r>
            <a:r>
              <a:rPr lang="en-US" dirty="0"/>
              <a:t>during institution of a regional </a:t>
            </a:r>
            <a:r>
              <a:rPr lang="en-US" dirty="0" smtClean="0"/>
              <a:t>block</a:t>
            </a:r>
          </a:p>
          <a:p>
            <a:r>
              <a:rPr lang="en-US" dirty="0"/>
              <a:t>The increased </a:t>
            </a:r>
            <a:r>
              <a:rPr lang="en-US" dirty="0" smtClean="0"/>
              <a:t>venous volume </a:t>
            </a:r>
            <a:r>
              <a:rPr lang="en-US" dirty="0"/>
              <a:t>within the rigid spinal canal reduces the volume or </a:t>
            </a:r>
            <a:r>
              <a:rPr lang="en-US" dirty="0" smtClean="0"/>
              <a:t>capacity of </a:t>
            </a:r>
            <a:r>
              <a:rPr lang="en-US" dirty="0"/>
              <a:t>the extradural and intrathecal spaces for local </a:t>
            </a:r>
            <a:r>
              <a:rPr lang="en-US" dirty="0" smtClean="0"/>
              <a:t>anesthetic solutions→ increase </a:t>
            </a:r>
            <a:r>
              <a:rPr lang="en-US" dirty="0"/>
              <a:t>the spread of injected drugs</a:t>
            </a:r>
          </a:p>
        </p:txBody>
      </p:sp>
    </p:spTree>
    <p:extLst>
      <p:ext uri="{BB962C8B-B14F-4D97-AF65-F5344CB8AC3E}">
        <p14:creationId xmlns:p14="http://schemas.microsoft.com/office/powerpoint/2010/main" val="3527475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phenylephrine and ephedrine have similar efficacy in the </a:t>
            </a:r>
            <a:r>
              <a:rPr lang="en-US" dirty="0" smtClean="0"/>
              <a:t>treatment </a:t>
            </a:r>
            <a:r>
              <a:rPr lang="en-US" dirty="0"/>
              <a:t>of </a:t>
            </a:r>
            <a:r>
              <a:rPr lang="en-US" dirty="0" smtClean="0"/>
              <a:t>hypotension</a:t>
            </a:r>
          </a:p>
          <a:p>
            <a:r>
              <a:rPr lang="en-US" dirty="0"/>
              <a:t>rapid onset and a longer duration of spinal anesthesia than nonpregnant </a:t>
            </a:r>
            <a:r>
              <a:rPr lang="en-US" dirty="0" smtClean="0"/>
              <a:t>women</a:t>
            </a:r>
          </a:p>
          <a:p>
            <a:r>
              <a:rPr lang="en-US" dirty="0"/>
              <a:t>Pregnancy enhances the neural sensitivity of peripheral nerves to local anesthetics 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327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31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1906</TotalTime>
  <Words>2226</Words>
  <Application>Microsoft Office PowerPoint</Application>
  <PresentationFormat>On-screen Show (4:3)</PresentationFormat>
  <Paragraphs>417</Paragraphs>
  <Slides>68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0" baseType="lpstr">
      <vt:lpstr>Office Theme</vt:lpstr>
      <vt:lpstr>Clip</vt:lpstr>
      <vt:lpstr>Chapter one </vt:lpstr>
      <vt:lpstr>Outline </vt:lpstr>
      <vt:lpstr>Objectives </vt:lpstr>
      <vt:lpstr>PowerPoint Presentation</vt:lpstr>
      <vt:lpstr>Quiz </vt:lpstr>
      <vt:lpstr>Quiz </vt:lpstr>
      <vt:lpstr>Why physiologic changes occur during pregnancy?</vt:lpstr>
      <vt:lpstr>Introduction </vt:lpstr>
      <vt:lpstr>Introduction </vt:lpstr>
      <vt:lpstr>Introduction...cont’d</vt:lpstr>
      <vt:lpstr>Cardiovascular changes </vt:lpstr>
      <vt:lpstr>Heart rate and stroke volume</vt:lpstr>
      <vt:lpstr>Cardiac output</vt:lpstr>
      <vt:lpstr>Cardiac output </vt:lpstr>
      <vt:lpstr>Cardiac changes</vt:lpstr>
      <vt:lpstr>ECG</vt:lpstr>
      <vt:lpstr>Hemodynamics </vt:lpstr>
      <vt:lpstr>Blood pressure</vt:lpstr>
      <vt:lpstr> Blood volume</vt:lpstr>
      <vt:lpstr>Blood volume</vt:lpstr>
      <vt:lpstr>Blood volume...cont’d</vt:lpstr>
      <vt:lpstr>...cont’d</vt:lpstr>
      <vt:lpstr> Plasma protein </vt:lpstr>
      <vt:lpstr>Coagulation </vt:lpstr>
      <vt:lpstr>Coagulation factors in pregnancy</vt:lpstr>
      <vt:lpstr> Summery of cardiovascular changes during pregnancy</vt:lpstr>
      <vt:lpstr>Respiratory </vt:lpstr>
      <vt:lpstr>Chest wall changes </vt:lpstr>
      <vt:lpstr>Respiratory ... Cont’d</vt:lpstr>
      <vt:lpstr>Respiratory changes</vt:lpstr>
      <vt:lpstr>Respiratory … cont’d</vt:lpstr>
      <vt:lpstr>...cont’d</vt:lpstr>
      <vt:lpstr>...cont’d</vt:lpstr>
      <vt:lpstr> Blood gases during pregnancy </vt:lpstr>
      <vt:lpstr>Implication </vt:lpstr>
      <vt:lpstr>Gastrointestinal system changes </vt:lpstr>
      <vt:lpstr>Gastrointestinal....cont’d</vt:lpstr>
      <vt:lpstr>Change in gastro intestinal physiology during pregnancy</vt:lpstr>
      <vt:lpstr>Implications </vt:lpstr>
      <vt:lpstr>Metabolism and endocrine</vt:lpstr>
      <vt:lpstr>Endocrine </vt:lpstr>
      <vt:lpstr>...cont’d</vt:lpstr>
      <vt:lpstr>Metabolic changes</vt:lpstr>
      <vt:lpstr>Nervous system</vt:lpstr>
      <vt:lpstr>Nervous...cont’d</vt:lpstr>
      <vt:lpstr>kidney</vt:lpstr>
      <vt:lpstr>Kidney... Cont’d</vt:lpstr>
      <vt:lpstr>PowerPoint Presentation</vt:lpstr>
      <vt:lpstr>Implication </vt:lpstr>
      <vt:lpstr>Liver </vt:lpstr>
      <vt:lpstr>liver</vt:lpstr>
      <vt:lpstr>...Cont’d</vt:lpstr>
      <vt:lpstr>Physiological change in the other parts of the body</vt:lpstr>
      <vt:lpstr>Physiological change in the other parts of the body</vt:lpstr>
      <vt:lpstr>What is the anesthetic implication of the physiologic changes?</vt:lpstr>
      <vt:lpstr>Anesthetic implications of physiologic changes</vt:lpstr>
      <vt:lpstr>...cont’d</vt:lpstr>
      <vt:lpstr>...cont’d</vt:lpstr>
      <vt:lpstr>...cont’d</vt:lpstr>
      <vt:lpstr>Anesthetic implication…cont’d </vt:lpstr>
      <vt:lpstr>Anesthetic consideration... Cont’d</vt:lpstr>
      <vt:lpstr>Anesthetic implication…cont’d </vt:lpstr>
      <vt:lpstr>...cont’d</vt:lpstr>
      <vt:lpstr>Anesthetic implication … cont’d</vt:lpstr>
      <vt:lpstr>Anesthetic implication…cont’d</vt:lpstr>
      <vt:lpstr>...cont’d</vt:lpstr>
      <vt:lpstr>...cont’d</vt:lpstr>
      <vt:lpstr>Summary </vt:lpstr>
    </vt:vector>
  </TitlesOfParts>
  <Company>Toshiba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one</dc:title>
  <dc:creator>Alemtsehay</dc:creator>
  <cp:lastModifiedBy>user</cp:lastModifiedBy>
  <cp:revision>22</cp:revision>
  <dcterms:created xsi:type="dcterms:W3CDTF">2016-02-16T09:19:46Z</dcterms:created>
  <dcterms:modified xsi:type="dcterms:W3CDTF">2025-05-14T09:08:52Z</dcterms:modified>
</cp:coreProperties>
</file>