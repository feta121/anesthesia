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6858000" type="screen4x3"/>
  <p:notesSz cx="6858000" cy="9144000"/>
  <p:defaultTextStyle>
    <a:defPPr>
      <a:defRPr lang="en-US"/>
    </a:defPPr>
    <a:lvl1pPr marL="0" indent="0" algn="l" defTabSz="914400" rtl="0" eaLnBrk="1" latinLnBrk="1" hangingPunct="1">
      <a:lnSpc>
        <a:spcPct val="100000"/>
      </a:lnSpc>
      <a:defRPr lang="en-US" sz="1800" b="0" i="0" u="none" strike="noStrike" kern="1200" smtClean="0">
        <a:solidFill>
          <a:schemeClr val="tx1"/>
        </a:solidFill>
        <a:latin typeface="+mn-lt"/>
        <a:ea typeface="+mn-ea"/>
        <a:cs typeface="+mn-cs"/>
      </a:defRPr>
    </a:lvl1pPr>
    <a:lvl2pPr marL="457200" lvl="1" indent="0" algn="l" defTabSz="914400" rtl="0" eaLnBrk="1" latinLnBrk="1" hangingPunct="1">
      <a:lnSpc>
        <a:spcPct val="100000"/>
      </a:lnSpc>
      <a:defRPr lang="en-US" sz="1800" b="0" i="0" u="none" strike="noStrike" kern="1200" smtClean="0">
        <a:solidFill>
          <a:schemeClr val="tx1"/>
        </a:solidFill>
        <a:latin typeface="+mn-lt"/>
        <a:ea typeface="+mn-ea"/>
        <a:cs typeface="+mn-cs"/>
      </a:defRPr>
    </a:lvl2pPr>
    <a:lvl3pPr marL="914400" lvl="2" indent="0" algn="l" defTabSz="914400" rtl="0" eaLnBrk="1" latinLnBrk="1" hangingPunct="1">
      <a:lnSpc>
        <a:spcPct val="100000"/>
      </a:lnSpc>
      <a:defRPr lang="en-US" sz="1800" b="0" i="0" u="none" strike="noStrike" kern="1200" smtClean="0">
        <a:solidFill>
          <a:schemeClr val="tx1"/>
        </a:solidFill>
        <a:latin typeface="+mn-lt"/>
        <a:ea typeface="+mn-ea"/>
        <a:cs typeface="+mn-cs"/>
      </a:defRPr>
    </a:lvl3pPr>
    <a:lvl4pPr marL="1371600" lvl="3" indent="0" algn="l" defTabSz="914400" rtl="0" eaLnBrk="1" latinLnBrk="1" hangingPunct="1">
      <a:lnSpc>
        <a:spcPct val="100000"/>
      </a:lnSpc>
      <a:defRPr lang="en-US" sz="1800" b="0" i="0" u="none" strike="noStrike" kern="1200" smtClean="0">
        <a:solidFill>
          <a:schemeClr val="tx1"/>
        </a:solidFill>
        <a:latin typeface="+mn-lt"/>
        <a:ea typeface="+mn-ea"/>
        <a:cs typeface="+mn-cs"/>
      </a:defRPr>
    </a:lvl4pPr>
    <a:lvl5pPr marL="1828800" lvl="4" indent="0" algn="l" defTabSz="914400" rtl="0" eaLnBrk="1" latinLnBrk="1" hangingPunct="1">
      <a:lnSpc>
        <a:spcPct val="100000"/>
      </a:lnSpc>
      <a:defRPr lang="en-US" sz="1800" b="0" i="0" u="none" strike="noStrike" kern="1200" smtClean="0">
        <a:solidFill>
          <a:schemeClr val="tx1"/>
        </a:solidFill>
        <a:latin typeface="+mn-lt"/>
        <a:ea typeface="+mn-ea"/>
        <a:cs typeface="+mn-cs"/>
      </a:defRPr>
    </a:lvl5pPr>
    <a:lvl6pPr marL="2286000" lvl="5" indent="0" algn="l" defTabSz="914400" rtl="0" eaLnBrk="1" latinLnBrk="1" hangingPunct="1">
      <a:lnSpc>
        <a:spcPct val="100000"/>
      </a:lnSpc>
      <a:defRPr lang="en-US" sz="1800" b="0" i="0" u="none" strike="noStrike" kern="1200" smtClean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rtl="0" eaLnBrk="1" latinLnBrk="1" hangingPunct="1">
      <a:lnSpc>
        <a:spcPct val="100000"/>
      </a:lnSpc>
      <a:defRPr lang="en-US" sz="1800" b="0" i="0" u="none" strike="noStrike" kern="1200" smtClean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rtl="0" eaLnBrk="1" latinLnBrk="1" hangingPunct="1">
      <a:lnSpc>
        <a:spcPct val="100000"/>
      </a:lnSpc>
      <a:defRPr lang="en-US" sz="1800" b="0" i="0" u="none" strike="noStrike" kern="1200" smtClean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rtl="0" eaLnBrk="1" latinLnBrk="1" hangingPunct="1">
      <a:lnSpc>
        <a:spcPct val="100000"/>
      </a:lnSpc>
      <a:defRPr lang="en-US" sz="1800" b="0" i="0" u="none" strike="noStrike" kern="1200" smtClean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20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58643-3167-4289-935E-5656B5596936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D366C-66AB-41D0-94B1-450CCEC75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84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7F60A9-8400-44C4-A561-9620E8AEACBD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292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5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7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4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26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0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6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9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7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8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0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9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01644-7D1D-45EA-8F78-740E3428AC14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E110B-139F-409A-980A-A4680292C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5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45162"/>
          </a:xfrm>
        </p:spPr>
        <p:txBody>
          <a:bodyPr/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Anesthesia for gynecologic tumors and non-obstetric surgery during pregnancy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00600"/>
            <a:ext cx="8229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5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the anesthetic considerations for gynecologic surgeries</a:t>
            </a:r>
          </a:p>
          <a:p>
            <a:r>
              <a:rPr lang="en-US" dirty="0"/>
              <a:t>Explain the anesthetic considerations for pregnant women having non obstetrics surgery</a:t>
            </a:r>
          </a:p>
        </p:txBody>
      </p:sp>
    </p:spTree>
    <p:extLst>
      <p:ext uri="{BB962C8B-B14F-4D97-AF65-F5344CB8AC3E}">
        <p14:creationId xmlns:p14="http://schemas.microsoft.com/office/powerpoint/2010/main" val="2229418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7762"/>
          </a:xfrm>
        </p:spPr>
        <p:txBody>
          <a:bodyPr/>
          <a:lstStyle/>
          <a:p>
            <a:r>
              <a:rPr lang="en-US" dirty="0"/>
              <a:t>Gynecological surgeries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0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Ovarian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Introduction </a:t>
            </a:r>
          </a:p>
          <a:p>
            <a:pPr lvl="1"/>
            <a:r>
              <a:rPr lang="en-US" dirty="0"/>
              <a:t>Stages </a:t>
            </a:r>
          </a:p>
          <a:p>
            <a:r>
              <a:rPr lang="en-US" dirty="0"/>
              <a:t>Risk factors </a:t>
            </a:r>
          </a:p>
          <a:p>
            <a:r>
              <a:rPr lang="en-US" dirty="0"/>
              <a:t>Sign and symptom</a:t>
            </a:r>
          </a:p>
          <a:p>
            <a:r>
              <a:rPr lang="en-US" dirty="0"/>
              <a:t>Diagnosis </a:t>
            </a:r>
          </a:p>
          <a:p>
            <a:r>
              <a:rPr lang="en-US" dirty="0"/>
              <a:t>Treatment </a:t>
            </a:r>
          </a:p>
          <a:p>
            <a:pPr lvl="1"/>
            <a:r>
              <a:rPr lang="en-US" dirty="0"/>
              <a:t>Surgery</a:t>
            </a:r>
          </a:p>
          <a:p>
            <a:pPr lvl="1"/>
            <a:r>
              <a:rPr lang="en-US" dirty="0"/>
              <a:t>Chemotherapy</a:t>
            </a:r>
          </a:p>
          <a:p>
            <a:pPr lvl="1"/>
            <a:r>
              <a:rPr lang="en-US" dirty="0"/>
              <a:t>Radiotherapy </a:t>
            </a:r>
          </a:p>
        </p:txBody>
      </p:sp>
    </p:spTree>
    <p:extLst>
      <p:ext uri="{BB962C8B-B14F-4D97-AF65-F5344CB8AC3E}">
        <p14:creationId xmlns:p14="http://schemas.microsoft.com/office/powerpoint/2010/main" val="174148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2800" dirty="0"/>
              <a:t>Ovarian carcinoma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Introduction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Ovarian carcinoma has the highest mortality rate of all gynecologic malignancies  → discovered in advanced stages 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Wide spread intra-abdominal metastasis to lymph nodes, omentum and peritoneum are often present 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Surgery is indicated for resection of localized tumor and for staging of distant and local metastases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Additional procedures including bowel resection or lymph node dissection may be performed at the same time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332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Anesthetic consideration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Respiratory 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Significant ascites and pleural fluid may produce respiratory compromise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The presence of dyspnea, orthopnea or other chest findings need to be investigated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Underlying lung diseases such as asthma - exacerbated by the abdominal distension/ascites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Consider chest x-ray, others as indicated from history and physical examination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4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Cardiovascular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An ECHO or other studies to evaluate cardiac function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Look for preexisting cardiac disease or exercise intolerance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Irreversible dose dependent cardio toxicity may result from doxorubicin chemotherapy</a:t>
            </a:r>
          </a:p>
        </p:txBody>
      </p:sp>
    </p:spTree>
    <p:extLst>
      <p:ext uri="{BB962C8B-B14F-4D97-AF65-F5344CB8AC3E}">
        <p14:creationId xmlns:p14="http://schemas.microsoft.com/office/powerpoint/2010/main" val="150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…cont’d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>
                <a:solidFill>
                  <a:prstClr val="black"/>
                </a:solidFill>
              </a:rPr>
              <a:t>Gastrointestinal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Patient should have adequate preop. IV hydration if given a bowel preparation overnight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Opioid use may cause a decrease in GI motility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May be malnourished</a:t>
            </a:r>
          </a:p>
          <a:p>
            <a:pPr lvl="0"/>
            <a:r>
              <a:rPr lang="en-US" sz="2800" b="1" dirty="0">
                <a:solidFill>
                  <a:prstClr val="black"/>
                </a:solidFill>
              </a:rPr>
              <a:t>Neurological 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Not usually significant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Taxol and cisplatin may cause peripheral neuropathy</a:t>
            </a:r>
          </a:p>
        </p:txBody>
      </p:sp>
    </p:spTree>
    <p:extLst>
      <p:ext uri="{BB962C8B-B14F-4D97-AF65-F5344CB8AC3E}">
        <p14:creationId xmlns:p14="http://schemas.microsoft.com/office/powerpoint/2010/main" val="1090243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2800" b="1" dirty="0">
                <a:solidFill>
                  <a:prstClr val="black"/>
                </a:solidFill>
              </a:rPr>
              <a:t>Hematology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Bone marrow suppression common following chemotherapy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Carboplatin, commonly used for ovarian cancer often induces thrombocytopenia…test CBC</a:t>
            </a:r>
          </a:p>
          <a:p>
            <a:pPr lvl="0"/>
            <a:r>
              <a:rPr lang="en-US" sz="2800" b="1" dirty="0">
                <a:solidFill>
                  <a:prstClr val="black"/>
                </a:solidFill>
              </a:rPr>
              <a:t>Laboratory 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CBC, hepatic function, PT/PTT, order blood for transfusion</a:t>
            </a:r>
          </a:p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949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General preparation</a:t>
            </a:r>
          </a:p>
          <a:p>
            <a:r>
              <a:rPr lang="en-US" dirty="0"/>
              <a:t>Prepare blood for transfusion</a:t>
            </a:r>
          </a:p>
          <a:p>
            <a:r>
              <a:rPr lang="en-US" dirty="0"/>
              <a:t>Open two big IV lines</a:t>
            </a:r>
          </a:p>
          <a:p>
            <a:r>
              <a:rPr lang="en-US" dirty="0"/>
              <a:t>Warm all IV fluids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955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/>
              <a:t>Intraoperative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Autofit/>
          </a:bodyPr>
          <a:lstStyle/>
          <a:p>
            <a:r>
              <a:rPr lang="en-US" sz="2800" dirty="0"/>
              <a:t>Anesthesia technique – GA ± epidural analgesia</a:t>
            </a:r>
          </a:p>
          <a:p>
            <a:r>
              <a:rPr lang="en-US" sz="2800" dirty="0"/>
              <a:t>Induction – standard induction, consider full stomach precaution if ascites present</a:t>
            </a:r>
          </a:p>
          <a:p>
            <a:r>
              <a:rPr lang="en-US" sz="2800" dirty="0"/>
              <a:t>Maintenance – inhalational + opioids + muscle relaxants… ± epidural analgesia </a:t>
            </a:r>
          </a:p>
          <a:p>
            <a:pPr marL="0" indent="0">
              <a:buNone/>
            </a:pPr>
            <a:r>
              <a:rPr lang="en-US" sz="2800" dirty="0"/>
              <a:t>      - maintain fluid balance and consider blood </a:t>
            </a:r>
          </a:p>
          <a:p>
            <a:pPr marL="0" indent="0">
              <a:buNone/>
            </a:pPr>
            <a:r>
              <a:rPr lang="en-US" sz="2800" dirty="0"/>
              <a:t>        transfusion if necessary</a:t>
            </a:r>
          </a:p>
          <a:p>
            <a:pPr marL="0" indent="0">
              <a:buNone/>
            </a:pPr>
            <a:r>
              <a:rPr lang="en-US" sz="2800" dirty="0"/>
              <a:t>      - consider NG tube</a:t>
            </a:r>
          </a:p>
          <a:p>
            <a:pPr marL="0" indent="0">
              <a:buNone/>
            </a:pPr>
            <a:r>
              <a:rPr lang="en-US" sz="2800" dirty="0"/>
              <a:t>      - 5% albumin or 6% hetastarch are useful for rapid  </a:t>
            </a:r>
          </a:p>
          <a:p>
            <a:pPr marL="0" indent="0">
              <a:buNone/>
            </a:pPr>
            <a:r>
              <a:rPr lang="en-US" sz="2800" dirty="0"/>
              <a:t>         volume replacement if HCT is acceptable</a:t>
            </a:r>
          </a:p>
          <a:p>
            <a:pPr marL="0" indent="0">
              <a:buNone/>
            </a:pPr>
            <a:r>
              <a:rPr lang="en-US" sz="28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917146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the patient may be extubated at the conclusion of surgery, unless hemodynamically unstable and requiring continued vigorous fluid resuscitation</a:t>
            </a:r>
          </a:p>
          <a:p>
            <a:r>
              <a:rPr lang="en-US" sz="2800" dirty="0">
                <a:solidFill>
                  <a:prstClr val="black"/>
                </a:solidFill>
              </a:rPr>
              <a:t>reverse muscle relaxants and give supplemental O2 after extubation</a:t>
            </a:r>
          </a:p>
          <a:p>
            <a:r>
              <a:rPr lang="en-US" sz="2800" dirty="0">
                <a:solidFill>
                  <a:prstClr val="black"/>
                </a:solidFill>
              </a:rPr>
              <a:t>consider post op. ICU bed for unstable patients or those requiring  invasive monitoring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2380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Proper pain management</a:t>
            </a:r>
          </a:p>
          <a:p>
            <a:r>
              <a:rPr lang="en-US" sz="2800" dirty="0"/>
              <a:t>Complications:</a:t>
            </a:r>
          </a:p>
          <a:p>
            <a:pPr>
              <a:buFontTx/>
              <a:buChar char="-"/>
            </a:pPr>
            <a:r>
              <a:rPr lang="en-US" sz="2800" dirty="0"/>
              <a:t>Hemorrhage </a:t>
            </a:r>
          </a:p>
          <a:p>
            <a:pPr>
              <a:buFontTx/>
              <a:buChar char="-"/>
            </a:pPr>
            <a:r>
              <a:rPr lang="en-US" sz="2800" dirty="0"/>
              <a:t>Venous thromboembolism</a:t>
            </a:r>
          </a:p>
          <a:p>
            <a:pPr>
              <a:buFontTx/>
              <a:buChar char="-"/>
            </a:pPr>
            <a:r>
              <a:rPr lang="en-US" sz="2800" dirty="0"/>
              <a:t>Pleural effusion</a:t>
            </a:r>
          </a:p>
          <a:p>
            <a:pPr>
              <a:buFontTx/>
              <a:buChar char="-"/>
            </a:pPr>
            <a:r>
              <a:rPr lang="en-US" sz="2800" dirty="0"/>
              <a:t>Respiratory insufficiency</a:t>
            </a:r>
          </a:p>
          <a:p>
            <a:pPr>
              <a:buFontTx/>
              <a:buChar char="-"/>
            </a:pPr>
            <a:r>
              <a:rPr lang="en-US" sz="2800" dirty="0"/>
              <a:t>PONY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1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2800" dirty="0"/>
              <a:t>Pelvic laparotomy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Autofit/>
          </a:bodyPr>
          <a:lstStyle/>
          <a:p>
            <a:r>
              <a:rPr lang="en-US" sz="2800" dirty="0"/>
              <a:t>Myomectomies are performed to remove </a:t>
            </a:r>
            <a:r>
              <a:rPr lang="en-US" sz="2800" dirty="0" err="1"/>
              <a:t>myomata</a:t>
            </a:r>
            <a:r>
              <a:rPr lang="en-US" sz="2800" dirty="0"/>
              <a:t> that are causing pain, abnormal bleeding or infertility</a:t>
            </a:r>
          </a:p>
          <a:p>
            <a:endParaRPr lang="en-US" sz="2800" dirty="0"/>
          </a:p>
          <a:p>
            <a:r>
              <a:rPr lang="en-US" sz="2800" dirty="0"/>
              <a:t>Ovarian cystectomies are performed to alleviate pain and to diagnose the identity of asymptomatic cysts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Ectopic pregnancies are usually medical emergencies. The ectopic pregnancy is removed via a partial tubal resection, salpingostomy or salpingectomy.</a:t>
            </a:r>
          </a:p>
        </p:txBody>
      </p:sp>
    </p:spTree>
    <p:extLst>
      <p:ext uri="{BB962C8B-B14F-4D97-AF65-F5344CB8AC3E}">
        <p14:creationId xmlns:p14="http://schemas.microsoft.com/office/powerpoint/2010/main" val="3477543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Anesthetic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Preoperative</a:t>
            </a:r>
          </a:p>
          <a:p>
            <a:r>
              <a:rPr lang="en-US" sz="2800" dirty="0"/>
              <a:t>Cardiovascular –  assess for </a:t>
            </a:r>
            <a:r>
              <a:rPr lang="en-US" sz="2800" dirty="0" err="1"/>
              <a:t>hypovolemia</a:t>
            </a:r>
            <a:r>
              <a:rPr lang="en-US" sz="2800" dirty="0"/>
              <a:t> and anemia</a:t>
            </a:r>
          </a:p>
          <a:p>
            <a:r>
              <a:rPr lang="en-US" sz="2800" dirty="0"/>
              <a:t>Preexisting comorbidities and preop. Status will vary considerably → assess as appropriate</a:t>
            </a:r>
          </a:p>
          <a:p>
            <a:r>
              <a:rPr lang="en-US" sz="2800" dirty="0"/>
              <a:t>Laboratory – HCT, Hg, blood group and cross match</a:t>
            </a:r>
          </a:p>
          <a:p>
            <a:r>
              <a:rPr lang="en-US" sz="2800" dirty="0"/>
              <a:t>Premedication – patients with ruptured ectopic pregnancies may come to OR urgently, and should be treated as for full stomach → premedication with a non particulate antacid, sodium citrate 30 ml PO, metoclopramide 10 mg IV and ranitidine 50 mg IV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36131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ct val="20000"/>
              </a:spcBef>
            </a:pPr>
            <a:r>
              <a:rPr lang="en-US" sz="2800" dirty="0">
                <a:solidFill>
                  <a:prstClr val="black"/>
                </a:solidFill>
                <a:ea typeface="+mn-ea"/>
                <a:cs typeface="+mn-cs"/>
              </a:rPr>
              <a:t>Intraoperative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                        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GA is indicated for laparoscopic and emergency surgery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RA is best avoided in hemodynamically unstable patients that is ectopic pregnancies and for laparoscopy where breathing difficulty may develop secondary to pneumoperitoneum and trendelenburg position.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RA may be suitable for simple laparotomies</a:t>
            </a: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If spinal anesthesia is indicated a pencil point needle  should be used </a:t>
            </a:r>
          </a:p>
        </p:txBody>
      </p:sp>
    </p:spTree>
    <p:extLst>
      <p:ext uri="{BB962C8B-B14F-4D97-AF65-F5344CB8AC3E}">
        <p14:creationId xmlns:p14="http://schemas.microsoft.com/office/powerpoint/2010/main" val="1745304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GA </a:t>
            </a:r>
          </a:p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Induction</a:t>
            </a:r>
          </a:p>
          <a:p>
            <a:pPr lvl="0">
              <a:buFontTx/>
              <a:buChar char="-"/>
            </a:pPr>
            <a:r>
              <a:rPr lang="en-US" sz="2800" dirty="0">
                <a:solidFill>
                  <a:prstClr val="black"/>
                </a:solidFill>
              </a:rPr>
              <a:t>Standard induction and monitoring</a:t>
            </a:r>
          </a:p>
          <a:p>
            <a:pPr lvl="0">
              <a:buFontTx/>
              <a:buChar char="-"/>
            </a:pPr>
            <a:r>
              <a:rPr lang="en-US" sz="2800" dirty="0">
                <a:solidFill>
                  <a:prstClr val="black"/>
                </a:solidFill>
              </a:rPr>
              <a:t>in patients with a ruptured ectopic pregnancy , bleeding and hemodynamic instability , consider ketamine 1 to 2    mg/  kg or </a:t>
            </a:r>
            <a:r>
              <a:rPr lang="en-US" sz="2800" dirty="0" err="1">
                <a:solidFill>
                  <a:prstClr val="black"/>
                </a:solidFill>
              </a:rPr>
              <a:t>etomidate</a:t>
            </a:r>
            <a:r>
              <a:rPr lang="en-US" sz="2800" dirty="0">
                <a:solidFill>
                  <a:prstClr val="black"/>
                </a:solidFill>
              </a:rPr>
              <a:t> 0.1-0.4 mg/kg .</a:t>
            </a:r>
          </a:p>
          <a:p>
            <a:pPr lvl="0">
              <a:buFontTx/>
              <a:buChar char="-"/>
            </a:pPr>
            <a:r>
              <a:rPr lang="en-US" sz="2800" dirty="0">
                <a:solidFill>
                  <a:prstClr val="black"/>
                </a:solidFill>
              </a:rPr>
              <a:t>Rapid sequence induction, use OGT/NGT to decompress stomach after   induction for laparoscopic surgery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5252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>
                  <a:buFont typeface="Wingdings" pitchFamily="2" charset="2"/>
                  <a:buChar char="Ø"/>
                </a:pPr>
                <a:r>
                  <a:rPr lang="en-US" sz="2800" dirty="0">
                    <a:solidFill>
                      <a:prstClr val="black"/>
                    </a:solidFill>
                  </a:rPr>
                  <a:t>Maintenance</a:t>
                </a:r>
              </a:p>
              <a:p>
                <a:pPr lvl="0">
                  <a:buFontTx/>
                  <a:buChar char="-"/>
                </a:pPr>
                <a:r>
                  <a:rPr lang="en-US" sz="2800" dirty="0">
                    <a:solidFill>
                      <a:prstClr val="black"/>
                    </a:solidFill>
                  </a:rPr>
                  <a:t>Standard maintenance consider PONV prophylaxis</a:t>
                </a:r>
              </a:p>
              <a:p>
                <a:pPr lvl="0">
                  <a:buFontTx/>
                  <a:buChar char="-"/>
                </a:pPr>
                <a:r>
                  <a:rPr lang="en-US" sz="2800" dirty="0">
                    <a:solidFill>
                      <a:prstClr val="black"/>
                    </a:solidFill>
                  </a:rPr>
                  <a:t>Maintain euvolemia,UO ≥ 0.5 cc/kg/h</a:t>
                </a:r>
              </a:p>
              <a:p>
                <a:pPr lvl="0">
                  <a:buFontTx/>
                  <a:buChar char="-"/>
                </a:pPr>
                <a:r>
                  <a:rPr lang="en-US" sz="2800" dirty="0">
                    <a:solidFill>
                      <a:prstClr val="black"/>
                    </a:solidFill>
                  </a:rPr>
                  <a:t>Prepare uterotonic agents</a:t>
                </a:r>
              </a:p>
              <a:p>
                <a:pPr lvl="0">
                  <a:buFontTx/>
                  <a:buChar char="-"/>
                </a:pPr>
                <a:r>
                  <a:rPr lang="en-US" sz="2800" dirty="0">
                    <a:solidFill>
                      <a:prstClr val="black"/>
                    </a:solidFill>
                  </a:rPr>
                  <a:t>Assess blood loss</a:t>
                </a:r>
              </a:p>
              <a:p>
                <a:pPr lvl="0">
                  <a:buFontTx/>
                  <a:buChar char="-"/>
                </a:pPr>
                <a:r>
                  <a:rPr lang="en-US" sz="2800" dirty="0">
                    <a:solidFill>
                      <a:prstClr val="black"/>
                    </a:solidFill>
                  </a:rPr>
                  <a:t>Complications include : laparoscopy ( pneumothorax, venous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𝑐𝑜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embolism ), hemorrhage dysrhythmias </a:t>
                </a:r>
              </a:p>
              <a:p>
                <a:pPr lvl="0">
                  <a:buFont typeface="Wingdings" pitchFamily="2" charset="2"/>
                  <a:buChar char="Ø"/>
                </a:pPr>
                <a:r>
                  <a:rPr lang="en-US" sz="2800" dirty="0">
                    <a:solidFill>
                      <a:prstClr val="black"/>
                    </a:solidFill>
                  </a:rPr>
                  <a:t>Emergence – standard emergence</a:t>
                </a:r>
              </a:p>
              <a:p>
                <a:pPr lvl="0">
                  <a:buFont typeface="Wingdings" pitchFamily="2" charset="2"/>
                  <a:buChar char="Ø"/>
                </a:pPr>
                <a:r>
                  <a:rPr lang="en-US" sz="2800" dirty="0">
                    <a:solidFill>
                      <a:prstClr val="black"/>
                    </a:solidFill>
                  </a:rPr>
                  <a:t>Post operative – PONV, anemia</a:t>
                </a:r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2156" r="-1926" b="-5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203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73162"/>
          </a:xfrm>
        </p:spPr>
        <p:txBody>
          <a:bodyPr>
            <a:noAutofit/>
          </a:bodyPr>
          <a:lstStyle/>
          <a:p>
            <a:r>
              <a:rPr lang="en-US" sz="2800" dirty="0"/>
              <a:t>Exploratory laparotomy / hysterectomy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800" b="1" dirty="0"/>
              <a:t>Radical hysterectomy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Indication – stage IA or stage IB cervical carcinoma</a:t>
            </a:r>
          </a:p>
          <a:p>
            <a:pPr marL="0" indent="0">
              <a:buNone/>
            </a:pPr>
            <a:r>
              <a:rPr lang="en-US" sz="2800" dirty="0"/>
              <a:t>                        - stage II endometrial and stage I vaginal </a:t>
            </a:r>
          </a:p>
          <a:p>
            <a:pPr marL="0" indent="0">
              <a:buNone/>
            </a:pPr>
            <a:r>
              <a:rPr lang="en-US" sz="2800" dirty="0"/>
              <a:t>                           carcinoma</a:t>
            </a:r>
          </a:p>
        </p:txBody>
      </p:sp>
    </p:spTree>
    <p:extLst>
      <p:ext uri="{BB962C8B-B14F-4D97-AF65-F5344CB8AC3E}">
        <p14:creationId xmlns:p14="http://schemas.microsoft.com/office/powerpoint/2010/main" val="973269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Preoperative</a:t>
            </a:r>
          </a:p>
          <a:p>
            <a:pPr lvl="0">
              <a:buFont typeface="Courier New" pitchFamily="49" charset="0"/>
              <a:buChar char="o"/>
            </a:pPr>
            <a:r>
              <a:rPr lang="en-US" sz="2800" dirty="0">
                <a:solidFill>
                  <a:prstClr val="black"/>
                </a:solidFill>
              </a:rPr>
              <a:t>Respiratory- these tumors have been associated with cigarette smoking , check for preexisting lung disease as indicated from history and physical examination</a:t>
            </a:r>
          </a:p>
          <a:p>
            <a:pPr lvl="0">
              <a:buFont typeface="Courier New" pitchFamily="49" charset="0"/>
              <a:buChar char="o"/>
            </a:pPr>
            <a:r>
              <a:rPr lang="en-US" sz="2800" dirty="0">
                <a:solidFill>
                  <a:prstClr val="black"/>
                </a:solidFill>
              </a:rPr>
              <a:t>Cardiovascular – patients &gt; 50 years need preoperative ECG</a:t>
            </a:r>
          </a:p>
          <a:p>
            <a:pPr lvl="0">
              <a:buFont typeface="Courier New" pitchFamily="49" charset="0"/>
              <a:buChar char="o"/>
            </a:pPr>
            <a:r>
              <a:rPr lang="en-US" sz="2800" dirty="0">
                <a:solidFill>
                  <a:prstClr val="black"/>
                </a:solidFill>
              </a:rPr>
              <a:t>Laboratory – CBC, blood grouping and cross match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11461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…cont’d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>
                <a:noAutofit/>
              </a:bodyPr>
              <a:lstStyle/>
              <a:p>
                <a:pPr lvl="0">
                  <a:buFont typeface="Courier New" pitchFamily="49" charset="0"/>
                  <a:buChar char="o"/>
                </a:pPr>
                <a:r>
                  <a:rPr lang="en-US" sz="2800" dirty="0">
                    <a:solidFill>
                      <a:prstClr val="black"/>
                    </a:solidFill>
                  </a:rPr>
                  <a:t>Intraoperative - GA± epidural for post operative pain control.</a:t>
                </a:r>
              </a:p>
              <a:p>
                <a:pPr marL="0" lvl="0" indent="0">
                  <a:buNone/>
                </a:pPr>
                <a:r>
                  <a:rPr lang="en-US" sz="2800" dirty="0">
                    <a:solidFill>
                      <a:prstClr val="black"/>
                    </a:solidFill>
                  </a:rPr>
                  <a:t>  - Induction , maintenance and emergence → standard.        </a:t>
                </a:r>
              </a:p>
              <a:p>
                <a:pPr marL="0" lvl="0" indent="0">
                  <a:buNone/>
                </a:pPr>
                <a:r>
                  <a:rPr lang="en-US" sz="2800" dirty="0">
                    <a:solidFill>
                      <a:prstClr val="black"/>
                    </a:solidFill>
                  </a:rPr>
                  <a:t>  - Maintain euvolumia, </a:t>
                </a:r>
              </a:p>
              <a:p>
                <a:pPr marL="0" lvl="0" indent="0">
                  <a:buNone/>
                </a:pPr>
                <a:r>
                  <a:rPr lang="en-US" sz="2800" dirty="0">
                    <a:solidFill>
                      <a:prstClr val="black"/>
                    </a:solidFill>
                  </a:rPr>
                  <a:t>  - Proper monitoring and positioning, antiemetic  </a:t>
                </a:r>
              </a:p>
              <a:p>
                <a:pPr marL="0" lvl="0" indent="0">
                  <a:buNone/>
                </a:pPr>
                <a:r>
                  <a:rPr lang="en-US" sz="2800" dirty="0">
                    <a:solidFill>
                      <a:prstClr val="black"/>
                    </a:solidFill>
                  </a:rPr>
                  <a:t>    prophylaxis</a:t>
                </a:r>
              </a:p>
              <a:p>
                <a:pPr lvl="0">
                  <a:buFont typeface="Courier New" pitchFamily="49" charset="0"/>
                  <a:buChar char="o"/>
                </a:pPr>
                <a:r>
                  <a:rPr lang="en-US" sz="2800" dirty="0">
                    <a:solidFill>
                      <a:prstClr val="black"/>
                    </a:solidFill>
                  </a:rPr>
                  <a:t>Complications -injury to ureters-(watch for hematuria or decrease in urine output) , bleeding, atelectasis</a:t>
                </a:r>
              </a:p>
              <a:p>
                <a:pPr lvl="0">
                  <a:buFont typeface="Courier New" pitchFamily="49" charset="0"/>
                  <a:buChar char="o"/>
                </a:pPr>
                <a:r>
                  <a:rPr lang="en-US" sz="2800" dirty="0">
                    <a:solidFill>
                      <a:prstClr val="black"/>
                    </a:solidFill>
                  </a:rPr>
                  <a:t>Post operative- give supplemental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, pain management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  <a:blipFill rotWithShape="1">
                <a:blip r:embed="rId2"/>
                <a:stretch>
                  <a:fillRect l="-1481" t="-1015" r="-10000" b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494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33400"/>
          </a:xfrm>
        </p:spPr>
        <p:txBody>
          <a:bodyPr>
            <a:normAutofit/>
          </a:bodyPr>
          <a:lstStyle/>
          <a:p>
            <a:r>
              <a:rPr lang="en-US" sz="2800" dirty="0"/>
              <a:t>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Anesthetic management for dilatation and curettage (D and C), therapeutic abortion and evacuation (D and E)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Patients presenting for these procedures are generally healthy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Preoperative</a:t>
            </a:r>
          </a:p>
          <a:p>
            <a:pPr>
              <a:buFont typeface="Courier New" pitchFamily="49" charset="0"/>
              <a:buChar char="o"/>
            </a:pPr>
            <a:r>
              <a:rPr lang="en-US" sz="2800" dirty="0"/>
              <a:t>Cardiovascular – hemodynamic status may be impaired secondary to uterine bleeding and patient may be septic from retained uterine products</a:t>
            </a:r>
          </a:p>
          <a:p>
            <a:pPr>
              <a:buFont typeface="Courier New" pitchFamily="49" charset="0"/>
              <a:buChar char="o"/>
            </a:pPr>
            <a:r>
              <a:rPr lang="en-US" sz="2800" dirty="0"/>
              <a:t>Laboratory – Hg,HCT, blood group and Rh, cross match</a:t>
            </a:r>
          </a:p>
          <a:p>
            <a:pPr>
              <a:buFont typeface="Courier New" pitchFamily="49" charset="0"/>
              <a:buChar char="o"/>
            </a:pPr>
            <a:r>
              <a:rPr lang="en-US" sz="2800" dirty="0"/>
              <a:t>Premedication – consider midazolam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509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buFont typeface="Wingdings" pitchFamily="2" charset="2"/>
                  <a:buChar char="Ø"/>
                </a:pPr>
                <a:r>
                  <a:rPr lang="en-US" sz="2800" dirty="0">
                    <a:solidFill>
                      <a:prstClr val="black"/>
                    </a:solidFill>
                  </a:rPr>
                  <a:t>Intraoperative</a:t>
                </a:r>
              </a:p>
              <a:p>
                <a:pPr lvl="0">
                  <a:buFont typeface="Courier New" pitchFamily="49" charset="0"/>
                  <a:buChar char="o"/>
                </a:pPr>
                <a:r>
                  <a:rPr lang="en-US" sz="2800" dirty="0">
                    <a:solidFill>
                      <a:prstClr val="black"/>
                    </a:solidFill>
                  </a:rPr>
                  <a:t>Anesthetic technique  - local/MAC, regional or GA</a:t>
                </a:r>
              </a:p>
              <a:p>
                <a:pPr lvl="0">
                  <a:buFontTx/>
                  <a:buChar char="-"/>
                </a:pPr>
                <a:r>
                  <a:rPr lang="en-US" sz="2800" dirty="0">
                    <a:solidFill>
                      <a:prstClr val="black"/>
                    </a:solidFill>
                  </a:rPr>
                  <a:t>Regional anesthesia-T10 sensory level</a:t>
                </a:r>
              </a:p>
              <a:p>
                <a:pPr lvl="0">
                  <a:buFontTx/>
                  <a:buChar char="-"/>
                </a:pPr>
                <a:r>
                  <a:rPr lang="en-US" sz="2800" dirty="0">
                    <a:solidFill>
                      <a:prstClr val="black"/>
                    </a:solidFill>
                  </a:rPr>
                  <a:t>GA –frequently done by mask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prstClr val="black"/>
                        </a:solidFill>
                        <a:latin typeface="Cambria Math"/>
                      </a:rPr>
                      <m:t>O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+ volatile anesthetics under spontaneous ventilation</a:t>
                </a:r>
              </a:p>
              <a:p>
                <a:pPr marL="0" lvl="0" indent="0">
                  <a:buNone/>
                </a:pPr>
                <a:r>
                  <a:rPr lang="en-US" sz="2800" dirty="0">
                    <a:solidFill>
                      <a:prstClr val="black"/>
                    </a:solidFill>
                  </a:rPr>
                  <a:t>       - propofol infusion(50-200µg/kg/ mt)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O</a:t>
                </a:r>
              </a:p>
              <a:p>
                <a:pPr marL="0" lvl="0" indent="0">
                  <a:buNone/>
                </a:pPr>
                <a:r>
                  <a:rPr lang="en-US" sz="2800" dirty="0">
                    <a:solidFill>
                      <a:prstClr val="black"/>
                    </a:solidFill>
                  </a:rPr>
                  <a:t>         with out volatile anesthetic</a:t>
                </a:r>
              </a:p>
              <a:p>
                <a:pPr marL="0" lvl="0" indent="0">
                  <a:buNone/>
                </a:pPr>
                <a:r>
                  <a:rPr lang="en-US" sz="2800" dirty="0">
                    <a:solidFill>
                      <a:prstClr val="black"/>
                    </a:solidFill>
                  </a:rPr>
                  <a:t>       - small amount of opiate may be used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213" r="-444" b="-6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391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Anesthetic technique…cont’d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>
            <a:noAutofit/>
          </a:bodyPr>
          <a:lstStyle/>
          <a:p>
            <a:r>
              <a:rPr lang="en-US" sz="2800" dirty="0"/>
              <a:t>Vagal stimulation – </a:t>
            </a:r>
            <a:r>
              <a:rPr lang="en-US" sz="2800" dirty="0" err="1"/>
              <a:t>brady</a:t>
            </a:r>
            <a:r>
              <a:rPr lang="en-US" sz="2800" dirty="0"/>
              <a:t> </a:t>
            </a:r>
            <a:r>
              <a:rPr lang="en-US" sz="2800" dirty="0" err="1"/>
              <a:t>cardia</a:t>
            </a:r>
            <a:r>
              <a:rPr lang="en-US" sz="2800" dirty="0"/>
              <a:t> when the cervix is grasped and dilated, the patient may have excessive vaginal stimulation→ stop stimulation and give atropine (0.4 mg IV) if indicated</a:t>
            </a:r>
          </a:p>
          <a:p>
            <a:r>
              <a:rPr lang="en-US" sz="2800" dirty="0"/>
              <a:t>Position – lithotomy position may worsen pulmonary function may cause nerve injury</a:t>
            </a:r>
          </a:p>
          <a:p>
            <a:r>
              <a:rPr lang="en-US" sz="2800" dirty="0"/>
              <a:t>Emergence – vomiting may occur , give oxytocin 20 – 30 U diluted in 1Lt of crystalloid or </a:t>
            </a:r>
            <a:r>
              <a:rPr lang="en-US" sz="2800" dirty="0" err="1"/>
              <a:t>ergometrin</a:t>
            </a:r>
            <a:r>
              <a:rPr lang="en-US" sz="2800" dirty="0"/>
              <a:t> IM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7352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Post operative – PONV, uterine perforation with severe abdominal pain(rare),severe hemorrhage necessitating blood transfusion(rare)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Pain management – IV opiates, oral pain medications 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Post operative HCT and Hg</a:t>
            </a:r>
          </a:p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528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40362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Anesthesia for pregnant woman for non-obstetrics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81600"/>
            <a:ext cx="8229600" cy="9445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537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Non obstetrics surgery occurs in ≈ 2% of pregnant women</a:t>
            </a:r>
          </a:p>
          <a:p>
            <a:r>
              <a:rPr lang="en-US" dirty="0"/>
              <a:t>Most common surgeries:</a:t>
            </a:r>
          </a:p>
          <a:p>
            <a:pPr lvl="1">
              <a:buFontTx/>
              <a:buChar char="-"/>
            </a:pPr>
            <a:r>
              <a:rPr lang="en-US" dirty="0"/>
              <a:t>Appendectomy </a:t>
            </a:r>
          </a:p>
          <a:p>
            <a:pPr lvl="1">
              <a:buFontTx/>
              <a:buChar char="-"/>
            </a:pPr>
            <a:r>
              <a:rPr lang="en-US" dirty="0"/>
              <a:t>Cholecystectomy</a:t>
            </a:r>
          </a:p>
          <a:p>
            <a:pPr lvl="1">
              <a:buFontTx/>
              <a:buChar char="-"/>
            </a:pPr>
            <a:r>
              <a:rPr lang="en-US" dirty="0"/>
              <a:t>Adnexal disease – ovarian cysts</a:t>
            </a:r>
          </a:p>
          <a:p>
            <a:pPr lvl="1">
              <a:buFontTx/>
              <a:buChar char="-"/>
            </a:pPr>
            <a:r>
              <a:rPr lang="en-US" dirty="0"/>
              <a:t>Breast or cervical disease</a:t>
            </a:r>
          </a:p>
          <a:p>
            <a:pPr lvl="1">
              <a:buFontTx/>
              <a:buChar char="-"/>
            </a:pPr>
            <a:r>
              <a:rPr lang="en-US" dirty="0"/>
              <a:t>Trauma </a:t>
            </a:r>
          </a:p>
          <a:p>
            <a:pPr lvl="1">
              <a:buFontTx/>
              <a:buChar char="-"/>
            </a:pPr>
            <a:r>
              <a:rPr lang="en-US" dirty="0"/>
              <a:t>Bowel obstruction </a:t>
            </a:r>
          </a:p>
          <a:p>
            <a:pPr lvl="1">
              <a:buFontTx/>
              <a:buChar char="-"/>
            </a:pPr>
            <a:r>
              <a:rPr lang="en-US" dirty="0"/>
              <a:t>Cardiovascular or neurologic emergencies</a:t>
            </a:r>
          </a:p>
        </p:txBody>
      </p:sp>
    </p:spTree>
    <p:extLst>
      <p:ext uri="{BB962C8B-B14F-4D97-AF65-F5344CB8AC3E}">
        <p14:creationId xmlns:p14="http://schemas.microsoft.com/office/powerpoint/2010/main" val="2591942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Safe anesthesia for both the mother and the fetus!</a:t>
            </a:r>
          </a:p>
        </p:txBody>
      </p:sp>
    </p:spTree>
    <p:extLst>
      <p:ext uri="{BB962C8B-B14F-4D97-AF65-F5344CB8AC3E}">
        <p14:creationId xmlns:p14="http://schemas.microsoft.com/office/powerpoint/2010/main" val="4026610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Objective for non obstetric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Ensure maternal safety</a:t>
            </a:r>
          </a:p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Avoid teratogenic drugs</a:t>
            </a:r>
          </a:p>
          <a:p>
            <a:pPr lvl="0">
              <a:buFont typeface="Wingdings" pitchFamily="2" charset="2"/>
              <a:buChar char="Ø"/>
            </a:pPr>
            <a:endParaRPr lang="en-US" sz="28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Avoid intrauterine fetal asphaxia and</a:t>
            </a:r>
          </a:p>
          <a:p>
            <a:pPr lvl="0">
              <a:buFont typeface="Wingdings" pitchFamily="2" charset="2"/>
              <a:buChar char="Ø"/>
            </a:pPr>
            <a:endParaRPr lang="en-US" sz="2800" dirty="0">
              <a:solidFill>
                <a:prstClr val="black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800" dirty="0">
                <a:solidFill>
                  <a:prstClr val="black"/>
                </a:solidFill>
              </a:rPr>
              <a:t>Prevention of premature labor related to the surgical procedure or drugs administered during anesthesia</a:t>
            </a:r>
          </a:p>
        </p:txBody>
      </p:sp>
    </p:spTree>
    <p:extLst>
      <p:ext uri="{BB962C8B-B14F-4D97-AF65-F5344CB8AC3E}">
        <p14:creationId xmlns:p14="http://schemas.microsoft.com/office/powerpoint/2010/main" val="4054383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maternal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Physiological and anatomic changes (major)</a:t>
            </a:r>
          </a:p>
          <a:p>
            <a:r>
              <a:rPr lang="en-US" dirty="0"/>
              <a:t>Cardiovascular changes</a:t>
            </a:r>
          </a:p>
          <a:p>
            <a:pPr>
              <a:buFontTx/>
              <a:buChar char="-"/>
            </a:pPr>
            <a:r>
              <a:rPr lang="en-US" dirty="0"/>
              <a:t>↑cardiac output 50% (↑HR and SV)</a:t>
            </a:r>
          </a:p>
          <a:p>
            <a:pPr>
              <a:buFontTx/>
              <a:buChar char="-"/>
            </a:pPr>
            <a:r>
              <a:rPr lang="en-US" dirty="0"/>
              <a:t>ECG changes- left axis deviation and murmur</a:t>
            </a:r>
          </a:p>
          <a:p>
            <a:pPr>
              <a:buFontTx/>
              <a:buChar char="-"/>
            </a:pPr>
            <a:r>
              <a:rPr lang="en-US" dirty="0"/>
              <a:t>↑blood volume</a:t>
            </a:r>
          </a:p>
          <a:p>
            <a:pPr>
              <a:buFontTx/>
              <a:buChar char="-"/>
            </a:pPr>
            <a:r>
              <a:rPr lang="en-US" dirty="0"/>
              <a:t>Aortocaval compression &gt; 20 weeks</a:t>
            </a:r>
          </a:p>
          <a:p>
            <a:pPr>
              <a:buFontTx/>
              <a:buChar char="-"/>
            </a:pPr>
            <a:r>
              <a:rPr lang="en-US" dirty="0"/>
              <a:t>Hypercoagulability and risk of thromboembolism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93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Respiratory changes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demand 60% at term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↑ MV(↑RR and TV)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Respiratory alkalosis – mild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↓FRC- rapid </a:t>
                </a:r>
                <a:r>
                  <a:rPr lang="en-US" dirty="0" err="1"/>
                  <a:t>disaturation</a:t>
                </a:r>
                <a:r>
                  <a:rPr lang="en-US" dirty="0"/>
                  <a:t> 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Challenging airway and difficult laryngoscopy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122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Gastrointestinal changes</a:t>
            </a:r>
          </a:p>
          <a:p>
            <a:pPr lvl="1">
              <a:buFontTx/>
              <a:buChar char="-"/>
            </a:pPr>
            <a:r>
              <a:rPr lang="en-US" dirty="0"/>
              <a:t>Reduced LEST</a:t>
            </a:r>
          </a:p>
          <a:p>
            <a:pPr lvl="1">
              <a:buFontTx/>
              <a:buChar char="-"/>
            </a:pPr>
            <a:r>
              <a:rPr lang="en-US" dirty="0"/>
              <a:t>↑ed intragastric pressure</a:t>
            </a:r>
          </a:p>
          <a:p>
            <a:pPr lvl="1">
              <a:buFontTx/>
              <a:buChar char="-"/>
            </a:pPr>
            <a:r>
              <a:rPr lang="en-US" dirty="0"/>
              <a:t>Increased incidence of esophageal reflux</a:t>
            </a:r>
          </a:p>
          <a:p>
            <a:pPr lvl="1">
              <a:buFontTx/>
              <a:buChar char="-"/>
            </a:pPr>
            <a:r>
              <a:rPr lang="en-US" dirty="0"/>
              <a:t>↓barrier pressure</a:t>
            </a:r>
          </a:p>
          <a:p>
            <a:r>
              <a:rPr lang="en-US" dirty="0"/>
              <a:t>Renal </a:t>
            </a:r>
          </a:p>
          <a:p>
            <a:pPr lvl="1">
              <a:buFontTx/>
              <a:buChar char="-"/>
            </a:pPr>
            <a:r>
              <a:rPr lang="en-US" dirty="0"/>
              <a:t>↑renal blood flow</a:t>
            </a:r>
          </a:p>
          <a:p>
            <a:pPr lvl="1">
              <a:buFontTx/>
              <a:buChar char="-"/>
            </a:pPr>
            <a:r>
              <a:rPr lang="en-US" dirty="0"/>
              <a:t>↓serum Cr and BUN </a:t>
            </a:r>
          </a:p>
          <a:p>
            <a:r>
              <a:rPr lang="en-US" dirty="0"/>
              <a:t>Altered drug pharmacology </a:t>
            </a:r>
          </a:p>
        </p:txBody>
      </p:sp>
    </p:spTree>
    <p:extLst>
      <p:ext uri="{BB962C8B-B14F-4D97-AF65-F5344CB8AC3E}">
        <p14:creationId xmlns:p14="http://schemas.microsoft.com/office/powerpoint/2010/main" val="2968227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Teratogenicity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defined as any significant postnatal change in offspring after prenatal treatment</a:t>
            </a:r>
          </a:p>
          <a:p>
            <a:r>
              <a:rPr lang="en-US" dirty="0"/>
              <a:t>The teratogenicity of a drug depends upon:</a:t>
            </a:r>
          </a:p>
          <a:p>
            <a:pPr>
              <a:buFontTx/>
              <a:buChar char="-"/>
            </a:pPr>
            <a:r>
              <a:rPr lang="en-US" dirty="0"/>
              <a:t>The dose administered</a:t>
            </a:r>
          </a:p>
          <a:p>
            <a:pPr>
              <a:buFontTx/>
              <a:buChar char="-"/>
            </a:pPr>
            <a:r>
              <a:rPr lang="en-US" dirty="0"/>
              <a:t>The route of administration</a:t>
            </a:r>
          </a:p>
          <a:p>
            <a:pPr>
              <a:buFontTx/>
              <a:buChar char="-"/>
            </a:pPr>
            <a:r>
              <a:rPr lang="en-US" dirty="0"/>
              <a:t>The timing of fetal exposure</a:t>
            </a:r>
          </a:p>
          <a:p>
            <a:pPr>
              <a:buFontTx/>
              <a:buChar char="-"/>
            </a:pPr>
            <a:r>
              <a:rPr lang="en-US" dirty="0"/>
              <a:t>Genetic predisposition and </a:t>
            </a:r>
          </a:p>
          <a:p>
            <a:pPr>
              <a:buFontTx/>
              <a:buChar char="-"/>
            </a:pPr>
            <a:r>
              <a:rPr lang="en-US" dirty="0"/>
              <a:t>The species administered to</a:t>
            </a:r>
          </a:p>
        </p:txBody>
      </p:sp>
    </p:spTree>
    <p:extLst>
      <p:ext uri="{BB962C8B-B14F-4D97-AF65-F5344CB8AC3E}">
        <p14:creationId xmlns:p14="http://schemas.microsoft.com/office/powerpoint/2010/main" val="2889038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Teratogenicity …cont’d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Exposure to teratogen:</a:t>
            </a:r>
          </a:p>
          <a:p>
            <a:pPr>
              <a:buFontTx/>
              <a:buChar char="-"/>
            </a:pPr>
            <a:r>
              <a:rPr lang="en-US" dirty="0"/>
              <a:t>In the first two weeks – an all or non </a:t>
            </a:r>
          </a:p>
          <a:p>
            <a:pPr marL="0" indent="0">
              <a:buNone/>
            </a:pPr>
            <a:r>
              <a:rPr lang="en-US" dirty="0"/>
              <a:t>                                               phenomenon</a:t>
            </a:r>
          </a:p>
          <a:p>
            <a:pPr>
              <a:buFontTx/>
              <a:buChar char="-"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to 8</a:t>
            </a:r>
            <a:r>
              <a:rPr lang="en-US" baseline="30000" dirty="0"/>
              <a:t>th</a:t>
            </a:r>
            <a:r>
              <a:rPr lang="en-US" dirty="0"/>
              <a:t> wk – organogenesis</a:t>
            </a:r>
          </a:p>
          <a:p>
            <a:pPr>
              <a:buFontTx/>
              <a:buChar char="-"/>
            </a:pPr>
            <a:r>
              <a:rPr lang="en-US" dirty="0"/>
              <a:t>&gt; 8</a:t>
            </a:r>
            <a:r>
              <a:rPr lang="en-US" baseline="30000" dirty="0"/>
              <a:t>th</a:t>
            </a:r>
            <a:r>
              <a:rPr lang="en-US" dirty="0"/>
              <a:t> wk – growth retardation</a:t>
            </a:r>
          </a:p>
          <a:p>
            <a:r>
              <a:rPr lang="en-US" dirty="0"/>
              <a:t>Teratogenicity is rare in normal clinical doses</a:t>
            </a:r>
          </a:p>
        </p:txBody>
      </p:sp>
    </p:spTree>
    <p:extLst>
      <p:ext uri="{BB962C8B-B14F-4D97-AF65-F5344CB8AC3E}">
        <p14:creationId xmlns:p14="http://schemas.microsoft.com/office/powerpoint/2010/main" val="4253078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Teratogenic agents in human beings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Radiation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Atomic weapons, radioiodine therapeutic uses</a:t>
            </a:r>
          </a:p>
          <a:p>
            <a:r>
              <a:rPr lang="en-US" dirty="0"/>
              <a:t>Infections</a:t>
            </a:r>
          </a:p>
          <a:p>
            <a:pPr lvl="1"/>
            <a:r>
              <a:rPr lang="en-US" dirty="0"/>
              <a:t>Cytomegalovirus, herpes virus </a:t>
            </a:r>
            <a:r>
              <a:rPr lang="en-US" dirty="0" err="1"/>
              <a:t>hominis</a:t>
            </a:r>
            <a:r>
              <a:rPr lang="en-US" dirty="0"/>
              <a:t>, rubella virus, syphilis, toxoplasmosis</a:t>
            </a:r>
          </a:p>
          <a:p>
            <a:r>
              <a:rPr lang="en-US" dirty="0"/>
              <a:t>Maternal metabolic imbalance</a:t>
            </a:r>
          </a:p>
          <a:p>
            <a:pPr lvl="1"/>
            <a:r>
              <a:rPr lang="pt-BR" dirty="0"/>
              <a:t>Alcoholism, cretinism, diabetes, folic acid deficiency</a:t>
            </a:r>
            <a:endParaRPr lang="en-US" dirty="0"/>
          </a:p>
          <a:p>
            <a:r>
              <a:rPr lang="en-US" dirty="0"/>
              <a:t>Drugs and chemicals</a:t>
            </a:r>
          </a:p>
          <a:p>
            <a:pPr lvl="1"/>
            <a:r>
              <a:rPr lang="en-US" dirty="0"/>
              <a:t>cocaine, </a:t>
            </a:r>
            <a:r>
              <a:rPr lang="en-US" dirty="0" err="1"/>
              <a:t>coumarin</a:t>
            </a:r>
            <a:r>
              <a:rPr lang="en-US" dirty="0"/>
              <a:t> anticoagulants, iodides , </a:t>
            </a:r>
            <a:r>
              <a:rPr lang="en-US" dirty="0" err="1"/>
              <a:t>methimazole,mercury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98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Teratogen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Rare in normal clinical doses</a:t>
            </a:r>
          </a:p>
          <a:p>
            <a:pPr marL="0" indent="0">
              <a:buNone/>
            </a:pPr>
            <a:r>
              <a:rPr lang="en-US" dirty="0"/>
              <a:t>Nitrous oxide</a:t>
            </a:r>
          </a:p>
          <a:p>
            <a:r>
              <a:rPr lang="pt-BR" dirty="0"/>
              <a:t>inactivates vitamin B12, a coenzyme of </a:t>
            </a:r>
            <a:r>
              <a:rPr lang="en-US" dirty="0"/>
              <a:t>methionine synthetase; depresses methionine synthetase activity → may affect thymidine and  DNA synthesis in the developing fetus</a:t>
            </a:r>
          </a:p>
          <a:p>
            <a:r>
              <a:rPr lang="en-US" dirty="0"/>
              <a:t>Teratogenic during peak organogenesis in rodents; no evidence in humans</a:t>
            </a:r>
          </a:p>
        </p:txBody>
      </p:sp>
    </p:spTree>
    <p:extLst>
      <p:ext uri="{BB962C8B-B14F-4D97-AF65-F5344CB8AC3E}">
        <p14:creationId xmlns:p14="http://schemas.microsoft.com/office/powerpoint/2010/main" val="2986644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Benzodiazepines </a:t>
            </a:r>
          </a:p>
          <a:p>
            <a:r>
              <a:rPr lang="en-US" dirty="0"/>
              <a:t>associated with a cleft lip and palate in animal studies</a:t>
            </a:r>
          </a:p>
          <a:p>
            <a:r>
              <a:rPr lang="en-US" dirty="0"/>
              <a:t>In human controversial!- large doses in the first trimester should be avoided</a:t>
            </a:r>
          </a:p>
          <a:p>
            <a:r>
              <a:rPr lang="en-US" dirty="0"/>
              <a:t>A single dose has not been associated with teratogenicity</a:t>
            </a:r>
          </a:p>
          <a:p>
            <a:r>
              <a:rPr lang="en-US" dirty="0"/>
              <a:t>Long term use → neonatal withdrawal may occur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073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Avoiding fetal asphyxia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/>
          </a:bodyPr>
          <a:lstStyle/>
          <a:p>
            <a:r>
              <a:rPr lang="en-US" dirty="0"/>
              <a:t>Maintaining maternal oxygenation</a:t>
            </a:r>
          </a:p>
          <a:p>
            <a:r>
              <a:rPr lang="en-US" dirty="0"/>
              <a:t>Avoid hypoxia, extreme hyper and hypocarbia</a:t>
            </a:r>
          </a:p>
          <a:p>
            <a:r>
              <a:rPr lang="en-US" dirty="0"/>
              <a:t>Maintain </a:t>
            </a:r>
            <a:r>
              <a:rPr lang="en-US" dirty="0" err="1"/>
              <a:t>uteroplacental</a:t>
            </a:r>
            <a:r>
              <a:rPr lang="en-US" dirty="0"/>
              <a:t> circulation- dependent on maternal blood pressure and cardiac output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causes of hypotension:</a:t>
            </a:r>
          </a:p>
          <a:p>
            <a:pPr>
              <a:buFontTx/>
              <a:buChar char="-"/>
            </a:pPr>
            <a:r>
              <a:rPr lang="en-US" dirty="0"/>
              <a:t>Anesthetic drugs</a:t>
            </a:r>
          </a:p>
          <a:p>
            <a:pPr>
              <a:buFontTx/>
              <a:buChar char="-"/>
            </a:pPr>
            <a:r>
              <a:rPr lang="en-US" dirty="0"/>
              <a:t>Central neuroxial blockade</a:t>
            </a:r>
          </a:p>
          <a:p>
            <a:pPr>
              <a:buFontTx/>
              <a:buChar char="-"/>
            </a:pPr>
            <a:r>
              <a:rPr lang="en-US" dirty="0"/>
              <a:t>Hypovolemia</a:t>
            </a:r>
          </a:p>
          <a:p>
            <a:pPr>
              <a:buFontTx/>
              <a:buChar char="-"/>
            </a:pPr>
            <a:r>
              <a:rPr lang="en-US" dirty="0"/>
              <a:t>Aortocaval compression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38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premature labor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Surgery ↑s the risk of :</a:t>
            </a:r>
          </a:p>
          <a:p>
            <a:pPr>
              <a:buFontTx/>
              <a:buChar char="-"/>
            </a:pPr>
            <a:r>
              <a:rPr lang="en-US" dirty="0"/>
              <a:t>Spontaneous abortion </a:t>
            </a:r>
          </a:p>
          <a:p>
            <a:pPr>
              <a:buFontTx/>
              <a:buChar char="-"/>
            </a:pPr>
            <a:r>
              <a:rPr lang="en-US" dirty="0"/>
              <a:t>Preterm labor and </a:t>
            </a:r>
          </a:p>
          <a:p>
            <a:pPr>
              <a:buFontTx/>
              <a:buChar char="-"/>
            </a:pPr>
            <a:r>
              <a:rPr lang="en-US" dirty="0"/>
              <a:t>Preterm delivery</a:t>
            </a:r>
          </a:p>
          <a:p>
            <a:r>
              <a:rPr lang="en-US" dirty="0"/>
              <a:t>use of prophylactic tocolytic agents is controversial </a:t>
            </a:r>
          </a:p>
          <a:p>
            <a:r>
              <a:rPr lang="en-US" dirty="0"/>
              <a:t>Avoiding drugs that increase uterine tone</a:t>
            </a:r>
          </a:p>
        </p:txBody>
      </p:sp>
    </p:spTree>
    <p:extLst>
      <p:ext uri="{BB962C8B-B14F-4D97-AF65-F5344CB8AC3E}">
        <p14:creationId xmlns:p14="http://schemas.microsoft.com/office/powerpoint/2010/main" val="5581613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elective surgeries during pregnancy</a:t>
            </a:r>
          </a:p>
          <a:p>
            <a:r>
              <a:rPr lang="en-US" dirty="0"/>
              <a:t>If possible avoid surgery in the 1</a:t>
            </a:r>
            <a:r>
              <a:rPr lang="en-US" baseline="30000" dirty="0"/>
              <a:t>st</a:t>
            </a:r>
            <a:r>
              <a:rPr lang="en-US" dirty="0"/>
              <a:t> and 3</a:t>
            </a:r>
            <a:r>
              <a:rPr lang="en-US" baseline="30000" dirty="0"/>
              <a:t>rd</a:t>
            </a:r>
            <a:r>
              <a:rPr lang="en-US" dirty="0"/>
              <a:t> trimester</a:t>
            </a:r>
          </a:p>
          <a:p>
            <a:r>
              <a:rPr lang="en-US" dirty="0"/>
              <a:t>The 2</a:t>
            </a:r>
            <a:r>
              <a:rPr lang="en-US" baseline="30000" dirty="0"/>
              <a:t>nd</a:t>
            </a:r>
            <a:r>
              <a:rPr lang="en-US" dirty="0"/>
              <a:t> trimester is the optimal time to perform surgeries</a:t>
            </a:r>
          </a:p>
        </p:txBody>
      </p:sp>
    </p:spTree>
    <p:extLst>
      <p:ext uri="{BB962C8B-B14F-4D97-AF65-F5344CB8AC3E}">
        <p14:creationId xmlns:p14="http://schemas.microsoft.com/office/powerpoint/2010/main" val="1276650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hap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02171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dirty="0"/>
              <a:t>Recommendations for management of parturients and surgical procedures</a:t>
            </a:r>
          </a:p>
        </p:txBody>
      </p:sp>
      <p:pic>
        <p:nvPicPr>
          <p:cNvPr id="41987" name="Picture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249680"/>
            <a:ext cx="7924800" cy="533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Anesthetic consideration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Preoperative assessment</a:t>
            </a:r>
          </a:p>
          <a:p>
            <a:r>
              <a:rPr lang="en-US" dirty="0"/>
              <a:t>Document LMP</a:t>
            </a:r>
          </a:p>
          <a:p>
            <a:r>
              <a:rPr lang="en-US" dirty="0"/>
              <a:t>Pregnancy test?</a:t>
            </a:r>
          </a:p>
          <a:p>
            <a:r>
              <a:rPr lang="en-US" dirty="0"/>
              <a:t>Reassuring and explaining about risks to the fetus or pregnancy</a:t>
            </a:r>
          </a:p>
          <a:p>
            <a:r>
              <a:rPr lang="en-US" dirty="0"/>
              <a:t>Explain symptoms of preterm labor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179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sz="2800" dirty="0"/>
              <a:t>Avoidance of:</a:t>
            </a:r>
          </a:p>
          <a:p>
            <a:pPr lvl="2" indent="-342900">
              <a:buFont typeface="Wingdings" pitchFamily="2" charset="2"/>
              <a:buChar char="Ø"/>
            </a:pPr>
            <a:r>
              <a:rPr lang="en-US" sz="2800" dirty="0"/>
              <a:t>Hypoxemia </a:t>
            </a:r>
          </a:p>
          <a:p>
            <a:pPr lvl="2" indent="-342900">
              <a:buFont typeface="Wingdings" pitchFamily="2" charset="2"/>
              <a:buChar char="Ø"/>
            </a:pPr>
            <a:r>
              <a:rPr lang="en-US" sz="2800" dirty="0"/>
              <a:t>Hypotension </a:t>
            </a:r>
          </a:p>
          <a:p>
            <a:pPr lvl="2" indent="-342900">
              <a:buFont typeface="Wingdings" pitchFamily="2" charset="2"/>
              <a:buChar char="Ø"/>
            </a:pPr>
            <a:r>
              <a:rPr lang="en-US" sz="2800" dirty="0"/>
              <a:t>Acidosis and </a:t>
            </a:r>
          </a:p>
          <a:p>
            <a:pPr lvl="2" indent="-342900">
              <a:buFont typeface="Wingdings" pitchFamily="2" charset="2"/>
              <a:buChar char="Ø"/>
            </a:pPr>
            <a:r>
              <a:rPr lang="en-US" sz="2800" dirty="0"/>
              <a:t>hyperventilation</a:t>
            </a:r>
          </a:p>
        </p:txBody>
      </p:sp>
    </p:spTree>
    <p:extLst>
      <p:ext uri="{BB962C8B-B14F-4D97-AF65-F5344CB8AC3E}">
        <p14:creationId xmlns:p14="http://schemas.microsoft.com/office/powerpoint/2010/main" val="116451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Preoperative medications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Analgesics</a:t>
                </a:r>
              </a:p>
              <a:p>
                <a:r>
                  <a:rPr lang="en-US" dirty="0"/>
                  <a:t>Sedation – narcotics, benzodiazepines</a:t>
                </a:r>
              </a:p>
              <a:p>
                <a:r>
                  <a:rPr lang="en-US" dirty="0"/>
                  <a:t>Aspiration prophylaxis- antacid, metoclopramide,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receptor blocker</a:t>
                </a:r>
              </a:p>
              <a:p>
                <a:r>
                  <a:rPr lang="en-US" dirty="0"/>
                  <a:t>Administering </a:t>
                </a:r>
                <a:r>
                  <a:rPr lang="en-US" dirty="0" err="1"/>
                  <a:t>tocolysis</a:t>
                </a:r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5064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anesthetic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Depends on:</a:t>
            </a:r>
          </a:p>
          <a:p>
            <a:pPr lvl="1">
              <a:buFontTx/>
              <a:buChar char="-"/>
            </a:pPr>
            <a:r>
              <a:rPr lang="en-US" sz="2400" dirty="0"/>
              <a:t>The mothers condition</a:t>
            </a:r>
          </a:p>
          <a:p>
            <a:pPr lvl="1">
              <a:buFontTx/>
              <a:buChar char="-"/>
            </a:pPr>
            <a:r>
              <a:rPr lang="en-US" sz="2400" dirty="0"/>
              <a:t>The planned surgical procedure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No study has correlated improved fetal outcome with any anesthetic technique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When possible, local or regional anesthesia ( with the exception of paracervical block ) is preferred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Most abdominal procedures require GA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1201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dirty="0"/>
              <a:t>Monitoring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Intraoperative monitoring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Blood pressure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ECG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Pulse oxymetry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capnography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Temperature 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Blood glucose for longer cases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Fetal heart rate(if technical feasible) GA is &gt; 24 wks</a:t>
            </a:r>
          </a:p>
          <a:p>
            <a:pPr lvl="2" indent="-342900">
              <a:buFontTx/>
              <a:buChar char="-"/>
            </a:pPr>
            <a:r>
              <a:rPr lang="en-US" sz="2800" dirty="0"/>
              <a:t>If &lt; 24 wks : preop and postop.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en-US" dirty="0"/>
              <a:t>Peripheral nerve stimulator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en-US" dirty="0"/>
              <a:t>Uterine activity</a:t>
            </a:r>
          </a:p>
          <a:p>
            <a:pPr marL="8001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03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General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800" dirty="0"/>
              <a:t>Induction and emergence from anesthesia is more rapid than in the non pregnant state:</a:t>
            </a:r>
          </a:p>
          <a:p>
            <a:pPr marL="0" indent="0">
              <a:buNone/>
            </a:pPr>
            <a:r>
              <a:rPr lang="en-US" sz="2800" dirty="0"/>
              <a:t>            - Increased minute ventilation</a:t>
            </a:r>
          </a:p>
          <a:p>
            <a:pPr marL="0" indent="0">
              <a:buNone/>
            </a:pPr>
            <a:r>
              <a:rPr lang="en-US" sz="2800" dirty="0"/>
              <a:t>            - Decreased FRC</a:t>
            </a:r>
          </a:p>
          <a:p>
            <a:pPr marL="0" indent="0">
              <a:buNone/>
            </a:pPr>
            <a:r>
              <a:rPr lang="en-US" sz="2800" dirty="0"/>
              <a:t>            - Decreased MAC of volatile agent</a:t>
            </a:r>
          </a:p>
          <a:p>
            <a:r>
              <a:rPr lang="en-US" sz="2800" dirty="0"/>
              <a:t>Supine hypotensive syndrome can occur as early as the second trimester</a:t>
            </a:r>
          </a:p>
          <a:p>
            <a:r>
              <a:rPr lang="en-US" sz="2800" dirty="0"/>
              <a:t>Increased effect of local anesthetics during pregnancy</a:t>
            </a:r>
          </a:p>
          <a:p>
            <a:r>
              <a:rPr lang="en-US" sz="2800" dirty="0"/>
              <a:t>Increased risk of aspiration</a:t>
            </a:r>
          </a:p>
        </p:txBody>
      </p:sp>
    </p:spTree>
    <p:extLst>
      <p:ext uri="{BB962C8B-B14F-4D97-AF65-F5344CB8AC3E}">
        <p14:creationId xmlns:p14="http://schemas.microsoft.com/office/powerpoint/2010/main" val="42413138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anesthesia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Full preoxygenation</a:t>
            </a:r>
          </a:p>
          <a:p>
            <a:r>
              <a:rPr lang="en-US" dirty="0"/>
              <a:t>Left uterine tilt</a:t>
            </a:r>
          </a:p>
          <a:p>
            <a:r>
              <a:rPr lang="en-US" dirty="0"/>
              <a:t>Rapid sequence induction, smaller ETT</a:t>
            </a:r>
          </a:p>
          <a:p>
            <a:r>
              <a:rPr lang="en-US" dirty="0"/>
              <a:t>Use appropriate drugs</a:t>
            </a:r>
          </a:p>
          <a:p>
            <a:pPr marL="400050" lvl="1" indent="0">
              <a:buNone/>
            </a:pPr>
            <a:r>
              <a:rPr lang="en-US" dirty="0"/>
              <a:t>Safe drugs : thiopental, propofol, morphine, petidine, fentanyl, succinylcholine and NDMR</a:t>
            </a:r>
          </a:p>
          <a:p>
            <a:pPr marL="400050" lvl="1" indent="0">
              <a:buNone/>
            </a:pPr>
            <a:r>
              <a:rPr lang="en-US" dirty="0"/>
              <a:t>Ketamine increases uterine tone</a:t>
            </a:r>
          </a:p>
          <a:p>
            <a:r>
              <a:rPr lang="en-US" dirty="0"/>
              <a:t>Avoid hyperventilation – relative </a:t>
            </a:r>
            <a:r>
              <a:rPr lang="en-US" dirty="0" err="1"/>
              <a:t>hypocapnia</a:t>
            </a:r>
            <a:endParaRPr lang="en-US" dirty="0"/>
          </a:p>
          <a:p>
            <a:r>
              <a:rPr lang="en-US" dirty="0"/>
              <a:t>Inhalational agents &lt; 2 MAC</a:t>
            </a:r>
          </a:p>
          <a:p>
            <a:r>
              <a:rPr lang="en-US" dirty="0"/>
              <a:t>reversal of relaxants</a:t>
            </a:r>
          </a:p>
          <a:p>
            <a:r>
              <a:rPr lang="en-US" dirty="0"/>
              <a:t>Compression stockings</a:t>
            </a:r>
          </a:p>
        </p:txBody>
      </p:sp>
    </p:spTree>
    <p:extLst>
      <p:ext uri="{BB962C8B-B14F-4D97-AF65-F5344CB8AC3E}">
        <p14:creationId xmlns:p14="http://schemas.microsoft.com/office/powerpoint/2010/main" val="3356335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anesthesia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preferable</a:t>
            </a:r>
          </a:p>
          <a:p>
            <a:r>
              <a:rPr lang="en-US" dirty="0"/>
              <a:t>Prevent hypotension</a:t>
            </a:r>
          </a:p>
          <a:p>
            <a:pPr lvl="1"/>
            <a:r>
              <a:rPr lang="en-US" dirty="0"/>
              <a:t>Adequate fluid replacement</a:t>
            </a:r>
          </a:p>
          <a:p>
            <a:pPr lvl="1"/>
            <a:r>
              <a:rPr lang="en-US" dirty="0"/>
              <a:t>Uterine displacement </a:t>
            </a:r>
          </a:p>
          <a:p>
            <a:r>
              <a:rPr lang="en-US" dirty="0"/>
              <a:t>Decrease neuraxial local anesthetic dose- 30%</a:t>
            </a:r>
          </a:p>
          <a:p>
            <a:r>
              <a:rPr lang="en-US" dirty="0"/>
              <a:t>Choose vasopressors based on maternal heart rate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8343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868362"/>
          </a:xfrm>
        </p:spPr>
        <p:txBody>
          <a:bodyPr>
            <a:normAutofit/>
          </a:bodyPr>
          <a:lstStyle/>
          <a:p>
            <a:r>
              <a:rPr lang="en-US" sz="3200" dirty="0"/>
              <a:t>Laparoscopy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791200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/>
                  <a:t>Can be used in any trimester of pregnancy</a:t>
                </a:r>
              </a:p>
              <a:p>
                <a:r>
                  <a:rPr lang="en-US" sz="2800" dirty="0"/>
                  <a:t>Maintain normal end-tidal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𝐶𝑂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, consider blood gas monitoring</a:t>
                </a:r>
              </a:p>
              <a:p>
                <a:r>
                  <a:rPr lang="en-US" sz="2800" dirty="0"/>
                  <a:t>Keep inflation pressure &lt; 15mmHg</a:t>
                </a:r>
              </a:p>
              <a:p>
                <a:r>
                  <a:rPr lang="en-US" sz="2800" dirty="0"/>
                  <a:t>Maintain left uterine displacement</a:t>
                </a:r>
              </a:p>
              <a:p>
                <a:r>
                  <a:rPr lang="en-US" sz="2800" dirty="0"/>
                  <a:t>Monitor FHR and uterine tone preop. and postop.</a:t>
                </a:r>
              </a:p>
              <a:p>
                <a:r>
                  <a:rPr lang="en-US" sz="2800" dirty="0"/>
                  <a:t>Use compression devices for DVT </a:t>
                </a:r>
                <a:r>
                  <a:rPr lang="en-US" sz="2800" dirty="0" err="1"/>
                  <a:t>prophyalxis</a:t>
                </a:r>
                <a:endParaRPr lang="en-US" sz="2800" dirty="0"/>
              </a:p>
              <a:p>
                <a:r>
                  <a:rPr lang="en-US" sz="2800" dirty="0"/>
                  <a:t>Change in position should be undertaken slowly</a:t>
                </a:r>
              </a:p>
              <a:p>
                <a:r>
                  <a:rPr lang="en-US" sz="2800" dirty="0"/>
                  <a:t>FHR changes indicate the need for temporary deflation</a:t>
                </a:r>
              </a:p>
              <a:p>
                <a:r>
                  <a:rPr lang="en-US" sz="2800" dirty="0"/>
                  <a:t>Use </a:t>
                </a:r>
                <a:r>
                  <a:rPr lang="en-US" sz="2800" dirty="0" err="1"/>
                  <a:t>tocolytic</a:t>
                </a:r>
                <a:r>
                  <a:rPr lang="en-US" sz="2800" dirty="0"/>
                  <a:t> agents if there is </a:t>
                </a:r>
                <a:r>
                  <a:rPr lang="en-US" sz="2800" dirty="0" err="1"/>
                  <a:t>evidene</a:t>
                </a:r>
                <a:r>
                  <a:rPr lang="en-US" sz="2800" dirty="0"/>
                  <a:t> of preterm labor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791200"/>
              </a:xfrm>
              <a:blipFill rotWithShape="1">
                <a:blip r:embed="rId2"/>
                <a:stretch>
                  <a:fillRect l="-1259" t="-947" b="-13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0743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Continue monitoring fetal heart rate and uterine activity</a:t>
            </a:r>
          </a:p>
          <a:p>
            <a:r>
              <a:rPr lang="en-US" dirty="0"/>
              <a:t>Maintain maternal oxygenation and LUD</a:t>
            </a:r>
          </a:p>
          <a:p>
            <a:r>
              <a:rPr lang="en-US" dirty="0"/>
              <a:t>Proper pain management: systemic or neuraxial opioids, acetaminophen or neural blockade</a:t>
            </a:r>
          </a:p>
          <a:p>
            <a:r>
              <a:rPr lang="en-US" dirty="0"/>
              <a:t>Avoid use of NSAID after 32 wks</a:t>
            </a:r>
          </a:p>
          <a:p>
            <a:pPr marL="400050" lvl="1" indent="0">
              <a:buNone/>
            </a:pPr>
            <a:r>
              <a:rPr lang="en-US" dirty="0"/>
              <a:t>Risk of premature closure of </a:t>
            </a:r>
            <a:r>
              <a:rPr lang="en-US" dirty="0" err="1"/>
              <a:t>ductus</a:t>
            </a:r>
            <a:r>
              <a:rPr lang="en-US" dirty="0"/>
              <a:t> </a:t>
            </a:r>
            <a:r>
              <a:rPr lang="en-US" dirty="0" err="1"/>
              <a:t>arteriosus</a:t>
            </a:r>
            <a:endParaRPr lang="en-US" dirty="0"/>
          </a:p>
          <a:p>
            <a:r>
              <a:rPr lang="en-US" dirty="0"/>
              <a:t>Maintain hydration </a:t>
            </a:r>
          </a:p>
          <a:p>
            <a:r>
              <a:rPr lang="en-US" dirty="0"/>
              <a:t>Prevent thromboembolism</a:t>
            </a:r>
          </a:p>
          <a:p>
            <a:pPr marL="857250" lvl="1" indent="-457200"/>
            <a:r>
              <a:rPr lang="en-US" dirty="0"/>
              <a:t>Encourage early ambulation</a:t>
            </a:r>
          </a:p>
          <a:p>
            <a:pPr marL="857250" lvl="1" indent="-457200"/>
            <a:r>
              <a:rPr lang="en-US" dirty="0"/>
              <a:t>Pharmacologic prophylaxis – SQ low molecular weight heparin</a:t>
            </a:r>
          </a:p>
        </p:txBody>
      </p:sp>
    </p:spTree>
    <p:extLst>
      <p:ext uri="{BB962C8B-B14F-4D97-AF65-F5344CB8AC3E}">
        <p14:creationId xmlns:p14="http://schemas.microsoft.com/office/powerpoint/2010/main" val="40510799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Puerperium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62500" lnSpcReduction="20000"/>
          </a:bodyPr>
          <a:lstStyle/>
          <a:p>
            <a:r>
              <a:rPr lang="en-US" sz="4000" dirty="0"/>
              <a:t>The 1</a:t>
            </a:r>
            <a:r>
              <a:rPr lang="en-US" sz="4000" baseline="30000" dirty="0"/>
              <a:t>st</a:t>
            </a:r>
            <a:r>
              <a:rPr lang="en-US" sz="4000" dirty="0"/>
              <a:t> 6 wks after delivery</a:t>
            </a:r>
          </a:p>
          <a:p>
            <a:r>
              <a:rPr lang="en-US" sz="4000" dirty="0"/>
              <a:t>Avoiding elective surgery in the puerperium period is preferable</a:t>
            </a:r>
          </a:p>
          <a:p>
            <a:r>
              <a:rPr lang="en-US" sz="4000" dirty="0"/>
              <a:t>If surgery is indicated select drugs which are safe during breast feeding</a:t>
            </a:r>
          </a:p>
          <a:p>
            <a:r>
              <a:rPr lang="en-US" sz="4000" dirty="0"/>
              <a:t>Propofol thiopental and volatile anesthetic agents are found in significant amount in breast milk</a:t>
            </a:r>
          </a:p>
          <a:p>
            <a:r>
              <a:rPr lang="en-US" sz="4000" dirty="0"/>
              <a:t>Neuromuscular blocking agents not excreted in breast milk</a:t>
            </a:r>
          </a:p>
          <a:p>
            <a:r>
              <a:rPr lang="en-US" sz="4000" dirty="0"/>
              <a:t>Advise the woman to express and discard the 1</a:t>
            </a:r>
            <a:r>
              <a:rPr lang="en-US" sz="4000" baseline="30000" dirty="0"/>
              <a:t>st</a:t>
            </a:r>
            <a:r>
              <a:rPr lang="en-US" sz="4000" dirty="0"/>
              <a:t> sample of milk and to resume infant feeding </a:t>
            </a:r>
          </a:p>
          <a:p>
            <a:r>
              <a:rPr lang="en-US" sz="4000" dirty="0"/>
              <a:t>Antiemetics - use with caution</a:t>
            </a:r>
          </a:p>
          <a:p>
            <a:r>
              <a:rPr lang="en-US" sz="4000" dirty="0"/>
              <a:t>Local anesthetics excreted in breast milk in a less harmful amount</a:t>
            </a:r>
          </a:p>
          <a:p>
            <a:pPr lvl="1"/>
            <a:r>
              <a:rPr lang="en-US" sz="4000" dirty="0"/>
              <a:t>breast feeding can be continued normally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85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2888</TotalTime>
  <Words>2060</Words>
  <Application>Microsoft Office PowerPoint</Application>
  <PresentationFormat>On-screen Show (4:3)</PresentationFormat>
  <Paragraphs>342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Cambria Math</vt:lpstr>
      <vt:lpstr>Courier New</vt:lpstr>
      <vt:lpstr>Wingdings</vt:lpstr>
      <vt:lpstr>Office Theme</vt:lpstr>
      <vt:lpstr>Chapter 6 Anesthesia for gynecologic tumors and non-obstetric surgery during pregnancy</vt:lpstr>
      <vt:lpstr>Objectives </vt:lpstr>
      <vt:lpstr>Gynecological surgeries</vt:lpstr>
      <vt:lpstr>Ovarian cancer</vt:lpstr>
      <vt:lpstr>Ovarian carcinoma</vt:lpstr>
      <vt:lpstr>Anesthetic consideration</vt:lpstr>
      <vt:lpstr>…cont’d</vt:lpstr>
      <vt:lpstr>…cont’d</vt:lpstr>
      <vt:lpstr>PowerPoint Presentation</vt:lpstr>
      <vt:lpstr>PowerPoint Presentation</vt:lpstr>
      <vt:lpstr>Intraoperative</vt:lpstr>
      <vt:lpstr>Emergence</vt:lpstr>
      <vt:lpstr>Post operative</vt:lpstr>
      <vt:lpstr>Pelvic laparotomy</vt:lpstr>
      <vt:lpstr>Anesthetic considerations</vt:lpstr>
      <vt:lpstr>Intraoperative</vt:lpstr>
      <vt:lpstr>…cont’d</vt:lpstr>
      <vt:lpstr>…cont’d</vt:lpstr>
      <vt:lpstr>Exploratory laparotomy / hysterectomy</vt:lpstr>
      <vt:lpstr>Cont’d</vt:lpstr>
      <vt:lpstr>…cont’d</vt:lpstr>
      <vt:lpstr>Others</vt:lpstr>
      <vt:lpstr>…cont’d</vt:lpstr>
      <vt:lpstr>Anesthetic technique…cont’d</vt:lpstr>
      <vt:lpstr>…cont’d</vt:lpstr>
      <vt:lpstr> Anesthesia for pregnant woman for non-obstetrics surgery</vt:lpstr>
      <vt:lpstr>Introduction</vt:lpstr>
      <vt:lpstr>Goals </vt:lpstr>
      <vt:lpstr>Objective for non obstetric surgery</vt:lpstr>
      <vt:lpstr>Ensuring maternal safety</vt:lpstr>
      <vt:lpstr>PowerPoint Presentation</vt:lpstr>
      <vt:lpstr>PowerPoint Presentation</vt:lpstr>
      <vt:lpstr>Teratogenicity </vt:lpstr>
      <vt:lpstr>Teratogenicity …cont’d</vt:lpstr>
      <vt:lpstr>Teratogenic agents in human beings</vt:lpstr>
      <vt:lpstr>Teratogen </vt:lpstr>
      <vt:lpstr>PowerPoint Presentation</vt:lpstr>
      <vt:lpstr>Avoiding fetal asphyxia</vt:lpstr>
      <vt:lpstr>Preventing premature labor</vt:lpstr>
      <vt:lpstr>Timing of surgery</vt:lpstr>
      <vt:lpstr>Recommendations for management of parturients and surgical procedures</vt:lpstr>
      <vt:lpstr>Anesthetic consideration </vt:lpstr>
      <vt:lpstr>Goals </vt:lpstr>
      <vt:lpstr>Preoperative medications</vt:lpstr>
      <vt:lpstr>Choice of anesthetic</vt:lpstr>
      <vt:lpstr>Monitoring </vt:lpstr>
      <vt:lpstr>General considerations</vt:lpstr>
      <vt:lpstr>General anesthesia</vt:lpstr>
      <vt:lpstr>Regional anesthesia</vt:lpstr>
      <vt:lpstr>Laparoscopy</vt:lpstr>
      <vt:lpstr>Post operative</vt:lpstr>
      <vt:lpstr>Puerperium 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Alemtsehay</dc:creator>
  <cp:lastModifiedBy>hp</cp:lastModifiedBy>
  <cp:revision>29</cp:revision>
  <dcterms:created xsi:type="dcterms:W3CDTF">2016-03-28T15:58:57Z</dcterms:created>
  <dcterms:modified xsi:type="dcterms:W3CDTF">2021-10-19T22:04:29Z</dcterms:modified>
</cp:coreProperties>
</file>