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83" r:id="rId2"/>
    <p:sldId id="324" r:id="rId3"/>
    <p:sldId id="282" r:id="rId4"/>
    <p:sldId id="355" r:id="rId5"/>
    <p:sldId id="325" r:id="rId6"/>
    <p:sldId id="326" r:id="rId7"/>
    <p:sldId id="258" r:id="rId8"/>
    <p:sldId id="259" r:id="rId9"/>
    <p:sldId id="260" r:id="rId10"/>
    <p:sldId id="261" r:id="rId11"/>
    <p:sldId id="284" r:id="rId12"/>
    <p:sldId id="262" r:id="rId13"/>
    <p:sldId id="285" r:id="rId14"/>
    <p:sldId id="286" r:id="rId15"/>
    <p:sldId id="287" r:id="rId16"/>
    <p:sldId id="267" r:id="rId17"/>
    <p:sldId id="268" r:id="rId18"/>
    <p:sldId id="269" r:id="rId19"/>
    <p:sldId id="270" r:id="rId20"/>
    <p:sldId id="327" r:id="rId21"/>
    <p:sldId id="274" r:id="rId22"/>
    <p:sldId id="288" r:id="rId23"/>
    <p:sldId id="289" r:id="rId24"/>
    <p:sldId id="291" r:id="rId25"/>
    <p:sldId id="294" r:id="rId26"/>
    <p:sldId id="295" r:id="rId27"/>
    <p:sldId id="357" r:id="rId28"/>
    <p:sldId id="329" r:id="rId29"/>
    <p:sldId id="359" r:id="rId30"/>
    <p:sldId id="296" r:id="rId31"/>
    <p:sldId id="297" r:id="rId32"/>
    <p:sldId id="298" r:id="rId33"/>
    <p:sldId id="300" r:id="rId34"/>
    <p:sldId id="331" r:id="rId35"/>
    <p:sldId id="301" r:id="rId36"/>
    <p:sldId id="333" r:id="rId37"/>
    <p:sldId id="302" r:id="rId38"/>
    <p:sldId id="332" r:id="rId39"/>
    <p:sldId id="303" r:id="rId40"/>
    <p:sldId id="304" r:id="rId41"/>
    <p:sldId id="347" r:id="rId42"/>
    <p:sldId id="305" r:id="rId43"/>
    <p:sldId id="346" r:id="rId44"/>
    <p:sldId id="306" r:id="rId45"/>
    <p:sldId id="307" r:id="rId46"/>
    <p:sldId id="350" r:id="rId47"/>
    <p:sldId id="308" r:id="rId48"/>
    <p:sldId id="362" r:id="rId49"/>
    <p:sldId id="309" r:id="rId50"/>
    <p:sldId id="310" r:id="rId51"/>
    <p:sldId id="311" r:id="rId52"/>
    <p:sldId id="312" r:id="rId53"/>
    <p:sldId id="313" r:id="rId54"/>
    <p:sldId id="351" r:id="rId55"/>
    <p:sldId id="314" r:id="rId56"/>
    <p:sldId id="352" r:id="rId57"/>
    <p:sldId id="315" r:id="rId58"/>
    <p:sldId id="360" r:id="rId59"/>
    <p:sldId id="316" r:id="rId60"/>
    <p:sldId id="353" r:id="rId61"/>
    <p:sldId id="317" r:id="rId62"/>
    <p:sldId id="318" r:id="rId63"/>
    <p:sldId id="319" r:id="rId64"/>
    <p:sldId id="364" r:id="rId65"/>
    <p:sldId id="365" r:id="rId66"/>
    <p:sldId id="320" r:id="rId67"/>
    <p:sldId id="321" r:id="rId68"/>
    <p:sldId id="322" r:id="rId69"/>
    <p:sldId id="361" r:id="rId70"/>
    <p:sldId id="323" r:id="rId71"/>
    <p:sldId id="354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53528-DF5D-4443-838A-20FC125FCCCE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CC5C6-A9B1-4138-A28A-F4E4893A5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7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CC5C6-A9B1-4138-A28A-F4E4893A53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42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CC5C6-A9B1-4138-A28A-F4E4893A53E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47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CC5C6-A9B1-4138-A28A-F4E4893A53E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17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CC5C6-A9B1-4138-A28A-F4E4893A53E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2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CC5C6-A9B1-4138-A28A-F4E4893A53E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94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7F60A9-8400-44C4-A561-9620E8AEACBD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85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1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8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6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8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0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9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3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1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23D92-6FEA-4868-967F-E0CDBFA24C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0A615-B9F7-4A3C-A128-23703729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two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Uteroplacental circulation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7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Placenta</a:t>
            </a:r>
          </a:p>
          <a:p>
            <a:r>
              <a:rPr lang="en-US" dirty="0" smtClean="0"/>
              <a:t>Fetal exposure to drugs used in obstetrics</a:t>
            </a:r>
          </a:p>
          <a:p>
            <a:r>
              <a:rPr lang="en-US" dirty="0" smtClean="0"/>
              <a:t>Factors affecting uteroplacental blood flow</a:t>
            </a:r>
          </a:p>
          <a:p>
            <a:r>
              <a:rPr lang="en-US" dirty="0" smtClean="0"/>
              <a:t>Summery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4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Uteroplacental circulation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 smtClean="0"/>
                  <a:t>Introduction 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800" dirty="0" smtClean="0"/>
                  <a:t>Uteroplacental circulation determines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 and nutrient delivery to the fetus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800" dirty="0" smtClean="0"/>
                  <a:t>It is essential for the growth and development of a healthy fetus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800" dirty="0" smtClean="0"/>
                  <a:t>Optimal obstetric anesthesia practice requires its understanding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10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Uteroplacental perfusion originates from the uterine and ovarian arteries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7000"/>
            <a:ext cx="4202875" cy="388620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7432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4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Maternal blood enters into placenta through the basal plate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It passes into the veins of the basal plate and exits the uterus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Normally</a:t>
            </a:r>
            <a:r>
              <a:rPr lang="en-US" sz="2800" dirty="0"/>
              <a:t>, the two circulations are separate, and there is no mixing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13" y="1295400"/>
            <a:ext cx="3468687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38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Uterine blood flow</a:t>
            </a:r>
          </a:p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96211"/>
              </p:ext>
            </p:extLst>
          </p:nvPr>
        </p:nvGraphicFramePr>
        <p:xfrm>
          <a:off x="990600" y="2514600"/>
          <a:ext cx="6096000" cy="25146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32000"/>
                <a:gridCol w="2032000"/>
                <a:gridCol w="2032000"/>
              </a:tblGrid>
              <a:tr h="10824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Non</a:t>
                      </a:r>
                      <a:r>
                        <a:rPr lang="en-US" baseline="0" dirty="0" smtClean="0"/>
                        <a:t> pregnant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pregnant</a:t>
                      </a:r>
                      <a:endParaRPr lang="en-US" dirty="0"/>
                    </a:p>
                  </a:txBody>
                  <a:tcPr/>
                </a:tc>
              </a:tr>
              <a:tr h="716061">
                <a:tc>
                  <a:txBody>
                    <a:bodyPr/>
                    <a:lstStyle/>
                    <a:p>
                      <a:r>
                        <a:rPr lang="en-US" dirty="0" smtClean="0"/>
                        <a:t>Uterine blood flow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50-100</a:t>
                      </a:r>
                      <a:r>
                        <a:rPr lang="en-US" baseline="0" dirty="0" smtClean="0"/>
                        <a:t> ml/min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700-900 ml/min</a:t>
                      </a:r>
                      <a:endParaRPr lang="en-US" dirty="0"/>
                    </a:p>
                  </a:txBody>
                  <a:tcPr/>
                </a:tc>
              </a:tr>
              <a:tr h="716061">
                <a:tc>
                  <a:txBody>
                    <a:bodyPr/>
                    <a:lstStyle/>
                    <a:p>
                      <a:r>
                        <a:rPr lang="en-US" dirty="0" smtClean="0"/>
                        <a:t>Percentage of 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10-12%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96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Placenta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Introduction </a:t>
            </a:r>
          </a:p>
          <a:p>
            <a:r>
              <a:rPr lang="en-US" sz="2800" dirty="0" smtClean="0"/>
              <a:t>At implantation the developing blastocyst erodes the surrounding decidua</a:t>
            </a:r>
          </a:p>
          <a:p>
            <a:r>
              <a:rPr lang="en-US" sz="2800" dirty="0" smtClean="0"/>
              <a:t>The throphoblasts secrete proteolytic enzymes that digest and liquefy the adjacent cells of the uterine endometrium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95800"/>
            <a:ext cx="6934200" cy="2105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30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Once implantation has taken place, rapid proliferation of the throphoblast and uterine endometrium form placenta and various membranes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Placenta is </a:t>
            </a:r>
            <a:r>
              <a:rPr lang="en-US" sz="2800" dirty="0"/>
              <a:t>a complex </a:t>
            </a:r>
            <a:r>
              <a:rPr lang="en-US" sz="2800" dirty="0" smtClean="0"/>
              <a:t>structure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It brings two circulations close together for the exchange of blood gases, nutrients, and wastes.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316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It </a:t>
            </a:r>
            <a:r>
              <a:rPr lang="en-US" sz="2800" dirty="0"/>
              <a:t>is composed of basal and chorionic plate separated by intervillous </a:t>
            </a:r>
            <a:r>
              <a:rPr lang="en-US" sz="2800" dirty="0" smtClean="0"/>
              <a:t>space</a:t>
            </a:r>
          </a:p>
          <a:p>
            <a:endParaRPr lang="en-US" sz="2800" dirty="0"/>
          </a:p>
          <a:p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lvl="0"/>
            <a:endParaRPr lang="en-US" sz="2800" dirty="0" smtClean="0">
              <a:solidFill>
                <a:prstClr val="black"/>
              </a:solidFill>
            </a:endParaRP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endParaRPr lang="en-US" sz="2800" dirty="0" smtClean="0">
              <a:solidFill>
                <a:prstClr val="black"/>
              </a:solidFill>
            </a:endParaRP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The </a:t>
            </a:r>
            <a:r>
              <a:rPr lang="en-US" sz="2800" dirty="0">
                <a:solidFill>
                  <a:prstClr val="black"/>
                </a:solidFill>
              </a:rPr>
              <a:t>fetal capillaries with in villi readily exchange substances with the maternal </a:t>
            </a:r>
            <a:r>
              <a:rPr lang="en-US" sz="2800" dirty="0" smtClean="0">
                <a:solidFill>
                  <a:prstClr val="black"/>
                </a:solidFill>
              </a:rPr>
              <a:t>blood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2514600"/>
            <a:ext cx="52578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Maternal blood in the intervillous spaces is derived from spiral branches of the uterine artery and drains into the </a:t>
            </a:r>
            <a:r>
              <a:rPr lang="en-US" sz="2400" dirty="0" smtClean="0">
                <a:solidFill>
                  <a:prstClr val="black"/>
                </a:solidFill>
              </a:rPr>
              <a:t>uterine </a:t>
            </a:r>
            <a:r>
              <a:rPr lang="en-US" sz="2400" dirty="0">
                <a:solidFill>
                  <a:prstClr val="black"/>
                </a:solidFill>
              </a:rPr>
              <a:t>veins</a:t>
            </a:r>
            <a:r>
              <a:rPr lang="en-US" sz="2400" dirty="0" smtClean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</p:txBody>
      </p:sp>
      <p:pic>
        <p:nvPicPr>
          <p:cNvPr id="7" name="Content Placeholder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43200"/>
            <a:ext cx="7467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5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Fetal blood within villi is derived from </a:t>
            </a:r>
            <a:r>
              <a:rPr lang="en-US" sz="2800" dirty="0" smtClean="0">
                <a:solidFill>
                  <a:prstClr val="black"/>
                </a:solidFill>
              </a:rPr>
              <a:t>the two umbilical </a:t>
            </a:r>
            <a:r>
              <a:rPr lang="en-US" sz="2800" dirty="0">
                <a:solidFill>
                  <a:prstClr val="black"/>
                </a:solidFill>
              </a:rPr>
              <a:t>arteries and returns to the fetus via a single </a:t>
            </a:r>
            <a:r>
              <a:rPr lang="en-US" sz="2800" dirty="0" smtClean="0">
                <a:solidFill>
                  <a:prstClr val="black"/>
                </a:solidFill>
              </a:rPr>
              <a:t>umbilical vein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r>
              <a:rPr lang="en-US" sz="2800" dirty="0" smtClean="0"/>
              <a:t>Uterine blood flow</a:t>
            </a:r>
          </a:p>
          <a:p>
            <a:pPr lvl="1"/>
            <a:r>
              <a:rPr lang="en-US" sz="2400" dirty="0" smtClean="0"/>
              <a:t>≈ </a:t>
            </a:r>
            <a:r>
              <a:rPr lang="en-US" sz="2400" dirty="0"/>
              <a:t>80% of </a:t>
            </a:r>
            <a:r>
              <a:rPr lang="en-US" sz="2400" dirty="0" smtClean="0"/>
              <a:t>passes </a:t>
            </a:r>
            <a:r>
              <a:rPr lang="en-US" sz="2400" dirty="0"/>
              <a:t>through the intervillous space </a:t>
            </a:r>
          </a:p>
          <a:p>
            <a:pPr lvl="1"/>
            <a:r>
              <a:rPr lang="en-US" sz="2400" dirty="0" smtClean="0"/>
              <a:t>≈</a:t>
            </a:r>
            <a:r>
              <a:rPr lang="en-US" sz="2400" dirty="0"/>
              <a:t>20% goes to the </a:t>
            </a:r>
            <a:r>
              <a:rPr lang="en-US" sz="2400" dirty="0" smtClean="0"/>
              <a:t>myometrium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/>
              <a:t>The placenta grows dramatically from the third month of gestation until </a:t>
            </a:r>
            <a:r>
              <a:rPr lang="en-US" sz="2800" dirty="0" smtClean="0"/>
              <a:t>term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6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By term, the mature placenta </a:t>
            </a:r>
            <a:r>
              <a:rPr lang="en-US" sz="2400" dirty="0" smtClean="0"/>
              <a:t>is:</a:t>
            </a:r>
          </a:p>
          <a:p>
            <a:r>
              <a:rPr lang="en-US" sz="2400" dirty="0" smtClean="0"/>
              <a:t>Oval </a:t>
            </a:r>
            <a:r>
              <a:rPr lang="en-US" sz="2400" dirty="0"/>
              <a:t>and flat, </a:t>
            </a:r>
            <a:endParaRPr lang="en-US" sz="2400" dirty="0" smtClean="0"/>
          </a:p>
          <a:p>
            <a:r>
              <a:rPr lang="en-US" sz="2400" dirty="0" smtClean="0"/>
              <a:t>An average </a:t>
            </a:r>
            <a:r>
              <a:rPr lang="en-US" sz="2400" dirty="0"/>
              <a:t>diameter of 18.5 cm, </a:t>
            </a:r>
            <a:endParaRPr lang="en-US" sz="2400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average weight of 500 g, </a:t>
            </a:r>
          </a:p>
          <a:p>
            <a:r>
              <a:rPr lang="en-US" sz="2400" dirty="0" smtClean="0"/>
              <a:t>an </a:t>
            </a:r>
            <a:r>
              <a:rPr lang="en-US" sz="2400" dirty="0"/>
              <a:t>average </a:t>
            </a:r>
            <a:r>
              <a:rPr lang="en-US" sz="2400" dirty="0" smtClean="0"/>
              <a:t>thickness </a:t>
            </a:r>
            <a:r>
              <a:rPr lang="en-US" sz="2400" dirty="0"/>
              <a:t>of 23 </a:t>
            </a:r>
            <a:r>
              <a:rPr lang="en-US" sz="2400" dirty="0" smtClean="0"/>
              <a:t>mm</a:t>
            </a:r>
          </a:p>
          <a:p>
            <a:endParaRPr lang="en-US" sz="28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200400"/>
            <a:ext cx="6629400" cy="34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1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Functions of placenta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Hormonal function</a:t>
            </a:r>
          </a:p>
          <a:p>
            <a:pPr marL="0" indent="0">
              <a:buNone/>
            </a:pPr>
            <a:endParaRPr lang="en-US" sz="2800" b="1" dirty="0" smtClean="0"/>
          </a:p>
          <a:p>
            <a:pPr>
              <a:buFontTx/>
              <a:buChar char="-"/>
            </a:pPr>
            <a:r>
              <a:rPr lang="en-US" sz="2800" dirty="0" smtClean="0"/>
              <a:t>production of estrogen and progesterone</a:t>
            </a:r>
          </a:p>
          <a:p>
            <a:pPr marL="0" indent="0">
              <a:buNone/>
            </a:pPr>
            <a:endParaRPr lang="en-US" sz="2800" dirty="0" smtClean="0"/>
          </a:p>
          <a:p>
            <a:pPr>
              <a:buFontTx/>
              <a:buChar char="-"/>
            </a:pPr>
            <a:r>
              <a:rPr lang="en-US" sz="2800" dirty="0" smtClean="0"/>
              <a:t>Production of enzymes, binding proteins, and polypeptide hormones</a:t>
            </a:r>
          </a:p>
          <a:p>
            <a:pPr marL="0" indent="0">
              <a:buNone/>
            </a:pPr>
            <a:endParaRPr lang="en-US" sz="2800" dirty="0" smtClean="0"/>
          </a:p>
          <a:p>
            <a:pPr>
              <a:buFontTx/>
              <a:buChar char="-"/>
            </a:pPr>
            <a:r>
              <a:rPr lang="en-US" sz="2800" dirty="0" smtClean="0"/>
              <a:t>Produce  proteins and steroid hormones →influence and control the fetal environment</a:t>
            </a:r>
          </a:p>
        </p:txBody>
      </p:sp>
    </p:spTree>
    <p:extLst>
      <p:ext uri="{BB962C8B-B14F-4D97-AF65-F5344CB8AC3E}">
        <p14:creationId xmlns:p14="http://schemas.microsoft.com/office/powerpoint/2010/main" val="350620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b="1" dirty="0">
                <a:solidFill>
                  <a:prstClr val="black"/>
                </a:solidFill>
              </a:rPr>
              <a:t>Barrier </a:t>
            </a:r>
            <a:r>
              <a:rPr lang="en-US" sz="2800" b="1" dirty="0" smtClean="0">
                <a:solidFill>
                  <a:prstClr val="black"/>
                </a:solidFill>
              </a:rPr>
              <a:t>function....imperfect barrier </a:t>
            </a:r>
            <a:endParaRPr lang="en-US" sz="2800" b="1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endParaRPr lang="en-US" sz="2800" b="1" dirty="0" smtClean="0">
              <a:solidFill>
                <a:prstClr val="black"/>
              </a:solidFill>
            </a:endParaRPr>
          </a:p>
          <a:p>
            <a:r>
              <a:rPr lang="en-US" sz="2800" dirty="0"/>
              <a:t>cytochrome P-450 isoenzymes are found within the </a:t>
            </a:r>
            <a:r>
              <a:rPr lang="en-US" sz="2800" dirty="0" smtClean="0"/>
              <a:t>placenta</a:t>
            </a:r>
          </a:p>
          <a:p>
            <a:endParaRPr lang="en-US" sz="2800" dirty="0" smtClean="0"/>
          </a:p>
          <a:p>
            <a:r>
              <a:rPr lang="en-US" sz="2800" dirty="0" smtClean="0"/>
              <a:t>Binding some substances→ by specific or non specific binding within placental tissue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Diffusion </a:t>
            </a:r>
            <a:r>
              <a:rPr lang="en-US" sz="2800" dirty="0"/>
              <a:t>may be influenced by membrane thickness</a:t>
            </a:r>
            <a:endParaRPr lang="en-US" sz="2800" dirty="0">
              <a:solidFill>
                <a:prstClr val="black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855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prstClr val="black"/>
                </a:solidFill>
              </a:rPr>
              <a:t>Transport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600" dirty="0" smtClean="0">
                <a:solidFill>
                  <a:prstClr val="black"/>
                </a:solidFill>
              </a:rPr>
              <a:t>Passive transport</a:t>
            </a:r>
          </a:p>
          <a:p>
            <a:pPr lvl="1"/>
            <a:r>
              <a:rPr lang="en-US" sz="2600" dirty="0" smtClean="0">
                <a:solidFill>
                  <a:prstClr val="black"/>
                </a:solidFill>
              </a:rPr>
              <a:t>Through lipid membranes or protein channels</a:t>
            </a:r>
            <a:endParaRPr lang="en-US" sz="26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600" dirty="0">
                <a:solidFill>
                  <a:prstClr val="black"/>
                </a:solidFill>
              </a:rPr>
              <a:t>Facilitated </a:t>
            </a:r>
            <a:r>
              <a:rPr lang="en-US" sz="2600" dirty="0" smtClean="0">
                <a:solidFill>
                  <a:prstClr val="black"/>
                </a:solidFill>
              </a:rPr>
              <a:t>transport</a:t>
            </a:r>
          </a:p>
          <a:p>
            <a:pPr lvl="1"/>
            <a:r>
              <a:rPr lang="en-US" sz="2600" dirty="0" smtClean="0"/>
              <a:t>Carrier-mediated </a:t>
            </a:r>
            <a:r>
              <a:rPr lang="en-US" sz="2600" dirty="0"/>
              <a:t>transport of relatively lipid-insoluble molecules down their concentration gradient</a:t>
            </a:r>
            <a:endParaRPr lang="en-US" sz="26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600" dirty="0">
                <a:solidFill>
                  <a:prstClr val="black"/>
                </a:solidFill>
              </a:rPr>
              <a:t>Active </a:t>
            </a:r>
            <a:r>
              <a:rPr lang="en-US" sz="2600" dirty="0" smtClean="0">
                <a:solidFill>
                  <a:prstClr val="black"/>
                </a:solidFill>
              </a:rPr>
              <a:t>transport</a:t>
            </a:r>
          </a:p>
          <a:p>
            <a:pPr lvl="1"/>
            <a:r>
              <a:rPr lang="en-US" sz="2600" dirty="0" smtClean="0"/>
              <a:t>Against  </a:t>
            </a:r>
            <a:r>
              <a:rPr lang="en-US" sz="2600" dirty="0"/>
              <a:t>a concentration, electrical, or pressure gradient</a:t>
            </a:r>
            <a:endParaRPr lang="en-US" sz="26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600" dirty="0" smtClean="0">
                <a:solidFill>
                  <a:prstClr val="black"/>
                </a:solidFill>
              </a:rPr>
              <a:t>Pinocytosis</a:t>
            </a:r>
          </a:p>
          <a:p>
            <a:pPr lvl="1"/>
            <a:r>
              <a:rPr lang="en-US" sz="2600" dirty="0" smtClean="0"/>
              <a:t>Immunoglobulin G transfer from the maternal to the fetal circulation</a:t>
            </a:r>
            <a:endParaRPr lang="en-US" sz="26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76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Gas and nutrient transfer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Oxygen </a:t>
            </a:r>
          </a:p>
          <a:p>
            <a:r>
              <a:rPr lang="en-US" sz="2800" dirty="0" smtClean="0"/>
              <a:t>Dissolved O2</a:t>
            </a:r>
          </a:p>
          <a:p>
            <a:r>
              <a:rPr lang="en-US" sz="2800" dirty="0" smtClean="0"/>
              <a:t>Simple diffusion</a:t>
            </a:r>
          </a:p>
          <a:p>
            <a:r>
              <a:rPr lang="en-US" sz="2800" dirty="0" smtClean="0"/>
              <a:t>Driven by O2 pressure</a:t>
            </a:r>
          </a:p>
          <a:p>
            <a:pPr marL="0" indent="0">
              <a:buNone/>
            </a:pPr>
            <a:r>
              <a:rPr lang="en-US" sz="2800" dirty="0" smtClean="0"/>
              <a:t>Factors 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hemoglobin of the fetus is mainly </a:t>
            </a:r>
            <a:r>
              <a:rPr lang="en-US" sz="2800" dirty="0" smtClean="0"/>
              <a:t>fetal hemoglobin</a:t>
            </a:r>
          </a:p>
          <a:p>
            <a:r>
              <a:rPr lang="en-US" sz="2800" dirty="0" smtClean="0"/>
              <a:t>Oxyhemoglobin dissociation curve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0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Oxyhemoglobin dissociation curve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86000"/>
            <a:ext cx="5867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2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Hemoglobin concentration difference</a:t>
            </a:r>
          </a:p>
          <a:p>
            <a:pPr lvl="1"/>
            <a:r>
              <a:rPr lang="en-US" dirty="0" smtClean="0"/>
              <a:t>50 </a:t>
            </a:r>
            <a:r>
              <a:rPr lang="en-US" dirty="0"/>
              <a:t>per cent greater than that of the </a:t>
            </a:r>
            <a:r>
              <a:rPr lang="en-US" dirty="0" smtClean="0"/>
              <a:t>mother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Bohr </a:t>
            </a:r>
            <a:r>
              <a:rPr lang="en-US" sz="2800" dirty="0" smtClean="0"/>
              <a:t>effect </a:t>
            </a:r>
          </a:p>
          <a:p>
            <a:pPr lvl="1"/>
            <a:r>
              <a:rPr lang="en-US" dirty="0" smtClean="0"/>
              <a:t>hemoglobin </a:t>
            </a:r>
            <a:r>
              <a:rPr lang="en-US" dirty="0"/>
              <a:t>can carry more oxygen at a low </a:t>
            </a:r>
            <a:r>
              <a:rPr lang="en-US" dirty="0" smtClean="0"/>
              <a:t>PCO2 than </a:t>
            </a:r>
            <a:r>
              <a:rPr lang="en-US" dirty="0"/>
              <a:t>it can at a high </a:t>
            </a:r>
            <a:r>
              <a:rPr lang="en-US" dirty="0" smtClean="0"/>
              <a:t>PCO2</a:t>
            </a:r>
          </a:p>
          <a:p>
            <a:pPr lvl="1"/>
            <a:r>
              <a:rPr lang="en-US" dirty="0" smtClean="0"/>
              <a:t>More acidic maternal blood</a:t>
            </a:r>
          </a:p>
          <a:p>
            <a:pPr lvl="1"/>
            <a:r>
              <a:rPr lang="en-US" dirty="0" smtClean="0"/>
              <a:t>More alkalotic fetal blood</a:t>
            </a:r>
          </a:p>
          <a:p>
            <a:pPr lvl="1"/>
            <a:r>
              <a:rPr lang="en-US" dirty="0" smtClean="0"/>
              <a:t>Shift in the oxyhemoglobin dissociation curve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36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CO2 </a:t>
            </a:r>
            <a:r>
              <a:rPr lang="en-US" dirty="0"/>
              <a:t>diffusion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difference in PCO2</a:t>
            </a:r>
          </a:p>
          <a:p>
            <a:pPr lvl="1"/>
            <a:r>
              <a:rPr lang="en-US" dirty="0"/>
              <a:t>favors fetal-to-maternal transfer</a:t>
            </a:r>
          </a:p>
          <a:p>
            <a:endParaRPr lang="en-US" sz="2800" dirty="0" smtClean="0"/>
          </a:p>
          <a:p>
            <a:r>
              <a:rPr lang="en-US" sz="2800" dirty="0" smtClean="0"/>
              <a:t>Co2 is highly soluble in the placenta membrane</a:t>
            </a:r>
          </a:p>
          <a:p>
            <a:pPr lvl="1"/>
            <a:r>
              <a:rPr lang="en-US" dirty="0" smtClean="0"/>
              <a:t>diffuse </a:t>
            </a:r>
            <a:r>
              <a:rPr lang="en-US" dirty="0"/>
              <a:t>about 20 times </a:t>
            </a:r>
            <a:r>
              <a:rPr lang="en-US" dirty="0" smtClean="0"/>
              <a:t>as rapidly </a:t>
            </a:r>
            <a:r>
              <a:rPr lang="en-US" dirty="0"/>
              <a:t>as oxygen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613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Haldane effect within the maternal </a:t>
            </a:r>
            <a:r>
              <a:rPr lang="en-US" sz="2800" dirty="0" smtClean="0"/>
              <a:t>blood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maternal-to-fetal transfer of </a:t>
            </a:r>
            <a:r>
              <a:rPr lang="en-US" sz="2800" dirty="0" smtClean="0"/>
              <a:t>oxygen → deoxyhemoglobin </a:t>
            </a:r>
            <a:r>
              <a:rPr lang="en-US" sz="2800" dirty="0"/>
              <a:t>in the maternal </a:t>
            </a:r>
            <a:r>
              <a:rPr lang="en-US" sz="2800" dirty="0" smtClean="0"/>
              <a:t>blood → greater </a:t>
            </a:r>
            <a:r>
              <a:rPr lang="en-US" sz="2800" dirty="0"/>
              <a:t>affinity for CO</a:t>
            </a:r>
            <a:r>
              <a:rPr lang="en-US" sz="2800" baseline="-25000" dirty="0"/>
              <a:t>2</a:t>
            </a:r>
            <a:r>
              <a:rPr lang="en-US" sz="2800" dirty="0"/>
              <a:t> than does </a:t>
            </a:r>
            <a:r>
              <a:rPr lang="en-US" sz="2800" dirty="0" smtClean="0"/>
              <a:t>oxyhemoglobin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 smtClean="0"/>
              <a:t>It accounts for 46</a:t>
            </a:r>
            <a:r>
              <a:rPr lang="en-US" sz="2800" dirty="0"/>
              <a:t>% of the transplacental transfer of </a:t>
            </a:r>
            <a:r>
              <a:rPr lang="en-US" sz="2800" dirty="0" smtClean="0"/>
              <a:t>CO2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2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Glucose </a:t>
            </a:r>
          </a:p>
          <a:p>
            <a:r>
              <a:rPr lang="en-US" sz="2400" dirty="0" smtClean="0"/>
              <a:t>Facilitated diffusion by a </a:t>
            </a:r>
            <a:r>
              <a:rPr lang="en-US" sz="2400" dirty="0"/>
              <a:t>d-glucose transport </a:t>
            </a:r>
            <a:r>
              <a:rPr lang="en-US" sz="2400" dirty="0" smtClean="0"/>
              <a:t>protein found with in the </a:t>
            </a:r>
            <a:r>
              <a:rPr lang="en-US" sz="2400" dirty="0"/>
              <a:t>trophoblast membrane</a:t>
            </a:r>
            <a:endParaRPr lang="en-US" sz="2400" dirty="0" smtClean="0"/>
          </a:p>
          <a:p>
            <a:r>
              <a:rPr lang="en-US" sz="2400" dirty="0"/>
              <a:t>At term, only 28% of </a:t>
            </a:r>
            <a:r>
              <a:rPr lang="en-US" sz="2400" dirty="0" smtClean="0"/>
              <a:t>the absorbed glucose </a:t>
            </a:r>
            <a:r>
              <a:rPr lang="en-US" sz="2400" dirty="0"/>
              <a:t>is transferred to the umbilical </a:t>
            </a:r>
            <a:r>
              <a:rPr lang="en-US" sz="2400" dirty="0" smtClean="0"/>
              <a:t>vein</a:t>
            </a:r>
          </a:p>
          <a:p>
            <a:pPr marL="0" indent="0">
              <a:buNone/>
            </a:pPr>
            <a:r>
              <a:rPr lang="en-US" sz="2400" dirty="0" smtClean="0"/>
              <a:t>Aminoacids </a:t>
            </a:r>
          </a:p>
          <a:p>
            <a:r>
              <a:rPr lang="en-US" sz="2400" dirty="0" smtClean="0"/>
              <a:t>Active process by </a:t>
            </a:r>
            <a:r>
              <a:rPr lang="en-US" sz="2400" dirty="0"/>
              <a:t>linked carriers for both amino acids and </a:t>
            </a:r>
            <a:r>
              <a:rPr lang="en-US" sz="2400" dirty="0" smtClean="0"/>
              <a:t>sodium</a:t>
            </a:r>
          </a:p>
          <a:p>
            <a:pPr marL="0" indent="0">
              <a:buNone/>
            </a:pPr>
            <a:r>
              <a:rPr lang="en-US" sz="2400" dirty="0" smtClean="0"/>
              <a:t>Fatty </a:t>
            </a:r>
            <a:r>
              <a:rPr lang="en-US" sz="2400" dirty="0"/>
              <a:t>acids </a:t>
            </a:r>
            <a:endParaRPr lang="en-US" sz="2400" dirty="0" smtClean="0"/>
          </a:p>
          <a:p>
            <a:r>
              <a:rPr lang="en-US" sz="2400" dirty="0" smtClean="0"/>
              <a:t>Simple diffusion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118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smtClean="0"/>
              <a:t>The maternal – placental- fetal unit  </a:t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 smtClean="0"/>
              <a:t>Maternal component</a:t>
            </a:r>
            <a:endParaRPr lang="en-US" sz="2800" b="1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76400"/>
            <a:ext cx="5943600" cy="4572000"/>
          </a:xfrm>
        </p:spPr>
      </p:pic>
    </p:spTree>
    <p:extLst>
      <p:ext uri="{BB962C8B-B14F-4D97-AF65-F5344CB8AC3E}">
        <p14:creationId xmlns:p14="http://schemas.microsoft.com/office/powerpoint/2010/main" val="114331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Placental component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24000"/>
            <a:ext cx="6400800" cy="4343400"/>
          </a:xfrm>
        </p:spPr>
      </p:pic>
    </p:spTree>
    <p:extLst>
      <p:ext uri="{BB962C8B-B14F-4D97-AF65-F5344CB8AC3E}">
        <p14:creationId xmlns:p14="http://schemas.microsoft.com/office/powerpoint/2010/main" val="196535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Fetal component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19200"/>
            <a:ext cx="7162800" cy="4953000"/>
          </a:xfrm>
        </p:spPr>
      </p:pic>
    </p:spTree>
    <p:extLst>
      <p:ext uri="{BB962C8B-B14F-4D97-AF65-F5344CB8AC3E}">
        <p14:creationId xmlns:p14="http://schemas.microsoft.com/office/powerpoint/2010/main" val="80057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The fetal circulation is characterized by a parallel </a:t>
            </a:r>
            <a:r>
              <a:rPr lang="en-US" sz="2400" dirty="0" smtClean="0"/>
              <a:t>system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placenta provides oxygenated blood into the ductus venosus, the inferior vena cava, and then into the right </a:t>
            </a:r>
            <a:r>
              <a:rPr lang="en-US" sz="2400" dirty="0" smtClean="0"/>
              <a:t>atrium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/>
              <a:t>In the right atrium, the majority of the oxygenated </a:t>
            </a:r>
            <a:r>
              <a:rPr lang="en-US" sz="2400" dirty="0" smtClean="0"/>
              <a:t>blood </a:t>
            </a:r>
            <a:r>
              <a:rPr lang="en-US" sz="2400" dirty="0"/>
              <a:t>flows through the foramen ovale </a:t>
            </a:r>
            <a:endParaRPr lang="en-US" sz="2400" dirty="0" smtClean="0"/>
          </a:p>
          <a:p>
            <a:pPr lvl="1"/>
            <a:r>
              <a:rPr lang="en-US" sz="2400" dirty="0" smtClean="0"/>
              <a:t>relatively </a:t>
            </a:r>
            <a:r>
              <a:rPr lang="en-US" sz="2400" dirty="0"/>
              <a:t>low pressure in the left </a:t>
            </a:r>
            <a:r>
              <a:rPr lang="en-US" sz="2400" dirty="0" smtClean="0"/>
              <a:t>atrium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r>
              <a:rPr lang="en-US" sz="2400" dirty="0" smtClean="0"/>
              <a:t>Some blood from the right atrium goes through the right ventricle and into the main pulmonary artery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675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pulmonary vascular resistance is </a:t>
            </a:r>
            <a:r>
              <a:rPr lang="en-US" sz="2400" dirty="0" smtClean="0"/>
              <a:t>high </a:t>
            </a:r>
            <a:r>
              <a:rPr lang="en-US" sz="2400" dirty="0"/>
              <a:t>in </a:t>
            </a:r>
            <a:r>
              <a:rPr lang="en-US" sz="2400" dirty="0" smtClean="0"/>
              <a:t>utero: </a:t>
            </a:r>
          </a:p>
          <a:p>
            <a:pPr lvl="1"/>
            <a:r>
              <a:rPr lang="en-US" sz="2400" dirty="0" smtClean="0"/>
              <a:t>collapsed alveoli </a:t>
            </a:r>
            <a:r>
              <a:rPr lang="en-US" sz="2400" dirty="0"/>
              <a:t>and compression of blood </a:t>
            </a:r>
            <a:r>
              <a:rPr lang="en-US" sz="2400" dirty="0" smtClean="0"/>
              <a:t>vessels 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relatively low P</a:t>
            </a:r>
            <a:r>
              <a:rPr lang="en-US" sz="2400" baseline="-25000" dirty="0"/>
              <a:t>a</a:t>
            </a:r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 and pH of the </a:t>
            </a:r>
            <a:r>
              <a:rPr lang="en-US" sz="2400" dirty="0" smtClean="0"/>
              <a:t>blood that </a:t>
            </a:r>
            <a:r>
              <a:rPr lang="en-US" sz="2400" dirty="0"/>
              <a:t>flow through the </a:t>
            </a:r>
            <a:r>
              <a:rPr lang="en-US" sz="2400" dirty="0" smtClean="0"/>
              <a:t>vessels</a:t>
            </a:r>
          </a:p>
          <a:p>
            <a:pPr marL="457200" lvl="1" indent="0">
              <a:buNone/>
            </a:pPr>
            <a:endParaRPr lang="en-US" sz="2400" b="1" dirty="0" smtClean="0"/>
          </a:p>
          <a:p>
            <a:r>
              <a:rPr lang="en-US" sz="2400" dirty="0" smtClean="0"/>
              <a:t>some blood in the pulmonary artery →pulmonary circulation → left atrium</a:t>
            </a:r>
          </a:p>
          <a:p>
            <a:endParaRPr lang="en-US" sz="2400" dirty="0" smtClean="0"/>
          </a:p>
          <a:p>
            <a:r>
              <a:rPr lang="en-US" sz="2400" dirty="0" smtClean="0"/>
              <a:t>But majority- ductus arteriosus → descending aorta</a:t>
            </a:r>
          </a:p>
        </p:txBody>
      </p:sp>
    </p:spTree>
    <p:extLst>
      <p:ext uri="{BB962C8B-B14F-4D97-AF65-F5344CB8AC3E}">
        <p14:creationId xmlns:p14="http://schemas.microsoft.com/office/powerpoint/2010/main" val="56452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Fetal circulation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091350"/>
              </p:ext>
            </p:extLst>
          </p:nvPr>
        </p:nvGraphicFramePr>
        <p:xfrm>
          <a:off x="533400" y="838200"/>
          <a:ext cx="8229600" cy="54254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Umbilical</a:t>
                      </a:r>
                      <a:r>
                        <a:rPr lang="en-US" baseline="0" dirty="0" smtClean="0"/>
                        <a:t> vein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SVC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↓ ductus venosus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Inferior vena cava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Right atrium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↓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Right atrium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Right ventricle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 foramen ovale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Left</a:t>
                      </a:r>
                      <a:r>
                        <a:rPr lang="en-US" baseline="0" dirty="0" smtClean="0"/>
                        <a:t> atrium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Pulmonary artery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↓ductus arteriosus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Left ventricle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Descending aorta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↓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↓</a:t>
                      </a:r>
                    </a:p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Ascending aorta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Umbilical arteries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43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112525"/>
            <a:ext cx="5181600" cy="2410204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03" y="152400"/>
            <a:ext cx="5791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3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Fetal exposure to drugs used in obstetrics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drugs cross the placenta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Direct pharmacologic effect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Indirect effects on the intrauterine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7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...cont’d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Drugs cross the placenta by three main processes</a:t>
            </a:r>
          </a:p>
          <a:p>
            <a:pPr marL="0" indent="0">
              <a:buNone/>
            </a:pPr>
            <a:endParaRPr lang="en-US" sz="2800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Simple diffusion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Active transport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Pinocytosis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778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Fetal drug transfer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The extent of drug transfer is dependent on :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Molecular weight</a:t>
            </a:r>
          </a:p>
          <a:p>
            <a:pPr marL="0" indent="0">
              <a:buNone/>
            </a:pPr>
            <a:endParaRPr lang="en-US" sz="3000" dirty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Protein binding </a:t>
            </a:r>
          </a:p>
          <a:p>
            <a:pPr marL="0" indent="0">
              <a:buNone/>
            </a:pP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Degree of lipid solubility</a:t>
            </a:r>
          </a:p>
          <a:p>
            <a:pPr marL="0" indent="0">
              <a:buNone/>
            </a:pP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Maternal drug concentration</a:t>
            </a:r>
          </a:p>
          <a:p>
            <a:pPr marL="0" indent="0">
              <a:buNone/>
            </a:pP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Maternal and fetal PH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3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Fick principle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𝑸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𝒕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𝑲𝒙𝑨𝒙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𝑪𝒎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 −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𝑪𝒇</m:t>
                              </m:r>
                            </m:e>
                          </m:d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𝑫</m:t>
                          </m:r>
                        </m:den>
                      </m:f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where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</a:rPr>
                      <m:t>     </m:t>
                    </m:r>
                    <m:r>
                      <a:rPr lang="en-US" sz="2000" b="0" i="1" smtClean="0">
                        <a:latin typeface="Cambria Math"/>
                      </a:rPr>
                      <m:t>𝑖𝑠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𝑟𝑎𝑡𝑒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𝑑𝑖𝑓𝑓𝑢𝑠𝑖𝑜𝑛</m:t>
                    </m:r>
                  </m:oMath>
                </a14:m>
                <a:endParaRPr lang="en-US" sz="2000" b="0" dirty="0" smtClean="0"/>
              </a:p>
              <a:p>
                <a:pPr marL="0" indent="0">
                  <a:buNone/>
                </a:pPr>
                <a:r>
                  <a:rPr lang="en-US" sz="2000" b="0" dirty="0" smtClean="0"/>
                  <a:t>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b="0" dirty="0" smtClean="0"/>
                  <a:t>   is the rate of diffusion coefficient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𝐴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 smtClean="0"/>
                  <a:t> is the surface area of membrane available for exchange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𝐶𝑚</m:t>
                    </m:r>
                    <m:r>
                      <a:rPr lang="en-US" sz="2000" b="0" i="1" smtClean="0">
                        <a:latin typeface="Cambria Math"/>
                      </a:rPr>
                      <m:t>−</m:t>
                    </m:r>
                    <m:r>
                      <a:rPr lang="en-US" sz="2000" b="0" i="1" smtClean="0">
                        <a:latin typeface="Cambria Math"/>
                      </a:rPr>
                      <m:t>𝐶𝑓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 smtClean="0"/>
                  <a:t>is the concentration gradient between the maternal 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and fetal circulations and </a:t>
                </a:r>
              </a:p>
              <a:p>
                <a:pPr marL="0" indent="0">
                  <a:buNone/>
                </a:pPr>
                <a:r>
                  <a:rPr lang="en-US" sz="2000" b="0" dirty="0"/>
                  <a:t> </a:t>
                </a:r>
                <a:r>
                  <a:rPr lang="en-US" sz="2000" b="0" dirty="0" smtClean="0"/>
                  <a:t>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𝐷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 smtClean="0"/>
                  <a:t>is the thickness of the membrane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2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Autofit/>
          </a:bodyPr>
          <a:lstStyle/>
          <a:p>
            <a:r>
              <a:rPr lang="en-US" sz="2800" dirty="0" smtClean="0"/>
              <a:t>Placental transfer…cont’d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err="1"/>
              <a:t>Pka</a:t>
            </a:r>
            <a:r>
              <a:rPr lang="en-US" sz="2800" dirty="0"/>
              <a:t> o</a:t>
            </a:r>
            <a:r>
              <a:rPr lang="en-US" sz="2800" dirty="0" smtClean="0"/>
              <a:t>f </a:t>
            </a:r>
            <a:r>
              <a:rPr lang="en-US" sz="2800" dirty="0"/>
              <a:t>the drug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Pka is the PH at which 50% of the drug is ionized and 50% </a:t>
            </a:r>
            <a:r>
              <a:rPr lang="en-US" sz="2400" dirty="0" smtClean="0"/>
              <a:t>unionized</a:t>
            </a:r>
          </a:p>
          <a:p>
            <a:r>
              <a:rPr lang="en-US" sz="2800" dirty="0" smtClean="0"/>
              <a:t>Changes in maternal and fetal blood PH → affect ionization  of a drug → placental transfer</a:t>
            </a:r>
          </a:p>
          <a:p>
            <a:r>
              <a:rPr lang="en-US" sz="2800" dirty="0" smtClean="0"/>
              <a:t>A fetus with acidosis</a:t>
            </a:r>
            <a:r>
              <a:rPr lang="en-US" sz="2800" dirty="0"/>
              <a:t>→ lower fetal PH favors ionization of basic local anesthetics (lidocaine ) </a:t>
            </a:r>
            <a:r>
              <a:rPr lang="en-US" sz="2800" dirty="0" smtClean="0"/>
              <a:t>→</a:t>
            </a:r>
            <a:r>
              <a:rPr lang="en-US" sz="2800" dirty="0"/>
              <a:t>“ion trapping” </a:t>
            </a:r>
            <a:r>
              <a:rPr lang="en-US" sz="2800" dirty="0" smtClean="0"/>
              <a:t> in the fetus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9354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Factors reducing fetal exposure to drugs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fetal </a:t>
            </a:r>
            <a:r>
              <a:rPr lang="en-US" sz="2800" dirty="0" smtClean="0"/>
              <a:t>circulation</a:t>
            </a:r>
          </a:p>
          <a:p>
            <a:pPr lvl="1"/>
            <a:r>
              <a:rPr lang="en-US" dirty="0" smtClean="0"/>
              <a:t>Dilution of umbilical venous blood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800" dirty="0"/>
              <a:t>Hepatic drug uptake in the fetus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3441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Factors affecting placental transfer of drug (maternal to fetus)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8586"/>
              </p:ext>
            </p:extLst>
          </p:nvPr>
        </p:nvGraphicFramePr>
        <p:xfrm>
          <a:off x="457200" y="163576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3200400"/>
                <a:gridCol w="2362200"/>
              </a:tblGrid>
              <a:tr h="3166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Increased</a:t>
                      </a:r>
                      <a:r>
                        <a:rPr lang="en-US" baseline="0" dirty="0" smtClean="0"/>
                        <a:t> transfer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Decreased transfer</a:t>
                      </a:r>
                      <a:endParaRPr lang="en-US" dirty="0"/>
                    </a:p>
                  </a:txBody>
                  <a:tcPr/>
                </a:tc>
              </a:tr>
              <a:tr h="316615">
                <a:tc>
                  <a:txBody>
                    <a:bodyPr/>
                    <a:lstStyle/>
                    <a:p>
                      <a:r>
                        <a:rPr lang="en-US" dirty="0" smtClean="0"/>
                        <a:t>Size-molecular weight(Da)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&lt;</a:t>
                      </a:r>
                      <a:r>
                        <a:rPr lang="en-US" baseline="0" dirty="0" smtClean="0"/>
                        <a:t> 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&gt; 1000</a:t>
                      </a:r>
                      <a:endParaRPr lang="en-US" dirty="0"/>
                    </a:p>
                  </a:txBody>
                  <a:tcPr/>
                </a:tc>
              </a:tr>
              <a:tr h="316615">
                <a:tc>
                  <a:txBody>
                    <a:bodyPr/>
                    <a:lstStyle/>
                    <a:p>
                      <a:r>
                        <a:rPr lang="en-US" dirty="0" smtClean="0"/>
                        <a:t>Charge of molecule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Uncharged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Charged 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16615">
                <a:tc>
                  <a:txBody>
                    <a:bodyPr/>
                    <a:lstStyle/>
                    <a:p>
                      <a:r>
                        <a:rPr lang="en-US" dirty="0" smtClean="0"/>
                        <a:t>Lipid solubility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Lipophilic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Hydrophilic</a:t>
                      </a:r>
                      <a:endParaRPr lang="en-US" dirty="0"/>
                    </a:p>
                  </a:txBody>
                  <a:tcPr/>
                </a:tc>
              </a:tr>
              <a:tr h="780694">
                <a:tc>
                  <a:txBody>
                    <a:bodyPr/>
                    <a:lstStyle/>
                    <a:p>
                      <a:r>
                        <a:rPr lang="en-US" dirty="0" smtClean="0"/>
                        <a:t>PH vs.</a:t>
                      </a:r>
                      <a:r>
                        <a:rPr lang="en-US" baseline="0" dirty="0" smtClean="0"/>
                        <a:t> drug </a:t>
                      </a:r>
                      <a:r>
                        <a:rPr lang="en-US" baseline="0" dirty="0" err="1" smtClean="0"/>
                        <a:t>pKa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Higher proportion of un-ionized</a:t>
                      </a:r>
                      <a:r>
                        <a:rPr lang="en-US" baseline="0" dirty="0" smtClean="0"/>
                        <a:t> drug in maternal plasma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Higher proportion</a:t>
                      </a:r>
                      <a:r>
                        <a:rPr lang="en-US" baseline="0" dirty="0" smtClean="0"/>
                        <a:t> of ionized drug in maternal plasma</a:t>
                      </a:r>
                      <a:endParaRPr lang="en-US" dirty="0"/>
                    </a:p>
                  </a:txBody>
                  <a:tcPr/>
                </a:tc>
              </a:tr>
              <a:tr h="780694">
                <a:tc>
                  <a:txBody>
                    <a:bodyPr/>
                    <a:lstStyle/>
                    <a:p>
                      <a:r>
                        <a:rPr lang="en-US" dirty="0" smtClean="0"/>
                        <a:t>Placental efflux transporter proteins(ex.</a:t>
                      </a:r>
                      <a:r>
                        <a:rPr lang="en-US" baseline="0" dirty="0" smtClean="0"/>
                        <a:t>  P-glycoprotein)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Absent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 </a:t>
                      </a:r>
                      <a:endParaRPr lang="en-US" dirty="0"/>
                    </a:p>
                  </a:txBody>
                  <a:tcPr/>
                </a:tc>
              </a:tr>
              <a:tr h="1014902">
                <a:tc>
                  <a:txBody>
                    <a:bodyPr/>
                    <a:lstStyle/>
                    <a:p>
                      <a:r>
                        <a:rPr lang="en-US" dirty="0" smtClean="0"/>
                        <a:t>Binding protein type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Albumin (lower binding affinity)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Alpha-1-acid glycoprotein (AAG)</a:t>
                      </a:r>
                    </a:p>
                    <a:p>
                      <a:r>
                        <a:rPr lang="en-US" dirty="0" smtClean="0"/>
                        <a:t>(higher</a:t>
                      </a:r>
                      <a:r>
                        <a:rPr lang="en-US" baseline="0" dirty="0" smtClean="0"/>
                        <a:t> binding affinity)</a:t>
                      </a:r>
                      <a:endParaRPr lang="en-US" dirty="0"/>
                    </a:p>
                  </a:txBody>
                  <a:tcPr/>
                </a:tc>
              </a:tr>
              <a:tr h="546486">
                <a:tc>
                  <a:txBody>
                    <a:bodyPr/>
                    <a:lstStyle/>
                    <a:p>
                      <a:r>
                        <a:rPr lang="en-US" dirty="0" smtClean="0"/>
                        <a:t>Free (unbound drug</a:t>
                      </a:r>
                      <a:r>
                        <a:rPr lang="en-US" baseline="0" dirty="0" smtClean="0"/>
                        <a:t> fraction)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67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04800"/>
            <a:ext cx="6258799" cy="3048000"/>
          </a:xfr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52800"/>
            <a:ext cx="7620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6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Placental transfer of anesthetic agents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Inhalational anesthetic agents </a:t>
            </a:r>
          </a:p>
          <a:p>
            <a:r>
              <a:rPr lang="en-US" sz="2800" dirty="0" smtClean="0"/>
              <a:t>Lipid soluble</a:t>
            </a:r>
          </a:p>
          <a:p>
            <a:r>
              <a:rPr lang="en-US" sz="2800" dirty="0" smtClean="0"/>
              <a:t>low molecular weight </a:t>
            </a:r>
          </a:p>
          <a:p>
            <a:r>
              <a:rPr lang="en-US" sz="2800" dirty="0" smtClean="0"/>
              <a:t>Halothane is detectable in both umbilical venous blood and arterial blood within 1 minute</a:t>
            </a:r>
          </a:p>
          <a:p>
            <a:r>
              <a:rPr lang="en-US" sz="2800" dirty="0" smtClean="0"/>
              <a:t>Both </a:t>
            </a:r>
            <a:r>
              <a:rPr lang="en-US" sz="2800" dirty="0"/>
              <a:t>e</a:t>
            </a:r>
            <a:r>
              <a:rPr lang="en-US" sz="2800" dirty="0" smtClean="0"/>
              <a:t>nflurane and isoflurane can cross the placenta rapidly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33236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Inhalational agents...cont’d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Sevoflurane </a:t>
            </a:r>
            <a:r>
              <a:rPr lang="en-US" dirty="0"/>
              <a:t>and </a:t>
            </a:r>
            <a:r>
              <a:rPr lang="en-US" dirty="0" smtClean="0"/>
              <a:t>desflurane → </a:t>
            </a:r>
            <a:r>
              <a:rPr lang="en-US" dirty="0"/>
              <a:t>no report about placental transfer</a:t>
            </a:r>
          </a:p>
          <a:p>
            <a:r>
              <a:rPr lang="en-US" dirty="0" smtClean="0"/>
              <a:t>Little fetal depression if</a:t>
            </a:r>
          </a:p>
          <a:p>
            <a:pPr lvl="1"/>
            <a:r>
              <a:rPr lang="en-US" dirty="0" smtClean="0"/>
              <a:t>Limited doses(&lt;MAC)</a:t>
            </a:r>
          </a:p>
          <a:p>
            <a:pPr lvl="1"/>
            <a:r>
              <a:rPr lang="en-US" dirty="0"/>
              <a:t>delivery occurs with in 10 minute of induction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33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Induction agents </a:t>
            </a:r>
            <a:br>
              <a:rPr lang="en-US" sz="2800" dirty="0"/>
            </a:b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153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Lipophilic  → enhance transfer across the placenta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Barbiturates </a:t>
            </a:r>
          </a:p>
          <a:p>
            <a:r>
              <a:rPr lang="en-US" sz="2800" dirty="0" smtClean="0"/>
              <a:t>The most commonly used induction agent, thiopental, can easily cross the placenta</a:t>
            </a:r>
          </a:p>
          <a:p>
            <a:r>
              <a:rPr lang="en-US" sz="2800" dirty="0" smtClean="0"/>
              <a:t>Both maternal-to-fetal and fetal-to-maternal transfer of thiopental are strongly influenced by maternal and fetal protein concentration </a:t>
            </a:r>
          </a:p>
          <a:p>
            <a:r>
              <a:rPr lang="en-US" sz="2800" dirty="0" smtClean="0"/>
              <a:t>Methohexital also crosses the placenta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19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Induction 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 smtClean="0">
                <a:solidFill>
                  <a:prstClr val="black"/>
                </a:solidFill>
              </a:rPr>
              <a:t>Ketamine </a:t>
            </a:r>
            <a:r>
              <a:rPr lang="en-US" sz="2800" dirty="0">
                <a:solidFill>
                  <a:prstClr val="black"/>
                </a:solidFill>
              </a:rPr>
              <a:t>and propofol readily cross the placenta </a:t>
            </a:r>
            <a:endParaRPr lang="en-US" sz="2800" dirty="0" smtClean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800" dirty="0" smtClean="0">
                <a:solidFill>
                  <a:prstClr val="black"/>
                </a:solidFill>
              </a:rPr>
              <a:t>limited fetal effects in </a:t>
            </a:r>
            <a:r>
              <a:rPr lang="en-US" sz="2800" dirty="0">
                <a:solidFill>
                  <a:prstClr val="black"/>
                </a:solidFill>
              </a:rPr>
              <a:t>usual induction doses</a:t>
            </a:r>
            <a:endParaRPr lang="en-US" sz="2800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</a:rPr>
              <a:t>drug </a:t>
            </a:r>
            <a:r>
              <a:rPr lang="en-US" dirty="0">
                <a:solidFill>
                  <a:prstClr val="black"/>
                </a:solidFill>
              </a:rPr>
              <a:t>distribution, </a:t>
            </a:r>
            <a:endParaRPr lang="en-US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</a:rPr>
              <a:t>metabolism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</a:rPr>
              <a:t>placental </a:t>
            </a:r>
            <a:r>
              <a:rPr lang="en-US" dirty="0">
                <a:solidFill>
                  <a:prstClr val="black"/>
                </a:solidFill>
              </a:rPr>
              <a:t>uptake </a:t>
            </a:r>
            <a:endParaRPr lang="en-US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800" dirty="0" smtClean="0">
                <a:solidFill>
                  <a:prstClr val="black"/>
                </a:solidFill>
              </a:rPr>
              <a:t>Benzodiazepines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solidFill>
                  <a:prstClr val="black"/>
                </a:solidFill>
              </a:rPr>
              <a:t>Diazepam easily </a:t>
            </a:r>
            <a:r>
              <a:rPr lang="en-US" sz="2800" dirty="0">
                <a:solidFill>
                  <a:prstClr val="black"/>
                </a:solidFill>
              </a:rPr>
              <a:t>cross the placenta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</a:rPr>
              <a:t>highly </a:t>
            </a:r>
            <a:r>
              <a:rPr lang="en-US" dirty="0">
                <a:solidFill>
                  <a:prstClr val="black"/>
                </a:solidFill>
              </a:rPr>
              <a:t>unionized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</a:rPr>
              <a:t>lipophilic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7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Meperidine </a:t>
            </a:r>
            <a:endParaRPr lang="en-US" sz="2800" dirty="0" smtClean="0"/>
          </a:p>
          <a:p>
            <a:r>
              <a:rPr lang="en-US" sz="2800" dirty="0" smtClean="0"/>
              <a:t>Commonly </a:t>
            </a:r>
            <a:r>
              <a:rPr lang="en-US" sz="2800" dirty="0"/>
              <a:t>used opioid in </a:t>
            </a:r>
            <a:r>
              <a:rPr lang="en-US" sz="2800" dirty="0" smtClean="0"/>
              <a:t>obstetrics</a:t>
            </a:r>
          </a:p>
          <a:p>
            <a:r>
              <a:rPr lang="en-US" sz="2800" dirty="0" smtClean="0"/>
              <a:t>Can cause neonatal </a:t>
            </a:r>
            <a:r>
              <a:rPr lang="en-US" sz="2800" dirty="0"/>
              <a:t>central nervous system (CNS) and respiratory </a:t>
            </a:r>
            <a:r>
              <a:rPr lang="en-US" sz="2800" dirty="0" smtClean="0"/>
              <a:t>depression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Intravenous administration </a:t>
            </a:r>
            <a:r>
              <a:rPr lang="en-US" sz="2800" dirty="0" smtClean="0"/>
              <a:t>→rapid transfer across </a:t>
            </a:r>
            <a:r>
              <a:rPr lang="en-US" sz="2800" dirty="0"/>
              <a:t>the human </a:t>
            </a:r>
            <a:r>
              <a:rPr lang="en-US" sz="2800" dirty="0" smtClean="0"/>
              <a:t>placenta 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drug can be detected in umbilical venous blood as soon as 90 seconds after maternal </a:t>
            </a:r>
            <a:r>
              <a:rPr lang="en-US" sz="2800" dirty="0" smtClean="0"/>
              <a:t>administration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004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Morphine 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rapidly </a:t>
            </a:r>
            <a:r>
              <a:rPr lang="en-US" sz="2800" dirty="0">
                <a:solidFill>
                  <a:prstClr val="black"/>
                </a:solidFill>
              </a:rPr>
              <a:t>crosses the </a:t>
            </a:r>
            <a:r>
              <a:rPr lang="en-US" sz="2800" dirty="0" smtClean="0">
                <a:solidFill>
                  <a:prstClr val="black"/>
                </a:solidFill>
              </a:rPr>
              <a:t>placenta</a:t>
            </a: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It has more respiratory depressant effect in the new born than other </a:t>
            </a:r>
            <a:r>
              <a:rPr lang="en-US" sz="2800" dirty="0" smtClean="0">
                <a:solidFill>
                  <a:prstClr val="black"/>
                </a:solidFill>
              </a:rPr>
              <a:t>opioids</a:t>
            </a:r>
            <a:endParaRPr lang="en-US" sz="28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Fentanyl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high </a:t>
            </a:r>
            <a:r>
              <a:rPr lang="en-US" sz="2800" dirty="0">
                <a:solidFill>
                  <a:prstClr val="black"/>
                </a:solidFill>
              </a:rPr>
              <a:t>level of lipophilicity </a:t>
            </a:r>
            <a:endParaRPr lang="en-US" sz="2800" dirty="0" smtClean="0">
              <a:solidFill>
                <a:prstClr val="black"/>
              </a:solidFill>
            </a:endParaRP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albumin binding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minimal </a:t>
            </a:r>
            <a:r>
              <a:rPr lang="en-US" sz="2800" dirty="0">
                <a:solidFill>
                  <a:prstClr val="black"/>
                </a:solidFill>
              </a:rPr>
              <a:t>neonatal effects unless </a:t>
            </a:r>
            <a:r>
              <a:rPr lang="en-US" sz="2800" dirty="0" smtClean="0">
                <a:solidFill>
                  <a:prstClr val="black"/>
                </a:solidFill>
              </a:rPr>
              <a:t>(&gt; </a:t>
            </a:r>
            <a:r>
              <a:rPr lang="en-US" sz="2800" dirty="0">
                <a:solidFill>
                  <a:prstClr val="black"/>
                </a:solidFill>
              </a:rPr>
              <a:t>1µg/kg) are given immediately before delivery</a:t>
            </a:r>
            <a:r>
              <a:rPr lang="en-US" sz="2800" dirty="0" smtClean="0">
                <a:solidFill>
                  <a:prstClr val="black"/>
                </a:solidFill>
              </a:rPr>
              <a:t>.</a:t>
            </a:r>
          </a:p>
          <a:p>
            <a:pPr lvl="0"/>
            <a:endParaRPr lang="en-US" sz="1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13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smtClean="0">
                <a:solidFill>
                  <a:prstClr val="black"/>
                </a:solidFill>
              </a:rPr>
              <a:t>Alfentanyl </a:t>
            </a: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causes </a:t>
            </a:r>
            <a:r>
              <a:rPr lang="en-US" dirty="0">
                <a:solidFill>
                  <a:prstClr val="black"/>
                </a:solidFill>
              </a:rPr>
              <a:t>neonatal depression similar to </a:t>
            </a:r>
            <a:r>
              <a:rPr lang="en-US" dirty="0" smtClean="0">
                <a:solidFill>
                  <a:prstClr val="black"/>
                </a:solidFill>
              </a:rPr>
              <a:t>meperidine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</a:rPr>
              <a:t>Remifentalyl </a:t>
            </a:r>
            <a:endParaRPr lang="en-US" dirty="0" smtClean="0">
              <a:solidFill>
                <a:prstClr val="black"/>
              </a:solidFill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readily </a:t>
            </a:r>
            <a:r>
              <a:rPr lang="en-US" dirty="0">
                <a:solidFill>
                  <a:prstClr val="black"/>
                </a:solidFill>
              </a:rPr>
              <a:t>crosses the placenta and </a:t>
            </a:r>
            <a:endParaRPr lang="en-US" dirty="0" smtClean="0">
              <a:solidFill>
                <a:prstClr val="black"/>
              </a:solidFill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It can produce </a:t>
            </a:r>
            <a:r>
              <a:rPr lang="en-US" dirty="0">
                <a:solidFill>
                  <a:prstClr val="black"/>
                </a:solidFill>
              </a:rPr>
              <a:t>respiratory depression in newborns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7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prstClr val="black"/>
                </a:solidFill>
              </a:rPr>
              <a:t>Local anesthetics </a:t>
            </a:r>
            <a:r>
              <a:rPr lang="en-US" sz="2400" dirty="0" smtClean="0">
                <a:solidFill>
                  <a:prstClr val="black"/>
                </a:solidFill>
              </a:rPr>
              <a:t>→ readily </a:t>
            </a:r>
            <a:r>
              <a:rPr lang="en-US" sz="2400" dirty="0">
                <a:solidFill>
                  <a:prstClr val="black"/>
                </a:solidFill>
              </a:rPr>
              <a:t>crosses the </a:t>
            </a:r>
            <a:r>
              <a:rPr lang="en-US" sz="2400" dirty="0" smtClean="0">
                <a:solidFill>
                  <a:prstClr val="black"/>
                </a:solidFill>
              </a:rPr>
              <a:t>placenta</a:t>
            </a:r>
            <a:endParaRPr lang="en-US" sz="24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prstClr val="black"/>
                </a:solidFill>
              </a:rPr>
              <a:t>Muscle relaxants</a:t>
            </a:r>
          </a:p>
          <a:p>
            <a:pPr lvl="0"/>
            <a:r>
              <a:rPr lang="en-US" sz="2400" dirty="0" smtClean="0">
                <a:solidFill>
                  <a:prstClr val="black"/>
                </a:solidFill>
              </a:rPr>
              <a:t>Highly ionized → do </a:t>
            </a:r>
            <a:r>
              <a:rPr lang="en-US" sz="2400" dirty="0">
                <a:solidFill>
                  <a:prstClr val="black"/>
                </a:solidFill>
              </a:rPr>
              <a:t>not readily cross the </a:t>
            </a:r>
            <a:r>
              <a:rPr lang="en-US" sz="2400" dirty="0" smtClean="0">
                <a:solidFill>
                  <a:prstClr val="black"/>
                </a:solidFill>
              </a:rPr>
              <a:t>placenta</a:t>
            </a:r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 smtClean="0">
                <a:solidFill>
                  <a:prstClr val="black"/>
                </a:solidFill>
              </a:rPr>
              <a:t>Nondepolarizing </a:t>
            </a:r>
            <a:r>
              <a:rPr lang="en-US" sz="2400" dirty="0">
                <a:solidFill>
                  <a:prstClr val="black"/>
                </a:solidFill>
              </a:rPr>
              <a:t>muscle relaxants </a:t>
            </a:r>
            <a:r>
              <a:rPr lang="en-US" sz="2400" dirty="0" smtClean="0">
                <a:solidFill>
                  <a:prstClr val="black"/>
                </a:solidFill>
              </a:rPr>
              <a:t>-  low transfer rate</a:t>
            </a:r>
            <a:endParaRPr lang="en-US" sz="2400" dirty="0">
              <a:solidFill>
                <a:prstClr val="black"/>
              </a:solidFill>
            </a:endParaRPr>
          </a:p>
          <a:p>
            <a:pPr lvl="0"/>
            <a:r>
              <a:rPr lang="en-US" sz="2400" dirty="0" smtClean="0">
                <a:solidFill>
                  <a:prstClr val="black"/>
                </a:solidFill>
              </a:rPr>
              <a:t>Succinylcholine</a:t>
            </a:r>
          </a:p>
          <a:p>
            <a:pPr lvl="1"/>
            <a:r>
              <a:rPr lang="en-US" sz="2400" dirty="0" smtClean="0">
                <a:solidFill>
                  <a:prstClr val="black"/>
                </a:solidFill>
              </a:rPr>
              <a:t>A </a:t>
            </a:r>
            <a:r>
              <a:rPr lang="en-US" sz="2400" dirty="0">
                <a:solidFill>
                  <a:prstClr val="black"/>
                </a:solidFill>
              </a:rPr>
              <a:t>single induction dose of </a:t>
            </a:r>
            <a:r>
              <a:rPr lang="en-US" sz="2400" dirty="0" smtClean="0">
                <a:solidFill>
                  <a:prstClr val="black"/>
                </a:solidFill>
              </a:rPr>
              <a:t>is </a:t>
            </a:r>
            <a:r>
              <a:rPr lang="en-US" sz="2400" dirty="0">
                <a:solidFill>
                  <a:prstClr val="black"/>
                </a:solidFill>
              </a:rPr>
              <a:t>not detected in umbilical venous blood at </a:t>
            </a:r>
            <a:r>
              <a:rPr lang="en-US" sz="2400" dirty="0" smtClean="0">
                <a:solidFill>
                  <a:prstClr val="black"/>
                </a:solidFill>
              </a:rPr>
              <a:t>delivery</a:t>
            </a:r>
          </a:p>
          <a:p>
            <a:pPr lvl="1"/>
            <a:r>
              <a:rPr lang="en-US" sz="2400" dirty="0" smtClean="0">
                <a:solidFill>
                  <a:prstClr val="black"/>
                </a:solidFill>
              </a:rPr>
              <a:t>Maternal  </a:t>
            </a:r>
            <a:r>
              <a:rPr lang="en-US" sz="2400" dirty="0">
                <a:solidFill>
                  <a:prstClr val="black"/>
                </a:solidFill>
              </a:rPr>
              <a:t>doses larger than 300 mg are required before </a:t>
            </a:r>
            <a:r>
              <a:rPr lang="en-US" sz="2400" dirty="0" smtClean="0">
                <a:solidFill>
                  <a:prstClr val="black"/>
                </a:solidFill>
              </a:rPr>
              <a:t>the </a:t>
            </a:r>
            <a:r>
              <a:rPr lang="en-US" sz="2400" dirty="0">
                <a:solidFill>
                  <a:prstClr val="black"/>
                </a:solidFill>
              </a:rPr>
              <a:t>drug can be detected in umbilical venous </a:t>
            </a:r>
            <a:r>
              <a:rPr lang="en-US" sz="2400" dirty="0" smtClean="0">
                <a:solidFill>
                  <a:prstClr val="black"/>
                </a:solidFill>
              </a:rPr>
              <a:t>blood</a:t>
            </a:r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 smtClean="0">
                <a:solidFill>
                  <a:prstClr val="black"/>
                </a:solidFill>
              </a:rPr>
              <a:t>High and repeated doses →neonatal </a:t>
            </a:r>
            <a:r>
              <a:rPr lang="en-US" sz="2400" dirty="0">
                <a:solidFill>
                  <a:prstClr val="black"/>
                </a:solidFill>
              </a:rPr>
              <a:t>neuromuscular </a:t>
            </a:r>
            <a:r>
              <a:rPr lang="en-US" sz="2400" dirty="0" smtClean="0">
                <a:solidFill>
                  <a:prstClr val="black"/>
                </a:solidFill>
              </a:rPr>
              <a:t>blockade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8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Anticholinergic agents</a:t>
            </a:r>
          </a:p>
          <a:p>
            <a:pPr lvl="1"/>
            <a:r>
              <a:rPr lang="en-US" sz="2400" dirty="0" smtClean="0"/>
              <a:t>Atropine  and scopolamine  cross the placenta </a:t>
            </a:r>
            <a:endParaRPr lang="en-US" sz="2400" dirty="0"/>
          </a:p>
          <a:p>
            <a:pPr lvl="1"/>
            <a:r>
              <a:rPr lang="en-US" sz="2400" dirty="0" smtClean="0"/>
              <a:t>Glycopyrrolate is poorly transferred across the placenta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Anticholinesterase agents</a:t>
            </a:r>
          </a:p>
          <a:p>
            <a:r>
              <a:rPr lang="en-US" sz="2400" dirty="0" smtClean="0"/>
              <a:t>Neostigmine, pyridostigmine and edrophonium </a:t>
            </a:r>
            <a:r>
              <a:rPr lang="en-US" sz="2400" dirty="0"/>
              <a:t>→</a:t>
            </a:r>
            <a:r>
              <a:rPr lang="en-US" sz="2400" dirty="0" smtClean="0"/>
              <a:t> ionized at physiologic PH </a:t>
            </a:r>
            <a:r>
              <a:rPr lang="en-US" sz="2400" dirty="0"/>
              <a:t>→</a:t>
            </a:r>
            <a:r>
              <a:rPr lang="en-US" sz="2400" dirty="0" smtClean="0"/>
              <a:t> limited </a:t>
            </a:r>
            <a:r>
              <a:rPr lang="en-US" sz="2400" dirty="0" err="1" smtClean="0"/>
              <a:t>transplacental</a:t>
            </a:r>
            <a:r>
              <a:rPr lang="en-US" sz="2400" dirty="0" smtClean="0"/>
              <a:t> transfer</a:t>
            </a:r>
          </a:p>
          <a:p>
            <a:pPr marL="0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920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Others</a:t>
            </a:r>
          </a:p>
          <a:p>
            <a:r>
              <a:rPr lang="en-US" sz="2400" dirty="0"/>
              <a:t>Most commonly used anesthetic adjuvants →</a:t>
            </a:r>
            <a:r>
              <a:rPr lang="en-US" sz="2400" dirty="0" smtClean="0"/>
              <a:t>readily </a:t>
            </a:r>
            <a:r>
              <a:rPr lang="en-US" sz="2400" dirty="0"/>
              <a:t>cross the placenta. </a:t>
            </a:r>
            <a:endParaRPr lang="en-US" sz="2400" dirty="0" smtClean="0"/>
          </a:p>
          <a:p>
            <a:r>
              <a:rPr lang="en-US" sz="2400" dirty="0" smtClean="0"/>
              <a:t>Maternally administered drugs transferable to the fetus</a:t>
            </a:r>
          </a:p>
          <a:p>
            <a:pPr lvl="1"/>
            <a:r>
              <a:rPr lang="en-US" sz="2400" dirty="0" smtClean="0"/>
              <a:t>Ephedrine </a:t>
            </a:r>
          </a:p>
          <a:p>
            <a:pPr lvl="1"/>
            <a:r>
              <a:rPr lang="el-GR" sz="2400" dirty="0" smtClean="0"/>
              <a:t>β</a:t>
            </a:r>
            <a:r>
              <a:rPr lang="en-US" sz="2400" dirty="0"/>
              <a:t>-adrenergic blockers such as labetalol and </a:t>
            </a:r>
            <a:r>
              <a:rPr lang="en-US" sz="2400" dirty="0" err="1" smtClean="0"/>
              <a:t>esmolol</a:t>
            </a:r>
            <a:endParaRPr lang="en-US" sz="2400" dirty="0" smtClean="0"/>
          </a:p>
          <a:p>
            <a:pPr lvl="1"/>
            <a:r>
              <a:rPr lang="en-US" sz="2400" dirty="0" smtClean="0"/>
              <a:t>Vasodilators  </a:t>
            </a:r>
          </a:p>
          <a:p>
            <a:pPr lvl="1"/>
            <a:r>
              <a:rPr lang="en-US" sz="2400" dirty="0" smtClean="0"/>
              <a:t>Phenothiazine  </a:t>
            </a:r>
          </a:p>
          <a:p>
            <a:pPr lvl="1"/>
            <a:r>
              <a:rPr lang="en-US" sz="2400" dirty="0" smtClean="0"/>
              <a:t>Antihistamines (H1 </a:t>
            </a:r>
            <a:r>
              <a:rPr lang="en-US" sz="2400" dirty="0"/>
              <a:t>and H2) and </a:t>
            </a:r>
            <a:r>
              <a:rPr lang="en-US" sz="2400" dirty="0" smtClean="0"/>
              <a:t>metoclopramide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509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Commonly used drugs that cross the placenta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lvl="0"/>
            <a:r>
              <a:rPr lang="en-US" sz="2600" dirty="0">
                <a:solidFill>
                  <a:prstClr val="black"/>
                </a:solidFill>
              </a:rPr>
              <a:t>Anticholinergic agents </a:t>
            </a:r>
          </a:p>
          <a:p>
            <a:pPr lvl="1"/>
            <a:r>
              <a:rPr lang="en-US" sz="2600" dirty="0" smtClean="0">
                <a:solidFill>
                  <a:prstClr val="black"/>
                </a:solidFill>
              </a:rPr>
              <a:t>atropine, scopolamine </a:t>
            </a:r>
            <a:endParaRPr lang="en-US" sz="2600" dirty="0">
              <a:solidFill>
                <a:prstClr val="black"/>
              </a:solidFill>
            </a:endParaRPr>
          </a:p>
          <a:p>
            <a:pPr lvl="0"/>
            <a:r>
              <a:rPr lang="en-US" sz="2600" dirty="0">
                <a:solidFill>
                  <a:prstClr val="black"/>
                </a:solidFill>
              </a:rPr>
              <a:t>Antihypertensive </a:t>
            </a:r>
            <a:r>
              <a:rPr lang="en-US" sz="2600" dirty="0" smtClean="0">
                <a:solidFill>
                  <a:prstClr val="black"/>
                </a:solidFill>
              </a:rPr>
              <a:t>agents</a:t>
            </a:r>
            <a:endParaRPr lang="en-US" sz="2600" dirty="0">
              <a:solidFill>
                <a:prstClr val="black"/>
              </a:solidFill>
            </a:endParaRPr>
          </a:p>
          <a:p>
            <a:pPr lvl="1"/>
            <a:r>
              <a:rPr lang="en-US" sz="2600" dirty="0" smtClean="0">
                <a:solidFill>
                  <a:prstClr val="black"/>
                </a:solidFill>
              </a:rPr>
              <a:t>beta-adrenergic receptor antagonists, nitroprusside, nitroglycerin</a:t>
            </a:r>
            <a:endParaRPr lang="en-US" sz="2600" dirty="0">
              <a:solidFill>
                <a:prstClr val="black"/>
              </a:solidFill>
            </a:endParaRPr>
          </a:p>
          <a:p>
            <a:pPr lvl="0"/>
            <a:r>
              <a:rPr lang="en-US" sz="2600" dirty="0" smtClean="0">
                <a:solidFill>
                  <a:prstClr val="black"/>
                </a:solidFill>
              </a:rPr>
              <a:t>Benzodiazepines</a:t>
            </a:r>
            <a:endParaRPr lang="en-US" sz="2600" dirty="0">
              <a:solidFill>
                <a:prstClr val="black"/>
              </a:solidFill>
            </a:endParaRPr>
          </a:p>
          <a:p>
            <a:pPr lvl="1"/>
            <a:r>
              <a:rPr lang="en-US" sz="2600" dirty="0" smtClean="0">
                <a:solidFill>
                  <a:prstClr val="black"/>
                </a:solidFill>
              </a:rPr>
              <a:t>diazepam, midazolam          </a:t>
            </a:r>
            <a:endParaRPr lang="en-US" sz="26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400" dirty="0" smtClean="0">
                <a:solidFill>
                  <a:prstClr val="black"/>
                </a:solidFill>
              </a:rPr>
              <a:t>     </a:t>
            </a:r>
            <a:endParaRPr lang="en-US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Induction agents</a:t>
            </a:r>
          </a:p>
          <a:p>
            <a:pPr lvl="1"/>
            <a:r>
              <a:rPr lang="en-US" sz="2400" dirty="0">
                <a:solidFill>
                  <a:prstClr val="black"/>
                </a:solidFill>
              </a:rPr>
              <a:t>propofol, thiopental         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Inhalational anesthetic agents</a:t>
            </a:r>
            <a:endParaRPr lang="en-US" sz="2400" dirty="0">
              <a:solidFill>
                <a:prstClr val="black"/>
              </a:solidFill>
              <a:sym typeface="Wingdings" pitchFamily="2" charset="2"/>
            </a:endParaRPr>
          </a:p>
          <a:p>
            <a:pPr lvl="1"/>
            <a:r>
              <a:rPr lang="en-US" sz="2400" dirty="0">
                <a:solidFill>
                  <a:prstClr val="black"/>
                </a:solidFill>
                <a:sym typeface="Wingdings" pitchFamily="2" charset="2"/>
              </a:rPr>
              <a:t>halothane, isoflurane, nitrous oxide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sym typeface="Wingdings" pitchFamily="2" charset="2"/>
              </a:rPr>
              <a:t>Local anesthetics, opioids and vasopressors(ephedrine)</a:t>
            </a:r>
            <a:endParaRPr lang="en-US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0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Insignificant transfer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prstClr val="black"/>
                </a:solidFill>
              </a:rPr>
              <a:t>Drugs that do not cross the placenta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Anticholinergic agents – glycopyrrolate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Anticoagulants – heparin</a:t>
            </a:r>
          </a:p>
          <a:p>
            <a:pPr marL="0" lvl="0" indent="0"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400" b="1" dirty="0">
                <a:solidFill>
                  <a:prstClr val="black"/>
                </a:solidFill>
              </a:rPr>
              <a:t>Insignificant or very small amount transfer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Muscle relaxants : </a:t>
            </a:r>
            <a:r>
              <a:rPr lang="en-US" sz="2400" dirty="0" smtClean="0">
                <a:solidFill>
                  <a:prstClr val="black"/>
                </a:solidFill>
              </a:rPr>
              <a:t>-</a:t>
            </a:r>
          </a:p>
          <a:p>
            <a:pPr lvl="1"/>
            <a:r>
              <a:rPr lang="en-US" sz="2400" dirty="0" smtClean="0">
                <a:solidFill>
                  <a:prstClr val="black"/>
                </a:solidFill>
              </a:rPr>
              <a:t>depolarizing – succinylcholine</a:t>
            </a:r>
          </a:p>
          <a:p>
            <a:pPr lvl="1"/>
            <a:r>
              <a:rPr lang="en-US" sz="2400" dirty="0" smtClean="0">
                <a:solidFill>
                  <a:prstClr val="black"/>
                </a:solidFill>
              </a:rPr>
              <a:t>Nondepolarizing </a:t>
            </a:r>
            <a:r>
              <a:rPr lang="en-US" sz="2400" dirty="0">
                <a:solidFill>
                  <a:prstClr val="black"/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30602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Uterine blood flow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10% of cardiac output</a:t>
                </a:r>
              </a:p>
              <a:p>
                <a:r>
                  <a:rPr lang="en-US" sz="2400" dirty="0" smtClean="0"/>
                  <a:t>It ↑s progressively and reaches a mean value to 500 to 700 ml / mt by term.</a:t>
                </a:r>
              </a:p>
              <a:p>
                <a:r>
                  <a:rPr lang="en-US" sz="2400" dirty="0" smtClean="0"/>
                  <a:t>Uterine blood flow lacks autoregulation→ dependent on maternal blood pressure and cardiac output</a:t>
                </a:r>
                <a:endParaRPr lang="en-US" sz="2400" dirty="0"/>
              </a:p>
              <a:p>
                <a:r>
                  <a:rPr lang="en-US" sz="2400" dirty="0" smtClean="0"/>
                  <a:t>Uterine blood flow is determined by:</a:t>
                </a:r>
              </a:p>
              <a:p>
                <a:pPr marL="0" indent="0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𝑼𝒕𝒆𝒓𝒊𝒏𝒆</m:t>
                    </m:r>
                    <m:r>
                      <a:rPr lang="en-US" sz="2000" b="1" i="1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latin typeface="Cambria Math"/>
                      </a:rPr>
                      <m:t>𝒃𝒍𝒐𝒐𝒅</m:t>
                    </m:r>
                    <m:r>
                      <a:rPr lang="en-US" sz="2000" b="1" i="1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latin typeface="Cambria Math"/>
                      </a:rPr>
                      <m:t>𝒇𝒍𝒐𝒘</m:t>
                    </m:r>
                    <m:r>
                      <a:rPr lang="en-US" sz="2000" b="1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b="1" i="1" dirty="0" smtClean="0">
                            <a:latin typeface="Cambria Math"/>
                          </a:rPr>
                          <m:t>𝒖𝒕𝒆𝒓𝒊𝒏𝒆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𝒂𝒓𝒕𝒆𝒓𝒚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𝒑𝒓𝒆𝒔𝒔𝒖𝒓𝒆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𝒖𝒕𝒆𝒓𝒊𝒏𝒆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𝒗𝒆𝒏𝒐𝒖𝒔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𝒑𝒓𝒆𝒔𝒔𝒖𝒓𝒆</m:t>
                        </m:r>
                      </m:num>
                      <m:den>
                        <m:r>
                          <a:rPr lang="en-US" sz="2200" b="1" i="1" dirty="0" smtClean="0">
                            <a:latin typeface="Cambria Math"/>
                          </a:rPr>
                          <m:t>𝒖𝒕𝒆𝒓𝒊𝒏𝒆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𝒗𝒂𝒔𝒄𝒖𝒍𝒂𝒓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200" b="1" i="1" dirty="0" smtClean="0">
                            <a:latin typeface="Cambria Math"/>
                          </a:rPr>
                          <m:t>𝒓𝒆𝒔𝒊𝒔𝒕𝒂𝒏𝒄𝒆</m:t>
                        </m:r>
                      </m:den>
                    </m:f>
                  </m:oMath>
                </a14:m>
                <a:endParaRPr lang="en-US" sz="2200" b="1" dirty="0" smtClean="0"/>
              </a:p>
              <a:p>
                <a:pPr marL="0" indent="0">
                  <a:buNone/>
                </a:pPr>
                <a:endParaRPr lang="en-US" sz="2200" b="1" dirty="0"/>
              </a:p>
              <a:p>
                <a:r>
                  <a:rPr lang="en-US" sz="2400" dirty="0">
                    <a:solidFill>
                      <a:prstClr val="black"/>
                    </a:solidFill>
                  </a:rPr>
                  <a:t>It is </a:t>
                </a:r>
                <a:r>
                  <a:rPr lang="en-US" sz="2400" dirty="0"/>
                  <a:t>mainly depends on perfusion pressure    </a:t>
                </a:r>
              </a:p>
              <a:p>
                <a:pPr marL="0" indent="0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  <a:blipFill rotWithShape="1">
                <a:blip r:embed="rId2"/>
                <a:stretch>
                  <a:fillRect l="-1111" t="-1026" b="-2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04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400" dirty="0">
                    <a:solidFill>
                      <a:prstClr val="black"/>
                    </a:solidFill>
                  </a:rPr>
                  <a:t>The Uteroplacental circulation is directly involved with respiratory gas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exchange</a:t>
                </a:r>
                <a:endParaRPr lang="en-US" sz="2400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US" sz="2400" dirty="0">
                    <a:solidFill>
                      <a:prstClr val="black"/>
                    </a:solidFill>
                  </a:rPr>
                  <a:t>Fetal oxygenation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depends on </a:t>
                </a:r>
                <a:r>
                  <a:rPr lang="en-US" sz="2400" dirty="0">
                    <a:solidFill>
                      <a:prstClr val="black"/>
                    </a:solidFill>
                  </a:rPr>
                  <a:t>the uterine vessel oxygen content and umbilical vessel blood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flow</a:t>
                </a:r>
                <a:endParaRPr lang="en-US" sz="2400" dirty="0">
                  <a:solidFill>
                    <a:prstClr val="black"/>
                  </a:solidFill>
                </a:endParaRP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exchange will depend upon umbilical as well as uterine blood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flow</a:t>
                </a:r>
              </a:p>
              <a:p>
                <a:pPr lvl="1"/>
                <a:r>
                  <a:rPr lang="en-US" sz="2400" dirty="0" smtClean="0">
                    <a:solidFill>
                      <a:prstClr val="black"/>
                    </a:solidFill>
                  </a:rPr>
                  <a:t>decrease </a:t>
                </a:r>
                <a:r>
                  <a:rPr lang="en-US" sz="2400" dirty="0">
                    <a:solidFill>
                      <a:prstClr val="black"/>
                    </a:solidFill>
                  </a:rPr>
                  <a:t>in either uterine or umbilical blood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flow</a:t>
                </a:r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→</a:t>
                </a:r>
                <a:r>
                  <a:rPr lang="en-US" sz="2400" dirty="0">
                    <a:solidFill>
                      <a:prstClr val="black"/>
                    </a:solidFill>
                  </a:rPr>
                  <a:t>accumulation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→Acute respiratory acidosis </a:t>
                </a:r>
              </a:p>
              <a:p>
                <a:pPr lvl="0"/>
                <a:r>
                  <a:rPr lang="en-US" sz="2400" dirty="0">
                    <a:solidFill>
                      <a:prstClr val="black"/>
                    </a:solidFill>
                  </a:rPr>
                  <a:t>Maternal hypocapnia will be associated with fetal hypoxia and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acidosis.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  <a:blipFill rotWithShape="1">
                <a:blip r:embed="rId2"/>
                <a:stretch>
                  <a:fillRect l="-963" t="-1026" r="-1407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79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Factors that can alter uteroplacental blood flow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Factors that decrease uterine blood flow 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b="1" dirty="0" smtClean="0"/>
              <a:t>Uterine contraction </a:t>
            </a:r>
            <a:r>
              <a:rPr lang="en-US" sz="2400" dirty="0" smtClean="0"/>
              <a:t>– It reduces placental blood flow-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b="1" dirty="0" smtClean="0"/>
              <a:t>Decreased uterine blood flow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↓ed maternal MAP ↓uterine artery blood  flow  ↓uteroplacental blood flow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Aortocaval compression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Sympathectomy from regional anesthesia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Hypovolumia from severe shock</a:t>
            </a:r>
          </a:p>
          <a:p>
            <a:pPr marL="0" indent="0" algn="ctr">
              <a:buNone/>
            </a:pPr>
            <a:r>
              <a:rPr lang="en-US" sz="2000" dirty="0" smtClean="0"/>
              <a:t>   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305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c.     Pathologic conditions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Pregnancy induced hypertension(preeclampsia</a:t>
            </a:r>
            <a:r>
              <a:rPr lang="en-US" sz="2400" dirty="0" smtClean="0"/>
              <a:t>)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d.     Pharmacologic agents</a:t>
            </a:r>
          </a:p>
          <a:p>
            <a:pPr marL="0" indent="0">
              <a:buNone/>
            </a:pPr>
            <a:r>
              <a:rPr lang="en-US" sz="2400" b="1" dirty="0" smtClean="0"/>
              <a:t>Intravenous induction agents</a:t>
            </a:r>
          </a:p>
          <a:p>
            <a:pPr marL="0" indent="0">
              <a:buNone/>
            </a:pPr>
            <a:r>
              <a:rPr lang="en-US" sz="2400" b="1" dirty="0" smtClean="0"/>
              <a:t>Thiapental, methohexital</a:t>
            </a:r>
            <a:endParaRPr lang="en-US" sz="2400" dirty="0" smtClean="0"/>
          </a:p>
          <a:p>
            <a:r>
              <a:rPr lang="en-US" sz="2400" dirty="0" smtClean="0"/>
              <a:t>It reduces placental blood flow by 35%.....release of catecholamine due to light anesthesia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611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Diazepam</a:t>
            </a:r>
          </a:p>
          <a:p>
            <a:r>
              <a:rPr lang="en-US" sz="2400" dirty="0"/>
              <a:t>Has no effect in a dose of 0.5 mg/kg</a:t>
            </a:r>
          </a:p>
          <a:p>
            <a:r>
              <a:rPr lang="en-US" sz="2400" dirty="0"/>
              <a:t>Large doses ↓uteroplacental blood flow by ↓maternal MAP</a:t>
            </a:r>
          </a:p>
          <a:p>
            <a:r>
              <a:rPr lang="en-US" sz="2400" dirty="0"/>
              <a:t>Midazolam has the same effect</a:t>
            </a:r>
            <a:r>
              <a:rPr lang="en-US" sz="2400" dirty="0" smtClean="0"/>
              <a:t>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Ketamine</a:t>
            </a:r>
            <a:endParaRPr lang="en-US" sz="2400" b="1" dirty="0"/>
          </a:p>
          <a:p>
            <a:r>
              <a:rPr lang="en-US" sz="2400" dirty="0"/>
              <a:t>Clinical doss of 1 mg/kg has no effect</a:t>
            </a:r>
          </a:p>
          <a:p>
            <a:pPr marL="0" indent="0">
              <a:buNone/>
            </a:pPr>
            <a:r>
              <a:rPr lang="en-US" sz="2400" b="1" dirty="0"/>
              <a:t>Etomidate , propofol</a:t>
            </a:r>
          </a:p>
          <a:p>
            <a:r>
              <a:rPr lang="en-US" sz="2400" dirty="0"/>
              <a:t>A large drop in uterine blood flow with propofol than etomidate due to </a:t>
            </a:r>
            <a:r>
              <a:rPr lang="en-US" sz="2400" dirty="0" smtClean="0"/>
              <a:t>a ↓MAP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8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Inhalational agents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Halothane</a:t>
            </a:r>
          </a:p>
          <a:p>
            <a:r>
              <a:rPr lang="en-US" sz="2400" dirty="0" smtClean="0"/>
              <a:t>1 MAC maintains uteroplacental blood flow by uterine vasodilation</a:t>
            </a:r>
          </a:p>
          <a:p>
            <a:r>
              <a:rPr lang="en-US" sz="2400" dirty="0" smtClean="0"/>
              <a:t>A deep level of anesthesia (2 MAC) significantly reduce utero placental blood flow by ↓ing </a:t>
            </a:r>
            <a:r>
              <a:rPr lang="en-US" sz="2400" dirty="0"/>
              <a:t>the maternal </a:t>
            </a:r>
            <a:r>
              <a:rPr lang="en-US" sz="2400" dirty="0" smtClean="0"/>
              <a:t>MAP</a:t>
            </a:r>
          </a:p>
          <a:p>
            <a:pPr marL="0" indent="0">
              <a:buNone/>
            </a:pPr>
            <a:r>
              <a:rPr lang="en-US" sz="2400" b="1" dirty="0" smtClean="0"/>
              <a:t>Isoflurane</a:t>
            </a:r>
          </a:p>
          <a:p>
            <a:r>
              <a:rPr lang="en-US" sz="2400" dirty="0" smtClean="0"/>
              <a:t>Animal study with isoflurane have shown similar results as those with halothane.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759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Methoxyflurane</a:t>
            </a:r>
            <a:endParaRPr lang="en-US" sz="2400" b="1" dirty="0"/>
          </a:p>
          <a:p>
            <a:r>
              <a:rPr lang="en-US" sz="2400" dirty="0" smtClean="0"/>
              <a:t>Less </a:t>
            </a:r>
            <a:r>
              <a:rPr lang="en-US" sz="2400" dirty="0"/>
              <a:t>uterine </a:t>
            </a:r>
            <a:r>
              <a:rPr lang="en-US" sz="2400" dirty="0" smtClean="0"/>
              <a:t>relaxation</a:t>
            </a:r>
          </a:p>
          <a:p>
            <a:r>
              <a:rPr lang="en-US" sz="2400" dirty="0"/>
              <a:t>In high concentrations it ↓s uteroplacental blood flow -↓ maternal arterial </a:t>
            </a:r>
            <a:r>
              <a:rPr lang="en-US" sz="2400" dirty="0" smtClean="0"/>
              <a:t>pressure</a:t>
            </a:r>
            <a:endParaRPr lang="en-US" sz="2400" dirty="0"/>
          </a:p>
          <a:p>
            <a:r>
              <a:rPr lang="en-US" sz="2400" dirty="0" smtClean="0"/>
              <a:t>Do not </a:t>
            </a:r>
            <a:r>
              <a:rPr lang="en-US" sz="2400" dirty="0"/>
              <a:t>↑</a:t>
            </a:r>
            <a:r>
              <a:rPr lang="en-US" sz="2400" dirty="0" smtClean="0"/>
              <a:t>uteroplacental </a:t>
            </a:r>
            <a:r>
              <a:rPr lang="en-US" sz="2400" dirty="0"/>
              <a:t>blood flow even when administered in low </a:t>
            </a:r>
            <a:r>
              <a:rPr lang="en-US" sz="2400" dirty="0" smtClean="0"/>
              <a:t>concentrations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6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Enflurane</a:t>
            </a:r>
            <a:endParaRPr lang="en-US" sz="2400" b="1" dirty="0" smtClean="0"/>
          </a:p>
          <a:p>
            <a:r>
              <a:rPr lang="en-US" sz="2400" dirty="0" smtClean="0"/>
              <a:t>Light and moderate degree of anesthesia has no effect</a:t>
            </a:r>
          </a:p>
          <a:p>
            <a:r>
              <a:rPr lang="en-US" sz="2400" dirty="0" smtClean="0"/>
              <a:t>Enflurane in concentration of more than 1 vol % produced :</a:t>
            </a:r>
          </a:p>
          <a:p>
            <a:pPr lvl="1"/>
            <a:r>
              <a:rPr lang="en-US" sz="2400" dirty="0" smtClean="0"/>
              <a:t>dose related maternal and fetal bradycardia</a:t>
            </a:r>
          </a:p>
          <a:p>
            <a:pPr lvl="1"/>
            <a:r>
              <a:rPr lang="en-US" sz="2400" dirty="0" smtClean="0"/>
              <a:t>decreased uteroplacental blood flow</a:t>
            </a:r>
          </a:p>
          <a:p>
            <a:pPr lvl="1"/>
            <a:r>
              <a:rPr lang="en-US" sz="2400" dirty="0" smtClean="0"/>
              <a:t>fetal acidosis.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b="1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961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Desflurane and </a:t>
            </a:r>
            <a:r>
              <a:rPr lang="en-US" sz="2400" b="1" dirty="0" smtClean="0"/>
              <a:t>sevoflurane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A more precise control over maintenance of anesthesia and more rapid recovery is </a:t>
            </a:r>
            <a:r>
              <a:rPr lang="en-US" sz="2400" dirty="0" smtClean="0"/>
              <a:t>possible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Since these agents would be used only for a short time and in low concentrations </a:t>
            </a:r>
            <a:r>
              <a:rPr lang="en-US" sz="2400" dirty="0" smtClean="0"/>
              <a:t>in </a:t>
            </a:r>
            <a:r>
              <a:rPr lang="en-US" sz="2400" dirty="0"/>
              <a:t>obstetrics anesthesia→ insignificant cardiovascular, respiratory, or hepatorenal problems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3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Local anesthetics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b="1" dirty="0" smtClean="0"/>
              <a:t>Lidocaine and mepivacaine</a:t>
            </a:r>
          </a:p>
          <a:p>
            <a:r>
              <a:rPr lang="en-US" sz="2400" dirty="0" smtClean="0"/>
              <a:t>Can cause fetal bradycardia: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Uterine vasoconstriction due to large amounts of local anesthesia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Direct depression of the fetal heart by local anesthetics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At blood level 2 to 4 </a:t>
            </a:r>
            <a:r>
              <a:rPr lang="en-US" sz="2400" dirty="0" smtClean="0">
                <a:solidFill>
                  <a:prstClr val="black"/>
                </a:solidFill>
              </a:rPr>
              <a:t>µg/ml , no significant reduction in uterine blood flow was observed</a:t>
            </a:r>
            <a:endParaRPr lang="en-US" sz="2400" dirty="0" smtClean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021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1710"/>
            <a:ext cx="8229600" cy="45744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Ropivacaine  and bupivacaine </a:t>
            </a:r>
          </a:p>
          <a:p>
            <a:pPr marL="0" indent="0">
              <a:buNone/>
            </a:pPr>
            <a:r>
              <a:rPr lang="en-US" sz="2400" dirty="0" smtClean="0"/>
              <a:t>In </a:t>
            </a:r>
            <a:r>
              <a:rPr lang="en-US" sz="2400" dirty="0"/>
              <a:t>therapeutic </a:t>
            </a:r>
            <a:r>
              <a:rPr lang="en-US" sz="2400" dirty="0" smtClean="0"/>
              <a:t>doses</a:t>
            </a:r>
          </a:p>
          <a:p>
            <a:pPr lvl="1"/>
            <a:r>
              <a:rPr lang="en-US" sz="2400" dirty="0" smtClean="0"/>
              <a:t>Do </a:t>
            </a:r>
            <a:r>
              <a:rPr lang="en-US" sz="2400" dirty="0"/>
              <a:t>not cause vasoconstriction or </a:t>
            </a:r>
            <a:endParaRPr lang="en-US" sz="2400" dirty="0" smtClean="0"/>
          </a:p>
          <a:p>
            <a:pPr lvl="1"/>
            <a:r>
              <a:rPr lang="en-US" sz="2400" dirty="0" smtClean="0"/>
              <a:t>Do not reduce </a:t>
            </a:r>
            <a:r>
              <a:rPr lang="en-US" sz="2400" dirty="0"/>
              <a:t>uteroplacental blood </a:t>
            </a:r>
            <a:r>
              <a:rPr lang="en-US" sz="2400" dirty="0" smtClean="0"/>
              <a:t>flow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Cocaine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 smtClean="0"/>
              <a:t>It </a:t>
            </a:r>
            <a:r>
              <a:rPr lang="en-US" sz="2400" dirty="0"/>
              <a:t>is associated with </a:t>
            </a:r>
            <a:endParaRPr lang="en-US" sz="2400" dirty="0" smtClean="0"/>
          </a:p>
          <a:p>
            <a:pPr lvl="1"/>
            <a:r>
              <a:rPr lang="en-US" sz="2400" dirty="0" smtClean="0"/>
              <a:t>significantly </a:t>
            </a:r>
            <a:r>
              <a:rPr lang="en-US" sz="2400" dirty="0"/>
              <a:t>higher degree of uterine </a:t>
            </a:r>
            <a:r>
              <a:rPr lang="en-US" sz="2400" dirty="0" smtClean="0"/>
              <a:t>vasoconstriction</a:t>
            </a:r>
          </a:p>
          <a:p>
            <a:pPr lvl="1"/>
            <a:r>
              <a:rPr lang="en-US" sz="2400" dirty="0" smtClean="0"/>
              <a:t>reduced </a:t>
            </a:r>
            <a:r>
              <a:rPr lang="en-US" sz="2400" dirty="0"/>
              <a:t>utero placental blood flow</a:t>
            </a:r>
          </a:p>
        </p:txBody>
      </p:sp>
    </p:spTree>
    <p:extLst>
      <p:ext uri="{BB962C8B-B14F-4D97-AF65-F5344CB8AC3E}">
        <p14:creationId xmlns:p14="http://schemas.microsoft.com/office/powerpoint/2010/main" val="265791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Pharmacologic agent added to the local anesthetics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 smtClean="0"/>
                  <a:t>Epinephrine</a:t>
                </a:r>
              </a:p>
              <a:p>
                <a:r>
                  <a:rPr lang="en-US" sz="2400" dirty="0" smtClean="0"/>
                  <a:t>Low blood levels of epinephrine </a:t>
                </a:r>
                <a:endParaRPr lang="en-US" sz="2400" dirty="0"/>
              </a:p>
              <a:p>
                <a:pPr lvl="1"/>
                <a:r>
                  <a:rPr lang="en-US" sz="2400" dirty="0" smtClean="0"/>
                  <a:t>decrease the MAP →its </a:t>
                </a:r>
                <a:r>
                  <a:rPr lang="el-GR" sz="2400" dirty="0" smtClean="0"/>
                  <a:t>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 mimetic effect and can </a:t>
                </a:r>
                <a:r>
                  <a:rPr lang="en-US" sz="2400" dirty="0"/>
                  <a:t>↓</a:t>
                </a:r>
                <a:r>
                  <a:rPr lang="en-US" sz="2400" dirty="0" smtClean="0"/>
                  <a:t>uteroplacental blood flow unless the blood pressure is corrected.</a:t>
                </a:r>
              </a:p>
              <a:p>
                <a:r>
                  <a:rPr lang="en-US" sz="2400" dirty="0" smtClean="0"/>
                  <a:t> IV injection causes uterine vasoconstriction in a dose dependent manner</a:t>
                </a:r>
              </a:p>
              <a:p>
                <a:pPr marL="0" indent="0">
                  <a:buNone/>
                </a:pPr>
                <a:r>
                  <a:rPr lang="en-US" sz="2400" b="1" dirty="0" smtClean="0"/>
                  <a:t>Vasopressors</a:t>
                </a:r>
                <a:endParaRPr lang="en-US" sz="2400" dirty="0" smtClean="0"/>
              </a:p>
              <a:p>
                <a:r>
                  <a:rPr lang="en-US" sz="2400" dirty="0" smtClean="0"/>
                  <a:t>Ephedrine ↑BP </a:t>
                </a:r>
                <a:r>
                  <a:rPr lang="en-US" sz="2400" dirty="0"/>
                  <a:t>(</a:t>
                </a:r>
                <a:r>
                  <a:rPr lang="en-US" sz="2400" dirty="0" smtClean="0"/>
                  <a:t>inotropic and chromotropic effect on the heart ) without ↓ing the uterine blood flow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89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Vasopressors which have mainly </a:t>
            </a:r>
            <a:r>
              <a:rPr lang="el-GR" sz="2400" dirty="0" smtClean="0"/>
              <a:t>α</a:t>
            </a:r>
            <a:r>
              <a:rPr lang="en-US" sz="2400" dirty="0" smtClean="0"/>
              <a:t> – mimetic effects( mepheternime, metaraminol, methoxamine) ↑BP with a significant ↓in uterine blood flow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Phenylephrine, when used in small incremental doses, corrects the </a:t>
            </a:r>
            <a:r>
              <a:rPr lang="en-US" sz="2400" dirty="0"/>
              <a:t>↓</a:t>
            </a:r>
            <a:r>
              <a:rPr lang="en-US" sz="2400" dirty="0" smtClean="0"/>
              <a:t> in maternal BP with out affecting the acid base values of neonates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997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Antihypertensive agents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/>
              <a:t>Hydralazine</a:t>
            </a:r>
          </a:p>
          <a:p>
            <a:pPr lvl="1"/>
            <a:r>
              <a:rPr lang="en-US" sz="2400" dirty="0"/>
              <a:t>In animal studies, </a:t>
            </a:r>
            <a:r>
              <a:rPr lang="en-US" sz="2400" dirty="0" smtClean="0"/>
              <a:t>hydralazine ↓maternal BP </a:t>
            </a:r>
            <a:r>
              <a:rPr lang="en-US" sz="2400" dirty="0"/>
              <a:t>with an associated ↑</a:t>
            </a:r>
            <a:r>
              <a:rPr lang="en-US" sz="2400" dirty="0" smtClean="0"/>
              <a:t> </a:t>
            </a:r>
            <a:r>
              <a:rPr lang="en-US" sz="2400" dirty="0"/>
              <a:t>in </a:t>
            </a:r>
            <a:r>
              <a:rPr lang="en-US" sz="2400" dirty="0" smtClean="0"/>
              <a:t>uteroplacental blood </a:t>
            </a:r>
            <a:r>
              <a:rPr lang="en-US" sz="2400" dirty="0"/>
              <a:t>flow</a:t>
            </a:r>
            <a:endParaRPr lang="en-US" sz="2400" b="1" dirty="0" smtClean="0"/>
          </a:p>
          <a:p>
            <a:pPr lvl="1"/>
            <a:r>
              <a:rPr lang="en-US" sz="2400" dirty="0" smtClean="0"/>
              <a:t>There is no increase in intervillous blood flow  in preeclampsia </a:t>
            </a:r>
          </a:p>
          <a:p>
            <a:r>
              <a:rPr lang="en-US" sz="2400" b="1" dirty="0" smtClean="0"/>
              <a:t>Nitroglycerin</a:t>
            </a:r>
          </a:p>
          <a:p>
            <a:pPr lvl="1"/>
            <a:r>
              <a:rPr lang="en-US" sz="2400" dirty="0" smtClean="0"/>
              <a:t>In animal study ,it </a:t>
            </a:r>
            <a:r>
              <a:rPr lang="en-US" sz="2400" dirty="0"/>
              <a:t>↓</a:t>
            </a:r>
            <a:r>
              <a:rPr lang="en-US" sz="2400" dirty="0" smtClean="0"/>
              <a:t>maternal BP(hypertensive) and caused an </a:t>
            </a:r>
            <a:r>
              <a:rPr lang="en-US" sz="2400" dirty="0"/>
              <a:t>↑</a:t>
            </a:r>
            <a:r>
              <a:rPr lang="en-US" sz="2400" dirty="0" smtClean="0"/>
              <a:t> in uteroplaental blood flow.</a:t>
            </a:r>
          </a:p>
          <a:p>
            <a:r>
              <a:rPr lang="en-US" sz="2400" b="1" dirty="0" smtClean="0"/>
              <a:t>Nitroprusside, trimethaphan (arfonad) and verapamil </a:t>
            </a:r>
            <a:r>
              <a:rPr lang="en-US" sz="2400" dirty="0" smtClean="0"/>
              <a:t>[in animal study]</a:t>
            </a:r>
          </a:p>
          <a:p>
            <a:pPr lvl="1"/>
            <a:r>
              <a:rPr lang="en-US" sz="2400" dirty="0" smtClean="0"/>
              <a:t>reducing maternal artery BP → </a:t>
            </a:r>
            <a:r>
              <a:rPr lang="en-US" sz="2400" dirty="0"/>
              <a:t>↓ </a:t>
            </a:r>
            <a:r>
              <a:rPr lang="en-US" sz="2400" dirty="0" err="1"/>
              <a:t>uteroplacental</a:t>
            </a:r>
            <a:r>
              <a:rPr lang="en-US" sz="2400" dirty="0"/>
              <a:t> </a:t>
            </a:r>
            <a:r>
              <a:rPr lang="en-US" sz="2400" dirty="0" smtClean="0"/>
              <a:t>blood flow</a:t>
            </a:r>
          </a:p>
          <a:p>
            <a:pPr marL="0" indent="0">
              <a:buNone/>
            </a:pPr>
            <a:endParaRPr lang="en-US" sz="1900" dirty="0">
              <a:solidFill>
                <a:prstClr val="black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986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r>
              <a:rPr lang="en-US" sz="2800" b="1" i="1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l-GR" sz="2800" b="1" i="1" dirty="0">
                <a:solidFill>
                  <a:prstClr val="black"/>
                </a:solidFill>
                <a:ea typeface="+mn-ea"/>
                <a:cs typeface="+mn-cs"/>
              </a:rPr>
              <a:t>Β</a:t>
            </a:r>
            <a:r>
              <a:rPr lang="en-US" sz="2800" b="1" i="1" dirty="0">
                <a:solidFill>
                  <a:prstClr val="black"/>
                </a:solidFill>
                <a:ea typeface="+mn-ea"/>
                <a:cs typeface="+mn-cs"/>
              </a:rPr>
              <a:t>-adrenergic blocking drugs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Propranolol(Inderal)</a:t>
            </a:r>
          </a:p>
          <a:p>
            <a:r>
              <a:rPr lang="en-US" sz="2400" dirty="0" smtClean="0"/>
              <a:t>used in the treatment of </a:t>
            </a:r>
            <a:r>
              <a:rPr lang="en-US" sz="2400" dirty="0"/>
              <a:t>:</a:t>
            </a:r>
            <a:endParaRPr lang="en-US" sz="2400" dirty="0" smtClean="0"/>
          </a:p>
          <a:p>
            <a:r>
              <a:rPr lang="en-US" sz="2400" dirty="0" smtClean="0"/>
              <a:t>pregnancy-induced hypertension</a:t>
            </a:r>
          </a:p>
          <a:p>
            <a:r>
              <a:rPr lang="en-US" sz="2400" dirty="0" smtClean="0"/>
              <a:t>Thyrotoxicosis</a:t>
            </a:r>
          </a:p>
          <a:p>
            <a:r>
              <a:rPr lang="en-US" sz="2400" dirty="0" smtClean="0"/>
              <a:t>idiopathic hypertrophic obstructive cardiomyopathy and </a:t>
            </a:r>
          </a:p>
          <a:p>
            <a:r>
              <a:rPr lang="en-US" sz="2400" dirty="0" smtClean="0"/>
              <a:t>supraventricular tachycardia</a:t>
            </a:r>
          </a:p>
          <a:p>
            <a:pPr marL="0" indent="0">
              <a:buNone/>
            </a:pPr>
            <a:endParaRPr 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108652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Effect of propranolol in fetus</a:t>
            </a:r>
            <a:endParaRPr lang="en-US" sz="2400" dirty="0"/>
          </a:p>
          <a:p>
            <a:pPr lvl="1"/>
            <a:r>
              <a:rPr lang="en-US" sz="2400" dirty="0" smtClean="0"/>
              <a:t>Bradycardia</a:t>
            </a:r>
          </a:p>
          <a:p>
            <a:pPr lvl="1"/>
            <a:r>
              <a:rPr lang="en-US" sz="2400" dirty="0" smtClean="0"/>
              <a:t>Hypoglycemia</a:t>
            </a:r>
          </a:p>
          <a:p>
            <a:pPr lvl="1"/>
            <a:r>
              <a:rPr lang="en-US" sz="2400" dirty="0" smtClean="0"/>
              <a:t>Intrauterine </a:t>
            </a:r>
            <a:r>
              <a:rPr lang="en-US" sz="2400" dirty="0"/>
              <a:t>growth </a:t>
            </a:r>
            <a:r>
              <a:rPr lang="en-US" sz="2400" dirty="0" smtClean="0"/>
              <a:t>retardation</a:t>
            </a:r>
          </a:p>
          <a:p>
            <a:pPr lvl="1"/>
            <a:r>
              <a:rPr lang="en-US" sz="2400" dirty="0" smtClean="0"/>
              <a:t>respiratory </a:t>
            </a:r>
            <a:r>
              <a:rPr lang="en-US" sz="2400" dirty="0"/>
              <a:t>depression </a:t>
            </a:r>
            <a:r>
              <a:rPr lang="en-US" sz="2400" dirty="0" smtClean="0"/>
              <a:t>and</a:t>
            </a:r>
          </a:p>
          <a:p>
            <a:pPr lvl="1"/>
            <a:r>
              <a:rPr lang="en-US" sz="2400" dirty="0" smtClean="0"/>
              <a:t>Hyperbilirubinemia</a:t>
            </a:r>
          </a:p>
          <a:p>
            <a:pPr marL="0" indent="0">
              <a:buNone/>
            </a:pPr>
            <a:r>
              <a:rPr lang="en-US" sz="2400" b="1" dirty="0">
                <a:solidFill>
                  <a:prstClr val="black"/>
                </a:solidFill>
              </a:rPr>
              <a:t>Esmolol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Because of rapid placental transfer , esmolol can cause direct fetal bradycardia.</a:t>
            </a:r>
            <a:endParaRPr lang="en-US" sz="2400" b="1" i="1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6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  <a:ea typeface="+mn-ea"/>
                <a:cs typeface="+mn-cs"/>
              </a:rPr>
              <a:t> Tocolytic drugs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Includes : </a:t>
            </a:r>
          </a:p>
          <a:p>
            <a:pPr lvl="1"/>
            <a:r>
              <a:rPr lang="en-US" sz="2400" dirty="0" smtClean="0"/>
              <a:t>magnesium sulphate </a:t>
            </a:r>
          </a:p>
          <a:p>
            <a:pPr lvl="1"/>
            <a:r>
              <a:rPr lang="el-GR" sz="2400" dirty="0" smtClean="0"/>
              <a:t>β</a:t>
            </a:r>
            <a:r>
              <a:rPr lang="en-US" sz="2400" dirty="0" smtClean="0"/>
              <a:t> mimetic </a:t>
            </a:r>
          </a:p>
          <a:p>
            <a:pPr lvl="1"/>
            <a:r>
              <a:rPr lang="en-US" sz="2400" dirty="0" smtClean="0"/>
              <a:t>calcium channel blockers</a:t>
            </a:r>
          </a:p>
          <a:p>
            <a:pPr lvl="1"/>
            <a:r>
              <a:rPr lang="en-US" sz="2400" dirty="0" smtClean="0"/>
              <a:t>prostaglandin inhibitors</a:t>
            </a:r>
          </a:p>
          <a:p>
            <a:r>
              <a:rPr lang="en-US" sz="2400" dirty="0" smtClean="0"/>
              <a:t>Uteroplacental blood flow will depend ultimately on the maternal MAP</a:t>
            </a:r>
          </a:p>
          <a:p>
            <a:r>
              <a:rPr lang="en-US" sz="2400" dirty="0" smtClean="0"/>
              <a:t>If maternal MAP is maintained at a normal level, it can </a:t>
            </a:r>
            <a:r>
              <a:rPr lang="en-US" sz="2400" dirty="0"/>
              <a:t>↑</a:t>
            </a:r>
            <a:r>
              <a:rPr lang="en-US" sz="2400" dirty="0" smtClean="0"/>
              <a:t>Uteroplacental blood flow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379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 Epidural and subarachnoid opiates</a:t>
            </a:r>
          </a:p>
          <a:p>
            <a:r>
              <a:rPr lang="en-US" sz="2800" dirty="0" smtClean="0"/>
              <a:t>Epidural and subarachnoid opiates, </a:t>
            </a:r>
            <a:r>
              <a:rPr lang="en-US" sz="2800" dirty="0"/>
              <a:t>except </a:t>
            </a:r>
            <a:r>
              <a:rPr lang="en-US" sz="2800" dirty="0" smtClean="0"/>
              <a:t>meperidine, do not affect the uteroplacental blood flow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800" b="1" dirty="0" smtClean="0"/>
              <a:t>        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16770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Summery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>Causes of decreased uterine blood flow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Decreased perfusion pressure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Decreased uterine artery pressure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Supine position (aortocavel compression)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Hemorrhage / hypovolemia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Drug induced hypotension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Hypotension during sympathetic blockade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0105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pPr marL="457200" indent="-457200">
              <a:buAutoNum type="arabicPeriod" startAt="2"/>
            </a:pPr>
            <a:r>
              <a:rPr lang="en-US" sz="2400" b="1" dirty="0"/>
              <a:t>Increased uterine venous pressure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Venacaval compression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Uterine contractions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Drug- induced uterine hypertonus ( oxytocin, local anesthetics)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Skeletal muscle hypertonus ( seizure, valsalva)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6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en-US" sz="2400" b="1" dirty="0" smtClean="0"/>
              <a:t>Increased uterine vascular resistance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Endogenous vasoconstrictors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smtClean="0"/>
              <a:t>    Catecholamines ( stress)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smtClean="0"/>
              <a:t>    Vasopressin (in response to hypovolemia)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Exogenous vasoconstrictors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smtClean="0"/>
              <a:t>      Epinephrine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       Vasopressors ( phenylephrine &gt; ephedrine )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        Local anesthetics ( in high concentrations 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025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Conclusion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/>
              <a:t>Different </a:t>
            </a:r>
            <a:r>
              <a:rPr lang="en-US" sz="2400" dirty="0"/>
              <a:t>anesthetic techniques and agents will affect uteroplacental blood flow and ultimately fetal well being. Hence appropriate knowledge of uteroplacental physiology and pathology is important for anesthetists</a:t>
            </a:r>
          </a:p>
        </p:txBody>
      </p:sp>
    </p:spTree>
    <p:extLst>
      <p:ext uri="{BB962C8B-B14F-4D97-AF65-F5344CB8AC3E}">
        <p14:creationId xmlns:p14="http://schemas.microsoft.com/office/powerpoint/2010/main" val="365111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92790</TotalTime>
  <Words>2544</Words>
  <Application>Microsoft Office PowerPoint</Application>
  <PresentationFormat>On-screen Show (4:3)</PresentationFormat>
  <Paragraphs>500</Paragraphs>
  <Slides>71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Office Theme</vt:lpstr>
      <vt:lpstr>Chapter two</vt:lpstr>
      <vt:lpstr>Chapter outline </vt:lpstr>
      <vt:lpstr>Uteroplacental circulation</vt:lpstr>
      <vt:lpstr>...cont’d</vt:lpstr>
      <vt:lpstr>Introduction ...cont’d</vt:lpstr>
      <vt:lpstr>...cont’d</vt:lpstr>
      <vt:lpstr>Placenta </vt:lpstr>
      <vt:lpstr>...cont’d</vt:lpstr>
      <vt:lpstr>...cont’d</vt:lpstr>
      <vt:lpstr>...cont’d</vt:lpstr>
      <vt:lpstr>...cont’d</vt:lpstr>
      <vt:lpstr>...Cont’d</vt:lpstr>
      <vt:lpstr> Functions of placenta</vt:lpstr>
      <vt:lpstr>Functions ...cont’d</vt:lpstr>
      <vt:lpstr>Transport mechanisms</vt:lpstr>
      <vt:lpstr>Gas and nutrient transfer </vt:lpstr>
      <vt:lpstr>...cont’d</vt:lpstr>
      <vt:lpstr>...cont’d</vt:lpstr>
      <vt:lpstr> CO2 diffusion </vt:lpstr>
      <vt:lpstr>...cont’d</vt:lpstr>
      <vt:lpstr>...cont’d</vt:lpstr>
      <vt:lpstr>The maternal – placental- fetal unit    Maternal component</vt:lpstr>
      <vt:lpstr>Placental component</vt:lpstr>
      <vt:lpstr>Fetal component</vt:lpstr>
      <vt:lpstr>...cont’d</vt:lpstr>
      <vt:lpstr>...cont’d</vt:lpstr>
      <vt:lpstr>Fetal circulation</vt:lpstr>
      <vt:lpstr>PowerPoint Presentation</vt:lpstr>
      <vt:lpstr>Fetal exposure to drugs used in obstetrics</vt:lpstr>
      <vt:lpstr>...cont’d</vt:lpstr>
      <vt:lpstr>Fetal drug transfer</vt:lpstr>
      <vt:lpstr>The Fick principle </vt:lpstr>
      <vt:lpstr>Placental transfer…cont’d</vt:lpstr>
      <vt:lpstr>...cont’d</vt:lpstr>
      <vt:lpstr>Factors affecting placental transfer of drug (maternal to fetus)</vt:lpstr>
      <vt:lpstr>PowerPoint Presentation</vt:lpstr>
      <vt:lpstr>Placental transfer of anesthetic agents</vt:lpstr>
      <vt:lpstr>Inhalational agents...cont’d</vt:lpstr>
      <vt:lpstr>Induction agents   </vt:lpstr>
      <vt:lpstr>Induction ...cont’d</vt:lpstr>
      <vt:lpstr>...cont’d</vt:lpstr>
      <vt:lpstr>...cont’d</vt:lpstr>
      <vt:lpstr>...cont’d</vt:lpstr>
      <vt:lpstr>...cont’d</vt:lpstr>
      <vt:lpstr>…cont’d</vt:lpstr>
      <vt:lpstr>...cont’d</vt:lpstr>
      <vt:lpstr> Commonly used drugs that cross the placenta   </vt:lpstr>
      <vt:lpstr>...cont’d</vt:lpstr>
      <vt:lpstr>Insignificant transfer</vt:lpstr>
      <vt:lpstr>Uterine blood flow </vt:lpstr>
      <vt:lpstr>...cont’d</vt:lpstr>
      <vt:lpstr>Factors that can alter uteroplacental blood flow</vt:lpstr>
      <vt:lpstr>...Cont’d</vt:lpstr>
      <vt:lpstr>...cont’d</vt:lpstr>
      <vt:lpstr>Inhalational agents</vt:lpstr>
      <vt:lpstr>...cont’d</vt:lpstr>
      <vt:lpstr>...cont’d</vt:lpstr>
      <vt:lpstr>PowerPoint Presentation</vt:lpstr>
      <vt:lpstr>Local anesthetics</vt:lpstr>
      <vt:lpstr>...cont’d</vt:lpstr>
      <vt:lpstr>Pharmacologic agent added to the local anesthetics</vt:lpstr>
      <vt:lpstr>…cont’d</vt:lpstr>
      <vt:lpstr>Antihypertensive agents</vt:lpstr>
      <vt:lpstr> Β-adrenergic blocking drugs</vt:lpstr>
      <vt:lpstr>PowerPoint Presentation</vt:lpstr>
      <vt:lpstr> Tocolytic drugs</vt:lpstr>
      <vt:lpstr>…cont’d</vt:lpstr>
      <vt:lpstr>Summery  Causes of decreased uterine blood flow</vt:lpstr>
      <vt:lpstr>...cont’d</vt:lpstr>
      <vt:lpstr>…Cont’d</vt:lpstr>
      <vt:lpstr> Conclusion 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</dc:title>
  <dc:creator>Alemtsehay</dc:creator>
  <cp:lastModifiedBy>user</cp:lastModifiedBy>
  <cp:revision>127</cp:revision>
  <dcterms:created xsi:type="dcterms:W3CDTF">2016-02-26T09:17:57Z</dcterms:created>
  <dcterms:modified xsi:type="dcterms:W3CDTF">2025-05-14T09:09:51Z</dcterms:modified>
</cp:coreProperties>
</file>