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3" r:id="rId6"/>
    <p:sldId id="264" r:id="rId7"/>
    <p:sldId id="302" r:id="rId8"/>
    <p:sldId id="30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304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301" r:id="rId28"/>
    <p:sldId id="305" r:id="rId29"/>
    <p:sldId id="282" r:id="rId30"/>
    <p:sldId id="283" r:id="rId31"/>
    <p:sldId id="284" r:id="rId32"/>
    <p:sldId id="286" r:id="rId33"/>
    <p:sldId id="287" r:id="rId34"/>
    <p:sldId id="288" r:id="rId35"/>
    <p:sldId id="289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C9BAF-7882-446D-9BB7-BDE05E9CF0B4}" type="datetimeFigureOut">
              <a:rPr lang="en-US" smtClean="0"/>
              <a:t>5/31/2016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A0F-3D81-49C4-AFCD-2E68CA429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94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C9BAF-7882-446D-9BB7-BDE05E9CF0B4}" type="datetimeFigureOut">
              <a:rPr lang="en-US" smtClean="0"/>
              <a:t>5/31/2016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A0F-3D81-49C4-AFCD-2E68CA429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35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C9BAF-7882-446D-9BB7-BDE05E9CF0B4}" type="datetimeFigureOut">
              <a:rPr lang="en-US" smtClean="0"/>
              <a:t>5/31/2016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A0F-3D81-49C4-AFCD-2E68CA429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4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C9BAF-7882-446D-9BB7-BDE05E9CF0B4}" type="datetimeFigureOut">
              <a:rPr lang="en-US" smtClean="0"/>
              <a:t>5/31/2016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A0F-3D81-49C4-AFCD-2E68CA429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0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C9BAF-7882-446D-9BB7-BDE05E9CF0B4}" type="datetimeFigureOut">
              <a:rPr lang="en-US" smtClean="0"/>
              <a:t>5/31/2016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A0F-3D81-49C4-AFCD-2E68CA429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68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C9BAF-7882-446D-9BB7-BDE05E9CF0B4}" type="datetimeFigureOut">
              <a:rPr lang="en-US" smtClean="0"/>
              <a:t>5/31/2016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A0F-3D81-49C4-AFCD-2E68CA429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92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C9BAF-7882-446D-9BB7-BDE05E9CF0B4}" type="datetimeFigureOut">
              <a:rPr lang="en-US" smtClean="0"/>
              <a:t>5/31/2016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A0F-3D81-49C4-AFCD-2E68CA429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49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C9BAF-7882-446D-9BB7-BDE05E9CF0B4}" type="datetimeFigureOut">
              <a:rPr lang="en-US" smtClean="0"/>
              <a:t>5/31/2016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A0F-3D81-49C4-AFCD-2E68CA429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14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C9BAF-7882-446D-9BB7-BDE05E9CF0B4}" type="datetimeFigureOut">
              <a:rPr lang="en-US" smtClean="0"/>
              <a:t>5/31/2016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A0F-3D81-49C4-AFCD-2E68CA429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16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C9BAF-7882-446D-9BB7-BDE05E9CF0B4}" type="datetimeFigureOut">
              <a:rPr lang="en-US" smtClean="0"/>
              <a:t>5/31/2016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A0F-3D81-49C4-AFCD-2E68CA429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9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C9BAF-7882-446D-9BB7-BDE05E9CF0B4}" type="datetimeFigureOut">
              <a:rPr lang="en-US" smtClean="0"/>
              <a:t>5/31/2016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EA0F-3D81-49C4-AFCD-2E68CA429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8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9BAF-7882-446D-9BB7-BDE05E9CF0B4}" type="datetimeFigureOut">
              <a:rPr lang="en-US" smtClean="0"/>
              <a:t>5/31/2016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AEA0F-3D81-49C4-AFCD-2E68CA429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68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mp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602162"/>
          </a:xfrm>
        </p:spPr>
        <p:txBody>
          <a:bodyPr>
            <a:normAutofit/>
          </a:bodyPr>
          <a:lstStyle/>
          <a:p>
            <a:r>
              <a:rPr lang="en-US" dirty="0" smtClean="0"/>
              <a:t>Chapter 5</a:t>
            </a:r>
            <a:br>
              <a:rPr lang="en-US" dirty="0" smtClean="0"/>
            </a:br>
            <a:r>
              <a:rPr lang="en-US" dirty="0" smtClean="0"/>
              <a:t>Neonatal resuscitation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172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Majority of newly born babies establish normal respiration and circulation without help</a:t>
            </a:r>
          </a:p>
          <a:p>
            <a:r>
              <a:rPr lang="en-US" dirty="0"/>
              <a:t>Only 10% of newborns require some level of resuscitation and only 1%  require extensive resuscitation</a:t>
            </a:r>
          </a:p>
          <a:p>
            <a:r>
              <a:rPr lang="en-US" dirty="0" smtClean="0"/>
              <a:t>Resuscitation of newly born babies is different from all other groups</a:t>
            </a:r>
          </a:p>
        </p:txBody>
      </p:sp>
    </p:spTree>
    <p:extLst>
      <p:ext uri="{BB962C8B-B14F-4D97-AF65-F5344CB8AC3E}">
        <p14:creationId xmlns:p14="http://schemas.microsoft.com/office/powerpoint/2010/main" val="3005882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Transition from intrauterine to extra uterine life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It depends on:</a:t>
            </a:r>
          </a:p>
          <a:p>
            <a:pPr marL="0" indent="0">
              <a:buNone/>
            </a:pPr>
            <a:endParaRPr lang="en-US" dirty="0" smtClean="0"/>
          </a:p>
          <a:p>
            <a:pPr marL="457200" lvl="0" indent="-457200">
              <a:buFont typeface="+mj-lt"/>
              <a:buAutoNum type="alphaLcParenR"/>
            </a:pPr>
            <a:r>
              <a:rPr lang="en-US" sz="2800" dirty="0">
                <a:solidFill>
                  <a:prstClr val="black"/>
                </a:solidFill>
              </a:rPr>
              <a:t>The anatomic and physiologic condition of the infant at delivery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US" sz="2800" dirty="0">
                <a:solidFill>
                  <a:prstClr val="black"/>
                </a:solidFill>
              </a:rPr>
              <a:t>The ease or difficulty of the delivery itself, and 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US" sz="2800" dirty="0">
                <a:solidFill>
                  <a:prstClr val="black"/>
                </a:solidFill>
              </a:rPr>
              <a:t>The extrauterine </a:t>
            </a:r>
            <a:r>
              <a:rPr lang="en-US" sz="2800" dirty="0" smtClean="0">
                <a:solidFill>
                  <a:prstClr val="black"/>
                </a:solidFill>
              </a:rPr>
              <a:t>environment</a:t>
            </a:r>
          </a:p>
          <a:p>
            <a:pPr marL="0" lvl="0" indent="0">
              <a:buNone/>
            </a:pPr>
            <a:endParaRPr lang="en-US" sz="2800" dirty="0">
              <a:solidFill>
                <a:prstClr val="black"/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2800" dirty="0" smtClean="0"/>
              <a:t>Unsuccessful transition requires prompt assessment and immediate supportive care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662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Respiratory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dirty="0" smtClean="0"/>
              <a:t>Fetal </a:t>
            </a:r>
            <a:r>
              <a:rPr lang="en-US" dirty="0" err="1" smtClean="0"/>
              <a:t>tracheobroncheal</a:t>
            </a:r>
            <a:r>
              <a:rPr lang="en-US" dirty="0" smtClean="0"/>
              <a:t> system is filled with fluid</a:t>
            </a:r>
          </a:p>
          <a:p>
            <a:r>
              <a:rPr lang="en-US" dirty="0" smtClean="0"/>
              <a:t>At the time of birth fluid is cleared by:</a:t>
            </a:r>
          </a:p>
          <a:p>
            <a:pPr marL="0" lvl="0" indent="0">
              <a:buNone/>
            </a:pPr>
            <a:r>
              <a:rPr lang="en-US" sz="2800" dirty="0" smtClean="0">
                <a:solidFill>
                  <a:prstClr val="black"/>
                </a:solidFill>
              </a:rPr>
              <a:t>    - compression </a:t>
            </a:r>
            <a:r>
              <a:rPr lang="en-US" sz="2800" dirty="0">
                <a:solidFill>
                  <a:prstClr val="black"/>
                </a:solidFill>
              </a:rPr>
              <a:t>of the thoracic cage during </a:t>
            </a:r>
            <a:r>
              <a:rPr lang="en-US" sz="2800" dirty="0" smtClean="0">
                <a:solidFill>
                  <a:prstClr val="black"/>
                </a:solidFill>
              </a:rPr>
              <a:t>vaginal</a:t>
            </a:r>
          </a:p>
          <a:p>
            <a:pPr marL="0" lvl="0" indent="0">
              <a:buNone/>
            </a:pP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smtClean="0">
                <a:solidFill>
                  <a:prstClr val="black"/>
                </a:solidFill>
              </a:rPr>
              <a:t>      delivery</a:t>
            </a:r>
            <a:endParaRPr lang="en-US" sz="28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en-US" sz="2800" dirty="0">
                <a:solidFill>
                  <a:prstClr val="black"/>
                </a:solidFill>
              </a:rPr>
              <a:t>    - 1/3 of the lung fluid will be absorbed by lymphatic</a:t>
            </a:r>
          </a:p>
          <a:p>
            <a:pPr marL="0" lvl="0" indent="0">
              <a:buNone/>
            </a:pPr>
            <a:r>
              <a:rPr lang="en-US" sz="2800" dirty="0">
                <a:solidFill>
                  <a:prstClr val="black"/>
                </a:solidFill>
              </a:rPr>
              <a:t>    - some of the fluids will be expelled by the new born</a:t>
            </a:r>
          </a:p>
          <a:p>
            <a:pPr marL="0" lvl="0" indent="0">
              <a:buNone/>
            </a:pPr>
            <a:r>
              <a:rPr lang="en-US" sz="2800" dirty="0">
                <a:solidFill>
                  <a:prstClr val="black"/>
                </a:solidFill>
              </a:rPr>
              <a:t>    - some of the fluid is deliberately taken out at </a:t>
            </a:r>
            <a:r>
              <a:rPr lang="en-US" sz="2800" dirty="0" smtClean="0">
                <a:solidFill>
                  <a:prstClr val="black"/>
                </a:solidFill>
              </a:rPr>
              <a:t>the </a:t>
            </a:r>
          </a:p>
          <a:p>
            <a:pPr marL="0" lvl="0" indent="0">
              <a:buNone/>
            </a:pP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en-US" sz="2800" dirty="0" smtClean="0">
                <a:solidFill>
                  <a:prstClr val="black"/>
                </a:solidFill>
              </a:rPr>
              <a:t>      time of delivery</a:t>
            </a:r>
          </a:p>
        </p:txBody>
      </p:sp>
    </p:spTree>
    <p:extLst>
      <p:ext uri="{BB962C8B-B14F-4D97-AF65-F5344CB8AC3E}">
        <p14:creationId xmlns:p14="http://schemas.microsoft.com/office/powerpoint/2010/main" val="1352947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Respiratory…cont’d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sz="2800" dirty="0" smtClean="0"/>
              <a:t>The exact stimulus of respiration is unknown; associated factors include: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800" dirty="0" smtClean="0">
                <a:solidFill>
                  <a:prstClr val="black"/>
                </a:solidFill>
              </a:rPr>
              <a:t>Squeezing </a:t>
            </a:r>
            <a:r>
              <a:rPr lang="en-US" sz="2800" dirty="0">
                <a:solidFill>
                  <a:prstClr val="black"/>
                </a:solidFill>
              </a:rPr>
              <a:t>of the thoracic cage by the vaginal canal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</a:rPr>
              <a:t>Hypoxia and </a:t>
            </a:r>
            <a:r>
              <a:rPr lang="en-US" sz="2800" dirty="0" err="1">
                <a:solidFill>
                  <a:prstClr val="black"/>
                </a:solidFill>
              </a:rPr>
              <a:t>hypercarbia</a:t>
            </a:r>
            <a:endParaRPr lang="en-US" sz="2800" dirty="0">
              <a:solidFill>
                <a:prstClr val="black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</a:rPr>
              <a:t>Tactile stimulation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</a:rPr>
              <a:t>Umbilical cord clamp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</a:rPr>
              <a:t>Possibly the lower temperature out side the </a:t>
            </a:r>
            <a:r>
              <a:rPr lang="en-US" sz="2800" dirty="0" smtClean="0">
                <a:solidFill>
                  <a:prstClr val="black"/>
                </a:solidFill>
              </a:rPr>
              <a:t>uterus</a:t>
            </a:r>
          </a:p>
          <a:p>
            <a:pPr marL="0" lvl="0" indent="0">
              <a:buNone/>
            </a:pPr>
            <a:endParaRPr lang="en-US" sz="2800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39303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Respiratory…cont’d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sz="2800" dirty="0">
                    <a:solidFill>
                      <a:prstClr val="black"/>
                    </a:solidFill>
                  </a:rPr>
                  <a:t>Initiation of respiration is </a:t>
                </a:r>
                <a:r>
                  <a:rPr lang="en-US" sz="2800" dirty="0" smtClean="0">
                    <a:solidFill>
                      <a:prstClr val="black"/>
                    </a:solidFill>
                  </a:rPr>
                  <a:t>important</a:t>
                </a:r>
                <a:endParaRPr lang="en-US" sz="2800" dirty="0" smtClean="0"/>
              </a:p>
              <a:p>
                <a:r>
                  <a:rPr lang="en-US" sz="2800" dirty="0" smtClean="0"/>
                  <a:t>The first breath requires high intra thoracic pressure( 40 </a:t>
                </a:r>
                <a:r>
                  <a:rPr lang="en-US" sz="2800" dirty="0" smtClean="0"/>
                  <a:t>cm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𝑂</m:t>
                    </m:r>
                  </m:oMath>
                </a14:m>
                <a:r>
                  <a:rPr lang="en-US" sz="2800" dirty="0" smtClean="0"/>
                  <a:t>)</a:t>
                </a:r>
              </a:p>
              <a:p>
                <a:r>
                  <a:rPr lang="en-US" sz="2800" dirty="0" smtClean="0"/>
                  <a:t>The lungs are expanded by 40 to 70 ml of air</a:t>
                </a:r>
              </a:p>
              <a:p>
                <a:pPr marL="0" indent="0">
                  <a:buNone/>
                </a:pPr>
                <a:r>
                  <a:rPr lang="en-US" sz="2800" dirty="0"/>
                  <a:t> </a:t>
                </a:r>
                <a:r>
                  <a:rPr lang="en-US" sz="2800" dirty="0" smtClean="0"/>
                  <a:t>   and they remain completely expanded after </a:t>
                </a:r>
              </a:p>
              <a:p>
                <a:pPr marL="0" indent="0">
                  <a:buNone/>
                </a:pPr>
                <a:r>
                  <a:rPr lang="en-US" sz="2800" dirty="0"/>
                  <a:t> </a:t>
                </a:r>
                <a:r>
                  <a:rPr lang="en-US" sz="2800" dirty="0" smtClean="0"/>
                  <a:t>   the first few breaths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213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3298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Cardiovascular system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Infant circulation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 smtClean="0"/>
                  <a:t>Gas exchange occurs in the placenta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 smtClean="0"/>
                  <a:t>It has many shunts</a:t>
                </a:r>
              </a:p>
              <a:p>
                <a:pPr marL="0" indent="0">
                  <a:buNone/>
                </a:pPr>
                <a:r>
                  <a:rPr lang="en-US" dirty="0" smtClean="0"/>
                  <a:t>Neonatal circulation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 smtClean="0"/>
                  <a:t>Expansion of the lungs, 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2 </m:t>
                        </m:r>
                      </m:sub>
                    </m:sSub>
                  </m:oMath>
                </a14:m>
                <a:r>
                  <a:rPr lang="en-US" dirty="0" smtClean="0"/>
                  <a:t>tension→↓ PVR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 smtClean="0"/>
                  <a:t>Clamping of the cord→ ↑ SVR, functional closure of shunts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 r="-667" b="-31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9722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Persistent fetal circulation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Factors which ↑PVR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Hypoxia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Hypercarbia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Acidosis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Hypothermia and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Sympathetic stimulation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142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Thermoregulation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High body surface area to volume ratio</a:t>
            </a:r>
          </a:p>
          <a:p>
            <a:r>
              <a:rPr lang="en-US" dirty="0" smtClean="0"/>
              <a:t>Thin skin and decreased body fat </a:t>
            </a:r>
          </a:p>
          <a:p>
            <a:r>
              <a:rPr lang="en-US" dirty="0"/>
              <a:t>Non shivering thermoregulation – breaking down brown fat</a:t>
            </a:r>
          </a:p>
          <a:p>
            <a:r>
              <a:rPr lang="en-US" dirty="0" smtClean="0"/>
              <a:t>Maintenance of body temperature is important</a:t>
            </a:r>
          </a:p>
          <a:p>
            <a:pPr marL="0" indent="0">
              <a:buNone/>
            </a:pPr>
            <a:r>
              <a:rPr lang="en-US" dirty="0" smtClean="0"/>
              <a:t> → cold temperature causes pulmonary </a:t>
            </a:r>
            <a:r>
              <a:rPr lang="en-US" dirty="0" err="1" smtClean="0"/>
              <a:t>vaso</a:t>
            </a:r>
            <a:r>
              <a:rPr lang="en-US" dirty="0"/>
              <a:t>-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constriction and increased right to left shunt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463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Risk factors suggesting a greater need for neonatal resuscitation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   </a:t>
            </a:r>
            <a:r>
              <a:rPr lang="en-US" sz="2400" b="1" dirty="0" smtClean="0"/>
              <a:t>Antepartum risk factors</a:t>
            </a:r>
          </a:p>
          <a:p>
            <a:r>
              <a:rPr lang="en-US" sz="2400" dirty="0" smtClean="0"/>
              <a:t>Maternal diabetes</a:t>
            </a:r>
          </a:p>
          <a:p>
            <a:r>
              <a:rPr lang="en-US" sz="2400" dirty="0" smtClean="0"/>
              <a:t>Hypertensive disorder of pregnancy</a:t>
            </a:r>
          </a:p>
          <a:p>
            <a:r>
              <a:rPr lang="en-US" sz="2400" dirty="0" smtClean="0"/>
              <a:t>Chronic hypertension</a:t>
            </a:r>
          </a:p>
          <a:p>
            <a:r>
              <a:rPr lang="en-US" sz="2400" dirty="0" smtClean="0"/>
              <a:t>Chronic maternal illness (ex. Cardiovascular, thyroid, neurologic, pulmonary, renal)</a:t>
            </a:r>
          </a:p>
          <a:p>
            <a:r>
              <a:rPr lang="en-US" sz="2400" dirty="0" smtClean="0"/>
              <a:t>Anemia or isoimmunization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2111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dirty="0">
                <a:solidFill>
                  <a:prstClr val="black"/>
                </a:solidFill>
              </a:rPr>
              <a:t>Previous fetal or neonatal death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Bleeding in second or third trimester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Maternal infection</a:t>
            </a:r>
          </a:p>
          <a:p>
            <a:pPr lvl="0"/>
            <a:r>
              <a:rPr lang="en-US" sz="2400" dirty="0" err="1">
                <a:solidFill>
                  <a:prstClr val="black"/>
                </a:solidFill>
              </a:rPr>
              <a:t>Polyhydramnios</a:t>
            </a:r>
            <a:endParaRPr lang="en-US" sz="2400" dirty="0">
              <a:solidFill>
                <a:prstClr val="black"/>
              </a:solidFill>
            </a:endParaRPr>
          </a:p>
          <a:p>
            <a:pPr lvl="0"/>
            <a:r>
              <a:rPr lang="en-US" sz="2400" dirty="0" err="1" smtClean="0">
                <a:solidFill>
                  <a:prstClr val="black"/>
                </a:solidFill>
              </a:rPr>
              <a:t>Oligohydramnios</a:t>
            </a:r>
            <a:endParaRPr lang="en-US" sz="2400" dirty="0" smtClean="0">
              <a:solidFill>
                <a:prstClr val="black"/>
              </a:solidFill>
            </a:endParaRP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Premature rupture of membranes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Post-term </a:t>
            </a:r>
            <a:r>
              <a:rPr lang="en-US" sz="2400" dirty="0" smtClean="0">
                <a:solidFill>
                  <a:prstClr val="black"/>
                </a:solidFill>
              </a:rPr>
              <a:t>gestation</a:t>
            </a:r>
            <a:endParaRPr lang="en-US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496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>
                <a:solidFill>
                  <a:prstClr val="black"/>
                </a:solidFill>
              </a:rPr>
              <a:t>Multiple gestation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Discrepancy between fetal size and dates (i.e. last menstrual period)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Drug therapy (ex. Lithium carbonate, magnesium, adrenergic-blocking drugs</a:t>
            </a:r>
            <a:r>
              <a:rPr lang="en-US" sz="2400" dirty="0" smtClean="0">
                <a:solidFill>
                  <a:prstClr val="black"/>
                </a:solidFill>
              </a:rPr>
              <a:t>)</a:t>
            </a:r>
          </a:p>
          <a:p>
            <a:pPr lvl="0"/>
            <a:r>
              <a:rPr lang="en-US" sz="2400" dirty="0" smtClean="0">
                <a:solidFill>
                  <a:prstClr val="black"/>
                </a:solidFill>
              </a:rPr>
              <a:t>Maternal </a:t>
            </a:r>
            <a:r>
              <a:rPr lang="en-US" sz="2400" dirty="0">
                <a:solidFill>
                  <a:prstClr val="black"/>
                </a:solidFill>
              </a:rPr>
              <a:t>substance abuse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Fetal malformation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Diminished fetal activity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No prenatal care</a:t>
            </a: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Maternal age &lt; 16 or &gt; 35 year</a:t>
            </a:r>
            <a:r>
              <a:rPr lang="en-US" sz="2000" dirty="0">
                <a:solidFill>
                  <a:prstClr val="black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539455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Risk factors…cont’d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/>
              <a:t>Intrapartum risk factors</a:t>
            </a:r>
          </a:p>
          <a:p>
            <a:r>
              <a:rPr lang="en-US" sz="2400" dirty="0" smtClean="0"/>
              <a:t>Emergency cesarean section</a:t>
            </a:r>
          </a:p>
          <a:p>
            <a:r>
              <a:rPr lang="en-US" sz="2400" dirty="0" smtClean="0"/>
              <a:t>Forceps or vacuum-assisted delivery</a:t>
            </a:r>
          </a:p>
          <a:p>
            <a:r>
              <a:rPr lang="en-US" sz="2400" dirty="0" smtClean="0"/>
              <a:t>Breech or other abnormal presentation</a:t>
            </a:r>
          </a:p>
          <a:p>
            <a:r>
              <a:rPr lang="en-US" sz="2400" dirty="0" smtClean="0"/>
              <a:t>Preterm labor </a:t>
            </a:r>
          </a:p>
          <a:p>
            <a:r>
              <a:rPr lang="en-US" sz="2400" dirty="0" smtClean="0"/>
              <a:t>Precipitous labor</a:t>
            </a:r>
          </a:p>
          <a:p>
            <a:r>
              <a:rPr lang="en-US" sz="2400" dirty="0" smtClean="0"/>
              <a:t>Chorioamnionitis </a:t>
            </a:r>
          </a:p>
          <a:p>
            <a:r>
              <a:rPr lang="en-US" sz="2400" dirty="0" smtClean="0"/>
              <a:t>Prolonged rupture of membranes(&gt; 18 hours before delivery)</a:t>
            </a:r>
          </a:p>
          <a:p>
            <a:r>
              <a:rPr lang="en-US" sz="2400" dirty="0" smtClean="0"/>
              <a:t>Prolonged labor (&gt; 24 hours)</a:t>
            </a:r>
          </a:p>
          <a:p>
            <a:pPr marL="0" indent="0">
              <a:buNone/>
            </a:pPr>
            <a:endParaRPr lang="en-US" sz="24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5729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…cont’d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Prolonged second stage of labor (&gt; 2 hours)</a:t>
            </a:r>
          </a:p>
          <a:p>
            <a:r>
              <a:rPr lang="en-US" sz="2400" dirty="0" smtClean="0"/>
              <a:t>Fetal bradycardia</a:t>
            </a:r>
          </a:p>
          <a:p>
            <a:r>
              <a:rPr lang="en-US" sz="2400" dirty="0" smtClean="0"/>
              <a:t>Nonreassuring fetal heart rate pattern</a:t>
            </a:r>
          </a:p>
          <a:p>
            <a:r>
              <a:rPr lang="en-US" sz="2400" dirty="0" smtClean="0"/>
              <a:t>Use of general anesthesia</a:t>
            </a:r>
          </a:p>
          <a:p>
            <a:r>
              <a:rPr lang="en-US" sz="2400" dirty="0" smtClean="0"/>
              <a:t>Uterine tetany</a:t>
            </a:r>
          </a:p>
          <a:p>
            <a:r>
              <a:rPr lang="en-US" sz="2400" dirty="0" smtClean="0"/>
              <a:t>Maternal administration of opioids within 4 hours of delivery</a:t>
            </a:r>
          </a:p>
          <a:p>
            <a:r>
              <a:rPr lang="en-US" sz="2400" dirty="0" smtClean="0"/>
              <a:t>Meconium-stained amniotic fluid</a:t>
            </a:r>
          </a:p>
          <a:p>
            <a:r>
              <a:rPr lang="en-US" sz="2400" dirty="0" smtClean="0"/>
              <a:t>Prolapsed cord</a:t>
            </a:r>
          </a:p>
          <a:p>
            <a:r>
              <a:rPr lang="en-US" sz="2400" dirty="0" smtClean="0"/>
              <a:t>Placental abruption</a:t>
            </a:r>
          </a:p>
          <a:p>
            <a:r>
              <a:rPr lang="en-US" sz="2400" dirty="0" smtClean="0"/>
              <a:t>Placenta previa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3875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85896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Causes of neonatal depression under general anesthesia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05000"/>
            <a:ext cx="8229600" cy="4221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Physiologic causes</a:t>
            </a:r>
          </a:p>
          <a:p>
            <a:r>
              <a:rPr lang="en-US" sz="2800" dirty="0" smtClean="0"/>
              <a:t>Maternal hypoventilation</a:t>
            </a:r>
          </a:p>
          <a:p>
            <a:r>
              <a:rPr lang="en-US" sz="2800" dirty="0" smtClean="0"/>
              <a:t>Maternal hyperventilation</a:t>
            </a:r>
          </a:p>
          <a:p>
            <a:r>
              <a:rPr lang="en-US" sz="2800" dirty="0" smtClean="0"/>
              <a:t>Reduced uteroplacental perfusion due to aortocaval compression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1547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...cont’d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Pharmacological causes</a:t>
                </a:r>
              </a:p>
              <a:p>
                <a:r>
                  <a:rPr lang="en-US" dirty="0"/>
                  <a:t>Induction agents</a:t>
                </a:r>
              </a:p>
              <a:p>
                <a:r>
                  <a:rPr lang="en-US" dirty="0"/>
                  <a:t>Neuromuscular blockers</a:t>
                </a:r>
              </a:p>
              <a:p>
                <a:r>
                  <a:rPr lang="en-US" dirty="0"/>
                  <a:t>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concentration</a:t>
                </a:r>
              </a:p>
              <a:p>
                <a:r>
                  <a:rPr lang="en-US" dirty="0"/>
                  <a:t>Nitrous oxide and other inhalation agents</a:t>
                </a:r>
              </a:p>
              <a:p>
                <a:r>
                  <a:rPr lang="en-US" dirty="0"/>
                  <a:t>Effects of prolonged induction-delivery and uterine incision-delivery intervals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 b="-5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3884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10668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Mechanisms of fetal acidosis following maternal hyperventilation</a:t>
            </a:r>
            <a:endParaRPr lang="en-US" sz="2800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95400"/>
            <a:ext cx="8229600" cy="4830765"/>
          </a:xfrm>
        </p:spPr>
      </p:pic>
    </p:spTree>
    <p:extLst>
      <p:ext uri="{BB962C8B-B14F-4D97-AF65-F5344CB8AC3E}">
        <p14:creationId xmlns:p14="http://schemas.microsoft.com/office/powerpoint/2010/main" val="2155068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Assessing the newborn</a:t>
            </a:r>
            <a:endParaRPr lang="en-US" sz="2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4308928"/>
              </p:ext>
            </p:extLst>
          </p:nvPr>
        </p:nvGraphicFramePr>
        <p:xfrm>
          <a:off x="457200" y="2057402"/>
          <a:ext cx="8229600" cy="3657598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471948">
                <a:tc gridSpan="4">
                  <a:txBody>
                    <a:bodyPr/>
                    <a:lstStyle/>
                    <a:p>
                      <a:r>
                        <a:rPr lang="en-US" dirty="0" smtClean="0"/>
                        <a:t>                                                           score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71948">
                <a:tc gridSpan="4">
                  <a:txBody>
                    <a:bodyPr/>
                    <a:lstStyle/>
                    <a:p>
                      <a:r>
                        <a:rPr lang="en-US" dirty="0" smtClean="0"/>
                        <a:t>Sign                                       0                                          1                                       2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825910">
                <a:tc>
                  <a:txBody>
                    <a:bodyPr/>
                    <a:lstStyle/>
                    <a:p>
                      <a:r>
                        <a:rPr lang="en-US" dirty="0" smtClean="0"/>
                        <a:t>Appearance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Blue , pale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Pink body,</a:t>
                      </a:r>
                    </a:p>
                    <a:p>
                      <a:r>
                        <a:rPr lang="en-US" dirty="0" smtClean="0"/>
                        <a:t>Blue</a:t>
                      </a:r>
                      <a:r>
                        <a:rPr lang="en-US" baseline="0" dirty="0" smtClean="0"/>
                        <a:t> extremity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Pink all over</a:t>
                      </a:r>
                      <a:endParaRPr lang="en-US" dirty="0"/>
                    </a:p>
                  </a:txBody>
                  <a:tcPr/>
                </a:tc>
              </a:tr>
              <a:tr h="471948">
                <a:tc>
                  <a:txBody>
                    <a:bodyPr/>
                    <a:lstStyle/>
                    <a:p>
                      <a:r>
                        <a:rPr lang="en-US" dirty="0" smtClean="0"/>
                        <a:t>Pulse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Absent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&lt; 100</a:t>
                      </a:r>
                      <a:r>
                        <a:rPr lang="en-US" baseline="0" dirty="0" smtClean="0"/>
                        <a:t> / min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&gt;</a:t>
                      </a:r>
                      <a:r>
                        <a:rPr lang="en-US" baseline="0" dirty="0" smtClean="0"/>
                        <a:t> 100 / min</a:t>
                      </a:r>
                      <a:endParaRPr lang="en-US" dirty="0"/>
                    </a:p>
                  </a:txBody>
                  <a:tcPr/>
                </a:tc>
              </a:tr>
              <a:tr h="471948">
                <a:tc>
                  <a:txBody>
                    <a:bodyPr/>
                    <a:lstStyle/>
                    <a:p>
                      <a:r>
                        <a:rPr lang="en-US" dirty="0" smtClean="0"/>
                        <a:t>Grimace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baseline="0" dirty="0" smtClean="0"/>
                        <a:t>No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 response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Some response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Cry, cough</a:t>
                      </a:r>
                      <a:endParaRPr lang="en-US" dirty="0"/>
                    </a:p>
                  </a:txBody>
                  <a:tcPr/>
                </a:tc>
              </a:tr>
              <a:tr h="471948">
                <a:tc>
                  <a:txBody>
                    <a:bodyPr/>
                    <a:lstStyle/>
                    <a:p>
                      <a:r>
                        <a:rPr lang="en-US" dirty="0" smtClean="0"/>
                        <a:t>Activity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Some flexion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Active motion</a:t>
                      </a:r>
                      <a:endParaRPr lang="en-US" dirty="0"/>
                    </a:p>
                  </a:txBody>
                  <a:tcPr/>
                </a:tc>
              </a:tr>
              <a:tr h="471948">
                <a:tc>
                  <a:txBody>
                    <a:bodyPr/>
                    <a:lstStyle/>
                    <a:p>
                      <a:r>
                        <a:rPr lang="en-US" dirty="0" smtClean="0"/>
                        <a:t>Respiration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Absent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Slow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Strong cry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819400" y="1295400"/>
            <a:ext cx="464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prstClr val="black"/>
                </a:solidFill>
              </a:rPr>
              <a:t>Apgar score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85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Equipment for newborn resuscitation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flat surface</a:t>
            </a:r>
          </a:p>
          <a:p>
            <a:r>
              <a:rPr lang="en-US" dirty="0" smtClean="0"/>
              <a:t>Radiant heat source and dry towels</a:t>
            </a:r>
          </a:p>
          <a:p>
            <a:r>
              <a:rPr lang="en-US" dirty="0" smtClean="0"/>
              <a:t>Suction with catheters </a:t>
            </a:r>
          </a:p>
          <a:p>
            <a:r>
              <a:rPr lang="en-US" dirty="0"/>
              <a:t>Bag and f</a:t>
            </a:r>
            <a:r>
              <a:rPr lang="en-US" dirty="0" smtClean="0"/>
              <a:t>ace masks</a:t>
            </a:r>
          </a:p>
          <a:p>
            <a:r>
              <a:rPr lang="en-US" dirty="0" smtClean="0"/>
              <a:t>Source of air and/ oxygen</a:t>
            </a:r>
          </a:p>
          <a:p>
            <a:r>
              <a:rPr lang="en-US" dirty="0" err="1" smtClean="0"/>
              <a:t>Oropharyngeal</a:t>
            </a:r>
            <a:r>
              <a:rPr lang="en-US" dirty="0" smtClean="0"/>
              <a:t> </a:t>
            </a:r>
            <a:r>
              <a:rPr lang="en-US" dirty="0" err="1" smtClean="0"/>
              <a:t>Guedel</a:t>
            </a:r>
            <a:r>
              <a:rPr lang="en-US" dirty="0" smtClean="0"/>
              <a:t> airways</a:t>
            </a:r>
          </a:p>
          <a:p>
            <a:r>
              <a:rPr lang="en-US" dirty="0" smtClean="0"/>
              <a:t>Nasogastric tubes</a:t>
            </a:r>
          </a:p>
          <a:p>
            <a:r>
              <a:rPr lang="en-US" dirty="0" smtClean="0"/>
              <a:t>Cord clamp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177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Equipment…cont’d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Scissors</a:t>
            </a:r>
          </a:p>
          <a:p>
            <a:r>
              <a:rPr lang="en-US" dirty="0" smtClean="0"/>
              <a:t>Tracheal tubes, LMA</a:t>
            </a:r>
          </a:p>
          <a:p>
            <a:r>
              <a:rPr lang="en-US" dirty="0" smtClean="0"/>
              <a:t>Umbilical catheterization equipment</a:t>
            </a:r>
          </a:p>
          <a:p>
            <a:r>
              <a:rPr lang="en-US" dirty="0" smtClean="0"/>
              <a:t>Adhesive tape</a:t>
            </a:r>
          </a:p>
          <a:p>
            <a:r>
              <a:rPr lang="en-US" dirty="0" smtClean="0"/>
              <a:t>Disposable gloves</a:t>
            </a:r>
          </a:p>
          <a:p>
            <a:r>
              <a:rPr lang="en-US" dirty="0" smtClean="0"/>
              <a:t>Plastic bag for preterm babies</a:t>
            </a:r>
          </a:p>
          <a:p>
            <a:r>
              <a:rPr lang="en-US" dirty="0" smtClean="0"/>
              <a:t>Saturation monitor, cardiac monitor, stethoscope and clock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4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Medications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800" b="1" dirty="0">
                <a:solidFill>
                  <a:prstClr val="black"/>
                </a:solidFill>
              </a:rPr>
              <a:t>Medications and solutions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Epinephrine 1:10,000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Naloxone hydrochloride (0.02 mg/ml in 2 ml ampules)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Albumin, 5% solution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Volume expanders – N/S,R/L, dextrose 10% (250 ml)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Sterile water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Sodium bicarbonate (4.2%in 10 ml ampules)</a:t>
            </a:r>
          </a:p>
        </p:txBody>
      </p:sp>
    </p:spTree>
    <p:extLst>
      <p:ext uri="{BB962C8B-B14F-4D97-AF65-F5344CB8AC3E}">
        <p14:creationId xmlns:p14="http://schemas.microsoft.com/office/powerpoint/2010/main" val="1602860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Assessing the newborn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Note the time of birth</a:t>
            </a:r>
          </a:p>
          <a:p>
            <a:r>
              <a:rPr lang="en-US" dirty="0" smtClean="0"/>
              <a:t>Do not immediately clamp the cord unless there is a need for immediate resuscitation</a:t>
            </a:r>
          </a:p>
          <a:p>
            <a:r>
              <a:rPr lang="en-US" dirty="0" smtClean="0"/>
              <a:t>Dry the baby quickly</a:t>
            </a:r>
          </a:p>
          <a:p>
            <a:r>
              <a:rPr lang="en-US" dirty="0" smtClean="0"/>
              <a:t>While keeping the baby warm, make an initial assessment</a:t>
            </a:r>
          </a:p>
          <a:p>
            <a:pPr>
              <a:buFontTx/>
              <a:buChar char="-"/>
            </a:pPr>
            <a:r>
              <a:rPr lang="en-US" dirty="0" smtClean="0"/>
              <a:t>Respiration </a:t>
            </a:r>
          </a:p>
          <a:p>
            <a:pPr>
              <a:buFontTx/>
              <a:buChar char="-"/>
            </a:pPr>
            <a:r>
              <a:rPr lang="en-US" dirty="0" smtClean="0"/>
              <a:t>Heart rate </a:t>
            </a:r>
          </a:p>
          <a:p>
            <a:pPr>
              <a:buFontTx/>
              <a:buChar char="-"/>
            </a:pPr>
            <a:r>
              <a:rPr lang="en-US" dirty="0" smtClean="0"/>
              <a:t>Color</a:t>
            </a:r>
          </a:p>
          <a:p>
            <a:pPr>
              <a:buFontTx/>
              <a:buChar char="-"/>
            </a:pPr>
            <a:r>
              <a:rPr lang="en-US" dirty="0" smtClean="0"/>
              <a:t>Tone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827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in neonatal resuscitation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Airway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Breathing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Circulation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47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Airway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60198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Placing the neonate under radiant heat source and drying- up immediately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Cleaning and establishing an open airway</a:t>
            </a:r>
          </a:p>
          <a:p>
            <a:r>
              <a:rPr lang="en-US" sz="2800" dirty="0" smtClean="0">
                <a:solidFill>
                  <a:prstClr val="black"/>
                </a:solidFill>
              </a:rPr>
              <a:t>Position </a:t>
            </a:r>
            <a:r>
              <a:rPr lang="en-US" sz="2800" dirty="0">
                <a:solidFill>
                  <a:prstClr val="black"/>
                </a:solidFill>
              </a:rPr>
              <a:t>the neonate in a slight head down position with the neck slightly extended</a:t>
            </a:r>
          </a:p>
          <a:p>
            <a:pPr lvl="0"/>
            <a:r>
              <a:rPr lang="en-US" sz="2800" dirty="0" smtClean="0">
                <a:solidFill>
                  <a:prstClr val="black"/>
                </a:solidFill>
              </a:rPr>
              <a:t>Suctioning</a:t>
            </a:r>
          </a:p>
          <a:p>
            <a:pPr lvl="0"/>
            <a:r>
              <a:rPr lang="en-US" sz="2800" dirty="0" smtClean="0">
                <a:solidFill>
                  <a:prstClr val="black"/>
                </a:solidFill>
              </a:rPr>
              <a:t>Avoid vigorous nasal suctioning or too deep insertion of the bulb syringe suction</a:t>
            </a:r>
            <a:endParaRPr lang="en-US" sz="2800" dirty="0">
              <a:solidFill>
                <a:prstClr val="black"/>
              </a:solidFill>
            </a:endParaRP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In the presence of meconium stained fluid, thin or thick resuscitation will depend on the condition of the neonate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75750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2800" dirty="0" smtClean="0"/>
              <a:t>Breathing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000" b="1" dirty="0" smtClean="0"/>
          </a:p>
          <a:p>
            <a:r>
              <a:rPr lang="en-US" sz="2800" dirty="0" smtClean="0"/>
              <a:t>Majority of the neonate start breathing spontaneously </a:t>
            </a:r>
          </a:p>
          <a:p>
            <a:r>
              <a:rPr lang="en-US" sz="2800" dirty="0" smtClean="0"/>
              <a:t>In few cases tactile stimulation will be necessary to initiate respiration</a:t>
            </a:r>
          </a:p>
          <a:p>
            <a:r>
              <a:rPr lang="en-US" sz="2800" dirty="0" smtClean="0"/>
              <a:t>In the absence of respiratory effort and movement start positive pressure bag mask ventilation using a bag mask </a:t>
            </a:r>
          </a:p>
          <a:p>
            <a:r>
              <a:rPr lang="en-US" sz="2800" dirty="0" smtClean="0"/>
              <a:t>Using room air rather than 100% oxygen is preferable for neonatal resuscitation. However, if there is no improvement after 90 seconds, use a higher concentration oxygen.</a:t>
            </a:r>
          </a:p>
        </p:txBody>
      </p:sp>
    </p:spTree>
    <p:extLst>
      <p:ext uri="{BB962C8B-B14F-4D97-AF65-F5344CB8AC3E}">
        <p14:creationId xmlns:p14="http://schemas.microsoft.com/office/powerpoint/2010/main" val="221941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Breathing …cont’d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>
                <a:solidFill>
                  <a:prstClr val="black"/>
                </a:solidFill>
              </a:rPr>
              <a:t>Ventilate at the rate of 40 breaths per minute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Observe chest movement and confirm adequacy of ventilation by listening bilateral breath sounds.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If the heart rate and color do not improve after adequate ventilation or if ventilation is difficult , endotracheal intubation may be necessary(LMA)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If mask ventilation is needed for longer than 2 to 3 minutes, the stomach should be emptied with an </a:t>
            </a:r>
            <a:r>
              <a:rPr lang="en-US" sz="2800" dirty="0" err="1">
                <a:solidFill>
                  <a:prstClr val="black"/>
                </a:solidFill>
              </a:rPr>
              <a:t>orogastric</a:t>
            </a:r>
            <a:r>
              <a:rPr lang="en-US" sz="2800" dirty="0">
                <a:solidFill>
                  <a:prstClr val="black"/>
                </a:solidFill>
              </a:rPr>
              <a:t> catheter.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9492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2800" b="1" dirty="0"/>
              <a:t>C</a:t>
            </a:r>
            <a:r>
              <a:rPr lang="en-US" sz="2800" b="1" dirty="0" smtClean="0"/>
              <a:t>irculation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 smtClean="0"/>
          </a:p>
          <a:p>
            <a:r>
              <a:rPr lang="en-US" sz="3000" dirty="0" smtClean="0"/>
              <a:t>In majority of resuscitations, the neonates respond to ventilatory support</a:t>
            </a:r>
          </a:p>
          <a:p>
            <a:r>
              <a:rPr lang="en-US" sz="3000" dirty="0" smtClean="0"/>
              <a:t>Chest compressions are needed in only 0.03% of deliveries</a:t>
            </a:r>
          </a:p>
          <a:p>
            <a:r>
              <a:rPr lang="en-US" sz="3000" dirty="0" smtClean="0"/>
              <a:t>Chest compressions are indicated when the heart rate is less than 60 beats per minute despite adequate </a:t>
            </a:r>
            <a:r>
              <a:rPr lang="en-US" sz="3000" dirty="0"/>
              <a:t>v</a:t>
            </a:r>
            <a:r>
              <a:rPr lang="en-US" sz="3000" dirty="0" smtClean="0"/>
              <a:t>entilation with supplemental oxygen for 30 seconds.</a:t>
            </a:r>
          </a:p>
          <a:p>
            <a:pPr marL="0" indent="0">
              <a:buNone/>
            </a:pPr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261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Chest compression can be done with two fingers of one hand or with the thumbs of both hands.</a:t>
            </a:r>
          </a:p>
          <a:p>
            <a:r>
              <a:rPr lang="en-US" sz="2400" dirty="0"/>
              <a:t>Medications and volume expanders can be </a:t>
            </a:r>
            <a:r>
              <a:rPr lang="en-US" sz="2400" dirty="0" smtClean="0"/>
              <a:t>used</a:t>
            </a:r>
            <a:endParaRPr lang="en-US" sz="2400" dirty="0"/>
          </a:p>
          <a:p>
            <a:endParaRPr lang="en-US" dirty="0"/>
          </a:p>
        </p:txBody>
      </p:sp>
      <p:pic>
        <p:nvPicPr>
          <p:cNvPr id="4" name="Content Placeholder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547215">
            <a:off x="441065" y="3190958"/>
            <a:ext cx="2084806" cy="2417808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007" y="3218762"/>
            <a:ext cx="2761878" cy="2362200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256862"/>
            <a:ext cx="28194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737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Algorithms for resuscitation of the newly born infant</a:t>
            </a:r>
            <a:endParaRPr lang="en-US" sz="2800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90600"/>
            <a:ext cx="7772400" cy="5715000"/>
          </a:xfrm>
        </p:spPr>
      </p:pic>
    </p:spTree>
    <p:extLst>
      <p:ext uri="{BB962C8B-B14F-4D97-AF65-F5344CB8AC3E}">
        <p14:creationId xmlns:p14="http://schemas.microsoft.com/office/powerpoint/2010/main" val="1573640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Treatment of moderately depressed infant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 smtClean="0"/>
                  <a:t>Positive pressure ventilation by face mask and with air or </a:t>
                </a:r>
                <a:r>
                  <a:rPr lang="en-US" sz="2800" dirty="0" smtClean="0"/>
                  <a:t>100</a:t>
                </a:r>
                <a:r>
                  <a:rPr lang="en-US" sz="2800" dirty="0" smtClean="0"/>
                  <a:t>%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 smtClean="0"/>
                  <a:t> at a rate of 40 to 60 breaths/minute, initial pressure 30 to 40 cm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 smtClean="0"/>
                  <a:t>O then 15 to 20 cm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 b="0" i="0" smtClean="0">
                        <a:latin typeface="Cambria Math"/>
                      </a:rPr>
                      <m:t>O</m:t>
                    </m:r>
                  </m:oMath>
                </a14:m>
                <a:endParaRPr lang="en-US" sz="2800" dirty="0" smtClean="0"/>
              </a:p>
              <a:p>
                <a:endParaRPr lang="en-US" sz="2800" dirty="0"/>
              </a:p>
              <a:p>
                <a:r>
                  <a:rPr lang="en-US" sz="2800" dirty="0" smtClean="0"/>
                  <a:t>Small plastic oropharyngeal air way</a:t>
                </a:r>
              </a:p>
              <a:p>
                <a:endParaRPr lang="en-US" sz="2800" dirty="0"/>
              </a:p>
              <a:p>
                <a:r>
                  <a:rPr lang="en-US" sz="2800" dirty="0" smtClean="0"/>
                  <a:t>If after 30 seconds of ventilation the heart rate is &lt; 60/minute, chest compression should be started. </a:t>
                </a:r>
                <a:endParaRPr lang="en-US" sz="2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3946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Treatment of severely depressed infants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1"/>
                <a:ext cx="8229600" cy="4830763"/>
              </a:xfrm>
            </p:spPr>
            <p:txBody>
              <a:bodyPr>
                <a:noAutofit/>
              </a:bodyPr>
              <a:lstStyle/>
              <a:p>
                <a:pPr>
                  <a:buFont typeface="Courier New" pitchFamily="49" charset="0"/>
                  <a:buChar char="o"/>
                </a:pPr>
                <a:r>
                  <a:rPr lang="en-US" sz="2800" dirty="0"/>
                  <a:t>If the amniotic fluid is stained with meconium ; inspect the glottis with laryngoscope, if meconium is visible intubate and suction the trachea before ventilation</a:t>
                </a:r>
              </a:p>
              <a:p>
                <a:pPr>
                  <a:buFont typeface="Courier New" pitchFamily="49" charset="0"/>
                  <a:buChar char="o"/>
                </a:pPr>
                <a:r>
                  <a:rPr lang="en-US" sz="2800" dirty="0" smtClean="0"/>
                  <a:t>Ventilation with 100%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 smtClean="0"/>
              </a:p>
              <a:p>
                <a:pPr>
                  <a:buFont typeface="Courier New" pitchFamily="49" charset="0"/>
                  <a:buChar char="o"/>
                </a:pPr>
                <a:r>
                  <a:rPr lang="en-US" sz="2800" dirty="0" smtClean="0"/>
                  <a:t>They may require 3 to 8 minutes of artificial ventilation before spontaneous respiration efforts are made</a:t>
                </a:r>
              </a:p>
              <a:p>
                <a:pPr>
                  <a:buFont typeface="Courier New" pitchFamily="49" charset="0"/>
                  <a:buChar char="o"/>
                </a:pPr>
                <a:r>
                  <a:rPr lang="en-US" sz="2800" dirty="0" smtClean="0"/>
                  <a:t>Remove the endotracheal tube when they maintain quite and sustained respiration and heart rate is constantly &gt; 100/minute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1"/>
                <a:ext cx="8229600" cy="4830763"/>
              </a:xfrm>
              <a:blipFill rotWithShape="1">
                <a:blip r:embed="rId2"/>
                <a:stretch>
                  <a:fillRect l="-1259" t="-1136" r="-815" b="-7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9856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…cont’d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buFont typeface="Courier New" pitchFamily="49" charset="0"/>
              <a:buChar char="o"/>
            </a:pPr>
            <a:r>
              <a:rPr lang="en-US" sz="2800" dirty="0">
                <a:solidFill>
                  <a:prstClr val="black"/>
                </a:solidFill>
              </a:rPr>
              <a:t>If heart rate is &lt; 60/minute despite adequate ventilation for 30 seconds, chest compression should be initiated </a:t>
            </a:r>
          </a:p>
          <a:p>
            <a:pPr lvl="0">
              <a:buFont typeface="Courier New" pitchFamily="49" charset="0"/>
              <a:buChar char="o"/>
            </a:pPr>
            <a:r>
              <a:rPr lang="en-US" sz="2800" dirty="0">
                <a:solidFill>
                  <a:prstClr val="black"/>
                </a:solidFill>
              </a:rPr>
              <a:t>Recommended technique of chest compression is a two hand technique →fingers encircle the thorax and the two thumbs depress the sternum to a depth of one third the anterior posterior diameter of the chest at a rate of 90/minute in the ratio of 3:1</a:t>
            </a:r>
          </a:p>
          <a:p>
            <a:pPr lvl="0">
              <a:buFont typeface="Courier New" pitchFamily="49" charset="0"/>
              <a:buChar char="o"/>
            </a:pPr>
            <a:r>
              <a:rPr lang="en-US" sz="2800" dirty="0">
                <a:solidFill>
                  <a:prstClr val="black"/>
                </a:solidFill>
              </a:rPr>
              <a:t>Cardiac message and ventilation should be maintained until heart rate exceeds 100 beats/minute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80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39762"/>
          </a:xfrm>
        </p:spPr>
        <p:txBody>
          <a:bodyPr>
            <a:noAutofit/>
          </a:bodyPr>
          <a:lstStyle/>
          <a:p>
            <a:r>
              <a:rPr lang="en-US" sz="2800" dirty="0" smtClean="0"/>
              <a:t>Treatment…cont’d</a:t>
            </a:r>
            <a:br>
              <a:rPr lang="en-US" sz="2800" dirty="0" smtClean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Autofit/>
          </a:bodyPr>
          <a:lstStyle/>
          <a:p>
            <a:r>
              <a:rPr lang="en-US" sz="2800" dirty="0" smtClean="0"/>
              <a:t>Sodium bicarbonate – for persistent </a:t>
            </a:r>
            <a:r>
              <a:rPr lang="en-US" sz="2800" dirty="0" err="1" smtClean="0"/>
              <a:t>acidemia</a:t>
            </a:r>
            <a:r>
              <a:rPr lang="en-US" sz="2800" dirty="0" smtClean="0"/>
              <a:t>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- dose    2 mEq /kg IV</a:t>
            </a:r>
          </a:p>
          <a:p>
            <a:r>
              <a:rPr lang="en-US" sz="2800" dirty="0" smtClean="0"/>
              <a:t>Naloxone – if maternal opioid medication</a:t>
            </a:r>
          </a:p>
          <a:p>
            <a:pPr marL="0" indent="0">
              <a:buNone/>
            </a:pPr>
            <a:r>
              <a:rPr lang="en-US" sz="2800" dirty="0" smtClean="0"/>
              <a:t>       - dose    0.1 mg/kg IV, IM,SQ,IT</a:t>
            </a:r>
          </a:p>
          <a:p>
            <a:r>
              <a:rPr lang="en-US" sz="2800" dirty="0" smtClean="0"/>
              <a:t>Epinephrine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-  To treat asystol or   persistent bradycardia &lt; 60</a:t>
            </a:r>
          </a:p>
          <a:p>
            <a:pPr marL="0" indent="0">
              <a:buNone/>
            </a:pPr>
            <a:r>
              <a:rPr lang="en-US" sz="2800" dirty="0" smtClean="0"/>
              <a:t>       beats/minute) despite 30 seconds of effective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ventilation and external cardiac massage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- dose 0.01 to 0.03 mg/kg  1:10,000 solution should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be</a:t>
            </a:r>
            <a:r>
              <a:rPr lang="en-US" sz="2800" dirty="0"/>
              <a:t> </a:t>
            </a:r>
            <a:r>
              <a:rPr lang="en-US" sz="2800" dirty="0" smtClean="0"/>
              <a:t>injected intravenously or by endotracheal tube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0145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Treatment…cont’d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Hypovolumia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- it usually follows severe birth asphyxia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- N/S or R/L 10 ml/kg over 5 to 10 minutes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- if blood loss is suspected similar volume of O negative 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blood</a:t>
            </a:r>
          </a:p>
          <a:p>
            <a:r>
              <a:rPr lang="en-US" sz="2800" dirty="0" smtClean="0"/>
              <a:t>After the neonate is successfully resuscitated and stabilized, several diagnostic procedures are indicated to rule out congenital anomalies</a:t>
            </a:r>
          </a:p>
          <a:p>
            <a:r>
              <a:rPr lang="en-US" sz="2800" dirty="0" smtClean="0"/>
              <a:t>Communication and coordination between surgical , pediatric, anesthesia and nursing team is mandatory for successful outcomes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51925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Therapeutic guide lines for neonatal resuscitation</a:t>
            </a:r>
            <a:endParaRPr lang="en-US" sz="2800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2" y="990600"/>
            <a:ext cx="8153399" cy="5257800"/>
          </a:xfrm>
        </p:spPr>
      </p:pic>
    </p:spTree>
    <p:extLst>
      <p:ext uri="{BB962C8B-B14F-4D97-AF65-F5344CB8AC3E}">
        <p14:creationId xmlns:p14="http://schemas.microsoft.com/office/powerpoint/2010/main" val="3805161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Intubation of the neonate</a:t>
            </a:r>
            <a:endParaRPr lang="en-US" sz="2800" dirty="0"/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438400"/>
            <a:ext cx="5310588" cy="3973032"/>
          </a:xfrm>
        </p:spPr>
      </p:pic>
      <p:sp>
        <p:nvSpPr>
          <p:cNvPr id="6" name="TextBox 5"/>
          <p:cNvSpPr txBox="1"/>
          <p:nvPr/>
        </p:nvSpPr>
        <p:spPr>
          <a:xfrm>
            <a:off x="152401" y="1258669"/>
            <a:ext cx="876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prstClr val="black"/>
                </a:solidFill>
              </a:rPr>
              <a:t>The head is placed in neutral position, and the laryngoscope handle is held with the thumb and index finger as the chine is supported with the remaining fingers. </a:t>
            </a:r>
            <a:endParaRPr lang="en-US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59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Congenital anomalies associated with neonatal cardiopulmonary resuscitation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Choanal atresia</a:t>
            </a:r>
          </a:p>
          <a:p>
            <a:r>
              <a:rPr lang="en-US" dirty="0" smtClean="0"/>
              <a:t>The Pierre Robin syndrome</a:t>
            </a:r>
          </a:p>
          <a:p>
            <a:r>
              <a:rPr lang="en-US" dirty="0" smtClean="0"/>
              <a:t>Anomalies of the larynx</a:t>
            </a:r>
          </a:p>
          <a:p>
            <a:r>
              <a:rPr lang="en-US" dirty="0" smtClean="0"/>
              <a:t>Anomalies of the trachea</a:t>
            </a:r>
          </a:p>
          <a:p>
            <a:r>
              <a:rPr lang="en-US" dirty="0" smtClean="0"/>
              <a:t>Esophageal atresia and tracheoesophageal fistula</a:t>
            </a:r>
          </a:p>
          <a:p>
            <a:r>
              <a:rPr lang="en-US" dirty="0" smtClean="0"/>
              <a:t>Congenital bronchial stenosis</a:t>
            </a:r>
          </a:p>
          <a:p>
            <a:r>
              <a:rPr lang="en-US" dirty="0" smtClean="0"/>
              <a:t>Congenital diaphragmatic hernia</a:t>
            </a:r>
          </a:p>
          <a:p>
            <a:r>
              <a:rPr lang="en-US" dirty="0" smtClean="0"/>
              <a:t>pneumothorax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33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Meconium aspiration syndrome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800" dirty="0" smtClean="0">
                <a:solidFill>
                  <a:prstClr val="black"/>
                </a:solidFill>
              </a:rPr>
              <a:t>Meconium </a:t>
            </a:r>
            <a:endParaRPr lang="en-US" sz="2800" dirty="0">
              <a:solidFill>
                <a:prstClr val="black"/>
              </a:solidFill>
            </a:endParaRP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Meconium is present in the intestinal tract of the fetus after approximately 31 week’s of gestation,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Meconium stained amniotic fluid is present in approximately 10% to 15% of all pregnancies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The incidence is higher in post-term pregnancies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Hypoxia and fetal distress is associated with intra partum passage of meconium</a:t>
            </a:r>
          </a:p>
        </p:txBody>
      </p:sp>
    </p:spTree>
    <p:extLst>
      <p:ext uri="{BB962C8B-B14F-4D97-AF65-F5344CB8AC3E}">
        <p14:creationId xmlns:p14="http://schemas.microsoft.com/office/powerpoint/2010/main" val="29692794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Meconium aspiration syndrome (MAS)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solidFill>
                  <a:prstClr val="black"/>
                </a:solidFill>
              </a:rPr>
              <a:t>It </a:t>
            </a:r>
            <a:r>
              <a:rPr lang="en-US" sz="2800" dirty="0">
                <a:solidFill>
                  <a:prstClr val="black"/>
                </a:solidFill>
              </a:rPr>
              <a:t>is defined as respiratory distress in a newborn whose airway was exposed to meconium and whose chest radiography shows pulmonary consolidation and atelectasis.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Inhalation of meconium can produce </a:t>
            </a:r>
            <a:endParaRPr lang="en-US" sz="2800" dirty="0" smtClean="0">
              <a:solidFill>
                <a:prstClr val="black"/>
              </a:solidFill>
            </a:endParaRPr>
          </a:p>
          <a:p>
            <a:pPr lvl="1"/>
            <a:r>
              <a:rPr lang="en-US" dirty="0" smtClean="0">
                <a:solidFill>
                  <a:prstClr val="black"/>
                </a:solidFill>
              </a:rPr>
              <a:t>chemical </a:t>
            </a:r>
            <a:r>
              <a:rPr lang="en-US" dirty="0">
                <a:solidFill>
                  <a:prstClr val="black"/>
                </a:solidFill>
              </a:rPr>
              <a:t>pneumonitis </a:t>
            </a:r>
          </a:p>
          <a:p>
            <a:pPr lvl="1"/>
            <a:r>
              <a:rPr lang="en-US" dirty="0" smtClean="0">
                <a:solidFill>
                  <a:prstClr val="black"/>
                </a:solidFill>
              </a:rPr>
              <a:t>plugging </a:t>
            </a:r>
            <a:r>
              <a:rPr lang="en-US" dirty="0">
                <a:solidFill>
                  <a:prstClr val="black"/>
                </a:solidFill>
              </a:rPr>
              <a:t>and obstruction of the airways with air trapping, and </a:t>
            </a:r>
            <a:endParaRPr lang="en-US" dirty="0" smtClean="0">
              <a:solidFill>
                <a:prstClr val="black"/>
              </a:solidFill>
            </a:endParaRPr>
          </a:p>
          <a:p>
            <a:pPr lvl="1"/>
            <a:r>
              <a:rPr lang="en-US" dirty="0" smtClean="0">
                <a:solidFill>
                  <a:prstClr val="black"/>
                </a:solidFill>
              </a:rPr>
              <a:t>consequent </a:t>
            </a:r>
            <a:r>
              <a:rPr lang="en-US" dirty="0">
                <a:solidFill>
                  <a:prstClr val="black"/>
                </a:solidFill>
              </a:rPr>
              <a:t>ventilation- perfusion </a:t>
            </a:r>
            <a:r>
              <a:rPr lang="en-US" dirty="0" smtClean="0">
                <a:solidFill>
                  <a:prstClr val="black"/>
                </a:solidFill>
              </a:rPr>
              <a:t>mismatch</a:t>
            </a:r>
            <a:endParaRPr lang="en-US" dirty="0">
              <a:solidFill>
                <a:prstClr val="black"/>
              </a:solidFill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8577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findings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>
                <a:solidFill>
                  <a:prstClr val="black"/>
                </a:solidFill>
              </a:rPr>
              <a:t>Presence of meconium at birth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Cyanosis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Retraction 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Tachypnea 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Grunting 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Hypoxia and acidosis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Pneumothorax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Persistent fetal circulation (in severe cases)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51323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Treatment of meconium aspiration</a:t>
            </a:r>
            <a:endParaRPr lang="en-US" sz="2800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43000"/>
            <a:ext cx="8305800" cy="5334000"/>
          </a:xfrm>
        </p:spPr>
      </p:pic>
    </p:spTree>
    <p:extLst>
      <p:ext uri="{BB962C8B-B14F-4D97-AF65-F5344CB8AC3E}">
        <p14:creationId xmlns:p14="http://schemas.microsoft.com/office/powerpoint/2010/main" val="64883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Treatment…cont’d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>
                <a:solidFill>
                  <a:prstClr val="black"/>
                </a:solidFill>
              </a:rPr>
              <a:t>Prevention is preferable to treatment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Intubation and suctioning of the larynx and trachea is preferable before initiation of positive pressure ventilation</a:t>
            </a: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Blood aspiration should be treated the same way as meconium aspiration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3648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Ethical considerations in neonatal resuscitation 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94208788"/>
                  </p:ext>
                </p:extLst>
              </p:nvPr>
            </p:nvGraphicFramePr>
            <p:xfrm>
              <a:off x="457200" y="1600200"/>
              <a:ext cx="8229600" cy="3840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/>
                    <a:gridCol w="2743200"/>
                    <a:gridCol w="27432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Conditions</a:t>
                          </a:r>
                          <a:r>
                            <a:rPr lang="en-US" baseline="0" dirty="0" smtClean="0"/>
                            <a:t> with high survival acceptable risk of morbidity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/>
                                </a:rPr>
                                <m:t>≥</m:t>
                              </m:r>
                            </m:oMath>
                          </a14:m>
                          <a:r>
                            <a:rPr lang="en-US" dirty="0" smtClean="0"/>
                            <a:t>25 weeks’ gestational age,</a:t>
                          </a:r>
                          <a:r>
                            <a:rPr lang="en-US" baseline="0" dirty="0" smtClean="0"/>
                            <a:t> most congenital malformations</a:t>
                          </a:r>
                          <a:endParaRPr lang="en-US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Resuscitation nearly</a:t>
                          </a:r>
                          <a:r>
                            <a:rPr lang="en-US" baseline="0" dirty="0" smtClean="0"/>
                            <a:t> always indicated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Conditions</a:t>
                          </a:r>
                          <a:r>
                            <a:rPr lang="en-US" baseline="0" dirty="0" smtClean="0"/>
                            <a:t> with poor prognosis, high risk of morbidity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23</a:t>
                          </a:r>
                          <a:r>
                            <a:rPr lang="en-US" baseline="0" dirty="0" smtClean="0"/>
                            <a:t> to 25 weeks’ gestational age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Parental desires about initiating /discontinuing resuscitation</a:t>
                          </a:r>
                          <a:r>
                            <a:rPr lang="en-US" baseline="0" dirty="0" smtClean="0"/>
                            <a:t> should be supported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Conditions with</a:t>
                          </a:r>
                          <a:r>
                            <a:rPr lang="en-US" baseline="0" dirty="0" smtClean="0"/>
                            <a:t> almost certain death or unacceptably high morbidity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&lt;23 weeks’ gestational age</a:t>
                          </a:r>
                        </a:p>
                        <a:p>
                          <a:r>
                            <a:rPr lang="en-US" dirty="0" smtClean="0"/>
                            <a:t>Birth weight &lt; 400g</a:t>
                          </a:r>
                        </a:p>
                        <a:p>
                          <a:r>
                            <a:rPr lang="en-US" dirty="0" smtClean="0"/>
                            <a:t>Anencephaly</a:t>
                          </a:r>
                        </a:p>
                        <a:p>
                          <a:r>
                            <a:rPr lang="en-US" dirty="0" smtClean="0"/>
                            <a:t>Chromosomal</a:t>
                          </a:r>
                          <a:r>
                            <a:rPr lang="en-US" baseline="0" dirty="0" smtClean="0"/>
                            <a:t> abnormalities incompatible with life(ex. Trisomy 13)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Resuscitation not indicated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81165344"/>
                  </p:ext>
                </p:extLst>
              </p:nvPr>
            </p:nvGraphicFramePr>
            <p:xfrm>
              <a:off x="457200" y="1600200"/>
              <a:ext cx="8229600" cy="3840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/>
                    <a:gridCol w="2743200"/>
                    <a:gridCol w="2743200"/>
                  </a:tblGrid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Conditions</a:t>
                          </a:r>
                          <a:r>
                            <a:rPr lang="en-US" baseline="0" dirty="0" smtClean="0"/>
                            <a:t> with high survival acceptable risk of morbidity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0000" t="-3333" r="-100000" b="-3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Resuscitation nearly</a:t>
                          </a:r>
                          <a:r>
                            <a:rPr lang="en-US" baseline="0" dirty="0" smtClean="0"/>
                            <a:t> always indicated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Conditions</a:t>
                          </a:r>
                          <a:r>
                            <a:rPr lang="en-US" baseline="0" dirty="0" smtClean="0"/>
                            <a:t> with poor prognosis, high risk of morbidity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23</a:t>
                          </a:r>
                          <a:r>
                            <a:rPr lang="en-US" baseline="0" dirty="0" smtClean="0"/>
                            <a:t> to 25 weeks’ gestational age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Parental desires about initiating /discontinuing resuscitation</a:t>
                          </a:r>
                          <a:r>
                            <a:rPr lang="en-US" baseline="0" dirty="0" smtClean="0"/>
                            <a:t> should be supported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173736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Conditions with</a:t>
                          </a:r>
                          <a:r>
                            <a:rPr lang="en-US" baseline="0" dirty="0" smtClean="0"/>
                            <a:t> almost certain death or unacceptably high morbidity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&lt;23 weeks’ gestational age</a:t>
                          </a:r>
                        </a:p>
                        <a:p>
                          <a:r>
                            <a:rPr lang="en-US" dirty="0" smtClean="0"/>
                            <a:t>Birth weight &lt; 400g</a:t>
                          </a:r>
                        </a:p>
                        <a:p>
                          <a:r>
                            <a:rPr lang="en-US" dirty="0" smtClean="0"/>
                            <a:t>Anencephaly</a:t>
                          </a:r>
                        </a:p>
                        <a:p>
                          <a:r>
                            <a:rPr lang="en-US" dirty="0" smtClean="0"/>
                            <a:t>Chromosomal</a:t>
                          </a:r>
                          <a:r>
                            <a:rPr lang="en-US" baseline="0" dirty="0" smtClean="0"/>
                            <a:t> abnormalities incompatible with life(ex. Trisomy 13)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Resuscitation not indicated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990600" y="1219200"/>
            <a:ext cx="5488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Guidelines for withholding or discontinuing resuscitation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44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Post resuscitation management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Resuscitated infants has to be monitored at least for four hours post delivery</a:t>
            </a:r>
          </a:p>
          <a:p>
            <a:r>
              <a:rPr lang="en-US" sz="2800" dirty="0" smtClean="0"/>
              <a:t>Supplementary oxygen or ventilatory support may be required</a:t>
            </a:r>
          </a:p>
          <a:p>
            <a:r>
              <a:rPr lang="en-US" sz="2800" dirty="0" smtClean="0"/>
              <a:t>Oxygen saturation has to be monitored</a:t>
            </a:r>
          </a:p>
          <a:p>
            <a:r>
              <a:rPr lang="en-US" sz="2800" dirty="0" smtClean="0"/>
              <a:t>Keep the baby warm</a:t>
            </a:r>
          </a:p>
          <a:p>
            <a:r>
              <a:rPr lang="en-US" sz="2800" dirty="0" smtClean="0"/>
              <a:t>Avoid hypoglycemia or hyperglycemia</a:t>
            </a:r>
          </a:p>
          <a:p>
            <a:r>
              <a:rPr lang="en-US" sz="2800" dirty="0" smtClean="0"/>
              <a:t>Severely hypoxic babies may need follow up and </a:t>
            </a:r>
            <a:r>
              <a:rPr lang="en-US" sz="2800" smtClean="0"/>
              <a:t>specialist care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79893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2636</TotalTime>
  <Words>1836</Words>
  <Application>Microsoft Office PowerPoint</Application>
  <PresentationFormat>On-screen Show (4:3)</PresentationFormat>
  <Paragraphs>299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Chapter 5 Neonatal resuscitation</vt:lpstr>
      <vt:lpstr>Introduction </vt:lpstr>
      <vt:lpstr>Transition from intrauterine to extra uterine life</vt:lpstr>
      <vt:lpstr>Respiratory system</vt:lpstr>
      <vt:lpstr>Respiratory…cont’d</vt:lpstr>
      <vt:lpstr>Respiratory…cont’d</vt:lpstr>
      <vt:lpstr>Cardiovascular system</vt:lpstr>
      <vt:lpstr>Persistent fetal circulation</vt:lpstr>
      <vt:lpstr>Thermoregulation</vt:lpstr>
      <vt:lpstr>Risk factors suggesting a greater need for neonatal resuscitation</vt:lpstr>
      <vt:lpstr>...cont’d</vt:lpstr>
      <vt:lpstr>...cont’d</vt:lpstr>
      <vt:lpstr>Risk factors…cont’d</vt:lpstr>
      <vt:lpstr>…cont’d</vt:lpstr>
      <vt:lpstr>Causes of neonatal depression under general anesthesia</vt:lpstr>
      <vt:lpstr>...cont’d</vt:lpstr>
      <vt:lpstr>Mechanisms of fetal acidosis following maternal hyperventilation</vt:lpstr>
      <vt:lpstr>Assessing the newborn</vt:lpstr>
      <vt:lpstr>Equipment for newborn resuscitation</vt:lpstr>
      <vt:lpstr>Equipment…cont’d</vt:lpstr>
      <vt:lpstr>Medications </vt:lpstr>
      <vt:lpstr>Assessing the newborn</vt:lpstr>
      <vt:lpstr>Steps in neonatal resuscitation</vt:lpstr>
      <vt:lpstr>Airway </vt:lpstr>
      <vt:lpstr>Breathing</vt:lpstr>
      <vt:lpstr>Breathing …cont’d</vt:lpstr>
      <vt:lpstr>Circulation</vt:lpstr>
      <vt:lpstr>PowerPoint Presentation</vt:lpstr>
      <vt:lpstr>Algorithms for resuscitation of the newly born infant</vt:lpstr>
      <vt:lpstr>Treatment of moderately depressed infant</vt:lpstr>
      <vt:lpstr>Treatment of severely depressed infants</vt:lpstr>
      <vt:lpstr>…cont’d</vt:lpstr>
      <vt:lpstr>Treatment…cont’d </vt:lpstr>
      <vt:lpstr>Treatment…cont’d</vt:lpstr>
      <vt:lpstr>Therapeutic guide lines for neonatal resuscitation</vt:lpstr>
      <vt:lpstr>Intubation of the neonate</vt:lpstr>
      <vt:lpstr>Congenital anomalies associated with neonatal cardiopulmonary resuscitation</vt:lpstr>
      <vt:lpstr>Meconium aspiration syndrome</vt:lpstr>
      <vt:lpstr>Meconium aspiration syndrome (MAS)</vt:lpstr>
      <vt:lpstr>Clinical findings</vt:lpstr>
      <vt:lpstr>Treatment of meconium aspiration</vt:lpstr>
      <vt:lpstr>Treatment…cont’d</vt:lpstr>
      <vt:lpstr>Ethical considerations in neonatal resuscitation </vt:lpstr>
      <vt:lpstr>Post resuscitation management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Alemtsehay</dc:creator>
  <cp:lastModifiedBy>Alemtsehay</cp:lastModifiedBy>
  <cp:revision>26</cp:revision>
  <dcterms:created xsi:type="dcterms:W3CDTF">2016-03-28T15:46:57Z</dcterms:created>
  <dcterms:modified xsi:type="dcterms:W3CDTF">2016-05-31T10:28:42Z</dcterms:modified>
</cp:coreProperties>
</file>