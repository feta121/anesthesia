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672" r:id="rId2"/>
  </p:sldMasterIdLst>
  <p:notesMasterIdLst>
    <p:notesMasterId r:id="rId66"/>
  </p:notesMasterIdLst>
  <p:sldIdLst>
    <p:sldId id="256" r:id="rId3"/>
    <p:sldId id="259" r:id="rId4"/>
    <p:sldId id="260" r:id="rId5"/>
    <p:sldId id="331" r:id="rId6"/>
    <p:sldId id="268" r:id="rId7"/>
    <p:sldId id="333" r:id="rId8"/>
    <p:sldId id="344" r:id="rId9"/>
    <p:sldId id="345" r:id="rId10"/>
    <p:sldId id="269" r:id="rId11"/>
    <p:sldId id="346" r:id="rId12"/>
    <p:sldId id="347" r:id="rId13"/>
    <p:sldId id="349" r:id="rId14"/>
    <p:sldId id="338" r:id="rId15"/>
    <p:sldId id="340" r:id="rId16"/>
    <p:sldId id="289" r:id="rId17"/>
    <p:sldId id="342" r:id="rId18"/>
    <p:sldId id="343" r:id="rId19"/>
    <p:sldId id="270" r:id="rId20"/>
    <p:sldId id="291" r:id="rId21"/>
    <p:sldId id="292" r:id="rId22"/>
    <p:sldId id="297" r:id="rId23"/>
    <p:sldId id="300" r:id="rId24"/>
    <p:sldId id="293" r:id="rId25"/>
    <p:sldId id="299" r:id="rId26"/>
    <p:sldId id="294" r:id="rId27"/>
    <p:sldId id="301" r:id="rId28"/>
    <p:sldId id="302" r:id="rId29"/>
    <p:sldId id="303" r:id="rId30"/>
    <p:sldId id="295" r:id="rId31"/>
    <p:sldId id="272" r:id="rId32"/>
    <p:sldId id="271" r:id="rId33"/>
    <p:sldId id="275" r:id="rId34"/>
    <p:sldId id="277" r:id="rId35"/>
    <p:sldId id="296" r:id="rId36"/>
    <p:sldId id="395" r:id="rId37"/>
    <p:sldId id="376" r:id="rId38"/>
    <p:sldId id="328" r:id="rId39"/>
    <p:sldId id="377" r:id="rId40"/>
    <p:sldId id="378" r:id="rId41"/>
    <p:sldId id="379" r:id="rId42"/>
    <p:sldId id="319" r:id="rId43"/>
    <p:sldId id="320" r:id="rId44"/>
    <p:sldId id="380" r:id="rId45"/>
    <p:sldId id="330" r:id="rId46"/>
    <p:sldId id="322" r:id="rId47"/>
    <p:sldId id="396" r:id="rId48"/>
    <p:sldId id="323" r:id="rId49"/>
    <p:sldId id="381" r:id="rId50"/>
    <p:sldId id="382" r:id="rId51"/>
    <p:sldId id="383" r:id="rId52"/>
    <p:sldId id="384" r:id="rId53"/>
    <p:sldId id="348" r:id="rId54"/>
    <p:sldId id="327" r:id="rId55"/>
    <p:sldId id="385" r:id="rId56"/>
    <p:sldId id="386" r:id="rId57"/>
    <p:sldId id="387" r:id="rId58"/>
    <p:sldId id="388" r:id="rId59"/>
    <p:sldId id="389" r:id="rId60"/>
    <p:sldId id="390" r:id="rId61"/>
    <p:sldId id="325" r:id="rId62"/>
    <p:sldId id="329" r:id="rId63"/>
    <p:sldId id="326" r:id="rId64"/>
    <p:sldId id="298" r:id="rId6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FF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82"/>
    </p:cViewPr>
  </p:sorterViewPr>
  <p:notesViewPr>
    <p:cSldViewPr>
      <p:cViewPr varScale="1">
        <p:scale>
          <a:sx n="34" d="100"/>
          <a:sy n="34" d="100"/>
        </p:scale>
        <p:origin x="-1776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AA0EFED-4AE7-393C-9863-582D22059A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3FFDE3C-B7E5-9178-9B5A-F0EC4E8613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7455F7E-5380-E39F-970F-8445120AD58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1BC247F-612B-F31C-19FB-CD9D3969324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B60B6AE-99C7-D59C-1936-1A128440D5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4F57E36-D2B4-847B-09AC-466E0D54D2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6698622-8734-4A90-A67B-71DFF2B223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00EF921A-C1B0-6363-E822-4F849BB2BD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479B11-85F5-4D3C-A28E-97FAB23E61BC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84B293E-0007-8FA8-FA8F-0A236777F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D2751AB-400F-E74F-7118-F7A097409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Histamine releasing effect of thiopentone may induce </a:t>
            </a:r>
            <a:r>
              <a:rPr lang="en-US" dirty="0" err="1"/>
              <a:t>broncospasm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781357-B36F-4291-BF3D-ACD81A089AA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9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F2C76-02A4-D37F-87DE-CFF6F100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279C6-ED47-4E37-97D1-90E22AAF0C36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B8313-C49A-FE03-2FD2-A954FB33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8FA71-78DE-04C5-C07B-1BB0464E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2E921-8C86-45D8-9494-06DB994C8C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78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D716-1338-D7DB-FB31-21C8FEFF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D3F9B-67B9-4F1B-9363-72205325DCD1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78AD4-F597-6A83-54A6-6D6C77F9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21DC4-9F2E-5674-8129-87B1D4B9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3E08E-1535-40B1-9C4C-8E0B304F62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42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4444F-65C9-3F54-255A-45A2D196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15DF7-336C-4EE6-9C36-582FEEFDEF0C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7AD15-F78E-32DC-BB66-D3DA1BFD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F99CA-62DE-8933-DA03-B4362F13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B852C-2B3E-4DE3-8AFD-526930657D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55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D789C4-8FD2-EF4E-07A6-06EF3C72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D8B0A-5FEC-4D07-B65E-2445EB95134E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CEBDF0-7EB8-D80F-E97E-BE986A39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7EB701-90DD-0BDA-5BB8-B0580EA5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2C55C-BB5C-491A-8948-34A71647C1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63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828F71F-4FE7-D440-0085-FE63B4B9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1BAC4-3542-4FD8-AD7A-1D10111966FF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E345665-5297-F2C2-C37F-A27E5023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66DD3C-0264-83A9-C60C-404FD176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24D75-6A04-4F9D-A78A-AFD70F1E81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9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F055BC0-4168-9D73-C7D6-8C4411D9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B2947-AC9D-45CE-89FF-1FD50AC26887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605974A-873C-5AE4-064E-38861219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12307AA-DB79-A986-808B-405AC534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708D2-4F84-4367-9DFF-3895121955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393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7A04D77-3B9F-C1EB-6C14-FCE8F3E4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8C6A8-25EF-40EC-BBC8-9D182CD2ED09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7A17CF7-96FC-F415-78C6-9B931390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FCF4A5-704F-8B24-9E43-C8A3848D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0EE8F-A015-496E-BAFF-02CE822E3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588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44D5235-5796-AC3E-0CC5-58A3D2BB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4A9C6-7164-4ED1-9B81-4033E5009EC5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98432C7-7D67-F5A5-1A4D-3A3D0C44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AFFBF2-07C9-3DE7-2B23-A93B422B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7E974-7929-4A7B-9C07-501095C720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89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1B9156-81C6-0737-B8E3-E81A9652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DAF82-A766-421F-A936-27D768B3769F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A3914F-4D30-D73F-51A2-B8F4C73F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349113-4243-6D84-E743-9CE915CC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3CF5C-4EE0-407F-8C0D-303B227BB5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65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8EFA2-6149-D81C-32B7-621B4079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64E55-63BB-46C1-B8D8-9B5DC450ACDF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D5EF9-E202-DDFD-8218-4F3233EE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43AB-FB6D-610C-33B8-245A789D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B5562-046D-45A6-9CAA-41892DA4B6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79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FC676-662E-7359-E795-0A65B4FB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0297B-B55F-443B-81DB-8DD74F2E1918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29CBF-15DE-910A-5D2A-B843B06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AC053-7ABA-4D22-2CEF-352106DB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5D31-23A5-4C78-9E6C-B7E534E694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835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8AFE-F2FE-4093-A112-2595C3E0FCE1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BF97-7512-4B3D-AB85-1E48D3BC1946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90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B6ECF-AE57-4889-A708-EF043949926E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34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B4EB-FB17-4B88-905A-3D4BDA66C85D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87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2AA7C-6B68-4C05-A7B7-068763C4C90D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1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0455-5B3B-4CE6-BF21-4C3422AD035E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44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D009E-8EE9-465D-A302-FF86F9F7C838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56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3E3C-DA42-42A3-A238-5D0671C86C6D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06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66BF-7AF5-411E-B4D5-BA482993F611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70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85692-177C-4385-B937-11C8024E9282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259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BBC15-4BE7-4A61-A28A-EDE7327298FB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0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1B7A09A-88CF-6AF5-BE14-9702A98EC70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E998C66-C9DB-CF36-7670-F9DC4EF107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CEC5-FC27-CE0A-8FD7-6319C03CD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2606B3-C315-4F21-BB6F-1D52C22B7B42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0E908-C670-9314-B66C-F20FEFED5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9A605-60B9-C5A5-6600-664501A67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C4586AE-C689-4D02-A089-686852E218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BB226-ABC0-4EB7-9914-64EB1B5010BF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D58FB-A120-4C13-889A-9B9F4AF4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64FDA31-77B2-8C9A-18D3-B3780646E1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3400" y="914400"/>
            <a:ext cx="77724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 One-Lung Ventilation for Thoracic Surgery</a:t>
            </a:r>
            <a:endParaRPr lang="en-US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56E2543-60D8-B838-7D81-818E71B196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6600"/>
            <a:ext cx="6477000" cy="2209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Eyayalem M(Assistant .Professor)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May. 2025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282456-7364-BBA4-8B65-C68C20F6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3B8CD4-AB6C-44BD-8B8F-1AB1E4DAF7B3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F3A56-3893-5855-C65F-E598860F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F2E921-8C86-45D8-9494-06DB994C8C6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7108071-3567-1DF1-08CE-386E2D39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/>
              <a:t>One-lung ventilation( OLV)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984D150-4516-140D-3F57-92BEAE8C9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7772400" cy="4800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One-lung ventilation(OLV): means separation of the two lungs and each lung functioning independently by preparation of the airway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OLV provides: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Protection of healthy lung from infected/bleeding one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Diversion of ventilation from damaged airway or lung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Improved exposure of surgical field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OLV causes: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More manipulation of airway, more damage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Significant physiologic change and easily development of hypoxemia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0127D-1725-91C2-FD9E-9441641D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1461B9-2882-4C41-B7C8-0991E31D72C1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2AF-A011-088B-D842-196D0D6F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ECAA7BF-6647-0A6E-F4CC-BF3F9641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696200" cy="990600"/>
          </a:xfrm>
        </p:spPr>
        <p:txBody>
          <a:bodyPr/>
          <a:lstStyle/>
          <a:p>
            <a:pPr eaLnBrk="1" hangingPunct="1"/>
            <a:r>
              <a:rPr lang="en-US" altLang="en-US"/>
              <a:t>Indication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5864AA3-7C6B-15B0-DEB0-F6D50B285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5334000"/>
          </a:xfrm>
        </p:spPr>
        <p:txBody>
          <a:bodyPr/>
          <a:lstStyle/>
          <a:p>
            <a:pPr eaLnBrk="1" hangingPunct="1"/>
            <a:r>
              <a:rPr lang="en-US" altLang="en-US" sz="2000" b="1"/>
              <a:t>Absolute </a:t>
            </a:r>
            <a:endParaRPr lang="en-US" altLang="en-US" sz="2000"/>
          </a:p>
          <a:p>
            <a:pPr lvl="1" eaLnBrk="1" hangingPunct="1">
              <a:buFontTx/>
              <a:buNone/>
            </a:pPr>
            <a:r>
              <a:rPr lang="en-US" altLang="en-US" sz="2000" b="1"/>
              <a:t>1. Isolation of  one lung from the other to avoid spillage or contamination</a:t>
            </a:r>
          </a:p>
          <a:p>
            <a:pPr lvl="2" eaLnBrk="1" hangingPunct="1"/>
            <a:r>
              <a:rPr lang="en-US" altLang="en-US" sz="2000" b="1"/>
              <a:t>Infection </a:t>
            </a:r>
          </a:p>
          <a:p>
            <a:pPr lvl="2" eaLnBrk="1" hangingPunct="1"/>
            <a:r>
              <a:rPr lang="en-US" altLang="en-US" sz="2000" b="1"/>
              <a:t>Massive hemorrhage</a:t>
            </a:r>
          </a:p>
          <a:p>
            <a:pPr lvl="1" eaLnBrk="1" hangingPunct="1">
              <a:buFontTx/>
              <a:buNone/>
            </a:pPr>
            <a:r>
              <a:rPr lang="en-US" altLang="en-US" sz="2000" b="1"/>
              <a:t>2. Control of the distribution of ventilation</a:t>
            </a:r>
          </a:p>
          <a:p>
            <a:pPr lvl="2" eaLnBrk="1" hangingPunct="1"/>
            <a:r>
              <a:rPr lang="en-US" altLang="en-US" sz="2000" b="1"/>
              <a:t>Bronchopleural fistula</a:t>
            </a:r>
          </a:p>
          <a:p>
            <a:pPr lvl="2" eaLnBrk="1" hangingPunct="1"/>
            <a:r>
              <a:rPr lang="en-US" altLang="en-US" sz="2000" b="1"/>
              <a:t>Bronchopleural cutaneous fistula</a:t>
            </a:r>
          </a:p>
          <a:p>
            <a:pPr lvl="2" eaLnBrk="1" hangingPunct="1"/>
            <a:r>
              <a:rPr lang="en-US" altLang="en-US" sz="2000" b="1"/>
              <a:t>Surgical opening of a major conducting airway</a:t>
            </a:r>
          </a:p>
          <a:p>
            <a:pPr lvl="2" eaLnBrk="1" hangingPunct="1"/>
            <a:r>
              <a:rPr lang="en-US" altLang="en-US" sz="2000" b="1"/>
              <a:t>giant unilateral lung cyst or bulla</a:t>
            </a:r>
          </a:p>
          <a:p>
            <a:pPr lvl="2" eaLnBrk="1" hangingPunct="1"/>
            <a:r>
              <a:rPr lang="en-US" altLang="en-US" sz="2000" b="1"/>
              <a:t>Tracheobronchial tree disruption</a:t>
            </a:r>
          </a:p>
          <a:p>
            <a:pPr lvl="2" eaLnBrk="1" hangingPunct="1"/>
            <a:r>
              <a:rPr lang="en-US" altLang="en-US" sz="2000" b="1"/>
              <a:t>Life-threatening hypoxemia due to unilateral lung disease</a:t>
            </a:r>
          </a:p>
          <a:p>
            <a:pPr lvl="1" eaLnBrk="1" hangingPunct="1">
              <a:buFontTx/>
              <a:buNone/>
            </a:pPr>
            <a:r>
              <a:rPr lang="en-US" altLang="en-US" sz="2000" b="1"/>
              <a:t>3. Unilateral bronchopulmonary lavage</a:t>
            </a:r>
            <a:r>
              <a:rPr lang="en-US" altLang="en-US" sz="1800" b="1"/>
              <a:t>  </a:t>
            </a:r>
          </a:p>
          <a:p>
            <a:pPr lvl="1" eaLnBrk="1" hangingPunct="1">
              <a:buFontTx/>
              <a:buNone/>
            </a:pPr>
            <a:r>
              <a:rPr lang="en-US" altLang="en-US" sz="1800" b="1"/>
              <a:t>4. Video assisted Thoracoscopic surgery</a:t>
            </a:r>
          </a:p>
          <a:p>
            <a:pPr lvl="1" eaLnBrk="1" hangingPunct="1"/>
            <a:endParaRPr lang="en-US" altLang="en-US" sz="1800" b="1"/>
          </a:p>
          <a:p>
            <a:pPr eaLnBrk="1" hangingPunct="1"/>
            <a:endParaRPr lang="en-US" altLang="en-US" sz="2000" b="1"/>
          </a:p>
          <a:p>
            <a:pPr eaLnBrk="1" hangingPunct="1"/>
            <a:endParaRPr lang="en-US" altLang="en-US" sz="24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AD8EB-A498-831F-8680-5BF97619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71B8C5-8912-440F-974E-2CDF67EEEA4B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1F823-A6EB-1D32-7720-736CF22E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80AA0BF8-78EA-EF11-0A34-661981948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8625"/>
            <a:ext cx="76962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400" b="1">
                <a:latin typeface="Times New Roman" panose="02020603050405020304" pitchFamily="18" charset="0"/>
              </a:rPr>
              <a:t> RELATIVE</a:t>
            </a:r>
            <a:br>
              <a:rPr lang="en-US" altLang="en-US" sz="2400">
                <a:latin typeface="Times New Roman" panose="02020603050405020304" pitchFamily="18" charset="0"/>
              </a:rPr>
            </a:br>
            <a:r>
              <a:rPr lang="en-US" altLang="en-US" sz="2400">
                <a:latin typeface="Times New Roman" panose="02020603050405020304" pitchFamily="18" charset="0"/>
              </a:rPr>
              <a:t>1. Surgical exposure—high priority</a:t>
            </a:r>
            <a:br>
              <a:rPr lang="en-US" altLang="en-US" sz="2400">
                <a:latin typeface="Times New Roman" panose="02020603050405020304" pitchFamily="18" charset="0"/>
              </a:rPr>
            </a:br>
            <a:endParaRPr lang="en-US" altLang="en-US" sz="240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Thoracic aortic aneurysm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Pneumonectomy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Lung volume reduction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Minimally invasive cardiac surgery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Upper lobectomy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2. Surgical exposure—low priority</a:t>
            </a:r>
            <a:br>
              <a:rPr lang="en-US" altLang="en-US" sz="2400">
                <a:latin typeface="Times New Roman" panose="02020603050405020304" pitchFamily="18" charset="0"/>
              </a:rPr>
            </a:br>
            <a:endParaRPr lang="en-US" altLang="en-US" sz="240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Esophageal surgery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Middle and lower lobectomy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Mediastinal mass resection, thymectomy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Bilateral sympathectomies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AB752D-EF98-7D61-BCF3-73815CEF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16CBC8-BC45-4D76-944C-2C83220C5F05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41A27-C9AA-432D-1186-5F8E5E3F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AFC40FD-A534-08DE-FAC4-521CE2CA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Methods of OLV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EF591D9-79DB-1082-2AF6-37DC5D698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8534400" cy="5257800"/>
          </a:xfrm>
        </p:spPr>
        <p:txBody>
          <a:bodyPr/>
          <a:lstStyle/>
          <a:p>
            <a:pPr eaLnBrk="1" hangingPunct="1"/>
            <a:r>
              <a:rPr lang="en-US" altLang="en-US"/>
              <a:t>Double-lumen endotracheal tube, DLT</a:t>
            </a:r>
          </a:p>
          <a:p>
            <a:pPr eaLnBrk="1" hangingPunct="1"/>
            <a:r>
              <a:rPr lang="en-US" altLang="en-US"/>
              <a:t>Single-lumen ET with a built-in bronchial blocker, Univent Tube</a:t>
            </a:r>
          </a:p>
          <a:p>
            <a:pPr eaLnBrk="1" hangingPunct="1"/>
            <a:r>
              <a:rPr lang="en-US" altLang="en-US"/>
              <a:t>Single-lumen ET with an isolated bronchial blocker</a:t>
            </a:r>
          </a:p>
          <a:p>
            <a:pPr lvl="1" eaLnBrk="1" hangingPunct="1"/>
            <a:r>
              <a:rPr lang="en-US" altLang="en-US"/>
              <a:t>Arndt (wire-guided) endobronchial blocker set</a:t>
            </a:r>
          </a:p>
          <a:p>
            <a:pPr lvl="1" eaLnBrk="1" hangingPunct="1"/>
            <a:r>
              <a:rPr lang="en-US" altLang="en-US"/>
              <a:t>Balloon-tipped luminal catheters</a:t>
            </a:r>
          </a:p>
          <a:p>
            <a:pPr eaLnBrk="1" hangingPunct="1"/>
            <a:r>
              <a:rPr lang="en-US" altLang="en-US"/>
              <a:t>Endobronchial intubation of a single-lumen ET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54D2F-FB8D-7399-91D2-9D415D47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4B6F86-D323-4837-94F8-2D9F9ABDEF42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390FA9-BB18-66CB-8E20-6D484AD3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E8E05A6-2045-9298-9356-DAC41238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 of lung isolation</a:t>
            </a:r>
          </a:p>
        </p:txBody>
      </p:sp>
      <p:pic>
        <p:nvPicPr>
          <p:cNvPr id="9219" name="Picture 2" descr="http://tele.med.ru/book/cardiac_anesthesia/media/he/he025g03.gif">
            <a:extLst>
              <a:ext uri="{FF2B5EF4-FFF2-40B4-BE49-F238E27FC236}">
                <a16:creationId xmlns:a16="http://schemas.microsoft.com/office/drawing/2014/main" id="{9A55137C-A02E-12BA-B0B5-0FFB21738E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305800" cy="4267200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03046-27F4-AB5F-CDCA-3F354422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5F6576-CF11-490C-BB31-6FEDE21A0745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896390-A1E7-549D-6A08-91007B2A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E4D758ED-2B60-CE3C-6547-C96DAB5A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Double-lumen tubes (DLTs) 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3582912-488A-94D6-C8CA-C4F5A24AA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are the most commonly used devices to provide lung isolation.</a:t>
            </a:r>
          </a:p>
          <a:p>
            <a:r>
              <a:rPr lang="en-US" altLang="en-US" dirty="0"/>
              <a:t>are bifurcated tubes with a tracheal and a bronchial lumen, disposable, and made of polyvinyl chloride (PVC). </a:t>
            </a:r>
          </a:p>
          <a:p>
            <a:r>
              <a:rPr lang="en-US" altLang="en-US" dirty="0"/>
              <a:t>different sizes (28F, 32F, 37F, 39F, and 41F catheter), sides (left vs right) </a:t>
            </a:r>
          </a:p>
          <a:p>
            <a:r>
              <a:rPr lang="en-US" altLang="en-US" dirty="0"/>
              <a:t>Left-sided DLTs are used more often than right-sided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7E276-E443-FC6C-2A05-0E0F3609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E9AF0E-1876-45B0-8C52-CB3867489F74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BA71B4-3DC6-033B-3D6A-56DBF139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E1ACADC-A0B5-3B4E-29DC-402EE42F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DLT…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EC36F6B-6080-20C9-9994-AC523982D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solidFill>
                  <a:srgbClr val="202124"/>
                </a:solidFill>
              </a:rPr>
              <a:t>For one-lung anesthesia during thoracic surgery a left-sided double-lumen endobronchial tube (DLT) is preferred over a right-sided DLT </a:t>
            </a:r>
            <a:r>
              <a:rPr lang="en-US" altLang="en-US" b="1" dirty="0">
                <a:solidFill>
                  <a:srgbClr val="202124"/>
                </a:solidFill>
              </a:rPr>
              <a:t>because of its greater margin of safety for correct positioning in the left</a:t>
            </a:r>
            <a:r>
              <a:rPr lang="en-US" altLang="en-US" dirty="0">
                <a:solidFill>
                  <a:srgbClr val="202124"/>
                </a:solidFill>
              </a:rPr>
              <a:t> mainstem bronchus (LMB)</a:t>
            </a:r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E0EB1-D0AF-62D1-7A29-E3C0F9F7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E12A9B-44B4-46DE-838F-04F892450B3C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257E1-17BF-8BD5-B962-36C57C89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201BC8D-A503-41BB-403C-B986F87E6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4572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dirty="0"/>
              <a:t>DLT…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A580CB2-A453-31B1-D648-7045881926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153400" cy="53340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Type:	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 err="1"/>
              <a:t>Carlens</a:t>
            </a:r>
            <a:r>
              <a:rPr lang="en-US" sz="2400" dirty="0"/>
              <a:t>, a left-sided + a carinal hook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White, a right-sided </a:t>
            </a:r>
            <a:r>
              <a:rPr lang="en-US" sz="2400" dirty="0" err="1"/>
              <a:t>Carlens</a:t>
            </a:r>
            <a:r>
              <a:rPr lang="en-US" sz="2400" dirty="0"/>
              <a:t> tube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Robertshaw, most widely used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All have two lumina/cuffs, one             terminating in the trachea and the other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800" dirty="0"/>
              <a:t>      in the mainstem bronchus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Right-sided or left-sided  available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Available size: 41,39, 37, 35, 28 French (ID=6.5, 6.0, 5.5, 5.0 and 4.5 mm respectively)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Most women will need a 37-FrDLT &amp; most men will need #39 Fr- DLT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2292" name="Picture 7">
            <a:extLst>
              <a:ext uri="{FF2B5EF4-FFF2-40B4-BE49-F238E27FC236}">
                <a16:creationId xmlns:a16="http://schemas.microsoft.com/office/drawing/2014/main" id="{7EED7465-AD6A-1877-70B6-E7663E131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85800"/>
            <a:ext cx="26479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F5219-AE03-130F-12FC-1B9E66B3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C7E981-7206-4F46-AE88-31B6FDDFC541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2F6C-13A0-BE01-7E81-45DCE21F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7D8B3D7-431A-6EAB-ADBE-BBB3F0B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Components of double- lumen tube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03EC-57B0-38B4-A65C-F07D2A4C4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Double- lumen tube</a:t>
            </a:r>
          </a:p>
          <a:p>
            <a:pPr>
              <a:defRPr/>
            </a:pPr>
            <a:r>
              <a:rPr lang="en-US" dirty="0"/>
              <a:t>Adaptor for ventilation of both ports</a:t>
            </a:r>
          </a:p>
          <a:p>
            <a:pPr>
              <a:defRPr/>
            </a:pPr>
            <a:r>
              <a:rPr lang="en-US" dirty="0"/>
              <a:t>Extension for each port</a:t>
            </a:r>
          </a:p>
          <a:p>
            <a:pPr>
              <a:defRPr/>
            </a:pPr>
            <a:r>
              <a:rPr lang="en-US" dirty="0"/>
              <a:t>Stylet</a:t>
            </a:r>
          </a:p>
          <a:p>
            <a:pPr>
              <a:defRPr/>
            </a:pPr>
            <a:r>
              <a:rPr lang="en-US" dirty="0"/>
              <a:t>Suction catheter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58096-E902-52CA-633A-25490239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0E237-A30E-4DBF-B898-2C36B465BCCA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1EB00-1A3B-8218-34AA-9A64F0D7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9E7F232-749E-7CE9-59AD-FB59B1B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sz="4000"/>
              <a:t>Components of double- lumen tube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4D4FB-3FF2-1191-14E6-E2793F935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0292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Apparatus to deliver continuous positive pressure airway to the nonventilated lung (variable</a:t>
            </a:r>
          </a:p>
          <a:p>
            <a:pPr>
              <a:defRPr/>
            </a:pPr>
            <a:r>
              <a:rPr lang="en-US" dirty="0"/>
              <a:t>depending on manufacturer)</a:t>
            </a:r>
          </a:p>
          <a:p>
            <a:pPr>
              <a:defRPr/>
            </a:pPr>
            <a:r>
              <a:rPr lang="en-US" dirty="0"/>
              <a:t>Additional equipment:</a:t>
            </a:r>
          </a:p>
          <a:p>
            <a:pPr>
              <a:defRPr/>
            </a:pPr>
            <a:r>
              <a:rPr lang="en-US" dirty="0"/>
              <a:t> Laryngoscope blade</a:t>
            </a:r>
          </a:p>
          <a:p>
            <a:pPr>
              <a:defRPr/>
            </a:pPr>
            <a:r>
              <a:rPr lang="en-US" dirty="0"/>
              <a:t> Fiberoptic bronchoscope</a:t>
            </a:r>
          </a:p>
          <a:p>
            <a:pPr>
              <a:defRPr/>
            </a:pPr>
            <a:r>
              <a:rPr lang="en-US" dirty="0"/>
              <a:t> Stethoscope</a:t>
            </a:r>
          </a:p>
          <a:p>
            <a:pPr>
              <a:defRPr/>
            </a:pPr>
            <a:r>
              <a:rPr lang="en-US" dirty="0"/>
              <a:t>Hemostat to clamp the tube extension on the nonventilated side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87F07-B15B-4345-5F7C-E0505659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C5E982-A861-4B4B-B18D-814940C6B521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DBB8D-00A8-592B-E233-E41D5673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Double lumen Tube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170" y="2551719"/>
            <a:ext cx="7314347" cy="26148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60377-6CBB-79BE-59B7-45D33AC1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4382D-5D54-477A-A2DA-8DED7A266B99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6C8E8-6BB6-077C-A132-B63E018A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58FB-A120-4C13-889A-9B9F4AF406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8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3723D80-D62C-F0EE-0590-96F5AB699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DLT SIZE SELECTION 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DDADE8B-0F52-BFC4-C8BA-6EA9A9035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Iatrogenic injury has been estimated to occur in 0.5 to 2 per 1,000 cases with DLTs. </a:t>
            </a:r>
          </a:p>
          <a:p>
            <a:r>
              <a:rPr lang="en-US" altLang="en-US" b="1" dirty="0"/>
              <a:t>View the chest x-ray film or CT scan,</a:t>
            </a:r>
            <a:r>
              <a:rPr lang="en-US" altLang="en-US" dirty="0"/>
              <a:t> which can help predict the majority of difficult endobronchial intubations. </a:t>
            </a:r>
          </a:p>
          <a:p>
            <a:r>
              <a:rPr lang="en-US" altLang="en-US" b="1" dirty="0"/>
              <a:t>Use an appropriate size tube.</a:t>
            </a:r>
            <a:r>
              <a:rPr lang="en-US" altLang="en-US" dirty="0"/>
              <a:t> Too small a tube will make lung isolation difficult. Too large a tube is more likely to cause trauma. Useful guidelines for DLT sizes in adults are as follows: 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6FFB7-747C-96EB-EEB3-CE4B6415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57CC51-B9DE-4D54-97DE-3F8D1C26B919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D911CF-38C3-03A1-97DC-6CAF5451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A378F70-4776-0BE7-9174-7999B54C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DLT SIZE SELECTION 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5CC9C488-E070-9E21-1726-A0422CF13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/>
              <a:t> Females' height &lt; 1.6 m (63 inch): 35 Fr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/>
              <a:t>Females &gt; 1.6 m: 37 Fr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/>
              <a:t>Males &lt; 1.7 m (67 inch): 39 Fr (possibly 37 Fr if &lt; 1.6 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b="1" dirty="0"/>
              <a:t>Males &gt; 1.7 m: 41 Fr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C9116-A6B3-27A3-DF10-AB4DC63F0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797220-171A-4234-A473-B469FC9DB6F3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3EE6A-9C46-1D2F-E2CF-25CB83FA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double lumen tube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698" y="2125266"/>
            <a:ext cx="7886699" cy="361324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4CD93-6895-9D01-867F-930844E9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398009-05D8-41B9-802E-59B2A2BB6CEA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FB92-910F-9C36-F5D5-7B0572B3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603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E968385-0AF0-F8E2-3919-1EC275D3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/>
              <a:t>Depth of insertion of DLT</a:t>
            </a:r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468065B7-A27D-547E-0F68-28EF01FB4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altLang="en-US"/>
              <a:t>Tracheobronchial dimensions correlate with height. </a:t>
            </a:r>
          </a:p>
          <a:p>
            <a:r>
              <a:rPr lang="en-US" altLang="en-US"/>
              <a:t>The average depth at insertion, from the teeth, for a left DLT is 29 cm in an adult and varies ± 1 cm for each 10 cm of patient height above/ below 170 cm. </a:t>
            </a:r>
          </a:p>
          <a:p>
            <a:r>
              <a:rPr lang="en-US" altLang="en-US" b="1"/>
              <a:t>Avoid nitrous oxide.</a:t>
            </a:r>
            <a:r>
              <a:rPr lang="en-US" altLang="en-US"/>
              <a:t> Nitrous oxide 70% can increase the bronchial cuff volume from 5 to 16 mL intraoperatively. 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AC65C-540B-3F76-D658-C7989B8E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83758B-284A-49D3-8570-15AF303C7132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BEB6CC-BE25-0AC1-DC99-B29D5CAA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BF18F10-E5C3-6110-1589-0C9C7795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70F1D229-A34D-E982-63D1-F59C0A501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Inflate the bronchial cuff/blocker only to the minimal volume required for lung isolation and for the minimal time.</a:t>
            </a:r>
            <a:r>
              <a:rPr lang="en-US" altLang="en-US" dirty="0"/>
              <a:t> </a:t>
            </a:r>
          </a:p>
          <a:p>
            <a:r>
              <a:rPr lang="en-US" altLang="en-US" dirty="0"/>
              <a:t>This volume usually is less than 3 </a:t>
            </a:r>
            <a:r>
              <a:rPr lang="en-US" altLang="en-US" dirty="0" err="1"/>
              <a:t>mL.</a:t>
            </a:r>
            <a:r>
              <a:rPr lang="en-US" altLang="en-US" dirty="0"/>
              <a:t> Inflating the bronchial cuff does not stabilize the DLT position when the patient is turned to the lateral position. 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74858-FDEC-C4C9-3A4D-80EE7D78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DFBAB8-2824-4EED-B4E7-848CE85553B9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81E0B-CCD6-E305-A62A-E1D8BBD40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C740E17-0E9C-48A5-EEF0-E1F59CF4D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838200"/>
          </a:xfrm>
        </p:spPr>
        <p:txBody>
          <a:bodyPr/>
          <a:lstStyle/>
          <a:p>
            <a:pPr marL="342900" indent="-342900" eaLnBrk="1" hangingPunct="1"/>
            <a:r>
              <a:rPr lang="en-US" altLang="en-US" sz="3600" b="1" u="sng" dirty="0"/>
              <a:t>The Robert show Double Lumen</a:t>
            </a:r>
            <a:br>
              <a:rPr lang="en-US" altLang="en-US" dirty="0"/>
            </a:br>
            <a:r>
              <a:rPr lang="en-US" altLang="en-US" sz="3200" b="1" dirty="0"/>
              <a:t>Left LDT 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7E37A3E-F508-A13C-F71C-D51423E8E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7924800" cy="3276600"/>
          </a:xfrm>
        </p:spPr>
        <p:txBody>
          <a:bodyPr/>
          <a:lstStyle/>
          <a:p>
            <a:pPr eaLnBrk="1" hangingPunct="1"/>
            <a:r>
              <a:rPr lang="en-US" altLang="en-US" sz="2400"/>
              <a:t>Most commonly used</a:t>
            </a:r>
          </a:p>
          <a:p>
            <a:pPr eaLnBrk="1" hangingPunct="1"/>
            <a:r>
              <a:rPr lang="en-US" altLang="en-US" sz="2400"/>
              <a:t>The bronchial lumen is longer, and a simple round opening and symmetric cuff</a:t>
            </a:r>
            <a:r>
              <a:rPr lang="en-US" altLang="en-US" sz="2400">
                <a:sym typeface="Monotype Sorts" pitchFamily="2" charset="2"/>
              </a:rPr>
              <a:t> Better margin of safety than Rt DLT</a:t>
            </a:r>
            <a:endParaRPr lang="en-US" altLang="en-US" sz="2400"/>
          </a:p>
          <a:p>
            <a:pPr eaLnBrk="1" hangingPunct="1"/>
            <a:r>
              <a:rPr lang="en-US" altLang="en-US" sz="2400"/>
              <a:t>Easy to apply suction and/or CPAP to either lung</a:t>
            </a:r>
          </a:p>
          <a:p>
            <a:pPr eaLnBrk="1" hangingPunct="1"/>
            <a:r>
              <a:rPr lang="en-US" altLang="en-US" sz="2400"/>
              <a:t>Easy to deflate lung</a:t>
            </a:r>
          </a:p>
          <a:p>
            <a:pPr eaLnBrk="1" hangingPunct="1"/>
            <a:r>
              <a:rPr lang="en-US" altLang="en-US" sz="2400"/>
              <a:t>Lower bronchial cuff                                                   volumes and pressures</a:t>
            </a:r>
          </a:p>
          <a:p>
            <a:pPr eaLnBrk="1" hangingPunct="1"/>
            <a:r>
              <a:rPr lang="en-US" altLang="en-US" sz="2400"/>
              <a:t>Can be used</a:t>
            </a:r>
          </a:p>
          <a:p>
            <a:pPr lvl="1" eaLnBrk="1" hangingPunct="1"/>
            <a:r>
              <a:rPr lang="en-US" altLang="en-US" sz="2400"/>
              <a:t>Left lung isolation: </a:t>
            </a:r>
          </a:p>
          <a:p>
            <a:pPr lvl="1" eaLnBrk="1" hangingPunct="1">
              <a:buFontTx/>
              <a:buNone/>
            </a:pPr>
            <a:r>
              <a:rPr lang="en-US" altLang="en-US" sz="2400"/>
              <a:t>clamp </a:t>
            </a:r>
            <a:r>
              <a:rPr lang="en-US" altLang="en-US" sz="2400" i="1"/>
              <a:t>bronchial</a:t>
            </a:r>
            <a:r>
              <a:rPr lang="en-US" altLang="en-US" sz="2400"/>
              <a:t> + </a:t>
            </a:r>
          </a:p>
          <a:p>
            <a:pPr lvl="1" eaLnBrk="1" hangingPunct="1">
              <a:buFontTx/>
              <a:buNone/>
            </a:pPr>
            <a:r>
              <a:rPr lang="en-US" altLang="en-US" sz="2400"/>
              <a:t>ventilate/ </a:t>
            </a:r>
            <a:r>
              <a:rPr lang="en-US" altLang="en-US" sz="2400" u="sng"/>
              <a:t>tracheal</a:t>
            </a:r>
            <a:r>
              <a:rPr lang="en-US" altLang="en-US" sz="2400"/>
              <a:t> lumen</a:t>
            </a:r>
          </a:p>
          <a:p>
            <a:pPr lvl="1" eaLnBrk="1" hangingPunct="1"/>
            <a:r>
              <a:rPr lang="en-US" altLang="en-US" sz="2400"/>
              <a:t>Right lung isolation: </a:t>
            </a:r>
          </a:p>
          <a:p>
            <a:pPr lvl="1" eaLnBrk="1" hangingPunct="1">
              <a:buFontTx/>
              <a:buNone/>
            </a:pPr>
            <a:r>
              <a:rPr lang="en-US" altLang="en-US" sz="2400"/>
              <a:t>clamp </a:t>
            </a:r>
            <a:r>
              <a:rPr lang="en-US" altLang="en-US" sz="2400" i="1"/>
              <a:t>tracheal</a:t>
            </a:r>
            <a:r>
              <a:rPr lang="en-US" altLang="en-US" sz="2400"/>
              <a:t> + </a:t>
            </a:r>
          </a:p>
          <a:p>
            <a:pPr lvl="1" eaLnBrk="1" hangingPunct="1">
              <a:buFontTx/>
              <a:buNone/>
            </a:pPr>
            <a:r>
              <a:rPr lang="en-US" altLang="en-US" sz="2400"/>
              <a:t>ventilate/</a:t>
            </a:r>
            <a:r>
              <a:rPr lang="en-US" altLang="en-US" sz="2400" i="1"/>
              <a:t>bronchial</a:t>
            </a:r>
            <a:r>
              <a:rPr lang="en-US" altLang="en-US" sz="2400"/>
              <a:t> lumen</a:t>
            </a:r>
          </a:p>
          <a:p>
            <a:pPr eaLnBrk="1" hangingPunct="1"/>
            <a:endParaRPr lang="en-US" altLang="en-US" sz="2800"/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5836DB34-8CAF-DE20-D025-7EB009E1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25" y="2819400"/>
            <a:ext cx="509587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A6583-567C-58E1-088E-5B0A0FA3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6C9D4F-0FB9-40D8-80EF-3A0036D5EC57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B712FD-0FE8-CF76-F1F8-202EE86B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63F8F64-42AC-ED67-E3BA-6C730FD7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u="sng" dirty="0"/>
              <a:t>Inserting /Positioning DLT</a:t>
            </a:r>
            <a:br>
              <a:rPr lang="en-US" altLang="en-US" b="1" u="sng" dirty="0"/>
            </a:b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DD2C-1990-EB23-4E77-0A4618C1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8458200" cy="4953000"/>
          </a:xfrm>
        </p:spPr>
        <p:txBody>
          <a:bodyPr/>
          <a:lstStyle/>
          <a:p>
            <a:pPr eaLnBrk="1" hangingPunct="1"/>
            <a:r>
              <a:rPr lang="en-US" altLang="en-US"/>
              <a:t>Before insertion prepare &amp;check the tube high volume &amp;low pressure  about 20 ml &amp;bronchial cuff is small, check with 3 ml syringe.</a:t>
            </a:r>
          </a:p>
          <a:p>
            <a:pPr eaLnBrk="1" hangingPunct="1"/>
            <a:r>
              <a:rPr lang="en-US" altLang="en-US"/>
              <a:t>The tube’s performed curvature mackintosh blade 3 is preferred for intubations because it provides the largest area through which to pass the tube.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0C789-873E-6448-73F8-2E7037C3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8327E7-9180-4550-AABC-24C4E0925D78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87262-47D6-7C65-F721-CCC837D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FA3D235E-B91B-AF4F-30B7-1EC7402C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b="1" u="sng" dirty="0"/>
              <a:t>Inserting/ Positioning DLT</a:t>
            </a:r>
            <a:br>
              <a:rPr lang="en-US" altLang="en-US" b="1" u="sng" dirty="0"/>
            </a:b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F820D-81D5-8B9E-E921-03B90875F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876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Insert with the distal concave curvature facing </a:t>
            </a:r>
            <a:r>
              <a:rPr lang="en-US" dirty="0" err="1"/>
              <a:t>anteriorly</a:t>
            </a:r>
            <a:r>
              <a:rPr lang="en-US" dirty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After the tip of the tube is past the vocal cords, remove the stylet &amp;rotate the tube 90 degrees.</a:t>
            </a:r>
          </a:p>
          <a:p>
            <a:pPr marL="514350" indent="-514350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n-US" dirty="0"/>
              <a:t>The left sided tube is rotated 90 degree to the left.</a:t>
            </a:r>
          </a:p>
          <a:p>
            <a:pPr marL="514350" indent="-514350" eaLnBrk="1" fontAlgn="auto" hangingPunct="1">
              <a:spcAft>
                <a:spcPts val="0"/>
              </a:spcAft>
              <a:buFontTx/>
              <a:buAutoNum type="alphaLcParenR"/>
              <a:defRPr/>
            </a:pPr>
            <a:r>
              <a:rPr lang="en-US" dirty="0"/>
              <a:t> The right tube is rotated 90 degree to the right.   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FFD47-8CE3-5C1B-9037-A160E8F0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8A6B21-8637-4C4D-BBEE-80E72F3EC2F7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F79ED-37E7-3F97-D7BC-4A808262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>
            <a:extLst>
              <a:ext uri="{FF2B5EF4-FFF2-40B4-BE49-F238E27FC236}">
                <a16:creationId xmlns:a16="http://schemas.microsoft.com/office/drawing/2014/main" id="{53456DBF-3332-E5AB-40FB-DD41D4177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000"/>
            <a:ext cx="86106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77001-03CD-FCF0-5DF4-AF82DB12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BFEE97-967C-41FD-A49E-665FF9FA0656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1B8F0B-1E2C-2592-231D-5C9D8326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00EE8F-A015-496E-BAFF-02CE822E3A19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lacement">
            <a:extLst>
              <a:ext uri="{FF2B5EF4-FFF2-40B4-BE49-F238E27FC236}">
                <a16:creationId xmlns:a16="http://schemas.microsoft.com/office/drawing/2014/main" id="{6D3D1E73-BCB8-7FD2-C43E-DCD0AF5BE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8991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AC3A54-97D4-8E21-5009-F34A61D0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57D444-5720-47FB-91E5-5D31E1DA1846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88D9C-0D59-9EC7-C7DC-63FB21E2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00EE8F-A015-496E-BAFF-02CE822E3A19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A02EDED-09B0-490F-C802-787D3829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 dirty="0"/>
              <a:t>Inserting/ Positioning DLT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6F9C-1C55-FD4F-6FEC-B859681F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2600"/>
            <a:ext cx="9144000" cy="4343400"/>
          </a:xfrm>
        </p:spPr>
        <p:txBody>
          <a:bodyPr/>
          <a:lstStyle/>
          <a:p>
            <a:pPr eaLnBrk="1" hangingPunct="1"/>
            <a:r>
              <a:rPr lang="en-US" altLang="en-US"/>
              <a:t>Advancement of the tube ceases when moderate resistance to further passage is encountered, indicating that the tube tip has been firmly seated in the main stem bronchus.</a:t>
            </a:r>
          </a:p>
          <a:p>
            <a:pPr eaLnBrk="1" hangingPunct="1"/>
            <a:r>
              <a:rPr lang="en-US" altLang="en-US"/>
              <a:t>Once the tube is thought to be in the proper position a sequence of steps should be performed to check its location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A5CB0-7509-E687-4137-6D5DB94B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8920EE-CCF6-4A2F-90AD-37341B3810EF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0E0FB-4C5A-E1CD-5E16-AF69BF19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 descr="r&amp;lett">
            <a:extLst>
              <a:ext uri="{FF2B5EF4-FFF2-40B4-BE49-F238E27FC236}">
                <a16:creationId xmlns:a16="http://schemas.microsoft.com/office/drawing/2014/main" id="{A91F5330-94A8-0829-0AE6-B9C8CF50DE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0"/>
            <a:ext cx="8610600" cy="6400800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20B22-7569-B451-41F3-78340448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B0193A-C4C2-486F-9C0A-B7BC2018416F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F7B97-D674-CFB3-076C-9F97A88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FE14219-99E6-3C99-8054-749B7677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check its location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BA05B-FD9D-F5FD-BD92-302D552E1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305800" cy="5029200"/>
          </a:xfrm>
        </p:spPr>
        <p:txBody>
          <a:bodyPr/>
          <a:lstStyle/>
          <a:p>
            <a:pPr eaLnBrk="1" hangingPunct="1"/>
            <a:r>
              <a:rPr lang="en-US" altLang="en-US" b="1"/>
              <a:t>1</a:t>
            </a:r>
            <a:r>
              <a:rPr lang="en-US" altLang="en-US" b="1" baseline="30000"/>
              <a:t>st</a:t>
            </a:r>
            <a:r>
              <a:rPr lang="en-US" altLang="en-US" b="1"/>
              <a:t> step :-</a:t>
            </a:r>
            <a:r>
              <a:rPr lang="en-US" altLang="en-US"/>
              <a:t>the tracheal cuff –inflate &amp;equal   ventilation of both lungs,</a:t>
            </a:r>
          </a:p>
          <a:p>
            <a:pPr eaLnBrk="1" hangingPunct="1"/>
            <a:r>
              <a:rPr lang="en-US" altLang="en-US"/>
              <a:t> if unequal breathe sounds the tube probable too far down &amp;tracheal lumens in maistem bronchus</a:t>
            </a:r>
            <a:r>
              <a:rPr lang="en-US" altLang="en-US" b="1"/>
              <a:t> </a:t>
            </a:r>
            <a:r>
              <a:rPr lang="en-US" altLang="en-US"/>
              <a:t>or is lying at the carina-withdraw 2-3 cm it restores equal breath sounds.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6B463-13F6-50E3-C559-8DFDC9F5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FC66E5-53D4-46BB-BA29-D019780FC9C2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2F945-A047-82C4-CC68-BC2F546C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23062EAF-2F05-BB5F-6E60-81272F5F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/>
            </a:br>
            <a:br>
              <a:rPr lang="en-US" altLang="en-US"/>
            </a:br>
            <a:r>
              <a:rPr lang="en-US" altLang="en-US"/>
              <a:t>check its location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2C76A-F005-50D6-02F7-EA79B3ACC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52600"/>
            <a:ext cx="8305800" cy="4343400"/>
          </a:xfrm>
        </p:spPr>
        <p:txBody>
          <a:bodyPr/>
          <a:lstStyle/>
          <a:p>
            <a:pPr marL="342900" lvl="1" indent="-342900" eaLnBrk="1" hangingPunct="1">
              <a:buFontTx/>
              <a:buChar char="•"/>
            </a:pPr>
            <a:r>
              <a:rPr lang="en-US" altLang="en-US" b="1"/>
              <a:t>2</a:t>
            </a:r>
            <a:r>
              <a:rPr lang="en-US" altLang="en-US" b="1" baseline="30000"/>
              <a:t>nd</a:t>
            </a:r>
            <a:r>
              <a:rPr lang="en-US" altLang="en-US" b="1"/>
              <a:t> step:</a:t>
            </a:r>
            <a:r>
              <a:rPr lang="en-US" altLang="en-US"/>
              <a:t> - is to clamp the right side (in case of left sided tubes) </a:t>
            </a:r>
          </a:p>
          <a:p>
            <a:pPr marL="342900" lvl="1" indent="-342900" eaLnBrk="1" hangingPunct="1">
              <a:buFontTx/>
              <a:buChar char="•"/>
            </a:pPr>
            <a:r>
              <a:rPr lang="en-US" altLang="en-US"/>
              <a:t>Inflate bronchial cuff slowly with 2ml of air enough to avoid excessive pressure on the bronchus &amp;helps to avoid laceration.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20B2D-D712-91F4-0CD7-05AD17DB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91599F-2C46-46B9-912E-BFCDCB3BF830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8EF3B-2D8E-F93E-1B82-5043336A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F7859DAD-54D4-4200-A64E-A1CCFCB2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check its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60CC6-59F1-D154-50CF-C2FBE21B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4495800"/>
          </a:xfrm>
        </p:spPr>
        <p:txBody>
          <a:bodyPr/>
          <a:lstStyle/>
          <a:p>
            <a:pPr marL="342900" lvl="1" indent="-342900" eaLnBrk="1" hangingPunct="1">
              <a:buFontTx/>
              <a:buChar char="•"/>
            </a:pPr>
            <a:r>
              <a:rPr lang="en-US" altLang="en-US" b="1"/>
              <a:t>3</a:t>
            </a:r>
            <a:r>
              <a:rPr lang="en-US" altLang="en-US" b="1" baseline="30000"/>
              <a:t>rd</a:t>
            </a:r>
            <a:r>
              <a:rPr lang="en-US" altLang="en-US" b="1"/>
              <a:t> step:- </a:t>
            </a:r>
            <a:r>
              <a:rPr lang="en-US" altLang="en-US"/>
              <a:t>remove the clamp &amp; check both lungs are ventilated with both cuffs inflated. </a:t>
            </a:r>
          </a:p>
          <a:p>
            <a:pPr marL="342900" lvl="1" indent="-342900" eaLnBrk="1" hangingPunct="1">
              <a:buFontTx/>
              <a:buChar char="•"/>
            </a:pPr>
            <a:r>
              <a:rPr lang="en-US" altLang="en-US"/>
              <a:t>To ensure bronchial cuff is not obstructing the contralateral hemithorax either totally or partially. 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56DD2-6B1A-7356-3F98-0FA3FB6A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93F318-CC89-4157-B19D-AEEC9D554D0B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78F44-CCA7-288D-F207-20F783AA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8CBAA316-B7FE-DA4A-9450-B4D942B9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check its location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BA774E9E-9CFD-B03A-553B-5B7B2A587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 eaLnBrk="1" hangingPunct="1">
              <a:buFontTx/>
              <a:buChar char="•"/>
            </a:pPr>
            <a:r>
              <a:rPr lang="en-US" altLang="en-US" b="1"/>
              <a:t>Final step :- </a:t>
            </a:r>
            <a:r>
              <a:rPr lang="en-US" altLang="en-US"/>
              <a:t>selectively clamp each side &amp;watch for absences of movement &amp;breath sounds on the ipsilateral (clamped) side, the ventilated side should have a clear breathe sounds &amp;chest movement.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3E75C-8F42-03C3-FEFF-C0BDB52B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B17CB1-AE97-4E63-A6B2-352FBF39BFEA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3A8E2-BF96-A82E-8816-6067F64E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F23C7FD-37B3-0C6F-D6A0-801982C4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check its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C6035-E1EB-E3B2-03C1-D6EF5B5B4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1200"/>
            <a:ext cx="8839200" cy="4114800"/>
          </a:xfrm>
        </p:spPr>
        <p:txBody>
          <a:bodyPr/>
          <a:lstStyle/>
          <a:p>
            <a:pPr lvl="1" eaLnBrk="1" hangingPunct="1"/>
            <a:r>
              <a:rPr lang="en-US" altLang="en-US" b="1"/>
              <a:t>Other methods to ensure position of a DLT</a:t>
            </a:r>
            <a:endParaRPr lang="en-US" altLang="en-US"/>
          </a:p>
          <a:p>
            <a:pPr lvl="2" eaLnBrk="1" hangingPunct="1"/>
            <a:r>
              <a:rPr lang="en-US" altLang="en-US" sz="2800"/>
              <a:t>fluoroscopy</a:t>
            </a:r>
          </a:p>
          <a:p>
            <a:pPr lvl="2" eaLnBrk="1" hangingPunct="1"/>
            <a:r>
              <a:rPr lang="en-US" altLang="en-US" sz="2800"/>
              <a:t>chest x-ray</a:t>
            </a:r>
          </a:p>
          <a:p>
            <a:pPr lvl="2" eaLnBrk="1" hangingPunct="1"/>
            <a:r>
              <a:rPr lang="en-US" altLang="en-US" sz="2800"/>
              <a:t>selective capnography</a:t>
            </a:r>
          </a:p>
          <a:p>
            <a:pPr lvl="2" eaLnBrk="1" hangingPunct="1"/>
            <a:r>
              <a:rPr lang="en-US" altLang="en-US" sz="2800"/>
              <a:t>use of an under water seal</a:t>
            </a:r>
          </a:p>
          <a:p>
            <a:pPr lvl="2" eaLnBrk="1" hangingPunct="1"/>
            <a:r>
              <a:rPr lang="en-US" altLang="en-US" sz="2800"/>
              <a:t>pediatric fiberoptic bronchoscope</a:t>
            </a:r>
          </a:p>
          <a:p>
            <a:pPr lvl="2" eaLnBrk="1" hangingPunct="1"/>
            <a:r>
              <a:rPr lang="en-US" altLang="en-US" sz="2800"/>
              <a:t>Continuous spirometry &amp;clinical observation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4EE5E-EEBF-0103-4A4E-61649076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515CBC-A75A-4BD3-B1F4-67A98AF9BB5A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9E752-B20A-9403-8EB0-FD3BC719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4606F5F-9BFB-C897-A686-A13E2F27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…Left DLT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F9D1F5D-FB1D-8ED7-764D-46B454997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Contraindication:</a:t>
            </a:r>
          </a:p>
          <a:p>
            <a:pPr lvl="1" eaLnBrk="1" hangingPunct="1"/>
            <a:r>
              <a:rPr lang="en-US" altLang="en-US"/>
              <a:t>Presence of lesion along DLT pathway</a:t>
            </a:r>
          </a:p>
          <a:p>
            <a:pPr lvl="1" eaLnBrk="1" hangingPunct="1"/>
            <a:r>
              <a:rPr lang="en-US" altLang="en-US"/>
              <a:t>Difficult/impossible conventional direct vision intubation</a:t>
            </a:r>
          </a:p>
          <a:p>
            <a:pPr lvl="1" eaLnBrk="1" hangingPunct="1"/>
            <a:r>
              <a:rPr lang="en-US" altLang="en-US"/>
              <a:t>Critically ill patients with single lumen tube in situ who cannot tolerate even a short period of off mechanical ventilation </a:t>
            </a:r>
          </a:p>
          <a:p>
            <a:pPr lvl="1" eaLnBrk="1" hangingPunct="1"/>
            <a:r>
              <a:rPr lang="en-US" altLang="en-US"/>
              <a:t>Full stomach or high risk of aspiration</a:t>
            </a:r>
          </a:p>
          <a:p>
            <a:pPr lvl="1" eaLnBrk="1" hangingPunct="1"/>
            <a:r>
              <a:rPr lang="en-US" altLang="en-US"/>
              <a:t>Patients, too small (&lt;25-35kg) or too young (&lt; 8-12 yrs)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DCF14E-54BB-0A1A-F878-5A779BBC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0B6B5F-CE18-4CC8-BC8F-014F96A89009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13FD5E-FB04-1D0C-D300-F3BFDACF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512C44F-DF7B-2651-E27A-24A8D5FF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Univent Tube...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A1B38CD-49B5-4E6C-78E8-AB61451A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14400"/>
            <a:ext cx="4648200" cy="5943600"/>
          </a:xfrm>
        </p:spPr>
        <p:txBody>
          <a:bodyPr/>
          <a:lstStyle/>
          <a:p>
            <a:pPr eaLnBrk="1" hangingPunct="1"/>
            <a:r>
              <a:rPr lang="en-US" altLang="en-US" sz="2400"/>
              <a:t>Developed by Dr. Inoue</a:t>
            </a:r>
          </a:p>
          <a:p>
            <a:pPr eaLnBrk="1" hangingPunct="1"/>
            <a:r>
              <a:rPr lang="en-US" altLang="en-US" sz="2400"/>
              <a:t>Movable blocker shaft in external lumen of a single-lumen ET tube</a:t>
            </a:r>
          </a:p>
          <a:p>
            <a:pPr eaLnBrk="1" hangingPunct="1"/>
            <a:r>
              <a:rPr lang="en-US" altLang="en-US" sz="2400"/>
              <a:t>Easier to insert and properly position than DLT (diff airway, C-s injury, pedi or critical pts)</a:t>
            </a:r>
          </a:p>
          <a:p>
            <a:pPr eaLnBrk="1" hangingPunct="1"/>
            <a:r>
              <a:rPr lang="en-US" altLang="en-US" sz="2400"/>
              <a:t>No need to change the tube for postop ventilation</a:t>
            </a:r>
          </a:p>
          <a:p>
            <a:pPr eaLnBrk="1" hangingPunct="1"/>
            <a:r>
              <a:rPr lang="en-US" altLang="en-US" sz="2400"/>
              <a:t>When the blocker is inflated, that lung will not be ventilated</a:t>
            </a:r>
          </a:p>
          <a:p>
            <a:pPr eaLnBrk="1" hangingPunct="1"/>
            <a:r>
              <a:rPr lang="en-US" altLang="en-US" sz="2400"/>
              <a:t>Selective blockade of some lobes of the lung  </a:t>
            </a:r>
          </a:p>
          <a:p>
            <a:pPr eaLnBrk="1" hangingPunct="1"/>
            <a:r>
              <a:rPr lang="en-US" altLang="en-US" sz="2400"/>
              <a:t>Suction and delivery CPAP to the blocked lung</a:t>
            </a:r>
            <a:endParaRPr lang="en-US" altLang="en-US"/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D1A5BBEB-5EC4-7981-9A60-2E85D121B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825" y="990600"/>
            <a:ext cx="37004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90340-430D-5C53-EEE8-F7AAFAD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464A42-787D-485E-88CA-89C90216D229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A26B2-CD8D-5563-3E4D-350BAB60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BE7A90A-9B26-568D-C605-E3374438A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...Univent Tube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38E43D8-3649-630C-32C5-E2AA63C3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71600"/>
            <a:ext cx="4495800" cy="5181600"/>
          </a:xfrm>
        </p:spPr>
        <p:txBody>
          <a:bodyPr/>
          <a:lstStyle/>
          <a:p>
            <a:pPr eaLnBrk="1" hangingPunct="1"/>
            <a:r>
              <a:rPr lang="en-US" altLang="en-US" sz="2400"/>
              <a:t>Slow deflation (need suction) and inflation (short PPV or jet ventilation)</a:t>
            </a:r>
          </a:p>
          <a:p>
            <a:pPr eaLnBrk="1" hangingPunct="1"/>
            <a:r>
              <a:rPr lang="en-US" altLang="en-US" sz="2400"/>
              <a:t>Blockage of bronchial blocker lumen</a:t>
            </a:r>
          </a:p>
          <a:p>
            <a:pPr eaLnBrk="1" hangingPunct="1"/>
            <a:r>
              <a:rPr lang="en-US" altLang="en-US" sz="2400"/>
              <a:t>Higher endobronchial cuff volumes +pressure (just-seal volume recommended)</a:t>
            </a:r>
          </a:p>
          <a:p>
            <a:pPr eaLnBrk="1" hangingPunct="1"/>
            <a:r>
              <a:rPr lang="en-US" altLang="en-US" sz="2400"/>
              <a:t>Higher rate of intraoperative leak in the</a:t>
            </a:r>
            <a:r>
              <a:rPr lang="en-US" altLang="en-US" sz="2800"/>
              <a:t>  blocker cuff</a:t>
            </a:r>
          </a:p>
          <a:p>
            <a:pPr eaLnBrk="1" hangingPunct="1"/>
            <a:r>
              <a:rPr lang="en-US" altLang="en-US" sz="2400"/>
              <a:t>Higher failure rate if the blocker advanced blindly</a:t>
            </a:r>
            <a:endParaRPr lang="en-US" altLang="en-US" sz="2800"/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8EC480D5-A8AA-6608-A0D5-80E301741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513" y="1371600"/>
            <a:ext cx="3700462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72EEE-4B28-6D47-DC9A-5D9B0C27E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54010-45EB-4CAA-82D2-FDDAB4841F5E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2F4AD-FDD0-ACBF-1EB4-3E4B20A3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2FA9587-314C-E4C3-BFA8-4BAE3FA5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Other Methods of OLV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747FF0D-F150-BCD9-1880-466C113A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924800" cy="4724400"/>
          </a:xfrm>
        </p:spPr>
        <p:txBody>
          <a:bodyPr/>
          <a:lstStyle/>
          <a:p>
            <a:pPr eaLnBrk="1" hangingPunct="1"/>
            <a:r>
              <a:rPr lang="en-US" altLang="en-US" sz="2800"/>
              <a:t>Single-lumen ETT with a balloon-tipped catheter</a:t>
            </a:r>
          </a:p>
          <a:p>
            <a:pPr lvl="1" eaLnBrk="1" hangingPunct="1"/>
            <a:r>
              <a:rPr lang="en-US" altLang="en-US" sz="2400"/>
              <a:t>Including Fogarty embolectomy catheter, Magill or Foley, and Swan-Ganz catheter (children &lt; 10 kg)</a:t>
            </a:r>
          </a:p>
          <a:p>
            <a:pPr lvl="1" eaLnBrk="1" hangingPunct="1"/>
            <a:r>
              <a:rPr lang="en-US" altLang="en-US" sz="2400"/>
              <a:t>Not reliable and may be more time-consuming </a:t>
            </a:r>
          </a:p>
          <a:p>
            <a:pPr lvl="1" eaLnBrk="1" hangingPunct="1"/>
            <a:r>
              <a:rPr lang="en-US" altLang="en-US" sz="2400"/>
              <a:t>Inability to suction or ventilate the blocked lung</a:t>
            </a:r>
          </a:p>
          <a:p>
            <a:pPr eaLnBrk="1" hangingPunct="1"/>
            <a:r>
              <a:rPr lang="en-US" altLang="en-US" sz="2800"/>
              <a:t>Endobronchial intubation of single-lumen ETT</a:t>
            </a:r>
          </a:p>
          <a:p>
            <a:pPr lvl="1" eaLnBrk="1" hangingPunct="1"/>
            <a:r>
              <a:rPr lang="en-US" altLang="en-US" sz="2400"/>
              <a:t>The easiest and quickest way of separating one lung from the other bleeding one, esp. from left lung</a:t>
            </a:r>
          </a:p>
          <a:p>
            <a:pPr lvl="1" eaLnBrk="1" hangingPunct="1"/>
            <a:r>
              <a:rPr lang="en-US" altLang="en-US" sz="2400"/>
              <a:t>More often used for pedi patients</a:t>
            </a:r>
          </a:p>
          <a:p>
            <a:pPr lvl="1" eaLnBrk="1" hangingPunct="1"/>
            <a:r>
              <a:rPr lang="en-US" altLang="en-US" sz="2400"/>
              <a:t>More likely to cause serious hypoxemia or severe bronchial damage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DADC8-81ED-4433-CDF3-FFA3F0B7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674323-6C86-4420-BD31-5BD09E26EDE8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329F3-E860-AB3A-42AA-9123256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DC607A7F-7C2F-8BEE-3E45-243F176E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4000" b="1" u="sng"/>
              <a:t>Problems of malposition of DLT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84E2-0202-89B2-88E9-6C3380386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8839200" cy="5486400"/>
          </a:xfrm>
        </p:spPr>
        <p:txBody>
          <a:bodyPr/>
          <a:lstStyle/>
          <a:p>
            <a:pPr marL="514350" indent="-514350" eaLnBrk="1" hangingPunct="1">
              <a:buFontTx/>
              <a:buAutoNum type="arabicPlain"/>
            </a:pPr>
            <a:r>
              <a:rPr lang="en-US" altLang="en-US" b="1"/>
              <a:t> </a:t>
            </a:r>
            <a:r>
              <a:rPr lang="en-US" altLang="en-US" sz="2400" b="1"/>
              <a:t>DLT in wrong bronchus</a:t>
            </a:r>
          </a:p>
          <a:p>
            <a:pPr marL="514350" indent="-514350" eaLnBrk="1" hangingPunct="1">
              <a:buFontTx/>
              <a:buAutoNum type="arabicPlain"/>
            </a:pPr>
            <a:r>
              <a:rPr lang="en-US" altLang="en-US" sz="2400"/>
              <a:t>DLT may be passes too far down either the right or left mainstem bronchus</a:t>
            </a:r>
          </a:p>
          <a:p>
            <a:pPr marL="514350" indent="-514350" eaLnBrk="1" hangingPunct="1">
              <a:buFontTx/>
              <a:buAutoNum type="arabicPlain"/>
            </a:pPr>
            <a:r>
              <a:rPr lang="en-US" altLang="en-US" sz="2400" b="1"/>
              <a:t> DLT not inserted for enough</a:t>
            </a:r>
          </a:p>
          <a:p>
            <a:pPr marL="514350" indent="-514350" eaLnBrk="1" hangingPunct="1">
              <a:buFontTx/>
              <a:buAutoNum type="arabicPlain"/>
            </a:pPr>
            <a:r>
              <a:rPr lang="en-US" altLang="en-US" sz="2400" b="1"/>
              <a:t>A right-sided DLT may occlude the right upper lobe orifice.</a:t>
            </a:r>
          </a:p>
          <a:p>
            <a:pPr marL="514350" indent="-514350" eaLnBrk="1" hangingPunct="1">
              <a:buFontTx/>
              <a:buAutoNum type="arabicPlain"/>
            </a:pPr>
            <a:r>
              <a:rPr lang="en-US" altLang="en-US" sz="2400" b="1"/>
              <a:t>The left upper lobe orifice may be obstructed by a left side DLT</a:t>
            </a:r>
            <a:r>
              <a:rPr lang="en-US" altLang="en-US" sz="2400"/>
              <a:t>. </a:t>
            </a:r>
          </a:p>
          <a:p>
            <a:pPr marL="514350" indent="-514350" eaLnBrk="1" hangingPunct="1">
              <a:buFontTx/>
              <a:buAutoNum type="arabicPlain"/>
            </a:pPr>
            <a:r>
              <a:rPr lang="en-US" altLang="en-US" sz="2400"/>
              <a:t>  </a:t>
            </a:r>
            <a:r>
              <a:rPr lang="en-US" altLang="en-US" sz="2400" b="1"/>
              <a:t>Bronchial cuff herination &amp; may obstruct the bronchial lumen</a:t>
            </a:r>
            <a:r>
              <a:rPr lang="en-US" altLang="en-US" sz="2400"/>
              <a:t> </a:t>
            </a:r>
          </a:p>
          <a:p>
            <a:pPr marL="514350" indent="-514350" eaLnBrk="1" hangingPunct="1">
              <a:buFontTx/>
              <a:buAutoNum type="arabicPlain"/>
            </a:pPr>
            <a:r>
              <a:rPr lang="en-US" altLang="en-US" sz="2400" b="1"/>
              <a:t>Rare complication </a:t>
            </a:r>
          </a:p>
          <a:p>
            <a:pPr lvl="1" eaLnBrk="1" hangingPunct="1"/>
            <a:r>
              <a:rPr lang="en-US" altLang="en-US" sz="2000" b="1"/>
              <a:t> </a:t>
            </a:r>
            <a:r>
              <a:rPr lang="en-US" altLang="en-US" sz="2000"/>
              <a:t>tracheal rupture, </a:t>
            </a:r>
          </a:p>
          <a:p>
            <a:pPr lvl="1" eaLnBrk="1" hangingPunct="1"/>
            <a:r>
              <a:rPr lang="en-US" altLang="en-US" sz="2000"/>
              <a:t>over inflation of the bronchial cuff, </a:t>
            </a:r>
          </a:p>
          <a:p>
            <a:pPr lvl="1" eaLnBrk="1" hangingPunct="1"/>
            <a:r>
              <a:rPr lang="en-US" altLang="en-US" sz="2000"/>
              <a:t>  inappropriate positioning</a:t>
            </a:r>
          </a:p>
          <a:p>
            <a:pPr marL="514350" indent="-514350" eaLnBrk="1" hangingPunct="1">
              <a:buFontTx/>
              <a:buAutoNum type="arabicPlain"/>
            </a:pP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AE778-29F6-8532-C1CF-0D3F1A6B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3020C0-8FBC-4376-A0EE-47B40EB6E868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2465E-A3C2-EED3-6997-DF5FC56A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82C4-6AAA-82D4-E6B8-D257E57D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1"/>
            <a:ext cx="8991600" cy="2209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366FF"/>
                </a:solidFill>
              </a:rPr>
              <a:t>ANESTHETIC MANAGEMENT</a:t>
            </a:r>
            <a:endParaRPr lang="en-US" sz="5400" dirty="0">
              <a:solidFill>
                <a:srgbClr val="3366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AAE620-6502-DA26-DB75-9D168960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C7CFE0-3098-4802-8974-7BCC4C33785F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521FE-83CA-9DFC-62B1-EFE88A6E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428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ANESTHETIC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0969" cy="430595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Induction of Anesthesia</a:t>
            </a:r>
          </a:p>
          <a:p>
            <a:r>
              <a:rPr lang="en-US" dirty="0"/>
              <a:t>The selection of an induction agent should be based on the patient’s preoperative status. </a:t>
            </a:r>
          </a:p>
          <a:p>
            <a:r>
              <a:rPr lang="en-US" dirty="0"/>
              <a:t>All patients should receive adequate preoxygenation before induction.</a:t>
            </a:r>
          </a:p>
          <a:p>
            <a:pPr marL="0" indent="0">
              <a:buNone/>
            </a:pPr>
            <a:r>
              <a:rPr lang="en-US" dirty="0"/>
              <a:t> An adequate depth of anesthesia will help prevent reflex bronchospasm and exaggerated cardiovascular pressor responses to laryngoscopy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CAFD5-F93C-521A-B622-04B1CD01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39164A-7C3C-4B82-864D-5D1A141E48E4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D05FE-14B8-789B-082A-9E7B6BCE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7487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ANESTHETIC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This may be accomplished by incremental doses of the induction agent, an opioid, or deepening the anesthesia with a volatile inhalation agent</a:t>
            </a:r>
          </a:p>
          <a:p>
            <a:endParaRPr lang="en-US" dirty="0"/>
          </a:p>
          <a:p>
            <a:r>
              <a:rPr lang="en-US" dirty="0"/>
              <a:t>GA with thoracic epidural analgesia, intercostal block, paravertebral block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475E1-8676-2C4C-40A0-65D30AD5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FE47EF-27DC-4F92-B56E-34FB1B138DB3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6A7E6-4F1E-86EB-EB40-DDE1647B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65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ANESTHETIC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382000" cy="4906962"/>
          </a:xfrm>
        </p:spPr>
        <p:txBody>
          <a:bodyPr/>
          <a:lstStyle/>
          <a:p>
            <a:pPr algn="just"/>
            <a:r>
              <a:rPr lang="en-US" sz="2800" dirty="0"/>
              <a:t>In Thoracic surgical patients ,there is Risk of increased airway reactivity &amp; bronchoconstriction, as the patients are chronic  smokers, has chronic bronchitis &amp; or COPD.</a:t>
            </a:r>
          </a:p>
          <a:p>
            <a:pPr algn="just"/>
            <a:r>
              <a:rPr lang="en-US" sz="2800" dirty="0"/>
              <a:t>Surgical manipulations of the airway &amp; bronchial tree by instrument, DLT, or the surgeon make bronchoconstriction more likely to occur</a:t>
            </a:r>
          </a:p>
          <a:p>
            <a:pPr algn="just"/>
            <a:r>
              <a:rPr lang="en-US" sz="2800" dirty="0"/>
              <a:t>Halothane, </a:t>
            </a:r>
            <a:r>
              <a:rPr lang="en-US" sz="2800" dirty="0" err="1"/>
              <a:t>enflurane</a:t>
            </a:r>
            <a:r>
              <a:rPr lang="en-US" sz="2800" dirty="0"/>
              <a:t> &amp; </a:t>
            </a:r>
            <a:r>
              <a:rPr lang="en-US" sz="2800" dirty="0" err="1"/>
              <a:t>isoflurane</a:t>
            </a:r>
            <a:r>
              <a:rPr lang="en-US" sz="2800" dirty="0"/>
              <a:t> - decrease airway irritability &amp; bronchoconstriction provoked by </a:t>
            </a:r>
            <a:r>
              <a:rPr lang="en-US" sz="2800" dirty="0" err="1"/>
              <a:t>hypocapnea</a:t>
            </a:r>
            <a:r>
              <a:rPr lang="en-US" sz="2800" dirty="0"/>
              <a:t> or inhaled or irritant aerosols - which makes them the drug  choice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37C97-0E5B-7E2E-361C-7E69F0EC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BF83FF-CCF9-446E-9948-94F3437A0EDA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2F3E5-1321-3A42-1A44-BC07A840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22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040524" y="152400"/>
            <a:ext cx="6858000" cy="971550"/>
          </a:xfrm>
        </p:spPr>
        <p:txBody>
          <a:bodyPr/>
          <a:lstStyle/>
          <a:p>
            <a:pPr eaLnBrk="1" hangingPunct="1"/>
            <a:r>
              <a:rPr lang="en-US" b="1" dirty="0"/>
              <a:t>Anesthetic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845" y="1123950"/>
            <a:ext cx="8111359" cy="4305300"/>
          </a:xfrm>
        </p:spPr>
        <p:txBody>
          <a:bodyPr/>
          <a:lstStyle/>
          <a:p>
            <a:pPr eaLnBrk="1" hangingPunct="1"/>
            <a:r>
              <a:rPr lang="en-US" dirty="0"/>
              <a:t>Halothane is preferable for inhalation induction as it is least pungent but once the patient asleep </a:t>
            </a:r>
            <a:r>
              <a:rPr lang="en-US" dirty="0" err="1"/>
              <a:t>isoflurane</a:t>
            </a:r>
            <a:r>
              <a:rPr lang="en-US" dirty="0"/>
              <a:t> may be preferable because it raises cardiac arrhythmia threshold &amp; provide greater CV – stability.</a:t>
            </a:r>
          </a:p>
          <a:p>
            <a:pPr eaLnBrk="1" hangingPunct="1"/>
            <a:r>
              <a:rPr lang="en-US" dirty="0"/>
              <a:t>Nitrous oxide - narcotic - relaxant anesthesia can be used but N</a:t>
            </a:r>
            <a:r>
              <a:rPr lang="en-US" baseline="-25000" dirty="0"/>
              <a:t>2</a:t>
            </a:r>
            <a:r>
              <a:rPr lang="en-US" dirty="0"/>
              <a:t>O necessitates a significance decrease in FIO2 &amp; high chance of hypoxia.</a:t>
            </a:r>
          </a:p>
          <a:p>
            <a:pPr eaLnBrk="1" hangingPunct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8EFA2-F688-A371-2386-98408670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1F4209-155F-4ECA-8724-111DCE1CD4CF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6E6D9-748B-A21B-CB33-DEA9E291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9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657350" y="1028700"/>
            <a:ext cx="5829300" cy="514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/>
              <a:t>Anesthetic Considerations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197" y="1600200"/>
            <a:ext cx="8631621" cy="40005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250" dirty="0"/>
              <a:t>Fentanyl does not influence </a:t>
            </a:r>
            <a:r>
              <a:rPr lang="en-US" sz="2250" dirty="0" err="1"/>
              <a:t>bronchmotor</a:t>
            </a:r>
            <a:r>
              <a:rPr lang="en-US" sz="2250" dirty="0"/>
              <a:t> tone but morphine does by a central </a:t>
            </a:r>
            <a:r>
              <a:rPr lang="en-US" sz="2250" dirty="0" err="1"/>
              <a:t>Vagotonic</a:t>
            </a:r>
            <a:r>
              <a:rPr lang="en-US" sz="2250" dirty="0"/>
              <a:t> effect &amp; by histamine release.</a:t>
            </a:r>
          </a:p>
          <a:p>
            <a:r>
              <a:rPr lang="en-US" sz="2400" dirty="0"/>
              <a:t>In most patients, anesthesia is safely induced with propofol or </a:t>
            </a:r>
            <a:r>
              <a:rPr lang="en-US" sz="2400" dirty="0" err="1"/>
              <a:t>etomidate</a:t>
            </a:r>
            <a:r>
              <a:rPr lang="en-US" dirty="0"/>
              <a:t>.</a:t>
            </a:r>
          </a:p>
          <a:p>
            <a:pPr eaLnBrk="1" hangingPunct="1"/>
            <a:r>
              <a:rPr lang="en-US" sz="2250" dirty="0"/>
              <a:t>In patients with reactive airway, ketamine may be preferred as it is used in the treatment of asthma successfully.  </a:t>
            </a:r>
          </a:p>
          <a:p>
            <a:pPr eaLnBrk="1" hangingPunct="1"/>
            <a:r>
              <a:rPr lang="en-US" sz="2250" dirty="0"/>
              <a:t>Thiopentone has been associated with bronchospasm in asthmatic patients, although it is related with inadequate level of anesthesia before  instrumentation of the airway.</a:t>
            </a:r>
          </a:p>
          <a:p>
            <a:pPr eaLnBrk="1" hangingPunct="1"/>
            <a:endParaRPr lang="en-US" sz="225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6DE0D-0080-6B93-C5DA-47C07A3B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C7A5A6-FCF7-44D3-BC24-8702C43E06A5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F5642-841B-932E-CF29-F20267A2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50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143000" y="857250"/>
            <a:ext cx="6858000" cy="1085850"/>
          </a:xfrm>
        </p:spPr>
        <p:txBody>
          <a:bodyPr/>
          <a:lstStyle/>
          <a:p>
            <a:pPr eaLnBrk="1" hangingPunct="1"/>
            <a:r>
              <a:rPr lang="en-US" b="1"/>
              <a:t>Anesthetic Considerations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43100"/>
            <a:ext cx="8153400" cy="3486150"/>
          </a:xfrm>
        </p:spPr>
        <p:txBody>
          <a:bodyPr/>
          <a:lstStyle/>
          <a:p>
            <a:pPr eaLnBrk="1" hangingPunct="1"/>
            <a:r>
              <a:rPr lang="en-US" dirty="0"/>
              <a:t>The choice of muscle relaxants are those that lack histamine  releasing or </a:t>
            </a:r>
            <a:r>
              <a:rPr lang="en-US" dirty="0" err="1"/>
              <a:t>vagotonic</a:t>
            </a:r>
            <a:r>
              <a:rPr lang="en-US" dirty="0"/>
              <a:t> effect &amp; have some </a:t>
            </a:r>
            <a:r>
              <a:rPr lang="en-US" dirty="0" err="1"/>
              <a:t>sympatomimetic</a:t>
            </a:r>
            <a:r>
              <a:rPr lang="en-US" dirty="0"/>
              <a:t> effect </a:t>
            </a:r>
            <a:r>
              <a:rPr lang="en-US" dirty="0" err="1"/>
              <a:t>pancuronium</a:t>
            </a:r>
            <a:r>
              <a:rPr lang="en-US" dirty="0"/>
              <a:t> &amp; </a:t>
            </a:r>
            <a:r>
              <a:rPr lang="en-US" dirty="0" err="1"/>
              <a:t>vecronium</a:t>
            </a:r>
            <a:r>
              <a:rPr lang="en-US" dirty="0"/>
              <a:t> are the drug of choice. </a:t>
            </a:r>
          </a:p>
          <a:p>
            <a:pPr eaLnBrk="1" hangingPunct="1"/>
            <a:r>
              <a:rPr lang="en-US" dirty="0"/>
              <a:t> Succinylcholine can be used for rapid relaxation &amp; intubations not associated with an increase in airway reactivity.</a:t>
            </a:r>
          </a:p>
          <a:p>
            <a:pPr eaLnBrk="1" hangingPunct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08C44-2B83-C43E-F40E-3B242B27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C89DA1-B5C8-4D91-92A8-92581442FC33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882CD-7278-DFE1-EF5B-6C844AA8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06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533400" y="208925"/>
            <a:ext cx="6743700" cy="685800"/>
          </a:xfrm>
        </p:spPr>
        <p:txBody>
          <a:bodyPr/>
          <a:lstStyle/>
          <a:p>
            <a:pPr eaLnBrk="1" hangingPunct="1"/>
            <a:r>
              <a:rPr lang="en-US" b="1" dirty="0"/>
              <a:t>Anesthetic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629150"/>
          </a:xfrm>
        </p:spPr>
        <p:txBody>
          <a:bodyPr/>
          <a:lstStyle/>
          <a:p>
            <a:pPr eaLnBrk="1" hangingPunct="1"/>
            <a:r>
              <a:rPr lang="en-US" b="1" dirty="0"/>
              <a:t>IV - lidocaine</a:t>
            </a:r>
            <a:r>
              <a:rPr lang="en-US" dirty="0"/>
              <a:t> (1-2 mg/kg) before manipulation of the airway to prevent reflex </a:t>
            </a:r>
            <a:r>
              <a:rPr lang="en-US" dirty="0" err="1"/>
              <a:t>bronchosposm</a:t>
            </a:r>
            <a:r>
              <a:rPr lang="en-US" dirty="0"/>
              <a:t>. </a:t>
            </a:r>
          </a:p>
          <a:p>
            <a:pPr eaLnBrk="1" hangingPunct="1"/>
            <a:r>
              <a:rPr lang="en-US" dirty="0"/>
              <a:t> It is also given by infusion to depress airway - reactivity in patients.</a:t>
            </a:r>
          </a:p>
          <a:p>
            <a:pPr eaLnBrk="1" hangingPunct="1"/>
            <a:r>
              <a:rPr lang="en-US" dirty="0"/>
              <a:t> IV - lidocaine allow to treat </a:t>
            </a:r>
            <a:r>
              <a:rPr lang="en-US" dirty="0" err="1"/>
              <a:t>brochospasm</a:t>
            </a:r>
            <a:r>
              <a:rPr lang="en-US" dirty="0"/>
              <a:t> occurring during anesthesia.</a:t>
            </a:r>
          </a:p>
          <a:p>
            <a:pPr eaLnBrk="1" hangingPunct="1"/>
            <a:r>
              <a:rPr lang="en-US" dirty="0"/>
              <a:t>Atropine - for </a:t>
            </a:r>
            <a:r>
              <a:rPr lang="en-US" dirty="0" err="1"/>
              <a:t>antimuscarinic</a:t>
            </a:r>
            <a:r>
              <a:rPr lang="en-US" dirty="0"/>
              <a:t> effects of acetylcholine &amp; protect cholinergic induced bronchoconstriction..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9C5C4F-FB84-5DA1-63F9-FDAEEC58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275198-5157-442F-B682-EF9759A5FBDC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600A8-0F8F-33DA-D99D-DB2E0705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52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Positioning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Following induction, intubation, and confirmation of correct tracheal or bronchial blocker position, additional venous access and monitoring may be obtained before the patient is positioned for surgery. </a:t>
            </a:r>
          </a:p>
          <a:p>
            <a:r>
              <a:rPr lang="en-US" sz="2800" dirty="0"/>
              <a:t>Most lung resections are performed with the patient in the lateral decubitus position. </a:t>
            </a:r>
          </a:p>
          <a:p>
            <a:r>
              <a:rPr lang="en-US" sz="2800" dirty="0"/>
              <a:t>Proper positioning avoids injuries and facilitates surgical exposure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CF01A-B2DB-4B8E-1CEE-BB16CBDB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253631-2A7A-4DEB-97FE-2F831E71DB83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F19E2-192B-0EA9-ED5E-3471E4C2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639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Positioning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131" y="2125267"/>
            <a:ext cx="7378262" cy="349711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325E9-009D-CDF8-B619-BE5EDFE8B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17208F-7396-48B8-9372-9C0B578D1694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99E9F-49F2-9A64-5816-FD80720A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3895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543050" y="685800"/>
            <a:ext cx="5829300" cy="914400"/>
          </a:xfrm>
        </p:spPr>
        <p:txBody>
          <a:bodyPr/>
          <a:lstStyle/>
          <a:p>
            <a:pPr eaLnBrk="1" hangingPunct="1"/>
            <a:r>
              <a:rPr lang="en-US" b="1" dirty="0"/>
              <a:t>FLUID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686800" cy="4199540"/>
          </a:xfrm>
        </p:spPr>
        <p:txBody>
          <a:bodyPr/>
          <a:lstStyle/>
          <a:p>
            <a:pPr eaLnBrk="1" hangingPunct="1"/>
            <a:r>
              <a:rPr lang="en-US" dirty="0"/>
              <a:t>Following lung resection, there is an increased potential for pulmonary edema to develop.</a:t>
            </a:r>
          </a:p>
          <a:p>
            <a:pPr eaLnBrk="1" hangingPunct="1"/>
            <a:r>
              <a:rPr lang="en-US" dirty="0"/>
              <a:t> Right </a:t>
            </a:r>
            <a:r>
              <a:rPr lang="en-US" dirty="0" err="1"/>
              <a:t>pneumonectomy</a:t>
            </a:r>
            <a:r>
              <a:rPr lang="en-US" dirty="0"/>
              <a:t> is associated with the highest risk of this complication-which is associated with a high mortality</a:t>
            </a:r>
          </a:p>
          <a:p>
            <a:pPr eaLnBrk="1" hangingPunct="1"/>
            <a:r>
              <a:rPr lang="en-US" dirty="0"/>
              <a:t>Pulmonary edema may develop due to several factors.</a:t>
            </a:r>
          </a:p>
          <a:p>
            <a:pPr marL="0" indent="0" eaLnBrk="1" hangingPunct="1">
              <a:buNone/>
            </a:pPr>
            <a:endParaRPr lang="en-US" dirty="0"/>
          </a:p>
          <a:p>
            <a:pPr marL="457200" lvl="1" indent="0" eaLnBrk="1" hangingPunct="1"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CEAEE-0AFD-561E-E6C7-600CC959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6E5DF0-D29C-447F-8395-DF7F35099B2A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BB848-2513-8FB3-64B3-D79DD21F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59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248D-CF66-52F7-0186-4DB043A9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FLUID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F513-FB4D-AE16-0803-9757FE9A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dirty="0"/>
              <a:t>Following pneumonectomy, the entire pulmonary blood flow is directed into the remaining lung, raising pulmonary vessel hydrostatic pressures. </a:t>
            </a:r>
          </a:p>
          <a:p>
            <a:pPr lvl="1" eaLnBrk="1" hangingPunct="1"/>
            <a:r>
              <a:rPr lang="en-US" dirty="0"/>
              <a:t>In addition, loss of lymphatic drainage occurs about one half of the lymphatic drainage of the left lung occurs via the right lung, this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210F3-0688-AD94-5398-68391E02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2DA53A-199F-406F-ADB9-16D401CC232C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2EC1A-858E-B670-304D-C0479476B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706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229350" cy="609600"/>
          </a:xfrm>
        </p:spPr>
        <p:txBody>
          <a:bodyPr/>
          <a:lstStyle/>
          <a:p>
            <a:pPr eaLnBrk="1" hangingPunct="1"/>
            <a:r>
              <a:rPr lang="en-US" sz="2400" b="1" dirty="0"/>
              <a:t>FLUID MANAGEMENT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382000" cy="51816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sz="3400" dirty="0"/>
              <a:t>For the above reasons, it is important to avoid  fluid over load in the first hour intraopratively and 1.5 L in the first 24 hours post operatively. </a:t>
            </a:r>
          </a:p>
          <a:p>
            <a:r>
              <a:rPr lang="en-US" sz="3400" dirty="0"/>
              <a:t>Intravenous fluids are administered to replace volume deficits and for maintenance only during lung resection anesthesia</a:t>
            </a:r>
          </a:p>
          <a:p>
            <a:r>
              <a:rPr lang="en-US" sz="3400" dirty="0"/>
              <a:t>No volume is given for “third space” losses</a:t>
            </a:r>
          </a:p>
          <a:p>
            <a:pPr eaLnBrk="1" hangingPunct="1"/>
            <a:r>
              <a:rPr lang="en-US" sz="3400" dirty="0"/>
              <a:t>Blood transfusion should be commenced at the usual clinical triggers. </a:t>
            </a:r>
          </a:p>
          <a:p>
            <a:pPr eaLnBrk="1" hangingPunct="1"/>
            <a:r>
              <a:rPr lang="en-US" sz="3400" dirty="0"/>
              <a:t>If colloids have been administered, they may worsen the severity of subsequent pulmonary edema as they cannot be resorbed as quickly as crystalloid and hence should be avoided</a:t>
            </a:r>
          </a:p>
          <a:p>
            <a:pPr eaLnBrk="1" hangingPunct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D6B53-2FEF-8947-0F6F-00980215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B432CD-CB07-4A80-920E-DB8F0F30671A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FFF0C-F864-1076-6372-C4741C60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22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FLUID MANAGEMENT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85589"/>
            <a:ext cx="8286750" cy="3263504"/>
          </a:xfrm>
        </p:spPr>
        <p:txBody>
          <a:bodyPr>
            <a:normAutofit/>
          </a:bodyPr>
          <a:lstStyle/>
          <a:p>
            <a:r>
              <a:rPr lang="en-US" dirty="0"/>
              <a:t>Why pulmonary edema is more dangerous in this patients?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EE94F-5E16-5C1A-3636-20ADC3E6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27920-ADA6-481A-AF89-1A11D93CBEB0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70C44-5509-01DA-2610-3984619A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471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MANAGEMENT OF ONE-LUNG VENTILATION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076" y="1752600"/>
            <a:ext cx="8515350" cy="4191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Inspired Oxygen Fraction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An FIO2 (fraction of inspired oxygen) of 1.0 is generally recommended during OLV.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High oxygen concentration serves to protect against hypoxemia during the procedure and provides a higher margin of safety.</a:t>
            </a:r>
          </a:p>
          <a:p>
            <a:endParaRPr lang="en-US" dirty="0"/>
          </a:p>
          <a:p>
            <a:r>
              <a:rPr lang="en-US" dirty="0"/>
              <a:t> What is the effect of using high FIO2????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0E38-5D48-84D2-A310-C84559C4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6524CC-6B35-4BCD-94B6-C2FC5F21AB73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D3F09-52FD-16F3-55FC-65B2B9F9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09386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MANAGEMENT OF ONE-LUNG VENTILATION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Inspired Oxygen Fraction</a:t>
            </a:r>
          </a:p>
          <a:p>
            <a:endParaRPr lang="en-US" b="1" dirty="0"/>
          </a:p>
          <a:p>
            <a:r>
              <a:rPr lang="en-US" dirty="0"/>
              <a:t>A high FIO2 may, however, cause absorption atelectasis and potentially further increase the amount of shunt because of the collapsed alveoli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394A0-BB12-8CFC-72D1-1FE8EE77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A1112E-C61B-4040-9D1A-40CC1C297313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5EC68-CFE1-30F1-87AD-8474A4AB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56826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E4B9220-A72D-A80B-2261-E23AB236E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altLang="en-US" dirty="0"/>
              <a:t>Management of OLV...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DABA78A-CF30-11F8-765B-4E773630A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0101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Initial management of OLV anesthesia:</a:t>
            </a:r>
          </a:p>
          <a:p>
            <a:pPr lvl="1" eaLnBrk="1" hangingPunct="1"/>
            <a:r>
              <a:rPr lang="en-US" altLang="en-US" dirty="0"/>
              <a:t>Maintain two-lung ventilation as long as possible</a:t>
            </a:r>
          </a:p>
          <a:p>
            <a:pPr lvl="1" eaLnBrk="1" hangingPunct="1"/>
            <a:r>
              <a:rPr lang="en-US" altLang="en-US" dirty="0"/>
              <a:t>Use FIO2 = 1.0</a:t>
            </a:r>
          </a:p>
          <a:p>
            <a:pPr lvl="1" eaLnBrk="1" hangingPunct="1"/>
            <a:r>
              <a:rPr lang="en-US" altLang="en-US" dirty="0"/>
              <a:t>TV-Two strategies: 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       high tidal volume (10-12 ml/kg) without PEEP or </a:t>
            </a:r>
          </a:p>
          <a:p>
            <a:pPr lvl="2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       moderate tidal volume (6-8  ml/kg) with PEEP </a:t>
            </a:r>
          </a:p>
          <a:p>
            <a:pPr lvl="1" eaLnBrk="1" hangingPunct="1"/>
            <a:r>
              <a:rPr lang="en-US" altLang="en-US" dirty="0"/>
              <a:t>Adjust RR (increasing 20-30%) to keep PaCO2 = 40 mmHg</a:t>
            </a:r>
          </a:p>
          <a:p>
            <a:pPr lvl="1" eaLnBrk="1" hangingPunct="1"/>
            <a:r>
              <a:rPr lang="en-US" altLang="en-US" dirty="0"/>
              <a:t>Continuous monitoring of oxygenation and ventilation (SpO2, ABG and ET CO2)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9F183-A41F-33D1-3E6F-2E22B5AD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92B8AF-F76C-4277-8D73-096DEA8AD509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601ED2-B26A-1BA3-5735-D5EB084D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0A8F425-50F5-6603-F50A-E1D3231B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57200"/>
            <a:ext cx="634365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...Management of OLV</a:t>
            </a:r>
            <a:endParaRPr lang="en-US" altLang="en-US" sz="3600" b="1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1AFA684-2BFA-A248-501E-19CA85102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14450"/>
            <a:ext cx="7848599" cy="49339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If severe hypoxemia occurs, the following steps be taken</a:t>
            </a:r>
          </a:p>
          <a:p>
            <a:pPr lvl="1" eaLnBrk="1" hangingPunct="1"/>
            <a:r>
              <a:rPr lang="en-US" altLang="en-US" sz="1800" dirty="0"/>
              <a:t>Check DLT position with FOB</a:t>
            </a:r>
          </a:p>
          <a:p>
            <a:pPr lvl="1" eaLnBrk="1" hangingPunct="1"/>
            <a:r>
              <a:rPr lang="en-US" altLang="en-US" sz="1800" dirty="0"/>
              <a:t>If left thoracotomy ensure ventilation of right upper lobe</a:t>
            </a:r>
          </a:p>
          <a:p>
            <a:pPr lvl="1" eaLnBrk="1" hangingPunct="1"/>
            <a:r>
              <a:rPr lang="en-US" altLang="en-US" sz="1800" dirty="0"/>
              <a:t>Check hemodynamic status</a:t>
            </a:r>
          </a:p>
          <a:p>
            <a:pPr lvl="1" eaLnBrk="1" hangingPunct="1"/>
            <a:r>
              <a:rPr lang="en-US" altLang="en-US" sz="1800" b="1" dirty="0"/>
              <a:t>CPAP (5-10 cm H</a:t>
            </a:r>
            <a:r>
              <a:rPr lang="en-US" altLang="en-US" sz="1600" b="1" dirty="0"/>
              <a:t>2</a:t>
            </a:r>
            <a:r>
              <a:rPr lang="en-US" altLang="en-US" sz="1800" b="1" dirty="0"/>
              <a:t>O, 5 L/min) to nondependent lung, most effective</a:t>
            </a:r>
            <a:endParaRPr lang="en-US" altLang="en-US" sz="1800" dirty="0"/>
          </a:p>
          <a:p>
            <a:pPr lvl="1" eaLnBrk="1" hangingPunct="1"/>
            <a:r>
              <a:rPr lang="en-US" altLang="en-US" sz="1800" b="1" dirty="0"/>
              <a:t>PEEP (5-10 cm H</a:t>
            </a:r>
            <a:r>
              <a:rPr lang="en-US" altLang="en-US" sz="1600" b="1" dirty="0"/>
              <a:t>2</a:t>
            </a:r>
            <a:r>
              <a:rPr lang="en-US" altLang="en-US" sz="1800" b="1" dirty="0"/>
              <a:t>O) to dependent lung, least effective</a:t>
            </a:r>
          </a:p>
          <a:p>
            <a:pPr lvl="1" eaLnBrk="1" hangingPunct="1"/>
            <a:r>
              <a:rPr lang="en-US" altLang="en-US" sz="1800" dirty="0"/>
              <a:t>Intermittent two-lung ventilation</a:t>
            </a:r>
          </a:p>
          <a:p>
            <a:pPr eaLnBrk="1" hangingPunct="1">
              <a:buFontTx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Other causes of hypoxemia in OLV</a:t>
            </a:r>
            <a:endParaRPr lang="en-US" altLang="en-US" sz="4000" dirty="0"/>
          </a:p>
          <a:p>
            <a:pPr lvl="1" eaLnBrk="1" hangingPunct="1"/>
            <a:r>
              <a:rPr lang="en-US" altLang="en-US" sz="1800" dirty="0"/>
              <a:t>Mechanical failure of  0</a:t>
            </a:r>
            <a:r>
              <a:rPr lang="en-US" altLang="en-US" sz="1600" dirty="0"/>
              <a:t>2</a:t>
            </a:r>
            <a:r>
              <a:rPr lang="en-US" altLang="en-US" sz="1800" dirty="0"/>
              <a:t> supply or airway blockade</a:t>
            </a:r>
          </a:p>
          <a:p>
            <a:pPr lvl="1" eaLnBrk="1" hangingPunct="1"/>
            <a:r>
              <a:rPr lang="en-US" altLang="en-US" sz="1800" dirty="0"/>
              <a:t>Hypoventilation</a:t>
            </a:r>
          </a:p>
          <a:p>
            <a:pPr lvl="1" eaLnBrk="1" hangingPunct="1"/>
            <a:r>
              <a:rPr lang="en-US" altLang="en-US" sz="1800" dirty="0"/>
              <a:t>Resorption of residual 0</a:t>
            </a:r>
            <a:r>
              <a:rPr lang="en-US" altLang="en-US" sz="1600" dirty="0"/>
              <a:t>2</a:t>
            </a:r>
            <a:r>
              <a:rPr lang="en-US" altLang="en-US" sz="1800" dirty="0"/>
              <a:t> from the clamped lung</a:t>
            </a:r>
          </a:p>
          <a:p>
            <a:pPr lvl="1" eaLnBrk="1" hangingPunct="1"/>
            <a:r>
              <a:rPr lang="en-US" altLang="en-US" sz="1800" dirty="0"/>
              <a:t>Factors that decrease Sv0</a:t>
            </a:r>
            <a:r>
              <a:rPr lang="en-US" altLang="en-US" sz="1600" dirty="0"/>
              <a:t>2</a:t>
            </a:r>
            <a:r>
              <a:rPr lang="en-US" altLang="en-US" sz="1800" dirty="0"/>
              <a:t> (</a:t>
            </a:r>
            <a:r>
              <a:rPr lang="en-US" altLang="en-US" sz="1800" dirty="0">
                <a:sym typeface="Wingdings" panose="05000000000000000000" pitchFamily="2" charset="2"/>
              </a:rPr>
              <a:t>CO, 0</a:t>
            </a:r>
            <a:r>
              <a:rPr lang="en-US" altLang="en-US" sz="1600" dirty="0">
                <a:sym typeface="Wingdings" panose="05000000000000000000" pitchFamily="2" charset="2"/>
              </a:rPr>
              <a:t>2</a:t>
            </a:r>
            <a:r>
              <a:rPr lang="en-US" altLang="en-US" sz="1800" dirty="0">
                <a:sym typeface="Wingdings" panose="05000000000000000000" pitchFamily="2" charset="2"/>
              </a:rPr>
              <a:t> consumption)</a:t>
            </a:r>
            <a:endParaRPr lang="en-US" altLang="en-US" sz="3600" dirty="0"/>
          </a:p>
          <a:p>
            <a:pPr lvl="1" eaLnBrk="1" hangingPunct="1"/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A0D3A-F1DE-62FD-85A9-651181CF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E88515-B964-4956-B2FD-5FB7D584E8DA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EF75D1-F602-E5A1-7544-E2A246D7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Broncho-</a:t>
            </a:r>
            <a:r>
              <a:rPr lang="en-US" dirty="0" err="1"/>
              <a:t>Cath</a:t>
            </a:r>
            <a:r>
              <a:rPr lang="en-US" dirty="0"/>
              <a:t> CPAP system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821" y="2276146"/>
            <a:ext cx="6869824" cy="372460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6C79F-48D0-4EFA-ED0E-3A73D91E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725703-D616-43D4-A9F3-11B063498E11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8C2EF-1427-8373-DB26-F57C0625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4938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2714A050-551F-3A36-D94E-78FCDC75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14481"/>
            <a:ext cx="6858000" cy="68580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Hypoxic pulmonary </a:t>
            </a:r>
            <a:r>
              <a:rPr lang="en-US" altLang="en-US" sz="3000" dirty="0" err="1"/>
              <a:t>vasocontriction</a:t>
            </a:r>
            <a:r>
              <a:rPr lang="en-US" altLang="en-US" sz="3000" dirty="0"/>
              <a:t>(HPV)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A2C0E-F3D4-E7E5-2243-A5DD55A28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8001000" cy="466725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HPV, a local response of pulmonary artery smooth muscle, decreases blood flow to the area of lung where a low alveolar oxygen pressure is sensed.</a:t>
            </a:r>
          </a:p>
          <a:p>
            <a:pPr eaLnBrk="1" hangingPunct="1"/>
            <a:r>
              <a:rPr lang="en-US" altLang="en-US" sz="2000" dirty="0"/>
              <a:t>The mechanism of HPV is not completely understood. Vasoactive substances released by hypoxia or hypoxia itself (K+ channel) cause pulmonary artery smooth muscle contraction</a:t>
            </a:r>
          </a:p>
          <a:p>
            <a:pPr eaLnBrk="1" hangingPunct="1"/>
            <a:r>
              <a:rPr lang="en-US" altLang="en-US" sz="2000" dirty="0"/>
              <a:t>HPV aids in keeping a normal V/Q relationship by diversion of blood from </a:t>
            </a:r>
            <a:r>
              <a:rPr lang="en-US" altLang="en-US" sz="2000" dirty="0" err="1"/>
              <a:t>underventilated</a:t>
            </a:r>
            <a:r>
              <a:rPr lang="en-US" altLang="en-US" sz="2000" dirty="0"/>
              <a:t> areas, responsible for the most lung perfusion redistribution in OLV </a:t>
            </a:r>
          </a:p>
          <a:p>
            <a:pPr eaLnBrk="1" hangingPunct="1"/>
            <a:r>
              <a:rPr lang="en-US" altLang="en-US" sz="2000" dirty="0"/>
              <a:t>HPV is graded and limited, of greatest benefit when 30% to 70% of the lung is made hypoxic. </a:t>
            </a:r>
          </a:p>
          <a:p>
            <a:pPr eaLnBrk="1" hangingPunct="1"/>
            <a:r>
              <a:rPr lang="en-US" altLang="en-US" sz="2000" dirty="0"/>
              <a:t>But effective only when there are </a:t>
            </a:r>
            <a:r>
              <a:rPr lang="en-US" altLang="en-US" sz="2000" dirty="0" err="1"/>
              <a:t>normoxic</a:t>
            </a:r>
            <a:r>
              <a:rPr lang="en-US" altLang="en-US" sz="2000" dirty="0"/>
              <a:t> areas of the lung available to receive the diverted blood flow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2C2F-067B-9509-F211-ECAD9D66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C857D3-E676-43CA-946E-5F1E689A0A95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BCDD3-5E04-6155-5737-D5266816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D00EB3E2-D026-8B63-3FDF-94CAC9B5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04800"/>
            <a:ext cx="6686550" cy="742950"/>
          </a:xfrm>
        </p:spPr>
        <p:txBody>
          <a:bodyPr/>
          <a:lstStyle/>
          <a:p>
            <a:pPr eaLnBrk="1" hangingPunct="1"/>
            <a:r>
              <a:rPr lang="en-US" altLang="en-US" sz="2100" u="sng" dirty="0"/>
              <a:t>Factors that inhibit hypoxic pulmonary vasoconstriction***</a:t>
            </a:r>
            <a:endParaRPr lang="en-US" altLang="en-US" sz="2100" dirty="0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1552BAB9-3D64-3F5B-69E5-4085E1EA9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7750"/>
            <a:ext cx="7924800" cy="5505450"/>
          </a:xfrm>
        </p:spPr>
        <p:txBody>
          <a:bodyPr/>
          <a:lstStyle/>
          <a:p>
            <a:pPr eaLnBrk="1" hangingPunct="1"/>
            <a:r>
              <a:rPr lang="en-US" altLang="en-US" dirty="0"/>
              <a:t>Inhibitors of HPV include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  Mitral stenosis,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volume overload,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 err="1"/>
              <a:t>thormboemblism</a:t>
            </a:r>
            <a:r>
              <a:rPr lang="en-US" altLang="en-US" dirty="0"/>
              <a:t>,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 hypothermia &amp;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 err="1"/>
              <a:t>vasocdialators</a:t>
            </a:r>
            <a:r>
              <a:rPr lang="en-US" altLang="en-US" dirty="0"/>
              <a:t> drugs, and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 a large hypoxic lung segment.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Direct inhibitors of HPV include infection; </a:t>
            </a:r>
            <a:r>
              <a:rPr lang="en-US" altLang="en-US" dirty="0" err="1"/>
              <a:t>vasodialator</a:t>
            </a:r>
            <a:r>
              <a:rPr lang="en-US" altLang="en-US" dirty="0"/>
              <a:t> drugs, such as nitroglycerin &amp; nitroprusside; hypocarbia &amp; metabolic alkalemia.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4AF44-2794-4531-5A8D-EB5E8FF0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E38625-3EFE-414D-A714-E6DC7F7CD5C4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F7D4A-D719-BA1C-C5C6-FA475435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A9BE44F6-616E-E1FC-0DF4-628D0DF7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5829300" cy="516536"/>
          </a:xfrm>
        </p:spPr>
        <p:txBody>
          <a:bodyPr/>
          <a:lstStyle/>
          <a:p>
            <a:pPr eaLnBrk="1" hangingPunct="1"/>
            <a:br>
              <a:rPr lang="en-US" altLang="en-US" b="1" u="sng" dirty="0"/>
            </a:br>
            <a:r>
              <a:rPr lang="en-US" altLang="en-US" sz="2700" b="1" u="sng" dirty="0"/>
              <a:t>Potentiators of HPV</a:t>
            </a:r>
            <a:br>
              <a:rPr lang="en-US" altLang="en-US" sz="2700" b="1" u="sng" dirty="0"/>
            </a:br>
            <a:endParaRPr lang="en-US" alt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573EE-91DA-6633-509B-7BA28667C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685800"/>
            <a:ext cx="8534400" cy="60198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Almitrine</a:t>
            </a:r>
            <a:r>
              <a:rPr lang="en-US" altLang="en-US" dirty="0"/>
              <a:t> may potentiate HPV.  It is a respiratory stimulant </a:t>
            </a:r>
            <a:r>
              <a:rPr lang="en-US" altLang="en-US" dirty="0" err="1"/>
              <a:t>drug.It</a:t>
            </a:r>
            <a:r>
              <a:rPr lang="en-US" altLang="en-US" dirty="0"/>
              <a:t> has been found to improve PaO</a:t>
            </a:r>
            <a:r>
              <a:rPr lang="en-US" altLang="en-US" baseline="-25000" dirty="0"/>
              <a:t>2</a:t>
            </a:r>
            <a:r>
              <a:rPr lang="en-US" altLang="en-US" dirty="0"/>
              <a:t> in patients with COPD.  </a:t>
            </a:r>
          </a:p>
          <a:p>
            <a:pPr eaLnBrk="1" hangingPunct="1"/>
            <a:r>
              <a:rPr lang="en-US" altLang="en-US" dirty="0" err="1"/>
              <a:t>Almitrine</a:t>
            </a:r>
            <a:r>
              <a:rPr lang="en-US" altLang="en-US" dirty="0"/>
              <a:t> is nonspecific pulmonary vasoconstrictor.</a:t>
            </a:r>
          </a:p>
          <a:p>
            <a:pPr eaLnBrk="1" hangingPunct="1"/>
            <a:r>
              <a:rPr lang="en-US" altLang="en-US" dirty="0"/>
              <a:t>Prostaglandins may play a role in HPV inhibition, &amp; therefore prostaglandin inhibitors have been investigated as potentiators of HPV.  </a:t>
            </a:r>
          </a:p>
          <a:p>
            <a:pPr eaLnBrk="1" hangingPunct="1"/>
            <a:r>
              <a:rPr lang="en-US" altLang="en-US" dirty="0"/>
              <a:t>Ibuprofen &amp; a cyclooxygenase inhibitor have been found to potentiate HPV in Hypoxic lung.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A286-3E02-1D49-FC48-5B26CC37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2660EB-EDFE-4652-B4B8-B5C04421A841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32A28-74E4-3FB9-8ED2-7D1A5082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E37C15E5-E6AD-F051-D026-0B3E471A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6858000" cy="857250"/>
          </a:xfrm>
        </p:spPr>
        <p:txBody>
          <a:bodyPr/>
          <a:lstStyle/>
          <a:p>
            <a:pPr eaLnBrk="1" hangingPunct="1"/>
            <a:br>
              <a:rPr lang="en-US" altLang="en-US" sz="2700" b="1" dirty="0"/>
            </a:br>
            <a:br>
              <a:rPr lang="en-US" altLang="en-US" sz="2700" b="1" dirty="0"/>
            </a:br>
            <a:br>
              <a:rPr lang="en-US" altLang="en-US" sz="2700" b="1" dirty="0"/>
            </a:br>
            <a:r>
              <a:rPr lang="en-US" altLang="en-US" sz="2700" b="1" dirty="0"/>
              <a:t>Termination of surgery and anesthesia</a:t>
            </a:r>
            <a:br>
              <a:rPr lang="en-US" altLang="en-US" sz="2700" b="1" dirty="0"/>
            </a:br>
            <a:r>
              <a:rPr lang="en-US" altLang="en-US" sz="2700" b="1" dirty="0"/>
              <a:t> </a:t>
            </a:r>
            <a:br>
              <a:rPr lang="en-US" altLang="en-US" sz="2700" b="1" dirty="0"/>
            </a:br>
            <a:endParaRPr lang="en-US" alt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4CAE5-7861-CE07-D27C-C8E3C4010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64" y="1295400"/>
            <a:ext cx="7990936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/>
              <a:t>Testing of bronchial suture lines</a:t>
            </a:r>
          </a:p>
          <a:p>
            <a:pPr eaLnBrk="1" hangingPunct="1"/>
            <a:r>
              <a:rPr lang="en-US" altLang="en-US" sz="2000" dirty="0"/>
              <a:t>On completion of lung resection, the bronchial suture lines &amp;lung surfaces are tested for an air leak.</a:t>
            </a:r>
            <a:endParaRPr lang="en-US" altLang="en-US" sz="2000" b="1" dirty="0"/>
          </a:p>
          <a:p>
            <a:pPr eaLnBrk="1" hangingPunct="1"/>
            <a:r>
              <a:rPr lang="en-US" altLang="en-US" sz="2000" dirty="0"/>
              <a:t>Sterile water is instilled into the pleural cavity following cancer surgery, to cover the bronchial suture lines.</a:t>
            </a:r>
            <a:endParaRPr lang="en-US" altLang="en-US" sz="2000" b="1" dirty="0"/>
          </a:p>
          <a:p>
            <a:pPr eaLnBrk="1" hangingPunct="1"/>
            <a:r>
              <a:rPr lang="en-US" altLang="en-US" sz="2000" dirty="0"/>
              <a:t>After lobectomy, the remaining lobes are then suctioned before </a:t>
            </a:r>
            <a:r>
              <a:rPr lang="en-US" altLang="en-US" sz="2000" dirty="0" err="1"/>
              <a:t>reinfilation</a:t>
            </a:r>
            <a:r>
              <a:rPr lang="en-US" altLang="en-US" sz="2000" dirty="0"/>
              <a:t>.</a:t>
            </a:r>
            <a:endParaRPr lang="en-US" altLang="en-US" sz="2000" b="1" dirty="0"/>
          </a:p>
          <a:p>
            <a:pPr eaLnBrk="1" hangingPunct="1"/>
            <a:r>
              <a:rPr lang="en-US" altLang="en-US" sz="2000" dirty="0"/>
              <a:t>In the case of pneumonectomy, very gentile suction is applied with a soft catheter to the bronchial sump.</a:t>
            </a:r>
            <a:endParaRPr lang="en-US" altLang="en-US" sz="2000" b="1" dirty="0"/>
          </a:p>
          <a:p>
            <a:pPr eaLnBrk="1" hangingPunct="1"/>
            <a:r>
              <a:rPr lang="en-US" altLang="en-US" sz="2000" dirty="0"/>
              <a:t>At this stage it may be helpful to deflate the bronchial cuffs.</a:t>
            </a:r>
          </a:p>
          <a:p>
            <a:pPr eaLnBrk="1" hangingPunct="1"/>
            <a:r>
              <a:rPr lang="en-US" altLang="en-US" sz="2000" dirty="0"/>
              <a:t>In the unlikely event of leak being present, gas bubbles will be seen appearing below the water level in the pleural cavity, indicating the need for further surgery.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55FBB-B0A4-8B9B-130E-211E0F69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ED383D-04B6-4986-A00B-1A44A822301E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6A076-0520-F7A4-B9B2-3B5333BB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BAC95C92-8951-3285-76A2-1976E672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7467600" cy="628650"/>
          </a:xfrm>
        </p:spPr>
        <p:txBody>
          <a:bodyPr/>
          <a:lstStyle/>
          <a:p>
            <a:pPr eaLnBrk="1" hangingPunct="1"/>
            <a:r>
              <a:rPr lang="en-US" altLang="en-US" b="1" dirty="0"/>
              <a:t>Termination of anesthesia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2607-58CC-8D28-8E23-21A989D0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430" y="1143000"/>
            <a:ext cx="8502770" cy="46291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ETT is removed when the patent’s respiratory effort is satisfactory. </a:t>
            </a:r>
            <a:endParaRPr lang="en-US" altLang="en-US" sz="2400" b="1" dirty="0"/>
          </a:p>
          <a:p>
            <a:pPr eaLnBrk="1" hangingPunct="1"/>
            <a:r>
              <a:rPr lang="en-US" altLang="en-US" sz="2400" dirty="0"/>
              <a:t>A similar sequence is followed after pneumonectomy but the remaining lung is </a:t>
            </a:r>
            <a:r>
              <a:rPr lang="en-US" altLang="en-US" sz="2400" dirty="0" err="1"/>
              <a:t>reinfilated</a:t>
            </a:r>
            <a:r>
              <a:rPr lang="en-US" altLang="en-US" sz="2400" dirty="0"/>
              <a:t> until the trachea is approximately central or slightly towards the side of surgery.</a:t>
            </a:r>
            <a:endParaRPr lang="en-US" altLang="en-US" sz="2400" b="1" dirty="0"/>
          </a:p>
          <a:p>
            <a:pPr eaLnBrk="1" hangingPunct="1"/>
            <a:r>
              <a:rPr lang="en-US" altLang="en-US" sz="2400" dirty="0"/>
              <a:t>The chest drain, if inserted, is then clamped.</a:t>
            </a:r>
            <a:endParaRPr lang="en-US" altLang="en-US" sz="2400" b="1" dirty="0"/>
          </a:p>
          <a:p>
            <a:pPr eaLnBrk="1" hangingPunct="1"/>
            <a:r>
              <a:rPr lang="en-US" altLang="en-US" sz="2400" dirty="0"/>
              <a:t>If a chest drain has not been used after </a:t>
            </a:r>
            <a:r>
              <a:rPr lang="en-US" altLang="en-US" sz="2400" dirty="0" err="1"/>
              <a:t>pneumonectomy,it</a:t>
            </a:r>
            <a:r>
              <a:rPr lang="en-US" altLang="en-US" sz="2400" dirty="0"/>
              <a:t> may be necessary to aspirate air from the hemithorax on the side of surgery to optimize the position of the mediastinum.</a:t>
            </a:r>
            <a:endParaRPr lang="en-US" altLang="en-US" sz="2400" b="1" dirty="0"/>
          </a:p>
          <a:p>
            <a:pPr eaLnBrk="1" hangingPunct="1"/>
            <a:r>
              <a:rPr lang="en-US" altLang="en-US" sz="2400" dirty="0"/>
              <a:t>Place-sitting position after removal of DLT allowed to breath O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enriched air.</a:t>
            </a:r>
            <a:endParaRPr lang="en-US" altLang="en-US" sz="2400" b="1" dirty="0"/>
          </a:p>
          <a:p>
            <a:pPr eaLnBrk="1" hangingPunct="1"/>
            <a:endParaRPr lang="en-US" altLang="en-US" sz="21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4A4DB-0A72-FD08-C947-D9CCF2FC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BAD6EF-C06E-4CDE-8DB3-FC310AFE524D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DDE63-9CE8-3440-4537-753D189E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BAC95C92-8951-3285-76A2-1976E672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6724650" cy="628650"/>
          </a:xfrm>
        </p:spPr>
        <p:txBody>
          <a:bodyPr/>
          <a:lstStyle/>
          <a:p>
            <a:pPr eaLnBrk="1" hangingPunct="1"/>
            <a:r>
              <a:rPr lang="en-US" altLang="en-US" b="1" dirty="0"/>
              <a:t>Termination of anesthesia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2607-58CC-8D28-8E23-21A989D0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4" y="1657350"/>
            <a:ext cx="8449574" cy="4114800"/>
          </a:xfrm>
        </p:spPr>
        <p:txBody>
          <a:bodyPr/>
          <a:lstStyle/>
          <a:p>
            <a:pPr eaLnBrk="1" hangingPunct="1"/>
            <a:r>
              <a:rPr lang="en-US" altLang="en-US" sz="2100" dirty="0"/>
              <a:t>ETT is removed when the patient’s respiratory effort is satisfactory. </a:t>
            </a:r>
            <a:endParaRPr lang="en-US" altLang="en-US" sz="2100" b="1" dirty="0"/>
          </a:p>
          <a:p>
            <a:pPr eaLnBrk="1" hangingPunct="1"/>
            <a:r>
              <a:rPr lang="en-US" altLang="en-US" sz="2100" dirty="0"/>
              <a:t>A similar sequence is followed after pneumonectomy but the remaining lung is reinflated until the trachea is approximately central or slightly towards the side of surgery.</a:t>
            </a:r>
            <a:endParaRPr lang="en-US" altLang="en-US" sz="2100" b="1" dirty="0"/>
          </a:p>
          <a:p>
            <a:pPr eaLnBrk="1" hangingPunct="1"/>
            <a:r>
              <a:rPr lang="en-US" altLang="en-US" sz="2100" dirty="0"/>
              <a:t>The chest drain, if inserted, is then clamped.</a:t>
            </a:r>
            <a:endParaRPr lang="en-US" altLang="en-US" sz="2100" b="1" dirty="0"/>
          </a:p>
          <a:p>
            <a:pPr eaLnBrk="1" hangingPunct="1"/>
            <a:r>
              <a:rPr lang="en-US" altLang="en-US" sz="2100" dirty="0"/>
              <a:t>If a chest drain has not been used after pneumonectomy, it may be necessary to aspirate air from the hemithorax on the side of surgery to optimize the position of the mediastinum.</a:t>
            </a:r>
            <a:endParaRPr lang="en-US" altLang="en-US" sz="2100" b="1" dirty="0"/>
          </a:p>
          <a:p>
            <a:pPr eaLnBrk="1" hangingPunct="1"/>
            <a:r>
              <a:rPr lang="en-US" altLang="en-US" sz="2100" dirty="0"/>
              <a:t>Place-sitting position after removal of DLT allowed to breathe O</a:t>
            </a:r>
            <a:r>
              <a:rPr lang="en-US" altLang="en-US" sz="2100" baseline="-25000" dirty="0"/>
              <a:t>2</a:t>
            </a:r>
            <a:r>
              <a:rPr lang="en-US" altLang="en-US" sz="2100" dirty="0"/>
              <a:t> enriched air.</a:t>
            </a:r>
            <a:endParaRPr lang="en-US" altLang="en-US" sz="2100" b="1" dirty="0"/>
          </a:p>
          <a:p>
            <a:pPr eaLnBrk="1" hangingPunct="1"/>
            <a:endParaRPr lang="en-US" altLang="en-US" sz="21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CB9CD-380E-B02A-459E-040AB7FD4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CC7ADE-99ED-42CC-8729-BA4E1A9AB550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2C02F-D68A-FE48-DDE3-7C602162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AC988408-4E42-8CDA-7526-D51C6B6A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57200"/>
          </a:xfrm>
        </p:spPr>
        <p:txBody>
          <a:bodyPr/>
          <a:lstStyle/>
          <a:p>
            <a:pPr eaLnBrk="1" hangingPunct="1"/>
            <a:br>
              <a:rPr lang="en-US" altLang="en-US" sz="3200" b="1"/>
            </a:br>
            <a:r>
              <a:rPr lang="en-US" altLang="en-US" sz="3200" b="1"/>
              <a:t>Postoperative Complications and Management</a:t>
            </a:r>
            <a:br>
              <a:rPr lang="en-US" altLang="en-US" b="1"/>
            </a:b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2418-037D-73FC-D3B7-375BBA466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/>
              <a:t>1-Atelectasis:</a:t>
            </a:r>
            <a:r>
              <a:rPr lang="en-US" altLang="en-US"/>
              <a:t> the most significant cause of </a:t>
            </a:r>
            <a:r>
              <a:rPr lang="en-US" altLang="en-US" b="1"/>
              <a:t>postop morbidity</a:t>
            </a:r>
          </a:p>
          <a:p>
            <a:pPr eaLnBrk="1" hangingPunct="1">
              <a:buFontTx/>
              <a:buNone/>
            </a:pPr>
            <a:r>
              <a:rPr lang="en-US" altLang="en-US"/>
              <a:t>    -  </a:t>
            </a:r>
            <a:r>
              <a:rPr lang="en-US" altLang="en-US" b="1"/>
              <a:t>Prevention &amp; treatment of atelectasis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       .  Use of incentive spirometry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.  Bronchodilators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.  Coughing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.  Clearance of secretions - positioning - postural 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 drainage LDP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.  Mobilizing the patient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.  Adequate analgesia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6FB22-AE50-1BD8-B7F9-E9A7CD2C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7A421A-708F-49DE-9222-AD8F621B905D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E56B6-2C85-A333-E1BA-F8133353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61C3B2A8-527D-B523-8D1A-304A77E1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Postoperative Complications and Management</a:t>
            </a:r>
            <a:endParaRPr lang="en-US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8AF20-5E7F-22C4-B99C-E6E66EF09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48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/>
              <a:t>2-Low CO-syndrome &amp; postop cardiac arrhythmias 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3- Postop fluid administration can lead to pulmonary oedema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4-Postop pulmonary embolism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5- Postop cardiac arrhythmias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6- Hemorrhage &amp; pneumothorax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7-Dehiscence of bronchial stump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8-Both- Central &amp; peripheral neurologic injuries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9-Recurrent laryngeal nerve:-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57DD2-DD7C-B82F-7E3C-ABC8BFDB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C85641-BC52-4424-A61F-54F137E3960E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13919-19D3-0327-67DB-DB31FC0C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B3E2DC0-1578-6F3C-2E97-52E85371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Postoperative Pain Control</a:t>
            </a:r>
            <a:br>
              <a:rPr lang="en-US" altLang="en-US" sz="3200" b="1"/>
            </a:br>
            <a:endParaRPr lang="en-US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6F85F-AD78-6F55-AA28-1E763934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953000"/>
          </a:xfrm>
        </p:spPr>
        <p:txBody>
          <a:bodyPr/>
          <a:lstStyle/>
          <a:p>
            <a:pPr eaLnBrk="1" hangingPunct="1"/>
            <a:r>
              <a:rPr lang="en-US" altLang="en-US"/>
              <a:t>Adequate postop analgesia is necessary to ensure a good respiratory effort.</a:t>
            </a:r>
          </a:p>
          <a:p>
            <a:pPr lvl="1" eaLnBrk="1" hangingPunct="1"/>
            <a:r>
              <a:rPr lang="en-US" altLang="en-US" b="1"/>
              <a:t>Patient Controlled Analgesia (PCA)</a:t>
            </a:r>
          </a:p>
          <a:p>
            <a:pPr lvl="1" eaLnBrk="1" hangingPunct="1"/>
            <a:r>
              <a:rPr lang="en-US" altLang="en-US" b="1"/>
              <a:t>Intercostals nerve block before, during, after thoracic surgery</a:t>
            </a:r>
          </a:p>
          <a:p>
            <a:pPr lvl="1" eaLnBrk="1" hangingPunct="1"/>
            <a:r>
              <a:rPr lang="en-US" altLang="en-US"/>
              <a:t> </a:t>
            </a:r>
            <a:r>
              <a:rPr lang="en-US" altLang="en-US" b="1"/>
              <a:t>Epidural morphine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  </a:t>
            </a:r>
            <a:r>
              <a:rPr lang="en-US" altLang="en-US" b="1"/>
              <a:t>Interpleural analgesia</a:t>
            </a:r>
            <a:r>
              <a:rPr lang="en-US" altLang="en-US"/>
              <a:t>: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57E3F-3AD9-4949-CA8F-97AEA8825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190797-2F51-44D2-9A78-CFE90C67250A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193AA-E4E8-80E4-935F-A0F1E5BF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3E08E-1535-40B1-9C4C-8E0B304F6206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>
            <a:extLst>
              <a:ext uri="{FF2B5EF4-FFF2-40B4-BE49-F238E27FC236}">
                <a16:creationId xmlns:a16="http://schemas.microsoft.com/office/drawing/2014/main" id="{33E3EBDF-BDEC-D026-E5C4-B2EEF0D50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8229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TW" sz="5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TW" sz="5400">
                <a:latin typeface="Times New Roman" panose="02020603050405020304" pitchFamily="18" charset="0"/>
              </a:rPr>
              <a:t>Thanks for Your Attention</a:t>
            </a:r>
            <a:endParaRPr lang="en-US" altLang="en-US" sz="540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468A0-AFD6-CA9F-B569-852A12E1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5DBD5-BD6A-48E0-9F1A-8EDC78BE3948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550700-E135-EC7B-9E1B-F7C0E2C6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00EE8F-A015-496E-BAFF-02CE822E3A19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8722</TotalTime>
  <Words>3366</Words>
  <Application>Microsoft Office PowerPoint</Application>
  <PresentationFormat>On-screen Show (4:3)</PresentationFormat>
  <Paragraphs>463</Paragraphs>
  <Slides>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Calibri Light</vt:lpstr>
      <vt:lpstr>Courier New</vt:lpstr>
      <vt:lpstr>Monotype Sorts</vt:lpstr>
      <vt:lpstr>Times New Roman</vt:lpstr>
      <vt:lpstr>Wingdings</vt:lpstr>
      <vt:lpstr>Office Theme</vt:lpstr>
      <vt:lpstr>1_Office Theme</vt:lpstr>
      <vt:lpstr> One-Lung Ventilation for Thoracic Surgery</vt:lpstr>
      <vt:lpstr>One-lung ventilation( OLV)</vt:lpstr>
      <vt:lpstr>Indication </vt:lpstr>
      <vt:lpstr>PowerPoint Presentation</vt:lpstr>
      <vt:lpstr>Methods of OLV</vt:lpstr>
      <vt:lpstr>Methods of lung isolation</vt:lpstr>
      <vt:lpstr>Double-lumen tubes (DLTs) </vt:lpstr>
      <vt:lpstr>DLT…</vt:lpstr>
      <vt:lpstr>DLT…</vt:lpstr>
      <vt:lpstr>Components of double- lumen tube package</vt:lpstr>
      <vt:lpstr>Components of double- lumen tube package</vt:lpstr>
      <vt:lpstr>Types of Double lumen Tube </vt:lpstr>
      <vt:lpstr>DLT SIZE SELECTION </vt:lpstr>
      <vt:lpstr>DLT SIZE SELECTION </vt:lpstr>
      <vt:lpstr>Choice of double lumen tube </vt:lpstr>
      <vt:lpstr>Depth of insertion of DLT</vt:lpstr>
      <vt:lpstr>PowerPoint Presentation</vt:lpstr>
      <vt:lpstr>The Robert show Double Lumen Left LDT </vt:lpstr>
      <vt:lpstr>Inserting /Positioning DLT </vt:lpstr>
      <vt:lpstr>Inserting/ Positioning DLT </vt:lpstr>
      <vt:lpstr>PowerPoint Presentation</vt:lpstr>
      <vt:lpstr>PowerPoint Presentation</vt:lpstr>
      <vt:lpstr>Inserting/ Positioning DLT</vt:lpstr>
      <vt:lpstr>PowerPoint Presentation</vt:lpstr>
      <vt:lpstr>check its location  </vt:lpstr>
      <vt:lpstr>  check its location  </vt:lpstr>
      <vt:lpstr>check its location</vt:lpstr>
      <vt:lpstr>check its location</vt:lpstr>
      <vt:lpstr>check its location</vt:lpstr>
      <vt:lpstr>…Left DLT</vt:lpstr>
      <vt:lpstr>Univent Tube...</vt:lpstr>
      <vt:lpstr>...Univent Tube</vt:lpstr>
      <vt:lpstr>Other Methods of OLV</vt:lpstr>
      <vt:lpstr>Problems of malposition of DLT </vt:lpstr>
      <vt:lpstr>PowerPoint Presentation</vt:lpstr>
      <vt:lpstr>ANESTHETIC MANAGEMENT</vt:lpstr>
      <vt:lpstr>ANESTHETIC MANAGEMENT</vt:lpstr>
      <vt:lpstr>ANESTHETIC MANAGEMENT</vt:lpstr>
      <vt:lpstr>Anesthetic Considerations</vt:lpstr>
      <vt:lpstr>Anesthetic Considerations</vt:lpstr>
      <vt:lpstr>Anesthetic Considerations</vt:lpstr>
      <vt:lpstr>Anesthetic Considerations</vt:lpstr>
      <vt:lpstr>Positioning</vt:lpstr>
      <vt:lpstr>   Positioning</vt:lpstr>
      <vt:lpstr>FLUID MANAGEMENT</vt:lpstr>
      <vt:lpstr>FLUID MANAGEMENT</vt:lpstr>
      <vt:lpstr>FLUID MANAGEMENT</vt:lpstr>
      <vt:lpstr> FLUID MANAGEMENT </vt:lpstr>
      <vt:lpstr>MANAGEMENT OF ONE-LUNG VENTILATION</vt:lpstr>
      <vt:lpstr>MANAGEMENT OF ONE-LUNG VENTILATION</vt:lpstr>
      <vt:lpstr>Management of OLV...</vt:lpstr>
      <vt:lpstr>...Management of OLV</vt:lpstr>
      <vt:lpstr>Broncho-Cath CPAP system</vt:lpstr>
      <vt:lpstr>Hypoxic pulmonary vasocontriction(HPV) </vt:lpstr>
      <vt:lpstr>Factors that inhibit hypoxic pulmonary vasoconstriction***</vt:lpstr>
      <vt:lpstr> Potentiators of HPV </vt:lpstr>
      <vt:lpstr>   Termination of surgery and anesthesia   </vt:lpstr>
      <vt:lpstr>Termination of anesthesia</vt:lpstr>
      <vt:lpstr>Termination of anesthesia</vt:lpstr>
      <vt:lpstr> Postoperative Complications and Management </vt:lpstr>
      <vt:lpstr>Postoperative Complications and Management</vt:lpstr>
      <vt:lpstr>Postoperative Pain Control </vt:lpstr>
      <vt:lpstr>PowerPoint Presentation</vt:lpstr>
    </vt:vector>
  </TitlesOfParts>
  <Company>The MetroHealth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One-Lung Ventilation for Thoracic Surgery</dc:title>
  <dc:creator>Eyayalem M</dc:creator>
  <cp:lastModifiedBy>Eyaya Anesthesia</cp:lastModifiedBy>
  <cp:revision>145</cp:revision>
  <dcterms:created xsi:type="dcterms:W3CDTF">2002-09-20T14:56:24Z</dcterms:created>
  <dcterms:modified xsi:type="dcterms:W3CDTF">2025-05-09T08:03:30Z</dcterms:modified>
</cp:coreProperties>
</file>