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41"/>
  </p:notesMasterIdLst>
  <p:sldIdLst>
    <p:sldId id="374" r:id="rId2"/>
    <p:sldId id="375" r:id="rId3"/>
    <p:sldId id="328" r:id="rId4"/>
    <p:sldId id="387" r:id="rId5"/>
    <p:sldId id="330" r:id="rId6"/>
    <p:sldId id="332" r:id="rId7"/>
    <p:sldId id="318" r:id="rId8"/>
    <p:sldId id="377" r:id="rId9"/>
    <p:sldId id="320" r:id="rId10"/>
    <p:sldId id="335" r:id="rId11"/>
    <p:sldId id="343" r:id="rId12"/>
    <p:sldId id="323" r:id="rId13"/>
    <p:sldId id="379" r:id="rId14"/>
    <p:sldId id="345" r:id="rId15"/>
    <p:sldId id="322" r:id="rId16"/>
    <p:sldId id="324" r:id="rId17"/>
    <p:sldId id="325" r:id="rId18"/>
    <p:sldId id="372" r:id="rId19"/>
    <p:sldId id="373" r:id="rId20"/>
    <p:sldId id="386" r:id="rId21"/>
    <p:sldId id="391" r:id="rId22"/>
    <p:sldId id="357" r:id="rId23"/>
    <p:sldId id="358" r:id="rId24"/>
    <p:sldId id="354" r:id="rId25"/>
    <p:sldId id="355" r:id="rId26"/>
    <p:sldId id="359" r:id="rId27"/>
    <p:sldId id="368" r:id="rId28"/>
    <p:sldId id="360" r:id="rId29"/>
    <p:sldId id="381" r:id="rId30"/>
    <p:sldId id="369" r:id="rId31"/>
    <p:sldId id="361" r:id="rId32"/>
    <p:sldId id="366" r:id="rId33"/>
    <p:sldId id="362" r:id="rId34"/>
    <p:sldId id="363" r:id="rId35"/>
    <p:sldId id="364" r:id="rId36"/>
    <p:sldId id="356" r:id="rId37"/>
    <p:sldId id="384" r:id="rId38"/>
    <p:sldId id="382" r:id="rId39"/>
    <p:sldId id="388" r:id="rId4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9" autoAdjust="0"/>
  </p:normalViewPr>
  <p:slideViewPr>
    <p:cSldViewPr>
      <p:cViewPr varScale="1">
        <p:scale>
          <a:sx n="64" d="100"/>
          <a:sy n="64" d="100"/>
        </p:scale>
        <p:origin x="954" y="7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3.svg"/></Relationships>
</file>

<file path=ppt/diagrams/_rels/data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3.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D5201A-8526-4B0D-A312-0C2D2942504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A0BBD7E-1ED1-402D-934D-2DEF6F966F0D}">
      <dgm:prSet/>
      <dgm:spPr/>
      <dgm:t>
        <a:bodyPr/>
        <a:lstStyle/>
        <a:p>
          <a:pPr>
            <a:lnSpc>
              <a:spcPct val="100000"/>
            </a:lnSpc>
          </a:pPr>
          <a:r>
            <a:rPr lang="nl-NL" b="1"/>
            <a:t>FVC - Forced Vital Capacity. This is the total amount of air that you blow out in one breath. </a:t>
          </a:r>
          <a:endParaRPr lang="en-US"/>
        </a:p>
      </dgm:t>
    </dgm:pt>
    <dgm:pt modelId="{969BA689-3D14-4D48-8665-4438EA7C06AC}" type="parTrans" cxnId="{FEB896B8-1936-4E58-B7E9-B1F42BD5E74B}">
      <dgm:prSet/>
      <dgm:spPr/>
      <dgm:t>
        <a:bodyPr/>
        <a:lstStyle/>
        <a:p>
          <a:endParaRPr lang="en-US"/>
        </a:p>
      </dgm:t>
    </dgm:pt>
    <dgm:pt modelId="{06AE62AB-4FD1-44D2-ABEC-3223F1101ECD}" type="sibTrans" cxnId="{FEB896B8-1936-4E58-B7E9-B1F42BD5E74B}">
      <dgm:prSet/>
      <dgm:spPr/>
      <dgm:t>
        <a:bodyPr/>
        <a:lstStyle/>
        <a:p>
          <a:endParaRPr lang="en-US"/>
        </a:p>
      </dgm:t>
    </dgm:pt>
    <dgm:pt modelId="{11C08B01-9DBF-421F-A649-662DAFA78157}">
      <dgm:prSet/>
      <dgm:spPr/>
      <dgm:t>
        <a:bodyPr/>
        <a:lstStyle/>
        <a:p>
          <a:pPr>
            <a:lnSpc>
              <a:spcPct val="100000"/>
            </a:lnSpc>
          </a:pPr>
          <a:r>
            <a:rPr lang="nl-NL" b="1"/>
            <a:t>FEV1 - Forced Expiratory Volume in one Second. This is the amount of air you can blow out within one second. With normal lungs and airways you can normally blow out most of the air from your lungs within one second. </a:t>
          </a:r>
          <a:endParaRPr lang="en-US"/>
        </a:p>
      </dgm:t>
    </dgm:pt>
    <dgm:pt modelId="{04C1A7CD-30D7-4594-95F1-B6DCD5736ED3}" type="parTrans" cxnId="{5F84B028-C947-4761-8E8D-390EEF8DE5CE}">
      <dgm:prSet/>
      <dgm:spPr/>
      <dgm:t>
        <a:bodyPr/>
        <a:lstStyle/>
        <a:p>
          <a:endParaRPr lang="en-US"/>
        </a:p>
      </dgm:t>
    </dgm:pt>
    <dgm:pt modelId="{60DAF482-0A67-41E4-AB0B-3093E43FC4C6}" type="sibTrans" cxnId="{5F84B028-C947-4761-8E8D-390EEF8DE5CE}">
      <dgm:prSet/>
      <dgm:spPr/>
      <dgm:t>
        <a:bodyPr/>
        <a:lstStyle/>
        <a:p>
          <a:endParaRPr lang="en-US"/>
        </a:p>
      </dgm:t>
    </dgm:pt>
    <dgm:pt modelId="{ED888F1D-EA3A-48FE-AA35-DA3269A26270}" type="pres">
      <dgm:prSet presAssocID="{0FD5201A-8526-4B0D-A312-0C2D2942504E}" presName="root" presStyleCnt="0">
        <dgm:presLayoutVars>
          <dgm:dir/>
          <dgm:resizeHandles val="exact"/>
        </dgm:presLayoutVars>
      </dgm:prSet>
      <dgm:spPr/>
    </dgm:pt>
    <dgm:pt modelId="{46DCD734-6FE5-4916-A077-FAF5FACB545F}" type="pres">
      <dgm:prSet presAssocID="{5A0BBD7E-1ED1-402D-934D-2DEF6F966F0D}" presName="compNode" presStyleCnt="0"/>
      <dgm:spPr/>
    </dgm:pt>
    <dgm:pt modelId="{EC3870CF-0B22-4EF8-9423-AA1CF45051A9}" type="pres">
      <dgm:prSet presAssocID="{5A0BBD7E-1ED1-402D-934D-2DEF6F966F0D}" presName="bgRect" presStyleLbl="bgShp" presStyleIdx="0" presStyleCnt="2"/>
      <dgm:spPr/>
    </dgm:pt>
    <dgm:pt modelId="{04DD3814-572C-4910-BBB5-06B863B471B2}" type="pres">
      <dgm:prSet presAssocID="{5A0BBD7E-1ED1-402D-934D-2DEF6F966F0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ungs"/>
        </a:ext>
      </dgm:extLst>
    </dgm:pt>
    <dgm:pt modelId="{DCF516EF-F04D-41A6-B47F-B825B242CEAF}" type="pres">
      <dgm:prSet presAssocID="{5A0BBD7E-1ED1-402D-934D-2DEF6F966F0D}" presName="spaceRect" presStyleCnt="0"/>
      <dgm:spPr/>
    </dgm:pt>
    <dgm:pt modelId="{45CAD109-BD0E-4B12-BBDA-F13484F659FE}" type="pres">
      <dgm:prSet presAssocID="{5A0BBD7E-1ED1-402D-934D-2DEF6F966F0D}" presName="parTx" presStyleLbl="revTx" presStyleIdx="0" presStyleCnt="2">
        <dgm:presLayoutVars>
          <dgm:chMax val="0"/>
          <dgm:chPref val="0"/>
        </dgm:presLayoutVars>
      </dgm:prSet>
      <dgm:spPr/>
    </dgm:pt>
    <dgm:pt modelId="{54024470-506E-45F4-8AA8-67DA473DFD3B}" type="pres">
      <dgm:prSet presAssocID="{06AE62AB-4FD1-44D2-ABEC-3223F1101ECD}" presName="sibTrans" presStyleCnt="0"/>
      <dgm:spPr/>
    </dgm:pt>
    <dgm:pt modelId="{D2E082EC-3B9F-4D99-A3DF-5B2F2C6A23FD}" type="pres">
      <dgm:prSet presAssocID="{11C08B01-9DBF-421F-A649-662DAFA78157}" presName="compNode" presStyleCnt="0"/>
      <dgm:spPr/>
    </dgm:pt>
    <dgm:pt modelId="{FDC100CD-12A3-4630-98DB-D31AE8C8BEA6}" type="pres">
      <dgm:prSet presAssocID="{11C08B01-9DBF-421F-A649-662DAFA78157}" presName="bgRect" presStyleLbl="bgShp" presStyleIdx="1" presStyleCnt="2"/>
      <dgm:spPr/>
    </dgm:pt>
    <dgm:pt modelId="{6D2D7256-BD91-40A2-A899-53C53CFD1405}" type="pres">
      <dgm:prSet presAssocID="{11C08B01-9DBF-421F-A649-662DAFA7815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ammable"/>
        </a:ext>
      </dgm:extLst>
    </dgm:pt>
    <dgm:pt modelId="{7E121157-5F13-49A8-875C-535D07306171}" type="pres">
      <dgm:prSet presAssocID="{11C08B01-9DBF-421F-A649-662DAFA78157}" presName="spaceRect" presStyleCnt="0"/>
      <dgm:spPr/>
    </dgm:pt>
    <dgm:pt modelId="{42BFA067-8E52-4A9A-9EA9-C1E22374DEF2}" type="pres">
      <dgm:prSet presAssocID="{11C08B01-9DBF-421F-A649-662DAFA78157}" presName="parTx" presStyleLbl="revTx" presStyleIdx="1" presStyleCnt="2">
        <dgm:presLayoutVars>
          <dgm:chMax val="0"/>
          <dgm:chPref val="0"/>
        </dgm:presLayoutVars>
      </dgm:prSet>
      <dgm:spPr/>
    </dgm:pt>
  </dgm:ptLst>
  <dgm:cxnLst>
    <dgm:cxn modelId="{5F84B028-C947-4761-8E8D-390EEF8DE5CE}" srcId="{0FD5201A-8526-4B0D-A312-0C2D2942504E}" destId="{11C08B01-9DBF-421F-A649-662DAFA78157}" srcOrd="1" destOrd="0" parTransId="{04C1A7CD-30D7-4594-95F1-B6DCD5736ED3}" sibTransId="{60DAF482-0A67-41E4-AB0B-3093E43FC4C6}"/>
    <dgm:cxn modelId="{98893766-519B-413D-83BC-77A89E03F48B}" type="presOf" srcId="{0FD5201A-8526-4B0D-A312-0C2D2942504E}" destId="{ED888F1D-EA3A-48FE-AA35-DA3269A26270}" srcOrd="0" destOrd="0" presId="urn:microsoft.com/office/officeart/2018/2/layout/IconVerticalSolidList"/>
    <dgm:cxn modelId="{94C2E846-5ABC-489C-85CF-2AF6F872068F}" type="presOf" srcId="{11C08B01-9DBF-421F-A649-662DAFA78157}" destId="{42BFA067-8E52-4A9A-9EA9-C1E22374DEF2}" srcOrd="0" destOrd="0" presId="urn:microsoft.com/office/officeart/2018/2/layout/IconVerticalSolidList"/>
    <dgm:cxn modelId="{FEB896B8-1936-4E58-B7E9-B1F42BD5E74B}" srcId="{0FD5201A-8526-4B0D-A312-0C2D2942504E}" destId="{5A0BBD7E-1ED1-402D-934D-2DEF6F966F0D}" srcOrd="0" destOrd="0" parTransId="{969BA689-3D14-4D48-8665-4438EA7C06AC}" sibTransId="{06AE62AB-4FD1-44D2-ABEC-3223F1101ECD}"/>
    <dgm:cxn modelId="{450E4BF9-8A66-4BB8-828F-EFEE02ADF181}" type="presOf" srcId="{5A0BBD7E-1ED1-402D-934D-2DEF6F966F0D}" destId="{45CAD109-BD0E-4B12-BBDA-F13484F659FE}" srcOrd="0" destOrd="0" presId="urn:microsoft.com/office/officeart/2018/2/layout/IconVerticalSolidList"/>
    <dgm:cxn modelId="{2CF4BD1E-4158-451E-A145-A56872A193B7}" type="presParOf" srcId="{ED888F1D-EA3A-48FE-AA35-DA3269A26270}" destId="{46DCD734-6FE5-4916-A077-FAF5FACB545F}" srcOrd="0" destOrd="0" presId="urn:microsoft.com/office/officeart/2018/2/layout/IconVerticalSolidList"/>
    <dgm:cxn modelId="{7F6005F1-F828-43CF-9C15-ECDAF9C25830}" type="presParOf" srcId="{46DCD734-6FE5-4916-A077-FAF5FACB545F}" destId="{EC3870CF-0B22-4EF8-9423-AA1CF45051A9}" srcOrd="0" destOrd="0" presId="urn:microsoft.com/office/officeart/2018/2/layout/IconVerticalSolidList"/>
    <dgm:cxn modelId="{7585C2A3-11A1-479F-AC07-75405760505B}" type="presParOf" srcId="{46DCD734-6FE5-4916-A077-FAF5FACB545F}" destId="{04DD3814-572C-4910-BBB5-06B863B471B2}" srcOrd="1" destOrd="0" presId="urn:microsoft.com/office/officeart/2018/2/layout/IconVerticalSolidList"/>
    <dgm:cxn modelId="{334F84E4-1A4A-4B54-9A6C-E5F73BB9068F}" type="presParOf" srcId="{46DCD734-6FE5-4916-A077-FAF5FACB545F}" destId="{DCF516EF-F04D-41A6-B47F-B825B242CEAF}" srcOrd="2" destOrd="0" presId="urn:microsoft.com/office/officeart/2018/2/layout/IconVerticalSolidList"/>
    <dgm:cxn modelId="{0CADC36B-83AF-422B-890B-507E5A18B752}" type="presParOf" srcId="{46DCD734-6FE5-4916-A077-FAF5FACB545F}" destId="{45CAD109-BD0E-4B12-BBDA-F13484F659FE}" srcOrd="3" destOrd="0" presId="urn:microsoft.com/office/officeart/2018/2/layout/IconVerticalSolidList"/>
    <dgm:cxn modelId="{5381683F-A5FA-4E92-B923-3C6995D58BC5}" type="presParOf" srcId="{ED888F1D-EA3A-48FE-AA35-DA3269A26270}" destId="{54024470-506E-45F4-8AA8-67DA473DFD3B}" srcOrd="1" destOrd="0" presId="urn:microsoft.com/office/officeart/2018/2/layout/IconVerticalSolidList"/>
    <dgm:cxn modelId="{14A3FDD7-0F99-40A8-9262-C2026E146405}" type="presParOf" srcId="{ED888F1D-EA3A-48FE-AA35-DA3269A26270}" destId="{D2E082EC-3B9F-4D99-A3DF-5B2F2C6A23FD}" srcOrd="2" destOrd="0" presId="urn:microsoft.com/office/officeart/2018/2/layout/IconVerticalSolidList"/>
    <dgm:cxn modelId="{470F26EE-228E-4D11-AC09-864099C55276}" type="presParOf" srcId="{D2E082EC-3B9F-4D99-A3DF-5B2F2C6A23FD}" destId="{FDC100CD-12A3-4630-98DB-D31AE8C8BEA6}" srcOrd="0" destOrd="0" presId="urn:microsoft.com/office/officeart/2018/2/layout/IconVerticalSolidList"/>
    <dgm:cxn modelId="{0DE6A055-55D6-462A-83A9-E6F382546653}" type="presParOf" srcId="{D2E082EC-3B9F-4D99-A3DF-5B2F2C6A23FD}" destId="{6D2D7256-BD91-40A2-A899-53C53CFD1405}" srcOrd="1" destOrd="0" presId="urn:microsoft.com/office/officeart/2018/2/layout/IconVerticalSolidList"/>
    <dgm:cxn modelId="{73B7FCDC-44D0-4B31-B4E3-6AC5392194F2}" type="presParOf" srcId="{D2E082EC-3B9F-4D99-A3DF-5B2F2C6A23FD}" destId="{7E121157-5F13-49A8-875C-535D07306171}" srcOrd="2" destOrd="0" presId="urn:microsoft.com/office/officeart/2018/2/layout/IconVerticalSolidList"/>
    <dgm:cxn modelId="{CBAC8C20-4B59-471A-A087-3D5446E30F9C}" type="presParOf" srcId="{D2E082EC-3B9F-4D99-A3DF-5B2F2C6A23FD}" destId="{42BFA067-8E52-4A9A-9EA9-C1E22374DEF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CB119E-9493-4054-9586-59CB80B46DA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A3C9050-E95F-49C8-8230-244B18A95642}">
      <dgm:prSet/>
      <dgm:spPr/>
      <dgm:t>
        <a:bodyPr/>
        <a:lstStyle/>
        <a:p>
          <a:pPr>
            <a:lnSpc>
              <a:spcPct val="100000"/>
            </a:lnSpc>
          </a:pPr>
          <a:r>
            <a:rPr lang="en-US"/>
            <a:t>Forced vital capacity (FVC), forced expired volume in 1</a:t>
          </a:r>
          <a:r>
            <a:rPr lang="en-US" baseline="30000"/>
            <a:t>st</a:t>
          </a:r>
          <a:r>
            <a:rPr lang="en-US"/>
            <a:t> second (FEV</a:t>
          </a:r>
          <a:r>
            <a:rPr lang="en-US" baseline="-25000"/>
            <a:t>1</a:t>
          </a:r>
          <a:r>
            <a:rPr lang="en-US"/>
            <a:t>), and peak expiratory flow can be measured at the patient’s bed side using a spirometer. </a:t>
          </a:r>
        </a:p>
      </dgm:t>
    </dgm:pt>
    <dgm:pt modelId="{8E2FC862-F32E-4197-B71C-D4047FC72955}" type="parTrans" cxnId="{0B53FA59-4F93-4FFB-A159-8F3E0CCA8511}">
      <dgm:prSet/>
      <dgm:spPr/>
      <dgm:t>
        <a:bodyPr/>
        <a:lstStyle/>
        <a:p>
          <a:endParaRPr lang="en-US"/>
        </a:p>
      </dgm:t>
    </dgm:pt>
    <dgm:pt modelId="{37D3D29B-CF7E-4300-89DB-092720E82E44}" type="sibTrans" cxnId="{0B53FA59-4F93-4FFB-A159-8F3E0CCA8511}">
      <dgm:prSet/>
      <dgm:spPr/>
      <dgm:t>
        <a:bodyPr/>
        <a:lstStyle/>
        <a:p>
          <a:endParaRPr lang="en-US"/>
        </a:p>
      </dgm:t>
    </dgm:pt>
    <dgm:pt modelId="{CBE41092-24CF-48D2-A0E2-03143078156D}">
      <dgm:prSet/>
      <dgm:spPr/>
      <dgm:t>
        <a:bodyPr/>
        <a:lstStyle/>
        <a:p>
          <a:pPr>
            <a:lnSpc>
              <a:spcPct val="100000"/>
            </a:lnSpc>
          </a:pPr>
          <a:r>
            <a:rPr lang="en-US"/>
            <a:t>A vital capacity of at least three times the VT is necessary for an effective cough.</a:t>
          </a:r>
        </a:p>
      </dgm:t>
    </dgm:pt>
    <dgm:pt modelId="{3359F863-588B-43D4-95EA-953846774C2F}" type="parTrans" cxnId="{5C815BC1-BF92-49D0-B859-427A4C6378D0}">
      <dgm:prSet/>
      <dgm:spPr/>
      <dgm:t>
        <a:bodyPr/>
        <a:lstStyle/>
        <a:p>
          <a:endParaRPr lang="en-US"/>
        </a:p>
      </dgm:t>
    </dgm:pt>
    <dgm:pt modelId="{CC064C70-7AE9-47F4-8899-42AB62100509}" type="sibTrans" cxnId="{5C815BC1-BF92-49D0-B859-427A4C6378D0}">
      <dgm:prSet/>
      <dgm:spPr/>
      <dgm:t>
        <a:bodyPr/>
        <a:lstStyle/>
        <a:p>
          <a:endParaRPr lang="en-US"/>
        </a:p>
      </dgm:t>
    </dgm:pt>
    <dgm:pt modelId="{8BEC3549-E4F6-4B56-A279-68E804D9A5D1}">
      <dgm:prSet/>
      <dgm:spPr/>
      <dgm:t>
        <a:bodyPr/>
        <a:lstStyle/>
        <a:p>
          <a:pPr>
            <a:lnSpc>
              <a:spcPct val="100000"/>
            </a:lnSpc>
          </a:pPr>
          <a:r>
            <a:rPr lang="en-US"/>
            <a:t>A vital capacity of less than 50 % of predicted or less than 2 lit is an indicator of increased risk.</a:t>
          </a:r>
        </a:p>
      </dgm:t>
    </dgm:pt>
    <dgm:pt modelId="{2294C937-7983-46BC-A6FA-9DDF0B8DF383}" type="parTrans" cxnId="{5D6C08CB-CB66-4A9D-9F7D-7260FB222EB5}">
      <dgm:prSet/>
      <dgm:spPr/>
      <dgm:t>
        <a:bodyPr/>
        <a:lstStyle/>
        <a:p>
          <a:endParaRPr lang="en-US"/>
        </a:p>
      </dgm:t>
    </dgm:pt>
    <dgm:pt modelId="{64FB3AE3-B707-4493-9C10-888CC15A78EA}" type="sibTrans" cxnId="{5D6C08CB-CB66-4A9D-9F7D-7260FB222EB5}">
      <dgm:prSet/>
      <dgm:spPr/>
      <dgm:t>
        <a:bodyPr/>
        <a:lstStyle/>
        <a:p>
          <a:endParaRPr lang="en-US"/>
        </a:p>
      </dgm:t>
    </dgm:pt>
    <dgm:pt modelId="{2B28DC6B-265F-4488-8B4A-0B4F88A118BA}" type="pres">
      <dgm:prSet presAssocID="{E0CB119E-9493-4054-9586-59CB80B46DAE}" presName="root" presStyleCnt="0">
        <dgm:presLayoutVars>
          <dgm:dir/>
          <dgm:resizeHandles val="exact"/>
        </dgm:presLayoutVars>
      </dgm:prSet>
      <dgm:spPr/>
    </dgm:pt>
    <dgm:pt modelId="{5AEDA3F0-5EB6-47D1-80AA-ABEAB4320F95}" type="pres">
      <dgm:prSet presAssocID="{CA3C9050-E95F-49C8-8230-244B18A95642}" presName="compNode" presStyleCnt="0"/>
      <dgm:spPr/>
    </dgm:pt>
    <dgm:pt modelId="{34999794-849C-4689-B8F1-FD2773DEC0E5}" type="pres">
      <dgm:prSet presAssocID="{CA3C9050-E95F-49C8-8230-244B18A95642}" presName="bgRect" presStyleLbl="bgShp" presStyleIdx="0" presStyleCnt="3"/>
      <dgm:spPr/>
    </dgm:pt>
    <dgm:pt modelId="{E160FA2F-A1B2-4BDB-8DDE-F01A2FD9A692}" type="pres">
      <dgm:prSet presAssocID="{CA3C9050-E95F-49C8-8230-244B18A9564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ammable"/>
        </a:ext>
      </dgm:extLst>
    </dgm:pt>
    <dgm:pt modelId="{A91676CB-188E-4957-BDA0-828438C947EC}" type="pres">
      <dgm:prSet presAssocID="{CA3C9050-E95F-49C8-8230-244B18A95642}" presName="spaceRect" presStyleCnt="0"/>
      <dgm:spPr/>
    </dgm:pt>
    <dgm:pt modelId="{476B6504-6B05-4821-8E46-9B7AAFB855D2}" type="pres">
      <dgm:prSet presAssocID="{CA3C9050-E95F-49C8-8230-244B18A95642}" presName="parTx" presStyleLbl="revTx" presStyleIdx="0" presStyleCnt="3">
        <dgm:presLayoutVars>
          <dgm:chMax val="0"/>
          <dgm:chPref val="0"/>
        </dgm:presLayoutVars>
      </dgm:prSet>
      <dgm:spPr/>
    </dgm:pt>
    <dgm:pt modelId="{03C72810-FA7B-4848-8C70-928C827ABC30}" type="pres">
      <dgm:prSet presAssocID="{37D3D29B-CF7E-4300-89DB-092720E82E44}" presName="sibTrans" presStyleCnt="0"/>
      <dgm:spPr/>
    </dgm:pt>
    <dgm:pt modelId="{45F5D046-3F98-4F6C-81F2-54BC0675A0D6}" type="pres">
      <dgm:prSet presAssocID="{CBE41092-24CF-48D2-A0E2-03143078156D}" presName="compNode" presStyleCnt="0"/>
      <dgm:spPr/>
    </dgm:pt>
    <dgm:pt modelId="{303D2FBE-6F2E-42E7-8EC3-3D28E7F266DD}" type="pres">
      <dgm:prSet presAssocID="{CBE41092-24CF-48D2-A0E2-03143078156D}" presName="bgRect" presStyleLbl="bgShp" presStyleIdx="1" presStyleCnt="3"/>
      <dgm:spPr/>
    </dgm:pt>
    <dgm:pt modelId="{DDED491A-5DFA-4160-B010-ED61D637755C}" type="pres">
      <dgm:prSet presAssocID="{CBE41092-24CF-48D2-A0E2-03143078156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ethoscope"/>
        </a:ext>
      </dgm:extLst>
    </dgm:pt>
    <dgm:pt modelId="{4F04D45B-D0C1-4043-8CC1-7598B7A1A586}" type="pres">
      <dgm:prSet presAssocID="{CBE41092-24CF-48D2-A0E2-03143078156D}" presName="spaceRect" presStyleCnt="0"/>
      <dgm:spPr/>
    </dgm:pt>
    <dgm:pt modelId="{42669FA4-2BC1-41C8-B7AB-DF26B8013A61}" type="pres">
      <dgm:prSet presAssocID="{CBE41092-24CF-48D2-A0E2-03143078156D}" presName="parTx" presStyleLbl="revTx" presStyleIdx="1" presStyleCnt="3">
        <dgm:presLayoutVars>
          <dgm:chMax val="0"/>
          <dgm:chPref val="0"/>
        </dgm:presLayoutVars>
      </dgm:prSet>
      <dgm:spPr/>
    </dgm:pt>
    <dgm:pt modelId="{3DD5750A-0EB8-45CE-9328-84ADD572B641}" type="pres">
      <dgm:prSet presAssocID="{CC064C70-7AE9-47F4-8899-42AB62100509}" presName="sibTrans" presStyleCnt="0"/>
      <dgm:spPr/>
    </dgm:pt>
    <dgm:pt modelId="{A1FDC478-4863-4FB5-BD81-4347FD99DDC9}" type="pres">
      <dgm:prSet presAssocID="{8BEC3549-E4F6-4B56-A279-68E804D9A5D1}" presName="compNode" presStyleCnt="0"/>
      <dgm:spPr/>
    </dgm:pt>
    <dgm:pt modelId="{026126B5-8F65-4967-B493-8C585B7E8774}" type="pres">
      <dgm:prSet presAssocID="{8BEC3549-E4F6-4B56-A279-68E804D9A5D1}" presName="bgRect" presStyleLbl="bgShp" presStyleIdx="2" presStyleCnt="3"/>
      <dgm:spPr/>
    </dgm:pt>
    <dgm:pt modelId="{81230B7E-9117-4500-BE83-69A7CEAA91F7}" type="pres">
      <dgm:prSet presAssocID="{8BEC3549-E4F6-4B56-A279-68E804D9A5D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rt with Pulse"/>
        </a:ext>
      </dgm:extLst>
    </dgm:pt>
    <dgm:pt modelId="{0ACE6EAC-3139-456C-939F-91D2AF7956E1}" type="pres">
      <dgm:prSet presAssocID="{8BEC3549-E4F6-4B56-A279-68E804D9A5D1}" presName="spaceRect" presStyleCnt="0"/>
      <dgm:spPr/>
    </dgm:pt>
    <dgm:pt modelId="{CCB2DD11-02BB-466C-9BCE-DCFE0FDE2153}" type="pres">
      <dgm:prSet presAssocID="{8BEC3549-E4F6-4B56-A279-68E804D9A5D1}" presName="parTx" presStyleLbl="revTx" presStyleIdx="2" presStyleCnt="3">
        <dgm:presLayoutVars>
          <dgm:chMax val="0"/>
          <dgm:chPref val="0"/>
        </dgm:presLayoutVars>
      </dgm:prSet>
      <dgm:spPr/>
    </dgm:pt>
  </dgm:ptLst>
  <dgm:cxnLst>
    <dgm:cxn modelId="{755AA328-DE8E-4684-9937-29D219733AA9}" type="presOf" srcId="{CA3C9050-E95F-49C8-8230-244B18A95642}" destId="{476B6504-6B05-4821-8E46-9B7AAFB855D2}" srcOrd="0" destOrd="0" presId="urn:microsoft.com/office/officeart/2018/2/layout/IconVerticalSolidList"/>
    <dgm:cxn modelId="{90952F2C-B74B-42F6-8076-05B017CF79D8}" type="presOf" srcId="{E0CB119E-9493-4054-9586-59CB80B46DAE}" destId="{2B28DC6B-265F-4488-8B4A-0B4F88A118BA}" srcOrd="0" destOrd="0" presId="urn:microsoft.com/office/officeart/2018/2/layout/IconVerticalSolidList"/>
    <dgm:cxn modelId="{0B53FA59-4F93-4FFB-A159-8F3E0CCA8511}" srcId="{E0CB119E-9493-4054-9586-59CB80B46DAE}" destId="{CA3C9050-E95F-49C8-8230-244B18A95642}" srcOrd="0" destOrd="0" parTransId="{8E2FC862-F32E-4197-B71C-D4047FC72955}" sibTransId="{37D3D29B-CF7E-4300-89DB-092720E82E44}"/>
    <dgm:cxn modelId="{0FA296A1-6CAA-41D7-84E2-10615110057D}" type="presOf" srcId="{8BEC3549-E4F6-4B56-A279-68E804D9A5D1}" destId="{CCB2DD11-02BB-466C-9BCE-DCFE0FDE2153}" srcOrd="0" destOrd="0" presId="urn:microsoft.com/office/officeart/2018/2/layout/IconVerticalSolidList"/>
    <dgm:cxn modelId="{177F27BB-529E-4ACF-91D6-544F3106FF52}" type="presOf" srcId="{CBE41092-24CF-48D2-A0E2-03143078156D}" destId="{42669FA4-2BC1-41C8-B7AB-DF26B8013A61}" srcOrd="0" destOrd="0" presId="urn:microsoft.com/office/officeart/2018/2/layout/IconVerticalSolidList"/>
    <dgm:cxn modelId="{5C815BC1-BF92-49D0-B859-427A4C6378D0}" srcId="{E0CB119E-9493-4054-9586-59CB80B46DAE}" destId="{CBE41092-24CF-48D2-A0E2-03143078156D}" srcOrd="1" destOrd="0" parTransId="{3359F863-588B-43D4-95EA-953846774C2F}" sibTransId="{CC064C70-7AE9-47F4-8899-42AB62100509}"/>
    <dgm:cxn modelId="{5D6C08CB-CB66-4A9D-9F7D-7260FB222EB5}" srcId="{E0CB119E-9493-4054-9586-59CB80B46DAE}" destId="{8BEC3549-E4F6-4B56-A279-68E804D9A5D1}" srcOrd="2" destOrd="0" parTransId="{2294C937-7983-46BC-A6FA-9DDF0B8DF383}" sibTransId="{64FB3AE3-B707-4493-9C10-888CC15A78EA}"/>
    <dgm:cxn modelId="{44967F96-A78C-4438-8312-3EC6870950C6}" type="presParOf" srcId="{2B28DC6B-265F-4488-8B4A-0B4F88A118BA}" destId="{5AEDA3F0-5EB6-47D1-80AA-ABEAB4320F95}" srcOrd="0" destOrd="0" presId="urn:microsoft.com/office/officeart/2018/2/layout/IconVerticalSolidList"/>
    <dgm:cxn modelId="{4B58D01A-09AD-41F3-A166-960B988B67CE}" type="presParOf" srcId="{5AEDA3F0-5EB6-47D1-80AA-ABEAB4320F95}" destId="{34999794-849C-4689-B8F1-FD2773DEC0E5}" srcOrd="0" destOrd="0" presId="urn:microsoft.com/office/officeart/2018/2/layout/IconVerticalSolidList"/>
    <dgm:cxn modelId="{00E10DC2-DC83-4721-941F-6340E3BC7BAD}" type="presParOf" srcId="{5AEDA3F0-5EB6-47D1-80AA-ABEAB4320F95}" destId="{E160FA2F-A1B2-4BDB-8DDE-F01A2FD9A692}" srcOrd="1" destOrd="0" presId="urn:microsoft.com/office/officeart/2018/2/layout/IconVerticalSolidList"/>
    <dgm:cxn modelId="{7A472C47-67B8-4406-8F78-C12489D8D798}" type="presParOf" srcId="{5AEDA3F0-5EB6-47D1-80AA-ABEAB4320F95}" destId="{A91676CB-188E-4957-BDA0-828438C947EC}" srcOrd="2" destOrd="0" presId="urn:microsoft.com/office/officeart/2018/2/layout/IconVerticalSolidList"/>
    <dgm:cxn modelId="{E3F68DF2-EE33-459B-A319-A2757AAC58B1}" type="presParOf" srcId="{5AEDA3F0-5EB6-47D1-80AA-ABEAB4320F95}" destId="{476B6504-6B05-4821-8E46-9B7AAFB855D2}" srcOrd="3" destOrd="0" presId="urn:microsoft.com/office/officeart/2018/2/layout/IconVerticalSolidList"/>
    <dgm:cxn modelId="{D5124BC0-3D48-4BB8-A1A3-E045AEE89D6C}" type="presParOf" srcId="{2B28DC6B-265F-4488-8B4A-0B4F88A118BA}" destId="{03C72810-FA7B-4848-8C70-928C827ABC30}" srcOrd="1" destOrd="0" presId="urn:microsoft.com/office/officeart/2018/2/layout/IconVerticalSolidList"/>
    <dgm:cxn modelId="{2757D226-5F36-4D2E-9DC0-AA7E0B2C2AEA}" type="presParOf" srcId="{2B28DC6B-265F-4488-8B4A-0B4F88A118BA}" destId="{45F5D046-3F98-4F6C-81F2-54BC0675A0D6}" srcOrd="2" destOrd="0" presId="urn:microsoft.com/office/officeart/2018/2/layout/IconVerticalSolidList"/>
    <dgm:cxn modelId="{7EB61AA9-6433-4813-B96F-704F7865F0AE}" type="presParOf" srcId="{45F5D046-3F98-4F6C-81F2-54BC0675A0D6}" destId="{303D2FBE-6F2E-42E7-8EC3-3D28E7F266DD}" srcOrd="0" destOrd="0" presId="urn:microsoft.com/office/officeart/2018/2/layout/IconVerticalSolidList"/>
    <dgm:cxn modelId="{CB06335F-9CFD-4A9B-ADA5-FC631A06B35C}" type="presParOf" srcId="{45F5D046-3F98-4F6C-81F2-54BC0675A0D6}" destId="{DDED491A-5DFA-4160-B010-ED61D637755C}" srcOrd="1" destOrd="0" presId="urn:microsoft.com/office/officeart/2018/2/layout/IconVerticalSolidList"/>
    <dgm:cxn modelId="{15F0C282-4873-4066-A400-1B89307562D2}" type="presParOf" srcId="{45F5D046-3F98-4F6C-81F2-54BC0675A0D6}" destId="{4F04D45B-D0C1-4043-8CC1-7598B7A1A586}" srcOrd="2" destOrd="0" presId="urn:microsoft.com/office/officeart/2018/2/layout/IconVerticalSolidList"/>
    <dgm:cxn modelId="{A14496A9-1DFB-496C-9B56-48E5C58FA02B}" type="presParOf" srcId="{45F5D046-3F98-4F6C-81F2-54BC0675A0D6}" destId="{42669FA4-2BC1-41C8-B7AB-DF26B8013A61}" srcOrd="3" destOrd="0" presId="urn:microsoft.com/office/officeart/2018/2/layout/IconVerticalSolidList"/>
    <dgm:cxn modelId="{CAAF95F5-FD7C-4EB8-89C0-E99419A16194}" type="presParOf" srcId="{2B28DC6B-265F-4488-8B4A-0B4F88A118BA}" destId="{3DD5750A-0EB8-45CE-9328-84ADD572B641}" srcOrd="3" destOrd="0" presId="urn:microsoft.com/office/officeart/2018/2/layout/IconVerticalSolidList"/>
    <dgm:cxn modelId="{7260DB8E-EED5-46EE-92E5-3628E2F90555}" type="presParOf" srcId="{2B28DC6B-265F-4488-8B4A-0B4F88A118BA}" destId="{A1FDC478-4863-4FB5-BD81-4347FD99DDC9}" srcOrd="4" destOrd="0" presId="urn:microsoft.com/office/officeart/2018/2/layout/IconVerticalSolidList"/>
    <dgm:cxn modelId="{1EA23FE0-9CE9-4983-A34A-C063BFB30C9F}" type="presParOf" srcId="{A1FDC478-4863-4FB5-BD81-4347FD99DDC9}" destId="{026126B5-8F65-4967-B493-8C585B7E8774}" srcOrd="0" destOrd="0" presId="urn:microsoft.com/office/officeart/2018/2/layout/IconVerticalSolidList"/>
    <dgm:cxn modelId="{BDF67C04-9A8D-446F-B020-7636316E003F}" type="presParOf" srcId="{A1FDC478-4863-4FB5-BD81-4347FD99DDC9}" destId="{81230B7E-9117-4500-BE83-69A7CEAA91F7}" srcOrd="1" destOrd="0" presId="urn:microsoft.com/office/officeart/2018/2/layout/IconVerticalSolidList"/>
    <dgm:cxn modelId="{E5448842-65D6-4D2C-9CFF-6491ADA00C2E}" type="presParOf" srcId="{A1FDC478-4863-4FB5-BD81-4347FD99DDC9}" destId="{0ACE6EAC-3139-456C-939F-91D2AF7956E1}" srcOrd="2" destOrd="0" presId="urn:microsoft.com/office/officeart/2018/2/layout/IconVerticalSolidList"/>
    <dgm:cxn modelId="{82E2CBC4-0E53-482C-8049-6CCC67F7A073}" type="presParOf" srcId="{A1FDC478-4863-4FB5-BD81-4347FD99DDC9}" destId="{CCB2DD11-02BB-466C-9BCE-DCFE0FDE215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1285AC-A148-4AC9-9CD8-7B0A578FFE2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0AD5158-6B01-4A11-A791-C0929D4AB626}">
      <dgm:prSet/>
      <dgm:spPr/>
      <dgm:t>
        <a:bodyPr/>
        <a:lstStyle/>
        <a:p>
          <a:r>
            <a:rPr lang="en-US"/>
            <a:t>FVC - is used to diagnose restrictive ventilatory impairment.</a:t>
          </a:r>
        </a:p>
      </dgm:t>
    </dgm:pt>
    <dgm:pt modelId="{CE80C36B-B27D-489A-8A9A-521A3F316DF1}" type="parTrans" cxnId="{536721E5-63B7-44E0-82E2-EDA6198EDD9A}">
      <dgm:prSet/>
      <dgm:spPr/>
      <dgm:t>
        <a:bodyPr/>
        <a:lstStyle/>
        <a:p>
          <a:endParaRPr lang="en-US"/>
        </a:p>
      </dgm:t>
    </dgm:pt>
    <dgm:pt modelId="{B625E039-304F-4FFA-B5BB-A9C6109C3FF0}" type="sibTrans" cxnId="{536721E5-63B7-44E0-82E2-EDA6198EDD9A}">
      <dgm:prSet/>
      <dgm:spPr/>
      <dgm:t>
        <a:bodyPr/>
        <a:lstStyle/>
        <a:p>
          <a:endParaRPr lang="en-US"/>
        </a:p>
      </dgm:t>
    </dgm:pt>
    <dgm:pt modelId="{04D50982-CF12-4E86-9645-059E934A9E64}">
      <dgm:prSet/>
      <dgm:spPr/>
      <dgm:t>
        <a:bodyPr/>
        <a:lstStyle/>
        <a:p>
          <a:r>
            <a:rPr lang="en-US"/>
            <a:t>A patient with an abnormal vital capacity has a 33 % chance of complications and a10 % risk of post operative mortality.</a:t>
          </a:r>
        </a:p>
      </dgm:t>
    </dgm:pt>
    <dgm:pt modelId="{2BD81539-DC64-42E9-AF0D-E5FAD1DFD7CB}" type="parTrans" cxnId="{DFEDB0DE-63BC-4D19-AE7A-152E96F9535F}">
      <dgm:prSet/>
      <dgm:spPr/>
      <dgm:t>
        <a:bodyPr/>
        <a:lstStyle/>
        <a:p>
          <a:endParaRPr lang="en-US"/>
        </a:p>
      </dgm:t>
    </dgm:pt>
    <dgm:pt modelId="{8BD93D0B-4366-42A1-A9C1-DE7CC4813A6F}" type="sibTrans" cxnId="{DFEDB0DE-63BC-4D19-AE7A-152E96F9535F}">
      <dgm:prSet/>
      <dgm:spPr/>
      <dgm:t>
        <a:bodyPr/>
        <a:lstStyle/>
        <a:p>
          <a:endParaRPr lang="en-US"/>
        </a:p>
      </dgm:t>
    </dgm:pt>
    <dgm:pt modelId="{1C3AC132-4CFB-4E26-8A86-152EA2BE65E0}">
      <dgm:prSet/>
      <dgm:spPr/>
      <dgm:t>
        <a:bodyPr/>
        <a:lstStyle/>
        <a:p>
          <a:r>
            <a:rPr lang="en-US"/>
            <a:t>FEV</a:t>
          </a:r>
          <a:r>
            <a:rPr lang="en-US" baseline="-25000"/>
            <a:t>1</a:t>
          </a:r>
          <a:r>
            <a:rPr lang="en-US"/>
            <a:t>, is more direct indication of airway obstruction.</a:t>
          </a:r>
        </a:p>
      </dgm:t>
    </dgm:pt>
    <dgm:pt modelId="{B090562F-3A02-4513-B250-03FDE1D2997A}" type="parTrans" cxnId="{87F7BC48-AC75-4B26-A858-FF31E1FE5EBC}">
      <dgm:prSet/>
      <dgm:spPr/>
      <dgm:t>
        <a:bodyPr/>
        <a:lstStyle/>
        <a:p>
          <a:endParaRPr lang="en-US"/>
        </a:p>
      </dgm:t>
    </dgm:pt>
    <dgm:pt modelId="{D86EAAC9-3645-4CF9-BBBF-6CC6C158C0B0}" type="sibTrans" cxnId="{87F7BC48-AC75-4B26-A858-FF31E1FE5EBC}">
      <dgm:prSet/>
      <dgm:spPr/>
      <dgm:t>
        <a:bodyPr/>
        <a:lstStyle/>
        <a:p>
          <a:endParaRPr lang="en-US"/>
        </a:p>
      </dgm:t>
    </dgm:pt>
    <dgm:pt modelId="{043CB0E2-9DC2-4394-8BA9-B172DAD24BAF}" type="pres">
      <dgm:prSet presAssocID="{1C1285AC-A148-4AC9-9CD8-7B0A578FFE22}" presName="linear" presStyleCnt="0">
        <dgm:presLayoutVars>
          <dgm:animLvl val="lvl"/>
          <dgm:resizeHandles val="exact"/>
        </dgm:presLayoutVars>
      </dgm:prSet>
      <dgm:spPr/>
    </dgm:pt>
    <dgm:pt modelId="{9DACAACD-CC1E-48A1-B6FE-C12AF3284425}" type="pres">
      <dgm:prSet presAssocID="{40AD5158-6B01-4A11-A791-C0929D4AB626}" presName="parentText" presStyleLbl="node1" presStyleIdx="0" presStyleCnt="3">
        <dgm:presLayoutVars>
          <dgm:chMax val="0"/>
          <dgm:bulletEnabled val="1"/>
        </dgm:presLayoutVars>
      </dgm:prSet>
      <dgm:spPr/>
    </dgm:pt>
    <dgm:pt modelId="{D51EFCEC-337A-470B-BF6C-21B666F468B0}" type="pres">
      <dgm:prSet presAssocID="{B625E039-304F-4FFA-B5BB-A9C6109C3FF0}" presName="spacer" presStyleCnt="0"/>
      <dgm:spPr/>
    </dgm:pt>
    <dgm:pt modelId="{E0BC6A18-9119-4AA5-8F63-EB383E7AA9C5}" type="pres">
      <dgm:prSet presAssocID="{04D50982-CF12-4E86-9645-059E934A9E64}" presName="parentText" presStyleLbl="node1" presStyleIdx="1" presStyleCnt="3">
        <dgm:presLayoutVars>
          <dgm:chMax val="0"/>
          <dgm:bulletEnabled val="1"/>
        </dgm:presLayoutVars>
      </dgm:prSet>
      <dgm:spPr/>
    </dgm:pt>
    <dgm:pt modelId="{DADAA975-29C4-4C54-B258-89E889623C5B}" type="pres">
      <dgm:prSet presAssocID="{8BD93D0B-4366-42A1-A9C1-DE7CC4813A6F}" presName="spacer" presStyleCnt="0"/>
      <dgm:spPr/>
    </dgm:pt>
    <dgm:pt modelId="{BF85678C-1775-4FA2-B5A6-348836E02946}" type="pres">
      <dgm:prSet presAssocID="{1C3AC132-4CFB-4E26-8A86-152EA2BE65E0}" presName="parentText" presStyleLbl="node1" presStyleIdx="2" presStyleCnt="3">
        <dgm:presLayoutVars>
          <dgm:chMax val="0"/>
          <dgm:bulletEnabled val="1"/>
        </dgm:presLayoutVars>
      </dgm:prSet>
      <dgm:spPr/>
    </dgm:pt>
  </dgm:ptLst>
  <dgm:cxnLst>
    <dgm:cxn modelId="{44224C04-98F6-4275-80F8-464AABC70D24}" type="presOf" srcId="{1C1285AC-A148-4AC9-9CD8-7B0A578FFE22}" destId="{043CB0E2-9DC2-4394-8BA9-B172DAD24BAF}" srcOrd="0" destOrd="0" presId="urn:microsoft.com/office/officeart/2005/8/layout/vList2"/>
    <dgm:cxn modelId="{82490E0F-B824-4BD5-BC7A-CF47AF79CBFB}" type="presOf" srcId="{04D50982-CF12-4E86-9645-059E934A9E64}" destId="{E0BC6A18-9119-4AA5-8F63-EB383E7AA9C5}" srcOrd="0" destOrd="0" presId="urn:microsoft.com/office/officeart/2005/8/layout/vList2"/>
    <dgm:cxn modelId="{87F7BC48-AC75-4B26-A858-FF31E1FE5EBC}" srcId="{1C1285AC-A148-4AC9-9CD8-7B0A578FFE22}" destId="{1C3AC132-4CFB-4E26-8A86-152EA2BE65E0}" srcOrd="2" destOrd="0" parTransId="{B090562F-3A02-4513-B250-03FDE1D2997A}" sibTransId="{D86EAAC9-3645-4CF9-BBBF-6CC6C158C0B0}"/>
    <dgm:cxn modelId="{0DF288D6-9FC6-45AD-8393-99F4C4976049}" type="presOf" srcId="{40AD5158-6B01-4A11-A791-C0929D4AB626}" destId="{9DACAACD-CC1E-48A1-B6FE-C12AF3284425}" srcOrd="0" destOrd="0" presId="urn:microsoft.com/office/officeart/2005/8/layout/vList2"/>
    <dgm:cxn modelId="{DFEDB0DE-63BC-4D19-AE7A-152E96F9535F}" srcId="{1C1285AC-A148-4AC9-9CD8-7B0A578FFE22}" destId="{04D50982-CF12-4E86-9645-059E934A9E64}" srcOrd="1" destOrd="0" parTransId="{2BD81539-DC64-42E9-AF0D-E5FAD1DFD7CB}" sibTransId="{8BD93D0B-4366-42A1-A9C1-DE7CC4813A6F}"/>
    <dgm:cxn modelId="{B6B095E4-570A-4716-A406-49846C6919B8}" type="presOf" srcId="{1C3AC132-4CFB-4E26-8A86-152EA2BE65E0}" destId="{BF85678C-1775-4FA2-B5A6-348836E02946}" srcOrd="0" destOrd="0" presId="urn:microsoft.com/office/officeart/2005/8/layout/vList2"/>
    <dgm:cxn modelId="{536721E5-63B7-44E0-82E2-EDA6198EDD9A}" srcId="{1C1285AC-A148-4AC9-9CD8-7B0A578FFE22}" destId="{40AD5158-6B01-4A11-A791-C0929D4AB626}" srcOrd="0" destOrd="0" parTransId="{CE80C36B-B27D-489A-8A9A-521A3F316DF1}" sibTransId="{B625E039-304F-4FFA-B5BB-A9C6109C3FF0}"/>
    <dgm:cxn modelId="{D81DDA86-8D78-41D1-9D4B-954A42B72A99}" type="presParOf" srcId="{043CB0E2-9DC2-4394-8BA9-B172DAD24BAF}" destId="{9DACAACD-CC1E-48A1-B6FE-C12AF3284425}" srcOrd="0" destOrd="0" presId="urn:microsoft.com/office/officeart/2005/8/layout/vList2"/>
    <dgm:cxn modelId="{2F8C41AD-2FDF-4BC7-ABD6-664E78669747}" type="presParOf" srcId="{043CB0E2-9DC2-4394-8BA9-B172DAD24BAF}" destId="{D51EFCEC-337A-470B-BF6C-21B666F468B0}" srcOrd="1" destOrd="0" presId="urn:microsoft.com/office/officeart/2005/8/layout/vList2"/>
    <dgm:cxn modelId="{25C76E85-D647-4F20-B79F-3A9AD25CEC13}" type="presParOf" srcId="{043CB0E2-9DC2-4394-8BA9-B172DAD24BAF}" destId="{E0BC6A18-9119-4AA5-8F63-EB383E7AA9C5}" srcOrd="2" destOrd="0" presId="urn:microsoft.com/office/officeart/2005/8/layout/vList2"/>
    <dgm:cxn modelId="{24025E2C-4E5D-4F4E-8F87-4AEBCE03708E}" type="presParOf" srcId="{043CB0E2-9DC2-4394-8BA9-B172DAD24BAF}" destId="{DADAA975-29C4-4C54-B258-89E889623C5B}" srcOrd="3" destOrd="0" presId="urn:microsoft.com/office/officeart/2005/8/layout/vList2"/>
    <dgm:cxn modelId="{1C5DCA1E-18DA-4CA8-BB76-D7B9A226B3AE}" type="presParOf" srcId="{043CB0E2-9DC2-4394-8BA9-B172DAD24BAF}" destId="{BF85678C-1775-4FA2-B5A6-348836E0294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F7E6A96-1482-4E89-B9A3-E943BBCF31BE}"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0F9B8C76-D803-4496-A3F4-1B0A337BAEB8}">
      <dgm:prSet/>
      <dgm:spPr/>
      <dgm:t>
        <a:bodyPr/>
        <a:lstStyle/>
        <a:p>
          <a:r>
            <a:rPr lang="en-US"/>
            <a:t>In the past, an FEV</a:t>
          </a:r>
          <a:r>
            <a:rPr lang="en-US" baseline="-25000"/>
            <a:t>1</a:t>
          </a:r>
          <a:r>
            <a:rPr lang="en-US"/>
            <a:t> of &lt;800 ml in a 70-kg man had been considered an absolute contraindication to lung resection. </a:t>
          </a:r>
        </a:p>
      </dgm:t>
    </dgm:pt>
    <dgm:pt modelId="{45C12894-2027-4A6D-B110-AC9F954DA62F}" type="parTrans" cxnId="{024A58E5-F2B5-48DC-9F6C-1E7D47EE8CB3}">
      <dgm:prSet/>
      <dgm:spPr/>
      <dgm:t>
        <a:bodyPr/>
        <a:lstStyle/>
        <a:p>
          <a:endParaRPr lang="en-US"/>
        </a:p>
      </dgm:t>
    </dgm:pt>
    <dgm:pt modelId="{4A93B6BB-8AD4-4559-83D8-EC1F50E56EAA}" type="sibTrans" cxnId="{024A58E5-F2B5-48DC-9F6C-1E7D47EE8CB3}">
      <dgm:prSet phldrT="1" phldr="0"/>
      <dgm:spPr/>
      <dgm:t>
        <a:bodyPr/>
        <a:lstStyle/>
        <a:p>
          <a:r>
            <a:rPr lang="en-US"/>
            <a:t>1</a:t>
          </a:r>
        </a:p>
      </dgm:t>
    </dgm:pt>
    <dgm:pt modelId="{5C3F0558-F82E-4ADE-87B0-49476AFB941C}">
      <dgm:prSet/>
      <dgm:spPr/>
      <dgm:t>
        <a:bodyPr/>
        <a:lstStyle/>
        <a:p>
          <a:r>
            <a:rPr lang="en-US"/>
            <a:t>However some procedures  have done  successfully in patients with smaller lung volumes.</a:t>
          </a:r>
        </a:p>
      </dgm:t>
    </dgm:pt>
    <dgm:pt modelId="{C3868A43-50D8-4145-BB47-BE4F42FCEC9E}" type="parTrans" cxnId="{A0FA8A44-833E-4F1C-A001-053F153EDC23}">
      <dgm:prSet/>
      <dgm:spPr/>
      <dgm:t>
        <a:bodyPr/>
        <a:lstStyle/>
        <a:p>
          <a:endParaRPr lang="en-US"/>
        </a:p>
      </dgm:t>
    </dgm:pt>
    <dgm:pt modelId="{F17FFD63-4B7F-4503-BB87-E0BD369FFACC}" type="sibTrans" cxnId="{A0FA8A44-833E-4F1C-A001-053F153EDC23}">
      <dgm:prSet phldrT="2" phldr="0"/>
      <dgm:spPr/>
      <dgm:t>
        <a:bodyPr/>
        <a:lstStyle/>
        <a:p>
          <a:r>
            <a:rPr lang="en-US"/>
            <a:t>2</a:t>
          </a:r>
        </a:p>
      </dgm:t>
    </dgm:pt>
    <dgm:pt modelId="{53DF2ABA-65EE-4B1C-AB56-F1AE6C5D597C}">
      <dgm:prSet/>
      <dgm:spPr/>
      <dgm:t>
        <a:bodyPr/>
        <a:lstStyle/>
        <a:p>
          <a:r>
            <a:rPr lang="en-US"/>
            <a:t>It is preferable to indicate the percentage of predicted value, rather than just using the actual results in liters.</a:t>
          </a:r>
        </a:p>
      </dgm:t>
    </dgm:pt>
    <dgm:pt modelId="{0AB61531-0E23-42E1-8840-D2DEB9617399}" type="parTrans" cxnId="{89E13C39-8E93-42E0-A987-AEF55FB2EC3C}">
      <dgm:prSet/>
      <dgm:spPr/>
      <dgm:t>
        <a:bodyPr/>
        <a:lstStyle/>
        <a:p>
          <a:endParaRPr lang="en-US"/>
        </a:p>
      </dgm:t>
    </dgm:pt>
    <dgm:pt modelId="{67EF64B8-9ABF-4413-83ED-2E5F9FF81D3C}" type="sibTrans" cxnId="{89E13C39-8E93-42E0-A987-AEF55FB2EC3C}">
      <dgm:prSet phldrT="3" phldr="0"/>
      <dgm:spPr/>
      <dgm:t>
        <a:bodyPr/>
        <a:lstStyle/>
        <a:p>
          <a:r>
            <a:rPr lang="en-US"/>
            <a:t>3</a:t>
          </a:r>
        </a:p>
      </dgm:t>
    </dgm:pt>
    <dgm:pt modelId="{DE28F5BD-235A-4E17-AFF2-0F1BA17B74AB}" type="pres">
      <dgm:prSet presAssocID="{9F7E6A96-1482-4E89-B9A3-E943BBCF31BE}" presName="Name0" presStyleCnt="0">
        <dgm:presLayoutVars>
          <dgm:animLvl val="lvl"/>
          <dgm:resizeHandles val="exact"/>
        </dgm:presLayoutVars>
      </dgm:prSet>
      <dgm:spPr/>
    </dgm:pt>
    <dgm:pt modelId="{91242A45-9465-4F22-AE1D-565BC79D1F0A}" type="pres">
      <dgm:prSet presAssocID="{0F9B8C76-D803-4496-A3F4-1B0A337BAEB8}" presName="compositeNode" presStyleCnt="0">
        <dgm:presLayoutVars>
          <dgm:bulletEnabled val="1"/>
        </dgm:presLayoutVars>
      </dgm:prSet>
      <dgm:spPr/>
    </dgm:pt>
    <dgm:pt modelId="{D73CC38E-EA6E-489C-86E1-C77C18568533}" type="pres">
      <dgm:prSet presAssocID="{0F9B8C76-D803-4496-A3F4-1B0A337BAEB8}" presName="bgRect" presStyleLbl="bgAccFollowNode1" presStyleIdx="0" presStyleCnt="3"/>
      <dgm:spPr/>
    </dgm:pt>
    <dgm:pt modelId="{38D1C1D4-E489-4F06-939A-552BBFCABDB6}" type="pres">
      <dgm:prSet presAssocID="{4A93B6BB-8AD4-4559-83D8-EC1F50E56EAA}" presName="sibTransNodeCircle" presStyleLbl="alignNode1" presStyleIdx="0" presStyleCnt="6">
        <dgm:presLayoutVars>
          <dgm:chMax val="0"/>
          <dgm:bulletEnabled/>
        </dgm:presLayoutVars>
      </dgm:prSet>
      <dgm:spPr/>
    </dgm:pt>
    <dgm:pt modelId="{3414F538-F300-462A-BE9B-C0BD230500A0}" type="pres">
      <dgm:prSet presAssocID="{0F9B8C76-D803-4496-A3F4-1B0A337BAEB8}" presName="bottomLine" presStyleLbl="alignNode1" presStyleIdx="1" presStyleCnt="6">
        <dgm:presLayoutVars/>
      </dgm:prSet>
      <dgm:spPr/>
    </dgm:pt>
    <dgm:pt modelId="{B6E67559-5A4D-4A9C-9544-6EE648FD5D91}" type="pres">
      <dgm:prSet presAssocID="{0F9B8C76-D803-4496-A3F4-1B0A337BAEB8}" presName="nodeText" presStyleLbl="bgAccFollowNode1" presStyleIdx="0" presStyleCnt="3">
        <dgm:presLayoutVars>
          <dgm:bulletEnabled val="1"/>
        </dgm:presLayoutVars>
      </dgm:prSet>
      <dgm:spPr/>
    </dgm:pt>
    <dgm:pt modelId="{16CF527E-C66A-4F18-B66A-001CFCF2B150}" type="pres">
      <dgm:prSet presAssocID="{4A93B6BB-8AD4-4559-83D8-EC1F50E56EAA}" presName="sibTrans" presStyleCnt="0"/>
      <dgm:spPr/>
    </dgm:pt>
    <dgm:pt modelId="{8E4F9868-CE9D-4F67-9A09-3D6F97580371}" type="pres">
      <dgm:prSet presAssocID="{5C3F0558-F82E-4ADE-87B0-49476AFB941C}" presName="compositeNode" presStyleCnt="0">
        <dgm:presLayoutVars>
          <dgm:bulletEnabled val="1"/>
        </dgm:presLayoutVars>
      </dgm:prSet>
      <dgm:spPr/>
    </dgm:pt>
    <dgm:pt modelId="{F0260248-DCD8-47BF-B978-3CBCEB171846}" type="pres">
      <dgm:prSet presAssocID="{5C3F0558-F82E-4ADE-87B0-49476AFB941C}" presName="bgRect" presStyleLbl="bgAccFollowNode1" presStyleIdx="1" presStyleCnt="3"/>
      <dgm:spPr/>
    </dgm:pt>
    <dgm:pt modelId="{E50809AB-CB24-4853-A08F-208C0DB97930}" type="pres">
      <dgm:prSet presAssocID="{F17FFD63-4B7F-4503-BB87-E0BD369FFACC}" presName="sibTransNodeCircle" presStyleLbl="alignNode1" presStyleIdx="2" presStyleCnt="6">
        <dgm:presLayoutVars>
          <dgm:chMax val="0"/>
          <dgm:bulletEnabled/>
        </dgm:presLayoutVars>
      </dgm:prSet>
      <dgm:spPr/>
    </dgm:pt>
    <dgm:pt modelId="{994610B1-126B-4192-827F-37EF750621AB}" type="pres">
      <dgm:prSet presAssocID="{5C3F0558-F82E-4ADE-87B0-49476AFB941C}" presName="bottomLine" presStyleLbl="alignNode1" presStyleIdx="3" presStyleCnt="6">
        <dgm:presLayoutVars/>
      </dgm:prSet>
      <dgm:spPr/>
    </dgm:pt>
    <dgm:pt modelId="{6C3DA607-2D14-4A89-8B06-E551745815D8}" type="pres">
      <dgm:prSet presAssocID="{5C3F0558-F82E-4ADE-87B0-49476AFB941C}" presName="nodeText" presStyleLbl="bgAccFollowNode1" presStyleIdx="1" presStyleCnt="3">
        <dgm:presLayoutVars>
          <dgm:bulletEnabled val="1"/>
        </dgm:presLayoutVars>
      </dgm:prSet>
      <dgm:spPr/>
    </dgm:pt>
    <dgm:pt modelId="{D2A27968-58F4-4AFD-B572-64A55FE8D422}" type="pres">
      <dgm:prSet presAssocID="{F17FFD63-4B7F-4503-BB87-E0BD369FFACC}" presName="sibTrans" presStyleCnt="0"/>
      <dgm:spPr/>
    </dgm:pt>
    <dgm:pt modelId="{B72034F3-D727-4099-B525-629872AA1EEC}" type="pres">
      <dgm:prSet presAssocID="{53DF2ABA-65EE-4B1C-AB56-F1AE6C5D597C}" presName="compositeNode" presStyleCnt="0">
        <dgm:presLayoutVars>
          <dgm:bulletEnabled val="1"/>
        </dgm:presLayoutVars>
      </dgm:prSet>
      <dgm:spPr/>
    </dgm:pt>
    <dgm:pt modelId="{E914D981-DA35-4A81-A7D3-09B3D452DC3A}" type="pres">
      <dgm:prSet presAssocID="{53DF2ABA-65EE-4B1C-AB56-F1AE6C5D597C}" presName="bgRect" presStyleLbl="bgAccFollowNode1" presStyleIdx="2" presStyleCnt="3"/>
      <dgm:spPr/>
    </dgm:pt>
    <dgm:pt modelId="{41084929-5A5C-4D84-AAF8-C8FBB58724B5}" type="pres">
      <dgm:prSet presAssocID="{67EF64B8-9ABF-4413-83ED-2E5F9FF81D3C}" presName="sibTransNodeCircle" presStyleLbl="alignNode1" presStyleIdx="4" presStyleCnt="6">
        <dgm:presLayoutVars>
          <dgm:chMax val="0"/>
          <dgm:bulletEnabled/>
        </dgm:presLayoutVars>
      </dgm:prSet>
      <dgm:spPr/>
    </dgm:pt>
    <dgm:pt modelId="{4DD10FCB-12CF-41DA-83DD-85F28F6D891D}" type="pres">
      <dgm:prSet presAssocID="{53DF2ABA-65EE-4B1C-AB56-F1AE6C5D597C}" presName="bottomLine" presStyleLbl="alignNode1" presStyleIdx="5" presStyleCnt="6">
        <dgm:presLayoutVars/>
      </dgm:prSet>
      <dgm:spPr/>
    </dgm:pt>
    <dgm:pt modelId="{8074CA46-1B5D-46AC-9A63-6C712E81A4E7}" type="pres">
      <dgm:prSet presAssocID="{53DF2ABA-65EE-4B1C-AB56-F1AE6C5D597C}" presName="nodeText" presStyleLbl="bgAccFollowNode1" presStyleIdx="2" presStyleCnt="3">
        <dgm:presLayoutVars>
          <dgm:bulletEnabled val="1"/>
        </dgm:presLayoutVars>
      </dgm:prSet>
      <dgm:spPr/>
    </dgm:pt>
  </dgm:ptLst>
  <dgm:cxnLst>
    <dgm:cxn modelId="{5EED3F19-6608-4EF6-A45C-4B4F8A038099}" type="presOf" srcId="{9F7E6A96-1482-4E89-B9A3-E943BBCF31BE}" destId="{DE28F5BD-235A-4E17-AFF2-0F1BA17B74AB}" srcOrd="0" destOrd="0" presId="urn:microsoft.com/office/officeart/2016/7/layout/BasicLinearProcessNumbered"/>
    <dgm:cxn modelId="{B07B982B-9E84-4188-B663-B339FF7C5594}" type="presOf" srcId="{53DF2ABA-65EE-4B1C-AB56-F1AE6C5D597C}" destId="{8074CA46-1B5D-46AC-9A63-6C712E81A4E7}" srcOrd="1" destOrd="0" presId="urn:microsoft.com/office/officeart/2016/7/layout/BasicLinearProcessNumbered"/>
    <dgm:cxn modelId="{3DA0FF2E-8EDB-4E30-AD28-8DB25235E5C1}" type="presOf" srcId="{67EF64B8-9ABF-4413-83ED-2E5F9FF81D3C}" destId="{41084929-5A5C-4D84-AAF8-C8FBB58724B5}" srcOrd="0" destOrd="0" presId="urn:microsoft.com/office/officeart/2016/7/layout/BasicLinearProcessNumbered"/>
    <dgm:cxn modelId="{89E13C39-8E93-42E0-A987-AEF55FB2EC3C}" srcId="{9F7E6A96-1482-4E89-B9A3-E943BBCF31BE}" destId="{53DF2ABA-65EE-4B1C-AB56-F1AE6C5D597C}" srcOrd="2" destOrd="0" parTransId="{0AB61531-0E23-42E1-8840-D2DEB9617399}" sibTransId="{67EF64B8-9ABF-4413-83ED-2E5F9FF81D3C}"/>
    <dgm:cxn modelId="{A0FA8A44-833E-4F1C-A001-053F153EDC23}" srcId="{9F7E6A96-1482-4E89-B9A3-E943BBCF31BE}" destId="{5C3F0558-F82E-4ADE-87B0-49476AFB941C}" srcOrd="1" destOrd="0" parTransId="{C3868A43-50D8-4145-BB47-BE4F42FCEC9E}" sibTransId="{F17FFD63-4B7F-4503-BB87-E0BD369FFACC}"/>
    <dgm:cxn modelId="{38DD7759-9E49-4E4D-9D6D-EC99630920E9}" type="presOf" srcId="{4A93B6BB-8AD4-4559-83D8-EC1F50E56EAA}" destId="{38D1C1D4-E489-4F06-939A-552BBFCABDB6}" srcOrd="0" destOrd="0" presId="urn:microsoft.com/office/officeart/2016/7/layout/BasicLinearProcessNumbered"/>
    <dgm:cxn modelId="{9A90B759-BCAB-4CCE-86F7-E971C2109C10}" type="presOf" srcId="{5C3F0558-F82E-4ADE-87B0-49476AFB941C}" destId="{F0260248-DCD8-47BF-B978-3CBCEB171846}" srcOrd="0" destOrd="0" presId="urn:microsoft.com/office/officeart/2016/7/layout/BasicLinearProcessNumbered"/>
    <dgm:cxn modelId="{0A7FE98C-100F-4722-87BD-5863F96FE301}" type="presOf" srcId="{F17FFD63-4B7F-4503-BB87-E0BD369FFACC}" destId="{E50809AB-CB24-4853-A08F-208C0DB97930}" srcOrd="0" destOrd="0" presId="urn:microsoft.com/office/officeart/2016/7/layout/BasicLinearProcessNumbered"/>
    <dgm:cxn modelId="{82BAC399-79E0-4A8E-A4C0-80FCE286BA7C}" type="presOf" srcId="{0F9B8C76-D803-4496-A3F4-1B0A337BAEB8}" destId="{B6E67559-5A4D-4A9C-9544-6EE648FD5D91}" srcOrd="1" destOrd="0" presId="urn:microsoft.com/office/officeart/2016/7/layout/BasicLinearProcessNumbered"/>
    <dgm:cxn modelId="{432982AA-7529-4BCA-8B0E-087F68A6D19E}" type="presOf" srcId="{5C3F0558-F82E-4ADE-87B0-49476AFB941C}" destId="{6C3DA607-2D14-4A89-8B06-E551745815D8}" srcOrd="1" destOrd="0" presId="urn:microsoft.com/office/officeart/2016/7/layout/BasicLinearProcessNumbered"/>
    <dgm:cxn modelId="{0D21ACC5-86E0-42F8-9BB1-0C7F5542C5A7}" type="presOf" srcId="{0F9B8C76-D803-4496-A3F4-1B0A337BAEB8}" destId="{D73CC38E-EA6E-489C-86E1-C77C18568533}" srcOrd="0" destOrd="0" presId="urn:microsoft.com/office/officeart/2016/7/layout/BasicLinearProcessNumbered"/>
    <dgm:cxn modelId="{024A58E5-F2B5-48DC-9F6C-1E7D47EE8CB3}" srcId="{9F7E6A96-1482-4E89-B9A3-E943BBCF31BE}" destId="{0F9B8C76-D803-4496-A3F4-1B0A337BAEB8}" srcOrd="0" destOrd="0" parTransId="{45C12894-2027-4A6D-B110-AC9F954DA62F}" sibTransId="{4A93B6BB-8AD4-4559-83D8-EC1F50E56EAA}"/>
    <dgm:cxn modelId="{5C50D8F2-6AFE-4D2B-BA10-2F4ECA9D888B}" type="presOf" srcId="{53DF2ABA-65EE-4B1C-AB56-F1AE6C5D597C}" destId="{E914D981-DA35-4A81-A7D3-09B3D452DC3A}" srcOrd="0" destOrd="0" presId="urn:microsoft.com/office/officeart/2016/7/layout/BasicLinearProcessNumbered"/>
    <dgm:cxn modelId="{7BA1DD21-B84E-4474-9592-46C0DCCFC45E}" type="presParOf" srcId="{DE28F5BD-235A-4E17-AFF2-0F1BA17B74AB}" destId="{91242A45-9465-4F22-AE1D-565BC79D1F0A}" srcOrd="0" destOrd="0" presId="urn:microsoft.com/office/officeart/2016/7/layout/BasicLinearProcessNumbered"/>
    <dgm:cxn modelId="{F37C19E1-3FDA-4140-92EE-565FD0FB5A80}" type="presParOf" srcId="{91242A45-9465-4F22-AE1D-565BC79D1F0A}" destId="{D73CC38E-EA6E-489C-86E1-C77C18568533}" srcOrd="0" destOrd="0" presId="urn:microsoft.com/office/officeart/2016/7/layout/BasicLinearProcessNumbered"/>
    <dgm:cxn modelId="{37652E21-824F-4D57-AFAC-02D8CAD4DED8}" type="presParOf" srcId="{91242A45-9465-4F22-AE1D-565BC79D1F0A}" destId="{38D1C1D4-E489-4F06-939A-552BBFCABDB6}" srcOrd="1" destOrd="0" presId="urn:microsoft.com/office/officeart/2016/7/layout/BasicLinearProcessNumbered"/>
    <dgm:cxn modelId="{6E88BDC0-EE8B-4282-BB3E-2BF53D3CA669}" type="presParOf" srcId="{91242A45-9465-4F22-AE1D-565BC79D1F0A}" destId="{3414F538-F300-462A-BE9B-C0BD230500A0}" srcOrd="2" destOrd="0" presId="urn:microsoft.com/office/officeart/2016/7/layout/BasicLinearProcessNumbered"/>
    <dgm:cxn modelId="{A972B77D-DBB0-4CE9-BD17-8CAD923B4AB3}" type="presParOf" srcId="{91242A45-9465-4F22-AE1D-565BC79D1F0A}" destId="{B6E67559-5A4D-4A9C-9544-6EE648FD5D91}" srcOrd="3" destOrd="0" presId="urn:microsoft.com/office/officeart/2016/7/layout/BasicLinearProcessNumbered"/>
    <dgm:cxn modelId="{040103DA-D680-4795-8366-944BB3A7D0BF}" type="presParOf" srcId="{DE28F5BD-235A-4E17-AFF2-0F1BA17B74AB}" destId="{16CF527E-C66A-4F18-B66A-001CFCF2B150}" srcOrd="1" destOrd="0" presId="urn:microsoft.com/office/officeart/2016/7/layout/BasicLinearProcessNumbered"/>
    <dgm:cxn modelId="{F27383B7-397C-46D0-992C-1C18BFB9FAB5}" type="presParOf" srcId="{DE28F5BD-235A-4E17-AFF2-0F1BA17B74AB}" destId="{8E4F9868-CE9D-4F67-9A09-3D6F97580371}" srcOrd="2" destOrd="0" presId="urn:microsoft.com/office/officeart/2016/7/layout/BasicLinearProcessNumbered"/>
    <dgm:cxn modelId="{A415742F-F9AA-4D75-9578-8F3F182C39FC}" type="presParOf" srcId="{8E4F9868-CE9D-4F67-9A09-3D6F97580371}" destId="{F0260248-DCD8-47BF-B978-3CBCEB171846}" srcOrd="0" destOrd="0" presId="urn:microsoft.com/office/officeart/2016/7/layout/BasicLinearProcessNumbered"/>
    <dgm:cxn modelId="{322B1C6F-0901-4E97-9F5E-BCB8E9AF1CB7}" type="presParOf" srcId="{8E4F9868-CE9D-4F67-9A09-3D6F97580371}" destId="{E50809AB-CB24-4853-A08F-208C0DB97930}" srcOrd="1" destOrd="0" presId="urn:microsoft.com/office/officeart/2016/7/layout/BasicLinearProcessNumbered"/>
    <dgm:cxn modelId="{AB86AAB1-CC43-4F5D-9215-7C949509F6AB}" type="presParOf" srcId="{8E4F9868-CE9D-4F67-9A09-3D6F97580371}" destId="{994610B1-126B-4192-827F-37EF750621AB}" srcOrd="2" destOrd="0" presId="urn:microsoft.com/office/officeart/2016/7/layout/BasicLinearProcessNumbered"/>
    <dgm:cxn modelId="{2E4E8361-317A-42F1-8639-64BF8E7451B7}" type="presParOf" srcId="{8E4F9868-CE9D-4F67-9A09-3D6F97580371}" destId="{6C3DA607-2D14-4A89-8B06-E551745815D8}" srcOrd="3" destOrd="0" presId="urn:microsoft.com/office/officeart/2016/7/layout/BasicLinearProcessNumbered"/>
    <dgm:cxn modelId="{A5211F57-0D6C-4411-A946-9F6AB6B620E8}" type="presParOf" srcId="{DE28F5BD-235A-4E17-AFF2-0F1BA17B74AB}" destId="{D2A27968-58F4-4AFD-B572-64A55FE8D422}" srcOrd="3" destOrd="0" presId="urn:microsoft.com/office/officeart/2016/7/layout/BasicLinearProcessNumbered"/>
    <dgm:cxn modelId="{C036ACD3-173C-45CA-AA28-2EEC75BFB207}" type="presParOf" srcId="{DE28F5BD-235A-4E17-AFF2-0F1BA17B74AB}" destId="{B72034F3-D727-4099-B525-629872AA1EEC}" srcOrd="4" destOrd="0" presId="urn:microsoft.com/office/officeart/2016/7/layout/BasicLinearProcessNumbered"/>
    <dgm:cxn modelId="{A8C808E2-2871-4E34-BB0F-6E5D9FBB84F8}" type="presParOf" srcId="{B72034F3-D727-4099-B525-629872AA1EEC}" destId="{E914D981-DA35-4A81-A7D3-09B3D452DC3A}" srcOrd="0" destOrd="0" presId="urn:microsoft.com/office/officeart/2016/7/layout/BasicLinearProcessNumbered"/>
    <dgm:cxn modelId="{F76902C3-15A7-4D1D-B695-A96746F8F12E}" type="presParOf" srcId="{B72034F3-D727-4099-B525-629872AA1EEC}" destId="{41084929-5A5C-4D84-AAF8-C8FBB58724B5}" srcOrd="1" destOrd="0" presId="urn:microsoft.com/office/officeart/2016/7/layout/BasicLinearProcessNumbered"/>
    <dgm:cxn modelId="{16F343F4-109B-4B83-813E-A4F7F5B768C6}" type="presParOf" srcId="{B72034F3-D727-4099-B525-629872AA1EEC}" destId="{4DD10FCB-12CF-41DA-83DD-85F28F6D891D}" srcOrd="2" destOrd="0" presId="urn:microsoft.com/office/officeart/2016/7/layout/BasicLinearProcessNumbered"/>
    <dgm:cxn modelId="{14BA03C6-AD68-444C-906F-28111046753E}" type="presParOf" srcId="{B72034F3-D727-4099-B525-629872AA1EEC}" destId="{8074CA46-1B5D-46AC-9A63-6C712E81A4E7}"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28CAD2B-11D1-45BC-A6A0-50E48A31EA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D0D50D1-047E-4D47-B185-6ED8FD4632E6}">
      <dgm:prSet/>
      <dgm:spPr/>
      <dgm:t>
        <a:bodyPr/>
        <a:lstStyle/>
        <a:p>
          <a:pPr>
            <a:lnSpc>
              <a:spcPct val="100000"/>
            </a:lnSpc>
          </a:pPr>
          <a:r>
            <a:rPr lang="en-US"/>
            <a:t>In obstructive disease, the ratio is generally low, because FEV</a:t>
          </a:r>
          <a:r>
            <a:rPr lang="en-US" baseline="-25000"/>
            <a:t>1</a:t>
          </a:r>
          <a:r>
            <a:rPr lang="en-US"/>
            <a:t> is markedly decreased.</a:t>
          </a:r>
        </a:p>
      </dgm:t>
    </dgm:pt>
    <dgm:pt modelId="{36DCE5AE-1129-4729-BCAC-2D272E9B2C1A}" type="parTrans" cxnId="{CF1A9B72-C3C3-4BF6-A320-BFE703226FC8}">
      <dgm:prSet/>
      <dgm:spPr/>
      <dgm:t>
        <a:bodyPr/>
        <a:lstStyle/>
        <a:p>
          <a:endParaRPr lang="en-US"/>
        </a:p>
      </dgm:t>
    </dgm:pt>
    <dgm:pt modelId="{9C08B6CB-17E7-4A06-ADE5-12FFEF4FE0DF}" type="sibTrans" cxnId="{CF1A9B72-C3C3-4BF6-A320-BFE703226FC8}">
      <dgm:prSet/>
      <dgm:spPr/>
      <dgm:t>
        <a:bodyPr/>
        <a:lstStyle/>
        <a:p>
          <a:endParaRPr lang="en-US"/>
        </a:p>
      </dgm:t>
    </dgm:pt>
    <dgm:pt modelId="{5F3E428F-CD39-4ED5-B4C5-DE19EE9FB8D9}">
      <dgm:prSet/>
      <dgm:spPr/>
      <dgm:t>
        <a:bodyPr/>
        <a:lstStyle/>
        <a:p>
          <a:pPr>
            <a:lnSpc>
              <a:spcPct val="100000"/>
            </a:lnSpc>
          </a:pPr>
          <a:r>
            <a:rPr lang="en-US"/>
            <a:t>A ratio of Residual Volume to total lung capacity (RV/TLC) of greater than 50 % is generally indicative of a high risk patient for pulmonary resection</a:t>
          </a:r>
        </a:p>
      </dgm:t>
    </dgm:pt>
    <dgm:pt modelId="{6229C9D3-B108-4863-A144-722C2685CD0F}" type="parTrans" cxnId="{957317BD-E9AD-4D12-8982-6144ECF05FBA}">
      <dgm:prSet/>
      <dgm:spPr/>
      <dgm:t>
        <a:bodyPr/>
        <a:lstStyle/>
        <a:p>
          <a:endParaRPr lang="en-US"/>
        </a:p>
      </dgm:t>
    </dgm:pt>
    <dgm:pt modelId="{18FE9029-672C-4EED-941B-49E6F643A3EF}" type="sibTrans" cxnId="{957317BD-E9AD-4D12-8982-6144ECF05FBA}">
      <dgm:prSet/>
      <dgm:spPr/>
      <dgm:t>
        <a:bodyPr/>
        <a:lstStyle/>
        <a:p>
          <a:endParaRPr lang="en-US"/>
        </a:p>
      </dgm:t>
    </dgm:pt>
    <dgm:pt modelId="{05FC3131-D1D5-4F6A-B8EC-7B4F84198EAE}" type="pres">
      <dgm:prSet presAssocID="{028CAD2B-11D1-45BC-A6A0-50E48A31EA6B}" presName="root" presStyleCnt="0">
        <dgm:presLayoutVars>
          <dgm:dir/>
          <dgm:resizeHandles val="exact"/>
        </dgm:presLayoutVars>
      </dgm:prSet>
      <dgm:spPr/>
    </dgm:pt>
    <dgm:pt modelId="{F6D10CFD-DE59-4EC2-BBA3-ED5FA8AE1605}" type="pres">
      <dgm:prSet presAssocID="{DD0D50D1-047E-4D47-B185-6ED8FD4632E6}" presName="compNode" presStyleCnt="0"/>
      <dgm:spPr/>
    </dgm:pt>
    <dgm:pt modelId="{80C7AD7F-981E-49DE-B116-E67A413DC091}" type="pres">
      <dgm:prSet presAssocID="{DD0D50D1-047E-4D47-B185-6ED8FD4632E6}" presName="bgRect" presStyleLbl="bgShp" presStyleIdx="0" presStyleCnt="2"/>
      <dgm:spPr/>
    </dgm:pt>
    <dgm:pt modelId="{5AF7054C-4E5E-4813-8C52-98350FC773E2}" type="pres">
      <dgm:prSet presAssocID="{DD0D50D1-047E-4D47-B185-6ED8FD4632E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Kidney"/>
        </a:ext>
      </dgm:extLst>
    </dgm:pt>
    <dgm:pt modelId="{8DDE8349-C080-4515-BD75-99870C27A91A}" type="pres">
      <dgm:prSet presAssocID="{DD0D50D1-047E-4D47-B185-6ED8FD4632E6}" presName="spaceRect" presStyleCnt="0"/>
      <dgm:spPr/>
    </dgm:pt>
    <dgm:pt modelId="{4371F384-D0F2-4859-8677-3D6694CF14D3}" type="pres">
      <dgm:prSet presAssocID="{DD0D50D1-047E-4D47-B185-6ED8FD4632E6}" presName="parTx" presStyleLbl="revTx" presStyleIdx="0" presStyleCnt="2">
        <dgm:presLayoutVars>
          <dgm:chMax val="0"/>
          <dgm:chPref val="0"/>
        </dgm:presLayoutVars>
      </dgm:prSet>
      <dgm:spPr/>
    </dgm:pt>
    <dgm:pt modelId="{749105E9-E6BA-45C4-B388-3EA474A7EFE6}" type="pres">
      <dgm:prSet presAssocID="{9C08B6CB-17E7-4A06-ADE5-12FFEF4FE0DF}" presName="sibTrans" presStyleCnt="0"/>
      <dgm:spPr/>
    </dgm:pt>
    <dgm:pt modelId="{34858C86-E4A5-448B-9362-F2D971D65E55}" type="pres">
      <dgm:prSet presAssocID="{5F3E428F-CD39-4ED5-B4C5-DE19EE9FB8D9}" presName="compNode" presStyleCnt="0"/>
      <dgm:spPr/>
    </dgm:pt>
    <dgm:pt modelId="{95983E66-6302-4315-9347-681284773E59}" type="pres">
      <dgm:prSet presAssocID="{5F3E428F-CD39-4ED5-B4C5-DE19EE9FB8D9}" presName="bgRect" presStyleLbl="bgShp" presStyleIdx="1" presStyleCnt="2"/>
      <dgm:spPr/>
    </dgm:pt>
    <dgm:pt modelId="{73B32524-E9FD-443C-A267-C5A8D755B90B}" type="pres">
      <dgm:prSet presAssocID="{5F3E428F-CD39-4ED5-B4C5-DE19EE9FB8D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ungs"/>
        </a:ext>
      </dgm:extLst>
    </dgm:pt>
    <dgm:pt modelId="{4B1C2E0D-3F80-47E3-A007-8A049B96B100}" type="pres">
      <dgm:prSet presAssocID="{5F3E428F-CD39-4ED5-B4C5-DE19EE9FB8D9}" presName="spaceRect" presStyleCnt="0"/>
      <dgm:spPr/>
    </dgm:pt>
    <dgm:pt modelId="{BD1A40AE-0E6B-4F73-AEBA-437A194423A3}" type="pres">
      <dgm:prSet presAssocID="{5F3E428F-CD39-4ED5-B4C5-DE19EE9FB8D9}" presName="parTx" presStyleLbl="revTx" presStyleIdx="1" presStyleCnt="2">
        <dgm:presLayoutVars>
          <dgm:chMax val="0"/>
          <dgm:chPref val="0"/>
        </dgm:presLayoutVars>
      </dgm:prSet>
      <dgm:spPr/>
    </dgm:pt>
  </dgm:ptLst>
  <dgm:cxnLst>
    <dgm:cxn modelId="{CF1A9B72-C3C3-4BF6-A320-BFE703226FC8}" srcId="{028CAD2B-11D1-45BC-A6A0-50E48A31EA6B}" destId="{DD0D50D1-047E-4D47-B185-6ED8FD4632E6}" srcOrd="0" destOrd="0" parTransId="{36DCE5AE-1129-4729-BCAC-2D272E9B2C1A}" sibTransId="{9C08B6CB-17E7-4A06-ADE5-12FFEF4FE0DF}"/>
    <dgm:cxn modelId="{ADDC029E-F3EA-433F-A477-EEFEED912C32}" type="presOf" srcId="{5F3E428F-CD39-4ED5-B4C5-DE19EE9FB8D9}" destId="{BD1A40AE-0E6B-4F73-AEBA-437A194423A3}" srcOrd="0" destOrd="0" presId="urn:microsoft.com/office/officeart/2018/2/layout/IconVerticalSolidList"/>
    <dgm:cxn modelId="{957317BD-E9AD-4D12-8982-6144ECF05FBA}" srcId="{028CAD2B-11D1-45BC-A6A0-50E48A31EA6B}" destId="{5F3E428F-CD39-4ED5-B4C5-DE19EE9FB8D9}" srcOrd="1" destOrd="0" parTransId="{6229C9D3-B108-4863-A144-722C2685CD0F}" sibTransId="{18FE9029-672C-4EED-941B-49E6F643A3EF}"/>
    <dgm:cxn modelId="{25FEEACE-6A89-4A58-92D7-360FFC1905C3}" type="presOf" srcId="{028CAD2B-11D1-45BC-A6A0-50E48A31EA6B}" destId="{05FC3131-D1D5-4F6A-B8EC-7B4F84198EAE}" srcOrd="0" destOrd="0" presId="urn:microsoft.com/office/officeart/2018/2/layout/IconVerticalSolidList"/>
    <dgm:cxn modelId="{D8D803EC-3A9C-4C5A-8DD0-DAA540A16100}" type="presOf" srcId="{DD0D50D1-047E-4D47-B185-6ED8FD4632E6}" destId="{4371F384-D0F2-4859-8677-3D6694CF14D3}" srcOrd="0" destOrd="0" presId="urn:microsoft.com/office/officeart/2018/2/layout/IconVerticalSolidList"/>
    <dgm:cxn modelId="{C3502F39-4068-4C4E-B8A8-E38337512234}" type="presParOf" srcId="{05FC3131-D1D5-4F6A-B8EC-7B4F84198EAE}" destId="{F6D10CFD-DE59-4EC2-BBA3-ED5FA8AE1605}" srcOrd="0" destOrd="0" presId="urn:microsoft.com/office/officeart/2018/2/layout/IconVerticalSolidList"/>
    <dgm:cxn modelId="{9BFF68A8-5728-4FCF-B27C-7CC104B68A41}" type="presParOf" srcId="{F6D10CFD-DE59-4EC2-BBA3-ED5FA8AE1605}" destId="{80C7AD7F-981E-49DE-B116-E67A413DC091}" srcOrd="0" destOrd="0" presId="urn:microsoft.com/office/officeart/2018/2/layout/IconVerticalSolidList"/>
    <dgm:cxn modelId="{4894DA7F-2D2D-4836-9AC4-009B75D07B6A}" type="presParOf" srcId="{F6D10CFD-DE59-4EC2-BBA3-ED5FA8AE1605}" destId="{5AF7054C-4E5E-4813-8C52-98350FC773E2}" srcOrd="1" destOrd="0" presId="urn:microsoft.com/office/officeart/2018/2/layout/IconVerticalSolidList"/>
    <dgm:cxn modelId="{5A5FD536-8DAD-41F5-9D53-B49F218052BB}" type="presParOf" srcId="{F6D10CFD-DE59-4EC2-BBA3-ED5FA8AE1605}" destId="{8DDE8349-C080-4515-BD75-99870C27A91A}" srcOrd="2" destOrd="0" presId="urn:microsoft.com/office/officeart/2018/2/layout/IconVerticalSolidList"/>
    <dgm:cxn modelId="{936C5EB9-3CAC-426B-909F-D6405E639095}" type="presParOf" srcId="{F6D10CFD-DE59-4EC2-BBA3-ED5FA8AE1605}" destId="{4371F384-D0F2-4859-8677-3D6694CF14D3}" srcOrd="3" destOrd="0" presId="urn:microsoft.com/office/officeart/2018/2/layout/IconVerticalSolidList"/>
    <dgm:cxn modelId="{AAE6E735-A92B-402F-9479-3D05D020ECB6}" type="presParOf" srcId="{05FC3131-D1D5-4F6A-B8EC-7B4F84198EAE}" destId="{749105E9-E6BA-45C4-B388-3EA474A7EFE6}" srcOrd="1" destOrd="0" presId="urn:microsoft.com/office/officeart/2018/2/layout/IconVerticalSolidList"/>
    <dgm:cxn modelId="{D7AC8345-70E2-46A9-8F5A-4F89C7E46827}" type="presParOf" srcId="{05FC3131-D1D5-4F6A-B8EC-7B4F84198EAE}" destId="{34858C86-E4A5-448B-9362-F2D971D65E55}" srcOrd="2" destOrd="0" presId="urn:microsoft.com/office/officeart/2018/2/layout/IconVerticalSolidList"/>
    <dgm:cxn modelId="{7C7EF101-DA2B-4F89-B65D-F94F5DD3580E}" type="presParOf" srcId="{34858C86-E4A5-448B-9362-F2D971D65E55}" destId="{95983E66-6302-4315-9347-681284773E59}" srcOrd="0" destOrd="0" presId="urn:microsoft.com/office/officeart/2018/2/layout/IconVerticalSolidList"/>
    <dgm:cxn modelId="{41C7B926-045C-40DE-AB69-A2832CD6807C}" type="presParOf" srcId="{34858C86-E4A5-448B-9362-F2D971D65E55}" destId="{73B32524-E9FD-443C-A267-C5A8D755B90B}" srcOrd="1" destOrd="0" presId="urn:microsoft.com/office/officeart/2018/2/layout/IconVerticalSolidList"/>
    <dgm:cxn modelId="{85723B90-1F63-4BBB-929B-AEB0EA6E23F6}" type="presParOf" srcId="{34858C86-E4A5-448B-9362-F2D971D65E55}" destId="{4B1C2E0D-3F80-47E3-A007-8A049B96B100}" srcOrd="2" destOrd="0" presId="urn:microsoft.com/office/officeart/2018/2/layout/IconVerticalSolidList"/>
    <dgm:cxn modelId="{A7BF5189-6941-4AE6-AC8F-00F00E61F111}" type="presParOf" srcId="{34858C86-E4A5-448B-9362-F2D971D65E55}" destId="{BD1A40AE-0E6B-4F73-AEBA-437A194423A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99DDE45-1278-45B6-AECC-FF5BB99D3AAC}" type="doc">
      <dgm:prSet loTypeId="urn:microsoft.com/office/officeart/2016/7/layout/RepeatingBendingProcessNew" loCatId="process" qsTypeId="urn:microsoft.com/office/officeart/2005/8/quickstyle/simple2" qsCatId="simple" csTypeId="urn:microsoft.com/office/officeart/2005/8/colors/colorful1" csCatId="colorful"/>
      <dgm:spPr/>
      <dgm:t>
        <a:bodyPr/>
        <a:lstStyle/>
        <a:p>
          <a:endParaRPr lang="en-US"/>
        </a:p>
      </dgm:t>
    </dgm:pt>
    <dgm:pt modelId="{0C165E04-26D9-4D99-8A60-BDB7AC1032F6}">
      <dgm:prSet/>
      <dgm:spPr/>
      <dgm:t>
        <a:bodyPr/>
        <a:lstStyle/>
        <a:p>
          <a:r>
            <a:rPr lang="en-US"/>
            <a:t>Reduced in obstructive disorders.</a:t>
          </a:r>
        </a:p>
      </dgm:t>
    </dgm:pt>
    <dgm:pt modelId="{85AECA0E-FCE7-4AD2-8272-D39F3B873130}" type="parTrans" cxnId="{E658774A-0215-40D7-AF9D-98CEFE4CCDD0}">
      <dgm:prSet/>
      <dgm:spPr/>
      <dgm:t>
        <a:bodyPr/>
        <a:lstStyle/>
        <a:p>
          <a:endParaRPr lang="en-US"/>
        </a:p>
      </dgm:t>
    </dgm:pt>
    <dgm:pt modelId="{8A762155-7757-4133-BDAA-64F46C696F6F}" type="sibTrans" cxnId="{E658774A-0215-40D7-AF9D-98CEFE4CCDD0}">
      <dgm:prSet/>
      <dgm:spPr/>
      <dgm:t>
        <a:bodyPr/>
        <a:lstStyle/>
        <a:p>
          <a:endParaRPr lang="en-US"/>
        </a:p>
      </dgm:t>
    </dgm:pt>
    <dgm:pt modelId="{5C1C6166-F5ED-4FEC-B57B-1FC6FE7C56DD}">
      <dgm:prSet/>
      <dgm:spPr/>
      <dgm:t>
        <a:bodyPr/>
        <a:lstStyle/>
        <a:p>
          <a:r>
            <a:rPr lang="en-US" b="1"/>
            <a:t>Interpretation of % predicted:</a:t>
          </a:r>
          <a:endParaRPr lang="en-US"/>
        </a:p>
      </dgm:t>
    </dgm:pt>
    <dgm:pt modelId="{F29477D1-EEEB-49E4-A302-D075A6B36FD9}" type="parTrans" cxnId="{9FDE7A48-D7EE-4EA8-BEF1-8FE922D17B80}">
      <dgm:prSet/>
      <dgm:spPr/>
      <dgm:t>
        <a:bodyPr/>
        <a:lstStyle/>
        <a:p>
          <a:endParaRPr lang="en-US"/>
        </a:p>
      </dgm:t>
    </dgm:pt>
    <dgm:pt modelId="{66585B1A-8EFE-472F-B8A2-6ACA051A8F06}" type="sibTrans" cxnId="{9FDE7A48-D7EE-4EA8-BEF1-8FE922D17B80}">
      <dgm:prSet/>
      <dgm:spPr/>
      <dgm:t>
        <a:bodyPr/>
        <a:lstStyle/>
        <a:p>
          <a:endParaRPr lang="en-US"/>
        </a:p>
      </dgm:t>
    </dgm:pt>
    <dgm:pt modelId="{DA731840-6648-456D-B4E4-CF8BF2F60C49}">
      <dgm:prSet/>
      <dgm:spPr/>
      <dgm:t>
        <a:bodyPr/>
        <a:lstStyle/>
        <a:p>
          <a:r>
            <a:rPr lang="en-US"/>
            <a:t>-  &gt;75% Normal</a:t>
          </a:r>
        </a:p>
      </dgm:t>
    </dgm:pt>
    <dgm:pt modelId="{5FC883DE-3C73-4138-864E-0F1A55DB93F7}" type="parTrans" cxnId="{075A8C1D-4A10-49E4-973E-A6D14C96736A}">
      <dgm:prSet/>
      <dgm:spPr/>
      <dgm:t>
        <a:bodyPr/>
        <a:lstStyle/>
        <a:p>
          <a:endParaRPr lang="en-US"/>
        </a:p>
      </dgm:t>
    </dgm:pt>
    <dgm:pt modelId="{A8BE5C6C-3A58-4843-9DC3-27AF3254394E}" type="sibTrans" cxnId="{075A8C1D-4A10-49E4-973E-A6D14C96736A}">
      <dgm:prSet/>
      <dgm:spPr/>
      <dgm:t>
        <a:bodyPr/>
        <a:lstStyle/>
        <a:p>
          <a:endParaRPr lang="en-US"/>
        </a:p>
      </dgm:t>
    </dgm:pt>
    <dgm:pt modelId="{08F1B731-EB92-4BD0-B45E-A5D9F28AE9CA}">
      <dgm:prSet/>
      <dgm:spPr/>
      <dgm:t>
        <a:bodyPr/>
        <a:lstStyle/>
        <a:p>
          <a:r>
            <a:rPr lang="en-US"/>
            <a:t>-  60%‐75% Mild obstruction</a:t>
          </a:r>
        </a:p>
      </dgm:t>
    </dgm:pt>
    <dgm:pt modelId="{22EA7A95-0CE6-48FE-9B4D-66A664982EBA}" type="parTrans" cxnId="{6634B7B1-6A00-4162-BD86-23BC58958521}">
      <dgm:prSet/>
      <dgm:spPr/>
      <dgm:t>
        <a:bodyPr/>
        <a:lstStyle/>
        <a:p>
          <a:endParaRPr lang="en-US"/>
        </a:p>
      </dgm:t>
    </dgm:pt>
    <dgm:pt modelId="{341BA488-1807-4F03-A2C0-F2E7A2E78113}" type="sibTrans" cxnId="{6634B7B1-6A00-4162-BD86-23BC58958521}">
      <dgm:prSet/>
      <dgm:spPr/>
      <dgm:t>
        <a:bodyPr/>
        <a:lstStyle/>
        <a:p>
          <a:endParaRPr lang="en-US"/>
        </a:p>
      </dgm:t>
    </dgm:pt>
    <dgm:pt modelId="{7299550E-2668-41D6-855F-5A9C7A5E5B02}">
      <dgm:prSet/>
      <dgm:spPr/>
      <dgm:t>
        <a:bodyPr/>
        <a:lstStyle/>
        <a:p>
          <a:r>
            <a:rPr lang="en-US"/>
            <a:t>-  50‐59% Moderate obstruction</a:t>
          </a:r>
        </a:p>
      </dgm:t>
    </dgm:pt>
    <dgm:pt modelId="{E5BB0CBC-3799-42F4-8FCD-431953D807FD}" type="parTrans" cxnId="{030A8FA6-A828-4411-9041-A4450DADB6EC}">
      <dgm:prSet/>
      <dgm:spPr/>
      <dgm:t>
        <a:bodyPr/>
        <a:lstStyle/>
        <a:p>
          <a:endParaRPr lang="en-US"/>
        </a:p>
      </dgm:t>
    </dgm:pt>
    <dgm:pt modelId="{074C3843-5D94-4A29-982B-E7314DC5E4EA}" type="sibTrans" cxnId="{030A8FA6-A828-4411-9041-A4450DADB6EC}">
      <dgm:prSet/>
      <dgm:spPr/>
      <dgm:t>
        <a:bodyPr/>
        <a:lstStyle/>
        <a:p>
          <a:endParaRPr lang="en-US"/>
        </a:p>
      </dgm:t>
    </dgm:pt>
    <dgm:pt modelId="{3DA278B8-745F-4B75-8A52-E3DB8593A1E4}">
      <dgm:prSet/>
      <dgm:spPr/>
      <dgm:t>
        <a:bodyPr/>
        <a:lstStyle/>
        <a:p>
          <a:r>
            <a:rPr lang="en-US"/>
            <a:t>- &lt;49% Severe obstruction</a:t>
          </a:r>
        </a:p>
      </dgm:t>
    </dgm:pt>
    <dgm:pt modelId="{8894F8B9-FB55-4B77-BBA7-4000FA6402E5}" type="parTrans" cxnId="{F68757D1-880E-4BAA-8F7A-4533B3AC804F}">
      <dgm:prSet/>
      <dgm:spPr/>
      <dgm:t>
        <a:bodyPr/>
        <a:lstStyle/>
        <a:p>
          <a:endParaRPr lang="en-US"/>
        </a:p>
      </dgm:t>
    </dgm:pt>
    <dgm:pt modelId="{E19BA414-3CE1-40E6-8E21-4538916F52ED}" type="sibTrans" cxnId="{F68757D1-880E-4BAA-8F7A-4533B3AC804F}">
      <dgm:prSet/>
      <dgm:spPr/>
      <dgm:t>
        <a:bodyPr/>
        <a:lstStyle/>
        <a:p>
          <a:endParaRPr lang="en-US"/>
        </a:p>
      </dgm:t>
    </dgm:pt>
    <dgm:pt modelId="{A9AFA4DB-2073-43FA-9651-AC2A13A67DBE}">
      <dgm:prSet/>
      <dgm:spPr/>
      <dgm:t>
        <a:bodyPr/>
        <a:lstStyle/>
        <a:p>
          <a:r>
            <a:rPr lang="en-US"/>
            <a:t>It is normal in restrictive disease</a:t>
          </a:r>
        </a:p>
      </dgm:t>
    </dgm:pt>
    <dgm:pt modelId="{A0EDE787-86F4-4611-93FF-4FD4E17CB64C}" type="parTrans" cxnId="{2346B7BD-B7FD-49B7-8E4F-C2295E07C341}">
      <dgm:prSet/>
      <dgm:spPr/>
      <dgm:t>
        <a:bodyPr/>
        <a:lstStyle/>
        <a:p>
          <a:endParaRPr lang="en-US"/>
        </a:p>
      </dgm:t>
    </dgm:pt>
    <dgm:pt modelId="{E6653EF3-1CD2-4DF0-B322-E28AA7C28C60}" type="sibTrans" cxnId="{2346B7BD-B7FD-49B7-8E4F-C2295E07C341}">
      <dgm:prSet/>
      <dgm:spPr/>
      <dgm:t>
        <a:bodyPr/>
        <a:lstStyle/>
        <a:p>
          <a:endParaRPr lang="en-US"/>
        </a:p>
      </dgm:t>
    </dgm:pt>
    <dgm:pt modelId="{BE498054-8681-4B89-BE43-264158BA9906}" type="pres">
      <dgm:prSet presAssocID="{399DDE45-1278-45B6-AECC-FF5BB99D3AAC}" presName="Name0" presStyleCnt="0">
        <dgm:presLayoutVars>
          <dgm:dir/>
          <dgm:resizeHandles val="exact"/>
        </dgm:presLayoutVars>
      </dgm:prSet>
      <dgm:spPr/>
    </dgm:pt>
    <dgm:pt modelId="{63374451-849F-4010-B245-BC8CB12D1FE1}" type="pres">
      <dgm:prSet presAssocID="{0C165E04-26D9-4D99-8A60-BDB7AC1032F6}" presName="node" presStyleLbl="node1" presStyleIdx="0" presStyleCnt="6">
        <dgm:presLayoutVars>
          <dgm:bulletEnabled val="1"/>
        </dgm:presLayoutVars>
      </dgm:prSet>
      <dgm:spPr/>
    </dgm:pt>
    <dgm:pt modelId="{4D6D3F36-F2E9-4F33-85DE-7AF9DA989496}" type="pres">
      <dgm:prSet presAssocID="{8A762155-7757-4133-BDAA-64F46C696F6F}" presName="sibTrans" presStyleLbl="sibTrans1D1" presStyleIdx="0" presStyleCnt="5"/>
      <dgm:spPr/>
    </dgm:pt>
    <dgm:pt modelId="{35B1AAF9-D3DE-4585-B32F-8989C0CBB8FB}" type="pres">
      <dgm:prSet presAssocID="{8A762155-7757-4133-BDAA-64F46C696F6F}" presName="connectorText" presStyleLbl="sibTrans1D1" presStyleIdx="0" presStyleCnt="5"/>
      <dgm:spPr/>
    </dgm:pt>
    <dgm:pt modelId="{25B90D89-F5A0-4889-B394-F1C995DEB203}" type="pres">
      <dgm:prSet presAssocID="{5C1C6166-F5ED-4FEC-B57B-1FC6FE7C56DD}" presName="node" presStyleLbl="node1" presStyleIdx="1" presStyleCnt="6">
        <dgm:presLayoutVars>
          <dgm:bulletEnabled val="1"/>
        </dgm:presLayoutVars>
      </dgm:prSet>
      <dgm:spPr/>
    </dgm:pt>
    <dgm:pt modelId="{5908516A-F93C-421F-9EC9-E0E8530C9153}" type="pres">
      <dgm:prSet presAssocID="{66585B1A-8EFE-472F-B8A2-6ACA051A8F06}" presName="sibTrans" presStyleLbl="sibTrans1D1" presStyleIdx="1" presStyleCnt="5"/>
      <dgm:spPr/>
    </dgm:pt>
    <dgm:pt modelId="{0C26E464-5F38-4C76-AA8D-5F598E169A9D}" type="pres">
      <dgm:prSet presAssocID="{66585B1A-8EFE-472F-B8A2-6ACA051A8F06}" presName="connectorText" presStyleLbl="sibTrans1D1" presStyleIdx="1" presStyleCnt="5"/>
      <dgm:spPr/>
    </dgm:pt>
    <dgm:pt modelId="{1AB4108E-80A5-4C29-B026-45BFDB15C99B}" type="pres">
      <dgm:prSet presAssocID="{DA731840-6648-456D-B4E4-CF8BF2F60C49}" presName="node" presStyleLbl="node1" presStyleIdx="2" presStyleCnt="6">
        <dgm:presLayoutVars>
          <dgm:bulletEnabled val="1"/>
        </dgm:presLayoutVars>
      </dgm:prSet>
      <dgm:spPr/>
    </dgm:pt>
    <dgm:pt modelId="{79BF6A79-845B-46E9-AE01-80156146A041}" type="pres">
      <dgm:prSet presAssocID="{A8BE5C6C-3A58-4843-9DC3-27AF3254394E}" presName="sibTrans" presStyleLbl="sibTrans1D1" presStyleIdx="2" presStyleCnt="5"/>
      <dgm:spPr/>
    </dgm:pt>
    <dgm:pt modelId="{5BF39ED7-50B2-4B00-94DA-3F66E3BC5AC5}" type="pres">
      <dgm:prSet presAssocID="{A8BE5C6C-3A58-4843-9DC3-27AF3254394E}" presName="connectorText" presStyleLbl="sibTrans1D1" presStyleIdx="2" presStyleCnt="5"/>
      <dgm:spPr/>
    </dgm:pt>
    <dgm:pt modelId="{40952BD6-2901-4165-AF12-4A751390E413}" type="pres">
      <dgm:prSet presAssocID="{08F1B731-EB92-4BD0-B45E-A5D9F28AE9CA}" presName="node" presStyleLbl="node1" presStyleIdx="3" presStyleCnt="6">
        <dgm:presLayoutVars>
          <dgm:bulletEnabled val="1"/>
        </dgm:presLayoutVars>
      </dgm:prSet>
      <dgm:spPr/>
    </dgm:pt>
    <dgm:pt modelId="{2DA93CCE-96D2-4CC5-A749-752829412592}" type="pres">
      <dgm:prSet presAssocID="{341BA488-1807-4F03-A2C0-F2E7A2E78113}" presName="sibTrans" presStyleLbl="sibTrans1D1" presStyleIdx="3" presStyleCnt="5"/>
      <dgm:spPr/>
    </dgm:pt>
    <dgm:pt modelId="{401A37D1-E01D-497F-A134-99CBCCC53364}" type="pres">
      <dgm:prSet presAssocID="{341BA488-1807-4F03-A2C0-F2E7A2E78113}" presName="connectorText" presStyleLbl="sibTrans1D1" presStyleIdx="3" presStyleCnt="5"/>
      <dgm:spPr/>
    </dgm:pt>
    <dgm:pt modelId="{81BB6092-E31B-4CC9-9601-B9E44962782F}" type="pres">
      <dgm:prSet presAssocID="{7299550E-2668-41D6-855F-5A9C7A5E5B02}" presName="node" presStyleLbl="node1" presStyleIdx="4" presStyleCnt="6">
        <dgm:presLayoutVars>
          <dgm:bulletEnabled val="1"/>
        </dgm:presLayoutVars>
      </dgm:prSet>
      <dgm:spPr/>
    </dgm:pt>
    <dgm:pt modelId="{F8D4DB14-3210-442E-9A55-B69515D34C63}" type="pres">
      <dgm:prSet presAssocID="{074C3843-5D94-4A29-982B-E7314DC5E4EA}" presName="sibTrans" presStyleLbl="sibTrans1D1" presStyleIdx="4" presStyleCnt="5"/>
      <dgm:spPr/>
    </dgm:pt>
    <dgm:pt modelId="{CA98F0B4-6994-496D-9622-3383FDA007E3}" type="pres">
      <dgm:prSet presAssocID="{074C3843-5D94-4A29-982B-E7314DC5E4EA}" presName="connectorText" presStyleLbl="sibTrans1D1" presStyleIdx="4" presStyleCnt="5"/>
      <dgm:spPr/>
    </dgm:pt>
    <dgm:pt modelId="{A6067E45-9540-44C6-B5BF-5A71E2A63070}" type="pres">
      <dgm:prSet presAssocID="{3DA278B8-745F-4B75-8A52-E3DB8593A1E4}" presName="node" presStyleLbl="node1" presStyleIdx="5" presStyleCnt="6">
        <dgm:presLayoutVars>
          <dgm:bulletEnabled val="1"/>
        </dgm:presLayoutVars>
      </dgm:prSet>
      <dgm:spPr/>
    </dgm:pt>
  </dgm:ptLst>
  <dgm:cxnLst>
    <dgm:cxn modelId="{075A8C1D-4A10-49E4-973E-A6D14C96736A}" srcId="{399DDE45-1278-45B6-AECC-FF5BB99D3AAC}" destId="{DA731840-6648-456D-B4E4-CF8BF2F60C49}" srcOrd="2" destOrd="0" parTransId="{5FC883DE-3C73-4138-864E-0F1A55DB93F7}" sibTransId="{A8BE5C6C-3A58-4843-9DC3-27AF3254394E}"/>
    <dgm:cxn modelId="{4CBFD222-E971-48CA-B320-3C69EE0E2A91}" type="presOf" srcId="{5C1C6166-F5ED-4FEC-B57B-1FC6FE7C56DD}" destId="{25B90D89-F5A0-4889-B394-F1C995DEB203}" srcOrd="0" destOrd="0" presId="urn:microsoft.com/office/officeart/2016/7/layout/RepeatingBendingProcessNew"/>
    <dgm:cxn modelId="{2C10733C-5590-4E4E-9283-CEED1E3F3D4C}" type="presOf" srcId="{DA731840-6648-456D-B4E4-CF8BF2F60C49}" destId="{1AB4108E-80A5-4C29-B026-45BFDB15C99B}" srcOrd="0" destOrd="0" presId="urn:microsoft.com/office/officeart/2016/7/layout/RepeatingBendingProcessNew"/>
    <dgm:cxn modelId="{D129255C-14BD-4945-8154-1458DE131415}" type="presOf" srcId="{66585B1A-8EFE-472F-B8A2-6ACA051A8F06}" destId="{0C26E464-5F38-4C76-AA8D-5F598E169A9D}" srcOrd="1" destOrd="0" presId="urn:microsoft.com/office/officeart/2016/7/layout/RepeatingBendingProcessNew"/>
    <dgm:cxn modelId="{652AE442-5689-4A61-A8AA-4051348C452D}" type="presOf" srcId="{399DDE45-1278-45B6-AECC-FF5BB99D3AAC}" destId="{BE498054-8681-4B89-BE43-264158BA9906}" srcOrd="0" destOrd="0" presId="urn:microsoft.com/office/officeart/2016/7/layout/RepeatingBendingProcessNew"/>
    <dgm:cxn modelId="{B6E34964-11D6-42B7-81AB-7A3A06D9D7BE}" type="presOf" srcId="{0C165E04-26D9-4D99-8A60-BDB7AC1032F6}" destId="{63374451-849F-4010-B245-BC8CB12D1FE1}" srcOrd="0" destOrd="0" presId="urn:microsoft.com/office/officeart/2016/7/layout/RepeatingBendingProcessNew"/>
    <dgm:cxn modelId="{8FBF0645-66E7-4642-A02A-58EB12665CC0}" type="presOf" srcId="{7299550E-2668-41D6-855F-5A9C7A5E5B02}" destId="{81BB6092-E31B-4CC9-9601-B9E44962782F}" srcOrd="0" destOrd="0" presId="urn:microsoft.com/office/officeart/2016/7/layout/RepeatingBendingProcessNew"/>
    <dgm:cxn modelId="{AE1BDF45-C06D-4295-94DE-62CFA262A611}" type="presOf" srcId="{A8BE5C6C-3A58-4843-9DC3-27AF3254394E}" destId="{79BF6A79-845B-46E9-AE01-80156146A041}" srcOrd="0" destOrd="0" presId="urn:microsoft.com/office/officeart/2016/7/layout/RepeatingBendingProcessNew"/>
    <dgm:cxn modelId="{82CDB666-8A4A-42E8-B8D6-70A9986B74CD}" type="presOf" srcId="{8A762155-7757-4133-BDAA-64F46C696F6F}" destId="{35B1AAF9-D3DE-4585-B32F-8989C0CBB8FB}" srcOrd="1" destOrd="0" presId="urn:microsoft.com/office/officeart/2016/7/layout/RepeatingBendingProcessNew"/>
    <dgm:cxn modelId="{9FDE7A48-D7EE-4EA8-BEF1-8FE922D17B80}" srcId="{399DDE45-1278-45B6-AECC-FF5BB99D3AAC}" destId="{5C1C6166-F5ED-4FEC-B57B-1FC6FE7C56DD}" srcOrd="1" destOrd="0" parTransId="{F29477D1-EEEB-49E4-A302-D075A6B36FD9}" sibTransId="{66585B1A-8EFE-472F-B8A2-6ACA051A8F06}"/>
    <dgm:cxn modelId="{E658774A-0215-40D7-AF9D-98CEFE4CCDD0}" srcId="{399DDE45-1278-45B6-AECC-FF5BB99D3AAC}" destId="{0C165E04-26D9-4D99-8A60-BDB7AC1032F6}" srcOrd="0" destOrd="0" parTransId="{85AECA0E-FCE7-4AD2-8272-D39F3B873130}" sibTransId="{8A762155-7757-4133-BDAA-64F46C696F6F}"/>
    <dgm:cxn modelId="{C6B83E51-7694-41E1-87AC-914A792957AE}" type="presOf" srcId="{341BA488-1807-4F03-A2C0-F2E7A2E78113}" destId="{401A37D1-E01D-497F-A134-99CBCCC53364}" srcOrd="1" destOrd="0" presId="urn:microsoft.com/office/officeart/2016/7/layout/RepeatingBendingProcessNew"/>
    <dgm:cxn modelId="{6B287871-3A34-4211-B3E2-8890C6E0232C}" type="presOf" srcId="{A9AFA4DB-2073-43FA-9651-AC2A13A67DBE}" destId="{A6067E45-9540-44C6-B5BF-5A71E2A63070}" srcOrd="0" destOrd="1" presId="urn:microsoft.com/office/officeart/2016/7/layout/RepeatingBendingProcessNew"/>
    <dgm:cxn modelId="{E63E4B58-A236-4D7A-9482-EB3918AC67A9}" type="presOf" srcId="{8A762155-7757-4133-BDAA-64F46C696F6F}" destId="{4D6D3F36-F2E9-4F33-85DE-7AF9DA989496}" srcOrd="0" destOrd="0" presId="urn:microsoft.com/office/officeart/2016/7/layout/RepeatingBendingProcessNew"/>
    <dgm:cxn modelId="{C58491A5-E095-4F9F-A832-50A8E19D8CD2}" type="presOf" srcId="{341BA488-1807-4F03-A2C0-F2E7A2E78113}" destId="{2DA93CCE-96D2-4CC5-A749-752829412592}" srcOrd="0" destOrd="0" presId="urn:microsoft.com/office/officeart/2016/7/layout/RepeatingBendingProcessNew"/>
    <dgm:cxn modelId="{030A8FA6-A828-4411-9041-A4450DADB6EC}" srcId="{399DDE45-1278-45B6-AECC-FF5BB99D3AAC}" destId="{7299550E-2668-41D6-855F-5A9C7A5E5B02}" srcOrd="4" destOrd="0" parTransId="{E5BB0CBC-3799-42F4-8FCD-431953D807FD}" sibTransId="{074C3843-5D94-4A29-982B-E7314DC5E4EA}"/>
    <dgm:cxn modelId="{6634B7B1-6A00-4162-BD86-23BC58958521}" srcId="{399DDE45-1278-45B6-AECC-FF5BB99D3AAC}" destId="{08F1B731-EB92-4BD0-B45E-A5D9F28AE9CA}" srcOrd="3" destOrd="0" parTransId="{22EA7A95-0CE6-48FE-9B4D-66A664982EBA}" sibTransId="{341BA488-1807-4F03-A2C0-F2E7A2E78113}"/>
    <dgm:cxn modelId="{8C8F46B9-CDB4-4812-A698-6D9E56AD42CD}" type="presOf" srcId="{08F1B731-EB92-4BD0-B45E-A5D9F28AE9CA}" destId="{40952BD6-2901-4165-AF12-4A751390E413}" srcOrd="0" destOrd="0" presId="urn:microsoft.com/office/officeart/2016/7/layout/RepeatingBendingProcessNew"/>
    <dgm:cxn modelId="{2346B7BD-B7FD-49B7-8E4F-C2295E07C341}" srcId="{3DA278B8-745F-4B75-8A52-E3DB8593A1E4}" destId="{A9AFA4DB-2073-43FA-9651-AC2A13A67DBE}" srcOrd="0" destOrd="0" parTransId="{A0EDE787-86F4-4611-93FF-4FD4E17CB64C}" sibTransId="{E6653EF3-1CD2-4DF0-B322-E28AA7C28C60}"/>
    <dgm:cxn modelId="{E7FA17C9-2BA3-400B-AA9E-C0EC09BBE0BA}" type="presOf" srcId="{3DA278B8-745F-4B75-8A52-E3DB8593A1E4}" destId="{A6067E45-9540-44C6-B5BF-5A71E2A63070}" srcOrd="0" destOrd="0" presId="urn:microsoft.com/office/officeart/2016/7/layout/RepeatingBendingProcessNew"/>
    <dgm:cxn modelId="{50EA22CA-0535-4DB9-8921-6E857012CB54}" type="presOf" srcId="{074C3843-5D94-4A29-982B-E7314DC5E4EA}" destId="{CA98F0B4-6994-496D-9622-3383FDA007E3}" srcOrd="1" destOrd="0" presId="urn:microsoft.com/office/officeart/2016/7/layout/RepeatingBendingProcessNew"/>
    <dgm:cxn modelId="{F68757D1-880E-4BAA-8F7A-4533B3AC804F}" srcId="{399DDE45-1278-45B6-AECC-FF5BB99D3AAC}" destId="{3DA278B8-745F-4B75-8A52-E3DB8593A1E4}" srcOrd="5" destOrd="0" parTransId="{8894F8B9-FB55-4B77-BBA7-4000FA6402E5}" sibTransId="{E19BA414-3CE1-40E6-8E21-4538916F52ED}"/>
    <dgm:cxn modelId="{774FA5D7-5686-4568-8A0B-3EA60BAC1D79}" type="presOf" srcId="{A8BE5C6C-3A58-4843-9DC3-27AF3254394E}" destId="{5BF39ED7-50B2-4B00-94DA-3F66E3BC5AC5}" srcOrd="1" destOrd="0" presId="urn:microsoft.com/office/officeart/2016/7/layout/RepeatingBendingProcessNew"/>
    <dgm:cxn modelId="{321122EC-938E-45D4-90F4-4EE7FC8D6925}" type="presOf" srcId="{074C3843-5D94-4A29-982B-E7314DC5E4EA}" destId="{F8D4DB14-3210-442E-9A55-B69515D34C63}" srcOrd="0" destOrd="0" presId="urn:microsoft.com/office/officeart/2016/7/layout/RepeatingBendingProcessNew"/>
    <dgm:cxn modelId="{67D562F8-3429-468A-9D8C-C1261AAB95DD}" type="presOf" srcId="{66585B1A-8EFE-472F-B8A2-6ACA051A8F06}" destId="{5908516A-F93C-421F-9EC9-E0E8530C9153}" srcOrd="0" destOrd="0" presId="urn:microsoft.com/office/officeart/2016/7/layout/RepeatingBendingProcessNew"/>
    <dgm:cxn modelId="{3D238C2F-1BFB-4B72-A8FF-906EF57D884D}" type="presParOf" srcId="{BE498054-8681-4B89-BE43-264158BA9906}" destId="{63374451-849F-4010-B245-BC8CB12D1FE1}" srcOrd="0" destOrd="0" presId="urn:microsoft.com/office/officeart/2016/7/layout/RepeatingBendingProcessNew"/>
    <dgm:cxn modelId="{BDF84614-200C-4170-8C0B-97BE618D4718}" type="presParOf" srcId="{BE498054-8681-4B89-BE43-264158BA9906}" destId="{4D6D3F36-F2E9-4F33-85DE-7AF9DA989496}" srcOrd="1" destOrd="0" presId="urn:microsoft.com/office/officeart/2016/7/layout/RepeatingBendingProcessNew"/>
    <dgm:cxn modelId="{2870F62E-CD05-45E1-8021-98762046A964}" type="presParOf" srcId="{4D6D3F36-F2E9-4F33-85DE-7AF9DA989496}" destId="{35B1AAF9-D3DE-4585-B32F-8989C0CBB8FB}" srcOrd="0" destOrd="0" presId="urn:microsoft.com/office/officeart/2016/7/layout/RepeatingBendingProcessNew"/>
    <dgm:cxn modelId="{C05C6732-28F0-45EC-953C-34966936AD4A}" type="presParOf" srcId="{BE498054-8681-4B89-BE43-264158BA9906}" destId="{25B90D89-F5A0-4889-B394-F1C995DEB203}" srcOrd="2" destOrd="0" presId="urn:microsoft.com/office/officeart/2016/7/layout/RepeatingBendingProcessNew"/>
    <dgm:cxn modelId="{FE2A5A42-0326-47FD-B5B3-FFC0EF3E73CD}" type="presParOf" srcId="{BE498054-8681-4B89-BE43-264158BA9906}" destId="{5908516A-F93C-421F-9EC9-E0E8530C9153}" srcOrd="3" destOrd="0" presId="urn:microsoft.com/office/officeart/2016/7/layout/RepeatingBendingProcessNew"/>
    <dgm:cxn modelId="{CAA84472-2B2F-4CD2-966E-6B0FEF430EEE}" type="presParOf" srcId="{5908516A-F93C-421F-9EC9-E0E8530C9153}" destId="{0C26E464-5F38-4C76-AA8D-5F598E169A9D}" srcOrd="0" destOrd="0" presId="urn:microsoft.com/office/officeart/2016/7/layout/RepeatingBendingProcessNew"/>
    <dgm:cxn modelId="{8FB722F1-C205-4238-B2DA-69B1A32D842F}" type="presParOf" srcId="{BE498054-8681-4B89-BE43-264158BA9906}" destId="{1AB4108E-80A5-4C29-B026-45BFDB15C99B}" srcOrd="4" destOrd="0" presId="urn:microsoft.com/office/officeart/2016/7/layout/RepeatingBendingProcessNew"/>
    <dgm:cxn modelId="{1EB002CE-9273-4B32-8529-574AFB71E8E9}" type="presParOf" srcId="{BE498054-8681-4B89-BE43-264158BA9906}" destId="{79BF6A79-845B-46E9-AE01-80156146A041}" srcOrd="5" destOrd="0" presId="urn:microsoft.com/office/officeart/2016/7/layout/RepeatingBendingProcessNew"/>
    <dgm:cxn modelId="{872D758E-8710-41B7-B662-2ED508CE776F}" type="presParOf" srcId="{79BF6A79-845B-46E9-AE01-80156146A041}" destId="{5BF39ED7-50B2-4B00-94DA-3F66E3BC5AC5}" srcOrd="0" destOrd="0" presId="urn:microsoft.com/office/officeart/2016/7/layout/RepeatingBendingProcessNew"/>
    <dgm:cxn modelId="{BC568771-D4F7-41A5-BB51-4AFC56DE51BB}" type="presParOf" srcId="{BE498054-8681-4B89-BE43-264158BA9906}" destId="{40952BD6-2901-4165-AF12-4A751390E413}" srcOrd="6" destOrd="0" presId="urn:microsoft.com/office/officeart/2016/7/layout/RepeatingBendingProcessNew"/>
    <dgm:cxn modelId="{23770025-6F80-4EAE-A830-7CBAFFDBD6C3}" type="presParOf" srcId="{BE498054-8681-4B89-BE43-264158BA9906}" destId="{2DA93CCE-96D2-4CC5-A749-752829412592}" srcOrd="7" destOrd="0" presId="urn:microsoft.com/office/officeart/2016/7/layout/RepeatingBendingProcessNew"/>
    <dgm:cxn modelId="{601593A9-499F-4A0E-B70F-BA9469DE6E1B}" type="presParOf" srcId="{2DA93CCE-96D2-4CC5-A749-752829412592}" destId="{401A37D1-E01D-497F-A134-99CBCCC53364}" srcOrd="0" destOrd="0" presId="urn:microsoft.com/office/officeart/2016/7/layout/RepeatingBendingProcessNew"/>
    <dgm:cxn modelId="{1061D951-27DA-4AD4-BB8A-787D6613944C}" type="presParOf" srcId="{BE498054-8681-4B89-BE43-264158BA9906}" destId="{81BB6092-E31B-4CC9-9601-B9E44962782F}" srcOrd="8" destOrd="0" presId="urn:microsoft.com/office/officeart/2016/7/layout/RepeatingBendingProcessNew"/>
    <dgm:cxn modelId="{73F69F66-4249-4317-9089-CBCA4227317A}" type="presParOf" srcId="{BE498054-8681-4B89-BE43-264158BA9906}" destId="{F8D4DB14-3210-442E-9A55-B69515D34C63}" srcOrd="9" destOrd="0" presId="urn:microsoft.com/office/officeart/2016/7/layout/RepeatingBendingProcessNew"/>
    <dgm:cxn modelId="{49C16DD2-43F1-41E1-B6B2-31CC0C1164EC}" type="presParOf" srcId="{F8D4DB14-3210-442E-9A55-B69515D34C63}" destId="{CA98F0B4-6994-496D-9622-3383FDA007E3}" srcOrd="0" destOrd="0" presId="urn:microsoft.com/office/officeart/2016/7/layout/RepeatingBendingProcessNew"/>
    <dgm:cxn modelId="{B28F54E1-5142-4B02-9AE4-FA995CC7E89A}" type="presParOf" srcId="{BE498054-8681-4B89-BE43-264158BA9906}" destId="{A6067E45-9540-44C6-B5BF-5A71E2A63070}"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FD5C05A-8999-4119-B579-0306CCB64D1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0584C4E-1621-4DAD-B22E-38667439EA9C}">
      <dgm:prSet/>
      <dgm:spPr/>
      <dgm:t>
        <a:bodyPr/>
        <a:lstStyle/>
        <a:p>
          <a:r>
            <a:rPr lang="en-US"/>
            <a:t>Pulmonary function tests are usually performed before and after bronchodilator   </a:t>
          </a:r>
        </a:p>
      </dgm:t>
    </dgm:pt>
    <dgm:pt modelId="{CEA525AD-8160-4F35-8780-E83B1CACF32F}" type="parTrans" cxnId="{1A5DB6C4-BD80-41E5-9DC4-70B571E4CB30}">
      <dgm:prSet/>
      <dgm:spPr/>
      <dgm:t>
        <a:bodyPr/>
        <a:lstStyle/>
        <a:p>
          <a:endParaRPr lang="en-US"/>
        </a:p>
      </dgm:t>
    </dgm:pt>
    <dgm:pt modelId="{E1E837B0-B04D-4BAF-9B4B-AEE39942DCF3}" type="sibTrans" cxnId="{1A5DB6C4-BD80-41E5-9DC4-70B571E4CB30}">
      <dgm:prSet/>
      <dgm:spPr/>
      <dgm:t>
        <a:bodyPr/>
        <a:lstStyle/>
        <a:p>
          <a:endParaRPr lang="en-US"/>
        </a:p>
      </dgm:t>
    </dgm:pt>
    <dgm:pt modelId="{1F0CAD01-ECF5-4982-8437-D29322B98F13}">
      <dgm:prSet/>
      <dgm:spPr/>
      <dgm:t>
        <a:bodyPr/>
        <a:lstStyle/>
        <a:p>
          <a:r>
            <a:rPr lang="en-US"/>
            <a:t>therapy to assess the reversibility of the airways obstruction.  </a:t>
          </a:r>
        </a:p>
      </dgm:t>
    </dgm:pt>
    <dgm:pt modelId="{025BC439-4ABF-44B7-A16F-0601FDEE6F60}" type="parTrans" cxnId="{27685EB8-B37B-4B0C-AF1D-789B78D1E079}">
      <dgm:prSet/>
      <dgm:spPr/>
      <dgm:t>
        <a:bodyPr/>
        <a:lstStyle/>
        <a:p>
          <a:endParaRPr lang="en-US"/>
        </a:p>
      </dgm:t>
    </dgm:pt>
    <dgm:pt modelId="{15D772ED-5D1A-48D0-9EE9-EB06E74734F6}" type="sibTrans" cxnId="{27685EB8-B37B-4B0C-AF1D-789B78D1E079}">
      <dgm:prSet/>
      <dgm:spPr/>
      <dgm:t>
        <a:bodyPr/>
        <a:lstStyle/>
        <a:p>
          <a:endParaRPr lang="en-US"/>
        </a:p>
      </dgm:t>
    </dgm:pt>
    <dgm:pt modelId="{5A6FE80B-C8BA-4140-8DCC-6C3388F53FB3}">
      <dgm:prSet/>
      <dgm:spPr/>
      <dgm:t>
        <a:bodyPr/>
        <a:lstStyle/>
        <a:p>
          <a:r>
            <a:rPr lang="en-US"/>
            <a:t>A 15 % improvement in pulmonary function tests may be considered a positive  response to bronchodilator therapy and indicates that this therapy should be initiated  preoperatively.</a:t>
          </a:r>
        </a:p>
      </dgm:t>
    </dgm:pt>
    <dgm:pt modelId="{B0501E37-B186-455F-B000-43A93C01D0D1}" type="parTrans" cxnId="{96494DAA-44A8-4E31-B075-4C53EF867A27}">
      <dgm:prSet/>
      <dgm:spPr/>
      <dgm:t>
        <a:bodyPr/>
        <a:lstStyle/>
        <a:p>
          <a:endParaRPr lang="en-US"/>
        </a:p>
      </dgm:t>
    </dgm:pt>
    <dgm:pt modelId="{C97FD145-C962-4E8B-A265-56E73A825733}" type="sibTrans" cxnId="{96494DAA-44A8-4E31-B075-4C53EF867A27}">
      <dgm:prSet/>
      <dgm:spPr/>
      <dgm:t>
        <a:bodyPr/>
        <a:lstStyle/>
        <a:p>
          <a:endParaRPr lang="en-US"/>
        </a:p>
      </dgm:t>
    </dgm:pt>
    <dgm:pt modelId="{8C5EBDEF-91F0-4063-BD50-1C7B0E6DDF6B}" type="pres">
      <dgm:prSet presAssocID="{EFD5C05A-8999-4119-B579-0306CCB64D16}" presName="root" presStyleCnt="0">
        <dgm:presLayoutVars>
          <dgm:dir/>
          <dgm:resizeHandles val="exact"/>
        </dgm:presLayoutVars>
      </dgm:prSet>
      <dgm:spPr/>
    </dgm:pt>
    <dgm:pt modelId="{C1006F44-4FEF-4FEF-94AF-EB79FD610E47}" type="pres">
      <dgm:prSet presAssocID="{00584C4E-1621-4DAD-B22E-38667439EA9C}" presName="compNode" presStyleCnt="0"/>
      <dgm:spPr/>
    </dgm:pt>
    <dgm:pt modelId="{05956B3E-A595-4001-AB1B-F1CC41790745}" type="pres">
      <dgm:prSet presAssocID="{00584C4E-1621-4DAD-B22E-38667439EA9C}" presName="bgRect" presStyleLbl="bgShp" presStyleIdx="0" presStyleCnt="3"/>
      <dgm:spPr/>
    </dgm:pt>
    <dgm:pt modelId="{C7147509-A3E8-4CC8-85C6-FCE1FD2AB37D}" type="pres">
      <dgm:prSet presAssocID="{00584C4E-1621-4DAD-B22E-38667439EA9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0F3F24FF-BBE4-4016-8AC5-83890BF57F03}" type="pres">
      <dgm:prSet presAssocID="{00584C4E-1621-4DAD-B22E-38667439EA9C}" presName="spaceRect" presStyleCnt="0"/>
      <dgm:spPr/>
    </dgm:pt>
    <dgm:pt modelId="{81D0C41D-6458-4CBB-8DCE-88F05BF2B04D}" type="pres">
      <dgm:prSet presAssocID="{00584C4E-1621-4DAD-B22E-38667439EA9C}" presName="parTx" presStyleLbl="revTx" presStyleIdx="0" presStyleCnt="3">
        <dgm:presLayoutVars>
          <dgm:chMax val="0"/>
          <dgm:chPref val="0"/>
        </dgm:presLayoutVars>
      </dgm:prSet>
      <dgm:spPr/>
    </dgm:pt>
    <dgm:pt modelId="{E29FFE53-3C7D-4245-AA2C-D98671866989}" type="pres">
      <dgm:prSet presAssocID="{E1E837B0-B04D-4BAF-9B4B-AEE39942DCF3}" presName="sibTrans" presStyleCnt="0"/>
      <dgm:spPr/>
    </dgm:pt>
    <dgm:pt modelId="{2CF9331E-37DB-429B-9BCB-66BA17EE447D}" type="pres">
      <dgm:prSet presAssocID="{1F0CAD01-ECF5-4982-8437-D29322B98F13}" presName="compNode" presStyleCnt="0"/>
      <dgm:spPr/>
    </dgm:pt>
    <dgm:pt modelId="{EADB3EFE-58B1-45F2-84CA-C47E9AFAED1B}" type="pres">
      <dgm:prSet presAssocID="{1F0CAD01-ECF5-4982-8437-D29322B98F13}" presName="bgRect" presStyleLbl="bgShp" presStyleIdx="1" presStyleCnt="3"/>
      <dgm:spPr/>
    </dgm:pt>
    <dgm:pt modelId="{F6F9A318-21E4-4B50-8A49-EE4C18D0FE41}" type="pres">
      <dgm:prSet presAssocID="{1F0CAD01-ECF5-4982-8437-D29322B98F1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spital"/>
        </a:ext>
      </dgm:extLst>
    </dgm:pt>
    <dgm:pt modelId="{ED7EC534-FA4C-4248-B9DB-96B858F39ED6}" type="pres">
      <dgm:prSet presAssocID="{1F0CAD01-ECF5-4982-8437-D29322B98F13}" presName="spaceRect" presStyleCnt="0"/>
      <dgm:spPr/>
    </dgm:pt>
    <dgm:pt modelId="{3690F346-4130-4AF5-A07A-7C367E5396E0}" type="pres">
      <dgm:prSet presAssocID="{1F0CAD01-ECF5-4982-8437-D29322B98F13}" presName="parTx" presStyleLbl="revTx" presStyleIdx="1" presStyleCnt="3">
        <dgm:presLayoutVars>
          <dgm:chMax val="0"/>
          <dgm:chPref val="0"/>
        </dgm:presLayoutVars>
      </dgm:prSet>
      <dgm:spPr/>
    </dgm:pt>
    <dgm:pt modelId="{FDBD3A97-1104-44B0-BABD-B1D8239D6ED6}" type="pres">
      <dgm:prSet presAssocID="{15D772ED-5D1A-48D0-9EE9-EB06E74734F6}" presName="sibTrans" presStyleCnt="0"/>
      <dgm:spPr/>
    </dgm:pt>
    <dgm:pt modelId="{55C2DF14-8B17-4DEE-B258-217793141572}" type="pres">
      <dgm:prSet presAssocID="{5A6FE80B-C8BA-4140-8DCC-6C3388F53FB3}" presName="compNode" presStyleCnt="0"/>
      <dgm:spPr/>
    </dgm:pt>
    <dgm:pt modelId="{779E4860-B582-4263-BCB1-996896BAE346}" type="pres">
      <dgm:prSet presAssocID="{5A6FE80B-C8BA-4140-8DCC-6C3388F53FB3}" presName="bgRect" presStyleLbl="bgShp" presStyleIdx="2" presStyleCnt="3"/>
      <dgm:spPr/>
    </dgm:pt>
    <dgm:pt modelId="{09E63A3B-1021-4A56-B31B-273F1FDE2A76}" type="pres">
      <dgm:prSet presAssocID="{5A6FE80B-C8BA-4140-8DCC-6C3388F53FB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ungs"/>
        </a:ext>
      </dgm:extLst>
    </dgm:pt>
    <dgm:pt modelId="{DEC6FC12-CCB6-42B8-ABCB-07CD837FED4E}" type="pres">
      <dgm:prSet presAssocID="{5A6FE80B-C8BA-4140-8DCC-6C3388F53FB3}" presName="spaceRect" presStyleCnt="0"/>
      <dgm:spPr/>
    </dgm:pt>
    <dgm:pt modelId="{7DFD78C7-1C08-449A-B59A-1D9981FF7301}" type="pres">
      <dgm:prSet presAssocID="{5A6FE80B-C8BA-4140-8DCC-6C3388F53FB3}" presName="parTx" presStyleLbl="revTx" presStyleIdx="2" presStyleCnt="3">
        <dgm:presLayoutVars>
          <dgm:chMax val="0"/>
          <dgm:chPref val="0"/>
        </dgm:presLayoutVars>
      </dgm:prSet>
      <dgm:spPr/>
    </dgm:pt>
  </dgm:ptLst>
  <dgm:cxnLst>
    <dgm:cxn modelId="{3D9D005E-4F01-4A39-9CB6-F7B73ADED9E2}" type="presOf" srcId="{1F0CAD01-ECF5-4982-8437-D29322B98F13}" destId="{3690F346-4130-4AF5-A07A-7C367E5396E0}" srcOrd="0" destOrd="0" presId="urn:microsoft.com/office/officeart/2018/2/layout/IconVerticalSolidList"/>
    <dgm:cxn modelId="{6A22E46A-7F26-426F-8758-B8F4D6B85BD8}" type="presOf" srcId="{5A6FE80B-C8BA-4140-8DCC-6C3388F53FB3}" destId="{7DFD78C7-1C08-449A-B59A-1D9981FF7301}" srcOrd="0" destOrd="0" presId="urn:microsoft.com/office/officeart/2018/2/layout/IconVerticalSolidList"/>
    <dgm:cxn modelId="{CDF45E74-B937-4BCF-BC50-276E64063D6E}" type="presOf" srcId="{EFD5C05A-8999-4119-B579-0306CCB64D16}" destId="{8C5EBDEF-91F0-4063-BD50-1C7B0E6DDF6B}" srcOrd="0" destOrd="0" presId="urn:microsoft.com/office/officeart/2018/2/layout/IconVerticalSolidList"/>
    <dgm:cxn modelId="{96494DAA-44A8-4E31-B075-4C53EF867A27}" srcId="{EFD5C05A-8999-4119-B579-0306CCB64D16}" destId="{5A6FE80B-C8BA-4140-8DCC-6C3388F53FB3}" srcOrd="2" destOrd="0" parTransId="{B0501E37-B186-455F-B000-43A93C01D0D1}" sibTransId="{C97FD145-C962-4E8B-A265-56E73A825733}"/>
    <dgm:cxn modelId="{27685EB8-B37B-4B0C-AF1D-789B78D1E079}" srcId="{EFD5C05A-8999-4119-B579-0306CCB64D16}" destId="{1F0CAD01-ECF5-4982-8437-D29322B98F13}" srcOrd="1" destOrd="0" parTransId="{025BC439-4ABF-44B7-A16F-0601FDEE6F60}" sibTransId="{15D772ED-5D1A-48D0-9EE9-EB06E74734F6}"/>
    <dgm:cxn modelId="{1A5DB6C4-BD80-41E5-9DC4-70B571E4CB30}" srcId="{EFD5C05A-8999-4119-B579-0306CCB64D16}" destId="{00584C4E-1621-4DAD-B22E-38667439EA9C}" srcOrd="0" destOrd="0" parTransId="{CEA525AD-8160-4F35-8780-E83B1CACF32F}" sibTransId="{E1E837B0-B04D-4BAF-9B4B-AEE39942DCF3}"/>
    <dgm:cxn modelId="{49AA0EF1-5649-49BD-AAD1-ABDA974ABDCB}" type="presOf" srcId="{00584C4E-1621-4DAD-B22E-38667439EA9C}" destId="{81D0C41D-6458-4CBB-8DCE-88F05BF2B04D}" srcOrd="0" destOrd="0" presId="urn:microsoft.com/office/officeart/2018/2/layout/IconVerticalSolidList"/>
    <dgm:cxn modelId="{036D223B-5691-4F65-A5B7-ADC5E347BC16}" type="presParOf" srcId="{8C5EBDEF-91F0-4063-BD50-1C7B0E6DDF6B}" destId="{C1006F44-4FEF-4FEF-94AF-EB79FD610E47}" srcOrd="0" destOrd="0" presId="urn:microsoft.com/office/officeart/2018/2/layout/IconVerticalSolidList"/>
    <dgm:cxn modelId="{9275D7AE-CDE6-4DBE-9CDA-A2F2DDE82756}" type="presParOf" srcId="{C1006F44-4FEF-4FEF-94AF-EB79FD610E47}" destId="{05956B3E-A595-4001-AB1B-F1CC41790745}" srcOrd="0" destOrd="0" presId="urn:microsoft.com/office/officeart/2018/2/layout/IconVerticalSolidList"/>
    <dgm:cxn modelId="{2E8E110D-E3A9-4C64-88EF-6F9E4DAB9FBE}" type="presParOf" srcId="{C1006F44-4FEF-4FEF-94AF-EB79FD610E47}" destId="{C7147509-A3E8-4CC8-85C6-FCE1FD2AB37D}" srcOrd="1" destOrd="0" presId="urn:microsoft.com/office/officeart/2018/2/layout/IconVerticalSolidList"/>
    <dgm:cxn modelId="{916C0639-43C4-439F-A36C-B4361FD3409D}" type="presParOf" srcId="{C1006F44-4FEF-4FEF-94AF-EB79FD610E47}" destId="{0F3F24FF-BBE4-4016-8AC5-83890BF57F03}" srcOrd="2" destOrd="0" presId="urn:microsoft.com/office/officeart/2018/2/layout/IconVerticalSolidList"/>
    <dgm:cxn modelId="{FB30EFDC-FADE-4099-B3BE-F5C56D2AC086}" type="presParOf" srcId="{C1006F44-4FEF-4FEF-94AF-EB79FD610E47}" destId="{81D0C41D-6458-4CBB-8DCE-88F05BF2B04D}" srcOrd="3" destOrd="0" presId="urn:microsoft.com/office/officeart/2018/2/layout/IconVerticalSolidList"/>
    <dgm:cxn modelId="{BC17319B-BD9C-4377-94D5-88714EB7184A}" type="presParOf" srcId="{8C5EBDEF-91F0-4063-BD50-1C7B0E6DDF6B}" destId="{E29FFE53-3C7D-4245-AA2C-D98671866989}" srcOrd="1" destOrd="0" presId="urn:microsoft.com/office/officeart/2018/2/layout/IconVerticalSolidList"/>
    <dgm:cxn modelId="{5B426B55-C98B-4B05-9BB4-0345CBC032F7}" type="presParOf" srcId="{8C5EBDEF-91F0-4063-BD50-1C7B0E6DDF6B}" destId="{2CF9331E-37DB-429B-9BCB-66BA17EE447D}" srcOrd="2" destOrd="0" presId="urn:microsoft.com/office/officeart/2018/2/layout/IconVerticalSolidList"/>
    <dgm:cxn modelId="{1869F5CC-8609-4084-9E58-8F0C3B799DF9}" type="presParOf" srcId="{2CF9331E-37DB-429B-9BCB-66BA17EE447D}" destId="{EADB3EFE-58B1-45F2-84CA-C47E9AFAED1B}" srcOrd="0" destOrd="0" presId="urn:microsoft.com/office/officeart/2018/2/layout/IconVerticalSolidList"/>
    <dgm:cxn modelId="{7FED0D68-7E18-4FCB-BCF1-9C205C93AE89}" type="presParOf" srcId="{2CF9331E-37DB-429B-9BCB-66BA17EE447D}" destId="{F6F9A318-21E4-4B50-8A49-EE4C18D0FE41}" srcOrd="1" destOrd="0" presId="urn:microsoft.com/office/officeart/2018/2/layout/IconVerticalSolidList"/>
    <dgm:cxn modelId="{8E0021B6-5F81-42A9-939C-91E4B2A805BF}" type="presParOf" srcId="{2CF9331E-37DB-429B-9BCB-66BA17EE447D}" destId="{ED7EC534-FA4C-4248-B9DB-96B858F39ED6}" srcOrd="2" destOrd="0" presId="urn:microsoft.com/office/officeart/2018/2/layout/IconVerticalSolidList"/>
    <dgm:cxn modelId="{8F3CE9F7-0FE5-418D-85E5-9005AA07758A}" type="presParOf" srcId="{2CF9331E-37DB-429B-9BCB-66BA17EE447D}" destId="{3690F346-4130-4AF5-A07A-7C367E5396E0}" srcOrd="3" destOrd="0" presId="urn:microsoft.com/office/officeart/2018/2/layout/IconVerticalSolidList"/>
    <dgm:cxn modelId="{9559E04F-4CCA-4CD1-8346-E305547D05F9}" type="presParOf" srcId="{8C5EBDEF-91F0-4063-BD50-1C7B0E6DDF6B}" destId="{FDBD3A97-1104-44B0-BABD-B1D8239D6ED6}" srcOrd="3" destOrd="0" presId="urn:microsoft.com/office/officeart/2018/2/layout/IconVerticalSolidList"/>
    <dgm:cxn modelId="{E967FC48-42F6-4CC3-B834-E7BB679081C2}" type="presParOf" srcId="{8C5EBDEF-91F0-4063-BD50-1C7B0E6DDF6B}" destId="{55C2DF14-8B17-4DEE-B258-217793141572}" srcOrd="4" destOrd="0" presId="urn:microsoft.com/office/officeart/2018/2/layout/IconVerticalSolidList"/>
    <dgm:cxn modelId="{612C187A-5964-42BD-8876-5C1D54B7908F}" type="presParOf" srcId="{55C2DF14-8B17-4DEE-B258-217793141572}" destId="{779E4860-B582-4263-BCB1-996896BAE346}" srcOrd="0" destOrd="0" presId="urn:microsoft.com/office/officeart/2018/2/layout/IconVerticalSolidList"/>
    <dgm:cxn modelId="{5D61CED1-5982-4CED-9ED5-835C2697690E}" type="presParOf" srcId="{55C2DF14-8B17-4DEE-B258-217793141572}" destId="{09E63A3B-1021-4A56-B31B-273F1FDE2A76}" srcOrd="1" destOrd="0" presId="urn:microsoft.com/office/officeart/2018/2/layout/IconVerticalSolidList"/>
    <dgm:cxn modelId="{F7D1A150-709D-4361-BE0E-F2D92A011151}" type="presParOf" srcId="{55C2DF14-8B17-4DEE-B258-217793141572}" destId="{DEC6FC12-CCB6-42B8-ABCB-07CD837FED4E}" srcOrd="2" destOrd="0" presId="urn:microsoft.com/office/officeart/2018/2/layout/IconVerticalSolidList"/>
    <dgm:cxn modelId="{E874FA1D-8FD6-4D5C-B287-55C8FBD2A4AB}" type="presParOf" srcId="{55C2DF14-8B17-4DEE-B258-217793141572}" destId="{7DFD78C7-1C08-449A-B59A-1D9981FF730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0ED41F8-BE4F-4253-A81A-03393CD25743}"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5D06B6A6-54C3-4FE6-ACF3-F7CA43F27F0E}">
      <dgm:prSet/>
      <dgm:spPr/>
      <dgm:t>
        <a:bodyPr/>
        <a:lstStyle/>
        <a:p>
          <a:r>
            <a:rPr lang="en-US"/>
            <a:t>-  Anesthesia and postoperative medications can cause changes in lung volumes and ventilatory pattern.</a:t>
          </a:r>
        </a:p>
      </dgm:t>
    </dgm:pt>
    <dgm:pt modelId="{60F25765-172B-44A0-9CA8-DCB1B14D3CC6}" type="parTrans" cxnId="{9F371EE1-C98D-464D-BEF5-043EF75E270A}">
      <dgm:prSet/>
      <dgm:spPr/>
      <dgm:t>
        <a:bodyPr/>
        <a:lstStyle/>
        <a:p>
          <a:endParaRPr lang="en-US"/>
        </a:p>
      </dgm:t>
    </dgm:pt>
    <dgm:pt modelId="{1D3F9BC2-E150-40F6-A629-AE12A1095996}" type="sibTrans" cxnId="{9F371EE1-C98D-464D-BEF5-043EF75E270A}">
      <dgm:prSet/>
      <dgm:spPr/>
      <dgm:t>
        <a:bodyPr/>
        <a:lstStyle/>
        <a:p>
          <a:endParaRPr lang="en-US"/>
        </a:p>
      </dgm:t>
    </dgm:pt>
    <dgm:pt modelId="{8BDD8CE3-F630-41B8-A42D-0242C9256B25}">
      <dgm:prSet/>
      <dgm:spPr/>
      <dgm:t>
        <a:bodyPr/>
        <a:lstStyle/>
        <a:p>
          <a:r>
            <a:rPr lang="en-US"/>
            <a:t>Total lung capacity → decreases after abdominal surgery but not after  surgery on an extremity.</a:t>
          </a:r>
        </a:p>
      </dgm:t>
    </dgm:pt>
    <dgm:pt modelId="{34231024-893C-40A7-A4FF-06D893499190}" type="parTrans" cxnId="{18E522E4-D42D-4095-832B-831D5D8A5D65}">
      <dgm:prSet/>
      <dgm:spPr/>
      <dgm:t>
        <a:bodyPr/>
        <a:lstStyle/>
        <a:p>
          <a:endParaRPr lang="en-US"/>
        </a:p>
      </dgm:t>
    </dgm:pt>
    <dgm:pt modelId="{DA08D22E-6CCF-4B32-A9B1-D3B2909AE6C5}" type="sibTrans" cxnId="{18E522E4-D42D-4095-832B-831D5D8A5D65}">
      <dgm:prSet/>
      <dgm:spPr/>
      <dgm:t>
        <a:bodyPr/>
        <a:lstStyle/>
        <a:p>
          <a:endParaRPr lang="en-US"/>
        </a:p>
      </dgm:t>
    </dgm:pt>
    <dgm:pt modelId="{DB554F0E-1B97-4B0D-A7B7-B2F3C8844432}">
      <dgm:prSet/>
      <dgm:spPr/>
      <dgm:t>
        <a:bodyPr/>
        <a:lstStyle/>
        <a:p>
          <a:r>
            <a:rPr lang="en-US"/>
            <a:t>Vital capacity → decreased by 25 - 50 % within 1-2 days after surgery and generally returns to normal after 1-2 weeks.</a:t>
          </a:r>
        </a:p>
      </dgm:t>
    </dgm:pt>
    <dgm:pt modelId="{0344E25C-794B-4AF3-9E94-434029415C03}" type="parTrans" cxnId="{906F7F13-D248-4CBC-A4BD-A674AE5E12EC}">
      <dgm:prSet/>
      <dgm:spPr/>
      <dgm:t>
        <a:bodyPr/>
        <a:lstStyle/>
        <a:p>
          <a:endParaRPr lang="en-US"/>
        </a:p>
      </dgm:t>
    </dgm:pt>
    <dgm:pt modelId="{36BBEDE0-4271-4968-A96B-8BA526466FDA}" type="sibTrans" cxnId="{906F7F13-D248-4CBC-A4BD-A674AE5E12EC}">
      <dgm:prSet/>
      <dgm:spPr/>
      <dgm:t>
        <a:bodyPr/>
        <a:lstStyle/>
        <a:p>
          <a:endParaRPr lang="en-US"/>
        </a:p>
      </dgm:t>
    </dgm:pt>
    <dgm:pt modelId="{ABC4ABFA-2703-462C-8AFC-0B1A47146255}" type="pres">
      <dgm:prSet presAssocID="{20ED41F8-BE4F-4253-A81A-03393CD25743}" presName="outerComposite" presStyleCnt="0">
        <dgm:presLayoutVars>
          <dgm:chMax val="5"/>
          <dgm:dir/>
          <dgm:resizeHandles val="exact"/>
        </dgm:presLayoutVars>
      </dgm:prSet>
      <dgm:spPr/>
    </dgm:pt>
    <dgm:pt modelId="{B1B76431-F6F7-4F9A-BC72-12DCB6274A46}" type="pres">
      <dgm:prSet presAssocID="{20ED41F8-BE4F-4253-A81A-03393CD25743}" presName="dummyMaxCanvas" presStyleCnt="0">
        <dgm:presLayoutVars/>
      </dgm:prSet>
      <dgm:spPr/>
    </dgm:pt>
    <dgm:pt modelId="{147A2A92-3B5E-4069-AB05-D84F5A9D0025}" type="pres">
      <dgm:prSet presAssocID="{20ED41F8-BE4F-4253-A81A-03393CD25743}" presName="ThreeNodes_1" presStyleLbl="node1" presStyleIdx="0" presStyleCnt="3">
        <dgm:presLayoutVars>
          <dgm:bulletEnabled val="1"/>
        </dgm:presLayoutVars>
      </dgm:prSet>
      <dgm:spPr/>
    </dgm:pt>
    <dgm:pt modelId="{8EDF87F2-233F-42BC-812A-4DBDB7C3E7F3}" type="pres">
      <dgm:prSet presAssocID="{20ED41F8-BE4F-4253-A81A-03393CD25743}" presName="ThreeNodes_2" presStyleLbl="node1" presStyleIdx="1" presStyleCnt="3">
        <dgm:presLayoutVars>
          <dgm:bulletEnabled val="1"/>
        </dgm:presLayoutVars>
      </dgm:prSet>
      <dgm:spPr/>
    </dgm:pt>
    <dgm:pt modelId="{001C1D9C-A824-44D0-ABF6-D23FB56B1B15}" type="pres">
      <dgm:prSet presAssocID="{20ED41F8-BE4F-4253-A81A-03393CD25743}" presName="ThreeNodes_3" presStyleLbl="node1" presStyleIdx="2" presStyleCnt="3">
        <dgm:presLayoutVars>
          <dgm:bulletEnabled val="1"/>
        </dgm:presLayoutVars>
      </dgm:prSet>
      <dgm:spPr/>
    </dgm:pt>
    <dgm:pt modelId="{96022A39-14CC-4EF8-90BE-CBFCC120587B}" type="pres">
      <dgm:prSet presAssocID="{20ED41F8-BE4F-4253-A81A-03393CD25743}" presName="ThreeConn_1-2" presStyleLbl="fgAccFollowNode1" presStyleIdx="0" presStyleCnt="2">
        <dgm:presLayoutVars>
          <dgm:bulletEnabled val="1"/>
        </dgm:presLayoutVars>
      </dgm:prSet>
      <dgm:spPr/>
    </dgm:pt>
    <dgm:pt modelId="{1FCB2DB2-E25D-46C4-946E-26B71E2CB59C}" type="pres">
      <dgm:prSet presAssocID="{20ED41F8-BE4F-4253-A81A-03393CD25743}" presName="ThreeConn_2-3" presStyleLbl="fgAccFollowNode1" presStyleIdx="1" presStyleCnt="2">
        <dgm:presLayoutVars>
          <dgm:bulletEnabled val="1"/>
        </dgm:presLayoutVars>
      </dgm:prSet>
      <dgm:spPr/>
    </dgm:pt>
    <dgm:pt modelId="{B53443D0-4446-4DD3-B280-359E127ECE8B}" type="pres">
      <dgm:prSet presAssocID="{20ED41F8-BE4F-4253-A81A-03393CD25743}" presName="ThreeNodes_1_text" presStyleLbl="node1" presStyleIdx="2" presStyleCnt="3">
        <dgm:presLayoutVars>
          <dgm:bulletEnabled val="1"/>
        </dgm:presLayoutVars>
      </dgm:prSet>
      <dgm:spPr/>
    </dgm:pt>
    <dgm:pt modelId="{D74FA68C-A945-4548-9976-8F18C6BBAD8D}" type="pres">
      <dgm:prSet presAssocID="{20ED41F8-BE4F-4253-A81A-03393CD25743}" presName="ThreeNodes_2_text" presStyleLbl="node1" presStyleIdx="2" presStyleCnt="3">
        <dgm:presLayoutVars>
          <dgm:bulletEnabled val="1"/>
        </dgm:presLayoutVars>
      </dgm:prSet>
      <dgm:spPr/>
    </dgm:pt>
    <dgm:pt modelId="{0F68B8A1-60AB-4E7C-9015-6E5A393E00DE}" type="pres">
      <dgm:prSet presAssocID="{20ED41F8-BE4F-4253-A81A-03393CD25743}" presName="ThreeNodes_3_text" presStyleLbl="node1" presStyleIdx="2" presStyleCnt="3">
        <dgm:presLayoutVars>
          <dgm:bulletEnabled val="1"/>
        </dgm:presLayoutVars>
      </dgm:prSet>
      <dgm:spPr/>
    </dgm:pt>
  </dgm:ptLst>
  <dgm:cxnLst>
    <dgm:cxn modelId="{74045208-972A-4A4C-8579-14985068EC68}" type="presOf" srcId="{8BDD8CE3-F630-41B8-A42D-0242C9256B25}" destId="{D74FA68C-A945-4548-9976-8F18C6BBAD8D}" srcOrd="1" destOrd="0" presId="urn:microsoft.com/office/officeart/2005/8/layout/vProcess5"/>
    <dgm:cxn modelId="{906F7F13-D248-4CBC-A4BD-A674AE5E12EC}" srcId="{20ED41F8-BE4F-4253-A81A-03393CD25743}" destId="{DB554F0E-1B97-4B0D-A7B7-B2F3C8844432}" srcOrd="2" destOrd="0" parTransId="{0344E25C-794B-4AF3-9E94-434029415C03}" sibTransId="{36BBEDE0-4271-4968-A96B-8BA526466FDA}"/>
    <dgm:cxn modelId="{35628731-FBAC-4F8C-97F1-71542C7B2F7F}" type="presOf" srcId="{DB554F0E-1B97-4B0D-A7B7-B2F3C8844432}" destId="{0F68B8A1-60AB-4E7C-9015-6E5A393E00DE}" srcOrd="1" destOrd="0" presId="urn:microsoft.com/office/officeart/2005/8/layout/vProcess5"/>
    <dgm:cxn modelId="{808F9238-48B1-4BB2-9E55-00668A8BBF2D}" type="presOf" srcId="{DA08D22E-6CCF-4B32-A9B1-D3B2909AE6C5}" destId="{1FCB2DB2-E25D-46C4-946E-26B71E2CB59C}" srcOrd="0" destOrd="0" presId="urn:microsoft.com/office/officeart/2005/8/layout/vProcess5"/>
    <dgm:cxn modelId="{41062C4D-E1C3-4696-A6BD-679D4ED2CA10}" type="presOf" srcId="{20ED41F8-BE4F-4253-A81A-03393CD25743}" destId="{ABC4ABFA-2703-462C-8AFC-0B1A47146255}" srcOrd="0" destOrd="0" presId="urn:microsoft.com/office/officeart/2005/8/layout/vProcess5"/>
    <dgm:cxn modelId="{F5C58F6F-9ACC-43E8-8FBC-979A6CF1CBD4}" type="presOf" srcId="{DB554F0E-1B97-4B0D-A7B7-B2F3C8844432}" destId="{001C1D9C-A824-44D0-ABF6-D23FB56B1B15}" srcOrd="0" destOrd="0" presId="urn:microsoft.com/office/officeart/2005/8/layout/vProcess5"/>
    <dgm:cxn modelId="{B90D359C-BAC5-4214-B455-91BA6E468D53}" type="presOf" srcId="{1D3F9BC2-E150-40F6-A629-AE12A1095996}" destId="{96022A39-14CC-4EF8-90BE-CBFCC120587B}" srcOrd="0" destOrd="0" presId="urn:microsoft.com/office/officeart/2005/8/layout/vProcess5"/>
    <dgm:cxn modelId="{8815A8CF-9347-4553-9C4D-B029FA981513}" type="presOf" srcId="{5D06B6A6-54C3-4FE6-ACF3-F7CA43F27F0E}" destId="{B53443D0-4446-4DD3-B280-359E127ECE8B}" srcOrd="1" destOrd="0" presId="urn:microsoft.com/office/officeart/2005/8/layout/vProcess5"/>
    <dgm:cxn modelId="{8CE581D8-2DA1-48E6-A116-E816930F6FD1}" type="presOf" srcId="{8BDD8CE3-F630-41B8-A42D-0242C9256B25}" destId="{8EDF87F2-233F-42BC-812A-4DBDB7C3E7F3}" srcOrd="0" destOrd="0" presId="urn:microsoft.com/office/officeart/2005/8/layout/vProcess5"/>
    <dgm:cxn modelId="{9F371EE1-C98D-464D-BEF5-043EF75E270A}" srcId="{20ED41F8-BE4F-4253-A81A-03393CD25743}" destId="{5D06B6A6-54C3-4FE6-ACF3-F7CA43F27F0E}" srcOrd="0" destOrd="0" parTransId="{60F25765-172B-44A0-9CA8-DCB1B14D3CC6}" sibTransId="{1D3F9BC2-E150-40F6-A629-AE12A1095996}"/>
    <dgm:cxn modelId="{18E522E4-D42D-4095-832B-831D5D8A5D65}" srcId="{20ED41F8-BE4F-4253-A81A-03393CD25743}" destId="{8BDD8CE3-F630-41B8-A42D-0242C9256B25}" srcOrd="1" destOrd="0" parTransId="{34231024-893C-40A7-A4FF-06D893499190}" sibTransId="{DA08D22E-6CCF-4B32-A9B1-D3B2909AE6C5}"/>
    <dgm:cxn modelId="{4448E5F9-7A1D-4C3A-A5BA-69C6F8D7FFDC}" type="presOf" srcId="{5D06B6A6-54C3-4FE6-ACF3-F7CA43F27F0E}" destId="{147A2A92-3B5E-4069-AB05-D84F5A9D0025}" srcOrd="0" destOrd="0" presId="urn:microsoft.com/office/officeart/2005/8/layout/vProcess5"/>
    <dgm:cxn modelId="{78351C12-8AFF-4146-87E3-A18C2868B73A}" type="presParOf" srcId="{ABC4ABFA-2703-462C-8AFC-0B1A47146255}" destId="{B1B76431-F6F7-4F9A-BC72-12DCB6274A46}" srcOrd="0" destOrd="0" presId="urn:microsoft.com/office/officeart/2005/8/layout/vProcess5"/>
    <dgm:cxn modelId="{D33F0D78-234A-43A6-A616-DF15721F957E}" type="presParOf" srcId="{ABC4ABFA-2703-462C-8AFC-0B1A47146255}" destId="{147A2A92-3B5E-4069-AB05-D84F5A9D0025}" srcOrd="1" destOrd="0" presId="urn:microsoft.com/office/officeart/2005/8/layout/vProcess5"/>
    <dgm:cxn modelId="{B025E75B-BCC7-4038-8F78-4803BF8FF27F}" type="presParOf" srcId="{ABC4ABFA-2703-462C-8AFC-0B1A47146255}" destId="{8EDF87F2-233F-42BC-812A-4DBDB7C3E7F3}" srcOrd="2" destOrd="0" presId="urn:microsoft.com/office/officeart/2005/8/layout/vProcess5"/>
    <dgm:cxn modelId="{89082ECF-A693-40E3-9787-B6684DB52EFC}" type="presParOf" srcId="{ABC4ABFA-2703-462C-8AFC-0B1A47146255}" destId="{001C1D9C-A824-44D0-ABF6-D23FB56B1B15}" srcOrd="3" destOrd="0" presId="urn:microsoft.com/office/officeart/2005/8/layout/vProcess5"/>
    <dgm:cxn modelId="{C6B61986-9225-4360-8485-58A6F2BF9931}" type="presParOf" srcId="{ABC4ABFA-2703-462C-8AFC-0B1A47146255}" destId="{96022A39-14CC-4EF8-90BE-CBFCC120587B}" srcOrd="4" destOrd="0" presId="urn:microsoft.com/office/officeart/2005/8/layout/vProcess5"/>
    <dgm:cxn modelId="{831BCDB1-FBDB-4EE4-85FE-B8EF599CDF32}" type="presParOf" srcId="{ABC4ABFA-2703-462C-8AFC-0B1A47146255}" destId="{1FCB2DB2-E25D-46C4-946E-26B71E2CB59C}" srcOrd="5" destOrd="0" presId="urn:microsoft.com/office/officeart/2005/8/layout/vProcess5"/>
    <dgm:cxn modelId="{DB423D3B-D709-4504-9AB8-3B997D0E56D2}" type="presParOf" srcId="{ABC4ABFA-2703-462C-8AFC-0B1A47146255}" destId="{B53443D0-4446-4DD3-B280-359E127ECE8B}" srcOrd="6" destOrd="0" presId="urn:microsoft.com/office/officeart/2005/8/layout/vProcess5"/>
    <dgm:cxn modelId="{B2652E3B-C5F6-4696-957F-818BC5BA3276}" type="presParOf" srcId="{ABC4ABFA-2703-462C-8AFC-0B1A47146255}" destId="{D74FA68C-A945-4548-9976-8F18C6BBAD8D}" srcOrd="7" destOrd="0" presId="urn:microsoft.com/office/officeart/2005/8/layout/vProcess5"/>
    <dgm:cxn modelId="{1E40C38E-3C1A-41B2-9375-8BA9C796AF7A}" type="presParOf" srcId="{ABC4ABFA-2703-462C-8AFC-0B1A47146255}" destId="{0F68B8A1-60AB-4E7C-9015-6E5A393E00D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5C3CCB8-C8E4-4734-A2D2-667AD96C9045}"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E391DFB3-343A-46EA-B103-8CF3F9915079}">
      <dgm:prSet/>
      <dgm:spPr/>
      <dgm:t>
        <a:bodyPr/>
        <a:lstStyle/>
        <a:p>
          <a:r>
            <a:rPr lang="en-US"/>
            <a:t>-  Residual volume - increases by 13% where as expiratory reserve volume  decreased by 25 % after lower abdominal surgery and 60% after upper  abdominal and thoracic surgery.</a:t>
          </a:r>
        </a:p>
      </dgm:t>
    </dgm:pt>
    <dgm:pt modelId="{4CECE0E6-1B50-46FB-8CF2-7210093839C2}" type="parTrans" cxnId="{70C5A212-7DD6-4C0F-91FD-B01CF9738D33}">
      <dgm:prSet/>
      <dgm:spPr/>
      <dgm:t>
        <a:bodyPr/>
        <a:lstStyle/>
        <a:p>
          <a:endParaRPr lang="en-US"/>
        </a:p>
      </dgm:t>
    </dgm:pt>
    <dgm:pt modelId="{F9465DA6-D12F-4A6D-97DA-D03AC606680E}" type="sibTrans" cxnId="{70C5A212-7DD6-4C0F-91FD-B01CF9738D33}">
      <dgm:prSet/>
      <dgm:spPr/>
      <dgm:t>
        <a:bodyPr/>
        <a:lstStyle/>
        <a:p>
          <a:endParaRPr lang="en-US"/>
        </a:p>
      </dgm:t>
    </dgm:pt>
    <dgm:pt modelId="{98E7612D-3485-4086-94FB-260E006AC689}">
      <dgm:prSet/>
      <dgm:spPr/>
      <dgm:t>
        <a:bodyPr/>
        <a:lstStyle/>
        <a:p>
          <a:r>
            <a:rPr lang="en-US"/>
            <a:t>Tidal volume (VT) - decreases by 20% within 24 hrs. After surgery and gradually returns to normal after 2 weeks.</a:t>
          </a:r>
        </a:p>
      </dgm:t>
    </dgm:pt>
    <dgm:pt modelId="{A19C4EEE-F3A1-4427-844E-42343CCD91FF}" type="parTrans" cxnId="{3413FB40-13DC-4148-A92B-3517A35E29F5}">
      <dgm:prSet/>
      <dgm:spPr/>
      <dgm:t>
        <a:bodyPr/>
        <a:lstStyle/>
        <a:p>
          <a:endParaRPr lang="en-US"/>
        </a:p>
      </dgm:t>
    </dgm:pt>
    <dgm:pt modelId="{F919D20F-72BB-4436-AA94-3BBCB53A6A61}" type="sibTrans" cxnId="{3413FB40-13DC-4148-A92B-3517A35E29F5}">
      <dgm:prSet/>
      <dgm:spPr/>
      <dgm:t>
        <a:bodyPr/>
        <a:lstStyle/>
        <a:p>
          <a:endParaRPr lang="en-US"/>
        </a:p>
      </dgm:t>
    </dgm:pt>
    <dgm:pt modelId="{E2C297FF-CF69-4FF0-8965-648E9918CE02}">
      <dgm:prSet/>
      <dgm:spPr/>
      <dgm:t>
        <a:bodyPr/>
        <a:lstStyle/>
        <a:p>
          <a:r>
            <a:rPr lang="en-US"/>
            <a:t>Pulmonary compliance - decreases by 33% with similar reductions in  functional residual capacity (FRC) secondary to small airways closure.</a:t>
          </a:r>
        </a:p>
      </dgm:t>
    </dgm:pt>
    <dgm:pt modelId="{05FB46AE-3672-4482-9C41-46D91DD488C3}" type="parTrans" cxnId="{438FF0B6-19CD-4973-9F6F-1E6312CDEA6D}">
      <dgm:prSet/>
      <dgm:spPr/>
      <dgm:t>
        <a:bodyPr/>
        <a:lstStyle/>
        <a:p>
          <a:endParaRPr lang="en-US"/>
        </a:p>
      </dgm:t>
    </dgm:pt>
    <dgm:pt modelId="{07E6376E-1D92-4EC7-B85C-8A5F9639A5B6}" type="sibTrans" cxnId="{438FF0B6-19CD-4973-9F6F-1E6312CDEA6D}">
      <dgm:prSet/>
      <dgm:spPr/>
      <dgm:t>
        <a:bodyPr/>
        <a:lstStyle/>
        <a:p>
          <a:endParaRPr lang="en-US"/>
        </a:p>
      </dgm:t>
    </dgm:pt>
    <dgm:pt modelId="{ED46DF79-A5B4-479D-8BDF-2E5FF8830A07}" type="pres">
      <dgm:prSet presAssocID="{E5C3CCB8-C8E4-4734-A2D2-667AD96C9045}" presName="outerComposite" presStyleCnt="0">
        <dgm:presLayoutVars>
          <dgm:chMax val="5"/>
          <dgm:dir/>
          <dgm:resizeHandles val="exact"/>
        </dgm:presLayoutVars>
      </dgm:prSet>
      <dgm:spPr/>
    </dgm:pt>
    <dgm:pt modelId="{1D29C645-1E0A-4B32-B2B4-4237C3CE73A0}" type="pres">
      <dgm:prSet presAssocID="{E5C3CCB8-C8E4-4734-A2D2-667AD96C9045}" presName="dummyMaxCanvas" presStyleCnt="0">
        <dgm:presLayoutVars/>
      </dgm:prSet>
      <dgm:spPr/>
    </dgm:pt>
    <dgm:pt modelId="{A5FC8135-70D4-4467-B593-F3DAE96AAA22}" type="pres">
      <dgm:prSet presAssocID="{E5C3CCB8-C8E4-4734-A2D2-667AD96C9045}" presName="ThreeNodes_1" presStyleLbl="node1" presStyleIdx="0" presStyleCnt="3">
        <dgm:presLayoutVars>
          <dgm:bulletEnabled val="1"/>
        </dgm:presLayoutVars>
      </dgm:prSet>
      <dgm:spPr/>
    </dgm:pt>
    <dgm:pt modelId="{86DC2A6C-9E3E-4C65-ADFE-66707E52D15F}" type="pres">
      <dgm:prSet presAssocID="{E5C3CCB8-C8E4-4734-A2D2-667AD96C9045}" presName="ThreeNodes_2" presStyleLbl="node1" presStyleIdx="1" presStyleCnt="3">
        <dgm:presLayoutVars>
          <dgm:bulletEnabled val="1"/>
        </dgm:presLayoutVars>
      </dgm:prSet>
      <dgm:spPr/>
    </dgm:pt>
    <dgm:pt modelId="{29AE1281-DE6A-4A0A-8FD7-C0B63EE2F254}" type="pres">
      <dgm:prSet presAssocID="{E5C3CCB8-C8E4-4734-A2D2-667AD96C9045}" presName="ThreeNodes_3" presStyleLbl="node1" presStyleIdx="2" presStyleCnt="3">
        <dgm:presLayoutVars>
          <dgm:bulletEnabled val="1"/>
        </dgm:presLayoutVars>
      </dgm:prSet>
      <dgm:spPr/>
    </dgm:pt>
    <dgm:pt modelId="{593707BF-19D5-475E-B9E9-43D4E5FEA426}" type="pres">
      <dgm:prSet presAssocID="{E5C3CCB8-C8E4-4734-A2D2-667AD96C9045}" presName="ThreeConn_1-2" presStyleLbl="fgAccFollowNode1" presStyleIdx="0" presStyleCnt="2">
        <dgm:presLayoutVars>
          <dgm:bulletEnabled val="1"/>
        </dgm:presLayoutVars>
      </dgm:prSet>
      <dgm:spPr/>
    </dgm:pt>
    <dgm:pt modelId="{629177E1-F906-440A-A27B-A86007E7B34F}" type="pres">
      <dgm:prSet presAssocID="{E5C3CCB8-C8E4-4734-A2D2-667AD96C9045}" presName="ThreeConn_2-3" presStyleLbl="fgAccFollowNode1" presStyleIdx="1" presStyleCnt="2">
        <dgm:presLayoutVars>
          <dgm:bulletEnabled val="1"/>
        </dgm:presLayoutVars>
      </dgm:prSet>
      <dgm:spPr/>
    </dgm:pt>
    <dgm:pt modelId="{023E8C18-266F-45B4-A6BC-5AC95B5704AF}" type="pres">
      <dgm:prSet presAssocID="{E5C3CCB8-C8E4-4734-A2D2-667AD96C9045}" presName="ThreeNodes_1_text" presStyleLbl="node1" presStyleIdx="2" presStyleCnt="3">
        <dgm:presLayoutVars>
          <dgm:bulletEnabled val="1"/>
        </dgm:presLayoutVars>
      </dgm:prSet>
      <dgm:spPr/>
    </dgm:pt>
    <dgm:pt modelId="{AC7BEAF6-2355-4093-BDD7-FC0F50C4990E}" type="pres">
      <dgm:prSet presAssocID="{E5C3CCB8-C8E4-4734-A2D2-667AD96C9045}" presName="ThreeNodes_2_text" presStyleLbl="node1" presStyleIdx="2" presStyleCnt="3">
        <dgm:presLayoutVars>
          <dgm:bulletEnabled val="1"/>
        </dgm:presLayoutVars>
      </dgm:prSet>
      <dgm:spPr/>
    </dgm:pt>
    <dgm:pt modelId="{B5020298-ADA1-4BA6-9F18-D8C0C6A587C4}" type="pres">
      <dgm:prSet presAssocID="{E5C3CCB8-C8E4-4734-A2D2-667AD96C9045}" presName="ThreeNodes_3_text" presStyleLbl="node1" presStyleIdx="2" presStyleCnt="3">
        <dgm:presLayoutVars>
          <dgm:bulletEnabled val="1"/>
        </dgm:presLayoutVars>
      </dgm:prSet>
      <dgm:spPr/>
    </dgm:pt>
  </dgm:ptLst>
  <dgm:cxnLst>
    <dgm:cxn modelId="{70C5A212-7DD6-4C0F-91FD-B01CF9738D33}" srcId="{E5C3CCB8-C8E4-4734-A2D2-667AD96C9045}" destId="{E391DFB3-343A-46EA-B103-8CF3F9915079}" srcOrd="0" destOrd="0" parTransId="{4CECE0E6-1B50-46FB-8CF2-7210093839C2}" sibTransId="{F9465DA6-D12F-4A6D-97DA-D03AC606680E}"/>
    <dgm:cxn modelId="{96E9A734-B58F-40E7-AEB1-270046B2196A}" type="presOf" srcId="{E391DFB3-343A-46EA-B103-8CF3F9915079}" destId="{023E8C18-266F-45B4-A6BC-5AC95B5704AF}" srcOrd="1" destOrd="0" presId="urn:microsoft.com/office/officeart/2005/8/layout/vProcess5"/>
    <dgm:cxn modelId="{3413FB40-13DC-4148-A92B-3517A35E29F5}" srcId="{E5C3CCB8-C8E4-4734-A2D2-667AD96C9045}" destId="{98E7612D-3485-4086-94FB-260E006AC689}" srcOrd="1" destOrd="0" parTransId="{A19C4EEE-F3A1-4427-844E-42343CCD91FF}" sibTransId="{F919D20F-72BB-4436-AA94-3BBCB53A6A61}"/>
    <dgm:cxn modelId="{8C4E3D41-349C-49A7-BA26-E9B8D6945EB4}" type="presOf" srcId="{98E7612D-3485-4086-94FB-260E006AC689}" destId="{AC7BEAF6-2355-4093-BDD7-FC0F50C4990E}" srcOrd="1" destOrd="0" presId="urn:microsoft.com/office/officeart/2005/8/layout/vProcess5"/>
    <dgm:cxn modelId="{5120238D-A17E-4183-982A-38C97E9A97C0}" type="presOf" srcId="{E2C297FF-CF69-4FF0-8965-648E9918CE02}" destId="{29AE1281-DE6A-4A0A-8FD7-C0B63EE2F254}" srcOrd="0" destOrd="0" presId="urn:microsoft.com/office/officeart/2005/8/layout/vProcess5"/>
    <dgm:cxn modelId="{A6D7CC96-7895-4D9A-8CE7-31D0BC79A570}" type="presOf" srcId="{E391DFB3-343A-46EA-B103-8CF3F9915079}" destId="{A5FC8135-70D4-4467-B593-F3DAE96AAA22}" srcOrd="0" destOrd="0" presId="urn:microsoft.com/office/officeart/2005/8/layout/vProcess5"/>
    <dgm:cxn modelId="{95BE4BA3-D066-40F8-A382-E86A3F463F9B}" type="presOf" srcId="{E2C297FF-CF69-4FF0-8965-648E9918CE02}" destId="{B5020298-ADA1-4BA6-9F18-D8C0C6A587C4}" srcOrd="1" destOrd="0" presId="urn:microsoft.com/office/officeart/2005/8/layout/vProcess5"/>
    <dgm:cxn modelId="{6C1BB0A9-E5A5-4C29-A33C-C8A183FB3AFC}" type="presOf" srcId="{F919D20F-72BB-4436-AA94-3BBCB53A6A61}" destId="{629177E1-F906-440A-A27B-A86007E7B34F}" srcOrd="0" destOrd="0" presId="urn:microsoft.com/office/officeart/2005/8/layout/vProcess5"/>
    <dgm:cxn modelId="{438FF0B6-19CD-4973-9F6F-1E6312CDEA6D}" srcId="{E5C3CCB8-C8E4-4734-A2D2-667AD96C9045}" destId="{E2C297FF-CF69-4FF0-8965-648E9918CE02}" srcOrd="2" destOrd="0" parTransId="{05FB46AE-3672-4482-9C41-46D91DD488C3}" sibTransId="{07E6376E-1D92-4EC7-B85C-8A5F9639A5B6}"/>
    <dgm:cxn modelId="{9A35ABC7-D7C1-4008-A668-0A92945218C8}" type="presOf" srcId="{E5C3CCB8-C8E4-4734-A2D2-667AD96C9045}" destId="{ED46DF79-A5B4-479D-8BDF-2E5FF8830A07}" srcOrd="0" destOrd="0" presId="urn:microsoft.com/office/officeart/2005/8/layout/vProcess5"/>
    <dgm:cxn modelId="{5EB501CE-1521-4B2D-9C80-1E067C9D9334}" type="presOf" srcId="{98E7612D-3485-4086-94FB-260E006AC689}" destId="{86DC2A6C-9E3E-4C65-ADFE-66707E52D15F}" srcOrd="0" destOrd="0" presId="urn:microsoft.com/office/officeart/2005/8/layout/vProcess5"/>
    <dgm:cxn modelId="{9C2D78E2-7AC1-4447-95E0-BD1B9C626933}" type="presOf" srcId="{F9465DA6-D12F-4A6D-97DA-D03AC606680E}" destId="{593707BF-19D5-475E-B9E9-43D4E5FEA426}" srcOrd="0" destOrd="0" presId="urn:microsoft.com/office/officeart/2005/8/layout/vProcess5"/>
    <dgm:cxn modelId="{765DBF0F-C493-4597-AE3E-AE6CBAB66582}" type="presParOf" srcId="{ED46DF79-A5B4-479D-8BDF-2E5FF8830A07}" destId="{1D29C645-1E0A-4B32-B2B4-4237C3CE73A0}" srcOrd="0" destOrd="0" presId="urn:microsoft.com/office/officeart/2005/8/layout/vProcess5"/>
    <dgm:cxn modelId="{5C465908-622A-40A3-9BAD-181902699506}" type="presParOf" srcId="{ED46DF79-A5B4-479D-8BDF-2E5FF8830A07}" destId="{A5FC8135-70D4-4467-B593-F3DAE96AAA22}" srcOrd="1" destOrd="0" presId="urn:microsoft.com/office/officeart/2005/8/layout/vProcess5"/>
    <dgm:cxn modelId="{67CECD6A-DD2E-4539-8003-FBA0FFE1C1D3}" type="presParOf" srcId="{ED46DF79-A5B4-479D-8BDF-2E5FF8830A07}" destId="{86DC2A6C-9E3E-4C65-ADFE-66707E52D15F}" srcOrd="2" destOrd="0" presId="urn:microsoft.com/office/officeart/2005/8/layout/vProcess5"/>
    <dgm:cxn modelId="{833769FC-3377-4F65-BBE5-72F74E69841F}" type="presParOf" srcId="{ED46DF79-A5B4-479D-8BDF-2E5FF8830A07}" destId="{29AE1281-DE6A-4A0A-8FD7-C0B63EE2F254}" srcOrd="3" destOrd="0" presId="urn:microsoft.com/office/officeart/2005/8/layout/vProcess5"/>
    <dgm:cxn modelId="{458E9821-6491-4A0B-B17C-9F002C3E5D23}" type="presParOf" srcId="{ED46DF79-A5B4-479D-8BDF-2E5FF8830A07}" destId="{593707BF-19D5-475E-B9E9-43D4E5FEA426}" srcOrd="4" destOrd="0" presId="urn:microsoft.com/office/officeart/2005/8/layout/vProcess5"/>
    <dgm:cxn modelId="{36299220-9B39-44F5-9EB4-4845FB76F079}" type="presParOf" srcId="{ED46DF79-A5B4-479D-8BDF-2E5FF8830A07}" destId="{629177E1-F906-440A-A27B-A86007E7B34F}" srcOrd="5" destOrd="0" presId="urn:microsoft.com/office/officeart/2005/8/layout/vProcess5"/>
    <dgm:cxn modelId="{C9A9458D-6FE4-4579-B682-EDDDCF5509B7}" type="presParOf" srcId="{ED46DF79-A5B4-479D-8BDF-2E5FF8830A07}" destId="{023E8C18-266F-45B4-A6BC-5AC95B5704AF}" srcOrd="6" destOrd="0" presId="urn:microsoft.com/office/officeart/2005/8/layout/vProcess5"/>
    <dgm:cxn modelId="{5EAFF3F4-5751-4484-90DC-B75D0016F567}" type="presParOf" srcId="{ED46DF79-A5B4-479D-8BDF-2E5FF8830A07}" destId="{AC7BEAF6-2355-4093-BDD7-FC0F50C4990E}" srcOrd="7" destOrd="0" presId="urn:microsoft.com/office/officeart/2005/8/layout/vProcess5"/>
    <dgm:cxn modelId="{D2BA4F47-0889-43A5-A027-D7DC587111B8}" type="presParOf" srcId="{ED46DF79-A5B4-479D-8BDF-2E5FF8830A07}" destId="{B5020298-ADA1-4BA6-9F18-D8C0C6A587C4}"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0F88EFA-7622-409F-A7ED-2EEA77526C54}"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2DAD023C-BF66-43D1-97F3-3B08FF4A4A31}">
      <dgm:prSet/>
      <dgm:spPr/>
      <dgm:t>
        <a:bodyPr/>
        <a:lstStyle/>
        <a:p>
          <a:r>
            <a:rPr lang="en-US"/>
            <a:t>This nuclear medicine procedure is done to evaluate respectability of lung tissue on patients with lung carcinoma or lung transplant. </a:t>
          </a:r>
        </a:p>
      </dgm:t>
    </dgm:pt>
    <dgm:pt modelId="{663CD487-4798-4744-80EA-19EF92B08BAE}" type="parTrans" cxnId="{052009D5-A168-407A-B829-9057F02D6734}">
      <dgm:prSet/>
      <dgm:spPr/>
      <dgm:t>
        <a:bodyPr/>
        <a:lstStyle/>
        <a:p>
          <a:endParaRPr lang="en-US"/>
        </a:p>
      </dgm:t>
    </dgm:pt>
    <dgm:pt modelId="{236424C8-716A-47AC-9075-BFB25C35C785}" type="sibTrans" cxnId="{052009D5-A168-407A-B829-9057F02D6734}">
      <dgm:prSet/>
      <dgm:spPr/>
      <dgm:t>
        <a:bodyPr/>
        <a:lstStyle/>
        <a:p>
          <a:endParaRPr lang="en-US"/>
        </a:p>
      </dgm:t>
    </dgm:pt>
    <dgm:pt modelId="{30AA2BEE-9030-4C8D-9B88-86CBF93B5747}">
      <dgm:prSet/>
      <dgm:spPr/>
      <dgm:t>
        <a:bodyPr/>
        <a:lstStyle/>
        <a:p>
          <a:r>
            <a:rPr lang="en-US"/>
            <a:t>The concern relates to whether there is enough viable lung tissue following the removal of cancerous lung tissue.</a:t>
          </a:r>
        </a:p>
      </dgm:t>
    </dgm:pt>
    <dgm:pt modelId="{4C4F80EE-F824-4DE3-A8BD-047770CCCD1D}" type="parTrans" cxnId="{2BF60365-016F-43B5-A761-869097C7E99D}">
      <dgm:prSet/>
      <dgm:spPr/>
      <dgm:t>
        <a:bodyPr/>
        <a:lstStyle/>
        <a:p>
          <a:endParaRPr lang="en-US"/>
        </a:p>
      </dgm:t>
    </dgm:pt>
    <dgm:pt modelId="{0CC81474-4775-49B3-B9BE-360AD3F065F6}" type="sibTrans" cxnId="{2BF60365-016F-43B5-A761-869097C7E99D}">
      <dgm:prSet/>
      <dgm:spPr/>
      <dgm:t>
        <a:bodyPr/>
        <a:lstStyle/>
        <a:p>
          <a:endParaRPr lang="en-US"/>
        </a:p>
      </dgm:t>
    </dgm:pt>
    <dgm:pt modelId="{5D4BA7FC-754A-4A2D-9AED-1BAAEFB4D76F}">
      <dgm:prSet/>
      <dgm:spPr/>
      <dgm:t>
        <a:bodyPr/>
        <a:lstStyle/>
        <a:p>
          <a:r>
            <a:rPr lang="en-US"/>
            <a:t>The rationale to perform the thoracotomy is based on:</a:t>
          </a:r>
        </a:p>
      </dgm:t>
    </dgm:pt>
    <dgm:pt modelId="{0B1B8FA4-D2A6-49AC-8976-73959420EFB7}" type="parTrans" cxnId="{0C36A954-E62F-49CC-A15C-41B848D514C6}">
      <dgm:prSet/>
      <dgm:spPr/>
      <dgm:t>
        <a:bodyPr/>
        <a:lstStyle/>
        <a:p>
          <a:endParaRPr lang="en-US"/>
        </a:p>
      </dgm:t>
    </dgm:pt>
    <dgm:pt modelId="{D440271D-F8FC-4991-89D1-8042175553CB}" type="sibTrans" cxnId="{0C36A954-E62F-49CC-A15C-41B848D514C6}">
      <dgm:prSet/>
      <dgm:spPr/>
      <dgm:t>
        <a:bodyPr/>
        <a:lstStyle/>
        <a:p>
          <a:endParaRPr lang="en-US"/>
        </a:p>
      </dgm:t>
    </dgm:pt>
    <dgm:pt modelId="{DBB528F0-7516-4F79-AA07-A6B7BA0C785A}">
      <dgm:prSet/>
      <dgm:spPr/>
      <dgm:t>
        <a:bodyPr/>
        <a:lstStyle/>
        <a:p>
          <a:r>
            <a:rPr lang="en-US"/>
            <a:t>Resecting the tumor</a:t>
          </a:r>
        </a:p>
      </dgm:t>
    </dgm:pt>
    <dgm:pt modelId="{CB42D28F-18D8-45D6-B71A-02A822BF3B74}" type="parTrans" cxnId="{9983673D-B955-4BBB-BFE2-8EAC5B303AFB}">
      <dgm:prSet/>
      <dgm:spPr/>
      <dgm:t>
        <a:bodyPr/>
        <a:lstStyle/>
        <a:p>
          <a:endParaRPr lang="en-US"/>
        </a:p>
      </dgm:t>
    </dgm:pt>
    <dgm:pt modelId="{D6801E86-8E86-4807-940A-6AD79345306B}" type="sibTrans" cxnId="{9983673D-B955-4BBB-BFE2-8EAC5B303AFB}">
      <dgm:prSet/>
      <dgm:spPr/>
      <dgm:t>
        <a:bodyPr/>
        <a:lstStyle/>
        <a:p>
          <a:endParaRPr lang="en-US"/>
        </a:p>
      </dgm:t>
    </dgm:pt>
    <dgm:pt modelId="{18FC71A8-CD2D-4D64-A2A6-FAE8E0E604BA}">
      <dgm:prSet/>
      <dgm:spPr/>
      <dgm:t>
        <a:bodyPr/>
        <a:lstStyle/>
        <a:p>
          <a:r>
            <a:rPr lang="en-US"/>
            <a:t>Patient's ability to tolerate the surgical results</a:t>
          </a:r>
        </a:p>
      </dgm:t>
    </dgm:pt>
    <dgm:pt modelId="{8E77B3B2-C987-4A99-8E47-2D5AF5D41450}" type="parTrans" cxnId="{CACD31D7-0D2F-4141-9E54-63F362447985}">
      <dgm:prSet/>
      <dgm:spPr/>
      <dgm:t>
        <a:bodyPr/>
        <a:lstStyle/>
        <a:p>
          <a:endParaRPr lang="en-US"/>
        </a:p>
      </dgm:t>
    </dgm:pt>
    <dgm:pt modelId="{C9EA5BE2-7049-4CA2-B96C-FA5606BA9CCD}" type="sibTrans" cxnId="{CACD31D7-0D2F-4141-9E54-63F362447985}">
      <dgm:prSet/>
      <dgm:spPr/>
      <dgm:t>
        <a:bodyPr/>
        <a:lstStyle/>
        <a:p>
          <a:endParaRPr lang="en-US"/>
        </a:p>
      </dgm:t>
    </dgm:pt>
    <dgm:pt modelId="{0D975F9C-C095-401F-9CCD-5026841D97B1}" type="pres">
      <dgm:prSet presAssocID="{C0F88EFA-7622-409F-A7ED-2EEA77526C54}" presName="Name0" presStyleCnt="0">
        <dgm:presLayoutVars>
          <dgm:dir/>
          <dgm:animLvl val="lvl"/>
          <dgm:resizeHandles val="exact"/>
        </dgm:presLayoutVars>
      </dgm:prSet>
      <dgm:spPr/>
    </dgm:pt>
    <dgm:pt modelId="{94ACE96A-AE4F-4D81-ACA0-5A1336817056}" type="pres">
      <dgm:prSet presAssocID="{5D4BA7FC-754A-4A2D-9AED-1BAAEFB4D76F}" presName="boxAndChildren" presStyleCnt="0"/>
      <dgm:spPr/>
    </dgm:pt>
    <dgm:pt modelId="{4C873DFD-8A97-4A8F-8D77-D48D6A525F01}" type="pres">
      <dgm:prSet presAssocID="{5D4BA7FC-754A-4A2D-9AED-1BAAEFB4D76F}" presName="parentTextBox" presStyleLbl="node1" presStyleIdx="0" presStyleCnt="3"/>
      <dgm:spPr/>
    </dgm:pt>
    <dgm:pt modelId="{ADCB8301-3DFC-4432-B530-A944CDFBCC62}" type="pres">
      <dgm:prSet presAssocID="{5D4BA7FC-754A-4A2D-9AED-1BAAEFB4D76F}" presName="entireBox" presStyleLbl="node1" presStyleIdx="0" presStyleCnt="3"/>
      <dgm:spPr/>
    </dgm:pt>
    <dgm:pt modelId="{5B019A39-C620-4766-A2DD-87525A24440B}" type="pres">
      <dgm:prSet presAssocID="{5D4BA7FC-754A-4A2D-9AED-1BAAEFB4D76F}" presName="descendantBox" presStyleCnt="0"/>
      <dgm:spPr/>
    </dgm:pt>
    <dgm:pt modelId="{5F622466-7DD2-4592-B86F-AA0DD813166E}" type="pres">
      <dgm:prSet presAssocID="{DBB528F0-7516-4F79-AA07-A6B7BA0C785A}" presName="childTextBox" presStyleLbl="fgAccFollowNode1" presStyleIdx="0" presStyleCnt="2">
        <dgm:presLayoutVars>
          <dgm:bulletEnabled val="1"/>
        </dgm:presLayoutVars>
      </dgm:prSet>
      <dgm:spPr/>
    </dgm:pt>
    <dgm:pt modelId="{6305E99D-DCF7-4EBC-82B4-12919DAC1E4C}" type="pres">
      <dgm:prSet presAssocID="{18FC71A8-CD2D-4D64-A2A6-FAE8E0E604BA}" presName="childTextBox" presStyleLbl="fgAccFollowNode1" presStyleIdx="1" presStyleCnt="2">
        <dgm:presLayoutVars>
          <dgm:bulletEnabled val="1"/>
        </dgm:presLayoutVars>
      </dgm:prSet>
      <dgm:spPr/>
    </dgm:pt>
    <dgm:pt modelId="{1CF48CA4-2743-4474-83C4-8B54BD9B42EC}" type="pres">
      <dgm:prSet presAssocID="{0CC81474-4775-49B3-B9BE-360AD3F065F6}" presName="sp" presStyleCnt="0"/>
      <dgm:spPr/>
    </dgm:pt>
    <dgm:pt modelId="{D7BD6DF6-65DD-4C81-9546-22B0D3095A73}" type="pres">
      <dgm:prSet presAssocID="{30AA2BEE-9030-4C8D-9B88-86CBF93B5747}" presName="arrowAndChildren" presStyleCnt="0"/>
      <dgm:spPr/>
    </dgm:pt>
    <dgm:pt modelId="{3F6C6384-058D-4290-8FC3-B98BED500E66}" type="pres">
      <dgm:prSet presAssocID="{30AA2BEE-9030-4C8D-9B88-86CBF93B5747}" presName="parentTextArrow" presStyleLbl="node1" presStyleIdx="1" presStyleCnt="3"/>
      <dgm:spPr/>
    </dgm:pt>
    <dgm:pt modelId="{41726B51-2E64-43D4-9F3C-1C23D2F6B1A7}" type="pres">
      <dgm:prSet presAssocID="{236424C8-716A-47AC-9075-BFB25C35C785}" presName="sp" presStyleCnt="0"/>
      <dgm:spPr/>
    </dgm:pt>
    <dgm:pt modelId="{C3E569A0-FB2F-47F9-8899-9D670BC9F46B}" type="pres">
      <dgm:prSet presAssocID="{2DAD023C-BF66-43D1-97F3-3B08FF4A4A31}" presName="arrowAndChildren" presStyleCnt="0"/>
      <dgm:spPr/>
    </dgm:pt>
    <dgm:pt modelId="{2AF1F5FF-3BA6-486D-B216-C0ECBF2C8C15}" type="pres">
      <dgm:prSet presAssocID="{2DAD023C-BF66-43D1-97F3-3B08FF4A4A31}" presName="parentTextArrow" presStyleLbl="node1" presStyleIdx="2" presStyleCnt="3"/>
      <dgm:spPr/>
    </dgm:pt>
  </dgm:ptLst>
  <dgm:cxnLst>
    <dgm:cxn modelId="{A9157802-E258-45FE-9EDC-0AC6980B653F}" type="presOf" srcId="{5D4BA7FC-754A-4A2D-9AED-1BAAEFB4D76F}" destId="{ADCB8301-3DFC-4432-B530-A944CDFBCC62}" srcOrd="1" destOrd="0" presId="urn:microsoft.com/office/officeart/2005/8/layout/process4"/>
    <dgm:cxn modelId="{9983673D-B955-4BBB-BFE2-8EAC5B303AFB}" srcId="{5D4BA7FC-754A-4A2D-9AED-1BAAEFB4D76F}" destId="{DBB528F0-7516-4F79-AA07-A6B7BA0C785A}" srcOrd="0" destOrd="0" parTransId="{CB42D28F-18D8-45D6-B71A-02A822BF3B74}" sibTransId="{D6801E86-8E86-4807-940A-6AD79345306B}"/>
    <dgm:cxn modelId="{2BF60365-016F-43B5-A761-869097C7E99D}" srcId="{C0F88EFA-7622-409F-A7ED-2EEA77526C54}" destId="{30AA2BEE-9030-4C8D-9B88-86CBF93B5747}" srcOrd="1" destOrd="0" parTransId="{4C4F80EE-F824-4DE3-A8BD-047770CCCD1D}" sibTransId="{0CC81474-4775-49B3-B9BE-360AD3F065F6}"/>
    <dgm:cxn modelId="{904AAC6F-E483-4024-A3C6-CDE0CBED0FE9}" type="presOf" srcId="{18FC71A8-CD2D-4D64-A2A6-FAE8E0E604BA}" destId="{6305E99D-DCF7-4EBC-82B4-12919DAC1E4C}" srcOrd="0" destOrd="0" presId="urn:microsoft.com/office/officeart/2005/8/layout/process4"/>
    <dgm:cxn modelId="{0C36A954-E62F-49CC-A15C-41B848D514C6}" srcId="{C0F88EFA-7622-409F-A7ED-2EEA77526C54}" destId="{5D4BA7FC-754A-4A2D-9AED-1BAAEFB4D76F}" srcOrd="2" destOrd="0" parTransId="{0B1B8FA4-D2A6-49AC-8976-73959420EFB7}" sibTransId="{D440271D-F8FC-4991-89D1-8042175553CB}"/>
    <dgm:cxn modelId="{041ADE7B-C56D-4B6F-BF73-67B3648806B5}" type="presOf" srcId="{C0F88EFA-7622-409F-A7ED-2EEA77526C54}" destId="{0D975F9C-C095-401F-9CCD-5026841D97B1}" srcOrd="0" destOrd="0" presId="urn:microsoft.com/office/officeart/2005/8/layout/process4"/>
    <dgm:cxn modelId="{F66DE78B-708F-4106-8E6B-9F5C0A43BE94}" type="presOf" srcId="{5D4BA7FC-754A-4A2D-9AED-1BAAEFB4D76F}" destId="{4C873DFD-8A97-4A8F-8D77-D48D6A525F01}" srcOrd="0" destOrd="0" presId="urn:microsoft.com/office/officeart/2005/8/layout/process4"/>
    <dgm:cxn modelId="{B549478E-D1BA-4733-9762-BD7628F0FBCB}" type="presOf" srcId="{DBB528F0-7516-4F79-AA07-A6B7BA0C785A}" destId="{5F622466-7DD2-4592-B86F-AA0DD813166E}" srcOrd="0" destOrd="0" presId="urn:microsoft.com/office/officeart/2005/8/layout/process4"/>
    <dgm:cxn modelId="{CAA0FBAA-B43E-4467-A172-0E135401ED9D}" type="presOf" srcId="{2DAD023C-BF66-43D1-97F3-3B08FF4A4A31}" destId="{2AF1F5FF-3BA6-486D-B216-C0ECBF2C8C15}" srcOrd="0" destOrd="0" presId="urn:microsoft.com/office/officeart/2005/8/layout/process4"/>
    <dgm:cxn modelId="{052009D5-A168-407A-B829-9057F02D6734}" srcId="{C0F88EFA-7622-409F-A7ED-2EEA77526C54}" destId="{2DAD023C-BF66-43D1-97F3-3B08FF4A4A31}" srcOrd="0" destOrd="0" parTransId="{663CD487-4798-4744-80EA-19EF92B08BAE}" sibTransId="{236424C8-716A-47AC-9075-BFB25C35C785}"/>
    <dgm:cxn modelId="{CACD31D7-0D2F-4141-9E54-63F362447985}" srcId="{5D4BA7FC-754A-4A2D-9AED-1BAAEFB4D76F}" destId="{18FC71A8-CD2D-4D64-A2A6-FAE8E0E604BA}" srcOrd="1" destOrd="0" parTransId="{8E77B3B2-C987-4A99-8E47-2D5AF5D41450}" sibTransId="{C9EA5BE2-7049-4CA2-B96C-FA5606BA9CCD}"/>
    <dgm:cxn modelId="{44E7FAEB-603E-4D46-938A-795FD1945E8D}" type="presOf" srcId="{30AA2BEE-9030-4C8D-9B88-86CBF93B5747}" destId="{3F6C6384-058D-4290-8FC3-B98BED500E66}" srcOrd="0" destOrd="0" presId="urn:microsoft.com/office/officeart/2005/8/layout/process4"/>
    <dgm:cxn modelId="{A23BDC09-EAA7-4F83-98BA-A9831EE81D5A}" type="presParOf" srcId="{0D975F9C-C095-401F-9CCD-5026841D97B1}" destId="{94ACE96A-AE4F-4D81-ACA0-5A1336817056}" srcOrd="0" destOrd="0" presId="urn:microsoft.com/office/officeart/2005/8/layout/process4"/>
    <dgm:cxn modelId="{73A42732-73A2-4FF6-ADB4-96697505A3F8}" type="presParOf" srcId="{94ACE96A-AE4F-4D81-ACA0-5A1336817056}" destId="{4C873DFD-8A97-4A8F-8D77-D48D6A525F01}" srcOrd="0" destOrd="0" presId="urn:microsoft.com/office/officeart/2005/8/layout/process4"/>
    <dgm:cxn modelId="{37C697D1-B9F9-48B1-B4E5-F65B8F3DA506}" type="presParOf" srcId="{94ACE96A-AE4F-4D81-ACA0-5A1336817056}" destId="{ADCB8301-3DFC-4432-B530-A944CDFBCC62}" srcOrd="1" destOrd="0" presId="urn:microsoft.com/office/officeart/2005/8/layout/process4"/>
    <dgm:cxn modelId="{4BC7A234-988D-47C3-AF9C-F265A68E35B0}" type="presParOf" srcId="{94ACE96A-AE4F-4D81-ACA0-5A1336817056}" destId="{5B019A39-C620-4766-A2DD-87525A24440B}" srcOrd="2" destOrd="0" presId="urn:microsoft.com/office/officeart/2005/8/layout/process4"/>
    <dgm:cxn modelId="{507F3764-DF30-4A66-9D2C-CB51D6433BE8}" type="presParOf" srcId="{5B019A39-C620-4766-A2DD-87525A24440B}" destId="{5F622466-7DD2-4592-B86F-AA0DD813166E}" srcOrd="0" destOrd="0" presId="urn:microsoft.com/office/officeart/2005/8/layout/process4"/>
    <dgm:cxn modelId="{3F226449-26B8-4AC0-8F87-7D6F8CF4BBD2}" type="presParOf" srcId="{5B019A39-C620-4766-A2DD-87525A24440B}" destId="{6305E99D-DCF7-4EBC-82B4-12919DAC1E4C}" srcOrd="1" destOrd="0" presId="urn:microsoft.com/office/officeart/2005/8/layout/process4"/>
    <dgm:cxn modelId="{B0AB7F4C-BAFF-4B28-AF49-22FBB0E59B80}" type="presParOf" srcId="{0D975F9C-C095-401F-9CCD-5026841D97B1}" destId="{1CF48CA4-2743-4474-83C4-8B54BD9B42EC}" srcOrd="1" destOrd="0" presId="urn:microsoft.com/office/officeart/2005/8/layout/process4"/>
    <dgm:cxn modelId="{4BFA9FE5-776E-4572-BBFA-0ABF971BEBC2}" type="presParOf" srcId="{0D975F9C-C095-401F-9CCD-5026841D97B1}" destId="{D7BD6DF6-65DD-4C81-9546-22B0D3095A73}" srcOrd="2" destOrd="0" presId="urn:microsoft.com/office/officeart/2005/8/layout/process4"/>
    <dgm:cxn modelId="{FE7F141B-EC42-4DBC-B311-A0DD7A83BB2E}" type="presParOf" srcId="{D7BD6DF6-65DD-4C81-9546-22B0D3095A73}" destId="{3F6C6384-058D-4290-8FC3-B98BED500E66}" srcOrd="0" destOrd="0" presId="urn:microsoft.com/office/officeart/2005/8/layout/process4"/>
    <dgm:cxn modelId="{53E79CBA-A2FE-4BA5-A2A1-6C34E5905C48}" type="presParOf" srcId="{0D975F9C-C095-401F-9CCD-5026841D97B1}" destId="{41726B51-2E64-43D4-9F3C-1C23D2F6B1A7}" srcOrd="3" destOrd="0" presId="urn:microsoft.com/office/officeart/2005/8/layout/process4"/>
    <dgm:cxn modelId="{4D29BDC8-FBAB-44AE-BEC4-8F86DCA99938}" type="presParOf" srcId="{0D975F9C-C095-401F-9CCD-5026841D97B1}" destId="{C3E569A0-FB2F-47F9-8899-9D670BC9F46B}" srcOrd="4" destOrd="0" presId="urn:microsoft.com/office/officeart/2005/8/layout/process4"/>
    <dgm:cxn modelId="{56F2F500-4EF4-4DE3-B625-8F22CDF37E04}" type="presParOf" srcId="{C3E569A0-FB2F-47F9-8899-9D670BC9F46B}" destId="{2AF1F5FF-3BA6-486D-B216-C0ECBF2C8C1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71D1A26-6389-47A9-9648-BC046E36DFE6}"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BB331B5-BDE0-4AEB-8B96-DE3848CC3A1D}">
      <dgm:prSet/>
      <dgm:spPr/>
      <dgm:t>
        <a:bodyPr/>
        <a:lstStyle/>
        <a:p>
          <a:r>
            <a:rPr lang="en-US"/>
            <a:t>The involved lung tissue may contribute</a:t>
          </a:r>
          <a:br>
            <a:rPr lang="en-US"/>
          </a:br>
          <a:r>
            <a:rPr lang="en-US"/>
            <a:t>little to existing lung function, and therefore its removal may not cause further deterioration of pulmonary function. </a:t>
          </a:r>
        </a:p>
      </dgm:t>
    </dgm:pt>
    <dgm:pt modelId="{DBEEAB40-0A30-4F45-87B5-36BF403438A4}" type="parTrans" cxnId="{8B131CC6-81D8-42D8-922B-38854C6F27E8}">
      <dgm:prSet/>
      <dgm:spPr/>
      <dgm:t>
        <a:bodyPr/>
        <a:lstStyle/>
        <a:p>
          <a:endParaRPr lang="en-US"/>
        </a:p>
      </dgm:t>
    </dgm:pt>
    <dgm:pt modelId="{06C8AE23-7700-4D51-8F6A-C4A79C2BF23B}" type="sibTrans" cxnId="{8B131CC6-81D8-42D8-922B-38854C6F27E8}">
      <dgm:prSet/>
      <dgm:spPr/>
      <dgm:t>
        <a:bodyPr/>
        <a:lstStyle/>
        <a:p>
          <a:endParaRPr lang="en-US"/>
        </a:p>
      </dgm:t>
    </dgm:pt>
    <dgm:pt modelId="{9640B9F8-E6E3-40EA-A929-75BAF5E75706}">
      <dgm:prSet/>
      <dgm:spPr/>
      <dgm:t>
        <a:bodyPr/>
        <a:lstStyle/>
        <a:p>
          <a:r>
            <a:rPr lang="en-US"/>
            <a:t>Thus some patients who would be denied operations based on the initial results may be considered surgical candidates after more specific evaluation.</a:t>
          </a:r>
        </a:p>
      </dgm:t>
    </dgm:pt>
    <dgm:pt modelId="{037C4032-7192-4363-8861-CCFFC0CD908F}" type="parTrans" cxnId="{708E1D8B-55B8-4D65-A8E0-EC0943816449}">
      <dgm:prSet/>
      <dgm:spPr/>
      <dgm:t>
        <a:bodyPr/>
        <a:lstStyle/>
        <a:p>
          <a:endParaRPr lang="en-US"/>
        </a:p>
      </dgm:t>
    </dgm:pt>
    <dgm:pt modelId="{5A64B927-5848-460B-9EE1-756DF8B9D6A4}" type="sibTrans" cxnId="{708E1D8B-55B8-4D65-A8E0-EC0943816449}">
      <dgm:prSet/>
      <dgm:spPr/>
      <dgm:t>
        <a:bodyPr/>
        <a:lstStyle/>
        <a:p>
          <a:endParaRPr lang="en-US"/>
        </a:p>
      </dgm:t>
    </dgm:pt>
    <dgm:pt modelId="{C21B0848-55FD-4A68-B219-DCDD8B5EDAAC}" type="pres">
      <dgm:prSet presAssocID="{971D1A26-6389-47A9-9648-BC046E36DFE6}" presName="linear" presStyleCnt="0">
        <dgm:presLayoutVars>
          <dgm:animLvl val="lvl"/>
          <dgm:resizeHandles val="exact"/>
        </dgm:presLayoutVars>
      </dgm:prSet>
      <dgm:spPr/>
    </dgm:pt>
    <dgm:pt modelId="{E7874259-0593-4AE4-9254-D75C99FF8509}" type="pres">
      <dgm:prSet presAssocID="{7BB331B5-BDE0-4AEB-8B96-DE3848CC3A1D}" presName="parentText" presStyleLbl="node1" presStyleIdx="0" presStyleCnt="2">
        <dgm:presLayoutVars>
          <dgm:chMax val="0"/>
          <dgm:bulletEnabled val="1"/>
        </dgm:presLayoutVars>
      </dgm:prSet>
      <dgm:spPr/>
    </dgm:pt>
    <dgm:pt modelId="{8584829F-2B2D-4321-A247-D683773A67C1}" type="pres">
      <dgm:prSet presAssocID="{06C8AE23-7700-4D51-8F6A-C4A79C2BF23B}" presName="spacer" presStyleCnt="0"/>
      <dgm:spPr/>
    </dgm:pt>
    <dgm:pt modelId="{5CF1544F-61A8-4B1E-8A1D-D58FE0635F55}" type="pres">
      <dgm:prSet presAssocID="{9640B9F8-E6E3-40EA-A929-75BAF5E75706}" presName="parentText" presStyleLbl="node1" presStyleIdx="1" presStyleCnt="2">
        <dgm:presLayoutVars>
          <dgm:chMax val="0"/>
          <dgm:bulletEnabled val="1"/>
        </dgm:presLayoutVars>
      </dgm:prSet>
      <dgm:spPr/>
    </dgm:pt>
  </dgm:ptLst>
  <dgm:cxnLst>
    <dgm:cxn modelId="{C0782317-89AD-47F0-8860-F803E3B7E48F}" type="presOf" srcId="{971D1A26-6389-47A9-9648-BC046E36DFE6}" destId="{C21B0848-55FD-4A68-B219-DCDD8B5EDAAC}" srcOrd="0" destOrd="0" presId="urn:microsoft.com/office/officeart/2005/8/layout/vList2"/>
    <dgm:cxn modelId="{BA6A7E3D-F491-4386-A00F-0F3CED6864DD}" type="presOf" srcId="{7BB331B5-BDE0-4AEB-8B96-DE3848CC3A1D}" destId="{E7874259-0593-4AE4-9254-D75C99FF8509}" srcOrd="0" destOrd="0" presId="urn:microsoft.com/office/officeart/2005/8/layout/vList2"/>
    <dgm:cxn modelId="{8DF0F37F-1CFD-4D07-AC80-65E2228D66E0}" type="presOf" srcId="{9640B9F8-E6E3-40EA-A929-75BAF5E75706}" destId="{5CF1544F-61A8-4B1E-8A1D-D58FE0635F55}" srcOrd="0" destOrd="0" presId="urn:microsoft.com/office/officeart/2005/8/layout/vList2"/>
    <dgm:cxn modelId="{708E1D8B-55B8-4D65-A8E0-EC0943816449}" srcId="{971D1A26-6389-47A9-9648-BC046E36DFE6}" destId="{9640B9F8-E6E3-40EA-A929-75BAF5E75706}" srcOrd="1" destOrd="0" parTransId="{037C4032-7192-4363-8861-CCFFC0CD908F}" sibTransId="{5A64B927-5848-460B-9EE1-756DF8B9D6A4}"/>
    <dgm:cxn modelId="{8B131CC6-81D8-42D8-922B-38854C6F27E8}" srcId="{971D1A26-6389-47A9-9648-BC046E36DFE6}" destId="{7BB331B5-BDE0-4AEB-8B96-DE3848CC3A1D}" srcOrd="0" destOrd="0" parTransId="{DBEEAB40-0A30-4F45-87B5-36BF403438A4}" sibTransId="{06C8AE23-7700-4D51-8F6A-C4A79C2BF23B}"/>
    <dgm:cxn modelId="{E4367AFE-CD3A-45B8-84D9-1B8A9FF87972}" type="presParOf" srcId="{C21B0848-55FD-4A68-B219-DCDD8B5EDAAC}" destId="{E7874259-0593-4AE4-9254-D75C99FF8509}" srcOrd="0" destOrd="0" presId="urn:microsoft.com/office/officeart/2005/8/layout/vList2"/>
    <dgm:cxn modelId="{5D5F9485-E64E-4960-B6DC-8BBF3AED3856}" type="presParOf" srcId="{C21B0848-55FD-4A68-B219-DCDD8B5EDAAC}" destId="{8584829F-2B2D-4321-A247-D683773A67C1}" srcOrd="1" destOrd="0" presId="urn:microsoft.com/office/officeart/2005/8/layout/vList2"/>
    <dgm:cxn modelId="{3C983DF1-EBDC-4F7D-8A67-2C33B88471BC}" type="presParOf" srcId="{C21B0848-55FD-4A68-B219-DCDD8B5EDAAC}" destId="{5CF1544F-61A8-4B1E-8A1D-D58FE0635F5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B48E957-A99E-4753-815A-7FBF7C5F520F}"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2979A8D-AF69-4315-B088-3ED6440D9781}">
      <dgm:prSet/>
      <dgm:spPr/>
      <dgm:t>
        <a:bodyPr/>
        <a:lstStyle/>
        <a:p>
          <a:r>
            <a:rPr lang="en-US"/>
            <a:t>Regional lung function studies serve to predict the function of the lung tissue that would remain after lung resection.</a:t>
          </a:r>
        </a:p>
      </dgm:t>
    </dgm:pt>
    <dgm:pt modelId="{09BA6F96-606D-4138-AA54-DA2614EAAA98}" type="parTrans" cxnId="{8BEDEE1D-F664-45DF-90F6-B2C13C475271}">
      <dgm:prSet/>
      <dgm:spPr/>
      <dgm:t>
        <a:bodyPr/>
        <a:lstStyle/>
        <a:p>
          <a:endParaRPr lang="en-US"/>
        </a:p>
      </dgm:t>
    </dgm:pt>
    <dgm:pt modelId="{613408DB-C791-4573-90B0-7FB9C85173D8}" type="sibTrans" cxnId="{8BEDEE1D-F664-45DF-90F6-B2C13C475271}">
      <dgm:prSet/>
      <dgm:spPr/>
      <dgm:t>
        <a:bodyPr/>
        <a:lstStyle/>
        <a:p>
          <a:endParaRPr lang="en-US"/>
        </a:p>
      </dgm:t>
    </dgm:pt>
    <dgm:pt modelId="{3503B75B-667A-4F08-A4DC-09B6F07274AF}">
      <dgm:prSet/>
      <dgm:spPr/>
      <dgm:t>
        <a:bodyPr/>
        <a:lstStyle/>
        <a:p>
          <a:r>
            <a:rPr lang="en-US"/>
            <a:t>methods have been described to try and simulate the postoperative respiratory situation by unilateral exclusion of a lung or lobe with an endobronchial tube/blocker or by pulmonary artery balloon occlusion  of a lung or lobe artery</a:t>
          </a:r>
        </a:p>
      </dgm:t>
    </dgm:pt>
    <dgm:pt modelId="{B478B05B-596F-4246-8179-FA9B69A97352}" type="parTrans" cxnId="{7AD06FC6-CEE9-47BA-9BC9-3888CCB5C7B2}">
      <dgm:prSet/>
      <dgm:spPr/>
      <dgm:t>
        <a:bodyPr/>
        <a:lstStyle/>
        <a:p>
          <a:endParaRPr lang="en-US"/>
        </a:p>
      </dgm:t>
    </dgm:pt>
    <dgm:pt modelId="{D8E507C6-4DBD-47D8-8BE6-F78DB41AE84D}" type="sibTrans" cxnId="{7AD06FC6-CEE9-47BA-9BC9-3888CCB5C7B2}">
      <dgm:prSet/>
      <dgm:spPr/>
      <dgm:t>
        <a:bodyPr/>
        <a:lstStyle/>
        <a:p>
          <a:endParaRPr lang="en-US"/>
        </a:p>
      </dgm:t>
    </dgm:pt>
    <dgm:pt modelId="{A269D8FB-AE51-40A5-BD45-3F28C5AA67A0}">
      <dgm:prSet/>
      <dgm:spPr/>
      <dgm:t>
        <a:bodyPr/>
        <a:lstStyle/>
        <a:p>
          <a:r>
            <a:rPr lang="en-US"/>
            <a:t>A whole (two)-lung test may fail to estimate whether the amount of post resection lung tissue will allow the patient to function at a reasonable level of activity without disabling dyspnea or cor pulmonale</a:t>
          </a:r>
        </a:p>
      </dgm:t>
    </dgm:pt>
    <dgm:pt modelId="{7D5C9F75-1BBE-4511-B119-494DCE4EE2B9}" type="parTrans" cxnId="{BF01CB44-E9AA-4C02-AB25-52D760ABD6B6}">
      <dgm:prSet/>
      <dgm:spPr/>
      <dgm:t>
        <a:bodyPr/>
        <a:lstStyle/>
        <a:p>
          <a:endParaRPr lang="en-US"/>
        </a:p>
      </dgm:t>
    </dgm:pt>
    <dgm:pt modelId="{663C3C90-A78E-4625-B3DF-86C01C830609}" type="sibTrans" cxnId="{BF01CB44-E9AA-4C02-AB25-52D760ABD6B6}">
      <dgm:prSet/>
      <dgm:spPr/>
      <dgm:t>
        <a:bodyPr/>
        <a:lstStyle/>
        <a:p>
          <a:endParaRPr lang="en-US"/>
        </a:p>
      </dgm:t>
    </dgm:pt>
    <dgm:pt modelId="{35347173-979D-4D22-8760-085F77547474}" type="pres">
      <dgm:prSet presAssocID="{5B48E957-A99E-4753-815A-7FBF7C5F520F}" presName="linear" presStyleCnt="0">
        <dgm:presLayoutVars>
          <dgm:animLvl val="lvl"/>
          <dgm:resizeHandles val="exact"/>
        </dgm:presLayoutVars>
      </dgm:prSet>
      <dgm:spPr/>
    </dgm:pt>
    <dgm:pt modelId="{ED365E71-D1DE-4813-93F6-C2DDCC26DCEF}" type="pres">
      <dgm:prSet presAssocID="{32979A8D-AF69-4315-B088-3ED6440D9781}" presName="parentText" presStyleLbl="node1" presStyleIdx="0" presStyleCnt="3">
        <dgm:presLayoutVars>
          <dgm:chMax val="0"/>
          <dgm:bulletEnabled val="1"/>
        </dgm:presLayoutVars>
      </dgm:prSet>
      <dgm:spPr/>
    </dgm:pt>
    <dgm:pt modelId="{D9C5EFA7-8AE7-4B03-83B9-11A7D82A5113}" type="pres">
      <dgm:prSet presAssocID="{613408DB-C791-4573-90B0-7FB9C85173D8}" presName="spacer" presStyleCnt="0"/>
      <dgm:spPr/>
    </dgm:pt>
    <dgm:pt modelId="{80D9E0ED-767F-4790-9B47-9031084E3D1F}" type="pres">
      <dgm:prSet presAssocID="{3503B75B-667A-4F08-A4DC-09B6F07274AF}" presName="parentText" presStyleLbl="node1" presStyleIdx="1" presStyleCnt="3">
        <dgm:presLayoutVars>
          <dgm:chMax val="0"/>
          <dgm:bulletEnabled val="1"/>
        </dgm:presLayoutVars>
      </dgm:prSet>
      <dgm:spPr/>
    </dgm:pt>
    <dgm:pt modelId="{D4A0B981-6A59-4FA8-A0A5-DF0B25656E29}" type="pres">
      <dgm:prSet presAssocID="{D8E507C6-4DBD-47D8-8BE6-F78DB41AE84D}" presName="spacer" presStyleCnt="0"/>
      <dgm:spPr/>
    </dgm:pt>
    <dgm:pt modelId="{884DC272-4D32-422E-A565-D7776688ADCB}" type="pres">
      <dgm:prSet presAssocID="{A269D8FB-AE51-40A5-BD45-3F28C5AA67A0}" presName="parentText" presStyleLbl="node1" presStyleIdx="2" presStyleCnt="3">
        <dgm:presLayoutVars>
          <dgm:chMax val="0"/>
          <dgm:bulletEnabled val="1"/>
        </dgm:presLayoutVars>
      </dgm:prSet>
      <dgm:spPr/>
    </dgm:pt>
  </dgm:ptLst>
  <dgm:cxnLst>
    <dgm:cxn modelId="{8BEDEE1D-F664-45DF-90F6-B2C13C475271}" srcId="{5B48E957-A99E-4753-815A-7FBF7C5F520F}" destId="{32979A8D-AF69-4315-B088-3ED6440D9781}" srcOrd="0" destOrd="0" parTransId="{09BA6F96-606D-4138-AA54-DA2614EAAA98}" sibTransId="{613408DB-C791-4573-90B0-7FB9C85173D8}"/>
    <dgm:cxn modelId="{A1D7E627-105A-4C5E-9DC8-F8F9C71A1349}" type="presOf" srcId="{A269D8FB-AE51-40A5-BD45-3F28C5AA67A0}" destId="{884DC272-4D32-422E-A565-D7776688ADCB}" srcOrd="0" destOrd="0" presId="urn:microsoft.com/office/officeart/2005/8/layout/vList2"/>
    <dgm:cxn modelId="{05C4B241-AAFE-403E-A4D8-C142693C356E}" type="presOf" srcId="{5B48E957-A99E-4753-815A-7FBF7C5F520F}" destId="{35347173-979D-4D22-8760-085F77547474}" srcOrd="0" destOrd="0" presId="urn:microsoft.com/office/officeart/2005/8/layout/vList2"/>
    <dgm:cxn modelId="{BF01CB44-E9AA-4C02-AB25-52D760ABD6B6}" srcId="{5B48E957-A99E-4753-815A-7FBF7C5F520F}" destId="{A269D8FB-AE51-40A5-BD45-3F28C5AA67A0}" srcOrd="2" destOrd="0" parTransId="{7D5C9F75-1BBE-4511-B119-494DCE4EE2B9}" sibTransId="{663C3C90-A78E-4625-B3DF-86C01C830609}"/>
    <dgm:cxn modelId="{7AD06FC6-CEE9-47BA-9BC9-3888CCB5C7B2}" srcId="{5B48E957-A99E-4753-815A-7FBF7C5F520F}" destId="{3503B75B-667A-4F08-A4DC-09B6F07274AF}" srcOrd="1" destOrd="0" parTransId="{B478B05B-596F-4246-8179-FA9B69A97352}" sibTransId="{D8E507C6-4DBD-47D8-8BE6-F78DB41AE84D}"/>
    <dgm:cxn modelId="{A9D810D7-7B8C-4496-8FC5-B18F29335898}" type="presOf" srcId="{3503B75B-667A-4F08-A4DC-09B6F07274AF}" destId="{80D9E0ED-767F-4790-9B47-9031084E3D1F}" srcOrd="0" destOrd="0" presId="urn:microsoft.com/office/officeart/2005/8/layout/vList2"/>
    <dgm:cxn modelId="{F74360F8-D89D-44D2-9990-AEE24A897BF5}" type="presOf" srcId="{32979A8D-AF69-4315-B088-3ED6440D9781}" destId="{ED365E71-D1DE-4813-93F6-C2DDCC26DCEF}" srcOrd="0" destOrd="0" presId="urn:microsoft.com/office/officeart/2005/8/layout/vList2"/>
    <dgm:cxn modelId="{D73E754B-7C55-4D19-91E5-9B61DC36EF52}" type="presParOf" srcId="{35347173-979D-4D22-8760-085F77547474}" destId="{ED365E71-D1DE-4813-93F6-C2DDCC26DCEF}" srcOrd="0" destOrd="0" presId="urn:microsoft.com/office/officeart/2005/8/layout/vList2"/>
    <dgm:cxn modelId="{3910D349-03C2-4C48-9F25-BC8B085776BD}" type="presParOf" srcId="{35347173-979D-4D22-8760-085F77547474}" destId="{D9C5EFA7-8AE7-4B03-83B9-11A7D82A5113}" srcOrd="1" destOrd="0" presId="urn:microsoft.com/office/officeart/2005/8/layout/vList2"/>
    <dgm:cxn modelId="{4CFB83C1-7217-40A0-94F5-CEF7BB06D009}" type="presParOf" srcId="{35347173-979D-4D22-8760-085F77547474}" destId="{80D9E0ED-767F-4790-9B47-9031084E3D1F}" srcOrd="2" destOrd="0" presId="urn:microsoft.com/office/officeart/2005/8/layout/vList2"/>
    <dgm:cxn modelId="{66593F6A-1028-4414-B377-0214DA451992}" type="presParOf" srcId="{35347173-979D-4D22-8760-085F77547474}" destId="{D4A0B981-6A59-4FA8-A0A5-DF0B25656E29}" srcOrd="3" destOrd="0" presId="urn:microsoft.com/office/officeart/2005/8/layout/vList2"/>
    <dgm:cxn modelId="{4D354AC4-ED00-4CA5-A9A2-96C314389871}" type="presParOf" srcId="{35347173-979D-4D22-8760-085F77547474}" destId="{884DC272-4D32-422E-A565-D7776688ADC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0A1E38E-53CA-4E0E-8CEB-D7274BA5874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607C1CC-75FC-48FE-BD1F-407E11ADA8B5}">
      <dgm:prSet/>
      <dgm:spPr/>
      <dgm:t>
        <a:bodyPr/>
        <a:lstStyle/>
        <a:p>
          <a:pPr>
            <a:lnSpc>
              <a:spcPct val="100000"/>
            </a:lnSpc>
          </a:pPr>
          <a:r>
            <a:rPr lang="en-US" dirty="0"/>
            <a:t>The best assessment of respiratory function comes from a history of the patient's quality of life.</a:t>
          </a:r>
        </a:p>
      </dgm:t>
    </dgm:pt>
    <dgm:pt modelId="{A4C87131-8CF6-45CE-999F-84D085546AA1}" type="parTrans" cxnId="{2D4F3B3E-D532-45F9-A660-A7AF8A021369}">
      <dgm:prSet/>
      <dgm:spPr/>
      <dgm:t>
        <a:bodyPr/>
        <a:lstStyle/>
        <a:p>
          <a:endParaRPr lang="en-US"/>
        </a:p>
      </dgm:t>
    </dgm:pt>
    <dgm:pt modelId="{119CFA6D-C947-424B-A38F-E264E13ECBAA}" type="sibTrans" cxnId="{2D4F3B3E-D532-45F9-A660-A7AF8A021369}">
      <dgm:prSet/>
      <dgm:spPr/>
      <dgm:t>
        <a:bodyPr/>
        <a:lstStyle/>
        <a:p>
          <a:endParaRPr lang="en-US"/>
        </a:p>
      </dgm:t>
    </dgm:pt>
    <dgm:pt modelId="{2B72E747-D27F-4CA4-8078-C8BD16C68245}">
      <dgm:prSet/>
      <dgm:spPr/>
      <dgm:t>
        <a:bodyPr/>
        <a:lstStyle/>
        <a:p>
          <a:pPr>
            <a:lnSpc>
              <a:spcPct val="100000"/>
            </a:lnSpc>
          </a:pPr>
          <a:r>
            <a:rPr lang="en-US"/>
            <a:t>An asymptomatic American Society of Anesthesiologists (ASA) class I or II patient with full exercise capacity does not need screening cardiorespiratory testing. </a:t>
          </a:r>
        </a:p>
      </dgm:t>
    </dgm:pt>
    <dgm:pt modelId="{9789B744-72CD-433F-83A3-C83CA51455BE}" type="parTrans" cxnId="{A31BA838-866C-4741-BEF1-9A39E9AAE384}">
      <dgm:prSet/>
      <dgm:spPr/>
      <dgm:t>
        <a:bodyPr/>
        <a:lstStyle/>
        <a:p>
          <a:endParaRPr lang="en-US"/>
        </a:p>
      </dgm:t>
    </dgm:pt>
    <dgm:pt modelId="{D7068229-3508-49D1-AA32-FBB106761082}" type="sibTrans" cxnId="{A31BA838-866C-4741-BEF1-9A39E9AAE384}">
      <dgm:prSet/>
      <dgm:spPr/>
      <dgm:t>
        <a:bodyPr/>
        <a:lstStyle/>
        <a:p>
          <a:endParaRPr lang="en-US"/>
        </a:p>
      </dgm:t>
    </dgm:pt>
    <dgm:pt modelId="{D6A59A96-4820-4ACA-B16C-38A55FE148F1}" type="pres">
      <dgm:prSet presAssocID="{90A1E38E-53CA-4E0E-8CEB-D7274BA5874F}" presName="root" presStyleCnt="0">
        <dgm:presLayoutVars>
          <dgm:dir/>
          <dgm:resizeHandles val="exact"/>
        </dgm:presLayoutVars>
      </dgm:prSet>
      <dgm:spPr/>
    </dgm:pt>
    <dgm:pt modelId="{6978EED5-75CC-46EB-8468-A86DA2642B57}" type="pres">
      <dgm:prSet presAssocID="{8607C1CC-75FC-48FE-BD1F-407E11ADA8B5}" presName="compNode" presStyleCnt="0"/>
      <dgm:spPr/>
    </dgm:pt>
    <dgm:pt modelId="{ABBB7A44-52D1-453A-93B2-AB2FC30DA1FF}" type="pres">
      <dgm:prSet presAssocID="{8607C1CC-75FC-48FE-BD1F-407E11ADA8B5}" presName="bgRect" presStyleLbl="bgShp" presStyleIdx="0" presStyleCnt="2"/>
      <dgm:spPr/>
    </dgm:pt>
    <dgm:pt modelId="{82905BC2-F293-465C-8150-1323E23BFED9}" type="pres">
      <dgm:prSet presAssocID="{8607C1CC-75FC-48FE-BD1F-407E11ADA8B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ungs"/>
        </a:ext>
      </dgm:extLst>
    </dgm:pt>
    <dgm:pt modelId="{D6081606-A06D-4609-A5C5-4212E618F87A}" type="pres">
      <dgm:prSet presAssocID="{8607C1CC-75FC-48FE-BD1F-407E11ADA8B5}" presName="spaceRect" presStyleCnt="0"/>
      <dgm:spPr/>
    </dgm:pt>
    <dgm:pt modelId="{E4F41A64-1035-456E-B8E2-5686A1C60BCB}" type="pres">
      <dgm:prSet presAssocID="{8607C1CC-75FC-48FE-BD1F-407E11ADA8B5}" presName="parTx" presStyleLbl="revTx" presStyleIdx="0" presStyleCnt="2">
        <dgm:presLayoutVars>
          <dgm:chMax val="0"/>
          <dgm:chPref val="0"/>
        </dgm:presLayoutVars>
      </dgm:prSet>
      <dgm:spPr/>
    </dgm:pt>
    <dgm:pt modelId="{665B9A01-CC3D-4940-B46C-85C7DDA477AA}" type="pres">
      <dgm:prSet presAssocID="{119CFA6D-C947-424B-A38F-E264E13ECBAA}" presName="sibTrans" presStyleCnt="0"/>
      <dgm:spPr/>
    </dgm:pt>
    <dgm:pt modelId="{FC25CF28-039B-4A47-9532-85884CD9C232}" type="pres">
      <dgm:prSet presAssocID="{2B72E747-D27F-4CA4-8078-C8BD16C68245}" presName="compNode" presStyleCnt="0"/>
      <dgm:spPr/>
    </dgm:pt>
    <dgm:pt modelId="{5CEB9167-D461-4CA0-99D6-CF356229D3F2}" type="pres">
      <dgm:prSet presAssocID="{2B72E747-D27F-4CA4-8078-C8BD16C68245}" presName="bgRect" presStyleLbl="bgShp" presStyleIdx="1" presStyleCnt="2"/>
      <dgm:spPr/>
    </dgm:pt>
    <dgm:pt modelId="{0E51E3DC-D6F6-416E-BA62-C734BD32FA32}" type="pres">
      <dgm:prSet presAssocID="{2B72E747-D27F-4CA4-8078-C8BD16C6824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ethoscope"/>
        </a:ext>
      </dgm:extLst>
    </dgm:pt>
    <dgm:pt modelId="{3D2791E0-EDA9-43D7-A9CE-7494AA15BDB2}" type="pres">
      <dgm:prSet presAssocID="{2B72E747-D27F-4CA4-8078-C8BD16C68245}" presName="spaceRect" presStyleCnt="0"/>
      <dgm:spPr/>
    </dgm:pt>
    <dgm:pt modelId="{71888485-DDD8-4C75-9EDF-50BE6ECE9304}" type="pres">
      <dgm:prSet presAssocID="{2B72E747-D27F-4CA4-8078-C8BD16C68245}" presName="parTx" presStyleLbl="revTx" presStyleIdx="1" presStyleCnt="2">
        <dgm:presLayoutVars>
          <dgm:chMax val="0"/>
          <dgm:chPref val="0"/>
        </dgm:presLayoutVars>
      </dgm:prSet>
      <dgm:spPr/>
    </dgm:pt>
  </dgm:ptLst>
  <dgm:cxnLst>
    <dgm:cxn modelId="{A31BA838-866C-4741-BEF1-9A39E9AAE384}" srcId="{90A1E38E-53CA-4E0E-8CEB-D7274BA5874F}" destId="{2B72E747-D27F-4CA4-8078-C8BD16C68245}" srcOrd="1" destOrd="0" parTransId="{9789B744-72CD-433F-83A3-C83CA51455BE}" sibTransId="{D7068229-3508-49D1-AA32-FBB106761082}"/>
    <dgm:cxn modelId="{2D4F3B3E-D532-45F9-A660-A7AF8A021369}" srcId="{90A1E38E-53CA-4E0E-8CEB-D7274BA5874F}" destId="{8607C1CC-75FC-48FE-BD1F-407E11ADA8B5}" srcOrd="0" destOrd="0" parTransId="{A4C87131-8CF6-45CE-999F-84D085546AA1}" sibTransId="{119CFA6D-C947-424B-A38F-E264E13ECBAA}"/>
    <dgm:cxn modelId="{25BFD7CC-705F-40CA-AE55-4AEED40BCAF0}" type="presOf" srcId="{90A1E38E-53CA-4E0E-8CEB-D7274BA5874F}" destId="{D6A59A96-4820-4ACA-B16C-38A55FE148F1}" srcOrd="0" destOrd="0" presId="urn:microsoft.com/office/officeart/2018/2/layout/IconVerticalSolidList"/>
    <dgm:cxn modelId="{A72FE9DA-DF22-4F74-89B3-D8EA2AF38A95}" type="presOf" srcId="{2B72E747-D27F-4CA4-8078-C8BD16C68245}" destId="{71888485-DDD8-4C75-9EDF-50BE6ECE9304}" srcOrd="0" destOrd="0" presId="urn:microsoft.com/office/officeart/2018/2/layout/IconVerticalSolidList"/>
    <dgm:cxn modelId="{D7775BFD-9E83-408C-9177-DD7CB1BF86AC}" type="presOf" srcId="{8607C1CC-75FC-48FE-BD1F-407E11ADA8B5}" destId="{E4F41A64-1035-456E-B8E2-5686A1C60BCB}" srcOrd="0" destOrd="0" presId="urn:microsoft.com/office/officeart/2018/2/layout/IconVerticalSolidList"/>
    <dgm:cxn modelId="{403CAAD3-7433-4284-922C-28E815250CCF}" type="presParOf" srcId="{D6A59A96-4820-4ACA-B16C-38A55FE148F1}" destId="{6978EED5-75CC-46EB-8468-A86DA2642B57}" srcOrd="0" destOrd="0" presId="urn:microsoft.com/office/officeart/2018/2/layout/IconVerticalSolidList"/>
    <dgm:cxn modelId="{7D386587-2C42-4BD1-AA8A-F026311089B3}" type="presParOf" srcId="{6978EED5-75CC-46EB-8468-A86DA2642B57}" destId="{ABBB7A44-52D1-453A-93B2-AB2FC30DA1FF}" srcOrd="0" destOrd="0" presId="urn:microsoft.com/office/officeart/2018/2/layout/IconVerticalSolidList"/>
    <dgm:cxn modelId="{E818AD18-59B4-476D-908F-499F17663EA7}" type="presParOf" srcId="{6978EED5-75CC-46EB-8468-A86DA2642B57}" destId="{82905BC2-F293-465C-8150-1323E23BFED9}" srcOrd="1" destOrd="0" presId="urn:microsoft.com/office/officeart/2018/2/layout/IconVerticalSolidList"/>
    <dgm:cxn modelId="{AF51F393-6519-436C-8D0B-47BB6031AB0A}" type="presParOf" srcId="{6978EED5-75CC-46EB-8468-A86DA2642B57}" destId="{D6081606-A06D-4609-A5C5-4212E618F87A}" srcOrd="2" destOrd="0" presId="urn:microsoft.com/office/officeart/2018/2/layout/IconVerticalSolidList"/>
    <dgm:cxn modelId="{6FF491C1-8254-47F3-8EE3-789764CEB050}" type="presParOf" srcId="{6978EED5-75CC-46EB-8468-A86DA2642B57}" destId="{E4F41A64-1035-456E-B8E2-5686A1C60BCB}" srcOrd="3" destOrd="0" presId="urn:microsoft.com/office/officeart/2018/2/layout/IconVerticalSolidList"/>
    <dgm:cxn modelId="{3F4A2F29-4A13-4DD5-B377-257A8541673C}" type="presParOf" srcId="{D6A59A96-4820-4ACA-B16C-38A55FE148F1}" destId="{665B9A01-CC3D-4940-B46C-85C7DDA477AA}" srcOrd="1" destOrd="0" presId="urn:microsoft.com/office/officeart/2018/2/layout/IconVerticalSolidList"/>
    <dgm:cxn modelId="{821FC58F-27B4-4F81-A324-E82251255A90}" type="presParOf" srcId="{D6A59A96-4820-4ACA-B16C-38A55FE148F1}" destId="{FC25CF28-039B-4A47-9532-85884CD9C232}" srcOrd="2" destOrd="0" presId="urn:microsoft.com/office/officeart/2018/2/layout/IconVerticalSolidList"/>
    <dgm:cxn modelId="{818097E6-6745-47B9-A5AA-94641843E58D}" type="presParOf" srcId="{FC25CF28-039B-4A47-9532-85884CD9C232}" destId="{5CEB9167-D461-4CA0-99D6-CF356229D3F2}" srcOrd="0" destOrd="0" presId="urn:microsoft.com/office/officeart/2018/2/layout/IconVerticalSolidList"/>
    <dgm:cxn modelId="{49053C2F-5F74-4DD6-BA88-B1124798D3EB}" type="presParOf" srcId="{FC25CF28-039B-4A47-9532-85884CD9C232}" destId="{0E51E3DC-D6F6-416E-BA62-C734BD32FA32}" srcOrd="1" destOrd="0" presId="urn:microsoft.com/office/officeart/2018/2/layout/IconVerticalSolidList"/>
    <dgm:cxn modelId="{7D35F3A6-48C1-467C-A712-1E7A4AE93A09}" type="presParOf" srcId="{FC25CF28-039B-4A47-9532-85884CD9C232}" destId="{3D2791E0-EDA9-43D7-A9CE-7494AA15BDB2}" srcOrd="2" destOrd="0" presId="urn:microsoft.com/office/officeart/2018/2/layout/IconVerticalSolidList"/>
    <dgm:cxn modelId="{A4897F2A-A5A9-472C-A033-ABEA7CFC2FB2}" type="presParOf" srcId="{FC25CF28-039B-4A47-9532-85884CD9C232}" destId="{71888485-DDD8-4C75-9EDF-50BE6ECE930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1799ECF-11C8-4158-9033-A5B44CEFBDCF}"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CFA9E0F8-B802-4F62-B884-D6E5A6E39577}">
      <dgm:prSet/>
      <dgm:spPr/>
      <dgm:t>
        <a:bodyPr/>
        <a:lstStyle/>
        <a:p>
          <a:r>
            <a:rPr lang="en-US" dirty="0"/>
            <a:t>If a patient has ppoFEV</a:t>
          </a:r>
          <a:r>
            <a:rPr lang="en-US" baseline="-25000" dirty="0"/>
            <a:t>1</a:t>
          </a:r>
          <a:r>
            <a:rPr lang="en-US" dirty="0"/>
            <a:t> greater than 40%, it should be possible for the patient to be extubated in the operating room at the conclusion of surgery, assuming the patient is alert, warm, and comfortable ("</a:t>
          </a:r>
          <a:r>
            <a:rPr lang="en-US" dirty="0" err="1"/>
            <a:t>AWaC</a:t>
          </a:r>
          <a:r>
            <a:rPr lang="en-US" dirty="0"/>
            <a:t>"). </a:t>
          </a:r>
        </a:p>
      </dgm:t>
    </dgm:pt>
    <dgm:pt modelId="{DA74FB6A-205E-458E-AEE6-6E180611FA7A}" type="parTrans" cxnId="{D322FBC9-9F72-4AFD-9713-3A9EE7B24D29}">
      <dgm:prSet/>
      <dgm:spPr/>
      <dgm:t>
        <a:bodyPr/>
        <a:lstStyle/>
        <a:p>
          <a:endParaRPr lang="en-US"/>
        </a:p>
      </dgm:t>
    </dgm:pt>
    <dgm:pt modelId="{4D8D3F32-4A68-4BE3-999E-90D89FB336C1}" type="sibTrans" cxnId="{D322FBC9-9F72-4AFD-9713-3A9EE7B24D29}">
      <dgm:prSet/>
      <dgm:spPr/>
      <dgm:t>
        <a:bodyPr/>
        <a:lstStyle/>
        <a:p>
          <a:endParaRPr lang="en-US"/>
        </a:p>
      </dgm:t>
    </dgm:pt>
    <dgm:pt modelId="{48D96E6E-B330-4023-A32A-1080909A5AEC}">
      <dgm:prSet/>
      <dgm:spPr/>
      <dgm:t>
        <a:bodyPr/>
        <a:lstStyle/>
        <a:p>
          <a:r>
            <a:rPr lang="en-US" dirty="0"/>
            <a:t>If ppoFEV</a:t>
          </a:r>
          <a:r>
            <a:rPr lang="en-US" baseline="-25000" dirty="0"/>
            <a:t>1</a:t>
          </a:r>
          <a:r>
            <a:rPr lang="en-US" dirty="0"/>
            <a:t> is greater than 30% and exercise tolerance and lung parenchymal function exceed the increased risk thresholds, then extubation in the operating room should be possible depending on the status of associated diseases. </a:t>
          </a:r>
        </a:p>
      </dgm:t>
    </dgm:pt>
    <dgm:pt modelId="{BAA807D3-2B33-4211-8DA1-4FD89952EDDC}" type="parTrans" cxnId="{4AB04A96-1FDD-4B75-9711-0866CC9F32D9}">
      <dgm:prSet/>
      <dgm:spPr/>
      <dgm:t>
        <a:bodyPr/>
        <a:lstStyle/>
        <a:p>
          <a:endParaRPr lang="en-US"/>
        </a:p>
      </dgm:t>
    </dgm:pt>
    <dgm:pt modelId="{02651A83-CC14-445B-9CCA-B47C59971B16}" type="sibTrans" cxnId="{4AB04A96-1FDD-4B75-9711-0866CC9F32D9}">
      <dgm:prSet/>
      <dgm:spPr/>
      <dgm:t>
        <a:bodyPr/>
        <a:lstStyle/>
        <a:p>
          <a:endParaRPr lang="en-US"/>
        </a:p>
      </dgm:t>
    </dgm:pt>
    <dgm:pt modelId="{F4A0E011-16AF-4E14-830E-BF20D78C32CB}" type="pres">
      <dgm:prSet presAssocID="{A1799ECF-11C8-4158-9033-A5B44CEFBDCF}" presName="Name0" presStyleCnt="0">
        <dgm:presLayoutVars>
          <dgm:dir/>
          <dgm:animLvl val="lvl"/>
          <dgm:resizeHandles val="exact"/>
        </dgm:presLayoutVars>
      </dgm:prSet>
      <dgm:spPr/>
    </dgm:pt>
    <dgm:pt modelId="{74429BF8-2B1B-4296-9325-4EC2DAF38729}" type="pres">
      <dgm:prSet presAssocID="{48D96E6E-B330-4023-A32A-1080909A5AEC}" presName="boxAndChildren" presStyleCnt="0"/>
      <dgm:spPr/>
    </dgm:pt>
    <dgm:pt modelId="{EB8710F7-05E9-48DD-9176-5120C393EBFE}" type="pres">
      <dgm:prSet presAssocID="{48D96E6E-B330-4023-A32A-1080909A5AEC}" presName="parentTextBox" presStyleLbl="node1" presStyleIdx="0" presStyleCnt="2"/>
      <dgm:spPr/>
    </dgm:pt>
    <dgm:pt modelId="{C19177BF-B4A5-47B1-B416-A3383A455399}" type="pres">
      <dgm:prSet presAssocID="{4D8D3F32-4A68-4BE3-999E-90D89FB336C1}" presName="sp" presStyleCnt="0"/>
      <dgm:spPr/>
    </dgm:pt>
    <dgm:pt modelId="{765BFA89-1B5A-4913-9786-99F859D1338B}" type="pres">
      <dgm:prSet presAssocID="{CFA9E0F8-B802-4F62-B884-D6E5A6E39577}" presName="arrowAndChildren" presStyleCnt="0"/>
      <dgm:spPr/>
    </dgm:pt>
    <dgm:pt modelId="{2FDF277F-6509-464F-82F0-D7395315C9EF}" type="pres">
      <dgm:prSet presAssocID="{CFA9E0F8-B802-4F62-B884-D6E5A6E39577}" presName="parentTextArrow" presStyleLbl="node1" presStyleIdx="1" presStyleCnt="2"/>
      <dgm:spPr/>
    </dgm:pt>
  </dgm:ptLst>
  <dgm:cxnLst>
    <dgm:cxn modelId="{5BA2F664-39DE-4A0F-B2DF-1FE114FE0041}" type="presOf" srcId="{48D96E6E-B330-4023-A32A-1080909A5AEC}" destId="{EB8710F7-05E9-48DD-9176-5120C393EBFE}" srcOrd="0" destOrd="0" presId="urn:microsoft.com/office/officeart/2005/8/layout/process4"/>
    <dgm:cxn modelId="{B42D9965-ACE5-41EA-9C44-7415739A87C9}" type="presOf" srcId="{A1799ECF-11C8-4158-9033-A5B44CEFBDCF}" destId="{F4A0E011-16AF-4E14-830E-BF20D78C32CB}" srcOrd="0" destOrd="0" presId="urn:microsoft.com/office/officeart/2005/8/layout/process4"/>
    <dgm:cxn modelId="{8B01EA71-7E0D-4432-9F36-C964F3B084B2}" type="presOf" srcId="{CFA9E0F8-B802-4F62-B884-D6E5A6E39577}" destId="{2FDF277F-6509-464F-82F0-D7395315C9EF}" srcOrd="0" destOrd="0" presId="urn:microsoft.com/office/officeart/2005/8/layout/process4"/>
    <dgm:cxn modelId="{4AB04A96-1FDD-4B75-9711-0866CC9F32D9}" srcId="{A1799ECF-11C8-4158-9033-A5B44CEFBDCF}" destId="{48D96E6E-B330-4023-A32A-1080909A5AEC}" srcOrd="1" destOrd="0" parTransId="{BAA807D3-2B33-4211-8DA1-4FD89952EDDC}" sibTransId="{02651A83-CC14-445B-9CCA-B47C59971B16}"/>
    <dgm:cxn modelId="{D322FBC9-9F72-4AFD-9713-3A9EE7B24D29}" srcId="{A1799ECF-11C8-4158-9033-A5B44CEFBDCF}" destId="{CFA9E0F8-B802-4F62-B884-D6E5A6E39577}" srcOrd="0" destOrd="0" parTransId="{DA74FB6A-205E-458E-AEE6-6E180611FA7A}" sibTransId="{4D8D3F32-4A68-4BE3-999E-90D89FB336C1}"/>
    <dgm:cxn modelId="{D6FC177A-E455-4551-AF5F-C161393E56E9}" type="presParOf" srcId="{F4A0E011-16AF-4E14-830E-BF20D78C32CB}" destId="{74429BF8-2B1B-4296-9325-4EC2DAF38729}" srcOrd="0" destOrd="0" presId="urn:microsoft.com/office/officeart/2005/8/layout/process4"/>
    <dgm:cxn modelId="{91BF069F-D5FB-4A02-BDA8-9D10772B70FE}" type="presParOf" srcId="{74429BF8-2B1B-4296-9325-4EC2DAF38729}" destId="{EB8710F7-05E9-48DD-9176-5120C393EBFE}" srcOrd="0" destOrd="0" presId="urn:microsoft.com/office/officeart/2005/8/layout/process4"/>
    <dgm:cxn modelId="{F56E5F32-B68A-4006-8D9C-2C51C3EE85FE}" type="presParOf" srcId="{F4A0E011-16AF-4E14-830E-BF20D78C32CB}" destId="{C19177BF-B4A5-47B1-B416-A3383A455399}" srcOrd="1" destOrd="0" presId="urn:microsoft.com/office/officeart/2005/8/layout/process4"/>
    <dgm:cxn modelId="{34458ACD-C5EC-41B8-9042-4E4FD1BD02DF}" type="presParOf" srcId="{F4A0E011-16AF-4E14-830E-BF20D78C32CB}" destId="{765BFA89-1B5A-4913-9786-99F859D1338B}" srcOrd="2" destOrd="0" presId="urn:microsoft.com/office/officeart/2005/8/layout/process4"/>
    <dgm:cxn modelId="{16201735-A8A9-44A8-A9B8-3D5ED7CCFDA6}" type="presParOf" srcId="{765BFA89-1B5A-4913-9786-99F859D1338B}" destId="{2FDF277F-6509-464F-82F0-D7395315C9EF}"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3870CF-0B22-4EF8-9423-AA1CF45051A9}">
      <dsp:nvSpPr>
        <dsp:cNvPr id="0" name=""/>
        <dsp:cNvSpPr/>
      </dsp:nvSpPr>
      <dsp:spPr>
        <a:xfrm>
          <a:off x="0" y="735468"/>
          <a:ext cx="106680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DD3814-572C-4910-BBB5-06B863B471B2}">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CAD109-BD0E-4B12-BBDA-F13484F659FE}">
      <dsp:nvSpPr>
        <dsp:cNvPr id="0" name=""/>
        <dsp:cNvSpPr/>
      </dsp:nvSpPr>
      <dsp:spPr>
        <a:xfrm>
          <a:off x="1568246" y="735468"/>
          <a:ext cx="90997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977900">
            <a:lnSpc>
              <a:spcPct val="100000"/>
            </a:lnSpc>
            <a:spcBef>
              <a:spcPct val="0"/>
            </a:spcBef>
            <a:spcAft>
              <a:spcPct val="35000"/>
            </a:spcAft>
            <a:buNone/>
          </a:pPr>
          <a:r>
            <a:rPr lang="nl-NL" sz="2200" b="1" kern="1200"/>
            <a:t>FVC - Forced Vital Capacity. This is the total amount of air that you blow out in one breath. </a:t>
          </a:r>
          <a:endParaRPr lang="en-US" sz="2200" kern="1200"/>
        </a:p>
      </dsp:txBody>
      <dsp:txXfrm>
        <a:off x="1568246" y="735468"/>
        <a:ext cx="9099753" cy="1357788"/>
      </dsp:txXfrm>
    </dsp:sp>
    <dsp:sp modelId="{FDC100CD-12A3-4630-98DB-D31AE8C8BEA6}">
      <dsp:nvSpPr>
        <dsp:cNvPr id="0" name=""/>
        <dsp:cNvSpPr/>
      </dsp:nvSpPr>
      <dsp:spPr>
        <a:xfrm>
          <a:off x="0" y="2432705"/>
          <a:ext cx="106680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2D7256-BD91-40A2-A899-53C53CFD1405}">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BFA067-8E52-4A9A-9EA9-C1E22374DEF2}">
      <dsp:nvSpPr>
        <dsp:cNvPr id="0" name=""/>
        <dsp:cNvSpPr/>
      </dsp:nvSpPr>
      <dsp:spPr>
        <a:xfrm>
          <a:off x="1568246" y="2432705"/>
          <a:ext cx="90997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977900">
            <a:lnSpc>
              <a:spcPct val="100000"/>
            </a:lnSpc>
            <a:spcBef>
              <a:spcPct val="0"/>
            </a:spcBef>
            <a:spcAft>
              <a:spcPct val="35000"/>
            </a:spcAft>
            <a:buNone/>
          </a:pPr>
          <a:r>
            <a:rPr lang="nl-NL" sz="2200" b="1" kern="1200"/>
            <a:t>FEV1 - Forced Expiratory Volume in one Second. This is the amount of air you can blow out within one second. With normal lungs and airways you can normally blow out most of the air from your lungs within one second. </a:t>
          </a:r>
          <a:endParaRPr lang="en-US" sz="2200" kern="1200"/>
        </a:p>
      </dsp:txBody>
      <dsp:txXfrm>
        <a:off x="1568246" y="2432705"/>
        <a:ext cx="9099753" cy="1357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99794-849C-4689-B8F1-FD2773DEC0E5}">
      <dsp:nvSpPr>
        <dsp:cNvPr id="0" name=""/>
        <dsp:cNvSpPr/>
      </dsp:nvSpPr>
      <dsp:spPr>
        <a:xfrm>
          <a:off x="0" y="590"/>
          <a:ext cx="8915400" cy="1381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60FA2F-A1B2-4BDB-8DDE-F01A2FD9A692}">
      <dsp:nvSpPr>
        <dsp:cNvPr id="0" name=""/>
        <dsp:cNvSpPr/>
      </dsp:nvSpPr>
      <dsp:spPr>
        <a:xfrm>
          <a:off x="417825" y="311369"/>
          <a:ext cx="759682" cy="7596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6B6504-6B05-4821-8E46-9B7AAFB855D2}">
      <dsp:nvSpPr>
        <dsp:cNvPr id="0" name=""/>
        <dsp:cNvSpPr/>
      </dsp:nvSpPr>
      <dsp:spPr>
        <a:xfrm>
          <a:off x="1595333" y="590"/>
          <a:ext cx="7320066" cy="1381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81" tIns="146181" rIns="146181" bIns="146181" numCol="1" spcCol="1270" anchor="ctr" anchorCtr="0">
          <a:noAutofit/>
        </a:bodyPr>
        <a:lstStyle/>
        <a:p>
          <a:pPr marL="0" lvl="0" indent="0" algn="l" defTabSz="1022350">
            <a:lnSpc>
              <a:spcPct val="100000"/>
            </a:lnSpc>
            <a:spcBef>
              <a:spcPct val="0"/>
            </a:spcBef>
            <a:spcAft>
              <a:spcPct val="35000"/>
            </a:spcAft>
            <a:buNone/>
          </a:pPr>
          <a:r>
            <a:rPr lang="en-US" sz="2300" kern="1200"/>
            <a:t>Forced vital capacity (FVC), forced expired volume in 1</a:t>
          </a:r>
          <a:r>
            <a:rPr lang="en-US" sz="2300" kern="1200" baseline="30000"/>
            <a:t>st</a:t>
          </a:r>
          <a:r>
            <a:rPr lang="en-US" sz="2300" kern="1200"/>
            <a:t> second (FEV</a:t>
          </a:r>
          <a:r>
            <a:rPr lang="en-US" sz="2300" kern="1200" baseline="-25000"/>
            <a:t>1</a:t>
          </a:r>
          <a:r>
            <a:rPr lang="en-US" sz="2300" kern="1200"/>
            <a:t>), and peak expiratory flow can be measured at the patient’s bed side using a spirometer. </a:t>
          </a:r>
        </a:p>
      </dsp:txBody>
      <dsp:txXfrm>
        <a:off x="1595333" y="590"/>
        <a:ext cx="7320066" cy="1381241"/>
      </dsp:txXfrm>
    </dsp:sp>
    <dsp:sp modelId="{303D2FBE-6F2E-42E7-8EC3-3D28E7F266DD}">
      <dsp:nvSpPr>
        <dsp:cNvPr id="0" name=""/>
        <dsp:cNvSpPr/>
      </dsp:nvSpPr>
      <dsp:spPr>
        <a:xfrm>
          <a:off x="0" y="1727141"/>
          <a:ext cx="8915400" cy="1381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ED491A-5DFA-4160-B010-ED61D637755C}">
      <dsp:nvSpPr>
        <dsp:cNvPr id="0" name=""/>
        <dsp:cNvSpPr/>
      </dsp:nvSpPr>
      <dsp:spPr>
        <a:xfrm>
          <a:off x="417825" y="2037921"/>
          <a:ext cx="759682" cy="7596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669FA4-2BC1-41C8-B7AB-DF26B8013A61}">
      <dsp:nvSpPr>
        <dsp:cNvPr id="0" name=""/>
        <dsp:cNvSpPr/>
      </dsp:nvSpPr>
      <dsp:spPr>
        <a:xfrm>
          <a:off x="1595333" y="1727141"/>
          <a:ext cx="7320066" cy="1381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81" tIns="146181" rIns="146181" bIns="146181" numCol="1" spcCol="1270" anchor="ctr" anchorCtr="0">
          <a:noAutofit/>
        </a:bodyPr>
        <a:lstStyle/>
        <a:p>
          <a:pPr marL="0" lvl="0" indent="0" algn="l" defTabSz="1022350">
            <a:lnSpc>
              <a:spcPct val="100000"/>
            </a:lnSpc>
            <a:spcBef>
              <a:spcPct val="0"/>
            </a:spcBef>
            <a:spcAft>
              <a:spcPct val="35000"/>
            </a:spcAft>
            <a:buNone/>
          </a:pPr>
          <a:r>
            <a:rPr lang="en-US" sz="2300" kern="1200"/>
            <a:t>A vital capacity of at least three times the VT is necessary for an effective cough.</a:t>
          </a:r>
        </a:p>
      </dsp:txBody>
      <dsp:txXfrm>
        <a:off x="1595333" y="1727141"/>
        <a:ext cx="7320066" cy="1381241"/>
      </dsp:txXfrm>
    </dsp:sp>
    <dsp:sp modelId="{026126B5-8F65-4967-B493-8C585B7E8774}">
      <dsp:nvSpPr>
        <dsp:cNvPr id="0" name=""/>
        <dsp:cNvSpPr/>
      </dsp:nvSpPr>
      <dsp:spPr>
        <a:xfrm>
          <a:off x="0" y="3453693"/>
          <a:ext cx="8915400" cy="1381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230B7E-9117-4500-BE83-69A7CEAA91F7}">
      <dsp:nvSpPr>
        <dsp:cNvPr id="0" name=""/>
        <dsp:cNvSpPr/>
      </dsp:nvSpPr>
      <dsp:spPr>
        <a:xfrm>
          <a:off x="417825" y="3764472"/>
          <a:ext cx="759682" cy="7596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B2DD11-02BB-466C-9BCE-DCFE0FDE2153}">
      <dsp:nvSpPr>
        <dsp:cNvPr id="0" name=""/>
        <dsp:cNvSpPr/>
      </dsp:nvSpPr>
      <dsp:spPr>
        <a:xfrm>
          <a:off x="1595333" y="3453693"/>
          <a:ext cx="7320066" cy="1381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181" tIns="146181" rIns="146181" bIns="146181" numCol="1" spcCol="1270" anchor="ctr" anchorCtr="0">
          <a:noAutofit/>
        </a:bodyPr>
        <a:lstStyle/>
        <a:p>
          <a:pPr marL="0" lvl="0" indent="0" algn="l" defTabSz="1022350">
            <a:lnSpc>
              <a:spcPct val="100000"/>
            </a:lnSpc>
            <a:spcBef>
              <a:spcPct val="0"/>
            </a:spcBef>
            <a:spcAft>
              <a:spcPct val="35000"/>
            </a:spcAft>
            <a:buNone/>
          </a:pPr>
          <a:r>
            <a:rPr lang="en-US" sz="2300" kern="1200"/>
            <a:t>A vital capacity of less than 50 % of predicted or less than 2 lit is an indicator of increased risk.</a:t>
          </a:r>
        </a:p>
      </dsp:txBody>
      <dsp:txXfrm>
        <a:off x="1595333" y="3453693"/>
        <a:ext cx="7320066" cy="13812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CAACD-CC1E-48A1-B6FE-C12AF3284425}">
      <dsp:nvSpPr>
        <dsp:cNvPr id="0" name=""/>
        <dsp:cNvSpPr/>
      </dsp:nvSpPr>
      <dsp:spPr>
        <a:xfrm>
          <a:off x="0" y="139078"/>
          <a:ext cx="10972800" cy="13506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FVC - is used to diagnose restrictive ventilatory impairment.</a:t>
          </a:r>
        </a:p>
      </dsp:txBody>
      <dsp:txXfrm>
        <a:off x="65934" y="205012"/>
        <a:ext cx="10840932" cy="1218787"/>
      </dsp:txXfrm>
    </dsp:sp>
    <dsp:sp modelId="{E0BC6A18-9119-4AA5-8F63-EB383E7AA9C5}">
      <dsp:nvSpPr>
        <dsp:cNvPr id="0" name=""/>
        <dsp:cNvSpPr/>
      </dsp:nvSpPr>
      <dsp:spPr>
        <a:xfrm>
          <a:off x="0" y="1587653"/>
          <a:ext cx="10972800" cy="13506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 patient with an abnormal vital capacity has a 33 % chance of complications and a10 % risk of post operative mortality.</a:t>
          </a:r>
        </a:p>
      </dsp:txBody>
      <dsp:txXfrm>
        <a:off x="65934" y="1653587"/>
        <a:ext cx="10840932" cy="1218787"/>
      </dsp:txXfrm>
    </dsp:sp>
    <dsp:sp modelId="{BF85678C-1775-4FA2-B5A6-348836E02946}">
      <dsp:nvSpPr>
        <dsp:cNvPr id="0" name=""/>
        <dsp:cNvSpPr/>
      </dsp:nvSpPr>
      <dsp:spPr>
        <a:xfrm>
          <a:off x="0" y="3036229"/>
          <a:ext cx="10972800" cy="13506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FEV</a:t>
          </a:r>
          <a:r>
            <a:rPr lang="en-US" sz="3400" kern="1200" baseline="-25000"/>
            <a:t>1</a:t>
          </a:r>
          <a:r>
            <a:rPr lang="en-US" sz="3400" kern="1200"/>
            <a:t>, is more direct indication of airway obstruction.</a:t>
          </a:r>
        </a:p>
      </dsp:txBody>
      <dsp:txXfrm>
        <a:off x="65934" y="3102163"/>
        <a:ext cx="10840932" cy="12187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3CC38E-EA6E-489C-86E1-C77C18568533}">
      <dsp:nvSpPr>
        <dsp:cNvPr id="0" name=""/>
        <dsp:cNvSpPr/>
      </dsp:nvSpPr>
      <dsp:spPr>
        <a:xfrm>
          <a:off x="0" y="0"/>
          <a:ext cx="3286125" cy="3948876"/>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933450">
            <a:lnSpc>
              <a:spcPct val="90000"/>
            </a:lnSpc>
            <a:spcBef>
              <a:spcPct val="0"/>
            </a:spcBef>
            <a:spcAft>
              <a:spcPct val="35000"/>
            </a:spcAft>
            <a:buNone/>
          </a:pPr>
          <a:r>
            <a:rPr lang="en-US" sz="2100" kern="1200"/>
            <a:t>In the past, an FEV</a:t>
          </a:r>
          <a:r>
            <a:rPr lang="en-US" sz="2100" kern="1200" baseline="-25000"/>
            <a:t>1</a:t>
          </a:r>
          <a:r>
            <a:rPr lang="en-US" sz="2100" kern="1200"/>
            <a:t> of &lt;800 ml in a 70-kg man had been considered an absolute contraindication to lung resection. </a:t>
          </a:r>
        </a:p>
      </dsp:txBody>
      <dsp:txXfrm>
        <a:off x="0" y="1500572"/>
        <a:ext cx="3286125" cy="2369325"/>
      </dsp:txXfrm>
    </dsp:sp>
    <dsp:sp modelId="{38D1C1D4-E489-4F06-939A-552BBFCABDB6}">
      <dsp:nvSpPr>
        <dsp:cNvPr id="0" name=""/>
        <dsp:cNvSpPr/>
      </dsp:nvSpPr>
      <dsp:spPr>
        <a:xfrm>
          <a:off x="1050731" y="394887"/>
          <a:ext cx="1184662" cy="1184662"/>
        </a:xfrm>
        <a:prstGeom prst="ellips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361" tIns="12700" rIns="92361"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224221" y="568377"/>
        <a:ext cx="837682" cy="837682"/>
      </dsp:txXfrm>
    </dsp:sp>
    <dsp:sp modelId="{3414F538-F300-462A-BE9B-C0BD230500A0}">
      <dsp:nvSpPr>
        <dsp:cNvPr id="0" name=""/>
        <dsp:cNvSpPr/>
      </dsp:nvSpPr>
      <dsp:spPr>
        <a:xfrm>
          <a:off x="0" y="3948804"/>
          <a:ext cx="3286125" cy="72"/>
        </a:xfrm>
        <a:prstGeom prst="rect">
          <a:avLst/>
        </a:prstGeom>
        <a:solidFill>
          <a:schemeClr val="accent2">
            <a:hueOff val="936304"/>
            <a:satOff val="-1168"/>
            <a:lumOff val="275"/>
            <a:alphaOff val="0"/>
          </a:schemeClr>
        </a:solidFill>
        <a:ln w="25400" cap="flat" cmpd="sng" algn="ctr">
          <a:solidFill>
            <a:schemeClr val="accent2">
              <a:hueOff val="936304"/>
              <a:satOff val="-1168"/>
              <a:lumOff val="27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260248-DCD8-47BF-B978-3CBCEB171846}">
      <dsp:nvSpPr>
        <dsp:cNvPr id="0" name=""/>
        <dsp:cNvSpPr/>
      </dsp:nvSpPr>
      <dsp:spPr>
        <a:xfrm>
          <a:off x="3614737" y="0"/>
          <a:ext cx="3286125" cy="3948876"/>
        </a:xfrm>
        <a:prstGeom prst="rect">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933450">
            <a:lnSpc>
              <a:spcPct val="90000"/>
            </a:lnSpc>
            <a:spcBef>
              <a:spcPct val="0"/>
            </a:spcBef>
            <a:spcAft>
              <a:spcPct val="35000"/>
            </a:spcAft>
            <a:buNone/>
          </a:pPr>
          <a:r>
            <a:rPr lang="en-US" sz="2100" kern="1200"/>
            <a:t>However some procedures  have done  successfully in patients with smaller lung volumes.</a:t>
          </a:r>
        </a:p>
      </dsp:txBody>
      <dsp:txXfrm>
        <a:off x="3614737" y="1500572"/>
        <a:ext cx="3286125" cy="2369325"/>
      </dsp:txXfrm>
    </dsp:sp>
    <dsp:sp modelId="{E50809AB-CB24-4853-A08F-208C0DB97930}">
      <dsp:nvSpPr>
        <dsp:cNvPr id="0" name=""/>
        <dsp:cNvSpPr/>
      </dsp:nvSpPr>
      <dsp:spPr>
        <a:xfrm>
          <a:off x="4665468" y="394887"/>
          <a:ext cx="1184662" cy="1184662"/>
        </a:xfrm>
        <a:prstGeom prst="ellipse">
          <a:avLst/>
        </a:prstGeom>
        <a:solidFill>
          <a:schemeClr val="accent2">
            <a:hueOff val="1872608"/>
            <a:satOff val="-2336"/>
            <a:lumOff val="549"/>
            <a:alphaOff val="0"/>
          </a:schemeClr>
        </a:solidFill>
        <a:ln w="25400" cap="flat" cmpd="sng" algn="ctr">
          <a:solidFill>
            <a:schemeClr val="accent2">
              <a:hueOff val="1872608"/>
              <a:satOff val="-2336"/>
              <a:lumOff val="54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361" tIns="12700" rIns="92361"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838958" y="568377"/>
        <a:ext cx="837682" cy="837682"/>
      </dsp:txXfrm>
    </dsp:sp>
    <dsp:sp modelId="{994610B1-126B-4192-827F-37EF750621AB}">
      <dsp:nvSpPr>
        <dsp:cNvPr id="0" name=""/>
        <dsp:cNvSpPr/>
      </dsp:nvSpPr>
      <dsp:spPr>
        <a:xfrm>
          <a:off x="3614737" y="3948804"/>
          <a:ext cx="3286125" cy="72"/>
        </a:xfrm>
        <a:prstGeom prst="rect">
          <a:avLst/>
        </a:prstGeom>
        <a:solidFill>
          <a:schemeClr val="accent2">
            <a:hueOff val="2808911"/>
            <a:satOff val="-3503"/>
            <a:lumOff val="824"/>
            <a:alphaOff val="0"/>
          </a:schemeClr>
        </a:solidFill>
        <a:ln w="25400" cap="flat" cmpd="sng" algn="ctr">
          <a:solidFill>
            <a:schemeClr val="accent2">
              <a:hueOff val="2808911"/>
              <a:satOff val="-3503"/>
              <a:lumOff val="82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14D981-DA35-4A81-A7D3-09B3D452DC3A}">
      <dsp:nvSpPr>
        <dsp:cNvPr id="0" name=""/>
        <dsp:cNvSpPr/>
      </dsp:nvSpPr>
      <dsp:spPr>
        <a:xfrm>
          <a:off x="7229475" y="0"/>
          <a:ext cx="3286125" cy="3948876"/>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933450">
            <a:lnSpc>
              <a:spcPct val="90000"/>
            </a:lnSpc>
            <a:spcBef>
              <a:spcPct val="0"/>
            </a:spcBef>
            <a:spcAft>
              <a:spcPct val="35000"/>
            </a:spcAft>
            <a:buNone/>
          </a:pPr>
          <a:r>
            <a:rPr lang="en-US" sz="2100" kern="1200"/>
            <a:t>It is preferable to indicate the percentage of predicted value, rather than just using the actual results in liters.</a:t>
          </a:r>
        </a:p>
      </dsp:txBody>
      <dsp:txXfrm>
        <a:off x="7229475" y="1500572"/>
        <a:ext cx="3286125" cy="2369325"/>
      </dsp:txXfrm>
    </dsp:sp>
    <dsp:sp modelId="{41084929-5A5C-4D84-AAF8-C8FBB58724B5}">
      <dsp:nvSpPr>
        <dsp:cNvPr id="0" name=""/>
        <dsp:cNvSpPr/>
      </dsp:nvSpPr>
      <dsp:spPr>
        <a:xfrm>
          <a:off x="8280206" y="394887"/>
          <a:ext cx="1184662" cy="1184662"/>
        </a:xfrm>
        <a:prstGeom prst="ellipse">
          <a:avLst/>
        </a:prstGeom>
        <a:solidFill>
          <a:schemeClr val="accent2">
            <a:hueOff val="3745215"/>
            <a:satOff val="-4671"/>
            <a:lumOff val="1098"/>
            <a:alphaOff val="0"/>
          </a:schemeClr>
        </a:solidFill>
        <a:ln w="25400" cap="flat" cmpd="sng" algn="ctr">
          <a:solidFill>
            <a:schemeClr val="accent2">
              <a:hueOff val="3745215"/>
              <a:satOff val="-4671"/>
              <a:lumOff val="109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361" tIns="12700" rIns="92361"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53696" y="568377"/>
        <a:ext cx="837682" cy="837682"/>
      </dsp:txXfrm>
    </dsp:sp>
    <dsp:sp modelId="{4DD10FCB-12CF-41DA-83DD-85F28F6D891D}">
      <dsp:nvSpPr>
        <dsp:cNvPr id="0" name=""/>
        <dsp:cNvSpPr/>
      </dsp:nvSpPr>
      <dsp:spPr>
        <a:xfrm>
          <a:off x="7229475" y="3948804"/>
          <a:ext cx="3286125" cy="72"/>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7AD7F-981E-49DE-B116-E67A413DC091}">
      <dsp:nvSpPr>
        <dsp:cNvPr id="0" name=""/>
        <dsp:cNvSpPr/>
      </dsp:nvSpPr>
      <dsp:spPr>
        <a:xfrm>
          <a:off x="0" y="773390"/>
          <a:ext cx="8991600" cy="142779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F7054C-4E5E-4813-8C52-98350FC773E2}">
      <dsp:nvSpPr>
        <dsp:cNvPr id="0" name=""/>
        <dsp:cNvSpPr/>
      </dsp:nvSpPr>
      <dsp:spPr>
        <a:xfrm>
          <a:off x="431908" y="1094644"/>
          <a:ext cx="785288" cy="7852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71F384-D0F2-4859-8677-3D6694CF14D3}">
      <dsp:nvSpPr>
        <dsp:cNvPr id="0" name=""/>
        <dsp:cNvSpPr/>
      </dsp:nvSpPr>
      <dsp:spPr>
        <a:xfrm>
          <a:off x="1649106" y="773390"/>
          <a:ext cx="7342493" cy="14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109" tIns="151109" rIns="151109" bIns="151109" numCol="1" spcCol="1270" anchor="ctr" anchorCtr="0">
          <a:noAutofit/>
        </a:bodyPr>
        <a:lstStyle/>
        <a:p>
          <a:pPr marL="0" lvl="0" indent="0" algn="l" defTabSz="1066800">
            <a:lnSpc>
              <a:spcPct val="100000"/>
            </a:lnSpc>
            <a:spcBef>
              <a:spcPct val="0"/>
            </a:spcBef>
            <a:spcAft>
              <a:spcPct val="35000"/>
            </a:spcAft>
            <a:buNone/>
          </a:pPr>
          <a:r>
            <a:rPr lang="en-US" sz="2400" kern="1200"/>
            <a:t>In obstructive disease, the ratio is generally low, because FEV</a:t>
          </a:r>
          <a:r>
            <a:rPr lang="en-US" sz="2400" kern="1200" baseline="-25000"/>
            <a:t>1</a:t>
          </a:r>
          <a:r>
            <a:rPr lang="en-US" sz="2400" kern="1200"/>
            <a:t> is markedly decreased.</a:t>
          </a:r>
        </a:p>
      </dsp:txBody>
      <dsp:txXfrm>
        <a:off x="1649106" y="773390"/>
        <a:ext cx="7342493" cy="1427797"/>
      </dsp:txXfrm>
    </dsp:sp>
    <dsp:sp modelId="{95983E66-6302-4315-9347-681284773E59}">
      <dsp:nvSpPr>
        <dsp:cNvPr id="0" name=""/>
        <dsp:cNvSpPr/>
      </dsp:nvSpPr>
      <dsp:spPr>
        <a:xfrm>
          <a:off x="0" y="2558137"/>
          <a:ext cx="8991600" cy="142779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B32524-E9FD-443C-A267-C5A8D755B90B}">
      <dsp:nvSpPr>
        <dsp:cNvPr id="0" name=""/>
        <dsp:cNvSpPr/>
      </dsp:nvSpPr>
      <dsp:spPr>
        <a:xfrm>
          <a:off x="431908" y="2879391"/>
          <a:ext cx="785288" cy="7852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1A40AE-0E6B-4F73-AEBA-437A194423A3}">
      <dsp:nvSpPr>
        <dsp:cNvPr id="0" name=""/>
        <dsp:cNvSpPr/>
      </dsp:nvSpPr>
      <dsp:spPr>
        <a:xfrm>
          <a:off x="1649106" y="2558137"/>
          <a:ext cx="7342493" cy="14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109" tIns="151109" rIns="151109" bIns="151109" numCol="1" spcCol="1270" anchor="ctr" anchorCtr="0">
          <a:noAutofit/>
        </a:bodyPr>
        <a:lstStyle/>
        <a:p>
          <a:pPr marL="0" lvl="0" indent="0" algn="l" defTabSz="1066800">
            <a:lnSpc>
              <a:spcPct val="100000"/>
            </a:lnSpc>
            <a:spcBef>
              <a:spcPct val="0"/>
            </a:spcBef>
            <a:spcAft>
              <a:spcPct val="35000"/>
            </a:spcAft>
            <a:buNone/>
          </a:pPr>
          <a:r>
            <a:rPr lang="en-US" sz="2400" kern="1200"/>
            <a:t>A ratio of Residual Volume to total lung capacity (RV/TLC) of greater than 50 % is generally indicative of a high risk patient for pulmonary resection</a:t>
          </a:r>
        </a:p>
      </dsp:txBody>
      <dsp:txXfrm>
        <a:off x="1649106" y="2558137"/>
        <a:ext cx="7342493" cy="14277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D3F36-F2E9-4F33-85DE-7AF9DA989496}">
      <dsp:nvSpPr>
        <dsp:cNvPr id="0" name=""/>
        <dsp:cNvSpPr/>
      </dsp:nvSpPr>
      <dsp:spPr>
        <a:xfrm>
          <a:off x="2078685" y="439049"/>
          <a:ext cx="339327" cy="91440"/>
        </a:xfrm>
        <a:custGeom>
          <a:avLst/>
          <a:gdLst/>
          <a:ahLst/>
          <a:cxnLst/>
          <a:rect l="0" t="0" r="0" b="0"/>
          <a:pathLst>
            <a:path>
              <a:moveTo>
                <a:pt x="0" y="45720"/>
              </a:moveTo>
              <a:lnTo>
                <a:pt x="339327"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39100" y="482919"/>
        <a:ext cx="18496" cy="3699"/>
      </dsp:txXfrm>
    </dsp:sp>
    <dsp:sp modelId="{63374451-849F-4010-B245-BC8CB12D1FE1}">
      <dsp:nvSpPr>
        <dsp:cNvPr id="0" name=""/>
        <dsp:cNvSpPr/>
      </dsp:nvSpPr>
      <dsp:spPr>
        <a:xfrm>
          <a:off x="472104" y="2255"/>
          <a:ext cx="1608380" cy="965028"/>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812" tIns="82727" rIns="78812" bIns="82727" numCol="1" spcCol="1270" anchor="ctr" anchorCtr="0">
          <a:noAutofit/>
        </a:bodyPr>
        <a:lstStyle/>
        <a:p>
          <a:pPr marL="0" lvl="0" indent="0" algn="ctr" defTabSz="622300">
            <a:lnSpc>
              <a:spcPct val="90000"/>
            </a:lnSpc>
            <a:spcBef>
              <a:spcPct val="0"/>
            </a:spcBef>
            <a:spcAft>
              <a:spcPct val="35000"/>
            </a:spcAft>
            <a:buNone/>
          </a:pPr>
          <a:r>
            <a:rPr lang="en-US" sz="1400" kern="1200"/>
            <a:t>Reduced in obstructive disorders.</a:t>
          </a:r>
        </a:p>
      </dsp:txBody>
      <dsp:txXfrm>
        <a:off x="472104" y="2255"/>
        <a:ext cx="1608380" cy="965028"/>
      </dsp:txXfrm>
    </dsp:sp>
    <dsp:sp modelId="{5908516A-F93C-421F-9EC9-E0E8530C9153}">
      <dsp:nvSpPr>
        <dsp:cNvPr id="0" name=""/>
        <dsp:cNvSpPr/>
      </dsp:nvSpPr>
      <dsp:spPr>
        <a:xfrm>
          <a:off x="1276295" y="965483"/>
          <a:ext cx="1978307" cy="339327"/>
        </a:xfrm>
        <a:custGeom>
          <a:avLst/>
          <a:gdLst/>
          <a:ahLst/>
          <a:cxnLst/>
          <a:rect l="0" t="0" r="0" b="0"/>
          <a:pathLst>
            <a:path>
              <a:moveTo>
                <a:pt x="1978307" y="0"/>
              </a:moveTo>
              <a:lnTo>
                <a:pt x="1978307" y="186763"/>
              </a:lnTo>
              <a:lnTo>
                <a:pt x="0" y="186763"/>
              </a:lnTo>
              <a:lnTo>
                <a:pt x="0" y="339327"/>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5134" y="1133297"/>
        <a:ext cx="100629" cy="3699"/>
      </dsp:txXfrm>
    </dsp:sp>
    <dsp:sp modelId="{25B90D89-F5A0-4889-B394-F1C995DEB203}">
      <dsp:nvSpPr>
        <dsp:cNvPr id="0" name=""/>
        <dsp:cNvSpPr/>
      </dsp:nvSpPr>
      <dsp:spPr>
        <a:xfrm>
          <a:off x="2450412" y="2255"/>
          <a:ext cx="1608380" cy="965028"/>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812" tIns="82727" rIns="78812" bIns="82727" numCol="1" spcCol="1270" anchor="ctr" anchorCtr="0">
          <a:noAutofit/>
        </a:bodyPr>
        <a:lstStyle/>
        <a:p>
          <a:pPr marL="0" lvl="0" indent="0" algn="ctr" defTabSz="622300">
            <a:lnSpc>
              <a:spcPct val="90000"/>
            </a:lnSpc>
            <a:spcBef>
              <a:spcPct val="0"/>
            </a:spcBef>
            <a:spcAft>
              <a:spcPct val="35000"/>
            </a:spcAft>
            <a:buNone/>
          </a:pPr>
          <a:r>
            <a:rPr lang="en-US" sz="1400" b="1" kern="1200"/>
            <a:t>Interpretation of % predicted:</a:t>
          </a:r>
          <a:endParaRPr lang="en-US" sz="1400" kern="1200"/>
        </a:p>
      </dsp:txBody>
      <dsp:txXfrm>
        <a:off x="2450412" y="2255"/>
        <a:ext cx="1608380" cy="965028"/>
      </dsp:txXfrm>
    </dsp:sp>
    <dsp:sp modelId="{79BF6A79-845B-46E9-AE01-80156146A041}">
      <dsp:nvSpPr>
        <dsp:cNvPr id="0" name=""/>
        <dsp:cNvSpPr/>
      </dsp:nvSpPr>
      <dsp:spPr>
        <a:xfrm>
          <a:off x="2078685" y="1774005"/>
          <a:ext cx="339327" cy="91440"/>
        </a:xfrm>
        <a:custGeom>
          <a:avLst/>
          <a:gdLst/>
          <a:ahLst/>
          <a:cxnLst/>
          <a:rect l="0" t="0" r="0" b="0"/>
          <a:pathLst>
            <a:path>
              <a:moveTo>
                <a:pt x="0" y="45720"/>
              </a:moveTo>
              <a:lnTo>
                <a:pt x="339327" y="45720"/>
              </a:lnTo>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39100" y="1817875"/>
        <a:ext cx="18496" cy="3699"/>
      </dsp:txXfrm>
    </dsp:sp>
    <dsp:sp modelId="{1AB4108E-80A5-4C29-B026-45BFDB15C99B}">
      <dsp:nvSpPr>
        <dsp:cNvPr id="0" name=""/>
        <dsp:cNvSpPr/>
      </dsp:nvSpPr>
      <dsp:spPr>
        <a:xfrm>
          <a:off x="472104" y="1337210"/>
          <a:ext cx="1608380" cy="965028"/>
        </a:xfrm>
        <a:prstGeom prst="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812" tIns="82727" rIns="78812" bIns="82727" numCol="1" spcCol="1270" anchor="ctr" anchorCtr="0">
          <a:noAutofit/>
        </a:bodyPr>
        <a:lstStyle/>
        <a:p>
          <a:pPr marL="0" lvl="0" indent="0" algn="ctr" defTabSz="622300">
            <a:lnSpc>
              <a:spcPct val="90000"/>
            </a:lnSpc>
            <a:spcBef>
              <a:spcPct val="0"/>
            </a:spcBef>
            <a:spcAft>
              <a:spcPct val="35000"/>
            </a:spcAft>
            <a:buNone/>
          </a:pPr>
          <a:r>
            <a:rPr lang="en-US" sz="1400" kern="1200"/>
            <a:t>-  &gt;75% Normal</a:t>
          </a:r>
        </a:p>
      </dsp:txBody>
      <dsp:txXfrm>
        <a:off x="472104" y="1337210"/>
        <a:ext cx="1608380" cy="965028"/>
      </dsp:txXfrm>
    </dsp:sp>
    <dsp:sp modelId="{2DA93CCE-96D2-4CC5-A749-752829412592}">
      <dsp:nvSpPr>
        <dsp:cNvPr id="0" name=""/>
        <dsp:cNvSpPr/>
      </dsp:nvSpPr>
      <dsp:spPr>
        <a:xfrm>
          <a:off x="1276295" y="2300439"/>
          <a:ext cx="1978307" cy="339327"/>
        </a:xfrm>
        <a:custGeom>
          <a:avLst/>
          <a:gdLst/>
          <a:ahLst/>
          <a:cxnLst/>
          <a:rect l="0" t="0" r="0" b="0"/>
          <a:pathLst>
            <a:path>
              <a:moveTo>
                <a:pt x="1978307" y="0"/>
              </a:moveTo>
              <a:lnTo>
                <a:pt x="1978307" y="186763"/>
              </a:lnTo>
              <a:lnTo>
                <a:pt x="0" y="186763"/>
              </a:lnTo>
              <a:lnTo>
                <a:pt x="0" y="339327"/>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5134" y="2468253"/>
        <a:ext cx="100629" cy="3699"/>
      </dsp:txXfrm>
    </dsp:sp>
    <dsp:sp modelId="{40952BD6-2901-4165-AF12-4A751390E413}">
      <dsp:nvSpPr>
        <dsp:cNvPr id="0" name=""/>
        <dsp:cNvSpPr/>
      </dsp:nvSpPr>
      <dsp:spPr>
        <a:xfrm>
          <a:off x="2450412" y="1337210"/>
          <a:ext cx="1608380" cy="965028"/>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812" tIns="82727" rIns="78812" bIns="82727" numCol="1" spcCol="1270" anchor="ctr" anchorCtr="0">
          <a:noAutofit/>
        </a:bodyPr>
        <a:lstStyle/>
        <a:p>
          <a:pPr marL="0" lvl="0" indent="0" algn="ctr" defTabSz="622300">
            <a:lnSpc>
              <a:spcPct val="90000"/>
            </a:lnSpc>
            <a:spcBef>
              <a:spcPct val="0"/>
            </a:spcBef>
            <a:spcAft>
              <a:spcPct val="35000"/>
            </a:spcAft>
            <a:buNone/>
          </a:pPr>
          <a:r>
            <a:rPr lang="en-US" sz="1400" kern="1200"/>
            <a:t>-  60%‐75% Mild obstruction</a:t>
          </a:r>
        </a:p>
      </dsp:txBody>
      <dsp:txXfrm>
        <a:off x="2450412" y="1337210"/>
        <a:ext cx="1608380" cy="965028"/>
      </dsp:txXfrm>
    </dsp:sp>
    <dsp:sp modelId="{F8D4DB14-3210-442E-9A55-B69515D34C63}">
      <dsp:nvSpPr>
        <dsp:cNvPr id="0" name=""/>
        <dsp:cNvSpPr/>
      </dsp:nvSpPr>
      <dsp:spPr>
        <a:xfrm>
          <a:off x="2078685" y="3108960"/>
          <a:ext cx="339327" cy="91440"/>
        </a:xfrm>
        <a:custGeom>
          <a:avLst/>
          <a:gdLst/>
          <a:ahLst/>
          <a:cxnLst/>
          <a:rect l="0" t="0" r="0" b="0"/>
          <a:pathLst>
            <a:path>
              <a:moveTo>
                <a:pt x="0" y="45720"/>
              </a:moveTo>
              <a:lnTo>
                <a:pt x="339327" y="45720"/>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39100" y="3152831"/>
        <a:ext cx="18496" cy="3699"/>
      </dsp:txXfrm>
    </dsp:sp>
    <dsp:sp modelId="{81BB6092-E31B-4CC9-9601-B9E44962782F}">
      <dsp:nvSpPr>
        <dsp:cNvPr id="0" name=""/>
        <dsp:cNvSpPr/>
      </dsp:nvSpPr>
      <dsp:spPr>
        <a:xfrm>
          <a:off x="472104" y="2672166"/>
          <a:ext cx="1608380" cy="96502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812" tIns="82727" rIns="78812" bIns="82727" numCol="1" spcCol="1270" anchor="ctr" anchorCtr="0">
          <a:noAutofit/>
        </a:bodyPr>
        <a:lstStyle/>
        <a:p>
          <a:pPr marL="0" lvl="0" indent="0" algn="ctr" defTabSz="622300">
            <a:lnSpc>
              <a:spcPct val="90000"/>
            </a:lnSpc>
            <a:spcBef>
              <a:spcPct val="0"/>
            </a:spcBef>
            <a:spcAft>
              <a:spcPct val="35000"/>
            </a:spcAft>
            <a:buNone/>
          </a:pPr>
          <a:r>
            <a:rPr lang="en-US" sz="1400" kern="1200"/>
            <a:t>-  50‐59% Moderate obstruction</a:t>
          </a:r>
        </a:p>
      </dsp:txBody>
      <dsp:txXfrm>
        <a:off x="472104" y="2672166"/>
        <a:ext cx="1608380" cy="965028"/>
      </dsp:txXfrm>
    </dsp:sp>
    <dsp:sp modelId="{A6067E45-9540-44C6-B5BF-5A71E2A63070}">
      <dsp:nvSpPr>
        <dsp:cNvPr id="0" name=""/>
        <dsp:cNvSpPr/>
      </dsp:nvSpPr>
      <dsp:spPr>
        <a:xfrm>
          <a:off x="2450412" y="2672166"/>
          <a:ext cx="1608380" cy="965028"/>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8812" tIns="82727" rIns="78812" bIns="82727" numCol="1" spcCol="1270" anchor="t" anchorCtr="0">
          <a:noAutofit/>
        </a:bodyPr>
        <a:lstStyle/>
        <a:p>
          <a:pPr marL="0" lvl="0" indent="0" algn="l" defTabSz="622300">
            <a:lnSpc>
              <a:spcPct val="90000"/>
            </a:lnSpc>
            <a:spcBef>
              <a:spcPct val="0"/>
            </a:spcBef>
            <a:spcAft>
              <a:spcPct val="35000"/>
            </a:spcAft>
            <a:buNone/>
          </a:pPr>
          <a:r>
            <a:rPr lang="en-US" sz="1400" kern="1200"/>
            <a:t>- &lt;49% Severe obstruction</a:t>
          </a:r>
        </a:p>
        <a:p>
          <a:pPr marL="57150" lvl="1" indent="-57150" algn="l" defTabSz="488950">
            <a:lnSpc>
              <a:spcPct val="90000"/>
            </a:lnSpc>
            <a:spcBef>
              <a:spcPct val="0"/>
            </a:spcBef>
            <a:spcAft>
              <a:spcPct val="15000"/>
            </a:spcAft>
            <a:buChar char="•"/>
          </a:pPr>
          <a:r>
            <a:rPr lang="en-US" sz="1100" kern="1200"/>
            <a:t>It is normal in restrictive disease</a:t>
          </a:r>
        </a:p>
      </dsp:txBody>
      <dsp:txXfrm>
        <a:off x="2450412" y="2672166"/>
        <a:ext cx="1608380" cy="9650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56B3E-A595-4001-AB1B-F1CC41790745}">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147509-A3E8-4CC8-85C6-FCE1FD2AB37D}">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D0C41D-6458-4CBB-8DCE-88F05BF2B04D}">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Pulmonary function tests are usually performed before and after bronchodilator   </a:t>
          </a:r>
        </a:p>
      </dsp:txBody>
      <dsp:txXfrm>
        <a:off x="1437631" y="531"/>
        <a:ext cx="9077968" cy="1244702"/>
      </dsp:txXfrm>
    </dsp:sp>
    <dsp:sp modelId="{EADB3EFE-58B1-45F2-84CA-C47E9AFAED1B}">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F9A318-21E4-4B50-8A49-EE4C18D0FE41}">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90F346-4130-4AF5-A07A-7C367E5396E0}">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therapy to assess the reversibility of the airways obstruction.  </a:t>
          </a:r>
        </a:p>
      </dsp:txBody>
      <dsp:txXfrm>
        <a:off x="1437631" y="1556410"/>
        <a:ext cx="9077968" cy="1244702"/>
      </dsp:txXfrm>
    </dsp:sp>
    <dsp:sp modelId="{779E4860-B582-4263-BCB1-996896BAE346}">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E63A3B-1021-4A56-B31B-273F1FDE2A76}">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FD78C7-1C08-449A-B59A-1D9981FF7301}">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A 15 % improvement in pulmonary function tests may be considered a positive  response to bronchodilator therapy and indicates that this therapy should be initiated  preoperatively.</a:t>
          </a:r>
        </a:p>
      </dsp:txBody>
      <dsp:txXfrm>
        <a:off x="1437631" y="3112289"/>
        <a:ext cx="9077968" cy="124470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7A2A92-3B5E-4069-AB05-D84F5A9D0025}">
      <dsp:nvSpPr>
        <dsp:cNvPr id="0" name=""/>
        <dsp:cNvSpPr/>
      </dsp:nvSpPr>
      <dsp:spPr>
        <a:xfrm>
          <a:off x="0" y="0"/>
          <a:ext cx="5030456" cy="149379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  Anesthesia and postoperative medications can cause changes in lung volumes and ventilatory pattern.</a:t>
          </a:r>
        </a:p>
      </dsp:txBody>
      <dsp:txXfrm>
        <a:off x="43752" y="43752"/>
        <a:ext cx="3418532" cy="1406293"/>
      </dsp:txXfrm>
    </dsp:sp>
    <dsp:sp modelId="{8EDF87F2-233F-42BC-812A-4DBDB7C3E7F3}">
      <dsp:nvSpPr>
        <dsp:cNvPr id="0" name=""/>
        <dsp:cNvSpPr/>
      </dsp:nvSpPr>
      <dsp:spPr>
        <a:xfrm>
          <a:off x="443863" y="1742763"/>
          <a:ext cx="5030456" cy="1493797"/>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Total lung capacity → decreases after abdominal surgery but not after  surgery on an extremity.</a:t>
          </a:r>
        </a:p>
      </dsp:txBody>
      <dsp:txXfrm>
        <a:off x="487615" y="1786515"/>
        <a:ext cx="3528120" cy="1406293"/>
      </dsp:txXfrm>
    </dsp:sp>
    <dsp:sp modelId="{001C1D9C-A824-44D0-ABF6-D23FB56B1B15}">
      <dsp:nvSpPr>
        <dsp:cNvPr id="0" name=""/>
        <dsp:cNvSpPr/>
      </dsp:nvSpPr>
      <dsp:spPr>
        <a:xfrm>
          <a:off x="887727" y="3485526"/>
          <a:ext cx="5030456" cy="1493797"/>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Vital capacity → decreased by 25 - 50 % within 1-2 days after surgery and generally returns to normal after 1-2 weeks.</a:t>
          </a:r>
        </a:p>
      </dsp:txBody>
      <dsp:txXfrm>
        <a:off x="931479" y="3529278"/>
        <a:ext cx="3528120" cy="1406293"/>
      </dsp:txXfrm>
    </dsp:sp>
    <dsp:sp modelId="{96022A39-14CC-4EF8-90BE-CBFCC120587B}">
      <dsp:nvSpPr>
        <dsp:cNvPr id="0" name=""/>
        <dsp:cNvSpPr/>
      </dsp:nvSpPr>
      <dsp:spPr>
        <a:xfrm>
          <a:off x="4059488" y="1132796"/>
          <a:ext cx="970968" cy="970968"/>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277956" y="1132796"/>
        <a:ext cx="534032" cy="730653"/>
      </dsp:txXfrm>
    </dsp:sp>
    <dsp:sp modelId="{1FCB2DB2-E25D-46C4-946E-26B71E2CB59C}">
      <dsp:nvSpPr>
        <dsp:cNvPr id="0" name=""/>
        <dsp:cNvSpPr/>
      </dsp:nvSpPr>
      <dsp:spPr>
        <a:xfrm>
          <a:off x="4503352" y="2865600"/>
          <a:ext cx="970968" cy="970968"/>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721820" y="2865600"/>
        <a:ext cx="534032" cy="73065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FC8135-70D4-4467-B593-F3DAE96AAA22}">
      <dsp:nvSpPr>
        <dsp:cNvPr id="0" name=""/>
        <dsp:cNvSpPr/>
      </dsp:nvSpPr>
      <dsp:spPr>
        <a:xfrm>
          <a:off x="0" y="0"/>
          <a:ext cx="5030456" cy="149379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  Residual volume - increases by 13% where as expiratory reserve volume  decreased by 25 % after lower abdominal surgery and 60% after upper  abdominal and thoracic surgery.</a:t>
          </a:r>
        </a:p>
      </dsp:txBody>
      <dsp:txXfrm>
        <a:off x="43752" y="43752"/>
        <a:ext cx="3418532" cy="1406293"/>
      </dsp:txXfrm>
    </dsp:sp>
    <dsp:sp modelId="{86DC2A6C-9E3E-4C65-ADFE-66707E52D15F}">
      <dsp:nvSpPr>
        <dsp:cNvPr id="0" name=""/>
        <dsp:cNvSpPr/>
      </dsp:nvSpPr>
      <dsp:spPr>
        <a:xfrm>
          <a:off x="443863" y="1742763"/>
          <a:ext cx="5030456" cy="1493797"/>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Tidal volume (VT) - decreases by 20% within 24 hrs. After surgery and gradually returns to normal after 2 weeks.</a:t>
          </a:r>
        </a:p>
      </dsp:txBody>
      <dsp:txXfrm>
        <a:off x="487615" y="1786515"/>
        <a:ext cx="3528120" cy="1406293"/>
      </dsp:txXfrm>
    </dsp:sp>
    <dsp:sp modelId="{29AE1281-DE6A-4A0A-8FD7-C0B63EE2F254}">
      <dsp:nvSpPr>
        <dsp:cNvPr id="0" name=""/>
        <dsp:cNvSpPr/>
      </dsp:nvSpPr>
      <dsp:spPr>
        <a:xfrm>
          <a:off x="887727" y="3485526"/>
          <a:ext cx="5030456" cy="1493797"/>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Pulmonary compliance - decreases by 33% with similar reductions in  functional residual capacity (FRC) secondary to small airways closure.</a:t>
          </a:r>
        </a:p>
      </dsp:txBody>
      <dsp:txXfrm>
        <a:off x="931479" y="3529278"/>
        <a:ext cx="3528120" cy="1406293"/>
      </dsp:txXfrm>
    </dsp:sp>
    <dsp:sp modelId="{593707BF-19D5-475E-B9E9-43D4E5FEA426}">
      <dsp:nvSpPr>
        <dsp:cNvPr id="0" name=""/>
        <dsp:cNvSpPr/>
      </dsp:nvSpPr>
      <dsp:spPr>
        <a:xfrm>
          <a:off x="4059488" y="1132796"/>
          <a:ext cx="970968" cy="970968"/>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277956" y="1132796"/>
        <a:ext cx="534032" cy="730653"/>
      </dsp:txXfrm>
    </dsp:sp>
    <dsp:sp modelId="{629177E1-F906-440A-A27B-A86007E7B34F}">
      <dsp:nvSpPr>
        <dsp:cNvPr id="0" name=""/>
        <dsp:cNvSpPr/>
      </dsp:nvSpPr>
      <dsp:spPr>
        <a:xfrm>
          <a:off x="4503352" y="2865600"/>
          <a:ext cx="970968" cy="970968"/>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721820" y="2865600"/>
        <a:ext cx="534032" cy="73065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CB8301-3DFC-4432-B530-A944CDFBCC62}">
      <dsp:nvSpPr>
        <dsp:cNvPr id="0" name=""/>
        <dsp:cNvSpPr/>
      </dsp:nvSpPr>
      <dsp:spPr>
        <a:xfrm>
          <a:off x="0" y="3748200"/>
          <a:ext cx="5918184" cy="1230243"/>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The rationale to perform the thoracotomy is based on:</a:t>
          </a:r>
        </a:p>
      </dsp:txBody>
      <dsp:txXfrm>
        <a:off x="0" y="3748200"/>
        <a:ext cx="5918184" cy="664331"/>
      </dsp:txXfrm>
    </dsp:sp>
    <dsp:sp modelId="{5F622466-7DD2-4592-B86F-AA0DD813166E}">
      <dsp:nvSpPr>
        <dsp:cNvPr id="0" name=""/>
        <dsp:cNvSpPr/>
      </dsp:nvSpPr>
      <dsp:spPr>
        <a:xfrm>
          <a:off x="0" y="4387927"/>
          <a:ext cx="2959092" cy="565911"/>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t>Resecting the tumor</a:t>
          </a:r>
        </a:p>
      </dsp:txBody>
      <dsp:txXfrm>
        <a:off x="0" y="4387927"/>
        <a:ext cx="2959092" cy="565911"/>
      </dsp:txXfrm>
    </dsp:sp>
    <dsp:sp modelId="{6305E99D-DCF7-4EBC-82B4-12919DAC1E4C}">
      <dsp:nvSpPr>
        <dsp:cNvPr id="0" name=""/>
        <dsp:cNvSpPr/>
      </dsp:nvSpPr>
      <dsp:spPr>
        <a:xfrm>
          <a:off x="2959092" y="4387927"/>
          <a:ext cx="2959092" cy="565911"/>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t>Patient's ability to tolerate the surgical results</a:t>
          </a:r>
        </a:p>
      </dsp:txBody>
      <dsp:txXfrm>
        <a:off x="2959092" y="4387927"/>
        <a:ext cx="2959092" cy="565911"/>
      </dsp:txXfrm>
    </dsp:sp>
    <dsp:sp modelId="{3F6C6384-058D-4290-8FC3-B98BED500E66}">
      <dsp:nvSpPr>
        <dsp:cNvPr id="0" name=""/>
        <dsp:cNvSpPr/>
      </dsp:nvSpPr>
      <dsp:spPr>
        <a:xfrm rot="10800000">
          <a:off x="0" y="1874540"/>
          <a:ext cx="5918184" cy="1892113"/>
        </a:xfrm>
        <a:prstGeom prst="upArrowCallou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The concern relates to whether there is enough viable lung tissue following the removal of cancerous lung tissue.</a:t>
          </a:r>
        </a:p>
      </dsp:txBody>
      <dsp:txXfrm rot="10800000">
        <a:off x="0" y="1874540"/>
        <a:ext cx="5918184" cy="1229438"/>
      </dsp:txXfrm>
    </dsp:sp>
    <dsp:sp modelId="{2AF1F5FF-3BA6-486D-B216-C0ECBF2C8C15}">
      <dsp:nvSpPr>
        <dsp:cNvPr id="0" name=""/>
        <dsp:cNvSpPr/>
      </dsp:nvSpPr>
      <dsp:spPr>
        <a:xfrm rot="10800000">
          <a:off x="0" y="880"/>
          <a:ext cx="5918184" cy="1892113"/>
        </a:xfrm>
        <a:prstGeom prst="upArrowCallou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This nuclear medicine procedure is done to evaluate respectability of lung tissue on patients with lung carcinoma or lung transplant. </a:t>
          </a:r>
        </a:p>
      </dsp:txBody>
      <dsp:txXfrm rot="10800000">
        <a:off x="0" y="880"/>
        <a:ext cx="5918184" cy="122943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874259-0593-4AE4-9254-D75C99FF8509}">
      <dsp:nvSpPr>
        <dsp:cNvPr id="0" name=""/>
        <dsp:cNvSpPr/>
      </dsp:nvSpPr>
      <dsp:spPr>
        <a:xfrm>
          <a:off x="0" y="201141"/>
          <a:ext cx="5918184" cy="225108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The involved lung tissue may contribute</a:t>
          </a:r>
          <a:br>
            <a:rPr lang="en-US" sz="2600" kern="1200"/>
          </a:br>
          <a:r>
            <a:rPr lang="en-US" sz="2600" kern="1200"/>
            <a:t>little to existing lung function, and therefore its removal may not cause further deterioration of pulmonary function. </a:t>
          </a:r>
        </a:p>
      </dsp:txBody>
      <dsp:txXfrm>
        <a:off x="109889" y="311030"/>
        <a:ext cx="5698406" cy="2031302"/>
      </dsp:txXfrm>
    </dsp:sp>
    <dsp:sp modelId="{5CF1544F-61A8-4B1E-8A1D-D58FE0635F55}">
      <dsp:nvSpPr>
        <dsp:cNvPr id="0" name=""/>
        <dsp:cNvSpPr/>
      </dsp:nvSpPr>
      <dsp:spPr>
        <a:xfrm>
          <a:off x="0" y="2527101"/>
          <a:ext cx="5918184" cy="225108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Thus some patients who would be denied operations based on the initial results may be considered surgical candidates after more specific evaluation.</a:t>
          </a:r>
        </a:p>
      </dsp:txBody>
      <dsp:txXfrm>
        <a:off x="109889" y="2636990"/>
        <a:ext cx="5698406" cy="203130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65E71-D1DE-4813-93F6-C2DDCC26DCEF}">
      <dsp:nvSpPr>
        <dsp:cNvPr id="0" name=""/>
        <dsp:cNvSpPr/>
      </dsp:nvSpPr>
      <dsp:spPr>
        <a:xfrm>
          <a:off x="0" y="524652"/>
          <a:ext cx="5918184" cy="1275446"/>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Regional lung function studies serve to predict the function of the lung tissue that would remain after lung resection.</a:t>
          </a:r>
        </a:p>
      </dsp:txBody>
      <dsp:txXfrm>
        <a:off x="62262" y="586914"/>
        <a:ext cx="5793660" cy="1150922"/>
      </dsp:txXfrm>
    </dsp:sp>
    <dsp:sp modelId="{80D9E0ED-767F-4790-9B47-9031084E3D1F}">
      <dsp:nvSpPr>
        <dsp:cNvPr id="0" name=""/>
        <dsp:cNvSpPr/>
      </dsp:nvSpPr>
      <dsp:spPr>
        <a:xfrm>
          <a:off x="0" y="1851938"/>
          <a:ext cx="5918184" cy="1275446"/>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methods have been described to try and simulate the postoperative respiratory situation by unilateral exclusion of a lung or lobe with an endobronchial tube/blocker or by pulmonary artery balloon occlusion  of a lung or lobe artery</a:t>
          </a:r>
        </a:p>
      </dsp:txBody>
      <dsp:txXfrm>
        <a:off x="62262" y="1914200"/>
        <a:ext cx="5793660" cy="1150922"/>
      </dsp:txXfrm>
    </dsp:sp>
    <dsp:sp modelId="{884DC272-4D32-422E-A565-D7776688ADCB}">
      <dsp:nvSpPr>
        <dsp:cNvPr id="0" name=""/>
        <dsp:cNvSpPr/>
      </dsp:nvSpPr>
      <dsp:spPr>
        <a:xfrm>
          <a:off x="0" y="3179225"/>
          <a:ext cx="5918184" cy="1275446"/>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 whole (two)-lung test may fail to estimate whether the amount of post resection lung tissue will allow the patient to function at a reasonable level of activity without disabling dyspnea or cor pulmonale</a:t>
          </a:r>
        </a:p>
      </dsp:txBody>
      <dsp:txXfrm>
        <a:off x="62262" y="3241487"/>
        <a:ext cx="5793660" cy="115092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BB7A44-52D1-453A-93B2-AB2FC30DA1FF}">
      <dsp:nvSpPr>
        <dsp:cNvPr id="0" name=""/>
        <dsp:cNvSpPr/>
      </dsp:nvSpPr>
      <dsp:spPr>
        <a:xfrm>
          <a:off x="0" y="879157"/>
          <a:ext cx="8686800" cy="16230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905BC2-F293-465C-8150-1323E23BFED9}">
      <dsp:nvSpPr>
        <dsp:cNvPr id="0" name=""/>
        <dsp:cNvSpPr/>
      </dsp:nvSpPr>
      <dsp:spPr>
        <a:xfrm>
          <a:off x="490975" y="1244345"/>
          <a:ext cx="892683" cy="8926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F41A64-1035-456E-B8E2-5686A1C60BCB}">
      <dsp:nvSpPr>
        <dsp:cNvPr id="0" name=""/>
        <dsp:cNvSpPr/>
      </dsp:nvSpPr>
      <dsp:spPr>
        <a:xfrm>
          <a:off x="1874634" y="879157"/>
          <a:ext cx="6812165" cy="1623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774" tIns="171774" rIns="171774" bIns="171774" numCol="1" spcCol="1270" anchor="ctr" anchorCtr="0">
          <a:noAutofit/>
        </a:bodyPr>
        <a:lstStyle/>
        <a:p>
          <a:pPr marL="0" lvl="0" indent="0" algn="l" defTabSz="977900">
            <a:lnSpc>
              <a:spcPct val="100000"/>
            </a:lnSpc>
            <a:spcBef>
              <a:spcPct val="0"/>
            </a:spcBef>
            <a:spcAft>
              <a:spcPct val="35000"/>
            </a:spcAft>
            <a:buNone/>
          </a:pPr>
          <a:r>
            <a:rPr lang="en-US" sz="2200" kern="1200" dirty="0"/>
            <a:t>The best assessment of respiratory function comes from a history of the patient's quality of life.</a:t>
          </a:r>
        </a:p>
      </dsp:txBody>
      <dsp:txXfrm>
        <a:off x="1874634" y="879157"/>
        <a:ext cx="6812165" cy="1623060"/>
      </dsp:txXfrm>
    </dsp:sp>
    <dsp:sp modelId="{5CEB9167-D461-4CA0-99D6-CF356229D3F2}">
      <dsp:nvSpPr>
        <dsp:cNvPr id="0" name=""/>
        <dsp:cNvSpPr/>
      </dsp:nvSpPr>
      <dsp:spPr>
        <a:xfrm>
          <a:off x="0" y="2907982"/>
          <a:ext cx="8686800" cy="16230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51E3DC-D6F6-416E-BA62-C734BD32FA32}">
      <dsp:nvSpPr>
        <dsp:cNvPr id="0" name=""/>
        <dsp:cNvSpPr/>
      </dsp:nvSpPr>
      <dsp:spPr>
        <a:xfrm>
          <a:off x="490975" y="3273171"/>
          <a:ext cx="892683" cy="8926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888485-DDD8-4C75-9EDF-50BE6ECE9304}">
      <dsp:nvSpPr>
        <dsp:cNvPr id="0" name=""/>
        <dsp:cNvSpPr/>
      </dsp:nvSpPr>
      <dsp:spPr>
        <a:xfrm>
          <a:off x="1874634" y="2907982"/>
          <a:ext cx="6812165" cy="1623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774" tIns="171774" rIns="171774" bIns="171774" numCol="1" spcCol="1270" anchor="ctr" anchorCtr="0">
          <a:noAutofit/>
        </a:bodyPr>
        <a:lstStyle/>
        <a:p>
          <a:pPr marL="0" lvl="0" indent="0" algn="l" defTabSz="977900">
            <a:lnSpc>
              <a:spcPct val="100000"/>
            </a:lnSpc>
            <a:spcBef>
              <a:spcPct val="0"/>
            </a:spcBef>
            <a:spcAft>
              <a:spcPct val="35000"/>
            </a:spcAft>
            <a:buNone/>
          </a:pPr>
          <a:r>
            <a:rPr lang="en-US" sz="2200" kern="1200"/>
            <a:t>An asymptomatic American Society of Anesthesiologists (ASA) class I or II patient with full exercise capacity does not need screening cardiorespiratory testing. </a:t>
          </a:r>
        </a:p>
      </dsp:txBody>
      <dsp:txXfrm>
        <a:off x="1874634" y="2907982"/>
        <a:ext cx="6812165" cy="162306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8710F7-05E9-48DD-9176-5120C393EBFE}">
      <dsp:nvSpPr>
        <dsp:cNvPr id="0" name=""/>
        <dsp:cNvSpPr/>
      </dsp:nvSpPr>
      <dsp:spPr>
        <a:xfrm>
          <a:off x="0" y="3005285"/>
          <a:ext cx="5918184" cy="1971792"/>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If ppoFEV</a:t>
          </a:r>
          <a:r>
            <a:rPr lang="en-US" sz="2200" kern="1200" baseline="-25000" dirty="0"/>
            <a:t>1</a:t>
          </a:r>
          <a:r>
            <a:rPr lang="en-US" sz="2200" kern="1200" dirty="0"/>
            <a:t> is greater than 30% and exercise tolerance and lung parenchymal function exceed the increased risk thresholds, then extubation in the operating room should be possible depending on the status of associated diseases. </a:t>
          </a:r>
        </a:p>
      </dsp:txBody>
      <dsp:txXfrm>
        <a:off x="0" y="3005285"/>
        <a:ext cx="5918184" cy="1971792"/>
      </dsp:txXfrm>
    </dsp:sp>
    <dsp:sp modelId="{2FDF277F-6509-464F-82F0-D7395315C9EF}">
      <dsp:nvSpPr>
        <dsp:cNvPr id="0" name=""/>
        <dsp:cNvSpPr/>
      </dsp:nvSpPr>
      <dsp:spPr>
        <a:xfrm rot="10800000">
          <a:off x="0" y="2245"/>
          <a:ext cx="5918184" cy="3032617"/>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If a patient has ppoFEV</a:t>
          </a:r>
          <a:r>
            <a:rPr lang="en-US" sz="2200" kern="1200" baseline="-25000" dirty="0"/>
            <a:t>1</a:t>
          </a:r>
          <a:r>
            <a:rPr lang="en-US" sz="2200" kern="1200" dirty="0"/>
            <a:t> greater than 40%, it should be possible for the patient to be extubated in the operating room at the conclusion of surgery, assuming the patient is alert, warm, and comfortable ("</a:t>
          </a:r>
          <a:r>
            <a:rPr lang="en-US" sz="2200" kern="1200" dirty="0" err="1"/>
            <a:t>AWaC</a:t>
          </a:r>
          <a:r>
            <a:rPr lang="en-US" sz="2200" kern="1200" dirty="0"/>
            <a:t>"). </a:t>
          </a:r>
        </a:p>
      </dsp:txBody>
      <dsp:txXfrm rot="10800000">
        <a:off x="0" y="2245"/>
        <a:ext cx="5918184" cy="19705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E0DDEB-AFAD-B44E-ACFD-E99A40A95D1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3E705A3D-E482-D8C7-B880-96F4882D1E8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4B17027A-2764-4EEA-BE79-D0841A2E144D}" type="datetimeFigureOut">
              <a:rPr lang="en-US"/>
              <a:pPr>
                <a:defRPr/>
              </a:pPr>
              <a:t>4/5/2025</a:t>
            </a:fld>
            <a:endParaRPr lang="en-US"/>
          </a:p>
        </p:txBody>
      </p:sp>
      <p:sp>
        <p:nvSpPr>
          <p:cNvPr id="4" name="Slide Image Placeholder 3">
            <a:extLst>
              <a:ext uri="{FF2B5EF4-FFF2-40B4-BE49-F238E27FC236}">
                <a16:creationId xmlns:a16="http://schemas.microsoft.com/office/drawing/2014/main" id="{3D5F8F5E-7C02-158B-F3C5-2229276508D9}"/>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2FABFF8-6514-6D5C-93D9-A0A8870CB79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E4DB0DA-8ED4-2E67-14EF-C36A13D22FA8}"/>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DB3A8164-B074-4B33-1D4B-C289247FAE5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458D6989-B0DE-47A7-884C-22E74A46F6E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8550828C-11FF-7309-9FE2-A102962228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a:extLst>
              <a:ext uri="{FF2B5EF4-FFF2-40B4-BE49-F238E27FC236}">
                <a16:creationId xmlns:a16="http://schemas.microsoft.com/office/drawing/2014/main" id="{E22F1B62-490D-FB6A-3C20-66489A1015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100" name="Slide Number Placeholder 3">
            <a:extLst>
              <a:ext uri="{FF2B5EF4-FFF2-40B4-BE49-F238E27FC236}">
                <a16:creationId xmlns:a16="http://schemas.microsoft.com/office/drawing/2014/main" id="{FCF86C87-33A9-D696-77E0-BDFE0F69E64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E26FE2E-5D85-449D-B589-C1C3B4800A02}"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BA9D88E0-6D00-4BB3-2145-8D46A39D547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4A1EA6E6-F31A-492A-8510-E02A5938BDD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148" name="Slide Number Placeholder 3">
            <a:extLst>
              <a:ext uri="{FF2B5EF4-FFF2-40B4-BE49-F238E27FC236}">
                <a16:creationId xmlns:a16="http://schemas.microsoft.com/office/drawing/2014/main" id="{D8D9D450-6057-5390-C027-D5C5D0ABC41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538997C-4197-47BD-BE62-490852ED1B55}" type="slidenum">
              <a:rPr lang="en-US" altLang="en-US" smtClean="0">
                <a:latin typeface="Calibri" panose="020F0502020204030204" pitchFamily="34" charset="0"/>
              </a:rPr>
              <a:pPr/>
              <a:t>2</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98A36C0B-5B94-ABB3-A141-C7B26B18FF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52D41A0B-0A3B-BA4C-1800-71B74AC78D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316" name="Slide Number Placeholder 3">
            <a:extLst>
              <a:ext uri="{FF2B5EF4-FFF2-40B4-BE49-F238E27FC236}">
                <a16:creationId xmlns:a16="http://schemas.microsoft.com/office/drawing/2014/main" id="{56673CF3-F1F9-826E-BEFF-AF2FAB2048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6A8BA32-241D-4D07-946E-58C5701FD3D9}" type="slidenum">
              <a:rPr lang="en-US" altLang="en-US" smtClean="0"/>
              <a:pPr>
                <a:spcBef>
                  <a:spcPct val="0"/>
                </a:spcBef>
              </a:pPr>
              <a:t>8</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2F8B6023-8BE1-9A4A-6A9E-5CC6F53924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30672B03-6603-9630-4C78-0F653371D2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Predicted DLCO for Hb= Predicted DLCO * (1.7 Hb/10.22 + Hb)</a:t>
            </a:r>
            <a:endParaRPr lang="en-US" altLang="en-US"/>
          </a:p>
        </p:txBody>
      </p:sp>
      <p:sp>
        <p:nvSpPr>
          <p:cNvPr id="37892" name="Slide Number Placeholder 3">
            <a:extLst>
              <a:ext uri="{FF2B5EF4-FFF2-40B4-BE49-F238E27FC236}">
                <a16:creationId xmlns:a16="http://schemas.microsoft.com/office/drawing/2014/main" id="{035696B2-46B9-7E7F-8300-81B3AECDF4D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7645E6D-4055-44FD-9197-11D7F9A9D0D3}" type="slidenum">
              <a:rPr lang="en-US" altLang="en-US" smtClean="0"/>
              <a:pPr>
                <a:spcBef>
                  <a:spcPct val="0"/>
                </a:spcBef>
              </a:pPr>
              <a:t>29</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D9FDF4B3-8381-FB1D-E951-8FF94EC3BAF5}"/>
              </a:ext>
            </a:extLst>
          </p:cNvPr>
          <p:cNvSpPr>
            <a:spLocks noGrp="1"/>
          </p:cNvSpPr>
          <p:nvPr>
            <p:ph type="dt" sz="half" idx="10"/>
          </p:nvPr>
        </p:nvSpPr>
        <p:spPr/>
        <p:txBody>
          <a:bodyPr/>
          <a:lstStyle>
            <a:lvl1pPr>
              <a:defRPr/>
            </a:lvl1pPr>
          </a:lstStyle>
          <a:p>
            <a:pPr>
              <a:defRPr/>
            </a:pPr>
            <a:fld id="{C843534C-142C-4F68-A7AD-CE43E6A989EA}" type="datetime1">
              <a:rPr lang="en-US"/>
              <a:pPr>
                <a:defRPr/>
              </a:pPr>
              <a:t>4/5/2025</a:t>
            </a:fld>
            <a:endParaRPr lang="en-US"/>
          </a:p>
        </p:txBody>
      </p:sp>
      <p:sp>
        <p:nvSpPr>
          <p:cNvPr id="5" name="Footer Placeholder 4">
            <a:extLst>
              <a:ext uri="{FF2B5EF4-FFF2-40B4-BE49-F238E27FC236}">
                <a16:creationId xmlns:a16="http://schemas.microsoft.com/office/drawing/2014/main" id="{A4B848B9-863B-68B0-40C1-7D7168DAA2B1}"/>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7DCE6F1A-70D0-7F75-BD13-8F5168EB89B0}"/>
              </a:ext>
            </a:extLst>
          </p:cNvPr>
          <p:cNvSpPr>
            <a:spLocks noGrp="1"/>
          </p:cNvSpPr>
          <p:nvPr>
            <p:ph type="sldNum" sz="quarter" idx="12"/>
          </p:nvPr>
        </p:nvSpPr>
        <p:spPr/>
        <p:txBody>
          <a:bodyPr/>
          <a:lstStyle>
            <a:lvl1pPr>
              <a:defRPr/>
            </a:lvl1pPr>
          </a:lstStyle>
          <a:p>
            <a:pPr>
              <a:defRPr/>
            </a:pPr>
            <a:fld id="{7240A402-79F2-4203-AC0B-9570C7EDE3B5}" type="slidenum">
              <a:rPr lang="en-US" altLang="en-US"/>
              <a:pPr>
                <a:defRPr/>
              </a:pPr>
              <a:t>‹#›</a:t>
            </a:fld>
            <a:endParaRPr lang="en-US" altLang="en-US"/>
          </a:p>
        </p:txBody>
      </p:sp>
    </p:spTree>
    <p:extLst>
      <p:ext uri="{BB962C8B-B14F-4D97-AF65-F5344CB8AC3E}">
        <p14:creationId xmlns:p14="http://schemas.microsoft.com/office/powerpoint/2010/main" val="2208775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0D4BA4-EA09-729D-074B-35684E910136}"/>
              </a:ext>
            </a:extLst>
          </p:cNvPr>
          <p:cNvSpPr>
            <a:spLocks noGrp="1"/>
          </p:cNvSpPr>
          <p:nvPr>
            <p:ph type="dt" sz="half" idx="10"/>
          </p:nvPr>
        </p:nvSpPr>
        <p:spPr/>
        <p:txBody>
          <a:bodyPr/>
          <a:lstStyle>
            <a:lvl1pPr>
              <a:defRPr/>
            </a:lvl1pPr>
          </a:lstStyle>
          <a:p>
            <a:pPr>
              <a:defRPr/>
            </a:pPr>
            <a:fld id="{3FAD3F8E-9347-467D-A0E5-E5C2171923A9}" type="datetime1">
              <a:rPr lang="en-US"/>
              <a:pPr>
                <a:defRPr/>
              </a:pPr>
              <a:t>4/5/2025</a:t>
            </a:fld>
            <a:endParaRPr lang="en-US"/>
          </a:p>
        </p:txBody>
      </p:sp>
      <p:sp>
        <p:nvSpPr>
          <p:cNvPr id="5" name="Footer Placeholder 4">
            <a:extLst>
              <a:ext uri="{FF2B5EF4-FFF2-40B4-BE49-F238E27FC236}">
                <a16:creationId xmlns:a16="http://schemas.microsoft.com/office/drawing/2014/main" id="{D5AD018F-E43D-DE48-3B7F-9B1B4D559EC2}"/>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4577CD55-8A7D-B58C-0671-929DB1AD59FD}"/>
              </a:ext>
            </a:extLst>
          </p:cNvPr>
          <p:cNvSpPr>
            <a:spLocks noGrp="1"/>
          </p:cNvSpPr>
          <p:nvPr>
            <p:ph type="sldNum" sz="quarter" idx="12"/>
          </p:nvPr>
        </p:nvSpPr>
        <p:spPr/>
        <p:txBody>
          <a:bodyPr/>
          <a:lstStyle>
            <a:lvl1pPr>
              <a:defRPr/>
            </a:lvl1pPr>
          </a:lstStyle>
          <a:p>
            <a:pPr>
              <a:defRPr/>
            </a:pPr>
            <a:fld id="{CC0A79B1-2D3B-4067-8BB4-A62A6859C834}" type="slidenum">
              <a:rPr lang="en-US" altLang="en-US"/>
              <a:pPr>
                <a:defRPr/>
              </a:pPr>
              <a:t>‹#›</a:t>
            </a:fld>
            <a:endParaRPr lang="en-US" altLang="en-US"/>
          </a:p>
        </p:txBody>
      </p:sp>
    </p:spTree>
    <p:extLst>
      <p:ext uri="{BB962C8B-B14F-4D97-AF65-F5344CB8AC3E}">
        <p14:creationId xmlns:p14="http://schemas.microsoft.com/office/powerpoint/2010/main" val="2747917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9911DF-8287-B5E8-C7C4-46D156325CD7}"/>
              </a:ext>
            </a:extLst>
          </p:cNvPr>
          <p:cNvSpPr>
            <a:spLocks noGrp="1"/>
          </p:cNvSpPr>
          <p:nvPr>
            <p:ph type="dt" sz="half" idx="10"/>
          </p:nvPr>
        </p:nvSpPr>
        <p:spPr/>
        <p:txBody>
          <a:bodyPr/>
          <a:lstStyle>
            <a:lvl1pPr>
              <a:defRPr/>
            </a:lvl1pPr>
          </a:lstStyle>
          <a:p>
            <a:pPr>
              <a:defRPr/>
            </a:pPr>
            <a:fld id="{4DDA36FD-B5A2-4900-B3C5-2BB74BC25C07}" type="datetime1">
              <a:rPr lang="en-US"/>
              <a:pPr>
                <a:defRPr/>
              </a:pPr>
              <a:t>4/5/2025</a:t>
            </a:fld>
            <a:endParaRPr lang="en-US"/>
          </a:p>
        </p:txBody>
      </p:sp>
      <p:sp>
        <p:nvSpPr>
          <p:cNvPr id="5" name="Footer Placeholder 4">
            <a:extLst>
              <a:ext uri="{FF2B5EF4-FFF2-40B4-BE49-F238E27FC236}">
                <a16:creationId xmlns:a16="http://schemas.microsoft.com/office/drawing/2014/main" id="{7CE26A20-040F-5898-84B9-CEAEFCCD6F99}"/>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4B02B1D1-D0D2-0604-15C0-781F8B55FF40}"/>
              </a:ext>
            </a:extLst>
          </p:cNvPr>
          <p:cNvSpPr>
            <a:spLocks noGrp="1"/>
          </p:cNvSpPr>
          <p:nvPr>
            <p:ph type="sldNum" sz="quarter" idx="12"/>
          </p:nvPr>
        </p:nvSpPr>
        <p:spPr/>
        <p:txBody>
          <a:bodyPr/>
          <a:lstStyle>
            <a:lvl1pPr>
              <a:defRPr/>
            </a:lvl1pPr>
          </a:lstStyle>
          <a:p>
            <a:pPr>
              <a:defRPr/>
            </a:pPr>
            <a:fld id="{56453118-71A7-4654-BE33-4E091CA6B7A5}" type="slidenum">
              <a:rPr lang="en-US" altLang="en-US"/>
              <a:pPr>
                <a:defRPr/>
              </a:pPr>
              <a:t>‹#›</a:t>
            </a:fld>
            <a:endParaRPr lang="en-US" altLang="en-US"/>
          </a:p>
        </p:txBody>
      </p:sp>
    </p:spTree>
    <p:extLst>
      <p:ext uri="{BB962C8B-B14F-4D97-AF65-F5344CB8AC3E}">
        <p14:creationId xmlns:p14="http://schemas.microsoft.com/office/powerpoint/2010/main" val="422001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C9FD5345-07C9-A852-7AC3-4149820038CB}"/>
              </a:ext>
            </a:extLst>
          </p:cNvPr>
          <p:cNvSpPr>
            <a:spLocks noGrp="1"/>
          </p:cNvSpPr>
          <p:nvPr>
            <p:ph type="dt" sz="half" idx="10"/>
          </p:nvPr>
        </p:nvSpPr>
        <p:spPr/>
        <p:txBody>
          <a:bodyPr/>
          <a:lstStyle>
            <a:lvl1pPr>
              <a:defRPr/>
            </a:lvl1pPr>
          </a:lstStyle>
          <a:p>
            <a:pPr>
              <a:defRPr/>
            </a:pPr>
            <a:fld id="{42158CB4-F7BE-4AA6-884A-2CD2765F9EB9}" type="datetime1">
              <a:rPr lang="en-US"/>
              <a:pPr>
                <a:defRPr/>
              </a:pPr>
              <a:t>4/5/2025</a:t>
            </a:fld>
            <a:endParaRPr lang="en-US"/>
          </a:p>
        </p:txBody>
      </p:sp>
      <p:sp>
        <p:nvSpPr>
          <p:cNvPr id="6" name="Footer Placeholder 4">
            <a:extLst>
              <a:ext uri="{FF2B5EF4-FFF2-40B4-BE49-F238E27FC236}">
                <a16:creationId xmlns:a16="http://schemas.microsoft.com/office/drawing/2014/main" id="{12BB3D41-C27B-3AF5-D463-98E0BB990635}"/>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7" name="Slide Number Placeholder 5">
            <a:extLst>
              <a:ext uri="{FF2B5EF4-FFF2-40B4-BE49-F238E27FC236}">
                <a16:creationId xmlns:a16="http://schemas.microsoft.com/office/drawing/2014/main" id="{AEE7BBAD-D724-5451-2573-BC1B1EBCE969}"/>
              </a:ext>
            </a:extLst>
          </p:cNvPr>
          <p:cNvSpPr>
            <a:spLocks noGrp="1"/>
          </p:cNvSpPr>
          <p:nvPr>
            <p:ph type="sldNum" sz="quarter" idx="12"/>
          </p:nvPr>
        </p:nvSpPr>
        <p:spPr/>
        <p:txBody>
          <a:bodyPr/>
          <a:lstStyle>
            <a:lvl1pPr>
              <a:defRPr/>
            </a:lvl1pPr>
          </a:lstStyle>
          <a:p>
            <a:pPr>
              <a:defRPr/>
            </a:pPr>
            <a:fld id="{24ABB55C-58B9-49A9-B9E0-F0ADB521D4E5}" type="slidenum">
              <a:rPr lang="en-US" altLang="en-US"/>
              <a:pPr>
                <a:defRPr/>
              </a:pPr>
              <a:t>‹#›</a:t>
            </a:fld>
            <a:endParaRPr lang="en-US" altLang="en-US"/>
          </a:p>
        </p:txBody>
      </p:sp>
    </p:spTree>
    <p:extLst>
      <p:ext uri="{BB962C8B-B14F-4D97-AF65-F5344CB8AC3E}">
        <p14:creationId xmlns:p14="http://schemas.microsoft.com/office/powerpoint/2010/main" val="2976508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4443E7D-6669-D735-3BF5-6A8EFBFF808E}"/>
              </a:ext>
            </a:extLst>
          </p:cNvPr>
          <p:cNvSpPr>
            <a:spLocks noGrp="1"/>
          </p:cNvSpPr>
          <p:nvPr>
            <p:ph type="dt" sz="half" idx="10"/>
          </p:nvPr>
        </p:nvSpPr>
        <p:spPr/>
        <p:txBody>
          <a:bodyPr/>
          <a:lstStyle>
            <a:lvl1pPr>
              <a:defRPr/>
            </a:lvl1pPr>
          </a:lstStyle>
          <a:p>
            <a:pPr>
              <a:defRPr/>
            </a:pPr>
            <a:fld id="{ED4684A9-8F04-4005-BD71-D4099455EF2C}" type="datetime1">
              <a:rPr lang="en-US"/>
              <a:pPr>
                <a:defRPr/>
              </a:pPr>
              <a:t>4/5/2025</a:t>
            </a:fld>
            <a:endParaRPr lang="en-US"/>
          </a:p>
        </p:txBody>
      </p:sp>
      <p:sp>
        <p:nvSpPr>
          <p:cNvPr id="8" name="Footer Placeholder 4">
            <a:extLst>
              <a:ext uri="{FF2B5EF4-FFF2-40B4-BE49-F238E27FC236}">
                <a16:creationId xmlns:a16="http://schemas.microsoft.com/office/drawing/2014/main" id="{9AB748ED-5A7E-E219-0D01-BEB47327288C}"/>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9" name="Slide Number Placeholder 5">
            <a:extLst>
              <a:ext uri="{FF2B5EF4-FFF2-40B4-BE49-F238E27FC236}">
                <a16:creationId xmlns:a16="http://schemas.microsoft.com/office/drawing/2014/main" id="{FDD6AEB6-A3C7-7D28-1D1D-E689B1EF1224}"/>
              </a:ext>
            </a:extLst>
          </p:cNvPr>
          <p:cNvSpPr>
            <a:spLocks noGrp="1"/>
          </p:cNvSpPr>
          <p:nvPr>
            <p:ph type="sldNum" sz="quarter" idx="12"/>
          </p:nvPr>
        </p:nvSpPr>
        <p:spPr/>
        <p:txBody>
          <a:bodyPr/>
          <a:lstStyle>
            <a:lvl1pPr>
              <a:defRPr/>
            </a:lvl1pPr>
          </a:lstStyle>
          <a:p>
            <a:pPr>
              <a:defRPr/>
            </a:pPr>
            <a:fld id="{6B8BF139-4E62-443A-9CF3-E42E9023A0E2}" type="slidenum">
              <a:rPr lang="en-US" altLang="en-US"/>
              <a:pPr>
                <a:defRPr/>
              </a:pPr>
              <a:t>‹#›</a:t>
            </a:fld>
            <a:endParaRPr lang="en-US" altLang="en-US"/>
          </a:p>
        </p:txBody>
      </p:sp>
    </p:spTree>
    <p:extLst>
      <p:ext uri="{BB962C8B-B14F-4D97-AF65-F5344CB8AC3E}">
        <p14:creationId xmlns:p14="http://schemas.microsoft.com/office/powerpoint/2010/main" val="1160258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67EBECD4-65DF-4787-E82A-01671662CA52}"/>
              </a:ext>
            </a:extLst>
          </p:cNvPr>
          <p:cNvSpPr>
            <a:spLocks noGrp="1"/>
          </p:cNvSpPr>
          <p:nvPr>
            <p:ph type="dt" sz="half" idx="10"/>
          </p:nvPr>
        </p:nvSpPr>
        <p:spPr/>
        <p:txBody>
          <a:bodyPr/>
          <a:lstStyle>
            <a:lvl1pPr>
              <a:defRPr/>
            </a:lvl1pPr>
          </a:lstStyle>
          <a:p>
            <a:pPr>
              <a:defRPr/>
            </a:pPr>
            <a:fld id="{CA1FDA5E-C245-4669-8845-5B796B357F11}" type="datetime1">
              <a:rPr lang="en-US"/>
              <a:pPr>
                <a:defRPr/>
              </a:pPr>
              <a:t>4/5/2025</a:t>
            </a:fld>
            <a:endParaRPr lang="en-US"/>
          </a:p>
        </p:txBody>
      </p:sp>
      <p:sp>
        <p:nvSpPr>
          <p:cNvPr id="4" name="Footer Placeholder 4">
            <a:extLst>
              <a:ext uri="{FF2B5EF4-FFF2-40B4-BE49-F238E27FC236}">
                <a16:creationId xmlns:a16="http://schemas.microsoft.com/office/drawing/2014/main" id="{93B7A069-B03C-F574-CA55-84E680F2BE38}"/>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5" name="Slide Number Placeholder 5">
            <a:extLst>
              <a:ext uri="{FF2B5EF4-FFF2-40B4-BE49-F238E27FC236}">
                <a16:creationId xmlns:a16="http://schemas.microsoft.com/office/drawing/2014/main" id="{0E575B7E-8FF0-46DF-7D6B-FF3680670504}"/>
              </a:ext>
            </a:extLst>
          </p:cNvPr>
          <p:cNvSpPr>
            <a:spLocks noGrp="1"/>
          </p:cNvSpPr>
          <p:nvPr>
            <p:ph type="sldNum" sz="quarter" idx="12"/>
          </p:nvPr>
        </p:nvSpPr>
        <p:spPr/>
        <p:txBody>
          <a:bodyPr/>
          <a:lstStyle>
            <a:lvl1pPr>
              <a:defRPr/>
            </a:lvl1pPr>
          </a:lstStyle>
          <a:p>
            <a:pPr>
              <a:defRPr/>
            </a:pPr>
            <a:fld id="{85EEEBFF-6612-46A6-96BC-073E863DAB25}" type="slidenum">
              <a:rPr lang="en-US" altLang="en-US"/>
              <a:pPr>
                <a:defRPr/>
              </a:pPr>
              <a:t>‹#›</a:t>
            </a:fld>
            <a:endParaRPr lang="en-US" altLang="en-US"/>
          </a:p>
        </p:txBody>
      </p:sp>
    </p:spTree>
    <p:extLst>
      <p:ext uri="{BB962C8B-B14F-4D97-AF65-F5344CB8AC3E}">
        <p14:creationId xmlns:p14="http://schemas.microsoft.com/office/powerpoint/2010/main" val="846067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4E8DCA0-C0C0-DC85-3F08-9DE70E3F53B1}"/>
              </a:ext>
            </a:extLst>
          </p:cNvPr>
          <p:cNvSpPr>
            <a:spLocks noGrp="1"/>
          </p:cNvSpPr>
          <p:nvPr>
            <p:ph type="dt" sz="half" idx="10"/>
          </p:nvPr>
        </p:nvSpPr>
        <p:spPr/>
        <p:txBody>
          <a:bodyPr/>
          <a:lstStyle>
            <a:lvl1pPr>
              <a:defRPr/>
            </a:lvl1pPr>
          </a:lstStyle>
          <a:p>
            <a:pPr>
              <a:defRPr/>
            </a:pPr>
            <a:fld id="{53CCE1A8-8567-4954-A538-209C9D187EF4}" type="datetime1">
              <a:rPr lang="en-US"/>
              <a:pPr>
                <a:defRPr/>
              </a:pPr>
              <a:t>4/5/2025</a:t>
            </a:fld>
            <a:endParaRPr lang="en-US"/>
          </a:p>
        </p:txBody>
      </p:sp>
      <p:sp>
        <p:nvSpPr>
          <p:cNvPr id="3" name="Footer Placeholder 4">
            <a:extLst>
              <a:ext uri="{FF2B5EF4-FFF2-40B4-BE49-F238E27FC236}">
                <a16:creationId xmlns:a16="http://schemas.microsoft.com/office/drawing/2014/main" id="{9716DB90-950D-A70E-3362-AE8CDB69C43E}"/>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4" name="Slide Number Placeholder 5">
            <a:extLst>
              <a:ext uri="{FF2B5EF4-FFF2-40B4-BE49-F238E27FC236}">
                <a16:creationId xmlns:a16="http://schemas.microsoft.com/office/drawing/2014/main" id="{008F64BE-137A-250D-D038-952DD50752E5}"/>
              </a:ext>
            </a:extLst>
          </p:cNvPr>
          <p:cNvSpPr>
            <a:spLocks noGrp="1"/>
          </p:cNvSpPr>
          <p:nvPr>
            <p:ph type="sldNum" sz="quarter" idx="12"/>
          </p:nvPr>
        </p:nvSpPr>
        <p:spPr/>
        <p:txBody>
          <a:bodyPr/>
          <a:lstStyle>
            <a:lvl1pPr>
              <a:defRPr/>
            </a:lvl1pPr>
          </a:lstStyle>
          <a:p>
            <a:pPr>
              <a:defRPr/>
            </a:pPr>
            <a:fld id="{738BEDAF-D174-4119-8ACB-9FB5282BF7B7}" type="slidenum">
              <a:rPr lang="en-US" altLang="en-US"/>
              <a:pPr>
                <a:defRPr/>
              </a:pPr>
              <a:t>‹#›</a:t>
            </a:fld>
            <a:endParaRPr lang="en-US" altLang="en-US"/>
          </a:p>
        </p:txBody>
      </p:sp>
    </p:spTree>
    <p:extLst>
      <p:ext uri="{BB962C8B-B14F-4D97-AF65-F5344CB8AC3E}">
        <p14:creationId xmlns:p14="http://schemas.microsoft.com/office/powerpoint/2010/main" val="583440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3E643C4-6E00-10CF-7614-5FF7F4AF9E7D}"/>
              </a:ext>
            </a:extLst>
          </p:cNvPr>
          <p:cNvSpPr>
            <a:spLocks noGrp="1"/>
          </p:cNvSpPr>
          <p:nvPr>
            <p:ph type="dt" sz="half" idx="10"/>
          </p:nvPr>
        </p:nvSpPr>
        <p:spPr/>
        <p:txBody>
          <a:bodyPr/>
          <a:lstStyle>
            <a:lvl1pPr>
              <a:defRPr/>
            </a:lvl1pPr>
          </a:lstStyle>
          <a:p>
            <a:pPr>
              <a:defRPr/>
            </a:pPr>
            <a:fld id="{20E08CAE-5E38-44AD-A3A2-45B0C095EAB6}" type="datetime1">
              <a:rPr lang="en-US"/>
              <a:pPr>
                <a:defRPr/>
              </a:pPr>
              <a:t>4/5/2025</a:t>
            </a:fld>
            <a:endParaRPr lang="en-US"/>
          </a:p>
        </p:txBody>
      </p:sp>
      <p:sp>
        <p:nvSpPr>
          <p:cNvPr id="6" name="Footer Placeholder 4">
            <a:extLst>
              <a:ext uri="{FF2B5EF4-FFF2-40B4-BE49-F238E27FC236}">
                <a16:creationId xmlns:a16="http://schemas.microsoft.com/office/drawing/2014/main" id="{1DF33DF2-17D4-2983-2A49-93A074F5EE65}"/>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7" name="Slide Number Placeholder 5">
            <a:extLst>
              <a:ext uri="{FF2B5EF4-FFF2-40B4-BE49-F238E27FC236}">
                <a16:creationId xmlns:a16="http://schemas.microsoft.com/office/drawing/2014/main" id="{8E1C490D-F361-9148-5DA6-748C5F0F6745}"/>
              </a:ext>
            </a:extLst>
          </p:cNvPr>
          <p:cNvSpPr>
            <a:spLocks noGrp="1"/>
          </p:cNvSpPr>
          <p:nvPr>
            <p:ph type="sldNum" sz="quarter" idx="12"/>
          </p:nvPr>
        </p:nvSpPr>
        <p:spPr/>
        <p:txBody>
          <a:bodyPr/>
          <a:lstStyle>
            <a:lvl1pPr>
              <a:defRPr/>
            </a:lvl1pPr>
          </a:lstStyle>
          <a:p>
            <a:pPr>
              <a:defRPr/>
            </a:pPr>
            <a:fld id="{5D8B23CD-AE73-4A04-B9EA-CAAFC256768D}" type="slidenum">
              <a:rPr lang="en-US" altLang="en-US"/>
              <a:pPr>
                <a:defRPr/>
              </a:pPr>
              <a:t>‹#›</a:t>
            </a:fld>
            <a:endParaRPr lang="en-US" altLang="en-US"/>
          </a:p>
        </p:txBody>
      </p:sp>
    </p:spTree>
    <p:extLst>
      <p:ext uri="{BB962C8B-B14F-4D97-AF65-F5344CB8AC3E}">
        <p14:creationId xmlns:p14="http://schemas.microsoft.com/office/powerpoint/2010/main" val="3217212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FDE4D30-4C66-975A-90FA-93520C059BE6}"/>
              </a:ext>
            </a:extLst>
          </p:cNvPr>
          <p:cNvSpPr>
            <a:spLocks noGrp="1"/>
          </p:cNvSpPr>
          <p:nvPr>
            <p:ph type="dt" sz="half" idx="10"/>
          </p:nvPr>
        </p:nvSpPr>
        <p:spPr/>
        <p:txBody>
          <a:bodyPr/>
          <a:lstStyle>
            <a:lvl1pPr>
              <a:defRPr/>
            </a:lvl1pPr>
          </a:lstStyle>
          <a:p>
            <a:pPr>
              <a:defRPr/>
            </a:pPr>
            <a:fld id="{98D18E67-155F-4A0C-BF66-1594466ED33A}" type="datetime1">
              <a:rPr lang="en-US"/>
              <a:pPr>
                <a:defRPr/>
              </a:pPr>
              <a:t>4/5/2025</a:t>
            </a:fld>
            <a:endParaRPr lang="en-US"/>
          </a:p>
        </p:txBody>
      </p:sp>
      <p:sp>
        <p:nvSpPr>
          <p:cNvPr id="6" name="Footer Placeholder 4">
            <a:extLst>
              <a:ext uri="{FF2B5EF4-FFF2-40B4-BE49-F238E27FC236}">
                <a16:creationId xmlns:a16="http://schemas.microsoft.com/office/drawing/2014/main" id="{D5950A75-1211-50C5-A50F-C1A2343DFE46}"/>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7" name="Slide Number Placeholder 5">
            <a:extLst>
              <a:ext uri="{FF2B5EF4-FFF2-40B4-BE49-F238E27FC236}">
                <a16:creationId xmlns:a16="http://schemas.microsoft.com/office/drawing/2014/main" id="{D0BBCA6E-3551-E9FD-C57E-E56E0025CD5B}"/>
              </a:ext>
            </a:extLst>
          </p:cNvPr>
          <p:cNvSpPr>
            <a:spLocks noGrp="1"/>
          </p:cNvSpPr>
          <p:nvPr>
            <p:ph type="sldNum" sz="quarter" idx="12"/>
          </p:nvPr>
        </p:nvSpPr>
        <p:spPr/>
        <p:txBody>
          <a:bodyPr/>
          <a:lstStyle>
            <a:lvl1pPr>
              <a:defRPr/>
            </a:lvl1pPr>
          </a:lstStyle>
          <a:p>
            <a:pPr>
              <a:defRPr/>
            </a:pPr>
            <a:fld id="{A4122B83-DA52-4E46-8F49-23040D308053}" type="slidenum">
              <a:rPr lang="en-US" altLang="en-US"/>
              <a:pPr>
                <a:defRPr/>
              </a:pPr>
              <a:t>‹#›</a:t>
            </a:fld>
            <a:endParaRPr lang="en-US" altLang="en-US"/>
          </a:p>
        </p:txBody>
      </p:sp>
    </p:spTree>
    <p:extLst>
      <p:ext uri="{BB962C8B-B14F-4D97-AF65-F5344CB8AC3E}">
        <p14:creationId xmlns:p14="http://schemas.microsoft.com/office/powerpoint/2010/main" val="1366349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28D00B-0472-87FE-1232-43CD3222C351}"/>
              </a:ext>
            </a:extLst>
          </p:cNvPr>
          <p:cNvSpPr>
            <a:spLocks noGrp="1"/>
          </p:cNvSpPr>
          <p:nvPr>
            <p:ph type="dt" sz="half" idx="10"/>
          </p:nvPr>
        </p:nvSpPr>
        <p:spPr/>
        <p:txBody>
          <a:bodyPr/>
          <a:lstStyle>
            <a:lvl1pPr>
              <a:defRPr/>
            </a:lvl1pPr>
          </a:lstStyle>
          <a:p>
            <a:pPr>
              <a:defRPr/>
            </a:pPr>
            <a:fld id="{F1F06C9F-C30D-4032-93FC-C52A6D98617B}" type="datetime1">
              <a:rPr lang="en-US"/>
              <a:pPr>
                <a:defRPr/>
              </a:pPr>
              <a:t>4/5/2025</a:t>
            </a:fld>
            <a:endParaRPr lang="en-US"/>
          </a:p>
        </p:txBody>
      </p:sp>
      <p:sp>
        <p:nvSpPr>
          <p:cNvPr id="5" name="Footer Placeholder 4">
            <a:extLst>
              <a:ext uri="{FF2B5EF4-FFF2-40B4-BE49-F238E27FC236}">
                <a16:creationId xmlns:a16="http://schemas.microsoft.com/office/drawing/2014/main" id="{72BA9564-95D2-C5D0-797C-DA2525629370}"/>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2DE53FF9-FAA1-0B8C-3F2D-4A08B32D675E}"/>
              </a:ext>
            </a:extLst>
          </p:cNvPr>
          <p:cNvSpPr>
            <a:spLocks noGrp="1"/>
          </p:cNvSpPr>
          <p:nvPr>
            <p:ph type="sldNum" sz="quarter" idx="12"/>
          </p:nvPr>
        </p:nvSpPr>
        <p:spPr/>
        <p:txBody>
          <a:bodyPr/>
          <a:lstStyle>
            <a:lvl1pPr>
              <a:defRPr/>
            </a:lvl1pPr>
          </a:lstStyle>
          <a:p>
            <a:pPr>
              <a:defRPr/>
            </a:pPr>
            <a:fld id="{94FDF1C5-0360-4BFE-A156-222C84A93C8F}" type="slidenum">
              <a:rPr lang="en-US" altLang="en-US"/>
              <a:pPr>
                <a:defRPr/>
              </a:pPr>
              <a:t>‹#›</a:t>
            </a:fld>
            <a:endParaRPr lang="en-US" altLang="en-US"/>
          </a:p>
        </p:txBody>
      </p:sp>
    </p:spTree>
    <p:extLst>
      <p:ext uri="{BB962C8B-B14F-4D97-AF65-F5344CB8AC3E}">
        <p14:creationId xmlns:p14="http://schemas.microsoft.com/office/powerpoint/2010/main" val="3999393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71ACA2-F91E-B724-038A-C55F9C281AF4}"/>
              </a:ext>
            </a:extLst>
          </p:cNvPr>
          <p:cNvSpPr>
            <a:spLocks noGrp="1"/>
          </p:cNvSpPr>
          <p:nvPr>
            <p:ph type="dt" sz="half" idx="10"/>
          </p:nvPr>
        </p:nvSpPr>
        <p:spPr/>
        <p:txBody>
          <a:bodyPr/>
          <a:lstStyle>
            <a:lvl1pPr>
              <a:defRPr/>
            </a:lvl1pPr>
          </a:lstStyle>
          <a:p>
            <a:pPr>
              <a:defRPr/>
            </a:pPr>
            <a:fld id="{87A01D1E-C740-4DD7-9D82-3EB8618E94A7}" type="datetime1">
              <a:rPr lang="en-US"/>
              <a:pPr>
                <a:defRPr/>
              </a:pPr>
              <a:t>4/5/2025</a:t>
            </a:fld>
            <a:endParaRPr lang="en-US"/>
          </a:p>
        </p:txBody>
      </p:sp>
      <p:sp>
        <p:nvSpPr>
          <p:cNvPr id="5" name="Footer Placeholder 4">
            <a:extLst>
              <a:ext uri="{FF2B5EF4-FFF2-40B4-BE49-F238E27FC236}">
                <a16:creationId xmlns:a16="http://schemas.microsoft.com/office/drawing/2014/main" id="{52F3D334-C358-A0D1-BE6F-96FC32386F37}"/>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F02A68B5-2FBB-AD1E-F3E5-301CD0B45AF9}"/>
              </a:ext>
            </a:extLst>
          </p:cNvPr>
          <p:cNvSpPr>
            <a:spLocks noGrp="1"/>
          </p:cNvSpPr>
          <p:nvPr>
            <p:ph type="sldNum" sz="quarter" idx="12"/>
          </p:nvPr>
        </p:nvSpPr>
        <p:spPr/>
        <p:txBody>
          <a:bodyPr/>
          <a:lstStyle>
            <a:lvl1pPr>
              <a:defRPr/>
            </a:lvl1pPr>
          </a:lstStyle>
          <a:p>
            <a:pPr>
              <a:defRPr/>
            </a:pPr>
            <a:fld id="{2A23E004-2BA8-472E-8F01-9A39FC347C8D}" type="slidenum">
              <a:rPr lang="en-US" altLang="en-US"/>
              <a:pPr>
                <a:defRPr/>
              </a:pPr>
              <a:t>‹#›</a:t>
            </a:fld>
            <a:endParaRPr lang="en-US" altLang="en-US"/>
          </a:p>
        </p:txBody>
      </p:sp>
    </p:spTree>
    <p:extLst>
      <p:ext uri="{BB962C8B-B14F-4D97-AF65-F5344CB8AC3E}">
        <p14:creationId xmlns:p14="http://schemas.microsoft.com/office/powerpoint/2010/main" val="1360197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10A5091-2422-86B0-7900-A5DB0BAD3546}"/>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DA52179-02C6-31B6-1FEC-B09903E30B05}"/>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23FFF7E-65B9-C989-DBFF-28E97D32D917}"/>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A6F8B1B8-1BB4-415C-AA98-83E9457DC71B}" type="datetime1">
              <a:rPr lang="en-US"/>
              <a:pPr>
                <a:defRPr/>
              </a:pPr>
              <a:t>4/5/2025</a:t>
            </a:fld>
            <a:endParaRPr lang="en-US"/>
          </a:p>
        </p:txBody>
      </p:sp>
      <p:sp>
        <p:nvSpPr>
          <p:cNvPr id="5" name="Footer Placeholder 4">
            <a:extLst>
              <a:ext uri="{FF2B5EF4-FFF2-40B4-BE49-F238E27FC236}">
                <a16:creationId xmlns:a16="http://schemas.microsoft.com/office/drawing/2014/main" id="{F6978ED1-919B-342A-0A36-7D8D211FAB77}"/>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4885A26B-0090-498D-1368-7491D272CE56}"/>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D40BA445-E5A4-4A79-9CC1-CD2AD9CE8CF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mountsinai.org/health-library/diseases-conditions/bronchitis-acute" TargetMode="External"/><Relationship Id="rId2" Type="http://schemas.openxmlformats.org/officeDocument/2006/relationships/hyperlink" Target="https://www.mountsinai.org/health-library/diseases-conditions/asthma" TargetMode="External"/><Relationship Id="rId1" Type="http://schemas.openxmlformats.org/officeDocument/2006/relationships/slideLayout" Target="../slideLayouts/slideLayout6.xml"/><Relationship Id="rId5" Type="http://schemas.openxmlformats.org/officeDocument/2006/relationships/hyperlink" Target="https://www.mountsinai.org/health-library/symptoms/breathing-difficulty" TargetMode="External"/><Relationship Id="rId4" Type="http://schemas.openxmlformats.org/officeDocument/2006/relationships/hyperlink" Target="https://www.mountsinai.org/health-library/diseases-conditions/chronic-obstructive-pulmonary-disease" TargetMode="Externa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4.emf"/><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2" name="Rectangle 3081">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84" name="Freeform: Shape 308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86" name="Freeform: Shape 3085">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4" name="Title 1">
            <a:extLst>
              <a:ext uri="{FF2B5EF4-FFF2-40B4-BE49-F238E27FC236}">
                <a16:creationId xmlns:a16="http://schemas.microsoft.com/office/drawing/2014/main" id="{BB0D5000-4D2C-09A2-53E7-8F0F09CCD196}"/>
              </a:ext>
            </a:extLst>
          </p:cNvPr>
          <p:cNvSpPr>
            <a:spLocks noGrp="1"/>
          </p:cNvSpPr>
          <p:nvPr>
            <p:ph type="ctrTitle"/>
          </p:nvPr>
        </p:nvSpPr>
        <p:spPr>
          <a:xfrm>
            <a:off x="1524003" y="1999615"/>
            <a:ext cx="9144000" cy="2764028"/>
          </a:xfrm>
        </p:spPr>
        <p:txBody>
          <a:bodyPr anchor="ctr">
            <a:normAutofit/>
          </a:bodyPr>
          <a:lstStyle/>
          <a:p>
            <a:r>
              <a:rPr lang="en-US" altLang="en-US" sz="6700"/>
              <a:t>PULMONARY FUNCTION TEST AND SPIROMETER</a:t>
            </a:r>
          </a:p>
        </p:txBody>
      </p:sp>
      <p:sp>
        <p:nvSpPr>
          <p:cNvPr id="3" name="Subtitle 2">
            <a:extLst>
              <a:ext uri="{FF2B5EF4-FFF2-40B4-BE49-F238E27FC236}">
                <a16:creationId xmlns:a16="http://schemas.microsoft.com/office/drawing/2014/main" id="{7174C900-5963-6CED-0F98-53A37289112F}"/>
              </a:ext>
            </a:extLst>
          </p:cNvPr>
          <p:cNvSpPr>
            <a:spLocks noGrp="1"/>
          </p:cNvSpPr>
          <p:nvPr>
            <p:ph type="subTitle" idx="1"/>
          </p:nvPr>
        </p:nvSpPr>
        <p:spPr>
          <a:xfrm>
            <a:off x="1966912" y="5645150"/>
            <a:ext cx="8258176" cy="631825"/>
          </a:xfrm>
        </p:spPr>
        <p:txBody>
          <a:bodyPr anchor="ctr">
            <a:normAutofit/>
          </a:bodyPr>
          <a:lstStyle/>
          <a:p>
            <a:pPr lvl="1" eaLnBrk="1" fontAlgn="auto" hangingPunct="1">
              <a:spcAft>
                <a:spcPts val="0"/>
              </a:spcAft>
              <a:defRPr/>
            </a:pPr>
            <a:r>
              <a:rPr lang="en-US" i="1" dirty="0"/>
              <a:t>By   Eyayalem M. (Assistant. </a:t>
            </a:r>
            <a:r>
              <a:rPr lang="en-US" i="1" dirty="0" err="1"/>
              <a:t>Professor;March</a:t>
            </a:r>
            <a:r>
              <a:rPr lang="en-US" i="1"/>
              <a:t>, 2025)</a:t>
            </a:r>
            <a:endParaRPr lang="en-US" dirty="0"/>
          </a:p>
        </p:txBody>
      </p:sp>
      <p:sp>
        <p:nvSpPr>
          <p:cNvPr id="3088" name="Rectangle 3087">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C55BD065-18E4-4D8F-089B-8BAC383FE424}"/>
              </a:ext>
            </a:extLst>
          </p:cNvPr>
          <p:cNvSpPr>
            <a:spLocks noGrp="1"/>
          </p:cNvSpPr>
          <p:nvPr>
            <p:ph type="dt" sz="quarter" idx="10"/>
          </p:nvPr>
        </p:nvSpPr>
        <p:spPr>
          <a:xfrm>
            <a:off x="434163" y="6356350"/>
            <a:ext cx="1166037" cy="365125"/>
          </a:xfrm>
        </p:spPr>
        <p:txBody>
          <a:bodyPr>
            <a:normAutofit/>
          </a:bodyPr>
          <a:lstStyle/>
          <a:p>
            <a:pPr>
              <a:spcAft>
                <a:spcPts val="600"/>
              </a:spcAft>
              <a:defRPr/>
            </a:pPr>
            <a:fld id="{1D32877A-8303-4DF8-8978-89B280F9B6A0}" type="datetime1">
              <a:rPr lang="en-US">
                <a:solidFill>
                  <a:schemeClr val="tx1">
                    <a:lumMod val="50000"/>
                    <a:lumOff val="50000"/>
                  </a:schemeClr>
                </a:solidFill>
              </a:rPr>
              <a:pPr>
                <a:spcAft>
                  <a:spcPts val="600"/>
                </a:spcAft>
                <a:defRPr/>
              </a:pPr>
              <a:t>4/5/2025</a:t>
            </a:fld>
            <a:endParaRPr lang="en-US">
              <a:solidFill>
                <a:schemeClr val="tx1">
                  <a:lumMod val="50000"/>
                  <a:lumOff val="50000"/>
                </a:schemeClr>
              </a:solidFill>
            </a:endParaRPr>
          </a:p>
        </p:txBody>
      </p:sp>
      <p:sp>
        <p:nvSpPr>
          <p:cNvPr id="2" name="Footer Placeholder 1">
            <a:extLst>
              <a:ext uri="{FF2B5EF4-FFF2-40B4-BE49-F238E27FC236}">
                <a16:creationId xmlns:a16="http://schemas.microsoft.com/office/drawing/2014/main" id="{FF58F8BF-BC85-18A0-7710-45B1AFE212F9}"/>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solidFill>
                  <a:schemeClr val="tx1">
                    <a:lumMod val="50000"/>
                    <a:lumOff val="50000"/>
                  </a:schemeClr>
                </a:solidFill>
              </a:rPr>
              <a:t>prepared by Eyayalem Melese</a:t>
            </a:r>
          </a:p>
        </p:txBody>
      </p:sp>
      <p:sp>
        <p:nvSpPr>
          <p:cNvPr id="3077" name="Slide Number Placeholder 4">
            <a:extLst>
              <a:ext uri="{FF2B5EF4-FFF2-40B4-BE49-F238E27FC236}">
                <a16:creationId xmlns:a16="http://schemas.microsoft.com/office/drawing/2014/main" id="{93FB660A-12C1-8FE1-85A7-F3C15146DC3A}"/>
              </a:ext>
            </a:extLst>
          </p:cNvPr>
          <p:cNvSpPr>
            <a:spLocks noGrp="1"/>
          </p:cNvSpPr>
          <p:nvPr>
            <p:ph type="sldNum" sz="quarter" idx="12"/>
          </p:nvPr>
        </p:nvSpPr>
        <p:spPr bwMode="auto">
          <a:xfrm>
            <a:off x="10489019" y="6356350"/>
            <a:ext cx="126881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EE867B31-171E-4872-941E-DD0BD681E380}" type="slidenum">
              <a:rPr lang="en-US" altLang="en-US" sz="1800">
                <a:solidFill>
                  <a:schemeClr val="tx1">
                    <a:lumMod val="50000"/>
                    <a:lumOff val="50000"/>
                  </a:schemeClr>
                </a:solidFill>
                <a:latin typeface="Arial" panose="020B0604020202020204" pitchFamily="34" charset="0"/>
              </a:rPr>
              <a:pPr>
                <a:lnSpc>
                  <a:spcPct val="90000"/>
                </a:lnSpc>
                <a:spcBef>
                  <a:spcPct val="0"/>
                </a:spcBef>
                <a:spcAft>
                  <a:spcPts val="600"/>
                </a:spcAft>
                <a:buFontTx/>
                <a:buNone/>
              </a:pPr>
              <a:t>1</a:t>
            </a:fld>
            <a:endParaRPr lang="en-US" altLang="en-US" sz="1800">
              <a:solidFill>
                <a:schemeClr val="tx1">
                  <a:lumMod val="50000"/>
                  <a:lumOff val="50000"/>
                </a:schemeClr>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0" name="Rectangle 51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2" name="Title 1">
            <a:extLst>
              <a:ext uri="{FF2B5EF4-FFF2-40B4-BE49-F238E27FC236}">
                <a16:creationId xmlns:a16="http://schemas.microsoft.com/office/drawing/2014/main" id="{187229E6-6F5B-05BB-5832-01584AF71E2B}"/>
              </a:ext>
            </a:extLst>
          </p:cNvPr>
          <p:cNvSpPr>
            <a:spLocks noGrp="1"/>
          </p:cNvSpPr>
          <p:nvPr>
            <p:ph type="title"/>
          </p:nvPr>
        </p:nvSpPr>
        <p:spPr>
          <a:xfrm>
            <a:off x="838200" y="365125"/>
            <a:ext cx="10515600" cy="1325563"/>
          </a:xfrm>
        </p:spPr>
        <p:txBody>
          <a:bodyPr>
            <a:normAutofit/>
          </a:bodyPr>
          <a:lstStyle/>
          <a:p>
            <a:pPr>
              <a:lnSpc>
                <a:spcPct val="90000"/>
              </a:lnSpc>
            </a:pPr>
            <a:r>
              <a:rPr lang="en-US" altLang="en-US" sz="4200"/>
              <a:t>PULMONARY FUNCTION TEST AND SPIROMETER</a:t>
            </a:r>
          </a:p>
        </p:txBody>
      </p:sp>
      <p:sp>
        <p:nvSpPr>
          <p:cNvPr id="51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3" name="Content Placeholder 2">
            <a:extLst>
              <a:ext uri="{FF2B5EF4-FFF2-40B4-BE49-F238E27FC236}">
                <a16:creationId xmlns:a16="http://schemas.microsoft.com/office/drawing/2014/main" id="{AC252CC3-D6F7-6EA1-99B5-E84148E552B1}"/>
              </a:ext>
            </a:extLst>
          </p:cNvPr>
          <p:cNvSpPr>
            <a:spLocks noGrp="1"/>
          </p:cNvSpPr>
          <p:nvPr>
            <p:ph idx="1"/>
          </p:nvPr>
        </p:nvSpPr>
        <p:spPr>
          <a:xfrm>
            <a:off x="838200" y="1929384"/>
            <a:ext cx="10515600" cy="4251960"/>
          </a:xfrm>
        </p:spPr>
        <p:txBody>
          <a:bodyPr>
            <a:normAutofit/>
          </a:bodyPr>
          <a:lstStyle/>
          <a:p>
            <a:r>
              <a:rPr lang="en-US" altLang="en-US" sz="2200" dirty="0"/>
              <a:t>Spirometry </a:t>
            </a:r>
          </a:p>
          <a:p>
            <a:pPr lvl="1"/>
            <a:r>
              <a:rPr lang="en-US" altLang="en-US" sz="2200" dirty="0"/>
              <a:t>is the most common type of pulmonary function or breathing test.</a:t>
            </a:r>
          </a:p>
          <a:p>
            <a:pPr lvl="1"/>
            <a:r>
              <a:rPr lang="en-US" altLang="en-US" sz="2200" dirty="0"/>
              <a:t>has proved to be an effective, inexpensive, and noninvasive way of measuring pulmonary reserve and predicting postoperative pulmonary function. </a:t>
            </a:r>
          </a:p>
          <a:p>
            <a:pPr lvl="1"/>
            <a:r>
              <a:rPr lang="en-US" altLang="en-US" sz="2200" dirty="0"/>
              <a:t>assesses the integrated mechanical function of the lung, chest wall, respiratory muscles, and airways by measuring the total volume of air exhaled from a full lung (total lung capacity [TLC]) to maximal expiration (residual volume [RV]). </a:t>
            </a:r>
            <a:br>
              <a:rPr lang="en-US" altLang="en-US" sz="2200" dirty="0"/>
            </a:br>
            <a:endParaRPr lang="en-US" altLang="en-US" sz="2200" dirty="0"/>
          </a:p>
        </p:txBody>
      </p:sp>
      <p:sp>
        <p:nvSpPr>
          <p:cNvPr id="4" name="Date Placeholder 3">
            <a:extLst>
              <a:ext uri="{FF2B5EF4-FFF2-40B4-BE49-F238E27FC236}">
                <a16:creationId xmlns:a16="http://schemas.microsoft.com/office/drawing/2014/main" id="{452CDC34-BF14-5F64-5F34-7B1F26948EB8}"/>
              </a:ext>
            </a:extLst>
          </p:cNvPr>
          <p:cNvSpPr>
            <a:spLocks noGrp="1"/>
          </p:cNvSpPr>
          <p:nvPr>
            <p:ph type="dt" sz="quarter" idx="10"/>
          </p:nvPr>
        </p:nvSpPr>
        <p:spPr>
          <a:xfrm>
            <a:off x="838200" y="6356350"/>
            <a:ext cx="2743200" cy="365125"/>
          </a:xfrm>
        </p:spPr>
        <p:txBody>
          <a:bodyPr>
            <a:normAutofit/>
          </a:bodyPr>
          <a:lstStyle/>
          <a:p>
            <a:pPr>
              <a:spcAft>
                <a:spcPts val="600"/>
              </a:spcAft>
              <a:defRPr/>
            </a:pPr>
            <a:fld id="{B84F566D-F192-48A7-B371-6EDAC982F309}" type="datetime1">
              <a:rPr lang="en-US"/>
              <a:pPr>
                <a:spcAft>
                  <a:spcPts val="600"/>
                </a:spcAft>
                <a:defRPr/>
              </a:pPr>
              <a:t>4/5/2025</a:t>
            </a:fld>
            <a:endParaRPr lang="en-US"/>
          </a:p>
        </p:txBody>
      </p:sp>
      <p:sp>
        <p:nvSpPr>
          <p:cNvPr id="2" name="Footer Placeholder 1">
            <a:extLst>
              <a:ext uri="{FF2B5EF4-FFF2-40B4-BE49-F238E27FC236}">
                <a16:creationId xmlns:a16="http://schemas.microsoft.com/office/drawing/2014/main" id="{EB7D4D2F-AFEB-3683-AFB9-2E65D45B1D12}"/>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t>prepared by Eyayalem Melese</a:t>
            </a:r>
          </a:p>
        </p:txBody>
      </p:sp>
      <p:sp>
        <p:nvSpPr>
          <p:cNvPr id="5125" name="Slide Number Placeholder 4">
            <a:extLst>
              <a:ext uri="{FF2B5EF4-FFF2-40B4-BE49-F238E27FC236}">
                <a16:creationId xmlns:a16="http://schemas.microsoft.com/office/drawing/2014/main" id="{8BA8CADA-7BA5-45DB-3330-57594510B294}"/>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1A4380F1-9790-4DC9-8D60-4E8A1E2C0463}" type="slidenum">
              <a:rPr lang="en-US" altLang="en-US" sz="1800" smtClean="0">
                <a:latin typeface="Arial" panose="020B0604020202020204" pitchFamily="34" charset="0"/>
              </a:rPr>
              <a:pPr>
                <a:lnSpc>
                  <a:spcPct val="90000"/>
                </a:lnSpc>
                <a:spcBef>
                  <a:spcPct val="0"/>
                </a:spcBef>
                <a:spcAft>
                  <a:spcPts val="600"/>
                </a:spcAft>
                <a:buFontTx/>
                <a:buNone/>
              </a:pPr>
              <a:t>2</a:t>
            </a:fld>
            <a:endParaRPr lang="en-US" altLang="en-US" sz="180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9" name="Rectangle 717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Rectangle 2">
            <a:extLst>
              <a:ext uri="{FF2B5EF4-FFF2-40B4-BE49-F238E27FC236}">
                <a16:creationId xmlns:a16="http://schemas.microsoft.com/office/drawing/2014/main" id="{DE6200D0-3453-1DB5-CF82-E7FD7F78A44B}"/>
              </a:ext>
            </a:extLst>
          </p:cNvPr>
          <p:cNvSpPr>
            <a:spLocks noGrp="1"/>
          </p:cNvSpPr>
          <p:nvPr>
            <p:ph type="title"/>
          </p:nvPr>
        </p:nvSpPr>
        <p:spPr>
          <a:xfrm>
            <a:off x="638882" y="639193"/>
            <a:ext cx="3571810" cy="3573516"/>
          </a:xfrm>
        </p:spPr>
        <p:txBody>
          <a:bodyPr vert="horz" lIns="91440" tIns="45720" rIns="91440" bIns="45720" rtlCol="0" anchor="b">
            <a:normAutofit/>
          </a:bodyPr>
          <a:lstStyle/>
          <a:p>
            <a:pPr algn="l" eaLnBrk="1" hangingPunct="1">
              <a:lnSpc>
                <a:spcPct val="90000"/>
              </a:lnSpc>
            </a:pPr>
            <a:r>
              <a:rPr lang="en-US" altLang="en-US" sz="5600" kern="1200">
                <a:solidFill>
                  <a:schemeClr val="tx1"/>
                </a:solidFill>
                <a:latin typeface="+mj-lt"/>
                <a:ea typeface="+mj-ea"/>
                <a:cs typeface="+mj-cs"/>
              </a:rPr>
              <a:t>Spirometer</a:t>
            </a:r>
          </a:p>
        </p:txBody>
      </p:sp>
      <p:sp>
        <p:nvSpPr>
          <p:cNvPr id="718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1" name="Picture 3" descr="spiro blow">
            <a:extLst>
              <a:ext uri="{FF2B5EF4-FFF2-40B4-BE49-F238E27FC236}">
                <a16:creationId xmlns:a16="http://schemas.microsoft.com/office/drawing/2014/main" id="{CDE1C89F-3173-D4F2-F1C2-AC0BF6F570F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214826"/>
            <a:ext cx="7214616" cy="440091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AA7C38CF-3645-BE9E-8842-393F1F15CA0C}"/>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011D9C9F-1B25-4326-9502-B0FB5A8B1EDA}" type="datetime1">
              <a:rPr lang="en-US">
                <a:latin typeface="+mn-lt"/>
                <a:cs typeface="+mn-cs"/>
              </a:rPr>
              <a:pPr>
                <a:spcAft>
                  <a:spcPts val="600"/>
                </a:spcAft>
                <a:defRPr/>
              </a:pPr>
              <a:t>4/5/2025</a:t>
            </a:fld>
            <a:endParaRPr lang="en-US">
              <a:latin typeface="+mn-lt"/>
              <a:cs typeface="+mn-cs"/>
            </a:endParaRPr>
          </a:p>
        </p:txBody>
      </p:sp>
      <p:sp>
        <p:nvSpPr>
          <p:cNvPr id="3" name="Footer Placeholder 2">
            <a:extLst>
              <a:ext uri="{FF2B5EF4-FFF2-40B4-BE49-F238E27FC236}">
                <a16:creationId xmlns:a16="http://schemas.microsoft.com/office/drawing/2014/main" id="{82463933-2E34-A405-70FA-F0629511F944}"/>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prepared by Eyayalem Melese</a:t>
            </a:r>
          </a:p>
        </p:txBody>
      </p:sp>
      <p:sp>
        <p:nvSpPr>
          <p:cNvPr id="7174" name="Slide Number Placeholder 3">
            <a:extLst>
              <a:ext uri="{FF2B5EF4-FFF2-40B4-BE49-F238E27FC236}">
                <a16:creationId xmlns:a16="http://schemas.microsoft.com/office/drawing/2014/main" id="{7CC3E611-B535-784F-C579-730C573304F4}"/>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B3E8F628-65C9-44D9-8CA0-9076971EE27E}" type="slidenum">
              <a:rPr lang="en-US" altLang="en-US" sz="1200" smtClean="0">
                <a:solidFill>
                  <a:schemeClr val="tx1">
                    <a:tint val="75000"/>
                  </a:schemeClr>
                </a:solidFill>
                <a:latin typeface="+mn-lt"/>
                <a:cs typeface="+mn-cs"/>
              </a:rPr>
              <a:pPr>
                <a:spcBef>
                  <a:spcPct val="0"/>
                </a:spcBef>
                <a:spcAft>
                  <a:spcPts val="600"/>
                </a:spcAft>
                <a:buFontTx/>
                <a:buNone/>
              </a:pPr>
              <a:t>3</a:t>
            </a:fld>
            <a:endParaRPr lang="en-US" altLang="en-US" sz="1200">
              <a:solidFill>
                <a:schemeClr val="tx1">
                  <a:tint val="75000"/>
                </a:schemeClr>
              </a:solidFill>
              <a:latin typeface="+mn-lt"/>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3" name="Rectangle 820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a:extLst>
              <a:ext uri="{FF2B5EF4-FFF2-40B4-BE49-F238E27FC236}">
                <a16:creationId xmlns:a16="http://schemas.microsoft.com/office/drawing/2014/main" id="{8D966912-D3C5-E3DF-72CF-4129AE15A253}"/>
              </a:ext>
            </a:extLst>
          </p:cNvPr>
          <p:cNvSpPr>
            <a:spLocks noGrp="1"/>
          </p:cNvSpPr>
          <p:nvPr>
            <p:ph type="title"/>
          </p:nvPr>
        </p:nvSpPr>
        <p:spPr>
          <a:xfrm>
            <a:off x="841248" y="548640"/>
            <a:ext cx="3600860" cy="5431536"/>
          </a:xfrm>
        </p:spPr>
        <p:txBody>
          <a:bodyPr vert="horz" lIns="91440" tIns="45720" rIns="91440" bIns="45720" rtlCol="0" anchor="ctr">
            <a:normAutofit/>
          </a:bodyPr>
          <a:lstStyle/>
          <a:p>
            <a:pPr algn="l" eaLnBrk="1" hangingPunct="1">
              <a:lnSpc>
                <a:spcPct val="90000"/>
              </a:lnSpc>
            </a:pPr>
            <a:r>
              <a:rPr lang="en-US" altLang="en-US" sz="5000" kern="1200">
                <a:solidFill>
                  <a:schemeClr val="tx1"/>
                </a:solidFill>
                <a:latin typeface="+mj-lt"/>
                <a:ea typeface="+mj-ea"/>
                <a:cs typeface="+mj-cs"/>
              </a:rPr>
              <a:t>PULMONARY FUNCTION TEST &amp;…</a:t>
            </a:r>
          </a:p>
        </p:txBody>
      </p:sp>
      <p:sp>
        <p:nvSpPr>
          <p:cNvPr id="820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8" name="TextBox 6">
            <a:extLst>
              <a:ext uri="{FF2B5EF4-FFF2-40B4-BE49-F238E27FC236}">
                <a16:creationId xmlns:a16="http://schemas.microsoft.com/office/drawing/2014/main" id="{BC8420D9-2713-CE03-817D-FB6E6B681FAA}"/>
              </a:ext>
            </a:extLst>
          </p:cNvPr>
          <p:cNvSpPr txBox="1">
            <a:spLocks noChangeArrowheads="1"/>
          </p:cNvSpPr>
          <p:nvPr/>
        </p:nvSpPr>
        <p:spPr bwMode="auto">
          <a:xfrm>
            <a:off x="5126418" y="552091"/>
            <a:ext cx="6224335" cy="543153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914400" indent="-4572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indent="-228600" eaLnBrk="1" hangingPunct="1">
              <a:lnSpc>
                <a:spcPct val="90000"/>
              </a:lnSpc>
              <a:spcBef>
                <a:spcPct val="0"/>
              </a:spcBef>
              <a:spcAft>
                <a:spcPts val="600"/>
              </a:spcAft>
            </a:pPr>
            <a:r>
              <a:rPr lang="en-US" altLang="en-US" sz="2200" b="1">
                <a:latin typeface="+mn-lt"/>
                <a:cs typeface="+mn-cs"/>
              </a:rPr>
              <a:t>Pulmonary function tests are done to:</a:t>
            </a:r>
          </a:p>
          <a:p>
            <a:pPr lvl="1" indent="-228600" eaLnBrk="1" hangingPunct="1">
              <a:lnSpc>
                <a:spcPct val="90000"/>
              </a:lnSpc>
              <a:spcBef>
                <a:spcPct val="0"/>
              </a:spcBef>
              <a:spcAft>
                <a:spcPts val="600"/>
              </a:spcAft>
              <a:buFont typeface="Arial" panose="020B0604020202020204" pitchFamily="34" charset="0"/>
              <a:buChar char="•"/>
            </a:pPr>
            <a:r>
              <a:rPr lang="en-US" altLang="en-US" sz="2200">
                <a:latin typeface="+mn-lt"/>
                <a:cs typeface="+mn-cs"/>
              </a:rPr>
              <a:t>Help in the diagnosis of certain types of lung disease, such as </a:t>
            </a:r>
            <a:r>
              <a:rPr lang="en-US" altLang="en-US" sz="2200">
                <a:latin typeface="+mn-lt"/>
                <a:cs typeface="+mn-cs"/>
                <a:hlinkClick r:id="rId2"/>
              </a:rPr>
              <a:t>asthma</a:t>
            </a:r>
            <a:r>
              <a:rPr lang="en-US" altLang="en-US" sz="2200">
                <a:latin typeface="+mn-lt"/>
                <a:cs typeface="+mn-cs"/>
              </a:rPr>
              <a:t>, </a:t>
            </a:r>
            <a:r>
              <a:rPr lang="en-US" altLang="en-US" sz="2200">
                <a:latin typeface="+mn-lt"/>
                <a:cs typeface="+mn-cs"/>
                <a:hlinkClick r:id="rId3"/>
              </a:rPr>
              <a:t>bronchitis</a:t>
            </a:r>
            <a:r>
              <a:rPr lang="en-US" altLang="en-US" sz="2200">
                <a:latin typeface="+mn-lt"/>
                <a:cs typeface="+mn-cs"/>
              </a:rPr>
              <a:t>, and </a:t>
            </a:r>
            <a:r>
              <a:rPr lang="en-US" altLang="en-US" sz="2200">
                <a:latin typeface="+mn-lt"/>
                <a:cs typeface="+mn-cs"/>
                <a:hlinkClick r:id="rId4"/>
              </a:rPr>
              <a:t>emphysema</a:t>
            </a:r>
            <a:r>
              <a:rPr lang="en-US" altLang="en-US" sz="2200">
                <a:latin typeface="+mn-lt"/>
                <a:cs typeface="+mn-cs"/>
              </a:rPr>
              <a:t>.</a:t>
            </a:r>
          </a:p>
          <a:p>
            <a:pPr lvl="1" indent="-228600" eaLnBrk="1" hangingPunct="1">
              <a:lnSpc>
                <a:spcPct val="90000"/>
              </a:lnSpc>
              <a:spcBef>
                <a:spcPct val="0"/>
              </a:spcBef>
              <a:spcAft>
                <a:spcPts val="600"/>
              </a:spcAft>
              <a:buFont typeface="Arial" panose="020B0604020202020204" pitchFamily="34" charset="0"/>
              <a:buChar char="•"/>
            </a:pPr>
            <a:r>
              <a:rPr lang="en-US" altLang="en-US" sz="2200">
                <a:latin typeface="+mn-lt"/>
                <a:cs typeface="+mn-cs"/>
              </a:rPr>
              <a:t>Find the cause of </a:t>
            </a:r>
            <a:r>
              <a:rPr lang="en-US" altLang="en-US" sz="2200">
                <a:latin typeface="+mn-lt"/>
                <a:cs typeface="+mn-cs"/>
                <a:hlinkClick r:id="rId5"/>
              </a:rPr>
              <a:t>shortness of breath</a:t>
            </a:r>
            <a:r>
              <a:rPr lang="en-US" altLang="en-US" sz="2200">
                <a:latin typeface="+mn-lt"/>
                <a:cs typeface="+mn-cs"/>
              </a:rPr>
              <a:t>.</a:t>
            </a:r>
          </a:p>
          <a:p>
            <a:pPr lvl="1" indent="-228600" eaLnBrk="1" hangingPunct="1">
              <a:lnSpc>
                <a:spcPct val="90000"/>
              </a:lnSpc>
              <a:spcBef>
                <a:spcPct val="0"/>
              </a:spcBef>
              <a:spcAft>
                <a:spcPts val="600"/>
              </a:spcAft>
              <a:buFont typeface="Arial" panose="020B0604020202020204" pitchFamily="34" charset="0"/>
              <a:buChar char="•"/>
            </a:pPr>
            <a:r>
              <a:rPr lang="en-US" altLang="en-US" sz="2200">
                <a:latin typeface="+mn-lt"/>
                <a:cs typeface="+mn-cs"/>
              </a:rPr>
              <a:t>Measure whether exposure to chemicals at work affects lung function.</a:t>
            </a:r>
          </a:p>
          <a:p>
            <a:pPr lvl="1" indent="-228600" eaLnBrk="1" hangingPunct="1">
              <a:lnSpc>
                <a:spcPct val="90000"/>
              </a:lnSpc>
              <a:spcBef>
                <a:spcPct val="0"/>
              </a:spcBef>
              <a:spcAft>
                <a:spcPts val="600"/>
              </a:spcAft>
              <a:buFont typeface="Arial" panose="020B0604020202020204" pitchFamily="34" charset="0"/>
              <a:buChar char="•"/>
            </a:pPr>
            <a:r>
              <a:rPr lang="en-US" altLang="en-US" sz="2200">
                <a:latin typeface="+mn-lt"/>
                <a:cs typeface="+mn-cs"/>
              </a:rPr>
              <a:t>Check lung function before someone has surgery</a:t>
            </a:r>
          </a:p>
          <a:p>
            <a:pPr lvl="1" indent="-228600" eaLnBrk="1" hangingPunct="1">
              <a:lnSpc>
                <a:spcPct val="90000"/>
              </a:lnSpc>
              <a:spcBef>
                <a:spcPct val="0"/>
              </a:spcBef>
              <a:spcAft>
                <a:spcPts val="600"/>
              </a:spcAft>
              <a:buFont typeface="Arial" panose="020B0604020202020204" pitchFamily="34" charset="0"/>
              <a:buChar char="•"/>
            </a:pPr>
            <a:r>
              <a:rPr lang="en-US" altLang="en-US" sz="2200">
                <a:latin typeface="+mn-lt"/>
                <a:cs typeface="+mn-cs"/>
              </a:rPr>
              <a:t>Assess the effect of medicines</a:t>
            </a:r>
          </a:p>
          <a:p>
            <a:pPr lvl="1" indent="-228600" eaLnBrk="1" hangingPunct="1">
              <a:lnSpc>
                <a:spcPct val="90000"/>
              </a:lnSpc>
              <a:spcBef>
                <a:spcPct val="0"/>
              </a:spcBef>
              <a:spcAft>
                <a:spcPts val="600"/>
              </a:spcAft>
              <a:buFont typeface="Arial" panose="020B0604020202020204" pitchFamily="34" charset="0"/>
              <a:buChar char="•"/>
            </a:pPr>
            <a:r>
              <a:rPr lang="en-US" altLang="en-US" sz="2200">
                <a:latin typeface="+mn-lt"/>
                <a:cs typeface="+mn-cs"/>
              </a:rPr>
              <a:t>Measure progress in disease treatment</a:t>
            </a:r>
          </a:p>
          <a:p>
            <a:pPr lvl="1" indent="-228600" eaLnBrk="1" hangingPunct="1">
              <a:lnSpc>
                <a:spcPct val="90000"/>
              </a:lnSpc>
              <a:spcBef>
                <a:spcPct val="0"/>
              </a:spcBef>
              <a:spcAft>
                <a:spcPts val="600"/>
              </a:spcAft>
              <a:buFont typeface="Arial" panose="020B0604020202020204" pitchFamily="34" charset="0"/>
              <a:buChar char="•"/>
            </a:pPr>
            <a:r>
              <a:rPr lang="en-US" altLang="en-US" sz="2200">
                <a:latin typeface="+mn-lt"/>
                <a:cs typeface="+mn-cs"/>
              </a:rPr>
              <a:t>Measure the response to treatment in cardiopulmonary vascular disease</a:t>
            </a:r>
          </a:p>
        </p:txBody>
      </p:sp>
      <p:sp>
        <p:nvSpPr>
          <p:cNvPr id="3" name="Date Placeholder 2">
            <a:extLst>
              <a:ext uri="{FF2B5EF4-FFF2-40B4-BE49-F238E27FC236}">
                <a16:creationId xmlns:a16="http://schemas.microsoft.com/office/drawing/2014/main" id="{C7B057F1-9831-AF59-E559-6A050E859FF7}"/>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ADA0EE27-C15B-4157-855C-654E2A85AB00}" type="datetime1">
              <a:rPr lang="en-US" smtClean="0">
                <a:latin typeface="+mn-lt"/>
                <a:cs typeface="+mn-cs"/>
              </a:rPr>
              <a:pPr>
                <a:spcAft>
                  <a:spcPts val="600"/>
                </a:spcAft>
                <a:defRPr/>
              </a:pPr>
              <a:t>4/5/2025</a:t>
            </a:fld>
            <a:endParaRPr lang="en-US">
              <a:latin typeface="+mn-lt"/>
              <a:cs typeface="+mn-cs"/>
            </a:endParaRPr>
          </a:p>
        </p:txBody>
      </p:sp>
      <p:sp>
        <p:nvSpPr>
          <p:cNvPr id="4" name="Footer Placeholder 3">
            <a:extLst>
              <a:ext uri="{FF2B5EF4-FFF2-40B4-BE49-F238E27FC236}">
                <a16:creationId xmlns:a16="http://schemas.microsoft.com/office/drawing/2014/main" id="{8520C1B4-D37D-EE75-D81B-3461BB7207D9}"/>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prepared by Eyayalem Melese</a:t>
            </a:r>
          </a:p>
        </p:txBody>
      </p:sp>
      <p:sp>
        <p:nvSpPr>
          <p:cNvPr id="8197" name="Slide Number Placeholder 4">
            <a:extLst>
              <a:ext uri="{FF2B5EF4-FFF2-40B4-BE49-F238E27FC236}">
                <a16:creationId xmlns:a16="http://schemas.microsoft.com/office/drawing/2014/main" id="{7C2ECC63-B4C8-0EEA-E79D-2B0D4E508F83}"/>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B4A50CF1-7B55-4944-A098-CA6EA2718992}" type="slidenum">
              <a:rPr lang="en-US" altLang="en-US" sz="1200" smtClean="0">
                <a:solidFill>
                  <a:schemeClr val="tx1">
                    <a:tint val="75000"/>
                  </a:schemeClr>
                </a:solidFill>
                <a:latin typeface="+mn-lt"/>
                <a:cs typeface="+mn-cs"/>
              </a:rPr>
              <a:pPr>
                <a:spcBef>
                  <a:spcPct val="0"/>
                </a:spcBef>
                <a:spcAft>
                  <a:spcPts val="600"/>
                </a:spcAft>
                <a:buFontTx/>
                <a:buNone/>
              </a:pPr>
              <a:t>4</a:t>
            </a:fld>
            <a:endParaRPr lang="en-US" altLang="en-US" sz="1200">
              <a:solidFill>
                <a:schemeClr val="tx1">
                  <a:tint val="75000"/>
                </a:schemeClr>
              </a:solidFill>
              <a:latin typeface="+mn-lt"/>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B0EFEDB-C8FC-B9A3-9EE9-77061E259F50}"/>
              </a:ext>
            </a:extLst>
          </p:cNvPr>
          <p:cNvSpPr>
            <a:spLocks noGrp="1"/>
          </p:cNvSpPr>
          <p:nvPr>
            <p:ph type="title"/>
          </p:nvPr>
        </p:nvSpPr>
        <p:spPr/>
        <p:txBody>
          <a:bodyPr/>
          <a:lstStyle/>
          <a:p>
            <a:pPr eaLnBrk="1" hangingPunct="1"/>
            <a:r>
              <a:rPr lang="nl-BE" altLang="en-US" b="1"/>
              <a:t>Two important parameters</a:t>
            </a:r>
            <a:endParaRPr lang="nl-NL" altLang="en-US" b="1"/>
          </a:p>
        </p:txBody>
      </p:sp>
      <p:graphicFrame>
        <p:nvGraphicFramePr>
          <p:cNvPr id="9226" name="Rectangle 3">
            <a:extLst>
              <a:ext uri="{FF2B5EF4-FFF2-40B4-BE49-F238E27FC236}">
                <a16:creationId xmlns:a16="http://schemas.microsoft.com/office/drawing/2014/main" id="{9F64BB17-F6A3-1465-46D5-76C6CBFDBC04}"/>
              </a:ext>
            </a:extLst>
          </p:cNvPr>
          <p:cNvGraphicFramePr>
            <a:graphicFrameLocks noGrp="1"/>
          </p:cNvGraphicFramePr>
          <p:nvPr>
            <p:ph idx="1"/>
          </p:nvPr>
        </p:nvGraphicFramePr>
        <p:xfrm>
          <a:off x="838200" y="1600200"/>
          <a:ext cx="106680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a:extLst>
              <a:ext uri="{FF2B5EF4-FFF2-40B4-BE49-F238E27FC236}">
                <a16:creationId xmlns:a16="http://schemas.microsoft.com/office/drawing/2014/main" id="{819A302A-A73A-22D1-3A2C-4170B36D934A}"/>
              </a:ext>
            </a:extLst>
          </p:cNvPr>
          <p:cNvSpPr>
            <a:spLocks noGrp="1"/>
          </p:cNvSpPr>
          <p:nvPr>
            <p:ph type="dt" sz="quarter" idx="10"/>
          </p:nvPr>
        </p:nvSpPr>
        <p:spPr/>
        <p:txBody>
          <a:bodyPr/>
          <a:lstStyle/>
          <a:p>
            <a:pPr>
              <a:defRPr/>
            </a:pPr>
            <a:fld id="{A26C7B50-DC1E-489A-A3ED-D37E95015C22}" type="datetime1">
              <a:rPr lang="en-US" smtClean="0"/>
              <a:pPr>
                <a:defRPr/>
              </a:pPr>
              <a:t>4/5/2025</a:t>
            </a:fld>
            <a:endParaRPr lang="en-US"/>
          </a:p>
        </p:txBody>
      </p:sp>
      <p:sp>
        <p:nvSpPr>
          <p:cNvPr id="3" name="Footer Placeholder 2">
            <a:extLst>
              <a:ext uri="{FF2B5EF4-FFF2-40B4-BE49-F238E27FC236}">
                <a16:creationId xmlns:a16="http://schemas.microsoft.com/office/drawing/2014/main" id="{F6BCB288-C407-7117-C4C1-8D37F71EC87D}"/>
              </a:ext>
            </a:extLst>
          </p:cNvPr>
          <p:cNvSpPr>
            <a:spLocks noGrp="1"/>
          </p:cNvSpPr>
          <p:nvPr>
            <p:ph type="ftr" sz="quarter" idx="11"/>
          </p:nvPr>
        </p:nvSpPr>
        <p:spPr/>
        <p:txBody>
          <a:bodyPr/>
          <a:lstStyle/>
          <a:p>
            <a:pPr>
              <a:defRPr/>
            </a:pPr>
            <a:r>
              <a:rPr lang="en-US"/>
              <a:t>prepared by Eyayalem Melese</a:t>
            </a:r>
          </a:p>
        </p:txBody>
      </p:sp>
      <p:sp>
        <p:nvSpPr>
          <p:cNvPr id="9222" name="Slide Number Placeholder 3">
            <a:extLst>
              <a:ext uri="{FF2B5EF4-FFF2-40B4-BE49-F238E27FC236}">
                <a16:creationId xmlns:a16="http://schemas.microsoft.com/office/drawing/2014/main" id="{53C6ED25-4BBE-0685-E721-A2FA2DEEC5E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3452665-FB87-487A-A486-13945C98C305}" type="slidenum">
              <a:rPr lang="en-US" altLang="en-US" sz="1200" smtClean="0">
                <a:solidFill>
                  <a:srgbClr val="898989"/>
                </a:solidFill>
                <a:latin typeface="Arial" panose="020B0604020202020204" pitchFamily="34" charset="0"/>
              </a:rPr>
              <a:pPr>
                <a:spcBef>
                  <a:spcPct val="0"/>
                </a:spcBef>
                <a:buFontTx/>
                <a:buNone/>
              </a:pPr>
              <a:t>5</a:t>
            </a:fld>
            <a:endParaRPr lang="en-US" altLang="en-US" sz="1200">
              <a:solidFill>
                <a:srgbClr val="898989"/>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606DF2A-5ABB-15FF-0953-5E705D4DBB53}"/>
              </a:ext>
            </a:extLst>
          </p:cNvPr>
          <p:cNvSpPr>
            <a:spLocks noGrp="1"/>
          </p:cNvSpPr>
          <p:nvPr>
            <p:ph type="title"/>
          </p:nvPr>
        </p:nvSpPr>
        <p:spPr>
          <a:xfrm>
            <a:off x="3157538" y="274638"/>
            <a:ext cx="7053262" cy="1143000"/>
          </a:xfrm>
        </p:spPr>
        <p:txBody>
          <a:bodyPr/>
          <a:lstStyle/>
          <a:p>
            <a:pPr algn="l" eaLnBrk="1" hangingPunct="1"/>
            <a:r>
              <a:rPr lang="en-US" altLang="en-US" sz="4000"/>
              <a:t>Spirometry:  Normal and COPD</a:t>
            </a:r>
          </a:p>
        </p:txBody>
      </p:sp>
      <p:graphicFrame>
        <p:nvGraphicFramePr>
          <p:cNvPr id="10243" name="Object 3">
            <a:extLst>
              <a:ext uri="{FF2B5EF4-FFF2-40B4-BE49-F238E27FC236}">
                <a16:creationId xmlns:a16="http://schemas.microsoft.com/office/drawing/2014/main" id="{DA6D1665-236E-E5D7-3FC5-32DFF3482103}"/>
              </a:ext>
            </a:extLst>
          </p:cNvPr>
          <p:cNvGraphicFramePr>
            <a:graphicFrameLocks noChangeAspect="1"/>
          </p:cNvGraphicFramePr>
          <p:nvPr>
            <p:extLst>
              <p:ext uri="{D42A27DB-BD31-4B8C-83A1-F6EECF244321}">
                <p14:modId xmlns:p14="http://schemas.microsoft.com/office/powerpoint/2010/main" val="3864162110"/>
              </p:ext>
            </p:extLst>
          </p:nvPr>
        </p:nvGraphicFramePr>
        <p:xfrm>
          <a:off x="1524000" y="1334294"/>
          <a:ext cx="9144000" cy="5105400"/>
        </p:xfrm>
        <a:graphic>
          <a:graphicData uri="http://schemas.openxmlformats.org/presentationml/2006/ole">
            <mc:AlternateContent xmlns:mc="http://schemas.openxmlformats.org/markup-compatibility/2006">
              <mc:Choice xmlns:v="urn:schemas-microsoft-com:vml" Requires="v">
                <p:oleObj name="Slide" r:id="rId2" imgW="2747963" imgH="1831975" progId="PowerPoint.Slide.8">
                  <p:embed/>
                </p:oleObj>
              </mc:Choice>
              <mc:Fallback>
                <p:oleObj name="Slide" r:id="rId2" imgW="2747963" imgH="1831975" progId="PowerPoint.Slide.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334294"/>
                        <a:ext cx="91440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Date Placeholder 1">
            <a:extLst>
              <a:ext uri="{FF2B5EF4-FFF2-40B4-BE49-F238E27FC236}">
                <a16:creationId xmlns:a16="http://schemas.microsoft.com/office/drawing/2014/main" id="{DB71E5A7-BC9D-BEDB-C8BD-BAAFF0BA4F4B}"/>
              </a:ext>
            </a:extLst>
          </p:cNvPr>
          <p:cNvSpPr>
            <a:spLocks noGrp="1"/>
          </p:cNvSpPr>
          <p:nvPr>
            <p:ph type="dt" sz="quarter" idx="10"/>
          </p:nvPr>
        </p:nvSpPr>
        <p:spPr/>
        <p:txBody>
          <a:bodyPr/>
          <a:lstStyle/>
          <a:p>
            <a:pPr>
              <a:defRPr/>
            </a:pPr>
            <a:fld id="{3AD329F8-2325-481B-BAA7-070213333BCC}" type="datetime1">
              <a:rPr lang="en-US"/>
              <a:pPr>
                <a:defRPr/>
              </a:pPr>
              <a:t>4/5/2025</a:t>
            </a:fld>
            <a:endParaRPr lang="en-US"/>
          </a:p>
        </p:txBody>
      </p:sp>
      <p:sp>
        <p:nvSpPr>
          <p:cNvPr id="3" name="Footer Placeholder 2">
            <a:extLst>
              <a:ext uri="{FF2B5EF4-FFF2-40B4-BE49-F238E27FC236}">
                <a16:creationId xmlns:a16="http://schemas.microsoft.com/office/drawing/2014/main" id="{CCDDEB78-E159-EBA2-01E9-2446BA8E1540}"/>
              </a:ext>
            </a:extLst>
          </p:cNvPr>
          <p:cNvSpPr>
            <a:spLocks noGrp="1"/>
          </p:cNvSpPr>
          <p:nvPr>
            <p:ph type="ftr" sz="quarter" idx="11"/>
          </p:nvPr>
        </p:nvSpPr>
        <p:spPr/>
        <p:txBody>
          <a:bodyPr/>
          <a:lstStyle/>
          <a:p>
            <a:pPr>
              <a:defRPr/>
            </a:pPr>
            <a:r>
              <a:rPr lang="en-US"/>
              <a:t>prepared by Eyayalem Melese</a:t>
            </a:r>
          </a:p>
        </p:txBody>
      </p:sp>
      <p:sp>
        <p:nvSpPr>
          <p:cNvPr id="10246" name="Slide Number Placeholder 3">
            <a:extLst>
              <a:ext uri="{FF2B5EF4-FFF2-40B4-BE49-F238E27FC236}">
                <a16:creationId xmlns:a16="http://schemas.microsoft.com/office/drawing/2014/main" id="{AF116EFD-FDB9-BC5F-35E5-D37B861624E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FD1812B-2967-426D-9732-B9D32CF371C4}" type="slidenum">
              <a:rPr lang="en-US" altLang="en-US" sz="1200" smtClean="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1A352F0-35CF-5E48-4408-9488F322AF33}"/>
              </a:ext>
            </a:extLst>
          </p:cNvPr>
          <p:cNvSpPr>
            <a:spLocks noGrp="1"/>
          </p:cNvSpPr>
          <p:nvPr>
            <p:ph type="title"/>
          </p:nvPr>
        </p:nvSpPr>
        <p:spPr/>
        <p:txBody>
          <a:bodyPr/>
          <a:lstStyle/>
          <a:p>
            <a:pPr eaLnBrk="1" hangingPunct="1"/>
            <a:r>
              <a:rPr lang="en-US" altLang="en-US"/>
              <a:t>Spirometry</a:t>
            </a:r>
          </a:p>
        </p:txBody>
      </p:sp>
      <p:graphicFrame>
        <p:nvGraphicFramePr>
          <p:cNvPr id="11278" name="Content Placeholder 2">
            <a:extLst>
              <a:ext uri="{FF2B5EF4-FFF2-40B4-BE49-F238E27FC236}">
                <a16:creationId xmlns:a16="http://schemas.microsoft.com/office/drawing/2014/main" id="{FC0D7E7B-9BBC-8C79-9BB7-1EA6D4105572}"/>
              </a:ext>
            </a:extLst>
          </p:cNvPr>
          <p:cNvGraphicFramePr>
            <a:graphicFrameLocks noGrp="1"/>
          </p:cNvGraphicFramePr>
          <p:nvPr>
            <p:ph idx="1"/>
          </p:nvPr>
        </p:nvGraphicFramePr>
        <p:xfrm>
          <a:off x="1524000" y="1295400"/>
          <a:ext cx="8915400" cy="4835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218C09B4-ED77-8742-5458-92DF92F5E2D1}"/>
              </a:ext>
            </a:extLst>
          </p:cNvPr>
          <p:cNvSpPr>
            <a:spLocks noGrp="1"/>
          </p:cNvSpPr>
          <p:nvPr>
            <p:ph type="dt" sz="quarter" idx="10"/>
          </p:nvPr>
        </p:nvSpPr>
        <p:spPr/>
        <p:txBody>
          <a:bodyPr/>
          <a:lstStyle/>
          <a:p>
            <a:pPr>
              <a:defRPr/>
            </a:pPr>
            <a:fld id="{3DC5A3BF-81AB-4ED0-8247-2AF3A2FBF16D}" type="datetime1">
              <a:rPr lang="en-US" smtClean="0"/>
              <a:pPr>
                <a:defRPr/>
              </a:pPr>
              <a:t>4/5/2025</a:t>
            </a:fld>
            <a:endParaRPr lang="en-US" dirty="0"/>
          </a:p>
        </p:txBody>
      </p:sp>
      <p:sp>
        <p:nvSpPr>
          <p:cNvPr id="11269" name="Slide Number Placeholder 4">
            <a:extLst>
              <a:ext uri="{FF2B5EF4-FFF2-40B4-BE49-F238E27FC236}">
                <a16:creationId xmlns:a16="http://schemas.microsoft.com/office/drawing/2014/main" id="{BE4AFA07-FDCE-6C1B-FA0F-E74B2A360C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68FB841-EA2A-46A1-B541-4C7CA7667487}" type="slidenum">
              <a:rPr lang="en-US" altLang="en-US" sz="1200" smtClean="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0D984AF3-25AE-494E-6108-98B452AECCE3}"/>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00" name="Rectangle 1229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0" name="Title 1">
            <a:extLst>
              <a:ext uri="{FF2B5EF4-FFF2-40B4-BE49-F238E27FC236}">
                <a16:creationId xmlns:a16="http://schemas.microsoft.com/office/drawing/2014/main" id="{582FE7CC-98C7-5CC2-C717-4DF4A377968E}"/>
              </a:ext>
            </a:extLst>
          </p:cNvPr>
          <p:cNvSpPr>
            <a:spLocks noGrp="1"/>
          </p:cNvSpPr>
          <p:nvPr>
            <p:ph type="title"/>
          </p:nvPr>
        </p:nvSpPr>
        <p:spPr>
          <a:xfrm>
            <a:off x="630936" y="640080"/>
            <a:ext cx="4818888" cy="1481328"/>
          </a:xfrm>
        </p:spPr>
        <p:txBody>
          <a:bodyPr anchor="b">
            <a:normAutofit/>
          </a:bodyPr>
          <a:lstStyle/>
          <a:p>
            <a:r>
              <a:rPr lang="en-US" altLang="en-US" sz="5400"/>
              <a:t>FVC</a:t>
            </a:r>
          </a:p>
        </p:txBody>
      </p:sp>
      <p:sp>
        <p:nvSpPr>
          <p:cNvPr id="1230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1CF7DA-09C5-D8B1-7785-C10D017690E2}"/>
              </a:ext>
            </a:extLst>
          </p:cNvPr>
          <p:cNvSpPr>
            <a:spLocks noGrp="1"/>
          </p:cNvSpPr>
          <p:nvPr>
            <p:ph idx="1"/>
          </p:nvPr>
        </p:nvSpPr>
        <p:spPr>
          <a:xfrm>
            <a:off x="630936" y="2660904"/>
            <a:ext cx="4818888" cy="3547872"/>
          </a:xfrm>
        </p:spPr>
        <p:txBody>
          <a:bodyPr anchor="t">
            <a:normAutofit/>
          </a:bodyPr>
          <a:lstStyle/>
          <a:p>
            <a:pPr marL="0" indent="0">
              <a:buFont typeface="Arial" panose="020B0604020202020204" pitchFamily="34" charset="0"/>
              <a:buNone/>
              <a:defRPr/>
            </a:pPr>
            <a:r>
              <a:rPr lang="en-US" sz="2200" b="1"/>
              <a:t>Interpretation of % predicted: </a:t>
            </a:r>
            <a:endParaRPr lang="en-US" sz="2200"/>
          </a:p>
          <a:p>
            <a:pPr>
              <a:buFont typeface="Arial" charset="0"/>
              <a:buChar char="•"/>
              <a:defRPr/>
            </a:pPr>
            <a:r>
              <a:rPr lang="en-US" sz="2200" b="1"/>
              <a:t>80-120% Normal</a:t>
            </a:r>
          </a:p>
          <a:p>
            <a:pPr>
              <a:buFont typeface="Arial" charset="0"/>
              <a:buChar char="•"/>
              <a:defRPr/>
            </a:pPr>
            <a:r>
              <a:rPr lang="en-US" sz="2200" b="1"/>
              <a:t>70-79% Mild reduction</a:t>
            </a:r>
          </a:p>
          <a:p>
            <a:pPr>
              <a:buFont typeface="Arial" charset="0"/>
              <a:buChar char="•"/>
              <a:defRPr/>
            </a:pPr>
            <a:r>
              <a:rPr lang="en-US" sz="2200" b="1"/>
              <a:t>50%-69% Moderate reduction</a:t>
            </a:r>
          </a:p>
          <a:p>
            <a:pPr>
              <a:buFont typeface="Arial" charset="0"/>
              <a:buChar char="•"/>
              <a:defRPr/>
            </a:pPr>
            <a:r>
              <a:rPr lang="en-US" sz="2200" b="1"/>
              <a:t>&lt;50% Severe reduction</a:t>
            </a:r>
          </a:p>
          <a:p>
            <a:pPr marL="0" indent="0">
              <a:buFont typeface="Arial" panose="020B0604020202020204" pitchFamily="34" charset="0"/>
              <a:buNone/>
              <a:defRPr/>
            </a:pPr>
            <a:r>
              <a:rPr lang="en-US" sz="2200"/>
              <a:t>VC(ml)= (27.63-o.112*age)Ht cm in Male</a:t>
            </a:r>
          </a:p>
          <a:p>
            <a:pPr marL="0" indent="0">
              <a:buFont typeface="Arial" panose="020B0604020202020204" pitchFamily="34" charset="0"/>
              <a:buNone/>
              <a:defRPr/>
            </a:pPr>
            <a:r>
              <a:rPr lang="en-US" sz="2200"/>
              <a:t>VC(ml)= (21.78-0.101*age) Ht cm in female</a:t>
            </a:r>
          </a:p>
          <a:p>
            <a:pPr>
              <a:buFont typeface="Arial" charset="0"/>
              <a:buChar char="•"/>
              <a:defRPr/>
            </a:pPr>
            <a:endParaRPr lang="en-US" sz="2200"/>
          </a:p>
          <a:p>
            <a:pPr>
              <a:buFont typeface="Arial" charset="0"/>
              <a:buChar char="•"/>
              <a:defRPr/>
            </a:pPr>
            <a:endParaRPr lang="en-US" sz="2200"/>
          </a:p>
        </p:txBody>
      </p:sp>
      <p:pic>
        <p:nvPicPr>
          <p:cNvPr id="12292" name="Picture 3">
            <a:extLst>
              <a:ext uri="{FF2B5EF4-FFF2-40B4-BE49-F238E27FC236}">
                <a16:creationId xmlns:a16="http://schemas.microsoft.com/office/drawing/2014/main" id="{604BF49D-17B4-5A6A-734D-CCB221E38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099048" y="1624653"/>
            <a:ext cx="5458968" cy="36086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6F97F77-9ABB-9265-A108-24F625454C0E}"/>
              </a:ext>
            </a:extLst>
          </p:cNvPr>
          <p:cNvSpPr>
            <a:spLocks noGrp="1"/>
          </p:cNvSpPr>
          <p:nvPr>
            <p:ph type="dt" sz="quarter" idx="10"/>
          </p:nvPr>
        </p:nvSpPr>
        <p:spPr>
          <a:xfrm>
            <a:off x="838200" y="6356350"/>
            <a:ext cx="2743200" cy="365125"/>
          </a:xfrm>
        </p:spPr>
        <p:txBody>
          <a:bodyPr>
            <a:normAutofit/>
          </a:bodyPr>
          <a:lstStyle/>
          <a:p>
            <a:pPr>
              <a:spcAft>
                <a:spcPts val="600"/>
              </a:spcAft>
              <a:defRPr/>
            </a:pPr>
            <a:fld id="{70797F73-C6B1-4FAB-B51A-B1E5BD19AFB5}" type="datetime1">
              <a:rPr lang="en-US"/>
              <a:pPr>
                <a:spcAft>
                  <a:spcPts val="600"/>
                </a:spcAft>
                <a:defRPr/>
              </a:pPr>
              <a:t>4/5/2025</a:t>
            </a:fld>
            <a:endParaRPr lang="en-US"/>
          </a:p>
        </p:txBody>
      </p:sp>
      <p:sp>
        <p:nvSpPr>
          <p:cNvPr id="4" name="Footer Placeholder 3">
            <a:extLst>
              <a:ext uri="{FF2B5EF4-FFF2-40B4-BE49-F238E27FC236}">
                <a16:creationId xmlns:a16="http://schemas.microsoft.com/office/drawing/2014/main" id="{667AFE87-1957-2926-7E8F-8DE2AAD7A6DC}"/>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t>prepared by Eyayalem Melese</a:t>
            </a:r>
          </a:p>
        </p:txBody>
      </p:sp>
      <p:sp>
        <p:nvSpPr>
          <p:cNvPr id="12295" name="Slide Number Placeholder 4">
            <a:extLst>
              <a:ext uri="{FF2B5EF4-FFF2-40B4-BE49-F238E27FC236}">
                <a16:creationId xmlns:a16="http://schemas.microsoft.com/office/drawing/2014/main" id="{C77469C7-A664-3C37-B356-7679B7164784}"/>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475400E2-2533-40DA-A9A7-C38A5CFF12F1}" type="slidenum">
              <a:rPr lang="en-US" altLang="en-US" sz="1800" smtClean="0">
                <a:latin typeface="Arial" panose="020B0604020202020204" pitchFamily="34" charset="0"/>
              </a:rPr>
              <a:pPr>
                <a:lnSpc>
                  <a:spcPct val="90000"/>
                </a:lnSpc>
                <a:spcBef>
                  <a:spcPct val="0"/>
                </a:spcBef>
                <a:spcAft>
                  <a:spcPts val="600"/>
                </a:spcAft>
                <a:buFontTx/>
                <a:buNone/>
              </a:pPr>
              <a:t>8</a:t>
            </a:fld>
            <a:endParaRPr lang="en-US" altLang="en-US" sz="180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0E5FA2E-0F3A-122E-2807-637C2C6EBC37}"/>
              </a:ext>
            </a:extLst>
          </p:cNvPr>
          <p:cNvSpPr>
            <a:spLocks noGrp="1"/>
          </p:cNvSpPr>
          <p:nvPr>
            <p:ph type="title"/>
          </p:nvPr>
        </p:nvSpPr>
        <p:spPr/>
        <p:txBody>
          <a:bodyPr/>
          <a:lstStyle/>
          <a:p>
            <a:pPr eaLnBrk="1" hangingPunct="1"/>
            <a:r>
              <a:rPr lang="en-US" altLang="en-US"/>
              <a:t>Spirometry</a:t>
            </a:r>
          </a:p>
        </p:txBody>
      </p:sp>
      <p:graphicFrame>
        <p:nvGraphicFramePr>
          <p:cNvPr id="14343" name="Content Placeholder 2">
            <a:extLst>
              <a:ext uri="{FF2B5EF4-FFF2-40B4-BE49-F238E27FC236}">
                <a16:creationId xmlns:a16="http://schemas.microsoft.com/office/drawing/2014/main" id="{A00DCAF8-4040-C49E-9FC9-8C8B116A7179}"/>
              </a:ext>
            </a:extLst>
          </p:cNvPr>
          <p:cNvGraphicFramePr>
            <a:graphicFrameLocks noGrp="1"/>
          </p:cNvGraphicFramePr>
          <p:nvPr>
            <p:ph idx="1"/>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401F473C-65D5-922D-AFC8-16D23441BD90}"/>
              </a:ext>
            </a:extLst>
          </p:cNvPr>
          <p:cNvSpPr>
            <a:spLocks noGrp="1"/>
          </p:cNvSpPr>
          <p:nvPr>
            <p:ph type="dt" sz="quarter" idx="10"/>
          </p:nvPr>
        </p:nvSpPr>
        <p:spPr/>
        <p:txBody>
          <a:bodyPr/>
          <a:lstStyle/>
          <a:p>
            <a:pPr>
              <a:defRPr/>
            </a:pPr>
            <a:fld id="{13AE71AE-088A-4EA4-A715-87FDC4D3BF5D}" type="datetime1">
              <a:rPr lang="en-US" smtClean="0"/>
              <a:pPr>
                <a:defRPr/>
              </a:pPr>
              <a:t>4/5/2025</a:t>
            </a:fld>
            <a:endParaRPr lang="en-US"/>
          </a:p>
        </p:txBody>
      </p:sp>
      <p:sp>
        <p:nvSpPr>
          <p:cNvPr id="14341" name="Slide Number Placeholder 4">
            <a:extLst>
              <a:ext uri="{FF2B5EF4-FFF2-40B4-BE49-F238E27FC236}">
                <a16:creationId xmlns:a16="http://schemas.microsoft.com/office/drawing/2014/main" id="{91E69B85-B509-CE7A-37DC-F6076FAF31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CBEF9AD-73C6-4625-AB7B-7888152BC734}" type="slidenum">
              <a:rPr lang="en-US" altLang="en-US" sz="1200" smtClean="0">
                <a:solidFill>
                  <a:srgbClr val="898989"/>
                </a:solidFill>
                <a:latin typeface="Arial" panose="020B0604020202020204" pitchFamily="34" charset="0"/>
              </a:rPr>
              <a:pPr>
                <a:spcBef>
                  <a:spcPct val="0"/>
                </a:spcBef>
                <a:buFontTx/>
                <a:buNone/>
              </a:pPr>
              <a:t>9</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9F537AEF-F1BC-1EB8-804A-C27102BEE975}"/>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72" name="Rectangle 15371">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Title 1">
            <a:extLst>
              <a:ext uri="{FF2B5EF4-FFF2-40B4-BE49-F238E27FC236}">
                <a16:creationId xmlns:a16="http://schemas.microsoft.com/office/drawing/2014/main" id="{E8DAC1AC-9A08-76DD-51A9-C2E2A220222A}"/>
              </a:ext>
            </a:extLst>
          </p:cNvPr>
          <p:cNvSpPr>
            <a:spLocks noGrp="1"/>
          </p:cNvSpPr>
          <p:nvPr>
            <p:ph type="title"/>
          </p:nvPr>
        </p:nvSpPr>
        <p:spPr>
          <a:xfrm>
            <a:off x="838200" y="365125"/>
            <a:ext cx="10515600" cy="1325563"/>
          </a:xfrm>
        </p:spPr>
        <p:txBody>
          <a:bodyPr>
            <a:normAutofit/>
          </a:bodyPr>
          <a:lstStyle/>
          <a:p>
            <a:pPr eaLnBrk="1" hangingPunct="1"/>
            <a:r>
              <a:rPr lang="en-US" altLang="en-US" sz="5400"/>
              <a:t>Spirometry</a:t>
            </a:r>
          </a:p>
        </p:txBody>
      </p:sp>
      <p:sp>
        <p:nvSpPr>
          <p:cNvPr id="15374"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FB9A65B3-AF7C-C909-06EA-EEFC3C568404}"/>
              </a:ext>
            </a:extLst>
          </p:cNvPr>
          <p:cNvSpPr>
            <a:spLocks noGrp="1"/>
          </p:cNvSpPr>
          <p:nvPr>
            <p:ph type="dt" sz="quarter" idx="10"/>
          </p:nvPr>
        </p:nvSpPr>
        <p:spPr>
          <a:xfrm>
            <a:off x="838200" y="6356350"/>
            <a:ext cx="2743200" cy="365125"/>
          </a:xfrm>
        </p:spPr>
        <p:txBody>
          <a:bodyPr>
            <a:normAutofit/>
          </a:bodyPr>
          <a:lstStyle/>
          <a:p>
            <a:pPr>
              <a:spcAft>
                <a:spcPts val="600"/>
              </a:spcAft>
              <a:defRPr/>
            </a:pPr>
            <a:fld id="{81EAEBC3-3577-4622-8F17-165EB170D39C}" type="datetime1">
              <a:rPr lang="en-US"/>
              <a:pPr>
                <a:spcAft>
                  <a:spcPts val="600"/>
                </a:spcAft>
                <a:defRPr/>
              </a:pPr>
              <a:t>4/5/2025</a:t>
            </a:fld>
            <a:endParaRPr lang="en-US"/>
          </a:p>
        </p:txBody>
      </p:sp>
      <p:sp>
        <p:nvSpPr>
          <p:cNvPr id="4" name="Footer Placeholder 3">
            <a:extLst>
              <a:ext uri="{FF2B5EF4-FFF2-40B4-BE49-F238E27FC236}">
                <a16:creationId xmlns:a16="http://schemas.microsoft.com/office/drawing/2014/main" id="{AFF1A492-8B3F-68C7-DB4B-F41D5D232B63}"/>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t>prepared by Eyayalem Melese</a:t>
            </a:r>
          </a:p>
        </p:txBody>
      </p:sp>
      <p:sp>
        <p:nvSpPr>
          <p:cNvPr id="15366" name="Slide Number Placeholder 4">
            <a:extLst>
              <a:ext uri="{FF2B5EF4-FFF2-40B4-BE49-F238E27FC236}">
                <a16:creationId xmlns:a16="http://schemas.microsoft.com/office/drawing/2014/main" id="{A79CC8ED-7EA6-96E7-E9A9-C3423B4BF33F}"/>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D949AA2D-6905-479E-AD12-4FB7DBEBA6EE}" type="slidenum">
              <a:rPr lang="en-US" altLang="en-US" sz="1800" smtClean="0">
                <a:latin typeface="Arial" panose="020B0604020202020204" pitchFamily="34" charset="0"/>
              </a:rPr>
              <a:pPr>
                <a:lnSpc>
                  <a:spcPct val="90000"/>
                </a:lnSpc>
                <a:spcBef>
                  <a:spcPct val="0"/>
                </a:spcBef>
                <a:spcAft>
                  <a:spcPts val="600"/>
                </a:spcAft>
                <a:buFontTx/>
                <a:buNone/>
              </a:pPr>
              <a:t>10</a:t>
            </a:fld>
            <a:endParaRPr lang="en-US" altLang="en-US" sz="1800">
              <a:latin typeface="Arial" panose="020B0604020202020204" pitchFamily="34" charset="0"/>
            </a:endParaRPr>
          </a:p>
        </p:txBody>
      </p:sp>
      <p:graphicFrame>
        <p:nvGraphicFramePr>
          <p:cNvPr id="15368" name="Content Placeholder 2">
            <a:extLst>
              <a:ext uri="{FF2B5EF4-FFF2-40B4-BE49-F238E27FC236}">
                <a16:creationId xmlns:a16="http://schemas.microsoft.com/office/drawing/2014/main" id="{9720D5E8-40B5-4C79-3E3F-598046459FFD}"/>
              </a:ext>
            </a:extLst>
          </p:cNvPr>
          <p:cNvGraphicFramePr>
            <a:graphicFrameLocks noGrp="1"/>
          </p:cNvGraphicFramePr>
          <p:nvPr>
            <p:ph idx="1"/>
            <p:extLst>
              <p:ext uri="{D42A27DB-BD31-4B8C-83A1-F6EECF244321}">
                <p14:modId xmlns:p14="http://schemas.microsoft.com/office/powerpoint/2010/main" val="1324835797"/>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5" name="Rectangle 16394">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397" name="Freeform: Shape 16396">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399" name="Freeform: Shape 16398">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86" name="Title 1">
            <a:extLst>
              <a:ext uri="{FF2B5EF4-FFF2-40B4-BE49-F238E27FC236}">
                <a16:creationId xmlns:a16="http://schemas.microsoft.com/office/drawing/2014/main" id="{252534BC-DEAF-FE59-54FD-4234181231DE}"/>
              </a:ext>
            </a:extLst>
          </p:cNvPr>
          <p:cNvSpPr>
            <a:spLocks noGrp="1"/>
          </p:cNvSpPr>
          <p:nvPr>
            <p:ph type="title"/>
          </p:nvPr>
        </p:nvSpPr>
        <p:spPr>
          <a:xfrm>
            <a:off x="838200" y="253397"/>
            <a:ext cx="10515600" cy="1273233"/>
          </a:xfrm>
        </p:spPr>
        <p:txBody>
          <a:bodyPr>
            <a:normAutofit/>
          </a:bodyPr>
          <a:lstStyle/>
          <a:p>
            <a:pPr eaLnBrk="1" hangingPunct="1"/>
            <a:r>
              <a:rPr lang="en-US" altLang="en-US" sz="4000" b="1" u="sng"/>
              <a:t>Spirometry</a:t>
            </a:r>
            <a:r>
              <a:rPr lang="en-US" altLang="en-US" sz="4000" b="1"/>
              <a:t>….</a:t>
            </a:r>
            <a:endParaRPr lang="en-US" altLang="en-US" sz="4000"/>
          </a:p>
        </p:txBody>
      </p:sp>
      <p:sp>
        <p:nvSpPr>
          <p:cNvPr id="16401" name="Rectangle 16400">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766ABAE-2075-B084-D8E4-BE3CA4B5CE3A}"/>
              </a:ext>
            </a:extLst>
          </p:cNvPr>
          <p:cNvSpPr>
            <a:spLocks noGrp="1"/>
          </p:cNvSpPr>
          <p:nvPr>
            <p:ph idx="1"/>
          </p:nvPr>
        </p:nvSpPr>
        <p:spPr>
          <a:xfrm>
            <a:off x="838200" y="2478024"/>
            <a:ext cx="10515600" cy="3694176"/>
          </a:xfrm>
        </p:spPr>
        <p:txBody>
          <a:bodyPr>
            <a:normAutofit/>
          </a:bodyPr>
          <a:lstStyle/>
          <a:p>
            <a:pPr eaLnBrk="1" hangingPunct="1"/>
            <a:r>
              <a:rPr lang="en-US" altLang="en-US" sz="2200"/>
              <a:t>The ratio FEV1/FVC is useful in differentiating  b/n restrictive &amp; obstructive  .  </a:t>
            </a:r>
          </a:p>
          <a:p>
            <a:pPr eaLnBrk="1" hangingPunct="1"/>
            <a:r>
              <a:rPr lang="en-US" altLang="en-US" sz="2200"/>
              <a:t> It’s normal ratio value is &gt; 0.75(75%) .</a:t>
            </a:r>
          </a:p>
          <a:p>
            <a:pPr eaLnBrk="1" hangingPunct="1"/>
            <a:r>
              <a:rPr lang="en-US" altLang="en-US" sz="2200"/>
              <a:t> It is normal in restrictive disease, because both decreases</a:t>
            </a:r>
          </a:p>
          <a:p>
            <a:pPr eaLnBrk="1" hangingPunct="1"/>
            <a:r>
              <a:rPr lang="en-US" altLang="en-US" sz="2200"/>
              <a:t>   In obstructive disease, the ratio is generally low, because FEV</a:t>
            </a:r>
            <a:r>
              <a:rPr lang="en-US" altLang="en-US" sz="2200" baseline="-25000"/>
              <a:t>1</a:t>
            </a:r>
            <a:r>
              <a:rPr lang="en-US" altLang="en-US" sz="2200"/>
              <a:t> is markedly decreased.</a:t>
            </a:r>
          </a:p>
          <a:p>
            <a:pPr eaLnBrk="1" hangingPunct="1"/>
            <a:r>
              <a:rPr lang="en-US" altLang="en-US" sz="2200"/>
              <a:t>Mortality in patients with FEV</a:t>
            </a:r>
            <a:r>
              <a:rPr lang="en-US" altLang="en-US" sz="2200" baseline="-25000"/>
              <a:t>1</a:t>
            </a:r>
            <a:r>
              <a:rPr lang="en-US" altLang="en-US" sz="2200"/>
              <a:t> greater than 2 lit. is 10 % and in patients below 1 lit is between 20 % - 45 %.</a:t>
            </a:r>
          </a:p>
          <a:p>
            <a:pPr eaLnBrk="1" hangingPunct="1"/>
            <a:endParaRPr lang="en-US" altLang="en-US" sz="2200"/>
          </a:p>
          <a:p>
            <a:pPr eaLnBrk="1" hangingPunct="1"/>
            <a:endParaRPr lang="en-US" altLang="en-US" sz="2200"/>
          </a:p>
        </p:txBody>
      </p:sp>
      <p:sp>
        <p:nvSpPr>
          <p:cNvPr id="2" name="Date Placeholder 1">
            <a:extLst>
              <a:ext uri="{FF2B5EF4-FFF2-40B4-BE49-F238E27FC236}">
                <a16:creationId xmlns:a16="http://schemas.microsoft.com/office/drawing/2014/main" id="{F6200D83-36C9-5EC1-E239-5A16AE1B90B4}"/>
              </a:ext>
            </a:extLst>
          </p:cNvPr>
          <p:cNvSpPr>
            <a:spLocks noGrp="1"/>
          </p:cNvSpPr>
          <p:nvPr>
            <p:ph type="dt" sz="quarter" idx="10"/>
          </p:nvPr>
        </p:nvSpPr>
        <p:spPr>
          <a:xfrm>
            <a:off x="838200" y="6356350"/>
            <a:ext cx="2743200" cy="365125"/>
          </a:xfrm>
        </p:spPr>
        <p:txBody>
          <a:bodyPr>
            <a:normAutofit/>
          </a:bodyPr>
          <a:lstStyle/>
          <a:p>
            <a:pPr>
              <a:spcAft>
                <a:spcPts val="600"/>
              </a:spcAft>
              <a:defRPr/>
            </a:pPr>
            <a:fld id="{B0E14A9F-6682-4B11-A9A0-EC7ED422417E}" type="datetime1">
              <a:rPr lang="en-US">
                <a:solidFill>
                  <a:schemeClr val="tx1">
                    <a:lumMod val="50000"/>
                    <a:lumOff val="50000"/>
                  </a:schemeClr>
                </a:solidFill>
              </a:rPr>
              <a:pPr>
                <a:spcAft>
                  <a:spcPts val="600"/>
                </a:spcAft>
                <a:defRPr/>
              </a:pPr>
              <a:t>4/5/2025</a:t>
            </a:fld>
            <a:endParaRPr lang="en-US">
              <a:solidFill>
                <a:schemeClr val="tx1">
                  <a:lumMod val="50000"/>
                  <a:lumOff val="50000"/>
                </a:schemeClr>
              </a:solidFill>
            </a:endParaRPr>
          </a:p>
        </p:txBody>
      </p:sp>
      <p:sp>
        <p:nvSpPr>
          <p:cNvPr id="4" name="Footer Placeholder 3">
            <a:extLst>
              <a:ext uri="{FF2B5EF4-FFF2-40B4-BE49-F238E27FC236}">
                <a16:creationId xmlns:a16="http://schemas.microsoft.com/office/drawing/2014/main" id="{D1222EB3-8BB3-1F69-C5E2-054498855AC0}"/>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solidFill>
                  <a:schemeClr val="tx1">
                    <a:lumMod val="50000"/>
                    <a:lumOff val="50000"/>
                  </a:schemeClr>
                </a:solidFill>
              </a:rPr>
              <a:t>prepared by Eyayalem Melese</a:t>
            </a:r>
          </a:p>
        </p:txBody>
      </p:sp>
      <p:sp>
        <p:nvSpPr>
          <p:cNvPr id="16390" name="Slide Number Placeholder 4">
            <a:extLst>
              <a:ext uri="{FF2B5EF4-FFF2-40B4-BE49-F238E27FC236}">
                <a16:creationId xmlns:a16="http://schemas.microsoft.com/office/drawing/2014/main" id="{FA26FDD6-8878-1A7D-BE3B-7A9763D120CA}"/>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3D4AB442-9461-4D62-B4D3-15E7695B268B}" type="slidenum">
              <a:rPr lang="en-US" altLang="en-US" sz="1800">
                <a:solidFill>
                  <a:schemeClr val="tx1">
                    <a:lumMod val="50000"/>
                    <a:lumOff val="50000"/>
                  </a:schemeClr>
                </a:solidFill>
                <a:latin typeface="Arial" panose="020B0604020202020204" pitchFamily="34" charset="0"/>
              </a:rPr>
              <a:pPr>
                <a:lnSpc>
                  <a:spcPct val="90000"/>
                </a:lnSpc>
                <a:spcBef>
                  <a:spcPct val="0"/>
                </a:spcBef>
                <a:spcAft>
                  <a:spcPts val="600"/>
                </a:spcAft>
                <a:buFontTx/>
                <a:buNone/>
              </a:pPr>
              <a:t>11</a:t>
            </a:fld>
            <a:endParaRPr lang="en-US" altLang="en-US" sz="1800">
              <a:solidFill>
                <a:schemeClr val="tx1">
                  <a:lumMod val="50000"/>
                  <a:lumOff val="50000"/>
                </a:schemeClr>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5" name="Content Placeholder 2">
            <a:extLst>
              <a:ext uri="{FF2B5EF4-FFF2-40B4-BE49-F238E27FC236}">
                <a16:creationId xmlns:a16="http://schemas.microsoft.com/office/drawing/2014/main" id="{7C2ADA71-8EE4-193E-391E-8337379E5098}"/>
              </a:ext>
            </a:extLst>
          </p:cNvPr>
          <p:cNvGraphicFramePr>
            <a:graphicFrameLocks noGrp="1"/>
          </p:cNvGraphicFramePr>
          <p:nvPr>
            <p:ph idx="1"/>
          </p:nvPr>
        </p:nvGraphicFramePr>
        <p:xfrm>
          <a:off x="1676400" y="1371600"/>
          <a:ext cx="8991600" cy="4759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E354C17F-B47C-99A2-5A77-6FCF90A20AF8}"/>
              </a:ext>
            </a:extLst>
          </p:cNvPr>
          <p:cNvSpPr>
            <a:spLocks noGrp="1"/>
          </p:cNvSpPr>
          <p:nvPr>
            <p:ph type="dt" sz="quarter" idx="10"/>
          </p:nvPr>
        </p:nvSpPr>
        <p:spPr/>
        <p:txBody>
          <a:bodyPr/>
          <a:lstStyle/>
          <a:p>
            <a:pPr>
              <a:defRPr/>
            </a:pPr>
            <a:fld id="{58179977-CE88-449E-B31D-09B7133E5738}" type="datetime1">
              <a:rPr lang="en-US"/>
              <a:pPr>
                <a:defRPr/>
              </a:pPr>
              <a:t>4/5/2025</a:t>
            </a:fld>
            <a:endParaRPr lang="en-US"/>
          </a:p>
        </p:txBody>
      </p:sp>
      <p:sp>
        <p:nvSpPr>
          <p:cNvPr id="17412" name="Slide Number Placeholder 4">
            <a:extLst>
              <a:ext uri="{FF2B5EF4-FFF2-40B4-BE49-F238E27FC236}">
                <a16:creationId xmlns:a16="http://schemas.microsoft.com/office/drawing/2014/main" id="{7A25071C-1D55-B9E1-9F04-59BAE5ED1C4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D793053-0F45-4217-86D0-2582170E6CAD}" type="slidenum">
              <a:rPr lang="en-US" altLang="en-US" sz="1200" smtClean="0">
                <a:solidFill>
                  <a:srgbClr val="898989"/>
                </a:solidFill>
                <a:latin typeface="Arial" panose="020B0604020202020204" pitchFamily="34" charset="0"/>
              </a:rPr>
              <a:pPr>
                <a:spcBef>
                  <a:spcPct val="0"/>
                </a:spcBef>
                <a:buFontTx/>
                <a:buNone/>
              </a:pPr>
              <a:t>12</a:t>
            </a:fld>
            <a:endParaRPr lang="en-US" altLang="en-US" sz="1200">
              <a:solidFill>
                <a:srgbClr val="898989"/>
              </a:solidFill>
              <a:latin typeface="Arial" panose="020B0604020202020204" pitchFamily="34" charset="0"/>
            </a:endParaRPr>
          </a:p>
        </p:txBody>
      </p:sp>
      <p:sp>
        <p:nvSpPr>
          <p:cNvPr id="17413" name="Title 1">
            <a:extLst>
              <a:ext uri="{FF2B5EF4-FFF2-40B4-BE49-F238E27FC236}">
                <a16:creationId xmlns:a16="http://schemas.microsoft.com/office/drawing/2014/main" id="{0BD96A4D-51DD-F3A1-D392-23089D883EC1}"/>
              </a:ext>
            </a:extLst>
          </p:cNvPr>
          <p:cNvSpPr>
            <a:spLocks noGrp="1"/>
          </p:cNvSpPr>
          <p:nvPr>
            <p:ph type="title"/>
          </p:nvPr>
        </p:nvSpPr>
        <p:spPr/>
        <p:txBody>
          <a:bodyPr/>
          <a:lstStyle/>
          <a:p>
            <a:pPr algn="l" eaLnBrk="1" hangingPunct="1"/>
            <a:r>
              <a:rPr lang="en-US" altLang="en-US" b="1" u="sng"/>
              <a:t>Spirometry</a:t>
            </a:r>
            <a:r>
              <a:rPr lang="en-US" altLang="en-US" b="1"/>
              <a:t>….</a:t>
            </a:r>
            <a:endParaRPr lang="en-US" altLang="en-US"/>
          </a:p>
        </p:txBody>
      </p:sp>
      <p:sp>
        <p:nvSpPr>
          <p:cNvPr id="2" name="Footer Placeholder 1">
            <a:extLst>
              <a:ext uri="{FF2B5EF4-FFF2-40B4-BE49-F238E27FC236}">
                <a16:creationId xmlns:a16="http://schemas.microsoft.com/office/drawing/2014/main" id="{DC56603B-FE6B-F46C-D7E0-D4BE81B951D9}"/>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78" name="Rectangle 18477">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4" name="Title 1">
            <a:extLst>
              <a:ext uri="{FF2B5EF4-FFF2-40B4-BE49-F238E27FC236}">
                <a16:creationId xmlns:a16="http://schemas.microsoft.com/office/drawing/2014/main" id="{2E98FC04-7FC7-CFD7-DAE8-103973D49B12}"/>
              </a:ext>
            </a:extLst>
          </p:cNvPr>
          <p:cNvSpPr>
            <a:spLocks noGrp="1"/>
          </p:cNvSpPr>
          <p:nvPr>
            <p:ph type="title"/>
          </p:nvPr>
        </p:nvSpPr>
        <p:spPr>
          <a:xfrm>
            <a:off x="793662" y="386930"/>
            <a:ext cx="10066122" cy="1298448"/>
          </a:xfrm>
        </p:spPr>
        <p:txBody>
          <a:bodyPr anchor="b">
            <a:normAutofit/>
          </a:bodyPr>
          <a:lstStyle/>
          <a:p>
            <a:r>
              <a:rPr lang="en-US" altLang="en-US" sz="4800"/>
              <a:t>FEV1/FVC ratio</a:t>
            </a:r>
          </a:p>
        </p:txBody>
      </p:sp>
      <p:sp>
        <p:nvSpPr>
          <p:cNvPr id="18480" name="Rectangle 1847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2" name="Rectangle 1848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436" name="Picture 3">
            <a:extLst>
              <a:ext uri="{FF2B5EF4-FFF2-40B4-BE49-F238E27FC236}">
                <a16:creationId xmlns:a16="http://schemas.microsoft.com/office/drawing/2014/main" id="{B717958E-4BB5-D73B-38C8-39CA0E0785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911532" y="2801714"/>
            <a:ext cx="5150277" cy="260848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84" name="Rectangle 1848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48F72235-BF8E-2479-F746-0FD4F3F780DF}"/>
              </a:ext>
            </a:extLst>
          </p:cNvPr>
          <p:cNvSpPr>
            <a:spLocks noGrp="1"/>
          </p:cNvSpPr>
          <p:nvPr>
            <p:ph type="dt" sz="quarter" idx="10"/>
          </p:nvPr>
        </p:nvSpPr>
        <p:spPr>
          <a:xfrm>
            <a:off x="838200" y="6492240"/>
            <a:ext cx="2743200" cy="365125"/>
          </a:xfrm>
        </p:spPr>
        <p:txBody>
          <a:bodyPr>
            <a:normAutofit/>
          </a:bodyPr>
          <a:lstStyle/>
          <a:p>
            <a:pPr>
              <a:spcAft>
                <a:spcPts val="600"/>
              </a:spcAft>
              <a:defRPr/>
            </a:pPr>
            <a:fld id="{1F25AECF-B919-4230-9028-A600918B8B01}" type="datetime1">
              <a:rPr lang="en-US" smtClean="0"/>
              <a:pPr>
                <a:spcAft>
                  <a:spcPts val="600"/>
                </a:spcAft>
                <a:defRPr/>
              </a:pPr>
              <a:t>4/5/2025</a:t>
            </a:fld>
            <a:endParaRPr lang="en-US"/>
          </a:p>
        </p:txBody>
      </p:sp>
      <p:sp>
        <p:nvSpPr>
          <p:cNvPr id="4" name="Footer Placeholder 3">
            <a:extLst>
              <a:ext uri="{FF2B5EF4-FFF2-40B4-BE49-F238E27FC236}">
                <a16:creationId xmlns:a16="http://schemas.microsoft.com/office/drawing/2014/main" id="{95285595-5893-29B6-AA7F-29AEB30BA581}"/>
              </a:ext>
            </a:extLst>
          </p:cNvPr>
          <p:cNvSpPr>
            <a:spLocks noGrp="1"/>
          </p:cNvSpPr>
          <p:nvPr>
            <p:ph type="ftr" sz="quarter" idx="11"/>
          </p:nvPr>
        </p:nvSpPr>
        <p:spPr>
          <a:xfrm>
            <a:off x="4038600" y="6492240"/>
            <a:ext cx="4114800" cy="365125"/>
          </a:xfrm>
        </p:spPr>
        <p:txBody>
          <a:bodyPr>
            <a:normAutofit/>
          </a:bodyPr>
          <a:lstStyle/>
          <a:p>
            <a:pPr>
              <a:spcAft>
                <a:spcPts val="600"/>
              </a:spcAft>
              <a:defRPr/>
            </a:pPr>
            <a:r>
              <a:rPr lang="en-US"/>
              <a:t>prepared by Eyayalem Melese</a:t>
            </a:r>
          </a:p>
        </p:txBody>
      </p:sp>
      <p:sp>
        <p:nvSpPr>
          <p:cNvPr id="18439" name="Slide Number Placeholder 4">
            <a:extLst>
              <a:ext uri="{FF2B5EF4-FFF2-40B4-BE49-F238E27FC236}">
                <a16:creationId xmlns:a16="http://schemas.microsoft.com/office/drawing/2014/main" id="{9057F528-00C5-A6B2-06CB-A5D13BE14921}"/>
              </a:ext>
            </a:extLst>
          </p:cNvPr>
          <p:cNvSpPr>
            <a:spLocks noGrp="1"/>
          </p:cNvSpPr>
          <p:nvPr>
            <p:ph type="sldNum" sz="quarter" idx="12"/>
          </p:nvPr>
        </p:nvSpPr>
        <p:spPr bwMode="auto">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175953CC-CEEB-4704-A08F-86F303161102}" type="slidenum">
              <a:rPr lang="en-US" altLang="en-US" sz="1800" smtClean="0">
                <a:latin typeface="Arial" panose="020B0604020202020204" pitchFamily="34" charset="0"/>
              </a:rPr>
              <a:pPr>
                <a:lnSpc>
                  <a:spcPct val="90000"/>
                </a:lnSpc>
                <a:spcBef>
                  <a:spcPct val="0"/>
                </a:spcBef>
                <a:spcAft>
                  <a:spcPts val="600"/>
                </a:spcAft>
                <a:buFontTx/>
                <a:buNone/>
              </a:pPr>
              <a:t>13</a:t>
            </a:fld>
            <a:endParaRPr lang="en-US" altLang="en-US" sz="1800">
              <a:latin typeface="Arial" panose="020B0604020202020204" pitchFamily="34" charset="0"/>
            </a:endParaRPr>
          </a:p>
        </p:txBody>
      </p:sp>
      <p:graphicFrame>
        <p:nvGraphicFramePr>
          <p:cNvPr id="18441" name="Content Placeholder 2">
            <a:extLst>
              <a:ext uri="{FF2B5EF4-FFF2-40B4-BE49-F238E27FC236}">
                <a16:creationId xmlns:a16="http://schemas.microsoft.com/office/drawing/2014/main" id="{48E53797-5134-0334-2594-ACEEAC0C3EC9}"/>
              </a:ext>
            </a:extLst>
          </p:cNvPr>
          <p:cNvGraphicFramePr>
            <a:graphicFrameLocks noGrp="1"/>
          </p:cNvGraphicFramePr>
          <p:nvPr>
            <p:ph idx="1"/>
            <p:extLst>
              <p:ext uri="{D42A27DB-BD31-4B8C-83A1-F6EECF244321}">
                <p14:modId xmlns:p14="http://schemas.microsoft.com/office/powerpoint/2010/main" val="488943134"/>
              </p:ext>
            </p:extLst>
          </p:nvPr>
        </p:nvGraphicFramePr>
        <p:xfrm>
          <a:off x="793661" y="2599509"/>
          <a:ext cx="4530898" cy="3639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78" name="Rectangle 1947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479" name="Freeform: Shape 19478">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480" name="Freeform: Shape 19479">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58" name="Title 1">
            <a:extLst>
              <a:ext uri="{FF2B5EF4-FFF2-40B4-BE49-F238E27FC236}">
                <a16:creationId xmlns:a16="http://schemas.microsoft.com/office/drawing/2014/main" id="{AD89A4F3-779F-6CE6-41C6-7AAE86995AB6}"/>
              </a:ext>
            </a:extLst>
          </p:cNvPr>
          <p:cNvSpPr>
            <a:spLocks noGrp="1"/>
          </p:cNvSpPr>
          <p:nvPr>
            <p:ph type="title"/>
          </p:nvPr>
        </p:nvSpPr>
        <p:spPr>
          <a:xfrm>
            <a:off x="621792" y="1161288"/>
            <a:ext cx="3602736" cy="4526280"/>
          </a:xfrm>
        </p:spPr>
        <p:txBody>
          <a:bodyPr>
            <a:normAutofit/>
          </a:bodyPr>
          <a:lstStyle/>
          <a:p>
            <a:pPr eaLnBrk="1" hangingPunct="1"/>
            <a:r>
              <a:rPr lang="en-US" altLang="en-US" sz="4000" b="1" u="sng"/>
              <a:t>Spirometry</a:t>
            </a:r>
            <a:r>
              <a:rPr lang="en-US" altLang="en-US" sz="4000" b="1"/>
              <a:t>…</a:t>
            </a:r>
            <a:endParaRPr lang="en-US" altLang="en-US" sz="4000"/>
          </a:p>
        </p:txBody>
      </p:sp>
      <p:sp>
        <p:nvSpPr>
          <p:cNvPr id="19481" name="Rectangle 19480">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459" name="Content Placeholder 2">
            <a:extLst>
              <a:ext uri="{FF2B5EF4-FFF2-40B4-BE49-F238E27FC236}">
                <a16:creationId xmlns:a16="http://schemas.microsoft.com/office/drawing/2014/main" id="{187426FD-74F7-DCA3-4565-F20FD37A81E3}"/>
              </a:ext>
            </a:extLst>
          </p:cNvPr>
          <p:cNvSpPr>
            <a:spLocks noGrp="1"/>
          </p:cNvSpPr>
          <p:nvPr>
            <p:ph idx="1"/>
          </p:nvPr>
        </p:nvSpPr>
        <p:spPr>
          <a:xfrm>
            <a:off x="5434149" y="932688"/>
            <a:ext cx="5916603" cy="4992624"/>
          </a:xfrm>
        </p:spPr>
        <p:txBody>
          <a:bodyPr anchor="ctr">
            <a:normAutofit/>
          </a:bodyPr>
          <a:lstStyle/>
          <a:p>
            <a:pPr marL="0" indent="0" eaLnBrk="1" hangingPunct="1">
              <a:buFont typeface="Arial" panose="020B0604020202020204" pitchFamily="34" charset="0"/>
              <a:buNone/>
            </a:pPr>
            <a:r>
              <a:rPr lang="en-US" altLang="en-US" sz="2000" b="1" dirty="0">
                <a:latin typeface="Google Sans"/>
              </a:rPr>
              <a:t>The maximal voluntary ventilation (MVV)</a:t>
            </a:r>
          </a:p>
          <a:p>
            <a:pPr lvl="1" eaLnBrk="1" hangingPunct="1"/>
            <a:r>
              <a:rPr lang="en-US" altLang="en-US" sz="2000" dirty="0">
                <a:latin typeface="Google Sans"/>
              </a:rPr>
              <a:t>Is the largest amount of air that a person can inhale and then exhale during a 12- to 15-s interval with maximal voluntary effort (</a:t>
            </a:r>
            <a:r>
              <a:rPr lang="en-US" altLang="en-US" sz="2000" dirty="0" err="1">
                <a:latin typeface="Google Sans"/>
              </a:rPr>
              <a:t>Neder</a:t>
            </a:r>
            <a:r>
              <a:rPr lang="en-US" altLang="en-US" sz="2000" dirty="0">
                <a:latin typeface="Google Sans"/>
              </a:rPr>
              <a:t> et al., 1999)</a:t>
            </a:r>
            <a:endParaRPr lang="en-US" altLang="en-US" sz="2000" dirty="0"/>
          </a:p>
          <a:p>
            <a:pPr lvl="1" eaLnBrk="1" hangingPunct="1"/>
            <a:r>
              <a:rPr lang="en-US" altLang="en-US" sz="2000" dirty="0"/>
              <a:t>Maximum voluntary ventilation(MVV) &lt;50%  is high risk. </a:t>
            </a:r>
          </a:p>
          <a:p>
            <a:pPr lvl="1" eaLnBrk="1" hangingPunct="1"/>
            <a:r>
              <a:rPr lang="en-US" altLang="en-US" sz="2000" dirty="0"/>
              <a:t>But MVV is not systematically evaluated as a predictor of morbidity</a:t>
            </a:r>
          </a:p>
        </p:txBody>
      </p:sp>
      <p:sp>
        <p:nvSpPr>
          <p:cNvPr id="2" name="Date Placeholder 1">
            <a:extLst>
              <a:ext uri="{FF2B5EF4-FFF2-40B4-BE49-F238E27FC236}">
                <a16:creationId xmlns:a16="http://schemas.microsoft.com/office/drawing/2014/main" id="{2DF8DBE7-8E59-F5E5-CC00-F36D2EB768FF}"/>
              </a:ext>
            </a:extLst>
          </p:cNvPr>
          <p:cNvSpPr>
            <a:spLocks noGrp="1"/>
          </p:cNvSpPr>
          <p:nvPr>
            <p:ph type="dt" sz="quarter" idx="10"/>
          </p:nvPr>
        </p:nvSpPr>
        <p:spPr>
          <a:xfrm>
            <a:off x="621792" y="6356350"/>
            <a:ext cx="2743200" cy="365125"/>
          </a:xfrm>
        </p:spPr>
        <p:txBody>
          <a:bodyPr>
            <a:normAutofit/>
          </a:bodyPr>
          <a:lstStyle/>
          <a:p>
            <a:pPr>
              <a:spcAft>
                <a:spcPts val="600"/>
              </a:spcAft>
              <a:defRPr/>
            </a:pPr>
            <a:fld id="{3C8B2793-DBC6-4C34-B3D8-693AB417A266}" type="datetime1">
              <a:rPr lang="en-US">
                <a:solidFill>
                  <a:schemeClr val="tx1">
                    <a:lumMod val="50000"/>
                    <a:lumOff val="50000"/>
                  </a:schemeClr>
                </a:solidFill>
              </a:rPr>
              <a:pPr>
                <a:spcAft>
                  <a:spcPts val="600"/>
                </a:spcAft>
                <a:defRPr/>
              </a:pPr>
              <a:t>4/5/2025</a:t>
            </a:fld>
            <a:endParaRPr lang="en-US">
              <a:solidFill>
                <a:schemeClr val="tx1">
                  <a:lumMod val="50000"/>
                  <a:lumOff val="50000"/>
                </a:schemeClr>
              </a:solidFill>
            </a:endParaRPr>
          </a:p>
        </p:txBody>
      </p:sp>
      <p:sp>
        <p:nvSpPr>
          <p:cNvPr id="3" name="Footer Placeholder 2">
            <a:extLst>
              <a:ext uri="{FF2B5EF4-FFF2-40B4-BE49-F238E27FC236}">
                <a16:creationId xmlns:a16="http://schemas.microsoft.com/office/drawing/2014/main" id="{CC9215C7-9852-F37B-DFD9-60B84FDA9F91}"/>
              </a:ext>
            </a:extLst>
          </p:cNvPr>
          <p:cNvSpPr>
            <a:spLocks noGrp="1"/>
          </p:cNvSpPr>
          <p:nvPr>
            <p:ph type="ftr" sz="quarter" idx="11"/>
          </p:nvPr>
        </p:nvSpPr>
        <p:spPr>
          <a:xfrm>
            <a:off x="5434147" y="6356350"/>
            <a:ext cx="4572000" cy="365125"/>
          </a:xfrm>
        </p:spPr>
        <p:txBody>
          <a:bodyPr>
            <a:normAutofit/>
          </a:bodyPr>
          <a:lstStyle/>
          <a:p>
            <a:pPr algn="l">
              <a:spcAft>
                <a:spcPts val="600"/>
              </a:spcAft>
              <a:defRPr/>
            </a:pPr>
            <a:r>
              <a:rPr lang="en-US">
                <a:solidFill>
                  <a:schemeClr val="tx1">
                    <a:lumMod val="50000"/>
                    <a:lumOff val="50000"/>
                  </a:schemeClr>
                </a:solidFill>
              </a:rPr>
              <a:t>prepared by Eyayalem Melese</a:t>
            </a:r>
          </a:p>
        </p:txBody>
      </p:sp>
      <p:sp>
        <p:nvSpPr>
          <p:cNvPr id="19462" name="Slide Number Placeholder 3">
            <a:extLst>
              <a:ext uri="{FF2B5EF4-FFF2-40B4-BE49-F238E27FC236}">
                <a16:creationId xmlns:a16="http://schemas.microsoft.com/office/drawing/2014/main" id="{CBDE739E-148F-F7DB-5163-AA27CE583AA7}"/>
              </a:ext>
            </a:extLst>
          </p:cNvPr>
          <p:cNvSpPr>
            <a:spLocks noGrp="1"/>
          </p:cNvSpPr>
          <p:nvPr>
            <p:ph type="sldNum" sz="quarter" idx="12"/>
          </p:nvPr>
        </p:nvSpPr>
        <p:spPr bwMode="auto">
          <a:xfrm>
            <a:off x="10351362" y="6356350"/>
            <a:ext cx="1002437"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F9BAC5E4-7AC8-40F9-9A35-823BA8334C25}" type="slidenum">
              <a:rPr lang="en-US" altLang="en-US" sz="1800">
                <a:solidFill>
                  <a:schemeClr val="tx1">
                    <a:lumMod val="50000"/>
                    <a:lumOff val="50000"/>
                  </a:schemeClr>
                </a:solidFill>
                <a:latin typeface="Arial" panose="020B0604020202020204" pitchFamily="34" charset="0"/>
              </a:rPr>
              <a:pPr>
                <a:lnSpc>
                  <a:spcPct val="90000"/>
                </a:lnSpc>
                <a:spcBef>
                  <a:spcPct val="0"/>
                </a:spcBef>
                <a:spcAft>
                  <a:spcPts val="600"/>
                </a:spcAft>
                <a:buFontTx/>
                <a:buNone/>
              </a:pPr>
              <a:t>14</a:t>
            </a:fld>
            <a:endParaRPr lang="en-US" altLang="en-US" sz="1800">
              <a:solidFill>
                <a:schemeClr val="tx1">
                  <a:lumMod val="50000"/>
                  <a:lumOff val="50000"/>
                </a:schemeClr>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91" name="Rectangle 2049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2" name="Title 1">
            <a:extLst>
              <a:ext uri="{FF2B5EF4-FFF2-40B4-BE49-F238E27FC236}">
                <a16:creationId xmlns:a16="http://schemas.microsoft.com/office/drawing/2014/main" id="{523E8422-FC87-8DA8-E0F3-F58CCC723DB0}"/>
              </a:ext>
            </a:extLst>
          </p:cNvPr>
          <p:cNvSpPr>
            <a:spLocks noGrp="1"/>
          </p:cNvSpPr>
          <p:nvPr>
            <p:ph type="title"/>
          </p:nvPr>
        </p:nvSpPr>
        <p:spPr>
          <a:xfrm>
            <a:off x="841248" y="256032"/>
            <a:ext cx="10506456" cy="1014984"/>
          </a:xfrm>
        </p:spPr>
        <p:txBody>
          <a:bodyPr anchor="b">
            <a:normAutofit/>
          </a:bodyPr>
          <a:lstStyle/>
          <a:p>
            <a:pPr eaLnBrk="1" hangingPunct="1">
              <a:lnSpc>
                <a:spcPct val="90000"/>
              </a:lnSpc>
            </a:pPr>
            <a:br>
              <a:rPr lang="en-US" altLang="en-US" sz="1100" b="1"/>
            </a:br>
            <a:br>
              <a:rPr lang="en-US" altLang="en-US" sz="1100" b="1"/>
            </a:br>
            <a:r>
              <a:rPr lang="en-US" altLang="en-US" sz="1100" b="1"/>
              <a:t>Significance of Bronchodilator therapy</a:t>
            </a:r>
            <a:br>
              <a:rPr lang="en-US" altLang="en-US" sz="1100" b="1"/>
            </a:br>
            <a:r>
              <a:rPr lang="en-US" altLang="en-US" sz="1100"/>
              <a:t> </a:t>
            </a:r>
            <a:br>
              <a:rPr lang="en-US" altLang="en-US" sz="1100"/>
            </a:br>
            <a:endParaRPr lang="en-US" altLang="en-US" sz="1100"/>
          </a:p>
        </p:txBody>
      </p:sp>
      <p:sp>
        <p:nvSpPr>
          <p:cNvPr id="20493" name="Rectangle 2049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495" name="Rectangle 2049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4690A4F3-3770-2520-44C4-545214721840}"/>
              </a:ext>
            </a:extLst>
          </p:cNvPr>
          <p:cNvSpPr>
            <a:spLocks noGrp="1"/>
          </p:cNvSpPr>
          <p:nvPr>
            <p:ph type="dt" sz="quarter" idx="10"/>
          </p:nvPr>
        </p:nvSpPr>
        <p:spPr>
          <a:xfrm>
            <a:off x="841248" y="6356350"/>
            <a:ext cx="2577503" cy="365125"/>
          </a:xfrm>
        </p:spPr>
        <p:txBody>
          <a:bodyPr>
            <a:normAutofit/>
          </a:bodyPr>
          <a:lstStyle/>
          <a:p>
            <a:pPr>
              <a:spcAft>
                <a:spcPts val="600"/>
              </a:spcAft>
              <a:defRPr/>
            </a:pPr>
            <a:fld id="{EA64DA00-31AD-4016-9C1F-34071463E6E2}" type="datetime1">
              <a:rPr lang="en-US">
                <a:solidFill>
                  <a:schemeClr val="tx1">
                    <a:lumMod val="50000"/>
                    <a:lumOff val="50000"/>
                  </a:schemeClr>
                </a:solidFill>
              </a:rPr>
              <a:pPr>
                <a:spcAft>
                  <a:spcPts val="600"/>
                </a:spcAft>
                <a:defRPr/>
              </a:pPr>
              <a:t>4/5/2025</a:t>
            </a:fld>
            <a:endParaRPr lang="en-US">
              <a:solidFill>
                <a:schemeClr val="tx1">
                  <a:lumMod val="50000"/>
                  <a:lumOff val="50000"/>
                </a:schemeClr>
              </a:solidFill>
            </a:endParaRPr>
          </a:p>
        </p:txBody>
      </p:sp>
      <p:sp>
        <p:nvSpPr>
          <p:cNvPr id="2" name="Footer Placeholder 1">
            <a:extLst>
              <a:ext uri="{FF2B5EF4-FFF2-40B4-BE49-F238E27FC236}">
                <a16:creationId xmlns:a16="http://schemas.microsoft.com/office/drawing/2014/main" id="{DAFB8947-C2E6-313F-B59B-1349F22121D1}"/>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solidFill>
                  <a:schemeClr val="tx1">
                    <a:lumMod val="50000"/>
                    <a:lumOff val="50000"/>
                  </a:schemeClr>
                </a:solidFill>
              </a:rPr>
              <a:t>prepared by Eyayalem Melese</a:t>
            </a:r>
          </a:p>
        </p:txBody>
      </p:sp>
      <p:sp>
        <p:nvSpPr>
          <p:cNvPr id="20485" name="Slide Number Placeholder 4">
            <a:extLst>
              <a:ext uri="{FF2B5EF4-FFF2-40B4-BE49-F238E27FC236}">
                <a16:creationId xmlns:a16="http://schemas.microsoft.com/office/drawing/2014/main" id="{7DA45837-0301-9022-A5B6-E1DC9F41A9F9}"/>
              </a:ext>
            </a:extLst>
          </p:cNvPr>
          <p:cNvSpPr>
            <a:spLocks noGrp="1"/>
          </p:cNvSpPr>
          <p:nvPr>
            <p:ph type="sldNum" sz="quarter" idx="12"/>
          </p:nvPr>
        </p:nvSpPr>
        <p:spPr bwMode="auto">
          <a:xfrm>
            <a:off x="8873254" y="6356350"/>
            <a:ext cx="247749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62BCA7D5-8856-4BAF-AAC8-672236967CA5}" type="slidenum">
              <a:rPr lang="en-US" altLang="en-US" sz="1800">
                <a:solidFill>
                  <a:schemeClr val="tx1">
                    <a:lumMod val="50000"/>
                    <a:lumOff val="50000"/>
                  </a:schemeClr>
                </a:solidFill>
                <a:latin typeface="Arial" panose="020B0604020202020204" pitchFamily="34" charset="0"/>
              </a:rPr>
              <a:pPr>
                <a:lnSpc>
                  <a:spcPct val="90000"/>
                </a:lnSpc>
                <a:spcBef>
                  <a:spcPct val="0"/>
                </a:spcBef>
                <a:spcAft>
                  <a:spcPts val="600"/>
                </a:spcAft>
                <a:buFontTx/>
                <a:buNone/>
              </a:pPr>
              <a:t>15</a:t>
            </a:fld>
            <a:endParaRPr lang="en-US" altLang="en-US" sz="1800">
              <a:solidFill>
                <a:schemeClr val="tx1">
                  <a:lumMod val="50000"/>
                  <a:lumOff val="50000"/>
                </a:schemeClr>
              </a:solidFill>
              <a:latin typeface="Arial" panose="020B0604020202020204" pitchFamily="34" charset="0"/>
            </a:endParaRPr>
          </a:p>
        </p:txBody>
      </p:sp>
      <p:graphicFrame>
        <p:nvGraphicFramePr>
          <p:cNvPr id="20487" name="Content Placeholder 2">
            <a:extLst>
              <a:ext uri="{FF2B5EF4-FFF2-40B4-BE49-F238E27FC236}">
                <a16:creationId xmlns:a16="http://schemas.microsoft.com/office/drawing/2014/main" id="{70C700D7-6176-5A4D-E4DF-B7E013249D77}"/>
              </a:ext>
            </a:extLst>
          </p:cNvPr>
          <p:cNvGraphicFramePr>
            <a:graphicFrameLocks noGrp="1"/>
          </p:cNvGraphicFramePr>
          <p:nvPr>
            <p:ph idx="1"/>
            <p:extLst>
              <p:ext uri="{D42A27DB-BD31-4B8C-83A1-F6EECF244321}">
                <p14:modId xmlns:p14="http://schemas.microsoft.com/office/powerpoint/2010/main" val="294562671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5" name="Rectangle 21514">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Title 1">
            <a:extLst>
              <a:ext uri="{FF2B5EF4-FFF2-40B4-BE49-F238E27FC236}">
                <a16:creationId xmlns:a16="http://schemas.microsoft.com/office/drawing/2014/main" id="{C7E67D5C-D35A-764F-83B5-72E05041F7C4}"/>
              </a:ext>
            </a:extLst>
          </p:cNvPr>
          <p:cNvSpPr>
            <a:spLocks noGrp="1"/>
          </p:cNvSpPr>
          <p:nvPr>
            <p:ph type="title"/>
          </p:nvPr>
        </p:nvSpPr>
        <p:spPr>
          <a:xfrm>
            <a:off x="645065" y="1097280"/>
            <a:ext cx="3796306" cy="4666207"/>
          </a:xfrm>
        </p:spPr>
        <p:txBody>
          <a:bodyPr anchor="ctr">
            <a:normAutofit/>
          </a:bodyPr>
          <a:lstStyle/>
          <a:p>
            <a:pPr eaLnBrk="1" hangingPunct="1"/>
            <a:br>
              <a:rPr lang="en-US" altLang="en-US" b="1" dirty="0"/>
            </a:br>
            <a:r>
              <a:rPr lang="en-US" altLang="en-US" b="1" dirty="0"/>
              <a:t>Effects of Anesthesia and Surgery on Lung Volumes</a:t>
            </a:r>
            <a:br>
              <a:rPr lang="en-US" altLang="en-US" b="1" dirty="0"/>
            </a:br>
            <a:endParaRPr lang="en-US" altLang="en-US" dirty="0"/>
          </a:p>
        </p:txBody>
      </p:sp>
      <p:grpSp>
        <p:nvGrpSpPr>
          <p:cNvPr id="21517" name="Group 21516">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21518" name="Rectangle 21517">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9" name="Rectangle 21518">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521" name="Rectangle 2152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827BE5C-1F2C-182D-EF99-D54CC51E0F7A}"/>
              </a:ext>
            </a:extLst>
          </p:cNvPr>
          <p:cNvSpPr>
            <a:spLocks noGrp="1"/>
          </p:cNvSpPr>
          <p:nvPr>
            <p:ph type="dt" sz="quarter" idx="10"/>
          </p:nvPr>
        </p:nvSpPr>
        <p:spPr>
          <a:xfrm>
            <a:off x="838200" y="6492240"/>
            <a:ext cx="2743200" cy="365125"/>
          </a:xfrm>
        </p:spPr>
        <p:txBody>
          <a:bodyPr>
            <a:normAutofit/>
          </a:bodyPr>
          <a:lstStyle/>
          <a:p>
            <a:pPr>
              <a:spcAft>
                <a:spcPts val="600"/>
              </a:spcAft>
              <a:defRPr/>
            </a:pPr>
            <a:fld id="{E3DAE14D-2078-4FB7-BEF6-9E5DACDD8C53}" type="datetime1">
              <a:rPr lang="en-US"/>
              <a:pPr>
                <a:spcAft>
                  <a:spcPts val="600"/>
                </a:spcAft>
                <a:defRPr/>
              </a:pPr>
              <a:t>4/5/2025</a:t>
            </a:fld>
            <a:endParaRPr lang="en-US"/>
          </a:p>
        </p:txBody>
      </p:sp>
      <p:sp>
        <p:nvSpPr>
          <p:cNvPr id="2" name="Footer Placeholder 1">
            <a:extLst>
              <a:ext uri="{FF2B5EF4-FFF2-40B4-BE49-F238E27FC236}">
                <a16:creationId xmlns:a16="http://schemas.microsoft.com/office/drawing/2014/main" id="{04ED20BF-0685-0917-45C0-385818323C05}"/>
              </a:ext>
            </a:extLst>
          </p:cNvPr>
          <p:cNvSpPr>
            <a:spLocks noGrp="1"/>
          </p:cNvSpPr>
          <p:nvPr>
            <p:ph type="ftr" sz="quarter" idx="11"/>
          </p:nvPr>
        </p:nvSpPr>
        <p:spPr>
          <a:xfrm>
            <a:off x="4038600" y="6492240"/>
            <a:ext cx="4114800" cy="365125"/>
          </a:xfrm>
        </p:spPr>
        <p:txBody>
          <a:bodyPr>
            <a:normAutofit/>
          </a:bodyPr>
          <a:lstStyle/>
          <a:p>
            <a:pPr>
              <a:spcAft>
                <a:spcPts val="600"/>
              </a:spcAft>
              <a:defRPr/>
            </a:pPr>
            <a:r>
              <a:rPr lang="en-US"/>
              <a:t>prepared by Eyayalem Melese</a:t>
            </a:r>
          </a:p>
        </p:txBody>
      </p:sp>
      <p:sp>
        <p:nvSpPr>
          <p:cNvPr id="21509" name="Slide Number Placeholder 4">
            <a:extLst>
              <a:ext uri="{FF2B5EF4-FFF2-40B4-BE49-F238E27FC236}">
                <a16:creationId xmlns:a16="http://schemas.microsoft.com/office/drawing/2014/main" id="{002CAB40-4A92-4FB4-ECFF-82E63BAE69A4}"/>
              </a:ext>
            </a:extLst>
          </p:cNvPr>
          <p:cNvSpPr>
            <a:spLocks noGrp="1"/>
          </p:cNvSpPr>
          <p:nvPr>
            <p:ph type="sldNum" sz="quarter" idx="12"/>
          </p:nvPr>
        </p:nvSpPr>
        <p:spPr bwMode="auto">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65FE5D99-968A-4969-B694-8D924531CAD3}" type="slidenum">
              <a:rPr lang="en-US" altLang="en-US" sz="1800" smtClean="0">
                <a:latin typeface="Arial" panose="020B0604020202020204" pitchFamily="34" charset="0"/>
              </a:rPr>
              <a:pPr>
                <a:lnSpc>
                  <a:spcPct val="90000"/>
                </a:lnSpc>
                <a:spcBef>
                  <a:spcPct val="0"/>
                </a:spcBef>
                <a:spcAft>
                  <a:spcPts val="600"/>
                </a:spcAft>
                <a:buFontTx/>
                <a:buNone/>
              </a:pPr>
              <a:t>16</a:t>
            </a:fld>
            <a:endParaRPr lang="en-US" altLang="en-US" sz="1800">
              <a:latin typeface="Arial" panose="020B0604020202020204" pitchFamily="34" charset="0"/>
            </a:endParaRPr>
          </a:p>
        </p:txBody>
      </p:sp>
      <p:graphicFrame>
        <p:nvGraphicFramePr>
          <p:cNvPr id="21511" name="Content Placeholder 2">
            <a:extLst>
              <a:ext uri="{FF2B5EF4-FFF2-40B4-BE49-F238E27FC236}">
                <a16:creationId xmlns:a16="http://schemas.microsoft.com/office/drawing/2014/main" id="{C49493B6-D91D-D718-4B59-EFD0B9B5220A}"/>
              </a:ext>
            </a:extLst>
          </p:cNvPr>
          <p:cNvGraphicFramePr>
            <a:graphicFrameLocks noGrp="1"/>
          </p:cNvGraphicFramePr>
          <p:nvPr>
            <p:ph idx="1"/>
            <p:extLst>
              <p:ext uri="{D42A27DB-BD31-4B8C-83A1-F6EECF244321}">
                <p14:modId xmlns:p14="http://schemas.microsoft.com/office/powerpoint/2010/main" val="891850659"/>
              </p:ext>
            </p:extLst>
          </p:nvPr>
        </p:nvGraphicFramePr>
        <p:xfrm>
          <a:off x="5431536" y="1014153"/>
          <a:ext cx="5918184"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8" name="Rectangle 22537">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E29A26A-9EC3-49CC-FECB-F6CBC2C54534}"/>
              </a:ext>
            </a:extLst>
          </p:cNvPr>
          <p:cNvSpPr txBox="1"/>
          <p:nvPr/>
        </p:nvSpPr>
        <p:spPr>
          <a:xfrm>
            <a:off x="645065" y="1097280"/>
            <a:ext cx="3796306" cy="4666207"/>
          </a:xfrm>
          <a:prstGeom prst="rect">
            <a:avLst/>
          </a:prstGeom>
        </p:spPr>
        <p:txBody>
          <a:bodyPr vert="horz" lIns="91440" tIns="45720" rIns="91440" bIns="45720" rtlCol="0" anchor="ctr">
            <a:normAutofit/>
          </a:bodyPr>
          <a:lstStyle/>
          <a:p>
            <a:pPr eaLnBrk="1" hangingPunct="1">
              <a:lnSpc>
                <a:spcPct val="90000"/>
              </a:lnSpc>
              <a:spcAft>
                <a:spcPts val="600"/>
              </a:spcAft>
            </a:pPr>
            <a:r>
              <a:rPr lang="en-US" altLang="en-US" sz="4800" b="1" kern="1200">
                <a:solidFill>
                  <a:schemeClr val="tx1"/>
                </a:solidFill>
                <a:latin typeface="+mj-lt"/>
                <a:ea typeface="+mj-ea"/>
                <a:cs typeface="+mj-cs"/>
              </a:rPr>
              <a:t>Effects of Anesthesia and Surgery on Lung Volumes</a:t>
            </a:r>
            <a:br>
              <a:rPr lang="en-US" altLang="en-US" sz="4800" b="1" kern="1200">
                <a:solidFill>
                  <a:schemeClr val="tx1"/>
                </a:solidFill>
                <a:latin typeface="+mj-lt"/>
                <a:ea typeface="+mj-ea"/>
                <a:cs typeface="+mj-cs"/>
              </a:rPr>
            </a:br>
            <a:endParaRPr lang="en-US" sz="4800" kern="1200">
              <a:solidFill>
                <a:schemeClr val="tx1"/>
              </a:solidFill>
              <a:latin typeface="+mj-lt"/>
              <a:ea typeface="+mj-ea"/>
              <a:cs typeface="+mj-cs"/>
            </a:endParaRPr>
          </a:p>
        </p:txBody>
      </p:sp>
      <p:grpSp>
        <p:nvGrpSpPr>
          <p:cNvPr id="22540" name="Group 22539">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22541" name="Rectangle 22540">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2" name="Rectangle 22541">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544" name="Rectangle 2254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FFBE7E33-D635-A828-9EAB-A14E19E99532}"/>
              </a:ext>
            </a:extLst>
          </p:cNvPr>
          <p:cNvSpPr>
            <a:spLocks noGrp="1"/>
          </p:cNvSpPr>
          <p:nvPr>
            <p:ph type="dt" sz="quarter" idx="10"/>
          </p:nvPr>
        </p:nvSpPr>
        <p:spPr>
          <a:xfrm>
            <a:off x="838200" y="6492240"/>
            <a:ext cx="2743200" cy="365125"/>
          </a:xfrm>
        </p:spPr>
        <p:txBody>
          <a:bodyPr vert="horz" lIns="91440" tIns="45720" rIns="91440" bIns="45720" rtlCol="0" anchor="ctr">
            <a:normAutofit/>
          </a:bodyPr>
          <a:lstStyle/>
          <a:p>
            <a:pPr>
              <a:spcAft>
                <a:spcPts val="600"/>
              </a:spcAft>
              <a:defRPr/>
            </a:pPr>
            <a:fld id="{69FD4AEC-C808-49C4-83B9-553F816BF42B}" type="datetime1">
              <a:rPr lang="en-US" smtClean="0">
                <a:latin typeface="+mn-lt"/>
                <a:cs typeface="+mn-cs"/>
              </a:rPr>
              <a:pPr>
                <a:spcAft>
                  <a:spcPts val="600"/>
                </a:spcAft>
                <a:defRPr/>
              </a:pPr>
              <a:t>4/5/2025</a:t>
            </a:fld>
            <a:endParaRPr lang="en-US">
              <a:latin typeface="+mn-lt"/>
              <a:cs typeface="+mn-cs"/>
            </a:endParaRPr>
          </a:p>
        </p:txBody>
      </p:sp>
      <p:sp>
        <p:nvSpPr>
          <p:cNvPr id="2" name="Footer Placeholder 1">
            <a:extLst>
              <a:ext uri="{FF2B5EF4-FFF2-40B4-BE49-F238E27FC236}">
                <a16:creationId xmlns:a16="http://schemas.microsoft.com/office/drawing/2014/main" id="{CCADB80C-52F4-973D-5015-109665D08A9E}"/>
              </a:ext>
            </a:extLst>
          </p:cNvPr>
          <p:cNvSpPr>
            <a:spLocks noGrp="1"/>
          </p:cNvSpPr>
          <p:nvPr>
            <p:ph type="ftr" sz="quarter" idx="11"/>
          </p:nvPr>
        </p:nvSpPr>
        <p:spPr>
          <a:xfrm>
            <a:off x="4038600" y="649224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prepared by Eyayalem Melese</a:t>
            </a:r>
          </a:p>
        </p:txBody>
      </p:sp>
      <p:sp>
        <p:nvSpPr>
          <p:cNvPr id="22532" name="Slide Number Placeholder 4">
            <a:extLst>
              <a:ext uri="{FF2B5EF4-FFF2-40B4-BE49-F238E27FC236}">
                <a16:creationId xmlns:a16="http://schemas.microsoft.com/office/drawing/2014/main" id="{E7501324-8130-5B2B-FFDE-553CBBF2D48F}"/>
              </a:ext>
            </a:extLst>
          </p:cNvPr>
          <p:cNvSpPr>
            <a:spLocks noGrp="1"/>
          </p:cNvSpPr>
          <p:nvPr>
            <p:ph type="sldNum" sz="quarter" idx="12"/>
          </p:nvPr>
        </p:nvSpPr>
        <p:spPr bwMode="auto">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026A0A2F-A6E4-48B5-9423-F2091F5AA84F}" type="slidenum">
              <a:rPr lang="en-US" altLang="en-US" sz="1200" smtClean="0">
                <a:solidFill>
                  <a:schemeClr val="tx1">
                    <a:tint val="75000"/>
                  </a:schemeClr>
                </a:solidFill>
                <a:latin typeface="+mn-lt"/>
                <a:cs typeface="+mn-cs"/>
              </a:rPr>
              <a:pPr>
                <a:spcBef>
                  <a:spcPct val="0"/>
                </a:spcBef>
                <a:spcAft>
                  <a:spcPts val="600"/>
                </a:spcAft>
                <a:buFontTx/>
                <a:buNone/>
              </a:pPr>
              <a:t>17</a:t>
            </a:fld>
            <a:endParaRPr lang="en-US" altLang="en-US" sz="1200">
              <a:solidFill>
                <a:schemeClr val="tx1">
                  <a:tint val="75000"/>
                </a:schemeClr>
              </a:solidFill>
              <a:latin typeface="+mn-lt"/>
              <a:cs typeface="+mn-cs"/>
            </a:endParaRPr>
          </a:p>
        </p:txBody>
      </p:sp>
      <p:graphicFrame>
        <p:nvGraphicFramePr>
          <p:cNvPr id="22535" name="Content Placeholder 2">
            <a:extLst>
              <a:ext uri="{FF2B5EF4-FFF2-40B4-BE49-F238E27FC236}">
                <a16:creationId xmlns:a16="http://schemas.microsoft.com/office/drawing/2014/main" id="{130FADFA-BD10-CAE3-9CCB-FCD21E416BE2}"/>
              </a:ext>
            </a:extLst>
          </p:cNvPr>
          <p:cNvGraphicFramePr>
            <a:graphicFrameLocks noGrp="1"/>
          </p:cNvGraphicFramePr>
          <p:nvPr>
            <p:ph idx="1"/>
            <p:extLst>
              <p:ext uri="{D42A27DB-BD31-4B8C-83A1-F6EECF244321}">
                <p14:modId xmlns:p14="http://schemas.microsoft.com/office/powerpoint/2010/main" val="3477970801"/>
              </p:ext>
            </p:extLst>
          </p:nvPr>
        </p:nvGraphicFramePr>
        <p:xfrm>
          <a:off x="5431536" y="1014153"/>
          <a:ext cx="5918184"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63" name="Rectangle 23562">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4" name="Title 1">
            <a:extLst>
              <a:ext uri="{FF2B5EF4-FFF2-40B4-BE49-F238E27FC236}">
                <a16:creationId xmlns:a16="http://schemas.microsoft.com/office/drawing/2014/main" id="{BF9CC771-86CA-7BA5-AE98-045AE8BF02E2}"/>
              </a:ext>
            </a:extLst>
          </p:cNvPr>
          <p:cNvSpPr>
            <a:spLocks noGrp="1"/>
          </p:cNvSpPr>
          <p:nvPr>
            <p:ph type="title"/>
          </p:nvPr>
        </p:nvSpPr>
        <p:spPr>
          <a:xfrm>
            <a:off x="645065" y="1097280"/>
            <a:ext cx="3796306" cy="4666207"/>
          </a:xfrm>
        </p:spPr>
        <p:txBody>
          <a:bodyPr anchor="ctr">
            <a:normAutofit/>
          </a:bodyPr>
          <a:lstStyle/>
          <a:p>
            <a:r>
              <a:rPr lang="en-US" altLang="en-US" sz="4800" b="1"/>
              <a:t>Split Lung Function and Ventilation Perfusion Studies </a:t>
            </a:r>
          </a:p>
        </p:txBody>
      </p:sp>
      <p:grpSp>
        <p:nvGrpSpPr>
          <p:cNvPr id="23565" name="Group 23564">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23566" name="Rectangle 23565">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7" name="Rectangle 23566">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569" name="Rectangle 2356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97616F5C-262D-3CB0-F1DF-80929D1C4386}"/>
              </a:ext>
            </a:extLst>
          </p:cNvPr>
          <p:cNvSpPr>
            <a:spLocks noGrp="1"/>
          </p:cNvSpPr>
          <p:nvPr>
            <p:ph type="dt" sz="quarter" idx="10"/>
          </p:nvPr>
        </p:nvSpPr>
        <p:spPr>
          <a:xfrm>
            <a:off x="838200" y="6492240"/>
            <a:ext cx="2743200" cy="365125"/>
          </a:xfrm>
        </p:spPr>
        <p:txBody>
          <a:bodyPr>
            <a:normAutofit/>
          </a:bodyPr>
          <a:lstStyle/>
          <a:p>
            <a:pPr>
              <a:spcAft>
                <a:spcPts val="600"/>
              </a:spcAft>
              <a:defRPr/>
            </a:pPr>
            <a:fld id="{849FECB5-1ADD-4C05-A8DD-BB4605928A2B}" type="datetime1">
              <a:rPr lang="en-US"/>
              <a:pPr>
                <a:spcAft>
                  <a:spcPts val="600"/>
                </a:spcAft>
                <a:defRPr/>
              </a:pPr>
              <a:t>4/5/2025</a:t>
            </a:fld>
            <a:endParaRPr lang="en-US"/>
          </a:p>
        </p:txBody>
      </p:sp>
      <p:sp>
        <p:nvSpPr>
          <p:cNvPr id="2" name="Footer Placeholder 1">
            <a:extLst>
              <a:ext uri="{FF2B5EF4-FFF2-40B4-BE49-F238E27FC236}">
                <a16:creationId xmlns:a16="http://schemas.microsoft.com/office/drawing/2014/main" id="{3F814604-B87D-B5B7-78E1-6484C9FEA9E1}"/>
              </a:ext>
            </a:extLst>
          </p:cNvPr>
          <p:cNvSpPr>
            <a:spLocks noGrp="1"/>
          </p:cNvSpPr>
          <p:nvPr>
            <p:ph type="ftr" sz="quarter" idx="11"/>
          </p:nvPr>
        </p:nvSpPr>
        <p:spPr>
          <a:xfrm>
            <a:off x="4038600" y="6492240"/>
            <a:ext cx="4114800" cy="365125"/>
          </a:xfrm>
        </p:spPr>
        <p:txBody>
          <a:bodyPr>
            <a:normAutofit/>
          </a:bodyPr>
          <a:lstStyle/>
          <a:p>
            <a:pPr>
              <a:spcAft>
                <a:spcPts val="600"/>
              </a:spcAft>
              <a:defRPr/>
            </a:pPr>
            <a:r>
              <a:rPr lang="en-US"/>
              <a:t>prepared by Eyayalem Melese</a:t>
            </a:r>
          </a:p>
        </p:txBody>
      </p:sp>
      <p:sp>
        <p:nvSpPr>
          <p:cNvPr id="23557" name="Slide Number Placeholder 4">
            <a:extLst>
              <a:ext uri="{FF2B5EF4-FFF2-40B4-BE49-F238E27FC236}">
                <a16:creationId xmlns:a16="http://schemas.microsoft.com/office/drawing/2014/main" id="{1E66D422-4EDD-DDF8-C7B3-F47F64BCBCCA}"/>
              </a:ext>
            </a:extLst>
          </p:cNvPr>
          <p:cNvSpPr>
            <a:spLocks noGrp="1"/>
          </p:cNvSpPr>
          <p:nvPr>
            <p:ph type="sldNum" sz="quarter" idx="12"/>
          </p:nvPr>
        </p:nvSpPr>
        <p:spPr bwMode="auto">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7F823174-1696-443D-830D-CC9F4AAD5CCF}" type="slidenum">
              <a:rPr lang="en-US" altLang="en-US" sz="1800" smtClean="0">
                <a:latin typeface="Arial" panose="020B0604020202020204" pitchFamily="34" charset="0"/>
              </a:rPr>
              <a:pPr>
                <a:lnSpc>
                  <a:spcPct val="90000"/>
                </a:lnSpc>
                <a:spcBef>
                  <a:spcPct val="0"/>
                </a:spcBef>
                <a:spcAft>
                  <a:spcPts val="600"/>
                </a:spcAft>
                <a:buFontTx/>
                <a:buNone/>
              </a:pPr>
              <a:t>18</a:t>
            </a:fld>
            <a:endParaRPr lang="en-US" altLang="en-US" sz="1800">
              <a:latin typeface="Arial" panose="020B0604020202020204" pitchFamily="34" charset="0"/>
            </a:endParaRPr>
          </a:p>
        </p:txBody>
      </p:sp>
      <p:graphicFrame>
        <p:nvGraphicFramePr>
          <p:cNvPr id="23559" name="Content Placeholder 2">
            <a:extLst>
              <a:ext uri="{FF2B5EF4-FFF2-40B4-BE49-F238E27FC236}">
                <a16:creationId xmlns:a16="http://schemas.microsoft.com/office/drawing/2014/main" id="{99501E81-B252-9FED-5030-EEE417C469E1}"/>
              </a:ext>
            </a:extLst>
          </p:cNvPr>
          <p:cNvGraphicFramePr>
            <a:graphicFrameLocks noGrp="1"/>
          </p:cNvGraphicFramePr>
          <p:nvPr>
            <p:ph idx="1"/>
            <p:extLst>
              <p:ext uri="{D42A27DB-BD31-4B8C-83A1-F6EECF244321}">
                <p14:modId xmlns:p14="http://schemas.microsoft.com/office/powerpoint/2010/main" val="825784944"/>
              </p:ext>
            </p:extLst>
          </p:nvPr>
        </p:nvGraphicFramePr>
        <p:xfrm>
          <a:off x="5431536" y="1014153"/>
          <a:ext cx="5918184"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98" name="Rectangle 24597">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8" name="Title 1">
            <a:extLst>
              <a:ext uri="{FF2B5EF4-FFF2-40B4-BE49-F238E27FC236}">
                <a16:creationId xmlns:a16="http://schemas.microsoft.com/office/drawing/2014/main" id="{04D1511F-0DBE-164F-D666-0FCA36439C4C}"/>
              </a:ext>
            </a:extLst>
          </p:cNvPr>
          <p:cNvSpPr>
            <a:spLocks noGrp="1"/>
          </p:cNvSpPr>
          <p:nvPr>
            <p:ph type="title"/>
          </p:nvPr>
        </p:nvSpPr>
        <p:spPr>
          <a:xfrm>
            <a:off x="645065" y="1097280"/>
            <a:ext cx="3796306" cy="4666207"/>
          </a:xfrm>
        </p:spPr>
        <p:txBody>
          <a:bodyPr anchor="ctr">
            <a:normAutofit/>
          </a:bodyPr>
          <a:lstStyle/>
          <a:p>
            <a:r>
              <a:rPr lang="en-US" altLang="en-US" sz="4800" b="1"/>
              <a:t>Split Lung Function and Ventilation Perfusion Studies </a:t>
            </a:r>
            <a:endParaRPr lang="en-US" altLang="en-US" sz="4800"/>
          </a:p>
        </p:txBody>
      </p:sp>
      <p:grpSp>
        <p:nvGrpSpPr>
          <p:cNvPr id="24599" name="Group 24598">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24600" name="Rectangle 24599">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01" name="Rectangle 24600">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593" name="Rectangle 2459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7EDEFAD-14C7-E3F6-AEC8-55E58D39856C}"/>
              </a:ext>
            </a:extLst>
          </p:cNvPr>
          <p:cNvSpPr>
            <a:spLocks noGrp="1"/>
          </p:cNvSpPr>
          <p:nvPr>
            <p:ph type="dt" sz="quarter" idx="10"/>
          </p:nvPr>
        </p:nvSpPr>
        <p:spPr>
          <a:xfrm>
            <a:off x="838200" y="6492240"/>
            <a:ext cx="2743200" cy="365125"/>
          </a:xfrm>
        </p:spPr>
        <p:txBody>
          <a:bodyPr>
            <a:normAutofit/>
          </a:bodyPr>
          <a:lstStyle/>
          <a:p>
            <a:pPr>
              <a:spcAft>
                <a:spcPts val="600"/>
              </a:spcAft>
              <a:defRPr/>
            </a:pPr>
            <a:fld id="{6046AFDF-1CF0-4315-B0F1-532B750B5A4E}" type="datetime1">
              <a:rPr lang="en-US" smtClean="0"/>
              <a:pPr>
                <a:spcAft>
                  <a:spcPts val="600"/>
                </a:spcAft>
                <a:defRPr/>
              </a:pPr>
              <a:t>4/5/2025</a:t>
            </a:fld>
            <a:endParaRPr lang="en-US"/>
          </a:p>
        </p:txBody>
      </p:sp>
      <p:sp>
        <p:nvSpPr>
          <p:cNvPr id="2" name="Footer Placeholder 1">
            <a:extLst>
              <a:ext uri="{FF2B5EF4-FFF2-40B4-BE49-F238E27FC236}">
                <a16:creationId xmlns:a16="http://schemas.microsoft.com/office/drawing/2014/main" id="{99057FC1-4AB5-5BE7-B088-D8B18024698F}"/>
              </a:ext>
            </a:extLst>
          </p:cNvPr>
          <p:cNvSpPr>
            <a:spLocks noGrp="1"/>
          </p:cNvSpPr>
          <p:nvPr>
            <p:ph type="ftr" sz="quarter" idx="11"/>
          </p:nvPr>
        </p:nvSpPr>
        <p:spPr>
          <a:xfrm>
            <a:off x="4038600" y="6492240"/>
            <a:ext cx="4114800" cy="365125"/>
          </a:xfrm>
        </p:spPr>
        <p:txBody>
          <a:bodyPr>
            <a:normAutofit/>
          </a:bodyPr>
          <a:lstStyle/>
          <a:p>
            <a:pPr>
              <a:spcAft>
                <a:spcPts val="600"/>
              </a:spcAft>
              <a:defRPr/>
            </a:pPr>
            <a:r>
              <a:rPr lang="en-US"/>
              <a:t>prepared by Eyayalem Melese</a:t>
            </a:r>
          </a:p>
        </p:txBody>
      </p:sp>
      <p:sp>
        <p:nvSpPr>
          <p:cNvPr id="24581" name="Slide Number Placeholder 4">
            <a:extLst>
              <a:ext uri="{FF2B5EF4-FFF2-40B4-BE49-F238E27FC236}">
                <a16:creationId xmlns:a16="http://schemas.microsoft.com/office/drawing/2014/main" id="{94FF76EA-A477-EE39-8AFE-3638E19BF8AA}"/>
              </a:ext>
            </a:extLst>
          </p:cNvPr>
          <p:cNvSpPr>
            <a:spLocks noGrp="1"/>
          </p:cNvSpPr>
          <p:nvPr>
            <p:ph type="sldNum" sz="quarter" idx="12"/>
          </p:nvPr>
        </p:nvSpPr>
        <p:spPr bwMode="auto">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E41A2293-EFE4-4090-AE9B-3407EE528D82}" type="slidenum">
              <a:rPr lang="en-US" altLang="en-US" sz="1800" smtClean="0">
                <a:latin typeface="Arial" panose="020B0604020202020204" pitchFamily="34" charset="0"/>
              </a:rPr>
              <a:pPr>
                <a:lnSpc>
                  <a:spcPct val="90000"/>
                </a:lnSpc>
                <a:spcBef>
                  <a:spcPct val="0"/>
                </a:spcBef>
                <a:spcAft>
                  <a:spcPts val="600"/>
                </a:spcAft>
                <a:buFontTx/>
                <a:buNone/>
              </a:pPr>
              <a:t>19</a:t>
            </a:fld>
            <a:endParaRPr lang="en-US" altLang="en-US" sz="1800">
              <a:latin typeface="Arial" panose="020B0604020202020204" pitchFamily="34" charset="0"/>
            </a:endParaRPr>
          </a:p>
        </p:txBody>
      </p:sp>
      <p:graphicFrame>
        <p:nvGraphicFramePr>
          <p:cNvPr id="24602" name="Content Placeholder 2">
            <a:extLst>
              <a:ext uri="{FF2B5EF4-FFF2-40B4-BE49-F238E27FC236}">
                <a16:creationId xmlns:a16="http://schemas.microsoft.com/office/drawing/2014/main" id="{E68B7022-0827-6B39-D706-9FFD0DEA591F}"/>
              </a:ext>
            </a:extLst>
          </p:cNvPr>
          <p:cNvGraphicFramePr>
            <a:graphicFrameLocks noGrp="1"/>
          </p:cNvGraphicFramePr>
          <p:nvPr>
            <p:ph idx="1"/>
            <p:extLst>
              <p:ext uri="{D42A27DB-BD31-4B8C-83A1-F6EECF244321}">
                <p14:modId xmlns:p14="http://schemas.microsoft.com/office/powerpoint/2010/main" val="1447889929"/>
              </p:ext>
            </p:extLst>
          </p:nvPr>
        </p:nvGraphicFramePr>
        <p:xfrm>
          <a:off x="5431536" y="1014153"/>
          <a:ext cx="5918184"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12" name="Rectangle 25611">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Title 1">
            <a:extLst>
              <a:ext uri="{FF2B5EF4-FFF2-40B4-BE49-F238E27FC236}">
                <a16:creationId xmlns:a16="http://schemas.microsoft.com/office/drawing/2014/main" id="{43DD3F03-46D6-DCF1-5A22-7E325934F8CB}"/>
              </a:ext>
            </a:extLst>
          </p:cNvPr>
          <p:cNvSpPr>
            <a:spLocks noGrp="1"/>
          </p:cNvSpPr>
          <p:nvPr>
            <p:ph type="title"/>
          </p:nvPr>
        </p:nvSpPr>
        <p:spPr>
          <a:xfrm>
            <a:off x="645065" y="1097280"/>
            <a:ext cx="3796306" cy="4666207"/>
          </a:xfrm>
        </p:spPr>
        <p:txBody>
          <a:bodyPr anchor="ctr">
            <a:normAutofit/>
          </a:bodyPr>
          <a:lstStyle/>
          <a:p>
            <a:r>
              <a:rPr lang="en-US" altLang="en-US" sz="4800" b="1"/>
              <a:t> Split-lung Function Tests</a:t>
            </a:r>
            <a:endParaRPr lang="en-US" altLang="en-US" sz="4800"/>
          </a:p>
        </p:txBody>
      </p:sp>
      <p:grpSp>
        <p:nvGrpSpPr>
          <p:cNvPr id="25614" name="Group 25613">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25615" name="Rectangle 25614">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6" name="Rectangle 25615">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618" name="Rectangle 256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78DE6EA3-A0B0-E68A-712A-02DFF3A25D9E}"/>
              </a:ext>
            </a:extLst>
          </p:cNvPr>
          <p:cNvSpPr>
            <a:spLocks noGrp="1"/>
          </p:cNvSpPr>
          <p:nvPr>
            <p:ph type="dt" sz="quarter" idx="10"/>
          </p:nvPr>
        </p:nvSpPr>
        <p:spPr>
          <a:xfrm>
            <a:off x="838200" y="6492240"/>
            <a:ext cx="2743200" cy="365125"/>
          </a:xfrm>
        </p:spPr>
        <p:txBody>
          <a:bodyPr>
            <a:normAutofit/>
          </a:bodyPr>
          <a:lstStyle/>
          <a:p>
            <a:pPr>
              <a:spcAft>
                <a:spcPts val="600"/>
              </a:spcAft>
              <a:defRPr/>
            </a:pPr>
            <a:fld id="{28D8206A-F25A-4DC6-89F1-BE190F60CFE8}" type="datetime1">
              <a:rPr lang="en-US"/>
              <a:pPr>
                <a:spcAft>
                  <a:spcPts val="600"/>
                </a:spcAft>
                <a:defRPr/>
              </a:pPr>
              <a:t>4/5/2025</a:t>
            </a:fld>
            <a:endParaRPr lang="en-US"/>
          </a:p>
        </p:txBody>
      </p:sp>
      <p:sp>
        <p:nvSpPr>
          <p:cNvPr id="4" name="Footer Placeholder 3">
            <a:extLst>
              <a:ext uri="{FF2B5EF4-FFF2-40B4-BE49-F238E27FC236}">
                <a16:creationId xmlns:a16="http://schemas.microsoft.com/office/drawing/2014/main" id="{4433F1C8-9FD2-BC9C-6192-25C8ADBE0962}"/>
              </a:ext>
            </a:extLst>
          </p:cNvPr>
          <p:cNvSpPr>
            <a:spLocks noGrp="1"/>
          </p:cNvSpPr>
          <p:nvPr>
            <p:ph type="ftr" sz="quarter" idx="11"/>
          </p:nvPr>
        </p:nvSpPr>
        <p:spPr>
          <a:xfrm>
            <a:off x="4038600" y="6492240"/>
            <a:ext cx="4114800" cy="365125"/>
          </a:xfrm>
        </p:spPr>
        <p:txBody>
          <a:bodyPr>
            <a:normAutofit/>
          </a:bodyPr>
          <a:lstStyle/>
          <a:p>
            <a:pPr>
              <a:spcAft>
                <a:spcPts val="600"/>
              </a:spcAft>
              <a:defRPr/>
            </a:pPr>
            <a:r>
              <a:rPr lang="en-US"/>
              <a:t>prepared by Eyayalem Melese</a:t>
            </a:r>
          </a:p>
        </p:txBody>
      </p:sp>
      <p:sp>
        <p:nvSpPr>
          <p:cNvPr id="25606" name="Slide Number Placeholder 4">
            <a:extLst>
              <a:ext uri="{FF2B5EF4-FFF2-40B4-BE49-F238E27FC236}">
                <a16:creationId xmlns:a16="http://schemas.microsoft.com/office/drawing/2014/main" id="{06EDA04D-89EA-0CF9-4589-AA6C6E5EE9D8}"/>
              </a:ext>
            </a:extLst>
          </p:cNvPr>
          <p:cNvSpPr>
            <a:spLocks noGrp="1"/>
          </p:cNvSpPr>
          <p:nvPr>
            <p:ph type="sldNum" sz="quarter" idx="12"/>
          </p:nvPr>
        </p:nvSpPr>
        <p:spPr bwMode="auto">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2A45D031-FAB5-49C7-928B-63104D5E11E0}" type="slidenum">
              <a:rPr lang="en-US" altLang="en-US" sz="1800" smtClean="0">
                <a:latin typeface="Arial" panose="020B0604020202020204" pitchFamily="34" charset="0"/>
              </a:rPr>
              <a:pPr>
                <a:lnSpc>
                  <a:spcPct val="90000"/>
                </a:lnSpc>
                <a:spcBef>
                  <a:spcPct val="0"/>
                </a:spcBef>
                <a:spcAft>
                  <a:spcPts val="600"/>
                </a:spcAft>
                <a:buFontTx/>
                <a:buNone/>
              </a:pPr>
              <a:t>20</a:t>
            </a:fld>
            <a:endParaRPr lang="en-US" altLang="en-US" sz="1800">
              <a:latin typeface="Arial" panose="020B0604020202020204" pitchFamily="34" charset="0"/>
            </a:endParaRPr>
          </a:p>
        </p:txBody>
      </p:sp>
      <p:graphicFrame>
        <p:nvGraphicFramePr>
          <p:cNvPr id="25608" name="Content Placeholder 2">
            <a:extLst>
              <a:ext uri="{FF2B5EF4-FFF2-40B4-BE49-F238E27FC236}">
                <a16:creationId xmlns:a16="http://schemas.microsoft.com/office/drawing/2014/main" id="{65493E13-3408-9884-CF6E-6DC4413B6FD5}"/>
              </a:ext>
            </a:extLst>
          </p:cNvPr>
          <p:cNvGraphicFramePr>
            <a:graphicFrameLocks noGrp="1"/>
          </p:cNvGraphicFramePr>
          <p:nvPr>
            <p:ph idx="1"/>
            <p:extLst>
              <p:ext uri="{D42A27DB-BD31-4B8C-83A1-F6EECF244321}">
                <p14:modId xmlns:p14="http://schemas.microsoft.com/office/powerpoint/2010/main" val="68047808"/>
              </p:ext>
            </p:extLst>
          </p:nvPr>
        </p:nvGraphicFramePr>
        <p:xfrm>
          <a:off x="5431536" y="1014153"/>
          <a:ext cx="5918184"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2A8F-F3FC-734B-F760-67A005003B10}"/>
              </a:ext>
            </a:extLst>
          </p:cNvPr>
          <p:cNvSpPr>
            <a:spLocks noGrp="1"/>
          </p:cNvSpPr>
          <p:nvPr>
            <p:ph type="title"/>
          </p:nvPr>
        </p:nvSpPr>
        <p:spPr/>
        <p:txBody>
          <a:bodyPr/>
          <a:lstStyle/>
          <a:p>
            <a:r>
              <a:rPr lang="en-US" dirty="0"/>
              <a:t>Lug ,</a:t>
            </a:r>
            <a:r>
              <a:rPr lang="en-US" dirty="0" err="1"/>
              <a:t>Lobes,Segments</a:t>
            </a:r>
            <a:r>
              <a:rPr lang="en-US" dirty="0"/>
              <a:t> and Sub segments </a:t>
            </a:r>
          </a:p>
        </p:txBody>
      </p:sp>
      <p:sp>
        <p:nvSpPr>
          <p:cNvPr id="3" name="Text Placeholder 2">
            <a:extLst>
              <a:ext uri="{FF2B5EF4-FFF2-40B4-BE49-F238E27FC236}">
                <a16:creationId xmlns:a16="http://schemas.microsoft.com/office/drawing/2014/main" id="{4DEAA645-868C-C8D2-9B19-C536790ADD13}"/>
              </a:ext>
            </a:extLst>
          </p:cNvPr>
          <p:cNvSpPr>
            <a:spLocks noGrp="1"/>
          </p:cNvSpPr>
          <p:nvPr>
            <p:ph type="body" idx="1"/>
          </p:nvPr>
        </p:nvSpPr>
        <p:spPr/>
        <p:txBody>
          <a:bodyPr/>
          <a:lstStyle/>
          <a:p>
            <a:r>
              <a:rPr lang="en-US" dirty="0"/>
              <a:t>Lung Segments </a:t>
            </a:r>
          </a:p>
        </p:txBody>
      </p:sp>
      <p:sp>
        <p:nvSpPr>
          <p:cNvPr id="5" name="Text Placeholder 4">
            <a:extLst>
              <a:ext uri="{FF2B5EF4-FFF2-40B4-BE49-F238E27FC236}">
                <a16:creationId xmlns:a16="http://schemas.microsoft.com/office/drawing/2014/main" id="{10D59E71-CB60-06AA-63E0-A89DFB1168FA}"/>
              </a:ext>
            </a:extLst>
          </p:cNvPr>
          <p:cNvSpPr>
            <a:spLocks noGrp="1"/>
          </p:cNvSpPr>
          <p:nvPr>
            <p:ph type="body" sz="quarter" idx="3"/>
          </p:nvPr>
        </p:nvSpPr>
        <p:spPr/>
        <p:txBody>
          <a:bodyPr/>
          <a:lstStyle/>
          <a:p>
            <a:r>
              <a:rPr lang="en-US" dirty="0"/>
              <a:t>Lung Sub segments </a:t>
            </a:r>
          </a:p>
        </p:txBody>
      </p:sp>
      <p:sp>
        <p:nvSpPr>
          <p:cNvPr id="7" name="Date Placeholder 6">
            <a:extLst>
              <a:ext uri="{FF2B5EF4-FFF2-40B4-BE49-F238E27FC236}">
                <a16:creationId xmlns:a16="http://schemas.microsoft.com/office/drawing/2014/main" id="{7BD286E1-D232-FFD6-862C-4296BE118973}"/>
              </a:ext>
            </a:extLst>
          </p:cNvPr>
          <p:cNvSpPr>
            <a:spLocks noGrp="1"/>
          </p:cNvSpPr>
          <p:nvPr>
            <p:ph type="dt" sz="half" idx="10"/>
          </p:nvPr>
        </p:nvSpPr>
        <p:spPr/>
        <p:txBody>
          <a:bodyPr/>
          <a:lstStyle/>
          <a:p>
            <a:pPr>
              <a:defRPr/>
            </a:pPr>
            <a:fld id="{ED4684A9-8F04-4005-BD71-D4099455EF2C}" type="datetime1">
              <a:rPr lang="en-US" smtClean="0"/>
              <a:pPr>
                <a:defRPr/>
              </a:pPr>
              <a:t>4/5/2025</a:t>
            </a:fld>
            <a:endParaRPr lang="en-US"/>
          </a:p>
        </p:txBody>
      </p:sp>
      <p:sp>
        <p:nvSpPr>
          <p:cNvPr id="8" name="Footer Placeholder 7">
            <a:extLst>
              <a:ext uri="{FF2B5EF4-FFF2-40B4-BE49-F238E27FC236}">
                <a16:creationId xmlns:a16="http://schemas.microsoft.com/office/drawing/2014/main" id="{FF37DB67-73F4-E53C-3FD1-181C33D05FFB}"/>
              </a:ext>
            </a:extLst>
          </p:cNvPr>
          <p:cNvSpPr>
            <a:spLocks noGrp="1"/>
          </p:cNvSpPr>
          <p:nvPr>
            <p:ph type="ftr" sz="quarter" idx="11"/>
          </p:nvPr>
        </p:nvSpPr>
        <p:spPr/>
        <p:txBody>
          <a:bodyPr/>
          <a:lstStyle/>
          <a:p>
            <a:pPr>
              <a:defRPr/>
            </a:pPr>
            <a:r>
              <a:rPr lang="en-US"/>
              <a:t>prepared by Eyayalem Melese</a:t>
            </a:r>
          </a:p>
        </p:txBody>
      </p:sp>
      <p:sp>
        <p:nvSpPr>
          <p:cNvPr id="9" name="Slide Number Placeholder 8">
            <a:extLst>
              <a:ext uri="{FF2B5EF4-FFF2-40B4-BE49-F238E27FC236}">
                <a16:creationId xmlns:a16="http://schemas.microsoft.com/office/drawing/2014/main" id="{8A0C7ECD-1233-1B4E-799A-AB546E115CAF}"/>
              </a:ext>
            </a:extLst>
          </p:cNvPr>
          <p:cNvSpPr>
            <a:spLocks noGrp="1"/>
          </p:cNvSpPr>
          <p:nvPr>
            <p:ph type="sldNum" sz="quarter" idx="12"/>
          </p:nvPr>
        </p:nvSpPr>
        <p:spPr/>
        <p:txBody>
          <a:bodyPr/>
          <a:lstStyle/>
          <a:p>
            <a:pPr>
              <a:defRPr/>
            </a:pPr>
            <a:fld id="{6B8BF139-4E62-443A-9CF3-E42E9023A0E2}" type="slidenum">
              <a:rPr lang="en-US" altLang="en-US" smtClean="0"/>
              <a:pPr>
                <a:defRPr/>
              </a:pPr>
              <a:t>21</a:t>
            </a:fld>
            <a:endParaRPr lang="en-US" altLang="en-US"/>
          </a:p>
        </p:txBody>
      </p:sp>
      <p:pic>
        <p:nvPicPr>
          <p:cNvPr id="10" name="Picture 2">
            <a:extLst>
              <a:ext uri="{FF2B5EF4-FFF2-40B4-BE49-F238E27FC236}">
                <a16:creationId xmlns:a16="http://schemas.microsoft.com/office/drawing/2014/main" id="{AD897B0B-9187-3745-C267-41EDA7408F3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a:xfrm>
            <a:off x="152400" y="2292350"/>
            <a:ext cx="5386917" cy="3951288"/>
          </a:xfrm>
          <a:prstGeom prst="rect">
            <a:avLst/>
          </a:prstGeom>
          <a:noFill/>
        </p:spPr>
      </p:pic>
      <p:pic>
        <p:nvPicPr>
          <p:cNvPr id="11" name="Picture 4">
            <a:extLst>
              <a:ext uri="{FF2B5EF4-FFF2-40B4-BE49-F238E27FC236}">
                <a16:creationId xmlns:a16="http://schemas.microsoft.com/office/drawing/2014/main" id="{FA223C6B-7450-AE60-C67F-4F8D0DCF6DCF}"/>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tretch>
            <a:fillRect/>
          </a:stretch>
        </p:blipFill>
        <p:spPr bwMode="auto">
          <a:xfrm>
            <a:off x="5736168" y="2174875"/>
            <a:ext cx="5846231" cy="3844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3509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5A39026B-5ED7-344E-32E4-84631EB62D07}"/>
              </a:ext>
            </a:extLst>
          </p:cNvPr>
          <p:cNvSpPr>
            <a:spLocks noGrp="1"/>
          </p:cNvSpPr>
          <p:nvPr>
            <p:ph type="title"/>
          </p:nvPr>
        </p:nvSpPr>
        <p:spPr/>
        <p:txBody>
          <a:bodyPr/>
          <a:lstStyle/>
          <a:p>
            <a:r>
              <a:rPr lang="en-US" altLang="en-US" b="1"/>
              <a:t>Risk stratification</a:t>
            </a:r>
            <a:br>
              <a:rPr lang="en-US" altLang="en-US" b="1"/>
            </a:br>
            <a:endParaRPr lang="en-US" altLang="en-US"/>
          </a:p>
        </p:txBody>
      </p:sp>
      <p:graphicFrame>
        <p:nvGraphicFramePr>
          <p:cNvPr id="29703" name="Content Placeholder 2">
            <a:extLst>
              <a:ext uri="{FF2B5EF4-FFF2-40B4-BE49-F238E27FC236}">
                <a16:creationId xmlns:a16="http://schemas.microsoft.com/office/drawing/2014/main" id="{5A3CC8BE-A5ED-687B-FBA8-DB2D6B1273F8}"/>
              </a:ext>
            </a:extLst>
          </p:cNvPr>
          <p:cNvGraphicFramePr>
            <a:graphicFrameLocks noGrp="1"/>
          </p:cNvGraphicFramePr>
          <p:nvPr>
            <p:ph idx="1"/>
          </p:nvPr>
        </p:nvGraphicFramePr>
        <p:xfrm>
          <a:off x="1752600" y="1219200"/>
          <a:ext cx="86868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8C9565A1-E7DA-73F3-36EC-D98F6504053F}"/>
              </a:ext>
            </a:extLst>
          </p:cNvPr>
          <p:cNvSpPr>
            <a:spLocks noGrp="1"/>
          </p:cNvSpPr>
          <p:nvPr>
            <p:ph type="dt" sz="quarter" idx="10"/>
          </p:nvPr>
        </p:nvSpPr>
        <p:spPr/>
        <p:txBody>
          <a:bodyPr/>
          <a:lstStyle/>
          <a:p>
            <a:pPr>
              <a:defRPr/>
            </a:pPr>
            <a:fld id="{904E8BA3-76D2-45BB-804A-34EBF79CA201}" type="datetime1">
              <a:rPr lang="en-US"/>
              <a:pPr>
                <a:defRPr/>
              </a:pPr>
              <a:t>4/5/2025</a:t>
            </a:fld>
            <a:endParaRPr lang="en-US"/>
          </a:p>
        </p:txBody>
      </p:sp>
      <p:sp>
        <p:nvSpPr>
          <p:cNvPr id="29701" name="Slide Number Placeholder 4">
            <a:extLst>
              <a:ext uri="{FF2B5EF4-FFF2-40B4-BE49-F238E27FC236}">
                <a16:creationId xmlns:a16="http://schemas.microsoft.com/office/drawing/2014/main" id="{2E076CDC-467E-3DD0-0C3F-F3506C96F4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8BB9931-2318-4C7D-983A-6774F6F596A8}" type="slidenum">
              <a:rPr lang="en-US" altLang="en-US" sz="1200" smtClean="0">
                <a:solidFill>
                  <a:srgbClr val="898989"/>
                </a:solidFill>
                <a:latin typeface="Arial" panose="020B0604020202020204" pitchFamily="34" charset="0"/>
              </a:rPr>
              <a:pPr>
                <a:spcBef>
                  <a:spcPct val="0"/>
                </a:spcBef>
                <a:buFontTx/>
                <a:buNone/>
              </a:pPr>
              <a:t>22</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EB846F8A-0B26-D3B0-C446-4DD5441841C1}"/>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30" name="Rectangle 3072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732" name="Rectangle 3073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734" name="Rectangle 3073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22" name="Title 1">
            <a:extLst>
              <a:ext uri="{FF2B5EF4-FFF2-40B4-BE49-F238E27FC236}">
                <a16:creationId xmlns:a16="http://schemas.microsoft.com/office/drawing/2014/main" id="{A8F89363-F186-5CEB-E78B-336FBBC43A3E}"/>
              </a:ext>
            </a:extLst>
          </p:cNvPr>
          <p:cNvSpPr>
            <a:spLocks noGrp="1"/>
          </p:cNvSpPr>
          <p:nvPr>
            <p:ph type="title"/>
          </p:nvPr>
        </p:nvSpPr>
        <p:spPr>
          <a:xfrm>
            <a:off x="1115568" y="548640"/>
            <a:ext cx="10168128" cy="1179576"/>
          </a:xfrm>
        </p:spPr>
        <p:txBody>
          <a:bodyPr>
            <a:normAutofit/>
          </a:bodyPr>
          <a:lstStyle/>
          <a:p>
            <a:pPr>
              <a:lnSpc>
                <a:spcPct val="90000"/>
              </a:lnSpc>
            </a:pPr>
            <a:r>
              <a:rPr lang="en-US" altLang="en-US" sz="3700" b="1"/>
              <a:t>Risk stratification</a:t>
            </a:r>
            <a:br>
              <a:rPr lang="en-US" altLang="en-US" sz="3700" b="1"/>
            </a:br>
            <a:endParaRPr lang="en-US" altLang="en-US" sz="3700"/>
          </a:p>
        </p:txBody>
      </p:sp>
      <p:sp>
        <p:nvSpPr>
          <p:cNvPr id="30736" name="Rectangle 3073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723" name="Content Placeholder 2">
            <a:extLst>
              <a:ext uri="{FF2B5EF4-FFF2-40B4-BE49-F238E27FC236}">
                <a16:creationId xmlns:a16="http://schemas.microsoft.com/office/drawing/2014/main" id="{E34127E1-FD44-B598-0223-BF4196EE5BE8}"/>
              </a:ext>
            </a:extLst>
          </p:cNvPr>
          <p:cNvSpPr>
            <a:spLocks noGrp="1"/>
          </p:cNvSpPr>
          <p:nvPr>
            <p:ph idx="1"/>
          </p:nvPr>
        </p:nvSpPr>
        <p:spPr>
          <a:xfrm>
            <a:off x="1115568" y="2481943"/>
            <a:ext cx="10168128" cy="3695020"/>
          </a:xfrm>
        </p:spPr>
        <p:txBody>
          <a:bodyPr>
            <a:normAutofit/>
          </a:bodyPr>
          <a:lstStyle/>
          <a:p>
            <a:r>
              <a:rPr lang="en-US" altLang="en-US" sz="2200"/>
              <a:t>Assess respiratory function in three related but independent areas: </a:t>
            </a:r>
          </a:p>
          <a:p>
            <a:pPr lvl="4"/>
            <a:r>
              <a:rPr lang="en-US" altLang="en-US" sz="2200" b="1"/>
              <a:t>Respiratory Mechanics</a:t>
            </a:r>
          </a:p>
          <a:p>
            <a:pPr lvl="4"/>
            <a:r>
              <a:rPr lang="en-US" altLang="en-US" sz="2200" b="1"/>
              <a:t> Gas Exchange, And</a:t>
            </a:r>
          </a:p>
          <a:p>
            <a:pPr lvl="4"/>
            <a:r>
              <a:rPr lang="en-US" altLang="en-US" sz="2200" b="1"/>
              <a:t> Cardiopulmonary Interaction</a:t>
            </a:r>
            <a:r>
              <a:rPr lang="en-US" altLang="en-US" sz="2200"/>
              <a:t>. </a:t>
            </a:r>
          </a:p>
          <a:p>
            <a:r>
              <a:rPr lang="en-US" altLang="en-US" sz="2200"/>
              <a:t>These three factors give the "three-legged stool" of prethoracotomy respiratory assessment.</a:t>
            </a:r>
          </a:p>
          <a:p>
            <a:endParaRPr lang="en-US" altLang="en-US" sz="2200"/>
          </a:p>
        </p:txBody>
      </p:sp>
      <p:sp>
        <p:nvSpPr>
          <p:cNvPr id="4" name="Date Placeholder 3">
            <a:extLst>
              <a:ext uri="{FF2B5EF4-FFF2-40B4-BE49-F238E27FC236}">
                <a16:creationId xmlns:a16="http://schemas.microsoft.com/office/drawing/2014/main" id="{909B6B0A-3E00-4F95-A2A0-6E9CD1A85498}"/>
              </a:ext>
            </a:extLst>
          </p:cNvPr>
          <p:cNvSpPr>
            <a:spLocks noGrp="1"/>
          </p:cNvSpPr>
          <p:nvPr>
            <p:ph type="dt" sz="quarter" idx="10"/>
          </p:nvPr>
        </p:nvSpPr>
        <p:spPr>
          <a:xfrm>
            <a:off x="1115568" y="6356350"/>
            <a:ext cx="2743200" cy="365125"/>
          </a:xfrm>
        </p:spPr>
        <p:txBody>
          <a:bodyPr>
            <a:normAutofit/>
          </a:bodyPr>
          <a:lstStyle/>
          <a:p>
            <a:pPr>
              <a:spcAft>
                <a:spcPts val="600"/>
              </a:spcAft>
              <a:defRPr/>
            </a:pPr>
            <a:fld id="{27EA28CD-0475-48A6-B754-E3EEF6F46040}" type="datetime1">
              <a:rPr lang="en-US">
                <a:solidFill>
                  <a:schemeClr val="tx1">
                    <a:lumMod val="50000"/>
                    <a:lumOff val="50000"/>
                  </a:schemeClr>
                </a:solidFill>
              </a:rPr>
              <a:pPr>
                <a:spcAft>
                  <a:spcPts val="600"/>
                </a:spcAft>
                <a:defRPr/>
              </a:pPr>
              <a:t>4/5/2025</a:t>
            </a:fld>
            <a:endParaRPr lang="en-US">
              <a:solidFill>
                <a:schemeClr val="tx1">
                  <a:lumMod val="50000"/>
                  <a:lumOff val="50000"/>
                </a:schemeClr>
              </a:solidFill>
            </a:endParaRPr>
          </a:p>
        </p:txBody>
      </p:sp>
      <p:sp>
        <p:nvSpPr>
          <p:cNvPr id="2" name="Footer Placeholder 1">
            <a:extLst>
              <a:ext uri="{FF2B5EF4-FFF2-40B4-BE49-F238E27FC236}">
                <a16:creationId xmlns:a16="http://schemas.microsoft.com/office/drawing/2014/main" id="{2B4A3186-C086-E92B-72D8-DA32C6F37C0A}"/>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solidFill>
                  <a:schemeClr val="tx1">
                    <a:lumMod val="50000"/>
                    <a:lumOff val="50000"/>
                  </a:schemeClr>
                </a:solidFill>
              </a:rPr>
              <a:t>prepared by Eyayalem Melese</a:t>
            </a:r>
          </a:p>
        </p:txBody>
      </p:sp>
      <p:sp>
        <p:nvSpPr>
          <p:cNvPr id="30725" name="Slide Number Placeholder 4">
            <a:extLst>
              <a:ext uri="{FF2B5EF4-FFF2-40B4-BE49-F238E27FC236}">
                <a16:creationId xmlns:a16="http://schemas.microsoft.com/office/drawing/2014/main" id="{586254A3-D819-6EE7-DA01-B7FB206E456E}"/>
              </a:ext>
            </a:extLst>
          </p:cNvPr>
          <p:cNvSpPr>
            <a:spLocks noGrp="1"/>
          </p:cNvSpPr>
          <p:nvPr>
            <p:ph type="sldNum" sz="quarter" idx="12"/>
          </p:nvPr>
        </p:nvSpPr>
        <p:spPr bwMode="auto">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D55786E6-0D8D-4383-86CF-56B0F94D22A6}" type="slidenum">
              <a:rPr lang="en-US" altLang="en-US" sz="1800">
                <a:solidFill>
                  <a:schemeClr val="tx1">
                    <a:lumMod val="50000"/>
                    <a:lumOff val="50000"/>
                  </a:schemeClr>
                </a:solidFill>
                <a:latin typeface="Arial" panose="020B0604020202020204" pitchFamily="34" charset="0"/>
              </a:rPr>
              <a:pPr>
                <a:lnSpc>
                  <a:spcPct val="90000"/>
                </a:lnSpc>
                <a:spcBef>
                  <a:spcPct val="0"/>
                </a:spcBef>
                <a:spcAft>
                  <a:spcPts val="600"/>
                </a:spcAft>
                <a:buFontTx/>
                <a:buNone/>
              </a:pPr>
              <a:t>23</a:t>
            </a:fld>
            <a:endParaRPr lang="en-US" altLang="en-US" sz="1800">
              <a:solidFill>
                <a:schemeClr val="tx1">
                  <a:lumMod val="50000"/>
                  <a:lumOff val="50000"/>
                </a:schemeClr>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57" name="Rectangle 31756">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8"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748" name="Picture 2" descr="http://tele.med.ru/book/cardiac_anesthesia/media/he/he025g01.gif">
            <a:extLst>
              <a:ext uri="{FF2B5EF4-FFF2-40B4-BE49-F238E27FC236}">
                <a16:creationId xmlns:a16="http://schemas.microsoft.com/office/drawing/2014/main" id="{3DA37257-EB27-B9F0-12F6-1A91AF4472A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95400" y="914400"/>
            <a:ext cx="9601199" cy="5105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659A6D74-9649-3F2B-434D-F5ED10AFE209}"/>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096B72EE-674C-4C70-A7B7-804CCF65386A}" type="datetime1">
              <a:rPr lang="en-US">
                <a:latin typeface="+mn-lt"/>
                <a:cs typeface="+mn-cs"/>
              </a:rPr>
              <a:pPr>
                <a:spcAft>
                  <a:spcPts val="600"/>
                </a:spcAft>
                <a:defRPr/>
              </a:pPr>
              <a:t>4/5/2025</a:t>
            </a:fld>
            <a:endParaRPr lang="en-US">
              <a:latin typeface="+mn-lt"/>
              <a:cs typeface="+mn-cs"/>
            </a:endParaRPr>
          </a:p>
        </p:txBody>
      </p:sp>
      <p:sp>
        <p:nvSpPr>
          <p:cNvPr id="2" name="Footer Placeholder 1">
            <a:extLst>
              <a:ext uri="{FF2B5EF4-FFF2-40B4-BE49-F238E27FC236}">
                <a16:creationId xmlns:a16="http://schemas.microsoft.com/office/drawing/2014/main" id="{C799A263-DDB7-91DA-CF1F-34CF7D989769}"/>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prepared by Eyayalem Melese</a:t>
            </a:r>
          </a:p>
        </p:txBody>
      </p:sp>
      <p:sp>
        <p:nvSpPr>
          <p:cNvPr id="31747" name="Slide Number Placeholder 4">
            <a:extLst>
              <a:ext uri="{FF2B5EF4-FFF2-40B4-BE49-F238E27FC236}">
                <a16:creationId xmlns:a16="http://schemas.microsoft.com/office/drawing/2014/main" id="{AEDCD645-1980-1122-7739-529186DA5FCB}"/>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A87E6304-3670-4989-A74B-4B08EAA3B731}" type="slidenum">
              <a:rPr lang="en-US" altLang="en-US" sz="1200" smtClean="0">
                <a:solidFill>
                  <a:schemeClr val="tx1">
                    <a:tint val="75000"/>
                  </a:schemeClr>
                </a:solidFill>
                <a:latin typeface="+mn-lt"/>
                <a:cs typeface="+mn-cs"/>
              </a:rPr>
              <a:pPr>
                <a:spcBef>
                  <a:spcPct val="0"/>
                </a:spcBef>
                <a:spcAft>
                  <a:spcPts val="600"/>
                </a:spcAft>
                <a:buFontTx/>
                <a:buNone/>
              </a:pPr>
              <a:t>24</a:t>
            </a:fld>
            <a:endParaRPr lang="en-US" altLang="en-US" sz="1200">
              <a:solidFill>
                <a:schemeClr val="tx1">
                  <a:tint val="75000"/>
                </a:schemeClr>
              </a:solidFill>
              <a:latin typeface="+mn-lt"/>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8" name="Rectangle 3277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70" name="Title 1">
            <a:extLst>
              <a:ext uri="{FF2B5EF4-FFF2-40B4-BE49-F238E27FC236}">
                <a16:creationId xmlns:a16="http://schemas.microsoft.com/office/drawing/2014/main" id="{D60D780F-FC00-8E48-FA9D-F85CA65C4934}"/>
              </a:ext>
            </a:extLst>
          </p:cNvPr>
          <p:cNvSpPr>
            <a:spLocks noGrp="1"/>
          </p:cNvSpPr>
          <p:nvPr>
            <p:ph type="title"/>
          </p:nvPr>
        </p:nvSpPr>
        <p:spPr>
          <a:xfrm>
            <a:off x="838200" y="365125"/>
            <a:ext cx="10515600" cy="1325563"/>
          </a:xfrm>
        </p:spPr>
        <p:txBody>
          <a:bodyPr>
            <a:normAutofit/>
          </a:bodyPr>
          <a:lstStyle/>
          <a:p>
            <a:r>
              <a:rPr lang="en-US" altLang="en-US" sz="5400" b="1"/>
              <a:t>Risk stratification</a:t>
            </a:r>
            <a:endParaRPr lang="en-US" altLang="en-US" sz="5400"/>
          </a:p>
        </p:txBody>
      </p:sp>
      <p:sp>
        <p:nvSpPr>
          <p:cNvPr id="3278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71" name="Content Placeholder 2">
            <a:extLst>
              <a:ext uri="{FF2B5EF4-FFF2-40B4-BE49-F238E27FC236}">
                <a16:creationId xmlns:a16="http://schemas.microsoft.com/office/drawing/2014/main" id="{BFE273D0-D46C-EC4F-C3B6-F773AAB5C875}"/>
              </a:ext>
            </a:extLst>
          </p:cNvPr>
          <p:cNvSpPr>
            <a:spLocks noGrp="1"/>
          </p:cNvSpPr>
          <p:nvPr>
            <p:ph idx="1"/>
          </p:nvPr>
        </p:nvSpPr>
        <p:spPr>
          <a:xfrm>
            <a:off x="838200" y="1929384"/>
            <a:ext cx="10515600" cy="4251960"/>
          </a:xfrm>
        </p:spPr>
        <p:txBody>
          <a:bodyPr>
            <a:normAutofit/>
          </a:bodyPr>
          <a:lstStyle/>
          <a:p>
            <a:pPr marL="514350" indent="-514350">
              <a:buFont typeface="Arial" panose="020B0604020202020204" pitchFamily="34" charset="0"/>
              <a:buAutoNum type="arabicPeriod"/>
            </a:pPr>
            <a:r>
              <a:rPr lang="en-US" altLang="en-US" sz="2200" b="1"/>
              <a:t>Lung mechanics.</a:t>
            </a:r>
            <a:r>
              <a:rPr lang="en-US" altLang="en-US" sz="2200"/>
              <a:t> </a:t>
            </a:r>
          </a:p>
          <a:p>
            <a:pPr marL="514350" indent="-514350">
              <a:buFont typeface="Arial" panose="020B0604020202020204" pitchFamily="34" charset="0"/>
              <a:buNone/>
            </a:pPr>
            <a:r>
              <a:rPr lang="en-US" altLang="en-US" sz="2200"/>
              <a:t>   - Respiratory mechanics are assessed by pulmonary function tests. </a:t>
            </a:r>
          </a:p>
          <a:p>
            <a:pPr marL="514350" indent="-514350">
              <a:buFontTx/>
              <a:buChar char="-"/>
            </a:pPr>
            <a:r>
              <a:rPr lang="en-US" altLang="en-US" sz="2200"/>
              <a:t>Of these parameters, the most useful is the predicted postoperative forced expiratory volume in one sec (FEV 1 ), which is calculated as follows: </a:t>
            </a:r>
          </a:p>
          <a:p>
            <a:pPr marL="514350" indent="-514350">
              <a:buFontTx/>
              <a:buChar char="-"/>
            </a:pPr>
            <a:r>
              <a:rPr lang="en-US" altLang="en-US" sz="2200"/>
              <a:t>Postoperative FEV 1  =  preoperative FEV 1  × (1 – the percentage  </a:t>
            </a:r>
          </a:p>
          <a:p>
            <a:pPr marL="514350" indent="-514350">
              <a:buFont typeface="Arial" panose="020B0604020202020204" pitchFamily="34" charset="0"/>
              <a:buNone/>
            </a:pPr>
            <a:r>
              <a:rPr lang="en-US" altLang="en-US" sz="2200"/>
              <a:t>                                                                            of functional lung tissue removed divided by </a:t>
            </a:r>
          </a:p>
          <a:p>
            <a:pPr marL="514350" indent="-514350">
              <a:buFont typeface="Arial" panose="020B0604020202020204" pitchFamily="34" charset="0"/>
              <a:buNone/>
            </a:pPr>
            <a:r>
              <a:rPr lang="en-US" altLang="en-US" sz="2200"/>
              <a:t>                                                                               100)   OR--- </a:t>
            </a:r>
          </a:p>
          <a:p>
            <a:pPr marL="514350" indent="-514350">
              <a:buFont typeface="Arial" panose="020B0604020202020204" pitchFamily="34" charset="0"/>
              <a:buNone/>
            </a:pPr>
            <a:r>
              <a:rPr lang="en-US" altLang="en-US" sz="2200"/>
              <a:t>--   Postoperative FEV 1  =  preoperative FEV 1 X  </a:t>
            </a:r>
            <a:r>
              <a:rPr lang="en-US" altLang="en-US" sz="2200" u="sng"/>
              <a:t>No of Segments left after Resection </a:t>
            </a:r>
          </a:p>
          <a:p>
            <a:pPr marL="514350" indent="-514350">
              <a:buFont typeface="Arial" panose="020B0604020202020204" pitchFamily="34" charset="0"/>
              <a:buNone/>
            </a:pPr>
            <a:r>
              <a:rPr lang="en-US" altLang="en-US" sz="2200"/>
              <a:t>                                                                                                                   19</a:t>
            </a:r>
            <a:endParaRPr lang="en-US" altLang="en-US" sz="2200" u="sng"/>
          </a:p>
        </p:txBody>
      </p:sp>
      <p:sp>
        <p:nvSpPr>
          <p:cNvPr id="4" name="Date Placeholder 3">
            <a:extLst>
              <a:ext uri="{FF2B5EF4-FFF2-40B4-BE49-F238E27FC236}">
                <a16:creationId xmlns:a16="http://schemas.microsoft.com/office/drawing/2014/main" id="{C9B1F144-7C78-3754-E529-4946EBCCDE7B}"/>
              </a:ext>
            </a:extLst>
          </p:cNvPr>
          <p:cNvSpPr>
            <a:spLocks noGrp="1"/>
          </p:cNvSpPr>
          <p:nvPr>
            <p:ph type="dt" sz="quarter" idx="10"/>
          </p:nvPr>
        </p:nvSpPr>
        <p:spPr>
          <a:xfrm>
            <a:off x="838200" y="6356350"/>
            <a:ext cx="2743200" cy="365125"/>
          </a:xfrm>
        </p:spPr>
        <p:txBody>
          <a:bodyPr>
            <a:normAutofit/>
          </a:bodyPr>
          <a:lstStyle/>
          <a:p>
            <a:pPr>
              <a:spcAft>
                <a:spcPts val="600"/>
              </a:spcAft>
              <a:defRPr/>
            </a:pPr>
            <a:fld id="{E082BE69-E080-4EF6-ACF3-DF87568ED4EB}" type="datetime1">
              <a:rPr lang="en-US" smtClean="0"/>
              <a:pPr>
                <a:spcAft>
                  <a:spcPts val="600"/>
                </a:spcAft>
                <a:defRPr/>
              </a:pPr>
              <a:t>4/5/2025</a:t>
            </a:fld>
            <a:endParaRPr lang="en-US"/>
          </a:p>
        </p:txBody>
      </p:sp>
      <p:sp>
        <p:nvSpPr>
          <p:cNvPr id="2" name="Footer Placeholder 1">
            <a:extLst>
              <a:ext uri="{FF2B5EF4-FFF2-40B4-BE49-F238E27FC236}">
                <a16:creationId xmlns:a16="http://schemas.microsoft.com/office/drawing/2014/main" id="{399C4096-6CA7-64F8-EFE2-F64A9E67A044}"/>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t>prepared by Eyayalem Melese</a:t>
            </a:r>
          </a:p>
        </p:txBody>
      </p:sp>
      <p:sp>
        <p:nvSpPr>
          <p:cNvPr id="32773" name="Slide Number Placeholder 4">
            <a:extLst>
              <a:ext uri="{FF2B5EF4-FFF2-40B4-BE49-F238E27FC236}">
                <a16:creationId xmlns:a16="http://schemas.microsoft.com/office/drawing/2014/main" id="{F68E0B31-1230-BC33-72A3-0289238D594A}"/>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C620F624-AC8C-4564-A7F4-3462A8007C51}" type="slidenum">
              <a:rPr lang="en-US" altLang="en-US" sz="1800" smtClean="0">
                <a:latin typeface="Arial" panose="020B0604020202020204" pitchFamily="34" charset="0"/>
              </a:rPr>
              <a:pPr>
                <a:lnSpc>
                  <a:spcPct val="90000"/>
                </a:lnSpc>
                <a:spcBef>
                  <a:spcPct val="0"/>
                </a:spcBef>
                <a:spcAft>
                  <a:spcPts val="600"/>
                </a:spcAft>
                <a:buFontTx/>
                <a:buNone/>
              </a:pPr>
              <a:t>25</a:t>
            </a:fld>
            <a:endParaRPr lang="en-US" altLang="en-US" sz="180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a16="http://schemas.microsoft.com/office/drawing/2014/main" id="{AB76D747-1A1E-08AC-80F4-CB1639559C5E}"/>
              </a:ext>
            </a:extLst>
          </p:cNvPr>
          <p:cNvSpPr>
            <a:spLocks noGrp="1"/>
          </p:cNvSpPr>
          <p:nvPr>
            <p:ph idx="1"/>
          </p:nvPr>
        </p:nvSpPr>
        <p:spPr>
          <a:xfrm>
            <a:off x="1981200" y="1219200"/>
            <a:ext cx="8229600" cy="4906963"/>
          </a:xfrm>
        </p:spPr>
        <p:txBody>
          <a:bodyPr/>
          <a:lstStyle/>
          <a:p>
            <a:r>
              <a:rPr lang="en-US" altLang="en-US" dirty="0"/>
              <a:t>Mortality and morbidity are significantly increased if postoperative FEV 1  is less than 40% of normative FEV 1 , and patients with predicted postoperative FEV 1  of less than 30% may need postoperative mechanical ventilatory support</a:t>
            </a:r>
          </a:p>
        </p:txBody>
      </p:sp>
      <p:sp>
        <p:nvSpPr>
          <p:cNvPr id="4" name="Date Placeholder 3">
            <a:extLst>
              <a:ext uri="{FF2B5EF4-FFF2-40B4-BE49-F238E27FC236}">
                <a16:creationId xmlns:a16="http://schemas.microsoft.com/office/drawing/2014/main" id="{3ACA0EE5-BB7C-64F2-6AB1-ECFAACCE2FEA}"/>
              </a:ext>
            </a:extLst>
          </p:cNvPr>
          <p:cNvSpPr>
            <a:spLocks noGrp="1"/>
          </p:cNvSpPr>
          <p:nvPr>
            <p:ph type="dt" sz="quarter" idx="10"/>
          </p:nvPr>
        </p:nvSpPr>
        <p:spPr/>
        <p:txBody>
          <a:bodyPr/>
          <a:lstStyle/>
          <a:p>
            <a:pPr>
              <a:defRPr/>
            </a:pPr>
            <a:fld id="{1F57F0E2-7BE4-46E1-B9B7-A9A9D840FDD4}" type="datetime1">
              <a:rPr lang="en-US" smtClean="0"/>
              <a:pPr>
                <a:defRPr/>
              </a:pPr>
              <a:t>4/5/2025</a:t>
            </a:fld>
            <a:endParaRPr lang="en-US"/>
          </a:p>
        </p:txBody>
      </p:sp>
      <p:sp>
        <p:nvSpPr>
          <p:cNvPr id="33796" name="Slide Number Placeholder 4">
            <a:extLst>
              <a:ext uri="{FF2B5EF4-FFF2-40B4-BE49-F238E27FC236}">
                <a16:creationId xmlns:a16="http://schemas.microsoft.com/office/drawing/2014/main" id="{0C8C611A-6BF6-272A-D8DF-EF38B3ED77C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637D905-4F4C-4B92-85C1-3CABB73D7FED}" type="slidenum">
              <a:rPr lang="en-US" altLang="en-US" sz="1200" smtClean="0">
                <a:solidFill>
                  <a:srgbClr val="898989"/>
                </a:solidFill>
                <a:latin typeface="Arial" panose="020B0604020202020204" pitchFamily="34" charset="0"/>
              </a:rPr>
              <a:pPr>
                <a:spcBef>
                  <a:spcPct val="0"/>
                </a:spcBef>
                <a:buFontTx/>
                <a:buNone/>
              </a:pPr>
              <a:t>26</a:t>
            </a:fld>
            <a:endParaRPr lang="en-US" altLang="en-US" sz="1200">
              <a:solidFill>
                <a:srgbClr val="898989"/>
              </a:solidFill>
              <a:latin typeface="Arial" panose="020B0604020202020204" pitchFamily="34" charset="0"/>
            </a:endParaRPr>
          </a:p>
        </p:txBody>
      </p:sp>
      <p:sp>
        <p:nvSpPr>
          <p:cNvPr id="33797" name="Rectangle 2">
            <a:extLst>
              <a:ext uri="{FF2B5EF4-FFF2-40B4-BE49-F238E27FC236}">
                <a16:creationId xmlns:a16="http://schemas.microsoft.com/office/drawing/2014/main" id="{D035B4A6-2F60-5371-B70C-8E9205C0F8D3}"/>
              </a:ext>
            </a:extLst>
          </p:cNvPr>
          <p:cNvSpPr>
            <a:spLocks noChangeArrowheads="1"/>
          </p:cNvSpPr>
          <p:nvPr/>
        </p:nvSpPr>
        <p:spPr bwMode="auto">
          <a:xfrm>
            <a:off x="1524000" y="444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pic>
        <p:nvPicPr>
          <p:cNvPr id="33798" name="Picture 3" descr="http://tele.med.ru/book/cardiac_anesthesia/media/he/he025eqn02.gif">
            <a:extLst>
              <a:ext uri="{FF2B5EF4-FFF2-40B4-BE49-F238E27FC236}">
                <a16:creationId xmlns:a16="http://schemas.microsoft.com/office/drawing/2014/main" id="{8DC309B5-AA39-837F-0398-8E8F49C8D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4419600"/>
            <a:ext cx="64770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9" name="Rectangle 3">
            <a:extLst>
              <a:ext uri="{FF2B5EF4-FFF2-40B4-BE49-F238E27FC236}">
                <a16:creationId xmlns:a16="http://schemas.microsoft.com/office/drawing/2014/main" id="{003D658A-58FB-B7FD-E74A-C11CAFAB2E99}"/>
              </a:ext>
            </a:extLst>
          </p:cNvPr>
          <p:cNvSpPr>
            <a:spLocks noChangeArrowheads="1"/>
          </p:cNvSpPr>
          <p:nvPr/>
        </p:nvSpPr>
        <p:spPr bwMode="auto">
          <a:xfrm>
            <a:off x="3352800" y="1054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sp>
        <p:nvSpPr>
          <p:cNvPr id="33800" name="Title 1">
            <a:extLst>
              <a:ext uri="{FF2B5EF4-FFF2-40B4-BE49-F238E27FC236}">
                <a16:creationId xmlns:a16="http://schemas.microsoft.com/office/drawing/2014/main" id="{65E75E00-6599-6345-D5CE-A5C99ECE440A}"/>
              </a:ext>
            </a:extLst>
          </p:cNvPr>
          <p:cNvSpPr>
            <a:spLocks noGrp="1"/>
          </p:cNvSpPr>
          <p:nvPr>
            <p:ph type="title"/>
          </p:nvPr>
        </p:nvSpPr>
        <p:spPr/>
        <p:txBody>
          <a:bodyPr/>
          <a:lstStyle/>
          <a:p>
            <a:pPr algn="l"/>
            <a:r>
              <a:rPr lang="en-US" altLang="en-US" b="1"/>
              <a:t>Risk stratification</a:t>
            </a:r>
            <a:endParaRPr lang="en-US" altLang="en-US"/>
          </a:p>
        </p:txBody>
      </p:sp>
      <p:sp>
        <p:nvSpPr>
          <p:cNvPr id="2" name="Footer Placeholder 1">
            <a:extLst>
              <a:ext uri="{FF2B5EF4-FFF2-40B4-BE49-F238E27FC236}">
                <a16:creationId xmlns:a16="http://schemas.microsoft.com/office/drawing/2014/main" id="{E4A06B20-7B05-F795-CB2E-8667858257A5}"/>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D64CEE10-7893-42E9-5740-F9A39CF40B96}"/>
              </a:ext>
            </a:extLst>
          </p:cNvPr>
          <p:cNvSpPr>
            <a:spLocks noGrp="1"/>
          </p:cNvSpPr>
          <p:nvPr>
            <p:ph type="title"/>
          </p:nvPr>
        </p:nvSpPr>
        <p:spPr/>
        <p:txBody>
          <a:bodyPr/>
          <a:lstStyle/>
          <a:p>
            <a:endParaRPr lang="en-US" altLang="en-US"/>
          </a:p>
        </p:txBody>
      </p:sp>
      <p:sp>
        <p:nvSpPr>
          <p:cNvPr id="34819" name="Content Placeholder 2">
            <a:extLst>
              <a:ext uri="{FF2B5EF4-FFF2-40B4-BE49-F238E27FC236}">
                <a16:creationId xmlns:a16="http://schemas.microsoft.com/office/drawing/2014/main" id="{DDB7A379-191B-E58C-0CB0-094DF7137618}"/>
              </a:ext>
            </a:extLst>
          </p:cNvPr>
          <p:cNvSpPr>
            <a:spLocks noGrp="1"/>
          </p:cNvSpPr>
          <p:nvPr>
            <p:ph idx="1"/>
          </p:nvPr>
        </p:nvSpPr>
        <p:spPr/>
        <p:txBody>
          <a:bodyPr/>
          <a:lstStyle/>
          <a:p>
            <a:r>
              <a:rPr lang="en-US" altLang="en-US"/>
              <a:t>A 57 -year- old man is booked for Lung rescetion.His CT  chest shows a large RUL mass confirmed as carcinoma. Preoperative FEV1 was 50,Calculate the predicted Post operative FEV-1. Is this patient Fit for thoracic Anesthesia?</a:t>
            </a:r>
          </a:p>
        </p:txBody>
      </p:sp>
      <p:sp>
        <p:nvSpPr>
          <p:cNvPr id="4" name="Date Placeholder 3">
            <a:extLst>
              <a:ext uri="{FF2B5EF4-FFF2-40B4-BE49-F238E27FC236}">
                <a16:creationId xmlns:a16="http://schemas.microsoft.com/office/drawing/2014/main" id="{0C6E0CD5-8EA4-D7FE-6203-D5D5CC5AE18C}"/>
              </a:ext>
            </a:extLst>
          </p:cNvPr>
          <p:cNvSpPr>
            <a:spLocks noGrp="1"/>
          </p:cNvSpPr>
          <p:nvPr>
            <p:ph type="dt" sz="quarter" idx="10"/>
          </p:nvPr>
        </p:nvSpPr>
        <p:spPr/>
        <p:txBody>
          <a:bodyPr/>
          <a:lstStyle/>
          <a:p>
            <a:pPr>
              <a:defRPr/>
            </a:pPr>
            <a:fld id="{749352AB-5CD5-4432-A4A0-C7592AFFA35C}" type="datetime1">
              <a:rPr lang="en-US"/>
              <a:pPr>
                <a:defRPr/>
              </a:pPr>
              <a:t>4/5/2025</a:t>
            </a:fld>
            <a:endParaRPr lang="en-US"/>
          </a:p>
        </p:txBody>
      </p:sp>
      <p:sp>
        <p:nvSpPr>
          <p:cNvPr id="34821" name="Slide Number Placeholder 4">
            <a:extLst>
              <a:ext uri="{FF2B5EF4-FFF2-40B4-BE49-F238E27FC236}">
                <a16:creationId xmlns:a16="http://schemas.microsoft.com/office/drawing/2014/main" id="{03002971-5A28-64E0-C1BB-FDEFFA18273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5CE8D35-5D0B-4758-9B84-3274FDADC822}" type="slidenum">
              <a:rPr lang="en-US" altLang="en-US" sz="1200" smtClean="0">
                <a:solidFill>
                  <a:srgbClr val="898989"/>
                </a:solidFill>
                <a:latin typeface="Arial" panose="020B0604020202020204" pitchFamily="34" charset="0"/>
              </a:rPr>
              <a:pPr>
                <a:spcBef>
                  <a:spcPct val="0"/>
                </a:spcBef>
                <a:buFontTx/>
                <a:buNone/>
              </a:pPr>
              <a:t>27</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A63B248-37C5-F53E-F4AC-894D73029A74}"/>
              </a:ext>
            </a:extLst>
          </p:cNvPr>
          <p:cNvSpPr>
            <a:spLocks noGrp="1"/>
          </p:cNvSpPr>
          <p:nvPr>
            <p:ph type="ftr" sz="quarter" idx="11"/>
          </p:nvPr>
        </p:nvSpPr>
        <p:spPr/>
        <p:txBody>
          <a:bodyPr/>
          <a:lstStyle/>
          <a:p>
            <a:pPr>
              <a:defRPr/>
            </a:pPr>
            <a:r>
              <a:rPr lang="en-US"/>
              <a:t>prepared by Eyayalem Melese</a:t>
            </a:r>
          </a:p>
        </p:txBody>
      </p:sp>
      <p:pic>
        <p:nvPicPr>
          <p:cNvPr id="3" name="Picture 2">
            <a:extLst>
              <a:ext uri="{FF2B5EF4-FFF2-40B4-BE49-F238E27FC236}">
                <a16:creationId xmlns:a16="http://schemas.microsoft.com/office/drawing/2014/main" id="{34985242-6DA2-A255-1799-5E553680F192}"/>
              </a:ext>
            </a:extLst>
          </p:cNvPr>
          <p:cNvPicPr>
            <a:picLocks noChangeAspect="1"/>
          </p:cNvPicPr>
          <p:nvPr/>
        </p:nvPicPr>
        <p:blipFill>
          <a:blip r:embed="rId2"/>
          <a:stretch>
            <a:fillRect/>
          </a:stretch>
        </p:blipFill>
        <p:spPr>
          <a:xfrm>
            <a:off x="2514600" y="3886200"/>
            <a:ext cx="6096528" cy="24701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414BF394-BB47-8E63-1D17-6D0E0D688FEE}"/>
              </a:ext>
            </a:extLst>
          </p:cNvPr>
          <p:cNvSpPr>
            <a:spLocks noGrp="1"/>
          </p:cNvSpPr>
          <p:nvPr>
            <p:ph type="title"/>
          </p:nvPr>
        </p:nvSpPr>
        <p:spPr/>
        <p:txBody>
          <a:bodyPr/>
          <a:lstStyle/>
          <a:p>
            <a:pPr algn="l"/>
            <a:r>
              <a:rPr lang="en-US" altLang="en-US" b="1"/>
              <a:t>Risk stratification</a:t>
            </a:r>
            <a:endParaRPr lang="en-US" altLang="en-US"/>
          </a:p>
        </p:txBody>
      </p:sp>
      <p:sp>
        <p:nvSpPr>
          <p:cNvPr id="35843" name="Content Placeholder 2">
            <a:extLst>
              <a:ext uri="{FF2B5EF4-FFF2-40B4-BE49-F238E27FC236}">
                <a16:creationId xmlns:a16="http://schemas.microsoft.com/office/drawing/2014/main" id="{89AE5193-B170-AFCC-4CB1-82B09A1D2861}"/>
              </a:ext>
            </a:extLst>
          </p:cNvPr>
          <p:cNvSpPr>
            <a:spLocks noGrp="1"/>
          </p:cNvSpPr>
          <p:nvPr>
            <p:ph idx="1"/>
          </p:nvPr>
        </p:nvSpPr>
        <p:spPr>
          <a:xfrm>
            <a:off x="1752600" y="1600200"/>
            <a:ext cx="8458200" cy="4525963"/>
          </a:xfrm>
        </p:spPr>
        <p:txBody>
          <a:bodyPr/>
          <a:lstStyle/>
          <a:p>
            <a:pPr>
              <a:buFont typeface="Arial" panose="020B0604020202020204" pitchFamily="34" charset="0"/>
              <a:buNone/>
            </a:pPr>
            <a:r>
              <a:rPr lang="en-US" altLang="en-US" b="1"/>
              <a:t>2. Pulmonary parenchymal.</a:t>
            </a:r>
            <a:r>
              <a:rPr lang="en-US" altLang="en-US"/>
              <a:t> </a:t>
            </a:r>
          </a:p>
          <a:p>
            <a:pPr>
              <a:buFont typeface="Wingdings" panose="05000000000000000000" pitchFamily="2" charset="2"/>
              <a:buChar char="Ø"/>
            </a:pPr>
            <a:r>
              <a:rPr lang="en-US" altLang="en-US"/>
              <a:t>  The most useful test of the gas exchange capacity of the lung is the diffusing capacity for carbon monoxide (DLCO). </a:t>
            </a:r>
          </a:p>
          <a:p>
            <a:pPr>
              <a:buFont typeface="Wingdings" panose="05000000000000000000" pitchFamily="2" charset="2"/>
              <a:buChar char="Ø"/>
            </a:pPr>
            <a:r>
              <a:rPr lang="en-US" altLang="en-US"/>
              <a:t>DLCO correlates with the total functioning surface area of alveolar–capillary interface. A ppoDLCO less than 40% correlates with both increased respiratory and cardiac complications.</a:t>
            </a:r>
          </a:p>
        </p:txBody>
      </p:sp>
      <p:sp>
        <p:nvSpPr>
          <p:cNvPr id="4" name="Date Placeholder 3">
            <a:extLst>
              <a:ext uri="{FF2B5EF4-FFF2-40B4-BE49-F238E27FC236}">
                <a16:creationId xmlns:a16="http://schemas.microsoft.com/office/drawing/2014/main" id="{4938B918-6B78-468F-12A6-8089BC872CD8}"/>
              </a:ext>
            </a:extLst>
          </p:cNvPr>
          <p:cNvSpPr>
            <a:spLocks noGrp="1"/>
          </p:cNvSpPr>
          <p:nvPr>
            <p:ph type="dt" sz="quarter" idx="10"/>
          </p:nvPr>
        </p:nvSpPr>
        <p:spPr/>
        <p:txBody>
          <a:bodyPr/>
          <a:lstStyle/>
          <a:p>
            <a:pPr>
              <a:defRPr/>
            </a:pPr>
            <a:fld id="{CF8FEA6C-A411-4FA2-B019-43E3F69637C9}" type="datetime1">
              <a:rPr lang="en-US"/>
              <a:pPr>
                <a:defRPr/>
              </a:pPr>
              <a:t>4/5/2025</a:t>
            </a:fld>
            <a:endParaRPr lang="en-US"/>
          </a:p>
        </p:txBody>
      </p:sp>
      <p:sp>
        <p:nvSpPr>
          <p:cNvPr id="35845" name="Slide Number Placeholder 4">
            <a:extLst>
              <a:ext uri="{FF2B5EF4-FFF2-40B4-BE49-F238E27FC236}">
                <a16:creationId xmlns:a16="http://schemas.microsoft.com/office/drawing/2014/main" id="{73C9AC46-2A69-0573-D414-AD90259254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8B1ED40-3094-46FC-AC69-5D721117CAA2}" type="slidenum">
              <a:rPr lang="en-US" altLang="en-US" sz="1200" smtClean="0">
                <a:solidFill>
                  <a:srgbClr val="898989"/>
                </a:solidFill>
                <a:latin typeface="Arial" panose="020B0604020202020204" pitchFamily="34" charset="0"/>
              </a:rPr>
              <a:pPr>
                <a:spcBef>
                  <a:spcPct val="0"/>
                </a:spcBef>
                <a:buFontTx/>
                <a:buNone/>
              </a:pPr>
              <a:t>28</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D9B91B9D-481C-6AF9-F189-A6AE3C6C99E9}"/>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5" name="Rectangle 3687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6" name="Title 1">
            <a:extLst>
              <a:ext uri="{FF2B5EF4-FFF2-40B4-BE49-F238E27FC236}">
                <a16:creationId xmlns:a16="http://schemas.microsoft.com/office/drawing/2014/main" id="{5C4D391A-E6F3-BBB3-8BC9-10C0B1A2BE91}"/>
              </a:ext>
            </a:extLst>
          </p:cNvPr>
          <p:cNvSpPr>
            <a:spLocks noGrp="1"/>
          </p:cNvSpPr>
          <p:nvPr>
            <p:ph type="title"/>
          </p:nvPr>
        </p:nvSpPr>
        <p:spPr>
          <a:xfrm>
            <a:off x="638882" y="639193"/>
            <a:ext cx="3571810" cy="3573516"/>
          </a:xfrm>
        </p:spPr>
        <p:txBody>
          <a:bodyPr vert="horz" lIns="91440" tIns="45720" rIns="91440" bIns="45720" rtlCol="0" anchor="b">
            <a:normAutofit/>
          </a:bodyPr>
          <a:lstStyle/>
          <a:p>
            <a:pPr algn="l" eaLnBrk="1" hangingPunct="1">
              <a:lnSpc>
                <a:spcPct val="90000"/>
              </a:lnSpc>
            </a:pPr>
            <a:r>
              <a:rPr lang="en-US" altLang="en-US" sz="5600" b="1" kern="1200">
                <a:solidFill>
                  <a:schemeClr val="tx1"/>
                </a:solidFill>
                <a:latin typeface="+mj-lt"/>
                <a:ea typeface="+mj-ea"/>
                <a:cs typeface="+mj-cs"/>
              </a:rPr>
              <a:t>FACTORS AFFECTING DLCO</a:t>
            </a:r>
            <a:endParaRPr lang="en-US" altLang="en-US" sz="5600" kern="1200">
              <a:solidFill>
                <a:schemeClr val="tx1"/>
              </a:solidFill>
              <a:latin typeface="+mj-lt"/>
              <a:ea typeface="+mj-ea"/>
              <a:cs typeface="+mj-cs"/>
            </a:endParaRPr>
          </a:p>
        </p:txBody>
      </p:sp>
      <p:sp>
        <p:nvSpPr>
          <p:cNvPr id="3687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867" name="Content Placeholder 3">
            <a:extLst>
              <a:ext uri="{FF2B5EF4-FFF2-40B4-BE49-F238E27FC236}">
                <a16:creationId xmlns:a16="http://schemas.microsoft.com/office/drawing/2014/main" id="{CA6363E1-FF77-1733-D777-49DF2C6DA04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654296" y="1994906"/>
            <a:ext cx="7214616" cy="2840755"/>
          </a:xfrm>
          <a:prstGeom prst="rect">
            <a:avLst/>
          </a:prstGeom>
        </p:spPr>
      </p:pic>
      <p:sp>
        <p:nvSpPr>
          <p:cNvPr id="2" name="Date Placeholder 1">
            <a:extLst>
              <a:ext uri="{FF2B5EF4-FFF2-40B4-BE49-F238E27FC236}">
                <a16:creationId xmlns:a16="http://schemas.microsoft.com/office/drawing/2014/main" id="{030DA808-1A4B-DA41-D950-63E7E85784AB}"/>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C44D2874-9EFE-4578-AA31-E9A01D425BEC}" type="datetime1">
              <a:rPr lang="en-US">
                <a:latin typeface="+mn-lt"/>
                <a:cs typeface="+mn-cs"/>
              </a:rPr>
              <a:pPr>
                <a:spcAft>
                  <a:spcPts val="600"/>
                </a:spcAft>
                <a:defRPr/>
              </a:pPr>
              <a:t>4/5/2025</a:t>
            </a:fld>
            <a:endParaRPr lang="en-US">
              <a:latin typeface="+mn-lt"/>
              <a:cs typeface="+mn-cs"/>
            </a:endParaRPr>
          </a:p>
        </p:txBody>
      </p:sp>
      <p:sp>
        <p:nvSpPr>
          <p:cNvPr id="3" name="Footer Placeholder 2">
            <a:extLst>
              <a:ext uri="{FF2B5EF4-FFF2-40B4-BE49-F238E27FC236}">
                <a16:creationId xmlns:a16="http://schemas.microsoft.com/office/drawing/2014/main" id="{F57BB87D-AD27-7413-AC19-9BC49EC7D1FD}"/>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prepared by Eyayalem Melese</a:t>
            </a:r>
          </a:p>
        </p:txBody>
      </p:sp>
      <p:sp>
        <p:nvSpPr>
          <p:cNvPr id="36870" name="Slide Number Placeholder 3">
            <a:extLst>
              <a:ext uri="{FF2B5EF4-FFF2-40B4-BE49-F238E27FC236}">
                <a16:creationId xmlns:a16="http://schemas.microsoft.com/office/drawing/2014/main" id="{CE0329F3-B1CA-94D4-884B-E868B31BC6EE}"/>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680CE2E8-5326-4161-B50A-673B88107C35}" type="slidenum">
              <a:rPr lang="en-US" altLang="en-US" sz="1200" smtClean="0">
                <a:solidFill>
                  <a:schemeClr val="tx1">
                    <a:tint val="75000"/>
                  </a:schemeClr>
                </a:solidFill>
                <a:latin typeface="+mn-lt"/>
                <a:cs typeface="+mn-cs"/>
              </a:rPr>
              <a:pPr>
                <a:spcBef>
                  <a:spcPct val="0"/>
                </a:spcBef>
                <a:spcAft>
                  <a:spcPts val="600"/>
                </a:spcAft>
                <a:buFontTx/>
                <a:buNone/>
              </a:pPr>
              <a:t>29</a:t>
            </a:fld>
            <a:endParaRPr lang="en-US" altLang="en-US" sz="1200">
              <a:solidFill>
                <a:schemeClr val="tx1">
                  <a:tint val="75000"/>
                </a:schemeClr>
              </a:solidFill>
              <a:latin typeface="+mn-lt"/>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4A2C3B8E-1FFC-0630-09E4-4950995980DB}"/>
              </a:ext>
            </a:extLst>
          </p:cNvPr>
          <p:cNvSpPr>
            <a:spLocks noGrp="1"/>
          </p:cNvSpPr>
          <p:nvPr>
            <p:ph type="title"/>
          </p:nvPr>
        </p:nvSpPr>
        <p:spPr/>
        <p:txBody>
          <a:bodyPr/>
          <a:lstStyle/>
          <a:p>
            <a:r>
              <a:rPr lang="en-US" altLang="en-US" b="1"/>
              <a:t>Pulmonary parenchymal</a:t>
            </a:r>
            <a:endParaRPr lang="en-US" altLang="en-US"/>
          </a:p>
        </p:txBody>
      </p:sp>
      <p:sp>
        <p:nvSpPr>
          <p:cNvPr id="4" name="Date Placeholder 3">
            <a:extLst>
              <a:ext uri="{FF2B5EF4-FFF2-40B4-BE49-F238E27FC236}">
                <a16:creationId xmlns:a16="http://schemas.microsoft.com/office/drawing/2014/main" id="{BC7ECF68-44DF-6647-6FAB-3BC0CC85600E}"/>
              </a:ext>
            </a:extLst>
          </p:cNvPr>
          <p:cNvSpPr>
            <a:spLocks noGrp="1"/>
          </p:cNvSpPr>
          <p:nvPr>
            <p:ph type="dt" sz="quarter" idx="10"/>
          </p:nvPr>
        </p:nvSpPr>
        <p:spPr/>
        <p:txBody>
          <a:bodyPr/>
          <a:lstStyle/>
          <a:p>
            <a:pPr>
              <a:defRPr/>
            </a:pPr>
            <a:fld id="{D1D891D8-ACA9-4A99-8516-B8FF94D82FF5}" type="datetime1">
              <a:rPr lang="en-US"/>
              <a:pPr>
                <a:defRPr/>
              </a:pPr>
              <a:t>4/5/2025</a:t>
            </a:fld>
            <a:endParaRPr lang="en-US"/>
          </a:p>
        </p:txBody>
      </p:sp>
      <p:sp>
        <p:nvSpPr>
          <p:cNvPr id="38916" name="Slide Number Placeholder 4">
            <a:extLst>
              <a:ext uri="{FF2B5EF4-FFF2-40B4-BE49-F238E27FC236}">
                <a16:creationId xmlns:a16="http://schemas.microsoft.com/office/drawing/2014/main" id="{F5E15CB1-6CD1-2199-4EEB-ECEBDD21415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1946F71-9752-489F-8F4A-6477360FC35A}" type="slidenum">
              <a:rPr lang="en-US" altLang="en-US" sz="1200" smtClean="0">
                <a:solidFill>
                  <a:srgbClr val="898989"/>
                </a:solidFill>
                <a:latin typeface="Arial" panose="020B0604020202020204" pitchFamily="34" charset="0"/>
              </a:rPr>
              <a:pPr>
                <a:spcBef>
                  <a:spcPct val="0"/>
                </a:spcBef>
                <a:buFontTx/>
                <a:buNone/>
              </a:pPr>
              <a:t>30</a:t>
            </a:fld>
            <a:endParaRPr lang="en-US" altLang="en-US" sz="1200">
              <a:solidFill>
                <a:srgbClr val="898989"/>
              </a:solidFill>
              <a:latin typeface="Arial" panose="020B0604020202020204" pitchFamily="34" charset="0"/>
            </a:endParaRPr>
          </a:p>
        </p:txBody>
      </p:sp>
      <p:pic>
        <p:nvPicPr>
          <p:cNvPr id="38917" name="Picture 2">
            <a:extLst>
              <a:ext uri="{FF2B5EF4-FFF2-40B4-BE49-F238E27FC236}">
                <a16:creationId xmlns:a16="http://schemas.microsoft.com/office/drawing/2014/main" id="{07B7C927-65FA-1512-8410-8A1F3D14AF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295400"/>
            <a:ext cx="8686800" cy="4114800"/>
          </a:xfrm>
          <a:noFill/>
        </p:spPr>
      </p:pic>
      <p:sp>
        <p:nvSpPr>
          <p:cNvPr id="2" name="Footer Placeholder 1">
            <a:extLst>
              <a:ext uri="{FF2B5EF4-FFF2-40B4-BE49-F238E27FC236}">
                <a16:creationId xmlns:a16="http://schemas.microsoft.com/office/drawing/2014/main" id="{7CF4F3A4-DC87-8689-59E4-EC5C488682A9}"/>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FDF3A402-29C7-69B4-2FC4-BD5A90EC9553}"/>
              </a:ext>
            </a:extLst>
          </p:cNvPr>
          <p:cNvSpPr>
            <a:spLocks noGrp="1"/>
          </p:cNvSpPr>
          <p:nvPr>
            <p:ph type="title"/>
          </p:nvPr>
        </p:nvSpPr>
        <p:spPr/>
        <p:txBody>
          <a:bodyPr/>
          <a:lstStyle/>
          <a:p>
            <a:pPr algn="l"/>
            <a:r>
              <a:rPr lang="en-US" altLang="en-US" b="1"/>
              <a:t>Risk stratification</a:t>
            </a:r>
            <a:endParaRPr lang="en-US" altLang="en-US"/>
          </a:p>
        </p:txBody>
      </p:sp>
      <p:sp>
        <p:nvSpPr>
          <p:cNvPr id="39939" name="Content Placeholder 2">
            <a:extLst>
              <a:ext uri="{FF2B5EF4-FFF2-40B4-BE49-F238E27FC236}">
                <a16:creationId xmlns:a16="http://schemas.microsoft.com/office/drawing/2014/main" id="{A8F62965-3A3B-2187-793B-D104572F2EC8}"/>
              </a:ext>
            </a:extLst>
          </p:cNvPr>
          <p:cNvSpPr>
            <a:spLocks noGrp="1"/>
          </p:cNvSpPr>
          <p:nvPr>
            <p:ph idx="1"/>
          </p:nvPr>
        </p:nvSpPr>
        <p:spPr>
          <a:xfrm>
            <a:off x="1981200" y="1295400"/>
            <a:ext cx="8229600" cy="4830763"/>
          </a:xfrm>
        </p:spPr>
        <p:txBody>
          <a:bodyPr/>
          <a:lstStyle/>
          <a:p>
            <a:pPr marL="457200" lvl="3" indent="-457200">
              <a:buFont typeface="Arial" panose="020B0604020202020204" pitchFamily="34" charset="0"/>
              <a:buAutoNum type="arabicPeriod" startAt="3"/>
            </a:pPr>
            <a:r>
              <a:rPr lang="en-US" altLang="en-US" sz="2800" b="1"/>
              <a:t>Cardiopulmonary interaction</a:t>
            </a:r>
            <a:r>
              <a:rPr lang="en-US" altLang="en-US" b="1"/>
              <a:t>.</a:t>
            </a:r>
            <a:r>
              <a:rPr lang="en-US" altLang="en-US"/>
              <a:t> </a:t>
            </a:r>
          </a:p>
          <a:p>
            <a:pPr marL="457200" lvl="3" indent="-457200">
              <a:buFont typeface="Wingdings" panose="05000000000000000000" pitchFamily="2" charset="2"/>
              <a:buChar char="Ø"/>
            </a:pPr>
            <a:r>
              <a:rPr lang="en-US" altLang="en-US" sz="2800"/>
              <a:t>The traditional, and still extremely useful, test in ambulatory patients is stair climbing. The ability to climb three flights or more is closely associated with decreased mortality. </a:t>
            </a:r>
          </a:p>
          <a:p>
            <a:pPr marL="457200" lvl="3" indent="-457200">
              <a:buFont typeface="Arial" panose="020B0604020202020204" pitchFamily="34" charset="0"/>
              <a:buNone/>
            </a:pPr>
            <a:endParaRPr lang="en-US" altLang="en-US" sz="2800"/>
          </a:p>
          <a:p>
            <a:pPr marL="457200" lvl="3" indent="-457200">
              <a:buFont typeface="Wingdings" panose="05000000000000000000" pitchFamily="2" charset="2"/>
              <a:buChar char="Ø"/>
            </a:pPr>
            <a:r>
              <a:rPr lang="en-US" altLang="en-US" sz="2800"/>
              <a:t>Less than two flights is very high risk. Formal laboratory exercise testing is currently the "gold standard" for assessment of cardiopulmonary function. </a:t>
            </a:r>
          </a:p>
          <a:p>
            <a:pPr>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F9CEA441-5AA2-B3D3-FE43-44E7A3F7A967}"/>
              </a:ext>
            </a:extLst>
          </p:cNvPr>
          <p:cNvSpPr>
            <a:spLocks noGrp="1"/>
          </p:cNvSpPr>
          <p:nvPr>
            <p:ph type="dt" sz="quarter" idx="10"/>
          </p:nvPr>
        </p:nvSpPr>
        <p:spPr/>
        <p:txBody>
          <a:bodyPr/>
          <a:lstStyle/>
          <a:p>
            <a:pPr>
              <a:defRPr/>
            </a:pPr>
            <a:fld id="{1D869255-4B5F-477B-BA8B-3798BF1838DD}" type="datetime1">
              <a:rPr lang="en-US"/>
              <a:pPr>
                <a:defRPr/>
              </a:pPr>
              <a:t>4/5/2025</a:t>
            </a:fld>
            <a:endParaRPr lang="en-US"/>
          </a:p>
        </p:txBody>
      </p:sp>
      <p:sp>
        <p:nvSpPr>
          <p:cNvPr id="39941" name="Slide Number Placeholder 4">
            <a:extLst>
              <a:ext uri="{FF2B5EF4-FFF2-40B4-BE49-F238E27FC236}">
                <a16:creationId xmlns:a16="http://schemas.microsoft.com/office/drawing/2014/main" id="{5DDB7FBD-4087-5C9E-E414-F834AA23B9E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1778F97-FF76-4468-81E1-BC73D5E06011}" type="slidenum">
              <a:rPr lang="en-US" altLang="en-US" sz="1200" smtClean="0">
                <a:solidFill>
                  <a:srgbClr val="898989"/>
                </a:solidFill>
                <a:latin typeface="Arial" panose="020B0604020202020204" pitchFamily="34" charset="0"/>
              </a:rPr>
              <a:pPr>
                <a:spcBef>
                  <a:spcPct val="0"/>
                </a:spcBef>
                <a:buFontTx/>
                <a:buNone/>
              </a:pPr>
              <a:t>31</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37A7EA1C-E12B-E778-88C3-330A8F3C1CB1}"/>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8E8BD64-8B95-AE42-E106-D252313DB225}"/>
              </a:ext>
            </a:extLst>
          </p:cNvPr>
          <p:cNvSpPr>
            <a:spLocks noGrp="1"/>
          </p:cNvSpPr>
          <p:nvPr>
            <p:ph type="dt" sz="quarter" idx="10"/>
          </p:nvPr>
        </p:nvSpPr>
        <p:spPr/>
        <p:txBody>
          <a:bodyPr/>
          <a:lstStyle/>
          <a:p>
            <a:pPr>
              <a:defRPr/>
            </a:pPr>
            <a:fld id="{3D701627-5AC1-4C36-86D3-E77C3BA3A7E1}" type="datetime1">
              <a:rPr lang="en-US"/>
              <a:pPr>
                <a:defRPr/>
              </a:pPr>
              <a:t>4/5/2025</a:t>
            </a:fld>
            <a:endParaRPr lang="en-US"/>
          </a:p>
        </p:txBody>
      </p:sp>
      <p:sp>
        <p:nvSpPr>
          <p:cNvPr id="40963" name="Slide Number Placeholder 4">
            <a:extLst>
              <a:ext uri="{FF2B5EF4-FFF2-40B4-BE49-F238E27FC236}">
                <a16:creationId xmlns:a16="http://schemas.microsoft.com/office/drawing/2014/main" id="{5F96638A-13E8-DCE7-FF9B-D7FE0014BB1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C39649F-6DC4-46CD-8338-A389CDC650CE}" type="slidenum">
              <a:rPr lang="en-US" altLang="en-US" sz="1200" smtClean="0">
                <a:solidFill>
                  <a:srgbClr val="898989"/>
                </a:solidFill>
                <a:latin typeface="Arial" panose="020B0604020202020204" pitchFamily="34" charset="0"/>
              </a:rPr>
              <a:pPr>
                <a:spcBef>
                  <a:spcPct val="0"/>
                </a:spcBef>
                <a:buFontTx/>
                <a:buNone/>
              </a:pPr>
              <a:t>32</a:t>
            </a:fld>
            <a:endParaRPr lang="en-US" altLang="en-US" sz="1200">
              <a:solidFill>
                <a:srgbClr val="898989"/>
              </a:solidFill>
              <a:latin typeface="Arial" panose="020B0604020202020204" pitchFamily="34" charset="0"/>
            </a:endParaRPr>
          </a:p>
        </p:txBody>
      </p:sp>
      <p:pic>
        <p:nvPicPr>
          <p:cNvPr id="40964" name="Picture 2">
            <a:extLst>
              <a:ext uri="{FF2B5EF4-FFF2-40B4-BE49-F238E27FC236}">
                <a16:creationId xmlns:a16="http://schemas.microsoft.com/office/drawing/2014/main" id="{DB0BC2DB-B2F6-F072-86D5-C07E2FDB0F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87325"/>
            <a:ext cx="9144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a:extLst>
              <a:ext uri="{FF2B5EF4-FFF2-40B4-BE49-F238E27FC236}">
                <a16:creationId xmlns:a16="http://schemas.microsoft.com/office/drawing/2014/main" id="{1DBABCD1-F6FB-BA95-0AB6-BAF336A90FF5}"/>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994" name="Rectangle 41993">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86" name="Title 1">
            <a:extLst>
              <a:ext uri="{FF2B5EF4-FFF2-40B4-BE49-F238E27FC236}">
                <a16:creationId xmlns:a16="http://schemas.microsoft.com/office/drawing/2014/main" id="{3B0B1F33-F4D6-48BD-67B5-A494ACC2E133}"/>
              </a:ext>
            </a:extLst>
          </p:cNvPr>
          <p:cNvSpPr>
            <a:spLocks noGrp="1"/>
          </p:cNvSpPr>
          <p:nvPr>
            <p:ph type="title"/>
          </p:nvPr>
        </p:nvSpPr>
        <p:spPr>
          <a:xfrm>
            <a:off x="841248" y="548640"/>
            <a:ext cx="3600860" cy="5431536"/>
          </a:xfrm>
        </p:spPr>
        <p:txBody>
          <a:bodyPr>
            <a:normAutofit/>
          </a:bodyPr>
          <a:lstStyle/>
          <a:p>
            <a:r>
              <a:rPr lang="en-US" altLang="en-US" sz="5000" b="1"/>
              <a:t>Risk stratification</a:t>
            </a:r>
            <a:endParaRPr lang="en-US" altLang="en-US" sz="5000"/>
          </a:p>
        </p:txBody>
      </p:sp>
      <p:sp>
        <p:nvSpPr>
          <p:cNvPr id="41998"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87" name="Content Placeholder 2">
            <a:extLst>
              <a:ext uri="{FF2B5EF4-FFF2-40B4-BE49-F238E27FC236}">
                <a16:creationId xmlns:a16="http://schemas.microsoft.com/office/drawing/2014/main" id="{72BEB138-88A7-4246-8FFE-2CCD154025F2}"/>
              </a:ext>
            </a:extLst>
          </p:cNvPr>
          <p:cNvSpPr>
            <a:spLocks noGrp="1"/>
          </p:cNvSpPr>
          <p:nvPr>
            <p:ph idx="1"/>
          </p:nvPr>
        </p:nvSpPr>
        <p:spPr>
          <a:xfrm>
            <a:off x="5126418" y="552091"/>
            <a:ext cx="6224335" cy="5431536"/>
          </a:xfrm>
        </p:spPr>
        <p:txBody>
          <a:bodyPr anchor="ctr">
            <a:normAutofit/>
          </a:bodyPr>
          <a:lstStyle/>
          <a:p>
            <a:pPr marL="342900" lvl="3" indent="-342900">
              <a:buFont typeface="Wingdings" panose="05000000000000000000" pitchFamily="2" charset="2"/>
              <a:buChar char="Ø"/>
            </a:pPr>
            <a:r>
              <a:rPr lang="en-US" altLang="en-US" sz="2200" b="1"/>
              <a:t>The maximal oxygen consumption Vo</a:t>
            </a:r>
            <a:r>
              <a:rPr lang="en-US" altLang="en-US" sz="2200" b="1" baseline="-25000"/>
              <a:t>2</a:t>
            </a:r>
            <a:r>
              <a:rPr lang="en-US" altLang="en-US" sz="2200" b="1"/>
              <a:t>max is the most valid exercise predictor of post thoracotomy outcome. </a:t>
            </a:r>
          </a:p>
          <a:p>
            <a:pPr marL="342900" lvl="3" indent="-342900">
              <a:buFont typeface="Wingdings" panose="05000000000000000000" pitchFamily="2" charset="2"/>
              <a:buChar char="Ø"/>
            </a:pPr>
            <a:r>
              <a:rPr lang="en-US" altLang="en-US" sz="2200" b="1"/>
              <a:t> Low risk = Vo</a:t>
            </a:r>
            <a:r>
              <a:rPr lang="en-US" altLang="en-US" sz="2200" b="1" baseline="-25000"/>
              <a:t>2</a:t>
            </a:r>
            <a:r>
              <a:rPr lang="en-US" altLang="en-US" sz="2200" b="1"/>
              <a:t>max &gt; 20 mL/kg/min </a:t>
            </a:r>
          </a:p>
          <a:p>
            <a:pPr marL="342900" lvl="3" indent="-342900">
              <a:buFont typeface="Wingdings" panose="05000000000000000000" pitchFamily="2" charset="2"/>
              <a:buChar char="Ø"/>
            </a:pPr>
            <a:r>
              <a:rPr lang="en-US" altLang="en-US" sz="2200" b="1"/>
              <a:t>Moderate risk = Vo</a:t>
            </a:r>
            <a:r>
              <a:rPr lang="en-US" altLang="en-US" sz="2200" b="1" baseline="-25000"/>
              <a:t>2</a:t>
            </a:r>
            <a:r>
              <a:rPr lang="en-US" altLang="en-US" sz="2200" b="1"/>
              <a:t>max 15 to 20 mL/kg/min </a:t>
            </a:r>
          </a:p>
          <a:p>
            <a:pPr marL="342900" lvl="3" indent="-342900">
              <a:buFont typeface="Wingdings" panose="05000000000000000000" pitchFamily="2" charset="2"/>
              <a:buChar char="Ø"/>
            </a:pPr>
            <a:r>
              <a:rPr lang="en-US" altLang="en-US" sz="2200" b="1"/>
              <a:t> High risk = Vo</a:t>
            </a:r>
            <a:r>
              <a:rPr lang="en-US" altLang="en-US" sz="2200" b="1" baseline="-25000"/>
              <a:t>2</a:t>
            </a:r>
            <a:r>
              <a:rPr lang="en-US" altLang="en-US" sz="2200" b="1"/>
              <a:t>max &lt; 15 mL/kg/min</a:t>
            </a:r>
          </a:p>
          <a:p>
            <a:pPr marL="342900" lvl="3" indent="-342900">
              <a:buFont typeface="Arial" panose="020B0604020202020204" pitchFamily="34" charset="0"/>
              <a:buNone/>
            </a:pPr>
            <a:r>
              <a:rPr lang="en-US" altLang="en-US" sz="2200" b="1"/>
              <a:t> </a:t>
            </a:r>
          </a:p>
          <a:p>
            <a:pPr marL="342900" lvl="3" indent="-342900">
              <a:buFont typeface="Arial" panose="020B0604020202020204" pitchFamily="34" charset="0"/>
              <a:buNone/>
            </a:pPr>
            <a:r>
              <a:rPr lang="en-US" altLang="en-US" sz="2200" b="1"/>
              <a:t>The 6-minute walk test and exercise oximetry also correlate </a:t>
            </a:r>
          </a:p>
          <a:p>
            <a:pPr marL="342900" lvl="3" indent="-342900">
              <a:buFont typeface="Arial" panose="020B0604020202020204" pitchFamily="34" charset="0"/>
              <a:buNone/>
            </a:pPr>
            <a:r>
              <a:rPr lang="en-US" altLang="en-US" sz="2200" b="1"/>
              <a:t>with Vo</a:t>
            </a:r>
            <a:r>
              <a:rPr lang="en-US" altLang="en-US" sz="2200" b="1" baseline="-25000"/>
              <a:t>2</a:t>
            </a:r>
            <a:r>
              <a:rPr lang="en-US" altLang="en-US" sz="2200" b="1"/>
              <a:t>max. </a:t>
            </a:r>
          </a:p>
          <a:p>
            <a:pPr marL="342900" lvl="3" indent="-342900">
              <a:buFont typeface="Arial" panose="020B0604020202020204" pitchFamily="34" charset="0"/>
              <a:buNone/>
            </a:pPr>
            <a:r>
              <a:rPr lang="en-US" altLang="en-US" sz="2200" b="1"/>
              <a:t>Vo</a:t>
            </a:r>
            <a:r>
              <a:rPr lang="en-US" altLang="en-US" sz="2200" b="1" baseline="-25000"/>
              <a:t>2</a:t>
            </a:r>
            <a:r>
              <a:rPr lang="en-US" altLang="en-US" sz="2200" b="1"/>
              <a:t>max =</a:t>
            </a:r>
            <a:r>
              <a:rPr lang="en-US" altLang="en-US" sz="2200"/>
              <a:t>15 x HR maximum /Resting HR  </a:t>
            </a:r>
          </a:p>
          <a:p>
            <a:pPr marL="342900" lvl="3" indent="-342900">
              <a:buFont typeface="Arial" panose="020B0604020202020204" pitchFamily="34" charset="0"/>
              <a:buNone/>
            </a:pPr>
            <a:r>
              <a:rPr lang="en-US" altLang="en-US" sz="2200"/>
              <a:t> </a:t>
            </a:r>
            <a:r>
              <a:rPr lang="en-US" altLang="en-US" sz="2200" b="1"/>
              <a:t>Vo</a:t>
            </a:r>
            <a:r>
              <a:rPr lang="en-US" altLang="en-US" sz="2200" b="1" baseline="-25000"/>
              <a:t>2</a:t>
            </a:r>
            <a:r>
              <a:rPr lang="en-US" altLang="en-US" sz="2200" b="1"/>
              <a:t>max =</a:t>
            </a:r>
            <a:r>
              <a:rPr lang="en-US" altLang="en-US" sz="2200"/>
              <a:t>  6-minute walk test distance in meters / 30                          </a:t>
            </a:r>
          </a:p>
          <a:p>
            <a:pPr marL="342900" lvl="3" indent="-342900">
              <a:buFont typeface="Arial" panose="020B0604020202020204" pitchFamily="34" charset="0"/>
              <a:buNone/>
            </a:pPr>
            <a:endParaRPr lang="en-US" altLang="en-US" sz="2200" b="1"/>
          </a:p>
          <a:p>
            <a:endParaRPr lang="en-US" altLang="en-US" sz="2200"/>
          </a:p>
        </p:txBody>
      </p:sp>
      <p:sp>
        <p:nvSpPr>
          <p:cNvPr id="4" name="Date Placeholder 3">
            <a:extLst>
              <a:ext uri="{FF2B5EF4-FFF2-40B4-BE49-F238E27FC236}">
                <a16:creationId xmlns:a16="http://schemas.microsoft.com/office/drawing/2014/main" id="{B3CD48D3-9D3B-F91D-FF0C-C319FC38F4CE}"/>
              </a:ext>
            </a:extLst>
          </p:cNvPr>
          <p:cNvSpPr>
            <a:spLocks noGrp="1"/>
          </p:cNvSpPr>
          <p:nvPr>
            <p:ph type="dt" sz="quarter" idx="10"/>
          </p:nvPr>
        </p:nvSpPr>
        <p:spPr>
          <a:xfrm>
            <a:off x="838200" y="6356350"/>
            <a:ext cx="2743200" cy="365125"/>
          </a:xfrm>
        </p:spPr>
        <p:txBody>
          <a:bodyPr>
            <a:normAutofit/>
          </a:bodyPr>
          <a:lstStyle/>
          <a:p>
            <a:pPr>
              <a:spcAft>
                <a:spcPts val="600"/>
              </a:spcAft>
              <a:defRPr/>
            </a:pPr>
            <a:fld id="{4021D6A3-BF4A-4F0A-995C-3267E41E270D}" type="datetime1">
              <a:rPr lang="en-US" smtClean="0"/>
              <a:pPr>
                <a:spcAft>
                  <a:spcPts val="600"/>
                </a:spcAft>
                <a:defRPr/>
              </a:pPr>
              <a:t>4/5/2025</a:t>
            </a:fld>
            <a:endParaRPr lang="en-US"/>
          </a:p>
        </p:txBody>
      </p:sp>
      <p:sp>
        <p:nvSpPr>
          <p:cNvPr id="2" name="Footer Placeholder 1">
            <a:extLst>
              <a:ext uri="{FF2B5EF4-FFF2-40B4-BE49-F238E27FC236}">
                <a16:creationId xmlns:a16="http://schemas.microsoft.com/office/drawing/2014/main" id="{09C22B67-E51E-D119-AAD3-B19DB9AA7950}"/>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t>prepared by Eyayalem Melese</a:t>
            </a:r>
          </a:p>
        </p:txBody>
      </p:sp>
      <p:sp>
        <p:nvSpPr>
          <p:cNvPr id="41989" name="Slide Number Placeholder 4">
            <a:extLst>
              <a:ext uri="{FF2B5EF4-FFF2-40B4-BE49-F238E27FC236}">
                <a16:creationId xmlns:a16="http://schemas.microsoft.com/office/drawing/2014/main" id="{92779EFC-0E6B-C2E2-B106-A70D74646D57}"/>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82D43985-08C1-4992-A4F9-2947680B7CE6}" type="slidenum">
              <a:rPr lang="en-US" altLang="en-US" sz="1800" smtClean="0">
                <a:latin typeface="Arial" panose="020B0604020202020204" pitchFamily="34" charset="0"/>
              </a:rPr>
              <a:pPr>
                <a:lnSpc>
                  <a:spcPct val="90000"/>
                </a:lnSpc>
                <a:spcBef>
                  <a:spcPct val="0"/>
                </a:spcBef>
                <a:spcAft>
                  <a:spcPts val="600"/>
                </a:spcAft>
                <a:buFontTx/>
                <a:buNone/>
              </a:pPr>
              <a:t>33</a:t>
            </a:fld>
            <a:endParaRPr lang="en-US" altLang="en-US" sz="180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019" name="Rectangle 4301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10" name="Title 1">
            <a:extLst>
              <a:ext uri="{FF2B5EF4-FFF2-40B4-BE49-F238E27FC236}">
                <a16:creationId xmlns:a16="http://schemas.microsoft.com/office/drawing/2014/main" id="{73F78F51-5813-8627-ADC3-0E631BC7A80F}"/>
              </a:ext>
            </a:extLst>
          </p:cNvPr>
          <p:cNvSpPr>
            <a:spLocks noGrp="1"/>
          </p:cNvSpPr>
          <p:nvPr>
            <p:ph type="title"/>
          </p:nvPr>
        </p:nvSpPr>
        <p:spPr>
          <a:xfrm>
            <a:off x="645065" y="1097280"/>
            <a:ext cx="3796306" cy="4666207"/>
          </a:xfrm>
        </p:spPr>
        <p:txBody>
          <a:bodyPr anchor="ctr">
            <a:normAutofit/>
          </a:bodyPr>
          <a:lstStyle/>
          <a:p>
            <a:r>
              <a:rPr lang="en-US" altLang="en-US" sz="4800" b="1" dirty="0"/>
              <a:t>Combination of tests</a:t>
            </a:r>
            <a:endParaRPr lang="en-US" altLang="en-US" sz="4800" dirty="0"/>
          </a:p>
        </p:txBody>
      </p:sp>
      <p:grpSp>
        <p:nvGrpSpPr>
          <p:cNvPr id="43021" name="Group 4302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43022" name="Rectangle 4302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23" name="Rectangle 4302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025" name="Rectangle 4302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54032255-7E21-FB8E-C559-95FA2E2E3BBF}"/>
              </a:ext>
            </a:extLst>
          </p:cNvPr>
          <p:cNvSpPr>
            <a:spLocks noGrp="1"/>
          </p:cNvSpPr>
          <p:nvPr>
            <p:ph type="dt" sz="quarter" idx="10"/>
          </p:nvPr>
        </p:nvSpPr>
        <p:spPr>
          <a:xfrm>
            <a:off x="838200" y="6492240"/>
            <a:ext cx="2743200" cy="365125"/>
          </a:xfrm>
        </p:spPr>
        <p:txBody>
          <a:bodyPr>
            <a:normAutofit/>
          </a:bodyPr>
          <a:lstStyle/>
          <a:p>
            <a:pPr>
              <a:spcAft>
                <a:spcPts val="600"/>
              </a:spcAft>
              <a:defRPr/>
            </a:pPr>
            <a:fld id="{D187D797-5F2D-40C9-9E13-5F8445BC860F}" type="datetime1">
              <a:rPr lang="en-US"/>
              <a:pPr>
                <a:spcAft>
                  <a:spcPts val="600"/>
                </a:spcAft>
                <a:defRPr/>
              </a:pPr>
              <a:t>4/5/2025</a:t>
            </a:fld>
            <a:endParaRPr lang="en-US"/>
          </a:p>
        </p:txBody>
      </p:sp>
      <p:sp>
        <p:nvSpPr>
          <p:cNvPr id="2" name="Footer Placeholder 1">
            <a:extLst>
              <a:ext uri="{FF2B5EF4-FFF2-40B4-BE49-F238E27FC236}">
                <a16:creationId xmlns:a16="http://schemas.microsoft.com/office/drawing/2014/main" id="{0EAA35F4-E504-D5FA-4145-1DE9E0E56F1E}"/>
              </a:ext>
            </a:extLst>
          </p:cNvPr>
          <p:cNvSpPr>
            <a:spLocks noGrp="1"/>
          </p:cNvSpPr>
          <p:nvPr>
            <p:ph type="ftr" sz="quarter" idx="11"/>
          </p:nvPr>
        </p:nvSpPr>
        <p:spPr>
          <a:xfrm>
            <a:off x="4038600" y="6492240"/>
            <a:ext cx="4114800" cy="365125"/>
          </a:xfrm>
        </p:spPr>
        <p:txBody>
          <a:bodyPr>
            <a:normAutofit/>
          </a:bodyPr>
          <a:lstStyle/>
          <a:p>
            <a:pPr>
              <a:spcAft>
                <a:spcPts val="600"/>
              </a:spcAft>
              <a:defRPr/>
            </a:pPr>
            <a:r>
              <a:rPr lang="en-US"/>
              <a:t>prepared by Eyayalem Melese</a:t>
            </a:r>
          </a:p>
        </p:txBody>
      </p:sp>
      <p:sp>
        <p:nvSpPr>
          <p:cNvPr id="43013" name="Slide Number Placeholder 4">
            <a:extLst>
              <a:ext uri="{FF2B5EF4-FFF2-40B4-BE49-F238E27FC236}">
                <a16:creationId xmlns:a16="http://schemas.microsoft.com/office/drawing/2014/main" id="{6D2C9DEB-7DCB-D525-B035-072E5822331A}"/>
              </a:ext>
            </a:extLst>
          </p:cNvPr>
          <p:cNvSpPr>
            <a:spLocks noGrp="1"/>
          </p:cNvSpPr>
          <p:nvPr>
            <p:ph type="sldNum" sz="quarter" idx="12"/>
          </p:nvPr>
        </p:nvSpPr>
        <p:spPr bwMode="auto">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184E8849-319D-4DD6-A57F-7B8202FBF8D2}" type="slidenum">
              <a:rPr lang="en-US" altLang="en-US" sz="1800" smtClean="0">
                <a:latin typeface="Arial" panose="020B0604020202020204" pitchFamily="34" charset="0"/>
              </a:rPr>
              <a:pPr>
                <a:lnSpc>
                  <a:spcPct val="90000"/>
                </a:lnSpc>
                <a:spcBef>
                  <a:spcPct val="0"/>
                </a:spcBef>
                <a:spcAft>
                  <a:spcPts val="600"/>
                </a:spcAft>
                <a:buFontTx/>
                <a:buNone/>
              </a:pPr>
              <a:t>34</a:t>
            </a:fld>
            <a:endParaRPr lang="en-US" altLang="en-US" sz="1800">
              <a:latin typeface="Arial" panose="020B0604020202020204" pitchFamily="34" charset="0"/>
            </a:endParaRPr>
          </a:p>
        </p:txBody>
      </p:sp>
      <p:graphicFrame>
        <p:nvGraphicFramePr>
          <p:cNvPr id="43015" name="Content Placeholder 2">
            <a:extLst>
              <a:ext uri="{FF2B5EF4-FFF2-40B4-BE49-F238E27FC236}">
                <a16:creationId xmlns:a16="http://schemas.microsoft.com/office/drawing/2014/main" id="{ADAB2C2F-7CEB-0E25-5F81-BE2D4D5C7AE0}"/>
              </a:ext>
            </a:extLst>
          </p:cNvPr>
          <p:cNvGraphicFramePr>
            <a:graphicFrameLocks noGrp="1"/>
          </p:cNvGraphicFramePr>
          <p:nvPr>
            <p:ph idx="1"/>
            <p:extLst>
              <p:ext uri="{D42A27DB-BD31-4B8C-83A1-F6EECF244321}">
                <p14:modId xmlns:p14="http://schemas.microsoft.com/office/powerpoint/2010/main" val="1200912369"/>
              </p:ext>
            </p:extLst>
          </p:nvPr>
        </p:nvGraphicFramePr>
        <p:xfrm>
          <a:off x="5431536" y="1014153"/>
          <a:ext cx="5918184"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042" name="Rectangle 44041">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4" name="Title 1">
            <a:extLst>
              <a:ext uri="{FF2B5EF4-FFF2-40B4-BE49-F238E27FC236}">
                <a16:creationId xmlns:a16="http://schemas.microsoft.com/office/drawing/2014/main" id="{E4A909C6-BA42-8C53-7A98-4CE3D83DBA4E}"/>
              </a:ext>
            </a:extLst>
          </p:cNvPr>
          <p:cNvSpPr>
            <a:spLocks noGrp="1"/>
          </p:cNvSpPr>
          <p:nvPr>
            <p:ph type="title"/>
          </p:nvPr>
        </p:nvSpPr>
        <p:spPr>
          <a:xfrm>
            <a:off x="841248" y="548640"/>
            <a:ext cx="3600860" cy="5431536"/>
          </a:xfrm>
        </p:spPr>
        <p:txBody>
          <a:bodyPr>
            <a:normAutofit/>
          </a:bodyPr>
          <a:lstStyle/>
          <a:p>
            <a:r>
              <a:rPr lang="en-US" altLang="en-US" sz="5000" b="1"/>
              <a:t>Combination of tests</a:t>
            </a:r>
            <a:endParaRPr lang="en-US" altLang="en-US" sz="5000"/>
          </a:p>
        </p:txBody>
      </p:sp>
      <p:sp>
        <p:nvSpPr>
          <p:cNvPr id="44044"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5" name="Content Placeholder 2">
            <a:extLst>
              <a:ext uri="{FF2B5EF4-FFF2-40B4-BE49-F238E27FC236}">
                <a16:creationId xmlns:a16="http://schemas.microsoft.com/office/drawing/2014/main" id="{8A269261-AB73-666A-E492-051F32FC9C0E}"/>
              </a:ext>
            </a:extLst>
          </p:cNvPr>
          <p:cNvSpPr>
            <a:spLocks noGrp="1"/>
          </p:cNvSpPr>
          <p:nvPr>
            <p:ph idx="1"/>
          </p:nvPr>
        </p:nvSpPr>
        <p:spPr>
          <a:xfrm>
            <a:off x="5126418" y="552091"/>
            <a:ext cx="6224335" cy="5431536"/>
          </a:xfrm>
        </p:spPr>
        <p:txBody>
          <a:bodyPr anchor="ctr">
            <a:normAutofit/>
          </a:bodyPr>
          <a:lstStyle/>
          <a:p>
            <a:r>
              <a:rPr lang="en-US" altLang="en-US" sz="2200"/>
              <a:t>Patients with ppoFEV</a:t>
            </a:r>
            <a:r>
              <a:rPr lang="en-US" altLang="en-US" sz="2200" baseline="-25000"/>
              <a:t>1</a:t>
            </a:r>
            <a:r>
              <a:rPr lang="en-US" altLang="en-US" sz="2200"/>
              <a:t> 20% to 30% and favorable predicted cardiorespiratory and parenchymal function can be considered for early extubation if thoracic epidural analgesia is used </a:t>
            </a:r>
          </a:p>
          <a:p>
            <a:endParaRPr lang="en-US" altLang="en-US" sz="2200"/>
          </a:p>
        </p:txBody>
      </p:sp>
      <p:sp>
        <p:nvSpPr>
          <p:cNvPr id="4" name="Date Placeholder 3">
            <a:extLst>
              <a:ext uri="{FF2B5EF4-FFF2-40B4-BE49-F238E27FC236}">
                <a16:creationId xmlns:a16="http://schemas.microsoft.com/office/drawing/2014/main" id="{2508C334-5F25-0474-65E1-E85F14071764}"/>
              </a:ext>
            </a:extLst>
          </p:cNvPr>
          <p:cNvSpPr>
            <a:spLocks noGrp="1"/>
          </p:cNvSpPr>
          <p:nvPr>
            <p:ph type="dt" sz="quarter" idx="10"/>
          </p:nvPr>
        </p:nvSpPr>
        <p:spPr>
          <a:xfrm>
            <a:off x="838200" y="6356350"/>
            <a:ext cx="2743200" cy="365125"/>
          </a:xfrm>
        </p:spPr>
        <p:txBody>
          <a:bodyPr>
            <a:normAutofit/>
          </a:bodyPr>
          <a:lstStyle/>
          <a:p>
            <a:pPr>
              <a:spcAft>
                <a:spcPts val="600"/>
              </a:spcAft>
              <a:defRPr/>
            </a:pPr>
            <a:fld id="{939DDEA8-5FD5-42C7-B829-AD2F5B56323F}" type="datetime1">
              <a:rPr lang="en-US"/>
              <a:pPr>
                <a:spcAft>
                  <a:spcPts val="600"/>
                </a:spcAft>
                <a:defRPr/>
              </a:pPr>
              <a:t>4/5/2025</a:t>
            </a:fld>
            <a:endParaRPr lang="en-US"/>
          </a:p>
        </p:txBody>
      </p:sp>
      <p:sp>
        <p:nvSpPr>
          <p:cNvPr id="2" name="Footer Placeholder 1">
            <a:extLst>
              <a:ext uri="{FF2B5EF4-FFF2-40B4-BE49-F238E27FC236}">
                <a16:creationId xmlns:a16="http://schemas.microsoft.com/office/drawing/2014/main" id="{7D826C2C-8659-282B-B68D-AF8F2B7CC833}"/>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t>prepared by Eyayalem Melese</a:t>
            </a:r>
          </a:p>
        </p:txBody>
      </p:sp>
      <p:sp>
        <p:nvSpPr>
          <p:cNvPr id="44037" name="Slide Number Placeholder 4">
            <a:extLst>
              <a:ext uri="{FF2B5EF4-FFF2-40B4-BE49-F238E27FC236}">
                <a16:creationId xmlns:a16="http://schemas.microsoft.com/office/drawing/2014/main" id="{8C13EDD8-5A7B-D97B-5646-E66552CEC7AD}"/>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6FC7655A-A540-4E26-8E0D-19766E8DDEE9}" type="slidenum">
              <a:rPr lang="en-US" altLang="en-US" sz="1800" smtClean="0">
                <a:latin typeface="Arial" panose="020B0604020202020204" pitchFamily="34" charset="0"/>
              </a:rPr>
              <a:pPr>
                <a:lnSpc>
                  <a:spcPct val="90000"/>
                </a:lnSpc>
                <a:spcBef>
                  <a:spcPct val="0"/>
                </a:spcBef>
                <a:spcAft>
                  <a:spcPts val="600"/>
                </a:spcAft>
                <a:buFontTx/>
                <a:buNone/>
              </a:pPr>
              <a:t>35</a:t>
            </a:fld>
            <a:endParaRPr lang="en-US" altLang="en-US" sz="180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65" name="Rectangle 45064">
            <a:extLst>
              <a:ext uri="{FF2B5EF4-FFF2-40B4-BE49-F238E27FC236}">
                <a16:creationId xmlns:a16="http://schemas.microsoft.com/office/drawing/2014/main" id="{6EE0B6E2-7CE8-4D86-87FC-4B58A7D8E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060" name="Picture 4" descr="http://tele.med.ru/book/cardiac_anesthesia/media/he/he025g02.gif">
            <a:extLst>
              <a:ext uri="{FF2B5EF4-FFF2-40B4-BE49-F238E27FC236}">
                <a16:creationId xmlns:a16="http://schemas.microsoft.com/office/drawing/2014/main" id="{8EC5012A-2120-1D5B-7999-88269F82AC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01" r="1" b="1"/>
          <a:stretch/>
        </p:blipFill>
        <p:spPr bwMode="auto">
          <a:xfrm>
            <a:off x="577637" y="424330"/>
            <a:ext cx="11036726" cy="5869478"/>
          </a:xfrm>
          <a:custGeom>
            <a:avLst/>
            <a:gdLst/>
            <a:ahLst/>
            <a:cxnLst/>
            <a:rect l="l" t="t" r="r" b="b"/>
            <a:pathLst>
              <a:path w="10630858" h="5869478">
                <a:moveTo>
                  <a:pt x="5791061" y="218"/>
                </a:moveTo>
                <a:cubicBezTo>
                  <a:pt x="5877327" y="-560"/>
                  <a:pt x="5971399" y="626"/>
                  <a:pt x="6073275" y="5793"/>
                </a:cubicBezTo>
                <a:cubicBezTo>
                  <a:pt x="6098744" y="7086"/>
                  <a:pt x="6121786" y="8165"/>
                  <a:pt x="6142651" y="9057"/>
                </a:cubicBezTo>
                <a:lnTo>
                  <a:pt x="6164185" y="9874"/>
                </a:lnTo>
                <a:lnTo>
                  <a:pt x="6258731" y="5793"/>
                </a:lnTo>
                <a:lnTo>
                  <a:pt x="6319194" y="2002"/>
                </a:lnTo>
                <a:lnTo>
                  <a:pt x="6413049" y="11772"/>
                </a:lnTo>
                <a:cubicBezTo>
                  <a:pt x="6592720" y="42783"/>
                  <a:pt x="6774188" y="66100"/>
                  <a:pt x="6956654" y="46745"/>
                </a:cubicBezTo>
                <a:cubicBezTo>
                  <a:pt x="7082424" y="33223"/>
                  <a:pt x="7207994" y="25294"/>
                  <a:pt x="7334364" y="25763"/>
                </a:cubicBezTo>
                <a:cubicBezTo>
                  <a:pt x="7624835" y="25763"/>
                  <a:pt x="7915502" y="28559"/>
                  <a:pt x="8205974" y="22730"/>
                </a:cubicBezTo>
                <a:cubicBezTo>
                  <a:pt x="8464499" y="17601"/>
                  <a:pt x="8722029" y="6412"/>
                  <a:pt x="8980756" y="34620"/>
                </a:cubicBezTo>
                <a:cubicBezTo>
                  <a:pt x="9362658" y="76124"/>
                  <a:pt x="9746556" y="62832"/>
                  <a:pt x="10129655" y="57937"/>
                </a:cubicBezTo>
                <a:lnTo>
                  <a:pt x="10163726" y="56766"/>
                </a:lnTo>
                <a:lnTo>
                  <a:pt x="10254950" y="73131"/>
                </a:lnTo>
                <a:lnTo>
                  <a:pt x="10311819" y="101928"/>
                </a:lnTo>
                <a:cubicBezTo>
                  <a:pt x="10479504" y="200737"/>
                  <a:pt x="10591476" y="367254"/>
                  <a:pt x="10625532" y="561669"/>
                </a:cubicBezTo>
                <a:lnTo>
                  <a:pt x="10626834" y="578090"/>
                </a:lnTo>
                <a:lnTo>
                  <a:pt x="10611964" y="734537"/>
                </a:lnTo>
                <a:cubicBezTo>
                  <a:pt x="10602387" y="823467"/>
                  <a:pt x="10587763" y="913306"/>
                  <a:pt x="10611964" y="1001326"/>
                </a:cubicBezTo>
                <a:cubicBezTo>
                  <a:pt x="10628543" y="1062669"/>
                  <a:pt x="10632231" y="1127783"/>
                  <a:pt x="10622705" y="1191154"/>
                </a:cubicBezTo>
                <a:cubicBezTo>
                  <a:pt x="10606645" y="1303627"/>
                  <a:pt x="10603293" y="1418084"/>
                  <a:pt x="10612740" y="1531572"/>
                </a:cubicBezTo>
                <a:cubicBezTo>
                  <a:pt x="10618978" y="1606398"/>
                  <a:pt x="10618020" y="1681815"/>
                  <a:pt x="10609893" y="1756397"/>
                </a:cubicBezTo>
                <a:cubicBezTo>
                  <a:pt x="10599152" y="1856690"/>
                  <a:pt x="10582457" y="1958800"/>
                  <a:pt x="10602776" y="2059394"/>
                </a:cubicBezTo>
                <a:cubicBezTo>
                  <a:pt x="10635130" y="2219226"/>
                  <a:pt x="10628659" y="2378906"/>
                  <a:pt x="10615717" y="2539949"/>
                </a:cubicBezTo>
                <a:cubicBezTo>
                  <a:pt x="10606011" y="2659785"/>
                  <a:pt x="10595269" y="2780984"/>
                  <a:pt x="10614682" y="2902183"/>
                </a:cubicBezTo>
                <a:cubicBezTo>
                  <a:pt x="10623029" y="2958418"/>
                  <a:pt x="10623029" y="3015928"/>
                  <a:pt x="10614682" y="3072165"/>
                </a:cubicBezTo>
                <a:cubicBezTo>
                  <a:pt x="10604587" y="3147914"/>
                  <a:pt x="10595010" y="3222907"/>
                  <a:pt x="10607952" y="3299413"/>
                </a:cubicBezTo>
                <a:cubicBezTo>
                  <a:pt x="10613646" y="3332743"/>
                  <a:pt x="10617917" y="3366376"/>
                  <a:pt x="10620894" y="3400009"/>
                </a:cubicBezTo>
                <a:cubicBezTo>
                  <a:pt x="10626822" y="3485877"/>
                  <a:pt x="10624699" y="3572233"/>
                  <a:pt x="10614553" y="3657556"/>
                </a:cubicBezTo>
                <a:cubicBezTo>
                  <a:pt x="10604846" y="3756637"/>
                  <a:pt x="10620635" y="3856323"/>
                  <a:pt x="10607694" y="3955100"/>
                </a:cubicBezTo>
                <a:cubicBezTo>
                  <a:pt x="10598504" y="4034653"/>
                  <a:pt x="10598155" y="4115265"/>
                  <a:pt x="10606658" y="4194923"/>
                </a:cubicBezTo>
                <a:cubicBezTo>
                  <a:pt x="10621954" y="4345512"/>
                  <a:pt x="10620998" y="4497755"/>
                  <a:pt x="10603811" y="4648057"/>
                </a:cubicBezTo>
                <a:cubicBezTo>
                  <a:pt x="10593198" y="4735775"/>
                  <a:pt x="10587116" y="4826067"/>
                  <a:pt x="10606140" y="4912119"/>
                </a:cubicBezTo>
                <a:cubicBezTo>
                  <a:pt x="10628530" y="5013245"/>
                  <a:pt x="10633189" y="5114446"/>
                  <a:pt x="10629921" y="5215515"/>
                </a:cubicBezTo>
                <a:lnTo>
                  <a:pt x="10625356" y="5273604"/>
                </a:lnTo>
                <a:lnTo>
                  <a:pt x="10624284" y="5284086"/>
                </a:lnTo>
                <a:cubicBezTo>
                  <a:pt x="10601148" y="5404993"/>
                  <a:pt x="10545219" y="5529874"/>
                  <a:pt x="10458692" y="5632218"/>
                </a:cubicBezTo>
                <a:lnTo>
                  <a:pt x="10418904" y="5670857"/>
                </a:lnTo>
                <a:lnTo>
                  <a:pt x="10417064" y="5673484"/>
                </a:lnTo>
                <a:cubicBezTo>
                  <a:pt x="10307992" y="5802550"/>
                  <a:pt x="10158402" y="5877799"/>
                  <a:pt x="9954609" y="5858572"/>
                </a:cubicBezTo>
                <a:cubicBezTo>
                  <a:pt x="9860355" y="5870096"/>
                  <a:pt x="9750551" y="5855439"/>
                  <a:pt x="9657171" y="5854061"/>
                </a:cubicBezTo>
                <a:lnTo>
                  <a:pt x="9612467" y="5856387"/>
                </a:lnTo>
                <a:lnTo>
                  <a:pt x="9279984" y="5838331"/>
                </a:lnTo>
                <a:cubicBezTo>
                  <a:pt x="9153141" y="5834280"/>
                  <a:pt x="9026273" y="5834164"/>
                  <a:pt x="8899305" y="5841275"/>
                </a:cubicBezTo>
                <a:cubicBezTo>
                  <a:pt x="8761407" y="5850940"/>
                  <a:pt x="8623304" y="5854733"/>
                  <a:pt x="8485266" y="5852671"/>
                </a:cubicBezTo>
                <a:lnTo>
                  <a:pt x="8314842" y="5842884"/>
                </a:lnTo>
                <a:lnTo>
                  <a:pt x="8193631" y="5825368"/>
                </a:lnTo>
                <a:lnTo>
                  <a:pt x="8029897" y="5818284"/>
                </a:lnTo>
                <a:lnTo>
                  <a:pt x="8028296" y="5817260"/>
                </a:lnTo>
                <a:lnTo>
                  <a:pt x="8008332" y="5817260"/>
                </a:lnTo>
                <a:lnTo>
                  <a:pt x="8006732" y="5818114"/>
                </a:lnTo>
                <a:lnTo>
                  <a:pt x="7839115" y="5825368"/>
                </a:lnTo>
                <a:lnTo>
                  <a:pt x="7801585" y="5830791"/>
                </a:lnTo>
                <a:lnTo>
                  <a:pt x="7734233" y="5834980"/>
                </a:lnTo>
                <a:lnTo>
                  <a:pt x="7482820" y="5855530"/>
                </a:lnTo>
                <a:lnTo>
                  <a:pt x="7445741" y="5854102"/>
                </a:lnTo>
                <a:lnTo>
                  <a:pt x="7403701" y="5858035"/>
                </a:lnTo>
                <a:lnTo>
                  <a:pt x="7155292" y="5854564"/>
                </a:lnTo>
                <a:cubicBezTo>
                  <a:pt x="6874805" y="5835913"/>
                  <a:pt x="6593917" y="5824488"/>
                  <a:pt x="6312830" y="5849900"/>
                </a:cubicBezTo>
                <a:lnTo>
                  <a:pt x="6232577" y="5855788"/>
                </a:lnTo>
                <a:lnTo>
                  <a:pt x="6231985" y="5855764"/>
                </a:lnTo>
                <a:lnTo>
                  <a:pt x="6166003" y="5858572"/>
                </a:lnTo>
                <a:cubicBezTo>
                  <a:pt x="6100624" y="5861901"/>
                  <a:pt x="6043822" y="5864887"/>
                  <a:pt x="5993271" y="5866513"/>
                </a:cubicBezTo>
                <a:lnTo>
                  <a:pt x="5925657" y="5866398"/>
                </a:lnTo>
                <a:lnTo>
                  <a:pt x="5833706" y="5859695"/>
                </a:lnTo>
                <a:cubicBezTo>
                  <a:pt x="5697214" y="5841788"/>
                  <a:pt x="5559607" y="5838897"/>
                  <a:pt x="5422657" y="5851067"/>
                </a:cubicBezTo>
                <a:lnTo>
                  <a:pt x="5250035" y="5858044"/>
                </a:lnTo>
                <a:lnTo>
                  <a:pt x="5151093" y="5858278"/>
                </a:lnTo>
                <a:lnTo>
                  <a:pt x="4972680" y="5851067"/>
                </a:lnTo>
                <a:cubicBezTo>
                  <a:pt x="4829141" y="5841741"/>
                  <a:pt x="4685204" y="5826120"/>
                  <a:pt x="4542066" y="5842905"/>
                </a:cubicBezTo>
                <a:cubicBezTo>
                  <a:pt x="4491758" y="5848734"/>
                  <a:pt x="4441488" y="5852626"/>
                  <a:pt x="4391242" y="5854962"/>
                </a:cubicBezTo>
                <a:lnTo>
                  <a:pt x="4246482" y="5857576"/>
                </a:lnTo>
                <a:lnTo>
                  <a:pt x="4221030" y="5856572"/>
                </a:lnTo>
                <a:lnTo>
                  <a:pt x="4218005" y="5856681"/>
                </a:lnTo>
                <a:lnTo>
                  <a:pt x="3939367" y="5844305"/>
                </a:lnTo>
                <a:cubicBezTo>
                  <a:pt x="3773470" y="5832648"/>
                  <a:pt x="3606974" y="5815626"/>
                  <a:pt x="3441875" y="5843140"/>
                </a:cubicBezTo>
                <a:cubicBezTo>
                  <a:pt x="3386806" y="5851400"/>
                  <a:pt x="3331601" y="5858126"/>
                  <a:pt x="3276306" y="5863318"/>
                </a:cubicBezTo>
                <a:lnTo>
                  <a:pt x="3225006" y="5866706"/>
                </a:lnTo>
                <a:lnTo>
                  <a:pt x="3194056" y="5866407"/>
                </a:lnTo>
                <a:lnTo>
                  <a:pt x="3082891" y="5863061"/>
                </a:lnTo>
                <a:lnTo>
                  <a:pt x="3013959" y="5869302"/>
                </a:lnTo>
                <a:cubicBezTo>
                  <a:pt x="2910698" y="5871464"/>
                  <a:pt x="2845426" y="5852913"/>
                  <a:pt x="2748311" y="5858572"/>
                </a:cubicBezTo>
                <a:cubicBezTo>
                  <a:pt x="2736171" y="5859279"/>
                  <a:pt x="2721419" y="5860082"/>
                  <a:pt x="2704411" y="5860936"/>
                </a:cubicBezTo>
                <a:lnTo>
                  <a:pt x="2650475" y="5863440"/>
                </a:lnTo>
                <a:lnTo>
                  <a:pt x="2436349" y="5854816"/>
                </a:lnTo>
                <a:cubicBezTo>
                  <a:pt x="2095150" y="5845165"/>
                  <a:pt x="1753811" y="5845122"/>
                  <a:pt x="1412584" y="5830782"/>
                </a:cubicBezTo>
                <a:cubicBezTo>
                  <a:pt x="1262458" y="5824256"/>
                  <a:pt x="1113131" y="5859227"/>
                  <a:pt x="963404" y="5861093"/>
                </a:cubicBezTo>
                <a:cubicBezTo>
                  <a:pt x="896140" y="5861967"/>
                  <a:pt x="828812" y="5861342"/>
                  <a:pt x="761431" y="5859896"/>
                </a:cubicBezTo>
                <a:lnTo>
                  <a:pt x="637698" y="5856158"/>
                </a:lnTo>
                <a:lnTo>
                  <a:pt x="592997" y="5853711"/>
                </a:lnTo>
                <a:cubicBezTo>
                  <a:pt x="391136" y="5830428"/>
                  <a:pt x="227663" y="5724844"/>
                  <a:pt x="123577" y="5564333"/>
                </a:cubicBezTo>
                <a:lnTo>
                  <a:pt x="99502" y="5518240"/>
                </a:lnTo>
                <a:lnTo>
                  <a:pt x="95609" y="5512764"/>
                </a:lnTo>
                <a:lnTo>
                  <a:pt x="86221" y="5492812"/>
                </a:lnTo>
                <a:lnTo>
                  <a:pt x="61763" y="5445986"/>
                </a:lnTo>
                <a:lnTo>
                  <a:pt x="56991" y="5430695"/>
                </a:lnTo>
                <a:lnTo>
                  <a:pt x="41922" y="5398673"/>
                </a:lnTo>
                <a:lnTo>
                  <a:pt x="25760" y="5339273"/>
                </a:lnTo>
                <a:lnTo>
                  <a:pt x="16811" y="5271956"/>
                </a:lnTo>
                <a:cubicBezTo>
                  <a:pt x="9305" y="5238090"/>
                  <a:pt x="4710" y="5203585"/>
                  <a:pt x="3092" y="5168860"/>
                </a:cubicBezTo>
                <a:cubicBezTo>
                  <a:pt x="-7132" y="5042101"/>
                  <a:pt x="10081" y="4917108"/>
                  <a:pt x="24446" y="4791844"/>
                </a:cubicBezTo>
                <a:cubicBezTo>
                  <a:pt x="34023" y="4712006"/>
                  <a:pt x="48647" y="4631352"/>
                  <a:pt x="24446" y="4552331"/>
                </a:cubicBezTo>
                <a:cubicBezTo>
                  <a:pt x="7867" y="4497261"/>
                  <a:pt x="4180" y="4438805"/>
                  <a:pt x="13705" y="4381912"/>
                </a:cubicBezTo>
                <a:cubicBezTo>
                  <a:pt x="29766" y="4280940"/>
                  <a:pt x="33117" y="4178184"/>
                  <a:pt x="23670" y="4076300"/>
                </a:cubicBezTo>
                <a:cubicBezTo>
                  <a:pt x="17432" y="4009125"/>
                  <a:pt x="18390" y="3941419"/>
                  <a:pt x="26517" y="3874462"/>
                </a:cubicBezTo>
                <a:cubicBezTo>
                  <a:pt x="37258" y="3784423"/>
                  <a:pt x="53954" y="3692752"/>
                  <a:pt x="33635" y="3602444"/>
                </a:cubicBezTo>
                <a:cubicBezTo>
                  <a:pt x="1280" y="3458954"/>
                  <a:pt x="7751" y="3315599"/>
                  <a:pt x="20694" y="3171022"/>
                </a:cubicBezTo>
                <a:cubicBezTo>
                  <a:pt x="30400" y="3063439"/>
                  <a:pt x="41141" y="2954632"/>
                  <a:pt x="21728" y="2845824"/>
                </a:cubicBezTo>
                <a:cubicBezTo>
                  <a:pt x="13381" y="2795337"/>
                  <a:pt x="13381" y="2743709"/>
                  <a:pt x="21728" y="2693221"/>
                </a:cubicBezTo>
                <a:cubicBezTo>
                  <a:pt x="31823" y="2625218"/>
                  <a:pt x="41400" y="2557892"/>
                  <a:pt x="28458" y="2489208"/>
                </a:cubicBezTo>
                <a:cubicBezTo>
                  <a:pt x="22764" y="2459285"/>
                  <a:pt x="18493" y="2429092"/>
                  <a:pt x="15516" y="2398898"/>
                </a:cubicBezTo>
                <a:cubicBezTo>
                  <a:pt x="9589" y="2321809"/>
                  <a:pt x="11711" y="2244283"/>
                  <a:pt x="21857" y="2167683"/>
                </a:cubicBezTo>
                <a:cubicBezTo>
                  <a:pt x="31564" y="2078733"/>
                  <a:pt x="15776" y="1989238"/>
                  <a:pt x="28717" y="1900560"/>
                </a:cubicBezTo>
                <a:cubicBezTo>
                  <a:pt x="37907" y="1829142"/>
                  <a:pt x="38255" y="1756772"/>
                  <a:pt x="29752" y="1685258"/>
                </a:cubicBezTo>
                <a:cubicBezTo>
                  <a:pt x="14456" y="1550065"/>
                  <a:pt x="15412" y="1413389"/>
                  <a:pt x="32599" y="1278454"/>
                </a:cubicBezTo>
                <a:cubicBezTo>
                  <a:pt x="43212" y="1199704"/>
                  <a:pt x="49294" y="1118644"/>
                  <a:pt x="30270" y="1041390"/>
                </a:cubicBezTo>
                <a:cubicBezTo>
                  <a:pt x="-14509" y="859818"/>
                  <a:pt x="11634" y="677973"/>
                  <a:pt x="30270" y="497354"/>
                </a:cubicBezTo>
                <a:lnTo>
                  <a:pt x="31725" y="472895"/>
                </a:lnTo>
                <a:lnTo>
                  <a:pt x="43781" y="427827"/>
                </a:lnTo>
                <a:lnTo>
                  <a:pt x="50994" y="413476"/>
                </a:lnTo>
                <a:lnTo>
                  <a:pt x="58372" y="387895"/>
                </a:lnTo>
                <a:cubicBezTo>
                  <a:pt x="111660" y="254431"/>
                  <a:pt x="198390" y="154469"/>
                  <a:pt x="306361" y="90092"/>
                </a:cubicBezTo>
                <a:lnTo>
                  <a:pt x="343340" y="71955"/>
                </a:lnTo>
                <a:lnTo>
                  <a:pt x="451947" y="55771"/>
                </a:lnTo>
                <a:lnTo>
                  <a:pt x="480681" y="50638"/>
                </a:lnTo>
                <a:lnTo>
                  <a:pt x="500476" y="51097"/>
                </a:lnTo>
                <a:cubicBezTo>
                  <a:pt x="614729" y="49684"/>
                  <a:pt x="728933" y="43772"/>
                  <a:pt x="843024" y="32056"/>
                </a:cubicBezTo>
                <a:cubicBezTo>
                  <a:pt x="1123212" y="7156"/>
                  <a:pt x="1404499" y="3566"/>
                  <a:pt x="1685086" y="21332"/>
                </a:cubicBezTo>
                <a:cubicBezTo>
                  <a:pt x="1938623" y="33688"/>
                  <a:pt x="2191759" y="64000"/>
                  <a:pt x="2445896" y="38121"/>
                </a:cubicBezTo>
                <a:cubicBezTo>
                  <a:pt x="2489616" y="33690"/>
                  <a:pt x="2532937" y="26111"/>
                  <a:pt x="2576333" y="19030"/>
                </a:cubicBezTo>
                <a:lnTo>
                  <a:pt x="2696353" y="4251"/>
                </a:lnTo>
                <a:lnTo>
                  <a:pt x="2745536" y="5232"/>
                </a:lnTo>
                <a:cubicBezTo>
                  <a:pt x="2818993" y="6452"/>
                  <a:pt x="2887864" y="7004"/>
                  <a:pt x="2947014" y="5793"/>
                </a:cubicBezTo>
                <a:cubicBezTo>
                  <a:pt x="3006163" y="4584"/>
                  <a:pt x="3060036" y="3178"/>
                  <a:pt x="3110399" y="1949"/>
                </a:cubicBezTo>
                <a:lnTo>
                  <a:pt x="3199002" y="221"/>
                </a:lnTo>
                <a:lnTo>
                  <a:pt x="3325015" y="3583"/>
                </a:lnTo>
                <a:cubicBezTo>
                  <a:pt x="3530714" y="12997"/>
                  <a:pt x="3736239" y="28910"/>
                  <a:pt x="3941762" y="43248"/>
                </a:cubicBezTo>
                <a:cubicBezTo>
                  <a:pt x="4091489" y="53739"/>
                  <a:pt x="4241215" y="66563"/>
                  <a:pt x="4390942" y="37886"/>
                </a:cubicBezTo>
                <a:cubicBezTo>
                  <a:pt x="4517292" y="15154"/>
                  <a:pt x="4645537" y="10467"/>
                  <a:pt x="4772844" y="23896"/>
                </a:cubicBezTo>
                <a:cubicBezTo>
                  <a:pt x="4885597" y="37327"/>
                  <a:pt x="4999052" y="40520"/>
                  <a:pt x="5112224" y="33456"/>
                </a:cubicBezTo>
                <a:lnTo>
                  <a:pt x="5477482" y="6922"/>
                </a:lnTo>
                <a:lnTo>
                  <a:pt x="5517883" y="7607"/>
                </a:lnTo>
                <a:lnTo>
                  <a:pt x="5555683" y="6426"/>
                </a:lnTo>
                <a:cubicBezTo>
                  <a:pt x="5626335" y="3737"/>
                  <a:pt x="5704795" y="995"/>
                  <a:pt x="5791061" y="218"/>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1798C283-6B3B-81EB-74E7-6FCCE0EC9AA1}"/>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7E186871-82D6-438A-A9B8-3C7CD7C69918}" type="datetime1">
              <a:rPr lang="en-US">
                <a:latin typeface="+mn-lt"/>
                <a:cs typeface="+mn-cs"/>
              </a:rPr>
              <a:pPr>
                <a:spcAft>
                  <a:spcPts val="600"/>
                </a:spcAft>
                <a:defRPr/>
              </a:pPr>
              <a:t>4/5/2025</a:t>
            </a:fld>
            <a:endParaRPr lang="en-US">
              <a:latin typeface="+mn-lt"/>
              <a:cs typeface="+mn-cs"/>
            </a:endParaRPr>
          </a:p>
        </p:txBody>
      </p:sp>
      <p:sp>
        <p:nvSpPr>
          <p:cNvPr id="2" name="Footer Placeholder 1">
            <a:extLst>
              <a:ext uri="{FF2B5EF4-FFF2-40B4-BE49-F238E27FC236}">
                <a16:creationId xmlns:a16="http://schemas.microsoft.com/office/drawing/2014/main" id="{7C8F6287-F6DF-6434-3A0E-60DBC06DDA5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prepared by Eyayalem Melese</a:t>
            </a:r>
          </a:p>
        </p:txBody>
      </p:sp>
      <p:sp>
        <p:nvSpPr>
          <p:cNvPr id="45059" name="Slide Number Placeholder 4">
            <a:extLst>
              <a:ext uri="{FF2B5EF4-FFF2-40B4-BE49-F238E27FC236}">
                <a16:creationId xmlns:a16="http://schemas.microsoft.com/office/drawing/2014/main" id="{2EFBDD21-510A-F398-6112-BD27E8E6E5A6}"/>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F1E83232-47CC-4D30-8C7A-D7BB419E237C}" type="slidenum">
              <a:rPr lang="en-US" altLang="en-US" sz="1200" smtClean="0">
                <a:solidFill>
                  <a:schemeClr val="tx1">
                    <a:tint val="75000"/>
                  </a:schemeClr>
                </a:solidFill>
                <a:latin typeface="+mn-lt"/>
                <a:cs typeface="+mn-cs"/>
              </a:rPr>
              <a:pPr>
                <a:spcBef>
                  <a:spcPct val="0"/>
                </a:spcBef>
                <a:spcAft>
                  <a:spcPts val="600"/>
                </a:spcAft>
                <a:buFontTx/>
                <a:buNone/>
              </a:pPr>
              <a:t>36</a:t>
            </a:fld>
            <a:endParaRPr lang="en-US" altLang="en-US" sz="1200">
              <a:solidFill>
                <a:schemeClr val="tx1">
                  <a:tint val="75000"/>
                </a:schemeClr>
              </a:solidFill>
              <a:latin typeface="+mn-lt"/>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091" name="Rectangle 4609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82" name="Title 1">
            <a:extLst>
              <a:ext uri="{FF2B5EF4-FFF2-40B4-BE49-F238E27FC236}">
                <a16:creationId xmlns:a16="http://schemas.microsoft.com/office/drawing/2014/main" id="{66B1BC64-2284-2643-D7E0-EFA7C30BAA49}"/>
              </a:ext>
            </a:extLst>
          </p:cNvPr>
          <p:cNvSpPr>
            <a:spLocks noGrp="1"/>
          </p:cNvSpPr>
          <p:nvPr>
            <p:ph type="title"/>
          </p:nvPr>
        </p:nvSpPr>
        <p:spPr>
          <a:xfrm>
            <a:off x="638882" y="639193"/>
            <a:ext cx="3571810" cy="3573516"/>
          </a:xfrm>
        </p:spPr>
        <p:txBody>
          <a:bodyPr vert="horz" lIns="91440" tIns="45720" rIns="91440" bIns="45720" rtlCol="0" anchor="b">
            <a:normAutofit/>
          </a:bodyPr>
          <a:lstStyle/>
          <a:p>
            <a:pPr algn="l" eaLnBrk="1" hangingPunct="1">
              <a:lnSpc>
                <a:spcPct val="90000"/>
              </a:lnSpc>
            </a:pPr>
            <a:r>
              <a:rPr lang="en-US" altLang="en-US" sz="5600" b="1" kern="1200">
                <a:solidFill>
                  <a:schemeClr val="tx1"/>
                </a:solidFill>
                <a:latin typeface="+mj-lt"/>
                <a:ea typeface="+mj-ea"/>
                <a:cs typeface="+mj-cs"/>
              </a:rPr>
              <a:t>GAS EXCHANGE TEST</a:t>
            </a:r>
            <a:endParaRPr lang="en-US" altLang="en-US" sz="5600" kern="1200">
              <a:solidFill>
                <a:schemeClr val="tx1"/>
              </a:solidFill>
              <a:latin typeface="+mj-lt"/>
              <a:ea typeface="+mj-ea"/>
              <a:cs typeface="+mj-cs"/>
            </a:endParaRPr>
          </a:p>
        </p:txBody>
      </p:sp>
      <p:sp>
        <p:nvSpPr>
          <p:cNvPr id="4609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083" name="Content Placeholder 3">
            <a:extLst>
              <a:ext uri="{FF2B5EF4-FFF2-40B4-BE49-F238E27FC236}">
                <a16:creationId xmlns:a16="http://schemas.microsoft.com/office/drawing/2014/main" id="{0819E583-F7E6-230D-A1B3-ED38147A94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4654296" y="1224626"/>
            <a:ext cx="7214616" cy="4381316"/>
          </a:xfrm>
          <a:prstGeom prst="rect">
            <a:avLst/>
          </a:prstGeom>
        </p:spPr>
      </p:pic>
      <p:sp>
        <p:nvSpPr>
          <p:cNvPr id="2" name="Date Placeholder 1">
            <a:extLst>
              <a:ext uri="{FF2B5EF4-FFF2-40B4-BE49-F238E27FC236}">
                <a16:creationId xmlns:a16="http://schemas.microsoft.com/office/drawing/2014/main" id="{94271279-C7B2-F2A7-9769-496DD728BC7F}"/>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17B563C7-23EB-4284-9394-9D584279A2CE}" type="datetime1">
              <a:rPr lang="en-US">
                <a:latin typeface="+mn-lt"/>
                <a:cs typeface="+mn-cs"/>
              </a:rPr>
              <a:pPr>
                <a:spcAft>
                  <a:spcPts val="600"/>
                </a:spcAft>
                <a:defRPr/>
              </a:pPr>
              <a:t>4/5/2025</a:t>
            </a:fld>
            <a:endParaRPr lang="en-US">
              <a:latin typeface="+mn-lt"/>
              <a:cs typeface="+mn-cs"/>
            </a:endParaRPr>
          </a:p>
        </p:txBody>
      </p:sp>
      <p:sp>
        <p:nvSpPr>
          <p:cNvPr id="3" name="Footer Placeholder 2">
            <a:extLst>
              <a:ext uri="{FF2B5EF4-FFF2-40B4-BE49-F238E27FC236}">
                <a16:creationId xmlns:a16="http://schemas.microsoft.com/office/drawing/2014/main" id="{892F5ACB-5F40-C735-4550-53B42349F8B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prepared by Eyayalem Melese</a:t>
            </a:r>
          </a:p>
        </p:txBody>
      </p:sp>
      <p:sp>
        <p:nvSpPr>
          <p:cNvPr id="46086" name="Slide Number Placeholder 3">
            <a:extLst>
              <a:ext uri="{FF2B5EF4-FFF2-40B4-BE49-F238E27FC236}">
                <a16:creationId xmlns:a16="http://schemas.microsoft.com/office/drawing/2014/main" id="{7A951F65-0055-9EDC-5FDF-A20D72DD26D7}"/>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6D819424-6F8F-4DD4-B251-ED677F6CB01A}" type="slidenum">
              <a:rPr lang="en-US" altLang="en-US" sz="1200" smtClean="0">
                <a:solidFill>
                  <a:schemeClr val="tx1">
                    <a:tint val="75000"/>
                  </a:schemeClr>
                </a:solidFill>
                <a:latin typeface="+mn-lt"/>
                <a:cs typeface="+mn-cs"/>
              </a:rPr>
              <a:pPr>
                <a:spcBef>
                  <a:spcPct val="0"/>
                </a:spcBef>
                <a:spcAft>
                  <a:spcPts val="600"/>
                </a:spcAft>
                <a:buFontTx/>
                <a:buNone/>
              </a:pPr>
              <a:t>37</a:t>
            </a:fld>
            <a:endParaRPr lang="en-US" altLang="en-US" sz="1200">
              <a:solidFill>
                <a:schemeClr val="tx1">
                  <a:tint val="75000"/>
                </a:schemeClr>
              </a:solidFill>
              <a:latin typeface="+mn-lt"/>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114" name="Rectangle 4711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6" name="Title 1">
            <a:extLst>
              <a:ext uri="{FF2B5EF4-FFF2-40B4-BE49-F238E27FC236}">
                <a16:creationId xmlns:a16="http://schemas.microsoft.com/office/drawing/2014/main" id="{3B9301F9-CD8E-A527-1CF6-97F1C3AEBE72}"/>
              </a:ext>
            </a:extLst>
          </p:cNvPr>
          <p:cNvSpPr>
            <a:spLocks noGrp="1"/>
          </p:cNvSpPr>
          <p:nvPr>
            <p:ph type="title"/>
          </p:nvPr>
        </p:nvSpPr>
        <p:spPr>
          <a:xfrm>
            <a:off x="638882" y="639193"/>
            <a:ext cx="3571810" cy="3573516"/>
          </a:xfrm>
        </p:spPr>
        <p:txBody>
          <a:bodyPr vert="horz" lIns="91440" tIns="45720" rIns="91440" bIns="45720" rtlCol="0" anchor="b">
            <a:normAutofit/>
          </a:bodyPr>
          <a:lstStyle/>
          <a:p>
            <a:pPr algn="l" eaLnBrk="1" hangingPunct="1">
              <a:lnSpc>
                <a:spcPct val="90000"/>
              </a:lnSpc>
            </a:pPr>
            <a:r>
              <a:rPr lang="en-US" altLang="en-US" sz="6100" kern="1200">
                <a:solidFill>
                  <a:schemeClr val="tx1"/>
                </a:solidFill>
                <a:latin typeface="+mj-lt"/>
                <a:ea typeface="+mj-ea"/>
                <a:cs typeface="+mj-cs"/>
              </a:rPr>
              <a:t>Sequence of testing Lung Rescetion </a:t>
            </a:r>
          </a:p>
        </p:txBody>
      </p:sp>
      <p:sp>
        <p:nvSpPr>
          <p:cNvPr id="471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09" name="Picture 2">
            <a:extLst>
              <a:ext uri="{FF2B5EF4-FFF2-40B4-BE49-F238E27FC236}">
                <a16:creationId xmlns:a16="http://schemas.microsoft.com/office/drawing/2014/main" id="{6F14AD05-DB17-F452-53AF-78E3F72900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11244" y="640080"/>
            <a:ext cx="4500719" cy="555040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6EDCC9F9-B689-E5B5-A283-5298F0984C5C}"/>
              </a:ext>
            </a:extLst>
          </p:cNvPr>
          <p:cNvSpPr>
            <a:spLocks noGrp="1"/>
          </p:cNvSpPr>
          <p:nvPr>
            <p:ph type="dt" sz="quarter" idx="10"/>
          </p:nvPr>
        </p:nvSpPr>
        <p:spPr>
          <a:xfrm>
            <a:off x="838200" y="6356350"/>
            <a:ext cx="2743200" cy="365125"/>
          </a:xfrm>
        </p:spPr>
        <p:txBody>
          <a:bodyPr vert="horz" lIns="91440" tIns="45720" rIns="91440" bIns="45720" rtlCol="0" anchor="ctr">
            <a:normAutofit/>
          </a:bodyPr>
          <a:lstStyle/>
          <a:p>
            <a:pPr>
              <a:spcAft>
                <a:spcPts val="600"/>
              </a:spcAft>
              <a:defRPr/>
            </a:pPr>
            <a:fld id="{3AE9C3EB-ECD6-4043-AEC2-3312B4B6BF63}" type="datetime1">
              <a:rPr lang="en-US">
                <a:latin typeface="+mn-lt"/>
                <a:cs typeface="+mn-cs"/>
              </a:rPr>
              <a:pPr>
                <a:spcAft>
                  <a:spcPts val="600"/>
                </a:spcAft>
                <a:defRPr/>
              </a:pPr>
              <a:t>4/5/2025</a:t>
            </a:fld>
            <a:endParaRPr lang="en-US">
              <a:latin typeface="+mn-lt"/>
              <a:cs typeface="+mn-cs"/>
            </a:endParaRPr>
          </a:p>
        </p:txBody>
      </p:sp>
      <p:sp>
        <p:nvSpPr>
          <p:cNvPr id="2" name="Footer Placeholder 1">
            <a:extLst>
              <a:ext uri="{FF2B5EF4-FFF2-40B4-BE49-F238E27FC236}">
                <a16:creationId xmlns:a16="http://schemas.microsoft.com/office/drawing/2014/main" id="{7B61436B-ABF8-F0D3-E8F8-09047176C22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prepared by Eyayalem Melese</a:t>
            </a:r>
          </a:p>
        </p:txBody>
      </p:sp>
      <p:sp>
        <p:nvSpPr>
          <p:cNvPr id="47108" name="Slide Number Placeholder 4">
            <a:extLst>
              <a:ext uri="{FF2B5EF4-FFF2-40B4-BE49-F238E27FC236}">
                <a16:creationId xmlns:a16="http://schemas.microsoft.com/office/drawing/2014/main" id="{BD3959C3-100D-75E0-30FD-72DB160A8E7D}"/>
              </a:ext>
            </a:extLst>
          </p:cNvPr>
          <p:cNvSpPr>
            <a:spLocks noGrp="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spcAft>
                <a:spcPts val="600"/>
              </a:spcAft>
              <a:buFontTx/>
              <a:buNone/>
            </a:pPr>
            <a:fld id="{AB848C95-9455-4BCF-AABA-0E3C1F40F032}" type="slidenum">
              <a:rPr lang="en-US" altLang="en-US" sz="1200" smtClean="0">
                <a:solidFill>
                  <a:schemeClr val="tx1">
                    <a:tint val="75000"/>
                  </a:schemeClr>
                </a:solidFill>
                <a:latin typeface="+mn-lt"/>
                <a:cs typeface="+mn-cs"/>
              </a:rPr>
              <a:pPr>
                <a:spcBef>
                  <a:spcPct val="0"/>
                </a:spcBef>
                <a:spcAft>
                  <a:spcPts val="600"/>
                </a:spcAft>
                <a:buFontTx/>
                <a:buNone/>
              </a:pPr>
              <a:t>38</a:t>
            </a:fld>
            <a:endParaRPr lang="en-US" altLang="en-US" sz="1200">
              <a:solidFill>
                <a:schemeClr val="tx1">
                  <a:tint val="75000"/>
                </a:schemeClr>
              </a:solidFill>
              <a:latin typeface="+mn-lt"/>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61EC46-ECCD-D0EA-0DE9-E43BCD3D44F2}"/>
              </a:ext>
            </a:extLst>
          </p:cNvPr>
          <p:cNvSpPr>
            <a:spLocks noGrp="1"/>
          </p:cNvSpPr>
          <p:nvPr>
            <p:ph idx="1"/>
          </p:nvPr>
        </p:nvSpPr>
        <p:spPr/>
        <p:txBody>
          <a:bodyPr/>
          <a:lstStyle/>
          <a:p>
            <a:pPr marL="0" indent="0" algn="ctr">
              <a:buNone/>
            </a:pPr>
            <a:r>
              <a:rPr lang="en-US" sz="4400" dirty="0">
                <a:solidFill>
                  <a:srgbClr val="FF0000"/>
                </a:solidFill>
              </a:rPr>
              <a:t>Thanks!!</a:t>
            </a:r>
          </a:p>
          <a:p>
            <a:pPr marL="0" indent="0" algn="ctr">
              <a:buNone/>
            </a:pPr>
            <a:r>
              <a:rPr lang="en-US" sz="4400" dirty="0">
                <a:solidFill>
                  <a:srgbClr val="FF0000"/>
                </a:solidFill>
              </a:rPr>
              <a:t>Stay Safe!</a:t>
            </a:r>
            <a:endParaRPr lang="en-US" dirty="0">
              <a:solidFill>
                <a:srgbClr val="FF0000"/>
              </a:solidFill>
            </a:endParaRPr>
          </a:p>
        </p:txBody>
      </p:sp>
      <p:sp>
        <p:nvSpPr>
          <p:cNvPr id="4" name="Date Placeholder 3">
            <a:extLst>
              <a:ext uri="{FF2B5EF4-FFF2-40B4-BE49-F238E27FC236}">
                <a16:creationId xmlns:a16="http://schemas.microsoft.com/office/drawing/2014/main" id="{314F6014-0C7C-B8A7-0076-EC5148367BEF}"/>
              </a:ext>
            </a:extLst>
          </p:cNvPr>
          <p:cNvSpPr>
            <a:spLocks noGrp="1"/>
          </p:cNvSpPr>
          <p:nvPr>
            <p:ph type="dt" sz="half" idx="10"/>
          </p:nvPr>
        </p:nvSpPr>
        <p:spPr/>
        <p:txBody>
          <a:bodyPr/>
          <a:lstStyle/>
          <a:p>
            <a:pPr>
              <a:defRPr/>
            </a:pPr>
            <a:fld id="{3FAD3F8E-9347-467D-A0E5-E5C2171923A9}" type="datetime1">
              <a:rPr lang="en-US" smtClean="0"/>
              <a:pPr>
                <a:defRPr/>
              </a:pPr>
              <a:t>4/5/2025</a:t>
            </a:fld>
            <a:endParaRPr lang="en-US"/>
          </a:p>
        </p:txBody>
      </p:sp>
      <p:sp>
        <p:nvSpPr>
          <p:cNvPr id="5" name="Footer Placeholder 4">
            <a:extLst>
              <a:ext uri="{FF2B5EF4-FFF2-40B4-BE49-F238E27FC236}">
                <a16:creationId xmlns:a16="http://schemas.microsoft.com/office/drawing/2014/main" id="{80305E8D-5CEB-57A7-48DB-EE84EDA9B086}"/>
              </a:ext>
            </a:extLst>
          </p:cNvPr>
          <p:cNvSpPr>
            <a:spLocks noGrp="1"/>
          </p:cNvSpPr>
          <p:nvPr>
            <p:ph type="ftr" sz="quarter" idx="11"/>
          </p:nvPr>
        </p:nvSpPr>
        <p:spPr/>
        <p:txBody>
          <a:bodyPr/>
          <a:lstStyle/>
          <a:p>
            <a:pPr>
              <a:defRPr/>
            </a:pPr>
            <a:r>
              <a:rPr lang="en-US"/>
              <a:t>prepared by Eyayalem Melese</a:t>
            </a:r>
          </a:p>
        </p:txBody>
      </p:sp>
      <p:sp>
        <p:nvSpPr>
          <p:cNvPr id="6" name="Slide Number Placeholder 5">
            <a:extLst>
              <a:ext uri="{FF2B5EF4-FFF2-40B4-BE49-F238E27FC236}">
                <a16:creationId xmlns:a16="http://schemas.microsoft.com/office/drawing/2014/main" id="{B0FB4DA8-12EE-C00F-D1EE-16C8A5304BC0}"/>
              </a:ext>
            </a:extLst>
          </p:cNvPr>
          <p:cNvSpPr>
            <a:spLocks noGrp="1"/>
          </p:cNvSpPr>
          <p:nvPr>
            <p:ph type="sldNum" sz="quarter" idx="12"/>
          </p:nvPr>
        </p:nvSpPr>
        <p:spPr/>
        <p:txBody>
          <a:bodyPr/>
          <a:lstStyle/>
          <a:p>
            <a:pPr>
              <a:defRPr/>
            </a:pPr>
            <a:fld id="{CC0A79B1-2D3B-4067-8BB4-A62A6859C834}" type="slidenum">
              <a:rPr lang="en-US" altLang="en-US" smtClean="0"/>
              <a:pPr>
                <a:defRPr/>
              </a:pPr>
              <a:t>39</a:t>
            </a:fld>
            <a:endParaRPr lang="en-US" altLang="en-US"/>
          </a:p>
        </p:txBody>
      </p:sp>
    </p:spTree>
    <p:extLst>
      <p:ext uri="{BB962C8B-B14F-4D97-AF65-F5344CB8AC3E}">
        <p14:creationId xmlns:p14="http://schemas.microsoft.com/office/powerpoint/2010/main" val="2902217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12067</TotalTime>
  <Words>2008</Words>
  <Application>Microsoft Office PowerPoint</Application>
  <PresentationFormat>Widescreen</PresentationFormat>
  <Paragraphs>267</Paragraphs>
  <Slides>39</Slides>
  <Notes>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5" baseType="lpstr">
      <vt:lpstr>Arial</vt:lpstr>
      <vt:lpstr>Calibri</vt:lpstr>
      <vt:lpstr>Google Sans</vt:lpstr>
      <vt:lpstr>Wingdings</vt:lpstr>
      <vt:lpstr>Office Theme</vt:lpstr>
      <vt:lpstr>Slide</vt:lpstr>
      <vt:lpstr>PULMONARY FUNCTION TEST AND SPIROMETER</vt:lpstr>
      <vt:lpstr>PULMONARY FUNCTION TEST AND SPIROMETER</vt:lpstr>
      <vt:lpstr>Spirometer</vt:lpstr>
      <vt:lpstr>PULMONARY FUNCTION TEST &amp;…</vt:lpstr>
      <vt:lpstr>Two important parameters</vt:lpstr>
      <vt:lpstr>Spirometry:  Normal and COPD</vt:lpstr>
      <vt:lpstr>Spirometry</vt:lpstr>
      <vt:lpstr>FVC</vt:lpstr>
      <vt:lpstr>Spirometry</vt:lpstr>
      <vt:lpstr>Spirometry</vt:lpstr>
      <vt:lpstr>Spirometry….</vt:lpstr>
      <vt:lpstr>Spirometry….</vt:lpstr>
      <vt:lpstr>FEV1/FVC ratio</vt:lpstr>
      <vt:lpstr>Spirometry…</vt:lpstr>
      <vt:lpstr>  Significance of Bronchodilator therapy   </vt:lpstr>
      <vt:lpstr> Effects of Anesthesia and Surgery on Lung Volumes </vt:lpstr>
      <vt:lpstr>PowerPoint Presentation</vt:lpstr>
      <vt:lpstr>Split Lung Function and Ventilation Perfusion Studies </vt:lpstr>
      <vt:lpstr>Split Lung Function and Ventilation Perfusion Studies </vt:lpstr>
      <vt:lpstr> Split-lung Function Tests</vt:lpstr>
      <vt:lpstr>Lug ,Lobes,Segments and Sub segments </vt:lpstr>
      <vt:lpstr>Risk stratification </vt:lpstr>
      <vt:lpstr>Risk stratification </vt:lpstr>
      <vt:lpstr>PowerPoint Presentation</vt:lpstr>
      <vt:lpstr>Risk stratification</vt:lpstr>
      <vt:lpstr>Risk stratification</vt:lpstr>
      <vt:lpstr>PowerPoint Presentation</vt:lpstr>
      <vt:lpstr>Risk stratification</vt:lpstr>
      <vt:lpstr>FACTORS AFFECTING DLCO</vt:lpstr>
      <vt:lpstr>Pulmonary parenchymal</vt:lpstr>
      <vt:lpstr>Risk stratification</vt:lpstr>
      <vt:lpstr>PowerPoint Presentation</vt:lpstr>
      <vt:lpstr>Risk stratification</vt:lpstr>
      <vt:lpstr>Combination of tests</vt:lpstr>
      <vt:lpstr>Combination of tests</vt:lpstr>
      <vt:lpstr>PowerPoint Presentation</vt:lpstr>
      <vt:lpstr>GAS EXCHANGE TEST</vt:lpstr>
      <vt:lpstr>Sequence of testing Lung Rescetion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Preoperative Preparation</dc:title>
  <dc:creator>eyayalem</dc:creator>
  <cp:lastModifiedBy>Eyaya Anesthesia</cp:lastModifiedBy>
  <cp:revision>257</cp:revision>
  <dcterms:created xsi:type="dcterms:W3CDTF">2010-02-17T11:39:51Z</dcterms:created>
  <dcterms:modified xsi:type="dcterms:W3CDTF">2025-04-05T05:42:59Z</dcterms:modified>
</cp:coreProperties>
</file>