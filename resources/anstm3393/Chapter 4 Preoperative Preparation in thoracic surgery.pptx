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5"/>
  </p:notesMasterIdLst>
  <p:sldIdLst>
    <p:sldId id="374" r:id="rId2"/>
    <p:sldId id="257" r:id="rId3"/>
    <p:sldId id="258" r:id="rId4"/>
    <p:sldId id="379" r:id="rId5"/>
    <p:sldId id="3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370" r:id="rId17"/>
    <p:sldId id="269" r:id="rId18"/>
    <p:sldId id="270" r:id="rId19"/>
    <p:sldId id="271" r:id="rId20"/>
    <p:sldId id="272" r:id="rId21"/>
    <p:sldId id="273" r:id="rId22"/>
    <p:sldId id="274" r:id="rId23"/>
    <p:sldId id="375" r:id="rId2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9" autoAdjust="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5930E1-06FA-4AED-4CF4-55745CC138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8948C-5E75-FBD6-CBFE-C090A94139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7F7626B-8A09-4502-8BDE-F674D3902938}" type="datetimeFigureOut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79523C5-1E92-37FE-BBC8-BDAF27623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78AE1D7-BD29-6553-AD4D-5054FCF5C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0D341-2977-28E9-6400-2785910E1B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42E51-8801-9AD2-94A1-99E7AC80A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ECF45E3-BC04-4516-9004-F8B73963EA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BE3B8719-CA3A-3870-64E7-7EFF921BAD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49F6A8B3-5928-92A9-464A-AF597C3620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915F0DF2-823C-BBC4-313C-24822C45B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C82B54-4DA7-4D0C-BA55-C8381BAFF5A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D9566-C615-316F-681B-EE1E2994B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40EA6-BD4F-4654-8E04-09954F67AC54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BC61D-DBFF-0349-33CB-147C2B3B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44DCE-E588-1B38-405E-6815BAB3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424A8-1C6D-4839-86B9-AFB3F5EBC3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084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A857F-2327-9E88-C04B-68D8754D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FC708-5F9D-4926-989B-D00348AC50B9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8398E-CDD9-9829-5E33-31BFE126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DDB1-79E6-8001-9B0D-964AC25B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23DAF-6C17-4A11-AC2B-16A9C1D59D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79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B55F-9053-FD05-BE3C-9C6C8015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4690B4-B4D0-4D42-857A-FD0AFC69B73A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41F5A-4ECB-7564-D0A9-B06AC33B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885FD-3D45-B7DF-3EC7-117EF903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0E1CE-0413-467B-80C7-9F41DBF2EA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9066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E03954-1179-E455-B0E8-4AD5140E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FE026-E1FD-459A-866B-533FEEA15703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009EBA-0E6B-722A-87E2-97EE4AFB5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1C10DFB-E227-7654-23B0-A0B79F17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A26CD-D985-411E-B362-6AB9122FE1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11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09C382-8922-1A94-3829-24CDB91AA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ED4B4-D4C1-49ED-B140-F82386CB7555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DEF21E3-5903-B18B-C96D-4CC756EF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C0AF18B-38F1-E432-4AC0-44B546B6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F4AAE-437D-4AB7-B6D1-16A2194DAF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471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BFA6C4D-A762-6214-3059-2FC72DF3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D9119-427A-4431-97A4-AB6DE7DA1590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F608E2-C6CE-0E51-07DF-02B918E3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BD6557D-C93B-4FB3-FE1E-5C22BBA8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6CAF5-3B77-4E92-ADB8-5529F4DBD7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34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7223A76-20D7-3645-8FA1-C2307D52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AC224-6B59-4809-9F71-E79FA7BC5744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C0764C1-7D8F-FFA4-C9C8-AE10E0A0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73EB1E1-59E5-34FF-E2EC-6EC2B67B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3DB9A-E687-4607-82D3-DCB5A32532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978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DDD22A2-B1E5-8CFB-249D-D15DEDD8E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7952-0BA7-478D-8E4D-2565281AB3B2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76DB77-480A-F8C1-1D3F-D00111B0D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0EDAAB-49A1-A590-A30A-111D8BBB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35447-22A7-432D-9E51-A10B8989A7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49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7753302-222C-B97F-DCB6-B5ED579F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B1746-62EA-4E9E-B60D-64FF6B4FC4C4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F82C45-E6F5-F2F0-4B16-36DBF812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0E112B-B43D-8A83-A9B3-F48BB0DE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70D40-BD65-43BA-AB81-8ABBF4A820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62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DF30C-4A80-2646-D1B1-EEC9D829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2740A-14F1-4573-A312-C5E8E7C8001D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5FDB4-1359-08E2-32F5-D6A1D75E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87B61-E197-4BDD-E9BC-580B5FE3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84D0A-3F68-42DD-92D8-0DF6F16241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13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7CE30-6AAB-DAC3-1EBC-34FFDEC6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A1E53-F672-4C87-A7DF-025EE485034A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19F0-E789-D636-91BC-110CFD7B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6A7E6-38E5-8DF1-209B-3D781F1F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27A42-1CD9-49C2-9A59-0864DEA88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547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E147102-AE76-C02A-D2CE-4B968BB698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CE39FAE-6773-D13E-CEEB-CFBE2C9E8F8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96B9A-AECC-2762-E92B-0101A1DE9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67BC137-01E3-4343-A9DC-D61C211D0F70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7D715-EE24-E364-9E2E-DA33CC228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7A54D-18F2-54AA-6164-5DA413F2D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84911CF-C17A-40B4-B9B2-DDC9DB73C3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4" name="Freeform: Shape 308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86" name="Freeform: Shape 308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4" name="Title 1">
            <a:extLst>
              <a:ext uri="{FF2B5EF4-FFF2-40B4-BE49-F238E27FC236}">
                <a16:creationId xmlns:a16="http://schemas.microsoft.com/office/drawing/2014/main" id="{6B56D519-32DE-86C1-5ACD-5AA9BCCCB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5000" b="1"/>
              <a:t>Chapter 4:</a:t>
            </a:r>
            <a:br>
              <a:rPr lang="en-US" altLang="en-US" sz="5000" b="1"/>
            </a:br>
            <a:r>
              <a:rPr lang="en-US" altLang="en-US" sz="5000" b="1"/>
              <a:t>        Preoperative Preparation and  </a:t>
            </a:r>
            <a:br>
              <a:rPr lang="en-US" altLang="en-US" sz="5000" b="1"/>
            </a:br>
            <a:r>
              <a:rPr lang="en-US" altLang="en-US" sz="5000" b="1"/>
              <a:t>        Intraoperative Monitoring</a:t>
            </a:r>
            <a:endParaRPr lang="en-US" altLang="en-US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1AB8E-52B7-B874-42AD-3D0A09796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i="1" dirty="0"/>
              <a:t>By   Eyayalem M. (Assistant. Professor :April 2025)</a:t>
            </a:r>
            <a:endParaRPr lang="en-US" dirty="0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B3A75-F101-4BEB-E7C9-1FC208D675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34163" y="6356350"/>
            <a:ext cx="116603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1D32877A-8303-4DF8-8978-89B280F9B6A0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4/5/2025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70BCF4-207A-ED2E-ACDD-4D61F872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prepared by Eyayalem Melese</a:t>
            </a:r>
          </a:p>
        </p:txBody>
      </p:sp>
      <p:sp>
        <p:nvSpPr>
          <p:cNvPr id="3077" name="Slide Number Placeholder 4">
            <a:extLst>
              <a:ext uri="{FF2B5EF4-FFF2-40B4-BE49-F238E27FC236}">
                <a16:creationId xmlns:a16="http://schemas.microsoft.com/office/drawing/2014/main" id="{6C0D97B7-F6D8-E416-DE58-3A825072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489019" y="6356350"/>
            <a:ext cx="1268818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E51AE0EE-96D3-431F-9904-B9533C38CF93}" type="slidenum">
              <a:rPr lang="en-US" alt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</a:t>
            </a:fld>
            <a:endParaRPr lang="en-US" altLang="en-US" sz="18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0" name="Rectangle 512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Title 1">
            <a:extLst>
              <a:ext uri="{FF2B5EF4-FFF2-40B4-BE49-F238E27FC236}">
                <a16:creationId xmlns:a16="http://schemas.microsoft.com/office/drawing/2014/main" id="{8A94E513-1E1E-E7BD-1E3D-21E39D9EF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5400" b="1"/>
              <a:t>Preoperative…..</a:t>
            </a:r>
            <a:endParaRPr lang="en-US" altLang="en-US" sz="5400"/>
          </a:p>
        </p:txBody>
      </p:sp>
      <p:sp>
        <p:nvSpPr>
          <p:cNvPr id="513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4A715-6E0B-73CC-A791-6D9B6D74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200"/>
              <a:t>The wide spectrum of physiologic changes occurring during thoracic surgery puts  patients at great risk of developing postoperative complications</a:t>
            </a:r>
          </a:p>
          <a:p>
            <a:pPr eaLnBrk="1" hangingPunct="1"/>
            <a:r>
              <a:rPr lang="en-US" altLang="en-US" sz="2200"/>
              <a:t>Sever conditions producing this complication such as: -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en-US" sz="2200" b="1"/>
              <a:t> Smoking</a:t>
            </a:r>
            <a:r>
              <a:rPr lang="en-US" altLang="en-US" sz="2200"/>
              <a:t>: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en-US" sz="2200" b="1"/>
              <a:t>Infection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en-US" sz="2200" b="1"/>
              <a:t> Bronchial Secretions&amp; poor hydration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en-US" sz="2200" b="1"/>
              <a:t>Wheezing and unable Bronchodilation</a:t>
            </a:r>
            <a:endParaRPr lang="en-US" altLang="en-US" sz="2200"/>
          </a:p>
          <a:p>
            <a:pPr eaLnBrk="1" hangingPunct="1"/>
            <a:endParaRPr lang="en-US" altLang="en-US" sz="2200"/>
          </a:p>
          <a:p>
            <a:pPr eaLnBrk="1" hangingPunct="1"/>
            <a:endParaRPr lang="en-US" altLang="en-US" sz="2200"/>
          </a:p>
          <a:p>
            <a:pPr eaLnBrk="1" hangingPunct="1"/>
            <a:endParaRPr lang="en-US" altLang="en-US" sz="2200"/>
          </a:p>
          <a:p>
            <a:pPr eaLnBrk="1" hangingPunct="1"/>
            <a:endParaRPr lang="en-US" altLang="en-US" sz="2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E487E-FB32-65BC-DBCD-8043AE60CE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AFB213C-E236-49AF-9757-655646E9682B}" type="datetime1">
              <a:rPr lang="en-US" smtClean="0"/>
              <a:pPr>
                <a:spcAft>
                  <a:spcPts val="600"/>
                </a:spcAft>
                <a:defRPr/>
              </a:pPr>
              <a:t>4/5/2025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EA7169-B50B-BF44-9532-918682E2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5125" name="Slide Number Placeholder 5">
            <a:extLst>
              <a:ext uri="{FF2B5EF4-FFF2-40B4-BE49-F238E27FC236}">
                <a16:creationId xmlns:a16="http://schemas.microsoft.com/office/drawing/2014/main" id="{BADA8CC2-059D-070B-C942-60A2CD93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00D523A1-F0F9-48BC-BF6B-B46E3F448D00}" type="slidenum">
              <a:rPr lang="en-US" altLang="en-US" sz="1800" smtClean="0">
                <a:latin typeface="Arial" panose="020B0604020202020204" pitchFamily="34" charset="0"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</a:t>
            </a:fld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4" name="Rectangle 615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ED55C034-16F7-9714-90E0-915BF8EC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5400" b="1" dirty="0"/>
              <a:t>Preoperative….</a:t>
            </a:r>
            <a:endParaRPr lang="en-US" altLang="en-US" sz="5400" dirty="0"/>
          </a:p>
        </p:txBody>
      </p:sp>
      <p:sp>
        <p:nvSpPr>
          <p:cNvPr id="615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0C8A3-F0CC-0B64-91BC-A016E4738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200" b="1" dirty="0"/>
              <a:t>a) Smoking</a:t>
            </a:r>
            <a:r>
              <a:rPr lang="en-US" altLang="en-US" sz="2200" dirty="0"/>
              <a:t>: </a:t>
            </a:r>
          </a:p>
          <a:p>
            <a:pPr lvl="2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en-US" sz="2200" dirty="0"/>
              <a:t>    Associated with lung and heart diseases </a:t>
            </a:r>
          </a:p>
          <a:p>
            <a:pPr lvl="2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en-US" sz="2200" dirty="0"/>
              <a:t>  Increases airway irritability, </a:t>
            </a:r>
          </a:p>
          <a:p>
            <a:pPr lvl="2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en-US" sz="2200" dirty="0"/>
              <a:t>   Decreases mucociliary transport and</a:t>
            </a:r>
          </a:p>
          <a:p>
            <a:pPr lvl="2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en-US" sz="2200" dirty="0"/>
              <a:t>   Increases  air way secretions</a:t>
            </a:r>
          </a:p>
          <a:p>
            <a:pPr lvl="2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en-US" sz="2200" dirty="0"/>
              <a:t>   Increases Carboxyhemoglobin level</a:t>
            </a:r>
          </a:p>
          <a:p>
            <a:pPr lvl="2" eaLnBrk="1" hangingPunct="1">
              <a:buFont typeface="Wingdings" panose="05000000000000000000" pitchFamily="2" charset="2"/>
              <a:buChar char="ü"/>
              <a:defRPr/>
            </a:pPr>
            <a:r>
              <a:rPr lang="en-US" sz="2200" dirty="0"/>
              <a:t>  Has Nicotine</a:t>
            </a:r>
            <a:endParaRPr lang="en-US" altLang="en-US" sz="2200" dirty="0"/>
          </a:p>
          <a:p>
            <a:pPr marL="914400" lvl="2" indent="0" eaLnBrk="1" hangingPunct="1">
              <a:buFont typeface="Arial" panose="020B0604020202020204" pitchFamily="34" charset="0"/>
              <a:buNone/>
              <a:defRPr/>
            </a:pPr>
            <a:endParaRPr lang="en-US" altLang="en-US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4672-2F07-BCB7-53C2-6CB91AE47C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E77B9BBB-50A4-47B0-A23F-4C5167994574}" type="datetime1">
              <a:rPr lang="en-US"/>
              <a:pPr>
                <a:spcAft>
                  <a:spcPts val="600"/>
                </a:spcAft>
                <a:defRPr/>
              </a:pPr>
              <a:t>4/5/2025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91F921-E7F3-7AD6-2598-4E4E7642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149" name="Slide Number Placeholder 4">
            <a:extLst>
              <a:ext uri="{FF2B5EF4-FFF2-40B4-BE49-F238E27FC236}">
                <a16:creationId xmlns:a16="http://schemas.microsoft.com/office/drawing/2014/main" id="{7EDE142D-5AF0-C9B7-E552-1B8F325C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96EDF227-02B3-4FE7-AE78-FB8031CD7D1E}" type="slidenum">
              <a:rPr lang="en-US" altLang="en-US" sz="1800" smtClean="0">
                <a:latin typeface="Arial" panose="020B0604020202020204" pitchFamily="34" charset="0"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</a:t>
            </a:fld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6850E51D-3DE7-55C0-F3F9-19FFE7DB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2130F34A-E428-9168-FFA2-D6D03A26D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b="1" dirty="0"/>
              <a:t>Smoking</a:t>
            </a:r>
            <a:endParaRPr lang="en-US" altLang="en-US" dirty="0"/>
          </a:p>
          <a:p>
            <a:r>
              <a:rPr lang="en-US" altLang="en-US" dirty="0"/>
              <a:t>Nicotine, which   is a sympathomimetic drug that causes the release of catecholamines and increases heart rate, cardiac contractility, constricts cutaneous and coronary blood vessels and increases blood pressure. may it have rebound effect.</a:t>
            </a:r>
          </a:p>
          <a:p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7318-C3B1-590D-7371-3E16DA7656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3242706-8374-44EA-8C3D-36A3674900A8}" type="datetime1">
              <a:rPr lang="en-US" smtClean="0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9F8F-CA3C-61D7-F0B7-A89A480E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66D07B55-E2BE-A29E-894C-E59DB1AD95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E3709B4-6F1A-41C0-B41E-674A9AE58E6A}" type="slidenum">
              <a:rPr lang="en-US" altLang="en-US" smtClean="0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6B885BD-D469-1A5A-FBB2-6DD8A0F0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/>
              <a:t>Preoperative…</a:t>
            </a:r>
            <a:endParaRPr lang="en-US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C0954122-9EE8-750C-A392-3968C689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chemeClr val="tx2"/>
                </a:solidFill>
              </a:rPr>
              <a:t>Cessation of smoking </a:t>
            </a:r>
          </a:p>
          <a:p>
            <a:pPr lvl="1" eaLnBrk="1" hangingPunct="1"/>
            <a:r>
              <a:rPr lang="en-US" altLang="en-US" sz="2400"/>
              <a:t>  for 2-3 months →</a:t>
            </a:r>
            <a:r>
              <a:rPr lang="en-US" altLang="en-US"/>
              <a:t>improves in ciliary function,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                          →  improves closing volume, and →                                  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                         → reduction in sputum production</a:t>
            </a:r>
            <a:endParaRPr lang="en-US" altLang="en-US" sz="6000">
              <a:solidFill>
                <a:schemeClr val="tx2"/>
              </a:solidFill>
            </a:endParaRPr>
          </a:p>
          <a:p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994FA-F56D-29B1-88A6-2B2F2950C5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3242706-8374-44EA-8C3D-36A3674900A8}" type="datetime1">
              <a:rPr lang="en-US" smtClean="0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25509-996C-D5DF-B547-B5C64761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D64F88BE-A3E6-22AA-CB9A-3A59202E8F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9642099-704C-438E-B7BA-A010F08D357B}" type="slidenum">
              <a:rPr lang="en-US" altLang="en-US" smtClean="0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B363E7A-73FE-AD41-8BF0-9E8EC36B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Preoperative….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092B-85BA-3B4F-81A0-DA6330438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en-US" altLang="en-US"/>
              <a:t>for a period of longer than 4 - 6 weeks before surgery - decreases incidence of post operative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     complications.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- for 48 hours before surgery has been shown to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decrease the level of carboxyhemoglobin,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b) Infection</a:t>
            </a:r>
            <a:r>
              <a:rPr lang="en-US" altLang="en-US"/>
              <a:t>: - Acute or chronic infection should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       be vigorously treated before surgery.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    -  Broad spectrum antibiotics are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       commonly used.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81E6-B70F-11D2-1D3C-75E3FA24C7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D9DABF-0B5B-44D6-AAF0-5F464839CCEF}" type="datetime1">
              <a:rPr lang="en-US" smtClean="0"/>
              <a:pPr>
                <a:defRPr/>
              </a:pPr>
              <a:t>4/5/2025</a:t>
            </a:fld>
            <a:endParaRPr 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F5B37732-B7D3-DD17-CEF1-962C420C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AD9DC5-58A6-410F-9E4E-66CBA19957A1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7A1FA5-714C-143E-05F5-9012604E3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55FC352F-1231-5ACC-09E8-0363F430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Preoperative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E62C0-A657-2CF9-EE60-EDEE3764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c) Hydration and removal of Bronchial Secretions:-</a:t>
            </a:r>
            <a:endParaRPr lang="en-US" altLang="en-US"/>
          </a:p>
          <a:p>
            <a:pPr eaLnBrk="1" hangingPunct="1"/>
            <a:r>
              <a:rPr lang="en-US" altLang="en-US"/>
              <a:t>Correct hypovolemia and electrolyte imbalance </a:t>
            </a:r>
          </a:p>
          <a:p>
            <a:pPr eaLnBrk="1" hangingPunct="1"/>
            <a:r>
              <a:rPr lang="en-US" altLang="en-US"/>
              <a:t> hydrating the patient decreases the  viscosity of the bronchial secretions and facilitates their removal from the air ways.</a:t>
            </a:r>
          </a:p>
          <a:p>
            <a:pPr eaLnBrk="1" hangingPunct="1"/>
            <a:r>
              <a:rPr lang="en-US" altLang="en-US"/>
              <a:t>The use of mucolytic drugs or oral expectorants (potassium iodide) can be  benefit to patients with viscous secretions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1044-4F07-55D1-B78C-A0B5A0F8AF8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2F3E63-E8E4-4D12-AC91-DE157182C6CA}" type="datetime1">
              <a:rPr lang="en-US" smtClean="0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EACDC0B0-19EA-9D34-94C3-2EB8D916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21089A-9343-49C2-B0E1-F7E490F7F3AE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30F5D9-5B98-6ECD-5F07-22C9D982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861A564-230A-9B98-277F-825BF2DC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Preoperative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E99D-14DE-A8A3-649B-2C695359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/>
          <a:lstStyle/>
          <a:p>
            <a:pPr eaLnBrk="1" hangingPunct="1"/>
            <a:r>
              <a:rPr lang="en-US" altLang="en-US"/>
              <a:t> Postural drainage, vigorous coughing, chest percussion, deep breathing   and the use of incentive spirometer can use to remove secretions.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 d) Wheezing and Bronchodilation</a:t>
            </a:r>
            <a:endParaRPr lang="en-US" altLang="en-US"/>
          </a:p>
          <a:p>
            <a:pPr eaLnBrk="1" hangingPunct="1"/>
            <a:r>
              <a:rPr lang="en-US" altLang="en-US"/>
              <a:t>The presence of acute wheezing represents a medical emergency, and elective surgery should be postponed until effective Proper treatment has been instituted.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C8323-FBB7-9D79-AD65-9F5A423FF8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7AAA745-2905-419A-85C0-B4E3AE1C32D3}" type="datetime1">
              <a:rPr lang="en-US" smtClean="0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B4C9283F-A376-C144-D1FC-F9E6F086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9F679-4589-463D-BF72-CD8C317BCEC0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A73AA4-ECFD-C17A-4E50-C92C868A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4BC6291-C68A-B586-D5FC-FF0A8972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Preoperative</a:t>
            </a:r>
            <a:endParaRPr lang="en-US" altLang="en-U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594366A5-DF50-E6EC-61FE-BA9B6917B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371600"/>
            <a:ext cx="9144000" cy="5486400"/>
          </a:xfrm>
        </p:spPr>
        <p:txBody>
          <a:bodyPr/>
          <a:lstStyle/>
          <a:p>
            <a:pPr eaLnBrk="1" hangingPunct="1"/>
            <a:r>
              <a:rPr lang="en-US" altLang="en-US"/>
              <a:t>The efficacy of bronchodilators in reversing the bronchospastic component is extremely important.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67A89-74E1-3EF7-84BC-779646788C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54D0344-1A3A-428F-BE78-C072E0ED9733}" type="datetime1">
              <a:rPr lang="en-US" smtClean="0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698B6567-2AD4-8E4B-F0F8-2FD8B6B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8B3E0A-943A-4AFB-9391-8554046CAD72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84A6AC-2419-0F97-5CD2-058A6A21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73FF10C5-4B72-ABC6-0273-22733007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en-US" b="1"/>
            </a:br>
            <a:br>
              <a:rPr lang="en-US" altLang="en-US" b="1"/>
            </a:br>
            <a:r>
              <a:rPr lang="en-US" altLang="en-US" b="1"/>
              <a:t>Intra Operative Monitoring</a:t>
            </a:r>
            <a:br>
              <a:rPr lang="en-US" altLang="en-US" b="1"/>
            </a:br>
            <a:r>
              <a:rPr lang="en-US" altLang="en-US"/>
              <a:t> 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2C1F0-032A-0475-FD29-365E74D6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/>
          <a:lstStyle/>
          <a:p>
            <a:pPr eaLnBrk="1" hangingPunct="1"/>
            <a:r>
              <a:rPr lang="en-US" altLang="en-US"/>
              <a:t>All patients undergoing thoracic surgical procedures require the standard monitoring</a:t>
            </a:r>
          </a:p>
          <a:p>
            <a:pPr eaLnBrk="1" hangingPunct="1"/>
            <a:r>
              <a:rPr lang="en-US" altLang="en-US" b="1"/>
              <a:t>Pulse Oximetry</a:t>
            </a:r>
            <a:r>
              <a:rPr lang="en-US" altLang="en-US"/>
              <a:t> is standard of care during thoracic surgery because hypoxemia may occur during one lung ventilation</a:t>
            </a:r>
          </a:p>
          <a:p>
            <a:pPr eaLnBrk="1" hangingPunct="1"/>
            <a:r>
              <a:rPr lang="en-US" altLang="en-US"/>
              <a:t>-  </a:t>
            </a:r>
            <a:r>
              <a:rPr lang="en-US" altLang="en-US" b="1"/>
              <a:t>Dysrhythmias</a:t>
            </a:r>
            <a:r>
              <a:rPr lang="en-US" altLang="en-US"/>
              <a:t> occur commonly both during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and after thoracic surgery so needs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continuous ECG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2C6CF-8DA5-E4A7-6EA3-59D232C588F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A5D8436-0C06-4E3F-9596-AD16136B0AC0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430C8D9F-D20D-FED4-52D7-964A0299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8FC269-02DF-44CE-BF31-514603176D95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72FCAC-01D5-6221-ACA8-2431E9A9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7F3B959-97E6-1AC6-7494-8C92C291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D0559-CEEF-EA6C-876D-876B96F5B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Dysrhythmias</a:t>
            </a:r>
            <a:r>
              <a:rPr lang="en-US" altLang="en-US"/>
              <a:t> may be </a:t>
            </a:r>
          </a:p>
          <a:p>
            <a:pPr eaLnBrk="1" hangingPunct="1"/>
            <a:r>
              <a:rPr lang="en-US" altLang="en-US"/>
              <a:t>due to cardiac manipulation.</a:t>
            </a:r>
          </a:p>
          <a:p>
            <a:pPr eaLnBrk="1" hangingPunct="1"/>
            <a:r>
              <a:rPr lang="en-US" altLang="en-US"/>
              <a:t>a sign of inadequate oxygenation or ventilation.</a:t>
            </a:r>
          </a:p>
          <a:p>
            <a:pPr eaLnBrk="1" hangingPunct="1"/>
            <a:r>
              <a:rPr lang="en-US" altLang="en-US"/>
              <a:t>related to sympathetic nervous   system stimulation from pain . </a:t>
            </a:r>
          </a:p>
          <a:p>
            <a:pPr eaLnBrk="1" hangingPunct="1"/>
            <a:r>
              <a:rPr lang="en-US" altLang="en-US"/>
              <a:t>to reduced pulmonary vascular bed from the lung resection.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B2209-9EFA-A525-7646-83663EB8FC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D04B268-E050-436C-9C1E-1EE77B23F428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BC5D7635-1F03-EB38-6098-D8D4B6DD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F5BB9D-DC9D-4377-AAEA-561BA425175E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958273-7887-E557-41CF-69DA70E8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D27EA38-1379-5361-81FB-CBC9E6C3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3185B279-8E42-51FA-96B3-03ABE20CF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19200"/>
            <a:ext cx="9144000" cy="5638800"/>
          </a:xfrm>
        </p:spPr>
        <p:txBody>
          <a:bodyPr/>
          <a:lstStyle/>
          <a:p>
            <a:pPr eaLnBrk="1" hangingPunct="1"/>
            <a:r>
              <a:rPr lang="en-US" altLang="en-US" b="1"/>
              <a:t>Invasive Monitoring  important for thoracic surgery are.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1.  Direct Arterial Catheterization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2.Central Venous Pressure Monitoring (CVP)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3.  Pulmonary Artery Catheterization (PA)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31F43-BF72-3D20-31FB-4328224D7F8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B46B56-7B4D-40F6-90FB-2D0F97E4B83A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D2908321-8C74-B265-0D4E-D902249B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8C904E-79C0-4975-BFF6-A00969645A37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9C7735-8465-9512-8605-BA8FE7B7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1BD66C1-00CA-4C58-A4BC-AE3FEFCD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40A1DDF-1701-5B6A-6F74-5E98EE55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u="sng"/>
              <a:t>1-Direct arterial catheterization</a:t>
            </a:r>
            <a:r>
              <a:rPr lang="en-US" altLang="en-US"/>
              <a:t> –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It allows </a:t>
            </a:r>
          </a:p>
          <a:p>
            <a:pPr eaLnBrk="1" hangingPunct="1"/>
            <a:r>
              <a:rPr lang="en-US" altLang="en-US"/>
              <a:t>For continuous Beat to beat BP analysis </a:t>
            </a:r>
          </a:p>
          <a:p>
            <a:pPr eaLnBrk="1" hangingPunct="1"/>
            <a:r>
              <a:rPr lang="en-US" altLang="en-US"/>
              <a:t>Sampling for determination of ABG </a:t>
            </a:r>
          </a:p>
          <a:p>
            <a:pPr eaLnBrk="1" hangingPunct="1"/>
            <a:r>
              <a:rPr lang="en-US" altLang="en-US"/>
              <a:t>For mediastinoscopies, monitor compression of Rt. innominate artery via Rt. radial arterial line 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1496A-33D8-CF8C-4B7E-A717E8D7017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5D1715E-FD42-4197-BF90-7C6B7FF58BEC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6389" name="Slide Number Placeholder 4">
            <a:extLst>
              <a:ext uri="{FF2B5EF4-FFF2-40B4-BE49-F238E27FC236}">
                <a16:creationId xmlns:a16="http://schemas.microsoft.com/office/drawing/2014/main" id="{CEC1EF65-6C98-6099-2C8E-620007D7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30D3D5-21EE-48F8-AEC5-CE94BCBBE834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E3E9C5-62AA-9475-C8A0-A8656B4F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15FCB3D-B59B-4A3C-3B60-11F87B2A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004B-3FE2-48A4-E89E-E0FBA2E51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19200"/>
            <a:ext cx="9144000" cy="594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u="sng"/>
              <a:t>2-CVP monitoring/measure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 To Measure Rt. atrial &amp; ventricular pressure. </a:t>
            </a:r>
          </a:p>
          <a:p>
            <a:pPr lvl="1" eaLnBrk="1" hangingPunct="1"/>
            <a:r>
              <a:rPr lang="en-US" altLang="en-US"/>
              <a:t>*Useful in – large volume shift &amp; hypovolemia </a:t>
            </a:r>
          </a:p>
          <a:p>
            <a:pPr lvl="1" eaLnBrk="1" hangingPunct="1"/>
            <a:r>
              <a:rPr lang="en-US" altLang="en-US"/>
              <a:t>need for vasoactive drug.</a:t>
            </a:r>
          </a:p>
          <a:p>
            <a:pPr lvl="1" eaLnBrk="1" hangingPunct="1"/>
            <a:r>
              <a:rPr lang="en-US" altLang="en-US"/>
              <a:t>Insertion of a transvenous pacemaker where necessary</a:t>
            </a:r>
          </a:p>
          <a:p>
            <a:pPr eaLnBrk="1" hangingPunct="1"/>
            <a:r>
              <a:rPr lang="en-US" altLang="en-US"/>
              <a:t>-  It reflects the patients Blood Volume, venous tone, and right ventricular performance; </a:t>
            </a:r>
          </a:p>
          <a:p>
            <a:pPr eaLnBrk="1" hangingPunct="1"/>
            <a:r>
              <a:rPr lang="en-US" altLang="en-US"/>
              <a:t> it is also affected by central venous obstruction and alterations of  intrathoracic pressure (e.g. PEEP).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9092C-7DD2-9390-4114-396F63C53E7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39BB6FD-96D2-4DFD-9F72-2B7EF8661325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A78FE182-877C-129A-1AE6-A6C17B91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648346-AE71-4B5F-9C9C-1A2D0989FF39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96BF9A-304A-8DC6-2CF1-320C217A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C009010B-2CDA-E3D2-D22B-394F226F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F221-87B5-406F-CC00-915026EA6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/>
          <a:lstStyle/>
          <a:p>
            <a:pPr eaLnBrk="1" hangingPunct="1"/>
            <a:r>
              <a:rPr lang="en-US" altLang="en-US"/>
              <a:t>The CVP reflects right-sided heart function and not left ventricular performance.</a:t>
            </a:r>
          </a:p>
          <a:p>
            <a:pPr eaLnBrk="1" hangingPunct="1"/>
            <a:r>
              <a:rPr lang="en-US" altLang="en-US"/>
              <a:t>The CVP catheter can be placed centrally from either the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- external or the internal Jugular Vein,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- from the subclavian veins or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- from one of the arm veins.</a:t>
            </a:r>
          </a:p>
          <a:p>
            <a:pPr eaLnBrk="1" hangingPunct="1"/>
            <a:r>
              <a:rPr lang="en-US" altLang="en-US" b="1"/>
              <a:t>-  The success ratio is highest using the right internal jugular vein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324A3-68D3-CDEC-88F3-8ABD60707C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C1F2C15-FB4A-42BC-8CB1-E0A2120FAC79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62AA1552-58A4-8193-E18D-025A0E216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BAC849-34E1-4BB1-BA97-8B855AFBFF69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979FBA-174B-9893-E418-534D100F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C6204C6E-25EF-383E-0065-3B29EB80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D4056B29-9865-B690-9A9C-68F6BD9EA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42459-0A4A-236D-A873-4717EB460C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3A6EE87-397C-4CD0-AFE5-93EA9691FD8A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id="{120F77B8-7186-2ACF-1514-87D45C4E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7FAA54-2B50-43C5-9237-B204B030726F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19462" name="Picture 2" descr="https://www.med.uottawa.ca/courses/cvc/Landmark%20Techniques/e_images/img_ij_loc.jpg">
            <a:extLst>
              <a:ext uri="{FF2B5EF4-FFF2-40B4-BE49-F238E27FC236}">
                <a16:creationId xmlns:a16="http://schemas.microsoft.com/office/drawing/2014/main" id="{ECE3B929-C9FF-BC29-5B24-8F239BA3E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33400"/>
            <a:ext cx="8001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E01AC2-8A6F-7DF2-8757-A1952D8C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516AB84-26FE-B37F-B56C-292D30DE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B4220-54AD-56CC-1B25-120F3FBF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4530725"/>
          </a:xfrm>
        </p:spPr>
        <p:txBody>
          <a:bodyPr/>
          <a:lstStyle/>
          <a:p>
            <a:pPr eaLnBrk="1" hangingPunct="1"/>
            <a:r>
              <a:rPr lang="en-US" altLang="en-US"/>
              <a:t>The major disadvantage of using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-the external Jugular vein during thoracotomy is the catheter often kinks in LDP.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-  The subclavian technique leads to a high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incidence of pneumothorax that can be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disastrous if it occurs in the dependent lung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during one-lung ventilations.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39B2A-FC47-9FD7-1A47-F9DA55E302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201712A-D5EA-4AE2-958E-5568BEB21635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20485" name="Slide Number Placeholder 4">
            <a:extLst>
              <a:ext uri="{FF2B5EF4-FFF2-40B4-BE49-F238E27FC236}">
                <a16:creationId xmlns:a16="http://schemas.microsoft.com/office/drawing/2014/main" id="{0AA784D6-00D1-F591-2F77-F2F4209A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500163-DD10-4075-9FB0-83688748B1A9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022ECE-90CC-75BD-9D47-45F9B859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E6E133A-2566-8147-5E89-733161C7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CBE59-986A-597C-F47A-B2F686849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19200"/>
            <a:ext cx="9144000" cy="5410200"/>
          </a:xfrm>
        </p:spPr>
        <p:txBody>
          <a:bodyPr/>
          <a:lstStyle/>
          <a:p>
            <a:pPr eaLnBrk="1" hangingPunct="1"/>
            <a:r>
              <a:rPr lang="en-US" altLang="en-US" b="1" u="sng"/>
              <a:t>3.  Pulmonary Artery Catheterization (PA)</a:t>
            </a:r>
            <a:endParaRPr lang="en-US" altLang="en-US"/>
          </a:p>
          <a:p>
            <a:pPr eaLnBrk="1" hangingPunct="1"/>
            <a:r>
              <a:rPr lang="en-US" altLang="en-US"/>
              <a:t>PA catheter allows measurement of left-sided filling pressures.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 Indications for PAC in Thoracic Surgery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1.  </a:t>
            </a:r>
            <a:r>
              <a:rPr lang="en-US" altLang="en-US" sz="2400"/>
              <a:t>Patients with known cardiovascular disease, with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      or without heart failure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2.  Surgery of in which cross clamping of the thoracic  aorta is anticipated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3.  Patient with respiratory failure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4.  Patient with suspected or diagnosed pulmonary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      emboli</a:t>
            </a:r>
            <a:endParaRPr lang="en-US" altLang="en-US" sz="2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ECDDF-4E36-BD2B-5CFF-B8EDAC5D37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653524D-FEE4-472C-B031-602903A7C293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8033B4C0-19BC-6CCF-6914-53195B19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59E143-CBB7-4611-B956-7A062D9EE7A3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562707-346E-097A-7231-BC47E1DC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67CE410-9570-5742-EC4E-3B4B3F39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143EC-07A7-1647-B55A-389B6D2F8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4530725"/>
          </a:xfrm>
        </p:spPr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Wingdings" pitchFamily="2" charset="2"/>
              <a:buAutoNum type="arabicPeriod" startAt="5"/>
              <a:defRPr/>
            </a:pPr>
            <a:r>
              <a:rPr lang="en-US" dirty="0"/>
              <a:t>Patient who have undergone previous cardiac surgery.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" pitchFamily="2" charset="2"/>
              <a:buAutoNum type="arabicPeriod" startAt="5"/>
              <a:defRPr/>
            </a:pPr>
            <a:r>
              <a:rPr lang="en-US" dirty="0"/>
              <a:t>When pneumonectomy is anticipated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" pitchFamily="2" charset="2"/>
              <a:buAutoNum type="arabicPeriod" startAt="5"/>
              <a:defRPr/>
            </a:pPr>
            <a:r>
              <a:rPr lang="en-US" dirty="0"/>
              <a:t>  When significant shifts of intravascular volume are anticipated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" pitchFamily="2" charset="2"/>
              <a:buAutoNum type="arabicPeriod" startAt="5"/>
              <a:defRPr/>
            </a:pPr>
            <a:r>
              <a:rPr lang="en-US" dirty="0"/>
              <a:t>  When sepsis is present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" pitchFamily="2" charset="2"/>
              <a:buAutoNum type="arabicPeriod" startAt="5"/>
              <a:defRPr/>
            </a:pPr>
            <a:r>
              <a:rPr lang="en-US" dirty="0"/>
              <a:t>  Patients with pulmonary hypertension or elevated pulmonary vascular resistance.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9841C-32C1-AD0B-ED08-C8861D8E65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A2A0E1-24DA-4D3D-A5C2-AB23311C26C7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E23BED8F-7B91-C3A0-0B7A-7DE8614D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6786ED-D9F7-42B8-958E-AA562B184C85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4F9873-6323-1590-9DE2-6B8C3B6F1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C500158-C00B-C604-D702-46E09670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23AD0-9339-CF85-A748-03D5C8095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029200"/>
          </a:xfrm>
        </p:spPr>
        <p:txBody>
          <a:bodyPr/>
          <a:lstStyle/>
          <a:p>
            <a:pPr eaLnBrk="1" hangingPunct="1"/>
            <a:r>
              <a:rPr lang="en-US" altLang="en-US"/>
              <a:t>The PAC is most reliably inserted via the right internal jugular vein.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Complications of PAC Insertion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</a:t>
            </a:r>
            <a:r>
              <a:rPr lang="en-US" altLang="en-US" b="1"/>
              <a:t>A)  Immediate Complications</a:t>
            </a:r>
            <a:endParaRPr lang="en-US" altLang="en-US"/>
          </a:p>
          <a:p>
            <a:pPr eaLnBrk="1" hangingPunct="1">
              <a:buFontTx/>
              <a:buChar char="-"/>
            </a:pPr>
            <a:r>
              <a:rPr lang="en-US" altLang="en-US"/>
              <a:t>Supraventricular and ventricular dysrhythmias during insertion.</a:t>
            </a:r>
          </a:p>
          <a:p>
            <a:pPr lvl="3" eaLnBrk="1" hangingPunct="1">
              <a:buFontTx/>
              <a:buChar char="-"/>
            </a:pPr>
            <a:r>
              <a:rPr lang="en-US" altLang="en-US" sz="2800"/>
              <a:t>Onset of a right BBB and/or  complete heart block in patients with a preexisting left BBB.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AA3B-3708-6650-7533-D85EA9820D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9FD6C06-E397-4596-A6EB-C43C94F3BCE6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3D030083-2FDB-43DA-AC4C-B8E15F93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EA9B2E-EF72-4C4E-A203-1934EB14ADCF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E31810-5E9F-270B-2A5B-160D4424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0A46DEF1-C90D-F59F-DEA8-50D92447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6B432-CE97-9666-F15E-3B8B57A57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-Arterial puncture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-  Pneumothorax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-  Nerve damage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-  Thoracic duct injury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0C5C5-27CC-F71C-90B3-3D6289EA7C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098104C-3259-4DF6-9535-9F8E09E068CF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CBE636E6-7FAF-5F25-EC0B-D0DB2D18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1F7278-B455-4FF9-B20D-6C65C9B3F727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F4AE6A-1C6E-1B26-D980-1180782D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5D2EA97B-E322-50DD-EC6A-837736AA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Intra Operative…..</a:t>
            </a:r>
            <a:endParaRPr lang="en-US" altLang="en-US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82FE90B1-69AF-87FD-9CB4-23D4B4C24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B)  Long term complications of the PAC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-  Pulmonary infarction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-  Pulmonary artery rupture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-  Knotting of the catheters in the right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   ventricles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 -  Infection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          -  Vascular obstruction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1B56F-6057-0528-DC9A-FBB76AE77E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135005C-DA79-4AF6-96AD-851D42206DE2}" type="datetime1">
              <a:rPr lang="en-US"/>
              <a:pPr>
                <a:defRPr/>
              </a:pPr>
              <a:t>4/5/2025</a:t>
            </a:fld>
            <a:endParaRPr lang="en-US"/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A4953E4A-6DE1-903E-C30F-A3C7149E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D6901B-1186-41B0-9D45-CCDF3F8AFA32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65216E-AEFA-A211-5446-0F6954450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D31086A1-C00C-188D-A3D0-09BC927C2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733800"/>
            <a:ext cx="10972800" cy="914400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4800" b="1">
                <a:solidFill>
                  <a:srgbClr val="00B050"/>
                </a:solidFill>
              </a:rPr>
              <a:t>Thank you!!!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079BA-C74E-9C2A-8A46-4FB9236D53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BD3ADFD-F55B-4B96-979E-C4A64396023A}" type="datetime1">
              <a:rPr lang="en-US" smtClean="0"/>
              <a:pPr>
                <a:defRPr/>
              </a:pPr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C49FF-2911-B18E-11D3-7945FD5D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3493" name="Slide Number Placeholder 5">
            <a:extLst>
              <a:ext uri="{FF2B5EF4-FFF2-40B4-BE49-F238E27FC236}">
                <a16:creationId xmlns:a16="http://schemas.microsoft.com/office/drawing/2014/main" id="{BAC8D3AC-E1BA-496A-1E69-BCA529911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73CF94-F6A0-4E62-8F5D-1D54ED943330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11828</TotalTime>
  <Words>1077</Words>
  <Application>Microsoft Office PowerPoint</Application>
  <PresentationFormat>Widescreen</PresentationFormat>
  <Paragraphs>200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Chapter 4:         Preoperative Preparation and           Intraoperative Monitoring</vt:lpstr>
      <vt:lpstr>Preoperative…..</vt:lpstr>
      <vt:lpstr>Preoperative….</vt:lpstr>
      <vt:lpstr>PowerPoint Presentation</vt:lpstr>
      <vt:lpstr>Preoperative…</vt:lpstr>
      <vt:lpstr>Preoperative….</vt:lpstr>
      <vt:lpstr>Preoperative</vt:lpstr>
      <vt:lpstr>Preoperative</vt:lpstr>
      <vt:lpstr>Preoperative</vt:lpstr>
      <vt:lpstr>  Intra Operative Monitoring   </vt:lpstr>
      <vt:lpstr>Intra Operative…..</vt:lpstr>
      <vt:lpstr>Intra Operative…..</vt:lpstr>
      <vt:lpstr>Intra Operative…..</vt:lpstr>
      <vt:lpstr>Intra Operative…..</vt:lpstr>
      <vt:lpstr>Intra Operative…..</vt:lpstr>
      <vt:lpstr>PowerPoint Presentation</vt:lpstr>
      <vt:lpstr>Intra Operative…..</vt:lpstr>
      <vt:lpstr>Intra Operative…..</vt:lpstr>
      <vt:lpstr>Intra Operative…..</vt:lpstr>
      <vt:lpstr>Intra Operative…..</vt:lpstr>
      <vt:lpstr>Intra Operative…..</vt:lpstr>
      <vt:lpstr>Intra Operative…..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Preoperative Preparation</dc:title>
  <dc:creator>eyayalem</dc:creator>
  <cp:lastModifiedBy>Eyaya Anesthesia</cp:lastModifiedBy>
  <cp:revision>262</cp:revision>
  <dcterms:created xsi:type="dcterms:W3CDTF">2010-02-17T11:39:51Z</dcterms:created>
  <dcterms:modified xsi:type="dcterms:W3CDTF">2025-04-05T05:37:24Z</dcterms:modified>
</cp:coreProperties>
</file>