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notesMasterIdLst>
    <p:notesMasterId r:id="rId49"/>
  </p:notesMasterIdLst>
  <p:sldIdLst>
    <p:sldId id="282" r:id="rId2"/>
    <p:sldId id="406" r:id="rId3"/>
    <p:sldId id="383" r:id="rId4"/>
    <p:sldId id="405" r:id="rId5"/>
    <p:sldId id="384" r:id="rId6"/>
    <p:sldId id="378" r:id="rId7"/>
    <p:sldId id="407" r:id="rId8"/>
    <p:sldId id="408" r:id="rId9"/>
    <p:sldId id="353" r:id="rId10"/>
    <p:sldId id="290" r:id="rId11"/>
    <p:sldId id="387" r:id="rId12"/>
    <p:sldId id="292" r:id="rId13"/>
    <p:sldId id="293" r:id="rId14"/>
    <p:sldId id="399" r:id="rId15"/>
    <p:sldId id="259" r:id="rId16"/>
    <p:sldId id="355" r:id="rId17"/>
    <p:sldId id="357" r:id="rId18"/>
    <p:sldId id="361" r:id="rId19"/>
    <p:sldId id="261" r:id="rId20"/>
    <p:sldId id="363" r:id="rId21"/>
    <p:sldId id="365" r:id="rId22"/>
    <p:sldId id="262" r:id="rId23"/>
    <p:sldId id="263" r:id="rId24"/>
    <p:sldId id="331" r:id="rId25"/>
    <p:sldId id="385" r:id="rId26"/>
    <p:sldId id="333" r:id="rId27"/>
    <p:sldId id="335" r:id="rId28"/>
    <p:sldId id="269" r:id="rId29"/>
    <p:sldId id="264" r:id="rId30"/>
    <p:sldId id="270" r:id="rId31"/>
    <p:sldId id="265" r:id="rId32"/>
    <p:sldId id="266" r:id="rId33"/>
    <p:sldId id="267" r:id="rId34"/>
    <p:sldId id="289" r:id="rId35"/>
    <p:sldId id="401" r:id="rId36"/>
    <p:sldId id="403" r:id="rId37"/>
    <p:sldId id="337" r:id="rId38"/>
    <p:sldId id="368" r:id="rId39"/>
    <p:sldId id="411" r:id="rId40"/>
    <p:sldId id="389" r:id="rId41"/>
    <p:sldId id="390" r:id="rId42"/>
    <p:sldId id="391" r:id="rId43"/>
    <p:sldId id="341" r:id="rId44"/>
    <p:sldId id="370" r:id="rId45"/>
    <p:sldId id="374" r:id="rId46"/>
    <p:sldId id="372" r:id="rId47"/>
    <p:sldId id="376" r:id="rId4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G Anesthesi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70" autoAdjust="0"/>
  </p:normalViewPr>
  <p:slideViewPr>
    <p:cSldViewPr>
      <p:cViewPr varScale="1">
        <p:scale>
          <a:sx n="59" d="100"/>
          <a:sy n="59" d="100"/>
        </p:scale>
        <p:origin x="1152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037803-E7F1-9DE8-2093-E9A678E199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F8419-8F81-9E76-1D17-81AAF61E8C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45EAAD9-75F5-4CE0-976F-88E41BB3DF73}" type="datetimeFigureOut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3951B5B-28DF-F5AF-3C10-81D50DDC6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206BAC6-4E1C-023F-BEF5-8838B4B46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381D-BFA3-8570-E243-5C535C7A99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D110C-CB76-450A-C90A-369C0688E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D900B46-D54C-4686-9DE1-1CF49F794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58A7D51-6292-26E7-63B1-58B0FB49D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D3506611-5418-5284-8B15-879B399E5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Inhaling cold, dry gases results in increased mucus viscosity, which impairs the mucociliary escalator. This causes:</a:t>
            </a:r>
          </a:p>
          <a:p>
            <a:r>
              <a:rPr lang="en-US" altLang="en-US"/>
              <a:t> 1. accumulation of mucus in lower airways;</a:t>
            </a:r>
          </a:p>
          <a:p>
            <a:r>
              <a:rPr lang="en-US" altLang="en-US"/>
              <a:t> 2. an increased risk of pulmonary infection;</a:t>
            </a:r>
          </a:p>
          <a:p>
            <a:r>
              <a:rPr lang="en-US" altLang="en-US"/>
              <a:t> 3.  microatelectasis.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7C16E969-377F-864A-AD28-7BF6C519BC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4380CCF-CA6E-4231-A1E5-ED1E1041AC13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358D7692-5730-97D9-7892-C8D2DEE0E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BCDDFC19-C2F4-7DD0-44F3-28A7B2A2D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( vocalization, preventing alveolar collapse and maintain FRC)</a:t>
            </a:r>
            <a:endParaRPr lang="en-US" altLang="en-US" b="1"/>
          </a:p>
          <a:p>
            <a:r>
              <a:rPr lang="en-US" altLang="en-US" b="1"/>
              <a:t>Raised intracranial pressure (ICP) </a:t>
            </a:r>
            <a:r>
              <a:rPr lang="en-US" altLang="en-US"/>
              <a:t>– increased intrathoracic pressure may hinder venous drainage from the cerebral venous sinuses,</a:t>
            </a:r>
          </a:p>
          <a:p>
            <a:r>
              <a:rPr lang="en-US" altLang="en-US"/>
              <a:t>leading to an increase in ICP.</a:t>
            </a:r>
          </a:p>
          <a:p>
            <a:r>
              <a:rPr lang="en-US" altLang="en-US"/>
              <a:t>Tonsillectomy – raised venous pressure may increase bleeding at the tonsillar bed, obstructing the surgeon’s view of the operative field</a:t>
            </a:r>
          </a:p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31774CE-D42E-1AD5-5A3D-3B756E5A4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5CEC622-6446-4AA9-92A9-7C7F0FD1A95E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1718A356-7219-D70D-4F82-7A3477DA7E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BFDA1F6C-AB4C-9231-BD5F-E42D7336B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The adult right main bronchus is about 2.5 cm long before it initially branches into lobar bronchi. However, in 10% of adults, the right upper lobe bronchus departs from the right main stem bronchus less than 2.5 cm from the carina. Furthermore, in 2% to 3% of adults, the right upper lobe bronchus opens into the trachea, superior to the carina.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581A7427-B086-2FB8-106D-07AD29027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4AD2A2F-AEF6-4006-961B-A88804B16CBF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610AF88A-F3F5-8E7B-4153-D2133A4D72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6E2FFF6E-2B1D-7E93-D485-6F318D329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5BE1DA5B-EA0E-000B-2A1E-2149F500F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FEA4A26-2935-483C-B228-628D21AB0BB0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63557-FBC6-066D-167A-10CD035B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7D71D-BFD8-46AE-9750-88F7CC6ED4CA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7FAEA-E99F-818F-A593-AB108687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00634-9286-C3BB-1EBB-1BBB0A8F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06739-C556-4FB3-BE17-88EE42D14B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65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1BCEE-7DEC-195F-E615-B2FC0031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C9E04-C2E2-4A57-A52A-36C776B5F1C9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97F55-33A2-A9BC-B5D3-96C9AAA1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E8A04-03A0-DA7A-C7FA-FB504727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3BD7E-1186-45D1-87F0-6BA830901D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68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2C32E-358F-0C15-EE1A-9DF003B4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9A562-2618-474A-A3CB-033019E1CFE8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32F7-6BD3-3CBF-5C26-F1D5D1CB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1617A-662F-260C-5086-C94AC4E3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CF376-AD04-4A08-A432-1F977917C1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67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E771BD-A397-F8E5-611B-3EDDF7486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43C48-89F0-49A3-B03A-F7604E31A54D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311F07F-1EFC-11C9-FA72-E7715F59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AD9F85-5245-8AFD-D202-879681A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E5AC1-7F33-4C72-9013-37A197E6E8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209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96A4FA5-35D8-9D1D-80E4-E78AADC0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74DAB-AAA9-4C83-9402-986FE6520BC2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5D27B-194B-F7AC-CA0C-575CA029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83444F-984D-D123-4D8B-2E8D3A1D2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F6A12-F86D-4772-9BF1-0B7EB5265C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15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8E3D255-B891-40B3-2A3F-933D321C1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74861-B8CC-4EC5-93A8-94D69B5C3B67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EE3ABCF-799E-CE20-9573-50003274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8ACD5F-3961-1360-BC9E-C9BDFC6E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6A79A-A61B-4096-A121-762F091080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84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C6ABD0C-38AB-5CA5-82AB-6672CAA4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A6942-3517-4556-AB1D-F26B01096C3B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7472523-BA02-2762-B3B6-2A1CE223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416A9-CAC0-595A-7D72-FB5DA605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1CA6C-B5C7-4497-8522-15D615D8DF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613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91E7C89-A144-6D16-D0B2-11888374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233E6-51B5-4FA0-806C-2B6F2B821759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43B5B6-E942-4C09-111B-C06DEB21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C0B159-17B6-00DA-6588-1CF11686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18057-A914-4BE0-ACD7-A8F67DAEC7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411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A639A32-ED17-4285-9179-D1897CE2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D6F8F-7BFC-4A14-86E2-43C32FCF89EF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A761E3D-D77B-1E76-7EF8-CCA92D55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F27ADB-B632-6AB6-204B-39C42B46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073D7-7620-442F-88B5-C892A46E8A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79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AAF0-1CD4-286D-E769-ECEB953B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53BB7-A40F-46D0-AD0E-0A00FD2F51F9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B321F-42B4-0640-A220-FFD03F95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705DA-DB99-C73F-4648-99AB8EC8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8B9DE-AB79-4109-9328-92C538C94C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096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2D3A3-D941-7976-2D10-0D4D4176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5A20D-49D5-4A32-BA6D-F685A77583C6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F6663-5E21-1997-5EDC-3424F5F9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ADD43-2801-12FE-8A79-75CBD9BC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57B83-27F2-40B6-819A-34726821E8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61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FDE9A54-0570-71BE-F299-21BBDE5FA2D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21522-4321-45E6-86EC-82414E7B2D93}" type="datetimeFigureOut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BC98A7C-5572-B9B1-DA82-F1E0E5A057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5AE07A-830D-9B88-9DFD-04A7B44D38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3EAD67E9-8C79-4BD3-9B5E-804DD9ABA4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07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D1CD5C0-36A5-2ACB-D5C1-FC1B371A27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EB9E5-2F58-82F3-A7FC-4D9A8947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684C-C3A5-C503-94EA-33FC55899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E2D36C8-F989-454A-8AA5-C1FAC82896D9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CF23-A1BB-4F82-CDD8-FD47FDC86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7A61D-D859-3BFA-B98D-F8C4A7D59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9B53857-53D6-4505-AE35-D32CFB797B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9726-C784-334C-C873-CACA0114E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838200"/>
            <a:ext cx="8229600" cy="2590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ANESTHESIA FOR  Emergency THORACIC  SURGERY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4090E-3F0D-84C5-1095-DDDD86DBDF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i="1" dirty="0"/>
              <a:t> By   Eyayalem M. (Assistant. Professor) 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i="1" dirty="0"/>
              <a:t>                         Feb 2025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67D03-3FA0-D085-3419-08D5E85BA5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1E819B-CDB8-46D9-A9FB-EA7D5A76D84F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85EF-3296-DD89-CEDF-474B7E3F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3078" name="Slide Number Placeholder 5">
            <a:extLst>
              <a:ext uri="{FF2B5EF4-FFF2-40B4-BE49-F238E27FC236}">
                <a16:creationId xmlns:a16="http://schemas.microsoft.com/office/drawing/2014/main" id="{E6925D2C-8C17-17C0-1434-4FFE405CC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AA708F-049D-4242-AEB6-457F6C3DA096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0626-A32D-4A5E-BBFC-1B5B7C129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eaLnBrk="1" hangingPunct="1">
              <a:buNone/>
            </a:pPr>
            <a:r>
              <a:rPr lang="en-US" altLang="en-US" sz="4800" b="1" dirty="0">
                <a:solidFill>
                  <a:srgbClr val="0070C0"/>
                </a:solidFill>
              </a:rPr>
              <a:t>Prepare your cranium for further insertion of Knowledge and skill!!</a:t>
            </a:r>
          </a:p>
          <a:p>
            <a:pPr marL="400050" lvl="1" indent="0" algn="ctr" eaLnBrk="1" hangingPunct="1">
              <a:buFont typeface="Arial" panose="020B0604020202020204" pitchFamily="34" charset="0"/>
              <a:buNone/>
            </a:pPr>
            <a:r>
              <a:rPr lang="en-US" altLang="en-US" sz="4400" b="1" dirty="0">
                <a:solidFill>
                  <a:srgbClr val="0070C0"/>
                </a:solidFill>
              </a:rPr>
              <a:t>Are you Ready ?</a:t>
            </a:r>
          </a:p>
          <a:p>
            <a:pPr marL="400050" lvl="1" indent="0" algn="ctr" eaLnBrk="1" hangingPunct="1">
              <a:buFont typeface="Arial" panose="020B0604020202020204" pitchFamily="34" charset="0"/>
              <a:buNone/>
            </a:pPr>
            <a:r>
              <a:rPr lang="en-US" altLang="en-US" sz="4400" b="1" dirty="0">
                <a:solidFill>
                  <a:srgbClr val="0070C0"/>
                </a:solidFill>
              </a:rPr>
              <a:t>Here we go!!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89DD-EE4B-DD14-BC2E-6E1BFA28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0C9E04-C2E2-4A57-A52A-36C776B5F1C9}" type="datetime1">
              <a:rPr lang="en-US" smtClean="0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E276-A213-AC62-591C-FD6BD2346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228BE-E5FB-B933-2169-0516F91B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3BD7E-1186-45D1-87F0-6BA830901D4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2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1DC0D65-82AA-1099-B9F7-4CC76632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08012"/>
          </a:xfrm>
        </p:spPr>
        <p:txBody>
          <a:bodyPr/>
          <a:lstStyle/>
          <a:p>
            <a:pPr algn="l"/>
            <a:r>
              <a:rPr lang="en-GB" altLang="en-US" sz="4000" b="1"/>
              <a:t>LEARNING OUTCOMES (Objectives)</a:t>
            </a:r>
            <a:endParaRPr lang="en-US" altLang="en-US" sz="4000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FFDE3B42-CDDE-7800-AFA3-656C53A24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11201400" cy="49530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altLang="en-US" b="1" dirty="0">
                <a:solidFill>
                  <a:prstClr val="black"/>
                </a:solidFill>
              </a:rPr>
              <a:t>At the end of the module the learner will be able to:</a:t>
            </a:r>
            <a:endParaRPr lang="en-US" altLang="en-US" dirty="0">
              <a:solidFill>
                <a:prstClr val="black"/>
              </a:solidFill>
            </a:endParaRP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Describe the anatomy of the thorax relevant to thoracic surgery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 Discuss the physiology of the thorax relevant to thoracic surgery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 Explain the effect of different drugs on the respiratory and cardiovascular system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/>
              <a:t>Describe the common pathophysiology of thoracic emergencies.</a:t>
            </a:r>
          </a:p>
          <a:p>
            <a:pPr>
              <a:buFont typeface="Wingdings" panose="05000000000000000000" pitchFamily="2" charset="2"/>
              <a:buChar char="q"/>
              <a:defRPr/>
            </a:pPr>
            <a:r>
              <a:rPr lang="en-US" altLang="en-US" dirty="0">
                <a:solidFill>
                  <a:prstClr val="black"/>
                </a:solidFill>
              </a:rPr>
              <a:t>Perform preoperative anesthetic evaluation for thoracic emergency surgery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2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2CF41-E681-E62B-0968-62B88698D5F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2040908-F11F-47A1-AA4D-D4F6CA389EB5}" type="datetime1">
              <a:rPr lang="en-US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93AAE-E917-704D-B567-33DE235C2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102" name="Slide Number Placeholder 3">
            <a:extLst>
              <a:ext uri="{FF2B5EF4-FFF2-40B4-BE49-F238E27FC236}">
                <a16:creationId xmlns:a16="http://schemas.microsoft.com/office/drawing/2014/main" id="{E11E68DA-EB64-273C-603C-853D52DD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AE9292-CA97-4101-B5F2-9D7FF6B09B12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89A9A8A-FC25-545B-D68A-121F0558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/>
          <a:lstStyle/>
          <a:p>
            <a:pPr algn="l"/>
            <a:r>
              <a:rPr lang="en-GB" altLang="en-US" b="1"/>
              <a:t>LEARNING OUTCOMES (Objectives)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1AA4D932-5358-B34B-8E57-4111E5DE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rgbClr val="000000"/>
                </a:solidFill>
              </a:rPr>
              <a:t>Interpret common investigations and imaging modality results of thoracic emergency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rgbClr val="000000"/>
                </a:solidFill>
              </a:rPr>
              <a:t>Discuss the effects of positioning, relaxation, and anesthesia on respiratory mechanics.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rgbClr val="000000"/>
                </a:solidFill>
              </a:rPr>
              <a:t>Optimize patients for thoracic emergency surgery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>
                <a:solidFill>
                  <a:srgbClr val="000000"/>
                </a:solidFill>
              </a:rPr>
              <a:t> Perform DLI for thoracic emergency surgeries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800">
              <a:solidFill>
                <a:srgbClr val="000000"/>
              </a:solidFill>
            </a:endParaRPr>
          </a:p>
          <a:p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3EA85-48A5-88A5-5D49-9ACA47728C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1EB469-CB3B-4D30-A7AC-09E01C0AB5AF}" type="datetime1">
              <a:rPr lang="en-US" smtClean="0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DF36E-5029-8D9B-293D-15FB5734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5126" name="Slide Number Placeholder 5">
            <a:extLst>
              <a:ext uri="{FF2B5EF4-FFF2-40B4-BE49-F238E27FC236}">
                <a16:creationId xmlns:a16="http://schemas.microsoft.com/office/drawing/2014/main" id="{123D1484-4E5B-9919-7A20-B96B169782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1DCB1C-E43A-4662-ABC5-F9442D1949AF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5E0C4FE-4129-CBA4-F9A4-9A5C65A1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66775"/>
          </a:xfrm>
        </p:spPr>
        <p:txBody>
          <a:bodyPr/>
          <a:lstStyle/>
          <a:p>
            <a:pPr algn="l"/>
            <a:r>
              <a:rPr lang="en-GB" altLang="en-US" sz="4000" b="1"/>
              <a:t>LEARNING OUTCOMES (Objectives)</a:t>
            </a:r>
            <a:endParaRPr lang="en-US" altLang="en-US" sz="4000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1DD0D8E0-E673-58A1-847C-83A0E295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1413"/>
            <a:ext cx="11277600" cy="49847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/>
              <a:t>Manage one-lung ventilation during thoracic emergency surgeries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/>
              <a:t> Manage intraoperative anesthesia for thoracic emergency surgeries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/>
              <a:t> Manage postoperative pain for thoracic emergency surgeries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/>
              <a:t> Manage postoperative complications associated with thoracic emergency procedures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/>
              <a:t>  Participate in the management of anesthesia for elective thoracic surgical procedures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0A442-17FA-A210-8872-0ACD402A70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7229A-F62C-7D7A-92DB-452CA7F4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Eyayalem</a:t>
            </a:r>
            <a:r>
              <a:rPr lang="en-US" dirty="0"/>
              <a:t> </a:t>
            </a:r>
            <a:r>
              <a:rPr lang="en-US" dirty="0" err="1"/>
              <a:t>Melese</a:t>
            </a:r>
            <a:endParaRPr lang="en-US" dirty="0"/>
          </a:p>
        </p:txBody>
      </p:sp>
      <p:sp>
        <p:nvSpPr>
          <p:cNvPr id="6150" name="Slide Number Placeholder 3">
            <a:extLst>
              <a:ext uri="{FF2B5EF4-FFF2-40B4-BE49-F238E27FC236}">
                <a16:creationId xmlns:a16="http://schemas.microsoft.com/office/drawing/2014/main" id="{56E324BF-5B78-E9C8-A0E1-FA90D7FC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0F172B-2CA2-41E6-A0D9-B8DB581FB060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C9BB1-1B4A-49EC-E942-809537A3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Absences will result in Course incomplete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            Take care ????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            It is serious …………………..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45E9BB7D-1C8C-3F33-67AA-E8817610647A}"/>
              </a:ext>
            </a:extLst>
          </p:cNvPr>
          <p:cNvSpPr/>
          <p:nvPr/>
        </p:nvSpPr>
        <p:spPr>
          <a:xfrm>
            <a:off x="4114800" y="0"/>
            <a:ext cx="2667000" cy="2209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1C725-D600-FD75-8F24-113D7179E4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F28FD82-5A5E-436F-AC99-756AAD1DD014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3060D-2EE5-3B8D-5390-096E2478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1F32D7D8-C935-D484-D6DB-B8713573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DFF817-3CCC-4919-8892-99A0C0874B70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BD96-5150-2E45-EFAA-B658C320C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7656"/>
            <a:ext cx="10972800" cy="868362"/>
          </a:xfrm>
        </p:spPr>
        <p:txBody>
          <a:bodyPr/>
          <a:lstStyle/>
          <a:p>
            <a:r>
              <a:rPr lang="en-US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Thoracic Anesthesia?</a:t>
            </a:r>
            <a:br>
              <a:rPr lang="en-US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A044D-DD85-E769-3D47-6F6A9CF0B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</a:p>
          <a:p>
            <a:pPr lvl="2" algn="just"/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specialized branch of anesthesia focused on surgeries involving the thorax (chest), including the lungs, pleura, mediastinum, esophagus, and chest wall.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 procedures:</a:t>
            </a:r>
          </a:p>
          <a:p>
            <a:pPr lvl="2" indent="-285750">
              <a:spcBef>
                <a:spcPts val="300"/>
              </a:spcBef>
            </a:pPr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Lobectomy, pneumonectomy</a:t>
            </a:r>
          </a:p>
          <a:p>
            <a:pPr lvl="2" indent="-285750">
              <a:spcBef>
                <a:spcPts val="300"/>
              </a:spcBef>
            </a:pPr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Esophagectomy</a:t>
            </a:r>
          </a:p>
          <a:p>
            <a:pPr lvl="2" indent="-285750">
              <a:spcBef>
                <a:spcPts val="300"/>
              </a:spcBef>
            </a:pPr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Mediastinal tumor resection</a:t>
            </a:r>
          </a:p>
          <a:p>
            <a:pPr lvl="2" indent="-285750">
              <a:spcBef>
                <a:spcPts val="300"/>
              </a:spcBef>
            </a:pPr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Thoracoscopy (VATS)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19985-7F9C-6E09-199F-3216BE9E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0C9E04-C2E2-4A57-A52A-36C776B5F1C9}" type="datetime1">
              <a:rPr lang="en-US" smtClean="0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6C3E4-C6A3-B2FF-F0A5-E236EF4E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519F-49E4-0983-9F0C-44627606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3BD7E-1186-45D1-87F0-6BA830901D40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454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7BA8-CFBF-661B-92F8-3889246D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Challenges in Thoracic Anesthesia</a:t>
            </a:r>
            <a:br>
              <a:rPr lang="en-US" sz="36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90FD6-CB62-80F1-ED77-2A0CEF16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8"/>
            <a:ext cx="10972800" cy="4929982"/>
          </a:xfrm>
        </p:spPr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Physiological challenges:</a:t>
            </a:r>
            <a:endParaRPr lang="en-US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-285750">
              <a:spcBef>
                <a:spcPts val="300"/>
              </a:spcBef>
            </a:pPr>
            <a:r>
              <a:rPr lang="en-US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One-lung ventilation (OLV) requirements.</a:t>
            </a:r>
          </a:p>
          <a:p>
            <a:pPr lvl="2" indent="-285750">
              <a:spcBef>
                <a:spcPts val="300"/>
              </a:spcBef>
            </a:pPr>
            <a:r>
              <a:rPr lang="en-US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Hypoxia during OLV.</a:t>
            </a:r>
          </a:p>
          <a:p>
            <a:pPr lvl="2" indent="-285750">
              <a:spcBef>
                <a:spcPts val="300"/>
              </a:spcBef>
            </a:pPr>
            <a:r>
              <a:rPr lang="en-US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Ventilation-perfusion mismatch.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Surgical challenges:</a:t>
            </a:r>
            <a:endParaRPr lang="en-US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-285750">
              <a:spcBef>
                <a:spcPts val="300"/>
              </a:spcBef>
            </a:pPr>
            <a:r>
              <a:rPr lang="en-US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Lateral decubitus positioning.</a:t>
            </a:r>
          </a:p>
          <a:p>
            <a:pPr lvl="2" indent="-285750">
              <a:spcBef>
                <a:spcPts val="300"/>
              </a:spcBef>
            </a:pPr>
            <a:r>
              <a:rPr lang="en-US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Risk of hemorrhage or airway injury.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Patient factors:</a:t>
            </a:r>
            <a:endParaRPr lang="en-US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-285750">
              <a:spcBef>
                <a:spcPts val="300"/>
              </a:spcBef>
            </a:pPr>
            <a:r>
              <a:rPr lang="en-US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Often patients with compromised lung function (e.g., COPD, lung cancer).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FAAEA-B896-088A-6A26-D2FA30A1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0C9E04-C2E2-4A57-A52A-36C776B5F1C9}" type="datetime1">
              <a:rPr lang="en-US" smtClean="0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D8A5A-5314-3799-FC4D-EF7EC025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B233B-E01D-2599-787D-D4586B75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F3BD7E-1186-45D1-87F0-6BA830901D40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4240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F2A6E42-6E97-2359-3B16-B9A11C61F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eaLnBrk="1" hangingPunct="1"/>
            <a:r>
              <a:rPr lang="en-US" altLang="en-US"/>
              <a:t>Anatomy and Physiology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D0A76-1AE0-BB59-AC1F-7B20180145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CA3B906-09D6-457C-9AF1-768262FF602F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AE618-30B3-2A61-F47A-47CCD17E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8197" name="Slide Number Placeholder 3">
            <a:extLst>
              <a:ext uri="{FF2B5EF4-FFF2-40B4-BE49-F238E27FC236}">
                <a16:creationId xmlns:a16="http://schemas.microsoft.com/office/drawing/2014/main" id="{B1D1F408-5020-0198-A065-A9AA530E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243BED-66D5-49E9-AB78-DD0A62B7B16C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2DF9-54A1-3472-222D-41D09F61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3400"/>
            <a:ext cx="105918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b="1" dirty="0"/>
            </a:br>
            <a:r>
              <a:rPr lang="en-US" b="1" dirty="0"/>
              <a:t> Physiologic/Anatomy Respiratory system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D8142-79D5-4712-BF2A-8A26DF851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0"/>
            <a:ext cx="11049000" cy="4191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knowledge of certain aspects of thoracic anatomical arrangements is of great importance to the thoracic anesthetist.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It assists in the correct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positioning of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endobronchial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tubes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diseased lobes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,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understanding of the proposed surgery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and also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complications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that might occur.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8AF19-DEBF-60AE-92B2-F057E56AFC0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CFE06EC-8B70-4A3A-8CCF-DDC9F3C8F0ED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8393C3D9-C972-11B6-BFBC-340390BA8D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BB2728-FB9E-42EE-B26E-A8C5A4A0D5D8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E9C60E9-0032-1495-0A3C-51B16D3A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/>
              <a:t>THORACIC  CAVITY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4E927C20-6FDC-DCE6-80CE-29A7D38BE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thoracic cavity is formed by the ribs laterally, sternum anteriorly,vertebral column posteriorly, and by the diaphragm and thoracic inlet inferiorly and superiorly, respectively. </a:t>
            </a:r>
          </a:p>
          <a:p>
            <a:r>
              <a:rPr lang="en-US" altLang="en-US"/>
              <a:t>The thoracic cavity encompasses the lungs, which provide oxygenation of venous blood, excretion of carbon dioxide.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5DD1C-83A1-9A90-2E5C-413F3F0BC6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D272976-F636-4EBA-952E-95AC4BE4FED5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31C11-7E7E-1C81-6B8D-D7F2C596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10246" name="Slide Number Placeholder 3">
            <a:extLst>
              <a:ext uri="{FF2B5EF4-FFF2-40B4-BE49-F238E27FC236}">
                <a16:creationId xmlns:a16="http://schemas.microsoft.com/office/drawing/2014/main" id="{ACE74FBB-C2D6-7290-1C1C-79D24E20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2EB786-A8B7-4B18-8267-38DC119D777D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B393717-1EC8-0447-2045-39A08DF4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 of the lungs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8E00-58E7-C444-AC96-7C3CC1F2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10972800" cy="4076700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800" dirty="0"/>
              <a:t>The lungs   has respiratory and non respiratory function.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/>
              <a:t>Respiratory function is oxygenation of venous blood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/>
              <a:t>Non-respiratory function excretion of carbon dioxide, and metabolism of endogenous compounds.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100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D96D3-BB5A-5E22-0992-88F6A16266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8CCFB2F-93D1-4188-B355-469B9B0EF2A9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60B77258-A6FE-51F1-44EB-1087D2F5E5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6E9EAD-7C7C-436C-A922-8AB1E640C3E1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72A4DC1-A142-6024-8722-A8846615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7013"/>
            <a:ext cx="10972800" cy="1143000"/>
          </a:xfrm>
        </p:spPr>
        <p:txBody>
          <a:bodyPr/>
          <a:lstStyle/>
          <a:p>
            <a:pPr algn="l"/>
            <a:r>
              <a:rPr lang="en-US" altLang="en-US"/>
              <a:t>Non respiratory function 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89114F6F-5D49-BE38-E23A-B12D22FF7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17638"/>
            <a:ext cx="10210800" cy="3954462"/>
          </a:xfrm>
        </p:spPr>
        <p:txBody>
          <a:bodyPr/>
          <a:lstStyle/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Defense mechanism 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Maintenance of water balance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Regulation of body temperature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Regulation of acid base balance </a:t>
            </a: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Metabolism of biologically active substances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B0B9D-E52C-1D9E-E532-58400CF81E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C298E2-0146-47C6-BDF3-AA7EB12FC73E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2AB93CF5-E0D7-B26E-7EBB-A1E44554E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3D81A2-F341-4EA2-BA92-A8E0D3594625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8B97104F-371F-3035-DEEF-80487251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00D29-D885-237B-5D41-5BAA85F7B2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59420F-DAEF-4FAC-8F35-C0375E59103E}" type="datetime1">
              <a:rPr lang="en-US" smtClean="0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A5625-CE13-8AEE-8600-A8D04548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13317" name="Slide Number Placeholder 5">
            <a:extLst>
              <a:ext uri="{FF2B5EF4-FFF2-40B4-BE49-F238E27FC236}">
                <a16:creationId xmlns:a16="http://schemas.microsoft.com/office/drawing/2014/main" id="{86141246-0134-81FB-E1BC-DF8A48304C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D4F5D6-6574-4E9A-BE6B-A337F2A87982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13318" name="Picture 2" descr="thoracic cavity | Description, Anatomy, &amp; Physiology | Britannica">
            <a:extLst>
              <a:ext uri="{FF2B5EF4-FFF2-40B4-BE49-F238E27FC236}">
                <a16:creationId xmlns:a16="http://schemas.microsoft.com/office/drawing/2014/main" id="{74E4F6BE-0269-FB61-C43B-D4D9E3948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933575"/>
            <a:ext cx="7015162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0CEE00C-B7B7-13C2-5EFA-EBC6D4B1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522413"/>
          </a:xfrm>
        </p:spPr>
        <p:txBody>
          <a:bodyPr/>
          <a:lstStyle/>
          <a:p>
            <a:r>
              <a:rPr lang="en-US" altLang="en-US"/>
              <a:t>   </a:t>
            </a:r>
            <a:r>
              <a:rPr lang="en-US" altLang="en-US">
                <a:latin typeface="Calibri Light" panose="020F0302020204030204" pitchFamily="34" charset="0"/>
              </a:rPr>
              <a:t>Physiologic Anatomy of Respiratory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0EEE-D5FA-C15B-1D10-19B4D451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62200"/>
            <a:ext cx="10668000" cy="3763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The respiratory system can be divided into the upper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800" dirty="0"/>
              <a:t>     airway, larynx and tracheobronchial tree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tracheobronchial tree can be subdivided into the conducting and respiratory zones.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800" dirty="0"/>
              <a:t>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3B441-C155-22DA-E0D4-C6AF58602F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3180371-8525-4222-B51A-8DE4742161A3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157C7E8E-F328-2CDF-45FF-77309952A3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F60C4A-005F-45D8-81CE-CF283739C7D4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671F6826-C7E1-D8D2-B800-FCAE95192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76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Human Respiratory System</a:t>
            </a:r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9B5C0147-AEDE-4CB3-3479-E5322969F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435BE33F-C02E-4272-DA4E-E9D7A25AC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248400"/>
            <a:ext cx="8874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330033"/>
                </a:solidFill>
                <a:latin typeface="Times New Roman" panose="02020603050405020304" pitchFamily="18" charset="0"/>
              </a:rPr>
              <a:t>Figure 10.1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pic>
        <p:nvPicPr>
          <p:cNvPr id="15365" name="Picture 5" descr="1001_HumanResprtrySystem_1.jpg                                 0003AF46Macintosh HD                   ABA78158:">
            <a:extLst>
              <a:ext uri="{FF2B5EF4-FFF2-40B4-BE49-F238E27FC236}">
                <a16:creationId xmlns:a16="http://schemas.microsoft.com/office/drawing/2014/main" id="{1E6E2CBB-E4B8-D0DD-B67D-D596E7E40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9"/>
          <a:stretch>
            <a:fillRect/>
          </a:stretch>
        </p:blipFill>
        <p:spPr bwMode="auto">
          <a:xfrm>
            <a:off x="1905000" y="1027113"/>
            <a:ext cx="8077200" cy="58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C3741-6318-3442-A4A8-03640C1071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399E998-9B45-4FD2-B7B7-E37F1E1F3D13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72CFE-1B58-6989-F1A4-9AF077C8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15368" name="Slide Number Placeholder 3">
            <a:extLst>
              <a:ext uri="{FF2B5EF4-FFF2-40B4-BE49-F238E27FC236}">
                <a16:creationId xmlns:a16="http://schemas.microsoft.com/office/drawing/2014/main" id="{2F12956B-570F-2C9A-FCC8-93965A21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B13313-8C25-4E1E-8B4F-AE6D6382B1DD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E1A563CB-4FA4-DB69-D9DB-C0F21AD06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7630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Components of the Upper Respiratory Tract</a:t>
            </a:r>
          </a:p>
        </p:txBody>
      </p:sp>
      <p:sp>
        <p:nvSpPr>
          <p:cNvPr id="16387" name="Line 3">
            <a:extLst>
              <a:ext uri="{FF2B5EF4-FFF2-40B4-BE49-F238E27FC236}">
                <a16:creationId xmlns:a16="http://schemas.microsoft.com/office/drawing/2014/main" id="{4A023D10-4CB5-93FC-9182-37F2D5F28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BD709902-470C-4FF4-728D-F927482DB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248400"/>
            <a:ext cx="8874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330033"/>
                </a:solidFill>
                <a:latin typeface="Times New Roman" panose="02020603050405020304" pitchFamily="18" charset="0"/>
              </a:rPr>
              <a:t>Figure 10.2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pic>
        <p:nvPicPr>
          <p:cNvPr id="16389" name="Picture 5" descr="1002_UpperResprtoryTract_1.jpg                                 0003AF46Macintosh HD                   ABA78158:">
            <a:extLst>
              <a:ext uri="{FF2B5EF4-FFF2-40B4-BE49-F238E27FC236}">
                <a16:creationId xmlns:a16="http://schemas.microsoft.com/office/drawing/2014/main" id="{ED653A67-A12F-CA9D-8C58-8A941B62A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9"/>
          <a:stretch>
            <a:fillRect/>
          </a:stretch>
        </p:blipFill>
        <p:spPr bwMode="auto">
          <a:xfrm>
            <a:off x="2057400" y="1541463"/>
            <a:ext cx="71628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D1DB7-BA6C-1507-CE45-90A9EA0C43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4CA12F-4FA8-4A5D-960C-7BCBEBE4871F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D5328-114A-20B1-E3D0-361E3A4E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16392" name="Slide Number Placeholder 3">
            <a:extLst>
              <a:ext uri="{FF2B5EF4-FFF2-40B4-BE49-F238E27FC236}">
                <a16:creationId xmlns:a16="http://schemas.microsoft.com/office/drawing/2014/main" id="{C65D6704-EFD8-76DE-397F-842E4745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F86026-681B-4FF7-89FD-0EA4C38DBC4B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1277617-9F7C-AE51-4B98-A541FA8E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9375"/>
            <a:ext cx="86106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03225" indent="-4032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Passageway for respiration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Receptors for smell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Filters incoming air to filter larger foreign material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Moistens and warms incoming air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Resonating chambers for voice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0E35D8B-6C91-D17C-85B9-C0BAEFFCB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5344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Upper Respiratory Tract Functions</a:t>
            </a:r>
          </a:p>
        </p:txBody>
      </p:sp>
      <p:sp>
        <p:nvSpPr>
          <p:cNvPr id="17412" name="Line 4">
            <a:extLst>
              <a:ext uri="{FF2B5EF4-FFF2-40B4-BE49-F238E27FC236}">
                <a16:creationId xmlns:a16="http://schemas.microsoft.com/office/drawing/2014/main" id="{64E604AF-683F-53DA-F7C3-F517308190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91CFB-C8B8-2DEA-4251-4541B4A29E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EDFE1FD-120A-4E48-B9B4-1C72CE3382C8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1749A-35FF-3A39-A222-24464092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17415" name="Slide Number Placeholder 3">
            <a:extLst>
              <a:ext uri="{FF2B5EF4-FFF2-40B4-BE49-F238E27FC236}">
                <a16:creationId xmlns:a16="http://schemas.microsoft.com/office/drawing/2014/main" id="{E6CACFA1-2E45-8C8E-DAA1-9C1AF49D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370F38-46B1-4319-AED3-897BDD56507D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build="p" autoUpdateAnimBg="0" advAuto="0"/>
      <p:bldP spid="9933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082B-EBED-CBDC-5B6A-AF02F449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defRPr/>
            </a:pPr>
            <a:br>
              <a:rPr lang="en-US" dirty="0"/>
            </a:br>
            <a:r>
              <a:rPr lang="en-US" dirty="0"/>
              <a:t>Upper airway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8ED6-A1C7-86BC-F71A-F8AD554E0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2600"/>
            <a:ext cx="9372600" cy="40306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Nasal hairs filter any large inhaled particles.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mucosa promotes humidification and warming of inhaled air.</a:t>
            </a:r>
          </a:p>
          <a:p>
            <a:pPr>
              <a:defRPr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Endotracheal and tracheostomy tubes bypass the upper airway ( clinical relevance ?????)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defRPr/>
            </a:pPr>
            <a:endParaRPr lang="en-US" sz="18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E3620-EB6F-C572-3C9E-7FE8516A3F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5FA2098-0DD4-464E-BA32-EEABACA4BC02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B5B8829C-19B4-52C5-44F1-9BE1D4F785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E209C3-D766-41EF-B5E2-20AB96D19948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854B8BE-21C4-DB17-9677-C414BAB82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95288"/>
            <a:ext cx="87630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Components of the Lower Respiratory Tract</a:t>
            </a:r>
          </a:p>
        </p:txBody>
      </p:sp>
      <p:sp>
        <p:nvSpPr>
          <p:cNvPr id="20483" name="Line 3">
            <a:extLst>
              <a:ext uri="{FF2B5EF4-FFF2-40B4-BE49-F238E27FC236}">
                <a16:creationId xmlns:a16="http://schemas.microsoft.com/office/drawing/2014/main" id="{2FECB2A4-84AB-3672-3C55-48B03FF62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1588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F6B5B4AA-EAE1-81B2-FD27-A1FF6B796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278563"/>
            <a:ext cx="887413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330033"/>
                </a:solidFill>
                <a:latin typeface="Times New Roman" panose="02020603050405020304" pitchFamily="18" charset="0"/>
              </a:rPr>
              <a:t>Figure 10.3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pic>
        <p:nvPicPr>
          <p:cNvPr id="20485" name="Picture 5" descr="1003_LowerResprtoryTract_1.jpg                                 0003AF46Macintosh HD                   ABA78158:">
            <a:extLst>
              <a:ext uri="{FF2B5EF4-FFF2-40B4-BE49-F238E27FC236}">
                <a16:creationId xmlns:a16="http://schemas.microsoft.com/office/drawing/2014/main" id="{7A860B0F-68C2-0C4A-12B7-2DC849B3D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0"/>
          <a:stretch>
            <a:fillRect/>
          </a:stretch>
        </p:blipFill>
        <p:spPr bwMode="auto">
          <a:xfrm>
            <a:off x="2838450" y="1905000"/>
            <a:ext cx="65151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ED293-0DE7-94A4-E023-3F56C6A9AB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AF76080-7A42-48B3-A586-E91D4DAAFEF1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45F2F-8B79-D8D6-2398-187324AE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20488" name="Slide Number Placeholder 3">
            <a:extLst>
              <a:ext uri="{FF2B5EF4-FFF2-40B4-BE49-F238E27FC236}">
                <a16:creationId xmlns:a16="http://schemas.microsoft.com/office/drawing/2014/main" id="{13164AAB-EAEC-DF54-6221-828D076A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378BCA-8C70-422A-8DC6-FF298DDCD417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0A2913AD-6527-5A2E-1985-764F0A126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060575"/>
            <a:ext cx="861060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87338" indent="-287338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25475" indent="-223838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Functions: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Larynx: maintains an open airway, routes food and air appropriately, assists in sound production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Trachea: transports air to and from lungs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Bronchi: branch into lungs</a:t>
            </a: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Lungs: transport air to alveoli for gas exchange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AD240C72-E582-AE9C-49FF-635B1D78F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5344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Lower Respiratory Tract</a:t>
            </a:r>
          </a:p>
        </p:txBody>
      </p:sp>
      <p:sp>
        <p:nvSpPr>
          <p:cNvPr id="21508" name="Line 4">
            <a:extLst>
              <a:ext uri="{FF2B5EF4-FFF2-40B4-BE49-F238E27FC236}">
                <a16:creationId xmlns:a16="http://schemas.microsoft.com/office/drawing/2014/main" id="{2813FFC1-F2E1-0A16-A49D-F20088432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CB3C8-143B-8D45-F5B5-FB01DCB7F3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21F9B0E-65AF-4602-A6BA-14848B264939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6FB1C-A63C-3003-0912-9D0D6B3B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21511" name="Slide Number Placeholder 3">
            <a:extLst>
              <a:ext uri="{FF2B5EF4-FFF2-40B4-BE49-F238E27FC236}">
                <a16:creationId xmlns:a16="http://schemas.microsoft.com/office/drawing/2014/main" id="{7004FEAA-E389-3E83-3E84-BB91A7BB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6F592B-066C-4313-AF1B-08420DD28DE6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build="p" autoUpdateAnimBg="0" advAuto="0"/>
      <p:bldP spid="10137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8340941-F540-619E-8657-7D5660AC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6570662" cy="530225"/>
          </a:xfrm>
        </p:spPr>
        <p:txBody>
          <a:bodyPr/>
          <a:lstStyle/>
          <a:p>
            <a:r>
              <a:rPr lang="en-US" altLang="en-US" b="1" dirty="0"/>
              <a:t>  Larynx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7153D-5182-905C-18DD-95F4CA953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90600"/>
            <a:ext cx="105156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/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 larynx is located in the anterior compartment of the neck, suspended from the hyoid bone, and spanning between C4 and C5. 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During inhalation the vocal cords are in an abducted position, to reduce resistance to inward gas flow.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exhalation the cords adduct slightly, increasing the resistance to gas flow, which results in a positive end-expiratory pressure (PEEP) of 3–4 cmH2O. 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Advantage  ?????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Disadvantage of  high PEEP?????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Should be avoided ?????                     </a:t>
            </a:r>
          </a:p>
          <a:p>
            <a:pPr>
              <a:defRPr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7B5E4-9DF9-E939-4011-0956E6FDFB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9E5A5A-75A4-4EC4-843E-DEF54FF6DD7B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14F83FEF-EC20-0C38-E00A-65B6E139FD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2C2EDB-8CD2-4865-95B2-27B5792E340D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EF524B-56C9-AC54-4E4E-3C9070A1E1E0}"/>
              </a:ext>
            </a:extLst>
          </p:cNvPr>
          <p:cNvSpPr txBox="1">
            <a:spLocks/>
          </p:cNvSpPr>
          <p:nvPr/>
        </p:nvSpPr>
        <p:spPr bwMode="auto">
          <a:xfrm>
            <a:off x="2209800" y="990600"/>
            <a:ext cx="8915400" cy="51355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The slight adduction of the vocal cords during exhalation, creating a natural PEEP (3–4 </a:t>
            </a:r>
            <a:r>
              <a:rPr lang="en-US" sz="2400" b="1" dirty="0" err="1">
                <a:solidFill>
                  <a:schemeClr val="bg1"/>
                </a:solidFill>
              </a:rPr>
              <a:t>cmH₂O</a:t>
            </a:r>
            <a:r>
              <a:rPr lang="en-US" sz="2400" b="1" dirty="0">
                <a:solidFill>
                  <a:schemeClr val="bg1"/>
                </a:solidFill>
              </a:rPr>
              <a:t>), has both advantages and disadvantages: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Advantages of PEEP: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Prevents Alveolar Collapse: Maintains alveolar recruitment, reducing atelectasis.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Improves Oxygenation: Increases functional residual capacity (FRC) and enhances gas exchange.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Reduces Work of Breathing: Supports spontaneous breathing by stabilizing the airways.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Disadvantages of High PEEP: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Barotrauma: Excessive PEEP can over-distend alveoli, leading to pneumothorax or </a:t>
            </a:r>
            <a:r>
              <a:rPr lang="en-US" sz="1800" b="1" dirty="0" err="1">
                <a:solidFill>
                  <a:schemeClr val="bg1"/>
                </a:solidFill>
              </a:rPr>
              <a:t>volutrauma</a:t>
            </a:r>
            <a:r>
              <a:rPr lang="en-US" sz="1800" b="1" dirty="0">
                <a:solidFill>
                  <a:schemeClr val="bg1"/>
                </a:solidFill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Hemodynamic Effects: High intrathoracic pressure can reduce venous return, causing hypotension and decreased cardiac output.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Impaired Renal Function: Reduced cardiac output can affect renal perfusion.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3" grpId="0" build="p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A62F8B7C-93C5-C480-1166-9E0FBBB4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775" y="1303338"/>
            <a:ext cx="6570663" cy="639762"/>
          </a:xfrm>
        </p:spPr>
        <p:txBody>
          <a:bodyPr/>
          <a:lstStyle/>
          <a:p>
            <a:r>
              <a:rPr lang="en-US" altLang="en-US"/>
              <a:t>Larynx</a:t>
            </a:r>
          </a:p>
        </p:txBody>
      </p:sp>
      <p:pic>
        <p:nvPicPr>
          <p:cNvPr id="24579" name="Content Placeholder 3">
            <a:extLst>
              <a:ext uri="{FF2B5EF4-FFF2-40B4-BE49-F238E27FC236}">
                <a16:creationId xmlns:a16="http://schemas.microsoft.com/office/drawing/2014/main" id="{17CABEBE-265A-051E-646F-CC0E9CB5B2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52700" y="2287588"/>
            <a:ext cx="6124575" cy="358298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7F09E-E3F6-AD9C-7055-F0B73F33D5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338561-E8FF-424B-A302-3AB8C8AC8884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219257B3-4422-6789-9DB8-72B21E8049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0A12D5-43FB-4B76-84F4-8D1EB60E44A4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B6A8B4-7251-1413-21D1-0F74C2AF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Trachea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DC9214A-A3A5-6549-5B2F-3058FC5F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10972800" cy="4906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trachea </a:t>
            </a:r>
          </a:p>
          <a:p>
            <a:pPr lvl="2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Begins at C6, level of cricoid cartilage</a:t>
            </a:r>
          </a:p>
          <a:p>
            <a:pPr lvl="2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Approximately 11 cm in length</a:t>
            </a:r>
          </a:p>
          <a:p>
            <a:pPr lvl="2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At T5, bifurcates into right and left mainstem bronchi</a:t>
            </a:r>
          </a:p>
          <a:p>
            <a:pPr lvl="2" eaLnBrk="1" fontAlgn="auto" hangingPunct="1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Exterior-is made of C shaped cartilage with soft tissue in between them </a:t>
            </a:r>
          </a:p>
          <a:p>
            <a:pPr lvl="2" eaLnBrk="1" fontAlgn="auto" hangingPunct="1"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Interior-is lined with respiratory epithelium </a:t>
            </a: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*cool fact* the esophagus is right behind the trachea, and this is why it has C shaped cartilage instead of full rings 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957F7-C921-CDEC-D823-38FBE5DAA8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431BF6-ADCB-4405-A337-7C71351DA8DF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61CE7-EFE2-0C82-5F4F-FC59E746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25606" name="Slide Number Placeholder 3">
            <a:extLst>
              <a:ext uri="{FF2B5EF4-FFF2-40B4-BE49-F238E27FC236}">
                <a16:creationId xmlns:a16="http://schemas.microsoft.com/office/drawing/2014/main" id="{F37006C2-E37A-A11C-5146-61F95DB9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ACD457-B296-4072-A3EF-AD58275B084C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453C2F8C-ADF1-8F38-D2CF-90E6A4DE4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66725"/>
            <a:ext cx="777240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6627" name="Rectangle 4">
            <a:extLst>
              <a:ext uri="{FF2B5EF4-FFF2-40B4-BE49-F238E27FC236}">
                <a16:creationId xmlns:a16="http://schemas.microsoft.com/office/drawing/2014/main" id="{CD2B541A-957B-EAD0-5286-E5EDBBE10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57200"/>
            <a:ext cx="2362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Trachea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A837A-F801-DB3E-1CBF-67C5F39F4A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6A99F0-6794-46F5-AA4D-8B59BD1C09D4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B7B1A-DA08-8C58-542F-15AE98C7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26630" name="Slide Number Placeholder 3">
            <a:extLst>
              <a:ext uri="{FF2B5EF4-FFF2-40B4-BE49-F238E27FC236}">
                <a16:creationId xmlns:a16="http://schemas.microsoft.com/office/drawing/2014/main" id="{357680E0-9B79-4700-1C3C-84F5928C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30FC86-96AD-4826-817C-7377CF727FD4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9FCE993-1020-FB08-D5ED-199B82FF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Trachea</a:t>
            </a:r>
          </a:p>
        </p:txBody>
      </p:sp>
      <p:pic>
        <p:nvPicPr>
          <p:cNvPr id="27651" name="Picture 6" descr="PreviewScreenSnapz001">
            <a:extLst>
              <a:ext uri="{FF2B5EF4-FFF2-40B4-BE49-F238E27FC236}">
                <a16:creationId xmlns:a16="http://schemas.microsoft.com/office/drawing/2014/main" id="{582041DF-8E3F-C053-47AF-8D78AD8C09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62300" y="2459038"/>
            <a:ext cx="5867400" cy="2806700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8675B-BE52-1764-CECC-150B24B000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B42C552-0871-44B0-A82B-0A1ACF3CD531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997C5-47FA-F45F-26D7-7FC10DEC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27654" name="Slide Number Placeholder 3">
            <a:extLst>
              <a:ext uri="{FF2B5EF4-FFF2-40B4-BE49-F238E27FC236}">
                <a16:creationId xmlns:a16="http://schemas.microsoft.com/office/drawing/2014/main" id="{FFB00B09-DF2A-C5E6-4CB8-99B2610F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761138-DF35-4076-8704-050B99F4025B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3082D13-5DE3-8606-1E5C-DFADF6D99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Trachea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6D6F531-FEA2-968E-D2D5-895104621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Right mainstem bronchus is </a:t>
            </a:r>
            <a:r>
              <a:rPr lang="en-US" altLang="en-US" i="1"/>
              <a:t>shorter</a:t>
            </a:r>
            <a:r>
              <a:rPr lang="en-US" altLang="en-US"/>
              <a:t> (upper lobe takeoff after 2 – 2.5 cm), </a:t>
            </a:r>
            <a:r>
              <a:rPr lang="en-US" altLang="en-US" i="1"/>
              <a:t>wider</a:t>
            </a:r>
            <a:r>
              <a:rPr lang="en-US" altLang="en-US"/>
              <a:t> (supplies the larger lung), and more </a:t>
            </a:r>
            <a:r>
              <a:rPr lang="en-US" altLang="en-US" i="1"/>
              <a:t>vertically</a:t>
            </a:r>
            <a:r>
              <a:rPr lang="en-US" altLang="en-US"/>
              <a:t> placed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AB6D2-B1DE-E8DF-F61F-CF40E5B4277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8C45B9-F44E-4849-AF53-9C2583E585D0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BD0F1-CDCA-205D-0CA1-54B97AE6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28678" name="Slide Number Placeholder 3">
            <a:extLst>
              <a:ext uri="{FF2B5EF4-FFF2-40B4-BE49-F238E27FC236}">
                <a16:creationId xmlns:a16="http://schemas.microsoft.com/office/drawing/2014/main" id="{751B87B3-70C6-56C8-B66A-55DF9FDF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47CF8E-8FFC-45B4-9600-E3A74084AA4C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F11C00FF-C3F2-A8D0-7C31-1540574A2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81000"/>
            <a:ext cx="7204075" cy="962025"/>
          </a:xfrm>
        </p:spPr>
        <p:txBody>
          <a:bodyPr/>
          <a:lstStyle/>
          <a:p>
            <a:r>
              <a:rPr lang="en-US" altLang="en-US"/>
              <a:t>Bronchial trees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23BEA69D-395A-3DF4-7302-5077FF861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775" y="1447800"/>
            <a:ext cx="8128000" cy="4465638"/>
          </a:xfrm>
        </p:spPr>
        <p:txBody>
          <a:bodyPr/>
          <a:lstStyle/>
          <a:p>
            <a:r>
              <a:rPr lang="en-US" altLang="en-US" sz="2800"/>
              <a:t>The right lung has three lobes (upper, middle and lower), and the left has two lobes (upper and lower)</a:t>
            </a:r>
          </a:p>
          <a:p>
            <a:r>
              <a:rPr lang="en-US" altLang="en-US" sz="2800"/>
              <a:t>There are 10 bronchopulmonary segments on the right (three upper lobe, two middle lobe, five lower lobe), and nine bronchopulmonary segments on the left (five upper lobe, four lower lobe).</a:t>
            </a:r>
          </a:p>
          <a:p>
            <a:r>
              <a:rPr lang="en-US" altLang="en-US" sz="2800"/>
              <a:t>The terminal bronchioles occur at the 16</a:t>
            </a:r>
            <a:r>
              <a:rPr lang="en-US" altLang="en-US" sz="2800" baseline="30000"/>
              <a:t>th</a:t>
            </a:r>
            <a:r>
              <a:rPr lang="en-US" altLang="en-US" sz="2800"/>
              <a:t> airway generation, the last airway generation of the conducting zone</a:t>
            </a:r>
          </a:p>
          <a:p>
            <a:endParaRPr lang="en-US" alt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1A7B1-8950-B87E-8B0B-41627B15FC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D1D99B6-BABC-4501-9573-3BAF4366D79F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59F121EA-3E2D-D31E-D8B3-750E8C920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AC5579-EAD3-4685-8337-E917C7C0A499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04BF-9A59-4322-40F9-5203D2AF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513" y="1312863"/>
            <a:ext cx="6964362" cy="733425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/>
            </a:br>
            <a:r>
              <a:rPr lang="en-US" dirty="0"/>
              <a:t>Tracheobronchial tree: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2AB13-C1ED-A324-CD5B-7C22A0352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2046288"/>
            <a:ext cx="8001000" cy="389731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dirty="0">
                <a:latin typeface="Arial Rounded MT Bold" panose="020F0704030504030204" pitchFamily="34" charset="0"/>
              </a:rPr>
              <a:t>The tracheobronchial tree consists of a series of airways that divide, becoming progressively narrower with each division.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>
              <a:latin typeface="Arial Rounded MT Bold" panose="020F0704030504030204" pitchFamily="34" charset="0"/>
            </a:endParaRPr>
          </a:p>
          <a:p>
            <a:pPr>
              <a:defRPr/>
            </a:pPr>
            <a:r>
              <a:rPr lang="en-US" sz="2400" dirty="0">
                <a:latin typeface="Arial Rounded MT Bold" panose="020F0704030504030204" pitchFamily="34" charset="0"/>
              </a:rPr>
              <a:t> In total, there are 23 divisions or generations between the trachea and the alveoli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400" dirty="0">
              <a:latin typeface="Arial Rounded MT Bold" panose="020F0704030504030204" pitchFamily="34" charset="0"/>
            </a:endParaRPr>
          </a:p>
          <a:p>
            <a:pPr>
              <a:defRPr/>
            </a:pPr>
            <a:r>
              <a:rPr lang="en-US" sz="2400" dirty="0">
                <a:latin typeface="Arial Rounded MT Bold" panose="020F0704030504030204" pitchFamily="34" charset="0"/>
              </a:rPr>
              <a:t>The tracheobronchial tree is subdivided into the conducting zone (airway generations 0–16)  and the respiratory zone (generations 17–23).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457D-049F-9237-7ED2-528391A8DB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DEFF670-3A3F-4270-AA73-634E545C25EE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BFD5D0A8-21CC-88CC-D504-2C3D220609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A35F84-7451-4243-8D93-942C3363C9FF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A47180B-2521-865F-B97D-14132347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Bronchial trees </a:t>
            </a:r>
          </a:p>
        </p:txBody>
      </p:sp>
      <p:pic>
        <p:nvPicPr>
          <p:cNvPr id="32771" name="Content Placeholder 3">
            <a:extLst>
              <a:ext uri="{FF2B5EF4-FFF2-40B4-BE49-F238E27FC236}">
                <a16:creationId xmlns:a16="http://schemas.microsoft.com/office/drawing/2014/main" id="{CA238C89-1D27-F422-F504-88C6EBAB55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1" y="1417638"/>
            <a:ext cx="8839200" cy="444182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18F99-A0EE-C76E-4CA2-1FBDDA0C44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33F0C08-9D26-4875-AAA1-E6014E98F536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49EB0F54-604F-615D-AC6C-E940A29897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C1C8C6-76BA-4907-B0DC-B2B79A90E8D2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3FBCA42-6B02-FDC4-E3E9-31827A91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Airway generations (divisions) </a:t>
            </a:r>
          </a:p>
        </p:txBody>
      </p:sp>
      <p:pic>
        <p:nvPicPr>
          <p:cNvPr id="33795" name="Content Placeholder 3">
            <a:extLst>
              <a:ext uri="{FF2B5EF4-FFF2-40B4-BE49-F238E27FC236}">
                <a16:creationId xmlns:a16="http://schemas.microsoft.com/office/drawing/2014/main" id="{AA63BC44-0838-4F01-1298-45CC31673D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8763" y="1903413"/>
            <a:ext cx="6497637" cy="362267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7A90C-3526-60A3-06CF-2D54E55B83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65EC17-65AD-4143-BA2E-070B2145AE36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3797" name="Slide Number Placeholder 4">
            <a:extLst>
              <a:ext uri="{FF2B5EF4-FFF2-40B4-BE49-F238E27FC236}">
                <a16:creationId xmlns:a16="http://schemas.microsoft.com/office/drawing/2014/main" id="{DA298C9C-2823-AC27-69A9-6078961906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837CB1-4945-48CC-93BB-6A8E9FB6849B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8AD00ABA-A295-22C6-AC4E-32E5E841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Airway generations (divisions)</a:t>
            </a:r>
          </a:p>
        </p:txBody>
      </p:sp>
      <p:pic>
        <p:nvPicPr>
          <p:cNvPr id="34819" name="Content Placeholder 6">
            <a:extLst>
              <a:ext uri="{FF2B5EF4-FFF2-40B4-BE49-F238E27FC236}">
                <a16:creationId xmlns:a16="http://schemas.microsoft.com/office/drawing/2014/main" id="{E053640E-41FB-2AEF-4316-40295799CF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21050" y="2125663"/>
            <a:ext cx="4906963" cy="377983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90AA6-DC1B-F0D0-513F-3231F125E8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563975-09F3-437B-BCC1-34B8F4A4B310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4821" name="Slide Number Placeholder 3">
            <a:extLst>
              <a:ext uri="{FF2B5EF4-FFF2-40B4-BE49-F238E27FC236}">
                <a16:creationId xmlns:a16="http://schemas.microsoft.com/office/drawing/2014/main" id="{0022E36A-3667-1377-A7E7-DA693C8AD6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A6E356-C68E-445E-A3E3-234B14F0336C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5F2C9863-4D5A-57DE-3E30-847D8F18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Airway generations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79FE-B038-5D88-161B-5A06AF2C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19200"/>
            <a:ext cx="11277600" cy="495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conducting airways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:- conducting air from the larynx to the respiratory zone 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Anatomical dead space = 150 ml) 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trachea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starts at the lower border of the cricoid cartilage (C6 vertebral level) and bifurcates at the carina (T4/5 level).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trachea divides into the right and left main bronchi.</a:t>
            </a:r>
          </a:p>
          <a:p>
            <a:pPr lvl="2">
              <a:defRPr/>
            </a:pPr>
            <a:r>
              <a:rPr lang="en-US" sz="2800" b="1" dirty="0"/>
              <a:t>Its  length 10-12cm and  diameter 15-20mm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Comprises 16-20 C shaped cartilage rings, cartilages are joined vertically by  fibroelastic tissue and closed posteriorly by non striated trachealis muscle</a:t>
            </a:r>
            <a:endParaRPr lang="en-US" sz="28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B62AA-51F2-2C60-1795-A323ACF391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EF6D809-4FA3-4D7A-BF89-1682642F79F7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A979940A-69FA-C477-455D-E595A01808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58C704-51F6-4F9A-8FD0-1705D2BCD0E8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1F57A433-47F7-9D44-634D-EE29EBB3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Airway generations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CC13-7A83-388B-C678-2E2D44FDB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11201400" cy="3695700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sz="3000" b="1" dirty="0"/>
              <a:t>The right main bronchus is shorter, wider and more vertical than the left</a:t>
            </a:r>
          </a:p>
          <a:p>
            <a:pPr>
              <a:defRPr/>
            </a:pPr>
            <a:endParaRPr lang="en-US" sz="3000" b="1" dirty="0"/>
          </a:p>
          <a:p>
            <a:pPr>
              <a:defRPr/>
            </a:pPr>
            <a:r>
              <a:rPr lang="en-US" sz="3000" b="1" dirty="0"/>
              <a:t>In the adult, the right bronchus leaves the trachea at approximately 25 degrees from the vertical tracheal axis, whereas the angle of the left bronchus is about 45 degrees</a:t>
            </a:r>
          </a:p>
          <a:p>
            <a:pPr>
              <a:defRPr/>
            </a:pPr>
            <a:endParaRPr lang="en-US" sz="3000" b="1" dirty="0"/>
          </a:p>
          <a:p>
            <a:pPr>
              <a:defRPr/>
            </a:pPr>
            <a:r>
              <a:rPr lang="en-US" sz="3000" b="1" dirty="0"/>
              <a:t>????? Anesthetic implication </a:t>
            </a:r>
          </a:p>
          <a:p>
            <a:pPr>
              <a:defRPr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79580-BAE3-7724-8083-7F884F1C4B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635EFA4-E927-4717-8243-E7E1EE05D8D2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3C9086DA-F1D4-37C9-A7A4-1C09ECA829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93DB3C-EBE3-43C9-828C-CEAF4BE6558D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DDB2772D-4F24-AFBF-50A2-F70FCD59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8915" name="Content Placeholder 3">
            <a:extLst>
              <a:ext uri="{FF2B5EF4-FFF2-40B4-BE49-F238E27FC236}">
                <a16:creationId xmlns:a16="http://schemas.microsoft.com/office/drawing/2014/main" id="{272093C6-0EF3-94BB-1477-DB385694B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8338" y="1247775"/>
            <a:ext cx="7886700" cy="45513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9E451D-6532-1742-DF9F-D0D1FFC26E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C98992-1E11-4457-ADAF-FCA448609732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8917" name="Slide Number Placeholder 4">
            <a:extLst>
              <a:ext uri="{FF2B5EF4-FFF2-40B4-BE49-F238E27FC236}">
                <a16:creationId xmlns:a16="http://schemas.microsoft.com/office/drawing/2014/main" id="{78644E71-9A7B-DB9A-6972-BDEA9170F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BA34C2-2436-4416-81CB-FC75C6270336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74506AC-8E37-9F2E-3E1B-A58FADD31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Airway generations </a:t>
            </a:r>
          </a:p>
        </p:txBody>
      </p:sp>
      <p:pic>
        <p:nvPicPr>
          <p:cNvPr id="39939" name="Content Placeholder 3">
            <a:extLst>
              <a:ext uri="{FF2B5EF4-FFF2-40B4-BE49-F238E27FC236}">
                <a16:creationId xmlns:a16="http://schemas.microsoft.com/office/drawing/2014/main" id="{1F7DA426-40EC-8B18-D0C0-AF5557CDF2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1238" y="2335213"/>
            <a:ext cx="6124575" cy="366553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77045-2095-BD59-B678-C4D1FF1CE2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E9BD776-7F2A-4A68-8E8F-41CD515BAB93}" type="datetime1">
              <a:rPr lang="en-US" smtClean="0"/>
              <a:pPr>
                <a:defRPr/>
              </a:pPr>
              <a:t>2/20/2025</a:t>
            </a:fld>
            <a:endParaRPr lang="en-US" dirty="0"/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B97E0087-A084-9D8D-E06C-8504E2772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2A40DB-2C2C-4CBE-B4A5-B1B6CB08A8CC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022A09C-9928-9AE2-443C-0F155B55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Alveoli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4E6B6C1-94B0-037B-79F1-B29999E3A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surface area increases significantly at the periphery of the lung</a:t>
            </a:r>
          </a:p>
          <a:p>
            <a:pPr eaLnBrk="1" hangingPunct="1"/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Alveoli ~ 300 million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~140 m² of surface area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388ED-BF56-44F0-7EA2-67D59EDEC0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BE9A90D-53B0-497C-A111-0F8C7AFA4103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E6DFE-4947-8623-307A-6E2A2790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0966" name="Slide Number Placeholder 3">
            <a:extLst>
              <a:ext uri="{FF2B5EF4-FFF2-40B4-BE49-F238E27FC236}">
                <a16:creationId xmlns:a16="http://schemas.microsoft.com/office/drawing/2014/main" id="{0A428C9D-ABE6-F8EF-4716-DA3A771F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842BEB-5488-4221-B42C-864F556D6CCB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F7A14961-6B21-B849-65FB-7C8CDAAAC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7630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Gas Exchange Between the Blood and Alveoli</a:t>
            </a:r>
          </a:p>
        </p:txBody>
      </p:sp>
      <p:sp>
        <p:nvSpPr>
          <p:cNvPr id="41987" name="Line 3">
            <a:extLst>
              <a:ext uri="{FF2B5EF4-FFF2-40B4-BE49-F238E27FC236}">
                <a16:creationId xmlns:a16="http://schemas.microsoft.com/office/drawing/2014/main" id="{E2B348EE-8A9C-976E-EADA-D0914BC87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1988" name="Picture 5" descr="1008_GasExchangeInLungs_1.jpg                                  0003AF46Macintosh HD                   ABA78158:">
            <a:extLst>
              <a:ext uri="{FF2B5EF4-FFF2-40B4-BE49-F238E27FC236}">
                <a16:creationId xmlns:a16="http://schemas.microsoft.com/office/drawing/2014/main" id="{2D7F497E-7C44-53D8-61D6-6477D4107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1"/>
          <a:stretch>
            <a:fillRect/>
          </a:stretch>
        </p:blipFill>
        <p:spPr bwMode="auto">
          <a:xfrm>
            <a:off x="1038225" y="1295400"/>
            <a:ext cx="6810375" cy="492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989" name="Object 6">
            <a:extLst>
              <a:ext uri="{FF2B5EF4-FFF2-40B4-BE49-F238E27FC236}">
                <a16:creationId xmlns:a16="http://schemas.microsoft.com/office/drawing/2014/main" id="{CB964A87-C335-039E-D753-105DEC16FF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8225" y="4416425"/>
          <a:ext cx="309562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758730" imgH="4166549" progId="Word.Document.8">
                  <p:embed/>
                </p:oleObj>
              </mc:Choice>
              <mc:Fallback>
                <p:oleObj name="Document" r:id="rId3" imgW="3758730" imgH="4166549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4416425"/>
                        <a:ext cx="3095625" cy="208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61840-D398-F648-3A3C-FDA97C7EC5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110746A-0218-474E-915E-0BF9F811182D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46118-B1AC-C2AD-1149-C3055A85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1992" name="Slide Number Placeholder 3">
            <a:extLst>
              <a:ext uri="{FF2B5EF4-FFF2-40B4-BE49-F238E27FC236}">
                <a16:creationId xmlns:a16="http://schemas.microsoft.com/office/drawing/2014/main" id="{0E9A4272-6270-3179-A777-3DCA4AE8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8B03BC-AFFD-415D-860F-65A844BCA37E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68760-5F9A-4209-9575-3184367E9E75}"/>
              </a:ext>
            </a:extLst>
          </p:cNvPr>
          <p:cNvSpPr txBox="1"/>
          <p:nvPr/>
        </p:nvSpPr>
        <p:spPr>
          <a:xfrm>
            <a:off x="7848600" y="892175"/>
            <a:ext cx="3708400" cy="5262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212121"/>
                </a:solidFill>
                <a:latin typeface="Cambria" panose="02040503050406030204" pitchFamily="18" charset="0"/>
              </a:rPr>
              <a:t>Surfactant :</a:t>
            </a:r>
            <a:r>
              <a:rPr lang="en-US" dirty="0">
                <a:solidFill>
                  <a:srgbClr val="212121"/>
                </a:solidFill>
                <a:latin typeface="Cambria" panose="02040503050406030204" pitchFamily="18" charset="0"/>
              </a:rPr>
              <a:t>: 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>
                <a:solidFill>
                  <a:srgbClr val="212121"/>
                </a:solidFill>
                <a:latin typeface="Cambria" panose="02040503050406030204" pitchFamily="18" charset="0"/>
              </a:rPr>
              <a:t> </a:t>
            </a:r>
            <a:r>
              <a:rPr lang="en-US" sz="2400" dirty="0">
                <a:solidFill>
                  <a:srgbClr val="212121"/>
                </a:solidFill>
                <a:latin typeface="Cambria" panose="02040503050406030204" pitchFamily="18" charset="0"/>
              </a:rPr>
              <a:t>lowering surface tension at the air–liquid interface and thus preventing alveolar collapse at end-expiration.</a:t>
            </a:r>
          </a:p>
          <a:p>
            <a:pPr marL="457200" indent="-457200">
              <a:buFontTx/>
              <a:buAutoNum type="arabicPeriod" startAt="2"/>
              <a:defRPr/>
            </a:pPr>
            <a:r>
              <a:rPr lang="en-US" sz="2400" dirty="0">
                <a:solidFill>
                  <a:srgbClr val="212121"/>
                </a:solidFill>
                <a:latin typeface="Cambria" panose="02040503050406030204" pitchFamily="18" charset="0"/>
              </a:rPr>
              <a:t>interacting with and subsequent killing of pathogens or preventing their dissemination, and </a:t>
            </a:r>
          </a:p>
          <a:p>
            <a:pPr marL="457200" indent="-457200">
              <a:buFontTx/>
              <a:buAutoNum type="arabicPeriod" startAt="2"/>
              <a:defRPr/>
            </a:pPr>
            <a:r>
              <a:rPr lang="en-US" sz="2400" dirty="0">
                <a:solidFill>
                  <a:srgbClr val="212121"/>
                </a:solidFill>
                <a:latin typeface="Cambria" panose="02040503050406030204" pitchFamily="18" charset="0"/>
              </a:rPr>
              <a:t> Modulating immune responses</a:t>
            </a:r>
            <a:r>
              <a:rPr lang="en-US" dirty="0">
                <a:solidFill>
                  <a:srgbClr val="212121"/>
                </a:solidFill>
                <a:latin typeface="Cambria" panose="02040503050406030204" pitchFamily="18" charset="0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E9F6-01DE-9227-3D69-21C611A6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Breathing Muscles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FB233-9C1E-E778-A5FE-780B58E3F6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00200"/>
            <a:ext cx="10566400" cy="4724400"/>
          </a:xfrm>
        </p:spPr>
        <p:txBody>
          <a:bodyPr>
            <a:noAutofit/>
          </a:bodyPr>
          <a:lstStyle/>
          <a:p>
            <a:pPr eaLnBrk="1" fontAlgn="auto" hangingPunct="1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Eupnea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-normal breathing </a:t>
            </a:r>
          </a:p>
          <a:p>
            <a:pPr eaLnBrk="1" fontAlgn="auto" hangingPunct="1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Inspiration</a:t>
            </a:r>
          </a:p>
          <a:p>
            <a:pPr lvl="1" eaLnBrk="1" fontAlgn="auto" hangingPunct="1"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Diaphragm</a:t>
            </a:r>
          </a:p>
          <a:p>
            <a:pPr lvl="1" eaLnBrk="1" fontAlgn="auto" hangingPunct="1"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External intercostal muscles </a:t>
            </a:r>
          </a:p>
          <a:p>
            <a:pPr eaLnBrk="1" fontAlgn="auto" hangingPunct="1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Expiration</a:t>
            </a:r>
          </a:p>
          <a:p>
            <a:pPr lvl="1" eaLnBrk="1" fontAlgn="auto" hangingPunct="1"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Internal intercostal </a:t>
            </a:r>
          </a:p>
          <a:p>
            <a:pPr lvl="1" eaLnBrk="1" fontAlgn="auto" hangingPunct="1"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Abdominal muscles </a:t>
            </a:r>
          </a:p>
          <a:p>
            <a:pPr marL="57150" indent="0" eaLnBrk="1" fontAlgn="auto" hangingPunct="1">
              <a:buNone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*remember that more muscles are used when a person is breathing heavily </a:t>
            </a:r>
          </a:p>
          <a:p>
            <a:pPr lvl="1" eaLnBrk="1" fontAlgn="auto" hangingPunct="1">
              <a:defRPr/>
            </a:pP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5BF20CAE-C028-E2AB-41EB-BA13D996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28600"/>
            <a:ext cx="8229600" cy="1143000"/>
          </a:xfrm>
        </p:spPr>
        <p:txBody>
          <a:bodyPr/>
          <a:lstStyle/>
          <a:p>
            <a:pPr algn="l"/>
            <a:r>
              <a:rPr lang="en-US" altLang="en-US"/>
              <a:t>MEDIASTINUM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AA092A2D-78D3-911B-D252-D7DB9C58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mediastinum is the region between the 2 pleural sacs .</a:t>
            </a:r>
          </a:p>
          <a:p>
            <a:r>
              <a:rPr lang="en-US" altLang="en-US"/>
              <a:t>contains the heart, the great vessels, and the thymus gland. </a:t>
            </a:r>
          </a:p>
          <a:p>
            <a:r>
              <a:rPr lang="en-US" altLang="en-US"/>
              <a:t>For purposes of description, the mediastinum is divided into 4 subdivisions (middle, posterior,  anterior, and superior compartments). 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69FBB-E38F-1A46-4861-752C2DDAC6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85F99E-581D-40E6-A49F-8FB43B245CE6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9BECA1-3068-7AD3-03CF-7BCE4876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3014" name="Slide Number Placeholder 3">
            <a:extLst>
              <a:ext uri="{FF2B5EF4-FFF2-40B4-BE49-F238E27FC236}">
                <a16:creationId xmlns:a16="http://schemas.microsoft.com/office/drawing/2014/main" id="{A5D6843D-8B10-C0DA-DDF3-ED33A640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E71FE1-E700-4D93-9A19-2828A8600C20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0E2BFA4-57B6-4656-6415-82093744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MEDIASTINUM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0D76CB94-826D-6EF6-E96C-7E3BCF45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9982200" cy="4525963"/>
          </a:xfrm>
        </p:spPr>
        <p:txBody>
          <a:bodyPr/>
          <a:lstStyle/>
          <a:p>
            <a:r>
              <a:rPr lang="en-US" altLang="en-US"/>
              <a:t>The middle mediastinum contains the pericardium with the adjacent phrenic nerves, the heart, and the great vessels emanating to and from it. </a:t>
            </a:r>
          </a:p>
          <a:p>
            <a:r>
              <a:rPr lang="en-US" altLang="en-US"/>
              <a:t>the superior mediastinum contains the thymus, great vessels, and several nerves.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2F98A-497C-C43C-2551-610C7B35C1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6FC7DFF-4308-4B10-834F-C62265C36801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52852-6896-0582-4AC3-9077BAA0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4038" name="Slide Number Placeholder 3">
            <a:extLst>
              <a:ext uri="{FF2B5EF4-FFF2-40B4-BE49-F238E27FC236}">
                <a16:creationId xmlns:a16="http://schemas.microsoft.com/office/drawing/2014/main" id="{A1560FE1-A8AD-03FC-BC33-2E5BEC11E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4D5F80-5002-426E-A14C-71490F891274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56B45E29-CA4E-3C39-75C9-49388431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MEDIASTINUM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2704E243-7A58-D9CD-DE7E-6795DC944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posterior mediastinum, contains the thoracic aorta, thoracic duct, azygos and hemiazygos veins, esophagus, and bifurcation of the trachea with the 2 bronchi. </a:t>
            </a:r>
          </a:p>
          <a:p>
            <a:r>
              <a:rPr lang="en-US" altLang="en-US"/>
              <a:t>The anterior mediastinum, contains</a:t>
            </a:r>
            <a:br>
              <a:rPr lang="en-US" altLang="en-US"/>
            </a:br>
            <a:r>
              <a:rPr lang="en-US" altLang="en-US"/>
              <a:t>lymphatic vessels, lymph nodes, and branches of the internal thoracic artery.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F63DA6-C0F0-2A48-4F89-CE17778433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DF12351-5F67-4755-BC7C-95BBC8EC36D5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752D2-FB3B-60E3-4672-CA13F182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5062" name="Slide Number Placeholder 3">
            <a:extLst>
              <a:ext uri="{FF2B5EF4-FFF2-40B4-BE49-F238E27FC236}">
                <a16:creationId xmlns:a16="http://schemas.microsoft.com/office/drawing/2014/main" id="{71B84C77-D884-E996-C603-DFD8D3D3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8C39F6-691F-4558-A4F5-FC5165C83CCB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E917695-E0DC-8582-1D0C-CA8252DD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Circulation	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A6531F7-0DAD-8C20-8404-FE74E7005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Pulmonary artery branches, following bronchial tree and gives rise to pulmonary capillary branches </a:t>
            </a:r>
            <a:r>
              <a:rPr lang="en-US" altLang="en-US">
                <a:sym typeface="Wingdings" panose="05000000000000000000" pitchFamily="2" charset="2"/>
              </a:rPr>
              <a:t> capillary nets that course over alveoli  reform into pulmonary vein</a:t>
            </a:r>
          </a:p>
          <a:p>
            <a:pPr eaLnBrk="1" hangingPunct="1"/>
            <a:r>
              <a:rPr lang="en-US" altLang="en-US">
                <a:sym typeface="Wingdings" panose="05000000000000000000" pitchFamily="2" charset="2"/>
              </a:rPr>
              <a:t>Bronchial arterial system arises from systemic circulation (aorta, intercostals) and comprises 1% of Cardiac Output</a:t>
            </a: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C0DEE-4473-3983-00E7-189F121F8D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864156E-2B0F-4E02-8DDA-3952540C5D4E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69342-41C6-5885-6508-A62F1B56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6086" name="Slide Number Placeholder 3">
            <a:extLst>
              <a:ext uri="{FF2B5EF4-FFF2-40B4-BE49-F238E27FC236}">
                <a16:creationId xmlns:a16="http://schemas.microsoft.com/office/drawing/2014/main" id="{78024506-748E-7629-189A-B859E616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DBA236-6CB8-4557-8DAF-565A3ACBCC77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1013_BreathingRegulation_1.jpg                                 0003AF46Macintosh HD                   ABA78158:">
            <a:extLst>
              <a:ext uri="{FF2B5EF4-FFF2-40B4-BE49-F238E27FC236}">
                <a16:creationId xmlns:a16="http://schemas.microsoft.com/office/drawing/2014/main" id="{9103DF41-9E45-C268-5891-0E4684CA1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9"/>
          <a:stretch>
            <a:fillRect/>
          </a:stretch>
        </p:blipFill>
        <p:spPr bwMode="auto">
          <a:xfrm>
            <a:off x="1524000" y="823913"/>
            <a:ext cx="9144000" cy="603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1" name="Rectangle 3">
            <a:extLst>
              <a:ext uri="{FF2B5EF4-FFF2-40B4-BE49-F238E27FC236}">
                <a16:creationId xmlns:a16="http://schemas.microsoft.com/office/drawing/2014/main" id="{B87C3BDC-1E25-A59C-7189-C207BEE74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0"/>
            <a:ext cx="114300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Regulation of Breathing</a:t>
            </a:r>
          </a:p>
        </p:txBody>
      </p:sp>
      <p:sp>
        <p:nvSpPr>
          <p:cNvPr id="47108" name="Line 4">
            <a:extLst>
              <a:ext uri="{FF2B5EF4-FFF2-40B4-BE49-F238E27FC236}">
                <a16:creationId xmlns:a16="http://schemas.microsoft.com/office/drawing/2014/main" id="{12C2D43F-80C8-B54C-7310-D5752D1AA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-14288"/>
            <a:ext cx="11329988" cy="1588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A36E54E6-1635-C0CF-4EA7-1F62AB140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288" y="6157913"/>
            <a:ext cx="963612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330033"/>
                </a:solidFill>
                <a:latin typeface="Times New Roman" panose="02020603050405020304" pitchFamily="18" charset="0"/>
              </a:rPr>
              <a:t>Figure 10.13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5EBF8-B9CB-E589-84D9-D9D6873BAB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14095A3-5950-4F17-AF01-56E284FF095A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A5626-E873-C803-6A2F-751FD544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7112" name="Slide Number Placeholder 3">
            <a:extLst>
              <a:ext uri="{FF2B5EF4-FFF2-40B4-BE49-F238E27FC236}">
                <a16:creationId xmlns:a16="http://schemas.microsoft.com/office/drawing/2014/main" id="{B24EE5FC-DF0C-B9F5-8676-7E37136F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21940E-2C46-4D0D-A9BE-D6CD3673B7FA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333FDA89-B6E5-98BA-5671-40966D5A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1981200"/>
            <a:ext cx="109728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03225" indent="-4032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Respiratory center in the medulla oblongata: establishes basic breathing pattern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Chemical receptors: monitor carbon dioxide, hydrogen ions, and oxygen levels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Medulla: sensitive to hydrogen ions in cerebrospinal fluid resulting from carbon dioxide in blood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128F4876-36D1-B350-9350-C166DDB19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5344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Regulation of Breathing: </a:t>
            </a:r>
            <a:b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Nervous System Involvement</a:t>
            </a:r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D31D07F8-6719-02CA-EC99-25C744134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DD53B-9A0C-45A0-4BAA-B95F7E0EC7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FDE7C40-EDE6-4247-BBC3-DE37D3C534C9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C5797-A2B5-00CD-7AAF-849D53DB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8135" name="Slide Number Placeholder 3">
            <a:extLst>
              <a:ext uri="{FF2B5EF4-FFF2-40B4-BE49-F238E27FC236}">
                <a16:creationId xmlns:a16="http://schemas.microsoft.com/office/drawing/2014/main" id="{3626AF64-772E-BA8D-B85A-BAFD03FE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88C0C6-28E2-4677-AAD8-5DBF4F1EF255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 autoUpdateAnimBg="0" advAuto="0"/>
      <p:bldP spid="11059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8D99B656-2439-5D47-8F10-AD43759B0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717800"/>
            <a:ext cx="109728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03225" indent="-4032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600">
                <a:latin typeface="Arial" panose="020B0604020202020204" pitchFamily="34" charset="0"/>
              </a:rPr>
              <a:t>Carotid and aortic bodies: sensitive to carbon dioxide, pH, and oxygen levels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600">
                <a:latin typeface="Arial" panose="020B0604020202020204" pitchFamily="34" charset="0"/>
              </a:rPr>
              <a:t>Conscious control: resides in higher brain centers; ability to modify breath is limited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4B103D1-69CD-20F5-4955-48ABA432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534400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Regulation of Breathing: </a:t>
            </a:r>
            <a:b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Nervous System Involvement</a:t>
            </a:r>
          </a:p>
        </p:txBody>
      </p:sp>
      <p:sp>
        <p:nvSpPr>
          <p:cNvPr id="49156" name="Line 4">
            <a:extLst>
              <a:ext uri="{FF2B5EF4-FFF2-40B4-BE49-F238E27FC236}">
                <a16:creationId xmlns:a16="http://schemas.microsoft.com/office/drawing/2014/main" id="{6BD9B06D-997E-CEFC-3259-EA14FEB14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A03D1-676D-C0DD-605D-6AFFF829C15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03C8C52-754F-4D1B-A10F-17873E23E137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E1A57-992F-3781-8C95-E00CEE8B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49159" name="Slide Number Placeholder 3">
            <a:extLst>
              <a:ext uri="{FF2B5EF4-FFF2-40B4-BE49-F238E27FC236}">
                <a16:creationId xmlns:a16="http://schemas.microsoft.com/office/drawing/2014/main" id="{72487544-ED8C-C656-9250-1F19834C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0B404E-8A58-43E8-ABA1-55478756E300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 build="p" autoUpdateAnimBg="0" advAuto="0"/>
      <p:bldP spid="11161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F4BBB95-C03C-F39D-6ABB-6EB8A9231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30375"/>
            <a:ext cx="10058400" cy="383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03225" indent="-4032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7463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7463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Breathing (ventilation): air in to and out of lungs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External respiration: gas exchange between air and blood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Internal respiration: gas exchange between blood and tissues</a:t>
            </a: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>
                <a:latin typeface="Arial" panose="020B0604020202020204" pitchFamily="34" charset="0"/>
              </a:rPr>
              <a:t>Cellular respiration: oxygen use to produce ATP, carbon dioxide as waste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1F91809-7ADD-D23D-EADB-C26737B62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42888"/>
            <a:ext cx="85344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22300" algn="l"/>
                <a:tab pos="2168525" algn="l"/>
                <a:tab pos="3546475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622300" algn="l"/>
                <a:tab pos="2168525" algn="l"/>
                <a:tab pos="3546475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  <a:latin typeface="Arial" panose="020B0604020202020204" pitchFamily="34" charset="0"/>
              </a:rPr>
              <a:t>Four Respiration Processes</a:t>
            </a:r>
          </a:p>
        </p:txBody>
      </p:sp>
      <p:sp>
        <p:nvSpPr>
          <p:cNvPr id="50180" name="Line 4">
            <a:extLst>
              <a:ext uri="{FF2B5EF4-FFF2-40B4-BE49-F238E27FC236}">
                <a16:creationId xmlns:a16="http://schemas.microsoft.com/office/drawing/2014/main" id="{23838750-A3D6-F281-1CE3-A586E1620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28600"/>
            <a:ext cx="8686800" cy="0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E6489-0992-4E27-8129-A245CF355E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0277BB1-3395-4151-A98D-FD449FBE409B}" type="datetime1">
              <a:rPr lang="en-US"/>
              <a:pPr>
                <a:defRPr/>
              </a:pPr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5A242-BF72-F6D7-2E30-A5353036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Eyayalem Melese</a:t>
            </a:r>
          </a:p>
        </p:txBody>
      </p:sp>
      <p:sp>
        <p:nvSpPr>
          <p:cNvPr id="50183" name="Slide Number Placeholder 3">
            <a:extLst>
              <a:ext uri="{FF2B5EF4-FFF2-40B4-BE49-F238E27FC236}">
                <a16:creationId xmlns:a16="http://schemas.microsoft.com/office/drawing/2014/main" id="{6139BF20-A15E-2E08-89A3-DDFD638E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69C662-C5D8-4DD5-9719-74442DDAF256}" type="slidenum">
              <a:rPr lang="en-US" altLang="en-US" sz="1200" smtClean="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build="p" autoUpdateAnimBg="0" advAuto="0"/>
      <p:bldP spid="97283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5001</TotalTime>
  <Words>2072</Words>
  <Application>Microsoft Office PowerPoint</Application>
  <PresentationFormat>Widescreen</PresentationFormat>
  <Paragraphs>340</Paragraphs>
  <Slides>47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Arial Rounded MT Bold</vt:lpstr>
      <vt:lpstr>Calibri</vt:lpstr>
      <vt:lpstr>Calibri Light</vt:lpstr>
      <vt:lpstr>Cambria</vt:lpstr>
      <vt:lpstr>Times New Roman</vt:lpstr>
      <vt:lpstr>Wingdings</vt:lpstr>
      <vt:lpstr>Office Theme</vt:lpstr>
      <vt:lpstr>Document</vt:lpstr>
      <vt:lpstr>  ANESTHESIA FOR  Emergency THORACIC  SURGERY </vt:lpstr>
      <vt:lpstr>PowerPoint Presentation</vt:lpstr>
      <vt:lpstr>LEARNING OUTCOMES (Objectives)</vt:lpstr>
      <vt:lpstr>LEARNING OUTCOMES (Objectives)</vt:lpstr>
      <vt:lpstr>LEARNING OUTCOMES (Objectives)</vt:lpstr>
      <vt:lpstr>PowerPoint Presentation</vt:lpstr>
      <vt:lpstr>What is Thoracic Anesthesia? </vt:lpstr>
      <vt:lpstr>Unique Challenges in Thoracic Anesthesia </vt:lpstr>
      <vt:lpstr>Anatomy and Physiology</vt:lpstr>
      <vt:lpstr>  Physiologic/Anatomy Respiratory system  </vt:lpstr>
      <vt:lpstr>THORACIC  CAVITY</vt:lpstr>
      <vt:lpstr>Function of the lungs </vt:lpstr>
      <vt:lpstr>Non respiratory function </vt:lpstr>
      <vt:lpstr>PowerPoint Presentation</vt:lpstr>
      <vt:lpstr>   Physiologic Anatomy of Respiratory system </vt:lpstr>
      <vt:lpstr>PowerPoint Presentation</vt:lpstr>
      <vt:lpstr>PowerPoint Presentation</vt:lpstr>
      <vt:lpstr>PowerPoint Presentation</vt:lpstr>
      <vt:lpstr> Upper airway</vt:lpstr>
      <vt:lpstr>PowerPoint Presentation</vt:lpstr>
      <vt:lpstr>PowerPoint Presentation</vt:lpstr>
      <vt:lpstr>  Larynx</vt:lpstr>
      <vt:lpstr>Larynx</vt:lpstr>
      <vt:lpstr>Trachea</vt:lpstr>
      <vt:lpstr>PowerPoint Presentation</vt:lpstr>
      <vt:lpstr>Trachea</vt:lpstr>
      <vt:lpstr>Trachea</vt:lpstr>
      <vt:lpstr>Bronchial trees </vt:lpstr>
      <vt:lpstr> Tracheobronchial tree: </vt:lpstr>
      <vt:lpstr> Bronchial trees </vt:lpstr>
      <vt:lpstr>Airway generations (divisions) </vt:lpstr>
      <vt:lpstr>Airway generations (divisions)</vt:lpstr>
      <vt:lpstr>Airway generations</vt:lpstr>
      <vt:lpstr>Airway generations</vt:lpstr>
      <vt:lpstr>PowerPoint Presentation</vt:lpstr>
      <vt:lpstr>Airway generations </vt:lpstr>
      <vt:lpstr>Alveoli</vt:lpstr>
      <vt:lpstr>PowerPoint Presentation</vt:lpstr>
      <vt:lpstr>Breathing Muscles </vt:lpstr>
      <vt:lpstr>MEDIASTINUM</vt:lpstr>
      <vt:lpstr>MEDIASTINUM</vt:lpstr>
      <vt:lpstr>MEDIASTINUM</vt:lpstr>
      <vt:lpstr>Circulation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Curriculum January 13, 2010</dc:title>
  <dc:creator>Eyayalem Melese</dc:creator>
  <cp:lastModifiedBy>Eyaya Anesthesia</cp:lastModifiedBy>
  <cp:revision>191</cp:revision>
  <dcterms:created xsi:type="dcterms:W3CDTF">2010-01-13T08:21:04Z</dcterms:created>
  <dcterms:modified xsi:type="dcterms:W3CDTF">2025-02-20T03:22:06Z</dcterms:modified>
</cp:coreProperties>
</file>