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39"/>
  </p:notesMasterIdLst>
  <p:sldIdLst>
    <p:sldId id="374" r:id="rId2"/>
    <p:sldId id="275" r:id="rId3"/>
    <p:sldId id="276" r:id="rId4"/>
    <p:sldId id="347" r:id="rId5"/>
    <p:sldId id="349" r:id="rId6"/>
    <p:sldId id="348" r:id="rId7"/>
    <p:sldId id="277" r:id="rId8"/>
    <p:sldId id="278" r:id="rId9"/>
    <p:sldId id="279" r:id="rId10"/>
    <p:sldId id="351" r:id="rId11"/>
    <p:sldId id="281" r:id="rId12"/>
    <p:sldId id="282" r:id="rId13"/>
    <p:sldId id="283" r:id="rId14"/>
    <p:sldId id="284" r:id="rId15"/>
    <p:sldId id="285" r:id="rId16"/>
    <p:sldId id="286" r:id="rId17"/>
    <p:sldId id="287" r:id="rId18"/>
    <p:sldId id="288" r:id="rId19"/>
    <p:sldId id="289" r:id="rId20"/>
    <p:sldId id="290" r:id="rId21"/>
    <p:sldId id="291" r:id="rId22"/>
    <p:sldId id="292" r:id="rId23"/>
    <p:sldId id="293" r:id="rId24"/>
    <p:sldId id="294" r:id="rId25"/>
    <p:sldId id="352" r:id="rId26"/>
    <p:sldId id="353" r:id="rId27"/>
    <p:sldId id="295" r:id="rId28"/>
    <p:sldId id="296" r:id="rId29"/>
    <p:sldId id="297" r:id="rId30"/>
    <p:sldId id="298" r:id="rId31"/>
    <p:sldId id="299" r:id="rId32"/>
    <p:sldId id="300" r:id="rId33"/>
    <p:sldId id="301" r:id="rId34"/>
    <p:sldId id="302" r:id="rId35"/>
    <p:sldId id="303" r:id="rId36"/>
    <p:sldId id="304" r:id="rId37"/>
    <p:sldId id="375" r:id="rId3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79" autoAdjust="0"/>
  </p:normalViewPr>
  <p:slideViewPr>
    <p:cSldViewPr>
      <p:cViewPr varScale="1">
        <p:scale>
          <a:sx n="64" d="100"/>
          <a:sy n="64" d="100"/>
        </p:scale>
        <p:origin x="954" y="7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65930E1-06FA-4AED-4CF4-55745CC138B4}"/>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0C68948C-5E75-FBD6-CBFE-C090A9413998}"/>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57F7626B-8A09-4502-8BDE-F674D3902938}" type="datetimeFigureOut">
              <a:rPr lang="en-US"/>
              <a:pPr>
                <a:defRPr/>
              </a:pPr>
              <a:t>4/25/2025</a:t>
            </a:fld>
            <a:endParaRPr lang="en-US"/>
          </a:p>
        </p:txBody>
      </p:sp>
      <p:sp>
        <p:nvSpPr>
          <p:cNvPr id="4" name="Slide Image Placeholder 3">
            <a:extLst>
              <a:ext uri="{FF2B5EF4-FFF2-40B4-BE49-F238E27FC236}">
                <a16:creationId xmlns:a16="http://schemas.microsoft.com/office/drawing/2014/main" id="{A79523C5-1E92-37FE-BBC8-BDAF27623730}"/>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178AE1D7-BD29-6553-AD4D-5054FCF5CFA9}"/>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0020D341-2977-28E9-6400-2785910E1BAF}"/>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46242E51-8801-9AD2-94A1-99E7AC80A94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DECF45E3-BC04-4516-9004-F8B73963EA6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a:extLst>
              <a:ext uri="{FF2B5EF4-FFF2-40B4-BE49-F238E27FC236}">
                <a16:creationId xmlns:a16="http://schemas.microsoft.com/office/drawing/2014/main" id="{BE3B8719-CA3A-3870-64E7-7EFF921BAD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Notes Placeholder 2">
            <a:extLst>
              <a:ext uri="{FF2B5EF4-FFF2-40B4-BE49-F238E27FC236}">
                <a16:creationId xmlns:a16="http://schemas.microsoft.com/office/drawing/2014/main" id="{49F6A8B3-5928-92A9-464A-AF597C3620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100" name="Slide Number Placeholder 3">
            <a:extLst>
              <a:ext uri="{FF2B5EF4-FFF2-40B4-BE49-F238E27FC236}">
                <a16:creationId xmlns:a16="http://schemas.microsoft.com/office/drawing/2014/main" id="{915F0DF2-823C-BBC4-313C-24822C45B8E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DC82B54-4DA7-4D0C-BA55-C8381BAFF5AC}" type="slidenum">
              <a:rPr lang="en-US" altLang="en-US" smtClean="0"/>
              <a:pPr>
                <a:spcBef>
                  <a:spcPct val="0"/>
                </a:spcBef>
              </a:pPr>
              <a:t>1</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D5FD9566-C615-316F-681B-EE1E2994B9BD}"/>
              </a:ext>
            </a:extLst>
          </p:cNvPr>
          <p:cNvSpPr>
            <a:spLocks noGrp="1"/>
          </p:cNvSpPr>
          <p:nvPr>
            <p:ph type="dt" sz="half" idx="10"/>
          </p:nvPr>
        </p:nvSpPr>
        <p:spPr/>
        <p:txBody>
          <a:bodyPr/>
          <a:lstStyle>
            <a:lvl1pPr>
              <a:defRPr/>
            </a:lvl1pPr>
          </a:lstStyle>
          <a:p>
            <a:pPr>
              <a:defRPr/>
            </a:pPr>
            <a:fld id="{89B40EA6-BD4F-4654-8E04-09954F67AC54}" type="datetime1">
              <a:rPr lang="en-US"/>
              <a:pPr>
                <a:defRPr/>
              </a:pPr>
              <a:t>4/25/2025</a:t>
            </a:fld>
            <a:endParaRPr lang="en-US"/>
          </a:p>
        </p:txBody>
      </p:sp>
      <p:sp>
        <p:nvSpPr>
          <p:cNvPr id="5" name="Footer Placeholder 4">
            <a:extLst>
              <a:ext uri="{FF2B5EF4-FFF2-40B4-BE49-F238E27FC236}">
                <a16:creationId xmlns:a16="http://schemas.microsoft.com/office/drawing/2014/main" id="{791BC61D-DBFF-0349-33CB-147C2B3B01E9}"/>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6" name="Slide Number Placeholder 5">
            <a:extLst>
              <a:ext uri="{FF2B5EF4-FFF2-40B4-BE49-F238E27FC236}">
                <a16:creationId xmlns:a16="http://schemas.microsoft.com/office/drawing/2014/main" id="{3FD44DCE-E588-1B38-405E-6815BAB3E516}"/>
              </a:ext>
            </a:extLst>
          </p:cNvPr>
          <p:cNvSpPr>
            <a:spLocks noGrp="1"/>
          </p:cNvSpPr>
          <p:nvPr>
            <p:ph type="sldNum" sz="quarter" idx="12"/>
          </p:nvPr>
        </p:nvSpPr>
        <p:spPr/>
        <p:txBody>
          <a:bodyPr/>
          <a:lstStyle>
            <a:lvl1pPr>
              <a:defRPr/>
            </a:lvl1pPr>
          </a:lstStyle>
          <a:p>
            <a:pPr>
              <a:defRPr/>
            </a:pPr>
            <a:fld id="{260424A8-1C6D-4839-86B9-AFB3F5EBC3D9}" type="slidenum">
              <a:rPr lang="en-US" altLang="en-US"/>
              <a:pPr>
                <a:defRPr/>
              </a:pPr>
              <a:t>‹#›</a:t>
            </a:fld>
            <a:endParaRPr lang="en-US" altLang="en-US"/>
          </a:p>
        </p:txBody>
      </p:sp>
    </p:spTree>
    <p:extLst>
      <p:ext uri="{BB962C8B-B14F-4D97-AF65-F5344CB8AC3E}">
        <p14:creationId xmlns:p14="http://schemas.microsoft.com/office/powerpoint/2010/main" val="2120844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EA857F-2327-9E88-C04B-68D8754D151C}"/>
              </a:ext>
            </a:extLst>
          </p:cNvPr>
          <p:cNvSpPr>
            <a:spLocks noGrp="1"/>
          </p:cNvSpPr>
          <p:nvPr>
            <p:ph type="dt" sz="half" idx="10"/>
          </p:nvPr>
        </p:nvSpPr>
        <p:spPr/>
        <p:txBody>
          <a:bodyPr/>
          <a:lstStyle>
            <a:lvl1pPr>
              <a:defRPr/>
            </a:lvl1pPr>
          </a:lstStyle>
          <a:p>
            <a:pPr>
              <a:defRPr/>
            </a:pPr>
            <a:fld id="{153FC708-5F9D-4926-989B-D00348AC50B9}" type="datetime1">
              <a:rPr lang="en-US"/>
              <a:pPr>
                <a:defRPr/>
              </a:pPr>
              <a:t>4/25/2025</a:t>
            </a:fld>
            <a:endParaRPr lang="en-US"/>
          </a:p>
        </p:txBody>
      </p:sp>
      <p:sp>
        <p:nvSpPr>
          <p:cNvPr id="5" name="Footer Placeholder 4">
            <a:extLst>
              <a:ext uri="{FF2B5EF4-FFF2-40B4-BE49-F238E27FC236}">
                <a16:creationId xmlns:a16="http://schemas.microsoft.com/office/drawing/2014/main" id="{2E48398E-CDD9-9829-5E33-31BFE1268077}"/>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6" name="Slide Number Placeholder 5">
            <a:extLst>
              <a:ext uri="{FF2B5EF4-FFF2-40B4-BE49-F238E27FC236}">
                <a16:creationId xmlns:a16="http://schemas.microsoft.com/office/drawing/2014/main" id="{9591DDB1-79E6-8001-9B0D-964AC25B2132}"/>
              </a:ext>
            </a:extLst>
          </p:cNvPr>
          <p:cNvSpPr>
            <a:spLocks noGrp="1"/>
          </p:cNvSpPr>
          <p:nvPr>
            <p:ph type="sldNum" sz="quarter" idx="12"/>
          </p:nvPr>
        </p:nvSpPr>
        <p:spPr/>
        <p:txBody>
          <a:bodyPr/>
          <a:lstStyle>
            <a:lvl1pPr>
              <a:defRPr/>
            </a:lvl1pPr>
          </a:lstStyle>
          <a:p>
            <a:pPr>
              <a:defRPr/>
            </a:pPr>
            <a:fld id="{9E923DAF-6C17-4A11-AC2B-16A9C1D59DA6}" type="slidenum">
              <a:rPr lang="en-US" altLang="en-US"/>
              <a:pPr>
                <a:defRPr/>
              </a:pPr>
              <a:t>‹#›</a:t>
            </a:fld>
            <a:endParaRPr lang="en-US" altLang="en-US"/>
          </a:p>
        </p:txBody>
      </p:sp>
    </p:spTree>
    <p:extLst>
      <p:ext uri="{BB962C8B-B14F-4D97-AF65-F5344CB8AC3E}">
        <p14:creationId xmlns:p14="http://schemas.microsoft.com/office/powerpoint/2010/main" val="2490797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A3B55F-9053-FD05-BE3C-9C6C80151D56}"/>
              </a:ext>
            </a:extLst>
          </p:cNvPr>
          <p:cNvSpPr>
            <a:spLocks noGrp="1"/>
          </p:cNvSpPr>
          <p:nvPr>
            <p:ph type="dt" sz="half" idx="10"/>
          </p:nvPr>
        </p:nvSpPr>
        <p:spPr/>
        <p:txBody>
          <a:bodyPr/>
          <a:lstStyle>
            <a:lvl1pPr>
              <a:defRPr/>
            </a:lvl1pPr>
          </a:lstStyle>
          <a:p>
            <a:pPr>
              <a:defRPr/>
            </a:pPr>
            <a:fld id="{B24690B4-B4D0-4D42-857A-FD0AFC69B73A}" type="datetime1">
              <a:rPr lang="en-US"/>
              <a:pPr>
                <a:defRPr/>
              </a:pPr>
              <a:t>4/25/2025</a:t>
            </a:fld>
            <a:endParaRPr lang="en-US"/>
          </a:p>
        </p:txBody>
      </p:sp>
      <p:sp>
        <p:nvSpPr>
          <p:cNvPr id="5" name="Footer Placeholder 4">
            <a:extLst>
              <a:ext uri="{FF2B5EF4-FFF2-40B4-BE49-F238E27FC236}">
                <a16:creationId xmlns:a16="http://schemas.microsoft.com/office/drawing/2014/main" id="{61741F5A-4ECB-7564-D0A9-B06AC33B6BDB}"/>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6" name="Slide Number Placeholder 5">
            <a:extLst>
              <a:ext uri="{FF2B5EF4-FFF2-40B4-BE49-F238E27FC236}">
                <a16:creationId xmlns:a16="http://schemas.microsoft.com/office/drawing/2014/main" id="{3CF885FD-3D45-B7DF-3EC7-117EF903D0B3}"/>
              </a:ext>
            </a:extLst>
          </p:cNvPr>
          <p:cNvSpPr>
            <a:spLocks noGrp="1"/>
          </p:cNvSpPr>
          <p:nvPr>
            <p:ph type="sldNum" sz="quarter" idx="12"/>
          </p:nvPr>
        </p:nvSpPr>
        <p:spPr/>
        <p:txBody>
          <a:bodyPr/>
          <a:lstStyle>
            <a:lvl1pPr>
              <a:defRPr/>
            </a:lvl1pPr>
          </a:lstStyle>
          <a:p>
            <a:pPr>
              <a:defRPr/>
            </a:pPr>
            <a:fld id="{2C10E1CE-0413-467B-80C7-9F41DBF2EA82}" type="slidenum">
              <a:rPr lang="en-US" altLang="en-US"/>
              <a:pPr>
                <a:defRPr/>
              </a:pPr>
              <a:t>‹#›</a:t>
            </a:fld>
            <a:endParaRPr lang="en-US" altLang="en-US"/>
          </a:p>
        </p:txBody>
      </p:sp>
    </p:spTree>
    <p:extLst>
      <p:ext uri="{BB962C8B-B14F-4D97-AF65-F5344CB8AC3E}">
        <p14:creationId xmlns:p14="http://schemas.microsoft.com/office/powerpoint/2010/main" val="2289066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FEE03954-1179-E455-B0E8-4AD5140ED9F2}"/>
              </a:ext>
            </a:extLst>
          </p:cNvPr>
          <p:cNvSpPr>
            <a:spLocks noGrp="1"/>
          </p:cNvSpPr>
          <p:nvPr>
            <p:ph type="dt" sz="half" idx="10"/>
          </p:nvPr>
        </p:nvSpPr>
        <p:spPr/>
        <p:txBody>
          <a:bodyPr/>
          <a:lstStyle>
            <a:lvl1pPr>
              <a:defRPr/>
            </a:lvl1pPr>
          </a:lstStyle>
          <a:p>
            <a:pPr>
              <a:defRPr/>
            </a:pPr>
            <a:fld id="{C57FE026-E1FD-459A-866B-533FEEA15703}" type="datetime1">
              <a:rPr lang="en-US"/>
              <a:pPr>
                <a:defRPr/>
              </a:pPr>
              <a:t>4/25/2025</a:t>
            </a:fld>
            <a:endParaRPr lang="en-US"/>
          </a:p>
        </p:txBody>
      </p:sp>
      <p:sp>
        <p:nvSpPr>
          <p:cNvPr id="6" name="Footer Placeholder 4">
            <a:extLst>
              <a:ext uri="{FF2B5EF4-FFF2-40B4-BE49-F238E27FC236}">
                <a16:creationId xmlns:a16="http://schemas.microsoft.com/office/drawing/2014/main" id="{AB009EBA-0E6B-722A-87E2-97EE4AFB54F0}"/>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7" name="Slide Number Placeholder 5">
            <a:extLst>
              <a:ext uri="{FF2B5EF4-FFF2-40B4-BE49-F238E27FC236}">
                <a16:creationId xmlns:a16="http://schemas.microsoft.com/office/drawing/2014/main" id="{01C10DFB-E227-7654-23B0-A0B79F17008F}"/>
              </a:ext>
            </a:extLst>
          </p:cNvPr>
          <p:cNvSpPr>
            <a:spLocks noGrp="1"/>
          </p:cNvSpPr>
          <p:nvPr>
            <p:ph type="sldNum" sz="quarter" idx="12"/>
          </p:nvPr>
        </p:nvSpPr>
        <p:spPr/>
        <p:txBody>
          <a:bodyPr/>
          <a:lstStyle>
            <a:lvl1pPr>
              <a:defRPr/>
            </a:lvl1pPr>
          </a:lstStyle>
          <a:p>
            <a:pPr>
              <a:defRPr/>
            </a:pPr>
            <a:fld id="{6F4A26CD-D985-411E-B362-6AB9122FE123}" type="slidenum">
              <a:rPr lang="en-US" altLang="en-US"/>
              <a:pPr>
                <a:defRPr/>
              </a:pPr>
              <a:t>‹#›</a:t>
            </a:fld>
            <a:endParaRPr lang="en-US" altLang="en-US"/>
          </a:p>
        </p:txBody>
      </p:sp>
    </p:spTree>
    <p:extLst>
      <p:ext uri="{BB962C8B-B14F-4D97-AF65-F5344CB8AC3E}">
        <p14:creationId xmlns:p14="http://schemas.microsoft.com/office/powerpoint/2010/main" val="774116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8309C382-8922-1A94-3829-24CDB91AA3DF}"/>
              </a:ext>
            </a:extLst>
          </p:cNvPr>
          <p:cNvSpPr>
            <a:spLocks noGrp="1"/>
          </p:cNvSpPr>
          <p:nvPr>
            <p:ph type="dt" sz="half" idx="10"/>
          </p:nvPr>
        </p:nvSpPr>
        <p:spPr/>
        <p:txBody>
          <a:bodyPr/>
          <a:lstStyle>
            <a:lvl1pPr>
              <a:defRPr/>
            </a:lvl1pPr>
          </a:lstStyle>
          <a:p>
            <a:pPr>
              <a:defRPr/>
            </a:pPr>
            <a:fld id="{981ED4B4-D4C1-49ED-B140-F82386CB7555}" type="datetime1">
              <a:rPr lang="en-US"/>
              <a:pPr>
                <a:defRPr/>
              </a:pPr>
              <a:t>4/25/2025</a:t>
            </a:fld>
            <a:endParaRPr lang="en-US"/>
          </a:p>
        </p:txBody>
      </p:sp>
      <p:sp>
        <p:nvSpPr>
          <p:cNvPr id="8" name="Footer Placeholder 4">
            <a:extLst>
              <a:ext uri="{FF2B5EF4-FFF2-40B4-BE49-F238E27FC236}">
                <a16:creationId xmlns:a16="http://schemas.microsoft.com/office/drawing/2014/main" id="{3DEF21E3-5903-B18B-C96D-4CC756EF392E}"/>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9" name="Slide Number Placeholder 5">
            <a:extLst>
              <a:ext uri="{FF2B5EF4-FFF2-40B4-BE49-F238E27FC236}">
                <a16:creationId xmlns:a16="http://schemas.microsoft.com/office/drawing/2014/main" id="{6C0AF18B-38F1-E432-4AC0-44B546B6BD48}"/>
              </a:ext>
            </a:extLst>
          </p:cNvPr>
          <p:cNvSpPr>
            <a:spLocks noGrp="1"/>
          </p:cNvSpPr>
          <p:nvPr>
            <p:ph type="sldNum" sz="quarter" idx="12"/>
          </p:nvPr>
        </p:nvSpPr>
        <p:spPr/>
        <p:txBody>
          <a:bodyPr/>
          <a:lstStyle>
            <a:lvl1pPr>
              <a:defRPr/>
            </a:lvl1pPr>
          </a:lstStyle>
          <a:p>
            <a:pPr>
              <a:defRPr/>
            </a:pPr>
            <a:fld id="{578F4AAE-437D-4AB7-B6D1-16A2194DAF32}" type="slidenum">
              <a:rPr lang="en-US" altLang="en-US"/>
              <a:pPr>
                <a:defRPr/>
              </a:pPr>
              <a:t>‹#›</a:t>
            </a:fld>
            <a:endParaRPr lang="en-US" altLang="en-US"/>
          </a:p>
        </p:txBody>
      </p:sp>
    </p:spTree>
    <p:extLst>
      <p:ext uri="{BB962C8B-B14F-4D97-AF65-F5344CB8AC3E}">
        <p14:creationId xmlns:p14="http://schemas.microsoft.com/office/powerpoint/2010/main" val="3898471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5BFA6C4D-A762-6214-3059-2FC72DF340F2}"/>
              </a:ext>
            </a:extLst>
          </p:cNvPr>
          <p:cNvSpPr>
            <a:spLocks noGrp="1"/>
          </p:cNvSpPr>
          <p:nvPr>
            <p:ph type="dt" sz="half" idx="10"/>
          </p:nvPr>
        </p:nvSpPr>
        <p:spPr/>
        <p:txBody>
          <a:bodyPr/>
          <a:lstStyle>
            <a:lvl1pPr>
              <a:defRPr/>
            </a:lvl1pPr>
          </a:lstStyle>
          <a:p>
            <a:pPr>
              <a:defRPr/>
            </a:pPr>
            <a:fld id="{117D9119-427A-4431-97A4-AB6DE7DA1590}" type="datetime1">
              <a:rPr lang="en-US"/>
              <a:pPr>
                <a:defRPr/>
              </a:pPr>
              <a:t>4/25/2025</a:t>
            </a:fld>
            <a:endParaRPr lang="en-US"/>
          </a:p>
        </p:txBody>
      </p:sp>
      <p:sp>
        <p:nvSpPr>
          <p:cNvPr id="4" name="Footer Placeholder 4">
            <a:extLst>
              <a:ext uri="{FF2B5EF4-FFF2-40B4-BE49-F238E27FC236}">
                <a16:creationId xmlns:a16="http://schemas.microsoft.com/office/drawing/2014/main" id="{47F608E2-C6CE-0E51-07DF-02B918E31BAB}"/>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5" name="Slide Number Placeholder 5">
            <a:extLst>
              <a:ext uri="{FF2B5EF4-FFF2-40B4-BE49-F238E27FC236}">
                <a16:creationId xmlns:a16="http://schemas.microsoft.com/office/drawing/2014/main" id="{DBD6557D-C93B-4FB3-FE1E-5C22BBA8472E}"/>
              </a:ext>
            </a:extLst>
          </p:cNvPr>
          <p:cNvSpPr>
            <a:spLocks noGrp="1"/>
          </p:cNvSpPr>
          <p:nvPr>
            <p:ph type="sldNum" sz="quarter" idx="12"/>
          </p:nvPr>
        </p:nvSpPr>
        <p:spPr/>
        <p:txBody>
          <a:bodyPr/>
          <a:lstStyle>
            <a:lvl1pPr>
              <a:defRPr/>
            </a:lvl1pPr>
          </a:lstStyle>
          <a:p>
            <a:pPr>
              <a:defRPr/>
            </a:pPr>
            <a:fld id="{C386CAF5-3B77-4E92-ADB8-5529F4DBD743}" type="slidenum">
              <a:rPr lang="en-US" altLang="en-US"/>
              <a:pPr>
                <a:defRPr/>
              </a:pPr>
              <a:t>‹#›</a:t>
            </a:fld>
            <a:endParaRPr lang="en-US" altLang="en-US"/>
          </a:p>
        </p:txBody>
      </p:sp>
    </p:spTree>
    <p:extLst>
      <p:ext uri="{BB962C8B-B14F-4D97-AF65-F5344CB8AC3E}">
        <p14:creationId xmlns:p14="http://schemas.microsoft.com/office/powerpoint/2010/main" val="421534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7223A76-20D7-3645-8FA1-C2307D5294D7}"/>
              </a:ext>
            </a:extLst>
          </p:cNvPr>
          <p:cNvSpPr>
            <a:spLocks noGrp="1"/>
          </p:cNvSpPr>
          <p:nvPr>
            <p:ph type="dt" sz="half" idx="10"/>
          </p:nvPr>
        </p:nvSpPr>
        <p:spPr/>
        <p:txBody>
          <a:bodyPr/>
          <a:lstStyle>
            <a:lvl1pPr>
              <a:defRPr/>
            </a:lvl1pPr>
          </a:lstStyle>
          <a:p>
            <a:pPr>
              <a:defRPr/>
            </a:pPr>
            <a:fld id="{4CCAC224-6B59-4809-9F71-E79FA7BC5744}" type="datetime1">
              <a:rPr lang="en-US"/>
              <a:pPr>
                <a:defRPr/>
              </a:pPr>
              <a:t>4/25/2025</a:t>
            </a:fld>
            <a:endParaRPr lang="en-US"/>
          </a:p>
        </p:txBody>
      </p:sp>
      <p:sp>
        <p:nvSpPr>
          <p:cNvPr id="3" name="Footer Placeholder 4">
            <a:extLst>
              <a:ext uri="{FF2B5EF4-FFF2-40B4-BE49-F238E27FC236}">
                <a16:creationId xmlns:a16="http://schemas.microsoft.com/office/drawing/2014/main" id="{7C0764C1-7D8F-FFA4-C9C8-AE10E0A0538B}"/>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4" name="Slide Number Placeholder 5">
            <a:extLst>
              <a:ext uri="{FF2B5EF4-FFF2-40B4-BE49-F238E27FC236}">
                <a16:creationId xmlns:a16="http://schemas.microsoft.com/office/drawing/2014/main" id="{A73EB1E1-59E5-34FF-E2EC-6EC2B67BAFD1}"/>
              </a:ext>
            </a:extLst>
          </p:cNvPr>
          <p:cNvSpPr>
            <a:spLocks noGrp="1"/>
          </p:cNvSpPr>
          <p:nvPr>
            <p:ph type="sldNum" sz="quarter" idx="12"/>
          </p:nvPr>
        </p:nvSpPr>
        <p:spPr/>
        <p:txBody>
          <a:bodyPr/>
          <a:lstStyle>
            <a:lvl1pPr>
              <a:defRPr/>
            </a:lvl1pPr>
          </a:lstStyle>
          <a:p>
            <a:pPr>
              <a:defRPr/>
            </a:pPr>
            <a:fld id="{AEA3DB9A-E687-4607-82D3-DCB5A3253284}" type="slidenum">
              <a:rPr lang="en-US" altLang="en-US"/>
              <a:pPr>
                <a:defRPr/>
              </a:pPr>
              <a:t>‹#›</a:t>
            </a:fld>
            <a:endParaRPr lang="en-US" altLang="en-US"/>
          </a:p>
        </p:txBody>
      </p:sp>
    </p:spTree>
    <p:extLst>
      <p:ext uri="{BB962C8B-B14F-4D97-AF65-F5344CB8AC3E}">
        <p14:creationId xmlns:p14="http://schemas.microsoft.com/office/powerpoint/2010/main" val="470978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2DDD22A2-B1E5-8CFB-249D-D15DEDD8E901}"/>
              </a:ext>
            </a:extLst>
          </p:cNvPr>
          <p:cNvSpPr>
            <a:spLocks noGrp="1"/>
          </p:cNvSpPr>
          <p:nvPr>
            <p:ph type="dt" sz="half" idx="10"/>
          </p:nvPr>
        </p:nvSpPr>
        <p:spPr/>
        <p:txBody>
          <a:bodyPr/>
          <a:lstStyle>
            <a:lvl1pPr>
              <a:defRPr/>
            </a:lvl1pPr>
          </a:lstStyle>
          <a:p>
            <a:pPr>
              <a:defRPr/>
            </a:pPr>
            <a:fld id="{57E97952-0BA7-478D-8E4D-2565281AB3B2}" type="datetime1">
              <a:rPr lang="en-US"/>
              <a:pPr>
                <a:defRPr/>
              </a:pPr>
              <a:t>4/25/2025</a:t>
            </a:fld>
            <a:endParaRPr lang="en-US"/>
          </a:p>
        </p:txBody>
      </p:sp>
      <p:sp>
        <p:nvSpPr>
          <p:cNvPr id="6" name="Footer Placeholder 4">
            <a:extLst>
              <a:ext uri="{FF2B5EF4-FFF2-40B4-BE49-F238E27FC236}">
                <a16:creationId xmlns:a16="http://schemas.microsoft.com/office/drawing/2014/main" id="{5D76DB77-480A-F8C1-1D3F-D00111B0D61E}"/>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7" name="Slide Number Placeholder 5">
            <a:extLst>
              <a:ext uri="{FF2B5EF4-FFF2-40B4-BE49-F238E27FC236}">
                <a16:creationId xmlns:a16="http://schemas.microsoft.com/office/drawing/2014/main" id="{320EDAAB-49A1-A590-A30A-111D8BBBDD15}"/>
              </a:ext>
            </a:extLst>
          </p:cNvPr>
          <p:cNvSpPr>
            <a:spLocks noGrp="1"/>
          </p:cNvSpPr>
          <p:nvPr>
            <p:ph type="sldNum" sz="quarter" idx="12"/>
          </p:nvPr>
        </p:nvSpPr>
        <p:spPr/>
        <p:txBody>
          <a:bodyPr/>
          <a:lstStyle>
            <a:lvl1pPr>
              <a:defRPr/>
            </a:lvl1pPr>
          </a:lstStyle>
          <a:p>
            <a:pPr>
              <a:defRPr/>
            </a:pPr>
            <a:fld id="{AB735447-22A7-432D-9E51-A10B8989A713}" type="slidenum">
              <a:rPr lang="en-US" altLang="en-US"/>
              <a:pPr>
                <a:defRPr/>
              </a:pPr>
              <a:t>‹#›</a:t>
            </a:fld>
            <a:endParaRPr lang="en-US" altLang="en-US"/>
          </a:p>
        </p:txBody>
      </p:sp>
    </p:spTree>
    <p:extLst>
      <p:ext uri="{BB962C8B-B14F-4D97-AF65-F5344CB8AC3E}">
        <p14:creationId xmlns:p14="http://schemas.microsoft.com/office/powerpoint/2010/main" val="2330495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87753302-222C-B97F-DCB6-B5ED579F3C5A}"/>
              </a:ext>
            </a:extLst>
          </p:cNvPr>
          <p:cNvSpPr>
            <a:spLocks noGrp="1"/>
          </p:cNvSpPr>
          <p:nvPr>
            <p:ph type="dt" sz="half" idx="10"/>
          </p:nvPr>
        </p:nvSpPr>
        <p:spPr/>
        <p:txBody>
          <a:bodyPr/>
          <a:lstStyle>
            <a:lvl1pPr>
              <a:defRPr/>
            </a:lvl1pPr>
          </a:lstStyle>
          <a:p>
            <a:pPr>
              <a:defRPr/>
            </a:pPr>
            <a:fld id="{CCDB1746-62EA-4E9E-B60D-64FF6B4FC4C4}" type="datetime1">
              <a:rPr lang="en-US"/>
              <a:pPr>
                <a:defRPr/>
              </a:pPr>
              <a:t>4/25/2025</a:t>
            </a:fld>
            <a:endParaRPr lang="en-US"/>
          </a:p>
        </p:txBody>
      </p:sp>
      <p:sp>
        <p:nvSpPr>
          <p:cNvPr id="6" name="Footer Placeholder 4">
            <a:extLst>
              <a:ext uri="{FF2B5EF4-FFF2-40B4-BE49-F238E27FC236}">
                <a16:creationId xmlns:a16="http://schemas.microsoft.com/office/drawing/2014/main" id="{0DF82C45-E6F5-F2F0-4B16-36DBF8122037}"/>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7" name="Slide Number Placeholder 5">
            <a:extLst>
              <a:ext uri="{FF2B5EF4-FFF2-40B4-BE49-F238E27FC236}">
                <a16:creationId xmlns:a16="http://schemas.microsoft.com/office/drawing/2014/main" id="{050E112B-B43D-8A83-A9B3-F48BB0DE303C}"/>
              </a:ext>
            </a:extLst>
          </p:cNvPr>
          <p:cNvSpPr>
            <a:spLocks noGrp="1"/>
          </p:cNvSpPr>
          <p:nvPr>
            <p:ph type="sldNum" sz="quarter" idx="12"/>
          </p:nvPr>
        </p:nvSpPr>
        <p:spPr/>
        <p:txBody>
          <a:bodyPr/>
          <a:lstStyle>
            <a:lvl1pPr>
              <a:defRPr/>
            </a:lvl1pPr>
          </a:lstStyle>
          <a:p>
            <a:pPr>
              <a:defRPr/>
            </a:pPr>
            <a:fld id="{FB870D40-BD65-43BA-AB81-8ABBF4A820BE}" type="slidenum">
              <a:rPr lang="en-US" altLang="en-US"/>
              <a:pPr>
                <a:defRPr/>
              </a:pPr>
              <a:t>‹#›</a:t>
            </a:fld>
            <a:endParaRPr lang="en-US" altLang="en-US"/>
          </a:p>
        </p:txBody>
      </p:sp>
    </p:spTree>
    <p:extLst>
      <p:ext uri="{BB962C8B-B14F-4D97-AF65-F5344CB8AC3E}">
        <p14:creationId xmlns:p14="http://schemas.microsoft.com/office/powerpoint/2010/main" val="1670623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7DF30C-4A80-2646-D1B1-EEC9D829191E}"/>
              </a:ext>
            </a:extLst>
          </p:cNvPr>
          <p:cNvSpPr>
            <a:spLocks noGrp="1"/>
          </p:cNvSpPr>
          <p:nvPr>
            <p:ph type="dt" sz="half" idx="10"/>
          </p:nvPr>
        </p:nvSpPr>
        <p:spPr/>
        <p:txBody>
          <a:bodyPr/>
          <a:lstStyle>
            <a:lvl1pPr>
              <a:defRPr/>
            </a:lvl1pPr>
          </a:lstStyle>
          <a:p>
            <a:pPr>
              <a:defRPr/>
            </a:pPr>
            <a:fld id="{2CE2740A-14F1-4573-A312-C5E8E7C8001D}" type="datetime1">
              <a:rPr lang="en-US"/>
              <a:pPr>
                <a:defRPr/>
              </a:pPr>
              <a:t>4/25/2025</a:t>
            </a:fld>
            <a:endParaRPr lang="en-US"/>
          </a:p>
        </p:txBody>
      </p:sp>
      <p:sp>
        <p:nvSpPr>
          <p:cNvPr id="5" name="Footer Placeholder 4">
            <a:extLst>
              <a:ext uri="{FF2B5EF4-FFF2-40B4-BE49-F238E27FC236}">
                <a16:creationId xmlns:a16="http://schemas.microsoft.com/office/drawing/2014/main" id="{4765FDB4-1359-08E2-32F5-D6A1D75EDB40}"/>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6" name="Slide Number Placeholder 5">
            <a:extLst>
              <a:ext uri="{FF2B5EF4-FFF2-40B4-BE49-F238E27FC236}">
                <a16:creationId xmlns:a16="http://schemas.microsoft.com/office/drawing/2014/main" id="{B8D87B61-E197-4BDD-E9BC-580B5FE3CD93}"/>
              </a:ext>
            </a:extLst>
          </p:cNvPr>
          <p:cNvSpPr>
            <a:spLocks noGrp="1"/>
          </p:cNvSpPr>
          <p:nvPr>
            <p:ph type="sldNum" sz="quarter" idx="12"/>
          </p:nvPr>
        </p:nvSpPr>
        <p:spPr/>
        <p:txBody>
          <a:bodyPr/>
          <a:lstStyle>
            <a:lvl1pPr>
              <a:defRPr/>
            </a:lvl1pPr>
          </a:lstStyle>
          <a:p>
            <a:pPr>
              <a:defRPr/>
            </a:pPr>
            <a:fld id="{88C84D0A-3F68-42DD-92D8-0DF6F1624160}" type="slidenum">
              <a:rPr lang="en-US" altLang="en-US"/>
              <a:pPr>
                <a:defRPr/>
              </a:pPr>
              <a:t>‹#›</a:t>
            </a:fld>
            <a:endParaRPr lang="en-US" altLang="en-US"/>
          </a:p>
        </p:txBody>
      </p:sp>
    </p:spTree>
    <p:extLst>
      <p:ext uri="{BB962C8B-B14F-4D97-AF65-F5344CB8AC3E}">
        <p14:creationId xmlns:p14="http://schemas.microsoft.com/office/powerpoint/2010/main" val="778134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A7CE30-6AAB-DAC3-1EBC-34FFDEC655BA}"/>
              </a:ext>
            </a:extLst>
          </p:cNvPr>
          <p:cNvSpPr>
            <a:spLocks noGrp="1"/>
          </p:cNvSpPr>
          <p:nvPr>
            <p:ph type="dt" sz="half" idx="10"/>
          </p:nvPr>
        </p:nvSpPr>
        <p:spPr/>
        <p:txBody>
          <a:bodyPr/>
          <a:lstStyle>
            <a:lvl1pPr>
              <a:defRPr/>
            </a:lvl1pPr>
          </a:lstStyle>
          <a:p>
            <a:pPr>
              <a:defRPr/>
            </a:pPr>
            <a:fld id="{767A1E53-F672-4C87-A7DF-025EE485034A}" type="datetime1">
              <a:rPr lang="en-US"/>
              <a:pPr>
                <a:defRPr/>
              </a:pPr>
              <a:t>4/25/2025</a:t>
            </a:fld>
            <a:endParaRPr lang="en-US"/>
          </a:p>
        </p:txBody>
      </p:sp>
      <p:sp>
        <p:nvSpPr>
          <p:cNvPr id="5" name="Footer Placeholder 4">
            <a:extLst>
              <a:ext uri="{FF2B5EF4-FFF2-40B4-BE49-F238E27FC236}">
                <a16:creationId xmlns:a16="http://schemas.microsoft.com/office/drawing/2014/main" id="{B20A19F0-E789-D636-91BC-110CFD7BC284}"/>
              </a:ext>
            </a:extLst>
          </p:cNvPr>
          <p:cNvSpPr>
            <a:spLocks noGrp="1"/>
          </p:cNvSpPr>
          <p:nvPr>
            <p:ph type="ftr" sz="quarter" idx="11"/>
          </p:nvPr>
        </p:nvSpPr>
        <p:spPr/>
        <p:txBody>
          <a:bodyPr/>
          <a:lstStyle>
            <a:lvl1pPr>
              <a:defRPr/>
            </a:lvl1pPr>
          </a:lstStyle>
          <a:p>
            <a:pPr>
              <a:defRPr/>
            </a:pPr>
            <a:r>
              <a:rPr lang="en-US"/>
              <a:t>prepared by Eyayalem Melese</a:t>
            </a:r>
          </a:p>
        </p:txBody>
      </p:sp>
      <p:sp>
        <p:nvSpPr>
          <p:cNvPr id="6" name="Slide Number Placeholder 5">
            <a:extLst>
              <a:ext uri="{FF2B5EF4-FFF2-40B4-BE49-F238E27FC236}">
                <a16:creationId xmlns:a16="http://schemas.microsoft.com/office/drawing/2014/main" id="{CC26A7E6-38E5-8DF1-209B-3D781F1FB83D}"/>
              </a:ext>
            </a:extLst>
          </p:cNvPr>
          <p:cNvSpPr>
            <a:spLocks noGrp="1"/>
          </p:cNvSpPr>
          <p:nvPr>
            <p:ph type="sldNum" sz="quarter" idx="12"/>
          </p:nvPr>
        </p:nvSpPr>
        <p:spPr/>
        <p:txBody>
          <a:bodyPr/>
          <a:lstStyle>
            <a:lvl1pPr>
              <a:defRPr/>
            </a:lvl1pPr>
          </a:lstStyle>
          <a:p>
            <a:pPr>
              <a:defRPr/>
            </a:pPr>
            <a:fld id="{78227A42-1CD9-49C2-9A59-0864DEA88B53}" type="slidenum">
              <a:rPr lang="en-US" altLang="en-US"/>
              <a:pPr>
                <a:defRPr/>
              </a:pPr>
              <a:t>‹#›</a:t>
            </a:fld>
            <a:endParaRPr lang="en-US" altLang="en-US"/>
          </a:p>
        </p:txBody>
      </p:sp>
    </p:spTree>
    <p:extLst>
      <p:ext uri="{BB962C8B-B14F-4D97-AF65-F5344CB8AC3E}">
        <p14:creationId xmlns:p14="http://schemas.microsoft.com/office/powerpoint/2010/main" val="4175474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E147102-AE76-C02A-D2CE-4B968BB69818}"/>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BCE39FAE-6773-D13E-CEEB-CFBE2C9E8F8E}"/>
              </a:ext>
            </a:extLst>
          </p:cNvPr>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8596B9A-AECC-2762-E92B-0101A1DE9915}"/>
              </a:ext>
            </a:extLst>
          </p:cNvPr>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cs typeface="Arial" charset="0"/>
              </a:defRPr>
            </a:lvl1pPr>
          </a:lstStyle>
          <a:p>
            <a:pPr>
              <a:defRPr/>
            </a:pPr>
            <a:fld id="{267BC137-01E3-4343-A9DC-D61C211D0F70}" type="datetime1">
              <a:rPr lang="en-US"/>
              <a:pPr>
                <a:defRPr/>
              </a:pPr>
              <a:t>4/25/2025</a:t>
            </a:fld>
            <a:endParaRPr lang="en-US"/>
          </a:p>
        </p:txBody>
      </p:sp>
      <p:sp>
        <p:nvSpPr>
          <p:cNvPr id="5" name="Footer Placeholder 4">
            <a:extLst>
              <a:ext uri="{FF2B5EF4-FFF2-40B4-BE49-F238E27FC236}">
                <a16:creationId xmlns:a16="http://schemas.microsoft.com/office/drawing/2014/main" id="{2E17D715-EE24-E364-9E2E-DA33CC22843D}"/>
              </a:ext>
            </a:extLst>
          </p:cNvPr>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cs typeface="Arial" charset="0"/>
              </a:defRPr>
            </a:lvl1pPr>
          </a:lstStyle>
          <a:p>
            <a:pPr>
              <a:defRPr/>
            </a:pPr>
            <a:r>
              <a:rPr lang="en-US"/>
              <a:t>prepared by Eyayalem Melese</a:t>
            </a:r>
          </a:p>
        </p:txBody>
      </p:sp>
      <p:sp>
        <p:nvSpPr>
          <p:cNvPr id="6" name="Slide Number Placeholder 5">
            <a:extLst>
              <a:ext uri="{FF2B5EF4-FFF2-40B4-BE49-F238E27FC236}">
                <a16:creationId xmlns:a16="http://schemas.microsoft.com/office/drawing/2014/main" id="{23E7A54D-18F2-54AA-6164-5DA413F2DDFC}"/>
              </a:ext>
            </a:extLst>
          </p:cNvPr>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B84911CF-C17A-40B4-B9B2-DDC9DB73C3A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2" name="Rectangle 3081">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84" name="Freeform: Shape 308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086" name="Freeform: Shape 3085">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74" name="Title 1">
            <a:extLst>
              <a:ext uri="{FF2B5EF4-FFF2-40B4-BE49-F238E27FC236}">
                <a16:creationId xmlns:a16="http://schemas.microsoft.com/office/drawing/2014/main" id="{6B56D519-32DE-86C1-5ACD-5AA9BCCCBCB4}"/>
              </a:ext>
            </a:extLst>
          </p:cNvPr>
          <p:cNvSpPr>
            <a:spLocks noGrp="1"/>
          </p:cNvSpPr>
          <p:nvPr>
            <p:ph type="ctrTitle"/>
          </p:nvPr>
        </p:nvSpPr>
        <p:spPr>
          <a:xfrm>
            <a:off x="1524003" y="1999615"/>
            <a:ext cx="9144000" cy="2764028"/>
          </a:xfrm>
        </p:spPr>
        <p:txBody>
          <a:bodyPr anchor="ctr">
            <a:normAutofit/>
          </a:bodyPr>
          <a:lstStyle/>
          <a:p>
            <a:pPr algn="l">
              <a:lnSpc>
                <a:spcPct val="90000"/>
              </a:lnSpc>
            </a:pPr>
            <a:r>
              <a:rPr lang="en-US" altLang="en-US" sz="5000" b="1" dirty="0"/>
              <a:t>Chapter 5:</a:t>
            </a:r>
            <a:br>
              <a:rPr lang="en-US" altLang="en-US" sz="5000" b="1" dirty="0"/>
            </a:br>
            <a:r>
              <a:rPr lang="en-US" altLang="en-US" sz="5000" b="1" dirty="0"/>
              <a:t> </a:t>
            </a:r>
            <a:r>
              <a:rPr lang="en-US" altLang="en-US" sz="4800" b="1" dirty="0">
                <a:solidFill>
                  <a:srgbClr val="000000"/>
                </a:solidFill>
              </a:rPr>
              <a:t>Blood flow in the lungs and Physiology one long ventilation</a:t>
            </a:r>
            <a:endParaRPr lang="en-US" altLang="en-US" sz="5000" dirty="0"/>
          </a:p>
        </p:txBody>
      </p:sp>
      <p:sp>
        <p:nvSpPr>
          <p:cNvPr id="3" name="Subtitle 2">
            <a:extLst>
              <a:ext uri="{FF2B5EF4-FFF2-40B4-BE49-F238E27FC236}">
                <a16:creationId xmlns:a16="http://schemas.microsoft.com/office/drawing/2014/main" id="{86A1AB8E-52B7-B874-42AD-3D0A097962EB}"/>
              </a:ext>
            </a:extLst>
          </p:cNvPr>
          <p:cNvSpPr>
            <a:spLocks noGrp="1"/>
          </p:cNvSpPr>
          <p:nvPr>
            <p:ph type="subTitle" idx="1"/>
          </p:nvPr>
        </p:nvSpPr>
        <p:spPr>
          <a:xfrm>
            <a:off x="1966912" y="5645150"/>
            <a:ext cx="8258176" cy="631825"/>
          </a:xfrm>
        </p:spPr>
        <p:txBody>
          <a:bodyPr anchor="ctr">
            <a:normAutofit/>
          </a:bodyPr>
          <a:lstStyle/>
          <a:p>
            <a:pPr lvl="1" eaLnBrk="1" fontAlgn="auto" hangingPunct="1">
              <a:spcAft>
                <a:spcPts val="0"/>
              </a:spcAft>
              <a:defRPr/>
            </a:pPr>
            <a:r>
              <a:rPr lang="en-US" i="1" dirty="0"/>
              <a:t>By   Eyayalem M. (Assistant. Professor </a:t>
            </a:r>
            <a:r>
              <a:rPr lang="en-US" i="1" dirty="0" err="1"/>
              <a:t>Apri</a:t>
            </a:r>
            <a:r>
              <a:rPr lang="en-US" i="1" dirty="0"/>
              <a:t>, 2025)</a:t>
            </a:r>
            <a:endParaRPr lang="en-US" dirty="0"/>
          </a:p>
        </p:txBody>
      </p:sp>
      <p:sp>
        <p:nvSpPr>
          <p:cNvPr id="3088" name="Rectangle 3087">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34CB3A75-F101-4BEB-E7C9-1FC208D675F4}"/>
              </a:ext>
            </a:extLst>
          </p:cNvPr>
          <p:cNvSpPr>
            <a:spLocks noGrp="1"/>
          </p:cNvSpPr>
          <p:nvPr>
            <p:ph type="dt" sz="quarter" idx="10"/>
          </p:nvPr>
        </p:nvSpPr>
        <p:spPr>
          <a:xfrm>
            <a:off x="434163" y="6356350"/>
            <a:ext cx="1166037" cy="365125"/>
          </a:xfrm>
        </p:spPr>
        <p:txBody>
          <a:bodyPr>
            <a:normAutofit/>
          </a:bodyPr>
          <a:lstStyle/>
          <a:p>
            <a:pPr>
              <a:spcAft>
                <a:spcPts val="600"/>
              </a:spcAft>
              <a:defRPr/>
            </a:pPr>
            <a:fld id="{1D32877A-8303-4DF8-8978-89B280F9B6A0}" type="datetime1">
              <a:rPr lang="en-US">
                <a:solidFill>
                  <a:schemeClr val="tx1">
                    <a:lumMod val="50000"/>
                    <a:lumOff val="50000"/>
                  </a:schemeClr>
                </a:solidFill>
              </a:rPr>
              <a:pPr>
                <a:spcAft>
                  <a:spcPts val="600"/>
                </a:spcAft>
                <a:defRPr/>
              </a:pPr>
              <a:t>4/25/2025</a:t>
            </a:fld>
            <a:endParaRPr lang="en-US">
              <a:solidFill>
                <a:schemeClr val="tx1">
                  <a:lumMod val="50000"/>
                  <a:lumOff val="50000"/>
                </a:schemeClr>
              </a:solidFill>
            </a:endParaRPr>
          </a:p>
        </p:txBody>
      </p:sp>
      <p:sp>
        <p:nvSpPr>
          <p:cNvPr id="2" name="Footer Placeholder 1">
            <a:extLst>
              <a:ext uri="{FF2B5EF4-FFF2-40B4-BE49-F238E27FC236}">
                <a16:creationId xmlns:a16="http://schemas.microsoft.com/office/drawing/2014/main" id="{A870BCF4-207A-ED2E-ACDD-4D61F87214FE}"/>
              </a:ext>
            </a:extLst>
          </p:cNvPr>
          <p:cNvSpPr>
            <a:spLocks noGrp="1"/>
          </p:cNvSpPr>
          <p:nvPr>
            <p:ph type="ftr" sz="quarter" idx="11"/>
          </p:nvPr>
        </p:nvSpPr>
        <p:spPr>
          <a:xfrm>
            <a:off x="4038600" y="6356350"/>
            <a:ext cx="4114800" cy="365125"/>
          </a:xfrm>
        </p:spPr>
        <p:txBody>
          <a:bodyPr>
            <a:normAutofit/>
          </a:bodyPr>
          <a:lstStyle/>
          <a:p>
            <a:pPr>
              <a:spcAft>
                <a:spcPts val="600"/>
              </a:spcAft>
              <a:defRPr/>
            </a:pPr>
            <a:r>
              <a:rPr lang="en-US">
                <a:solidFill>
                  <a:schemeClr val="tx1">
                    <a:lumMod val="50000"/>
                    <a:lumOff val="50000"/>
                  </a:schemeClr>
                </a:solidFill>
              </a:rPr>
              <a:t>prepared by Eyayalem Melese</a:t>
            </a:r>
          </a:p>
        </p:txBody>
      </p:sp>
      <p:sp>
        <p:nvSpPr>
          <p:cNvPr id="3077" name="Slide Number Placeholder 4">
            <a:extLst>
              <a:ext uri="{FF2B5EF4-FFF2-40B4-BE49-F238E27FC236}">
                <a16:creationId xmlns:a16="http://schemas.microsoft.com/office/drawing/2014/main" id="{6C0D97B7-F6D8-E416-DE58-3A825072D3F8}"/>
              </a:ext>
            </a:extLst>
          </p:cNvPr>
          <p:cNvSpPr>
            <a:spLocks noGrp="1"/>
          </p:cNvSpPr>
          <p:nvPr>
            <p:ph type="sldNum" sz="quarter" idx="12"/>
          </p:nvPr>
        </p:nvSpPr>
        <p:spPr bwMode="auto">
          <a:xfrm>
            <a:off x="10489019" y="6356350"/>
            <a:ext cx="1268818"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spcBef>
                <a:spcPct val="0"/>
              </a:spcBef>
              <a:spcAft>
                <a:spcPts val="600"/>
              </a:spcAft>
              <a:buFontTx/>
              <a:buNone/>
            </a:pPr>
            <a:fld id="{E51AE0EE-96D3-431F-9904-B9533C38CF93}" type="slidenum">
              <a:rPr lang="en-US" altLang="en-US" sz="1800">
                <a:solidFill>
                  <a:schemeClr val="tx1">
                    <a:lumMod val="50000"/>
                    <a:lumOff val="50000"/>
                  </a:schemeClr>
                </a:solidFill>
                <a:latin typeface="Arial" panose="020B0604020202020204" pitchFamily="34" charset="0"/>
              </a:rPr>
              <a:pPr>
                <a:lnSpc>
                  <a:spcPct val="90000"/>
                </a:lnSpc>
                <a:spcBef>
                  <a:spcPct val="0"/>
                </a:spcBef>
                <a:spcAft>
                  <a:spcPts val="600"/>
                </a:spcAft>
                <a:buFontTx/>
                <a:buNone/>
              </a:pPr>
              <a:t>1</a:t>
            </a:fld>
            <a:endParaRPr lang="en-US" altLang="en-US" sz="1800">
              <a:solidFill>
                <a:schemeClr val="tx1">
                  <a:lumMod val="50000"/>
                  <a:lumOff val="50000"/>
                </a:schemeClr>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7DA908EE-D7CC-71EB-FDA6-EAEE40E1FD73}"/>
              </a:ext>
            </a:extLst>
          </p:cNvPr>
          <p:cNvSpPr>
            <a:spLocks noGrp="1"/>
          </p:cNvSpPr>
          <p:nvPr>
            <p:ph type="title"/>
          </p:nvPr>
        </p:nvSpPr>
        <p:spPr/>
        <p:txBody>
          <a:bodyPr/>
          <a:lstStyle/>
          <a:p>
            <a:pPr eaLnBrk="1" hangingPunct="1"/>
            <a:br>
              <a:rPr lang="en-US" altLang="en-US" sz="3600" b="1" u="sng"/>
            </a:br>
            <a:r>
              <a:rPr lang="en-US" altLang="en-US" sz="3600" b="1"/>
              <a:t>Blood flow in the lungs and Physiology one long ventilation </a:t>
            </a:r>
            <a:br>
              <a:rPr lang="en-US" altLang="en-US"/>
            </a:br>
            <a:endParaRPr lang="en-US" altLang="en-US"/>
          </a:p>
        </p:txBody>
      </p:sp>
      <p:sp>
        <p:nvSpPr>
          <p:cNvPr id="3" name="Content Placeholder 2">
            <a:extLst>
              <a:ext uri="{FF2B5EF4-FFF2-40B4-BE49-F238E27FC236}">
                <a16:creationId xmlns:a16="http://schemas.microsoft.com/office/drawing/2014/main" id="{D6844E17-02A1-9A11-2169-F6FED8DCA823}"/>
              </a:ext>
            </a:extLst>
          </p:cNvPr>
          <p:cNvSpPr>
            <a:spLocks noGrp="1"/>
          </p:cNvSpPr>
          <p:nvPr>
            <p:ph idx="1"/>
          </p:nvPr>
        </p:nvSpPr>
        <p:spPr/>
        <p:txBody>
          <a:bodyPr/>
          <a:lstStyle/>
          <a:p>
            <a:pPr eaLnBrk="1" hangingPunct="1"/>
            <a:r>
              <a:rPr lang="en-US" altLang="en-US"/>
              <a:t>The blood flow through the lungs is essentially equal to the cardiac output.</a:t>
            </a:r>
          </a:p>
          <a:p>
            <a:pPr eaLnBrk="1" hangingPunct="1"/>
            <a:r>
              <a:rPr lang="en-US" altLang="en-US"/>
              <a:t>The flow is able to accommodate at least a five fold increase in cardiac out put after developing so great a pulmonary hydrostatic pressure as to result in pulmonary edema.</a:t>
            </a:r>
          </a:p>
          <a:p>
            <a:pPr eaLnBrk="1" hangingPunct="1">
              <a:buFont typeface="Wingdings" panose="05000000000000000000" pitchFamily="2" charset="2"/>
              <a:buNone/>
            </a:pPr>
            <a:endParaRPr lang="en-US" altLang="en-US"/>
          </a:p>
        </p:txBody>
      </p:sp>
      <p:sp>
        <p:nvSpPr>
          <p:cNvPr id="4" name="Date Placeholder 3">
            <a:extLst>
              <a:ext uri="{FF2B5EF4-FFF2-40B4-BE49-F238E27FC236}">
                <a16:creationId xmlns:a16="http://schemas.microsoft.com/office/drawing/2014/main" id="{262BEBF2-577E-A35E-C579-702297654DBA}"/>
              </a:ext>
            </a:extLst>
          </p:cNvPr>
          <p:cNvSpPr>
            <a:spLocks noGrp="1"/>
          </p:cNvSpPr>
          <p:nvPr>
            <p:ph type="dt" sz="quarter" idx="10"/>
          </p:nvPr>
        </p:nvSpPr>
        <p:spPr/>
        <p:txBody>
          <a:bodyPr/>
          <a:lstStyle/>
          <a:p>
            <a:pPr>
              <a:defRPr/>
            </a:pPr>
            <a:fld id="{25A72196-DD3F-41E4-828D-D3AC52E66401}" type="datetime1">
              <a:rPr lang="en-US"/>
              <a:pPr>
                <a:defRPr/>
              </a:pPr>
              <a:t>4/25/2025</a:t>
            </a:fld>
            <a:endParaRPr lang="en-US"/>
          </a:p>
        </p:txBody>
      </p:sp>
      <p:sp>
        <p:nvSpPr>
          <p:cNvPr id="27653" name="Slide Number Placeholder 4">
            <a:extLst>
              <a:ext uri="{FF2B5EF4-FFF2-40B4-BE49-F238E27FC236}">
                <a16:creationId xmlns:a16="http://schemas.microsoft.com/office/drawing/2014/main" id="{6BBB4C3A-1607-5FFE-6E90-40996CA0D75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799E8B8-2B14-4748-96C8-4C7E616E41A3}" type="slidenum">
              <a:rPr lang="en-US" altLang="en-US" sz="1200" smtClean="0">
                <a:solidFill>
                  <a:srgbClr val="898989"/>
                </a:solidFill>
                <a:latin typeface="Arial" panose="020B0604020202020204" pitchFamily="34" charset="0"/>
              </a:rPr>
              <a:pPr>
                <a:spcBef>
                  <a:spcPct val="0"/>
                </a:spcBef>
                <a:buFontTx/>
                <a:buNone/>
              </a:pPr>
              <a:t>2</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1E8A6EEC-594D-656C-96E8-4EA60A84FB62}"/>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7C2D7F03-CE48-6DD0-A2E3-525AED37BFC3}"/>
              </a:ext>
            </a:extLst>
          </p:cNvPr>
          <p:cNvSpPr>
            <a:spLocks noGrp="1"/>
          </p:cNvSpPr>
          <p:nvPr>
            <p:ph type="title"/>
          </p:nvPr>
        </p:nvSpPr>
        <p:spPr>
          <a:xfrm>
            <a:off x="1981200" y="277813"/>
            <a:ext cx="8229600" cy="865187"/>
          </a:xfrm>
        </p:spPr>
        <p:txBody>
          <a:bodyPr/>
          <a:lstStyle/>
          <a:p>
            <a:pPr eaLnBrk="1" hangingPunct="1"/>
            <a:r>
              <a:rPr lang="en-US" altLang="en-US"/>
              <a:t>Physiology of the LDP</a:t>
            </a:r>
          </a:p>
        </p:txBody>
      </p:sp>
      <p:sp>
        <p:nvSpPr>
          <p:cNvPr id="3" name="Content Placeholder 2">
            <a:extLst>
              <a:ext uri="{FF2B5EF4-FFF2-40B4-BE49-F238E27FC236}">
                <a16:creationId xmlns:a16="http://schemas.microsoft.com/office/drawing/2014/main" id="{11BCF72B-9637-C777-89A0-8D3D58F0EFD6}"/>
              </a:ext>
            </a:extLst>
          </p:cNvPr>
          <p:cNvSpPr>
            <a:spLocks noGrp="1"/>
          </p:cNvSpPr>
          <p:nvPr>
            <p:ph idx="1"/>
          </p:nvPr>
        </p:nvSpPr>
        <p:spPr>
          <a:xfrm>
            <a:off x="1524000" y="1066800"/>
            <a:ext cx="9144000" cy="5791200"/>
          </a:xfrm>
        </p:spPr>
        <p:txBody>
          <a:bodyPr/>
          <a:lstStyle/>
          <a:p>
            <a:pPr eaLnBrk="1" hangingPunct="1"/>
            <a:r>
              <a:rPr lang="en-US" altLang="en-US"/>
              <a:t>- As the total flow increases, the pulmonary vascular resistance decreases for two Reasons</a:t>
            </a:r>
          </a:p>
          <a:p>
            <a:pPr eaLnBrk="1" hangingPunct="1">
              <a:buFont typeface="Wingdings" panose="05000000000000000000" pitchFamily="2" charset="2"/>
              <a:buNone/>
            </a:pPr>
            <a:r>
              <a:rPr lang="en-US" altLang="en-US" sz="2800"/>
              <a:t>           a)  Because of the recruitment or opening of   </a:t>
            </a:r>
          </a:p>
          <a:p>
            <a:pPr eaLnBrk="1" hangingPunct="1">
              <a:buFont typeface="Wingdings" panose="05000000000000000000" pitchFamily="2" charset="2"/>
              <a:buNone/>
            </a:pPr>
            <a:r>
              <a:rPr lang="en-US" altLang="en-US" sz="2800"/>
              <a:t>               previously closed vessels, thus ↑ing the </a:t>
            </a:r>
          </a:p>
          <a:p>
            <a:pPr eaLnBrk="1" hangingPunct="1">
              <a:buFont typeface="Wingdings" panose="05000000000000000000" pitchFamily="2" charset="2"/>
              <a:buNone/>
            </a:pPr>
            <a:r>
              <a:rPr lang="en-US" altLang="en-US" sz="2800"/>
              <a:t>                numbers of open vessels.</a:t>
            </a:r>
          </a:p>
          <a:p>
            <a:pPr eaLnBrk="1" hangingPunct="1">
              <a:buFont typeface="Wingdings" panose="05000000000000000000" pitchFamily="2" charset="2"/>
              <a:buNone/>
            </a:pPr>
            <a:r>
              <a:rPr lang="en-US" altLang="en-US" sz="2800"/>
              <a:t>          b)  Because of the distension of already open  </a:t>
            </a:r>
          </a:p>
          <a:p>
            <a:pPr eaLnBrk="1" hangingPunct="1">
              <a:buFont typeface="Wingdings" panose="05000000000000000000" pitchFamily="2" charset="2"/>
              <a:buNone/>
            </a:pPr>
            <a:r>
              <a:rPr lang="en-US" altLang="en-US" sz="2800"/>
              <a:t>           vessels, thus enlarging these opened vessels.</a:t>
            </a:r>
          </a:p>
          <a:p>
            <a:pPr eaLnBrk="1" hangingPunct="1"/>
            <a:r>
              <a:rPr lang="en-US" altLang="en-US" sz="2800"/>
              <a:t>In the upright human lung, blood flow decrease from the bottom to the top, reaching  very low values at the apex as compared to the base 	</a:t>
            </a:r>
          </a:p>
        </p:txBody>
      </p:sp>
      <p:sp>
        <p:nvSpPr>
          <p:cNvPr id="4" name="Date Placeholder 3">
            <a:extLst>
              <a:ext uri="{FF2B5EF4-FFF2-40B4-BE49-F238E27FC236}">
                <a16:creationId xmlns:a16="http://schemas.microsoft.com/office/drawing/2014/main" id="{8056701B-A24F-E0E4-5FC0-9E6647363FA0}"/>
              </a:ext>
            </a:extLst>
          </p:cNvPr>
          <p:cNvSpPr>
            <a:spLocks noGrp="1"/>
          </p:cNvSpPr>
          <p:nvPr>
            <p:ph type="dt" sz="quarter" idx="10"/>
          </p:nvPr>
        </p:nvSpPr>
        <p:spPr/>
        <p:txBody>
          <a:bodyPr/>
          <a:lstStyle/>
          <a:p>
            <a:pPr>
              <a:defRPr/>
            </a:pPr>
            <a:fld id="{E7AB886C-A005-4DAA-8C09-2C5EAF566D9C}" type="datetime1">
              <a:rPr lang="en-US"/>
              <a:pPr>
                <a:defRPr/>
              </a:pPr>
              <a:t>4/25/2025</a:t>
            </a:fld>
            <a:endParaRPr lang="en-US"/>
          </a:p>
        </p:txBody>
      </p:sp>
      <p:sp>
        <p:nvSpPr>
          <p:cNvPr id="28677" name="Slide Number Placeholder 4">
            <a:extLst>
              <a:ext uri="{FF2B5EF4-FFF2-40B4-BE49-F238E27FC236}">
                <a16:creationId xmlns:a16="http://schemas.microsoft.com/office/drawing/2014/main" id="{105A33A0-675B-0947-4670-02167040D0C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B7668B0-124F-4FFA-AB0B-DF3FB46B8ABC}" type="slidenum">
              <a:rPr lang="en-US" altLang="en-US" sz="1200" smtClean="0">
                <a:solidFill>
                  <a:srgbClr val="898989"/>
                </a:solidFill>
                <a:latin typeface="Arial" panose="020B0604020202020204" pitchFamily="34" charset="0"/>
              </a:rPr>
              <a:pPr>
                <a:spcBef>
                  <a:spcPct val="0"/>
                </a:spcBef>
                <a:buFontTx/>
                <a:buNone/>
              </a:pPr>
              <a:t>3</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9B142F6F-0F9E-3C65-B641-61497383CFDD}"/>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0B6CEB01-3049-41FA-15A5-627C51EF4B2E}"/>
              </a:ext>
            </a:extLst>
          </p:cNvPr>
          <p:cNvSpPr>
            <a:spLocks noGrp="1"/>
          </p:cNvSpPr>
          <p:nvPr>
            <p:ph type="title"/>
          </p:nvPr>
        </p:nvSpPr>
        <p:spPr/>
        <p:txBody>
          <a:bodyPr/>
          <a:lstStyle/>
          <a:p>
            <a:pPr eaLnBrk="1" hangingPunct="1"/>
            <a:r>
              <a:rPr lang="en-US" altLang="en-US"/>
              <a:t>Ventilation :Perfusion Ratio </a:t>
            </a:r>
          </a:p>
        </p:txBody>
      </p:sp>
      <p:sp>
        <p:nvSpPr>
          <p:cNvPr id="29699" name="Content Placeholder 2">
            <a:extLst>
              <a:ext uri="{FF2B5EF4-FFF2-40B4-BE49-F238E27FC236}">
                <a16:creationId xmlns:a16="http://schemas.microsoft.com/office/drawing/2014/main" id="{AA9F08FE-6B6E-CD98-98A5-D7E00FC2E39C}"/>
              </a:ext>
            </a:extLst>
          </p:cNvPr>
          <p:cNvSpPr>
            <a:spLocks noGrp="1"/>
          </p:cNvSpPr>
          <p:nvPr>
            <p:ph idx="1"/>
          </p:nvPr>
        </p:nvSpPr>
        <p:spPr/>
        <p:txBody>
          <a:bodyPr/>
          <a:lstStyle/>
          <a:p>
            <a:pPr eaLnBrk="1" hangingPunct="1"/>
            <a:r>
              <a:rPr lang="en-US" altLang="en-US"/>
              <a:t>the majority of blood flow is distributed to the gravity-dependent part of the lung. </a:t>
            </a:r>
          </a:p>
          <a:p>
            <a:pPr eaLnBrk="1" hangingPunct="1"/>
            <a:r>
              <a:rPr lang="en-US" altLang="en-US"/>
              <a:t>During a spontaneous breath, the largest portion of the tidal volume also reaches the gravity-dependent part of the lung. </a:t>
            </a:r>
          </a:p>
        </p:txBody>
      </p:sp>
      <p:sp>
        <p:nvSpPr>
          <p:cNvPr id="4" name="Date Placeholder 3">
            <a:extLst>
              <a:ext uri="{FF2B5EF4-FFF2-40B4-BE49-F238E27FC236}">
                <a16:creationId xmlns:a16="http://schemas.microsoft.com/office/drawing/2014/main" id="{7A67C3EA-DC01-7723-F087-1CF0E42471D3}"/>
              </a:ext>
            </a:extLst>
          </p:cNvPr>
          <p:cNvSpPr>
            <a:spLocks noGrp="1"/>
          </p:cNvSpPr>
          <p:nvPr>
            <p:ph type="dt" sz="quarter" idx="10"/>
          </p:nvPr>
        </p:nvSpPr>
        <p:spPr/>
        <p:txBody>
          <a:bodyPr/>
          <a:lstStyle/>
          <a:p>
            <a:pPr>
              <a:defRPr/>
            </a:pPr>
            <a:fld id="{0335A3B3-052C-4B80-A486-9C21955B7FF8}" type="datetime1">
              <a:rPr lang="en-US"/>
              <a:pPr>
                <a:defRPr/>
              </a:pPr>
              <a:t>4/25/2025</a:t>
            </a:fld>
            <a:endParaRPr lang="en-US"/>
          </a:p>
        </p:txBody>
      </p:sp>
      <p:sp>
        <p:nvSpPr>
          <p:cNvPr id="29701" name="Slide Number Placeholder 4">
            <a:extLst>
              <a:ext uri="{FF2B5EF4-FFF2-40B4-BE49-F238E27FC236}">
                <a16:creationId xmlns:a16="http://schemas.microsoft.com/office/drawing/2014/main" id="{3C5B689F-D6E5-E9B4-2925-6E1D6AABC9D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8D96380-66EF-4919-8B4B-F7611AC54D93}" type="slidenum">
              <a:rPr lang="en-US" altLang="en-US" sz="1200" smtClean="0">
                <a:solidFill>
                  <a:srgbClr val="898989"/>
                </a:solidFill>
                <a:latin typeface="Arial" panose="020B0604020202020204" pitchFamily="34" charset="0"/>
              </a:rPr>
              <a:pPr>
                <a:spcBef>
                  <a:spcPct val="0"/>
                </a:spcBef>
                <a:buFontTx/>
                <a:buNone/>
              </a:pPr>
              <a:t>4</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70C17382-00AF-1160-3504-60F1980F12C8}"/>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CEE3AB07-359E-C1F7-2A6E-C5EBA8B85D1A}"/>
              </a:ext>
            </a:extLst>
          </p:cNvPr>
          <p:cNvSpPr>
            <a:spLocks noGrp="1"/>
          </p:cNvSpPr>
          <p:nvPr>
            <p:ph type="title"/>
          </p:nvPr>
        </p:nvSpPr>
        <p:spPr/>
        <p:txBody>
          <a:bodyPr/>
          <a:lstStyle/>
          <a:p>
            <a:pPr eaLnBrk="1" hangingPunct="1"/>
            <a:r>
              <a:rPr lang="en-US" altLang="en-US"/>
              <a:t>Ventilation :Perfusion Ratio </a:t>
            </a:r>
          </a:p>
        </p:txBody>
      </p:sp>
      <p:sp>
        <p:nvSpPr>
          <p:cNvPr id="30723" name="Content Placeholder 2">
            <a:extLst>
              <a:ext uri="{FF2B5EF4-FFF2-40B4-BE49-F238E27FC236}">
                <a16:creationId xmlns:a16="http://schemas.microsoft.com/office/drawing/2014/main" id="{C7871016-54F5-3420-8204-B16655682C15}"/>
              </a:ext>
            </a:extLst>
          </p:cNvPr>
          <p:cNvSpPr>
            <a:spLocks noGrp="1"/>
          </p:cNvSpPr>
          <p:nvPr>
            <p:ph idx="1"/>
          </p:nvPr>
        </p:nvSpPr>
        <p:spPr/>
        <p:txBody>
          <a:bodyPr/>
          <a:lstStyle/>
          <a:p>
            <a:pPr eaLnBrk="1" hangingPunct="1"/>
            <a:r>
              <a:rPr lang="en-US" altLang="en-US"/>
              <a:t>The nondependent area of the lung receives a lower proportion of both ventilation and perfusion, and </a:t>
            </a:r>
          </a:p>
          <a:p>
            <a:pPr eaLnBrk="1" hangingPunct="1"/>
            <a:r>
              <a:rPr lang="en-US" altLang="en-US"/>
              <a:t>Dependent lung receives greater proportions of ventilation and perfusion.</a:t>
            </a:r>
          </a:p>
          <a:p>
            <a:pPr eaLnBrk="1" hangingPunct="1"/>
            <a:endParaRPr lang="en-US" altLang="en-US"/>
          </a:p>
        </p:txBody>
      </p:sp>
      <p:sp>
        <p:nvSpPr>
          <p:cNvPr id="4" name="Date Placeholder 3">
            <a:extLst>
              <a:ext uri="{FF2B5EF4-FFF2-40B4-BE49-F238E27FC236}">
                <a16:creationId xmlns:a16="http://schemas.microsoft.com/office/drawing/2014/main" id="{5F31050E-847C-778B-5954-F243EBE688BD}"/>
              </a:ext>
            </a:extLst>
          </p:cNvPr>
          <p:cNvSpPr>
            <a:spLocks noGrp="1"/>
          </p:cNvSpPr>
          <p:nvPr>
            <p:ph type="dt" sz="quarter" idx="10"/>
          </p:nvPr>
        </p:nvSpPr>
        <p:spPr/>
        <p:txBody>
          <a:bodyPr/>
          <a:lstStyle/>
          <a:p>
            <a:pPr>
              <a:defRPr/>
            </a:pPr>
            <a:fld id="{1C97DFEA-4129-4781-B94C-7DBCCAE558D3}" type="datetime1">
              <a:rPr lang="en-US"/>
              <a:pPr>
                <a:defRPr/>
              </a:pPr>
              <a:t>4/25/2025</a:t>
            </a:fld>
            <a:endParaRPr lang="en-US"/>
          </a:p>
        </p:txBody>
      </p:sp>
      <p:sp>
        <p:nvSpPr>
          <p:cNvPr id="30725" name="Slide Number Placeholder 4">
            <a:extLst>
              <a:ext uri="{FF2B5EF4-FFF2-40B4-BE49-F238E27FC236}">
                <a16:creationId xmlns:a16="http://schemas.microsoft.com/office/drawing/2014/main" id="{C6D3DE9F-351F-89B5-3BDE-C29D848E2A1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B301BB5-E367-4DA2-98B3-340B7953BFA5}" type="slidenum">
              <a:rPr lang="en-US" altLang="en-US" sz="1200" smtClean="0">
                <a:solidFill>
                  <a:srgbClr val="898989"/>
                </a:solidFill>
                <a:latin typeface="Arial" panose="020B0604020202020204" pitchFamily="34" charset="0"/>
              </a:rPr>
              <a:pPr>
                <a:spcBef>
                  <a:spcPct val="0"/>
                </a:spcBef>
                <a:buFontTx/>
                <a:buNone/>
              </a:pPr>
              <a:t>5</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6A242D33-BD18-4EED-1AD3-6CF84ECE40DA}"/>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D03EB1A1-5465-94C6-7E3E-BE13601F5A7A}"/>
              </a:ext>
            </a:extLst>
          </p:cNvPr>
          <p:cNvSpPr>
            <a:spLocks noGrp="1"/>
          </p:cNvSpPr>
          <p:nvPr>
            <p:ph type="title"/>
          </p:nvPr>
        </p:nvSpPr>
        <p:spPr>
          <a:xfrm>
            <a:off x="1981200" y="277813"/>
            <a:ext cx="8229600" cy="865187"/>
          </a:xfrm>
        </p:spPr>
        <p:txBody>
          <a:bodyPr/>
          <a:lstStyle/>
          <a:p>
            <a:pPr eaLnBrk="1" hangingPunct="1"/>
            <a:r>
              <a:rPr lang="en-US" altLang="en-US"/>
              <a:t>Ventilation :Perfusion Ratio </a:t>
            </a:r>
          </a:p>
        </p:txBody>
      </p:sp>
      <p:sp>
        <p:nvSpPr>
          <p:cNvPr id="31747" name="Content Placeholder 2">
            <a:extLst>
              <a:ext uri="{FF2B5EF4-FFF2-40B4-BE49-F238E27FC236}">
                <a16:creationId xmlns:a16="http://schemas.microsoft.com/office/drawing/2014/main" id="{D091BA96-2315-3580-5B54-EF32C48204B6}"/>
              </a:ext>
            </a:extLst>
          </p:cNvPr>
          <p:cNvSpPr>
            <a:spLocks noGrp="1"/>
          </p:cNvSpPr>
          <p:nvPr>
            <p:ph idx="1"/>
          </p:nvPr>
        </p:nvSpPr>
        <p:spPr>
          <a:xfrm>
            <a:off x="1752600" y="1295400"/>
            <a:ext cx="8763000" cy="4835525"/>
          </a:xfrm>
        </p:spPr>
        <p:txBody>
          <a:bodyPr/>
          <a:lstStyle/>
          <a:p>
            <a:pPr eaLnBrk="1" hangingPunct="1"/>
            <a:r>
              <a:rPr lang="en-US" altLang="en-US"/>
              <a:t>ventilation and perfusion are not matched perfectly, and various V</a:t>
            </a:r>
            <a:r>
              <a:rPr lang="en-US" altLang="en-US" baseline="-25000"/>
              <a:t>A</a:t>
            </a:r>
            <a:r>
              <a:rPr lang="en-US" altLang="en-US"/>
              <a:t>/Q  ratios result throughout the lung. </a:t>
            </a:r>
          </a:p>
          <a:p>
            <a:pPr eaLnBrk="1" hangingPunct="1"/>
            <a:r>
              <a:rPr lang="en-US" altLang="en-US"/>
              <a:t>The ideal V</a:t>
            </a:r>
            <a:r>
              <a:rPr lang="en-US" altLang="en-US" baseline="-25000"/>
              <a:t>A</a:t>
            </a:r>
            <a:r>
              <a:rPr lang="en-US" altLang="en-US"/>
              <a:t>/Q ratio of 1 is believed to occur at approximately the level of the third rib. </a:t>
            </a:r>
          </a:p>
          <a:p>
            <a:pPr eaLnBrk="1" hangingPunct="1"/>
            <a:r>
              <a:rPr lang="en-US" altLang="en-US"/>
              <a:t>Above this level, ventilation occurs slightly in excess of perfusion, whereas below the third rib the V</a:t>
            </a:r>
            <a:r>
              <a:rPr lang="en-US" altLang="en-US" baseline="-25000"/>
              <a:t>A</a:t>
            </a:r>
            <a:r>
              <a:rPr lang="en-US" altLang="en-US"/>
              <a:t>/Q  ratio becomes less than 1. (look  at the Fig ).</a:t>
            </a:r>
          </a:p>
        </p:txBody>
      </p:sp>
      <p:sp>
        <p:nvSpPr>
          <p:cNvPr id="4" name="Date Placeholder 3">
            <a:extLst>
              <a:ext uri="{FF2B5EF4-FFF2-40B4-BE49-F238E27FC236}">
                <a16:creationId xmlns:a16="http://schemas.microsoft.com/office/drawing/2014/main" id="{6B5CA8DC-6E1C-A068-1D9F-6C3D83729045}"/>
              </a:ext>
            </a:extLst>
          </p:cNvPr>
          <p:cNvSpPr>
            <a:spLocks noGrp="1"/>
          </p:cNvSpPr>
          <p:nvPr>
            <p:ph type="dt" sz="quarter" idx="10"/>
          </p:nvPr>
        </p:nvSpPr>
        <p:spPr/>
        <p:txBody>
          <a:bodyPr/>
          <a:lstStyle/>
          <a:p>
            <a:pPr>
              <a:defRPr/>
            </a:pPr>
            <a:fld id="{8A438A9B-39B7-43FA-83E0-168D1D5DCC9F}" type="datetime1">
              <a:rPr lang="en-US"/>
              <a:pPr>
                <a:defRPr/>
              </a:pPr>
              <a:t>4/25/2025</a:t>
            </a:fld>
            <a:endParaRPr lang="en-US" dirty="0"/>
          </a:p>
        </p:txBody>
      </p:sp>
      <p:sp>
        <p:nvSpPr>
          <p:cNvPr id="31749" name="Slide Number Placeholder 4">
            <a:extLst>
              <a:ext uri="{FF2B5EF4-FFF2-40B4-BE49-F238E27FC236}">
                <a16:creationId xmlns:a16="http://schemas.microsoft.com/office/drawing/2014/main" id="{53B7C3AF-7A9D-73E3-B52F-73DDBC01566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8DA962B-C394-45E1-8228-F6D9F4771B0C}" type="slidenum">
              <a:rPr lang="en-US" altLang="en-US" sz="1200" smtClean="0">
                <a:solidFill>
                  <a:srgbClr val="898989"/>
                </a:solidFill>
                <a:latin typeface="Arial" panose="020B0604020202020204" pitchFamily="34" charset="0"/>
              </a:rPr>
              <a:pPr>
                <a:spcBef>
                  <a:spcPct val="0"/>
                </a:spcBef>
                <a:buFontTx/>
                <a:buNone/>
              </a:pPr>
              <a:t>6</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19D8F118-22AC-223E-DD24-719E083D4F40}"/>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520829B3-5E11-DA8D-1BC3-0ADD36FDD9AD}"/>
              </a:ext>
            </a:extLst>
          </p:cNvPr>
          <p:cNvSpPr>
            <a:spLocks noGrp="1"/>
          </p:cNvSpPr>
          <p:nvPr>
            <p:ph type="title"/>
          </p:nvPr>
        </p:nvSpPr>
        <p:spPr>
          <a:xfrm>
            <a:off x="1524000" y="0"/>
            <a:ext cx="9144000" cy="762000"/>
          </a:xfrm>
        </p:spPr>
        <p:txBody>
          <a:bodyPr/>
          <a:lstStyle/>
          <a:p>
            <a:pPr eaLnBrk="1" hangingPunct="1"/>
            <a:br>
              <a:rPr lang="en-US" altLang="en-US" sz="2800"/>
            </a:br>
            <a:r>
              <a:rPr lang="en-US" altLang="en-US" sz="2800"/>
              <a:t>the relation of ventilation, blood flow and V/Q ratios </a:t>
            </a:r>
            <a:br>
              <a:rPr lang="en-US" altLang="en-US" sz="2800"/>
            </a:br>
            <a:r>
              <a:rPr lang="en-US" altLang="en-US" sz="2800"/>
              <a:t>         between bottom and apical  parts of lung</a:t>
            </a:r>
            <a:br>
              <a:rPr lang="en-US" altLang="en-US" sz="2800"/>
            </a:br>
            <a:endParaRPr lang="en-US" altLang="en-US" sz="2800"/>
          </a:p>
        </p:txBody>
      </p:sp>
      <p:pic>
        <p:nvPicPr>
          <p:cNvPr id="32771" name="Picture 2" descr="C:\Users\eyayalem\Desktop\THORACIC ANESTHESIA\One-lung Anesthesia_files\vqratio.gif">
            <a:extLst>
              <a:ext uri="{FF2B5EF4-FFF2-40B4-BE49-F238E27FC236}">
                <a16:creationId xmlns:a16="http://schemas.microsoft.com/office/drawing/2014/main" id="{6550B71A-A3AF-B6C1-E2A4-95A27627F83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90800" y="1066800"/>
            <a:ext cx="7162800" cy="5486400"/>
          </a:xfrm>
          <a:noFill/>
        </p:spPr>
      </p:pic>
      <p:sp>
        <p:nvSpPr>
          <p:cNvPr id="4" name="Date Placeholder 3">
            <a:extLst>
              <a:ext uri="{FF2B5EF4-FFF2-40B4-BE49-F238E27FC236}">
                <a16:creationId xmlns:a16="http://schemas.microsoft.com/office/drawing/2014/main" id="{A31DD02A-427A-3B52-C176-97D026C589B4}"/>
              </a:ext>
            </a:extLst>
          </p:cNvPr>
          <p:cNvSpPr>
            <a:spLocks noGrp="1"/>
          </p:cNvSpPr>
          <p:nvPr>
            <p:ph type="dt" sz="quarter" idx="10"/>
          </p:nvPr>
        </p:nvSpPr>
        <p:spPr/>
        <p:txBody>
          <a:bodyPr/>
          <a:lstStyle/>
          <a:p>
            <a:pPr>
              <a:defRPr/>
            </a:pPr>
            <a:fld id="{B5BF464C-62B5-4A41-A035-813AEF915C27}" type="datetime1">
              <a:rPr lang="en-US"/>
              <a:pPr>
                <a:defRPr/>
              </a:pPr>
              <a:t>4/25/2025</a:t>
            </a:fld>
            <a:endParaRPr lang="en-US"/>
          </a:p>
        </p:txBody>
      </p:sp>
      <p:sp>
        <p:nvSpPr>
          <p:cNvPr id="32773" name="Slide Number Placeholder 4">
            <a:extLst>
              <a:ext uri="{FF2B5EF4-FFF2-40B4-BE49-F238E27FC236}">
                <a16:creationId xmlns:a16="http://schemas.microsoft.com/office/drawing/2014/main" id="{E8544077-825B-CB62-8F70-065875B6004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95D634A-442F-4FE6-B0C6-4AEA2E9C2F7B}" type="slidenum">
              <a:rPr lang="en-US" altLang="en-US" sz="1200" smtClean="0">
                <a:solidFill>
                  <a:srgbClr val="898989"/>
                </a:solidFill>
                <a:latin typeface="Arial" panose="020B0604020202020204" pitchFamily="34" charset="0"/>
              </a:rPr>
              <a:pPr>
                <a:spcBef>
                  <a:spcPct val="0"/>
                </a:spcBef>
                <a:buFontTx/>
                <a:buNone/>
              </a:pPr>
              <a:t>7</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174D48F6-6AA3-6B40-F610-B8C3FF0D788E}"/>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7AC1D65E-EA77-8941-1D58-B355DE6F19A0}"/>
              </a:ext>
            </a:extLst>
          </p:cNvPr>
          <p:cNvSpPr>
            <a:spLocks noGrp="1"/>
          </p:cNvSpPr>
          <p:nvPr>
            <p:ph type="title"/>
          </p:nvPr>
        </p:nvSpPr>
        <p:spPr/>
        <p:txBody>
          <a:bodyPr/>
          <a:lstStyle/>
          <a:p>
            <a:pPr eaLnBrk="1" hangingPunct="1"/>
            <a:r>
              <a:rPr lang="en-US" altLang="en-US"/>
              <a:t>Physiology of the LDP</a:t>
            </a:r>
          </a:p>
        </p:txBody>
      </p:sp>
      <p:sp>
        <p:nvSpPr>
          <p:cNvPr id="3" name="Content Placeholder 2">
            <a:extLst>
              <a:ext uri="{FF2B5EF4-FFF2-40B4-BE49-F238E27FC236}">
                <a16:creationId xmlns:a16="http://schemas.microsoft.com/office/drawing/2014/main" id="{F511F557-90D8-48BA-8B50-84D397B6CC9A}"/>
              </a:ext>
            </a:extLst>
          </p:cNvPr>
          <p:cNvSpPr>
            <a:spLocks noGrp="1"/>
          </p:cNvSpPr>
          <p:nvPr>
            <p:ph idx="1"/>
          </p:nvPr>
        </p:nvSpPr>
        <p:spPr>
          <a:xfrm>
            <a:off x="1524000" y="1600200"/>
            <a:ext cx="9144000" cy="5257800"/>
          </a:xfrm>
        </p:spPr>
        <p:txBody>
          <a:bodyPr/>
          <a:lstStyle/>
          <a:p>
            <a:pPr eaLnBrk="1" hangingPunct="1"/>
            <a:r>
              <a:rPr lang="en-US" altLang="en-US"/>
              <a:t>- Posture and exercise affect this distribution.</a:t>
            </a:r>
          </a:p>
          <a:p>
            <a:pPr eaLnBrk="1" hangingPunct="1"/>
            <a:r>
              <a:rPr lang="en-US" altLang="en-US"/>
              <a:t>In the supine position, </a:t>
            </a:r>
          </a:p>
          <a:p>
            <a:pPr eaLnBrk="1" hangingPunct="1">
              <a:buFont typeface="Wingdings" panose="05000000000000000000" pitchFamily="2" charset="2"/>
              <a:buNone/>
            </a:pPr>
            <a:r>
              <a:rPr lang="en-US" altLang="en-US"/>
              <a:t>       - the distribution is similar; blood flow in the posterior regions of the lung (analogous to the bottom) exceeds flow in the anterior regions (analogous to the top).</a:t>
            </a:r>
          </a:p>
          <a:p>
            <a:pPr eaLnBrk="1" hangingPunct="1"/>
            <a:r>
              <a:rPr lang="en-US" altLang="en-US"/>
              <a:t>On mild exercise blood flow through all areas of the lung increases so that regional  differences become less.</a:t>
            </a:r>
          </a:p>
          <a:p>
            <a:pPr eaLnBrk="1" hangingPunct="1"/>
            <a:endParaRPr lang="en-US" altLang="en-US"/>
          </a:p>
        </p:txBody>
      </p:sp>
      <p:sp>
        <p:nvSpPr>
          <p:cNvPr id="4" name="Date Placeholder 3">
            <a:extLst>
              <a:ext uri="{FF2B5EF4-FFF2-40B4-BE49-F238E27FC236}">
                <a16:creationId xmlns:a16="http://schemas.microsoft.com/office/drawing/2014/main" id="{D17124D3-B538-12C2-DB9B-64AD429FFBF9}"/>
              </a:ext>
            </a:extLst>
          </p:cNvPr>
          <p:cNvSpPr>
            <a:spLocks noGrp="1"/>
          </p:cNvSpPr>
          <p:nvPr>
            <p:ph type="dt" sz="quarter" idx="10"/>
          </p:nvPr>
        </p:nvSpPr>
        <p:spPr/>
        <p:txBody>
          <a:bodyPr/>
          <a:lstStyle/>
          <a:p>
            <a:pPr>
              <a:defRPr/>
            </a:pPr>
            <a:fld id="{9D0895C4-C711-42DF-92C3-2C2E2209E87F}" type="datetime1">
              <a:rPr lang="en-US"/>
              <a:pPr>
                <a:defRPr/>
              </a:pPr>
              <a:t>4/25/2025</a:t>
            </a:fld>
            <a:endParaRPr lang="en-US" dirty="0"/>
          </a:p>
        </p:txBody>
      </p:sp>
      <p:sp>
        <p:nvSpPr>
          <p:cNvPr id="33797" name="Slide Number Placeholder 4">
            <a:extLst>
              <a:ext uri="{FF2B5EF4-FFF2-40B4-BE49-F238E27FC236}">
                <a16:creationId xmlns:a16="http://schemas.microsoft.com/office/drawing/2014/main" id="{557BB17D-907F-B77A-4E09-14173967C82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F51278B-A520-470F-827D-9560FB28FF48}" type="slidenum">
              <a:rPr lang="en-US" altLang="en-US" sz="1200" smtClean="0">
                <a:solidFill>
                  <a:srgbClr val="898989"/>
                </a:solidFill>
                <a:latin typeface="Arial" panose="020B0604020202020204" pitchFamily="34" charset="0"/>
              </a:rPr>
              <a:pPr>
                <a:spcBef>
                  <a:spcPct val="0"/>
                </a:spcBef>
                <a:buFontTx/>
                <a:buNone/>
              </a:pPr>
              <a:t>8</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DE11B8B7-CDB2-FD56-A8C7-D94B5991417A}"/>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A3B5FFAF-080E-BDF2-A7CE-E5BACDFAC2A4}"/>
              </a:ext>
            </a:extLst>
          </p:cNvPr>
          <p:cNvSpPr>
            <a:spLocks noGrp="1"/>
          </p:cNvSpPr>
          <p:nvPr>
            <p:ph type="title"/>
          </p:nvPr>
        </p:nvSpPr>
        <p:spPr/>
        <p:txBody>
          <a:bodyPr/>
          <a:lstStyle/>
          <a:p>
            <a:pPr eaLnBrk="1" hangingPunct="1"/>
            <a:r>
              <a:rPr lang="en-US" altLang="en-US"/>
              <a:t>Physiology of the LDP</a:t>
            </a:r>
          </a:p>
        </p:txBody>
      </p:sp>
      <p:sp>
        <p:nvSpPr>
          <p:cNvPr id="3" name="Content Placeholder 2">
            <a:extLst>
              <a:ext uri="{FF2B5EF4-FFF2-40B4-BE49-F238E27FC236}">
                <a16:creationId xmlns:a16="http://schemas.microsoft.com/office/drawing/2014/main" id="{0710DC94-E816-CFC4-AEA9-ACC2E521BD17}"/>
              </a:ext>
            </a:extLst>
          </p:cNvPr>
          <p:cNvSpPr>
            <a:spLocks noGrp="1"/>
          </p:cNvSpPr>
          <p:nvPr>
            <p:ph idx="1"/>
          </p:nvPr>
        </p:nvSpPr>
        <p:spPr>
          <a:xfrm>
            <a:off x="1524000" y="1600200"/>
            <a:ext cx="9144000" cy="4876800"/>
          </a:xfrm>
        </p:spPr>
        <p:txBody>
          <a:bodyPr/>
          <a:lstStyle/>
          <a:p>
            <a:pPr eaLnBrk="1" hangingPunct="1">
              <a:defRPr/>
            </a:pPr>
            <a:r>
              <a:rPr lang="en-US" dirty="0">
                <a:solidFill>
                  <a:srgbClr val="FF0000"/>
                </a:solidFill>
              </a:rPr>
              <a:t>For every centimeter of vertical distance up the lungs, the decrease in pulmonary artery </a:t>
            </a:r>
          </a:p>
          <a:p>
            <a:pPr eaLnBrk="1" hangingPunct="1">
              <a:buFont typeface="Wingdings" pitchFamily="2" charset="2"/>
              <a:buNone/>
              <a:defRPr/>
            </a:pPr>
            <a:r>
              <a:rPr lang="en-US" dirty="0">
                <a:solidFill>
                  <a:srgbClr val="FF0000"/>
                </a:solidFill>
              </a:rPr>
              <a:t>   pressure is approximately 1 cm H</a:t>
            </a:r>
            <a:r>
              <a:rPr lang="en-US" baseline="-25000" dirty="0">
                <a:solidFill>
                  <a:srgbClr val="FF0000"/>
                </a:solidFill>
              </a:rPr>
              <a:t>2</a:t>
            </a:r>
            <a:r>
              <a:rPr lang="en-US" dirty="0">
                <a:solidFill>
                  <a:srgbClr val="FF0000"/>
                </a:solidFill>
              </a:rPr>
              <a:t>O.</a:t>
            </a:r>
          </a:p>
          <a:p>
            <a:pPr eaLnBrk="1" hangingPunct="1">
              <a:buFontTx/>
              <a:buChar char="-"/>
              <a:defRPr/>
            </a:pPr>
            <a:r>
              <a:rPr lang="en-US" dirty="0">
                <a:solidFill>
                  <a:srgbClr val="002060"/>
                </a:solidFill>
              </a:rPr>
              <a:t>End expiration alveolar pressure is normally close to atmospheric pressure</a:t>
            </a:r>
            <a:r>
              <a:rPr lang="en-US" dirty="0"/>
              <a:t>.</a:t>
            </a:r>
          </a:p>
          <a:p>
            <a:pPr eaLnBrk="1" hangingPunct="1">
              <a:buFontTx/>
              <a:buChar char="-"/>
              <a:defRPr/>
            </a:pPr>
            <a:r>
              <a:rPr lang="en-US" dirty="0">
                <a:solidFill>
                  <a:schemeClr val="tx1">
                    <a:lumMod val="95000"/>
                    <a:lumOff val="5000"/>
                  </a:schemeClr>
                </a:solidFill>
              </a:rPr>
              <a:t>At least in the upright posture, a region may exist at the top of the lung (zone 1) where the pulmonary arterial pressure is less than alveolar pressure (PA &gt;</a:t>
            </a:r>
            <a:r>
              <a:rPr lang="en-US" dirty="0" err="1">
                <a:solidFill>
                  <a:schemeClr val="tx1">
                    <a:lumMod val="95000"/>
                    <a:lumOff val="5000"/>
                  </a:schemeClr>
                </a:solidFill>
              </a:rPr>
              <a:t>P</a:t>
            </a:r>
            <a:r>
              <a:rPr lang="en-US" baseline="-25000" dirty="0" err="1">
                <a:solidFill>
                  <a:schemeClr val="tx1">
                    <a:lumMod val="95000"/>
                    <a:lumOff val="5000"/>
                  </a:schemeClr>
                </a:solidFill>
              </a:rPr>
              <a:t>Pa</a:t>
            </a:r>
            <a:r>
              <a:rPr lang="en-US" dirty="0">
                <a:solidFill>
                  <a:schemeClr val="tx1">
                    <a:lumMod val="95000"/>
                    <a:lumOff val="5000"/>
                  </a:schemeClr>
                </a:solidFill>
              </a:rPr>
              <a:t>) .</a:t>
            </a:r>
          </a:p>
          <a:p>
            <a:pPr eaLnBrk="1" hangingPunct="1">
              <a:defRPr/>
            </a:pPr>
            <a:endParaRPr lang="en-US" dirty="0"/>
          </a:p>
        </p:txBody>
      </p:sp>
      <p:sp>
        <p:nvSpPr>
          <p:cNvPr id="4" name="Date Placeholder 3">
            <a:extLst>
              <a:ext uri="{FF2B5EF4-FFF2-40B4-BE49-F238E27FC236}">
                <a16:creationId xmlns:a16="http://schemas.microsoft.com/office/drawing/2014/main" id="{A704069B-74BD-0977-F324-4BA8EFF9FF8C}"/>
              </a:ext>
            </a:extLst>
          </p:cNvPr>
          <p:cNvSpPr>
            <a:spLocks noGrp="1"/>
          </p:cNvSpPr>
          <p:nvPr>
            <p:ph type="dt" sz="quarter" idx="10"/>
          </p:nvPr>
        </p:nvSpPr>
        <p:spPr/>
        <p:txBody>
          <a:bodyPr/>
          <a:lstStyle/>
          <a:p>
            <a:pPr>
              <a:defRPr/>
            </a:pPr>
            <a:fld id="{7D1EB0E6-ACB7-4F4B-9A11-EA67DE31D0BB}" type="datetime1">
              <a:rPr lang="en-US"/>
              <a:pPr>
                <a:defRPr/>
              </a:pPr>
              <a:t>4/25/2025</a:t>
            </a:fld>
            <a:endParaRPr lang="en-US"/>
          </a:p>
        </p:txBody>
      </p:sp>
      <p:sp>
        <p:nvSpPr>
          <p:cNvPr id="34821" name="Slide Number Placeholder 4">
            <a:extLst>
              <a:ext uri="{FF2B5EF4-FFF2-40B4-BE49-F238E27FC236}">
                <a16:creationId xmlns:a16="http://schemas.microsoft.com/office/drawing/2014/main" id="{DA9BD430-4B67-16AA-EAB9-A39FCE3CDE9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16715AB-5AA9-49B1-B422-55D1109F9C13}" type="slidenum">
              <a:rPr lang="en-US" altLang="en-US" sz="1200" smtClean="0">
                <a:solidFill>
                  <a:srgbClr val="898989"/>
                </a:solidFill>
                <a:latin typeface="Arial" panose="020B0604020202020204" pitchFamily="34" charset="0"/>
              </a:rPr>
              <a:pPr>
                <a:spcBef>
                  <a:spcPct val="0"/>
                </a:spcBef>
                <a:buFontTx/>
                <a:buNone/>
              </a:pPr>
              <a:t>9</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D80C1D04-B0DE-ED62-6FBB-B72FCAD1811F}"/>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B692A-5DF8-C4D0-5BCF-A5C9127551DA}"/>
              </a:ext>
            </a:extLst>
          </p:cNvPr>
          <p:cNvSpPr>
            <a:spLocks noGrp="1"/>
          </p:cNvSpPr>
          <p:nvPr>
            <p:ph type="title"/>
          </p:nvPr>
        </p:nvSpPr>
        <p:spPr/>
        <p:txBody>
          <a:bodyPr/>
          <a:lstStyle/>
          <a:p>
            <a:pPr eaLnBrk="1" hangingPunct="1"/>
            <a:r>
              <a:rPr lang="en-US" altLang="en-US"/>
              <a:t>Physiology of the LDP</a:t>
            </a:r>
          </a:p>
        </p:txBody>
      </p:sp>
      <p:sp>
        <p:nvSpPr>
          <p:cNvPr id="3" name="Content Placeholder 2">
            <a:extLst>
              <a:ext uri="{FF2B5EF4-FFF2-40B4-BE49-F238E27FC236}">
                <a16:creationId xmlns:a16="http://schemas.microsoft.com/office/drawing/2014/main" id="{8C04FCA1-7D6F-2A2B-AE33-0B1EBB09B103}"/>
              </a:ext>
            </a:extLst>
          </p:cNvPr>
          <p:cNvSpPr>
            <a:spLocks noGrp="1"/>
          </p:cNvSpPr>
          <p:nvPr>
            <p:ph sz="half" idx="1"/>
          </p:nvPr>
        </p:nvSpPr>
        <p:spPr>
          <a:xfrm>
            <a:off x="609600" y="1600200"/>
            <a:ext cx="5384800" cy="4525963"/>
          </a:xfrm>
        </p:spPr>
        <p:txBody>
          <a:bodyPr/>
          <a:lstStyle/>
          <a:p>
            <a:pPr eaLnBrk="1" hangingPunct="1"/>
            <a:r>
              <a:rPr lang="en-US" altLang="en-US"/>
              <a:t>Upright position</a:t>
            </a:r>
          </a:p>
        </p:txBody>
      </p:sp>
      <p:sp>
        <p:nvSpPr>
          <p:cNvPr id="4" name="Content Placeholder 3">
            <a:extLst>
              <a:ext uri="{FF2B5EF4-FFF2-40B4-BE49-F238E27FC236}">
                <a16:creationId xmlns:a16="http://schemas.microsoft.com/office/drawing/2014/main" id="{D3E58BE1-41D0-49C8-1306-1BEA7DD5AE01}"/>
              </a:ext>
            </a:extLst>
          </p:cNvPr>
          <p:cNvSpPr>
            <a:spLocks noGrp="1"/>
          </p:cNvSpPr>
          <p:nvPr>
            <p:ph sz="half" idx="2"/>
          </p:nvPr>
        </p:nvSpPr>
        <p:spPr>
          <a:xfrm>
            <a:off x="6197600" y="1600200"/>
            <a:ext cx="5384800" cy="4525963"/>
          </a:xfrm>
        </p:spPr>
        <p:txBody>
          <a:bodyPr/>
          <a:lstStyle/>
          <a:p>
            <a:pPr eaLnBrk="1" hangingPunct="1"/>
            <a:r>
              <a:rPr lang="en-US" altLang="en-US"/>
              <a:t>LDP, lateral decubitus</a:t>
            </a:r>
          </a:p>
        </p:txBody>
      </p:sp>
      <p:sp>
        <p:nvSpPr>
          <p:cNvPr id="5" name="Date Placeholder 4">
            <a:extLst>
              <a:ext uri="{FF2B5EF4-FFF2-40B4-BE49-F238E27FC236}">
                <a16:creationId xmlns:a16="http://schemas.microsoft.com/office/drawing/2014/main" id="{BB992F76-2507-6E45-3ABB-8CEB36115AC5}"/>
              </a:ext>
            </a:extLst>
          </p:cNvPr>
          <p:cNvSpPr>
            <a:spLocks noGrp="1"/>
          </p:cNvSpPr>
          <p:nvPr>
            <p:ph type="dt" sz="quarter" idx="10"/>
          </p:nvPr>
        </p:nvSpPr>
        <p:spPr/>
        <p:txBody>
          <a:bodyPr/>
          <a:lstStyle/>
          <a:p>
            <a:pPr>
              <a:defRPr/>
            </a:pPr>
            <a:fld id="{7D0376BB-6A3F-40B5-BE4B-C52ACA57B69D}" type="datetime1">
              <a:rPr lang="en-US"/>
              <a:pPr>
                <a:defRPr/>
              </a:pPr>
              <a:t>4/25/2025</a:t>
            </a:fld>
            <a:endParaRPr lang="en-US"/>
          </a:p>
        </p:txBody>
      </p:sp>
      <p:sp>
        <p:nvSpPr>
          <p:cNvPr id="35846" name="Slide Number Placeholder 5">
            <a:extLst>
              <a:ext uri="{FF2B5EF4-FFF2-40B4-BE49-F238E27FC236}">
                <a16:creationId xmlns:a16="http://schemas.microsoft.com/office/drawing/2014/main" id="{777A4F1F-1F47-7AF0-76D3-576952C38B7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68EB0CA-5165-4203-9451-33A510CAAF34}" type="slidenum">
              <a:rPr lang="en-US" altLang="en-US" sz="1200" smtClean="0">
                <a:solidFill>
                  <a:srgbClr val="898989"/>
                </a:solidFill>
                <a:latin typeface="Arial" panose="020B0604020202020204" pitchFamily="34" charset="0"/>
              </a:rPr>
              <a:pPr>
                <a:spcBef>
                  <a:spcPct val="0"/>
                </a:spcBef>
                <a:buFontTx/>
                <a:buNone/>
              </a:pPr>
              <a:t>10</a:t>
            </a:fld>
            <a:endParaRPr lang="en-US" altLang="en-US" sz="1200">
              <a:solidFill>
                <a:srgbClr val="898989"/>
              </a:solidFill>
              <a:latin typeface="Arial" panose="020B0604020202020204" pitchFamily="34" charset="0"/>
            </a:endParaRPr>
          </a:p>
        </p:txBody>
      </p:sp>
      <p:pic>
        <p:nvPicPr>
          <p:cNvPr id="7" name="Picture 5">
            <a:extLst>
              <a:ext uri="{FF2B5EF4-FFF2-40B4-BE49-F238E27FC236}">
                <a16:creationId xmlns:a16="http://schemas.microsoft.com/office/drawing/2014/main" id="{C7D6F6F8-A42E-3BD1-C0A2-FE1BB52804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133600"/>
            <a:ext cx="401955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a:extLst>
              <a:ext uri="{FF2B5EF4-FFF2-40B4-BE49-F238E27FC236}">
                <a16:creationId xmlns:a16="http://schemas.microsoft.com/office/drawing/2014/main" id="{9179E5D6-6C8E-EC83-0DF5-9F1B72635F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057400"/>
            <a:ext cx="4343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ooter Placeholder 8">
            <a:extLst>
              <a:ext uri="{FF2B5EF4-FFF2-40B4-BE49-F238E27FC236}">
                <a16:creationId xmlns:a16="http://schemas.microsoft.com/office/drawing/2014/main" id="{5808C745-AA18-7CB0-DB5B-0E4AC25CECBE}"/>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Effect transition="in" filter="wipe(down)">
                                      <p:cBhvr>
                                        <p:cTn id="25" dur="500"/>
                                        <p:tgtEl>
                                          <p:spTgt spid="4">
                                            <p:txEl>
                                              <p:pRg st="0" end="0"/>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ppt_x"/>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allAtOnce"/>
      <p:bldP spid="4" grpId="0" build="allAtOnce"/>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3E3A133E-817B-A18A-9E8E-297336496A1E}"/>
              </a:ext>
            </a:extLst>
          </p:cNvPr>
          <p:cNvSpPr>
            <a:spLocks noGrp="1"/>
          </p:cNvSpPr>
          <p:nvPr>
            <p:ph type="title"/>
          </p:nvPr>
        </p:nvSpPr>
        <p:spPr/>
        <p:txBody>
          <a:bodyPr/>
          <a:lstStyle/>
          <a:p>
            <a:pPr eaLnBrk="1" hangingPunct="1"/>
            <a:r>
              <a:rPr lang="en-US" altLang="en-US"/>
              <a:t>Physiology of the LDP</a:t>
            </a:r>
          </a:p>
        </p:txBody>
      </p:sp>
      <p:sp>
        <p:nvSpPr>
          <p:cNvPr id="36867" name="Content Placeholder 2">
            <a:extLst>
              <a:ext uri="{FF2B5EF4-FFF2-40B4-BE49-F238E27FC236}">
                <a16:creationId xmlns:a16="http://schemas.microsoft.com/office/drawing/2014/main" id="{3D65D3D8-EC71-1ED0-136C-F3F056BE2411}"/>
              </a:ext>
            </a:extLst>
          </p:cNvPr>
          <p:cNvSpPr>
            <a:spLocks noGrp="1"/>
          </p:cNvSpPr>
          <p:nvPr>
            <p:ph idx="1"/>
          </p:nvPr>
        </p:nvSpPr>
        <p:spPr>
          <a:xfrm>
            <a:off x="1524000" y="1600200"/>
            <a:ext cx="8839200" cy="4530725"/>
          </a:xfrm>
        </p:spPr>
        <p:txBody>
          <a:bodyPr/>
          <a:lstStyle/>
          <a:p>
            <a:pPr eaLnBrk="1" hangingPunct="1"/>
            <a:r>
              <a:rPr lang="en-US" altLang="en-US"/>
              <a:t>Under normal conditions such condition does not occur when the pulmonary artery pressure is high enough to maintain perfusion to the top of the lung.</a:t>
            </a:r>
          </a:p>
          <a:p>
            <a:pPr eaLnBrk="1" hangingPunct="1"/>
            <a:r>
              <a:rPr lang="en-US" altLang="en-US"/>
              <a:t>-  Zone 1. May occur, however, if arterial pressure is reduced by severe hemorrhage or if alveolar pressure is raised by positive pressure ventilation</a:t>
            </a:r>
          </a:p>
        </p:txBody>
      </p:sp>
      <p:sp>
        <p:nvSpPr>
          <p:cNvPr id="4" name="Date Placeholder 3">
            <a:extLst>
              <a:ext uri="{FF2B5EF4-FFF2-40B4-BE49-F238E27FC236}">
                <a16:creationId xmlns:a16="http://schemas.microsoft.com/office/drawing/2014/main" id="{7F6A11A1-B598-E0CA-6B39-57EFBD8A87C5}"/>
              </a:ext>
            </a:extLst>
          </p:cNvPr>
          <p:cNvSpPr>
            <a:spLocks noGrp="1"/>
          </p:cNvSpPr>
          <p:nvPr>
            <p:ph type="dt" sz="quarter" idx="10"/>
          </p:nvPr>
        </p:nvSpPr>
        <p:spPr/>
        <p:txBody>
          <a:bodyPr/>
          <a:lstStyle/>
          <a:p>
            <a:pPr>
              <a:defRPr/>
            </a:pPr>
            <a:fld id="{DAC48805-69FC-4510-8F60-5D52B933C8CC}" type="datetime1">
              <a:rPr lang="en-US"/>
              <a:pPr>
                <a:defRPr/>
              </a:pPr>
              <a:t>4/25/2025</a:t>
            </a:fld>
            <a:endParaRPr lang="en-US"/>
          </a:p>
        </p:txBody>
      </p:sp>
      <p:sp>
        <p:nvSpPr>
          <p:cNvPr id="36869" name="Slide Number Placeholder 4">
            <a:extLst>
              <a:ext uri="{FF2B5EF4-FFF2-40B4-BE49-F238E27FC236}">
                <a16:creationId xmlns:a16="http://schemas.microsoft.com/office/drawing/2014/main" id="{AF6D0A62-1548-A3DF-3323-189B84891F7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14B13B0-088A-4D87-972F-B3F1D9E2F015}" type="slidenum">
              <a:rPr lang="en-US" altLang="en-US" sz="1200" smtClean="0">
                <a:solidFill>
                  <a:srgbClr val="898989"/>
                </a:solidFill>
                <a:latin typeface="Arial" panose="020B0604020202020204" pitchFamily="34" charset="0"/>
              </a:rPr>
              <a:pPr>
                <a:spcBef>
                  <a:spcPct val="0"/>
                </a:spcBef>
                <a:buFontTx/>
                <a:buNone/>
              </a:pPr>
              <a:t>11</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9DC5993A-7C5D-E8BE-9752-1CDFD7FA03F2}"/>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EDE65346-E35C-7735-C7C4-C4D6F994492C}"/>
              </a:ext>
            </a:extLst>
          </p:cNvPr>
          <p:cNvSpPr>
            <a:spLocks noGrp="1"/>
          </p:cNvSpPr>
          <p:nvPr>
            <p:ph type="title"/>
          </p:nvPr>
        </p:nvSpPr>
        <p:spPr/>
        <p:txBody>
          <a:bodyPr/>
          <a:lstStyle/>
          <a:p>
            <a:pPr eaLnBrk="1" hangingPunct="1"/>
            <a:r>
              <a:rPr lang="en-US" altLang="en-US"/>
              <a:t>Physiology of the LDP</a:t>
            </a:r>
          </a:p>
        </p:txBody>
      </p:sp>
      <p:sp>
        <p:nvSpPr>
          <p:cNvPr id="37891" name="Content Placeholder 2">
            <a:extLst>
              <a:ext uri="{FF2B5EF4-FFF2-40B4-BE49-F238E27FC236}">
                <a16:creationId xmlns:a16="http://schemas.microsoft.com/office/drawing/2014/main" id="{FEAB3E17-7E19-FB3B-9682-42F26CB0F7F2}"/>
              </a:ext>
            </a:extLst>
          </p:cNvPr>
          <p:cNvSpPr>
            <a:spLocks noGrp="1"/>
          </p:cNvSpPr>
          <p:nvPr>
            <p:ph idx="1"/>
          </p:nvPr>
        </p:nvSpPr>
        <p:spPr>
          <a:xfrm>
            <a:off x="1524000" y="1447800"/>
            <a:ext cx="9144000" cy="5181600"/>
          </a:xfrm>
        </p:spPr>
        <p:txBody>
          <a:bodyPr/>
          <a:lstStyle/>
          <a:p>
            <a:pPr eaLnBrk="1" hangingPunct="1"/>
            <a:r>
              <a:rPr lang="en-US" altLang="en-US"/>
              <a:t>-  Further down the lung (zone. 2) the hydrostatic pressure is greater than at the top of the lung.  Pulmonary artery Pressure now exceeds alveolar pressure (P</a:t>
            </a:r>
            <a:r>
              <a:rPr lang="en-US" altLang="en-US" baseline="-25000"/>
              <a:t>Pa</a:t>
            </a:r>
            <a:r>
              <a:rPr lang="en-US" altLang="en-US"/>
              <a:t> &gt; P</a:t>
            </a:r>
            <a:r>
              <a:rPr lang="en-US" altLang="en-US" baseline="-25000"/>
              <a:t>A</a:t>
            </a:r>
            <a:r>
              <a:rPr lang="en-US" altLang="en-US"/>
              <a:t>), which in turn exceeds venous pressure</a:t>
            </a:r>
          </a:p>
          <a:p>
            <a:pPr eaLnBrk="1" hangingPunct="1"/>
            <a:r>
              <a:rPr lang="en-US" altLang="en-US"/>
              <a:t>Under these conditions, blood flow is determined by the difference between arterial and alveolar pressure and not by the usual arterial and venous difference, this has been called the starting resistor or water fall effect)</a:t>
            </a:r>
          </a:p>
          <a:p>
            <a:pPr eaLnBrk="1" hangingPunct="1"/>
            <a:endParaRPr lang="en-US" altLang="en-US"/>
          </a:p>
          <a:p>
            <a:pPr eaLnBrk="1" hangingPunct="1"/>
            <a:endParaRPr lang="en-US" altLang="en-US"/>
          </a:p>
        </p:txBody>
      </p:sp>
      <p:sp>
        <p:nvSpPr>
          <p:cNvPr id="4" name="Date Placeholder 3">
            <a:extLst>
              <a:ext uri="{FF2B5EF4-FFF2-40B4-BE49-F238E27FC236}">
                <a16:creationId xmlns:a16="http://schemas.microsoft.com/office/drawing/2014/main" id="{A9481C36-AE8D-28B6-CAA1-A52E1A9ED441}"/>
              </a:ext>
            </a:extLst>
          </p:cNvPr>
          <p:cNvSpPr>
            <a:spLocks noGrp="1"/>
          </p:cNvSpPr>
          <p:nvPr>
            <p:ph type="dt" sz="quarter" idx="10"/>
          </p:nvPr>
        </p:nvSpPr>
        <p:spPr/>
        <p:txBody>
          <a:bodyPr/>
          <a:lstStyle/>
          <a:p>
            <a:pPr>
              <a:defRPr/>
            </a:pPr>
            <a:fld id="{F73259A3-CCE1-4764-8107-E1D893F7583A}" type="datetime1">
              <a:rPr lang="en-US"/>
              <a:pPr>
                <a:defRPr/>
              </a:pPr>
              <a:t>4/25/2025</a:t>
            </a:fld>
            <a:endParaRPr lang="en-US"/>
          </a:p>
        </p:txBody>
      </p:sp>
      <p:sp>
        <p:nvSpPr>
          <p:cNvPr id="37893" name="Slide Number Placeholder 4">
            <a:extLst>
              <a:ext uri="{FF2B5EF4-FFF2-40B4-BE49-F238E27FC236}">
                <a16:creationId xmlns:a16="http://schemas.microsoft.com/office/drawing/2014/main" id="{7A9D810E-5CD9-0E45-B364-18D86FA3F4F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21C85DB-0B4E-4F47-B5A0-4A7EA4415B53}" type="slidenum">
              <a:rPr lang="en-US" altLang="en-US" sz="1200" smtClean="0">
                <a:solidFill>
                  <a:srgbClr val="898989"/>
                </a:solidFill>
                <a:latin typeface="Arial" panose="020B0604020202020204" pitchFamily="34" charset="0"/>
              </a:rPr>
              <a:pPr>
                <a:spcBef>
                  <a:spcPct val="0"/>
                </a:spcBef>
                <a:buFontTx/>
                <a:buNone/>
              </a:pPr>
              <a:t>12</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534B5042-1EA6-B41C-FCA5-6FAB37901B6E}"/>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a16="http://schemas.microsoft.com/office/drawing/2014/main" id="{872386D5-29E7-FBDB-31CC-24A3AAE43C62}"/>
              </a:ext>
            </a:extLst>
          </p:cNvPr>
          <p:cNvSpPr>
            <a:spLocks noGrp="1"/>
          </p:cNvSpPr>
          <p:nvPr>
            <p:ph type="title"/>
          </p:nvPr>
        </p:nvSpPr>
        <p:spPr/>
        <p:txBody>
          <a:bodyPr/>
          <a:lstStyle/>
          <a:p>
            <a:pPr eaLnBrk="1" hangingPunct="1"/>
            <a:r>
              <a:rPr lang="en-US" altLang="en-US"/>
              <a:t>Physiology of the LDP</a:t>
            </a:r>
          </a:p>
        </p:txBody>
      </p:sp>
      <p:sp>
        <p:nvSpPr>
          <p:cNvPr id="3" name="Content Placeholder 2">
            <a:extLst>
              <a:ext uri="{FF2B5EF4-FFF2-40B4-BE49-F238E27FC236}">
                <a16:creationId xmlns:a16="http://schemas.microsoft.com/office/drawing/2014/main" id="{0025568D-175F-3A85-3582-405C6CBB6C3C}"/>
              </a:ext>
            </a:extLst>
          </p:cNvPr>
          <p:cNvSpPr>
            <a:spLocks noGrp="1"/>
          </p:cNvSpPr>
          <p:nvPr>
            <p:ph idx="1"/>
          </p:nvPr>
        </p:nvSpPr>
        <p:spPr>
          <a:xfrm>
            <a:off x="1524000" y="1600200"/>
            <a:ext cx="9144000" cy="4876800"/>
          </a:xfrm>
        </p:spPr>
        <p:txBody>
          <a:bodyPr/>
          <a:lstStyle/>
          <a:p>
            <a:pPr eaLnBrk="1" hangingPunct="1"/>
            <a:r>
              <a:rPr lang="en-US" altLang="en-US"/>
              <a:t>the blood flow in zone 3 is determined by the usual arterial -venous pressure difference </a:t>
            </a:r>
          </a:p>
          <a:p>
            <a:pPr eaLnBrk="1" hangingPunct="1">
              <a:buFont typeface="Wingdings" panose="05000000000000000000" pitchFamily="2" charset="2"/>
              <a:buNone/>
            </a:pPr>
            <a:r>
              <a:rPr lang="en-US" altLang="en-US"/>
              <a:t>            (P</a:t>
            </a:r>
            <a:r>
              <a:rPr lang="en-US" altLang="en-US" baseline="-25000"/>
              <a:t>Pa</a:t>
            </a:r>
            <a:r>
              <a:rPr lang="en-US" altLang="en-US"/>
              <a:t> &gt; P</a:t>
            </a:r>
            <a:r>
              <a:rPr lang="en-US" altLang="en-US" baseline="-25000"/>
              <a:t>PV</a:t>
            </a:r>
            <a:r>
              <a:rPr lang="en-US" altLang="en-US"/>
              <a:t>).  </a:t>
            </a:r>
          </a:p>
          <a:p>
            <a:pPr eaLnBrk="1" hangingPunct="1"/>
            <a:r>
              <a:rPr lang="en-US" altLang="en-US"/>
              <a:t>The pressure immediately outside the vessels (i.e the pleural pressure) becomes only slightly less negative in more dependent lung regions, but the arterial - venous pressure with in the vessels is increasing standing down the zone</a:t>
            </a:r>
          </a:p>
        </p:txBody>
      </p:sp>
      <p:sp>
        <p:nvSpPr>
          <p:cNvPr id="4" name="Date Placeholder 3">
            <a:extLst>
              <a:ext uri="{FF2B5EF4-FFF2-40B4-BE49-F238E27FC236}">
                <a16:creationId xmlns:a16="http://schemas.microsoft.com/office/drawing/2014/main" id="{58FF38CF-77C3-1CDD-B121-CD57B4C8DC77}"/>
              </a:ext>
            </a:extLst>
          </p:cNvPr>
          <p:cNvSpPr>
            <a:spLocks noGrp="1"/>
          </p:cNvSpPr>
          <p:nvPr>
            <p:ph type="dt" sz="quarter" idx="10"/>
          </p:nvPr>
        </p:nvSpPr>
        <p:spPr/>
        <p:txBody>
          <a:bodyPr/>
          <a:lstStyle/>
          <a:p>
            <a:pPr>
              <a:defRPr/>
            </a:pPr>
            <a:fld id="{C5BC7052-0BA0-4995-9E67-6501181625C5}" type="datetime1">
              <a:rPr lang="en-US"/>
              <a:pPr>
                <a:defRPr/>
              </a:pPr>
              <a:t>4/25/2025</a:t>
            </a:fld>
            <a:endParaRPr lang="en-US"/>
          </a:p>
        </p:txBody>
      </p:sp>
      <p:sp>
        <p:nvSpPr>
          <p:cNvPr id="38917" name="Slide Number Placeholder 4">
            <a:extLst>
              <a:ext uri="{FF2B5EF4-FFF2-40B4-BE49-F238E27FC236}">
                <a16:creationId xmlns:a16="http://schemas.microsoft.com/office/drawing/2014/main" id="{6D9512B7-D195-886C-B5BD-2D4769A38DC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0359AF0-FA9A-482A-8900-B43CF50E0AD4}" type="slidenum">
              <a:rPr lang="en-US" altLang="en-US" sz="1200" smtClean="0">
                <a:solidFill>
                  <a:srgbClr val="898989"/>
                </a:solidFill>
                <a:latin typeface="Arial" panose="020B0604020202020204" pitchFamily="34" charset="0"/>
              </a:rPr>
              <a:pPr>
                <a:spcBef>
                  <a:spcPct val="0"/>
                </a:spcBef>
                <a:buFontTx/>
                <a:buNone/>
              </a:pPr>
              <a:t>13</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6E0E229E-4014-6914-2A01-6D7089F9F1DE}"/>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7D764D1F-6543-395C-08F1-989BADD71BE1}"/>
              </a:ext>
            </a:extLst>
          </p:cNvPr>
          <p:cNvSpPr>
            <a:spLocks noGrp="1"/>
          </p:cNvSpPr>
          <p:nvPr>
            <p:ph type="title"/>
          </p:nvPr>
        </p:nvSpPr>
        <p:spPr/>
        <p:txBody>
          <a:bodyPr/>
          <a:lstStyle/>
          <a:p>
            <a:pPr eaLnBrk="1" hangingPunct="1"/>
            <a:r>
              <a:rPr lang="en-US" altLang="en-US"/>
              <a:t>Physiology of the LDP</a:t>
            </a:r>
          </a:p>
        </p:txBody>
      </p:sp>
      <p:sp>
        <p:nvSpPr>
          <p:cNvPr id="3" name="Content Placeholder 2">
            <a:extLst>
              <a:ext uri="{FF2B5EF4-FFF2-40B4-BE49-F238E27FC236}">
                <a16:creationId xmlns:a16="http://schemas.microsoft.com/office/drawing/2014/main" id="{1E9D8FA4-78D4-4E5E-408F-0EE03A4966CC}"/>
              </a:ext>
            </a:extLst>
          </p:cNvPr>
          <p:cNvSpPr>
            <a:spLocks noGrp="1"/>
          </p:cNvSpPr>
          <p:nvPr>
            <p:ph idx="1"/>
          </p:nvPr>
        </p:nvSpPr>
        <p:spPr>
          <a:xfrm>
            <a:off x="1524000" y="1600200"/>
            <a:ext cx="9144000" cy="5257800"/>
          </a:xfrm>
        </p:spPr>
        <p:txBody>
          <a:bodyPr/>
          <a:lstStyle/>
          <a:p>
            <a:pPr eaLnBrk="1" hangingPunct="1"/>
            <a:r>
              <a:rPr lang="en-US" altLang="en-US"/>
              <a:t>In the most dependent regions of the lung fluid may transudat out of the pulmonary Capillaries and veins into the pulmonary interstitial compartment, with conversion of the normally present negative pressure to a positive interstitial pressure.</a:t>
            </a:r>
          </a:p>
          <a:p>
            <a:pPr eaLnBrk="1" hangingPunct="1"/>
            <a:r>
              <a:rPr lang="en-US" altLang="en-US"/>
              <a:t> The interstitial pressure (P</a:t>
            </a:r>
            <a:r>
              <a:rPr lang="en-US" altLang="en-US" baseline="-25000"/>
              <a:t>I</a:t>
            </a:r>
            <a:r>
              <a:rPr lang="en-US" altLang="en-US"/>
              <a:t>) increases to compress and reduce the diameter of the vessels (zone – 3&amp;4) and this may lead to decrease regional blood flow</a:t>
            </a:r>
          </a:p>
          <a:p>
            <a:pPr eaLnBrk="1" hangingPunct="1"/>
            <a:endParaRPr lang="en-US" altLang="en-US"/>
          </a:p>
        </p:txBody>
      </p:sp>
      <p:sp>
        <p:nvSpPr>
          <p:cNvPr id="4" name="Date Placeholder 3">
            <a:extLst>
              <a:ext uri="{FF2B5EF4-FFF2-40B4-BE49-F238E27FC236}">
                <a16:creationId xmlns:a16="http://schemas.microsoft.com/office/drawing/2014/main" id="{5DE06431-1BF0-A7BB-DD4D-BE4436991B6E}"/>
              </a:ext>
            </a:extLst>
          </p:cNvPr>
          <p:cNvSpPr>
            <a:spLocks noGrp="1"/>
          </p:cNvSpPr>
          <p:nvPr>
            <p:ph type="dt" sz="quarter" idx="10"/>
          </p:nvPr>
        </p:nvSpPr>
        <p:spPr/>
        <p:txBody>
          <a:bodyPr/>
          <a:lstStyle/>
          <a:p>
            <a:pPr>
              <a:defRPr/>
            </a:pPr>
            <a:fld id="{82528B69-DCD7-41E8-9C9F-480BB9C8C5E4}" type="datetime1">
              <a:rPr lang="en-US"/>
              <a:pPr>
                <a:defRPr/>
              </a:pPr>
              <a:t>4/25/2025</a:t>
            </a:fld>
            <a:endParaRPr lang="en-US"/>
          </a:p>
        </p:txBody>
      </p:sp>
      <p:sp>
        <p:nvSpPr>
          <p:cNvPr id="39941" name="Slide Number Placeholder 4">
            <a:extLst>
              <a:ext uri="{FF2B5EF4-FFF2-40B4-BE49-F238E27FC236}">
                <a16:creationId xmlns:a16="http://schemas.microsoft.com/office/drawing/2014/main" id="{66ED9E8B-9724-46EC-E7F0-6E74AE7E501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3D32BA3-A449-4027-98FB-877FEE9115F3}" type="slidenum">
              <a:rPr lang="en-US" altLang="en-US" sz="1200" smtClean="0">
                <a:solidFill>
                  <a:srgbClr val="898989"/>
                </a:solidFill>
                <a:latin typeface="Arial" panose="020B0604020202020204" pitchFamily="34" charset="0"/>
              </a:rPr>
              <a:pPr>
                <a:spcBef>
                  <a:spcPct val="0"/>
                </a:spcBef>
                <a:buFontTx/>
                <a:buNone/>
              </a:pPr>
              <a:t>14</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461296AB-5B90-89C1-AAFF-6DA7387F2D60}"/>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B1A215E4-03B2-CA6A-EE97-626FA1E7A610}"/>
              </a:ext>
            </a:extLst>
          </p:cNvPr>
          <p:cNvSpPr>
            <a:spLocks noGrp="1"/>
          </p:cNvSpPr>
          <p:nvPr>
            <p:ph type="title"/>
          </p:nvPr>
        </p:nvSpPr>
        <p:spPr/>
        <p:txBody>
          <a:bodyPr/>
          <a:lstStyle/>
          <a:p>
            <a:pPr eaLnBrk="1" hangingPunct="1"/>
            <a:r>
              <a:rPr lang="en-US" altLang="en-US"/>
              <a:t>Physiology of the LDP</a:t>
            </a:r>
          </a:p>
        </p:txBody>
      </p:sp>
      <p:sp>
        <p:nvSpPr>
          <p:cNvPr id="3" name="Content Placeholder 2">
            <a:extLst>
              <a:ext uri="{FF2B5EF4-FFF2-40B4-BE49-F238E27FC236}">
                <a16:creationId xmlns:a16="http://schemas.microsoft.com/office/drawing/2014/main" id="{B095BA72-8B7D-6A03-F898-A5F03740CEEF}"/>
              </a:ext>
            </a:extLst>
          </p:cNvPr>
          <p:cNvSpPr>
            <a:spLocks noGrp="1"/>
          </p:cNvSpPr>
          <p:nvPr>
            <p:ph idx="1"/>
          </p:nvPr>
        </p:nvSpPr>
        <p:spPr>
          <a:xfrm>
            <a:off x="1524000" y="1600200"/>
            <a:ext cx="9144000" cy="4530725"/>
          </a:xfrm>
        </p:spPr>
        <p:txBody>
          <a:bodyPr/>
          <a:lstStyle/>
          <a:p>
            <a:pPr eaLnBrk="1" hangingPunct="1"/>
            <a:r>
              <a:rPr lang="en-US" altLang="en-US"/>
              <a:t>Thoracic surgery is undertaken in the lateral position &amp;the terms </a:t>
            </a:r>
          </a:p>
          <a:p>
            <a:pPr lvl="1" eaLnBrk="1" hangingPunct="1"/>
            <a:r>
              <a:rPr lang="en-US" altLang="en-US"/>
              <a:t>Non-dependent (operative collapsed lung) and</a:t>
            </a:r>
          </a:p>
          <a:p>
            <a:pPr lvl="1" eaLnBrk="1" hangingPunct="1"/>
            <a:r>
              <a:rPr lang="en-US" altLang="en-US"/>
              <a:t> Dependent lung ( continuously ventilated normal lung )</a:t>
            </a:r>
          </a:p>
          <a:p>
            <a:pPr lvl="1" eaLnBrk="1" hangingPunct="1"/>
            <a:endParaRPr lang="en-US" altLang="en-US"/>
          </a:p>
        </p:txBody>
      </p:sp>
      <p:sp>
        <p:nvSpPr>
          <p:cNvPr id="4" name="Date Placeholder 3">
            <a:extLst>
              <a:ext uri="{FF2B5EF4-FFF2-40B4-BE49-F238E27FC236}">
                <a16:creationId xmlns:a16="http://schemas.microsoft.com/office/drawing/2014/main" id="{2BA6AD35-1E8C-3AE9-B88F-6E104A546EF1}"/>
              </a:ext>
            </a:extLst>
          </p:cNvPr>
          <p:cNvSpPr>
            <a:spLocks noGrp="1"/>
          </p:cNvSpPr>
          <p:nvPr>
            <p:ph type="dt" sz="quarter" idx="10"/>
          </p:nvPr>
        </p:nvSpPr>
        <p:spPr/>
        <p:txBody>
          <a:bodyPr/>
          <a:lstStyle/>
          <a:p>
            <a:pPr>
              <a:defRPr/>
            </a:pPr>
            <a:fld id="{825A3A25-CC55-4D89-9B23-FB11128E0804}" type="datetime1">
              <a:rPr lang="en-US"/>
              <a:pPr>
                <a:defRPr/>
              </a:pPr>
              <a:t>4/25/2025</a:t>
            </a:fld>
            <a:endParaRPr lang="en-US"/>
          </a:p>
        </p:txBody>
      </p:sp>
      <p:sp>
        <p:nvSpPr>
          <p:cNvPr id="40965" name="Slide Number Placeholder 4">
            <a:extLst>
              <a:ext uri="{FF2B5EF4-FFF2-40B4-BE49-F238E27FC236}">
                <a16:creationId xmlns:a16="http://schemas.microsoft.com/office/drawing/2014/main" id="{3772CC2C-555A-326A-3F75-A5E124441B3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CC34867-0E0E-4130-9FD4-7D6F481DF8B5}" type="slidenum">
              <a:rPr lang="en-US" altLang="en-US" sz="1200" smtClean="0">
                <a:solidFill>
                  <a:srgbClr val="898989"/>
                </a:solidFill>
                <a:latin typeface="Arial" panose="020B0604020202020204" pitchFamily="34" charset="0"/>
              </a:rPr>
              <a:pPr>
                <a:spcBef>
                  <a:spcPct val="0"/>
                </a:spcBef>
                <a:buFontTx/>
                <a:buNone/>
              </a:pPr>
              <a:t>15</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1CD25BE6-B000-8A21-E695-2424CEEBADBF}"/>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0C960CF0-D32F-DFC9-8827-F8114362F97F}"/>
              </a:ext>
            </a:extLst>
          </p:cNvPr>
          <p:cNvSpPr>
            <a:spLocks noGrp="1"/>
          </p:cNvSpPr>
          <p:nvPr>
            <p:ph type="title"/>
          </p:nvPr>
        </p:nvSpPr>
        <p:spPr/>
        <p:txBody>
          <a:bodyPr/>
          <a:lstStyle/>
          <a:p>
            <a:pPr eaLnBrk="1" hangingPunct="1"/>
            <a:r>
              <a:rPr lang="en-US" altLang="en-US"/>
              <a:t>The effect of LDP ON V/Q</a:t>
            </a:r>
          </a:p>
        </p:txBody>
      </p:sp>
      <p:sp>
        <p:nvSpPr>
          <p:cNvPr id="3" name="Content Placeholder 2">
            <a:extLst>
              <a:ext uri="{FF2B5EF4-FFF2-40B4-BE49-F238E27FC236}">
                <a16:creationId xmlns:a16="http://schemas.microsoft.com/office/drawing/2014/main" id="{5640F877-C7BA-1A2E-2A59-58F7102A9454}"/>
              </a:ext>
            </a:extLst>
          </p:cNvPr>
          <p:cNvSpPr>
            <a:spLocks noGrp="1"/>
          </p:cNvSpPr>
          <p:nvPr>
            <p:ph idx="1"/>
          </p:nvPr>
        </p:nvSpPr>
        <p:spPr>
          <a:xfrm>
            <a:off x="1524000" y="1600200"/>
            <a:ext cx="9144000" cy="4876800"/>
          </a:xfrm>
        </p:spPr>
        <p:txBody>
          <a:bodyPr/>
          <a:lstStyle/>
          <a:p>
            <a:pPr eaLnBrk="1" hangingPunct="1">
              <a:buFont typeface="Wingdings" panose="05000000000000000000" pitchFamily="2" charset="2"/>
              <a:buNone/>
            </a:pPr>
            <a:r>
              <a:rPr lang="en-US" altLang="en-US" b="1"/>
              <a:t> 1-Lateral position, awake, breathing spontaneously</a:t>
            </a:r>
          </a:p>
          <a:p>
            <a:pPr eaLnBrk="1" hangingPunct="1"/>
            <a:r>
              <a:rPr lang="en-US" altLang="en-US"/>
              <a:t>In the lateral decubitus position, the distribution of blood flow and ventilation is similar to that in the upright position and is gravity dependent</a:t>
            </a:r>
          </a:p>
          <a:p>
            <a:pPr eaLnBrk="1" hangingPunct="1"/>
            <a:r>
              <a:rPr lang="en-US" altLang="en-US"/>
              <a:t>Blood flow and ventilation to the dependent lung are significantly greater than to the nondependent lung</a:t>
            </a:r>
          </a:p>
          <a:p>
            <a:pPr eaLnBrk="1" hangingPunct="1"/>
            <a:endParaRPr lang="en-US" altLang="en-US"/>
          </a:p>
        </p:txBody>
      </p:sp>
      <p:sp>
        <p:nvSpPr>
          <p:cNvPr id="4" name="Date Placeholder 3">
            <a:extLst>
              <a:ext uri="{FF2B5EF4-FFF2-40B4-BE49-F238E27FC236}">
                <a16:creationId xmlns:a16="http://schemas.microsoft.com/office/drawing/2014/main" id="{07E50C02-CEDA-E967-2898-96B6C5C74968}"/>
              </a:ext>
            </a:extLst>
          </p:cNvPr>
          <p:cNvSpPr>
            <a:spLocks noGrp="1"/>
          </p:cNvSpPr>
          <p:nvPr>
            <p:ph type="dt" sz="quarter" idx="10"/>
          </p:nvPr>
        </p:nvSpPr>
        <p:spPr/>
        <p:txBody>
          <a:bodyPr/>
          <a:lstStyle/>
          <a:p>
            <a:pPr>
              <a:defRPr/>
            </a:pPr>
            <a:fld id="{C6267AE2-C8C1-4AB2-AD21-A10095BEEEFE}" type="datetime1">
              <a:rPr lang="en-US"/>
              <a:pPr>
                <a:defRPr/>
              </a:pPr>
              <a:t>4/25/2025</a:t>
            </a:fld>
            <a:endParaRPr lang="en-US"/>
          </a:p>
        </p:txBody>
      </p:sp>
      <p:sp>
        <p:nvSpPr>
          <p:cNvPr id="41989" name="Slide Number Placeholder 4">
            <a:extLst>
              <a:ext uri="{FF2B5EF4-FFF2-40B4-BE49-F238E27FC236}">
                <a16:creationId xmlns:a16="http://schemas.microsoft.com/office/drawing/2014/main" id="{EB92D442-660F-B61F-CF7D-C705889E850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A4C877E-0215-44C2-99B1-CCD92FBC16BD}" type="slidenum">
              <a:rPr lang="en-US" altLang="en-US" sz="1200" smtClean="0">
                <a:solidFill>
                  <a:srgbClr val="898989"/>
                </a:solidFill>
                <a:latin typeface="Arial" panose="020B0604020202020204" pitchFamily="34" charset="0"/>
              </a:rPr>
              <a:pPr>
                <a:spcBef>
                  <a:spcPct val="0"/>
                </a:spcBef>
                <a:buFontTx/>
                <a:buNone/>
              </a:pPr>
              <a:t>16</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343E3A05-C6C3-4F09-FCE0-C5E46EA3BBFC}"/>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5FCE1677-89C4-8FDE-C3C2-91117C53680E}"/>
              </a:ext>
            </a:extLst>
          </p:cNvPr>
          <p:cNvSpPr>
            <a:spLocks noGrp="1"/>
          </p:cNvSpPr>
          <p:nvPr>
            <p:ph type="title"/>
          </p:nvPr>
        </p:nvSpPr>
        <p:spPr/>
        <p:txBody>
          <a:bodyPr/>
          <a:lstStyle/>
          <a:p>
            <a:pPr eaLnBrk="1" hangingPunct="1"/>
            <a:r>
              <a:rPr lang="en-US" altLang="en-US"/>
              <a:t>The effect of LDP ON V/Q</a:t>
            </a:r>
          </a:p>
        </p:txBody>
      </p:sp>
      <p:sp>
        <p:nvSpPr>
          <p:cNvPr id="3" name="Content Placeholder 2">
            <a:extLst>
              <a:ext uri="{FF2B5EF4-FFF2-40B4-BE49-F238E27FC236}">
                <a16:creationId xmlns:a16="http://schemas.microsoft.com/office/drawing/2014/main" id="{6C30B955-CE86-69EF-6404-1AF804C82AE6}"/>
              </a:ext>
            </a:extLst>
          </p:cNvPr>
          <p:cNvSpPr>
            <a:spLocks noGrp="1"/>
          </p:cNvSpPr>
          <p:nvPr>
            <p:ph idx="1"/>
          </p:nvPr>
        </p:nvSpPr>
        <p:spPr>
          <a:xfrm>
            <a:off x="1524000" y="1600200"/>
            <a:ext cx="9144000" cy="4530725"/>
          </a:xfrm>
        </p:spPr>
        <p:txBody>
          <a:bodyPr/>
          <a:lstStyle/>
          <a:p>
            <a:pPr eaLnBrk="1" hangingPunct="1"/>
            <a:r>
              <a:rPr lang="en-US" altLang="en-US"/>
              <a:t>Good V/Q (Ventilation perfusion) matching at the level of the dependent lung results in adequate oxygenation in the awake patient breathing spontaneously.</a:t>
            </a:r>
          </a:p>
          <a:p>
            <a:pPr eaLnBrk="1" hangingPunct="1"/>
            <a:r>
              <a:rPr lang="en-US" altLang="en-US"/>
              <a:t>There are two important concepts affect the distribution of blood  in  LDP as compared to upright.</a:t>
            </a:r>
          </a:p>
          <a:p>
            <a:pPr eaLnBrk="1" hangingPunct="1">
              <a:buFont typeface="Wingdings" panose="05000000000000000000" pitchFamily="2" charset="2"/>
              <a:buNone/>
            </a:pPr>
            <a:endParaRPr lang="en-US" altLang="en-US"/>
          </a:p>
          <a:p>
            <a:pPr eaLnBrk="1" hangingPunct="1"/>
            <a:endParaRPr lang="en-US" altLang="en-US"/>
          </a:p>
        </p:txBody>
      </p:sp>
      <p:sp>
        <p:nvSpPr>
          <p:cNvPr id="4" name="Date Placeholder 3">
            <a:extLst>
              <a:ext uri="{FF2B5EF4-FFF2-40B4-BE49-F238E27FC236}">
                <a16:creationId xmlns:a16="http://schemas.microsoft.com/office/drawing/2014/main" id="{28AF80D2-8B96-F3FA-892B-4AFE6EF2E359}"/>
              </a:ext>
            </a:extLst>
          </p:cNvPr>
          <p:cNvSpPr>
            <a:spLocks noGrp="1"/>
          </p:cNvSpPr>
          <p:nvPr>
            <p:ph type="dt" sz="quarter" idx="10"/>
          </p:nvPr>
        </p:nvSpPr>
        <p:spPr/>
        <p:txBody>
          <a:bodyPr/>
          <a:lstStyle/>
          <a:p>
            <a:pPr>
              <a:defRPr/>
            </a:pPr>
            <a:fld id="{44B739E0-C65B-4616-8A4A-FC5231C45853}" type="datetime1">
              <a:rPr lang="en-US"/>
              <a:pPr>
                <a:defRPr/>
              </a:pPr>
              <a:t>4/25/2025</a:t>
            </a:fld>
            <a:endParaRPr lang="en-US"/>
          </a:p>
        </p:txBody>
      </p:sp>
      <p:sp>
        <p:nvSpPr>
          <p:cNvPr id="43013" name="Slide Number Placeholder 4">
            <a:extLst>
              <a:ext uri="{FF2B5EF4-FFF2-40B4-BE49-F238E27FC236}">
                <a16:creationId xmlns:a16="http://schemas.microsoft.com/office/drawing/2014/main" id="{14C1EA4B-B53F-7B6E-4E1D-A3480BED7E4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A831171-F12D-4783-9B75-5848901F3752}" type="slidenum">
              <a:rPr lang="en-US" altLang="en-US" sz="1200" smtClean="0">
                <a:solidFill>
                  <a:srgbClr val="898989"/>
                </a:solidFill>
                <a:latin typeface="Arial" panose="020B0604020202020204" pitchFamily="34" charset="0"/>
              </a:rPr>
              <a:pPr>
                <a:spcBef>
                  <a:spcPct val="0"/>
                </a:spcBef>
                <a:buFontTx/>
                <a:buNone/>
              </a:pPr>
              <a:t>17</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15DDFC6A-8901-8C81-A5BC-9716366B5640}"/>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A33F8E3D-3723-C432-5D73-69769E09239C}"/>
              </a:ext>
            </a:extLst>
          </p:cNvPr>
          <p:cNvSpPr>
            <a:spLocks noGrp="1"/>
          </p:cNvSpPr>
          <p:nvPr>
            <p:ph type="title"/>
          </p:nvPr>
        </p:nvSpPr>
        <p:spPr/>
        <p:txBody>
          <a:bodyPr/>
          <a:lstStyle/>
          <a:p>
            <a:pPr eaLnBrk="1" hangingPunct="1"/>
            <a:r>
              <a:rPr lang="en-US" altLang="en-US"/>
              <a:t>The effect of LDP ON V/Q</a:t>
            </a:r>
          </a:p>
        </p:txBody>
      </p:sp>
      <p:sp>
        <p:nvSpPr>
          <p:cNvPr id="3" name="Content Placeholder 2">
            <a:extLst>
              <a:ext uri="{FF2B5EF4-FFF2-40B4-BE49-F238E27FC236}">
                <a16:creationId xmlns:a16="http://schemas.microsoft.com/office/drawing/2014/main" id="{8B259F2B-8087-D181-072A-580FECC01FF9}"/>
              </a:ext>
            </a:extLst>
          </p:cNvPr>
          <p:cNvSpPr>
            <a:spLocks noGrp="1"/>
          </p:cNvSpPr>
          <p:nvPr>
            <p:ph idx="1"/>
          </p:nvPr>
        </p:nvSpPr>
        <p:spPr>
          <a:xfrm>
            <a:off x="1524000" y="1600200"/>
            <a:ext cx="9144000" cy="4530725"/>
          </a:xfrm>
        </p:spPr>
        <p:txBody>
          <a:bodyPr/>
          <a:lstStyle/>
          <a:p>
            <a:pPr marL="514350" indent="-514350" eaLnBrk="1" hangingPunct="1">
              <a:buFont typeface="Wingdings" panose="05000000000000000000" pitchFamily="2" charset="2"/>
              <a:buAutoNum type="arabicPeriod"/>
            </a:pPr>
            <a:r>
              <a:rPr lang="en-US" altLang="en-US"/>
              <a:t>the vertical hydrostatic gradient is smaller in the lateral as compared to the upright position; therefore, zone 1 is usually less extended. </a:t>
            </a:r>
          </a:p>
          <a:p>
            <a:pPr marL="514350" indent="-514350" eaLnBrk="1" hangingPunct="1">
              <a:buFont typeface="Wingdings" panose="05000000000000000000" pitchFamily="2" charset="2"/>
              <a:buAutoNum type="arabicPeriod"/>
            </a:pPr>
            <a:r>
              <a:rPr lang="en-US" altLang="en-US"/>
              <a:t>In regard to ventilation, the dependent hemi diaphragm is pushed higher in to the chest by the abdominal contents as compared with the nondependent lung hemi diaphragm. </a:t>
            </a:r>
          </a:p>
        </p:txBody>
      </p:sp>
      <p:sp>
        <p:nvSpPr>
          <p:cNvPr id="4" name="Date Placeholder 3">
            <a:extLst>
              <a:ext uri="{FF2B5EF4-FFF2-40B4-BE49-F238E27FC236}">
                <a16:creationId xmlns:a16="http://schemas.microsoft.com/office/drawing/2014/main" id="{FBFEC211-DB88-F96B-75EF-0A06F91EFC4F}"/>
              </a:ext>
            </a:extLst>
          </p:cNvPr>
          <p:cNvSpPr>
            <a:spLocks noGrp="1"/>
          </p:cNvSpPr>
          <p:nvPr>
            <p:ph type="dt" sz="quarter" idx="10"/>
          </p:nvPr>
        </p:nvSpPr>
        <p:spPr/>
        <p:txBody>
          <a:bodyPr/>
          <a:lstStyle/>
          <a:p>
            <a:pPr>
              <a:defRPr/>
            </a:pPr>
            <a:fld id="{A5A90B62-F4B9-400F-872F-BB09C1654D41}" type="datetime1">
              <a:rPr lang="en-US"/>
              <a:pPr>
                <a:defRPr/>
              </a:pPr>
              <a:t>4/25/2025</a:t>
            </a:fld>
            <a:endParaRPr lang="en-US"/>
          </a:p>
        </p:txBody>
      </p:sp>
      <p:sp>
        <p:nvSpPr>
          <p:cNvPr id="44037" name="Slide Number Placeholder 4">
            <a:extLst>
              <a:ext uri="{FF2B5EF4-FFF2-40B4-BE49-F238E27FC236}">
                <a16:creationId xmlns:a16="http://schemas.microsoft.com/office/drawing/2014/main" id="{CDB8F1BE-4E2B-E76D-7288-20583F416BE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00B2CFD-96F8-4FBA-AD9B-B1A15FDF0C6A}" type="slidenum">
              <a:rPr lang="en-US" altLang="en-US" sz="1200" smtClean="0">
                <a:solidFill>
                  <a:srgbClr val="898989"/>
                </a:solidFill>
                <a:latin typeface="Arial" panose="020B0604020202020204" pitchFamily="34" charset="0"/>
              </a:rPr>
              <a:pPr>
                <a:spcBef>
                  <a:spcPct val="0"/>
                </a:spcBef>
                <a:buFontTx/>
                <a:buNone/>
              </a:pPr>
              <a:t>18</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129DB58E-EBC0-6B38-8D96-986F98B15ABB}"/>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a16="http://schemas.microsoft.com/office/drawing/2014/main" id="{6331E1A3-F18A-AF07-741D-A6267B4AA4A9}"/>
              </a:ext>
            </a:extLst>
          </p:cNvPr>
          <p:cNvSpPr>
            <a:spLocks noGrp="1"/>
          </p:cNvSpPr>
          <p:nvPr>
            <p:ph type="title"/>
          </p:nvPr>
        </p:nvSpPr>
        <p:spPr/>
        <p:txBody>
          <a:bodyPr/>
          <a:lstStyle/>
          <a:p>
            <a:pPr eaLnBrk="1" hangingPunct="1"/>
            <a:r>
              <a:rPr lang="en-US" altLang="en-US"/>
              <a:t>The effect of LDP ON V/Q</a:t>
            </a:r>
          </a:p>
        </p:txBody>
      </p:sp>
      <p:sp>
        <p:nvSpPr>
          <p:cNvPr id="3" name="Content Placeholder 2">
            <a:extLst>
              <a:ext uri="{FF2B5EF4-FFF2-40B4-BE49-F238E27FC236}">
                <a16:creationId xmlns:a16="http://schemas.microsoft.com/office/drawing/2014/main" id="{9EE58AE2-39F6-2AB5-9629-8AA176FFF32A}"/>
              </a:ext>
            </a:extLst>
          </p:cNvPr>
          <p:cNvSpPr>
            <a:spLocks noGrp="1"/>
          </p:cNvSpPr>
          <p:nvPr>
            <p:ph idx="1"/>
          </p:nvPr>
        </p:nvSpPr>
        <p:spPr>
          <a:xfrm>
            <a:off x="1524000" y="1600200"/>
            <a:ext cx="9144000" cy="4530725"/>
          </a:xfrm>
        </p:spPr>
        <p:txBody>
          <a:bodyPr/>
          <a:lstStyle/>
          <a:p>
            <a:pPr eaLnBrk="1" hangingPunct="1"/>
            <a:r>
              <a:rPr lang="en-US" altLang="en-US"/>
              <a:t>During spontaneous ventilation, the conserved ability of the dependent diaphragm to contract will result inadequate distribution of tidal volume to the dependent lung. </a:t>
            </a:r>
          </a:p>
          <a:p>
            <a:pPr eaLnBrk="1" hangingPunct="1"/>
            <a:r>
              <a:rPr lang="en-US" altLang="en-US"/>
              <a:t>Because most of the perfusion is to the dependent lung, the V/Q matching in this position is maintained similar to that in the upright position.</a:t>
            </a:r>
          </a:p>
          <a:p>
            <a:pPr eaLnBrk="1" hangingPunct="1"/>
            <a:endParaRPr lang="en-US" altLang="en-US"/>
          </a:p>
        </p:txBody>
      </p:sp>
      <p:sp>
        <p:nvSpPr>
          <p:cNvPr id="4" name="Date Placeholder 3">
            <a:extLst>
              <a:ext uri="{FF2B5EF4-FFF2-40B4-BE49-F238E27FC236}">
                <a16:creationId xmlns:a16="http://schemas.microsoft.com/office/drawing/2014/main" id="{F9215877-24A8-52DB-52DF-5BA3687BD0F0}"/>
              </a:ext>
            </a:extLst>
          </p:cNvPr>
          <p:cNvSpPr>
            <a:spLocks noGrp="1"/>
          </p:cNvSpPr>
          <p:nvPr>
            <p:ph type="dt" sz="quarter" idx="10"/>
          </p:nvPr>
        </p:nvSpPr>
        <p:spPr/>
        <p:txBody>
          <a:bodyPr/>
          <a:lstStyle/>
          <a:p>
            <a:pPr>
              <a:defRPr/>
            </a:pPr>
            <a:fld id="{D26B0E17-DDCD-4A8A-A7C2-BA2BBA09A17E}" type="datetime1">
              <a:rPr lang="en-US"/>
              <a:pPr>
                <a:defRPr/>
              </a:pPr>
              <a:t>4/25/2025</a:t>
            </a:fld>
            <a:endParaRPr lang="en-US"/>
          </a:p>
        </p:txBody>
      </p:sp>
      <p:sp>
        <p:nvSpPr>
          <p:cNvPr id="45061" name="Slide Number Placeholder 4">
            <a:extLst>
              <a:ext uri="{FF2B5EF4-FFF2-40B4-BE49-F238E27FC236}">
                <a16:creationId xmlns:a16="http://schemas.microsoft.com/office/drawing/2014/main" id="{5907B454-080B-0E11-2544-9924F6DDE8F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4FFCABD-004F-441C-AE6C-23BDB5E49177}" type="slidenum">
              <a:rPr lang="en-US" altLang="en-US" sz="1200" smtClean="0">
                <a:solidFill>
                  <a:srgbClr val="898989"/>
                </a:solidFill>
                <a:latin typeface="Arial" panose="020B0604020202020204" pitchFamily="34" charset="0"/>
              </a:rPr>
              <a:pPr>
                <a:spcBef>
                  <a:spcPct val="0"/>
                </a:spcBef>
                <a:buFontTx/>
                <a:buNone/>
              </a:pPr>
              <a:t>19</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1610DF7E-017D-0524-D43E-855F96C96ADA}"/>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8E098488-55A3-A073-772B-88944F5053B4}"/>
              </a:ext>
            </a:extLst>
          </p:cNvPr>
          <p:cNvSpPr>
            <a:spLocks noGrp="1"/>
          </p:cNvSpPr>
          <p:nvPr>
            <p:ph type="title"/>
          </p:nvPr>
        </p:nvSpPr>
        <p:spPr/>
        <p:txBody>
          <a:bodyPr/>
          <a:lstStyle/>
          <a:p>
            <a:pPr eaLnBrk="1" hangingPunct="1"/>
            <a:r>
              <a:rPr lang="en-US" altLang="en-US"/>
              <a:t>The effect of LDP ON V/Q</a:t>
            </a:r>
          </a:p>
        </p:txBody>
      </p:sp>
      <p:sp>
        <p:nvSpPr>
          <p:cNvPr id="3" name="Content Placeholder 2">
            <a:extLst>
              <a:ext uri="{FF2B5EF4-FFF2-40B4-BE49-F238E27FC236}">
                <a16:creationId xmlns:a16="http://schemas.microsoft.com/office/drawing/2014/main" id="{BA02E02C-DAB8-5D59-83E9-BE639DD9B2AE}"/>
              </a:ext>
            </a:extLst>
          </p:cNvPr>
          <p:cNvSpPr>
            <a:spLocks noGrp="1"/>
          </p:cNvSpPr>
          <p:nvPr>
            <p:ph idx="1"/>
          </p:nvPr>
        </p:nvSpPr>
        <p:spPr/>
        <p:txBody>
          <a:bodyPr/>
          <a:lstStyle/>
          <a:p>
            <a:pPr lvl="1" eaLnBrk="1" hangingPunct="1">
              <a:buFontTx/>
              <a:buNone/>
            </a:pPr>
            <a:r>
              <a:rPr lang="en-US" altLang="en-US"/>
              <a:t>So</a:t>
            </a:r>
          </a:p>
          <a:p>
            <a:pPr lvl="1" eaLnBrk="1" hangingPunct="1"/>
            <a:r>
              <a:rPr lang="en-US" altLang="en-US"/>
              <a:t> in LDP there is less of Zone 1&amp; more of Zone 2 &amp;3.</a:t>
            </a:r>
          </a:p>
          <a:p>
            <a:pPr lvl="1" eaLnBrk="1" hangingPunct="1"/>
            <a:r>
              <a:rPr lang="en-US" altLang="en-US"/>
              <a:t>The decrease in zone 1 reduces the extent of patient’s dead space.</a:t>
            </a:r>
          </a:p>
          <a:p>
            <a:pPr eaLnBrk="1" hangingPunct="1">
              <a:buFont typeface="Wingdings" panose="05000000000000000000" pitchFamily="2" charset="2"/>
              <a:buNone/>
            </a:pPr>
            <a:r>
              <a:rPr lang="en-US" altLang="en-US"/>
              <a:t>                  </a:t>
            </a:r>
          </a:p>
          <a:p>
            <a:pPr eaLnBrk="1" hangingPunct="1"/>
            <a:endParaRPr lang="en-US" altLang="en-US"/>
          </a:p>
        </p:txBody>
      </p:sp>
      <p:sp>
        <p:nvSpPr>
          <p:cNvPr id="4" name="Date Placeholder 3">
            <a:extLst>
              <a:ext uri="{FF2B5EF4-FFF2-40B4-BE49-F238E27FC236}">
                <a16:creationId xmlns:a16="http://schemas.microsoft.com/office/drawing/2014/main" id="{296886BC-FFBB-7076-C963-0290DA35AF51}"/>
              </a:ext>
            </a:extLst>
          </p:cNvPr>
          <p:cNvSpPr>
            <a:spLocks noGrp="1"/>
          </p:cNvSpPr>
          <p:nvPr>
            <p:ph type="dt" sz="quarter" idx="10"/>
          </p:nvPr>
        </p:nvSpPr>
        <p:spPr/>
        <p:txBody>
          <a:bodyPr/>
          <a:lstStyle/>
          <a:p>
            <a:pPr>
              <a:defRPr/>
            </a:pPr>
            <a:fld id="{D974E035-A5AA-4AEF-9F8B-989CE750DCE6}" type="datetime1">
              <a:rPr lang="en-US"/>
              <a:pPr>
                <a:defRPr/>
              </a:pPr>
              <a:t>4/25/2025</a:t>
            </a:fld>
            <a:endParaRPr lang="en-US"/>
          </a:p>
        </p:txBody>
      </p:sp>
      <p:sp>
        <p:nvSpPr>
          <p:cNvPr id="46085" name="Slide Number Placeholder 4">
            <a:extLst>
              <a:ext uri="{FF2B5EF4-FFF2-40B4-BE49-F238E27FC236}">
                <a16:creationId xmlns:a16="http://schemas.microsoft.com/office/drawing/2014/main" id="{D29522C8-4A7F-E742-06D1-57BC76254CE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3C07EE6-54F5-44EA-8F7A-F91A86E012E9}" type="slidenum">
              <a:rPr lang="en-US" altLang="en-US" sz="1200" smtClean="0">
                <a:solidFill>
                  <a:srgbClr val="898989"/>
                </a:solidFill>
                <a:latin typeface="Arial" panose="020B0604020202020204" pitchFamily="34" charset="0"/>
              </a:rPr>
              <a:pPr>
                <a:spcBef>
                  <a:spcPct val="0"/>
                </a:spcBef>
                <a:buFontTx/>
                <a:buNone/>
              </a:pPr>
              <a:t>20</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ED9533DD-C0D5-942D-E67D-FC43E09E4A39}"/>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down)">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FC7E60EF-6340-3635-C582-F04EB02BE5F5}"/>
              </a:ext>
            </a:extLst>
          </p:cNvPr>
          <p:cNvSpPr>
            <a:spLocks noGrp="1"/>
          </p:cNvSpPr>
          <p:nvPr>
            <p:ph type="title"/>
          </p:nvPr>
        </p:nvSpPr>
        <p:spPr/>
        <p:txBody>
          <a:bodyPr/>
          <a:lstStyle/>
          <a:p>
            <a:pPr eaLnBrk="1" hangingPunct="1"/>
            <a:r>
              <a:rPr lang="en-US" altLang="en-US"/>
              <a:t>The effect of LDP ON V/Q</a:t>
            </a:r>
          </a:p>
        </p:txBody>
      </p:sp>
      <p:sp>
        <p:nvSpPr>
          <p:cNvPr id="3" name="Content Placeholder 2">
            <a:extLst>
              <a:ext uri="{FF2B5EF4-FFF2-40B4-BE49-F238E27FC236}">
                <a16:creationId xmlns:a16="http://schemas.microsoft.com/office/drawing/2014/main" id="{DFE919CE-B290-00E9-A034-27CB87B5BDA0}"/>
              </a:ext>
            </a:extLst>
          </p:cNvPr>
          <p:cNvSpPr>
            <a:spLocks noGrp="1"/>
          </p:cNvSpPr>
          <p:nvPr>
            <p:ph idx="1"/>
          </p:nvPr>
        </p:nvSpPr>
        <p:spPr>
          <a:xfrm>
            <a:off x="1524000" y="1600200"/>
            <a:ext cx="8686800" cy="4530725"/>
          </a:xfrm>
        </p:spPr>
        <p:txBody>
          <a:bodyPr rtlCol="0">
            <a:normAutofit/>
          </a:bodyPr>
          <a:lstStyle/>
          <a:p>
            <a:pPr eaLnBrk="1" fontAlgn="auto" hangingPunct="1">
              <a:spcAft>
                <a:spcPts val="0"/>
              </a:spcAft>
              <a:buFont typeface="Arial" panose="020B0604020202020204" pitchFamily="34" charset="0"/>
              <a:buNone/>
              <a:defRPr/>
            </a:pPr>
            <a:r>
              <a:rPr lang="en-US" b="1" dirty="0">
                <a:effectLst>
                  <a:outerShdw blurRad="38100" dist="38100" dir="2700000" algn="tl">
                    <a:srgbClr val="000000">
                      <a:alpha val="43137"/>
                    </a:srgbClr>
                  </a:outerShdw>
                </a:effectLst>
              </a:rPr>
              <a:t>Blood distribution to each lung</a:t>
            </a:r>
            <a:endParaRPr lang="en-US" dirty="0">
              <a:effectLst>
                <a:outerShdw blurRad="38100" dist="38100" dir="2700000" algn="tl">
                  <a:srgbClr val="000000">
                    <a:alpha val="43137"/>
                  </a:srgbClr>
                </a:outerShdw>
              </a:effectLst>
            </a:endParaRPr>
          </a:p>
          <a:p>
            <a:pPr eaLnBrk="1" fontAlgn="auto" hangingPunct="1">
              <a:spcAft>
                <a:spcPts val="0"/>
              </a:spcAft>
              <a:defRPr/>
            </a:pPr>
            <a:r>
              <a:rPr lang="en-US" dirty="0"/>
              <a:t>In the up right position the blood distribution to the lung is splint :-           </a:t>
            </a:r>
          </a:p>
          <a:p>
            <a:pPr lvl="1" eaLnBrk="1" fontAlgn="auto" hangingPunct="1">
              <a:spcAft>
                <a:spcPts val="0"/>
              </a:spcAft>
              <a:defRPr/>
            </a:pPr>
            <a:r>
              <a:rPr lang="en-US" dirty="0"/>
              <a:t>60% of CO goes to right lung(has 3 lobs) &amp;</a:t>
            </a:r>
          </a:p>
          <a:p>
            <a:pPr lvl="1" eaLnBrk="1" fontAlgn="auto" hangingPunct="1">
              <a:spcAft>
                <a:spcPts val="0"/>
              </a:spcAft>
              <a:defRPr/>
            </a:pPr>
            <a:r>
              <a:rPr lang="en-US" dirty="0"/>
              <a:t>40%- of CO goes to left lung (has 2 lobs)</a:t>
            </a:r>
          </a:p>
          <a:p>
            <a:pPr eaLnBrk="1" fontAlgn="auto" hangingPunct="1">
              <a:spcAft>
                <a:spcPts val="0"/>
              </a:spcAft>
              <a:defRPr/>
            </a:pPr>
            <a:r>
              <a:rPr lang="en-US" dirty="0"/>
              <a:t>In right LDP the split is approximately        </a:t>
            </a:r>
          </a:p>
          <a:p>
            <a:pPr lvl="1" eaLnBrk="1" fontAlgn="auto" hangingPunct="1">
              <a:spcAft>
                <a:spcPts val="0"/>
              </a:spcAft>
              <a:defRPr/>
            </a:pPr>
            <a:r>
              <a:rPr lang="en-US" dirty="0"/>
              <a:t>65% to the right dependent lung&amp;</a:t>
            </a:r>
          </a:p>
          <a:p>
            <a:pPr lvl="1" eaLnBrk="1" fontAlgn="auto" hangingPunct="1">
              <a:spcAft>
                <a:spcPts val="0"/>
              </a:spcAft>
              <a:defRPr/>
            </a:pPr>
            <a:r>
              <a:rPr lang="en-US" dirty="0"/>
              <a:t>35 %to the left non dependent lung.</a:t>
            </a:r>
          </a:p>
          <a:p>
            <a:pPr eaLnBrk="1" fontAlgn="auto" hangingPunct="1">
              <a:spcAft>
                <a:spcPts val="0"/>
              </a:spcAft>
              <a:buFont typeface="Arial" panose="020B0604020202020204" pitchFamily="34" charset="0"/>
              <a:buNone/>
              <a:defRPr/>
            </a:pPr>
            <a:endParaRPr lang="en-US" dirty="0">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4B41F3D4-EE60-B725-2175-12C0B5946976}"/>
              </a:ext>
            </a:extLst>
          </p:cNvPr>
          <p:cNvSpPr>
            <a:spLocks noGrp="1"/>
          </p:cNvSpPr>
          <p:nvPr>
            <p:ph type="dt" sz="quarter" idx="10"/>
          </p:nvPr>
        </p:nvSpPr>
        <p:spPr/>
        <p:txBody>
          <a:bodyPr/>
          <a:lstStyle/>
          <a:p>
            <a:pPr>
              <a:defRPr/>
            </a:pPr>
            <a:fld id="{CE58E8A7-ED1F-49A3-8906-6FE42DB74369}" type="datetime1">
              <a:rPr lang="en-US"/>
              <a:pPr>
                <a:defRPr/>
              </a:pPr>
              <a:t>4/25/2025</a:t>
            </a:fld>
            <a:endParaRPr lang="en-US"/>
          </a:p>
        </p:txBody>
      </p:sp>
      <p:sp>
        <p:nvSpPr>
          <p:cNvPr id="47109" name="Slide Number Placeholder 4">
            <a:extLst>
              <a:ext uri="{FF2B5EF4-FFF2-40B4-BE49-F238E27FC236}">
                <a16:creationId xmlns:a16="http://schemas.microsoft.com/office/drawing/2014/main" id="{D12095B0-4295-8EEA-68C9-B2235A84A27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2FD3D0C-5713-4583-B961-905A908DE35A}" type="slidenum">
              <a:rPr lang="en-US" altLang="en-US" sz="1200" smtClean="0">
                <a:solidFill>
                  <a:srgbClr val="898989"/>
                </a:solidFill>
                <a:latin typeface="Arial" panose="020B0604020202020204" pitchFamily="34" charset="0"/>
              </a:rPr>
              <a:pPr>
                <a:spcBef>
                  <a:spcPct val="0"/>
                </a:spcBef>
                <a:buFontTx/>
                <a:buNone/>
              </a:pPr>
              <a:t>21</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07F7D146-13B9-526A-585C-A36DFD105749}"/>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down)">
                                      <p:cBhvr>
                                        <p:cTn id="23" dur="500"/>
                                        <p:tgtEl>
                                          <p:spTgt spid="3">
                                            <p:txEl>
                                              <p:pRg st="4" end="4"/>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down)">
                                      <p:cBhvr>
                                        <p:cTn id="26" dur="500"/>
                                        <p:tgtEl>
                                          <p:spTgt spid="3">
                                            <p:txEl>
                                              <p:pRg st="5" end="5"/>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down)">
                                      <p:cBhvr>
                                        <p:cTn id="2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BE864A40-33DE-4D99-F411-94DB54851CE5}"/>
              </a:ext>
            </a:extLst>
          </p:cNvPr>
          <p:cNvSpPr>
            <a:spLocks noGrp="1"/>
          </p:cNvSpPr>
          <p:nvPr>
            <p:ph type="title"/>
          </p:nvPr>
        </p:nvSpPr>
        <p:spPr/>
        <p:txBody>
          <a:bodyPr/>
          <a:lstStyle/>
          <a:p>
            <a:pPr eaLnBrk="1" hangingPunct="1"/>
            <a:r>
              <a:rPr lang="en-US" altLang="en-US"/>
              <a:t>The effect of LDP ON V/Q</a:t>
            </a:r>
          </a:p>
        </p:txBody>
      </p:sp>
      <p:sp>
        <p:nvSpPr>
          <p:cNvPr id="3" name="Content Placeholder 2">
            <a:extLst>
              <a:ext uri="{FF2B5EF4-FFF2-40B4-BE49-F238E27FC236}">
                <a16:creationId xmlns:a16="http://schemas.microsoft.com/office/drawing/2014/main" id="{EC261B02-8355-D41E-B73A-01CFE29C546C}"/>
              </a:ext>
            </a:extLst>
          </p:cNvPr>
          <p:cNvSpPr>
            <a:spLocks noGrp="1"/>
          </p:cNvSpPr>
          <p:nvPr>
            <p:ph idx="1"/>
          </p:nvPr>
        </p:nvSpPr>
        <p:spPr/>
        <p:txBody>
          <a:bodyPr/>
          <a:lstStyle/>
          <a:p>
            <a:pPr eaLnBrk="1" hangingPunct="1"/>
            <a:r>
              <a:rPr lang="en-US" altLang="en-US"/>
              <a:t> In left LDP </a:t>
            </a:r>
          </a:p>
          <a:p>
            <a:pPr lvl="1" eaLnBrk="1" hangingPunct="1"/>
            <a:r>
              <a:rPr lang="en-US" altLang="en-US"/>
              <a:t>left dependent lung receives 55% &amp;</a:t>
            </a:r>
          </a:p>
          <a:p>
            <a:pPr lvl="1" eaLnBrk="1" hangingPunct="1"/>
            <a:r>
              <a:rPr lang="en-US" altLang="en-US"/>
              <a:t>the right lung receives 45%.</a:t>
            </a:r>
          </a:p>
          <a:p>
            <a:pPr eaLnBrk="1" hangingPunct="1"/>
            <a:r>
              <a:rPr lang="en-US" altLang="en-US"/>
              <a:t> Average  blood flow in LDP is </a:t>
            </a:r>
          </a:p>
          <a:p>
            <a:pPr lvl="1" eaLnBrk="1" hangingPunct="1"/>
            <a:r>
              <a:rPr lang="en-US" altLang="en-US"/>
              <a:t>60% flow to dependent lung</a:t>
            </a:r>
          </a:p>
          <a:p>
            <a:pPr lvl="1" eaLnBrk="1" hangingPunct="1"/>
            <a:r>
              <a:rPr lang="en-US" altLang="en-US"/>
              <a:t>40% flow to non dependent lung</a:t>
            </a:r>
          </a:p>
          <a:p>
            <a:pPr eaLnBrk="1" hangingPunct="1"/>
            <a:endParaRPr lang="en-US" altLang="en-US"/>
          </a:p>
        </p:txBody>
      </p:sp>
      <p:sp>
        <p:nvSpPr>
          <p:cNvPr id="4" name="Date Placeholder 3">
            <a:extLst>
              <a:ext uri="{FF2B5EF4-FFF2-40B4-BE49-F238E27FC236}">
                <a16:creationId xmlns:a16="http://schemas.microsoft.com/office/drawing/2014/main" id="{48737ACF-ACE1-D709-9433-2174177819A9}"/>
              </a:ext>
            </a:extLst>
          </p:cNvPr>
          <p:cNvSpPr>
            <a:spLocks noGrp="1"/>
          </p:cNvSpPr>
          <p:nvPr>
            <p:ph type="dt" sz="quarter" idx="10"/>
          </p:nvPr>
        </p:nvSpPr>
        <p:spPr/>
        <p:txBody>
          <a:bodyPr/>
          <a:lstStyle/>
          <a:p>
            <a:pPr>
              <a:defRPr/>
            </a:pPr>
            <a:fld id="{CE6F2E87-E74C-493B-B231-EBD906642F6B}" type="datetime1">
              <a:rPr lang="en-US"/>
              <a:pPr>
                <a:defRPr/>
              </a:pPr>
              <a:t>4/25/2025</a:t>
            </a:fld>
            <a:endParaRPr lang="en-US"/>
          </a:p>
        </p:txBody>
      </p:sp>
      <p:sp>
        <p:nvSpPr>
          <p:cNvPr id="48133" name="Slide Number Placeholder 4">
            <a:extLst>
              <a:ext uri="{FF2B5EF4-FFF2-40B4-BE49-F238E27FC236}">
                <a16:creationId xmlns:a16="http://schemas.microsoft.com/office/drawing/2014/main" id="{EE99A6D4-D547-7DAD-4DA8-5F3330F378E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848D01B-3EE6-4E48-A157-E4640FD2CBD5}" type="slidenum">
              <a:rPr lang="en-US" altLang="en-US" sz="1200" smtClean="0">
                <a:solidFill>
                  <a:srgbClr val="898989"/>
                </a:solidFill>
                <a:latin typeface="Arial" panose="020B0604020202020204" pitchFamily="34" charset="0"/>
              </a:rPr>
              <a:pPr>
                <a:spcBef>
                  <a:spcPct val="0"/>
                </a:spcBef>
                <a:buFontTx/>
                <a:buNone/>
              </a:pPr>
              <a:t>22</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7041137E-E2B6-FF12-F29B-3656A023842E}"/>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down)">
                                      <p:cBhvr>
                                        <p:cTn id="21" dur="500"/>
                                        <p:tgtEl>
                                          <p:spTgt spid="3">
                                            <p:txEl>
                                              <p:pRg st="4" end="4"/>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down)">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8D4CE2C5-886C-2B2D-1E5B-7A3AD23F5D4C}"/>
              </a:ext>
            </a:extLst>
          </p:cNvPr>
          <p:cNvSpPr>
            <a:spLocks noGrp="1"/>
          </p:cNvSpPr>
          <p:nvPr>
            <p:ph type="title"/>
          </p:nvPr>
        </p:nvSpPr>
        <p:spPr/>
        <p:txBody>
          <a:bodyPr/>
          <a:lstStyle/>
          <a:p>
            <a:pPr eaLnBrk="1" hangingPunct="1"/>
            <a:r>
              <a:rPr lang="en-US" altLang="en-US"/>
              <a:t>The effect of LDP ON V/Q</a:t>
            </a:r>
          </a:p>
        </p:txBody>
      </p:sp>
      <p:sp>
        <p:nvSpPr>
          <p:cNvPr id="3" name="Content Placeholder 2">
            <a:extLst>
              <a:ext uri="{FF2B5EF4-FFF2-40B4-BE49-F238E27FC236}">
                <a16:creationId xmlns:a16="http://schemas.microsoft.com/office/drawing/2014/main" id="{C482281E-34D6-69F5-C2A6-DE771CE20736}"/>
              </a:ext>
            </a:extLst>
          </p:cNvPr>
          <p:cNvSpPr>
            <a:spLocks noGrp="1"/>
          </p:cNvSpPr>
          <p:nvPr>
            <p:ph idx="1"/>
          </p:nvPr>
        </p:nvSpPr>
        <p:spPr>
          <a:xfrm>
            <a:off x="1524000" y="1295400"/>
            <a:ext cx="9144000" cy="5181600"/>
          </a:xfrm>
        </p:spPr>
        <p:txBody>
          <a:bodyPr/>
          <a:lstStyle/>
          <a:p>
            <a:pPr eaLnBrk="1" hangingPunct="1"/>
            <a:r>
              <a:rPr lang="en-US" altLang="en-US" b="1"/>
              <a:t>2-Lateral position, awake, breathing spontaneously chest open</a:t>
            </a:r>
          </a:p>
          <a:p>
            <a:pPr eaLnBrk="1" hangingPunct="1"/>
            <a:r>
              <a:rPr lang="en-US" altLang="en-US"/>
              <a:t>Controlled positive pressure ventilation is the most common way to provide adequate ventilation and ensure gas exchange in an open chest situation.</a:t>
            </a:r>
          </a:p>
          <a:p>
            <a:pPr eaLnBrk="1" hangingPunct="1"/>
            <a:r>
              <a:rPr lang="en-US" altLang="en-US"/>
              <a:t>Frequently thoracoscopy is performed using intercostals blocks with the patient breathing spontaneously to allow proper lung examination.</a:t>
            </a:r>
          </a:p>
        </p:txBody>
      </p:sp>
      <p:sp>
        <p:nvSpPr>
          <p:cNvPr id="4" name="Date Placeholder 3">
            <a:extLst>
              <a:ext uri="{FF2B5EF4-FFF2-40B4-BE49-F238E27FC236}">
                <a16:creationId xmlns:a16="http://schemas.microsoft.com/office/drawing/2014/main" id="{40AA3427-2FF2-07B9-3D51-F099BA84E560}"/>
              </a:ext>
            </a:extLst>
          </p:cNvPr>
          <p:cNvSpPr>
            <a:spLocks noGrp="1"/>
          </p:cNvSpPr>
          <p:nvPr>
            <p:ph type="dt" sz="quarter" idx="10"/>
          </p:nvPr>
        </p:nvSpPr>
        <p:spPr/>
        <p:txBody>
          <a:bodyPr/>
          <a:lstStyle/>
          <a:p>
            <a:pPr>
              <a:defRPr/>
            </a:pPr>
            <a:fld id="{2B89BADF-2A37-40DB-AA0C-C9C4A3E54CE6}" type="datetime1">
              <a:rPr lang="en-US"/>
              <a:pPr>
                <a:defRPr/>
              </a:pPr>
              <a:t>4/25/2025</a:t>
            </a:fld>
            <a:endParaRPr lang="en-US"/>
          </a:p>
        </p:txBody>
      </p:sp>
      <p:sp>
        <p:nvSpPr>
          <p:cNvPr id="49157" name="Slide Number Placeholder 4">
            <a:extLst>
              <a:ext uri="{FF2B5EF4-FFF2-40B4-BE49-F238E27FC236}">
                <a16:creationId xmlns:a16="http://schemas.microsoft.com/office/drawing/2014/main" id="{890CFBEE-1B91-7C5A-D810-2D40C018833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8D15403-28C2-4D54-A24E-255DFDAEE9D8}" type="slidenum">
              <a:rPr lang="en-US" altLang="en-US" sz="1200" smtClean="0">
                <a:solidFill>
                  <a:srgbClr val="898989"/>
                </a:solidFill>
                <a:latin typeface="Arial" panose="020B0604020202020204" pitchFamily="34" charset="0"/>
              </a:rPr>
              <a:pPr>
                <a:spcBef>
                  <a:spcPct val="0"/>
                </a:spcBef>
                <a:buFontTx/>
                <a:buNone/>
              </a:pPr>
              <a:t>23</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3F75E098-1648-10C9-9261-A67822370E9A}"/>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0FDF5CCD-9620-C1F1-5007-C3EF4CF70ABC}"/>
              </a:ext>
            </a:extLst>
          </p:cNvPr>
          <p:cNvSpPr>
            <a:spLocks noGrp="1"/>
          </p:cNvSpPr>
          <p:nvPr>
            <p:ph type="title"/>
          </p:nvPr>
        </p:nvSpPr>
        <p:spPr/>
        <p:txBody>
          <a:bodyPr/>
          <a:lstStyle/>
          <a:p>
            <a:pPr eaLnBrk="1" hangingPunct="1"/>
            <a:r>
              <a:rPr lang="en-US" altLang="en-US"/>
              <a:t>The effect of LDP ON V/Q</a:t>
            </a:r>
          </a:p>
        </p:txBody>
      </p:sp>
      <p:sp>
        <p:nvSpPr>
          <p:cNvPr id="3" name="Content Placeholder 2">
            <a:extLst>
              <a:ext uri="{FF2B5EF4-FFF2-40B4-BE49-F238E27FC236}">
                <a16:creationId xmlns:a16="http://schemas.microsoft.com/office/drawing/2014/main" id="{55EA5D5F-C068-C492-FB6D-61106AB458E6}"/>
              </a:ext>
            </a:extLst>
          </p:cNvPr>
          <p:cNvSpPr>
            <a:spLocks noGrp="1"/>
          </p:cNvSpPr>
          <p:nvPr>
            <p:ph idx="1"/>
          </p:nvPr>
        </p:nvSpPr>
        <p:spPr/>
        <p:txBody>
          <a:bodyPr/>
          <a:lstStyle/>
          <a:p>
            <a:pPr eaLnBrk="1" hangingPunct="1"/>
            <a:r>
              <a:rPr lang="en-US" altLang="en-US"/>
              <a:t>Two complications can arise from the patient breathing spontaneously with an open chest.</a:t>
            </a:r>
          </a:p>
          <a:p>
            <a:pPr eaLnBrk="1" hangingPunct="1"/>
            <a:r>
              <a:rPr lang="en-US" altLang="en-US"/>
              <a:t>These are   </a:t>
            </a:r>
          </a:p>
          <a:p>
            <a:pPr marL="1828800" lvl="3" indent="-457200" eaLnBrk="1" hangingPunct="1">
              <a:buFont typeface="Calibri" panose="020F0502020204030204" pitchFamily="34" charset="0"/>
              <a:buAutoNum type="alphaUcPeriod"/>
            </a:pPr>
            <a:r>
              <a:rPr lang="en-US" altLang="en-US" sz="3200"/>
              <a:t>Mediastinal shift</a:t>
            </a:r>
          </a:p>
          <a:p>
            <a:pPr marL="1828800" lvl="3" indent="-457200" eaLnBrk="1" hangingPunct="1">
              <a:buFont typeface="Calibri" panose="020F0502020204030204" pitchFamily="34" charset="0"/>
              <a:buAutoNum type="alphaUcPeriod"/>
            </a:pPr>
            <a:r>
              <a:rPr lang="en-US" altLang="en-US" sz="3200"/>
              <a:t> Paradoxical breathing </a:t>
            </a:r>
          </a:p>
          <a:p>
            <a:pPr eaLnBrk="1" hangingPunct="1"/>
            <a:endParaRPr lang="en-US" altLang="en-US"/>
          </a:p>
        </p:txBody>
      </p:sp>
      <p:sp>
        <p:nvSpPr>
          <p:cNvPr id="4" name="Date Placeholder 3">
            <a:extLst>
              <a:ext uri="{FF2B5EF4-FFF2-40B4-BE49-F238E27FC236}">
                <a16:creationId xmlns:a16="http://schemas.microsoft.com/office/drawing/2014/main" id="{100DDE5D-C2FB-BE12-ACCB-99B1C4511CE4}"/>
              </a:ext>
            </a:extLst>
          </p:cNvPr>
          <p:cNvSpPr>
            <a:spLocks noGrp="1"/>
          </p:cNvSpPr>
          <p:nvPr>
            <p:ph type="dt" sz="quarter" idx="10"/>
          </p:nvPr>
        </p:nvSpPr>
        <p:spPr/>
        <p:txBody>
          <a:bodyPr/>
          <a:lstStyle/>
          <a:p>
            <a:pPr>
              <a:defRPr/>
            </a:pPr>
            <a:fld id="{60CB5BD6-4320-48A7-B474-D804EEF82946}" type="datetime1">
              <a:rPr lang="en-US"/>
              <a:pPr>
                <a:defRPr/>
              </a:pPr>
              <a:t>4/25/2025</a:t>
            </a:fld>
            <a:endParaRPr lang="en-US"/>
          </a:p>
        </p:txBody>
      </p:sp>
      <p:sp>
        <p:nvSpPr>
          <p:cNvPr id="50181" name="Slide Number Placeholder 4">
            <a:extLst>
              <a:ext uri="{FF2B5EF4-FFF2-40B4-BE49-F238E27FC236}">
                <a16:creationId xmlns:a16="http://schemas.microsoft.com/office/drawing/2014/main" id="{A43AB794-B2E1-C393-9273-95B3FCE6621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FB1A47D-BCFC-498C-AD1C-39DE576CB7AB}" type="slidenum">
              <a:rPr lang="en-US" altLang="en-US" sz="1200" smtClean="0">
                <a:solidFill>
                  <a:srgbClr val="898989"/>
                </a:solidFill>
                <a:latin typeface="Arial" panose="020B0604020202020204" pitchFamily="34" charset="0"/>
              </a:rPr>
              <a:pPr>
                <a:spcBef>
                  <a:spcPct val="0"/>
                </a:spcBef>
                <a:buFontTx/>
                <a:buNone/>
              </a:pPr>
              <a:t>24</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AD1D866F-A5B1-E889-8E03-536A7625FA7F}"/>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0A21A802-ED2D-7295-C27A-88361BAE770D}"/>
              </a:ext>
            </a:extLst>
          </p:cNvPr>
          <p:cNvSpPr>
            <a:spLocks noGrp="1"/>
          </p:cNvSpPr>
          <p:nvPr>
            <p:ph type="title"/>
          </p:nvPr>
        </p:nvSpPr>
        <p:spPr/>
        <p:txBody>
          <a:bodyPr/>
          <a:lstStyle/>
          <a:p>
            <a:pPr eaLnBrk="1" hangingPunct="1"/>
            <a:r>
              <a:rPr lang="en-US" altLang="en-US"/>
              <a:t>The effect of LDP ON V/Q</a:t>
            </a:r>
          </a:p>
        </p:txBody>
      </p:sp>
      <p:pic>
        <p:nvPicPr>
          <p:cNvPr id="51203" name="Picture 2">
            <a:extLst>
              <a:ext uri="{FF2B5EF4-FFF2-40B4-BE49-F238E27FC236}">
                <a16:creationId xmlns:a16="http://schemas.microsoft.com/office/drawing/2014/main" id="{A6C71CC4-3C12-B401-2989-EE6607AB4DB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828800" y="1219200"/>
            <a:ext cx="4267200" cy="5334000"/>
          </a:xfrm>
          <a:noFill/>
        </p:spPr>
      </p:pic>
      <p:sp>
        <p:nvSpPr>
          <p:cNvPr id="4" name="Date Placeholder 3">
            <a:extLst>
              <a:ext uri="{FF2B5EF4-FFF2-40B4-BE49-F238E27FC236}">
                <a16:creationId xmlns:a16="http://schemas.microsoft.com/office/drawing/2014/main" id="{7EC58252-0E49-D56A-8FC8-AA40BD39548B}"/>
              </a:ext>
            </a:extLst>
          </p:cNvPr>
          <p:cNvSpPr>
            <a:spLocks noGrp="1"/>
          </p:cNvSpPr>
          <p:nvPr>
            <p:ph type="dt" sz="quarter" idx="10"/>
          </p:nvPr>
        </p:nvSpPr>
        <p:spPr/>
        <p:txBody>
          <a:bodyPr/>
          <a:lstStyle/>
          <a:p>
            <a:pPr>
              <a:defRPr/>
            </a:pPr>
            <a:fld id="{FC87D828-293A-4665-8757-A8D9C5C9638D}" type="datetime1">
              <a:rPr lang="en-US"/>
              <a:pPr>
                <a:defRPr/>
              </a:pPr>
              <a:t>4/25/2025</a:t>
            </a:fld>
            <a:endParaRPr lang="en-US"/>
          </a:p>
        </p:txBody>
      </p:sp>
      <p:sp>
        <p:nvSpPr>
          <p:cNvPr id="51205" name="Slide Number Placeholder 4">
            <a:extLst>
              <a:ext uri="{FF2B5EF4-FFF2-40B4-BE49-F238E27FC236}">
                <a16:creationId xmlns:a16="http://schemas.microsoft.com/office/drawing/2014/main" id="{F964BC6A-0B78-44F5-1001-8039BF49061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FB24990-D316-4558-8DAA-B3D93984C754}" type="slidenum">
              <a:rPr lang="en-US" altLang="en-US" sz="1200" smtClean="0">
                <a:solidFill>
                  <a:srgbClr val="898989"/>
                </a:solidFill>
                <a:latin typeface="Arial" panose="020B0604020202020204" pitchFamily="34" charset="0"/>
              </a:rPr>
              <a:pPr>
                <a:spcBef>
                  <a:spcPct val="0"/>
                </a:spcBef>
                <a:buFontTx/>
                <a:buNone/>
              </a:pPr>
              <a:t>25</a:t>
            </a:fld>
            <a:endParaRPr lang="en-US" altLang="en-US" sz="1200">
              <a:solidFill>
                <a:srgbClr val="898989"/>
              </a:solidFill>
              <a:latin typeface="Arial" panose="020B0604020202020204" pitchFamily="34" charset="0"/>
            </a:endParaRPr>
          </a:p>
        </p:txBody>
      </p:sp>
      <p:sp>
        <p:nvSpPr>
          <p:cNvPr id="51206" name="Rectangle 6">
            <a:extLst>
              <a:ext uri="{FF2B5EF4-FFF2-40B4-BE49-F238E27FC236}">
                <a16:creationId xmlns:a16="http://schemas.microsoft.com/office/drawing/2014/main" id="{7D440E56-479A-3672-E747-F9E1110FB932}"/>
              </a:ext>
            </a:extLst>
          </p:cNvPr>
          <p:cNvSpPr>
            <a:spLocks noChangeArrowheads="1"/>
          </p:cNvSpPr>
          <p:nvPr/>
        </p:nvSpPr>
        <p:spPr bwMode="auto">
          <a:xfrm>
            <a:off x="6096000" y="1371600"/>
            <a:ext cx="41910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latin typeface="Arial" panose="020B0604020202020204" pitchFamily="34" charset="0"/>
              </a:rPr>
              <a:t>Mediastinal shift in the </a:t>
            </a:r>
            <a:r>
              <a:rPr lang="en-US" altLang="en-US" sz="2000">
                <a:latin typeface="Arial" panose="020B0604020202020204" pitchFamily="34" charset="0"/>
              </a:rPr>
              <a:t>spontaneously breathing, open-chested patient in the lateral decubitus position.</a:t>
            </a:r>
          </a:p>
          <a:p>
            <a:pPr eaLnBrk="1" hangingPunct="1">
              <a:spcBef>
                <a:spcPct val="0"/>
              </a:spcBef>
              <a:buFontTx/>
              <a:buNone/>
            </a:pPr>
            <a:endParaRPr lang="en-US" altLang="en-US" sz="2000">
              <a:latin typeface="Arial" panose="020B0604020202020204" pitchFamily="34" charset="0"/>
            </a:endParaRPr>
          </a:p>
          <a:p>
            <a:pPr eaLnBrk="1" hangingPunct="1">
              <a:spcBef>
                <a:spcPct val="0"/>
              </a:spcBef>
              <a:buFontTx/>
              <a:buNone/>
            </a:pPr>
            <a:r>
              <a:rPr lang="en-US" altLang="en-US" sz="2000">
                <a:latin typeface="Arial" panose="020B0604020202020204" pitchFamily="34" charset="0"/>
              </a:rPr>
              <a:t> During inspiration, negative pressure in the intact hemi thorax causes the mediastinum to move downward.</a:t>
            </a:r>
          </a:p>
          <a:p>
            <a:pPr eaLnBrk="1" hangingPunct="1">
              <a:spcBef>
                <a:spcPct val="0"/>
              </a:spcBef>
              <a:buFontTx/>
              <a:buNone/>
            </a:pPr>
            <a:endParaRPr lang="en-US" altLang="en-US" sz="2000">
              <a:latin typeface="Arial" panose="020B0604020202020204" pitchFamily="34" charset="0"/>
            </a:endParaRPr>
          </a:p>
          <a:p>
            <a:pPr eaLnBrk="1" hangingPunct="1">
              <a:spcBef>
                <a:spcPct val="0"/>
              </a:spcBef>
              <a:buFontTx/>
              <a:buNone/>
            </a:pPr>
            <a:r>
              <a:rPr lang="en-US" altLang="en-US" sz="2000">
                <a:latin typeface="Arial" panose="020B0604020202020204" pitchFamily="34" charset="0"/>
              </a:rPr>
              <a:t> During expiration, relative positive pressure in the intact hemithorax causes the mediastinum to move upward.</a:t>
            </a:r>
          </a:p>
        </p:txBody>
      </p:sp>
      <p:sp>
        <p:nvSpPr>
          <p:cNvPr id="2" name="Footer Placeholder 1">
            <a:extLst>
              <a:ext uri="{FF2B5EF4-FFF2-40B4-BE49-F238E27FC236}">
                <a16:creationId xmlns:a16="http://schemas.microsoft.com/office/drawing/2014/main" id="{CAD8125F-39AA-A18B-D44D-D0C25E2EB764}"/>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a:extLst>
              <a:ext uri="{FF2B5EF4-FFF2-40B4-BE49-F238E27FC236}">
                <a16:creationId xmlns:a16="http://schemas.microsoft.com/office/drawing/2014/main" id="{E8F31AEB-327E-7787-E0A4-38194387CCC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52600" y="304800"/>
            <a:ext cx="4495800" cy="6400800"/>
          </a:xfrm>
          <a:noFill/>
        </p:spPr>
      </p:pic>
      <p:sp>
        <p:nvSpPr>
          <p:cNvPr id="4" name="Date Placeholder 3">
            <a:extLst>
              <a:ext uri="{FF2B5EF4-FFF2-40B4-BE49-F238E27FC236}">
                <a16:creationId xmlns:a16="http://schemas.microsoft.com/office/drawing/2014/main" id="{9490AADA-5D65-4734-9D29-15279462D372}"/>
              </a:ext>
            </a:extLst>
          </p:cNvPr>
          <p:cNvSpPr>
            <a:spLocks noGrp="1"/>
          </p:cNvSpPr>
          <p:nvPr>
            <p:ph type="dt" sz="quarter" idx="10"/>
          </p:nvPr>
        </p:nvSpPr>
        <p:spPr/>
        <p:txBody>
          <a:bodyPr/>
          <a:lstStyle/>
          <a:p>
            <a:pPr>
              <a:defRPr/>
            </a:pPr>
            <a:fld id="{E26AABD9-DA06-4202-B53A-06B803DE5126}" type="datetime1">
              <a:rPr lang="en-US"/>
              <a:pPr>
                <a:defRPr/>
              </a:pPr>
              <a:t>4/25/2025</a:t>
            </a:fld>
            <a:endParaRPr lang="en-US"/>
          </a:p>
        </p:txBody>
      </p:sp>
      <p:sp>
        <p:nvSpPr>
          <p:cNvPr id="52228" name="Slide Number Placeholder 4">
            <a:extLst>
              <a:ext uri="{FF2B5EF4-FFF2-40B4-BE49-F238E27FC236}">
                <a16:creationId xmlns:a16="http://schemas.microsoft.com/office/drawing/2014/main" id="{C41C2E8C-8109-98B4-D7F1-94CB746458C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0F40A28-4DEE-4D5A-B05D-5F6C6A96D28A}" type="slidenum">
              <a:rPr lang="en-US" altLang="en-US" sz="1200" smtClean="0">
                <a:solidFill>
                  <a:srgbClr val="898989"/>
                </a:solidFill>
                <a:latin typeface="Arial" panose="020B0604020202020204" pitchFamily="34" charset="0"/>
              </a:rPr>
              <a:pPr>
                <a:spcBef>
                  <a:spcPct val="0"/>
                </a:spcBef>
                <a:buFontTx/>
                <a:buNone/>
              </a:pPr>
              <a:t>26</a:t>
            </a:fld>
            <a:endParaRPr lang="en-US" altLang="en-US" sz="1200">
              <a:solidFill>
                <a:srgbClr val="898989"/>
              </a:solidFill>
              <a:latin typeface="Arial" panose="020B0604020202020204" pitchFamily="34" charset="0"/>
            </a:endParaRPr>
          </a:p>
        </p:txBody>
      </p:sp>
      <p:sp>
        <p:nvSpPr>
          <p:cNvPr id="52229" name="Rectangle 6">
            <a:extLst>
              <a:ext uri="{FF2B5EF4-FFF2-40B4-BE49-F238E27FC236}">
                <a16:creationId xmlns:a16="http://schemas.microsoft.com/office/drawing/2014/main" id="{789A4BA7-DFFF-27E0-B25B-016B217AE8C2}"/>
              </a:ext>
            </a:extLst>
          </p:cNvPr>
          <p:cNvSpPr>
            <a:spLocks noChangeArrowheads="1"/>
          </p:cNvSpPr>
          <p:nvPr/>
        </p:nvSpPr>
        <p:spPr bwMode="auto">
          <a:xfrm>
            <a:off x="6477000" y="228600"/>
            <a:ext cx="3962400"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latin typeface="Arial" panose="020B0604020202020204" pitchFamily="34" charset="0"/>
              </a:rPr>
              <a:t>Paradoxical respiration </a:t>
            </a:r>
            <a:r>
              <a:rPr lang="en-US" altLang="en-US" sz="2000">
                <a:latin typeface="Arial" panose="020B0604020202020204" pitchFamily="34" charset="0"/>
              </a:rPr>
              <a:t>in the spontaneously breathing, open-chested patient in the lateral decubitus position. </a:t>
            </a:r>
          </a:p>
          <a:p>
            <a:pPr eaLnBrk="1" hangingPunct="1">
              <a:spcBef>
                <a:spcPct val="0"/>
              </a:spcBef>
              <a:buFontTx/>
              <a:buNone/>
            </a:pPr>
            <a:endParaRPr lang="en-US" altLang="en-US" sz="2000">
              <a:latin typeface="Arial" panose="020B0604020202020204" pitchFamily="34" charset="0"/>
            </a:endParaRPr>
          </a:p>
          <a:p>
            <a:pPr eaLnBrk="1" hangingPunct="1">
              <a:spcBef>
                <a:spcPct val="0"/>
              </a:spcBef>
              <a:buFontTx/>
              <a:buNone/>
            </a:pPr>
            <a:r>
              <a:rPr lang="en-US" altLang="en-US" sz="2000" b="1">
                <a:latin typeface="Arial" panose="020B0604020202020204" pitchFamily="34" charset="0"/>
              </a:rPr>
              <a:t>During inspiration</a:t>
            </a:r>
            <a:r>
              <a:rPr lang="en-US" altLang="en-US" sz="2000">
                <a:latin typeface="Arial" panose="020B0604020202020204" pitchFamily="34" charset="0"/>
              </a:rPr>
              <a:t>, movement of gas from the exposed lung into the intact lung and movement of air from the environment into the open hemithorax cause collapse of the exposed lung. </a:t>
            </a:r>
          </a:p>
          <a:p>
            <a:pPr eaLnBrk="1" hangingPunct="1">
              <a:spcBef>
                <a:spcPct val="0"/>
              </a:spcBef>
              <a:buFontTx/>
              <a:buNone/>
            </a:pPr>
            <a:endParaRPr lang="en-US" altLang="en-US" sz="2000">
              <a:latin typeface="Arial" panose="020B0604020202020204" pitchFamily="34" charset="0"/>
            </a:endParaRPr>
          </a:p>
          <a:p>
            <a:pPr eaLnBrk="1" hangingPunct="1">
              <a:spcBef>
                <a:spcPct val="0"/>
              </a:spcBef>
              <a:buFontTx/>
              <a:buNone/>
            </a:pPr>
            <a:r>
              <a:rPr lang="en-US" altLang="en-US" sz="2000" b="1">
                <a:latin typeface="Arial" panose="020B0604020202020204" pitchFamily="34" charset="0"/>
              </a:rPr>
              <a:t>During expiration</a:t>
            </a:r>
            <a:r>
              <a:rPr lang="en-US" altLang="en-US" sz="2000">
                <a:latin typeface="Arial" panose="020B0604020202020204" pitchFamily="34" charset="0"/>
              </a:rPr>
              <a:t>, the reverse occurs, and the exposed lung expands. </a:t>
            </a:r>
          </a:p>
        </p:txBody>
      </p:sp>
      <p:sp>
        <p:nvSpPr>
          <p:cNvPr id="2" name="Footer Placeholder 1">
            <a:extLst>
              <a:ext uri="{FF2B5EF4-FFF2-40B4-BE49-F238E27FC236}">
                <a16:creationId xmlns:a16="http://schemas.microsoft.com/office/drawing/2014/main" id="{F97D85E7-71B8-569B-A72A-2D104544BD28}"/>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5B60FE86-664F-5431-C66D-7751BF3AAAB4}"/>
              </a:ext>
            </a:extLst>
          </p:cNvPr>
          <p:cNvSpPr>
            <a:spLocks noGrp="1"/>
          </p:cNvSpPr>
          <p:nvPr>
            <p:ph type="title"/>
          </p:nvPr>
        </p:nvSpPr>
        <p:spPr/>
        <p:txBody>
          <a:bodyPr/>
          <a:lstStyle/>
          <a:p>
            <a:pPr eaLnBrk="1" hangingPunct="1"/>
            <a:r>
              <a:rPr lang="en-US" altLang="en-US"/>
              <a:t>The effect of LDP ON V/Q</a:t>
            </a:r>
          </a:p>
        </p:txBody>
      </p:sp>
      <p:pic>
        <p:nvPicPr>
          <p:cNvPr id="43014" name="Picture 6" descr="C:\Users\eyayalem\Desktop\THORACIC ANESTHESIA\One-lung Anesthesia_files\prdxresp.gif">
            <a:extLst>
              <a:ext uri="{FF2B5EF4-FFF2-40B4-BE49-F238E27FC236}">
                <a16:creationId xmlns:a16="http://schemas.microsoft.com/office/drawing/2014/main" id="{1B3EF8D5-A0D4-F59A-95C8-29753D2D998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828800" y="1143000"/>
            <a:ext cx="8610600" cy="5334000"/>
          </a:xfrm>
          <a:noFill/>
        </p:spPr>
      </p:pic>
      <p:sp>
        <p:nvSpPr>
          <p:cNvPr id="4" name="Date Placeholder 3">
            <a:extLst>
              <a:ext uri="{FF2B5EF4-FFF2-40B4-BE49-F238E27FC236}">
                <a16:creationId xmlns:a16="http://schemas.microsoft.com/office/drawing/2014/main" id="{47EE90C2-5581-B418-E672-0F5D47474F1A}"/>
              </a:ext>
            </a:extLst>
          </p:cNvPr>
          <p:cNvSpPr>
            <a:spLocks noGrp="1"/>
          </p:cNvSpPr>
          <p:nvPr>
            <p:ph type="dt" sz="quarter" idx="10"/>
          </p:nvPr>
        </p:nvSpPr>
        <p:spPr/>
        <p:txBody>
          <a:bodyPr/>
          <a:lstStyle/>
          <a:p>
            <a:pPr>
              <a:defRPr/>
            </a:pPr>
            <a:fld id="{4ED1F3EA-4889-4F94-A702-D3E1C5777931}" type="datetime1">
              <a:rPr lang="en-US"/>
              <a:pPr>
                <a:defRPr/>
              </a:pPr>
              <a:t>4/25/2025</a:t>
            </a:fld>
            <a:endParaRPr lang="en-US"/>
          </a:p>
        </p:txBody>
      </p:sp>
      <p:sp>
        <p:nvSpPr>
          <p:cNvPr id="53253" name="Slide Number Placeholder 4">
            <a:extLst>
              <a:ext uri="{FF2B5EF4-FFF2-40B4-BE49-F238E27FC236}">
                <a16:creationId xmlns:a16="http://schemas.microsoft.com/office/drawing/2014/main" id="{128B5389-FBDE-5B1F-FB5D-FDE50F9ED3C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3C9F587-5325-428C-A261-34B31ACCADC3}" type="slidenum">
              <a:rPr lang="en-US" altLang="en-US" sz="1200" smtClean="0">
                <a:solidFill>
                  <a:srgbClr val="898989"/>
                </a:solidFill>
                <a:latin typeface="Arial" panose="020B0604020202020204" pitchFamily="34" charset="0"/>
              </a:rPr>
              <a:pPr>
                <a:spcBef>
                  <a:spcPct val="0"/>
                </a:spcBef>
                <a:buFontTx/>
                <a:buNone/>
              </a:pPr>
              <a:t>27</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D390177D-9514-EEBD-34EA-55A45C2FEC90}"/>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3014"/>
                                        </p:tgtEl>
                                        <p:attrNameLst>
                                          <p:attrName>style.visibility</p:attrName>
                                        </p:attrNameLst>
                                      </p:cBhvr>
                                      <p:to>
                                        <p:strVal val="visible"/>
                                      </p:to>
                                    </p:set>
                                    <p:anim calcmode="lin" valueType="num">
                                      <p:cBhvr additive="base">
                                        <p:cTn id="7" dur="500" fill="hold"/>
                                        <p:tgtEl>
                                          <p:spTgt spid="43014"/>
                                        </p:tgtEl>
                                        <p:attrNameLst>
                                          <p:attrName>ppt_x</p:attrName>
                                        </p:attrNameLst>
                                      </p:cBhvr>
                                      <p:tavLst>
                                        <p:tav tm="0">
                                          <p:val>
                                            <p:strVal val="#ppt_x"/>
                                          </p:val>
                                        </p:tav>
                                        <p:tav tm="100000">
                                          <p:val>
                                            <p:strVal val="#ppt_x"/>
                                          </p:val>
                                        </p:tav>
                                      </p:tavLst>
                                    </p:anim>
                                    <p:anim calcmode="lin" valueType="num">
                                      <p:cBhvr additive="base">
                                        <p:cTn id="8" dur="500" fill="hold"/>
                                        <p:tgtEl>
                                          <p:spTgt spid="430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18B08E6-2AC2-C8F5-1E9E-607A36093553}"/>
              </a:ext>
            </a:extLst>
          </p:cNvPr>
          <p:cNvSpPr>
            <a:spLocks noGrp="1"/>
          </p:cNvSpPr>
          <p:nvPr>
            <p:ph type="title"/>
          </p:nvPr>
        </p:nvSpPr>
        <p:spPr/>
        <p:txBody>
          <a:bodyPr/>
          <a:lstStyle/>
          <a:p>
            <a:pPr eaLnBrk="1" hangingPunct="1"/>
            <a:r>
              <a:rPr lang="en-US" altLang="en-US"/>
              <a:t>The effect of LDP ON V/Q</a:t>
            </a:r>
          </a:p>
        </p:txBody>
      </p:sp>
      <p:sp>
        <p:nvSpPr>
          <p:cNvPr id="3" name="Content Placeholder 2">
            <a:extLst>
              <a:ext uri="{FF2B5EF4-FFF2-40B4-BE49-F238E27FC236}">
                <a16:creationId xmlns:a16="http://schemas.microsoft.com/office/drawing/2014/main" id="{CC697330-ED14-5B0F-5E12-B29EC661E66C}"/>
              </a:ext>
            </a:extLst>
          </p:cNvPr>
          <p:cNvSpPr>
            <a:spLocks noGrp="1"/>
          </p:cNvSpPr>
          <p:nvPr>
            <p:ph idx="1"/>
          </p:nvPr>
        </p:nvSpPr>
        <p:spPr>
          <a:xfrm>
            <a:off x="1524000" y="1371600"/>
            <a:ext cx="9144000" cy="5029200"/>
          </a:xfrm>
        </p:spPr>
        <p:txBody>
          <a:bodyPr/>
          <a:lstStyle/>
          <a:p>
            <a:pPr eaLnBrk="1" hangingPunct="1">
              <a:buFont typeface="Wingdings" panose="05000000000000000000" pitchFamily="2" charset="2"/>
              <a:buNone/>
            </a:pPr>
            <a:r>
              <a:rPr lang="en-US" altLang="en-US" b="1"/>
              <a:t>3-Lateral position, anesthetized, breathing spontaneously, chest closed</a:t>
            </a:r>
          </a:p>
          <a:p>
            <a:pPr eaLnBrk="1" hangingPunct="1"/>
            <a:r>
              <a:rPr lang="en-US" altLang="en-US"/>
              <a:t>The induction of general anesthesia does not cause significant change in the distribution of blood flow but has an important impact on the distribution of ventilation.</a:t>
            </a:r>
          </a:p>
          <a:p>
            <a:pPr eaLnBrk="1" hangingPunct="1"/>
            <a:r>
              <a:rPr lang="en-US" altLang="en-US"/>
              <a:t>Most of the tidal volume enters the nondependent lung, and these results in a significant V/Q mismatch.</a:t>
            </a:r>
          </a:p>
          <a:p>
            <a:pPr eaLnBrk="1" hangingPunct="1"/>
            <a:endParaRPr lang="en-US" altLang="en-US"/>
          </a:p>
          <a:p>
            <a:pPr eaLnBrk="1" hangingPunct="1"/>
            <a:endParaRPr lang="en-US" altLang="en-US" b="1"/>
          </a:p>
          <a:p>
            <a:pPr eaLnBrk="1" hangingPunct="1"/>
            <a:endParaRPr lang="en-US" altLang="en-US"/>
          </a:p>
        </p:txBody>
      </p:sp>
      <p:sp>
        <p:nvSpPr>
          <p:cNvPr id="4" name="Date Placeholder 3">
            <a:extLst>
              <a:ext uri="{FF2B5EF4-FFF2-40B4-BE49-F238E27FC236}">
                <a16:creationId xmlns:a16="http://schemas.microsoft.com/office/drawing/2014/main" id="{7908FFD8-A58C-B893-5A61-962F61948406}"/>
              </a:ext>
            </a:extLst>
          </p:cNvPr>
          <p:cNvSpPr>
            <a:spLocks noGrp="1"/>
          </p:cNvSpPr>
          <p:nvPr>
            <p:ph type="dt" sz="quarter" idx="10"/>
          </p:nvPr>
        </p:nvSpPr>
        <p:spPr/>
        <p:txBody>
          <a:bodyPr/>
          <a:lstStyle/>
          <a:p>
            <a:pPr>
              <a:defRPr/>
            </a:pPr>
            <a:fld id="{B9A1F0A0-F039-4AC1-9E24-228245E301C3}" type="datetime1">
              <a:rPr lang="en-US"/>
              <a:pPr>
                <a:defRPr/>
              </a:pPr>
              <a:t>4/25/2025</a:t>
            </a:fld>
            <a:endParaRPr lang="en-US"/>
          </a:p>
        </p:txBody>
      </p:sp>
      <p:sp>
        <p:nvSpPr>
          <p:cNvPr id="54277" name="Slide Number Placeholder 4">
            <a:extLst>
              <a:ext uri="{FF2B5EF4-FFF2-40B4-BE49-F238E27FC236}">
                <a16:creationId xmlns:a16="http://schemas.microsoft.com/office/drawing/2014/main" id="{09E3A8B1-C8A1-3EBB-53D2-3C351B3D0A1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07444B4-914A-42D5-BE6D-10154712B0BF}" type="slidenum">
              <a:rPr lang="en-US" altLang="en-US" sz="1200" smtClean="0">
                <a:solidFill>
                  <a:srgbClr val="898989"/>
                </a:solidFill>
                <a:latin typeface="Arial" panose="020B0604020202020204" pitchFamily="34" charset="0"/>
              </a:rPr>
              <a:pPr>
                <a:spcBef>
                  <a:spcPct val="0"/>
                </a:spcBef>
                <a:buFontTx/>
                <a:buNone/>
              </a:pPr>
              <a:t>28</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A067ACCF-578E-BB53-94C6-ABD9B2C105F3}"/>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CB82A8D3-133C-D3D4-FA67-03EB6B6A61BC}"/>
              </a:ext>
            </a:extLst>
          </p:cNvPr>
          <p:cNvSpPr>
            <a:spLocks noGrp="1"/>
          </p:cNvSpPr>
          <p:nvPr>
            <p:ph type="title"/>
          </p:nvPr>
        </p:nvSpPr>
        <p:spPr/>
        <p:txBody>
          <a:bodyPr/>
          <a:lstStyle/>
          <a:p>
            <a:pPr eaLnBrk="1" hangingPunct="1"/>
            <a:r>
              <a:rPr lang="en-US" altLang="en-US"/>
              <a:t>The effect of LDP ON V/Q</a:t>
            </a:r>
          </a:p>
        </p:txBody>
      </p:sp>
      <p:sp>
        <p:nvSpPr>
          <p:cNvPr id="55299" name="Content Placeholder 2">
            <a:extLst>
              <a:ext uri="{FF2B5EF4-FFF2-40B4-BE49-F238E27FC236}">
                <a16:creationId xmlns:a16="http://schemas.microsoft.com/office/drawing/2014/main" id="{E635C743-0C4E-77B2-32E1-79D1DFF7C39D}"/>
              </a:ext>
            </a:extLst>
          </p:cNvPr>
          <p:cNvSpPr>
            <a:spLocks noGrp="1"/>
          </p:cNvSpPr>
          <p:nvPr>
            <p:ph idx="1"/>
          </p:nvPr>
        </p:nvSpPr>
        <p:spPr>
          <a:xfrm>
            <a:off x="1905000" y="1371600"/>
            <a:ext cx="8534400" cy="4759325"/>
          </a:xfrm>
        </p:spPr>
        <p:txBody>
          <a:bodyPr/>
          <a:lstStyle/>
          <a:p>
            <a:pPr eaLnBrk="1" hangingPunct="1"/>
            <a:r>
              <a:rPr lang="en-US" altLang="en-US"/>
              <a:t>Induction of GA causes a reduction in the volumes of both lungs secondary to a reduction in FRC.</a:t>
            </a:r>
          </a:p>
          <a:p>
            <a:pPr eaLnBrk="1" hangingPunct="1"/>
            <a:r>
              <a:rPr lang="en-US" altLang="en-US"/>
              <a:t>Any reduction in volume in the dependent lung is of a greater magnitude than that in the nondependent lung for several reasons.</a:t>
            </a:r>
          </a:p>
          <a:p>
            <a:pPr eaLnBrk="1" hangingPunct="1"/>
            <a:endParaRPr lang="en-US" altLang="en-US"/>
          </a:p>
        </p:txBody>
      </p:sp>
      <p:sp>
        <p:nvSpPr>
          <p:cNvPr id="4" name="Date Placeholder 3">
            <a:extLst>
              <a:ext uri="{FF2B5EF4-FFF2-40B4-BE49-F238E27FC236}">
                <a16:creationId xmlns:a16="http://schemas.microsoft.com/office/drawing/2014/main" id="{385CE97C-223A-F609-CDD6-637E0A0EA0C4}"/>
              </a:ext>
            </a:extLst>
          </p:cNvPr>
          <p:cNvSpPr>
            <a:spLocks noGrp="1"/>
          </p:cNvSpPr>
          <p:nvPr>
            <p:ph type="dt" sz="quarter" idx="10"/>
          </p:nvPr>
        </p:nvSpPr>
        <p:spPr/>
        <p:txBody>
          <a:bodyPr/>
          <a:lstStyle/>
          <a:p>
            <a:pPr>
              <a:defRPr/>
            </a:pPr>
            <a:fld id="{28F5BA78-9FBF-4926-8CC5-59FEBF1C970A}" type="datetime1">
              <a:rPr lang="en-US"/>
              <a:pPr>
                <a:defRPr/>
              </a:pPr>
              <a:t>4/25/2025</a:t>
            </a:fld>
            <a:endParaRPr lang="en-US"/>
          </a:p>
        </p:txBody>
      </p:sp>
      <p:sp>
        <p:nvSpPr>
          <p:cNvPr id="55301" name="Slide Number Placeholder 4">
            <a:extLst>
              <a:ext uri="{FF2B5EF4-FFF2-40B4-BE49-F238E27FC236}">
                <a16:creationId xmlns:a16="http://schemas.microsoft.com/office/drawing/2014/main" id="{E662A021-98A3-E456-614B-D53B9BB8C2A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C537D1B-0425-47D8-8822-2C1008FEBCCC}" type="slidenum">
              <a:rPr lang="en-US" altLang="en-US" sz="1200" smtClean="0">
                <a:solidFill>
                  <a:srgbClr val="898989"/>
                </a:solidFill>
                <a:latin typeface="Arial" panose="020B0604020202020204" pitchFamily="34" charset="0"/>
              </a:rPr>
              <a:pPr>
                <a:spcBef>
                  <a:spcPct val="0"/>
                </a:spcBef>
                <a:buFontTx/>
                <a:buNone/>
              </a:pPr>
              <a:t>29</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E770FB6C-AEF6-0BEF-BA33-CA49831CD76A}"/>
              </a:ext>
            </a:extLst>
          </p:cNvPr>
          <p:cNvSpPr>
            <a:spLocks noGrp="1"/>
          </p:cNvSpPr>
          <p:nvPr>
            <p:ph type="ftr" sz="quarter" idx="11"/>
          </p:nvPr>
        </p:nvSpPr>
        <p:spPr/>
        <p:txBody>
          <a:bodyPr/>
          <a:lstStyle/>
          <a:p>
            <a:pPr>
              <a:defRPr/>
            </a:pPr>
            <a:r>
              <a:rPr lang="en-US"/>
              <a:t>prepared by Eyayalem Melese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16045E48-8A9E-0FC7-93B3-0AD27FF4DB79}"/>
              </a:ext>
            </a:extLst>
          </p:cNvPr>
          <p:cNvSpPr>
            <a:spLocks noGrp="1"/>
          </p:cNvSpPr>
          <p:nvPr>
            <p:ph type="title"/>
          </p:nvPr>
        </p:nvSpPr>
        <p:spPr/>
        <p:txBody>
          <a:bodyPr/>
          <a:lstStyle/>
          <a:p>
            <a:pPr eaLnBrk="1" hangingPunct="1"/>
            <a:r>
              <a:rPr lang="en-US" altLang="en-US"/>
              <a:t>Physiology of the LDP</a:t>
            </a:r>
          </a:p>
        </p:txBody>
      </p:sp>
      <p:sp>
        <p:nvSpPr>
          <p:cNvPr id="3" name="Content Placeholder 2">
            <a:extLst>
              <a:ext uri="{FF2B5EF4-FFF2-40B4-BE49-F238E27FC236}">
                <a16:creationId xmlns:a16="http://schemas.microsoft.com/office/drawing/2014/main" id="{E2B460AE-3242-DAE5-082D-897159D08F36}"/>
              </a:ext>
            </a:extLst>
          </p:cNvPr>
          <p:cNvSpPr>
            <a:spLocks noGrp="1"/>
          </p:cNvSpPr>
          <p:nvPr>
            <p:ph idx="1"/>
          </p:nvPr>
        </p:nvSpPr>
        <p:spPr>
          <a:xfrm>
            <a:off x="1981200" y="1219200"/>
            <a:ext cx="8229600" cy="4911725"/>
          </a:xfrm>
        </p:spPr>
        <p:txBody>
          <a:bodyPr/>
          <a:lstStyle/>
          <a:p>
            <a:pPr eaLnBrk="1" hangingPunct="1">
              <a:buFont typeface="Wingdings" panose="05000000000000000000" pitchFamily="2" charset="2"/>
              <a:buNone/>
            </a:pPr>
            <a:r>
              <a:rPr lang="en-US" altLang="en-US"/>
              <a:t>The reasons are </a:t>
            </a:r>
          </a:p>
          <a:p>
            <a:pPr eaLnBrk="1" hangingPunct="1"/>
            <a:r>
              <a:rPr lang="en-US" altLang="en-US"/>
              <a:t>The cephalad displacement of the dependent diaphragm by the abdominal contents is more pronounced and is increased by paralysis.</a:t>
            </a:r>
          </a:p>
          <a:p>
            <a:pPr eaLnBrk="1" hangingPunct="1"/>
            <a:r>
              <a:rPr lang="en-US" altLang="en-US"/>
              <a:t>The mediastinal structures pressing on the dependent lung and/or poor positioning of the dependent side of the operating table prevent the lung from expanding properly.</a:t>
            </a:r>
          </a:p>
          <a:p>
            <a:pPr eaLnBrk="1" hangingPunct="1"/>
            <a:endParaRPr lang="en-US" altLang="en-US"/>
          </a:p>
        </p:txBody>
      </p:sp>
      <p:sp>
        <p:nvSpPr>
          <p:cNvPr id="4" name="Date Placeholder 3">
            <a:extLst>
              <a:ext uri="{FF2B5EF4-FFF2-40B4-BE49-F238E27FC236}">
                <a16:creationId xmlns:a16="http://schemas.microsoft.com/office/drawing/2014/main" id="{F5A1F327-D703-470F-CE9A-0E8AC706AD4A}"/>
              </a:ext>
            </a:extLst>
          </p:cNvPr>
          <p:cNvSpPr>
            <a:spLocks noGrp="1"/>
          </p:cNvSpPr>
          <p:nvPr>
            <p:ph type="dt" sz="quarter" idx="10"/>
          </p:nvPr>
        </p:nvSpPr>
        <p:spPr/>
        <p:txBody>
          <a:bodyPr/>
          <a:lstStyle/>
          <a:p>
            <a:pPr>
              <a:defRPr/>
            </a:pPr>
            <a:fld id="{60A26EC9-666C-4A01-AB39-F31A1F2385F4}" type="datetime1">
              <a:rPr lang="en-US"/>
              <a:pPr>
                <a:defRPr/>
              </a:pPr>
              <a:t>4/25/2025</a:t>
            </a:fld>
            <a:endParaRPr lang="en-US"/>
          </a:p>
        </p:txBody>
      </p:sp>
      <p:sp>
        <p:nvSpPr>
          <p:cNvPr id="56325" name="Slide Number Placeholder 4">
            <a:extLst>
              <a:ext uri="{FF2B5EF4-FFF2-40B4-BE49-F238E27FC236}">
                <a16:creationId xmlns:a16="http://schemas.microsoft.com/office/drawing/2014/main" id="{81BC590F-51C0-D8BE-8F92-885145C81B2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21B78C6-8B11-4643-AFF0-83D34DD4CFC5}" type="slidenum">
              <a:rPr lang="en-US" altLang="en-US" sz="1200" smtClean="0">
                <a:solidFill>
                  <a:srgbClr val="898989"/>
                </a:solidFill>
                <a:latin typeface="Arial" panose="020B0604020202020204" pitchFamily="34" charset="0"/>
              </a:rPr>
              <a:pPr>
                <a:spcBef>
                  <a:spcPct val="0"/>
                </a:spcBef>
                <a:buFontTx/>
                <a:buNone/>
              </a:pPr>
              <a:t>30</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20230C32-C14D-F5D3-A091-0399069472D2}"/>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AFA5AFDC-6AE5-23B8-7D7F-8868BC685700}"/>
              </a:ext>
            </a:extLst>
          </p:cNvPr>
          <p:cNvSpPr>
            <a:spLocks noGrp="1"/>
          </p:cNvSpPr>
          <p:nvPr>
            <p:ph type="title"/>
          </p:nvPr>
        </p:nvSpPr>
        <p:spPr/>
        <p:txBody>
          <a:bodyPr/>
          <a:lstStyle/>
          <a:p>
            <a:pPr eaLnBrk="1" hangingPunct="1"/>
            <a:r>
              <a:rPr lang="en-US" altLang="en-US"/>
              <a:t>The effect of LDP ON V/Q</a:t>
            </a:r>
          </a:p>
        </p:txBody>
      </p:sp>
      <p:sp>
        <p:nvSpPr>
          <p:cNvPr id="3" name="Content Placeholder 2">
            <a:extLst>
              <a:ext uri="{FF2B5EF4-FFF2-40B4-BE49-F238E27FC236}">
                <a16:creationId xmlns:a16="http://schemas.microsoft.com/office/drawing/2014/main" id="{7EA5DF65-D6CF-578B-8CDE-E7C1D7B6D65A}"/>
              </a:ext>
            </a:extLst>
          </p:cNvPr>
          <p:cNvSpPr>
            <a:spLocks noGrp="1"/>
          </p:cNvSpPr>
          <p:nvPr>
            <p:ph idx="1"/>
          </p:nvPr>
        </p:nvSpPr>
        <p:spPr>
          <a:xfrm>
            <a:off x="1524000" y="1600200"/>
            <a:ext cx="9144000" cy="4530725"/>
          </a:xfrm>
        </p:spPr>
        <p:txBody>
          <a:bodyPr/>
          <a:lstStyle/>
          <a:p>
            <a:pPr eaLnBrk="1" hangingPunct="1">
              <a:buFont typeface="Wingdings" panose="05000000000000000000" pitchFamily="2" charset="2"/>
              <a:buNone/>
            </a:pPr>
            <a:r>
              <a:rPr lang="en-US" altLang="en-US" b="1"/>
              <a:t>4-Lateral position, anesthetized, breathing spontaneously, chest open</a:t>
            </a:r>
            <a:endParaRPr lang="en-US" altLang="en-US"/>
          </a:p>
          <a:p>
            <a:pPr eaLnBrk="1" hangingPunct="1"/>
            <a:r>
              <a:rPr lang="en-US" altLang="en-US"/>
              <a:t>Opening the chest has little impact on the distribution of perfusion.however,the upper lung is now no longer restricted by the chest wall and is free to expand, resulting in a further increase in V/Q mismatch as the nondependent lung is preferentially ventilated owing to a new increased compliance.</a:t>
            </a:r>
          </a:p>
          <a:p>
            <a:pPr eaLnBrk="1" hangingPunct="1"/>
            <a:endParaRPr lang="en-US" altLang="en-US"/>
          </a:p>
        </p:txBody>
      </p:sp>
      <p:sp>
        <p:nvSpPr>
          <p:cNvPr id="4" name="Date Placeholder 3">
            <a:extLst>
              <a:ext uri="{FF2B5EF4-FFF2-40B4-BE49-F238E27FC236}">
                <a16:creationId xmlns:a16="http://schemas.microsoft.com/office/drawing/2014/main" id="{AEBF678A-7459-515C-9FEB-0C7E3E25B5D5}"/>
              </a:ext>
            </a:extLst>
          </p:cNvPr>
          <p:cNvSpPr>
            <a:spLocks noGrp="1"/>
          </p:cNvSpPr>
          <p:nvPr>
            <p:ph type="dt" sz="quarter" idx="10"/>
          </p:nvPr>
        </p:nvSpPr>
        <p:spPr/>
        <p:txBody>
          <a:bodyPr/>
          <a:lstStyle/>
          <a:p>
            <a:pPr>
              <a:defRPr/>
            </a:pPr>
            <a:fld id="{D4EADA7E-28DB-4C59-8A96-DA8D592C523B}" type="datetime1">
              <a:rPr lang="en-US"/>
              <a:pPr>
                <a:defRPr/>
              </a:pPr>
              <a:t>4/25/2025</a:t>
            </a:fld>
            <a:endParaRPr lang="en-US"/>
          </a:p>
        </p:txBody>
      </p:sp>
      <p:sp>
        <p:nvSpPr>
          <p:cNvPr id="57349" name="Slide Number Placeholder 4">
            <a:extLst>
              <a:ext uri="{FF2B5EF4-FFF2-40B4-BE49-F238E27FC236}">
                <a16:creationId xmlns:a16="http://schemas.microsoft.com/office/drawing/2014/main" id="{6E0392A5-64B3-8DA0-6449-1EFF4D11ACE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D840D39-CD48-4A03-9D3D-F4ADE2AD5E37}" type="slidenum">
              <a:rPr lang="en-US" altLang="en-US" sz="1200" smtClean="0">
                <a:solidFill>
                  <a:srgbClr val="898989"/>
                </a:solidFill>
                <a:latin typeface="Arial" panose="020B0604020202020204" pitchFamily="34" charset="0"/>
              </a:rPr>
              <a:pPr>
                <a:spcBef>
                  <a:spcPct val="0"/>
                </a:spcBef>
                <a:buFontTx/>
                <a:buNone/>
              </a:pPr>
              <a:t>31</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13EDEACE-D22E-DC70-6343-7F474FD351D7}"/>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8010E695-4C7B-67C5-0CB1-676988C2FF4C}"/>
              </a:ext>
            </a:extLst>
          </p:cNvPr>
          <p:cNvSpPr>
            <a:spLocks noGrp="1"/>
          </p:cNvSpPr>
          <p:nvPr>
            <p:ph type="title"/>
          </p:nvPr>
        </p:nvSpPr>
        <p:spPr/>
        <p:txBody>
          <a:bodyPr/>
          <a:lstStyle/>
          <a:p>
            <a:pPr eaLnBrk="1" hangingPunct="1"/>
            <a:r>
              <a:rPr lang="en-US" altLang="en-US"/>
              <a:t>The effect of LDP ON V/Q</a:t>
            </a:r>
          </a:p>
        </p:txBody>
      </p:sp>
      <p:sp>
        <p:nvSpPr>
          <p:cNvPr id="3" name="Content Placeholder 2">
            <a:extLst>
              <a:ext uri="{FF2B5EF4-FFF2-40B4-BE49-F238E27FC236}">
                <a16:creationId xmlns:a16="http://schemas.microsoft.com/office/drawing/2014/main" id="{7BD917A8-5B25-32ED-A626-56BF07FB488D}"/>
              </a:ext>
            </a:extLst>
          </p:cNvPr>
          <p:cNvSpPr>
            <a:spLocks noGrp="1"/>
          </p:cNvSpPr>
          <p:nvPr>
            <p:ph idx="1"/>
          </p:nvPr>
        </p:nvSpPr>
        <p:spPr>
          <a:xfrm>
            <a:off x="1828800" y="1143000"/>
            <a:ext cx="8610600" cy="5140325"/>
          </a:xfrm>
        </p:spPr>
        <p:txBody>
          <a:bodyPr/>
          <a:lstStyle/>
          <a:p>
            <a:pPr eaLnBrk="1" hangingPunct="1">
              <a:buFont typeface="Wingdings" panose="05000000000000000000" pitchFamily="2" charset="2"/>
              <a:buNone/>
            </a:pPr>
            <a:r>
              <a:rPr lang="en-US" altLang="en-US" b="1"/>
              <a:t> 5-Lateralposition,anesthetized,paralyzed,chest open.</a:t>
            </a:r>
            <a:endParaRPr lang="en-US" altLang="en-US"/>
          </a:p>
          <a:p>
            <a:pPr eaLnBrk="1" hangingPunct="1"/>
            <a:r>
              <a:rPr lang="en-US" altLang="en-US"/>
              <a:t>During paralysis, and positive-pressure ventilation, diaphragmatic displacement is maximal over the nondependent lung, where there is the least amount of resistance to diaphragmatic movement caused by the abdominal contents, this further compromises the ventilation to the dependent lung and increases the V/Q Mismatch.</a:t>
            </a:r>
          </a:p>
        </p:txBody>
      </p:sp>
      <p:sp>
        <p:nvSpPr>
          <p:cNvPr id="4" name="Date Placeholder 3">
            <a:extLst>
              <a:ext uri="{FF2B5EF4-FFF2-40B4-BE49-F238E27FC236}">
                <a16:creationId xmlns:a16="http://schemas.microsoft.com/office/drawing/2014/main" id="{238732FC-39E5-E3E6-5F1C-4AAABFAB5EE2}"/>
              </a:ext>
            </a:extLst>
          </p:cNvPr>
          <p:cNvSpPr>
            <a:spLocks noGrp="1"/>
          </p:cNvSpPr>
          <p:nvPr>
            <p:ph type="dt" sz="quarter" idx="10"/>
          </p:nvPr>
        </p:nvSpPr>
        <p:spPr/>
        <p:txBody>
          <a:bodyPr/>
          <a:lstStyle/>
          <a:p>
            <a:pPr>
              <a:defRPr/>
            </a:pPr>
            <a:fld id="{687A5932-B4A4-4973-BDC8-9B7764F07714}" type="datetime1">
              <a:rPr lang="en-US"/>
              <a:pPr>
                <a:defRPr/>
              </a:pPr>
              <a:t>4/25/2025</a:t>
            </a:fld>
            <a:endParaRPr lang="en-US"/>
          </a:p>
        </p:txBody>
      </p:sp>
      <p:sp>
        <p:nvSpPr>
          <p:cNvPr id="58373" name="Slide Number Placeholder 4">
            <a:extLst>
              <a:ext uri="{FF2B5EF4-FFF2-40B4-BE49-F238E27FC236}">
                <a16:creationId xmlns:a16="http://schemas.microsoft.com/office/drawing/2014/main" id="{D6646263-5218-5919-529B-E9FD509EE4A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DB94C8B-BB89-47EC-AB2C-329B4A86E887}" type="slidenum">
              <a:rPr lang="en-US" altLang="en-US" sz="1200" smtClean="0">
                <a:solidFill>
                  <a:srgbClr val="898989"/>
                </a:solidFill>
                <a:latin typeface="Arial" panose="020B0604020202020204" pitchFamily="34" charset="0"/>
              </a:rPr>
              <a:pPr>
                <a:spcBef>
                  <a:spcPct val="0"/>
                </a:spcBef>
                <a:buFontTx/>
                <a:buNone/>
              </a:pPr>
              <a:t>32</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EC072F47-0108-D459-4A29-DF96CC2AA9EE}"/>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E55A19ED-2590-AEFC-E1C6-458DF45F1DF2}"/>
              </a:ext>
            </a:extLst>
          </p:cNvPr>
          <p:cNvSpPr>
            <a:spLocks noGrp="1"/>
          </p:cNvSpPr>
          <p:nvPr>
            <p:ph type="title"/>
          </p:nvPr>
        </p:nvSpPr>
        <p:spPr/>
        <p:txBody>
          <a:bodyPr/>
          <a:lstStyle/>
          <a:p>
            <a:pPr eaLnBrk="1" hangingPunct="1"/>
            <a:r>
              <a:rPr lang="en-US" altLang="en-US"/>
              <a:t>The effect of LDP ON V/Q</a:t>
            </a:r>
          </a:p>
        </p:txBody>
      </p:sp>
      <p:sp>
        <p:nvSpPr>
          <p:cNvPr id="3" name="Content Placeholder 2">
            <a:extLst>
              <a:ext uri="{FF2B5EF4-FFF2-40B4-BE49-F238E27FC236}">
                <a16:creationId xmlns:a16="http://schemas.microsoft.com/office/drawing/2014/main" id="{91D9BD1E-D0A5-D2E0-8AB2-3101E3D2B251}"/>
              </a:ext>
            </a:extLst>
          </p:cNvPr>
          <p:cNvSpPr>
            <a:spLocks noGrp="1"/>
          </p:cNvSpPr>
          <p:nvPr>
            <p:ph idx="1"/>
          </p:nvPr>
        </p:nvSpPr>
        <p:spPr/>
        <p:txBody>
          <a:bodyPr/>
          <a:lstStyle/>
          <a:p>
            <a:pPr eaLnBrk="1" hangingPunct="1">
              <a:buFont typeface="Wingdings" panose="05000000000000000000" pitchFamily="2" charset="2"/>
              <a:buNone/>
            </a:pPr>
            <a:r>
              <a:rPr lang="en-US" altLang="en-US" b="1"/>
              <a:t>6-one lung ventilation, anesthetized, paralyzed, chest open</a:t>
            </a:r>
          </a:p>
          <a:p>
            <a:pPr eaLnBrk="1" hangingPunct="1"/>
            <a:r>
              <a:rPr lang="en-US" altLang="en-US"/>
              <a:t>During two lung ventilation in the lateral position, the mean blood flow to the ND lung is assumed to be 40% of the cardiac out put, and 60%of the cardiac out put goes to the D lung.</a:t>
            </a:r>
          </a:p>
          <a:p>
            <a:pPr eaLnBrk="1" hangingPunct="1"/>
            <a:endParaRPr lang="en-US" altLang="en-US"/>
          </a:p>
        </p:txBody>
      </p:sp>
      <p:sp>
        <p:nvSpPr>
          <p:cNvPr id="4" name="Date Placeholder 3">
            <a:extLst>
              <a:ext uri="{FF2B5EF4-FFF2-40B4-BE49-F238E27FC236}">
                <a16:creationId xmlns:a16="http://schemas.microsoft.com/office/drawing/2014/main" id="{7F39C51E-91B9-8149-A274-4CF6DD6051F9}"/>
              </a:ext>
            </a:extLst>
          </p:cNvPr>
          <p:cNvSpPr>
            <a:spLocks noGrp="1"/>
          </p:cNvSpPr>
          <p:nvPr>
            <p:ph type="dt" sz="quarter" idx="10"/>
          </p:nvPr>
        </p:nvSpPr>
        <p:spPr/>
        <p:txBody>
          <a:bodyPr/>
          <a:lstStyle/>
          <a:p>
            <a:pPr>
              <a:defRPr/>
            </a:pPr>
            <a:fld id="{DDBBB3AC-F90E-4235-AE22-44179F98F9D8}" type="datetime1">
              <a:rPr lang="en-US"/>
              <a:pPr>
                <a:defRPr/>
              </a:pPr>
              <a:t>4/25/2025</a:t>
            </a:fld>
            <a:endParaRPr lang="en-US"/>
          </a:p>
        </p:txBody>
      </p:sp>
      <p:sp>
        <p:nvSpPr>
          <p:cNvPr id="59397" name="Slide Number Placeholder 4">
            <a:extLst>
              <a:ext uri="{FF2B5EF4-FFF2-40B4-BE49-F238E27FC236}">
                <a16:creationId xmlns:a16="http://schemas.microsoft.com/office/drawing/2014/main" id="{014BD1AE-7AA2-7631-DBCB-D72ACCC5F7B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82730D4-E2BE-4A41-B8AC-2054684DCF70}" type="slidenum">
              <a:rPr lang="en-US" altLang="en-US" sz="1200" smtClean="0">
                <a:solidFill>
                  <a:srgbClr val="898989"/>
                </a:solidFill>
                <a:latin typeface="Arial" panose="020B0604020202020204" pitchFamily="34" charset="0"/>
              </a:rPr>
              <a:pPr>
                <a:spcBef>
                  <a:spcPct val="0"/>
                </a:spcBef>
                <a:buFontTx/>
                <a:buNone/>
              </a:pPr>
              <a:t>33</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A32052A6-F9EA-D02D-5F73-2CBC62E90693}"/>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BD0BB7E7-3C2A-7113-FFE4-C1B96163E103}"/>
              </a:ext>
            </a:extLst>
          </p:cNvPr>
          <p:cNvSpPr>
            <a:spLocks noGrp="1"/>
          </p:cNvSpPr>
          <p:nvPr>
            <p:ph type="title"/>
          </p:nvPr>
        </p:nvSpPr>
        <p:spPr/>
        <p:txBody>
          <a:bodyPr/>
          <a:lstStyle/>
          <a:p>
            <a:pPr eaLnBrk="1" hangingPunct="1"/>
            <a:r>
              <a:rPr lang="en-US" altLang="en-US"/>
              <a:t>The effect of LDP ON V/Q</a:t>
            </a:r>
          </a:p>
        </p:txBody>
      </p:sp>
      <p:sp>
        <p:nvSpPr>
          <p:cNvPr id="3" name="Content Placeholder 2">
            <a:extLst>
              <a:ext uri="{FF2B5EF4-FFF2-40B4-BE49-F238E27FC236}">
                <a16:creationId xmlns:a16="http://schemas.microsoft.com/office/drawing/2014/main" id="{88EECEC6-9CB3-D707-BDD6-3D829ACEF38F}"/>
              </a:ext>
            </a:extLst>
          </p:cNvPr>
          <p:cNvSpPr>
            <a:spLocks noGrp="1"/>
          </p:cNvSpPr>
          <p:nvPr>
            <p:ph idx="1"/>
          </p:nvPr>
        </p:nvSpPr>
        <p:spPr/>
        <p:txBody>
          <a:bodyPr/>
          <a:lstStyle/>
          <a:p>
            <a:pPr eaLnBrk="1" hangingPunct="1"/>
            <a:r>
              <a:rPr lang="en-US" altLang="en-US"/>
              <a:t>shunt in the lateral position is 10%of the cardiac out put &amp;is equally divided as 5% in each lung. </a:t>
            </a:r>
          </a:p>
          <a:p>
            <a:pPr lvl="1" eaLnBrk="1" hangingPunct="1"/>
            <a:r>
              <a:rPr lang="en-US" altLang="en-US"/>
              <a:t>This is due to drainages from </a:t>
            </a:r>
          </a:p>
          <a:p>
            <a:pPr lvl="2" eaLnBrk="1" hangingPunct="1"/>
            <a:r>
              <a:rPr lang="en-US" altLang="en-US"/>
              <a:t>Thebesian veins of the heart</a:t>
            </a:r>
          </a:p>
          <a:p>
            <a:pPr lvl="2" eaLnBrk="1" hangingPunct="1"/>
            <a:r>
              <a:rPr lang="en-US" altLang="en-US"/>
              <a:t>The pulmonary bronchial veins</a:t>
            </a:r>
          </a:p>
          <a:p>
            <a:pPr lvl="2" eaLnBrk="1" hangingPunct="1"/>
            <a:r>
              <a:rPr lang="en-US" altLang="en-US"/>
              <a:t>Mediastinal and pleural veins</a:t>
            </a:r>
            <a:endParaRPr lang="en-US" altLang="en-US" sz="2200"/>
          </a:p>
          <a:p>
            <a:pPr eaLnBrk="1" hangingPunct="1"/>
            <a:endParaRPr lang="en-US" altLang="en-US"/>
          </a:p>
        </p:txBody>
      </p:sp>
      <p:sp>
        <p:nvSpPr>
          <p:cNvPr id="4" name="Date Placeholder 3">
            <a:extLst>
              <a:ext uri="{FF2B5EF4-FFF2-40B4-BE49-F238E27FC236}">
                <a16:creationId xmlns:a16="http://schemas.microsoft.com/office/drawing/2014/main" id="{5C512CBF-7AE1-58B6-9B1D-60A9DF0F3F0B}"/>
              </a:ext>
            </a:extLst>
          </p:cNvPr>
          <p:cNvSpPr>
            <a:spLocks noGrp="1"/>
          </p:cNvSpPr>
          <p:nvPr>
            <p:ph type="dt" sz="quarter" idx="10"/>
          </p:nvPr>
        </p:nvSpPr>
        <p:spPr/>
        <p:txBody>
          <a:bodyPr/>
          <a:lstStyle/>
          <a:p>
            <a:pPr>
              <a:defRPr/>
            </a:pPr>
            <a:fld id="{CF2E6686-F13E-449C-AE45-CC9A8A6EDC12}" type="datetime1">
              <a:rPr lang="en-US"/>
              <a:pPr>
                <a:defRPr/>
              </a:pPr>
              <a:t>4/25/2025</a:t>
            </a:fld>
            <a:endParaRPr lang="en-US"/>
          </a:p>
        </p:txBody>
      </p:sp>
      <p:sp>
        <p:nvSpPr>
          <p:cNvPr id="60421" name="Slide Number Placeholder 4">
            <a:extLst>
              <a:ext uri="{FF2B5EF4-FFF2-40B4-BE49-F238E27FC236}">
                <a16:creationId xmlns:a16="http://schemas.microsoft.com/office/drawing/2014/main" id="{07A1A271-7EDF-5BF6-2FBD-D9B4EAAEBBF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C860FEA-E1F7-4DA8-BA6C-B2124F86A7BD}" type="slidenum">
              <a:rPr lang="en-US" altLang="en-US" sz="1200" smtClean="0">
                <a:solidFill>
                  <a:srgbClr val="898989"/>
                </a:solidFill>
                <a:latin typeface="Arial" panose="020B0604020202020204" pitchFamily="34" charset="0"/>
              </a:rPr>
              <a:pPr>
                <a:spcBef>
                  <a:spcPct val="0"/>
                </a:spcBef>
                <a:buFontTx/>
                <a:buNone/>
              </a:pPr>
              <a:t>34</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D5789F48-FF51-1A89-5816-79E506A8BB90}"/>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39E6A3CE-863A-AF54-A162-9489322D7CBA}"/>
              </a:ext>
            </a:extLst>
          </p:cNvPr>
          <p:cNvSpPr>
            <a:spLocks noGrp="1"/>
          </p:cNvSpPr>
          <p:nvPr>
            <p:ph type="title"/>
          </p:nvPr>
        </p:nvSpPr>
        <p:spPr>
          <a:xfrm>
            <a:off x="1981200" y="277813"/>
            <a:ext cx="8229600" cy="788987"/>
          </a:xfrm>
        </p:spPr>
        <p:txBody>
          <a:bodyPr/>
          <a:lstStyle/>
          <a:p>
            <a:pPr eaLnBrk="1" hangingPunct="1"/>
            <a:r>
              <a:rPr lang="en-US" altLang="en-US"/>
              <a:t>The effect of LDP ON V/Q</a:t>
            </a:r>
          </a:p>
        </p:txBody>
      </p:sp>
      <p:sp>
        <p:nvSpPr>
          <p:cNvPr id="3" name="Content Placeholder 2">
            <a:extLst>
              <a:ext uri="{FF2B5EF4-FFF2-40B4-BE49-F238E27FC236}">
                <a16:creationId xmlns:a16="http://schemas.microsoft.com/office/drawing/2014/main" id="{D68D86F2-44C7-05D8-9585-DB3526542349}"/>
              </a:ext>
            </a:extLst>
          </p:cNvPr>
          <p:cNvSpPr>
            <a:spLocks noGrp="1"/>
          </p:cNvSpPr>
          <p:nvPr>
            <p:ph idx="1"/>
          </p:nvPr>
        </p:nvSpPr>
        <p:spPr>
          <a:xfrm>
            <a:off x="1524000" y="1143000"/>
            <a:ext cx="9144000" cy="5181600"/>
          </a:xfrm>
        </p:spPr>
        <p:txBody>
          <a:bodyPr/>
          <a:lstStyle/>
          <a:p>
            <a:pPr eaLnBrk="1" hangingPunct="1"/>
            <a:r>
              <a:rPr lang="en-US" altLang="en-US"/>
              <a:t>therefore, the average percentage of cardiac out put participating in gas exchange is 35% in the non dependent lung and 55% in the dependent lung.</a:t>
            </a:r>
          </a:p>
          <a:p>
            <a:pPr lvl="2" eaLnBrk="1" hangingPunct="1"/>
            <a:r>
              <a:rPr lang="en-US" altLang="en-US"/>
              <a:t>One lung ventilation creates an obligatory right to left transpulmonary shunt through the non ventilated, non dependent lung, since the V/Q ratio of that lung is zero. In theory, an additional 35% should be added to the total shunt during one lung ventilation. however, assuming active hypoxic pulmonary vasoconstriction, blood flow to the nondependent hypoxic lung will be reduced by 50% and therefore will be 35/2 = 17.5%.</a:t>
            </a:r>
          </a:p>
          <a:p>
            <a:pPr eaLnBrk="1" hangingPunct="1"/>
            <a:endParaRPr lang="en-US" altLang="en-US"/>
          </a:p>
          <a:p>
            <a:pPr eaLnBrk="1" hangingPunct="1"/>
            <a:endParaRPr lang="en-US" altLang="en-US"/>
          </a:p>
        </p:txBody>
      </p:sp>
      <p:sp>
        <p:nvSpPr>
          <p:cNvPr id="4" name="Date Placeholder 3">
            <a:extLst>
              <a:ext uri="{FF2B5EF4-FFF2-40B4-BE49-F238E27FC236}">
                <a16:creationId xmlns:a16="http://schemas.microsoft.com/office/drawing/2014/main" id="{F820D4F3-F7E9-0C4C-3B5D-D7C18362456F}"/>
              </a:ext>
            </a:extLst>
          </p:cNvPr>
          <p:cNvSpPr>
            <a:spLocks noGrp="1"/>
          </p:cNvSpPr>
          <p:nvPr>
            <p:ph type="dt" sz="quarter" idx="10"/>
          </p:nvPr>
        </p:nvSpPr>
        <p:spPr/>
        <p:txBody>
          <a:bodyPr/>
          <a:lstStyle/>
          <a:p>
            <a:pPr>
              <a:defRPr/>
            </a:pPr>
            <a:fld id="{5F6205E7-2DE1-4A94-9DC6-CF6B66AC365D}" type="datetime1">
              <a:rPr lang="en-US"/>
              <a:pPr>
                <a:defRPr/>
              </a:pPr>
              <a:t>4/25/2025</a:t>
            </a:fld>
            <a:endParaRPr lang="en-US"/>
          </a:p>
        </p:txBody>
      </p:sp>
      <p:sp>
        <p:nvSpPr>
          <p:cNvPr id="61445" name="Slide Number Placeholder 4">
            <a:extLst>
              <a:ext uri="{FF2B5EF4-FFF2-40B4-BE49-F238E27FC236}">
                <a16:creationId xmlns:a16="http://schemas.microsoft.com/office/drawing/2014/main" id="{9D05B5B1-4E58-2BC3-BA03-EC5648C11B8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9A0067B-D9FE-4BFA-83ED-92ABD3040073}" type="slidenum">
              <a:rPr lang="en-US" altLang="en-US" sz="1200" smtClean="0">
                <a:solidFill>
                  <a:srgbClr val="898989"/>
                </a:solidFill>
                <a:latin typeface="Arial" panose="020B0604020202020204" pitchFamily="34" charset="0"/>
              </a:rPr>
              <a:pPr>
                <a:spcBef>
                  <a:spcPct val="0"/>
                </a:spcBef>
                <a:buFontTx/>
                <a:buNone/>
              </a:pPr>
              <a:t>35</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38FB4938-F24E-24F9-077D-85DF829F142C}"/>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1488A07D-03FF-1A91-7864-40B47FE356CC}"/>
              </a:ext>
            </a:extLst>
          </p:cNvPr>
          <p:cNvSpPr>
            <a:spLocks noGrp="1"/>
          </p:cNvSpPr>
          <p:nvPr>
            <p:ph type="title"/>
          </p:nvPr>
        </p:nvSpPr>
        <p:spPr>
          <a:xfrm>
            <a:off x="1981200" y="277813"/>
            <a:ext cx="8229600" cy="1017587"/>
          </a:xfrm>
        </p:spPr>
        <p:txBody>
          <a:bodyPr/>
          <a:lstStyle/>
          <a:p>
            <a:pPr eaLnBrk="1" hangingPunct="1"/>
            <a:r>
              <a:rPr lang="en-US" altLang="en-US"/>
              <a:t>The effect of LDP ON V/Q</a:t>
            </a:r>
          </a:p>
        </p:txBody>
      </p:sp>
      <p:sp>
        <p:nvSpPr>
          <p:cNvPr id="3" name="Content Placeholder 2">
            <a:extLst>
              <a:ext uri="{FF2B5EF4-FFF2-40B4-BE49-F238E27FC236}">
                <a16:creationId xmlns:a16="http://schemas.microsoft.com/office/drawing/2014/main" id="{7D4AEADB-34EB-1163-6ECB-F1D54F0F5232}"/>
              </a:ext>
            </a:extLst>
          </p:cNvPr>
          <p:cNvSpPr>
            <a:spLocks noGrp="1"/>
          </p:cNvSpPr>
          <p:nvPr>
            <p:ph idx="1"/>
          </p:nvPr>
        </p:nvSpPr>
        <p:spPr/>
        <p:txBody>
          <a:bodyPr/>
          <a:lstStyle/>
          <a:p>
            <a:pPr eaLnBrk="1" hangingPunct="1"/>
            <a:r>
              <a:rPr lang="en-US" altLang="en-US"/>
              <a:t>To this must be added 5%, which is the obligatory shunt through the non-dependent lung, will therefore be 22.5%.</a:t>
            </a:r>
          </a:p>
          <a:p>
            <a:pPr eaLnBrk="1" hangingPunct="1"/>
            <a:r>
              <a:rPr lang="en-US" altLang="en-US"/>
              <a:t>Together with the 5% shunt in the dependent lung, total shunt during one lung ventilation is 22.5 + 5 = 27.5%, this results in Pao</a:t>
            </a:r>
            <a:r>
              <a:rPr lang="en-US" altLang="en-US" baseline="-25000"/>
              <a:t>2</a:t>
            </a:r>
            <a:r>
              <a:rPr lang="en-US" altLang="en-US"/>
              <a:t> of approximately 150 mmHg.</a:t>
            </a:r>
          </a:p>
          <a:p>
            <a:pPr eaLnBrk="1" hangingPunct="1"/>
            <a:endParaRPr lang="en-US" altLang="en-US"/>
          </a:p>
        </p:txBody>
      </p:sp>
      <p:sp>
        <p:nvSpPr>
          <p:cNvPr id="4" name="Date Placeholder 3">
            <a:extLst>
              <a:ext uri="{FF2B5EF4-FFF2-40B4-BE49-F238E27FC236}">
                <a16:creationId xmlns:a16="http://schemas.microsoft.com/office/drawing/2014/main" id="{14DB4DB8-B925-08EF-F91E-16EC094AD3F7}"/>
              </a:ext>
            </a:extLst>
          </p:cNvPr>
          <p:cNvSpPr>
            <a:spLocks noGrp="1"/>
          </p:cNvSpPr>
          <p:nvPr>
            <p:ph type="dt" sz="quarter" idx="10"/>
          </p:nvPr>
        </p:nvSpPr>
        <p:spPr/>
        <p:txBody>
          <a:bodyPr/>
          <a:lstStyle/>
          <a:p>
            <a:pPr>
              <a:defRPr/>
            </a:pPr>
            <a:fld id="{F2732AE5-4E3E-4A35-B9A9-C97F0D2DF2CB}" type="datetime1">
              <a:rPr lang="en-US"/>
              <a:pPr>
                <a:defRPr/>
              </a:pPr>
              <a:t>4/25/2025</a:t>
            </a:fld>
            <a:endParaRPr lang="en-US"/>
          </a:p>
        </p:txBody>
      </p:sp>
      <p:sp>
        <p:nvSpPr>
          <p:cNvPr id="62469" name="Slide Number Placeholder 4">
            <a:extLst>
              <a:ext uri="{FF2B5EF4-FFF2-40B4-BE49-F238E27FC236}">
                <a16:creationId xmlns:a16="http://schemas.microsoft.com/office/drawing/2014/main" id="{CD162E81-0183-8FD1-143B-6D2647D7668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065044D-A723-4412-8937-3A426520C4CA}" type="slidenum">
              <a:rPr lang="en-US" altLang="en-US" sz="1200" smtClean="0">
                <a:solidFill>
                  <a:srgbClr val="898989"/>
                </a:solidFill>
                <a:latin typeface="Arial" panose="020B0604020202020204" pitchFamily="34" charset="0"/>
              </a:rPr>
              <a:pPr>
                <a:spcBef>
                  <a:spcPct val="0"/>
                </a:spcBef>
                <a:buFontTx/>
                <a:buNone/>
              </a:pPr>
              <a:t>36</a:t>
            </a:fld>
            <a:endParaRPr lang="en-US" altLang="en-US" sz="1200">
              <a:solidFill>
                <a:srgbClr val="898989"/>
              </a:solidFill>
              <a:latin typeface="Arial" panose="020B0604020202020204" pitchFamily="34" charset="0"/>
            </a:endParaRPr>
          </a:p>
        </p:txBody>
      </p:sp>
      <p:sp>
        <p:nvSpPr>
          <p:cNvPr id="2" name="Footer Placeholder 1">
            <a:extLst>
              <a:ext uri="{FF2B5EF4-FFF2-40B4-BE49-F238E27FC236}">
                <a16:creationId xmlns:a16="http://schemas.microsoft.com/office/drawing/2014/main" id="{C7D9FA9F-8740-C983-23AD-A6531F1D9109}"/>
              </a:ext>
            </a:extLst>
          </p:cNvPr>
          <p:cNvSpPr>
            <a:spLocks noGrp="1"/>
          </p:cNvSpPr>
          <p:nvPr>
            <p:ph type="ftr" sz="quarter" idx="11"/>
          </p:nvPr>
        </p:nvSpPr>
        <p:spPr/>
        <p:txBody>
          <a:bodyPr/>
          <a:lstStyle/>
          <a:p>
            <a:pPr>
              <a:defRPr/>
            </a:pPr>
            <a:r>
              <a:rPr lang="en-US"/>
              <a:t>prepared by Eyayalem Melese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Content Placeholder 2">
            <a:extLst>
              <a:ext uri="{FF2B5EF4-FFF2-40B4-BE49-F238E27FC236}">
                <a16:creationId xmlns:a16="http://schemas.microsoft.com/office/drawing/2014/main" id="{D31086A1-C00C-188D-A3D0-09BC927C2D05}"/>
              </a:ext>
            </a:extLst>
          </p:cNvPr>
          <p:cNvSpPr>
            <a:spLocks noGrp="1"/>
          </p:cNvSpPr>
          <p:nvPr>
            <p:ph idx="1"/>
          </p:nvPr>
        </p:nvSpPr>
        <p:spPr>
          <a:xfrm>
            <a:off x="609600" y="3733800"/>
            <a:ext cx="10972800" cy="914400"/>
          </a:xfrm>
        </p:spPr>
        <p:txBody>
          <a:bodyPr/>
          <a:lstStyle/>
          <a:p>
            <a:pPr marL="0" indent="0" algn="ctr">
              <a:buFont typeface="Arial" panose="020B0604020202020204" pitchFamily="34" charset="0"/>
              <a:buNone/>
            </a:pPr>
            <a:r>
              <a:rPr lang="en-US" altLang="en-US" sz="4800" b="1" dirty="0">
                <a:solidFill>
                  <a:srgbClr val="00B050"/>
                </a:solidFill>
              </a:rPr>
              <a:t>Thank you!!! </a:t>
            </a:r>
            <a:r>
              <a:rPr lang="en-US" altLang="en-US" sz="4800" b="1">
                <a:solidFill>
                  <a:srgbClr val="00B050"/>
                </a:solidFill>
              </a:rPr>
              <a:t>Melat &amp; Meron</a:t>
            </a:r>
          </a:p>
        </p:txBody>
      </p:sp>
      <p:sp>
        <p:nvSpPr>
          <p:cNvPr id="4" name="Date Placeholder 3">
            <a:extLst>
              <a:ext uri="{FF2B5EF4-FFF2-40B4-BE49-F238E27FC236}">
                <a16:creationId xmlns:a16="http://schemas.microsoft.com/office/drawing/2014/main" id="{984079BA-C74E-9C2A-8A46-4FB9236D53B1}"/>
              </a:ext>
            </a:extLst>
          </p:cNvPr>
          <p:cNvSpPr>
            <a:spLocks noGrp="1"/>
          </p:cNvSpPr>
          <p:nvPr>
            <p:ph type="dt" sz="quarter" idx="10"/>
          </p:nvPr>
        </p:nvSpPr>
        <p:spPr/>
        <p:txBody>
          <a:bodyPr/>
          <a:lstStyle/>
          <a:p>
            <a:pPr>
              <a:defRPr/>
            </a:pPr>
            <a:fld id="{3BD3ADFD-F55B-4B96-979E-C4A64396023A}" type="datetime1">
              <a:rPr lang="en-US" smtClean="0"/>
              <a:pPr>
                <a:defRPr/>
              </a:pPr>
              <a:t>4/25/2025</a:t>
            </a:fld>
            <a:endParaRPr lang="en-US"/>
          </a:p>
        </p:txBody>
      </p:sp>
      <p:sp>
        <p:nvSpPr>
          <p:cNvPr id="5" name="Footer Placeholder 4">
            <a:extLst>
              <a:ext uri="{FF2B5EF4-FFF2-40B4-BE49-F238E27FC236}">
                <a16:creationId xmlns:a16="http://schemas.microsoft.com/office/drawing/2014/main" id="{CB6C49FF-2911-B18E-11D3-7945FD5D2DEE}"/>
              </a:ext>
            </a:extLst>
          </p:cNvPr>
          <p:cNvSpPr>
            <a:spLocks noGrp="1"/>
          </p:cNvSpPr>
          <p:nvPr>
            <p:ph type="ftr" sz="quarter" idx="11"/>
          </p:nvPr>
        </p:nvSpPr>
        <p:spPr/>
        <p:txBody>
          <a:bodyPr/>
          <a:lstStyle/>
          <a:p>
            <a:pPr>
              <a:defRPr/>
            </a:pPr>
            <a:r>
              <a:rPr lang="en-US"/>
              <a:t>prepared by Eyayalem Melese</a:t>
            </a:r>
          </a:p>
        </p:txBody>
      </p:sp>
      <p:sp>
        <p:nvSpPr>
          <p:cNvPr id="63493" name="Slide Number Placeholder 5">
            <a:extLst>
              <a:ext uri="{FF2B5EF4-FFF2-40B4-BE49-F238E27FC236}">
                <a16:creationId xmlns:a16="http://schemas.microsoft.com/office/drawing/2014/main" id="{BAC8D3AC-E1BA-496A-1E69-BCA529911F3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773CF94-F6A0-4E62-8F5D-1D54ED943330}" type="slidenum">
              <a:rPr lang="en-US" altLang="en-US" sz="1200" smtClean="0">
                <a:solidFill>
                  <a:srgbClr val="898989"/>
                </a:solidFill>
                <a:latin typeface="Arial" panose="020B0604020202020204" pitchFamily="34" charset="0"/>
              </a:rPr>
              <a:pPr>
                <a:spcBef>
                  <a:spcPct val="0"/>
                </a:spcBef>
                <a:buFontTx/>
                <a:buNone/>
              </a:pPr>
              <a:t>37</a:t>
            </a:fld>
            <a:endParaRPr lang="en-US" altLang="en-US" sz="1200">
              <a:solidFill>
                <a:srgbClr val="898989"/>
              </a:solidFill>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12054</TotalTime>
  <Words>2257</Words>
  <Application>Microsoft Office PowerPoint</Application>
  <PresentationFormat>Widescreen</PresentationFormat>
  <Paragraphs>254</Paragraphs>
  <Slides>37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Wingdings</vt:lpstr>
      <vt:lpstr>Office Theme</vt:lpstr>
      <vt:lpstr>Chapter 5:  Blood flow in the lungs and Physiology one long ventilation</vt:lpstr>
      <vt:lpstr> Blood flow in the lungs and Physiology one long ventilation  </vt:lpstr>
      <vt:lpstr>Physiology of the LDP</vt:lpstr>
      <vt:lpstr>Ventilation :Perfusion Ratio </vt:lpstr>
      <vt:lpstr>Ventilation :Perfusion Ratio </vt:lpstr>
      <vt:lpstr>Ventilation :Perfusion Ratio </vt:lpstr>
      <vt:lpstr> the relation of ventilation, blood flow and V/Q ratios           between bottom and apical  parts of lung </vt:lpstr>
      <vt:lpstr>Physiology of the LDP</vt:lpstr>
      <vt:lpstr>Physiology of the LDP</vt:lpstr>
      <vt:lpstr>Physiology of the LDP</vt:lpstr>
      <vt:lpstr>Physiology of the LDP</vt:lpstr>
      <vt:lpstr>Physiology of the LDP</vt:lpstr>
      <vt:lpstr>Physiology of the LDP</vt:lpstr>
      <vt:lpstr>Physiology of the LDP</vt:lpstr>
      <vt:lpstr>Physiology of the LDP</vt:lpstr>
      <vt:lpstr>The effect of LDP ON V/Q</vt:lpstr>
      <vt:lpstr>The effect of LDP ON V/Q</vt:lpstr>
      <vt:lpstr>The effect of LDP ON V/Q</vt:lpstr>
      <vt:lpstr>The effect of LDP ON V/Q</vt:lpstr>
      <vt:lpstr>The effect of LDP ON V/Q</vt:lpstr>
      <vt:lpstr>The effect of LDP ON V/Q</vt:lpstr>
      <vt:lpstr>The effect of LDP ON V/Q</vt:lpstr>
      <vt:lpstr>The effect of LDP ON V/Q</vt:lpstr>
      <vt:lpstr>The effect of LDP ON V/Q</vt:lpstr>
      <vt:lpstr>The effect of LDP ON V/Q</vt:lpstr>
      <vt:lpstr>PowerPoint Presentation</vt:lpstr>
      <vt:lpstr>The effect of LDP ON V/Q</vt:lpstr>
      <vt:lpstr>The effect of LDP ON V/Q</vt:lpstr>
      <vt:lpstr>The effect of LDP ON V/Q</vt:lpstr>
      <vt:lpstr>Physiology of the LDP</vt:lpstr>
      <vt:lpstr>The effect of LDP ON V/Q</vt:lpstr>
      <vt:lpstr>The effect of LDP ON V/Q</vt:lpstr>
      <vt:lpstr>The effect of LDP ON V/Q</vt:lpstr>
      <vt:lpstr>The effect of LDP ON V/Q</vt:lpstr>
      <vt:lpstr>The effect of LDP ON V/Q</vt:lpstr>
      <vt:lpstr>The effect of LDP ON V/Q</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Preoperative Preparation</dc:title>
  <dc:creator>eyayalem</dc:creator>
  <cp:lastModifiedBy>Eyaya Anesthesia</cp:lastModifiedBy>
  <cp:revision>263</cp:revision>
  <dcterms:created xsi:type="dcterms:W3CDTF">2010-02-17T11:39:51Z</dcterms:created>
  <dcterms:modified xsi:type="dcterms:W3CDTF">2025-04-25T09:22:53Z</dcterms:modified>
</cp:coreProperties>
</file>