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258" r:id="rId3"/>
    <p:sldId id="259" r:id="rId4"/>
    <p:sldId id="260" r:id="rId5"/>
    <p:sldId id="261" r:id="rId6"/>
    <p:sldId id="262"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5950E-0257-49BE-8C69-E5B44B0BBCE6}" type="datetimeFigureOut">
              <a:rPr lang="en-US" smtClean="0"/>
              <a:t>8/29/2021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B5C3F-D398-456A-ABD4-0034F56FA31C}" type="slidenum">
              <a:rPr lang="en-US" smtClean="0"/>
              <a:t>‹#›</a:t>
            </a:fld>
            <a:endParaRPr lang="en-US"/>
          </a:p>
        </p:txBody>
      </p:sp>
    </p:spTree>
    <p:extLst>
      <p:ext uri="{BB962C8B-B14F-4D97-AF65-F5344CB8AC3E}">
        <p14:creationId xmlns:p14="http://schemas.microsoft.com/office/powerpoint/2010/main" val="787529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he observed that certain rays were emitted during the passing of the current through discharge tube.</a:t>
            </a:r>
            <a:endParaRPr lang="en-US" dirty="0"/>
          </a:p>
        </p:txBody>
      </p:sp>
      <p:sp>
        <p:nvSpPr>
          <p:cNvPr id="4" name="Slide Number Placeholder 3"/>
          <p:cNvSpPr>
            <a:spLocks noGrp="1"/>
          </p:cNvSpPr>
          <p:nvPr>
            <p:ph type="sldNum" sz="quarter" idx="10"/>
          </p:nvPr>
        </p:nvSpPr>
        <p:spPr/>
        <p:txBody>
          <a:bodyPr/>
          <a:lstStyle/>
          <a:p>
            <a:fld id="{C29831B8-FEF7-4A33-BC20-F63B14096303}" type="slidenum">
              <a:rPr lang="en-US" smtClean="0"/>
              <a:t>8</a:t>
            </a:fld>
            <a:endParaRPr lang="en-US"/>
          </a:p>
        </p:txBody>
      </p:sp>
    </p:spTree>
    <p:extLst>
      <p:ext uri="{BB962C8B-B14F-4D97-AF65-F5344CB8AC3E}">
        <p14:creationId xmlns:p14="http://schemas.microsoft.com/office/powerpoint/2010/main" val="3152717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X-Ray Tube Principle </a:t>
            </a:r>
          </a:p>
          <a:p>
            <a:r>
              <a:rPr lang="en-US" dirty="0" smtClean="0"/>
              <a:t>•Positive (high) voltage applied to anode relative to filament </a:t>
            </a:r>
          </a:p>
          <a:p>
            <a:r>
              <a:rPr lang="en-US" dirty="0" smtClean="0"/>
              <a:t>–electrons accelerate toward anode target </a:t>
            </a:r>
          </a:p>
          <a:p>
            <a:r>
              <a:rPr lang="en-US" dirty="0" smtClean="0"/>
              <a:t>•Gain kinetic energy </a:t>
            </a:r>
          </a:p>
          <a:p>
            <a:r>
              <a:rPr lang="en-US" dirty="0" smtClean="0"/>
              <a:t>–electrons strike target </a:t>
            </a:r>
          </a:p>
          <a:p>
            <a:r>
              <a:rPr lang="en-US" dirty="0" smtClean="0"/>
              <a:t>•electrons‟ kinetic energy converted to </a:t>
            </a:r>
          </a:p>
          <a:p>
            <a:r>
              <a:rPr lang="en-US" dirty="0" smtClean="0"/>
              <a:t>–heat </a:t>
            </a:r>
          </a:p>
          <a:p>
            <a:r>
              <a:rPr lang="en-US" dirty="0" smtClean="0"/>
              <a:t>–x-rays </a:t>
            </a:r>
          </a:p>
          <a:p>
            <a:endParaRPr lang="en-US" dirty="0"/>
          </a:p>
        </p:txBody>
      </p:sp>
      <p:sp>
        <p:nvSpPr>
          <p:cNvPr id="4" name="Slide Number Placeholder 3"/>
          <p:cNvSpPr>
            <a:spLocks noGrp="1"/>
          </p:cNvSpPr>
          <p:nvPr>
            <p:ph type="sldNum" sz="quarter" idx="10"/>
          </p:nvPr>
        </p:nvSpPr>
        <p:spPr/>
        <p:txBody>
          <a:bodyPr/>
          <a:lstStyle/>
          <a:p>
            <a:fld id="{C29831B8-FEF7-4A33-BC20-F63B14096303}" type="slidenum">
              <a:rPr lang="en-US" smtClean="0"/>
              <a:t>14</a:t>
            </a:fld>
            <a:endParaRPr lang="en-US"/>
          </a:p>
        </p:txBody>
      </p:sp>
    </p:spTree>
    <p:extLst>
      <p:ext uri="{BB962C8B-B14F-4D97-AF65-F5344CB8AC3E}">
        <p14:creationId xmlns:p14="http://schemas.microsoft.com/office/powerpoint/2010/main" val="2613385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Photon </a:t>
            </a:r>
            <a:r>
              <a:rPr lang="en-US" sz="1200" b="1" i="0" u="none" strike="noStrike" kern="1200" baseline="0" dirty="0" err="1" smtClean="0">
                <a:solidFill>
                  <a:schemeClr val="tx1"/>
                </a:solidFill>
                <a:latin typeface="+mn-lt"/>
                <a:ea typeface="+mn-ea"/>
                <a:cs typeface="+mn-cs"/>
              </a:rPr>
              <a:t>Phate</a:t>
            </a:r>
            <a:r>
              <a:rPr lang="en-US" sz="1200" b="1" i="0" u="none" strike="noStrike" kern="1200" baseline="0" dirty="0" smtClean="0">
                <a:solidFill>
                  <a:schemeClr val="tx1"/>
                </a:solidFill>
                <a:latin typeface="+mn-lt"/>
                <a:ea typeface="+mn-ea"/>
                <a:cs typeface="+mn-cs"/>
              </a:rPr>
              <a:t> </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t>
            </a:r>
            <a:r>
              <a:rPr lang="en-US" sz="1200" b="1" i="0" u="none" strike="noStrike" kern="1200" baseline="0" dirty="0" smtClean="0">
                <a:solidFill>
                  <a:schemeClr val="tx1"/>
                </a:solidFill>
                <a:latin typeface="+mn-lt"/>
                <a:ea typeface="+mn-ea"/>
                <a:cs typeface="+mn-cs"/>
              </a:rPr>
              <a:t>absorbed </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completely removed from beam </a:t>
            </a:r>
          </a:p>
          <a:p>
            <a:r>
              <a:rPr lang="en-US" sz="1200" b="0" i="0" u="none" strike="noStrike" kern="1200" baseline="0" dirty="0" smtClean="0">
                <a:solidFill>
                  <a:schemeClr val="tx1"/>
                </a:solidFill>
                <a:latin typeface="+mn-lt"/>
                <a:ea typeface="+mn-ea"/>
                <a:cs typeface="+mn-cs"/>
              </a:rPr>
              <a:t>ceases to exist </a:t>
            </a:r>
          </a:p>
          <a:p>
            <a:r>
              <a:rPr lang="en-US" sz="1200" b="0" i="0" u="none" strike="noStrike" kern="1200" baseline="0" dirty="0" smtClean="0">
                <a:solidFill>
                  <a:schemeClr val="tx1"/>
                </a:solidFill>
                <a:latin typeface="+mn-lt"/>
                <a:ea typeface="+mn-ea"/>
                <a:cs typeface="+mn-cs"/>
              </a:rPr>
              <a:t>•</a:t>
            </a:r>
            <a:r>
              <a:rPr lang="en-US" sz="1200" b="1" i="0" u="none" strike="noStrike" kern="1200" baseline="0" dirty="0" smtClean="0">
                <a:solidFill>
                  <a:schemeClr val="tx1"/>
                </a:solidFill>
                <a:latin typeface="+mn-lt"/>
                <a:ea typeface="+mn-ea"/>
                <a:cs typeface="+mn-cs"/>
              </a:rPr>
              <a:t>scattered </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change in direction </a:t>
            </a:r>
          </a:p>
          <a:p>
            <a:r>
              <a:rPr lang="en-US" sz="1200" b="0" i="0" u="none" strike="noStrike" kern="1200" baseline="0" dirty="0" smtClean="0">
                <a:solidFill>
                  <a:schemeClr val="tx1"/>
                </a:solidFill>
                <a:latin typeface="+mn-lt"/>
                <a:ea typeface="+mn-ea"/>
                <a:cs typeface="+mn-cs"/>
              </a:rPr>
              <a:t>no useful information carried </a:t>
            </a:r>
          </a:p>
          <a:p>
            <a:r>
              <a:rPr lang="en-US" sz="1200" b="0" i="0" u="none" strike="noStrike" kern="1200" baseline="0" dirty="0" smtClean="0">
                <a:solidFill>
                  <a:schemeClr val="tx1"/>
                </a:solidFill>
                <a:latin typeface="+mn-lt"/>
                <a:ea typeface="+mn-ea"/>
                <a:cs typeface="+mn-cs"/>
              </a:rPr>
              <a:t>source of noise </a:t>
            </a:r>
          </a:p>
          <a:p>
            <a:r>
              <a:rPr lang="en-US" sz="1200" b="1" i="0" u="none" strike="noStrike" kern="1200" baseline="0" dirty="0" smtClean="0">
                <a:solidFill>
                  <a:schemeClr val="tx1"/>
                </a:solidFill>
                <a:latin typeface="+mn-lt"/>
                <a:ea typeface="+mn-ea"/>
                <a:cs typeface="+mn-cs"/>
              </a:rPr>
              <a:t>•Nothing </a:t>
            </a:r>
          </a:p>
          <a:p>
            <a:r>
              <a:rPr lang="en-US" sz="1200" b="0" i="0" u="none" strike="noStrike" kern="1200" baseline="0" dirty="0" smtClean="0">
                <a:solidFill>
                  <a:schemeClr val="tx1"/>
                </a:solidFill>
                <a:latin typeface="+mn-lt"/>
                <a:ea typeface="+mn-ea"/>
                <a:cs typeface="+mn-cs"/>
              </a:rPr>
              <a:t>Photon passes </a:t>
            </a:r>
          </a:p>
          <a:p>
            <a:endParaRPr lang="en-US" dirty="0"/>
          </a:p>
        </p:txBody>
      </p:sp>
      <p:sp>
        <p:nvSpPr>
          <p:cNvPr id="4" name="Slide Number Placeholder 3"/>
          <p:cNvSpPr>
            <a:spLocks noGrp="1"/>
          </p:cNvSpPr>
          <p:nvPr>
            <p:ph type="sldNum" sz="quarter" idx="10"/>
          </p:nvPr>
        </p:nvSpPr>
        <p:spPr/>
        <p:txBody>
          <a:bodyPr/>
          <a:lstStyle/>
          <a:p>
            <a:fld id="{C29831B8-FEF7-4A33-BC20-F63B14096303}" type="slidenum">
              <a:rPr lang="en-US" smtClean="0"/>
              <a:t>18</a:t>
            </a:fld>
            <a:endParaRPr lang="en-US"/>
          </a:p>
        </p:txBody>
      </p:sp>
    </p:spTree>
    <p:extLst>
      <p:ext uri="{BB962C8B-B14F-4D97-AF65-F5344CB8AC3E}">
        <p14:creationId xmlns:p14="http://schemas.microsoft.com/office/powerpoint/2010/main" val="1483431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A10B18-15AA-4151-B1B4-BF4ED6F64304}" type="datetimeFigureOut">
              <a:rPr lang="en-US" smtClean="0"/>
              <a:t>8/29/2021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2847667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A10B18-15AA-4151-B1B4-BF4ED6F64304}" type="datetimeFigureOut">
              <a:rPr lang="en-US" smtClean="0"/>
              <a:t>8/29/2021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1098308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4A10B18-15AA-4151-B1B4-BF4ED6F64304}" type="datetimeFigureOut">
              <a:rPr lang="en-US" smtClean="0"/>
              <a:t>8/29/2021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910033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A10B18-15AA-4151-B1B4-BF4ED6F64304}" type="datetimeFigureOut">
              <a:rPr lang="en-US" smtClean="0"/>
              <a:t>8/29/2021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2168647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A10B18-15AA-4151-B1B4-BF4ED6F64304}" type="datetimeFigureOut">
              <a:rPr lang="en-US" smtClean="0"/>
              <a:t>8/29/2021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442768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A10B18-15AA-4151-B1B4-BF4ED6F64304}" type="datetimeFigureOut">
              <a:rPr lang="en-US" smtClean="0"/>
              <a:t>8/29/2021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2193091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A10B18-15AA-4151-B1B4-BF4ED6F64304}" type="datetimeFigureOut">
              <a:rPr lang="en-US" smtClean="0"/>
              <a:t>8/29/2021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3583725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4A10B18-15AA-4151-B1B4-BF4ED6F64304}" type="datetimeFigureOut">
              <a:rPr lang="en-US" smtClean="0"/>
              <a:t>8/29/2021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2292078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4A10B18-15AA-4151-B1B4-BF4ED6F64304}" type="datetimeFigureOut">
              <a:rPr lang="en-US" smtClean="0"/>
              <a:t>8/29/2021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3969669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A10B18-15AA-4151-B1B4-BF4ED6F64304}" type="datetimeFigureOut">
              <a:rPr lang="en-US" smtClean="0"/>
              <a:t>8/29/2021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2868186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A10B18-15AA-4151-B1B4-BF4ED6F64304}" type="datetimeFigureOut">
              <a:rPr lang="en-US" smtClean="0"/>
              <a:t>8/29/2021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3EC6F5-65F4-4A4D-8A2E-EDC83CA45368}" type="slidenum">
              <a:rPr lang="en-US" smtClean="0"/>
              <a:t>‹#›</a:t>
            </a:fld>
            <a:endParaRPr lang="en-US"/>
          </a:p>
        </p:txBody>
      </p:sp>
    </p:spTree>
    <p:extLst>
      <p:ext uri="{BB962C8B-B14F-4D97-AF65-F5344CB8AC3E}">
        <p14:creationId xmlns:p14="http://schemas.microsoft.com/office/powerpoint/2010/main" val="2525592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1" y="115888"/>
            <a:ext cx="11180233" cy="576262"/>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624418" y="908050"/>
            <a:ext cx="5482167" cy="5187950"/>
          </a:xfrm>
        </p:spPr>
        <p:txBody>
          <a:bodyPr/>
          <a:lstStyle/>
          <a:p>
            <a:pPr lvl="0"/>
            <a:endParaRPr lang="en-US" noProof="0" smtClean="0"/>
          </a:p>
        </p:txBody>
      </p:sp>
      <p:sp>
        <p:nvSpPr>
          <p:cNvPr id="4" name="Text Placeholder 3"/>
          <p:cNvSpPr>
            <a:spLocks noGrp="1"/>
          </p:cNvSpPr>
          <p:nvPr>
            <p:ph type="body" sz="half" idx="2"/>
          </p:nvPr>
        </p:nvSpPr>
        <p:spPr>
          <a:xfrm>
            <a:off x="6309784" y="908050"/>
            <a:ext cx="5484283" cy="51879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2"/>
          <p:cNvSpPr>
            <a:spLocks noGrp="1" noChangeArrowheads="1"/>
          </p:cNvSpPr>
          <p:nvPr>
            <p:ph type="ftr" sz="quarter" idx="10"/>
          </p:nvPr>
        </p:nvSpPr>
        <p:spPr>
          <a:ln/>
        </p:spPr>
        <p:txBody>
          <a:bodyPr/>
          <a:lstStyle>
            <a:lvl1pPr>
              <a:defRPr/>
            </a:lvl1pPr>
          </a:lstStyle>
          <a:p>
            <a:pPr>
              <a:defRPr/>
            </a:pPr>
            <a:r>
              <a:rPr lang="en-US"/>
              <a:t>avb</a:t>
            </a:r>
          </a:p>
        </p:txBody>
      </p:sp>
    </p:spTree>
    <p:extLst>
      <p:ext uri="{BB962C8B-B14F-4D97-AF65-F5344CB8AC3E}">
        <p14:creationId xmlns:p14="http://schemas.microsoft.com/office/powerpoint/2010/main" val="2892853624"/>
      </p:ext>
    </p:extLst>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A10B18-15AA-4151-B1B4-BF4ED6F64304}" type="datetimeFigureOut">
              <a:rPr lang="en-US" smtClean="0"/>
              <a:t>8/29/2021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3EC6F5-65F4-4A4D-8A2E-EDC83CA45368}" type="slidenum">
              <a:rPr lang="en-US" smtClean="0"/>
              <a:t>‹#›</a:t>
            </a:fld>
            <a:endParaRPr lang="en-US"/>
          </a:p>
        </p:txBody>
      </p:sp>
    </p:spTree>
    <p:extLst>
      <p:ext uri="{BB962C8B-B14F-4D97-AF65-F5344CB8AC3E}">
        <p14:creationId xmlns:p14="http://schemas.microsoft.com/office/powerpoint/2010/main" val="3710231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219202"/>
            <a:ext cx="7772400" cy="2666999"/>
          </a:xfrm>
        </p:spPr>
        <p:txBody>
          <a:bodyPr>
            <a:normAutofit fontScale="90000"/>
          </a:bodyPr>
          <a:lstStyle/>
          <a:p>
            <a:r>
              <a:rPr lang="en-US" b="1" dirty="0" smtClean="0"/>
              <a:t>Radiologic Image Interpretation</a:t>
            </a:r>
            <a:br>
              <a:rPr lang="en-US" b="1" dirty="0" smtClean="0"/>
            </a:br>
            <a:r>
              <a:rPr lang="en-US" b="1" dirty="0" smtClean="0"/>
              <a:t>for </a:t>
            </a:r>
            <a:br>
              <a:rPr lang="en-US" b="1" dirty="0" smtClean="0"/>
            </a:br>
            <a:r>
              <a:rPr lang="en-US" b="1" dirty="0" smtClean="0"/>
              <a:t>ANAESTHEASIA Students </a:t>
            </a:r>
            <a:endParaRPr lang="en-US" b="1" dirty="0"/>
          </a:p>
        </p:txBody>
      </p:sp>
      <p:sp>
        <p:nvSpPr>
          <p:cNvPr id="3" name="Subtitle 2"/>
          <p:cNvSpPr>
            <a:spLocks noGrp="1"/>
          </p:cNvSpPr>
          <p:nvPr>
            <p:ph type="subTitle" idx="1"/>
          </p:nvPr>
        </p:nvSpPr>
        <p:spPr>
          <a:xfrm>
            <a:off x="5181600" y="4343400"/>
            <a:ext cx="4572000" cy="1219200"/>
          </a:xfrm>
        </p:spPr>
        <p:txBody>
          <a:bodyPr>
            <a:normAutofit fontScale="92500" lnSpcReduction="10000"/>
          </a:bodyPr>
          <a:lstStyle/>
          <a:p>
            <a:r>
              <a:rPr lang="en-US" dirty="0" err="1" smtClean="0"/>
              <a:t>Ermias</a:t>
            </a:r>
            <a:r>
              <a:rPr lang="en-US" dirty="0" smtClean="0"/>
              <a:t> A</a:t>
            </a:r>
            <a:endParaRPr lang="en-US" dirty="0" smtClean="0"/>
          </a:p>
          <a:p>
            <a:r>
              <a:rPr lang="en-US" dirty="0" smtClean="0"/>
              <a:t>                      Radiology resident R3</a:t>
            </a:r>
          </a:p>
          <a:p>
            <a:r>
              <a:rPr lang="en-US" dirty="0" smtClean="0"/>
              <a:t>2021</a:t>
            </a:r>
            <a:endParaRPr lang="en-US" dirty="0"/>
          </a:p>
        </p:txBody>
      </p:sp>
    </p:spTree>
    <p:extLst>
      <p:ext uri="{BB962C8B-B14F-4D97-AF65-F5344CB8AC3E}">
        <p14:creationId xmlns:p14="http://schemas.microsoft.com/office/powerpoint/2010/main" val="14825489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4648200" cy="715962"/>
          </a:xfrm>
        </p:spPr>
        <p:txBody>
          <a:bodyPr>
            <a:normAutofit/>
          </a:bodyPr>
          <a:lstStyle/>
          <a:p>
            <a:r>
              <a:rPr lang="en-US" b="1" dirty="0" smtClean="0"/>
              <a:t>Course objectives</a:t>
            </a:r>
            <a:endParaRPr lang="en-US" b="1" dirty="0"/>
          </a:p>
        </p:txBody>
      </p:sp>
      <p:sp>
        <p:nvSpPr>
          <p:cNvPr id="3" name="Content Placeholder 2"/>
          <p:cNvSpPr>
            <a:spLocks noGrp="1"/>
          </p:cNvSpPr>
          <p:nvPr>
            <p:ph sz="half" idx="1"/>
          </p:nvPr>
        </p:nvSpPr>
        <p:spPr>
          <a:xfrm>
            <a:off x="1981200" y="1143001"/>
            <a:ext cx="8229600" cy="4983163"/>
          </a:xfrm>
        </p:spPr>
        <p:txBody>
          <a:bodyPr>
            <a:normAutofit/>
          </a:bodyPr>
          <a:lstStyle/>
          <a:p>
            <a:pPr marL="0" indent="0">
              <a:buNone/>
            </a:pPr>
            <a:endParaRPr lang="en-US" dirty="0" smtClean="0"/>
          </a:p>
          <a:p>
            <a:pPr lvl="1"/>
            <a:r>
              <a:rPr lang="en-US" b="1" dirty="0" smtClean="0"/>
              <a:t>Name </a:t>
            </a:r>
            <a:r>
              <a:rPr lang="en-US" b="1" dirty="0"/>
              <a:t>nature and source of radiation</a:t>
            </a:r>
          </a:p>
          <a:p>
            <a:pPr lvl="1"/>
            <a:r>
              <a:rPr lang="en-US" b="1" dirty="0" smtClean="0"/>
              <a:t>Describe </a:t>
            </a:r>
            <a:r>
              <a:rPr lang="en-US" b="1" dirty="0"/>
              <a:t>how radiological images are </a:t>
            </a:r>
            <a:r>
              <a:rPr lang="en-US" b="1" dirty="0" smtClean="0"/>
              <a:t>formed</a:t>
            </a:r>
          </a:p>
          <a:p>
            <a:pPr lvl="1"/>
            <a:r>
              <a:rPr lang="en-US" b="1" dirty="0" smtClean="0"/>
              <a:t>Describe how to prevent or minimize radiation hazards</a:t>
            </a:r>
          </a:p>
          <a:p>
            <a:pPr lvl="1"/>
            <a:r>
              <a:rPr lang="en-US" b="1" dirty="0" smtClean="0"/>
              <a:t>Interpret </a:t>
            </a:r>
            <a:r>
              <a:rPr lang="en-US" b="1" dirty="0"/>
              <a:t>common and uncomplicated radiological images</a:t>
            </a:r>
          </a:p>
          <a:p>
            <a:endParaRPr lang="en-US" dirty="0"/>
          </a:p>
        </p:txBody>
      </p:sp>
      <p:sp>
        <p:nvSpPr>
          <p:cNvPr id="4" name="Content Placeholder 3"/>
          <p:cNvSpPr>
            <a:spLocks noGrp="1"/>
          </p:cNvSpPr>
          <p:nvPr>
            <p:ph sz="half" idx="2"/>
          </p:nvPr>
        </p:nvSpPr>
        <p:spPr>
          <a:xfrm>
            <a:off x="7848600" y="457200"/>
            <a:ext cx="2590800" cy="5943600"/>
          </a:xfrm>
        </p:spPr>
        <p:txBody>
          <a:bodyPr>
            <a:normAutofit/>
          </a:bodyPr>
          <a:lstStyle/>
          <a:p>
            <a:endParaRPr lang="en-US" dirty="0"/>
          </a:p>
        </p:txBody>
      </p:sp>
    </p:spTree>
    <p:extLst>
      <p:ext uri="{BB962C8B-B14F-4D97-AF65-F5344CB8AC3E}">
        <p14:creationId xmlns:p14="http://schemas.microsoft.com/office/powerpoint/2010/main" val="26596587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dirty="0" smtClean="0"/>
              <a:t>Introduction </a:t>
            </a:r>
            <a:endParaRPr lang="en-US" dirty="0"/>
          </a:p>
        </p:txBody>
      </p:sp>
      <p:sp>
        <p:nvSpPr>
          <p:cNvPr id="3" name="Content Placeholder 2"/>
          <p:cNvSpPr>
            <a:spLocks noGrp="1"/>
          </p:cNvSpPr>
          <p:nvPr>
            <p:ph idx="1"/>
          </p:nvPr>
        </p:nvSpPr>
        <p:spPr>
          <a:xfrm>
            <a:off x="1905000" y="838201"/>
            <a:ext cx="8229600" cy="5287963"/>
          </a:xfrm>
        </p:spPr>
        <p:txBody>
          <a:bodyPr>
            <a:noAutofit/>
          </a:bodyPr>
          <a:lstStyle/>
          <a:p>
            <a:r>
              <a:rPr lang="en-US" sz="2400" dirty="0"/>
              <a:t>Radiology is a medical specialty that employ </a:t>
            </a:r>
            <a:r>
              <a:rPr lang="en-US" sz="2400" b="1" dirty="0"/>
              <a:t>Medical Imaging Technologies </a:t>
            </a:r>
            <a:r>
              <a:rPr lang="en-US" sz="2400" dirty="0"/>
              <a:t>to </a:t>
            </a:r>
            <a:r>
              <a:rPr lang="en-US" sz="2400" b="1" i="1" dirty="0"/>
              <a:t>Diagnose</a:t>
            </a:r>
            <a:r>
              <a:rPr lang="en-US" sz="2400" dirty="0"/>
              <a:t> and </a:t>
            </a:r>
            <a:r>
              <a:rPr lang="en-US" sz="2400" b="1" i="1" dirty="0"/>
              <a:t>Treat</a:t>
            </a:r>
            <a:r>
              <a:rPr lang="en-US" sz="2400" dirty="0"/>
              <a:t> patients.</a:t>
            </a:r>
          </a:p>
          <a:p>
            <a:r>
              <a:rPr lang="en-US" sz="2400" dirty="0"/>
              <a:t>Different types of medical images can be made by varying the types of energies used and the acquisition technology. </a:t>
            </a:r>
          </a:p>
          <a:p>
            <a:r>
              <a:rPr lang="en-US" sz="2400" dirty="0"/>
              <a:t>The different modes of making images are referred to as </a:t>
            </a:r>
            <a:r>
              <a:rPr lang="en-US" sz="2400" b="1" dirty="0"/>
              <a:t>modalities.</a:t>
            </a:r>
            <a:r>
              <a:rPr lang="en-US" sz="2400" dirty="0"/>
              <a:t> </a:t>
            </a:r>
          </a:p>
          <a:p>
            <a:r>
              <a:rPr lang="en-US" sz="2400" dirty="0">
                <a:solidFill>
                  <a:srgbClr val="FF0000"/>
                </a:solidFill>
              </a:rPr>
              <a:t>Imaging modalities used in the field of radiology.</a:t>
            </a:r>
          </a:p>
          <a:p>
            <a:pPr lvl="3">
              <a:lnSpc>
                <a:spcPct val="90000"/>
              </a:lnSpc>
              <a:defRPr/>
            </a:pPr>
            <a:r>
              <a:rPr lang="en-US" sz="2400" dirty="0">
                <a:solidFill>
                  <a:srgbClr val="FF0000"/>
                </a:solidFill>
              </a:rPr>
              <a:t>Plain x-ray.                 -- CT scan</a:t>
            </a:r>
          </a:p>
          <a:p>
            <a:pPr lvl="3">
              <a:lnSpc>
                <a:spcPct val="90000"/>
              </a:lnSpc>
              <a:defRPr/>
            </a:pPr>
            <a:r>
              <a:rPr lang="en-US" sz="2400" dirty="0">
                <a:solidFill>
                  <a:srgbClr val="FF0000"/>
                </a:solidFill>
              </a:rPr>
              <a:t>MRI                             -- Nuclear imaging</a:t>
            </a:r>
          </a:p>
          <a:p>
            <a:pPr lvl="3">
              <a:lnSpc>
                <a:spcPct val="90000"/>
              </a:lnSpc>
              <a:defRPr/>
            </a:pPr>
            <a:r>
              <a:rPr lang="en-US" sz="2400" dirty="0">
                <a:solidFill>
                  <a:srgbClr val="FF0000"/>
                </a:solidFill>
              </a:rPr>
              <a:t>Ultrasound                 -- Mammography</a:t>
            </a:r>
          </a:p>
          <a:p>
            <a:pPr lvl="3">
              <a:lnSpc>
                <a:spcPct val="90000"/>
              </a:lnSpc>
              <a:defRPr/>
            </a:pPr>
            <a:r>
              <a:rPr lang="en-US" sz="2400" dirty="0">
                <a:solidFill>
                  <a:srgbClr val="FF0000"/>
                </a:solidFill>
              </a:rPr>
              <a:t>Angiography               -- Fluoroscopy</a:t>
            </a:r>
          </a:p>
          <a:p>
            <a:r>
              <a:rPr lang="en-US" sz="2400" dirty="0"/>
              <a:t>Each modality has its own applications in medicine.</a:t>
            </a:r>
          </a:p>
          <a:p>
            <a:r>
              <a:rPr lang="en-US" sz="2400" dirty="0"/>
              <a:t>Most of the technique use </a:t>
            </a:r>
            <a:r>
              <a:rPr lang="en-US" sz="2400" dirty="0">
                <a:solidFill>
                  <a:srgbClr val="FF0000"/>
                </a:solidFill>
              </a:rPr>
              <a:t>ionizing(electromagnetic</a:t>
            </a:r>
            <a:r>
              <a:rPr lang="en-US" sz="2400" dirty="0"/>
              <a:t> ) radiation.</a:t>
            </a:r>
          </a:p>
        </p:txBody>
      </p:sp>
    </p:spTree>
    <p:extLst>
      <p:ext uri="{BB962C8B-B14F-4D97-AF65-F5344CB8AC3E}">
        <p14:creationId xmlns:p14="http://schemas.microsoft.com/office/powerpoint/2010/main" val="15355037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sp>
        <p:nvSpPr>
          <p:cNvPr id="11776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sp>
        <p:nvSpPr>
          <p:cNvPr id="117764" name="Rectangle 2"/>
          <p:cNvSpPr>
            <a:spLocks noGrp="1" noChangeArrowheads="1"/>
          </p:cNvSpPr>
          <p:nvPr>
            <p:ph type="title"/>
          </p:nvPr>
        </p:nvSpPr>
        <p:spPr>
          <a:xfrm>
            <a:off x="1981200" y="274638"/>
            <a:ext cx="3048000" cy="411162"/>
          </a:xfrm>
        </p:spPr>
        <p:txBody>
          <a:bodyPr>
            <a:normAutofit fontScale="90000"/>
          </a:bodyPr>
          <a:lstStyle/>
          <a:p>
            <a:r>
              <a:rPr lang="en-US" b="1" dirty="0" smtClean="0"/>
              <a:t>Radiation </a:t>
            </a:r>
          </a:p>
        </p:txBody>
      </p:sp>
      <p:sp>
        <p:nvSpPr>
          <p:cNvPr id="117765" name="Rectangle 3"/>
          <p:cNvSpPr>
            <a:spLocks noGrp="1" noChangeArrowheads="1"/>
          </p:cNvSpPr>
          <p:nvPr>
            <p:ph type="body" idx="1"/>
          </p:nvPr>
        </p:nvSpPr>
        <p:spPr>
          <a:xfrm>
            <a:off x="1981200" y="762001"/>
            <a:ext cx="8229600" cy="5364163"/>
          </a:xfrm>
        </p:spPr>
        <p:txBody>
          <a:bodyPr>
            <a:normAutofit/>
          </a:bodyPr>
          <a:lstStyle/>
          <a:p>
            <a:r>
              <a:rPr lang="en-US" sz="2500" dirty="0"/>
              <a:t>The term radiation applies to the emission and propagation of energy through space or material medium</a:t>
            </a:r>
          </a:p>
          <a:p>
            <a:r>
              <a:rPr lang="en-US" sz="2500" dirty="0"/>
              <a:t>There are two types of radiation</a:t>
            </a:r>
          </a:p>
          <a:p>
            <a:pPr lvl="1"/>
            <a:r>
              <a:rPr lang="en-US" sz="2500" dirty="0"/>
              <a:t>1) Particle radiation</a:t>
            </a:r>
          </a:p>
          <a:p>
            <a:pPr lvl="1"/>
            <a:r>
              <a:rPr lang="en-US" sz="2500" dirty="0"/>
              <a:t>2)Electromagnetic Radiation</a:t>
            </a:r>
          </a:p>
          <a:p>
            <a:r>
              <a:rPr lang="en-US" b="1" dirty="0"/>
              <a:t>Particle radiation</a:t>
            </a:r>
          </a:p>
          <a:p>
            <a:pPr lvl="1"/>
            <a:r>
              <a:rPr lang="en-US" dirty="0"/>
              <a:t>Have definite rest mass</a:t>
            </a:r>
          </a:p>
          <a:p>
            <a:pPr lvl="1"/>
            <a:r>
              <a:rPr lang="en-US" dirty="0"/>
              <a:t>Is the radiation of energy by means of fast moving particles that have energy and mass</a:t>
            </a:r>
          </a:p>
          <a:p>
            <a:pPr lvl="2"/>
            <a:r>
              <a:rPr lang="en-US" dirty="0" err="1" smtClean="0"/>
              <a:t>E.g</a:t>
            </a:r>
            <a:r>
              <a:rPr lang="en-US" dirty="0" smtClean="0"/>
              <a:t> -Alpha </a:t>
            </a:r>
            <a:r>
              <a:rPr lang="en-US" dirty="0"/>
              <a:t>particle, Beta particle, Neutron, Positrons</a:t>
            </a:r>
          </a:p>
          <a:p>
            <a:pPr lvl="3"/>
            <a:endParaRPr lang="en-US" sz="1700" dirty="0"/>
          </a:p>
        </p:txBody>
      </p:sp>
    </p:spTree>
    <p:extLst>
      <p:ext uri="{BB962C8B-B14F-4D97-AF65-F5344CB8AC3E}">
        <p14:creationId xmlns:p14="http://schemas.microsoft.com/office/powerpoint/2010/main" val="40903819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sp>
        <p:nvSpPr>
          <p:cNvPr id="11981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sp>
        <p:nvSpPr>
          <p:cNvPr id="119812" name="Rectangle 2"/>
          <p:cNvSpPr>
            <a:spLocks noGrp="1" noChangeArrowheads="1"/>
          </p:cNvSpPr>
          <p:nvPr>
            <p:ph type="title"/>
          </p:nvPr>
        </p:nvSpPr>
        <p:spPr>
          <a:xfrm>
            <a:off x="1981200" y="274638"/>
            <a:ext cx="7696200" cy="563562"/>
          </a:xfrm>
        </p:spPr>
        <p:txBody>
          <a:bodyPr>
            <a:normAutofit fontScale="90000"/>
          </a:bodyPr>
          <a:lstStyle/>
          <a:p>
            <a:r>
              <a:rPr lang="en-US" sz="4000" b="1" dirty="0"/>
              <a:t>Electromagnetic Radiation(EMR)</a:t>
            </a:r>
          </a:p>
        </p:txBody>
      </p:sp>
      <p:sp>
        <p:nvSpPr>
          <p:cNvPr id="119813" name="Rectangle 3"/>
          <p:cNvSpPr>
            <a:spLocks noGrp="1" noChangeArrowheads="1"/>
          </p:cNvSpPr>
          <p:nvPr>
            <p:ph type="body" idx="1"/>
          </p:nvPr>
        </p:nvSpPr>
        <p:spPr>
          <a:xfrm>
            <a:off x="1752600" y="1143001"/>
            <a:ext cx="8458200" cy="4983163"/>
          </a:xfrm>
        </p:spPr>
        <p:txBody>
          <a:bodyPr>
            <a:normAutofit/>
          </a:bodyPr>
          <a:lstStyle/>
          <a:p>
            <a:r>
              <a:rPr lang="en-US" dirty="0" smtClean="0"/>
              <a:t>Consist of energy in small packets called photons.</a:t>
            </a:r>
          </a:p>
          <a:p>
            <a:pPr marL="342900" lvl="2" indent="-342900"/>
            <a:r>
              <a:rPr lang="en-US" dirty="0"/>
              <a:t>Example;- Light wave, radio waves, infrared waves, ultraviolet rays, X-ray and </a:t>
            </a:r>
            <a:r>
              <a:rPr lang="en-US" dirty="0" smtClean="0"/>
              <a:t>gamma-rays</a:t>
            </a:r>
          </a:p>
          <a:p>
            <a:r>
              <a:rPr lang="en-US" dirty="0" smtClean="0"/>
              <a:t>PROPERTIES OF EMR</a:t>
            </a:r>
          </a:p>
          <a:p>
            <a:pPr lvl="1"/>
            <a:r>
              <a:rPr lang="en-US" dirty="0" smtClean="0"/>
              <a:t>are composed of transverse vibrations of electric and magnetic fields.</a:t>
            </a:r>
          </a:p>
          <a:p>
            <a:pPr lvl="1"/>
            <a:r>
              <a:rPr lang="en-US" dirty="0" smtClean="0"/>
              <a:t>have a wide range of wavelengths and frequencies.</a:t>
            </a:r>
          </a:p>
          <a:p>
            <a:pPr lvl="1"/>
            <a:r>
              <a:rPr lang="en-US" dirty="0" smtClean="0"/>
              <a:t>all travel through a vacuum with the same velocity </a:t>
            </a:r>
          </a:p>
          <a:p>
            <a:pPr marL="457200" lvl="1" indent="0">
              <a:buNone/>
            </a:pPr>
            <a:r>
              <a:rPr lang="en-US" dirty="0"/>
              <a:t> </a:t>
            </a:r>
            <a:r>
              <a:rPr lang="en-US" dirty="0" smtClean="0"/>
              <a:t>   3 x 10</a:t>
            </a:r>
            <a:r>
              <a:rPr lang="en-US" baseline="30000" dirty="0" smtClean="0"/>
              <a:t>8</a:t>
            </a:r>
            <a:r>
              <a:rPr lang="en-US" dirty="0" smtClean="0"/>
              <a:t>m/s(speed of light)</a:t>
            </a:r>
          </a:p>
          <a:p>
            <a:pPr marL="457200" lvl="1" indent="0">
              <a:buNone/>
            </a:pPr>
            <a:endParaRPr lang="en-US" dirty="0"/>
          </a:p>
          <a:p>
            <a:pPr lvl="1"/>
            <a:endParaRPr lang="en-US" dirty="0" smtClean="0"/>
          </a:p>
        </p:txBody>
      </p:sp>
    </p:spTree>
    <p:extLst>
      <p:ext uri="{BB962C8B-B14F-4D97-AF65-F5344CB8AC3E}">
        <p14:creationId xmlns:p14="http://schemas.microsoft.com/office/powerpoint/2010/main" val="21388019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sp>
        <p:nvSpPr>
          <p:cNvPr id="12083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sp>
        <p:nvSpPr>
          <p:cNvPr id="120836" name="Rectangle 2"/>
          <p:cNvSpPr>
            <a:spLocks noGrp="1" noChangeArrowheads="1"/>
          </p:cNvSpPr>
          <p:nvPr>
            <p:ph type="title"/>
          </p:nvPr>
        </p:nvSpPr>
        <p:spPr>
          <a:xfrm>
            <a:off x="1981200" y="0"/>
            <a:ext cx="8229600" cy="990600"/>
          </a:xfrm>
        </p:spPr>
        <p:txBody>
          <a:bodyPr/>
          <a:lstStyle/>
          <a:p>
            <a:r>
              <a:rPr lang="en-US" smtClean="0"/>
              <a:t>Cont..</a:t>
            </a:r>
          </a:p>
        </p:txBody>
      </p:sp>
      <p:sp>
        <p:nvSpPr>
          <p:cNvPr id="120837" name="Rectangle 3"/>
          <p:cNvSpPr>
            <a:spLocks noGrp="1" noChangeArrowheads="1"/>
          </p:cNvSpPr>
          <p:nvPr>
            <p:ph type="body" idx="1"/>
          </p:nvPr>
        </p:nvSpPr>
        <p:spPr>
          <a:xfrm>
            <a:off x="1676400" y="990600"/>
            <a:ext cx="8839200" cy="5181600"/>
          </a:xfrm>
        </p:spPr>
        <p:txBody>
          <a:bodyPr/>
          <a:lstStyle/>
          <a:p>
            <a:pPr lvl="1"/>
            <a:r>
              <a:rPr lang="en-US" dirty="0"/>
              <a:t>travel in straight lines.</a:t>
            </a:r>
          </a:p>
          <a:p>
            <a:pPr lvl="1"/>
            <a:r>
              <a:rPr lang="en-US" dirty="0"/>
              <a:t>EMR waves are transverse wave like wave on string</a:t>
            </a:r>
          </a:p>
          <a:p>
            <a:pPr lvl="1"/>
            <a:r>
              <a:rPr lang="en-US" dirty="0"/>
              <a:t>All EMR wave posses the same three characteristics, </a:t>
            </a:r>
          </a:p>
          <a:p>
            <a:pPr lvl="3"/>
            <a:r>
              <a:rPr lang="en-US" b="1" dirty="0"/>
              <a:t>W</a:t>
            </a:r>
            <a:r>
              <a:rPr lang="en-US" b="1" dirty="0" smtClean="0"/>
              <a:t>ave length, </a:t>
            </a:r>
          </a:p>
          <a:p>
            <a:pPr lvl="3"/>
            <a:r>
              <a:rPr lang="en-US" b="1" dirty="0"/>
              <a:t>F</a:t>
            </a:r>
            <a:r>
              <a:rPr lang="en-US" b="1" dirty="0" smtClean="0"/>
              <a:t>requency and </a:t>
            </a:r>
          </a:p>
          <a:p>
            <a:pPr lvl="3"/>
            <a:r>
              <a:rPr lang="en-US" b="1" dirty="0" smtClean="0"/>
              <a:t>Velocity</a:t>
            </a:r>
          </a:p>
          <a:p>
            <a:pPr lvl="1"/>
            <a:endParaRPr lang="en-US" b="1" dirty="0" smtClean="0"/>
          </a:p>
          <a:p>
            <a:pPr lvl="1"/>
            <a:endParaRPr lang="en-US" dirty="0" smtClean="0"/>
          </a:p>
          <a:p>
            <a:pPr lvl="1"/>
            <a:endParaRPr lang="en-US" dirty="0" smtClean="0"/>
          </a:p>
          <a:p>
            <a:pPr lvl="1"/>
            <a:endParaRPr lang="en-US" dirty="0" smtClean="0"/>
          </a:p>
          <a:p>
            <a:endParaRPr lang="en-US" dirty="0" smtClean="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514600" y="3886201"/>
            <a:ext cx="6545263" cy="2436813"/>
          </a:xfrm>
          <a:prstGeom prst="rect">
            <a:avLst/>
          </a:prstGeom>
          <a:noFill/>
        </p:spPr>
      </p:pic>
    </p:spTree>
    <p:extLst>
      <p:ext uri="{BB962C8B-B14F-4D97-AF65-F5344CB8AC3E}">
        <p14:creationId xmlns:p14="http://schemas.microsoft.com/office/powerpoint/2010/main" val="19631703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Autofit/>
          </a:bodyPr>
          <a:lstStyle/>
          <a:p>
            <a:r>
              <a:rPr lang="en-US" sz="2400" dirty="0"/>
              <a:t>EM wave carry a very wide range of frequencies and wave lengths. (spectrum)</a:t>
            </a:r>
            <a:br>
              <a:rPr lang="en-US" sz="2400" dirty="0"/>
            </a:br>
            <a:endParaRPr lang="en-US" sz="2400" dirty="0"/>
          </a:p>
        </p:txBody>
      </p:sp>
      <p:pic>
        <p:nvPicPr>
          <p:cNvPr id="124932"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752600" y="914400"/>
            <a:ext cx="6855266" cy="4530436"/>
          </a:xfrm>
          <a:noFill/>
        </p:spPr>
      </p:pic>
      <p:sp>
        <p:nvSpPr>
          <p:cNvPr id="124930" name="Date Placeholder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sp>
        <p:nvSpPr>
          <p:cNvPr id="12493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pic>
        <p:nvPicPr>
          <p:cNvPr id="3" name="Picture 2"/>
          <p:cNvPicPr>
            <a:picLocks noChangeAspect="1"/>
          </p:cNvPicPr>
          <p:nvPr/>
        </p:nvPicPr>
        <p:blipFill>
          <a:blip r:embed="rId3"/>
          <a:stretch>
            <a:fillRect/>
          </a:stretch>
        </p:blipFill>
        <p:spPr>
          <a:xfrm>
            <a:off x="1981200" y="4818785"/>
            <a:ext cx="8420100" cy="2066925"/>
          </a:xfrm>
          <a:prstGeom prst="rect">
            <a:avLst/>
          </a:prstGeom>
        </p:spPr>
      </p:pic>
    </p:spTree>
    <p:extLst>
      <p:ext uri="{BB962C8B-B14F-4D97-AF65-F5344CB8AC3E}">
        <p14:creationId xmlns:p14="http://schemas.microsoft.com/office/powerpoint/2010/main" val="32420324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3810000" cy="563562"/>
          </a:xfrm>
        </p:spPr>
        <p:txBody>
          <a:bodyPr>
            <a:noAutofit/>
          </a:bodyPr>
          <a:lstStyle/>
          <a:p>
            <a:r>
              <a:rPr lang="en-US" sz="3600" b="1" dirty="0"/>
              <a:t>Radiography</a:t>
            </a:r>
          </a:p>
        </p:txBody>
      </p:sp>
      <p:sp>
        <p:nvSpPr>
          <p:cNvPr id="3" name="Content Placeholder 2"/>
          <p:cNvSpPr>
            <a:spLocks noGrp="1"/>
          </p:cNvSpPr>
          <p:nvPr>
            <p:ph sz="half" idx="1"/>
          </p:nvPr>
        </p:nvSpPr>
        <p:spPr>
          <a:xfrm>
            <a:off x="1981200" y="838200"/>
            <a:ext cx="4038600" cy="5638800"/>
          </a:xfrm>
        </p:spPr>
        <p:txBody>
          <a:bodyPr>
            <a:normAutofit fontScale="85000" lnSpcReduction="20000"/>
          </a:bodyPr>
          <a:lstStyle/>
          <a:p>
            <a:r>
              <a:rPr lang="en-US" dirty="0" smtClean="0"/>
              <a:t>Was </a:t>
            </a:r>
            <a:r>
              <a:rPr lang="en-US" dirty="0"/>
              <a:t>the first medical imaging </a:t>
            </a:r>
            <a:r>
              <a:rPr lang="en-US" dirty="0" smtClean="0"/>
              <a:t>technology</a:t>
            </a:r>
          </a:p>
          <a:p>
            <a:r>
              <a:rPr lang="en-US" dirty="0"/>
              <a:t>P</a:t>
            </a:r>
            <a:r>
              <a:rPr lang="en-US" dirty="0" smtClean="0"/>
              <a:t>hysicist </a:t>
            </a:r>
            <a:r>
              <a:rPr lang="en-US" dirty="0"/>
              <a:t>Wilhelm Roentgen discovered x-rays on November 8, 1895</a:t>
            </a:r>
            <a:r>
              <a:rPr lang="en-US" dirty="0" smtClean="0"/>
              <a:t>.</a:t>
            </a:r>
          </a:p>
          <a:p>
            <a:r>
              <a:rPr lang="en-US" dirty="0" smtClean="0"/>
              <a:t>observed </a:t>
            </a:r>
            <a:r>
              <a:rPr lang="en-US" dirty="0"/>
              <a:t>and further </a:t>
            </a:r>
            <a:r>
              <a:rPr lang="en-US" dirty="0" smtClean="0"/>
              <a:t>documented X-rays </a:t>
            </a:r>
            <a:r>
              <a:rPr lang="en-US" dirty="0"/>
              <a:t>while experimenting with vacuum </a:t>
            </a:r>
            <a:r>
              <a:rPr lang="en-US" dirty="0" smtClean="0"/>
              <a:t>tubes</a:t>
            </a:r>
          </a:p>
          <a:p>
            <a:r>
              <a:rPr lang="en-US" dirty="0"/>
              <a:t>he observed that certain rays were emitted during the passing of the current through discharge tube.</a:t>
            </a:r>
          </a:p>
          <a:p>
            <a:r>
              <a:rPr lang="en-US" dirty="0" smtClean="0"/>
              <a:t>Made </a:t>
            </a:r>
            <a:r>
              <a:rPr lang="en-US" dirty="0"/>
              <a:t>the first radiographic images of human </a:t>
            </a:r>
            <a:r>
              <a:rPr lang="en-US" dirty="0" smtClean="0"/>
              <a:t>anatomy.</a:t>
            </a:r>
          </a:p>
          <a:p>
            <a:r>
              <a:rPr lang="en-US" dirty="0" smtClean="0"/>
              <a:t>The </a:t>
            </a:r>
            <a:r>
              <a:rPr lang="en-US" dirty="0"/>
              <a:t>hand of </a:t>
            </a:r>
            <a:r>
              <a:rPr lang="en-US" dirty="0" err="1"/>
              <a:t>Röntgen's</a:t>
            </a:r>
            <a:r>
              <a:rPr lang="en-US" dirty="0"/>
              <a:t> wife. The image displayed both her wedding ring and bones</a:t>
            </a:r>
            <a:r>
              <a:rPr lang="en-US" dirty="0" smtClean="0"/>
              <a:t>. </a:t>
            </a:r>
            <a:endParaRPr lang="en-US" dirty="0"/>
          </a:p>
        </p:txBody>
      </p:sp>
      <p:sp>
        <p:nvSpPr>
          <p:cNvPr id="4" name="Content Placeholder 3"/>
          <p:cNvSpPr>
            <a:spLocks noGrp="1"/>
          </p:cNvSpPr>
          <p:nvPr>
            <p:ph sz="half" idx="2"/>
          </p:nvPr>
        </p:nvSpPr>
        <p:spPr/>
        <p:txBody>
          <a:bodyPr>
            <a:normAutofit fontScale="85000" lnSpcReduction="20000"/>
          </a:bodyPr>
          <a:lstStyle/>
          <a:p>
            <a:endParaRPr lang="en-US"/>
          </a:p>
        </p:txBody>
      </p:sp>
      <p:pic>
        <p:nvPicPr>
          <p:cNvPr id="5" name="Picture 5" descr="crookes t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229600" y="152400"/>
            <a:ext cx="2362200" cy="2667000"/>
          </a:xfrm>
          <a:prstGeom prst="rect">
            <a:avLst/>
          </a:prstGeom>
          <a:noFill/>
        </p:spPr>
      </p:pic>
      <p:pic>
        <p:nvPicPr>
          <p:cNvPr id="6" name="Picture 4" descr="Anna_Berthe_Roentg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7810500" y="3352800"/>
            <a:ext cx="2819400" cy="3352800"/>
          </a:xfrm>
          <a:prstGeom prst="rect">
            <a:avLst/>
          </a:prstGeom>
          <a:noFill/>
        </p:spPr>
      </p:pic>
      <p:pic>
        <p:nvPicPr>
          <p:cNvPr id="7" name="Picture 8" descr="wcr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6096000" y="304800"/>
            <a:ext cx="2286000" cy="3276600"/>
          </a:xfrm>
          <a:prstGeom prst="rect">
            <a:avLst/>
          </a:prstGeom>
          <a:noFill/>
        </p:spPr>
      </p:pic>
    </p:spTree>
    <p:extLst>
      <p:ext uri="{BB962C8B-B14F-4D97-AF65-F5344CB8AC3E}">
        <p14:creationId xmlns:p14="http://schemas.microsoft.com/office/powerpoint/2010/main" val="29439608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3124200" cy="411162"/>
          </a:xfrm>
        </p:spPr>
        <p:txBody>
          <a:bodyPr>
            <a:noAutofit/>
          </a:bodyPr>
          <a:lstStyle/>
          <a:p>
            <a:r>
              <a:rPr lang="en-US" sz="3600" dirty="0"/>
              <a:t>Cont’d</a:t>
            </a:r>
          </a:p>
        </p:txBody>
      </p:sp>
      <p:sp>
        <p:nvSpPr>
          <p:cNvPr id="3" name="Content Placeholder 2"/>
          <p:cNvSpPr>
            <a:spLocks noGrp="1"/>
          </p:cNvSpPr>
          <p:nvPr>
            <p:ph sz="half" idx="1"/>
          </p:nvPr>
        </p:nvSpPr>
        <p:spPr>
          <a:xfrm>
            <a:off x="1981200" y="762000"/>
            <a:ext cx="4038600" cy="5791200"/>
          </a:xfrm>
          <a:solidFill>
            <a:schemeClr val="accent2"/>
          </a:solidFill>
        </p:spPr>
        <p:txBody>
          <a:bodyPr>
            <a:normAutofit fontScale="92500" lnSpcReduction="20000"/>
          </a:bodyPr>
          <a:lstStyle/>
          <a:p>
            <a:r>
              <a:rPr lang="en-US" dirty="0"/>
              <a:t>Radiography is performed with an </a:t>
            </a:r>
            <a:r>
              <a:rPr lang="en-US" dirty="0">
                <a:solidFill>
                  <a:srgbClr val="FFFF00"/>
                </a:solidFill>
              </a:rPr>
              <a:t>x-ray</a:t>
            </a:r>
            <a:r>
              <a:rPr lang="en-US" dirty="0"/>
              <a:t> </a:t>
            </a:r>
            <a:r>
              <a:rPr lang="en-US" dirty="0" smtClean="0">
                <a:solidFill>
                  <a:srgbClr val="FFFF00"/>
                </a:solidFill>
              </a:rPr>
              <a:t>Source</a:t>
            </a:r>
            <a:r>
              <a:rPr lang="en-US" dirty="0" smtClean="0"/>
              <a:t> </a:t>
            </a:r>
            <a:r>
              <a:rPr lang="en-US" dirty="0"/>
              <a:t>on one side of the patient, and </a:t>
            </a:r>
            <a:r>
              <a:rPr lang="en-US" dirty="0" smtClean="0"/>
              <a:t>a x-ray </a:t>
            </a:r>
            <a:r>
              <a:rPr lang="en-US" dirty="0">
                <a:solidFill>
                  <a:srgbClr val="FFFF00"/>
                </a:solidFill>
              </a:rPr>
              <a:t>detector</a:t>
            </a:r>
            <a:r>
              <a:rPr lang="en-US" dirty="0"/>
              <a:t> on the other side</a:t>
            </a:r>
            <a:r>
              <a:rPr lang="en-US" dirty="0" smtClean="0"/>
              <a:t>.</a:t>
            </a:r>
          </a:p>
          <a:p>
            <a:r>
              <a:rPr lang="en-US" dirty="0"/>
              <a:t>large fraction of </a:t>
            </a:r>
            <a:r>
              <a:rPr lang="en-US" dirty="0" smtClean="0"/>
              <a:t>the x-rays </a:t>
            </a:r>
            <a:r>
              <a:rPr lang="en-US" dirty="0">
                <a:solidFill>
                  <a:srgbClr val="FFFF00"/>
                </a:solidFill>
              </a:rPr>
              <a:t>interacts</a:t>
            </a:r>
            <a:r>
              <a:rPr lang="en-US" dirty="0"/>
              <a:t> in the patient, and some of the x-rays pass through the patient </a:t>
            </a:r>
            <a:r>
              <a:rPr lang="en-US" dirty="0" smtClean="0"/>
              <a:t>and reach </a:t>
            </a:r>
            <a:r>
              <a:rPr lang="en-US" dirty="0"/>
              <a:t>the detector, where a radiographic image is formed. </a:t>
            </a:r>
          </a:p>
        </p:txBody>
      </p:sp>
      <p:sp>
        <p:nvSpPr>
          <p:cNvPr id="4" name="Content Placeholder 3"/>
          <p:cNvSpPr>
            <a:spLocks noGrp="1"/>
          </p:cNvSpPr>
          <p:nvPr>
            <p:ph sz="half" idx="2"/>
          </p:nvPr>
        </p:nvSpPr>
        <p:spPr>
          <a:xfrm>
            <a:off x="6019800" y="533400"/>
            <a:ext cx="4572000" cy="6019800"/>
          </a:xfrm>
        </p:spPr>
        <p:txBody>
          <a:bodyPr>
            <a:normAutofit fontScale="92500" lnSpcReduction="20000"/>
          </a:bodyPr>
          <a:lstStyle/>
          <a:p>
            <a:r>
              <a:rPr lang="en-US" dirty="0" smtClean="0"/>
              <a:t>X-ray source </a:t>
            </a:r>
          </a:p>
          <a:p>
            <a:pPr lvl="1"/>
            <a:r>
              <a:rPr lang="en-US" dirty="0" smtClean="0"/>
              <a:t>X-ray tube </a:t>
            </a:r>
          </a:p>
          <a:p>
            <a:endParaRPr lang="en-US" dirty="0"/>
          </a:p>
          <a:p>
            <a:endParaRPr lang="en-US" dirty="0" smtClean="0"/>
          </a:p>
          <a:p>
            <a:r>
              <a:rPr lang="en-US" dirty="0" smtClean="0"/>
              <a:t>X-ray beam</a:t>
            </a:r>
          </a:p>
          <a:p>
            <a:endParaRPr lang="en-US" dirty="0"/>
          </a:p>
          <a:p>
            <a:endParaRPr lang="en-US" dirty="0" smtClean="0"/>
          </a:p>
          <a:p>
            <a:r>
              <a:rPr lang="en-US" dirty="0" smtClean="0"/>
              <a:t>Patient </a:t>
            </a:r>
          </a:p>
          <a:p>
            <a:endParaRPr lang="en-US" dirty="0" smtClean="0"/>
          </a:p>
          <a:p>
            <a:r>
              <a:rPr lang="en-US" dirty="0" smtClean="0"/>
              <a:t>Interaction</a:t>
            </a:r>
          </a:p>
          <a:p>
            <a:endParaRPr lang="en-US" dirty="0"/>
          </a:p>
          <a:p>
            <a:endParaRPr lang="en-US" dirty="0" smtClean="0"/>
          </a:p>
          <a:p>
            <a:r>
              <a:rPr lang="en-US" dirty="0" smtClean="0"/>
              <a:t>Detector </a:t>
            </a:r>
          </a:p>
          <a:p>
            <a:pPr lvl="1"/>
            <a:r>
              <a:rPr lang="en-US" dirty="0" smtClean="0"/>
              <a:t>Radiographic film</a:t>
            </a:r>
          </a:p>
          <a:p>
            <a:pPr lvl="1"/>
            <a:r>
              <a:rPr lang="en-US" dirty="0" smtClean="0"/>
              <a:t>Electronic detector </a:t>
            </a:r>
            <a:endParaRPr lang="en-US" dirty="0"/>
          </a:p>
        </p:txBody>
      </p:sp>
      <p:pic>
        <p:nvPicPr>
          <p:cNvPr id="19" name="Picture 6" descr="Attenu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2167" y="1371600"/>
            <a:ext cx="2558906"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9" descr="xraytube"/>
          <p:cNvPicPr>
            <a:picLocks noChangeAspect="1" noChangeArrowheads="1"/>
          </p:cNvPicPr>
          <p:nvPr/>
        </p:nvPicPr>
        <p:blipFill>
          <a:blip r:embed="rId3">
            <a:extLst>
              <a:ext uri="{28A0092B-C50C-407E-A947-70E740481C1C}">
                <a14:useLocalDpi xmlns:a14="http://schemas.microsoft.com/office/drawing/2010/main" val="0"/>
              </a:ext>
            </a:extLst>
          </a:blip>
          <a:srcRect t="4550" b="29478"/>
          <a:stretch>
            <a:fillRect/>
          </a:stretch>
        </p:blipFill>
        <p:spPr bwMode="auto">
          <a:xfrm>
            <a:off x="8490239" y="213014"/>
            <a:ext cx="1782763"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0693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4800600" cy="868362"/>
          </a:xfrm>
        </p:spPr>
        <p:txBody>
          <a:bodyPr/>
          <a:lstStyle/>
          <a:p>
            <a:r>
              <a:rPr lang="en-US" b="1" i="1" dirty="0">
                <a:solidFill>
                  <a:srgbClr val="000000"/>
                </a:solidFill>
              </a:rPr>
              <a:t>X-Ray Tube </a:t>
            </a:r>
            <a:endParaRPr lang="en-US" dirty="0"/>
          </a:p>
        </p:txBody>
      </p:sp>
      <p:sp>
        <p:nvSpPr>
          <p:cNvPr id="3" name="Content Placeholder 2"/>
          <p:cNvSpPr>
            <a:spLocks noGrp="1"/>
          </p:cNvSpPr>
          <p:nvPr>
            <p:ph idx="1"/>
          </p:nvPr>
        </p:nvSpPr>
        <p:spPr>
          <a:xfrm>
            <a:off x="1981200" y="1066801"/>
            <a:ext cx="8229600" cy="5059363"/>
          </a:xfrm>
        </p:spPr>
        <p:txBody>
          <a:bodyPr>
            <a:normAutofit fontScale="92500" lnSpcReduction="10000"/>
          </a:bodyPr>
          <a:lstStyle/>
          <a:p>
            <a:r>
              <a:rPr lang="en-US" dirty="0" smtClean="0"/>
              <a:t>Source of X-ray </a:t>
            </a:r>
          </a:p>
          <a:p>
            <a:r>
              <a:rPr lang="en-US" dirty="0" smtClean="0"/>
              <a:t>Converts electrical energy into</a:t>
            </a:r>
          </a:p>
          <a:p>
            <a:pPr marL="0" indent="0">
              <a:buNone/>
            </a:pPr>
            <a:r>
              <a:rPr lang="en-US" dirty="0"/>
              <a:t> </a:t>
            </a:r>
            <a:r>
              <a:rPr lang="en-US" dirty="0" smtClean="0"/>
              <a:t>     1. Heat energy</a:t>
            </a:r>
          </a:p>
          <a:p>
            <a:pPr marL="0" indent="0">
              <a:buNone/>
            </a:pPr>
            <a:r>
              <a:rPr lang="en-US" dirty="0"/>
              <a:t> </a:t>
            </a:r>
            <a:r>
              <a:rPr lang="en-US" dirty="0" smtClean="0"/>
              <a:t>                </a:t>
            </a:r>
            <a:r>
              <a:rPr lang="en-US" dirty="0" smtClean="0">
                <a:sym typeface="Wingdings" pitchFamily="2" charset="2"/>
              </a:rPr>
              <a:t></a:t>
            </a:r>
            <a:r>
              <a:rPr lang="en-US" dirty="0" smtClean="0"/>
              <a:t> 99% of incident energy</a:t>
            </a:r>
          </a:p>
          <a:p>
            <a:pPr marL="0" indent="0">
              <a:buNone/>
            </a:pPr>
            <a:r>
              <a:rPr lang="en-US" dirty="0"/>
              <a:t> </a:t>
            </a:r>
            <a:r>
              <a:rPr lang="en-US" dirty="0" smtClean="0"/>
              <a:t>               </a:t>
            </a:r>
            <a:r>
              <a:rPr lang="en-US" dirty="0" smtClean="0">
                <a:sym typeface="Wingdings" pitchFamily="2" charset="2"/>
              </a:rPr>
              <a:t> Bad , may destroy the tube ultimately</a:t>
            </a:r>
            <a:endParaRPr lang="en-US" dirty="0" smtClean="0"/>
          </a:p>
          <a:p>
            <a:pPr marL="0" indent="0">
              <a:buNone/>
            </a:pPr>
            <a:r>
              <a:rPr lang="en-US" dirty="0" smtClean="0"/>
              <a:t>                </a:t>
            </a:r>
            <a:r>
              <a:rPr lang="en-US" dirty="0" smtClean="0">
                <a:sym typeface="Wingdings" pitchFamily="2" charset="2"/>
              </a:rPr>
              <a:t></a:t>
            </a:r>
            <a:r>
              <a:rPr lang="en-US" dirty="0" smtClean="0"/>
              <a:t> Eliminated by cooling system of the tube</a:t>
            </a:r>
          </a:p>
          <a:p>
            <a:pPr marL="0" indent="0">
              <a:buNone/>
            </a:pPr>
            <a:r>
              <a:rPr lang="en-US" dirty="0"/>
              <a:t> </a:t>
            </a:r>
            <a:r>
              <a:rPr lang="en-US" dirty="0" smtClean="0"/>
              <a:t>    2. X-Rays </a:t>
            </a:r>
          </a:p>
          <a:p>
            <a:pPr marL="0" indent="0">
              <a:buNone/>
            </a:pPr>
            <a:r>
              <a:rPr lang="en-US" dirty="0" smtClean="0"/>
              <a:t>               </a:t>
            </a:r>
            <a:r>
              <a:rPr lang="en-US" dirty="0" smtClean="0">
                <a:sym typeface="Wingdings" pitchFamily="2" charset="2"/>
              </a:rPr>
              <a:t></a:t>
            </a:r>
            <a:r>
              <a:rPr lang="en-US" dirty="0" smtClean="0"/>
              <a:t> &lt; 1% of incident energy</a:t>
            </a:r>
          </a:p>
          <a:p>
            <a:pPr marL="0" indent="0">
              <a:buNone/>
            </a:pPr>
            <a:r>
              <a:rPr lang="en-US" dirty="0"/>
              <a:t> </a:t>
            </a:r>
            <a:r>
              <a:rPr lang="en-US" dirty="0" smtClean="0"/>
              <a:t>             </a:t>
            </a:r>
            <a:r>
              <a:rPr lang="en-US" dirty="0" smtClean="0">
                <a:sym typeface="Wingdings" pitchFamily="2" charset="2"/>
              </a:rPr>
              <a:t> Good , desired product</a:t>
            </a:r>
          </a:p>
          <a:p>
            <a:pPr>
              <a:buFont typeface="Wingdings" pitchFamily="2" charset="2"/>
              <a:buChar char="v"/>
            </a:pPr>
            <a:r>
              <a:rPr lang="en-US" dirty="0" smtClean="0">
                <a:solidFill>
                  <a:srgbClr val="660066"/>
                </a:solidFill>
                <a:latin typeface="Times New Roman" pitchFamily="18" charset="0"/>
              </a:rPr>
              <a:t>X-rays </a:t>
            </a:r>
            <a:r>
              <a:rPr lang="en-US" dirty="0">
                <a:solidFill>
                  <a:srgbClr val="660066"/>
                </a:solidFill>
                <a:latin typeface="Times New Roman" pitchFamily="18" charset="0"/>
              </a:rPr>
              <a:t>are produced by deceleration of high velocity electrons</a:t>
            </a:r>
            <a:endParaRPr lang="en-US" dirty="0"/>
          </a:p>
        </p:txBody>
      </p:sp>
    </p:spTree>
    <p:extLst>
      <p:ext uri="{BB962C8B-B14F-4D97-AF65-F5344CB8AC3E}">
        <p14:creationId xmlns:p14="http://schemas.microsoft.com/office/powerpoint/2010/main" val="26076398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3254376" y="220663"/>
            <a:ext cx="6810375" cy="633412"/>
          </a:xfrm>
        </p:spPr>
        <p:txBody>
          <a:bodyPr>
            <a:normAutofit fontScale="90000"/>
          </a:bodyPr>
          <a:lstStyle/>
          <a:p>
            <a:r>
              <a:rPr lang="en-US" smtClean="0"/>
              <a:t>X-Ray Tube Components</a:t>
            </a:r>
          </a:p>
        </p:txBody>
      </p:sp>
      <p:sp>
        <p:nvSpPr>
          <p:cNvPr id="48131" name="Rectangle 3"/>
          <p:cNvSpPr>
            <a:spLocks noGrp="1" noChangeArrowheads="1"/>
          </p:cNvSpPr>
          <p:nvPr>
            <p:ph type="body" idx="1"/>
          </p:nvPr>
        </p:nvSpPr>
        <p:spPr>
          <a:xfrm>
            <a:off x="4572000" y="990600"/>
            <a:ext cx="3486150" cy="4114800"/>
          </a:xfrm>
          <a:noFill/>
        </p:spPr>
        <p:txBody>
          <a:bodyPr>
            <a:normAutofit lnSpcReduction="10000"/>
          </a:bodyPr>
          <a:lstStyle/>
          <a:p>
            <a:pPr>
              <a:lnSpc>
                <a:spcPct val="80000"/>
              </a:lnSpc>
            </a:pPr>
            <a:r>
              <a:rPr lang="en-US" dirty="0" smtClean="0"/>
              <a:t>Housing</a:t>
            </a:r>
          </a:p>
          <a:p>
            <a:pPr lvl="1">
              <a:lnSpc>
                <a:spcPct val="80000"/>
              </a:lnSpc>
            </a:pPr>
            <a:r>
              <a:rPr lang="en-US" sz="2000" dirty="0"/>
              <a:t>Visible part of tube</a:t>
            </a:r>
          </a:p>
          <a:p>
            <a:pPr lvl="1">
              <a:lnSpc>
                <a:spcPct val="80000"/>
              </a:lnSpc>
            </a:pPr>
            <a:r>
              <a:rPr lang="en-US" sz="2000" dirty="0"/>
              <a:t>Insulator and non conductor</a:t>
            </a:r>
          </a:p>
          <a:p>
            <a:pPr>
              <a:lnSpc>
                <a:spcPct val="80000"/>
              </a:lnSpc>
            </a:pPr>
            <a:r>
              <a:rPr lang="en-US" dirty="0" smtClean="0"/>
              <a:t>Glass Enclosure</a:t>
            </a:r>
            <a:br>
              <a:rPr lang="en-US" dirty="0" smtClean="0"/>
            </a:br>
            <a:r>
              <a:rPr lang="en-US" dirty="0" smtClean="0"/>
              <a:t>(insert)</a:t>
            </a:r>
          </a:p>
          <a:p>
            <a:pPr lvl="1">
              <a:lnSpc>
                <a:spcPct val="80000"/>
              </a:lnSpc>
            </a:pPr>
            <a:r>
              <a:rPr lang="en-US" sz="2000" dirty="0"/>
              <a:t>Vacuum</a:t>
            </a:r>
          </a:p>
          <a:p>
            <a:pPr lvl="1">
              <a:lnSpc>
                <a:spcPct val="80000"/>
              </a:lnSpc>
            </a:pPr>
            <a:r>
              <a:rPr lang="en-US" sz="2000" dirty="0"/>
              <a:t>Electrodes</a:t>
            </a:r>
          </a:p>
          <a:p>
            <a:pPr lvl="2">
              <a:lnSpc>
                <a:spcPct val="80000"/>
              </a:lnSpc>
            </a:pPr>
            <a:r>
              <a:rPr lang="en-US" sz="1800" dirty="0"/>
              <a:t>Cathode</a:t>
            </a:r>
          </a:p>
          <a:p>
            <a:pPr lvl="3">
              <a:lnSpc>
                <a:spcPct val="80000"/>
              </a:lnSpc>
            </a:pPr>
            <a:r>
              <a:rPr lang="en-US" dirty="0">
                <a:solidFill>
                  <a:srgbClr val="FF0000"/>
                </a:solidFill>
              </a:rPr>
              <a:t>Filament</a:t>
            </a:r>
            <a:r>
              <a:rPr lang="en-US" dirty="0"/>
              <a:t> </a:t>
            </a:r>
          </a:p>
          <a:p>
            <a:pPr lvl="3">
              <a:lnSpc>
                <a:spcPct val="80000"/>
              </a:lnSpc>
            </a:pPr>
            <a:endParaRPr lang="en-US" dirty="0"/>
          </a:p>
          <a:p>
            <a:pPr lvl="2">
              <a:lnSpc>
                <a:spcPct val="80000"/>
              </a:lnSpc>
            </a:pPr>
            <a:r>
              <a:rPr lang="en-US" sz="1800" dirty="0"/>
              <a:t>Anode</a:t>
            </a:r>
          </a:p>
          <a:p>
            <a:pPr lvl="3">
              <a:lnSpc>
                <a:spcPct val="80000"/>
              </a:lnSpc>
            </a:pPr>
            <a:r>
              <a:rPr lang="en-US" dirty="0">
                <a:solidFill>
                  <a:schemeClr val="accent1"/>
                </a:solidFill>
              </a:rPr>
              <a:t>Target</a:t>
            </a:r>
          </a:p>
        </p:txBody>
      </p:sp>
      <p:pic>
        <p:nvPicPr>
          <p:cNvPr id="10273" name="Picture 33" descr="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419600"/>
            <a:ext cx="3760788"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5" name="Picture 35" descr="xraytube"/>
          <p:cNvPicPr>
            <a:picLocks noChangeAspect="1" noChangeArrowheads="1"/>
          </p:cNvPicPr>
          <p:nvPr/>
        </p:nvPicPr>
        <p:blipFill>
          <a:blip r:embed="rId3">
            <a:extLst>
              <a:ext uri="{28A0092B-C50C-407E-A947-70E740481C1C}">
                <a14:useLocalDpi xmlns:a14="http://schemas.microsoft.com/office/drawing/2010/main" val="0"/>
              </a:ext>
            </a:extLst>
          </a:blip>
          <a:srcRect t="4550" b="29478"/>
          <a:stretch>
            <a:fillRect/>
          </a:stretch>
        </p:blipFill>
        <p:spPr bwMode="auto">
          <a:xfrm>
            <a:off x="7924801" y="1295400"/>
            <a:ext cx="2468563"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Text Box 36"/>
          <p:cNvSpPr txBox="1">
            <a:spLocks noChangeArrowheads="1"/>
          </p:cNvSpPr>
          <p:nvPr/>
        </p:nvSpPr>
        <p:spPr bwMode="auto">
          <a:xfrm>
            <a:off x="2133601" y="685800"/>
            <a:ext cx="3587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t>*</a:t>
            </a:r>
          </a:p>
        </p:txBody>
      </p:sp>
      <p:sp>
        <p:nvSpPr>
          <p:cNvPr id="10277" name="Oval 37"/>
          <p:cNvSpPr>
            <a:spLocks noChangeArrowheads="1"/>
          </p:cNvSpPr>
          <p:nvPr/>
        </p:nvSpPr>
        <p:spPr bwMode="auto">
          <a:xfrm>
            <a:off x="8305800" y="1676400"/>
            <a:ext cx="2057400" cy="1219200"/>
          </a:xfrm>
          <a:prstGeom prst="ellipse">
            <a:avLst/>
          </a:prstGeom>
          <a:noFill/>
          <a:ln w="28575">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78" name="Line 38"/>
          <p:cNvSpPr>
            <a:spLocks noChangeShapeType="1"/>
          </p:cNvSpPr>
          <p:nvPr/>
        </p:nvSpPr>
        <p:spPr bwMode="auto">
          <a:xfrm>
            <a:off x="6629400" y="1219200"/>
            <a:ext cx="1828800" cy="68580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80" name="Line 40"/>
          <p:cNvSpPr>
            <a:spLocks noChangeShapeType="1"/>
          </p:cNvSpPr>
          <p:nvPr/>
        </p:nvSpPr>
        <p:spPr bwMode="auto">
          <a:xfrm flipH="1">
            <a:off x="3962400" y="2286000"/>
            <a:ext cx="838200" cy="228600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82" name="Arc 42"/>
          <p:cNvSpPr>
            <a:spLocks/>
          </p:cNvSpPr>
          <p:nvPr/>
        </p:nvSpPr>
        <p:spPr bwMode="auto">
          <a:xfrm flipV="1">
            <a:off x="4343400" y="3886200"/>
            <a:ext cx="2743200" cy="2209800"/>
          </a:xfrm>
          <a:custGeom>
            <a:avLst/>
            <a:gdLst>
              <a:gd name="T0" fmla="*/ 0 w 27272"/>
              <a:gd name="T1" fmla="*/ 2147483647 h 24657"/>
              <a:gd name="T2" fmla="*/ 2147483647 w 27272"/>
              <a:gd name="T3" fmla="*/ 2147483647 h 24657"/>
              <a:gd name="T4" fmla="*/ 2147483647 w 27272"/>
              <a:gd name="T5" fmla="*/ 2147483647 h 24657"/>
              <a:gd name="T6" fmla="*/ 0 60000 65536"/>
              <a:gd name="T7" fmla="*/ 0 60000 65536"/>
              <a:gd name="T8" fmla="*/ 0 60000 65536"/>
              <a:gd name="T9" fmla="*/ 0 w 27272"/>
              <a:gd name="T10" fmla="*/ 0 h 24657"/>
              <a:gd name="T11" fmla="*/ 27272 w 27272"/>
              <a:gd name="T12" fmla="*/ 24657 h 24657"/>
            </a:gdLst>
            <a:ahLst/>
            <a:cxnLst>
              <a:cxn ang="T6">
                <a:pos x="T0" y="T1"/>
              </a:cxn>
              <a:cxn ang="T7">
                <a:pos x="T2" y="T3"/>
              </a:cxn>
              <a:cxn ang="T8">
                <a:pos x="T4" y="T5"/>
              </a:cxn>
            </a:cxnLst>
            <a:rect l="T9" t="T10" r="T11" b="T12"/>
            <a:pathLst>
              <a:path w="27272" h="24657" fill="none" extrusionOk="0">
                <a:moveTo>
                  <a:pt x="0" y="758"/>
                </a:moveTo>
                <a:cubicBezTo>
                  <a:pt x="1848" y="254"/>
                  <a:pt x="3756" y="-1"/>
                  <a:pt x="5672" y="0"/>
                </a:cubicBezTo>
                <a:cubicBezTo>
                  <a:pt x="17601" y="0"/>
                  <a:pt x="27272" y="9670"/>
                  <a:pt x="27272" y="21600"/>
                </a:cubicBezTo>
                <a:cubicBezTo>
                  <a:pt x="27272" y="22622"/>
                  <a:pt x="27199" y="23644"/>
                  <a:pt x="27054" y="24656"/>
                </a:cubicBezTo>
              </a:path>
              <a:path w="27272" h="24657" stroke="0" extrusionOk="0">
                <a:moveTo>
                  <a:pt x="0" y="758"/>
                </a:moveTo>
                <a:cubicBezTo>
                  <a:pt x="1848" y="254"/>
                  <a:pt x="3756" y="-1"/>
                  <a:pt x="5672" y="0"/>
                </a:cubicBezTo>
                <a:cubicBezTo>
                  <a:pt x="17601" y="0"/>
                  <a:pt x="27272" y="9670"/>
                  <a:pt x="27272" y="21600"/>
                </a:cubicBezTo>
                <a:cubicBezTo>
                  <a:pt x="27272" y="22622"/>
                  <a:pt x="27199" y="23644"/>
                  <a:pt x="27054" y="24656"/>
                </a:cubicBezTo>
                <a:lnTo>
                  <a:pt x="5672" y="21600"/>
                </a:lnTo>
                <a:lnTo>
                  <a:pt x="0" y="758"/>
                </a:lnTo>
                <a:close/>
              </a:path>
            </a:pathLst>
          </a:custGeom>
          <a:noFill/>
          <a:ln w="28575">
            <a:solidFill>
              <a:srgbClr val="FF0000"/>
            </a:solidFill>
            <a:round/>
            <a:headEnd type="triangle"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83" name="Arc 43"/>
          <p:cNvSpPr>
            <a:spLocks/>
          </p:cNvSpPr>
          <p:nvPr/>
        </p:nvSpPr>
        <p:spPr bwMode="auto">
          <a:xfrm flipV="1">
            <a:off x="3810000" y="4724400"/>
            <a:ext cx="3124200" cy="1981200"/>
          </a:xfrm>
          <a:custGeom>
            <a:avLst/>
            <a:gdLst>
              <a:gd name="T0" fmla="*/ 0 w 38343"/>
              <a:gd name="T1" fmla="*/ 2147483647 h 24657"/>
              <a:gd name="T2" fmla="*/ 2147483647 w 38343"/>
              <a:gd name="T3" fmla="*/ 2147483647 h 24657"/>
              <a:gd name="T4" fmla="*/ 2147483647 w 38343"/>
              <a:gd name="T5" fmla="*/ 2147483647 h 24657"/>
              <a:gd name="T6" fmla="*/ 0 60000 65536"/>
              <a:gd name="T7" fmla="*/ 0 60000 65536"/>
              <a:gd name="T8" fmla="*/ 0 60000 65536"/>
              <a:gd name="T9" fmla="*/ 0 w 38343"/>
              <a:gd name="T10" fmla="*/ 0 h 24657"/>
              <a:gd name="T11" fmla="*/ 38343 w 38343"/>
              <a:gd name="T12" fmla="*/ 24657 h 24657"/>
            </a:gdLst>
            <a:ahLst/>
            <a:cxnLst>
              <a:cxn ang="T6">
                <a:pos x="T0" y="T1"/>
              </a:cxn>
              <a:cxn ang="T7">
                <a:pos x="T2" y="T3"/>
              </a:cxn>
              <a:cxn ang="T8">
                <a:pos x="T4" y="T5"/>
              </a:cxn>
            </a:cxnLst>
            <a:rect l="T9" t="T10" r="T11" b="T12"/>
            <a:pathLst>
              <a:path w="38343" h="24657" fill="none" extrusionOk="0">
                <a:moveTo>
                  <a:pt x="0" y="7953"/>
                </a:moveTo>
                <a:cubicBezTo>
                  <a:pt x="4102" y="2920"/>
                  <a:pt x="10250" y="-1"/>
                  <a:pt x="16743" y="0"/>
                </a:cubicBezTo>
                <a:cubicBezTo>
                  <a:pt x="28672" y="0"/>
                  <a:pt x="38343" y="9670"/>
                  <a:pt x="38343" y="21600"/>
                </a:cubicBezTo>
                <a:cubicBezTo>
                  <a:pt x="38343" y="22622"/>
                  <a:pt x="38270" y="23644"/>
                  <a:pt x="38125" y="24656"/>
                </a:cubicBezTo>
              </a:path>
              <a:path w="38343" h="24657" stroke="0" extrusionOk="0">
                <a:moveTo>
                  <a:pt x="0" y="7953"/>
                </a:moveTo>
                <a:cubicBezTo>
                  <a:pt x="4102" y="2920"/>
                  <a:pt x="10250" y="-1"/>
                  <a:pt x="16743" y="0"/>
                </a:cubicBezTo>
                <a:cubicBezTo>
                  <a:pt x="28672" y="0"/>
                  <a:pt x="38343" y="9670"/>
                  <a:pt x="38343" y="21600"/>
                </a:cubicBezTo>
                <a:cubicBezTo>
                  <a:pt x="38343" y="22622"/>
                  <a:pt x="38270" y="23644"/>
                  <a:pt x="38125" y="24656"/>
                </a:cubicBezTo>
                <a:lnTo>
                  <a:pt x="16743" y="21600"/>
                </a:lnTo>
                <a:lnTo>
                  <a:pt x="0" y="7953"/>
                </a:lnTo>
                <a:close/>
              </a:path>
            </a:pathLst>
          </a:custGeom>
          <a:noFill/>
          <a:ln w="28575">
            <a:solidFill>
              <a:schemeClr val="accent1"/>
            </a:solidFill>
            <a:round/>
            <a:headEnd type="triangle"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40" name="Date Placeholder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sp>
        <p:nvSpPr>
          <p:cNvPr id="48141"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dirty="0" smtClean="0"/>
          </a:p>
        </p:txBody>
      </p:sp>
    </p:spTree>
    <p:extLst>
      <p:ext uri="{BB962C8B-B14F-4D97-AF65-F5344CB8AC3E}">
        <p14:creationId xmlns:p14="http://schemas.microsoft.com/office/powerpoint/2010/main" val="7238884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10275"/>
                                        </p:tgtEl>
                                        <p:attrNameLst>
                                          <p:attrName>style.visibility</p:attrName>
                                        </p:attrNameLst>
                                      </p:cBhvr>
                                      <p:to>
                                        <p:strVal val="visible"/>
                                      </p:to>
                                    </p:set>
                                    <p:animEffect transition="in" filter="barn(inHorizontal)">
                                      <p:cBhvr>
                                        <p:cTn id="7" dur="500"/>
                                        <p:tgtEl>
                                          <p:spTgt spid="10275"/>
                                        </p:tgtEl>
                                      </p:cBhvr>
                                    </p:animEffect>
                                  </p:childTnLst>
                                </p:cTn>
                              </p:par>
                            </p:childTnLst>
                          </p:cTn>
                        </p:par>
                        <p:par>
                          <p:cTn id="8" fill="hold" nodeType="afterGroup">
                            <p:stCondLst>
                              <p:cond delay="500"/>
                            </p:stCondLst>
                            <p:childTnLst>
                              <p:par>
                                <p:cTn id="9" presetID="17" presetClass="entr" presetSubtype="10" fill="hold" grpId="0" nodeType="afterEffect">
                                  <p:stCondLst>
                                    <p:cond delay="0"/>
                                  </p:stCondLst>
                                  <p:childTnLst>
                                    <p:set>
                                      <p:cBhvr>
                                        <p:cTn id="10" dur="1" fill="hold">
                                          <p:stCondLst>
                                            <p:cond delay="0"/>
                                          </p:stCondLst>
                                        </p:cTn>
                                        <p:tgtEl>
                                          <p:spTgt spid="10277"/>
                                        </p:tgtEl>
                                        <p:attrNameLst>
                                          <p:attrName>style.visibility</p:attrName>
                                        </p:attrNameLst>
                                      </p:cBhvr>
                                      <p:to>
                                        <p:strVal val="visible"/>
                                      </p:to>
                                    </p:set>
                                    <p:anim calcmode="lin" valueType="num">
                                      <p:cBhvr>
                                        <p:cTn id="11" dur="500" fill="hold"/>
                                        <p:tgtEl>
                                          <p:spTgt spid="10277"/>
                                        </p:tgtEl>
                                        <p:attrNameLst>
                                          <p:attrName>ppt_w</p:attrName>
                                        </p:attrNameLst>
                                      </p:cBhvr>
                                      <p:tavLst>
                                        <p:tav tm="0">
                                          <p:val>
                                            <p:fltVal val="0"/>
                                          </p:val>
                                        </p:tav>
                                        <p:tav tm="100000">
                                          <p:val>
                                            <p:strVal val="#ppt_w"/>
                                          </p:val>
                                        </p:tav>
                                      </p:tavLst>
                                    </p:anim>
                                    <p:anim calcmode="lin" valueType="num">
                                      <p:cBhvr>
                                        <p:cTn id="12" dur="500" fill="hold"/>
                                        <p:tgtEl>
                                          <p:spTgt spid="10277"/>
                                        </p:tgtEl>
                                        <p:attrNameLst>
                                          <p:attrName>ppt_h</p:attrName>
                                        </p:attrNameLst>
                                      </p:cBhvr>
                                      <p:tavLst>
                                        <p:tav tm="0">
                                          <p:val>
                                            <p:strVal val="#ppt_h"/>
                                          </p:val>
                                        </p:tav>
                                        <p:tav tm="100000">
                                          <p:val>
                                            <p:strVal val="#ppt_h"/>
                                          </p:val>
                                        </p:tav>
                                      </p:tavLst>
                                    </p:anim>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0278"/>
                                        </p:tgtEl>
                                        <p:attrNameLst>
                                          <p:attrName>style.visibility</p:attrName>
                                        </p:attrNameLst>
                                      </p:cBhvr>
                                      <p:to>
                                        <p:strVal val="visible"/>
                                      </p:to>
                                    </p:set>
                                    <p:animEffect transition="in" filter="wipe(left)">
                                      <p:cBhvr>
                                        <p:cTn id="16" dur="500"/>
                                        <p:tgtEl>
                                          <p:spTgt spid="1027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10273"/>
                                        </p:tgtEl>
                                        <p:attrNameLst>
                                          <p:attrName>style.visibility</p:attrName>
                                        </p:attrNameLst>
                                      </p:cBhvr>
                                      <p:to>
                                        <p:strVal val="visible"/>
                                      </p:to>
                                    </p:set>
                                    <p:anim calcmode="lin" valueType="num">
                                      <p:cBhvr additive="base">
                                        <p:cTn id="21" dur="500" fill="hold"/>
                                        <p:tgtEl>
                                          <p:spTgt spid="10273"/>
                                        </p:tgtEl>
                                        <p:attrNameLst>
                                          <p:attrName>ppt_x</p:attrName>
                                        </p:attrNameLst>
                                      </p:cBhvr>
                                      <p:tavLst>
                                        <p:tav tm="0">
                                          <p:val>
                                            <p:strVal val="0-#ppt_w/2"/>
                                          </p:val>
                                        </p:tav>
                                        <p:tav tm="100000">
                                          <p:val>
                                            <p:strVal val="#ppt_x"/>
                                          </p:val>
                                        </p:tav>
                                      </p:tavLst>
                                    </p:anim>
                                    <p:anim calcmode="lin" valueType="num">
                                      <p:cBhvr additive="base">
                                        <p:cTn id="22" dur="500" fill="hold"/>
                                        <p:tgtEl>
                                          <p:spTgt spid="10273"/>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10280"/>
                                        </p:tgtEl>
                                        <p:attrNameLst>
                                          <p:attrName>style.visibility</p:attrName>
                                        </p:attrNameLst>
                                      </p:cBhvr>
                                      <p:to>
                                        <p:strVal val="visible"/>
                                      </p:to>
                                    </p:set>
                                    <p:animEffect transition="in" filter="wipe(up)">
                                      <p:cBhvr>
                                        <p:cTn id="26" dur="500"/>
                                        <p:tgtEl>
                                          <p:spTgt spid="1028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10282"/>
                                        </p:tgtEl>
                                        <p:attrNameLst>
                                          <p:attrName>style.visibility</p:attrName>
                                        </p:attrNameLst>
                                      </p:cBhvr>
                                      <p:to>
                                        <p:strVal val="visible"/>
                                      </p:to>
                                    </p:set>
                                    <p:animEffect transition="in" filter="wipe(right)">
                                      <p:cBhvr>
                                        <p:cTn id="31" dur="500"/>
                                        <p:tgtEl>
                                          <p:spTgt spid="1028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10283"/>
                                        </p:tgtEl>
                                        <p:attrNameLst>
                                          <p:attrName>style.visibility</p:attrName>
                                        </p:attrNameLst>
                                      </p:cBhvr>
                                      <p:to>
                                        <p:strVal val="visible"/>
                                      </p:to>
                                    </p:set>
                                    <p:animEffect transition="in" filter="wipe(right)">
                                      <p:cBhvr>
                                        <p:cTn id="36" dur="500"/>
                                        <p:tgtEl>
                                          <p:spTgt spid="10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7" grpId="0" animBg="1"/>
      <p:bldP spid="10278" grpId="0" animBg="1"/>
      <p:bldP spid="10280" grpId="0" animBg="1"/>
      <p:bldP spid="10282" grpId="0" animBg="1"/>
      <p:bldP spid="1028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4267200" cy="258762"/>
          </a:xfrm>
        </p:spPr>
        <p:txBody>
          <a:bodyPr>
            <a:normAutofit fontScale="90000"/>
          </a:bodyPr>
          <a:lstStyle/>
          <a:p>
            <a:r>
              <a:rPr lang="en-US" b="1" dirty="0" smtClean="0"/>
              <a:t>Cathode</a:t>
            </a:r>
            <a:r>
              <a:rPr lang="en-US" dirty="0" smtClean="0"/>
              <a:t> </a:t>
            </a:r>
            <a:endParaRPr lang="en-US" dirty="0"/>
          </a:p>
        </p:txBody>
      </p:sp>
      <p:sp>
        <p:nvSpPr>
          <p:cNvPr id="3" name="Content Placeholder 2"/>
          <p:cNvSpPr>
            <a:spLocks noGrp="1"/>
          </p:cNvSpPr>
          <p:nvPr>
            <p:ph sz="half" idx="1"/>
          </p:nvPr>
        </p:nvSpPr>
        <p:spPr>
          <a:xfrm>
            <a:off x="1524000" y="609600"/>
            <a:ext cx="5334000" cy="6096000"/>
          </a:xfrm>
        </p:spPr>
        <p:txBody>
          <a:bodyPr>
            <a:normAutofit/>
          </a:bodyPr>
          <a:lstStyle/>
          <a:p>
            <a:pPr lvl="1">
              <a:lnSpc>
                <a:spcPct val="90000"/>
              </a:lnSpc>
              <a:buFont typeface="Wingdings" pitchFamily="2" charset="2"/>
              <a:buChar char="Ø"/>
            </a:pPr>
            <a:r>
              <a:rPr lang="en-US" dirty="0" smtClean="0"/>
              <a:t>Function </a:t>
            </a:r>
            <a:r>
              <a:rPr lang="en-US" dirty="0"/>
              <a:t>:-   to expel electron  from the electrical circuit  and  focus them into a well  defined beam aimed at the </a:t>
            </a:r>
            <a:r>
              <a:rPr lang="en-US" dirty="0" smtClean="0"/>
              <a:t>anode</a:t>
            </a:r>
          </a:p>
          <a:p>
            <a:pPr lvl="1">
              <a:lnSpc>
                <a:spcPct val="90000"/>
              </a:lnSpc>
              <a:buFont typeface="Wingdings" pitchFamily="2" charset="2"/>
              <a:buChar char="Ø"/>
            </a:pPr>
            <a:r>
              <a:rPr lang="en-US" dirty="0" smtClean="0"/>
              <a:t>The </a:t>
            </a:r>
            <a:r>
              <a:rPr lang="en-US" dirty="0"/>
              <a:t>cathodes assembly consists of small coil of wire (filament</a:t>
            </a:r>
            <a:r>
              <a:rPr lang="en-US" dirty="0" smtClean="0"/>
              <a:t>).</a:t>
            </a:r>
          </a:p>
          <a:p>
            <a:pPr lvl="1"/>
            <a:r>
              <a:rPr lang="en-US" dirty="0"/>
              <a:t>The filament is made up of </a:t>
            </a:r>
            <a:r>
              <a:rPr lang="en-US" b="1" dirty="0"/>
              <a:t>Tungsten </a:t>
            </a:r>
            <a:r>
              <a:rPr lang="en-US" dirty="0"/>
              <a:t>wire.</a:t>
            </a:r>
          </a:p>
          <a:p>
            <a:pPr lvl="2"/>
            <a:r>
              <a:rPr lang="en-US" dirty="0"/>
              <a:t>Tungsten will readily emit electrons by thermionic emission </a:t>
            </a:r>
          </a:p>
          <a:p>
            <a:pPr lvl="1">
              <a:lnSpc>
                <a:spcPct val="90000"/>
              </a:lnSpc>
            </a:pPr>
            <a:r>
              <a:rPr lang="en-US" dirty="0"/>
              <a:t>The cathode assembly is connected to the negative high voltage area</a:t>
            </a:r>
            <a:r>
              <a:rPr lang="en-US" dirty="0" smtClean="0"/>
              <a:t>.</a:t>
            </a:r>
            <a:endParaRPr lang="en-US" dirty="0"/>
          </a:p>
          <a:p>
            <a:pPr lvl="1">
              <a:lnSpc>
                <a:spcPct val="90000"/>
              </a:lnSpc>
            </a:pPr>
            <a:r>
              <a:rPr lang="en-US" dirty="0"/>
              <a:t>The filament is heated electronically to a high temperature so that electrons are boiled off from its surface. These electrons form a tube </a:t>
            </a:r>
            <a:r>
              <a:rPr lang="en-US" dirty="0" smtClean="0"/>
              <a:t>current</a:t>
            </a:r>
          </a:p>
          <a:p>
            <a:pPr marL="914400" lvl="2" indent="0">
              <a:buNone/>
            </a:pPr>
            <a:endParaRPr lang="en-US" dirty="0"/>
          </a:p>
          <a:p>
            <a:pPr lvl="1">
              <a:lnSpc>
                <a:spcPct val="90000"/>
              </a:lnSpc>
            </a:pPr>
            <a:endParaRPr lang="en-US" dirty="0"/>
          </a:p>
          <a:p>
            <a:endParaRPr lang="en-US" dirty="0"/>
          </a:p>
        </p:txBody>
      </p:sp>
      <p:pic>
        <p:nvPicPr>
          <p:cNvPr id="5" name="Content Placeholder 4" descr="http://www.antonine-education.co.uk/Physics_A2/Options/Module_6/Topic_7/X-ray_Tube.gif"/>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851073" y="1905001"/>
            <a:ext cx="3810000" cy="2386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14489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200" y="274638"/>
            <a:ext cx="3657600" cy="334962"/>
          </a:xfrm>
        </p:spPr>
        <p:txBody>
          <a:bodyPr>
            <a:noAutofit/>
          </a:bodyPr>
          <a:lstStyle/>
          <a:p>
            <a:r>
              <a:rPr lang="en-US" sz="3200" b="1" dirty="0"/>
              <a:t>Anode  </a:t>
            </a:r>
          </a:p>
        </p:txBody>
      </p:sp>
      <p:sp>
        <p:nvSpPr>
          <p:cNvPr id="5" name="Content Placeholder 4"/>
          <p:cNvSpPr>
            <a:spLocks noGrp="1"/>
          </p:cNvSpPr>
          <p:nvPr>
            <p:ph sz="half" idx="1"/>
          </p:nvPr>
        </p:nvSpPr>
        <p:spPr>
          <a:xfrm>
            <a:off x="1981200" y="609600"/>
            <a:ext cx="4800600" cy="5867400"/>
          </a:xfrm>
        </p:spPr>
        <p:txBody>
          <a:bodyPr>
            <a:normAutofit/>
          </a:bodyPr>
          <a:lstStyle/>
          <a:p>
            <a:r>
              <a:rPr lang="en-US" dirty="0"/>
              <a:t>The anode has two primary functions:</a:t>
            </a:r>
          </a:p>
          <a:p>
            <a:pPr>
              <a:buFont typeface="Wingdings" pitchFamily="2" charset="2"/>
              <a:buChar char="Ø"/>
            </a:pPr>
            <a:r>
              <a:rPr lang="en-US" dirty="0">
                <a:solidFill>
                  <a:srgbClr val="FF0000"/>
                </a:solidFill>
              </a:rPr>
              <a:t>to convert electronic energy into x-radiation</a:t>
            </a:r>
          </a:p>
          <a:p>
            <a:pPr>
              <a:buFont typeface="Wingdings" pitchFamily="2" charset="2"/>
              <a:buChar char="Ø"/>
            </a:pPr>
            <a:r>
              <a:rPr lang="en-US" dirty="0">
                <a:solidFill>
                  <a:srgbClr val="FF0000"/>
                </a:solidFill>
              </a:rPr>
              <a:t>to dissipate the heat created in the process </a:t>
            </a:r>
          </a:p>
          <a:p>
            <a:r>
              <a:rPr lang="en-US" dirty="0"/>
              <a:t>Consists of a </a:t>
            </a:r>
            <a:r>
              <a:rPr lang="en-US" dirty="0" smtClean="0"/>
              <a:t>disc made of</a:t>
            </a:r>
            <a:endParaRPr lang="en-US" dirty="0"/>
          </a:p>
          <a:p>
            <a:pPr lvl="1"/>
            <a:r>
              <a:rPr lang="en-US" dirty="0"/>
              <a:t>Tungsten</a:t>
            </a:r>
            <a:r>
              <a:rPr lang="en-US" b="1" dirty="0"/>
              <a:t>, molybdenum</a:t>
            </a:r>
            <a:r>
              <a:rPr lang="en-US" dirty="0"/>
              <a:t>, rhenium, and graphite are used in the design of anode</a:t>
            </a:r>
          </a:p>
          <a:p>
            <a:endParaRPr lang="en-US" dirty="0"/>
          </a:p>
        </p:txBody>
      </p:sp>
      <p:sp>
        <p:nvSpPr>
          <p:cNvPr id="6" name="Content Placeholder 5"/>
          <p:cNvSpPr>
            <a:spLocks noGrp="1"/>
          </p:cNvSpPr>
          <p:nvPr>
            <p:ph sz="half" idx="2"/>
          </p:nvPr>
        </p:nvSpPr>
        <p:spPr>
          <a:xfrm>
            <a:off x="8305800" y="1600201"/>
            <a:ext cx="1905000" cy="4525963"/>
          </a:xfrm>
        </p:spPr>
        <p:txBody>
          <a:bodyPr>
            <a:normAutofit/>
          </a:bodyPr>
          <a:lstStyle/>
          <a:p>
            <a:endParaRPr lang="en-US" dirty="0"/>
          </a:p>
        </p:txBody>
      </p:sp>
      <p:pic>
        <p:nvPicPr>
          <p:cNvPr id="7" name="Picture 2"/>
          <p:cNvPicPr>
            <a:picLocks noGrp="1" noChangeAspect="1" noChangeArrowheads="1"/>
          </p:cNvPicPr>
          <p:nvPr>
            <p:ph idx="1"/>
          </p:nvPr>
        </p:nvPicPr>
        <p:blipFill>
          <a:blip r:embed="rId2" cstate="print"/>
          <a:srcRect/>
          <a:stretch>
            <a:fillRect/>
          </a:stretch>
        </p:blipFill>
        <p:spPr bwMode="auto">
          <a:xfrm>
            <a:off x="6705600" y="533400"/>
            <a:ext cx="3962400" cy="2819400"/>
          </a:xfrm>
          <a:prstGeom prst="rect">
            <a:avLst/>
          </a:prstGeom>
          <a:noFill/>
          <a:ln w="9525">
            <a:noFill/>
            <a:miter lim="800000"/>
            <a:headEnd/>
            <a:tailEnd/>
          </a:ln>
        </p:spPr>
      </p:pic>
      <p:pic>
        <p:nvPicPr>
          <p:cNvPr id="8" name="Picture 2"/>
          <p:cNvPicPr>
            <a:picLocks noChangeAspect="1" noChangeArrowheads="1"/>
          </p:cNvPicPr>
          <p:nvPr/>
        </p:nvPicPr>
        <p:blipFill>
          <a:blip r:embed="rId3" cstate="print"/>
          <a:srcRect/>
          <a:stretch>
            <a:fillRect/>
          </a:stretch>
        </p:blipFill>
        <p:spPr bwMode="auto">
          <a:xfrm>
            <a:off x="7162800" y="4114800"/>
            <a:ext cx="3505200" cy="2743200"/>
          </a:xfrm>
          <a:prstGeom prst="rect">
            <a:avLst/>
          </a:prstGeom>
          <a:noFill/>
          <a:ln w="9525">
            <a:noFill/>
            <a:miter lim="800000"/>
            <a:headEnd/>
            <a:tailEnd/>
          </a:ln>
        </p:spPr>
      </p:pic>
    </p:spTree>
    <p:extLst>
      <p:ext uri="{BB962C8B-B14F-4D97-AF65-F5344CB8AC3E}">
        <p14:creationId xmlns:p14="http://schemas.microsoft.com/office/powerpoint/2010/main" val="16908216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274638"/>
            <a:ext cx="8229600" cy="563562"/>
          </a:xfrm>
        </p:spPr>
        <p:txBody>
          <a:bodyPr>
            <a:normAutofit fontScale="90000"/>
          </a:bodyPr>
          <a:lstStyle/>
          <a:p>
            <a:r>
              <a:rPr lang="en-US" dirty="0"/>
              <a:t>X Ray Tube Principles</a:t>
            </a:r>
          </a:p>
        </p:txBody>
      </p:sp>
      <p:sp>
        <p:nvSpPr>
          <p:cNvPr id="6" name="Content Placeholder 5"/>
          <p:cNvSpPr>
            <a:spLocks noGrp="1"/>
          </p:cNvSpPr>
          <p:nvPr>
            <p:ph idx="1"/>
          </p:nvPr>
        </p:nvSpPr>
        <p:spPr>
          <a:xfrm>
            <a:off x="3124200" y="852056"/>
            <a:ext cx="7315200" cy="5853545"/>
          </a:xfrm>
        </p:spPr>
        <p:txBody>
          <a:bodyPr>
            <a:normAutofit fontScale="85000" lnSpcReduction="20000"/>
          </a:bodyPr>
          <a:lstStyle/>
          <a:p>
            <a:pPr algn="just">
              <a:buClr>
                <a:schemeClr val="hlink"/>
              </a:buClr>
              <a:buNone/>
            </a:pPr>
            <a:r>
              <a:rPr lang="en-US" dirty="0"/>
              <a:t>Artificially X rays are produced by decelerating high-velocity electrons. The apparatus, called X-ray tube, therefore has a source of electrons, a means of accelerating them to high velocities and something to stop them so that they lose their energy.</a:t>
            </a:r>
          </a:p>
          <a:p>
            <a:pPr algn="just">
              <a:buClr>
                <a:schemeClr val="hlink"/>
              </a:buClr>
              <a:buNone/>
            </a:pPr>
            <a:r>
              <a:rPr lang="en-US" dirty="0"/>
              <a:t>The electron source is the cathode, heated by a filament. The heated cathode emits electrons.</a:t>
            </a:r>
          </a:p>
          <a:p>
            <a:pPr algn="just">
              <a:buClr>
                <a:schemeClr val="hlink"/>
              </a:buClr>
              <a:buNone/>
            </a:pPr>
            <a:r>
              <a:rPr lang="en-US" dirty="0"/>
              <a:t>The anode has a positive voltage (thousands of volts) and attracts the electrons so that they reach a high velocity. </a:t>
            </a:r>
          </a:p>
          <a:p>
            <a:pPr algn="just">
              <a:buClr>
                <a:schemeClr val="hlink"/>
              </a:buClr>
              <a:buNone/>
            </a:pPr>
            <a:r>
              <a:rPr lang="en-US" dirty="0"/>
              <a:t>The disc-like surface of the anode also stops the electrons. The X-rays produced go out through the window.</a:t>
            </a:r>
          </a:p>
          <a:p>
            <a:pPr algn="just">
              <a:buClr>
                <a:schemeClr val="hlink"/>
              </a:buClr>
              <a:buNone/>
            </a:pPr>
            <a:r>
              <a:rPr lang="en-US" dirty="0" smtClean="0"/>
              <a:t> </a:t>
            </a:r>
            <a:r>
              <a:rPr lang="en-US" dirty="0"/>
              <a:t>O</a:t>
            </a:r>
            <a:r>
              <a:rPr lang="en-US" dirty="0" smtClean="0"/>
              <a:t>nly </a:t>
            </a:r>
            <a:r>
              <a:rPr lang="en-US" dirty="0"/>
              <a:t>a small fraction of the energy is in the form of X-rays, a lot is ‘wasted’ as heat. The anode is specially designed to withstand the heat and the ‘</a:t>
            </a:r>
            <a:r>
              <a:rPr lang="en-US" dirty="0" err="1"/>
              <a:t>tube’also</a:t>
            </a:r>
            <a:r>
              <a:rPr lang="en-US" dirty="0"/>
              <a:t> has a cooling mechanism.</a:t>
            </a:r>
          </a:p>
          <a:p>
            <a:pPr algn="just">
              <a:buClr>
                <a:schemeClr val="hlink"/>
              </a:buClr>
              <a:buNone/>
            </a:pPr>
            <a:r>
              <a:rPr lang="en-US" dirty="0"/>
              <a:t>The picture shows only the basic plan of the X-ray tube to illustrate the principle.</a:t>
            </a:r>
          </a:p>
          <a:p>
            <a:endParaRPr lang="en-US" dirty="0"/>
          </a:p>
        </p:txBody>
      </p:sp>
      <p:pic>
        <p:nvPicPr>
          <p:cNvPr id="7" name="Picture 6" descr="XRtube"/>
          <p:cNvPicPr>
            <a:picLocks noChangeAspect="1" noChangeArrowheads="1"/>
          </p:cNvPicPr>
          <p:nvPr/>
        </p:nvPicPr>
        <p:blipFill>
          <a:blip r:embed="rId3">
            <a:extLst>
              <a:ext uri="{28A0092B-C50C-407E-A947-70E740481C1C}">
                <a14:useLocalDpi xmlns:a14="http://schemas.microsoft.com/office/drawing/2010/main" val="0"/>
              </a:ext>
            </a:extLst>
          </a:blip>
          <a:srcRect t="9665" b="9665"/>
          <a:stretch>
            <a:fillRect/>
          </a:stretch>
        </p:blipFill>
        <p:spPr bwMode="auto">
          <a:xfrm>
            <a:off x="1537856" y="1254558"/>
            <a:ext cx="143394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31631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X-ray interaction </a:t>
            </a:r>
            <a:endParaRPr lang="en-US" dirty="0"/>
          </a:p>
        </p:txBody>
      </p:sp>
      <p:sp>
        <p:nvSpPr>
          <p:cNvPr id="3" name="Content Placeholder 2"/>
          <p:cNvSpPr>
            <a:spLocks noGrp="1"/>
          </p:cNvSpPr>
          <p:nvPr>
            <p:ph sz="half" idx="1"/>
          </p:nvPr>
        </p:nvSpPr>
        <p:spPr>
          <a:xfrm>
            <a:off x="1981200" y="1600201"/>
            <a:ext cx="7391400" cy="4525963"/>
          </a:xfrm>
        </p:spPr>
        <p:txBody>
          <a:bodyPr/>
          <a:lstStyle/>
          <a:p>
            <a:r>
              <a:rPr lang="en-US" dirty="0"/>
              <a:t>As X-rays from the source pass through the body they interact with a tissue and lose their energy. </a:t>
            </a:r>
          </a:p>
          <a:p>
            <a:endParaRPr lang="en-US" dirty="0"/>
          </a:p>
        </p:txBody>
      </p:sp>
      <p:sp>
        <p:nvSpPr>
          <p:cNvPr id="6" name="Content Placeholder 5"/>
          <p:cNvSpPr>
            <a:spLocks noGrp="1"/>
          </p:cNvSpPr>
          <p:nvPr>
            <p:ph sz="half" idx="2"/>
          </p:nvPr>
        </p:nvSpPr>
        <p:spPr/>
        <p:txBody>
          <a:bodyPr/>
          <a:lstStyle/>
          <a:p>
            <a:endParaRPr lang="en-US"/>
          </a:p>
        </p:txBody>
      </p:sp>
    </p:spTree>
    <p:extLst>
      <p:ext uri="{BB962C8B-B14F-4D97-AF65-F5344CB8AC3E}">
        <p14:creationId xmlns:p14="http://schemas.microsoft.com/office/powerpoint/2010/main" val="40916452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981200" y="327603"/>
            <a:ext cx="7848600" cy="5836138"/>
          </a:xfrm>
          <a:prstGeom prst="rect">
            <a:avLst/>
          </a:prstGeom>
        </p:spPr>
      </p:pic>
      <p:sp>
        <p:nvSpPr>
          <p:cNvPr id="2" name="Title 1"/>
          <p:cNvSpPr>
            <a:spLocks noGrp="1"/>
          </p:cNvSpPr>
          <p:nvPr>
            <p:ph type="title"/>
          </p:nvPr>
        </p:nvSpPr>
        <p:spPr/>
        <p:txBody>
          <a:bodyPr/>
          <a:lstStyle/>
          <a:p>
            <a:endParaRPr lang="en-US" dirty="0"/>
          </a:p>
        </p:txBody>
      </p:sp>
      <p:sp>
        <p:nvSpPr>
          <p:cNvPr id="3" name="Content Placeholder 2"/>
          <p:cNvSpPr>
            <a:spLocks noGrp="1"/>
          </p:cNvSpPr>
          <p:nvPr>
            <p:ph sz="half" idx="1"/>
          </p:nvPr>
        </p:nvSpPr>
        <p:spPr/>
        <p:txBody>
          <a:bodyPr/>
          <a:lstStyle/>
          <a:p>
            <a:endParaRPr lang="en-US"/>
          </a:p>
        </p:txBody>
      </p:sp>
      <p:pic>
        <p:nvPicPr>
          <p:cNvPr id="6" name="Content Placeholder 4" descr="Photons Entering the Human Body Will Either Penetrate, Be Absorbed, or Produce Scattered Radiation"/>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461760" y="2971800"/>
            <a:ext cx="2926080" cy="264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12663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half" idx="1"/>
          </p:nvPr>
        </p:nvPicPr>
        <p:blipFill>
          <a:blip r:embed="rId2"/>
          <a:stretch>
            <a:fillRect/>
          </a:stretch>
        </p:blipFill>
        <p:spPr>
          <a:xfrm>
            <a:off x="1981200" y="279803"/>
            <a:ext cx="7995812" cy="5790943"/>
          </a:xfrm>
          <a:prstGeom prst="rect">
            <a:avLst/>
          </a:prstGeom>
        </p:spPr>
      </p:pic>
      <p:sp>
        <p:nvSpPr>
          <p:cNvPr id="4" name="Content Placeholder 3"/>
          <p:cNvSpPr>
            <a:spLocks noGrp="1"/>
          </p:cNvSpPr>
          <p:nvPr>
            <p:ph sz="half" idx="2"/>
          </p:nvPr>
        </p:nvSpPr>
        <p:spPr/>
        <p:txBody>
          <a:bodyPr/>
          <a:lstStyle/>
          <a:p>
            <a:endParaRPr lang="en-US"/>
          </a:p>
        </p:txBody>
      </p:sp>
      <p:pic>
        <p:nvPicPr>
          <p:cNvPr id="6" name="Picture 4" descr="RADPEN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895978" y="3620944"/>
            <a:ext cx="4197928" cy="2618509"/>
          </a:xfrm>
          <a:prstGeom prst="rect">
            <a:avLst/>
          </a:prstGeom>
          <a:noFill/>
        </p:spPr>
      </p:pic>
    </p:spTree>
    <p:extLst>
      <p:ext uri="{BB962C8B-B14F-4D97-AF65-F5344CB8AC3E}">
        <p14:creationId xmlns:p14="http://schemas.microsoft.com/office/powerpoint/2010/main" val="38504940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27270" y="214944"/>
            <a:ext cx="3740331" cy="547057"/>
          </a:xfrm>
        </p:spPr>
        <p:txBody>
          <a:bodyPr>
            <a:noAutofit/>
          </a:bodyPr>
          <a:lstStyle/>
          <a:p>
            <a:endParaRPr lang="en-US" sz="3200" b="1" dirty="0"/>
          </a:p>
        </p:txBody>
      </p:sp>
      <p:sp>
        <p:nvSpPr>
          <p:cNvPr id="5" name="Content Placeholder 4"/>
          <p:cNvSpPr>
            <a:spLocks noGrp="1"/>
          </p:cNvSpPr>
          <p:nvPr>
            <p:ph sz="half" idx="1"/>
          </p:nvPr>
        </p:nvSpPr>
        <p:spPr>
          <a:xfrm>
            <a:off x="1981200" y="762000"/>
            <a:ext cx="5486400" cy="5791200"/>
          </a:xfrm>
        </p:spPr>
        <p:txBody>
          <a:bodyPr>
            <a:normAutofit/>
          </a:bodyPr>
          <a:lstStyle/>
          <a:p>
            <a:r>
              <a:rPr lang="en-US" sz="2400" dirty="0"/>
              <a:t>The loss of energy called </a:t>
            </a:r>
            <a:r>
              <a:rPr lang="en-US" sz="2400" b="1" dirty="0"/>
              <a:t>Attenuation </a:t>
            </a:r>
            <a:r>
              <a:rPr lang="en-US" sz="2400" dirty="0"/>
              <a:t>depends on some tissue characteristics.</a:t>
            </a:r>
          </a:p>
          <a:p>
            <a:r>
              <a:rPr lang="en-US" sz="2400" dirty="0"/>
              <a:t>There are two kinds of interactions through which photons deposit their energy. (with electron)</a:t>
            </a:r>
          </a:p>
          <a:p>
            <a:pPr marL="457200" indent="-457200">
              <a:buFont typeface="Arial" pitchFamily="34" charset="0"/>
              <a:buAutoNum type="arabicPeriod"/>
            </a:pPr>
            <a:r>
              <a:rPr lang="en-US" sz="2400" b="1" dirty="0"/>
              <a:t>Photoelectric Interaction </a:t>
            </a:r>
            <a:r>
              <a:rPr lang="en-US" sz="2400" dirty="0"/>
              <a:t>;-The </a:t>
            </a:r>
          </a:p>
          <a:p>
            <a:pPr marL="0" indent="0">
              <a:buNone/>
            </a:pPr>
            <a:r>
              <a:rPr lang="en-US" sz="2400" dirty="0"/>
              <a:t>       photon loses all its energy</a:t>
            </a:r>
          </a:p>
          <a:p>
            <a:pPr marL="0" indent="0">
              <a:buNone/>
            </a:pPr>
            <a:r>
              <a:rPr lang="en-US" sz="2400" b="1" dirty="0">
                <a:effectLst>
                  <a:outerShdw blurRad="38100" dist="38100" dir="2700000" algn="tl">
                    <a:srgbClr val="C0C0C0"/>
                  </a:outerShdw>
                </a:effectLst>
              </a:rPr>
              <a:t>2. Compton effect (scattering)</a:t>
            </a:r>
            <a:endParaRPr lang="en-GB" sz="2400" b="1" dirty="0">
              <a:effectLst>
                <a:outerShdw blurRad="38100" dist="38100" dir="2700000" algn="tl">
                  <a:srgbClr val="C0C0C0"/>
                </a:outerShdw>
              </a:effectLst>
            </a:endParaRPr>
          </a:p>
          <a:p>
            <a:pPr marL="0" indent="0">
              <a:buNone/>
            </a:pPr>
            <a:r>
              <a:rPr lang="en-GB" sz="2400" dirty="0">
                <a:effectLst>
                  <a:outerShdw blurRad="38100" dist="38100" dir="2700000" algn="tl">
                    <a:srgbClr val="C0C0C0"/>
                  </a:outerShdw>
                </a:effectLst>
              </a:rPr>
              <a:t>     </a:t>
            </a:r>
            <a:r>
              <a:rPr lang="en-US" sz="2400" dirty="0"/>
              <a:t>It loses a portion of its energy, </a:t>
            </a:r>
          </a:p>
          <a:p>
            <a:pPr marL="0" indent="0">
              <a:buNone/>
            </a:pPr>
            <a:r>
              <a:rPr lang="en-US" sz="2400" dirty="0"/>
              <a:t>     and the remaining energy is </a:t>
            </a:r>
          </a:p>
          <a:p>
            <a:pPr marL="0" indent="0">
              <a:buNone/>
            </a:pPr>
            <a:r>
              <a:rPr lang="en-US" sz="2400" dirty="0"/>
              <a:t>     scattered. </a:t>
            </a:r>
          </a:p>
          <a:p>
            <a:pPr marL="457200" indent="-457200">
              <a:buAutoNum type="arabicPeriod"/>
            </a:pPr>
            <a:endParaRPr lang="en-US" sz="2400" dirty="0"/>
          </a:p>
        </p:txBody>
      </p:sp>
      <p:pic>
        <p:nvPicPr>
          <p:cNvPr id="8" name="Picture 4" descr="RADPEN01"/>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6705600" y="3962401"/>
            <a:ext cx="3962400" cy="2313709"/>
          </a:xfrm>
          <a:noFill/>
        </p:spPr>
      </p:pic>
      <p:sp>
        <p:nvSpPr>
          <p:cNvPr id="2" name="Content Placeholder 1"/>
          <p:cNvSpPr>
            <a:spLocks noGrp="1"/>
          </p:cNvSpPr>
          <p:nvPr>
            <p:ph sz="half" idx="2"/>
          </p:nvPr>
        </p:nvSpPr>
        <p:spPr/>
        <p:txBody>
          <a:bodyPr/>
          <a:lstStyle/>
          <a:p>
            <a:endParaRPr lang="en-US" dirty="0"/>
          </a:p>
        </p:txBody>
      </p:sp>
    </p:spTree>
    <p:extLst>
      <p:ext uri="{BB962C8B-B14F-4D97-AF65-F5344CB8AC3E}">
        <p14:creationId xmlns:p14="http://schemas.microsoft.com/office/powerpoint/2010/main" val="23791224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274638"/>
            <a:ext cx="3124200" cy="563562"/>
          </a:xfrm>
        </p:spPr>
        <p:txBody>
          <a:bodyPr>
            <a:noAutofit/>
          </a:bodyPr>
          <a:lstStyle/>
          <a:p>
            <a:r>
              <a:rPr lang="en-US" sz="3200" b="1" dirty="0"/>
              <a:t>X-ray films </a:t>
            </a:r>
          </a:p>
        </p:txBody>
      </p:sp>
      <p:sp>
        <p:nvSpPr>
          <p:cNvPr id="6" name="Content Placeholder 5"/>
          <p:cNvSpPr>
            <a:spLocks noGrp="1"/>
          </p:cNvSpPr>
          <p:nvPr>
            <p:ph sz="half" idx="1"/>
          </p:nvPr>
        </p:nvSpPr>
        <p:spPr>
          <a:xfrm>
            <a:off x="1981200" y="1600200"/>
            <a:ext cx="8153400" cy="5029200"/>
          </a:xfrm>
        </p:spPr>
        <p:txBody>
          <a:bodyPr>
            <a:normAutofit fontScale="77500" lnSpcReduction="20000"/>
          </a:bodyPr>
          <a:lstStyle/>
          <a:p>
            <a:r>
              <a:rPr lang="en-US" dirty="0"/>
              <a:t>X-rays, after having passed through the body, are made to strike a </a:t>
            </a:r>
            <a:r>
              <a:rPr lang="en-US" b="1" dirty="0"/>
              <a:t>photographic </a:t>
            </a:r>
            <a:r>
              <a:rPr lang="en-US" b="1" dirty="0" smtClean="0"/>
              <a:t>film.</a:t>
            </a:r>
          </a:p>
          <a:p>
            <a:r>
              <a:rPr lang="en-US" dirty="0"/>
              <a:t>P</a:t>
            </a:r>
            <a:r>
              <a:rPr lang="en-US" dirty="0" smtClean="0"/>
              <a:t>rovides </a:t>
            </a:r>
            <a:r>
              <a:rPr lang="en-US" dirty="0"/>
              <a:t>permanent record of x-ray </a:t>
            </a:r>
            <a:r>
              <a:rPr lang="en-US" dirty="0" smtClean="0"/>
              <a:t>image.</a:t>
            </a:r>
          </a:p>
          <a:p>
            <a:r>
              <a:rPr lang="en-US" dirty="0" smtClean="0"/>
              <a:t>Made of three layers </a:t>
            </a:r>
          </a:p>
          <a:p>
            <a:pPr marL="0" indent="0">
              <a:buNone/>
            </a:pPr>
            <a:r>
              <a:rPr lang="en-US" b="1" dirty="0" smtClean="0"/>
              <a:t>        1</a:t>
            </a:r>
            <a:r>
              <a:rPr lang="en-US" dirty="0" smtClean="0"/>
              <a:t>. </a:t>
            </a:r>
            <a:r>
              <a:rPr lang="en-US" b="1" dirty="0" smtClean="0"/>
              <a:t>BASE</a:t>
            </a:r>
            <a:r>
              <a:rPr lang="en-US" dirty="0" smtClean="0"/>
              <a:t>- </a:t>
            </a:r>
            <a:r>
              <a:rPr lang="en-US" sz="2600" dirty="0"/>
              <a:t>part of material on which other material built on</a:t>
            </a:r>
          </a:p>
          <a:p>
            <a:pPr>
              <a:buFontTx/>
              <a:buNone/>
            </a:pPr>
            <a:r>
              <a:rPr lang="en-US" dirty="0" smtClean="0"/>
              <a:t>                     -</a:t>
            </a:r>
            <a:r>
              <a:rPr lang="en-US" dirty="0"/>
              <a:t>made of clear, flexible plastic (provide support),                                </a:t>
            </a:r>
            <a:endParaRPr lang="en-US" dirty="0" smtClean="0"/>
          </a:p>
          <a:p>
            <a:pPr>
              <a:buFontTx/>
              <a:buNone/>
            </a:pPr>
            <a:r>
              <a:rPr lang="en-US" dirty="0"/>
              <a:t> </a:t>
            </a:r>
            <a:r>
              <a:rPr lang="en-US" dirty="0" smtClean="0"/>
              <a:t>                    -</a:t>
            </a:r>
            <a:r>
              <a:rPr lang="en-US" dirty="0"/>
              <a:t>not radiation sensitive &amp; not for recording</a:t>
            </a:r>
          </a:p>
          <a:p>
            <a:pPr>
              <a:buFontTx/>
              <a:buNone/>
            </a:pPr>
            <a:r>
              <a:rPr lang="en-US" dirty="0" smtClean="0"/>
              <a:t>                     -Adhesive </a:t>
            </a:r>
            <a:r>
              <a:rPr lang="en-US" dirty="0"/>
              <a:t>layer- to adhere emulsion layer </a:t>
            </a:r>
          </a:p>
          <a:p>
            <a:pPr marL="0" indent="0">
              <a:buNone/>
            </a:pPr>
            <a:r>
              <a:rPr lang="en-US" dirty="0" smtClean="0"/>
              <a:t>         </a:t>
            </a:r>
            <a:r>
              <a:rPr lang="en-US" b="1" dirty="0" smtClean="0"/>
              <a:t>2.Emulsion </a:t>
            </a:r>
            <a:r>
              <a:rPr lang="en-US" b="1" dirty="0"/>
              <a:t>layer</a:t>
            </a:r>
            <a:r>
              <a:rPr lang="en-US" dirty="0"/>
              <a:t>-sensitive to radiation and </a:t>
            </a:r>
            <a:r>
              <a:rPr lang="en-US" dirty="0" smtClean="0"/>
              <a:t>make</a:t>
            </a:r>
          </a:p>
          <a:p>
            <a:pPr marL="0" indent="0">
              <a:buNone/>
            </a:pPr>
            <a:r>
              <a:rPr lang="en-US" dirty="0"/>
              <a:t> </a:t>
            </a:r>
            <a:r>
              <a:rPr lang="en-US" dirty="0" smtClean="0"/>
              <a:t>                                        latent image</a:t>
            </a:r>
          </a:p>
          <a:p>
            <a:pPr marL="0" indent="0">
              <a:buNone/>
            </a:pPr>
            <a:r>
              <a:rPr lang="en-US" dirty="0"/>
              <a:t> </a:t>
            </a:r>
            <a:r>
              <a:rPr lang="en-US" dirty="0" smtClean="0"/>
              <a:t>                                       -made of </a:t>
            </a:r>
            <a:r>
              <a:rPr lang="en-US" b="1" dirty="0" smtClean="0"/>
              <a:t>Silver halide </a:t>
            </a:r>
            <a:r>
              <a:rPr lang="en-US" dirty="0" smtClean="0"/>
              <a:t>(bromide/chloride)</a:t>
            </a:r>
          </a:p>
          <a:p>
            <a:pPr marL="0" indent="0">
              <a:buNone/>
            </a:pPr>
            <a:r>
              <a:rPr lang="en-US" dirty="0"/>
              <a:t> </a:t>
            </a:r>
            <a:r>
              <a:rPr lang="en-US" dirty="0" smtClean="0"/>
              <a:t>                                         grains</a:t>
            </a:r>
            <a:endParaRPr lang="en-US" dirty="0"/>
          </a:p>
          <a:p>
            <a:pPr>
              <a:buFontTx/>
              <a:buNone/>
            </a:pPr>
            <a:endParaRPr lang="en-US" dirty="0"/>
          </a:p>
          <a:p>
            <a:pPr marL="0" indent="0">
              <a:buNone/>
            </a:pPr>
            <a:r>
              <a:rPr lang="en-US" dirty="0"/>
              <a:t> </a:t>
            </a:r>
            <a:r>
              <a:rPr lang="en-US" dirty="0" smtClean="0"/>
              <a:t>       </a:t>
            </a:r>
            <a:r>
              <a:rPr lang="en-US" b="1" dirty="0" smtClean="0"/>
              <a:t>3.PROTECTIVE </a:t>
            </a:r>
            <a:r>
              <a:rPr lang="en-US" b="1" dirty="0"/>
              <a:t>LAYER</a:t>
            </a:r>
            <a:r>
              <a:rPr lang="en-US" dirty="0"/>
              <a:t>-from scratch on  film process   </a:t>
            </a:r>
          </a:p>
          <a:p>
            <a:endParaRPr lang="en-US" dirty="0"/>
          </a:p>
        </p:txBody>
      </p:sp>
      <p:pic>
        <p:nvPicPr>
          <p:cNvPr id="8"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t="31145" r="58586" b="38329"/>
          <a:stretch>
            <a:fillRect/>
          </a:stretch>
        </p:blipFill>
        <p:spPr>
          <a:xfrm>
            <a:off x="6629400" y="0"/>
            <a:ext cx="4038600" cy="1674464"/>
          </a:xfrm>
          <a:noFill/>
        </p:spPr>
      </p:pic>
    </p:spTree>
    <p:extLst>
      <p:ext uri="{BB962C8B-B14F-4D97-AF65-F5344CB8AC3E}">
        <p14:creationId xmlns:p14="http://schemas.microsoft.com/office/powerpoint/2010/main" val="14148367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274638"/>
            <a:ext cx="6019800" cy="563562"/>
          </a:xfrm>
        </p:spPr>
        <p:txBody>
          <a:bodyPr>
            <a:noAutofit/>
          </a:bodyPr>
          <a:lstStyle/>
          <a:p>
            <a:r>
              <a:rPr lang="en-US" sz="3200" dirty="0"/>
              <a:t>Cont’d </a:t>
            </a:r>
          </a:p>
        </p:txBody>
      </p:sp>
      <p:sp>
        <p:nvSpPr>
          <p:cNvPr id="3" name="Content Placeholder 2"/>
          <p:cNvSpPr>
            <a:spLocks noGrp="1"/>
          </p:cNvSpPr>
          <p:nvPr>
            <p:ph idx="1"/>
          </p:nvPr>
        </p:nvSpPr>
        <p:spPr>
          <a:xfrm>
            <a:off x="1981200" y="914401"/>
            <a:ext cx="8534400" cy="5211763"/>
          </a:xfrm>
        </p:spPr>
        <p:txBody>
          <a:bodyPr>
            <a:normAutofit/>
          </a:bodyPr>
          <a:lstStyle/>
          <a:p>
            <a:r>
              <a:rPr lang="en-US" dirty="0"/>
              <a:t>The film has a coating of halides (chlorides/bromides) of silver. </a:t>
            </a:r>
            <a:endParaRPr lang="en-US" dirty="0" smtClean="0"/>
          </a:p>
          <a:p>
            <a:r>
              <a:rPr lang="en-US" dirty="0" smtClean="0"/>
              <a:t>The </a:t>
            </a:r>
            <a:r>
              <a:rPr lang="en-US" dirty="0"/>
              <a:t>halides affected by X-rays are reduced to metallic silver after treatment with “developers”. </a:t>
            </a:r>
            <a:endParaRPr lang="en-US" dirty="0" smtClean="0"/>
          </a:p>
          <a:p>
            <a:r>
              <a:rPr lang="en-US" dirty="0" smtClean="0"/>
              <a:t>The </a:t>
            </a:r>
            <a:r>
              <a:rPr lang="en-US" dirty="0"/>
              <a:t>unaffected (“unexposed”) halides are washed out chemically and the film, rinsed with water, is dried. </a:t>
            </a:r>
            <a:endParaRPr lang="en-US" dirty="0" smtClean="0"/>
          </a:p>
          <a:p>
            <a:r>
              <a:rPr lang="en-US" dirty="0" smtClean="0"/>
              <a:t>The </a:t>
            </a:r>
            <a:r>
              <a:rPr lang="en-US" dirty="0"/>
              <a:t>finely particulate silver actually appears dark (rather than shiny!). </a:t>
            </a:r>
            <a:endParaRPr lang="en-US" dirty="0" smtClean="0"/>
          </a:p>
          <a:p>
            <a:r>
              <a:rPr lang="en-US" dirty="0" smtClean="0"/>
              <a:t>Thus</a:t>
            </a:r>
            <a:r>
              <a:rPr lang="en-US" dirty="0"/>
              <a:t>, areas of the film exposed by X-rays are dark, unexposed areas are transparent.</a:t>
            </a:r>
          </a:p>
        </p:txBody>
      </p:sp>
    </p:spTree>
    <p:extLst>
      <p:ext uri="{BB962C8B-B14F-4D97-AF65-F5344CB8AC3E}">
        <p14:creationId xmlns:p14="http://schemas.microsoft.com/office/powerpoint/2010/main" val="10877495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34962"/>
          </a:xfrm>
        </p:spPr>
        <p:txBody>
          <a:bodyPr>
            <a:normAutofit fontScale="90000"/>
          </a:bodyPr>
          <a:lstStyle/>
          <a:p>
            <a:r>
              <a:rPr lang="en-US" b="1" dirty="0" smtClean="0"/>
              <a:t>Radiographic cassette </a:t>
            </a:r>
            <a:endParaRPr lang="en-US" b="1" dirty="0"/>
          </a:p>
        </p:txBody>
      </p:sp>
      <p:sp>
        <p:nvSpPr>
          <p:cNvPr id="3" name="Content Placeholder 2"/>
          <p:cNvSpPr>
            <a:spLocks noGrp="1"/>
          </p:cNvSpPr>
          <p:nvPr>
            <p:ph sz="half" idx="1"/>
          </p:nvPr>
        </p:nvSpPr>
        <p:spPr>
          <a:xfrm>
            <a:off x="1981200" y="838200"/>
            <a:ext cx="5562600" cy="5715000"/>
          </a:xfrm>
        </p:spPr>
        <p:txBody>
          <a:bodyPr>
            <a:normAutofit/>
          </a:bodyPr>
          <a:lstStyle/>
          <a:p>
            <a:pPr>
              <a:buFont typeface="Wingdings" pitchFamily="2" charset="2"/>
              <a:buChar char="v"/>
            </a:pPr>
            <a:r>
              <a:rPr lang="en-US" dirty="0"/>
              <a:t>Cassette is small flat </a:t>
            </a:r>
            <a:r>
              <a:rPr lang="en-US" dirty="0" smtClean="0"/>
              <a:t>box used </a:t>
            </a:r>
            <a:r>
              <a:rPr lang="en-US" dirty="0"/>
              <a:t>for film transport</a:t>
            </a:r>
            <a:r>
              <a:rPr lang="en-US" dirty="0" smtClean="0"/>
              <a:t>.</a:t>
            </a:r>
          </a:p>
          <a:p>
            <a:pPr>
              <a:buFont typeface="Wingdings" pitchFamily="2" charset="2"/>
              <a:buChar char="v"/>
            </a:pPr>
            <a:r>
              <a:rPr lang="en-US" dirty="0" smtClean="0"/>
              <a:t>Cassettes </a:t>
            </a:r>
            <a:r>
              <a:rPr lang="en-US" dirty="0"/>
              <a:t>are used in association with </a:t>
            </a:r>
            <a:r>
              <a:rPr lang="en-US" b="1" dirty="0" smtClean="0"/>
              <a:t>intensify screen.</a:t>
            </a:r>
          </a:p>
          <a:p>
            <a:pPr>
              <a:buFont typeface="Wingdings" pitchFamily="2" charset="2"/>
              <a:buChar char="v"/>
            </a:pPr>
            <a:r>
              <a:rPr lang="en-US" dirty="0"/>
              <a:t>Cassettes have 3 related purposes</a:t>
            </a:r>
          </a:p>
          <a:p>
            <a:pPr>
              <a:buNone/>
            </a:pPr>
            <a:r>
              <a:rPr lang="en-US" dirty="0"/>
              <a:t>         (a) Maintain close uniform contact </a:t>
            </a:r>
            <a:r>
              <a:rPr lang="en-US" dirty="0" smtClean="0"/>
              <a:t>b/n </a:t>
            </a:r>
            <a:r>
              <a:rPr lang="en-US" dirty="0"/>
              <a:t>screen and film</a:t>
            </a:r>
          </a:p>
          <a:p>
            <a:pPr>
              <a:buNone/>
            </a:pPr>
            <a:r>
              <a:rPr lang="en-US" dirty="0"/>
              <a:t>          (b)Exclude </a:t>
            </a:r>
            <a:r>
              <a:rPr lang="en-US" dirty="0" smtClean="0"/>
              <a:t>light (light tight)</a:t>
            </a:r>
            <a:endParaRPr lang="en-US" dirty="0"/>
          </a:p>
          <a:p>
            <a:pPr>
              <a:buNone/>
            </a:pPr>
            <a:r>
              <a:rPr lang="en-US" dirty="0"/>
              <a:t>          (c) Protect screen from physical </a:t>
            </a:r>
            <a:r>
              <a:rPr lang="en-US" dirty="0" smtClean="0"/>
              <a:t>damage(rigid)</a:t>
            </a:r>
            <a:endParaRPr lang="en-US" dirty="0"/>
          </a:p>
          <a:p>
            <a:pPr>
              <a:buFont typeface="Wingdings" pitchFamily="2" charset="2"/>
              <a:buChar char="v"/>
            </a:pPr>
            <a:endParaRPr lang="en-US" dirty="0"/>
          </a:p>
          <a:p>
            <a:endParaRPr lang="en-US" dirty="0"/>
          </a:p>
        </p:txBody>
      </p:sp>
      <p:pic>
        <p:nvPicPr>
          <p:cNvPr id="5" name="Picture 2" descr="C:\Users\toshiba\Desktop\NATI.jpg"/>
          <p:cNvPicPr>
            <a:picLocks noGrp="1" noChangeAspect="1" noChangeArrowheads="1"/>
          </p:cNvPicPr>
          <p:nvPr>
            <p:ph sz="half" idx="2"/>
          </p:nvPr>
        </p:nvPicPr>
        <p:blipFill>
          <a:blip r:embed="rId2"/>
          <a:srcRect/>
          <a:stretch>
            <a:fillRect/>
          </a:stretch>
        </p:blipFill>
        <p:spPr bwMode="auto">
          <a:xfrm>
            <a:off x="7772400" y="990601"/>
            <a:ext cx="2717292" cy="2628741"/>
          </a:xfrm>
          <a:prstGeom prst="rect">
            <a:avLst/>
          </a:prstGeom>
          <a:noFill/>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4495800"/>
            <a:ext cx="31242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98461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rmAutofit fontScale="90000"/>
          </a:bodyPr>
          <a:lstStyle/>
          <a:p>
            <a:r>
              <a:rPr lang="en-US" b="1" dirty="0" smtClean="0"/>
              <a:t>Intensifying screen</a:t>
            </a:r>
            <a:endParaRPr lang="en-US" b="1" dirty="0"/>
          </a:p>
        </p:txBody>
      </p:sp>
      <p:sp>
        <p:nvSpPr>
          <p:cNvPr id="3" name="Content Placeholder 2"/>
          <p:cNvSpPr>
            <a:spLocks noGrp="1"/>
          </p:cNvSpPr>
          <p:nvPr>
            <p:ph sz="half" idx="1"/>
          </p:nvPr>
        </p:nvSpPr>
        <p:spPr>
          <a:xfrm>
            <a:off x="1676400" y="914400"/>
            <a:ext cx="4495800" cy="5791200"/>
          </a:xfrm>
        </p:spPr>
        <p:txBody>
          <a:bodyPr>
            <a:normAutofit/>
          </a:bodyPr>
          <a:lstStyle/>
          <a:p>
            <a:r>
              <a:rPr lang="en-US" dirty="0"/>
              <a:t>W</a:t>
            </a:r>
            <a:r>
              <a:rPr lang="en-US" dirty="0" smtClean="0"/>
              <a:t>hen x-rays fall upon a certain substance- light is emitted</a:t>
            </a:r>
          </a:p>
          <a:p>
            <a:pPr>
              <a:defRPr/>
            </a:pPr>
            <a:r>
              <a:rPr lang="en-US" dirty="0"/>
              <a:t>P</a:t>
            </a:r>
            <a:r>
              <a:rPr lang="en-US" dirty="0" smtClean="0"/>
              <a:t>laced in direct contact with the film during exposure</a:t>
            </a:r>
          </a:p>
          <a:p>
            <a:pPr>
              <a:defRPr/>
            </a:pPr>
            <a:r>
              <a:rPr lang="en-US" dirty="0"/>
              <a:t>F</a:t>
            </a:r>
            <a:r>
              <a:rPr lang="en-US" dirty="0" smtClean="0"/>
              <a:t>unction is to reinforce the action of x-rays        </a:t>
            </a:r>
          </a:p>
          <a:p>
            <a:pPr>
              <a:defRPr/>
            </a:pPr>
            <a:r>
              <a:rPr lang="en-US" dirty="0" smtClean="0"/>
              <a:t>subject the emulsion(film) to  </a:t>
            </a:r>
          </a:p>
          <a:p>
            <a:pPr marL="0" indent="0">
              <a:buNone/>
              <a:defRPr/>
            </a:pPr>
            <a:r>
              <a:rPr lang="en-US" dirty="0"/>
              <a:t> </a:t>
            </a:r>
            <a:r>
              <a:rPr lang="en-US" dirty="0" smtClean="0"/>
              <a:t>              -  light</a:t>
            </a:r>
          </a:p>
          <a:p>
            <a:pPr>
              <a:buNone/>
              <a:defRPr/>
            </a:pPr>
            <a:r>
              <a:rPr lang="en-US" dirty="0" smtClean="0"/>
              <a:t>               - radiation</a:t>
            </a:r>
          </a:p>
          <a:p>
            <a:endParaRPr lang="en-US" dirty="0"/>
          </a:p>
        </p:txBody>
      </p:sp>
      <p:pic>
        <p:nvPicPr>
          <p:cNvPr id="5" name="Content Placeholder 4" descr="Cross section of cassette &amp; film"/>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6553200" y="1752601"/>
            <a:ext cx="4038600" cy="2500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5013614"/>
            <a:ext cx="4495800"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44764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pic>
        <p:nvPicPr>
          <p:cNvPr id="5" name="Picture 4"/>
          <p:cNvPicPr>
            <a:picLocks noChangeAspect="1"/>
          </p:cNvPicPr>
          <p:nvPr/>
        </p:nvPicPr>
        <p:blipFill>
          <a:blip r:embed="rId2"/>
          <a:stretch>
            <a:fillRect/>
          </a:stretch>
        </p:blipFill>
        <p:spPr>
          <a:xfrm>
            <a:off x="2015836" y="302347"/>
            <a:ext cx="7651540" cy="5510212"/>
          </a:xfrm>
          <a:prstGeom prst="rect">
            <a:avLst/>
          </a:prstGeom>
        </p:spPr>
      </p:pic>
    </p:spTree>
    <p:extLst>
      <p:ext uri="{BB962C8B-B14F-4D97-AF65-F5344CB8AC3E}">
        <p14:creationId xmlns:p14="http://schemas.microsoft.com/office/powerpoint/2010/main" val="8366505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258762"/>
          </a:xfrm>
        </p:spPr>
        <p:txBody>
          <a:bodyPr>
            <a:normAutofit fontScale="90000"/>
          </a:bodyPr>
          <a:lstStyle/>
          <a:p>
            <a:r>
              <a:rPr lang="en-US" b="1" dirty="0" smtClean="0"/>
              <a:t>Film processing </a:t>
            </a:r>
            <a:endParaRPr lang="en-US" b="1" dirty="0"/>
          </a:p>
        </p:txBody>
      </p:sp>
      <p:sp>
        <p:nvSpPr>
          <p:cNvPr id="3" name="Content Placeholder 2"/>
          <p:cNvSpPr>
            <a:spLocks noGrp="1"/>
          </p:cNvSpPr>
          <p:nvPr>
            <p:ph sz="half" idx="1"/>
          </p:nvPr>
        </p:nvSpPr>
        <p:spPr>
          <a:xfrm>
            <a:off x="1752600" y="762000"/>
            <a:ext cx="3733800" cy="5867400"/>
          </a:xfrm>
        </p:spPr>
        <p:txBody>
          <a:bodyPr>
            <a:normAutofit lnSpcReduction="10000"/>
          </a:bodyPr>
          <a:lstStyle/>
          <a:p>
            <a:pPr>
              <a:lnSpc>
                <a:spcPct val="90000"/>
              </a:lnSpc>
              <a:buFont typeface="Wingdings" pitchFamily="2" charset="2"/>
              <a:buChar char="Ø"/>
            </a:pPr>
            <a:r>
              <a:rPr lang="en-US" dirty="0"/>
              <a:t>Film processing is </a:t>
            </a:r>
            <a:r>
              <a:rPr lang="en-US" dirty="0" smtClean="0"/>
              <a:t>a </a:t>
            </a:r>
          </a:p>
          <a:p>
            <a:pPr>
              <a:lnSpc>
                <a:spcPct val="90000"/>
              </a:lnSpc>
              <a:buFontTx/>
              <a:buNone/>
            </a:pPr>
            <a:r>
              <a:rPr lang="en-US" dirty="0" smtClean="0"/>
              <a:t>series </a:t>
            </a:r>
            <a:r>
              <a:rPr lang="en-US" dirty="0"/>
              <a:t>of </a:t>
            </a:r>
            <a:r>
              <a:rPr lang="en-US" dirty="0" smtClean="0"/>
              <a:t>chemical</a:t>
            </a:r>
          </a:p>
          <a:p>
            <a:pPr>
              <a:lnSpc>
                <a:spcPct val="90000"/>
              </a:lnSpc>
              <a:buFontTx/>
              <a:buNone/>
            </a:pPr>
            <a:r>
              <a:rPr lang="en-US" dirty="0" smtClean="0"/>
              <a:t>reactions </a:t>
            </a:r>
            <a:r>
              <a:rPr lang="en-US" dirty="0"/>
              <a:t>that </a:t>
            </a:r>
            <a:r>
              <a:rPr lang="en-US" dirty="0" smtClean="0"/>
              <a:t>result</a:t>
            </a:r>
          </a:p>
          <a:p>
            <a:pPr>
              <a:lnSpc>
                <a:spcPct val="90000"/>
              </a:lnSpc>
              <a:buFontTx/>
              <a:buNone/>
            </a:pPr>
            <a:r>
              <a:rPr lang="en-US" dirty="0" smtClean="0"/>
              <a:t>in </a:t>
            </a:r>
            <a:r>
              <a:rPr lang="en-US" dirty="0"/>
              <a:t>the formation of </a:t>
            </a:r>
            <a:r>
              <a:rPr lang="en-US" dirty="0" smtClean="0"/>
              <a:t>a</a:t>
            </a:r>
          </a:p>
          <a:p>
            <a:pPr>
              <a:lnSpc>
                <a:spcPct val="90000"/>
              </a:lnSpc>
              <a:buFontTx/>
              <a:buNone/>
            </a:pPr>
            <a:r>
              <a:rPr lang="en-US" dirty="0" smtClean="0"/>
              <a:t>manifest </a:t>
            </a:r>
            <a:r>
              <a:rPr lang="en-US" dirty="0"/>
              <a:t>image </a:t>
            </a:r>
          </a:p>
          <a:p>
            <a:pPr>
              <a:lnSpc>
                <a:spcPct val="90000"/>
              </a:lnSpc>
              <a:buFont typeface="Wingdings" pitchFamily="2" charset="2"/>
              <a:buChar char="Ø"/>
            </a:pPr>
            <a:r>
              <a:rPr lang="en-US" dirty="0"/>
              <a:t>The processing </a:t>
            </a:r>
            <a:r>
              <a:rPr lang="en-US" dirty="0" smtClean="0"/>
              <a:t>will</a:t>
            </a:r>
          </a:p>
          <a:p>
            <a:pPr>
              <a:lnSpc>
                <a:spcPct val="90000"/>
              </a:lnSpc>
              <a:buFontTx/>
              <a:buNone/>
            </a:pPr>
            <a:r>
              <a:rPr lang="en-US" dirty="0" smtClean="0"/>
              <a:t>convert </a:t>
            </a:r>
            <a:r>
              <a:rPr lang="en-US" dirty="0"/>
              <a:t>the </a:t>
            </a:r>
            <a:r>
              <a:rPr lang="en-US" dirty="0" smtClean="0"/>
              <a:t>exposed</a:t>
            </a:r>
          </a:p>
          <a:p>
            <a:pPr>
              <a:lnSpc>
                <a:spcPct val="90000"/>
              </a:lnSpc>
              <a:buFontTx/>
              <a:buNone/>
            </a:pPr>
            <a:r>
              <a:rPr lang="en-US" dirty="0" smtClean="0"/>
              <a:t>silver </a:t>
            </a:r>
            <a:r>
              <a:rPr lang="en-US" dirty="0"/>
              <a:t>crystal into </a:t>
            </a:r>
            <a:r>
              <a:rPr lang="en-US" dirty="0" smtClean="0"/>
              <a:t>neutral</a:t>
            </a:r>
          </a:p>
          <a:p>
            <a:pPr>
              <a:lnSpc>
                <a:spcPct val="90000"/>
              </a:lnSpc>
              <a:buFontTx/>
              <a:buNone/>
            </a:pPr>
            <a:r>
              <a:rPr lang="en-US" dirty="0" smtClean="0"/>
              <a:t>or </a:t>
            </a:r>
            <a:r>
              <a:rPr lang="en-US" dirty="0"/>
              <a:t>metallic silver </a:t>
            </a:r>
            <a:r>
              <a:rPr lang="en-US" dirty="0" smtClean="0"/>
              <a:t>which</a:t>
            </a:r>
          </a:p>
          <a:p>
            <a:pPr>
              <a:lnSpc>
                <a:spcPct val="90000"/>
              </a:lnSpc>
              <a:buFontTx/>
              <a:buNone/>
            </a:pPr>
            <a:r>
              <a:rPr lang="en-US" dirty="0" smtClean="0"/>
              <a:t>is </a:t>
            </a:r>
            <a:r>
              <a:rPr lang="en-US" dirty="0"/>
              <a:t>black</a:t>
            </a:r>
          </a:p>
          <a:p>
            <a:pPr>
              <a:buFont typeface="Wingdings" pitchFamily="2" charset="2"/>
              <a:buChar char="Ø"/>
            </a:pPr>
            <a:r>
              <a:rPr lang="en-US" dirty="0" smtClean="0"/>
              <a:t>The film is processed in a Dark room.</a:t>
            </a:r>
            <a:endParaRPr lang="en-US" dirty="0"/>
          </a:p>
        </p:txBody>
      </p:sp>
      <p:sp>
        <p:nvSpPr>
          <p:cNvPr id="4" name="Content Placeholder 3"/>
          <p:cNvSpPr>
            <a:spLocks noGrp="1"/>
          </p:cNvSpPr>
          <p:nvPr>
            <p:ph sz="half" idx="2"/>
          </p:nvPr>
        </p:nvSpPr>
        <p:spPr/>
        <p:txBody>
          <a:bodyPr>
            <a:normAutofit lnSpcReduction="10000"/>
          </a:bodyPr>
          <a:lstStyle/>
          <a:p>
            <a:endParaRPr lang="en-US" dirty="0"/>
          </a:p>
        </p:txBody>
      </p:sp>
      <p:pic>
        <p:nvPicPr>
          <p:cNvPr id="5" name="Picture 5" descr="darkroom"/>
          <p:cNvPicPr>
            <a:picLocks noChangeAspect="1" noChangeArrowheads="1"/>
          </p:cNvPicPr>
          <p:nvPr/>
        </p:nvPicPr>
        <p:blipFill>
          <a:blip r:embed="rId2">
            <a:lum bright="28000"/>
          </a:blip>
          <a:srcRect/>
          <a:stretch>
            <a:fillRect/>
          </a:stretch>
        </p:blipFill>
        <p:spPr>
          <a:xfrm>
            <a:off x="7696200" y="4343400"/>
            <a:ext cx="2727960" cy="2362200"/>
          </a:xfrm>
          <a:prstGeom prst="rect">
            <a:avLst/>
          </a:prstGeom>
          <a:noFill/>
          <a:ln/>
        </p:spPr>
      </p:pic>
      <p:pic>
        <p:nvPicPr>
          <p:cNvPr id="6" name="Picture 4" descr="Filmporcess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990600"/>
            <a:ext cx="5334000" cy="257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022124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274638"/>
            <a:ext cx="8229600" cy="639762"/>
          </a:xfrm>
        </p:spPr>
        <p:txBody>
          <a:bodyPr>
            <a:normAutofit fontScale="90000"/>
          </a:bodyPr>
          <a:lstStyle/>
          <a:p>
            <a:r>
              <a:rPr lang="en-US" dirty="0"/>
              <a:t>Steps in Film Processing</a:t>
            </a:r>
          </a:p>
        </p:txBody>
      </p:sp>
      <p:graphicFrame>
        <p:nvGraphicFramePr>
          <p:cNvPr id="7" name="Content Placeholder 6"/>
          <p:cNvGraphicFramePr>
            <a:graphicFrameLocks noGrp="1"/>
          </p:cNvGraphicFramePr>
          <p:nvPr>
            <p:ph idx="1"/>
            <p:extLst/>
          </p:nvPr>
        </p:nvGraphicFramePr>
        <p:xfrm>
          <a:off x="2133600" y="914400"/>
          <a:ext cx="8229600" cy="589788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xmlns="" val="20000"/>
                    </a:ext>
                  </a:extLst>
                </a:gridCol>
                <a:gridCol w="4419600">
                  <a:extLst>
                    <a:ext uri="{9D8B030D-6E8A-4147-A177-3AD203B41FA5}">
                      <a16:colId xmlns:a16="http://schemas.microsoft.com/office/drawing/2014/main" xmlns="" val="20001"/>
                    </a:ext>
                  </a:extLst>
                </a:gridCol>
                <a:gridCol w="1066800">
                  <a:extLst>
                    <a:ext uri="{9D8B030D-6E8A-4147-A177-3AD203B41FA5}">
                      <a16:colId xmlns:a16="http://schemas.microsoft.com/office/drawing/2014/main" xmlns="" val="20002"/>
                    </a:ext>
                  </a:extLst>
                </a:gridCol>
                <a:gridCol w="1295400">
                  <a:extLst>
                    <a:ext uri="{9D8B030D-6E8A-4147-A177-3AD203B41FA5}">
                      <a16:colId xmlns:a16="http://schemas.microsoft.com/office/drawing/2014/main" xmlns="" val="20003"/>
                    </a:ext>
                  </a:extLst>
                </a:gridCol>
              </a:tblGrid>
              <a:tr h="10515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Step</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Purpose</a:t>
                      </a:r>
                    </a:p>
                    <a:p>
                      <a:endParaRPr lang="en-US" dirty="0"/>
                    </a:p>
                  </a:txBody>
                  <a:tcPr/>
                </a:tc>
                <a:tc>
                  <a:txBody>
                    <a:bodyPr/>
                    <a:lstStyle/>
                    <a:p>
                      <a:pPr eaLnBrk="1" hangingPunct="1"/>
                      <a:r>
                        <a:rPr lang="en-US" sz="1800" dirty="0" smtClean="0">
                          <a:solidFill>
                            <a:srgbClr val="040000"/>
                          </a:solidFill>
                          <a:cs typeface="Times New Roman" pitchFamily="18" charset="0"/>
                        </a:rPr>
                        <a:t>Manual </a:t>
                      </a:r>
                    </a:p>
                    <a:p>
                      <a:r>
                        <a:rPr lang="en-US" sz="1800" dirty="0" smtClean="0">
                          <a:solidFill>
                            <a:srgbClr val="040000"/>
                          </a:solidFill>
                          <a:cs typeface="Times New Roman" pitchFamily="18" charset="0"/>
                        </a:rPr>
                        <a:t>(Time)</a:t>
                      </a:r>
                    </a:p>
                    <a:p>
                      <a:endParaRPr lang="en-US" dirty="0"/>
                    </a:p>
                  </a:txBody>
                  <a:tcPr/>
                </a:tc>
                <a:tc>
                  <a:txBody>
                    <a:bodyPr/>
                    <a:lstStyle/>
                    <a:p>
                      <a:pPr eaLnBrk="1" hangingPunct="1"/>
                      <a:r>
                        <a:rPr lang="en-US" sz="1800" dirty="0" smtClean="0">
                          <a:solidFill>
                            <a:srgbClr val="040000"/>
                          </a:solidFill>
                          <a:cs typeface="Times New Roman" pitchFamily="18" charset="0"/>
                        </a:rPr>
                        <a:t>Automatic</a:t>
                      </a:r>
                    </a:p>
                    <a:p>
                      <a:r>
                        <a:rPr lang="en-US" sz="1800" dirty="0" smtClean="0">
                          <a:solidFill>
                            <a:srgbClr val="040000"/>
                          </a:solidFill>
                          <a:cs typeface="Times New Roman" pitchFamily="18" charset="0"/>
                        </a:rPr>
                        <a:t>(time)</a:t>
                      </a:r>
                    </a:p>
                    <a:p>
                      <a:endParaRPr lang="en-US" dirty="0"/>
                    </a:p>
                  </a:txBody>
                  <a:tcPr/>
                </a:tc>
                <a:extLst>
                  <a:ext uri="{0D108BD9-81ED-4DB2-BD59-A6C34878D82A}">
                    <a16:rowId xmlns:a16="http://schemas.microsoft.com/office/drawing/2014/main" xmlns="" val="10000"/>
                  </a:ext>
                </a:extLst>
              </a:tr>
              <a:tr h="10515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Development</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Production of a manifest image from the latent image,</a:t>
                      </a:r>
                      <a:r>
                        <a:rPr lang="en-US" dirty="0" smtClean="0"/>
                        <a:t> </a:t>
                      </a:r>
                      <a:r>
                        <a:rPr lang="en-US" sz="1400" dirty="0" smtClean="0">
                          <a:solidFill>
                            <a:srgbClr val="FF0000"/>
                          </a:solidFill>
                        </a:rPr>
                        <a:t>silver halide grains in the emulsion which have been exposed to light become converted to metallic</a:t>
                      </a:r>
                      <a:r>
                        <a:rPr lang="en-US" sz="1400" baseline="0" dirty="0" smtClean="0">
                          <a:solidFill>
                            <a:srgbClr val="FF0000"/>
                          </a:solidFill>
                        </a:rPr>
                        <a:t> </a:t>
                      </a:r>
                      <a:r>
                        <a:rPr lang="en-US" sz="1400" dirty="0" smtClean="0">
                          <a:solidFill>
                            <a:srgbClr val="FF0000"/>
                          </a:solidFill>
                        </a:rPr>
                        <a:t>silver</a:t>
                      </a:r>
                      <a:r>
                        <a:rPr lang="en-US" sz="1400" dirty="0" smtClean="0"/>
                        <a:t> while those which have not exposed remain unchanged  </a:t>
                      </a:r>
                      <a:r>
                        <a:rPr lang="en-US" sz="1400" dirty="0" err="1" smtClean="0"/>
                        <a:t>e.g</a:t>
                      </a:r>
                      <a:r>
                        <a:rPr lang="en-US" sz="1400" dirty="0" smtClean="0"/>
                        <a:t>  </a:t>
                      </a:r>
                      <a:r>
                        <a:rPr lang="en-US" sz="1400" dirty="0" err="1" smtClean="0"/>
                        <a:t>methol</a:t>
                      </a:r>
                      <a:endParaRPr lang="en-US" sz="1400" dirty="0" smtClean="0">
                        <a:solidFill>
                          <a:srgbClr val="040000"/>
                        </a:solidFill>
                        <a:cs typeface="Times New Roman" pitchFamily="18" charset="0"/>
                      </a:endParaRP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5 min </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22 s</a:t>
                      </a:r>
                    </a:p>
                    <a:p>
                      <a:endParaRPr lang="en-US" dirty="0"/>
                    </a:p>
                  </a:txBody>
                  <a:tcPr/>
                </a:tc>
                <a:extLst>
                  <a:ext uri="{0D108BD9-81ED-4DB2-BD59-A6C34878D82A}">
                    <a16:rowId xmlns:a16="http://schemas.microsoft.com/office/drawing/2014/main" xmlns="" val="10001"/>
                  </a:ext>
                </a:extLst>
              </a:tr>
              <a:tr h="10515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Fixing</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Removal of remaining </a:t>
                      </a:r>
                      <a:r>
                        <a:rPr lang="en-US" sz="1800" b="1" dirty="0" smtClean="0">
                          <a:solidFill>
                            <a:srgbClr val="040000"/>
                          </a:solidFill>
                          <a:cs typeface="Times New Roman" pitchFamily="18" charset="0"/>
                        </a:rPr>
                        <a:t>silver halide </a:t>
                      </a:r>
                      <a:r>
                        <a:rPr lang="en-US" sz="1800" dirty="0" smtClean="0">
                          <a:solidFill>
                            <a:srgbClr val="040000"/>
                          </a:solidFill>
                          <a:cs typeface="Times New Roman" pitchFamily="18" charset="0"/>
                        </a:rPr>
                        <a:t>from the emulsion and hardening of the gelatin</a:t>
                      </a:r>
                    </a:p>
                    <a:p>
                      <a:r>
                        <a:rPr lang="en-US" dirty="0" err="1" smtClean="0"/>
                        <a:t>e.g</a:t>
                      </a:r>
                      <a:r>
                        <a:rPr lang="en-US" dirty="0" smtClean="0"/>
                        <a:t> . Sodium </a:t>
                      </a:r>
                      <a:r>
                        <a:rPr lang="en-US" dirty="0" err="1" smtClean="0"/>
                        <a:t>sulphate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30 s</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22 s</a:t>
                      </a:r>
                    </a:p>
                    <a:p>
                      <a:endParaRPr lang="en-US" dirty="0"/>
                    </a:p>
                  </a:txBody>
                  <a:tcPr/>
                </a:tc>
                <a:extLst>
                  <a:ext uri="{0D108BD9-81ED-4DB2-BD59-A6C34878D82A}">
                    <a16:rowId xmlns:a16="http://schemas.microsoft.com/office/drawing/2014/main" xmlns="" val="10002"/>
                  </a:ext>
                </a:extLst>
              </a:tr>
              <a:tr h="1051560">
                <a:tc>
                  <a:txBody>
                    <a:bodyPr/>
                    <a:lstStyle/>
                    <a:p>
                      <a:r>
                        <a:rPr lang="en-US" sz="1800" dirty="0" smtClean="0">
                          <a:solidFill>
                            <a:srgbClr val="040000"/>
                          </a:solidFill>
                          <a:cs typeface="Times New Roman" pitchFamily="18" charset="0"/>
                        </a:rPr>
                        <a:t>Washing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Removal of Excess Chemicals</a:t>
                      </a:r>
                    </a:p>
                    <a:p>
                      <a:r>
                        <a:rPr lang="en-US" dirty="0" smtClean="0"/>
                        <a:t>By plane or pipe water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15 min</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20 s</a:t>
                      </a:r>
                    </a:p>
                    <a:p>
                      <a:endParaRPr lang="en-US" dirty="0"/>
                    </a:p>
                  </a:txBody>
                  <a:tcPr/>
                </a:tc>
                <a:extLst>
                  <a:ext uri="{0D108BD9-81ED-4DB2-BD59-A6C34878D82A}">
                    <a16:rowId xmlns:a16="http://schemas.microsoft.com/office/drawing/2014/main" xmlns="" val="10003"/>
                  </a:ext>
                </a:extLst>
              </a:tr>
              <a:tr h="1051560">
                <a:tc>
                  <a:txBody>
                    <a:bodyPr/>
                    <a:lstStyle/>
                    <a:p>
                      <a:r>
                        <a:rPr lang="en-US" sz="1800" dirty="0" smtClean="0">
                          <a:solidFill>
                            <a:srgbClr val="040000"/>
                          </a:solidFill>
                          <a:cs typeface="Times New Roman" pitchFamily="18" charset="0"/>
                        </a:rPr>
                        <a:t>Drying</a:t>
                      </a:r>
                      <a:r>
                        <a:rPr lang="en-US" sz="1800" baseline="0" dirty="0" smtClean="0">
                          <a:solidFill>
                            <a:srgbClr val="040000"/>
                          </a:solidFill>
                          <a:cs typeface="Times New Roman" pitchFamily="18" charset="0"/>
                        </a:rPr>
                        <a:t> </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Removal of water and preparation of the radiograph for viewing, by electric dryer machine or air</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20 min</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rgbClr val="040000"/>
                          </a:solidFill>
                          <a:cs typeface="Times New Roman" pitchFamily="18" charset="0"/>
                        </a:rPr>
                        <a:t>26 s</a:t>
                      </a:r>
                    </a:p>
                    <a:p>
                      <a:endParaRPr lang="en-US" dirty="0"/>
                    </a:p>
                  </a:txBody>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12834103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58366"/>
          </a:xfrm>
        </p:spPr>
        <p:txBody>
          <a:bodyPr>
            <a:normAutofit fontScale="90000"/>
          </a:bodyPr>
          <a:lstStyle/>
          <a:p>
            <a:r>
              <a:rPr lang="en-US" dirty="0" smtClean="0"/>
              <a:t>Cont’d </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833005"/>
            <a:ext cx="5867400" cy="2582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415145"/>
            <a:ext cx="62865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83626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1981200" y="274638"/>
            <a:ext cx="8229600" cy="334962"/>
          </a:xfrm>
        </p:spPr>
        <p:txBody>
          <a:bodyPr>
            <a:noAutofit/>
          </a:bodyPr>
          <a:lstStyle/>
          <a:p>
            <a:r>
              <a:rPr lang="en-US" sz="3200" b="1" dirty="0"/>
              <a:t>Radiographic Densities</a:t>
            </a:r>
          </a:p>
        </p:txBody>
      </p:sp>
      <p:sp>
        <p:nvSpPr>
          <p:cNvPr id="11" name="Content Placeholder 10"/>
          <p:cNvSpPr>
            <a:spLocks noGrp="1"/>
          </p:cNvSpPr>
          <p:nvPr>
            <p:ph sz="half" idx="1"/>
          </p:nvPr>
        </p:nvSpPr>
        <p:spPr>
          <a:xfrm>
            <a:off x="1676400" y="762000"/>
            <a:ext cx="5410200" cy="5867400"/>
          </a:xfrm>
        </p:spPr>
        <p:txBody>
          <a:bodyPr/>
          <a:lstStyle/>
          <a:p>
            <a:pPr>
              <a:buFont typeface="Wingdings" pitchFamily="2" charset="2"/>
              <a:buChar char="q"/>
            </a:pPr>
            <a:r>
              <a:rPr lang="en-US" dirty="0"/>
              <a:t>F</a:t>
            </a:r>
            <a:r>
              <a:rPr lang="en-US" dirty="0" smtClean="0"/>
              <a:t>our </a:t>
            </a:r>
            <a:r>
              <a:rPr lang="en-US" dirty="0"/>
              <a:t>basic </a:t>
            </a:r>
            <a:r>
              <a:rPr lang="en-US" b="1" dirty="0" smtClean="0"/>
              <a:t>densities</a:t>
            </a:r>
            <a:r>
              <a:rPr lang="en-US" dirty="0"/>
              <a:t>, bone, soft tissue, fat, and </a:t>
            </a:r>
            <a:r>
              <a:rPr lang="en-US" dirty="0" smtClean="0"/>
              <a:t>air</a:t>
            </a:r>
            <a:r>
              <a:rPr lang="en-US" dirty="0"/>
              <a:t> </a:t>
            </a:r>
            <a:r>
              <a:rPr lang="en-US" dirty="0" smtClean="0"/>
              <a:t>are created on conventional radiograph.</a:t>
            </a:r>
          </a:p>
          <a:p>
            <a:pPr marL="0" indent="0">
              <a:buNone/>
            </a:pPr>
            <a:r>
              <a:rPr lang="en-US" dirty="0" smtClean="0"/>
              <a:t>1.</a:t>
            </a:r>
            <a:r>
              <a:rPr lang="en-US" b="1" dirty="0" smtClean="0"/>
              <a:t>Bone</a:t>
            </a:r>
            <a:r>
              <a:rPr lang="en-US" dirty="0"/>
              <a:t>– This is the most dense of the four basic densities and appears white or </a:t>
            </a:r>
            <a:r>
              <a:rPr lang="en-US" dirty="0" smtClean="0"/>
              <a:t>“</a:t>
            </a:r>
            <a:r>
              <a:rPr lang="en-US" b="1" dirty="0" err="1"/>
              <a:t>radiodense</a:t>
            </a:r>
            <a:r>
              <a:rPr lang="en-US" dirty="0" smtClean="0"/>
              <a:t>”(radiopaque) </a:t>
            </a:r>
          </a:p>
          <a:p>
            <a:pPr marL="0" indent="0">
              <a:buNone/>
            </a:pPr>
            <a:endParaRPr lang="en-US" dirty="0" smtClean="0"/>
          </a:p>
          <a:p>
            <a:pPr marL="0" indent="0">
              <a:buNone/>
            </a:pPr>
            <a:r>
              <a:rPr lang="en-US" dirty="0" smtClean="0"/>
              <a:t>2</a:t>
            </a:r>
            <a:r>
              <a:rPr lang="en-US" b="1" dirty="0" smtClean="0"/>
              <a:t>.Soft </a:t>
            </a:r>
            <a:r>
              <a:rPr lang="en-US" b="1" dirty="0"/>
              <a:t>tissue</a:t>
            </a:r>
            <a:r>
              <a:rPr lang="en-US" dirty="0"/>
              <a:t>– All fluids and soft tissues have the same density on a conventional </a:t>
            </a:r>
            <a:r>
              <a:rPr lang="en-US" dirty="0" smtClean="0"/>
              <a:t>radiograph</a:t>
            </a:r>
            <a:r>
              <a:rPr lang="en-US" dirty="0"/>
              <a:t>. This density is slightly </a:t>
            </a:r>
            <a:r>
              <a:rPr lang="en-US" b="1" dirty="0"/>
              <a:t>less than bone but slightly greater than </a:t>
            </a:r>
            <a:r>
              <a:rPr lang="en-US" b="1" dirty="0" smtClean="0"/>
              <a:t>fat.</a:t>
            </a:r>
            <a:endParaRPr lang="en-US" b="1" dirty="0"/>
          </a:p>
        </p:txBody>
      </p:sp>
      <p:pic>
        <p:nvPicPr>
          <p:cNvPr id="1026"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010400" y="2667000"/>
            <a:ext cx="3657600" cy="266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58924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5867400" cy="411162"/>
          </a:xfrm>
        </p:spPr>
        <p:txBody>
          <a:bodyPr>
            <a:noAutofit/>
          </a:bodyPr>
          <a:lstStyle/>
          <a:p>
            <a:r>
              <a:rPr lang="en-US" sz="3200" dirty="0"/>
              <a:t>Cont’d </a:t>
            </a:r>
          </a:p>
        </p:txBody>
      </p:sp>
      <p:sp>
        <p:nvSpPr>
          <p:cNvPr id="3" name="Content Placeholder 2"/>
          <p:cNvSpPr>
            <a:spLocks noGrp="1"/>
          </p:cNvSpPr>
          <p:nvPr>
            <p:ph sz="half" idx="1"/>
          </p:nvPr>
        </p:nvSpPr>
        <p:spPr>
          <a:xfrm>
            <a:off x="1981200" y="838200"/>
            <a:ext cx="5638800" cy="5791200"/>
          </a:xfrm>
        </p:spPr>
        <p:txBody>
          <a:bodyPr>
            <a:normAutofit/>
          </a:bodyPr>
          <a:lstStyle/>
          <a:p>
            <a:pPr marL="0" indent="0">
              <a:buNone/>
            </a:pPr>
            <a:r>
              <a:rPr lang="en-US" dirty="0" smtClean="0"/>
              <a:t>3.</a:t>
            </a:r>
            <a:r>
              <a:rPr lang="en-US" b="1" dirty="0" smtClean="0"/>
              <a:t>Fat</a:t>
            </a:r>
            <a:r>
              <a:rPr lang="en-US" dirty="0"/>
              <a:t>– This density may seem the least obvious to you. Fat can be seen interposed </a:t>
            </a:r>
            <a:r>
              <a:rPr lang="en-US" dirty="0" smtClean="0"/>
              <a:t>between </a:t>
            </a:r>
            <a:r>
              <a:rPr lang="en-US" dirty="0"/>
              <a:t>various soft tissue and </a:t>
            </a:r>
            <a:r>
              <a:rPr lang="en-US" dirty="0" smtClean="0"/>
              <a:t>fluid </a:t>
            </a:r>
            <a:r>
              <a:rPr lang="en-US" dirty="0"/>
              <a:t>densities. </a:t>
            </a:r>
            <a:r>
              <a:rPr lang="en-US" dirty="0" smtClean="0"/>
              <a:t>Allows us to see the edges </a:t>
            </a:r>
            <a:r>
              <a:rPr lang="en-US" dirty="0"/>
              <a:t>of various soft tissue structures since the fat is slightly less dense than the </a:t>
            </a:r>
            <a:r>
              <a:rPr lang="en-US" dirty="0" smtClean="0"/>
              <a:t>organs </a:t>
            </a:r>
            <a:r>
              <a:rPr lang="en-US" dirty="0"/>
              <a:t>themselves. </a:t>
            </a:r>
            <a:endParaRPr lang="en-US" dirty="0" smtClean="0"/>
          </a:p>
          <a:p>
            <a:pPr marL="0" indent="0">
              <a:buNone/>
            </a:pPr>
            <a:r>
              <a:rPr lang="en-US" dirty="0"/>
              <a:t>4</a:t>
            </a:r>
            <a:r>
              <a:rPr lang="en-US" b="1" dirty="0"/>
              <a:t>. Air</a:t>
            </a:r>
            <a:r>
              <a:rPr lang="en-US" dirty="0"/>
              <a:t>– The lungs, the tracheal lumen, </a:t>
            </a:r>
            <a:r>
              <a:rPr lang="en-US" dirty="0" smtClean="0"/>
              <a:t>the intestine and </a:t>
            </a:r>
            <a:r>
              <a:rPr lang="en-US" dirty="0"/>
              <a:t>the air surrounding the patient are </a:t>
            </a:r>
            <a:r>
              <a:rPr lang="en-US" dirty="0" err="1" smtClean="0"/>
              <a:t>exps</a:t>
            </a:r>
            <a:r>
              <a:rPr lang="en-US" dirty="0" smtClean="0"/>
              <a:t> </a:t>
            </a:r>
            <a:r>
              <a:rPr lang="en-US" dirty="0"/>
              <a:t>of air densities. Air densities are generally </a:t>
            </a:r>
            <a:r>
              <a:rPr lang="en-US" b="1" dirty="0"/>
              <a:t>quite dark</a:t>
            </a:r>
            <a:r>
              <a:rPr lang="en-US" dirty="0"/>
              <a:t>, almost </a:t>
            </a:r>
            <a:r>
              <a:rPr lang="en-US" dirty="0" smtClean="0"/>
              <a:t>black on the radiograph</a:t>
            </a:r>
            <a:r>
              <a:rPr lang="en-US" dirty="0"/>
              <a:t>. Thus, the lungs are not </a:t>
            </a:r>
            <a:r>
              <a:rPr lang="en-US" dirty="0" err="1"/>
              <a:t>radiodense</a:t>
            </a:r>
            <a:r>
              <a:rPr lang="en-US" dirty="0"/>
              <a:t> but are instead said to be </a:t>
            </a:r>
            <a:r>
              <a:rPr lang="en-US" b="1" dirty="0"/>
              <a:t>“radiolucent</a:t>
            </a:r>
            <a:r>
              <a:rPr lang="en-US" dirty="0"/>
              <a:t>.”</a:t>
            </a:r>
          </a:p>
        </p:txBody>
      </p:sp>
      <p:pic>
        <p:nvPicPr>
          <p:cNvPr id="5"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620000" y="1295400"/>
            <a:ext cx="2895600" cy="411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94750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6553200" cy="563562"/>
          </a:xfrm>
        </p:spPr>
        <p:txBody>
          <a:bodyPr>
            <a:normAutofit fontScale="90000"/>
          </a:bodyPr>
          <a:lstStyle/>
          <a:p>
            <a:r>
              <a:rPr lang="en-US" b="1" dirty="0"/>
              <a:t>The  Radiograph  Projection</a:t>
            </a:r>
          </a:p>
        </p:txBody>
      </p:sp>
      <p:sp>
        <p:nvSpPr>
          <p:cNvPr id="3" name="Content Placeholder 2"/>
          <p:cNvSpPr>
            <a:spLocks noGrp="1"/>
          </p:cNvSpPr>
          <p:nvPr>
            <p:ph sz="half" idx="1"/>
          </p:nvPr>
        </p:nvSpPr>
        <p:spPr>
          <a:xfrm>
            <a:off x="1981200" y="914401"/>
            <a:ext cx="8153400" cy="3276600"/>
          </a:xfrm>
        </p:spPr>
        <p:txBody>
          <a:bodyPr>
            <a:normAutofit fontScale="92500" lnSpcReduction="10000"/>
          </a:bodyPr>
          <a:lstStyle/>
          <a:p>
            <a:r>
              <a:rPr lang="en-US" dirty="0" smtClean="0"/>
              <a:t>Named </a:t>
            </a:r>
            <a:r>
              <a:rPr lang="en-US" dirty="0"/>
              <a:t>according to the direction in which the X-ray </a:t>
            </a:r>
            <a:r>
              <a:rPr lang="en-US" dirty="0" smtClean="0"/>
              <a:t>beam </a:t>
            </a:r>
            <a:r>
              <a:rPr lang="en-US" dirty="0"/>
              <a:t>passes through the body of the patient when the radiograph is </a:t>
            </a:r>
            <a:r>
              <a:rPr lang="en-US" dirty="0" smtClean="0"/>
              <a:t>taken.</a:t>
            </a:r>
          </a:p>
          <a:p>
            <a:r>
              <a:rPr lang="en-US" dirty="0" smtClean="0"/>
              <a:t>If </a:t>
            </a:r>
            <a:r>
              <a:rPr lang="en-US" dirty="0"/>
              <a:t>the X-ray detector was placed behind the patient and the X-ray </a:t>
            </a:r>
            <a:r>
              <a:rPr lang="en-US" dirty="0" smtClean="0"/>
              <a:t>tube </a:t>
            </a:r>
            <a:r>
              <a:rPr lang="en-US" dirty="0"/>
              <a:t>was placed in front of the patient, the X-rays would pass from the front of the </a:t>
            </a:r>
            <a:r>
              <a:rPr lang="en-US" dirty="0" smtClean="0"/>
              <a:t>patient </a:t>
            </a:r>
            <a:r>
              <a:rPr lang="en-US" dirty="0"/>
              <a:t>through the back of the patient onto the X-ray detector in an </a:t>
            </a:r>
            <a:r>
              <a:rPr lang="en-US" dirty="0" err="1"/>
              <a:t>anteroposterior</a:t>
            </a:r>
            <a:r>
              <a:rPr lang="en-US" dirty="0"/>
              <a:t> </a:t>
            </a:r>
            <a:r>
              <a:rPr lang="en-US" dirty="0" smtClean="0"/>
              <a:t>( </a:t>
            </a:r>
            <a:r>
              <a:rPr lang="en-US" dirty="0"/>
              <a:t>AP) radiograph</a:t>
            </a:r>
            <a:r>
              <a:rPr lang="en-US" dirty="0" smtClean="0"/>
              <a:t>.</a:t>
            </a:r>
          </a:p>
          <a:p>
            <a:r>
              <a:rPr lang="en-US" dirty="0" smtClean="0"/>
              <a:t>PA </a:t>
            </a:r>
            <a:r>
              <a:rPr lang="en-US" dirty="0" err="1" smtClean="0"/>
              <a:t>postero</a:t>
            </a:r>
            <a:r>
              <a:rPr lang="en-US" dirty="0" smtClean="0"/>
              <a:t> anterior        --Lateral ( Rt. Or Lt)      --</a:t>
            </a:r>
            <a:r>
              <a:rPr lang="en-US" dirty="0" err="1" smtClean="0"/>
              <a:t>Olique</a:t>
            </a:r>
            <a:r>
              <a:rPr lang="en-US" dirty="0" smtClean="0"/>
              <a:t> </a:t>
            </a:r>
            <a:endParaRPr lang="en-US" dirty="0"/>
          </a:p>
        </p:txBody>
      </p:sp>
      <p:pic>
        <p:nvPicPr>
          <p:cNvPr id="2050"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3276600" y="3962400"/>
            <a:ext cx="53340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26675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Footer Placeholder 4"/>
          <p:cNvSpPr>
            <a:spLocks noGrp="1"/>
          </p:cNvSpPr>
          <p:nvPr>
            <p:ph type="ftr" sz="quarter" idx="10"/>
          </p:nvPr>
        </p:nvSpPr>
        <p:spPr/>
        <p:txBody>
          <a:bodyPr/>
          <a:lstStyle/>
          <a:p>
            <a:pPr>
              <a:defRPr/>
            </a:pPr>
            <a:r>
              <a:rPr lang="en-US"/>
              <a:t>avb</a:t>
            </a:r>
          </a:p>
        </p:txBody>
      </p:sp>
      <p:sp>
        <p:nvSpPr>
          <p:cNvPr id="13315" name="Rectangle 15"/>
          <p:cNvSpPr>
            <a:spLocks noGrp="1" noRot="1" noChangeArrowheads="1"/>
          </p:cNvSpPr>
          <p:nvPr>
            <p:ph type="title"/>
          </p:nvPr>
        </p:nvSpPr>
        <p:spPr/>
        <p:txBody>
          <a:bodyPr>
            <a:normAutofit fontScale="90000"/>
          </a:bodyPr>
          <a:lstStyle/>
          <a:p>
            <a:pPr eaLnBrk="1" hangingPunct="1"/>
            <a:r>
              <a:rPr lang="en-US" dirty="0" smtClean="0"/>
              <a:t>A Chest X-ray  </a:t>
            </a:r>
          </a:p>
        </p:txBody>
      </p:sp>
      <p:sp>
        <p:nvSpPr>
          <p:cNvPr id="13316" name="Rectangle 18"/>
          <p:cNvSpPr>
            <a:spLocks noGrp="1" noRot="1" noChangeArrowheads="1"/>
          </p:cNvSpPr>
          <p:nvPr>
            <p:ph type="body" sz="half" idx="2"/>
          </p:nvPr>
        </p:nvSpPr>
        <p:spPr>
          <a:xfrm>
            <a:off x="6400800" y="692150"/>
            <a:ext cx="3968750" cy="5545138"/>
          </a:xfrm>
        </p:spPr>
        <p:txBody>
          <a:bodyPr/>
          <a:lstStyle/>
          <a:p>
            <a:pPr marL="0" indent="0">
              <a:buNone/>
            </a:pPr>
            <a:endParaRPr lang="en-US" sz="1400" dirty="0"/>
          </a:p>
          <a:p>
            <a:pPr marL="0" indent="0">
              <a:buNone/>
            </a:pPr>
            <a:r>
              <a:rPr lang="en-US" sz="1800" b="1" dirty="0"/>
              <a:t>This is a PA view of the thorax.</a:t>
            </a:r>
          </a:p>
          <a:p>
            <a:pPr eaLnBrk="1" hangingPunct="1">
              <a:buFont typeface="Wingdings" pitchFamily="2" charset="2"/>
              <a:buAutoNum type="arabicPeriod"/>
            </a:pPr>
            <a:r>
              <a:rPr lang="en-US" sz="1800" b="1" dirty="0"/>
              <a:t>observe the blackness of the air outside the body.</a:t>
            </a:r>
          </a:p>
          <a:p>
            <a:pPr eaLnBrk="1" hangingPunct="1">
              <a:buFont typeface="Wingdings" pitchFamily="2" charset="2"/>
              <a:buAutoNum type="arabicPeriod"/>
            </a:pPr>
            <a:r>
              <a:rPr lang="en-US" sz="1800" b="1" dirty="0"/>
              <a:t> see the bone (a part of the clavicle) in the oval .</a:t>
            </a:r>
          </a:p>
          <a:p>
            <a:pPr marL="0" indent="0">
              <a:buNone/>
            </a:pPr>
            <a:r>
              <a:rPr lang="en-US" sz="1800" b="1" dirty="0"/>
              <a:t>In the oval B, the end of the clavicle is formed by a thin solid plate with a large </a:t>
            </a:r>
            <a:r>
              <a:rPr lang="en-US" sz="1800" b="1" dirty="0" err="1"/>
              <a:t>centre</a:t>
            </a:r>
            <a:r>
              <a:rPr lang="en-US" sz="1800" b="1" dirty="0"/>
              <a:t> of “spongy” bone. </a:t>
            </a:r>
          </a:p>
          <a:p>
            <a:pPr marL="0" indent="0">
              <a:buNone/>
            </a:pPr>
            <a:r>
              <a:rPr lang="en-US" sz="1800" b="1" dirty="0"/>
              <a:t>3.see the appearance of the rib “flat across” the X-ray beam at C and compare with the arrowheads D where greater lengths of the ribs are across the X-ray beam, as the ribs curve around the thorax.</a:t>
            </a:r>
          </a:p>
        </p:txBody>
      </p:sp>
      <p:grpSp>
        <p:nvGrpSpPr>
          <p:cNvPr id="13317" name="Group 33"/>
          <p:cNvGrpSpPr>
            <a:grpSpLocks/>
          </p:cNvGrpSpPr>
          <p:nvPr/>
        </p:nvGrpSpPr>
        <p:grpSpPr bwMode="auto">
          <a:xfrm>
            <a:off x="1682319" y="1028559"/>
            <a:ext cx="4616651" cy="4432300"/>
            <a:chOff x="91" y="509"/>
            <a:chExt cx="3412" cy="3286"/>
          </a:xfrm>
        </p:grpSpPr>
        <p:pic>
          <p:nvPicPr>
            <p:cNvPr id="13319" name="Picture 17" descr="CXR with breast shad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 y="509"/>
              <a:ext cx="3379" cy="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Oval 20"/>
            <p:cNvSpPr>
              <a:spLocks noChangeArrowheads="1"/>
            </p:cNvSpPr>
            <p:nvPr/>
          </p:nvSpPr>
          <p:spPr bwMode="auto">
            <a:xfrm>
              <a:off x="2835" y="890"/>
              <a:ext cx="317" cy="22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21" name="Text Box 21"/>
            <p:cNvSpPr txBox="1">
              <a:spLocks noChangeArrowheads="1"/>
            </p:cNvSpPr>
            <p:nvPr/>
          </p:nvSpPr>
          <p:spPr bwMode="auto">
            <a:xfrm>
              <a:off x="2880" y="704"/>
              <a:ext cx="2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a:t>A</a:t>
              </a:r>
            </a:p>
          </p:txBody>
        </p:sp>
        <p:grpSp>
          <p:nvGrpSpPr>
            <p:cNvPr id="13322" name="Group 24"/>
            <p:cNvGrpSpPr>
              <a:grpSpLocks/>
            </p:cNvGrpSpPr>
            <p:nvPr/>
          </p:nvGrpSpPr>
          <p:grpSpPr bwMode="auto">
            <a:xfrm>
              <a:off x="2080" y="1022"/>
              <a:ext cx="296" cy="434"/>
              <a:chOff x="2080" y="1022"/>
              <a:chExt cx="296" cy="434"/>
            </a:xfrm>
          </p:grpSpPr>
          <p:sp>
            <p:nvSpPr>
              <p:cNvPr id="13330" name="Oval 22"/>
              <p:cNvSpPr>
                <a:spLocks noChangeArrowheads="1"/>
              </p:cNvSpPr>
              <p:nvPr/>
            </p:nvSpPr>
            <p:spPr bwMode="auto">
              <a:xfrm>
                <a:off x="2080" y="1230"/>
                <a:ext cx="271" cy="22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31" name="Text Box 23"/>
              <p:cNvSpPr txBox="1">
                <a:spLocks noChangeArrowheads="1"/>
              </p:cNvSpPr>
              <p:nvPr/>
            </p:nvSpPr>
            <p:spPr bwMode="auto">
              <a:xfrm>
                <a:off x="2116" y="1022"/>
                <a:ext cx="2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a:t>B</a:t>
                </a:r>
              </a:p>
            </p:txBody>
          </p:sp>
        </p:grpSp>
        <p:sp>
          <p:nvSpPr>
            <p:cNvPr id="13323" name="Oval 26"/>
            <p:cNvSpPr>
              <a:spLocks noChangeArrowheads="1"/>
            </p:cNvSpPr>
            <p:nvPr/>
          </p:nvSpPr>
          <p:spPr bwMode="auto">
            <a:xfrm>
              <a:off x="2562" y="1778"/>
              <a:ext cx="271" cy="22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24" name="Text Box 27"/>
            <p:cNvSpPr txBox="1">
              <a:spLocks noChangeArrowheads="1"/>
            </p:cNvSpPr>
            <p:nvPr/>
          </p:nvSpPr>
          <p:spPr bwMode="auto">
            <a:xfrm>
              <a:off x="2598" y="1570"/>
              <a:ext cx="2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a:t>C</a:t>
              </a:r>
            </a:p>
          </p:txBody>
        </p:sp>
        <p:sp>
          <p:nvSpPr>
            <p:cNvPr id="13325" name="Text Box 28"/>
            <p:cNvSpPr txBox="1">
              <a:spLocks noChangeArrowheads="1"/>
            </p:cNvSpPr>
            <p:nvPr/>
          </p:nvSpPr>
          <p:spPr bwMode="auto">
            <a:xfrm>
              <a:off x="3243" y="1661"/>
              <a:ext cx="2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a:solidFill>
                    <a:schemeClr val="bg1"/>
                  </a:solidFill>
                </a:rPr>
                <a:t>D</a:t>
              </a:r>
            </a:p>
          </p:txBody>
        </p:sp>
        <p:sp>
          <p:nvSpPr>
            <p:cNvPr id="13326" name="Line 29"/>
            <p:cNvSpPr>
              <a:spLocks noChangeShapeType="1"/>
            </p:cNvSpPr>
            <p:nvPr/>
          </p:nvSpPr>
          <p:spPr bwMode="auto">
            <a:xfrm flipH="1" flipV="1">
              <a:off x="3016" y="1661"/>
              <a:ext cx="272" cy="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7" name="Line 30"/>
            <p:cNvSpPr>
              <a:spLocks noChangeShapeType="1"/>
            </p:cNvSpPr>
            <p:nvPr/>
          </p:nvSpPr>
          <p:spPr bwMode="auto">
            <a:xfrm flipH="1">
              <a:off x="3061" y="1752"/>
              <a:ext cx="227"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8" name="Line 31"/>
            <p:cNvSpPr>
              <a:spLocks noChangeShapeType="1"/>
            </p:cNvSpPr>
            <p:nvPr/>
          </p:nvSpPr>
          <p:spPr bwMode="auto">
            <a:xfrm flipH="1">
              <a:off x="3107" y="1752"/>
              <a:ext cx="181" cy="49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9" name="Line 32"/>
            <p:cNvSpPr>
              <a:spLocks noChangeShapeType="1"/>
            </p:cNvSpPr>
            <p:nvPr/>
          </p:nvSpPr>
          <p:spPr bwMode="auto">
            <a:xfrm flipH="1" flipV="1">
              <a:off x="2971" y="1480"/>
              <a:ext cx="317"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3318" name="Text Box 34"/>
          <p:cNvSpPr txBox="1">
            <a:spLocks noChangeArrowheads="1"/>
          </p:cNvSpPr>
          <p:nvPr/>
        </p:nvSpPr>
        <p:spPr bwMode="auto">
          <a:xfrm>
            <a:off x="2351088" y="6088063"/>
            <a:ext cx="7632700" cy="59055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1600">
                <a:solidFill>
                  <a:srgbClr val="660066"/>
                </a:solidFill>
                <a:latin typeface="Times New Roman" pitchFamily="18" charset="0"/>
              </a:rPr>
              <a:t>Key Points : Think of the anatomy of the structure being viewed. Even bone can have different appearances depending on the thickness it presents to the X-ray beam.</a:t>
            </a:r>
          </a:p>
        </p:txBody>
      </p:sp>
    </p:spTree>
    <p:extLst>
      <p:ext uri="{BB962C8B-B14F-4D97-AF65-F5344CB8AC3E}">
        <p14:creationId xmlns:p14="http://schemas.microsoft.com/office/powerpoint/2010/main" val="101470889"/>
      </p:ext>
    </p:extLst>
  </p:cSld>
  <p:clrMapOvr>
    <a:masterClrMapping/>
  </p:clrMapOvr>
  <p:transition>
    <p:dissolv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Footer Placeholder 4"/>
          <p:cNvSpPr>
            <a:spLocks noGrp="1"/>
          </p:cNvSpPr>
          <p:nvPr>
            <p:ph type="ftr" sz="quarter" idx="10"/>
          </p:nvPr>
        </p:nvSpPr>
        <p:spPr/>
        <p:txBody>
          <a:bodyPr/>
          <a:lstStyle/>
          <a:p>
            <a:pPr>
              <a:defRPr/>
            </a:pPr>
            <a:endParaRPr lang="en-US" dirty="0"/>
          </a:p>
        </p:txBody>
      </p:sp>
      <p:sp>
        <p:nvSpPr>
          <p:cNvPr id="14339" name="Rectangle 2"/>
          <p:cNvSpPr>
            <a:spLocks noGrp="1" noRot="1" noChangeArrowheads="1"/>
          </p:cNvSpPr>
          <p:nvPr>
            <p:ph type="title"/>
          </p:nvPr>
        </p:nvSpPr>
        <p:spPr/>
        <p:txBody>
          <a:bodyPr>
            <a:normAutofit fontScale="90000"/>
          </a:bodyPr>
          <a:lstStyle/>
          <a:p>
            <a:pPr eaLnBrk="1" hangingPunct="1"/>
            <a:r>
              <a:rPr lang="en-US" dirty="0" smtClean="0"/>
              <a:t>A Chest X-ray </a:t>
            </a:r>
          </a:p>
        </p:txBody>
      </p:sp>
      <p:sp>
        <p:nvSpPr>
          <p:cNvPr id="14340" name="Rectangle 4"/>
          <p:cNvSpPr>
            <a:spLocks noGrp="1" noRot="1" noChangeArrowheads="1"/>
          </p:cNvSpPr>
          <p:nvPr>
            <p:ph type="body" sz="half" idx="2"/>
          </p:nvPr>
        </p:nvSpPr>
        <p:spPr>
          <a:xfrm>
            <a:off x="5715002" y="762000"/>
            <a:ext cx="4821237" cy="5475288"/>
          </a:xfrm>
        </p:spPr>
        <p:txBody>
          <a:bodyPr>
            <a:noAutofit/>
          </a:bodyPr>
          <a:lstStyle/>
          <a:p>
            <a:pPr marL="0" indent="0">
              <a:lnSpc>
                <a:spcPct val="120000"/>
              </a:lnSpc>
              <a:buNone/>
            </a:pPr>
            <a:r>
              <a:rPr lang="en-US" sz="1800" b="1" dirty="0">
                <a:sym typeface="Wingdings" pitchFamily="2" charset="2"/>
              </a:rPr>
              <a:t></a:t>
            </a:r>
            <a:r>
              <a:rPr lang="en-US" sz="1800" b="1" dirty="0"/>
              <a:t>difference between the air outside the body and air in the lungs – lungs are soft tissue filled with air!</a:t>
            </a:r>
          </a:p>
          <a:p>
            <a:pPr marL="0" indent="0">
              <a:lnSpc>
                <a:spcPct val="120000"/>
              </a:lnSpc>
              <a:buNone/>
            </a:pPr>
            <a:r>
              <a:rPr lang="en-US" sz="1800" b="1" dirty="0"/>
              <a:t>The shape of the heart is unmistakable – notice how the thick muscle wall and the blood that fills the heart create a white image – in places whiter than bone.</a:t>
            </a:r>
          </a:p>
          <a:p>
            <a:pPr marL="0" indent="0">
              <a:lnSpc>
                <a:spcPct val="120000"/>
              </a:lnSpc>
              <a:buNone/>
            </a:pPr>
            <a:r>
              <a:rPr lang="en-US" sz="1800" b="1" dirty="0"/>
              <a:t>Structures in the hilum of the lung can be seen with variable clarity as at A. Again, a blood vessel “end-on” is more opaque than one “across” the beam.</a:t>
            </a:r>
          </a:p>
          <a:p>
            <a:pPr marL="0" indent="0">
              <a:lnSpc>
                <a:spcPct val="120000"/>
              </a:lnSpc>
              <a:buNone/>
            </a:pPr>
            <a:r>
              <a:rPr lang="en-US" sz="1800" b="1" dirty="0"/>
              <a:t>The cervical and upper thoracic vertebrae can be seen in the oval B. The lower thoracic vertebrae are sometimes lost in the heart image, but here they are seen, along with the descending aorta, as a band running down the heart.</a:t>
            </a:r>
          </a:p>
        </p:txBody>
      </p:sp>
      <p:grpSp>
        <p:nvGrpSpPr>
          <p:cNvPr id="14341" name="Group 17"/>
          <p:cNvGrpSpPr>
            <a:grpSpLocks/>
          </p:cNvGrpSpPr>
          <p:nvPr/>
        </p:nvGrpSpPr>
        <p:grpSpPr bwMode="auto">
          <a:xfrm>
            <a:off x="1631951" y="952325"/>
            <a:ext cx="4083050" cy="4205464"/>
            <a:chOff x="91" y="509"/>
            <a:chExt cx="3379" cy="3286"/>
          </a:xfrm>
        </p:grpSpPr>
        <p:pic>
          <p:nvPicPr>
            <p:cNvPr id="14343" name="Picture 3" descr="CXR with breast shad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 y="509"/>
              <a:ext cx="3379" cy="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Oval 5"/>
            <p:cNvSpPr>
              <a:spLocks noChangeArrowheads="1"/>
            </p:cNvSpPr>
            <p:nvPr/>
          </p:nvSpPr>
          <p:spPr bwMode="auto">
            <a:xfrm>
              <a:off x="1292" y="1979"/>
              <a:ext cx="317" cy="45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345" name="Text Box 6"/>
            <p:cNvSpPr txBox="1">
              <a:spLocks noChangeArrowheads="1"/>
            </p:cNvSpPr>
            <p:nvPr/>
          </p:nvSpPr>
          <p:spPr bwMode="auto">
            <a:xfrm>
              <a:off x="1156" y="1838"/>
              <a:ext cx="29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a:t>A</a:t>
              </a:r>
            </a:p>
          </p:txBody>
        </p:sp>
        <p:sp>
          <p:nvSpPr>
            <p:cNvPr id="14346" name="Oval 10"/>
            <p:cNvSpPr>
              <a:spLocks noChangeArrowheads="1"/>
            </p:cNvSpPr>
            <p:nvPr/>
          </p:nvSpPr>
          <p:spPr bwMode="auto">
            <a:xfrm>
              <a:off x="1701" y="618"/>
              <a:ext cx="453" cy="81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347" name="Text Box 11"/>
            <p:cNvSpPr txBox="1">
              <a:spLocks noChangeArrowheads="1"/>
            </p:cNvSpPr>
            <p:nvPr/>
          </p:nvSpPr>
          <p:spPr bwMode="auto">
            <a:xfrm>
              <a:off x="1526" y="750"/>
              <a:ext cx="29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a:t>B</a:t>
              </a:r>
            </a:p>
          </p:txBody>
        </p:sp>
      </p:grpSp>
      <p:sp>
        <p:nvSpPr>
          <p:cNvPr id="14342" name="Text Box 18"/>
          <p:cNvSpPr txBox="1">
            <a:spLocks noChangeArrowheads="1"/>
          </p:cNvSpPr>
          <p:nvPr/>
        </p:nvSpPr>
        <p:spPr bwMode="auto">
          <a:xfrm>
            <a:off x="1878030" y="5334001"/>
            <a:ext cx="3241675" cy="132397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1600" dirty="0">
                <a:solidFill>
                  <a:srgbClr val="660066"/>
                </a:solidFill>
                <a:latin typeface="Times New Roman" pitchFamily="18" charset="0"/>
              </a:rPr>
              <a:t>Key Points : </a:t>
            </a:r>
          </a:p>
          <a:p>
            <a:pPr algn="just"/>
            <a:r>
              <a:rPr lang="en-US" sz="1600" dirty="0">
                <a:solidFill>
                  <a:srgbClr val="660066"/>
                </a:solidFill>
                <a:latin typeface="Times New Roman" pitchFamily="18" charset="0"/>
              </a:rPr>
              <a:t>Air containing structures ‘darken’ other superimposed structures.</a:t>
            </a:r>
          </a:p>
          <a:p>
            <a:pPr algn="just"/>
            <a:r>
              <a:rPr lang="en-US" sz="1600" dirty="0">
                <a:solidFill>
                  <a:srgbClr val="660066"/>
                </a:solidFill>
                <a:latin typeface="Times New Roman" pitchFamily="18" charset="0"/>
              </a:rPr>
              <a:t>Thickness makes the heart as opaque as bone!</a:t>
            </a:r>
          </a:p>
        </p:txBody>
      </p:sp>
    </p:spTree>
    <p:extLst>
      <p:ext uri="{BB962C8B-B14F-4D97-AF65-F5344CB8AC3E}">
        <p14:creationId xmlns:p14="http://schemas.microsoft.com/office/powerpoint/2010/main" val="4020148132"/>
      </p:ext>
    </p:extLst>
  </p:cSld>
  <p:clrMapOvr>
    <a:masterClrMapping/>
  </p:clrMapOvr>
  <p:transition>
    <p:dissolv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4"/>
          <p:cNvSpPr>
            <a:spLocks noGrp="1"/>
          </p:cNvSpPr>
          <p:nvPr>
            <p:ph type="ftr" sz="quarter" idx="10"/>
          </p:nvPr>
        </p:nvSpPr>
        <p:spPr>
          <a:xfrm>
            <a:off x="4800600" y="7543800"/>
            <a:ext cx="2895600" cy="365125"/>
          </a:xfrm>
        </p:spPr>
        <p:txBody>
          <a:bodyPr/>
          <a:lstStyle/>
          <a:p>
            <a:pPr>
              <a:defRPr/>
            </a:pPr>
            <a:endParaRPr lang="en-US" dirty="0"/>
          </a:p>
        </p:txBody>
      </p:sp>
      <p:sp>
        <p:nvSpPr>
          <p:cNvPr id="15363" name="Rectangle 2"/>
          <p:cNvSpPr>
            <a:spLocks noGrp="1" noRot="1" noChangeArrowheads="1"/>
          </p:cNvSpPr>
          <p:nvPr>
            <p:ph type="title"/>
          </p:nvPr>
        </p:nvSpPr>
        <p:spPr/>
        <p:txBody>
          <a:bodyPr>
            <a:normAutofit fontScale="90000"/>
          </a:bodyPr>
          <a:lstStyle/>
          <a:p>
            <a:pPr eaLnBrk="1" hangingPunct="1"/>
            <a:r>
              <a:rPr lang="en-US" dirty="0" smtClean="0"/>
              <a:t>A Chest X-ray </a:t>
            </a:r>
          </a:p>
        </p:txBody>
      </p:sp>
      <p:sp>
        <p:nvSpPr>
          <p:cNvPr id="15364" name="Rectangle 4"/>
          <p:cNvSpPr>
            <a:spLocks noGrp="1" noRot="1" noChangeArrowheads="1"/>
          </p:cNvSpPr>
          <p:nvPr>
            <p:ph type="body" sz="half" idx="2"/>
          </p:nvPr>
        </p:nvSpPr>
        <p:spPr>
          <a:xfrm>
            <a:off x="5762987" y="609600"/>
            <a:ext cx="4820877" cy="5627688"/>
          </a:xfrm>
        </p:spPr>
        <p:txBody>
          <a:bodyPr>
            <a:noAutofit/>
          </a:bodyPr>
          <a:lstStyle/>
          <a:p>
            <a:pPr marL="0" indent="0">
              <a:lnSpc>
                <a:spcPct val="120000"/>
              </a:lnSpc>
              <a:buNone/>
            </a:pPr>
            <a:r>
              <a:rPr lang="en-US" sz="1800" b="1" dirty="0"/>
              <a:t>Now see how thickness matters.</a:t>
            </a:r>
          </a:p>
          <a:p>
            <a:pPr marL="0" indent="0">
              <a:lnSpc>
                <a:spcPct val="120000"/>
              </a:lnSpc>
              <a:buNone/>
            </a:pPr>
            <a:r>
              <a:rPr lang="en-US" sz="1800" b="1" dirty="0"/>
              <a:t>Observe the images of the breasts. The right breast is indicated by the curved line. Note how the image of the breast is pronounced on the lateral and lower side. It is just skin, connective tissue and fat, yet the thickness casts an image. This also tells you that this image is that of a female subject.</a:t>
            </a:r>
          </a:p>
          <a:p>
            <a:pPr marL="0" indent="0">
              <a:lnSpc>
                <a:spcPct val="120000"/>
              </a:lnSpc>
              <a:buNone/>
            </a:pPr>
            <a:r>
              <a:rPr lang="en-US" sz="1800" b="1" dirty="0"/>
              <a:t>Also observe how the thick musculature around the shoulder appears white.</a:t>
            </a:r>
          </a:p>
          <a:p>
            <a:pPr marL="0" indent="0">
              <a:lnSpc>
                <a:spcPct val="120000"/>
              </a:lnSpc>
              <a:buNone/>
            </a:pPr>
            <a:r>
              <a:rPr lang="en-US" sz="1800" b="1" dirty="0"/>
              <a:t>As important, see how the abdominal organs also appear white. </a:t>
            </a:r>
          </a:p>
          <a:p>
            <a:pPr marL="0" indent="0">
              <a:lnSpc>
                <a:spcPct val="120000"/>
              </a:lnSpc>
              <a:buNone/>
            </a:pPr>
            <a:r>
              <a:rPr lang="en-US" sz="1800" b="1" dirty="0"/>
              <a:t>The different shades between black and white in an X-ray image are also referred to as “densities” or “shadows”. We thus speak of bone density, soft tissue density ,air densities</a:t>
            </a:r>
          </a:p>
        </p:txBody>
      </p:sp>
      <p:grpSp>
        <p:nvGrpSpPr>
          <p:cNvPr id="15365" name="Group 10"/>
          <p:cNvGrpSpPr>
            <a:grpSpLocks/>
          </p:cNvGrpSpPr>
          <p:nvPr/>
        </p:nvGrpSpPr>
        <p:grpSpPr bwMode="auto">
          <a:xfrm>
            <a:off x="1716450" y="685801"/>
            <a:ext cx="4046537" cy="4424363"/>
            <a:chOff x="91" y="509"/>
            <a:chExt cx="3379" cy="3286"/>
          </a:xfrm>
        </p:grpSpPr>
        <p:pic>
          <p:nvPicPr>
            <p:cNvPr id="15367" name="Picture 3" descr="CXR with breast shad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 y="509"/>
              <a:ext cx="3379" cy="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Freeform 9"/>
            <p:cNvSpPr>
              <a:spLocks/>
            </p:cNvSpPr>
            <p:nvPr/>
          </p:nvSpPr>
          <p:spPr bwMode="auto">
            <a:xfrm>
              <a:off x="333" y="2333"/>
              <a:ext cx="778" cy="913"/>
            </a:xfrm>
            <a:custGeom>
              <a:avLst/>
              <a:gdLst>
                <a:gd name="T0" fmla="*/ 98 w 778"/>
                <a:gd name="T1" fmla="*/ 0 h 913"/>
                <a:gd name="T2" fmla="*/ 52 w 778"/>
                <a:gd name="T3" fmla="*/ 181 h 913"/>
                <a:gd name="T4" fmla="*/ 7 w 778"/>
                <a:gd name="T5" fmla="*/ 363 h 913"/>
                <a:gd name="T6" fmla="*/ 7 w 778"/>
                <a:gd name="T7" fmla="*/ 499 h 913"/>
                <a:gd name="T8" fmla="*/ 52 w 778"/>
                <a:gd name="T9" fmla="*/ 680 h 913"/>
                <a:gd name="T10" fmla="*/ 205 w 778"/>
                <a:gd name="T11" fmla="*/ 847 h 913"/>
                <a:gd name="T12" fmla="*/ 327 w 778"/>
                <a:gd name="T13" fmla="*/ 893 h 913"/>
                <a:gd name="T14" fmla="*/ 473 w 778"/>
                <a:gd name="T15" fmla="*/ 908 h 913"/>
                <a:gd name="T16" fmla="*/ 687 w 778"/>
                <a:gd name="T17" fmla="*/ 862 h 913"/>
                <a:gd name="T18" fmla="*/ 778 w 778"/>
                <a:gd name="T19" fmla="*/ 816 h 9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78"/>
                <a:gd name="T31" fmla="*/ 0 h 913"/>
                <a:gd name="T32" fmla="*/ 778 w 778"/>
                <a:gd name="T33" fmla="*/ 913 h 9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78" h="913">
                  <a:moveTo>
                    <a:pt x="98" y="0"/>
                  </a:moveTo>
                  <a:cubicBezTo>
                    <a:pt x="82" y="60"/>
                    <a:pt x="67" y="121"/>
                    <a:pt x="52" y="181"/>
                  </a:cubicBezTo>
                  <a:cubicBezTo>
                    <a:pt x="37" y="241"/>
                    <a:pt x="14" y="310"/>
                    <a:pt x="7" y="363"/>
                  </a:cubicBezTo>
                  <a:cubicBezTo>
                    <a:pt x="0" y="416"/>
                    <a:pt x="0" y="446"/>
                    <a:pt x="7" y="499"/>
                  </a:cubicBezTo>
                  <a:cubicBezTo>
                    <a:pt x="14" y="552"/>
                    <a:pt x="19" y="622"/>
                    <a:pt x="52" y="680"/>
                  </a:cubicBezTo>
                  <a:cubicBezTo>
                    <a:pt x="85" y="738"/>
                    <a:pt x="159" y="812"/>
                    <a:pt x="205" y="847"/>
                  </a:cubicBezTo>
                  <a:cubicBezTo>
                    <a:pt x="251" y="882"/>
                    <a:pt x="282" y="883"/>
                    <a:pt x="327" y="893"/>
                  </a:cubicBezTo>
                  <a:cubicBezTo>
                    <a:pt x="372" y="903"/>
                    <a:pt x="413" y="913"/>
                    <a:pt x="473" y="908"/>
                  </a:cubicBezTo>
                  <a:cubicBezTo>
                    <a:pt x="533" y="903"/>
                    <a:pt x="636" y="877"/>
                    <a:pt x="687" y="862"/>
                  </a:cubicBezTo>
                  <a:cubicBezTo>
                    <a:pt x="738" y="847"/>
                    <a:pt x="763" y="824"/>
                    <a:pt x="778" y="816"/>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5366" name="Text Box 11"/>
          <p:cNvSpPr txBox="1">
            <a:spLocks noChangeArrowheads="1"/>
          </p:cNvSpPr>
          <p:nvPr/>
        </p:nvSpPr>
        <p:spPr bwMode="auto">
          <a:xfrm>
            <a:off x="2499814" y="5486401"/>
            <a:ext cx="2736850" cy="83502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1600" dirty="0">
                <a:solidFill>
                  <a:srgbClr val="660066"/>
                </a:solidFill>
                <a:latin typeface="Times New Roman" pitchFamily="18" charset="0"/>
              </a:rPr>
              <a:t>Key Points : </a:t>
            </a:r>
          </a:p>
          <a:p>
            <a:pPr algn="just"/>
            <a:r>
              <a:rPr lang="en-US" sz="1600" dirty="0">
                <a:solidFill>
                  <a:srgbClr val="660066"/>
                </a:solidFill>
                <a:latin typeface="Times New Roman" pitchFamily="18" charset="0"/>
              </a:rPr>
              <a:t>All that is white is not bone!</a:t>
            </a:r>
          </a:p>
          <a:p>
            <a:pPr algn="just"/>
            <a:r>
              <a:rPr lang="en-US" sz="1600" dirty="0">
                <a:solidFill>
                  <a:srgbClr val="660066"/>
                </a:solidFill>
                <a:latin typeface="Times New Roman" pitchFamily="18" charset="0"/>
              </a:rPr>
              <a:t>Understand contrast!</a:t>
            </a:r>
          </a:p>
        </p:txBody>
      </p:sp>
    </p:spTree>
    <p:extLst>
      <p:ext uri="{BB962C8B-B14F-4D97-AF65-F5344CB8AC3E}">
        <p14:creationId xmlns:p14="http://schemas.microsoft.com/office/powerpoint/2010/main" val="2130180630"/>
      </p:ext>
    </p:extLst>
  </p:cSld>
  <p:clrMapOvr>
    <a:masterClrMapping/>
  </p:clrMapOvr>
  <p:transition>
    <p:dissolv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Footer Placeholder 4"/>
          <p:cNvSpPr>
            <a:spLocks noGrp="1"/>
          </p:cNvSpPr>
          <p:nvPr>
            <p:ph type="ftr" sz="quarter" idx="10"/>
          </p:nvPr>
        </p:nvSpPr>
        <p:spPr/>
        <p:txBody>
          <a:bodyPr/>
          <a:lstStyle/>
          <a:p>
            <a:pPr>
              <a:defRPr/>
            </a:pPr>
            <a:r>
              <a:rPr lang="en-US"/>
              <a:t>avb</a:t>
            </a:r>
          </a:p>
        </p:txBody>
      </p:sp>
      <p:sp>
        <p:nvSpPr>
          <p:cNvPr id="16387" name="Rectangle 8"/>
          <p:cNvSpPr>
            <a:spLocks noGrp="1" noRot="1" noChangeArrowheads="1"/>
          </p:cNvSpPr>
          <p:nvPr>
            <p:ph type="body" sz="half" idx="2"/>
          </p:nvPr>
        </p:nvSpPr>
        <p:spPr>
          <a:xfrm>
            <a:off x="6553200" y="1295401"/>
            <a:ext cx="3575050" cy="3592513"/>
          </a:xfrm>
        </p:spPr>
        <p:txBody>
          <a:bodyPr>
            <a:noAutofit/>
          </a:bodyPr>
          <a:lstStyle/>
          <a:p>
            <a:pPr marL="0" indent="0">
              <a:buNone/>
            </a:pPr>
            <a:r>
              <a:rPr lang="en-US" sz="2000" dirty="0"/>
              <a:t>Appreciate  joint-forming surfaces of bone are covered by hyaline cartilage. Even though cartilage is tough tissue, it does not have calcium, and </a:t>
            </a:r>
            <a:r>
              <a:rPr lang="en-US" sz="2000" dirty="0" err="1"/>
              <a:t>radiologically</a:t>
            </a:r>
            <a:r>
              <a:rPr lang="en-US" sz="2000" dirty="0"/>
              <a:t> similar to ‘soft’ tissues. The clear bands (arrows) between the bones are areas of cartilage. This is an image of the elbow.</a:t>
            </a:r>
          </a:p>
        </p:txBody>
      </p:sp>
      <p:sp>
        <p:nvSpPr>
          <p:cNvPr id="16388" name="Rectangle 9"/>
          <p:cNvSpPr>
            <a:spLocks noGrp="1" noRot="1" noChangeArrowheads="1"/>
          </p:cNvSpPr>
          <p:nvPr>
            <p:ph type="title"/>
          </p:nvPr>
        </p:nvSpPr>
        <p:spPr/>
        <p:txBody>
          <a:bodyPr>
            <a:normAutofit fontScale="90000"/>
          </a:bodyPr>
          <a:lstStyle/>
          <a:p>
            <a:pPr eaLnBrk="1" hangingPunct="1"/>
            <a:r>
              <a:rPr lang="en-US" smtClean="0"/>
              <a:t>Cartilage</a:t>
            </a:r>
          </a:p>
        </p:txBody>
      </p:sp>
      <p:grpSp>
        <p:nvGrpSpPr>
          <p:cNvPr id="16389" name="Group 15"/>
          <p:cNvGrpSpPr>
            <a:grpSpLocks/>
          </p:cNvGrpSpPr>
          <p:nvPr/>
        </p:nvGrpSpPr>
        <p:grpSpPr bwMode="auto">
          <a:xfrm>
            <a:off x="1981201" y="1981201"/>
            <a:ext cx="4183063" cy="2906713"/>
            <a:chOff x="288" y="1248"/>
            <a:chExt cx="2635" cy="1831"/>
          </a:xfrm>
        </p:grpSpPr>
        <p:pic>
          <p:nvPicPr>
            <p:cNvPr id="16391" name="Picture 11" descr="ElbowAP-unknown"/>
            <p:cNvPicPr>
              <a:picLocks noChangeAspect="1" noChangeArrowheads="1"/>
            </p:cNvPicPr>
            <p:nvPr/>
          </p:nvPicPr>
          <p:blipFill>
            <a:blip r:embed="rId2">
              <a:extLst>
                <a:ext uri="{28A0092B-C50C-407E-A947-70E740481C1C}">
                  <a14:useLocalDpi xmlns:a14="http://schemas.microsoft.com/office/drawing/2010/main" val="0"/>
                </a:ext>
              </a:extLst>
            </a:blip>
            <a:srcRect t="24490" b="24490"/>
            <a:stretch>
              <a:fillRect/>
            </a:stretch>
          </p:blipFill>
          <p:spPr bwMode="auto">
            <a:xfrm>
              <a:off x="288" y="1248"/>
              <a:ext cx="2635" cy="1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Line 13"/>
            <p:cNvSpPr>
              <a:spLocks noChangeShapeType="1"/>
            </p:cNvSpPr>
            <p:nvPr/>
          </p:nvSpPr>
          <p:spPr bwMode="auto">
            <a:xfrm>
              <a:off x="793" y="2424"/>
              <a:ext cx="273"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3" name="Line 14"/>
            <p:cNvSpPr>
              <a:spLocks noChangeShapeType="1"/>
            </p:cNvSpPr>
            <p:nvPr/>
          </p:nvSpPr>
          <p:spPr bwMode="auto">
            <a:xfrm flipH="1">
              <a:off x="2109" y="2371"/>
              <a:ext cx="22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6390" name="Text Box 16"/>
          <p:cNvSpPr txBox="1">
            <a:spLocks noChangeArrowheads="1"/>
          </p:cNvSpPr>
          <p:nvPr/>
        </p:nvSpPr>
        <p:spPr bwMode="auto">
          <a:xfrm>
            <a:off x="5375276" y="5257801"/>
            <a:ext cx="4968875" cy="83502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1600">
                <a:solidFill>
                  <a:srgbClr val="660066"/>
                </a:solidFill>
                <a:latin typeface="Times New Roman" pitchFamily="18" charset="0"/>
              </a:rPr>
              <a:t>Key Points : </a:t>
            </a:r>
          </a:p>
          <a:p>
            <a:pPr algn="just"/>
            <a:r>
              <a:rPr lang="en-US" sz="1600">
                <a:solidFill>
                  <a:srgbClr val="660066"/>
                </a:solidFill>
                <a:latin typeface="Times New Roman" pitchFamily="18" charset="0"/>
              </a:rPr>
              <a:t>Cartilage is tough, but not opaque to X-rays!</a:t>
            </a:r>
          </a:p>
          <a:p>
            <a:pPr algn="just"/>
            <a:r>
              <a:rPr lang="en-US" sz="1600">
                <a:solidFill>
                  <a:srgbClr val="660066"/>
                </a:solidFill>
                <a:latin typeface="Times New Roman" pitchFamily="18" charset="0"/>
              </a:rPr>
              <a:t>Superimposed parts of two bones appear whiter.</a:t>
            </a:r>
          </a:p>
        </p:txBody>
      </p:sp>
    </p:spTree>
    <p:extLst>
      <p:ext uri="{BB962C8B-B14F-4D97-AF65-F5344CB8AC3E}">
        <p14:creationId xmlns:p14="http://schemas.microsoft.com/office/powerpoint/2010/main" val="951533649"/>
      </p:ext>
    </p:extLst>
  </p:cSld>
  <p:clrMapOvr>
    <a:masterClrMapping/>
  </p:clrMapOvr>
  <p:transition>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End of part 1</a:t>
            </a:r>
            <a:endParaRPr lang="en-US" dirty="0"/>
          </a:p>
        </p:txBody>
      </p:sp>
      <p:sp>
        <p:nvSpPr>
          <p:cNvPr id="3" name="Online Image Placeholder 2"/>
          <p:cNvSpPr>
            <a:spLocks noGrp="1"/>
          </p:cNvSpPr>
          <p:nvPr>
            <p:ph type="clipArt" sz="half" idx="1"/>
          </p:nvPr>
        </p:nvSpPr>
        <p:spPr/>
      </p:sp>
      <p:sp>
        <p:nvSpPr>
          <p:cNvPr id="4" name="Text Placeholder 3"/>
          <p:cNvSpPr>
            <a:spLocks noGrp="1"/>
          </p:cNvSpPr>
          <p:nvPr>
            <p:ph type="body" sz="half" idx="2"/>
          </p:nvPr>
        </p:nvSpPr>
        <p:spPr/>
        <p:txBody>
          <a:bodyPr/>
          <a:lstStyle/>
          <a:p>
            <a:r>
              <a:rPr lang="en-US" dirty="0" err="1" smtClean="0"/>
              <a:t>Qns</a:t>
            </a:r>
            <a:r>
              <a:rPr lang="en-US" dirty="0" smtClean="0"/>
              <a:t>???</a:t>
            </a:r>
            <a:endParaRPr lang="en-US" dirty="0"/>
          </a:p>
        </p:txBody>
      </p:sp>
    </p:spTree>
    <p:extLst>
      <p:ext uri="{BB962C8B-B14F-4D97-AF65-F5344CB8AC3E}">
        <p14:creationId xmlns:p14="http://schemas.microsoft.com/office/powerpoint/2010/main" val="1541849021"/>
      </p:ext>
    </p:extLst>
  </p:cSld>
  <p:clrMapOvr>
    <a:masterClrMapping/>
  </p:clrMapOvr>
  <p:transition>
    <p:dissolv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2228</Words>
  <Application>Microsoft Office PowerPoint</Application>
  <PresentationFormat>Widescreen</PresentationFormat>
  <Paragraphs>275</Paragraphs>
  <Slides>34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Times New Roman</vt:lpstr>
      <vt:lpstr>Wingdings</vt:lpstr>
      <vt:lpstr>Office Theme</vt:lpstr>
      <vt:lpstr>Radiologic Image Interpretation for  ANAESTHEASIA Students </vt:lpstr>
      <vt:lpstr>Course objectives</vt:lpstr>
      <vt:lpstr>Introduction </vt:lpstr>
      <vt:lpstr>Radiation </vt:lpstr>
      <vt:lpstr>Electromagnetic Radiation(EMR)</vt:lpstr>
      <vt:lpstr>Cont..</vt:lpstr>
      <vt:lpstr>EM wave carry a very wide range of frequencies and wave lengths. (spectrum) </vt:lpstr>
      <vt:lpstr>Radiography</vt:lpstr>
      <vt:lpstr>Cont’d</vt:lpstr>
      <vt:lpstr>X-Ray Tube </vt:lpstr>
      <vt:lpstr>X-Ray Tube Components</vt:lpstr>
      <vt:lpstr>Cathode </vt:lpstr>
      <vt:lpstr>Anode  </vt:lpstr>
      <vt:lpstr>X Ray Tube Principles</vt:lpstr>
      <vt:lpstr>X-ray interaction </vt:lpstr>
      <vt:lpstr>PowerPoint Presentation</vt:lpstr>
      <vt:lpstr>PowerPoint Presentation</vt:lpstr>
      <vt:lpstr>PowerPoint Presentation</vt:lpstr>
      <vt:lpstr>X-ray films </vt:lpstr>
      <vt:lpstr>Cont’d </vt:lpstr>
      <vt:lpstr>Radiographic cassette </vt:lpstr>
      <vt:lpstr>Intensifying screen</vt:lpstr>
      <vt:lpstr>PowerPoint Presentation</vt:lpstr>
      <vt:lpstr>Film processing </vt:lpstr>
      <vt:lpstr>Steps in Film Processing</vt:lpstr>
      <vt:lpstr>Cont’d </vt:lpstr>
      <vt:lpstr>Radiographic Densities</vt:lpstr>
      <vt:lpstr>Cont’d </vt:lpstr>
      <vt:lpstr>The  Radiograph  Projection</vt:lpstr>
      <vt:lpstr>A Chest X-ray  </vt:lpstr>
      <vt:lpstr>A Chest X-ray </vt:lpstr>
      <vt:lpstr>A Chest X-ray </vt:lpstr>
      <vt:lpstr>Cartilage</vt:lpstr>
      <vt:lpstr>End of part 1</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Myeee</dc:creator>
  <cp:lastModifiedBy>user</cp:lastModifiedBy>
  <cp:revision>3</cp:revision>
  <dcterms:created xsi:type="dcterms:W3CDTF">2019-01-09T10:20:16Z</dcterms:created>
  <dcterms:modified xsi:type="dcterms:W3CDTF">2021-08-29T07:31:36Z</dcterms:modified>
</cp:coreProperties>
</file>