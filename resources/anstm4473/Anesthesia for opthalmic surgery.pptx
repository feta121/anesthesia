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437" r:id="rId3"/>
    <p:sldId id="565" r:id="rId4"/>
    <p:sldId id="572" r:id="rId5"/>
    <p:sldId id="573" r:id="rId6"/>
    <p:sldId id="574" r:id="rId7"/>
    <p:sldId id="566" r:id="rId8"/>
    <p:sldId id="567" r:id="rId9"/>
    <p:sldId id="568" r:id="rId10"/>
    <p:sldId id="570" r:id="rId11"/>
    <p:sldId id="569" r:id="rId12"/>
    <p:sldId id="571" r:id="rId13"/>
    <p:sldId id="434" r:id="rId14"/>
    <p:sldId id="436" r:id="rId15"/>
    <p:sldId id="419" r:id="rId16"/>
    <p:sldId id="420" r:id="rId17"/>
    <p:sldId id="421" r:id="rId18"/>
    <p:sldId id="443" r:id="rId19"/>
    <p:sldId id="444" r:id="rId20"/>
    <p:sldId id="445" r:id="rId21"/>
    <p:sldId id="446" r:id="rId22"/>
    <p:sldId id="447" r:id="rId23"/>
    <p:sldId id="448" r:id="rId24"/>
    <p:sldId id="449" r:id="rId25"/>
    <p:sldId id="450" r:id="rId26"/>
    <p:sldId id="451" r:id="rId27"/>
    <p:sldId id="452" r:id="rId28"/>
    <p:sldId id="453" r:id="rId29"/>
    <p:sldId id="454" r:id="rId30"/>
    <p:sldId id="438" r:id="rId31"/>
    <p:sldId id="439" r:id="rId32"/>
    <p:sldId id="442" r:id="rId33"/>
    <p:sldId id="440" r:id="rId34"/>
    <p:sldId id="441" r:id="rId35"/>
    <p:sldId id="422" r:id="rId36"/>
    <p:sldId id="423" r:id="rId37"/>
    <p:sldId id="424" r:id="rId38"/>
    <p:sldId id="425" r:id="rId39"/>
    <p:sldId id="426" r:id="rId40"/>
    <p:sldId id="564" r:id="rId41"/>
    <p:sldId id="585" r:id="rId42"/>
    <p:sldId id="587" r:id="rId43"/>
    <p:sldId id="588" r:id="rId44"/>
    <p:sldId id="589" r:id="rId45"/>
    <p:sldId id="590" r:id="rId46"/>
    <p:sldId id="591" r:id="rId47"/>
    <p:sldId id="586" r:id="rId48"/>
    <p:sldId id="592" r:id="rId49"/>
    <p:sldId id="593" r:id="rId50"/>
    <p:sldId id="595" r:id="rId51"/>
    <p:sldId id="594" r:id="rId52"/>
    <p:sldId id="596" r:id="rId53"/>
    <p:sldId id="597" r:id="rId54"/>
    <p:sldId id="598" r:id="rId55"/>
    <p:sldId id="427" r:id="rId56"/>
    <p:sldId id="460" r:id="rId57"/>
    <p:sldId id="461" r:id="rId58"/>
    <p:sldId id="462" r:id="rId59"/>
    <p:sldId id="463" r:id="rId60"/>
    <p:sldId id="464" r:id="rId61"/>
    <p:sldId id="465" r:id="rId62"/>
    <p:sldId id="466" r:id="rId63"/>
    <p:sldId id="467" r:id="rId64"/>
    <p:sldId id="468" r:id="rId65"/>
    <p:sldId id="469" r:id="rId66"/>
    <p:sldId id="611" r:id="rId67"/>
    <p:sldId id="612" r:id="rId68"/>
    <p:sldId id="604" r:id="rId69"/>
    <p:sldId id="613" r:id="rId70"/>
    <p:sldId id="429" r:id="rId71"/>
    <p:sldId id="601" r:id="rId72"/>
    <p:sldId id="602" r:id="rId73"/>
    <p:sldId id="603" r:id="rId74"/>
    <p:sldId id="430" r:id="rId75"/>
    <p:sldId id="257" r:id="rId76"/>
    <p:sldId id="258" r:id="rId77"/>
    <p:sldId id="599" r:id="rId78"/>
    <p:sldId id="614" r:id="rId79"/>
    <p:sldId id="600" r:id="rId80"/>
    <p:sldId id="615" r:id="rId81"/>
    <p:sldId id="259" r:id="rId82"/>
    <p:sldId id="260" r:id="rId83"/>
    <p:sldId id="261" r:id="rId84"/>
    <p:sldId id="262" r:id="rId85"/>
    <p:sldId id="263" r:id="rId86"/>
    <p:sldId id="264" r:id="rId87"/>
    <p:sldId id="265" r:id="rId88"/>
    <p:sldId id="500" r:id="rId89"/>
    <p:sldId id="266" r:id="rId90"/>
    <p:sldId id="471" r:id="rId91"/>
    <p:sldId id="472" r:id="rId92"/>
    <p:sldId id="473" r:id="rId93"/>
    <p:sldId id="474" r:id="rId94"/>
    <p:sldId id="475" r:id="rId95"/>
    <p:sldId id="476" r:id="rId96"/>
    <p:sldId id="506" r:id="rId97"/>
    <p:sldId id="503" r:id="rId98"/>
    <p:sldId id="504" r:id="rId99"/>
    <p:sldId id="501" r:id="rId100"/>
    <p:sldId id="505" r:id="rId101"/>
    <p:sldId id="502" r:id="rId102"/>
    <p:sldId id="477" r:id="rId103"/>
    <p:sldId id="478" r:id="rId104"/>
    <p:sldId id="479" r:id="rId105"/>
    <p:sldId id="616" r:id="rId106"/>
    <p:sldId id="480" r:id="rId107"/>
    <p:sldId id="481" r:id="rId108"/>
    <p:sldId id="482" r:id="rId109"/>
    <p:sldId id="483" r:id="rId110"/>
    <p:sldId id="484" r:id="rId111"/>
    <p:sldId id="485" r:id="rId112"/>
    <p:sldId id="486" r:id="rId113"/>
    <p:sldId id="487" r:id="rId114"/>
    <p:sldId id="488" r:id="rId115"/>
    <p:sldId id="489" r:id="rId116"/>
    <p:sldId id="490" r:id="rId117"/>
    <p:sldId id="491" r:id="rId118"/>
    <p:sldId id="492" r:id="rId119"/>
    <p:sldId id="493" r:id="rId120"/>
    <p:sldId id="495" r:id="rId121"/>
    <p:sldId id="496" r:id="rId122"/>
    <p:sldId id="497" r:id="rId123"/>
    <p:sldId id="498" r:id="rId124"/>
    <p:sldId id="499" r:id="rId125"/>
    <p:sldId id="494" r:id="rId126"/>
    <p:sldId id="267" r:id="rId127"/>
    <p:sldId id="268" r:id="rId128"/>
    <p:sldId id="269" r:id="rId129"/>
    <p:sldId id="270" r:id="rId130"/>
    <p:sldId id="455" r:id="rId131"/>
    <p:sldId id="271" r:id="rId132"/>
    <p:sldId id="509" r:id="rId133"/>
    <p:sldId id="507" r:id="rId134"/>
    <p:sldId id="508" r:id="rId135"/>
    <p:sldId id="272" r:id="rId136"/>
    <p:sldId id="510" r:id="rId137"/>
    <p:sldId id="511" r:id="rId138"/>
    <p:sldId id="456" r:id="rId139"/>
    <p:sldId id="512" r:id="rId140"/>
    <p:sldId id="513" r:id="rId141"/>
    <p:sldId id="273" r:id="rId142"/>
    <p:sldId id="274" r:id="rId143"/>
    <p:sldId id="457" r:id="rId144"/>
    <p:sldId id="606" r:id="rId145"/>
    <p:sldId id="607" r:id="rId146"/>
    <p:sldId id="608" r:id="rId147"/>
    <p:sldId id="609" r:id="rId148"/>
    <p:sldId id="610" r:id="rId149"/>
    <p:sldId id="617" r:id="rId150"/>
    <p:sldId id="275" r:id="rId151"/>
    <p:sldId id="458" r:id="rId152"/>
    <p:sldId id="276" r:id="rId153"/>
    <p:sldId id="277" r:id="rId154"/>
    <p:sldId id="514" r:id="rId155"/>
    <p:sldId id="515" r:id="rId156"/>
    <p:sldId id="516" r:id="rId157"/>
    <p:sldId id="517" r:id="rId158"/>
    <p:sldId id="278" r:id="rId159"/>
    <p:sldId id="459" r:id="rId160"/>
    <p:sldId id="520" r:id="rId161"/>
    <p:sldId id="521" r:id="rId162"/>
    <p:sldId id="522" r:id="rId163"/>
    <p:sldId id="279" r:id="rId164"/>
    <p:sldId id="280" r:id="rId165"/>
    <p:sldId id="281" r:id="rId166"/>
    <p:sldId id="519" r:id="rId167"/>
    <p:sldId id="518" r:id="rId168"/>
    <p:sldId id="282" r:id="rId169"/>
    <p:sldId id="283" r:id="rId170"/>
    <p:sldId id="284" r:id="rId171"/>
    <p:sldId id="285" r:id="rId172"/>
    <p:sldId id="286" r:id="rId173"/>
    <p:sldId id="287" r:id="rId174"/>
    <p:sldId id="288" r:id="rId175"/>
    <p:sldId id="289" r:id="rId176"/>
    <p:sldId id="605" r:id="rId177"/>
    <p:sldId id="524" r:id="rId178"/>
    <p:sldId id="525" r:id="rId179"/>
    <p:sldId id="526" r:id="rId180"/>
    <p:sldId id="523" r:id="rId181"/>
    <p:sldId id="290" r:id="rId182"/>
    <p:sldId id="291" r:id="rId183"/>
    <p:sldId id="292" r:id="rId184"/>
    <p:sldId id="418" r:id="rId1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2A4EF61-F79D-446F-BB70-94B618F8ADC6}"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C2245-3F9D-4336-A2A8-1870CFE94A2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2522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A4EF61-F79D-446F-BB70-94B618F8ADC6}"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C2245-3F9D-4336-A2A8-1870CFE94A2A}" type="slidenum">
              <a:rPr lang="en-US" smtClean="0"/>
              <a:t>‹#›</a:t>
            </a:fld>
            <a:endParaRPr lang="en-US"/>
          </a:p>
        </p:txBody>
      </p:sp>
    </p:spTree>
    <p:extLst>
      <p:ext uri="{BB962C8B-B14F-4D97-AF65-F5344CB8AC3E}">
        <p14:creationId xmlns:p14="http://schemas.microsoft.com/office/powerpoint/2010/main" val="2089299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2A4EF61-F79D-446F-BB70-94B618F8ADC6}"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C2245-3F9D-4336-A2A8-1870CFE94A2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2353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2A4EF61-F79D-446F-BB70-94B618F8ADC6}"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DC2245-3F9D-4336-A2A8-1870CFE94A2A}" type="slidenum">
              <a:rPr lang="en-US" smtClean="0"/>
              <a:t>‹#›</a:t>
            </a:fld>
            <a:endParaRPr lang="en-US"/>
          </a:p>
        </p:txBody>
      </p:sp>
    </p:spTree>
    <p:extLst>
      <p:ext uri="{BB962C8B-B14F-4D97-AF65-F5344CB8AC3E}">
        <p14:creationId xmlns:p14="http://schemas.microsoft.com/office/powerpoint/2010/main" val="1528217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2A4EF61-F79D-446F-BB70-94B618F8ADC6}" type="datetimeFigureOut">
              <a:rPr lang="en-US" smtClean="0"/>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DC2245-3F9D-4336-A2A8-1870CFE94A2A}" type="slidenum">
              <a:rPr lang="en-US" smtClean="0"/>
              <a:t>‹#›</a:t>
            </a:fld>
            <a:endParaRPr lang="en-US"/>
          </a:p>
        </p:txBody>
      </p:sp>
    </p:spTree>
    <p:extLst>
      <p:ext uri="{BB962C8B-B14F-4D97-AF65-F5344CB8AC3E}">
        <p14:creationId xmlns:p14="http://schemas.microsoft.com/office/powerpoint/2010/main" val="1714575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2A4EF61-F79D-446F-BB70-94B618F8ADC6}" type="datetimeFigureOut">
              <a:rPr lang="en-US" smtClean="0"/>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DC2245-3F9D-4336-A2A8-1870CFE94A2A}" type="slidenum">
              <a:rPr lang="en-US" smtClean="0"/>
              <a:t>‹#›</a:t>
            </a:fld>
            <a:endParaRPr lang="en-US"/>
          </a:p>
        </p:txBody>
      </p:sp>
    </p:spTree>
    <p:extLst>
      <p:ext uri="{BB962C8B-B14F-4D97-AF65-F5344CB8AC3E}">
        <p14:creationId xmlns:p14="http://schemas.microsoft.com/office/powerpoint/2010/main" val="49374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A4EF61-F79D-446F-BB70-94B618F8ADC6}" type="datetimeFigureOut">
              <a:rPr lang="en-US" smtClean="0"/>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DC2245-3F9D-4336-A2A8-1870CFE94A2A}" type="slidenum">
              <a:rPr lang="en-US" smtClean="0"/>
              <a:t>‹#›</a:t>
            </a:fld>
            <a:endParaRPr lang="en-US"/>
          </a:p>
        </p:txBody>
      </p:sp>
    </p:spTree>
    <p:extLst>
      <p:ext uri="{BB962C8B-B14F-4D97-AF65-F5344CB8AC3E}">
        <p14:creationId xmlns:p14="http://schemas.microsoft.com/office/powerpoint/2010/main" val="2554635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A4EF61-F79D-446F-BB70-94B618F8ADC6}"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DC2245-3F9D-4336-A2A8-1870CFE94A2A}" type="slidenum">
              <a:rPr lang="en-US" smtClean="0"/>
              <a:t>‹#›</a:t>
            </a:fld>
            <a:endParaRPr lang="en-US"/>
          </a:p>
        </p:txBody>
      </p:sp>
    </p:spTree>
    <p:extLst>
      <p:ext uri="{BB962C8B-B14F-4D97-AF65-F5344CB8AC3E}">
        <p14:creationId xmlns:p14="http://schemas.microsoft.com/office/powerpoint/2010/main" val="298700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A4EF61-F79D-446F-BB70-94B618F8ADC6}"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DC2245-3F9D-4336-A2A8-1870CFE94A2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687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A4EF61-F79D-446F-BB70-94B618F8ADC6}"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C2245-3F9D-4336-A2A8-1870CFE94A2A}" type="slidenum">
              <a:rPr lang="en-US" smtClean="0"/>
              <a:t>‹#›</a:t>
            </a:fld>
            <a:endParaRPr lang="en-US"/>
          </a:p>
        </p:txBody>
      </p:sp>
    </p:spTree>
    <p:extLst>
      <p:ext uri="{BB962C8B-B14F-4D97-AF65-F5344CB8AC3E}">
        <p14:creationId xmlns:p14="http://schemas.microsoft.com/office/powerpoint/2010/main" val="275242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A4EF61-F79D-446F-BB70-94B618F8ADC6}"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C2245-3F9D-4336-A2A8-1870CFE94A2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8497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2A4EF61-F79D-446F-BB70-94B618F8ADC6}" type="datetimeFigureOut">
              <a:rPr lang="en-US" smtClean="0"/>
              <a:t>11/16/2025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BDC2245-3F9D-4336-A2A8-1870CFE94A2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8701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3.emf"/></Relationships>
</file>

<file path=ppt/slides/_rels/slide18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 </a:t>
            </a:r>
            <a:br>
              <a:rPr lang="en-US" dirty="0" smtClean="0"/>
            </a:br>
            <a:r>
              <a:rPr lang="en-US" dirty="0" smtClean="0"/>
              <a:t> Ophthalmic</a:t>
            </a:r>
            <a:br>
              <a:rPr lang="en-US" dirty="0" smtClean="0"/>
            </a:br>
            <a:r>
              <a:rPr lang="en-US" dirty="0" smtClean="0"/>
              <a:t>Anesthesia</a:t>
            </a:r>
            <a:br>
              <a:rPr lang="en-US" dirty="0" smtClean="0"/>
            </a:br>
            <a:r>
              <a:rPr lang="en-US" dirty="0" smtClean="0"/>
              <a:t>2025/26    </a:t>
            </a:r>
            <a:br>
              <a:rPr lang="en-US" dirty="0" smtClean="0"/>
            </a:br>
            <a:endParaRPr lang="en-US" dirty="0"/>
          </a:p>
        </p:txBody>
      </p:sp>
      <p:sp>
        <p:nvSpPr>
          <p:cNvPr id="3" name="Subtitle 2"/>
          <p:cNvSpPr>
            <a:spLocks noGrp="1"/>
          </p:cNvSpPr>
          <p:nvPr>
            <p:ph type="subTitle" idx="1"/>
          </p:nvPr>
        </p:nvSpPr>
        <p:spPr/>
        <p:txBody>
          <a:bodyPr/>
          <a:lstStyle/>
          <a:p>
            <a:r>
              <a:rPr lang="en-US" dirty="0" err="1" smtClean="0"/>
              <a:t>Leulayehu</a:t>
            </a:r>
            <a:r>
              <a:rPr lang="en-US" dirty="0" smtClean="0"/>
              <a:t> </a:t>
            </a:r>
            <a:r>
              <a:rPr lang="en-US" dirty="0" err="1" smtClean="0"/>
              <a:t>Akalu</a:t>
            </a:r>
            <a:r>
              <a:rPr lang="en-US" dirty="0" smtClean="0"/>
              <a:t> </a:t>
            </a:r>
          </a:p>
          <a:p>
            <a:r>
              <a:rPr lang="en-US" dirty="0" smtClean="0"/>
              <a:t>Ass Prof </a:t>
            </a:r>
            <a:endParaRPr lang="en-US" dirty="0"/>
          </a:p>
        </p:txBody>
      </p:sp>
    </p:spTree>
    <p:extLst>
      <p:ext uri="{BB962C8B-B14F-4D97-AF65-F5344CB8AC3E}">
        <p14:creationId xmlns:p14="http://schemas.microsoft.com/office/powerpoint/2010/main" val="1431511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a:t>
            </a:r>
            <a:endParaRPr lang="en-US" dirty="0"/>
          </a:p>
        </p:txBody>
      </p:sp>
      <p:sp>
        <p:nvSpPr>
          <p:cNvPr id="3" name="Content Placeholder 2"/>
          <p:cNvSpPr>
            <a:spLocks noGrp="1"/>
          </p:cNvSpPr>
          <p:nvPr>
            <p:ph idx="1"/>
          </p:nvPr>
        </p:nvSpPr>
        <p:spPr/>
        <p:txBody>
          <a:bodyPr>
            <a:normAutofit/>
          </a:bodyPr>
          <a:lstStyle/>
          <a:p>
            <a:r>
              <a:rPr lang="en-US" sz="3600" dirty="0" smtClean="0"/>
              <a:t>Provide safe anesthesia for emergency and elective ophthalmic procedures .</a:t>
            </a:r>
            <a:endParaRPr lang="en-US" sz="3600" dirty="0"/>
          </a:p>
        </p:txBody>
      </p:sp>
    </p:spTree>
    <p:extLst>
      <p:ext uri="{BB962C8B-B14F-4D97-AF65-F5344CB8AC3E}">
        <p14:creationId xmlns:p14="http://schemas.microsoft.com/office/powerpoint/2010/main" val="1596926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US" dirty="0"/>
          </a:p>
        </p:txBody>
      </p:sp>
      <p:sp>
        <p:nvSpPr>
          <p:cNvPr id="3" name="Content Placeholder 2"/>
          <p:cNvSpPr>
            <a:spLocks noGrp="1"/>
          </p:cNvSpPr>
          <p:nvPr>
            <p:ph idx="1"/>
          </p:nvPr>
        </p:nvSpPr>
        <p:spPr/>
        <p:txBody>
          <a:bodyPr>
            <a:normAutofit/>
          </a:bodyPr>
          <a:lstStyle/>
          <a:p>
            <a:r>
              <a:rPr lang="en-US" sz="3200" dirty="0"/>
              <a:t>Ophthalmic surgery is one of the most common procedures that require anesthesia. </a:t>
            </a:r>
            <a:endParaRPr lang="en-US" sz="3200" dirty="0" smtClean="0"/>
          </a:p>
          <a:p>
            <a:r>
              <a:rPr lang="en-US" sz="3200" dirty="0" smtClean="0"/>
              <a:t>Anesthesia Options in ophthalmology include </a:t>
            </a:r>
            <a:r>
              <a:rPr lang="en-US" sz="3200" dirty="0"/>
              <a:t>local anesthetic options such as </a:t>
            </a:r>
            <a:r>
              <a:rPr lang="en-US" sz="3200" dirty="0">
                <a:solidFill>
                  <a:srgbClr val="FF0000"/>
                </a:solidFill>
              </a:rPr>
              <a:t>topical, sub-</a:t>
            </a:r>
            <a:r>
              <a:rPr lang="en-US" sz="3200" dirty="0" err="1">
                <a:solidFill>
                  <a:srgbClr val="FF0000"/>
                </a:solidFill>
              </a:rPr>
              <a:t>Tenon's</a:t>
            </a:r>
            <a:r>
              <a:rPr lang="en-US" sz="3200" dirty="0">
                <a:solidFill>
                  <a:srgbClr val="FF0000"/>
                </a:solidFill>
              </a:rPr>
              <a:t>, </a:t>
            </a:r>
            <a:r>
              <a:rPr lang="en-US" sz="3200" dirty="0" err="1" smtClean="0">
                <a:solidFill>
                  <a:srgbClr val="FF0000"/>
                </a:solidFill>
              </a:rPr>
              <a:t>peri</a:t>
            </a:r>
            <a:r>
              <a:rPr lang="en-US" sz="3200" dirty="0" smtClean="0">
                <a:solidFill>
                  <a:srgbClr val="FF0000"/>
                </a:solidFill>
              </a:rPr>
              <a:t> bulbar </a:t>
            </a:r>
            <a:r>
              <a:rPr lang="en-US" sz="3200" dirty="0">
                <a:solidFill>
                  <a:srgbClr val="FF0000"/>
                </a:solidFill>
              </a:rPr>
              <a:t>and </a:t>
            </a:r>
            <a:r>
              <a:rPr lang="en-US" sz="3200" dirty="0" smtClean="0">
                <a:solidFill>
                  <a:srgbClr val="FF0000"/>
                </a:solidFill>
              </a:rPr>
              <a:t>retro bulbar</a:t>
            </a:r>
            <a:r>
              <a:rPr lang="en-US" sz="3200" dirty="0">
                <a:solidFill>
                  <a:srgbClr val="FF0000"/>
                </a:solidFill>
              </a:rPr>
              <a:t> techniques as well as general anesthesia</a:t>
            </a:r>
            <a:r>
              <a:rPr lang="en-US" sz="3200" dirty="0"/>
              <a:t>.</a:t>
            </a:r>
          </a:p>
        </p:txBody>
      </p:sp>
    </p:spTree>
    <p:extLst>
      <p:ext uri="{BB962C8B-B14F-4D97-AF65-F5344CB8AC3E}">
        <p14:creationId xmlns:p14="http://schemas.microsoft.com/office/powerpoint/2010/main" val="1298143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Indications of regional techniques </a:t>
            </a:r>
            <a:endParaRPr lang="en-US" dirty="0"/>
          </a:p>
        </p:txBody>
      </p:sp>
      <p:sp>
        <p:nvSpPr>
          <p:cNvPr id="3" name="Content Placeholder 2"/>
          <p:cNvSpPr>
            <a:spLocks noGrp="1"/>
          </p:cNvSpPr>
          <p:nvPr>
            <p:ph idx="1"/>
          </p:nvPr>
        </p:nvSpPr>
        <p:spPr/>
        <p:txBody>
          <a:bodyPr/>
          <a:lstStyle/>
          <a:p>
            <a:r>
              <a:rPr lang="en-US" sz="2800" dirty="0" smtClean="0"/>
              <a:t>Regional anesthesia </a:t>
            </a:r>
            <a:r>
              <a:rPr lang="en-US" sz="2800" dirty="0"/>
              <a:t>is indicated in that subset of ophthalmologic surgeries in which general anesthesia is not needed, and </a:t>
            </a:r>
            <a:r>
              <a:rPr lang="en-US" sz="2800" dirty="0">
                <a:solidFill>
                  <a:srgbClr val="FF0000"/>
                </a:solidFill>
              </a:rPr>
              <a:t>particularly for those surgeries requiring patient cooperation</a:t>
            </a:r>
            <a:r>
              <a:rPr lang="en-US" sz="2800" dirty="0"/>
              <a:t>. The subset of surgeries appropriate for regional ocular anesthetic includes nearly all </a:t>
            </a:r>
            <a:r>
              <a:rPr lang="en-US" sz="2800" dirty="0">
                <a:solidFill>
                  <a:srgbClr val="FF0000"/>
                </a:solidFill>
              </a:rPr>
              <a:t>intraocular surgeries</a:t>
            </a:r>
            <a:r>
              <a:rPr lang="en-US" sz="2800" dirty="0"/>
              <a:t>, including for </a:t>
            </a:r>
            <a:r>
              <a:rPr lang="en-US" sz="2800" dirty="0" smtClean="0"/>
              <a:t>example</a:t>
            </a:r>
            <a:r>
              <a:rPr lang="en-US" sz="2800" dirty="0"/>
              <a:t> </a:t>
            </a:r>
            <a:r>
              <a:rPr lang="en-US" sz="2800" dirty="0" smtClean="0">
                <a:solidFill>
                  <a:srgbClr val="FF0000"/>
                </a:solidFill>
              </a:rPr>
              <a:t>cataract</a:t>
            </a:r>
            <a:r>
              <a:rPr lang="en-US" sz="2800" dirty="0">
                <a:solidFill>
                  <a:srgbClr val="FF0000"/>
                </a:solidFill>
              </a:rPr>
              <a:t> removal, corneal transplantation, glaucoma surgeries, </a:t>
            </a:r>
            <a:r>
              <a:rPr lang="en-US" sz="2800" dirty="0" err="1">
                <a:solidFill>
                  <a:srgbClr val="FF0000"/>
                </a:solidFill>
              </a:rPr>
              <a:t>vitreoretinal</a:t>
            </a:r>
            <a:r>
              <a:rPr lang="en-US" sz="2800" dirty="0">
                <a:solidFill>
                  <a:srgbClr val="FF0000"/>
                </a:solidFill>
              </a:rPr>
              <a:t> surgeries, scleral buckling, strabismus repair, and </a:t>
            </a:r>
            <a:r>
              <a:rPr lang="en-US" sz="2800" u="sng" dirty="0" smtClean="0">
                <a:solidFill>
                  <a:srgbClr val="FF0000"/>
                </a:solidFill>
              </a:rPr>
              <a:t>Enoculations </a:t>
            </a:r>
            <a:r>
              <a:rPr lang="en-US" sz="2800" dirty="0" smtClean="0"/>
              <a:t>.</a:t>
            </a:r>
            <a:endParaRPr lang="en-US" dirty="0"/>
          </a:p>
        </p:txBody>
      </p:sp>
    </p:spTree>
    <p:extLst>
      <p:ext uri="{BB962C8B-B14F-4D97-AF65-F5344CB8AC3E}">
        <p14:creationId xmlns:p14="http://schemas.microsoft.com/office/powerpoint/2010/main" val="2566623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Patient </a:t>
            </a:r>
            <a:r>
              <a:rPr lang="en-US" b="1" dirty="0" smtClean="0"/>
              <a:t>preparation before regional anesthesia </a:t>
            </a:r>
            <a:endParaRPr lang="en-US" dirty="0"/>
          </a:p>
        </p:txBody>
      </p:sp>
      <p:sp>
        <p:nvSpPr>
          <p:cNvPr id="3" name="Content Placeholder 2"/>
          <p:cNvSpPr>
            <a:spLocks noGrp="1"/>
          </p:cNvSpPr>
          <p:nvPr>
            <p:ph idx="1"/>
          </p:nvPr>
        </p:nvSpPr>
        <p:spPr/>
        <p:txBody>
          <a:bodyPr>
            <a:normAutofit fontScale="92500" lnSpcReduction="20000"/>
          </a:bodyPr>
          <a:lstStyle/>
          <a:p>
            <a:r>
              <a:rPr lang="en-US" sz="2800" b="1" dirty="0" smtClean="0">
                <a:solidFill>
                  <a:srgbClr val="FF0000"/>
                </a:solidFill>
              </a:rPr>
              <a:t>Education</a:t>
            </a:r>
            <a:endParaRPr lang="en-US" sz="2800" dirty="0">
              <a:solidFill>
                <a:srgbClr val="FF0000"/>
              </a:solidFill>
            </a:endParaRPr>
          </a:p>
          <a:p>
            <a:r>
              <a:rPr lang="en-US" sz="2800" dirty="0"/>
              <a:t>Patient education about what to expect prior to surgery is important to reduce anxiety and increase compliance</a:t>
            </a:r>
            <a:r>
              <a:rPr lang="en-US" sz="2800" dirty="0" smtClean="0"/>
              <a:t>.</a:t>
            </a:r>
            <a:endParaRPr lang="en-US" sz="2800" dirty="0"/>
          </a:p>
          <a:p>
            <a:r>
              <a:rPr lang="en-US" sz="2800" b="1" dirty="0">
                <a:solidFill>
                  <a:srgbClr val="FF0000"/>
                </a:solidFill>
              </a:rPr>
              <a:t>Preoperative assessment</a:t>
            </a:r>
            <a:endParaRPr lang="en-US" sz="2800" dirty="0">
              <a:solidFill>
                <a:srgbClr val="FF0000"/>
              </a:solidFill>
            </a:endParaRPr>
          </a:p>
          <a:p>
            <a:r>
              <a:rPr lang="en-US" sz="2800" dirty="0"/>
              <a:t>Specifically ask about </a:t>
            </a:r>
            <a:r>
              <a:rPr lang="en-US" sz="2800" dirty="0">
                <a:solidFill>
                  <a:srgbClr val="FF0000"/>
                </a:solidFill>
              </a:rPr>
              <a:t>bleeding disorders, and anti-coagulant or anti-platelet drugs.</a:t>
            </a:r>
            <a:r>
              <a:rPr lang="en-US" sz="2800" dirty="0"/>
              <a:t> Note that patients receiving anti-coagulants may continue medications as long as </a:t>
            </a:r>
            <a:r>
              <a:rPr lang="en-US" sz="2800" dirty="0">
                <a:solidFill>
                  <a:srgbClr val="FF0000"/>
                </a:solidFill>
              </a:rPr>
              <a:t>levels are within therapeutic ranges</a:t>
            </a:r>
            <a:r>
              <a:rPr lang="en-US" sz="2800" dirty="0"/>
              <a:t>, whereas there is no current recommendation for patients on anti-platelet </a:t>
            </a:r>
            <a:r>
              <a:rPr lang="en-US" sz="2800" dirty="0" smtClean="0"/>
              <a:t>agents. </a:t>
            </a:r>
            <a:r>
              <a:rPr lang="en-US" sz="2800" dirty="0"/>
              <a:t>An </a:t>
            </a:r>
            <a:r>
              <a:rPr lang="en-US" sz="2800" dirty="0">
                <a:solidFill>
                  <a:srgbClr val="FF0000"/>
                </a:solidFill>
              </a:rPr>
              <a:t>axial length measurement of the eye may be useful if considering a </a:t>
            </a:r>
            <a:r>
              <a:rPr lang="en-US" sz="2800" dirty="0" err="1">
                <a:solidFill>
                  <a:srgbClr val="FF0000"/>
                </a:solidFill>
              </a:rPr>
              <a:t>retrobulbar</a:t>
            </a:r>
            <a:r>
              <a:rPr lang="en-US" sz="2800" dirty="0">
                <a:solidFill>
                  <a:srgbClr val="FF0000"/>
                </a:solidFill>
              </a:rPr>
              <a:t> block, for </a:t>
            </a:r>
            <a:r>
              <a:rPr lang="en-US" sz="2800" dirty="0"/>
              <a:t>the increased risk of globe or optic nerve damage in long eyes</a:t>
            </a:r>
            <a:r>
              <a:rPr lang="en-US" dirty="0" smtClean="0"/>
              <a:t>.</a:t>
            </a:r>
            <a:endParaRPr lang="en-US" dirty="0"/>
          </a:p>
        </p:txBody>
      </p:sp>
    </p:spTree>
    <p:extLst>
      <p:ext uri="{BB962C8B-B14F-4D97-AF65-F5344CB8AC3E}">
        <p14:creationId xmlns:p14="http://schemas.microsoft.com/office/powerpoint/2010/main" val="78251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Axial length </a:t>
            </a:r>
            <a:endParaRPr lang="en-US" dirty="0"/>
          </a:p>
        </p:txBody>
      </p:sp>
      <p:sp>
        <p:nvSpPr>
          <p:cNvPr id="3" name="Content Placeholder 2"/>
          <p:cNvSpPr>
            <a:spLocks noGrp="1"/>
          </p:cNvSpPr>
          <p:nvPr>
            <p:ph idx="1"/>
          </p:nvPr>
        </p:nvSpPr>
        <p:spPr/>
        <p:txBody>
          <a:bodyPr/>
          <a:lstStyle/>
          <a:p>
            <a:r>
              <a:rPr lang="en-US" dirty="0"/>
              <a:t>The axial length of the eye is the measure from </a:t>
            </a:r>
            <a:r>
              <a:rPr lang="en-US" dirty="0">
                <a:solidFill>
                  <a:srgbClr val="FF0000"/>
                </a:solidFill>
              </a:rPr>
              <a:t>front to back</a:t>
            </a:r>
            <a:r>
              <a:rPr lang="en-US" dirty="0"/>
              <a:t> – measured from the front surface of the cornea (the clear window over the </a:t>
            </a:r>
            <a:r>
              <a:rPr lang="en-US" dirty="0" err="1"/>
              <a:t>coloured</a:t>
            </a:r>
            <a:r>
              <a:rPr lang="en-US" dirty="0"/>
              <a:t> iris of the eye) right through to the back curve of the eye underlying the retina (the light sensitive layer at the back of the eye</a:t>
            </a:r>
            <a:r>
              <a:rPr lang="en-US" dirty="0" smtClean="0"/>
              <a:t>)..</a:t>
            </a:r>
            <a:r>
              <a:rPr lang="en-US" dirty="0"/>
              <a:t> The mean adult values for axial length are </a:t>
            </a:r>
            <a:r>
              <a:rPr lang="en-US" dirty="0">
                <a:solidFill>
                  <a:srgbClr val="FF0000"/>
                </a:solidFill>
              </a:rPr>
              <a:t>22-25 </a:t>
            </a:r>
            <a:r>
              <a:rPr lang="en-US" dirty="0" smtClean="0">
                <a:solidFill>
                  <a:srgbClr val="FF0000"/>
                </a:solidFill>
              </a:rPr>
              <a:t>mm </a:t>
            </a:r>
            <a:r>
              <a:rPr lang="en-US" dirty="0" smtClean="0"/>
              <a:t>and </a:t>
            </a:r>
            <a:r>
              <a:rPr lang="en-US" dirty="0"/>
              <a:t>mean refractive power -25.0 -+1.0 D. The mean depth of the anterior chamber in an adult </a:t>
            </a:r>
            <a:r>
              <a:rPr lang="en-US" dirty="0" err="1">
                <a:solidFill>
                  <a:srgbClr val="FF0000"/>
                </a:solidFill>
              </a:rPr>
              <a:t>emmetropic</a:t>
            </a:r>
            <a:r>
              <a:rPr lang="en-US" dirty="0">
                <a:solidFill>
                  <a:srgbClr val="FF0000"/>
                </a:solidFill>
              </a:rPr>
              <a:t> eye is 3-4 mm</a:t>
            </a:r>
            <a:r>
              <a:rPr lang="en-US" dirty="0" smtClean="0">
                <a:solidFill>
                  <a:srgbClr val="FF0000"/>
                </a:solidFill>
              </a:rPr>
              <a:t>.</a:t>
            </a:r>
            <a:r>
              <a:rPr lang="en-US" dirty="0">
                <a:solidFill>
                  <a:srgbClr val="FF0000"/>
                </a:solidFill>
              </a:rPr>
              <a:t> a person with perfect vision, also known as '20/20 sight</a:t>
            </a:r>
            <a:endParaRPr lang="en-US" dirty="0" smtClean="0">
              <a:solidFill>
                <a:srgbClr val="FF0000"/>
              </a:solidFill>
            </a:endParaRPr>
          </a:p>
          <a:p>
            <a:r>
              <a:rPr lang="en-US" dirty="0" smtClean="0"/>
              <a:t>Axial length measured by </a:t>
            </a:r>
            <a:r>
              <a:rPr lang="es-ES" dirty="0" err="1">
                <a:solidFill>
                  <a:srgbClr val="FF0000"/>
                </a:solidFill>
              </a:rPr>
              <a:t>Myopia</a:t>
            </a:r>
            <a:r>
              <a:rPr lang="es-ES" dirty="0">
                <a:solidFill>
                  <a:srgbClr val="FF0000"/>
                </a:solidFill>
              </a:rPr>
              <a:t> </a:t>
            </a:r>
            <a:r>
              <a:rPr lang="es-ES" dirty="0" err="1">
                <a:solidFill>
                  <a:srgbClr val="FF0000"/>
                </a:solidFill>
              </a:rPr>
              <a:t>Expert</a:t>
            </a:r>
            <a:r>
              <a:rPr lang="es-ES" dirty="0">
                <a:solidFill>
                  <a:srgbClr val="FF0000"/>
                </a:solidFill>
              </a:rPr>
              <a:t> 700 </a:t>
            </a:r>
            <a:r>
              <a:rPr lang="es-ES" dirty="0" err="1">
                <a:solidFill>
                  <a:srgbClr val="FF0000"/>
                </a:solidFill>
              </a:rPr>
              <a:t>optical</a:t>
            </a:r>
            <a:r>
              <a:rPr lang="es-ES" dirty="0">
                <a:solidFill>
                  <a:srgbClr val="FF0000"/>
                </a:solidFill>
              </a:rPr>
              <a:t> </a:t>
            </a:r>
            <a:r>
              <a:rPr lang="es-ES" dirty="0" err="1">
                <a:solidFill>
                  <a:srgbClr val="FF0000"/>
                </a:solidFill>
              </a:rPr>
              <a:t>biometer</a:t>
            </a:r>
            <a:endParaRPr lang="en-US" dirty="0">
              <a:solidFill>
                <a:srgbClr val="FF0000"/>
              </a:solidFill>
            </a:endParaRPr>
          </a:p>
          <a:p>
            <a:r>
              <a:rPr lang="en-US" dirty="0"/>
              <a:t>Accumulating evidence from human studies point out that both heredity and the environment contribute to the refractive power of the </a:t>
            </a:r>
            <a:r>
              <a:rPr lang="en-US" dirty="0" smtClean="0"/>
              <a:t>eye</a:t>
            </a:r>
          </a:p>
          <a:p>
            <a:r>
              <a:rPr lang="en-US" sz="1200" b="1" dirty="0">
                <a:solidFill>
                  <a:srgbClr val="7030A0"/>
                </a:solidFill>
              </a:rPr>
              <a:t>Axial Length, Anterior Chamber Depth-A Study in Different Age Groups and Refractive </a:t>
            </a:r>
            <a:r>
              <a:rPr lang="en-US" sz="1200" b="1" dirty="0" smtClean="0">
                <a:solidFill>
                  <a:srgbClr val="7030A0"/>
                </a:solidFill>
              </a:rPr>
              <a:t>Errors (Study )</a:t>
            </a:r>
            <a:endParaRPr lang="en-US" sz="1200" b="1" dirty="0">
              <a:solidFill>
                <a:srgbClr val="7030A0"/>
              </a:solidFill>
            </a:endParaRPr>
          </a:p>
          <a:p>
            <a:endParaRPr lang="en-US" dirty="0">
              <a:solidFill>
                <a:srgbClr val="7030A0"/>
              </a:solidFill>
            </a:endParaRPr>
          </a:p>
          <a:p>
            <a:endParaRPr lang="en-US" dirty="0">
              <a:solidFill>
                <a:srgbClr val="FF0000"/>
              </a:solidFill>
            </a:endParaRPr>
          </a:p>
        </p:txBody>
      </p:sp>
    </p:spTree>
    <p:extLst>
      <p:ext uri="{BB962C8B-B14F-4D97-AF65-F5344CB8AC3E}">
        <p14:creationId xmlns:p14="http://schemas.microsoft.com/office/powerpoint/2010/main" val="2017004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Key concepts in ophthalmology </a:t>
            </a:r>
            <a:endParaRPr lang="en-US" dirty="0">
              <a:solidFill>
                <a:srgbClr val="FF0000"/>
              </a:solidFill>
            </a:endParaRPr>
          </a:p>
        </p:txBody>
      </p:sp>
      <p:sp>
        <p:nvSpPr>
          <p:cNvPr id="3" name="Content Placeholder 2"/>
          <p:cNvSpPr>
            <a:spLocks noGrp="1"/>
          </p:cNvSpPr>
          <p:nvPr>
            <p:ph idx="1"/>
          </p:nvPr>
        </p:nvSpPr>
        <p:spPr/>
        <p:txBody>
          <a:bodyPr/>
          <a:lstStyle/>
          <a:p>
            <a:r>
              <a:rPr lang="en-US" sz="3200" dirty="0"/>
              <a:t>Any factor that normally </a:t>
            </a:r>
            <a:r>
              <a:rPr lang="en-US" sz="3200" dirty="0">
                <a:solidFill>
                  <a:srgbClr val="FF0000"/>
                </a:solidFill>
              </a:rPr>
              <a:t>increases intraocular pressure will tend to decrease intraocular volume by causing drainage of aqueous or extrusion of vitreous through the wound</a:t>
            </a:r>
            <a:r>
              <a:rPr lang="en-US" sz="3200" dirty="0"/>
              <a:t>. The latter is a serious complication that can permanently worsen vision. </a:t>
            </a:r>
          </a:p>
          <a:p>
            <a:r>
              <a:rPr lang="en-US" sz="3200" dirty="0">
                <a:solidFill>
                  <a:srgbClr val="FF0000"/>
                </a:solidFill>
              </a:rPr>
              <a:t>Succinylcholine increases intraocular pressure by 5–10 mm Hg for 5–10 min </a:t>
            </a:r>
            <a:r>
              <a:rPr lang="en-US" sz="3200" dirty="0"/>
              <a:t>after administration, principally through prolonged contracture of the extra ocular muscles</a:t>
            </a:r>
            <a:r>
              <a:rPr lang="en-US" dirty="0"/>
              <a:t>. </a:t>
            </a:r>
          </a:p>
        </p:txBody>
      </p:sp>
    </p:spTree>
    <p:extLst>
      <p:ext uri="{BB962C8B-B14F-4D97-AF65-F5344CB8AC3E}">
        <p14:creationId xmlns:p14="http://schemas.microsoft.com/office/powerpoint/2010/main" val="542658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concept </a:t>
            </a:r>
            <a:endParaRPr lang="en-US" dirty="0"/>
          </a:p>
        </p:txBody>
      </p:sp>
      <p:sp>
        <p:nvSpPr>
          <p:cNvPr id="3" name="Content Placeholder 2"/>
          <p:cNvSpPr>
            <a:spLocks noGrp="1"/>
          </p:cNvSpPr>
          <p:nvPr>
            <p:ph idx="1"/>
          </p:nvPr>
        </p:nvSpPr>
        <p:spPr/>
        <p:txBody>
          <a:bodyPr>
            <a:normAutofit/>
          </a:bodyPr>
          <a:lstStyle/>
          <a:p>
            <a:r>
              <a:rPr lang="en-US" sz="2800" dirty="0">
                <a:solidFill>
                  <a:srgbClr val="FF0000"/>
                </a:solidFill>
              </a:rPr>
              <a:t>Traction on extra ocular muscles or pressure on the eyeball </a:t>
            </a:r>
            <a:r>
              <a:rPr lang="en-US" sz="2800" dirty="0"/>
              <a:t>can elicit a wide variety of </a:t>
            </a:r>
            <a:r>
              <a:rPr lang="en-US" sz="2800" dirty="0">
                <a:solidFill>
                  <a:srgbClr val="FF0000"/>
                </a:solidFill>
              </a:rPr>
              <a:t>cardiac dysrhythmias </a:t>
            </a:r>
            <a:r>
              <a:rPr lang="en-US" sz="2800" dirty="0"/>
              <a:t>ranging from bradycardia and ventricular ectopic to sinus arrest or ventricular fibrillation. </a:t>
            </a:r>
          </a:p>
          <a:p>
            <a:r>
              <a:rPr lang="en-US" sz="2800" dirty="0"/>
              <a:t>Complications involving the </a:t>
            </a:r>
            <a:r>
              <a:rPr lang="en-US" sz="2800" dirty="0">
                <a:solidFill>
                  <a:srgbClr val="FF0000"/>
                </a:solidFill>
              </a:rPr>
              <a:t>intraocular expansion of gas bubbles </a:t>
            </a:r>
            <a:r>
              <a:rPr lang="en-US" sz="2800" dirty="0"/>
              <a:t>can be avoided by </a:t>
            </a:r>
            <a:r>
              <a:rPr lang="en-US" sz="2800" dirty="0">
                <a:solidFill>
                  <a:srgbClr val="FF0000"/>
                </a:solidFill>
              </a:rPr>
              <a:t>discontinuing nitrous oxide at least 15 min </a:t>
            </a:r>
            <a:r>
              <a:rPr lang="en-US" sz="2800" dirty="0"/>
              <a:t>prior to the injection of air or </a:t>
            </a:r>
            <a:r>
              <a:rPr lang="en-US" sz="2800" dirty="0">
                <a:solidFill>
                  <a:srgbClr val="FF0000"/>
                </a:solidFill>
              </a:rPr>
              <a:t>sulfur hexafluoride</a:t>
            </a:r>
            <a:r>
              <a:rPr lang="en-US" sz="2800" dirty="0"/>
              <a:t>. </a:t>
            </a:r>
          </a:p>
        </p:txBody>
      </p:sp>
    </p:spTree>
    <p:extLst>
      <p:ext uri="{BB962C8B-B14F-4D97-AF65-F5344CB8AC3E}">
        <p14:creationId xmlns:p14="http://schemas.microsoft.com/office/powerpoint/2010/main" val="474487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concept </a:t>
            </a:r>
          </a:p>
        </p:txBody>
      </p:sp>
      <p:sp>
        <p:nvSpPr>
          <p:cNvPr id="3" name="Content Placeholder 2"/>
          <p:cNvSpPr>
            <a:spLocks noGrp="1"/>
          </p:cNvSpPr>
          <p:nvPr>
            <p:ph idx="1"/>
          </p:nvPr>
        </p:nvSpPr>
        <p:spPr/>
        <p:txBody>
          <a:bodyPr>
            <a:normAutofit/>
          </a:bodyPr>
          <a:lstStyle/>
          <a:p>
            <a:r>
              <a:rPr lang="en-US" sz="2800" dirty="0">
                <a:solidFill>
                  <a:srgbClr val="FF0000"/>
                </a:solidFill>
              </a:rPr>
              <a:t>Topically applied drugs are absorbed </a:t>
            </a:r>
            <a:r>
              <a:rPr lang="en-US" sz="2800" dirty="0"/>
              <a:t>at a rate intermediate between absorption following intravenous and subcutaneous injection. </a:t>
            </a:r>
          </a:p>
        </p:txBody>
      </p:sp>
    </p:spTree>
    <p:extLst>
      <p:ext uri="{BB962C8B-B14F-4D97-AF65-F5344CB8AC3E}">
        <p14:creationId xmlns:p14="http://schemas.microsoft.com/office/powerpoint/2010/main" val="1051109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a:solidFill>
                  <a:srgbClr val="FF0000"/>
                </a:solidFill>
              </a:rPr>
              <a:t>Echothiophate is an irreversible cholinesterase inhibitor </a:t>
            </a:r>
            <a:r>
              <a:rPr lang="en-US" sz="2400" dirty="0"/>
              <a:t>used in the treatment of </a:t>
            </a:r>
            <a:r>
              <a:rPr lang="en-US" sz="2400" dirty="0">
                <a:solidFill>
                  <a:srgbClr val="FF0000"/>
                </a:solidFill>
              </a:rPr>
              <a:t>glaucoma</a:t>
            </a:r>
            <a:r>
              <a:rPr lang="en-US" sz="2400" dirty="0"/>
              <a:t>. Topical application leads to systemic absorption and a reduction in plasma cholinesterase activity. Because </a:t>
            </a:r>
            <a:r>
              <a:rPr lang="en-US" sz="2400" dirty="0">
                <a:solidFill>
                  <a:srgbClr val="FF0000"/>
                </a:solidFill>
              </a:rPr>
              <a:t>succinylcholine and mivacurium are metabolized by this enzyme, echothiophate will prolong their duration of action</a:t>
            </a:r>
          </a:p>
        </p:txBody>
      </p:sp>
    </p:spTree>
    <p:extLst>
      <p:ext uri="{BB962C8B-B14F-4D97-AF65-F5344CB8AC3E}">
        <p14:creationId xmlns:p14="http://schemas.microsoft.com/office/powerpoint/2010/main" val="408566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concept </a:t>
            </a:r>
          </a:p>
        </p:txBody>
      </p:sp>
      <p:sp>
        <p:nvSpPr>
          <p:cNvPr id="3" name="Content Placeholder 2"/>
          <p:cNvSpPr>
            <a:spLocks noGrp="1"/>
          </p:cNvSpPr>
          <p:nvPr>
            <p:ph idx="1"/>
          </p:nvPr>
        </p:nvSpPr>
        <p:spPr/>
        <p:txBody>
          <a:bodyPr>
            <a:noAutofit/>
          </a:bodyPr>
          <a:lstStyle/>
          <a:p>
            <a:r>
              <a:rPr lang="en-US" sz="2800" dirty="0"/>
              <a:t>The key to inducing anesthesia in a </a:t>
            </a:r>
            <a:r>
              <a:rPr lang="en-US" sz="2800" dirty="0">
                <a:solidFill>
                  <a:srgbClr val="FF0000"/>
                </a:solidFill>
              </a:rPr>
              <a:t>patient with an </a:t>
            </a:r>
            <a:r>
              <a:rPr lang="en-US" sz="2800" u="sng" dirty="0">
                <a:solidFill>
                  <a:srgbClr val="FF0000"/>
                </a:solidFill>
              </a:rPr>
              <a:t>open eye injury is controlling intraocular pressure with a smooth induction</a:t>
            </a:r>
            <a:r>
              <a:rPr lang="en-US" sz="2800" dirty="0">
                <a:solidFill>
                  <a:srgbClr val="FF0000"/>
                </a:solidFill>
              </a:rPr>
              <a:t>. Specifically, coughing during intubation must be avoided by achieving a deep level of anesthesia </a:t>
            </a:r>
            <a:r>
              <a:rPr lang="en-US" sz="2800" dirty="0"/>
              <a:t>and profound paralysis. </a:t>
            </a:r>
            <a:endParaRPr lang="en-US" sz="2800" dirty="0" smtClean="0"/>
          </a:p>
          <a:p>
            <a:endParaRPr lang="en-US" sz="2800" dirty="0"/>
          </a:p>
          <a:p>
            <a:r>
              <a:rPr lang="en-US" sz="2800" dirty="0"/>
              <a:t>The </a:t>
            </a:r>
            <a:r>
              <a:rPr lang="en-US" sz="2800" dirty="0" smtClean="0">
                <a:solidFill>
                  <a:srgbClr val="FF0000"/>
                </a:solidFill>
              </a:rPr>
              <a:t>post </a:t>
            </a:r>
            <a:r>
              <a:rPr lang="en-US" sz="2800" dirty="0" err="1" smtClean="0">
                <a:solidFill>
                  <a:srgbClr val="FF0000"/>
                </a:solidFill>
              </a:rPr>
              <a:t>retrobulbar</a:t>
            </a:r>
            <a:r>
              <a:rPr lang="en-US" sz="2800" dirty="0" smtClean="0">
                <a:solidFill>
                  <a:srgbClr val="FF0000"/>
                </a:solidFill>
              </a:rPr>
              <a:t> </a:t>
            </a:r>
            <a:r>
              <a:rPr lang="en-US" sz="2800" dirty="0">
                <a:solidFill>
                  <a:srgbClr val="FF0000"/>
                </a:solidFill>
              </a:rPr>
              <a:t>apnea syndrome </a:t>
            </a:r>
            <a:r>
              <a:rPr lang="en-US" sz="2800" dirty="0"/>
              <a:t>is probably due to injection of local anesthetic into the </a:t>
            </a:r>
            <a:r>
              <a:rPr lang="en-US" sz="2800" dirty="0">
                <a:solidFill>
                  <a:srgbClr val="FF0000"/>
                </a:solidFill>
              </a:rPr>
              <a:t>optic nerve sheath, with spread into the cerebrospinal fluid. </a:t>
            </a:r>
          </a:p>
        </p:txBody>
      </p:sp>
    </p:spTree>
    <p:extLst>
      <p:ext uri="{BB962C8B-B14F-4D97-AF65-F5344CB8AC3E}">
        <p14:creationId xmlns:p14="http://schemas.microsoft.com/office/powerpoint/2010/main" val="3948628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Monitored anesthesia care </a:t>
            </a:r>
            <a:endParaRPr lang="en-US" dirty="0"/>
          </a:p>
        </p:txBody>
      </p:sp>
      <p:sp>
        <p:nvSpPr>
          <p:cNvPr id="3" name="Content Placeholder 2"/>
          <p:cNvSpPr>
            <a:spLocks noGrp="1"/>
          </p:cNvSpPr>
          <p:nvPr>
            <p:ph idx="1"/>
          </p:nvPr>
        </p:nvSpPr>
        <p:spPr/>
        <p:txBody>
          <a:bodyPr/>
          <a:lstStyle/>
          <a:p>
            <a:r>
              <a:rPr lang="en-US" sz="2400" dirty="0"/>
              <a:t>Regardless of the technique employed for intravenous sedation, ventilation and oxygenation must be carefully monitored, and </a:t>
            </a:r>
            <a:r>
              <a:rPr lang="en-US" sz="2400" dirty="0">
                <a:solidFill>
                  <a:srgbClr val="FF0000"/>
                </a:solidFill>
              </a:rPr>
              <a:t>equipment to provide positive-pressure ventilation must be immediately available</a:t>
            </a:r>
          </a:p>
        </p:txBody>
      </p:sp>
    </p:spTree>
    <p:extLst>
      <p:ext uri="{BB962C8B-B14F-4D97-AF65-F5344CB8AC3E}">
        <p14:creationId xmlns:p14="http://schemas.microsoft.com/office/powerpoint/2010/main" val="1158857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Anesthesia for ophthalmic surgery </a:t>
            </a:r>
            <a:endParaRPr lang="en-US" dirty="0"/>
          </a:p>
        </p:txBody>
      </p:sp>
      <p:pic>
        <p:nvPicPr>
          <p:cNvPr id="4" name="Picture 2"/>
          <p:cNvPicPr>
            <a:picLocks noGrp="1" noChangeAspect="1" noChangeArrowheads="1"/>
          </p:cNvPicPr>
          <p:nvPr>
            <p:ph idx="1"/>
          </p:nvPr>
        </p:nvPicPr>
        <p:blipFill>
          <a:blip r:embed="rId2"/>
          <a:stretch>
            <a:fillRect/>
          </a:stretch>
        </p:blipFill>
        <p:spPr bwMode="auto">
          <a:xfrm>
            <a:off x="1790162" y="1674253"/>
            <a:ext cx="7701567" cy="4984123"/>
          </a:xfrm>
          <a:prstGeom prst="rect">
            <a:avLst/>
          </a:prstGeom>
          <a:noFill/>
          <a:ln w="9525">
            <a:noFill/>
            <a:miter lim="800000"/>
            <a:headEnd/>
            <a:tailEnd/>
          </a:ln>
          <a:effectLst/>
        </p:spPr>
      </p:pic>
    </p:spTree>
    <p:extLst>
      <p:ext uri="{BB962C8B-B14F-4D97-AF65-F5344CB8AC3E}">
        <p14:creationId xmlns:p14="http://schemas.microsoft.com/office/powerpoint/2010/main" val="2616750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Anesthesia for Ophthalmic surgery </a:t>
            </a:r>
            <a:endParaRPr lang="en-US" dirty="0"/>
          </a:p>
        </p:txBody>
      </p:sp>
      <p:pic>
        <p:nvPicPr>
          <p:cNvPr id="4" name="Picture 5" descr="bleedinghearts_213"/>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03797" y="2248693"/>
            <a:ext cx="7073453" cy="4280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31614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a:t>
            </a:r>
            <a:r>
              <a:rPr lang="en-US" dirty="0" smtClean="0"/>
              <a:t> for ophthalmic surgery </a:t>
            </a:r>
            <a:endParaRPr lang="en-US" dirty="0"/>
          </a:p>
        </p:txBody>
      </p:sp>
      <p:sp>
        <p:nvSpPr>
          <p:cNvPr id="3" name="Content Placeholder 2"/>
          <p:cNvSpPr>
            <a:spLocks noGrp="1"/>
          </p:cNvSpPr>
          <p:nvPr>
            <p:ph idx="1"/>
          </p:nvPr>
        </p:nvSpPr>
        <p:spPr/>
        <p:txBody>
          <a:bodyPr/>
          <a:lstStyle/>
          <a:p>
            <a:pPr marL="0" indent="0">
              <a:buNone/>
            </a:pPr>
            <a:endParaRPr lang="en-US" b="1" dirty="0" smtClean="0"/>
          </a:p>
          <a:p>
            <a:r>
              <a:rPr lang="en-US" dirty="0" smtClean="0"/>
              <a:t>Safety </a:t>
            </a:r>
            <a:endParaRPr lang="en-US" dirty="0"/>
          </a:p>
          <a:p>
            <a:r>
              <a:rPr lang="en-US" dirty="0" err="1"/>
              <a:t>Akinesia</a:t>
            </a:r>
            <a:endParaRPr lang="en-US" dirty="0"/>
          </a:p>
          <a:p>
            <a:r>
              <a:rPr lang="en-US" dirty="0"/>
              <a:t>Profound analgesia</a:t>
            </a:r>
          </a:p>
          <a:p>
            <a:r>
              <a:rPr lang="en-US" dirty="0"/>
              <a:t>Avoidance and </a:t>
            </a:r>
            <a:r>
              <a:rPr lang="en-US" dirty="0" err="1"/>
              <a:t>obtundation</a:t>
            </a:r>
            <a:r>
              <a:rPr lang="en-US" dirty="0"/>
              <a:t> of </a:t>
            </a:r>
            <a:r>
              <a:rPr lang="en-US" dirty="0" err="1"/>
              <a:t>occulo</a:t>
            </a:r>
            <a:r>
              <a:rPr lang="en-US" dirty="0"/>
              <a:t> cardiac reflex</a:t>
            </a:r>
          </a:p>
          <a:p>
            <a:r>
              <a:rPr lang="en-US" dirty="0"/>
              <a:t>Proper control of intraocular pressure</a:t>
            </a:r>
          </a:p>
          <a:p>
            <a:r>
              <a:rPr lang="en-US" dirty="0"/>
              <a:t>Awareness of drug interaction</a:t>
            </a:r>
          </a:p>
          <a:p>
            <a:r>
              <a:rPr lang="en-US" dirty="0"/>
              <a:t>Smooth emergence with no vomiting or coughing</a:t>
            </a:r>
          </a:p>
        </p:txBody>
      </p:sp>
    </p:spTree>
    <p:extLst>
      <p:ext uri="{BB962C8B-B14F-4D97-AF65-F5344CB8AC3E}">
        <p14:creationId xmlns:p14="http://schemas.microsoft.com/office/powerpoint/2010/main" val="4139113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for intraocular procedures </a:t>
            </a:r>
            <a:endParaRPr lang="en-US" dirty="0"/>
          </a:p>
        </p:txBody>
      </p:sp>
      <p:sp>
        <p:nvSpPr>
          <p:cNvPr id="3" name="Content Placeholder 2"/>
          <p:cNvSpPr>
            <a:spLocks noGrp="1"/>
          </p:cNvSpPr>
          <p:nvPr>
            <p:ph idx="1"/>
          </p:nvPr>
        </p:nvSpPr>
        <p:spPr/>
        <p:txBody>
          <a:bodyPr/>
          <a:lstStyle/>
          <a:p>
            <a:r>
              <a:rPr lang="en-US" dirty="0"/>
              <a:t>Meticulous control of I.O.P</a:t>
            </a:r>
          </a:p>
          <a:p>
            <a:r>
              <a:rPr lang="en-US" dirty="0"/>
              <a:t>Profound </a:t>
            </a:r>
            <a:r>
              <a:rPr lang="en-US" dirty="0" err="1"/>
              <a:t>akinesia</a:t>
            </a:r>
            <a:endParaRPr lang="en-US" dirty="0"/>
          </a:p>
          <a:p>
            <a:endParaRPr lang="en-US" dirty="0"/>
          </a:p>
        </p:txBody>
      </p:sp>
    </p:spTree>
    <p:extLst>
      <p:ext uri="{BB962C8B-B14F-4D97-AF65-F5344CB8AC3E}">
        <p14:creationId xmlns:p14="http://schemas.microsoft.com/office/powerpoint/2010/main" val="3863198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for </a:t>
            </a:r>
            <a:r>
              <a:rPr lang="en-US" dirty="0" err="1" smtClean="0"/>
              <a:t>extrocular</a:t>
            </a:r>
            <a:r>
              <a:rPr lang="en-US" dirty="0" smtClean="0"/>
              <a:t> procedures </a:t>
            </a:r>
            <a:endParaRPr lang="en-US" dirty="0"/>
          </a:p>
        </p:txBody>
      </p:sp>
      <p:sp>
        <p:nvSpPr>
          <p:cNvPr id="3" name="Content Placeholder 2"/>
          <p:cNvSpPr>
            <a:spLocks noGrp="1"/>
          </p:cNvSpPr>
          <p:nvPr>
            <p:ph idx="1"/>
          </p:nvPr>
        </p:nvSpPr>
        <p:spPr/>
        <p:txBody>
          <a:bodyPr/>
          <a:lstStyle/>
          <a:p>
            <a:r>
              <a:rPr lang="en-US" dirty="0"/>
              <a:t>Avoidance or </a:t>
            </a:r>
            <a:r>
              <a:rPr lang="en-US" dirty="0" err="1"/>
              <a:t>obtundation</a:t>
            </a:r>
            <a:r>
              <a:rPr lang="en-US" dirty="0"/>
              <a:t> of </a:t>
            </a:r>
            <a:r>
              <a:rPr lang="en-US" dirty="0" err="1"/>
              <a:t>occulocardiac</a:t>
            </a:r>
            <a:r>
              <a:rPr lang="en-US" dirty="0"/>
              <a:t> reflex</a:t>
            </a:r>
          </a:p>
          <a:p>
            <a:r>
              <a:rPr lang="en-US" dirty="0"/>
              <a:t>MHT</a:t>
            </a:r>
          </a:p>
          <a:p>
            <a:r>
              <a:rPr lang="en-US" dirty="0"/>
              <a:t>Smooth emergence with no coughing or vomiting</a:t>
            </a:r>
          </a:p>
        </p:txBody>
      </p:sp>
    </p:spTree>
    <p:extLst>
      <p:ext uri="{BB962C8B-B14F-4D97-AF65-F5344CB8AC3E}">
        <p14:creationId xmlns:p14="http://schemas.microsoft.com/office/powerpoint/2010/main" val="250864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evaluation </a:t>
            </a:r>
            <a:endParaRPr lang="en-US" dirty="0"/>
          </a:p>
        </p:txBody>
      </p:sp>
      <p:sp>
        <p:nvSpPr>
          <p:cNvPr id="3" name="Content Placeholder 2"/>
          <p:cNvSpPr>
            <a:spLocks noGrp="1"/>
          </p:cNvSpPr>
          <p:nvPr>
            <p:ph idx="1"/>
          </p:nvPr>
        </p:nvSpPr>
        <p:spPr/>
        <p:txBody>
          <a:bodyPr>
            <a:normAutofit/>
          </a:bodyPr>
          <a:lstStyle/>
          <a:p>
            <a:r>
              <a:rPr lang="en-US" sz="2800" dirty="0"/>
              <a:t>Pre-operative </a:t>
            </a:r>
          </a:p>
          <a:p>
            <a:r>
              <a:rPr lang="en-US" sz="2800" dirty="0"/>
              <a:t>Perioperative decisions regarding comorbid conditions </a:t>
            </a:r>
            <a:r>
              <a:rPr lang="en-US" sz="2800" dirty="0" smtClean="0"/>
              <a:t>and </a:t>
            </a:r>
            <a:r>
              <a:rPr lang="en-US" sz="2800" dirty="0"/>
              <a:t>chronic </a:t>
            </a:r>
            <a:r>
              <a:rPr lang="en-US" sz="2800" dirty="0" smtClean="0"/>
              <a:t>medications</a:t>
            </a:r>
            <a:endParaRPr lang="en-US" sz="2800" dirty="0"/>
          </a:p>
        </p:txBody>
      </p:sp>
    </p:spTree>
    <p:extLst>
      <p:ext uri="{BB962C8B-B14F-4D97-AF65-F5344CB8AC3E}">
        <p14:creationId xmlns:p14="http://schemas.microsoft.com/office/powerpoint/2010/main" val="4186301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Anesthesia Considerations</a:t>
            </a:r>
          </a:p>
          <a:p>
            <a:r>
              <a:rPr lang="en-US" dirty="0"/>
              <a:t>Most ophthalmic surgeries </a:t>
            </a:r>
            <a:r>
              <a:rPr lang="en-US" dirty="0" smtClean="0"/>
              <a:t>can be </a:t>
            </a:r>
            <a:r>
              <a:rPr lang="en-US" dirty="0"/>
              <a:t>performed using monitored </a:t>
            </a:r>
            <a:r>
              <a:rPr lang="en-US" dirty="0" smtClean="0"/>
              <a:t>anesthesia </a:t>
            </a:r>
            <a:r>
              <a:rPr lang="en-US" dirty="0"/>
              <a:t>care (MAC), along with topical or regional </a:t>
            </a:r>
            <a:r>
              <a:rPr lang="en-US" dirty="0" smtClean="0"/>
              <a:t>anesthesia techniques or General anesthesia depending on the type of the procedure</a:t>
            </a:r>
            <a:endParaRPr lang="en-US" dirty="0"/>
          </a:p>
          <a:p>
            <a:endParaRPr lang="en-US" dirty="0"/>
          </a:p>
        </p:txBody>
      </p:sp>
    </p:spTree>
    <p:extLst>
      <p:ext uri="{BB962C8B-B14F-4D97-AF65-F5344CB8AC3E}">
        <p14:creationId xmlns:p14="http://schemas.microsoft.com/office/powerpoint/2010/main" val="4084982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b="1" dirty="0"/>
              <a:t>Evaluate Communication and Collaboration</a:t>
            </a:r>
          </a:p>
          <a:p>
            <a:r>
              <a:rPr lang="en-US" sz="2800" dirty="0"/>
              <a:t>When </a:t>
            </a:r>
            <a:r>
              <a:rPr lang="en-US" sz="2800" dirty="0" smtClean="0"/>
              <a:t> anesthesia </a:t>
            </a:r>
            <a:r>
              <a:rPr lang="en-US" sz="2800" dirty="0"/>
              <a:t>is planned, it is important that the patient be able to lie comfortably still during the </a:t>
            </a:r>
            <a:r>
              <a:rPr lang="en-US" sz="2800" dirty="0" smtClean="0"/>
              <a:t>procedure and communicate effectively .</a:t>
            </a:r>
            <a:endParaRPr lang="en-US" sz="2800" dirty="0"/>
          </a:p>
        </p:txBody>
      </p:sp>
    </p:spTree>
    <p:extLst>
      <p:ext uri="{BB962C8B-B14F-4D97-AF65-F5344CB8AC3E}">
        <p14:creationId xmlns:p14="http://schemas.microsoft.com/office/powerpoint/2010/main" val="1564493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a:t>
            </a:r>
            <a:endParaRPr lang="en-US" dirty="0"/>
          </a:p>
        </p:txBody>
      </p:sp>
      <p:sp>
        <p:nvSpPr>
          <p:cNvPr id="3" name="Content Placeholder 2"/>
          <p:cNvSpPr>
            <a:spLocks noGrp="1"/>
          </p:cNvSpPr>
          <p:nvPr>
            <p:ph idx="1"/>
          </p:nvPr>
        </p:nvSpPr>
        <p:spPr/>
        <p:txBody>
          <a:bodyPr>
            <a:normAutofit/>
          </a:bodyPr>
          <a:lstStyle/>
          <a:p>
            <a:r>
              <a:rPr lang="en-US" dirty="0" smtClean="0"/>
              <a:t>a .</a:t>
            </a:r>
            <a:r>
              <a:rPr lang="en-US" sz="3200" dirty="0" smtClean="0"/>
              <a:t>Myocardial </a:t>
            </a:r>
            <a:r>
              <a:rPr lang="en-US" sz="3200" dirty="0"/>
              <a:t>infarction within the last month</a:t>
            </a:r>
          </a:p>
          <a:p>
            <a:r>
              <a:rPr lang="en-US" sz="3200" dirty="0"/>
              <a:t>b.  Recent percutaneous coronary intervention (within 14 </a:t>
            </a:r>
          </a:p>
          <a:p>
            <a:r>
              <a:rPr lang="en-US" sz="3200" dirty="0"/>
              <a:t>days without stents or within 30 days with stents)</a:t>
            </a:r>
          </a:p>
          <a:p>
            <a:r>
              <a:rPr lang="en-US" sz="3200" dirty="0"/>
              <a:t>c.  New onset of clinically significant arrhythmias</a:t>
            </a:r>
          </a:p>
          <a:p>
            <a:endParaRPr lang="en-US" sz="3200" dirty="0"/>
          </a:p>
        </p:txBody>
      </p:sp>
    </p:spTree>
    <p:extLst>
      <p:ext uri="{BB962C8B-B14F-4D97-AF65-F5344CB8AC3E}">
        <p14:creationId xmlns:p14="http://schemas.microsoft.com/office/powerpoint/2010/main" val="650912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d.  </a:t>
            </a:r>
            <a:r>
              <a:rPr lang="en-US" sz="3200" dirty="0"/>
              <a:t>Decompensated heart failure</a:t>
            </a:r>
          </a:p>
          <a:p>
            <a:r>
              <a:rPr lang="en-US" sz="3200" dirty="0"/>
              <a:t>e.  Presence of a serious pulmonary condition (e.g., upper </a:t>
            </a:r>
          </a:p>
          <a:p>
            <a:r>
              <a:rPr lang="en-US" sz="3200" dirty="0"/>
              <a:t>respiratory tract infection, pneumonia, and pulmonary </a:t>
            </a:r>
          </a:p>
          <a:p>
            <a:r>
              <a:rPr lang="en-US" sz="3200" dirty="0"/>
              <a:t>embolism) or worsening of a serious chronic condition </a:t>
            </a:r>
          </a:p>
          <a:p>
            <a:r>
              <a:rPr lang="en-US" sz="3200" dirty="0"/>
              <a:t>(e.g. COPD)</a:t>
            </a:r>
          </a:p>
          <a:p>
            <a:endParaRPr lang="en-US" sz="3200" dirty="0"/>
          </a:p>
        </p:txBody>
      </p:sp>
    </p:spTree>
    <p:extLst>
      <p:ext uri="{BB962C8B-B14F-4D97-AF65-F5344CB8AC3E}">
        <p14:creationId xmlns:p14="http://schemas.microsoft.com/office/powerpoint/2010/main" val="292630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f. </a:t>
            </a:r>
            <a:r>
              <a:rPr lang="en-US" sz="3200" dirty="0"/>
              <a:t>New onset of neurological condition (e.g., stroke, </a:t>
            </a:r>
          </a:p>
          <a:p>
            <a:r>
              <a:rPr lang="en-US" sz="3200" dirty="0"/>
              <a:t>transient ischemic attack, and mental status changes)</a:t>
            </a:r>
          </a:p>
          <a:p>
            <a:r>
              <a:rPr lang="en-US" sz="3200" dirty="0"/>
              <a:t>g.  Malignant hypertension with recent organ damage </a:t>
            </a:r>
          </a:p>
          <a:p>
            <a:r>
              <a:rPr lang="en-US" sz="3200" dirty="0"/>
              <a:t>(e.g., encephalopathy, myocardial ischemia, and acute </a:t>
            </a:r>
          </a:p>
          <a:p>
            <a:r>
              <a:rPr lang="en-US" sz="3200" dirty="0"/>
              <a:t>kidney injury</a:t>
            </a:r>
            <a:r>
              <a:rPr lang="en-US" sz="3200" dirty="0" smtClean="0"/>
              <a:t>)</a:t>
            </a:r>
            <a:endParaRPr lang="en-US" sz="3200" dirty="0"/>
          </a:p>
        </p:txBody>
      </p:sp>
    </p:spTree>
    <p:extLst>
      <p:ext uri="{BB962C8B-B14F-4D97-AF65-F5344CB8AC3E}">
        <p14:creationId xmlns:p14="http://schemas.microsoft.com/office/powerpoint/2010/main" val="867119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h.  Recent episode of diabetic ketoacidosis or hyperglycemic </a:t>
            </a:r>
            <a:r>
              <a:rPr lang="en-US" sz="3200" dirty="0" smtClean="0"/>
              <a:t>hyperosmolar </a:t>
            </a:r>
            <a:r>
              <a:rPr lang="en-US" sz="3200" dirty="0"/>
              <a:t>non-</a:t>
            </a:r>
            <a:r>
              <a:rPr lang="en-US" sz="3200" dirty="0" err="1"/>
              <a:t>ketotic</a:t>
            </a:r>
            <a:r>
              <a:rPr lang="en-US" sz="3200" dirty="0"/>
              <a:t> coma.</a:t>
            </a:r>
          </a:p>
          <a:p>
            <a:endParaRPr lang="en-US" sz="3200" dirty="0"/>
          </a:p>
          <a:p>
            <a:endParaRPr lang="en-US" sz="3200" dirty="0"/>
          </a:p>
        </p:txBody>
      </p:sp>
    </p:spTree>
    <p:extLst>
      <p:ext uri="{BB962C8B-B14F-4D97-AF65-F5344CB8AC3E}">
        <p14:creationId xmlns:p14="http://schemas.microsoft.com/office/powerpoint/2010/main" val="1921003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Examination</a:t>
            </a:r>
            <a:br>
              <a:rPr lang="en-US" dirty="0"/>
            </a:br>
            <a:endParaRPr lang="en-US" dirty="0"/>
          </a:p>
        </p:txBody>
      </p:sp>
      <p:sp>
        <p:nvSpPr>
          <p:cNvPr id="3" name="Content Placeholder 2"/>
          <p:cNvSpPr>
            <a:spLocks noGrp="1"/>
          </p:cNvSpPr>
          <p:nvPr>
            <p:ph idx="1"/>
          </p:nvPr>
        </p:nvSpPr>
        <p:spPr/>
        <p:txBody>
          <a:bodyPr/>
          <a:lstStyle/>
          <a:p>
            <a:r>
              <a:rPr lang="en-US" dirty="0" smtClean="0"/>
              <a:t>A </a:t>
            </a:r>
            <a:r>
              <a:rPr lang="en-US" dirty="0"/>
              <a:t>standard physical examination, including the airway, is </a:t>
            </a:r>
          </a:p>
          <a:p>
            <a:r>
              <a:rPr lang="en-US" dirty="0"/>
              <a:t>performed to identify any abnormalities that may interfere </a:t>
            </a:r>
          </a:p>
          <a:p>
            <a:r>
              <a:rPr lang="en-US" dirty="0"/>
              <a:t>with the patient’s surgery</a:t>
            </a:r>
            <a:r>
              <a:rPr lang="en-US" dirty="0" smtClean="0"/>
              <a:t>.</a:t>
            </a:r>
            <a:endParaRPr lang="en-US" dirty="0"/>
          </a:p>
        </p:txBody>
      </p:sp>
    </p:spTree>
    <p:extLst>
      <p:ext uri="{BB962C8B-B14F-4D97-AF65-F5344CB8AC3E}">
        <p14:creationId xmlns:p14="http://schemas.microsoft.com/office/powerpoint/2010/main" val="6833513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Pre-Operative Tests</a:t>
            </a:r>
          </a:p>
        </p:txBody>
      </p:sp>
      <p:sp>
        <p:nvSpPr>
          <p:cNvPr id="3" name="Content Placeholder 2"/>
          <p:cNvSpPr>
            <a:spLocks noGrp="1"/>
          </p:cNvSpPr>
          <p:nvPr>
            <p:ph idx="1"/>
          </p:nvPr>
        </p:nvSpPr>
        <p:spPr/>
        <p:txBody>
          <a:bodyPr>
            <a:normAutofit/>
          </a:bodyPr>
          <a:lstStyle/>
          <a:p>
            <a:r>
              <a:rPr lang="en-US" sz="3200" dirty="0"/>
              <a:t>Pre-operative tests, including a </a:t>
            </a:r>
            <a:r>
              <a:rPr lang="en-US" sz="3200" dirty="0" smtClean="0"/>
              <a:t>hematology, </a:t>
            </a:r>
            <a:r>
              <a:rPr lang="en-US" sz="3200" dirty="0"/>
              <a:t>biochemistry </a:t>
            </a:r>
            <a:r>
              <a:rPr lang="en-US" sz="3200" dirty="0" smtClean="0"/>
              <a:t>panel</a:t>
            </a:r>
            <a:r>
              <a:rPr lang="en-US" sz="3200" dirty="0"/>
              <a:t>, and clotting times, should be carefully chosen based </a:t>
            </a:r>
            <a:r>
              <a:rPr lang="en-US" sz="3200" dirty="0" smtClean="0"/>
              <a:t>on </a:t>
            </a:r>
            <a:r>
              <a:rPr lang="en-US" sz="3200" dirty="0"/>
              <a:t>the patient’s medical history, existing health conditions </a:t>
            </a:r>
            <a:r>
              <a:rPr lang="en-US" sz="3200" dirty="0" smtClean="0"/>
              <a:t>determined </a:t>
            </a:r>
            <a:r>
              <a:rPr lang="en-US" sz="3200" dirty="0"/>
              <a:t>through physical examination, and the nature </a:t>
            </a:r>
            <a:r>
              <a:rPr lang="en-US" sz="3200" dirty="0" smtClean="0"/>
              <a:t>of </a:t>
            </a:r>
            <a:r>
              <a:rPr lang="en-US" sz="3200" dirty="0"/>
              <a:t>the planned surgical procedure.</a:t>
            </a:r>
          </a:p>
        </p:txBody>
      </p:sp>
    </p:spTree>
    <p:extLst>
      <p:ext uri="{BB962C8B-B14F-4D97-AF65-F5344CB8AC3E}">
        <p14:creationId xmlns:p14="http://schemas.microsoft.com/office/powerpoint/2010/main" val="117404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Ophthalmic Considerations</a:t>
            </a:r>
          </a:p>
        </p:txBody>
      </p:sp>
      <p:sp>
        <p:nvSpPr>
          <p:cNvPr id="3" name="Content Placeholder 2"/>
          <p:cNvSpPr>
            <a:spLocks noGrp="1"/>
          </p:cNvSpPr>
          <p:nvPr>
            <p:ph idx="1"/>
          </p:nvPr>
        </p:nvSpPr>
        <p:spPr/>
        <p:txBody>
          <a:bodyPr>
            <a:normAutofit/>
          </a:bodyPr>
          <a:lstStyle/>
          <a:p>
            <a:r>
              <a:rPr lang="en-US" sz="2800" dirty="0" smtClean="0"/>
              <a:t>Anticoagulant </a:t>
            </a:r>
            <a:r>
              <a:rPr lang="en-US" sz="2800" dirty="0"/>
              <a:t>and Antiplatelet </a:t>
            </a:r>
            <a:r>
              <a:rPr lang="en-US" sz="2800" dirty="0" smtClean="0"/>
              <a:t>Therapies In </a:t>
            </a:r>
            <a:r>
              <a:rPr lang="en-US" sz="2800" dirty="0"/>
              <a:t>patients at high risk for coagulation and embolic </a:t>
            </a:r>
            <a:r>
              <a:rPr lang="en-US" sz="2800" dirty="0" smtClean="0"/>
              <a:t>complications </a:t>
            </a:r>
            <a:r>
              <a:rPr lang="en-US" sz="2800" dirty="0"/>
              <a:t>due to cardiac or vascular pathology, </a:t>
            </a:r>
            <a:r>
              <a:rPr lang="en-US" sz="2800" dirty="0" smtClean="0"/>
              <a:t>therapeutic </a:t>
            </a:r>
            <a:r>
              <a:rPr lang="en-US" sz="2800" dirty="0"/>
              <a:t>doses of aspirin and warfarin are frequently </a:t>
            </a:r>
            <a:r>
              <a:rPr lang="en-US" sz="2800" dirty="0" smtClean="0"/>
              <a:t>continued </a:t>
            </a:r>
            <a:r>
              <a:rPr lang="en-US" sz="2800" dirty="0"/>
              <a:t>throughout the pre-operative period. because there is a real risk of recurrent cardiac </a:t>
            </a:r>
            <a:r>
              <a:rPr lang="en-US" sz="2800" dirty="0" smtClean="0"/>
              <a:t>ischemia </a:t>
            </a:r>
            <a:r>
              <a:rPr lang="en-US" sz="2800" dirty="0"/>
              <a:t>or stent thrombosis. </a:t>
            </a:r>
          </a:p>
        </p:txBody>
      </p:sp>
    </p:spTree>
    <p:extLst>
      <p:ext uri="{BB962C8B-B14F-4D97-AF65-F5344CB8AC3E}">
        <p14:creationId xmlns:p14="http://schemas.microsoft.com/office/powerpoint/2010/main" val="2174605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Axial Length of the Eye</a:t>
            </a:r>
          </a:p>
        </p:txBody>
      </p:sp>
      <p:sp>
        <p:nvSpPr>
          <p:cNvPr id="3" name="Content Placeholder 2"/>
          <p:cNvSpPr>
            <a:spLocks noGrp="1"/>
          </p:cNvSpPr>
          <p:nvPr>
            <p:ph idx="1"/>
          </p:nvPr>
        </p:nvSpPr>
        <p:spPr/>
        <p:txBody>
          <a:bodyPr>
            <a:normAutofit/>
          </a:bodyPr>
          <a:lstStyle/>
          <a:p>
            <a:r>
              <a:rPr lang="en-US" dirty="0"/>
              <a:t>The distance from the cornea to the retina, known as </a:t>
            </a:r>
            <a:r>
              <a:rPr lang="en-US" dirty="0" smtClean="0"/>
              <a:t>the </a:t>
            </a:r>
            <a:r>
              <a:rPr lang="en-US" dirty="0"/>
              <a:t>axial length of the eye, is typically measured using </a:t>
            </a:r>
            <a:r>
              <a:rPr lang="en-US" dirty="0" smtClean="0"/>
              <a:t>ultrasound </a:t>
            </a:r>
            <a:r>
              <a:rPr lang="en-US" dirty="0"/>
              <a:t>before cataract surgery</a:t>
            </a:r>
            <a:r>
              <a:rPr lang="en-US" dirty="0" smtClean="0"/>
              <a:t>.</a:t>
            </a:r>
          </a:p>
          <a:p>
            <a:r>
              <a:rPr lang="en-US" dirty="0"/>
              <a:t>Increased risk of needle injury during </a:t>
            </a:r>
            <a:r>
              <a:rPr lang="en-US" dirty="0" err="1" smtClean="0"/>
              <a:t>retrobulbar</a:t>
            </a:r>
            <a:r>
              <a:rPr lang="en-US" dirty="0" smtClean="0"/>
              <a:t> </a:t>
            </a:r>
            <a:r>
              <a:rPr lang="en-US" dirty="0"/>
              <a:t>block in patients with axial length &gt;25 </a:t>
            </a:r>
            <a:r>
              <a:rPr lang="en-US" dirty="0" err="1" smtClean="0"/>
              <a:t>mm.In</a:t>
            </a:r>
            <a:r>
              <a:rPr lang="en-US" dirty="0" smtClean="0"/>
              <a:t> </a:t>
            </a:r>
            <a:r>
              <a:rPr lang="en-US" dirty="0"/>
              <a:t>such patients, </a:t>
            </a:r>
            <a:r>
              <a:rPr lang="en-US" dirty="0" err="1"/>
              <a:t>peribulbar</a:t>
            </a:r>
            <a:r>
              <a:rPr lang="en-US" dirty="0"/>
              <a:t> (</a:t>
            </a:r>
            <a:r>
              <a:rPr lang="en-US" dirty="0" err="1"/>
              <a:t>extraconal</a:t>
            </a:r>
            <a:r>
              <a:rPr lang="en-US" dirty="0"/>
              <a:t>) or sub-</a:t>
            </a:r>
            <a:r>
              <a:rPr lang="en-US" dirty="0" err="1"/>
              <a:t>Tenon’s</a:t>
            </a:r>
            <a:r>
              <a:rPr lang="en-US" dirty="0"/>
              <a:t> </a:t>
            </a:r>
            <a:r>
              <a:rPr lang="en-US" dirty="0" smtClean="0"/>
              <a:t>block</a:t>
            </a:r>
            <a:r>
              <a:rPr lang="en-US" dirty="0"/>
              <a:t>, topical anesthesia, or general anesthesia are </a:t>
            </a:r>
            <a:r>
              <a:rPr lang="en-US" dirty="0" smtClean="0"/>
              <a:t>preferred </a:t>
            </a:r>
            <a:r>
              <a:rPr lang="en-US" dirty="0"/>
              <a:t>over </a:t>
            </a:r>
            <a:r>
              <a:rPr lang="en-US" dirty="0" err="1"/>
              <a:t>retrobulbar</a:t>
            </a:r>
            <a:r>
              <a:rPr lang="en-US" dirty="0"/>
              <a:t> block</a:t>
            </a:r>
            <a:r>
              <a:rPr lang="en-US" dirty="0" smtClean="0"/>
              <a:t>.</a:t>
            </a:r>
            <a:endParaRPr lang="en-US" dirty="0"/>
          </a:p>
        </p:txBody>
      </p:sp>
    </p:spTree>
    <p:extLst>
      <p:ext uri="{BB962C8B-B14F-4D97-AF65-F5344CB8AC3E}">
        <p14:creationId xmlns:p14="http://schemas.microsoft.com/office/powerpoint/2010/main" val="25744191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Position</a:t>
            </a:r>
            <a:br>
              <a:rPr lang="en-US" dirty="0"/>
            </a:br>
            <a:endParaRPr lang="en-US" dirty="0"/>
          </a:p>
        </p:txBody>
      </p:sp>
      <p:sp>
        <p:nvSpPr>
          <p:cNvPr id="3" name="Content Placeholder 2"/>
          <p:cNvSpPr>
            <a:spLocks noGrp="1"/>
          </p:cNvSpPr>
          <p:nvPr>
            <p:ph idx="1"/>
          </p:nvPr>
        </p:nvSpPr>
        <p:spPr/>
        <p:txBody>
          <a:bodyPr>
            <a:normAutofit/>
          </a:bodyPr>
          <a:lstStyle/>
          <a:p>
            <a:r>
              <a:rPr lang="en-US" sz="3200" dirty="0"/>
              <a:t>To avoid back and neck discomfort, position the </a:t>
            </a:r>
            <a:r>
              <a:rPr lang="en-US" sz="3200" dirty="0" smtClean="0"/>
              <a:t>patient’s </a:t>
            </a:r>
            <a:r>
              <a:rPr lang="en-US" sz="3200" dirty="0"/>
              <a:t>head at the upper end of the operating table.</a:t>
            </a:r>
          </a:p>
          <a:p>
            <a:r>
              <a:rPr lang="en-US" sz="3200" dirty="0" smtClean="0"/>
              <a:t>To </a:t>
            </a:r>
            <a:r>
              <a:rPr lang="en-US" sz="3200" dirty="0"/>
              <a:t>minimize unintended movement, provide adequate </a:t>
            </a:r>
            <a:r>
              <a:rPr lang="en-US" sz="3200" dirty="0" smtClean="0"/>
              <a:t>support </a:t>
            </a:r>
            <a:r>
              <a:rPr lang="en-US" sz="3200" dirty="0"/>
              <a:t>for the patient’s head using a comfortable headrest</a:t>
            </a:r>
            <a:r>
              <a:rPr lang="en-US" sz="3200" dirty="0" smtClean="0"/>
              <a:t>.</a:t>
            </a:r>
          </a:p>
          <a:p>
            <a:r>
              <a:rPr lang="en-US" sz="3200" dirty="0" smtClean="0"/>
              <a:t>Collaborative effort between the anesthetist and the patient is mandatory during positioning .</a:t>
            </a:r>
            <a:endParaRPr lang="en-US" sz="3200" dirty="0"/>
          </a:p>
        </p:txBody>
      </p:sp>
    </p:spTree>
    <p:extLst>
      <p:ext uri="{BB962C8B-B14F-4D97-AF65-F5344CB8AC3E}">
        <p14:creationId xmlns:p14="http://schemas.microsoft.com/office/powerpoint/2010/main" val="2037714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Intra ocular pressure </a:t>
            </a:r>
            <a:endParaRPr lang="en-US" dirty="0"/>
          </a:p>
        </p:txBody>
      </p:sp>
      <p:sp>
        <p:nvSpPr>
          <p:cNvPr id="3" name="Content Placeholder 2"/>
          <p:cNvSpPr>
            <a:spLocks noGrp="1"/>
          </p:cNvSpPr>
          <p:nvPr>
            <p:ph idx="1"/>
          </p:nvPr>
        </p:nvSpPr>
        <p:spPr/>
        <p:txBody>
          <a:bodyPr>
            <a:normAutofit/>
          </a:bodyPr>
          <a:lstStyle/>
          <a:p>
            <a:r>
              <a:rPr lang="en-US" sz="2400" dirty="0"/>
              <a:t>IOP refers to the pressure exerted by the contents of the </a:t>
            </a:r>
          </a:p>
          <a:p>
            <a:r>
              <a:rPr lang="en-US" sz="2400" dirty="0"/>
              <a:t>eye on the surrounding structures. </a:t>
            </a:r>
            <a:endParaRPr lang="en-US" sz="2400" dirty="0" smtClean="0"/>
          </a:p>
          <a:p>
            <a:endParaRPr lang="en-US" sz="2400" dirty="0" smtClean="0"/>
          </a:p>
          <a:p>
            <a:r>
              <a:rPr lang="en-US" sz="2400" dirty="0" smtClean="0"/>
              <a:t>Elevated </a:t>
            </a:r>
            <a:r>
              <a:rPr lang="en-US" sz="2400" dirty="0"/>
              <a:t>pressure </a:t>
            </a:r>
          </a:p>
          <a:p>
            <a:r>
              <a:rPr lang="en-US" sz="2400" dirty="0"/>
              <a:t>can lead to a reduction in blood flow to critical ocular </a:t>
            </a:r>
          </a:p>
          <a:p>
            <a:r>
              <a:rPr lang="en-US" sz="2400" dirty="0"/>
              <a:t>structures, including the retina, choroid, and optic nerve. </a:t>
            </a:r>
          </a:p>
        </p:txBody>
      </p:sp>
    </p:spTree>
    <p:extLst>
      <p:ext uri="{BB962C8B-B14F-4D97-AF65-F5344CB8AC3E}">
        <p14:creationId xmlns:p14="http://schemas.microsoft.com/office/powerpoint/2010/main" val="3139723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t>Typically, normal IOP is in the range </a:t>
            </a:r>
            <a:r>
              <a:rPr lang="en-US" sz="2800" dirty="0" smtClean="0"/>
              <a:t>of 10-15 mmHg or  </a:t>
            </a:r>
            <a:r>
              <a:rPr lang="en-US" sz="2800" dirty="0"/>
              <a:t>16±5 mmHg, with </a:t>
            </a:r>
            <a:r>
              <a:rPr lang="en-US" sz="2800" dirty="0" smtClean="0"/>
              <a:t>fluctuations </a:t>
            </a:r>
            <a:r>
              <a:rPr lang="en-US" sz="2800" dirty="0"/>
              <a:t>of 2–3 mmHg observed throughout the day. </a:t>
            </a:r>
          </a:p>
          <a:p>
            <a:r>
              <a:rPr lang="en-US" sz="2800" dirty="0"/>
              <a:t>Values greater than 24 mm Hg are considered pathologic</a:t>
            </a:r>
            <a:r>
              <a:rPr lang="en-US" sz="2800" dirty="0" smtClean="0"/>
              <a:t>.</a:t>
            </a:r>
            <a:endParaRPr lang="en-US" sz="2800" dirty="0"/>
          </a:p>
          <a:p>
            <a:endParaRPr lang="en-US" sz="2800" dirty="0" smtClean="0"/>
          </a:p>
          <a:p>
            <a:r>
              <a:rPr lang="en-US" sz="2800" dirty="0" smtClean="0"/>
              <a:t>Any </a:t>
            </a:r>
            <a:r>
              <a:rPr lang="en-US" sz="2800" dirty="0"/>
              <a:t>disturbance in the outflow of aqueous humor can </a:t>
            </a:r>
          </a:p>
          <a:p>
            <a:r>
              <a:rPr lang="en-US" sz="2800" dirty="0"/>
              <a:t>lead to a sudden increase in IOP</a:t>
            </a:r>
          </a:p>
        </p:txBody>
      </p:sp>
    </p:spTree>
    <p:extLst>
      <p:ext uri="{BB962C8B-B14F-4D97-AF65-F5344CB8AC3E}">
        <p14:creationId xmlns:p14="http://schemas.microsoft.com/office/powerpoint/2010/main" val="1221276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Blood supply to the eye </a:t>
            </a:r>
            <a:endParaRPr lang="en-US" dirty="0"/>
          </a:p>
        </p:txBody>
      </p:sp>
      <p:sp>
        <p:nvSpPr>
          <p:cNvPr id="3" name="Content Placeholder 2"/>
          <p:cNvSpPr>
            <a:spLocks noGrp="1"/>
          </p:cNvSpPr>
          <p:nvPr>
            <p:ph idx="1"/>
          </p:nvPr>
        </p:nvSpPr>
        <p:spPr/>
        <p:txBody>
          <a:bodyPr>
            <a:normAutofit/>
          </a:bodyPr>
          <a:lstStyle/>
          <a:p>
            <a:r>
              <a:rPr lang="en-US" sz="3200" dirty="0"/>
              <a:t>The arterial input to the eye is provided by several branches from the ophthalmic artery, which is derived from the internal carotid artery</a:t>
            </a:r>
          </a:p>
        </p:txBody>
      </p:sp>
    </p:spTree>
    <p:extLst>
      <p:ext uri="{BB962C8B-B14F-4D97-AF65-F5344CB8AC3E}">
        <p14:creationId xmlns:p14="http://schemas.microsoft.com/office/powerpoint/2010/main" val="13265400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As one of the most metabolically active organs in the body, </a:t>
            </a:r>
          </a:p>
          <a:p>
            <a:r>
              <a:rPr lang="en-US" sz="3200" dirty="0"/>
              <a:t>the retina depends on the retinal and choroidal circulation </a:t>
            </a:r>
          </a:p>
          <a:p>
            <a:r>
              <a:rPr lang="en-US" sz="3200" dirty="0"/>
              <a:t>for its nutrition. Interestingly, the retinal circulation is an </a:t>
            </a:r>
          </a:p>
          <a:p>
            <a:r>
              <a:rPr lang="en-US" sz="3200" dirty="0"/>
              <a:t>end-arterial system and is influenced by metabolic activity </a:t>
            </a:r>
          </a:p>
          <a:p>
            <a:r>
              <a:rPr lang="en-US" sz="3200" dirty="0"/>
              <a:t>but does not receive autonomic </a:t>
            </a:r>
            <a:r>
              <a:rPr lang="en-US" sz="3200" dirty="0" smtClean="0"/>
              <a:t>innervation</a:t>
            </a:r>
            <a:endParaRPr lang="en-US" sz="3200" dirty="0"/>
          </a:p>
        </p:txBody>
      </p:sp>
    </p:spTree>
    <p:extLst>
      <p:ext uri="{BB962C8B-B14F-4D97-AF65-F5344CB8AC3E}">
        <p14:creationId xmlns:p14="http://schemas.microsoft.com/office/powerpoint/2010/main" val="11869091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a:p>
            <a:r>
              <a:rPr lang="en-US" sz="3200" dirty="0" smtClean="0"/>
              <a:t>The </a:t>
            </a:r>
            <a:r>
              <a:rPr lang="en-US" sz="3200" dirty="0"/>
              <a:t>choroidal circulation supplies a substantial 85% of the </a:t>
            </a:r>
          </a:p>
          <a:p>
            <a:r>
              <a:rPr lang="en-US" sz="3200" dirty="0"/>
              <a:t>retina, providing vital nutrients to the retinal pigment and </a:t>
            </a:r>
          </a:p>
          <a:p>
            <a:r>
              <a:rPr lang="en-US" sz="3200" dirty="0"/>
              <a:t>photoreceptors. The intricate interplay between IOP and </a:t>
            </a:r>
          </a:p>
          <a:p>
            <a:r>
              <a:rPr lang="en-US" sz="3200" dirty="0"/>
              <a:t>mean arterial pressure is pivotal in governing the regulation </a:t>
            </a:r>
            <a:r>
              <a:rPr lang="en-US" sz="3200" dirty="0" smtClean="0"/>
              <a:t>of </a:t>
            </a:r>
            <a:r>
              <a:rPr lang="en-US" sz="3200" dirty="0"/>
              <a:t>both choroidal and retinal </a:t>
            </a:r>
            <a:r>
              <a:rPr lang="en-US" sz="3200" dirty="0" smtClean="0"/>
              <a:t>circulation.</a:t>
            </a:r>
            <a:endParaRPr lang="en-US" sz="3200" dirty="0"/>
          </a:p>
        </p:txBody>
      </p:sp>
    </p:spTree>
    <p:extLst>
      <p:ext uri="{BB962C8B-B14F-4D97-AF65-F5344CB8AC3E}">
        <p14:creationId xmlns:p14="http://schemas.microsoft.com/office/powerpoint/2010/main" val="13431513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Innervation of the eye </a:t>
            </a:r>
            <a:endParaRPr lang="en-US" dirty="0"/>
          </a:p>
        </p:txBody>
      </p:sp>
      <p:sp>
        <p:nvSpPr>
          <p:cNvPr id="3" name="Content Placeholder 2"/>
          <p:cNvSpPr>
            <a:spLocks noGrp="1"/>
          </p:cNvSpPr>
          <p:nvPr>
            <p:ph idx="1"/>
          </p:nvPr>
        </p:nvSpPr>
        <p:spPr/>
        <p:txBody>
          <a:bodyPr>
            <a:normAutofit/>
          </a:bodyPr>
          <a:lstStyle/>
          <a:p>
            <a:r>
              <a:rPr lang="en-US" sz="2800" dirty="0" err="1"/>
              <a:t>Occulo</a:t>
            </a:r>
            <a:r>
              <a:rPr lang="en-US" sz="2800" dirty="0"/>
              <a:t> motor nerve</a:t>
            </a:r>
          </a:p>
          <a:p>
            <a:r>
              <a:rPr lang="en-US" sz="2800" dirty="0" err="1"/>
              <a:t>Trochealer</a:t>
            </a:r>
            <a:r>
              <a:rPr lang="en-US" sz="2800" dirty="0"/>
              <a:t> nerve</a:t>
            </a:r>
          </a:p>
          <a:p>
            <a:r>
              <a:rPr lang="en-US" sz="2800" dirty="0" err="1"/>
              <a:t>Abducens</a:t>
            </a:r>
            <a:r>
              <a:rPr lang="en-US" sz="2800" dirty="0"/>
              <a:t> nerve</a:t>
            </a:r>
          </a:p>
          <a:p>
            <a:r>
              <a:rPr lang="en-US" sz="2800" dirty="0"/>
              <a:t>Trigeminal nerve</a:t>
            </a:r>
          </a:p>
          <a:p>
            <a:r>
              <a:rPr lang="en-US" sz="2800" dirty="0"/>
              <a:t>Zygomatic branch of facial nerve</a:t>
            </a:r>
          </a:p>
          <a:p>
            <a:endParaRPr lang="en-US" sz="2800" dirty="0"/>
          </a:p>
        </p:txBody>
      </p:sp>
    </p:spTree>
    <p:extLst>
      <p:ext uri="{BB962C8B-B14F-4D97-AF65-F5344CB8AC3E}">
        <p14:creationId xmlns:p14="http://schemas.microsoft.com/office/powerpoint/2010/main" val="1485984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III /IV /VI Nerves </a:t>
            </a:r>
            <a:endParaRPr lang="en-US" dirty="0"/>
          </a:p>
        </p:txBody>
      </p:sp>
      <p:sp>
        <p:nvSpPr>
          <p:cNvPr id="3" name="Content Placeholder 2"/>
          <p:cNvSpPr>
            <a:spLocks noGrp="1"/>
          </p:cNvSpPr>
          <p:nvPr>
            <p:ph idx="1"/>
          </p:nvPr>
        </p:nvSpPr>
        <p:spPr/>
        <p:txBody>
          <a:bodyPr>
            <a:normAutofit/>
          </a:bodyPr>
          <a:lstStyle/>
          <a:p>
            <a:r>
              <a:rPr lang="en-US" sz="2800" dirty="0"/>
              <a:t>They enter the orbit through superior orbital fissure</a:t>
            </a:r>
          </a:p>
          <a:p>
            <a:r>
              <a:rPr lang="en-US" sz="2800" dirty="0"/>
              <a:t>III&amp;VI-enter extra ocular muscle cone </a:t>
            </a:r>
          </a:p>
          <a:p>
            <a:r>
              <a:rPr lang="en-US" sz="2800" dirty="0"/>
              <a:t>IV –to superior oblique muscle &amp;remains out side the muscle cone</a:t>
            </a:r>
          </a:p>
        </p:txBody>
      </p:sp>
    </p:spTree>
    <p:extLst>
      <p:ext uri="{BB962C8B-B14F-4D97-AF65-F5344CB8AC3E}">
        <p14:creationId xmlns:p14="http://schemas.microsoft.com/office/powerpoint/2010/main" val="2563282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Sensory innervation </a:t>
            </a:r>
            <a:endParaRPr lang="en-US" dirty="0"/>
          </a:p>
        </p:txBody>
      </p:sp>
      <p:sp>
        <p:nvSpPr>
          <p:cNvPr id="3" name="Content Placeholder 2"/>
          <p:cNvSpPr>
            <a:spLocks noGrp="1"/>
          </p:cNvSpPr>
          <p:nvPr>
            <p:ph idx="1"/>
          </p:nvPr>
        </p:nvSpPr>
        <p:spPr/>
        <p:txBody>
          <a:bodyPr/>
          <a:lstStyle/>
          <a:p>
            <a:pPr>
              <a:buNone/>
            </a:pPr>
            <a:r>
              <a:rPr lang="en-US" dirty="0"/>
              <a:t> </a:t>
            </a:r>
            <a:r>
              <a:rPr lang="en-US" sz="2800" dirty="0"/>
              <a:t>Trigeminal nerve</a:t>
            </a:r>
          </a:p>
          <a:p>
            <a:pPr>
              <a:buNone/>
            </a:pPr>
            <a:r>
              <a:rPr lang="en-US" sz="2800" dirty="0"/>
              <a:t>First division-ophthalmic</a:t>
            </a:r>
          </a:p>
          <a:p>
            <a:pPr>
              <a:buNone/>
            </a:pPr>
            <a:r>
              <a:rPr lang="en-US" sz="2800" dirty="0"/>
              <a:t>Second division-maxillary</a:t>
            </a:r>
          </a:p>
          <a:p>
            <a:pPr>
              <a:buNone/>
            </a:pPr>
            <a:r>
              <a:rPr lang="en-US" sz="2800" dirty="0"/>
              <a:t>Third </a:t>
            </a:r>
            <a:r>
              <a:rPr lang="en-US" sz="2800" dirty="0" err="1"/>
              <a:t>divison</a:t>
            </a:r>
            <a:r>
              <a:rPr lang="en-US" sz="2800" dirty="0"/>
              <a:t>-mandibular</a:t>
            </a:r>
          </a:p>
          <a:p>
            <a:endParaRPr lang="en-US" sz="2800" dirty="0"/>
          </a:p>
        </p:txBody>
      </p:sp>
    </p:spTree>
    <p:extLst>
      <p:ext uri="{BB962C8B-B14F-4D97-AF65-F5344CB8AC3E}">
        <p14:creationId xmlns:p14="http://schemas.microsoft.com/office/powerpoint/2010/main" val="34278730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Eye muscles </a:t>
            </a:r>
            <a:endParaRPr lang="en-US" dirty="0"/>
          </a:p>
        </p:txBody>
      </p:sp>
      <p:sp>
        <p:nvSpPr>
          <p:cNvPr id="3" name="Content Placeholder 2"/>
          <p:cNvSpPr>
            <a:spLocks noGrp="1"/>
          </p:cNvSpPr>
          <p:nvPr>
            <p:ph idx="1"/>
          </p:nvPr>
        </p:nvSpPr>
        <p:spPr/>
        <p:txBody>
          <a:bodyPr>
            <a:normAutofit lnSpcReduction="10000"/>
          </a:bodyPr>
          <a:lstStyle/>
          <a:p>
            <a:r>
              <a:rPr lang="en-US" sz="2800" b="1" u="sng" dirty="0" err="1" smtClean="0"/>
              <a:t>Extrinisic</a:t>
            </a:r>
            <a:r>
              <a:rPr lang="en-US" sz="2800" u="sng" dirty="0" smtClean="0"/>
              <a:t> </a:t>
            </a:r>
          </a:p>
          <a:p>
            <a:r>
              <a:rPr lang="en-US" sz="2800" dirty="0"/>
              <a:t>They attach to the outside of the eye ball and to the bone of the orbit</a:t>
            </a:r>
          </a:p>
          <a:p>
            <a:r>
              <a:rPr lang="en-US" sz="2800" b="1" u="sng" dirty="0" smtClean="0"/>
              <a:t>Intrinsic </a:t>
            </a:r>
          </a:p>
          <a:p>
            <a:r>
              <a:rPr lang="en-US" sz="2800" dirty="0"/>
              <a:t>they are smooth and involuntary</a:t>
            </a:r>
          </a:p>
          <a:p>
            <a:r>
              <a:rPr lang="en-US" sz="2800" dirty="0"/>
              <a:t>Iris and ciliary muscle</a:t>
            </a:r>
          </a:p>
          <a:p>
            <a:r>
              <a:rPr lang="en-US" sz="2800" dirty="0"/>
              <a:t>iris-regulate the size of the pupil</a:t>
            </a:r>
          </a:p>
          <a:p>
            <a:r>
              <a:rPr lang="en-US" sz="2800" dirty="0"/>
              <a:t>Ciliary muscle –control shape of the lenses </a:t>
            </a:r>
          </a:p>
          <a:p>
            <a:endParaRPr lang="en-US" dirty="0"/>
          </a:p>
          <a:p>
            <a:endParaRPr lang="en-US" dirty="0"/>
          </a:p>
        </p:txBody>
      </p:sp>
    </p:spTree>
    <p:extLst>
      <p:ext uri="{BB962C8B-B14F-4D97-AF65-F5344CB8AC3E}">
        <p14:creationId xmlns:p14="http://schemas.microsoft.com/office/powerpoint/2010/main" val="25363244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Formation of retinal images </a:t>
            </a:r>
            <a:endParaRPr lang="en-US" dirty="0"/>
          </a:p>
        </p:txBody>
      </p:sp>
      <p:sp>
        <p:nvSpPr>
          <p:cNvPr id="3" name="Content Placeholder 2"/>
          <p:cNvSpPr>
            <a:spLocks noGrp="1"/>
          </p:cNvSpPr>
          <p:nvPr>
            <p:ph idx="1"/>
          </p:nvPr>
        </p:nvSpPr>
        <p:spPr/>
        <p:txBody>
          <a:bodyPr>
            <a:normAutofit/>
          </a:bodyPr>
          <a:lstStyle/>
          <a:p>
            <a:r>
              <a:rPr lang="en-US" sz="3200" dirty="0"/>
              <a:t>Different processes to focus light rays </a:t>
            </a:r>
            <a:r>
              <a:rPr lang="en-US" sz="3200" dirty="0" smtClean="0"/>
              <a:t>to </a:t>
            </a:r>
            <a:r>
              <a:rPr lang="en-US" sz="3200" dirty="0"/>
              <a:t>form clear image</a:t>
            </a:r>
          </a:p>
          <a:p>
            <a:pPr>
              <a:buNone/>
            </a:pPr>
            <a:r>
              <a:rPr lang="en-US" sz="3200" dirty="0">
                <a:solidFill>
                  <a:srgbClr val="FF0000"/>
                </a:solidFill>
              </a:rPr>
              <a:t>Refraction of light </a:t>
            </a:r>
            <a:r>
              <a:rPr lang="en-US" sz="3200" dirty="0" smtClean="0">
                <a:solidFill>
                  <a:srgbClr val="FF0000"/>
                </a:solidFill>
              </a:rPr>
              <a:t>rays</a:t>
            </a:r>
          </a:p>
          <a:p>
            <a:pPr>
              <a:buNone/>
            </a:pPr>
            <a:r>
              <a:rPr lang="en-US" sz="3200" dirty="0"/>
              <a:t>Bending of or deflection of light rays when passing obliquely from one transparent media into an other or different optical </a:t>
            </a:r>
            <a:r>
              <a:rPr lang="en-US" sz="3200" dirty="0" smtClean="0"/>
              <a:t>density If </a:t>
            </a:r>
            <a:r>
              <a:rPr lang="en-US" sz="3200" dirty="0"/>
              <a:t>more convex surface → more refractive power</a:t>
            </a:r>
          </a:p>
          <a:p>
            <a:pPr>
              <a:buNone/>
            </a:pPr>
            <a:endParaRPr lang="en-US" sz="3200" dirty="0"/>
          </a:p>
        </p:txBody>
      </p:sp>
    </p:spTree>
    <p:extLst>
      <p:ext uri="{BB962C8B-B14F-4D97-AF65-F5344CB8AC3E}">
        <p14:creationId xmlns:p14="http://schemas.microsoft.com/office/powerpoint/2010/main" val="14198960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sz="4500" dirty="0">
                <a:solidFill>
                  <a:srgbClr val="FF0000"/>
                </a:solidFill>
              </a:rPr>
              <a:t>Convergence of the eyes </a:t>
            </a:r>
          </a:p>
          <a:p>
            <a:r>
              <a:rPr lang="en-US" sz="4500" dirty="0" smtClean="0"/>
              <a:t>The movement of two eye balls in ward so that their visual axis come together or converge at the object viewed.</a:t>
            </a:r>
          </a:p>
          <a:p>
            <a:r>
              <a:rPr lang="en-US" sz="4500" dirty="0" err="1"/>
              <a:t>Nearonal</a:t>
            </a:r>
            <a:r>
              <a:rPr lang="en-US" sz="4500" dirty="0"/>
              <a:t> mechanism for convergence cause as simultaneous signal to strength the </a:t>
            </a:r>
            <a:r>
              <a:rPr lang="en-US" sz="4500" dirty="0" err="1"/>
              <a:t>lense</a:t>
            </a:r>
            <a:r>
              <a:rPr lang="en-US" sz="4500" dirty="0"/>
              <a:t> </a:t>
            </a:r>
            <a:r>
              <a:rPr lang="en-US" sz="4500" dirty="0" smtClean="0"/>
              <a:t>of </a:t>
            </a:r>
            <a:r>
              <a:rPr lang="en-US" sz="4500" dirty="0"/>
              <a:t>the eye</a:t>
            </a:r>
            <a:r>
              <a:rPr lang="en-US" sz="4000" dirty="0" smtClean="0"/>
              <a:t>.</a:t>
            </a:r>
            <a:endParaRPr lang="en-US" sz="4000" dirty="0"/>
          </a:p>
        </p:txBody>
      </p:sp>
    </p:spTree>
    <p:extLst>
      <p:ext uri="{BB962C8B-B14F-4D97-AF65-F5344CB8AC3E}">
        <p14:creationId xmlns:p14="http://schemas.microsoft.com/office/powerpoint/2010/main" val="3982650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a:buNone/>
            </a:pPr>
            <a:r>
              <a:rPr lang="en-US" sz="7000" dirty="0">
                <a:solidFill>
                  <a:srgbClr val="FF0000"/>
                </a:solidFill>
              </a:rPr>
              <a:t>Constriction of the pupil</a:t>
            </a:r>
          </a:p>
          <a:p>
            <a:r>
              <a:rPr lang="en-US" sz="7000" dirty="0">
                <a:solidFill>
                  <a:srgbClr val="FF0000"/>
                </a:solidFill>
              </a:rPr>
              <a:t>Prevents divergent rays from object entering the eye through the periphery of cornea </a:t>
            </a:r>
            <a:r>
              <a:rPr lang="en-US" sz="7000" dirty="0" smtClean="0">
                <a:solidFill>
                  <a:srgbClr val="FF0000"/>
                </a:solidFill>
              </a:rPr>
              <a:t>and lenses</a:t>
            </a:r>
            <a:r>
              <a:rPr lang="en-US" sz="7000" dirty="0" smtClean="0"/>
              <a:t>.</a:t>
            </a:r>
          </a:p>
          <a:p>
            <a:r>
              <a:rPr lang="en-US" sz="7000" dirty="0"/>
              <a:t>Constriction of the pupil by contraction of the circular fibers of the </a:t>
            </a:r>
            <a:r>
              <a:rPr lang="en-US" sz="7000" dirty="0" smtClean="0"/>
              <a:t>iris to Control </a:t>
            </a:r>
            <a:r>
              <a:rPr lang="en-US" sz="7000" dirty="0"/>
              <a:t>the pupillary diameter </a:t>
            </a:r>
          </a:p>
          <a:p>
            <a:endParaRPr lang="en-US" sz="5900" dirty="0"/>
          </a:p>
          <a:p>
            <a:r>
              <a:rPr lang="en-US" sz="4000" dirty="0"/>
              <a:t> </a:t>
            </a:r>
          </a:p>
          <a:p>
            <a:pPr>
              <a:buNone/>
            </a:pPr>
            <a:endParaRPr lang="en-US" sz="2400" dirty="0" smtClean="0"/>
          </a:p>
          <a:p>
            <a:pPr>
              <a:buNone/>
            </a:pPr>
            <a:endParaRPr lang="en-US" sz="2400" dirty="0"/>
          </a:p>
          <a:p>
            <a:pPr>
              <a:buNone/>
            </a:pPr>
            <a:endParaRPr lang="en-US" sz="2400" dirty="0" smtClean="0"/>
          </a:p>
        </p:txBody>
      </p:sp>
    </p:spTree>
    <p:extLst>
      <p:ext uri="{BB962C8B-B14F-4D97-AF65-F5344CB8AC3E}">
        <p14:creationId xmlns:p14="http://schemas.microsoft.com/office/powerpoint/2010/main" val="390653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solidFill>
                  <a:srgbClr val="FF0000"/>
                </a:solidFill>
              </a:rPr>
              <a:t>Parasympathetic stimulation </a:t>
            </a:r>
            <a:r>
              <a:rPr lang="en-US" sz="2800" dirty="0"/>
              <a:t>- Excites pupillary sphincter muscle there by decreasing </a:t>
            </a:r>
            <a:r>
              <a:rPr lang="en-US" sz="2800" dirty="0" smtClean="0"/>
              <a:t>pupillary </a:t>
            </a:r>
            <a:r>
              <a:rPr lang="en-US" sz="2800" dirty="0"/>
              <a:t>aperture which is </a:t>
            </a:r>
            <a:r>
              <a:rPr lang="en-US" sz="2800" dirty="0">
                <a:solidFill>
                  <a:srgbClr val="FF0000"/>
                </a:solidFill>
              </a:rPr>
              <a:t>called </a:t>
            </a:r>
            <a:r>
              <a:rPr lang="en-US" sz="2800" dirty="0" err="1" smtClean="0">
                <a:solidFill>
                  <a:srgbClr val="FF0000"/>
                </a:solidFill>
              </a:rPr>
              <a:t>moisis</a:t>
            </a:r>
            <a:endParaRPr lang="en-US" sz="2800" dirty="0" smtClean="0">
              <a:solidFill>
                <a:srgbClr val="FF0000"/>
              </a:solidFill>
            </a:endParaRPr>
          </a:p>
          <a:p>
            <a:endParaRPr lang="en-US" sz="2800" dirty="0"/>
          </a:p>
          <a:p>
            <a:r>
              <a:rPr lang="en-US" sz="2800" dirty="0" smtClean="0"/>
              <a:t> </a:t>
            </a:r>
            <a:r>
              <a:rPr lang="en-US" sz="2800" dirty="0">
                <a:solidFill>
                  <a:srgbClr val="FF0000"/>
                </a:solidFill>
              </a:rPr>
              <a:t>Stimulation of the SNS excites </a:t>
            </a:r>
            <a:r>
              <a:rPr lang="en-US" sz="2800" dirty="0"/>
              <a:t>the radial fibers of the iris and causes pupillary dilation </a:t>
            </a:r>
            <a:r>
              <a:rPr lang="en-US" sz="2800" dirty="0" smtClean="0"/>
              <a:t>which </a:t>
            </a:r>
            <a:r>
              <a:rPr lang="en-US" sz="2800" dirty="0"/>
              <a:t>is called </a:t>
            </a:r>
            <a:r>
              <a:rPr lang="en-US" sz="2800" dirty="0" err="1">
                <a:solidFill>
                  <a:srgbClr val="FF0000"/>
                </a:solidFill>
              </a:rPr>
              <a:t>mydriasis</a:t>
            </a:r>
            <a:endParaRPr lang="en-US" sz="2800" dirty="0">
              <a:solidFill>
                <a:srgbClr val="FF0000"/>
              </a:solidFill>
            </a:endParaRPr>
          </a:p>
        </p:txBody>
      </p:sp>
    </p:spTree>
    <p:extLst>
      <p:ext uri="{BB962C8B-B14F-4D97-AF65-F5344CB8AC3E}">
        <p14:creationId xmlns:p14="http://schemas.microsoft.com/office/powerpoint/2010/main" val="33033115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Neuronal pathway for </a:t>
            </a:r>
            <a:r>
              <a:rPr lang="en-US" b="1" u="sng" dirty="0" err="1"/>
              <a:t>pupilary</a:t>
            </a:r>
            <a:r>
              <a:rPr lang="en-US" b="1" u="sng" dirty="0"/>
              <a:t> reaction</a:t>
            </a:r>
            <a:br>
              <a:rPr lang="en-US" b="1" u="sng" dirty="0"/>
            </a:br>
            <a:r>
              <a:rPr lang="en-US" dirty="0"/>
              <a:t>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sz="3800" dirty="0" smtClean="0"/>
              <a:t>-  </a:t>
            </a:r>
            <a:r>
              <a:rPr lang="en-US" sz="3800" dirty="0"/>
              <a:t>Light impulse on retina</a:t>
            </a:r>
          </a:p>
          <a:p>
            <a:r>
              <a:rPr lang="en-US" sz="3800" dirty="0"/>
              <a:t>                ↓</a:t>
            </a:r>
          </a:p>
          <a:p>
            <a:r>
              <a:rPr lang="en-US" sz="3800" dirty="0"/>
              <a:t>-  Resulting impulse pass through optic nerve</a:t>
            </a:r>
          </a:p>
          <a:p>
            <a:r>
              <a:rPr lang="en-US" sz="3800" dirty="0"/>
              <a:t>                ↓   </a:t>
            </a:r>
          </a:p>
          <a:p>
            <a:r>
              <a:rPr lang="en-US" sz="3800" dirty="0"/>
              <a:t>-  To optical tracts</a:t>
            </a:r>
          </a:p>
          <a:p>
            <a:r>
              <a:rPr lang="en-US" sz="3800" dirty="0"/>
              <a:t>                </a:t>
            </a:r>
            <a:r>
              <a:rPr lang="en-US" sz="3800" dirty="0" smtClean="0"/>
              <a:t>↓</a:t>
            </a:r>
            <a:endParaRPr lang="en-US" sz="3800" dirty="0"/>
          </a:p>
        </p:txBody>
      </p:sp>
    </p:spTree>
    <p:extLst>
      <p:ext uri="{BB962C8B-B14F-4D97-AF65-F5344CB8AC3E}">
        <p14:creationId xmlns:p14="http://schemas.microsoft.com/office/powerpoint/2010/main" val="24499498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a:t>-  To pre </a:t>
            </a:r>
            <a:r>
              <a:rPr lang="en-US" sz="2400" dirty="0" err="1"/>
              <a:t>tectal</a:t>
            </a:r>
            <a:r>
              <a:rPr lang="en-US" sz="2400" dirty="0"/>
              <a:t> nuclei</a:t>
            </a:r>
          </a:p>
          <a:p>
            <a:r>
              <a:rPr lang="en-US" sz="2400" dirty="0"/>
              <a:t>                ↓</a:t>
            </a:r>
          </a:p>
          <a:p>
            <a:r>
              <a:rPr lang="en-US" sz="2400" dirty="0"/>
              <a:t>-  To </a:t>
            </a:r>
            <a:r>
              <a:rPr lang="en-US" sz="2400" dirty="0" err="1"/>
              <a:t>Edinger</a:t>
            </a:r>
            <a:r>
              <a:rPr lang="en-US" sz="2400" dirty="0"/>
              <a:t> west </a:t>
            </a:r>
            <a:r>
              <a:rPr lang="en-US" sz="2400" dirty="0" err="1"/>
              <a:t>phal</a:t>
            </a:r>
            <a:r>
              <a:rPr lang="en-US" sz="2400" dirty="0"/>
              <a:t> nucleus</a:t>
            </a:r>
          </a:p>
          <a:p>
            <a:r>
              <a:rPr lang="en-US" sz="2400" dirty="0"/>
              <a:t>                ↓ </a:t>
            </a:r>
          </a:p>
          <a:p>
            <a:r>
              <a:rPr lang="en-US" sz="2400" dirty="0"/>
              <a:t>-  Finally back through PNS    </a:t>
            </a:r>
          </a:p>
          <a:p>
            <a:r>
              <a:rPr lang="en-US" sz="2400" dirty="0"/>
              <a:t>                ↓</a:t>
            </a:r>
          </a:p>
          <a:p>
            <a:r>
              <a:rPr lang="en-US" sz="2400" dirty="0"/>
              <a:t>-  To constrict the sphincter of </a:t>
            </a:r>
            <a:r>
              <a:rPr lang="en-US" sz="2400" dirty="0" smtClean="0"/>
              <a:t>Iris                   (</a:t>
            </a:r>
            <a:r>
              <a:rPr lang="en-US" sz="2400" dirty="0" smtClean="0">
                <a:solidFill>
                  <a:srgbClr val="FF0000"/>
                </a:solidFill>
              </a:rPr>
              <a:t>Darkness )</a:t>
            </a:r>
            <a:endParaRPr lang="en-US" sz="2400" dirty="0">
              <a:solidFill>
                <a:srgbClr val="FF0000"/>
              </a:solidFill>
            </a:endParaRPr>
          </a:p>
          <a:p>
            <a:r>
              <a:rPr lang="en-US" dirty="0"/>
              <a:t>          </a:t>
            </a:r>
          </a:p>
        </p:txBody>
      </p:sp>
    </p:spTree>
    <p:extLst>
      <p:ext uri="{BB962C8B-B14F-4D97-AF65-F5344CB8AC3E}">
        <p14:creationId xmlns:p14="http://schemas.microsoft.com/office/powerpoint/2010/main" val="28507208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u="sng" dirty="0">
                <a:solidFill>
                  <a:srgbClr val="FF0000"/>
                </a:solidFill>
              </a:rPr>
              <a:t>Accommodation Mechanism</a:t>
            </a:r>
          </a:p>
          <a:p>
            <a:pPr marL="0" indent="0">
              <a:buNone/>
            </a:pPr>
            <a:r>
              <a:rPr lang="en-US" dirty="0" smtClean="0"/>
              <a:t> </a:t>
            </a:r>
            <a:r>
              <a:rPr lang="en-US" sz="2800" dirty="0"/>
              <a:t>Results from </a:t>
            </a:r>
            <a:r>
              <a:rPr lang="en-US" sz="2800" dirty="0">
                <a:solidFill>
                  <a:srgbClr val="FF0000"/>
                </a:solidFill>
              </a:rPr>
              <a:t>contraction or relaxation of the ciliary muscle</a:t>
            </a:r>
          </a:p>
          <a:p>
            <a:r>
              <a:rPr lang="en-US" sz="2800" dirty="0" smtClean="0"/>
              <a:t>Contraction </a:t>
            </a:r>
            <a:r>
              <a:rPr lang="en-US" sz="2800" dirty="0"/>
              <a:t>- causes in creased strength of the </a:t>
            </a:r>
            <a:r>
              <a:rPr lang="en-US" sz="2800" dirty="0" err="1"/>
              <a:t>lense</a:t>
            </a:r>
            <a:r>
              <a:rPr lang="en-US" sz="2800" dirty="0"/>
              <a:t> system</a:t>
            </a:r>
          </a:p>
          <a:p>
            <a:r>
              <a:rPr lang="en-US" sz="2800" dirty="0" smtClean="0"/>
              <a:t> </a:t>
            </a:r>
            <a:r>
              <a:rPr lang="en-US" sz="2800" dirty="0"/>
              <a:t>Relaxation - causes decreased strength</a:t>
            </a:r>
          </a:p>
          <a:p>
            <a:r>
              <a:rPr lang="en-US" sz="2800" dirty="0" smtClean="0"/>
              <a:t> </a:t>
            </a:r>
            <a:r>
              <a:rPr lang="en-US" sz="2800" dirty="0">
                <a:solidFill>
                  <a:srgbClr val="FF0000"/>
                </a:solidFill>
              </a:rPr>
              <a:t>Accommodation → results by negative feed back mechanism that automatically adjust </a:t>
            </a:r>
            <a:r>
              <a:rPr lang="en-US" sz="2800" dirty="0" smtClean="0">
                <a:solidFill>
                  <a:srgbClr val="FF0000"/>
                </a:solidFill>
              </a:rPr>
              <a:t> </a:t>
            </a:r>
            <a:r>
              <a:rPr lang="en-US" sz="2800" dirty="0">
                <a:solidFill>
                  <a:srgbClr val="FF0000"/>
                </a:solidFill>
              </a:rPr>
              <a:t>the focal power of the </a:t>
            </a:r>
            <a:r>
              <a:rPr lang="en-US" sz="2800" dirty="0" err="1">
                <a:solidFill>
                  <a:srgbClr val="FF0000"/>
                </a:solidFill>
              </a:rPr>
              <a:t>lense</a:t>
            </a:r>
            <a:r>
              <a:rPr lang="en-US" sz="2800" dirty="0">
                <a:solidFill>
                  <a:srgbClr val="FF0000"/>
                </a:solidFill>
              </a:rPr>
              <a:t> for the highest degree of visual </a:t>
            </a:r>
            <a:r>
              <a:rPr lang="en-US" sz="2800" dirty="0" smtClean="0">
                <a:solidFill>
                  <a:srgbClr val="FF0000"/>
                </a:solidFill>
              </a:rPr>
              <a:t>acuity.</a:t>
            </a:r>
            <a:endParaRPr lang="en-US" sz="2800" dirty="0">
              <a:solidFill>
                <a:srgbClr val="FF0000"/>
              </a:solidFill>
            </a:endParaRPr>
          </a:p>
        </p:txBody>
      </p:sp>
    </p:spTree>
    <p:extLst>
      <p:ext uri="{BB962C8B-B14F-4D97-AF65-F5344CB8AC3E}">
        <p14:creationId xmlns:p14="http://schemas.microsoft.com/office/powerpoint/2010/main" val="11753784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200" dirty="0" smtClean="0"/>
              <a:t>When </a:t>
            </a:r>
            <a:r>
              <a:rPr lang="en-US" sz="3200" dirty="0"/>
              <a:t>eyes suddenly </a:t>
            </a:r>
            <a:r>
              <a:rPr lang="en-US" sz="3200" dirty="0">
                <a:solidFill>
                  <a:srgbClr val="FF0000"/>
                </a:solidFill>
              </a:rPr>
              <a:t>change the distance of the fixation point the </a:t>
            </a:r>
            <a:r>
              <a:rPr lang="en-US" sz="3200" dirty="0" err="1">
                <a:solidFill>
                  <a:srgbClr val="FF0000"/>
                </a:solidFill>
              </a:rPr>
              <a:t>lense</a:t>
            </a:r>
            <a:r>
              <a:rPr lang="en-US" sz="3200" dirty="0">
                <a:solidFill>
                  <a:srgbClr val="FF0000"/>
                </a:solidFill>
              </a:rPr>
              <a:t> always change </a:t>
            </a:r>
            <a:r>
              <a:rPr lang="en-US" sz="3200" dirty="0" smtClean="0">
                <a:solidFill>
                  <a:srgbClr val="FF0000"/>
                </a:solidFill>
              </a:rPr>
              <a:t> </a:t>
            </a:r>
            <a:r>
              <a:rPr lang="en-US" sz="3200" dirty="0">
                <a:solidFill>
                  <a:srgbClr val="FF0000"/>
                </a:solidFill>
              </a:rPr>
              <a:t>its strength in the proper </a:t>
            </a:r>
            <a:r>
              <a:rPr lang="en-US" sz="3200" dirty="0"/>
              <a:t>direction to achieve a new state of focus (no mistake by the </a:t>
            </a:r>
            <a:r>
              <a:rPr lang="en-US" sz="3200" dirty="0" smtClean="0"/>
              <a:t> </a:t>
            </a:r>
            <a:r>
              <a:rPr lang="en-US" sz="3200" dirty="0" err="1"/>
              <a:t>lense</a:t>
            </a:r>
            <a:r>
              <a:rPr lang="en-US" sz="3200" dirty="0"/>
              <a:t>)</a:t>
            </a:r>
          </a:p>
          <a:p>
            <a:r>
              <a:rPr lang="en-US" sz="3200" dirty="0"/>
              <a:t>Degree of accommodation of </a:t>
            </a:r>
            <a:r>
              <a:rPr lang="en-US" sz="3200" dirty="0" err="1"/>
              <a:t>lense</a:t>
            </a:r>
            <a:r>
              <a:rPr lang="en-US" sz="3200" dirty="0"/>
              <a:t> oscillates all the time up to </a:t>
            </a:r>
            <a:r>
              <a:rPr lang="en-US" sz="3200" dirty="0">
                <a:solidFill>
                  <a:srgbClr val="FF0000"/>
                </a:solidFill>
              </a:rPr>
              <a:t>two times per </a:t>
            </a:r>
            <a:r>
              <a:rPr lang="en-US" sz="3200" dirty="0" smtClean="0">
                <a:solidFill>
                  <a:srgbClr val="FF0000"/>
                </a:solidFill>
              </a:rPr>
              <a:t>second</a:t>
            </a:r>
            <a:r>
              <a:rPr lang="en-US" sz="3200" dirty="0" smtClean="0"/>
              <a:t>. </a:t>
            </a:r>
            <a:endParaRPr lang="en-US" sz="3200" dirty="0"/>
          </a:p>
          <a:p>
            <a:endParaRPr lang="en-US" sz="3200" dirty="0"/>
          </a:p>
        </p:txBody>
      </p:sp>
    </p:spTree>
    <p:extLst>
      <p:ext uri="{BB962C8B-B14F-4D97-AF65-F5344CB8AC3E}">
        <p14:creationId xmlns:p14="http://schemas.microsoft.com/office/powerpoint/2010/main" val="42644723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a:buNone/>
            </a:pPr>
            <a:endParaRPr lang="en-US" sz="2000" dirty="0" smtClean="0"/>
          </a:p>
          <a:p>
            <a:r>
              <a:rPr lang="en-US" sz="4000" b="1" u="sng" dirty="0">
                <a:solidFill>
                  <a:srgbClr val="FF0000"/>
                </a:solidFill>
              </a:rPr>
              <a:t>Stimulation of the retina</a:t>
            </a:r>
          </a:p>
          <a:p>
            <a:r>
              <a:rPr lang="en-US" sz="2000" dirty="0"/>
              <a:t> </a:t>
            </a:r>
          </a:p>
          <a:p>
            <a:r>
              <a:rPr lang="en-US" sz="4000" dirty="0" smtClean="0"/>
              <a:t> </a:t>
            </a:r>
            <a:r>
              <a:rPr lang="en-US" sz="4000" dirty="0"/>
              <a:t>Both rods and cones contain </a:t>
            </a:r>
            <a:r>
              <a:rPr lang="en-US" sz="4000" dirty="0" err="1"/>
              <a:t>photopignent</a:t>
            </a:r>
            <a:r>
              <a:rPr lang="en-US" sz="4000" dirty="0"/>
              <a:t> (light sensitive compounds)</a:t>
            </a:r>
          </a:p>
          <a:p>
            <a:r>
              <a:rPr lang="en-US" sz="4000" dirty="0"/>
              <a:t> </a:t>
            </a:r>
          </a:p>
          <a:p>
            <a:r>
              <a:rPr lang="en-US" sz="4000" dirty="0" smtClean="0"/>
              <a:t>The </a:t>
            </a:r>
            <a:r>
              <a:rPr lang="en-US" sz="4000" dirty="0"/>
              <a:t>photo pigment in rods is - Rhodesian (highly light sensitive even in deem light </a:t>
            </a:r>
            <a:r>
              <a:rPr lang="en-US" sz="4000" dirty="0" smtClean="0"/>
              <a:t>causing </a:t>
            </a:r>
            <a:r>
              <a:rPr lang="en-US" sz="4000" dirty="0"/>
              <a:t>its break down (produce vision in deem light)</a:t>
            </a:r>
          </a:p>
          <a:p>
            <a:pPr>
              <a:buNone/>
            </a:pPr>
            <a:endParaRPr lang="en-US" sz="2000" dirty="0"/>
          </a:p>
          <a:p>
            <a:pPr>
              <a:buNone/>
            </a:pPr>
            <a:endParaRPr lang="en-US" sz="2000" dirty="0"/>
          </a:p>
          <a:p>
            <a:pPr>
              <a:buNone/>
            </a:pPr>
            <a:r>
              <a:rPr lang="en-US" sz="2000" dirty="0"/>
              <a:t>Conduction to visual area</a:t>
            </a:r>
          </a:p>
        </p:txBody>
      </p:sp>
    </p:spTree>
    <p:extLst>
      <p:ext uri="{BB962C8B-B14F-4D97-AF65-F5344CB8AC3E}">
        <p14:creationId xmlns:p14="http://schemas.microsoft.com/office/powerpoint/2010/main" val="23925025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endParaRPr lang="en-US" sz="2400" dirty="0" smtClean="0"/>
          </a:p>
          <a:p>
            <a:r>
              <a:rPr lang="en-US" sz="2400" dirty="0"/>
              <a:t>The photo pigment cones contains three types.  </a:t>
            </a:r>
            <a:r>
              <a:rPr lang="en-US" sz="2400" dirty="0" err="1"/>
              <a:t>Erythrolable</a:t>
            </a:r>
            <a:r>
              <a:rPr lang="en-US" sz="2400" dirty="0"/>
              <a:t>, colorable </a:t>
            </a:r>
            <a:r>
              <a:rPr lang="en-US" sz="2400" dirty="0" smtClean="0"/>
              <a:t>&amp;</a:t>
            </a:r>
          </a:p>
          <a:p>
            <a:r>
              <a:rPr lang="en-US" sz="2400" dirty="0" err="1" smtClean="0"/>
              <a:t>cyanable</a:t>
            </a:r>
            <a:r>
              <a:rPr lang="en-US" sz="2400" dirty="0" smtClean="0"/>
              <a:t> (primary </a:t>
            </a:r>
            <a:r>
              <a:rPr lang="en-US" sz="2400" dirty="0"/>
              <a:t>colors which reflect light rays</a:t>
            </a:r>
            <a:r>
              <a:rPr lang="en-US" sz="2400" dirty="0" smtClean="0"/>
              <a:t>).</a:t>
            </a:r>
            <a:endParaRPr lang="en-US" sz="2400" dirty="0"/>
          </a:p>
          <a:p>
            <a:r>
              <a:rPr lang="en-US" sz="2400" dirty="0" smtClean="0"/>
              <a:t>The </a:t>
            </a:r>
            <a:r>
              <a:rPr lang="en-US" sz="2400" dirty="0">
                <a:solidFill>
                  <a:srgbClr val="FF0000"/>
                </a:solidFill>
              </a:rPr>
              <a:t>fovea </a:t>
            </a:r>
            <a:r>
              <a:rPr lang="en-US" sz="2400" dirty="0" err="1">
                <a:solidFill>
                  <a:srgbClr val="FF0000"/>
                </a:solidFill>
              </a:rPr>
              <a:t>centralis</a:t>
            </a:r>
            <a:r>
              <a:rPr lang="en-US" sz="2400" dirty="0">
                <a:solidFill>
                  <a:srgbClr val="FF0000"/>
                </a:solidFill>
              </a:rPr>
              <a:t> </a:t>
            </a:r>
            <a:r>
              <a:rPr lang="en-US" sz="2400" dirty="0"/>
              <a:t>- contains greatest concentration of cones.  (the point of clearest vision in good light).while </a:t>
            </a:r>
            <a:r>
              <a:rPr lang="en-US" sz="2400" dirty="0" err="1">
                <a:solidFill>
                  <a:srgbClr val="FF0000"/>
                </a:solidFill>
              </a:rPr>
              <a:t>Rodes</a:t>
            </a:r>
            <a:r>
              <a:rPr lang="en-US" sz="2400" dirty="0"/>
              <a:t> deem light </a:t>
            </a:r>
          </a:p>
        </p:txBody>
      </p:sp>
    </p:spTree>
    <p:extLst>
      <p:ext uri="{BB962C8B-B14F-4D97-AF65-F5344CB8AC3E}">
        <p14:creationId xmlns:p14="http://schemas.microsoft.com/office/powerpoint/2010/main" val="36689918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sz="6000" b="1" u="sng" dirty="0">
                <a:solidFill>
                  <a:srgbClr val="FF0000"/>
                </a:solidFill>
              </a:rPr>
              <a:t>Conduction to Visual Area</a:t>
            </a:r>
          </a:p>
          <a:p>
            <a:r>
              <a:rPr lang="en-US" sz="6000" dirty="0">
                <a:solidFill>
                  <a:srgbClr val="FF0000"/>
                </a:solidFill>
              </a:rPr>
              <a:t> </a:t>
            </a:r>
            <a:r>
              <a:rPr lang="en-US" sz="6000" dirty="0" smtClean="0"/>
              <a:t>Fibers </a:t>
            </a:r>
            <a:r>
              <a:rPr lang="en-US" sz="6000" dirty="0"/>
              <a:t>that conduct impulse from rods and cones reach visual cortex in the occipital </a:t>
            </a:r>
          </a:p>
          <a:p>
            <a:r>
              <a:rPr lang="en-US" sz="6000" dirty="0"/>
              <a:t>   lobes </a:t>
            </a:r>
            <a:r>
              <a:rPr lang="en-US" sz="6000" dirty="0" smtClean="0"/>
              <a:t>via</a:t>
            </a:r>
            <a:r>
              <a:rPr lang="en-US" sz="6000" dirty="0"/>
              <a:t> </a:t>
            </a:r>
            <a:r>
              <a:rPr lang="en-US" sz="6000" dirty="0" smtClean="0"/>
              <a:t>visual pathways .</a:t>
            </a:r>
          </a:p>
          <a:p>
            <a:r>
              <a:rPr lang="en-US" sz="6000" dirty="0"/>
              <a:t>From two retinas to → the visual cortex. </a:t>
            </a:r>
            <a:endParaRPr lang="en-US" sz="6000" dirty="0" smtClean="0"/>
          </a:p>
          <a:p>
            <a:r>
              <a:rPr lang="en-US" sz="6000" dirty="0" smtClean="0"/>
              <a:t> </a:t>
            </a:r>
            <a:r>
              <a:rPr lang="en-US" sz="6000" dirty="0"/>
              <a:t>After nerve impulse leave retina → they </a:t>
            </a:r>
            <a:r>
              <a:rPr lang="en-US" sz="6000" dirty="0">
                <a:solidFill>
                  <a:srgbClr val="FF0000"/>
                </a:solidFill>
              </a:rPr>
              <a:t>pass back ward through optic </a:t>
            </a:r>
            <a:r>
              <a:rPr lang="en-US" sz="6000" dirty="0" smtClean="0">
                <a:solidFill>
                  <a:srgbClr val="FF0000"/>
                </a:solidFill>
              </a:rPr>
              <a:t>nerves</a:t>
            </a:r>
          </a:p>
          <a:p>
            <a:endParaRPr lang="en-US" sz="6000" dirty="0">
              <a:solidFill>
                <a:srgbClr val="FF0000"/>
              </a:solidFill>
            </a:endParaRPr>
          </a:p>
          <a:p>
            <a:endParaRPr lang="en-US" dirty="0">
              <a:solidFill>
                <a:srgbClr val="FF0000"/>
              </a:solidFill>
            </a:endParaRPr>
          </a:p>
        </p:txBody>
      </p:sp>
    </p:spTree>
    <p:extLst>
      <p:ext uri="{BB962C8B-B14F-4D97-AF65-F5344CB8AC3E}">
        <p14:creationId xmlns:p14="http://schemas.microsoft.com/office/powerpoint/2010/main" val="17999870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a:solidFill>
                  <a:srgbClr val="FF0000"/>
                </a:solidFill>
              </a:rPr>
              <a:t>O</a:t>
            </a:r>
            <a:r>
              <a:rPr lang="en-US" sz="2400" dirty="0" smtClean="0">
                <a:solidFill>
                  <a:srgbClr val="FF0000"/>
                </a:solidFill>
              </a:rPr>
              <a:t>ptic </a:t>
            </a:r>
            <a:r>
              <a:rPr lang="en-US" sz="2400" dirty="0" err="1">
                <a:solidFill>
                  <a:srgbClr val="FF0000"/>
                </a:solidFill>
              </a:rPr>
              <a:t>chaism</a:t>
            </a:r>
            <a:r>
              <a:rPr lang="en-US" sz="2400" dirty="0">
                <a:solidFill>
                  <a:srgbClr val="FF0000"/>
                </a:solidFill>
              </a:rPr>
              <a:t> </a:t>
            </a:r>
            <a:r>
              <a:rPr lang="en-US" sz="2400" dirty="0"/>
              <a:t>→ all the fibers from the nasal halves of the retinas cross to the </a:t>
            </a:r>
            <a:r>
              <a:rPr lang="en-US" sz="2400" dirty="0" smtClean="0"/>
              <a:t>opposite </a:t>
            </a:r>
            <a:r>
              <a:rPr lang="en-US" sz="2400" dirty="0"/>
              <a:t>side where they join the fibers from opposite temporal retinas to form the </a:t>
            </a:r>
            <a:r>
              <a:rPr lang="en-US" sz="2400" dirty="0" smtClean="0"/>
              <a:t>optic </a:t>
            </a:r>
            <a:r>
              <a:rPr lang="en-US" sz="2400" dirty="0"/>
              <a:t>tracts</a:t>
            </a:r>
          </a:p>
          <a:p>
            <a:r>
              <a:rPr lang="en-US" sz="2400" dirty="0"/>
              <a:t> </a:t>
            </a:r>
          </a:p>
        </p:txBody>
      </p:sp>
    </p:spTree>
    <p:extLst>
      <p:ext uri="{BB962C8B-B14F-4D97-AF65-F5344CB8AC3E}">
        <p14:creationId xmlns:p14="http://schemas.microsoft.com/office/powerpoint/2010/main" val="35450001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a:t>
            </a:r>
            <a:r>
              <a:rPr lang="en-US" sz="2800" dirty="0">
                <a:solidFill>
                  <a:srgbClr val="FF0000"/>
                </a:solidFill>
              </a:rPr>
              <a:t>O</a:t>
            </a:r>
            <a:r>
              <a:rPr lang="en-US" sz="2800" dirty="0" smtClean="0">
                <a:solidFill>
                  <a:srgbClr val="FF0000"/>
                </a:solidFill>
              </a:rPr>
              <a:t>ptical </a:t>
            </a:r>
            <a:r>
              <a:rPr lang="en-US" sz="2800" dirty="0">
                <a:solidFill>
                  <a:srgbClr val="FF0000"/>
                </a:solidFill>
              </a:rPr>
              <a:t>tracts </a:t>
            </a:r>
            <a:r>
              <a:rPr lang="en-US" sz="2800" dirty="0"/>
              <a:t>synapse in the dorsal lateral geniculate nucleus and </a:t>
            </a:r>
          </a:p>
          <a:p>
            <a:r>
              <a:rPr lang="en-US" sz="2800" dirty="0"/>
              <a:t> </a:t>
            </a:r>
            <a:r>
              <a:rPr lang="en-US" sz="2800" dirty="0" smtClean="0"/>
              <a:t>from </a:t>
            </a:r>
            <a:r>
              <a:rPr lang="en-US" sz="2800" dirty="0"/>
              <a:t>here the </a:t>
            </a:r>
            <a:r>
              <a:rPr lang="en-US" sz="2800" dirty="0" err="1"/>
              <a:t>geniculo</a:t>
            </a:r>
            <a:r>
              <a:rPr lang="en-US" sz="2800" dirty="0"/>
              <a:t> </a:t>
            </a:r>
            <a:r>
              <a:rPr lang="en-US" sz="2800" dirty="0" err="1"/>
              <a:t>calcarine</a:t>
            </a:r>
            <a:r>
              <a:rPr lang="en-US" sz="2800" dirty="0"/>
              <a:t> fibers and pass by way of the </a:t>
            </a:r>
            <a:r>
              <a:rPr lang="en-US" sz="2800" dirty="0">
                <a:solidFill>
                  <a:srgbClr val="FF0000"/>
                </a:solidFill>
              </a:rPr>
              <a:t>optical radiations </a:t>
            </a:r>
            <a:r>
              <a:rPr lang="en-US" sz="2800" dirty="0"/>
              <a:t>or </a:t>
            </a:r>
            <a:r>
              <a:rPr lang="en-US" sz="2800" dirty="0" err="1" smtClean="0"/>
              <a:t>geniculocal</a:t>
            </a:r>
            <a:r>
              <a:rPr lang="en-US" sz="2800" dirty="0" smtClean="0"/>
              <a:t> </a:t>
            </a:r>
            <a:r>
              <a:rPr lang="en-US" sz="2800" dirty="0" err="1"/>
              <a:t>carine</a:t>
            </a:r>
            <a:r>
              <a:rPr lang="en-US" sz="2800" dirty="0"/>
              <a:t> tract to the </a:t>
            </a:r>
            <a:r>
              <a:rPr lang="en-US" sz="2800" dirty="0">
                <a:solidFill>
                  <a:srgbClr val="FF0000"/>
                </a:solidFill>
              </a:rPr>
              <a:t>primary visual </a:t>
            </a:r>
            <a:r>
              <a:rPr lang="en-US" sz="2800" dirty="0" err="1">
                <a:solidFill>
                  <a:srgbClr val="FF0000"/>
                </a:solidFill>
              </a:rPr>
              <a:t>courtex</a:t>
            </a:r>
            <a:r>
              <a:rPr lang="en-US" sz="2800" dirty="0">
                <a:solidFill>
                  <a:srgbClr val="FF0000"/>
                </a:solidFill>
              </a:rPr>
              <a:t> in the </a:t>
            </a:r>
            <a:r>
              <a:rPr lang="en-US" sz="2800" dirty="0" err="1">
                <a:solidFill>
                  <a:srgbClr val="FF0000"/>
                </a:solidFill>
              </a:rPr>
              <a:t>calcarine</a:t>
            </a:r>
            <a:r>
              <a:rPr lang="en-US" sz="2800" dirty="0">
                <a:solidFill>
                  <a:srgbClr val="FF0000"/>
                </a:solidFill>
              </a:rPr>
              <a:t> area of the </a:t>
            </a:r>
            <a:r>
              <a:rPr lang="en-US" sz="2800" dirty="0" smtClean="0">
                <a:solidFill>
                  <a:srgbClr val="FF0000"/>
                </a:solidFill>
              </a:rPr>
              <a:t>occipital </a:t>
            </a:r>
            <a:r>
              <a:rPr lang="en-US" sz="2800" dirty="0">
                <a:solidFill>
                  <a:srgbClr val="FF0000"/>
                </a:solidFill>
              </a:rPr>
              <a:t>lobe	</a:t>
            </a:r>
          </a:p>
        </p:txBody>
      </p:sp>
    </p:spTree>
    <p:extLst>
      <p:ext uri="{BB962C8B-B14F-4D97-AF65-F5344CB8AC3E}">
        <p14:creationId xmlns:p14="http://schemas.microsoft.com/office/powerpoint/2010/main" val="41292175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t>Visual Fibers also pass to the </a:t>
            </a:r>
            <a:r>
              <a:rPr lang="en-US" sz="2800" dirty="0">
                <a:solidFill>
                  <a:srgbClr val="FF0000"/>
                </a:solidFill>
              </a:rPr>
              <a:t>older </a:t>
            </a:r>
            <a:r>
              <a:rPr lang="en-US" sz="2800" dirty="0" err="1">
                <a:solidFill>
                  <a:srgbClr val="FF0000"/>
                </a:solidFill>
              </a:rPr>
              <a:t>precortical</a:t>
            </a:r>
            <a:r>
              <a:rPr lang="en-US" sz="2800" dirty="0">
                <a:solidFill>
                  <a:srgbClr val="FF0000"/>
                </a:solidFill>
              </a:rPr>
              <a:t> </a:t>
            </a:r>
            <a:r>
              <a:rPr lang="en-US" sz="2800" dirty="0"/>
              <a:t>areas of the brain</a:t>
            </a:r>
          </a:p>
          <a:p>
            <a:r>
              <a:rPr lang="en-US" sz="2800" dirty="0"/>
              <a:t>a. From optic tracts to the </a:t>
            </a:r>
            <a:r>
              <a:rPr lang="en-US" sz="2800" dirty="0" err="1"/>
              <a:t>suprachaismatic</a:t>
            </a:r>
            <a:r>
              <a:rPr lang="en-US" sz="2800" dirty="0"/>
              <a:t> nucleus of the </a:t>
            </a:r>
            <a:r>
              <a:rPr lang="en-US" sz="2800" dirty="0">
                <a:solidFill>
                  <a:srgbClr val="FF0000"/>
                </a:solidFill>
              </a:rPr>
              <a:t>hypothalamus.</a:t>
            </a:r>
            <a:r>
              <a:rPr lang="en-US" sz="2800" dirty="0"/>
              <a:t>  Presumably for </a:t>
            </a:r>
            <a:r>
              <a:rPr lang="en-US" sz="2800" dirty="0" smtClean="0"/>
              <a:t>controlling </a:t>
            </a:r>
            <a:r>
              <a:rPr lang="en-US" sz="2800" dirty="0">
                <a:solidFill>
                  <a:srgbClr val="FF0000"/>
                </a:solidFill>
              </a:rPr>
              <a:t>circadian rhythms</a:t>
            </a:r>
          </a:p>
          <a:p>
            <a:r>
              <a:rPr lang="en-US" sz="2800" dirty="0"/>
              <a:t> </a:t>
            </a:r>
          </a:p>
          <a:p>
            <a:r>
              <a:rPr lang="en-US" sz="2800" dirty="0"/>
              <a:t>b. In to the </a:t>
            </a:r>
            <a:r>
              <a:rPr lang="en-US" sz="2800" dirty="0" err="1">
                <a:solidFill>
                  <a:srgbClr val="FF0000"/>
                </a:solidFill>
              </a:rPr>
              <a:t>pertectal</a:t>
            </a:r>
            <a:r>
              <a:rPr lang="en-US" sz="2800" dirty="0">
                <a:solidFill>
                  <a:srgbClr val="FF0000"/>
                </a:solidFill>
              </a:rPr>
              <a:t> nuclei </a:t>
            </a:r>
            <a:r>
              <a:rPr lang="en-US" sz="2800" dirty="0"/>
              <a:t>for eliciting some reflex movements of the eyes </a:t>
            </a:r>
            <a:r>
              <a:rPr lang="en-US" sz="2800" dirty="0">
                <a:solidFill>
                  <a:srgbClr val="FF0000"/>
                </a:solidFill>
              </a:rPr>
              <a:t>focused on </a:t>
            </a:r>
            <a:r>
              <a:rPr lang="en-US" sz="2800" dirty="0" smtClean="0">
                <a:solidFill>
                  <a:srgbClr val="FF0000"/>
                </a:solidFill>
              </a:rPr>
              <a:t>objects </a:t>
            </a:r>
            <a:r>
              <a:rPr lang="en-US" sz="2800" dirty="0">
                <a:solidFill>
                  <a:srgbClr val="FF0000"/>
                </a:solidFill>
              </a:rPr>
              <a:t>of importance </a:t>
            </a:r>
            <a:r>
              <a:rPr lang="en-US" sz="2800" dirty="0"/>
              <a:t>and also for activating the pupillary light reflex</a:t>
            </a:r>
          </a:p>
          <a:p>
            <a:r>
              <a:rPr lang="en-US" dirty="0"/>
              <a:t> </a:t>
            </a:r>
          </a:p>
          <a:p>
            <a:endParaRPr lang="en-US" dirty="0"/>
          </a:p>
        </p:txBody>
      </p:sp>
    </p:spTree>
    <p:extLst>
      <p:ext uri="{BB962C8B-B14F-4D97-AF65-F5344CB8AC3E}">
        <p14:creationId xmlns:p14="http://schemas.microsoft.com/office/powerpoint/2010/main" val="30664712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dirty="0" smtClean="0"/>
              <a:t>c. </a:t>
            </a:r>
            <a:r>
              <a:rPr lang="en-US" sz="2800" dirty="0"/>
              <a:t>Into </a:t>
            </a:r>
            <a:r>
              <a:rPr lang="en-US" sz="2800" dirty="0">
                <a:solidFill>
                  <a:srgbClr val="FF0000"/>
                </a:solidFill>
              </a:rPr>
              <a:t>superior colliculus </a:t>
            </a:r>
            <a:r>
              <a:rPr lang="en-US" sz="2800" dirty="0"/>
              <a:t>for </a:t>
            </a:r>
            <a:r>
              <a:rPr lang="en-US" sz="2800" dirty="0">
                <a:solidFill>
                  <a:srgbClr val="FF0000"/>
                </a:solidFill>
              </a:rPr>
              <a:t>control of rapid directional movements </a:t>
            </a:r>
            <a:r>
              <a:rPr lang="en-US" sz="2800" dirty="0"/>
              <a:t>of the two eyes</a:t>
            </a:r>
          </a:p>
          <a:p>
            <a:r>
              <a:rPr lang="en-US" sz="2800" dirty="0"/>
              <a:t> </a:t>
            </a:r>
          </a:p>
          <a:p>
            <a:r>
              <a:rPr lang="en-US" sz="2800" dirty="0"/>
              <a:t>d. Into the ventral lateral </a:t>
            </a:r>
            <a:r>
              <a:rPr lang="en-US" sz="2800" dirty="0">
                <a:solidFill>
                  <a:srgbClr val="FF0000"/>
                </a:solidFill>
              </a:rPr>
              <a:t>geniculate nucleus of the thalamus </a:t>
            </a:r>
            <a:r>
              <a:rPr lang="en-US" sz="2800" dirty="0"/>
              <a:t>and hence into the </a:t>
            </a:r>
            <a:r>
              <a:rPr lang="en-US" sz="2800" dirty="0" smtClean="0"/>
              <a:t>surrounding </a:t>
            </a:r>
            <a:r>
              <a:rPr lang="en-US" sz="2800" dirty="0"/>
              <a:t>basal regions of the brain.  Presumably to help control some of the </a:t>
            </a:r>
            <a:r>
              <a:rPr lang="en-US" sz="2800" dirty="0">
                <a:solidFill>
                  <a:srgbClr val="FF0000"/>
                </a:solidFill>
              </a:rPr>
              <a:t>body's </a:t>
            </a:r>
            <a:r>
              <a:rPr lang="en-US" sz="2800" dirty="0" smtClean="0">
                <a:solidFill>
                  <a:srgbClr val="FF0000"/>
                </a:solidFill>
              </a:rPr>
              <a:t>behavioral </a:t>
            </a:r>
            <a:r>
              <a:rPr lang="en-US" sz="2800" dirty="0">
                <a:solidFill>
                  <a:srgbClr val="FF0000"/>
                </a:solidFill>
              </a:rPr>
              <a:t>functions</a:t>
            </a:r>
            <a:r>
              <a:rPr lang="en-US" sz="2800" dirty="0"/>
              <a:t>.</a:t>
            </a:r>
          </a:p>
          <a:p>
            <a:r>
              <a:rPr lang="en-US" sz="2800" dirty="0"/>
              <a:t> </a:t>
            </a:r>
          </a:p>
          <a:p>
            <a:endParaRPr lang="en-US" dirty="0"/>
          </a:p>
        </p:txBody>
      </p:sp>
    </p:spTree>
    <p:extLst>
      <p:ext uri="{BB962C8B-B14F-4D97-AF65-F5344CB8AC3E}">
        <p14:creationId xmlns:p14="http://schemas.microsoft.com/office/powerpoint/2010/main" val="24388533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of visual pathways </a:t>
            </a:r>
            <a:endParaRPr lang="en-US" dirty="0"/>
          </a:p>
        </p:txBody>
      </p:sp>
      <p:sp>
        <p:nvSpPr>
          <p:cNvPr id="3" name="Content Placeholder 2"/>
          <p:cNvSpPr>
            <a:spLocks noGrp="1"/>
          </p:cNvSpPr>
          <p:nvPr>
            <p:ph idx="1"/>
          </p:nvPr>
        </p:nvSpPr>
        <p:spPr/>
        <p:txBody>
          <a:bodyPr/>
          <a:lstStyle/>
          <a:p>
            <a:pPr>
              <a:buNone/>
            </a:pPr>
            <a:r>
              <a:rPr lang="en-US" dirty="0"/>
              <a:t> </a:t>
            </a:r>
            <a:r>
              <a:rPr lang="en-US" sz="2800" dirty="0"/>
              <a:t>Retina</a:t>
            </a:r>
          </a:p>
          <a:p>
            <a:pPr>
              <a:buNone/>
            </a:pPr>
            <a:r>
              <a:rPr lang="en-US" sz="2800" dirty="0"/>
              <a:t> </a:t>
            </a:r>
            <a:r>
              <a:rPr lang="en-US" sz="2800" dirty="0" smtClean="0"/>
              <a:t> </a:t>
            </a:r>
            <a:r>
              <a:rPr lang="en-US" sz="2800" dirty="0"/>
              <a:t>optical nerve</a:t>
            </a:r>
          </a:p>
          <a:p>
            <a:pPr>
              <a:buNone/>
            </a:pPr>
            <a:r>
              <a:rPr lang="en-US" sz="2800" dirty="0"/>
              <a:t>   </a:t>
            </a:r>
            <a:r>
              <a:rPr lang="en-US" sz="2800" dirty="0" smtClean="0"/>
              <a:t>optic </a:t>
            </a:r>
            <a:r>
              <a:rPr lang="en-US" sz="2800" dirty="0" err="1"/>
              <a:t>chaism</a:t>
            </a:r>
            <a:endParaRPr lang="en-US" sz="2800" dirty="0"/>
          </a:p>
          <a:p>
            <a:pPr>
              <a:buNone/>
            </a:pPr>
            <a:r>
              <a:rPr lang="en-US" sz="2800" dirty="0"/>
              <a:t>    </a:t>
            </a:r>
            <a:r>
              <a:rPr lang="en-US" sz="2800" dirty="0" smtClean="0"/>
              <a:t>optical </a:t>
            </a:r>
            <a:r>
              <a:rPr lang="en-US" sz="2800" dirty="0"/>
              <a:t>tracts</a:t>
            </a:r>
          </a:p>
          <a:p>
            <a:pPr>
              <a:buNone/>
            </a:pPr>
            <a:r>
              <a:rPr lang="en-US" sz="2800" dirty="0"/>
              <a:t>    </a:t>
            </a:r>
            <a:r>
              <a:rPr lang="en-US" sz="2800" dirty="0" smtClean="0"/>
              <a:t>optical </a:t>
            </a:r>
            <a:r>
              <a:rPr lang="en-US" sz="2800" dirty="0"/>
              <a:t>radiation</a:t>
            </a:r>
          </a:p>
          <a:p>
            <a:pPr>
              <a:buNone/>
            </a:pPr>
            <a:r>
              <a:rPr lang="en-US" sz="2800" dirty="0"/>
              <a:t>   </a:t>
            </a:r>
            <a:r>
              <a:rPr lang="en-US" sz="2800" dirty="0" smtClean="0"/>
              <a:t>then </a:t>
            </a:r>
            <a:r>
              <a:rPr lang="en-US" sz="2800" dirty="0"/>
              <a:t>reach to primary </a:t>
            </a:r>
            <a:r>
              <a:rPr lang="en-US" sz="2800" dirty="0">
                <a:solidFill>
                  <a:srgbClr val="FF0000"/>
                </a:solidFill>
              </a:rPr>
              <a:t>visual area in the </a:t>
            </a:r>
            <a:r>
              <a:rPr lang="en-US" sz="2800" dirty="0" err="1">
                <a:solidFill>
                  <a:srgbClr val="FF0000"/>
                </a:solidFill>
              </a:rPr>
              <a:t>calcarine</a:t>
            </a:r>
            <a:r>
              <a:rPr lang="en-US" sz="2800" dirty="0">
                <a:solidFill>
                  <a:srgbClr val="FF0000"/>
                </a:solidFill>
              </a:rPr>
              <a:t> area of the occipital lobe</a:t>
            </a:r>
          </a:p>
        </p:txBody>
      </p:sp>
    </p:spTree>
    <p:extLst>
      <p:ext uri="{BB962C8B-B14F-4D97-AF65-F5344CB8AC3E}">
        <p14:creationId xmlns:p14="http://schemas.microsoft.com/office/powerpoint/2010/main" val="40886505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Fluid system of the eye </a:t>
            </a:r>
            <a:endParaRPr lang="en-US" dirty="0"/>
          </a:p>
        </p:txBody>
      </p:sp>
      <p:sp>
        <p:nvSpPr>
          <p:cNvPr id="3" name="Content Placeholder 2"/>
          <p:cNvSpPr>
            <a:spLocks noGrp="1"/>
          </p:cNvSpPr>
          <p:nvPr>
            <p:ph idx="1"/>
          </p:nvPr>
        </p:nvSpPr>
        <p:spPr/>
        <p:txBody>
          <a:bodyPr/>
          <a:lstStyle/>
          <a:p>
            <a:endParaRPr lang="en-US" dirty="0" smtClean="0"/>
          </a:p>
          <a:p>
            <a:r>
              <a:rPr lang="en-US" sz="2800" dirty="0">
                <a:solidFill>
                  <a:srgbClr val="FF0000"/>
                </a:solidFill>
              </a:rPr>
              <a:t>Eye ball is not a solid </a:t>
            </a:r>
            <a:r>
              <a:rPr lang="en-US" sz="2800" dirty="0" smtClean="0">
                <a:solidFill>
                  <a:srgbClr val="FF0000"/>
                </a:solidFill>
              </a:rPr>
              <a:t>sphere </a:t>
            </a:r>
            <a:r>
              <a:rPr lang="en-US" sz="2800" dirty="0" smtClean="0"/>
              <a:t>contains fluid called aqueous and vitreous humor </a:t>
            </a:r>
            <a:endParaRPr lang="en-US" sz="2800" dirty="0"/>
          </a:p>
          <a:p>
            <a:r>
              <a:rPr lang="en-US" sz="2800" dirty="0" smtClean="0">
                <a:solidFill>
                  <a:srgbClr val="FF0000"/>
                </a:solidFill>
              </a:rPr>
              <a:t>Aqueous </a:t>
            </a:r>
            <a:r>
              <a:rPr lang="en-US" sz="2800" dirty="0">
                <a:solidFill>
                  <a:srgbClr val="FF0000"/>
                </a:solidFill>
              </a:rPr>
              <a:t>humor- </a:t>
            </a:r>
            <a:r>
              <a:rPr lang="en-US" sz="2800" dirty="0"/>
              <a:t>lies in front and to the sides of the lenses (freely flowing fluid)</a:t>
            </a:r>
          </a:p>
          <a:p>
            <a:r>
              <a:rPr lang="en-US" sz="2800" dirty="0">
                <a:solidFill>
                  <a:srgbClr val="FF0000"/>
                </a:solidFill>
              </a:rPr>
              <a:t>Vitreous humor </a:t>
            </a:r>
            <a:r>
              <a:rPr lang="en-US" sz="2800" dirty="0"/>
              <a:t>–lies between the lenses and retina</a:t>
            </a:r>
          </a:p>
          <a:p>
            <a:endParaRPr lang="en-US" sz="2800" dirty="0"/>
          </a:p>
        </p:txBody>
      </p:sp>
    </p:spTree>
    <p:extLst>
      <p:ext uri="{BB962C8B-B14F-4D97-AF65-F5344CB8AC3E}">
        <p14:creationId xmlns:p14="http://schemas.microsoft.com/office/powerpoint/2010/main" val="28435094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t>Eye filled with intraocular fluid and maintain sufficient pressure in the eye ball to keep it distended</a:t>
            </a:r>
          </a:p>
        </p:txBody>
      </p:sp>
    </p:spTree>
    <p:extLst>
      <p:ext uri="{BB962C8B-B14F-4D97-AF65-F5344CB8AC3E}">
        <p14:creationId xmlns:p14="http://schemas.microsoft.com/office/powerpoint/2010/main" val="11618116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Chambers </a:t>
            </a:r>
            <a:endParaRPr lang="en-US" dirty="0"/>
          </a:p>
        </p:txBody>
      </p:sp>
      <p:sp>
        <p:nvSpPr>
          <p:cNvPr id="3" name="Content Placeholder 2"/>
          <p:cNvSpPr>
            <a:spLocks noGrp="1"/>
          </p:cNvSpPr>
          <p:nvPr>
            <p:ph idx="1"/>
          </p:nvPr>
        </p:nvSpPr>
        <p:spPr/>
        <p:txBody>
          <a:bodyPr>
            <a:normAutofit/>
          </a:bodyPr>
          <a:lstStyle/>
          <a:p>
            <a:r>
              <a:rPr lang="en-US" sz="2800" dirty="0"/>
              <a:t>Anterior chamber-anterior to iris posterior to cornea</a:t>
            </a:r>
          </a:p>
          <a:p>
            <a:r>
              <a:rPr lang="en-US" sz="2800" dirty="0"/>
              <a:t>Posterior chamber –small space posterior to iris and anterior to lenses </a:t>
            </a:r>
          </a:p>
        </p:txBody>
      </p:sp>
    </p:spTree>
    <p:extLst>
      <p:ext uri="{BB962C8B-B14F-4D97-AF65-F5344CB8AC3E}">
        <p14:creationId xmlns:p14="http://schemas.microsoft.com/office/powerpoint/2010/main" val="22047831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Posterior cavity </a:t>
            </a:r>
            <a:endParaRPr lang="en-US" dirty="0"/>
          </a:p>
        </p:txBody>
      </p:sp>
      <p:sp>
        <p:nvSpPr>
          <p:cNvPr id="3" name="Content Placeholder 2"/>
          <p:cNvSpPr>
            <a:spLocks noGrp="1"/>
          </p:cNvSpPr>
          <p:nvPr>
            <p:ph idx="1"/>
          </p:nvPr>
        </p:nvSpPr>
        <p:spPr/>
        <p:txBody>
          <a:bodyPr>
            <a:normAutofit/>
          </a:bodyPr>
          <a:lstStyle/>
          <a:p>
            <a:r>
              <a:rPr lang="en-US" sz="2800" dirty="0"/>
              <a:t>Larger space posterior to lenses/suspensory ligament and ciliary body</a:t>
            </a:r>
          </a:p>
        </p:txBody>
      </p:sp>
    </p:spTree>
    <p:extLst>
      <p:ext uri="{BB962C8B-B14F-4D97-AF65-F5344CB8AC3E}">
        <p14:creationId xmlns:p14="http://schemas.microsoft.com/office/powerpoint/2010/main" val="33482675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fluids </a:t>
            </a:r>
            <a:endParaRPr lang="en-US" dirty="0"/>
          </a:p>
        </p:txBody>
      </p:sp>
      <p:sp>
        <p:nvSpPr>
          <p:cNvPr id="3" name="Content Placeholder 2"/>
          <p:cNvSpPr>
            <a:spLocks noGrp="1"/>
          </p:cNvSpPr>
          <p:nvPr>
            <p:ph idx="1"/>
          </p:nvPr>
        </p:nvSpPr>
        <p:spPr/>
        <p:txBody>
          <a:bodyPr>
            <a:normAutofit/>
          </a:bodyPr>
          <a:lstStyle/>
          <a:p>
            <a:r>
              <a:rPr lang="en-US" sz="2800" dirty="0"/>
              <a:t>Aqueous humor- lies in front and to the sides of the lenses (freely flowing fluid)</a:t>
            </a:r>
          </a:p>
          <a:p>
            <a:r>
              <a:rPr lang="en-US" sz="2800" dirty="0"/>
              <a:t>Vitreous humor –lies between the lenses and retina</a:t>
            </a:r>
          </a:p>
          <a:p>
            <a:endParaRPr lang="en-US" sz="2800" dirty="0"/>
          </a:p>
        </p:txBody>
      </p:sp>
    </p:spTree>
    <p:extLst>
      <p:ext uri="{BB962C8B-B14F-4D97-AF65-F5344CB8AC3E}">
        <p14:creationId xmlns:p14="http://schemas.microsoft.com/office/powerpoint/2010/main" val="11751484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Viterious</a:t>
            </a:r>
            <a:r>
              <a:rPr lang="en-US" dirty="0" smtClean="0"/>
              <a:t> </a:t>
            </a:r>
            <a:endParaRPr lang="en-US" dirty="0"/>
          </a:p>
        </p:txBody>
      </p:sp>
      <p:sp>
        <p:nvSpPr>
          <p:cNvPr id="3" name="Content Placeholder 2"/>
          <p:cNvSpPr>
            <a:spLocks noGrp="1"/>
          </p:cNvSpPr>
          <p:nvPr>
            <p:ph idx="1"/>
          </p:nvPr>
        </p:nvSpPr>
        <p:spPr/>
        <p:txBody>
          <a:bodyPr>
            <a:normAutofit/>
          </a:bodyPr>
          <a:lstStyle/>
          <a:p>
            <a:r>
              <a:rPr lang="en-US" sz="2800" dirty="0"/>
              <a:t>Gelatinous mass held together by a fine </a:t>
            </a:r>
            <a:r>
              <a:rPr lang="en-US" sz="2800" dirty="0" err="1"/>
              <a:t>fibrilar</a:t>
            </a:r>
            <a:endParaRPr lang="en-US" sz="2800" dirty="0"/>
          </a:p>
          <a:p>
            <a:r>
              <a:rPr lang="en-US" sz="2800" dirty="0"/>
              <a:t>Network composed mainly of large proteoglycan molecules</a:t>
            </a:r>
          </a:p>
          <a:p>
            <a:endParaRPr lang="en-US" sz="2800" dirty="0"/>
          </a:p>
        </p:txBody>
      </p:sp>
    </p:spTree>
    <p:extLst>
      <p:ext uri="{BB962C8B-B14F-4D97-AF65-F5344CB8AC3E}">
        <p14:creationId xmlns:p14="http://schemas.microsoft.com/office/powerpoint/2010/main" val="28395139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Formation and drainage </a:t>
            </a:r>
            <a:endParaRPr lang="en-US" dirty="0"/>
          </a:p>
        </p:txBody>
      </p:sp>
      <p:sp>
        <p:nvSpPr>
          <p:cNvPr id="3" name="Content Placeholder 2"/>
          <p:cNvSpPr>
            <a:spLocks noGrp="1"/>
          </p:cNvSpPr>
          <p:nvPr>
            <p:ph idx="1"/>
          </p:nvPr>
        </p:nvSpPr>
        <p:spPr/>
        <p:txBody>
          <a:bodyPr>
            <a:normAutofit/>
          </a:bodyPr>
          <a:lstStyle/>
          <a:p>
            <a:r>
              <a:rPr lang="en-US" sz="2800" dirty="0">
                <a:solidFill>
                  <a:srgbClr val="FF0000"/>
                </a:solidFill>
              </a:rPr>
              <a:t>2/3 </a:t>
            </a:r>
            <a:r>
              <a:rPr lang="en-US" sz="2800" dirty="0"/>
              <a:t>formed in the anterior cavity by ciliary body</a:t>
            </a:r>
          </a:p>
          <a:p>
            <a:r>
              <a:rPr lang="en-US" sz="2800" dirty="0"/>
              <a:t>Active secretary process by </a:t>
            </a:r>
            <a:r>
              <a:rPr lang="en-US" sz="2800" dirty="0">
                <a:solidFill>
                  <a:srgbClr val="FF0000"/>
                </a:solidFill>
              </a:rPr>
              <a:t>carbonic anhydrase and </a:t>
            </a:r>
            <a:r>
              <a:rPr lang="en-US" sz="2800" dirty="0" err="1">
                <a:solidFill>
                  <a:srgbClr val="FF0000"/>
                </a:solidFill>
              </a:rPr>
              <a:t>cytocrome</a:t>
            </a:r>
            <a:r>
              <a:rPr lang="en-US" sz="2800" dirty="0">
                <a:solidFill>
                  <a:srgbClr val="FF0000"/>
                </a:solidFill>
              </a:rPr>
              <a:t> oxidase system</a:t>
            </a:r>
          </a:p>
          <a:p>
            <a:endParaRPr lang="en-US" sz="2800" dirty="0"/>
          </a:p>
        </p:txBody>
      </p:sp>
    </p:spTree>
    <p:extLst>
      <p:ext uri="{BB962C8B-B14F-4D97-AF65-F5344CB8AC3E}">
        <p14:creationId xmlns:p14="http://schemas.microsoft.com/office/powerpoint/2010/main" val="27937015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solidFill>
                  <a:srgbClr val="FF0000"/>
                </a:solidFill>
              </a:rPr>
              <a:t>1/3 by passive </a:t>
            </a:r>
            <a:r>
              <a:rPr lang="en-US" sz="2800" dirty="0"/>
              <a:t>filtration from the vessels on the  anterior surface of the of the iris</a:t>
            </a:r>
          </a:p>
          <a:p>
            <a:endParaRPr lang="en-US" sz="2800" dirty="0"/>
          </a:p>
        </p:txBody>
      </p:sp>
    </p:spTree>
    <p:extLst>
      <p:ext uri="{BB962C8B-B14F-4D97-AF65-F5344CB8AC3E}">
        <p14:creationId xmlns:p14="http://schemas.microsoft.com/office/powerpoint/2010/main" val="3700086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t>Na+---actively transported to –AH at posterior chamber -----Hco3 Cl passively follow Na+ --H2o follows them ---it is this disparity of the pressure that helps to form </a:t>
            </a:r>
            <a:r>
              <a:rPr lang="en-US" sz="2800" dirty="0" smtClean="0"/>
              <a:t>2-3uml </a:t>
            </a:r>
            <a:r>
              <a:rPr lang="en-US" sz="2800" dirty="0"/>
              <a:t>/minute of AH</a:t>
            </a:r>
          </a:p>
          <a:p>
            <a:endParaRPr lang="en-US" sz="2800" dirty="0"/>
          </a:p>
        </p:txBody>
      </p:sp>
    </p:spTree>
    <p:extLst>
      <p:ext uri="{BB962C8B-B14F-4D97-AF65-F5344CB8AC3E}">
        <p14:creationId xmlns:p14="http://schemas.microsoft.com/office/powerpoint/2010/main" val="12735076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 flow </a:t>
            </a:r>
            <a:endParaRPr lang="en-US" dirty="0"/>
          </a:p>
        </p:txBody>
      </p:sp>
      <p:sp>
        <p:nvSpPr>
          <p:cNvPr id="3" name="Content Placeholder 2"/>
          <p:cNvSpPr>
            <a:spLocks noGrp="1"/>
          </p:cNvSpPr>
          <p:nvPr>
            <p:ph idx="1"/>
          </p:nvPr>
        </p:nvSpPr>
        <p:spPr/>
        <p:txBody>
          <a:bodyPr>
            <a:normAutofit/>
          </a:bodyPr>
          <a:lstStyle/>
          <a:p>
            <a:pPr>
              <a:buNone/>
            </a:pPr>
            <a:r>
              <a:rPr lang="en-US" sz="2800" dirty="0"/>
              <a:t>AH ---originates as plasma filtrate from capillaries of ciliary body</a:t>
            </a:r>
          </a:p>
          <a:p>
            <a:pPr>
              <a:buNone/>
            </a:pPr>
            <a:r>
              <a:rPr lang="en-US" sz="2800" dirty="0"/>
              <a:t>Secreted across ciliary epithelium in to </a:t>
            </a:r>
            <a:r>
              <a:rPr lang="en-US" sz="2800" dirty="0">
                <a:solidFill>
                  <a:srgbClr val="FF0000"/>
                </a:solidFill>
              </a:rPr>
              <a:t>posterior chamber</a:t>
            </a:r>
          </a:p>
          <a:p>
            <a:pPr>
              <a:buNone/>
            </a:pPr>
            <a:r>
              <a:rPr lang="en-US" sz="2800" dirty="0"/>
              <a:t>From posterior chamber </a:t>
            </a:r>
            <a:r>
              <a:rPr lang="en-US" sz="2800" dirty="0">
                <a:solidFill>
                  <a:srgbClr val="FF0000"/>
                </a:solidFill>
              </a:rPr>
              <a:t>through </a:t>
            </a:r>
            <a:r>
              <a:rPr lang="en-US" sz="2800" dirty="0" smtClean="0">
                <a:solidFill>
                  <a:srgbClr val="FF0000"/>
                </a:solidFill>
              </a:rPr>
              <a:t>pupillary </a:t>
            </a:r>
            <a:r>
              <a:rPr lang="en-US" sz="2800" dirty="0">
                <a:solidFill>
                  <a:srgbClr val="FF0000"/>
                </a:solidFill>
              </a:rPr>
              <a:t>aperture into anterior </a:t>
            </a:r>
            <a:r>
              <a:rPr lang="en-US" sz="2800" dirty="0"/>
              <a:t>chamber (here mixed with </a:t>
            </a:r>
            <a:r>
              <a:rPr lang="en-US" sz="2800" dirty="0">
                <a:solidFill>
                  <a:srgbClr val="FF0000"/>
                </a:solidFill>
              </a:rPr>
              <a:t>AH formed by the iris)</a:t>
            </a:r>
          </a:p>
          <a:p>
            <a:pPr>
              <a:buNone/>
            </a:pPr>
            <a:r>
              <a:rPr lang="en-US" sz="2800" dirty="0"/>
              <a:t>During its travel </a:t>
            </a:r>
            <a:r>
              <a:rPr lang="en-US" sz="2800" dirty="0">
                <a:solidFill>
                  <a:srgbClr val="FF0000"/>
                </a:solidFill>
              </a:rPr>
              <a:t>AH bathes the a vascular lenses </a:t>
            </a:r>
            <a:r>
              <a:rPr lang="en-US" sz="2800" dirty="0"/>
              <a:t>provides </a:t>
            </a:r>
            <a:r>
              <a:rPr lang="en-US" sz="2800" dirty="0">
                <a:solidFill>
                  <a:srgbClr val="FF0000"/>
                </a:solidFill>
              </a:rPr>
              <a:t>nutrient materials and remove wastes </a:t>
            </a:r>
          </a:p>
          <a:p>
            <a:endParaRPr lang="en-US" sz="2800" dirty="0"/>
          </a:p>
        </p:txBody>
      </p:sp>
    </p:spTree>
    <p:extLst>
      <p:ext uri="{BB962C8B-B14F-4D97-AF65-F5344CB8AC3E}">
        <p14:creationId xmlns:p14="http://schemas.microsoft.com/office/powerpoint/2010/main" val="1447984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sz="2800" dirty="0"/>
              <a:t>When AH reaches to </a:t>
            </a:r>
            <a:r>
              <a:rPr lang="en-US" sz="2800" dirty="0">
                <a:solidFill>
                  <a:srgbClr val="FF0000"/>
                </a:solidFill>
              </a:rPr>
              <a:t>anterior chamber it baths the corneal endothelium and maintain healthy corneal metabolism </a:t>
            </a:r>
            <a:r>
              <a:rPr lang="en-US" sz="2800" dirty="0"/>
              <a:t>and flow to the peripheral segment </a:t>
            </a:r>
            <a:r>
              <a:rPr lang="en-US" sz="2800" dirty="0">
                <a:solidFill>
                  <a:srgbClr val="FF0000"/>
                </a:solidFill>
              </a:rPr>
              <a:t>of anterior chamber </a:t>
            </a:r>
          </a:p>
          <a:p>
            <a:pPr>
              <a:buNone/>
            </a:pPr>
            <a:r>
              <a:rPr lang="en-US" sz="2800" dirty="0">
                <a:solidFill>
                  <a:srgbClr val="FF0000"/>
                </a:solidFill>
              </a:rPr>
              <a:t>Exit the eye </a:t>
            </a:r>
            <a:r>
              <a:rPr lang="en-US" sz="2800" dirty="0"/>
              <a:t>via trabecular mesh work /canal of </a:t>
            </a:r>
            <a:r>
              <a:rPr lang="en-US" sz="2800" dirty="0" err="1"/>
              <a:t>shlemm</a:t>
            </a:r>
            <a:r>
              <a:rPr lang="en-US" sz="2800" dirty="0"/>
              <a:t>/</a:t>
            </a:r>
            <a:r>
              <a:rPr lang="en-US" sz="2800" dirty="0" err="1"/>
              <a:t>episcleral</a:t>
            </a:r>
            <a:r>
              <a:rPr lang="en-US" sz="2800" dirty="0"/>
              <a:t> venous system </a:t>
            </a:r>
          </a:p>
          <a:p>
            <a:pPr>
              <a:buNone/>
            </a:pPr>
            <a:r>
              <a:rPr lang="en-US" sz="2800" dirty="0"/>
              <a:t>Finally it enters to superior </a:t>
            </a:r>
            <a:r>
              <a:rPr lang="en-US" sz="2800" dirty="0" err="1"/>
              <a:t>venacava</a:t>
            </a:r>
            <a:r>
              <a:rPr lang="en-US" sz="2800" dirty="0"/>
              <a:t> and to the </a:t>
            </a:r>
            <a:r>
              <a:rPr lang="en-US" sz="2800" dirty="0">
                <a:solidFill>
                  <a:srgbClr val="FF0000"/>
                </a:solidFill>
              </a:rPr>
              <a:t>right side of the heart (any obstruction between </a:t>
            </a:r>
            <a:r>
              <a:rPr lang="en-US" sz="2800" dirty="0"/>
              <a:t>this net work will increase the intra ocular pressure</a:t>
            </a:r>
            <a:r>
              <a:rPr lang="en-US" dirty="0"/>
              <a:t>.   </a:t>
            </a:r>
          </a:p>
          <a:p>
            <a:endParaRPr lang="en-US" dirty="0"/>
          </a:p>
        </p:txBody>
      </p:sp>
    </p:spTree>
    <p:extLst>
      <p:ext uri="{BB962C8B-B14F-4D97-AF65-F5344CB8AC3E}">
        <p14:creationId xmlns:p14="http://schemas.microsoft.com/office/powerpoint/2010/main" val="23082649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Aqueous humor is produced by the ciliary epithelium (2–3 </a:t>
            </a:r>
            <a:r>
              <a:rPr lang="en-US" sz="3200" dirty="0" err="1"/>
              <a:t>μl</a:t>
            </a:r>
            <a:r>
              <a:rPr lang="en-US" sz="3200" dirty="0"/>
              <a:t>/minute) into the posterior chamber of the ocular anterior segment. The fluid then circulates around the lens and through the pupil to the </a:t>
            </a:r>
            <a:r>
              <a:rPr lang="en-US" sz="3200" dirty="0" smtClean="0"/>
              <a:t>anterior chamber</a:t>
            </a:r>
            <a:endParaRPr lang="en-US" sz="3200" dirty="0"/>
          </a:p>
        </p:txBody>
      </p:sp>
    </p:spTree>
    <p:extLst>
      <p:ext uri="{BB962C8B-B14F-4D97-AF65-F5344CB8AC3E}">
        <p14:creationId xmlns:p14="http://schemas.microsoft.com/office/powerpoint/2010/main" val="16849490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Volume of the aqueous is about 0.31 ml (0.25ml in anterior chamber and about 0.06 ml in the posterior chamber).  Refractive index of the aqueous is 1.336  Osmotic pressure: </a:t>
            </a:r>
            <a:r>
              <a:rPr lang="en-US" sz="3200" dirty="0">
                <a:solidFill>
                  <a:srgbClr val="FF0000"/>
                </a:solidFill>
              </a:rPr>
              <a:t>Aqueous is slightly hyper osmotic to plasma by 3 to 5 </a:t>
            </a:r>
            <a:r>
              <a:rPr lang="en-US" sz="3200" dirty="0" err="1">
                <a:solidFill>
                  <a:srgbClr val="FF0000"/>
                </a:solidFill>
              </a:rPr>
              <a:t>mOsm</a:t>
            </a:r>
            <a:r>
              <a:rPr lang="en-US" sz="3200" dirty="0">
                <a:solidFill>
                  <a:srgbClr val="FF0000"/>
                </a:solidFill>
              </a:rPr>
              <a:t>/l</a:t>
            </a:r>
            <a:r>
              <a:rPr lang="en-US" sz="3200" dirty="0"/>
              <a:t>.  pH of the aqueous is acidic with a pH in the anterior chamber of 7.2.</a:t>
            </a:r>
          </a:p>
        </p:txBody>
      </p:sp>
    </p:spTree>
    <p:extLst>
      <p:ext uri="{BB962C8B-B14F-4D97-AF65-F5344CB8AC3E}">
        <p14:creationId xmlns:p14="http://schemas.microsoft.com/office/powerpoint/2010/main" val="15326888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 </a:t>
            </a:r>
            <a:endParaRPr lang="en-US" dirty="0"/>
          </a:p>
        </p:txBody>
      </p:sp>
      <p:sp>
        <p:nvSpPr>
          <p:cNvPr id="3" name="Content Placeholder 2"/>
          <p:cNvSpPr>
            <a:spLocks noGrp="1"/>
          </p:cNvSpPr>
          <p:nvPr>
            <p:ph idx="1"/>
          </p:nvPr>
        </p:nvSpPr>
        <p:spPr/>
        <p:txBody>
          <a:bodyPr>
            <a:normAutofit/>
          </a:bodyPr>
          <a:lstStyle/>
          <a:p>
            <a:r>
              <a:rPr lang="en-US" sz="3200" dirty="0">
                <a:solidFill>
                  <a:srgbClr val="FF0000"/>
                </a:solidFill>
              </a:rPr>
              <a:t>The aqueous humor occupies the anterior and posterior chambers of the eye and is responsible for providing nutrients to the avascular lens and the endothelial aspect of the </a:t>
            </a:r>
            <a:r>
              <a:rPr lang="en-US" sz="3200" dirty="0" smtClean="0">
                <a:solidFill>
                  <a:srgbClr val="FF0000"/>
                </a:solidFill>
              </a:rPr>
              <a:t>cornea </a:t>
            </a:r>
            <a:r>
              <a:rPr lang="en-US" sz="3200" dirty="0"/>
              <a:t>The volume of aqueous humor (0.3 mL in the adult) is primarily responsible </a:t>
            </a:r>
            <a:r>
              <a:rPr lang="en-US" sz="3200" dirty="0">
                <a:solidFill>
                  <a:srgbClr val="FF0000"/>
                </a:solidFill>
              </a:rPr>
              <a:t>for intraocular pressure (IOP) regulation</a:t>
            </a:r>
            <a:r>
              <a:rPr lang="en-US" sz="3200" dirty="0" smtClean="0"/>
              <a:t>..</a:t>
            </a:r>
            <a:endParaRPr lang="en-US" sz="3200" dirty="0"/>
          </a:p>
        </p:txBody>
      </p:sp>
    </p:spTree>
    <p:extLst>
      <p:ext uri="{BB962C8B-B14F-4D97-AF65-F5344CB8AC3E}">
        <p14:creationId xmlns:p14="http://schemas.microsoft.com/office/powerpoint/2010/main" val="39256388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Autofit/>
          </a:bodyPr>
          <a:lstStyle/>
          <a:p>
            <a:r>
              <a:rPr lang="en-US" sz="3200" dirty="0"/>
              <a:t>The vitreous humor, created </a:t>
            </a:r>
            <a:r>
              <a:rPr lang="en-US" sz="3200" dirty="0" err="1"/>
              <a:t>embryologically</a:t>
            </a:r>
            <a:r>
              <a:rPr lang="en-US" sz="3200" dirty="0"/>
              <a:t> between 1 and 4 months’ gestation, is </a:t>
            </a:r>
            <a:r>
              <a:rPr lang="en-US" sz="3200" dirty="0">
                <a:solidFill>
                  <a:srgbClr val="FF0000"/>
                </a:solidFill>
              </a:rPr>
              <a:t>a hydrophilic gel that accounts for 80% of the volume of the globe.</a:t>
            </a:r>
            <a:r>
              <a:rPr lang="en-US" sz="3200" dirty="0"/>
              <a:t> The </a:t>
            </a:r>
            <a:r>
              <a:rPr lang="en-US" sz="3200" dirty="0" err="1"/>
              <a:t>vitrous</a:t>
            </a:r>
            <a:r>
              <a:rPr lang="en-US" sz="3200" dirty="0"/>
              <a:t> humor is 99% water, although in the presence of hyaluronic acid (a </a:t>
            </a:r>
            <a:r>
              <a:rPr lang="en-US" sz="3200" dirty="0" err="1"/>
              <a:t>mucopolysaccharide</a:t>
            </a:r>
            <a:r>
              <a:rPr lang="en-US" sz="3200" dirty="0"/>
              <a:t>), its viscosity is twice that of water. The volume of the vitreous humor is more constant than that of the aqueous humor, although it may be slightly influenced by hydration status and </a:t>
            </a:r>
            <a:r>
              <a:rPr lang="en-US" sz="3200" dirty="0" err="1"/>
              <a:t>osmotically</a:t>
            </a:r>
            <a:r>
              <a:rPr lang="en-US" sz="3200" dirty="0"/>
              <a:t> active medications</a:t>
            </a:r>
          </a:p>
        </p:txBody>
      </p:sp>
    </p:spTree>
    <p:extLst>
      <p:ext uri="{BB962C8B-B14F-4D97-AF65-F5344CB8AC3E}">
        <p14:creationId xmlns:p14="http://schemas.microsoft.com/office/powerpoint/2010/main" val="36818958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Factors influencing IOP </a:t>
            </a:r>
            <a:endParaRPr lang="en-US" dirty="0"/>
          </a:p>
        </p:txBody>
      </p:sp>
      <p:sp>
        <p:nvSpPr>
          <p:cNvPr id="3" name="Content Placeholder 2"/>
          <p:cNvSpPr>
            <a:spLocks noGrp="1"/>
          </p:cNvSpPr>
          <p:nvPr>
            <p:ph idx="1"/>
          </p:nvPr>
        </p:nvSpPr>
        <p:spPr/>
        <p:txBody>
          <a:bodyPr/>
          <a:lstStyle/>
          <a:p>
            <a:r>
              <a:rPr lang="en-US" dirty="0"/>
              <a:t>1-external pressure on the globe</a:t>
            </a:r>
          </a:p>
          <a:p>
            <a:r>
              <a:rPr lang="en-US" dirty="0"/>
              <a:t>2-scleral rigidity</a:t>
            </a:r>
          </a:p>
          <a:p>
            <a:r>
              <a:rPr lang="en-US" dirty="0"/>
              <a:t>3-changes in the intra ocular contents that are semisolid </a:t>
            </a:r>
          </a:p>
          <a:p>
            <a:r>
              <a:rPr lang="en-US" dirty="0"/>
              <a:t>4- diameter of Fontana's space </a:t>
            </a:r>
          </a:p>
          <a:p>
            <a:r>
              <a:rPr lang="en-US" dirty="0"/>
              <a:t>5-Laryngoscopy and ETT</a:t>
            </a:r>
          </a:p>
          <a:p>
            <a:r>
              <a:rPr lang="en-US" dirty="0"/>
              <a:t>6-diurinal variations  </a:t>
            </a:r>
          </a:p>
        </p:txBody>
      </p:sp>
    </p:spTree>
    <p:extLst>
      <p:ext uri="{BB962C8B-B14F-4D97-AF65-F5344CB8AC3E}">
        <p14:creationId xmlns:p14="http://schemas.microsoft.com/office/powerpoint/2010/main" val="40474613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Orbit </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893195" y="2348335"/>
            <a:ext cx="7237926" cy="4310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9950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Fontana's space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7577" y="2266682"/>
            <a:ext cx="10135674" cy="4134118"/>
          </a:xfrm>
        </p:spPr>
      </p:pic>
    </p:spTree>
    <p:extLst>
      <p:ext uri="{BB962C8B-B14F-4D97-AF65-F5344CB8AC3E}">
        <p14:creationId xmlns:p14="http://schemas.microsoft.com/office/powerpoint/2010/main" val="36077124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space of Fontana</a:t>
            </a:r>
            <a:endParaRPr lang="en-US" dirty="0"/>
          </a:p>
        </p:txBody>
      </p:sp>
      <p:sp>
        <p:nvSpPr>
          <p:cNvPr id="3" name="Content Placeholder 2"/>
          <p:cNvSpPr>
            <a:spLocks noGrp="1"/>
          </p:cNvSpPr>
          <p:nvPr>
            <p:ph idx="1"/>
          </p:nvPr>
        </p:nvSpPr>
        <p:spPr/>
        <p:txBody>
          <a:bodyPr>
            <a:normAutofit/>
          </a:bodyPr>
          <a:lstStyle/>
          <a:p>
            <a:r>
              <a:rPr lang="en-US" sz="3200" b="1" dirty="0"/>
              <a:t>"space of Fontana" </a:t>
            </a:r>
            <a:r>
              <a:rPr lang="en-US" sz="3200" b="1" dirty="0" smtClean="0"/>
              <a:t>is </a:t>
            </a:r>
            <a:r>
              <a:rPr lang="en-US" sz="3200" b="1" dirty="0"/>
              <a:t>the spaces between the trabeculae of the eye's </a:t>
            </a:r>
            <a:r>
              <a:rPr lang="en-US" sz="3200" b="1" dirty="0" err="1"/>
              <a:t>Descemet's</a:t>
            </a:r>
            <a:r>
              <a:rPr lang="en-US" sz="3200" b="1" dirty="0"/>
              <a:t> membrane</a:t>
            </a:r>
            <a:r>
              <a:rPr lang="en-US" sz="3200" dirty="0"/>
              <a:t>, through which the </a:t>
            </a:r>
            <a:r>
              <a:rPr lang="en-US" sz="3200" dirty="0">
                <a:solidFill>
                  <a:srgbClr val="FF0000"/>
                </a:solidFill>
              </a:rPr>
              <a:t>anterior chamber communicates with the canal of </a:t>
            </a:r>
            <a:r>
              <a:rPr lang="en-US" sz="3200" dirty="0" err="1">
                <a:solidFill>
                  <a:srgbClr val="FF0000"/>
                </a:solidFill>
              </a:rPr>
              <a:t>Schlemm</a:t>
            </a:r>
            <a:r>
              <a:rPr lang="en-US" sz="3200" dirty="0">
                <a:solidFill>
                  <a:srgbClr val="FF0000"/>
                </a:solidFill>
              </a:rPr>
              <a:t>. </a:t>
            </a:r>
            <a:r>
              <a:rPr lang="en-US" sz="3200" dirty="0" smtClean="0"/>
              <a:t>interconnected </a:t>
            </a:r>
            <a:r>
              <a:rPr lang="en-US" sz="3200" dirty="0"/>
              <a:t>spaces located within the eye's angle of drainage</a:t>
            </a:r>
            <a:r>
              <a:rPr lang="en-US" sz="3200" dirty="0" smtClean="0"/>
              <a:t>.</a:t>
            </a:r>
          </a:p>
          <a:p>
            <a:r>
              <a:rPr lang="en-US" sz="3200" dirty="0"/>
              <a:t> It acts as a </a:t>
            </a:r>
            <a:r>
              <a:rPr lang="en-US" sz="3200" dirty="0">
                <a:solidFill>
                  <a:srgbClr val="FF0000"/>
                </a:solidFill>
              </a:rPr>
              <a:t>pathway for the fluid (aqueous humor) from the anterior chamber to flow through to the canal of </a:t>
            </a:r>
            <a:r>
              <a:rPr lang="en-US" sz="3200" dirty="0" err="1">
                <a:solidFill>
                  <a:srgbClr val="FF0000"/>
                </a:solidFill>
              </a:rPr>
              <a:t>Schlemm</a:t>
            </a:r>
            <a:r>
              <a:rPr lang="en-US" sz="3200" dirty="0">
                <a:solidFill>
                  <a:srgbClr val="FF0000"/>
                </a:solidFill>
              </a:rPr>
              <a:t>,  an important factor in glaucoma treatment</a:t>
            </a:r>
            <a:r>
              <a:rPr lang="en-US" sz="3200" dirty="0"/>
              <a:t>. </a:t>
            </a:r>
            <a:endParaRPr lang="en-US" sz="3200" dirty="0" smtClean="0"/>
          </a:p>
          <a:p>
            <a:endParaRPr lang="en-US" sz="3200" dirty="0"/>
          </a:p>
        </p:txBody>
      </p:sp>
    </p:spTree>
    <p:extLst>
      <p:ext uri="{BB962C8B-B14F-4D97-AF65-F5344CB8AC3E}">
        <p14:creationId xmlns:p14="http://schemas.microsoft.com/office/powerpoint/2010/main" val="374838166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Events that alter intraocular pressure </a:t>
            </a:r>
            <a:endParaRPr lang="en-US" dirty="0"/>
          </a:p>
        </p:txBody>
      </p:sp>
      <p:pic>
        <p:nvPicPr>
          <p:cNvPr id="4" name="Content Placeholder 3"/>
          <p:cNvPicPr>
            <a:picLocks noGrp="1" noChangeAspect="1" noChangeArrowheads="1"/>
          </p:cNvPicPr>
          <p:nvPr>
            <p:ph idx="1"/>
          </p:nvPr>
        </p:nvPicPr>
        <p:blipFill>
          <a:blip r:embed="rId2"/>
          <a:stretch>
            <a:fillRect/>
          </a:stretch>
        </p:blipFill>
        <p:spPr>
          <a:xfrm>
            <a:off x="3092000" y="2286000"/>
            <a:ext cx="5584138" cy="4022725"/>
          </a:xfrm>
          <a:prstGeom prst="rect">
            <a:avLst/>
          </a:prstGeom>
        </p:spPr>
      </p:pic>
    </p:spTree>
    <p:extLst>
      <p:ext uri="{BB962C8B-B14F-4D97-AF65-F5344CB8AC3E}">
        <p14:creationId xmlns:p14="http://schemas.microsoft.com/office/powerpoint/2010/main" val="36888253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Effect of Drugs and Agents  on Ophthalmic Anesthesia </a:t>
            </a:r>
            <a:endParaRPr lang="en-US" dirty="0"/>
          </a:p>
        </p:txBody>
      </p:sp>
      <p:pic>
        <p:nvPicPr>
          <p:cNvPr id="4" name="Content Placeholder 3"/>
          <p:cNvPicPr>
            <a:picLocks noGrp="1" noChangeAspect="1" noChangeArrowheads="1"/>
          </p:cNvPicPr>
          <p:nvPr>
            <p:ph idx="1"/>
          </p:nvPr>
        </p:nvPicPr>
        <p:blipFill>
          <a:blip r:embed="rId2"/>
          <a:stretch>
            <a:fillRect/>
          </a:stretch>
        </p:blipFill>
        <p:spPr>
          <a:xfrm>
            <a:off x="1918951" y="2286000"/>
            <a:ext cx="7418231" cy="4022725"/>
          </a:xfrm>
        </p:spPr>
      </p:pic>
    </p:spTree>
    <p:extLst>
      <p:ext uri="{BB962C8B-B14F-4D97-AF65-F5344CB8AC3E}">
        <p14:creationId xmlns:p14="http://schemas.microsoft.com/office/powerpoint/2010/main" val="36868885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Influencing factors </a:t>
            </a:r>
            <a:r>
              <a:rPr lang="en-US" dirty="0" err="1" smtClean="0"/>
              <a:t>cont”d</a:t>
            </a:r>
            <a:endParaRPr lang="en-US" dirty="0"/>
          </a:p>
        </p:txBody>
      </p:sp>
      <p:sp>
        <p:nvSpPr>
          <p:cNvPr id="3" name="Content Placeholder 2"/>
          <p:cNvSpPr>
            <a:spLocks noGrp="1"/>
          </p:cNvSpPr>
          <p:nvPr>
            <p:ph idx="1"/>
          </p:nvPr>
        </p:nvSpPr>
        <p:spPr/>
        <p:txBody>
          <a:bodyPr>
            <a:normAutofit/>
          </a:bodyPr>
          <a:lstStyle/>
          <a:p>
            <a:r>
              <a:rPr lang="en-US" sz="3200" dirty="0"/>
              <a:t>Endotracheal intubation –appears to increase IOP(topical anesthesia)</a:t>
            </a:r>
          </a:p>
          <a:p>
            <a:r>
              <a:rPr lang="en-US" sz="3200" dirty="0"/>
              <a:t>Hyper ventilation-decreases IOP</a:t>
            </a:r>
          </a:p>
          <a:p>
            <a:r>
              <a:rPr lang="en-US" sz="3200" dirty="0"/>
              <a:t>Hypoventilation-increases IOP</a:t>
            </a:r>
          </a:p>
          <a:p>
            <a:r>
              <a:rPr lang="en-US" sz="3200" dirty="0"/>
              <a:t>Hypothermia-decreases IOP by </a:t>
            </a:r>
            <a:r>
              <a:rPr lang="en-US" sz="3200" dirty="0">
                <a:solidFill>
                  <a:srgbClr val="FF0000"/>
                </a:solidFill>
              </a:rPr>
              <a:t>causing vasoconstriction and deceasing AH production</a:t>
            </a:r>
          </a:p>
        </p:txBody>
      </p:sp>
    </p:spTree>
    <p:extLst>
      <p:ext uri="{BB962C8B-B14F-4D97-AF65-F5344CB8AC3E}">
        <p14:creationId xmlns:p14="http://schemas.microsoft.com/office/powerpoint/2010/main" val="935113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Terminology to be familiar in ophthalmology </a:t>
            </a:r>
            <a:endParaRPr lang="en-US" dirty="0"/>
          </a:p>
        </p:txBody>
      </p:sp>
      <p:sp>
        <p:nvSpPr>
          <p:cNvPr id="3" name="Content Placeholder 2"/>
          <p:cNvSpPr>
            <a:spLocks noGrp="1"/>
          </p:cNvSpPr>
          <p:nvPr>
            <p:ph idx="1"/>
          </p:nvPr>
        </p:nvSpPr>
        <p:spPr/>
        <p:txBody>
          <a:bodyPr>
            <a:normAutofit/>
          </a:bodyPr>
          <a:lstStyle/>
          <a:p>
            <a:pPr fontAlgn="base"/>
            <a:r>
              <a:rPr lang="en-US" sz="3200" b="1" dirty="0" err="1"/>
              <a:t>Blepharospasm</a:t>
            </a:r>
            <a:r>
              <a:rPr lang="en-US" sz="3200" b="1" dirty="0"/>
              <a:t>:</a:t>
            </a:r>
            <a:r>
              <a:rPr lang="en-US" sz="3200" dirty="0"/>
              <a:t> Tonic spasm of the orbicularis oculi muscle, producing more or less complete closure of the eyelids</a:t>
            </a:r>
          </a:p>
          <a:p>
            <a:pPr fontAlgn="base"/>
            <a:r>
              <a:rPr lang="en-US" sz="3200" b="1" dirty="0" err="1"/>
              <a:t>Buphthalmos</a:t>
            </a:r>
            <a:r>
              <a:rPr lang="en-US" sz="3200" b="1" dirty="0"/>
              <a:t>:</a:t>
            </a:r>
            <a:r>
              <a:rPr lang="en-US" sz="3200" dirty="0"/>
              <a:t> Enlargement and distention of the fibrous coats of the eye</a:t>
            </a:r>
          </a:p>
          <a:p>
            <a:pPr fontAlgn="base"/>
            <a:r>
              <a:rPr lang="en-US" sz="3200" b="1" dirty="0">
                <a:solidFill>
                  <a:srgbClr val="FF0000"/>
                </a:solidFill>
              </a:rPr>
              <a:t>Cyclocryotherapy:</a:t>
            </a:r>
            <a:r>
              <a:rPr lang="en-US" sz="3200" dirty="0">
                <a:solidFill>
                  <a:srgbClr val="FF0000"/>
                </a:solidFill>
              </a:rPr>
              <a:t> Freezing of the ciliary body, performed for the treatment of </a:t>
            </a:r>
            <a:r>
              <a:rPr lang="en-US" sz="3200" dirty="0" smtClean="0">
                <a:solidFill>
                  <a:srgbClr val="FF0000"/>
                </a:solidFill>
              </a:rPr>
              <a:t>glaucoma</a:t>
            </a:r>
            <a:endParaRPr lang="en-US" sz="3200" dirty="0">
              <a:solidFill>
                <a:srgbClr val="FF0000"/>
              </a:solidFill>
            </a:endParaRPr>
          </a:p>
        </p:txBody>
      </p:sp>
    </p:spTree>
    <p:extLst>
      <p:ext uri="{BB962C8B-B14F-4D97-AF65-F5344CB8AC3E}">
        <p14:creationId xmlns:p14="http://schemas.microsoft.com/office/powerpoint/2010/main" val="25881575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sz="3200" b="1" dirty="0"/>
              <a:t>Epiphora:</a:t>
            </a:r>
            <a:r>
              <a:rPr lang="en-US" sz="3200" dirty="0"/>
              <a:t> Abnormal overflow of tears, also known as </a:t>
            </a:r>
            <a:r>
              <a:rPr lang="en-US" sz="3200" dirty="0" err="1"/>
              <a:t>illacrimation</a:t>
            </a:r>
            <a:endParaRPr lang="en-US" sz="3200" dirty="0"/>
          </a:p>
          <a:p>
            <a:pPr fontAlgn="base"/>
            <a:r>
              <a:rPr lang="en-US" sz="3200" b="1" dirty="0" err="1"/>
              <a:t>Episcleritis</a:t>
            </a:r>
            <a:r>
              <a:rPr lang="en-US" sz="3200" b="1" dirty="0"/>
              <a:t>:</a:t>
            </a:r>
            <a:r>
              <a:rPr lang="en-US" sz="3200" dirty="0"/>
              <a:t> Inflammation of tissues overlying the sclera, also inflammation of the outermost layers of the sclera</a:t>
            </a:r>
          </a:p>
          <a:p>
            <a:pPr fontAlgn="base"/>
            <a:r>
              <a:rPr lang="en-US" sz="3200" b="1" dirty="0" err="1"/>
              <a:t>Gonioscopy</a:t>
            </a:r>
            <a:r>
              <a:rPr lang="en-US" sz="3200" b="1" dirty="0"/>
              <a:t>:</a:t>
            </a:r>
            <a:r>
              <a:rPr lang="en-US" sz="3200" dirty="0"/>
              <a:t> Examination of the angle of the anterior chamber of the eye</a:t>
            </a:r>
          </a:p>
        </p:txBody>
      </p:sp>
    </p:spTree>
    <p:extLst>
      <p:ext uri="{BB962C8B-B14F-4D97-AF65-F5344CB8AC3E}">
        <p14:creationId xmlns:p14="http://schemas.microsoft.com/office/powerpoint/2010/main" val="4964224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sz="3200" b="1" dirty="0"/>
              <a:t>Goniotomy:</a:t>
            </a:r>
            <a:r>
              <a:rPr lang="en-US" sz="3200" dirty="0"/>
              <a:t> Operation for glaucoma characterized by an open angle and normal depth of the anterior chamber; consists of the opening of </a:t>
            </a:r>
            <a:r>
              <a:rPr lang="en-US" sz="3200" dirty="0" err="1"/>
              <a:t>Schlemm’s</a:t>
            </a:r>
            <a:r>
              <a:rPr lang="en-US" sz="3200" dirty="0"/>
              <a:t> canal under direct vision secured by a contact glass</a:t>
            </a:r>
          </a:p>
          <a:p>
            <a:pPr fontAlgn="base"/>
            <a:r>
              <a:rPr lang="en-US" sz="3200" b="1" dirty="0"/>
              <a:t>Tonometry:</a:t>
            </a:r>
            <a:r>
              <a:rPr lang="en-US" sz="3200" dirty="0"/>
              <a:t> Measurement of tension or pressure commonly assessed by the </a:t>
            </a:r>
            <a:r>
              <a:rPr lang="en-US" sz="3200" dirty="0" err="1"/>
              <a:t>applanation</a:t>
            </a:r>
            <a:endParaRPr lang="en-US" sz="3200" dirty="0"/>
          </a:p>
          <a:p>
            <a:endParaRPr lang="en-US" dirty="0"/>
          </a:p>
        </p:txBody>
      </p:sp>
    </p:spTree>
    <p:extLst>
      <p:ext uri="{BB962C8B-B14F-4D97-AF65-F5344CB8AC3E}">
        <p14:creationId xmlns:p14="http://schemas.microsoft.com/office/powerpoint/2010/main" val="30264958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sz="3200" b="1" dirty="0"/>
              <a:t>Tonometer:</a:t>
            </a:r>
            <a:r>
              <a:rPr lang="en-US" sz="3200" dirty="0"/>
              <a:t> Instrument that measures intraocular pressure by determination of the force necessary to flatten a corneal surface of constant size</a:t>
            </a:r>
          </a:p>
          <a:p>
            <a:pPr fontAlgn="base"/>
            <a:r>
              <a:rPr lang="en-US" sz="3200" b="1" dirty="0" err="1"/>
              <a:t>Trabeculectomy</a:t>
            </a:r>
            <a:r>
              <a:rPr lang="en-US" sz="3200" b="1" dirty="0"/>
              <a:t>:</a:t>
            </a:r>
            <a:r>
              <a:rPr lang="en-US" sz="3200" dirty="0"/>
              <a:t> Creation of a fistula between the anterior chamber of the eye and the </a:t>
            </a:r>
            <a:r>
              <a:rPr lang="en-US" sz="3200" dirty="0" err="1"/>
              <a:t>subconjunctival</a:t>
            </a:r>
            <a:r>
              <a:rPr lang="en-US" sz="3200" dirty="0"/>
              <a:t> space by surgical removal of a portion of the trabecular meshwork</a:t>
            </a:r>
          </a:p>
        </p:txBody>
      </p:sp>
    </p:spTree>
    <p:extLst>
      <p:ext uri="{BB962C8B-B14F-4D97-AF65-F5344CB8AC3E}">
        <p14:creationId xmlns:p14="http://schemas.microsoft.com/office/powerpoint/2010/main" val="19997348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Strabismus surgery concerns </a:t>
            </a:r>
            <a:endParaRPr lang="en-US" dirty="0"/>
          </a:p>
        </p:txBody>
      </p:sp>
      <p:sp>
        <p:nvSpPr>
          <p:cNvPr id="3" name="Content Placeholder 2"/>
          <p:cNvSpPr>
            <a:spLocks noGrp="1"/>
          </p:cNvSpPr>
          <p:nvPr>
            <p:ph idx="1"/>
          </p:nvPr>
        </p:nvSpPr>
        <p:spPr/>
        <p:txBody>
          <a:bodyPr>
            <a:normAutofit/>
          </a:bodyPr>
          <a:lstStyle/>
          <a:p>
            <a:r>
              <a:rPr lang="en-US" sz="3200" dirty="0">
                <a:solidFill>
                  <a:srgbClr val="FF0000"/>
                </a:solidFill>
              </a:rPr>
              <a:t>Forced duct ion test </a:t>
            </a:r>
            <a:r>
              <a:rPr lang="en-US" sz="3200" dirty="0"/>
              <a:t>–to know site of mechanical restriction20 minutes before FDT don't use SCCH</a:t>
            </a:r>
          </a:p>
          <a:p>
            <a:r>
              <a:rPr lang="en-US" sz="3200" dirty="0" err="1"/>
              <a:t>Occulo</a:t>
            </a:r>
            <a:r>
              <a:rPr lang="en-US" sz="3200" dirty="0"/>
              <a:t> cardiac reflex—major cause is traction on the medial rectus muscle</a:t>
            </a:r>
          </a:p>
          <a:p>
            <a:r>
              <a:rPr lang="en-US" sz="3200" dirty="0" err="1"/>
              <a:t>Occulogastric</a:t>
            </a:r>
            <a:r>
              <a:rPr lang="en-US" sz="3200" dirty="0"/>
              <a:t> reflex</a:t>
            </a:r>
          </a:p>
          <a:p>
            <a:r>
              <a:rPr lang="en-US" sz="3200" dirty="0"/>
              <a:t>Malignant hyperthermia</a:t>
            </a:r>
          </a:p>
          <a:p>
            <a:r>
              <a:rPr lang="en-US" sz="3200" dirty="0"/>
              <a:t>Post operative pain</a:t>
            </a:r>
          </a:p>
          <a:p>
            <a:endParaRPr lang="en-US" sz="3200" dirty="0"/>
          </a:p>
        </p:txBody>
      </p:sp>
    </p:spTree>
    <p:extLst>
      <p:ext uri="{BB962C8B-B14F-4D97-AF65-F5344CB8AC3E}">
        <p14:creationId xmlns:p14="http://schemas.microsoft.com/office/powerpoint/2010/main" val="32431128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OculO</a:t>
            </a:r>
            <a:r>
              <a:rPr lang="en-US" dirty="0" smtClean="0"/>
              <a:t> cardiac reflex </a:t>
            </a:r>
            <a:endParaRPr lang="en-US" dirty="0"/>
          </a:p>
        </p:txBody>
      </p:sp>
      <p:sp>
        <p:nvSpPr>
          <p:cNvPr id="3" name="Content Placeholder 2"/>
          <p:cNvSpPr>
            <a:spLocks noGrp="1"/>
          </p:cNvSpPr>
          <p:nvPr>
            <p:ph idx="1"/>
          </p:nvPr>
        </p:nvSpPr>
        <p:spPr/>
        <p:txBody>
          <a:bodyPr/>
          <a:lstStyle/>
          <a:p>
            <a:r>
              <a:rPr lang="en-US" sz="3200" dirty="0"/>
              <a:t>Afferent limb is trigeminal </a:t>
            </a:r>
          </a:p>
          <a:p>
            <a:r>
              <a:rPr lang="en-US" sz="3200" dirty="0"/>
              <a:t>Efferent limb is vagal </a:t>
            </a:r>
          </a:p>
          <a:p>
            <a:r>
              <a:rPr lang="en-US" sz="3200" dirty="0"/>
              <a:t>Exaggerated during hypoxia /</a:t>
            </a:r>
            <a:r>
              <a:rPr lang="en-US" sz="3200" dirty="0" err="1"/>
              <a:t>hypercarbia</a:t>
            </a:r>
            <a:endParaRPr lang="en-US" sz="3200" dirty="0"/>
          </a:p>
          <a:p>
            <a:r>
              <a:rPr lang="en-US" sz="3200" dirty="0"/>
              <a:t>If no prophylaxis of atropine is given</a:t>
            </a:r>
          </a:p>
          <a:p>
            <a:endParaRPr lang="en-US" dirty="0"/>
          </a:p>
        </p:txBody>
      </p:sp>
    </p:spTree>
    <p:extLst>
      <p:ext uri="{BB962C8B-B14F-4D97-AF65-F5344CB8AC3E}">
        <p14:creationId xmlns:p14="http://schemas.microsoft.com/office/powerpoint/2010/main" val="25071285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FontTx/>
              <a:buNone/>
            </a:pPr>
            <a:r>
              <a:rPr lang="en-GB" sz="3200" dirty="0"/>
              <a:t>The </a:t>
            </a:r>
            <a:r>
              <a:rPr lang="en-GB" sz="3200" dirty="0" err="1"/>
              <a:t>Oculocardiac</a:t>
            </a:r>
            <a:r>
              <a:rPr lang="en-GB" sz="3200" dirty="0"/>
              <a:t> Reflex (OCR) is manifested by     </a:t>
            </a:r>
          </a:p>
          <a:p>
            <a:pPr>
              <a:buFont typeface="Wingdings" pitchFamily="2" charset="2"/>
              <a:buChar char="Ø"/>
            </a:pPr>
            <a:r>
              <a:rPr lang="en-GB" sz="3200" dirty="0"/>
              <a:t> </a:t>
            </a:r>
            <a:r>
              <a:rPr lang="en-GB" sz="3200" dirty="0" err="1"/>
              <a:t>Braycardia</a:t>
            </a:r>
            <a:endParaRPr lang="en-GB" sz="3200" dirty="0"/>
          </a:p>
          <a:p>
            <a:pPr>
              <a:buFont typeface="Wingdings" pitchFamily="2" charset="2"/>
              <a:buChar char="Ø"/>
            </a:pPr>
            <a:r>
              <a:rPr lang="en-GB" sz="3200" dirty="0"/>
              <a:t> </a:t>
            </a:r>
            <a:r>
              <a:rPr lang="en-GB" sz="3200" dirty="0" err="1"/>
              <a:t>Bigeminy</a:t>
            </a:r>
            <a:endParaRPr lang="en-GB" sz="3200" dirty="0"/>
          </a:p>
          <a:p>
            <a:pPr>
              <a:buFont typeface="Wingdings" pitchFamily="2" charset="2"/>
              <a:buChar char="Ø"/>
            </a:pPr>
            <a:r>
              <a:rPr lang="en-GB" sz="3200" dirty="0"/>
              <a:t> Ectopic</a:t>
            </a:r>
          </a:p>
          <a:p>
            <a:pPr>
              <a:buFont typeface="Wingdings" pitchFamily="2" charset="2"/>
              <a:buChar char="Ø"/>
            </a:pPr>
            <a:r>
              <a:rPr lang="en-GB" sz="3200" dirty="0"/>
              <a:t> Nodal </a:t>
            </a:r>
            <a:r>
              <a:rPr lang="en-GB" sz="3200" dirty="0" err="1"/>
              <a:t>rhthms</a:t>
            </a:r>
            <a:endParaRPr lang="en-GB" sz="3200" dirty="0"/>
          </a:p>
          <a:p>
            <a:pPr>
              <a:buFont typeface="Wingdings" pitchFamily="2" charset="2"/>
              <a:buChar char="Ø"/>
            </a:pPr>
            <a:r>
              <a:rPr lang="en-GB" sz="3200" dirty="0"/>
              <a:t> </a:t>
            </a:r>
            <a:r>
              <a:rPr lang="en-GB" sz="3200" dirty="0" err="1"/>
              <a:t>Atroventricular</a:t>
            </a:r>
            <a:r>
              <a:rPr lang="en-GB" sz="3200" dirty="0"/>
              <a:t> block</a:t>
            </a:r>
          </a:p>
          <a:p>
            <a:pPr>
              <a:buFont typeface="Wingdings" pitchFamily="2" charset="2"/>
              <a:buChar char="Ø"/>
            </a:pPr>
            <a:r>
              <a:rPr lang="en-GB" sz="3200" dirty="0"/>
              <a:t> Cardiac arrest</a:t>
            </a:r>
          </a:p>
          <a:p>
            <a:endParaRPr lang="en-US" dirty="0"/>
          </a:p>
          <a:p>
            <a:endParaRPr lang="en-US" dirty="0"/>
          </a:p>
        </p:txBody>
      </p:sp>
    </p:spTree>
    <p:extLst>
      <p:ext uri="{BB962C8B-B14F-4D97-AF65-F5344CB8AC3E}">
        <p14:creationId xmlns:p14="http://schemas.microsoft.com/office/powerpoint/2010/main" val="25001126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Manifestations </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ü"/>
            </a:pPr>
            <a:r>
              <a:rPr lang="en-GB" sz="3200" dirty="0"/>
              <a:t>Traction on the </a:t>
            </a:r>
            <a:r>
              <a:rPr lang="en-GB" sz="3200" dirty="0" err="1"/>
              <a:t>extraocular</a:t>
            </a:r>
            <a:r>
              <a:rPr lang="en-GB" sz="3200" dirty="0"/>
              <a:t> muscles (medial rectus)</a:t>
            </a:r>
          </a:p>
          <a:p>
            <a:pPr>
              <a:buFont typeface="Wingdings" pitchFamily="2" charset="2"/>
              <a:buChar char="ü"/>
            </a:pPr>
            <a:r>
              <a:rPr lang="en-GB" sz="3200" dirty="0"/>
              <a:t> Ocular manipulation</a:t>
            </a:r>
          </a:p>
          <a:p>
            <a:pPr>
              <a:buFont typeface="Wingdings" pitchFamily="2" charset="2"/>
              <a:buChar char="ü"/>
            </a:pPr>
            <a:r>
              <a:rPr lang="en-GB" sz="3200" dirty="0"/>
              <a:t> Manual pressure on the globe</a:t>
            </a:r>
            <a:endParaRPr lang="en-US" sz="3200" dirty="0"/>
          </a:p>
          <a:p>
            <a:endParaRPr lang="en-US" sz="3200" dirty="0"/>
          </a:p>
        </p:txBody>
      </p:sp>
    </p:spTree>
    <p:extLst>
      <p:ext uri="{BB962C8B-B14F-4D97-AF65-F5344CB8AC3E}">
        <p14:creationId xmlns:p14="http://schemas.microsoft.com/office/powerpoint/2010/main" val="38859080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Manifested during </a:t>
            </a:r>
            <a:endParaRPr lang="en-US" dirty="0"/>
          </a:p>
        </p:txBody>
      </p:sp>
      <p:sp>
        <p:nvSpPr>
          <p:cNvPr id="3" name="Content Placeholder 2"/>
          <p:cNvSpPr>
            <a:spLocks noGrp="1"/>
          </p:cNvSpPr>
          <p:nvPr>
            <p:ph idx="1"/>
          </p:nvPr>
        </p:nvSpPr>
        <p:spPr/>
        <p:txBody>
          <a:bodyPr>
            <a:normAutofit/>
          </a:bodyPr>
          <a:lstStyle/>
          <a:p>
            <a:r>
              <a:rPr lang="en-GB" sz="3200" dirty="0"/>
              <a:t>Eye muscle surgery</a:t>
            </a:r>
          </a:p>
          <a:p>
            <a:r>
              <a:rPr lang="en-GB" sz="3200" dirty="0"/>
              <a:t>Detached retina repair</a:t>
            </a:r>
          </a:p>
          <a:p>
            <a:r>
              <a:rPr lang="en-GB" sz="3200" dirty="0" err="1"/>
              <a:t>Enucleation</a:t>
            </a:r>
            <a:endParaRPr lang="en-GB" sz="3200" dirty="0"/>
          </a:p>
        </p:txBody>
      </p:sp>
    </p:spTree>
    <p:extLst>
      <p:ext uri="{BB962C8B-B14F-4D97-AF65-F5344CB8AC3E}">
        <p14:creationId xmlns:p14="http://schemas.microsoft.com/office/powerpoint/2010/main" val="6676246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GB" sz="3200" dirty="0"/>
              <a:t>Preoperative anxiety</a:t>
            </a:r>
          </a:p>
          <a:p>
            <a:r>
              <a:rPr lang="en-GB" sz="3200" dirty="0"/>
              <a:t>light general </a:t>
            </a:r>
            <a:r>
              <a:rPr lang="en-GB" sz="3200" dirty="0" err="1"/>
              <a:t>anesthesia</a:t>
            </a:r>
            <a:endParaRPr lang="en-GB" sz="3200" dirty="0"/>
          </a:p>
          <a:p>
            <a:r>
              <a:rPr lang="en-GB" sz="3200" dirty="0"/>
              <a:t>Hypoxia</a:t>
            </a:r>
          </a:p>
          <a:p>
            <a:r>
              <a:rPr lang="en-GB" sz="3200" dirty="0" err="1"/>
              <a:t>Hypercarbia</a:t>
            </a:r>
            <a:endParaRPr lang="en-GB" sz="3200" dirty="0"/>
          </a:p>
          <a:p>
            <a:r>
              <a:rPr lang="en-GB" sz="3200" dirty="0"/>
              <a:t> Increased vagal tone owing to age</a:t>
            </a:r>
            <a:endParaRPr lang="en-US" sz="3200" dirty="0"/>
          </a:p>
        </p:txBody>
      </p:sp>
    </p:spTree>
    <p:extLst>
      <p:ext uri="{BB962C8B-B14F-4D97-AF65-F5344CB8AC3E}">
        <p14:creationId xmlns:p14="http://schemas.microsoft.com/office/powerpoint/2010/main" val="27272915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a:t>
            </a:r>
            <a:endParaRPr lang="en-US" dirty="0"/>
          </a:p>
        </p:txBody>
      </p:sp>
      <p:sp>
        <p:nvSpPr>
          <p:cNvPr id="3" name="Content Placeholder 2"/>
          <p:cNvSpPr>
            <a:spLocks noGrp="1"/>
          </p:cNvSpPr>
          <p:nvPr>
            <p:ph idx="1"/>
          </p:nvPr>
        </p:nvSpPr>
        <p:spPr/>
        <p:txBody>
          <a:bodyPr>
            <a:noAutofit/>
          </a:bodyPr>
          <a:lstStyle/>
          <a:p>
            <a:pPr>
              <a:buNone/>
            </a:pPr>
            <a:r>
              <a:rPr lang="en-US" sz="3200" dirty="0"/>
              <a:t>Give atropine for all children before surgery IV during the time of induction</a:t>
            </a:r>
          </a:p>
          <a:p>
            <a:pPr>
              <a:buNone/>
            </a:pPr>
            <a:r>
              <a:rPr lang="en-US" sz="3200" dirty="0"/>
              <a:t>D/C manipulation</a:t>
            </a:r>
          </a:p>
          <a:p>
            <a:pPr>
              <a:buNone/>
            </a:pPr>
            <a:r>
              <a:rPr lang="en-US" sz="3200" dirty="0"/>
              <a:t>Asses </a:t>
            </a:r>
            <a:r>
              <a:rPr lang="en-US" sz="3200" dirty="0" err="1"/>
              <a:t>ventilatory</a:t>
            </a:r>
            <a:r>
              <a:rPr lang="en-US" sz="3200" dirty="0"/>
              <a:t> status</a:t>
            </a:r>
          </a:p>
          <a:p>
            <a:pPr>
              <a:buNone/>
            </a:pPr>
            <a:r>
              <a:rPr lang="en-US" sz="3200" dirty="0"/>
              <a:t>Avoid hypoxia and </a:t>
            </a:r>
            <a:r>
              <a:rPr lang="en-US" sz="3200" dirty="0" err="1"/>
              <a:t>hypercarbia</a:t>
            </a:r>
            <a:endParaRPr lang="en-US" sz="3200" dirty="0"/>
          </a:p>
          <a:p>
            <a:pPr>
              <a:buNone/>
            </a:pPr>
            <a:r>
              <a:rPr lang="en-US" sz="3200" dirty="0"/>
              <a:t>No atropine during active phase</a:t>
            </a:r>
          </a:p>
          <a:p>
            <a:pPr>
              <a:buNone/>
            </a:pPr>
            <a:r>
              <a:rPr lang="en-US" sz="3200" dirty="0"/>
              <a:t>Monitoring (ECG)</a:t>
            </a:r>
          </a:p>
          <a:p>
            <a:pPr>
              <a:buNone/>
            </a:pPr>
            <a:r>
              <a:rPr lang="en-US" sz="3200" dirty="0"/>
              <a:t>N.B during strabismus surgery give anti emetics </a:t>
            </a:r>
          </a:p>
          <a:p>
            <a:endParaRPr lang="en-US" sz="3200" dirty="0"/>
          </a:p>
        </p:txBody>
      </p:sp>
    </p:spTree>
    <p:extLst>
      <p:ext uri="{BB962C8B-B14F-4D97-AF65-F5344CB8AC3E}">
        <p14:creationId xmlns:p14="http://schemas.microsoft.com/office/powerpoint/2010/main" val="18316016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Anesthesia for different ophthalmic procedures unique concerns and basic requirements</a:t>
            </a:r>
          </a:p>
        </p:txBody>
      </p:sp>
      <p:sp>
        <p:nvSpPr>
          <p:cNvPr id="3" name="Content Placeholder 2"/>
          <p:cNvSpPr>
            <a:spLocks noGrp="1"/>
          </p:cNvSpPr>
          <p:nvPr>
            <p:ph idx="1"/>
          </p:nvPr>
        </p:nvSpPr>
        <p:spPr/>
        <p:txBody>
          <a:bodyPr/>
          <a:lstStyle/>
          <a:p>
            <a:pPr>
              <a:buNone/>
            </a:pPr>
            <a:r>
              <a:rPr lang="en-US" dirty="0"/>
              <a:t> </a:t>
            </a:r>
            <a:r>
              <a:rPr lang="en-US" sz="3200" u="sng" dirty="0"/>
              <a:t>Factors influencing choice of anesthesia</a:t>
            </a:r>
          </a:p>
          <a:p>
            <a:pPr>
              <a:buNone/>
            </a:pPr>
            <a:r>
              <a:rPr lang="en-US" dirty="0"/>
              <a:t>Nature and duration of surgery</a:t>
            </a:r>
          </a:p>
          <a:p>
            <a:pPr>
              <a:buNone/>
            </a:pPr>
            <a:r>
              <a:rPr lang="en-US" dirty="0"/>
              <a:t>Coagulation status</a:t>
            </a:r>
          </a:p>
          <a:p>
            <a:pPr>
              <a:buNone/>
            </a:pPr>
            <a:r>
              <a:rPr lang="en-US" dirty="0"/>
              <a:t>Patients ability to communicate and cooperate</a:t>
            </a:r>
          </a:p>
          <a:p>
            <a:pPr>
              <a:buNone/>
            </a:pPr>
            <a:r>
              <a:rPr lang="en-US" dirty="0"/>
              <a:t>Personal preference of the anesthetist.</a:t>
            </a:r>
          </a:p>
        </p:txBody>
      </p:sp>
    </p:spTree>
    <p:extLst>
      <p:ext uri="{BB962C8B-B14F-4D97-AF65-F5344CB8AC3E}">
        <p14:creationId xmlns:p14="http://schemas.microsoft.com/office/powerpoint/2010/main" val="32245991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Anesthesia for intraocular procedures </a:t>
            </a:r>
            <a:endParaRPr lang="en-US" dirty="0"/>
          </a:p>
        </p:txBody>
      </p:sp>
      <p:sp>
        <p:nvSpPr>
          <p:cNvPr id="3" name="Content Placeholder 2"/>
          <p:cNvSpPr>
            <a:spLocks noGrp="1"/>
          </p:cNvSpPr>
          <p:nvPr>
            <p:ph idx="1"/>
          </p:nvPr>
        </p:nvSpPr>
        <p:spPr/>
        <p:txBody>
          <a:bodyPr/>
          <a:lstStyle/>
          <a:p>
            <a:r>
              <a:rPr lang="en-US" dirty="0"/>
              <a:t>Proper control of IOP</a:t>
            </a:r>
          </a:p>
          <a:p>
            <a:r>
              <a:rPr lang="en-US" dirty="0"/>
              <a:t>Drug interactions </a:t>
            </a:r>
          </a:p>
          <a:p>
            <a:r>
              <a:rPr lang="en-US" dirty="0" err="1"/>
              <a:t>Akinesia</a:t>
            </a:r>
            <a:r>
              <a:rPr lang="en-US" dirty="0"/>
              <a:t> </a:t>
            </a:r>
          </a:p>
          <a:p>
            <a:r>
              <a:rPr lang="en-US" dirty="0"/>
              <a:t>Associated systemic diseases</a:t>
            </a:r>
          </a:p>
          <a:p>
            <a:endParaRPr lang="en-US" dirty="0"/>
          </a:p>
        </p:txBody>
      </p:sp>
    </p:spTree>
    <p:extLst>
      <p:ext uri="{BB962C8B-B14F-4D97-AF65-F5344CB8AC3E}">
        <p14:creationId xmlns:p14="http://schemas.microsoft.com/office/powerpoint/2010/main" val="234480369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Events that alter IOP</a:t>
            </a:r>
            <a:endParaRPr lang="en-US" dirty="0"/>
          </a:p>
        </p:txBody>
      </p:sp>
      <p:sp>
        <p:nvSpPr>
          <p:cNvPr id="3" name="Content Placeholder 2"/>
          <p:cNvSpPr>
            <a:spLocks noGrp="1"/>
          </p:cNvSpPr>
          <p:nvPr>
            <p:ph idx="1"/>
          </p:nvPr>
        </p:nvSpPr>
        <p:spPr/>
        <p:txBody>
          <a:bodyPr/>
          <a:lstStyle/>
          <a:p>
            <a:pPr>
              <a:buNone/>
            </a:pPr>
            <a:r>
              <a:rPr lang="en-US" dirty="0"/>
              <a:t> </a:t>
            </a:r>
            <a:r>
              <a:rPr lang="en-US" sz="2400" b="1" u="sng" dirty="0"/>
              <a:t>Decrease IOP</a:t>
            </a:r>
          </a:p>
          <a:p>
            <a:pPr>
              <a:buNone/>
            </a:pPr>
            <a:r>
              <a:rPr lang="en-US" dirty="0"/>
              <a:t>Volatile agents </a:t>
            </a:r>
          </a:p>
          <a:p>
            <a:pPr>
              <a:buNone/>
            </a:pPr>
            <a:r>
              <a:rPr lang="en-US" dirty="0"/>
              <a:t>Hyper ventilation</a:t>
            </a:r>
          </a:p>
          <a:p>
            <a:pPr>
              <a:buNone/>
            </a:pPr>
            <a:r>
              <a:rPr lang="en-US" dirty="0"/>
              <a:t>All IV agents except ketamine</a:t>
            </a:r>
          </a:p>
          <a:p>
            <a:pPr>
              <a:buNone/>
            </a:pPr>
            <a:r>
              <a:rPr lang="en-US" dirty="0"/>
              <a:t>Hypothermia </a:t>
            </a:r>
          </a:p>
          <a:p>
            <a:pPr>
              <a:buNone/>
            </a:pPr>
            <a:r>
              <a:rPr lang="en-US" dirty="0"/>
              <a:t>Mannitol &amp;</a:t>
            </a:r>
            <a:r>
              <a:rPr lang="en-US" dirty="0" err="1"/>
              <a:t>glycerine</a:t>
            </a:r>
            <a:endParaRPr lang="en-US" dirty="0"/>
          </a:p>
          <a:p>
            <a:pPr>
              <a:buNone/>
            </a:pPr>
            <a:r>
              <a:rPr lang="en-US" dirty="0"/>
              <a:t>NDMR</a:t>
            </a:r>
          </a:p>
        </p:txBody>
      </p:sp>
    </p:spTree>
    <p:extLst>
      <p:ext uri="{BB962C8B-B14F-4D97-AF65-F5344CB8AC3E}">
        <p14:creationId xmlns:p14="http://schemas.microsoft.com/office/powerpoint/2010/main" val="37581596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Increase </a:t>
            </a:r>
            <a:endParaRPr lang="en-US" dirty="0"/>
          </a:p>
        </p:txBody>
      </p:sp>
      <p:sp>
        <p:nvSpPr>
          <p:cNvPr id="3" name="Content Placeholder 2"/>
          <p:cNvSpPr>
            <a:spLocks noGrp="1"/>
          </p:cNvSpPr>
          <p:nvPr>
            <p:ph idx="1"/>
          </p:nvPr>
        </p:nvSpPr>
        <p:spPr/>
        <p:txBody>
          <a:bodyPr/>
          <a:lstStyle/>
          <a:p>
            <a:r>
              <a:rPr lang="en-US" dirty="0"/>
              <a:t>Venous congestion (coughing straining vomiting )</a:t>
            </a:r>
          </a:p>
          <a:p>
            <a:r>
              <a:rPr lang="en-US" dirty="0"/>
              <a:t>Direct laryngoscopy</a:t>
            </a:r>
          </a:p>
          <a:p>
            <a:r>
              <a:rPr lang="en-US" dirty="0"/>
              <a:t>SCCH</a:t>
            </a:r>
          </a:p>
          <a:p>
            <a:r>
              <a:rPr lang="en-US" dirty="0"/>
              <a:t>Arterial hypoxemia</a:t>
            </a:r>
          </a:p>
          <a:p>
            <a:r>
              <a:rPr lang="en-US" dirty="0"/>
              <a:t>hypoventilation</a:t>
            </a:r>
          </a:p>
          <a:p>
            <a:endParaRPr lang="en-US" dirty="0"/>
          </a:p>
        </p:txBody>
      </p:sp>
    </p:spTree>
    <p:extLst>
      <p:ext uri="{BB962C8B-B14F-4D97-AF65-F5344CB8AC3E}">
        <p14:creationId xmlns:p14="http://schemas.microsoft.com/office/powerpoint/2010/main" val="35514695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events that alter IOP</a:t>
            </a:r>
            <a:endParaRPr lang="en-US" dirty="0"/>
          </a:p>
        </p:txBody>
      </p:sp>
      <p:sp>
        <p:nvSpPr>
          <p:cNvPr id="3" name="Content Placeholder 2"/>
          <p:cNvSpPr>
            <a:spLocks noGrp="1"/>
          </p:cNvSpPr>
          <p:nvPr>
            <p:ph idx="1"/>
          </p:nvPr>
        </p:nvSpPr>
        <p:spPr/>
        <p:txBody>
          <a:bodyPr/>
          <a:lstStyle/>
          <a:p>
            <a:r>
              <a:rPr lang="en-GB" dirty="0"/>
              <a:t>laryngoscopy</a:t>
            </a:r>
          </a:p>
          <a:p>
            <a:r>
              <a:rPr lang="en-GB" dirty="0"/>
              <a:t>Intubation</a:t>
            </a:r>
          </a:p>
          <a:p>
            <a:r>
              <a:rPr lang="en-GB" dirty="0"/>
              <a:t>airway obstruction</a:t>
            </a:r>
          </a:p>
          <a:p>
            <a:r>
              <a:rPr lang="en-GB" dirty="0"/>
              <a:t>Coughing</a:t>
            </a:r>
          </a:p>
          <a:p>
            <a:r>
              <a:rPr lang="en-GB" dirty="0"/>
              <a:t>Trendelenburg position</a:t>
            </a:r>
          </a:p>
          <a:p>
            <a:endParaRPr lang="en-US" dirty="0"/>
          </a:p>
        </p:txBody>
      </p:sp>
    </p:spTree>
    <p:extLst>
      <p:ext uri="{BB962C8B-B14F-4D97-AF65-F5344CB8AC3E}">
        <p14:creationId xmlns:p14="http://schemas.microsoft.com/office/powerpoint/2010/main" val="37114558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Inhalation agents </a:t>
            </a:r>
            <a:endParaRPr lang="en-US" dirty="0"/>
          </a:p>
        </p:txBody>
      </p:sp>
      <p:sp>
        <p:nvSpPr>
          <p:cNvPr id="3" name="Content Placeholder 2"/>
          <p:cNvSpPr>
            <a:spLocks noGrp="1"/>
          </p:cNvSpPr>
          <p:nvPr>
            <p:ph idx="1"/>
          </p:nvPr>
        </p:nvSpPr>
        <p:spPr/>
        <p:txBody>
          <a:bodyPr/>
          <a:lstStyle/>
          <a:p>
            <a:pPr marL="609600" indent="-609600">
              <a:buNone/>
            </a:pPr>
            <a:r>
              <a:rPr lang="en-GB" dirty="0"/>
              <a:t>Inhalational </a:t>
            </a:r>
            <a:r>
              <a:rPr lang="en-GB" dirty="0" smtClean="0"/>
              <a:t>anaesthetics </a:t>
            </a:r>
            <a:r>
              <a:rPr lang="en-GB" dirty="0"/>
              <a:t>decrease intraocular pressure in proportion </a:t>
            </a:r>
            <a:r>
              <a:rPr lang="en-GB" dirty="0" smtClean="0"/>
              <a:t>to the </a:t>
            </a:r>
            <a:r>
              <a:rPr lang="en-GB" dirty="0"/>
              <a:t>depth of anesthesia. </a:t>
            </a:r>
          </a:p>
          <a:p>
            <a:pPr marL="609600" indent="-609600"/>
            <a:r>
              <a:rPr lang="en-GB" dirty="0">
                <a:solidFill>
                  <a:srgbClr val="FF0000"/>
                </a:solidFill>
              </a:rPr>
              <a:t>The decrease has multiple causes: </a:t>
            </a:r>
            <a:r>
              <a:rPr lang="en-GB" dirty="0" err="1" smtClean="0">
                <a:solidFill>
                  <a:srgbClr val="FF0000"/>
                </a:solidFill>
              </a:rPr>
              <a:t>mechanisims</a:t>
            </a:r>
            <a:r>
              <a:rPr lang="en-GB" dirty="0" smtClean="0">
                <a:solidFill>
                  <a:srgbClr val="FF0000"/>
                </a:solidFill>
              </a:rPr>
              <a:t> </a:t>
            </a:r>
            <a:endParaRPr lang="en-GB" dirty="0">
              <a:solidFill>
                <a:srgbClr val="FF0000"/>
              </a:solidFill>
            </a:endParaRPr>
          </a:p>
          <a:p>
            <a:pPr marL="609600" indent="-609600">
              <a:buFontTx/>
              <a:buAutoNum type="arabicPeriod"/>
            </a:pPr>
            <a:r>
              <a:rPr lang="en-GB" dirty="0">
                <a:solidFill>
                  <a:srgbClr val="CC0000"/>
                </a:solidFill>
              </a:rPr>
              <a:t>A drop in blood pressure reduces choroidal </a:t>
            </a:r>
            <a:r>
              <a:rPr lang="en-GB" dirty="0" smtClean="0">
                <a:solidFill>
                  <a:srgbClr val="CC0000"/>
                </a:solidFill>
              </a:rPr>
              <a:t>volume</a:t>
            </a:r>
            <a:endParaRPr lang="en-GB" dirty="0">
              <a:solidFill>
                <a:srgbClr val="CC0000"/>
              </a:solidFill>
            </a:endParaRPr>
          </a:p>
          <a:p>
            <a:pPr marL="609600" indent="-609600">
              <a:buFontTx/>
              <a:buAutoNum type="arabicPeriod"/>
            </a:pPr>
            <a:r>
              <a:rPr lang="en-GB" dirty="0">
                <a:solidFill>
                  <a:srgbClr val="CC0000"/>
                </a:solidFill>
              </a:rPr>
              <a:t> relaxation of the </a:t>
            </a:r>
            <a:r>
              <a:rPr lang="en-GB" dirty="0" smtClean="0">
                <a:solidFill>
                  <a:srgbClr val="CC0000"/>
                </a:solidFill>
              </a:rPr>
              <a:t>extra ocular </a:t>
            </a:r>
            <a:r>
              <a:rPr lang="en-GB" dirty="0">
                <a:solidFill>
                  <a:srgbClr val="CC0000"/>
                </a:solidFill>
              </a:rPr>
              <a:t>muscles lowers wall tension</a:t>
            </a:r>
          </a:p>
          <a:p>
            <a:pPr marL="609600" indent="-609600">
              <a:buFontTx/>
              <a:buAutoNum type="arabicPeriod"/>
            </a:pPr>
            <a:r>
              <a:rPr lang="en-GB" dirty="0">
                <a:solidFill>
                  <a:srgbClr val="CC0000"/>
                </a:solidFill>
              </a:rPr>
              <a:t>pupillary constriction facilitates aqueous outflow</a:t>
            </a:r>
            <a:endParaRPr lang="en-US" dirty="0"/>
          </a:p>
        </p:txBody>
      </p:sp>
    </p:spTree>
    <p:extLst>
      <p:ext uri="{BB962C8B-B14F-4D97-AF65-F5344CB8AC3E}">
        <p14:creationId xmlns:p14="http://schemas.microsoft.com/office/powerpoint/2010/main" val="63060198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Tx/>
              <a:buNone/>
            </a:pPr>
            <a:r>
              <a:rPr lang="en-GB" sz="3200" dirty="0"/>
              <a:t>Intravenous </a:t>
            </a:r>
            <a:r>
              <a:rPr lang="en-GB" sz="3200" dirty="0" smtClean="0"/>
              <a:t>aesthetics </a:t>
            </a:r>
            <a:r>
              <a:rPr lang="en-GB" sz="3200" dirty="0"/>
              <a:t>drugs decrease intraocular </a:t>
            </a:r>
            <a:r>
              <a:rPr lang="en-GB" sz="3200" dirty="0" smtClean="0"/>
              <a:t>pressure Exception </a:t>
            </a:r>
            <a:r>
              <a:rPr lang="en-GB" sz="3200" dirty="0"/>
              <a:t>is ketamine, which usually </a:t>
            </a:r>
            <a:r>
              <a:rPr lang="en-GB" sz="3200" dirty="0">
                <a:solidFill>
                  <a:srgbClr val="FF0000"/>
                </a:solidFill>
              </a:rPr>
              <a:t>raises arterial blood pressure and does not relax </a:t>
            </a:r>
            <a:r>
              <a:rPr lang="en-GB" sz="3200" dirty="0" smtClean="0">
                <a:solidFill>
                  <a:srgbClr val="FF0000"/>
                </a:solidFill>
              </a:rPr>
              <a:t>extra ocular </a:t>
            </a:r>
            <a:r>
              <a:rPr lang="en-GB" sz="3200" dirty="0">
                <a:solidFill>
                  <a:srgbClr val="FF0000"/>
                </a:solidFill>
              </a:rPr>
              <a:t>muscles.</a:t>
            </a:r>
          </a:p>
          <a:p>
            <a:endParaRPr lang="en-US" sz="3200" dirty="0">
              <a:solidFill>
                <a:srgbClr val="FF0000"/>
              </a:solidFill>
            </a:endParaRPr>
          </a:p>
        </p:txBody>
      </p:sp>
    </p:spTree>
    <p:extLst>
      <p:ext uri="{BB962C8B-B14F-4D97-AF65-F5344CB8AC3E}">
        <p14:creationId xmlns:p14="http://schemas.microsoft.com/office/powerpoint/2010/main" val="2992470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GB" sz="3200" dirty="0"/>
              <a:t>Succinylcholine increases intraocular pressure   for 5—10 minutes </a:t>
            </a:r>
          </a:p>
          <a:p>
            <a:pPr>
              <a:buFontTx/>
              <a:buNone/>
            </a:pPr>
            <a:r>
              <a:rPr lang="en-GB" sz="3200" dirty="0"/>
              <a:t>    principally through prolonged contracture of the </a:t>
            </a:r>
            <a:r>
              <a:rPr lang="en-GB" sz="3200" dirty="0" smtClean="0"/>
              <a:t>extra ocular </a:t>
            </a:r>
            <a:r>
              <a:rPr lang="en-GB" sz="3200" dirty="0"/>
              <a:t>muscles. </a:t>
            </a:r>
          </a:p>
          <a:p>
            <a:pPr>
              <a:buFontTx/>
              <a:buNone/>
            </a:pPr>
            <a:endParaRPr lang="en-GB" sz="3200" dirty="0"/>
          </a:p>
          <a:p>
            <a:pPr>
              <a:buFontTx/>
              <a:buNone/>
            </a:pPr>
            <a:r>
              <a:rPr lang="en-GB" sz="3200" dirty="0"/>
              <a:t> </a:t>
            </a:r>
          </a:p>
          <a:p>
            <a:r>
              <a:rPr lang="en-GB" sz="3200" dirty="0" smtClean="0"/>
              <a:t>Non depolarizing </a:t>
            </a:r>
            <a:r>
              <a:rPr lang="en-GB" sz="3200" dirty="0"/>
              <a:t>muscle relaxants do not increase intraocular pressure</a:t>
            </a:r>
            <a:r>
              <a:rPr lang="en-GB" dirty="0"/>
              <a:t>.</a:t>
            </a:r>
          </a:p>
          <a:p>
            <a:endParaRPr lang="en-US" dirty="0"/>
          </a:p>
          <a:p>
            <a:endParaRPr lang="en-US" dirty="0"/>
          </a:p>
        </p:txBody>
      </p:sp>
    </p:spTree>
    <p:extLst>
      <p:ext uri="{BB962C8B-B14F-4D97-AF65-F5344CB8AC3E}">
        <p14:creationId xmlns:p14="http://schemas.microsoft.com/office/powerpoint/2010/main" val="274564436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Formation of glaucoma </a:t>
            </a:r>
            <a:endParaRPr lang="en-US" dirty="0"/>
          </a:p>
        </p:txBody>
      </p:sp>
      <p:sp>
        <p:nvSpPr>
          <p:cNvPr id="3" name="Content Placeholder 2"/>
          <p:cNvSpPr>
            <a:spLocks noGrp="1"/>
          </p:cNvSpPr>
          <p:nvPr>
            <p:ph idx="1"/>
          </p:nvPr>
        </p:nvSpPr>
        <p:spPr/>
        <p:txBody>
          <a:bodyPr>
            <a:normAutofit/>
          </a:bodyPr>
          <a:lstStyle/>
          <a:p>
            <a:r>
              <a:rPr lang="en-US" sz="2800" dirty="0"/>
              <a:t>Anterior chamber displacement of lenses and iris ----shallowness of anterior chamber angle ---reducing of access of AH to trabecular mesh work –forms Glaucoma </a:t>
            </a:r>
            <a:r>
              <a:rPr lang="en-US" sz="2800" dirty="0" smtClean="0"/>
              <a:t>.</a:t>
            </a:r>
            <a:endParaRPr lang="en-US" sz="2800" dirty="0"/>
          </a:p>
        </p:txBody>
      </p:sp>
    </p:spTree>
    <p:extLst>
      <p:ext uri="{BB962C8B-B14F-4D97-AF65-F5344CB8AC3E}">
        <p14:creationId xmlns:p14="http://schemas.microsoft.com/office/powerpoint/2010/main" val="20946131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Anesthesia for Glaucoma patients </a:t>
            </a:r>
          </a:p>
        </p:txBody>
      </p:sp>
      <p:sp>
        <p:nvSpPr>
          <p:cNvPr id="3" name="Content Placeholder 2"/>
          <p:cNvSpPr>
            <a:spLocks noGrp="1"/>
          </p:cNvSpPr>
          <p:nvPr>
            <p:ph idx="1"/>
          </p:nvPr>
        </p:nvSpPr>
        <p:spPr/>
        <p:txBody>
          <a:bodyPr>
            <a:noAutofit/>
          </a:bodyPr>
          <a:lstStyle/>
          <a:p>
            <a:r>
              <a:rPr lang="en-US" sz="3200" u="sng" dirty="0" smtClean="0"/>
              <a:t>Types of surgeries </a:t>
            </a:r>
          </a:p>
          <a:p>
            <a:r>
              <a:rPr lang="en-US" sz="3200" b="1" dirty="0" smtClean="0"/>
              <a:t>Laser </a:t>
            </a:r>
            <a:r>
              <a:rPr lang="en-US" sz="3200" b="1" dirty="0" smtClean="0">
                <a:solidFill>
                  <a:srgbClr val="FF0000"/>
                </a:solidFill>
              </a:rPr>
              <a:t>Argon laser trabecoloplasty to treat open angle glaucoma </a:t>
            </a:r>
            <a:r>
              <a:rPr lang="en-US" sz="3200" b="1" dirty="0" smtClean="0"/>
              <a:t>)</a:t>
            </a:r>
          </a:p>
          <a:p>
            <a:r>
              <a:rPr lang="en-US" sz="3200" b="1" dirty="0" smtClean="0">
                <a:solidFill>
                  <a:srgbClr val="FF0000"/>
                </a:solidFill>
              </a:rPr>
              <a:t>Incisional </a:t>
            </a:r>
            <a:r>
              <a:rPr lang="en-US" sz="3200" b="1" dirty="0" err="1" smtClean="0">
                <a:solidFill>
                  <a:srgbClr val="FF0000"/>
                </a:solidFill>
              </a:rPr>
              <a:t>Trabeculectomy</a:t>
            </a:r>
            <a:r>
              <a:rPr lang="en-US" sz="3200" b="1" dirty="0" smtClean="0">
                <a:solidFill>
                  <a:srgbClr val="FF0000"/>
                </a:solidFill>
              </a:rPr>
              <a:t> </a:t>
            </a:r>
            <a:r>
              <a:rPr lang="en-US" sz="3200" b="1" dirty="0" smtClean="0"/>
              <a:t>removing part of the eye drainage tubes to allow fluid to drain more easily )</a:t>
            </a:r>
          </a:p>
          <a:p>
            <a:r>
              <a:rPr lang="en-US" sz="3200" b="1" dirty="0" err="1" smtClean="0"/>
              <a:t>Cyclophotocoagulation</a:t>
            </a:r>
            <a:r>
              <a:rPr lang="en-US" sz="3200" b="1" dirty="0" smtClean="0"/>
              <a:t> ;To reduce both pressure and fluid production by laser </a:t>
            </a:r>
          </a:p>
          <a:p>
            <a:r>
              <a:rPr lang="en-US" sz="3200" b="1" dirty="0" smtClean="0"/>
              <a:t>Laser </a:t>
            </a:r>
            <a:r>
              <a:rPr lang="en-US" sz="3200" b="1" dirty="0" err="1" smtClean="0"/>
              <a:t>Iridotomy</a:t>
            </a:r>
            <a:r>
              <a:rPr lang="en-US" sz="3200" b="1" dirty="0" smtClean="0"/>
              <a:t> to make tiny hole near the iris (different than cutting off the piece of iris )</a:t>
            </a:r>
          </a:p>
          <a:p>
            <a:r>
              <a:rPr lang="en-US" sz="3200" b="1" dirty="0" err="1" smtClean="0"/>
              <a:t>Glacoma</a:t>
            </a:r>
            <a:r>
              <a:rPr lang="en-US" sz="3200" b="1" dirty="0" smtClean="0"/>
              <a:t> implant surgery </a:t>
            </a:r>
            <a:endParaRPr lang="en-US" sz="3200" b="1" dirty="0"/>
          </a:p>
        </p:txBody>
      </p:sp>
    </p:spTree>
    <p:extLst>
      <p:ext uri="{BB962C8B-B14F-4D97-AF65-F5344CB8AC3E}">
        <p14:creationId xmlns:p14="http://schemas.microsoft.com/office/powerpoint/2010/main" val="3176789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glaucoma </a:t>
            </a:r>
            <a:endParaRPr lang="en-US" dirty="0"/>
          </a:p>
        </p:txBody>
      </p:sp>
      <p:sp>
        <p:nvSpPr>
          <p:cNvPr id="3" name="Content Placeholder 2"/>
          <p:cNvSpPr>
            <a:spLocks noGrp="1"/>
          </p:cNvSpPr>
          <p:nvPr>
            <p:ph idx="1"/>
          </p:nvPr>
        </p:nvSpPr>
        <p:spPr/>
        <p:txBody>
          <a:bodyPr>
            <a:noAutofit/>
          </a:bodyPr>
          <a:lstStyle/>
          <a:p>
            <a:r>
              <a:rPr lang="en-US" sz="3200" dirty="0" smtClean="0"/>
              <a:t>Open angle –This is the most common type developing slowly here </a:t>
            </a:r>
            <a:r>
              <a:rPr lang="en-US" sz="3200" dirty="0" smtClean="0">
                <a:solidFill>
                  <a:srgbClr val="FF0000"/>
                </a:solidFill>
              </a:rPr>
              <a:t>the pressure small and the cause is impended </a:t>
            </a:r>
            <a:r>
              <a:rPr lang="en-US" sz="3200" dirty="0">
                <a:solidFill>
                  <a:srgbClr val="FF0000"/>
                </a:solidFill>
              </a:rPr>
              <a:t>e</a:t>
            </a:r>
            <a:r>
              <a:rPr lang="en-US" sz="3200" dirty="0" smtClean="0">
                <a:solidFill>
                  <a:srgbClr val="FF0000"/>
                </a:solidFill>
              </a:rPr>
              <a:t>xit of AH   through the trabecular mesh </a:t>
            </a:r>
            <a:r>
              <a:rPr lang="en-US" sz="3200" dirty="0" smtClean="0"/>
              <a:t>work </a:t>
            </a:r>
          </a:p>
          <a:p>
            <a:r>
              <a:rPr lang="en-US" sz="3200" dirty="0" smtClean="0">
                <a:solidFill>
                  <a:srgbClr val="0070C0"/>
                </a:solidFill>
              </a:rPr>
              <a:t>Close angle </a:t>
            </a:r>
            <a:r>
              <a:rPr lang="en-US" sz="3200" dirty="0" smtClean="0">
                <a:solidFill>
                  <a:srgbClr val="FF0000"/>
                </a:solidFill>
              </a:rPr>
              <a:t>Glaucoma the increase in pressure high and sudden here the iris blocks </a:t>
            </a:r>
          </a:p>
          <a:p>
            <a:r>
              <a:rPr lang="en-US" sz="3200" dirty="0" smtClean="0"/>
              <a:t>Congenital Glaucoma at neonatal </a:t>
            </a:r>
            <a:r>
              <a:rPr lang="en-US" sz="3200" dirty="0" smtClean="0">
                <a:solidFill>
                  <a:srgbClr val="FF0000"/>
                </a:solidFill>
              </a:rPr>
              <a:t>age birth defect </a:t>
            </a:r>
          </a:p>
          <a:p>
            <a:r>
              <a:rPr lang="en-US" sz="3200" dirty="0" smtClean="0"/>
              <a:t>Secondary Glaucoma is caused by </a:t>
            </a:r>
            <a:r>
              <a:rPr lang="en-US" sz="3200" dirty="0" smtClean="0">
                <a:solidFill>
                  <a:srgbClr val="FF0000"/>
                </a:solidFill>
              </a:rPr>
              <a:t>underlying medical causes or trauma </a:t>
            </a:r>
            <a:r>
              <a:rPr lang="en-US" sz="3200" dirty="0" smtClean="0"/>
              <a:t>(There is a cause Optic nerve damage or vision loss ) </a:t>
            </a:r>
            <a:endParaRPr lang="en-US" sz="3200" dirty="0"/>
          </a:p>
        </p:txBody>
      </p:sp>
    </p:spTree>
    <p:extLst>
      <p:ext uri="{BB962C8B-B14F-4D97-AF65-F5344CB8AC3E}">
        <p14:creationId xmlns:p14="http://schemas.microsoft.com/office/powerpoint/2010/main" val="21578123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management for glaucoma </a:t>
            </a:r>
            <a:endParaRPr lang="en-US" dirty="0"/>
          </a:p>
        </p:txBody>
      </p:sp>
      <p:sp>
        <p:nvSpPr>
          <p:cNvPr id="3" name="Content Placeholder 2"/>
          <p:cNvSpPr>
            <a:spLocks noGrp="1"/>
          </p:cNvSpPr>
          <p:nvPr>
            <p:ph idx="1"/>
          </p:nvPr>
        </p:nvSpPr>
        <p:spPr/>
        <p:txBody>
          <a:bodyPr>
            <a:normAutofit/>
          </a:bodyPr>
          <a:lstStyle/>
          <a:p>
            <a:r>
              <a:rPr lang="en-US" sz="3200" dirty="0"/>
              <a:t>Be aware of the effect of anesthesthetic drugs on </a:t>
            </a:r>
            <a:r>
              <a:rPr lang="en-US" sz="3200" dirty="0" smtClean="0"/>
              <a:t>IOP(Proper selection of drugs is mandatory )</a:t>
            </a:r>
          </a:p>
          <a:p>
            <a:r>
              <a:rPr lang="en-US" sz="3200" dirty="0" smtClean="0"/>
              <a:t>Consider the use of  </a:t>
            </a:r>
            <a:r>
              <a:rPr lang="en-US" sz="3200" dirty="0" err="1" smtClean="0"/>
              <a:t>moitics</a:t>
            </a:r>
            <a:r>
              <a:rPr lang="en-US" sz="3200" dirty="0" smtClean="0"/>
              <a:t> drugs and its implication with your anesthetic agents </a:t>
            </a:r>
            <a:endParaRPr lang="en-US" sz="3200" dirty="0"/>
          </a:p>
          <a:p>
            <a:r>
              <a:rPr lang="en-US" sz="3200" dirty="0"/>
              <a:t>Avoid venous congestion </a:t>
            </a:r>
          </a:p>
        </p:txBody>
      </p:sp>
    </p:spTree>
    <p:extLst>
      <p:ext uri="{BB962C8B-B14F-4D97-AF65-F5344CB8AC3E}">
        <p14:creationId xmlns:p14="http://schemas.microsoft.com/office/powerpoint/2010/main" val="30529701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Avoid over hydration</a:t>
            </a:r>
          </a:p>
          <a:p>
            <a:r>
              <a:rPr lang="en-US" sz="3200" dirty="0"/>
              <a:t>Cyclocryotherapy( </a:t>
            </a:r>
            <a:r>
              <a:rPr lang="en-US" sz="3200" dirty="0" err="1">
                <a:solidFill>
                  <a:srgbClr val="FF0000"/>
                </a:solidFill>
              </a:rPr>
              <a:t>Aprocedure</a:t>
            </a:r>
            <a:r>
              <a:rPr lang="en-US" sz="3200" dirty="0">
                <a:solidFill>
                  <a:srgbClr val="FF0000"/>
                </a:solidFill>
              </a:rPr>
              <a:t> that uses a </a:t>
            </a:r>
            <a:r>
              <a:rPr lang="en-US" sz="3200" dirty="0" err="1">
                <a:solidFill>
                  <a:srgbClr val="FF0000"/>
                </a:solidFill>
              </a:rPr>
              <a:t>cryo</a:t>
            </a:r>
            <a:r>
              <a:rPr lang="en-US" sz="3200" dirty="0">
                <a:solidFill>
                  <a:srgbClr val="FF0000"/>
                </a:solidFill>
              </a:rPr>
              <a:t>-probe to freeze and destroy part of the ciliary body in the eye to reduce IOP)</a:t>
            </a:r>
          </a:p>
          <a:p>
            <a:r>
              <a:rPr lang="en-US" sz="3200" dirty="0"/>
              <a:t>Proper control of IOP</a:t>
            </a:r>
          </a:p>
          <a:p>
            <a:r>
              <a:rPr lang="en-US" sz="3200" dirty="0"/>
              <a:t>Obtund laryngeal reflexes during laryngoscopy</a:t>
            </a:r>
          </a:p>
          <a:p>
            <a:r>
              <a:rPr lang="en-US" sz="3200" dirty="0"/>
              <a:t>Increase ventilation</a:t>
            </a:r>
          </a:p>
        </p:txBody>
      </p:sp>
    </p:spTree>
    <p:extLst>
      <p:ext uri="{BB962C8B-B14F-4D97-AF65-F5344CB8AC3E}">
        <p14:creationId xmlns:p14="http://schemas.microsoft.com/office/powerpoint/2010/main" val="210563345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Extubation</a:t>
            </a:r>
            <a:r>
              <a:rPr lang="en-US" dirty="0" smtClean="0"/>
              <a:t> of glaucoma patients </a:t>
            </a:r>
            <a:endParaRPr lang="en-US" dirty="0"/>
          </a:p>
        </p:txBody>
      </p:sp>
      <p:sp>
        <p:nvSpPr>
          <p:cNvPr id="3" name="Content Placeholder 2"/>
          <p:cNvSpPr>
            <a:spLocks noGrp="1"/>
          </p:cNvSpPr>
          <p:nvPr>
            <p:ph idx="1"/>
          </p:nvPr>
        </p:nvSpPr>
        <p:spPr/>
        <p:txBody>
          <a:bodyPr>
            <a:normAutofit/>
          </a:bodyPr>
          <a:lstStyle/>
          <a:p>
            <a:r>
              <a:rPr lang="en-US" sz="3200" dirty="0" err="1"/>
              <a:t>Extubate</a:t>
            </a:r>
            <a:r>
              <a:rPr lang="en-US" sz="3200" dirty="0"/>
              <a:t> when deep in lateral position</a:t>
            </a:r>
          </a:p>
          <a:p>
            <a:r>
              <a:rPr lang="en-US" sz="3200" dirty="0"/>
              <a:t>IV lidocaine 1-2mg to prevent coughing </a:t>
            </a:r>
          </a:p>
          <a:p>
            <a:r>
              <a:rPr lang="en-US" sz="3200" dirty="0"/>
              <a:t>Anti emetics</a:t>
            </a:r>
          </a:p>
          <a:p>
            <a:r>
              <a:rPr lang="en-US" sz="3200" dirty="0"/>
              <a:t>Use reversal agents with minimal effect on </a:t>
            </a:r>
            <a:r>
              <a:rPr lang="en-US" sz="3200" dirty="0" err="1"/>
              <a:t>pupilary</a:t>
            </a:r>
            <a:r>
              <a:rPr lang="en-US" sz="3200" dirty="0"/>
              <a:t> size and IOP</a:t>
            </a:r>
          </a:p>
        </p:txBody>
      </p:sp>
    </p:spTree>
    <p:extLst>
      <p:ext uri="{BB962C8B-B14F-4D97-AF65-F5344CB8AC3E}">
        <p14:creationId xmlns:p14="http://schemas.microsoft.com/office/powerpoint/2010/main" val="7504381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Interaction of Topical </a:t>
            </a:r>
            <a:r>
              <a:rPr lang="en-US" dirty="0" smtClean="0"/>
              <a:t>ophthalmic drugs </a:t>
            </a:r>
            <a:endParaRPr lang="en-US" dirty="0"/>
          </a:p>
        </p:txBody>
      </p:sp>
      <p:sp>
        <p:nvSpPr>
          <p:cNvPr id="3" name="Content Placeholder 2"/>
          <p:cNvSpPr>
            <a:spLocks noGrp="1"/>
          </p:cNvSpPr>
          <p:nvPr>
            <p:ph idx="1"/>
          </p:nvPr>
        </p:nvSpPr>
        <p:spPr/>
        <p:txBody>
          <a:bodyPr/>
          <a:lstStyle/>
          <a:p>
            <a:r>
              <a:rPr lang="en-GB" sz="3200" dirty="0"/>
              <a:t>Topical ophthalmic drugs can be </a:t>
            </a:r>
            <a:r>
              <a:rPr lang="en-GB" sz="3200" dirty="0">
                <a:solidFill>
                  <a:srgbClr val="FF0000"/>
                </a:solidFill>
              </a:rPr>
              <a:t>absorbed through the conjunctiva, </a:t>
            </a:r>
            <a:r>
              <a:rPr lang="en-GB" sz="3200" dirty="0"/>
              <a:t>or they drain through the </a:t>
            </a:r>
            <a:r>
              <a:rPr lang="en-GB" sz="3200" dirty="0">
                <a:solidFill>
                  <a:srgbClr val="FF0000"/>
                </a:solidFill>
              </a:rPr>
              <a:t>nasolacrimal duct </a:t>
            </a:r>
            <a:r>
              <a:rPr lang="en-GB" sz="3200" dirty="0"/>
              <a:t>and be absorbed through the </a:t>
            </a:r>
            <a:r>
              <a:rPr lang="en-GB" sz="3200" dirty="0">
                <a:solidFill>
                  <a:srgbClr val="FF0000"/>
                </a:solidFill>
              </a:rPr>
              <a:t>nasal mucosa</a:t>
            </a:r>
            <a:r>
              <a:rPr lang="en-GB" sz="3200" dirty="0"/>
              <a:t>.</a:t>
            </a:r>
          </a:p>
          <a:p>
            <a:pPr>
              <a:buFontTx/>
              <a:buNone/>
            </a:pPr>
            <a:endParaRPr lang="en-GB" sz="3200" dirty="0"/>
          </a:p>
          <a:p>
            <a:r>
              <a:rPr lang="en-GB" sz="3200" dirty="0"/>
              <a:t>Usage of  topical medications can have implications for the anaesthetist </a:t>
            </a:r>
            <a:endParaRPr lang="en-US" sz="3200" dirty="0"/>
          </a:p>
          <a:p>
            <a:endParaRPr lang="en-US" dirty="0"/>
          </a:p>
        </p:txBody>
      </p:sp>
    </p:spTree>
    <p:extLst>
      <p:ext uri="{BB962C8B-B14F-4D97-AF65-F5344CB8AC3E}">
        <p14:creationId xmlns:p14="http://schemas.microsoft.com/office/powerpoint/2010/main" val="39882727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b="1" dirty="0"/>
              <a:t>miotic drugs</a:t>
            </a:r>
            <a:endParaRPr lang="en-US" dirty="0"/>
          </a:p>
        </p:txBody>
      </p:sp>
      <p:sp>
        <p:nvSpPr>
          <p:cNvPr id="3" name="Content Placeholder 2"/>
          <p:cNvSpPr>
            <a:spLocks noGrp="1"/>
          </p:cNvSpPr>
          <p:nvPr>
            <p:ph idx="1"/>
          </p:nvPr>
        </p:nvSpPr>
        <p:spPr/>
        <p:txBody>
          <a:bodyPr>
            <a:normAutofit/>
          </a:bodyPr>
          <a:lstStyle/>
          <a:p>
            <a:pPr>
              <a:buNone/>
            </a:pPr>
            <a:r>
              <a:rPr lang="en-US" sz="3200" dirty="0" smtClean="0"/>
              <a:t>cause </a:t>
            </a:r>
            <a:r>
              <a:rPr lang="en-US" sz="3200" dirty="0"/>
              <a:t>contraction of ciliary muscle </a:t>
            </a:r>
          </a:p>
          <a:p>
            <a:r>
              <a:rPr lang="en-US" sz="3200" dirty="0"/>
              <a:t>Place tension on tendon of the origin</a:t>
            </a:r>
          </a:p>
          <a:p>
            <a:r>
              <a:rPr lang="en-US" sz="3200" dirty="0">
                <a:solidFill>
                  <a:srgbClr val="FF0000"/>
                </a:solidFill>
              </a:rPr>
              <a:t>Open trabecular mesh work</a:t>
            </a:r>
          </a:p>
          <a:p>
            <a:r>
              <a:rPr lang="en-US" sz="3200" dirty="0">
                <a:solidFill>
                  <a:srgbClr val="FF0000"/>
                </a:solidFill>
              </a:rPr>
              <a:t>Facilitate AH out flow in to canal of </a:t>
            </a:r>
            <a:r>
              <a:rPr lang="en-US" sz="3200" dirty="0" err="1">
                <a:solidFill>
                  <a:srgbClr val="FF0000"/>
                </a:solidFill>
              </a:rPr>
              <a:t>shelmm</a:t>
            </a:r>
            <a:endParaRPr lang="en-US" sz="3200" dirty="0">
              <a:solidFill>
                <a:srgbClr val="FF0000"/>
              </a:solidFill>
            </a:endParaRPr>
          </a:p>
          <a:p>
            <a:endParaRPr lang="en-US" sz="3200" dirty="0"/>
          </a:p>
          <a:p>
            <a:endParaRPr lang="en-US" sz="3200" dirty="0"/>
          </a:p>
        </p:txBody>
      </p:sp>
    </p:spTree>
    <p:extLst>
      <p:ext uri="{BB962C8B-B14F-4D97-AF65-F5344CB8AC3E}">
        <p14:creationId xmlns:p14="http://schemas.microsoft.com/office/powerpoint/2010/main" val="69637118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Pilocarpine </a:t>
            </a:r>
            <a:endParaRPr lang="en-US" dirty="0"/>
          </a:p>
        </p:txBody>
      </p:sp>
      <p:sp>
        <p:nvSpPr>
          <p:cNvPr id="3" name="Content Placeholder 2"/>
          <p:cNvSpPr>
            <a:spLocks noGrp="1"/>
          </p:cNvSpPr>
          <p:nvPr>
            <p:ph idx="1"/>
          </p:nvPr>
        </p:nvSpPr>
        <p:spPr/>
        <p:txBody>
          <a:bodyPr/>
          <a:lstStyle/>
          <a:p>
            <a:r>
              <a:rPr lang="en-US" sz="3200" dirty="0"/>
              <a:t>Act directly on the </a:t>
            </a:r>
            <a:r>
              <a:rPr lang="en-US" sz="3200" dirty="0" smtClean="0"/>
              <a:t>muscle and is </a:t>
            </a:r>
            <a:r>
              <a:rPr lang="en-US" sz="3200" dirty="0"/>
              <a:t>used to treat glaucoma</a:t>
            </a:r>
            <a:r>
              <a:rPr lang="en-US" sz="3200" dirty="0" smtClean="0"/>
              <a:t> . </a:t>
            </a:r>
            <a:endParaRPr lang="en-US" sz="3200" dirty="0"/>
          </a:p>
          <a:p>
            <a:r>
              <a:rPr lang="en-US" sz="3200" dirty="0" err="1"/>
              <a:t>Pilocarpine</a:t>
            </a:r>
            <a:r>
              <a:rPr lang="en-US" sz="3200" dirty="0"/>
              <a:t> is a muscarinic receptor agonist which binds to muscarinic receptors located on smooth muscle cells. It is a direct-acting cholinergic agonist that functions by directly binding to muscarinic receptors. These smooth muscle cells include the ciliary muscle and the iris sphincter muscle.</a:t>
            </a:r>
          </a:p>
        </p:txBody>
      </p:sp>
    </p:spTree>
    <p:extLst>
      <p:ext uri="{BB962C8B-B14F-4D97-AF65-F5344CB8AC3E}">
        <p14:creationId xmlns:p14="http://schemas.microsoft.com/office/powerpoint/2010/main" val="370987482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3200" dirty="0">
                <a:solidFill>
                  <a:srgbClr val="FF0000"/>
                </a:solidFill>
              </a:rPr>
              <a:t>Muscarinic receptor antagonists (</a:t>
            </a:r>
            <a:r>
              <a:rPr lang="en-US" sz="3200" dirty="0"/>
              <a:t>MRAs) function by </a:t>
            </a:r>
            <a:r>
              <a:rPr lang="en-US" sz="3200" dirty="0">
                <a:solidFill>
                  <a:srgbClr val="FF0000"/>
                </a:solidFill>
              </a:rPr>
              <a:t>competitively blocking the cholinergic response manifested by acetylcholine </a:t>
            </a:r>
            <a:r>
              <a:rPr lang="en-US" sz="3200" dirty="0"/>
              <a:t>(</a:t>
            </a:r>
            <a:r>
              <a:rPr lang="en-US" sz="3200" dirty="0" err="1"/>
              <a:t>ACh</a:t>
            </a:r>
            <a:r>
              <a:rPr lang="en-US" sz="3200" dirty="0"/>
              <a:t>) binding muscarinic receptors on exocrine glandular cells, cardiac muscle cells, and smooth muscle cells</a:t>
            </a:r>
            <a:r>
              <a:rPr lang="en-US" sz="3200" dirty="0" smtClean="0"/>
              <a:t>.</a:t>
            </a:r>
          </a:p>
          <a:p>
            <a:r>
              <a:rPr lang="en-US" sz="3200" dirty="0">
                <a:solidFill>
                  <a:srgbClr val="FF0000"/>
                </a:solidFill>
              </a:rPr>
              <a:t>Muscarinic agonists </a:t>
            </a:r>
            <a:r>
              <a:rPr lang="en-US" sz="3200" dirty="0"/>
              <a:t>are agents that activate the muscarinic acetylcholine receptor. There are five different muscarinic receptors labeled M1-M5. Muscarinic agonists are </a:t>
            </a:r>
            <a:r>
              <a:rPr lang="en-US" sz="3200" dirty="0" err="1">
                <a:solidFill>
                  <a:srgbClr val="FF0000"/>
                </a:solidFill>
              </a:rPr>
              <a:t>parasympathomimetics</a:t>
            </a:r>
            <a:r>
              <a:rPr lang="en-US" sz="3200" dirty="0">
                <a:solidFill>
                  <a:srgbClr val="FF0000"/>
                </a:solidFill>
              </a:rPr>
              <a:t>, </a:t>
            </a:r>
            <a:r>
              <a:rPr lang="en-US" sz="3200" dirty="0"/>
              <a:t>and their mechanism of action is different depending on which receptor is activated.</a:t>
            </a:r>
          </a:p>
        </p:txBody>
      </p:sp>
    </p:spTree>
    <p:extLst>
      <p:ext uri="{BB962C8B-B14F-4D97-AF65-F5344CB8AC3E}">
        <p14:creationId xmlns:p14="http://schemas.microsoft.com/office/powerpoint/2010/main" val="24363349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Carbacol</a:t>
            </a:r>
            <a:r>
              <a:rPr lang="en-US" dirty="0"/>
              <a:t> /</a:t>
            </a:r>
            <a:r>
              <a:rPr lang="en-US" dirty="0" err="1" smtClean="0"/>
              <a:t>physiostigmine</a:t>
            </a:r>
            <a:r>
              <a:rPr lang="en-US" dirty="0" smtClean="0"/>
              <a:t>/</a:t>
            </a:r>
            <a:r>
              <a:rPr lang="en-US" dirty="0" err="1" smtClean="0"/>
              <a:t>echothiophate</a:t>
            </a:r>
            <a:r>
              <a:rPr lang="en-US" dirty="0" smtClean="0"/>
              <a:t> </a:t>
            </a:r>
            <a:endParaRPr lang="en-US" dirty="0"/>
          </a:p>
        </p:txBody>
      </p:sp>
      <p:sp>
        <p:nvSpPr>
          <p:cNvPr id="3" name="Content Placeholder 2"/>
          <p:cNvSpPr>
            <a:spLocks noGrp="1"/>
          </p:cNvSpPr>
          <p:nvPr>
            <p:ph idx="1"/>
          </p:nvPr>
        </p:nvSpPr>
        <p:spPr/>
        <p:txBody>
          <a:bodyPr>
            <a:normAutofit/>
          </a:bodyPr>
          <a:lstStyle/>
          <a:p>
            <a:r>
              <a:rPr lang="en-US" sz="3200" dirty="0"/>
              <a:t>Act indirectly through </a:t>
            </a:r>
            <a:r>
              <a:rPr lang="en-US" sz="3200" dirty="0">
                <a:solidFill>
                  <a:srgbClr val="FF0000"/>
                </a:solidFill>
              </a:rPr>
              <a:t>inhibition of cholinesterase </a:t>
            </a:r>
          </a:p>
        </p:txBody>
      </p:sp>
    </p:spTree>
    <p:extLst>
      <p:ext uri="{BB962C8B-B14F-4D97-AF65-F5344CB8AC3E}">
        <p14:creationId xmlns:p14="http://schemas.microsoft.com/office/powerpoint/2010/main" val="91205206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Echothiopate</a:t>
            </a:r>
            <a:r>
              <a:rPr lang="en-US" dirty="0" smtClean="0"/>
              <a:t> </a:t>
            </a:r>
            <a:endParaRPr lang="en-US" dirty="0"/>
          </a:p>
        </p:txBody>
      </p:sp>
      <p:sp>
        <p:nvSpPr>
          <p:cNvPr id="3" name="Content Placeholder 2"/>
          <p:cNvSpPr>
            <a:spLocks noGrp="1"/>
          </p:cNvSpPr>
          <p:nvPr>
            <p:ph idx="1"/>
          </p:nvPr>
        </p:nvSpPr>
        <p:spPr/>
        <p:txBody>
          <a:bodyPr>
            <a:normAutofit/>
          </a:bodyPr>
          <a:lstStyle/>
          <a:p>
            <a:r>
              <a:rPr lang="en-US" sz="3200" dirty="0"/>
              <a:t>Reduce plasma psedocholinestrase </a:t>
            </a:r>
          </a:p>
          <a:p>
            <a:r>
              <a:rPr lang="en-US" sz="3200" dirty="0">
                <a:solidFill>
                  <a:srgbClr val="FF0000"/>
                </a:solidFill>
              </a:rPr>
              <a:t>Reduce injected SCCH metabolism and can prolong apnea</a:t>
            </a:r>
          </a:p>
          <a:p>
            <a:endParaRPr lang="en-US" sz="3200" dirty="0"/>
          </a:p>
        </p:txBody>
      </p:sp>
    </p:spTree>
    <p:extLst>
      <p:ext uri="{BB962C8B-B14F-4D97-AF65-F5344CB8AC3E}">
        <p14:creationId xmlns:p14="http://schemas.microsoft.com/office/powerpoint/2010/main" val="119281291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dirty="0">
                <a:solidFill>
                  <a:schemeClr val="hlink"/>
                </a:solidFill>
              </a:rPr>
              <a:t>Echothiophate Iodide (</a:t>
            </a:r>
            <a:r>
              <a:rPr lang="en-GB" b="1" i="1" dirty="0" err="1">
                <a:solidFill>
                  <a:schemeClr val="hlink"/>
                </a:solidFill>
              </a:rPr>
              <a:t>Phosplzolfne</a:t>
            </a:r>
            <a:r>
              <a:rPr lang="en-GB" b="1" i="1" dirty="0">
                <a:solidFill>
                  <a:schemeClr val="hlink"/>
                </a:solidFill>
              </a:rPr>
              <a:t> Iodide)</a:t>
            </a:r>
          </a:p>
        </p:txBody>
      </p:sp>
      <p:sp>
        <p:nvSpPr>
          <p:cNvPr id="3" name="Content Placeholder 2"/>
          <p:cNvSpPr>
            <a:spLocks noGrp="1"/>
          </p:cNvSpPr>
          <p:nvPr>
            <p:ph idx="1"/>
          </p:nvPr>
        </p:nvSpPr>
        <p:spPr/>
        <p:txBody>
          <a:bodyPr>
            <a:normAutofit lnSpcReduction="10000"/>
          </a:bodyPr>
          <a:lstStyle/>
          <a:p>
            <a:pPr>
              <a:buFontTx/>
              <a:buNone/>
            </a:pPr>
            <a:r>
              <a:rPr lang="en-GB" dirty="0" smtClean="0"/>
              <a:t> </a:t>
            </a:r>
            <a:r>
              <a:rPr lang="en-GB" sz="3200" dirty="0"/>
              <a:t>A cholinesterase inhibitor, </a:t>
            </a:r>
            <a:r>
              <a:rPr lang="en-GB" sz="3200" dirty="0" err="1"/>
              <a:t>echothiophate</a:t>
            </a:r>
            <a:r>
              <a:rPr lang="en-GB" sz="3200" dirty="0"/>
              <a:t> iodide is used as a </a:t>
            </a:r>
            <a:r>
              <a:rPr lang="en-GB" sz="3200" dirty="0" err="1"/>
              <a:t>miotic</a:t>
            </a:r>
            <a:r>
              <a:rPr lang="en-GB" sz="3200" dirty="0"/>
              <a:t> agent. </a:t>
            </a:r>
          </a:p>
          <a:p>
            <a:r>
              <a:rPr lang="en-GB" sz="3200" dirty="0"/>
              <a:t>prolong the effect of both </a:t>
            </a:r>
            <a:r>
              <a:rPr lang="en-GB" sz="3200" dirty="0" err="1">
                <a:solidFill>
                  <a:srgbClr val="FF0000"/>
                </a:solidFill>
              </a:rPr>
              <a:t>succinyicholine</a:t>
            </a:r>
            <a:r>
              <a:rPr lang="en-GB" sz="3200" dirty="0">
                <a:solidFill>
                  <a:srgbClr val="FF0000"/>
                </a:solidFill>
              </a:rPr>
              <a:t> and ester-type local </a:t>
            </a:r>
            <a:r>
              <a:rPr lang="en-GB" sz="3200" dirty="0" err="1">
                <a:solidFill>
                  <a:srgbClr val="FF0000"/>
                </a:solidFill>
              </a:rPr>
              <a:t>anesthetics</a:t>
            </a:r>
            <a:r>
              <a:rPr lang="en-GB" sz="3200" dirty="0"/>
              <a:t>. </a:t>
            </a:r>
          </a:p>
          <a:p>
            <a:r>
              <a:rPr lang="en-GB" sz="3200" dirty="0"/>
              <a:t>Levels of </a:t>
            </a:r>
            <a:r>
              <a:rPr lang="en-GB" sz="3200" dirty="0" err="1"/>
              <a:t>pseudocholinesterase</a:t>
            </a:r>
            <a:r>
              <a:rPr lang="en-GB" sz="3200" dirty="0"/>
              <a:t> decrease by 80% after 2 weeks on the drug. </a:t>
            </a:r>
          </a:p>
          <a:p>
            <a:r>
              <a:rPr lang="en-GB" sz="3200" dirty="0" err="1">
                <a:solidFill>
                  <a:srgbClr val="FF0000"/>
                </a:solidFill>
              </a:rPr>
              <a:t>Succinyicholine</a:t>
            </a:r>
            <a:r>
              <a:rPr lang="en-GB" sz="3200" dirty="0">
                <a:solidFill>
                  <a:srgbClr val="FF0000"/>
                </a:solidFill>
              </a:rPr>
              <a:t> and ester-type local </a:t>
            </a:r>
            <a:r>
              <a:rPr lang="en-GB" sz="3200" dirty="0" smtClean="0">
                <a:solidFill>
                  <a:srgbClr val="FF0000"/>
                </a:solidFill>
              </a:rPr>
              <a:t>anaesthetics </a:t>
            </a:r>
            <a:r>
              <a:rPr lang="en-GB" sz="3200" dirty="0">
                <a:solidFill>
                  <a:srgbClr val="FF0000"/>
                </a:solidFill>
              </a:rPr>
              <a:t>should be avoided</a:t>
            </a:r>
            <a:endParaRPr lang="en-US" sz="3200" dirty="0">
              <a:solidFill>
                <a:srgbClr val="FF0000"/>
              </a:solidFill>
            </a:endParaRPr>
          </a:p>
        </p:txBody>
      </p:sp>
    </p:spTree>
    <p:extLst>
      <p:ext uri="{BB962C8B-B14F-4D97-AF65-F5344CB8AC3E}">
        <p14:creationId xmlns:p14="http://schemas.microsoft.com/office/powerpoint/2010/main" val="155700521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dirty="0">
                <a:solidFill>
                  <a:schemeClr val="hlink"/>
                </a:solidFill>
              </a:rPr>
              <a:t>Acetylcholine</a:t>
            </a:r>
            <a:br>
              <a:rPr lang="en-GB" b="1" i="1" dirty="0">
                <a:solidFill>
                  <a:schemeClr val="hlink"/>
                </a:solidFill>
              </a:rPr>
            </a:br>
            <a:endParaRPr lang="en-US" dirty="0"/>
          </a:p>
        </p:txBody>
      </p:sp>
      <p:sp>
        <p:nvSpPr>
          <p:cNvPr id="3" name="Content Placeholder 2"/>
          <p:cNvSpPr>
            <a:spLocks noGrp="1"/>
          </p:cNvSpPr>
          <p:nvPr>
            <p:ph idx="1"/>
          </p:nvPr>
        </p:nvSpPr>
        <p:spPr/>
        <p:txBody>
          <a:bodyPr/>
          <a:lstStyle/>
          <a:p>
            <a:pPr>
              <a:buFontTx/>
              <a:buNone/>
            </a:pPr>
            <a:r>
              <a:rPr lang="en-GB" dirty="0" smtClean="0"/>
              <a:t> </a:t>
            </a:r>
            <a:r>
              <a:rPr lang="en-GB" sz="3200" dirty="0" err="1"/>
              <a:t>Acetyicholine</a:t>
            </a:r>
            <a:r>
              <a:rPr lang="en-GB" sz="3200" dirty="0"/>
              <a:t> can be injected </a:t>
            </a:r>
            <a:r>
              <a:rPr lang="en-GB" sz="3200" dirty="0" err="1"/>
              <a:t>intraoperatively</a:t>
            </a:r>
            <a:r>
              <a:rPr lang="en-GB" sz="3200" dirty="0"/>
              <a:t> into the anterior chamber to produce </a:t>
            </a:r>
            <a:r>
              <a:rPr lang="en-GB" sz="3200" dirty="0" err="1">
                <a:solidFill>
                  <a:srgbClr val="FF0000"/>
                </a:solidFill>
              </a:rPr>
              <a:t>miosis</a:t>
            </a:r>
            <a:r>
              <a:rPr lang="en-GB" sz="3200" dirty="0">
                <a:solidFill>
                  <a:srgbClr val="FF0000"/>
                </a:solidFill>
              </a:rPr>
              <a:t>. </a:t>
            </a:r>
          </a:p>
          <a:p>
            <a:pPr>
              <a:buFontTx/>
              <a:buNone/>
            </a:pPr>
            <a:r>
              <a:rPr lang="en-GB" sz="3200" dirty="0"/>
              <a:t>Side-effects are due to its </a:t>
            </a:r>
            <a:r>
              <a:rPr lang="en-GB" sz="3200" dirty="0">
                <a:solidFill>
                  <a:srgbClr val="FF0000"/>
                </a:solidFill>
              </a:rPr>
              <a:t>parasympathetic action </a:t>
            </a:r>
            <a:r>
              <a:rPr lang="en-GB" sz="3200" dirty="0"/>
              <a:t>they include hypotension, bradycardia, and </a:t>
            </a:r>
            <a:r>
              <a:rPr lang="en-GB" sz="3200" dirty="0" smtClean="0"/>
              <a:t>bronchospasm</a:t>
            </a:r>
            <a:endParaRPr lang="en-US" sz="3200" dirty="0"/>
          </a:p>
        </p:txBody>
      </p:sp>
    </p:spTree>
    <p:extLst>
      <p:ext uri="{BB962C8B-B14F-4D97-AF65-F5344CB8AC3E}">
        <p14:creationId xmlns:p14="http://schemas.microsoft.com/office/powerpoint/2010/main" val="68310013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Epinephrine </a:t>
            </a:r>
            <a:endParaRPr lang="en-US" dirty="0"/>
          </a:p>
        </p:txBody>
      </p:sp>
      <p:sp>
        <p:nvSpPr>
          <p:cNvPr id="3" name="Content Placeholder 2"/>
          <p:cNvSpPr>
            <a:spLocks noGrp="1"/>
          </p:cNvSpPr>
          <p:nvPr>
            <p:ph idx="1"/>
          </p:nvPr>
        </p:nvSpPr>
        <p:spPr/>
        <p:txBody>
          <a:bodyPr/>
          <a:lstStyle/>
          <a:p>
            <a:r>
              <a:rPr lang="en-US" sz="3200" dirty="0">
                <a:solidFill>
                  <a:srgbClr val="FF0000"/>
                </a:solidFill>
              </a:rPr>
              <a:t>Decrease AH production </a:t>
            </a:r>
            <a:r>
              <a:rPr lang="en-US" sz="3200" dirty="0"/>
              <a:t>secondary to arteriolar spasm facilitate out flow of AH through trabecular mesh work</a:t>
            </a:r>
          </a:p>
          <a:p>
            <a:endParaRPr lang="en-US" dirty="0"/>
          </a:p>
        </p:txBody>
      </p:sp>
    </p:spTree>
    <p:extLst>
      <p:ext uri="{BB962C8B-B14F-4D97-AF65-F5344CB8AC3E}">
        <p14:creationId xmlns:p14="http://schemas.microsoft.com/office/powerpoint/2010/main" val="193153047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GB" sz="3200" dirty="0"/>
              <a:t>Topical 2% epinephrine will decrease </a:t>
            </a:r>
            <a:r>
              <a:rPr lang="en-GB" sz="3200" dirty="0" err="1"/>
              <a:t>aqueoua</a:t>
            </a:r>
            <a:r>
              <a:rPr lang="en-GB" sz="3200" dirty="0"/>
              <a:t> secretion, improve outflow, </a:t>
            </a:r>
            <a:r>
              <a:rPr lang="en-GB" sz="3200" dirty="0">
                <a:solidFill>
                  <a:srgbClr val="FF0000"/>
                </a:solidFill>
              </a:rPr>
              <a:t>and lower intraocular pressure in open-</a:t>
            </a:r>
            <a:r>
              <a:rPr lang="en-GB" sz="3200" dirty="0" err="1">
                <a:solidFill>
                  <a:srgbClr val="FF0000"/>
                </a:solidFill>
              </a:rPr>
              <a:t>angie</a:t>
            </a:r>
            <a:r>
              <a:rPr lang="en-GB" sz="3200" dirty="0">
                <a:solidFill>
                  <a:srgbClr val="FF0000"/>
                </a:solidFill>
              </a:rPr>
              <a:t> glaucoma. </a:t>
            </a:r>
          </a:p>
          <a:p>
            <a:endParaRPr lang="en-GB" sz="3200" dirty="0"/>
          </a:p>
          <a:p>
            <a:r>
              <a:rPr lang="en-GB" sz="3200" dirty="0"/>
              <a:t>Side-effects include </a:t>
            </a:r>
            <a:r>
              <a:rPr lang="en-GB" sz="3200" dirty="0" err="1">
                <a:solidFill>
                  <a:srgbClr val="FF0000"/>
                </a:solidFill>
              </a:rPr>
              <a:t>hypertensionsion</a:t>
            </a:r>
            <a:r>
              <a:rPr lang="en-GB" sz="3200" dirty="0">
                <a:solidFill>
                  <a:srgbClr val="FF0000"/>
                </a:solidFill>
              </a:rPr>
              <a:t>, palpitations, fainting, pallor, and tachycardia. </a:t>
            </a:r>
          </a:p>
          <a:p>
            <a:r>
              <a:rPr lang="en-GB" sz="3200" dirty="0">
                <a:solidFill>
                  <a:srgbClr val="FF0000"/>
                </a:solidFill>
              </a:rPr>
              <a:t>The effects last about 15 minutes</a:t>
            </a:r>
            <a:r>
              <a:rPr lang="en-GB" sz="3200" dirty="0"/>
              <a:t>. </a:t>
            </a:r>
          </a:p>
          <a:p>
            <a:r>
              <a:rPr lang="en-GB" sz="3200" dirty="0"/>
              <a:t>One drop of 2% solution contains 0.5 to 1 mg of epinephrine. </a:t>
            </a:r>
          </a:p>
          <a:p>
            <a:endParaRPr lang="en-US" sz="3200" dirty="0"/>
          </a:p>
          <a:p>
            <a:endParaRPr lang="en-US" sz="3200" dirty="0"/>
          </a:p>
        </p:txBody>
      </p:sp>
    </p:spTree>
    <p:extLst>
      <p:ext uri="{BB962C8B-B14F-4D97-AF65-F5344CB8AC3E}">
        <p14:creationId xmlns:p14="http://schemas.microsoft.com/office/powerpoint/2010/main" val="33410042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Timolol</a:t>
            </a:r>
            <a:r>
              <a:rPr lang="en-US" dirty="0" smtClean="0"/>
              <a:t> </a:t>
            </a:r>
            <a:endParaRPr lang="en-US" dirty="0"/>
          </a:p>
        </p:txBody>
      </p:sp>
      <p:sp>
        <p:nvSpPr>
          <p:cNvPr id="3" name="Content Placeholder 2"/>
          <p:cNvSpPr>
            <a:spLocks noGrp="1"/>
          </p:cNvSpPr>
          <p:nvPr>
            <p:ph idx="1"/>
          </p:nvPr>
        </p:nvSpPr>
        <p:spPr/>
        <p:txBody>
          <a:bodyPr>
            <a:normAutofit/>
          </a:bodyPr>
          <a:lstStyle/>
          <a:p>
            <a:r>
              <a:rPr lang="en-US" sz="3200" dirty="0"/>
              <a:t>Adrenergic inhibitor </a:t>
            </a:r>
          </a:p>
          <a:p>
            <a:r>
              <a:rPr lang="en-US" sz="3200" dirty="0"/>
              <a:t>Decreases AH production</a:t>
            </a:r>
          </a:p>
        </p:txBody>
      </p:sp>
    </p:spTree>
    <p:extLst>
      <p:ext uri="{BB962C8B-B14F-4D97-AF65-F5344CB8AC3E}">
        <p14:creationId xmlns:p14="http://schemas.microsoft.com/office/powerpoint/2010/main" val="288838969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Acetazolamide </a:t>
            </a:r>
            <a:endParaRPr lang="en-US" dirty="0"/>
          </a:p>
        </p:txBody>
      </p:sp>
      <p:sp>
        <p:nvSpPr>
          <p:cNvPr id="3" name="Content Placeholder 2"/>
          <p:cNvSpPr>
            <a:spLocks noGrp="1"/>
          </p:cNvSpPr>
          <p:nvPr>
            <p:ph idx="1"/>
          </p:nvPr>
        </p:nvSpPr>
        <p:spPr/>
        <p:txBody>
          <a:bodyPr>
            <a:normAutofit/>
          </a:bodyPr>
          <a:lstStyle/>
          <a:p>
            <a:r>
              <a:rPr lang="en-US" sz="3200" dirty="0"/>
              <a:t>Carbonic anhydrase inhibitor</a:t>
            </a:r>
          </a:p>
          <a:p>
            <a:r>
              <a:rPr lang="en-US" sz="3200" dirty="0"/>
              <a:t>Decreases ciliary epithelial AH production</a:t>
            </a:r>
          </a:p>
        </p:txBody>
      </p:sp>
    </p:spTree>
    <p:extLst>
      <p:ext uri="{BB962C8B-B14F-4D97-AF65-F5344CB8AC3E}">
        <p14:creationId xmlns:p14="http://schemas.microsoft.com/office/powerpoint/2010/main" val="135721982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Glycerin /urea /mannitol</a:t>
            </a:r>
          </a:p>
        </p:txBody>
      </p:sp>
      <p:sp>
        <p:nvSpPr>
          <p:cNvPr id="3" name="Content Placeholder 2"/>
          <p:cNvSpPr>
            <a:spLocks noGrp="1"/>
          </p:cNvSpPr>
          <p:nvPr>
            <p:ph idx="1"/>
          </p:nvPr>
        </p:nvSpPr>
        <p:spPr/>
        <p:txBody>
          <a:bodyPr>
            <a:normAutofit/>
          </a:bodyPr>
          <a:lstStyle/>
          <a:p>
            <a:r>
              <a:rPr lang="en-US" sz="3200" dirty="0"/>
              <a:t>Increase blood osmolality </a:t>
            </a:r>
          </a:p>
          <a:p>
            <a:r>
              <a:rPr lang="en-US" sz="3200" dirty="0"/>
              <a:t>Decreases AH secretion</a:t>
            </a:r>
          </a:p>
        </p:txBody>
      </p:sp>
    </p:spTree>
    <p:extLst>
      <p:ext uri="{BB962C8B-B14F-4D97-AF65-F5344CB8AC3E}">
        <p14:creationId xmlns:p14="http://schemas.microsoft.com/office/powerpoint/2010/main" val="410358832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Blood volume auto regulated </a:t>
            </a:r>
            <a:endParaRPr lang="en-US" dirty="0"/>
          </a:p>
        </p:txBody>
      </p:sp>
      <p:sp>
        <p:nvSpPr>
          <p:cNvPr id="3" name="Content Placeholder 2"/>
          <p:cNvSpPr>
            <a:spLocks noGrp="1"/>
          </p:cNvSpPr>
          <p:nvPr>
            <p:ph idx="1"/>
          </p:nvPr>
        </p:nvSpPr>
        <p:spPr/>
        <p:txBody>
          <a:bodyPr/>
          <a:lstStyle/>
          <a:p>
            <a:r>
              <a:rPr lang="en-US" sz="3200" dirty="0"/>
              <a:t>Arterial B/P changes with in the physiologic range don't alter </a:t>
            </a:r>
            <a:r>
              <a:rPr lang="en-US" sz="3200" dirty="0" smtClean="0"/>
              <a:t>IOP significantly</a:t>
            </a:r>
            <a:r>
              <a:rPr lang="en-US" sz="3200" dirty="0"/>
              <a:t>.</a:t>
            </a:r>
          </a:p>
          <a:p>
            <a:endParaRPr lang="en-US" sz="3200" dirty="0"/>
          </a:p>
          <a:p>
            <a:endParaRPr lang="en-US" dirty="0"/>
          </a:p>
        </p:txBody>
      </p:sp>
    </p:spTree>
    <p:extLst>
      <p:ext uri="{BB962C8B-B14F-4D97-AF65-F5344CB8AC3E}">
        <p14:creationId xmlns:p14="http://schemas.microsoft.com/office/powerpoint/2010/main" val="89522054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Venous pressure </a:t>
            </a:r>
            <a:endParaRPr lang="en-US" dirty="0"/>
          </a:p>
        </p:txBody>
      </p:sp>
      <p:sp>
        <p:nvSpPr>
          <p:cNvPr id="3" name="Content Placeholder 2"/>
          <p:cNvSpPr>
            <a:spLocks noGrp="1"/>
          </p:cNvSpPr>
          <p:nvPr>
            <p:ph idx="1"/>
          </p:nvPr>
        </p:nvSpPr>
        <p:spPr/>
        <p:txBody>
          <a:bodyPr>
            <a:normAutofit/>
          </a:bodyPr>
          <a:lstStyle/>
          <a:p>
            <a:r>
              <a:rPr lang="en-US" sz="3200" dirty="0"/>
              <a:t>There is direct correlation </a:t>
            </a:r>
          </a:p>
          <a:p>
            <a:r>
              <a:rPr lang="en-US" sz="3200" dirty="0"/>
              <a:t>15degree </a:t>
            </a:r>
            <a:r>
              <a:rPr lang="en-US" sz="3200" dirty="0" err="1"/>
              <a:t>tredulnburg</a:t>
            </a:r>
            <a:r>
              <a:rPr lang="en-US" sz="3200" dirty="0"/>
              <a:t> and reverse </a:t>
            </a:r>
            <a:r>
              <a:rPr lang="en-US" sz="3200" dirty="0" err="1"/>
              <a:t>tredulnburg</a:t>
            </a:r>
            <a:r>
              <a:rPr lang="en-US" sz="3200" dirty="0"/>
              <a:t> position directly alter IOP</a:t>
            </a:r>
          </a:p>
        </p:txBody>
      </p:sp>
    </p:spTree>
    <p:extLst>
      <p:ext uri="{BB962C8B-B14F-4D97-AF65-F5344CB8AC3E}">
        <p14:creationId xmlns:p14="http://schemas.microsoft.com/office/powerpoint/2010/main" val="302931717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End tidal Co2</a:t>
            </a:r>
            <a:endParaRPr lang="en-US" dirty="0"/>
          </a:p>
        </p:txBody>
      </p:sp>
      <p:sp>
        <p:nvSpPr>
          <p:cNvPr id="3" name="Content Placeholder 2"/>
          <p:cNvSpPr>
            <a:spLocks noGrp="1"/>
          </p:cNvSpPr>
          <p:nvPr>
            <p:ph idx="1"/>
          </p:nvPr>
        </p:nvSpPr>
        <p:spPr/>
        <p:txBody>
          <a:bodyPr>
            <a:normAutofit/>
          </a:bodyPr>
          <a:lstStyle/>
          <a:p>
            <a:r>
              <a:rPr lang="en-US" sz="3200" dirty="0"/>
              <a:t>There is direct correlation </a:t>
            </a:r>
          </a:p>
          <a:p>
            <a:r>
              <a:rPr lang="en-US" sz="3200" dirty="0"/>
              <a:t>A center in diencephalon has been defined that influence IOP</a:t>
            </a:r>
          </a:p>
          <a:p>
            <a:endParaRPr lang="en-US" sz="3200" dirty="0"/>
          </a:p>
        </p:txBody>
      </p:sp>
    </p:spTree>
    <p:extLst>
      <p:ext uri="{BB962C8B-B14F-4D97-AF65-F5344CB8AC3E}">
        <p14:creationId xmlns:p14="http://schemas.microsoft.com/office/powerpoint/2010/main" val="16065054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Mydriatrics </a:t>
            </a:r>
            <a:endParaRPr lang="en-US" dirty="0"/>
          </a:p>
        </p:txBody>
      </p:sp>
      <p:sp>
        <p:nvSpPr>
          <p:cNvPr id="3" name="Content Placeholder 2"/>
          <p:cNvSpPr>
            <a:spLocks noGrp="1"/>
          </p:cNvSpPr>
          <p:nvPr>
            <p:ph idx="1"/>
          </p:nvPr>
        </p:nvSpPr>
        <p:spPr/>
        <p:txBody>
          <a:bodyPr/>
          <a:lstStyle/>
          <a:p>
            <a:r>
              <a:rPr lang="en-US" sz="3200" dirty="0"/>
              <a:t>Purpose----- For </a:t>
            </a:r>
            <a:r>
              <a:rPr lang="en-US" sz="3200" dirty="0" smtClean="0">
                <a:solidFill>
                  <a:srgbClr val="FF0000"/>
                </a:solidFill>
              </a:rPr>
              <a:t>pupillary </a:t>
            </a:r>
            <a:r>
              <a:rPr lang="en-US" sz="3200" dirty="0">
                <a:solidFill>
                  <a:srgbClr val="FF0000"/>
                </a:solidFill>
              </a:rPr>
              <a:t>dilation and ocular examination </a:t>
            </a:r>
          </a:p>
          <a:p>
            <a:r>
              <a:rPr lang="en-US" sz="3200" dirty="0"/>
              <a:t>Narrows the space  </a:t>
            </a:r>
          </a:p>
          <a:p>
            <a:r>
              <a:rPr lang="en-US" sz="3200" dirty="0"/>
              <a:t>Decreases AH out flow </a:t>
            </a:r>
          </a:p>
          <a:p>
            <a:endParaRPr lang="en-US" sz="3200" dirty="0"/>
          </a:p>
          <a:p>
            <a:endParaRPr lang="en-US" dirty="0"/>
          </a:p>
        </p:txBody>
      </p:sp>
    </p:spTree>
    <p:extLst>
      <p:ext uri="{BB962C8B-B14F-4D97-AF65-F5344CB8AC3E}">
        <p14:creationId xmlns:p14="http://schemas.microsoft.com/office/powerpoint/2010/main" val="415814222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Phenylephrine </a:t>
            </a:r>
            <a:endParaRPr lang="en-US" dirty="0"/>
          </a:p>
        </p:txBody>
      </p:sp>
      <p:sp>
        <p:nvSpPr>
          <p:cNvPr id="3" name="Content Placeholder 2"/>
          <p:cNvSpPr>
            <a:spLocks noGrp="1"/>
          </p:cNvSpPr>
          <p:nvPr>
            <p:ph idx="1"/>
          </p:nvPr>
        </p:nvSpPr>
        <p:spPr/>
        <p:txBody>
          <a:bodyPr>
            <a:normAutofit fontScale="92500" lnSpcReduction="20000"/>
          </a:bodyPr>
          <a:lstStyle/>
          <a:p>
            <a:r>
              <a:rPr lang="en-US" sz="3200" dirty="0"/>
              <a:t>Severe </a:t>
            </a:r>
            <a:r>
              <a:rPr lang="en-US" sz="3200" dirty="0" err="1"/>
              <a:t>H</a:t>
            </a:r>
            <a:r>
              <a:rPr lang="en-US" sz="3200" dirty="0" err="1" smtClean="0"/>
              <a:t>ypertension&amp;Tachycardia</a:t>
            </a:r>
            <a:endParaRPr lang="en-US" sz="3200" dirty="0" smtClean="0"/>
          </a:p>
          <a:p>
            <a:pPr>
              <a:buFontTx/>
              <a:buNone/>
            </a:pPr>
            <a:r>
              <a:rPr lang="en-GB" sz="3200" dirty="0" smtClean="0"/>
              <a:t>Phenylephrine </a:t>
            </a:r>
            <a:r>
              <a:rPr lang="en-GB" sz="3200" dirty="0"/>
              <a:t>hydrochloride is used to produce capillary decongestion and pupillary dilatation.</a:t>
            </a:r>
          </a:p>
          <a:p>
            <a:pPr>
              <a:buFontTx/>
              <a:buNone/>
            </a:pPr>
            <a:r>
              <a:rPr lang="en-GB" sz="3200" dirty="0"/>
              <a:t> </a:t>
            </a:r>
            <a:r>
              <a:rPr lang="en-GB" sz="3200" dirty="0" smtClean="0"/>
              <a:t>Applied </a:t>
            </a:r>
            <a:r>
              <a:rPr lang="en-GB" sz="3200" dirty="0"/>
              <a:t>to the cornea, it can cause </a:t>
            </a:r>
            <a:r>
              <a:rPr lang="en-GB" sz="3200" dirty="0">
                <a:solidFill>
                  <a:srgbClr val="FF0000"/>
                </a:solidFill>
              </a:rPr>
              <a:t>palpitations, nervousness, tachycardia, headache, nausea and vomiting, severe hypertension, reflex bradycardia, and subarachnoid </a:t>
            </a:r>
            <a:r>
              <a:rPr lang="en-GB" sz="3200" dirty="0" err="1">
                <a:solidFill>
                  <a:srgbClr val="FF0000"/>
                </a:solidFill>
              </a:rPr>
              <a:t>hemorrhage</a:t>
            </a:r>
            <a:r>
              <a:rPr lang="en-GB" sz="3200" dirty="0">
                <a:solidFill>
                  <a:srgbClr val="FF0000"/>
                </a:solidFill>
              </a:rPr>
              <a:t>. </a:t>
            </a:r>
          </a:p>
          <a:p>
            <a:pPr>
              <a:buFontTx/>
              <a:buNone/>
            </a:pPr>
            <a:r>
              <a:rPr lang="en-GB" sz="3200" dirty="0"/>
              <a:t>Solutions of 2.5%, 5%, and 10% (6.25 mg phenylephrine per drop) are available</a:t>
            </a:r>
            <a:r>
              <a:rPr lang="en-GB" dirty="0"/>
              <a:t>. </a:t>
            </a:r>
          </a:p>
          <a:p>
            <a:pPr>
              <a:buFontTx/>
              <a:buNone/>
            </a:pPr>
            <a:r>
              <a:rPr lang="en-GB" dirty="0"/>
              <a:t> </a:t>
            </a:r>
          </a:p>
          <a:p>
            <a:endParaRPr lang="en-US" dirty="0"/>
          </a:p>
          <a:p>
            <a:endParaRPr lang="en-US" dirty="0"/>
          </a:p>
          <a:p>
            <a:endParaRPr lang="en-US" dirty="0"/>
          </a:p>
        </p:txBody>
      </p:sp>
    </p:spTree>
    <p:extLst>
      <p:ext uri="{BB962C8B-B14F-4D97-AF65-F5344CB8AC3E}">
        <p14:creationId xmlns:p14="http://schemas.microsoft.com/office/powerpoint/2010/main" val="29787055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Cyclo</a:t>
            </a:r>
            <a:r>
              <a:rPr lang="en-US" dirty="0" smtClean="0"/>
              <a:t> </a:t>
            </a:r>
            <a:r>
              <a:rPr lang="en-US" dirty="0" err="1" smtClean="0"/>
              <a:t>pentolate</a:t>
            </a:r>
            <a:r>
              <a:rPr lang="en-US" dirty="0" smtClean="0"/>
              <a:t> </a:t>
            </a:r>
            <a:endParaRPr lang="en-US" dirty="0"/>
          </a:p>
        </p:txBody>
      </p:sp>
      <p:sp>
        <p:nvSpPr>
          <p:cNvPr id="3" name="Content Placeholder 2"/>
          <p:cNvSpPr>
            <a:spLocks noGrp="1"/>
          </p:cNvSpPr>
          <p:nvPr>
            <p:ph idx="1"/>
          </p:nvPr>
        </p:nvSpPr>
        <p:spPr/>
        <p:txBody>
          <a:bodyPr>
            <a:normAutofit/>
          </a:bodyPr>
          <a:lstStyle/>
          <a:p>
            <a:r>
              <a:rPr lang="en-US" sz="3200" dirty="0"/>
              <a:t>Psychic reaction</a:t>
            </a:r>
          </a:p>
          <a:p>
            <a:r>
              <a:rPr lang="en-US" sz="3200" dirty="0"/>
              <a:t>CNS toxicity </a:t>
            </a:r>
          </a:p>
          <a:p>
            <a:endParaRPr lang="en-US" sz="3200" dirty="0"/>
          </a:p>
        </p:txBody>
      </p:sp>
    </p:spTree>
    <p:extLst>
      <p:ext uri="{BB962C8B-B14F-4D97-AF65-F5344CB8AC3E}">
        <p14:creationId xmlns:p14="http://schemas.microsoft.com/office/powerpoint/2010/main" val="410399080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Atropine </a:t>
            </a:r>
            <a:endParaRPr lang="en-US" dirty="0"/>
          </a:p>
        </p:txBody>
      </p:sp>
      <p:sp>
        <p:nvSpPr>
          <p:cNvPr id="3" name="Content Placeholder 2"/>
          <p:cNvSpPr>
            <a:spLocks noGrp="1"/>
          </p:cNvSpPr>
          <p:nvPr>
            <p:ph idx="1"/>
          </p:nvPr>
        </p:nvSpPr>
        <p:spPr>
          <a:xfrm>
            <a:off x="1043704" y="2286000"/>
            <a:ext cx="9720073" cy="4023360"/>
          </a:xfrm>
        </p:spPr>
        <p:txBody>
          <a:bodyPr>
            <a:noAutofit/>
          </a:bodyPr>
          <a:lstStyle/>
          <a:p>
            <a:r>
              <a:rPr lang="en-US" sz="3200" dirty="0"/>
              <a:t>Increase intra ocular pressure (dose dependent)</a:t>
            </a:r>
          </a:p>
          <a:p>
            <a:pPr>
              <a:buFontTx/>
              <a:buNone/>
            </a:pPr>
            <a:r>
              <a:rPr lang="en-GB" sz="3200" dirty="0" smtClean="0"/>
              <a:t>Used </a:t>
            </a:r>
            <a:r>
              <a:rPr lang="en-GB" sz="3200" dirty="0"/>
              <a:t>to produce </a:t>
            </a:r>
            <a:r>
              <a:rPr lang="en-GB" sz="3200" dirty="0" err="1"/>
              <a:t>mydriasis</a:t>
            </a:r>
            <a:r>
              <a:rPr lang="en-GB" sz="3200" dirty="0"/>
              <a:t> and </a:t>
            </a:r>
            <a:r>
              <a:rPr lang="en-GB" sz="3200" dirty="0" err="1" smtClean="0"/>
              <a:t>cyclopiegia</a:t>
            </a:r>
            <a:r>
              <a:rPr lang="en-GB" sz="3200" dirty="0" smtClean="0"/>
              <a:t> (</a:t>
            </a:r>
            <a:r>
              <a:rPr lang="en-GB" sz="3200" dirty="0" smtClean="0">
                <a:solidFill>
                  <a:srgbClr val="FF0000"/>
                </a:solidFill>
              </a:rPr>
              <a:t>paralysis of the ciliary muscle of the eye resulting in loss of accommodation and causing blurred vision  </a:t>
            </a:r>
            <a:r>
              <a:rPr lang="en-GB" sz="3200" dirty="0" smtClean="0"/>
              <a:t>)</a:t>
            </a:r>
            <a:endParaRPr lang="en-GB" sz="3200" dirty="0"/>
          </a:p>
          <a:p>
            <a:pPr>
              <a:buFontTx/>
              <a:buNone/>
            </a:pPr>
            <a:r>
              <a:rPr lang="en-GB" sz="3200" dirty="0"/>
              <a:t> The 1% solution contains 0.2 to 0.5 mg of atropine per drop.</a:t>
            </a:r>
          </a:p>
          <a:p>
            <a:pPr>
              <a:buFontTx/>
              <a:buNone/>
            </a:pPr>
            <a:r>
              <a:rPr lang="en-GB" sz="3200" dirty="0"/>
              <a:t> Systemic reactions, include tachycardia, flushing, thirst, dry skin, and agitation. </a:t>
            </a:r>
          </a:p>
          <a:p>
            <a:pPr>
              <a:buFontTx/>
              <a:buNone/>
            </a:pPr>
            <a:r>
              <a:rPr lang="en-GB" sz="3200" dirty="0">
                <a:solidFill>
                  <a:srgbClr val="FF0000"/>
                </a:solidFill>
              </a:rPr>
              <a:t>Atropine is contraindicated in closed-angle glaucoma.</a:t>
            </a:r>
          </a:p>
          <a:p>
            <a:endParaRPr lang="en-US" sz="3200" dirty="0">
              <a:solidFill>
                <a:srgbClr val="FF0000"/>
              </a:solidFill>
            </a:endParaRPr>
          </a:p>
          <a:p>
            <a:endParaRPr lang="en-US" sz="3200" dirty="0"/>
          </a:p>
        </p:txBody>
      </p:sp>
    </p:spTree>
    <p:extLst>
      <p:ext uri="{BB962C8B-B14F-4D97-AF65-F5344CB8AC3E}">
        <p14:creationId xmlns:p14="http://schemas.microsoft.com/office/powerpoint/2010/main" val="298542342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Scopolamine </a:t>
            </a:r>
            <a:endParaRPr lang="en-US" dirty="0"/>
          </a:p>
        </p:txBody>
      </p:sp>
      <p:sp>
        <p:nvSpPr>
          <p:cNvPr id="3" name="Content Placeholder 2"/>
          <p:cNvSpPr>
            <a:spLocks noGrp="1"/>
          </p:cNvSpPr>
          <p:nvPr>
            <p:ph idx="1"/>
          </p:nvPr>
        </p:nvSpPr>
        <p:spPr/>
        <p:txBody>
          <a:bodyPr>
            <a:normAutofit/>
          </a:bodyPr>
          <a:lstStyle/>
          <a:p>
            <a:pPr>
              <a:buFontTx/>
              <a:buNone/>
            </a:pPr>
            <a:r>
              <a:rPr lang="en-GB" sz="3200" dirty="0"/>
              <a:t>One drop of the 0.5% solution has 0.2 mg of scopolamine. </a:t>
            </a:r>
          </a:p>
          <a:p>
            <a:pPr>
              <a:buFontTx/>
              <a:buNone/>
            </a:pPr>
            <a:r>
              <a:rPr lang="en-GB" sz="3200" dirty="0"/>
              <a:t>CNS excitement can be treated with </a:t>
            </a:r>
            <a:r>
              <a:rPr lang="en-GB" sz="3200" dirty="0" err="1"/>
              <a:t>physostigmine</a:t>
            </a:r>
            <a:r>
              <a:rPr lang="en-GB" sz="3200" dirty="0"/>
              <a:t>, 0.015 mg/kg IV, repeated one or two times in a 15- minute period. </a:t>
            </a:r>
          </a:p>
          <a:p>
            <a:pPr>
              <a:buFontTx/>
              <a:buNone/>
            </a:pPr>
            <a:endParaRPr lang="en-GB" sz="3200" dirty="0"/>
          </a:p>
          <a:p>
            <a:pPr>
              <a:buFontTx/>
              <a:buNone/>
            </a:pPr>
            <a:r>
              <a:rPr lang="en-GB" sz="3200" dirty="0">
                <a:solidFill>
                  <a:srgbClr val="FF0000"/>
                </a:solidFill>
              </a:rPr>
              <a:t>It is contraindicated in closed-angle glaucoma</a:t>
            </a:r>
            <a:endParaRPr lang="en-US" sz="3200" dirty="0">
              <a:solidFill>
                <a:srgbClr val="FF0000"/>
              </a:solidFill>
            </a:endParaRPr>
          </a:p>
          <a:p>
            <a:endParaRPr lang="en-US" sz="3200" dirty="0"/>
          </a:p>
        </p:txBody>
      </p:sp>
    </p:spTree>
    <p:extLst>
      <p:ext uri="{BB962C8B-B14F-4D97-AF65-F5344CB8AC3E}">
        <p14:creationId xmlns:p14="http://schemas.microsoft.com/office/powerpoint/2010/main" val="49048566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Introcular</a:t>
            </a:r>
            <a:r>
              <a:rPr lang="en-US" dirty="0" smtClean="0"/>
              <a:t> gas exchanges </a:t>
            </a:r>
            <a:endParaRPr lang="en-US" dirty="0"/>
          </a:p>
        </p:txBody>
      </p:sp>
      <p:sp>
        <p:nvSpPr>
          <p:cNvPr id="3" name="Content Placeholder 2"/>
          <p:cNvSpPr>
            <a:spLocks noGrp="1"/>
          </p:cNvSpPr>
          <p:nvPr>
            <p:ph idx="1"/>
          </p:nvPr>
        </p:nvSpPr>
        <p:spPr/>
        <p:txBody>
          <a:bodyPr/>
          <a:lstStyle/>
          <a:p>
            <a:r>
              <a:rPr lang="en-US" sz="3200" dirty="0"/>
              <a:t>SF6</a:t>
            </a:r>
          </a:p>
          <a:p>
            <a:r>
              <a:rPr lang="en-US" sz="3200" dirty="0"/>
              <a:t>Per flu propane </a:t>
            </a:r>
          </a:p>
          <a:p>
            <a:r>
              <a:rPr lang="en-US" sz="3200" dirty="0" err="1"/>
              <a:t>Octafluro</a:t>
            </a:r>
            <a:r>
              <a:rPr lang="en-US" sz="3200" dirty="0"/>
              <a:t> </a:t>
            </a:r>
            <a:r>
              <a:rPr lang="en-US" sz="3200" dirty="0" err="1"/>
              <a:t>cyclobutane</a:t>
            </a:r>
            <a:endParaRPr lang="en-US" sz="3200" dirty="0"/>
          </a:p>
          <a:p>
            <a:pPr>
              <a:buNone/>
            </a:pPr>
            <a:r>
              <a:rPr lang="en-US" sz="3200" dirty="0"/>
              <a:t>NB –avoid N2O for 10 days if SF6 is used </a:t>
            </a:r>
          </a:p>
          <a:p>
            <a:pPr>
              <a:buNone/>
            </a:pPr>
            <a:r>
              <a:rPr lang="en-US" sz="3200" dirty="0"/>
              <a:t>         avoid N2O for 5 days if air is used </a:t>
            </a:r>
          </a:p>
          <a:p>
            <a:endParaRPr lang="en-US" dirty="0"/>
          </a:p>
        </p:txBody>
      </p:sp>
    </p:spTree>
    <p:extLst>
      <p:ext uri="{BB962C8B-B14F-4D97-AF65-F5344CB8AC3E}">
        <p14:creationId xmlns:p14="http://schemas.microsoft.com/office/powerpoint/2010/main" val="238152643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agents </a:t>
            </a:r>
            <a:endParaRPr lang="en-US" dirty="0"/>
          </a:p>
        </p:txBody>
      </p:sp>
      <p:sp>
        <p:nvSpPr>
          <p:cNvPr id="3" name="Content Placeholder 2"/>
          <p:cNvSpPr>
            <a:spLocks noGrp="1"/>
          </p:cNvSpPr>
          <p:nvPr>
            <p:ph idx="1"/>
          </p:nvPr>
        </p:nvSpPr>
        <p:spPr/>
        <p:txBody>
          <a:bodyPr/>
          <a:lstStyle/>
          <a:p>
            <a:r>
              <a:rPr lang="en-US" sz="3200" dirty="0"/>
              <a:t>Diazepam 10 mg IV-significantly decrease IOP</a:t>
            </a:r>
          </a:p>
          <a:p>
            <a:r>
              <a:rPr lang="en-US" sz="3200" dirty="0"/>
              <a:t>Anticholinergics –dose dependent</a:t>
            </a:r>
          </a:p>
          <a:p>
            <a:pPr>
              <a:buNone/>
            </a:pPr>
            <a:r>
              <a:rPr lang="en-US" sz="3200" dirty="0"/>
              <a:t>All </a:t>
            </a:r>
            <a:r>
              <a:rPr lang="en-US" sz="3200" dirty="0" err="1"/>
              <a:t>inductional</a:t>
            </a:r>
            <a:r>
              <a:rPr lang="en-US" sz="3200" dirty="0"/>
              <a:t> agents except Ketamine decrease IOP</a:t>
            </a:r>
          </a:p>
          <a:p>
            <a:r>
              <a:rPr lang="en-US" sz="3200" dirty="0"/>
              <a:t>All volatile agents decrease IOP(dose dependent)</a:t>
            </a:r>
          </a:p>
          <a:p>
            <a:r>
              <a:rPr lang="en-US" sz="3200" dirty="0"/>
              <a:t>SCCH –increases IOP by 50 %lasting for 5 minutes</a:t>
            </a:r>
          </a:p>
          <a:p>
            <a:r>
              <a:rPr lang="en-US" sz="3200" dirty="0"/>
              <a:t>NDMR-either don't affect or decrease IOP</a:t>
            </a:r>
          </a:p>
          <a:p>
            <a:endParaRPr lang="en-US" dirty="0"/>
          </a:p>
        </p:txBody>
      </p:sp>
    </p:spTree>
    <p:extLst>
      <p:ext uri="{BB962C8B-B14F-4D97-AF65-F5344CB8AC3E}">
        <p14:creationId xmlns:p14="http://schemas.microsoft.com/office/powerpoint/2010/main" val="395002445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a:t>
            </a:r>
            <a:endParaRPr lang="en-US"/>
          </a:p>
        </p:txBody>
      </p:sp>
      <p:pic>
        <p:nvPicPr>
          <p:cNvPr id="4" name="Content Placeholder 3"/>
          <p:cNvPicPr>
            <a:picLocks noGrp="1" noChangeAspect="1" noChangeArrowheads="1"/>
          </p:cNvPicPr>
          <p:nvPr>
            <p:ph idx="1"/>
          </p:nvPr>
        </p:nvPicPr>
        <p:blipFill>
          <a:blip r:embed="rId2"/>
          <a:stretch>
            <a:fillRect/>
          </a:stretch>
        </p:blipFill>
        <p:spPr>
          <a:xfrm>
            <a:off x="2553201" y="2492062"/>
            <a:ext cx="5650641" cy="4022725"/>
          </a:xfrm>
        </p:spPr>
      </p:pic>
    </p:spTree>
    <p:extLst>
      <p:ext uri="{BB962C8B-B14F-4D97-AF65-F5344CB8AC3E}">
        <p14:creationId xmlns:p14="http://schemas.microsoft.com/office/powerpoint/2010/main" val="329480237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Anesthesia for open eye injury </a:t>
            </a:r>
            <a:endParaRPr lang="en-US" dirty="0"/>
          </a:p>
        </p:txBody>
      </p:sp>
      <p:sp>
        <p:nvSpPr>
          <p:cNvPr id="3" name="Content Placeholder 2"/>
          <p:cNvSpPr>
            <a:spLocks noGrp="1"/>
          </p:cNvSpPr>
          <p:nvPr>
            <p:ph idx="1"/>
          </p:nvPr>
        </p:nvSpPr>
        <p:spPr/>
        <p:txBody>
          <a:bodyPr/>
          <a:lstStyle/>
          <a:p>
            <a:r>
              <a:rPr lang="en-US" sz="3200" dirty="0"/>
              <a:t>S</a:t>
            </a:r>
            <a:r>
              <a:rPr lang="en-US" sz="3200" dirty="0" smtClean="0"/>
              <a:t>pecial challenges </a:t>
            </a:r>
          </a:p>
          <a:p>
            <a:r>
              <a:rPr lang="en-US" sz="3200" dirty="0" smtClean="0"/>
              <a:t>Full </a:t>
            </a:r>
            <a:r>
              <a:rPr lang="en-US" sz="3200" dirty="0"/>
              <a:t>stomach Vs risk of aspiration </a:t>
            </a:r>
          </a:p>
          <a:p>
            <a:r>
              <a:rPr lang="en-US" sz="3200" dirty="0"/>
              <a:t>Risk of blindness due to increased </a:t>
            </a:r>
            <a:r>
              <a:rPr lang="en-US" sz="3200" dirty="0" smtClean="0"/>
              <a:t>IOP  </a:t>
            </a:r>
          </a:p>
          <a:p>
            <a:r>
              <a:rPr lang="en-US" sz="3200" dirty="0" smtClean="0"/>
              <a:t>loss </a:t>
            </a:r>
            <a:r>
              <a:rPr lang="en-US" sz="3200" dirty="0"/>
              <a:t>of IO contents due to coughing straining during </a:t>
            </a:r>
            <a:r>
              <a:rPr lang="en-US" sz="3200" dirty="0" smtClean="0"/>
              <a:t>induction</a:t>
            </a:r>
          </a:p>
          <a:p>
            <a:r>
              <a:rPr lang="en-US" sz="3200" dirty="0" smtClean="0"/>
              <a:t>Bleeding </a:t>
            </a:r>
            <a:endParaRPr lang="en-US" sz="3200" dirty="0"/>
          </a:p>
          <a:p>
            <a:endParaRPr lang="en-US" dirty="0"/>
          </a:p>
        </p:txBody>
      </p:sp>
    </p:spTree>
    <p:extLst>
      <p:ext uri="{BB962C8B-B14F-4D97-AF65-F5344CB8AC3E}">
        <p14:creationId xmlns:p14="http://schemas.microsoft.com/office/powerpoint/2010/main" val="3360405947"/>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risk of blindness </a:t>
            </a:r>
            <a:endParaRPr lang="en-US" dirty="0"/>
          </a:p>
        </p:txBody>
      </p:sp>
      <p:sp>
        <p:nvSpPr>
          <p:cNvPr id="3" name="Content Placeholder 2"/>
          <p:cNvSpPr>
            <a:spLocks noGrp="1"/>
          </p:cNvSpPr>
          <p:nvPr>
            <p:ph idx="1"/>
          </p:nvPr>
        </p:nvSpPr>
        <p:spPr/>
        <p:txBody>
          <a:bodyPr>
            <a:normAutofit fontScale="92500" lnSpcReduction="20000"/>
          </a:bodyPr>
          <a:lstStyle/>
          <a:p>
            <a:r>
              <a:rPr lang="en-US" sz="3200" dirty="0"/>
              <a:t>Extrinsic pressure on the eye</a:t>
            </a:r>
          </a:p>
          <a:p>
            <a:r>
              <a:rPr lang="en-US" sz="3200" dirty="0"/>
              <a:t>Poorly fitting mask </a:t>
            </a:r>
          </a:p>
          <a:p>
            <a:r>
              <a:rPr lang="en-US" sz="3200" dirty="0"/>
              <a:t>Retro bulbar hematoma</a:t>
            </a:r>
          </a:p>
          <a:p>
            <a:r>
              <a:rPr lang="en-US" sz="3200" dirty="0"/>
              <a:t>Vomiting </a:t>
            </a:r>
          </a:p>
          <a:p>
            <a:r>
              <a:rPr lang="en-US" sz="3200" dirty="0"/>
              <a:t>Coughing</a:t>
            </a:r>
          </a:p>
          <a:p>
            <a:r>
              <a:rPr lang="en-US" sz="3200" dirty="0" err="1"/>
              <a:t>Hypercarbia</a:t>
            </a:r>
            <a:endParaRPr lang="en-US" sz="3200" dirty="0"/>
          </a:p>
          <a:p>
            <a:r>
              <a:rPr lang="en-US" sz="3200" dirty="0"/>
              <a:t>Hypertension </a:t>
            </a:r>
          </a:p>
          <a:p>
            <a:r>
              <a:rPr lang="en-US" sz="3200" dirty="0"/>
              <a:t>ETT</a:t>
            </a:r>
          </a:p>
          <a:p>
            <a:endParaRPr lang="en-US" dirty="0"/>
          </a:p>
        </p:txBody>
      </p:sp>
    </p:spTree>
    <p:extLst>
      <p:ext uri="{BB962C8B-B14F-4D97-AF65-F5344CB8AC3E}">
        <p14:creationId xmlns:p14="http://schemas.microsoft.com/office/powerpoint/2010/main" val="370273085"/>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technique </a:t>
            </a:r>
            <a:endParaRPr lang="en-US" dirty="0"/>
          </a:p>
        </p:txBody>
      </p:sp>
      <p:sp>
        <p:nvSpPr>
          <p:cNvPr id="3" name="Content Placeholder 2"/>
          <p:cNvSpPr>
            <a:spLocks noGrp="1"/>
          </p:cNvSpPr>
          <p:nvPr>
            <p:ph idx="1"/>
          </p:nvPr>
        </p:nvSpPr>
        <p:spPr/>
        <p:txBody>
          <a:bodyPr>
            <a:normAutofit/>
          </a:bodyPr>
          <a:lstStyle/>
          <a:p>
            <a:r>
              <a:rPr lang="en-US" sz="3200" dirty="0"/>
              <a:t>Awake intubation not accepted </a:t>
            </a:r>
          </a:p>
          <a:p>
            <a:r>
              <a:rPr lang="en-US" sz="3200" dirty="0"/>
              <a:t>RBB contraindicated</a:t>
            </a:r>
          </a:p>
          <a:p>
            <a:r>
              <a:rPr lang="en-US" sz="3200" dirty="0"/>
              <a:t>Use of SCCH controversial</a:t>
            </a:r>
          </a:p>
          <a:p>
            <a:r>
              <a:rPr lang="en-US" sz="3200" dirty="0"/>
              <a:t>Pretreatment not guaranteed</a:t>
            </a:r>
          </a:p>
          <a:p>
            <a:r>
              <a:rPr lang="en-US" sz="3200" dirty="0"/>
              <a:t>Use of </a:t>
            </a:r>
            <a:r>
              <a:rPr lang="en-US" sz="3200" dirty="0" err="1"/>
              <a:t>ethomidate</a:t>
            </a:r>
            <a:r>
              <a:rPr lang="en-US" sz="3200" dirty="0"/>
              <a:t> not accepted</a:t>
            </a:r>
          </a:p>
        </p:txBody>
      </p:sp>
    </p:spTree>
    <p:extLst>
      <p:ext uri="{BB962C8B-B14F-4D97-AF65-F5344CB8AC3E}">
        <p14:creationId xmlns:p14="http://schemas.microsoft.com/office/powerpoint/2010/main" val="1302359427"/>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Induction plan </a:t>
            </a:r>
            <a:endParaRPr lang="en-US" dirty="0"/>
          </a:p>
        </p:txBody>
      </p:sp>
      <p:sp>
        <p:nvSpPr>
          <p:cNvPr id="3" name="Content Placeholder 2"/>
          <p:cNvSpPr>
            <a:spLocks noGrp="1"/>
          </p:cNvSpPr>
          <p:nvPr>
            <p:ph idx="1"/>
          </p:nvPr>
        </p:nvSpPr>
        <p:spPr/>
        <p:txBody>
          <a:bodyPr>
            <a:normAutofit/>
          </a:bodyPr>
          <a:lstStyle/>
          <a:p>
            <a:r>
              <a:rPr lang="en-US" sz="3200" dirty="0" err="1"/>
              <a:t>Preoxygenation</a:t>
            </a:r>
            <a:endParaRPr lang="en-US" sz="3200" dirty="0"/>
          </a:p>
          <a:p>
            <a:r>
              <a:rPr lang="en-US" sz="3200" dirty="0"/>
              <a:t>Aspiration prophylaxis</a:t>
            </a:r>
          </a:p>
          <a:p>
            <a:r>
              <a:rPr lang="en-US" sz="3200" dirty="0"/>
              <a:t>Priming dose of NDMR</a:t>
            </a:r>
          </a:p>
          <a:p>
            <a:r>
              <a:rPr lang="en-US" sz="3200" dirty="0"/>
              <a:t>IV lidocaine </a:t>
            </a:r>
          </a:p>
        </p:txBody>
      </p:sp>
    </p:spTree>
    <p:extLst>
      <p:ext uri="{BB962C8B-B14F-4D97-AF65-F5344CB8AC3E}">
        <p14:creationId xmlns:p14="http://schemas.microsoft.com/office/powerpoint/2010/main" val="3228714397"/>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smtClean="0"/>
              <a:t>Fentanyl 2-3ug/kg</a:t>
            </a:r>
            <a:endParaRPr lang="en-US" sz="3200" dirty="0"/>
          </a:p>
          <a:p>
            <a:r>
              <a:rPr lang="en-US" sz="3200" dirty="0"/>
              <a:t>Labetalol5-10 mg</a:t>
            </a:r>
          </a:p>
          <a:p>
            <a:r>
              <a:rPr lang="en-US" sz="3200" dirty="0" err="1"/>
              <a:t>Thiopentone</a:t>
            </a:r>
            <a:r>
              <a:rPr lang="en-US" sz="3200" dirty="0"/>
              <a:t> </a:t>
            </a:r>
          </a:p>
          <a:p>
            <a:r>
              <a:rPr lang="en-US" sz="3200" dirty="0"/>
              <a:t>Maintain </a:t>
            </a:r>
            <a:r>
              <a:rPr lang="en-US" sz="3200" dirty="0" err="1"/>
              <a:t>cricoids</a:t>
            </a:r>
            <a:r>
              <a:rPr lang="en-US" sz="3200" dirty="0"/>
              <a:t> </a:t>
            </a:r>
          </a:p>
          <a:p>
            <a:r>
              <a:rPr lang="en-US" sz="3200" dirty="0"/>
              <a:t>Intubating dose of NDMR</a:t>
            </a:r>
          </a:p>
          <a:p>
            <a:pPr>
              <a:buNone/>
            </a:pPr>
            <a:r>
              <a:rPr lang="en-US" sz="3200" dirty="0"/>
              <a:t> Or SCCH?</a:t>
            </a:r>
          </a:p>
        </p:txBody>
      </p:sp>
    </p:spTree>
    <p:extLst>
      <p:ext uri="{BB962C8B-B14F-4D97-AF65-F5344CB8AC3E}">
        <p14:creationId xmlns:p14="http://schemas.microsoft.com/office/powerpoint/2010/main" val="278507125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Retinal surgery </a:t>
            </a:r>
            <a:endParaRPr lang="en-US" dirty="0"/>
          </a:p>
        </p:txBody>
      </p:sp>
      <p:sp>
        <p:nvSpPr>
          <p:cNvPr id="3" name="Content Placeholder 2"/>
          <p:cNvSpPr>
            <a:spLocks noGrp="1"/>
          </p:cNvSpPr>
          <p:nvPr>
            <p:ph idx="1"/>
          </p:nvPr>
        </p:nvSpPr>
        <p:spPr/>
        <p:txBody>
          <a:bodyPr>
            <a:normAutofit/>
          </a:bodyPr>
          <a:lstStyle/>
          <a:p>
            <a:r>
              <a:rPr lang="en-US" sz="3200" dirty="0" smtClean="0"/>
              <a:t>Purpose of surgery </a:t>
            </a:r>
          </a:p>
          <a:p>
            <a:r>
              <a:rPr lang="en-US" sz="3200" dirty="0" smtClean="0"/>
              <a:t>To </a:t>
            </a:r>
            <a:r>
              <a:rPr lang="en-US" sz="3200" dirty="0"/>
              <a:t>correct choroidal hemorrhage or vitreous prolapse</a:t>
            </a:r>
          </a:p>
          <a:p>
            <a:r>
              <a:rPr lang="en-US" sz="3200" dirty="0"/>
              <a:t>Correction of posterior segment trauma </a:t>
            </a:r>
          </a:p>
          <a:p>
            <a:r>
              <a:rPr lang="en-US" sz="3200" dirty="0" smtClean="0"/>
              <a:t> Repair </a:t>
            </a:r>
            <a:r>
              <a:rPr lang="en-US" sz="3200" dirty="0"/>
              <a:t>of ruptured </a:t>
            </a:r>
            <a:r>
              <a:rPr lang="en-US" sz="3200" dirty="0" smtClean="0"/>
              <a:t>globe or </a:t>
            </a:r>
            <a:r>
              <a:rPr lang="en-US" sz="3200" dirty="0"/>
              <a:t>retinal detachment</a:t>
            </a:r>
          </a:p>
          <a:p>
            <a:endParaRPr lang="en-US" sz="3200" dirty="0"/>
          </a:p>
        </p:txBody>
      </p:sp>
    </p:spTree>
    <p:extLst>
      <p:ext uri="{BB962C8B-B14F-4D97-AF65-F5344CB8AC3E}">
        <p14:creationId xmlns:p14="http://schemas.microsoft.com/office/powerpoint/2010/main" val="2593558620"/>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Patient population </a:t>
            </a:r>
            <a:endParaRPr lang="en-US" dirty="0"/>
          </a:p>
        </p:txBody>
      </p:sp>
      <p:sp>
        <p:nvSpPr>
          <p:cNvPr id="3" name="Content Placeholder 2"/>
          <p:cNvSpPr>
            <a:spLocks noGrp="1"/>
          </p:cNvSpPr>
          <p:nvPr>
            <p:ph idx="1"/>
          </p:nvPr>
        </p:nvSpPr>
        <p:spPr/>
        <p:txBody>
          <a:bodyPr>
            <a:normAutofit/>
          </a:bodyPr>
          <a:lstStyle/>
          <a:p>
            <a:r>
              <a:rPr lang="en-US" sz="3200" dirty="0"/>
              <a:t>Geriatrics</a:t>
            </a:r>
          </a:p>
          <a:p>
            <a:r>
              <a:rPr lang="en-US" sz="3200" dirty="0"/>
              <a:t>Pediatrics</a:t>
            </a:r>
          </a:p>
        </p:txBody>
      </p:sp>
    </p:spTree>
    <p:extLst>
      <p:ext uri="{BB962C8B-B14F-4D97-AF65-F5344CB8AC3E}">
        <p14:creationId xmlns:p14="http://schemas.microsoft.com/office/powerpoint/2010/main" val="155932720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t>
            </a:r>
            <a:r>
              <a:rPr lang="en-US" dirty="0" smtClean="0"/>
              <a:t>surgery to fix detached retina</a:t>
            </a:r>
            <a:endParaRPr lang="en-US" dirty="0"/>
          </a:p>
        </p:txBody>
      </p:sp>
      <p:sp>
        <p:nvSpPr>
          <p:cNvPr id="3" name="Content Placeholder 2"/>
          <p:cNvSpPr>
            <a:spLocks noGrp="1"/>
          </p:cNvSpPr>
          <p:nvPr>
            <p:ph idx="1"/>
          </p:nvPr>
        </p:nvSpPr>
        <p:spPr/>
        <p:txBody>
          <a:bodyPr/>
          <a:lstStyle/>
          <a:p>
            <a:pPr>
              <a:buNone/>
            </a:pPr>
            <a:r>
              <a:rPr lang="en-US" dirty="0"/>
              <a:t> </a:t>
            </a:r>
          </a:p>
          <a:p>
            <a:pPr>
              <a:buNone/>
            </a:pPr>
            <a:r>
              <a:rPr lang="en-US" sz="3600" dirty="0" smtClean="0"/>
              <a:t>Scleral: </a:t>
            </a:r>
            <a:r>
              <a:rPr lang="en-US" sz="3600" dirty="0" smtClean="0">
                <a:solidFill>
                  <a:srgbClr val="FF0000"/>
                </a:solidFill>
              </a:rPr>
              <a:t>Buckling or </a:t>
            </a:r>
            <a:r>
              <a:rPr lang="en-US" sz="3600" dirty="0" err="1" smtClean="0">
                <a:solidFill>
                  <a:srgbClr val="FF0000"/>
                </a:solidFill>
              </a:rPr>
              <a:t>circulage</a:t>
            </a:r>
            <a:r>
              <a:rPr lang="en-US" sz="3600" dirty="0" smtClean="0">
                <a:solidFill>
                  <a:srgbClr val="FF0000"/>
                </a:solidFill>
              </a:rPr>
              <a:t> </a:t>
            </a:r>
          </a:p>
          <a:p>
            <a:pPr>
              <a:buNone/>
            </a:pPr>
            <a:r>
              <a:rPr lang="en-US" sz="3600" dirty="0" smtClean="0">
                <a:solidFill>
                  <a:srgbClr val="FF0000"/>
                </a:solidFill>
              </a:rPr>
              <a:t>Pneumatic </a:t>
            </a:r>
            <a:r>
              <a:rPr lang="en-US" sz="3600" dirty="0" err="1" smtClean="0">
                <a:solidFill>
                  <a:srgbClr val="FF0000"/>
                </a:solidFill>
              </a:rPr>
              <a:t>retinopexy</a:t>
            </a:r>
            <a:r>
              <a:rPr lang="en-US" sz="3600" dirty="0" smtClean="0">
                <a:solidFill>
                  <a:srgbClr val="FF0000"/>
                </a:solidFill>
              </a:rPr>
              <a:t> </a:t>
            </a:r>
            <a:r>
              <a:rPr lang="en-US" sz="3600" dirty="0" smtClean="0"/>
              <a:t>:By injecting gas bubble into the retina and using freezing device or laser to seal the retina  </a:t>
            </a:r>
          </a:p>
          <a:p>
            <a:pPr>
              <a:buNone/>
            </a:pPr>
            <a:r>
              <a:rPr lang="en-US" sz="3600" dirty="0" err="1" smtClean="0">
                <a:solidFill>
                  <a:srgbClr val="FF0000"/>
                </a:solidFill>
              </a:rPr>
              <a:t>Vitrectomy</a:t>
            </a:r>
            <a:r>
              <a:rPr lang="en-US" sz="3600" dirty="0" smtClean="0"/>
              <a:t> :The most common type of surgery by cutting the vitreous or other traumatic materials  </a:t>
            </a:r>
            <a:endParaRPr lang="en-US" sz="3600" dirty="0"/>
          </a:p>
          <a:p>
            <a:pPr>
              <a:buNone/>
            </a:pPr>
            <a:endParaRPr lang="en-US" sz="3600" dirty="0"/>
          </a:p>
        </p:txBody>
      </p:sp>
    </p:spTree>
    <p:extLst>
      <p:ext uri="{BB962C8B-B14F-4D97-AF65-F5344CB8AC3E}">
        <p14:creationId xmlns:p14="http://schemas.microsoft.com/office/powerpoint/2010/main" val="298555853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 types of retinal detachment </a:t>
            </a:r>
            <a:endParaRPr lang="en-US" dirty="0"/>
          </a:p>
        </p:txBody>
      </p:sp>
      <p:sp>
        <p:nvSpPr>
          <p:cNvPr id="3" name="Content Placeholder 2"/>
          <p:cNvSpPr>
            <a:spLocks noGrp="1"/>
          </p:cNvSpPr>
          <p:nvPr>
            <p:ph idx="1"/>
          </p:nvPr>
        </p:nvSpPr>
        <p:spPr/>
        <p:txBody>
          <a:bodyPr>
            <a:normAutofit/>
          </a:bodyPr>
          <a:lstStyle/>
          <a:p>
            <a:r>
              <a:rPr lang="en-US" sz="3200" dirty="0" err="1" smtClean="0"/>
              <a:t>Tractional</a:t>
            </a:r>
            <a:r>
              <a:rPr lang="en-US" sz="3200" dirty="0" smtClean="0"/>
              <a:t> -shortening</a:t>
            </a:r>
            <a:endParaRPr lang="en-US" sz="3200" dirty="0"/>
          </a:p>
          <a:p>
            <a:r>
              <a:rPr lang="en-US" sz="3200" dirty="0"/>
              <a:t>Rhegmatogenous –rupture or tear</a:t>
            </a:r>
          </a:p>
          <a:p>
            <a:r>
              <a:rPr lang="en-US" sz="3200" dirty="0"/>
              <a:t>Exudative—chronic inflammation of the retina with elevated </a:t>
            </a:r>
            <a:r>
              <a:rPr lang="en-US" sz="3200" dirty="0" smtClean="0"/>
              <a:t>areas</a:t>
            </a:r>
          </a:p>
          <a:p>
            <a:r>
              <a:rPr lang="en-US" sz="3200" dirty="0" smtClean="0">
                <a:solidFill>
                  <a:srgbClr val="FF0000"/>
                </a:solidFill>
              </a:rPr>
              <a:t>There are various causes but the most common ones are aging and Trauma  </a:t>
            </a:r>
            <a:endParaRPr lang="en-US" sz="3200" dirty="0">
              <a:solidFill>
                <a:srgbClr val="FF0000"/>
              </a:solidFill>
            </a:endParaRPr>
          </a:p>
        </p:txBody>
      </p:sp>
    </p:spTree>
    <p:extLst>
      <p:ext uri="{BB962C8B-B14F-4D97-AF65-F5344CB8AC3E}">
        <p14:creationId xmlns:p14="http://schemas.microsoft.com/office/powerpoint/2010/main" val="232105573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a:t>
            </a:r>
            <a:endParaRPr lang="en-US" dirty="0"/>
          </a:p>
        </p:txBody>
      </p:sp>
      <p:sp>
        <p:nvSpPr>
          <p:cNvPr id="3" name="Content Placeholder 2"/>
          <p:cNvSpPr>
            <a:spLocks noGrp="1"/>
          </p:cNvSpPr>
          <p:nvPr>
            <p:ph idx="1"/>
          </p:nvPr>
        </p:nvSpPr>
        <p:spPr/>
        <p:txBody>
          <a:bodyPr>
            <a:normAutofit/>
          </a:bodyPr>
          <a:lstStyle/>
          <a:p>
            <a:r>
              <a:rPr lang="en-US" sz="3200" dirty="0"/>
              <a:t>Avoid any increase in IOP</a:t>
            </a:r>
          </a:p>
          <a:p>
            <a:r>
              <a:rPr lang="en-US" sz="3200" dirty="0"/>
              <a:t>Use acetazolamide or mannitol</a:t>
            </a:r>
          </a:p>
          <a:p>
            <a:r>
              <a:rPr lang="en-US" sz="3200" dirty="0"/>
              <a:t>Complete </a:t>
            </a:r>
            <a:r>
              <a:rPr lang="en-US" sz="3200" dirty="0" err="1"/>
              <a:t>akinesia</a:t>
            </a:r>
            <a:endParaRPr lang="en-US" sz="3200" dirty="0"/>
          </a:p>
          <a:p>
            <a:r>
              <a:rPr lang="en-US" sz="3200" dirty="0"/>
              <a:t>Always GA with </a:t>
            </a:r>
            <a:r>
              <a:rPr lang="en-US" sz="3200" dirty="0" smtClean="0"/>
              <a:t>ETT</a:t>
            </a:r>
            <a:endParaRPr lang="en-US" sz="3200" dirty="0"/>
          </a:p>
        </p:txBody>
      </p:sp>
    </p:spTree>
    <p:extLst>
      <p:ext uri="{BB962C8B-B14F-4D97-AF65-F5344CB8AC3E}">
        <p14:creationId xmlns:p14="http://schemas.microsoft.com/office/powerpoint/2010/main" val="1900346457"/>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 of retinal detachment </a:t>
            </a:r>
            <a:endParaRPr lang="en-US" dirty="0"/>
          </a:p>
        </p:txBody>
      </p:sp>
      <p:sp>
        <p:nvSpPr>
          <p:cNvPr id="3" name="Content Placeholder 2"/>
          <p:cNvSpPr>
            <a:spLocks noGrp="1"/>
          </p:cNvSpPr>
          <p:nvPr>
            <p:ph idx="1"/>
          </p:nvPr>
        </p:nvSpPr>
        <p:spPr/>
        <p:txBody>
          <a:bodyPr/>
          <a:lstStyle/>
          <a:p>
            <a:pPr>
              <a:buNone/>
            </a:pPr>
            <a:r>
              <a:rPr lang="en-US" dirty="0"/>
              <a:t> </a:t>
            </a:r>
            <a:r>
              <a:rPr lang="en-US" sz="3200" dirty="0"/>
              <a:t>pediatrics</a:t>
            </a:r>
          </a:p>
          <a:p>
            <a:pPr>
              <a:buNone/>
            </a:pPr>
            <a:r>
              <a:rPr lang="en-US" sz="3200" dirty="0"/>
              <a:t>Retinopathy of prematurity</a:t>
            </a:r>
          </a:p>
          <a:p>
            <a:pPr>
              <a:buNone/>
            </a:pPr>
            <a:r>
              <a:rPr lang="en-US" sz="3200" dirty="0"/>
              <a:t>Sickle cell retinopathy</a:t>
            </a:r>
          </a:p>
          <a:p>
            <a:pPr>
              <a:buNone/>
            </a:pPr>
            <a:r>
              <a:rPr lang="en-US" sz="3200" dirty="0">
                <a:solidFill>
                  <a:srgbClr val="FF0000"/>
                </a:solidFill>
              </a:rPr>
              <a:t>Retinoblastoma</a:t>
            </a:r>
          </a:p>
          <a:p>
            <a:pPr>
              <a:buNone/>
            </a:pPr>
            <a:r>
              <a:rPr lang="en-US" sz="3200" dirty="0"/>
              <a:t>Severe renal disease or diabetics</a:t>
            </a:r>
          </a:p>
        </p:txBody>
      </p:sp>
    </p:spTree>
    <p:extLst>
      <p:ext uri="{BB962C8B-B14F-4D97-AF65-F5344CB8AC3E}">
        <p14:creationId xmlns:p14="http://schemas.microsoft.com/office/powerpoint/2010/main" val="110911313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geriatrics and adults </a:t>
            </a:r>
            <a:endParaRPr lang="en-US" dirty="0"/>
          </a:p>
        </p:txBody>
      </p:sp>
      <p:sp>
        <p:nvSpPr>
          <p:cNvPr id="3" name="Content Placeholder 2"/>
          <p:cNvSpPr>
            <a:spLocks noGrp="1"/>
          </p:cNvSpPr>
          <p:nvPr>
            <p:ph idx="1"/>
          </p:nvPr>
        </p:nvSpPr>
        <p:spPr/>
        <p:txBody>
          <a:bodyPr>
            <a:normAutofit/>
          </a:bodyPr>
          <a:lstStyle/>
          <a:p>
            <a:r>
              <a:rPr lang="en-US" sz="2800" dirty="0">
                <a:solidFill>
                  <a:srgbClr val="FF0000"/>
                </a:solidFill>
              </a:rPr>
              <a:t>Diabetics</a:t>
            </a:r>
            <a:r>
              <a:rPr lang="en-US" sz="2800" dirty="0"/>
              <a:t> is the most common</a:t>
            </a:r>
          </a:p>
          <a:p>
            <a:r>
              <a:rPr lang="en-US" sz="2800" dirty="0"/>
              <a:t>Sickle cell retinopathy</a:t>
            </a:r>
          </a:p>
          <a:p>
            <a:r>
              <a:rPr lang="en-US" sz="2800" dirty="0">
                <a:solidFill>
                  <a:srgbClr val="FF0000"/>
                </a:solidFill>
              </a:rPr>
              <a:t>Metastasis</a:t>
            </a:r>
          </a:p>
          <a:p>
            <a:r>
              <a:rPr lang="en-US" sz="2800" dirty="0"/>
              <a:t>Trauma </a:t>
            </a:r>
          </a:p>
          <a:p>
            <a:r>
              <a:rPr lang="en-US" sz="2800" dirty="0">
                <a:solidFill>
                  <a:srgbClr val="FF0000"/>
                </a:solidFill>
              </a:rPr>
              <a:t>Previous cataract surgery</a:t>
            </a:r>
          </a:p>
        </p:txBody>
      </p:sp>
    </p:spTree>
    <p:extLst>
      <p:ext uri="{BB962C8B-B14F-4D97-AF65-F5344CB8AC3E}">
        <p14:creationId xmlns:p14="http://schemas.microsoft.com/office/powerpoint/2010/main" val="246545935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Anesthetic management</a:t>
            </a:r>
          </a:p>
        </p:txBody>
      </p:sp>
      <p:sp>
        <p:nvSpPr>
          <p:cNvPr id="3" name="Content Placeholder 2"/>
          <p:cNvSpPr>
            <a:spLocks noGrp="1"/>
          </p:cNvSpPr>
          <p:nvPr>
            <p:ph idx="1"/>
          </p:nvPr>
        </p:nvSpPr>
        <p:spPr/>
        <p:txBody>
          <a:bodyPr>
            <a:normAutofit fontScale="92500" lnSpcReduction="10000"/>
          </a:bodyPr>
          <a:lstStyle/>
          <a:p>
            <a:r>
              <a:rPr lang="en-US" dirty="0"/>
              <a:t>Avoid any increase in IOP</a:t>
            </a:r>
          </a:p>
          <a:p>
            <a:r>
              <a:rPr lang="en-US" dirty="0"/>
              <a:t>Use acetazolamide or mannitol</a:t>
            </a:r>
          </a:p>
          <a:p>
            <a:r>
              <a:rPr lang="en-US" dirty="0"/>
              <a:t>Complete </a:t>
            </a:r>
            <a:r>
              <a:rPr lang="en-US" dirty="0" err="1"/>
              <a:t>akinesia</a:t>
            </a:r>
            <a:endParaRPr lang="en-US" dirty="0"/>
          </a:p>
          <a:p>
            <a:r>
              <a:rPr lang="en-US" dirty="0"/>
              <a:t>Always GA with ETT</a:t>
            </a:r>
          </a:p>
          <a:p>
            <a:r>
              <a:rPr lang="en-US" dirty="0"/>
              <a:t>Keep patient well hydrated and oxygenated</a:t>
            </a:r>
          </a:p>
          <a:p>
            <a:r>
              <a:rPr lang="en-US" dirty="0"/>
              <a:t>Lidocaine 1-2mg/kg before </a:t>
            </a:r>
            <a:r>
              <a:rPr lang="en-US" dirty="0" err="1"/>
              <a:t>extubation</a:t>
            </a:r>
            <a:endParaRPr lang="en-US" dirty="0"/>
          </a:p>
          <a:p>
            <a:r>
              <a:rPr lang="en-US" dirty="0"/>
              <a:t>Antiemetic </a:t>
            </a:r>
          </a:p>
          <a:p>
            <a:r>
              <a:rPr lang="en-US" dirty="0"/>
              <a:t>Analgesics</a:t>
            </a:r>
          </a:p>
          <a:p>
            <a:r>
              <a:rPr lang="en-US" dirty="0" smtClean="0">
                <a:solidFill>
                  <a:srgbClr val="FF0000"/>
                </a:solidFill>
              </a:rPr>
              <a:t>Consideration :Use </a:t>
            </a:r>
            <a:r>
              <a:rPr lang="en-US" dirty="0">
                <a:solidFill>
                  <a:srgbClr val="FF0000"/>
                </a:solidFill>
              </a:rPr>
              <a:t>of expander gases(SF6)rapid expansion impairs retinal blood flow if N2O is used</a:t>
            </a:r>
            <a:r>
              <a:rPr lang="en-US" dirty="0"/>
              <a:t>. </a:t>
            </a:r>
          </a:p>
          <a:p>
            <a:endParaRPr lang="en-US" dirty="0"/>
          </a:p>
        </p:txBody>
      </p:sp>
    </p:spTree>
    <p:extLst>
      <p:ext uri="{BB962C8B-B14F-4D97-AF65-F5344CB8AC3E}">
        <p14:creationId xmlns:p14="http://schemas.microsoft.com/office/powerpoint/2010/main" val="204673412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Expander gases </a:t>
            </a:r>
            <a:endParaRPr lang="en-US" dirty="0"/>
          </a:p>
        </p:txBody>
      </p:sp>
      <p:sp>
        <p:nvSpPr>
          <p:cNvPr id="3" name="Content Placeholder 2"/>
          <p:cNvSpPr>
            <a:spLocks noGrp="1"/>
          </p:cNvSpPr>
          <p:nvPr>
            <p:ph idx="1"/>
          </p:nvPr>
        </p:nvSpPr>
        <p:spPr/>
        <p:txBody>
          <a:bodyPr/>
          <a:lstStyle/>
          <a:p>
            <a:r>
              <a:rPr lang="en-GB" sz="3200" dirty="0"/>
              <a:t>A gas bubble injected by the ophthalmologist into the posterior chamber during vitreous surgery.</a:t>
            </a:r>
          </a:p>
          <a:p>
            <a:r>
              <a:rPr lang="en-GB" sz="3200" dirty="0"/>
              <a:t> </a:t>
            </a:r>
            <a:r>
              <a:rPr lang="en-GB" sz="3200" dirty="0" err="1"/>
              <a:t>Intravitreal</a:t>
            </a:r>
            <a:r>
              <a:rPr lang="en-GB" sz="3200" dirty="0"/>
              <a:t> air injection will tend to flatten a detached retina and allow anatomically correct healing.</a:t>
            </a:r>
          </a:p>
          <a:p>
            <a:r>
              <a:rPr lang="en-GB" sz="3200" dirty="0"/>
              <a:t> The air bubble is absorbed within 5 days by gradual diffusion through adjacent tissue and into the bloodstream. </a:t>
            </a:r>
          </a:p>
          <a:p>
            <a:endParaRPr lang="en-US" dirty="0"/>
          </a:p>
        </p:txBody>
      </p:sp>
    </p:spTree>
    <p:extLst>
      <p:ext uri="{BB962C8B-B14F-4D97-AF65-F5344CB8AC3E}">
        <p14:creationId xmlns:p14="http://schemas.microsoft.com/office/powerpoint/2010/main" val="203883213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GB" sz="3200" dirty="0"/>
              <a:t>If the patient is breathing </a:t>
            </a:r>
            <a:r>
              <a:rPr lang="en-GB" sz="3200" dirty="0">
                <a:solidFill>
                  <a:srgbClr val="990000"/>
                </a:solidFill>
              </a:rPr>
              <a:t>nitrous oxide</a:t>
            </a:r>
            <a:r>
              <a:rPr lang="en-GB" sz="3200" dirty="0"/>
              <a:t>, the bubble will increase in size. </a:t>
            </a:r>
            <a:r>
              <a:rPr lang="en-GB" sz="3200" dirty="0" smtClean="0"/>
              <a:t>because </a:t>
            </a:r>
            <a:r>
              <a:rPr lang="en-GB" sz="3200" dirty="0"/>
              <a:t>nitrous oxide is 35 times more soluble than nitrogen in blood </a:t>
            </a:r>
          </a:p>
          <a:p>
            <a:r>
              <a:rPr lang="en-GB" sz="3200"/>
              <a:t> </a:t>
            </a:r>
            <a:r>
              <a:rPr lang="en-GB" sz="3200" smtClean="0"/>
              <a:t>Nitrous </a:t>
            </a:r>
            <a:r>
              <a:rPr lang="en-GB" sz="3200" dirty="0"/>
              <a:t>oxide tends to diffuse into an air bubble more rapidly than nitrogen is absorbed by the bloodstream.</a:t>
            </a:r>
          </a:p>
          <a:p>
            <a:r>
              <a:rPr lang="en-GB" sz="3200" dirty="0"/>
              <a:t> If the bubble expands after the eye is closed, intraocular pressure will rise</a:t>
            </a:r>
            <a:r>
              <a:rPr lang="en-GB" dirty="0"/>
              <a:t>.</a:t>
            </a:r>
          </a:p>
          <a:p>
            <a:endParaRPr lang="en-US" dirty="0"/>
          </a:p>
          <a:p>
            <a:endParaRPr lang="en-US" dirty="0"/>
          </a:p>
        </p:txBody>
      </p:sp>
    </p:spTree>
    <p:extLst>
      <p:ext uri="{BB962C8B-B14F-4D97-AF65-F5344CB8AC3E}">
        <p14:creationId xmlns:p14="http://schemas.microsoft.com/office/powerpoint/2010/main" val="273090564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Complications of retinal surgery </a:t>
            </a:r>
            <a:endParaRPr lang="en-US" dirty="0"/>
          </a:p>
        </p:txBody>
      </p:sp>
      <p:sp>
        <p:nvSpPr>
          <p:cNvPr id="3" name="Content Placeholder 2"/>
          <p:cNvSpPr>
            <a:spLocks noGrp="1"/>
          </p:cNvSpPr>
          <p:nvPr>
            <p:ph idx="1"/>
          </p:nvPr>
        </p:nvSpPr>
        <p:spPr/>
        <p:txBody>
          <a:bodyPr/>
          <a:lstStyle/>
          <a:p>
            <a:r>
              <a:rPr lang="en-US" dirty="0"/>
              <a:t>Oculocardiac reflex</a:t>
            </a:r>
          </a:p>
          <a:p>
            <a:r>
              <a:rPr lang="en-US" dirty="0"/>
              <a:t>Nausea and vomiting </a:t>
            </a:r>
          </a:p>
          <a:p>
            <a:r>
              <a:rPr lang="en-US" dirty="0"/>
              <a:t>Vitreous hemorrhage</a:t>
            </a:r>
          </a:p>
          <a:p>
            <a:r>
              <a:rPr lang="en-US" dirty="0"/>
              <a:t>Loss of vision/diplopia</a:t>
            </a:r>
          </a:p>
          <a:p>
            <a:r>
              <a:rPr lang="en-US" dirty="0"/>
              <a:t>Glaucoma </a:t>
            </a:r>
          </a:p>
          <a:p>
            <a:endParaRPr lang="en-US" dirty="0"/>
          </a:p>
          <a:p>
            <a:endParaRPr lang="en-US" dirty="0"/>
          </a:p>
        </p:txBody>
      </p:sp>
    </p:spTree>
    <p:extLst>
      <p:ext uri="{BB962C8B-B14F-4D97-AF65-F5344CB8AC3E}">
        <p14:creationId xmlns:p14="http://schemas.microsoft.com/office/powerpoint/2010/main" val="815532540"/>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Ophthalmic pediatrics surgery </a:t>
            </a:r>
            <a:endParaRPr lang="en-US" dirty="0"/>
          </a:p>
        </p:txBody>
      </p:sp>
      <p:sp>
        <p:nvSpPr>
          <p:cNvPr id="3" name="Content Placeholder 2"/>
          <p:cNvSpPr>
            <a:spLocks noGrp="1"/>
          </p:cNvSpPr>
          <p:nvPr>
            <p:ph idx="1"/>
          </p:nvPr>
        </p:nvSpPr>
        <p:spPr/>
        <p:txBody>
          <a:bodyPr>
            <a:normAutofit/>
          </a:bodyPr>
          <a:lstStyle/>
          <a:p>
            <a:pPr>
              <a:buNone/>
            </a:pPr>
            <a:r>
              <a:rPr lang="en-US" dirty="0"/>
              <a:t>General considerations</a:t>
            </a:r>
          </a:p>
          <a:p>
            <a:pPr>
              <a:buNone/>
            </a:pPr>
            <a:r>
              <a:rPr lang="en-US" dirty="0"/>
              <a:t>Lack of cooperation</a:t>
            </a:r>
          </a:p>
          <a:p>
            <a:pPr>
              <a:buNone/>
            </a:pPr>
            <a:r>
              <a:rPr lang="en-US" dirty="0"/>
              <a:t>Congenital anomalies</a:t>
            </a:r>
          </a:p>
          <a:p>
            <a:pPr>
              <a:buNone/>
            </a:pPr>
            <a:r>
              <a:rPr lang="en-US" dirty="0" err="1"/>
              <a:t>Occulocardiac</a:t>
            </a:r>
            <a:r>
              <a:rPr lang="en-US" dirty="0"/>
              <a:t> reflex is powerful</a:t>
            </a:r>
          </a:p>
          <a:p>
            <a:pPr>
              <a:buNone/>
            </a:pPr>
            <a:r>
              <a:rPr lang="en-US" dirty="0"/>
              <a:t>Consider anesthetic ramification of ophthalmic drugs &amp;</a:t>
            </a:r>
            <a:r>
              <a:rPr lang="en-US" dirty="0" smtClean="0"/>
              <a:t>techniques</a:t>
            </a:r>
            <a:endParaRPr lang="en-US" dirty="0"/>
          </a:p>
        </p:txBody>
      </p:sp>
    </p:spTree>
    <p:extLst>
      <p:ext uri="{BB962C8B-B14F-4D97-AF65-F5344CB8AC3E}">
        <p14:creationId xmlns:p14="http://schemas.microsoft.com/office/powerpoint/2010/main" val="2216170658"/>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Profound analgesia and muscle relaxation</a:t>
            </a:r>
          </a:p>
          <a:p>
            <a:pPr>
              <a:buNone/>
            </a:pPr>
            <a:r>
              <a:rPr lang="en-US" dirty="0"/>
              <a:t>Deep anesthesia</a:t>
            </a:r>
          </a:p>
          <a:p>
            <a:pPr>
              <a:buNone/>
            </a:pPr>
            <a:r>
              <a:rPr lang="en-US" dirty="0"/>
              <a:t>Smooth </a:t>
            </a:r>
            <a:r>
              <a:rPr lang="en-US" dirty="0" err="1"/>
              <a:t>extubation</a:t>
            </a:r>
            <a:r>
              <a:rPr lang="en-US" dirty="0"/>
              <a:t> </a:t>
            </a:r>
          </a:p>
          <a:p>
            <a:pPr>
              <a:buNone/>
            </a:pPr>
            <a:r>
              <a:rPr lang="en-US" dirty="0"/>
              <a:t>Avoid post operative vomiting </a:t>
            </a:r>
          </a:p>
          <a:p>
            <a:pPr>
              <a:buNone/>
            </a:pPr>
            <a:r>
              <a:rPr lang="en-US" dirty="0"/>
              <a:t>Consider profound analgesia</a:t>
            </a:r>
          </a:p>
        </p:txBody>
      </p:sp>
    </p:spTree>
    <p:extLst>
      <p:ext uri="{BB962C8B-B14F-4D97-AF65-F5344CB8AC3E}">
        <p14:creationId xmlns:p14="http://schemas.microsoft.com/office/powerpoint/2010/main" val="3420540453"/>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45997758"/>
              </p:ext>
            </p:extLst>
          </p:nvPr>
        </p:nvGraphicFramePr>
        <p:xfrm>
          <a:off x="1023939" y="811369"/>
          <a:ext cx="9720261" cy="5215943"/>
        </p:xfrm>
        <a:graphic>
          <a:graphicData uri="http://schemas.openxmlformats.org/drawingml/2006/table">
            <a:tbl>
              <a:tblPr firstRow="1" firstCol="1" bandRow="1">
                <a:tableStyleId>{5C22544A-7EE6-4342-B048-85BDC9FD1C3A}</a:tableStyleId>
              </a:tblPr>
              <a:tblGrid>
                <a:gridCol w="3240087"/>
                <a:gridCol w="3240087"/>
                <a:gridCol w="3240087"/>
              </a:tblGrid>
              <a:tr h="464108">
                <a:tc>
                  <a:txBody>
                    <a:bodyPr/>
                    <a:lstStyle/>
                    <a:p>
                      <a:pPr marL="0" marR="0">
                        <a:lnSpc>
                          <a:spcPct val="107000"/>
                        </a:lnSpc>
                        <a:spcBef>
                          <a:spcPts val="0"/>
                        </a:spcBef>
                        <a:spcAft>
                          <a:spcPts val="0"/>
                        </a:spcAft>
                      </a:pPr>
                      <a:r>
                        <a:rPr lang="en-US" sz="1000">
                          <a:effectLst/>
                        </a:rPr>
                        <a:t>Disorder or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tc>
                <a:tc>
                  <a:txBody>
                    <a:bodyPr/>
                    <a:lstStyle/>
                    <a:p>
                      <a:pPr marL="0" marR="0">
                        <a:lnSpc>
                          <a:spcPct val="107000"/>
                        </a:lnSpc>
                        <a:spcBef>
                          <a:spcPts val="0"/>
                        </a:spcBef>
                        <a:spcAft>
                          <a:spcPts val="0"/>
                        </a:spcAft>
                      </a:pPr>
                      <a:r>
                        <a:rPr lang="en-US" sz="1000">
                          <a:effectLst/>
                        </a:rPr>
                        <a:t>Ocular Manifestations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tc>
                <a:tc>
                  <a:txBody>
                    <a:bodyPr/>
                    <a:lstStyle/>
                    <a:p>
                      <a:pPr marL="0" marR="0">
                        <a:lnSpc>
                          <a:spcPct val="107000"/>
                        </a:lnSpc>
                        <a:spcBef>
                          <a:spcPts val="0"/>
                        </a:spcBef>
                        <a:spcAft>
                          <a:spcPts val="0"/>
                        </a:spcAft>
                      </a:pPr>
                      <a:r>
                        <a:rPr lang="en-US" sz="1000">
                          <a:effectLst/>
                        </a:rPr>
                        <a:t>Anesthetic Implications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tc>
              </a:tr>
              <a:tr h="950367">
                <a:tc>
                  <a:txBody>
                    <a:bodyPr/>
                    <a:lstStyle/>
                    <a:p>
                      <a:pPr marL="152400" marR="0" indent="-152400">
                        <a:lnSpc>
                          <a:spcPct val="107000"/>
                        </a:lnSpc>
                        <a:spcBef>
                          <a:spcPts val="1800"/>
                        </a:spcBef>
                        <a:spcAft>
                          <a:spcPts val="1800"/>
                        </a:spcAft>
                      </a:pPr>
                      <a:r>
                        <a:rPr lang="en-US" sz="1000">
                          <a:effectLst/>
                        </a:rPr>
                        <a:t>Acute intermittent porphyria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Cataracts, retinal degeneration, optic atrophy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Various medications, including barbiturates and etomidate, may trigger attacks.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950367">
                <a:tc>
                  <a:txBody>
                    <a:bodyPr/>
                    <a:lstStyle/>
                    <a:p>
                      <a:pPr marL="152400" marR="0" indent="-152400">
                        <a:lnSpc>
                          <a:spcPct val="107000"/>
                        </a:lnSpc>
                        <a:spcBef>
                          <a:spcPts val="1800"/>
                        </a:spcBef>
                        <a:spcAft>
                          <a:spcPts val="1800"/>
                        </a:spcAft>
                      </a:pPr>
                      <a:r>
                        <a:rPr lang="en-US" sz="1000">
                          <a:effectLst/>
                        </a:rPr>
                        <a:t>Apert’s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Glaucoma, cataracts, strabismus, hypertelorism, proptosis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Possibly difficult intubation, possible choanal stenosis, cervical spine fusion, CHD (10% incidence)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950367">
                <a:tc>
                  <a:txBody>
                    <a:bodyPr/>
                    <a:lstStyle/>
                    <a:p>
                      <a:pPr marL="152400" marR="0" indent="-152400">
                        <a:lnSpc>
                          <a:spcPct val="107000"/>
                        </a:lnSpc>
                        <a:spcBef>
                          <a:spcPts val="1800"/>
                        </a:spcBef>
                        <a:spcAft>
                          <a:spcPts val="1800"/>
                        </a:spcAft>
                      </a:pPr>
                      <a:r>
                        <a:rPr lang="en-US" sz="1000">
                          <a:effectLst/>
                        </a:rPr>
                        <a:t>Cri du chat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Strabismus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Micrognathia and possibly difficult intubation, hypotonia, prone to hypothermia, CHD (33% incidence)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950367">
                <a:tc>
                  <a:txBody>
                    <a:bodyPr/>
                    <a:lstStyle/>
                    <a:p>
                      <a:pPr marL="152400" marR="0" indent="-152400">
                        <a:lnSpc>
                          <a:spcPct val="107000"/>
                        </a:lnSpc>
                        <a:spcBef>
                          <a:spcPts val="1800"/>
                        </a:spcBef>
                        <a:spcAft>
                          <a:spcPts val="1800"/>
                        </a:spcAft>
                      </a:pPr>
                      <a:r>
                        <a:rPr lang="en-US" sz="1000">
                          <a:effectLst/>
                        </a:rPr>
                        <a:t>Crouzon’s disease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Glaucoma, cataracts, strabismus, hypertelorism, proptosis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Possibly difficult intubation, possible elevated intracranial pressure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950367">
                <a:tc>
                  <a:txBody>
                    <a:bodyPr/>
                    <a:lstStyle/>
                    <a:p>
                      <a:pPr marL="152400" marR="0" indent="-152400">
                        <a:lnSpc>
                          <a:spcPct val="107000"/>
                        </a:lnSpc>
                        <a:spcBef>
                          <a:spcPts val="1800"/>
                        </a:spcBef>
                        <a:spcAft>
                          <a:spcPts val="1800"/>
                        </a:spcAft>
                      </a:pPr>
                      <a:r>
                        <a:rPr lang="en-US" sz="1000">
                          <a:effectLst/>
                        </a:rPr>
                        <a:t>Cystinosis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Corneal clouding, retinal degeneration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dirty="0">
                          <a:effectLst/>
                        </a:rPr>
                        <a:t>Chronic renal failure, possible diabetes mellitus, esophageal varices, recurrent epistaxis, hyperthermia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bl>
          </a:graphicData>
        </a:graphic>
      </p:graphicFrame>
    </p:spTree>
    <p:extLst>
      <p:ext uri="{BB962C8B-B14F-4D97-AF65-F5344CB8AC3E}">
        <p14:creationId xmlns:p14="http://schemas.microsoft.com/office/powerpoint/2010/main" val="2210501640"/>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12950449"/>
              </p:ext>
            </p:extLst>
          </p:nvPr>
        </p:nvGraphicFramePr>
        <p:xfrm>
          <a:off x="1023938" y="1107579"/>
          <a:ext cx="9720261" cy="5331857"/>
        </p:xfrm>
        <a:graphic>
          <a:graphicData uri="http://schemas.openxmlformats.org/drawingml/2006/table">
            <a:tbl>
              <a:tblPr firstRow="1" firstCol="1" bandRow="1">
                <a:tableStyleId>{5C22544A-7EE6-4342-B048-85BDC9FD1C3A}</a:tableStyleId>
              </a:tblPr>
              <a:tblGrid>
                <a:gridCol w="3240087"/>
                <a:gridCol w="3240087"/>
                <a:gridCol w="3240087"/>
              </a:tblGrid>
              <a:tr h="888643">
                <a:tc>
                  <a:txBody>
                    <a:bodyPr/>
                    <a:lstStyle/>
                    <a:p>
                      <a:pPr marL="152400" marR="0" indent="-152400">
                        <a:lnSpc>
                          <a:spcPct val="107000"/>
                        </a:lnSpc>
                        <a:spcBef>
                          <a:spcPts val="1800"/>
                        </a:spcBef>
                        <a:spcAft>
                          <a:spcPts val="1800"/>
                        </a:spcAft>
                      </a:pPr>
                      <a:r>
                        <a:rPr lang="en-US" sz="1000">
                          <a:effectLst/>
                        </a:rPr>
                        <a:t>Down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Cataracts, strabismus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Trisomy 21, airway obstruction, atlantoaxial instability, CHD (50% incidence), may be more sensitive to atropine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587860">
                <a:tc>
                  <a:txBody>
                    <a:bodyPr/>
                    <a:lstStyle/>
                    <a:p>
                      <a:pPr marL="152400" marR="0" indent="-152400">
                        <a:lnSpc>
                          <a:spcPct val="107000"/>
                        </a:lnSpc>
                        <a:spcBef>
                          <a:spcPts val="1800"/>
                        </a:spcBef>
                        <a:spcAft>
                          <a:spcPts val="1800"/>
                        </a:spcAft>
                      </a:pPr>
                      <a:r>
                        <a:rPr lang="en-US" sz="1000">
                          <a:effectLst/>
                        </a:rPr>
                        <a:t>Ehlers-Danlos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Retinal detachment, blue sclera, ectopia lentis, keratoconus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Laryngeal trauma possible with intubation, careful positioning, avoid arterial and central venous lines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888643">
                <a:tc>
                  <a:txBody>
                    <a:bodyPr/>
                    <a:lstStyle/>
                    <a:p>
                      <a:pPr marL="152400" marR="0" indent="-152400">
                        <a:lnSpc>
                          <a:spcPct val="107000"/>
                        </a:lnSpc>
                        <a:spcBef>
                          <a:spcPts val="1800"/>
                        </a:spcBef>
                        <a:spcAft>
                          <a:spcPts val="1800"/>
                        </a:spcAft>
                      </a:pPr>
                      <a:r>
                        <a:rPr lang="en-US" sz="1000">
                          <a:effectLst/>
                        </a:rPr>
                        <a:t>Goldenhar’s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Glaucoma, cataracts, strabismus, lacrimal drainage defects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Hemifacial microsomia and possible cervical spine abnormalities, possible difficult mask and intubation, rare CHD, and hydrocephalus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888643">
                <a:tc>
                  <a:txBody>
                    <a:bodyPr/>
                    <a:lstStyle/>
                    <a:p>
                      <a:pPr marL="152400" marR="0" indent="-152400">
                        <a:lnSpc>
                          <a:spcPct val="107000"/>
                        </a:lnSpc>
                        <a:spcBef>
                          <a:spcPts val="1800"/>
                        </a:spcBef>
                        <a:spcAft>
                          <a:spcPts val="1800"/>
                        </a:spcAft>
                      </a:pPr>
                      <a:r>
                        <a:rPr lang="en-US" sz="1000">
                          <a:effectLst/>
                        </a:rPr>
                        <a:t>Hallerman-Streiff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Congenital cataracts, coloboma, microphthalmia, glaucoma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Major craniofacial abnormalities with likely difficult intubation, upper airway obstruction, chronic lung disease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888643">
                <a:tc>
                  <a:txBody>
                    <a:bodyPr/>
                    <a:lstStyle/>
                    <a:p>
                      <a:pPr marL="152400" marR="0" indent="-152400">
                        <a:lnSpc>
                          <a:spcPct val="107000"/>
                        </a:lnSpc>
                        <a:spcBef>
                          <a:spcPts val="1800"/>
                        </a:spcBef>
                        <a:spcAft>
                          <a:spcPts val="1800"/>
                        </a:spcAft>
                      </a:pPr>
                      <a:r>
                        <a:rPr lang="en-US" sz="1000">
                          <a:effectLst/>
                        </a:rPr>
                        <a:t>Homocystinuria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Ectopia lentis, pupillary block glaucoma, retinal detachment, central retinal artery occlusion, strabismus optic atrophy,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Marfanoid habitus with kyphoscoliosis and sternal deformity, prone to thromboembolic complications and hypoglycemia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1189425">
                <a:tc>
                  <a:txBody>
                    <a:bodyPr/>
                    <a:lstStyle/>
                    <a:p>
                      <a:pPr marL="152400" marR="0" indent="-152400">
                        <a:lnSpc>
                          <a:spcPct val="107000"/>
                        </a:lnSpc>
                        <a:spcBef>
                          <a:spcPts val="1800"/>
                        </a:spcBef>
                        <a:spcAft>
                          <a:spcPts val="1800"/>
                        </a:spcAft>
                      </a:pPr>
                      <a:r>
                        <a:rPr lang="en-US" sz="1000">
                          <a:effectLst/>
                        </a:rPr>
                        <a:t>Hunter’s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Retinal degeneration, optic atrophy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dirty="0">
                          <a:effectLst/>
                        </a:rPr>
                        <a:t>Often difficult intubation, copious secretions, </a:t>
                      </a:r>
                      <a:r>
                        <a:rPr lang="en-US" sz="1000" dirty="0" err="1">
                          <a:effectLst/>
                        </a:rPr>
                        <a:t>macroglossia</a:t>
                      </a:r>
                      <a:r>
                        <a:rPr lang="en-US" sz="1000" dirty="0">
                          <a:effectLst/>
                        </a:rPr>
                        <a:t>, stiff temporomandibular joint, limited neck mobility, possible ischemic or </a:t>
                      </a:r>
                      <a:r>
                        <a:rPr lang="en-US" sz="1000" dirty="0" err="1">
                          <a:effectLst/>
                        </a:rPr>
                        <a:t>valvular</a:t>
                      </a:r>
                      <a:r>
                        <a:rPr lang="en-US" sz="1000" dirty="0">
                          <a:effectLst/>
                        </a:rPr>
                        <a:t> heart disease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bl>
          </a:graphicData>
        </a:graphic>
      </p:graphicFrame>
    </p:spTree>
    <p:extLst>
      <p:ext uri="{BB962C8B-B14F-4D97-AF65-F5344CB8AC3E}">
        <p14:creationId xmlns:p14="http://schemas.microsoft.com/office/powerpoint/2010/main" val="3236757044"/>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13194908"/>
              </p:ext>
            </p:extLst>
          </p:nvPr>
        </p:nvGraphicFramePr>
        <p:xfrm>
          <a:off x="1023938" y="953035"/>
          <a:ext cx="9720261" cy="5331855"/>
        </p:xfrm>
        <a:graphic>
          <a:graphicData uri="http://schemas.openxmlformats.org/drawingml/2006/table">
            <a:tbl>
              <a:tblPr firstRow="1" firstCol="1" bandRow="1">
                <a:tableStyleId>{5C22544A-7EE6-4342-B048-85BDC9FD1C3A}</a:tableStyleId>
              </a:tblPr>
              <a:tblGrid>
                <a:gridCol w="3240087"/>
                <a:gridCol w="3240087"/>
                <a:gridCol w="3240087"/>
              </a:tblGrid>
              <a:tr h="1237769">
                <a:tc>
                  <a:txBody>
                    <a:bodyPr/>
                    <a:lstStyle/>
                    <a:p>
                      <a:pPr marL="152400" marR="0" indent="-152400">
                        <a:lnSpc>
                          <a:spcPct val="107000"/>
                        </a:lnSpc>
                        <a:spcBef>
                          <a:spcPts val="1800"/>
                        </a:spcBef>
                        <a:spcAft>
                          <a:spcPts val="1800"/>
                        </a:spcAft>
                      </a:pPr>
                      <a:r>
                        <a:rPr lang="en-US" sz="1000" dirty="0">
                          <a:effectLst/>
                        </a:rPr>
                        <a:t>Hurler’s syndrome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Corneal clouding, retinal degeneration, optic atrophy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Often difficult intubation and difficult mask, possible cervical spine instability, possible ischemic or valvular heart disease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818817">
                <a:tc>
                  <a:txBody>
                    <a:bodyPr/>
                    <a:lstStyle/>
                    <a:p>
                      <a:pPr marL="152400" marR="0" indent="-152400">
                        <a:lnSpc>
                          <a:spcPct val="107000"/>
                        </a:lnSpc>
                        <a:spcBef>
                          <a:spcPts val="1800"/>
                        </a:spcBef>
                        <a:spcAft>
                          <a:spcPts val="1800"/>
                        </a:spcAft>
                      </a:pPr>
                      <a:r>
                        <a:rPr lang="en-US" sz="1000">
                          <a:effectLst/>
                        </a:rPr>
                        <a:t>Jeune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Retinal degeneration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Limited thoracic excursion, pulmonary hypoplasia, possible renal and hepatic insufficiency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399866">
                <a:tc>
                  <a:txBody>
                    <a:bodyPr/>
                    <a:lstStyle/>
                    <a:p>
                      <a:pPr marL="152400" marR="0" indent="-152400">
                        <a:lnSpc>
                          <a:spcPct val="107000"/>
                        </a:lnSpc>
                        <a:spcBef>
                          <a:spcPts val="1800"/>
                        </a:spcBef>
                        <a:spcAft>
                          <a:spcPts val="1800"/>
                        </a:spcAft>
                      </a:pPr>
                      <a:r>
                        <a:rPr lang="en-US" sz="1000">
                          <a:effectLst/>
                        </a:rPr>
                        <a:t>Lowe’s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Cataracts, glaucoma (hydrophthalmia)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Renal failure, renal tubular acidosis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1237769">
                <a:tc>
                  <a:txBody>
                    <a:bodyPr/>
                    <a:lstStyle/>
                    <a:p>
                      <a:pPr marL="152400" marR="0" indent="-152400">
                        <a:lnSpc>
                          <a:spcPct val="107000"/>
                        </a:lnSpc>
                        <a:spcBef>
                          <a:spcPts val="1800"/>
                        </a:spcBef>
                        <a:spcAft>
                          <a:spcPts val="1800"/>
                        </a:spcAft>
                      </a:pPr>
                      <a:r>
                        <a:rPr lang="en-US" sz="1000">
                          <a:effectLst/>
                        </a:rPr>
                        <a:t>Marfan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Ectopia lentis, glaucoma, retinal detachment, cataracts, strabismus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Aortic or pulmonary artery dilation, aortic and mitral valve disease, pectus excavatum, risk for pneumothorax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818817">
                <a:tc>
                  <a:txBody>
                    <a:bodyPr/>
                    <a:lstStyle/>
                    <a:p>
                      <a:pPr marL="152400" marR="0" indent="-152400">
                        <a:lnSpc>
                          <a:spcPct val="107000"/>
                        </a:lnSpc>
                        <a:spcBef>
                          <a:spcPts val="1800"/>
                        </a:spcBef>
                        <a:spcAft>
                          <a:spcPts val="1800"/>
                        </a:spcAft>
                      </a:pPr>
                      <a:r>
                        <a:rPr lang="en-US" sz="1000">
                          <a:effectLst/>
                        </a:rPr>
                        <a:t>Moebius sequence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Strabismus, ptosis, congenital nerve VI and VII palsy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Possibly difficult intubation, micrognathia, copious secretions, possible cervical spine anomalies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818817">
                <a:tc>
                  <a:txBody>
                    <a:bodyPr/>
                    <a:lstStyle/>
                    <a:p>
                      <a:pPr marL="152400" marR="0" indent="-152400">
                        <a:lnSpc>
                          <a:spcPct val="107000"/>
                        </a:lnSpc>
                        <a:spcBef>
                          <a:spcPts val="1800"/>
                        </a:spcBef>
                        <a:spcAft>
                          <a:spcPts val="1800"/>
                        </a:spcAft>
                      </a:pPr>
                      <a:r>
                        <a:rPr lang="en-US" sz="1000">
                          <a:effectLst/>
                        </a:rPr>
                        <a:t>Myotonia congenita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dirty="0">
                          <a:effectLst/>
                        </a:rPr>
                        <a:t>Cataracts, </a:t>
                      </a:r>
                      <a:r>
                        <a:rPr lang="en-US" sz="1000" dirty="0" err="1">
                          <a:effectLst/>
                        </a:rPr>
                        <a:t>blepharospasm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dirty="0">
                          <a:effectLst/>
                        </a:rPr>
                        <a:t>Prone to </a:t>
                      </a:r>
                      <a:r>
                        <a:rPr lang="en-US" sz="1000" dirty="0" err="1">
                          <a:effectLst/>
                        </a:rPr>
                        <a:t>myotonic</a:t>
                      </a:r>
                      <a:r>
                        <a:rPr lang="en-US" sz="1000" dirty="0">
                          <a:effectLst/>
                        </a:rPr>
                        <a:t> contractions, sustained contraction with succinylcholine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bl>
          </a:graphicData>
        </a:graphic>
      </p:graphicFrame>
    </p:spTree>
    <p:extLst>
      <p:ext uri="{BB962C8B-B14F-4D97-AF65-F5344CB8AC3E}">
        <p14:creationId xmlns:p14="http://schemas.microsoft.com/office/powerpoint/2010/main" val="2079583896"/>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09704502"/>
              </p:ext>
            </p:extLst>
          </p:nvPr>
        </p:nvGraphicFramePr>
        <p:xfrm>
          <a:off x="1023938" y="1004551"/>
          <a:ext cx="9720261" cy="5692462"/>
        </p:xfrm>
        <a:graphic>
          <a:graphicData uri="http://schemas.openxmlformats.org/drawingml/2006/table">
            <a:tbl>
              <a:tblPr firstRow="1" firstCol="1" bandRow="1">
                <a:tableStyleId>{5C22544A-7EE6-4342-B048-85BDC9FD1C3A}</a:tableStyleId>
              </a:tblPr>
              <a:tblGrid>
                <a:gridCol w="3240087"/>
                <a:gridCol w="3240087"/>
                <a:gridCol w="3240087"/>
              </a:tblGrid>
              <a:tr h="1345788">
                <a:tc>
                  <a:txBody>
                    <a:bodyPr/>
                    <a:lstStyle/>
                    <a:p>
                      <a:pPr marL="152400" marR="0" indent="-152400">
                        <a:lnSpc>
                          <a:spcPct val="107000"/>
                        </a:lnSpc>
                        <a:spcBef>
                          <a:spcPts val="1800"/>
                        </a:spcBef>
                        <a:spcAft>
                          <a:spcPts val="1800"/>
                        </a:spcAft>
                      </a:pPr>
                      <a:r>
                        <a:rPr lang="en-US" sz="1000" dirty="0" err="1">
                          <a:effectLst/>
                        </a:rPr>
                        <a:t>Myotonic</a:t>
                      </a:r>
                      <a:r>
                        <a:rPr lang="en-US" sz="1000" dirty="0">
                          <a:effectLst/>
                        </a:rPr>
                        <a:t> dystrophy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Cataracts, ptosis, strabismus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Prone to myotonic contractions, succinylcholine-associated contractions and hyperkalemia, cardiac conduction abnormalities, sensitive to central nervous system depressants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665141">
                <a:tc>
                  <a:txBody>
                    <a:bodyPr/>
                    <a:lstStyle/>
                    <a:p>
                      <a:pPr marL="152400" marR="0" indent="-152400">
                        <a:lnSpc>
                          <a:spcPct val="107000"/>
                        </a:lnSpc>
                        <a:spcBef>
                          <a:spcPts val="1800"/>
                        </a:spcBef>
                        <a:spcAft>
                          <a:spcPts val="1800"/>
                        </a:spcAft>
                      </a:pPr>
                      <a:r>
                        <a:rPr lang="en-US" sz="1000">
                          <a:effectLst/>
                        </a:rPr>
                        <a:t>Rubella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Cataracts, microphthalmos, glaucoma, optic atrophy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Neonatal pneumonia, anemia, and thrombocytopenia; CHD, hypopituitarism, diabetes mellitus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1005464">
                <a:tc>
                  <a:txBody>
                    <a:bodyPr/>
                    <a:lstStyle/>
                    <a:p>
                      <a:pPr marL="152400" marR="0" indent="-152400">
                        <a:lnSpc>
                          <a:spcPct val="107000"/>
                        </a:lnSpc>
                        <a:spcBef>
                          <a:spcPts val="1800"/>
                        </a:spcBef>
                        <a:spcAft>
                          <a:spcPts val="1800"/>
                        </a:spcAft>
                      </a:pPr>
                      <a:r>
                        <a:rPr lang="en-US" sz="1000">
                          <a:effectLst/>
                        </a:rPr>
                        <a:t>Sickle cell disease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Retinal detachment, vitreous hemorrhage, retinitis proliferans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Tendency for sickling occurs with high hemoglobin S concentrations, hypoxemia, cold, stasis, dehydration, and infection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1005464">
                <a:tc>
                  <a:txBody>
                    <a:bodyPr/>
                    <a:lstStyle/>
                    <a:p>
                      <a:pPr marL="152400" marR="0" indent="-152400">
                        <a:lnSpc>
                          <a:spcPct val="107000"/>
                        </a:lnSpc>
                        <a:spcBef>
                          <a:spcPts val="1800"/>
                        </a:spcBef>
                        <a:spcAft>
                          <a:spcPts val="1800"/>
                        </a:spcAft>
                      </a:pPr>
                      <a:r>
                        <a:rPr lang="en-US" sz="1000">
                          <a:effectLst/>
                        </a:rPr>
                        <a:t>Smith-Lemli-Opitz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dirty="0">
                          <a:effectLst/>
                        </a:rPr>
                        <a:t>Congenital cataracts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Possibly difficult intubation, micrognathia, pulmonary hypoplasia, CHD, gastroesophageal reflux, seizure disorders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665141">
                <a:tc>
                  <a:txBody>
                    <a:bodyPr/>
                    <a:lstStyle/>
                    <a:p>
                      <a:pPr marL="152400" marR="0" indent="-152400">
                        <a:lnSpc>
                          <a:spcPct val="107000"/>
                        </a:lnSpc>
                        <a:spcBef>
                          <a:spcPts val="1800"/>
                        </a:spcBef>
                        <a:spcAft>
                          <a:spcPts val="1800"/>
                        </a:spcAft>
                      </a:pPr>
                      <a:r>
                        <a:rPr lang="en-US" sz="1000">
                          <a:effectLst/>
                        </a:rPr>
                        <a:t>Stickler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Vitreous degeneration, retinal detachments, cataracts, strabismus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Possibly difficult intubation, micrognathia, mitral valve prolapse, marfanoid habitus, scoliosis, kyphosis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1005464">
                <a:tc>
                  <a:txBody>
                    <a:bodyPr/>
                    <a:lstStyle/>
                    <a:p>
                      <a:pPr marL="152400" marR="0" indent="-152400">
                        <a:lnSpc>
                          <a:spcPct val="107000"/>
                        </a:lnSpc>
                        <a:spcBef>
                          <a:spcPts val="1800"/>
                        </a:spcBef>
                        <a:spcAft>
                          <a:spcPts val="1800"/>
                        </a:spcAft>
                      </a:pPr>
                      <a:r>
                        <a:rPr lang="en-US" sz="1000">
                          <a:effectLst/>
                        </a:rPr>
                        <a:t>Sturge-Weber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Choroidal hemangioma, glaucoma, ectopia lentis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dirty="0" err="1">
                          <a:effectLst/>
                        </a:rPr>
                        <a:t>Angiomas</a:t>
                      </a:r>
                      <a:r>
                        <a:rPr lang="en-US" sz="1000" dirty="0">
                          <a:effectLst/>
                        </a:rPr>
                        <a:t> of the airway, CHD and high output failure, seizure disorders, </a:t>
                      </a:r>
                      <a:r>
                        <a:rPr lang="en-US" sz="1000" dirty="0" err="1">
                          <a:effectLst/>
                        </a:rPr>
                        <a:t>hyperkalemic</a:t>
                      </a:r>
                      <a:r>
                        <a:rPr lang="en-US" sz="1000" dirty="0">
                          <a:effectLst/>
                        </a:rPr>
                        <a:t> response to succinylcholine in those with hemiplegia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bl>
          </a:graphicData>
        </a:graphic>
      </p:graphicFrame>
    </p:spTree>
    <p:extLst>
      <p:ext uri="{BB962C8B-B14F-4D97-AF65-F5344CB8AC3E}">
        <p14:creationId xmlns:p14="http://schemas.microsoft.com/office/powerpoint/2010/main" val="1298886592"/>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19379344"/>
              </p:ext>
            </p:extLst>
          </p:nvPr>
        </p:nvGraphicFramePr>
        <p:xfrm>
          <a:off x="1023938" y="1429554"/>
          <a:ext cx="9720261" cy="5164429"/>
        </p:xfrm>
        <a:graphic>
          <a:graphicData uri="http://schemas.openxmlformats.org/drawingml/2006/table">
            <a:tbl>
              <a:tblPr firstRow="1" firstCol="1" bandRow="1">
                <a:tableStyleId>{5C22544A-7EE6-4342-B048-85BDC9FD1C3A}</a:tableStyleId>
              </a:tblPr>
              <a:tblGrid>
                <a:gridCol w="3240087"/>
                <a:gridCol w="3240087"/>
                <a:gridCol w="3240087"/>
              </a:tblGrid>
              <a:tr h="457580">
                <a:tc>
                  <a:txBody>
                    <a:bodyPr/>
                    <a:lstStyle/>
                    <a:p>
                      <a:pPr marL="152400" marR="0" indent="-152400">
                        <a:lnSpc>
                          <a:spcPct val="107000"/>
                        </a:lnSpc>
                        <a:spcBef>
                          <a:spcPts val="1800"/>
                        </a:spcBef>
                        <a:spcAft>
                          <a:spcPts val="1800"/>
                        </a:spcAft>
                      </a:pPr>
                      <a:r>
                        <a:rPr lang="en-US" sz="1000">
                          <a:effectLst/>
                        </a:rPr>
                        <a:t>Treacher Collins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Lid defects, microphthalmia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Often difficult intubation, mandibular hypoplasia, CHD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457580">
                <a:tc>
                  <a:txBody>
                    <a:bodyPr/>
                    <a:lstStyle/>
                    <a:p>
                      <a:pPr marL="152400" marR="0" indent="-152400">
                        <a:lnSpc>
                          <a:spcPct val="107000"/>
                        </a:lnSpc>
                        <a:spcBef>
                          <a:spcPts val="1800"/>
                        </a:spcBef>
                        <a:spcAft>
                          <a:spcPts val="1800"/>
                        </a:spcAft>
                      </a:pPr>
                      <a:r>
                        <a:rPr lang="en-US" sz="1000">
                          <a:effectLst/>
                        </a:rPr>
                        <a:t>Turner’s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Ptosis, strabismus, cataracts, corneal scars, blue sclera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Possibly difficult intubation and intravenous access, CHD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1416423">
                <a:tc>
                  <a:txBody>
                    <a:bodyPr/>
                    <a:lstStyle/>
                    <a:p>
                      <a:pPr marL="152400" marR="0" indent="-152400">
                        <a:lnSpc>
                          <a:spcPct val="107000"/>
                        </a:lnSpc>
                        <a:spcBef>
                          <a:spcPts val="1800"/>
                        </a:spcBef>
                        <a:spcAft>
                          <a:spcPts val="1800"/>
                        </a:spcAft>
                      </a:pPr>
                      <a:r>
                        <a:rPr lang="en-US" sz="1000">
                          <a:effectLst/>
                        </a:rPr>
                        <a:t>von Hippel–Lindau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Retinal hemangioma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Possible increased intracranial pressure, possible pheochromocytoma, cerebellar tumors may also produce episodic hypertension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1895845">
                <a:tc>
                  <a:txBody>
                    <a:bodyPr/>
                    <a:lstStyle/>
                    <a:p>
                      <a:pPr marL="152400" marR="0" indent="-152400">
                        <a:lnSpc>
                          <a:spcPct val="107000"/>
                        </a:lnSpc>
                        <a:spcBef>
                          <a:spcPts val="1800"/>
                        </a:spcBef>
                        <a:spcAft>
                          <a:spcPts val="1800"/>
                        </a:spcAft>
                      </a:pPr>
                      <a:r>
                        <a:rPr lang="en-US" sz="1000">
                          <a:effectLst/>
                        </a:rPr>
                        <a:t>von Recklinghausen’s disease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Ptosis, proptosis, optic glioma and meningioma, optic atrophy, glaucoma, Lisch nodules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Possibly difficult mask ventilation and intubation, possible airway tumors, restrictive lung disease, renovascular hypertension, possible pheochromocytoma, sensitive to neuromuscular blockers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r h="937001">
                <a:tc>
                  <a:txBody>
                    <a:bodyPr/>
                    <a:lstStyle/>
                    <a:p>
                      <a:pPr marL="152400" marR="0" indent="-152400">
                        <a:lnSpc>
                          <a:spcPct val="107000"/>
                        </a:lnSpc>
                        <a:spcBef>
                          <a:spcPts val="1800"/>
                        </a:spcBef>
                        <a:spcAft>
                          <a:spcPts val="1800"/>
                        </a:spcAft>
                      </a:pPr>
                      <a:r>
                        <a:rPr lang="en-US" sz="1000">
                          <a:effectLst/>
                        </a:rPr>
                        <a:t>Zellweger syndrome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a:effectLst/>
                        </a:rPr>
                        <a:t>Glaucoma, cataracts, optic atrophy, optic nerve hypoplasia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c>
                  <a:txBody>
                    <a:bodyPr/>
                    <a:lstStyle/>
                    <a:p>
                      <a:pPr marL="152400" marR="0" indent="-152400">
                        <a:lnSpc>
                          <a:spcPct val="107000"/>
                        </a:lnSpc>
                        <a:spcBef>
                          <a:spcPts val="1800"/>
                        </a:spcBef>
                        <a:spcAft>
                          <a:spcPts val="1800"/>
                        </a:spcAft>
                      </a:pPr>
                      <a:r>
                        <a:rPr lang="en-US" sz="1000" dirty="0" err="1">
                          <a:effectLst/>
                        </a:rPr>
                        <a:t>Micrognathia</a:t>
                      </a:r>
                      <a:r>
                        <a:rPr lang="en-US" sz="1000" dirty="0">
                          <a:effectLst/>
                        </a:rPr>
                        <a:t>, possible CHD, renal and adrenal insufficiency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04800" marR="0" marT="0" marB="0"/>
                </a:tc>
              </a:tr>
            </a:tbl>
          </a:graphicData>
        </a:graphic>
      </p:graphicFrame>
    </p:spTree>
    <p:extLst>
      <p:ext uri="{BB962C8B-B14F-4D97-AF65-F5344CB8AC3E}">
        <p14:creationId xmlns:p14="http://schemas.microsoft.com/office/powerpoint/2010/main" val="1551230921"/>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Exentration</a:t>
            </a:r>
            <a:r>
              <a:rPr lang="en-US" dirty="0" smtClean="0"/>
              <a:t> surgery </a:t>
            </a:r>
            <a:endParaRPr lang="en-US" dirty="0"/>
          </a:p>
        </p:txBody>
      </p:sp>
      <p:sp>
        <p:nvSpPr>
          <p:cNvPr id="3" name="Content Placeholder 2"/>
          <p:cNvSpPr>
            <a:spLocks noGrp="1"/>
          </p:cNvSpPr>
          <p:nvPr>
            <p:ph idx="1"/>
          </p:nvPr>
        </p:nvSpPr>
        <p:spPr/>
        <p:txBody>
          <a:bodyPr>
            <a:normAutofit/>
          </a:bodyPr>
          <a:lstStyle/>
          <a:p>
            <a:r>
              <a:rPr lang="en-US" sz="3200" dirty="0"/>
              <a:t>Exenteration is a surgical procedure involving removal of the </a:t>
            </a:r>
            <a:r>
              <a:rPr lang="en-US" sz="3200" dirty="0">
                <a:solidFill>
                  <a:srgbClr val="FF0000"/>
                </a:solidFill>
              </a:rPr>
              <a:t>entire globe and its surrounding structures </a:t>
            </a:r>
            <a:r>
              <a:rPr lang="en-US" sz="3200" dirty="0"/>
              <a:t>including muscles, fat, nerves, and eyelids (extent determined by disease being treated)</a:t>
            </a:r>
            <a:endParaRPr lang="en-US" sz="3200" dirty="0"/>
          </a:p>
        </p:txBody>
      </p:sp>
    </p:spTree>
    <p:extLst>
      <p:ext uri="{BB962C8B-B14F-4D97-AF65-F5344CB8AC3E}">
        <p14:creationId xmlns:p14="http://schemas.microsoft.com/office/powerpoint/2010/main" val="363636323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Anesthesia for exentration preoperative preparation  </a:t>
            </a:r>
            <a:endParaRPr lang="en-US" dirty="0"/>
          </a:p>
        </p:txBody>
      </p:sp>
      <p:sp>
        <p:nvSpPr>
          <p:cNvPr id="3" name="Content Placeholder 2"/>
          <p:cNvSpPr>
            <a:spLocks noGrp="1"/>
          </p:cNvSpPr>
          <p:nvPr>
            <p:ph idx="1"/>
          </p:nvPr>
        </p:nvSpPr>
        <p:spPr/>
        <p:txBody>
          <a:bodyPr/>
          <a:lstStyle/>
          <a:p>
            <a:r>
              <a:rPr lang="en-US" dirty="0"/>
              <a:t>Coagulation profile</a:t>
            </a:r>
          </a:p>
          <a:p>
            <a:r>
              <a:rPr lang="en-US" dirty="0"/>
              <a:t>HB Blood group RH</a:t>
            </a:r>
          </a:p>
          <a:p>
            <a:r>
              <a:rPr lang="en-US" dirty="0"/>
              <a:t>Serum protein </a:t>
            </a:r>
          </a:p>
        </p:txBody>
      </p:sp>
    </p:spTree>
    <p:extLst>
      <p:ext uri="{BB962C8B-B14F-4D97-AF65-F5344CB8AC3E}">
        <p14:creationId xmlns:p14="http://schemas.microsoft.com/office/powerpoint/2010/main" val="90625689"/>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Serum electrolytes</a:t>
            </a:r>
          </a:p>
          <a:p>
            <a:r>
              <a:rPr lang="en-US" dirty="0"/>
              <a:t>General status of the patient</a:t>
            </a:r>
          </a:p>
          <a:p>
            <a:r>
              <a:rPr lang="en-US" dirty="0"/>
              <a:t>ASA classification </a:t>
            </a:r>
          </a:p>
          <a:p>
            <a:r>
              <a:rPr lang="en-US" dirty="0"/>
              <a:t>1-2 units of blood</a:t>
            </a:r>
          </a:p>
          <a:p>
            <a:endParaRPr lang="en-US" dirty="0"/>
          </a:p>
        </p:txBody>
      </p:sp>
    </p:spTree>
    <p:extLst>
      <p:ext uri="{BB962C8B-B14F-4D97-AF65-F5344CB8AC3E}">
        <p14:creationId xmlns:p14="http://schemas.microsoft.com/office/powerpoint/2010/main" val="3393379555"/>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Technique </a:t>
            </a:r>
            <a:endParaRPr lang="en-US" dirty="0"/>
          </a:p>
        </p:txBody>
      </p:sp>
      <p:sp>
        <p:nvSpPr>
          <p:cNvPr id="3" name="Content Placeholder 2"/>
          <p:cNvSpPr>
            <a:spLocks noGrp="1"/>
          </p:cNvSpPr>
          <p:nvPr>
            <p:ph idx="1"/>
          </p:nvPr>
        </p:nvSpPr>
        <p:spPr/>
        <p:txBody>
          <a:bodyPr/>
          <a:lstStyle/>
          <a:p>
            <a:r>
              <a:rPr lang="en-US" dirty="0"/>
              <a:t>ETT</a:t>
            </a:r>
          </a:p>
          <a:p>
            <a:r>
              <a:rPr lang="en-US" dirty="0"/>
              <a:t>Pack</a:t>
            </a:r>
          </a:p>
          <a:p>
            <a:r>
              <a:rPr lang="en-US" dirty="0"/>
              <a:t>Adequate fluid </a:t>
            </a:r>
          </a:p>
          <a:p>
            <a:r>
              <a:rPr lang="en-US" dirty="0"/>
              <a:t>Big gauge cannula</a:t>
            </a:r>
          </a:p>
          <a:p>
            <a:r>
              <a:rPr lang="en-US" dirty="0"/>
              <a:t>Standard monitoring</a:t>
            </a:r>
          </a:p>
          <a:p>
            <a:endParaRPr lang="en-US" dirty="0"/>
          </a:p>
        </p:txBody>
      </p:sp>
    </p:spTree>
    <p:extLst>
      <p:ext uri="{BB962C8B-B14F-4D97-AF65-F5344CB8AC3E}">
        <p14:creationId xmlns:p14="http://schemas.microsoft.com/office/powerpoint/2010/main" val="1196394613"/>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Regional anesthesia in ophthalmology </a:t>
            </a:r>
            <a:endParaRPr lang="en-US" dirty="0"/>
          </a:p>
        </p:txBody>
      </p:sp>
      <p:sp>
        <p:nvSpPr>
          <p:cNvPr id="3" name="Content Placeholder 2"/>
          <p:cNvSpPr>
            <a:spLocks noGrp="1"/>
          </p:cNvSpPr>
          <p:nvPr>
            <p:ph idx="1"/>
          </p:nvPr>
        </p:nvSpPr>
        <p:spPr/>
        <p:txBody>
          <a:bodyPr/>
          <a:lstStyle/>
          <a:p>
            <a:pPr>
              <a:buNone/>
            </a:pPr>
            <a:r>
              <a:rPr lang="en-US" dirty="0"/>
              <a:t> Goals</a:t>
            </a:r>
          </a:p>
          <a:p>
            <a:pPr>
              <a:buNone/>
            </a:pPr>
            <a:r>
              <a:rPr lang="en-US" dirty="0"/>
              <a:t>Anesthesia of contents of the orbit </a:t>
            </a:r>
          </a:p>
          <a:p>
            <a:pPr>
              <a:buNone/>
            </a:pPr>
            <a:r>
              <a:rPr lang="en-US" dirty="0" err="1"/>
              <a:t>Akinesia</a:t>
            </a:r>
            <a:r>
              <a:rPr lang="en-US" dirty="0"/>
              <a:t> of orbicularis </a:t>
            </a:r>
            <a:r>
              <a:rPr lang="en-US" dirty="0" err="1"/>
              <a:t>occuli</a:t>
            </a:r>
            <a:r>
              <a:rPr lang="en-US" dirty="0"/>
              <a:t> &amp;extra ocular muscles </a:t>
            </a:r>
          </a:p>
        </p:txBody>
      </p:sp>
    </p:spTree>
    <p:extLst>
      <p:ext uri="{BB962C8B-B14F-4D97-AF65-F5344CB8AC3E}">
        <p14:creationId xmlns:p14="http://schemas.microsoft.com/office/powerpoint/2010/main" val="77482509"/>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Selection criteria </a:t>
            </a:r>
            <a:endParaRPr lang="en-US" dirty="0"/>
          </a:p>
        </p:txBody>
      </p:sp>
      <p:sp>
        <p:nvSpPr>
          <p:cNvPr id="3" name="Content Placeholder 2"/>
          <p:cNvSpPr>
            <a:spLocks noGrp="1"/>
          </p:cNvSpPr>
          <p:nvPr>
            <p:ph idx="1"/>
          </p:nvPr>
        </p:nvSpPr>
        <p:spPr/>
        <p:txBody>
          <a:bodyPr>
            <a:normAutofit/>
          </a:bodyPr>
          <a:lstStyle/>
          <a:p>
            <a:r>
              <a:rPr lang="en-US" sz="2800" dirty="0"/>
              <a:t>Appropriate selection of local and regional anesthesia in ophthalmic surgery depends on the </a:t>
            </a:r>
            <a:r>
              <a:rPr lang="en-US" sz="3200" dirty="0">
                <a:solidFill>
                  <a:srgbClr val="FF0000"/>
                </a:solidFill>
              </a:rPr>
              <a:t>planned procedure, necessary duration, and patient </a:t>
            </a:r>
            <a:r>
              <a:rPr lang="en-US" sz="3200" dirty="0" smtClean="0">
                <a:solidFill>
                  <a:srgbClr val="FF0000"/>
                </a:solidFill>
              </a:rPr>
              <a:t>characteristics</a:t>
            </a:r>
            <a:r>
              <a:rPr lang="en-US" sz="2800" dirty="0" smtClean="0"/>
              <a:t>.</a:t>
            </a:r>
            <a:endParaRPr lang="en-US" sz="2800" dirty="0"/>
          </a:p>
        </p:txBody>
      </p:sp>
    </p:spTree>
    <p:extLst>
      <p:ext uri="{BB962C8B-B14F-4D97-AF65-F5344CB8AC3E}">
        <p14:creationId xmlns:p14="http://schemas.microsoft.com/office/powerpoint/2010/main" val="87458212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Topical anesthesia </a:t>
            </a:r>
            <a:endParaRPr lang="en-US" dirty="0"/>
          </a:p>
        </p:txBody>
      </p:sp>
      <p:sp>
        <p:nvSpPr>
          <p:cNvPr id="3" name="Content Placeholder 2"/>
          <p:cNvSpPr>
            <a:spLocks noGrp="1"/>
          </p:cNvSpPr>
          <p:nvPr>
            <p:ph idx="1"/>
          </p:nvPr>
        </p:nvSpPr>
        <p:spPr/>
        <p:txBody>
          <a:bodyPr>
            <a:normAutofit/>
          </a:bodyPr>
          <a:lstStyle/>
          <a:p>
            <a:r>
              <a:rPr lang="en-US" sz="2800" dirty="0"/>
              <a:t>Topical anesthesia is a relatively fast and simple technique that provides superficial anesthesia </a:t>
            </a:r>
            <a:r>
              <a:rPr lang="en-US" sz="2800" dirty="0">
                <a:solidFill>
                  <a:srgbClr val="FF0000"/>
                </a:solidFill>
              </a:rPr>
              <a:t>without the potential hazards of </a:t>
            </a:r>
            <a:r>
              <a:rPr lang="en-US" sz="2800" dirty="0" smtClean="0">
                <a:solidFill>
                  <a:srgbClr val="FF0000"/>
                </a:solidFill>
              </a:rPr>
              <a:t>injections.</a:t>
            </a:r>
            <a:endParaRPr lang="en-US" sz="2800" dirty="0">
              <a:solidFill>
                <a:srgbClr val="FF0000"/>
              </a:solidFill>
            </a:endParaRPr>
          </a:p>
        </p:txBody>
      </p:sp>
    </p:spTree>
    <p:extLst>
      <p:ext uri="{BB962C8B-B14F-4D97-AF65-F5344CB8AC3E}">
        <p14:creationId xmlns:p14="http://schemas.microsoft.com/office/powerpoint/2010/main" val="215030006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Subconjunctival Anesthesia </a:t>
            </a:r>
            <a:endParaRPr lang="en-US" dirty="0"/>
          </a:p>
        </p:txBody>
      </p:sp>
      <p:sp>
        <p:nvSpPr>
          <p:cNvPr id="3" name="Content Placeholder 2"/>
          <p:cNvSpPr>
            <a:spLocks noGrp="1"/>
          </p:cNvSpPr>
          <p:nvPr>
            <p:ph idx="1"/>
          </p:nvPr>
        </p:nvSpPr>
        <p:spPr/>
        <p:txBody>
          <a:bodyPr>
            <a:normAutofit/>
          </a:bodyPr>
          <a:lstStyle/>
          <a:p>
            <a:r>
              <a:rPr lang="en-US" sz="2800" dirty="0" smtClean="0"/>
              <a:t>Subconjunctival </a:t>
            </a:r>
            <a:r>
              <a:rPr lang="en-US" sz="2800" dirty="0"/>
              <a:t>injection of local anesthesia involves </a:t>
            </a:r>
            <a:r>
              <a:rPr lang="en-US" sz="3200" dirty="0">
                <a:solidFill>
                  <a:srgbClr val="FF0000"/>
                </a:solidFill>
              </a:rPr>
              <a:t>direct infiltration of anesthetic under the </a:t>
            </a:r>
            <a:r>
              <a:rPr lang="en-US" sz="3200" dirty="0" smtClean="0">
                <a:solidFill>
                  <a:srgbClr val="FF0000"/>
                </a:solidFill>
              </a:rPr>
              <a:t>conjunctiva.</a:t>
            </a:r>
            <a:endParaRPr lang="en-US" sz="3200" dirty="0">
              <a:solidFill>
                <a:srgbClr val="FF0000"/>
              </a:solidFill>
            </a:endParaRPr>
          </a:p>
        </p:txBody>
      </p:sp>
    </p:spTree>
    <p:extLst>
      <p:ext uri="{BB962C8B-B14F-4D97-AF65-F5344CB8AC3E}">
        <p14:creationId xmlns:p14="http://schemas.microsoft.com/office/powerpoint/2010/main" val="314319299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 </a:t>
            </a:r>
            <a:endParaRPr lang="en-US" dirty="0"/>
          </a:p>
        </p:txBody>
      </p:sp>
      <p:sp>
        <p:nvSpPr>
          <p:cNvPr id="3" name="Content Placeholder 2"/>
          <p:cNvSpPr>
            <a:spLocks noGrp="1"/>
          </p:cNvSpPr>
          <p:nvPr>
            <p:ph idx="1"/>
          </p:nvPr>
        </p:nvSpPr>
        <p:spPr/>
        <p:txBody>
          <a:bodyPr>
            <a:normAutofit/>
          </a:bodyPr>
          <a:lstStyle/>
          <a:p>
            <a:r>
              <a:rPr lang="en-US" sz="2800" dirty="0"/>
              <a:t>The disadvantages of regional nerve block include </a:t>
            </a:r>
            <a:r>
              <a:rPr lang="en-US" sz="2800" dirty="0">
                <a:solidFill>
                  <a:srgbClr val="FF0000"/>
                </a:solidFill>
              </a:rPr>
              <a:t>pain with injection, the need for patient cooperation, and the risks associated with the injection technique and medication. Injection of any substance carries a risk of an allergic reaction, overdose, medication-specific side effects, bleeding, infection, and tissue damage. </a:t>
            </a:r>
            <a:r>
              <a:rPr lang="en-US" sz="2800" dirty="0"/>
              <a:t>The more proximal the local anesthesia is injected to the nerve root and other important anatomical structures, the higher the risk of significant adverse </a:t>
            </a:r>
            <a:r>
              <a:rPr lang="en-US" sz="2800" dirty="0" smtClean="0"/>
              <a:t>reaction.</a:t>
            </a:r>
            <a:endParaRPr lang="en-US" sz="2800" dirty="0"/>
          </a:p>
        </p:txBody>
      </p:sp>
    </p:spTree>
    <p:extLst>
      <p:ext uri="{BB962C8B-B14F-4D97-AF65-F5344CB8AC3E}">
        <p14:creationId xmlns:p14="http://schemas.microsoft.com/office/powerpoint/2010/main" val="275208000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Precautions </a:t>
            </a:r>
            <a:endParaRPr lang="en-US" dirty="0"/>
          </a:p>
        </p:txBody>
      </p:sp>
      <p:sp>
        <p:nvSpPr>
          <p:cNvPr id="3" name="Content Placeholder 2"/>
          <p:cNvSpPr>
            <a:spLocks noGrp="1"/>
          </p:cNvSpPr>
          <p:nvPr>
            <p:ph idx="1"/>
          </p:nvPr>
        </p:nvSpPr>
        <p:spPr/>
        <p:txBody>
          <a:bodyPr/>
          <a:lstStyle/>
          <a:p>
            <a:pPr marL="0" indent="0">
              <a:buNone/>
            </a:pPr>
            <a:r>
              <a:rPr lang="en-US" dirty="0"/>
              <a:t>All regional blocks should be done with the following precautions as standard: </a:t>
            </a:r>
          </a:p>
          <a:p>
            <a:r>
              <a:rPr lang="en-US" dirty="0"/>
              <a:t>patient monitored (BP/ECG/SATs),</a:t>
            </a:r>
          </a:p>
          <a:p>
            <a:r>
              <a:rPr lang="en-US" dirty="0"/>
              <a:t>iv access </a:t>
            </a:r>
            <a:r>
              <a:rPr lang="en-US" dirty="0" smtClean="0"/>
              <a:t>established</a:t>
            </a:r>
          </a:p>
          <a:p>
            <a:r>
              <a:rPr lang="en-US" dirty="0"/>
              <a:t>with trained </a:t>
            </a:r>
            <a:r>
              <a:rPr lang="en-US" dirty="0" smtClean="0"/>
              <a:t>assistance, an </a:t>
            </a:r>
            <a:r>
              <a:rPr lang="en-US" dirty="0"/>
              <a:t>anesthetist available,</a:t>
            </a:r>
          </a:p>
          <a:p>
            <a:endParaRPr lang="en-US" dirty="0"/>
          </a:p>
        </p:txBody>
      </p:sp>
    </p:spTree>
    <p:extLst>
      <p:ext uri="{BB962C8B-B14F-4D97-AF65-F5344CB8AC3E}">
        <p14:creationId xmlns:p14="http://schemas.microsoft.com/office/powerpoint/2010/main" val="1195143854"/>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oxygen </a:t>
            </a:r>
            <a:r>
              <a:rPr lang="en-US" dirty="0"/>
              <a:t>and suction,</a:t>
            </a:r>
          </a:p>
          <a:p>
            <a:r>
              <a:rPr lang="en-US" dirty="0"/>
              <a:t>anesthetic machine and intubation equipment</a:t>
            </a:r>
          </a:p>
          <a:p>
            <a:r>
              <a:rPr lang="en-US" dirty="0"/>
              <a:t>emergency drugs (adrenalin, atropine, </a:t>
            </a:r>
            <a:r>
              <a:rPr lang="en-US" dirty="0" err="1"/>
              <a:t>suxamethonium</a:t>
            </a:r>
            <a:r>
              <a:rPr lang="en-US" dirty="0"/>
              <a:t>).</a:t>
            </a:r>
          </a:p>
          <a:p>
            <a:endParaRPr lang="en-US" dirty="0"/>
          </a:p>
          <a:p>
            <a:endParaRPr lang="en-US" dirty="0"/>
          </a:p>
        </p:txBody>
      </p:sp>
    </p:spTree>
    <p:extLst>
      <p:ext uri="{BB962C8B-B14F-4D97-AF65-F5344CB8AC3E}">
        <p14:creationId xmlns:p14="http://schemas.microsoft.com/office/powerpoint/2010/main" val="260677811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Indications </a:t>
            </a:r>
            <a:endParaRPr lang="en-US" dirty="0"/>
          </a:p>
        </p:txBody>
      </p:sp>
      <p:sp>
        <p:nvSpPr>
          <p:cNvPr id="3" name="Content Placeholder 2"/>
          <p:cNvSpPr>
            <a:spLocks noGrp="1"/>
          </p:cNvSpPr>
          <p:nvPr>
            <p:ph idx="1"/>
          </p:nvPr>
        </p:nvSpPr>
        <p:spPr/>
        <p:txBody>
          <a:bodyPr>
            <a:normAutofit/>
          </a:bodyPr>
          <a:lstStyle/>
          <a:p>
            <a:r>
              <a:rPr lang="en-US" sz="2800" dirty="0"/>
              <a:t>A wide variety of indications exist for local and regional anesthesia in ophthalmic surgery. Anatomical location and procedure length are important to consider when deciding the most appropriate anesthetic </a:t>
            </a:r>
            <a:r>
              <a:rPr lang="en-US" sz="2800" dirty="0" smtClean="0"/>
              <a:t>course.</a:t>
            </a:r>
            <a:endParaRPr lang="en-US" sz="2800" dirty="0"/>
          </a:p>
        </p:txBody>
      </p:sp>
    </p:spTree>
    <p:extLst>
      <p:ext uri="{BB962C8B-B14F-4D97-AF65-F5344CB8AC3E}">
        <p14:creationId xmlns:p14="http://schemas.microsoft.com/office/powerpoint/2010/main" val="58533962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t>General indications include but are not limited to:</a:t>
            </a:r>
          </a:p>
          <a:p>
            <a:pPr lvl="0"/>
            <a:r>
              <a:rPr lang="en-US" sz="2400" dirty="0"/>
              <a:t>Intraocular surgery</a:t>
            </a:r>
          </a:p>
          <a:p>
            <a:pPr lvl="0"/>
            <a:r>
              <a:rPr lang="en-US" sz="2400" dirty="0" err="1"/>
              <a:t>Periocular</a:t>
            </a:r>
            <a:r>
              <a:rPr lang="en-US" sz="2400" dirty="0"/>
              <a:t> surgery</a:t>
            </a:r>
          </a:p>
          <a:p>
            <a:pPr lvl="0"/>
            <a:r>
              <a:rPr lang="en-US" sz="2400" dirty="0" err="1"/>
              <a:t>Oculoplastic</a:t>
            </a:r>
            <a:r>
              <a:rPr lang="en-US" sz="2400" dirty="0"/>
              <a:t>, lacrimal, and sinus surgery</a:t>
            </a:r>
          </a:p>
          <a:p>
            <a:pPr lvl="0"/>
            <a:r>
              <a:rPr lang="en-US" sz="2400" dirty="0"/>
              <a:t>Facial reconstruction</a:t>
            </a:r>
          </a:p>
          <a:p>
            <a:pPr lvl="0"/>
            <a:r>
              <a:rPr lang="en-US" sz="2400" dirty="0" smtClean="0"/>
              <a:t>Migraine.</a:t>
            </a:r>
          </a:p>
          <a:p>
            <a:pPr lvl="0"/>
            <a:r>
              <a:rPr lang="en-US" sz="2400" dirty="0"/>
              <a:t>Primary and secondary neuralgia</a:t>
            </a:r>
          </a:p>
          <a:p>
            <a:pPr lvl="0"/>
            <a:r>
              <a:rPr lang="en-US" sz="2400" dirty="0"/>
              <a:t>Dermatologic procedures</a:t>
            </a:r>
          </a:p>
          <a:p>
            <a:pPr lvl="0"/>
            <a:endParaRPr lang="en-US" sz="2400" dirty="0" smtClean="0"/>
          </a:p>
          <a:p>
            <a:pPr lvl="0"/>
            <a:endParaRPr lang="en-US" sz="3200" dirty="0"/>
          </a:p>
        </p:txBody>
      </p:sp>
    </p:spTree>
    <p:extLst>
      <p:ext uri="{BB962C8B-B14F-4D97-AF65-F5344CB8AC3E}">
        <p14:creationId xmlns:p14="http://schemas.microsoft.com/office/powerpoint/2010/main" val="14048293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Contraindications </a:t>
            </a:r>
            <a:endParaRPr lang="en-US" dirty="0"/>
          </a:p>
        </p:txBody>
      </p:sp>
      <p:sp>
        <p:nvSpPr>
          <p:cNvPr id="3" name="Content Placeholder 2"/>
          <p:cNvSpPr>
            <a:spLocks noGrp="1"/>
          </p:cNvSpPr>
          <p:nvPr>
            <p:ph idx="1"/>
          </p:nvPr>
        </p:nvSpPr>
        <p:spPr/>
        <p:txBody>
          <a:bodyPr>
            <a:normAutofit lnSpcReduction="10000"/>
          </a:bodyPr>
          <a:lstStyle/>
          <a:p>
            <a:r>
              <a:rPr lang="en-US" b="1" dirty="0"/>
              <a:t>Absolute</a:t>
            </a:r>
            <a:endParaRPr lang="en-US" dirty="0"/>
          </a:p>
          <a:p>
            <a:pPr lvl="0"/>
            <a:r>
              <a:rPr lang="en-US" dirty="0"/>
              <a:t>Patient refusal</a:t>
            </a:r>
          </a:p>
          <a:p>
            <a:pPr lvl="0"/>
            <a:r>
              <a:rPr lang="en-US" dirty="0"/>
              <a:t>Allergy to anesthetic</a:t>
            </a:r>
          </a:p>
          <a:p>
            <a:r>
              <a:rPr lang="en-US" b="1" dirty="0"/>
              <a:t>Relative</a:t>
            </a:r>
            <a:endParaRPr lang="en-US" dirty="0"/>
          </a:p>
          <a:p>
            <a:pPr lvl="0"/>
            <a:r>
              <a:rPr lang="en-US" dirty="0"/>
              <a:t>Open globe</a:t>
            </a:r>
          </a:p>
          <a:p>
            <a:pPr lvl="0"/>
            <a:r>
              <a:rPr lang="en-US" dirty="0"/>
              <a:t>Local infection</a:t>
            </a:r>
          </a:p>
          <a:p>
            <a:pPr lvl="0"/>
            <a:r>
              <a:rPr lang="en-US" dirty="0"/>
              <a:t>Distorted anatomy (traumatic, post-surgical, or due to underlying disease)</a:t>
            </a:r>
          </a:p>
          <a:p>
            <a:pPr lvl="0"/>
            <a:r>
              <a:rPr lang="en-US" dirty="0"/>
              <a:t>Bleeding or clotting disorders</a:t>
            </a:r>
          </a:p>
          <a:p>
            <a:pPr lvl="0"/>
            <a:r>
              <a:rPr lang="en-US" dirty="0"/>
              <a:t>Poor patient cooperation</a:t>
            </a:r>
          </a:p>
        </p:txBody>
      </p:sp>
    </p:spTree>
    <p:extLst>
      <p:ext uri="{BB962C8B-B14F-4D97-AF65-F5344CB8AC3E}">
        <p14:creationId xmlns:p14="http://schemas.microsoft.com/office/powerpoint/2010/main" val="189077873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Innervations </a:t>
            </a:r>
            <a:endParaRPr lang="en-US" dirty="0"/>
          </a:p>
        </p:txBody>
      </p:sp>
      <p:sp>
        <p:nvSpPr>
          <p:cNvPr id="3" name="Content Placeholder 2"/>
          <p:cNvSpPr>
            <a:spLocks noGrp="1"/>
          </p:cNvSpPr>
          <p:nvPr>
            <p:ph idx="1"/>
          </p:nvPr>
        </p:nvSpPr>
        <p:spPr/>
        <p:txBody>
          <a:bodyPr/>
          <a:lstStyle/>
          <a:p>
            <a:r>
              <a:rPr lang="en-US" dirty="0"/>
              <a:t>Sensory –via trigeminal</a:t>
            </a:r>
          </a:p>
          <a:p>
            <a:r>
              <a:rPr lang="en-US" dirty="0"/>
              <a:t>Motor-via III IV VI&amp;VII cranial nerves</a:t>
            </a:r>
          </a:p>
          <a:p>
            <a:endParaRPr lang="en-US" dirty="0"/>
          </a:p>
        </p:txBody>
      </p:sp>
    </p:spTree>
    <p:extLst>
      <p:ext uri="{BB962C8B-B14F-4D97-AF65-F5344CB8AC3E}">
        <p14:creationId xmlns:p14="http://schemas.microsoft.com/office/powerpoint/2010/main" val="2609155687"/>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Techniques </a:t>
            </a:r>
            <a:endParaRPr lang="en-US" dirty="0"/>
          </a:p>
        </p:txBody>
      </p:sp>
      <p:sp>
        <p:nvSpPr>
          <p:cNvPr id="3" name="Content Placeholder 2"/>
          <p:cNvSpPr>
            <a:spLocks noGrp="1"/>
          </p:cNvSpPr>
          <p:nvPr>
            <p:ph idx="1"/>
          </p:nvPr>
        </p:nvSpPr>
        <p:spPr/>
        <p:txBody>
          <a:bodyPr>
            <a:normAutofit fontScale="92500" lnSpcReduction="20000"/>
          </a:bodyPr>
          <a:lstStyle/>
          <a:p>
            <a:r>
              <a:rPr lang="en-US" dirty="0"/>
              <a:t>Retro bulbar block</a:t>
            </a:r>
          </a:p>
          <a:p>
            <a:r>
              <a:rPr lang="en-US" dirty="0"/>
              <a:t>Orbicularis </a:t>
            </a:r>
            <a:r>
              <a:rPr lang="en-US" dirty="0" err="1"/>
              <a:t>occuli</a:t>
            </a:r>
            <a:r>
              <a:rPr lang="en-US" dirty="0"/>
              <a:t> block</a:t>
            </a:r>
          </a:p>
          <a:p>
            <a:pPr>
              <a:buNone/>
            </a:pPr>
            <a:r>
              <a:rPr lang="en-US" dirty="0"/>
              <a:t>       approaches</a:t>
            </a:r>
          </a:p>
          <a:p>
            <a:pPr>
              <a:buNone/>
            </a:pPr>
            <a:r>
              <a:rPr lang="en-US" dirty="0"/>
              <a:t>O'Brien approach</a:t>
            </a:r>
          </a:p>
          <a:p>
            <a:pPr>
              <a:buNone/>
            </a:pPr>
            <a:r>
              <a:rPr lang="en-US" dirty="0" err="1"/>
              <a:t>Attiknson</a:t>
            </a:r>
            <a:r>
              <a:rPr lang="en-US" dirty="0"/>
              <a:t> approach</a:t>
            </a:r>
          </a:p>
          <a:p>
            <a:pPr>
              <a:buNone/>
            </a:pPr>
            <a:r>
              <a:rPr lang="en-US" dirty="0"/>
              <a:t>Van lit approach</a:t>
            </a:r>
          </a:p>
          <a:p>
            <a:pPr>
              <a:buNone/>
            </a:pPr>
            <a:endParaRPr lang="en-US" dirty="0"/>
          </a:p>
          <a:p>
            <a:r>
              <a:rPr lang="en-US" dirty="0"/>
              <a:t>Sub-</a:t>
            </a:r>
            <a:r>
              <a:rPr lang="en-US" dirty="0" err="1"/>
              <a:t>Tenons</a:t>
            </a:r>
            <a:r>
              <a:rPr lang="en-US" dirty="0"/>
              <a:t> Block</a:t>
            </a:r>
          </a:p>
          <a:p>
            <a:pPr marL="0" indent="0">
              <a:buNone/>
            </a:pPr>
            <a:endParaRPr lang="en-US" dirty="0"/>
          </a:p>
          <a:p>
            <a:r>
              <a:rPr lang="en-US" dirty="0" err="1"/>
              <a:t>Peribulbar</a:t>
            </a:r>
            <a:r>
              <a:rPr lang="en-US" dirty="0"/>
              <a:t> block</a:t>
            </a:r>
          </a:p>
          <a:p>
            <a:endParaRPr lang="en-US" dirty="0"/>
          </a:p>
        </p:txBody>
      </p:sp>
    </p:spTree>
    <p:extLst>
      <p:ext uri="{BB962C8B-B14F-4D97-AF65-F5344CB8AC3E}">
        <p14:creationId xmlns:p14="http://schemas.microsoft.com/office/powerpoint/2010/main" val="2852490335"/>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a:t>
            </a:r>
            <a:r>
              <a:rPr lang="en-US" dirty="0" err="1" smtClean="0"/>
              <a:t>tenon</a:t>
            </a:r>
            <a:r>
              <a:rPr lang="en-US" dirty="0" smtClean="0"/>
              <a:t> block </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a:t>The conjunctiva and </a:t>
            </a:r>
            <a:r>
              <a:rPr lang="en-US" dirty="0" err="1"/>
              <a:t>Tenon's</a:t>
            </a:r>
            <a:r>
              <a:rPr lang="en-US" dirty="0"/>
              <a:t> capsule are gripped 5-8mm from limbus with forceps and blunt dissection to sclera performed with blunt curved scissors.. A blunt </a:t>
            </a:r>
            <a:r>
              <a:rPr lang="en-US" dirty="0" err="1"/>
              <a:t>canula</a:t>
            </a:r>
            <a:r>
              <a:rPr lang="en-US" dirty="0"/>
              <a:t> (19-gauge, 25mm, curved) is advanced through hole and abutting the globe, past the equator (loss of resistance felt as there are folds in the capsule at this point</a:t>
            </a:r>
          </a:p>
          <a:p>
            <a:endParaRPr lang="en-US" dirty="0" smtClean="0"/>
          </a:p>
          <a:p>
            <a:endParaRPr lang="en-US" dirty="0"/>
          </a:p>
          <a:p>
            <a:r>
              <a:rPr lang="en-US" dirty="0" smtClean="0"/>
              <a:t>Local </a:t>
            </a:r>
            <a:r>
              <a:rPr lang="en-US" dirty="0" err="1"/>
              <a:t>anaesthetic</a:t>
            </a:r>
            <a:r>
              <a:rPr lang="en-US" dirty="0"/>
              <a:t> is injected (3- 5ml). Sensory block occurs rapidly as all nerves to globe cross the sub-</a:t>
            </a:r>
            <a:r>
              <a:rPr lang="en-US" dirty="0" err="1"/>
              <a:t>Tenon's</a:t>
            </a:r>
            <a:r>
              <a:rPr lang="en-US" dirty="0"/>
              <a:t> space, with </a:t>
            </a:r>
            <a:r>
              <a:rPr lang="en-US" dirty="0" err="1"/>
              <a:t>akinesia</a:t>
            </a:r>
            <a:r>
              <a:rPr lang="en-US" dirty="0"/>
              <a:t> occurring later as the local </a:t>
            </a:r>
            <a:r>
              <a:rPr lang="en-US" dirty="0" err="1"/>
              <a:t>anaesthetic</a:t>
            </a:r>
            <a:r>
              <a:rPr lang="en-US" dirty="0"/>
              <a:t> diffuses posteriorly into the </a:t>
            </a:r>
            <a:r>
              <a:rPr lang="en-US" dirty="0" err="1"/>
              <a:t>intraconal</a:t>
            </a:r>
            <a:r>
              <a:rPr lang="en-US" dirty="0"/>
              <a:t> space (as the </a:t>
            </a:r>
            <a:r>
              <a:rPr lang="en-US" dirty="0" err="1"/>
              <a:t>Tenon's</a:t>
            </a:r>
            <a:r>
              <a:rPr lang="en-US" dirty="0"/>
              <a:t> capsule is incomplete posteriorly</a:t>
            </a:r>
          </a:p>
        </p:txBody>
      </p:sp>
    </p:spTree>
    <p:extLst>
      <p:ext uri="{BB962C8B-B14F-4D97-AF65-F5344CB8AC3E}">
        <p14:creationId xmlns:p14="http://schemas.microsoft.com/office/powerpoint/2010/main" val="545588186"/>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278" y="360609"/>
            <a:ext cx="10863796" cy="6722772"/>
          </a:xfrm>
        </p:spPr>
      </p:pic>
    </p:spTree>
    <p:extLst>
      <p:ext uri="{BB962C8B-B14F-4D97-AF65-F5344CB8AC3E}">
        <p14:creationId xmlns:p14="http://schemas.microsoft.com/office/powerpoint/2010/main" val="3832273389"/>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Sub-</a:t>
            </a:r>
            <a:r>
              <a:rPr lang="en-US" b="1" dirty="0" err="1"/>
              <a:t>Tenon</a:t>
            </a:r>
            <a:r>
              <a:rPr lang="en-US" b="1" dirty="0"/>
              <a:t> Anesthesia </a:t>
            </a:r>
            <a:endParaRPr lang="en-US" dirty="0"/>
          </a:p>
          <a:p>
            <a:r>
              <a:rPr lang="en-US" dirty="0"/>
              <a:t>Sub-</a:t>
            </a:r>
            <a:r>
              <a:rPr lang="en-US" dirty="0" err="1"/>
              <a:t>Tenon</a:t>
            </a:r>
            <a:r>
              <a:rPr lang="en-US" dirty="0"/>
              <a:t> anesthesia involves the injection of local anesthetic into </a:t>
            </a:r>
            <a:r>
              <a:rPr lang="en-US" dirty="0">
                <a:solidFill>
                  <a:srgbClr val="FF0000"/>
                </a:solidFill>
              </a:rPr>
              <a:t>the potential space between the </a:t>
            </a:r>
            <a:r>
              <a:rPr lang="en-US" dirty="0" err="1">
                <a:solidFill>
                  <a:srgbClr val="FF0000"/>
                </a:solidFill>
              </a:rPr>
              <a:t>Tenon</a:t>
            </a:r>
            <a:r>
              <a:rPr lang="en-US" dirty="0">
                <a:solidFill>
                  <a:srgbClr val="FF0000"/>
                </a:solidFill>
              </a:rPr>
              <a:t> capsule and the sclera. The </a:t>
            </a:r>
            <a:r>
              <a:rPr lang="en-US" dirty="0" err="1">
                <a:solidFill>
                  <a:srgbClr val="FF0000"/>
                </a:solidFill>
              </a:rPr>
              <a:t>inferonasal</a:t>
            </a:r>
            <a:r>
              <a:rPr lang="en-US" dirty="0">
                <a:solidFill>
                  <a:srgbClr val="FF0000"/>
                </a:solidFill>
              </a:rPr>
              <a:t> conjunctival fornix is the site most commonly utilized for injection to avoid encountering the insertion of the medial rectus or inferior oblique muscles. Anterior or posterior injection techniques may be used to accomplish sub-</a:t>
            </a:r>
            <a:r>
              <a:rPr lang="en-US" dirty="0" err="1">
                <a:solidFill>
                  <a:srgbClr val="FF0000"/>
                </a:solidFill>
              </a:rPr>
              <a:t>Tenon</a:t>
            </a:r>
            <a:r>
              <a:rPr lang="en-US" dirty="0">
                <a:solidFill>
                  <a:srgbClr val="FF0000"/>
                </a:solidFill>
              </a:rPr>
              <a:t> anesthesia</a:t>
            </a:r>
            <a:r>
              <a:rPr lang="en-US" dirty="0"/>
              <a:t>. Anterior injections are performed superficially just beyond the equator using low volumes (3 to 5 ml) of anesthetic. In contrast, posterior injections provide more anesthetic into the posterior intra- and </a:t>
            </a:r>
            <a:r>
              <a:rPr lang="en-US" dirty="0" err="1"/>
              <a:t>extraconal</a:t>
            </a:r>
            <a:r>
              <a:rPr lang="en-US" dirty="0"/>
              <a:t> spaces; this allows for smaller volumes of anesthetic with a lower risk of </a:t>
            </a:r>
            <a:r>
              <a:rPr lang="en-US" dirty="0" err="1"/>
              <a:t>chemosis</a:t>
            </a:r>
            <a:endParaRPr lang="en-US" dirty="0"/>
          </a:p>
        </p:txBody>
      </p:sp>
    </p:spTree>
    <p:extLst>
      <p:ext uri="{BB962C8B-B14F-4D97-AF65-F5344CB8AC3E}">
        <p14:creationId xmlns:p14="http://schemas.microsoft.com/office/powerpoint/2010/main" val="3583706474"/>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Complications </a:t>
            </a:r>
            <a:endParaRPr lang="en-US" dirty="0"/>
          </a:p>
        </p:txBody>
      </p:sp>
      <p:sp>
        <p:nvSpPr>
          <p:cNvPr id="3" name="Content Placeholder 2"/>
          <p:cNvSpPr>
            <a:spLocks noGrp="1"/>
          </p:cNvSpPr>
          <p:nvPr>
            <p:ph idx="1"/>
          </p:nvPr>
        </p:nvSpPr>
        <p:spPr/>
        <p:txBody>
          <a:bodyPr/>
          <a:lstStyle/>
          <a:p>
            <a:pPr marL="0" indent="0">
              <a:buNone/>
            </a:pPr>
            <a:endParaRPr lang="en-US" b="1" dirty="0"/>
          </a:p>
          <a:p>
            <a:r>
              <a:rPr lang="en-US" dirty="0"/>
              <a:t>Failure (due to back flow of LA).</a:t>
            </a:r>
          </a:p>
          <a:p>
            <a:r>
              <a:rPr lang="en-US" dirty="0"/>
              <a:t>sub-conjunctival </a:t>
            </a:r>
            <a:r>
              <a:rPr lang="en-US" dirty="0" err="1"/>
              <a:t>haemorrhage</a:t>
            </a:r>
            <a:endParaRPr lang="en-US" dirty="0"/>
          </a:p>
          <a:p>
            <a:r>
              <a:rPr lang="en-US" dirty="0"/>
              <a:t>raised intra-orbital pressure.</a:t>
            </a:r>
          </a:p>
          <a:p>
            <a:r>
              <a:rPr lang="en-US" dirty="0"/>
              <a:t>globe trauma (particularly if previous </a:t>
            </a:r>
            <a:r>
              <a:rPr lang="en-US" dirty="0" err="1"/>
              <a:t>vitreo</a:t>
            </a:r>
            <a:r>
              <a:rPr lang="en-US" dirty="0"/>
              <a:t>-retinal surgery,</a:t>
            </a:r>
          </a:p>
          <a:p>
            <a:r>
              <a:rPr lang="en-US" dirty="0" err="1"/>
              <a:t>retrobulbar</a:t>
            </a:r>
            <a:r>
              <a:rPr lang="en-US" dirty="0"/>
              <a:t> </a:t>
            </a:r>
            <a:r>
              <a:rPr lang="en-US" dirty="0" err="1"/>
              <a:t>haemorrhage</a:t>
            </a:r>
            <a:r>
              <a:rPr lang="en-US" dirty="0"/>
              <a:t>.</a:t>
            </a:r>
          </a:p>
          <a:p>
            <a:r>
              <a:rPr lang="en-US" dirty="0"/>
              <a:t>Deep posterior dissection risks central spread of LA.</a:t>
            </a:r>
          </a:p>
          <a:p>
            <a:endParaRPr lang="en-US" dirty="0"/>
          </a:p>
        </p:txBody>
      </p:sp>
    </p:spTree>
    <p:extLst>
      <p:ext uri="{BB962C8B-B14F-4D97-AF65-F5344CB8AC3E}">
        <p14:creationId xmlns:p14="http://schemas.microsoft.com/office/powerpoint/2010/main" val="2152720328"/>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u="sng" dirty="0">
                <a:solidFill>
                  <a:srgbClr val="990000"/>
                </a:solidFill>
              </a:rPr>
              <a:t>FACIAL NERVE BLOCK</a:t>
            </a:r>
            <a:br>
              <a:rPr lang="en-GB" b="1" i="1" u="sng" dirty="0">
                <a:solidFill>
                  <a:srgbClr val="990000"/>
                </a:solidFill>
              </a:rPr>
            </a:br>
            <a:endParaRPr lang="en-US" dirty="0"/>
          </a:p>
        </p:txBody>
      </p:sp>
      <p:sp>
        <p:nvSpPr>
          <p:cNvPr id="3" name="Content Placeholder 2"/>
          <p:cNvSpPr>
            <a:spLocks noGrp="1"/>
          </p:cNvSpPr>
          <p:nvPr>
            <p:ph idx="1"/>
          </p:nvPr>
        </p:nvSpPr>
        <p:spPr/>
        <p:txBody>
          <a:bodyPr/>
          <a:lstStyle/>
          <a:p>
            <a:r>
              <a:rPr lang="en-GB" dirty="0" smtClean="0"/>
              <a:t>A </a:t>
            </a:r>
            <a:r>
              <a:rPr lang="en-GB" dirty="0"/>
              <a:t>facial nerve block prevents squinting of the eyelids during surgery and allows placement of a lid speculum. </a:t>
            </a:r>
          </a:p>
          <a:p>
            <a:r>
              <a:rPr lang="en-GB" dirty="0"/>
              <a:t>There are several techniques of facial nerve block: </a:t>
            </a:r>
          </a:p>
          <a:p>
            <a:pPr>
              <a:buFontTx/>
              <a:buNone/>
            </a:pPr>
            <a:r>
              <a:rPr lang="en-GB" dirty="0"/>
              <a:t>           van Lint, Atkinson, and O’Brien </a:t>
            </a:r>
          </a:p>
          <a:p>
            <a:pPr>
              <a:buFontTx/>
              <a:buNone/>
            </a:pPr>
            <a:r>
              <a:rPr lang="en-GB" dirty="0"/>
              <a:t> </a:t>
            </a:r>
          </a:p>
          <a:p>
            <a:endParaRPr lang="en-US" dirty="0"/>
          </a:p>
        </p:txBody>
      </p:sp>
    </p:spTree>
    <p:extLst>
      <p:ext uri="{BB962C8B-B14F-4D97-AF65-F5344CB8AC3E}">
        <p14:creationId xmlns:p14="http://schemas.microsoft.com/office/powerpoint/2010/main" val="2738439976"/>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u="sng" dirty="0">
                <a:solidFill>
                  <a:srgbClr val="990000"/>
                </a:solidFill>
              </a:rPr>
              <a:t>Complication</a:t>
            </a:r>
            <a:endParaRPr lang="en-US" dirty="0"/>
          </a:p>
        </p:txBody>
      </p:sp>
      <p:sp>
        <p:nvSpPr>
          <p:cNvPr id="3" name="Content Placeholder 2"/>
          <p:cNvSpPr>
            <a:spLocks noGrp="1"/>
          </p:cNvSpPr>
          <p:nvPr>
            <p:ph idx="1"/>
          </p:nvPr>
        </p:nvSpPr>
        <p:spPr/>
        <p:txBody>
          <a:bodyPr/>
          <a:lstStyle/>
          <a:p>
            <a:pPr>
              <a:buFontTx/>
              <a:buNone/>
            </a:pPr>
            <a:r>
              <a:rPr lang="en-GB" dirty="0" smtClean="0"/>
              <a:t> </a:t>
            </a:r>
            <a:endParaRPr lang="en-GB" dirty="0"/>
          </a:p>
          <a:p>
            <a:pPr>
              <a:buFontTx/>
              <a:buNone/>
            </a:pPr>
            <a:r>
              <a:rPr lang="en-GB" dirty="0"/>
              <a:t>       subcutaneous </a:t>
            </a:r>
            <a:r>
              <a:rPr lang="en-GB" dirty="0" smtClean="0"/>
              <a:t>haemorrhage.</a:t>
            </a:r>
            <a:endParaRPr lang="en-GB" dirty="0"/>
          </a:p>
          <a:p>
            <a:pPr>
              <a:buFontTx/>
              <a:buNone/>
            </a:pPr>
            <a:r>
              <a:rPr lang="en-GB" dirty="0"/>
              <a:t>       vocal cord paralysis</a:t>
            </a:r>
          </a:p>
          <a:p>
            <a:pPr>
              <a:buFontTx/>
              <a:buNone/>
            </a:pPr>
            <a:r>
              <a:rPr lang="en-GB" dirty="0"/>
              <a:t>       laryngospasm</a:t>
            </a:r>
          </a:p>
          <a:p>
            <a:pPr>
              <a:buFontTx/>
              <a:buNone/>
            </a:pPr>
            <a:r>
              <a:rPr lang="en-GB" dirty="0"/>
              <a:t>       dysphagia </a:t>
            </a:r>
          </a:p>
          <a:p>
            <a:pPr>
              <a:buFontTx/>
              <a:buNone/>
            </a:pPr>
            <a:r>
              <a:rPr lang="en-GB" dirty="0"/>
              <a:t>       respiratory </a:t>
            </a:r>
            <a:r>
              <a:rPr lang="en-GB" dirty="0" err="1"/>
              <a:t>distres</a:t>
            </a:r>
            <a:endParaRPr lang="en-US" dirty="0"/>
          </a:p>
        </p:txBody>
      </p:sp>
    </p:spTree>
    <p:extLst>
      <p:ext uri="{BB962C8B-B14F-4D97-AF65-F5344CB8AC3E}">
        <p14:creationId xmlns:p14="http://schemas.microsoft.com/office/powerpoint/2010/main" val="4265225624"/>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Obrien approach </a:t>
            </a:r>
            <a:endParaRPr lang="en-US" dirty="0"/>
          </a:p>
        </p:txBody>
      </p:sp>
      <p:sp>
        <p:nvSpPr>
          <p:cNvPr id="3" name="Content Placeholder 2"/>
          <p:cNvSpPr>
            <a:spLocks noGrp="1"/>
          </p:cNvSpPr>
          <p:nvPr>
            <p:ph idx="1"/>
          </p:nvPr>
        </p:nvSpPr>
        <p:spPr/>
        <p:txBody>
          <a:bodyPr/>
          <a:lstStyle/>
          <a:p>
            <a:r>
              <a:rPr lang="en-US" dirty="0"/>
              <a:t>Blocks branches as they pass superficial to the condyloid process of the mandible</a:t>
            </a:r>
          </a:p>
          <a:p>
            <a:endParaRPr lang="en-US" dirty="0"/>
          </a:p>
        </p:txBody>
      </p:sp>
      <p:pic>
        <p:nvPicPr>
          <p:cNvPr id="4" name="Content Placeholder 3"/>
          <p:cNvPicPr>
            <a:picLocks noChangeAspect="1" noChangeArrowheads="1"/>
          </p:cNvPicPr>
          <p:nvPr/>
        </p:nvPicPr>
        <p:blipFill>
          <a:blip r:embed="rId2"/>
          <a:stretch>
            <a:fillRect/>
          </a:stretch>
        </p:blipFill>
        <p:spPr>
          <a:xfrm>
            <a:off x="2686617" y="2897746"/>
            <a:ext cx="2992892" cy="3614671"/>
          </a:xfrm>
          <a:prstGeom prst="rect">
            <a:avLst/>
          </a:prstGeom>
        </p:spPr>
      </p:pic>
    </p:spTree>
    <p:extLst>
      <p:ext uri="{BB962C8B-B14F-4D97-AF65-F5344CB8AC3E}">
        <p14:creationId xmlns:p14="http://schemas.microsoft.com/office/powerpoint/2010/main" val="2945834808"/>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Atkinson approach </a:t>
            </a:r>
            <a:endParaRPr lang="en-US" dirty="0"/>
          </a:p>
        </p:txBody>
      </p:sp>
      <p:sp>
        <p:nvSpPr>
          <p:cNvPr id="3" name="Content Placeholder 2"/>
          <p:cNvSpPr>
            <a:spLocks noGrp="1"/>
          </p:cNvSpPr>
          <p:nvPr>
            <p:ph idx="1"/>
          </p:nvPr>
        </p:nvSpPr>
        <p:spPr/>
        <p:txBody>
          <a:bodyPr/>
          <a:lstStyle/>
          <a:p>
            <a:r>
              <a:rPr lang="en-US" dirty="0"/>
              <a:t>Blocks branches at their intermediate position as  they pass along </a:t>
            </a:r>
            <a:r>
              <a:rPr lang="en-US" dirty="0" err="1"/>
              <a:t>zygoma</a:t>
            </a:r>
            <a:endParaRPr lang="en-US" dirty="0"/>
          </a:p>
          <a:p>
            <a:pPr marL="0" indent="0">
              <a:buNone/>
            </a:pPr>
            <a:endParaRPr lang="en-US" dirty="0"/>
          </a:p>
        </p:txBody>
      </p:sp>
    </p:spTree>
    <p:extLst>
      <p:ext uri="{BB962C8B-B14F-4D97-AF65-F5344CB8AC3E}">
        <p14:creationId xmlns:p14="http://schemas.microsoft.com/office/powerpoint/2010/main" val="1507019614"/>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Vanlit</a:t>
            </a:r>
            <a:r>
              <a:rPr lang="en-US" dirty="0" smtClean="0"/>
              <a:t> approach </a:t>
            </a:r>
            <a:endParaRPr lang="en-US" dirty="0"/>
          </a:p>
        </p:txBody>
      </p:sp>
      <p:sp>
        <p:nvSpPr>
          <p:cNvPr id="3" name="Content Placeholder 2"/>
          <p:cNvSpPr>
            <a:spLocks noGrp="1"/>
          </p:cNvSpPr>
          <p:nvPr>
            <p:ph idx="1"/>
          </p:nvPr>
        </p:nvSpPr>
        <p:spPr/>
        <p:txBody>
          <a:bodyPr/>
          <a:lstStyle/>
          <a:p>
            <a:r>
              <a:rPr lang="en-US" dirty="0"/>
              <a:t>Blocks branches at their termination along the orbital margin</a:t>
            </a:r>
          </a:p>
          <a:p>
            <a:endParaRPr lang="en-US" dirty="0"/>
          </a:p>
        </p:txBody>
      </p:sp>
    </p:spTree>
    <p:extLst>
      <p:ext uri="{BB962C8B-B14F-4D97-AF65-F5344CB8AC3E}">
        <p14:creationId xmlns:p14="http://schemas.microsoft.com/office/powerpoint/2010/main" val="1341450696"/>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Drug dosage </a:t>
            </a:r>
            <a:endParaRPr lang="en-US" dirty="0"/>
          </a:p>
        </p:txBody>
      </p:sp>
      <p:sp>
        <p:nvSpPr>
          <p:cNvPr id="3" name="Content Placeholder 2"/>
          <p:cNvSpPr>
            <a:spLocks noGrp="1"/>
          </p:cNvSpPr>
          <p:nvPr>
            <p:ph idx="1"/>
          </p:nvPr>
        </p:nvSpPr>
        <p:spPr/>
        <p:txBody>
          <a:bodyPr/>
          <a:lstStyle/>
          <a:p>
            <a:r>
              <a:rPr lang="en-US" dirty="0"/>
              <a:t>For orbicularis </a:t>
            </a:r>
            <a:r>
              <a:rPr lang="en-US" dirty="0" err="1"/>
              <a:t>occuli</a:t>
            </a:r>
            <a:r>
              <a:rPr lang="en-US" dirty="0"/>
              <a:t> block –</a:t>
            </a:r>
            <a:r>
              <a:rPr lang="en-US" dirty="0" err="1"/>
              <a:t>lidociane</a:t>
            </a:r>
            <a:r>
              <a:rPr lang="en-US" dirty="0"/>
              <a:t> 2% 5-10ml </a:t>
            </a:r>
          </a:p>
          <a:p>
            <a:r>
              <a:rPr lang="en-US" dirty="0"/>
              <a:t>For RBB-lidocaine 2% with or with out adrenalin 4ml</a:t>
            </a:r>
          </a:p>
          <a:p>
            <a:endParaRPr lang="en-US" dirty="0"/>
          </a:p>
        </p:txBody>
      </p:sp>
    </p:spTree>
    <p:extLst>
      <p:ext uri="{BB962C8B-B14F-4D97-AF65-F5344CB8AC3E}">
        <p14:creationId xmlns:p14="http://schemas.microsoft.com/office/powerpoint/2010/main" val="3126974005"/>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Retro bulbar block </a:t>
            </a:r>
            <a:endParaRPr lang="en-US" dirty="0"/>
          </a:p>
        </p:txBody>
      </p:sp>
      <p:sp>
        <p:nvSpPr>
          <p:cNvPr id="3" name="Content Placeholder 2"/>
          <p:cNvSpPr>
            <a:spLocks noGrp="1"/>
          </p:cNvSpPr>
          <p:nvPr>
            <p:ph idx="1"/>
          </p:nvPr>
        </p:nvSpPr>
        <p:spPr/>
        <p:txBody>
          <a:bodyPr/>
          <a:lstStyle/>
          <a:p>
            <a:r>
              <a:rPr lang="en-US" dirty="0"/>
              <a:t>Injecting LA solutions into extra ocular muscle cone posterior to the globe of the </a:t>
            </a:r>
            <a:r>
              <a:rPr lang="en-US" dirty="0" smtClean="0"/>
              <a:t>eye Junction </a:t>
            </a:r>
            <a:r>
              <a:rPr lang="en-US" dirty="0"/>
              <a:t>of lower third with middle third</a:t>
            </a:r>
          </a:p>
          <a:p>
            <a:endParaRPr lang="en-US" dirty="0" smtClean="0"/>
          </a:p>
          <a:p>
            <a:endParaRPr lang="en-US" dirty="0"/>
          </a:p>
        </p:txBody>
      </p:sp>
      <p:pic>
        <p:nvPicPr>
          <p:cNvPr id="4" name="Content Placeholder 3"/>
          <p:cNvPicPr>
            <a:picLocks noChangeAspect="1" noChangeArrowheads="1"/>
          </p:cNvPicPr>
          <p:nvPr/>
        </p:nvPicPr>
        <p:blipFill>
          <a:blip r:embed="rId2"/>
          <a:stretch>
            <a:fillRect/>
          </a:stretch>
        </p:blipFill>
        <p:spPr>
          <a:xfrm>
            <a:off x="919074" y="2979917"/>
            <a:ext cx="6631010" cy="4195762"/>
          </a:xfrm>
          <a:prstGeom prst="rect">
            <a:avLst/>
          </a:prstGeom>
        </p:spPr>
      </p:pic>
    </p:spTree>
    <p:extLst>
      <p:ext uri="{BB962C8B-B14F-4D97-AF65-F5344CB8AC3E}">
        <p14:creationId xmlns:p14="http://schemas.microsoft.com/office/powerpoint/2010/main" val="1153707308"/>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78039" y="425003"/>
            <a:ext cx="8190963" cy="6432997"/>
          </a:xfrm>
        </p:spPr>
      </p:pic>
    </p:spTree>
    <p:extLst>
      <p:ext uri="{BB962C8B-B14F-4D97-AF65-F5344CB8AC3E}">
        <p14:creationId xmlns:p14="http://schemas.microsoft.com/office/powerpoint/2010/main" val="396683068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Preparation </a:t>
            </a:r>
            <a:endParaRPr lang="en-US" dirty="0"/>
          </a:p>
        </p:txBody>
      </p:sp>
      <p:sp>
        <p:nvSpPr>
          <p:cNvPr id="3" name="Content Placeholder 2"/>
          <p:cNvSpPr>
            <a:spLocks noGrp="1"/>
          </p:cNvSpPr>
          <p:nvPr>
            <p:ph idx="1"/>
          </p:nvPr>
        </p:nvSpPr>
        <p:spPr/>
        <p:txBody>
          <a:bodyPr/>
          <a:lstStyle/>
          <a:p>
            <a:r>
              <a:rPr lang="en-US" sz="2800" dirty="0" smtClean="0">
                <a:solidFill>
                  <a:srgbClr val="FF0000"/>
                </a:solidFill>
              </a:rPr>
              <a:t>1.Informed </a:t>
            </a:r>
            <a:r>
              <a:rPr lang="en-US" sz="2800" dirty="0">
                <a:solidFill>
                  <a:srgbClr val="FF0000"/>
                </a:solidFill>
              </a:rPr>
              <a:t>consent, including discussing risks, benefits, and alternatives</a:t>
            </a:r>
            <a:r>
              <a:rPr lang="en-US" sz="2800" dirty="0"/>
              <a:t>, is an essential step prior to any procedure. </a:t>
            </a:r>
            <a:endParaRPr lang="en-US" sz="2800" dirty="0" smtClean="0"/>
          </a:p>
          <a:p>
            <a:r>
              <a:rPr lang="en-US" sz="2800" dirty="0" smtClean="0">
                <a:solidFill>
                  <a:srgbClr val="FF0000"/>
                </a:solidFill>
              </a:rPr>
              <a:t>2.Anatomical </a:t>
            </a:r>
            <a:r>
              <a:rPr lang="en-US" sz="2800" dirty="0">
                <a:solidFill>
                  <a:srgbClr val="FF0000"/>
                </a:solidFill>
              </a:rPr>
              <a:t>landmarks should be evaluated before starting the procedure</a:t>
            </a:r>
            <a:r>
              <a:rPr lang="en-US" sz="2800" dirty="0"/>
              <a:t>, with special attention to potential challenges and complications. </a:t>
            </a:r>
            <a:endParaRPr lang="en-US" sz="2800" dirty="0" smtClean="0"/>
          </a:p>
          <a:p>
            <a:r>
              <a:rPr lang="en-US" sz="2800" dirty="0" smtClean="0">
                <a:solidFill>
                  <a:srgbClr val="FF0000"/>
                </a:solidFill>
              </a:rPr>
              <a:t>3.Required </a:t>
            </a:r>
            <a:r>
              <a:rPr lang="en-US" sz="2800" dirty="0">
                <a:solidFill>
                  <a:srgbClr val="FF0000"/>
                </a:solidFill>
              </a:rPr>
              <a:t>equipment </a:t>
            </a:r>
            <a:r>
              <a:rPr lang="en-US" sz="2800" dirty="0"/>
              <a:t>should be collected and organized, </a:t>
            </a:r>
            <a:endParaRPr lang="en-US" sz="2800" dirty="0" smtClean="0"/>
          </a:p>
          <a:p>
            <a:r>
              <a:rPr lang="en-US" sz="2800" dirty="0" smtClean="0"/>
              <a:t>4. </a:t>
            </a:r>
            <a:r>
              <a:rPr lang="en-US" sz="2800" dirty="0"/>
              <a:t>T</a:t>
            </a:r>
            <a:r>
              <a:rPr lang="en-US" sz="2800" dirty="0" smtClean="0"/>
              <a:t>he </a:t>
            </a:r>
            <a:r>
              <a:rPr lang="en-US" sz="2800" dirty="0">
                <a:solidFill>
                  <a:srgbClr val="FF0000"/>
                </a:solidFill>
              </a:rPr>
              <a:t>location of the procedure </a:t>
            </a:r>
            <a:r>
              <a:rPr lang="en-US" sz="2800" dirty="0"/>
              <a:t>should be confirmed and marked. </a:t>
            </a:r>
          </a:p>
          <a:p>
            <a:endParaRPr lang="en-US" dirty="0"/>
          </a:p>
        </p:txBody>
      </p:sp>
    </p:spTree>
    <p:extLst>
      <p:ext uri="{BB962C8B-B14F-4D97-AF65-F5344CB8AC3E}">
        <p14:creationId xmlns:p14="http://schemas.microsoft.com/office/powerpoint/2010/main" val="227355779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Equipment for </a:t>
            </a:r>
            <a:r>
              <a:rPr lang="en-US" b="1" dirty="0"/>
              <a:t>Retrobulbar Block</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lvl="0"/>
            <a:r>
              <a:rPr lang="en-US" sz="2800" dirty="0" err="1" smtClean="0"/>
              <a:t>Povidone</a:t>
            </a:r>
            <a:r>
              <a:rPr lang="en-US" sz="2800" dirty="0" smtClean="0"/>
              <a:t>-iodine </a:t>
            </a:r>
            <a:r>
              <a:rPr lang="en-US" sz="2800" dirty="0"/>
              <a:t>5% ophthalmic preparation</a:t>
            </a:r>
          </a:p>
          <a:p>
            <a:pPr lvl="0"/>
            <a:r>
              <a:rPr lang="en-US" sz="2800" dirty="0"/>
              <a:t>Topical anesthetic drops (e.g. </a:t>
            </a:r>
            <a:r>
              <a:rPr lang="en-US" sz="2800" dirty="0" err="1"/>
              <a:t>proparacaine</a:t>
            </a:r>
            <a:r>
              <a:rPr lang="en-US" sz="2800" dirty="0"/>
              <a:t> hydrochloride 0.5%, </a:t>
            </a:r>
            <a:r>
              <a:rPr lang="en-US" sz="2800" dirty="0" err="1"/>
              <a:t>tetracaine</a:t>
            </a:r>
            <a:r>
              <a:rPr lang="en-US" sz="2800" dirty="0"/>
              <a:t> hydrochloride 0.5%)</a:t>
            </a:r>
          </a:p>
          <a:p>
            <a:pPr lvl="0"/>
            <a:r>
              <a:rPr lang="en-US" sz="2800" dirty="0"/>
              <a:t>Anesthetic agent (generally without epinephrine in seeing eyes, as it may cause vasoconstriction with resultant central retinal artery occlusion and irreversible loss of vision)</a:t>
            </a:r>
          </a:p>
          <a:p>
            <a:endParaRPr lang="en-US" dirty="0"/>
          </a:p>
          <a:p>
            <a:pPr lvl="0"/>
            <a:endParaRPr lang="en-US" dirty="0"/>
          </a:p>
        </p:txBody>
      </p:sp>
    </p:spTree>
    <p:extLst>
      <p:ext uri="{BB962C8B-B14F-4D97-AF65-F5344CB8AC3E}">
        <p14:creationId xmlns:p14="http://schemas.microsoft.com/office/powerpoint/2010/main" val="75164074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sz="2800" dirty="0"/>
              <a:t>Sterile gauze</a:t>
            </a:r>
          </a:p>
          <a:p>
            <a:pPr lvl="0"/>
            <a:r>
              <a:rPr lang="en-US" sz="2800" dirty="0"/>
              <a:t>Syringe: 5 to 10 mL</a:t>
            </a:r>
          </a:p>
          <a:p>
            <a:pPr lvl="0"/>
            <a:r>
              <a:rPr lang="en-US" sz="2800" dirty="0"/>
              <a:t>Needle: 23 to 25 gauge, 30 to 38 mm in length</a:t>
            </a:r>
          </a:p>
          <a:p>
            <a:r>
              <a:rPr lang="en-US" sz="2800" dirty="0"/>
              <a:t>Local anesthesthetic (lidocaine 2% with or with out adrenalin 4ml)</a:t>
            </a:r>
          </a:p>
        </p:txBody>
      </p:sp>
    </p:spTree>
    <p:extLst>
      <p:ext uri="{BB962C8B-B14F-4D97-AF65-F5344CB8AC3E}">
        <p14:creationId xmlns:p14="http://schemas.microsoft.com/office/powerpoint/2010/main" val="235471652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Users\Admin\Desktop\alternativesretrobulbarblockeyesugery-1024x953.jpeg"/>
          <p:cNvPicPr>
            <a:picLocks noGrp="1"/>
          </p:cNvPicPr>
          <p:nvPr>
            <p:ph idx="1"/>
          </p:nvPr>
        </p:nvPicPr>
        <p:blipFill>
          <a:blip r:embed="rId2"/>
          <a:srcRect/>
          <a:stretch>
            <a:fillRect/>
          </a:stretch>
        </p:blipFill>
        <p:spPr bwMode="auto">
          <a:xfrm>
            <a:off x="1197734" y="141667"/>
            <a:ext cx="8087933" cy="6478073"/>
          </a:xfrm>
          <a:prstGeom prst="rect">
            <a:avLst/>
          </a:prstGeom>
          <a:noFill/>
          <a:ln w="9525">
            <a:noFill/>
            <a:miter lim="800000"/>
            <a:headEnd/>
            <a:tailEnd/>
          </a:ln>
        </p:spPr>
      </p:pic>
    </p:spTree>
    <p:extLst>
      <p:ext uri="{BB962C8B-B14F-4D97-AF65-F5344CB8AC3E}">
        <p14:creationId xmlns:p14="http://schemas.microsoft.com/office/powerpoint/2010/main" val="3929787339"/>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GB" b="1" i="1" u="sng" dirty="0">
                <a:solidFill>
                  <a:srgbClr val="990000"/>
                </a:solidFill>
              </a:rPr>
              <a:t>Complications</a:t>
            </a:r>
          </a:p>
          <a:p>
            <a:pPr>
              <a:buNone/>
            </a:pPr>
            <a:r>
              <a:rPr lang="en-GB" dirty="0"/>
              <a:t>           </a:t>
            </a:r>
            <a:r>
              <a:rPr lang="en-GB" dirty="0" err="1"/>
              <a:t>retrobulbar</a:t>
            </a:r>
            <a:r>
              <a:rPr lang="en-GB" dirty="0"/>
              <a:t> </a:t>
            </a:r>
            <a:r>
              <a:rPr lang="en-GB" dirty="0" err="1"/>
              <a:t>hemorrhage</a:t>
            </a:r>
            <a:endParaRPr lang="en-GB" dirty="0"/>
          </a:p>
          <a:p>
            <a:pPr>
              <a:buNone/>
            </a:pPr>
            <a:r>
              <a:rPr lang="en-GB" dirty="0"/>
              <a:t>           globe perforation</a:t>
            </a:r>
          </a:p>
          <a:p>
            <a:pPr>
              <a:buNone/>
            </a:pPr>
            <a:r>
              <a:rPr lang="en-GB" dirty="0"/>
              <a:t>           optic nerve atrophy</a:t>
            </a:r>
          </a:p>
          <a:p>
            <a:pPr>
              <a:buNone/>
            </a:pPr>
            <a:r>
              <a:rPr lang="en-GB" dirty="0"/>
              <a:t>           frank convulsions</a:t>
            </a:r>
          </a:p>
          <a:p>
            <a:pPr>
              <a:buNone/>
            </a:pPr>
            <a:r>
              <a:rPr lang="en-GB" dirty="0"/>
              <a:t>           </a:t>
            </a:r>
            <a:r>
              <a:rPr lang="en-GB" dirty="0" err="1"/>
              <a:t>oculocardiac</a:t>
            </a:r>
            <a:r>
              <a:rPr lang="en-GB" dirty="0"/>
              <a:t> reflex</a:t>
            </a:r>
          </a:p>
          <a:p>
            <a:pPr>
              <a:buNone/>
            </a:pPr>
            <a:r>
              <a:rPr lang="en-GB" dirty="0"/>
              <a:t>           acute neurogenic pulmonary </a:t>
            </a:r>
            <a:r>
              <a:rPr lang="en-GB" dirty="0" err="1"/>
              <a:t>edema</a:t>
            </a:r>
            <a:endParaRPr lang="en-GB" dirty="0"/>
          </a:p>
          <a:p>
            <a:pPr>
              <a:buNone/>
            </a:pPr>
            <a:r>
              <a:rPr lang="en-GB" dirty="0"/>
              <a:t>           trigeminal nerve block</a:t>
            </a:r>
          </a:p>
          <a:p>
            <a:pPr>
              <a:buNone/>
            </a:pPr>
            <a:r>
              <a:rPr lang="en-GB" dirty="0"/>
              <a:t>           respiratory arrest.  </a:t>
            </a:r>
          </a:p>
          <a:p>
            <a:endParaRPr lang="en-US" dirty="0"/>
          </a:p>
          <a:p>
            <a:endParaRPr lang="en-US" dirty="0"/>
          </a:p>
        </p:txBody>
      </p:sp>
    </p:spTree>
    <p:extLst>
      <p:ext uri="{BB962C8B-B14F-4D97-AF65-F5344CB8AC3E}">
        <p14:creationId xmlns:p14="http://schemas.microsoft.com/office/powerpoint/2010/main" val="3928354823"/>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Object 2"/>
          <p:cNvGraphicFramePr>
            <a:graphicFrameLocks noGrp="1" noChangeAspect="1"/>
          </p:cNvGraphicFramePr>
          <p:nvPr>
            <p:ph idx="1"/>
            <p:extLst>
              <p:ext uri="{D42A27DB-BD31-4B8C-83A1-F6EECF244321}">
                <p14:modId xmlns:p14="http://schemas.microsoft.com/office/powerpoint/2010/main" val="3656674442"/>
              </p:ext>
            </p:extLst>
          </p:nvPr>
        </p:nvGraphicFramePr>
        <p:xfrm>
          <a:off x="3357076" y="2286000"/>
          <a:ext cx="5053985" cy="4022725"/>
        </p:xfrm>
        <a:graphic>
          <a:graphicData uri="http://schemas.openxmlformats.org/presentationml/2006/ole">
            <mc:AlternateContent xmlns:mc="http://schemas.openxmlformats.org/markup-compatibility/2006">
              <mc:Choice xmlns:v="urn:schemas-microsoft-com:vml" Requires="v">
                <p:oleObj spid="_x0000_s2218" name="Document" r:id="rId3" imgW="5959920" imgH="4743311" progId="Word.Document.12">
                  <p:embed/>
                </p:oleObj>
              </mc:Choice>
              <mc:Fallback>
                <p:oleObj name="Document" r:id="rId3" imgW="5959920" imgH="4743311" progId="Word.Document.1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7076" y="2286000"/>
                        <a:ext cx="5053985" cy="402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82261553"/>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 </a:t>
            </a:r>
            <a:endParaRPr lang="en-US" dirty="0"/>
          </a:p>
        </p:txBody>
      </p:sp>
      <p:pic>
        <p:nvPicPr>
          <p:cNvPr id="5" name="Picture 2"/>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rot="21392751">
            <a:off x="2104941" y="2119916"/>
            <a:ext cx="6454412" cy="42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6681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 </a:t>
            </a:r>
            <a:endParaRPr lang="en-US" dirty="0"/>
          </a:p>
        </p:txBody>
      </p:sp>
      <p:pic>
        <p:nvPicPr>
          <p:cNvPr id="4" name="Content Placeholder 3"/>
          <p:cNvPicPr>
            <a:picLocks noGrp="1" noChangeAspect="1" noChangeArrowheads="1"/>
          </p:cNvPicPr>
          <p:nvPr>
            <p:ph idx="1"/>
          </p:nvPr>
        </p:nvPicPr>
        <p:blipFill>
          <a:blip r:embed="rId2"/>
          <a:srcRect/>
          <a:stretch>
            <a:fillRect/>
          </a:stretch>
        </p:blipFill>
        <p:spPr>
          <a:xfrm>
            <a:off x="3477553" y="1107582"/>
            <a:ext cx="4314165" cy="4906851"/>
          </a:xfrm>
        </p:spPr>
      </p:pic>
    </p:spTree>
    <p:extLst>
      <p:ext uri="{BB962C8B-B14F-4D97-AF65-F5344CB8AC3E}">
        <p14:creationId xmlns:p14="http://schemas.microsoft.com/office/powerpoint/2010/main" val="176630292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2510</TotalTime>
  <Words>5704</Words>
  <Application>Microsoft Office PowerPoint</Application>
  <PresentationFormat>Widescreen</PresentationFormat>
  <Paragraphs>800</Paragraphs>
  <Slides>184</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184</vt:i4>
      </vt:variant>
    </vt:vector>
  </HeadingPairs>
  <TitlesOfParts>
    <vt:vector size="192" baseType="lpstr">
      <vt:lpstr>Calibri</vt:lpstr>
      <vt:lpstr>Times New Roman</vt:lpstr>
      <vt:lpstr>Tw Cen MT</vt:lpstr>
      <vt:lpstr>Tw Cen MT Condensed</vt:lpstr>
      <vt:lpstr>Wingdings</vt:lpstr>
      <vt:lpstr>Wingdings 3</vt:lpstr>
      <vt:lpstr>Integral</vt:lpstr>
      <vt:lpstr>Document</vt:lpstr>
      <vt:lpstr>   Ophthalmic Anesthesia 2025/26     </vt:lpstr>
      <vt:lpstr>Objectives </vt:lpstr>
      <vt:lpstr>Introduction </vt:lpstr>
      <vt:lpstr>Indications of regional techniques </vt:lpstr>
      <vt:lpstr>Patient preparation before regional anesthesia </vt:lpstr>
      <vt:lpstr>Axial length </vt:lpstr>
      <vt:lpstr>Key concepts in ophthalmology </vt:lpstr>
      <vt:lpstr>Key concept </vt:lpstr>
      <vt:lpstr>Key concept </vt:lpstr>
      <vt:lpstr>PowerPoint Presentation</vt:lpstr>
      <vt:lpstr>Key concept </vt:lpstr>
      <vt:lpstr>Monitored anesthesia care </vt:lpstr>
      <vt:lpstr>Anesthesia for ophthalmic surgery </vt:lpstr>
      <vt:lpstr>Anesthesia for Ophthalmic surgery </vt:lpstr>
      <vt:lpstr>Requirements for ophthalmic surgery </vt:lpstr>
      <vt:lpstr>Requirements for intraocular procedures </vt:lpstr>
      <vt:lpstr>Requirements for extrocular procedures </vt:lpstr>
      <vt:lpstr>General evaluation </vt:lpstr>
      <vt:lpstr>PowerPoint Presentation</vt:lpstr>
      <vt:lpstr>PowerPoint Presentation</vt:lpstr>
      <vt:lpstr>History </vt:lpstr>
      <vt:lpstr>PowerPoint Presentation</vt:lpstr>
      <vt:lpstr>PowerPoint Presentation</vt:lpstr>
      <vt:lpstr>PowerPoint Presentation</vt:lpstr>
      <vt:lpstr>Physical Examination </vt:lpstr>
      <vt:lpstr>Pre-Operative Tests</vt:lpstr>
      <vt:lpstr>Ophthalmic Considerations</vt:lpstr>
      <vt:lpstr>Axial Length of the Eye</vt:lpstr>
      <vt:lpstr>Position </vt:lpstr>
      <vt:lpstr>Intra ocular pressure </vt:lpstr>
      <vt:lpstr>PowerPoint Presentation</vt:lpstr>
      <vt:lpstr>Blood supply to the eye </vt:lpstr>
      <vt:lpstr>PowerPoint Presentation</vt:lpstr>
      <vt:lpstr>PowerPoint Presentation</vt:lpstr>
      <vt:lpstr>Innervation of the eye </vt:lpstr>
      <vt:lpstr>III /IV /VI Nerves </vt:lpstr>
      <vt:lpstr>Sensory innervation </vt:lpstr>
      <vt:lpstr>Eye muscles </vt:lpstr>
      <vt:lpstr>Formation of retinal images </vt:lpstr>
      <vt:lpstr>PowerPoint Presentation</vt:lpstr>
      <vt:lpstr>PowerPoint Presentation</vt:lpstr>
      <vt:lpstr>PowerPoint Presentation</vt:lpstr>
      <vt:lpstr>Neuronal pathway for pupilary reaction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of visual pathways </vt:lpstr>
      <vt:lpstr>Fluid system of the eye </vt:lpstr>
      <vt:lpstr>PowerPoint Presentation</vt:lpstr>
      <vt:lpstr>Chambers </vt:lpstr>
      <vt:lpstr>Posterior cavity </vt:lpstr>
      <vt:lpstr>Types of fluids </vt:lpstr>
      <vt:lpstr>Viterious </vt:lpstr>
      <vt:lpstr>Formation and drainage </vt:lpstr>
      <vt:lpstr>PowerPoint Presentation</vt:lpstr>
      <vt:lpstr>PowerPoint Presentation</vt:lpstr>
      <vt:lpstr>Out flow </vt:lpstr>
      <vt:lpstr>PowerPoint Presentation</vt:lpstr>
      <vt:lpstr>PowerPoint Presentation</vt:lpstr>
      <vt:lpstr>PowerPoint Presentation</vt:lpstr>
      <vt:lpstr>Conclusion </vt:lpstr>
      <vt:lpstr>PowerPoint Presentation</vt:lpstr>
      <vt:lpstr>Factors influencing IOP </vt:lpstr>
      <vt:lpstr>Orbit </vt:lpstr>
      <vt:lpstr>Fontana's space </vt:lpstr>
      <vt:lpstr>space of Fontana</vt:lpstr>
      <vt:lpstr>Events that alter intraocular pressure </vt:lpstr>
      <vt:lpstr>The Effect of Drugs and Agents  on Ophthalmic Anesthesia </vt:lpstr>
      <vt:lpstr>Influencing factors cont”d</vt:lpstr>
      <vt:lpstr>Terminology to be familiar in ophthalmology </vt:lpstr>
      <vt:lpstr>PowerPoint Presentation</vt:lpstr>
      <vt:lpstr>PowerPoint Presentation</vt:lpstr>
      <vt:lpstr>PowerPoint Presentation</vt:lpstr>
      <vt:lpstr>Strabismus surgery concerns </vt:lpstr>
      <vt:lpstr>OculO cardiac reflex </vt:lpstr>
      <vt:lpstr>PowerPoint Presentation</vt:lpstr>
      <vt:lpstr>Manifestations </vt:lpstr>
      <vt:lpstr>Manifested during </vt:lpstr>
      <vt:lpstr>PowerPoint Presentation</vt:lpstr>
      <vt:lpstr>Management </vt:lpstr>
      <vt:lpstr>Anesthesia for different ophthalmic procedures unique concerns and basic requirements</vt:lpstr>
      <vt:lpstr>Anesthesia for intraocular procedures </vt:lpstr>
      <vt:lpstr>Events that alter IOP</vt:lpstr>
      <vt:lpstr>Increase </vt:lpstr>
      <vt:lpstr>Anesthetic events that alter IOP</vt:lpstr>
      <vt:lpstr>Inhalation agents </vt:lpstr>
      <vt:lpstr>PowerPoint Presentation</vt:lpstr>
      <vt:lpstr>PowerPoint Presentation</vt:lpstr>
      <vt:lpstr>Formation of glaucoma </vt:lpstr>
      <vt:lpstr>Anesthesia for Glaucoma patients </vt:lpstr>
      <vt:lpstr>Types of glaucoma </vt:lpstr>
      <vt:lpstr>Anesthetic management for glaucoma </vt:lpstr>
      <vt:lpstr>PowerPoint Presentation</vt:lpstr>
      <vt:lpstr>Extubation of glaucoma patients </vt:lpstr>
      <vt:lpstr>Interaction of Topical ophthalmic drugs </vt:lpstr>
      <vt:lpstr>miotic drugs</vt:lpstr>
      <vt:lpstr>Pilocarpine </vt:lpstr>
      <vt:lpstr>PowerPoint Presentation</vt:lpstr>
      <vt:lpstr>Carbacol /physiostigmine/echothiophate </vt:lpstr>
      <vt:lpstr>Echothiopate </vt:lpstr>
      <vt:lpstr>Echothiophate Iodide (Phosplzolfne Iodide)</vt:lpstr>
      <vt:lpstr>Acetylcholine </vt:lpstr>
      <vt:lpstr>Epinephrine </vt:lpstr>
      <vt:lpstr>PowerPoint Presentation</vt:lpstr>
      <vt:lpstr>Timolol </vt:lpstr>
      <vt:lpstr>Acetazolamide </vt:lpstr>
      <vt:lpstr>Glycerin /urea /mannitol</vt:lpstr>
      <vt:lpstr>Blood volume auto regulated </vt:lpstr>
      <vt:lpstr>Venous pressure </vt:lpstr>
      <vt:lpstr>End tidal Co2</vt:lpstr>
      <vt:lpstr>Mydriatrics </vt:lpstr>
      <vt:lpstr>Phenylephrine </vt:lpstr>
      <vt:lpstr>Cyclo pentolate </vt:lpstr>
      <vt:lpstr>Atropine </vt:lpstr>
      <vt:lpstr>Scopolamine </vt:lpstr>
      <vt:lpstr>Introcular gas exchanges </vt:lpstr>
      <vt:lpstr>Anesthetic agents </vt:lpstr>
      <vt:lpstr>Summary </vt:lpstr>
      <vt:lpstr>Anesthesia for open eye injury </vt:lpstr>
      <vt:lpstr>Why risk of blindness </vt:lpstr>
      <vt:lpstr>Anesthetic technique </vt:lpstr>
      <vt:lpstr>Induction plan </vt:lpstr>
      <vt:lpstr>PowerPoint Presentation</vt:lpstr>
      <vt:lpstr>Retinal surgery </vt:lpstr>
      <vt:lpstr>Patient population </vt:lpstr>
      <vt:lpstr>Types of surgery to fix detached retina</vt:lpstr>
      <vt:lpstr>Three types of retinal detachment </vt:lpstr>
      <vt:lpstr>Requirements </vt:lpstr>
      <vt:lpstr>Cause of retinal detachment </vt:lpstr>
      <vt:lpstr>In geriatrics and adults </vt:lpstr>
      <vt:lpstr>Anesthetic management</vt:lpstr>
      <vt:lpstr>Expander gases </vt:lpstr>
      <vt:lpstr>PowerPoint Presentation</vt:lpstr>
      <vt:lpstr>Complications of retinal surgery </vt:lpstr>
      <vt:lpstr>Ophthalmic pediatrics surgery </vt:lpstr>
      <vt:lpstr>PowerPoint Presentation</vt:lpstr>
      <vt:lpstr>PowerPoint Presentation</vt:lpstr>
      <vt:lpstr>PowerPoint Presentation</vt:lpstr>
      <vt:lpstr>PowerPoint Presentation</vt:lpstr>
      <vt:lpstr>PowerPoint Presentation</vt:lpstr>
      <vt:lpstr>PowerPoint Presentation</vt:lpstr>
      <vt:lpstr>Exentration surgery </vt:lpstr>
      <vt:lpstr>Anesthesia for exentration preoperative preparation  </vt:lpstr>
      <vt:lpstr>PowerPoint Presentation</vt:lpstr>
      <vt:lpstr>Technique </vt:lpstr>
      <vt:lpstr>Regional anesthesia in ophthalmology </vt:lpstr>
      <vt:lpstr>Selection criteria </vt:lpstr>
      <vt:lpstr>Topical anesthesia </vt:lpstr>
      <vt:lpstr>Subconjunctival Anesthesia </vt:lpstr>
      <vt:lpstr>Disadvantage </vt:lpstr>
      <vt:lpstr>Precautions </vt:lpstr>
      <vt:lpstr>PowerPoint Presentation</vt:lpstr>
      <vt:lpstr>Indications </vt:lpstr>
      <vt:lpstr>PowerPoint Presentation</vt:lpstr>
      <vt:lpstr>Contraindications </vt:lpstr>
      <vt:lpstr>Innervations </vt:lpstr>
      <vt:lpstr>Techniques </vt:lpstr>
      <vt:lpstr>Sub-tenon block </vt:lpstr>
      <vt:lpstr>PowerPoint Presentation</vt:lpstr>
      <vt:lpstr>PowerPoint Presentation</vt:lpstr>
      <vt:lpstr>Complications </vt:lpstr>
      <vt:lpstr>FACIAL NERVE BLOCK </vt:lpstr>
      <vt:lpstr>Complication</vt:lpstr>
      <vt:lpstr>Obrien approach </vt:lpstr>
      <vt:lpstr>Atkinson approach </vt:lpstr>
      <vt:lpstr>Vanlit approach </vt:lpstr>
      <vt:lpstr>Drug dosage </vt:lpstr>
      <vt:lpstr>Retro bulbar block </vt:lpstr>
      <vt:lpstr>PowerPoint Presentation</vt:lpstr>
      <vt:lpstr>Preparation </vt:lpstr>
      <vt:lpstr>Equipment for Retrobulbar Block </vt:lpstr>
      <vt:lpstr>PowerPoint Presentation</vt:lpstr>
      <vt:lpstr>PowerPoint Presentation</vt:lpstr>
      <vt:lpstr>PowerPoint Presentation</vt:lpstr>
      <vt:lpstr>PowerPoint Presentation</vt:lpstr>
      <vt:lpstr>Thank you </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 Revision points  ENT and Opthalmic Anesthesia</dc:title>
  <dc:creator>My</dc:creator>
  <cp:lastModifiedBy>My</cp:lastModifiedBy>
  <cp:revision>243</cp:revision>
  <dcterms:created xsi:type="dcterms:W3CDTF">2020-11-01T11:25:59Z</dcterms:created>
  <dcterms:modified xsi:type="dcterms:W3CDTF">2025-11-16T03:27:55Z</dcterms:modified>
</cp:coreProperties>
</file>