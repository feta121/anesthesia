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67"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12/13/2025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12/13/2025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12/13/2025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12/13/2025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https://www.facebook.com/sharer.php?u=https://www.hanslaserus.com/knowledge/advantages-disadvantages-and-applications-of-different-types-of-lasers/"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Anesthesia for </a:t>
            </a:r>
            <a:r>
              <a:rPr lang="en-US" dirty="0" err="1"/>
              <a:t>ent</a:t>
            </a:r>
            <a:r>
              <a:rPr lang="en-US" dirty="0"/>
              <a:t> and maxillofacial surgery </a:t>
            </a:r>
          </a:p>
        </p:txBody>
      </p:sp>
      <p:sp>
        <p:nvSpPr>
          <p:cNvPr id="3" name="Subtitle 2"/>
          <p:cNvSpPr>
            <a:spLocks noGrp="1"/>
          </p:cNvSpPr>
          <p:nvPr>
            <p:ph type="subTitle" idx="1"/>
          </p:nvPr>
        </p:nvSpPr>
        <p:spPr/>
        <p:txBody>
          <a:bodyPr/>
          <a:lstStyle/>
          <a:p>
            <a:r>
              <a:rPr lang="en-US" dirty="0" err="1" smtClean="0"/>
              <a:t>Leulayehu</a:t>
            </a:r>
            <a:r>
              <a:rPr lang="en-US" dirty="0" smtClean="0"/>
              <a:t> </a:t>
            </a:r>
            <a:r>
              <a:rPr lang="en-US" dirty="0" err="1" smtClean="0"/>
              <a:t>akalu</a:t>
            </a:r>
            <a:r>
              <a:rPr lang="en-US" dirty="0" smtClean="0"/>
              <a:t> (</a:t>
            </a:r>
            <a:r>
              <a:rPr lang="en-US" dirty="0" err="1" smtClean="0"/>
              <a:t>Ass.Professor</a:t>
            </a:r>
            <a:r>
              <a:rPr lang="en-US" dirty="0" smtClean="0"/>
              <a:t> )</a:t>
            </a:r>
            <a:endParaRPr lang="en-US" dirty="0"/>
          </a:p>
        </p:txBody>
      </p:sp>
    </p:spTree>
    <p:extLst>
      <p:ext uri="{BB962C8B-B14F-4D97-AF65-F5344CB8AC3E}">
        <p14:creationId xmlns:p14="http://schemas.microsoft.com/office/powerpoint/2010/main" val="3853502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a:t>
            </a:r>
            <a:r>
              <a:rPr lang="en-US" dirty="0" err="1" smtClean="0"/>
              <a:t>ent</a:t>
            </a:r>
            <a:r>
              <a:rPr lang="en-US" dirty="0" smtClean="0"/>
              <a:t> and maxillofacial surgery </a:t>
            </a:r>
            <a:endParaRPr lang="en-US" dirty="0"/>
          </a:p>
        </p:txBody>
      </p:sp>
      <p:pic>
        <p:nvPicPr>
          <p:cNvPr id="4" name="Content Placeholder 7" descr="ts4.jpg"/>
          <p:cNvPicPr>
            <a:picLocks noGrp="1" noChangeAspect="1"/>
          </p:cNvPicPr>
          <p:nvPr>
            <p:ph idx="1"/>
          </p:nvPr>
        </p:nvPicPr>
        <p:blipFill>
          <a:blip r:embed="rId2">
            <a:extLst>
              <a:ext uri="{28A0092B-C50C-407E-A947-70E740481C1C}">
                <a14:useLocalDpi xmlns:a14="http://schemas.microsoft.com/office/drawing/2010/main" val="0"/>
              </a:ext>
            </a:extLst>
          </a:blip>
          <a:srcRect l="11185"/>
          <a:stretch>
            <a:fillRect/>
          </a:stretch>
        </p:blipFill>
        <p:spPr>
          <a:xfrm>
            <a:off x="1519707" y="2286000"/>
            <a:ext cx="8474299" cy="4022725"/>
          </a:xfrm>
        </p:spPr>
      </p:pic>
    </p:spTree>
    <p:extLst>
      <p:ext uri="{BB962C8B-B14F-4D97-AF65-F5344CB8AC3E}">
        <p14:creationId xmlns:p14="http://schemas.microsoft.com/office/powerpoint/2010/main" val="3367321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 </a:t>
            </a:r>
            <a:endParaRPr lang="en-US" dirty="0"/>
          </a:p>
        </p:txBody>
      </p:sp>
      <p:sp>
        <p:nvSpPr>
          <p:cNvPr id="3" name="Content Placeholder 2"/>
          <p:cNvSpPr>
            <a:spLocks noGrp="1"/>
          </p:cNvSpPr>
          <p:nvPr>
            <p:ph idx="1"/>
          </p:nvPr>
        </p:nvSpPr>
        <p:spPr/>
        <p:txBody>
          <a:bodyPr>
            <a:normAutofit/>
          </a:bodyPr>
          <a:lstStyle/>
          <a:p>
            <a:r>
              <a:rPr lang="en-US" sz="3200" dirty="0"/>
              <a:t>Provide safe anesthesia for ENT and Maxillofacial surgeries .</a:t>
            </a:r>
          </a:p>
          <a:p>
            <a:endParaRPr lang="en-US" sz="3200" dirty="0"/>
          </a:p>
        </p:txBody>
      </p:sp>
    </p:spTree>
    <p:extLst>
      <p:ext uri="{BB962C8B-B14F-4D97-AF65-F5344CB8AC3E}">
        <p14:creationId xmlns:p14="http://schemas.microsoft.com/office/powerpoint/2010/main" val="2682059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 </a:t>
            </a:r>
            <a:endParaRPr lang="en-US" dirty="0"/>
          </a:p>
        </p:txBody>
      </p:sp>
      <p:sp>
        <p:nvSpPr>
          <p:cNvPr id="3" name="Content Placeholder 2"/>
          <p:cNvSpPr>
            <a:spLocks noGrp="1"/>
          </p:cNvSpPr>
          <p:nvPr>
            <p:ph idx="1"/>
          </p:nvPr>
        </p:nvSpPr>
        <p:spPr/>
        <p:txBody>
          <a:bodyPr>
            <a:normAutofit/>
          </a:bodyPr>
          <a:lstStyle/>
          <a:p>
            <a:r>
              <a:rPr lang="en-US" sz="3200" dirty="0"/>
              <a:t>1.Unique challenges of ENT anesthesia for anesthetists</a:t>
            </a:r>
          </a:p>
          <a:p>
            <a:r>
              <a:rPr lang="en-US" sz="3200" dirty="0"/>
              <a:t>2.Physiologic anatomy of the ear</a:t>
            </a:r>
          </a:p>
          <a:p>
            <a:r>
              <a:rPr lang="en-US" sz="3200" dirty="0"/>
              <a:t>3.Craniofacial abnormalities  </a:t>
            </a:r>
          </a:p>
          <a:p>
            <a:r>
              <a:rPr lang="en-US" sz="3200" dirty="0"/>
              <a:t> Cleft lip and palate </a:t>
            </a:r>
          </a:p>
          <a:p>
            <a:r>
              <a:rPr lang="en-US" sz="3200" dirty="0"/>
              <a:t> </a:t>
            </a:r>
          </a:p>
        </p:txBody>
      </p:sp>
    </p:spTree>
    <p:extLst>
      <p:ext uri="{BB962C8B-B14F-4D97-AF65-F5344CB8AC3E}">
        <p14:creationId xmlns:p14="http://schemas.microsoft.com/office/powerpoint/2010/main" val="2989763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smtClean="0"/>
              <a:t>Mandibular </a:t>
            </a:r>
            <a:r>
              <a:rPr lang="en-US" sz="2800" dirty="0"/>
              <a:t>hypoplasia </a:t>
            </a:r>
          </a:p>
          <a:p>
            <a:r>
              <a:rPr lang="en-US" sz="2800" dirty="0"/>
              <a:t> </a:t>
            </a:r>
            <a:r>
              <a:rPr lang="en-US" sz="2800" dirty="0" smtClean="0"/>
              <a:t>Hypertelorism </a:t>
            </a:r>
            <a:endParaRPr lang="en-US" sz="2800" dirty="0"/>
          </a:p>
          <a:p>
            <a:r>
              <a:rPr lang="en-US" sz="2800" dirty="0"/>
              <a:t> </a:t>
            </a:r>
            <a:r>
              <a:rPr lang="en-US" sz="2800" dirty="0" smtClean="0"/>
              <a:t>4.Anesthesia </a:t>
            </a:r>
            <a:r>
              <a:rPr lang="en-US" sz="2800" dirty="0"/>
              <a:t>for sinus surgery </a:t>
            </a:r>
            <a:endParaRPr lang="en-US" sz="2800" dirty="0"/>
          </a:p>
        </p:txBody>
      </p:sp>
    </p:spTree>
    <p:extLst>
      <p:ext uri="{BB962C8B-B14F-4D97-AF65-F5344CB8AC3E}">
        <p14:creationId xmlns:p14="http://schemas.microsoft.com/office/powerpoint/2010/main" val="3096469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t>5</a:t>
            </a:r>
            <a:r>
              <a:rPr lang="en-US" sz="2800" dirty="0" smtClean="0"/>
              <a:t>. </a:t>
            </a:r>
            <a:r>
              <a:rPr lang="en-US" sz="2800" dirty="0"/>
              <a:t>Radical neck dissections </a:t>
            </a:r>
          </a:p>
          <a:p>
            <a:r>
              <a:rPr lang="en-US" sz="2800" dirty="0" smtClean="0"/>
              <a:t>6.Upper </a:t>
            </a:r>
            <a:r>
              <a:rPr lang="en-US" sz="2800" dirty="0"/>
              <a:t>respiratory tract obstructions </a:t>
            </a:r>
          </a:p>
          <a:p>
            <a:r>
              <a:rPr lang="en-US" sz="2800" dirty="0" smtClean="0"/>
              <a:t>7.Anesthesia </a:t>
            </a:r>
            <a:r>
              <a:rPr lang="en-US" sz="2800" dirty="0"/>
              <a:t>for tonsillectomy patients (Including OSA)</a:t>
            </a:r>
          </a:p>
          <a:p>
            <a:r>
              <a:rPr lang="en-US" sz="2800" dirty="0" smtClean="0"/>
              <a:t>8.Foriegn </a:t>
            </a:r>
            <a:r>
              <a:rPr lang="en-US" sz="2800" dirty="0"/>
              <a:t>body aspirations and removal </a:t>
            </a:r>
          </a:p>
          <a:p>
            <a:r>
              <a:rPr lang="en-US" sz="2800" dirty="0"/>
              <a:t>9.Maxillo facial injury</a:t>
            </a:r>
          </a:p>
          <a:p>
            <a:r>
              <a:rPr lang="en-US" sz="2800" dirty="0"/>
              <a:t>10.Summary </a:t>
            </a:r>
            <a:endParaRPr lang="en-US" sz="2800" dirty="0"/>
          </a:p>
        </p:txBody>
      </p:sp>
    </p:spTree>
    <p:extLst>
      <p:ext uri="{BB962C8B-B14F-4D97-AF65-F5344CB8AC3E}">
        <p14:creationId xmlns:p14="http://schemas.microsoft.com/office/powerpoint/2010/main" val="600418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Unique challenges of </a:t>
            </a:r>
            <a:r>
              <a:rPr lang="en-US" dirty="0" err="1"/>
              <a:t>ent</a:t>
            </a:r>
            <a:r>
              <a:rPr lang="en-US" dirty="0"/>
              <a:t> anesthesia to anesthetists </a:t>
            </a:r>
          </a:p>
        </p:txBody>
      </p:sp>
      <p:sp>
        <p:nvSpPr>
          <p:cNvPr id="3" name="Content Placeholder 2"/>
          <p:cNvSpPr>
            <a:spLocks noGrp="1"/>
          </p:cNvSpPr>
          <p:nvPr>
            <p:ph idx="1"/>
          </p:nvPr>
        </p:nvSpPr>
        <p:spPr/>
        <p:txBody>
          <a:bodyPr>
            <a:normAutofit/>
          </a:bodyPr>
          <a:lstStyle/>
          <a:p>
            <a:r>
              <a:rPr lang="en-US" sz="3200" dirty="0"/>
              <a:t>Difficult air ways (impossible to intubate)</a:t>
            </a:r>
          </a:p>
          <a:p>
            <a:r>
              <a:rPr lang="en-US" sz="3200" dirty="0"/>
              <a:t>Shared air way</a:t>
            </a:r>
          </a:p>
          <a:p>
            <a:r>
              <a:rPr lang="en-US" sz="3200" dirty="0"/>
              <a:t>Head movement is the norm</a:t>
            </a:r>
          </a:p>
          <a:p>
            <a:r>
              <a:rPr lang="en-US" sz="3200" dirty="0"/>
              <a:t>Use of laser technology</a:t>
            </a:r>
          </a:p>
          <a:p>
            <a:r>
              <a:rPr lang="en-US" sz="3200" dirty="0"/>
              <a:t>Use of microscope</a:t>
            </a:r>
          </a:p>
        </p:txBody>
      </p:sp>
    </p:spTree>
    <p:extLst>
      <p:ext uri="{BB962C8B-B14F-4D97-AF65-F5344CB8AC3E}">
        <p14:creationId xmlns:p14="http://schemas.microsoft.com/office/powerpoint/2010/main" val="27280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t>
            </a:r>
            <a:endParaRPr lang="en-US" dirty="0"/>
          </a:p>
        </p:txBody>
      </p:sp>
      <p:sp>
        <p:nvSpPr>
          <p:cNvPr id="3" name="Content Placeholder 2"/>
          <p:cNvSpPr>
            <a:spLocks noGrp="1"/>
          </p:cNvSpPr>
          <p:nvPr>
            <p:ph idx="1"/>
          </p:nvPr>
        </p:nvSpPr>
        <p:spPr/>
        <p:txBody>
          <a:bodyPr>
            <a:normAutofit/>
          </a:bodyPr>
          <a:lstStyle/>
          <a:p>
            <a:r>
              <a:rPr lang="en-US" sz="3200" dirty="0"/>
              <a:t>The </a:t>
            </a:r>
            <a:r>
              <a:rPr lang="en-US" sz="3200" dirty="0">
                <a:solidFill>
                  <a:srgbClr val="FF0000"/>
                </a:solidFill>
              </a:rPr>
              <a:t>pathology by it self such as (Ludwig’s angina, retropharyngeal, </a:t>
            </a:r>
            <a:r>
              <a:rPr lang="en-US" sz="3200" dirty="0" err="1">
                <a:solidFill>
                  <a:srgbClr val="FF0000"/>
                </a:solidFill>
              </a:rPr>
              <a:t>parapharyngeal</a:t>
            </a:r>
            <a:r>
              <a:rPr lang="en-US" sz="3200" dirty="0">
                <a:solidFill>
                  <a:srgbClr val="FF0000"/>
                </a:solidFill>
              </a:rPr>
              <a:t> abscess), acute onset of stridor, epiglottitis, </a:t>
            </a:r>
            <a:r>
              <a:rPr lang="en-US" sz="3200" dirty="0" err="1">
                <a:solidFill>
                  <a:srgbClr val="FF0000"/>
                </a:solidFill>
              </a:rPr>
              <a:t>laryngotracheobronchitis</a:t>
            </a:r>
            <a:r>
              <a:rPr lang="en-US" sz="3200" dirty="0">
                <a:solidFill>
                  <a:srgbClr val="FF0000"/>
                </a:solidFill>
              </a:rPr>
              <a:t>, inhaled foreign bodies</a:t>
            </a:r>
            <a:r>
              <a:rPr lang="en-US" sz="3200" dirty="0"/>
              <a:t>, facial injuries, etc. are a challenge to both the surgeon and the anesthetist and communication and cooperation is vital.</a:t>
            </a:r>
            <a:endParaRPr lang="en-US" sz="3200" dirty="0"/>
          </a:p>
        </p:txBody>
      </p:sp>
    </p:spTree>
    <p:extLst>
      <p:ext uri="{BB962C8B-B14F-4D97-AF65-F5344CB8AC3E}">
        <p14:creationId xmlns:p14="http://schemas.microsoft.com/office/powerpoint/2010/main" val="2749389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t>
            </a:r>
            <a:endParaRPr lang="en-US" dirty="0"/>
          </a:p>
        </p:txBody>
      </p:sp>
      <p:sp>
        <p:nvSpPr>
          <p:cNvPr id="3" name="Content Placeholder 2"/>
          <p:cNvSpPr>
            <a:spLocks noGrp="1"/>
          </p:cNvSpPr>
          <p:nvPr>
            <p:ph idx="1"/>
          </p:nvPr>
        </p:nvSpPr>
        <p:spPr/>
        <p:txBody>
          <a:bodyPr>
            <a:normAutofit/>
          </a:bodyPr>
          <a:lstStyle/>
          <a:p>
            <a:r>
              <a:rPr lang="en-US" sz="3200" dirty="0"/>
              <a:t>Congenital anomalies</a:t>
            </a:r>
          </a:p>
          <a:p>
            <a:r>
              <a:rPr lang="en-US" sz="3200" dirty="0"/>
              <a:t>Post operative air way obstruction</a:t>
            </a:r>
          </a:p>
          <a:p>
            <a:r>
              <a:rPr lang="en-US" sz="3200" dirty="0"/>
              <a:t>Good post operative analgesia</a:t>
            </a:r>
          </a:p>
          <a:p>
            <a:r>
              <a:rPr lang="en-US" sz="3200" dirty="0"/>
              <a:t>Minimal or restricted use of muscle relaxant</a:t>
            </a:r>
          </a:p>
          <a:p>
            <a:r>
              <a:rPr lang="en-US" sz="3200" dirty="0"/>
              <a:t>Presence of cancer or Tumor in the upper airway </a:t>
            </a:r>
            <a:endParaRPr lang="en-US" sz="3200" dirty="0"/>
          </a:p>
        </p:txBody>
      </p:sp>
    </p:spTree>
    <p:extLst>
      <p:ext uri="{BB962C8B-B14F-4D97-AF65-F5344CB8AC3E}">
        <p14:creationId xmlns:p14="http://schemas.microsoft.com/office/powerpoint/2010/main" val="239202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Physiologic anatomy of the ear </a:t>
            </a:r>
            <a:endParaRPr lang="en-US" dirty="0"/>
          </a:p>
        </p:txBody>
      </p:sp>
      <p:pic>
        <p:nvPicPr>
          <p:cNvPr id="4" name="Content Placeholder 3"/>
          <p:cNvPicPr>
            <a:picLocks noGrp="1"/>
          </p:cNvPicPr>
          <p:nvPr>
            <p:ph idx="1"/>
          </p:nvPr>
        </p:nvPicPr>
        <p:blipFill>
          <a:blip r:embed="rId2"/>
          <a:stretch>
            <a:fillRect/>
          </a:stretch>
        </p:blipFill>
        <p:spPr bwMode="auto">
          <a:xfrm>
            <a:off x="1609859" y="2349500"/>
            <a:ext cx="6417335" cy="3895725"/>
          </a:xfrm>
          <a:prstGeom prst="rect">
            <a:avLst/>
          </a:prstGeom>
          <a:noFill/>
          <a:ln w="9525">
            <a:noFill/>
            <a:miter lim="800000"/>
            <a:headEnd/>
            <a:tailEnd/>
          </a:ln>
        </p:spPr>
      </p:pic>
    </p:spTree>
    <p:extLst>
      <p:ext uri="{BB962C8B-B14F-4D97-AF65-F5344CB8AC3E}">
        <p14:creationId xmlns:p14="http://schemas.microsoft.com/office/powerpoint/2010/main" val="1975114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Neuronal supply to ear </a:t>
            </a:r>
            <a:endParaRPr lang="en-US" dirty="0"/>
          </a:p>
        </p:txBody>
      </p:sp>
      <p:sp>
        <p:nvSpPr>
          <p:cNvPr id="3" name="Content Placeholder 2"/>
          <p:cNvSpPr>
            <a:spLocks noGrp="1"/>
          </p:cNvSpPr>
          <p:nvPr>
            <p:ph idx="1"/>
          </p:nvPr>
        </p:nvSpPr>
        <p:spPr/>
        <p:txBody>
          <a:bodyPr>
            <a:normAutofit/>
          </a:bodyPr>
          <a:lstStyle/>
          <a:p>
            <a:r>
              <a:rPr lang="en-US" sz="3200" dirty="0"/>
              <a:t>Facial Nerve </a:t>
            </a:r>
          </a:p>
          <a:p>
            <a:r>
              <a:rPr lang="en-US" sz="3200" dirty="0"/>
              <a:t>Vestibular Nerve </a:t>
            </a:r>
          </a:p>
          <a:p>
            <a:r>
              <a:rPr lang="en-US" sz="3200" dirty="0"/>
              <a:t>Auditory Nerve </a:t>
            </a:r>
            <a:endParaRPr lang="en-US" sz="3200" dirty="0"/>
          </a:p>
        </p:txBody>
      </p:sp>
    </p:spTree>
    <p:extLst>
      <p:ext uri="{BB962C8B-B14F-4D97-AF65-F5344CB8AC3E}">
        <p14:creationId xmlns:p14="http://schemas.microsoft.com/office/powerpoint/2010/main" val="2952949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Openings in the ear </a:t>
            </a:r>
            <a:endParaRPr lang="en-US" dirty="0"/>
          </a:p>
        </p:txBody>
      </p:sp>
      <p:sp>
        <p:nvSpPr>
          <p:cNvPr id="3" name="Content Placeholder 2"/>
          <p:cNvSpPr>
            <a:spLocks noGrp="1"/>
          </p:cNvSpPr>
          <p:nvPr>
            <p:ph idx="1"/>
          </p:nvPr>
        </p:nvSpPr>
        <p:spPr/>
        <p:txBody>
          <a:bodyPr>
            <a:noAutofit/>
          </a:bodyPr>
          <a:lstStyle/>
          <a:p>
            <a:r>
              <a:rPr lang="en-US" sz="2800" dirty="0"/>
              <a:t>External acoustic meatus</a:t>
            </a:r>
          </a:p>
          <a:p>
            <a:r>
              <a:rPr lang="en-US" sz="2800" dirty="0"/>
              <a:t>Fenestra </a:t>
            </a:r>
            <a:r>
              <a:rPr lang="en-US" sz="2800" dirty="0" err="1"/>
              <a:t>ovalis</a:t>
            </a:r>
            <a:r>
              <a:rPr lang="en-US" sz="2800" dirty="0"/>
              <a:t> </a:t>
            </a:r>
          </a:p>
          <a:p>
            <a:r>
              <a:rPr lang="en-US" sz="2800" dirty="0"/>
              <a:t>Fenestra rotunda</a:t>
            </a:r>
          </a:p>
          <a:p>
            <a:r>
              <a:rPr lang="en-US" sz="2800" dirty="0"/>
              <a:t>Eustachian tube  </a:t>
            </a:r>
          </a:p>
          <a:p>
            <a:r>
              <a:rPr lang="en-US" sz="2800" dirty="0"/>
              <a:t>      INNER EAR </a:t>
            </a:r>
          </a:p>
          <a:p>
            <a:r>
              <a:rPr lang="en-US" sz="2800" dirty="0"/>
              <a:t>Vestibule</a:t>
            </a:r>
          </a:p>
          <a:p>
            <a:r>
              <a:rPr lang="en-US" sz="2800" dirty="0"/>
              <a:t>Cochlea</a:t>
            </a:r>
          </a:p>
          <a:p>
            <a:r>
              <a:rPr lang="en-US" sz="2800" dirty="0"/>
              <a:t>Semicircular canals </a:t>
            </a:r>
            <a:endParaRPr lang="en-US" sz="2800" dirty="0"/>
          </a:p>
        </p:txBody>
      </p:sp>
    </p:spTree>
    <p:extLst>
      <p:ext uri="{BB962C8B-B14F-4D97-AF65-F5344CB8AC3E}">
        <p14:creationId xmlns:p14="http://schemas.microsoft.com/office/powerpoint/2010/main" val="2493914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Vestibule </a:t>
            </a:r>
            <a:endParaRPr lang="en-US" dirty="0"/>
          </a:p>
        </p:txBody>
      </p:sp>
      <p:sp>
        <p:nvSpPr>
          <p:cNvPr id="3" name="Content Placeholder 2"/>
          <p:cNvSpPr>
            <a:spLocks noGrp="1"/>
          </p:cNvSpPr>
          <p:nvPr>
            <p:ph idx="1"/>
          </p:nvPr>
        </p:nvSpPr>
        <p:spPr/>
        <p:txBody>
          <a:bodyPr>
            <a:normAutofit/>
          </a:bodyPr>
          <a:lstStyle/>
          <a:p>
            <a:r>
              <a:rPr lang="en-US" sz="3200" dirty="0"/>
              <a:t>Utricle and </a:t>
            </a:r>
            <a:r>
              <a:rPr lang="en-US" sz="3200" dirty="0" err="1"/>
              <a:t>Sacule</a:t>
            </a:r>
            <a:r>
              <a:rPr lang="en-US" sz="3200" dirty="0"/>
              <a:t> </a:t>
            </a:r>
          </a:p>
          <a:p>
            <a:r>
              <a:rPr lang="en-US" sz="3200" dirty="0">
                <a:solidFill>
                  <a:srgbClr val="FF0000"/>
                </a:solidFill>
              </a:rPr>
              <a:t>Macula</a:t>
            </a:r>
            <a:r>
              <a:rPr lang="en-US" sz="3200" dirty="0"/>
              <a:t> –produces </a:t>
            </a:r>
            <a:r>
              <a:rPr lang="en-US" sz="3200" dirty="0">
                <a:solidFill>
                  <a:srgbClr val="FF0000"/>
                </a:solidFill>
              </a:rPr>
              <a:t>sense of position of head</a:t>
            </a:r>
          </a:p>
          <a:p>
            <a:r>
              <a:rPr lang="en-US" sz="3200" dirty="0">
                <a:solidFill>
                  <a:srgbClr val="FF0000"/>
                </a:solidFill>
              </a:rPr>
              <a:t>Sensation of pull of gravity</a:t>
            </a:r>
          </a:p>
          <a:p>
            <a:pPr>
              <a:buNone/>
            </a:pPr>
            <a:r>
              <a:rPr lang="en-US" sz="3200" dirty="0"/>
              <a:t> Sensation of acceleration</a:t>
            </a:r>
          </a:p>
          <a:p>
            <a:pPr>
              <a:buNone/>
            </a:pPr>
            <a:r>
              <a:rPr lang="en-US" sz="3200" dirty="0"/>
              <a:t> Righting reflexes'</a:t>
            </a:r>
            <a:endParaRPr lang="en-US" sz="3200" dirty="0"/>
          </a:p>
        </p:txBody>
      </p:sp>
    </p:spTree>
    <p:extLst>
      <p:ext uri="{BB962C8B-B14F-4D97-AF65-F5344CB8AC3E}">
        <p14:creationId xmlns:p14="http://schemas.microsoft.com/office/powerpoint/2010/main" val="4183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Cochlea </a:t>
            </a:r>
            <a:endParaRPr lang="en-US" dirty="0"/>
          </a:p>
        </p:txBody>
      </p:sp>
      <p:sp>
        <p:nvSpPr>
          <p:cNvPr id="3" name="Content Placeholder 2"/>
          <p:cNvSpPr>
            <a:spLocks noGrp="1"/>
          </p:cNvSpPr>
          <p:nvPr>
            <p:ph idx="1"/>
          </p:nvPr>
        </p:nvSpPr>
        <p:spPr/>
        <p:txBody>
          <a:bodyPr>
            <a:normAutofit/>
          </a:bodyPr>
          <a:lstStyle/>
          <a:p>
            <a:r>
              <a:rPr lang="en-US" sz="3200" dirty="0"/>
              <a:t>The most mechanically complex structure </a:t>
            </a:r>
          </a:p>
          <a:p>
            <a:r>
              <a:rPr lang="en-US" sz="3200" dirty="0"/>
              <a:t>Hearing organ located here </a:t>
            </a:r>
          </a:p>
          <a:p>
            <a:r>
              <a:rPr lang="en-US" sz="3200" dirty="0">
                <a:solidFill>
                  <a:srgbClr val="7030A0"/>
                </a:solidFill>
              </a:rPr>
              <a:t>Organ of </a:t>
            </a:r>
            <a:r>
              <a:rPr lang="en-US" sz="3200" dirty="0" err="1">
                <a:solidFill>
                  <a:srgbClr val="7030A0"/>
                </a:solidFill>
              </a:rPr>
              <a:t>Corti</a:t>
            </a:r>
            <a:r>
              <a:rPr lang="en-US" sz="3200" dirty="0">
                <a:solidFill>
                  <a:srgbClr val="7030A0"/>
                </a:solidFill>
              </a:rPr>
              <a:t> </a:t>
            </a:r>
          </a:p>
          <a:p>
            <a:endParaRPr lang="en-US" sz="3200" dirty="0"/>
          </a:p>
        </p:txBody>
      </p:sp>
    </p:spTree>
    <p:extLst>
      <p:ext uri="{BB962C8B-B14F-4D97-AF65-F5344CB8AC3E}">
        <p14:creationId xmlns:p14="http://schemas.microsoft.com/office/powerpoint/2010/main" val="4070616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Semicircular canals </a:t>
            </a:r>
            <a:endParaRPr lang="en-US" dirty="0"/>
          </a:p>
        </p:txBody>
      </p:sp>
      <p:sp>
        <p:nvSpPr>
          <p:cNvPr id="3" name="Content Placeholder 2"/>
          <p:cNvSpPr>
            <a:spLocks noGrp="1"/>
          </p:cNvSpPr>
          <p:nvPr>
            <p:ph idx="1"/>
          </p:nvPr>
        </p:nvSpPr>
        <p:spPr/>
        <p:txBody>
          <a:bodyPr>
            <a:normAutofit/>
          </a:bodyPr>
          <a:lstStyle/>
          <a:p>
            <a:r>
              <a:rPr lang="en-US" sz="3200" dirty="0"/>
              <a:t>Responsible for </a:t>
            </a:r>
            <a:r>
              <a:rPr lang="en-US" sz="3200" dirty="0">
                <a:solidFill>
                  <a:srgbClr val="FF0000"/>
                </a:solidFill>
              </a:rPr>
              <a:t>head movement </a:t>
            </a:r>
            <a:endParaRPr lang="en-US" sz="3200" dirty="0">
              <a:solidFill>
                <a:srgbClr val="FF0000"/>
              </a:solidFill>
            </a:endParaRPr>
          </a:p>
        </p:txBody>
      </p:sp>
    </p:spTree>
    <p:extLst>
      <p:ext uri="{BB962C8B-B14F-4D97-AF65-F5344CB8AC3E}">
        <p14:creationId xmlns:p14="http://schemas.microsoft.com/office/powerpoint/2010/main" val="3420359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structures </a:t>
            </a:r>
            <a:endParaRPr lang="en-US" dirty="0"/>
          </a:p>
        </p:txBody>
      </p:sp>
      <p:sp>
        <p:nvSpPr>
          <p:cNvPr id="3" name="Content Placeholder 2"/>
          <p:cNvSpPr>
            <a:spLocks noGrp="1"/>
          </p:cNvSpPr>
          <p:nvPr>
            <p:ph idx="1"/>
          </p:nvPr>
        </p:nvSpPr>
        <p:spPr/>
        <p:txBody>
          <a:bodyPr>
            <a:normAutofit/>
          </a:bodyPr>
          <a:lstStyle/>
          <a:p>
            <a:r>
              <a:rPr lang="en-US" sz="3200" dirty="0"/>
              <a:t>In the </a:t>
            </a:r>
            <a:r>
              <a:rPr lang="en-US" sz="3200" dirty="0">
                <a:solidFill>
                  <a:srgbClr val="FF0000"/>
                </a:solidFill>
              </a:rPr>
              <a:t>utricle-macula end organ of sensation of head position</a:t>
            </a:r>
          </a:p>
          <a:p>
            <a:r>
              <a:rPr lang="en-US" sz="3200" dirty="0"/>
              <a:t>In the </a:t>
            </a:r>
            <a:r>
              <a:rPr lang="en-US" sz="3200" dirty="0">
                <a:solidFill>
                  <a:srgbClr val="FF0000"/>
                </a:solidFill>
              </a:rPr>
              <a:t>semicircular canals- crista </a:t>
            </a:r>
            <a:r>
              <a:rPr lang="en-US" sz="3200" dirty="0" err="1">
                <a:solidFill>
                  <a:srgbClr val="FF0000"/>
                </a:solidFill>
              </a:rPr>
              <a:t>ampularis</a:t>
            </a:r>
            <a:r>
              <a:rPr lang="en-US" sz="3200" dirty="0">
                <a:solidFill>
                  <a:srgbClr val="FF0000"/>
                </a:solidFill>
              </a:rPr>
              <a:t> end organ of sensation of head movement</a:t>
            </a:r>
          </a:p>
          <a:p>
            <a:r>
              <a:rPr lang="en-US" sz="3200" dirty="0"/>
              <a:t>In the </a:t>
            </a:r>
            <a:r>
              <a:rPr lang="en-US" sz="3200" dirty="0">
                <a:solidFill>
                  <a:srgbClr val="FF0000"/>
                </a:solidFill>
              </a:rPr>
              <a:t>cochlear duct –organ of </a:t>
            </a:r>
            <a:r>
              <a:rPr lang="en-US" sz="3200" dirty="0" err="1">
                <a:solidFill>
                  <a:srgbClr val="FF0000"/>
                </a:solidFill>
              </a:rPr>
              <a:t>corti</a:t>
            </a:r>
            <a:r>
              <a:rPr lang="en-US" sz="3200" dirty="0">
                <a:solidFill>
                  <a:srgbClr val="FF0000"/>
                </a:solidFill>
              </a:rPr>
              <a:t> end organ of hearing</a:t>
            </a:r>
            <a:endParaRPr lang="en-US" sz="3200" dirty="0">
              <a:solidFill>
                <a:srgbClr val="FF0000"/>
              </a:solidFill>
            </a:endParaRPr>
          </a:p>
        </p:txBody>
      </p:sp>
    </p:spTree>
    <p:extLst>
      <p:ext uri="{BB962C8B-B14F-4D97-AF65-F5344CB8AC3E}">
        <p14:creationId xmlns:p14="http://schemas.microsoft.com/office/powerpoint/2010/main" val="2952820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Hearing </a:t>
            </a:r>
            <a:endParaRPr lang="en-US" dirty="0"/>
          </a:p>
        </p:txBody>
      </p:sp>
      <p:sp>
        <p:nvSpPr>
          <p:cNvPr id="3" name="Content Placeholder 2"/>
          <p:cNvSpPr>
            <a:spLocks noGrp="1"/>
          </p:cNvSpPr>
          <p:nvPr>
            <p:ph idx="1"/>
          </p:nvPr>
        </p:nvSpPr>
        <p:spPr/>
        <p:txBody>
          <a:bodyPr/>
          <a:lstStyle/>
          <a:p>
            <a:r>
              <a:rPr lang="en-US" sz="3200" dirty="0">
                <a:solidFill>
                  <a:srgbClr val="FF0000"/>
                </a:solidFill>
              </a:rPr>
              <a:t>Air</a:t>
            </a:r>
            <a:r>
              <a:rPr lang="en-US" sz="3200" dirty="0"/>
              <a:t> –external auditory meatus</a:t>
            </a:r>
          </a:p>
          <a:p>
            <a:r>
              <a:rPr lang="en-US" sz="3200" dirty="0">
                <a:solidFill>
                  <a:srgbClr val="FF0000"/>
                </a:solidFill>
              </a:rPr>
              <a:t>Bone</a:t>
            </a:r>
            <a:r>
              <a:rPr lang="en-US" sz="3200" dirty="0"/>
              <a:t> –three </a:t>
            </a:r>
            <a:r>
              <a:rPr lang="en-US" sz="3200" dirty="0" err="1"/>
              <a:t>ossicles</a:t>
            </a:r>
            <a:r>
              <a:rPr lang="en-US" sz="3200" dirty="0"/>
              <a:t> </a:t>
            </a:r>
          </a:p>
          <a:p>
            <a:r>
              <a:rPr lang="en-US" sz="3200" dirty="0">
                <a:solidFill>
                  <a:srgbClr val="FF0000"/>
                </a:solidFill>
              </a:rPr>
              <a:t>Fluid</a:t>
            </a:r>
            <a:r>
              <a:rPr lang="en-US" sz="3200" dirty="0"/>
              <a:t> (per lymph then to </a:t>
            </a:r>
            <a:r>
              <a:rPr lang="en-US" sz="3200" dirty="0" err="1"/>
              <a:t>endo</a:t>
            </a:r>
            <a:r>
              <a:rPr lang="en-US" sz="3200" dirty="0"/>
              <a:t> lymph)</a:t>
            </a:r>
          </a:p>
          <a:p>
            <a:r>
              <a:rPr lang="en-US" sz="3200" dirty="0">
                <a:solidFill>
                  <a:srgbClr val="FF0000"/>
                </a:solidFill>
              </a:rPr>
              <a:t>Hearing results from Stimulation of the Auditory area of cerebral cortex in temporal lobe</a:t>
            </a:r>
            <a:r>
              <a:rPr lang="en-US" sz="3200" dirty="0"/>
              <a:t>.</a:t>
            </a:r>
          </a:p>
          <a:p>
            <a:endParaRPr lang="en-US" sz="2400" dirty="0"/>
          </a:p>
        </p:txBody>
      </p:sp>
    </p:spTree>
    <p:extLst>
      <p:ext uri="{BB962C8B-B14F-4D97-AF65-F5344CB8AC3E}">
        <p14:creationId xmlns:p14="http://schemas.microsoft.com/office/powerpoint/2010/main" val="1006353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Tracheostomy </a:t>
            </a:r>
            <a:endParaRPr lang="en-US" dirty="0"/>
          </a:p>
        </p:txBody>
      </p:sp>
      <p:sp>
        <p:nvSpPr>
          <p:cNvPr id="3" name="Content Placeholder 2"/>
          <p:cNvSpPr>
            <a:spLocks noGrp="1"/>
          </p:cNvSpPr>
          <p:nvPr>
            <p:ph idx="1"/>
          </p:nvPr>
        </p:nvSpPr>
        <p:spPr/>
        <p:txBody>
          <a:bodyPr>
            <a:normAutofit/>
          </a:bodyPr>
          <a:lstStyle/>
          <a:p>
            <a:r>
              <a:rPr lang="en-US" sz="3200" dirty="0"/>
              <a:t>Definition :A tracheostomy is a surgical procedure wherein a tube is placed in the windpipe while bypassing the nose, mouth and throat. This tube may be placed </a:t>
            </a:r>
            <a:r>
              <a:rPr lang="en-US" sz="3200" dirty="0">
                <a:solidFill>
                  <a:srgbClr val="FF0000"/>
                </a:solidFill>
              </a:rPr>
              <a:t>temporarily or permanently</a:t>
            </a:r>
            <a:r>
              <a:rPr lang="en-US" sz="3200" dirty="0"/>
              <a:t>.</a:t>
            </a:r>
            <a:endParaRPr lang="en-US" sz="3200" dirty="0"/>
          </a:p>
        </p:txBody>
      </p:sp>
    </p:spTree>
    <p:extLst>
      <p:ext uri="{BB962C8B-B14F-4D97-AF65-F5344CB8AC3E}">
        <p14:creationId xmlns:p14="http://schemas.microsoft.com/office/powerpoint/2010/main" val="3272084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Tracheostomy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1375" y="2286000"/>
            <a:ext cx="6105992" cy="4022725"/>
          </a:xfrm>
        </p:spPr>
      </p:pic>
    </p:spTree>
    <p:extLst>
      <p:ext uri="{BB962C8B-B14F-4D97-AF65-F5344CB8AC3E}">
        <p14:creationId xmlns:p14="http://schemas.microsoft.com/office/powerpoint/2010/main" val="129925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Tracheostomy </a:t>
            </a:r>
            <a:endParaRPr lang="en-US" dirty="0"/>
          </a:p>
        </p:txBody>
      </p:sp>
      <p:sp>
        <p:nvSpPr>
          <p:cNvPr id="3" name="Content Placeholder 2"/>
          <p:cNvSpPr>
            <a:spLocks noGrp="1"/>
          </p:cNvSpPr>
          <p:nvPr>
            <p:ph idx="1"/>
          </p:nvPr>
        </p:nvSpPr>
        <p:spPr/>
        <p:txBody>
          <a:bodyPr>
            <a:normAutofit/>
          </a:bodyPr>
          <a:lstStyle/>
          <a:p>
            <a:r>
              <a:rPr lang="en-US" sz="3200" dirty="0"/>
              <a:t>Tracheotomy is done when the usual way of breathing is blocked or reduced. </a:t>
            </a:r>
            <a:r>
              <a:rPr lang="en-US" sz="3200" dirty="0">
                <a:solidFill>
                  <a:srgbClr val="FF0000"/>
                </a:solidFill>
              </a:rPr>
              <a:t>A tracheostomy is often needed when health problems require long-term use of a ventilator to help with breathing.</a:t>
            </a:r>
          </a:p>
          <a:p>
            <a:r>
              <a:rPr lang="en-US" sz="3200" dirty="0"/>
              <a:t>A tracheostomy allows air to pass into the windpipe to help with breathing.</a:t>
            </a:r>
            <a:endParaRPr lang="en-US" sz="3200" dirty="0"/>
          </a:p>
        </p:txBody>
      </p:sp>
    </p:spTree>
    <p:extLst>
      <p:ext uri="{BB962C8B-B14F-4D97-AF65-F5344CB8AC3E}">
        <p14:creationId xmlns:p14="http://schemas.microsoft.com/office/powerpoint/2010/main" val="30478434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 for tracheostomy </a:t>
            </a:r>
            <a:endParaRPr lang="en-US" dirty="0"/>
          </a:p>
        </p:txBody>
      </p:sp>
      <p:sp>
        <p:nvSpPr>
          <p:cNvPr id="3" name="Content Placeholder 2"/>
          <p:cNvSpPr>
            <a:spLocks noGrp="1"/>
          </p:cNvSpPr>
          <p:nvPr>
            <p:ph idx="1"/>
          </p:nvPr>
        </p:nvSpPr>
        <p:spPr/>
        <p:txBody>
          <a:bodyPr>
            <a:normAutofit/>
          </a:bodyPr>
          <a:lstStyle/>
          <a:p>
            <a:pPr>
              <a:buNone/>
            </a:pPr>
            <a:r>
              <a:rPr lang="en-US" sz="3200" dirty="0">
                <a:solidFill>
                  <a:srgbClr val="FF0000"/>
                </a:solidFill>
              </a:rPr>
              <a:t>Patient population</a:t>
            </a:r>
          </a:p>
          <a:p>
            <a:pPr>
              <a:buNone/>
            </a:pPr>
            <a:r>
              <a:rPr lang="en-US" sz="3200" dirty="0"/>
              <a:t>Rarely </a:t>
            </a:r>
            <a:r>
              <a:rPr lang="en-US" sz="3200" dirty="0">
                <a:solidFill>
                  <a:srgbClr val="FF0000"/>
                </a:solidFill>
              </a:rPr>
              <a:t>failed intubation cases in respiratory distress</a:t>
            </a:r>
          </a:p>
          <a:p>
            <a:pPr>
              <a:buNone/>
            </a:pPr>
            <a:r>
              <a:rPr lang="en-US" sz="3200" dirty="0"/>
              <a:t>Following </a:t>
            </a:r>
            <a:r>
              <a:rPr lang="en-US" sz="3200" dirty="0">
                <a:solidFill>
                  <a:srgbClr val="FF0000"/>
                </a:solidFill>
              </a:rPr>
              <a:t>major trauma </a:t>
            </a:r>
            <a:r>
              <a:rPr lang="en-US" sz="3200" dirty="0"/>
              <a:t>or in respiratory failure</a:t>
            </a:r>
          </a:p>
          <a:p>
            <a:pPr>
              <a:buNone/>
            </a:pPr>
            <a:r>
              <a:rPr lang="en-US" sz="3200" dirty="0"/>
              <a:t>Part of </a:t>
            </a:r>
            <a:r>
              <a:rPr lang="en-US" sz="3200" dirty="0">
                <a:solidFill>
                  <a:srgbClr val="FF0000"/>
                </a:solidFill>
              </a:rPr>
              <a:t>scheduled procedure in neck </a:t>
            </a:r>
            <a:r>
              <a:rPr lang="en-US" sz="3200" dirty="0"/>
              <a:t>dissection </a:t>
            </a:r>
            <a:endParaRPr lang="en-US" sz="3200" dirty="0"/>
          </a:p>
        </p:txBody>
      </p:sp>
    </p:spTree>
    <p:extLst>
      <p:ext uri="{BB962C8B-B14F-4D97-AF65-F5344CB8AC3E}">
        <p14:creationId xmlns:p14="http://schemas.microsoft.com/office/powerpoint/2010/main" val="62771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Elective tracheostomy </a:t>
            </a:r>
            <a:r>
              <a:rPr lang="en-US" sz="3200" dirty="0"/>
              <a:t>is indicated in patients with </a:t>
            </a:r>
            <a:r>
              <a:rPr lang="en-US" sz="3200" dirty="0">
                <a:solidFill>
                  <a:srgbClr val="FF0000"/>
                </a:solidFill>
              </a:rPr>
              <a:t>prolonged mechanical ventilation</a:t>
            </a:r>
            <a:r>
              <a:rPr lang="en-US" sz="3200" dirty="0"/>
              <a:t>, anticipated airway obstruction due to extensive head and neck surgery or edema (</a:t>
            </a:r>
            <a:r>
              <a:rPr lang="en-US" sz="3200" dirty="0" err="1"/>
              <a:t>eg</a:t>
            </a:r>
            <a:r>
              <a:rPr lang="en-US" sz="3200" dirty="0"/>
              <a:t>, from cancer, trauma, or radiation), obstructive sleep apnea refractory to other therapies, recurrent aspiration from impaired airway protection</a:t>
            </a:r>
          </a:p>
        </p:txBody>
      </p:sp>
    </p:spTree>
    <p:extLst>
      <p:ext uri="{BB962C8B-B14F-4D97-AF65-F5344CB8AC3E}">
        <p14:creationId xmlns:p14="http://schemas.microsoft.com/office/powerpoint/2010/main" val="1154973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Precautions </a:t>
            </a:r>
          </a:p>
          <a:p>
            <a:r>
              <a:rPr lang="en-US" sz="3200" dirty="0"/>
              <a:t> </a:t>
            </a:r>
            <a:r>
              <a:rPr lang="en-US" sz="3200" dirty="0">
                <a:solidFill>
                  <a:srgbClr val="FF0000"/>
                </a:solidFill>
              </a:rPr>
              <a:t>A clean tracheostomy site</a:t>
            </a:r>
            <a:r>
              <a:rPr lang="en-US" sz="3200" dirty="0"/>
              <a:t>, good </a:t>
            </a:r>
            <a:r>
              <a:rPr lang="en-US" sz="3200" dirty="0">
                <a:solidFill>
                  <a:srgbClr val="FF0000"/>
                </a:solidFill>
              </a:rPr>
              <a:t>tracheostomy tube care </a:t>
            </a:r>
            <a:r>
              <a:rPr lang="en-US" sz="3200" dirty="0"/>
              <a:t>and </a:t>
            </a:r>
            <a:r>
              <a:rPr lang="en-US" sz="3200" dirty="0">
                <a:solidFill>
                  <a:srgbClr val="FF0000"/>
                </a:solidFill>
              </a:rPr>
              <a:t>regular examination </a:t>
            </a:r>
            <a:r>
              <a:rPr lang="en-US" sz="3200" dirty="0"/>
              <a:t>of the airway by an otolaryngologist should minimize the chances of complications.</a:t>
            </a:r>
            <a:endParaRPr lang="en-US" sz="3200" dirty="0"/>
          </a:p>
        </p:txBody>
      </p:sp>
    </p:spTree>
    <p:extLst>
      <p:ext uri="{BB962C8B-B14F-4D97-AF65-F5344CB8AC3E}">
        <p14:creationId xmlns:p14="http://schemas.microsoft.com/office/powerpoint/2010/main" val="1221845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Tracheostomy care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Clean, replace, and suction the tube.</a:t>
            </a:r>
          </a:p>
          <a:p>
            <a:r>
              <a:rPr lang="en-US" sz="3200" dirty="0">
                <a:solidFill>
                  <a:srgbClr val="FF0000"/>
                </a:solidFill>
              </a:rPr>
              <a:t>Keep the air moist.</a:t>
            </a:r>
          </a:p>
          <a:p>
            <a:r>
              <a:rPr lang="en-US" sz="3200" dirty="0"/>
              <a:t>Clean the hole with water and mild soap or hydrogen peroxide.</a:t>
            </a:r>
          </a:p>
          <a:p>
            <a:r>
              <a:rPr lang="en-US" sz="3200" dirty="0"/>
              <a:t>Change the dressing around the hole</a:t>
            </a:r>
          </a:p>
        </p:txBody>
      </p:sp>
    </p:spTree>
    <p:extLst>
      <p:ext uri="{BB962C8B-B14F-4D97-AF65-F5344CB8AC3E}">
        <p14:creationId xmlns:p14="http://schemas.microsoft.com/office/powerpoint/2010/main" val="429986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Craniofacial abnormalities </a:t>
            </a:r>
            <a:endParaRPr lang="en-US" dirty="0"/>
          </a:p>
        </p:txBody>
      </p:sp>
      <p:sp>
        <p:nvSpPr>
          <p:cNvPr id="3" name="Content Placeholder 2"/>
          <p:cNvSpPr>
            <a:spLocks noGrp="1"/>
          </p:cNvSpPr>
          <p:nvPr>
            <p:ph idx="1"/>
          </p:nvPr>
        </p:nvSpPr>
        <p:spPr/>
        <p:txBody>
          <a:bodyPr>
            <a:normAutofit/>
          </a:bodyPr>
          <a:lstStyle/>
          <a:p>
            <a:r>
              <a:rPr lang="en-US" sz="3200" dirty="0"/>
              <a:t>Cleft lip and palate </a:t>
            </a:r>
          </a:p>
          <a:p>
            <a:r>
              <a:rPr lang="en-US" sz="3200" dirty="0"/>
              <a:t>Mandibular hypoplasia</a:t>
            </a:r>
          </a:p>
          <a:p>
            <a:r>
              <a:rPr lang="en-US" sz="3200" dirty="0"/>
              <a:t>Hypertelorism</a:t>
            </a:r>
          </a:p>
        </p:txBody>
      </p:sp>
    </p:spTree>
    <p:extLst>
      <p:ext uri="{BB962C8B-B14F-4D97-AF65-F5344CB8AC3E}">
        <p14:creationId xmlns:p14="http://schemas.microsoft.com/office/powerpoint/2010/main" val="2524900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Cleft lip and palate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The third most common congenital </a:t>
            </a:r>
            <a:r>
              <a:rPr lang="en-US" sz="3200" dirty="0"/>
              <a:t>anomaly which </a:t>
            </a:r>
            <a:r>
              <a:rPr lang="en-US" sz="3200" dirty="0">
                <a:solidFill>
                  <a:srgbClr val="FF0000"/>
                </a:solidFill>
              </a:rPr>
              <a:t>requires surgery</a:t>
            </a:r>
          </a:p>
          <a:p>
            <a:r>
              <a:rPr lang="en-US" sz="3200" dirty="0"/>
              <a:t>50% cleft lip and palate</a:t>
            </a:r>
          </a:p>
          <a:p>
            <a:r>
              <a:rPr lang="en-US" sz="3200" dirty="0"/>
              <a:t>33%cleft palate </a:t>
            </a:r>
          </a:p>
          <a:p>
            <a:r>
              <a:rPr lang="en-US" sz="3200" dirty="0"/>
              <a:t>14% -17%cleft lip </a:t>
            </a:r>
            <a:endParaRPr lang="en-US" sz="3200" dirty="0"/>
          </a:p>
        </p:txBody>
      </p:sp>
    </p:spTree>
    <p:extLst>
      <p:ext uri="{BB962C8B-B14F-4D97-AF65-F5344CB8AC3E}">
        <p14:creationId xmlns:p14="http://schemas.microsoft.com/office/powerpoint/2010/main" val="2885757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Cleft lip and cleft palate are openings or splits in the upper lip, the roof of the mouth (palate) or both. Cleft lip and cleft palate result when </a:t>
            </a:r>
            <a:r>
              <a:rPr lang="en-US" sz="3200" dirty="0">
                <a:solidFill>
                  <a:srgbClr val="FF0000"/>
                </a:solidFill>
              </a:rPr>
              <a:t>facial structures that are developing in an unborn baby don't close completely.</a:t>
            </a:r>
          </a:p>
          <a:p>
            <a:r>
              <a:rPr lang="en-US" sz="3200" dirty="0"/>
              <a:t>Cleft lip and cleft palate are among the most congenital anomalies .</a:t>
            </a:r>
          </a:p>
          <a:p>
            <a:endParaRPr lang="en-US" sz="3200" dirty="0"/>
          </a:p>
        </p:txBody>
      </p:sp>
    </p:spTree>
    <p:extLst>
      <p:ext uri="{BB962C8B-B14F-4D97-AF65-F5344CB8AC3E}">
        <p14:creationId xmlns:p14="http://schemas.microsoft.com/office/powerpoint/2010/main" val="1683537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 and symptoms </a:t>
            </a:r>
            <a:endParaRPr lang="en-US" dirty="0"/>
          </a:p>
        </p:txBody>
      </p:sp>
      <p:sp>
        <p:nvSpPr>
          <p:cNvPr id="3" name="Content Placeholder 2"/>
          <p:cNvSpPr>
            <a:spLocks noGrp="1"/>
          </p:cNvSpPr>
          <p:nvPr>
            <p:ph idx="1"/>
          </p:nvPr>
        </p:nvSpPr>
        <p:spPr/>
        <p:txBody>
          <a:bodyPr>
            <a:normAutofit/>
          </a:bodyPr>
          <a:lstStyle/>
          <a:p>
            <a:r>
              <a:rPr lang="en-US" sz="3200" dirty="0"/>
              <a:t>Difficulty with feedings</a:t>
            </a:r>
          </a:p>
          <a:p>
            <a:r>
              <a:rPr lang="en-US" sz="3200" dirty="0">
                <a:solidFill>
                  <a:srgbClr val="FF0000"/>
                </a:solidFill>
              </a:rPr>
              <a:t>Difficulty swallowing</a:t>
            </a:r>
            <a:r>
              <a:rPr lang="en-US" sz="3200" dirty="0"/>
              <a:t>, with potential for liquids or foods to come out the nose</a:t>
            </a:r>
          </a:p>
          <a:p>
            <a:r>
              <a:rPr lang="en-US" sz="3200" dirty="0"/>
              <a:t>Nasal speaking voice</a:t>
            </a:r>
          </a:p>
          <a:p>
            <a:r>
              <a:rPr lang="en-US" sz="3200" dirty="0"/>
              <a:t>Chronic ear infections</a:t>
            </a:r>
            <a:endParaRPr lang="en-US" sz="3200" dirty="0"/>
          </a:p>
        </p:txBody>
      </p:sp>
    </p:spTree>
    <p:extLst>
      <p:ext uri="{BB962C8B-B14F-4D97-AF65-F5344CB8AC3E}">
        <p14:creationId xmlns:p14="http://schemas.microsoft.com/office/powerpoint/2010/main" val="1756466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024128" y="2286000"/>
            <a:ext cx="8712300"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0322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Associated problems </a:t>
            </a:r>
            <a:endParaRPr lang="en-US" dirty="0"/>
          </a:p>
        </p:txBody>
      </p:sp>
      <p:sp>
        <p:nvSpPr>
          <p:cNvPr id="3" name="Content Placeholder 2"/>
          <p:cNvSpPr>
            <a:spLocks noGrp="1"/>
          </p:cNvSpPr>
          <p:nvPr>
            <p:ph idx="1"/>
          </p:nvPr>
        </p:nvSpPr>
        <p:spPr/>
        <p:txBody>
          <a:bodyPr>
            <a:normAutofit/>
          </a:bodyPr>
          <a:lstStyle/>
          <a:p>
            <a:r>
              <a:rPr lang="en-US" sz="3200" dirty="0"/>
              <a:t>Facial disfiguration </a:t>
            </a:r>
          </a:p>
          <a:p>
            <a:r>
              <a:rPr lang="en-US" sz="3200" dirty="0"/>
              <a:t>Social isolation </a:t>
            </a:r>
          </a:p>
          <a:p>
            <a:r>
              <a:rPr lang="en-US" sz="3200" dirty="0"/>
              <a:t>Problem during deglutition</a:t>
            </a:r>
          </a:p>
          <a:p>
            <a:r>
              <a:rPr lang="en-US" sz="3200" dirty="0"/>
              <a:t>Abnormal speech </a:t>
            </a:r>
          </a:p>
          <a:p>
            <a:r>
              <a:rPr lang="en-US" sz="3200" dirty="0"/>
              <a:t>Increased incidence of URTI</a:t>
            </a:r>
          </a:p>
          <a:p>
            <a:r>
              <a:rPr lang="en-US" sz="3200" dirty="0"/>
              <a:t>Congenital heart disease </a:t>
            </a:r>
          </a:p>
        </p:txBody>
      </p:sp>
    </p:spTree>
    <p:extLst>
      <p:ext uri="{BB962C8B-B14F-4D97-AF65-F5344CB8AC3E}">
        <p14:creationId xmlns:p14="http://schemas.microsoft.com/office/powerpoint/2010/main" val="3933512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surgery </a:t>
            </a:r>
            <a:endParaRPr lang="en-US" dirty="0"/>
          </a:p>
        </p:txBody>
      </p:sp>
      <p:sp>
        <p:nvSpPr>
          <p:cNvPr id="3" name="Content Placeholder 2"/>
          <p:cNvSpPr>
            <a:spLocks noGrp="1"/>
          </p:cNvSpPr>
          <p:nvPr>
            <p:ph idx="1"/>
          </p:nvPr>
        </p:nvSpPr>
        <p:spPr/>
        <p:txBody>
          <a:bodyPr>
            <a:normAutofit/>
          </a:bodyPr>
          <a:lstStyle/>
          <a:p>
            <a:r>
              <a:rPr lang="en-US" sz="3200" dirty="0"/>
              <a:t>Cheiloplasty </a:t>
            </a:r>
          </a:p>
          <a:p>
            <a:r>
              <a:rPr lang="en-US" sz="3200" dirty="0" err="1"/>
              <a:t>Palatoplasty</a:t>
            </a:r>
            <a:endParaRPr lang="en-US" sz="3200" dirty="0"/>
          </a:p>
          <a:p>
            <a:r>
              <a:rPr lang="en-US" sz="3200" dirty="0">
                <a:solidFill>
                  <a:srgbClr val="FF0000"/>
                </a:solidFill>
              </a:rPr>
              <a:t>Anesthetic considerations </a:t>
            </a:r>
          </a:p>
          <a:p>
            <a:r>
              <a:rPr lang="en-US" sz="3200" dirty="0"/>
              <a:t>Difficult intubation </a:t>
            </a:r>
          </a:p>
          <a:p>
            <a:r>
              <a:rPr lang="en-US" sz="3200" dirty="0"/>
              <a:t>Inadvertent </a:t>
            </a:r>
            <a:r>
              <a:rPr lang="en-US" sz="3200" dirty="0" err="1"/>
              <a:t>extubation</a:t>
            </a:r>
            <a:endParaRPr lang="en-US" sz="3200" dirty="0"/>
          </a:p>
          <a:p>
            <a:r>
              <a:rPr lang="en-US" sz="3200" dirty="0"/>
              <a:t>Post operation air way obstruction</a:t>
            </a:r>
            <a:endParaRPr lang="en-US" sz="3200" dirty="0"/>
          </a:p>
        </p:txBody>
      </p:sp>
    </p:spTree>
    <p:extLst>
      <p:ext uri="{BB962C8B-B14F-4D97-AF65-F5344CB8AC3E}">
        <p14:creationId xmlns:p14="http://schemas.microsoft.com/office/powerpoint/2010/main" val="1104874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Preoperative evaluation </a:t>
            </a:r>
            <a:endParaRPr lang="en-US" dirty="0"/>
          </a:p>
        </p:txBody>
      </p:sp>
      <p:sp>
        <p:nvSpPr>
          <p:cNvPr id="3" name="Content Placeholder 2"/>
          <p:cNvSpPr>
            <a:spLocks noGrp="1"/>
          </p:cNvSpPr>
          <p:nvPr>
            <p:ph idx="1"/>
          </p:nvPr>
        </p:nvSpPr>
        <p:spPr/>
        <p:txBody>
          <a:bodyPr/>
          <a:lstStyle/>
          <a:p>
            <a:r>
              <a:rPr lang="en-US" sz="3200" dirty="0"/>
              <a:t>Associated congenital anomalies(congenital heart disease&gt;150 anomalies)</a:t>
            </a:r>
          </a:p>
          <a:p>
            <a:r>
              <a:rPr lang="en-US" sz="3200" dirty="0"/>
              <a:t>Chronic </a:t>
            </a:r>
            <a:r>
              <a:rPr lang="en-US" sz="3200" dirty="0" err="1"/>
              <a:t>rhinorrea</a:t>
            </a:r>
            <a:endParaRPr lang="en-US" sz="3200" dirty="0"/>
          </a:p>
          <a:p>
            <a:r>
              <a:rPr lang="en-US" sz="3200" dirty="0"/>
              <a:t>OSA</a:t>
            </a:r>
          </a:p>
          <a:p>
            <a:r>
              <a:rPr lang="en-US" sz="3200" dirty="0"/>
              <a:t>Left ventricular hyper trophy</a:t>
            </a:r>
          </a:p>
          <a:p>
            <a:endParaRPr lang="en-US" dirty="0"/>
          </a:p>
        </p:txBody>
      </p:sp>
    </p:spTree>
    <p:extLst>
      <p:ext uri="{BB962C8B-B14F-4D97-AF65-F5344CB8AC3E}">
        <p14:creationId xmlns:p14="http://schemas.microsoft.com/office/powerpoint/2010/main" val="171309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a:t>
            </a:r>
            <a:endParaRPr lang="en-US" dirty="0"/>
          </a:p>
        </p:txBody>
      </p:sp>
      <p:sp>
        <p:nvSpPr>
          <p:cNvPr id="3" name="Content Placeholder 2"/>
          <p:cNvSpPr>
            <a:spLocks noGrp="1"/>
          </p:cNvSpPr>
          <p:nvPr>
            <p:ph idx="1"/>
          </p:nvPr>
        </p:nvSpPr>
        <p:spPr/>
        <p:txBody>
          <a:bodyPr>
            <a:normAutofit/>
          </a:bodyPr>
          <a:lstStyle/>
          <a:p>
            <a:r>
              <a:rPr lang="en-US" sz="3200" dirty="0"/>
              <a:t>Inhalational induction</a:t>
            </a:r>
          </a:p>
          <a:p>
            <a:r>
              <a:rPr lang="en-US" sz="3200" dirty="0"/>
              <a:t>Insertion of gauze in cavernous defect</a:t>
            </a:r>
          </a:p>
          <a:p>
            <a:r>
              <a:rPr lang="en-US" sz="3200" dirty="0"/>
              <a:t>Tape tube to lower lip</a:t>
            </a:r>
          </a:p>
          <a:p>
            <a:r>
              <a:rPr lang="en-US" sz="3200" dirty="0"/>
              <a:t>Use </a:t>
            </a:r>
            <a:r>
              <a:rPr lang="en-US" sz="3200" dirty="0" err="1"/>
              <a:t>rae</a:t>
            </a:r>
            <a:r>
              <a:rPr lang="en-US" sz="3200" dirty="0"/>
              <a:t> tube </a:t>
            </a:r>
          </a:p>
        </p:txBody>
      </p:sp>
    </p:spTree>
    <p:extLst>
      <p:ext uri="{BB962C8B-B14F-4D97-AF65-F5344CB8AC3E}">
        <p14:creationId xmlns:p14="http://schemas.microsoft.com/office/powerpoint/2010/main" val="2581637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Suture tongue to mid line </a:t>
            </a:r>
          </a:p>
          <a:p>
            <a:r>
              <a:rPr lang="en-US" sz="3200" dirty="0"/>
              <a:t>Consider </a:t>
            </a:r>
            <a:r>
              <a:rPr lang="en-US" sz="3200" dirty="0" err="1"/>
              <a:t>epineprine</a:t>
            </a:r>
            <a:endParaRPr lang="en-US" sz="3200" dirty="0"/>
          </a:p>
          <a:p>
            <a:r>
              <a:rPr lang="en-US" sz="3200" dirty="0"/>
              <a:t>If air way edema </a:t>
            </a:r>
            <a:r>
              <a:rPr lang="en-US" sz="3200" dirty="0" err="1"/>
              <a:t>extubate</a:t>
            </a:r>
            <a:r>
              <a:rPr lang="en-US" sz="3200" dirty="0"/>
              <a:t> after 48-72hours</a:t>
            </a:r>
          </a:p>
          <a:p>
            <a:endParaRPr lang="en-US" sz="3200" dirty="0"/>
          </a:p>
        </p:txBody>
      </p:sp>
    </p:spTree>
    <p:extLst>
      <p:ext uri="{BB962C8B-B14F-4D97-AF65-F5344CB8AC3E}">
        <p14:creationId xmlns:p14="http://schemas.microsoft.com/office/powerpoint/2010/main" val="947205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Mandibular hypoplasia </a:t>
            </a:r>
            <a:endParaRPr lang="en-US" dirty="0"/>
          </a:p>
        </p:txBody>
      </p:sp>
      <p:pic>
        <p:nvPicPr>
          <p:cNvPr id="4" name="Content Placeholder 3" descr="D:\imageL.jpg"/>
          <p:cNvPicPr>
            <a:picLocks noGrp="1" noChangeAspect="1" noChangeArrowheads="1"/>
          </p:cNvPicPr>
          <p:nvPr>
            <p:ph idx="1"/>
          </p:nvPr>
        </p:nvPicPr>
        <p:blipFill>
          <a:blip r:embed="rId2">
            <a:lum bright="-12000"/>
          </a:blip>
          <a:srcRect l="3947" t="3165" r="3947" b="4430"/>
          <a:stretch>
            <a:fillRect/>
          </a:stretch>
        </p:blipFill>
        <p:spPr bwMode="auto">
          <a:xfrm>
            <a:off x="2189409" y="2485623"/>
            <a:ext cx="4820424" cy="4372377"/>
          </a:xfrm>
          <a:prstGeom prst="rect">
            <a:avLst/>
          </a:prstGeom>
          <a:noFill/>
        </p:spPr>
      </p:pic>
    </p:spTree>
    <p:extLst>
      <p:ext uri="{BB962C8B-B14F-4D97-AF65-F5344CB8AC3E}">
        <p14:creationId xmlns:p14="http://schemas.microsoft.com/office/powerpoint/2010/main" val="1760998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Pier robin syndrome </a:t>
            </a:r>
            <a:endParaRPr lang="en-US" dirty="0"/>
          </a:p>
        </p:txBody>
      </p:sp>
      <p:sp>
        <p:nvSpPr>
          <p:cNvPr id="3" name="Content Placeholder 2"/>
          <p:cNvSpPr>
            <a:spLocks noGrp="1"/>
          </p:cNvSpPr>
          <p:nvPr>
            <p:ph idx="1"/>
          </p:nvPr>
        </p:nvSpPr>
        <p:spPr/>
        <p:txBody>
          <a:bodyPr>
            <a:normAutofit/>
          </a:bodyPr>
          <a:lstStyle/>
          <a:p>
            <a:pPr>
              <a:buNone/>
            </a:pPr>
            <a:r>
              <a:rPr lang="en-US" sz="3200" dirty="0"/>
              <a:t>Cleft palate </a:t>
            </a:r>
          </a:p>
          <a:p>
            <a:pPr>
              <a:buNone/>
            </a:pPr>
            <a:r>
              <a:rPr lang="en-US" sz="3200" dirty="0"/>
              <a:t>Small jaw</a:t>
            </a:r>
          </a:p>
          <a:p>
            <a:pPr>
              <a:buNone/>
            </a:pPr>
            <a:r>
              <a:rPr lang="en-US" sz="3200" dirty="0" smtClean="0"/>
              <a:t>gloss ptosis</a:t>
            </a:r>
            <a:endParaRPr lang="en-US" sz="3200" dirty="0"/>
          </a:p>
        </p:txBody>
      </p:sp>
    </p:spTree>
    <p:extLst>
      <p:ext uri="{BB962C8B-B14F-4D97-AF65-F5344CB8AC3E}">
        <p14:creationId xmlns:p14="http://schemas.microsoft.com/office/powerpoint/2010/main" val="1644634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Treacher</a:t>
            </a:r>
            <a:r>
              <a:rPr lang="en-US" dirty="0" smtClean="0"/>
              <a:t> Collins syndrome </a:t>
            </a:r>
            <a:endParaRPr lang="en-US" dirty="0"/>
          </a:p>
        </p:txBody>
      </p:sp>
      <p:pic>
        <p:nvPicPr>
          <p:cNvPr id="4" name="Picture 2" descr="E:\Lectures\Airway lecture\imageg.jpg"/>
          <p:cNvPicPr>
            <a:picLocks noGrp="1" noChangeAspect="1" noChangeArrowheads="1"/>
          </p:cNvPicPr>
          <p:nvPr>
            <p:ph idx="1"/>
          </p:nvPr>
        </p:nvPicPr>
        <p:blipFill>
          <a:blip r:embed="rId2"/>
          <a:srcRect/>
          <a:stretch>
            <a:fillRect/>
          </a:stretch>
        </p:blipFill>
        <p:spPr bwMode="auto">
          <a:xfrm rot="21402941">
            <a:off x="444277" y="2224744"/>
            <a:ext cx="6266458" cy="4406848"/>
          </a:xfrm>
          <a:prstGeom prst="rect">
            <a:avLst/>
          </a:prstGeom>
          <a:noFill/>
        </p:spPr>
      </p:pic>
    </p:spTree>
    <p:extLst>
      <p:ext uri="{BB962C8B-B14F-4D97-AF65-F5344CB8AC3E}">
        <p14:creationId xmlns:p14="http://schemas.microsoft.com/office/powerpoint/2010/main" val="218417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Goldenhar</a:t>
            </a:r>
            <a:r>
              <a:rPr lang="en-US" dirty="0" smtClean="0"/>
              <a:t> syndrome </a:t>
            </a:r>
            <a:endParaRPr lang="en-US" dirty="0"/>
          </a:p>
        </p:txBody>
      </p:sp>
      <p:pic>
        <p:nvPicPr>
          <p:cNvPr id="4" name="Picture 7" descr="E:\image21.jpg"/>
          <p:cNvPicPr>
            <a:picLocks noGrp="1" noChangeAspect="1" noChangeArrowheads="1"/>
          </p:cNvPicPr>
          <p:nvPr>
            <p:ph idx="1"/>
          </p:nvPr>
        </p:nvPicPr>
        <p:blipFill>
          <a:blip r:embed="rId2"/>
          <a:srcRect/>
          <a:stretch>
            <a:fillRect/>
          </a:stretch>
        </p:blipFill>
        <p:spPr bwMode="auto">
          <a:xfrm>
            <a:off x="1468192" y="2084832"/>
            <a:ext cx="5347422" cy="4315967"/>
          </a:xfrm>
          <a:prstGeom prst="rect">
            <a:avLst/>
          </a:prstGeom>
          <a:noFill/>
        </p:spPr>
      </p:pic>
    </p:spTree>
    <p:extLst>
      <p:ext uri="{BB962C8B-B14F-4D97-AF65-F5344CB8AC3E}">
        <p14:creationId xmlns:p14="http://schemas.microsoft.com/office/powerpoint/2010/main" val="399279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Common feature of the three syndromes </a:t>
            </a:r>
            <a:endParaRPr lang="en-US" dirty="0"/>
          </a:p>
        </p:txBody>
      </p:sp>
      <p:sp>
        <p:nvSpPr>
          <p:cNvPr id="3" name="Content Placeholder 2"/>
          <p:cNvSpPr>
            <a:spLocks noGrp="1"/>
          </p:cNvSpPr>
          <p:nvPr>
            <p:ph idx="1"/>
          </p:nvPr>
        </p:nvSpPr>
        <p:spPr/>
        <p:txBody>
          <a:bodyPr>
            <a:normAutofit/>
          </a:bodyPr>
          <a:lstStyle/>
          <a:p>
            <a:r>
              <a:rPr lang="en-US" sz="3200" dirty="0"/>
              <a:t>Small mandible leaves little room to displace the tongue</a:t>
            </a:r>
          </a:p>
          <a:p>
            <a:r>
              <a:rPr lang="en-US" sz="3200" dirty="0"/>
              <a:t>Upper air way obstruction</a:t>
            </a:r>
          </a:p>
          <a:p>
            <a:r>
              <a:rPr lang="en-US" sz="3200" dirty="0"/>
              <a:t>Difficult intubation</a:t>
            </a:r>
          </a:p>
          <a:p>
            <a:endParaRPr lang="en-US" sz="3200" dirty="0"/>
          </a:p>
        </p:txBody>
      </p:sp>
    </p:spTree>
    <p:extLst>
      <p:ext uri="{BB962C8B-B14F-4D97-AF65-F5344CB8AC3E}">
        <p14:creationId xmlns:p14="http://schemas.microsoft.com/office/powerpoint/2010/main" val="27419727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management </a:t>
            </a:r>
            <a:endParaRPr lang="en-US" dirty="0"/>
          </a:p>
        </p:txBody>
      </p:sp>
      <p:sp>
        <p:nvSpPr>
          <p:cNvPr id="3" name="Content Placeholder 2"/>
          <p:cNvSpPr>
            <a:spLocks noGrp="1"/>
          </p:cNvSpPr>
          <p:nvPr>
            <p:ph idx="1"/>
          </p:nvPr>
        </p:nvSpPr>
        <p:spPr/>
        <p:txBody>
          <a:bodyPr>
            <a:noAutofit/>
          </a:bodyPr>
          <a:lstStyle/>
          <a:p>
            <a:r>
              <a:rPr lang="en-US" sz="3200" dirty="0"/>
              <a:t>Anticholinergics </a:t>
            </a:r>
          </a:p>
          <a:p>
            <a:r>
              <a:rPr lang="en-US" sz="3200" dirty="0"/>
              <a:t>Avoid </a:t>
            </a:r>
            <a:r>
              <a:rPr lang="en-US" sz="3200" dirty="0" err="1"/>
              <a:t>opoids</a:t>
            </a:r>
            <a:endParaRPr lang="en-US" sz="3200" dirty="0"/>
          </a:p>
          <a:p>
            <a:r>
              <a:rPr lang="en-US" sz="3200" dirty="0" err="1"/>
              <a:t>ASpiration</a:t>
            </a:r>
            <a:r>
              <a:rPr lang="en-US" sz="3200" dirty="0"/>
              <a:t> </a:t>
            </a:r>
            <a:r>
              <a:rPr lang="en-US" sz="3200" dirty="0" err="1"/>
              <a:t>propylaxis</a:t>
            </a:r>
            <a:endParaRPr lang="en-US" sz="3200" dirty="0"/>
          </a:p>
          <a:p>
            <a:r>
              <a:rPr lang="en-US" sz="3200" dirty="0"/>
              <a:t>Prepare for </a:t>
            </a:r>
            <a:r>
              <a:rPr lang="en-US" sz="3200" dirty="0" err="1"/>
              <a:t>difficlt</a:t>
            </a:r>
            <a:r>
              <a:rPr lang="en-US" sz="3200" dirty="0"/>
              <a:t> intubation (</a:t>
            </a:r>
            <a:r>
              <a:rPr lang="en-US" sz="3200" dirty="0" err="1"/>
              <a:t>FOL,awake</a:t>
            </a:r>
            <a:r>
              <a:rPr lang="en-US" sz="3200" dirty="0"/>
              <a:t> intubation)</a:t>
            </a:r>
          </a:p>
          <a:p>
            <a:r>
              <a:rPr lang="en-US" sz="3200" dirty="0"/>
              <a:t>Inhalational induction</a:t>
            </a:r>
          </a:p>
          <a:p>
            <a:r>
              <a:rPr lang="en-US" sz="3200" dirty="0"/>
              <a:t>Use of LMA</a:t>
            </a:r>
          </a:p>
          <a:p>
            <a:r>
              <a:rPr lang="en-US" sz="3200" dirty="0" err="1"/>
              <a:t>Extubate</a:t>
            </a:r>
            <a:r>
              <a:rPr lang="en-US" sz="3200" dirty="0"/>
              <a:t> when fully awake</a:t>
            </a:r>
            <a:endParaRPr lang="en-US" sz="3200" dirty="0"/>
          </a:p>
        </p:txBody>
      </p:sp>
    </p:spTree>
    <p:extLst>
      <p:ext uri="{BB962C8B-B14F-4D97-AF65-F5344CB8AC3E}">
        <p14:creationId xmlns:p14="http://schemas.microsoft.com/office/powerpoint/2010/main" val="1646233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Hypertelorism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an abnormally enlarged </a:t>
            </a:r>
            <a:r>
              <a:rPr lang="en-US" sz="3200" dirty="0" err="1">
                <a:solidFill>
                  <a:srgbClr val="FF0000"/>
                </a:solidFill>
              </a:rPr>
              <a:t>interpupillary</a:t>
            </a:r>
            <a:r>
              <a:rPr lang="en-US" sz="3200" dirty="0">
                <a:solidFill>
                  <a:srgbClr val="FF0000"/>
                </a:solidFill>
              </a:rPr>
              <a:t> distance, and results in increased distance between the orbits</a:t>
            </a:r>
            <a:r>
              <a:rPr lang="en-US" sz="3200" dirty="0"/>
              <a:t>. Primary hypertelorism results from under migration of the paired nasal swellings, which results in an increased distance between the two halves of the face.</a:t>
            </a:r>
            <a:endParaRPr lang="en-US" sz="3200" dirty="0"/>
          </a:p>
        </p:txBody>
      </p:sp>
    </p:spTree>
    <p:extLst>
      <p:ext uri="{BB962C8B-B14F-4D97-AF65-F5344CB8AC3E}">
        <p14:creationId xmlns:p14="http://schemas.microsoft.com/office/powerpoint/2010/main" val="1932861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a:t>
            </a:r>
            <a:endParaRPr lang="en-US" dirty="0"/>
          </a:p>
        </p:txBody>
      </p:sp>
      <p:sp>
        <p:nvSpPr>
          <p:cNvPr id="3" name="Content Placeholder 2"/>
          <p:cNvSpPr>
            <a:spLocks noGrp="1"/>
          </p:cNvSpPr>
          <p:nvPr>
            <p:ph idx="1"/>
          </p:nvPr>
        </p:nvSpPr>
        <p:spPr/>
        <p:txBody>
          <a:bodyPr>
            <a:normAutofit/>
          </a:bodyPr>
          <a:lstStyle/>
          <a:p>
            <a:r>
              <a:rPr lang="en-US" sz="3200" dirty="0"/>
              <a:t>Genetics</a:t>
            </a:r>
          </a:p>
          <a:p>
            <a:r>
              <a:rPr lang="en-US" sz="3200" dirty="0"/>
              <a:t>Life style choice </a:t>
            </a:r>
          </a:p>
          <a:p>
            <a:r>
              <a:rPr lang="en-US" sz="3200" dirty="0"/>
              <a:t>Medications </a:t>
            </a:r>
          </a:p>
          <a:p>
            <a:r>
              <a:rPr lang="en-US" sz="3200" dirty="0"/>
              <a:t>Infection </a:t>
            </a:r>
          </a:p>
          <a:p>
            <a:r>
              <a:rPr lang="en-US" sz="3200" dirty="0"/>
              <a:t>Combinations of many factors </a:t>
            </a:r>
            <a:endParaRPr lang="en-US" sz="3200" dirty="0"/>
          </a:p>
        </p:txBody>
      </p:sp>
    </p:spTree>
    <p:extLst>
      <p:ext uri="{BB962C8B-B14F-4D97-AF65-F5344CB8AC3E}">
        <p14:creationId xmlns:p14="http://schemas.microsoft.com/office/powerpoint/2010/main" val="2159363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712891" y="2286000"/>
            <a:ext cx="8178084"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29178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hypertelorism </a:t>
            </a:r>
            <a:endParaRPr lang="en-US" dirty="0"/>
          </a:p>
        </p:txBody>
      </p:sp>
      <p:sp>
        <p:nvSpPr>
          <p:cNvPr id="3" name="Content Placeholder 2"/>
          <p:cNvSpPr>
            <a:spLocks noGrp="1"/>
          </p:cNvSpPr>
          <p:nvPr>
            <p:ph idx="1"/>
          </p:nvPr>
        </p:nvSpPr>
        <p:spPr/>
        <p:txBody>
          <a:bodyPr>
            <a:noAutofit/>
          </a:bodyPr>
          <a:lstStyle/>
          <a:p>
            <a:r>
              <a:rPr lang="en-US" sz="3200" dirty="0"/>
              <a:t>Qualified operation team</a:t>
            </a:r>
          </a:p>
          <a:p>
            <a:r>
              <a:rPr lang="en-US" sz="3200" dirty="0"/>
              <a:t>Difficult intubation Vs elective tracheostomy</a:t>
            </a:r>
          </a:p>
          <a:p>
            <a:r>
              <a:rPr lang="en-US" sz="3200" dirty="0"/>
              <a:t>Excess blood  loss</a:t>
            </a:r>
          </a:p>
          <a:p>
            <a:r>
              <a:rPr lang="en-US" sz="3200" dirty="0"/>
              <a:t>Hypothermia </a:t>
            </a:r>
          </a:p>
          <a:p>
            <a:r>
              <a:rPr lang="en-US" sz="3200" dirty="0"/>
              <a:t>Intracranial hypertension</a:t>
            </a:r>
          </a:p>
          <a:p>
            <a:r>
              <a:rPr lang="en-US" sz="3200" dirty="0"/>
              <a:t>Invasive monitoring </a:t>
            </a:r>
          </a:p>
          <a:p>
            <a:r>
              <a:rPr lang="en-US" sz="3200" dirty="0"/>
              <a:t>Post operation ventilation of lungs </a:t>
            </a:r>
            <a:endParaRPr lang="en-US" sz="3200" dirty="0"/>
          </a:p>
        </p:txBody>
      </p:sp>
    </p:spTree>
    <p:extLst>
      <p:ext uri="{BB962C8B-B14F-4D97-AF65-F5344CB8AC3E}">
        <p14:creationId xmlns:p14="http://schemas.microsoft.com/office/powerpoint/2010/main" val="685916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err="1"/>
              <a:t>Interdisiciplinary</a:t>
            </a:r>
            <a:r>
              <a:rPr lang="en-US" sz="3200" dirty="0"/>
              <a:t> cooperation</a:t>
            </a:r>
          </a:p>
          <a:p>
            <a:r>
              <a:rPr lang="en-US" sz="3200" dirty="0"/>
              <a:t>Predict difficult air way</a:t>
            </a:r>
          </a:p>
          <a:p>
            <a:r>
              <a:rPr lang="en-US" sz="3200" dirty="0"/>
              <a:t>Tube </a:t>
            </a:r>
            <a:r>
              <a:rPr lang="en-US" sz="3200" dirty="0" err="1"/>
              <a:t>dislogement</a:t>
            </a:r>
            <a:r>
              <a:rPr lang="en-US" sz="3200" dirty="0"/>
              <a:t> </a:t>
            </a:r>
          </a:p>
          <a:p>
            <a:r>
              <a:rPr lang="en-US" sz="3200" dirty="0"/>
              <a:t>Quantification of blood loss</a:t>
            </a:r>
          </a:p>
          <a:p>
            <a:r>
              <a:rPr lang="en-US" sz="3200" dirty="0"/>
              <a:t>Controlled hypotension </a:t>
            </a:r>
          </a:p>
          <a:p>
            <a:r>
              <a:rPr lang="en-US" sz="3200" dirty="0"/>
              <a:t> Hypothermia </a:t>
            </a:r>
            <a:endParaRPr lang="en-US" sz="3200" dirty="0"/>
          </a:p>
        </p:txBody>
      </p:sp>
    </p:spTree>
    <p:extLst>
      <p:ext uri="{BB962C8B-B14F-4D97-AF65-F5344CB8AC3E}">
        <p14:creationId xmlns:p14="http://schemas.microsoft.com/office/powerpoint/2010/main" val="1219401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Avoid neuronal palsy</a:t>
            </a:r>
          </a:p>
          <a:p>
            <a:r>
              <a:rPr lang="en-US" sz="3200" dirty="0"/>
              <a:t>Hyperventilation</a:t>
            </a:r>
          </a:p>
          <a:p>
            <a:r>
              <a:rPr lang="en-US" sz="3200" dirty="0"/>
              <a:t>Head position </a:t>
            </a:r>
          </a:p>
          <a:p>
            <a:r>
              <a:rPr lang="en-US" sz="3200" dirty="0"/>
              <a:t>Lasix </a:t>
            </a:r>
            <a:endParaRPr lang="en-US" sz="3200" dirty="0"/>
          </a:p>
        </p:txBody>
      </p:sp>
    </p:spTree>
    <p:extLst>
      <p:ext uri="{BB962C8B-B14F-4D97-AF65-F5344CB8AC3E}">
        <p14:creationId xmlns:p14="http://schemas.microsoft.com/office/powerpoint/2010/main" val="29740645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Mannitol</a:t>
            </a:r>
          </a:p>
          <a:p>
            <a:r>
              <a:rPr lang="en-US" sz="3200" dirty="0" err="1"/>
              <a:t>Sterids</a:t>
            </a:r>
            <a:endParaRPr lang="en-US" sz="3200" dirty="0"/>
          </a:p>
          <a:p>
            <a:r>
              <a:rPr lang="en-US" sz="3200" dirty="0"/>
              <a:t>Limit 5%DW</a:t>
            </a:r>
          </a:p>
          <a:p>
            <a:r>
              <a:rPr lang="en-US" sz="3200" dirty="0" err="1"/>
              <a:t>Thiopentone</a:t>
            </a:r>
            <a:r>
              <a:rPr lang="en-US" sz="3200" dirty="0"/>
              <a:t> </a:t>
            </a:r>
          </a:p>
          <a:p>
            <a:endParaRPr lang="en-US" sz="2400" dirty="0"/>
          </a:p>
        </p:txBody>
      </p:sp>
    </p:spTree>
    <p:extLst>
      <p:ext uri="{BB962C8B-B14F-4D97-AF65-F5344CB8AC3E}">
        <p14:creationId xmlns:p14="http://schemas.microsoft.com/office/powerpoint/2010/main" val="3363926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err="1"/>
              <a:t>Oculo</a:t>
            </a:r>
            <a:r>
              <a:rPr lang="en-US" sz="3200" dirty="0"/>
              <a:t> cardiac reflex</a:t>
            </a:r>
          </a:p>
          <a:p>
            <a:r>
              <a:rPr lang="en-US" sz="3200" dirty="0"/>
              <a:t>Wire cutter</a:t>
            </a:r>
          </a:p>
          <a:p>
            <a:endParaRPr lang="en-US" sz="2400" dirty="0"/>
          </a:p>
        </p:txBody>
      </p:sp>
    </p:spTree>
    <p:extLst>
      <p:ext uri="{BB962C8B-B14F-4D97-AF65-F5344CB8AC3E}">
        <p14:creationId xmlns:p14="http://schemas.microsoft.com/office/powerpoint/2010/main" val="3144152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Ludwig's angina </a:t>
            </a:r>
            <a:endParaRPr lang="en-US" dirty="0"/>
          </a:p>
        </p:txBody>
      </p:sp>
      <p:sp>
        <p:nvSpPr>
          <p:cNvPr id="3" name="Content Placeholder 2"/>
          <p:cNvSpPr>
            <a:spLocks noGrp="1"/>
          </p:cNvSpPr>
          <p:nvPr>
            <p:ph idx="1"/>
          </p:nvPr>
        </p:nvSpPr>
        <p:spPr/>
        <p:txBody>
          <a:bodyPr>
            <a:normAutofit/>
          </a:bodyPr>
          <a:lstStyle/>
          <a:p>
            <a:r>
              <a:rPr lang="en-US" sz="3200" dirty="0"/>
              <a:t>Ludwig’s angina is a severe diffuse cellulitis which spreads rapidly and becomes </a:t>
            </a:r>
            <a:r>
              <a:rPr lang="en-US" sz="3200" dirty="0">
                <a:solidFill>
                  <a:srgbClr val="FF0000"/>
                </a:solidFill>
              </a:rPr>
              <a:t>a potentially life-threatening condition due to the risk of impending airway obstruction</a:t>
            </a:r>
          </a:p>
          <a:p>
            <a:r>
              <a:rPr lang="en-US" sz="3200" dirty="0"/>
              <a:t>It is considered as emergency because </a:t>
            </a:r>
            <a:r>
              <a:rPr lang="en-US" sz="3200" dirty="0">
                <a:solidFill>
                  <a:srgbClr val="FF0000"/>
                </a:solidFill>
              </a:rPr>
              <a:t>edema, distortion, and obstruction of the airway. </a:t>
            </a:r>
            <a:r>
              <a:rPr lang="en-US" sz="3200" dirty="0"/>
              <a:t>Hence, early diagnosis, securing airway and treatment of Ludwig’s angina is exceptionally </a:t>
            </a:r>
            <a:r>
              <a:rPr lang="en-US" sz="3200" dirty="0" smtClean="0"/>
              <a:t>important.</a:t>
            </a:r>
            <a:endParaRPr lang="en-US" sz="3200" dirty="0"/>
          </a:p>
        </p:txBody>
      </p:sp>
    </p:spTree>
    <p:extLst>
      <p:ext uri="{BB962C8B-B14F-4D97-AF65-F5344CB8AC3E}">
        <p14:creationId xmlns:p14="http://schemas.microsoft.com/office/powerpoint/2010/main" val="2701543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042" y="1803043"/>
            <a:ext cx="7907628" cy="4881092"/>
          </a:xfrm>
        </p:spPr>
      </p:pic>
    </p:spTree>
    <p:extLst>
      <p:ext uri="{BB962C8B-B14F-4D97-AF65-F5344CB8AC3E}">
        <p14:creationId xmlns:p14="http://schemas.microsoft.com/office/powerpoint/2010/main" val="1450240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Ludwig’s angina was first described in 1836 by Wilhelm Friedrich von Ludwig and angina implies the suffocating sensation. </a:t>
            </a:r>
            <a:r>
              <a:rPr lang="en-US" sz="3200" dirty="0">
                <a:solidFill>
                  <a:srgbClr val="FF0000"/>
                </a:solidFill>
              </a:rPr>
              <a:t>It is characterized as a rapidly progressive gangrenous cellulitis of the soft tissues of the neck and floor of the mouth</a:t>
            </a:r>
            <a:r>
              <a:rPr lang="en-US" sz="3200" dirty="0"/>
              <a:t>. Primary cause is related to gingival or dental disease  infections of the second and third molars. Other causes include per tonsillar and </a:t>
            </a:r>
            <a:r>
              <a:rPr lang="en-US" sz="3200" dirty="0" err="1"/>
              <a:t>parapharyngeal</a:t>
            </a:r>
            <a:r>
              <a:rPr lang="en-US" sz="3200" dirty="0"/>
              <a:t> abscess, oral laceration, otitis media</a:t>
            </a:r>
          </a:p>
        </p:txBody>
      </p:sp>
    </p:spTree>
    <p:extLst>
      <p:ext uri="{BB962C8B-B14F-4D97-AF65-F5344CB8AC3E}">
        <p14:creationId xmlns:p14="http://schemas.microsoft.com/office/powerpoint/2010/main" val="17375420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Clinical presentation </a:t>
            </a:r>
            <a:endParaRPr lang="en-US" dirty="0"/>
          </a:p>
        </p:txBody>
      </p:sp>
      <p:sp>
        <p:nvSpPr>
          <p:cNvPr id="3" name="Content Placeholder 2"/>
          <p:cNvSpPr>
            <a:spLocks noGrp="1"/>
          </p:cNvSpPr>
          <p:nvPr>
            <p:ph idx="1"/>
          </p:nvPr>
        </p:nvSpPr>
        <p:spPr/>
        <p:txBody>
          <a:bodyPr/>
          <a:lstStyle/>
          <a:p>
            <a:r>
              <a:rPr lang="en-US" sz="3200" dirty="0"/>
              <a:t>a history of recent dental procedures and </a:t>
            </a:r>
            <a:r>
              <a:rPr lang="en-US" sz="3200" dirty="0">
                <a:solidFill>
                  <a:srgbClr val="FF0000"/>
                </a:solidFill>
              </a:rPr>
              <a:t>neck swelling</a:t>
            </a:r>
            <a:r>
              <a:rPr lang="en-US" sz="3200" dirty="0"/>
              <a:t>. Less common complaints include </a:t>
            </a:r>
            <a:r>
              <a:rPr lang="en-US" sz="3200" dirty="0">
                <a:solidFill>
                  <a:srgbClr val="FF0000"/>
                </a:solidFill>
              </a:rPr>
              <a:t>neck pain, dysphonia, dysphagia, and dysarthria</a:t>
            </a:r>
            <a:r>
              <a:rPr lang="en-US" sz="3200" dirty="0"/>
              <a:t>. Less than one third of adults will present in </a:t>
            </a:r>
            <a:r>
              <a:rPr lang="en-US" sz="3200" dirty="0">
                <a:solidFill>
                  <a:srgbClr val="FF0000"/>
                </a:solidFill>
              </a:rPr>
              <a:t>respiratory distress with dyspnea, tachypnea, or stridor</a:t>
            </a:r>
            <a:r>
              <a:rPr lang="en-US" sz="3200" dirty="0"/>
              <a:t>. On physical examination, over </a:t>
            </a:r>
            <a:r>
              <a:rPr lang="en-US" sz="3200" dirty="0">
                <a:solidFill>
                  <a:srgbClr val="FF0000"/>
                </a:solidFill>
              </a:rPr>
              <a:t>95% of patients have bilateral submandibular swelling and an elevated or protruding tongue</a:t>
            </a:r>
            <a:r>
              <a:rPr lang="en-US" dirty="0"/>
              <a:t>. </a:t>
            </a:r>
            <a:endParaRPr lang="en-US" dirty="0"/>
          </a:p>
        </p:txBody>
      </p:sp>
    </p:spTree>
    <p:extLst>
      <p:ext uri="{BB962C8B-B14F-4D97-AF65-F5344CB8AC3E}">
        <p14:creationId xmlns:p14="http://schemas.microsoft.com/office/powerpoint/2010/main" val="8769586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elements for definitive diagnosis</a:t>
            </a:r>
          </a:p>
        </p:txBody>
      </p:sp>
      <p:sp>
        <p:nvSpPr>
          <p:cNvPr id="3" name="Content Placeholder 2"/>
          <p:cNvSpPr>
            <a:spLocks noGrp="1"/>
          </p:cNvSpPr>
          <p:nvPr>
            <p:ph idx="1"/>
          </p:nvPr>
        </p:nvSpPr>
        <p:spPr/>
        <p:txBody>
          <a:bodyPr>
            <a:normAutofit/>
          </a:bodyPr>
          <a:lstStyle/>
          <a:p>
            <a:r>
              <a:rPr lang="en-US" sz="3200" dirty="0"/>
              <a:t>1.Cellulitis of the submandibular (composed of sublingual and sub mylohyoid) space.</a:t>
            </a:r>
          </a:p>
          <a:p>
            <a:r>
              <a:rPr lang="en-US" sz="3200" dirty="0"/>
              <a:t>2.A bilateral infection</a:t>
            </a:r>
          </a:p>
          <a:p>
            <a:r>
              <a:rPr lang="en-US" sz="3200" dirty="0"/>
              <a:t>3.Aggressive or rapidly spreading</a:t>
            </a:r>
          </a:p>
          <a:p>
            <a:endParaRPr lang="en-US" sz="3200" dirty="0"/>
          </a:p>
        </p:txBody>
      </p:sp>
    </p:spTree>
    <p:extLst>
      <p:ext uri="{BB962C8B-B14F-4D97-AF65-F5344CB8AC3E}">
        <p14:creationId xmlns:p14="http://schemas.microsoft.com/office/powerpoint/2010/main" val="25899647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a:t>Airway control, antibacterial therapy and incision and drainage are the main stay of initial treatment </a:t>
            </a:r>
            <a:r>
              <a:rPr lang="en-US" sz="3200" u="sng" dirty="0">
                <a:solidFill>
                  <a:srgbClr val="FF0000"/>
                </a:solidFill>
              </a:rPr>
              <a:t>Airway management is the foundation of treatment for patients with Ludwig’s angina. </a:t>
            </a:r>
            <a:r>
              <a:rPr lang="en-US" sz="3200" dirty="0"/>
              <a:t>Antibiotics should be initiated as soon as possible. </a:t>
            </a:r>
            <a:endParaRPr lang="en-US" sz="3200" dirty="0"/>
          </a:p>
        </p:txBody>
      </p:sp>
    </p:spTree>
    <p:extLst>
      <p:ext uri="{BB962C8B-B14F-4D97-AF65-F5344CB8AC3E}">
        <p14:creationId xmlns:p14="http://schemas.microsoft.com/office/powerpoint/2010/main" val="323316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implications </a:t>
            </a:r>
            <a:endParaRPr lang="en-US" dirty="0"/>
          </a:p>
        </p:txBody>
      </p:sp>
      <p:sp>
        <p:nvSpPr>
          <p:cNvPr id="3" name="Content Placeholder 2"/>
          <p:cNvSpPr>
            <a:spLocks noGrp="1"/>
          </p:cNvSpPr>
          <p:nvPr>
            <p:ph idx="1"/>
          </p:nvPr>
        </p:nvSpPr>
        <p:spPr/>
        <p:txBody>
          <a:bodyPr/>
          <a:lstStyle/>
          <a:p>
            <a:r>
              <a:rPr lang="en-US" sz="3200" dirty="0"/>
              <a:t>Anesthesia Implications Patients with Ludwig’s angina often present </a:t>
            </a:r>
            <a:r>
              <a:rPr lang="en-US" sz="3200" dirty="0">
                <a:solidFill>
                  <a:srgbClr val="FF0000"/>
                </a:solidFill>
              </a:rPr>
              <a:t>with </a:t>
            </a:r>
            <a:r>
              <a:rPr lang="en-US" sz="3200" dirty="0" err="1">
                <a:solidFill>
                  <a:srgbClr val="FF0000"/>
                </a:solidFill>
              </a:rPr>
              <a:t>trismus</a:t>
            </a:r>
            <a:r>
              <a:rPr lang="en-US" sz="3200" dirty="0">
                <a:solidFill>
                  <a:srgbClr val="FF0000"/>
                </a:solidFill>
              </a:rPr>
              <a:t> due irritation of masticatory muscle, dyspnea, tachypnea, inspiratory stridor and cyanosis are signs of impending airway obstruction. </a:t>
            </a:r>
            <a:r>
              <a:rPr lang="en-US" sz="3200" dirty="0"/>
              <a:t>The decision to secure the airway continues to rely on </a:t>
            </a:r>
            <a:r>
              <a:rPr lang="en-US" sz="3200" dirty="0">
                <a:solidFill>
                  <a:srgbClr val="FF0000"/>
                </a:solidFill>
              </a:rPr>
              <a:t>clinical judgment, review of diagnostic and imaging studies surgical plan and skill and experience</a:t>
            </a:r>
            <a:r>
              <a:rPr lang="en-US" sz="2400" dirty="0">
                <a:solidFill>
                  <a:srgbClr val="FF0000"/>
                </a:solidFill>
              </a:rPr>
              <a:t>.</a:t>
            </a:r>
            <a:endParaRPr lang="en-US" sz="2400" dirty="0">
              <a:solidFill>
                <a:srgbClr val="FF0000"/>
              </a:solidFill>
            </a:endParaRPr>
          </a:p>
        </p:txBody>
      </p:sp>
    </p:spTree>
    <p:extLst>
      <p:ext uri="{BB962C8B-B14F-4D97-AF65-F5344CB8AC3E}">
        <p14:creationId xmlns:p14="http://schemas.microsoft.com/office/powerpoint/2010/main" val="3354730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Stridor </a:t>
            </a:r>
            <a:endParaRPr lang="en-US" dirty="0"/>
          </a:p>
        </p:txBody>
      </p:sp>
      <p:sp>
        <p:nvSpPr>
          <p:cNvPr id="3" name="Content Placeholder 2"/>
          <p:cNvSpPr>
            <a:spLocks noGrp="1"/>
          </p:cNvSpPr>
          <p:nvPr>
            <p:ph idx="1"/>
          </p:nvPr>
        </p:nvSpPr>
        <p:spPr/>
        <p:txBody>
          <a:bodyPr>
            <a:normAutofit lnSpcReduction="10000"/>
          </a:bodyPr>
          <a:lstStyle/>
          <a:p>
            <a:r>
              <a:rPr lang="en-US" sz="3200" dirty="0"/>
              <a:t>Stridor is a harsh, noisy, vibratory high-pitched, predominantly inspiratory sound produced due to </a:t>
            </a:r>
            <a:r>
              <a:rPr lang="en-US" sz="3200" dirty="0">
                <a:solidFill>
                  <a:srgbClr val="FF0000"/>
                </a:solidFill>
              </a:rPr>
              <a:t>upper airway obstruction resulting in turbulent airflow in the respiratory passages</a:t>
            </a:r>
            <a:r>
              <a:rPr lang="en-US" sz="3200" dirty="0"/>
              <a:t>. It is symptomatic of underlying pathology and may herald life-threatening airway obstruction. This can progress rapidly to </a:t>
            </a:r>
            <a:r>
              <a:rPr lang="en-US" sz="3200" dirty="0">
                <a:solidFill>
                  <a:srgbClr val="FF0000"/>
                </a:solidFill>
              </a:rPr>
              <a:t>complete airway obstruction and death from asphyxiation. Stridor at rest, implies that there is a reduction in airway diameter of at least 50%.</a:t>
            </a:r>
            <a:endParaRPr lang="en-US" sz="3200" dirty="0">
              <a:solidFill>
                <a:srgbClr val="FF0000"/>
              </a:solidFill>
            </a:endParaRPr>
          </a:p>
        </p:txBody>
      </p:sp>
    </p:spTree>
    <p:extLst>
      <p:ext uri="{BB962C8B-B14F-4D97-AF65-F5344CB8AC3E}">
        <p14:creationId xmlns:p14="http://schemas.microsoft.com/office/powerpoint/2010/main" val="37859429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Airway management </a:t>
            </a:r>
            <a:endParaRPr lang="en-US" dirty="0"/>
          </a:p>
        </p:txBody>
      </p:sp>
      <p:sp>
        <p:nvSpPr>
          <p:cNvPr id="3" name="Content Placeholder 2"/>
          <p:cNvSpPr>
            <a:spLocks noGrp="1"/>
          </p:cNvSpPr>
          <p:nvPr>
            <p:ph idx="1"/>
          </p:nvPr>
        </p:nvSpPr>
        <p:spPr/>
        <p:txBody>
          <a:bodyPr/>
          <a:lstStyle/>
          <a:p>
            <a:r>
              <a:rPr lang="en-US" sz="3200" dirty="0"/>
              <a:t>Difficult airway management equipment with </a:t>
            </a:r>
            <a:r>
              <a:rPr lang="en-US" sz="3200" dirty="0">
                <a:solidFill>
                  <a:srgbClr val="FF0000"/>
                </a:solidFill>
              </a:rPr>
              <a:t>tracheostomy</a:t>
            </a:r>
            <a:r>
              <a:rPr lang="en-US" sz="3200" dirty="0"/>
              <a:t> should be kept ready. Endotracheal intubation is difficult in this patient may precipitate acute airway collapse hence </a:t>
            </a:r>
            <a:r>
              <a:rPr lang="en-US" sz="3200" dirty="0">
                <a:solidFill>
                  <a:srgbClr val="FF0000"/>
                </a:solidFill>
              </a:rPr>
              <a:t>awake </a:t>
            </a:r>
            <a:r>
              <a:rPr lang="en-US" sz="3200" dirty="0" err="1">
                <a:solidFill>
                  <a:srgbClr val="FF0000"/>
                </a:solidFill>
              </a:rPr>
              <a:t>fiberoptic</a:t>
            </a:r>
            <a:r>
              <a:rPr lang="en-US" sz="3200" dirty="0">
                <a:solidFill>
                  <a:srgbClr val="FF0000"/>
                </a:solidFill>
              </a:rPr>
              <a:t> intubation is method of choice in establishing the airway and should be first line of management</a:t>
            </a:r>
            <a:r>
              <a:rPr lang="en-US" sz="2400" dirty="0">
                <a:solidFill>
                  <a:srgbClr val="FF0000"/>
                </a:solidFill>
              </a:rPr>
              <a:t>.</a:t>
            </a:r>
            <a:endParaRPr lang="en-US" sz="2400" dirty="0">
              <a:solidFill>
                <a:srgbClr val="FF0000"/>
              </a:solidFill>
            </a:endParaRPr>
          </a:p>
        </p:txBody>
      </p:sp>
    </p:spTree>
    <p:extLst>
      <p:ext uri="{BB962C8B-B14F-4D97-AF65-F5344CB8AC3E}">
        <p14:creationId xmlns:p14="http://schemas.microsoft.com/office/powerpoint/2010/main" val="38188575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Anesthetic plan and management for Ludwig's angina </a:t>
            </a:r>
          </a:p>
        </p:txBody>
      </p:sp>
      <p:sp>
        <p:nvSpPr>
          <p:cNvPr id="3" name="Content Placeholder 2"/>
          <p:cNvSpPr>
            <a:spLocks noGrp="1"/>
          </p:cNvSpPr>
          <p:nvPr>
            <p:ph idx="1"/>
          </p:nvPr>
        </p:nvSpPr>
        <p:spPr/>
        <p:txBody>
          <a:bodyPr>
            <a:noAutofit/>
          </a:bodyPr>
          <a:lstStyle/>
          <a:p>
            <a:r>
              <a:rPr lang="en-US" sz="3200" dirty="0"/>
              <a:t>100% Oxygen in sitting position </a:t>
            </a:r>
          </a:p>
          <a:p>
            <a:r>
              <a:rPr lang="en-US" sz="3200" dirty="0"/>
              <a:t>Dexamethasone </a:t>
            </a:r>
          </a:p>
          <a:p>
            <a:r>
              <a:rPr lang="en-US" sz="3200" dirty="0"/>
              <a:t>Nebulized </a:t>
            </a:r>
            <a:r>
              <a:rPr lang="en-US" sz="3200" dirty="0" err="1"/>
              <a:t>Epineprine</a:t>
            </a:r>
            <a:r>
              <a:rPr lang="en-US" sz="3200" dirty="0"/>
              <a:t> 1mg in 1000 solution (1ml in 5ml 0.9% saline )</a:t>
            </a:r>
          </a:p>
          <a:p>
            <a:r>
              <a:rPr lang="en-US" sz="3200" dirty="0"/>
              <a:t>Avoid  Blind Nasal intubation </a:t>
            </a:r>
          </a:p>
          <a:p>
            <a:r>
              <a:rPr lang="en-US" sz="3200" dirty="0"/>
              <a:t>Avoid  direct </a:t>
            </a:r>
            <a:r>
              <a:rPr lang="en-US" sz="3200" dirty="0" err="1"/>
              <a:t>Orotracheal</a:t>
            </a:r>
            <a:r>
              <a:rPr lang="en-US" sz="3200" dirty="0"/>
              <a:t> intubation </a:t>
            </a:r>
          </a:p>
          <a:p>
            <a:r>
              <a:rPr lang="en-US" sz="3200" dirty="0">
                <a:solidFill>
                  <a:srgbClr val="FF0000"/>
                </a:solidFill>
              </a:rPr>
              <a:t>awake </a:t>
            </a:r>
            <a:r>
              <a:rPr lang="en-US" sz="3200" dirty="0" err="1">
                <a:solidFill>
                  <a:srgbClr val="FF0000"/>
                </a:solidFill>
              </a:rPr>
              <a:t>fiberoptic</a:t>
            </a:r>
            <a:r>
              <a:rPr lang="en-US" sz="3200" dirty="0">
                <a:solidFill>
                  <a:srgbClr val="FF0000"/>
                </a:solidFill>
              </a:rPr>
              <a:t> intubation if fails </a:t>
            </a:r>
            <a:endParaRPr lang="en-US" sz="3200" dirty="0"/>
          </a:p>
          <a:p>
            <a:r>
              <a:rPr lang="en-US" sz="3200" dirty="0">
                <a:solidFill>
                  <a:srgbClr val="FF0000"/>
                </a:solidFill>
              </a:rPr>
              <a:t>Surgical tracheostomy </a:t>
            </a:r>
            <a:r>
              <a:rPr lang="en-US" sz="3200" dirty="0"/>
              <a:t>is performed under </a:t>
            </a:r>
            <a:r>
              <a:rPr lang="en-US" sz="3200" dirty="0">
                <a:solidFill>
                  <a:srgbClr val="FF0000"/>
                </a:solidFill>
              </a:rPr>
              <a:t>local anesthesia</a:t>
            </a:r>
            <a:r>
              <a:rPr lang="en-US" sz="3200" dirty="0"/>
              <a:t>. </a:t>
            </a:r>
            <a:endParaRPr lang="en-US" sz="3200" dirty="0"/>
          </a:p>
        </p:txBody>
      </p:sp>
    </p:spTree>
    <p:extLst>
      <p:ext uri="{BB962C8B-B14F-4D97-AF65-F5344CB8AC3E}">
        <p14:creationId xmlns:p14="http://schemas.microsoft.com/office/powerpoint/2010/main" val="232577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sinus surgery </a:t>
            </a:r>
            <a:endParaRPr lang="en-US" dirty="0"/>
          </a:p>
        </p:txBody>
      </p:sp>
      <p:sp>
        <p:nvSpPr>
          <p:cNvPr id="3" name="Content Placeholder 2"/>
          <p:cNvSpPr>
            <a:spLocks noGrp="1"/>
          </p:cNvSpPr>
          <p:nvPr>
            <p:ph idx="1"/>
          </p:nvPr>
        </p:nvSpPr>
        <p:spPr/>
        <p:txBody>
          <a:bodyPr>
            <a:normAutofit/>
          </a:bodyPr>
          <a:lstStyle/>
          <a:p>
            <a:r>
              <a:rPr lang="en-US" sz="3200" b="1" dirty="0"/>
              <a:t>Sinusitis is an </a:t>
            </a:r>
            <a:r>
              <a:rPr lang="en-US" sz="3200" dirty="0"/>
              <a:t>Inflammation of the sinus The sinuses are </a:t>
            </a:r>
            <a:r>
              <a:rPr lang="en-US" sz="3200" dirty="0">
                <a:solidFill>
                  <a:srgbClr val="FF0000"/>
                </a:solidFill>
              </a:rPr>
              <a:t>a system of cavities located both inside and outside the skull. </a:t>
            </a:r>
            <a:r>
              <a:rPr lang="en-US" sz="3200" dirty="0"/>
              <a:t>Sinuses can produce symptoms, including facial pain and nasal congestion when irritated.</a:t>
            </a:r>
          </a:p>
          <a:p>
            <a:endParaRPr lang="en-US" sz="3200" dirty="0"/>
          </a:p>
        </p:txBody>
      </p:sp>
    </p:spTree>
    <p:extLst>
      <p:ext uri="{BB962C8B-B14F-4D97-AF65-F5344CB8AC3E}">
        <p14:creationId xmlns:p14="http://schemas.microsoft.com/office/powerpoint/2010/main" val="8831916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Treatment </a:t>
            </a:r>
            <a:endParaRPr lang="en-US" dirty="0"/>
          </a:p>
        </p:txBody>
      </p:sp>
      <p:sp>
        <p:nvSpPr>
          <p:cNvPr id="3" name="Content Placeholder 2"/>
          <p:cNvSpPr>
            <a:spLocks noGrp="1"/>
          </p:cNvSpPr>
          <p:nvPr>
            <p:ph idx="1"/>
          </p:nvPr>
        </p:nvSpPr>
        <p:spPr/>
        <p:txBody>
          <a:bodyPr/>
          <a:lstStyle/>
          <a:p>
            <a:r>
              <a:rPr lang="en-US" sz="3200" b="1" dirty="0">
                <a:ln w="0"/>
                <a:solidFill>
                  <a:schemeClr val="tx2">
                    <a:lumMod val="50000"/>
                  </a:schemeClr>
                </a:solidFill>
              </a:rPr>
              <a:t>1.Medical (Antibiotics ,Nasal Decongestants, including Antihistamines )</a:t>
            </a:r>
          </a:p>
          <a:p>
            <a:r>
              <a:rPr lang="en-US" sz="3200" b="1" dirty="0">
                <a:ln w="0"/>
                <a:solidFill>
                  <a:schemeClr val="tx2">
                    <a:lumMod val="50000"/>
                  </a:schemeClr>
                </a:solidFill>
              </a:rPr>
              <a:t>Surgical </a:t>
            </a:r>
          </a:p>
          <a:p>
            <a:r>
              <a:rPr lang="en-US" sz="3200" b="1" dirty="0">
                <a:ln w="0"/>
                <a:solidFill>
                  <a:schemeClr val="tx2">
                    <a:lumMod val="50000"/>
                  </a:schemeClr>
                </a:solidFill>
              </a:rPr>
              <a:t>2.Endoscopic Sinus Surgery (ESS</a:t>
            </a:r>
            <a:r>
              <a:rPr lang="en-US" sz="2400" b="1" dirty="0">
                <a:ln w="0"/>
                <a:solidFill>
                  <a:schemeClr val="tx2">
                    <a:lumMod val="50000"/>
                  </a:schemeClr>
                </a:solidFill>
              </a:rPr>
              <a:t>):</a:t>
            </a:r>
            <a:endParaRPr lang="en-US" sz="2400" b="1" dirty="0">
              <a:ln w="0"/>
              <a:solidFill>
                <a:schemeClr val="tx2">
                  <a:lumMod val="50000"/>
                </a:schemeClr>
              </a:solidFill>
            </a:endParaRPr>
          </a:p>
        </p:txBody>
      </p:sp>
    </p:spTree>
    <p:extLst>
      <p:ext uri="{BB962C8B-B14F-4D97-AF65-F5344CB8AC3E}">
        <p14:creationId xmlns:p14="http://schemas.microsoft.com/office/powerpoint/2010/main" val="9338191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Endoscopic Sinus Surgery (ESS): </a:t>
            </a:r>
            <a:r>
              <a:rPr lang="en-US" sz="3200" dirty="0"/>
              <a:t>is a minimally invasive surgical procedure used to remove sinus blockage and establish wide sinus drainage pathways. </a:t>
            </a:r>
          </a:p>
          <a:p>
            <a:r>
              <a:rPr lang="en-US" sz="3200" dirty="0">
                <a:solidFill>
                  <a:srgbClr val="FF0000"/>
                </a:solidFill>
              </a:rPr>
              <a:t>It is performed entirely through the nostrils</a:t>
            </a:r>
            <a:r>
              <a:rPr lang="en-US" sz="3200" dirty="0"/>
              <a:t>. This procedure is typically reserved for patients who have severe sinus disease that cannot be controlled with medications or less invasive techniques.</a:t>
            </a:r>
          </a:p>
        </p:txBody>
      </p:sp>
    </p:spTree>
    <p:extLst>
      <p:ext uri="{BB962C8B-B14F-4D97-AF65-F5344CB8AC3E}">
        <p14:creationId xmlns:p14="http://schemas.microsoft.com/office/powerpoint/2010/main" val="2708892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ESS is a surgical solution for several sinus issues</a:t>
            </a:r>
            <a:r>
              <a:rPr lang="en-US" sz="3200" dirty="0"/>
              <a:t>. ESS is most frequently used to treat chronic sinusitis. However, it can also treat other disorders like tumors and polyps. May also be used  to treat difficult cases of acute sinusitis.</a:t>
            </a:r>
            <a:endParaRPr lang="en-US" sz="3200" b="1" dirty="0"/>
          </a:p>
          <a:p>
            <a:endParaRPr lang="en-US" sz="3200" dirty="0"/>
          </a:p>
        </p:txBody>
      </p:sp>
    </p:spTree>
    <p:extLst>
      <p:ext uri="{BB962C8B-B14F-4D97-AF65-F5344CB8AC3E}">
        <p14:creationId xmlns:p14="http://schemas.microsoft.com/office/powerpoint/2010/main" val="1966221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3200" b="1" dirty="0"/>
              <a:t>Types of nasal and sinus surgery</a:t>
            </a:r>
            <a:endParaRPr lang="en-US" sz="3200" dirty="0"/>
          </a:p>
          <a:p>
            <a:r>
              <a:rPr lang="en-US" sz="3200" dirty="0"/>
              <a:t>Functional endoscopic sinus surgery (FESS). In FESS, a surgeon inserts an endoscope equipped with a camera and light into the nose and guides it to the sinuses. ...</a:t>
            </a:r>
          </a:p>
          <a:p>
            <a:r>
              <a:rPr lang="en-US" sz="3200" dirty="0" err="1">
                <a:solidFill>
                  <a:srgbClr val="FF0000"/>
                </a:solidFill>
              </a:rPr>
              <a:t>Septoplasty</a:t>
            </a:r>
            <a:r>
              <a:rPr lang="en-US" sz="3200" dirty="0">
                <a:solidFill>
                  <a:srgbClr val="FF0000"/>
                </a:solidFill>
              </a:rPr>
              <a:t>. ...</a:t>
            </a:r>
          </a:p>
          <a:p>
            <a:r>
              <a:rPr lang="en-US" sz="3200" dirty="0">
                <a:solidFill>
                  <a:srgbClr val="FF0000"/>
                </a:solidFill>
              </a:rPr>
              <a:t>Turbinate surgery. ...</a:t>
            </a:r>
          </a:p>
          <a:p>
            <a:r>
              <a:rPr lang="en-US" sz="3200" dirty="0">
                <a:solidFill>
                  <a:srgbClr val="FF0000"/>
                </a:solidFill>
              </a:rPr>
              <a:t>Balloon sinus dilation. ...</a:t>
            </a:r>
          </a:p>
          <a:p>
            <a:r>
              <a:rPr lang="en-US" sz="3200" dirty="0">
                <a:solidFill>
                  <a:srgbClr val="FF0000"/>
                </a:solidFill>
              </a:rPr>
              <a:t>Adenoidectomy</a:t>
            </a:r>
            <a:r>
              <a:rPr lang="en-US" sz="3200" dirty="0"/>
              <a:t>.</a:t>
            </a:r>
            <a:endParaRPr lang="en-US" sz="3200" dirty="0"/>
          </a:p>
        </p:txBody>
      </p:sp>
    </p:spTree>
    <p:extLst>
      <p:ext uri="{BB962C8B-B14F-4D97-AF65-F5344CB8AC3E}">
        <p14:creationId xmlns:p14="http://schemas.microsoft.com/office/powerpoint/2010/main" val="10525229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Surgical approaches </a:t>
            </a:r>
            <a:endParaRPr lang="en-US" dirty="0"/>
          </a:p>
        </p:txBody>
      </p:sp>
      <p:sp>
        <p:nvSpPr>
          <p:cNvPr id="3" name="Content Placeholder 2"/>
          <p:cNvSpPr>
            <a:spLocks noGrp="1"/>
          </p:cNvSpPr>
          <p:nvPr>
            <p:ph idx="1"/>
          </p:nvPr>
        </p:nvSpPr>
        <p:spPr/>
        <p:txBody>
          <a:bodyPr>
            <a:normAutofit/>
          </a:bodyPr>
          <a:lstStyle/>
          <a:p>
            <a:r>
              <a:rPr lang="en-US" sz="3200" b="1" dirty="0"/>
              <a:t>Nasal Endoscopy</a:t>
            </a:r>
          </a:p>
          <a:p>
            <a:r>
              <a:rPr lang="en-US" sz="3200" b="1" dirty="0"/>
              <a:t>CT Scan (Computerized Tomography)</a:t>
            </a:r>
            <a:endParaRPr lang="en-US" sz="3200" dirty="0"/>
          </a:p>
        </p:txBody>
      </p:sp>
    </p:spTree>
    <p:extLst>
      <p:ext uri="{BB962C8B-B14F-4D97-AF65-F5344CB8AC3E}">
        <p14:creationId xmlns:p14="http://schemas.microsoft.com/office/powerpoint/2010/main" val="30036930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 symptoms and indications </a:t>
            </a:r>
            <a:endParaRPr lang="en-US" dirty="0"/>
          </a:p>
        </p:txBody>
      </p:sp>
      <p:sp>
        <p:nvSpPr>
          <p:cNvPr id="3" name="Content Placeholder 2"/>
          <p:cNvSpPr>
            <a:spLocks noGrp="1"/>
          </p:cNvSpPr>
          <p:nvPr>
            <p:ph idx="1"/>
          </p:nvPr>
        </p:nvSpPr>
        <p:spPr/>
        <p:txBody>
          <a:bodyPr>
            <a:noAutofit/>
          </a:bodyPr>
          <a:lstStyle/>
          <a:p>
            <a:pPr fontAlgn="base"/>
            <a:r>
              <a:rPr lang="en-US" sz="3200" dirty="0">
                <a:solidFill>
                  <a:srgbClr val="FF0000"/>
                </a:solidFill>
              </a:rPr>
              <a:t>Face pressure or pain</a:t>
            </a:r>
          </a:p>
          <a:p>
            <a:pPr fontAlgn="base"/>
            <a:r>
              <a:rPr lang="en-US" sz="3200" dirty="0">
                <a:solidFill>
                  <a:srgbClr val="FF0000"/>
                </a:solidFill>
              </a:rPr>
              <a:t>Headache</a:t>
            </a:r>
          </a:p>
          <a:p>
            <a:pPr fontAlgn="base"/>
            <a:r>
              <a:rPr lang="en-US" sz="3200" dirty="0">
                <a:solidFill>
                  <a:srgbClr val="FF0000"/>
                </a:solidFill>
              </a:rPr>
              <a:t>Foul-smelling nasal discharge</a:t>
            </a:r>
          </a:p>
          <a:p>
            <a:pPr fontAlgn="base"/>
            <a:r>
              <a:rPr lang="en-US" sz="3200" dirty="0">
                <a:solidFill>
                  <a:srgbClr val="FF0000"/>
                </a:solidFill>
              </a:rPr>
              <a:t>Nasal obstruction</a:t>
            </a:r>
          </a:p>
          <a:p>
            <a:r>
              <a:rPr lang="en-US" sz="3200" dirty="0"/>
              <a:t>If these symptoms persist for 10-12 days without improvement or worsen within ten days, endoscopic sinus surgery may be necessary to treat the underlying condition.</a:t>
            </a:r>
            <a:endParaRPr lang="en-US" sz="3200" dirty="0"/>
          </a:p>
        </p:txBody>
      </p:sp>
    </p:spTree>
    <p:extLst>
      <p:ext uri="{BB962C8B-B14F-4D97-AF65-F5344CB8AC3E}">
        <p14:creationId xmlns:p14="http://schemas.microsoft.com/office/powerpoint/2010/main" val="36464452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for sinus surgery </a:t>
            </a:r>
            <a:endParaRPr lang="en-US" dirty="0"/>
          </a:p>
        </p:txBody>
      </p:sp>
      <p:sp>
        <p:nvSpPr>
          <p:cNvPr id="3" name="Content Placeholder 2"/>
          <p:cNvSpPr>
            <a:spLocks noGrp="1"/>
          </p:cNvSpPr>
          <p:nvPr>
            <p:ph idx="1"/>
          </p:nvPr>
        </p:nvSpPr>
        <p:spPr/>
        <p:txBody>
          <a:bodyPr>
            <a:normAutofit/>
          </a:bodyPr>
          <a:lstStyle/>
          <a:p>
            <a:r>
              <a:rPr lang="en-US" sz="3200" dirty="0"/>
              <a:t>Anesthetic considerations include the </a:t>
            </a:r>
            <a:r>
              <a:rPr lang="en-US" sz="3200" dirty="0">
                <a:solidFill>
                  <a:srgbClr val="FF0000"/>
                </a:solidFill>
              </a:rPr>
              <a:t>provision of deep anesthesia to prevent reflex induced hypertension and tachycardia, adequate airway protection </a:t>
            </a:r>
            <a:r>
              <a:rPr lang="en-US" sz="3200" dirty="0"/>
              <a:t>and the </a:t>
            </a:r>
            <a:r>
              <a:rPr lang="en-US" sz="3200" dirty="0">
                <a:solidFill>
                  <a:srgbClr val="FF0000"/>
                </a:solidFill>
              </a:rPr>
              <a:t>avoidance of bucking, coughing and straining</a:t>
            </a:r>
            <a:r>
              <a:rPr lang="en-US" sz="3200" dirty="0"/>
              <a:t>. Emergence may present problems with </a:t>
            </a:r>
            <a:r>
              <a:rPr lang="en-US" sz="3200" dirty="0">
                <a:solidFill>
                  <a:srgbClr val="FF0000"/>
                </a:solidFill>
              </a:rPr>
              <a:t>acute bleeding, stridor and laryngeal spasm.</a:t>
            </a:r>
            <a:endParaRPr lang="en-US" sz="3200" dirty="0">
              <a:solidFill>
                <a:srgbClr val="FF0000"/>
              </a:solidFill>
            </a:endParaRPr>
          </a:p>
        </p:txBody>
      </p:sp>
    </p:spTree>
    <p:extLst>
      <p:ext uri="{BB962C8B-B14F-4D97-AF65-F5344CB8AC3E}">
        <p14:creationId xmlns:p14="http://schemas.microsoft.com/office/powerpoint/2010/main" val="38677718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complications of sinus surgery </a:t>
            </a:r>
            <a:endParaRPr lang="en-US" dirty="0"/>
          </a:p>
        </p:txBody>
      </p:sp>
      <p:sp>
        <p:nvSpPr>
          <p:cNvPr id="3" name="Content Placeholder 2"/>
          <p:cNvSpPr>
            <a:spLocks noGrp="1"/>
          </p:cNvSpPr>
          <p:nvPr>
            <p:ph idx="1"/>
          </p:nvPr>
        </p:nvSpPr>
        <p:spPr/>
        <p:txBody>
          <a:bodyPr>
            <a:normAutofit/>
          </a:bodyPr>
          <a:lstStyle/>
          <a:p>
            <a:r>
              <a:rPr lang="en-US" sz="3200" dirty="0"/>
              <a:t>1.Excessive </a:t>
            </a:r>
            <a:r>
              <a:rPr lang="en-US" sz="3200" dirty="0">
                <a:solidFill>
                  <a:srgbClr val="FF0000"/>
                </a:solidFill>
              </a:rPr>
              <a:t>Bleeding</a:t>
            </a:r>
            <a:r>
              <a:rPr lang="en-US" sz="3200" dirty="0"/>
              <a:t> </a:t>
            </a:r>
          </a:p>
          <a:p>
            <a:r>
              <a:rPr lang="en-US" sz="3200" dirty="0"/>
              <a:t>2.</a:t>
            </a:r>
            <a:r>
              <a:rPr lang="en-US" sz="3200" dirty="0">
                <a:solidFill>
                  <a:srgbClr val="FF0000"/>
                </a:solidFill>
              </a:rPr>
              <a:t>Orbital involvement</a:t>
            </a:r>
            <a:r>
              <a:rPr lang="en-US" sz="3200" dirty="0"/>
              <a:t> is the most common complication of sinusitis (accounting for 80% of all complications) because of its close anatomical relationship to the paranasal sinuses.</a:t>
            </a:r>
          </a:p>
          <a:p>
            <a:r>
              <a:rPr lang="en-US" sz="3200" dirty="0"/>
              <a:t>3.</a:t>
            </a:r>
            <a:r>
              <a:rPr lang="en-US" sz="3200" b="1" dirty="0"/>
              <a:t> Post Surgery </a:t>
            </a:r>
            <a:r>
              <a:rPr lang="en-US" sz="3200" b="1" dirty="0">
                <a:solidFill>
                  <a:srgbClr val="FF0000"/>
                </a:solidFill>
              </a:rPr>
              <a:t>Infection</a:t>
            </a:r>
            <a:endParaRPr lang="en-US" sz="3200" dirty="0">
              <a:solidFill>
                <a:srgbClr val="FF0000"/>
              </a:solidFill>
            </a:endParaRPr>
          </a:p>
        </p:txBody>
      </p:sp>
    </p:spTree>
    <p:extLst>
      <p:ext uri="{BB962C8B-B14F-4D97-AF65-F5344CB8AC3E}">
        <p14:creationId xmlns:p14="http://schemas.microsoft.com/office/powerpoint/2010/main" val="25828800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Radical neck dissections </a:t>
            </a:r>
            <a:endParaRPr lang="en-US" dirty="0"/>
          </a:p>
        </p:txBody>
      </p:sp>
      <p:sp>
        <p:nvSpPr>
          <p:cNvPr id="3" name="Content Placeholder 2"/>
          <p:cNvSpPr>
            <a:spLocks noGrp="1"/>
          </p:cNvSpPr>
          <p:nvPr>
            <p:ph idx="1"/>
          </p:nvPr>
        </p:nvSpPr>
        <p:spPr/>
        <p:txBody>
          <a:bodyPr/>
          <a:lstStyle/>
          <a:p>
            <a:r>
              <a:rPr lang="en-US" sz="2400" dirty="0"/>
              <a:t>Procedure :</a:t>
            </a:r>
            <a:r>
              <a:rPr lang="en-US" dirty="0"/>
              <a:t> </a:t>
            </a:r>
            <a:r>
              <a:rPr lang="en-US" sz="2400" dirty="0"/>
              <a:t>All the tissue on the </a:t>
            </a:r>
            <a:r>
              <a:rPr lang="en-US" sz="2400" dirty="0">
                <a:solidFill>
                  <a:srgbClr val="FF0000"/>
                </a:solidFill>
              </a:rPr>
              <a:t>side of the neck from the jawbone to the collarbone is removed</a:t>
            </a:r>
            <a:r>
              <a:rPr lang="en-US" sz="2400" dirty="0"/>
              <a:t>. The muscle, nerve, salivary gland, and major blood vessel in this area are all removed. Modified radical neck dissection</a:t>
            </a:r>
            <a:endParaRPr lang="en-US" dirty="0"/>
          </a:p>
        </p:txBody>
      </p:sp>
    </p:spTree>
    <p:extLst>
      <p:ext uri="{BB962C8B-B14F-4D97-AF65-F5344CB8AC3E}">
        <p14:creationId xmlns:p14="http://schemas.microsoft.com/office/powerpoint/2010/main" val="30340788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Radical neck dissections </a:t>
            </a: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24129" y="2286000"/>
            <a:ext cx="8995634" cy="4022725"/>
          </a:xfrm>
        </p:spPr>
      </p:pic>
    </p:spTree>
    <p:extLst>
      <p:ext uri="{BB962C8B-B14F-4D97-AF65-F5344CB8AC3E}">
        <p14:creationId xmlns:p14="http://schemas.microsoft.com/office/powerpoint/2010/main" val="22570917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types of modified radical neck dissection </a:t>
            </a:r>
          </a:p>
        </p:txBody>
      </p:sp>
      <p:sp>
        <p:nvSpPr>
          <p:cNvPr id="3" name="Content Placeholder 2"/>
          <p:cNvSpPr>
            <a:spLocks noGrp="1"/>
          </p:cNvSpPr>
          <p:nvPr>
            <p:ph idx="1"/>
          </p:nvPr>
        </p:nvSpPr>
        <p:spPr/>
        <p:txBody>
          <a:bodyPr/>
          <a:lstStyle/>
          <a:p>
            <a:r>
              <a:rPr lang="en-US" sz="3200" dirty="0"/>
              <a:t>Type I :which spares one structure, most commonly the </a:t>
            </a:r>
            <a:r>
              <a:rPr lang="en-US" sz="3200" dirty="0">
                <a:solidFill>
                  <a:srgbClr val="FF0000"/>
                </a:solidFill>
              </a:rPr>
              <a:t>spinal accessory nerve</a:t>
            </a:r>
          </a:p>
          <a:p>
            <a:r>
              <a:rPr lang="en-US" sz="3200" dirty="0"/>
              <a:t> type II :which spares two structures, most commonly the </a:t>
            </a:r>
            <a:r>
              <a:rPr lang="en-US" sz="3200" dirty="0">
                <a:solidFill>
                  <a:srgbClr val="FF0000"/>
                </a:solidFill>
              </a:rPr>
              <a:t>spinal accessory nerve and the internal jugular vein </a:t>
            </a:r>
          </a:p>
          <a:p>
            <a:r>
              <a:rPr lang="en-US" sz="3200" dirty="0"/>
              <a:t>type III :spares all three </a:t>
            </a:r>
            <a:r>
              <a:rPr lang="en-US" sz="3200" dirty="0">
                <a:solidFill>
                  <a:srgbClr val="FF0000"/>
                </a:solidFill>
              </a:rPr>
              <a:t>structures—the spinal accessory nerve, internal jugular vein and </a:t>
            </a:r>
            <a:r>
              <a:rPr lang="en-US" sz="3200" dirty="0" err="1">
                <a:solidFill>
                  <a:srgbClr val="FF0000"/>
                </a:solidFill>
              </a:rPr>
              <a:t>sternomastiod</a:t>
            </a:r>
            <a:r>
              <a:rPr lang="en-US" sz="3200" dirty="0">
                <a:solidFill>
                  <a:srgbClr val="FF0000"/>
                </a:solidFill>
              </a:rPr>
              <a:t> muscle .</a:t>
            </a:r>
          </a:p>
          <a:p>
            <a:r>
              <a:rPr lang="en-US" dirty="0"/>
              <a:t/>
            </a:r>
            <a:br>
              <a:rPr lang="en-US" dirty="0"/>
            </a:br>
            <a:endParaRPr lang="en-US" dirty="0"/>
          </a:p>
        </p:txBody>
      </p:sp>
    </p:spTree>
    <p:extLst>
      <p:ext uri="{BB962C8B-B14F-4D97-AF65-F5344CB8AC3E}">
        <p14:creationId xmlns:p14="http://schemas.microsoft.com/office/powerpoint/2010/main" val="1874276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considerations </a:t>
            </a:r>
            <a:endParaRPr lang="en-US" dirty="0"/>
          </a:p>
        </p:txBody>
      </p:sp>
      <p:sp>
        <p:nvSpPr>
          <p:cNvPr id="3" name="Content Placeholder 2"/>
          <p:cNvSpPr>
            <a:spLocks noGrp="1"/>
          </p:cNvSpPr>
          <p:nvPr>
            <p:ph idx="1"/>
          </p:nvPr>
        </p:nvSpPr>
        <p:spPr/>
        <p:txBody>
          <a:bodyPr>
            <a:normAutofit/>
          </a:bodyPr>
          <a:lstStyle/>
          <a:p>
            <a:r>
              <a:rPr lang="en-US" sz="3200" dirty="0" err="1">
                <a:solidFill>
                  <a:srgbClr val="FF0000"/>
                </a:solidFill>
              </a:rPr>
              <a:t>Disstortion</a:t>
            </a:r>
            <a:r>
              <a:rPr lang="en-US" sz="3200" dirty="0">
                <a:solidFill>
                  <a:srgbClr val="FF0000"/>
                </a:solidFill>
              </a:rPr>
              <a:t> of normal anatomy </a:t>
            </a:r>
            <a:r>
              <a:rPr lang="en-US" sz="3200" dirty="0"/>
              <a:t>of the air way</a:t>
            </a:r>
          </a:p>
          <a:p>
            <a:r>
              <a:rPr lang="en-US" sz="3200" dirty="0">
                <a:solidFill>
                  <a:srgbClr val="FF0000"/>
                </a:solidFill>
              </a:rPr>
              <a:t>Preoperative X-ray </a:t>
            </a:r>
            <a:r>
              <a:rPr lang="en-US" sz="3200" dirty="0"/>
              <a:t>of the upper respiratory tract</a:t>
            </a:r>
          </a:p>
          <a:p>
            <a:r>
              <a:rPr lang="en-US" sz="3200" dirty="0"/>
              <a:t>Meticu</a:t>
            </a:r>
            <a:r>
              <a:rPr lang="en-US" sz="3200" dirty="0">
                <a:solidFill>
                  <a:srgbClr val="FF0000"/>
                </a:solidFill>
              </a:rPr>
              <a:t>lous cooperation </a:t>
            </a:r>
            <a:r>
              <a:rPr lang="en-US" sz="3200" dirty="0"/>
              <a:t>by the surgeon</a:t>
            </a:r>
          </a:p>
          <a:p>
            <a:r>
              <a:rPr lang="en-US" sz="3200" dirty="0">
                <a:solidFill>
                  <a:srgbClr val="FF0000"/>
                </a:solidFill>
              </a:rPr>
              <a:t>Awake intubation </a:t>
            </a:r>
            <a:r>
              <a:rPr lang="en-US" sz="3200" dirty="0"/>
              <a:t>choices</a:t>
            </a:r>
            <a:endParaRPr lang="en-US" sz="3200" dirty="0"/>
          </a:p>
        </p:txBody>
      </p:sp>
    </p:spTree>
    <p:extLst>
      <p:ext uri="{BB962C8B-B14F-4D97-AF65-F5344CB8AC3E}">
        <p14:creationId xmlns:p14="http://schemas.microsoft.com/office/powerpoint/2010/main" val="9779943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Surgical and anesthetic risks </a:t>
            </a:r>
            <a:endParaRPr lang="en-US" dirty="0"/>
          </a:p>
        </p:txBody>
      </p:sp>
      <p:sp>
        <p:nvSpPr>
          <p:cNvPr id="3" name="Content Placeholder 2"/>
          <p:cNvSpPr>
            <a:spLocks noGrp="1"/>
          </p:cNvSpPr>
          <p:nvPr>
            <p:ph idx="1"/>
          </p:nvPr>
        </p:nvSpPr>
        <p:spPr/>
        <p:txBody>
          <a:bodyPr>
            <a:normAutofit/>
          </a:bodyPr>
          <a:lstStyle/>
          <a:p>
            <a:pPr fontAlgn="base"/>
            <a:r>
              <a:rPr lang="en-US" sz="3200" dirty="0"/>
              <a:t>Risks for anesthesia and surgery in general are:</a:t>
            </a:r>
          </a:p>
          <a:p>
            <a:pPr fontAlgn="base"/>
            <a:r>
              <a:rPr lang="en-US" sz="3200" dirty="0">
                <a:solidFill>
                  <a:srgbClr val="FF0000"/>
                </a:solidFill>
              </a:rPr>
              <a:t>Allergic reactions </a:t>
            </a:r>
            <a:r>
              <a:rPr lang="en-US" sz="3200" dirty="0"/>
              <a:t>to medicines</a:t>
            </a:r>
          </a:p>
          <a:p>
            <a:pPr fontAlgn="base"/>
            <a:r>
              <a:rPr lang="en-US" sz="3200" dirty="0">
                <a:solidFill>
                  <a:srgbClr val="FF0000"/>
                </a:solidFill>
              </a:rPr>
              <a:t>Breathing</a:t>
            </a:r>
            <a:r>
              <a:rPr lang="en-US" sz="3200" dirty="0"/>
              <a:t> problems</a:t>
            </a:r>
          </a:p>
          <a:p>
            <a:pPr fontAlgn="base"/>
            <a:r>
              <a:rPr lang="en-US" sz="3200" dirty="0">
                <a:solidFill>
                  <a:srgbClr val="FF0000"/>
                </a:solidFill>
              </a:rPr>
              <a:t>Bleeding</a:t>
            </a:r>
          </a:p>
          <a:p>
            <a:pPr fontAlgn="base"/>
            <a:r>
              <a:rPr lang="en-US" sz="3200" dirty="0">
                <a:solidFill>
                  <a:srgbClr val="FF0000"/>
                </a:solidFill>
              </a:rPr>
              <a:t>Infection</a:t>
            </a:r>
            <a:endParaRPr lang="en-US" sz="3200" dirty="0">
              <a:solidFill>
                <a:srgbClr val="FF0000"/>
              </a:solidFill>
            </a:endParaRPr>
          </a:p>
        </p:txBody>
      </p:sp>
    </p:spTree>
    <p:extLst>
      <p:ext uri="{BB962C8B-B14F-4D97-AF65-F5344CB8AC3E}">
        <p14:creationId xmlns:p14="http://schemas.microsoft.com/office/powerpoint/2010/main" val="20441386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3200" dirty="0">
                <a:solidFill>
                  <a:srgbClr val="FF0000"/>
                </a:solidFill>
              </a:rPr>
              <a:t>Limited neck movement</a:t>
            </a:r>
          </a:p>
          <a:p>
            <a:pPr fontAlgn="base"/>
            <a:r>
              <a:rPr lang="en-US" sz="3200" dirty="0"/>
              <a:t>Drooping shoulder on the side of the surgery</a:t>
            </a:r>
          </a:p>
          <a:p>
            <a:pPr fontAlgn="base"/>
            <a:r>
              <a:rPr lang="en-US" sz="3200" dirty="0"/>
              <a:t>Problems </a:t>
            </a:r>
            <a:r>
              <a:rPr lang="en-US" sz="3200" dirty="0">
                <a:solidFill>
                  <a:srgbClr val="FF0000"/>
                </a:solidFill>
              </a:rPr>
              <a:t>talking or swallowing</a:t>
            </a:r>
          </a:p>
          <a:p>
            <a:pPr fontAlgn="base"/>
            <a:r>
              <a:rPr lang="en-US" sz="3200" dirty="0">
                <a:solidFill>
                  <a:srgbClr val="FF0000"/>
                </a:solidFill>
              </a:rPr>
              <a:t>Facial droop</a:t>
            </a:r>
            <a:endParaRPr lang="en-US" sz="3200" dirty="0">
              <a:solidFill>
                <a:srgbClr val="FF0000"/>
              </a:solidFill>
            </a:endParaRPr>
          </a:p>
        </p:txBody>
      </p:sp>
    </p:spTree>
    <p:extLst>
      <p:ext uri="{BB962C8B-B14F-4D97-AF65-F5344CB8AC3E}">
        <p14:creationId xmlns:p14="http://schemas.microsoft.com/office/powerpoint/2010/main" val="20093322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Expected intraoperative complications </a:t>
            </a:r>
            <a:endParaRPr lang="en-US" dirty="0"/>
          </a:p>
        </p:txBody>
      </p:sp>
      <p:sp>
        <p:nvSpPr>
          <p:cNvPr id="3" name="Content Placeholder 2"/>
          <p:cNvSpPr>
            <a:spLocks noGrp="1"/>
          </p:cNvSpPr>
          <p:nvPr>
            <p:ph idx="1"/>
          </p:nvPr>
        </p:nvSpPr>
        <p:spPr/>
        <p:txBody>
          <a:bodyPr>
            <a:normAutofit/>
          </a:bodyPr>
          <a:lstStyle/>
          <a:p>
            <a:r>
              <a:rPr lang="en-US" sz="3200" dirty="0"/>
              <a:t>1.ETT damage </a:t>
            </a:r>
          </a:p>
          <a:p>
            <a:r>
              <a:rPr lang="en-US" sz="3200" dirty="0"/>
              <a:t>2.Vagal stimulation</a:t>
            </a:r>
          </a:p>
          <a:p>
            <a:pPr>
              <a:buNone/>
            </a:pPr>
            <a:r>
              <a:rPr lang="en-US" sz="3200" dirty="0">
                <a:solidFill>
                  <a:srgbClr val="FF0000"/>
                </a:solidFill>
              </a:rPr>
              <a:t>Recognition-decreased B/P &amp;heart rate</a:t>
            </a:r>
          </a:p>
          <a:p>
            <a:endParaRPr lang="en-US" sz="3200" dirty="0"/>
          </a:p>
        </p:txBody>
      </p:sp>
    </p:spTree>
    <p:extLst>
      <p:ext uri="{BB962C8B-B14F-4D97-AF65-F5344CB8AC3E}">
        <p14:creationId xmlns:p14="http://schemas.microsoft.com/office/powerpoint/2010/main" val="21199711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normAutofit/>
          </a:bodyPr>
          <a:lstStyle/>
          <a:p>
            <a:pPr>
              <a:buNone/>
            </a:pPr>
            <a:r>
              <a:rPr lang="en-US" sz="3200" dirty="0"/>
              <a:t>Stop stimulation </a:t>
            </a:r>
          </a:p>
          <a:p>
            <a:pPr>
              <a:buNone/>
            </a:pPr>
            <a:r>
              <a:rPr lang="en-US" sz="3200" dirty="0"/>
              <a:t>Atropine </a:t>
            </a:r>
          </a:p>
          <a:p>
            <a:pPr>
              <a:buNone/>
            </a:pPr>
            <a:r>
              <a:rPr lang="en-US" sz="3200" dirty="0"/>
              <a:t> Lidocaine </a:t>
            </a:r>
          </a:p>
          <a:p>
            <a:pPr>
              <a:buNone/>
            </a:pPr>
            <a:r>
              <a:rPr lang="en-US" sz="3200" dirty="0"/>
              <a:t> Prepare for CPR</a:t>
            </a:r>
            <a:endParaRPr lang="en-US" sz="3200" dirty="0"/>
          </a:p>
        </p:txBody>
      </p:sp>
    </p:spTree>
    <p:extLst>
      <p:ext uri="{BB962C8B-B14F-4D97-AF65-F5344CB8AC3E}">
        <p14:creationId xmlns:p14="http://schemas.microsoft.com/office/powerpoint/2010/main" val="37536007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3200" dirty="0">
                <a:solidFill>
                  <a:srgbClr val="FF0000"/>
                </a:solidFill>
              </a:rPr>
              <a:t>3.Hypoxia</a:t>
            </a:r>
          </a:p>
          <a:p>
            <a:pPr>
              <a:buNone/>
            </a:pPr>
            <a:r>
              <a:rPr lang="en-US" sz="3200" dirty="0"/>
              <a:t>Cause –Hematoma compression</a:t>
            </a:r>
          </a:p>
          <a:p>
            <a:pPr>
              <a:buNone/>
            </a:pPr>
            <a:r>
              <a:rPr lang="en-US" sz="3200" dirty="0"/>
              <a:t>S/S-       agitation increased Paco2&amp;HR decreasedPao2</a:t>
            </a:r>
          </a:p>
          <a:p>
            <a:pPr>
              <a:buNone/>
            </a:pPr>
            <a:r>
              <a:rPr lang="en-US" sz="3200" dirty="0"/>
              <a:t>Treatment —  </a:t>
            </a:r>
            <a:r>
              <a:rPr lang="en-US" sz="3200" dirty="0">
                <a:solidFill>
                  <a:srgbClr val="FF0000"/>
                </a:solidFill>
              </a:rPr>
              <a:t>Release neck dressing </a:t>
            </a:r>
            <a:r>
              <a:rPr lang="en-US" sz="3200" dirty="0"/>
              <a:t>and remove hematoma</a:t>
            </a:r>
          </a:p>
          <a:p>
            <a:pPr>
              <a:buNone/>
            </a:pPr>
            <a:r>
              <a:rPr lang="en-US" sz="3200" dirty="0"/>
              <a:t>  ETT and ventilate with 100%oxygen</a:t>
            </a:r>
          </a:p>
          <a:p>
            <a:pPr>
              <a:buNone/>
            </a:pPr>
            <a:r>
              <a:rPr lang="en-US" sz="3200" dirty="0"/>
              <a:t> </a:t>
            </a:r>
            <a:endParaRPr lang="en-US" sz="3200" dirty="0"/>
          </a:p>
        </p:txBody>
      </p:sp>
    </p:spTree>
    <p:extLst>
      <p:ext uri="{BB962C8B-B14F-4D97-AF65-F5344CB8AC3E}">
        <p14:creationId xmlns:p14="http://schemas.microsoft.com/office/powerpoint/2010/main" val="26521711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solidFill>
                  <a:srgbClr val="FF0000"/>
                </a:solidFill>
              </a:rPr>
              <a:t>4.Pneumotorax</a:t>
            </a:r>
          </a:p>
          <a:p>
            <a:pPr>
              <a:buNone/>
            </a:pPr>
            <a:r>
              <a:rPr lang="en-US" sz="3200" dirty="0">
                <a:solidFill>
                  <a:srgbClr val="FF0000"/>
                </a:solidFill>
              </a:rPr>
              <a:t>S/S-RR and CVP increased B/P decreased</a:t>
            </a:r>
          </a:p>
          <a:p>
            <a:pPr>
              <a:buNone/>
            </a:pPr>
            <a:r>
              <a:rPr lang="en-US" sz="3200" dirty="0">
                <a:solidFill>
                  <a:srgbClr val="FF0000"/>
                </a:solidFill>
              </a:rPr>
              <a:t>Wheezing /decreased oxygen saturation/chest pain decreased breath sound and ECG amplitude </a:t>
            </a:r>
          </a:p>
          <a:p>
            <a:r>
              <a:rPr lang="en-US" sz="3200" dirty="0"/>
              <a:t>Management  –chest tube /needle aspiration /oxygen /ventilation /volume expansion </a:t>
            </a:r>
            <a:endParaRPr lang="en-US" sz="3200" dirty="0"/>
          </a:p>
        </p:txBody>
      </p:sp>
    </p:spTree>
    <p:extLst>
      <p:ext uri="{BB962C8B-B14F-4D97-AF65-F5344CB8AC3E}">
        <p14:creationId xmlns:p14="http://schemas.microsoft.com/office/powerpoint/2010/main" val="36772145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Acute upper airway disorders </a:t>
            </a:r>
          </a:p>
        </p:txBody>
      </p:sp>
      <p:sp>
        <p:nvSpPr>
          <p:cNvPr id="3" name="Content Placeholder 2"/>
          <p:cNvSpPr>
            <a:spLocks noGrp="1"/>
          </p:cNvSpPr>
          <p:nvPr>
            <p:ph idx="1"/>
          </p:nvPr>
        </p:nvSpPr>
        <p:spPr/>
        <p:txBody>
          <a:bodyPr>
            <a:normAutofit/>
          </a:bodyPr>
          <a:lstStyle/>
          <a:p>
            <a:pPr>
              <a:buNone/>
            </a:pPr>
            <a:r>
              <a:rPr lang="en-US" sz="3200" dirty="0"/>
              <a:t>Acute upper air way obstructions</a:t>
            </a:r>
          </a:p>
          <a:p>
            <a:pPr>
              <a:buNone/>
            </a:pPr>
            <a:r>
              <a:rPr lang="en-US" sz="3200" dirty="0">
                <a:solidFill>
                  <a:srgbClr val="FF0000"/>
                </a:solidFill>
              </a:rPr>
              <a:t>Epiglottitis</a:t>
            </a:r>
          </a:p>
          <a:p>
            <a:pPr>
              <a:buNone/>
            </a:pPr>
            <a:r>
              <a:rPr lang="en-US" sz="3200" dirty="0" err="1" smtClean="0">
                <a:solidFill>
                  <a:srgbClr val="FF0000"/>
                </a:solidFill>
              </a:rPr>
              <a:t>Laryngo</a:t>
            </a:r>
            <a:r>
              <a:rPr lang="en-US" sz="3200" dirty="0" smtClean="0">
                <a:solidFill>
                  <a:srgbClr val="FF0000"/>
                </a:solidFill>
              </a:rPr>
              <a:t> </a:t>
            </a:r>
            <a:r>
              <a:rPr lang="en-US" sz="3200" dirty="0" err="1" smtClean="0">
                <a:solidFill>
                  <a:srgbClr val="FF0000"/>
                </a:solidFill>
              </a:rPr>
              <a:t>trachoebronchitis</a:t>
            </a:r>
            <a:endParaRPr lang="en-US" sz="3200" dirty="0">
              <a:solidFill>
                <a:srgbClr val="FF0000"/>
              </a:solidFill>
            </a:endParaRPr>
          </a:p>
          <a:p>
            <a:pPr>
              <a:buNone/>
            </a:pPr>
            <a:r>
              <a:rPr lang="en-US" sz="3200" dirty="0">
                <a:solidFill>
                  <a:srgbClr val="FF0000"/>
                </a:solidFill>
              </a:rPr>
              <a:t>Foreign body aspirations</a:t>
            </a:r>
            <a:endParaRPr lang="en-US" sz="3200" dirty="0">
              <a:solidFill>
                <a:srgbClr val="FF0000"/>
              </a:solidFill>
            </a:endParaRPr>
          </a:p>
        </p:txBody>
      </p:sp>
    </p:spTree>
    <p:extLst>
      <p:ext uri="{BB962C8B-B14F-4D97-AF65-F5344CB8AC3E}">
        <p14:creationId xmlns:p14="http://schemas.microsoft.com/office/powerpoint/2010/main" val="70076925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Epiglottitis </a:t>
            </a:r>
            <a:endParaRPr lang="en-US" dirty="0"/>
          </a:p>
        </p:txBody>
      </p:sp>
      <p:sp>
        <p:nvSpPr>
          <p:cNvPr id="3" name="Content Placeholder 2"/>
          <p:cNvSpPr>
            <a:spLocks noGrp="1"/>
          </p:cNvSpPr>
          <p:nvPr>
            <p:ph idx="1"/>
          </p:nvPr>
        </p:nvSpPr>
        <p:spPr/>
        <p:txBody>
          <a:bodyPr>
            <a:normAutofit/>
          </a:bodyPr>
          <a:lstStyle/>
          <a:p>
            <a:r>
              <a:rPr lang="en-US" sz="3200" dirty="0"/>
              <a:t>Acute epiglottitis :is an acute inflammation of the </a:t>
            </a:r>
            <a:r>
              <a:rPr lang="en-US" sz="3200" dirty="0">
                <a:solidFill>
                  <a:srgbClr val="FF0000"/>
                </a:solidFill>
              </a:rPr>
              <a:t>epiglottis, arytenoids, and aryepiglottic folds with rapid onset </a:t>
            </a:r>
          </a:p>
          <a:p>
            <a:r>
              <a:rPr lang="en-US" sz="3200" dirty="0">
                <a:solidFill>
                  <a:srgbClr val="FF0000"/>
                </a:solidFill>
              </a:rPr>
              <a:t>and progression leading to complete airway obstruction, </a:t>
            </a:r>
          </a:p>
          <a:p>
            <a:r>
              <a:rPr lang="en-US" sz="3200" dirty="0">
                <a:solidFill>
                  <a:srgbClr val="FF0000"/>
                </a:solidFill>
              </a:rPr>
              <a:t>hypoxemia and death</a:t>
            </a:r>
          </a:p>
          <a:p>
            <a:endParaRPr lang="en-US" sz="3200" dirty="0"/>
          </a:p>
        </p:txBody>
      </p:sp>
    </p:spTree>
    <p:extLst>
      <p:ext uri="{BB962C8B-B14F-4D97-AF65-F5344CB8AC3E}">
        <p14:creationId xmlns:p14="http://schemas.microsoft.com/office/powerpoint/2010/main" val="15008130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Epiglottitis </a:t>
            </a:r>
            <a:endParaRPr lang="en-US" dirty="0"/>
          </a:p>
        </p:txBody>
      </p:sp>
      <p:sp>
        <p:nvSpPr>
          <p:cNvPr id="3" name="Content Placeholder 2"/>
          <p:cNvSpPr>
            <a:spLocks noGrp="1"/>
          </p:cNvSpPr>
          <p:nvPr>
            <p:ph idx="1"/>
          </p:nvPr>
        </p:nvSpPr>
        <p:spPr/>
        <p:txBody>
          <a:bodyPr>
            <a:normAutofit/>
          </a:bodyPr>
          <a:lstStyle/>
          <a:p>
            <a:r>
              <a:rPr lang="en-GB" sz="3200" dirty="0"/>
              <a:t>Epiglottitis is characterized by the abrupt onset of severe symptoms. Without airway control and medical management, symptoms may rapidly progress to </a:t>
            </a:r>
            <a:r>
              <a:rPr lang="en-GB" sz="3200" dirty="0">
                <a:solidFill>
                  <a:srgbClr val="FF0000"/>
                </a:solidFill>
              </a:rPr>
              <a:t>respiratory obstruction and death in a matter of hours</a:t>
            </a:r>
            <a:r>
              <a:rPr lang="en-GB" sz="3200" dirty="0"/>
              <a:t>. </a:t>
            </a:r>
            <a:endParaRPr lang="en-US" sz="3200" dirty="0"/>
          </a:p>
          <a:p>
            <a:endParaRPr lang="en-US" sz="3200" dirty="0"/>
          </a:p>
          <a:p>
            <a:endParaRPr lang="en-US" sz="3200" dirty="0"/>
          </a:p>
        </p:txBody>
      </p:sp>
    </p:spTree>
    <p:extLst>
      <p:ext uri="{BB962C8B-B14F-4D97-AF65-F5344CB8AC3E}">
        <p14:creationId xmlns:p14="http://schemas.microsoft.com/office/powerpoint/2010/main" val="35481065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Clinical symptoms </a:t>
            </a:r>
            <a:endParaRPr lang="en-US" dirty="0"/>
          </a:p>
        </p:txBody>
      </p:sp>
      <p:sp>
        <p:nvSpPr>
          <p:cNvPr id="3" name="Content Placeholder 2"/>
          <p:cNvSpPr>
            <a:spLocks noGrp="1"/>
          </p:cNvSpPr>
          <p:nvPr>
            <p:ph idx="1"/>
          </p:nvPr>
        </p:nvSpPr>
        <p:spPr/>
        <p:txBody>
          <a:bodyPr>
            <a:normAutofit/>
          </a:bodyPr>
          <a:lstStyle/>
          <a:p>
            <a:r>
              <a:rPr lang="en-GB" sz="3200" dirty="0"/>
              <a:t>The </a:t>
            </a:r>
            <a:r>
              <a:rPr lang="en-GB" sz="3200" dirty="0">
                <a:solidFill>
                  <a:srgbClr val="FF0000"/>
                </a:solidFill>
              </a:rPr>
              <a:t>clinical triad of drooling, dysphagia, and distress </a:t>
            </a:r>
            <a:r>
              <a:rPr lang="en-GB" sz="3200" dirty="0"/>
              <a:t>is the classic presentation. Fever with associated respiratory distress or air hunger occurs in most patients. Drooling occurs in up to 80% of cases with  high fever </a:t>
            </a:r>
            <a:endParaRPr lang="en-US" sz="3200" dirty="0"/>
          </a:p>
        </p:txBody>
      </p:sp>
    </p:spTree>
    <p:extLst>
      <p:ext uri="{BB962C8B-B14F-4D97-AF65-F5344CB8AC3E}">
        <p14:creationId xmlns:p14="http://schemas.microsoft.com/office/powerpoint/2010/main" val="21836500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Triploid position epiglottitis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2425" y="2260243"/>
            <a:ext cx="5074290" cy="4022725"/>
          </a:xfrm>
        </p:spPr>
      </p:pic>
    </p:spTree>
    <p:extLst>
      <p:ext uri="{BB962C8B-B14F-4D97-AF65-F5344CB8AC3E}">
        <p14:creationId xmlns:p14="http://schemas.microsoft.com/office/powerpoint/2010/main" val="16260638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X-ray findings </a:t>
            </a:r>
            <a:endParaRPr lang="en-US" dirty="0"/>
          </a:p>
        </p:txBody>
      </p:sp>
      <p:sp>
        <p:nvSpPr>
          <p:cNvPr id="3" name="Content Placeholder 2"/>
          <p:cNvSpPr>
            <a:spLocks noGrp="1"/>
          </p:cNvSpPr>
          <p:nvPr>
            <p:ph idx="1"/>
          </p:nvPr>
        </p:nvSpPr>
        <p:spPr/>
        <p:txBody>
          <a:bodyPr/>
          <a:lstStyle/>
          <a:p>
            <a:r>
              <a:rPr lang="en-US" sz="3200" dirty="0"/>
              <a:t>If an X-ray can be done, </a:t>
            </a:r>
            <a:r>
              <a:rPr lang="en-US" sz="3200" dirty="0">
                <a:solidFill>
                  <a:srgbClr val="FF0000"/>
                </a:solidFill>
              </a:rPr>
              <a:t>‘thumbprint sign’ (tissue </a:t>
            </a:r>
          </a:p>
          <a:p>
            <a:r>
              <a:rPr lang="en-US" sz="3200" dirty="0">
                <a:solidFill>
                  <a:srgbClr val="FF0000"/>
                </a:solidFill>
              </a:rPr>
              <a:t>swelling around hyoid bone) </a:t>
            </a:r>
            <a:r>
              <a:rPr lang="en-US" sz="3200" dirty="0"/>
              <a:t>and the </a:t>
            </a:r>
            <a:r>
              <a:rPr lang="en-US" sz="3200" dirty="0">
                <a:solidFill>
                  <a:srgbClr val="FF0000"/>
                </a:solidFill>
              </a:rPr>
              <a:t>‘</a:t>
            </a:r>
            <a:r>
              <a:rPr lang="en-US" sz="3200" dirty="0" err="1">
                <a:solidFill>
                  <a:srgbClr val="FF0000"/>
                </a:solidFill>
              </a:rPr>
              <a:t>vallecula</a:t>
            </a:r>
            <a:r>
              <a:rPr lang="en-US" sz="3200" dirty="0">
                <a:solidFill>
                  <a:srgbClr val="FF0000"/>
                </a:solidFill>
              </a:rPr>
              <a:t>’ sign </a:t>
            </a:r>
            <a:r>
              <a:rPr lang="en-US" sz="3200" dirty="0"/>
              <a:t>(at </a:t>
            </a:r>
          </a:p>
          <a:p>
            <a:r>
              <a:rPr lang="en-US" sz="3200" dirty="0">
                <a:solidFill>
                  <a:srgbClr val="FF0000"/>
                </a:solidFill>
              </a:rPr>
              <a:t>the tongue base</a:t>
            </a:r>
            <a:r>
              <a:rPr lang="en-US" sz="3200" dirty="0"/>
              <a:t>) are diagnostic of epiglottitis</a:t>
            </a:r>
            <a:r>
              <a:rPr lang="en-US" sz="2400" dirty="0"/>
              <a:t>.</a:t>
            </a:r>
          </a:p>
          <a:p>
            <a:endParaRPr lang="en-US" dirty="0"/>
          </a:p>
        </p:txBody>
      </p:sp>
    </p:spTree>
    <p:extLst>
      <p:ext uri="{BB962C8B-B14F-4D97-AF65-F5344CB8AC3E}">
        <p14:creationId xmlns:p14="http://schemas.microsoft.com/office/powerpoint/2010/main" val="23674282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Expected problems of epiglottitis </a:t>
            </a:r>
            <a:endParaRPr lang="en-US" dirty="0"/>
          </a:p>
        </p:txBody>
      </p:sp>
      <p:sp>
        <p:nvSpPr>
          <p:cNvPr id="3" name="Content Placeholder 2"/>
          <p:cNvSpPr>
            <a:spLocks noGrp="1"/>
          </p:cNvSpPr>
          <p:nvPr>
            <p:ph idx="1"/>
          </p:nvPr>
        </p:nvSpPr>
        <p:spPr/>
        <p:txBody>
          <a:bodyPr>
            <a:normAutofit/>
          </a:bodyPr>
          <a:lstStyle/>
          <a:p>
            <a:r>
              <a:rPr lang="en-US" sz="3200" dirty="0"/>
              <a:t>Hypoxemia</a:t>
            </a:r>
          </a:p>
          <a:p>
            <a:r>
              <a:rPr lang="en-US" sz="3200" dirty="0"/>
              <a:t>Full stomach</a:t>
            </a:r>
          </a:p>
          <a:p>
            <a:r>
              <a:rPr lang="en-US" sz="3200" dirty="0"/>
              <a:t>Intubation difficulty</a:t>
            </a:r>
          </a:p>
          <a:p>
            <a:r>
              <a:rPr lang="en-US" sz="3200" dirty="0"/>
              <a:t>Preventable death</a:t>
            </a:r>
          </a:p>
          <a:p>
            <a:r>
              <a:rPr lang="en-US" sz="3200" dirty="0"/>
              <a:t>Permanent artificial airway</a:t>
            </a:r>
          </a:p>
          <a:p>
            <a:endParaRPr lang="en-US" sz="3200" dirty="0"/>
          </a:p>
        </p:txBody>
      </p:sp>
    </p:spTree>
    <p:extLst>
      <p:ext uri="{BB962C8B-B14F-4D97-AF65-F5344CB8AC3E}">
        <p14:creationId xmlns:p14="http://schemas.microsoft.com/office/powerpoint/2010/main" val="4271124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Anatomic and functional vulnerability of pediatric airway </a:t>
            </a:r>
          </a:p>
        </p:txBody>
      </p:sp>
      <p:sp>
        <p:nvSpPr>
          <p:cNvPr id="3" name="Content Placeholder 2"/>
          <p:cNvSpPr>
            <a:spLocks noGrp="1"/>
          </p:cNvSpPr>
          <p:nvPr>
            <p:ph idx="1"/>
          </p:nvPr>
        </p:nvSpPr>
        <p:spPr/>
        <p:txBody>
          <a:bodyPr/>
          <a:lstStyle/>
          <a:p>
            <a:r>
              <a:rPr lang="en-US" sz="3200" dirty="0"/>
              <a:t>Minor amount of swelling or compression will have a dramatic effect on the airway it will :</a:t>
            </a:r>
          </a:p>
          <a:p>
            <a:pPr>
              <a:buNone/>
            </a:pPr>
            <a:r>
              <a:rPr lang="en-US" sz="3200" dirty="0"/>
              <a:t>1-Reduce cross sectional area.</a:t>
            </a:r>
          </a:p>
          <a:p>
            <a:pPr>
              <a:buNone/>
            </a:pPr>
            <a:r>
              <a:rPr lang="en-US" sz="3200" dirty="0"/>
              <a:t>2-Increase the resistance .</a:t>
            </a:r>
          </a:p>
          <a:p>
            <a:endParaRPr lang="en-US" dirty="0"/>
          </a:p>
        </p:txBody>
      </p:sp>
    </p:spTree>
    <p:extLst>
      <p:ext uri="{BB962C8B-B14F-4D97-AF65-F5344CB8AC3E}">
        <p14:creationId xmlns:p14="http://schemas.microsoft.com/office/powerpoint/2010/main" val="22268149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 and symptoms of upper airway obstructions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1-Pattern of breathing (will revel the degree of urgency and level of obstruction)</a:t>
            </a:r>
          </a:p>
          <a:p>
            <a:r>
              <a:rPr lang="en-US" sz="3200" dirty="0">
                <a:solidFill>
                  <a:srgbClr val="FF0000"/>
                </a:solidFill>
              </a:rPr>
              <a:t>2-agitation /restless /</a:t>
            </a:r>
            <a:r>
              <a:rPr lang="en-US" sz="3200" dirty="0" err="1">
                <a:solidFill>
                  <a:srgbClr val="FF0000"/>
                </a:solidFill>
              </a:rPr>
              <a:t>letargy</a:t>
            </a:r>
            <a:endParaRPr lang="en-US" sz="3200" dirty="0">
              <a:solidFill>
                <a:srgbClr val="FF0000"/>
              </a:solidFill>
            </a:endParaRPr>
          </a:p>
          <a:p>
            <a:r>
              <a:rPr lang="en-US" sz="3200" dirty="0">
                <a:solidFill>
                  <a:srgbClr val="FF0000"/>
                </a:solidFill>
              </a:rPr>
              <a:t>3-Hypoxemia</a:t>
            </a:r>
          </a:p>
          <a:p>
            <a:r>
              <a:rPr lang="en-US" sz="3200" dirty="0">
                <a:solidFill>
                  <a:srgbClr val="FF0000"/>
                </a:solidFill>
              </a:rPr>
              <a:t>4- hyper </a:t>
            </a:r>
            <a:r>
              <a:rPr lang="en-US" sz="3200" dirty="0" err="1">
                <a:solidFill>
                  <a:srgbClr val="FF0000"/>
                </a:solidFill>
              </a:rPr>
              <a:t>carbia</a:t>
            </a:r>
            <a:r>
              <a:rPr lang="en-US" sz="3200" dirty="0">
                <a:solidFill>
                  <a:srgbClr val="FF0000"/>
                </a:solidFill>
              </a:rPr>
              <a:t> </a:t>
            </a:r>
            <a:endParaRPr lang="en-US" sz="3200" dirty="0">
              <a:solidFill>
                <a:srgbClr val="FF0000"/>
              </a:solidFill>
            </a:endParaRPr>
          </a:p>
        </p:txBody>
      </p:sp>
    </p:spTree>
    <p:extLst>
      <p:ext uri="{BB962C8B-B14F-4D97-AF65-F5344CB8AC3E}">
        <p14:creationId xmlns:p14="http://schemas.microsoft.com/office/powerpoint/2010/main" val="18610592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Epiglottitis </a:t>
            </a:r>
            <a:endParaRPr lang="en-US" dirty="0"/>
          </a:p>
        </p:txBody>
      </p:sp>
      <p:sp>
        <p:nvSpPr>
          <p:cNvPr id="3" name="Content Placeholder 2"/>
          <p:cNvSpPr>
            <a:spLocks noGrp="1"/>
          </p:cNvSpPr>
          <p:nvPr>
            <p:ph idx="1"/>
          </p:nvPr>
        </p:nvSpPr>
        <p:spPr/>
        <p:txBody>
          <a:bodyPr>
            <a:normAutofit/>
          </a:bodyPr>
          <a:lstStyle/>
          <a:p>
            <a:pPr>
              <a:buNone/>
            </a:pPr>
            <a:r>
              <a:rPr lang="en-US" sz="3200" dirty="0"/>
              <a:t>Affects loose submucosae tissue </a:t>
            </a:r>
          </a:p>
          <a:p>
            <a:pPr>
              <a:buNone/>
            </a:pPr>
            <a:r>
              <a:rPr lang="en-US" sz="3200" dirty="0"/>
              <a:t>Lingual surface </a:t>
            </a:r>
          </a:p>
          <a:p>
            <a:pPr>
              <a:buNone/>
            </a:pPr>
            <a:r>
              <a:rPr lang="en-US" sz="3200" dirty="0"/>
              <a:t>Laryngeal surface </a:t>
            </a:r>
          </a:p>
          <a:p>
            <a:pPr>
              <a:buNone/>
            </a:pPr>
            <a:r>
              <a:rPr lang="en-US" sz="3200" dirty="0" err="1"/>
              <a:t>Paraglottis</a:t>
            </a:r>
            <a:endParaRPr lang="en-US" sz="3200" dirty="0"/>
          </a:p>
          <a:p>
            <a:pPr>
              <a:buNone/>
            </a:pPr>
            <a:endParaRPr lang="en-US" sz="3200" dirty="0"/>
          </a:p>
        </p:txBody>
      </p:sp>
    </p:spTree>
    <p:extLst>
      <p:ext uri="{BB962C8B-B14F-4D97-AF65-F5344CB8AC3E}">
        <p14:creationId xmlns:p14="http://schemas.microsoft.com/office/powerpoint/2010/main" val="5056027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Incidence 5%of children with stridor</a:t>
            </a:r>
          </a:p>
          <a:p>
            <a:r>
              <a:rPr lang="en-US" sz="3200" dirty="0"/>
              <a:t>Affected age 2-6yrs</a:t>
            </a:r>
          </a:p>
          <a:p>
            <a:r>
              <a:rPr lang="en-US" sz="3200" dirty="0"/>
              <a:t>Cause </a:t>
            </a:r>
            <a:r>
              <a:rPr lang="en-US" sz="3200" dirty="0" err="1"/>
              <a:t>H.influenza</a:t>
            </a:r>
            <a:r>
              <a:rPr lang="en-US" sz="3200" dirty="0"/>
              <a:t>(isolated from swab and blood with sudden onset )</a:t>
            </a:r>
          </a:p>
          <a:p>
            <a:r>
              <a:rPr lang="en-US" sz="3200" dirty="0">
                <a:solidFill>
                  <a:srgbClr val="FF0000"/>
                </a:solidFill>
              </a:rPr>
              <a:t>Extra thoracic upper airway obstruction</a:t>
            </a:r>
          </a:p>
          <a:p>
            <a:endParaRPr lang="en-US" sz="3200" dirty="0"/>
          </a:p>
        </p:txBody>
      </p:sp>
    </p:spTree>
    <p:extLst>
      <p:ext uri="{BB962C8B-B14F-4D97-AF65-F5344CB8AC3E}">
        <p14:creationId xmlns:p14="http://schemas.microsoft.com/office/powerpoint/2010/main" val="10523072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 goals </a:t>
            </a:r>
            <a:endParaRPr lang="en-US" dirty="0"/>
          </a:p>
        </p:txBody>
      </p:sp>
      <p:sp>
        <p:nvSpPr>
          <p:cNvPr id="3" name="Content Placeholder 2"/>
          <p:cNvSpPr>
            <a:spLocks noGrp="1"/>
          </p:cNvSpPr>
          <p:nvPr>
            <p:ph idx="1"/>
          </p:nvPr>
        </p:nvSpPr>
        <p:spPr/>
        <p:txBody>
          <a:bodyPr>
            <a:normAutofit/>
          </a:bodyPr>
          <a:lstStyle/>
          <a:p>
            <a:r>
              <a:rPr lang="en-US" sz="3200" dirty="0"/>
              <a:t>Prepare for respiratory arrest and mobilize operation room team</a:t>
            </a:r>
          </a:p>
          <a:p>
            <a:r>
              <a:rPr lang="en-US" sz="3200" dirty="0" err="1"/>
              <a:t>Donot</a:t>
            </a:r>
            <a:r>
              <a:rPr lang="en-US" sz="3200" dirty="0"/>
              <a:t> disturb the </a:t>
            </a:r>
            <a:r>
              <a:rPr lang="en-US" sz="3200" dirty="0" smtClean="0"/>
              <a:t>child(Not allow the child to cry )</a:t>
            </a:r>
            <a:endParaRPr lang="en-US" sz="3200" dirty="0"/>
          </a:p>
          <a:p>
            <a:r>
              <a:rPr lang="en-US" sz="3200" dirty="0"/>
              <a:t>Lateral neck </a:t>
            </a:r>
            <a:r>
              <a:rPr lang="en-US" sz="3200" dirty="0" err="1"/>
              <a:t>x.ray</a:t>
            </a:r>
            <a:r>
              <a:rPr lang="en-US" sz="3200" dirty="0"/>
              <a:t> (thumb like blurred rounded epiglottis )</a:t>
            </a:r>
          </a:p>
          <a:p>
            <a:endParaRPr lang="en-US" sz="3200" dirty="0"/>
          </a:p>
        </p:txBody>
      </p:sp>
    </p:spTree>
    <p:extLst>
      <p:ext uri="{BB962C8B-B14F-4D97-AF65-F5344CB8AC3E}">
        <p14:creationId xmlns:p14="http://schemas.microsoft.com/office/powerpoint/2010/main" val="17500966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Safely transport the child to operation room</a:t>
            </a:r>
          </a:p>
          <a:p>
            <a:r>
              <a:rPr lang="en-US" sz="3200" dirty="0"/>
              <a:t>Perform inhalational induction</a:t>
            </a:r>
          </a:p>
          <a:p>
            <a:r>
              <a:rPr lang="en-US" sz="3200" dirty="0"/>
              <a:t>Be ready for </a:t>
            </a:r>
            <a:r>
              <a:rPr lang="en-US" sz="3200" dirty="0" err="1"/>
              <a:t>cricothyrotomy</a:t>
            </a:r>
            <a:r>
              <a:rPr lang="en-US" sz="3200" dirty="0"/>
              <a:t> or tracheostomy </a:t>
            </a:r>
          </a:p>
          <a:p>
            <a:endParaRPr lang="en-US" sz="3200" dirty="0"/>
          </a:p>
        </p:txBody>
      </p:sp>
    </p:spTree>
    <p:extLst>
      <p:ext uri="{BB962C8B-B14F-4D97-AF65-F5344CB8AC3E}">
        <p14:creationId xmlns:p14="http://schemas.microsoft.com/office/powerpoint/2010/main" val="279938337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 operative management </a:t>
            </a:r>
            <a:endParaRPr lang="en-US" dirty="0"/>
          </a:p>
        </p:txBody>
      </p:sp>
      <p:sp>
        <p:nvSpPr>
          <p:cNvPr id="3" name="Content Placeholder 2"/>
          <p:cNvSpPr>
            <a:spLocks noGrp="1"/>
          </p:cNvSpPr>
          <p:nvPr>
            <p:ph idx="1"/>
          </p:nvPr>
        </p:nvSpPr>
        <p:spPr/>
        <p:txBody>
          <a:bodyPr>
            <a:normAutofit/>
          </a:bodyPr>
          <a:lstStyle/>
          <a:p>
            <a:r>
              <a:rPr lang="en-US" sz="3200" dirty="0"/>
              <a:t>Evaluate </a:t>
            </a:r>
            <a:r>
              <a:rPr lang="en-US" sz="3200" dirty="0" err="1"/>
              <a:t>leake</a:t>
            </a:r>
            <a:r>
              <a:rPr lang="en-US" sz="3200" dirty="0"/>
              <a:t> around the tube (20-30CmH2o)</a:t>
            </a:r>
          </a:p>
          <a:p>
            <a:r>
              <a:rPr lang="en-US" sz="3200" dirty="0"/>
              <a:t>Prevent self and accidental </a:t>
            </a:r>
            <a:r>
              <a:rPr lang="en-US" sz="3200" dirty="0" err="1"/>
              <a:t>extubation</a:t>
            </a:r>
            <a:endParaRPr lang="en-US" sz="3200" dirty="0"/>
          </a:p>
          <a:p>
            <a:r>
              <a:rPr lang="en-US" sz="3200" dirty="0"/>
              <a:t>Consider fluid status of the child</a:t>
            </a:r>
          </a:p>
          <a:p>
            <a:r>
              <a:rPr lang="en-US" sz="3200" dirty="0"/>
              <a:t>Antibiotics </a:t>
            </a:r>
            <a:endParaRPr lang="en-US" sz="3200" dirty="0"/>
          </a:p>
        </p:txBody>
      </p:sp>
    </p:spTree>
    <p:extLst>
      <p:ext uri="{BB962C8B-B14F-4D97-AF65-F5344CB8AC3E}">
        <p14:creationId xmlns:p14="http://schemas.microsoft.com/office/powerpoint/2010/main" val="36503396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Transfer to ICU</a:t>
            </a:r>
          </a:p>
          <a:p>
            <a:r>
              <a:rPr lang="en-US" sz="3200" dirty="0"/>
              <a:t>Monitor ETCo2</a:t>
            </a:r>
          </a:p>
          <a:p>
            <a:r>
              <a:rPr lang="en-US" sz="3200" dirty="0"/>
              <a:t>CPAP</a:t>
            </a:r>
          </a:p>
          <a:p>
            <a:r>
              <a:rPr lang="en-US" sz="3200" dirty="0" err="1"/>
              <a:t>Extubate</a:t>
            </a:r>
            <a:r>
              <a:rPr lang="en-US" sz="3200" dirty="0"/>
              <a:t> when edema subsides(48-96</a:t>
            </a:r>
          </a:p>
          <a:p>
            <a:endParaRPr lang="en-US" sz="3200" dirty="0"/>
          </a:p>
        </p:txBody>
      </p:sp>
    </p:spTree>
    <p:extLst>
      <p:ext uri="{BB962C8B-B14F-4D97-AF65-F5344CB8AC3E}">
        <p14:creationId xmlns:p14="http://schemas.microsoft.com/office/powerpoint/2010/main" val="20650402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Tracheolaryngo</a:t>
            </a:r>
            <a:r>
              <a:rPr lang="en-US" dirty="0"/>
              <a:t> bronchitis </a:t>
            </a:r>
          </a:p>
        </p:txBody>
      </p:sp>
      <p:sp>
        <p:nvSpPr>
          <p:cNvPr id="3" name="Content Placeholder 2"/>
          <p:cNvSpPr>
            <a:spLocks noGrp="1"/>
          </p:cNvSpPr>
          <p:nvPr>
            <p:ph idx="1"/>
          </p:nvPr>
        </p:nvSpPr>
        <p:spPr/>
        <p:txBody>
          <a:bodyPr>
            <a:noAutofit/>
          </a:bodyPr>
          <a:lstStyle/>
          <a:p>
            <a:r>
              <a:rPr lang="en-US" sz="3200" dirty="0"/>
              <a:t>Incidence 80%of children with upper air way obstruction(age &lt;2yrs etiology viral)</a:t>
            </a:r>
          </a:p>
          <a:p>
            <a:r>
              <a:rPr lang="en-US" sz="3200" dirty="0"/>
              <a:t>Subglottic larynx is affected</a:t>
            </a:r>
          </a:p>
          <a:p>
            <a:r>
              <a:rPr lang="en-US" sz="3200" dirty="0"/>
              <a:t>S.S</a:t>
            </a:r>
          </a:p>
          <a:p>
            <a:r>
              <a:rPr lang="en-US" sz="3200" dirty="0"/>
              <a:t>Retraction barking cough/</a:t>
            </a:r>
          </a:p>
          <a:p>
            <a:r>
              <a:rPr lang="en-US" sz="3200" dirty="0"/>
              <a:t>Stridor</a:t>
            </a:r>
          </a:p>
          <a:p>
            <a:r>
              <a:rPr lang="en-US" sz="3200" dirty="0"/>
              <a:t>hoarseness </a:t>
            </a:r>
            <a:endParaRPr lang="en-US" sz="3200" dirty="0"/>
          </a:p>
        </p:txBody>
      </p:sp>
    </p:spTree>
    <p:extLst>
      <p:ext uri="{BB962C8B-B14F-4D97-AF65-F5344CB8AC3E}">
        <p14:creationId xmlns:p14="http://schemas.microsoft.com/office/powerpoint/2010/main" val="4498086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5008" y="585216"/>
            <a:ext cx="9469192" cy="844339"/>
          </a:xfrm>
        </p:spPr>
        <p:txBody>
          <a:bodyPr/>
          <a:lstStyle/>
          <a:p>
            <a:r>
              <a:rPr lang="en-US" dirty="0" smtClean="0"/>
              <a:t>Clinical croup score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45915684"/>
              </p:ext>
            </p:extLst>
          </p:nvPr>
        </p:nvGraphicFramePr>
        <p:xfrm>
          <a:off x="1023938" y="2286000"/>
          <a:ext cx="9720260" cy="3307080"/>
        </p:xfrm>
        <a:graphic>
          <a:graphicData uri="http://schemas.openxmlformats.org/drawingml/2006/table">
            <a:tbl>
              <a:tblPr firstRow="1" bandRow="1">
                <a:tableStyleId>{5C22544A-7EE6-4342-B048-85BDC9FD1C3A}</a:tableStyleId>
              </a:tblPr>
              <a:tblGrid>
                <a:gridCol w="1944052"/>
                <a:gridCol w="1944052"/>
                <a:gridCol w="1944052"/>
                <a:gridCol w="1944052"/>
                <a:gridCol w="1944052"/>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Breathing sounds</a:t>
                      </a:r>
                    </a:p>
                  </a:txBody>
                  <a:tcPr/>
                </a:tc>
                <a:tc>
                  <a:txBody>
                    <a:bodyPr/>
                    <a:lstStyle/>
                    <a:p>
                      <a:r>
                        <a:rPr lang="en-US" dirty="0" smtClean="0"/>
                        <a:t>Normal </a:t>
                      </a:r>
                      <a:r>
                        <a:rPr lang="en-US" dirty="0" smtClean="0"/>
                        <a:t>    0</a:t>
                      </a:r>
                      <a:endParaRPr lang="en-US" dirty="0"/>
                    </a:p>
                  </a:txBody>
                  <a:tcPr marL="74577" marR="74577"/>
                </a:tc>
                <a:tc>
                  <a:txBody>
                    <a:bodyPr/>
                    <a:lstStyle/>
                    <a:p>
                      <a:r>
                        <a:rPr lang="en-US" dirty="0" smtClean="0"/>
                        <a:t>Hoarse with</a:t>
                      </a:r>
                      <a:r>
                        <a:rPr lang="en-US" baseline="0" dirty="0" smtClean="0"/>
                        <a:t> </a:t>
                      </a:r>
                      <a:r>
                        <a:rPr lang="en-US" baseline="0" dirty="0" smtClean="0"/>
                        <a:t>  Rhonchi              1  </a:t>
                      </a:r>
                      <a:endParaRPr lang="en-US" dirty="0"/>
                    </a:p>
                  </a:txBody>
                  <a:tcPr marL="74577" marR="74577"/>
                </a:tc>
                <a:tc>
                  <a:txBody>
                    <a:bodyPr/>
                    <a:lstStyle/>
                    <a:p>
                      <a:r>
                        <a:rPr lang="en-US" dirty="0" smtClean="0"/>
                        <a:t>Delayed         2</a:t>
                      </a:r>
                      <a:endParaRPr lang="en-US" dirty="0"/>
                    </a:p>
                  </a:txBody>
                  <a:tcPr marL="74577" marR="74577"/>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Stridor </a:t>
                      </a:r>
                      <a:endParaRPr lang="en-US" dirty="0"/>
                    </a:p>
                  </a:txBody>
                  <a:tcPr marL="74577" marR="74577"/>
                </a:tc>
                <a:tc>
                  <a:txBody>
                    <a:bodyPr/>
                    <a:lstStyle/>
                    <a:p>
                      <a:r>
                        <a:rPr lang="en-US" dirty="0" smtClean="0"/>
                        <a:t>None </a:t>
                      </a:r>
                      <a:r>
                        <a:rPr lang="en-US" dirty="0" smtClean="0"/>
                        <a:t>       0</a:t>
                      </a:r>
                      <a:endParaRPr lang="en-US" dirty="0"/>
                    </a:p>
                  </a:txBody>
                  <a:tcPr marL="74577" marR="74577"/>
                </a:tc>
                <a:tc>
                  <a:txBody>
                    <a:bodyPr/>
                    <a:lstStyle/>
                    <a:p>
                      <a:r>
                        <a:rPr lang="en-US" dirty="0" smtClean="0"/>
                        <a:t>Inspiratory    1</a:t>
                      </a:r>
                      <a:endParaRPr lang="en-US" dirty="0"/>
                    </a:p>
                  </a:txBody>
                  <a:tcPr marL="74577" marR="74577"/>
                </a:tc>
                <a:tc>
                  <a:txBody>
                    <a:bodyPr/>
                    <a:lstStyle/>
                    <a:p>
                      <a:r>
                        <a:rPr lang="en-US" dirty="0" smtClean="0"/>
                        <a:t>Inspiratory </a:t>
                      </a:r>
                      <a:r>
                        <a:rPr lang="en-US" dirty="0" smtClean="0"/>
                        <a:t>    &amp;expiratory    2</a:t>
                      </a:r>
                      <a:endParaRPr lang="en-US" dirty="0"/>
                    </a:p>
                  </a:txBody>
                  <a:tcPr marL="74577" marR="74577"/>
                </a:tc>
                <a:tc>
                  <a:txBody>
                    <a:bodyPr/>
                    <a:lstStyle/>
                    <a:p>
                      <a:endParaRPr lang="en-US"/>
                    </a:p>
                  </a:txBody>
                  <a:tcPr/>
                </a:tc>
              </a:tr>
              <a:tr h="370840">
                <a:tc>
                  <a:txBody>
                    <a:bodyPr/>
                    <a:lstStyle/>
                    <a:p>
                      <a:r>
                        <a:rPr lang="en-US" dirty="0" smtClean="0"/>
                        <a:t>cough</a:t>
                      </a:r>
                      <a:endParaRPr lang="en-US" dirty="0"/>
                    </a:p>
                  </a:txBody>
                  <a:tcPr marL="74577" marR="74577"/>
                </a:tc>
                <a:tc>
                  <a:txBody>
                    <a:bodyPr/>
                    <a:lstStyle/>
                    <a:p>
                      <a:r>
                        <a:rPr lang="en-US" dirty="0" smtClean="0"/>
                        <a:t>None </a:t>
                      </a:r>
                      <a:r>
                        <a:rPr lang="en-US" dirty="0" smtClean="0"/>
                        <a:t>        0</a:t>
                      </a:r>
                      <a:endParaRPr lang="en-US" dirty="0"/>
                    </a:p>
                  </a:txBody>
                  <a:tcPr marL="74577" marR="74577"/>
                </a:tc>
                <a:tc>
                  <a:txBody>
                    <a:bodyPr/>
                    <a:lstStyle/>
                    <a:p>
                      <a:r>
                        <a:rPr lang="en-US" dirty="0" smtClean="0"/>
                        <a:t>Hoarse  </a:t>
                      </a:r>
                      <a:r>
                        <a:rPr lang="en-US" dirty="0" smtClean="0"/>
                        <a:t>cry     1</a:t>
                      </a:r>
                      <a:endParaRPr lang="en-US" dirty="0"/>
                    </a:p>
                  </a:txBody>
                  <a:tcPr marL="74577" marR="74577"/>
                </a:tc>
                <a:tc>
                  <a:txBody>
                    <a:bodyPr/>
                    <a:lstStyle/>
                    <a:p>
                      <a:r>
                        <a:rPr lang="en-US" dirty="0" smtClean="0"/>
                        <a:t>Barking       2</a:t>
                      </a:r>
                      <a:endParaRPr lang="en-US" dirty="0"/>
                    </a:p>
                  </a:txBody>
                  <a:tcPr marL="74577" marR="74577"/>
                </a:tc>
                <a:tc>
                  <a:txBody>
                    <a:bodyPr/>
                    <a:lstStyle/>
                    <a:p>
                      <a:endParaRPr lang="en-US"/>
                    </a:p>
                  </a:txBody>
                  <a:tcPr/>
                </a:tc>
              </a:tr>
              <a:tr h="370840">
                <a:tc>
                  <a:txBody>
                    <a:bodyPr/>
                    <a:lstStyle/>
                    <a:p>
                      <a:r>
                        <a:rPr lang="en-US" dirty="0" smtClean="0"/>
                        <a:t>Cyanosis </a:t>
                      </a:r>
                      <a:endParaRPr lang="en-US" dirty="0"/>
                    </a:p>
                  </a:txBody>
                  <a:tcPr/>
                </a:tc>
                <a:tc>
                  <a:txBody>
                    <a:bodyPr/>
                    <a:lstStyle/>
                    <a:p>
                      <a:r>
                        <a:rPr lang="en-US" dirty="0" smtClean="0"/>
                        <a:t>None</a:t>
                      </a:r>
                      <a:r>
                        <a:rPr lang="en-US" baseline="0" dirty="0" smtClean="0"/>
                        <a:t>        0</a:t>
                      </a:r>
                      <a:endParaRPr lang="en-US" dirty="0"/>
                    </a:p>
                  </a:txBody>
                  <a:tcPr/>
                </a:tc>
                <a:tc>
                  <a:txBody>
                    <a:bodyPr/>
                    <a:lstStyle/>
                    <a:p>
                      <a:r>
                        <a:rPr lang="en-US" dirty="0" smtClean="0"/>
                        <a:t>In the air        1</a:t>
                      </a:r>
                      <a:endParaRPr lang="en-US" dirty="0"/>
                    </a:p>
                  </a:txBody>
                  <a:tcPr/>
                </a:tc>
                <a:tc>
                  <a:txBody>
                    <a:bodyPr/>
                    <a:lstStyle/>
                    <a:p>
                      <a:r>
                        <a:rPr lang="en-US" dirty="0" smtClean="0"/>
                        <a:t>40%oxygen    2</a:t>
                      </a:r>
                      <a:endParaRPr lang="en-US" dirty="0"/>
                    </a:p>
                  </a:txBody>
                  <a:tcPr/>
                </a:tc>
                <a:tc>
                  <a:txBody>
                    <a:bodyPr/>
                    <a:lstStyle/>
                    <a:p>
                      <a:endParaRPr lang="en-US"/>
                    </a:p>
                  </a:txBody>
                  <a:tcPr/>
                </a:tc>
              </a:tr>
              <a:tr h="370840">
                <a:tc>
                  <a:txBody>
                    <a:bodyPr/>
                    <a:lstStyle/>
                    <a:p>
                      <a:r>
                        <a:rPr lang="en-US" dirty="0" smtClean="0"/>
                        <a:t>Retractions</a:t>
                      </a:r>
                      <a:r>
                        <a:rPr lang="en-US" baseline="0" dirty="0" smtClean="0"/>
                        <a:t> and flaring</a:t>
                      </a:r>
                      <a:endParaRPr lang="en-US" dirty="0"/>
                    </a:p>
                  </a:txBody>
                  <a:tcPr marL="74577" marR="74577"/>
                </a:tc>
                <a:tc>
                  <a:txBody>
                    <a:bodyPr/>
                    <a:lstStyle/>
                    <a:p>
                      <a:r>
                        <a:rPr lang="en-US" dirty="0" smtClean="0"/>
                        <a:t>None </a:t>
                      </a:r>
                      <a:r>
                        <a:rPr lang="en-US" dirty="0" smtClean="0"/>
                        <a:t>       0</a:t>
                      </a:r>
                      <a:endParaRPr lang="en-US" dirty="0"/>
                    </a:p>
                  </a:txBody>
                  <a:tcPr marL="74577" marR="74577"/>
                </a:tc>
                <a:tc>
                  <a:txBody>
                    <a:bodyPr/>
                    <a:lstStyle/>
                    <a:p>
                      <a:r>
                        <a:rPr lang="en-US" dirty="0" smtClean="0"/>
                        <a:t> Flaring    suprasternal   1</a:t>
                      </a:r>
                      <a:endParaRPr lang="en-US" dirty="0"/>
                    </a:p>
                  </a:txBody>
                  <a:tcPr marL="74577" marR="74577"/>
                </a:tc>
                <a:tc>
                  <a:txBody>
                    <a:bodyPr/>
                    <a:lstStyle/>
                    <a:p>
                      <a:r>
                        <a:rPr lang="en-US" dirty="0" smtClean="0"/>
                        <a:t>Flaring suprasternal intercostal     2</a:t>
                      </a:r>
                      <a:endParaRPr lang="en-US" dirty="0"/>
                    </a:p>
                  </a:txBody>
                  <a:tcPr marL="74577" marR="74577"/>
                </a:tc>
                <a:tc>
                  <a:txBody>
                    <a:bodyPr/>
                    <a:lstStyle/>
                    <a:p>
                      <a:endParaRPr lang="en-US" dirty="0"/>
                    </a:p>
                  </a:txBody>
                  <a:tcPr/>
                </a:tc>
              </a:tr>
            </a:tbl>
          </a:graphicData>
        </a:graphic>
      </p:graphicFrame>
    </p:spTree>
    <p:extLst>
      <p:ext uri="{BB962C8B-B14F-4D97-AF65-F5344CB8AC3E}">
        <p14:creationId xmlns:p14="http://schemas.microsoft.com/office/powerpoint/2010/main" val="14450610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buNone/>
            </a:pPr>
            <a:r>
              <a:rPr lang="en-US" sz="3200" dirty="0"/>
              <a:t>Croup score &gt;or =4 Racemic epinephrine is indicated as a local </a:t>
            </a:r>
            <a:r>
              <a:rPr lang="en-US" sz="3200" dirty="0" err="1"/>
              <a:t>vasso</a:t>
            </a:r>
            <a:r>
              <a:rPr lang="en-US" sz="3200" dirty="0"/>
              <a:t> constrictor</a:t>
            </a:r>
          </a:p>
          <a:p>
            <a:r>
              <a:rPr lang="en-US" sz="3200" dirty="0"/>
              <a:t>Croup score &gt;or =7</a:t>
            </a:r>
          </a:p>
          <a:p>
            <a:r>
              <a:rPr lang="en-US" sz="3200" dirty="0"/>
              <a:t>Ventilate </a:t>
            </a:r>
          </a:p>
          <a:p>
            <a:r>
              <a:rPr lang="en-US" sz="3200" dirty="0"/>
              <a:t>Inhalational induction</a:t>
            </a:r>
          </a:p>
          <a:p>
            <a:r>
              <a:rPr lang="en-US" sz="3200" dirty="0"/>
              <a:t>ETT or</a:t>
            </a:r>
          </a:p>
          <a:p>
            <a:r>
              <a:rPr lang="en-US" sz="3200" dirty="0"/>
              <a:t>tracheostomy</a:t>
            </a:r>
            <a:endParaRPr lang="en-US" sz="3200" dirty="0"/>
          </a:p>
        </p:txBody>
      </p:sp>
    </p:spTree>
    <p:extLst>
      <p:ext uri="{BB962C8B-B14F-4D97-AF65-F5344CB8AC3E}">
        <p14:creationId xmlns:p14="http://schemas.microsoft.com/office/powerpoint/2010/main" val="369888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Anesthetic management for epiglottitis and </a:t>
            </a:r>
            <a:r>
              <a:rPr lang="en-US" dirty="0" err="1"/>
              <a:t>tracheolargo</a:t>
            </a:r>
            <a:r>
              <a:rPr lang="en-US" dirty="0"/>
              <a:t> bronchitis(Summary</a:t>
            </a:r>
          </a:p>
        </p:txBody>
      </p:sp>
      <p:sp>
        <p:nvSpPr>
          <p:cNvPr id="3" name="Content Placeholder 2"/>
          <p:cNvSpPr>
            <a:spLocks noGrp="1"/>
          </p:cNvSpPr>
          <p:nvPr>
            <p:ph idx="1"/>
          </p:nvPr>
        </p:nvSpPr>
        <p:spPr/>
        <p:txBody>
          <a:bodyPr/>
          <a:lstStyle/>
          <a:p>
            <a:r>
              <a:rPr lang="en-US" sz="3200" dirty="0"/>
              <a:t>IV line  </a:t>
            </a:r>
          </a:p>
          <a:p>
            <a:r>
              <a:rPr lang="en-US" sz="3200" dirty="0"/>
              <a:t>Glycopylorate3-5ug/kg</a:t>
            </a:r>
          </a:p>
          <a:p>
            <a:r>
              <a:rPr lang="en-US" sz="3200" dirty="0"/>
              <a:t>Volatile induction in a sitting position</a:t>
            </a:r>
          </a:p>
          <a:p>
            <a:r>
              <a:rPr lang="en-US" sz="3200" dirty="0"/>
              <a:t>Then supine position</a:t>
            </a:r>
          </a:p>
          <a:p>
            <a:r>
              <a:rPr lang="en-US" sz="3200" dirty="0"/>
              <a:t>When in deep plane intubate nasally</a:t>
            </a:r>
          </a:p>
          <a:p>
            <a:r>
              <a:rPr lang="en-US" sz="3200" dirty="0"/>
              <a:t>Post operation keep tube 48-96hrs</a:t>
            </a:r>
          </a:p>
          <a:p>
            <a:endParaRPr lang="en-US" sz="2400" dirty="0"/>
          </a:p>
          <a:p>
            <a:endParaRPr lang="en-US" dirty="0"/>
          </a:p>
        </p:txBody>
      </p:sp>
    </p:spTree>
    <p:extLst>
      <p:ext uri="{BB962C8B-B14F-4D97-AF65-F5344CB8AC3E}">
        <p14:creationId xmlns:p14="http://schemas.microsoft.com/office/powerpoint/2010/main" val="20935317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Extubation </a:t>
            </a:r>
            <a:endParaRPr lang="en-US" dirty="0"/>
          </a:p>
        </p:txBody>
      </p:sp>
      <p:sp>
        <p:nvSpPr>
          <p:cNvPr id="3" name="Content Placeholder 2"/>
          <p:cNvSpPr>
            <a:spLocks noGrp="1"/>
          </p:cNvSpPr>
          <p:nvPr>
            <p:ph idx="1"/>
          </p:nvPr>
        </p:nvSpPr>
        <p:spPr/>
        <p:txBody>
          <a:bodyPr>
            <a:normAutofit/>
          </a:bodyPr>
          <a:lstStyle/>
          <a:p>
            <a:r>
              <a:rPr lang="en-US" sz="3200" dirty="0"/>
              <a:t>Normal body temperature </a:t>
            </a:r>
          </a:p>
          <a:p>
            <a:r>
              <a:rPr lang="en-US" sz="3200" dirty="0"/>
              <a:t>Decreased neutrophil and lymphocyte count</a:t>
            </a:r>
          </a:p>
          <a:p>
            <a:r>
              <a:rPr lang="en-US" sz="3200" dirty="0"/>
              <a:t>Air leak around endotracheal tube</a:t>
            </a:r>
          </a:p>
          <a:p>
            <a:r>
              <a:rPr lang="en-US" sz="3200" dirty="0"/>
              <a:t>Confirm resolving of edema</a:t>
            </a:r>
          </a:p>
          <a:p>
            <a:r>
              <a:rPr lang="en-US" sz="3200" dirty="0"/>
              <a:t>48-96hrs </a:t>
            </a:r>
            <a:endParaRPr lang="en-US" sz="3200" dirty="0"/>
          </a:p>
        </p:txBody>
      </p:sp>
    </p:spTree>
    <p:extLst>
      <p:ext uri="{BB962C8B-B14F-4D97-AF65-F5344CB8AC3E}">
        <p14:creationId xmlns:p14="http://schemas.microsoft.com/office/powerpoint/2010/main" val="31169308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Anesthesia for endoscopy and bronchoscopy </a:t>
            </a:r>
          </a:p>
        </p:txBody>
      </p:sp>
      <p:sp>
        <p:nvSpPr>
          <p:cNvPr id="3" name="Content Placeholder 2"/>
          <p:cNvSpPr>
            <a:spLocks noGrp="1"/>
          </p:cNvSpPr>
          <p:nvPr>
            <p:ph idx="1"/>
          </p:nvPr>
        </p:nvSpPr>
        <p:spPr/>
        <p:txBody>
          <a:bodyPr/>
          <a:lstStyle/>
          <a:p>
            <a:pPr>
              <a:buNone/>
            </a:pPr>
            <a:r>
              <a:rPr lang="en-US" sz="2400" dirty="0"/>
              <a:t> </a:t>
            </a:r>
            <a:r>
              <a:rPr lang="en-US" sz="3200" dirty="0">
                <a:solidFill>
                  <a:schemeClr val="accent3">
                    <a:lumMod val="75000"/>
                  </a:schemeClr>
                </a:solidFill>
              </a:rPr>
              <a:t>Indications</a:t>
            </a:r>
          </a:p>
          <a:p>
            <a:pPr>
              <a:buNone/>
            </a:pPr>
            <a:r>
              <a:rPr lang="en-US" sz="3200" dirty="0"/>
              <a:t>Diagnostic</a:t>
            </a:r>
          </a:p>
          <a:p>
            <a:pPr>
              <a:buNone/>
            </a:pPr>
            <a:r>
              <a:rPr lang="en-US" sz="3200" dirty="0"/>
              <a:t>Therapeutic</a:t>
            </a:r>
          </a:p>
        </p:txBody>
      </p:sp>
    </p:spTree>
    <p:extLst>
      <p:ext uri="{BB962C8B-B14F-4D97-AF65-F5344CB8AC3E}">
        <p14:creationId xmlns:p14="http://schemas.microsoft.com/office/powerpoint/2010/main" val="23123109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Bronchoscope </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540913" y="1906073"/>
            <a:ext cx="9079605" cy="5190186"/>
          </a:xfrm>
          <a:prstGeom prst="rect">
            <a:avLst/>
          </a:prstGeom>
          <a:noFill/>
          <a:ln w="9525">
            <a:noFill/>
            <a:miter lim="800000"/>
            <a:headEnd/>
            <a:tailEnd/>
          </a:ln>
          <a:effectLst/>
        </p:spPr>
      </p:pic>
    </p:spTree>
    <p:extLst>
      <p:ext uri="{BB962C8B-B14F-4D97-AF65-F5344CB8AC3E}">
        <p14:creationId xmlns:p14="http://schemas.microsoft.com/office/powerpoint/2010/main" val="15493407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3200" dirty="0">
                <a:solidFill>
                  <a:srgbClr val="00B0F0"/>
                </a:solidFill>
              </a:rPr>
              <a:t>Special considerations </a:t>
            </a:r>
          </a:p>
          <a:p>
            <a:r>
              <a:rPr lang="en-US" sz="3200" dirty="0"/>
              <a:t>Existing airway problem</a:t>
            </a:r>
          </a:p>
          <a:p>
            <a:r>
              <a:rPr lang="en-US" sz="3200" dirty="0"/>
              <a:t>Difficult to maintain ventilation</a:t>
            </a:r>
          </a:p>
          <a:p>
            <a:r>
              <a:rPr lang="en-US" sz="3200" dirty="0"/>
              <a:t>Possibility of complete airway obstruction</a:t>
            </a:r>
          </a:p>
          <a:p>
            <a:r>
              <a:rPr lang="en-US" sz="3200" dirty="0"/>
              <a:t>Post operative reduction in airway lumen</a:t>
            </a:r>
          </a:p>
          <a:p>
            <a:endParaRPr lang="en-US" dirty="0"/>
          </a:p>
        </p:txBody>
      </p:sp>
    </p:spTree>
    <p:extLst>
      <p:ext uri="{BB962C8B-B14F-4D97-AF65-F5344CB8AC3E}">
        <p14:creationId xmlns:p14="http://schemas.microsoft.com/office/powerpoint/2010/main" val="16360836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management </a:t>
            </a:r>
            <a:endParaRPr lang="en-US" dirty="0"/>
          </a:p>
        </p:txBody>
      </p:sp>
      <p:sp>
        <p:nvSpPr>
          <p:cNvPr id="3" name="Content Placeholder 2"/>
          <p:cNvSpPr>
            <a:spLocks noGrp="1"/>
          </p:cNvSpPr>
          <p:nvPr>
            <p:ph idx="1"/>
          </p:nvPr>
        </p:nvSpPr>
        <p:spPr/>
        <p:txBody>
          <a:bodyPr>
            <a:normAutofit/>
          </a:bodyPr>
          <a:lstStyle/>
          <a:p>
            <a:r>
              <a:rPr lang="en-US" sz="3200" dirty="0"/>
              <a:t>Asses respiratory status </a:t>
            </a:r>
          </a:p>
          <a:p>
            <a:r>
              <a:rPr lang="en-US" sz="3200" dirty="0"/>
              <a:t>No heavy sedation or narcotics </a:t>
            </a:r>
          </a:p>
          <a:p>
            <a:r>
              <a:rPr lang="en-US" sz="3200" dirty="0"/>
              <a:t>Atropine to all</a:t>
            </a:r>
            <a:endParaRPr lang="en-US" sz="3200" dirty="0"/>
          </a:p>
        </p:txBody>
      </p:sp>
    </p:spTree>
    <p:extLst>
      <p:ext uri="{BB962C8B-B14F-4D97-AF65-F5344CB8AC3E}">
        <p14:creationId xmlns:p14="http://schemas.microsoft.com/office/powerpoint/2010/main" val="3257347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Inhalational induction</a:t>
            </a:r>
          </a:p>
          <a:p>
            <a:r>
              <a:rPr lang="en-US" sz="3200" dirty="0"/>
              <a:t>Lidocaine spray </a:t>
            </a:r>
          </a:p>
          <a:p>
            <a:r>
              <a:rPr lang="en-US" sz="3200" dirty="0"/>
              <a:t>When deep enough bronchoscope can be inserted</a:t>
            </a:r>
          </a:p>
          <a:p>
            <a:r>
              <a:rPr lang="en-US" sz="3200" dirty="0"/>
              <a:t>Supply oxygen and inhalational agent to the side arm</a:t>
            </a:r>
          </a:p>
          <a:p>
            <a:endParaRPr lang="en-US" sz="3200" dirty="0"/>
          </a:p>
          <a:p>
            <a:endParaRPr lang="en-US" sz="3200" dirty="0"/>
          </a:p>
          <a:p>
            <a:endParaRPr lang="en-US" dirty="0"/>
          </a:p>
        </p:txBody>
      </p:sp>
    </p:spTree>
    <p:extLst>
      <p:ext uri="{BB962C8B-B14F-4D97-AF65-F5344CB8AC3E}">
        <p14:creationId xmlns:p14="http://schemas.microsoft.com/office/powerpoint/2010/main" val="20386895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Assist ventilation</a:t>
            </a:r>
          </a:p>
          <a:p>
            <a:r>
              <a:rPr lang="en-US" sz="3200" dirty="0"/>
              <a:t>Monitor ventilation and heart rate </a:t>
            </a:r>
          </a:p>
          <a:p>
            <a:r>
              <a:rPr lang="en-US" sz="3200" dirty="0"/>
              <a:t>Two </a:t>
            </a:r>
            <a:r>
              <a:rPr lang="en-US" sz="3200" dirty="0" smtClean="0"/>
              <a:t>stethoscopes</a:t>
            </a:r>
            <a:endParaRPr lang="en-US" sz="3200" dirty="0"/>
          </a:p>
          <a:p>
            <a:r>
              <a:rPr lang="en-US" sz="3200" dirty="0"/>
              <a:t>Check for pneumothorax</a:t>
            </a:r>
          </a:p>
          <a:p>
            <a:endParaRPr lang="en-US" sz="3200" dirty="0"/>
          </a:p>
        </p:txBody>
      </p:sp>
    </p:spTree>
    <p:extLst>
      <p:ext uri="{BB962C8B-B14F-4D97-AF65-F5344CB8AC3E}">
        <p14:creationId xmlns:p14="http://schemas.microsoft.com/office/powerpoint/2010/main" val="28028555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Expected events </a:t>
            </a:r>
            <a:endParaRPr lang="en-US" dirty="0"/>
          </a:p>
        </p:txBody>
      </p:sp>
      <p:sp>
        <p:nvSpPr>
          <p:cNvPr id="3" name="Content Placeholder 2"/>
          <p:cNvSpPr>
            <a:spLocks noGrp="1"/>
          </p:cNvSpPr>
          <p:nvPr>
            <p:ph idx="1"/>
          </p:nvPr>
        </p:nvSpPr>
        <p:spPr/>
        <p:txBody>
          <a:bodyPr>
            <a:normAutofit/>
          </a:bodyPr>
          <a:lstStyle/>
          <a:p>
            <a:r>
              <a:rPr lang="en-US" sz="3200" dirty="0"/>
              <a:t>Hypoventilation(high fresh gas flow </a:t>
            </a:r>
            <a:r>
              <a:rPr lang="en-US" sz="3200" dirty="0" err="1"/>
              <a:t>criciod</a:t>
            </a:r>
            <a:r>
              <a:rPr lang="en-US" sz="3200" dirty="0"/>
              <a:t> pressure)</a:t>
            </a:r>
          </a:p>
          <a:p>
            <a:r>
              <a:rPr lang="en-US" sz="3200" dirty="0"/>
              <a:t>High resistance to gas flow(</a:t>
            </a:r>
            <a:r>
              <a:rPr lang="en-US" sz="3200" dirty="0" err="1"/>
              <a:t>intermitant</a:t>
            </a:r>
            <a:r>
              <a:rPr lang="en-US" sz="3200" dirty="0"/>
              <a:t> removal of the optics)</a:t>
            </a:r>
          </a:p>
          <a:p>
            <a:r>
              <a:rPr lang="en-US" sz="3200" dirty="0" err="1"/>
              <a:t>Endobronchial</a:t>
            </a:r>
            <a:r>
              <a:rPr lang="en-US" sz="3200" dirty="0"/>
              <a:t> placement of the bronchoscope (withdraw to trachea)</a:t>
            </a:r>
            <a:endParaRPr lang="en-US" sz="3200" dirty="0"/>
          </a:p>
        </p:txBody>
      </p:sp>
    </p:spTree>
    <p:extLst>
      <p:ext uri="{BB962C8B-B14F-4D97-AF65-F5344CB8AC3E}">
        <p14:creationId xmlns:p14="http://schemas.microsoft.com/office/powerpoint/2010/main" val="34130708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Complications of Bronchoscopy</a:t>
            </a:r>
          </a:p>
        </p:txBody>
      </p:sp>
      <p:sp>
        <p:nvSpPr>
          <p:cNvPr id="3" name="Content Placeholder 2"/>
          <p:cNvSpPr>
            <a:spLocks noGrp="1"/>
          </p:cNvSpPr>
          <p:nvPr>
            <p:ph idx="1"/>
          </p:nvPr>
        </p:nvSpPr>
        <p:spPr/>
        <p:txBody>
          <a:bodyPr>
            <a:normAutofit/>
          </a:bodyPr>
          <a:lstStyle/>
          <a:p>
            <a:r>
              <a:rPr lang="en-US" sz="3200" dirty="0"/>
              <a:t>Brady cardia(hypoxemia)</a:t>
            </a:r>
          </a:p>
          <a:p>
            <a:r>
              <a:rPr lang="en-US" sz="3200" dirty="0"/>
              <a:t>Arterial hypoxemia or hyper </a:t>
            </a:r>
            <a:r>
              <a:rPr lang="en-US" sz="3200" dirty="0" err="1"/>
              <a:t>carbia</a:t>
            </a:r>
            <a:r>
              <a:rPr lang="en-US" sz="3200" dirty="0"/>
              <a:t> (airway obstruction)</a:t>
            </a:r>
          </a:p>
          <a:p>
            <a:r>
              <a:rPr lang="en-US" sz="3200" dirty="0"/>
              <a:t>PVC</a:t>
            </a:r>
          </a:p>
          <a:p>
            <a:r>
              <a:rPr lang="en-US" sz="3200" dirty="0"/>
              <a:t>Pneumothorax</a:t>
            </a:r>
          </a:p>
          <a:p>
            <a:r>
              <a:rPr lang="en-US" sz="3200" dirty="0"/>
              <a:t>Fragmentation of foreign body</a:t>
            </a:r>
          </a:p>
          <a:p>
            <a:r>
              <a:rPr lang="en-US" sz="3200" dirty="0"/>
              <a:t>Subglottic edema </a:t>
            </a:r>
            <a:endParaRPr lang="en-US" sz="3200" dirty="0"/>
          </a:p>
        </p:txBody>
      </p:sp>
    </p:spTree>
    <p:extLst>
      <p:ext uri="{BB962C8B-B14F-4D97-AF65-F5344CB8AC3E}">
        <p14:creationId xmlns:p14="http://schemas.microsoft.com/office/powerpoint/2010/main" val="33539735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of complications </a:t>
            </a:r>
            <a:endParaRPr lang="en-US" dirty="0"/>
          </a:p>
        </p:txBody>
      </p:sp>
      <p:sp>
        <p:nvSpPr>
          <p:cNvPr id="3" name="Content Placeholder 2"/>
          <p:cNvSpPr>
            <a:spLocks noGrp="1"/>
          </p:cNvSpPr>
          <p:nvPr>
            <p:ph idx="1"/>
          </p:nvPr>
        </p:nvSpPr>
        <p:spPr/>
        <p:txBody>
          <a:bodyPr>
            <a:normAutofit/>
          </a:bodyPr>
          <a:lstStyle/>
          <a:p>
            <a:r>
              <a:rPr lang="en-US" sz="3200" dirty="0"/>
              <a:t>Subglottic </a:t>
            </a:r>
            <a:r>
              <a:rPr lang="en-US" sz="3200" dirty="0" err="1"/>
              <a:t>oedema</a:t>
            </a:r>
            <a:r>
              <a:rPr lang="en-US" sz="3200" dirty="0"/>
              <a:t> –inhalation of aerosolized </a:t>
            </a:r>
            <a:r>
              <a:rPr lang="en-US" sz="3200" dirty="0" err="1"/>
              <a:t>epineprine</a:t>
            </a:r>
            <a:endParaRPr lang="en-US" sz="3200" dirty="0"/>
          </a:p>
          <a:p>
            <a:r>
              <a:rPr lang="en-US" sz="3200" dirty="0"/>
              <a:t>Dexamethasone as prophylaxis</a:t>
            </a:r>
          </a:p>
          <a:p>
            <a:r>
              <a:rPr lang="en-US" sz="3200" dirty="0"/>
              <a:t>CXR(</a:t>
            </a:r>
            <a:r>
              <a:rPr lang="en-US" sz="3200" dirty="0" err="1"/>
              <a:t>atlectiasis</a:t>
            </a:r>
            <a:r>
              <a:rPr lang="en-US" sz="3200" dirty="0"/>
              <a:t> pneumothorax)</a:t>
            </a:r>
          </a:p>
          <a:p>
            <a:r>
              <a:rPr lang="en-US" sz="3200" dirty="0"/>
              <a:t>Chest drainage </a:t>
            </a:r>
          </a:p>
          <a:p>
            <a:pPr>
              <a:buNone/>
            </a:pPr>
            <a:r>
              <a:rPr lang="en-US" sz="3200" dirty="0"/>
              <a:t>Avoid coughing with bronchoscope in place </a:t>
            </a:r>
          </a:p>
          <a:p>
            <a:endParaRPr lang="en-US" sz="3200" dirty="0"/>
          </a:p>
        </p:txBody>
      </p:sp>
    </p:spTree>
    <p:extLst>
      <p:ext uri="{BB962C8B-B14F-4D97-AF65-F5344CB8AC3E}">
        <p14:creationId xmlns:p14="http://schemas.microsoft.com/office/powerpoint/2010/main" val="17845154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Foreign body aspiration </a:t>
            </a:r>
            <a:endParaRPr lang="en-US" dirty="0"/>
          </a:p>
        </p:txBody>
      </p:sp>
      <p:sp>
        <p:nvSpPr>
          <p:cNvPr id="3" name="Content Placeholder 2"/>
          <p:cNvSpPr>
            <a:spLocks noGrp="1"/>
          </p:cNvSpPr>
          <p:nvPr>
            <p:ph idx="1"/>
          </p:nvPr>
        </p:nvSpPr>
        <p:spPr/>
        <p:txBody>
          <a:bodyPr>
            <a:normAutofit/>
          </a:bodyPr>
          <a:lstStyle/>
          <a:p>
            <a:r>
              <a:rPr lang="en-US" sz="3200" dirty="0"/>
              <a:t>Sudden onset of </a:t>
            </a:r>
            <a:r>
              <a:rPr lang="en-US" sz="3200" dirty="0">
                <a:solidFill>
                  <a:srgbClr val="FF0000"/>
                </a:solidFill>
              </a:rPr>
              <a:t>respiratory distress with coughing, gagging, stridor, or wheezing </a:t>
            </a:r>
            <a:r>
              <a:rPr lang="en-US" sz="3200" dirty="0"/>
              <a:t>in the </a:t>
            </a:r>
            <a:r>
              <a:rPr lang="en-US" sz="3200" dirty="0">
                <a:solidFill>
                  <a:srgbClr val="FF0000"/>
                </a:solidFill>
              </a:rPr>
              <a:t>absence of fever </a:t>
            </a:r>
            <a:r>
              <a:rPr lang="en-US" sz="3200" dirty="0"/>
              <a:t>suggests Foreign body aspiration . </a:t>
            </a:r>
          </a:p>
          <a:p>
            <a:r>
              <a:rPr lang="en-US" sz="3200" dirty="0"/>
              <a:t>Key to successful outcome is early recognition as signs are obvious but often fatal if undiagnosed and untreated</a:t>
            </a:r>
            <a:endParaRPr lang="en-US" sz="3200" dirty="0"/>
          </a:p>
        </p:txBody>
      </p:sp>
    </p:spTree>
    <p:extLst>
      <p:ext uri="{BB962C8B-B14F-4D97-AF65-F5344CB8AC3E}">
        <p14:creationId xmlns:p14="http://schemas.microsoft.com/office/powerpoint/2010/main" val="92938603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a:t>Problems</a:t>
            </a:r>
            <a:endParaRPr lang="en-US" sz="5400" dirty="0"/>
          </a:p>
        </p:txBody>
      </p:sp>
      <p:sp>
        <p:nvSpPr>
          <p:cNvPr id="3" name="Content Placeholder 2"/>
          <p:cNvSpPr>
            <a:spLocks noGrp="1"/>
          </p:cNvSpPr>
          <p:nvPr>
            <p:ph idx="1"/>
          </p:nvPr>
        </p:nvSpPr>
        <p:spPr/>
        <p:txBody>
          <a:bodyPr>
            <a:normAutofit/>
          </a:bodyPr>
          <a:lstStyle/>
          <a:p>
            <a:pPr>
              <a:buNone/>
            </a:pPr>
            <a:r>
              <a:rPr lang="en-US" sz="3200" dirty="0" smtClean="0"/>
              <a:t>Complete </a:t>
            </a:r>
            <a:r>
              <a:rPr lang="en-US" sz="3200" dirty="0"/>
              <a:t>obstruction of the airway</a:t>
            </a:r>
          </a:p>
          <a:p>
            <a:pPr>
              <a:buNone/>
            </a:pPr>
            <a:r>
              <a:rPr lang="en-US" sz="3200" dirty="0"/>
              <a:t>Residual pulmonary disease /infection</a:t>
            </a:r>
          </a:p>
          <a:p>
            <a:pPr>
              <a:buNone/>
            </a:pPr>
            <a:r>
              <a:rPr lang="en-US" sz="3200" dirty="0"/>
              <a:t>Asphyxiation </a:t>
            </a:r>
          </a:p>
          <a:p>
            <a:pPr>
              <a:buNone/>
            </a:pPr>
            <a:r>
              <a:rPr lang="en-US" sz="3200" dirty="0"/>
              <a:t>death</a:t>
            </a:r>
            <a:endParaRPr lang="en-US" sz="3200" dirty="0"/>
          </a:p>
        </p:txBody>
      </p:sp>
    </p:spTree>
    <p:extLst>
      <p:ext uri="{BB962C8B-B14F-4D97-AF65-F5344CB8AC3E}">
        <p14:creationId xmlns:p14="http://schemas.microsoft.com/office/powerpoint/2010/main" val="20657402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 and symptoms </a:t>
            </a:r>
            <a:endParaRPr lang="en-US" dirty="0"/>
          </a:p>
        </p:txBody>
      </p:sp>
      <p:sp>
        <p:nvSpPr>
          <p:cNvPr id="3" name="Content Placeholder 2"/>
          <p:cNvSpPr>
            <a:spLocks noGrp="1"/>
          </p:cNvSpPr>
          <p:nvPr>
            <p:ph idx="1"/>
          </p:nvPr>
        </p:nvSpPr>
        <p:spPr/>
        <p:txBody>
          <a:bodyPr>
            <a:normAutofit/>
          </a:bodyPr>
          <a:lstStyle/>
          <a:p>
            <a:r>
              <a:rPr lang="en-US" sz="3200" dirty="0"/>
              <a:t>Cough </a:t>
            </a:r>
          </a:p>
          <a:p>
            <a:r>
              <a:rPr lang="en-US" sz="3200" dirty="0"/>
              <a:t>Wheezing </a:t>
            </a:r>
          </a:p>
          <a:p>
            <a:r>
              <a:rPr lang="en-US" sz="3200" dirty="0"/>
              <a:t>Decreased air entry on the affected side </a:t>
            </a:r>
            <a:endParaRPr lang="en-US" sz="3200" dirty="0"/>
          </a:p>
        </p:txBody>
      </p:sp>
    </p:spTree>
    <p:extLst>
      <p:ext uri="{BB962C8B-B14F-4D97-AF65-F5344CB8AC3E}">
        <p14:creationId xmlns:p14="http://schemas.microsoft.com/office/powerpoint/2010/main" val="28782189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Diagnosis and treatment </a:t>
            </a:r>
            <a:endParaRPr lang="en-US" dirty="0"/>
          </a:p>
        </p:txBody>
      </p:sp>
      <p:sp>
        <p:nvSpPr>
          <p:cNvPr id="3" name="Content Placeholder 2"/>
          <p:cNvSpPr>
            <a:spLocks noGrp="1"/>
          </p:cNvSpPr>
          <p:nvPr>
            <p:ph idx="1"/>
          </p:nvPr>
        </p:nvSpPr>
        <p:spPr/>
        <p:txBody>
          <a:bodyPr>
            <a:normAutofit/>
          </a:bodyPr>
          <a:lstStyle/>
          <a:p>
            <a:r>
              <a:rPr lang="en-US" sz="3200" dirty="0"/>
              <a:t>History </a:t>
            </a:r>
          </a:p>
          <a:p>
            <a:r>
              <a:rPr lang="en-US" sz="3200" dirty="0"/>
              <a:t>Radiographic </a:t>
            </a:r>
          </a:p>
          <a:p>
            <a:r>
              <a:rPr lang="en-US" sz="3200" dirty="0"/>
              <a:t>Blood gas analysis</a:t>
            </a:r>
          </a:p>
          <a:p>
            <a:endParaRPr lang="en-US" sz="3200" dirty="0"/>
          </a:p>
          <a:p>
            <a:r>
              <a:rPr lang="en-US" sz="3200" dirty="0">
                <a:solidFill>
                  <a:srgbClr val="FF0000"/>
                </a:solidFill>
              </a:rPr>
              <a:t>Treatment</a:t>
            </a:r>
            <a:r>
              <a:rPr lang="en-US" sz="3200" dirty="0"/>
              <a:t> </a:t>
            </a:r>
          </a:p>
          <a:p>
            <a:r>
              <a:rPr lang="en-US" sz="3200" dirty="0"/>
              <a:t>Endoscopic removal </a:t>
            </a:r>
            <a:endParaRPr lang="en-US" sz="3200" dirty="0"/>
          </a:p>
        </p:txBody>
      </p:sp>
    </p:spTree>
    <p:extLst>
      <p:ext uri="{BB962C8B-B14F-4D97-AF65-F5344CB8AC3E}">
        <p14:creationId xmlns:p14="http://schemas.microsoft.com/office/powerpoint/2010/main" val="35473797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management </a:t>
            </a:r>
            <a:endParaRPr lang="en-US" dirty="0"/>
          </a:p>
        </p:txBody>
      </p:sp>
      <p:sp>
        <p:nvSpPr>
          <p:cNvPr id="3" name="Content Placeholder 2"/>
          <p:cNvSpPr>
            <a:spLocks noGrp="1"/>
          </p:cNvSpPr>
          <p:nvPr>
            <p:ph idx="1"/>
          </p:nvPr>
        </p:nvSpPr>
        <p:spPr/>
        <p:txBody>
          <a:bodyPr>
            <a:normAutofit/>
          </a:bodyPr>
          <a:lstStyle/>
          <a:p>
            <a:r>
              <a:rPr lang="en-US" sz="3200" dirty="0"/>
              <a:t>As Stated for bronchoscopy </a:t>
            </a:r>
          </a:p>
          <a:p>
            <a:endParaRPr lang="en-US" sz="3200" dirty="0"/>
          </a:p>
        </p:txBody>
      </p:sp>
    </p:spTree>
    <p:extLst>
      <p:ext uri="{BB962C8B-B14F-4D97-AF65-F5344CB8AC3E}">
        <p14:creationId xmlns:p14="http://schemas.microsoft.com/office/powerpoint/2010/main" val="35414225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Otology procedures </a:t>
            </a:r>
            <a:endParaRPr lang="en-US" dirty="0"/>
          </a:p>
        </p:txBody>
      </p:sp>
      <p:sp>
        <p:nvSpPr>
          <p:cNvPr id="3" name="Content Placeholder 2"/>
          <p:cNvSpPr>
            <a:spLocks noGrp="1"/>
          </p:cNvSpPr>
          <p:nvPr>
            <p:ph idx="1"/>
          </p:nvPr>
        </p:nvSpPr>
        <p:spPr/>
        <p:txBody>
          <a:bodyPr>
            <a:normAutofit/>
          </a:bodyPr>
          <a:lstStyle/>
          <a:p>
            <a:pPr marL="0" marR="0">
              <a:lnSpc>
                <a:spcPct val="107000"/>
              </a:lnSpc>
              <a:spcBef>
                <a:spcPts val="0"/>
              </a:spcBef>
              <a:spcAft>
                <a:spcPts val="0"/>
              </a:spcAft>
            </a:pPr>
            <a:r>
              <a:rPr lang="en-US" sz="3200" dirty="0">
                <a:solidFill>
                  <a:srgbClr val="FF0000"/>
                </a:solidFill>
              </a:rPr>
              <a:t>Cochlear implant</a:t>
            </a:r>
            <a:r>
              <a:rPr lang="en-US" sz="3200" dirty="0"/>
              <a:t>: Placement of </a:t>
            </a:r>
            <a:r>
              <a:rPr lang="en-US" sz="3200" dirty="0">
                <a:solidFill>
                  <a:srgbClr val="FF0000"/>
                </a:solidFill>
              </a:rPr>
              <a:t>a multichannel electrode in the Scala tympani through the medial wall of the middle </a:t>
            </a:r>
            <a:r>
              <a:rPr lang="en-US" sz="3200" dirty="0"/>
              <a:t>ear. Used in patients with severe and profound sensorineural hearing loss. It partially replaces the function of cochlea transforming sound energy into electrical signals</a:t>
            </a:r>
          </a:p>
        </p:txBody>
      </p:sp>
    </p:spTree>
    <p:extLst>
      <p:ext uri="{BB962C8B-B14F-4D97-AF65-F5344CB8AC3E}">
        <p14:creationId xmlns:p14="http://schemas.microsoft.com/office/powerpoint/2010/main" val="36561225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a:lnSpc>
                <a:spcPct val="107000"/>
              </a:lnSpc>
              <a:spcBef>
                <a:spcPts val="0"/>
              </a:spcBef>
              <a:spcAft>
                <a:spcPts val="0"/>
              </a:spcAft>
            </a:pPr>
            <a:r>
              <a:rPr lang="en-US" sz="3200" dirty="0" err="1">
                <a:solidFill>
                  <a:srgbClr val="FF0000"/>
                </a:solidFill>
              </a:rPr>
              <a:t>Myringoplasty</a:t>
            </a:r>
            <a:r>
              <a:rPr lang="en-US" sz="3200" dirty="0">
                <a:solidFill>
                  <a:srgbClr val="FF0000"/>
                </a:solidFill>
              </a:rPr>
              <a:t>: </a:t>
            </a:r>
            <a:r>
              <a:rPr lang="en-US" sz="3200" dirty="0"/>
              <a:t>Isolated repair of the tympanic membrane (also known as a type 1 </a:t>
            </a:r>
            <a:r>
              <a:rPr lang="en-US" sz="3200" dirty="0" err="1"/>
              <a:t>tympanoplasty</a:t>
            </a:r>
            <a:r>
              <a:rPr lang="en-US" sz="3200" dirty="0"/>
              <a:t>). A suitable graft, often temporalis </a:t>
            </a:r>
            <a:r>
              <a:rPr lang="en-US" sz="3200" dirty="0" err="1"/>
              <a:t>facia</a:t>
            </a:r>
            <a:r>
              <a:rPr lang="en-US" sz="3200" dirty="0"/>
              <a:t>, is placed and acts as a scaffold over which new epithelium will grow to repair the hole. Inlay or underlay techniques can be used.</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Bef>
                <a:spcPts val="0"/>
              </a:spcBef>
              <a:spcAft>
                <a:spcPts val="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937592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err="1">
                <a:solidFill>
                  <a:srgbClr val="FF0000"/>
                </a:solidFill>
              </a:rPr>
              <a:t>Tympanoplasty</a:t>
            </a:r>
            <a:r>
              <a:rPr lang="en-US" sz="3200" dirty="0"/>
              <a:t>: </a:t>
            </a:r>
            <a:r>
              <a:rPr lang="en-US" sz="3200" dirty="0" err="1"/>
              <a:t>Myringoplasty</a:t>
            </a:r>
            <a:r>
              <a:rPr lang="en-US" sz="3200" dirty="0"/>
              <a:t> </a:t>
            </a:r>
            <a:r>
              <a:rPr lang="en-US" sz="3200" dirty="0">
                <a:solidFill>
                  <a:srgbClr val="FF0000"/>
                </a:solidFill>
              </a:rPr>
              <a:t>combined with a repair of chronic middle ear changes to eradicate </a:t>
            </a:r>
            <a:r>
              <a:rPr lang="en-US" sz="3200" dirty="0"/>
              <a:t>any chronic infection and restore middle ear function. This can be performed </a:t>
            </a:r>
            <a:r>
              <a:rPr lang="en-US" sz="3200" dirty="0" err="1"/>
              <a:t>endoscopically</a:t>
            </a:r>
            <a:r>
              <a:rPr lang="en-US" sz="3200" dirty="0"/>
              <a:t>.</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endParaRPr lang="en-US" sz="3200" dirty="0"/>
          </a:p>
        </p:txBody>
      </p:sp>
    </p:spTree>
    <p:extLst>
      <p:ext uri="{BB962C8B-B14F-4D97-AF65-F5344CB8AC3E}">
        <p14:creationId xmlns:p14="http://schemas.microsoft.com/office/powerpoint/2010/main" val="126016830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ctr"/>
            <a:r>
              <a:rPr lang="en-US" sz="3200" b="1" dirty="0" err="1">
                <a:solidFill>
                  <a:srgbClr val="FF0000"/>
                </a:solidFill>
              </a:rPr>
              <a:t>Stapedectomy</a:t>
            </a:r>
            <a:endParaRPr lang="en-US" sz="3200" dirty="0">
              <a:solidFill>
                <a:srgbClr val="FF0000"/>
              </a:solidFill>
            </a:endParaRPr>
          </a:p>
          <a:p>
            <a:pPr fontAlgn="ctr"/>
            <a:r>
              <a:rPr lang="en-US" sz="3200" dirty="0"/>
              <a:t>Removal of part of the stapes and placement of a prosthesis to improve hearing.</a:t>
            </a:r>
          </a:p>
          <a:p>
            <a:pPr fontAlgn="ctr"/>
            <a:r>
              <a:rPr lang="en-US" sz="3200" b="1" dirty="0" err="1">
                <a:solidFill>
                  <a:srgbClr val="FF0000"/>
                </a:solidFill>
              </a:rPr>
              <a:t>Stapedotomy</a:t>
            </a:r>
            <a:endParaRPr lang="en-US" sz="3200" dirty="0">
              <a:solidFill>
                <a:srgbClr val="FF0000"/>
              </a:solidFill>
            </a:endParaRPr>
          </a:p>
          <a:p>
            <a:pPr fontAlgn="ctr"/>
            <a:r>
              <a:rPr lang="en-US" sz="3200" dirty="0">
                <a:solidFill>
                  <a:srgbClr val="FF0000"/>
                </a:solidFill>
              </a:rPr>
              <a:t>Fenestration</a:t>
            </a:r>
            <a:r>
              <a:rPr lang="en-US" sz="3200" dirty="0"/>
              <a:t> of the stapes footplate to improve hearing</a:t>
            </a:r>
            <a:endParaRPr lang="en-US" sz="3200" dirty="0"/>
          </a:p>
        </p:txBody>
      </p:sp>
    </p:spTree>
    <p:extLst>
      <p:ext uri="{BB962C8B-B14F-4D97-AF65-F5344CB8AC3E}">
        <p14:creationId xmlns:p14="http://schemas.microsoft.com/office/powerpoint/2010/main" val="26944886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anesthetic considerations for ear procedures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Repeated operation(psychological </a:t>
            </a:r>
            <a:r>
              <a:rPr lang="en-US" sz="3200" dirty="0"/>
              <a:t>problems)</a:t>
            </a:r>
          </a:p>
          <a:p>
            <a:r>
              <a:rPr lang="en-US" sz="3200" dirty="0"/>
              <a:t>C</a:t>
            </a:r>
            <a:r>
              <a:rPr lang="en-US" sz="3200" dirty="0">
                <a:solidFill>
                  <a:srgbClr val="FF0000"/>
                </a:solidFill>
              </a:rPr>
              <a:t>ommunication</a:t>
            </a:r>
            <a:r>
              <a:rPr lang="en-US" sz="3200" dirty="0"/>
              <a:t> problem</a:t>
            </a:r>
          </a:p>
          <a:p>
            <a:r>
              <a:rPr lang="en-US" sz="3200" dirty="0"/>
              <a:t>Avoid anesthetic cause of bleeding </a:t>
            </a:r>
          </a:p>
          <a:p>
            <a:endParaRPr lang="en-US" sz="3200" dirty="0"/>
          </a:p>
          <a:p>
            <a:endParaRPr lang="en-US" sz="3200" dirty="0"/>
          </a:p>
        </p:txBody>
      </p:sp>
    </p:spTree>
    <p:extLst>
      <p:ext uri="{BB962C8B-B14F-4D97-AF65-F5344CB8AC3E}">
        <p14:creationId xmlns:p14="http://schemas.microsoft.com/office/powerpoint/2010/main" val="11303794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Use of vasoconstrictors as bleeding into the operative field can compromise middle ear surgery. </a:t>
            </a:r>
          </a:p>
          <a:p>
            <a:endParaRPr lang="en-US" sz="3200" dirty="0"/>
          </a:p>
          <a:p>
            <a:r>
              <a:rPr lang="en-US" sz="3200" dirty="0"/>
              <a:t>Use of microscopes </a:t>
            </a:r>
          </a:p>
          <a:p>
            <a:endParaRPr lang="en-US" dirty="0"/>
          </a:p>
        </p:txBody>
      </p:sp>
    </p:spTree>
    <p:extLst>
      <p:ext uri="{BB962C8B-B14F-4D97-AF65-F5344CB8AC3E}">
        <p14:creationId xmlns:p14="http://schemas.microsoft.com/office/powerpoint/2010/main" val="22619169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Controlled ventilation </a:t>
            </a:r>
          </a:p>
          <a:p>
            <a:endParaRPr lang="en-US" sz="3200" dirty="0"/>
          </a:p>
          <a:p>
            <a:r>
              <a:rPr lang="en-US" sz="3200" dirty="0"/>
              <a:t>Attention to positioning /temperature /padding</a:t>
            </a:r>
          </a:p>
          <a:p>
            <a:r>
              <a:rPr lang="en-US" sz="3200" dirty="0"/>
              <a:t> </a:t>
            </a:r>
          </a:p>
          <a:p>
            <a:r>
              <a:rPr lang="en-US" sz="3200" dirty="0"/>
              <a:t>Anti emetics: </a:t>
            </a:r>
            <a:r>
              <a:rPr lang="en-US" sz="3200" dirty="0" err="1"/>
              <a:t>labrynth</a:t>
            </a:r>
            <a:r>
              <a:rPr lang="en-US" sz="3200" dirty="0"/>
              <a:t> disturbance</a:t>
            </a:r>
          </a:p>
          <a:p>
            <a:endParaRPr lang="en-US" dirty="0"/>
          </a:p>
        </p:txBody>
      </p:sp>
    </p:spTree>
    <p:extLst>
      <p:ext uri="{BB962C8B-B14F-4D97-AF65-F5344CB8AC3E}">
        <p14:creationId xmlns:p14="http://schemas.microsoft.com/office/powerpoint/2010/main" val="307466804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15 degree head up position to minimize bleeding </a:t>
            </a:r>
          </a:p>
          <a:p>
            <a:r>
              <a:rPr lang="en-US" sz="3200" dirty="0"/>
              <a:t>Adequate fluids</a:t>
            </a:r>
          </a:p>
          <a:p>
            <a:endParaRPr lang="en-US" sz="3200" dirty="0"/>
          </a:p>
          <a:p>
            <a:r>
              <a:rPr lang="en-US" sz="3200" dirty="0"/>
              <a:t>Avoid N2O for </a:t>
            </a:r>
            <a:r>
              <a:rPr lang="en-US" sz="3200" dirty="0" err="1"/>
              <a:t>tympanoplasty</a:t>
            </a:r>
            <a:r>
              <a:rPr lang="en-US" sz="3200" dirty="0"/>
              <a:t> during graft placement</a:t>
            </a:r>
          </a:p>
          <a:p>
            <a:r>
              <a:rPr lang="en-US" sz="3200" dirty="0"/>
              <a:t>Smooth </a:t>
            </a:r>
            <a:r>
              <a:rPr lang="en-US" sz="3200" dirty="0" err="1"/>
              <a:t>extubation</a:t>
            </a:r>
            <a:r>
              <a:rPr lang="en-US" sz="3200" dirty="0"/>
              <a:t> (lidocaine IV)</a:t>
            </a:r>
          </a:p>
          <a:p>
            <a:endParaRPr lang="en-US" dirty="0"/>
          </a:p>
        </p:txBody>
      </p:sp>
    </p:spTree>
    <p:extLst>
      <p:ext uri="{BB962C8B-B14F-4D97-AF65-F5344CB8AC3E}">
        <p14:creationId xmlns:p14="http://schemas.microsoft.com/office/powerpoint/2010/main" val="406312327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solidFill>
                  <a:srgbClr val="FF0000"/>
                </a:solidFill>
              </a:rPr>
              <a:t>Total IV </a:t>
            </a:r>
            <a:r>
              <a:rPr lang="en-US" sz="3200" dirty="0" err="1">
                <a:solidFill>
                  <a:srgbClr val="FF0000"/>
                </a:solidFill>
              </a:rPr>
              <a:t>Anaesthesia</a:t>
            </a:r>
            <a:r>
              <a:rPr lang="en-US" sz="3200" dirty="0">
                <a:solidFill>
                  <a:srgbClr val="FF0000"/>
                </a:solidFill>
              </a:rPr>
              <a:t> (TIVA) </a:t>
            </a:r>
            <a:r>
              <a:rPr lang="en-US" sz="3200" dirty="0"/>
              <a:t>techniques are frequently used for middle ear surgery and give an enhanced quality of recovery. </a:t>
            </a:r>
          </a:p>
          <a:p>
            <a:endParaRPr lang="en-US" sz="3200" dirty="0"/>
          </a:p>
          <a:p>
            <a:r>
              <a:rPr lang="en-US" sz="3200" dirty="0">
                <a:solidFill>
                  <a:srgbClr val="FF0000"/>
                </a:solidFill>
              </a:rPr>
              <a:t>Temperature maintenance </a:t>
            </a:r>
            <a:r>
              <a:rPr lang="en-US" sz="3200" dirty="0"/>
              <a:t>is easily achieved with a full body forced-air warming device, and mechanical </a:t>
            </a:r>
            <a:r>
              <a:rPr lang="en-US" sz="3200" dirty="0" err="1">
                <a:solidFill>
                  <a:srgbClr val="FF0000"/>
                </a:solidFill>
              </a:rPr>
              <a:t>thromboprophylaxis</a:t>
            </a:r>
            <a:r>
              <a:rPr lang="en-US" sz="3200" dirty="0"/>
              <a:t> measures should be used. </a:t>
            </a:r>
          </a:p>
          <a:p>
            <a:endParaRPr lang="en-US" sz="2400" dirty="0"/>
          </a:p>
          <a:p>
            <a:endParaRPr lang="en-US" dirty="0"/>
          </a:p>
        </p:txBody>
      </p:sp>
    </p:spTree>
    <p:extLst>
      <p:ext uri="{BB962C8B-B14F-4D97-AF65-F5344CB8AC3E}">
        <p14:creationId xmlns:p14="http://schemas.microsoft.com/office/powerpoint/2010/main" val="6599191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solidFill>
                  <a:srgbClr val="FF0000"/>
                </a:solidFill>
              </a:rPr>
              <a:t>Venous cannulation </a:t>
            </a:r>
            <a:r>
              <a:rPr lang="en-US" sz="3200" dirty="0"/>
              <a:t>should be undertaken at </a:t>
            </a:r>
            <a:r>
              <a:rPr lang="en-US" sz="3200" dirty="0">
                <a:solidFill>
                  <a:srgbClr val="FF0000"/>
                </a:solidFill>
              </a:rPr>
              <a:t>a different site to that selected by the surgeon </a:t>
            </a:r>
            <a:r>
              <a:rPr lang="en-US" sz="3200" dirty="0"/>
              <a:t>In some procedures (e.g. </a:t>
            </a:r>
            <a:r>
              <a:rPr lang="en-US" sz="3200" dirty="0" err="1"/>
              <a:t>stapedectomy</a:t>
            </a:r>
            <a:r>
              <a:rPr lang="en-US" sz="3200" dirty="0"/>
              <a:t>), </a:t>
            </a:r>
            <a:r>
              <a:rPr lang="en-US" sz="3200" dirty="0">
                <a:solidFill>
                  <a:srgbClr val="FF0000"/>
                </a:solidFill>
              </a:rPr>
              <a:t>a portion of a superficial vein is taken as a graft.</a:t>
            </a:r>
          </a:p>
          <a:p>
            <a:r>
              <a:rPr lang="en-US" sz="3200" dirty="0">
                <a:solidFill>
                  <a:srgbClr val="FF0000"/>
                </a:solidFill>
              </a:rPr>
              <a:t>Induced arterial hypotension </a:t>
            </a:r>
            <a:r>
              <a:rPr lang="en-US" sz="2400" dirty="0"/>
              <a:t>.</a:t>
            </a:r>
            <a:endParaRPr lang="en-US" sz="2400" dirty="0">
              <a:solidFill>
                <a:srgbClr val="FF0000"/>
              </a:solidFill>
            </a:endParaRPr>
          </a:p>
        </p:txBody>
      </p:sp>
    </p:spTree>
    <p:extLst>
      <p:ext uri="{BB962C8B-B14F-4D97-AF65-F5344CB8AC3E}">
        <p14:creationId xmlns:p14="http://schemas.microsoft.com/office/powerpoint/2010/main" val="355454828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Laser surgery </a:t>
            </a:r>
            <a:endParaRPr lang="en-US" dirty="0"/>
          </a:p>
        </p:txBody>
      </p:sp>
      <p:sp>
        <p:nvSpPr>
          <p:cNvPr id="3" name="Content Placeholder 2"/>
          <p:cNvSpPr>
            <a:spLocks noGrp="1"/>
          </p:cNvSpPr>
          <p:nvPr>
            <p:ph idx="1"/>
          </p:nvPr>
        </p:nvSpPr>
        <p:spPr/>
        <p:txBody>
          <a:bodyPr/>
          <a:lstStyle/>
          <a:p>
            <a:pPr>
              <a:buNone/>
            </a:pPr>
            <a:r>
              <a:rPr lang="en-US" sz="3200" dirty="0"/>
              <a:t>Definition :Light amplification by stimulated emission of radiation.</a:t>
            </a:r>
          </a:p>
          <a:p>
            <a:pPr>
              <a:buNone/>
            </a:pPr>
            <a:r>
              <a:rPr lang="en-US" sz="3200" dirty="0"/>
              <a:t>Recent advances in </a:t>
            </a:r>
            <a:r>
              <a:rPr lang="en-US" sz="3200" dirty="0" err="1">
                <a:solidFill>
                  <a:srgbClr val="FF0000"/>
                </a:solidFill>
              </a:rPr>
              <a:t>airway,Opthalmic</a:t>
            </a:r>
            <a:r>
              <a:rPr lang="en-US" sz="3200" dirty="0">
                <a:solidFill>
                  <a:srgbClr val="FF0000"/>
                </a:solidFill>
              </a:rPr>
              <a:t> and ENT surgery it is also common for dermatological surgeries .</a:t>
            </a:r>
          </a:p>
          <a:p>
            <a:endParaRPr lang="en-US" sz="3200" dirty="0">
              <a:solidFill>
                <a:srgbClr val="FF0000"/>
              </a:solidFill>
            </a:endParaRPr>
          </a:p>
          <a:p>
            <a:endParaRPr lang="en-US" dirty="0"/>
          </a:p>
        </p:txBody>
      </p:sp>
    </p:spTree>
    <p:extLst>
      <p:ext uri="{BB962C8B-B14F-4D97-AF65-F5344CB8AC3E}">
        <p14:creationId xmlns:p14="http://schemas.microsoft.com/office/powerpoint/2010/main" val="76232659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laser </a:t>
            </a:r>
            <a:endParaRPr lang="en-US" dirty="0"/>
          </a:p>
        </p:txBody>
      </p:sp>
      <p:sp>
        <p:nvSpPr>
          <p:cNvPr id="3" name="Content Placeholder 2"/>
          <p:cNvSpPr>
            <a:spLocks noGrp="1"/>
          </p:cNvSpPr>
          <p:nvPr>
            <p:ph idx="1"/>
          </p:nvPr>
        </p:nvSpPr>
        <p:spPr/>
        <p:txBody>
          <a:bodyPr>
            <a:normAutofit/>
          </a:bodyPr>
          <a:lstStyle/>
          <a:p>
            <a:r>
              <a:rPr lang="en-US" sz="3200" dirty="0"/>
              <a:t>Lasers are </a:t>
            </a:r>
            <a:r>
              <a:rPr lang="en-US" sz="3200" dirty="0" err="1"/>
              <a:t>categorised</a:t>
            </a:r>
            <a:r>
              <a:rPr lang="en-US" sz="3200" dirty="0"/>
              <a:t> into five main types based on their </a:t>
            </a:r>
            <a:r>
              <a:rPr lang="en-US" sz="3200" dirty="0">
                <a:solidFill>
                  <a:srgbClr val="FF0000"/>
                </a:solidFill>
              </a:rPr>
              <a:t>gain medium</a:t>
            </a:r>
            <a:r>
              <a:rPr lang="en-US" sz="3200" dirty="0"/>
              <a:t>, which determines the type of laser needed for different applications. These include </a:t>
            </a:r>
            <a:r>
              <a:rPr lang="en-US" sz="3200" dirty="0">
                <a:solidFill>
                  <a:srgbClr val="FF0000"/>
                </a:solidFill>
              </a:rPr>
              <a:t>Solid-state laser, Liquid-state laser, Gaseous-state laser, Semiconductor laser and Metal </a:t>
            </a:r>
            <a:r>
              <a:rPr lang="en-US" sz="3200" dirty="0" err="1">
                <a:solidFill>
                  <a:srgbClr val="FF0000"/>
                </a:solidFill>
              </a:rPr>
              <a:t>Vapour</a:t>
            </a:r>
            <a:r>
              <a:rPr lang="en-US" sz="3200" dirty="0">
                <a:solidFill>
                  <a:srgbClr val="FF0000"/>
                </a:solidFill>
              </a:rPr>
              <a:t> laser</a:t>
            </a:r>
            <a:endParaRPr lang="en-US" sz="3200" dirty="0"/>
          </a:p>
        </p:txBody>
      </p:sp>
    </p:spTree>
    <p:extLst>
      <p:ext uri="{BB962C8B-B14F-4D97-AF65-F5344CB8AC3E}">
        <p14:creationId xmlns:p14="http://schemas.microsoft.com/office/powerpoint/2010/main" val="10986305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laser </a:t>
            </a:r>
            <a:endParaRPr lang="en-US" dirty="0"/>
          </a:p>
        </p:txBody>
      </p:sp>
      <p:sp>
        <p:nvSpPr>
          <p:cNvPr id="3" name="Content Placeholder 2"/>
          <p:cNvSpPr>
            <a:spLocks noGrp="1"/>
          </p:cNvSpPr>
          <p:nvPr>
            <p:ph idx="1"/>
          </p:nvPr>
        </p:nvSpPr>
        <p:spPr/>
        <p:txBody>
          <a:bodyPr>
            <a:normAutofit/>
          </a:bodyPr>
          <a:lstStyle/>
          <a:p>
            <a:r>
              <a:rPr lang="en-US" sz="3200" dirty="0"/>
              <a:t>Allows </a:t>
            </a:r>
            <a:r>
              <a:rPr lang="en-US" sz="3200" dirty="0">
                <a:solidFill>
                  <a:srgbClr val="FF0000"/>
                </a:solidFill>
              </a:rPr>
              <a:t>highly precise </a:t>
            </a:r>
            <a:r>
              <a:rPr lang="en-US" sz="3200" dirty="0"/>
              <a:t>microsurgery</a:t>
            </a:r>
          </a:p>
          <a:p>
            <a:r>
              <a:rPr lang="en-US" sz="3200" dirty="0"/>
              <a:t>Have the ability to reach the </a:t>
            </a:r>
            <a:r>
              <a:rPr lang="en-US" sz="3200" dirty="0">
                <a:solidFill>
                  <a:srgbClr val="FF0000"/>
                </a:solidFill>
              </a:rPr>
              <a:t>remote site </a:t>
            </a:r>
          </a:p>
          <a:p>
            <a:r>
              <a:rPr lang="en-US" sz="3200" dirty="0"/>
              <a:t>Allows rapid vaporization of tissue and most other materials except metals /ceramics</a:t>
            </a:r>
            <a:endParaRPr lang="en-US" sz="3200" dirty="0"/>
          </a:p>
        </p:txBody>
      </p:sp>
    </p:spTree>
    <p:extLst>
      <p:ext uri="{BB962C8B-B14F-4D97-AF65-F5344CB8AC3E}">
        <p14:creationId xmlns:p14="http://schemas.microsoft.com/office/powerpoint/2010/main" val="365291381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It is relatively </a:t>
            </a:r>
            <a:r>
              <a:rPr lang="en-US" sz="3200" dirty="0">
                <a:solidFill>
                  <a:srgbClr val="FF0000"/>
                </a:solidFill>
              </a:rPr>
              <a:t>dry surgery</a:t>
            </a:r>
          </a:p>
          <a:p>
            <a:r>
              <a:rPr lang="en-US" sz="3200" dirty="0"/>
              <a:t>Seals small blood vessels and lymphatics even in the presence of clotting abnormalities</a:t>
            </a:r>
          </a:p>
          <a:p>
            <a:r>
              <a:rPr lang="en-US" sz="3200" dirty="0"/>
              <a:t>Used as </a:t>
            </a:r>
            <a:r>
              <a:rPr lang="en-US" sz="3200" dirty="0">
                <a:solidFill>
                  <a:srgbClr val="FF0000"/>
                </a:solidFill>
              </a:rPr>
              <a:t>electro coagulators</a:t>
            </a:r>
            <a:r>
              <a:rPr lang="en-US" sz="3200" dirty="0"/>
              <a:t>.</a:t>
            </a:r>
          </a:p>
          <a:p>
            <a:endParaRPr lang="en-US" sz="2400" dirty="0"/>
          </a:p>
          <a:p>
            <a:endParaRPr lang="en-US" dirty="0"/>
          </a:p>
        </p:txBody>
      </p:sp>
    </p:spTree>
    <p:extLst>
      <p:ext uri="{BB962C8B-B14F-4D97-AF65-F5344CB8AC3E}">
        <p14:creationId xmlns:p14="http://schemas.microsoft.com/office/powerpoint/2010/main" val="162819769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Laser hazards </a:t>
            </a:r>
            <a:endParaRPr lang="en-US" dirty="0"/>
          </a:p>
        </p:txBody>
      </p:sp>
      <p:sp>
        <p:nvSpPr>
          <p:cNvPr id="3" name="Content Placeholder 2"/>
          <p:cNvSpPr>
            <a:spLocks noGrp="1"/>
          </p:cNvSpPr>
          <p:nvPr>
            <p:ph idx="1"/>
          </p:nvPr>
        </p:nvSpPr>
        <p:spPr/>
        <p:txBody>
          <a:bodyPr>
            <a:normAutofit/>
          </a:bodyPr>
          <a:lstStyle/>
          <a:p>
            <a:r>
              <a:rPr lang="en-US" sz="3200" dirty="0"/>
              <a:t>Damage to normal tissue</a:t>
            </a:r>
          </a:p>
          <a:p>
            <a:r>
              <a:rPr lang="en-US" sz="3200" dirty="0"/>
              <a:t>Eye injury</a:t>
            </a:r>
          </a:p>
          <a:p>
            <a:pPr>
              <a:buNone/>
            </a:pPr>
            <a:r>
              <a:rPr lang="en-US" sz="3200" dirty="0"/>
              <a:t>The damage is to the patient and health personnel</a:t>
            </a:r>
            <a:endParaRPr lang="en-US" sz="3200" dirty="0"/>
          </a:p>
        </p:txBody>
      </p:sp>
    </p:spTree>
    <p:extLst>
      <p:ext uri="{BB962C8B-B14F-4D97-AF65-F5344CB8AC3E}">
        <p14:creationId xmlns:p14="http://schemas.microsoft.com/office/powerpoint/2010/main" val="6125435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Hazards </a:t>
            </a:r>
            <a:endParaRPr lang="en-US" dirty="0"/>
          </a:p>
        </p:txBody>
      </p:sp>
      <p:sp>
        <p:nvSpPr>
          <p:cNvPr id="3" name="Content Placeholder 2"/>
          <p:cNvSpPr>
            <a:spLocks noGrp="1"/>
          </p:cNvSpPr>
          <p:nvPr>
            <p:ph idx="1"/>
          </p:nvPr>
        </p:nvSpPr>
        <p:spPr/>
        <p:txBody>
          <a:bodyPr>
            <a:normAutofit/>
          </a:bodyPr>
          <a:lstStyle/>
          <a:p>
            <a:r>
              <a:rPr lang="en-US" sz="3200" dirty="0"/>
              <a:t>Hazards include both direct beam hazards such as </a:t>
            </a:r>
            <a:r>
              <a:rPr lang="en-US" sz="3200" dirty="0">
                <a:solidFill>
                  <a:srgbClr val="FF0000"/>
                </a:solidFill>
              </a:rPr>
              <a:t>tissue burns, eye damage, endotracheal tube fire, drape fire, and explosion of gases, or non-beam hazards (those that are secondary to the actual beam interaction) such as laser generated airborne contaminants (surgical plume), electrical damage, toxic dyes, and system .</a:t>
            </a:r>
            <a:endParaRPr lang="en-US" sz="3200" dirty="0">
              <a:solidFill>
                <a:srgbClr val="FF0000"/>
              </a:solidFill>
            </a:endParaRPr>
          </a:p>
        </p:txBody>
      </p:sp>
    </p:spTree>
    <p:extLst>
      <p:ext uri="{BB962C8B-B14F-4D97-AF65-F5344CB8AC3E}">
        <p14:creationId xmlns:p14="http://schemas.microsoft.com/office/powerpoint/2010/main" val="20509877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200" dirty="0">
                <a:solidFill>
                  <a:srgbClr val="FF0000"/>
                </a:solidFill>
              </a:rPr>
              <a:t>Each type of laser offers its own set of advantages, disadvantages, </a:t>
            </a:r>
            <a:r>
              <a:rPr lang="en-US" sz="3200" dirty="0"/>
              <a:t>and applications, making it important to carefully consider the requirements of a specific application. Solid-state lasers provide high power and precise beam quality, gas lasers offer versatility in wavelength and high power. </a:t>
            </a:r>
            <a:r>
              <a:rPr lang="en-US" sz="3200" dirty="0">
                <a:hlinkClick r:id="rId2" tooltip="Share on Facebook"/>
              </a:rPr>
              <a:t/>
            </a:r>
            <a:br>
              <a:rPr lang="en-US" sz="3200" dirty="0">
                <a:hlinkClick r:id="rId2" tooltip="Share on Facebook"/>
              </a:rPr>
            </a:br>
            <a:endParaRPr lang="en-US" sz="3200" dirty="0"/>
          </a:p>
          <a:p>
            <a:endParaRPr lang="en-US" dirty="0"/>
          </a:p>
        </p:txBody>
      </p:sp>
    </p:spTree>
    <p:extLst>
      <p:ext uri="{BB962C8B-B14F-4D97-AF65-F5344CB8AC3E}">
        <p14:creationId xmlns:p14="http://schemas.microsoft.com/office/powerpoint/2010/main" val="365404126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Precautions during laser surgery </a:t>
            </a:r>
            <a:endParaRPr lang="en-US" dirty="0"/>
          </a:p>
        </p:txBody>
      </p:sp>
      <p:sp>
        <p:nvSpPr>
          <p:cNvPr id="3" name="Content Placeholder 2"/>
          <p:cNvSpPr>
            <a:spLocks noGrp="1"/>
          </p:cNvSpPr>
          <p:nvPr>
            <p:ph idx="1"/>
          </p:nvPr>
        </p:nvSpPr>
        <p:spPr/>
        <p:txBody>
          <a:bodyPr>
            <a:noAutofit/>
          </a:bodyPr>
          <a:lstStyle/>
          <a:p>
            <a:r>
              <a:rPr lang="en-US" sz="3200" dirty="0">
                <a:solidFill>
                  <a:srgbClr val="FF0000"/>
                </a:solidFill>
              </a:rPr>
              <a:t>Tape and close the eye lid </a:t>
            </a:r>
            <a:r>
              <a:rPr lang="en-US" sz="3200" dirty="0"/>
              <a:t>(non operated eye)</a:t>
            </a:r>
          </a:p>
          <a:p>
            <a:r>
              <a:rPr lang="en-US" sz="3200" dirty="0"/>
              <a:t>OR personnel should </a:t>
            </a:r>
            <a:r>
              <a:rPr lang="en-US" sz="3200" dirty="0">
                <a:solidFill>
                  <a:srgbClr val="FF0000"/>
                </a:solidFill>
              </a:rPr>
              <a:t>wear safety goggles(specific </a:t>
            </a:r>
            <a:r>
              <a:rPr lang="en-US" sz="3200" dirty="0"/>
              <a:t>to the laser )</a:t>
            </a:r>
          </a:p>
          <a:p>
            <a:r>
              <a:rPr lang="en-US" sz="3200" dirty="0"/>
              <a:t>All windows in OR should be closed </a:t>
            </a:r>
          </a:p>
          <a:p>
            <a:pPr marL="0" indent="0">
              <a:buNone/>
            </a:pPr>
            <a:r>
              <a:rPr lang="en-US" sz="3200" dirty="0" smtClean="0"/>
              <a:t>Everyone </a:t>
            </a:r>
            <a:r>
              <a:rPr lang="en-US" sz="3200" dirty="0"/>
              <a:t>in the room must </a:t>
            </a:r>
            <a:r>
              <a:rPr lang="en-US" sz="3200" dirty="0">
                <a:solidFill>
                  <a:srgbClr val="FF0000"/>
                </a:solidFill>
              </a:rPr>
              <a:t>wear protective eyewear </a:t>
            </a:r>
            <a:r>
              <a:rPr lang="en-US" sz="3200" dirty="0"/>
              <a:t>and </a:t>
            </a:r>
            <a:r>
              <a:rPr lang="en-US" sz="3200" dirty="0">
                <a:solidFill>
                  <a:srgbClr val="FF0000"/>
                </a:solidFill>
              </a:rPr>
              <a:t>special masks to filter the air they breathe</a:t>
            </a:r>
            <a:r>
              <a:rPr lang="en-US" sz="3200" dirty="0"/>
              <a:t>. This safety measure is crucial to protect the eyes from laser damage, and the lungs from any harmful particles.</a:t>
            </a:r>
            <a:endParaRPr lang="en-US" sz="3200" dirty="0"/>
          </a:p>
        </p:txBody>
      </p:sp>
    </p:spTree>
    <p:extLst>
      <p:ext uri="{BB962C8B-B14F-4D97-AF65-F5344CB8AC3E}">
        <p14:creationId xmlns:p14="http://schemas.microsoft.com/office/powerpoint/2010/main" val="14575805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The first rule of laser safety: </a:t>
            </a:r>
            <a:r>
              <a:rPr lang="en-US" sz="3200" dirty="0">
                <a:solidFill>
                  <a:srgbClr val="FF0000"/>
                </a:solidFill>
              </a:rPr>
              <a:t>Never look directly into any laser beam for any reason.</a:t>
            </a:r>
          </a:p>
          <a:p>
            <a:endParaRPr lang="en-US" sz="3200" dirty="0"/>
          </a:p>
        </p:txBody>
      </p:sp>
    </p:spTree>
    <p:extLst>
      <p:ext uri="{BB962C8B-B14F-4D97-AF65-F5344CB8AC3E}">
        <p14:creationId xmlns:p14="http://schemas.microsoft.com/office/powerpoint/2010/main" val="24747720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minimize laser fire hazards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Minimum FIO2-o.4</a:t>
            </a:r>
          </a:p>
          <a:p>
            <a:r>
              <a:rPr lang="en-US" sz="3200" dirty="0"/>
              <a:t>No N2O</a:t>
            </a:r>
          </a:p>
          <a:p>
            <a:r>
              <a:rPr lang="en-US" sz="3200" dirty="0"/>
              <a:t>Avoid flammable inhalational agents </a:t>
            </a:r>
          </a:p>
          <a:p>
            <a:r>
              <a:rPr lang="en-US" sz="3200" dirty="0"/>
              <a:t>Use low concentration of volatile agents</a:t>
            </a:r>
          </a:p>
          <a:p>
            <a:endParaRPr lang="en-US" sz="3200" dirty="0"/>
          </a:p>
        </p:txBody>
      </p:sp>
    </p:spTree>
    <p:extLst>
      <p:ext uri="{BB962C8B-B14F-4D97-AF65-F5344CB8AC3E}">
        <p14:creationId xmlns:p14="http://schemas.microsoft.com/office/powerpoint/2010/main" val="24255512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Airway fire protocols </a:t>
            </a:r>
            <a:endParaRPr lang="en-US" dirty="0"/>
          </a:p>
        </p:txBody>
      </p:sp>
      <p:sp>
        <p:nvSpPr>
          <p:cNvPr id="3" name="Content Placeholder 2"/>
          <p:cNvSpPr>
            <a:spLocks noGrp="1"/>
          </p:cNvSpPr>
          <p:nvPr>
            <p:ph idx="1"/>
          </p:nvPr>
        </p:nvSpPr>
        <p:spPr/>
        <p:txBody>
          <a:bodyPr>
            <a:normAutofit/>
          </a:bodyPr>
          <a:lstStyle/>
          <a:p>
            <a:r>
              <a:rPr lang="en-US" sz="3200" dirty="0"/>
              <a:t>Clear communication and emergency practice </a:t>
            </a:r>
          </a:p>
          <a:p>
            <a:r>
              <a:rPr lang="en-US" sz="3200" dirty="0"/>
              <a:t>Surgeon who detect ETT fire should quickly remove the source and simultaneously should inform the anesthetist </a:t>
            </a:r>
          </a:p>
          <a:p>
            <a:r>
              <a:rPr lang="en-US" sz="3200" dirty="0"/>
              <a:t>The anesthetist should </a:t>
            </a:r>
            <a:r>
              <a:rPr lang="en-US" sz="3200" dirty="0">
                <a:solidFill>
                  <a:srgbClr val="FF0000"/>
                </a:solidFill>
              </a:rPr>
              <a:t>stop ventilation immediately disconnect breathing circuit </a:t>
            </a:r>
            <a:r>
              <a:rPr lang="en-US" sz="3200" dirty="0"/>
              <a:t>from anesthesia machine temporarily</a:t>
            </a:r>
          </a:p>
          <a:p>
            <a:r>
              <a:rPr lang="en-US" sz="3200" dirty="0" err="1"/>
              <a:t>Extubate</a:t>
            </a:r>
            <a:r>
              <a:rPr lang="en-US" sz="3200" dirty="0"/>
              <a:t>   </a:t>
            </a:r>
            <a:endParaRPr lang="en-US" sz="3200" dirty="0"/>
          </a:p>
        </p:txBody>
      </p:sp>
    </p:spTree>
    <p:extLst>
      <p:ext uri="{BB962C8B-B14F-4D97-AF65-F5344CB8AC3E}">
        <p14:creationId xmlns:p14="http://schemas.microsoft.com/office/powerpoint/2010/main" val="26138235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Flaming material should be </a:t>
            </a:r>
            <a:r>
              <a:rPr lang="en-US" sz="3200" dirty="0">
                <a:solidFill>
                  <a:srgbClr val="FF0000"/>
                </a:solidFill>
              </a:rPr>
              <a:t>extinguished in bucket of water</a:t>
            </a:r>
          </a:p>
          <a:p>
            <a:r>
              <a:rPr lang="en-US" sz="3200" dirty="0"/>
              <a:t>Mask ventilation </a:t>
            </a:r>
            <a:r>
              <a:rPr lang="en-US" sz="3200" dirty="0">
                <a:solidFill>
                  <a:srgbClr val="FF0000"/>
                </a:solidFill>
              </a:rPr>
              <a:t>with air</a:t>
            </a:r>
          </a:p>
          <a:p>
            <a:r>
              <a:rPr lang="en-US" sz="3200" dirty="0">
                <a:solidFill>
                  <a:srgbClr val="FF0000"/>
                </a:solidFill>
              </a:rPr>
              <a:t>Direct laryngoscopy </a:t>
            </a:r>
            <a:r>
              <a:rPr lang="en-US" sz="3200" dirty="0"/>
              <a:t>for damages</a:t>
            </a:r>
          </a:p>
          <a:p>
            <a:endParaRPr lang="en-US" sz="3200" dirty="0"/>
          </a:p>
        </p:txBody>
      </p:sp>
    </p:spTree>
    <p:extLst>
      <p:ext uri="{BB962C8B-B14F-4D97-AF65-F5344CB8AC3E}">
        <p14:creationId xmlns:p14="http://schemas.microsoft.com/office/powerpoint/2010/main" val="1266171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Re intubation </a:t>
            </a:r>
          </a:p>
          <a:p>
            <a:r>
              <a:rPr lang="en-US" sz="3200" dirty="0">
                <a:solidFill>
                  <a:schemeClr val="accent3">
                    <a:lumMod val="75000"/>
                  </a:schemeClr>
                </a:solidFill>
              </a:rPr>
              <a:t>If severe damage </a:t>
            </a:r>
            <a:r>
              <a:rPr lang="en-US" sz="3200" dirty="0">
                <a:solidFill>
                  <a:srgbClr val="FF0000"/>
                </a:solidFill>
              </a:rPr>
              <a:t>low tracheostomy</a:t>
            </a:r>
          </a:p>
          <a:p>
            <a:r>
              <a:rPr lang="en-US" sz="3200" dirty="0"/>
              <a:t>Asses </a:t>
            </a:r>
            <a:r>
              <a:rPr lang="en-US" sz="3200" dirty="0" err="1"/>
              <a:t>oro</a:t>
            </a:r>
            <a:r>
              <a:rPr lang="en-US" sz="3200" dirty="0"/>
              <a:t> </a:t>
            </a:r>
            <a:r>
              <a:rPr lang="en-US" sz="3200" dirty="0" err="1"/>
              <a:t>pharnyx</a:t>
            </a:r>
            <a:r>
              <a:rPr lang="en-US" sz="3200" dirty="0"/>
              <a:t> and face </a:t>
            </a:r>
          </a:p>
          <a:p>
            <a:r>
              <a:rPr lang="en-US" sz="3200" dirty="0"/>
              <a:t>steroids </a:t>
            </a:r>
          </a:p>
          <a:p>
            <a:endParaRPr lang="en-US" dirty="0"/>
          </a:p>
        </p:txBody>
      </p:sp>
    </p:spTree>
    <p:extLst>
      <p:ext uri="{BB962C8B-B14F-4D97-AF65-F5344CB8AC3E}">
        <p14:creationId xmlns:p14="http://schemas.microsoft.com/office/powerpoint/2010/main" val="274483955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Tonsillitis </a:t>
            </a:r>
            <a:endParaRPr lang="en-US" dirty="0"/>
          </a:p>
        </p:txBody>
      </p:sp>
      <p:sp>
        <p:nvSpPr>
          <p:cNvPr id="3" name="Content Placeholder 2"/>
          <p:cNvSpPr>
            <a:spLocks noGrp="1"/>
          </p:cNvSpPr>
          <p:nvPr>
            <p:ph idx="1"/>
          </p:nvPr>
        </p:nvSpPr>
        <p:spPr/>
        <p:txBody>
          <a:bodyPr>
            <a:normAutofit/>
          </a:bodyPr>
          <a:lstStyle/>
          <a:p>
            <a:r>
              <a:rPr lang="en-US" sz="3200" dirty="0"/>
              <a:t>Tonsillitis is inflammation (swelling) of the tonsils.</a:t>
            </a:r>
          </a:p>
          <a:p>
            <a:r>
              <a:rPr lang="en-US" sz="3200" dirty="0"/>
              <a:t>It can be caused by viruses or bacteria.</a:t>
            </a:r>
          </a:p>
          <a:p>
            <a:r>
              <a:rPr lang="en-US" sz="3200" dirty="0"/>
              <a:t>Symptoms include </a:t>
            </a:r>
            <a:r>
              <a:rPr lang="en-US" sz="3200" dirty="0">
                <a:solidFill>
                  <a:srgbClr val="FF0000"/>
                </a:solidFill>
              </a:rPr>
              <a:t>a sore throat, difficult swallowing, fever, headache, and swollen lymph glands.</a:t>
            </a:r>
          </a:p>
          <a:p>
            <a:r>
              <a:rPr lang="en-US" sz="3200" dirty="0"/>
              <a:t>Tonsillitis is more common in children than in adults</a:t>
            </a:r>
          </a:p>
        </p:txBody>
      </p:sp>
    </p:spTree>
    <p:extLst>
      <p:ext uri="{BB962C8B-B14F-4D97-AF65-F5344CB8AC3E}">
        <p14:creationId xmlns:p14="http://schemas.microsoft.com/office/powerpoint/2010/main" val="42816044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Tonsillitis </a:t>
            </a:r>
            <a:endParaRPr lang="en-US" dirty="0"/>
          </a:p>
        </p:txBody>
      </p:sp>
      <p:pic>
        <p:nvPicPr>
          <p:cNvPr id="4" name="Content Placeholder 1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772733" y="2286000"/>
            <a:ext cx="8108896"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1685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Tonsils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2580" y="2286000"/>
            <a:ext cx="8555943" cy="4022725"/>
          </a:xfrm>
        </p:spPr>
      </p:pic>
    </p:spTree>
    <p:extLst>
      <p:ext uri="{BB962C8B-B14F-4D97-AF65-F5344CB8AC3E}">
        <p14:creationId xmlns:p14="http://schemas.microsoft.com/office/powerpoint/2010/main" val="323763251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Tonsillectomy and adenectomy </a:t>
            </a:r>
            <a:endParaRPr lang="en-US" dirty="0"/>
          </a:p>
        </p:txBody>
      </p:sp>
      <p:sp>
        <p:nvSpPr>
          <p:cNvPr id="3" name="Content Placeholder 2"/>
          <p:cNvSpPr>
            <a:spLocks noGrp="1"/>
          </p:cNvSpPr>
          <p:nvPr>
            <p:ph idx="1"/>
          </p:nvPr>
        </p:nvSpPr>
        <p:spPr/>
        <p:txBody>
          <a:bodyPr/>
          <a:lstStyle/>
          <a:p>
            <a:pPr marL="0" indent="0" algn="just">
              <a:buNone/>
              <a:defRPr/>
            </a:pPr>
            <a:r>
              <a:rPr lang="en-US" sz="3200" dirty="0"/>
              <a:t>Tonsillectomy is one of the oldest surgical procedures known to man.</a:t>
            </a:r>
          </a:p>
          <a:p>
            <a:pPr marL="0" indent="0" algn="just">
              <a:buNone/>
              <a:defRPr/>
            </a:pPr>
            <a:r>
              <a:rPr lang="en-US" sz="3200" dirty="0"/>
              <a:t>Tonsillectomy-Surgical excision of the </a:t>
            </a:r>
            <a:r>
              <a:rPr lang="en-US" sz="3200" dirty="0">
                <a:solidFill>
                  <a:srgbClr val="FF0000"/>
                </a:solidFill>
              </a:rPr>
              <a:t>palatine tonsils</a:t>
            </a:r>
            <a:r>
              <a:rPr lang="en-US" sz="3200" dirty="0"/>
              <a:t>. </a:t>
            </a:r>
          </a:p>
          <a:p>
            <a:pPr marL="0" indent="0" algn="just">
              <a:buNone/>
              <a:defRPr/>
            </a:pPr>
            <a:r>
              <a:rPr lang="en-US" sz="3200" u="sng" dirty="0"/>
              <a:t>Purpose </a:t>
            </a:r>
          </a:p>
          <a:p>
            <a:r>
              <a:rPr lang="en-US" sz="3200" dirty="0"/>
              <a:t>To treat breathing-related sleep disorders, such as OSA </a:t>
            </a:r>
          </a:p>
          <a:p>
            <a:r>
              <a:rPr lang="en-US" sz="3200" dirty="0"/>
              <a:t>To reduce the risk of infection in people with frequent or chronic </a:t>
            </a:r>
            <a:r>
              <a:rPr lang="en-US" sz="3200" dirty="0">
                <a:solidFill>
                  <a:srgbClr val="000000"/>
                </a:solidFill>
              </a:rPr>
              <a:t>tonsillitis</a:t>
            </a:r>
            <a:r>
              <a:rPr lang="en-US" sz="2400" dirty="0">
                <a:solidFill>
                  <a:srgbClr val="000000"/>
                </a:solidFill>
              </a:rPr>
              <a:t>.</a:t>
            </a:r>
            <a:endParaRPr lang="en-US" sz="2400" dirty="0">
              <a:solidFill>
                <a:srgbClr val="000000"/>
              </a:solidFill>
            </a:endParaRPr>
          </a:p>
        </p:txBody>
      </p:sp>
    </p:spTree>
    <p:extLst>
      <p:ext uri="{BB962C8B-B14F-4D97-AF65-F5344CB8AC3E}">
        <p14:creationId xmlns:p14="http://schemas.microsoft.com/office/powerpoint/2010/main" val="6251170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Three separate pieces of tissues </a:t>
            </a:r>
          </a:p>
          <a:p>
            <a:pPr>
              <a:buNone/>
            </a:pPr>
            <a:r>
              <a:rPr lang="en-US" sz="3200" dirty="0">
                <a:solidFill>
                  <a:srgbClr val="FF0000"/>
                </a:solidFill>
              </a:rPr>
              <a:t>Lingual </a:t>
            </a:r>
          </a:p>
          <a:p>
            <a:pPr>
              <a:buNone/>
            </a:pPr>
            <a:r>
              <a:rPr lang="en-US" sz="3200" dirty="0">
                <a:solidFill>
                  <a:srgbClr val="FF0000"/>
                </a:solidFill>
              </a:rPr>
              <a:t>Pharyngeal </a:t>
            </a:r>
          </a:p>
          <a:p>
            <a:pPr>
              <a:buNone/>
            </a:pPr>
            <a:r>
              <a:rPr lang="en-US" sz="3200" dirty="0">
                <a:solidFill>
                  <a:srgbClr val="FF0000"/>
                </a:solidFill>
              </a:rPr>
              <a:t>Palatine </a:t>
            </a:r>
            <a:endParaRPr lang="en-US" sz="3200" dirty="0">
              <a:solidFill>
                <a:srgbClr val="FF0000"/>
              </a:solidFill>
            </a:endParaRPr>
          </a:p>
        </p:txBody>
      </p:sp>
    </p:spTree>
    <p:extLst>
      <p:ext uri="{BB962C8B-B14F-4D97-AF65-F5344CB8AC3E}">
        <p14:creationId xmlns:p14="http://schemas.microsoft.com/office/powerpoint/2010/main" val="60893346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3200" dirty="0">
                <a:solidFill>
                  <a:srgbClr val="FF0000"/>
                </a:solidFill>
              </a:rPr>
              <a:t>Blood supply </a:t>
            </a:r>
            <a:r>
              <a:rPr lang="en-US" sz="3200" dirty="0"/>
              <a:t>–tonsillar branch of facial artery </a:t>
            </a:r>
          </a:p>
          <a:p>
            <a:pPr>
              <a:buNone/>
            </a:pPr>
            <a:endParaRPr lang="en-US" sz="3200" dirty="0"/>
          </a:p>
          <a:p>
            <a:pPr>
              <a:buNone/>
            </a:pPr>
            <a:r>
              <a:rPr lang="en-US" sz="3200" dirty="0">
                <a:solidFill>
                  <a:srgbClr val="FF0000"/>
                </a:solidFill>
              </a:rPr>
              <a:t>Venous drainage </a:t>
            </a:r>
            <a:r>
              <a:rPr lang="en-US" sz="3200" dirty="0"/>
              <a:t>–into pharyngeal plexus </a:t>
            </a:r>
          </a:p>
          <a:p>
            <a:pPr>
              <a:buNone/>
            </a:pPr>
            <a:endParaRPr lang="en-US" sz="3200" dirty="0"/>
          </a:p>
          <a:p>
            <a:pPr>
              <a:buNone/>
            </a:pPr>
            <a:r>
              <a:rPr lang="en-US" sz="3200" dirty="0">
                <a:solidFill>
                  <a:srgbClr val="FF0000"/>
                </a:solidFill>
              </a:rPr>
              <a:t>Sensory supply </a:t>
            </a:r>
            <a:r>
              <a:rPr lang="en-US" sz="3200" dirty="0"/>
              <a:t>–glossopharyngeal nerve </a:t>
            </a:r>
            <a:endParaRPr lang="en-US" sz="3200" dirty="0"/>
          </a:p>
        </p:txBody>
      </p:sp>
    </p:spTree>
    <p:extLst>
      <p:ext uri="{BB962C8B-B14F-4D97-AF65-F5344CB8AC3E}">
        <p14:creationId xmlns:p14="http://schemas.microsoft.com/office/powerpoint/2010/main" val="275710663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Indications for surgery </a:t>
            </a:r>
            <a:endParaRPr lang="en-US" dirty="0"/>
          </a:p>
        </p:txBody>
      </p:sp>
      <p:sp>
        <p:nvSpPr>
          <p:cNvPr id="3" name="Content Placeholder 2"/>
          <p:cNvSpPr>
            <a:spLocks noGrp="1"/>
          </p:cNvSpPr>
          <p:nvPr>
            <p:ph idx="1"/>
          </p:nvPr>
        </p:nvSpPr>
        <p:spPr/>
        <p:txBody>
          <a:bodyPr/>
          <a:lstStyle/>
          <a:p>
            <a:r>
              <a:rPr lang="en-US" sz="3200" dirty="0">
                <a:solidFill>
                  <a:srgbClr val="FF0000"/>
                </a:solidFill>
              </a:rPr>
              <a:t>Absolute </a:t>
            </a:r>
          </a:p>
          <a:p>
            <a:pPr>
              <a:buNone/>
            </a:pPr>
            <a:r>
              <a:rPr lang="en-US" sz="3200" dirty="0"/>
              <a:t>Upper air way obstruction dysphagia OSA</a:t>
            </a:r>
          </a:p>
          <a:p>
            <a:pPr>
              <a:buNone/>
            </a:pPr>
            <a:r>
              <a:rPr lang="en-US" sz="3200" dirty="0" err="1"/>
              <a:t>Peritonsillar</a:t>
            </a:r>
            <a:r>
              <a:rPr lang="en-US" sz="3200" dirty="0"/>
              <a:t> abscess/recurrent tonsillitis febrile convulsions </a:t>
            </a:r>
          </a:p>
          <a:p>
            <a:pPr>
              <a:buNone/>
            </a:pPr>
            <a:r>
              <a:rPr lang="en-US" sz="3200" dirty="0"/>
              <a:t>Requirement for biopsy</a:t>
            </a:r>
          </a:p>
          <a:p>
            <a:r>
              <a:rPr lang="en-US" sz="3200" dirty="0">
                <a:solidFill>
                  <a:srgbClr val="FF0000"/>
                </a:solidFill>
              </a:rPr>
              <a:t>Relative </a:t>
            </a:r>
          </a:p>
          <a:p>
            <a:pPr>
              <a:buNone/>
            </a:pPr>
            <a:r>
              <a:rPr lang="en-US" sz="3200" dirty="0"/>
              <a:t>Recurrent tonsillitis which is un responsive to treatment </a:t>
            </a:r>
          </a:p>
          <a:p>
            <a:endParaRPr lang="en-US" dirty="0"/>
          </a:p>
        </p:txBody>
      </p:sp>
    </p:spTree>
    <p:extLst>
      <p:ext uri="{BB962C8B-B14F-4D97-AF65-F5344CB8AC3E}">
        <p14:creationId xmlns:p14="http://schemas.microsoft.com/office/powerpoint/2010/main" val="150340948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Contraindications for surgery </a:t>
            </a:r>
            <a:endParaRPr lang="en-US" dirty="0"/>
          </a:p>
        </p:txBody>
      </p:sp>
      <p:sp>
        <p:nvSpPr>
          <p:cNvPr id="3" name="Content Placeholder 2"/>
          <p:cNvSpPr>
            <a:spLocks noGrp="1"/>
          </p:cNvSpPr>
          <p:nvPr>
            <p:ph idx="1"/>
          </p:nvPr>
        </p:nvSpPr>
        <p:spPr/>
        <p:txBody>
          <a:bodyPr/>
          <a:lstStyle/>
          <a:p>
            <a:r>
              <a:rPr lang="en-US" sz="3200" dirty="0"/>
              <a:t>Bleeding /diathesis(tendency to suffer from medical condition ) </a:t>
            </a:r>
          </a:p>
          <a:p>
            <a:r>
              <a:rPr lang="en-US" sz="3200" dirty="0"/>
              <a:t>Acute infection </a:t>
            </a:r>
          </a:p>
          <a:p>
            <a:r>
              <a:rPr lang="en-US" sz="3200" dirty="0"/>
              <a:t>Anemia </a:t>
            </a:r>
          </a:p>
          <a:p>
            <a:r>
              <a:rPr lang="en-US" sz="3200" dirty="0"/>
              <a:t>Significant anesthetic risk </a:t>
            </a:r>
          </a:p>
          <a:p>
            <a:endParaRPr lang="en-US" dirty="0"/>
          </a:p>
          <a:p>
            <a:endParaRPr lang="en-US" dirty="0"/>
          </a:p>
        </p:txBody>
      </p:sp>
    </p:spTree>
    <p:extLst>
      <p:ext uri="{BB962C8B-B14F-4D97-AF65-F5344CB8AC3E}">
        <p14:creationId xmlns:p14="http://schemas.microsoft.com/office/powerpoint/2010/main" val="249428658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smtClean="0">
                <a:solidFill>
                  <a:srgbClr val="FF0000"/>
                </a:solidFill>
              </a:rPr>
              <a:t>History </a:t>
            </a:r>
            <a:r>
              <a:rPr lang="en-US" sz="3200" dirty="0">
                <a:solidFill>
                  <a:srgbClr val="FF0000"/>
                </a:solidFill>
              </a:rPr>
              <a:t>of URTI(defer surgery)</a:t>
            </a:r>
          </a:p>
          <a:p>
            <a:pPr>
              <a:buNone/>
            </a:pPr>
            <a:r>
              <a:rPr lang="en-US" sz="3200" dirty="0"/>
              <a:t>            Rationale----spread of infection</a:t>
            </a:r>
          </a:p>
          <a:p>
            <a:pPr>
              <a:buNone/>
            </a:pPr>
            <a:r>
              <a:rPr lang="en-US" sz="3200" dirty="0"/>
              <a:t>                          </a:t>
            </a:r>
            <a:r>
              <a:rPr lang="en-US" sz="3200" dirty="0" smtClean="0"/>
              <a:t>     obstruction </a:t>
            </a:r>
            <a:r>
              <a:rPr lang="en-US" sz="3200" dirty="0"/>
              <a:t>of ETT</a:t>
            </a:r>
          </a:p>
          <a:p>
            <a:pPr>
              <a:buNone/>
            </a:pPr>
            <a:r>
              <a:rPr lang="en-US" sz="3200" dirty="0"/>
              <a:t>                           </a:t>
            </a:r>
            <a:r>
              <a:rPr lang="en-US" sz="3200" dirty="0" smtClean="0"/>
              <a:t>     laryngospasm</a:t>
            </a:r>
            <a:endParaRPr lang="en-US" sz="3200" dirty="0"/>
          </a:p>
          <a:p>
            <a:pPr>
              <a:buNone/>
            </a:pPr>
            <a:r>
              <a:rPr lang="en-US" sz="3200" dirty="0"/>
              <a:t>                            </a:t>
            </a:r>
          </a:p>
          <a:p>
            <a:endParaRPr lang="en-US" dirty="0"/>
          </a:p>
        </p:txBody>
      </p:sp>
    </p:spTree>
    <p:extLst>
      <p:ext uri="{BB962C8B-B14F-4D97-AF65-F5344CB8AC3E}">
        <p14:creationId xmlns:p14="http://schemas.microsoft.com/office/powerpoint/2010/main" val="288778638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Obstructive sleep apnea </a:t>
            </a:r>
            <a:endParaRPr lang="en-US" dirty="0"/>
          </a:p>
        </p:txBody>
      </p:sp>
      <p:sp>
        <p:nvSpPr>
          <p:cNvPr id="3" name="Content Placeholder 2"/>
          <p:cNvSpPr>
            <a:spLocks noGrp="1"/>
          </p:cNvSpPr>
          <p:nvPr>
            <p:ph idx="1"/>
          </p:nvPr>
        </p:nvSpPr>
        <p:spPr/>
        <p:txBody>
          <a:bodyPr>
            <a:normAutofit/>
          </a:bodyPr>
          <a:lstStyle/>
          <a:p>
            <a:r>
              <a:rPr lang="en-US" sz="3200" dirty="0"/>
              <a:t>Partial upper airway obstruction </a:t>
            </a:r>
          </a:p>
          <a:p>
            <a:r>
              <a:rPr lang="en-US" sz="3200" dirty="0"/>
              <a:t>Intermittent complete obstruction</a:t>
            </a:r>
          </a:p>
          <a:p>
            <a:r>
              <a:rPr lang="en-US" sz="3200" dirty="0"/>
              <a:t>Neuro developmental delay</a:t>
            </a:r>
          </a:p>
          <a:p>
            <a:r>
              <a:rPr lang="en-US" sz="3200" dirty="0"/>
              <a:t>Chronic hypoxemia</a:t>
            </a:r>
            <a:endParaRPr lang="en-US" sz="3200" dirty="0"/>
          </a:p>
        </p:txBody>
      </p:sp>
    </p:spTree>
    <p:extLst>
      <p:ext uri="{BB962C8B-B14F-4D97-AF65-F5344CB8AC3E}">
        <p14:creationId xmlns:p14="http://schemas.microsoft.com/office/powerpoint/2010/main" val="21651118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Pathophysiology of OSA</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sz="3200" dirty="0"/>
              <a:t>Decreased lung volume  </a:t>
            </a:r>
          </a:p>
          <a:p>
            <a:pPr>
              <a:buNone/>
            </a:pPr>
            <a:r>
              <a:rPr lang="en-US" sz="3200" dirty="0"/>
              <a:t>          premature airway closure </a:t>
            </a:r>
          </a:p>
          <a:p>
            <a:pPr>
              <a:buNone/>
            </a:pPr>
            <a:r>
              <a:rPr lang="en-US" sz="3200" dirty="0"/>
              <a:t>           alveolar hypoxia</a:t>
            </a:r>
          </a:p>
          <a:p>
            <a:pPr>
              <a:buNone/>
            </a:pPr>
            <a:r>
              <a:rPr lang="en-US" sz="3200" dirty="0"/>
              <a:t>           hypoxic pulmonary vasoconstriction</a:t>
            </a:r>
          </a:p>
          <a:p>
            <a:pPr>
              <a:buNone/>
            </a:pPr>
            <a:r>
              <a:rPr lang="en-US" sz="3200" dirty="0"/>
              <a:t>            pulmonary hypertension</a:t>
            </a:r>
          </a:p>
          <a:p>
            <a:pPr>
              <a:buNone/>
            </a:pPr>
            <a:r>
              <a:rPr lang="en-US" sz="3200" dirty="0"/>
              <a:t>            RV dysfunction</a:t>
            </a:r>
          </a:p>
          <a:p>
            <a:pPr>
              <a:buNone/>
            </a:pPr>
            <a:endParaRPr lang="en-US" dirty="0"/>
          </a:p>
          <a:p>
            <a:pPr>
              <a:buNone/>
            </a:pPr>
            <a:r>
              <a:rPr lang="en-US" dirty="0"/>
              <a:t> </a:t>
            </a:r>
            <a:endParaRPr lang="en-US" dirty="0"/>
          </a:p>
        </p:txBody>
      </p:sp>
    </p:spTree>
    <p:extLst>
      <p:ext uri="{BB962C8B-B14F-4D97-AF65-F5344CB8AC3E}">
        <p14:creationId xmlns:p14="http://schemas.microsoft.com/office/powerpoint/2010/main" val="313151276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Children's with </a:t>
            </a:r>
            <a:r>
              <a:rPr lang="en-US" dirty="0" err="1" smtClean="0"/>
              <a:t>osa</a:t>
            </a:r>
            <a:r>
              <a:rPr lang="en-US" dirty="0" smtClean="0"/>
              <a:t> </a:t>
            </a:r>
            <a:endParaRPr lang="en-US" dirty="0"/>
          </a:p>
        </p:txBody>
      </p:sp>
      <p:sp>
        <p:nvSpPr>
          <p:cNvPr id="3" name="Content Placeholder 2"/>
          <p:cNvSpPr>
            <a:spLocks noGrp="1"/>
          </p:cNvSpPr>
          <p:nvPr>
            <p:ph idx="1"/>
          </p:nvPr>
        </p:nvSpPr>
        <p:spPr/>
        <p:txBody>
          <a:bodyPr>
            <a:normAutofit/>
          </a:bodyPr>
          <a:lstStyle/>
          <a:p>
            <a:r>
              <a:rPr lang="en-US" sz="3200" dirty="0"/>
              <a:t>Obese </a:t>
            </a:r>
          </a:p>
          <a:p>
            <a:r>
              <a:rPr lang="en-US" sz="3200" dirty="0"/>
              <a:t>Snore at night time </a:t>
            </a:r>
          </a:p>
          <a:p>
            <a:r>
              <a:rPr lang="en-US" sz="3200" dirty="0"/>
              <a:t>Show day time somnolence </a:t>
            </a:r>
          </a:p>
          <a:p>
            <a:r>
              <a:rPr lang="en-US" sz="3200" dirty="0"/>
              <a:t>Behavioral problems</a:t>
            </a:r>
          </a:p>
          <a:p>
            <a:endParaRPr lang="en-US" sz="3200" dirty="0"/>
          </a:p>
        </p:txBody>
      </p:sp>
    </p:spTree>
    <p:extLst>
      <p:ext uri="{BB962C8B-B14F-4D97-AF65-F5344CB8AC3E}">
        <p14:creationId xmlns:p14="http://schemas.microsoft.com/office/powerpoint/2010/main" val="115091417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200" dirty="0"/>
              <a:t>Sweat profusely</a:t>
            </a:r>
          </a:p>
          <a:p>
            <a:r>
              <a:rPr lang="en-US" sz="3200" dirty="0"/>
              <a:t>S</a:t>
            </a:r>
            <a:r>
              <a:rPr lang="en-US" sz="3200" dirty="0">
                <a:solidFill>
                  <a:srgbClr val="FF0000"/>
                </a:solidFill>
              </a:rPr>
              <a:t>chool </a:t>
            </a:r>
            <a:r>
              <a:rPr lang="en-US" sz="3200" dirty="0"/>
              <a:t>failure</a:t>
            </a:r>
          </a:p>
          <a:p>
            <a:r>
              <a:rPr lang="en-US" sz="3200" dirty="0"/>
              <a:t>Failure to thrive</a:t>
            </a:r>
          </a:p>
          <a:p>
            <a:r>
              <a:rPr lang="en-US" sz="3200" dirty="0"/>
              <a:t>Developmental delay  </a:t>
            </a:r>
          </a:p>
          <a:p>
            <a:endParaRPr lang="en-US" sz="3200" dirty="0"/>
          </a:p>
        </p:txBody>
      </p:sp>
    </p:spTree>
    <p:extLst>
      <p:ext uri="{BB962C8B-B14F-4D97-AF65-F5344CB8AC3E}">
        <p14:creationId xmlns:p14="http://schemas.microsoft.com/office/powerpoint/2010/main" val="25964955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considerations for tonsillectomy </a:t>
            </a:r>
            <a:endParaRPr lang="en-US" dirty="0"/>
          </a:p>
        </p:txBody>
      </p:sp>
      <p:sp>
        <p:nvSpPr>
          <p:cNvPr id="3" name="Content Placeholder 2"/>
          <p:cNvSpPr>
            <a:spLocks noGrp="1"/>
          </p:cNvSpPr>
          <p:nvPr>
            <p:ph idx="1"/>
          </p:nvPr>
        </p:nvSpPr>
        <p:spPr/>
        <p:txBody>
          <a:bodyPr/>
          <a:lstStyle/>
          <a:p>
            <a:r>
              <a:rPr lang="en-US" sz="3200" dirty="0"/>
              <a:t>Sleep studies </a:t>
            </a:r>
          </a:p>
          <a:p>
            <a:r>
              <a:rPr lang="en-US" sz="3200" dirty="0"/>
              <a:t>Avoid heavy sedation</a:t>
            </a:r>
          </a:p>
          <a:p>
            <a:r>
              <a:rPr lang="en-US" sz="3200" dirty="0"/>
              <a:t>Expect post operative apnea</a:t>
            </a:r>
          </a:p>
          <a:p>
            <a:r>
              <a:rPr lang="en-US" sz="3200" dirty="0"/>
              <a:t>Coagulation profile </a:t>
            </a:r>
          </a:p>
          <a:p>
            <a:r>
              <a:rPr lang="en-US" sz="3200" dirty="0"/>
              <a:t>History of salicylate ingestion</a:t>
            </a:r>
          </a:p>
          <a:p>
            <a:r>
              <a:rPr lang="en-US" sz="3200" dirty="0"/>
              <a:t>Intubation difficulty</a:t>
            </a:r>
          </a:p>
          <a:p>
            <a:endParaRPr lang="en-US" dirty="0"/>
          </a:p>
        </p:txBody>
      </p:sp>
    </p:spTree>
    <p:extLst>
      <p:ext uri="{BB962C8B-B14F-4D97-AF65-F5344CB8AC3E}">
        <p14:creationId xmlns:p14="http://schemas.microsoft.com/office/powerpoint/2010/main" val="183609483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Post tonsillectomy bleeding </a:t>
            </a:r>
          </a:p>
          <a:p>
            <a:r>
              <a:rPr lang="en-US" sz="3200" dirty="0"/>
              <a:t>Obstructive sleep apnea due to hypertrophied tonsils</a:t>
            </a:r>
          </a:p>
          <a:p>
            <a:endParaRPr lang="en-US" sz="3200" dirty="0"/>
          </a:p>
          <a:p>
            <a:endParaRPr lang="en-US" dirty="0"/>
          </a:p>
        </p:txBody>
      </p:sp>
    </p:spTree>
    <p:extLst>
      <p:ext uri="{BB962C8B-B14F-4D97-AF65-F5344CB8AC3E}">
        <p14:creationId xmlns:p14="http://schemas.microsoft.com/office/powerpoint/2010/main" val="212335588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3">
                    <a:lumMod val="75000"/>
                  </a:schemeClr>
                </a:solidFill>
              </a:rPr>
              <a:t>Preoperative assessment </a:t>
            </a:r>
            <a:endParaRPr lang="en-US" dirty="0">
              <a:solidFill>
                <a:schemeClr val="accent3">
                  <a:lumMod val="75000"/>
                </a:schemeClr>
              </a:solidFill>
            </a:endParaRPr>
          </a:p>
        </p:txBody>
      </p:sp>
      <p:sp>
        <p:nvSpPr>
          <p:cNvPr id="3" name="Content Placeholder 2"/>
          <p:cNvSpPr>
            <a:spLocks noGrp="1"/>
          </p:cNvSpPr>
          <p:nvPr>
            <p:ph idx="1"/>
          </p:nvPr>
        </p:nvSpPr>
        <p:spPr/>
        <p:txBody>
          <a:bodyPr>
            <a:normAutofit/>
          </a:bodyPr>
          <a:lstStyle/>
          <a:p>
            <a:r>
              <a:rPr lang="en-US" sz="3200" dirty="0" smtClean="0"/>
              <a:t>Heart </a:t>
            </a:r>
            <a:r>
              <a:rPr lang="en-US" sz="3200" dirty="0"/>
              <a:t>murmur</a:t>
            </a:r>
          </a:p>
          <a:p>
            <a:r>
              <a:rPr lang="en-US" sz="3200" dirty="0" err="1"/>
              <a:t>Adenotonsilar</a:t>
            </a:r>
            <a:r>
              <a:rPr lang="en-US" sz="3200" dirty="0"/>
              <a:t> hyper trophy </a:t>
            </a:r>
          </a:p>
          <a:p>
            <a:r>
              <a:rPr lang="en-US" sz="3200" dirty="0"/>
              <a:t>OSA-chronic hypoxemia /polycythemia /right ventricular strain /snoring /short </a:t>
            </a:r>
            <a:r>
              <a:rPr lang="en-US" sz="3200" dirty="0" err="1"/>
              <a:t>apneanic</a:t>
            </a:r>
            <a:r>
              <a:rPr lang="en-US" sz="3200" dirty="0"/>
              <a:t> episodes / rest less head ache not rested in the morning </a:t>
            </a:r>
          </a:p>
          <a:p>
            <a:r>
              <a:rPr lang="en-US" sz="3200" dirty="0"/>
              <a:t>Precaution –don’t use narcotics </a:t>
            </a:r>
            <a:r>
              <a:rPr lang="en-US" sz="3200" dirty="0" err="1"/>
              <a:t>perioperatively</a:t>
            </a:r>
            <a:r>
              <a:rPr lang="en-US" sz="3200" dirty="0"/>
              <a:t> (</a:t>
            </a:r>
            <a:r>
              <a:rPr lang="en-US" sz="3200" dirty="0" err="1"/>
              <a:t>preop</a:t>
            </a:r>
            <a:r>
              <a:rPr lang="en-US" sz="3200" dirty="0"/>
              <a:t>-NSAIDS</a:t>
            </a:r>
            <a:endParaRPr lang="en-US" sz="3200" dirty="0"/>
          </a:p>
        </p:txBody>
      </p:sp>
    </p:spTree>
    <p:extLst>
      <p:ext uri="{BB962C8B-B14F-4D97-AF65-F5344CB8AC3E}">
        <p14:creationId xmlns:p14="http://schemas.microsoft.com/office/powerpoint/2010/main" val="8124112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Preoperative medications </a:t>
            </a:r>
            <a:endParaRPr lang="en-US" dirty="0"/>
          </a:p>
        </p:txBody>
      </p:sp>
      <p:sp>
        <p:nvSpPr>
          <p:cNvPr id="3" name="Content Placeholder 2"/>
          <p:cNvSpPr>
            <a:spLocks noGrp="1"/>
          </p:cNvSpPr>
          <p:nvPr>
            <p:ph idx="1"/>
          </p:nvPr>
        </p:nvSpPr>
        <p:spPr/>
        <p:txBody>
          <a:bodyPr>
            <a:normAutofit/>
          </a:bodyPr>
          <a:lstStyle/>
          <a:p>
            <a:r>
              <a:rPr lang="en-US" altLang="en-US" sz="3200" dirty="0"/>
              <a:t>Preoperative visit to establish anesthetist patient relationship.</a:t>
            </a:r>
          </a:p>
          <a:p>
            <a:r>
              <a:rPr lang="en-US" altLang="en-US" sz="3200" dirty="0"/>
              <a:t>Sedation (except in OSA)</a:t>
            </a:r>
          </a:p>
          <a:p>
            <a:r>
              <a:rPr lang="en-US" sz="3200" dirty="0"/>
              <a:t>Midazolam ----0.05-1mg/kg Iv or .5-1mg/kg orally</a:t>
            </a:r>
          </a:p>
          <a:p>
            <a:endParaRPr lang="en-US" sz="3200" dirty="0"/>
          </a:p>
        </p:txBody>
      </p:sp>
    </p:spTree>
    <p:extLst>
      <p:ext uri="{BB962C8B-B14F-4D97-AF65-F5344CB8AC3E}">
        <p14:creationId xmlns:p14="http://schemas.microsoft.com/office/powerpoint/2010/main" val="286965390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Fentanyl -1-3microgram /kg I v </a:t>
            </a:r>
          </a:p>
          <a:p>
            <a:r>
              <a:rPr lang="en-US" sz="3200" dirty="0"/>
              <a:t>Sufentanyl-0.25-0.5 nasally</a:t>
            </a:r>
          </a:p>
          <a:p>
            <a:r>
              <a:rPr lang="en-US" altLang="en-US" sz="3200" dirty="0"/>
              <a:t>Anticholinergic </a:t>
            </a:r>
            <a:r>
              <a:rPr lang="en-US" altLang="en-US" sz="3200" dirty="0">
                <a:sym typeface="Wingdings" panose="05000000000000000000" pitchFamily="2" charset="2"/>
              </a:rPr>
              <a:t> Atropine 0.02 mg/kg oral syrup</a:t>
            </a:r>
            <a:endParaRPr lang="en-US" altLang="en-US" sz="3200" dirty="0"/>
          </a:p>
          <a:p>
            <a:r>
              <a:rPr lang="en-US" altLang="en-US" sz="3200" dirty="0"/>
              <a:t>Antibiotic </a:t>
            </a:r>
            <a:r>
              <a:rPr lang="en-US" altLang="en-US" sz="3200" dirty="0">
                <a:sym typeface="Wingdings" panose="05000000000000000000" pitchFamily="2" charset="2"/>
              </a:rPr>
              <a:t> RHD</a:t>
            </a:r>
          </a:p>
          <a:p>
            <a:endParaRPr lang="en-US" dirty="0"/>
          </a:p>
        </p:txBody>
      </p:sp>
    </p:spTree>
    <p:extLst>
      <p:ext uri="{BB962C8B-B14F-4D97-AF65-F5344CB8AC3E}">
        <p14:creationId xmlns:p14="http://schemas.microsoft.com/office/powerpoint/2010/main" val="167109291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Anesthesia </a:t>
            </a:r>
            <a:endParaRPr lang="en-US" dirty="0"/>
          </a:p>
        </p:txBody>
      </p:sp>
      <p:sp>
        <p:nvSpPr>
          <p:cNvPr id="3" name="Content Placeholder 2"/>
          <p:cNvSpPr>
            <a:spLocks noGrp="1"/>
          </p:cNvSpPr>
          <p:nvPr>
            <p:ph idx="1"/>
          </p:nvPr>
        </p:nvSpPr>
        <p:spPr/>
        <p:txBody>
          <a:bodyPr/>
          <a:lstStyle/>
          <a:p>
            <a:pPr marL="914400" lvl="1" indent="-514350"/>
            <a:r>
              <a:rPr lang="en-US" altLang="en-US" sz="3200" dirty="0"/>
              <a:t>pre-medicated ’ atropine</a:t>
            </a:r>
          </a:p>
          <a:p>
            <a:pPr marL="914400" lvl="1" indent="-514350"/>
            <a:r>
              <a:rPr lang="en-US" altLang="en-US" sz="3200" dirty="0"/>
              <a:t>Deep inhalation anesthesia </a:t>
            </a:r>
          </a:p>
          <a:p>
            <a:pPr marL="914400" lvl="1" indent="-514350"/>
            <a:r>
              <a:rPr lang="en-US" altLang="en-US" sz="3200" dirty="0" err="1"/>
              <a:t>Suxamethonium</a:t>
            </a:r>
            <a:r>
              <a:rPr lang="en-US" altLang="en-US" sz="3200" dirty="0"/>
              <a:t> then intubate </a:t>
            </a:r>
          </a:p>
          <a:p>
            <a:pPr marL="914400" lvl="1" indent="-514350"/>
            <a:r>
              <a:rPr lang="en-US" altLang="en-US" sz="3200" dirty="0"/>
              <a:t>OSA: awake intubation </a:t>
            </a:r>
          </a:p>
          <a:p>
            <a:pPr marL="514350" indent="-514350"/>
            <a:r>
              <a:rPr lang="en-US" altLang="en-US" sz="3200" dirty="0"/>
              <a:t>Nasal or Oral (Reinforced ETT / RAE tube)?</a:t>
            </a:r>
          </a:p>
          <a:p>
            <a:pPr marL="514350" indent="-514350">
              <a:buNone/>
            </a:pPr>
            <a:endParaRPr lang="en-US" altLang="en-US" dirty="0"/>
          </a:p>
        </p:txBody>
      </p:sp>
    </p:spTree>
    <p:extLst>
      <p:ext uri="{BB962C8B-B14F-4D97-AF65-F5344CB8AC3E}">
        <p14:creationId xmlns:p14="http://schemas.microsoft.com/office/powerpoint/2010/main" val="134742703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5400" dirty="0">
                <a:solidFill>
                  <a:srgbClr val="FF0000"/>
                </a:solidFill>
              </a:rPr>
              <a:t>Nasal intubation</a:t>
            </a:r>
            <a:br>
              <a:rPr lang="en-US" altLang="en-US" sz="5400" dirty="0">
                <a:solidFill>
                  <a:srgbClr val="FF0000"/>
                </a:solidFill>
              </a:rPr>
            </a:br>
            <a:endParaRPr lang="en-US" dirty="0"/>
          </a:p>
        </p:txBody>
      </p:sp>
      <p:sp>
        <p:nvSpPr>
          <p:cNvPr id="3" name="Content Placeholder 2"/>
          <p:cNvSpPr>
            <a:spLocks noGrp="1"/>
          </p:cNvSpPr>
          <p:nvPr>
            <p:ph idx="1"/>
          </p:nvPr>
        </p:nvSpPr>
        <p:spPr/>
        <p:txBody>
          <a:bodyPr>
            <a:normAutofit lnSpcReduction="10000"/>
          </a:bodyPr>
          <a:lstStyle/>
          <a:p>
            <a:pPr marL="128016" lvl="1" indent="0">
              <a:buNone/>
            </a:pPr>
            <a:r>
              <a:rPr lang="en-US" altLang="en-US" sz="3200" dirty="0" smtClean="0">
                <a:solidFill>
                  <a:srgbClr val="FF0000"/>
                </a:solidFill>
              </a:rPr>
              <a:t>Disadvantages</a:t>
            </a:r>
            <a:endParaRPr lang="en-US" altLang="en-US" sz="3200" dirty="0">
              <a:solidFill>
                <a:srgbClr val="FF0000"/>
              </a:solidFill>
            </a:endParaRPr>
          </a:p>
          <a:p>
            <a:pPr lvl="2"/>
            <a:r>
              <a:rPr lang="en-US" altLang="en-US" sz="3200" dirty="0"/>
              <a:t>Epistaxis </a:t>
            </a:r>
            <a:r>
              <a:rPr lang="en-US" altLang="en-US" sz="3200" dirty="0" smtClean="0"/>
              <a:t>                                                                    </a:t>
            </a:r>
            <a:endParaRPr lang="en-US" altLang="en-US" sz="3200" dirty="0"/>
          </a:p>
          <a:p>
            <a:pPr lvl="2"/>
            <a:r>
              <a:rPr lang="en-US" altLang="en-US" sz="3200" dirty="0"/>
              <a:t>Adenoid injury   </a:t>
            </a:r>
            <a:r>
              <a:rPr lang="en-US" altLang="en-US" sz="3200" dirty="0" smtClean="0"/>
              <a:t>                    </a:t>
            </a:r>
            <a:endParaRPr lang="en-US" altLang="en-US" sz="3200" dirty="0"/>
          </a:p>
          <a:p>
            <a:pPr lvl="2"/>
            <a:r>
              <a:rPr lang="en-US" altLang="en-US" sz="3200" dirty="0" err="1"/>
              <a:t>Naso</a:t>
            </a:r>
            <a:r>
              <a:rPr lang="en-US" altLang="en-US" sz="3200" dirty="0"/>
              <a:t>-pharyngeal </a:t>
            </a:r>
            <a:r>
              <a:rPr lang="en-US" altLang="en-US" sz="3200" dirty="0" smtClean="0"/>
              <a:t>tear</a:t>
            </a:r>
          </a:p>
          <a:p>
            <a:pPr lvl="2"/>
            <a:r>
              <a:rPr lang="en-US" altLang="en-US" sz="3200" dirty="0"/>
              <a:t>Liable to obstruction</a:t>
            </a:r>
          </a:p>
          <a:p>
            <a:pPr lvl="2"/>
            <a:r>
              <a:rPr lang="en-US" altLang="en-US" sz="3200" dirty="0"/>
              <a:t>Infection</a:t>
            </a:r>
          </a:p>
          <a:p>
            <a:pPr lvl="2"/>
            <a:r>
              <a:rPr lang="en-US" altLang="en-US" sz="3200" dirty="0"/>
              <a:t>Aspiration</a:t>
            </a:r>
          </a:p>
          <a:p>
            <a:pPr lvl="2"/>
            <a:r>
              <a:rPr lang="en-US" altLang="en-US" sz="3200" dirty="0"/>
              <a:t>Needs muscle relaxation</a:t>
            </a:r>
          </a:p>
          <a:p>
            <a:pPr lvl="2"/>
            <a:endParaRPr lang="en-US" altLang="en-US" sz="3200" dirty="0"/>
          </a:p>
          <a:p>
            <a:endParaRPr lang="en-US" dirty="0"/>
          </a:p>
        </p:txBody>
      </p:sp>
    </p:spTree>
    <p:extLst>
      <p:ext uri="{BB962C8B-B14F-4D97-AF65-F5344CB8AC3E}">
        <p14:creationId xmlns:p14="http://schemas.microsoft.com/office/powerpoint/2010/main" val="156300421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128016" lvl="1" indent="0">
              <a:buNone/>
            </a:pPr>
            <a:r>
              <a:rPr lang="en-US" altLang="en-US" sz="3200" dirty="0">
                <a:solidFill>
                  <a:schemeClr val="accent3">
                    <a:lumMod val="75000"/>
                  </a:schemeClr>
                </a:solidFill>
              </a:rPr>
              <a:t>Advantages</a:t>
            </a:r>
          </a:p>
          <a:p>
            <a:pPr lvl="2"/>
            <a:r>
              <a:rPr lang="en-US" altLang="en-US" sz="3200" dirty="0">
                <a:solidFill>
                  <a:schemeClr val="accent3">
                    <a:lumMod val="75000"/>
                  </a:schemeClr>
                </a:solidFill>
              </a:rPr>
              <a:t>Wider surgical field therefore preferred by some surgeons</a:t>
            </a:r>
            <a:r>
              <a:rPr lang="en-US" altLang="en-US" sz="2600" dirty="0">
                <a:solidFill>
                  <a:schemeClr val="accent3">
                    <a:lumMod val="75000"/>
                  </a:schemeClr>
                </a:solidFill>
              </a:rPr>
              <a:t>.</a:t>
            </a:r>
          </a:p>
          <a:p>
            <a:endParaRPr lang="en-US" dirty="0"/>
          </a:p>
        </p:txBody>
      </p:sp>
    </p:spTree>
    <p:extLst>
      <p:ext uri="{BB962C8B-B14F-4D97-AF65-F5344CB8AC3E}">
        <p14:creationId xmlns:p14="http://schemas.microsoft.com/office/powerpoint/2010/main" val="16214897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Patient position during surgery </a:t>
            </a:r>
            <a:endParaRPr lang="en-US" dirty="0"/>
          </a:p>
        </p:txBody>
      </p:sp>
      <p:sp>
        <p:nvSpPr>
          <p:cNvPr id="3" name="Content Placeholder 2"/>
          <p:cNvSpPr>
            <a:spLocks noGrp="1"/>
          </p:cNvSpPr>
          <p:nvPr>
            <p:ph idx="1"/>
          </p:nvPr>
        </p:nvSpPr>
        <p:spPr/>
        <p:txBody>
          <a:bodyPr>
            <a:normAutofit/>
          </a:bodyPr>
          <a:lstStyle/>
          <a:p>
            <a:r>
              <a:rPr lang="en-US" sz="3200" dirty="0"/>
              <a:t>Supine –neck extended roll placed under shoulders </a:t>
            </a:r>
          </a:p>
          <a:p>
            <a:r>
              <a:rPr lang="en-US" sz="3200" dirty="0"/>
              <a:t>Mouth clamp (Boyle </a:t>
            </a:r>
            <a:r>
              <a:rPr lang="en-US" sz="3200" dirty="0" err="1"/>
              <a:t>davis</a:t>
            </a:r>
            <a:r>
              <a:rPr lang="en-US" sz="3200" dirty="0"/>
              <a:t> gag )secure ETT in the mid line </a:t>
            </a:r>
            <a:endParaRPr lang="en-US" sz="3200" dirty="0"/>
          </a:p>
        </p:txBody>
      </p:sp>
    </p:spTree>
    <p:extLst>
      <p:ext uri="{BB962C8B-B14F-4D97-AF65-F5344CB8AC3E}">
        <p14:creationId xmlns:p14="http://schemas.microsoft.com/office/powerpoint/2010/main" val="9068776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surgical approach </a:t>
            </a:r>
            <a:endParaRPr lang="en-US" dirty="0"/>
          </a:p>
        </p:txBody>
      </p:sp>
      <p:sp>
        <p:nvSpPr>
          <p:cNvPr id="3" name="Content Placeholder 2"/>
          <p:cNvSpPr>
            <a:spLocks noGrp="1"/>
          </p:cNvSpPr>
          <p:nvPr>
            <p:ph idx="1"/>
          </p:nvPr>
        </p:nvSpPr>
        <p:spPr/>
        <p:txBody>
          <a:bodyPr>
            <a:normAutofit/>
          </a:bodyPr>
          <a:lstStyle/>
          <a:p>
            <a:r>
              <a:rPr lang="en-US" sz="3200" dirty="0">
                <a:solidFill>
                  <a:srgbClr val="FF0000"/>
                </a:solidFill>
              </a:rPr>
              <a:t>Cold steel dissection </a:t>
            </a:r>
            <a:r>
              <a:rPr lang="en-US" sz="3200" dirty="0"/>
              <a:t>–low risk of post operative hemorrhage </a:t>
            </a:r>
          </a:p>
          <a:p>
            <a:r>
              <a:rPr lang="en-US" sz="3200" dirty="0">
                <a:solidFill>
                  <a:srgbClr val="FF0000"/>
                </a:solidFill>
              </a:rPr>
              <a:t>Diathermy</a:t>
            </a:r>
            <a:r>
              <a:rPr lang="en-US" sz="3200" dirty="0"/>
              <a:t> –increase hemorrhage post operative pain </a:t>
            </a:r>
          </a:p>
          <a:p>
            <a:endParaRPr lang="en-US" sz="3200" dirty="0"/>
          </a:p>
        </p:txBody>
      </p:sp>
    </p:spTree>
    <p:extLst>
      <p:ext uri="{BB962C8B-B14F-4D97-AF65-F5344CB8AC3E}">
        <p14:creationId xmlns:p14="http://schemas.microsoft.com/office/powerpoint/2010/main" val="83991696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 operative complications </a:t>
            </a:r>
            <a:endParaRPr lang="en-US" dirty="0"/>
          </a:p>
        </p:txBody>
      </p:sp>
      <p:sp>
        <p:nvSpPr>
          <p:cNvPr id="3" name="Content Placeholder 2"/>
          <p:cNvSpPr>
            <a:spLocks noGrp="1"/>
          </p:cNvSpPr>
          <p:nvPr>
            <p:ph idx="1"/>
          </p:nvPr>
        </p:nvSpPr>
        <p:spPr/>
        <p:txBody>
          <a:bodyPr>
            <a:normAutofit/>
          </a:bodyPr>
          <a:lstStyle/>
          <a:p>
            <a:pPr>
              <a:buNone/>
            </a:pPr>
            <a:r>
              <a:rPr lang="en-US" sz="3200" dirty="0"/>
              <a:t>post operative hemorrhage </a:t>
            </a:r>
          </a:p>
          <a:p>
            <a:pPr>
              <a:buNone/>
            </a:pPr>
            <a:r>
              <a:rPr lang="en-US" sz="3200" dirty="0"/>
              <a:t>Nausea and vomiting </a:t>
            </a:r>
          </a:p>
          <a:p>
            <a:pPr>
              <a:buNone/>
            </a:pPr>
            <a:r>
              <a:rPr lang="en-US" sz="3200" dirty="0"/>
              <a:t>Pain </a:t>
            </a:r>
          </a:p>
          <a:p>
            <a:pPr>
              <a:buNone/>
            </a:pPr>
            <a:r>
              <a:rPr lang="en-US" sz="3200" dirty="0">
                <a:solidFill>
                  <a:srgbClr val="FF0000"/>
                </a:solidFill>
              </a:rPr>
              <a:t>Retention of throat pack </a:t>
            </a:r>
          </a:p>
          <a:p>
            <a:pPr>
              <a:buNone/>
            </a:pPr>
            <a:r>
              <a:rPr lang="en-US" sz="3200" dirty="0"/>
              <a:t>(consider intraoperative analgesia /anti emetics –dexamethasone 0.15mg/kg </a:t>
            </a:r>
            <a:r>
              <a:rPr lang="en-US" sz="3200" dirty="0" err="1"/>
              <a:t>ondansetrone</a:t>
            </a:r>
            <a:r>
              <a:rPr lang="en-US" sz="3200" dirty="0"/>
              <a:t> 0.1mg /kg </a:t>
            </a:r>
            <a:endParaRPr lang="en-US" sz="3200" dirty="0"/>
          </a:p>
        </p:txBody>
      </p:sp>
    </p:spTree>
    <p:extLst>
      <p:ext uri="{BB962C8B-B14F-4D97-AF65-F5344CB8AC3E}">
        <p14:creationId xmlns:p14="http://schemas.microsoft.com/office/powerpoint/2010/main" val="280743913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Reoperation </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a:t>Reoperation </a:t>
            </a:r>
          </a:p>
          <a:p>
            <a:r>
              <a:rPr lang="en-US" sz="3200" dirty="0"/>
              <a:t>Cause –post operative bleeding 4-6hrs or </a:t>
            </a:r>
            <a:r>
              <a:rPr lang="en-US" sz="3200" dirty="0">
                <a:solidFill>
                  <a:srgbClr val="FF0000"/>
                </a:solidFill>
              </a:rPr>
              <a:t>9hrs(missed hemophilia)</a:t>
            </a:r>
          </a:p>
          <a:p>
            <a:r>
              <a:rPr lang="en-US" sz="3200" dirty="0"/>
              <a:t>0,06% of the total 3% require surgery</a:t>
            </a:r>
            <a:endParaRPr lang="en-US" sz="3200" dirty="0"/>
          </a:p>
        </p:txBody>
      </p:sp>
    </p:spTree>
    <p:extLst>
      <p:ext uri="{BB962C8B-B14F-4D97-AF65-F5344CB8AC3E}">
        <p14:creationId xmlns:p14="http://schemas.microsoft.com/office/powerpoint/2010/main" val="296427572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Anesthetic problems during reoperation </a:t>
            </a:r>
            <a:endParaRPr lang="en-US" dirty="0"/>
          </a:p>
        </p:txBody>
      </p:sp>
      <p:sp>
        <p:nvSpPr>
          <p:cNvPr id="3" name="Content Placeholder 2"/>
          <p:cNvSpPr>
            <a:spLocks noGrp="1"/>
          </p:cNvSpPr>
          <p:nvPr>
            <p:ph idx="1"/>
          </p:nvPr>
        </p:nvSpPr>
        <p:spPr/>
        <p:txBody>
          <a:bodyPr/>
          <a:lstStyle/>
          <a:p>
            <a:r>
              <a:rPr lang="en-US" sz="3200" dirty="0"/>
              <a:t>Hypovolemia </a:t>
            </a:r>
          </a:p>
          <a:p>
            <a:r>
              <a:rPr lang="en-US" sz="3200" dirty="0"/>
              <a:t>Hypotension</a:t>
            </a:r>
          </a:p>
          <a:p>
            <a:r>
              <a:rPr lang="en-US" sz="3200" dirty="0"/>
              <a:t>Tachycardia</a:t>
            </a:r>
          </a:p>
          <a:p>
            <a:r>
              <a:rPr lang="en-US" sz="3200" dirty="0"/>
              <a:t>Frightened patient </a:t>
            </a:r>
          </a:p>
          <a:p>
            <a:endParaRPr lang="en-US" dirty="0"/>
          </a:p>
          <a:p>
            <a:endParaRPr lang="en-US" dirty="0"/>
          </a:p>
        </p:txBody>
      </p:sp>
    </p:spTree>
    <p:extLst>
      <p:ext uri="{BB962C8B-B14F-4D97-AF65-F5344CB8AC3E}">
        <p14:creationId xmlns:p14="http://schemas.microsoft.com/office/powerpoint/2010/main" val="222636603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Full stomach</a:t>
            </a:r>
          </a:p>
          <a:p>
            <a:r>
              <a:rPr lang="en-US" sz="3200" dirty="0"/>
              <a:t>Edema of the air way intubation difficult </a:t>
            </a:r>
          </a:p>
          <a:p>
            <a:r>
              <a:rPr lang="en-US" sz="3200" dirty="0"/>
              <a:t>Loss of consciousness  </a:t>
            </a:r>
            <a:r>
              <a:rPr lang="en-US" sz="3200" dirty="0" err="1"/>
              <a:t>Glassgow</a:t>
            </a:r>
            <a:r>
              <a:rPr lang="en-US" sz="3200" dirty="0"/>
              <a:t> coma score </a:t>
            </a:r>
          </a:p>
          <a:p>
            <a:endParaRPr lang="en-US" dirty="0"/>
          </a:p>
        </p:txBody>
      </p:sp>
    </p:spTree>
    <p:extLst>
      <p:ext uri="{BB962C8B-B14F-4D97-AF65-F5344CB8AC3E}">
        <p14:creationId xmlns:p14="http://schemas.microsoft.com/office/powerpoint/2010/main" val="160922235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a:t>
            </a:r>
            <a:endParaRPr lang="en-US" dirty="0"/>
          </a:p>
        </p:txBody>
      </p:sp>
      <p:sp>
        <p:nvSpPr>
          <p:cNvPr id="3" name="Content Placeholder 2"/>
          <p:cNvSpPr>
            <a:spLocks noGrp="1"/>
          </p:cNvSpPr>
          <p:nvPr>
            <p:ph idx="1"/>
          </p:nvPr>
        </p:nvSpPr>
        <p:spPr/>
        <p:txBody>
          <a:bodyPr>
            <a:normAutofit/>
          </a:bodyPr>
          <a:lstStyle/>
          <a:p>
            <a:r>
              <a:rPr lang="en-US" sz="3200" dirty="0"/>
              <a:t>Check coagulation profile </a:t>
            </a:r>
          </a:p>
          <a:p>
            <a:r>
              <a:rPr lang="en-US" sz="3200" dirty="0"/>
              <a:t>Cross match blood </a:t>
            </a:r>
          </a:p>
          <a:p>
            <a:r>
              <a:rPr lang="en-US" sz="3200" dirty="0"/>
              <a:t>Resuscitate the patient adequately </a:t>
            </a:r>
          </a:p>
          <a:p>
            <a:r>
              <a:rPr lang="en-US" sz="3200" dirty="0"/>
              <a:t>NGT</a:t>
            </a:r>
          </a:p>
          <a:p>
            <a:endParaRPr lang="en-US" sz="3200" dirty="0"/>
          </a:p>
        </p:txBody>
      </p:sp>
    </p:spTree>
    <p:extLst>
      <p:ext uri="{BB962C8B-B14F-4D97-AF65-F5344CB8AC3E}">
        <p14:creationId xmlns:p14="http://schemas.microsoft.com/office/powerpoint/2010/main" val="173419251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3200" dirty="0"/>
              <a:t>Crush induction</a:t>
            </a:r>
          </a:p>
          <a:p>
            <a:r>
              <a:rPr lang="en-US" sz="3200" dirty="0"/>
              <a:t>Experienced anesthetist </a:t>
            </a:r>
          </a:p>
          <a:p>
            <a:r>
              <a:rPr lang="en-US" sz="3200" dirty="0" err="1"/>
              <a:t>Extubate</a:t>
            </a:r>
            <a:r>
              <a:rPr lang="en-US" sz="3200" dirty="0"/>
              <a:t> awake keep in RR for extended time </a:t>
            </a:r>
          </a:p>
          <a:p>
            <a:r>
              <a:rPr lang="en-US" sz="3200" dirty="0"/>
              <a:t>Antiemetic's and analgesics </a:t>
            </a:r>
          </a:p>
          <a:p>
            <a:r>
              <a:rPr lang="en-US" sz="3200" dirty="0"/>
              <a:t>LA no evidence to decrease post operative pain </a:t>
            </a:r>
          </a:p>
          <a:p>
            <a:endParaRPr lang="en-US" sz="2400" dirty="0"/>
          </a:p>
        </p:txBody>
      </p:sp>
    </p:spTree>
    <p:extLst>
      <p:ext uri="{BB962C8B-B14F-4D97-AF65-F5344CB8AC3E}">
        <p14:creationId xmlns:p14="http://schemas.microsoft.com/office/powerpoint/2010/main" val="141256026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128016" lvl="1" indent="0">
              <a:buNone/>
            </a:pPr>
            <a:r>
              <a:rPr lang="en-US" altLang="en-US" sz="3200" dirty="0"/>
              <a:t>Maintenance</a:t>
            </a:r>
          </a:p>
          <a:p>
            <a:pPr lvl="2"/>
            <a:r>
              <a:rPr lang="en-US" altLang="en-US" sz="3200" dirty="0">
                <a:sym typeface="Wingdings" panose="05000000000000000000" pitchFamily="2" charset="2"/>
              </a:rPr>
              <a:t>Titration of a volatile anesthetic such as </a:t>
            </a:r>
            <a:r>
              <a:rPr lang="en-US" altLang="en-US" sz="3200" dirty="0" err="1">
                <a:sym typeface="Wingdings" panose="05000000000000000000" pitchFamily="2" charset="2"/>
              </a:rPr>
              <a:t>sevoflurane</a:t>
            </a:r>
            <a:r>
              <a:rPr lang="en-US" altLang="en-US" sz="3200" dirty="0">
                <a:sym typeface="Wingdings" panose="05000000000000000000" pitchFamily="2" charset="2"/>
              </a:rPr>
              <a:t> or </a:t>
            </a:r>
            <a:r>
              <a:rPr lang="en-US" altLang="en-US" sz="3200" dirty="0" err="1">
                <a:sym typeface="Wingdings" panose="05000000000000000000" pitchFamily="2" charset="2"/>
              </a:rPr>
              <a:t>desflurane</a:t>
            </a:r>
            <a:r>
              <a:rPr lang="en-US" altLang="en-US" sz="3200" dirty="0">
                <a:sym typeface="Wingdings" panose="05000000000000000000" pitchFamily="2" charset="2"/>
              </a:rPr>
              <a:t> e’ nitrous oxide &amp; O2 </a:t>
            </a:r>
            <a:r>
              <a:rPr lang="en-US" altLang="en-US" sz="3200">
                <a:sym typeface="Wingdings" panose="05000000000000000000" pitchFamily="2" charset="2"/>
              </a:rPr>
              <a:t>supplemented </a:t>
            </a:r>
            <a:r>
              <a:rPr lang="en-US" altLang="en-US" sz="3200" smtClean="0">
                <a:sym typeface="Wingdings" panose="05000000000000000000" pitchFamily="2" charset="2"/>
              </a:rPr>
              <a:t>’fentanyl </a:t>
            </a:r>
            <a:r>
              <a:rPr lang="en-US" altLang="en-US" sz="3200" dirty="0">
                <a:sym typeface="Wingdings" panose="05000000000000000000" pitchFamily="2" charset="2"/>
              </a:rPr>
              <a:t>(1-2ug/kg)</a:t>
            </a:r>
          </a:p>
          <a:p>
            <a:pPr lvl="2"/>
            <a:r>
              <a:rPr lang="en-US" altLang="en-US" sz="3200" dirty="0">
                <a:sym typeface="Wingdings" panose="05000000000000000000" pitchFamily="2" charset="2"/>
              </a:rPr>
              <a:t>Suction of the stomach under vision + prophylactic antiemetic (</a:t>
            </a:r>
            <a:r>
              <a:rPr lang="en-US" altLang="en-US" sz="3200" dirty="0" err="1">
                <a:sym typeface="Wingdings" panose="05000000000000000000" pitchFamily="2" charset="2"/>
              </a:rPr>
              <a:t>Ondansetron</a:t>
            </a:r>
            <a:r>
              <a:rPr lang="en-US" altLang="en-US" sz="3200" dirty="0">
                <a:sym typeface="Wingdings" panose="05000000000000000000" pitchFamily="2" charset="2"/>
              </a:rPr>
              <a:t> 0.1mg/kg)</a:t>
            </a:r>
          </a:p>
          <a:p>
            <a:pPr lvl="1"/>
            <a:r>
              <a:rPr lang="en-US" altLang="en-US" sz="3200" dirty="0">
                <a:sym typeface="Wingdings" panose="05000000000000000000" pitchFamily="2" charset="2"/>
              </a:rPr>
              <a:t> Extubation: FULLY AWAKE in the lateral position</a:t>
            </a:r>
          </a:p>
          <a:p>
            <a:endParaRPr lang="en-US" dirty="0"/>
          </a:p>
        </p:txBody>
      </p:sp>
    </p:spTree>
    <p:extLst>
      <p:ext uri="{BB962C8B-B14F-4D97-AF65-F5344CB8AC3E}">
        <p14:creationId xmlns:p14="http://schemas.microsoft.com/office/powerpoint/2010/main" val="2921185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225</TotalTime>
  <Words>3872</Words>
  <Application>Microsoft Office PowerPoint</Application>
  <PresentationFormat>Widescreen</PresentationFormat>
  <Paragraphs>658</Paragraphs>
  <Slides>164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164</vt:i4>
      </vt:variant>
    </vt:vector>
  </HeadingPairs>
  <TitlesOfParts>
    <vt:vector size="171" baseType="lpstr">
      <vt:lpstr>Calibri</vt:lpstr>
      <vt:lpstr>Times New Roman</vt:lpstr>
      <vt:lpstr>Tw Cen MT</vt:lpstr>
      <vt:lpstr>Tw Cen MT Condensed</vt:lpstr>
      <vt:lpstr>Wingdings</vt:lpstr>
      <vt:lpstr>Wingdings 3</vt:lpstr>
      <vt:lpstr>Integral</vt:lpstr>
      <vt:lpstr>Anesthesia for ent and maxillofacial surgery </vt:lpstr>
      <vt:lpstr>Anesthesia for ent and maxillofacial surgery </vt:lpstr>
      <vt:lpstr>Objective </vt:lpstr>
      <vt:lpstr>Contents </vt:lpstr>
      <vt:lpstr>PowerPoint Presentation</vt:lpstr>
      <vt:lpstr>PowerPoint Presentation</vt:lpstr>
      <vt:lpstr>Unique challenges of ent anesthesia to anesthetists </vt:lpstr>
      <vt:lpstr>Challenges </vt:lpstr>
      <vt:lpstr>Challenges </vt:lpstr>
      <vt:lpstr>Physiologic anatomy of the ear </vt:lpstr>
      <vt:lpstr>Neuronal supply to ear </vt:lpstr>
      <vt:lpstr>Openings in the ear </vt:lpstr>
      <vt:lpstr>Vestibule </vt:lpstr>
      <vt:lpstr>Cochlea </vt:lpstr>
      <vt:lpstr>Semicircular canals </vt:lpstr>
      <vt:lpstr>Important structures </vt:lpstr>
      <vt:lpstr>Hearing </vt:lpstr>
      <vt:lpstr>Tracheostomy </vt:lpstr>
      <vt:lpstr>Tracheostomy </vt:lpstr>
      <vt:lpstr>Tracheostomy </vt:lpstr>
      <vt:lpstr>Indications for tracheostomy </vt:lpstr>
      <vt:lpstr>PowerPoint Presentation</vt:lpstr>
      <vt:lpstr>PowerPoint Presentation</vt:lpstr>
      <vt:lpstr>Tracheostomy care </vt:lpstr>
      <vt:lpstr>Craniofacial abnormalities </vt:lpstr>
      <vt:lpstr>Cleft lip and palate </vt:lpstr>
      <vt:lpstr>PowerPoint Presentation</vt:lpstr>
      <vt:lpstr>Sign and symptoms </vt:lpstr>
      <vt:lpstr>PowerPoint Presentation</vt:lpstr>
      <vt:lpstr>Associated problems </vt:lpstr>
      <vt:lpstr>Types of surgery </vt:lpstr>
      <vt:lpstr>Preoperative evaluation </vt:lpstr>
      <vt:lpstr>Anesthesia </vt:lpstr>
      <vt:lpstr>PowerPoint Presentation</vt:lpstr>
      <vt:lpstr>Mandibular hypoplasia </vt:lpstr>
      <vt:lpstr>Pier robin syndrome </vt:lpstr>
      <vt:lpstr>Treacher Collins syndrome </vt:lpstr>
      <vt:lpstr>Goldenhar syndrome </vt:lpstr>
      <vt:lpstr>Common feature of the three syndromes </vt:lpstr>
      <vt:lpstr>Anesthetic management </vt:lpstr>
      <vt:lpstr>Hypertelorism </vt:lpstr>
      <vt:lpstr>Causes </vt:lpstr>
      <vt:lpstr>PowerPoint Presentation</vt:lpstr>
      <vt:lpstr>Anesthesia for hypertelorism </vt:lpstr>
      <vt:lpstr>PowerPoint Presentation</vt:lpstr>
      <vt:lpstr>PowerPoint Presentation</vt:lpstr>
      <vt:lpstr>PowerPoint Presentation</vt:lpstr>
      <vt:lpstr>PowerPoint Presentation</vt:lpstr>
      <vt:lpstr>Ludwig's angina </vt:lpstr>
      <vt:lpstr>PowerPoint Presentation</vt:lpstr>
      <vt:lpstr>PowerPoint Presentation</vt:lpstr>
      <vt:lpstr>Clinical presentation </vt:lpstr>
      <vt:lpstr>three elements for definitive diagnosis</vt:lpstr>
      <vt:lpstr>Management </vt:lpstr>
      <vt:lpstr>Anesthetic implications </vt:lpstr>
      <vt:lpstr>Stridor </vt:lpstr>
      <vt:lpstr>Airway management </vt:lpstr>
      <vt:lpstr>Anesthetic plan and management for Ludwig's angina </vt:lpstr>
      <vt:lpstr>Anesthesia for sinus surgery </vt:lpstr>
      <vt:lpstr>Treatment </vt:lpstr>
      <vt:lpstr>PowerPoint Presentation</vt:lpstr>
      <vt:lpstr>PowerPoint Presentation</vt:lpstr>
      <vt:lpstr>PowerPoint Presentation</vt:lpstr>
      <vt:lpstr>Surgical approaches </vt:lpstr>
      <vt:lpstr>Sign symptoms and indications </vt:lpstr>
      <vt:lpstr>Anesthesia for sinus surgery </vt:lpstr>
      <vt:lpstr>Major complications of sinus surgery </vt:lpstr>
      <vt:lpstr>Radical neck dissections </vt:lpstr>
      <vt:lpstr>Radical neck dissections </vt:lpstr>
      <vt:lpstr>Three types of modified radical neck dissection </vt:lpstr>
      <vt:lpstr>Anesthetic considerations </vt:lpstr>
      <vt:lpstr>Surgical and anesthetic risks </vt:lpstr>
      <vt:lpstr>PowerPoint Presentation</vt:lpstr>
      <vt:lpstr>Expected intraoperative complications </vt:lpstr>
      <vt:lpstr>Management </vt:lpstr>
      <vt:lpstr>PowerPoint Presentation</vt:lpstr>
      <vt:lpstr>PowerPoint Presentation</vt:lpstr>
      <vt:lpstr>Acute upper airway disorders </vt:lpstr>
      <vt:lpstr>Epiglottitis </vt:lpstr>
      <vt:lpstr>Epiglottitis </vt:lpstr>
      <vt:lpstr>Clinical symptoms </vt:lpstr>
      <vt:lpstr>Triploid position epiglottitis </vt:lpstr>
      <vt:lpstr>X-ray findings </vt:lpstr>
      <vt:lpstr>Expected problems of epiglottitis </vt:lpstr>
      <vt:lpstr>Anatomic and functional vulnerability of pediatric airway </vt:lpstr>
      <vt:lpstr>Sign and symptoms of upper airway obstructions </vt:lpstr>
      <vt:lpstr>Epiglottitis </vt:lpstr>
      <vt:lpstr>PowerPoint Presentation</vt:lpstr>
      <vt:lpstr>Fundamental goals </vt:lpstr>
      <vt:lpstr>PowerPoint Presentation</vt:lpstr>
      <vt:lpstr>Post operative management </vt:lpstr>
      <vt:lpstr>PowerPoint Presentation</vt:lpstr>
      <vt:lpstr>Tracheolaryngo bronchitis </vt:lpstr>
      <vt:lpstr>Clinical croup score </vt:lpstr>
      <vt:lpstr>PowerPoint Presentation</vt:lpstr>
      <vt:lpstr>Anesthetic management for epiglottitis and tracheolargo bronchitis(Summary</vt:lpstr>
      <vt:lpstr>Extubation </vt:lpstr>
      <vt:lpstr>Anesthesia for endoscopy and bronchoscopy </vt:lpstr>
      <vt:lpstr>Bronchoscope </vt:lpstr>
      <vt:lpstr>PowerPoint Presentation</vt:lpstr>
      <vt:lpstr>Anesthetic management </vt:lpstr>
      <vt:lpstr>PowerPoint Presentation</vt:lpstr>
      <vt:lpstr>PowerPoint Presentation</vt:lpstr>
      <vt:lpstr>Expected events </vt:lpstr>
      <vt:lpstr>Complications of Bronchoscopy</vt:lpstr>
      <vt:lpstr>Management of complications </vt:lpstr>
      <vt:lpstr>Foreign body aspiration </vt:lpstr>
      <vt:lpstr>Problems</vt:lpstr>
      <vt:lpstr>Sign and symptoms </vt:lpstr>
      <vt:lpstr>Diagnosis and treatment </vt:lpstr>
      <vt:lpstr>Anesthetic management </vt:lpstr>
      <vt:lpstr>Otology procedures </vt:lpstr>
      <vt:lpstr>PowerPoint Presentation</vt:lpstr>
      <vt:lpstr>PowerPoint Presentation</vt:lpstr>
      <vt:lpstr>PowerPoint Presentation</vt:lpstr>
      <vt:lpstr>Special anesthetic considerations for ear procedures </vt:lpstr>
      <vt:lpstr>PowerPoint Presentation</vt:lpstr>
      <vt:lpstr>PowerPoint Presentation</vt:lpstr>
      <vt:lpstr>PowerPoint Presentation</vt:lpstr>
      <vt:lpstr>PowerPoint Presentation</vt:lpstr>
      <vt:lpstr>PowerPoint Presentation</vt:lpstr>
      <vt:lpstr>Laser surgery </vt:lpstr>
      <vt:lpstr>Types of laser </vt:lpstr>
      <vt:lpstr>Advantages of laser </vt:lpstr>
      <vt:lpstr>PowerPoint Presentation</vt:lpstr>
      <vt:lpstr>Laser hazards </vt:lpstr>
      <vt:lpstr>Hazards </vt:lpstr>
      <vt:lpstr>Summary </vt:lpstr>
      <vt:lpstr>Precautions during laser surgery </vt:lpstr>
      <vt:lpstr>PowerPoint Presentation</vt:lpstr>
      <vt:lpstr>How to minimize laser fire hazards </vt:lpstr>
      <vt:lpstr>Airway fire protocols </vt:lpstr>
      <vt:lpstr>PowerPoint Presentation</vt:lpstr>
      <vt:lpstr>PowerPoint Presentation</vt:lpstr>
      <vt:lpstr>Tonsillitis </vt:lpstr>
      <vt:lpstr>Tonsillitis </vt:lpstr>
      <vt:lpstr>Tonsils </vt:lpstr>
      <vt:lpstr>Tonsillectomy and adenectomy </vt:lpstr>
      <vt:lpstr>PowerPoint Presentation</vt:lpstr>
      <vt:lpstr>PowerPoint Presentation</vt:lpstr>
      <vt:lpstr>Indications for surgery </vt:lpstr>
      <vt:lpstr>Contraindications for surgery </vt:lpstr>
      <vt:lpstr>PowerPoint Presentation</vt:lpstr>
      <vt:lpstr>Obstructive sleep apnea </vt:lpstr>
      <vt:lpstr>Pathophysiology of OSA</vt:lpstr>
      <vt:lpstr>Children's with osa </vt:lpstr>
      <vt:lpstr>PowerPoint Presentation</vt:lpstr>
      <vt:lpstr>Anesthetic considerations for tonsillectomy </vt:lpstr>
      <vt:lpstr>PowerPoint Presentation</vt:lpstr>
      <vt:lpstr>Preoperative assessment </vt:lpstr>
      <vt:lpstr>Preoperative medications </vt:lpstr>
      <vt:lpstr>PowerPoint Presentation</vt:lpstr>
      <vt:lpstr>Anesthesia </vt:lpstr>
      <vt:lpstr>Nasal intubation </vt:lpstr>
      <vt:lpstr>PowerPoint Presentation</vt:lpstr>
      <vt:lpstr>Patient position during surgery </vt:lpstr>
      <vt:lpstr>Types of surgical approach </vt:lpstr>
      <vt:lpstr>Post operative complications </vt:lpstr>
      <vt:lpstr>Reoperation </vt:lpstr>
      <vt:lpstr>Anesthetic problems during reoperation </vt:lpstr>
      <vt:lpstr>PowerPoint Presentation</vt:lpstr>
      <vt:lpstr>Management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Anesthesia for ent and maxillofacial surgery </dc:title>
  <dc:creator>My</dc:creator>
  <cp:lastModifiedBy>My</cp:lastModifiedBy>
  <cp:revision>28</cp:revision>
  <dcterms:created xsi:type="dcterms:W3CDTF">2025-12-13T05:11:20Z</dcterms:created>
  <dcterms:modified xsi:type="dcterms:W3CDTF">2025-12-13T08:56:36Z</dcterms:modified>
</cp:coreProperties>
</file>