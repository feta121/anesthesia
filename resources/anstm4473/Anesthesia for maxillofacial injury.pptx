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06" r:id="rId3"/>
    <p:sldId id="257" r:id="rId4"/>
    <p:sldId id="258" r:id="rId5"/>
    <p:sldId id="259" r:id="rId6"/>
    <p:sldId id="260" r:id="rId7"/>
    <p:sldId id="261" r:id="rId8"/>
    <p:sldId id="262" r:id="rId9"/>
    <p:sldId id="263" r:id="rId10"/>
    <p:sldId id="264" r:id="rId11"/>
    <p:sldId id="265" r:id="rId12"/>
    <p:sldId id="266" r:id="rId13"/>
    <p:sldId id="267" r:id="rId14"/>
    <p:sldId id="272" r:id="rId15"/>
    <p:sldId id="268" r:id="rId16"/>
    <p:sldId id="269" r:id="rId17"/>
    <p:sldId id="270" r:id="rId18"/>
    <p:sldId id="271" r:id="rId19"/>
    <p:sldId id="273" r:id="rId20"/>
    <p:sldId id="274" r:id="rId21"/>
    <p:sldId id="275" r:id="rId22"/>
    <p:sldId id="276" r:id="rId23"/>
    <p:sldId id="277" r:id="rId24"/>
    <p:sldId id="278"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1" r:id="rId46"/>
    <p:sldId id="302" r:id="rId47"/>
    <p:sldId id="303" r:id="rId48"/>
    <p:sldId id="305"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12/28/2025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12/28/2025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12/28/2025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12/28/2025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journals.lww.com/joacp/toc/2021/07000" TargetMode="External"/><Relationship Id="rId2" Type="http://schemas.openxmlformats.org/officeDocument/2006/relationships/hyperlink" Target="https://journals.lww.com/joacp/fulltext/2021/07000/airway_management_in_maxillofacial_trauma.2.aspx"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en.wikipedia.org/wiki/Systole_(medicine)" TargetMode="External"/><Relationship Id="rId2" Type="http://schemas.openxmlformats.org/officeDocument/2006/relationships/hyperlink" Target="https://en.wikipedia.org/wiki/Glasgow_Coma_Scale" TargetMode="External"/><Relationship Id="rId1" Type="http://schemas.openxmlformats.org/officeDocument/2006/relationships/slideLayout" Target="../slideLayouts/slideLayout2.xml"/><Relationship Id="rId5" Type="http://schemas.openxmlformats.org/officeDocument/2006/relationships/hyperlink" Target="https://en.wikipedia.org/wiki/Triage" TargetMode="External"/><Relationship Id="rId4" Type="http://schemas.openxmlformats.org/officeDocument/2006/relationships/hyperlink" Target="https://en.wikipedia.org/wiki/Simple_triage_and_rapid_treatmen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en.wikipedia.org/wiki/Systole_(medicine)" TargetMode="External"/><Relationship Id="rId2" Type="http://schemas.openxmlformats.org/officeDocument/2006/relationships/hyperlink" Target="https://en.wikipedia.org/wiki/Glasgow_Coma_Scale" TargetMode="External"/><Relationship Id="rId1" Type="http://schemas.openxmlformats.org/officeDocument/2006/relationships/slideLayout" Target="../slideLayouts/slideLayout2.xml"/><Relationship Id="rId5" Type="http://schemas.openxmlformats.org/officeDocument/2006/relationships/hyperlink" Target="https://en.wikipedia.org/wiki/Triage" TargetMode="External"/><Relationship Id="rId4" Type="http://schemas.openxmlformats.org/officeDocument/2006/relationships/hyperlink" Target="https://en.wikipedia.org/wiki/Simple_triage_and_rapid_treatmen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Anesthesia for maxillofacial injury </a:t>
            </a:r>
            <a:endParaRPr lang="en-US" dirty="0"/>
          </a:p>
        </p:txBody>
      </p:sp>
      <p:sp>
        <p:nvSpPr>
          <p:cNvPr id="3" name="Subtitle 2"/>
          <p:cNvSpPr>
            <a:spLocks noGrp="1"/>
          </p:cNvSpPr>
          <p:nvPr>
            <p:ph type="subTitle" idx="1"/>
          </p:nvPr>
        </p:nvSpPr>
        <p:spPr/>
        <p:txBody>
          <a:bodyPr/>
          <a:lstStyle/>
          <a:p>
            <a:r>
              <a:rPr lang="en-US" dirty="0" err="1" smtClean="0"/>
              <a:t>Leulayehu</a:t>
            </a:r>
            <a:r>
              <a:rPr lang="en-US" dirty="0" smtClean="0"/>
              <a:t> </a:t>
            </a:r>
            <a:r>
              <a:rPr lang="en-US" dirty="0" err="1"/>
              <a:t>A</a:t>
            </a:r>
            <a:r>
              <a:rPr lang="en-US" dirty="0" err="1" smtClean="0"/>
              <a:t>kalu</a:t>
            </a:r>
            <a:r>
              <a:rPr lang="en-US" dirty="0" smtClean="0"/>
              <a:t> </a:t>
            </a:r>
          </a:p>
          <a:p>
            <a:r>
              <a:rPr lang="en-US" dirty="0" err="1" smtClean="0"/>
              <a:t>Ass.Prof</a:t>
            </a:r>
            <a:r>
              <a:rPr lang="en-US" dirty="0" smtClean="0"/>
              <a:t> (205/26</a:t>
            </a:r>
            <a:endParaRPr lang="en-US" dirty="0"/>
          </a:p>
        </p:txBody>
      </p:sp>
    </p:spTree>
    <p:extLst>
      <p:ext uri="{BB962C8B-B14F-4D97-AF65-F5344CB8AC3E}">
        <p14:creationId xmlns:p14="http://schemas.microsoft.com/office/powerpoint/2010/main" val="3788264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 </a:t>
            </a:r>
            <a:endParaRPr lang="en-US" dirty="0"/>
          </a:p>
        </p:txBody>
      </p:sp>
      <p:sp>
        <p:nvSpPr>
          <p:cNvPr id="3" name="Content Placeholder 2"/>
          <p:cNvSpPr>
            <a:spLocks noGrp="1"/>
          </p:cNvSpPr>
          <p:nvPr>
            <p:ph idx="1"/>
          </p:nvPr>
        </p:nvSpPr>
        <p:spPr/>
        <p:txBody>
          <a:bodyPr>
            <a:normAutofit/>
          </a:bodyPr>
          <a:lstStyle/>
          <a:p>
            <a:r>
              <a:rPr lang="en-US" sz="3200" dirty="0" smtClean="0"/>
              <a:t>At the end of this session the learner will be able to Manage </a:t>
            </a:r>
            <a:r>
              <a:rPr lang="en-US" sz="3200" dirty="0"/>
              <a:t>anesthesia for </a:t>
            </a:r>
            <a:r>
              <a:rPr lang="en-US" sz="3200"/>
              <a:t>maxillofacial </a:t>
            </a:r>
            <a:r>
              <a:rPr lang="en-US" sz="3200" smtClean="0"/>
              <a:t> </a:t>
            </a:r>
            <a:r>
              <a:rPr lang="en-US" sz="3200"/>
              <a:t>surgeries </a:t>
            </a:r>
            <a:r>
              <a:rPr lang="en-US" sz="3200" smtClean="0"/>
              <a:t>.</a:t>
            </a:r>
            <a:endParaRPr lang="en-US" sz="3200" dirty="0"/>
          </a:p>
        </p:txBody>
      </p:sp>
    </p:spTree>
    <p:extLst>
      <p:ext uri="{BB962C8B-B14F-4D97-AF65-F5344CB8AC3E}">
        <p14:creationId xmlns:p14="http://schemas.microsoft.com/office/powerpoint/2010/main" val="1980532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Maxillofacial injury </a:t>
            </a:r>
            <a:endParaRPr lang="en-US" dirty="0"/>
          </a:p>
        </p:txBody>
      </p:sp>
      <p:sp>
        <p:nvSpPr>
          <p:cNvPr id="3" name="Content Placeholder 2"/>
          <p:cNvSpPr>
            <a:spLocks noGrp="1"/>
          </p:cNvSpPr>
          <p:nvPr>
            <p:ph idx="1"/>
          </p:nvPr>
        </p:nvSpPr>
        <p:spPr/>
        <p:txBody>
          <a:bodyPr>
            <a:normAutofit/>
          </a:bodyPr>
          <a:lstStyle/>
          <a:p>
            <a:r>
              <a:rPr lang="en-US" sz="3200" b="1" u="sng" dirty="0"/>
              <a:t>Definition</a:t>
            </a:r>
            <a:r>
              <a:rPr lang="en-US" sz="3200" dirty="0"/>
              <a:t> →  it is an injury to the </a:t>
            </a:r>
            <a:r>
              <a:rPr lang="en-US" sz="3200" dirty="0">
                <a:solidFill>
                  <a:srgbClr val="FF0000"/>
                </a:solidFill>
              </a:rPr>
              <a:t>facial soft tissue and facial skeleton associated with specialized soft tissue injury with in the head and neck </a:t>
            </a:r>
            <a:r>
              <a:rPr lang="en-US" sz="3200" dirty="0"/>
              <a:t>as a result of external violence.</a:t>
            </a:r>
          </a:p>
          <a:p>
            <a:endParaRPr lang="en-US" sz="3200" dirty="0"/>
          </a:p>
        </p:txBody>
      </p:sp>
    </p:spTree>
    <p:extLst>
      <p:ext uri="{BB962C8B-B14F-4D97-AF65-F5344CB8AC3E}">
        <p14:creationId xmlns:p14="http://schemas.microsoft.com/office/powerpoint/2010/main" val="3494953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a:t>Maxillofacial trauma</a:t>
            </a:r>
            <a:endParaRPr lang="en-US" dirty="0"/>
          </a:p>
        </p:txBody>
      </p:sp>
      <p:sp>
        <p:nvSpPr>
          <p:cNvPr id="3" name="Content Placeholder 2"/>
          <p:cNvSpPr>
            <a:spLocks noGrp="1"/>
          </p:cNvSpPr>
          <p:nvPr>
            <p:ph idx="1"/>
          </p:nvPr>
        </p:nvSpPr>
        <p:spPr/>
        <p:txBody>
          <a:bodyPr>
            <a:normAutofit fontScale="55000" lnSpcReduction="20000"/>
          </a:bodyPr>
          <a:lstStyle/>
          <a:p>
            <a:r>
              <a:rPr lang="en-US" sz="5100" dirty="0"/>
              <a:t>Maxillofacial trauma is of utmost concern to anesthesia due to their close proximity to the airway. </a:t>
            </a:r>
            <a:r>
              <a:rPr lang="en-US" sz="5100" dirty="0">
                <a:solidFill>
                  <a:srgbClr val="FF0000"/>
                </a:solidFill>
              </a:rPr>
              <a:t>Majority of patients present with multiple trauma that requires coordinated management between various specialties. Anesthesiologists and anesthetists  play an important role in securing the airway, initial resuscitation, and stabilization </a:t>
            </a:r>
            <a:r>
              <a:rPr lang="en-US" sz="5100" dirty="0"/>
              <a:t>of these patients. Appropriate planning is mandatory for establishing the airway during elective surgical procedures and in the postoperative period.</a:t>
            </a:r>
          </a:p>
          <a:p>
            <a:endParaRPr lang="en-US" sz="5100" dirty="0"/>
          </a:p>
          <a:p>
            <a:endParaRPr lang="en-US" sz="1200" dirty="0"/>
          </a:p>
          <a:p>
            <a:r>
              <a:rPr lang="en-US" sz="1200" dirty="0"/>
              <a:t>Airway management in maxillofacial trauma Saini, </a:t>
            </a:r>
            <a:r>
              <a:rPr lang="en-US" sz="1200" dirty="0" err="1"/>
              <a:t>Suman</a:t>
            </a:r>
            <a:r>
              <a:rPr lang="en-US" sz="1200" dirty="0"/>
              <a:t>; </a:t>
            </a:r>
            <a:r>
              <a:rPr lang="en-US" sz="1200" dirty="0" err="1"/>
              <a:t>Singhal</a:t>
            </a:r>
            <a:r>
              <a:rPr lang="en-US" sz="1200" dirty="0"/>
              <a:t>, Swati; Prakash, </a:t>
            </a:r>
            <a:r>
              <a:rPr lang="en-US" sz="1200" dirty="0" err="1"/>
              <a:t>Smita</a:t>
            </a:r>
            <a:endParaRPr lang="en-US" sz="1200" dirty="0"/>
          </a:p>
          <a:p>
            <a:r>
              <a:rPr lang="en-US" sz="1200" dirty="0">
                <a:hlinkClick r:id="rId2"/>
              </a:rPr>
              <a:t>Author </a:t>
            </a:r>
            <a:r>
              <a:rPr lang="en-US" sz="1200" dirty="0" err="1">
                <a:hlinkClick r:id="rId2"/>
              </a:rPr>
              <a:t>Information</a:t>
            </a:r>
            <a:r>
              <a:rPr lang="en-US" sz="1200" i="1" dirty="0" err="1"/>
              <a:t>Journal</a:t>
            </a:r>
            <a:r>
              <a:rPr lang="en-US" sz="1200" i="1" dirty="0"/>
              <a:t> of </a:t>
            </a:r>
            <a:r>
              <a:rPr lang="en-US" sz="1200" i="1" dirty="0" err="1"/>
              <a:t>Anaesthesiology</a:t>
            </a:r>
            <a:r>
              <a:rPr lang="en-US" sz="1200" i="1" dirty="0"/>
              <a:t> Clinical Pharmacology </a:t>
            </a:r>
            <a:r>
              <a:rPr lang="en-US" sz="1200" dirty="0">
                <a:hlinkClick r:id="rId3"/>
              </a:rPr>
              <a:t>37(3):p 319-327, July–September 2021.</a:t>
            </a:r>
            <a:r>
              <a:rPr lang="en-US" sz="1200" dirty="0"/>
              <a:t> | </a:t>
            </a:r>
            <a:r>
              <a:rPr lang="en-US" sz="1200" i="1" dirty="0"/>
              <a:t>DOI: </a:t>
            </a:r>
            <a:r>
              <a:rPr lang="en-US" sz="1200" dirty="0"/>
              <a:t>10.4103/joacp.JOACP_315_19</a:t>
            </a:r>
          </a:p>
          <a:p>
            <a:r>
              <a:rPr lang="en-US" sz="1200" cap="all" dirty="0"/>
              <a:t>OPEN</a:t>
            </a:r>
            <a:endParaRPr lang="en-US" sz="1200" cap="all" dirty="0"/>
          </a:p>
        </p:txBody>
      </p:sp>
    </p:spTree>
    <p:extLst>
      <p:ext uri="{BB962C8B-B14F-4D97-AF65-F5344CB8AC3E}">
        <p14:creationId xmlns:p14="http://schemas.microsoft.com/office/powerpoint/2010/main" val="3026617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stretch>
            <a:fillRect/>
          </a:stretch>
        </p:blipFill>
        <p:spPr bwMode="auto">
          <a:xfrm>
            <a:off x="1642118" y="2096257"/>
            <a:ext cx="6432936" cy="4253027"/>
          </a:xfrm>
          <a:prstGeom prst="rect">
            <a:avLst/>
          </a:prstGeom>
          <a:noFill/>
          <a:ln w="9525">
            <a:noFill/>
            <a:miter lim="800000"/>
            <a:headEnd/>
            <a:tailEnd/>
          </a:ln>
          <a:effectLst/>
        </p:spPr>
      </p:pic>
    </p:spTree>
    <p:extLst>
      <p:ext uri="{BB962C8B-B14F-4D97-AF65-F5344CB8AC3E}">
        <p14:creationId xmlns:p14="http://schemas.microsoft.com/office/powerpoint/2010/main" val="1173468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200" b="1" u="sng" dirty="0"/>
              <a:t>Nerve Supply to the face </a:t>
            </a:r>
            <a:endParaRPr lang="en-US" sz="3200" dirty="0"/>
          </a:p>
          <a:p>
            <a:pPr marL="0" indent="0">
              <a:buNone/>
            </a:pPr>
            <a:r>
              <a:rPr lang="en-US" sz="3200" dirty="0"/>
              <a:t>     .  </a:t>
            </a:r>
            <a:r>
              <a:rPr lang="en-US" sz="3200" dirty="0" err="1"/>
              <a:t>Trigiminal</a:t>
            </a:r>
            <a:r>
              <a:rPr lang="en-US" sz="3200" dirty="0"/>
              <a:t> nerve</a:t>
            </a:r>
          </a:p>
          <a:p>
            <a:r>
              <a:rPr lang="en-US" sz="3200" dirty="0"/>
              <a:t>               -  1</a:t>
            </a:r>
            <a:r>
              <a:rPr lang="en-US" sz="3200" baseline="30000" dirty="0"/>
              <a:t>st</a:t>
            </a:r>
            <a:r>
              <a:rPr lang="en-US" sz="3200" dirty="0"/>
              <a:t> division - Ophthalmic</a:t>
            </a:r>
          </a:p>
          <a:p>
            <a:r>
              <a:rPr lang="en-US" sz="3200" dirty="0"/>
              <a:t>               -  2</a:t>
            </a:r>
            <a:r>
              <a:rPr lang="en-US" sz="3200" baseline="30000" dirty="0"/>
              <a:t>nd   </a:t>
            </a:r>
            <a:r>
              <a:rPr lang="en-US" sz="3200" dirty="0"/>
              <a:t>  "       -  Maxillary</a:t>
            </a:r>
          </a:p>
          <a:p>
            <a:r>
              <a:rPr lang="en-US" sz="3200" dirty="0"/>
              <a:t>               -  3</a:t>
            </a:r>
            <a:r>
              <a:rPr lang="en-US" sz="3200" baseline="30000" dirty="0"/>
              <a:t>rd </a:t>
            </a:r>
            <a:r>
              <a:rPr lang="en-US" sz="3200" dirty="0"/>
              <a:t>     "       -  Mandibular</a:t>
            </a:r>
          </a:p>
          <a:p>
            <a:pPr marL="0" indent="0">
              <a:buNone/>
            </a:pPr>
            <a:endParaRPr lang="en-US" sz="3200" dirty="0"/>
          </a:p>
        </p:txBody>
      </p:sp>
    </p:spTree>
    <p:extLst>
      <p:ext uri="{BB962C8B-B14F-4D97-AF65-F5344CB8AC3E}">
        <p14:creationId xmlns:p14="http://schemas.microsoft.com/office/powerpoint/2010/main" val="926532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3200" b="1" u="sng" dirty="0"/>
              <a:t>Blood supply to the face</a:t>
            </a:r>
            <a:r>
              <a:rPr lang="en-US" sz="3200" dirty="0"/>
              <a:t>    </a:t>
            </a:r>
          </a:p>
          <a:p>
            <a:r>
              <a:rPr lang="en-US" sz="3200" dirty="0"/>
              <a:t>     .  External carotid artery</a:t>
            </a:r>
          </a:p>
          <a:p>
            <a:r>
              <a:rPr lang="en-US" sz="3200" dirty="0"/>
              <a:t>        </a:t>
            </a:r>
            <a:r>
              <a:rPr lang="en-US" sz="3200" u="sng" dirty="0"/>
              <a:t>branches include</a:t>
            </a:r>
            <a:endParaRPr lang="en-US" sz="3200" dirty="0"/>
          </a:p>
          <a:p>
            <a:pPr marL="0" indent="0">
              <a:buNone/>
            </a:pPr>
            <a:r>
              <a:rPr lang="en-US" sz="3200" dirty="0"/>
              <a:t>    .  lingual ,facial, internal maxillary &amp;superficial temporal</a:t>
            </a:r>
          </a:p>
          <a:p>
            <a:pPr marL="0" indent="0">
              <a:buNone/>
            </a:pPr>
            <a:r>
              <a:rPr lang="en-US" sz="3200" dirty="0"/>
              <a:t> </a:t>
            </a:r>
          </a:p>
          <a:p>
            <a:endParaRPr lang="en-US" sz="3200" dirty="0"/>
          </a:p>
          <a:p>
            <a:endParaRPr lang="en-US" dirty="0"/>
          </a:p>
        </p:txBody>
      </p:sp>
    </p:spTree>
    <p:extLst>
      <p:ext uri="{BB962C8B-B14F-4D97-AF65-F5344CB8AC3E}">
        <p14:creationId xmlns:p14="http://schemas.microsoft.com/office/powerpoint/2010/main" val="2430519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Etiologic factors </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a:solidFill>
                  <a:srgbClr val="FF0000"/>
                </a:solidFill>
              </a:rPr>
              <a:t>Differs from one </a:t>
            </a:r>
            <a:r>
              <a:rPr lang="en-US" sz="3200" u="sng" dirty="0">
                <a:solidFill>
                  <a:srgbClr val="FF0000"/>
                </a:solidFill>
              </a:rPr>
              <a:t>locality to the other</a:t>
            </a:r>
            <a:r>
              <a:rPr lang="en-US" sz="3200" dirty="0">
                <a:solidFill>
                  <a:srgbClr val="FF0000"/>
                </a:solidFill>
              </a:rPr>
              <a:t> depending on:-</a:t>
            </a:r>
          </a:p>
          <a:p>
            <a:r>
              <a:rPr lang="en-US" sz="3200" dirty="0"/>
              <a:t>a)  Socio economic characteristics</a:t>
            </a:r>
          </a:p>
          <a:p>
            <a:r>
              <a:rPr lang="en-US" sz="3200" dirty="0"/>
              <a:t>b)  Cultural background</a:t>
            </a:r>
          </a:p>
          <a:p>
            <a:r>
              <a:rPr lang="en-US" sz="3200" dirty="0"/>
              <a:t>c)  Degree of urbanization</a:t>
            </a:r>
          </a:p>
          <a:p>
            <a:r>
              <a:rPr lang="en-US" sz="3200" dirty="0"/>
              <a:t>d)  Existing traffic regulation and laws</a:t>
            </a:r>
          </a:p>
          <a:p>
            <a:r>
              <a:rPr lang="en-US" sz="3200" dirty="0"/>
              <a:t>e)  Extent of alcohol and drug consumption</a:t>
            </a:r>
            <a:endParaRPr lang="en-US" sz="3200" dirty="0"/>
          </a:p>
        </p:txBody>
      </p:sp>
    </p:spTree>
    <p:extLst>
      <p:ext uri="{BB962C8B-B14F-4D97-AF65-F5344CB8AC3E}">
        <p14:creationId xmlns:p14="http://schemas.microsoft.com/office/powerpoint/2010/main" val="2346663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According to WHO, </a:t>
            </a:r>
            <a:r>
              <a:rPr lang="en-US" sz="3200" dirty="0">
                <a:solidFill>
                  <a:srgbClr val="FF0000"/>
                </a:solidFill>
              </a:rPr>
              <a:t>injuries contribute to 9% of the global mortality. </a:t>
            </a:r>
            <a:r>
              <a:rPr lang="en-US" sz="3200" dirty="0"/>
              <a:t>Etiology of maxillofacial trauma varies with the geographical location and socioeconomic culture. Assaults and road traffic accidents are the most frequent causes of facial trauma in developed and developing countries, respectively. </a:t>
            </a:r>
            <a:r>
              <a:rPr lang="en-US" sz="3200" dirty="0">
                <a:solidFill>
                  <a:srgbClr val="FF0000"/>
                </a:solidFill>
              </a:rPr>
              <a:t>By 2020, trauma has become the third-largest cause for mortality in the developing world. </a:t>
            </a:r>
          </a:p>
          <a:p>
            <a:r>
              <a:rPr lang="en-US" sz="2400" dirty="0"/>
              <a:t>.</a:t>
            </a:r>
            <a:endParaRPr lang="en-US" sz="2400" dirty="0"/>
          </a:p>
        </p:txBody>
      </p:sp>
    </p:spTree>
    <p:extLst>
      <p:ext uri="{BB962C8B-B14F-4D97-AF65-F5344CB8AC3E}">
        <p14:creationId xmlns:p14="http://schemas.microsoft.com/office/powerpoint/2010/main" val="326162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solidFill>
                  <a:srgbClr val="FF0000"/>
                </a:solidFill>
              </a:rPr>
              <a:t>The growing number of vehicles on roads, inadequate infrastructure, low compliance of traffic rules, and increasing interpersonal violence </a:t>
            </a:r>
            <a:r>
              <a:rPr lang="en-US" sz="3200" dirty="0"/>
              <a:t>have significantly increased maxillofacial trauma Sports-related injuries and industrial accidents are other causes of such injuries</a:t>
            </a:r>
            <a:r>
              <a:rPr lang="en-US" sz="2400" dirty="0"/>
              <a:t>.</a:t>
            </a:r>
            <a:endParaRPr lang="en-US" sz="2400" dirty="0"/>
          </a:p>
        </p:txBody>
      </p:sp>
    </p:spTree>
    <p:extLst>
      <p:ext uri="{BB962C8B-B14F-4D97-AF65-F5344CB8AC3E}">
        <p14:creationId xmlns:p14="http://schemas.microsoft.com/office/powerpoint/2010/main" val="2535044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b="1" u="sng" dirty="0"/>
              <a:t>Direct causes </a:t>
            </a:r>
            <a:r>
              <a:rPr lang="en-US" sz="3200" dirty="0"/>
              <a:t>→ accidents (motor gunshot)</a:t>
            </a:r>
          </a:p>
          <a:p>
            <a:pPr marL="0" indent="0">
              <a:buNone/>
            </a:pPr>
            <a:r>
              <a:rPr lang="en-US" sz="3200" dirty="0"/>
              <a:t>                        → Interpersonal violence</a:t>
            </a:r>
          </a:p>
          <a:p>
            <a:r>
              <a:rPr lang="en-US" sz="3200" dirty="0"/>
              <a:t>.  Non motorized vehicle</a:t>
            </a:r>
          </a:p>
          <a:p>
            <a:r>
              <a:rPr lang="en-US" sz="3200" dirty="0"/>
              <a:t>.  Pedestrian accident</a:t>
            </a:r>
          </a:p>
          <a:p>
            <a:r>
              <a:rPr lang="en-US" sz="3200" dirty="0"/>
              <a:t> Road traffic accident </a:t>
            </a:r>
          </a:p>
          <a:p>
            <a:r>
              <a:rPr lang="en-US" sz="3200" dirty="0"/>
              <a:t> Industrial thermal farm trauma</a:t>
            </a:r>
            <a:endParaRPr lang="en-US" sz="3200" dirty="0"/>
          </a:p>
        </p:txBody>
      </p:sp>
    </p:spTree>
    <p:extLst>
      <p:ext uri="{BB962C8B-B14F-4D97-AF65-F5344CB8AC3E}">
        <p14:creationId xmlns:p14="http://schemas.microsoft.com/office/powerpoint/2010/main" val="2138067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Relevant anatomy </a:t>
            </a:r>
            <a:endParaRPr lang="en-US" dirty="0"/>
          </a:p>
        </p:txBody>
      </p:sp>
      <p:sp>
        <p:nvSpPr>
          <p:cNvPr id="3" name="Content Placeholder 2"/>
          <p:cNvSpPr>
            <a:spLocks noGrp="1"/>
          </p:cNvSpPr>
          <p:nvPr>
            <p:ph idx="1"/>
          </p:nvPr>
        </p:nvSpPr>
        <p:spPr/>
        <p:txBody>
          <a:bodyPr>
            <a:normAutofit fontScale="92500"/>
          </a:bodyPr>
          <a:lstStyle/>
          <a:p>
            <a:r>
              <a:rPr lang="en-US" sz="2800" dirty="0"/>
              <a:t>The human skull is divided into two major parts:</a:t>
            </a:r>
          </a:p>
          <a:p>
            <a:pPr lvl="0"/>
            <a:r>
              <a:rPr lang="en-US" sz="2800" dirty="0"/>
              <a:t>1.The </a:t>
            </a:r>
            <a:r>
              <a:rPr lang="en-US" sz="2800" dirty="0" err="1">
                <a:solidFill>
                  <a:srgbClr val="FF0000"/>
                </a:solidFill>
              </a:rPr>
              <a:t>calvaria</a:t>
            </a:r>
            <a:r>
              <a:rPr lang="en-US" sz="2800" dirty="0">
                <a:solidFill>
                  <a:srgbClr val="FF0000"/>
                </a:solidFill>
              </a:rPr>
              <a:t>,</a:t>
            </a:r>
            <a:r>
              <a:rPr lang="en-US" sz="2800" dirty="0"/>
              <a:t> which </a:t>
            </a:r>
            <a:r>
              <a:rPr lang="en-US" sz="2800" dirty="0">
                <a:solidFill>
                  <a:srgbClr val="FF0000"/>
                </a:solidFill>
              </a:rPr>
              <a:t>encloses and protects the brain</a:t>
            </a:r>
          </a:p>
          <a:p>
            <a:pPr lvl="0"/>
            <a:r>
              <a:rPr lang="en-US" sz="2800" dirty="0"/>
              <a:t>2.The </a:t>
            </a:r>
            <a:r>
              <a:rPr lang="en-US" sz="2800" dirty="0">
                <a:solidFill>
                  <a:srgbClr val="FF0000"/>
                </a:solidFill>
              </a:rPr>
              <a:t>facial skeleton</a:t>
            </a:r>
            <a:r>
              <a:rPr lang="en-US" sz="2800" dirty="0"/>
              <a:t>, which is further divided into three regions</a:t>
            </a:r>
          </a:p>
          <a:p>
            <a:pPr lvl="1"/>
            <a:r>
              <a:rPr lang="en-US" sz="2800" dirty="0">
                <a:solidFill>
                  <a:srgbClr val="FF0000"/>
                </a:solidFill>
              </a:rPr>
              <a:t>Upper face</a:t>
            </a:r>
            <a:r>
              <a:rPr lang="en-US" sz="2800" dirty="0"/>
              <a:t>: Upper third consists of the cranium, frontal bone, and </a:t>
            </a:r>
            <a:r>
              <a:rPr lang="en-US" sz="2800" dirty="0" err="1"/>
              <a:t>fronto</a:t>
            </a:r>
            <a:r>
              <a:rPr lang="en-US" sz="2800" dirty="0"/>
              <a:t>-zygomatic processes.</a:t>
            </a:r>
          </a:p>
          <a:p>
            <a:pPr lvl="1"/>
            <a:r>
              <a:rPr lang="en-US" sz="2800" dirty="0">
                <a:solidFill>
                  <a:srgbClr val="FF0000"/>
                </a:solidFill>
              </a:rPr>
              <a:t>Midface: </a:t>
            </a:r>
            <a:r>
              <a:rPr lang="en-US" sz="2800" dirty="0"/>
              <a:t>The middle third is composed of the maxilla, zygomatic, and ethmoid bones, and bony orbital and nasal complexes.</a:t>
            </a:r>
          </a:p>
          <a:p>
            <a:pPr lvl="1"/>
            <a:r>
              <a:rPr lang="en-US" sz="2800" dirty="0">
                <a:solidFill>
                  <a:srgbClr val="FF0000"/>
                </a:solidFill>
              </a:rPr>
              <a:t>Lower face: </a:t>
            </a:r>
            <a:r>
              <a:rPr lang="en-US" sz="2800" dirty="0"/>
              <a:t>The lower third consists of the mandible (body, ramus, condyles, and coronoid processes) and temporomandibular joint (TMJ</a:t>
            </a:r>
            <a:endParaRPr lang="en-US" dirty="0"/>
          </a:p>
        </p:txBody>
      </p:sp>
    </p:spTree>
    <p:extLst>
      <p:ext uri="{BB962C8B-B14F-4D97-AF65-F5344CB8AC3E}">
        <p14:creationId xmlns:p14="http://schemas.microsoft.com/office/powerpoint/2010/main" val="1153781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Pathophysiology </a:t>
            </a:r>
            <a:endParaRPr lang="en-US" dirty="0"/>
          </a:p>
        </p:txBody>
      </p:sp>
      <p:sp>
        <p:nvSpPr>
          <p:cNvPr id="3" name="Content Placeholder 2"/>
          <p:cNvSpPr>
            <a:spLocks noGrp="1"/>
          </p:cNvSpPr>
          <p:nvPr>
            <p:ph idx="1"/>
          </p:nvPr>
        </p:nvSpPr>
        <p:spPr/>
        <p:txBody>
          <a:bodyPr>
            <a:normAutofit/>
          </a:bodyPr>
          <a:lstStyle/>
          <a:p>
            <a:r>
              <a:rPr lang="en-US" sz="2800" dirty="0"/>
              <a:t>It is essential to know the mechanism of injury to assess the extent of damage and associated injuries. Maxillofacial injuries are caused by either </a:t>
            </a:r>
            <a:r>
              <a:rPr lang="en-US" sz="2800" dirty="0">
                <a:solidFill>
                  <a:srgbClr val="FF0000"/>
                </a:solidFill>
              </a:rPr>
              <a:t>blunt or penetrating trauma</a:t>
            </a:r>
            <a:r>
              <a:rPr lang="en-US" sz="2800" dirty="0"/>
              <a:t>. The </a:t>
            </a:r>
            <a:r>
              <a:rPr lang="en-US" sz="2800" dirty="0">
                <a:solidFill>
                  <a:srgbClr val="FF0000"/>
                </a:solidFill>
              </a:rPr>
              <a:t>dispersion of kinetic energy during deceleration of a moving object produces the force that results in injury. The force </a:t>
            </a:r>
            <a:r>
              <a:rPr lang="en-US" sz="2800" dirty="0"/>
              <a:t>generated is classified into high-impact or low-impact force depending on whether the force is greater or less than 50 times the force of gravity. </a:t>
            </a:r>
            <a:r>
              <a:rPr lang="en-US" sz="2800" dirty="0">
                <a:solidFill>
                  <a:srgbClr val="FF0000"/>
                </a:solidFill>
              </a:rPr>
              <a:t>High-impact injuries cause pan facial fractures and may result in the compromised airway. Low-impact injuries affect the nasal bone and </a:t>
            </a:r>
            <a:r>
              <a:rPr lang="en-US" sz="2800" dirty="0" err="1">
                <a:solidFill>
                  <a:srgbClr val="FF0000"/>
                </a:solidFill>
              </a:rPr>
              <a:t>zygoma</a:t>
            </a:r>
            <a:r>
              <a:rPr lang="en-US" sz="2800" dirty="0">
                <a:solidFill>
                  <a:srgbClr val="FF0000"/>
                </a:solidFill>
              </a:rPr>
              <a:t> and do not usually compromise the airway</a:t>
            </a:r>
            <a:r>
              <a:rPr lang="en-US" sz="2800" dirty="0"/>
              <a:t>.</a:t>
            </a:r>
            <a:endParaRPr lang="en-US" sz="2800" dirty="0"/>
          </a:p>
        </p:txBody>
      </p:sp>
    </p:spTree>
    <p:extLst>
      <p:ext uri="{BB962C8B-B14F-4D97-AF65-F5344CB8AC3E}">
        <p14:creationId xmlns:p14="http://schemas.microsoft.com/office/powerpoint/2010/main" val="589335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Mechanism of injury </a:t>
            </a:r>
            <a:endParaRPr lang="en-US" dirty="0"/>
          </a:p>
        </p:txBody>
      </p:sp>
      <p:sp>
        <p:nvSpPr>
          <p:cNvPr id="3" name="Content Placeholder 2"/>
          <p:cNvSpPr>
            <a:spLocks noGrp="1"/>
          </p:cNvSpPr>
          <p:nvPr>
            <p:ph idx="1"/>
          </p:nvPr>
        </p:nvSpPr>
        <p:spPr/>
        <p:txBody>
          <a:bodyPr>
            <a:normAutofit/>
          </a:bodyPr>
          <a:lstStyle/>
          <a:p>
            <a:r>
              <a:rPr lang="en-US" sz="3200" dirty="0"/>
              <a:t>It is essential to know the mechanism of injury to assess the extent of damage and associated injuries. Maxillofacial injuries are caused by either </a:t>
            </a:r>
            <a:r>
              <a:rPr lang="en-US" sz="3200" dirty="0">
                <a:solidFill>
                  <a:srgbClr val="FF0000"/>
                </a:solidFill>
              </a:rPr>
              <a:t>blunt or penetrating trauma</a:t>
            </a:r>
            <a:r>
              <a:rPr lang="en-US" sz="3200" dirty="0"/>
              <a:t>. </a:t>
            </a:r>
            <a:r>
              <a:rPr lang="en-US" sz="3200" dirty="0">
                <a:solidFill>
                  <a:srgbClr val="FF0000"/>
                </a:solidFill>
              </a:rPr>
              <a:t>The dispersion of kinetic energy during deceleration of a moving object produces the force that results in injury. </a:t>
            </a:r>
            <a:endParaRPr lang="en-US" sz="3200" dirty="0">
              <a:solidFill>
                <a:srgbClr val="FF0000"/>
              </a:solidFill>
            </a:endParaRPr>
          </a:p>
        </p:txBody>
      </p:sp>
    </p:spTree>
    <p:extLst>
      <p:ext uri="{BB962C8B-B14F-4D97-AF65-F5344CB8AC3E}">
        <p14:creationId xmlns:p14="http://schemas.microsoft.com/office/powerpoint/2010/main" val="4272716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Classifications </a:t>
            </a:r>
            <a:endParaRPr lang="en-US" dirty="0"/>
          </a:p>
        </p:txBody>
      </p:sp>
      <p:sp>
        <p:nvSpPr>
          <p:cNvPr id="3" name="Content Placeholder 2"/>
          <p:cNvSpPr>
            <a:spLocks noGrp="1"/>
          </p:cNvSpPr>
          <p:nvPr>
            <p:ph idx="1"/>
          </p:nvPr>
        </p:nvSpPr>
        <p:spPr/>
        <p:txBody>
          <a:bodyPr>
            <a:noAutofit/>
          </a:bodyPr>
          <a:lstStyle/>
          <a:p>
            <a:r>
              <a:rPr lang="en-US" sz="3200" dirty="0"/>
              <a:t>Maxillofacial trauma Bony injuries are classified according to the part of the face involved:</a:t>
            </a:r>
          </a:p>
          <a:p>
            <a:r>
              <a:rPr lang="en-US" sz="3200" dirty="0">
                <a:solidFill>
                  <a:srgbClr val="FF0000"/>
                </a:solidFill>
              </a:rPr>
              <a:t>Upper face fractures</a:t>
            </a:r>
            <a:r>
              <a:rPr lang="en-US" sz="3200" dirty="0"/>
              <a:t>: Fractures involving the frontal bone and sinuses. One-third of the patients with </a:t>
            </a:r>
            <a:r>
              <a:rPr lang="en-US" sz="3200" dirty="0">
                <a:solidFill>
                  <a:srgbClr val="FF0000"/>
                </a:solidFill>
              </a:rPr>
              <a:t>frontal sinus </a:t>
            </a:r>
            <a:r>
              <a:rPr lang="en-US" sz="3200" dirty="0"/>
              <a:t>fracture may have associated </a:t>
            </a:r>
            <a:r>
              <a:rPr lang="en-US" sz="3200" dirty="0" err="1">
                <a:solidFill>
                  <a:srgbClr val="FF0000"/>
                </a:solidFill>
              </a:rPr>
              <a:t>dural</a:t>
            </a:r>
            <a:r>
              <a:rPr lang="en-US" sz="3200" dirty="0">
                <a:solidFill>
                  <a:srgbClr val="FF0000"/>
                </a:solidFill>
              </a:rPr>
              <a:t> tear</a:t>
            </a:r>
            <a:r>
              <a:rPr lang="en-US" sz="3200" dirty="0"/>
              <a:t>.</a:t>
            </a:r>
          </a:p>
          <a:p>
            <a:r>
              <a:rPr lang="en-US" sz="3200" dirty="0">
                <a:solidFill>
                  <a:srgbClr val="FF0000"/>
                </a:solidFill>
              </a:rPr>
              <a:t>Midface fractures: </a:t>
            </a:r>
            <a:r>
              <a:rPr lang="en-US" sz="3200" dirty="0"/>
              <a:t>Fractures involving nasal bones, orbital floor, </a:t>
            </a:r>
            <a:r>
              <a:rPr lang="en-US" sz="3200" dirty="0" err="1"/>
              <a:t>naso</a:t>
            </a:r>
            <a:r>
              <a:rPr lang="en-US" sz="3200" dirty="0"/>
              <a:t>-ethmoid, zygomatic arch, and maxilla.</a:t>
            </a:r>
          </a:p>
          <a:p>
            <a:r>
              <a:rPr lang="en-US" sz="3200" dirty="0"/>
              <a:t>Le Fort described three patterns of maxillary fractures</a:t>
            </a:r>
            <a:endParaRPr lang="en-US" sz="3200" dirty="0"/>
          </a:p>
        </p:txBody>
      </p:sp>
    </p:spTree>
    <p:extLst>
      <p:ext uri="{BB962C8B-B14F-4D97-AF65-F5344CB8AC3E}">
        <p14:creationId xmlns:p14="http://schemas.microsoft.com/office/powerpoint/2010/main" val="2951294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1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035969" y="2616200"/>
            <a:ext cx="7696200" cy="3362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576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Midface fracture </a:t>
            </a:r>
            <a:endParaRPr lang="en-US" dirty="0"/>
          </a:p>
        </p:txBody>
      </p:sp>
      <p:sp>
        <p:nvSpPr>
          <p:cNvPr id="3" name="Content Placeholder 2"/>
          <p:cNvSpPr>
            <a:spLocks noGrp="1"/>
          </p:cNvSpPr>
          <p:nvPr>
            <p:ph idx="1"/>
          </p:nvPr>
        </p:nvSpPr>
        <p:spPr/>
        <p:txBody>
          <a:bodyPr>
            <a:normAutofit/>
          </a:bodyPr>
          <a:lstStyle/>
          <a:p>
            <a:r>
              <a:rPr lang="en-US" sz="3200" dirty="0"/>
              <a:t>Le Fort I: a horizontal fracture across the inferior aspect of maxilla separating the </a:t>
            </a:r>
            <a:r>
              <a:rPr lang="en-US" sz="3200" dirty="0">
                <a:solidFill>
                  <a:srgbClr val="FF0000"/>
                </a:solidFill>
              </a:rPr>
              <a:t>maxillary alveolus from the midface.</a:t>
            </a:r>
          </a:p>
          <a:p>
            <a:r>
              <a:rPr lang="en-US" sz="3200" dirty="0"/>
              <a:t>Le Fort II: a pyramidal or triangular fracture that separates the </a:t>
            </a:r>
            <a:r>
              <a:rPr lang="en-US" sz="3200" dirty="0">
                <a:solidFill>
                  <a:srgbClr val="FF0000"/>
                </a:solidFill>
              </a:rPr>
              <a:t>maxilla and medial orbit from the zygomatic arch and the skull.</a:t>
            </a:r>
            <a:endParaRPr lang="en-US" sz="3200" dirty="0">
              <a:solidFill>
                <a:srgbClr val="FF0000"/>
              </a:solidFill>
            </a:endParaRPr>
          </a:p>
        </p:txBody>
      </p:sp>
    </p:spTree>
    <p:extLst>
      <p:ext uri="{BB962C8B-B14F-4D97-AF65-F5344CB8AC3E}">
        <p14:creationId xmlns:p14="http://schemas.microsoft.com/office/powerpoint/2010/main" val="1593070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solidFill>
                  <a:srgbClr val="FF0000"/>
                </a:solidFill>
              </a:rPr>
              <a:t>Le Fort III: </a:t>
            </a:r>
            <a:r>
              <a:rPr lang="en-US" sz="3200" dirty="0"/>
              <a:t>fracture line extends parallel to the skull base. There is complete separation of the facial skeleton from the cranium suspended only by soft tissues and characterized by “dish-face” deformity. They are frequently associated with damage to </a:t>
            </a:r>
            <a:r>
              <a:rPr lang="en-US" sz="3200" dirty="0">
                <a:solidFill>
                  <a:srgbClr val="FF0000"/>
                </a:solidFill>
              </a:rPr>
              <a:t>cribriform plate, skull fracture, and </a:t>
            </a:r>
            <a:r>
              <a:rPr lang="en-US" sz="3200" dirty="0" err="1">
                <a:solidFill>
                  <a:srgbClr val="FF0000"/>
                </a:solidFill>
              </a:rPr>
              <a:t>dural</a:t>
            </a:r>
            <a:r>
              <a:rPr lang="en-US" sz="3200" dirty="0">
                <a:solidFill>
                  <a:srgbClr val="FF0000"/>
                </a:solidFill>
              </a:rPr>
              <a:t> tears.</a:t>
            </a:r>
          </a:p>
          <a:p>
            <a:endParaRPr lang="en-US" sz="3200" dirty="0"/>
          </a:p>
        </p:txBody>
      </p:sp>
    </p:spTree>
    <p:extLst>
      <p:ext uri="{BB962C8B-B14F-4D97-AF65-F5344CB8AC3E}">
        <p14:creationId xmlns:p14="http://schemas.microsoft.com/office/powerpoint/2010/main" val="3737415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Complications of maxillofacial injury </a:t>
            </a:r>
            <a:endParaRPr lang="en-US" dirty="0"/>
          </a:p>
        </p:txBody>
      </p:sp>
      <p:sp>
        <p:nvSpPr>
          <p:cNvPr id="3" name="Content Placeholder 2"/>
          <p:cNvSpPr>
            <a:spLocks noGrp="1"/>
          </p:cNvSpPr>
          <p:nvPr>
            <p:ph idx="1"/>
          </p:nvPr>
        </p:nvSpPr>
        <p:spPr/>
        <p:txBody>
          <a:bodyPr>
            <a:normAutofit/>
          </a:bodyPr>
          <a:lstStyle/>
          <a:p>
            <a:r>
              <a:rPr lang="en-US" sz="3200" dirty="0"/>
              <a:t>a)  </a:t>
            </a:r>
            <a:r>
              <a:rPr lang="en-US" sz="3200" dirty="0">
                <a:solidFill>
                  <a:srgbClr val="FF0000"/>
                </a:solidFill>
              </a:rPr>
              <a:t>Airway obstructions, aspiration, hemorrhage nerve damage </a:t>
            </a:r>
            <a:r>
              <a:rPr lang="en-US" sz="3200" dirty="0"/>
              <a:t>facial deformity infection &amp;scar</a:t>
            </a:r>
          </a:p>
          <a:p>
            <a:r>
              <a:rPr lang="en-US" sz="3200" dirty="0"/>
              <a:t>b)  Rhino rhea and </a:t>
            </a:r>
            <a:r>
              <a:rPr lang="en-US" sz="3200" dirty="0" err="1"/>
              <a:t>otorhea</a:t>
            </a:r>
            <a:endParaRPr lang="en-US" sz="3200" dirty="0"/>
          </a:p>
          <a:p>
            <a:r>
              <a:rPr lang="en-US" sz="3200" dirty="0"/>
              <a:t>c</a:t>
            </a:r>
            <a:r>
              <a:rPr lang="en-US" sz="3200" dirty="0">
                <a:solidFill>
                  <a:srgbClr val="FF0000"/>
                </a:solidFill>
              </a:rPr>
              <a:t>)  </a:t>
            </a:r>
            <a:r>
              <a:rPr lang="en-US" sz="3200" dirty="0" err="1">
                <a:solidFill>
                  <a:srgbClr val="FF0000"/>
                </a:solidFill>
              </a:rPr>
              <a:t>Laryngo</a:t>
            </a:r>
            <a:r>
              <a:rPr lang="en-US" sz="3200" dirty="0">
                <a:solidFill>
                  <a:srgbClr val="FF0000"/>
                </a:solidFill>
              </a:rPr>
              <a:t> tracheal injury, bilateral fracture of mandible </a:t>
            </a:r>
            <a:r>
              <a:rPr lang="en-US" sz="3200" dirty="0" err="1">
                <a:solidFill>
                  <a:srgbClr val="FF0000"/>
                </a:solidFill>
              </a:rPr>
              <a:t>mylohoid</a:t>
            </a:r>
            <a:r>
              <a:rPr lang="en-US" sz="3200" dirty="0">
                <a:solidFill>
                  <a:srgbClr val="FF0000"/>
                </a:solidFill>
              </a:rPr>
              <a:t> </a:t>
            </a:r>
            <a:r>
              <a:rPr lang="en-US" sz="3200" dirty="0"/>
              <a:t>muscle pushing tongue up to palate and cause obstruction</a:t>
            </a:r>
          </a:p>
          <a:p>
            <a:endParaRPr lang="en-US" sz="3200" b="1" dirty="0"/>
          </a:p>
        </p:txBody>
      </p:sp>
    </p:spTree>
    <p:extLst>
      <p:ext uri="{BB962C8B-B14F-4D97-AF65-F5344CB8AC3E}">
        <p14:creationId xmlns:p14="http://schemas.microsoft.com/office/powerpoint/2010/main" val="2217985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b="1" dirty="0">
                <a:solidFill>
                  <a:srgbClr val="FF0000"/>
                </a:solidFill>
              </a:rPr>
              <a:t>Head and cervical injury</a:t>
            </a:r>
            <a:r>
              <a:rPr lang="en-US" sz="2800" b="1" dirty="0"/>
              <a:t> </a:t>
            </a:r>
          </a:p>
          <a:p>
            <a:r>
              <a:rPr lang="en-US" sz="2800" b="1" dirty="0" smtClean="0"/>
              <a:t> </a:t>
            </a:r>
            <a:r>
              <a:rPr lang="en-US" sz="2800" b="1" dirty="0"/>
              <a:t>Principal cause </a:t>
            </a:r>
            <a:r>
              <a:rPr lang="en-US" sz="2800" dirty="0"/>
              <a:t>of Death is </a:t>
            </a:r>
            <a:r>
              <a:rPr lang="en-US" sz="2800" b="1" dirty="0">
                <a:solidFill>
                  <a:srgbClr val="FF0000"/>
                </a:solidFill>
              </a:rPr>
              <a:t>Hypoxia </a:t>
            </a:r>
            <a:r>
              <a:rPr lang="en-US" sz="2800" b="1" dirty="0"/>
              <a:t>due to combination of head injury and massive </a:t>
            </a:r>
          </a:p>
          <a:p>
            <a:pPr>
              <a:buNone/>
            </a:pPr>
            <a:r>
              <a:rPr lang="en-US" sz="2800" b="1" dirty="0"/>
              <a:t>   </a:t>
            </a:r>
            <a:r>
              <a:rPr lang="en-US" sz="2800" b="1" dirty="0">
                <a:solidFill>
                  <a:srgbClr val="FF0000"/>
                </a:solidFill>
              </a:rPr>
              <a:t>blood aspiration</a:t>
            </a:r>
          </a:p>
          <a:p>
            <a:r>
              <a:rPr lang="en-US" sz="2800" dirty="0" err="1">
                <a:solidFill>
                  <a:srgbClr val="FF0000"/>
                </a:solidFill>
              </a:rPr>
              <a:t>E.Thoraco</a:t>
            </a:r>
            <a:r>
              <a:rPr lang="en-US" sz="2800" dirty="0">
                <a:solidFill>
                  <a:srgbClr val="FF0000"/>
                </a:solidFill>
              </a:rPr>
              <a:t> abdominal injury </a:t>
            </a:r>
          </a:p>
          <a:p>
            <a:r>
              <a:rPr lang="en-US" sz="2800" dirty="0"/>
              <a:t>Neurologic factors</a:t>
            </a:r>
          </a:p>
          <a:p>
            <a:r>
              <a:rPr lang="en-US" sz="2800" dirty="0" err="1"/>
              <a:t>F.</a:t>
            </a:r>
            <a:r>
              <a:rPr lang="en-US" sz="2800" dirty="0" err="1">
                <a:solidFill>
                  <a:srgbClr val="FF0000"/>
                </a:solidFill>
              </a:rPr>
              <a:t>Death</a:t>
            </a:r>
            <a:r>
              <a:rPr lang="en-US" sz="2800" dirty="0"/>
              <a:t> </a:t>
            </a:r>
            <a:endParaRPr lang="en-US" sz="2800" dirty="0"/>
          </a:p>
        </p:txBody>
      </p:sp>
    </p:spTree>
    <p:extLst>
      <p:ext uri="{BB962C8B-B14F-4D97-AF65-F5344CB8AC3E}">
        <p14:creationId xmlns:p14="http://schemas.microsoft.com/office/powerpoint/2010/main" val="2684606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Maxillofacial trauma may be associated with the following complications:</a:t>
            </a:r>
          </a:p>
          <a:p>
            <a:pPr lvl="0"/>
            <a:r>
              <a:rPr lang="en-US" sz="3200" dirty="0"/>
              <a:t>Airway compromise</a:t>
            </a:r>
          </a:p>
          <a:p>
            <a:pPr lvl="0"/>
            <a:r>
              <a:rPr lang="en-US" sz="3200" dirty="0"/>
              <a:t>Hemorrhage</a:t>
            </a:r>
          </a:p>
          <a:p>
            <a:pPr lvl="0"/>
            <a:r>
              <a:rPr lang="en-US" sz="3200" dirty="0" err="1"/>
              <a:t>Trismus</a:t>
            </a:r>
            <a:endParaRPr lang="en-US" sz="3200" dirty="0"/>
          </a:p>
          <a:p>
            <a:endParaRPr lang="en-US" dirty="0"/>
          </a:p>
        </p:txBody>
      </p:sp>
    </p:spTree>
    <p:extLst>
      <p:ext uri="{BB962C8B-B14F-4D97-AF65-F5344CB8AC3E}">
        <p14:creationId xmlns:p14="http://schemas.microsoft.com/office/powerpoint/2010/main" val="2259792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sz="3200" dirty="0"/>
              <a:t>Cervical spine injury</a:t>
            </a:r>
          </a:p>
          <a:p>
            <a:pPr lvl="0"/>
            <a:r>
              <a:rPr lang="en-US" sz="3200" dirty="0" err="1"/>
              <a:t>Pneumoencephalus</a:t>
            </a:r>
            <a:endParaRPr lang="en-US" sz="3200" dirty="0"/>
          </a:p>
          <a:p>
            <a:pPr lvl="0"/>
            <a:r>
              <a:rPr lang="en-US" sz="3200" dirty="0"/>
              <a:t>Injury to esophagus</a:t>
            </a:r>
          </a:p>
          <a:p>
            <a:pPr lvl="0"/>
            <a:r>
              <a:rPr lang="en-US" sz="3200" dirty="0"/>
              <a:t>Subcutaneous emphysema and </a:t>
            </a:r>
            <a:r>
              <a:rPr lang="en-US" sz="3200" dirty="0" err="1"/>
              <a:t>pneumomediastinum</a:t>
            </a:r>
            <a:endParaRPr lang="en-US" sz="3200" dirty="0"/>
          </a:p>
          <a:p>
            <a:endParaRPr lang="en-US" dirty="0"/>
          </a:p>
        </p:txBody>
      </p:sp>
    </p:spTree>
    <p:extLst>
      <p:ext uri="{BB962C8B-B14F-4D97-AF65-F5344CB8AC3E}">
        <p14:creationId xmlns:p14="http://schemas.microsoft.com/office/powerpoint/2010/main" val="125604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causes of death </a:t>
            </a:r>
            <a:endParaRPr lang="en-US" dirty="0"/>
          </a:p>
        </p:txBody>
      </p:sp>
      <p:sp>
        <p:nvSpPr>
          <p:cNvPr id="3" name="Content Placeholder 2"/>
          <p:cNvSpPr>
            <a:spLocks noGrp="1"/>
          </p:cNvSpPr>
          <p:nvPr>
            <p:ph idx="1"/>
          </p:nvPr>
        </p:nvSpPr>
        <p:spPr/>
        <p:txBody>
          <a:bodyPr>
            <a:normAutofit/>
          </a:bodyPr>
          <a:lstStyle/>
          <a:p>
            <a:r>
              <a:rPr lang="en-US" sz="3200" dirty="0"/>
              <a:t>Head injury </a:t>
            </a:r>
          </a:p>
          <a:p>
            <a:r>
              <a:rPr lang="en-US" sz="3200" dirty="0"/>
              <a:t>Hypoxia </a:t>
            </a:r>
          </a:p>
          <a:p>
            <a:r>
              <a:rPr lang="en-US" sz="3200" dirty="0"/>
              <a:t>Combination of both </a:t>
            </a:r>
          </a:p>
          <a:p>
            <a:r>
              <a:rPr lang="en-US" sz="3200" dirty="0"/>
              <a:t>Bleeding </a:t>
            </a:r>
            <a:endParaRPr lang="en-US" sz="3200" dirty="0"/>
          </a:p>
        </p:txBody>
      </p:sp>
    </p:spTree>
    <p:extLst>
      <p:ext uri="{BB962C8B-B14F-4D97-AF65-F5344CB8AC3E}">
        <p14:creationId xmlns:p14="http://schemas.microsoft.com/office/powerpoint/2010/main" val="3185366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Emergency management </a:t>
            </a:r>
            <a:endParaRPr lang="en-US" dirty="0"/>
          </a:p>
        </p:txBody>
      </p:sp>
      <p:sp>
        <p:nvSpPr>
          <p:cNvPr id="3" name="Content Placeholder 2"/>
          <p:cNvSpPr>
            <a:spLocks noGrp="1"/>
          </p:cNvSpPr>
          <p:nvPr>
            <p:ph idx="1"/>
          </p:nvPr>
        </p:nvSpPr>
        <p:spPr/>
        <p:txBody>
          <a:bodyPr>
            <a:normAutofit/>
          </a:bodyPr>
          <a:lstStyle/>
          <a:p>
            <a:r>
              <a:rPr lang="en-US" sz="3200" dirty="0"/>
              <a:t>Initial assessment</a:t>
            </a:r>
          </a:p>
          <a:p>
            <a:r>
              <a:rPr lang="en-US" sz="3200" dirty="0"/>
              <a:t>It is important to</a:t>
            </a:r>
            <a:r>
              <a:rPr lang="en-US" sz="3200" dirty="0">
                <a:solidFill>
                  <a:srgbClr val="FF0000"/>
                </a:solidFill>
              </a:rPr>
              <a:t> triage </a:t>
            </a:r>
            <a:r>
              <a:rPr lang="en-US" sz="3200" dirty="0"/>
              <a:t>the patients appropriately for maxillofacial injuries. Airway evaluation should be thorough and as quick as possible. Life-threatening injuries must be identified and managed based on their clinical priority. </a:t>
            </a:r>
            <a:r>
              <a:rPr lang="en-US" sz="3200" dirty="0">
                <a:solidFill>
                  <a:srgbClr val="FF0000"/>
                </a:solidFill>
              </a:rPr>
              <a:t>A primary survey is done </a:t>
            </a:r>
            <a:r>
              <a:rPr lang="en-US" sz="3200" dirty="0"/>
              <a:t>which includes a rapid and thorough evaluation of the patient according to the </a:t>
            </a:r>
            <a:r>
              <a:rPr lang="en-US" sz="3200" dirty="0">
                <a:solidFill>
                  <a:srgbClr val="FF0000"/>
                </a:solidFill>
              </a:rPr>
              <a:t>Advanced Trauma Life Support protocol, i.e., ABCDE</a:t>
            </a:r>
            <a:endParaRPr lang="en-US" sz="3200" dirty="0">
              <a:solidFill>
                <a:srgbClr val="FF0000"/>
              </a:solidFill>
            </a:endParaRPr>
          </a:p>
        </p:txBody>
      </p:sp>
    </p:spTree>
    <p:extLst>
      <p:ext uri="{BB962C8B-B14F-4D97-AF65-F5344CB8AC3E}">
        <p14:creationId xmlns:p14="http://schemas.microsoft.com/office/powerpoint/2010/main" val="4188016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sz="3200" dirty="0"/>
              <a:t>A- </a:t>
            </a:r>
            <a:r>
              <a:rPr lang="en-US" sz="3200" dirty="0">
                <a:solidFill>
                  <a:srgbClr val="FF0000"/>
                </a:solidFill>
              </a:rPr>
              <a:t>airway management </a:t>
            </a:r>
            <a:r>
              <a:rPr lang="en-US" sz="3200" dirty="0"/>
              <a:t>with cervical spine control</a:t>
            </a:r>
          </a:p>
          <a:p>
            <a:pPr lvl="0"/>
            <a:r>
              <a:rPr lang="en-US" sz="3200" dirty="0"/>
              <a:t>B - </a:t>
            </a:r>
            <a:r>
              <a:rPr lang="en-US" sz="3200" dirty="0">
                <a:solidFill>
                  <a:srgbClr val="FF0000"/>
                </a:solidFill>
              </a:rPr>
              <a:t>assessment of breathing </a:t>
            </a:r>
            <a:r>
              <a:rPr lang="en-US" sz="3200" dirty="0"/>
              <a:t>and ensuring ventilation</a:t>
            </a:r>
          </a:p>
          <a:p>
            <a:pPr lvl="0"/>
            <a:r>
              <a:rPr lang="en-US" sz="3200" dirty="0"/>
              <a:t>C - </a:t>
            </a:r>
            <a:r>
              <a:rPr lang="en-US" sz="3200" dirty="0">
                <a:solidFill>
                  <a:srgbClr val="FF0000"/>
                </a:solidFill>
              </a:rPr>
              <a:t>checking circulation </a:t>
            </a:r>
            <a:r>
              <a:rPr lang="en-US" sz="3200" dirty="0"/>
              <a:t>with hemorrhage control</a:t>
            </a:r>
          </a:p>
          <a:p>
            <a:pPr lvl="0"/>
            <a:r>
              <a:rPr lang="en-US" sz="3200" dirty="0"/>
              <a:t>D - </a:t>
            </a:r>
            <a:r>
              <a:rPr lang="en-US" sz="3200" dirty="0">
                <a:solidFill>
                  <a:srgbClr val="FF0000"/>
                </a:solidFill>
              </a:rPr>
              <a:t>delineating disability </a:t>
            </a:r>
            <a:r>
              <a:rPr lang="en-US" sz="3200" dirty="0"/>
              <a:t>or assessing the neurological status</a:t>
            </a:r>
          </a:p>
          <a:p>
            <a:pPr lvl="0"/>
            <a:r>
              <a:rPr lang="en-US" sz="3200" dirty="0"/>
              <a:t>E - </a:t>
            </a:r>
            <a:r>
              <a:rPr lang="en-US" sz="3200" dirty="0">
                <a:solidFill>
                  <a:srgbClr val="FF0000"/>
                </a:solidFill>
              </a:rPr>
              <a:t>exposure and removing </a:t>
            </a:r>
            <a:r>
              <a:rPr lang="en-US" sz="3200" dirty="0"/>
              <a:t>the patient from a harmful environment or chemicals.</a:t>
            </a:r>
            <a:endParaRPr lang="en-US" sz="3200" dirty="0"/>
          </a:p>
        </p:txBody>
      </p:sp>
    </p:spTree>
    <p:extLst>
      <p:ext uri="{BB962C8B-B14F-4D97-AF65-F5344CB8AC3E}">
        <p14:creationId xmlns:p14="http://schemas.microsoft.com/office/powerpoint/2010/main" val="3472039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survey </a:t>
            </a:r>
            <a:endParaRPr lang="en-US" dirty="0"/>
          </a:p>
        </p:txBody>
      </p:sp>
      <p:sp>
        <p:nvSpPr>
          <p:cNvPr id="3" name="Content Placeholder 2"/>
          <p:cNvSpPr>
            <a:spLocks noGrp="1"/>
          </p:cNvSpPr>
          <p:nvPr>
            <p:ph idx="1"/>
          </p:nvPr>
        </p:nvSpPr>
        <p:spPr/>
        <p:txBody>
          <a:bodyPr>
            <a:noAutofit/>
          </a:bodyPr>
          <a:lstStyle/>
          <a:p>
            <a:r>
              <a:rPr lang="en-US" sz="3200" dirty="0"/>
              <a:t>Subsequently, a secondary survey is conducted. There is a significant association of </a:t>
            </a:r>
            <a:r>
              <a:rPr lang="en-US" sz="3200" dirty="0">
                <a:solidFill>
                  <a:srgbClr val="FF0000"/>
                </a:solidFill>
              </a:rPr>
              <a:t>maxillofacial trauma with traumatic brain injury (23–37%). Patent and unobstructed airway remain the top priority while maintaining C-spine immobilization and preventing aspiration. </a:t>
            </a:r>
            <a:r>
              <a:rPr lang="en-US" sz="3200" dirty="0"/>
              <a:t>A universal technique of airway management may not apply to all the patients. Hence, a high index of suspicion along with timely and skillful management is warranted. </a:t>
            </a:r>
            <a:r>
              <a:rPr lang="en-US" sz="3200" dirty="0">
                <a:solidFill>
                  <a:srgbClr val="FF0000"/>
                </a:solidFill>
              </a:rPr>
              <a:t>During attempts to secure the airway, precautions must be taken to protect against iatrogenic injuries.</a:t>
            </a:r>
            <a:endParaRPr lang="en-US" sz="3200" dirty="0">
              <a:solidFill>
                <a:srgbClr val="FF0000"/>
              </a:solidFill>
            </a:endParaRPr>
          </a:p>
        </p:txBody>
      </p:sp>
    </p:spTree>
    <p:extLst>
      <p:ext uri="{BB962C8B-B14F-4D97-AF65-F5344CB8AC3E}">
        <p14:creationId xmlns:p14="http://schemas.microsoft.com/office/powerpoint/2010/main" val="1340976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conditions that may affect the airway </a:t>
            </a:r>
            <a:endParaRPr lang="en-US" dirty="0"/>
          </a:p>
        </p:txBody>
      </p:sp>
      <p:sp>
        <p:nvSpPr>
          <p:cNvPr id="3" name="Content Placeholder 2"/>
          <p:cNvSpPr>
            <a:spLocks noGrp="1"/>
          </p:cNvSpPr>
          <p:nvPr>
            <p:ph idx="1"/>
          </p:nvPr>
        </p:nvSpPr>
        <p:spPr/>
        <p:txBody>
          <a:bodyPr>
            <a:noAutofit/>
          </a:bodyPr>
          <a:lstStyle/>
          <a:p>
            <a:pPr lvl="0"/>
            <a:r>
              <a:rPr lang="en-US" sz="3200" dirty="0"/>
              <a:t>According to Hutchison </a:t>
            </a:r>
            <a:r>
              <a:rPr lang="en-US" sz="3200" i="1" dirty="0"/>
              <a:t>et al.,</a:t>
            </a:r>
            <a:r>
              <a:rPr lang="en-US" sz="3200" dirty="0"/>
              <a:t> there are </a:t>
            </a:r>
            <a:r>
              <a:rPr lang="en-US" sz="3200" dirty="0">
                <a:solidFill>
                  <a:srgbClr val="FF0000"/>
                </a:solidFill>
              </a:rPr>
              <a:t>six specific situations </a:t>
            </a:r>
            <a:r>
              <a:rPr lang="en-US" sz="3200" dirty="0"/>
              <a:t>associated with maxillofacial trauma, which can adversely affect the airway.</a:t>
            </a:r>
            <a:br>
              <a:rPr lang="en-US" sz="3200" dirty="0"/>
            </a:br>
            <a:endParaRPr lang="en-US" sz="3200" dirty="0"/>
          </a:p>
          <a:p>
            <a:pPr lvl="0"/>
            <a:r>
              <a:rPr lang="en-US" sz="3200" dirty="0" err="1">
                <a:solidFill>
                  <a:srgbClr val="FF0000"/>
                </a:solidFill>
              </a:rPr>
              <a:t>Posteroinferior</a:t>
            </a:r>
            <a:r>
              <a:rPr lang="en-US" sz="3200" dirty="0">
                <a:solidFill>
                  <a:srgbClr val="FF0000"/>
                </a:solidFill>
              </a:rPr>
              <a:t> displacement of the fractured maxilla may obstruct the nasopharyngeal airway (NPA).</a:t>
            </a:r>
          </a:p>
          <a:p>
            <a:pPr lvl="0"/>
            <a:r>
              <a:rPr lang="en-US" sz="3200" dirty="0"/>
              <a:t>Bilateral fracture of the </a:t>
            </a:r>
            <a:r>
              <a:rPr lang="en-US" sz="3200" dirty="0">
                <a:solidFill>
                  <a:srgbClr val="FF0000"/>
                </a:solidFill>
              </a:rPr>
              <a:t>anterior mandible or </a:t>
            </a:r>
            <a:r>
              <a:rPr lang="en-US" sz="3200" dirty="0" err="1">
                <a:solidFill>
                  <a:srgbClr val="FF0000"/>
                </a:solidFill>
              </a:rPr>
              <a:t>parasymphysial</a:t>
            </a:r>
            <a:r>
              <a:rPr lang="en-US" sz="3200" dirty="0">
                <a:solidFill>
                  <a:srgbClr val="FF0000"/>
                </a:solidFill>
              </a:rPr>
              <a:t> </a:t>
            </a:r>
            <a:r>
              <a:rPr lang="en-US" sz="3200" dirty="0"/>
              <a:t>fracture may cause the </a:t>
            </a:r>
            <a:r>
              <a:rPr lang="en-US" sz="3200" dirty="0">
                <a:solidFill>
                  <a:srgbClr val="FF0000"/>
                </a:solidFill>
              </a:rPr>
              <a:t>tongue to fall back </a:t>
            </a:r>
            <a:r>
              <a:rPr lang="en-US" sz="3200" dirty="0"/>
              <a:t>and block the oropharyngeal airway (OPA).</a:t>
            </a:r>
            <a:endParaRPr lang="en-US" sz="3200" dirty="0"/>
          </a:p>
        </p:txBody>
      </p:sp>
    </p:spTree>
    <p:extLst>
      <p:ext uri="{BB962C8B-B14F-4D97-AF65-F5344CB8AC3E}">
        <p14:creationId xmlns:p14="http://schemas.microsoft.com/office/powerpoint/2010/main" val="284787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lvl="0"/>
            <a:r>
              <a:rPr lang="en-US" sz="3200" dirty="0">
                <a:solidFill>
                  <a:srgbClr val="FF0000"/>
                </a:solidFill>
              </a:rPr>
              <a:t>Foreign bodies </a:t>
            </a:r>
            <a:r>
              <a:rPr lang="en-US" sz="3200" dirty="0"/>
              <a:t>such as </a:t>
            </a:r>
            <a:r>
              <a:rPr lang="en-US" sz="3200" dirty="0" err="1"/>
              <a:t>fracturel</a:t>
            </a:r>
            <a:r>
              <a:rPr lang="en-US" sz="3200" dirty="0"/>
              <a:t> teeth, bone fragments, and blood or vomitus may block the airway.</a:t>
            </a:r>
          </a:p>
          <a:p>
            <a:pPr lvl="0"/>
            <a:r>
              <a:rPr lang="en-US" sz="3200" dirty="0">
                <a:solidFill>
                  <a:srgbClr val="FF0000"/>
                </a:solidFill>
              </a:rPr>
              <a:t>Hematoma </a:t>
            </a:r>
            <a:r>
              <a:rPr lang="en-US" sz="3200" dirty="0"/>
              <a:t>due to hemorrhage from major vessels or bleeding from open wounds may contribute to airway obstruction.</a:t>
            </a:r>
          </a:p>
          <a:p>
            <a:pPr lvl="0"/>
            <a:r>
              <a:rPr lang="en-US" sz="3200" dirty="0">
                <a:solidFill>
                  <a:srgbClr val="FF0000"/>
                </a:solidFill>
              </a:rPr>
              <a:t>Soft-tissue edema </a:t>
            </a:r>
            <a:r>
              <a:rPr lang="en-US" sz="3200" dirty="0"/>
              <a:t>resulting from trauma can cause delayed airway compromise.</a:t>
            </a:r>
          </a:p>
          <a:p>
            <a:pPr lvl="0"/>
            <a:r>
              <a:rPr lang="en-US" sz="3200" dirty="0" err="1">
                <a:solidFill>
                  <a:srgbClr val="FF0000"/>
                </a:solidFill>
              </a:rPr>
              <a:t>Laryngotracheal</a:t>
            </a:r>
            <a:r>
              <a:rPr lang="en-US" sz="3200" dirty="0">
                <a:solidFill>
                  <a:srgbClr val="FF0000"/>
                </a:solidFill>
              </a:rPr>
              <a:t> trauma </a:t>
            </a:r>
            <a:r>
              <a:rPr lang="en-US" sz="3200" dirty="0"/>
              <a:t>may cause edema and displacement of upper airway structures aggravating the risk of cervical airway obstruction</a:t>
            </a:r>
          </a:p>
          <a:p>
            <a:endParaRPr lang="en-US" sz="3200" dirty="0"/>
          </a:p>
        </p:txBody>
      </p:sp>
    </p:spTree>
    <p:extLst>
      <p:ext uri="{BB962C8B-B14F-4D97-AF65-F5344CB8AC3E}">
        <p14:creationId xmlns:p14="http://schemas.microsoft.com/office/powerpoint/2010/main" val="4231745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Survey </a:t>
            </a:r>
            <a:endParaRPr lang="en-US" dirty="0"/>
          </a:p>
        </p:txBody>
      </p:sp>
      <p:sp>
        <p:nvSpPr>
          <p:cNvPr id="3" name="Content Placeholder 2"/>
          <p:cNvSpPr>
            <a:spLocks noGrp="1"/>
          </p:cNvSpPr>
          <p:nvPr>
            <p:ph idx="1"/>
          </p:nvPr>
        </p:nvSpPr>
        <p:spPr/>
        <p:txBody>
          <a:bodyPr>
            <a:noAutofit/>
          </a:bodyPr>
          <a:lstStyle/>
          <a:p>
            <a:r>
              <a:rPr lang="en-US" sz="3200" b="1" u="sng" dirty="0"/>
              <a:t>Airway and initial management</a:t>
            </a:r>
            <a:endParaRPr lang="en-US" sz="3200" dirty="0"/>
          </a:p>
          <a:p>
            <a:pPr marL="0" indent="0">
              <a:buNone/>
            </a:pPr>
            <a:r>
              <a:rPr lang="en-US" sz="3200" dirty="0"/>
              <a:t> </a:t>
            </a:r>
            <a:r>
              <a:rPr lang="en-US" sz="3200" b="1" dirty="0"/>
              <a:t>Perform primary survey (challenges to </a:t>
            </a:r>
            <a:r>
              <a:rPr lang="en-US" sz="3200" b="1" dirty="0" err="1"/>
              <a:t>anaesthetist</a:t>
            </a:r>
            <a:r>
              <a:rPr lang="en-US" sz="3200" dirty="0"/>
              <a:t>) - Hemorrhage                                                                                     Homodynamic instability </a:t>
            </a:r>
            <a:br>
              <a:rPr lang="en-US" sz="3200" dirty="0"/>
            </a:br>
            <a:r>
              <a:rPr lang="en-US" sz="3200" dirty="0"/>
              <a:t>-  </a:t>
            </a:r>
            <a:r>
              <a:rPr lang="en-US" sz="3200" b="1" dirty="0"/>
              <a:t>Risk of aspiration</a:t>
            </a:r>
          </a:p>
          <a:p>
            <a:r>
              <a:rPr lang="en-US" sz="3200" b="1" dirty="0"/>
              <a:t>-  Associated injuries</a:t>
            </a:r>
          </a:p>
          <a:p>
            <a:r>
              <a:rPr lang="en-US" sz="3200" b="1" dirty="0"/>
              <a:t>-  Difficult intubations - 2 or 3% require emergency intubation</a:t>
            </a:r>
          </a:p>
          <a:p>
            <a:r>
              <a:rPr lang="en-US" sz="3200" b="1" dirty="0"/>
              <a:t>-  Airway obstructions</a:t>
            </a:r>
            <a:endParaRPr lang="en-US" sz="3200" b="1" dirty="0"/>
          </a:p>
        </p:txBody>
      </p:sp>
    </p:spTree>
    <p:extLst>
      <p:ext uri="{BB962C8B-B14F-4D97-AF65-F5344CB8AC3E}">
        <p14:creationId xmlns:p14="http://schemas.microsoft.com/office/powerpoint/2010/main" val="3084093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3200" dirty="0"/>
              <a:t>Airway with cervical spine control</a:t>
            </a:r>
          </a:p>
          <a:p>
            <a:r>
              <a:rPr lang="en-US" sz="3200" dirty="0"/>
              <a:t>Voice</a:t>
            </a:r>
          </a:p>
          <a:p>
            <a:r>
              <a:rPr lang="en-US" sz="3200" dirty="0"/>
              <a:t>Assessment of airway patency.</a:t>
            </a:r>
          </a:p>
          <a:p>
            <a:r>
              <a:rPr lang="en-US" sz="3200" dirty="0"/>
              <a:t>Breathing</a:t>
            </a:r>
          </a:p>
          <a:p>
            <a:r>
              <a:rPr lang="en-US" sz="3200" dirty="0"/>
              <a:t>Respiratory rate</a:t>
            </a:r>
            <a:endParaRPr lang="en-US" sz="3200" dirty="0"/>
          </a:p>
        </p:txBody>
      </p:sp>
    </p:spTree>
    <p:extLst>
      <p:ext uri="{BB962C8B-B14F-4D97-AF65-F5344CB8AC3E}">
        <p14:creationId xmlns:p14="http://schemas.microsoft.com/office/powerpoint/2010/main" val="2091166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800" dirty="0"/>
              <a:t>Breath sounds</a:t>
            </a:r>
          </a:p>
          <a:p>
            <a:r>
              <a:rPr lang="en-US" sz="2800" dirty="0"/>
              <a:t>Position of trachea.</a:t>
            </a:r>
          </a:p>
          <a:p>
            <a:r>
              <a:rPr lang="en-US" sz="2800" dirty="0"/>
              <a:t>Circulation</a:t>
            </a:r>
          </a:p>
          <a:p>
            <a:r>
              <a:rPr lang="en-US" sz="2800" dirty="0"/>
              <a:t>Pulse, pulse pressure, heart rate</a:t>
            </a:r>
          </a:p>
          <a:p>
            <a:r>
              <a:rPr lang="en-US" sz="2800" dirty="0"/>
              <a:t>ECG leads, pulse oximetry, blood pressure cuff.</a:t>
            </a:r>
          </a:p>
          <a:p>
            <a:pPr marL="0" indent="0">
              <a:buNone/>
            </a:pPr>
            <a:r>
              <a:rPr lang="en-US" sz="2800" dirty="0">
                <a:solidFill>
                  <a:srgbClr val="FF0000"/>
                </a:solidFill>
              </a:rPr>
              <a:t>Disability</a:t>
            </a:r>
          </a:p>
          <a:p>
            <a:r>
              <a:rPr lang="en-US" sz="2800" dirty="0"/>
              <a:t>AVPU (alert; responsive to verbal stimuli; responsive to painful stimuli; unresponsive)</a:t>
            </a:r>
          </a:p>
          <a:p>
            <a:r>
              <a:rPr lang="en-US" sz="2800" dirty="0"/>
              <a:t>Pupil responses to light</a:t>
            </a:r>
          </a:p>
        </p:txBody>
      </p:sp>
    </p:spTree>
    <p:extLst>
      <p:ext uri="{BB962C8B-B14F-4D97-AF65-F5344CB8AC3E}">
        <p14:creationId xmlns:p14="http://schemas.microsoft.com/office/powerpoint/2010/main" val="3222930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survey </a:t>
            </a:r>
            <a:endParaRPr lang="en-US" dirty="0"/>
          </a:p>
        </p:txBody>
      </p:sp>
      <p:sp>
        <p:nvSpPr>
          <p:cNvPr id="3" name="Content Placeholder 2"/>
          <p:cNvSpPr>
            <a:spLocks noGrp="1"/>
          </p:cNvSpPr>
          <p:nvPr>
            <p:ph idx="1"/>
          </p:nvPr>
        </p:nvSpPr>
        <p:spPr/>
        <p:txBody>
          <a:bodyPr/>
          <a:lstStyle/>
          <a:p>
            <a:r>
              <a:rPr lang="en-US" sz="3200" dirty="0">
                <a:solidFill>
                  <a:srgbClr val="FF0000"/>
                </a:solidFill>
              </a:rPr>
              <a:t>Neurological: GCS</a:t>
            </a:r>
          </a:p>
          <a:p>
            <a:r>
              <a:rPr lang="en-US" sz="3200" dirty="0">
                <a:solidFill>
                  <a:srgbClr val="FF0000"/>
                </a:solidFill>
              </a:rPr>
              <a:t>Thorax:</a:t>
            </a:r>
          </a:p>
          <a:p>
            <a:pPr lvl="1"/>
            <a:r>
              <a:rPr lang="en-US" sz="3200" dirty="0"/>
              <a:t>Flail chest</a:t>
            </a:r>
          </a:p>
          <a:p>
            <a:pPr lvl="1"/>
            <a:r>
              <a:rPr lang="en-US" sz="3200" dirty="0"/>
              <a:t>Seat belt pattern</a:t>
            </a:r>
          </a:p>
          <a:p>
            <a:pPr lvl="1"/>
            <a:r>
              <a:rPr lang="en-US" sz="3200" dirty="0"/>
              <a:t>Subcutaneous emphysema</a:t>
            </a:r>
          </a:p>
          <a:p>
            <a:endParaRPr lang="en-US" dirty="0"/>
          </a:p>
        </p:txBody>
      </p:sp>
    </p:spTree>
    <p:extLst>
      <p:ext uri="{BB962C8B-B14F-4D97-AF65-F5344CB8AC3E}">
        <p14:creationId xmlns:p14="http://schemas.microsoft.com/office/powerpoint/2010/main" val="1132012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Revised trauma score </a:t>
            </a:r>
            <a:endParaRPr lang="en-US" dirty="0"/>
          </a:p>
        </p:txBody>
      </p:sp>
      <p:sp>
        <p:nvSpPr>
          <p:cNvPr id="3" name="Content Placeholder 2"/>
          <p:cNvSpPr>
            <a:spLocks noGrp="1"/>
          </p:cNvSpPr>
          <p:nvPr>
            <p:ph idx="1"/>
          </p:nvPr>
        </p:nvSpPr>
        <p:spPr/>
        <p:txBody>
          <a:bodyPr>
            <a:normAutofit/>
          </a:bodyPr>
          <a:lstStyle/>
          <a:p>
            <a:r>
              <a:rPr lang="en-US" sz="3200" dirty="0"/>
              <a:t>The RTS is calculated using </a:t>
            </a:r>
            <a:r>
              <a:rPr lang="en-US" sz="3200" dirty="0">
                <a:solidFill>
                  <a:srgbClr val="FF0000"/>
                </a:solidFill>
              </a:rPr>
              <a:t>three critical values </a:t>
            </a:r>
            <a:r>
              <a:rPr lang="en-US" sz="3200" dirty="0"/>
              <a:t>from the patient's presentation during the initial assessment:</a:t>
            </a:r>
          </a:p>
          <a:p>
            <a:r>
              <a:rPr lang="en-US" sz="3200" b="1" dirty="0">
                <a:solidFill>
                  <a:srgbClr val="FF0000"/>
                </a:solidFill>
              </a:rPr>
              <a:t>Glasgow Coma Scale (GCS)</a:t>
            </a:r>
            <a:r>
              <a:rPr lang="en-US" sz="3200" dirty="0"/>
              <a:t>: This scale measures a patient's level of consciousness based on eye, verbal, and motor responses. It is an essential indicator of neurological function and potential head injury severity</a:t>
            </a:r>
          </a:p>
        </p:txBody>
      </p:sp>
    </p:spTree>
    <p:extLst>
      <p:ext uri="{BB962C8B-B14F-4D97-AF65-F5344CB8AC3E}">
        <p14:creationId xmlns:p14="http://schemas.microsoft.com/office/powerpoint/2010/main" val="1235670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b="1" dirty="0"/>
              <a:t>Systolic Blood Pressure (SBP)</a:t>
            </a:r>
            <a:r>
              <a:rPr lang="en-US" sz="3200" dirty="0"/>
              <a:t>: This value reflects the patient's </a:t>
            </a:r>
            <a:r>
              <a:rPr lang="en-US" sz="3200" dirty="0">
                <a:solidFill>
                  <a:srgbClr val="FF0000"/>
                </a:solidFill>
              </a:rPr>
              <a:t>cardiovascular status </a:t>
            </a:r>
            <a:r>
              <a:rPr lang="en-US" sz="3200" dirty="0"/>
              <a:t>and the ability to maintain adequate perfusion. Low blood pressure may indicate shock, blood loss, or severe injury.</a:t>
            </a:r>
          </a:p>
          <a:p>
            <a:r>
              <a:rPr lang="en-US" sz="3200" b="1" dirty="0"/>
              <a:t>Respiratory Rate (RR)</a:t>
            </a:r>
            <a:r>
              <a:rPr lang="en-US" sz="3200" dirty="0"/>
              <a:t>: This measure assesses the patient's ability to </a:t>
            </a:r>
            <a:r>
              <a:rPr lang="en-US" sz="3200" dirty="0">
                <a:solidFill>
                  <a:srgbClr val="FF0000"/>
                </a:solidFill>
              </a:rPr>
              <a:t>breathe effectively </a:t>
            </a:r>
            <a:r>
              <a:rPr lang="en-US" sz="3200" dirty="0"/>
              <a:t>and </a:t>
            </a:r>
            <a:r>
              <a:rPr lang="en-US" sz="3200" dirty="0">
                <a:solidFill>
                  <a:srgbClr val="FF0000"/>
                </a:solidFill>
              </a:rPr>
              <a:t>maintain oxygenation</a:t>
            </a:r>
            <a:r>
              <a:rPr lang="en-US" sz="3200" dirty="0"/>
              <a:t>. Abnormal respiratory rates can signal respiratory distress, brain injury, or other severe trauma</a:t>
            </a:r>
            <a:r>
              <a:rPr lang="en-US" sz="2400" dirty="0"/>
              <a:t>.</a:t>
            </a:r>
            <a:endParaRPr lang="en-US" sz="2400" dirty="0"/>
          </a:p>
        </p:txBody>
      </p:sp>
    </p:spTree>
    <p:extLst>
      <p:ext uri="{BB962C8B-B14F-4D97-AF65-F5344CB8AC3E}">
        <p14:creationId xmlns:p14="http://schemas.microsoft.com/office/powerpoint/2010/main" val="774587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Revised trauma score  interpretension </a:t>
            </a:r>
            <a:endParaRPr lang="en-US" dirty="0"/>
          </a:p>
        </p:txBody>
      </p:sp>
      <p:sp>
        <p:nvSpPr>
          <p:cNvPr id="3" name="Content Placeholder 2"/>
          <p:cNvSpPr>
            <a:spLocks noGrp="1"/>
          </p:cNvSpPr>
          <p:nvPr>
            <p:ph idx="1"/>
          </p:nvPr>
        </p:nvSpPr>
        <p:spPr/>
        <p:txBody>
          <a:bodyPr>
            <a:normAutofit/>
          </a:bodyPr>
          <a:lstStyle/>
          <a:p>
            <a:r>
              <a:rPr lang="en-US" sz="3200" dirty="0"/>
              <a:t>The Revised Trauma Score is made up of three categories: </a:t>
            </a:r>
            <a:r>
              <a:rPr lang="en-US" sz="3200" dirty="0">
                <a:hlinkClick r:id="rId2" tooltip="Glasgow Coma Scale"/>
              </a:rPr>
              <a:t>Glasgow Coma Scale</a:t>
            </a:r>
            <a:r>
              <a:rPr lang="en-US" sz="3200" dirty="0"/>
              <a:t>, </a:t>
            </a:r>
            <a:r>
              <a:rPr lang="en-US" sz="3200" dirty="0">
                <a:hlinkClick r:id="rId3" tooltip="Systole (medicine)"/>
              </a:rPr>
              <a:t>systolic</a:t>
            </a:r>
            <a:r>
              <a:rPr lang="en-US" sz="3200" dirty="0"/>
              <a:t> blood pressure, and respiratory rate. The score range is 0–12. In </a:t>
            </a:r>
            <a:r>
              <a:rPr lang="en-US" sz="3200" dirty="0">
                <a:hlinkClick r:id="rId4" tooltip="Simple triage and rapid treatment"/>
              </a:rPr>
              <a:t>START</a:t>
            </a:r>
            <a:r>
              <a:rPr lang="en-US" sz="3200" dirty="0"/>
              <a:t> </a:t>
            </a:r>
            <a:r>
              <a:rPr lang="en-US" sz="3200" dirty="0">
                <a:hlinkClick r:id="rId5" tooltip="Triage"/>
              </a:rPr>
              <a:t>triage</a:t>
            </a:r>
            <a:r>
              <a:rPr lang="en-US" sz="3200" dirty="0"/>
              <a:t>, a patient with an RTS score of </a:t>
            </a:r>
            <a:r>
              <a:rPr lang="en-US" sz="3200" dirty="0">
                <a:solidFill>
                  <a:srgbClr val="FF0000"/>
                </a:solidFill>
              </a:rPr>
              <a:t>12 is labeled delayed, 11 is urgent, and 3–10 is immediate. Those who have an RTS below 3 are declared dead </a:t>
            </a:r>
            <a:r>
              <a:rPr lang="en-US" sz="3200" dirty="0"/>
              <a:t>and should not receive certain care because they are highly unlikely to survive without a significant amount of resources</a:t>
            </a:r>
            <a:endParaRPr lang="en-US" sz="3200" dirty="0"/>
          </a:p>
        </p:txBody>
      </p:sp>
    </p:spTree>
    <p:extLst>
      <p:ext uri="{BB962C8B-B14F-4D97-AF65-F5344CB8AC3E}">
        <p14:creationId xmlns:p14="http://schemas.microsoft.com/office/powerpoint/2010/main" val="357303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Glasgow coma score  </a:t>
            </a:r>
            <a:endParaRPr lang="en-US" dirty="0"/>
          </a:p>
        </p:txBody>
      </p:sp>
      <p:sp>
        <p:nvSpPr>
          <p:cNvPr id="3" name="Content Placeholder 2"/>
          <p:cNvSpPr>
            <a:spLocks noGrp="1"/>
          </p:cNvSpPr>
          <p:nvPr>
            <p:ph idx="1"/>
          </p:nvPr>
        </p:nvSpPr>
        <p:spPr/>
        <p:txBody>
          <a:bodyPr>
            <a:normAutofit/>
          </a:bodyPr>
          <a:lstStyle/>
          <a:p>
            <a:pPr marL="0" indent="0" fontAlgn="ctr">
              <a:buNone/>
            </a:pPr>
            <a:r>
              <a:rPr lang="en-US" dirty="0" smtClean="0"/>
              <a:t> GCS                                              </a:t>
            </a:r>
            <a:r>
              <a:rPr lang="en-US" dirty="0"/>
              <a:t> Points </a:t>
            </a:r>
            <a:endParaRPr lang="en-US" dirty="0"/>
          </a:p>
          <a:p>
            <a:pPr fontAlgn="ctr"/>
            <a:r>
              <a:rPr lang="en-US" dirty="0" smtClean="0"/>
              <a:t>13-15                                              4</a:t>
            </a:r>
            <a:endParaRPr lang="en-US" dirty="0"/>
          </a:p>
          <a:p>
            <a:pPr fontAlgn="ctr"/>
            <a:r>
              <a:rPr lang="en-US" dirty="0" smtClean="0"/>
              <a:t>12–9                                                3</a:t>
            </a:r>
            <a:endParaRPr lang="en-US" dirty="0"/>
          </a:p>
          <a:p>
            <a:pPr fontAlgn="ctr"/>
            <a:r>
              <a:rPr lang="en-US" dirty="0" smtClean="0"/>
              <a:t>8–6                                                  2</a:t>
            </a:r>
            <a:endParaRPr lang="en-US" dirty="0"/>
          </a:p>
          <a:p>
            <a:pPr fontAlgn="ctr"/>
            <a:r>
              <a:rPr lang="en-US" dirty="0" smtClean="0"/>
              <a:t>5–4                                                  1</a:t>
            </a:r>
            <a:endParaRPr lang="en-US" dirty="0"/>
          </a:p>
          <a:p>
            <a:pPr fontAlgn="ctr"/>
            <a:r>
              <a:rPr lang="en-US" dirty="0" smtClean="0"/>
              <a:t>3                                                      0</a:t>
            </a:r>
            <a:endParaRPr lang="en-US" dirty="0"/>
          </a:p>
        </p:txBody>
      </p:sp>
    </p:spTree>
    <p:extLst>
      <p:ext uri="{BB962C8B-B14F-4D97-AF65-F5344CB8AC3E}">
        <p14:creationId xmlns:p14="http://schemas.microsoft.com/office/powerpoint/2010/main" val="613815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Systolic blood pressure </a:t>
            </a:r>
            <a:endParaRPr lang="en-US" dirty="0"/>
          </a:p>
        </p:txBody>
      </p:sp>
      <p:sp>
        <p:nvSpPr>
          <p:cNvPr id="3" name="Content Placeholder 2"/>
          <p:cNvSpPr>
            <a:spLocks noGrp="1"/>
          </p:cNvSpPr>
          <p:nvPr>
            <p:ph idx="1"/>
          </p:nvPr>
        </p:nvSpPr>
        <p:spPr/>
        <p:txBody>
          <a:bodyPr>
            <a:normAutofit/>
          </a:bodyPr>
          <a:lstStyle/>
          <a:p>
            <a:pPr fontAlgn="ctr"/>
            <a:r>
              <a:rPr lang="en-US" dirty="0" smtClean="0"/>
              <a:t>SBP                                                   Points</a:t>
            </a:r>
            <a:endParaRPr lang="en-US" dirty="0"/>
          </a:p>
          <a:p>
            <a:pPr fontAlgn="ctr"/>
            <a:r>
              <a:rPr lang="en-US" dirty="0" smtClean="0"/>
              <a:t>&gt;89                                                       4</a:t>
            </a:r>
            <a:endParaRPr lang="en-US" dirty="0"/>
          </a:p>
          <a:p>
            <a:pPr fontAlgn="ctr"/>
            <a:r>
              <a:rPr lang="en-US" dirty="0" smtClean="0"/>
              <a:t>76–89                                                    3</a:t>
            </a:r>
            <a:endParaRPr lang="en-US" dirty="0"/>
          </a:p>
          <a:p>
            <a:pPr fontAlgn="ctr"/>
            <a:r>
              <a:rPr lang="en-US" dirty="0" smtClean="0"/>
              <a:t>50–75                                                    2</a:t>
            </a:r>
          </a:p>
          <a:p>
            <a:pPr fontAlgn="ctr"/>
            <a:r>
              <a:rPr lang="en-US" dirty="0" smtClean="0"/>
              <a:t>1–49</a:t>
            </a:r>
            <a:r>
              <a:rPr lang="en-US" dirty="0"/>
              <a:t> </a:t>
            </a:r>
            <a:r>
              <a:rPr lang="en-US" dirty="0" smtClean="0"/>
              <a:t>                                                     1</a:t>
            </a:r>
            <a:endParaRPr lang="en-US" dirty="0"/>
          </a:p>
          <a:p>
            <a:pPr fontAlgn="ctr"/>
            <a:r>
              <a:rPr lang="en-US" dirty="0" smtClean="0"/>
              <a:t>0                                                            0</a:t>
            </a:r>
            <a:endParaRPr lang="en-US" dirty="0"/>
          </a:p>
        </p:txBody>
      </p:sp>
    </p:spTree>
    <p:extLst>
      <p:ext uri="{BB962C8B-B14F-4D97-AF65-F5344CB8AC3E}">
        <p14:creationId xmlns:p14="http://schemas.microsoft.com/office/powerpoint/2010/main" val="12444052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respiratory rate</a:t>
            </a:r>
            <a:br>
              <a:rPr lang="en-US" dirty="0"/>
            </a:br>
            <a:r>
              <a:rPr lang="en-US" dirty="0"/>
              <a:t>score</a:t>
            </a:r>
          </a:p>
        </p:txBody>
      </p:sp>
      <p:sp>
        <p:nvSpPr>
          <p:cNvPr id="3" name="Content Placeholder 2"/>
          <p:cNvSpPr>
            <a:spLocks noGrp="1"/>
          </p:cNvSpPr>
          <p:nvPr>
            <p:ph idx="1"/>
          </p:nvPr>
        </p:nvSpPr>
        <p:spPr/>
        <p:txBody>
          <a:bodyPr/>
          <a:lstStyle/>
          <a:p>
            <a:pPr fontAlgn="base"/>
            <a:r>
              <a:rPr lang="en-US" dirty="0"/>
              <a:t>10-29                                           4                  </a:t>
            </a:r>
          </a:p>
          <a:p>
            <a:pPr marL="0" indent="0" fontAlgn="base">
              <a:buNone/>
            </a:pPr>
            <a:r>
              <a:rPr lang="en-US" dirty="0"/>
              <a:t> &gt;30                                               3</a:t>
            </a:r>
          </a:p>
          <a:p>
            <a:pPr fontAlgn="base"/>
            <a:r>
              <a:rPr lang="en-US" dirty="0"/>
              <a:t> 6-9                                                2</a:t>
            </a:r>
          </a:p>
          <a:p>
            <a:pPr fontAlgn="base"/>
            <a:r>
              <a:rPr lang="en-US" dirty="0"/>
              <a:t> 1-5                                                1</a:t>
            </a:r>
          </a:p>
          <a:p>
            <a:pPr fontAlgn="base"/>
            <a:r>
              <a:rPr lang="en-US" dirty="0"/>
              <a:t> 0                                                    0</a:t>
            </a:r>
            <a:endParaRPr lang="en-US" dirty="0"/>
          </a:p>
        </p:txBody>
      </p:sp>
    </p:spTree>
    <p:extLst>
      <p:ext uri="{BB962C8B-B14F-4D97-AF65-F5344CB8AC3E}">
        <p14:creationId xmlns:p14="http://schemas.microsoft.com/office/powerpoint/2010/main" val="999797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The Revised Trauma Score is made up of a three categories: </a:t>
            </a:r>
            <a:r>
              <a:rPr lang="en-US" sz="3200" dirty="0">
                <a:hlinkClick r:id="rId2" tooltip="Glasgow Coma Scale"/>
              </a:rPr>
              <a:t>Glasgow Coma Scale</a:t>
            </a:r>
            <a:r>
              <a:rPr lang="en-US" sz="3200" dirty="0"/>
              <a:t>, </a:t>
            </a:r>
            <a:r>
              <a:rPr lang="en-US" sz="3200" dirty="0">
                <a:hlinkClick r:id="rId3" tooltip="Systole (medicine)"/>
              </a:rPr>
              <a:t>systolic</a:t>
            </a:r>
            <a:r>
              <a:rPr lang="en-US" sz="3200" dirty="0"/>
              <a:t> blood pressure, and respiratory rate. The score range is 0–12. In </a:t>
            </a:r>
            <a:r>
              <a:rPr lang="en-US" sz="3200" u="sng" dirty="0">
                <a:hlinkClick r:id="rId4"/>
              </a:rPr>
              <a:t>START</a:t>
            </a:r>
            <a:r>
              <a:rPr lang="en-US" sz="3200" dirty="0"/>
              <a:t> </a:t>
            </a:r>
            <a:r>
              <a:rPr lang="en-US" sz="3200" dirty="0">
                <a:hlinkClick r:id="rId5" tooltip="Triage"/>
              </a:rPr>
              <a:t>triage</a:t>
            </a:r>
            <a:r>
              <a:rPr lang="en-US" sz="3200" dirty="0"/>
              <a:t>, a patient with an RTS score of 12 is labeled delayed, 11 is urgent, and 3–10 is immediate. Those who have an RTS below 3 are declared dead and should not receive certain care because they are highly unlikely to survive without a significant amount of resources</a:t>
            </a:r>
          </a:p>
        </p:txBody>
      </p:sp>
    </p:spTree>
    <p:extLst>
      <p:ext uri="{BB962C8B-B14F-4D97-AF65-F5344CB8AC3E}">
        <p14:creationId xmlns:p14="http://schemas.microsoft.com/office/powerpoint/2010/main" val="2803840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management preoperative assessment </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sz="2400" u="sng" dirty="0">
                <a:solidFill>
                  <a:srgbClr val="FF0000"/>
                </a:solidFill>
              </a:rPr>
              <a:t>Pre Operative Investigations</a:t>
            </a:r>
            <a:r>
              <a:rPr lang="en-US" sz="2400" dirty="0">
                <a:solidFill>
                  <a:srgbClr val="FF0000"/>
                </a:solidFill>
              </a:rPr>
              <a:t> </a:t>
            </a:r>
          </a:p>
          <a:p>
            <a:pPr>
              <a:buNone/>
            </a:pPr>
            <a:r>
              <a:rPr lang="en-US" sz="2400" dirty="0"/>
              <a:t>  .Blood Group and RH very urgently </a:t>
            </a:r>
            <a:endParaRPr lang="en-US" sz="2400" dirty="0">
              <a:solidFill>
                <a:srgbClr val="FF0000"/>
              </a:solidFill>
            </a:endParaRPr>
          </a:p>
          <a:p>
            <a:r>
              <a:rPr lang="en-US" sz="2400" dirty="0">
                <a:solidFill>
                  <a:srgbClr val="FF0000"/>
                </a:solidFill>
              </a:rPr>
              <a:t>.  </a:t>
            </a:r>
            <a:r>
              <a:rPr lang="en-US" sz="2400" dirty="0" err="1">
                <a:solidFill>
                  <a:srgbClr val="FF0000"/>
                </a:solidFill>
              </a:rPr>
              <a:t>Hct</a:t>
            </a:r>
            <a:r>
              <a:rPr lang="en-US" sz="2400" dirty="0">
                <a:solidFill>
                  <a:srgbClr val="FF0000"/>
                </a:solidFill>
              </a:rPr>
              <a:t> </a:t>
            </a:r>
            <a:r>
              <a:rPr lang="en-US" sz="2400" dirty="0" err="1">
                <a:solidFill>
                  <a:srgbClr val="FF0000"/>
                </a:solidFill>
              </a:rPr>
              <a:t>Lft</a:t>
            </a:r>
            <a:r>
              <a:rPr lang="en-US" sz="2400" dirty="0">
                <a:solidFill>
                  <a:srgbClr val="FF0000"/>
                </a:solidFill>
              </a:rPr>
              <a:t> (to </a:t>
            </a:r>
            <a:r>
              <a:rPr lang="en-US" sz="2400" dirty="0"/>
              <a:t>R/O Alcoholism)</a:t>
            </a:r>
          </a:p>
          <a:p>
            <a:r>
              <a:rPr lang="en-US" sz="2400" dirty="0"/>
              <a:t>.  Coagulation profile</a:t>
            </a:r>
          </a:p>
          <a:p>
            <a:r>
              <a:rPr lang="en-US" sz="2400" dirty="0"/>
              <a:t>.  Cervical spine x-ray</a:t>
            </a:r>
          </a:p>
          <a:p>
            <a:r>
              <a:rPr lang="en-US" sz="2400" dirty="0"/>
              <a:t>.  ECG</a:t>
            </a:r>
          </a:p>
          <a:p>
            <a:r>
              <a:rPr lang="en-US" sz="2400" dirty="0"/>
              <a:t>.  CT scans if necessary</a:t>
            </a:r>
          </a:p>
          <a:p>
            <a:r>
              <a:rPr lang="en-US" sz="2400" dirty="0"/>
              <a:t>.  Routine Lab investigations</a:t>
            </a:r>
          </a:p>
          <a:p>
            <a:r>
              <a:rPr lang="en-US" dirty="0"/>
              <a:t> </a:t>
            </a:r>
          </a:p>
          <a:p>
            <a:endParaRPr lang="en-US" dirty="0"/>
          </a:p>
          <a:p>
            <a:endParaRPr lang="en-US" dirty="0"/>
          </a:p>
        </p:txBody>
      </p:sp>
    </p:spTree>
    <p:extLst>
      <p:ext uri="{BB962C8B-B14F-4D97-AF65-F5344CB8AC3E}">
        <p14:creationId xmlns:p14="http://schemas.microsoft.com/office/powerpoint/2010/main" val="40685856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200" u="sng" dirty="0">
                <a:solidFill>
                  <a:srgbClr val="FF0000"/>
                </a:solidFill>
              </a:rPr>
              <a:t>Intraoperative Challenges</a:t>
            </a:r>
            <a:r>
              <a:rPr lang="en-US" sz="3200" dirty="0">
                <a:solidFill>
                  <a:srgbClr val="FF0000"/>
                </a:solidFill>
              </a:rPr>
              <a:t> </a:t>
            </a:r>
          </a:p>
          <a:p>
            <a:r>
              <a:rPr lang="en-US" sz="3200" dirty="0">
                <a:solidFill>
                  <a:srgbClr val="FF0000"/>
                </a:solidFill>
              </a:rPr>
              <a:t>.  Surgical Access without </a:t>
            </a:r>
            <a:r>
              <a:rPr lang="en-US" sz="3200" dirty="0"/>
              <a:t>Jeopardizing ventilation</a:t>
            </a:r>
          </a:p>
          <a:p>
            <a:r>
              <a:rPr lang="en-US" sz="3200" dirty="0"/>
              <a:t>.  In ability to open mouth during laryngoscopy</a:t>
            </a:r>
          </a:p>
          <a:p>
            <a:r>
              <a:rPr lang="en-US" sz="3200" dirty="0"/>
              <a:t>       -  Muscle spasm</a:t>
            </a:r>
            <a:endParaRPr lang="en-US" sz="3200" dirty="0"/>
          </a:p>
        </p:txBody>
      </p:sp>
    </p:spTree>
    <p:extLst>
      <p:ext uri="{BB962C8B-B14F-4D97-AF65-F5344CB8AC3E}">
        <p14:creationId xmlns:p14="http://schemas.microsoft.com/office/powerpoint/2010/main" val="3749613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Fracture of temporomandibular joint </a:t>
            </a:r>
            <a:r>
              <a:rPr lang="en-US" sz="3200" dirty="0">
                <a:solidFill>
                  <a:schemeClr val="accent2">
                    <a:lumMod val="75000"/>
                  </a:schemeClr>
                </a:solidFill>
              </a:rPr>
              <a:t>and fracture </a:t>
            </a:r>
            <a:r>
              <a:rPr lang="en-US" sz="3200" dirty="0" err="1">
                <a:solidFill>
                  <a:schemeClr val="accent2">
                    <a:lumMod val="75000"/>
                  </a:schemeClr>
                </a:solidFill>
              </a:rPr>
              <a:t>zygoma</a:t>
            </a:r>
            <a:endParaRPr lang="en-US" sz="3200" dirty="0">
              <a:solidFill>
                <a:schemeClr val="accent2">
                  <a:lumMod val="75000"/>
                </a:schemeClr>
              </a:solidFill>
            </a:endParaRPr>
          </a:p>
          <a:p>
            <a:r>
              <a:rPr lang="en-US" sz="3200" dirty="0">
                <a:solidFill>
                  <a:schemeClr val="accent2">
                    <a:lumMod val="75000"/>
                  </a:schemeClr>
                </a:solidFill>
              </a:rPr>
              <a:t>C</a:t>
            </a:r>
            <a:r>
              <a:rPr lang="en-US" sz="3200" dirty="0">
                <a:solidFill>
                  <a:srgbClr val="FF0000"/>
                </a:solidFill>
              </a:rPr>
              <a:t>ervical spine fracture </a:t>
            </a:r>
            <a:r>
              <a:rPr lang="en-US" sz="3200" dirty="0">
                <a:solidFill>
                  <a:schemeClr val="accent2">
                    <a:lumMod val="75000"/>
                  </a:schemeClr>
                </a:solidFill>
              </a:rPr>
              <a:t>(Tracheostomy Vs difficult intubation)</a:t>
            </a:r>
          </a:p>
          <a:p>
            <a:r>
              <a:rPr lang="en-US" sz="3200" dirty="0">
                <a:solidFill>
                  <a:srgbClr val="FF0000"/>
                </a:solidFill>
              </a:rPr>
              <a:t>Extra oral injury IMF </a:t>
            </a:r>
            <a:r>
              <a:rPr lang="en-US" sz="3200" dirty="0">
                <a:solidFill>
                  <a:schemeClr val="accent2">
                    <a:lumMod val="75000"/>
                  </a:schemeClr>
                </a:solidFill>
              </a:rPr>
              <a:t>( Nasal intubation) if no contraindication</a:t>
            </a:r>
            <a:endParaRPr lang="en-US" sz="3200" dirty="0">
              <a:solidFill>
                <a:schemeClr val="accent2">
                  <a:lumMod val="75000"/>
                </a:schemeClr>
              </a:solidFill>
            </a:endParaRPr>
          </a:p>
        </p:txBody>
      </p:sp>
    </p:spTree>
    <p:extLst>
      <p:ext uri="{BB962C8B-B14F-4D97-AF65-F5344CB8AC3E}">
        <p14:creationId xmlns:p14="http://schemas.microsoft.com/office/powerpoint/2010/main" val="23146544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3200" u="sng" dirty="0"/>
              <a:t>Anesthetic Technique</a:t>
            </a:r>
            <a:r>
              <a:rPr lang="en-US" sz="3200" dirty="0"/>
              <a:t> → Aspiration prophylaxis </a:t>
            </a:r>
          </a:p>
          <a:p>
            <a:r>
              <a:rPr lang="en-US" sz="3200" dirty="0"/>
              <a:t>.  </a:t>
            </a:r>
            <a:r>
              <a:rPr lang="en-US" sz="3200" b="1" dirty="0"/>
              <a:t>If difficult airway - Awake intubation, FOL</a:t>
            </a:r>
          </a:p>
          <a:p>
            <a:r>
              <a:rPr lang="en-US" sz="3200" b="1" dirty="0"/>
              <a:t>.  </a:t>
            </a:r>
            <a:r>
              <a:rPr lang="en-US" sz="3200" b="1" dirty="0" err="1"/>
              <a:t>Naso</a:t>
            </a:r>
            <a:r>
              <a:rPr lang="en-US" sz="3200" b="1" dirty="0"/>
              <a:t> tracheal intubation  - Preferred (for surgical access   if no basal skull fracture )</a:t>
            </a:r>
          </a:p>
          <a:p>
            <a:r>
              <a:rPr lang="en-US" sz="3200" b="1" dirty="0"/>
              <a:t>.  If minimal or no limitation of Jaw - any sort of </a:t>
            </a:r>
            <a:r>
              <a:rPr lang="en-US" sz="3200" b="1" dirty="0" err="1"/>
              <a:t>anaesthesia</a:t>
            </a:r>
            <a:r>
              <a:rPr lang="en-US" sz="3200" b="1" dirty="0"/>
              <a:t> can be used</a:t>
            </a:r>
          </a:p>
          <a:p>
            <a:endParaRPr lang="en-US" sz="3200" b="1" dirty="0"/>
          </a:p>
        </p:txBody>
      </p:sp>
    </p:spTree>
    <p:extLst>
      <p:ext uri="{BB962C8B-B14F-4D97-AF65-F5344CB8AC3E}">
        <p14:creationId xmlns:p14="http://schemas.microsoft.com/office/powerpoint/2010/main" val="13131025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Intra operative complications </a:t>
            </a:r>
            <a:endParaRPr lang="en-US" dirty="0"/>
          </a:p>
        </p:txBody>
      </p:sp>
      <p:sp>
        <p:nvSpPr>
          <p:cNvPr id="3" name="Content Placeholder 2"/>
          <p:cNvSpPr>
            <a:spLocks noGrp="1"/>
          </p:cNvSpPr>
          <p:nvPr>
            <p:ph idx="1"/>
          </p:nvPr>
        </p:nvSpPr>
        <p:spPr/>
        <p:txBody>
          <a:bodyPr/>
          <a:lstStyle/>
          <a:p>
            <a:pPr>
              <a:buNone/>
            </a:pPr>
            <a:r>
              <a:rPr lang="en-US" sz="2400" dirty="0">
                <a:solidFill>
                  <a:srgbClr val="FF0000"/>
                </a:solidFill>
              </a:rPr>
              <a:t>Hemorrhage (blood loss)</a:t>
            </a:r>
          </a:p>
          <a:p>
            <a:r>
              <a:rPr lang="en-US" sz="2400" dirty="0">
                <a:solidFill>
                  <a:srgbClr val="FF0000"/>
                </a:solidFill>
              </a:rPr>
              <a:t>      </a:t>
            </a:r>
            <a:r>
              <a:rPr lang="en-US" sz="2400" u="sng" dirty="0">
                <a:solidFill>
                  <a:srgbClr val="FF0000"/>
                </a:solidFill>
              </a:rPr>
              <a:t>Control</a:t>
            </a:r>
            <a:r>
              <a:rPr lang="en-US" sz="2400" dirty="0">
                <a:solidFill>
                  <a:srgbClr val="FF0000"/>
                </a:solidFill>
              </a:rPr>
              <a:t> </a:t>
            </a:r>
            <a:r>
              <a:rPr lang="en-US" sz="2400" dirty="0"/>
              <a:t>-  by surgical homeostasis</a:t>
            </a:r>
          </a:p>
          <a:p>
            <a:r>
              <a:rPr lang="en-US" sz="2400" dirty="0"/>
              <a:t>             -  topical vasoconstrictors</a:t>
            </a:r>
          </a:p>
          <a:p>
            <a:r>
              <a:rPr lang="en-US" sz="2400" dirty="0"/>
              <a:t>             .  Posterior </a:t>
            </a:r>
            <a:r>
              <a:rPr lang="en-US" sz="2400" dirty="0" err="1"/>
              <a:t>oropharngeal</a:t>
            </a:r>
            <a:r>
              <a:rPr lang="en-US" sz="2400" dirty="0"/>
              <a:t> pack</a:t>
            </a:r>
          </a:p>
          <a:p>
            <a:r>
              <a:rPr lang="en-US" sz="2400" dirty="0"/>
              <a:t>             .  Controlled hypo tension</a:t>
            </a:r>
          </a:p>
          <a:p>
            <a:r>
              <a:rPr lang="en-US" sz="2400" dirty="0"/>
              <a:t>                     - ↑ depth of </a:t>
            </a:r>
            <a:r>
              <a:rPr lang="en-US" sz="2400" dirty="0" err="1"/>
              <a:t>anaesthesia</a:t>
            </a:r>
            <a:endParaRPr lang="en-US" sz="2400" dirty="0"/>
          </a:p>
          <a:p>
            <a:r>
              <a:rPr lang="en-US" sz="2400" dirty="0"/>
              <a:t>                     .  Use of Na</a:t>
            </a:r>
            <a:r>
              <a:rPr lang="en-US" sz="2400" baseline="30000" dirty="0"/>
              <a:t>+</a:t>
            </a:r>
            <a:r>
              <a:rPr lang="en-US" sz="2400" dirty="0"/>
              <a:t> </a:t>
            </a:r>
            <a:r>
              <a:rPr lang="en-US" sz="2400" dirty="0" err="1"/>
              <a:t>nitroprusside</a:t>
            </a:r>
            <a:endParaRPr lang="en-US" dirty="0"/>
          </a:p>
        </p:txBody>
      </p:sp>
    </p:spTree>
    <p:extLst>
      <p:ext uri="{BB962C8B-B14F-4D97-AF65-F5344CB8AC3E}">
        <p14:creationId xmlns:p14="http://schemas.microsoft.com/office/powerpoint/2010/main" val="29662036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3200" dirty="0">
                <a:solidFill>
                  <a:srgbClr val="FF0000"/>
                </a:solidFill>
              </a:rPr>
              <a:t>B.Cut of ETT  -  Replace or re intubate          </a:t>
            </a:r>
          </a:p>
          <a:p>
            <a:pPr>
              <a:buNone/>
            </a:pPr>
            <a:r>
              <a:rPr lang="en-US" sz="3200" dirty="0">
                <a:solidFill>
                  <a:srgbClr val="FF0000"/>
                </a:solidFill>
              </a:rPr>
              <a:t> </a:t>
            </a:r>
            <a:r>
              <a:rPr lang="en-US" sz="3200" dirty="0" err="1">
                <a:solidFill>
                  <a:srgbClr val="FF0000"/>
                </a:solidFill>
              </a:rPr>
              <a:t>C.Obstruction</a:t>
            </a:r>
            <a:r>
              <a:rPr lang="en-US" sz="3200" dirty="0">
                <a:solidFill>
                  <a:srgbClr val="FF0000"/>
                </a:solidFill>
              </a:rPr>
              <a:t> </a:t>
            </a:r>
            <a:r>
              <a:rPr lang="en-US" sz="3200" dirty="0"/>
              <a:t>of ETT -  Explore airway</a:t>
            </a:r>
          </a:p>
          <a:p>
            <a:pPr>
              <a:buNone/>
            </a:pPr>
            <a:r>
              <a:rPr lang="en-US" sz="3200" dirty="0"/>
              <a:t>      Kinking of ETT                        </a:t>
            </a:r>
          </a:p>
          <a:p>
            <a:r>
              <a:rPr lang="en-US" sz="3200" dirty="0"/>
              <a:t>D.  Subcutaneous and mediastinal emphysema - inform surgeons </a:t>
            </a:r>
            <a:endParaRPr lang="en-US" sz="3200" dirty="0"/>
          </a:p>
        </p:txBody>
      </p:sp>
    </p:spTree>
    <p:extLst>
      <p:ext uri="{BB962C8B-B14F-4D97-AF65-F5344CB8AC3E}">
        <p14:creationId xmlns:p14="http://schemas.microsoft.com/office/powerpoint/2010/main" val="274293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 operative management </a:t>
            </a:r>
            <a:endParaRPr lang="en-US" dirty="0"/>
          </a:p>
        </p:txBody>
      </p:sp>
      <p:sp>
        <p:nvSpPr>
          <p:cNvPr id="3" name="Content Placeholder 2"/>
          <p:cNvSpPr>
            <a:spLocks noGrp="1"/>
          </p:cNvSpPr>
          <p:nvPr>
            <p:ph idx="1"/>
          </p:nvPr>
        </p:nvSpPr>
        <p:spPr/>
        <p:txBody>
          <a:bodyPr/>
          <a:lstStyle/>
          <a:p>
            <a:r>
              <a:rPr lang="en-US" b="1" dirty="0" smtClean="0"/>
              <a:t> </a:t>
            </a:r>
            <a:r>
              <a:rPr lang="en-US" sz="3200" b="1" dirty="0"/>
              <a:t>Awake </a:t>
            </a:r>
            <a:r>
              <a:rPr lang="en-US" sz="3200" b="1" dirty="0" err="1"/>
              <a:t>extubation</a:t>
            </a:r>
            <a:r>
              <a:rPr lang="en-US" sz="3200" b="1" dirty="0"/>
              <a:t> - (facial nerve monitoring and observation may be required)</a:t>
            </a:r>
          </a:p>
          <a:p>
            <a:r>
              <a:rPr lang="en-US" sz="3200" b="1" dirty="0" smtClean="0"/>
              <a:t> </a:t>
            </a:r>
            <a:r>
              <a:rPr lang="en-US" sz="3200" b="1" dirty="0"/>
              <a:t>Mouth may be wired - </a:t>
            </a:r>
            <a:r>
              <a:rPr lang="en-US" sz="3200" b="1" dirty="0" err="1"/>
              <a:t>Extubate</a:t>
            </a:r>
            <a:r>
              <a:rPr lang="en-US" sz="3200" b="1" dirty="0"/>
              <a:t> when fully awake adequate analgesia, anti emetics</a:t>
            </a:r>
          </a:p>
          <a:p>
            <a:r>
              <a:rPr lang="en-US" sz="3200" b="1" dirty="0" smtClean="0"/>
              <a:t> </a:t>
            </a:r>
            <a:r>
              <a:rPr lang="en-US" sz="3200" b="1" dirty="0"/>
              <a:t>Soft tissue injury - Nasal intubation</a:t>
            </a:r>
          </a:p>
          <a:p>
            <a:pPr>
              <a:buNone/>
            </a:pPr>
            <a:r>
              <a:rPr lang="en-US" sz="3200" b="1" dirty="0"/>
              <a:t>                               -  Steroids (Dexamethasone 4-8 mg.)</a:t>
            </a:r>
          </a:p>
          <a:p>
            <a:endParaRPr lang="en-US" sz="2400" dirty="0"/>
          </a:p>
        </p:txBody>
      </p:sp>
    </p:spTree>
    <p:extLst>
      <p:ext uri="{BB962C8B-B14F-4D97-AF65-F5344CB8AC3E}">
        <p14:creationId xmlns:p14="http://schemas.microsoft.com/office/powerpoint/2010/main" val="595738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a:t>
            </a:r>
            <a:endParaRPr lang="en-US" dirty="0"/>
          </a:p>
        </p:txBody>
      </p:sp>
      <p:sp>
        <p:nvSpPr>
          <p:cNvPr id="3" name="Content Placeholder 2"/>
          <p:cNvSpPr>
            <a:spLocks noGrp="1"/>
          </p:cNvSpPr>
          <p:nvPr>
            <p:ph idx="1"/>
          </p:nvPr>
        </p:nvSpPr>
        <p:spPr/>
        <p:txBody>
          <a:bodyPr>
            <a:normAutofit/>
          </a:bodyPr>
          <a:lstStyle/>
          <a:p>
            <a:r>
              <a:rPr lang="en-US" sz="3200" b="1" dirty="0"/>
              <a:t>Prepare facilities for post operation tracheotomy </a:t>
            </a:r>
          </a:p>
          <a:p>
            <a:r>
              <a:rPr lang="en-US" sz="3200" b="1" dirty="0"/>
              <a:t>                    → Wire cutters at patients bedside if IMF applied</a:t>
            </a:r>
          </a:p>
          <a:p>
            <a:r>
              <a:rPr lang="en-US" sz="3200" b="1" dirty="0"/>
              <a:t>                    → Treat spasms if any accordingly</a:t>
            </a:r>
          </a:p>
          <a:p>
            <a:pPr>
              <a:buNone/>
            </a:pPr>
            <a:r>
              <a:rPr lang="en-US" sz="3200" dirty="0"/>
              <a:t> </a:t>
            </a:r>
          </a:p>
          <a:p>
            <a:pPr>
              <a:buNone/>
            </a:pPr>
            <a:r>
              <a:rPr lang="en-US" sz="3200" dirty="0"/>
              <a:t> </a:t>
            </a:r>
            <a:endParaRPr lang="en-US" sz="3200" dirty="0"/>
          </a:p>
        </p:txBody>
      </p:sp>
    </p:spTree>
    <p:extLst>
      <p:ext uri="{BB962C8B-B14F-4D97-AF65-F5344CB8AC3E}">
        <p14:creationId xmlns:p14="http://schemas.microsoft.com/office/powerpoint/2010/main" val="37128896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 </a:t>
            </a:r>
            <a:endParaRPr lang="en-US" dirty="0"/>
          </a:p>
        </p:txBody>
      </p:sp>
      <p:pic>
        <p:nvPicPr>
          <p:cNvPr id="4" name="Content Placeholder 3"/>
          <p:cNvPicPr>
            <a:picLocks noGrp="1" noChangeAspect="1" noChangeArrowheads="1"/>
          </p:cNvPicPr>
          <p:nvPr>
            <p:ph idx="1"/>
          </p:nvPr>
        </p:nvPicPr>
        <p:blipFill>
          <a:blip r:embed="rId2"/>
          <a:srcRect/>
          <a:stretch>
            <a:fillRect/>
          </a:stretch>
        </p:blipFill>
        <p:spPr>
          <a:xfrm>
            <a:off x="3039415" y="1313645"/>
            <a:ext cx="3792392" cy="4188630"/>
          </a:xfrm>
        </p:spPr>
      </p:pic>
    </p:spTree>
    <p:extLst>
      <p:ext uri="{BB962C8B-B14F-4D97-AF65-F5344CB8AC3E}">
        <p14:creationId xmlns:p14="http://schemas.microsoft.com/office/powerpoint/2010/main" val="15970637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109</TotalTime>
  <Words>1647</Words>
  <Application>Microsoft Office PowerPoint</Application>
  <PresentationFormat>Widescreen</PresentationFormat>
  <Paragraphs>200</Paragraphs>
  <Slides>48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Tw Cen MT</vt:lpstr>
      <vt:lpstr>Tw Cen MT Condensed</vt:lpstr>
      <vt:lpstr>Wingdings 3</vt:lpstr>
      <vt:lpstr>Integral</vt:lpstr>
      <vt:lpstr>Anesthesia for maxillofacial injury </vt:lpstr>
      <vt:lpstr>Objective </vt:lpstr>
      <vt:lpstr>Maxillofacial injury </vt:lpstr>
      <vt:lpstr>Maxillofacial trauma</vt:lpstr>
      <vt:lpstr>PowerPoint Presentation</vt:lpstr>
      <vt:lpstr>PowerPoint Presentation</vt:lpstr>
      <vt:lpstr>PowerPoint Presentation</vt:lpstr>
      <vt:lpstr>Etiologic factors </vt:lpstr>
      <vt:lpstr>PowerPoint Presentation</vt:lpstr>
      <vt:lpstr>PowerPoint Presentation</vt:lpstr>
      <vt:lpstr>PowerPoint Presentation</vt:lpstr>
      <vt:lpstr>Relevant anatomy </vt:lpstr>
      <vt:lpstr>Pathophysiology </vt:lpstr>
      <vt:lpstr>Mechanism of injury </vt:lpstr>
      <vt:lpstr>Classifications </vt:lpstr>
      <vt:lpstr>PowerPoint Presentation</vt:lpstr>
      <vt:lpstr>Midface fracture </vt:lpstr>
      <vt:lpstr>PowerPoint Presentation</vt:lpstr>
      <vt:lpstr>Complications of maxillofacial injury </vt:lpstr>
      <vt:lpstr>PowerPoint Presentation</vt:lpstr>
      <vt:lpstr>PowerPoint Presentation</vt:lpstr>
      <vt:lpstr>PowerPoint Presentation</vt:lpstr>
      <vt:lpstr>Major causes of death </vt:lpstr>
      <vt:lpstr>Emergency management </vt:lpstr>
      <vt:lpstr>PowerPoint Presentation</vt:lpstr>
      <vt:lpstr>Secondary survey </vt:lpstr>
      <vt:lpstr>Six conditions that may affect the airway </vt:lpstr>
      <vt:lpstr>PowerPoint Presentation</vt:lpstr>
      <vt:lpstr>Survey </vt:lpstr>
      <vt:lpstr>PowerPoint Presentation</vt:lpstr>
      <vt:lpstr>PowerPoint Presentation</vt:lpstr>
      <vt:lpstr>Secondary survey </vt:lpstr>
      <vt:lpstr>Revised trauma score </vt:lpstr>
      <vt:lpstr>PowerPoint Presentation</vt:lpstr>
      <vt:lpstr>Revised trauma score  interpretension </vt:lpstr>
      <vt:lpstr>Glasgow coma score  </vt:lpstr>
      <vt:lpstr>Systolic blood pressure </vt:lpstr>
      <vt:lpstr>respiratory rate score</vt:lpstr>
      <vt:lpstr>PowerPoint Presentation</vt:lpstr>
      <vt:lpstr>Anesthetic management preoperative assessment </vt:lpstr>
      <vt:lpstr>PowerPoint Presentation</vt:lpstr>
      <vt:lpstr>Challenges </vt:lpstr>
      <vt:lpstr>PowerPoint Presentation</vt:lpstr>
      <vt:lpstr>Intra operative complications </vt:lpstr>
      <vt:lpstr>PowerPoint Presentation</vt:lpstr>
      <vt:lpstr>Post operative management </vt:lpstr>
      <vt:lpstr>Conclusion </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Anesthesia for maxillofacial injury </dc:title>
  <dc:creator>My</dc:creator>
  <cp:lastModifiedBy>My</cp:lastModifiedBy>
  <cp:revision>18</cp:revision>
  <dcterms:created xsi:type="dcterms:W3CDTF">2025-12-28T04:14:41Z</dcterms:created>
  <dcterms:modified xsi:type="dcterms:W3CDTF">2025-12-28T06:04:01Z</dcterms:modified>
</cp:coreProperties>
</file>