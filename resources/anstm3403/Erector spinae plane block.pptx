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37"/>
  </p:notesMasterIdLst>
  <p:handoutMasterIdLst>
    <p:handoutMasterId r:id="rId38"/>
  </p:handoutMasterIdLst>
  <p:sldIdLst>
    <p:sldId id="256" r:id="rId2"/>
    <p:sldId id="295" r:id="rId3"/>
    <p:sldId id="257" r:id="rId4"/>
    <p:sldId id="259" r:id="rId5"/>
    <p:sldId id="260" r:id="rId6"/>
    <p:sldId id="274" r:id="rId7"/>
    <p:sldId id="283" r:id="rId8"/>
    <p:sldId id="284" r:id="rId9"/>
    <p:sldId id="277" r:id="rId10"/>
    <p:sldId id="285" r:id="rId11"/>
    <p:sldId id="286" r:id="rId12"/>
    <p:sldId id="276" r:id="rId13"/>
    <p:sldId id="278" r:id="rId14"/>
    <p:sldId id="279" r:id="rId15"/>
    <p:sldId id="280" r:id="rId16"/>
    <p:sldId id="281" r:id="rId17"/>
    <p:sldId id="287" r:id="rId18"/>
    <p:sldId id="292" r:id="rId19"/>
    <p:sldId id="293" r:id="rId20"/>
    <p:sldId id="268" r:id="rId21"/>
    <p:sldId id="288" r:id="rId22"/>
    <p:sldId id="289" r:id="rId23"/>
    <p:sldId id="269" r:id="rId24"/>
    <p:sldId id="290" r:id="rId25"/>
    <p:sldId id="291" r:id="rId26"/>
    <p:sldId id="298" r:id="rId27"/>
    <p:sldId id="299" r:id="rId28"/>
    <p:sldId id="294" r:id="rId29"/>
    <p:sldId id="300" r:id="rId30"/>
    <p:sldId id="296" r:id="rId31"/>
    <p:sldId id="297" r:id="rId32"/>
    <p:sldId id="272" r:id="rId33"/>
    <p:sldId id="271" r:id="rId34"/>
    <p:sldId id="262" r:id="rId35"/>
    <p:sldId id="263" r:id="rId36"/>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7991" autoAdjust="0"/>
    <p:restoredTop sz="94660"/>
  </p:normalViewPr>
  <p:slideViewPr>
    <p:cSldViewPr snapToGrid="0">
      <p:cViewPr varScale="1">
        <p:scale>
          <a:sx n="78" d="100"/>
          <a:sy n="78" d="100"/>
        </p:scale>
        <p:origin x="-84" y="-756"/>
      </p:cViewPr>
      <p:guideLst>
        <p:guide orient="horz" pos="2160"/>
        <p:guide pos="3840"/>
      </p:guideLst>
    </p:cSldViewPr>
  </p:slideViewPr>
  <p:notesTextViewPr>
    <p:cViewPr>
      <p:scale>
        <a:sx n="1" d="1"/>
        <a:sy n="1" d="1"/>
      </p:scale>
      <p:origin x="0" y="0"/>
    </p:cViewPr>
  </p:notesTextViewPr>
  <p:notesViewPr>
    <p:cSldViewPr snapToGrid="0">
      <p:cViewPr varScale="1">
        <p:scale>
          <a:sx n="96" d="100"/>
          <a:sy n="96" d="100"/>
        </p:scale>
        <p:origin x="3558" y="9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60FCB736-0ADD-49BB-B6DE-B82334245F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xmlns="" id="{4DF83AE6-440A-41CC-97E8-CB5B489679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22A0DD-9D25-4E63-A187-2DD30194DBFD}" type="datetime1">
              <a:rPr lang="en-GB" smtClean="0"/>
              <a:pPr/>
              <a:t>25/03/2025</a:t>
            </a:fld>
            <a:endParaRPr lang="en-GB"/>
          </a:p>
        </p:txBody>
      </p:sp>
      <p:sp>
        <p:nvSpPr>
          <p:cNvPr id="4" name="Footer Placeholder 3">
            <a:extLst>
              <a:ext uri="{FF2B5EF4-FFF2-40B4-BE49-F238E27FC236}">
                <a16:creationId xmlns:a16="http://schemas.microsoft.com/office/drawing/2014/main" xmlns="" id="{C756C4EC-0C1D-4CB6-A06C-633D86E643D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xmlns="" id="{7E70F510-C925-4D25-B15A-6F217A3CFD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CD996-28E9-4091-BD1A-BF7E37D77A06}" type="slidenum">
              <a:rPr lang="en-GB" smtClean="0"/>
              <a:pPr/>
              <a:t>‹#›</a:t>
            </a:fld>
            <a:endParaRPr lang="en-GB"/>
          </a:p>
        </p:txBody>
      </p:sp>
    </p:spTree>
    <p:extLst>
      <p:ext uri="{BB962C8B-B14F-4D97-AF65-F5344CB8AC3E}">
        <p14:creationId xmlns:p14="http://schemas.microsoft.com/office/powerpoint/2010/main" xmlns="" val="5158767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0D70F6-D675-4BF2-9C80-0A6E714C3280}" type="datetime1">
              <a:rPr lang="en-GB" smtClean="0"/>
              <a:pPr/>
              <a:t>25/03/2025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FF5F66-C26C-4A0C-9C41-1168CB2D5E67}" type="slidenum">
              <a:rPr lang="en-GB" noProof="0" smtClean="0"/>
              <a:pPr/>
              <a:t>‹#›</a:t>
            </a:fld>
            <a:endParaRPr lang="en-GB" noProof="0"/>
          </a:p>
        </p:txBody>
      </p:sp>
    </p:spTree>
    <p:extLst>
      <p:ext uri="{BB962C8B-B14F-4D97-AF65-F5344CB8AC3E}">
        <p14:creationId xmlns:p14="http://schemas.microsoft.com/office/powerpoint/2010/main" xmlns="" val="49532998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19FF5F66-C26C-4A0C-9C41-1168CB2D5E67}" type="slidenum">
              <a:rPr lang="en-GB" smtClean="0"/>
              <a:pPr/>
              <a:t>1</a:t>
            </a:fld>
            <a:endParaRPr lang="en-GB"/>
          </a:p>
        </p:txBody>
      </p:sp>
    </p:spTree>
    <p:extLst>
      <p:ext uri="{BB962C8B-B14F-4D97-AF65-F5344CB8AC3E}">
        <p14:creationId xmlns:p14="http://schemas.microsoft.com/office/powerpoint/2010/main" xmlns="" val="3488290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3/25/2025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3251474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3536447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3266617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pPr/>
              <a:t>3/25/2025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2808027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pPr/>
              <a:t>3/25/2025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139520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pPr/>
              <a:t>3/25/2025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786189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pPr/>
              <a:t>3/25/2025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pPr/>
              <a:t>‹#›</a:t>
            </a:fld>
            <a:endParaRPr lang="en-US" dirty="0"/>
          </a:p>
        </p:txBody>
      </p:sp>
    </p:spTree>
    <p:extLst>
      <p:ext uri="{BB962C8B-B14F-4D97-AF65-F5344CB8AC3E}">
        <p14:creationId xmlns:p14="http://schemas.microsoft.com/office/powerpoint/2010/main" xmlns="" val="4129878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3/25/2025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148375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3/25/2025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3789429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3036782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1550129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xmlns=""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3/25/2025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454218382"/>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2918" y="1099298"/>
            <a:ext cx="7826188" cy="2199925"/>
          </a:xfrm>
        </p:spPr>
        <p:txBody>
          <a:bodyPr rtlCol="0"/>
          <a:lstStyle/>
          <a:p>
            <a:pPr rtl="0"/>
            <a:r>
              <a:rPr lang="en-GB" dirty="0"/>
              <a:t>Erector spinae plane block </a:t>
            </a:r>
          </a:p>
        </p:txBody>
      </p:sp>
      <p:sp>
        <p:nvSpPr>
          <p:cNvPr id="3" name="Subtitle 2"/>
          <p:cNvSpPr>
            <a:spLocks noGrp="1"/>
          </p:cNvSpPr>
          <p:nvPr>
            <p:ph type="subTitle" idx="1"/>
          </p:nvPr>
        </p:nvSpPr>
        <p:spPr/>
        <p:txBody>
          <a:bodyPr rtlCol="0"/>
          <a:lstStyle/>
          <a:p>
            <a:pPr rtl="0"/>
            <a:endParaRPr lang="en-GB"/>
          </a:p>
        </p:txBody>
      </p:sp>
    </p:spTree>
    <p:extLst>
      <p:ext uri="{BB962C8B-B14F-4D97-AF65-F5344CB8AC3E}">
        <p14:creationId xmlns:p14="http://schemas.microsoft.com/office/powerpoint/2010/main" xmlns="" val="385614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512094-F60F-6909-71B4-B669808DBA12}"/>
              </a:ext>
            </a:extLst>
          </p:cNvPr>
          <p:cNvSpPr>
            <a:spLocks noGrp="1"/>
          </p:cNvSpPr>
          <p:nvPr>
            <p:ph type="title"/>
          </p:nvPr>
        </p:nvSpPr>
        <p:spPr/>
        <p:txBody>
          <a:bodyPr/>
          <a:lstStyle/>
          <a:p>
            <a:r>
              <a:rPr lang="en-GB" dirty="0"/>
              <a:t>Outlines </a:t>
            </a:r>
            <a:endParaRPr lang="en-US" dirty="0"/>
          </a:p>
        </p:txBody>
      </p:sp>
      <p:sp>
        <p:nvSpPr>
          <p:cNvPr id="3" name="Content Placeholder 2">
            <a:extLst>
              <a:ext uri="{FF2B5EF4-FFF2-40B4-BE49-F238E27FC236}">
                <a16:creationId xmlns:a16="http://schemas.microsoft.com/office/drawing/2014/main" xmlns="" id="{2B142EEF-C88C-8068-6A9D-2779B480F04A}"/>
              </a:ext>
            </a:extLst>
          </p:cNvPr>
          <p:cNvSpPr>
            <a:spLocks noGrp="1"/>
          </p:cNvSpPr>
          <p:nvPr>
            <p:ph idx="1"/>
          </p:nvPr>
        </p:nvSpPr>
        <p:spPr/>
        <p:txBody>
          <a:bodyPr/>
          <a:lstStyle/>
          <a:p>
            <a:r>
              <a:rPr lang="en-GB" dirty="0"/>
              <a:t>Introduction 
Anatomy and physiology of erector spinae plane block (ESPB)
Indications and contraindications of ESPB
 Equipments 
Techniques or treatments 
Complications </a:t>
            </a:r>
            <a:endParaRPr lang="en-US" dirty="0"/>
          </a:p>
        </p:txBody>
      </p:sp>
    </p:spTree>
    <p:extLst>
      <p:ext uri="{BB962C8B-B14F-4D97-AF65-F5344CB8AC3E}">
        <p14:creationId xmlns:p14="http://schemas.microsoft.com/office/powerpoint/2010/main" xmlns="" val="27914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2A40AD-3ED2-AED3-6D37-5BF0601BD9ED}"/>
              </a:ext>
            </a:extLst>
          </p:cNvPr>
          <p:cNvSpPr>
            <a:spLocks noGrp="1"/>
          </p:cNvSpPr>
          <p:nvPr>
            <p:ph type="title"/>
          </p:nvPr>
        </p:nvSpPr>
        <p:spPr>
          <a:xfrm>
            <a:off x="2380061" y="1016374"/>
            <a:ext cx="7429499" cy="1108928"/>
          </a:xfrm>
        </p:spPr>
        <p:txBody>
          <a:bodyPr/>
          <a:lstStyle/>
          <a:p>
            <a:r>
              <a:rPr lang="en-GB" dirty="0"/>
              <a:t>Objectives </a:t>
            </a:r>
            <a:endParaRPr lang="en-US" dirty="0"/>
          </a:p>
        </p:txBody>
      </p:sp>
      <p:sp>
        <p:nvSpPr>
          <p:cNvPr id="3" name="Content Placeholder 2">
            <a:extLst>
              <a:ext uri="{FF2B5EF4-FFF2-40B4-BE49-F238E27FC236}">
                <a16:creationId xmlns:a16="http://schemas.microsoft.com/office/drawing/2014/main" xmlns="" id="{CA2D431F-8C77-8AD9-E5B8-526758F4FF39}"/>
              </a:ext>
            </a:extLst>
          </p:cNvPr>
          <p:cNvSpPr>
            <a:spLocks noGrp="1"/>
          </p:cNvSpPr>
          <p:nvPr>
            <p:ph idx="1"/>
          </p:nvPr>
        </p:nvSpPr>
        <p:spPr>
          <a:xfrm>
            <a:off x="1398495" y="2028928"/>
            <a:ext cx="8411066" cy="3812698"/>
          </a:xfrm>
        </p:spPr>
        <p:txBody>
          <a:bodyPr>
            <a:normAutofit/>
          </a:bodyPr>
          <a:lstStyle/>
          <a:p>
            <a:r>
              <a:rPr lang="en-GB" dirty="0"/>
              <a:t>Identify the indications for erector spinae plane block.</a:t>
            </a:r>
          </a:p>
          <a:p>
            <a:r>
              <a:rPr lang="en-GB" dirty="0"/>
              <a:t>Describe the patient anatomy and technique for an erector spinae plane block.</a:t>
            </a:r>
          </a:p>
          <a:p>
            <a:r>
              <a:rPr lang="en-GB" dirty="0"/>
              <a:t>Outline the potential complications of an erector spinae plane block.</a:t>
            </a:r>
          </a:p>
          <a:p>
            <a:r>
              <a:rPr lang="en-GB" dirty="0"/>
              <a:t>Understand  the importance of preparing and performing an ESP block to enhance patient safety and satisfaction.</a:t>
            </a:r>
          </a:p>
          <a:p>
            <a:endParaRPr lang="en-US" dirty="0"/>
          </a:p>
        </p:txBody>
      </p:sp>
    </p:spTree>
    <p:extLst>
      <p:ext uri="{BB962C8B-B14F-4D97-AF65-F5344CB8AC3E}">
        <p14:creationId xmlns:p14="http://schemas.microsoft.com/office/powerpoint/2010/main" xmlns="" val="3147290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2C4B76-14F6-EDE5-BE31-7F83184CDAAA}"/>
              </a:ext>
            </a:extLst>
          </p:cNvPr>
          <p:cNvSpPr>
            <a:spLocks noGrp="1"/>
          </p:cNvSpPr>
          <p:nvPr>
            <p:ph type="title"/>
          </p:nvPr>
        </p:nvSpPr>
        <p:spPr/>
        <p:txBody>
          <a:bodyPr/>
          <a:lstStyle/>
          <a:p>
            <a:r>
              <a:rPr lang="en-GB" dirty="0"/>
              <a:t>Introduction </a:t>
            </a:r>
            <a:endParaRPr lang="en-US" dirty="0"/>
          </a:p>
        </p:txBody>
      </p:sp>
      <p:sp>
        <p:nvSpPr>
          <p:cNvPr id="3" name="Content Placeholder 2">
            <a:extLst>
              <a:ext uri="{FF2B5EF4-FFF2-40B4-BE49-F238E27FC236}">
                <a16:creationId xmlns:a16="http://schemas.microsoft.com/office/drawing/2014/main" xmlns="" id="{D81743D0-94DB-9943-ED52-BB34EA423920}"/>
              </a:ext>
            </a:extLst>
          </p:cNvPr>
          <p:cNvSpPr>
            <a:spLocks noGrp="1"/>
          </p:cNvSpPr>
          <p:nvPr>
            <p:ph idx="1"/>
          </p:nvPr>
        </p:nvSpPr>
        <p:spPr>
          <a:xfrm>
            <a:off x="1553883" y="2544366"/>
            <a:ext cx="8869082" cy="3001800"/>
          </a:xfrm>
        </p:spPr>
        <p:txBody>
          <a:bodyPr>
            <a:normAutofit/>
          </a:bodyPr>
          <a:lstStyle/>
          <a:p>
            <a:r>
              <a:rPr lang="en-GB" dirty="0"/>
              <a:t>The erector spinae plane (ESP) block is used to provide analgesia for a variety of surgical procedures or to manage acute or chronic pain. </a:t>
            </a:r>
          </a:p>
          <a:p>
            <a:r>
              <a:rPr lang="en-GB" dirty="0"/>
              <a:t>The technique is relatively easy to perform on patients. </a:t>
            </a:r>
          </a:p>
          <a:p>
            <a:r>
              <a:rPr lang="en-GB" dirty="0"/>
              <a:t>It is performable with minimal or no sedation in the pre-operative holding area. </a:t>
            </a:r>
          </a:p>
          <a:p>
            <a:r>
              <a:rPr lang="en-GB" dirty="0"/>
              <a:t>The ESP block can is possible either using a single-injection technique or via catheter placement for continuous infusion. </a:t>
            </a:r>
          </a:p>
          <a:p>
            <a:endParaRPr lang="en-US" dirty="0"/>
          </a:p>
        </p:txBody>
      </p:sp>
    </p:spTree>
    <p:extLst>
      <p:ext uri="{BB962C8B-B14F-4D97-AF65-F5344CB8AC3E}">
        <p14:creationId xmlns:p14="http://schemas.microsoft.com/office/powerpoint/2010/main" xmlns="" val="1767573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DE732F-01DE-4507-5425-6A4B20F8AB07}"/>
              </a:ext>
            </a:extLst>
          </p:cNvPr>
          <p:cNvSpPr>
            <a:spLocks noGrp="1"/>
          </p:cNvSpPr>
          <p:nvPr>
            <p:ph type="title"/>
          </p:nvPr>
        </p:nvSpPr>
        <p:spPr/>
        <p:txBody>
          <a:bodyPr/>
          <a:lstStyle/>
          <a:p>
            <a:r>
              <a:rPr lang="en-GB" dirty="0"/>
              <a:t>Cont...</a:t>
            </a:r>
            <a:endParaRPr lang="en-US" dirty="0"/>
          </a:p>
        </p:txBody>
      </p:sp>
      <p:sp>
        <p:nvSpPr>
          <p:cNvPr id="3" name="Content Placeholder 2">
            <a:extLst>
              <a:ext uri="{FF2B5EF4-FFF2-40B4-BE49-F238E27FC236}">
                <a16:creationId xmlns:a16="http://schemas.microsoft.com/office/drawing/2014/main" xmlns="" id="{6CF6C609-3177-74CA-00AD-AB5A57A48AE4}"/>
              </a:ext>
            </a:extLst>
          </p:cNvPr>
          <p:cNvSpPr>
            <a:spLocks noGrp="1"/>
          </p:cNvSpPr>
          <p:nvPr>
            <p:ph idx="1"/>
          </p:nvPr>
        </p:nvSpPr>
        <p:spPr/>
        <p:txBody>
          <a:bodyPr>
            <a:normAutofit/>
          </a:bodyPr>
          <a:lstStyle/>
          <a:p>
            <a:r>
              <a:rPr lang="en-GB" dirty="0"/>
              <a:t>The block was used to manage thoracic neuropathic pain in a patient with metastatic disease of the ribs and rib fractures.</a:t>
            </a:r>
          </a:p>
          <a:p>
            <a:r>
              <a:rPr lang="en-GB" dirty="0"/>
              <a:t>It also successful in multitude of procedures including :- </a:t>
            </a:r>
          </a:p>
          <a:p>
            <a:pPr lvl="2"/>
            <a:r>
              <a:rPr lang="en-GB" dirty="0"/>
              <a:t>Nuss procedure </a:t>
            </a:r>
          </a:p>
          <a:p>
            <a:pPr lvl="2"/>
            <a:r>
              <a:rPr lang="en-GB" dirty="0"/>
              <a:t>Thoracotomies </a:t>
            </a:r>
          </a:p>
          <a:p>
            <a:pPr lvl="2"/>
            <a:r>
              <a:rPr lang="en-GB" dirty="0"/>
              <a:t>Percutaneous nephrolithotomies                      </a:t>
            </a:r>
          </a:p>
          <a:p>
            <a:pPr lvl="2"/>
            <a:r>
              <a:rPr lang="en-GB" dirty="0"/>
              <a:t>Ventral hernia repairs, and </a:t>
            </a:r>
          </a:p>
          <a:p>
            <a:pPr lvl="2"/>
            <a:r>
              <a:rPr lang="en-GB" dirty="0"/>
              <a:t>Lumbar fusions.</a:t>
            </a:r>
          </a:p>
          <a:p>
            <a:endParaRPr lang="en-US" dirty="0"/>
          </a:p>
        </p:txBody>
      </p:sp>
    </p:spTree>
    <p:extLst>
      <p:ext uri="{BB962C8B-B14F-4D97-AF65-F5344CB8AC3E}">
        <p14:creationId xmlns:p14="http://schemas.microsoft.com/office/powerpoint/2010/main" xmlns="" val="1954297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D7C4C5-F276-B307-F815-BF623B4EA9AE}"/>
              </a:ext>
            </a:extLst>
          </p:cNvPr>
          <p:cNvSpPr>
            <a:spLocks noGrp="1"/>
          </p:cNvSpPr>
          <p:nvPr>
            <p:ph type="title"/>
          </p:nvPr>
        </p:nvSpPr>
        <p:spPr/>
        <p:txBody>
          <a:bodyPr/>
          <a:lstStyle/>
          <a:p>
            <a:r>
              <a:rPr lang="en-GB" dirty="0"/>
              <a:t>Anatomy and physiology of ESPB </a:t>
            </a:r>
            <a:endParaRPr lang="en-US" dirty="0"/>
          </a:p>
        </p:txBody>
      </p:sp>
      <p:sp>
        <p:nvSpPr>
          <p:cNvPr id="3" name="Content Placeholder 2">
            <a:extLst>
              <a:ext uri="{FF2B5EF4-FFF2-40B4-BE49-F238E27FC236}">
                <a16:creationId xmlns:a16="http://schemas.microsoft.com/office/drawing/2014/main" xmlns="" id="{B3616F16-2CC3-D7B0-D2DC-31EEBB02C042}"/>
              </a:ext>
            </a:extLst>
          </p:cNvPr>
          <p:cNvSpPr>
            <a:spLocks noGrp="1"/>
          </p:cNvSpPr>
          <p:nvPr>
            <p:ph sz="half" idx="1"/>
          </p:nvPr>
        </p:nvSpPr>
        <p:spPr>
          <a:xfrm>
            <a:off x="1449217" y="2017712"/>
            <a:ext cx="4645152" cy="3448595"/>
          </a:xfrm>
        </p:spPr>
        <p:txBody>
          <a:bodyPr>
            <a:normAutofit fontScale="85000" lnSpcReduction="20000"/>
          </a:bodyPr>
          <a:lstStyle/>
          <a:p>
            <a:r>
              <a:rPr lang="en-GB" dirty="0"/>
              <a:t>Erector spinae muscles comprises the intermediate layers of the deep( intrinsic) muscles of the back. </a:t>
            </a:r>
          </a:p>
          <a:p>
            <a:r>
              <a:rPr lang="en-GB" dirty="0"/>
              <a:t>Extends on either sides of the vertebral column, between the base of cranium superiorly and pelvis inferiorly .</a:t>
            </a:r>
          </a:p>
          <a:p>
            <a:r>
              <a:rPr lang="en-GB" dirty="0"/>
              <a:t>It is divided into 3 groups, from medial to lateral:- </a:t>
            </a:r>
          </a:p>
          <a:p>
            <a:pPr marL="1257300" lvl="2" indent="-342900">
              <a:buFont typeface="+mj-lt"/>
              <a:buAutoNum type="arabicPeriod"/>
            </a:pPr>
            <a:r>
              <a:rPr lang="en-GB" b="1" dirty="0"/>
              <a:t>Spinalis</a:t>
            </a:r>
          </a:p>
          <a:p>
            <a:pPr marL="1257300" lvl="2" indent="-342900">
              <a:buFont typeface="+mj-lt"/>
              <a:buAutoNum type="arabicPeriod"/>
            </a:pPr>
            <a:r>
              <a:rPr lang="en-GB" b="1" dirty="0"/>
              <a:t>Longissimus </a:t>
            </a:r>
          </a:p>
          <a:p>
            <a:pPr marL="1257300" lvl="2" indent="-342900">
              <a:buFont typeface="+mj-lt"/>
              <a:buAutoNum type="arabicPeriod"/>
            </a:pPr>
            <a:r>
              <a:rPr lang="en-GB" b="1" dirty="0"/>
              <a:t>Iliocostalis </a:t>
            </a:r>
            <a:endParaRPr lang="en-US" b="1" dirty="0"/>
          </a:p>
        </p:txBody>
      </p:sp>
      <p:pic>
        <p:nvPicPr>
          <p:cNvPr id="5" name="Content Placeholder 4">
            <a:extLst>
              <a:ext uri="{FF2B5EF4-FFF2-40B4-BE49-F238E27FC236}">
                <a16:creationId xmlns:a16="http://schemas.microsoft.com/office/drawing/2014/main" xmlns="" id="{ACC50F7C-9275-4B5F-6AF8-627948E88414}"/>
              </a:ext>
            </a:extLst>
          </p:cNvPr>
          <p:cNvPicPr>
            <a:picLocks noGrp="1" noChangeAspect="1"/>
          </p:cNvPicPr>
          <p:nvPr>
            <p:ph sz="half" idx="2"/>
          </p:nvPr>
        </p:nvPicPr>
        <p:blipFill>
          <a:blip r:embed="rId2"/>
          <a:stretch>
            <a:fillRect/>
          </a:stretch>
        </p:blipFill>
        <p:spPr>
          <a:xfrm>
            <a:off x="6439146" y="2017712"/>
            <a:ext cx="4593733" cy="3851182"/>
          </a:xfrm>
        </p:spPr>
      </p:pic>
    </p:spTree>
    <p:extLst>
      <p:ext uri="{BB962C8B-B14F-4D97-AF65-F5344CB8AC3E}">
        <p14:creationId xmlns:p14="http://schemas.microsoft.com/office/powerpoint/2010/main" xmlns="" val="3588992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18AE19-5A37-D279-E702-F64BEB0AF1F5}"/>
              </a:ext>
            </a:extLst>
          </p:cNvPr>
          <p:cNvSpPr>
            <a:spLocks noGrp="1"/>
          </p:cNvSpPr>
          <p:nvPr>
            <p:ph type="title"/>
          </p:nvPr>
        </p:nvSpPr>
        <p:spPr/>
        <p:txBody>
          <a:bodyPr/>
          <a:lstStyle/>
          <a:p>
            <a:r>
              <a:rPr lang="en-GB" dirty="0"/>
              <a:t>Cont’d...</a:t>
            </a:r>
            <a:endParaRPr lang="en-US" dirty="0"/>
          </a:p>
        </p:txBody>
      </p:sp>
      <p:sp>
        <p:nvSpPr>
          <p:cNvPr id="3" name="Content Placeholder 2">
            <a:extLst>
              <a:ext uri="{FF2B5EF4-FFF2-40B4-BE49-F238E27FC236}">
                <a16:creationId xmlns:a16="http://schemas.microsoft.com/office/drawing/2014/main" xmlns="" id="{BA269F0A-6B35-70F1-4B53-DB8F6ACA4D03}"/>
              </a:ext>
            </a:extLst>
          </p:cNvPr>
          <p:cNvSpPr>
            <a:spLocks noGrp="1"/>
          </p:cNvSpPr>
          <p:nvPr>
            <p:ph idx="1"/>
          </p:nvPr>
        </p:nvSpPr>
        <p:spPr/>
        <p:txBody>
          <a:bodyPr/>
          <a:lstStyle/>
          <a:p>
            <a:r>
              <a:rPr lang="en-GB" dirty="0"/>
              <a:t>The ESP lies between the fascia covering the anterior aspect of the erector spinae muscles and the posterior surface of the transverse processes of the vertebrae.
They run on either side of the spinous processes of the vertebral column from the base of the skull to the pelvis.
Their caudal insertions are on the sacrum, iliac crest and lumbar spinous processes.
Cranial insertions are at transverse and spinous processes of the thoracic and cervical vertebrae up to C2, as well as attachments to ribs.</a:t>
            </a:r>
            <a:endParaRPr lang="en-US" dirty="0"/>
          </a:p>
        </p:txBody>
      </p:sp>
    </p:spTree>
    <p:extLst>
      <p:ext uri="{BB962C8B-B14F-4D97-AF65-F5344CB8AC3E}">
        <p14:creationId xmlns:p14="http://schemas.microsoft.com/office/powerpoint/2010/main" xmlns="" val="2660122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814C9E-D60E-F839-FBA5-A6327FEDC68B}"/>
              </a:ext>
            </a:extLst>
          </p:cNvPr>
          <p:cNvSpPr>
            <a:spLocks noGrp="1"/>
          </p:cNvSpPr>
          <p:nvPr>
            <p:ph type="title"/>
          </p:nvPr>
        </p:nvSpPr>
        <p:spPr/>
        <p:txBody>
          <a:bodyPr/>
          <a:lstStyle/>
          <a:p>
            <a:r>
              <a:rPr lang="en-GB" dirty="0"/>
              <a:t>.....</a:t>
            </a:r>
            <a:endParaRPr lang="en-US" dirty="0"/>
          </a:p>
        </p:txBody>
      </p:sp>
      <p:sp>
        <p:nvSpPr>
          <p:cNvPr id="3" name="Content Placeholder 2">
            <a:extLst>
              <a:ext uri="{FF2B5EF4-FFF2-40B4-BE49-F238E27FC236}">
                <a16:creationId xmlns:a16="http://schemas.microsoft.com/office/drawing/2014/main" xmlns="" id="{4B934495-150D-A8C6-B189-0C7BA8EF2EC2}"/>
              </a:ext>
            </a:extLst>
          </p:cNvPr>
          <p:cNvSpPr>
            <a:spLocks noGrp="1"/>
          </p:cNvSpPr>
          <p:nvPr>
            <p:ph sz="half" idx="1"/>
          </p:nvPr>
        </p:nvSpPr>
        <p:spPr/>
        <p:txBody>
          <a:bodyPr>
            <a:normAutofit lnSpcReduction="10000"/>
          </a:bodyPr>
          <a:lstStyle/>
          <a:p>
            <a:r>
              <a:rPr lang="en-US" sz="1800" dirty="0">
                <a:effectLst/>
                <a:latin typeface="Calibri" panose="020F0502020204030204" pitchFamily="34" charset="0"/>
                <a:ea typeface="SimSun" panose="020B0502040504020204" pitchFamily="34" charset="0"/>
                <a:cs typeface="Times New Roman" panose="02020603050405020304" pitchFamily="18" charset="0"/>
              </a:rPr>
              <a:t>ESM are overlaid by other </a:t>
            </a:r>
            <a:r>
              <a:rPr lang="en-US" sz="1800" dirty="0" err="1">
                <a:effectLst/>
                <a:latin typeface="Calibri" panose="020F0502020204030204" pitchFamily="34" charset="0"/>
                <a:ea typeface="SimSun" panose="020B0502040504020204" pitchFamily="34" charset="0"/>
                <a:cs typeface="Times New Roman" panose="02020603050405020304" pitchFamily="18" charset="0"/>
              </a:rPr>
              <a:t>superfcial</a:t>
            </a:r>
            <a:r>
              <a:rPr lang="en-US" sz="1800" dirty="0">
                <a:effectLst/>
                <a:latin typeface="Calibri" panose="020F0502020204030204" pitchFamily="34" charset="0"/>
                <a:ea typeface="SimSun" panose="020B0502040504020204" pitchFamily="34" charset="0"/>
                <a:cs typeface="Times New Roman" panose="02020603050405020304" pitchFamily="18" charset="0"/>
              </a:rPr>
              <a:t> posterior back muscles:</a:t>
            </a:r>
            <a:endParaRPr lang="en-GB" sz="1800" dirty="0">
              <a:effectLst/>
              <a:latin typeface="Calibri" panose="020F0502020204030204" pitchFamily="34" charset="0"/>
              <a:ea typeface="SimSun" panose="020B0502040504020204" pitchFamily="34" charset="0"/>
              <a:cs typeface="Times New Roman" panose="02020603050405020304" pitchFamily="18" charset="0"/>
            </a:endParaRPr>
          </a:p>
          <a:p>
            <a:pPr lvl="1"/>
            <a:r>
              <a:rPr lang="en-GB" sz="1600" dirty="0">
                <a:latin typeface="Calibri" panose="020F0502020204030204" pitchFamily="34" charset="0"/>
                <a:ea typeface="SimSun" panose="020B0502040504020204" pitchFamily="34" charset="0"/>
                <a:cs typeface="Times New Roman" panose="02020603050405020304" pitchFamily="18" charset="0"/>
              </a:rPr>
              <a:t>T</a:t>
            </a:r>
            <a:r>
              <a:rPr lang="en-US" sz="1600" dirty="0">
                <a:effectLst/>
                <a:latin typeface="Calibri" panose="020F0502020204030204" pitchFamily="34" charset="0"/>
                <a:ea typeface="SimSun" panose="020B0502040504020204" pitchFamily="34" charset="0"/>
                <a:cs typeface="Times New Roman" panose="02020603050405020304" pitchFamily="18" charset="0"/>
              </a:rPr>
              <a:t>he thoracic region,  overlaid by the trapezius and rhomboid major muscles.</a:t>
            </a:r>
            <a:endParaRPr lang="en-GB" sz="1600" dirty="0">
              <a:effectLst/>
              <a:latin typeface="Calibri" panose="020F0502020204030204" pitchFamily="34" charset="0"/>
              <a:ea typeface="SimSun" panose="020B0502040504020204" pitchFamily="34" charset="0"/>
              <a:cs typeface="Times New Roman" panose="02020603050405020304" pitchFamily="18" charset="0"/>
            </a:endParaRPr>
          </a:p>
          <a:p>
            <a:pPr lvl="1"/>
            <a:r>
              <a:rPr lang="en-US" sz="1600" dirty="0">
                <a:effectLst/>
                <a:latin typeface="Calibri" panose="020F0502020204030204" pitchFamily="34" charset="0"/>
                <a:ea typeface="SimSun" panose="020B0502040504020204" pitchFamily="34" charset="0"/>
                <a:cs typeface="Times New Roman" panose="02020603050405020304" pitchFamily="18" charset="0"/>
              </a:rPr>
              <a:t> The rhomboid major muscle tapers at approximately T5, so may not be visualized during blocks </a:t>
            </a:r>
            <a:r>
              <a:rPr lang="en-GB" sz="1600" dirty="0">
                <a:effectLst/>
                <a:latin typeface="Calibri" panose="020F0502020204030204" pitchFamily="34" charset="0"/>
                <a:ea typeface="SimSun" panose="020B0502040504020204" pitchFamily="34" charset="0"/>
                <a:cs typeface="Times New Roman" panose="02020603050405020304" pitchFamily="18" charset="0"/>
              </a:rPr>
              <a:t> </a:t>
            </a:r>
            <a:r>
              <a:rPr lang="en-US" sz="1600" dirty="0">
                <a:effectLst/>
                <a:latin typeface="Calibri" panose="020F0502020204030204" pitchFamily="34" charset="0"/>
                <a:ea typeface="SimSun" panose="020B0502040504020204" pitchFamily="34" charset="0"/>
                <a:cs typeface="Times New Roman" panose="02020603050405020304" pitchFamily="18" charset="0"/>
              </a:rPr>
              <a:t>performed at or below this level</a:t>
            </a:r>
            <a:endParaRPr lang="en-GB" sz="1600" dirty="0">
              <a:effectLst/>
              <a:latin typeface="Calibri" panose="020F0502020204030204" pitchFamily="34" charset="0"/>
              <a:ea typeface="SimSun" panose="020B0502040504020204" pitchFamily="34" charset="0"/>
              <a:cs typeface="Times New Roman" panose="02020603050405020304" pitchFamily="18" charset="0"/>
            </a:endParaRPr>
          </a:p>
          <a:p>
            <a:pPr lvl="1"/>
            <a:r>
              <a:rPr lang="en-US" sz="1600" dirty="0">
                <a:effectLst/>
                <a:latin typeface="Calibri" panose="020F0502020204030204" pitchFamily="34" charset="0"/>
                <a:ea typeface="SimSun" panose="020B0502040504020204" pitchFamily="34" charset="0"/>
                <a:cs typeface="Times New Roman" panose="02020603050405020304" pitchFamily="18" charset="0"/>
              </a:rPr>
              <a:t>In the lumbar region,  overlaid by the serratus posterior inferior and latissimus </a:t>
            </a:r>
            <a:r>
              <a:rPr lang="en-US" sz="1600" dirty="0" err="1">
                <a:effectLst/>
                <a:latin typeface="Calibri" panose="020F0502020204030204" pitchFamily="34" charset="0"/>
                <a:ea typeface="SimSun" panose="020B0502040504020204" pitchFamily="34" charset="0"/>
                <a:cs typeface="Times New Roman" panose="02020603050405020304" pitchFamily="18" charset="0"/>
              </a:rPr>
              <a:t>dorsi</a:t>
            </a:r>
            <a:endParaRPr lang="en-GB" sz="1600" dirty="0">
              <a:effectLst/>
              <a:latin typeface="Calibri" panose="020F0502020204030204" pitchFamily="34" charset="0"/>
              <a:ea typeface="SimSun" panose="020B0502040504020204" pitchFamily="34" charset="0"/>
              <a:cs typeface="Times New Roman" panose="02020603050405020304" pitchFamily="18" charset="0"/>
            </a:endParaRPr>
          </a:p>
          <a:p>
            <a:pPr marL="0" indent="0">
              <a:buNone/>
            </a:pPr>
            <a:endParaRPr lang="en-US" dirty="0"/>
          </a:p>
        </p:txBody>
      </p:sp>
      <p:pic>
        <p:nvPicPr>
          <p:cNvPr id="7" name="Image1">
            <a:extLst>
              <a:ext uri="{FF2B5EF4-FFF2-40B4-BE49-F238E27FC236}">
                <a16:creationId xmlns:a16="http://schemas.microsoft.com/office/drawing/2014/main" xmlns="" id="{33290E8C-D85B-DBC9-7D91-EF79562B698A}"/>
              </a:ext>
            </a:extLst>
          </p:cNvPr>
          <p:cNvPicPr>
            <a:picLocks noGrp="1"/>
          </p:cNvPicPr>
          <p:nvPr>
            <p:ph sz="half" idx="2"/>
          </p:nvPr>
        </p:nvPicPr>
        <p:blipFill>
          <a:blip r:embed="rId2" cstate="print"/>
          <a:srcRect/>
          <a:stretch/>
        </p:blipFill>
        <p:spPr>
          <a:xfrm>
            <a:off x="6092483" y="2010878"/>
            <a:ext cx="4645025" cy="3889629"/>
          </a:xfrm>
          <a:prstGeom prst="rect">
            <a:avLst/>
          </a:prstGeom>
        </p:spPr>
      </p:pic>
    </p:spTree>
    <p:extLst>
      <p:ext uri="{BB962C8B-B14F-4D97-AF65-F5344CB8AC3E}">
        <p14:creationId xmlns:p14="http://schemas.microsoft.com/office/powerpoint/2010/main" xmlns="" val="896261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E15BC7-A8BF-8BFF-EF39-C32198177C8F}"/>
              </a:ext>
            </a:extLst>
          </p:cNvPr>
          <p:cNvSpPr>
            <a:spLocks noGrp="1"/>
          </p:cNvSpPr>
          <p:nvPr>
            <p:ph type="title"/>
          </p:nvPr>
        </p:nvSpPr>
        <p:spPr/>
        <p:txBody>
          <a:bodyPr/>
          <a:lstStyle/>
          <a:p>
            <a:r>
              <a:rPr lang="en-GB" dirty="0"/>
              <a:t>Cont... </a:t>
            </a:r>
            <a:endParaRPr lang="en-US" dirty="0"/>
          </a:p>
        </p:txBody>
      </p:sp>
      <p:sp>
        <p:nvSpPr>
          <p:cNvPr id="3" name="Content Placeholder 2">
            <a:extLst>
              <a:ext uri="{FF2B5EF4-FFF2-40B4-BE49-F238E27FC236}">
                <a16:creationId xmlns:a16="http://schemas.microsoft.com/office/drawing/2014/main" xmlns="" id="{7935F85B-F92E-D6FC-A439-EB0C2D064171}"/>
              </a:ext>
            </a:extLst>
          </p:cNvPr>
          <p:cNvSpPr>
            <a:spLocks noGrp="1"/>
          </p:cNvSpPr>
          <p:nvPr>
            <p:ph sz="half" idx="1"/>
          </p:nvPr>
        </p:nvSpPr>
        <p:spPr/>
        <p:txBody>
          <a:bodyPr>
            <a:normAutofit fontScale="92500"/>
          </a:bodyPr>
          <a:lstStyle/>
          <a:p>
            <a:r>
              <a:rPr lang="en-GB" dirty="0"/>
              <a:t>Function:  used to move the vertebral column. 
Bilateral contraction help to extend the spine, while 
Unilateral contraction causes lateral flexion (ipsilateral)
It also helps to maintain posture by steady the weight on pelvis during walking </a:t>
            </a:r>
            <a:endParaRPr lang="en-US" dirty="0"/>
          </a:p>
        </p:txBody>
      </p:sp>
      <p:pic>
        <p:nvPicPr>
          <p:cNvPr id="6" name="Content Placeholder 5">
            <a:extLst>
              <a:ext uri="{FF2B5EF4-FFF2-40B4-BE49-F238E27FC236}">
                <a16:creationId xmlns:a16="http://schemas.microsoft.com/office/drawing/2014/main" xmlns="" id="{C27404EE-B64D-5BD6-08F8-B92467061237}"/>
              </a:ext>
            </a:extLst>
          </p:cNvPr>
          <p:cNvPicPr>
            <a:picLocks noGrp="1" noChangeAspect="1"/>
          </p:cNvPicPr>
          <p:nvPr>
            <p:ph sz="half" idx="2"/>
          </p:nvPr>
        </p:nvPicPr>
        <p:blipFill>
          <a:blip r:embed="rId2"/>
          <a:stretch>
            <a:fillRect/>
          </a:stretch>
        </p:blipFill>
        <p:spPr>
          <a:xfrm>
            <a:off x="5964519" y="2010879"/>
            <a:ext cx="5090333" cy="3762392"/>
          </a:xfrm>
        </p:spPr>
      </p:pic>
    </p:spTree>
    <p:extLst>
      <p:ext uri="{BB962C8B-B14F-4D97-AF65-F5344CB8AC3E}">
        <p14:creationId xmlns:p14="http://schemas.microsoft.com/office/powerpoint/2010/main" xmlns="" val="1738047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1F6BA4-6DCA-7C4D-F9AA-565C35167BB6}"/>
              </a:ext>
            </a:extLst>
          </p:cNvPr>
          <p:cNvSpPr>
            <a:spLocks noGrp="1"/>
          </p:cNvSpPr>
          <p:nvPr>
            <p:ph type="title"/>
          </p:nvPr>
        </p:nvSpPr>
        <p:spPr/>
        <p:txBody>
          <a:bodyPr/>
          <a:lstStyle/>
          <a:p>
            <a:r>
              <a:rPr lang="en-GB" dirty="0"/>
              <a:t>Communication:</a:t>
            </a:r>
            <a:endParaRPr lang="en-US" dirty="0"/>
          </a:p>
        </p:txBody>
      </p:sp>
      <p:sp>
        <p:nvSpPr>
          <p:cNvPr id="3" name="Content Placeholder 2">
            <a:extLst>
              <a:ext uri="{FF2B5EF4-FFF2-40B4-BE49-F238E27FC236}">
                <a16:creationId xmlns:a16="http://schemas.microsoft.com/office/drawing/2014/main" xmlns="" id="{736586C2-E0F7-CD47-C961-B33BBCC060FA}"/>
              </a:ext>
            </a:extLst>
          </p:cNvPr>
          <p:cNvSpPr>
            <a:spLocks noGrp="1"/>
          </p:cNvSpPr>
          <p:nvPr>
            <p:ph idx="1"/>
          </p:nvPr>
        </p:nvSpPr>
        <p:spPr/>
        <p:txBody>
          <a:bodyPr/>
          <a:lstStyle/>
          <a:p>
            <a:pPr lvl="0"/>
            <a:r>
              <a:rPr lang="en-US" sz="1800" dirty="0">
                <a:effectLst/>
                <a:latin typeface="Calibri" panose="020F0502020204030204" pitchFamily="34" charset="0"/>
                <a:ea typeface="SimSun" panose="020B0502040504020204" pitchFamily="34" charset="0"/>
                <a:cs typeface="Times New Roman" panose="02020603050405020304" pitchFamily="18" charset="0"/>
              </a:rPr>
              <a:t> The </a:t>
            </a:r>
            <a:r>
              <a:rPr lang="en-GB" sz="1800" dirty="0">
                <a:effectLst/>
                <a:latin typeface="Calibri" panose="020F0502020204030204" pitchFamily="34" charset="0"/>
                <a:ea typeface="SimSun" panose="020B0502040504020204" pitchFamily="34" charset="0"/>
                <a:cs typeface="Times New Roman" panose="02020603050405020304" pitchFamily="18" charset="0"/>
              </a:rPr>
              <a:t>ESP</a:t>
            </a:r>
            <a:r>
              <a:rPr lang="en-US" sz="1800" dirty="0">
                <a:effectLst/>
                <a:latin typeface="Calibri" panose="020F0502020204030204" pitchFamily="34" charset="0"/>
                <a:ea typeface="SimSun" panose="020B0502040504020204" pitchFamily="34" charset="0"/>
                <a:cs typeface="Times New Roman" panose="02020603050405020304" pitchFamily="18" charset="0"/>
              </a:rPr>
              <a:t> communicates with the thoracic paravertebral and epidural spaces through the</a:t>
            </a:r>
            <a:r>
              <a:rPr lang="en-US" sz="1800" b="1" dirty="0">
                <a:effectLst/>
                <a:latin typeface="Calibri" panose="020F0502020204030204" pitchFamily="34" charset="0"/>
                <a:ea typeface="SimSun" panose="020B0502040504020204" pitchFamily="34" charset="0"/>
                <a:cs typeface="Times New Roman" panose="02020603050405020304" pitchFamily="18" charset="0"/>
              </a:rPr>
              <a:t> </a:t>
            </a:r>
            <a:r>
              <a:rPr lang="en-US" sz="1800" b="1" dirty="0" err="1">
                <a:effectLst/>
                <a:latin typeface="Calibri" panose="020F0502020204030204" pitchFamily="34" charset="0"/>
                <a:ea typeface="SimSun" panose="020B0502040504020204" pitchFamily="34" charset="0"/>
                <a:cs typeface="Times New Roman" panose="02020603050405020304" pitchFamily="18" charset="0"/>
              </a:rPr>
              <a:t>intertransverse</a:t>
            </a:r>
            <a:r>
              <a:rPr lang="en-US" sz="1800" b="1" dirty="0">
                <a:effectLst/>
                <a:latin typeface="Calibri" panose="020F0502020204030204" pitchFamily="34" charset="0"/>
                <a:ea typeface="SimSun" panose="020B0502040504020204" pitchFamily="34" charset="0"/>
                <a:cs typeface="Times New Roman" panose="02020603050405020304" pitchFamily="18" charset="0"/>
              </a:rPr>
              <a:t> connective</a:t>
            </a:r>
            <a:r>
              <a:rPr lang="en-GB" sz="1800" b="1" dirty="0">
                <a:latin typeface="Calibri" panose="020F0502020204030204" pitchFamily="34" charset="0"/>
                <a:ea typeface="SimSun" panose="020B0502040504020204" pitchFamily="34" charset="0"/>
                <a:cs typeface="Times New Roman" panose="02020603050405020304" pitchFamily="18" charset="0"/>
              </a:rPr>
              <a:t> tissues. </a:t>
            </a:r>
            <a:endParaRPr lang="en-GB" sz="1800" b="1" dirty="0">
              <a:effectLst/>
              <a:latin typeface="Calibri" panose="020F0502020204030204" pitchFamily="34" charset="0"/>
              <a:ea typeface="SimSun" panose="020B0502040504020204" pitchFamily="34" charset="0"/>
              <a:cs typeface="Times New Roman" panose="02020603050405020304" pitchFamily="18" charset="0"/>
            </a:endParaRPr>
          </a:p>
          <a:p>
            <a:pPr lvl="0"/>
            <a:r>
              <a:rPr lang="en-GB" sz="1800" dirty="0">
                <a:latin typeface="Calibri" panose="020F0502020204030204" pitchFamily="34" charset="0"/>
                <a:ea typeface="SimSun" panose="020B0502040504020204" pitchFamily="34" charset="0"/>
                <a:cs typeface="Times New Roman" panose="02020603050405020304" pitchFamily="18" charset="0"/>
              </a:rPr>
              <a:t>T</a:t>
            </a:r>
            <a:r>
              <a:rPr lang="en-US" sz="1800" dirty="0">
                <a:effectLst/>
                <a:latin typeface="Calibri" panose="020F0502020204030204" pitchFamily="34" charset="0"/>
                <a:ea typeface="SimSun" panose="020B0502040504020204" pitchFamily="34" charset="0"/>
                <a:cs typeface="Times New Roman" panose="02020603050405020304" pitchFamily="18" charset="0"/>
              </a:rPr>
              <a:t>he dorsal border of the thoracic paravertebral space has fenestrations which may allow spread of local anesthetic (LA) into the paravertebral space from more superficial injection within the ESP.</a:t>
            </a:r>
            <a:endParaRPr lang="en-GB" sz="1800" dirty="0">
              <a:effectLst/>
              <a:latin typeface="Calibri" panose="020F0502020204030204" pitchFamily="34" charset="0"/>
              <a:ea typeface="SimSun" panose="020B0502040504020204" pitchFamily="34" charset="0"/>
              <a:cs typeface="Times New Roman" panose="02020603050405020304" pitchFamily="18" charset="0"/>
            </a:endParaRPr>
          </a:p>
          <a:p>
            <a:pPr lvl="0"/>
            <a:r>
              <a:rPr lang="en-US" sz="1800" dirty="0">
                <a:effectLst/>
                <a:latin typeface="Calibri" panose="020F0502020204030204" pitchFamily="34" charset="0"/>
                <a:ea typeface="SimSun" panose="020B0502040504020204" pitchFamily="34" charset="0"/>
                <a:cs typeface="Times New Roman" panose="02020603050405020304" pitchFamily="18" charset="0"/>
              </a:rPr>
              <a:t>The ESP also communicates with intercostal spaces laterally.</a:t>
            </a:r>
            <a:endParaRPr lang="en-GB" sz="1800" dirty="0">
              <a:effectLst/>
              <a:latin typeface="Calibri" panose="020F0502020204030204" pitchFamily="34" charset="0"/>
              <a:ea typeface="SimSu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xmlns="" val="420277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797CC7-CBCD-9E2D-0CF1-1B4974FE4780}"/>
              </a:ext>
            </a:extLst>
          </p:cNvPr>
          <p:cNvSpPr>
            <a:spLocks noGrp="1"/>
          </p:cNvSpPr>
          <p:nvPr>
            <p:ph type="title"/>
          </p:nvPr>
        </p:nvSpPr>
        <p:spPr/>
        <p:txBody>
          <a:bodyPr/>
          <a:lstStyle/>
          <a:p>
            <a:r>
              <a:rPr lang="en-GB" dirty="0"/>
              <a:t>Nerves:</a:t>
            </a:r>
            <a:endParaRPr lang="en-US" dirty="0"/>
          </a:p>
        </p:txBody>
      </p:sp>
      <p:sp>
        <p:nvSpPr>
          <p:cNvPr id="3" name="Content Placeholder 2">
            <a:extLst>
              <a:ext uri="{FF2B5EF4-FFF2-40B4-BE49-F238E27FC236}">
                <a16:creationId xmlns:a16="http://schemas.microsoft.com/office/drawing/2014/main" xmlns="" id="{900F54EC-BB1C-3F4C-573A-27E13FC35203}"/>
              </a:ext>
            </a:extLst>
          </p:cNvPr>
          <p:cNvSpPr>
            <a:spLocks noGrp="1"/>
          </p:cNvSpPr>
          <p:nvPr>
            <p:ph sz="half" idx="1"/>
          </p:nvPr>
        </p:nvSpPr>
        <p:spPr/>
        <p:txBody>
          <a:bodyPr/>
          <a:lstStyle/>
          <a:p>
            <a:r>
              <a:rPr lang="en-US" sz="1800" dirty="0">
                <a:effectLst/>
                <a:latin typeface="Calibri" panose="020F0502020204030204" pitchFamily="34" charset="0"/>
                <a:ea typeface="SimSun" panose="020B0502040504020204" pitchFamily="34" charset="0"/>
                <a:cs typeface="Times New Roman" panose="02020603050405020304" pitchFamily="18" charset="0"/>
              </a:rPr>
              <a:t> In the thoracic spine, spinal nerves exit the vertebral canal and continue as ventral and dorsal rami within the ESP.</a:t>
            </a:r>
            <a:endParaRPr lang="en-GB" sz="1800" dirty="0">
              <a:effectLst/>
              <a:latin typeface="Calibri" panose="020F0502020204030204" pitchFamily="34" charset="0"/>
              <a:ea typeface="SimSun" panose="020B0502040504020204" pitchFamily="34" charset="0"/>
              <a:cs typeface="Times New Roman" panose="02020603050405020304" pitchFamily="18" charset="0"/>
            </a:endParaRPr>
          </a:p>
          <a:p>
            <a:pPr lvl="0"/>
            <a:r>
              <a:rPr lang="en-US" sz="1800" dirty="0">
                <a:effectLst/>
                <a:latin typeface="Calibri" panose="020F0502020204030204" pitchFamily="34" charset="0"/>
                <a:ea typeface="SimSun" panose="020B0502040504020204" pitchFamily="34" charset="0"/>
                <a:cs typeface="Times New Roman" panose="02020603050405020304" pitchFamily="18" charset="0"/>
              </a:rPr>
              <a:t> In the lumbar region, the ventral rami of L1 to L4 form the lumbar plexus, and the dorsal rami split into medial, intermediate, and lateral branches.</a:t>
            </a:r>
            <a:endParaRPr lang="en-GB" sz="1800" dirty="0">
              <a:effectLst/>
              <a:latin typeface="Calibri" panose="020F0502020204030204" pitchFamily="34" charset="0"/>
              <a:ea typeface="SimSun" panose="020B0502040504020204" pitchFamily="34" charset="0"/>
              <a:cs typeface="Times New Roman" panose="02020603050405020304" pitchFamily="18" charset="0"/>
            </a:endParaRPr>
          </a:p>
          <a:p>
            <a:endParaRPr lang="en-US" dirty="0"/>
          </a:p>
        </p:txBody>
      </p:sp>
      <p:pic>
        <p:nvPicPr>
          <p:cNvPr id="7" name="Image1">
            <a:extLst>
              <a:ext uri="{FF2B5EF4-FFF2-40B4-BE49-F238E27FC236}">
                <a16:creationId xmlns:a16="http://schemas.microsoft.com/office/drawing/2014/main" xmlns="" id="{55AEF304-487B-1CD0-0AD6-8D30E931881B}"/>
              </a:ext>
            </a:extLst>
          </p:cNvPr>
          <p:cNvPicPr>
            <a:picLocks noGrp="1"/>
          </p:cNvPicPr>
          <p:nvPr>
            <p:ph sz="half" idx="2"/>
          </p:nvPr>
        </p:nvPicPr>
        <p:blipFill>
          <a:blip r:embed="rId2" cstate="print"/>
          <a:srcRect/>
          <a:stretch/>
        </p:blipFill>
        <p:spPr>
          <a:xfrm>
            <a:off x="6203575" y="2017713"/>
            <a:ext cx="4851277" cy="3743606"/>
          </a:xfrm>
          <a:prstGeom prst="rect">
            <a:avLst/>
          </a:prstGeom>
        </p:spPr>
      </p:pic>
    </p:spTree>
    <p:extLst>
      <p:ext uri="{BB962C8B-B14F-4D97-AF65-F5344CB8AC3E}">
        <p14:creationId xmlns:p14="http://schemas.microsoft.com/office/powerpoint/2010/main" xmlns="" val="2410852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BBAEA1-7A4C-29C1-C15A-CA9E93360379}"/>
              </a:ext>
            </a:extLst>
          </p:cNvPr>
          <p:cNvSpPr>
            <a:spLocks noGrp="1"/>
          </p:cNvSpPr>
          <p:nvPr>
            <p:ph type="title"/>
          </p:nvPr>
        </p:nvSpPr>
        <p:spPr/>
        <p:txBody>
          <a:bodyPr/>
          <a:lstStyle/>
          <a:p>
            <a:r>
              <a:rPr lang="en-GB" dirty="0"/>
              <a:t>Erector spinae plane </a:t>
            </a:r>
            <a:endParaRPr lang="en-US" dirty="0"/>
          </a:p>
        </p:txBody>
      </p:sp>
      <p:sp>
        <p:nvSpPr>
          <p:cNvPr id="3" name="Content Placeholder 2">
            <a:extLst>
              <a:ext uri="{FF2B5EF4-FFF2-40B4-BE49-F238E27FC236}">
                <a16:creationId xmlns:a16="http://schemas.microsoft.com/office/drawing/2014/main" xmlns="" id="{CFE96A5C-1024-5DD8-5F45-188083CA108B}"/>
              </a:ext>
            </a:extLst>
          </p:cNvPr>
          <p:cNvSpPr>
            <a:spLocks noGrp="1"/>
          </p:cNvSpPr>
          <p:nvPr>
            <p:ph sz="half" idx="1"/>
          </p:nvPr>
        </p:nvSpPr>
        <p:spPr/>
        <p:txBody>
          <a:bodyPr/>
          <a:lstStyle/>
          <a:p>
            <a:r>
              <a:rPr lang="en-GB" dirty="0"/>
              <a:t>ESP :- is located deep to the erector spinae muscles, between the </a:t>
            </a:r>
            <a:r>
              <a:rPr lang="en-GB" dirty="0" err="1"/>
              <a:t>transversospinalis</a:t>
            </a:r>
            <a:r>
              <a:rPr lang="en-GB" dirty="0"/>
              <a:t> muscles and the vertebral lamina or simply between ESM and </a:t>
            </a:r>
            <a:r>
              <a:rPr lang="en-GB" dirty="0" err="1"/>
              <a:t>transverprocess</a:t>
            </a:r>
            <a:r>
              <a:rPr lang="en-GB" dirty="0"/>
              <a:t> of the vertebra. </a:t>
            </a:r>
          </a:p>
          <a:p>
            <a:r>
              <a:rPr lang="en-GB" dirty="0"/>
              <a:t>Is a place where needle placement and local anesthetic distribution during ESPB </a:t>
            </a:r>
            <a:endParaRPr lang="en-US" dirty="0"/>
          </a:p>
        </p:txBody>
      </p:sp>
      <p:pic>
        <p:nvPicPr>
          <p:cNvPr id="6" name="Content Placeholder 5">
            <a:extLst>
              <a:ext uri="{FF2B5EF4-FFF2-40B4-BE49-F238E27FC236}">
                <a16:creationId xmlns:a16="http://schemas.microsoft.com/office/drawing/2014/main" xmlns="" id="{D8B9A5FF-D07F-1866-44A2-64C06FB01CED}"/>
              </a:ext>
            </a:extLst>
          </p:cNvPr>
          <p:cNvPicPr>
            <a:picLocks noGrp="1" noChangeAspect="1"/>
          </p:cNvPicPr>
          <p:nvPr>
            <p:ph sz="half" idx="2"/>
          </p:nvPr>
        </p:nvPicPr>
        <p:blipFill>
          <a:blip r:embed="rId2"/>
          <a:stretch>
            <a:fillRect/>
          </a:stretch>
        </p:blipFill>
        <p:spPr>
          <a:xfrm>
            <a:off x="6413500" y="2156522"/>
            <a:ext cx="4645025" cy="3592843"/>
          </a:xfrm>
        </p:spPr>
      </p:pic>
    </p:spTree>
    <p:extLst>
      <p:ext uri="{BB962C8B-B14F-4D97-AF65-F5344CB8AC3E}">
        <p14:creationId xmlns:p14="http://schemas.microsoft.com/office/powerpoint/2010/main" xmlns="" val="2846202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B9E2A3-5324-455E-52F9-12FDD6846E3B}"/>
              </a:ext>
            </a:extLst>
          </p:cNvPr>
          <p:cNvSpPr>
            <a:spLocks noGrp="1"/>
          </p:cNvSpPr>
          <p:nvPr>
            <p:ph type="title"/>
          </p:nvPr>
        </p:nvSpPr>
        <p:spPr/>
        <p:txBody>
          <a:bodyPr/>
          <a:lstStyle/>
          <a:p>
            <a:r>
              <a:rPr lang="en-GB" dirty="0" err="1"/>
              <a:t>Esp</a:t>
            </a:r>
            <a:r>
              <a:rPr lang="en-GB" dirty="0"/>
              <a:t> Block</a:t>
            </a:r>
            <a:endParaRPr lang="en-US" dirty="0"/>
          </a:p>
        </p:txBody>
      </p:sp>
      <p:sp>
        <p:nvSpPr>
          <p:cNvPr id="3" name="Content Placeholder 2">
            <a:extLst>
              <a:ext uri="{FF2B5EF4-FFF2-40B4-BE49-F238E27FC236}">
                <a16:creationId xmlns:a16="http://schemas.microsoft.com/office/drawing/2014/main" xmlns="" id="{928C736F-24C1-ACB0-D05B-216B4B238AED}"/>
              </a:ext>
            </a:extLst>
          </p:cNvPr>
          <p:cNvSpPr>
            <a:spLocks noGrp="1"/>
          </p:cNvSpPr>
          <p:nvPr>
            <p:ph idx="1"/>
          </p:nvPr>
        </p:nvSpPr>
        <p:spPr/>
        <p:txBody>
          <a:bodyPr>
            <a:normAutofit/>
          </a:bodyPr>
          <a:lstStyle/>
          <a:p>
            <a:r>
              <a:rPr lang="en-GB" dirty="0"/>
              <a:t>The aim of ESP block is deposit local anesthetics in to the facial plane deep to erector spinae muscle, which blocks the dorsal and ventral rami of the spinal nerve depending on the level of injection and the amount of local anesthetics injected. 
The spinous process of the vertebra and a point 3 cm lateral to it are marked at the appropriate level before performing the block. </a:t>
            </a:r>
            <a:endParaRPr lang="en-US" dirty="0"/>
          </a:p>
        </p:txBody>
      </p:sp>
    </p:spTree>
    <p:extLst>
      <p:ext uri="{BB962C8B-B14F-4D97-AF65-F5344CB8AC3E}">
        <p14:creationId xmlns:p14="http://schemas.microsoft.com/office/powerpoint/2010/main" xmlns="" val="1868814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B7E6BD-485D-506A-F2EA-8DC1DC1A26A5}"/>
              </a:ext>
            </a:extLst>
          </p:cNvPr>
          <p:cNvSpPr>
            <a:spLocks noGrp="1"/>
          </p:cNvSpPr>
          <p:nvPr>
            <p:ph type="title"/>
          </p:nvPr>
        </p:nvSpPr>
        <p:spPr/>
        <p:txBody>
          <a:bodyPr/>
          <a:lstStyle/>
          <a:p>
            <a:r>
              <a:rPr lang="en-GB" dirty="0"/>
              <a:t>Types of </a:t>
            </a:r>
            <a:r>
              <a:rPr lang="en-GB" dirty="0" err="1"/>
              <a:t>espb</a:t>
            </a:r>
            <a:r>
              <a:rPr lang="en-GB" dirty="0"/>
              <a:t> </a:t>
            </a:r>
            <a:endParaRPr lang="en-US" dirty="0"/>
          </a:p>
        </p:txBody>
      </p:sp>
      <p:sp>
        <p:nvSpPr>
          <p:cNvPr id="3" name="Content Placeholder 2">
            <a:extLst>
              <a:ext uri="{FF2B5EF4-FFF2-40B4-BE49-F238E27FC236}">
                <a16:creationId xmlns:a16="http://schemas.microsoft.com/office/drawing/2014/main" xmlns="" id="{78EC567E-13F2-BBEC-0FD3-5C649E505C60}"/>
              </a:ext>
            </a:extLst>
          </p:cNvPr>
          <p:cNvSpPr>
            <a:spLocks noGrp="1"/>
          </p:cNvSpPr>
          <p:nvPr>
            <p:ph idx="1"/>
          </p:nvPr>
        </p:nvSpPr>
        <p:spPr/>
        <p:txBody>
          <a:bodyPr>
            <a:normAutofit lnSpcReduction="10000"/>
          </a:bodyPr>
          <a:lstStyle/>
          <a:p>
            <a:pPr marL="0" indent="0">
              <a:buNone/>
            </a:pPr>
            <a:r>
              <a:rPr lang="en-GB" dirty="0"/>
              <a:t>1. Unilateral ESPB</a:t>
            </a:r>
          </a:p>
          <a:p>
            <a:r>
              <a:rPr lang="en-GB" dirty="0"/>
              <a:t>Performed on one side of the spine.</a:t>
            </a:r>
          </a:p>
          <a:p>
            <a:r>
              <a:rPr lang="en-GB" dirty="0"/>
              <a:t>Indications :- often used for unilateral thoracic or abdominal surgeries, such as rib fractures or thoracotomy.</a:t>
            </a:r>
          </a:p>
          <a:p>
            <a:pPr marL="0" indent="0">
              <a:buNone/>
            </a:pPr>
            <a:r>
              <a:rPr lang="en-GB" dirty="0"/>
              <a:t>2. Bilateral ESPB </a:t>
            </a:r>
          </a:p>
          <a:p>
            <a:r>
              <a:rPr lang="en-GB" dirty="0"/>
              <a:t>Involves injecting local anesthetic on both sides of the spine.
Indications :- useful for procedures requiring analgesia on both sides, such as bilateral thoracotomies or extensive abdominal surgeries.</a:t>
            </a:r>
          </a:p>
          <a:p>
            <a:pPr marL="457200" indent="-457200">
              <a:buFont typeface="+mj-lt"/>
              <a:buAutoNum type="arabicPeriod"/>
            </a:pPr>
            <a:endParaRPr lang="en-US" dirty="0"/>
          </a:p>
        </p:txBody>
      </p:sp>
    </p:spTree>
    <p:extLst>
      <p:ext uri="{BB962C8B-B14F-4D97-AF65-F5344CB8AC3E}">
        <p14:creationId xmlns:p14="http://schemas.microsoft.com/office/powerpoint/2010/main" xmlns="" val="72039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01E2E7-54BF-2178-DD14-B0F43DB47F0B}"/>
              </a:ext>
            </a:extLst>
          </p:cNvPr>
          <p:cNvSpPr>
            <a:spLocks noGrp="1"/>
          </p:cNvSpPr>
          <p:nvPr>
            <p:ph type="title"/>
          </p:nvPr>
        </p:nvSpPr>
        <p:spPr>
          <a:xfrm>
            <a:off x="1410447" y="657413"/>
            <a:ext cx="8753913" cy="1016000"/>
          </a:xfrm>
        </p:spPr>
        <p:txBody>
          <a:bodyPr/>
          <a:lstStyle/>
          <a:p>
            <a:r>
              <a:rPr lang="en-GB" dirty="0"/>
              <a:t>Cont...</a:t>
            </a:r>
            <a:endParaRPr lang="en-US" dirty="0"/>
          </a:p>
        </p:txBody>
      </p:sp>
      <p:sp>
        <p:nvSpPr>
          <p:cNvPr id="3" name="Content Placeholder 2">
            <a:extLst>
              <a:ext uri="{FF2B5EF4-FFF2-40B4-BE49-F238E27FC236}">
                <a16:creationId xmlns:a16="http://schemas.microsoft.com/office/drawing/2014/main" xmlns="" id="{D782244D-EC0E-053F-AF71-4E9194C82B80}"/>
              </a:ext>
            </a:extLst>
          </p:cNvPr>
          <p:cNvSpPr>
            <a:spLocks noGrp="1"/>
          </p:cNvSpPr>
          <p:nvPr>
            <p:ph idx="1"/>
          </p:nvPr>
        </p:nvSpPr>
        <p:spPr>
          <a:xfrm>
            <a:off x="1294362" y="2396964"/>
            <a:ext cx="9603275" cy="3450613"/>
          </a:xfrm>
        </p:spPr>
        <p:txBody>
          <a:bodyPr/>
          <a:lstStyle/>
          <a:p>
            <a:pPr marL="0" indent="0">
              <a:buNone/>
            </a:pPr>
            <a:r>
              <a:rPr lang="en-GB" dirty="0"/>
              <a:t>3. Thoracic ESP block </a:t>
            </a:r>
          </a:p>
          <a:p>
            <a:r>
              <a:rPr lang="en-GB" dirty="0"/>
              <a:t>Administered at the thoracic levels (typically T5-T9).</a:t>
            </a:r>
          </a:p>
          <a:p>
            <a:r>
              <a:rPr lang="en-GB" dirty="0"/>
              <a:t>Indications :- effective for thoracic surgery, chest wall pain, and rib fractures.</a:t>
            </a:r>
          </a:p>
          <a:p>
            <a:pPr marL="0" indent="0">
              <a:buNone/>
            </a:pPr>
            <a:r>
              <a:rPr lang="en-GB" dirty="0"/>
              <a:t>4. Lumbar ESP block </a:t>
            </a:r>
          </a:p>
          <a:p>
            <a:r>
              <a:rPr lang="en-GB" dirty="0"/>
              <a:t>Targeted at the lumbar levels (usually L2-L4).
Indications :- used for lower abdominal surgeries, lumbar spine procedures, or hip surgeries.</a:t>
            </a:r>
          </a:p>
          <a:p>
            <a:pPr marL="0" indent="0">
              <a:buNone/>
            </a:pPr>
            <a:endParaRPr lang="en-US" dirty="0"/>
          </a:p>
        </p:txBody>
      </p:sp>
    </p:spTree>
    <p:extLst>
      <p:ext uri="{BB962C8B-B14F-4D97-AF65-F5344CB8AC3E}">
        <p14:creationId xmlns:p14="http://schemas.microsoft.com/office/powerpoint/2010/main" xmlns="" val="3585378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44B0E3-5804-B1DD-D8C6-DD30BD3594BB}"/>
              </a:ext>
            </a:extLst>
          </p:cNvPr>
          <p:cNvSpPr>
            <a:spLocks noGrp="1"/>
          </p:cNvSpPr>
          <p:nvPr>
            <p:ph type="title"/>
          </p:nvPr>
        </p:nvSpPr>
        <p:spPr/>
        <p:txBody>
          <a:bodyPr/>
          <a:lstStyle/>
          <a:p>
            <a:r>
              <a:rPr lang="en-GB" dirty="0"/>
              <a:t>......</a:t>
            </a:r>
            <a:endParaRPr lang="en-US" dirty="0"/>
          </a:p>
        </p:txBody>
      </p:sp>
      <p:sp>
        <p:nvSpPr>
          <p:cNvPr id="3" name="Content Placeholder 2">
            <a:extLst>
              <a:ext uri="{FF2B5EF4-FFF2-40B4-BE49-F238E27FC236}">
                <a16:creationId xmlns:a16="http://schemas.microsoft.com/office/drawing/2014/main" xmlns="" id="{4779C614-96B6-AC19-2140-32AD06AC3E62}"/>
              </a:ext>
            </a:extLst>
          </p:cNvPr>
          <p:cNvSpPr>
            <a:spLocks noGrp="1"/>
          </p:cNvSpPr>
          <p:nvPr>
            <p:ph idx="1"/>
          </p:nvPr>
        </p:nvSpPr>
        <p:spPr/>
        <p:txBody>
          <a:bodyPr/>
          <a:lstStyle/>
          <a:p>
            <a:pPr marL="0" indent="0">
              <a:buNone/>
            </a:pPr>
            <a:r>
              <a:rPr lang="en-GB" dirty="0"/>
              <a:t>☆ ESP block with catheter:</a:t>
            </a:r>
          </a:p>
          <a:p>
            <a:r>
              <a:rPr lang="en-GB" dirty="0"/>
              <a:t>Involves placing a catheter in the ESP space for continuous infusion of local anesthetic.</a:t>
            </a:r>
          </a:p>
          <a:p>
            <a:r>
              <a:rPr lang="en-GB" dirty="0"/>
              <a:t>Indications :- provides prolonged analgesia for patients undergoing major thoracic or abdominal </a:t>
            </a:r>
            <a:r>
              <a:rPr lang="en-GB"/>
              <a:t>surgery.</a:t>
            </a:r>
          </a:p>
          <a:p>
            <a:endParaRPr lang="en-US" dirty="0"/>
          </a:p>
        </p:txBody>
      </p:sp>
    </p:spTree>
    <p:extLst>
      <p:ext uri="{BB962C8B-B14F-4D97-AF65-F5344CB8AC3E}">
        <p14:creationId xmlns:p14="http://schemas.microsoft.com/office/powerpoint/2010/main" xmlns="" val="4070529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2FA9B3-F0B2-2A34-70F8-F90E821686BD}"/>
              </a:ext>
            </a:extLst>
          </p:cNvPr>
          <p:cNvSpPr>
            <a:spLocks noGrp="1"/>
          </p:cNvSpPr>
          <p:nvPr>
            <p:ph type="title"/>
          </p:nvPr>
        </p:nvSpPr>
        <p:spPr/>
        <p:txBody>
          <a:bodyPr/>
          <a:lstStyle/>
          <a:p>
            <a:r>
              <a:rPr lang="en-GB" dirty="0"/>
              <a:t>Mechanisms of action</a:t>
            </a:r>
            <a:endParaRPr lang="en-US" dirty="0"/>
          </a:p>
        </p:txBody>
      </p:sp>
      <p:sp>
        <p:nvSpPr>
          <p:cNvPr id="3" name="Content Placeholder 2">
            <a:extLst>
              <a:ext uri="{FF2B5EF4-FFF2-40B4-BE49-F238E27FC236}">
                <a16:creationId xmlns:a16="http://schemas.microsoft.com/office/drawing/2014/main" xmlns="" id="{F549DB71-CCDF-8D26-1461-30878B9CD70F}"/>
              </a:ext>
            </a:extLst>
          </p:cNvPr>
          <p:cNvSpPr>
            <a:spLocks noGrp="1"/>
          </p:cNvSpPr>
          <p:nvPr>
            <p:ph sz="half" idx="1"/>
          </p:nvPr>
        </p:nvSpPr>
        <p:spPr/>
        <p:txBody>
          <a:bodyPr>
            <a:normAutofit fontScale="85000" lnSpcReduction="20000"/>
          </a:bodyPr>
          <a:lstStyle/>
          <a:p>
            <a:r>
              <a:rPr lang="en-GB" dirty="0"/>
              <a:t>The mechanism of action of ESP blocks is unclear. However, some studies suggest that :-</a:t>
            </a:r>
          </a:p>
          <a:p>
            <a:r>
              <a:rPr lang="en-GB" dirty="0"/>
              <a:t>ESP block involves spread of LA and diffusion within the ESP, to the intercostal spaces and paravertebral spaces, and to adjacent neural structures (</a:t>
            </a:r>
            <a:r>
              <a:rPr lang="en-GB" dirty="0" err="1"/>
              <a:t>eg</a:t>
            </a:r>
            <a:r>
              <a:rPr lang="en-GB" dirty="0"/>
              <a:t>, spinal nerve roots, dorsal and ventral rami).</a:t>
            </a:r>
          </a:p>
          <a:p>
            <a:r>
              <a:rPr lang="en-GB" dirty="0"/>
              <a:t>Spread to the epidural or paravertebral spaces, which would block sympathetic </a:t>
            </a:r>
            <a:r>
              <a:rPr lang="en-GB" dirty="0" err="1"/>
              <a:t>fibers</a:t>
            </a:r>
            <a:r>
              <a:rPr lang="en-GB" dirty="0"/>
              <a:t>, provides a mechanism by which the ESP block could provide visceral analgesia.</a:t>
            </a:r>
            <a:endParaRPr lang="en-US" dirty="0"/>
          </a:p>
        </p:txBody>
      </p:sp>
      <p:pic>
        <p:nvPicPr>
          <p:cNvPr id="8" name="Content Placeholder 7">
            <a:extLst>
              <a:ext uri="{FF2B5EF4-FFF2-40B4-BE49-F238E27FC236}">
                <a16:creationId xmlns:a16="http://schemas.microsoft.com/office/drawing/2014/main" xmlns="" id="{7A61E61B-54FB-0A00-275A-401023143D6A}"/>
              </a:ext>
            </a:extLst>
          </p:cNvPr>
          <p:cNvPicPr>
            <a:picLocks noGrp="1" noChangeAspect="1"/>
          </p:cNvPicPr>
          <p:nvPr>
            <p:ph sz="half" idx="2"/>
          </p:nvPr>
        </p:nvPicPr>
        <p:blipFill>
          <a:blip r:embed="rId2"/>
          <a:stretch>
            <a:fillRect/>
          </a:stretch>
        </p:blipFill>
        <p:spPr>
          <a:xfrm>
            <a:off x="6413500" y="2163482"/>
            <a:ext cx="5647018" cy="3716807"/>
          </a:xfrm>
        </p:spPr>
      </p:pic>
    </p:spTree>
    <p:extLst>
      <p:ext uri="{BB962C8B-B14F-4D97-AF65-F5344CB8AC3E}">
        <p14:creationId xmlns:p14="http://schemas.microsoft.com/office/powerpoint/2010/main" xmlns="" val="2338999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B04321-92D2-4943-2775-26DFD6FBE5CA}"/>
              </a:ext>
            </a:extLst>
          </p:cNvPr>
          <p:cNvSpPr>
            <a:spLocks noGrp="1"/>
          </p:cNvSpPr>
          <p:nvPr>
            <p:ph type="title"/>
          </p:nvPr>
        </p:nvSpPr>
        <p:spPr/>
        <p:txBody>
          <a:bodyPr/>
          <a:lstStyle/>
          <a:p>
            <a:r>
              <a:rPr lang="en-GB" dirty="0"/>
              <a:t>Indications </a:t>
            </a:r>
            <a:endParaRPr lang="en-US" dirty="0"/>
          </a:p>
        </p:txBody>
      </p:sp>
      <p:sp>
        <p:nvSpPr>
          <p:cNvPr id="3" name="Content Placeholder 2">
            <a:extLst>
              <a:ext uri="{FF2B5EF4-FFF2-40B4-BE49-F238E27FC236}">
                <a16:creationId xmlns:a16="http://schemas.microsoft.com/office/drawing/2014/main" xmlns="" id="{603F91E6-BCDC-1F80-C3BB-5F510CACA1A5}"/>
              </a:ext>
            </a:extLst>
          </p:cNvPr>
          <p:cNvSpPr>
            <a:spLocks noGrp="1"/>
          </p:cNvSpPr>
          <p:nvPr>
            <p:ph idx="1"/>
          </p:nvPr>
        </p:nvSpPr>
        <p:spPr/>
        <p:txBody>
          <a:bodyPr/>
          <a:lstStyle/>
          <a:p>
            <a:r>
              <a:rPr lang="en-GB" dirty="0"/>
              <a:t>Breast surgery 
Thoracic surgery 
Rib fracture 
Abdominal surgery 
Spinal surgery 
Hip surgery 
As a PVB stepping stone</a:t>
            </a:r>
            <a:endParaRPr lang="en-US" dirty="0"/>
          </a:p>
        </p:txBody>
      </p:sp>
    </p:spTree>
    <p:extLst>
      <p:ext uri="{BB962C8B-B14F-4D97-AF65-F5344CB8AC3E}">
        <p14:creationId xmlns:p14="http://schemas.microsoft.com/office/powerpoint/2010/main" xmlns="" val="2860540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C29FFA-F11C-DA9F-6AEB-B1913AF573F6}"/>
              </a:ext>
            </a:extLst>
          </p:cNvPr>
          <p:cNvSpPr>
            <a:spLocks noGrp="1"/>
          </p:cNvSpPr>
          <p:nvPr>
            <p:ph type="title"/>
          </p:nvPr>
        </p:nvSpPr>
        <p:spPr/>
        <p:txBody>
          <a:bodyPr/>
          <a:lstStyle/>
          <a:p>
            <a:r>
              <a:rPr lang="en-GB" dirty="0"/>
              <a:t>Contraindications </a:t>
            </a:r>
            <a:endParaRPr lang="en-US" dirty="0"/>
          </a:p>
        </p:txBody>
      </p:sp>
      <p:sp>
        <p:nvSpPr>
          <p:cNvPr id="3" name="Content Placeholder 2">
            <a:extLst>
              <a:ext uri="{FF2B5EF4-FFF2-40B4-BE49-F238E27FC236}">
                <a16:creationId xmlns:a16="http://schemas.microsoft.com/office/drawing/2014/main" xmlns="" id="{54603C24-44C3-646F-DF5C-A279CC0CD389}"/>
              </a:ext>
            </a:extLst>
          </p:cNvPr>
          <p:cNvSpPr>
            <a:spLocks noGrp="1"/>
          </p:cNvSpPr>
          <p:nvPr>
            <p:ph idx="1"/>
          </p:nvPr>
        </p:nvSpPr>
        <p:spPr/>
        <p:txBody>
          <a:bodyPr/>
          <a:lstStyle/>
          <a:p>
            <a:r>
              <a:rPr lang="en-GB" dirty="0"/>
              <a:t>Patient refusal 
LA allergy
Infection at the site of injection 
Difficult anatomy 
Anticoagulation</a:t>
            </a:r>
            <a:endParaRPr lang="en-US" dirty="0"/>
          </a:p>
        </p:txBody>
      </p:sp>
    </p:spTree>
    <p:extLst>
      <p:ext uri="{BB962C8B-B14F-4D97-AF65-F5344CB8AC3E}">
        <p14:creationId xmlns:p14="http://schemas.microsoft.com/office/powerpoint/2010/main" xmlns="" val="2535695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C2C892-8D60-8CED-0E2C-77367B263855}"/>
              </a:ext>
            </a:extLst>
          </p:cNvPr>
          <p:cNvSpPr>
            <a:spLocks noGrp="1"/>
          </p:cNvSpPr>
          <p:nvPr>
            <p:ph type="title"/>
          </p:nvPr>
        </p:nvSpPr>
        <p:spPr/>
        <p:txBody>
          <a:bodyPr/>
          <a:lstStyle/>
          <a:p>
            <a:r>
              <a:rPr lang="en-GB" dirty="0"/>
              <a:t>Landmarks for ESPB </a:t>
            </a:r>
            <a:endParaRPr lang="en-US" dirty="0"/>
          </a:p>
        </p:txBody>
      </p:sp>
      <p:sp>
        <p:nvSpPr>
          <p:cNvPr id="3" name="Picture Placeholder 2">
            <a:extLst>
              <a:ext uri="{FF2B5EF4-FFF2-40B4-BE49-F238E27FC236}">
                <a16:creationId xmlns:a16="http://schemas.microsoft.com/office/drawing/2014/main" xmlns="" id="{BE2200E5-21A9-FE26-2DC1-763FC36E5E0B}"/>
              </a:ext>
            </a:extLst>
          </p:cNvPr>
          <p:cNvSpPr>
            <a:spLocks noGrp="1"/>
          </p:cNvSpPr>
          <p:nvPr>
            <p:ph sz="half" idx="1"/>
          </p:nvPr>
        </p:nvSpPr>
        <p:spPr/>
        <p:txBody>
          <a:bodyPr/>
          <a:lstStyle/>
          <a:p>
            <a:r>
              <a:rPr lang="en-GB" dirty="0"/>
              <a:t>Trapezius muscle </a:t>
            </a:r>
          </a:p>
          <a:p>
            <a:r>
              <a:rPr lang="en-GB" dirty="0"/>
              <a:t>Rhomboid muscle </a:t>
            </a:r>
          </a:p>
          <a:p>
            <a:r>
              <a:rPr lang="en-GB" dirty="0"/>
              <a:t>Erector spinae muscle </a:t>
            </a:r>
          </a:p>
          <a:p>
            <a:r>
              <a:rPr lang="en-GB" dirty="0"/>
              <a:t>Transverse process of vertebral </a:t>
            </a:r>
            <a:endParaRPr lang="en-US" dirty="0"/>
          </a:p>
        </p:txBody>
      </p:sp>
      <p:pic>
        <p:nvPicPr>
          <p:cNvPr id="6" name="Content Placeholder 5">
            <a:extLst>
              <a:ext uri="{FF2B5EF4-FFF2-40B4-BE49-F238E27FC236}">
                <a16:creationId xmlns:a16="http://schemas.microsoft.com/office/drawing/2014/main" xmlns="" id="{2567843D-F168-C20A-BD1F-227545645EC8}"/>
              </a:ext>
            </a:extLst>
          </p:cNvPr>
          <p:cNvPicPr>
            <a:picLocks noGrp="1" noChangeAspect="1"/>
          </p:cNvPicPr>
          <p:nvPr>
            <p:ph sz="half" idx="2"/>
          </p:nvPr>
        </p:nvPicPr>
        <p:blipFill>
          <a:blip r:embed="rId2"/>
          <a:stretch>
            <a:fillRect/>
          </a:stretch>
        </p:blipFill>
        <p:spPr>
          <a:xfrm>
            <a:off x="5904752" y="2010877"/>
            <a:ext cx="5150099" cy="3941687"/>
          </a:xfrm>
        </p:spPr>
      </p:pic>
    </p:spTree>
    <p:extLst>
      <p:ext uri="{BB962C8B-B14F-4D97-AF65-F5344CB8AC3E}">
        <p14:creationId xmlns:p14="http://schemas.microsoft.com/office/powerpoint/2010/main" xmlns="" val="3527489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66DFAC-80A0-7B89-E71D-B8F398923BA5}"/>
              </a:ext>
            </a:extLst>
          </p:cNvPr>
          <p:cNvSpPr>
            <a:spLocks noGrp="1"/>
          </p:cNvSpPr>
          <p:nvPr>
            <p:ph type="title"/>
          </p:nvPr>
        </p:nvSpPr>
        <p:spPr/>
        <p:txBody>
          <a:bodyPr/>
          <a:lstStyle/>
          <a:p>
            <a:r>
              <a:rPr lang="en-GB" dirty="0"/>
              <a:t>Site of injection:</a:t>
            </a:r>
            <a:endParaRPr lang="en-US" dirty="0"/>
          </a:p>
        </p:txBody>
      </p:sp>
      <p:sp>
        <p:nvSpPr>
          <p:cNvPr id="3" name="Content Placeholder 2">
            <a:extLst>
              <a:ext uri="{FF2B5EF4-FFF2-40B4-BE49-F238E27FC236}">
                <a16:creationId xmlns:a16="http://schemas.microsoft.com/office/drawing/2014/main" xmlns="" id="{7E5C5E5C-1232-2339-395C-3B2F23FEC54A}"/>
              </a:ext>
            </a:extLst>
          </p:cNvPr>
          <p:cNvSpPr>
            <a:spLocks noGrp="1"/>
          </p:cNvSpPr>
          <p:nvPr>
            <p:ph sz="half" idx="1"/>
          </p:nvPr>
        </p:nvSpPr>
        <p:spPr/>
        <p:txBody>
          <a:bodyPr>
            <a:normAutofit fontScale="92500"/>
          </a:bodyPr>
          <a:lstStyle/>
          <a:p>
            <a:r>
              <a:rPr lang="en-GB" dirty="0"/>
              <a:t>The selected level for the block should be as close to the location for the dermatome for the incision or injury as possible.</a:t>
            </a:r>
          </a:p>
          <a:p>
            <a:r>
              <a:rPr lang="en-US" sz="1800" dirty="0">
                <a:effectLst/>
                <a:latin typeface="Calibri" panose="020F0502020204030204" pitchFamily="34" charset="0"/>
                <a:ea typeface="SimSun" panose="020B0502040504020204" pitchFamily="34" charset="0"/>
                <a:cs typeface="Times New Roman" panose="02020603050405020304" pitchFamily="18" charset="0"/>
              </a:rPr>
              <a:t>Examples of block placement for various conditions and surgeries include the following:</a:t>
            </a:r>
            <a:endParaRPr lang="en-GB" sz="1800" dirty="0">
              <a:effectLst/>
              <a:latin typeface="Calibri" panose="020F0502020204030204" pitchFamily="34" charset="0"/>
              <a:ea typeface="SimSun" panose="020B0502040504020204" pitchFamily="34" charset="0"/>
              <a:cs typeface="Times New Roman" panose="02020603050405020304" pitchFamily="18" charset="0"/>
            </a:endParaRPr>
          </a:p>
          <a:p>
            <a:pPr marL="914400" lvl="2" indent="0">
              <a:buNone/>
            </a:pPr>
            <a:r>
              <a:rPr lang="en-US" sz="1400" dirty="0">
                <a:effectLst/>
                <a:latin typeface="Calibri" panose="020F0502020204030204" pitchFamily="34" charset="0"/>
                <a:ea typeface="SimSun" panose="020B0502040504020204" pitchFamily="34" charset="0"/>
                <a:cs typeface="Times New Roman" panose="02020603050405020304" pitchFamily="18" charset="0"/>
              </a:rPr>
              <a:t>•Upper thoracic – T2 to T3</a:t>
            </a:r>
            <a:endParaRPr lang="en-GB" sz="1400" dirty="0">
              <a:effectLst/>
              <a:latin typeface="Calibri" panose="020F0502020204030204" pitchFamily="34" charset="0"/>
              <a:ea typeface="SimSun" panose="020B0502040504020204" pitchFamily="34" charset="0"/>
              <a:cs typeface="Times New Roman" panose="02020603050405020304" pitchFamily="18" charset="0"/>
            </a:endParaRPr>
          </a:p>
          <a:p>
            <a:pPr marL="914400" lvl="2" indent="0">
              <a:buNone/>
            </a:pPr>
            <a:r>
              <a:rPr lang="en-US" sz="1400" dirty="0">
                <a:effectLst/>
                <a:latin typeface="Calibri" panose="020F0502020204030204" pitchFamily="34" charset="0"/>
                <a:ea typeface="SimSun" panose="020B0502040504020204" pitchFamily="34" charset="0"/>
                <a:cs typeface="Times New Roman" panose="02020603050405020304" pitchFamily="18" charset="0"/>
              </a:rPr>
              <a:t>•Lower thoracic – T5 to T7</a:t>
            </a:r>
            <a:endParaRPr lang="en-GB" sz="1400" dirty="0">
              <a:effectLst/>
              <a:latin typeface="Calibri" panose="020F0502020204030204" pitchFamily="34" charset="0"/>
              <a:ea typeface="SimSun" panose="020B0502040504020204" pitchFamily="34" charset="0"/>
              <a:cs typeface="Times New Roman" panose="02020603050405020304" pitchFamily="18" charset="0"/>
            </a:endParaRPr>
          </a:p>
          <a:p>
            <a:pPr marL="914400" lvl="2" indent="0">
              <a:buNone/>
            </a:pPr>
            <a:r>
              <a:rPr lang="en-US" sz="1400" dirty="0">
                <a:effectLst/>
                <a:latin typeface="Calibri" panose="020F0502020204030204" pitchFamily="34" charset="0"/>
                <a:ea typeface="SimSun" panose="020B0502040504020204" pitchFamily="34" charset="0"/>
                <a:cs typeface="Times New Roman" panose="02020603050405020304" pitchFamily="18" charset="0"/>
              </a:rPr>
              <a:t>•Abdominal surgery – T10</a:t>
            </a:r>
            <a:endParaRPr lang="en-GB" sz="1400" dirty="0">
              <a:effectLst/>
              <a:latin typeface="Calibri" panose="020F0502020204030204" pitchFamily="34" charset="0"/>
              <a:ea typeface="SimSun" panose="020B0502040504020204" pitchFamily="34" charset="0"/>
              <a:cs typeface="Times New Roman" panose="02020603050405020304" pitchFamily="18" charset="0"/>
            </a:endParaRPr>
          </a:p>
          <a:p>
            <a:pPr marL="914400" lvl="2" indent="0">
              <a:buNone/>
            </a:pPr>
            <a:r>
              <a:rPr lang="en-US" sz="1400" dirty="0">
                <a:effectLst/>
                <a:latin typeface="Calibri" panose="020F0502020204030204" pitchFamily="34" charset="0"/>
                <a:ea typeface="SimSun" panose="020B0502040504020204" pitchFamily="34" charset="0"/>
                <a:cs typeface="Times New Roman" panose="02020603050405020304" pitchFamily="18" charset="0"/>
              </a:rPr>
              <a:t>•Hip, femur, or lumbar spine surgery – L2 to L3</a:t>
            </a:r>
            <a:endParaRPr lang="en-GB" sz="1400" dirty="0">
              <a:effectLst/>
              <a:latin typeface="Calibri" panose="020F0502020204030204" pitchFamily="34" charset="0"/>
              <a:ea typeface="SimSun" panose="020B0502040504020204" pitchFamily="34" charset="0"/>
              <a:cs typeface="Times New Roman" panose="02020603050405020304" pitchFamily="18" charset="0"/>
            </a:endParaRPr>
          </a:p>
          <a:p>
            <a:endParaRPr lang="en-GB" dirty="0"/>
          </a:p>
        </p:txBody>
      </p:sp>
      <p:pic>
        <p:nvPicPr>
          <p:cNvPr id="6" name="Content Placeholder 5">
            <a:extLst>
              <a:ext uri="{FF2B5EF4-FFF2-40B4-BE49-F238E27FC236}">
                <a16:creationId xmlns:a16="http://schemas.microsoft.com/office/drawing/2014/main" xmlns="" id="{8A08E417-58DA-101E-B909-AF197E6FC433}"/>
              </a:ext>
            </a:extLst>
          </p:cNvPr>
          <p:cNvPicPr>
            <a:picLocks noGrp="1" noChangeAspect="1"/>
          </p:cNvPicPr>
          <p:nvPr>
            <p:ph sz="half" idx="2"/>
          </p:nvPr>
        </p:nvPicPr>
        <p:blipFill>
          <a:blip r:embed="rId2"/>
          <a:stretch>
            <a:fillRect/>
          </a:stretch>
        </p:blipFill>
        <p:spPr>
          <a:xfrm>
            <a:off x="6413500" y="2332354"/>
            <a:ext cx="5396006" cy="3333340"/>
          </a:xfrm>
        </p:spPr>
      </p:pic>
    </p:spTree>
    <p:extLst>
      <p:ext uri="{BB962C8B-B14F-4D97-AF65-F5344CB8AC3E}">
        <p14:creationId xmlns:p14="http://schemas.microsoft.com/office/powerpoint/2010/main" xmlns="" val="3829173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6ABA6F-B243-DE5D-8B0F-DB8BD5E0BC42}"/>
              </a:ext>
            </a:extLst>
          </p:cNvPr>
          <p:cNvSpPr>
            <a:spLocks noGrp="1"/>
          </p:cNvSpPr>
          <p:nvPr>
            <p:ph type="title"/>
          </p:nvPr>
        </p:nvSpPr>
        <p:spPr/>
        <p:txBody>
          <a:bodyPr/>
          <a:lstStyle/>
          <a:p>
            <a:r>
              <a:rPr lang="en-GB" dirty="0"/>
              <a:t>Equipments </a:t>
            </a:r>
            <a:endParaRPr lang="en-US" dirty="0"/>
          </a:p>
        </p:txBody>
      </p:sp>
      <p:sp>
        <p:nvSpPr>
          <p:cNvPr id="3" name="Content Placeholder 2">
            <a:extLst>
              <a:ext uri="{FF2B5EF4-FFF2-40B4-BE49-F238E27FC236}">
                <a16:creationId xmlns:a16="http://schemas.microsoft.com/office/drawing/2014/main" xmlns="" id="{F36D84CF-1BBF-B2E3-A859-D2C1B93F7657}"/>
              </a:ext>
            </a:extLst>
          </p:cNvPr>
          <p:cNvSpPr>
            <a:spLocks noGrp="1"/>
          </p:cNvSpPr>
          <p:nvPr>
            <p:ph idx="1"/>
          </p:nvPr>
        </p:nvSpPr>
        <p:spPr/>
        <p:txBody>
          <a:bodyPr>
            <a:normAutofit/>
          </a:bodyPr>
          <a:lstStyle/>
          <a:p>
            <a:r>
              <a:rPr lang="en-GB" dirty="0"/>
              <a:t>Chlorhexidine gluconate
Sterile gloves, mask, hair cover
Convex or curvilinear ultrasound probe with sterile probe cover and gel
Standard epidural catheter tray with a 3-ml syringe with lidocaine 1% on a 25-gauge needle,18-gauge Tuohy needle, and an epidural catheter (in the case of continuous infusion)
ESP block local anesthetic solution (0.25% bupivacaine or 0.5% ropivacaine 20 to 30ml)</a:t>
            </a:r>
            <a:endParaRPr lang="en-US" dirty="0"/>
          </a:p>
        </p:txBody>
      </p:sp>
    </p:spTree>
    <p:extLst>
      <p:ext uri="{BB962C8B-B14F-4D97-AF65-F5344CB8AC3E}">
        <p14:creationId xmlns:p14="http://schemas.microsoft.com/office/powerpoint/2010/main" xmlns="" val="4153444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A024C4-1CB4-A502-91C6-0373308F0B5B}"/>
              </a:ext>
            </a:extLst>
          </p:cNvPr>
          <p:cNvSpPr>
            <a:spLocks noGrp="1"/>
          </p:cNvSpPr>
          <p:nvPr>
            <p:ph type="title"/>
          </p:nvPr>
        </p:nvSpPr>
        <p:spPr/>
        <p:txBody>
          <a:bodyPr/>
          <a:lstStyle/>
          <a:p>
            <a:r>
              <a:rPr lang="en-GB" dirty="0"/>
              <a:t>Techniques </a:t>
            </a:r>
            <a:endParaRPr lang="en-US" dirty="0"/>
          </a:p>
        </p:txBody>
      </p:sp>
      <p:sp>
        <p:nvSpPr>
          <p:cNvPr id="3" name="Content Placeholder 2">
            <a:extLst>
              <a:ext uri="{FF2B5EF4-FFF2-40B4-BE49-F238E27FC236}">
                <a16:creationId xmlns:a16="http://schemas.microsoft.com/office/drawing/2014/main" xmlns="" id="{6A0479A4-9BB7-AE05-7CC1-D320D2F87BB6}"/>
              </a:ext>
            </a:extLst>
          </p:cNvPr>
          <p:cNvSpPr>
            <a:spLocks noGrp="1"/>
          </p:cNvSpPr>
          <p:nvPr>
            <p:ph idx="1"/>
          </p:nvPr>
        </p:nvSpPr>
        <p:spPr>
          <a:xfrm>
            <a:off x="1451578" y="2254789"/>
            <a:ext cx="9603275" cy="3450613"/>
          </a:xfrm>
        </p:spPr>
        <p:txBody>
          <a:bodyPr>
            <a:normAutofit fontScale="92500" lnSpcReduction="10000"/>
          </a:bodyPr>
          <a:lstStyle/>
          <a:p>
            <a:pPr marL="0" indent="0">
              <a:buNone/>
            </a:pPr>
            <a:r>
              <a:rPr lang="en-GB" dirty="0"/>
              <a:t>1. Preparation </a:t>
            </a:r>
          </a:p>
          <a:p>
            <a:pPr marL="0" indent="0">
              <a:buNone/>
            </a:pPr>
            <a:r>
              <a:rPr lang="en-GB" dirty="0"/>
              <a:t>2.Positioning </a:t>
            </a:r>
          </a:p>
          <a:p>
            <a:r>
              <a:rPr lang="en-GB" dirty="0"/>
              <a:t>The erector spinae plane block can be performed with the patient prone, upright, or in lateral decubitus.</a:t>
            </a:r>
          </a:p>
          <a:p>
            <a:r>
              <a:rPr lang="en-GB" dirty="0"/>
              <a:t>Sitting position:- allows easy identification of landmarks and greater comfort to the patients </a:t>
            </a:r>
          </a:p>
          <a:p>
            <a:pPr marL="0" indent="0">
              <a:buNone/>
            </a:pPr>
            <a:r>
              <a:rPr lang="en-GB" dirty="0"/>
              <a:t>3. Scanning techniques </a:t>
            </a:r>
          </a:p>
          <a:p>
            <a:r>
              <a:rPr lang="en-GB" b="0" i="0" dirty="0">
                <a:solidFill>
                  <a:srgbClr val="222222"/>
                </a:solidFill>
                <a:effectLst/>
                <a:latin typeface="Satoshi-Variable"/>
              </a:rPr>
              <a:t>Select the target transverse process and place the transducer in a </a:t>
            </a:r>
            <a:r>
              <a:rPr lang="en-GB" b="0" i="0" dirty="0" err="1">
                <a:solidFill>
                  <a:srgbClr val="222222"/>
                </a:solidFill>
                <a:effectLst/>
                <a:latin typeface="Satoshi-Variable"/>
              </a:rPr>
              <a:t>paramedian</a:t>
            </a:r>
            <a:r>
              <a:rPr lang="en-GB" b="0" i="0" dirty="0">
                <a:solidFill>
                  <a:srgbClr val="222222"/>
                </a:solidFill>
                <a:effectLst/>
                <a:latin typeface="Satoshi-Variable"/>
              </a:rPr>
              <a:t> sagittal orientation, approximately 2-3 cm away from the midline. </a:t>
            </a:r>
          </a:p>
          <a:p>
            <a:pPr marL="0" indent="0">
              <a:buNone/>
            </a:pPr>
            <a:endParaRPr lang="en-GB" dirty="0"/>
          </a:p>
          <a:p>
            <a:endParaRPr lang="en-GB" dirty="0"/>
          </a:p>
          <a:p>
            <a:pPr marL="0" indent="0">
              <a:buNone/>
            </a:pPr>
            <a:endParaRPr lang="en-US" dirty="0"/>
          </a:p>
        </p:txBody>
      </p:sp>
    </p:spTree>
    <p:extLst>
      <p:ext uri="{BB962C8B-B14F-4D97-AF65-F5344CB8AC3E}">
        <p14:creationId xmlns:p14="http://schemas.microsoft.com/office/powerpoint/2010/main" xmlns="" val="2266481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6B5E39-FF8D-A6E7-8313-87CC748378DC}"/>
              </a:ext>
            </a:extLst>
          </p:cNvPr>
          <p:cNvSpPr>
            <a:spLocks noGrp="1"/>
          </p:cNvSpPr>
          <p:nvPr>
            <p:ph type="title"/>
          </p:nvPr>
        </p:nvSpPr>
        <p:spPr/>
        <p:txBody>
          <a:bodyPr/>
          <a:lstStyle/>
          <a:p>
            <a:r>
              <a:rPr lang="en-GB" dirty="0"/>
              <a:t>Cont...</a:t>
            </a:r>
            <a:endParaRPr lang="en-US" dirty="0"/>
          </a:p>
        </p:txBody>
      </p:sp>
      <p:sp>
        <p:nvSpPr>
          <p:cNvPr id="3" name="Content Placeholder 2">
            <a:extLst>
              <a:ext uri="{FF2B5EF4-FFF2-40B4-BE49-F238E27FC236}">
                <a16:creationId xmlns:a16="http://schemas.microsoft.com/office/drawing/2014/main" xmlns="" id="{8B40FCAA-E9E4-8A3B-0DF5-A883E4E3EA93}"/>
              </a:ext>
            </a:extLst>
          </p:cNvPr>
          <p:cNvSpPr>
            <a:spLocks noGrp="1"/>
          </p:cNvSpPr>
          <p:nvPr>
            <p:ph idx="1"/>
          </p:nvPr>
        </p:nvSpPr>
        <p:spPr>
          <a:xfrm>
            <a:off x="1451579" y="1990335"/>
            <a:ext cx="8925402" cy="3149430"/>
          </a:xfrm>
        </p:spPr>
        <p:txBody>
          <a:bodyPr>
            <a:normAutofit lnSpcReduction="10000"/>
          </a:bodyPr>
          <a:lstStyle/>
          <a:p>
            <a:pPr marL="0" indent="0">
              <a:buNone/>
            </a:pPr>
            <a:r>
              <a:rPr lang="en-GB" dirty="0"/>
              <a:t>4. Identify the following structures on ultrasound: All 3 layers of the ESP muscles, the rib-transverse process complex of interest, and the paravertebral space. The pleura should not be visualized.</a:t>
            </a:r>
          </a:p>
          <a:p>
            <a:pPr marL="0" indent="0">
              <a:buNone/>
            </a:pPr>
            <a:r>
              <a:rPr lang="en-GB" dirty="0"/>
              <a:t>5. Insert the needle in-plane, from cranial to caudal, and inject 20-30 mL of local anesthetic in the plane deep to the ESP muscles and superficial to the transverse processes to achieve a </a:t>
            </a:r>
            <a:r>
              <a:rPr lang="en-GB" dirty="0" err="1"/>
              <a:t>craniocaudal</a:t>
            </a:r>
            <a:r>
              <a:rPr lang="en-GB" dirty="0"/>
              <a:t> distribution along several vertebral levels.</a:t>
            </a:r>
          </a:p>
          <a:p>
            <a:pPr marL="0" indent="0">
              <a:buNone/>
            </a:pPr>
            <a:r>
              <a:rPr lang="en-GB" dirty="0"/>
              <a:t>6. At this point,  the needle tip lies between the erector spinae muscles and the transverse process</a:t>
            </a:r>
          </a:p>
          <a:p>
            <a:pPr marL="0" indent="0">
              <a:buNone/>
            </a:pPr>
            <a:endParaRPr lang="en-GB" dirty="0"/>
          </a:p>
        </p:txBody>
      </p:sp>
    </p:spTree>
    <p:extLst>
      <p:ext uri="{BB962C8B-B14F-4D97-AF65-F5344CB8AC3E}">
        <p14:creationId xmlns:p14="http://schemas.microsoft.com/office/powerpoint/2010/main" xmlns="" val="3994552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6192B5-1E26-BC13-97DF-2C16BE2B45CD}"/>
              </a:ext>
            </a:extLst>
          </p:cNvPr>
          <p:cNvSpPr>
            <a:spLocks noGrp="1"/>
          </p:cNvSpPr>
          <p:nvPr>
            <p:ph type="title"/>
          </p:nvPr>
        </p:nvSpPr>
        <p:spPr/>
        <p:txBody>
          <a:bodyPr/>
          <a:lstStyle/>
          <a:p>
            <a:r>
              <a:rPr lang="en-GB" dirty="0"/>
              <a:t>Cont...</a:t>
            </a:r>
            <a:endParaRPr lang="en-US" dirty="0"/>
          </a:p>
        </p:txBody>
      </p:sp>
      <p:sp>
        <p:nvSpPr>
          <p:cNvPr id="3" name="Content Placeholder 2">
            <a:extLst>
              <a:ext uri="{FF2B5EF4-FFF2-40B4-BE49-F238E27FC236}">
                <a16:creationId xmlns:a16="http://schemas.microsoft.com/office/drawing/2014/main" xmlns="" id="{7AE08D3D-643A-A6B1-0A0A-0580DB910F3D}"/>
              </a:ext>
            </a:extLst>
          </p:cNvPr>
          <p:cNvSpPr>
            <a:spLocks noGrp="1"/>
          </p:cNvSpPr>
          <p:nvPr>
            <p:ph idx="1"/>
          </p:nvPr>
        </p:nvSpPr>
        <p:spPr/>
        <p:txBody>
          <a:bodyPr>
            <a:normAutofit/>
          </a:bodyPr>
          <a:lstStyle/>
          <a:p>
            <a:pPr marL="0" indent="0">
              <a:buNone/>
            </a:pPr>
            <a:r>
              <a:rPr lang="en-GB" dirty="0"/>
              <a:t>7. The correct location of the needle tip is confirmed by injecting 0.5–1 cc of normal saline 0.9% and observing linear fluid spread lifting the erector spinae muscle off the tip of the TP.</a:t>
            </a:r>
          </a:p>
          <a:p>
            <a:pPr marL="0" indent="0">
              <a:buNone/>
            </a:pPr>
            <a:r>
              <a:rPr lang="en-GB" dirty="0"/>
              <a:t>8. After negative aspiration, LA is injected in 3 – 5 ml aliquots .</a:t>
            </a:r>
          </a:p>
          <a:p>
            <a:r>
              <a:rPr lang="en-GB" dirty="0"/>
              <a:t>Then a volume of 20-25ml of 0.25% bupivacaine or 0.2% ropivacaine with or without adjuvants can be used.</a:t>
            </a:r>
          </a:p>
          <a:p>
            <a:pPr marL="0" indent="0">
              <a:buNone/>
            </a:pPr>
            <a:r>
              <a:rPr lang="en-GB" dirty="0"/>
              <a:t>9.  The drug injected in this plane spreads in the longitudinal axis to both cephalad and caudal direction. </a:t>
            </a:r>
          </a:p>
          <a:p>
            <a:endParaRPr lang="en-GB" dirty="0"/>
          </a:p>
        </p:txBody>
      </p:sp>
    </p:spTree>
    <p:extLst>
      <p:ext uri="{BB962C8B-B14F-4D97-AF65-F5344CB8AC3E}">
        <p14:creationId xmlns:p14="http://schemas.microsoft.com/office/powerpoint/2010/main" xmlns="" val="2584979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A221C4-F913-C8EA-3073-60FBC3FF3351}"/>
              </a:ext>
            </a:extLst>
          </p:cNvPr>
          <p:cNvSpPr>
            <a:spLocks noGrp="1"/>
          </p:cNvSpPr>
          <p:nvPr>
            <p:ph type="title"/>
          </p:nvPr>
        </p:nvSpPr>
        <p:spPr/>
        <p:txBody>
          <a:bodyPr/>
          <a:lstStyle/>
          <a:p>
            <a:r>
              <a:rPr lang="en-GB" dirty="0"/>
              <a:t>....</a:t>
            </a:r>
            <a:endParaRPr lang="en-US" dirty="0"/>
          </a:p>
        </p:txBody>
      </p:sp>
      <p:pic>
        <p:nvPicPr>
          <p:cNvPr id="4" name="Content Placeholder 3">
            <a:extLst>
              <a:ext uri="{FF2B5EF4-FFF2-40B4-BE49-F238E27FC236}">
                <a16:creationId xmlns:a16="http://schemas.microsoft.com/office/drawing/2014/main" xmlns="" id="{5BA97614-DC0A-2F51-BEAD-85AFDAAD60CD}"/>
              </a:ext>
            </a:extLst>
          </p:cNvPr>
          <p:cNvPicPr>
            <a:picLocks noGrp="1" noChangeAspect="1"/>
          </p:cNvPicPr>
          <p:nvPr>
            <p:ph idx="1"/>
          </p:nvPr>
        </p:nvPicPr>
        <p:blipFill>
          <a:blip r:embed="rId2"/>
          <a:stretch>
            <a:fillRect/>
          </a:stretch>
        </p:blipFill>
        <p:spPr>
          <a:xfrm>
            <a:off x="1451579" y="2001434"/>
            <a:ext cx="9343526" cy="3836894"/>
          </a:xfrm>
        </p:spPr>
      </p:pic>
    </p:spTree>
    <p:extLst>
      <p:ext uri="{BB962C8B-B14F-4D97-AF65-F5344CB8AC3E}">
        <p14:creationId xmlns:p14="http://schemas.microsoft.com/office/powerpoint/2010/main" xmlns="" val="4065957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66661B-6A71-9CB5-F017-0A318B380D3E}"/>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xmlns="" id="{303BDBFB-A821-DC09-01AD-016AD9A138E4}"/>
              </a:ext>
            </a:extLst>
          </p:cNvPr>
          <p:cNvPicPr>
            <a:picLocks noGrp="1" noChangeAspect="1"/>
          </p:cNvPicPr>
          <p:nvPr>
            <p:ph idx="1"/>
          </p:nvPr>
        </p:nvPicPr>
        <p:blipFill>
          <a:blip r:embed="rId2"/>
          <a:stretch>
            <a:fillRect/>
          </a:stretch>
        </p:blipFill>
        <p:spPr>
          <a:xfrm>
            <a:off x="1451578" y="2055906"/>
            <a:ext cx="9736375" cy="3848847"/>
          </a:xfrm>
        </p:spPr>
      </p:pic>
    </p:spTree>
    <p:extLst>
      <p:ext uri="{BB962C8B-B14F-4D97-AF65-F5344CB8AC3E}">
        <p14:creationId xmlns:p14="http://schemas.microsoft.com/office/powerpoint/2010/main" xmlns="" val="3396190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0CD9B5-59A8-305C-2BEF-5E0D119B23B9}"/>
              </a:ext>
            </a:extLst>
          </p:cNvPr>
          <p:cNvSpPr>
            <a:spLocks noGrp="1"/>
          </p:cNvSpPr>
          <p:nvPr>
            <p:ph type="title"/>
          </p:nvPr>
        </p:nvSpPr>
        <p:spPr/>
        <p:txBody>
          <a:bodyPr/>
          <a:lstStyle/>
          <a:p>
            <a:r>
              <a:rPr lang="en-GB" dirty="0"/>
              <a:t>.....</a:t>
            </a:r>
            <a:endParaRPr lang="en-US" dirty="0"/>
          </a:p>
        </p:txBody>
      </p:sp>
      <p:pic>
        <p:nvPicPr>
          <p:cNvPr id="4" name="Content Placeholder 3">
            <a:extLst>
              <a:ext uri="{FF2B5EF4-FFF2-40B4-BE49-F238E27FC236}">
                <a16:creationId xmlns:a16="http://schemas.microsoft.com/office/drawing/2014/main" xmlns="" id="{5E116D12-83C8-A589-3B05-C371A4D78444}"/>
              </a:ext>
            </a:extLst>
          </p:cNvPr>
          <p:cNvPicPr>
            <a:picLocks noGrp="1" noChangeAspect="1"/>
          </p:cNvPicPr>
          <p:nvPr>
            <p:ph idx="1"/>
          </p:nvPr>
        </p:nvPicPr>
        <p:blipFill>
          <a:blip r:embed="rId2"/>
          <a:stretch>
            <a:fillRect/>
          </a:stretch>
        </p:blipFill>
        <p:spPr>
          <a:xfrm>
            <a:off x="1451579" y="2013386"/>
            <a:ext cx="9763405" cy="4040095"/>
          </a:xfrm>
        </p:spPr>
      </p:pic>
    </p:spTree>
    <p:extLst>
      <p:ext uri="{BB962C8B-B14F-4D97-AF65-F5344CB8AC3E}">
        <p14:creationId xmlns:p14="http://schemas.microsoft.com/office/powerpoint/2010/main" xmlns="" val="39989841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81C3C3-30E2-E0B2-BF1F-85FB232AFD63}"/>
              </a:ext>
            </a:extLst>
          </p:cNvPr>
          <p:cNvSpPr>
            <a:spLocks noGrp="1"/>
          </p:cNvSpPr>
          <p:nvPr>
            <p:ph type="title"/>
          </p:nvPr>
        </p:nvSpPr>
        <p:spPr/>
        <p:txBody>
          <a:bodyPr/>
          <a:lstStyle/>
          <a:p>
            <a:r>
              <a:rPr lang="en-GB" dirty="0"/>
              <a:t>....</a:t>
            </a:r>
            <a:endParaRPr lang="en-US" dirty="0"/>
          </a:p>
        </p:txBody>
      </p:sp>
      <p:pic>
        <p:nvPicPr>
          <p:cNvPr id="4" name="Content Placeholder 3">
            <a:extLst>
              <a:ext uri="{FF2B5EF4-FFF2-40B4-BE49-F238E27FC236}">
                <a16:creationId xmlns:a16="http://schemas.microsoft.com/office/drawing/2014/main" xmlns="" id="{D2FBD05B-D5FF-CEBA-DFC0-B392FD4D0926}"/>
              </a:ext>
            </a:extLst>
          </p:cNvPr>
          <p:cNvPicPr>
            <a:picLocks noGrp="1" noChangeAspect="1"/>
          </p:cNvPicPr>
          <p:nvPr>
            <p:ph sz="half" idx="1"/>
          </p:nvPr>
        </p:nvPicPr>
        <p:blipFill>
          <a:blip r:embed="rId2"/>
          <a:stretch>
            <a:fillRect/>
          </a:stretch>
        </p:blipFill>
        <p:spPr>
          <a:xfrm>
            <a:off x="1449218" y="2011363"/>
            <a:ext cx="4539206" cy="4041748"/>
          </a:xfrm>
        </p:spPr>
      </p:pic>
      <p:pic>
        <p:nvPicPr>
          <p:cNvPr id="6" name="Content Placeholder 5">
            <a:extLst>
              <a:ext uri="{FF2B5EF4-FFF2-40B4-BE49-F238E27FC236}">
                <a16:creationId xmlns:a16="http://schemas.microsoft.com/office/drawing/2014/main" xmlns="" id="{98C3C86B-613E-6B16-208B-A8C9A64C9542}"/>
              </a:ext>
            </a:extLst>
          </p:cNvPr>
          <p:cNvPicPr>
            <a:picLocks noGrp="1" noChangeAspect="1"/>
          </p:cNvPicPr>
          <p:nvPr>
            <p:ph sz="half" idx="2"/>
          </p:nvPr>
        </p:nvPicPr>
        <p:blipFill>
          <a:blip r:embed="rId3"/>
          <a:stretch>
            <a:fillRect/>
          </a:stretch>
        </p:blipFill>
        <p:spPr>
          <a:xfrm>
            <a:off x="6598024" y="2011363"/>
            <a:ext cx="3863815" cy="4041748"/>
          </a:xfrm>
        </p:spPr>
      </p:pic>
    </p:spTree>
    <p:extLst>
      <p:ext uri="{BB962C8B-B14F-4D97-AF65-F5344CB8AC3E}">
        <p14:creationId xmlns:p14="http://schemas.microsoft.com/office/powerpoint/2010/main" xmlns="" val="1203863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DA89C2-E1A6-A38B-A03C-799E67CBB307}"/>
              </a:ext>
            </a:extLst>
          </p:cNvPr>
          <p:cNvSpPr>
            <a:spLocks noGrp="1"/>
          </p:cNvSpPr>
          <p:nvPr>
            <p:ph type="title"/>
          </p:nvPr>
        </p:nvSpPr>
        <p:spPr/>
        <p:txBody>
          <a:bodyPr/>
          <a:lstStyle/>
          <a:p>
            <a:r>
              <a:rPr lang="en-GB" dirty="0"/>
              <a:t>Verifying the Adequacy of Erector Spinae Plane Block Administration</a:t>
            </a:r>
            <a:endParaRPr lang="en-US" dirty="0"/>
          </a:p>
        </p:txBody>
      </p:sp>
      <p:sp>
        <p:nvSpPr>
          <p:cNvPr id="3" name="Content Placeholder 2">
            <a:extLst>
              <a:ext uri="{FF2B5EF4-FFF2-40B4-BE49-F238E27FC236}">
                <a16:creationId xmlns:a16="http://schemas.microsoft.com/office/drawing/2014/main" xmlns="" id="{3D90A7C3-78E0-73BC-121D-6BA356C56C7C}"/>
              </a:ext>
            </a:extLst>
          </p:cNvPr>
          <p:cNvSpPr>
            <a:spLocks noGrp="1"/>
          </p:cNvSpPr>
          <p:nvPr>
            <p:ph idx="1"/>
          </p:nvPr>
        </p:nvSpPr>
        <p:spPr/>
        <p:txBody>
          <a:bodyPr/>
          <a:lstStyle/>
          <a:p>
            <a:pPr marL="457200" indent="-457200">
              <a:buFont typeface="+mj-lt"/>
              <a:buAutoNum type="arabicPeriod"/>
            </a:pPr>
            <a:r>
              <a:rPr lang="en-GB" dirty="0"/>
              <a:t>Ultrasound guidance: </a:t>
            </a:r>
          </a:p>
          <a:p>
            <a:r>
              <a:rPr lang="en-GB" dirty="0"/>
              <a:t>The correct location is confirmed by observing the linear spread of </a:t>
            </a:r>
            <a:r>
              <a:rPr lang="en-GB" dirty="0" err="1"/>
              <a:t>injectate</a:t>
            </a:r>
            <a:r>
              <a:rPr lang="en-GB" dirty="0"/>
              <a:t> lifting the erector spinae muscle off the tip of the transverse process.</a:t>
            </a:r>
          </a:p>
          <a:p>
            <a:pPr marL="457200" indent="-457200">
              <a:buAutoNum type="arabicPeriod" startAt="2"/>
            </a:pPr>
            <a:r>
              <a:rPr lang="en-GB" dirty="0"/>
              <a:t>Asymmetrical spread:</a:t>
            </a:r>
          </a:p>
          <a:p>
            <a:r>
              <a:rPr lang="en-GB" dirty="0"/>
              <a:t>In a cadaveric study,  bilaterally demonstrated </a:t>
            </a:r>
            <a:r>
              <a:rPr lang="en-GB" dirty="0" err="1"/>
              <a:t>craniocaudal</a:t>
            </a:r>
            <a:r>
              <a:rPr lang="en-GB" dirty="0"/>
              <a:t> spread of </a:t>
            </a:r>
            <a:r>
              <a:rPr lang="en-GB" dirty="0" err="1"/>
              <a:t>injectate</a:t>
            </a:r>
            <a:r>
              <a:rPr lang="en-GB" dirty="0"/>
              <a:t> from C7 to T8 on the right side and T1 to T8 on the left side, with lateral spread till the transverse processes at all levels.</a:t>
            </a:r>
          </a:p>
          <a:p>
            <a:pPr marL="0" indent="0">
              <a:buNone/>
            </a:pPr>
            <a:endParaRPr lang="en-US" dirty="0"/>
          </a:p>
        </p:txBody>
      </p:sp>
    </p:spTree>
    <p:extLst>
      <p:ext uri="{BB962C8B-B14F-4D97-AF65-F5344CB8AC3E}">
        <p14:creationId xmlns:p14="http://schemas.microsoft.com/office/powerpoint/2010/main" xmlns="" val="31945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65E8EE-D4E5-F92E-8247-9E6F64F9D001}"/>
              </a:ext>
            </a:extLst>
          </p:cNvPr>
          <p:cNvSpPr>
            <a:spLocks noGrp="1"/>
          </p:cNvSpPr>
          <p:nvPr>
            <p:ph type="title"/>
          </p:nvPr>
        </p:nvSpPr>
        <p:spPr/>
        <p:txBody>
          <a:bodyPr/>
          <a:lstStyle/>
          <a:p>
            <a:r>
              <a:rPr lang="en-GB" dirty="0"/>
              <a:t>.....</a:t>
            </a:r>
            <a:endParaRPr lang="en-US" dirty="0"/>
          </a:p>
        </p:txBody>
      </p:sp>
      <p:sp>
        <p:nvSpPr>
          <p:cNvPr id="3" name="Content Placeholder 2">
            <a:extLst>
              <a:ext uri="{FF2B5EF4-FFF2-40B4-BE49-F238E27FC236}">
                <a16:creationId xmlns:a16="http://schemas.microsoft.com/office/drawing/2014/main" xmlns="" id="{ACD32A06-2B05-1BE1-D17E-1D2AE17A8925}"/>
              </a:ext>
            </a:extLst>
          </p:cNvPr>
          <p:cNvSpPr>
            <a:spLocks noGrp="1"/>
          </p:cNvSpPr>
          <p:nvPr>
            <p:ph idx="1"/>
          </p:nvPr>
        </p:nvSpPr>
        <p:spPr/>
        <p:txBody>
          <a:bodyPr>
            <a:normAutofit fontScale="92500" lnSpcReduction="20000"/>
          </a:bodyPr>
          <a:lstStyle/>
          <a:p>
            <a:pPr marL="457200" indent="-457200">
              <a:buAutoNum type="arabicPeriod" startAt="3"/>
            </a:pPr>
            <a:r>
              <a:rPr lang="en-GB" dirty="0"/>
              <a:t>Visible linear pattern: </a:t>
            </a:r>
          </a:p>
          <a:p>
            <a:r>
              <a:rPr lang="en-GB" dirty="0"/>
              <a:t>Injecting 10 mL of 0.25% bupivacaine into the interfascial plane deep to erector spinae muscle can produce a visible linear pattern lifting the muscle.</a:t>
            </a:r>
          </a:p>
          <a:p>
            <a:pPr marL="457200" indent="-457200">
              <a:buAutoNum type="arabicPeriod" startAt="4"/>
            </a:pPr>
            <a:r>
              <a:rPr lang="en-GB" dirty="0"/>
              <a:t>Confirmation of needle tip location: </a:t>
            </a:r>
          </a:p>
          <a:p>
            <a:r>
              <a:rPr lang="en-GB" dirty="0"/>
              <a:t>Injecting 0.5-1 cc of normal saline 0.9% and observing linear fluid spread lifting the ESM off the tip of the transverse process confirms the correct location of the needle tip.</a:t>
            </a:r>
          </a:p>
          <a:p>
            <a:pPr marL="0" indent="0">
              <a:buNone/>
            </a:pPr>
            <a:r>
              <a:rPr lang="en-GB" dirty="0">
                <a:solidFill>
                  <a:schemeClr val="accent1"/>
                </a:solidFill>
              </a:rPr>
              <a:t>5.</a:t>
            </a:r>
            <a:r>
              <a:rPr lang="en-GB" dirty="0"/>
              <a:t> Clinical evaluation: </a:t>
            </a:r>
          </a:p>
          <a:p>
            <a:r>
              <a:rPr lang="en-GB" dirty="0"/>
              <a:t>Post-procedure, patients can be evaluated for signs of effective analgesia, such as reduced pain scores, decreased opioid consumption, and improved mobility.</a:t>
            </a:r>
          </a:p>
          <a:p>
            <a:pPr marL="0" indent="0">
              <a:buNone/>
            </a:pPr>
            <a:endParaRPr lang="en-US" dirty="0"/>
          </a:p>
        </p:txBody>
      </p:sp>
    </p:spTree>
    <p:extLst>
      <p:ext uri="{BB962C8B-B14F-4D97-AF65-F5344CB8AC3E}">
        <p14:creationId xmlns:p14="http://schemas.microsoft.com/office/powerpoint/2010/main" xmlns="" val="3820482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5E8B75-84DF-110C-A878-F6F7DD3FA09D}"/>
              </a:ext>
            </a:extLst>
          </p:cNvPr>
          <p:cNvSpPr>
            <a:spLocks noGrp="1"/>
          </p:cNvSpPr>
          <p:nvPr>
            <p:ph type="title"/>
          </p:nvPr>
        </p:nvSpPr>
        <p:spPr/>
        <p:txBody>
          <a:bodyPr/>
          <a:lstStyle/>
          <a:p>
            <a:r>
              <a:rPr lang="en-GB" dirty="0"/>
              <a:t>LA dose and volume </a:t>
            </a:r>
            <a:endParaRPr lang="en-US" dirty="0"/>
          </a:p>
        </p:txBody>
      </p:sp>
      <p:sp>
        <p:nvSpPr>
          <p:cNvPr id="3" name="Content Placeholder 2">
            <a:extLst>
              <a:ext uri="{FF2B5EF4-FFF2-40B4-BE49-F238E27FC236}">
                <a16:creationId xmlns:a16="http://schemas.microsoft.com/office/drawing/2014/main" xmlns="" id="{A612C588-A318-7421-FD2F-256F6DB160C8}"/>
              </a:ext>
            </a:extLst>
          </p:cNvPr>
          <p:cNvSpPr>
            <a:spLocks noGrp="1"/>
          </p:cNvSpPr>
          <p:nvPr>
            <p:ph idx="1"/>
          </p:nvPr>
        </p:nvSpPr>
        <p:spPr/>
        <p:txBody>
          <a:bodyPr/>
          <a:lstStyle/>
          <a:p>
            <a:r>
              <a:rPr lang="en-GB" dirty="0"/>
              <a:t>Maximum volume of LA for unilateral and bilateral blocks are 20-30 and 60 ml respectively. </a:t>
            </a:r>
          </a:p>
          <a:p>
            <a:r>
              <a:rPr lang="en-GB" dirty="0"/>
              <a:t>The volume of LA in pediatric patients ranges from 0.2 ml/kg to 0.5 ml/kg .</a:t>
            </a:r>
            <a:endParaRPr lang="en-US" dirty="0"/>
          </a:p>
        </p:txBody>
      </p:sp>
    </p:spTree>
    <p:extLst>
      <p:ext uri="{BB962C8B-B14F-4D97-AF65-F5344CB8AC3E}">
        <p14:creationId xmlns:p14="http://schemas.microsoft.com/office/powerpoint/2010/main" xmlns="" val="2229069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6632F5-DB05-E5F8-76A9-0F9FA92E0302}"/>
              </a:ext>
            </a:extLst>
          </p:cNvPr>
          <p:cNvSpPr>
            <a:spLocks noGrp="1"/>
          </p:cNvSpPr>
          <p:nvPr>
            <p:ph type="title"/>
          </p:nvPr>
        </p:nvSpPr>
        <p:spPr/>
        <p:txBody>
          <a:bodyPr/>
          <a:lstStyle/>
          <a:p>
            <a:r>
              <a:rPr lang="en-GB" dirty="0"/>
              <a:t>Complications </a:t>
            </a:r>
            <a:endParaRPr lang="en-US" dirty="0"/>
          </a:p>
        </p:txBody>
      </p:sp>
      <p:sp>
        <p:nvSpPr>
          <p:cNvPr id="3" name="Content Placeholder 2">
            <a:extLst>
              <a:ext uri="{FF2B5EF4-FFF2-40B4-BE49-F238E27FC236}">
                <a16:creationId xmlns:a16="http://schemas.microsoft.com/office/drawing/2014/main" xmlns="" id="{50D26890-E8E1-6BCE-542C-DF01BF0F89F2}"/>
              </a:ext>
            </a:extLst>
          </p:cNvPr>
          <p:cNvSpPr>
            <a:spLocks noGrp="1"/>
          </p:cNvSpPr>
          <p:nvPr>
            <p:ph idx="1"/>
          </p:nvPr>
        </p:nvSpPr>
        <p:spPr/>
        <p:txBody>
          <a:bodyPr>
            <a:normAutofit/>
          </a:bodyPr>
          <a:lstStyle/>
          <a:p>
            <a:r>
              <a:rPr lang="en-GB" dirty="0"/>
              <a:t>Pneumothorax </a:t>
            </a:r>
          </a:p>
          <a:p>
            <a:r>
              <a:rPr lang="en-GB" dirty="0"/>
              <a:t>Lower extremity weakness </a:t>
            </a:r>
          </a:p>
          <a:p>
            <a:r>
              <a:rPr lang="en-GB" dirty="0"/>
              <a:t>LA systemic toxicity </a:t>
            </a:r>
          </a:p>
          <a:p>
            <a:r>
              <a:rPr lang="en-GB" dirty="0"/>
              <a:t>Hemorrhage </a:t>
            </a:r>
          </a:p>
          <a:p>
            <a:r>
              <a:rPr lang="en-GB" dirty="0"/>
              <a:t>Hematoma formation </a:t>
            </a:r>
          </a:p>
          <a:p>
            <a:r>
              <a:rPr lang="en-GB" dirty="0"/>
              <a:t>Nerve injury </a:t>
            </a:r>
            <a:endParaRPr lang="en-US" dirty="0"/>
          </a:p>
        </p:txBody>
      </p:sp>
    </p:spTree>
    <p:extLst>
      <p:ext uri="{BB962C8B-B14F-4D97-AF65-F5344CB8AC3E}">
        <p14:creationId xmlns:p14="http://schemas.microsoft.com/office/powerpoint/2010/main" xmlns="" val="2882011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91BF1D-C754-AC82-AAE1-301CFE8D9D93}"/>
              </a:ext>
            </a:extLst>
          </p:cNvPr>
          <p:cNvSpPr>
            <a:spLocks noGrp="1"/>
          </p:cNvSpPr>
          <p:nvPr>
            <p:ph type="title"/>
          </p:nvPr>
        </p:nvSpPr>
        <p:spPr/>
        <p:txBody>
          <a:bodyPr/>
          <a:lstStyle/>
          <a:p>
            <a:r>
              <a:rPr lang="en-GB" dirty="0"/>
              <a:t>Home take message:</a:t>
            </a:r>
            <a:endParaRPr lang="en-US" dirty="0"/>
          </a:p>
        </p:txBody>
      </p:sp>
      <p:sp>
        <p:nvSpPr>
          <p:cNvPr id="3" name="Content Placeholder 2">
            <a:extLst>
              <a:ext uri="{FF2B5EF4-FFF2-40B4-BE49-F238E27FC236}">
                <a16:creationId xmlns:a16="http://schemas.microsoft.com/office/drawing/2014/main" xmlns="" id="{852366E3-286A-568B-7082-15D7A2847624}"/>
              </a:ext>
            </a:extLst>
          </p:cNvPr>
          <p:cNvSpPr>
            <a:spLocks noGrp="1"/>
          </p:cNvSpPr>
          <p:nvPr>
            <p:ph idx="1"/>
          </p:nvPr>
        </p:nvSpPr>
        <p:spPr/>
        <p:txBody>
          <a:bodyPr/>
          <a:lstStyle/>
          <a:p>
            <a:r>
              <a:rPr lang="en-GB" dirty="0"/>
              <a:t>ESP block is successful alternative techniques to thoracic epidural anesthesia with a minimal risk of serious complications such as epidural hematoma and epidural abscess.</a:t>
            </a:r>
          </a:p>
          <a:p>
            <a:r>
              <a:rPr lang="en-GB" dirty="0"/>
              <a:t>Further research is still required to standardise doses and concentration of local anesthetics and to compare ESP block with other regional techniques. </a:t>
            </a:r>
          </a:p>
          <a:p>
            <a:endParaRPr lang="en-US" dirty="0"/>
          </a:p>
        </p:txBody>
      </p:sp>
    </p:spTree>
    <p:extLst>
      <p:ext uri="{BB962C8B-B14F-4D97-AF65-F5344CB8AC3E}">
        <p14:creationId xmlns:p14="http://schemas.microsoft.com/office/powerpoint/2010/main" xmlns="" val="20867617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890793-4AC6-5A38-DD48-07282C5B1CE5}"/>
              </a:ext>
            </a:extLst>
          </p:cNvPr>
          <p:cNvSpPr>
            <a:spLocks noGrp="1"/>
          </p:cNvSpPr>
          <p:nvPr>
            <p:ph type="title"/>
          </p:nvPr>
        </p:nvSpPr>
        <p:spPr/>
        <p:txBody>
          <a:bodyPr/>
          <a:lstStyle/>
          <a:p>
            <a:r>
              <a:rPr lang="en-GB" dirty="0"/>
              <a:t>Summary </a:t>
            </a:r>
            <a:endParaRPr lang="en-US" dirty="0"/>
          </a:p>
        </p:txBody>
      </p:sp>
      <p:sp>
        <p:nvSpPr>
          <p:cNvPr id="3" name="Content Placeholder 2">
            <a:extLst>
              <a:ext uri="{FF2B5EF4-FFF2-40B4-BE49-F238E27FC236}">
                <a16:creationId xmlns:a16="http://schemas.microsoft.com/office/drawing/2014/main" xmlns="" id="{DA8ABF61-9994-6D31-31AD-531CE7C5D4B0}"/>
              </a:ext>
            </a:extLst>
          </p:cNvPr>
          <p:cNvSpPr>
            <a:spLocks noGrp="1"/>
          </p:cNvSpPr>
          <p:nvPr>
            <p:ph idx="1"/>
          </p:nvPr>
        </p:nvSpPr>
        <p:spPr>
          <a:xfrm>
            <a:off x="1709271" y="2581835"/>
            <a:ext cx="9345583" cy="2884510"/>
          </a:xfrm>
        </p:spPr>
        <p:txBody>
          <a:bodyPr>
            <a:normAutofit/>
          </a:bodyPr>
          <a:lstStyle/>
          <a:p>
            <a:r>
              <a:rPr lang="en-GB" dirty="0"/>
              <a:t>The aim of ESP block is deposit local anesthetics in to the facial plane deep to erector spinae muscle, which blocks the dorsal and ventral rami of the spinal nerve depending on the level of injection and the amount of local anesthetics injected. </a:t>
            </a:r>
          </a:p>
          <a:p>
            <a:r>
              <a:rPr lang="en-GB" dirty="0"/>
              <a:t>The spinous process of the vertebra and a point 3 cm lateral to it are marked at the appropriate level before performing the block. </a:t>
            </a:r>
            <a:endParaRPr lang="en-US" dirty="0"/>
          </a:p>
        </p:txBody>
      </p:sp>
    </p:spTree>
    <p:extLst>
      <p:ext uri="{BB962C8B-B14F-4D97-AF65-F5344CB8AC3E}">
        <p14:creationId xmlns:p14="http://schemas.microsoft.com/office/powerpoint/2010/main" xmlns="" val="7010411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19</TotalTime>
  <Words>1467</Words>
  <Application>Microsoft Office PowerPoint</Application>
  <PresentationFormat>Custom</PresentationFormat>
  <Paragraphs>136</Paragraphs>
  <Slides>35</Slides>
  <Notes>1</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Gallery</vt:lpstr>
      <vt:lpstr>Erector spinae plane block </vt:lpstr>
      <vt:lpstr>Outlines </vt:lpstr>
      <vt:lpstr>Objectives </vt:lpstr>
      <vt:lpstr>Introduction </vt:lpstr>
      <vt:lpstr>Cont...</vt:lpstr>
      <vt:lpstr>Anatomy and physiology of ESPB </vt:lpstr>
      <vt:lpstr>Cont’d...</vt:lpstr>
      <vt:lpstr>.....</vt:lpstr>
      <vt:lpstr>Cont... </vt:lpstr>
      <vt:lpstr>Communication:</vt:lpstr>
      <vt:lpstr>Nerves:</vt:lpstr>
      <vt:lpstr>Erector spinae plane </vt:lpstr>
      <vt:lpstr>Esp Block</vt:lpstr>
      <vt:lpstr>Types of espb </vt:lpstr>
      <vt:lpstr>Cont...</vt:lpstr>
      <vt:lpstr>......</vt:lpstr>
      <vt:lpstr>Mechanisms of action</vt:lpstr>
      <vt:lpstr>Indications </vt:lpstr>
      <vt:lpstr>Contraindications </vt:lpstr>
      <vt:lpstr>Landmarks for ESPB </vt:lpstr>
      <vt:lpstr>Site of injection:</vt:lpstr>
      <vt:lpstr>Equipments </vt:lpstr>
      <vt:lpstr>Techniques </vt:lpstr>
      <vt:lpstr>Cont...</vt:lpstr>
      <vt:lpstr>Cont...</vt:lpstr>
      <vt:lpstr>....</vt:lpstr>
      <vt:lpstr>Slide 27</vt:lpstr>
      <vt:lpstr>.....</vt:lpstr>
      <vt:lpstr>....</vt:lpstr>
      <vt:lpstr>Verifying the Adequacy of Erector Spinae Plane Block Administration</vt:lpstr>
      <vt:lpstr>.....</vt:lpstr>
      <vt:lpstr>LA dose and volume </vt:lpstr>
      <vt:lpstr>Complications </vt:lpstr>
      <vt:lpstr>Home take message:</vt:lpstr>
      <vt:lpstr>Summary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Erector spinae plane block</dc:title>
  <dc:creator>yirgahana19@gmail.com</dc:creator>
  <cp:lastModifiedBy>Admin</cp:lastModifiedBy>
  <cp:revision>18</cp:revision>
  <dcterms:created xsi:type="dcterms:W3CDTF">2024-08-10T09:26:07Z</dcterms:created>
  <dcterms:modified xsi:type="dcterms:W3CDTF">2025-03-26T05:47:09Z</dcterms:modified>
</cp:coreProperties>
</file>