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4"/>
  </p:notesMasterIdLst>
  <p:sldIdLst>
    <p:sldId id="264" r:id="rId2"/>
    <p:sldId id="341" r:id="rId3"/>
    <p:sldId id="337" r:id="rId4"/>
    <p:sldId id="265" r:id="rId5"/>
    <p:sldId id="258" r:id="rId6"/>
    <p:sldId id="266" r:id="rId7"/>
    <p:sldId id="267" r:id="rId8"/>
    <p:sldId id="268" r:id="rId9"/>
    <p:sldId id="269" r:id="rId10"/>
    <p:sldId id="318" r:id="rId11"/>
    <p:sldId id="320" r:id="rId12"/>
    <p:sldId id="273" r:id="rId13"/>
    <p:sldId id="321" r:id="rId14"/>
    <p:sldId id="322" r:id="rId15"/>
    <p:sldId id="323" r:id="rId16"/>
    <p:sldId id="324" r:id="rId17"/>
    <p:sldId id="330" r:id="rId18"/>
    <p:sldId id="271" r:id="rId19"/>
    <p:sldId id="332" r:id="rId20"/>
    <p:sldId id="275" r:id="rId21"/>
    <p:sldId id="276" r:id="rId22"/>
    <p:sldId id="338" r:id="rId23"/>
    <p:sldId id="278" r:id="rId24"/>
    <p:sldId id="279" r:id="rId25"/>
    <p:sldId id="326" r:id="rId26"/>
    <p:sldId id="327" r:id="rId27"/>
    <p:sldId id="328" r:id="rId28"/>
    <p:sldId id="339" r:id="rId29"/>
    <p:sldId id="259" r:id="rId30"/>
    <p:sldId id="260" r:id="rId31"/>
    <p:sldId id="261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334" r:id="rId41"/>
    <p:sldId id="293" r:id="rId42"/>
    <p:sldId id="294" r:id="rId43"/>
    <p:sldId id="297" r:id="rId44"/>
    <p:sldId id="295" r:id="rId45"/>
    <p:sldId id="263" r:id="rId46"/>
    <p:sldId id="280" r:id="rId47"/>
    <p:sldId id="281" r:id="rId48"/>
    <p:sldId id="282" r:id="rId49"/>
    <p:sldId id="283" r:id="rId50"/>
    <p:sldId id="284" r:id="rId51"/>
    <p:sldId id="335" r:id="rId52"/>
    <p:sldId id="298" r:id="rId53"/>
    <p:sldId id="299" r:id="rId54"/>
    <p:sldId id="300" r:id="rId55"/>
    <p:sldId id="301" r:id="rId56"/>
    <p:sldId id="302" r:id="rId57"/>
    <p:sldId id="303" r:id="rId58"/>
    <p:sldId id="336" r:id="rId59"/>
    <p:sldId id="304" r:id="rId60"/>
    <p:sldId id="315" r:id="rId61"/>
    <p:sldId id="305" r:id="rId62"/>
    <p:sldId id="306" r:id="rId63"/>
    <p:sldId id="317" r:id="rId64"/>
    <p:sldId id="307" r:id="rId65"/>
    <p:sldId id="308" r:id="rId66"/>
    <p:sldId id="309" r:id="rId67"/>
    <p:sldId id="310" r:id="rId68"/>
    <p:sldId id="311" r:id="rId69"/>
    <p:sldId id="312" r:id="rId70"/>
    <p:sldId id="316" r:id="rId71"/>
    <p:sldId id="313" r:id="rId72"/>
    <p:sldId id="340" r:id="rId7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75" d="100"/>
          <a:sy n="75" d="100"/>
        </p:scale>
        <p:origin x="-1236" y="1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3D36C8-3441-4A17-A6AD-21E1B2A7BAD1}" type="datetimeFigureOut">
              <a:rPr lang="en-GB" smtClean="0"/>
              <a:t>21/11/2024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4ECC39-D98A-4D1C-AF23-31EE4939545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064583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750CA46C-08C1-4B1F-854C-460FA4CCBFC3}" type="slidenum">
              <a:rPr lang="en-US" smtClean="0"/>
              <a:pPr eaLnBrk="1" hangingPunct="1"/>
              <a:t>17</a:t>
            </a:fld>
            <a:endParaRPr lang="en-US" smtClean="0"/>
          </a:p>
        </p:txBody>
      </p:sp>
      <p:sp>
        <p:nvSpPr>
          <p:cNvPr id="768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 smtClean="0"/>
              <a:t>Piloerection</a:t>
            </a:r>
            <a:r>
              <a:rPr lang="en-US" baseline="0" dirty="0" smtClean="0"/>
              <a:t> – is the contraction of small muscles at the base of hair follicles resulting in visible erection of hair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4ECC39-D98A-4D1C-AF23-31EE49395450}" type="slidenum">
              <a:rPr lang="en-GB" smtClean="0"/>
              <a:t>51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78975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4ECC39-D98A-4D1C-AF23-31EE49395450}" type="slidenum">
              <a:rPr lang="en-GB" smtClean="0"/>
              <a:t>66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689999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86DA64-C783-421E-B510-D7E494617ECB}" type="datetime1">
              <a:rPr lang="en-GB" smtClean="0"/>
              <a:t>21/11/2024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870879-168A-4CB6-A4A5-D501825799F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314899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108A5-0725-426B-9421-2A7AB83FB2C0}" type="datetime1">
              <a:rPr lang="en-GB" smtClean="0"/>
              <a:t>21/11/2024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870879-168A-4CB6-A4A5-D501825799F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481544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0881B9-AC5B-4D43-AD81-D250155BB116}" type="datetime1">
              <a:rPr lang="en-GB" smtClean="0"/>
              <a:t>21/11/2024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870879-168A-4CB6-A4A5-D501825799F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751758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C45C0-D145-4320-947F-36F9CFD568A7}" type="datetime1">
              <a:rPr lang="en-GB" smtClean="0"/>
              <a:t>21/11/2024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870879-168A-4CB6-A4A5-D501825799F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527981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5236E-CB6E-47A4-B9EC-781D03860D9F}" type="datetime1">
              <a:rPr lang="en-GB" smtClean="0"/>
              <a:t>21/11/2024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870879-168A-4CB6-A4A5-D501825799F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426295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6BCCC6-D60A-4F81-BBA7-51EE59FD8F68}" type="datetime1">
              <a:rPr lang="en-GB" smtClean="0"/>
              <a:t>21/11/2024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870879-168A-4CB6-A4A5-D501825799F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472548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86B89-248A-4C32-8585-DF96AA331239}" type="datetime1">
              <a:rPr lang="en-GB" smtClean="0"/>
              <a:t>21/11/2024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870879-168A-4CB6-A4A5-D501825799F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364481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95AFD-16CA-4F2D-A7D5-7A6E7C470447}" type="datetime1">
              <a:rPr lang="en-GB" smtClean="0"/>
              <a:t>21/11/2024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870879-168A-4CB6-A4A5-D501825799F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448175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B3041-332A-4A09-947B-54343F320B5C}" type="datetime1">
              <a:rPr lang="en-GB" smtClean="0"/>
              <a:t>21/11/2024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870879-168A-4CB6-A4A5-D501825799F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925144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1D9A5-8CCB-4565-942D-5962BE03FA09}" type="datetime1">
              <a:rPr lang="en-GB" smtClean="0"/>
              <a:t>21/11/2024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870879-168A-4CB6-A4A5-D501825799F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155105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923106-BE97-48E8-8B8D-21443856F9E8}" type="datetime1">
              <a:rPr lang="en-GB" smtClean="0"/>
              <a:t>21/11/2024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870879-168A-4CB6-A4A5-D501825799F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592257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9E1267-6134-40C2-837C-01E416FF08C2}" type="datetime1">
              <a:rPr lang="en-GB" smtClean="0"/>
              <a:t>21/11/2024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870879-168A-4CB6-A4A5-D501825799F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4075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676401"/>
            <a:ext cx="7772400" cy="2133600"/>
          </a:xfrm>
        </p:spPr>
        <p:txBody>
          <a:bodyPr>
            <a:noAutofit/>
          </a:bodyPr>
          <a:lstStyle/>
          <a:p>
            <a:r>
              <a:rPr lang="en-US" sz="5400" b="1" dirty="0">
                <a:latin typeface="Gabriola" pitchFamily="82" charset="0"/>
              </a:rPr>
              <a:t>Anesthesia consideration for spinal cord injury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51720" y="5257800"/>
            <a:ext cx="6177880" cy="1051520"/>
          </a:xfrm>
        </p:spPr>
        <p:txBody>
          <a:bodyPr/>
          <a:lstStyle/>
          <a:p>
            <a:pPr algn="r"/>
            <a:r>
              <a:rPr lang="en-US" b="1" dirty="0" smtClean="0">
                <a:solidFill>
                  <a:schemeClr val="tx1"/>
                </a:solidFill>
                <a:latin typeface="Gabriola" pitchFamily="82" charset="0"/>
              </a:rPr>
              <a:t>By:- </a:t>
            </a:r>
            <a:r>
              <a:rPr lang="en-US" b="1" dirty="0" err="1" smtClean="0">
                <a:solidFill>
                  <a:schemeClr val="tx1"/>
                </a:solidFill>
                <a:latin typeface="Gabriola" pitchFamily="82" charset="0"/>
              </a:rPr>
              <a:t>Wubayehu</a:t>
            </a:r>
            <a:r>
              <a:rPr lang="en-US" b="1" dirty="0" smtClean="0">
                <a:solidFill>
                  <a:schemeClr val="tx1"/>
                </a:solidFill>
                <a:latin typeface="Gabriola" pitchFamily="82" charset="0"/>
              </a:rPr>
              <a:t> </a:t>
            </a:r>
            <a:r>
              <a:rPr lang="en-US" b="1" dirty="0" err="1" smtClean="0">
                <a:solidFill>
                  <a:schemeClr val="tx1"/>
                </a:solidFill>
                <a:latin typeface="Gabriola" pitchFamily="82" charset="0"/>
              </a:rPr>
              <a:t>Amare</a:t>
            </a:r>
            <a:r>
              <a:rPr lang="en-US" b="1" dirty="0" smtClean="0">
                <a:solidFill>
                  <a:schemeClr val="tx1"/>
                </a:solidFill>
                <a:latin typeface="Gabriola" pitchFamily="82" charset="0"/>
              </a:rPr>
              <a:t> ( BSC,MSC)</a:t>
            </a:r>
            <a:endParaRPr lang="en-US" b="1" dirty="0">
              <a:solidFill>
                <a:schemeClr val="tx1"/>
              </a:solidFill>
              <a:latin typeface="Gabriola" pitchFamily="82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B048D-A6EA-4F2D-A900-69CE5AD16777}" type="datetime1">
              <a:rPr lang="en-GB" smtClean="0"/>
              <a:t>21/11/2024</a:t>
            </a:fld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870879-168A-4CB6-A4A5-D501825799FC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768469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274638"/>
            <a:ext cx="8507288" cy="850106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>
                <a:latin typeface="Arial Black" pitchFamily="34" charset="0"/>
              </a:rPr>
              <a:t>Quiz exam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908720"/>
            <a:ext cx="8892480" cy="6120680"/>
          </a:xfrm>
        </p:spPr>
        <p:txBody>
          <a:bodyPr>
            <a:normAutofit fontScale="77500" lnSpcReduction="20000"/>
          </a:bodyPr>
          <a:lstStyle/>
          <a:p>
            <a:pPr marL="0" indent="0">
              <a:lnSpc>
                <a:spcPct val="170000"/>
              </a:lnSpc>
              <a:buNone/>
            </a:pPr>
            <a:r>
              <a:rPr lang="en-US" sz="3400" dirty="0" smtClean="0">
                <a:latin typeface="Times" pitchFamily="18" charset="0"/>
                <a:cs typeface="Times" pitchFamily="18" charset="0"/>
              </a:rPr>
              <a:t>1</a:t>
            </a:r>
            <a:r>
              <a:rPr lang="en-US" sz="3400" dirty="0">
                <a:latin typeface="Times" pitchFamily="18" charset="0"/>
                <a:cs typeface="Times" pitchFamily="18" charset="0"/>
              </a:rPr>
              <a:t>. Explain the difference between primary and secondary cause of trauma?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US" sz="3400" dirty="0">
                <a:latin typeface="Times" pitchFamily="18" charset="0"/>
                <a:cs typeface="Times" pitchFamily="18" charset="0"/>
              </a:rPr>
              <a:t>2. What Makes Trauma Cases Different from Elective Cases for Anesthesia Professionals?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US" sz="3400" dirty="0">
                <a:latin typeface="Times" pitchFamily="18" charset="0"/>
                <a:cs typeface="Times" pitchFamily="18" charset="0"/>
              </a:rPr>
              <a:t>3. Discuss the Sequential component of trauma evaluation and their difference?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US" sz="3400" dirty="0">
                <a:latin typeface="Times" pitchFamily="18" charset="0"/>
                <a:cs typeface="Times" pitchFamily="18" charset="0"/>
              </a:rPr>
              <a:t>4. List types of hemorrhage during TBI and their definition?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US" sz="3400" dirty="0">
                <a:latin typeface="Times" pitchFamily="18" charset="0"/>
                <a:cs typeface="Times" pitchFamily="18" charset="0"/>
              </a:rPr>
              <a:t>5. Explain the mechanism of increased intracranial pressure, its complication and management?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108A5-0725-426B-9421-2A7AB83FB2C0}" type="datetime1">
              <a:rPr lang="en-GB" smtClean="0"/>
              <a:t>21/11/2024</a:t>
            </a:fld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870879-168A-4CB6-A4A5-D501825799FC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38077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274638"/>
            <a:ext cx="8507288" cy="634082"/>
          </a:xfrm>
        </p:spPr>
        <p:txBody>
          <a:bodyPr>
            <a:normAutofit fontScale="90000"/>
          </a:bodyPr>
          <a:lstStyle/>
          <a:p>
            <a:r>
              <a:rPr lang="en-GB" b="1" dirty="0" smtClean="0"/>
              <a:t>Out line</a:t>
            </a:r>
            <a:endParaRPr lang="en-GB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1268760"/>
            <a:ext cx="8363272" cy="485740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GB" sz="2800" dirty="0" smtClean="0">
                <a:latin typeface="Gabriola" pitchFamily="82" charset="0"/>
              </a:rPr>
              <a:t>Introduction to spinal cord injury</a:t>
            </a:r>
          </a:p>
          <a:p>
            <a:pPr>
              <a:lnSpc>
                <a:spcPct val="150000"/>
              </a:lnSpc>
            </a:pPr>
            <a:r>
              <a:rPr lang="en-GB" sz="2800" dirty="0" smtClean="0">
                <a:latin typeface="Gabriola" pitchFamily="82" charset="0"/>
              </a:rPr>
              <a:t>Types and level of injury</a:t>
            </a:r>
          </a:p>
          <a:p>
            <a:pPr>
              <a:lnSpc>
                <a:spcPct val="150000"/>
              </a:lnSpc>
            </a:pPr>
            <a:r>
              <a:rPr lang="en-US" sz="2800" dirty="0" smtClean="0">
                <a:latin typeface="Gabriola" pitchFamily="82" charset="0"/>
              </a:rPr>
              <a:t>Autonomic </a:t>
            </a:r>
            <a:r>
              <a:rPr lang="en-US" sz="2800" dirty="0" err="1" smtClean="0">
                <a:latin typeface="Gabriola" pitchFamily="82" charset="0"/>
              </a:rPr>
              <a:t>dysreflexia</a:t>
            </a:r>
            <a:r>
              <a:rPr lang="en-US" sz="2800" dirty="0" smtClean="0">
                <a:latin typeface="Gabriola" pitchFamily="82" charset="0"/>
              </a:rPr>
              <a:t> ,</a:t>
            </a:r>
            <a:r>
              <a:rPr lang="en-GB" sz="2800" dirty="0" smtClean="0">
                <a:latin typeface="Gabriola" pitchFamily="82" charset="0"/>
              </a:rPr>
              <a:t>and its anaesthesia consideration</a:t>
            </a:r>
          </a:p>
          <a:p>
            <a:pPr>
              <a:lnSpc>
                <a:spcPct val="150000"/>
              </a:lnSpc>
            </a:pPr>
            <a:r>
              <a:rPr lang="en-GB" sz="2800" dirty="0" smtClean="0">
                <a:latin typeface="Gabriola" pitchFamily="82" charset="0"/>
              </a:rPr>
              <a:t> Anaesthesia consideration and management</a:t>
            </a:r>
          </a:p>
          <a:p>
            <a:pPr>
              <a:lnSpc>
                <a:spcPct val="150000"/>
              </a:lnSpc>
            </a:pPr>
            <a:r>
              <a:rPr lang="en-GB" sz="2800" dirty="0" smtClean="0">
                <a:latin typeface="Gabriola" pitchFamily="82" charset="0"/>
              </a:rPr>
              <a:t>Special consideration </a:t>
            </a:r>
            <a:endParaRPr lang="en-GB" sz="2800" dirty="0">
              <a:latin typeface="Gabriola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67217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latin typeface="Gabriola" pitchFamily="82" charset="0"/>
              </a:rPr>
              <a:t>INTRODUCTION </a:t>
            </a:r>
            <a:endParaRPr lang="en-US" b="1" dirty="0">
              <a:latin typeface="Gabriola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1340768"/>
            <a:ext cx="8587680" cy="5136232"/>
          </a:xfrm>
        </p:spPr>
        <p:txBody>
          <a:bodyPr>
            <a:noAutofit/>
          </a:bodyPr>
          <a:lstStyle/>
          <a:p>
            <a:pPr>
              <a:lnSpc>
                <a:spcPct val="160000"/>
              </a:lnSpc>
              <a:buFont typeface="Wingdings" pitchFamily="2" charset="2"/>
              <a:buChar char="ü"/>
            </a:pPr>
            <a:r>
              <a:rPr lang="en-US" sz="2800" dirty="0">
                <a:latin typeface="Gabriola" pitchFamily="82" charset="0"/>
              </a:rPr>
              <a:t>A spinal cord injury (SCI) is a complex and often life-altering condition resulting from damage to the spinal cord, typically caused by trauma or disease. </a:t>
            </a:r>
            <a:endParaRPr lang="en-US" sz="2800" dirty="0" smtClean="0">
              <a:latin typeface="Gabriola" pitchFamily="82" charset="0"/>
            </a:endParaRPr>
          </a:p>
          <a:p>
            <a:pPr>
              <a:lnSpc>
                <a:spcPct val="160000"/>
              </a:lnSpc>
              <a:buFont typeface="Wingdings" pitchFamily="2" charset="2"/>
              <a:buChar char="ü"/>
            </a:pPr>
            <a:r>
              <a:rPr lang="en-US" sz="2800" dirty="0" smtClean="0">
                <a:latin typeface="Gabriola" pitchFamily="82" charset="0"/>
              </a:rPr>
              <a:t>The </a:t>
            </a:r>
            <a:r>
              <a:rPr lang="en-US" sz="2800" dirty="0">
                <a:latin typeface="Gabriola" pitchFamily="82" charset="0"/>
              </a:rPr>
              <a:t>spinal cord, a crucial part of the central nervous system, facilitates the transmission of messages between the brain and </a:t>
            </a:r>
            <a:r>
              <a:rPr lang="en-US" sz="2800" dirty="0" smtClean="0">
                <a:latin typeface="Gabriola" pitchFamily="82" charset="0"/>
              </a:rPr>
              <a:t>the </a:t>
            </a:r>
            <a:r>
              <a:rPr lang="en-US" sz="2800" dirty="0">
                <a:latin typeface="Gabriola" pitchFamily="82" charset="0"/>
              </a:rPr>
              <a:t>body. </a:t>
            </a:r>
            <a:endParaRPr lang="en-US" sz="2800" dirty="0" smtClean="0">
              <a:latin typeface="Gabriola" pitchFamily="82" charset="0"/>
            </a:endParaRPr>
          </a:p>
          <a:p>
            <a:pPr>
              <a:lnSpc>
                <a:spcPct val="160000"/>
              </a:lnSpc>
              <a:buFont typeface="Wingdings" pitchFamily="2" charset="2"/>
              <a:buChar char="ü"/>
            </a:pPr>
            <a:r>
              <a:rPr lang="en-GB" sz="2800" dirty="0" smtClean="0">
                <a:latin typeface="Gabriola" pitchFamily="82" charset="0"/>
              </a:rPr>
              <a:t>Spinal cord lesions may lead to permanent disability, significant morbidity, and even mortality.</a:t>
            </a:r>
          </a:p>
          <a:p>
            <a:pPr>
              <a:lnSpc>
                <a:spcPct val="160000"/>
              </a:lnSpc>
              <a:buFont typeface="Wingdings" pitchFamily="2" charset="2"/>
              <a:buChar char="ü"/>
            </a:pPr>
            <a:endParaRPr lang="en-US" sz="2800" dirty="0" smtClean="0">
              <a:latin typeface="Gabriola" pitchFamily="8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4ECA98-2791-430C-84E5-1220109A000D}" type="slidenum">
              <a:rPr lang="en-US" smtClean="0"/>
              <a:t>4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5B5EC-784D-4425-AC79-A57CD77E5B57}" type="datetime1">
              <a:rPr lang="en-GB" smtClean="0"/>
              <a:t>21/11/2024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298333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504" y="274638"/>
            <a:ext cx="8579296" cy="634082"/>
          </a:xfrm>
        </p:spPr>
        <p:txBody>
          <a:bodyPr>
            <a:normAutofit fontScale="90000"/>
          </a:bodyPr>
          <a:lstStyle/>
          <a:p>
            <a:r>
              <a:rPr lang="en-GB" b="1" dirty="0" smtClean="0"/>
              <a:t>Definition: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1052736"/>
            <a:ext cx="8435280" cy="507342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GB" sz="2800" b="1" dirty="0" smtClean="0">
                <a:latin typeface="Gabriola" pitchFamily="82" charset="0"/>
              </a:rPr>
              <a:t>SCI</a:t>
            </a:r>
            <a:r>
              <a:rPr lang="en-GB" sz="2800" dirty="0" smtClean="0">
                <a:latin typeface="Gabriola" pitchFamily="82" charset="0"/>
              </a:rPr>
              <a:t>: is </a:t>
            </a:r>
            <a:r>
              <a:rPr lang="en-GB" sz="2800" dirty="0">
                <a:latin typeface="Gabriola" pitchFamily="82" charset="0"/>
              </a:rPr>
              <a:t>a condition resulting from damage to the spinal cord, leading to a loss of motor, sensory, and autonomic function below the level of injury</a:t>
            </a:r>
            <a:r>
              <a:rPr lang="en-GB" sz="2800" dirty="0" smtClean="0">
                <a:latin typeface="Gabriola" pitchFamily="82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GB" sz="2800" dirty="0">
                <a:latin typeface="Gabriola" pitchFamily="82" charset="0"/>
              </a:rPr>
              <a:t>High spinal injuries often impair cardiorespiratory function, requiring emergent interventions.</a:t>
            </a:r>
          </a:p>
          <a:p>
            <a:pPr>
              <a:lnSpc>
                <a:spcPct val="150000"/>
              </a:lnSpc>
            </a:pPr>
            <a:r>
              <a:rPr lang="en-GB" sz="2800" dirty="0">
                <a:latin typeface="Gabriola" pitchFamily="82" charset="0"/>
              </a:rPr>
              <a:t>The clinical presentation and severity of SCI depend on the level of the spinal cord involved and the nature of the </a:t>
            </a:r>
            <a:r>
              <a:rPr lang="en-GB" sz="2800" dirty="0" smtClean="0">
                <a:latin typeface="Gabriola" pitchFamily="82" charset="0"/>
              </a:rPr>
              <a:t>injury</a:t>
            </a:r>
            <a:endParaRPr lang="en-GB" sz="2800" dirty="0">
              <a:latin typeface="Gabriola" pitchFamily="82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CC9D7-778A-4DBC-9DAC-58321D0AF0AA}" type="datetime1">
              <a:rPr lang="en-GB" smtClean="0"/>
              <a:t>21/11/2024</a:t>
            </a:fld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870879-168A-4CB6-A4A5-D501825799FC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889681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528" y="274638"/>
            <a:ext cx="8363272" cy="562074"/>
          </a:xfrm>
        </p:spPr>
        <p:txBody>
          <a:bodyPr>
            <a:normAutofit fontScale="90000"/>
          </a:bodyPr>
          <a:lstStyle/>
          <a:p>
            <a:r>
              <a:rPr lang="en-GB" b="1" dirty="0" smtClean="0"/>
              <a:t/>
            </a:r>
            <a:br>
              <a:rPr lang="en-GB" b="1" dirty="0" smtClean="0"/>
            </a:br>
            <a:r>
              <a:rPr lang="en-GB" sz="4000" b="1" dirty="0" smtClean="0">
                <a:latin typeface="Times" pitchFamily="18" charset="0"/>
              </a:rPr>
              <a:t>Epidemiology of SCI</a:t>
            </a:r>
            <a:r>
              <a:rPr lang="en-GB" sz="3600" dirty="0" smtClean="0"/>
              <a:t/>
            </a:r>
            <a:br>
              <a:rPr lang="en-GB" sz="3600" dirty="0" smtClean="0"/>
            </a:b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764704"/>
            <a:ext cx="8856984" cy="5760640"/>
          </a:xfrm>
        </p:spPr>
        <p:txBody>
          <a:bodyPr>
            <a:normAutofit fontScale="85000" lnSpcReduction="10000"/>
          </a:bodyPr>
          <a:lstStyle/>
          <a:p>
            <a:pPr lvl="0">
              <a:lnSpc>
                <a:spcPct val="160000"/>
              </a:lnSpc>
            </a:pPr>
            <a:r>
              <a:rPr lang="en-GB" b="1" dirty="0" smtClean="0">
                <a:latin typeface="Gabriola" pitchFamily="82" charset="0"/>
              </a:rPr>
              <a:t>Incidence</a:t>
            </a:r>
            <a:r>
              <a:rPr lang="en-GB" dirty="0">
                <a:latin typeface="Gabriola" pitchFamily="82" charset="0"/>
              </a:rPr>
              <a:t>: Approximately 12,000 new SCI cases per year in the United States.</a:t>
            </a:r>
            <a:endParaRPr lang="en-GB" sz="2800" dirty="0">
              <a:latin typeface="Gabriola" pitchFamily="82" charset="0"/>
            </a:endParaRPr>
          </a:p>
          <a:p>
            <a:pPr lvl="0">
              <a:lnSpc>
                <a:spcPct val="160000"/>
              </a:lnSpc>
            </a:pPr>
            <a:r>
              <a:rPr lang="en-GB" b="1" dirty="0">
                <a:latin typeface="Gabriola" pitchFamily="82" charset="0"/>
              </a:rPr>
              <a:t>Common Causes</a:t>
            </a:r>
            <a:r>
              <a:rPr lang="en-GB" dirty="0">
                <a:latin typeface="Gabriola" pitchFamily="82" charset="0"/>
              </a:rPr>
              <a:t>:</a:t>
            </a:r>
            <a:endParaRPr lang="en-GB" sz="2800" dirty="0">
              <a:latin typeface="Gabriola" pitchFamily="82" charset="0"/>
            </a:endParaRPr>
          </a:p>
          <a:p>
            <a:pPr lvl="1">
              <a:lnSpc>
                <a:spcPct val="160000"/>
              </a:lnSpc>
            </a:pPr>
            <a:r>
              <a:rPr lang="en-GB" b="1" dirty="0">
                <a:latin typeface="Gabriola" pitchFamily="82" charset="0"/>
              </a:rPr>
              <a:t>Trauma</a:t>
            </a:r>
            <a:r>
              <a:rPr lang="en-GB" dirty="0">
                <a:latin typeface="Gabriola" pitchFamily="82" charset="0"/>
              </a:rPr>
              <a:t>: Motor vehicle accidents (MVA), falls, sports injuries, and violence (e.g., gunshot wounds).</a:t>
            </a:r>
            <a:endParaRPr lang="en-GB" sz="2400" dirty="0">
              <a:latin typeface="Gabriola" pitchFamily="82" charset="0"/>
            </a:endParaRPr>
          </a:p>
          <a:p>
            <a:pPr lvl="1">
              <a:lnSpc>
                <a:spcPct val="160000"/>
              </a:lnSpc>
            </a:pPr>
            <a:r>
              <a:rPr lang="en-GB" b="1" dirty="0">
                <a:latin typeface="Gabriola" pitchFamily="82" charset="0"/>
              </a:rPr>
              <a:t>Non-traumatic</a:t>
            </a:r>
            <a:r>
              <a:rPr lang="en-GB" dirty="0">
                <a:latin typeface="Gabriola" pitchFamily="82" charset="0"/>
              </a:rPr>
              <a:t>: </a:t>
            </a:r>
            <a:r>
              <a:rPr lang="en-GB" dirty="0" err="1">
                <a:latin typeface="Gabriola" pitchFamily="82" charset="0"/>
              </a:rPr>
              <a:t>Tumors</a:t>
            </a:r>
            <a:r>
              <a:rPr lang="en-GB" dirty="0">
                <a:latin typeface="Gabriola" pitchFamily="82" charset="0"/>
              </a:rPr>
              <a:t>, infections (e.g., abscesses), degenerative diseases (e.g., spinal stenosis), and congenital conditions.</a:t>
            </a:r>
            <a:endParaRPr lang="en-GB" sz="2400" dirty="0">
              <a:latin typeface="Gabriola" pitchFamily="82" charset="0"/>
            </a:endParaRPr>
          </a:p>
          <a:p>
            <a:pPr lvl="0">
              <a:lnSpc>
                <a:spcPct val="160000"/>
              </a:lnSpc>
            </a:pPr>
            <a:r>
              <a:rPr lang="en-GB" b="1" dirty="0">
                <a:latin typeface="Gabriola" pitchFamily="82" charset="0"/>
              </a:rPr>
              <a:t>Demographics</a:t>
            </a:r>
            <a:r>
              <a:rPr lang="en-GB" dirty="0">
                <a:latin typeface="Gabriola" pitchFamily="82" charset="0"/>
              </a:rPr>
              <a:t>:</a:t>
            </a:r>
            <a:endParaRPr lang="en-GB" sz="2800" dirty="0">
              <a:latin typeface="Gabriola" pitchFamily="82" charset="0"/>
            </a:endParaRPr>
          </a:p>
          <a:p>
            <a:pPr lvl="1">
              <a:lnSpc>
                <a:spcPct val="160000"/>
              </a:lnSpc>
            </a:pPr>
            <a:r>
              <a:rPr lang="en-GB" dirty="0">
                <a:latin typeface="Gabriola" pitchFamily="82" charset="0"/>
              </a:rPr>
              <a:t>Most common in young adults (18-30 years).</a:t>
            </a:r>
            <a:endParaRPr lang="en-GB" sz="2400" dirty="0">
              <a:latin typeface="Gabriola" pitchFamily="82" charset="0"/>
            </a:endParaRPr>
          </a:p>
          <a:p>
            <a:pPr lvl="1">
              <a:lnSpc>
                <a:spcPct val="160000"/>
              </a:lnSpc>
            </a:pPr>
            <a:r>
              <a:rPr lang="en-GB" dirty="0">
                <a:latin typeface="Gabriola" pitchFamily="82" charset="0"/>
              </a:rPr>
              <a:t>Predominantly male (80-90% of cases).</a:t>
            </a:r>
            <a:endParaRPr lang="en-GB" sz="2400" dirty="0">
              <a:latin typeface="Gabriola" pitchFamily="82" charset="0"/>
            </a:endParaRPr>
          </a:p>
          <a:p>
            <a:pPr>
              <a:lnSpc>
                <a:spcPct val="160000"/>
              </a:lnSpc>
            </a:pPr>
            <a:endParaRPr lang="en-GB" dirty="0">
              <a:latin typeface="Gabriola" pitchFamily="82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A6A2E-56EA-494C-826F-6D605CB26C6A}" type="datetime1">
              <a:rPr lang="en-GB" smtClean="0"/>
              <a:t>21/11/2024</a:t>
            </a:fld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870879-168A-4CB6-A4A5-D501825799FC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744062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274638"/>
            <a:ext cx="8435280" cy="562074"/>
          </a:xfrm>
        </p:spPr>
        <p:txBody>
          <a:bodyPr>
            <a:noAutofit/>
          </a:bodyPr>
          <a:lstStyle/>
          <a:p>
            <a:r>
              <a:rPr lang="en-GB" sz="3200" b="1" dirty="0" smtClean="0">
                <a:latin typeface="Times" pitchFamily="18" charset="0"/>
              </a:rPr>
              <a:t/>
            </a:r>
            <a:br>
              <a:rPr lang="en-GB" sz="3200" b="1" dirty="0" smtClean="0">
                <a:latin typeface="Times" pitchFamily="18" charset="0"/>
              </a:rPr>
            </a:br>
            <a:r>
              <a:rPr lang="en-GB" sz="3200" b="1" dirty="0" smtClean="0">
                <a:latin typeface="Times" pitchFamily="18" charset="0"/>
              </a:rPr>
              <a:t>Mechanisms of Spinal Cord Injury</a:t>
            </a:r>
            <a:r>
              <a:rPr lang="en-GB" sz="3200" dirty="0" smtClean="0">
                <a:latin typeface="Times" pitchFamily="18" charset="0"/>
              </a:rPr>
              <a:t/>
            </a:r>
            <a:br>
              <a:rPr lang="en-GB" sz="3200" dirty="0" smtClean="0">
                <a:latin typeface="Times" pitchFamily="18" charset="0"/>
              </a:rPr>
            </a:br>
            <a:endParaRPr lang="en-GB" sz="3200" dirty="0">
              <a:latin typeface="Times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1052736"/>
            <a:ext cx="8363272" cy="5073427"/>
          </a:xfrm>
        </p:spPr>
        <p:txBody>
          <a:bodyPr>
            <a:normAutofit/>
          </a:bodyPr>
          <a:lstStyle/>
          <a:p>
            <a:pPr lvl="0">
              <a:lnSpc>
                <a:spcPct val="150000"/>
              </a:lnSpc>
            </a:pPr>
            <a:r>
              <a:rPr lang="en-GB" sz="2800" b="1" dirty="0" smtClean="0">
                <a:latin typeface="Gabriola" pitchFamily="82" charset="0"/>
              </a:rPr>
              <a:t>Trauma</a:t>
            </a:r>
            <a:r>
              <a:rPr lang="en-GB" sz="2800" dirty="0" smtClean="0">
                <a:latin typeface="Gabriola" pitchFamily="82" charset="0"/>
              </a:rPr>
              <a:t> </a:t>
            </a:r>
            <a:r>
              <a:rPr lang="en-GB" sz="2800" dirty="0">
                <a:latin typeface="Gabriola" pitchFamily="82" charset="0"/>
              </a:rPr>
              <a:t>(e.g., MVA, fall, sports injury):</a:t>
            </a:r>
          </a:p>
          <a:p>
            <a:pPr lvl="1">
              <a:lnSpc>
                <a:spcPct val="150000"/>
              </a:lnSpc>
            </a:pPr>
            <a:r>
              <a:rPr lang="en-GB" b="1" dirty="0">
                <a:latin typeface="Gabriola" pitchFamily="82" charset="0"/>
              </a:rPr>
              <a:t>Compression</a:t>
            </a:r>
            <a:r>
              <a:rPr lang="en-GB" dirty="0">
                <a:latin typeface="Gabriola" pitchFamily="82" charset="0"/>
              </a:rPr>
              <a:t>: Vertebral fractures or dislocations causing pressure on the spinal cord.</a:t>
            </a:r>
          </a:p>
          <a:p>
            <a:pPr lvl="1">
              <a:lnSpc>
                <a:spcPct val="150000"/>
              </a:lnSpc>
            </a:pPr>
            <a:r>
              <a:rPr lang="en-GB" b="1" dirty="0">
                <a:latin typeface="Gabriola" pitchFamily="82" charset="0"/>
              </a:rPr>
              <a:t>Contusion</a:t>
            </a:r>
            <a:r>
              <a:rPr lang="en-GB" dirty="0">
                <a:latin typeface="Gabriola" pitchFamily="82" charset="0"/>
              </a:rPr>
              <a:t>: Bruising of the spinal cord, leading to disruption of blood flow and cell death.</a:t>
            </a:r>
          </a:p>
          <a:p>
            <a:pPr lvl="1">
              <a:lnSpc>
                <a:spcPct val="150000"/>
              </a:lnSpc>
            </a:pPr>
            <a:r>
              <a:rPr lang="en-GB" b="1" dirty="0">
                <a:latin typeface="Gabriola" pitchFamily="82" charset="0"/>
              </a:rPr>
              <a:t>Laceration</a:t>
            </a:r>
            <a:r>
              <a:rPr lang="en-GB" dirty="0">
                <a:latin typeface="Gabriola" pitchFamily="82" charset="0"/>
              </a:rPr>
              <a:t>: Direct cutting or tearing of spinal cord tissue (e.g., by bone fragments).</a:t>
            </a:r>
          </a:p>
          <a:p>
            <a:pPr>
              <a:lnSpc>
                <a:spcPct val="150000"/>
              </a:lnSpc>
            </a:pPr>
            <a:endParaRPr lang="en-GB" sz="2800" dirty="0">
              <a:latin typeface="Gabriola" pitchFamily="82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71A59-7071-4186-AD26-ED1ADCEC1A2F}" type="datetime1">
              <a:rPr lang="en-GB" smtClean="0"/>
              <a:t>21/11/2024</a:t>
            </a:fld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870879-168A-4CB6-A4A5-D501825799FC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028164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274638"/>
            <a:ext cx="8507288" cy="706090"/>
          </a:xfrm>
        </p:spPr>
        <p:txBody>
          <a:bodyPr>
            <a:normAutofit fontScale="90000"/>
          </a:bodyPr>
          <a:lstStyle/>
          <a:p>
            <a:pPr algn="r"/>
            <a:r>
              <a:rPr lang="en-GB" dirty="0" smtClean="0"/>
              <a:t>Cont..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836712"/>
            <a:ext cx="8435280" cy="5289451"/>
          </a:xfrm>
        </p:spPr>
        <p:txBody>
          <a:bodyPr>
            <a:normAutofit/>
          </a:bodyPr>
          <a:lstStyle/>
          <a:p>
            <a:pPr lvl="0">
              <a:lnSpc>
                <a:spcPct val="150000"/>
              </a:lnSpc>
            </a:pPr>
            <a:r>
              <a:rPr lang="en-GB" sz="2800" b="1" dirty="0" smtClean="0">
                <a:latin typeface="Gabriola" pitchFamily="82" charset="0"/>
              </a:rPr>
              <a:t>Non-traumatic causes</a:t>
            </a:r>
            <a:r>
              <a:rPr lang="en-GB" sz="2800" dirty="0" smtClean="0">
                <a:latin typeface="Gabriola" pitchFamily="82" charset="0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GB" b="1" dirty="0" smtClean="0">
                <a:latin typeface="Gabriola" pitchFamily="82" charset="0"/>
              </a:rPr>
              <a:t>Ischemia</a:t>
            </a:r>
            <a:r>
              <a:rPr lang="en-GB" dirty="0" smtClean="0">
                <a:latin typeface="Gabriola" pitchFamily="82" charset="0"/>
              </a:rPr>
              <a:t>: Reduced blood flow due to narrowing of blood vessels or embolism.</a:t>
            </a:r>
          </a:p>
          <a:p>
            <a:pPr lvl="1">
              <a:lnSpc>
                <a:spcPct val="150000"/>
              </a:lnSpc>
            </a:pPr>
            <a:r>
              <a:rPr lang="en-GB" b="1" dirty="0" smtClean="0">
                <a:latin typeface="Gabriola" pitchFamily="82" charset="0"/>
              </a:rPr>
              <a:t>Infection or </a:t>
            </a:r>
            <a:r>
              <a:rPr lang="en-GB" b="1" dirty="0" err="1" smtClean="0">
                <a:latin typeface="Gabriola" pitchFamily="82" charset="0"/>
              </a:rPr>
              <a:t>tumor</a:t>
            </a:r>
            <a:r>
              <a:rPr lang="en-GB" dirty="0" smtClean="0">
                <a:latin typeface="Gabriola" pitchFamily="82" charset="0"/>
              </a:rPr>
              <a:t>: Can compress or infiltrate the spinal cord.</a:t>
            </a:r>
          </a:p>
          <a:p>
            <a:pPr lvl="1">
              <a:lnSpc>
                <a:spcPct val="150000"/>
              </a:lnSpc>
            </a:pPr>
            <a:r>
              <a:rPr lang="en-GB" b="1" dirty="0" smtClean="0">
                <a:latin typeface="Gabriola" pitchFamily="82" charset="0"/>
              </a:rPr>
              <a:t>Degenerative diseases</a:t>
            </a:r>
            <a:r>
              <a:rPr lang="en-GB" dirty="0" smtClean="0">
                <a:latin typeface="Gabriola" pitchFamily="82" charset="0"/>
              </a:rPr>
              <a:t>: (e.g., </a:t>
            </a:r>
            <a:r>
              <a:rPr lang="en-GB" dirty="0" err="1" smtClean="0">
                <a:latin typeface="Gabriola" pitchFamily="82" charset="0"/>
              </a:rPr>
              <a:t>spondylosis</a:t>
            </a:r>
            <a:r>
              <a:rPr lang="en-GB" dirty="0" smtClean="0">
                <a:latin typeface="Gabriola" pitchFamily="82" charset="0"/>
              </a:rPr>
              <a:t>, spinal stenosis).</a:t>
            </a:r>
          </a:p>
          <a:p>
            <a:pPr>
              <a:lnSpc>
                <a:spcPct val="150000"/>
              </a:lnSpc>
            </a:pPr>
            <a:endParaRPr lang="en-GB" sz="2800" dirty="0">
              <a:latin typeface="Gabriola" pitchFamily="82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AF42F-A616-4D8C-8E4B-81DFEF50092C}" type="datetime1">
              <a:rPr lang="en-GB" smtClean="0"/>
              <a:t>21/11/2024</a:t>
            </a:fld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870879-168A-4CB6-A4A5-D501825799FC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893297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260648"/>
            <a:ext cx="8579296" cy="562074"/>
          </a:xfrm>
        </p:spPr>
        <p:txBody>
          <a:bodyPr>
            <a:normAutofit fontScale="90000"/>
          </a:bodyPr>
          <a:lstStyle/>
          <a:p>
            <a:r>
              <a:rPr lang="en-GB" b="1" dirty="0" smtClean="0">
                <a:latin typeface="Arial Black" pitchFamily="34" charset="0"/>
              </a:rPr>
              <a:t/>
            </a:r>
            <a:br>
              <a:rPr lang="en-GB" b="1" dirty="0" smtClean="0">
                <a:latin typeface="Arial Black" pitchFamily="34" charset="0"/>
              </a:rPr>
            </a:br>
            <a:r>
              <a:rPr lang="en-GB" b="1" dirty="0" smtClean="0">
                <a:latin typeface="Arial Black" pitchFamily="34" charset="0"/>
              </a:rPr>
              <a:t>Spinal Cord Anatomy</a:t>
            </a:r>
            <a:br>
              <a:rPr lang="en-GB" b="1" dirty="0" smtClean="0">
                <a:latin typeface="Arial Black" pitchFamily="34" charset="0"/>
              </a:rPr>
            </a:br>
            <a:endParaRPr lang="en-GB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836712"/>
            <a:ext cx="8496944" cy="5400600"/>
          </a:xfrm>
        </p:spPr>
        <p:txBody>
          <a:bodyPr>
            <a:noAutofit/>
          </a:bodyPr>
          <a:lstStyle/>
          <a:p>
            <a:pPr>
              <a:lnSpc>
                <a:spcPct val="170000"/>
              </a:lnSpc>
            </a:pPr>
            <a:r>
              <a:rPr lang="en-GB" sz="2800" b="1" dirty="0" smtClean="0">
                <a:latin typeface="Gabriola" pitchFamily="82" charset="0"/>
              </a:rPr>
              <a:t>Structure</a:t>
            </a:r>
            <a:r>
              <a:rPr lang="en-GB" sz="2800" dirty="0" smtClean="0">
                <a:latin typeface="Gabriola" pitchFamily="82" charset="0"/>
              </a:rPr>
              <a:t>:</a:t>
            </a:r>
          </a:p>
          <a:p>
            <a:pPr lvl="1">
              <a:lnSpc>
                <a:spcPct val="170000"/>
              </a:lnSpc>
            </a:pPr>
            <a:r>
              <a:rPr lang="en-GB" dirty="0" smtClean="0">
                <a:latin typeface="Gabriola" pitchFamily="82" charset="0"/>
              </a:rPr>
              <a:t>The </a:t>
            </a:r>
            <a:r>
              <a:rPr lang="en-GB" b="1" dirty="0" smtClean="0">
                <a:latin typeface="Gabriola" pitchFamily="82" charset="0"/>
              </a:rPr>
              <a:t>spinal cord</a:t>
            </a:r>
            <a:r>
              <a:rPr lang="en-GB" dirty="0" smtClean="0">
                <a:latin typeface="Gabriola" pitchFamily="82" charset="0"/>
              </a:rPr>
              <a:t> is a cylindrical bundle of </a:t>
            </a:r>
            <a:r>
              <a:rPr lang="en-GB" b="1" dirty="0" smtClean="0">
                <a:latin typeface="Gabriola" pitchFamily="82" charset="0"/>
              </a:rPr>
              <a:t>nerve </a:t>
            </a:r>
            <a:r>
              <a:rPr lang="en-GB" b="1" dirty="0" err="1" smtClean="0">
                <a:latin typeface="Gabriola" pitchFamily="82" charset="0"/>
              </a:rPr>
              <a:t>fibers</a:t>
            </a:r>
            <a:r>
              <a:rPr lang="en-GB" dirty="0" smtClean="0">
                <a:latin typeface="Gabriola" pitchFamily="82" charset="0"/>
              </a:rPr>
              <a:t> that extends from the </a:t>
            </a:r>
            <a:r>
              <a:rPr lang="en-GB" b="1" dirty="0" smtClean="0">
                <a:latin typeface="Gabriola" pitchFamily="82" charset="0"/>
              </a:rPr>
              <a:t>brainstem (medulla oblongata)</a:t>
            </a:r>
            <a:r>
              <a:rPr lang="en-GB" dirty="0" smtClean="0">
                <a:latin typeface="Gabriola" pitchFamily="82" charset="0"/>
              </a:rPr>
              <a:t> to the </a:t>
            </a:r>
            <a:r>
              <a:rPr lang="en-GB" b="1" dirty="0" smtClean="0">
                <a:latin typeface="Gabriola" pitchFamily="82" charset="0"/>
              </a:rPr>
              <a:t>lumbar vertebrae</a:t>
            </a:r>
            <a:r>
              <a:rPr lang="en-GB" dirty="0" smtClean="0">
                <a:latin typeface="Gabriola" pitchFamily="82" charset="0"/>
              </a:rPr>
              <a:t>.</a:t>
            </a:r>
          </a:p>
          <a:p>
            <a:pPr lvl="1">
              <a:lnSpc>
                <a:spcPct val="170000"/>
              </a:lnSpc>
            </a:pPr>
            <a:r>
              <a:rPr lang="en-GB" dirty="0" smtClean="0">
                <a:latin typeface="Gabriola" pitchFamily="82" charset="0"/>
              </a:rPr>
              <a:t>It is housed within the </a:t>
            </a:r>
            <a:r>
              <a:rPr lang="en-GB" b="1" dirty="0" smtClean="0">
                <a:latin typeface="Gabriola" pitchFamily="82" charset="0"/>
              </a:rPr>
              <a:t>vertebral column</a:t>
            </a:r>
            <a:r>
              <a:rPr lang="en-GB" dirty="0" smtClean="0">
                <a:latin typeface="Gabriola" pitchFamily="82" charset="0"/>
              </a:rPr>
              <a:t> and encased by protective layers called </a:t>
            </a:r>
            <a:r>
              <a:rPr lang="en-GB" b="1" dirty="0" smtClean="0">
                <a:latin typeface="Gabriola" pitchFamily="82" charset="0"/>
              </a:rPr>
              <a:t>meninges</a:t>
            </a:r>
            <a:r>
              <a:rPr lang="en-GB" dirty="0" smtClean="0">
                <a:latin typeface="Gabriola" pitchFamily="82" charset="0"/>
              </a:rPr>
              <a:t> (</a:t>
            </a:r>
            <a:r>
              <a:rPr lang="en-GB" dirty="0" err="1" smtClean="0">
                <a:latin typeface="Gabriola" pitchFamily="82" charset="0"/>
              </a:rPr>
              <a:t>dura</a:t>
            </a:r>
            <a:r>
              <a:rPr lang="en-GB" dirty="0" smtClean="0">
                <a:latin typeface="Gabriola" pitchFamily="82" charset="0"/>
              </a:rPr>
              <a:t> mater, arachnoid mater, and </a:t>
            </a:r>
            <a:r>
              <a:rPr lang="en-GB" dirty="0" err="1" smtClean="0">
                <a:latin typeface="Gabriola" pitchFamily="82" charset="0"/>
              </a:rPr>
              <a:t>pia</a:t>
            </a:r>
            <a:r>
              <a:rPr lang="en-GB" dirty="0" smtClean="0">
                <a:latin typeface="Gabriola" pitchFamily="82" charset="0"/>
              </a:rPr>
              <a:t> mater).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50500-D070-4983-91CB-E22016B5341F}" type="datetime1">
              <a:rPr lang="en-GB" smtClean="0"/>
              <a:t>21/11/2024</a:t>
            </a:fld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870879-168A-4CB6-A4A5-D501825799FC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22902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274638"/>
            <a:ext cx="8507288" cy="418058"/>
          </a:xfrm>
        </p:spPr>
        <p:txBody>
          <a:bodyPr>
            <a:normAutofit fontScale="90000"/>
          </a:bodyPr>
          <a:lstStyle/>
          <a:p>
            <a:pPr algn="r"/>
            <a:r>
              <a:rPr lang="en-US" sz="4800" b="1" dirty="0" smtClean="0">
                <a:latin typeface="Gabriola" pitchFamily="82" charset="0"/>
              </a:rPr>
              <a:t>Cont..</a:t>
            </a:r>
            <a:endParaRPr lang="en-US" sz="4800" b="1" dirty="0">
              <a:latin typeface="Gabriola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504" y="692696"/>
            <a:ext cx="8784976" cy="576064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800" dirty="0" smtClean="0">
                <a:latin typeface="Gabriola" pitchFamily="82" charset="0"/>
              </a:rPr>
              <a:t>It </a:t>
            </a:r>
            <a:r>
              <a:rPr lang="en-US" sz="2800" dirty="0">
                <a:latin typeface="Gabriola" pitchFamily="82" charset="0"/>
              </a:rPr>
              <a:t>is a crucial part of the central nervous system (CNS) and serves as the primary pathway for transmitting neural signals between the brain and the rest of the body</a:t>
            </a:r>
            <a:r>
              <a:rPr lang="en-US" sz="2800" dirty="0" smtClean="0">
                <a:latin typeface="Gabriola" pitchFamily="82" charset="0"/>
              </a:rPr>
              <a:t>.</a:t>
            </a:r>
          </a:p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en-GB" sz="2800" b="1" dirty="0">
                <a:latin typeface="Gabriola" pitchFamily="82" charset="0"/>
              </a:rPr>
              <a:t>Location</a:t>
            </a:r>
            <a:r>
              <a:rPr lang="en-GB" sz="2800" dirty="0">
                <a:latin typeface="Gabriola" pitchFamily="82" charset="0"/>
              </a:rPr>
              <a:t>: The spinal cord starts at the base of the brain (at the level of the foramen magnum) and extends down to the lumbar region of the vertebral column.</a:t>
            </a:r>
          </a:p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en-GB" sz="2800" b="1" dirty="0">
                <a:latin typeface="Gabriola" pitchFamily="82" charset="0"/>
              </a:rPr>
              <a:t>Length</a:t>
            </a:r>
            <a:r>
              <a:rPr lang="en-GB" sz="2800" dirty="0">
                <a:latin typeface="Gabriola" pitchFamily="82" charset="0"/>
              </a:rPr>
              <a:t>: In an average adult, the spinal cord is around 45 cm (18 inches) long.</a:t>
            </a:r>
          </a:p>
          <a:p>
            <a:pPr>
              <a:lnSpc>
                <a:spcPct val="150000"/>
              </a:lnSpc>
              <a:buFont typeface="Wingdings" pitchFamily="2" charset="2"/>
              <a:buChar char="ü"/>
            </a:pPr>
            <a:endParaRPr lang="en-US" sz="2800" dirty="0">
              <a:latin typeface="Gabriola" pitchFamily="8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4ECA98-2791-430C-84E5-1220109A000D}" type="slidenum">
              <a:rPr lang="en-US" smtClean="0"/>
              <a:t>10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033F4-4D68-4A5D-86C2-26F830446DA2}" type="datetime1">
              <a:rPr lang="en-GB" smtClean="0"/>
              <a:t>21/11/2024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376678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pPr algn="r"/>
            <a:r>
              <a:rPr lang="en-US" sz="5400" dirty="0" smtClean="0">
                <a:latin typeface="Agency FB" pitchFamily="34" charset="0"/>
              </a:rPr>
              <a:t/>
            </a:r>
            <a:br>
              <a:rPr lang="en-US" sz="5400" dirty="0" smtClean="0">
                <a:latin typeface="Agency FB" pitchFamily="34" charset="0"/>
              </a:rPr>
            </a:br>
            <a:r>
              <a:rPr lang="en-US" sz="5400" dirty="0" smtClean="0">
                <a:latin typeface="Agency FB" pitchFamily="34" charset="0"/>
              </a:rPr>
              <a:t>cont..</a:t>
            </a:r>
            <a:r>
              <a:rPr lang="en-US" sz="5400" dirty="0" smtClean="0"/>
              <a:t/>
            </a:r>
            <a:br>
              <a:rPr lang="en-US" sz="5400" dirty="0" smtClean="0"/>
            </a:br>
            <a:endParaRPr lang="en-US" sz="5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990600"/>
            <a:ext cx="8839200" cy="60198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en-GB" sz="2800" b="1" dirty="0">
                <a:latin typeface="Gabriola" pitchFamily="82" charset="0"/>
              </a:rPr>
              <a:t>Organization</a:t>
            </a:r>
            <a:r>
              <a:rPr lang="en-GB" sz="2800" dirty="0" smtClean="0">
                <a:latin typeface="Gabriola" pitchFamily="82" charset="0"/>
              </a:rPr>
              <a:t>:</a:t>
            </a:r>
            <a:endParaRPr lang="en-US" sz="2800" dirty="0" smtClean="0">
              <a:latin typeface="Gabriola" pitchFamily="82" charset="0"/>
            </a:endParaRPr>
          </a:p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800" dirty="0" smtClean="0">
                <a:latin typeface="Gabriola" pitchFamily="82" charset="0"/>
              </a:rPr>
              <a:t>Segments</a:t>
            </a:r>
            <a:r>
              <a:rPr lang="en-US" sz="2800" dirty="0">
                <a:latin typeface="Gabriola" pitchFamily="82" charset="0"/>
              </a:rPr>
              <a:t>: It's divided into segments </a:t>
            </a:r>
            <a:endParaRPr lang="en-US" sz="2800" dirty="0" smtClean="0">
              <a:latin typeface="Gabriola" pitchFamily="82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2800" dirty="0" smtClean="0">
                <a:latin typeface="Gabriola" pitchFamily="82" charset="0"/>
              </a:rPr>
              <a:t>corresponding </a:t>
            </a:r>
            <a:r>
              <a:rPr lang="en-US" sz="2800" dirty="0">
                <a:latin typeface="Gabriola" pitchFamily="82" charset="0"/>
              </a:rPr>
              <a:t>to the vertebrae in the spinal column. 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400" dirty="0" smtClean="0">
                <a:latin typeface="Gabriola" pitchFamily="82" charset="0"/>
              </a:rPr>
              <a:t>8 Cervical </a:t>
            </a:r>
            <a:r>
              <a:rPr lang="en-US" sz="2400" dirty="0">
                <a:latin typeface="Gabriola" pitchFamily="82" charset="0"/>
              </a:rPr>
              <a:t>(C1-C8)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400" dirty="0" smtClean="0">
                <a:latin typeface="Gabriola" pitchFamily="82" charset="0"/>
              </a:rPr>
              <a:t>12 Thoracic </a:t>
            </a:r>
            <a:r>
              <a:rPr lang="en-US" sz="2400" dirty="0">
                <a:latin typeface="Gabriola" pitchFamily="82" charset="0"/>
              </a:rPr>
              <a:t>(T1-T12)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400" dirty="0" smtClean="0">
                <a:latin typeface="Gabriola" pitchFamily="82" charset="0"/>
              </a:rPr>
              <a:t>5 Lumbar </a:t>
            </a:r>
            <a:r>
              <a:rPr lang="en-US" sz="2400" dirty="0">
                <a:latin typeface="Gabriola" pitchFamily="82" charset="0"/>
              </a:rPr>
              <a:t>(L1-L5)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400" dirty="0" smtClean="0">
                <a:latin typeface="Gabriola" pitchFamily="82" charset="0"/>
              </a:rPr>
              <a:t>5 Sacral </a:t>
            </a:r>
            <a:r>
              <a:rPr lang="en-US" sz="2400" dirty="0">
                <a:latin typeface="Gabriola" pitchFamily="82" charset="0"/>
              </a:rPr>
              <a:t>(S1-S5)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400" dirty="0" smtClean="0">
                <a:latin typeface="Gabriola" pitchFamily="82" charset="0"/>
              </a:rPr>
              <a:t>1 Coccygeal </a:t>
            </a:r>
            <a:r>
              <a:rPr lang="en-US" sz="2400" dirty="0">
                <a:latin typeface="Gabriola" pitchFamily="82" charset="0"/>
              </a:rPr>
              <a:t>(Co</a:t>
            </a:r>
            <a:r>
              <a:rPr lang="en-US" sz="2400" dirty="0" smtClean="0">
                <a:latin typeface="Gabriola" pitchFamily="82" charset="0"/>
              </a:rPr>
              <a:t>)</a:t>
            </a:r>
          </a:p>
        </p:txBody>
      </p:sp>
      <p:pic>
        <p:nvPicPr>
          <p:cNvPr id="4" name="Picture 4" descr="IM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9200" y="228600"/>
            <a:ext cx="3810000" cy="58812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4ECA98-2791-430C-84E5-1220109A000D}" type="slidenum">
              <a:rPr lang="en-US" smtClean="0"/>
              <a:t>11</a:t>
            </a:fld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0E944-B8FA-4CC6-A0E2-04E7917411B1}" type="datetime1">
              <a:rPr lang="en-GB" smtClean="0"/>
              <a:t>21/11/2024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49343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504" y="274638"/>
            <a:ext cx="8579296" cy="562074"/>
          </a:xfrm>
        </p:spPr>
        <p:txBody>
          <a:bodyPr>
            <a:normAutofit fontScale="90000"/>
          </a:bodyPr>
          <a:lstStyle/>
          <a:p>
            <a:pPr algn="r"/>
            <a:r>
              <a:rPr lang="en-GB" dirty="0" smtClean="0"/>
              <a:t>Cont..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836712"/>
            <a:ext cx="8363272" cy="5289451"/>
          </a:xfrm>
        </p:spPr>
        <p:txBody>
          <a:bodyPr>
            <a:normAutofit/>
          </a:bodyPr>
          <a:lstStyle/>
          <a:p>
            <a:pPr>
              <a:lnSpc>
                <a:spcPct val="170000"/>
              </a:lnSpc>
            </a:pPr>
            <a:r>
              <a:rPr lang="en-GB" sz="2800" b="1" dirty="0" smtClean="0">
                <a:latin typeface="Gabriola" pitchFamily="82" charset="0"/>
              </a:rPr>
              <a:t>Function</a:t>
            </a:r>
            <a:r>
              <a:rPr lang="en-GB" sz="2800" dirty="0" smtClean="0">
                <a:latin typeface="Gabriola" pitchFamily="82" charset="0"/>
              </a:rPr>
              <a:t>:</a:t>
            </a:r>
          </a:p>
          <a:p>
            <a:pPr lvl="1">
              <a:lnSpc>
                <a:spcPct val="170000"/>
              </a:lnSpc>
            </a:pPr>
            <a:r>
              <a:rPr lang="en-GB" dirty="0" smtClean="0">
                <a:latin typeface="Gabriola" pitchFamily="82" charset="0"/>
              </a:rPr>
              <a:t>Serves as a </a:t>
            </a:r>
            <a:r>
              <a:rPr lang="en-GB" b="1" dirty="0" smtClean="0">
                <a:latin typeface="Gabriola" pitchFamily="82" charset="0"/>
              </a:rPr>
              <a:t>communication pathway</a:t>
            </a:r>
            <a:r>
              <a:rPr lang="en-GB" dirty="0" smtClean="0">
                <a:latin typeface="Gabriola" pitchFamily="82" charset="0"/>
              </a:rPr>
              <a:t> between the brain and the rest of the body.</a:t>
            </a:r>
          </a:p>
          <a:p>
            <a:pPr lvl="1">
              <a:lnSpc>
                <a:spcPct val="170000"/>
              </a:lnSpc>
            </a:pPr>
            <a:r>
              <a:rPr lang="en-GB" dirty="0" smtClean="0">
                <a:latin typeface="Gabriola" pitchFamily="82" charset="0"/>
              </a:rPr>
              <a:t>Transmits </a:t>
            </a:r>
            <a:r>
              <a:rPr lang="en-GB" b="1" dirty="0" smtClean="0">
                <a:latin typeface="Gabriola" pitchFamily="82" charset="0"/>
              </a:rPr>
              <a:t>sensory signals</a:t>
            </a:r>
            <a:r>
              <a:rPr lang="en-GB" dirty="0" smtClean="0">
                <a:latin typeface="Gabriola" pitchFamily="82" charset="0"/>
              </a:rPr>
              <a:t> (e.g., pain, touch, temperature) from the body to the brain, and </a:t>
            </a:r>
            <a:r>
              <a:rPr lang="en-GB" b="1" dirty="0" smtClean="0">
                <a:latin typeface="Gabriola" pitchFamily="82" charset="0"/>
              </a:rPr>
              <a:t>motor signals</a:t>
            </a:r>
            <a:r>
              <a:rPr lang="en-GB" dirty="0" smtClean="0">
                <a:latin typeface="Gabriola" pitchFamily="82" charset="0"/>
              </a:rPr>
              <a:t> from the brain to control voluntary muscle movement.</a:t>
            </a:r>
          </a:p>
          <a:p>
            <a:endParaRPr lang="en-GB" sz="3600" dirty="0">
              <a:latin typeface="Gabriola" pitchFamily="82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33AE6-5220-43EC-AE3C-C82A6EBBBE95}" type="datetime1">
              <a:rPr lang="en-GB" smtClean="0"/>
              <a:t>21/11/2024</a:t>
            </a:fld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870879-168A-4CB6-A4A5-D501825799FC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454610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74638"/>
            <a:ext cx="8382000" cy="639762"/>
          </a:xfrm>
        </p:spPr>
        <p:txBody>
          <a:bodyPr>
            <a:normAutofit fontScale="90000"/>
          </a:bodyPr>
          <a:lstStyle/>
          <a:p>
            <a:pPr algn="r"/>
            <a:r>
              <a:rPr lang="en-US" dirty="0" err="1" smtClean="0"/>
              <a:t>Cont</a:t>
            </a:r>
            <a:r>
              <a:rPr lang="en-US" dirty="0" smtClean="0"/>
              <a:t>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504" y="908720"/>
            <a:ext cx="9036496" cy="5644480"/>
          </a:xfrm>
        </p:spPr>
        <p:txBody>
          <a:bodyPr>
            <a:normAutofit/>
          </a:bodyPr>
          <a:lstStyle/>
          <a:p>
            <a:pPr marL="514350" indent="-457200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800" b="1" dirty="0">
                <a:latin typeface="Gabriola" pitchFamily="82" charset="0"/>
              </a:rPr>
              <a:t>Nerve Roots: </a:t>
            </a:r>
            <a:r>
              <a:rPr lang="en-US" sz="2800" dirty="0">
                <a:latin typeface="Gabriola" pitchFamily="82" charset="0"/>
              </a:rPr>
              <a:t>At each segment of the spinal cord, nerve roots branch out from the sides in pairs: </a:t>
            </a:r>
            <a:endParaRPr lang="en-US" sz="2800" dirty="0" smtClean="0">
              <a:latin typeface="Gabriola" pitchFamily="82" charset="0"/>
            </a:endParaRPr>
          </a:p>
          <a:p>
            <a:pPr lvl="1">
              <a:lnSpc>
                <a:spcPct val="150000"/>
              </a:lnSpc>
              <a:buFont typeface="Wingdings" pitchFamily="2" charset="2"/>
              <a:buChar char="§"/>
            </a:pPr>
            <a:r>
              <a:rPr lang="en-US" b="1" dirty="0" smtClean="0">
                <a:latin typeface="Gabriola" pitchFamily="82" charset="0"/>
              </a:rPr>
              <a:t>Dorsal (posterior) </a:t>
            </a:r>
            <a:r>
              <a:rPr lang="en-US" dirty="0" smtClean="0">
                <a:latin typeface="Gabriola" pitchFamily="82" charset="0"/>
              </a:rPr>
              <a:t>roots </a:t>
            </a:r>
            <a:r>
              <a:rPr lang="en-US" dirty="0">
                <a:latin typeface="Gabriola" pitchFamily="82" charset="0"/>
              </a:rPr>
              <a:t>carry sensory information to the spinal cord, </a:t>
            </a:r>
            <a:endParaRPr lang="en-US" dirty="0" smtClean="0">
              <a:latin typeface="Gabriola" pitchFamily="82" charset="0"/>
            </a:endParaRPr>
          </a:p>
          <a:p>
            <a:pPr lvl="1">
              <a:lnSpc>
                <a:spcPct val="150000"/>
              </a:lnSpc>
              <a:buFont typeface="Wingdings" pitchFamily="2" charset="2"/>
              <a:buChar char="§"/>
            </a:pPr>
            <a:r>
              <a:rPr lang="en-US" b="1" dirty="0" smtClean="0">
                <a:latin typeface="Gabriola" pitchFamily="82" charset="0"/>
              </a:rPr>
              <a:t>Ventral (anterior) </a:t>
            </a:r>
            <a:r>
              <a:rPr lang="en-US" dirty="0" smtClean="0">
                <a:latin typeface="Gabriola" pitchFamily="82" charset="0"/>
              </a:rPr>
              <a:t>roots </a:t>
            </a:r>
            <a:r>
              <a:rPr lang="en-US" dirty="0">
                <a:latin typeface="Gabriola" pitchFamily="82" charset="0"/>
              </a:rPr>
              <a:t>transmit motor signals from the spinal cord to the muscles.</a:t>
            </a:r>
          </a:p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800" dirty="0" smtClean="0">
                <a:latin typeface="Gabriola" pitchFamily="82" charset="0"/>
              </a:rPr>
              <a:t>Dorsal </a:t>
            </a:r>
            <a:r>
              <a:rPr lang="en-US" sz="2800" dirty="0">
                <a:latin typeface="Gabriola" pitchFamily="82" charset="0"/>
              </a:rPr>
              <a:t>and ventral roots join at intervertebral foramen to form the spinal nerve   </a:t>
            </a:r>
            <a:endParaRPr lang="en-US" sz="2800" dirty="0" smtClean="0">
              <a:latin typeface="Gabriola" pitchFamily="82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2800" dirty="0" smtClean="0">
                <a:latin typeface="Gabriola" pitchFamily="82" charset="0"/>
              </a:rPr>
              <a:t> </a:t>
            </a:r>
            <a:endParaRPr lang="en-US" sz="2800" dirty="0">
              <a:latin typeface="Gabriola" pitchFamily="82" charset="0"/>
            </a:endParaRPr>
          </a:p>
          <a:p>
            <a:endParaRPr lang="en-US" sz="2800" dirty="0">
              <a:latin typeface="Gabriola" pitchFamily="8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4ECA98-2791-430C-84E5-1220109A000D}" type="slidenum">
              <a:rPr lang="en-US" smtClean="0"/>
              <a:t>13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CA72A-AB98-4832-8FFE-9C9F2144FEF3}" type="datetime1">
              <a:rPr lang="en-GB" smtClean="0"/>
              <a:t>21/11/2024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517890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274638"/>
            <a:ext cx="8534400" cy="792162"/>
          </a:xfrm>
        </p:spPr>
        <p:txBody>
          <a:bodyPr/>
          <a:lstStyle/>
          <a:p>
            <a:pPr algn="r"/>
            <a:r>
              <a:rPr lang="en-US" dirty="0" smtClean="0"/>
              <a:t>Cont..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143000"/>
            <a:ext cx="8915400" cy="498316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Gabriola" pitchFamily="82" charset="0"/>
              </a:rPr>
              <a:t>Ascending and Descending Tracts: </a:t>
            </a:r>
            <a:r>
              <a:rPr lang="en-US" sz="2800" dirty="0" smtClean="0">
                <a:latin typeface="Gabriola" pitchFamily="82" charset="0"/>
              </a:rPr>
              <a:t>Within </a:t>
            </a:r>
            <a:r>
              <a:rPr lang="en-US" sz="2800" dirty="0">
                <a:latin typeface="Gabriola" pitchFamily="82" charset="0"/>
              </a:rPr>
              <a:t>the white matter, there are bundles of nerve fibers known as tracts</a:t>
            </a:r>
            <a:r>
              <a:rPr lang="en-US" sz="2800" dirty="0" smtClean="0">
                <a:latin typeface="Gabriola" pitchFamily="82" charset="0"/>
              </a:rPr>
              <a:t>.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§"/>
            </a:pPr>
            <a:r>
              <a:rPr lang="en-US" dirty="0" smtClean="0">
                <a:latin typeface="Gabriola" pitchFamily="82" charset="0"/>
              </a:rPr>
              <a:t> </a:t>
            </a:r>
            <a:r>
              <a:rPr lang="en-US" b="1" dirty="0">
                <a:latin typeface="Gabriola" pitchFamily="82" charset="0"/>
              </a:rPr>
              <a:t>Ascending tracts </a:t>
            </a:r>
            <a:r>
              <a:rPr lang="en-US" dirty="0">
                <a:latin typeface="Gabriola" pitchFamily="82" charset="0"/>
              </a:rPr>
              <a:t>carry sensory information towards the brain, </a:t>
            </a:r>
            <a:endParaRPr lang="en-US" dirty="0" smtClean="0">
              <a:latin typeface="Gabriola" pitchFamily="82" charset="0"/>
            </a:endParaRPr>
          </a:p>
          <a:p>
            <a:pPr lvl="1">
              <a:lnSpc>
                <a:spcPct val="150000"/>
              </a:lnSpc>
              <a:buFont typeface="Wingdings" pitchFamily="2" charset="2"/>
              <a:buChar char="§"/>
            </a:pPr>
            <a:r>
              <a:rPr lang="en-US" b="1" dirty="0" smtClean="0">
                <a:latin typeface="Gabriola" pitchFamily="82" charset="0"/>
              </a:rPr>
              <a:t>Descending tracts </a:t>
            </a:r>
            <a:r>
              <a:rPr lang="en-US" dirty="0" smtClean="0">
                <a:latin typeface="Gabriola" pitchFamily="82" charset="0"/>
              </a:rPr>
              <a:t>carry </a:t>
            </a:r>
            <a:r>
              <a:rPr lang="en-US" dirty="0">
                <a:latin typeface="Gabriola" pitchFamily="82" charset="0"/>
              </a:rPr>
              <a:t>motor commands from the brain to the body.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4ECA98-2791-430C-84E5-1220109A000D}" type="slidenum">
              <a:rPr lang="en-US" smtClean="0"/>
              <a:t>14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098E57-940B-41AD-A569-16DCD537CAA1}" type="datetime1">
              <a:rPr lang="en-GB" smtClean="0"/>
              <a:t>21/11/2024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385986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274638"/>
            <a:ext cx="8534400" cy="563562"/>
          </a:xfrm>
        </p:spPr>
        <p:txBody>
          <a:bodyPr>
            <a:normAutofit fontScale="90000"/>
          </a:bodyPr>
          <a:lstStyle/>
          <a:p>
            <a:pPr algn="r"/>
            <a:r>
              <a:rPr lang="en-US" dirty="0" err="1" smtClean="0"/>
              <a:t>Cont</a:t>
            </a:r>
            <a:r>
              <a:rPr lang="en-US" dirty="0" smtClean="0"/>
              <a:t>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609600"/>
            <a:ext cx="8763000" cy="5791200"/>
          </a:xfrm>
        </p:spPr>
        <p:txBody>
          <a:bodyPr>
            <a:normAutofit lnSpcReduction="10000"/>
          </a:bodyPr>
          <a:lstStyle/>
          <a:p>
            <a:pPr>
              <a:buFont typeface="Wingdings" pitchFamily="2" charset="2"/>
              <a:buChar char="q"/>
            </a:pPr>
            <a:r>
              <a:rPr lang="en-US" b="1" dirty="0"/>
              <a:t>Ascending Tracts (Sensory Pathways</a:t>
            </a:r>
            <a:r>
              <a:rPr lang="en-US" b="1" dirty="0" smtClean="0"/>
              <a:t>):</a:t>
            </a:r>
            <a:endParaRPr lang="en-US" dirty="0"/>
          </a:p>
          <a:p>
            <a:pPr lvl="1">
              <a:lnSpc>
                <a:spcPct val="150000"/>
              </a:lnSpc>
            </a:pPr>
            <a:r>
              <a:rPr lang="en-US" b="1" dirty="0" err="1">
                <a:latin typeface="Gabriola" pitchFamily="82" charset="0"/>
              </a:rPr>
              <a:t>Spinothalamic</a:t>
            </a:r>
            <a:r>
              <a:rPr lang="en-US" b="1" dirty="0">
                <a:latin typeface="Gabriola" pitchFamily="82" charset="0"/>
              </a:rPr>
              <a:t> Tract</a:t>
            </a:r>
            <a:r>
              <a:rPr lang="en-US" dirty="0">
                <a:latin typeface="Gabriola" pitchFamily="82" charset="0"/>
              </a:rPr>
              <a:t>: Transmits pain, temperature, and crude touch sensations.</a:t>
            </a:r>
          </a:p>
          <a:p>
            <a:pPr lvl="1">
              <a:lnSpc>
                <a:spcPct val="150000"/>
              </a:lnSpc>
            </a:pPr>
            <a:r>
              <a:rPr lang="en-US" b="1" dirty="0">
                <a:latin typeface="Gabriola" pitchFamily="82" charset="0"/>
              </a:rPr>
              <a:t>Dorsal </a:t>
            </a:r>
            <a:r>
              <a:rPr lang="en-US" b="1" dirty="0" smtClean="0">
                <a:latin typeface="Gabriola" pitchFamily="82" charset="0"/>
              </a:rPr>
              <a:t>Column (posterior) Pathway</a:t>
            </a:r>
            <a:r>
              <a:rPr lang="en-US" dirty="0">
                <a:latin typeface="Gabriola" pitchFamily="82" charset="0"/>
              </a:rPr>
              <a:t>: Carries fine touch, proprioception (sense of body position), pressure, and vibration sensations.</a:t>
            </a:r>
          </a:p>
          <a:p>
            <a:pPr lvl="1">
              <a:lnSpc>
                <a:spcPct val="150000"/>
              </a:lnSpc>
            </a:pPr>
            <a:r>
              <a:rPr lang="en-US" b="1" dirty="0" err="1">
                <a:latin typeface="Gabriola" pitchFamily="82" charset="0"/>
              </a:rPr>
              <a:t>Spinocerebellar</a:t>
            </a:r>
            <a:r>
              <a:rPr lang="en-US" b="1" dirty="0">
                <a:latin typeface="Gabriola" pitchFamily="82" charset="0"/>
              </a:rPr>
              <a:t> Tracts: </a:t>
            </a:r>
            <a:r>
              <a:rPr lang="en-US" dirty="0">
                <a:latin typeface="Gabriola" pitchFamily="82" charset="0"/>
              </a:rPr>
              <a:t>Transmit proprioceptive information to the cerebellum, aiding in coordination and balance.</a:t>
            </a:r>
          </a:p>
          <a:p>
            <a:pPr lvl="1">
              <a:lnSpc>
                <a:spcPct val="150000"/>
              </a:lnSpc>
            </a:pPr>
            <a:r>
              <a:rPr lang="en-US" b="1" dirty="0" err="1">
                <a:latin typeface="Gabriola" pitchFamily="82" charset="0"/>
              </a:rPr>
              <a:t>Spinoreticular</a:t>
            </a:r>
            <a:r>
              <a:rPr lang="en-US" b="1" dirty="0">
                <a:latin typeface="Gabriola" pitchFamily="82" charset="0"/>
              </a:rPr>
              <a:t> Tract: </a:t>
            </a:r>
            <a:r>
              <a:rPr lang="en-US" dirty="0">
                <a:latin typeface="Gabriola" pitchFamily="82" charset="0"/>
              </a:rPr>
              <a:t>Involved in transmitting pain signals to the reticular formation, which is associated with arousal and attention.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4ECA98-2791-430C-84E5-1220109A000D}" type="slidenum">
              <a:rPr lang="en-US" smtClean="0"/>
              <a:t>15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09F28-6397-4B40-ABE8-09A0FAB33D98}" type="datetime1">
              <a:rPr lang="en-GB" smtClean="0"/>
              <a:t>21/11/2024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46598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74638"/>
            <a:ext cx="8305800" cy="563562"/>
          </a:xfrm>
        </p:spPr>
        <p:txBody>
          <a:bodyPr>
            <a:normAutofit fontScale="90000"/>
          </a:bodyPr>
          <a:lstStyle/>
          <a:p>
            <a:pPr algn="r"/>
            <a:r>
              <a:rPr lang="en-US" dirty="0" err="1" smtClean="0"/>
              <a:t>Cont</a:t>
            </a:r>
            <a:r>
              <a:rPr lang="en-US" dirty="0" smtClean="0"/>
              <a:t>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609600"/>
            <a:ext cx="8839200" cy="6096000"/>
          </a:xfrm>
        </p:spPr>
        <p:txBody>
          <a:bodyPr>
            <a:normAutofit fontScale="92500"/>
          </a:bodyPr>
          <a:lstStyle/>
          <a:p>
            <a:pPr>
              <a:buFont typeface="Wingdings" pitchFamily="2" charset="2"/>
              <a:buChar char="q"/>
            </a:pPr>
            <a:r>
              <a:rPr lang="en-US" b="1" dirty="0">
                <a:latin typeface="Gabriola" pitchFamily="82" charset="0"/>
              </a:rPr>
              <a:t>Descending Tracts (Motor Pathways</a:t>
            </a:r>
            <a:r>
              <a:rPr lang="en-US" b="1" dirty="0" smtClean="0">
                <a:latin typeface="Gabriola" pitchFamily="82" charset="0"/>
              </a:rPr>
              <a:t>):</a:t>
            </a:r>
            <a:endParaRPr lang="en-US" dirty="0">
              <a:latin typeface="Gabriola" pitchFamily="82" charset="0"/>
            </a:endParaRPr>
          </a:p>
          <a:p>
            <a:pPr lvl="1">
              <a:lnSpc>
                <a:spcPct val="160000"/>
              </a:lnSpc>
            </a:pPr>
            <a:r>
              <a:rPr lang="en-US" b="1" dirty="0" err="1">
                <a:latin typeface="Gabriola" pitchFamily="82" charset="0"/>
              </a:rPr>
              <a:t>Corticospinal</a:t>
            </a:r>
            <a:r>
              <a:rPr lang="en-US" b="1" dirty="0">
                <a:latin typeface="Gabriola" pitchFamily="82" charset="0"/>
              </a:rPr>
              <a:t> Tract (Pyramidal Tract): </a:t>
            </a:r>
            <a:r>
              <a:rPr lang="en-US" dirty="0">
                <a:latin typeface="Gabriola" pitchFamily="82" charset="0"/>
              </a:rPr>
              <a:t>Responsible for voluntary movement; carries motor commands from the cerebral cortex to the spinal cord.</a:t>
            </a:r>
          </a:p>
          <a:p>
            <a:pPr lvl="1">
              <a:lnSpc>
                <a:spcPct val="160000"/>
              </a:lnSpc>
            </a:pPr>
            <a:r>
              <a:rPr lang="en-US" b="1" dirty="0" err="1">
                <a:latin typeface="Gabriola" pitchFamily="82" charset="0"/>
              </a:rPr>
              <a:t>Rubrospinal</a:t>
            </a:r>
            <a:r>
              <a:rPr lang="en-US" b="1" dirty="0">
                <a:latin typeface="Gabriola" pitchFamily="82" charset="0"/>
              </a:rPr>
              <a:t> Tract: </a:t>
            </a:r>
            <a:r>
              <a:rPr lang="en-US" dirty="0">
                <a:latin typeface="Gabriola" pitchFamily="82" charset="0"/>
              </a:rPr>
              <a:t>Facilitates motor function and muscle tone.</a:t>
            </a:r>
          </a:p>
          <a:p>
            <a:pPr lvl="1">
              <a:lnSpc>
                <a:spcPct val="160000"/>
              </a:lnSpc>
            </a:pPr>
            <a:r>
              <a:rPr lang="en-US" b="1" dirty="0" err="1">
                <a:latin typeface="Gabriola" pitchFamily="82" charset="0"/>
              </a:rPr>
              <a:t>Reticulospinal</a:t>
            </a:r>
            <a:r>
              <a:rPr lang="en-US" b="1" dirty="0">
                <a:latin typeface="Gabriola" pitchFamily="82" charset="0"/>
              </a:rPr>
              <a:t> Tracts: </a:t>
            </a:r>
            <a:r>
              <a:rPr lang="en-US" dirty="0">
                <a:latin typeface="Gabriola" pitchFamily="82" charset="0"/>
              </a:rPr>
              <a:t>Control various involuntary movements and posture.</a:t>
            </a:r>
          </a:p>
          <a:p>
            <a:pPr lvl="1">
              <a:lnSpc>
                <a:spcPct val="160000"/>
              </a:lnSpc>
            </a:pPr>
            <a:r>
              <a:rPr lang="en-US" b="1" dirty="0" err="1">
                <a:latin typeface="Gabriola" pitchFamily="82" charset="0"/>
              </a:rPr>
              <a:t>Tectospinal</a:t>
            </a:r>
            <a:r>
              <a:rPr lang="en-US" b="1" dirty="0">
                <a:latin typeface="Gabriola" pitchFamily="82" charset="0"/>
              </a:rPr>
              <a:t> Tract: </a:t>
            </a:r>
            <a:r>
              <a:rPr lang="en-US" dirty="0">
                <a:latin typeface="Gabriola" pitchFamily="82" charset="0"/>
              </a:rPr>
              <a:t>Involved in reflexive head and neck movements in response to visual and auditory stimuli.</a:t>
            </a:r>
          </a:p>
          <a:p>
            <a:pPr lvl="1">
              <a:lnSpc>
                <a:spcPct val="160000"/>
              </a:lnSpc>
            </a:pPr>
            <a:r>
              <a:rPr lang="en-US" b="1" dirty="0" err="1">
                <a:latin typeface="Gabriola" pitchFamily="82" charset="0"/>
              </a:rPr>
              <a:t>Vestibulospinal</a:t>
            </a:r>
            <a:r>
              <a:rPr lang="en-US" b="1" dirty="0">
                <a:latin typeface="Gabriola" pitchFamily="82" charset="0"/>
              </a:rPr>
              <a:t> Tracts: </a:t>
            </a:r>
            <a:r>
              <a:rPr lang="en-US" dirty="0">
                <a:latin typeface="Gabriola" pitchFamily="82" charset="0"/>
              </a:rPr>
              <a:t>Contribute to balance, posture, and control of eye movements, receiving input from the inner ear's vestibular 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4ECA98-2791-430C-84E5-1220109A000D}" type="slidenum">
              <a:rPr lang="en-US" smtClean="0"/>
              <a:t>16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54268-D3D0-4992-8BCD-7418B68FF991}" type="datetime1">
              <a:rPr lang="en-GB" smtClean="0"/>
              <a:t>21/11/2024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657370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eaLnBrk="1" hangingPunct="1">
              <a:lnSpc>
                <a:spcPct val="150000"/>
              </a:lnSpc>
            </a:pPr>
            <a:r>
              <a:rPr lang="en-US" sz="2800" dirty="0" smtClean="0">
                <a:latin typeface="Gabriola" pitchFamily="82" charset="0"/>
              </a:rPr>
              <a:t>Posterior column and lateral </a:t>
            </a:r>
            <a:r>
              <a:rPr lang="en-US" sz="2800" dirty="0" err="1" smtClean="0">
                <a:latin typeface="Gabriola" pitchFamily="82" charset="0"/>
              </a:rPr>
              <a:t>corticospinal</a:t>
            </a:r>
            <a:r>
              <a:rPr lang="en-US" sz="2800" dirty="0" smtClean="0">
                <a:latin typeface="Gabriola" pitchFamily="82" charset="0"/>
              </a:rPr>
              <a:t> tract crosses over at medulla oblongata</a:t>
            </a:r>
          </a:p>
          <a:p>
            <a:pPr eaLnBrk="1" hangingPunct="1">
              <a:lnSpc>
                <a:spcPct val="150000"/>
              </a:lnSpc>
            </a:pPr>
            <a:r>
              <a:rPr lang="en-US" sz="2800" dirty="0" err="1" smtClean="0">
                <a:latin typeface="Gabriola" pitchFamily="82" charset="0"/>
              </a:rPr>
              <a:t>Spinothalamic</a:t>
            </a:r>
            <a:r>
              <a:rPr lang="en-US" sz="2800" dirty="0" smtClean="0">
                <a:latin typeface="Gabriola" pitchFamily="82" charset="0"/>
              </a:rPr>
              <a:t> tract crosses in the spinal cord and ascends on the opposite side</a:t>
            </a:r>
          </a:p>
          <a:p>
            <a:pPr eaLnBrk="1" hangingPunct="1">
              <a:lnSpc>
                <a:spcPct val="150000"/>
              </a:lnSpc>
              <a:buFontTx/>
              <a:buNone/>
            </a:pPr>
            <a:r>
              <a:rPr lang="en-US" sz="2800" b="1" dirty="0" smtClean="0">
                <a:latin typeface="Gabriola" pitchFamily="82" charset="0"/>
              </a:rPr>
              <a:t>NB to understand this as it helps to understand the clinical features of injury patterns and the neurological deficit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4ECA98-2791-430C-84E5-1220109A000D}" type="slidenum">
              <a:rPr lang="en-US" smtClean="0"/>
              <a:t>17</a:t>
            </a:fld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982306-5E0E-47F0-9C25-4EC61CB95496}" type="datetime1">
              <a:rPr lang="en-GB" smtClean="0"/>
              <a:t>21/11/2024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442742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496" y="274638"/>
            <a:ext cx="8651304" cy="634082"/>
          </a:xfrm>
        </p:spPr>
        <p:txBody>
          <a:bodyPr>
            <a:normAutofit fontScale="90000"/>
          </a:bodyPr>
          <a:lstStyle/>
          <a:p>
            <a:r>
              <a:rPr lang="en-GB" b="1" dirty="0" smtClean="0"/>
              <a:t/>
            </a:r>
            <a:br>
              <a:rPr lang="en-GB" b="1" dirty="0" smtClean="0"/>
            </a:br>
            <a:r>
              <a:rPr lang="en-GB" b="1" dirty="0" err="1" smtClean="0"/>
              <a:t>Corticospinal</a:t>
            </a:r>
            <a:r>
              <a:rPr lang="en-GB" b="1" dirty="0" smtClean="0"/>
              <a:t> Tract (CST)</a:t>
            </a:r>
            <a:br>
              <a:rPr lang="en-GB" b="1" dirty="0" smtClean="0"/>
            </a:b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504" y="1124744"/>
            <a:ext cx="9036496" cy="5001419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GB" sz="2800" b="1" dirty="0" smtClean="0">
                <a:latin typeface="Gabriola" pitchFamily="82" charset="0"/>
              </a:rPr>
              <a:t>Function</a:t>
            </a:r>
            <a:r>
              <a:rPr lang="en-GB" sz="2800" dirty="0" smtClean="0">
                <a:latin typeface="Gabriola" pitchFamily="82" charset="0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GB" b="1" dirty="0" smtClean="0">
                <a:latin typeface="Gabriola" pitchFamily="82" charset="0"/>
              </a:rPr>
              <a:t>primary motor pathway</a:t>
            </a:r>
            <a:r>
              <a:rPr lang="en-GB" dirty="0" smtClean="0">
                <a:latin typeface="Gabriola" pitchFamily="82" charset="0"/>
              </a:rPr>
              <a:t> that facilitates </a:t>
            </a:r>
            <a:r>
              <a:rPr lang="en-GB" b="1" dirty="0" smtClean="0">
                <a:latin typeface="Gabriola" pitchFamily="82" charset="0"/>
              </a:rPr>
              <a:t>voluntary movement</a:t>
            </a:r>
            <a:r>
              <a:rPr lang="en-GB" dirty="0" smtClean="0">
                <a:latin typeface="Gabriola" pitchFamily="82" charset="0"/>
              </a:rPr>
              <a:t>, especially skilled movements of the limbs (e.g., hand and finger movements).</a:t>
            </a:r>
          </a:p>
          <a:p>
            <a:pPr>
              <a:lnSpc>
                <a:spcPct val="150000"/>
              </a:lnSpc>
            </a:pPr>
            <a:r>
              <a:rPr lang="en-GB" sz="2800" b="1" dirty="0" smtClean="0">
                <a:latin typeface="Gabriola" pitchFamily="82" charset="0"/>
              </a:rPr>
              <a:t>Pathway</a:t>
            </a:r>
            <a:r>
              <a:rPr lang="en-GB" sz="2800" dirty="0" smtClean="0">
                <a:latin typeface="Gabriola" pitchFamily="82" charset="0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GB" b="1" dirty="0" smtClean="0">
                <a:latin typeface="Gabriola" pitchFamily="82" charset="0"/>
              </a:rPr>
              <a:t>Origination</a:t>
            </a:r>
            <a:r>
              <a:rPr lang="en-GB" dirty="0" smtClean="0">
                <a:latin typeface="Gabriola" pitchFamily="82" charset="0"/>
              </a:rPr>
              <a:t>: The CST originates from the </a:t>
            </a:r>
            <a:r>
              <a:rPr lang="en-GB" b="1" dirty="0" smtClean="0">
                <a:latin typeface="Gabriola" pitchFamily="82" charset="0"/>
              </a:rPr>
              <a:t>primary motor cortex</a:t>
            </a:r>
            <a:r>
              <a:rPr lang="en-GB" dirty="0" smtClean="0">
                <a:latin typeface="Gabriola" pitchFamily="82" charset="0"/>
              </a:rPr>
              <a:t> in the </a:t>
            </a:r>
            <a:r>
              <a:rPr lang="en-GB" b="1" dirty="0" smtClean="0">
                <a:latin typeface="Gabriola" pitchFamily="82" charset="0"/>
              </a:rPr>
              <a:t>frontal lobe</a:t>
            </a:r>
            <a:r>
              <a:rPr lang="en-GB" dirty="0" smtClean="0">
                <a:latin typeface="Gabriola" pitchFamily="82" charset="0"/>
              </a:rPr>
              <a:t> of the brain.</a:t>
            </a:r>
          </a:p>
          <a:p>
            <a:pPr>
              <a:lnSpc>
                <a:spcPct val="150000"/>
              </a:lnSpc>
            </a:pPr>
            <a:endParaRPr lang="en-GB" sz="2800" dirty="0">
              <a:latin typeface="Gabriola" pitchFamily="82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E794C2-673D-41BD-8A67-ACFBFCFC99B0}" type="datetime1">
              <a:rPr lang="en-GB" smtClean="0"/>
              <a:t>21/11/2024</a:t>
            </a:fld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870879-168A-4CB6-A4A5-D501825799FC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799274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1520" y="476672"/>
            <a:ext cx="5832648" cy="5976664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GB" sz="3200" b="1" dirty="0">
                <a:latin typeface="Gabriola" pitchFamily="82" charset="0"/>
              </a:rPr>
              <a:t>Descent</a:t>
            </a:r>
            <a:r>
              <a:rPr lang="en-GB" sz="3200" dirty="0">
                <a:latin typeface="Gabriola" pitchFamily="82" charset="0"/>
              </a:rPr>
              <a:t>:</a:t>
            </a:r>
          </a:p>
          <a:p>
            <a:pPr marL="628650" lvl="1" indent="-171450">
              <a:lnSpc>
                <a:spcPct val="150000"/>
              </a:lnSpc>
              <a:buFont typeface="Wingdings" pitchFamily="2" charset="2"/>
              <a:buChar char="ü"/>
            </a:pPr>
            <a:r>
              <a:rPr lang="en-GB" sz="2200" dirty="0">
                <a:latin typeface="Gabriola" pitchFamily="82" charset="0"/>
              </a:rPr>
              <a:t>The </a:t>
            </a:r>
            <a:r>
              <a:rPr lang="en-GB" sz="2200" dirty="0" err="1">
                <a:latin typeface="Gabriola" pitchFamily="82" charset="0"/>
              </a:rPr>
              <a:t>fibers</a:t>
            </a:r>
            <a:r>
              <a:rPr lang="en-GB" sz="2200" dirty="0">
                <a:latin typeface="Gabriola" pitchFamily="82" charset="0"/>
              </a:rPr>
              <a:t> travel through the </a:t>
            </a:r>
            <a:r>
              <a:rPr lang="en-GB" sz="2200" b="1" dirty="0">
                <a:latin typeface="Gabriola" pitchFamily="82" charset="0"/>
              </a:rPr>
              <a:t>internal capsule</a:t>
            </a:r>
            <a:r>
              <a:rPr lang="en-GB" sz="2200" dirty="0">
                <a:latin typeface="Gabriola" pitchFamily="82" charset="0"/>
              </a:rPr>
              <a:t>, descending through the </a:t>
            </a:r>
            <a:r>
              <a:rPr lang="en-GB" sz="2200" b="1" dirty="0">
                <a:latin typeface="Gabriola" pitchFamily="82" charset="0"/>
              </a:rPr>
              <a:t>brainstem</a:t>
            </a:r>
            <a:r>
              <a:rPr lang="en-GB" sz="2200" dirty="0">
                <a:latin typeface="Gabriola" pitchFamily="82" charset="0"/>
              </a:rPr>
              <a:t> (midbrain, pons, and medulla</a:t>
            </a:r>
            <a:r>
              <a:rPr lang="en-GB" sz="2200" dirty="0" smtClean="0">
                <a:latin typeface="Gabriola" pitchFamily="82" charset="0"/>
              </a:rPr>
              <a:t>).</a:t>
            </a:r>
          </a:p>
          <a:p>
            <a:pPr marL="628650" lvl="1" indent="-171450">
              <a:lnSpc>
                <a:spcPct val="150000"/>
              </a:lnSpc>
              <a:buFont typeface="Wingdings" pitchFamily="2" charset="2"/>
              <a:buChar char="ü"/>
            </a:pPr>
            <a:r>
              <a:rPr lang="en-GB" sz="2200" b="1" dirty="0" smtClean="0">
                <a:latin typeface="Gabriola" pitchFamily="82" charset="0"/>
              </a:rPr>
              <a:t>90%</a:t>
            </a:r>
            <a:r>
              <a:rPr lang="en-GB" sz="2200" dirty="0" smtClean="0">
                <a:latin typeface="Gabriola" pitchFamily="82" charset="0"/>
              </a:rPr>
              <a:t> </a:t>
            </a:r>
            <a:r>
              <a:rPr lang="en-GB" sz="2200" b="1" dirty="0" smtClean="0">
                <a:latin typeface="Gabriola" pitchFamily="82" charset="0"/>
              </a:rPr>
              <a:t>decussate </a:t>
            </a:r>
            <a:r>
              <a:rPr lang="en-GB" sz="2200" dirty="0" smtClean="0">
                <a:latin typeface="Gabriola" pitchFamily="82" charset="0"/>
              </a:rPr>
              <a:t>at </a:t>
            </a:r>
            <a:r>
              <a:rPr lang="en-GB" sz="2200" dirty="0">
                <a:latin typeface="Gabriola" pitchFamily="82" charset="0"/>
              </a:rPr>
              <a:t>the </a:t>
            </a:r>
            <a:r>
              <a:rPr lang="en-GB" sz="2200" b="1" dirty="0">
                <a:latin typeface="Gabriola" pitchFamily="82" charset="0"/>
              </a:rPr>
              <a:t>medullary pyramids</a:t>
            </a:r>
            <a:r>
              <a:rPr lang="en-GB" sz="2200" dirty="0">
                <a:latin typeface="Gabriola" pitchFamily="82" charset="0"/>
              </a:rPr>
              <a:t>, forming the </a:t>
            </a:r>
            <a:r>
              <a:rPr lang="en-GB" sz="2200" b="1" dirty="0">
                <a:latin typeface="Gabriola" pitchFamily="82" charset="0"/>
              </a:rPr>
              <a:t>lateral </a:t>
            </a:r>
            <a:r>
              <a:rPr lang="en-GB" sz="2200" b="1" dirty="0" err="1">
                <a:latin typeface="Gabriola" pitchFamily="82" charset="0"/>
              </a:rPr>
              <a:t>corticospinal</a:t>
            </a:r>
            <a:r>
              <a:rPr lang="en-GB" sz="2200" b="1" dirty="0">
                <a:latin typeface="Gabriola" pitchFamily="82" charset="0"/>
              </a:rPr>
              <a:t> tract (LCST)</a:t>
            </a:r>
            <a:r>
              <a:rPr lang="en-GB" sz="2200" dirty="0">
                <a:latin typeface="Gabriola" pitchFamily="82" charset="0"/>
              </a:rPr>
              <a:t>. </a:t>
            </a:r>
            <a:r>
              <a:rPr lang="en-GB" sz="2200" dirty="0" smtClean="0">
                <a:latin typeface="Gabriola" pitchFamily="82" charset="0"/>
              </a:rPr>
              <a:t>control </a:t>
            </a:r>
            <a:r>
              <a:rPr lang="en-GB" sz="2200" dirty="0">
                <a:latin typeface="Gabriola" pitchFamily="82" charset="0"/>
              </a:rPr>
              <a:t>the muscles of the </a:t>
            </a:r>
            <a:r>
              <a:rPr lang="en-GB" sz="2200" b="1" dirty="0" smtClean="0">
                <a:latin typeface="Gabriola" pitchFamily="82" charset="0"/>
              </a:rPr>
              <a:t>contralateral </a:t>
            </a:r>
            <a:r>
              <a:rPr lang="en-GB" sz="2200" b="1" dirty="0">
                <a:latin typeface="Gabriola" pitchFamily="82" charset="0"/>
              </a:rPr>
              <a:t>side</a:t>
            </a:r>
            <a:r>
              <a:rPr lang="en-GB" sz="2200" dirty="0">
                <a:latin typeface="Gabriola" pitchFamily="82" charset="0"/>
              </a:rPr>
              <a:t> of the </a:t>
            </a:r>
            <a:r>
              <a:rPr lang="en-GB" sz="2200" dirty="0" smtClean="0">
                <a:latin typeface="Gabriola" pitchFamily="82" charset="0"/>
              </a:rPr>
              <a:t>body</a:t>
            </a:r>
          </a:p>
          <a:p>
            <a:pPr marL="628650" lvl="1" indent="-171450">
              <a:lnSpc>
                <a:spcPct val="150000"/>
              </a:lnSpc>
              <a:buFont typeface="Wingdings" pitchFamily="2" charset="2"/>
              <a:buChar char="ü"/>
            </a:pPr>
            <a:r>
              <a:rPr lang="en-GB" sz="2200" dirty="0">
                <a:latin typeface="Gabriola" pitchFamily="82" charset="0"/>
              </a:rPr>
              <a:t>The </a:t>
            </a:r>
            <a:r>
              <a:rPr lang="en-GB" sz="2200" b="1" dirty="0" smtClean="0">
                <a:latin typeface="Gabriola" pitchFamily="82" charset="0"/>
              </a:rPr>
              <a:t>10% ventral </a:t>
            </a:r>
            <a:r>
              <a:rPr lang="en-GB" sz="2200" b="1" dirty="0" err="1">
                <a:latin typeface="Gabriola" pitchFamily="82" charset="0"/>
              </a:rPr>
              <a:t>corticospinal</a:t>
            </a:r>
            <a:r>
              <a:rPr lang="en-GB" sz="2200" b="1" dirty="0">
                <a:latin typeface="Gabriola" pitchFamily="82" charset="0"/>
              </a:rPr>
              <a:t> tract (VCST)</a:t>
            </a:r>
            <a:r>
              <a:rPr lang="en-GB" sz="2200" dirty="0">
                <a:latin typeface="Gabriola" pitchFamily="82" charset="0"/>
              </a:rPr>
              <a:t> remains uncrossed and controls the </a:t>
            </a:r>
            <a:r>
              <a:rPr lang="en-GB" sz="2200" b="1" dirty="0" err="1">
                <a:latin typeface="Gabriola" pitchFamily="82" charset="0"/>
              </a:rPr>
              <a:t>ipsilateral</a:t>
            </a:r>
            <a:r>
              <a:rPr lang="en-GB" sz="2200" b="1" dirty="0">
                <a:latin typeface="Gabriola" pitchFamily="82" charset="0"/>
              </a:rPr>
              <a:t> side</a:t>
            </a:r>
            <a:r>
              <a:rPr lang="en-GB" sz="2200" dirty="0">
                <a:latin typeface="Gabriola" pitchFamily="82" charset="0"/>
              </a:rPr>
              <a:t> at the level of the spinal cord, but these </a:t>
            </a:r>
            <a:r>
              <a:rPr lang="en-GB" sz="2200" dirty="0" err="1">
                <a:latin typeface="Gabriola" pitchFamily="82" charset="0"/>
              </a:rPr>
              <a:t>fibers</a:t>
            </a:r>
            <a:r>
              <a:rPr lang="en-GB" sz="2200" dirty="0">
                <a:latin typeface="Gabriola" pitchFamily="82" charset="0"/>
              </a:rPr>
              <a:t> are only present in the </a:t>
            </a:r>
            <a:r>
              <a:rPr lang="en-GB" sz="2200" b="1" dirty="0">
                <a:latin typeface="Gabriola" pitchFamily="82" charset="0"/>
              </a:rPr>
              <a:t>upper spinal cord (cervical and upper thoracic)</a:t>
            </a:r>
            <a:r>
              <a:rPr lang="en-GB" sz="2200" dirty="0">
                <a:latin typeface="Gabriola" pitchFamily="82" charset="0"/>
              </a:rPr>
              <a:t>.</a:t>
            </a:r>
          </a:p>
          <a:p>
            <a:pPr marL="628650" lvl="1" indent="-171450">
              <a:lnSpc>
                <a:spcPct val="150000"/>
              </a:lnSpc>
              <a:buFont typeface="Wingdings" pitchFamily="2" charset="2"/>
              <a:buChar char="ü"/>
            </a:pPr>
            <a:endParaRPr lang="en-GB" sz="1800" dirty="0"/>
          </a:p>
        </p:txBody>
      </p:sp>
      <p:pic>
        <p:nvPicPr>
          <p:cNvPr id="5" name="Content Placeholder 4" descr="1426 Corticospinal Pathway.jpg"/>
          <p:cNvPicPr>
            <a:picLocks noGrp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0192" y="476672"/>
            <a:ext cx="2592288" cy="5832648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105D6-6FD0-417A-9426-98B5623BBA76}" type="datetime1">
              <a:rPr lang="en-GB" smtClean="0"/>
              <a:t>21/11/2024</a:t>
            </a:fld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870879-168A-4CB6-A4A5-D501825799FC}" type="slidenum">
              <a:rPr lang="en-GB" smtClean="0"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76217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504" y="274638"/>
            <a:ext cx="8579296" cy="418058"/>
          </a:xfrm>
        </p:spPr>
        <p:txBody>
          <a:bodyPr>
            <a:normAutofit fontScale="90000"/>
          </a:bodyPr>
          <a:lstStyle/>
          <a:p>
            <a:pPr algn="r"/>
            <a:r>
              <a:rPr lang="en-GB" dirty="0" smtClean="0"/>
              <a:t>Cont..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980728"/>
            <a:ext cx="8363272" cy="514543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GB" sz="2800" b="1" dirty="0" smtClean="0">
                <a:latin typeface="Gabriola" pitchFamily="82" charset="0"/>
              </a:rPr>
              <a:t>Clinical Relevance</a:t>
            </a:r>
            <a:r>
              <a:rPr lang="en-GB" sz="2800" dirty="0" smtClean="0">
                <a:latin typeface="Gabriola" pitchFamily="82" charset="0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GB" b="1" dirty="0" smtClean="0">
                <a:latin typeface="Gabriola" pitchFamily="82" charset="0"/>
              </a:rPr>
              <a:t>Damage to the LCST</a:t>
            </a:r>
            <a:r>
              <a:rPr lang="en-GB" dirty="0" smtClean="0">
                <a:latin typeface="Gabriola" pitchFamily="82" charset="0"/>
              </a:rPr>
              <a:t> (e.g., from a stroke or spinal cord injury) can lead to </a:t>
            </a:r>
            <a:r>
              <a:rPr lang="en-GB" b="1" dirty="0" smtClean="0">
                <a:latin typeface="Gabriola" pitchFamily="82" charset="0"/>
              </a:rPr>
              <a:t>contralateral paralysis</a:t>
            </a:r>
            <a:r>
              <a:rPr lang="en-GB" dirty="0" smtClean="0">
                <a:latin typeface="Gabriola" pitchFamily="82" charset="0"/>
              </a:rPr>
              <a:t> or </a:t>
            </a:r>
            <a:r>
              <a:rPr lang="en-GB" b="1" dirty="0" smtClean="0">
                <a:latin typeface="Gabriola" pitchFamily="82" charset="0"/>
              </a:rPr>
              <a:t>weakness</a:t>
            </a:r>
            <a:r>
              <a:rPr lang="en-GB" dirty="0" smtClean="0">
                <a:latin typeface="Gabriola" pitchFamily="82" charset="0"/>
              </a:rPr>
              <a:t> of the muscles.</a:t>
            </a:r>
          </a:p>
          <a:p>
            <a:pPr>
              <a:lnSpc>
                <a:spcPct val="150000"/>
              </a:lnSpc>
            </a:pPr>
            <a:endParaRPr lang="en-GB" sz="2800" dirty="0">
              <a:latin typeface="Gabriola" pitchFamily="82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CB477-FC61-40BA-B89B-E30F368A8958}" type="datetime1">
              <a:rPr lang="en-GB" smtClean="0"/>
              <a:t>21/11/2024</a:t>
            </a:fld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870879-168A-4CB6-A4A5-D501825799FC}" type="slidenum">
              <a:rPr lang="en-GB" smtClean="0"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677935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274638"/>
            <a:ext cx="8435280" cy="562074"/>
          </a:xfrm>
        </p:spPr>
        <p:txBody>
          <a:bodyPr>
            <a:noAutofit/>
          </a:bodyPr>
          <a:lstStyle/>
          <a:p>
            <a:r>
              <a:rPr lang="en-GB" sz="3200" b="1" dirty="0" smtClean="0">
                <a:latin typeface="Times" pitchFamily="18" charset="0"/>
              </a:rPr>
              <a:t/>
            </a:r>
            <a:br>
              <a:rPr lang="en-GB" sz="3200" b="1" dirty="0" smtClean="0">
                <a:latin typeface="Times" pitchFamily="18" charset="0"/>
              </a:rPr>
            </a:br>
            <a:r>
              <a:rPr lang="en-GB" sz="4000" b="1" dirty="0" err="1" smtClean="0">
                <a:latin typeface="Gabriola" pitchFamily="82" charset="0"/>
              </a:rPr>
              <a:t>Spinothalamic</a:t>
            </a:r>
            <a:r>
              <a:rPr lang="en-GB" sz="4000" b="1" dirty="0" smtClean="0">
                <a:latin typeface="Gabriola" pitchFamily="82" charset="0"/>
              </a:rPr>
              <a:t> Tract (STT)</a:t>
            </a:r>
            <a:r>
              <a:rPr lang="en-GB" sz="3200" b="1" dirty="0" smtClean="0">
                <a:latin typeface="Times" pitchFamily="18" charset="0"/>
              </a:rPr>
              <a:t/>
            </a:r>
            <a:br>
              <a:rPr lang="en-GB" sz="3200" b="1" dirty="0" smtClean="0">
                <a:latin typeface="Times" pitchFamily="18" charset="0"/>
              </a:rPr>
            </a:br>
            <a:endParaRPr lang="en-GB" sz="3200" dirty="0">
              <a:latin typeface="Times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836712"/>
            <a:ext cx="8363272" cy="528945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GB" sz="2800" b="1" dirty="0" smtClean="0">
                <a:latin typeface="Gabriola" pitchFamily="82" charset="0"/>
              </a:rPr>
              <a:t>Function</a:t>
            </a:r>
            <a:r>
              <a:rPr lang="en-GB" sz="2800" dirty="0" smtClean="0">
                <a:latin typeface="Gabriola" pitchFamily="82" charset="0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GB" dirty="0" smtClean="0">
                <a:latin typeface="Gabriola" pitchFamily="82" charset="0"/>
              </a:rPr>
              <a:t>The STT is responsible for relaying </a:t>
            </a:r>
            <a:r>
              <a:rPr lang="en-GB" b="1" dirty="0" smtClean="0">
                <a:latin typeface="Gabriola" pitchFamily="82" charset="0"/>
              </a:rPr>
              <a:t>pain</a:t>
            </a:r>
            <a:r>
              <a:rPr lang="en-GB" dirty="0" smtClean="0">
                <a:latin typeface="Gabriola" pitchFamily="82" charset="0"/>
              </a:rPr>
              <a:t>, </a:t>
            </a:r>
            <a:r>
              <a:rPr lang="en-GB" b="1" dirty="0" smtClean="0">
                <a:latin typeface="Gabriola" pitchFamily="82" charset="0"/>
              </a:rPr>
              <a:t>temperature</a:t>
            </a:r>
            <a:r>
              <a:rPr lang="en-GB" dirty="0" smtClean="0">
                <a:latin typeface="Gabriola" pitchFamily="82" charset="0"/>
              </a:rPr>
              <a:t>, and </a:t>
            </a:r>
            <a:r>
              <a:rPr lang="en-GB" b="1" dirty="0" smtClean="0">
                <a:latin typeface="Gabriola" pitchFamily="82" charset="0"/>
              </a:rPr>
              <a:t>crude touch</a:t>
            </a:r>
            <a:r>
              <a:rPr lang="en-GB" dirty="0" smtClean="0">
                <a:latin typeface="Gabriola" pitchFamily="82" charset="0"/>
              </a:rPr>
              <a:t> sensations from the body to the brain.</a:t>
            </a:r>
          </a:p>
          <a:p>
            <a:pPr>
              <a:lnSpc>
                <a:spcPct val="150000"/>
              </a:lnSpc>
            </a:pPr>
            <a:r>
              <a:rPr lang="en-GB" sz="2800" b="1" dirty="0" smtClean="0">
                <a:latin typeface="Gabriola" pitchFamily="82" charset="0"/>
              </a:rPr>
              <a:t>Pathway</a:t>
            </a:r>
            <a:r>
              <a:rPr lang="en-GB" sz="2800" dirty="0" smtClean="0">
                <a:latin typeface="Gabriola" pitchFamily="82" charset="0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GB" b="1" dirty="0" smtClean="0">
                <a:latin typeface="Gabriola" pitchFamily="82" charset="0"/>
              </a:rPr>
              <a:t>Origination</a:t>
            </a:r>
            <a:r>
              <a:rPr lang="en-GB" dirty="0" smtClean="0">
                <a:latin typeface="Gabriola" pitchFamily="82" charset="0"/>
              </a:rPr>
              <a:t>: Sensory neurons in the </a:t>
            </a:r>
            <a:r>
              <a:rPr lang="en-GB" b="1" dirty="0" smtClean="0">
                <a:latin typeface="Gabriola" pitchFamily="82" charset="0"/>
              </a:rPr>
              <a:t>dorsal root ganglia</a:t>
            </a:r>
            <a:r>
              <a:rPr lang="en-GB" dirty="0" smtClean="0">
                <a:latin typeface="Gabriola" pitchFamily="82" charset="0"/>
              </a:rPr>
              <a:t> pick up stimuli from the skin, joints, and muscles.</a:t>
            </a:r>
          </a:p>
          <a:p>
            <a:pPr lvl="1">
              <a:lnSpc>
                <a:spcPct val="150000"/>
              </a:lnSpc>
            </a:pPr>
            <a:r>
              <a:rPr lang="en-GB" dirty="0" smtClean="0">
                <a:latin typeface="Gabriola" pitchFamily="82" charset="0"/>
              </a:rPr>
              <a:t>The </a:t>
            </a:r>
            <a:r>
              <a:rPr lang="en-GB" dirty="0" err="1" smtClean="0">
                <a:latin typeface="Gabriola" pitchFamily="82" charset="0"/>
              </a:rPr>
              <a:t>fibers</a:t>
            </a:r>
            <a:r>
              <a:rPr lang="en-GB" dirty="0" smtClean="0">
                <a:latin typeface="Gabriola" pitchFamily="82" charset="0"/>
              </a:rPr>
              <a:t> enter the spinal cord and synapse in the </a:t>
            </a:r>
            <a:r>
              <a:rPr lang="en-GB" b="1" dirty="0" smtClean="0">
                <a:latin typeface="Gabriola" pitchFamily="82" charset="0"/>
              </a:rPr>
              <a:t>dorsal horn</a:t>
            </a:r>
            <a:r>
              <a:rPr lang="en-GB" dirty="0" smtClean="0">
                <a:latin typeface="Gabriola" pitchFamily="82" charset="0"/>
              </a:rPr>
              <a:t>.</a:t>
            </a:r>
          </a:p>
          <a:p>
            <a:pPr>
              <a:lnSpc>
                <a:spcPct val="150000"/>
              </a:lnSpc>
            </a:pPr>
            <a:endParaRPr lang="en-GB" sz="2800" dirty="0">
              <a:latin typeface="Gabriola" pitchFamily="82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3CD09-6DFB-41FD-A965-10AE92CAC79B}" type="datetime1">
              <a:rPr lang="en-GB" smtClean="0"/>
              <a:t>21/11/2024</a:t>
            </a:fld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870879-168A-4CB6-A4A5-D501825799FC}" type="slidenum">
              <a:rPr lang="en-GB" smtClean="0"/>
              <a:t>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886831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273050"/>
            <a:ext cx="3286001" cy="347638"/>
          </a:xfrm>
        </p:spPr>
        <p:txBody>
          <a:bodyPr>
            <a:normAutofit fontScale="90000"/>
          </a:bodyPr>
          <a:lstStyle/>
          <a:p>
            <a:r>
              <a:rPr lang="en-GB" dirty="0" smtClean="0"/>
              <a:t>Cont..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1520" y="764704"/>
            <a:ext cx="4608512" cy="5760640"/>
          </a:xfrm>
        </p:spPr>
        <p:txBody>
          <a:bodyPr>
            <a:normAutofit fontScale="77500" lnSpcReduction="20000"/>
          </a:bodyPr>
          <a:lstStyle/>
          <a:p>
            <a:pPr marL="628650" lvl="1" indent="-171450">
              <a:lnSpc>
                <a:spcPct val="150000"/>
              </a:lnSpc>
              <a:buFont typeface="Wingdings" pitchFamily="2" charset="2"/>
              <a:buChar char="§"/>
            </a:pPr>
            <a:r>
              <a:rPr lang="en-GB" sz="2800" dirty="0">
                <a:latin typeface="Gabriola" pitchFamily="82" charset="0"/>
              </a:rPr>
              <a:t>The second-order neurons cross (decussate) at the </a:t>
            </a:r>
            <a:r>
              <a:rPr lang="en-GB" sz="2800" b="1" dirty="0">
                <a:latin typeface="Gabriola" pitchFamily="82" charset="0"/>
              </a:rPr>
              <a:t>spinal cord level</a:t>
            </a:r>
            <a:r>
              <a:rPr lang="en-GB" sz="2800" dirty="0">
                <a:latin typeface="Gabriola" pitchFamily="82" charset="0"/>
              </a:rPr>
              <a:t> and ascend in the </a:t>
            </a:r>
            <a:r>
              <a:rPr lang="en-GB" sz="2800" b="1" dirty="0">
                <a:latin typeface="Gabriola" pitchFamily="82" charset="0"/>
              </a:rPr>
              <a:t>anterolateral columns</a:t>
            </a:r>
            <a:r>
              <a:rPr lang="en-GB" sz="2800" dirty="0">
                <a:latin typeface="Gabriola" pitchFamily="82" charset="0"/>
              </a:rPr>
              <a:t> of the spinal cord.</a:t>
            </a:r>
          </a:p>
          <a:p>
            <a:pPr marL="628650" lvl="1" indent="-171450">
              <a:lnSpc>
                <a:spcPct val="150000"/>
              </a:lnSpc>
              <a:buFont typeface="Wingdings" pitchFamily="2" charset="2"/>
              <a:buChar char="§"/>
            </a:pPr>
            <a:r>
              <a:rPr lang="en-GB" sz="2800" dirty="0">
                <a:latin typeface="Gabriola" pitchFamily="82" charset="0"/>
              </a:rPr>
              <a:t>The tract terminates in the </a:t>
            </a:r>
            <a:r>
              <a:rPr lang="en-GB" sz="2800" b="1" dirty="0">
                <a:latin typeface="Gabriola" pitchFamily="82" charset="0"/>
              </a:rPr>
              <a:t>thalamus</a:t>
            </a:r>
            <a:r>
              <a:rPr lang="en-GB" sz="2800" dirty="0">
                <a:latin typeface="Gabriola" pitchFamily="82" charset="0"/>
              </a:rPr>
              <a:t>, and third-order neurons project to the </a:t>
            </a:r>
            <a:r>
              <a:rPr lang="en-GB" sz="2800" b="1" dirty="0">
                <a:latin typeface="Gabriola" pitchFamily="82" charset="0"/>
              </a:rPr>
              <a:t>somatosensory cortex</a:t>
            </a:r>
            <a:r>
              <a:rPr lang="en-GB" sz="2800" dirty="0">
                <a:latin typeface="Gabriola" pitchFamily="82" charset="0"/>
              </a:rPr>
              <a:t> in the parietal </a:t>
            </a:r>
            <a:r>
              <a:rPr lang="en-GB" sz="2800" dirty="0" smtClean="0">
                <a:latin typeface="Gabriola" pitchFamily="82" charset="0"/>
              </a:rPr>
              <a:t>lobe</a:t>
            </a:r>
          </a:p>
          <a:p>
            <a:pPr>
              <a:lnSpc>
                <a:spcPct val="150000"/>
              </a:lnSpc>
            </a:pPr>
            <a:r>
              <a:rPr lang="en-GB" sz="2800" b="1" dirty="0">
                <a:latin typeface="Gabriola" pitchFamily="82" charset="0"/>
              </a:rPr>
              <a:t>Clinical </a:t>
            </a:r>
            <a:r>
              <a:rPr lang="en-GB" sz="2800" b="1" dirty="0" smtClean="0">
                <a:latin typeface="Gabriola" pitchFamily="82" charset="0"/>
              </a:rPr>
              <a:t>Relevance</a:t>
            </a:r>
            <a:r>
              <a:rPr lang="en-GB" sz="2800" dirty="0" smtClean="0">
                <a:latin typeface="Gabriola" pitchFamily="82" charset="0"/>
              </a:rPr>
              <a:t>:</a:t>
            </a:r>
          </a:p>
          <a:p>
            <a:pPr marL="457200" indent="-457200">
              <a:lnSpc>
                <a:spcPct val="150000"/>
              </a:lnSpc>
              <a:buFont typeface="Arial" pitchFamily="34" charset="0"/>
              <a:buChar char="•"/>
            </a:pPr>
            <a:r>
              <a:rPr lang="en-GB" sz="2800" dirty="0" smtClean="0">
                <a:latin typeface="Gabriola" pitchFamily="82" charset="0"/>
              </a:rPr>
              <a:t>Damage </a:t>
            </a:r>
            <a:r>
              <a:rPr lang="en-GB" sz="2800" dirty="0">
                <a:latin typeface="Gabriola" pitchFamily="82" charset="0"/>
              </a:rPr>
              <a:t>to the STT (e.g., from a spinal cord injury) results in loss of </a:t>
            </a:r>
            <a:r>
              <a:rPr lang="en-GB" sz="2800" b="1" dirty="0">
                <a:latin typeface="Gabriola" pitchFamily="82" charset="0"/>
              </a:rPr>
              <a:t>pain</a:t>
            </a:r>
            <a:r>
              <a:rPr lang="en-GB" sz="2800" dirty="0">
                <a:latin typeface="Gabriola" pitchFamily="82" charset="0"/>
              </a:rPr>
              <a:t> and </a:t>
            </a:r>
            <a:r>
              <a:rPr lang="en-GB" sz="2800" b="1" dirty="0">
                <a:latin typeface="Gabriola" pitchFamily="82" charset="0"/>
              </a:rPr>
              <a:t>temperature sensation</a:t>
            </a:r>
            <a:r>
              <a:rPr lang="en-GB" sz="2800" dirty="0">
                <a:latin typeface="Gabriola" pitchFamily="82" charset="0"/>
              </a:rPr>
              <a:t> on the </a:t>
            </a:r>
            <a:r>
              <a:rPr lang="en-GB" sz="2800" b="1" dirty="0">
                <a:latin typeface="Gabriola" pitchFamily="82" charset="0"/>
              </a:rPr>
              <a:t>contralateral side</a:t>
            </a:r>
            <a:r>
              <a:rPr lang="en-GB" sz="2800" dirty="0">
                <a:latin typeface="Gabriola" pitchFamily="82" charset="0"/>
              </a:rPr>
              <a:t> below the level of the injury.</a:t>
            </a:r>
          </a:p>
          <a:p>
            <a:pPr marL="628650" lvl="1" indent="-171450">
              <a:lnSpc>
                <a:spcPct val="150000"/>
              </a:lnSpc>
              <a:buFont typeface="Wingdings" pitchFamily="2" charset="2"/>
              <a:buChar char="§"/>
            </a:pPr>
            <a:endParaRPr lang="en-GB" sz="2400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95AFD-16CA-4F2D-A7D5-7A6E7C470447}" type="datetime1">
              <a:rPr lang="en-GB" smtClean="0"/>
              <a:t>21/11/2024</a:t>
            </a:fld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870879-168A-4CB6-A4A5-D501825799FC}" type="slidenum">
              <a:rPr lang="en-GB" smtClean="0"/>
              <a:t>22</a:t>
            </a:fld>
            <a:endParaRPr lang="en-GB"/>
          </a:p>
        </p:txBody>
      </p:sp>
      <p:pic>
        <p:nvPicPr>
          <p:cNvPr id="7" name="Content Placeholder 3" descr="C:\Users\Afei\Desktop\anesthesia for trauma\trauma 2024\The-Spinothalamic-Tracts-Ascending-Sensory-1.jpg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4048" y="404664"/>
            <a:ext cx="3682752" cy="583264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8879657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504" y="274638"/>
            <a:ext cx="8579296" cy="634082"/>
          </a:xfrm>
        </p:spPr>
        <p:txBody>
          <a:bodyPr>
            <a:normAutofit fontScale="90000"/>
          </a:bodyPr>
          <a:lstStyle/>
          <a:p>
            <a:r>
              <a:rPr lang="en-GB" b="1" dirty="0" smtClean="0"/>
              <a:t/>
            </a:r>
            <a:br>
              <a:rPr lang="en-GB" b="1" dirty="0" smtClean="0"/>
            </a:br>
            <a:r>
              <a:rPr lang="en-GB" b="1" i="1" dirty="0" smtClean="0">
                <a:latin typeface="Times" pitchFamily="18" charset="0"/>
              </a:rPr>
              <a:t>Dorsal Columns (DC)</a:t>
            </a:r>
            <a:r>
              <a:rPr lang="en-GB" b="1" dirty="0" smtClean="0"/>
              <a:t/>
            </a:r>
            <a:br>
              <a:rPr lang="en-GB" b="1" dirty="0" smtClean="0"/>
            </a:b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620688"/>
            <a:ext cx="8435280" cy="5505475"/>
          </a:xfrm>
        </p:spPr>
        <p:txBody>
          <a:bodyPr>
            <a:noAutofit/>
          </a:bodyPr>
          <a:lstStyle/>
          <a:p>
            <a:pPr>
              <a:lnSpc>
                <a:spcPct val="160000"/>
              </a:lnSpc>
            </a:pPr>
            <a:r>
              <a:rPr lang="en-GB" sz="2800" b="1" dirty="0" smtClean="0">
                <a:latin typeface="Gabriola" pitchFamily="82" charset="0"/>
              </a:rPr>
              <a:t>Function</a:t>
            </a:r>
            <a:r>
              <a:rPr lang="en-GB" sz="2800" dirty="0" smtClean="0">
                <a:latin typeface="Gabriola" pitchFamily="82" charset="0"/>
              </a:rPr>
              <a:t>:</a:t>
            </a:r>
            <a:endParaRPr lang="en-GB" sz="2800" b="1" dirty="0" smtClean="0">
              <a:latin typeface="Gabriola" pitchFamily="82" charset="0"/>
            </a:endParaRPr>
          </a:p>
          <a:p>
            <a:pPr lvl="1">
              <a:lnSpc>
                <a:spcPct val="160000"/>
              </a:lnSpc>
            </a:pPr>
            <a:r>
              <a:rPr lang="en-GB" dirty="0" smtClean="0">
                <a:latin typeface="Gabriola" pitchFamily="82" charset="0"/>
              </a:rPr>
              <a:t>The DC carries </a:t>
            </a:r>
            <a:r>
              <a:rPr lang="en-GB" b="1" dirty="0" smtClean="0">
                <a:latin typeface="Gabriola" pitchFamily="82" charset="0"/>
              </a:rPr>
              <a:t>proprioception</a:t>
            </a:r>
            <a:r>
              <a:rPr lang="en-GB" dirty="0" smtClean="0">
                <a:latin typeface="Gabriola" pitchFamily="82" charset="0"/>
              </a:rPr>
              <a:t>, </a:t>
            </a:r>
            <a:r>
              <a:rPr lang="en-GB" b="1" dirty="0" smtClean="0">
                <a:latin typeface="Gabriola" pitchFamily="82" charset="0"/>
              </a:rPr>
              <a:t>fine touch</a:t>
            </a:r>
            <a:r>
              <a:rPr lang="en-GB" dirty="0" smtClean="0">
                <a:latin typeface="Gabriola" pitchFamily="82" charset="0"/>
              </a:rPr>
              <a:t>, </a:t>
            </a:r>
            <a:r>
              <a:rPr lang="en-GB" b="1" dirty="0" smtClean="0">
                <a:latin typeface="Gabriola" pitchFamily="82" charset="0"/>
              </a:rPr>
              <a:t>pressure</a:t>
            </a:r>
            <a:r>
              <a:rPr lang="en-GB" dirty="0" smtClean="0">
                <a:latin typeface="Gabriola" pitchFamily="82" charset="0"/>
              </a:rPr>
              <a:t>, and </a:t>
            </a:r>
            <a:r>
              <a:rPr lang="en-GB" b="1" dirty="0" smtClean="0">
                <a:latin typeface="Gabriola" pitchFamily="82" charset="0"/>
              </a:rPr>
              <a:t>vibration</a:t>
            </a:r>
            <a:r>
              <a:rPr lang="en-GB" dirty="0" smtClean="0">
                <a:latin typeface="Gabriola" pitchFamily="82" charset="0"/>
              </a:rPr>
              <a:t> sensations to the brain. </a:t>
            </a:r>
          </a:p>
          <a:p>
            <a:pPr lvl="1">
              <a:lnSpc>
                <a:spcPct val="160000"/>
              </a:lnSpc>
            </a:pPr>
            <a:r>
              <a:rPr lang="en-GB" dirty="0" smtClean="0">
                <a:latin typeface="Gabriola" pitchFamily="82" charset="0"/>
              </a:rPr>
              <a:t>These sensations are important for </a:t>
            </a:r>
            <a:r>
              <a:rPr lang="en-GB" b="1" dirty="0" smtClean="0">
                <a:latin typeface="Gabriola" pitchFamily="82" charset="0"/>
              </a:rPr>
              <a:t>body awareness</a:t>
            </a:r>
            <a:r>
              <a:rPr lang="en-GB" dirty="0" smtClean="0">
                <a:latin typeface="Gabriola" pitchFamily="82" charset="0"/>
              </a:rPr>
              <a:t>, </a:t>
            </a:r>
            <a:r>
              <a:rPr lang="en-GB" b="1" dirty="0" smtClean="0">
                <a:latin typeface="Gabriola" pitchFamily="82" charset="0"/>
              </a:rPr>
              <a:t>coordination</a:t>
            </a:r>
            <a:r>
              <a:rPr lang="en-GB" dirty="0" smtClean="0">
                <a:latin typeface="Gabriola" pitchFamily="82" charset="0"/>
              </a:rPr>
              <a:t>, and </a:t>
            </a:r>
            <a:r>
              <a:rPr lang="en-GB" b="1" dirty="0" smtClean="0">
                <a:latin typeface="Gabriola" pitchFamily="82" charset="0"/>
              </a:rPr>
              <a:t>sensory perception</a:t>
            </a:r>
            <a:r>
              <a:rPr lang="en-GB" dirty="0" smtClean="0">
                <a:latin typeface="Gabriola" pitchFamily="82" charset="0"/>
              </a:rPr>
              <a:t>.</a:t>
            </a:r>
          </a:p>
          <a:p>
            <a:pPr>
              <a:lnSpc>
                <a:spcPct val="160000"/>
              </a:lnSpc>
            </a:pPr>
            <a:r>
              <a:rPr lang="en-GB" sz="2800" b="1" dirty="0" smtClean="0">
                <a:latin typeface="Gabriola" pitchFamily="82" charset="0"/>
              </a:rPr>
              <a:t>Pathway</a:t>
            </a:r>
            <a:r>
              <a:rPr lang="en-GB" sz="2800" dirty="0" smtClean="0">
                <a:latin typeface="Gabriola" pitchFamily="82" charset="0"/>
              </a:rPr>
              <a:t>:</a:t>
            </a:r>
          </a:p>
          <a:p>
            <a:pPr lvl="1">
              <a:lnSpc>
                <a:spcPct val="160000"/>
              </a:lnSpc>
            </a:pPr>
            <a:r>
              <a:rPr lang="en-GB" dirty="0" smtClean="0">
                <a:latin typeface="Gabriola" pitchFamily="82" charset="0"/>
              </a:rPr>
              <a:t>The first-order neurons ascend </a:t>
            </a:r>
            <a:r>
              <a:rPr lang="en-GB" b="1" dirty="0" err="1" smtClean="0">
                <a:latin typeface="Gabriola" pitchFamily="82" charset="0"/>
              </a:rPr>
              <a:t>ipsilaterally</a:t>
            </a:r>
            <a:r>
              <a:rPr lang="en-GB" dirty="0" smtClean="0">
                <a:latin typeface="Gabriola" pitchFamily="82" charset="0"/>
              </a:rPr>
              <a:t> (on the same side) in the </a:t>
            </a:r>
            <a:r>
              <a:rPr lang="en-GB" b="1" dirty="0" smtClean="0">
                <a:latin typeface="Gabriola" pitchFamily="82" charset="0"/>
              </a:rPr>
              <a:t>dorsal columns</a:t>
            </a:r>
            <a:r>
              <a:rPr lang="en-GB" dirty="0" smtClean="0">
                <a:latin typeface="Gabriola" pitchFamily="82" charset="0"/>
              </a:rPr>
              <a:t>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BAA58-B116-4010-A3E8-B19A23645E5E}" type="datetime1">
              <a:rPr lang="en-GB" smtClean="0"/>
              <a:t>21/11/2024</a:t>
            </a:fld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870879-168A-4CB6-A4A5-D501825799FC}" type="slidenum">
              <a:rPr lang="en-GB" smtClean="0"/>
              <a:t>23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9192360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274638"/>
            <a:ext cx="8435280" cy="562074"/>
          </a:xfrm>
        </p:spPr>
        <p:txBody>
          <a:bodyPr>
            <a:normAutofit fontScale="90000"/>
          </a:bodyPr>
          <a:lstStyle/>
          <a:p>
            <a:pPr algn="r"/>
            <a:r>
              <a:rPr lang="en-GB" dirty="0" smtClean="0"/>
              <a:t>Cont..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620688"/>
            <a:ext cx="8435280" cy="5505475"/>
          </a:xfrm>
        </p:spPr>
        <p:txBody>
          <a:bodyPr>
            <a:normAutofit/>
          </a:bodyPr>
          <a:lstStyle/>
          <a:p>
            <a:pPr>
              <a:lnSpc>
                <a:spcPct val="160000"/>
              </a:lnSpc>
            </a:pPr>
            <a:r>
              <a:rPr lang="en-GB" sz="2800" dirty="0" smtClean="0">
                <a:latin typeface="Gabriola" pitchFamily="82" charset="0"/>
              </a:rPr>
              <a:t>Second-order neurons then decussate at the </a:t>
            </a:r>
            <a:r>
              <a:rPr lang="en-GB" sz="2800" b="1" dirty="0" smtClean="0">
                <a:latin typeface="Gabriola" pitchFamily="82" charset="0"/>
              </a:rPr>
              <a:t>medulla</a:t>
            </a:r>
            <a:r>
              <a:rPr lang="en-GB" sz="2800" dirty="0" smtClean="0">
                <a:latin typeface="Gabriola" pitchFamily="82" charset="0"/>
              </a:rPr>
              <a:t>, ascend as the </a:t>
            </a:r>
            <a:r>
              <a:rPr lang="en-GB" sz="2800" b="1" dirty="0" smtClean="0">
                <a:latin typeface="Gabriola" pitchFamily="82" charset="0"/>
              </a:rPr>
              <a:t>medial </a:t>
            </a:r>
            <a:r>
              <a:rPr lang="en-GB" sz="2800" b="1" dirty="0" err="1" smtClean="0">
                <a:latin typeface="Gabriola" pitchFamily="82" charset="0"/>
              </a:rPr>
              <a:t>lemniscus</a:t>
            </a:r>
            <a:r>
              <a:rPr lang="en-GB" sz="2800" dirty="0" smtClean="0">
                <a:latin typeface="Gabriola" pitchFamily="82" charset="0"/>
              </a:rPr>
              <a:t>, and synapse in the </a:t>
            </a:r>
            <a:r>
              <a:rPr lang="en-GB" sz="2800" b="1" dirty="0" smtClean="0">
                <a:latin typeface="Gabriola" pitchFamily="82" charset="0"/>
              </a:rPr>
              <a:t>thalamus</a:t>
            </a:r>
            <a:r>
              <a:rPr lang="en-GB" sz="2800" dirty="0" smtClean="0">
                <a:latin typeface="Gabriola" pitchFamily="82" charset="0"/>
              </a:rPr>
              <a:t>, where the third-order neurons project to the </a:t>
            </a:r>
            <a:r>
              <a:rPr lang="en-GB" sz="2800" b="1" dirty="0" smtClean="0">
                <a:latin typeface="Gabriola" pitchFamily="82" charset="0"/>
              </a:rPr>
              <a:t>somatosensory cortex</a:t>
            </a:r>
            <a:r>
              <a:rPr lang="en-GB" sz="2800" dirty="0" smtClean="0">
                <a:latin typeface="Gabriola" pitchFamily="82" charset="0"/>
              </a:rPr>
              <a:t>.</a:t>
            </a:r>
            <a:endParaRPr lang="en-GB" sz="2800" b="1" dirty="0" smtClean="0">
              <a:latin typeface="Gabriola" pitchFamily="82" charset="0"/>
            </a:endParaRPr>
          </a:p>
          <a:p>
            <a:pPr>
              <a:lnSpc>
                <a:spcPct val="160000"/>
              </a:lnSpc>
            </a:pPr>
            <a:r>
              <a:rPr lang="en-GB" sz="2800" b="1" dirty="0" smtClean="0">
                <a:latin typeface="Gabriola" pitchFamily="82" charset="0"/>
              </a:rPr>
              <a:t>Clinical Relevance</a:t>
            </a:r>
            <a:r>
              <a:rPr lang="en-GB" sz="2800" dirty="0" smtClean="0">
                <a:latin typeface="Gabriola" pitchFamily="82" charset="0"/>
              </a:rPr>
              <a:t>:</a:t>
            </a:r>
          </a:p>
          <a:p>
            <a:pPr lvl="1">
              <a:lnSpc>
                <a:spcPct val="160000"/>
              </a:lnSpc>
            </a:pPr>
            <a:r>
              <a:rPr lang="en-GB" dirty="0" smtClean="0">
                <a:latin typeface="Gabriola" pitchFamily="82" charset="0"/>
              </a:rPr>
              <a:t>Damage to the dorsal columns (e.g., in </a:t>
            </a:r>
            <a:r>
              <a:rPr lang="en-GB" b="1" dirty="0" err="1" smtClean="0">
                <a:latin typeface="Gabriola" pitchFamily="82" charset="0"/>
              </a:rPr>
              <a:t>tabes</a:t>
            </a:r>
            <a:r>
              <a:rPr lang="en-GB" b="1" dirty="0" smtClean="0">
                <a:latin typeface="Gabriola" pitchFamily="82" charset="0"/>
              </a:rPr>
              <a:t> </a:t>
            </a:r>
            <a:r>
              <a:rPr lang="en-GB" b="1" dirty="0" err="1" smtClean="0">
                <a:latin typeface="Gabriola" pitchFamily="82" charset="0"/>
              </a:rPr>
              <a:t>dorsalis</a:t>
            </a:r>
            <a:r>
              <a:rPr lang="en-GB" dirty="0" smtClean="0">
                <a:latin typeface="Gabriola" pitchFamily="82" charset="0"/>
              </a:rPr>
              <a:t> or </a:t>
            </a:r>
            <a:r>
              <a:rPr lang="en-GB" b="1" dirty="0" smtClean="0">
                <a:latin typeface="Gabriola" pitchFamily="82" charset="0"/>
              </a:rPr>
              <a:t>posterior cord syndrome</a:t>
            </a:r>
            <a:r>
              <a:rPr lang="en-GB" dirty="0" smtClean="0">
                <a:latin typeface="Gabriola" pitchFamily="82" charset="0"/>
              </a:rPr>
              <a:t>) results in loss of </a:t>
            </a:r>
            <a:r>
              <a:rPr lang="en-GB" b="1" dirty="0" smtClean="0">
                <a:latin typeface="Gabriola" pitchFamily="82" charset="0"/>
              </a:rPr>
              <a:t>proprioception</a:t>
            </a:r>
            <a:r>
              <a:rPr lang="en-GB" dirty="0" smtClean="0">
                <a:latin typeface="Gabriola" pitchFamily="82" charset="0"/>
              </a:rPr>
              <a:t>  and </a:t>
            </a:r>
            <a:r>
              <a:rPr lang="en-GB" b="1" dirty="0" smtClean="0">
                <a:latin typeface="Gabriola" pitchFamily="82" charset="0"/>
              </a:rPr>
              <a:t>fine touch</a:t>
            </a:r>
            <a:r>
              <a:rPr lang="en-GB" dirty="0" smtClean="0">
                <a:latin typeface="Gabriola" pitchFamily="82" charset="0"/>
              </a:rPr>
              <a:t> on the </a:t>
            </a:r>
            <a:r>
              <a:rPr lang="en-GB" b="1" dirty="0" err="1" smtClean="0">
                <a:latin typeface="Gabriola" pitchFamily="82" charset="0"/>
              </a:rPr>
              <a:t>ipsilateral</a:t>
            </a:r>
            <a:r>
              <a:rPr lang="en-GB" dirty="0" smtClean="0">
                <a:latin typeface="Gabriola" pitchFamily="82" charset="0"/>
              </a:rPr>
              <a:t> side below the level of the injury.</a:t>
            </a:r>
          </a:p>
          <a:p>
            <a:pPr lvl="1">
              <a:lnSpc>
                <a:spcPct val="160000"/>
              </a:lnSpc>
            </a:pPr>
            <a:endParaRPr lang="en-GB" dirty="0" smtClean="0">
              <a:latin typeface="Gabriola" pitchFamily="82" charset="0"/>
            </a:endParaRPr>
          </a:p>
          <a:p>
            <a:pPr>
              <a:lnSpc>
                <a:spcPct val="160000"/>
              </a:lnSpc>
            </a:pPr>
            <a:endParaRPr lang="en-GB" sz="2800" dirty="0">
              <a:latin typeface="Gabriola" pitchFamily="82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64BC1-CFB9-4129-BD97-92973ECA2960}" type="datetime1">
              <a:rPr lang="en-GB" smtClean="0"/>
              <a:t>21/11/2024</a:t>
            </a:fld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870879-168A-4CB6-A4A5-D501825799FC}" type="slidenum">
              <a:rPr lang="en-GB" smtClean="0"/>
              <a:t>24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5692978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74638"/>
            <a:ext cx="8458200" cy="715962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latin typeface="Gabriola" pitchFamily="82" charset="0"/>
              </a:rPr>
              <a:t>Blood supply to spinal cord </a:t>
            </a:r>
            <a:endParaRPr lang="en-US" b="1" dirty="0">
              <a:latin typeface="Gabriola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066800"/>
            <a:ext cx="8534400" cy="505936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3000" dirty="0">
                <a:latin typeface="Gabriola" pitchFamily="82" charset="0"/>
              </a:rPr>
              <a:t>The blood supply to the spinal cord is essential for its proper function and </a:t>
            </a:r>
            <a:r>
              <a:rPr lang="en-US" sz="3000" dirty="0" smtClean="0">
                <a:latin typeface="Gabriola" pitchFamily="82" charset="0"/>
              </a:rPr>
              <a:t>nourishment</a:t>
            </a:r>
            <a:r>
              <a:rPr lang="en-US" sz="3000" dirty="0">
                <a:latin typeface="Gabriola" pitchFamily="82" charset="0"/>
              </a:rPr>
              <a:t>. </a:t>
            </a:r>
            <a:endParaRPr lang="en-US" sz="3000" dirty="0" smtClean="0">
              <a:latin typeface="Gabriola" pitchFamily="82" charset="0"/>
            </a:endParaRPr>
          </a:p>
          <a:p>
            <a:pPr>
              <a:lnSpc>
                <a:spcPct val="150000"/>
              </a:lnSpc>
            </a:pPr>
            <a:r>
              <a:rPr lang="en-US" sz="3000" dirty="0" smtClean="0">
                <a:latin typeface="Gabriola" pitchFamily="82" charset="0"/>
              </a:rPr>
              <a:t>The </a:t>
            </a:r>
            <a:r>
              <a:rPr lang="en-US" sz="3000" dirty="0">
                <a:latin typeface="Gabriola" pitchFamily="82" charset="0"/>
              </a:rPr>
              <a:t>spinal cord receives its blood supply from several arteries that run along its length, providing oxygen and nutrients to its tissues. </a:t>
            </a:r>
            <a:endParaRPr lang="en-US" sz="3000" dirty="0" smtClean="0">
              <a:latin typeface="Gabriola" pitchFamily="82" charset="0"/>
            </a:endParaRPr>
          </a:p>
          <a:p>
            <a:pPr>
              <a:lnSpc>
                <a:spcPct val="150000"/>
              </a:lnSpc>
            </a:pPr>
            <a:r>
              <a:rPr lang="en-US" sz="3000" dirty="0" smtClean="0">
                <a:latin typeface="Gabriola" pitchFamily="82" charset="0"/>
              </a:rPr>
              <a:t>There </a:t>
            </a:r>
            <a:r>
              <a:rPr lang="en-US" sz="3000" dirty="0">
                <a:latin typeface="Gabriola" pitchFamily="82" charset="0"/>
              </a:rPr>
              <a:t>are two primary sources of blood flow to the spinal cord:</a:t>
            </a:r>
          </a:p>
          <a:p>
            <a:endParaRPr lang="en-US" sz="3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4ECA98-2791-430C-84E5-1220109A000D}" type="slidenum">
              <a:rPr lang="en-US" smtClean="0"/>
              <a:t>25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98D3A-C80F-4546-95D1-DD42E57B501D}" type="datetime1">
              <a:rPr lang="en-GB" smtClean="0"/>
              <a:t>21/11/2024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4343973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274638"/>
            <a:ext cx="8534400" cy="715962"/>
          </a:xfrm>
        </p:spPr>
        <p:txBody>
          <a:bodyPr>
            <a:normAutofit fontScale="90000"/>
          </a:bodyPr>
          <a:lstStyle/>
          <a:p>
            <a:pPr algn="r"/>
            <a:r>
              <a:rPr lang="en-US" dirty="0" err="1" smtClean="0"/>
              <a:t>Cont</a:t>
            </a:r>
            <a:r>
              <a:rPr lang="en-US" dirty="0" smtClean="0"/>
              <a:t>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609600"/>
            <a:ext cx="8915400" cy="6019800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en-GB" b="1" dirty="0">
                <a:latin typeface="Gabriola" pitchFamily="82" charset="0"/>
              </a:rPr>
              <a:t>Anterior Spinal Artery</a:t>
            </a:r>
          </a:p>
          <a:p>
            <a:pPr lvl="1">
              <a:lnSpc>
                <a:spcPct val="150000"/>
              </a:lnSpc>
            </a:pPr>
            <a:r>
              <a:rPr lang="en-GB" b="1" dirty="0">
                <a:latin typeface="Gabriola" pitchFamily="82" charset="0"/>
              </a:rPr>
              <a:t>Origin</a:t>
            </a:r>
            <a:r>
              <a:rPr lang="en-GB" dirty="0">
                <a:latin typeface="Gabriola" pitchFamily="82" charset="0"/>
              </a:rPr>
              <a:t>: Vertebral arteries (or aorta)</a:t>
            </a:r>
          </a:p>
          <a:p>
            <a:pPr lvl="1">
              <a:lnSpc>
                <a:spcPct val="150000"/>
              </a:lnSpc>
            </a:pPr>
            <a:r>
              <a:rPr lang="en-GB" b="1" dirty="0">
                <a:latin typeface="Gabriola" pitchFamily="82" charset="0"/>
              </a:rPr>
              <a:t>Supplies</a:t>
            </a:r>
            <a:r>
              <a:rPr lang="en-GB" dirty="0">
                <a:latin typeface="Gabriola" pitchFamily="82" charset="0"/>
              </a:rPr>
              <a:t>: Anterior two-thirds of the spinal cord</a:t>
            </a:r>
          </a:p>
          <a:p>
            <a:pPr lvl="1">
              <a:lnSpc>
                <a:spcPct val="150000"/>
              </a:lnSpc>
            </a:pPr>
            <a:r>
              <a:rPr lang="en-GB" b="1" dirty="0">
                <a:latin typeface="Gabriola" pitchFamily="82" charset="0"/>
              </a:rPr>
              <a:t>Path</a:t>
            </a:r>
            <a:r>
              <a:rPr lang="en-GB" dirty="0">
                <a:latin typeface="Gabriola" pitchFamily="82" charset="0"/>
              </a:rPr>
              <a:t>: Runs along the anterior surface of the spinal cord</a:t>
            </a:r>
          </a:p>
          <a:p>
            <a:pPr>
              <a:lnSpc>
                <a:spcPct val="150000"/>
              </a:lnSpc>
            </a:pPr>
            <a:r>
              <a:rPr lang="en-GB" b="1" dirty="0">
                <a:latin typeface="Gabriola" pitchFamily="82" charset="0"/>
              </a:rPr>
              <a:t>Posterior Spinal Arteries</a:t>
            </a:r>
          </a:p>
          <a:p>
            <a:pPr lvl="1">
              <a:lnSpc>
                <a:spcPct val="150000"/>
              </a:lnSpc>
            </a:pPr>
            <a:r>
              <a:rPr lang="en-GB" b="1" dirty="0">
                <a:latin typeface="Gabriola" pitchFamily="82" charset="0"/>
              </a:rPr>
              <a:t>Origin</a:t>
            </a:r>
            <a:r>
              <a:rPr lang="en-GB" dirty="0">
                <a:latin typeface="Gabriola" pitchFamily="82" charset="0"/>
              </a:rPr>
              <a:t>: Vertebral arteries (or segmental arteries from aorta)</a:t>
            </a:r>
          </a:p>
          <a:p>
            <a:pPr lvl="1">
              <a:lnSpc>
                <a:spcPct val="150000"/>
              </a:lnSpc>
            </a:pPr>
            <a:r>
              <a:rPr lang="en-GB" b="1" dirty="0">
                <a:latin typeface="Gabriola" pitchFamily="82" charset="0"/>
              </a:rPr>
              <a:t>Supplies</a:t>
            </a:r>
            <a:r>
              <a:rPr lang="en-GB" dirty="0">
                <a:latin typeface="Gabriola" pitchFamily="82" charset="0"/>
              </a:rPr>
              <a:t>: Posterior one-third of the spinal cord</a:t>
            </a:r>
          </a:p>
          <a:p>
            <a:pPr lvl="1">
              <a:lnSpc>
                <a:spcPct val="150000"/>
              </a:lnSpc>
            </a:pPr>
            <a:r>
              <a:rPr lang="en-GB" b="1" dirty="0">
                <a:latin typeface="Gabriola" pitchFamily="82" charset="0"/>
              </a:rPr>
              <a:t>Path</a:t>
            </a:r>
            <a:r>
              <a:rPr lang="en-GB" dirty="0">
                <a:latin typeface="Gabriola" pitchFamily="82" charset="0"/>
              </a:rPr>
              <a:t>: Runs along the posterior surface of the spinal cord</a:t>
            </a:r>
          </a:p>
          <a:p>
            <a:pPr lvl="1">
              <a:lnSpc>
                <a:spcPct val="150000"/>
              </a:lnSpc>
            </a:pPr>
            <a:r>
              <a:rPr lang="en-GB" b="1" dirty="0">
                <a:latin typeface="Gabriola" pitchFamily="82" charset="0"/>
              </a:rPr>
              <a:t>Number</a:t>
            </a:r>
            <a:r>
              <a:rPr lang="en-GB" dirty="0">
                <a:latin typeface="Gabriola" pitchFamily="82" charset="0"/>
              </a:rPr>
              <a:t>: Multiple and smaller in size</a:t>
            </a:r>
          </a:p>
          <a:p>
            <a:pPr lvl="1">
              <a:lnSpc>
                <a:spcPct val="150000"/>
              </a:lnSpc>
            </a:pPr>
            <a:endParaRPr lang="en-US" dirty="0">
              <a:latin typeface="Gabriola" pitchFamily="8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4ECA98-2791-430C-84E5-1220109A000D}" type="slidenum">
              <a:rPr lang="en-US" smtClean="0"/>
              <a:t>26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305A8-4AC2-484E-BA8E-71FB96594AFB}" type="datetime1">
              <a:rPr lang="en-GB" smtClean="0"/>
              <a:t>21/11/2024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1766651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74638"/>
            <a:ext cx="8686800" cy="715962"/>
          </a:xfrm>
        </p:spPr>
        <p:txBody>
          <a:bodyPr>
            <a:normAutofit fontScale="90000"/>
          </a:bodyPr>
          <a:lstStyle/>
          <a:p>
            <a:pPr algn="r"/>
            <a:r>
              <a:rPr lang="en-US" dirty="0" err="1" smtClean="0"/>
              <a:t>Cont</a:t>
            </a:r>
            <a:r>
              <a:rPr lang="en-US" dirty="0" smtClean="0"/>
              <a:t>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496" y="692696"/>
            <a:ext cx="9108504" cy="5760640"/>
          </a:xfrm>
        </p:spPr>
        <p:txBody>
          <a:bodyPr>
            <a:normAutofit lnSpcReduction="10000"/>
          </a:bodyPr>
          <a:lstStyle/>
          <a:p>
            <a:pPr>
              <a:lnSpc>
                <a:spcPct val="170000"/>
              </a:lnSpc>
            </a:pPr>
            <a:r>
              <a:rPr lang="en-GB" sz="2800" b="1" dirty="0">
                <a:latin typeface="Gabriola" pitchFamily="82" charset="0"/>
              </a:rPr>
              <a:t>Segmental Medullary Arteries</a:t>
            </a:r>
          </a:p>
          <a:p>
            <a:pPr lvl="1">
              <a:lnSpc>
                <a:spcPct val="170000"/>
              </a:lnSpc>
            </a:pPr>
            <a:r>
              <a:rPr lang="en-GB" sz="2600" b="1" dirty="0">
                <a:latin typeface="Gabriola" pitchFamily="82" charset="0"/>
              </a:rPr>
              <a:t>Sources</a:t>
            </a:r>
            <a:r>
              <a:rPr lang="en-GB" sz="2600" dirty="0">
                <a:latin typeface="Gabriola" pitchFamily="82" charset="0"/>
              </a:rPr>
              <a:t>: Vertebral, ascending cervical, intercostal, and lumbar arteries</a:t>
            </a:r>
          </a:p>
          <a:p>
            <a:pPr lvl="1">
              <a:lnSpc>
                <a:spcPct val="170000"/>
              </a:lnSpc>
            </a:pPr>
            <a:r>
              <a:rPr lang="en-GB" sz="2600" b="1" dirty="0">
                <a:latin typeface="Gabriola" pitchFamily="82" charset="0"/>
              </a:rPr>
              <a:t>Function</a:t>
            </a:r>
            <a:r>
              <a:rPr lang="en-GB" sz="2600" dirty="0">
                <a:latin typeface="Gabriola" pitchFamily="82" charset="0"/>
              </a:rPr>
              <a:t>: Penetrate the spinal cord at various levels, supplying specific spinal segments</a:t>
            </a:r>
          </a:p>
          <a:p>
            <a:pPr lvl="1">
              <a:lnSpc>
                <a:spcPct val="170000"/>
              </a:lnSpc>
            </a:pPr>
            <a:r>
              <a:rPr lang="en-GB" sz="2600" b="1" dirty="0">
                <a:latin typeface="Gabriola" pitchFamily="82" charset="0"/>
              </a:rPr>
              <a:t>Importance</a:t>
            </a:r>
            <a:r>
              <a:rPr lang="en-GB" sz="2600" dirty="0">
                <a:latin typeface="Gabriola" pitchFamily="82" charset="0"/>
              </a:rPr>
              <a:t>: Contribute to overall vascular network of the spinal cord</a:t>
            </a:r>
          </a:p>
          <a:p>
            <a:pPr>
              <a:lnSpc>
                <a:spcPct val="170000"/>
              </a:lnSpc>
            </a:pPr>
            <a:r>
              <a:rPr lang="en-GB" sz="2800" b="1" dirty="0">
                <a:latin typeface="Gabriola" pitchFamily="82" charset="0"/>
              </a:rPr>
              <a:t>Collateral Circulation</a:t>
            </a:r>
          </a:p>
          <a:p>
            <a:pPr lvl="1">
              <a:lnSpc>
                <a:spcPct val="170000"/>
              </a:lnSpc>
            </a:pPr>
            <a:r>
              <a:rPr lang="en-GB" sz="2500" dirty="0">
                <a:latin typeface="Gabriola" pitchFamily="82" charset="0"/>
              </a:rPr>
              <a:t>If one artery is compromised, collateral circulation helps mitigate damage and maintain </a:t>
            </a:r>
            <a:r>
              <a:rPr lang="en-GB" sz="2500" dirty="0" smtClean="0">
                <a:latin typeface="Gabriola" pitchFamily="82" charset="0"/>
              </a:rPr>
              <a:t>function</a:t>
            </a:r>
            <a:endParaRPr lang="en-GB" sz="2500" dirty="0">
              <a:latin typeface="Gabriola" pitchFamily="8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4ECA98-2791-430C-84E5-1220109A000D}" type="slidenum">
              <a:rPr lang="en-US" smtClean="0"/>
              <a:t>27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E4C1B-57FD-402A-80C2-B842FB411453}" type="datetime1">
              <a:rPr lang="en-GB" smtClean="0"/>
              <a:t>21/11/2024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0014904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274638"/>
            <a:ext cx="8435280" cy="634082"/>
          </a:xfrm>
        </p:spPr>
        <p:txBody>
          <a:bodyPr>
            <a:normAutofit fontScale="90000"/>
          </a:bodyPr>
          <a:lstStyle/>
          <a:p>
            <a:pPr algn="r"/>
            <a:r>
              <a:rPr lang="en-US" dirty="0" smtClean="0"/>
              <a:t>Cont..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1052736"/>
            <a:ext cx="8435280" cy="5073427"/>
          </a:xfrm>
        </p:spPr>
        <p:txBody>
          <a:bodyPr>
            <a:normAutofit/>
          </a:bodyPr>
          <a:lstStyle/>
          <a:p>
            <a:pPr>
              <a:lnSpc>
                <a:spcPct val="170000"/>
              </a:lnSpc>
            </a:pPr>
            <a:r>
              <a:rPr lang="en-GB" sz="2800" b="1" dirty="0">
                <a:latin typeface="Gabriola" pitchFamily="82" charset="0"/>
              </a:rPr>
              <a:t>Clinical Relevance</a:t>
            </a:r>
          </a:p>
          <a:p>
            <a:pPr lvl="1">
              <a:lnSpc>
                <a:spcPct val="170000"/>
              </a:lnSpc>
            </a:pPr>
            <a:r>
              <a:rPr lang="en-GB" b="1" dirty="0">
                <a:latin typeface="Gabriola" pitchFamily="82" charset="0"/>
              </a:rPr>
              <a:t>Ischemia Risk</a:t>
            </a:r>
            <a:r>
              <a:rPr lang="en-GB" dirty="0">
                <a:latin typeface="Gabriola" pitchFamily="82" charset="0"/>
              </a:rPr>
              <a:t>: Interruption in blood supply (injury, compression, vascular conditions) can lead to spinal cord ischemia</a:t>
            </a:r>
          </a:p>
          <a:p>
            <a:pPr lvl="1">
              <a:lnSpc>
                <a:spcPct val="170000"/>
              </a:lnSpc>
            </a:pPr>
            <a:r>
              <a:rPr lang="en-GB" b="1" dirty="0">
                <a:latin typeface="Gabriola" pitchFamily="82" charset="0"/>
              </a:rPr>
              <a:t>Consequence</a:t>
            </a:r>
            <a:r>
              <a:rPr lang="en-GB" dirty="0">
                <a:latin typeface="Gabriola" pitchFamily="82" charset="0"/>
              </a:rPr>
              <a:t>: Damage to neural tissues, potential neurological deficits or paralysis</a:t>
            </a:r>
          </a:p>
          <a:p>
            <a:endParaRPr lang="en-US" sz="28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108A5-0725-426B-9421-2A7AB83FB2C0}" type="datetime1">
              <a:rPr lang="en-GB" smtClean="0"/>
              <a:t>21/11/2024</a:t>
            </a:fld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870879-168A-4CB6-A4A5-D501825799FC}" type="slidenum">
              <a:rPr lang="en-GB" smtClean="0"/>
              <a:t>28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0033757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274638"/>
            <a:ext cx="8435280" cy="778098"/>
          </a:xfrm>
        </p:spPr>
        <p:txBody>
          <a:bodyPr>
            <a:normAutofit fontScale="90000"/>
          </a:bodyPr>
          <a:lstStyle/>
          <a:p>
            <a:r>
              <a:rPr lang="en-GB" b="1" dirty="0" smtClean="0"/>
              <a:t/>
            </a:r>
            <a:br>
              <a:rPr lang="en-GB" b="1" dirty="0" smtClean="0"/>
            </a:br>
            <a:r>
              <a:rPr lang="en-GB" b="1" dirty="0" smtClean="0">
                <a:latin typeface="Gabriola" pitchFamily="82" charset="0"/>
              </a:rPr>
              <a:t>Levels of Spinal Cord Injury</a:t>
            </a:r>
            <a:r>
              <a:rPr lang="en-GB" b="1" dirty="0" smtClean="0"/>
              <a:t/>
            </a:r>
            <a:br>
              <a:rPr lang="en-GB" b="1" dirty="0" smtClean="0"/>
            </a:b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1052736"/>
            <a:ext cx="8363272" cy="5073427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GB" sz="2800" b="1" dirty="0" smtClean="0">
                <a:latin typeface="Gabriola" pitchFamily="82" charset="0"/>
              </a:rPr>
              <a:t>Cervical Injuries (C1-C8):</a:t>
            </a:r>
            <a:endParaRPr lang="en-GB" sz="2800" dirty="0" smtClean="0">
              <a:latin typeface="Gabriola" pitchFamily="82" charset="0"/>
            </a:endParaRPr>
          </a:p>
          <a:p>
            <a:pPr lvl="1">
              <a:lnSpc>
                <a:spcPct val="150000"/>
              </a:lnSpc>
            </a:pPr>
            <a:r>
              <a:rPr lang="en-GB" b="1" dirty="0" smtClean="0">
                <a:latin typeface="Gabriola" pitchFamily="82" charset="0"/>
              </a:rPr>
              <a:t>Impact:</a:t>
            </a:r>
            <a:r>
              <a:rPr lang="en-GB" dirty="0" smtClean="0">
                <a:latin typeface="Gabriola" pitchFamily="82" charset="0"/>
              </a:rPr>
              <a:t> Paralysis (quadriplegia), loss of sensation, respiratory problems.</a:t>
            </a:r>
          </a:p>
          <a:p>
            <a:pPr lvl="1">
              <a:lnSpc>
                <a:spcPct val="150000"/>
              </a:lnSpc>
            </a:pPr>
            <a:r>
              <a:rPr lang="en-GB" b="1" dirty="0" smtClean="0">
                <a:latin typeface="Gabriola" pitchFamily="82" charset="0"/>
              </a:rPr>
              <a:t>Higher Injuries (C1-C4):</a:t>
            </a:r>
            <a:r>
              <a:rPr lang="en-GB" dirty="0" smtClean="0">
                <a:latin typeface="Gabriola" pitchFamily="82" charset="0"/>
              </a:rPr>
              <a:t> Require ventilator support.</a:t>
            </a:r>
          </a:p>
          <a:p>
            <a:pPr lvl="1">
              <a:lnSpc>
                <a:spcPct val="150000"/>
              </a:lnSpc>
            </a:pPr>
            <a:r>
              <a:rPr lang="en-GB" b="1" dirty="0" smtClean="0">
                <a:latin typeface="Gabriola" pitchFamily="82" charset="0"/>
              </a:rPr>
              <a:t>Lower Injuries (C5-C8):</a:t>
            </a:r>
            <a:r>
              <a:rPr lang="en-GB" dirty="0" smtClean="0">
                <a:latin typeface="Gabriola" pitchFamily="82" charset="0"/>
              </a:rPr>
              <a:t> May have limited arm function.</a:t>
            </a:r>
          </a:p>
          <a:p>
            <a:pPr>
              <a:lnSpc>
                <a:spcPct val="150000"/>
              </a:lnSpc>
            </a:pPr>
            <a:r>
              <a:rPr lang="en-GB" sz="2800" b="1" dirty="0" smtClean="0">
                <a:latin typeface="Gabriola" pitchFamily="82" charset="0"/>
              </a:rPr>
              <a:t>Thoracic Injuries (T1-T12):</a:t>
            </a:r>
            <a:endParaRPr lang="en-GB" sz="2800" dirty="0" smtClean="0">
              <a:latin typeface="Gabriola" pitchFamily="82" charset="0"/>
            </a:endParaRPr>
          </a:p>
          <a:p>
            <a:pPr lvl="1">
              <a:lnSpc>
                <a:spcPct val="150000"/>
              </a:lnSpc>
            </a:pPr>
            <a:r>
              <a:rPr lang="en-GB" b="1" dirty="0" smtClean="0">
                <a:latin typeface="Gabriola" pitchFamily="82" charset="0"/>
              </a:rPr>
              <a:t>Impact:</a:t>
            </a:r>
            <a:r>
              <a:rPr lang="en-GB" dirty="0" smtClean="0">
                <a:latin typeface="Gabriola" pitchFamily="82" charset="0"/>
              </a:rPr>
              <a:t> Paralysis of lower limbs (paraplegia), potential loss of trunk control.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CF7AF-61B4-4686-983A-EF9A7097EC78}" type="datetime1">
              <a:rPr lang="en-GB" smtClean="0"/>
              <a:t>21/11/2024</a:t>
            </a:fld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870879-168A-4CB6-A4A5-D501825799FC}" type="slidenum">
              <a:rPr lang="en-GB" smtClean="0"/>
              <a:t>29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9254218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504" y="274638"/>
            <a:ext cx="8579296" cy="418058"/>
          </a:xfrm>
        </p:spPr>
        <p:txBody>
          <a:bodyPr>
            <a:normAutofit fontScale="90000"/>
          </a:bodyPr>
          <a:lstStyle/>
          <a:p>
            <a:pPr algn="r"/>
            <a:r>
              <a:rPr lang="en-GB" dirty="0" smtClean="0"/>
              <a:t>Cont..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980728"/>
            <a:ext cx="8507288" cy="5145435"/>
          </a:xfrm>
        </p:spPr>
        <p:txBody>
          <a:bodyPr>
            <a:noAutofit/>
          </a:bodyPr>
          <a:lstStyle/>
          <a:p>
            <a:pPr lvl="1">
              <a:lnSpc>
                <a:spcPct val="150000"/>
              </a:lnSpc>
            </a:pPr>
            <a:r>
              <a:rPr lang="en-GB" b="1" dirty="0" smtClean="0">
                <a:latin typeface="Gabriola" pitchFamily="82" charset="0"/>
              </a:rPr>
              <a:t>T1-T6:</a:t>
            </a:r>
            <a:r>
              <a:rPr lang="en-GB" dirty="0" smtClean="0">
                <a:latin typeface="Gabriola" pitchFamily="82" charset="0"/>
              </a:rPr>
              <a:t> Full trunk and abdominal control may be impaired.</a:t>
            </a:r>
          </a:p>
          <a:p>
            <a:pPr lvl="1">
              <a:lnSpc>
                <a:spcPct val="150000"/>
              </a:lnSpc>
            </a:pPr>
            <a:r>
              <a:rPr lang="en-GB" b="1" dirty="0" smtClean="0">
                <a:latin typeface="Gabriola" pitchFamily="82" charset="0"/>
              </a:rPr>
              <a:t>T7-T12:</a:t>
            </a:r>
            <a:r>
              <a:rPr lang="en-GB" dirty="0" smtClean="0">
                <a:latin typeface="Gabriola" pitchFamily="82" charset="0"/>
              </a:rPr>
              <a:t> Improved trunk control but limited leg function.</a:t>
            </a:r>
            <a:endParaRPr lang="en-GB" b="1" dirty="0" smtClean="0">
              <a:latin typeface="Gabriola" pitchFamily="82" charset="0"/>
            </a:endParaRPr>
          </a:p>
          <a:p>
            <a:pPr>
              <a:lnSpc>
                <a:spcPct val="150000"/>
              </a:lnSpc>
            </a:pPr>
            <a:r>
              <a:rPr lang="en-GB" sz="2800" b="1" dirty="0" smtClean="0">
                <a:latin typeface="Gabriola" pitchFamily="82" charset="0"/>
              </a:rPr>
              <a:t>Lumbar/Sacral Injuries (L1-S5):</a:t>
            </a:r>
            <a:endParaRPr lang="en-GB" sz="2800" dirty="0" smtClean="0">
              <a:latin typeface="Gabriola" pitchFamily="82" charset="0"/>
            </a:endParaRPr>
          </a:p>
          <a:p>
            <a:pPr lvl="1">
              <a:lnSpc>
                <a:spcPct val="150000"/>
              </a:lnSpc>
            </a:pPr>
            <a:r>
              <a:rPr lang="en-GB" b="1" dirty="0" smtClean="0">
                <a:latin typeface="Gabriola" pitchFamily="82" charset="0"/>
              </a:rPr>
              <a:t>Impact:</a:t>
            </a:r>
            <a:r>
              <a:rPr lang="en-GB" dirty="0" smtClean="0">
                <a:latin typeface="Gabriola" pitchFamily="82" charset="0"/>
              </a:rPr>
              <a:t> Partial paralysis or weakness in legs, possible bladder/bowel dysfunction.</a:t>
            </a:r>
          </a:p>
          <a:p>
            <a:pPr lvl="1">
              <a:lnSpc>
                <a:spcPct val="150000"/>
              </a:lnSpc>
            </a:pPr>
            <a:r>
              <a:rPr lang="en-GB" b="1" dirty="0" smtClean="0">
                <a:latin typeface="Gabriola" pitchFamily="82" charset="0"/>
              </a:rPr>
              <a:t>L1-L5:</a:t>
            </a:r>
            <a:r>
              <a:rPr lang="en-GB" dirty="0" smtClean="0">
                <a:latin typeface="Gabriola" pitchFamily="82" charset="0"/>
              </a:rPr>
              <a:t> Some motor function in legs, difficulty walking.</a:t>
            </a:r>
          </a:p>
          <a:p>
            <a:pPr lvl="1">
              <a:lnSpc>
                <a:spcPct val="150000"/>
              </a:lnSpc>
            </a:pPr>
            <a:r>
              <a:rPr lang="en-GB" b="1" dirty="0" smtClean="0">
                <a:latin typeface="Gabriola" pitchFamily="82" charset="0"/>
              </a:rPr>
              <a:t>S1-S5:</a:t>
            </a:r>
            <a:r>
              <a:rPr lang="en-GB" dirty="0" smtClean="0">
                <a:latin typeface="Gabriola" pitchFamily="82" charset="0"/>
              </a:rPr>
              <a:t> Potential for partial recovery of leg function, especially if injury is closer to sacral region.</a:t>
            </a:r>
          </a:p>
          <a:p>
            <a:pPr>
              <a:lnSpc>
                <a:spcPct val="150000"/>
              </a:lnSpc>
            </a:pPr>
            <a:endParaRPr lang="en-GB" sz="2800" dirty="0">
              <a:latin typeface="Gabriola" pitchFamily="82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9F108-D94B-4E9F-8E81-2913D4CFF6BA}" type="datetime1">
              <a:rPr lang="en-GB" smtClean="0"/>
              <a:t>21/11/2024</a:t>
            </a:fld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870879-168A-4CB6-A4A5-D501825799FC}" type="slidenum">
              <a:rPr lang="en-GB" smtClean="0"/>
              <a:t>30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894055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274638"/>
            <a:ext cx="8507288" cy="706090"/>
          </a:xfrm>
        </p:spPr>
        <p:txBody>
          <a:bodyPr>
            <a:normAutofit fontScale="90000"/>
          </a:bodyPr>
          <a:lstStyle/>
          <a:p>
            <a:r>
              <a:rPr lang="en-GB" b="1" dirty="0" smtClean="0"/>
              <a:t/>
            </a:r>
            <a:br>
              <a:rPr lang="en-GB" b="1" dirty="0" smtClean="0"/>
            </a:br>
            <a:r>
              <a:rPr lang="en-GB" b="1" dirty="0" smtClean="0"/>
              <a:t>Types of Spinal Cord Injury</a:t>
            </a:r>
            <a:r>
              <a:rPr lang="en-GB" sz="3600" dirty="0" smtClean="0"/>
              <a:t/>
            </a:r>
            <a:br>
              <a:rPr lang="en-GB" sz="3600" dirty="0" smtClean="0"/>
            </a:b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496" y="1052736"/>
            <a:ext cx="8928992" cy="5616624"/>
          </a:xfrm>
        </p:spPr>
        <p:txBody>
          <a:bodyPr>
            <a:normAutofit/>
          </a:bodyPr>
          <a:lstStyle/>
          <a:p>
            <a:pPr lvl="0">
              <a:lnSpc>
                <a:spcPct val="160000"/>
              </a:lnSpc>
            </a:pPr>
            <a:r>
              <a:rPr lang="en-GB" b="1" dirty="0" smtClean="0">
                <a:latin typeface="Gabriola" pitchFamily="82" charset="0"/>
              </a:rPr>
              <a:t>Complete </a:t>
            </a:r>
            <a:r>
              <a:rPr lang="en-GB" b="1" dirty="0">
                <a:latin typeface="Gabriola" pitchFamily="82" charset="0"/>
              </a:rPr>
              <a:t>SCI</a:t>
            </a:r>
            <a:r>
              <a:rPr lang="en-GB" dirty="0">
                <a:latin typeface="Gabriola" pitchFamily="82" charset="0"/>
              </a:rPr>
              <a:t>:</a:t>
            </a:r>
            <a:endParaRPr lang="en-GB" sz="2800" dirty="0">
              <a:latin typeface="Gabriola" pitchFamily="82" charset="0"/>
            </a:endParaRPr>
          </a:p>
          <a:p>
            <a:pPr lvl="1">
              <a:lnSpc>
                <a:spcPct val="160000"/>
              </a:lnSpc>
            </a:pPr>
            <a:r>
              <a:rPr lang="en-GB" b="1" dirty="0">
                <a:latin typeface="Gabriola" pitchFamily="82" charset="0"/>
              </a:rPr>
              <a:t>Total loss of sensory and motor function</a:t>
            </a:r>
            <a:r>
              <a:rPr lang="en-GB" dirty="0">
                <a:latin typeface="Gabriola" pitchFamily="82" charset="0"/>
              </a:rPr>
              <a:t> below the level of injury.</a:t>
            </a:r>
            <a:endParaRPr lang="en-GB" sz="2400" dirty="0">
              <a:latin typeface="Gabriola" pitchFamily="82" charset="0"/>
            </a:endParaRPr>
          </a:p>
          <a:p>
            <a:pPr lvl="1">
              <a:lnSpc>
                <a:spcPct val="160000"/>
              </a:lnSpc>
            </a:pPr>
            <a:r>
              <a:rPr lang="en-GB" dirty="0">
                <a:latin typeface="Gabriola" pitchFamily="82" charset="0"/>
              </a:rPr>
              <a:t>No preserved function in the affected segments.</a:t>
            </a:r>
            <a:endParaRPr lang="en-GB" sz="2400" dirty="0">
              <a:latin typeface="Gabriola" pitchFamily="82" charset="0"/>
            </a:endParaRPr>
          </a:p>
          <a:p>
            <a:pPr lvl="0">
              <a:lnSpc>
                <a:spcPct val="160000"/>
              </a:lnSpc>
            </a:pPr>
            <a:r>
              <a:rPr lang="en-GB" b="1" dirty="0">
                <a:latin typeface="Gabriola" pitchFamily="82" charset="0"/>
              </a:rPr>
              <a:t>Incomplete SCI</a:t>
            </a:r>
            <a:r>
              <a:rPr lang="en-GB" dirty="0">
                <a:latin typeface="Gabriola" pitchFamily="82" charset="0"/>
              </a:rPr>
              <a:t>:</a:t>
            </a:r>
            <a:endParaRPr lang="en-GB" sz="2800" dirty="0">
              <a:latin typeface="Gabriola" pitchFamily="82" charset="0"/>
            </a:endParaRPr>
          </a:p>
          <a:p>
            <a:pPr lvl="1">
              <a:lnSpc>
                <a:spcPct val="160000"/>
              </a:lnSpc>
            </a:pPr>
            <a:r>
              <a:rPr lang="en-GB" dirty="0">
                <a:latin typeface="Gabriola" pitchFamily="82" charset="0"/>
              </a:rPr>
              <a:t>Some degree of sensory or motor function remains below the level of injury.</a:t>
            </a:r>
            <a:endParaRPr lang="en-GB" sz="2400" dirty="0">
              <a:latin typeface="Gabriola" pitchFamily="82" charset="0"/>
            </a:endParaRPr>
          </a:p>
          <a:p>
            <a:pPr>
              <a:lnSpc>
                <a:spcPct val="160000"/>
              </a:lnSpc>
            </a:pPr>
            <a:endParaRPr lang="en-GB" dirty="0">
              <a:latin typeface="Gabriola" pitchFamily="82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E1F83-D790-48D6-9843-5E3D3AAA0C0C}" type="datetime1">
              <a:rPr lang="en-GB" smtClean="0"/>
              <a:t>21/11/2024</a:t>
            </a:fld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870879-168A-4CB6-A4A5-D501825799FC}" type="slidenum">
              <a:rPr lang="en-GB" smtClean="0"/>
              <a:t>31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025871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528" y="274638"/>
            <a:ext cx="8363272" cy="634082"/>
          </a:xfrm>
        </p:spPr>
        <p:txBody>
          <a:bodyPr>
            <a:noAutofit/>
          </a:bodyPr>
          <a:lstStyle/>
          <a:p>
            <a:r>
              <a:rPr lang="en-GB" sz="3200" b="1" dirty="0" smtClean="0">
                <a:latin typeface="Times" pitchFamily="18" charset="0"/>
              </a:rPr>
              <a:t/>
            </a:r>
            <a:br>
              <a:rPr lang="en-GB" sz="3200" b="1" dirty="0" smtClean="0">
                <a:latin typeface="Times" pitchFamily="18" charset="0"/>
              </a:rPr>
            </a:br>
            <a:r>
              <a:rPr lang="en-GB" sz="3200" b="1" dirty="0" smtClean="0">
                <a:latin typeface="Times" pitchFamily="18" charset="0"/>
              </a:rPr>
              <a:t>1. Central Cord Syndrome (CCS)</a:t>
            </a:r>
            <a:br>
              <a:rPr lang="en-GB" sz="3200" b="1" dirty="0" smtClean="0">
                <a:latin typeface="Times" pitchFamily="18" charset="0"/>
              </a:rPr>
            </a:br>
            <a:endParaRPr lang="en-GB" sz="3200" dirty="0">
              <a:latin typeface="Times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1124744"/>
            <a:ext cx="8568952" cy="547260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GB" sz="2800" b="1" dirty="0" smtClean="0">
                <a:latin typeface="Gabriola" pitchFamily="82" charset="0"/>
              </a:rPr>
              <a:t>Pathophysiology</a:t>
            </a:r>
            <a:r>
              <a:rPr lang="en-GB" sz="2800" dirty="0" smtClean="0">
                <a:latin typeface="Gabriola" pitchFamily="82" charset="0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GB" dirty="0" smtClean="0">
                <a:latin typeface="Gabriola" pitchFamily="82" charset="0"/>
              </a:rPr>
              <a:t>Injury primarily affects the </a:t>
            </a:r>
            <a:r>
              <a:rPr lang="en-GB" b="1" dirty="0" smtClean="0">
                <a:latin typeface="Gabriola" pitchFamily="82" charset="0"/>
              </a:rPr>
              <a:t>central portion</a:t>
            </a:r>
            <a:r>
              <a:rPr lang="en-GB" dirty="0" smtClean="0">
                <a:latin typeface="Gabriola" pitchFamily="82" charset="0"/>
              </a:rPr>
              <a:t> of the spinal cord (especially the </a:t>
            </a:r>
            <a:r>
              <a:rPr lang="en-GB" b="1" dirty="0" smtClean="0">
                <a:latin typeface="Gabriola" pitchFamily="82" charset="0"/>
              </a:rPr>
              <a:t>cervical region</a:t>
            </a:r>
            <a:r>
              <a:rPr lang="en-GB" dirty="0" smtClean="0">
                <a:latin typeface="Gabriola" pitchFamily="82" charset="0"/>
              </a:rPr>
              <a:t>) due to hyperextension or compression.</a:t>
            </a:r>
          </a:p>
          <a:p>
            <a:pPr lvl="1">
              <a:lnSpc>
                <a:spcPct val="150000"/>
              </a:lnSpc>
            </a:pPr>
            <a:r>
              <a:rPr lang="en-GB" dirty="0" smtClean="0">
                <a:latin typeface="Gabriola" pitchFamily="82" charset="0"/>
              </a:rPr>
              <a:t>Common in </a:t>
            </a:r>
            <a:r>
              <a:rPr lang="en-GB" b="1" dirty="0" smtClean="0">
                <a:latin typeface="Gabriola" pitchFamily="82" charset="0"/>
              </a:rPr>
              <a:t>elderly individuals</a:t>
            </a:r>
            <a:r>
              <a:rPr lang="en-GB" dirty="0" smtClean="0">
                <a:latin typeface="Gabriola" pitchFamily="82" charset="0"/>
              </a:rPr>
              <a:t> with degenerative spinal conditions.</a:t>
            </a:r>
          </a:p>
          <a:p>
            <a:pPr>
              <a:lnSpc>
                <a:spcPct val="150000"/>
              </a:lnSpc>
            </a:pPr>
            <a:r>
              <a:rPr lang="en-GB" sz="2800" b="1" dirty="0" smtClean="0">
                <a:latin typeface="Gabriola" pitchFamily="82" charset="0"/>
              </a:rPr>
              <a:t>Clinical Features</a:t>
            </a:r>
            <a:r>
              <a:rPr lang="en-GB" sz="2800" dirty="0" smtClean="0">
                <a:latin typeface="Gabriola" pitchFamily="82" charset="0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GB" b="1" dirty="0" smtClean="0">
                <a:latin typeface="Gabriola" pitchFamily="82" charset="0"/>
              </a:rPr>
              <a:t>Motor deficits</a:t>
            </a:r>
            <a:r>
              <a:rPr lang="en-GB" dirty="0" smtClean="0">
                <a:latin typeface="Gabriola" pitchFamily="82" charset="0"/>
              </a:rPr>
              <a:t>: </a:t>
            </a:r>
            <a:r>
              <a:rPr lang="en-GB" b="1" dirty="0" smtClean="0">
                <a:latin typeface="Gabriola" pitchFamily="82" charset="0"/>
              </a:rPr>
              <a:t>Upper extremities</a:t>
            </a:r>
            <a:r>
              <a:rPr lang="en-GB" dirty="0" smtClean="0">
                <a:latin typeface="Gabriola" pitchFamily="82" charset="0"/>
              </a:rPr>
              <a:t> more affected than lower extremities (distal &gt; proximal weakness).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20BE9-0B6D-4C04-B0E8-D0220AC642CA}" type="datetime1">
              <a:rPr lang="en-GB" smtClean="0"/>
              <a:t>21/11/2024</a:t>
            </a:fld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870879-168A-4CB6-A4A5-D501825799FC}" type="slidenum">
              <a:rPr lang="en-GB" smtClean="0"/>
              <a:t>32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7301130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274638"/>
            <a:ext cx="8507288" cy="418058"/>
          </a:xfrm>
        </p:spPr>
        <p:txBody>
          <a:bodyPr>
            <a:normAutofit fontScale="90000"/>
          </a:bodyPr>
          <a:lstStyle/>
          <a:p>
            <a:pPr algn="r"/>
            <a:r>
              <a:rPr lang="en-GB" dirty="0" smtClean="0"/>
              <a:t>Cont..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764704"/>
            <a:ext cx="8568952" cy="5760640"/>
          </a:xfrm>
        </p:spPr>
        <p:txBody>
          <a:bodyPr>
            <a:normAutofit/>
          </a:bodyPr>
          <a:lstStyle/>
          <a:p>
            <a:pPr lvl="1">
              <a:lnSpc>
                <a:spcPct val="150000"/>
              </a:lnSpc>
            </a:pPr>
            <a:r>
              <a:rPr lang="en-GB" sz="2400" b="1" dirty="0" smtClean="0">
                <a:latin typeface="Gabriola" pitchFamily="82" charset="0"/>
              </a:rPr>
              <a:t>Sensory loss</a:t>
            </a:r>
            <a:r>
              <a:rPr lang="en-GB" sz="2400" dirty="0" smtClean="0">
                <a:latin typeface="Gabriola" pitchFamily="82" charset="0"/>
              </a:rPr>
              <a:t>: </a:t>
            </a:r>
            <a:r>
              <a:rPr lang="en-GB" sz="2400" b="1" dirty="0" smtClean="0">
                <a:latin typeface="Gabriola" pitchFamily="82" charset="0"/>
              </a:rPr>
              <a:t>Loss of pain and temperature</a:t>
            </a:r>
            <a:r>
              <a:rPr lang="en-GB" sz="2400" dirty="0" smtClean="0">
                <a:latin typeface="Gabriola" pitchFamily="82" charset="0"/>
              </a:rPr>
              <a:t> sensation (due to damage of </a:t>
            </a:r>
            <a:r>
              <a:rPr lang="en-GB" sz="2400" dirty="0" err="1" smtClean="0">
                <a:latin typeface="Gabriola" pitchFamily="82" charset="0"/>
              </a:rPr>
              <a:t>spinothalamic</a:t>
            </a:r>
            <a:r>
              <a:rPr lang="en-GB" sz="2400" dirty="0" smtClean="0">
                <a:latin typeface="Gabriola" pitchFamily="82" charset="0"/>
              </a:rPr>
              <a:t> tracts).</a:t>
            </a:r>
          </a:p>
          <a:p>
            <a:pPr lvl="1">
              <a:lnSpc>
                <a:spcPct val="150000"/>
              </a:lnSpc>
            </a:pPr>
            <a:r>
              <a:rPr lang="en-GB" sz="2400" b="1" dirty="0" smtClean="0">
                <a:latin typeface="Gabriola" pitchFamily="82" charset="0"/>
              </a:rPr>
              <a:t>Preserved</a:t>
            </a:r>
            <a:r>
              <a:rPr lang="en-GB" sz="2400" dirty="0" smtClean="0">
                <a:latin typeface="Gabriola" pitchFamily="82" charset="0"/>
              </a:rPr>
              <a:t>: Proprioception and light touch, often intact in the lower extremities.</a:t>
            </a:r>
          </a:p>
          <a:p>
            <a:pPr>
              <a:lnSpc>
                <a:spcPct val="150000"/>
              </a:lnSpc>
            </a:pPr>
            <a:r>
              <a:rPr lang="en-GB" sz="2400" b="1" dirty="0" smtClean="0">
                <a:latin typeface="Gabriola" pitchFamily="82" charset="0"/>
              </a:rPr>
              <a:t>Cause</a:t>
            </a:r>
            <a:r>
              <a:rPr lang="en-GB" sz="2400" dirty="0" smtClean="0">
                <a:latin typeface="Gabriola" pitchFamily="82" charset="0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GB" sz="2400" dirty="0" smtClean="0">
                <a:latin typeface="Gabriola" pitchFamily="82" charset="0"/>
              </a:rPr>
              <a:t>Typically caused by </a:t>
            </a:r>
            <a:r>
              <a:rPr lang="en-GB" sz="2400" b="1" dirty="0" smtClean="0">
                <a:latin typeface="Gabriola" pitchFamily="82" charset="0"/>
              </a:rPr>
              <a:t>cervical </a:t>
            </a:r>
            <a:r>
              <a:rPr lang="en-GB" sz="2400" b="1" dirty="0" err="1" smtClean="0">
                <a:latin typeface="Gabriola" pitchFamily="82" charset="0"/>
              </a:rPr>
              <a:t>spondylosis</a:t>
            </a:r>
            <a:r>
              <a:rPr lang="en-GB" sz="2400" dirty="0" smtClean="0">
                <a:latin typeface="Gabriola" pitchFamily="82" charset="0"/>
              </a:rPr>
              <a:t>, </a:t>
            </a:r>
            <a:r>
              <a:rPr lang="en-GB" sz="2400" b="1" dirty="0" smtClean="0">
                <a:latin typeface="Gabriola" pitchFamily="82" charset="0"/>
              </a:rPr>
              <a:t>hyperextension injuries</a:t>
            </a:r>
            <a:r>
              <a:rPr lang="en-GB" sz="2400" dirty="0" smtClean="0">
                <a:latin typeface="Gabriola" pitchFamily="82" charset="0"/>
              </a:rPr>
              <a:t>, or </a:t>
            </a:r>
            <a:r>
              <a:rPr lang="en-GB" sz="2400" b="1" dirty="0" smtClean="0">
                <a:latin typeface="Gabriola" pitchFamily="82" charset="0"/>
              </a:rPr>
              <a:t>anterior spinal artery syndrome</a:t>
            </a:r>
            <a:r>
              <a:rPr lang="en-GB" sz="2400" dirty="0" smtClean="0">
                <a:latin typeface="Gabriola" pitchFamily="82" charset="0"/>
              </a:rPr>
              <a:t>.</a:t>
            </a:r>
          </a:p>
          <a:p>
            <a:pPr>
              <a:lnSpc>
                <a:spcPct val="150000"/>
              </a:lnSpc>
            </a:pPr>
            <a:endParaRPr lang="en-GB" sz="2400" dirty="0" smtClean="0">
              <a:latin typeface="Gabriola" pitchFamily="82" charset="0"/>
            </a:endParaRPr>
          </a:p>
          <a:p>
            <a:pPr>
              <a:lnSpc>
                <a:spcPct val="150000"/>
              </a:lnSpc>
            </a:pPr>
            <a:endParaRPr lang="en-GB" sz="2400" dirty="0">
              <a:latin typeface="Gabriola" pitchFamily="82" charset="0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764CB-1B36-4371-83D2-4CBB13CEC3C5}" type="datetime1">
              <a:rPr lang="en-GB" smtClean="0"/>
              <a:t>21/11/2024</a:t>
            </a:fld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870879-168A-4CB6-A4A5-D501825799FC}" type="slidenum">
              <a:rPr lang="en-GB" smtClean="0"/>
              <a:t>33</a:t>
            </a:fld>
            <a:endParaRPr lang="en-GB"/>
          </a:p>
        </p:txBody>
      </p:sp>
      <p:pic>
        <p:nvPicPr>
          <p:cNvPr id="7" name="Picture 4" descr="305143-321651-321907-321988[1]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696" y="4365104"/>
            <a:ext cx="6120680" cy="26726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097240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274638"/>
            <a:ext cx="8507288" cy="850106"/>
          </a:xfrm>
        </p:spPr>
        <p:txBody>
          <a:bodyPr>
            <a:normAutofit/>
          </a:bodyPr>
          <a:lstStyle/>
          <a:p>
            <a:r>
              <a:rPr lang="en-GB" sz="3600" b="1" dirty="0" smtClean="0">
                <a:latin typeface="Times" pitchFamily="18" charset="0"/>
              </a:rPr>
              <a:t>2. Anterior Cord Syndrome (ACS)</a:t>
            </a:r>
            <a:endParaRPr lang="en-GB" sz="3600" dirty="0">
              <a:latin typeface="Times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1268760"/>
            <a:ext cx="8640960" cy="5472608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GB" sz="2800" b="1" dirty="0" smtClean="0">
                <a:latin typeface="Gabriola" pitchFamily="82" charset="0"/>
              </a:rPr>
              <a:t>Pathophysiology</a:t>
            </a:r>
            <a:r>
              <a:rPr lang="en-GB" sz="2800" dirty="0" smtClean="0">
                <a:latin typeface="Gabriola" pitchFamily="82" charset="0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GB" dirty="0" smtClean="0">
                <a:latin typeface="Gabriola" pitchFamily="82" charset="0"/>
              </a:rPr>
              <a:t>Injury to the </a:t>
            </a:r>
            <a:r>
              <a:rPr lang="en-GB" b="1" dirty="0" smtClean="0">
                <a:latin typeface="Gabriola" pitchFamily="82" charset="0"/>
              </a:rPr>
              <a:t>anterior part</a:t>
            </a:r>
            <a:r>
              <a:rPr lang="en-GB" dirty="0" smtClean="0">
                <a:latin typeface="Gabriola" pitchFamily="82" charset="0"/>
              </a:rPr>
              <a:t> of the spinal cord, often from damage to the </a:t>
            </a:r>
            <a:r>
              <a:rPr lang="en-GB" b="1" dirty="0" smtClean="0">
                <a:latin typeface="Gabriola" pitchFamily="82" charset="0"/>
              </a:rPr>
              <a:t>anterior spinal artery</a:t>
            </a:r>
            <a:r>
              <a:rPr lang="en-GB" dirty="0" smtClean="0">
                <a:latin typeface="Gabriola" pitchFamily="82" charset="0"/>
              </a:rPr>
              <a:t>.</a:t>
            </a:r>
          </a:p>
          <a:p>
            <a:pPr lvl="1">
              <a:lnSpc>
                <a:spcPct val="150000"/>
              </a:lnSpc>
            </a:pPr>
            <a:r>
              <a:rPr lang="en-GB" dirty="0" smtClean="0">
                <a:latin typeface="Gabriola" pitchFamily="82" charset="0"/>
              </a:rPr>
              <a:t>Can also result from </a:t>
            </a:r>
            <a:r>
              <a:rPr lang="en-GB" b="1" dirty="0" smtClean="0">
                <a:latin typeface="Gabriola" pitchFamily="82" charset="0"/>
              </a:rPr>
              <a:t>flexion injuries</a:t>
            </a:r>
            <a:r>
              <a:rPr lang="en-GB" dirty="0" smtClean="0">
                <a:latin typeface="Gabriola" pitchFamily="82" charset="0"/>
              </a:rPr>
              <a:t>, </a:t>
            </a:r>
            <a:r>
              <a:rPr lang="en-GB" b="1" dirty="0" smtClean="0">
                <a:latin typeface="Gabriola" pitchFamily="82" charset="0"/>
              </a:rPr>
              <a:t>vertebral fractures</a:t>
            </a:r>
            <a:r>
              <a:rPr lang="en-GB" dirty="0" smtClean="0">
                <a:latin typeface="Gabriola" pitchFamily="82" charset="0"/>
              </a:rPr>
              <a:t>, or </a:t>
            </a:r>
            <a:r>
              <a:rPr lang="en-GB" b="1" dirty="0" smtClean="0">
                <a:latin typeface="Gabriola" pitchFamily="82" charset="0"/>
              </a:rPr>
              <a:t>disk </a:t>
            </a:r>
            <a:r>
              <a:rPr lang="en-GB" b="1" dirty="0" err="1" smtClean="0">
                <a:latin typeface="Gabriola" pitchFamily="82" charset="0"/>
              </a:rPr>
              <a:t>herniations</a:t>
            </a:r>
            <a:r>
              <a:rPr lang="en-GB" dirty="0" smtClean="0">
                <a:latin typeface="Gabriola" pitchFamily="82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GB" sz="2800" b="1" dirty="0" smtClean="0">
                <a:latin typeface="Gabriola" pitchFamily="82" charset="0"/>
              </a:rPr>
              <a:t>Clinical Features</a:t>
            </a:r>
            <a:r>
              <a:rPr lang="en-GB" sz="2800" dirty="0" smtClean="0">
                <a:latin typeface="Gabriola" pitchFamily="82" charset="0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GB" b="1" dirty="0" smtClean="0">
                <a:latin typeface="Gabriola" pitchFamily="82" charset="0"/>
              </a:rPr>
              <a:t>Motor deficits</a:t>
            </a:r>
            <a:r>
              <a:rPr lang="en-GB" dirty="0" smtClean="0">
                <a:latin typeface="Gabriola" pitchFamily="82" charset="0"/>
              </a:rPr>
              <a:t>: </a:t>
            </a:r>
            <a:r>
              <a:rPr lang="en-GB" b="1" dirty="0" smtClean="0">
                <a:latin typeface="Gabriola" pitchFamily="82" charset="0"/>
              </a:rPr>
              <a:t>Complete paralysis</a:t>
            </a:r>
            <a:r>
              <a:rPr lang="en-GB" dirty="0" smtClean="0">
                <a:latin typeface="Gabriola" pitchFamily="82" charset="0"/>
              </a:rPr>
              <a:t> below the level of injury (due to </a:t>
            </a:r>
            <a:r>
              <a:rPr lang="en-GB" dirty="0" err="1" smtClean="0">
                <a:latin typeface="Gabriola" pitchFamily="82" charset="0"/>
              </a:rPr>
              <a:t>corticospinal</a:t>
            </a:r>
            <a:r>
              <a:rPr lang="en-GB" dirty="0" smtClean="0">
                <a:latin typeface="Gabriola" pitchFamily="82" charset="0"/>
              </a:rPr>
              <a:t> tract damage).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37894-ADFC-44FA-BB17-52CED2E6BB0E}" type="datetime1">
              <a:rPr lang="en-GB" smtClean="0"/>
              <a:t>21/11/2024</a:t>
            </a:fld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870879-168A-4CB6-A4A5-D501825799FC}" type="slidenum">
              <a:rPr lang="en-GB" smtClean="0"/>
              <a:t>34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8969484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74638"/>
            <a:ext cx="8686800" cy="562074"/>
          </a:xfrm>
        </p:spPr>
        <p:txBody>
          <a:bodyPr>
            <a:normAutofit fontScale="90000"/>
          </a:bodyPr>
          <a:lstStyle/>
          <a:p>
            <a:pPr algn="r"/>
            <a:r>
              <a:rPr lang="en-GB" dirty="0" smtClean="0"/>
              <a:t>Cont..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620688"/>
            <a:ext cx="8435280" cy="5505475"/>
          </a:xfrm>
        </p:spPr>
        <p:txBody>
          <a:bodyPr>
            <a:normAutofit/>
          </a:bodyPr>
          <a:lstStyle/>
          <a:p>
            <a:pPr lvl="1">
              <a:lnSpc>
                <a:spcPct val="150000"/>
              </a:lnSpc>
            </a:pPr>
            <a:r>
              <a:rPr lang="en-GB" b="1" dirty="0" smtClean="0">
                <a:latin typeface="Gabriola" pitchFamily="82" charset="0"/>
              </a:rPr>
              <a:t>Sensory loss</a:t>
            </a:r>
            <a:r>
              <a:rPr lang="en-GB" dirty="0" smtClean="0">
                <a:latin typeface="Gabriola" pitchFamily="82" charset="0"/>
              </a:rPr>
              <a:t>: Loss of </a:t>
            </a:r>
            <a:r>
              <a:rPr lang="en-GB" b="1" dirty="0" smtClean="0">
                <a:latin typeface="Gabriola" pitchFamily="82" charset="0"/>
              </a:rPr>
              <a:t>pain and temperature sensation</a:t>
            </a:r>
            <a:r>
              <a:rPr lang="en-GB" dirty="0" smtClean="0">
                <a:latin typeface="Gabriola" pitchFamily="82" charset="0"/>
              </a:rPr>
              <a:t> below the level of injury (</a:t>
            </a:r>
            <a:r>
              <a:rPr lang="en-GB" dirty="0" err="1" smtClean="0">
                <a:latin typeface="Gabriola" pitchFamily="82" charset="0"/>
              </a:rPr>
              <a:t>spinothalamic</a:t>
            </a:r>
            <a:r>
              <a:rPr lang="en-GB" dirty="0" smtClean="0">
                <a:latin typeface="Gabriola" pitchFamily="82" charset="0"/>
              </a:rPr>
              <a:t> tract involvement).</a:t>
            </a:r>
            <a:endParaRPr lang="en-GB" b="1" dirty="0" smtClean="0">
              <a:latin typeface="Gabriola" pitchFamily="82" charset="0"/>
            </a:endParaRPr>
          </a:p>
          <a:p>
            <a:pPr lvl="1">
              <a:lnSpc>
                <a:spcPct val="150000"/>
              </a:lnSpc>
            </a:pPr>
            <a:r>
              <a:rPr lang="en-GB" b="1" dirty="0" smtClean="0">
                <a:latin typeface="Gabriola" pitchFamily="82" charset="0"/>
              </a:rPr>
              <a:t>Preserved</a:t>
            </a:r>
            <a:r>
              <a:rPr lang="en-GB" dirty="0" smtClean="0">
                <a:latin typeface="Gabriola" pitchFamily="82" charset="0"/>
              </a:rPr>
              <a:t>: </a:t>
            </a:r>
            <a:r>
              <a:rPr lang="en-GB" b="1" dirty="0" smtClean="0">
                <a:latin typeface="Gabriola" pitchFamily="82" charset="0"/>
              </a:rPr>
              <a:t>Proprioception</a:t>
            </a:r>
            <a:r>
              <a:rPr lang="en-GB" dirty="0" smtClean="0">
                <a:latin typeface="Gabriola" pitchFamily="82" charset="0"/>
              </a:rPr>
              <a:t>, </a:t>
            </a:r>
            <a:r>
              <a:rPr lang="en-GB" b="1" dirty="0" smtClean="0">
                <a:latin typeface="Gabriola" pitchFamily="82" charset="0"/>
              </a:rPr>
              <a:t>vibration sense</a:t>
            </a:r>
            <a:r>
              <a:rPr lang="en-GB" dirty="0" smtClean="0">
                <a:latin typeface="Gabriola" pitchFamily="82" charset="0"/>
              </a:rPr>
              <a:t>, and </a:t>
            </a:r>
            <a:r>
              <a:rPr lang="en-GB" b="1" dirty="0" smtClean="0">
                <a:latin typeface="Gabriola" pitchFamily="82" charset="0"/>
              </a:rPr>
              <a:t>light touch</a:t>
            </a:r>
            <a:r>
              <a:rPr lang="en-GB" dirty="0" smtClean="0">
                <a:latin typeface="Gabriola" pitchFamily="82" charset="0"/>
              </a:rPr>
              <a:t> (due to intact posterior columns).</a:t>
            </a:r>
          </a:p>
          <a:p>
            <a:pPr>
              <a:lnSpc>
                <a:spcPct val="150000"/>
              </a:lnSpc>
            </a:pPr>
            <a:r>
              <a:rPr lang="en-GB" sz="2800" b="1" dirty="0" smtClean="0">
                <a:latin typeface="Gabriola" pitchFamily="82" charset="0"/>
              </a:rPr>
              <a:t>Cause</a:t>
            </a:r>
            <a:r>
              <a:rPr lang="en-GB" sz="2800" dirty="0" smtClean="0">
                <a:latin typeface="Gabriola" pitchFamily="82" charset="0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GB" dirty="0" smtClean="0">
                <a:latin typeface="Gabriola" pitchFamily="82" charset="0"/>
              </a:rPr>
              <a:t>Disruption of the </a:t>
            </a:r>
            <a:r>
              <a:rPr lang="en-GB" b="1" dirty="0" smtClean="0">
                <a:latin typeface="Gabriola" pitchFamily="82" charset="0"/>
              </a:rPr>
              <a:t>anterior spinal artery</a:t>
            </a:r>
            <a:r>
              <a:rPr lang="en-GB" dirty="0" smtClean="0">
                <a:latin typeface="Gabriola" pitchFamily="82" charset="0"/>
              </a:rPr>
              <a:t>, leading to ischemia in the anterior cord.</a:t>
            </a:r>
          </a:p>
          <a:p>
            <a:pPr>
              <a:lnSpc>
                <a:spcPct val="150000"/>
              </a:lnSpc>
            </a:pPr>
            <a:endParaRPr lang="en-GB" sz="2800" dirty="0">
              <a:latin typeface="Gabriola" pitchFamily="82" charset="0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2916F4-7322-44AA-82EE-799C73F2A9E0}" type="datetime1">
              <a:rPr lang="en-GB" smtClean="0"/>
              <a:t>21/11/2024</a:t>
            </a:fld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870879-168A-4CB6-A4A5-D501825799FC}" type="slidenum">
              <a:rPr lang="en-GB" smtClean="0"/>
              <a:t>35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0379512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74638"/>
            <a:ext cx="8686800" cy="562074"/>
          </a:xfrm>
        </p:spPr>
        <p:txBody>
          <a:bodyPr>
            <a:normAutofit fontScale="90000"/>
          </a:bodyPr>
          <a:lstStyle/>
          <a:p>
            <a:r>
              <a:rPr lang="en-GB" dirty="0" smtClean="0"/>
              <a:t/>
            </a:r>
            <a:br>
              <a:rPr lang="en-GB" dirty="0" smtClean="0"/>
            </a:br>
            <a:r>
              <a:rPr lang="en-GB" dirty="0" smtClean="0"/>
              <a:t>3. </a:t>
            </a:r>
            <a:r>
              <a:rPr lang="en-GB" sz="3100" b="1" dirty="0" smtClean="0">
                <a:latin typeface="Times" pitchFamily="18" charset="0"/>
              </a:rPr>
              <a:t>Brown-</a:t>
            </a:r>
            <a:r>
              <a:rPr lang="en-GB" sz="3100" b="1" dirty="0" err="1" smtClean="0">
                <a:latin typeface="Times" pitchFamily="18" charset="0"/>
              </a:rPr>
              <a:t>Séquard</a:t>
            </a:r>
            <a:r>
              <a:rPr lang="en-GB" sz="3100" b="1" dirty="0" smtClean="0">
                <a:latin typeface="Times" pitchFamily="18" charset="0"/>
              </a:rPr>
              <a:t> Syndrome (Lateral </a:t>
            </a:r>
            <a:r>
              <a:rPr lang="en-GB" sz="3100" b="1" dirty="0" err="1" smtClean="0">
                <a:latin typeface="Times" pitchFamily="18" charset="0"/>
              </a:rPr>
              <a:t>Hemicord</a:t>
            </a:r>
            <a:r>
              <a:rPr lang="en-GB" sz="3100" b="1" dirty="0" smtClean="0">
                <a:latin typeface="Times" pitchFamily="18" charset="0"/>
              </a:rPr>
              <a:t> Syndrome)</a:t>
            </a:r>
            <a:r>
              <a:rPr lang="en-GB" dirty="0" smtClean="0"/>
              <a:t/>
            </a:r>
            <a:br>
              <a:rPr lang="en-GB" dirty="0" smtClean="0"/>
            </a:b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1124744"/>
            <a:ext cx="8640960" cy="54006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GB" sz="2800" b="1" dirty="0" smtClean="0">
                <a:latin typeface="Gabriola" pitchFamily="82" charset="0"/>
              </a:rPr>
              <a:t>Pathophysiology</a:t>
            </a:r>
            <a:r>
              <a:rPr lang="en-GB" sz="2800" dirty="0" smtClean="0">
                <a:latin typeface="Gabriola" pitchFamily="82" charset="0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GB" dirty="0" err="1" smtClean="0">
                <a:latin typeface="Gabriola" pitchFamily="82" charset="0"/>
              </a:rPr>
              <a:t>Hemisection</a:t>
            </a:r>
            <a:r>
              <a:rPr lang="en-GB" dirty="0" smtClean="0">
                <a:latin typeface="Gabriola" pitchFamily="82" charset="0"/>
              </a:rPr>
              <a:t> of the </a:t>
            </a:r>
            <a:r>
              <a:rPr lang="en-GB" b="1" dirty="0" smtClean="0">
                <a:latin typeface="Gabriola" pitchFamily="82" charset="0"/>
              </a:rPr>
              <a:t>spinal cord</a:t>
            </a:r>
            <a:r>
              <a:rPr lang="en-GB" dirty="0" smtClean="0">
                <a:latin typeface="Gabriola" pitchFamily="82" charset="0"/>
              </a:rPr>
              <a:t> due to trauma or </a:t>
            </a:r>
            <a:r>
              <a:rPr lang="en-GB" dirty="0" err="1" smtClean="0">
                <a:latin typeface="Gabriola" pitchFamily="82" charset="0"/>
              </a:rPr>
              <a:t>tumors</a:t>
            </a:r>
            <a:r>
              <a:rPr lang="en-GB" dirty="0" smtClean="0">
                <a:latin typeface="Gabriola" pitchFamily="82" charset="0"/>
              </a:rPr>
              <a:t>.</a:t>
            </a:r>
          </a:p>
          <a:p>
            <a:pPr lvl="1">
              <a:lnSpc>
                <a:spcPct val="150000"/>
              </a:lnSpc>
            </a:pPr>
            <a:r>
              <a:rPr lang="en-GB" dirty="0" smtClean="0">
                <a:latin typeface="Gabriola" pitchFamily="82" charset="0"/>
              </a:rPr>
              <a:t>Affects </a:t>
            </a:r>
            <a:r>
              <a:rPr lang="en-GB" b="1" dirty="0" smtClean="0">
                <a:latin typeface="Gabriola" pitchFamily="82" charset="0"/>
              </a:rPr>
              <a:t>one half</a:t>
            </a:r>
            <a:r>
              <a:rPr lang="en-GB" dirty="0" smtClean="0">
                <a:latin typeface="Gabriola" pitchFamily="82" charset="0"/>
              </a:rPr>
              <a:t> of the spinal cord, typically from a </a:t>
            </a:r>
            <a:r>
              <a:rPr lang="en-GB" b="1" dirty="0" smtClean="0">
                <a:latin typeface="Gabriola" pitchFamily="82" charset="0"/>
              </a:rPr>
              <a:t>penetrating injury</a:t>
            </a:r>
            <a:r>
              <a:rPr lang="en-GB" dirty="0" smtClean="0">
                <a:latin typeface="Gabriola" pitchFamily="82" charset="0"/>
              </a:rPr>
              <a:t> (e.g., stabbing or gunshot wound).</a:t>
            </a:r>
          </a:p>
          <a:p>
            <a:pPr>
              <a:lnSpc>
                <a:spcPct val="150000"/>
              </a:lnSpc>
            </a:pPr>
            <a:r>
              <a:rPr lang="en-GB" sz="2800" b="1" dirty="0" smtClean="0">
                <a:latin typeface="Gabriola" pitchFamily="82" charset="0"/>
              </a:rPr>
              <a:t>Clinical Features</a:t>
            </a:r>
            <a:r>
              <a:rPr lang="en-GB" sz="2800" dirty="0" smtClean="0">
                <a:latin typeface="Gabriola" pitchFamily="82" charset="0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GB" b="1" dirty="0" err="1" smtClean="0">
                <a:latin typeface="Gabriola" pitchFamily="82" charset="0"/>
              </a:rPr>
              <a:t>Ipsilateral</a:t>
            </a:r>
            <a:r>
              <a:rPr lang="en-GB" b="1" dirty="0" smtClean="0">
                <a:latin typeface="Gabriola" pitchFamily="82" charset="0"/>
              </a:rPr>
              <a:t> (same side) motor weakness or paralysis</a:t>
            </a:r>
            <a:r>
              <a:rPr lang="en-GB" dirty="0" smtClean="0">
                <a:latin typeface="Gabriola" pitchFamily="82" charset="0"/>
              </a:rPr>
              <a:t>: Due to </a:t>
            </a:r>
            <a:r>
              <a:rPr lang="en-GB" dirty="0" err="1" smtClean="0">
                <a:latin typeface="Gabriola" pitchFamily="82" charset="0"/>
              </a:rPr>
              <a:t>corticospinal</a:t>
            </a:r>
            <a:r>
              <a:rPr lang="en-GB" dirty="0" smtClean="0">
                <a:latin typeface="Gabriola" pitchFamily="82" charset="0"/>
              </a:rPr>
              <a:t> tract damage.</a:t>
            </a:r>
          </a:p>
          <a:p>
            <a:pPr>
              <a:lnSpc>
                <a:spcPct val="150000"/>
              </a:lnSpc>
            </a:pPr>
            <a:endParaRPr lang="en-GB" sz="2400" dirty="0">
              <a:latin typeface="Gabriola" pitchFamily="82" charset="0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2FEB79-90EE-4114-A62D-5B6D88D9CC4D}" type="datetime1">
              <a:rPr lang="en-GB" smtClean="0"/>
              <a:t>21/11/2024</a:t>
            </a:fld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870879-168A-4CB6-A4A5-D501825799FC}" type="slidenum">
              <a:rPr lang="en-GB" smtClean="0"/>
              <a:t>36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2862457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504" y="274638"/>
            <a:ext cx="8579296" cy="274042"/>
          </a:xfrm>
        </p:spPr>
        <p:txBody>
          <a:bodyPr>
            <a:normAutofit fontScale="90000"/>
          </a:bodyPr>
          <a:lstStyle/>
          <a:p>
            <a:pPr algn="r"/>
            <a:r>
              <a:rPr lang="en-GB" dirty="0" smtClean="0"/>
              <a:t>Cont..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504" y="692696"/>
            <a:ext cx="8928992" cy="5760640"/>
          </a:xfrm>
        </p:spPr>
        <p:txBody>
          <a:bodyPr>
            <a:normAutofit/>
          </a:bodyPr>
          <a:lstStyle/>
          <a:p>
            <a:pPr lvl="1">
              <a:lnSpc>
                <a:spcPct val="150000"/>
              </a:lnSpc>
            </a:pPr>
            <a:r>
              <a:rPr lang="en-GB" b="1" dirty="0" err="1" smtClean="0">
                <a:latin typeface="Gabriola" pitchFamily="82" charset="0"/>
              </a:rPr>
              <a:t>Ipsilateral</a:t>
            </a:r>
            <a:r>
              <a:rPr lang="en-GB" b="1" dirty="0" smtClean="0">
                <a:latin typeface="Gabriola" pitchFamily="82" charset="0"/>
              </a:rPr>
              <a:t> loss of proprioception and vibration</a:t>
            </a:r>
            <a:r>
              <a:rPr lang="en-GB" dirty="0" smtClean="0">
                <a:latin typeface="Gabriola" pitchFamily="82" charset="0"/>
              </a:rPr>
              <a:t>: Due to damage to the </a:t>
            </a:r>
            <a:r>
              <a:rPr lang="en-GB" b="1" dirty="0" smtClean="0">
                <a:latin typeface="Gabriola" pitchFamily="82" charset="0"/>
              </a:rPr>
              <a:t>dorsal column</a:t>
            </a:r>
            <a:r>
              <a:rPr lang="en-GB" dirty="0" smtClean="0">
                <a:latin typeface="Gabriola" pitchFamily="82" charset="0"/>
              </a:rPr>
              <a:t>.</a:t>
            </a:r>
          </a:p>
          <a:p>
            <a:pPr lvl="1">
              <a:lnSpc>
                <a:spcPct val="150000"/>
              </a:lnSpc>
            </a:pPr>
            <a:r>
              <a:rPr lang="en-GB" b="1" dirty="0" smtClean="0">
                <a:latin typeface="Gabriola" pitchFamily="82" charset="0"/>
              </a:rPr>
              <a:t>Contralateral (opposite side) loss of pain and temperature</a:t>
            </a:r>
            <a:r>
              <a:rPr lang="en-GB" dirty="0" smtClean="0">
                <a:latin typeface="Gabriola" pitchFamily="82" charset="0"/>
              </a:rPr>
              <a:t>: Due to damage to the </a:t>
            </a:r>
            <a:r>
              <a:rPr lang="en-GB" b="1" dirty="0" err="1" smtClean="0">
                <a:latin typeface="Gabriola" pitchFamily="82" charset="0"/>
              </a:rPr>
              <a:t>spinothalamic</a:t>
            </a:r>
            <a:r>
              <a:rPr lang="en-GB" b="1" dirty="0" smtClean="0">
                <a:latin typeface="Gabriola" pitchFamily="82" charset="0"/>
              </a:rPr>
              <a:t> tract</a:t>
            </a:r>
            <a:r>
              <a:rPr lang="en-GB" dirty="0" smtClean="0">
                <a:latin typeface="Gabriola" pitchFamily="82" charset="0"/>
              </a:rPr>
              <a:t> (which crosses over to the opposite side of the spinal cord shortly after entering).</a:t>
            </a:r>
          </a:p>
          <a:p>
            <a:pPr>
              <a:lnSpc>
                <a:spcPct val="150000"/>
              </a:lnSpc>
            </a:pPr>
            <a:r>
              <a:rPr lang="en-GB" sz="2800" b="1" dirty="0" smtClean="0">
                <a:latin typeface="Gabriola" pitchFamily="82" charset="0"/>
              </a:rPr>
              <a:t>Cause</a:t>
            </a:r>
            <a:r>
              <a:rPr lang="en-GB" sz="2800" dirty="0" smtClean="0">
                <a:latin typeface="Gabriola" pitchFamily="82" charset="0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GB" dirty="0" smtClean="0">
                <a:latin typeface="Gabriola" pitchFamily="82" charset="0"/>
              </a:rPr>
              <a:t>Often caused by </a:t>
            </a:r>
            <a:r>
              <a:rPr lang="en-GB" b="1" dirty="0" smtClean="0">
                <a:latin typeface="Gabriola" pitchFamily="82" charset="0"/>
              </a:rPr>
              <a:t>trauma</a:t>
            </a:r>
            <a:r>
              <a:rPr lang="en-GB" dirty="0" smtClean="0">
                <a:latin typeface="Gabriola" pitchFamily="82" charset="0"/>
              </a:rPr>
              <a:t> (e.g., stabbing, gunshot), </a:t>
            </a:r>
            <a:r>
              <a:rPr lang="en-GB" dirty="0" err="1" smtClean="0">
                <a:latin typeface="Gabriola" pitchFamily="82" charset="0"/>
              </a:rPr>
              <a:t>tumors</a:t>
            </a:r>
            <a:r>
              <a:rPr lang="en-GB" dirty="0" smtClean="0">
                <a:latin typeface="Gabriola" pitchFamily="82" charset="0"/>
              </a:rPr>
              <a:t>, or </a:t>
            </a:r>
            <a:r>
              <a:rPr lang="en-GB" b="1" dirty="0" smtClean="0">
                <a:latin typeface="Gabriola" pitchFamily="82" charset="0"/>
              </a:rPr>
              <a:t>multiple sclerosis</a:t>
            </a:r>
            <a:r>
              <a:rPr lang="en-GB" dirty="0" smtClean="0">
                <a:latin typeface="Gabriola" pitchFamily="82" charset="0"/>
              </a:rPr>
              <a:t>.</a:t>
            </a:r>
          </a:p>
          <a:p>
            <a:pPr>
              <a:lnSpc>
                <a:spcPct val="150000"/>
              </a:lnSpc>
            </a:pPr>
            <a:endParaRPr lang="en-GB" sz="2800" dirty="0">
              <a:latin typeface="Gabriola" pitchFamily="82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8C1DC-5FA9-43A2-B847-2657E975CFAD}" type="datetime1">
              <a:rPr lang="en-GB" smtClean="0"/>
              <a:t>21/11/2024</a:t>
            </a:fld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870879-168A-4CB6-A4A5-D501825799FC}" type="slidenum">
              <a:rPr lang="en-GB" smtClean="0"/>
              <a:t>37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9973623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504" y="274638"/>
            <a:ext cx="8579296" cy="706090"/>
          </a:xfrm>
        </p:spPr>
        <p:txBody>
          <a:bodyPr>
            <a:noAutofit/>
          </a:bodyPr>
          <a:lstStyle/>
          <a:p>
            <a:r>
              <a:rPr lang="en-GB" sz="3200" b="1" dirty="0" smtClean="0">
                <a:latin typeface="Times" pitchFamily="18" charset="0"/>
              </a:rPr>
              <a:t/>
            </a:r>
            <a:br>
              <a:rPr lang="en-GB" sz="3200" b="1" dirty="0" smtClean="0">
                <a:latin typeface="Times" pitchFamily="18" charset="0"/>
              </a:rPr>
            </a:br>
            <a:r>
              <a:rPr lang="en-GB" sz="3200" b="1" dirty="0" smtClean="0">
                <a:latin typeface="Times" pitchFamily="18" charset="0"/>
              </a:rPr>
              <a:t>4. Posterior Cord Syndrome (Dorsal Column Syndrome)</a:t>
            </a:r>
            <a:br>
              <a:rPr lang="en-GB" sz="3200" b="1" dirty="0" smtClean="0">
                <a:latin typeface="Times" pitchFamily="18" charset="0"/>
              </a:rPr>
            </a:br>
            <a:endParaRPr lang="en-GB" sz="3200" dirty="0">
              <a:latin typeface="Times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1052736"/>
            <a:ext cx="8507288" cy="5073427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GB" sz="2800" b="1" dirty="0" smtClean="0">
                <a:latin typeface="Gabriola" pitchFamily="82" charset="0"/>
              </a:rPr>
              <a:t>Pathophysiology</a:t>
            </a:r>
            <a:r>
              <a:rPr lang="en-GB" sz="2800" dirty="0" smtClean="0">
                <a:latin typeface="Gabriola" pitchFamily="82" charset="0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GB" dirty="0" smtClean="0">
                <a:latin typeface="Gabriola" pitchFamily="82" charset="0"/>
              </a:rPr>
              <a:t>Damage to the </a:t>
            </a:r>
            <a:r>
              <a:rPr lang="en-GB" b="1" dirty="0" smtClean="0">
                <a:latin typeface="Gabriola" pitchFamily="82" charset="0"/>
              </a:rPr>
              <a:t>posterior columns</a:t>
            </a:r>
            <a:r>
              <a:rPr lang="en-GB" dirty="0" smtClean="0">
                <a:latin typeface="Gabriola" pitchFamily="82" charset="0"/>
              </a:rPr>
              <a:t> (dorsal columns) of the spinal cord, often due to </a:t>
            </a:r>
            <a:r>
              <a:rPr lang="en-GB" b="1" dirty="0" smtClean="0">
                <a:latin typeface="Gabriola" pitchFamily="82" charset="0"/>
              </a:rPr>
              <a:t>vascular events</a:t>
            </a:r>
            <a:r>
              <a:rPr lang="en-GB" dirty="0" smtClean="0">
                <a:latin typeface="Gabriola" pitchFamily="82" charset="0"/>
              </a:rPr>
              <a:t> or </a:t>
            </a:r>
            <a:r>
              <a:rPr lang="en-GB" b="1" dirty="0" err="1" smtClean="0">
                <a:latin typeface="Gabriola" pitchFamily="82" charset="0"/>
              </a:rPr>
              <a:t>tumors</a:t>
            </a:r>
            <a:r>
              <a:rPr lang="en-GB" dirty="0" smtClean="0">
                <a:latin typeface="Gabriola" pitchFamily="82" charset="0"/>
              </a:rPr>
              <a:t>.</a:t>
            </a:r>
          </a:p>
          <a:p>
            <a:pPr lvl="1">
              <a:lnSpc>
                <a:spcPct val="150000"/>
              </a:lnSpc>
            </a:pPr>
            <a:r>
              <a:rPr lang="en-GB" dirty="0" smtClean="0">
                <a:latin typeface="Gabriola" pitchFamily="82" charset="0"/>
              </a:rPr>
              <a:t>Typically results from injury to the </a:t>
            </a:r>
            <a:r>
              <a:rPr lang="en-GB" b="1" dirty="0" smtClean="0">
                <a:latin typeface="Gabriola" pitchFamily="82" charset="0"/>
              </a:rPr>
              <a:t>posterior spinal arteries</a:t>
            </a:r>
            <a:r>
              <a:rPr lang="en-GB" dirty="0" smtClean="0">
                <a:latin typeface="Gabriola" pitchFamily="82" charset="0"/>
              </a:rPr>
              <a:t> or compression of the cord from a mass lesion.</a:t>
            </a:r>
          </a:p>
          <a:p>
            <a:pPr>
              <a:lnSpc>
                <a:spcPct val="150000"/>
              </a:lnSpc>
            </a:pPr>
            <a:r>
              <a:rPr lang="en-GB" sz="2800" b="1" dirty="0" smtClean="0">
                <a:latin typeface="Gabriola" pitchFamily="82" charset="0"/>
              </a:rPr>
              <a:t>Clinical Features</a:t>
            </a:r>
            <a:r>
              <a:rPr lang="en-GB" sz="2800" dirty="0" smtClean="0">
                <a:latin typeface="Gabriola" pitchFamily="82" charset="0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GB" b="1" dirty="0" smtClean="0">
                <a:latin typeface="Gabriola" pitchFamily="82" charset="0"/>
              </a:rPr>
              <a:t>Loss of proprioception</a:t>
            </a:r>
            <a:r>
              <a:rPr lang="en-GB" dirty="0" smtClean="0">
                <a:latin typeface="Gabriola" pitchFamily="82" charset="0"/>
              </a:rPr>
              <a:t>, </a:t>
            </a:r>
            <a:r>
              <a:rPr lang="en-GB" b="1" dirty="0" smtClean="0">
                <a:latin typeface="Gabriola" pitchFamily="82" charset="0"/>
              </a:rPr>
              <a:t>vibration sense</a:t>
            </a:r>
            <a:r>
              <a:rPr lang="en-GB" dirty="0" smtClean="0">
                <a:latin typeface="Gabriola" pitchFamily="82" charset="0"/>
              </a:rPr>
              <a:t>, and </a:t>
            </a:r>
            <a:r>
              <a:rPr lang="en-GB" b="1" dirty="0" smtClean="0">
                <a:latin typeface="Gabriola" pitchFamily="82" charset="0"/>
              </a:rPr>
              <a:t>light touch</a:t>
            </a:r>
            <a:r>
              <a:rPr lang="en-GB" dirty="0" smtClean="0">
                <a:latin typeface="Gabriola" pitchFamily="82" charset="0"/>
              </a:rPr>
              <a:t> below the level of injury (due to posterior column involvement).</a:t>
            </a:r>
          </a:p>
          <a:p>
            <a:pPr>
              <a:lnSpc>
                <a:spcPct val="150000"/>
              </a:lnSpc>
            </a:pPr>
            <a:endParaRPr lang="en-GB" sz="2800" dirty="0">
              <a:latin typeface="Gabriola" pitchFamily="82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572B6-489B-477F-8D50-68ACD0AA6304}" type="datetime1">
              <a:rPr lang="en-GB" smtClean="0"/>
              <a:t>21/11/2024</a:t>
            </a:fld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870879-168A-4CB6-A4A5-D501825799FC}" type="slidenum">
              <a:rPr lang="en-GB" smtClean="0"/>
              <a:t>38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5475691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504" y="274638"/>
            <a:ext cx="8579296" cy="562074"/>
          </a:xfrm>
        </p:spPr>
        <p:txBody>
          <a:bodyPr>
            <a:normAutofit fontScale="90000"/>
          </a:bodyPr>
          <a:lstStyle/>
          <a:p>
            <a:pPr algn="r"/>
            <a:r>
              <a:rPr lang="en-GB" dirty="0" smtClean="0"/>
              <a:t>Cont..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1052736"/>
            <a:ext cx="8507288" cy="5073427"/>
          </a:xfrm>
        </p:spPr>
        <p:txBody>
          <a:bodyPr>
            <a:normAutofit/>
          </a:bodyPr>
          <a:lstStyle/>
          <a:p>
            <a:pPr lvl="1">
              <a:lnSpc>
                <a:spcPct val="150000"/>
              </a:lnSpc>
            </a:pPr>
            <a:r>
              <a:rPr lang="en-GB" b="1" dirty="0" smtClean="0">
                <a:latin typeface="Gabriola" pitchFamily="82" charset="0"/>
              </a:rPr>
              <a:t>Motor function</a:t>
            </a:r>
            <a:r>
              <a:rPr lang="en-GB" dirty="0" smtClean="0">
                <a:latin typeface="Gabriola" pitchFamily="82" charset="0"/>
              </a:rPr>
              <a:t>: Often </a:t>
            </a:r>
            <a:r>
              <a:rPr lang="en-GB" b="1" dirty="0" smtClean="0">
                <a:latin typeface="Gabriola" pitchFamily="82" charset="0"/>
              </a:rPr>
              <a:t>preserved</a:t>
            </a:r>
            <a:r>
              <a:rPr lang="en-GB" dirty="0" smtClean="0">
                <a:latin typeface="Gabriola" pitchFamily="82" charset="0"/>
              </a:rPr>
              <a:t>, as the </a:t>
            </a:r>
            <a:r>
              <a:rPr lang="en-GB" dirty="0" err="1" smtClean="0">
                <a:latin typeface="Gabriola" pitchFamily="82" charset="0"/>
              </a:rPr>
              <a:t>corticospinal</a:t>
            </a:r>
            <a:r>
              <a:rPr lang="en-GB" dirty="0" smtClean="0">
                <a:latin typeface="Gabriola" pitchFamily="82" charset="0"/>
              </a:rPr>
              <a:t> tract is unaffected.</a:t>
            </a:r>
          </a:p>
          <a:p>
            <a:pPr lvl="1">
              <a:lnSpc>
                <a:spcPct val="150000"/>
              </a:lnSpc>
            </a:pPr>
            <a:r>
              <a:rPr lang="en-GB" b="1" dirty="0" smtClean="0">
                <a:latin typeface="Gabriola" pitchFamily="82" charset="0"/>
              </a:rPr>
              <a:t>Pain and temperature sensation</a:t>
            </a:r>
            <a:r>
              <a:rPr lang="en-GB" dirty="0" smtClean="0">
                <a:latin typeface="Gabriola" pitchFamily="82" charset="0"/>
              </a:rPr>
              <a:t> usually preserved.</a:t>
            </a:r>
          </a:p>
          <a:p>
            <a:pPr>
              <a:lnSpc>
                <a:spcPct val="150000"/>
              </a:lnSpc>
            </a:pPr>
            <a:r>
              <a:rPr lang="en-GB" sz="2800" b="1" dirty="0" smtClean="0">
                <a:latin typeface="Gabriola" pitchFamily="82" charset="0"/>
              </a:rPr>
              <a:t>Cause</a:t>
            </a:r>
            <a:r>
              <a:rPr lang="en-GB" sz="2800" dirty="0" smtClean="0">
                <a:latin typeface="Gabriola" pitchFamily="82" charset="0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GB" b="1" dirty="0" smtClean="0">
                <a:latin typeface="Gabriola" pitchFamily="82" charset="0"/>
              </a:rPr>
              <a:t>Ischemia</a:t>
            </a:r>
            <a:r>
              <a:rPr lang="en-GB" dirty="0" smtClean="0">
                <a:latin typeface="Gabriola" pitchFamily="82" charset="0"/>
              </a:rPr>
              <a:t>, </a:t>
            </a:r>
            <a:r>
              <a:rPr lang="en-GB" b="1" dirty="0" err="1" smtClean="0">
                <a:latin typeface="Gabriola" pitchFamily="82" charset="0"/>
              </a:rPr>
              <a:t>tumors</a:t>
            </a:r>
            <a:r>
              <a:rPr lang="en-GB" dirty="0" smtClean="0">
                <a:latin typeface="Gabriola" pitchFamily="82" charset="0"/>
              </a:rPr>
              <a:t>, or </a:t>
            </a:r>
            <a:r>
              <a:rPr lang="en-GB" b="1" dirty="0" smtClean="0">
                <a:latin typeface="Gabriola" pitchFamily="82" charset="0"/>
              </a:rPr>
              <a:t>trauma</a:t>
            </a:r>
            <a:r>
              <a:rPr lang="en-GB" dirty="0" smtClean="0">
                <a:latin typeface="Gabriola" pitchFamily="82" charset="0"/>
              </a:rPr>
              <a:t> affecting the posterior cord.</a:t>
            </a:r>
          </a:p>
          <a:p>
            <a:pPr>
              <a:lnSpc>
                <a:spcPct val="150000"/>
              </a:lnSpc>
            </a:pPr>
            <a:endParaRPr lang="en-GB" sz="2800" dirty="0">
              <a:latin typeface="Gabriola" pitchFamily="82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52E8D-58FE-4C1F-BE36-58EBD6A0FD78}" type="datetime1">
              <a:rPr lang="en-GB" smtClean="0"/>
              <a:t>21/11/2024</a:t>
            </a:fld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870879-168A-4CB6-A4A5-D501825799FC}" type="slidenum">
              <a:rPr lang="en-GB" smtClean="0"/>
              <a:t>39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720326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108A5-0725-426B-9421-2A7AB83FB2C0}" type="datetime1">
              <a:rPr lang="en-GB" smtClean="0"/>
              <a:t>21/11/2024</a:t>
            </a:fld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870879-168A-4CB6-A4A5-D501825799FC}" type="slidenum">
              <a:rPr lang="en-GB" smtClean="0"/>
              <a:t>40</a:t>
            </a:fld>
            <a:endParaRPr lang="en-GB"/>
          </a:p>
        </p:txBody>
      </p:sp>
      <p:pic>
        <p:nvPicPr>
          <p:cNvPr id="6" name="Content Placeholder 5" descr="C:\Users\Afei\Desktop\anesthesia for trauma\trauma 2024\Schematic-diagram-of-four-classically-described-incomplete-spinal-cord-injury-syndromes.png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6" y="404664"/>
            <a:ext cx="9001000" cy="58326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4716522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504" y="274638"/>
            <a:ext cx="8579296" cy="562074"/>
          </a:xfrm>
        </p:spPr>
        <p:txBody>
          <a:bodyPr>
            <a:normAutofit fontScale="90000"/>
          </a:bodyPr>
          <a:lstStyle/>
          <a:p>
            <a:r>
              <a:rPr lang="en-GB" b="1" dirty="0" smtClean="0"/>
              <a:t>6. </a:t>
            </a:r>
            <a:r>
              <a:rPr lang="en-GB" b="1" dirty="0" err="1" smtClean="0"/>
              <a:t>Cauda</a:t>
            </a:r>
            <a:r>
              <a:rPr lang="en-GB" b="1" dirty="0" smtClean="0"/>
              <a:t> </a:t>
            </a:r>
            <a:r>
              <a:rPr lang="en-GB" b="1" dirty="0" err="1" smtClean="0"/>
              <a:t>Equina</a:t>
            </a:r>
            <a:r>
              <a:rPr lang="en-GB" b="1" dirty="0" smtClean="0"/>
              <a:t> Syndrome</a:t>
            </a:r>
            <a:br>
              <a:rPr lang="en-GB" b="1" dirty="0" smtClean="0"/>
            </a:b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836712"/>
            <a:ext cx="8856984" cy="5544616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GB" sz="2800" b="1" dirty="0" smtClean="0">
                <a:latin typeface="Gabriola" pitchFamily="82" charset="0"/>
              </a:rPr>
              <a:t>Pathophysiology</a:t>
            </a:r>
            <a:r>
              <a:rPr lang="en-GB" sz="2800" dirty="0" smtClean="0">
                <a:latin typeface="Gabriola" pitchFamily="82" charset="0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GB" dirty="0" smtClean="0">
                <a:latin typeface="Gabriola" pitchFamily="82" charset="0"/>
              </a:rPr>
              <a:t>Injury to the </a:t>
            </a:r>
            <a:r>
              <a:rPr lang="en-GB" b="1" dirty="0" smtClean="0">
                <a:latin typeface="Gabriola" pitchFamily="82" charset="0"/>
              </a:rPr>
              <a:t>nerve roots</a:t>
            </a:r>
            <a:r>
              <a:rPr lang="en-GB" dirty="0" smtClean="0">
                <a:latin typeface="Gabriola" pitchFamily="82" charset="0"/>
              </a:rPr>
              <a:t> below the </a:t>
            </a:r>
            <a:r>
              <a:rPr lang="en-GB" b="1" dirty="0" err="1" smtClean="0">
                <a:latin typeface="Gabriola" pitchFamily="82" charset="0"/>
              </a:rPr>
              <a:t>conus</a:t>
            </a:r>
            <a:r>
              <a:rPr lang="en-GB" b="1" dirty="0" smtClean="0">
                <a:latin typeface="Gabriola" pitchFamily="82" charset="0"/>
              </a:rPr>
              <a:t> </a:t>
            </a:r>
            <a:r>
              <a:rPr lang="en-GB" b="1" dirty="0" err="1" smtClean="0">
                <a:latin typeface="Gabriola" pitchFamily="82" charset="0"/>
              </a:rPr>
              <a:t>medullaris</a:t>
            </a:r>
            <a:r>
              <a:rPr lang="en-GB" dirty="0" smtClean="0">
                <a:latin typeface="Gabriola" pitchFamily="82" charset="0"/>
              </a:rPr>
              <a:t> (the </a:t>
            </a:r>
            <a:r>
              <a:rPr lang="en-GB" dirty="0" err="1" smtClean="0">
                <a:latin typeface="Gabriola" pitchFamily="82" charset="0"/>
              </a:rPr>
              <a:t>cauda</a:t>
            </a:r>
            <a:r>
              <a:rPr lang="en-GB" dirty="0" smtClean="0">
                <a:latin typeface="Gabriola" pitchFamily="82" charset="0"/>
              </a:rPr>
              <a:t> </a:t>
            </a:r>
            <a:r>
              <a:rPr lang="en-GB" dirty="0" err="1" smtClean="0">
                <a:latin typeface="Gabriola" pitchFamily="82" charset="0"/>
              </a:rPr>
              <a:t>equina</a:t>
            </a:r>
            <a:r>
              <a:rPr lang="en-GB" dirty="0" smtClean="0">
                <a:latin typeface="Gabriola" pitchFamily="82" charset="0"/>
              </a:rPr>
              <a:t>), affecting the lower lumbar and sacral spinal roots.</a:t>
            </a:r>
          </a:p>
          <a:p>
            <a:pPr lvl="1">
              <a:lnSpc>
                <a:spcPct val="150000"/>
              </a:lnSpc>
            </a:pPr>
            <a:r>
              <a:rPr lang="en-GB" dirty="0" smtClean="0">
                <a:latin typeface="Gabriola" pitchFamily="82" charset="0"/>
              </a:rPr>
              <a:t>Caused by </a:t>
            </a:r>
            <a:r>
              <a:rPr lang="en-GB" b="1" dirty="0" smtClean="0">
                <a:latin typeface="Gabriola" pitchFamily="82" charset="0"/>
              </a:rPr>
              <a:t>herniated discs</a:t>
            </a:r>
            <a:r>
              <a:rPr lang="en-GB" dirty="0" smtClean="0">
                <a:latin typeface="Gabriola" pitchFamily="82" charset="0"/>
              </a:rPr>
              <a:t>, </a:t>
            </a:r>
            <a:r>
              <a:rPr lang="en-GB" b="1" dirty="0" smtClean="0">
                <a:latin typeface="Gabriola" pitchFamily="82" charset="0"/>
              </a:rPr>
              <a:t>spinal </a:t>
            </a:r>
            <a:r>
              <a:rPr lang="en-GB" b="1" dirty="0" err="1" smtClean="0">
                <a:latin typeface="Gabriola" pitchFamily="82" charset="0"/>
              </a:rPr>
              <a:t>tumors</a:t>
            </a:r>
            <a:r>
              <a:rPr lang="en-GB" dirty="0" smtClean="0">
                <a:latin typeface="Gabriola" pitchFamily="82" charset="0"/>
              </a:rPr>
              <a:t>, or </a:t>
            </a:r>
            <a:r>
              <a:rPr lang="en-GB" b="1" dirty="0" smtClean="0">
                <a:latin typeface="Gabriola" pitchFamily="82" charset="0"/>
              </a:rPr>
              <a:t>trauma</a:t>
            </a:r>
            <a:r>
              <a:rPr lang="en-GB" dirty="0" smtClean="0">
                <a:latin typeface="Gabriola" pitchFamily="82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GB" sz="2800" b="1" dirty="0" smtClean="0">
                <a:latin typeface="Gabriola" pitchFamily="82" charset="0"/>
              </a:rPr>
              <a:t>Clinical Features</a:t>
            </a:r>
            <a:r>
              <a:rPr lang="en-GB" sz="2800" dirty="0" smtClean="0">
                <a:latin typeface="Gabriola" pitchFamily="82" charset="0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GB" dirty="0" smtClean="0">
                <a:latin typeface="Gabriola" pitchFamily="82" charset="0"/>
              </a:rPr>
              <a:t>Severe lower back pain.</a:t>
            </a:r>
          </a:p>
          <a:p>
            <a:pPr lvl="1">
              <a:lnSpc>
                <a:spcPct val="150000"/>
              </a:lnSpc>
            </a:pPr>
            <a:r>
              <a:rPr lang="en-GB" dirty="0" smtClean="0">
                <a:latin typeface="Gabriola" pitchFamily="82" charset="0"/>
              </a:rPr>
              <a:t>Saddle </a:t>
            </a:r>
            <a:r>
              <a:rPr lang="en-GB" dirty="0" err="1" smtClean="0">
                <a:latin typeface="Gabriola" pitchFamily="82" charset="0"/>
              </a:rPr>
              <a:t>anesthesia</a:t>
            </a:r>
            <a:r>
              <a:rPr lang="en-GB" dirty="0" smtClean="0">
                <a:latin typeface="Gabriola" pitchFamily="82" charset="0"/>
              </a:rPr>
              <a:t>: Loss of sensation in the buttocks, genitalia, and inner thighs.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4F23B6-2846-4D8B-9C58-F3E67476995F}" type="datetime1">
              <a:rPr lang="en-GB" smtClean="0"/>
              <a:t>21/11/2024</a:t>
            </a:fld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870879-168A-4CB6-A4A5-D501825799FC}" type="slidenum">
              <a:rPr lang="en-GB" smtClean="0"/>
              <a:t>41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5101467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74638"/>
            <a:ext cx="8686800" cy="418058"/>
          </a:xfrm>
        </p:spPr>
        <p:txBody>
          <a:bodyPr>
            <a:normAutofit fontScale="90000"/>
          </a:bodyPr>
          <a:lstStyle/>
          <a:p>
            <a:pPr algn="r"/>
            <a:r>
              <a:rPr lang="en-GB" dirty="0" smtClean="0"/>
              <a:t>Cont..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504" y="908720"/>
            <a:ext cx="8712968" cy="5688632"/>
          </a:xfrm>
        </p:spPr>
        <p:txBody>
          <a:bodyPr>
            <a:normAutofit/>
          </a:bodyPr>
          <a:lstStyle/>
          <a:p>
            <a:pPr lvl="1">
              <a:lnSpc>
                <a:spcPct val="150000"/>
              </a:lnSpc>
            </a:pPr>
            <a:r>
              <a:rPr lang="en-GB" dirty="0">
                <a:latin typeface="Gabriola" pitchFamily="82" charset="0"/>
              </a:rPr>
              <a:t>Bilateral leg weakness or paralysis (often asymmetric</a:t>
            </a:r>
            <a:r>
              <a:rPr lang="en-GB" dirty="0" smtClean="0">
                <a:latin typeface="Gabriola" pitchFamily="82" charset="0"/>
              </a:rPr>
              <a:t>).</a:t>
            </a:r>
          </a:p>
          <a:p>
            <a:pPr lvl="1">
              <a:lnSpc>
                <a:spcPct val="150000"/>
              </a:lnSpc>
            </a:pPr>
            <a:r>
              <a:rPr lang="en-GB" dirty="0" smtClean="0">
                <a:latin typeface="Gabriola" pitchFamily="82" charset="0"/>
              </a:rPr>
              <a:t>Bladder and bowel dysfunction (urinary retention, incontinence).</a:t>
            </a:r>
          </a:p>
          <a:p>
            <a:pPr lvl="1">
              <a:lnSpc>
                <a:spcPct val="150000"/>
              </a:lnSpc>
            </a:pPr>
            <a:r>
              <a:rPr lang="en-GB" dirty="0" smtClean="0">
                <a:latin typeface="Gabriola" pitchFamily="82" charset="0"/>
              </a:rPr>
              <a:t>Sexual dysfunction.</a:t>
            </a:r>
          </a:p>
          <a:p>
            <a:pPr lvl="1">
              <a:lnSpc>
                <a:spcPct val="150000"/>
              </a:lnSpc>
            </a:pPr>
            <a:r>
              <a:rPr lang="en-GB" dirty="0" smtClean="0">
                <a:latin typeface="Gabriola" pitchFamily="82" charset="0"/>
              </a:rPr>
              <a:t>Absent or diminished reflexes in the lower extremities.</a:t>
            </a:r>
          </a:p>
          <a:p>
            <a:pPr>
              <a:lnSpc>
                <a:spcPct val="150000"/>
              </a:lnSpc>
            </a:pPr>
            <a:r>
              <a:rPr lang="en-GB" sz="2800" b="1" dirty="0" smtClean="0">
                <a:latin typeface="Gabriola" pitchFamily="82" charset="0"/>
              </a:rPr>
              <a:t>Cause</a:t>
            </a:r>
            <a:r>
              <a:rPr lang="en-GB" sz="2800" dirty="0" smtClean="0">
                <a:latin typeface="Gabriola" pitchFamily="82" charset="0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GB" b="1" dirty="0" smtClean="0">
                <a:latin typeface="Gabriola" pitchFamily="82" charset="0"/>
              </a:rPr>
              <a:t>Compression</a:t>
            </a:r>
            <a:r>
              <a:rPr lang="en-GB" dirty="0" smtClean="0">
                <a:latin typeface="Gabriola" pitchFamily="82" charset="0"/>
              </a:rPr>
              <a:t> of the </a:t>
            </a:r>
            <a:r>
              <a:rPr lang="en-GB" dirty="0" err="1" smtClean="0">
                <a:latin typeface="Gabriola" pitchFamily="82" charset="0"/>
              </a:rPr>
              <a:t>cauda</a:t>
            </a:r>
            <a:r>
              <a:rPr lang="en-GB" dirty="0" smtClean="0">
                <a:latin typeface="Gabriola" pitchFamily="82" charset="0"/>
              </a:rPr>
              <a:t> </a:t>
            </a:r>
            <a:r>
              <a:rPr lang="en-GB" dirty="0" err="1" smtClean="0">
                <a:latin typeface="Gabriola" pitchFamily="82" charset="0"/>
              </a:rPr>
              <a:t>equina</a:t>
            </a:r>
            <a:r>
              <a:rPr lang="en-GB" dirty="0" smtClean="0">
                <a:latin typeface="Gabriola" pitchFamily="82" charset="0"/>
              </a:rPr>
              <a:t> nerve roots, requiring </a:t>
            </a:r>
            <a:r>
              <a:rPr lang="en-GB" b="1" dirty="0" smtClean="0">
                <a:latin typeface="Gabriola" pitchFamily="82" charset="0"/>
              </a:rPr>
              <a:t>urgent surgical intervention</a:t>
            </a:r>
            <a:r>
              <a:rPr lang="en-GB" dirty="0" smtClean="0">
                <a:latin typeface="Gabriola" pitchFamily="82" charset="0"/>
              </a:rPr>
              <a:t>.</a:t>
            </a:r>
          </a:p>
          <a:p>
            <a:pPr>
              <a:lnSpc>
                <a:spcPct val="150000"/>
              </a:lnSpc>
            </a:pPr>
            <a:endParaRPr lang="en-GB" sz="2800" dirty="0">
              <a:latin typeface="Gabriola" pitchFamily="82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7F62FE-A49D-415E-8F29-8E4611BCB8AB}" type="datetime1">
              <a:rPr lang="en-GB" smtClean="0"/>
              <a:t>21/11/2024</a:t>
            </a:fld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870879-168A-4CB6-A4A5-D501825799FC}" type="slidenum">
              <a:rPr lang="en-GB" smtClean="0"/>
              <a:t>42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8669788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504" y="274638"/>
            <a:ext cx="8579296" cy="634082"/>
          </a:xfrm>
        </p:spPr>
        <p:txBody>
          <a:bodyPr>
            <a:normAutofit fontScale="90000"/>
          </a:bodyPr>
          <a:lstStyle/>
          <a:p>
            <a:r>
              <a:rPr lang="en-GB" b="1" dirty="0" smtClean="0"/>
              <a:t>7. Spinal Shock</a:t>
            </a:r>
            <a:br>
              <a:rPr lang="en-GB" b="1" dirty="0" smtClean="0"/>
            </a:b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908720"/>
            <a:ext cx="8435280" cy="5217443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GB" sz="2800" b="1" dirty="0" smtClean="0">
                <a:latin typeface="Gabriola" pitchFamily="82" charset="0"/>
              </a:rPr>
              <a:t>Pathophysiology</a:t>
            </a:r>
            <a:r>
              <a:rPr lang="en-GB" sz="2800" dirty="0" smtClean="0">
                <a:latin typeface="Gabriola" pitchFamily="82" charset="0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GB" dirty="0" smtClean="0">
                <a:latin typeface="Gabriola" pitchFamily="82" charset="0"/>
              </a:rPr>
              <a:t>A </a:t>
            </a:r>
            <a:r>
              <a:rPr lang="en-GB" b="1" dirty="0" smtClean="0">
                <a:latin typeface="Gabriola" pitchFamily="82" charset="0"/>
              </a:rPr>
              <a:t>temporary loss of all spinal cord activity</a:t>
            </a:r>
            <a:r>
              <a:rPr lang="en-GB" dirty="0" smtClean="0">
                <a:latin typeface="Gabriola" pitchFamily="82" charset="0"/>
              </a:rPr>
              <a:t> below the level of injury, occurring immediately after SCI.</a:t>
            </a:r>
          </a:p>
          <a:p>
            <a:pPr lvl="1">
              <a:lnSpc>
                <a:spcPct val="150000"/>
              </a:lnSpc>
            </a:pPr>
            <a:r>
              <a:rPr lang="en-GB" dirty="0" smtClean="0">
                <a:latin typeface="Gabriola" pitchFamily="82" charset="0"/>
              </a:rPr>
              <a:t>The injury results in a </a:t>
            </a:r>
            <a:r>
              <a:rPr lang="en-GB" b="1" dirty="0" smtClean="0">
                <a:latin typeface="Gabriola" pitchFamily="82" charset="0"/>
              </a:rPr>
              <a:t>reflex arc disruption</a:t>
            </a:r>
            <a:r>
              <a:rPr lang="en-GB" dirty="0" smtClean="0">
                <a:latin typeface="Gabriola" pitchFamily="82" charset="0"/>
              </a:rPr>
              <a:t>, and the spinal cord becomes atonic and reflexes are lost.</a:t>
            </a:r>
          </a:p>
          <a:p>
            <a:pPr>
              <a:lnSpc>
                <a:spcPct val="150000"/>
              </a:lnSpc>
            </a:pPr>
            <a:r>
              <a:rPr lang="en-GB" sz="2800" b="1" dirty="0" smtClean="0">
                <a:latin typeface="Gabriola" pitchFamily="82" charset="0"/>
              </a:rPr>
              <a:t>Clinical Features</a:t>
            </a:r>
            <a:r>
              <a:rPr lang="en-GB" sz="2800" dirty="0" smtClean="0">
                <a:latin typeface="Gabriola" pitchFamily="82" charset="0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GB" dirty="0" smtClean="0">
                <a:latin typeface="Gabriola" pitchFamily="82" charset="0"/>
              </a:rPr>
              <a:t>Flaccid paralysis below the level of injury.</a:t>
            </a:r>
          </a:p>
          <a:p>
            <a:pPr lvl="1">
              <a:lnSpc>
                <a:spcPct val="150000"/>
              </a:lnSpc>
            </a:pPr>
            <a:r>
              <a:rPr lang="en-GB" dirty="0" smtClean="0">
                <a:latin typeface="Gabriola" pitchFamily="82" charset="0"/>
              </a:rPr>
              <a:t>Loss of reflexes, including the </a:t>
            </a:r>
            <a:r>
              <a:rPr lang="en-GB" dirty="0" err="1" smtClean="0">
                <a:latin typeface="Gabriola" pitchFamily="82" charset="0"/>
              </a:rPr>
              <a:t>bulbocavernosus</a:t>
            </a:r>
            <a:r>
              <a:rPr lang="en-GB" dirty="0" smtClean="0">
                <a:latin typeface="Gabriola" pitchFamily="82" charset="0"/>
              </a:rPr>
              <a:t> reflex.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770F9-3184-42E3-94C5-8033A9D85AC8}" type="datetime1">
              <a:rPr lang="en-GB" smtClean="0"/>
              <a:t>21/11/2024</a:t>
            </a:fld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870879-168A-4CB6-A4A5-D501825799FC}" type="slidenum">
              <a:rPr lang="en-GB" smtClean="0"/>
              <a:t>43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3862671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274638"/>
            <a:ext cx="8507288" cy="490066"/>
          </a:xfrm>
        </p:spPr>
        <p:txBody>
          <a:bodyPr>
            <a:normAutofit fontScale="90000"/>
          </a:bodyPr>
          <a:lstStyle/>
          <a:p>
            <a:pPr algn="r"/>
            <a:r>
              <a:rPr lang="en-GB" dirty="0" smtClean="0"/>
              <a:t>Cont..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1124744"/>
            <a:ext cx="8363272" cy="5001419"/>
          </a:xfrm>
        </p:spPr>
        <p:txBody>
          <a:bodyPr>
            <a:normAutofit/>
          </a:bodyPr>
          <a:lstStyle/>
          <a:p>
            <a:pPr lvl="1">
              <a:lnSpc>
                <a:spcPct val="150000"/>
              </a:lnSpc>
            </a:pPr>
            <a:r>
              <a:rPr lang="en-GB" b="1" dirty="0" smtClean="0">
                <a:latin typeface="Gabriola" pitchFamily="82" charset="0"/>
              </a:rPr>
              <a:t>Hypotension and </a:t>
            </a:r>
            <a:r>
              <a:rPr lang="en-GB" b="1" dirty="0" err="1" smtClean="0">
                <a:latin typeface="Gabriola" pitchFamily="82" charset="0"/>
              </a:rPr>
              <a:t>bradycardia</a:t>
            </a:r>
            <a:r>
              <a:rPr lang="en-GB" b="1" dirty="0" smtClean="0">
                <a:latin typeface="Gabriola" pitchFamily="82" charset="0"/>
              </a:rPr>
              <a:t> </a:t>
            </a:r>
            <a:r>
              <a:rPr lang="en-GB" dirty="0" smtClean="0">
                <a:latin typeface="Gabriola" pitchFamily="82" charset="0"/>
              </a:rPr>
              <a:t>due to loss of sympathetic tone.</a:t>
            </a:r>
          </a:p>
          <a:p>
            <a:pPr lvl="1">
              <a:lnSpc>
                <a:spcPct val="150000"/>
              </a:lnSpc>
            </a:pPr>
            <a:r>
              <a:rPr lang="en-GB" b="1" dirty="0" err="1" smtClean="0">
                <a:latin typeface="Gabriola" pitchFamily="82" charset="0"/>
              </a:rPr>
              <a:t>Areflexia</a:t>
            </a:r>
            <a:r>
              <a:rPr lang="en-GB" dirty="0" smtClean="0">
                <a:latin typeface="Gabriola" pitchFamily="82" charset="0"/>
              </a:rPr>
              <a:t>: No voluntary movement or sensation.</a:t>
            </a:r>
          </a:p>
          <a:p>
            <a:pPr>
              <a:lnSpc>
                <a:spcPct val="150000"/>
              </a:lnSpc>
            </a:pPr>
            <a:r>
              <a:rPr lang="en-GB" sz="2800" b="1" dirty="0" smtClean="0">
                <a:latin typeface="Gabriola" pitchFamily="82" charset="0"/>
              </a:rPr>
              <a:t>Cause:</a:t>
            </a:r>
          </a:p>
          <a:p>
            <a:pPr lvl="1">
              <a:lnSpc>
                <a:spcPct val="150000"/>
              </a:lnSpc>
            </a:pPr>
            <a:r>
              <a:rPr lang="en-GB" dirty="0" smtClean="0">
                <a:latin typeface="Gabriola" pitchFamily="82" charset="0"/>
              </a:rPr>
              <a:t>Acute SCI; resolves over days to weeks as spinal cord activity gradually returns.</a:t>
            </a:r>
          </a:p>
          <a:p>
            <a:pPr>
              <a:lnSpc>
                <a:spcPct val="150000"/>
              </a:lnSpc>
            </a:pPr>
            <a:endParaRPr lang="en-GB" sz="2800" b="1" dirty="0" smtClean="0">
              <a:latin typeface="Gabriola" pitchFamily="82" charset="0"/>
            </a:endParaRPr>
          </a:p>
          <a:p>
            <a:pPr>
              <a:lnSpc>
                <a:spcPct val="150000"/>
              </a:lnSpc>
            </a:pPr>
            <a:endParaRPr lang="en-GB" sz="2800" b="1" dirty="0">
              <a:latin typeface="Gabriola" pitchFamily="82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60AC01-F477-45A8-8250-3E6EB926D362}" type="datetime1">
              <a:rPr lang="en-GB" smtClean="0"/>
              <a:t>21/11/2024</a:t>
            </a:fld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870879-168A-4CB6-A4A5-D501825799FC}" type="slidenum">
              <a:rPr lang="en-GB" smtClean="0"/>
              <a:t>44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3459203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274638"/>
            <a:ext cx="8435280" cy="850106"/>
          </a:xfrm>
        </p:spPr>
        <p:txBody>
          <a:bodyPr>
            <a:normAutofit/>
          </a:bodyPr>
          <a:lstStyle/>
          <a:p>
            <a:r>
              <a:rPr lang="en-GB" b="1" dirty="0" smtClean="0">
                <a:latin typeface="Gabriola" pitchFamily="82" charset="0"/>
              </a:rPr>
              <a:t>Pathophysiology of Spinal Cord Injury</a:t>
            </a:r>
            <a:endParaRPr lang="en-GB" b="1" dirty="0">
              <a:latin typeface="Gabriola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1124744"/>
            <a:ext cx="8435280" cy="5001419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GB" sz="2800" b="1" dirty="0" smtClean="0">
                <a:latin typeface="Gabriola" pitchFamily="82" charset="0"/>
              </a:rPr>
              <a:t>Spinal Cord Injuries (SCIs)</a:t>
            </a:r>
            <a:r>
              <a:rPr lang="en-GB" sz="2800" dirty="0" smtClean="0">
                <a:latin typeface="Gabriola" pitchFamily="82" charset="0"/>
              </a:rPr>
              <a:t> arise from complex mechanisms that lead to varying degrees of neurologic deficits, depending on the injury's location and severity.</a:t>
            </a:r>
          </a:p>
          <a:p>
            <a:pPr>
              <a:lnSpc>
                <a:spcPct val="150000"/>
              </a:lnSpc>
            </a:pPr>
            <a:r>
              <a:rPr lang="en-GB" sz="2800" dirty="0" smtClean="0">
                <a:latin typeface="Gabriola" pitchFamily="82" charset="0"/>
              </a:rPr>
              <a:t> These mechanisms are classified into :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§"/>
            </a:pPr>
            <a:r>
              <a:rPr lang="en-GB" b="1" dirty="0" smtClean="0">
                <a:latin typeface="Gabriola" pitchFamily="82" charset="0"/>
              </a:rPr>
              <a:t>Primary</a:t>
            </a:r>
            <a:r>
              <a:rPr lang="en-GB" dirty="0" smtClean="0">
                <a:latin typeface="Gabriola" pitchFamily="82" charset="0"/>
              </a:rPr>
              <a:t> and 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§"/>
            </a:pPr>
            <a:r>
              <a:rPr lang="en-GB" b="1" dirty="0" smtClean="0">
                <a:latin typeface="Gabriola" pitchFamily="82" charset="0"/>
              </a:rPr>
              <a:t>Secondary</a:t>
            </a:r>
            <a:r>
              <a:rPr lang="en-GB" dirty="0" smtClean="0">
                <a:latin typeface="Gabriola" pitchFamily="82" charset="0"/>
              </a:rPr>
              <a:t> injuries</a:t>
            </a:r>
            <a:endParaRPr lang="en-GB" dirty="0">
              <a:latin typeface="Gabriola" pitchFamily="82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2307B-F1A7-4D9C-81C5-5380042BAC28}" type="datetime1">
              <a:rPr lang="en-GB" smtClean="0"/>
              <a:t>21/11/2024</a:t>
            </a:fld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870879-168A-4CB6-A4A5-D501825799FC}" type="slidenum">
              <a:rPr lang="en-GB" smtClean="0"/>
              <a:t>45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0458196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b="1" dirty="0" smtClean="0"/>
              <a:t>Primary Injury</a:t>
            </a:r>
            <a:br>
              <a:rPr lang="en-GB" b="1" dirty="0" smtClean="0"/>
            </a:b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908720"/>
            <a:ext cx="8712968" cy="5544616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60000"/>
              </a:lnSpc>
            </a:pPr>
            <a:r>
              <a:rPr lang="en-GB" dirty="0" smtClean="0">
                <a:latin typeface="Gabriola" pitchFamily="82" charset="0"/>
              </a:rPr>
              <a:t>The </a:t>
            </a:r>
            <a:r>
              <a:rPr lang="en-GB" b="1" dirty="0" smtClean="0">
                <a:latin typeface="Gabriola" pitchFamily="82" charset="0"/>
              </a:rPr>
              <a:t>primary injury</a:t>
            </a:r>
            <a:r>
              <a:rPr lang="en-GB" dirty="0" smtClean="0">
                <a:latin typeface="Gabriola" pitchFamily="82" charset="0"/>
              </a:rPr>
              <a:t> occurs at the moment of the traumatic event and results from direct mechanical forces that damage the spinal cord. </a:t>
            </a:r>
          </a:p>
          <a:p>
            <a:pPr>
              <a:lnSpc>
                <a:spcPct val="160000"/>
              </a:lnSpc>
            </a:pPr>
            <a:r>
              <a:rPr lang="en-GB" dirty="0" smtClean="0">
                <a:latin typeface="Gabriola" pitchFamily="82" charset="0"/>
              </a:rPr>
              <a:t>The common mechanisms include:</a:t>
            </a:r>
          </a:p>
          <a:p>
            <a:pPr lvl="1">
              <a:lnSpc>
                <a:spcPct val="160000"/>
              </a:lnSpc>
            </a:pPr>
            <a:r>
              <a:rPr lang="en-GB" b="1" dirty="0" smtClean="0">
                <a:latin typeface="Gabriola" pitchFamily="82" charset="0"/>
              </a:rPr>
              <a:t>Direct Cord Trauma</a:t>
            </a:r>
            <a:r>
              <a:rPr lang="en-GB" dirty="0" smtClean="0">
                <a:latin typeface="Gabriola" pitchFamily="82" charset="0"/>
              </a:rPr>
              <a:t>: The most frequent primary SCI mechanism, often resulting from an impact or compression.</a:t>
            </a:r>
          </a:p>
          <a:p>
            <a:pPr lvl="1">
              <a:lnSpc>
                <a:spcPct val="160000"/>
              </a:lnSpc>
            </a:pPr>
            <a:r>
              <a:rPr lang="en-GB" b="1" dirty="0" smtClean="0">
                <a:latin typeface="Gabriola" pitchFamily="82" charset="0"/>
              </a:rPr>
              <a:t>Persistent Compression</a:t>
            </a:r>
            <a:r>
              <a:rPr lang="en-GB" dirty="0" smtClean="0">
                <a:latin typeface="Gabriola" pitchFamily="82" charset="0"/>
              </a:rPr>
              <a:t>: Injuries that occur from prolonged pressure on the spinal cord, caused by space-occupying lesions such as:</a:t>
            </a:r>
          </a:p>
          <a:p>
            <a:pPr lvl="2">
              <a:lnSpc>
                <a:spcPct val="160000"/>
              </a:lnSpc>
            </a:pPr>
            <a:r>
              <a:rPr lang="en-GB" dirty="0" smtClean="0">
                <a:latin typeface="Gabriola" pitchFamily="82" charset="0"/>
              </a:rPr>
              <a:t>Vertebral fractures, Malignancies, Hematomas, Abscesses</a:t>
            </a:r>
          </a:p>
          <a:p>
            <a:pPr>
              <a:lnSpc>
                <a:spcPct val="160000"/>
              </a:lnSpc>
            </a:pPr>
            <a:endParaRPr lang="en-GB" dirty="0">
              <a:latin typeface="Gabriola" pitchFamily="82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E6AA0-1D99-4E4D-BF3F-8811E61CECF7}" type="datetime1">
              <a:rPr lang="en-GB" smtClean="0"/>
              <a:t>21/11/2024</a:t>
            </a:fld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870879-168A-4CB6-A4A5-D501825799FC}" type="slidenum">
              <a:rPr lang="en-GB" smtClean="0"/>
              <a:t>46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7583160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504" y="274638"/>
            <a:ext cx="8579296" cy="346050"/>
          </a:xfrm>
        </p:spPr>
        <p:txBody>
          <a:bodyPr>
            <a:normAutofit fontScale="90000"/>
          </a:bodyPr>
          <a:lstStyle/>
          <a:p>
            <a:pPr algn="r"/>
            <a:r>
              <a:rPr lang="en-GB" dirty="0" smtClean="0"/>
              <a:t>Cont..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764705"/>
            <a:ext cx="8712968" cy="5112568"/>
          </a:xfrm>
        </p:spPr>
        <p:txBody>
          <a:bodyPr>
            <a:noAutofit/>
          </a:bodyPr>
          <a:lstStyle/>
          <a:p>
            <a:pPr lvl="1">
              <a:lnSpc>
                <a:spcPct val="150000"/>
              </a:lnSpc>
            </a:pPr>
            <a:r>
              <a:rPr lang="en-GB" b="1" dirty="0" smtClean="0">
                <a:latin typeface="Gabriola" pitchFamily="82" charset="0"/>
              </a:rPr>
              <a:t>Hyperextension Injuries</a:t>
            </a:r>
            <a:r>
              <a:rPr lang="en-GB" dirty="0" smtClean="0">
                <a:latin typeface="Gabriola" pitchFamily="82" charset="0"/>
              </a:rPr>
              <a:t>: These injuries typically result from transient compression, rather than impact alone.</a:t>
            </a:r>
          </a:p>
          <a:p>
            <a:pPr lvl="2">
              <a:lnSpc>
                <a:spcPct val="150000"/>
              </a:lnSpc>
            </a:pPr>
            <a:r>
              <a:rPr lang="en-GB" sz="2800" dirty="0" smtClean="0">
                <a:latin typeface="Gabriola" pitchFamily="82" charset="0"/>
              </a:rPr>
              <a:t>typically </a:t>
            </a:r>
            <a:r>
              <a:rPr lang="en-GB" sz="2800" b="1" dirty="0" smtClean="0">
                <a:latin typeface="Gabriola" pitchFamily="82" charset="0"/>
              </a:rPr>
              <a:t>whiplash</a:t>
            </a:r>
            <a:r>
              <a:rPr lang="en-GB" sz="2800" dirty="0" smtClean="0">
                <a:latin typeface="Gabriola" pitchFamily="82" charset="0"/>
              </a:rPr>
              <a:t> or </a:t>
            </a:r>
            <a:r>
              <a:rPr lang="en-GB" sz="2800" b="1" dirty="0" smtClean="0">
                <a:latin typeface="Gabriola" pitchFamily="82" charset="0"/>
              </a:rPr>
              <a:t>sports-related injuries</a:t>
            </a:r>
          </a:p>
          <a:p>
            <a:pPr lvl="2">
              <a:lnSpc>
                <a:spcPct val="150000"/>
              </a:lnSpc>
            </a:pPr>
            <a:r>
              <a:rPr lang="en-GB" sz="2800" dirty="0" smtClean="0">
                <a:latin typeface="Gabriola" pitchFamily="82" charset="0"/>
              </a:rPr>
              <a:t>Can cause </a:t>
            </a:r>
            <a:r>
              <a:rPr lang="en-GB" sz="2800" b="1" dirty="0" smtClean="0">
                <a:latin typeface="Gabriola" pitchFamily="82" charset="0"/>
              </a:rPr>
              <a:t>soft tissue strain</a:t>
            </a:r>
            <a:r>
              <a:rPr lang="en-GB" sz="2800" dirty="0" smtClean="0">
                <a:latin typeface="Gabriola" pitchFamily="82" charset="0"/>
              </a:rPr>
              <a:t>, ligament damage, and minor cord injury</a:t>
            </a:r>
          </a:p>
          <a:p>
            <a:pPr lvl="1">
              <a:lnSpc>
                <a:spcPct val="150000"/>
              </a:lnSpc>
            </a:pPr>
            <a:r>
              <a:rPr lang="en-GB" b="1" dirty="0" smtClean="0">
                <a:latin typeface="Gabriola" pitchFamily="82" charset="0"/>
              </a:rPr>
              <a:t>Distraction Injuries</a:t>
            </a:r>
            <a:endParaRPr lang="en-GB" dirty="0" smtClean="0">
              <a:latin typeface="Gabriola" pitchFamily="82" charset="0"/>
            </a:endParaRPr>
          </a:p>
          <a:p>
            <a:pPr lvl="2">
              <a:lnSpc>
                <a:spcPct val="150000"/>
              </a:lnSpc>
            </a:pPr>
            <a:r>
              <a:rPr lang="en-GB" sz="2800" b="1" dirty="0" smtClean="0">
                <a:latin typeface="Gabriola" pitchFamily="82" charset="0"/>
              </a:rPr>
              <a:t>Axial stretching</a:t>
            </a:r>
            <a:r>
              <a:rPr lang="en-GB" sz="2800" dirty="0" smtClean="0">
                <a:latin typeface="Gabriola" pitchFamily="82" charset="0"/>
              </a:rPr>
              <a:t> of the spinal cord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A3903-2B49-4B54-A284-1FD1BA5F2D40}" type="datetime1">
              <a:rPr lang="en-GB" smtClean="0"/>
              <a:t>21/11/2024</a:t>
            </a:fld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870879-168A-4CB6-A4A5-D501825799FC}" type="slidenum">
              <a:rPr lang="en-GB" smtClean="0"/>
              <a:t>47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835880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528" y="274638"/>
            <a:ext cx="8363272" cy="418058"/>
          </a:xfrm>
        </p:spPr>
        <p:txBody>
          <a:bodyPr>
            <a:normAutofit fontScale="90000"/>
          </a:bodyPr>
          <a:lstStyle/>
          <a:p>
            <a:pPr algn="r"/>
            <a:r>
              <a:rPr lang="en-GB" dirty="0" smtClean="0"/>
              <a:t>Cont..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764704"/>
            <a:ext cx="8651304" cy="5361459"/>
          </a:xfrm>
        </p:spPr>
        <p:txBody>
          <a:bodyPr>
            <a:normAutofit fontScale="92500" lnSpcReduction="10000"/>
          </a:bodyPr>
          <a:lstStyle/>
          <a:p>
            <a:pPr lvl="2">
              <a:lnSpc>
                <a:spcPct val="150000"/>
              </a:lnSpc>
            </a:pPr>
            <a:r>
              <a:rPr lang="en-GB" sz="2800" dirty="0">
                <a:latin typeface="Gabriola" pitchFamily="82" charset="0"/>
              </a:rPr>
              <a:t>Results from forces pulling apart two adjacent vertebrae</a:t>
            </a:r>
          </a:p>
          <a:p>
            <a:pPr lvl="2">
              <a:lnSpc>
                <a:spcPct val="150000"/>
              </a:lnSpc>
            </a:pPr>
            <a:r>
              <a:rPr lang="en-GB" sz="2800" dirty="0">
                <a:latin typeface="Gabriola" pitchFamily="82" charset="0"/>
              </a:rPr>
              <a:t>Can lead to </a:t>
            </a:r>
            <a:r>
              <a:rPr lang="en-GB" sz="2800" b="1" dirty="0">
                <a:latin typeface="Gabriola" pitchFamily="82" charset="0"/>
              </a:rPr>
              <a:t>nerve root damage</a:t>
            </a:r>
            <a:r>
              <a:rPr lang="en-GB" sz="2800" dirty="0">
                <a:latin typeface="Gabriola" pitchFamily="82" charset="0"/>
              </a:rPr>
              <a:t> and </a:t>
            </a:r>
            <a:r>
              <a:rPr lang="en-GB" sz="2800" b="1" dirty="0">
                <a:latin typeface="Gabriola" pitchFamily="82" charset="0"/>
              </a:rPr>
              <a:t>spinal cord </a:t>
            </a:r>
            <a:r>
              <a:rPr lang="en-GB" sz="2800" b="1" dirty="0" smtClean="0">
                <a:latin typeface="Gabriola" pitchFamily="82" charset="0"/>
              </a:rPr>
              <a:t>tearing</a:t>
            </a:r>
            <a:endParaRPr lang="en-GB" sz="2400" b="1" dirty="0" smtClean="0">
              <a:latin typeface="Times" pitchFamily="18" charset="0"/>
            </a:endParaRPr>
          </a:p>
          <a:p>
            <a:pPr>
              <a:lnSpc>
                <a:spcPct val="150000"/>
              </a:lnSpc>
            </a:pPr>
            <a:r>
              <a:rPr lang="en-GB" sz="2800" b="1" dirty="0" smtClean="0">
                <a:latin typeface="Gabriola" pitchFamily="82" charset="0"/>
              </a:rPr>
              <a:t>Lacerations/Transection</a:t>
            </a:r>
            <a:endParaRPr lang="en-GB" sz="2800" dirty="0" smtClean="0">
              <a:latin typeface="Gabriola" pitchFamily="82" charset="0"/>
            </a:endParaRPr>
          </a:p>
          <a:p>
            <a:pPr lvl="1">
              <a:lnSpc>
                <a:spcPct val="150000"/>
              </a:lnSpc>
            </a:pPr>
            <a:r>
              <a:rPr lang="en-GB" dirty="0" smtClean="0">
                <a:latin typeface="Gabriola" pitchFamily="82" charset="0"/>
              </a:rPr>
              <a:t>Direct cuts through the spinal cord by:</a:t>
            </a:r>
          </a:p>
          <a:p>
            <a:pPr lvl="2">
              <a:lnSpc>
                <a:spcPct val="150000"/>
              </a:lnSpc>
            </a:pPr>
            <a:r>
              <a:rPr lang="en-GB" sz="2800" dirty="0" smtClean="0">
                <a:latin typeface="Gabriola" pitchFamily="82" charset="0"/>
              </a:rPr>
              <a:t>Sharp bone fragments</a:t>
            </a:r>
          </a:p>
          <a:p>
            <a:pPr lvl="2">
              <a:lnSpc>
                <a:spcPct val="150000"/>
              </a:lnSpc>
            </a:pPr>
            <a:r>
              <a:rPr lang="en-GB" sz="2800" dirty="0" smtClean="0">
                <a:latin typeface="Gabriola" pitchFamily="82" charset="0"/>
              </a:rPr>
              <a:t>Severe dislocations</a:t>
            </a:r>
          </a:p>
          <a:p>
            <a:pPr lvl="2">
              <a:lnSpc>
                <a:spcPct val="150000"/>
              </a:lnSpc>
            </a:pPr>
            <a:r>
              <a:rPr lang="en-GB" sz="2800" dirty="0" smtClean="0">
                <a:latin typeface="Gabriola" pitchFamily="82" charset="0"/>
              </a:rPr>
              <a:t>Penetrating objects (e.g., bullets, knives)</a:t>
            </a:r>
          </a:p>
          <a:p>
            <a:pPr lvl="1">
              <a:lnSpc>
                <a:spcPct val="150000"/>
              </a:lnSpc>
            </a:pPr>
            <a:r>
              <a:rPr lang="en-GB" dirty="0" smtClean="0">
                <a:latin typeface="Gabriola" pitchFamily="82" charset="0"/>
              </a:rPr>
              <a:t>Can lead to </a:t>
            </a:r>
            <a:r>
              <a:rPr lang="en-GB" b="1" dirty="0" smtClean="0">
                <a:latin typeface="Gabriola" pitchFamily="82" charset="0"/>
              </a:rPr>
              <a:t>complete severance</a:t>
            </a:r>
            <a:r>
              <a:rPr lang="en-GB" dirty="0" smtClean="0">
                <a:latin typeface="Gabriola" pitchFamily="82" charset="0"/>
              </a:rPr>
              <a:t> of the cord</a:t>
            </a:r>
          </a:p>
          <a:p>
            <a:pPr lvl="1">
              <a:lnSpc>
                <a:spcPct val="150000"/>
              </a:lnSpc>
            </a:pPr>
            <a:endParaRPr lang="en-GB" sz="2400" dirty="0" smtClean="0">
              <a:latin typeface="Times" pitchFamily="18" charset="0"/>
            </a:endParaRPr>
          </a:p>
          <a:p>
            <a:pPr>
              <a:lnSpc>
                <a:spcPct val="150000"/>
              </a:lnSpc>
            </a:pPr>
            <a:endParaRPr lang="en-GB" sz="2400" dirty="0">
              <a:latin typeface="Times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56298-6493-4D3C-99ED-F2F67176987F}" type="datetime1">
              <a:rPr lang="en-GB" smtClean="0"/>
              <a:t>21/11/2024</a:t>
            </a:fld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870879-168A-4CB6-A4A5-D501825799FC}" type="slidenum">
              <a:rPr lang="en-GB" smtClean="0"/>
              <a:t>48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496372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260648"/>
            <a:ext cx="8435280" cy="706090"/>
          </a:xfrm>
        </p:spPr>
        <p:txBody>
          <a:bodyPr>
            <a:normAutofit fontScale="90000"/>
          </a:bodyPr>
          <a:lstStyle/>
          <a:p>
            <a:r>
              <a:rPr lang="en-GB" b="1" dirty="0" smtClean="0"/>
              <a:t/>
            </a:r>
            <a:br>
              <a:rPr lang="en-GB" b="1" dirty="0" smtClean="0"/>
            </a:br>
            <a:r>
              <a:rPr lang="en-GB" b="1" dirty="0" smtClean="0"/>
              <a:t>Secondary Injury</a:t>
            </a:r>
            <a:br>
              <a:rPr lang="en-GB" b="1" dirty="0" smtClean="0"/>
            </a:b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836712"/>
            <a:ext cx="8712968" cy="5649491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GB" sz="2400" b="1" dirty="0" smtClean="0">
                <a:latin typeface="Gabriola" pitchFamily="82" charset="0"/>
              </a:rPr>
              <a:t>Vascular Damage</a:t>
            </a:r>
            <a:r>
              <a:rPr lang="en-GB" sz="2400" dirty="0" smtClean="0">
                <a:latin typeface="Gabriola" pitchFamily="82" charset="0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GB" sz="2200" dirty="0" smtClean="0">
                <a:latin typeface="Gabriola" pitchFamily="82" charset="0"/>
              </a:rPr>
              <a:t>Disrupted blood flow → ischemia → additional damage</a:t>
            </a:r>
          </a:p>
          <a:p>
            <a:pPr>
              <a:lnSpc>
                <a:spcPct val="150000"/>
              </a:lnSpc>
            </a:pPr>
            <a:r>
              <a:rPr lang="en-GB" sz="2400" b="1" dirty="0" smtClean="0">
                <a:latin typeface="Gabriola" pitchFamily="82" charset="0"/>
              </a:rPr>
              <a:t>Ionic Imbalances</a:t>
            </a:r>
            <a:r>
              <a:rPr lang="en-GB" sz="2400" dirty="0" smtClean="0">
                <a:latin typeface="Gabriola" pitchFamily="82" charset="0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GB" sz="2200" dirty="0" smtClean="0">
                <a:latin typeface="Gabriola" pitchFamily="82" charset="0"/>
              </a:rPr>
              <a:t>Sodium, calcium, potassium imbalance → neuronal dysfunction, cell death</a:t>
            </a:r>
          </a:p>
          <a:p>
            <a:pPr>
              <a:lnSpc>
                <a:spcPct val="150000"/>
              </a:lnSpc>
            </a:pPr>
            <a:r>
              <a:rPr lang="en-GB" sz="2400" b="1" dirty="0" smtClean="0">
                <a:latin typeface="Gabriola" pitchFamily="82" charset="0"/>
              </a:rPr>
              <a:t>Free Radical Formation</a:t>
            </a:r>
            <a:r>
              <a:rPr lang="en-GB" sz="2400" dirty="0" smtClean="0">
                <a:latin typeface="Gabriola" pitchFamily="82" charset="0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GB" sz="2200" dirty="0" smtClean="0">
                <a:latin typeface="Gabriola" pitchFamily="82" charset="0"/>
              </a:rPr>
              <a:t>ROS generated → oxidative stress → further tissue injury</a:t>
            </a:r>
          </a:p>
          <a:p>
            <a:pPr>
              <a:lnSpc>
                <a:spcPct val="150000"/>
              </a:lnSpc>
            </a:pPr>
            <a:r>
              <a:rPr lang="en-GB" sz="2400" b="1" dirty="0" smtClean="0">
                <a:latin typeface="Gabriola" pitchFamily="82" charset="0"/>
              </a:rPr>
              <a:t>Inflammatory Response</a:t>
            </a:r>
            <a:r>
              <a:rPr lang="en-GB" sz="2400" dirty="0" smtClean="0">
                <a:latin typeface="Gabriola" pitchFamily="82" charset="0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GB" sz="2200" dirty="0" smtClean="0">
                <a:latin typeface="Gabriola" pitchFamily="82" charset="0"/>
              </a:rPr>
              <a:t>Microglial activation, cytokine release → tissue damage, swelling</a:t>
            </a:r>
          </a:p>
          <a:p>
            <a:pPr>
              <a:lnSpc>
                <a:spcPct val="150000"/>
              </a:lnSpc>
            </a:pPr>
            <a:r>
              <a:rPr lang="en-GB" sz="2400" b="1" dirty="0" smtClean="0">
                <a:latin typeface="Gabriola" pitchFamily="82" charset="0"/>
              </a:rPr>
              <a:t>Neurotransmitter Accumulation (</a:t>
            </a:r>
            <a:r>
              <a:rPr lang="en-GB" sz="2400" b="1" dirty="0" err="1" smtClean="0">
                <a:latin typeface="Gabriola" pitchFamily="82" charset="0"/>
              </a:rPr>
              <a:t>Excitotoxicity</a:t>
            </a:r>
            <a:r>
              <a:rPr lang="en-GB" sz="2400" b="1" dirty="0" smtClean="0">
                <a:latin typeface="Gabriola" pitchFamily="82" charset="0"/>
              </a:rPr>
              <a:t>)</a:t>
            </a:r>
            <a:r>
              <a:rPr lang="en-GB" sz="2400" dirty="0" smtClean="0">
                <a:latin typeface="Gabriola" pitchFamily="82" charset="0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GB" sz="2200" dirty="0" smtClean="0">
                <a:latin typeface="Gabriola" pitchFamily="82" charset="0"/>
              </a:rPr>
              <a:t>Excessive glutamate release → overstimulation → neuronal death</a:t>
            </a:r>
          </a:p>
          <a:p>
            <a:pPr>
              <a:lnSpc>
                <a:spcPct val="150000"/>
              </a:lnSpc>
            </a:pPr>
            <a:endParaRPr lang="en-GB" sz="2400" dirty="0">
              <a:latin typeface="Gabriola" pitchFamily="82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A2AC3-0E05-496D-97F2-C30A1B317776}" type="datetime1">
              <a:rPr lang="en-GB" smtClean="0"/>
              <a:t>21/11/2024</a:t>
            </a:fld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870879-168A-4CB6-A4A5-D501825799FC}" type="slidenum">
              <a:rPr lang="en-GB" smtClean="0"/>
              <a:t>49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484504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274638"/>
            <a:ext cx="8291264" cy="706090"/>
          </a:xfrm>
        </p:spPr>
        <p:txBody>
          <a:bodyPr>
            <a:normAutofit fontScale="90000"/>
          </a:bodyPr>
          <a:lstStyle/>
          <a:p>
            <a:r>
              <a:rPr lang="en-GB" b="1" dirty="0" smtClean="0"/>
              <a:t>Autonomic </a:t>
            </a:r>
            <a:r>
              <a:rPr lang="en-GB" b="1" dirty="0" err="1" smtClean="0"/>
              <a:t>Dysreflexia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504" y="980728"/>
            <a:ext cx="8579296" cy="540060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GB" sz="2800" dirty="0" smtClean="0">
                <a:latin typeface="Gabriola" pitchFamily="82" charset="0"/>
              </a:rPr>
              <a:t>Autonomic </a:t>
            </a:r>
            <a:r>
              <a:rPr lang="en-GB" sz="2800" dirty="0" err="1" smtClean="0">
                <a:latin typeface="Gabriola" pitchFamily="82" charset="0"/>
              </a:rPr>
              <a:t>Dysreflexia</a:t>
            </a:r>
            <a:r>
              <a:rPr lang="en-GB" sz="2800" dirty="0" smtClean="0">
                <a:latin typeface="Gabriola" pitchFamily="82" charset="0"/>
              </a:rPr>
              <a:t> (AD) is a potentially life-threatening condition that occurs in individuals with spinal cord injuries (SCI), especially those with lesions above the T6 level.</a:t>
            </a:r>
          </a:p>
          <a:p>
            <a:pPr>
              <a:lnSpc>
                <a:spcPct val="150000"/>
              </a:lnSpc>
            </a:pPr>
            <a:r>
              <a:rPr lang="en-GB" sz="2800" dirty="0" smtClean="0">
                <a:latin typeface="Gabriola" pitchFamily="82" charset="0"/>
              </a:rPr>
              <a:t>It is characterized by a profound autonomic response to stimuli below the level of the spinal injury.</a:t>
            </a:r>
          </a:p>
          <a:p>
            <a:pPr>
              <a:lnSpc>
                <a:spcPct val="150000"/>
              </a:lnSpc>
            </a:pPr>
            <a:r>
              <a:rPr lang="en-GB" sz="2800" dirty="0" smtClean="0">
                <a:latin typeface="Gabriola" pitchFamily="82" charset="0"/>
              </a:rPr>
              <a:t>Clinical Manifestations of Autonomic </a:t>
            </a:r>
            <a:r>
              <a:rPr lang="en-GB" sz="2800" dirty="0" err="1" smtClean="0">
                <a:latin typeface="Gabriola" pitchFamily="82" charset="0"/>
              </a:rPr>
              <a:t>Dysreflexia</a:t>
            </a:r>
            <a:endParaRPr lang="en-GB" sz="2800" dirty="0">
              <a:latin typeface="Gabriola" pitchFamily="82" charset="0"/>
            </a:endParaRPr>
          </a:p>
          <a:p>
            <a:pPr lvl="1">
              <a:lnSpc>
                <a:spcPct val="150000"/>
              </a:lnSpc>
            </a:pPr>
            <a:r>
              <a:rPr lang="en-GB" b="1" dirty="0" smtClean="0">
                <a:latin typeface="Gabriola" pitchFamily="82" charset="0"/>
              </a:rPr>
              <a:t>Sudden increase in blood pressure</a:t>
            </a:r>
            <a:r>
              <a:rPr lang="en-GB" dirty="0" smtClean="0">
                <a:latin typeface="Gabriola" pitchFamily="82" charset="0"/>
              </a:rPr>
              <a:t>: A rise of at least 20 mmHg from baseline.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4C1E8D-8ED4-44B7-8FBF-3C713716C544}" type="datetime1">
              <a:rPr lang="en-GB" smtClean="0"/>
              <a:t>21/11/2024</a:t>
            </a:fld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870879-168A-4CB6-A4A5-D501825799FC}" type="slidenum">
              <a:rPr lang="en-GB" smtClean="0"/>
              <a:t>50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476635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274638"/>
            <a:ext cx="8219256" cy="274042"/>
          </a:xfrm>
        </p:spPr>
        <p:txBody>
          <a:bodyPr>
            <a:normAutofit fontScale="90000"/>
          </a:bodyPr>
          <a:lstStyle/>
          <a:p>
            <a:pPr algn="r"/>
            <a:r>
              <a:rPr lang="en-GB" dirty="0" smtClean="0"/>
              <a:t>Cont..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404664"/>
            <a:ext cx="8435280" cy="5721499"/>
          </a:xfrm>
        </p:spPr>
        <p:txBody>
          <a:bodyPr>
            <a:normAutofit fontScale="85000" lnSpcReduction="20000"/>
          </a:bodyPr>
          <a:lstStyle/>
          <a:p>
            <a:pPr marL="742950" lvl="2" indent="-342900">
              <a:lnSpc>
                <a:spcPct val="170000"/>
              </a:lnSpc>
            </a:pPr>
            <a:r>
              <a:rPr lang="en-GB" sz="3000" b="1" dirty="0" err="1">
                <a:latin typeface="Gabriola" pitchFamily="82" charset="0"/>
              </a:rPr>
              <a:t>Baroreflex</a:t>
            </a:r>
            <a:r>
              <a:rPr lang="en-GB" sz="3000" b="1" dirty="0">
                <a:latin typeface="Gabriola" pitchFamily="82" charset="0"/>
              </a:rPr>
              <a:t>-mediated </a:t>
            </a:r>
            <a:r>
              <a:rPr lang="en-GB" sz="3000" b="1" dirty="0" err="1">
                <a:latin typeface="Gabriola" pitchFamily="82" charset="0"/>
              </a:rPr>
              <a:t>bradycardia</a:t>
            </a:r>
            <a:r>
              <a:rPr lang="en-GB" sz="3000" dirty="0">
                <a:latin typeface="Gabriola" pitchFamily="82" charset="0"/>
              </a:rPr>
              <a:t>: A decrease in heart rate as a response to the increased blood pressure.</a:t>
            </a:r>
          </a:p>
          <a:p>
            <a:pPr>
              <a:lnSpc>
                <a:spcPct val="150000"/>
              </a:lnSpc>
            </a:pPr>
            <a:r>
              <a:rPr lang="en-GB" sz="3100" b="1" dirty="0">
                <a:latin typeface="Gabriola" pitchFamily="82" charset="0"/>
              </a:rPr>
              <a:t>Symptoms may include</a:t>
            </a:r>
            <a:r>
              <a:rPr lang="en-GB" sz="3100" b="1" dirty="0" smtClean="0">
                <a:latin typeface="Gabriola" pitchFamily="82" charset="0"/>
              </a:rPr>
              <a:t>: </a:t>
            </a:r>
            <a:endParaRPr lang="en-GB" sz="3100" b="1" dirty="0" smtClean="0">
              <a:latin typeface="Gabriola" pitchFamily="82" charset="0"/>
            </a:endParaRPr>
          </a:p>
          <a:p>
            <a:pPr lvl="1">
              <a:lnSpc>
                <a:spcPct val="150000"/>
              </a:lnSpc>
            </a:pPr>
            <a:r>
              <a:rPr lang="en-GB" sz="2700" dirty="0" smtClean="0">
                <a:latin typeface="Gabriola" pitchFamily="82" charset="0"/>
              </a:rPr>
              <a:t>Severe </a:t>
            </a:r>
            <a:r>
              <a:rPr lang="en-GB" sz="2700" dirty="0">
                <a:latin typeface="Gabriola" pitchFamily="82" charset="0"/>
              </a:rPr>
              <a:t>headache</a:t>
            </a:r>
          </a:p>
          <a:p>
            <a:pPr lvl="1">
              <a:lnSpc>
                <a:spcPct val="150000"/>
              </a:lnSpc>
            </a:pPr>
            <a:r>
              <a:rPr lang="en-GB" dirty="0">
                <a:latin typeface="Gabriola" pitchFamily="82" charset="0"/>
              </a:rPr>
              <a:t>Flushing</a:t>
            </a:r>
          </a:p>
          <a:p>
            <a:pPr lvl="1">
              <a:lnSpc>
                <a:spcPct val="150000"/>
              </a:lnSpc>
            </a:pPr>
            <a:r>
              <a:rPr lang="en-GB" dirty="0">
                <a:latin typeface="Gabriola" pitchFamily="82" charset="0"/>
              </a:rPr>
              <a:t>Sweating</a:t>
            </a:r>
          </a:p>
          <a:p>
            <a:pPr lvl="1">
              <a:lnSpc>
                <a:spcPct val="150000"/>
              </a:lnSpc>
            </a:pPr>
            <a:r>
              <a:rPr lang="en-GB" dirty="0">
                <a:latin typeface="Gabriola" pitchFamily="82" charset="0"/>
              </a:rPr>
              <a:t>Chills</a:t>
            </a:r>
          </a:p>
          <a:p>
            <a:pPr lvl="1">
              <a:lnSpc>
                <a:spcPct val="150000"/>
              </a:lnSpc>
            </a:pPr>
            <a:r>
              <a:rPr lang="en-GB" dirty="0">
                <a:latin typeface="Gabriola" pitchFamily="82" charset="0"/>
              </a:rPr>
              <a:t>Nasal congestion</a:t>
            </a:r>
          </a:p>
          <a:p>
            <a:pPr lvl="1">
              <a:lnSpc>
                <a:spcPct val="150000"/>
              </a:lnSpc>
            </a:pPr>
            <a:r>
              <a:rPr lang="en-GB" dirty="0" err="1">
                <a:latin typeface="Gabriola" pitchFamily="82" charset="0"/>
              </a:rPr>
              <a:t>Piloerection</a:t>
            </a:r>
            <a:r>
              <a:rPr lang="en-GB" dirty="0">
                <a:latin typeface="Gabriola" pitchFamily="82" charset="0"/>
              </a:rPr>
              <a:t> (</a:t>
            </a:r>
            <a:r>
              <a:rPr lang="en-GB" dirty="0" err="1">
                <a:latin typeface="Gabriola" pitchFamily="82" charset="0"/>
              </a:rPr>
              <a:t>goosebumps</a:t>
            </a:r>
            <a:r>
              <a:rPr lang="en-GB" dirty="0">
                <a:latin typeface="Gabriola" pitchFamily="82" charset="0"/>
              </a:rPr>
              <a:t>)</a:t>
            </a:r>
          </a:p>
          <a:p>
            <a:pPr lvl="1">
              <a:lnSpc>
                <a:spcPct val="150000"/>
              </a:lnSpc>
            </a:pPr>
            <a:r>
              <a:rPr lang="en-GB" dirty="0">
                <a:latin typeface="Gabriola" pitchFamily="82" charset="0"/>
              </a:rPr>
              <a:t>Pallor</a:t>
            </a:r>
          </a:p>
          <a:p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108A5-0725-426B-9421-2A7AB83FB2C0}" type="datetime1">
              <a:rPr lang="en-GB" smtClean="0"/>
              <a:t>21/11/2024</a:t>
            </a:fld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870879-168A-4CB6-A4A5-D501825799FC}" type="slidenum">
              <a:rPr lang="en-GB" smtClean="0"/>
              <a:t>51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5286431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496" y="116632"/>
            <a:ext cx="8651304" cy="288032"/>
          </a:xfrm>
        </p:spPr>
        <p:txBody>
          <a:bodyPr>
            <a:normAutofit fontScale="90000"/>
          </a:bodyPr>
          <a:lstStyle/>
          <a:p>
            <a:pPr algn="r"/>
            <a:r>
              <a:rPr lang="en-GB" dirty="0" smtClean="0"/>
              <a:t>Cont..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764704"/>
            <a:ext cx="8435280" cy="5361459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GB" sz="3100" b="1" dirty="0" smtClean="0">
                <a:latin typeface="Gabriola" pitchFamily="82" charset="0"/>
              </a:rPr>
              <a:t>Severe manifestations:</a:t>
            </a:r>
            <a:r>
              <a:rPr lang="en-GB" sz="3100" dirty="0" smtClean="0">
                <a:latin typeface="Gabriola" pitchFamily="82" charset="0"/>
              </a:rPr>
              <a:t> If left untreated, AD can lead to:</a:t>
            </a:r>
          </a:p>
          <a:p>
            <a:pPr lvl="1">
              <a:lnSpc>
                <a:spcPct val="150000"/>
              </a:lnSpc>
            </a:pPr>
            <a:r>
              <a:rPr lang="en-GB" b="1" dirty="0" smtClean="0">
                <a:latin typeface="Gabriola" pitchFamily="82" charset="0"/>
              </a:rPr>
              <a:t>Intracranial complications</a:t>
            </a:r>
            <a:r>
              <a:rPr lang="en-GB" dirty="0" smtClean="0">
                <a:latin typeface="Gabriola" pitchFamily="82" charset="0"/>
              </a:rPr>
              <a:t> such as increased intracranial pressure, seizures, and intracranial </a:t>
            </a:r>
            <a:r>
              <a:rPr lang="en-GB" dirty="0" err="1" smtClean="0">
                <a:latin typeface="Gabriola" pitchFamily="82" charset="0"/>
              </a:rPr>
              <a:t>hemorrhage</a:t>
            </a:r>
            <a:r>
              <a:rPr lang="en-GB" dirty="0" smtClean="0">
                <a:latin typeface="Gabriola" pitchFamily="82" charset="0"/>
              </a:rPr>
              <a:t>.</a:t>
            </a:r>
          </a:p>
          <a:p>
            <a:pPr lvl="1">
              <a:lnSpc>
                <a:spcPct val="150000"/>
              </a:lnSpc>
            </a:pPr>
            <a:r>
              <a:rPr lang="en-GB" b="1" dirty="0" smtClean="0">
                <a:latin typeface="Gabriola" pitchFamily="82" charset="0"/>
              </a:rPr>
              <a:t>Cardiac issues</a:t>
            </a:r>
            <a:r>
              <a:rPr lang="en-GB" dirty="0" smtClean="0">
                <a:latin typeface="Gabriola" pitchFamily="82" charset="0"/>
              </a:rPr>
              <a:t> like myocardial ischemia, arrhythmias, and pulmonary </a:t>
            </a:r>
            <a:r>
              <a:rPr lang="en-GB" dirty="0" err="1" smtClean="0">
                <a:latin typeface="Gabriola" pitchFamily="82" charset="0"/>
              </a:rPr>
              <a:t>edema</a:t>
            </a:r>
            <a:r>
              <a:rPr lang="en-GB" dirty="0" smtClean="0">
                <a:latin typeface="Gabriola" pitchFamily="82" charset="0"/>
              </a:rPr>
              <a:t>.</a:t>
            </a:r>
          </a:p>
          <a:p>
            <a:pPr lvl="1">
              <a:lnSpc>
                <a:spcPct val="150000"/>
              </a:lnSpc>
            </a:pPr>
            <a:r>
              <a:rPr lang="en-GB" b="1" dirty="0" smtClean="0">
                <a:latin typeface="Gabriola" pitchFamily="82" charset="0"/>
              </a:rPr>
              <a:t>Life-threatening complications</a:t>
            </a:r>
            <a:r>
              <a:rPr lang="en-GB" dirty="0" smtClean="0">
                <a:latin typeface="Gabriola" pitchFamily="82" charset="0"/>
              </a:rPr>
              <a:t> such as stroke or death.</a:t>
            </a:r>
          </a:p>
          <a:p>
            <a:pPr lvl="1">
              <a:lnSpc>
                <a:spcPct val="150000"/>
              </a:lnSpc>
            </a:pPr>
            <a:endParaRPr lang="en-GB" dirty="0">
              <a:latin typeface="Gabriola" pitchFamily="82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81C305-C82B-4131-848F-FF1CEB06B0B5}" type="datetime1">
              <a:rPr lang="en-GB" smtClean="0"/>
              <a:t>21/11/2024</a:t>
            </a:fld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870879-168A-4CB6-A4A5-D501825799FC}" type="slidenum">
              <a:rPr lang="en-GB" smtClean="0"/>
              <a:t>52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927574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528" y="188640"/>
            <a:ext cx="7787208" cy="490066"/>
          </a:xfrm>
        </p:spPr>
        <p:txBody>
          <a:bodyPr>
            <a:normAutofit fontScale="90000"/>
          </a:bodyPr>
          <a:lstStyle/>
          <a:p>
            <a:r>
              <a:rPr lang="en-GB" b="1" dirty="0" smtClean="0"/>
              <a:t/>
            </a:r>
            <a:br>
              <a:rPr lang="en-GB" b="1" dirty="0" smtClean="0"/>
            </a:br>
            <a:r>
              <a:rPr lang="en-GB" sz="3600" b="1" dirty="0" smtClean="0"/>
              <a:t>Incidence and Risk Factors</a:t>
            </a:r>
            <a:r>
              <a:rPr lang="en-GB" b="1" dirty="0" smtClean="0"/>
              <a:t/>
            </a:r>
            <a:br>
              <a:rPr lang="en-GB" b="1" dirty="0" smtClean="0"/>
            </a:b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836712"/>
            <a:ext cx="8435280" cy="528945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GB" sz="2800" b="1" dirty="0" smtClean="0">
                <a:latin typeface="Gabriola" pitchFamily="82" charset="0"/>
              </a:rPr>
              <a:t>Incidence:</a:t>
            </a:r>
            <a:r>
              <a:rPr lang="en-GB" sz="2800" dirty="0" smtClean="0">
                <a:latin typeface="Gabriola" pitchFamily="82" charset="0"/>
              </a:rPr>
              <a:t> Between 50% and 70% in SCI patients with lesions above T6.</a:t>
            </a:r>
          </a:p>
          <a:p>
            <a:pPr>
              <a:lnSpc>
                <a:spcPct val="150000"/>
              </a:lnSpc>
            </a:pPr>
            <a:r>
              <a:rPr lang="en-GB" sz="2800" dirty="0" smtClean="0">
                <a:latin typeface="Gabriola" pitchFamily="82" charset="0"/>
              </a:rPr>
              <a:t>The incidence increases with:</a:t>
            </a:r>
          </a:p>
          <a:p>
            <a:pPr lvl="1">
              <a:lnSpc>
                <a:spcPct val="150000"/>
              </a:lnSpc>
            </a:pPr>
            <a:r>
              <a:rPr lang="en-GB" dirty="0" smtClean="0">
                <a:latin typeface="Gabriola" pitchFamily="82" charset="0"/>
              </a:rPr>
              <a:t>Higher-level lesions (above T6).</a:t>
            </a:r>
          </a:p>
          <a:p>
            <a:pPr lvl="1">
              <a:lnSpc>
                <a:spcPct val="150000"/>
              </a:lnSpc>
            </a:pPr>
            <a:r>
              <a:rPr lang="en-GB" dirty="0" smtClean="0">
                <a:latin typeface="Gabriola" pitchFamily="82" charset="0"/>
              </a:rPr>
              <a:t>Complete spinal cord lesions.</a:t>
            </a:r>
          </a:p>
          <a:p>
            <a:pPr>
              <a:lnSpc>
                <a:spcPct val="150000"/>
              </a:lnSpc>
            </a:pPr>
            <a:r>
              <a:rPr lang="en-GB" sz="2800" b="1" dirty="0" smtClean="0">
                <a:latin typeface="Gabriola" pitchFamily="82" charset="0"/>
              </a:rPr>
              <a:t>Severity:</a:t>
            </a:r>
            <a:r>
              <a:rPr lang="en-GB" sz="2800" dirty="0" smtClean="0">
                <a:latin typeface="Gabriola" pitchFamily="82" charset="0"/>
              </a:rPr>
              <a:t> The higher the lesion level, the more severe the symptoms of AD.</a:t>
            </a:r>
          </a:p>
          <a:p>
            <a:pPr>
              <a:lnSpc>
                <a:spcPct val="150000"/>
              </a:lnSpc>
            </a:pPr>
            <a:endParaRPr lang="en-GB" sz="2800" dirty="0">
              <a:latin typeface="Gabriola" pitchFamily="82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AA69E-8956-4E17-AE16-A6BD97D7C46B}" type="datetime1">
              <a:rPr lang="en-GB" smtClean="0"/>
              <a:t>21/11/2024</a:t>
            </a:fld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870879-168A-4CB6-A4A5-D501825799FC}" type="slidenum">
              <a:rPr lang="en-GB" smtClean="0"/>
              <a:t>53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759435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74638"/>
            <a:ext cx="8686800" cy="490066"/>
          </a:xfrm>
        </p:spPr>
        <p:txBody>
          <a:bodyPr>
            <a:noAutofit/>
          </a:bodyPr>
          <a:lstStyle/>
          <a:p>
            <a:r>
              <a:rPr lang="en-GB" sz="3200" b="1" dirty="0" smtClean="0">
                <a:latin typeface="Times" pitchFamily="18" charset="0"/>
              </a:rPr>
              <a:t/>
            </a:r>
            <a:br>
              <a:rPr lang="en-GB" sz="3200" b="1" dirty="0" smtClean="0">
                <a:latin typeface="Times" pitchFamily="18" charset="0"/>
              </a:rPr>
            </a:br>
            <a:r>
              <a:rPr lang="en-GB" sz="3200" b="1" dirty="0" smtClean="0">
                <a:latin typeface="Times" pitchFamily="18" charset="0"/>
              </a:rPr>
              <a:t>Pathophysiology of Autonomic </a:t>
            </a:r>
            <a:r>
              <a:rPr lang="en-GB" sz="3200" b="1" dirty="0" err="1" smtClean="0">
                <a:latin typeface="Times" pitchFamily="18" charset="0"/>
              </a:rPr>
              <a:t>Dysreflexia</a:t>
            </a:r>
            <a:r>
              <a:rPr lang="en-GB" sz="3200" b="1" dirty="0" smtClean="0">
                <a:latin typeface="Times" pitchFamily="18" charset="0"/>
              </a:rPr>
              <a:t/>
            </a:r>
            <a:br>
              <a:rPr lang="en-GB" sz="3200" b="1" dirty="0" smtClean="0">
                <a:latin typeface="Times" pitchFamily="18" charset="0"/>
              </a:rPr>
            </a:br>
            <a:endParaRPr lang="en-GB" sz="3200" dirty="0">
              <a:latin typeface="Times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836712"/>
            <a:ext cx="8784976" cy="5616624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GB" sz="2800" dirty="0" smtClean="0">
                <a:latin typeface="Gabriola" pitchFamily="82" charset="0"/>
              </a:rPr>
              <a:t>AD is believed to result from a disordered sympathetic response to stimuli below the level of the spinal cord injury:</a:t>
            </a:r>
          </a:p>
          <a:p>
            <a:pPr lvl="1">
              <a:lnSpc>
                <a:spcPct val="150000"/>
              </a:lnSpc>
            </a:pPr>
            <a:r>
              <a:rPr lang="en-GB" b="1" dirty="0" smtClean="0">
                <a:latin typeface="Gabriola" pitchFamily="82" charset="0"/>
              </a:rPr>
              <a:t>Loss of </a:t>
            </a:r>
            <a:r>
              <a:rPr lang="en-GB" b="1" dirty="0" err="1" smtClean="0">
                <a:latin typeface="Gabriola" pitchFamily="82" charset="0"/>
              </a:rPr>
              <a:t>supraspinal</a:t>
            </a:r>
            <a:r>
              <a:rPr lang="en-GB" b="1" dirty="0" smtClean="0">
                <a:latin typeface="Gabriola" pitchFamily="82" charset="0"/>
              </a:rPr>
              <a:t> inhibitory control:</a:t>
            </a:r>
            <a:r>
              <a:rPr lang="en-GB" dirty="0" smtClean="0">
                <a:latin typeface="Gabriola" pitchFamily="82" charset="0"/>
              </a:rPr>
              <a:t> Damage to the spinal cord above the level of injury leads to loss of inhibitory signals from the brain that normally regulate sympathetic nervous system responses.</a:t>
            </a:r>
          </a:p>
          <a:p>
            <a:pPr lvl="1">
              <a:lnSpc>
                <a:spcPct val="150000"/>
              </a:lnSpc>
            </a:pPr>
            <a:r>
              <a:rPr lang="en-GB" b="1" dirty="0" smtClean="0">
                <a:latin typeface="Gabriola" pitchFamily="82" charset="0"/>
              </a:rPr>
              <a:t>Exaggerated sympathetic activation:</a:t>
            </a:r>
            <a:r>
              <a:rPr lang="en-GB" dirty="0" smtClean="0">
                <a:latin typeface="Gabriola" pitchFamily="82" charset="0"/>
              </a:rPr>
              <a:t> The spinal cord becomes hyper-reactive, with the sympathetic preganglionic neurons below the injury site discharging excessively in response to stimuli.</a:t>
            </a:r>
          </a:p>
          <a:p>
            <a:pPr>
              <a:lnSpc>
                <a:spcPct val="150000"/>
              </a:lnSpc>
            </a:pPr>
            <a:endParaRPr lang="en-GB" sz="2800" dirty="0">
              <a:latin typeface="Gabriola" pitchFamily="82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0E8FE-D521-47D4-86FF-DFFE0E78EBB3}" type="datetime1">
              <a:rPr lang="en-GB" smtClean="0"/>
              <a:t>21/11/2024</a:t>
            </a:fld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870879-168A-4CB6-A4A5-D501825799FC}" type="slidenum">
              <a:rPr lang="en-GB" smtClean="0"/>
              <a:t>54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9506324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274638"/>
            <a:ext cx="8507288" cy="562074"/>
          </a:xfrm>
        </p:spPr>
        <p:txBody>
          <a:bodyPr>
            <a:normAutofit fontScale="90000"/>
          </a:bodyPr>
          <a:lstStyle/>
          <a:p>
            <a:pPr algn="r"/>
            <a:r>
              <a:rPr lang="en-GB" dirty="0" smtClean="0"/>
              <a:t>Cont..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764704"/>
            <a:ext cx="8640960" cy="5904656"/>
          </a:xfrm>
        </p:spPr>
        <p:txBody>
          <a:bodyPr>
            <a:normAutofit/>
          </a:bodyPr>
          <a:lstStyle/>
          <a:p>
            <a:pPr lvl="1">
              <a:lnSpc>
                <a:spcPct val="150000"/>
              </a:lnSpc>
            </a:pPr>
            <a:r>
              <a:rPr lang="en-GB" b="1" dirty="0" smtClean="0">
                <a:latin typeface="Gabriola" pitchFamily="82" charset="0"/>
              </a:rPr>
              <a:t>Sympathetic </a:t>
            </a:r>
            <a:r>
              <a:rPr lang="en-GB" b="1" dirty="0" err="1" smtClean="0">
                <a:latin typeface="Gabriola" pitchFamily="82" charset="0"/>
              </a:rPr>
              <a:t>overactivity</a:t>
            </a:r>
            <a:r>
              <a:rPr lang="en-GB" b="1" dirty="0" smtClean="0">
                <a:latin typeface="Gabriola" pitchFamily="82" charset="0"/>
              </a:rPr>
              <a:t>:</a:t>
            </a:r>
            <a:r>
              <a:rPr lang="en-GB" dirty="0" smtClean="0">
                <a:latin typeface="Gabriola" pitchFamily="82" charset="0"/>
              </a:rPr>
              <a:t> This can cause significant increases in:</a:t>
            </a:r>
          </a:p>
          <a:p>
            <a:pPr lvl="3">
              <a:lnSpc>
                <a:spcPct val="150000"/>
              </a:lnSpc>
            </a:pPr>
            <a:r>
              <a:rPr lang="en-GB" sz="2800" b="1" dirty="0" smtClean="0">
                <a:latin typeface="Gabriola" pitchFamily="82" charset="0"/>
              </a:rPr>
              <a:t>Vasomotor activity</a:t>
            </a:r>
            <a:r>
              <a:rPr lang="en-GB" sz="2800" dirty="0" smtClean="0">
                <a:latin typeface="Gabriola" pitchFamily="82" charset="0"/>
              </a:rPr>
              <a:t> (leading to hypertension).</a:t>
            </a:r>
          </a:p>
          <a:p>
            <a:pPr lvl="3">
              <a:lnSpc>
                <a:spcPct val="150000"/>
              </a:lnSpc>
            </a:pPr>
            <a:r>
              <a:rPr lang="en-GB" sz="2800" b="1" dirty="0" err="1" smtClean="0">
                <a:latin typeface="Gabriola" pitchFamily="82" charset="0"/>
              </a:rPr>
              <a:t>Pilomotor</a:t>
            </a:r>
            <a:r>
              <a:rPr lang="en-GB" sz="2800" b="1" dirty="0" smtClean="0">
                <a:latin typeface="Gabriola" pitchFamily="82" charset="0"/>
              </a:rPr>
              <a:t> activity</a:t>
            </a:r>
            <a:r>
              <a:rPr lang="en-GB" sz="2800" dirty="0" smtClean="0">
                <a:latin typeface="Gabriola" pitchFamily="82" charset="0"/>
              </a:rPr>
              <a:t> (leading to </a:t>
            </a:r>
            <a:r>
              <a:rPr lang="en-GB" sz="2800" dirty="0" err="1" smtClean="0">
                <a:latin typeface="Gabriola" pitchFamily="82" charset="0"/>
              </a:rPr>
              <a:t>piloerection</a:t>
            </a:r>
            <a:r>
              <a:rPr lang="en-GB" sz="2800" dirty="0" smtClean="0">
                <a:latin typeface="Gabriola" pitchFamily="82" charset="0"/>
              </a:rPr>
              <a:t>).</a:t>
            </a:r>
          </a:p>
          <a:p>
            <a:pPr lvl="3">
              <a:lnSpc>
                <a:spcPct val="150000"/>
              </a:lnSpc>
            </a:pPr>
            <a:r>
              <a:rPr lang="en-GB" sz="2800" b="1" dirty="0" err="1" smtClean="0">
                <a:latin typeface="Gabriola" pitchFamily="82" charset="0"/>
              </a:rPr>
              <a:t>Sudomotor</a:t>
            </a:r>
            <a:r>
              <a:rPr lang="en-GB" sz="2800" b="1" dirty="0" smtClean="0">
                <a:latin typeface="Gabriola" pitchFamily="82" charset="0"/>
              </a:rPr>
              <a:t> activity</a:t>
            </a:r>
            <a:r>
              <a:rPr lang="en-GB" sz="2800" dirty="0" smtClean="0">
                <a:latin typeface="Gabriola" pitchFamily="82" charset="0"/>
              </a:rPr>
              <a:t> (leading to sweating).</a:t>
            </a:r>
          </a:p>
          <a:p>
            <a:pPr lvl="1">
              <a:lnSpc>
                <a:spcPct val="150000"/>
              </a:lnSpc>
            </a:pPr>
            <a:r>
              <a:rPr lang="en-GB" dirty="0" smtClean="0">
                <a:latin typeface="Gabriola" pitchFamily="82" charset="0"/>
              </a:rPr>
              <a:t>These activities are often seen as exaggerated responses to what would otherwise be normal stimuli.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6900E-8D8E-4FB3-B394-8AB17A25C3FB}" type="datetime1">
              <a:rPr lang="en-GB" smtClean="0"/>
              <a:t>21/11/2024</a:t>
            </a:fld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870879-168A-4CB6-A4A5-D501825799FC}" type="slidenum">
              <a:rPr lang="en-GB" smtClean="0"/>
              <a:t>55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571717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504" y="274638"/>
            <a:ext cx="8579296" cy="490066"/>
          </a:xfrm>
        </p:spPr>
        <p:txBody>
          <a:bodyPr>
            <a:normAutofit fontScale="90000"/>
          </a:bodyPr>
          <a:lstStyle/>
          <a:p>
            <a:pPr algn="r"/>
            <a:r>
              <a:rPr lang="en-GB" dirty="0" smtClean="0"/>
              <a:t>Cont..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908720"/>
            <a:ext cx="8640960" cy="54006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GB" sz="2800" b="1" dirty="0">
                <a:latin typeface="Gabriola" pitchFamily="82" charset="0"/>
              </a:rPr>
              <a:t>Effect of T6 Lesion Level:</a:t>
            </a:r>
            <a:r>
              <a:rPr lang="en-GB" sz="2800" dirty="0">
                <a:latin typeface="Gabriola" pitchFamily="82" charset="0"/>
              </a:rPr>
              <a:t> </a:t>
            </a:r>
            <a:endParaRPr lang="en-GB" sz="2800" dirty="0" smtClean="0">
              <a:latin typeface="Gabriola" pitchFamily="82" charset="0"/>
            </a:endParaRPr>
          </a:p>
          <a:p>
            <a:pPr lvl="1">
              <a:lnSpc>
                <a:spcPct val="150000"/>
              </a:lnSpc>
            </a:pPr>
            <a:r>
              <a:rPr lang="en-GB" dirty="0" smtClean="0">
                <a:latin typeface="Gabriola" pitchFamily="82" charset="0"/>
              </a:rPr>
              <a:t>When </a:t>
            </a:r>
            <a:r>
              <a:rPr lang="en-GB" dirty="0">
                <a:latin typeface="Gabriola" pitchFamily="82" charset="0"/>
              </a:rPr>
              <a:t>the spinal injury is above T6, it activates splanchnic vasculature, which can lead to severe hypertension and compensatory </a:t>
            </a:r>
            <a:r>
              <a:rPr lang="en-GB" dirty="0" err="1">
                <a:latin typeface="Gabriola" pitchFamily="82" charset="0"/>
              </a:rPr>
              <a:t>bradycardia</a:t>
            </a:r>
            <a:r>
              <a:rPr lang="en-GB" dirty="0" smtClean="0">
                <a:latin typeface="Gabriola" pitchFamily="82" charset="0"/>
              </a:rPr>
              <a:t>.</a:t>
            </a:r>
            <a:endParaRPr lang="en-GB" b="1" dirty="0" smtClean="0">
              <a:latin typeface="Gabriola" pitchFamily="82" charset="0"/>
            </a:endParaRPr>
          </a:p>
          <a:p>
            <a:pPr>
              <a:lnSpc>
                <a:spcPct val="150000"/>
              </a:lnSpc>
            </a:pPr>
            <a:r>
              <a:rPr lang="en-GB" sz="2800" b="1" dirty="0" smtClean="0">
                <a:latin typeface="Gabriola" pitchFamily="82" charset="0"/>
              </a:rPr>
              <a:t>Effect of Lesions Below T6:</a:t>
            </a:r>
            <a:r>
              <a:rPr lang="en-GB" sz="2800" dirty="0" smtClean="0">
                <a:latin typeface="Gabriola" pitchFamily="82" charset="0"/>
              </a:rPr>
              <a:t> </a:t>
            </a:r>
          </a:p>
          <a:p>
            <a:pPr lvl="1">
              <a:lnSpc>
                <a:spcPct val="150000"/>
              </a:lnSpc>
            </a:pPr>
            <a:r>
              <a:rPr lang="en-GB" dirty="0" smtClean="0">
                <a:latin typeface="Gabriola" pitchFamily="82" charset="0"/>
              </a:rPr>
              <a:t>In SCI patients with lesions below T6, the sympathetic control of splanchnic vasculature remains intact, which typically prevents AD from occurring</a:t>
            </a:r>
          </a:p>
          <a:p>
            <a:pPr>
              <a:lnSpc>
                <a:spcPct val="150000"/>
              </a:lnSpc>
            </a:pPr>
            <a:endParaRPr lang="en-GB" sz="2800" dirty="0">
              <a:latin typeface="Gabriola" pitchFamily="82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68B41A-1613-4F80-A7F7-7E8938994EBA}" type="datetime1">
              <a:rPr lang="en-GB" smtClean="0"/>
              <a:t>21/11/2024</a:t>
            </a:fld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870879-168A-4CB6-A4A5-D501825799FC}" type="slidenum">
              <a:rPr lang="en-GB" smtClean="0"/>
              <a:t>56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9878270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274638"/>
            <a:ext cx="8435280" cy="706090"/>
          </a:xfrm>
        </p:spPr>
        <p:txBody>
          <a:bodyPr>
            <a:normAutofit fontScale="90000"/>
          </a:bodyPr>
          <a:lstStyle/>
          <a:p>
            <a:r>
              <a:rPr lang="en-GB" b="1" dirty="0" smtClean="0"/>
              <a:t/>
            </a:r>
            <a:br>
              <a:rPr lang="en-GB" b="1" dirty="0" smtClean="0"/>
            </a:br>
            <a:r>
              <a:rPr lang="en-GB" sz="3600" b="1" dirty="0" smtClean="0">
                <a:latin typeface="Times" pitchFamily="18" charset="0"/>
              </a:rPr>
              <a:t>Triggers of Autonomic </a:t>
            </a:r>
            <a:r>
              <a:rPr lang="en-GB" sz="3600" b="1" dirty="0" err="1" smtClean="0">
                <a:latin typeface="Times" pitchFamily="18" charset="0"/>
              </a:rPr>
              <a:t>Dysreflexia</a:t>
            </a:r>
            <a:r>
              <a:rPr lang="en-GB" b="1" dirty="0" smtClean="0"/>
              <a:t/>
            </a:r>
            <a:br>
              <a:rPr lang="en-GB" b="1" dirty="0" smtClean="0"/>
            </a:b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1052736"/>
            <a:ext cx="8712968" cy="5472608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GB" sz="2800" dirty="0" smtClean="0">
                <a:latin typeface="Gabriola" pitchFamily="82" charset="0"/>
              </a:rPr>
              <a:t>AD is usually triggered by noxious stimuli below the level of the injury, particularly in the abdominal and pelvic regions.</a:t>
            </a:r>
          </a:p>
          <a:p>
            <a:r>
              <a:rPr lang="en-GB" sz="2800" dirty="0" smtClean="0">
                <a:latin typeface="Gabriola" pitchFamily="82" charset="0"/>
              </a:rPr>
              <a:t> </a:t>
            </a:r>
            <a:r>
              <a:rPr lang="en-GB" sz="2800" b="1" dirty="0" smtClean="0">
                <a:latin typeface="Gabriola" pitchFamily="82" charset="0"/>
              </a:rPr>
              <a:t>Common triggers include:</a:t>
            </a:r>
          </a:p>
          <a:p>
            <a:pPr lvl="1">
              <a:lnSpc>
                <a:spcPct val="170000"/>
              </a:lnSpc>
            </a:pPr>
            <a:r>
              <a:rPr lang="en-GB" dirty="0" smtClean="0">
                <a:latin typeface="Gabriola" pitchFamily="82" charset="0"/>
              </a:rPr>
              <a:t>Bladder distension (80% of cases): Often from urinary retention or catheter blockage.</a:t>
            </a:r>
          </a:p>
          <a:p>
            <a:pPr lvl="1">
              <a:lnSpc>
                <a:spcPct val="170000"/>
              </a:lnSpc>
            </a:pPr>
            <a:r>
              <a:rPr lang="en-GB" dirty="0" smtClean="0">
                <a:latin typeface="Gabriola" pitchFamily="82" charset="0"/>
              </a:rPr>
              <a:t>Acute abdominal issues: Including bowel distension or obstruction.</a:t>
            </a:r>
          </a:p>
          <a:p>
            <a:pPr lvl="1">
              <a:lnSpc>
                <a:spcPct val="170000"/>
              </a:lnSpc>
            </a:pPr>
            <a:r>
              <a:rPr lang="en-GB" dirty="0" smtClean="0">
                <a:latin typeface="Gabriola" pitchFamily="82" charset="0"/>
              </a:rPr>
              <a:t>Urinary tract infections (UTIs).</a:t>
            </a:r>
          </a:p>
          <a:p>
            <a:endParaRPr lang="en-GB" sz="2800" dirty="0">
              <a:latin typeface="Gabriola" pitchFamily="82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88EEC8-2E06-45D0-AC68-6EC17A39B55C}" type="datetime1">
              <a:rPr lang="en-GB" smtClean="0"/>
              <a:t>21/11/2024</a:t>
            </a:fld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870879-168A-4CB6-A4A5-D501825799FC}" type="slidenum">
              <a:rPr lang="en-GB" smtClean="0"/>
              <a:t>57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6013468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9552" y="980728"/>
            <a:ext cx="8147248" cy="5145435"/>
          </a:xfrm>
        </p:spPr>
        <p:txBody>
          <a:bodyPr>
            <a:normAutofit/>
          </a:bodyPr>
          <a:lstStyle/>
          <a:p>
            <a:pPr lvl="1">
              <a:lnSpc>
                <a:spcPct val="170000"/>
              </a:lnSpc>
            </a:pPr>
            <a:r>
              <a:rPr lang="en-GB" dirty="0">
                <a:latin typeface="Gabriola" pitchFamily="82" charset="0"/>
              </a:rPr>
              <a:t>Skeletal fractures or pain.</a:t>
            </a:r>
          </a:p>
          <a:p>
            <a:pPr lvl="1">
              <a:lnSpc>
                <a:spcPct val="170000"/>
              </a:lnSpc>
            </a:pPr>
            <a:r>
              <a:rPr lang="en-GB" dirty="0">
                <a:latin typeface="Gabriola" pitchFamily="82" charset="0"/>
              </a:rPr>
              <a:t>Pressure ulcers (skin breakdown).</a:t>
            </a:r>
          </a:p>
          <a:p>
            <a:pPr lvl="1">
              <a:lnSpc>
                <a:spcPct val="170000"/>
              </a:lnSpc>
            </a:pPr>
            <a:r>
              <a:rPr lang="en-GB" dirty="0">
                <a:latin typeface="Gabriola" pitchFamily="82" charset="0"/>
              </a:rPr>
              <a:t>Sexual activity or uterine contractions.</a:t>
            </a:r>
          </a:p>
          <a:p>
            <a:pPr lvl="1">
              <a:lnSpc>
                <a:spcPct val="170000"/>
              </a:lnSpc>
            </a:pPr>
            <a:r>
              <a:rPr lang="en-GB" dirty="0">
                <a:latin typeface="Gabriola" pitchFamily="82" charset="0"/>
              </a:rPr>
              <a:t>Even gentle skin stimulation, like friction from bedding or clothing.</a:t>
            </a:r>
          </a:p>
          <a:p>
            <a:endParaRPr lang="en-GB" sz="28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108A5-0725-426B-9421-2A7AB83FB2C0}" type="datetime1">
              <a:rPr lang="en-GB" smtClean="0"/>
              <a:t>21/11/2024</a:t>
            </a:fld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870879-168A-4CB6-A4A5-D501825799FC}" type="slidenum">
              <a:rPr lang="en-GB" smtClean="0"/>
              <a:t>58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4891680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60648"/>
            <a:ext cx="8676456" cy="864096"/>
          </a:xfrm>
        </p:spPr>
        <p:txBody>
          <a:bodyPr>
            <a:normAutofit fontScale="90000"/>
          </a:bodyPr>
          <a:lstStyle/>
          <a:p>
            <a:r>
              <a:rPr lang="en-GB" b="1" dirty="0" smtClean="0"/>
              <a:t/>
            </a:r>
            <a:br>
              <a:rPr lang="en-GB" b="1" dirty="0" smtClean="0"/>
            </a:br>
            <a:r>
              <a:rPr lang="en-GB" b="1" dirty="0" smtClean="0"/>
              <a:t>	</a:t>
            </a:r>
            <a:r>
              <a:rPr lang="en-GB" sz="3100" b="1" dirty="0" err="1" smtClean="0">
                <a:latin typeface="Times" pitchFamily="18" charset="0"/>
              </a:rPr>
              <a:t>Anesthetic</a:t>
            </a:r>
            <a:r>
              <a:rPr lang="en-GB" sz="3100" b="1" dirty="0" smtClean="0">
                <a:latin typeface="Times" pitchFamily="18" charset="0"/>
              </a:rPr>
              <a:t> Considerations in </a:t>
            </a:r>
            <a:r>
              <a:rPr lang="en-GB" sz="3100" b="1" dirty="0" smtClean="0">
                <a:latin typeface="Times" pitchFamily="18" charset="0"/>
              </a:rPr>
              <a:t>SCI </a:t>
            </a:r>
            <a:r>
              <a:rPr lang="en-GB" sz="3100" b="1" dirty="0" smtClean="0">
                <a:latin typeface="Times" pitchFamily="18" charset="0"/>
              </a:rPr>
              <a:t>Patients</a:t>
            </a:r>
            <a:r>
              <a:rPr lang="en-GB" b="1" dirty="0" smtClean="0"/>
              <a:t/>
            </a:r>
            <a:br>
              <a:rPr lang="en-GB" b="1" dirty="0" smtClean="0"/>
            </a:b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1052736"/>
            <a:ext cx="8568952" cy="54006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GB" sz="2800" b="1" dirty="0" smtClean="0">
                <a:latin typeface="Gabriola" pitchFamily="82" charset="0"/>
              </a:rPr>
              <a:t>Pre-Operative Assessment: History Review:</a:t>
            </a:r>
            <a:endParaRPr lang="en-GB" sz="2800" dirty="0" smtClean="0">
              <a:latin typeface="Gabriola" pitchFamily="82" charset="0"/>
            </a:endParaRPr>
          </a:p>
          <a:p>
            <a:pPr lvl="2">
              <a:lnSpc>
                <a:spcPct val="150000"/>
              </a:lnSpc>
            </a:pPr>
            <a:r>
              <a:rPr lang="en-GB" sz="2800" b="1" dirty="0" smtClean="0">
                <a:latin typeface="Gabriola" pitchFamily="82" charset="0"/>
              </a:rPr>
              <a:t>Level of injury</a:t>
            </a:r>
            <a:r>
              <a:rPr lang="en-GB" sz="2800" dirty="0" smtClean="0">
                <a:latin typeface="Gabriola" pitchFamily="82" charset="0"/>
              </a:rPr>
              <a:t>: Affects airway management (e.g., cervical injury may limit neck movement).</a:t>
            </a:r>
          </a:p>
          <a:p>
            <a:pPr lvl="2">
              <a:lnSpc>
                <a:spcPct val="150000"/>
              </a:lnSpc>
            </a:pPr>
            <a:r>
              <a:rPr lang="en-GB" sz="2800" b="1" dirty="0" smtClean="0">
                <a:latin typeface="Gabriola" pitchFamily="82" charset="0"/>
              </a:rPr>
              <a:t>Time since injury</a:t>
            </a:r>
            <a:r>
              <a:rPr lang="en-GB" sz="2800" dirty="0" smtClean="0">
                <a:latin typeface="Gabriola" pitchFamily="82" charset="0"/>
              </a:rPr>
              <a:t>: Succinylcholine contraindicated within 3 days to 9 months due to hyperkalaemia risk.</a:t>
            </a:r>
          </a:p>
          <a:p>
            <a:pPr lvl="2">
              <a:lnSpc>
                <a:spcPct val="150000"/>
              </a:lnSpc>
            </a:pPr>
            <a:r>
              <a:rPr lang="en-GB" sz="2800" b="1" dirty="0" smtClean="0">
                <a:latin typeface="Gabriola" pitchFamily="82" charset="0"/>
              </a:rPr>
              <a:t>Sensory level</a:t>
            </a:r>
            <a:r>
              <a:rPr lang="en-GB" sz="2800" dirty="0" smtClean="0">
                <a:latin typeface="Gabriola" pitchFamily="82" charset="0"/>
              </a:rPr>
              <a:t>: Helps determine if local anaesthesia is sufficient for minor procedures below the level of injury.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36F5B-98BD-44EF-BC1C-403307CBCB56}" type="datetime1">
              <a:rPr lang="en-GB" smtClean="0"/>
              <a:t>21/11/2024</a:t>
            </a:fld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870879-168A-4CB6-A4A5-D501825799FC}" type="slidenum">
              <a:rPr lang="en-GB" smtClean="0"/>
              <a:t>59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6673548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188640"/>
            <a:ext cx="8507288" cy="504056"/>
          </a:xfrm>
        </p:spPr>
        <p:txBody>
          <a:bodyPr>
            <a:normAutofit fontScale="90000"/>
          </a:bodyPr>
          <a:lstStyle/>
          <a:p>
            <a:pPr algn="r"/>
            <a:r>
              <a:rPr lang="en-GB" dirty="0" smtClean="0"/>
              <a:t>Cont..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980728"/>
            <a:ext cx="8568952" cy="532859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GB" sz="2800" b="1" dirty="0" smtClean="0">
                <a:latin typeface="Gabriola" pitchFamily="82" charset="0"/>
              </a:rPr>
              <a:t>Physical Exam:</a:t>
            </a:r>
            <a:endParaRPr lang="en-GB" sz="2800" dirty="0" smtClean="0">
              <a:latin typeface="Gabriola" pitchFamily="82" charset="0"/>
            </a:endParaRPr>
          </a:p>
          <a:p>
            <a:pPr lvl="1">
              <a:lnSpc>
                <a:spcPct val="150000"/>
              </a:lnSpc>
            </a:pPr>
            <a:r>
              <a:rPr lang="en-GB" b="1" dirty="0" smtClean="0">
                <a:latin typeface="Gabriola" pitchFamily="82" charset="0"/>
              </a:rPr>
              <a:t>Airway Assessment</a:t>
            </a:r>
            <a:r>
              <a:rPr lang="en-GB" dirty="0" smtClean="0">
                <a:latin typeface="Gabriola" pitchFamily="82" charset="0"/>
              </a:rPr>
              <a:t>: Check dental status, </a:t>
            </a:r>
            <a:r>
              <a:rPr lang="en-GB" dirty="0" err="1" smtClean="0">
                <a:latin typeface="Gabriola" pitchFamily="82" charset="0"/>
              </a:rPr>
              <a:t>Mallampati</a:t>
            </a:r>
            <a:r>
              <a:rPr lang="en-GB" dirty="0" smtClean="0">
                <a:latin typeface="Gabriola" pitchFamily="82" charset="0"/>
              </a:rPr>
              <a:t> score, mouth opening, neck mobility. SCI patients may have limited neck mobility.</a:t>
            </a:r>
          </a:p>
          <a:p>
            <a:pPr lvl="1">
              <a:lnSpc>
                <a:spcPct val="150000"/>
              </a:lnSpc>
            </a:pPr>
            <a:r>
              <a:rPr lang="en-GB" b="1" dirty="0" smtClean="0">
                <a:latin typeface="Gabriola" pitchFamily="82" charset="0"/>
              </a:rPr>
              <a:t>Respiratory and Cardiovascular Status</a:t>
            </a:r>
            <a:r>
              <a:rPr lang="en-GB" dirty="0" smtClean="0">
                <a:latin typeface="Gabriola" pitchFamily="82" charset="0"/>
              </a:rPr>
              <a:t>: Assess baseline vital capacity, blood pressure, and heart rate.</a:t>
            </a:r>
          </a:p>
          <a:p>
            <a:pPr>
              <a:lnSpc>
                <a:spcPct val="150000"/>
              </a:lnSpc>
            </a:pPr>
            <a:endParaRPr lang="en-GB" sz="2800" dirty="0">
              <a:latin typeface="Gabriola" pitchFamily="82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60B12D-D7B9-4446-8120-62E5FB948294}" type="datetime1">
              <a:rPr lang="en-GB" smtClean="0"/>
              <a:t>21/11/2024</a:t>
            </a:fld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870879-168A-4CB6-A4A5-D501825799FC}" type="slidenum">
              <a:rPr lang="en-GB" smtClean="0"/>
              <a:t>60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7913371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74638"/>
            <a:ext cx="8686800" cy="418058"/>
          </a:xfrm>
        </p:spPr>
        <p:txBody>
          <a:bodyPr>
            <a:normAutofit fontScale="90000"/>
          </a:bodyPr>
          <a:lstStyle/>
          <a:p>
            <a:r>
              <a:rPr lang="en-GB" b="1" dirty="0" smtClean="0"/>
              <a:t/>
            </a:r>
            <a:br>
              <a:rPr lang="en-GB" b="1" dirty="0" smtClean="0"/>
            </a:br>
            <a:r>
              <a:rPr lang="en-GB" b="1" dirty="0" smtClean="0">
                <a:latin typeface="Times" pitchFamily="18" charset="0"/>
              </a:rPr>
              <a:t>Access and Monitoring</a:t>
            </a:r>
            <a:r>
              <a:rPr lang="en-GB" b="1" dirty="0" smtClean="0"/>
              <a:t/>
            </a:r>
            <a:br>
              <a:rPr lang="en-GB" b="1" dirty="0" smtClean="0"/>
            </a:b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980728"/>
            <a:ext cx="8435280" cy="5145435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GB" sz="2800" b="1" dirty="0" smtClean="0">
                <a:latin typeface="Gabriola" pitchFamily="82" charset="0"/>
              </a:rPr>
              <a:t>Standard Monitors</a:t>
            </a:r>
            <a:r>
              <a:rPr lang="en-GB" sz="2800" dirty="0" smtClean="0">
                <a:latin typeface="Gabriola" pitchFamily="82" charset="0"/>
              </a:rPr>
              <a:t>: Temperature probe, ECG, pulse </a:t>
            </a:r>
            <a:r>
              <a:rPr lang="en-GB" sz="2800" dirty="0" err="1" smtClean="0">
                <a:latin typeface="Gabriola" pitchFamily="82" charset="0"/>
              </a:rPr>
              <a:t>oximetry</a:t>
            </a:r>
            <a:r>
              <a:rPr lang="en-GB" sz="2800" dirty="0" smtClean="0">
                <a:latin typeface="Gabriola" pitchFamily="82" charset="0"/>
              </a:rPr>
              <a:t>, blood pressure cuff, </a:t>
            </a:r>
            <a:r>
              <a:rPr lang="en-GB" sz="2800" dirty="0" err="1" smtClean="0">
                <a:latin typeface="Gabriola" pitchFamily="82" charset="0"/>
              </a:rPr>
              <a:t>capnography</a:t>
            </a:r>
            <a:r>
              <a:rPr lang="en-GB" sz="2800" dirty="0" smtClean="0">
                <a:latin typeface="Gabriola" pitchFamily="82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GB" sz="2800" dirty="0" smtClean="0">
                <a:latin typeface="Gabriola" pitchFamily="82" charset="0"/>
              </a:rPr>
              <a:t>Large bore IVs or central venous catheters for potential hemodynamic instability.</a:t>
            </a:r>
          </a:p>
          <a:p>
            <a:pPr>
              <a:lnSpc>
                <a:spcPct val="150000"/>
              </a:lnSpc>
            </a:pPr>
            <a:r>
              <a:rPr lang="en-GB" sz="2800" b="1" dirty="0" smtClean="0">
                <a:latin typeface="Gabriola" pitchFamily="82" charset="0"/>
              </a:rPr>
              <a:t>Emergency Equipment</a:t>
            </a:r>
            <a:r>
              <a:rPr lang="en-GB" sz="2800" dirty="0" smtClean="0">
                <a:latin typeface="Gabriola" pitchFamily="82" charset="0"/>
              </a:rPr>
              <a:t>: Suction device, ventilator, </a:t>
            </a:r>
            <a:r>
              <a:rPr lang="en-GB" sz="2800" dirty="0" err="1" smtClean="0">
                <a:latin typeface="Gabriola" pitchFamily="82" charset="0"/>
              </a:rPr>
              <a:t>anesthesia</a:t>
            </a:r>
            <a:r>
              <a:rPr lang="en-GB" sz="2800" dirty="0" smtClean="0">
                <a:latin typeface="Gabriola" pitchFamily="82" charset="0"/>
              </a:rPr>
              <a:t> machine, oxygen, emergency medications (e.g., atropine, epinephrine).</a:t>
            </a:r>
          </a:p>
          <a:p>
            <a:pPr>
              <a:lnSpc>
                <a:spcPct val="150000"/>
              </a:lnSpc>
            </a:pPr>
            <a:r>
              <a:rPr lang="en-GB" sz="2800" b="1" dirty="0" smtClean="0">
                <a:latin typeface="Gabriola" pitchFamily="82" charset="0"/>
              </a:rPr>
              <a:t>Pre-oxygenation</a:t>
            </a:r>
            <a:r>
              <a:rPr lang="en-GB" sz="2800" dirty="0" smtClean="0">
                <a:latin typeface="Gabriola" pitchFamily="82" charset="0"/>
              </a:rPr>
              <a:t>: Critical to ensure adequate oxygenation before intubation.</a:t>
            </a:r>
          </a:p>
          <a:p>
            <a:pPr>
              <a:lnSpc>
                <a:spcPct val="150000"/>
              </a:lnSpc>
            </a:pPr>
            <a:endParaRPr lang="en-GB" sz="2800" dirty="0">
              <a:latin typeface="Gabriola" pitchFamily="82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18D34-F854-46C7-8F0E-F296DE8C7903}" type="datetime1">
              <a:rPr lang="en-GB" smtClean="0"/>
              <a:t>21/11/2024</a:t>
            </a:fld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870879-168A-4CB6-A4A5-D501825799FC}" type="slidenum">
              <a:rPr lang="en-GB" smtClean="0"/>
              <a:t>61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4757728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504" y="274638"/>
            <a:ext cx="8579296" cy="418058"/>
          </a:xfrm>
        </p:spPr>
        <p:txBody>
          <a:bodyPr>
            <a:normAutofit fontScale="90000"/>
          </a:bodyPr>
          <a:lstStyle/>
          <a:p>
            <a:r>
              <a:rPr lang="en-GB" b="1" dirty="0" smtClean="0">
                <a:latin typeface="Arial Black" pitchFamily="34" charset="0"/>
              </a:rPr>
              <a:t/>
            </a:r>
            <a:br>
              <a:rPr lang="en-GB" b="1" dirty="0" smtClean="0">
                <a:latin typeface="Arial Black" pitchFamily="34" charset="0"/>
              </a:rPr>
            </a:br>
            <a:r>
              <a:rPr lang="en-GB" b="1" dirty="0" smtClean="0">
                <a:latin typeface="Arial Black" pitchFamily="34" charset="0"/>
              </a:rPr>
              <a:t>Induction </a:t>
            </a:r>
            <a:r>
              <a:rPr lang="en-GB" b="1" dirty="0" smtClean="0">
                <a:latin typeface="Arial Black" pitchFamily="34" charset="0"/>
              </a:rPr>
              <a:t>and Intubation</a:t>
            </a:r>
            <a:r>
              <a:rPr lang="en-GB" b="1" dirty="0" smtClean="0"/>
              <a:t/>
            </a:r>
            <a:br>
              <a:rPr lang="en-GB" b="1" dirty="0" smtClean="0"/>
            </a:b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620688"/>
            <a:ext cx="8507288" cy="550547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GB" sz="2800" b="1" dirty="0" smtClean="0">
                <a:latin typeface="Gabriola" pitchFamily="82" charset="0"/>
              </a:rPr>
              <a:t>Induction Drugs</a:t>
            </a:r>
            <a:r>
              <a:rPr lang="en-GB" sz="2800" dirty="0" smtClean="0">
                <a:latin typeface="Gabriola" pitchFamily="82" charset="0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GB" dirty="0" smtClean="0">
                <a:latin typeface="Gabriola" pitchFamily="82" charset="0"/>
              </a:rPr>
              <a:t>Common agents: </a:t>
            </a:r>
            <a:r>
              <a:rPr lang="en-GB" dirty="0" err="1" smtClean="0">
                <a:latin typeface="Gabriola" pitchFamily="82" charset="0"/>
              </a:rPr>
              <a:t>Propofol</a:t>
            </a:r>
            <a:r>
              <a:rPr lang="en-GB" dirty="0" smtClean="0">
                <a:latin typeface="Gabriola" pitchFamily="82" charset="0"/>
              </a:rPr>
              <a:t>, ketamine, </a:t>
            </a:r>
            <a:r>
              <a:rPr lang="en-GB" dirty="0" err="1" smtClean="0">
                <a:latin typeface="Gabriola" pitchFamily="82" charset="0"/>
              </a:rPr>
              <a:t>etomidate</a:t>
            </a:r>
            <a:r>
              <a:rPr lang="en-GB" dirty="0" smtClean="0">
                <a:latin typeface="Gabriola" pitchFamily="82" charset="0"/>
              </a:rPr>
              <a:t> (often with opioids and </a:t>
            </a:r>
            <a:r>
              <a:rPr lang="en-GB" dirty="0" err="1" smtClean="0">
                <a:latin typeface="Gabriola" pitchFamily="82" charset="0"/>
              </a:rPr>
              <a:t>lidocaine</a:t>
            </a:r>
            <a:r>
              <a:rPr lang="en-GB" dirty="0" smtClean="0">
                <a:latin typeface="Gabriola" pitchFamily="82" charset="0"/>
              </a:rPr>
              <a:t>).</a:t>
            </a:r>
          </a:p>
          <a:p>
            <a:pPr lvl="1">
              <a:lnSpc>
                <a:spcPct val="150000"/>
              </a:lnSpc>
            </a:pPr>
            <a:r>
              <a:rPr lang="en-GB" dirty="0" smtClean="0">
                <a:latin typeface="Gabriola" pitchFamily="82" charset="0"/>
              </a:rPr>
              <a:t>SCI patients may have reduced blood volume and muscle mass due to deconditioning, increasing sensitivity to anaesthetics agents and risk of hypotension.</a:t>
            </a:r>
          </a:p>
          <a:p>
            <a:pPr lvl="1">
              <a:lnSpc>
                <a:spcPct val="150000"/>
              </a:lnSpc>
            </a:pPr>
            <a:r>
              <a:rPr lang="en-GB" b="1" dirty="0" smtClean="0">
                <a:latin typeface="Gabriola" pitchFamily="82" charset="0"/>
              </a:rPr>
              <a:t>Renal Dysfunction</a:t>
            </a:r>
            <a:r>
              <a:rPr lang="en-GB" dirty="0" smtClean="0">
                <a:latin typeface="Gabriola" pitchFamily="82" charset="0"/>
              </a:rPr>
              <a:t>: SCI patients at higher risk, and many induction agents are cleared </a:t>
            </a:r>
            <a:r>
              <a:rPr lang="en-GB" dirty="0" err="1" smtClean="0">
                <a:latin typeface="Gabriola" pitchFamily="82" charset="0"/>
              </a:rPr>
              <a:t>renally</a:t>
            </a:r>
            <a:r>
              <a:rPr lang="en-GB" dirty="0" smtClean="0">
                <a:latin typeface="Gabriola" pitchFamily="82" charset="0"/>
              </a:rPr>
              <a:t>, necessitating reduced dosages.</a:t>
            </a:r>
          </a:p>
          <a:p>
            <a:pPr>
              <a:lnSpc>
                <a:spcPct val="150000"/>
              </a:lnSpc>
            </a:pPr>
            <a:endParaRPr lang="en-GB" sz="2800" dirty="0">
              <a:latin typeface="Gabriola" pitchFamily="82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64CB80-F1BF-402A-93F8-AFB8C1D2745E}" type="datetime1">
              <a:rPr lang="en-GB" smtClean="0"/>
              <a:t>21/11/2024</a:t>
            </a:fld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870879-168A-4CB6-A4A5-D501825799FC}" type="slidenum">
              <a:rPr lang="en-GB" smtClean="0"/>
              <a:t>62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972946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528" y="116632"/>
            <a:ext cx="8363272" cy="432048"/>
          </a:xfrm>
        </p:spPr>
        <p:txBody>
          <a:bodyPr>
            <a:normAutofit fontScale="90000"/>
          </a:bodyPr>
          <a:lstStyle/>
          <a:p>
            <a:pPr algn="r"/>
            <a:r>
              <a:rPr lang="en-GB" dirty="0" smtClean="0"/>
              <a:t>Cont..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548680"/>
            <a:ext cx="8568952" cy="5577483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GB" sz="2800" b="1" dirty="0">
                <a:latin typeface="Gabriola" pitchFamily="82" charset="0"/>
              </a:rPr>
              <a:t>Neuromuscular Blocking Agents</a:t>
            </a:r>
            <a:r>
              <a:rPr lang="en-GB" sz="2800" dirty="0">
                <a:latin typeface="Gabriola" pitchFamily="82" charset="0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GB" b="1" dirty="0">
                <a:latin typeface="Gabriola" pitchFamily="82" charset="0"/>
              </a:rPr>
              <a:t>Succinylcholine</a:t>
            </a:r>
            <a:r>
              <a:rPr lang="en-GB" dirty="0">
                <a:latin typeface="Gabriola" pitchFamily="82" charset="0"/>
              </a:rPr>
              <a:t>: Contraindicated 3 days to 9 months post-injury due to risk of </a:t>
            </a:r>
            <a:r>
              <a:rPr lang="en-GB" dirty="0" err="1">
                <a:latin typeface="Gabriola" pitchFamily="82" charset="0"/>
              </a:rPr>
              <a:t>hyperkalemia</a:t>
            </a:r>
            <a:r>
              <a:rPr lang="en-GB" dirty="0">
                <a:latin typeface="Gabriola" pitchFamily="82" charset="0"/>
              </a:rPr>
              <a:t>.</a:t>
            </a:r>
          </a:p>
          <a:p>
            <a:pPr lvl="1">
              <a:lnSpc>
                <a:spcPct val="150000"/>
              </a:lnSpc>
            </a:pPr>
            <a:r>
              <a:rPr lang="en-GB" b="1" dirty="0" smtClean="0">
                <a:latin typeface="Gabriola" pitchFamily="82" charset="0"/>
              </a:rPr>
              <a:t>NDMR</a:t>
            </a:r>
            <a:r>
              <a:rPr lang="en-GB" dirty="0" smtClean="0">
                <a:latin typeface="Gabriola" pitchFamily="82" charset="0"/>
              </a:rPr>
              <a:t> can </a:t>
            </a:r>
            <a:r>
              <a:rPr lang="en-GB" dirty="0">
                <a:latin typeface="Gabriola" pitchFamily="82" charset="0"/>
              </a:rPr>
              <a:t>be safely used but may act slower.</a:t>
            </a:r>
          </a:p>
          <a:p>
            <a:pPr>
              <a:lnSpc>
                <a:spcPct val="150000"/>
              </a:lnSpc>
            </a:pPr>
            <a:r>
              <a:rPr lang="en-GB" sz="2800" b="1" dirty="0">
                <a:latin typeface="Gabriola" pitchFamily="82" charset="0"/>
              </a:rPr>
              <a:t>Airway Management</a:t>
            </a:r>
            <a:r>
              <a:rPr lang="en-GB" sz="2800" dirty="0">
                <a:latin typeface="Gabriola" pitchFamily="82" charset="0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GB" b="1" dirty="0">
                <a:latin typeface="Gabriola" pitchFamily="82" charset="0"/>
              </a:rPr>
              <a:t>High-level injuries (Cervical/High Thoracic)</a:t>
            </a:r>
            <a:r>
              <a:rPr lang="en-GB" dirty="0">
                <a:latin typeface="Gabriola" pitchFamily="82" charset="0"/>
              </a:rPr>
              <a:t>: Manual in-line stabilization or awake </a:t>
            </a:r>
            <a:r>
              <a:rPr lang="en-GB" dirty="0" err="1">
                <a:latin typeface="Gabriola" pitchFamily="82" charset="0"/>
              </a:rPr>
              <a:t>fiberoptic</a:t>
            </a:r>
            <a:r>
              <a:rPr lang="en-GB" dirty="0">
                <a:latin typeface="Gabriola" pitchFamily="82" charset="0"/>
              </a:rPr>
              <a:t> intubation may be needed to prevent further spinal injury.</a:t>
            </a:r>
          </a:p>
          <a:p>
            <a:pPr>
              <a:lnSpc>
                <a:spcPct val="150000"/>
              </a:lnSpc>
            </a:pPr>
            <a:endParaRPr lang="en-GB" sz="2800" dirty="0">
              <a:latin typeface="Gabriola" pitchFamily="82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E4107B-CE7E-4D11-8512-1C512230A1A4}" type="datetime1">
              <a:rPr lang="en-GB" smtClean="0"/>
              <a:t>21/11/2024</a:t>
            </a:fld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870879-168A-4CB6-A4A5-D501825799FC}" type="slidenum">
              <a:rPr lang="en-GB" smtClean="0"/>
              <a:t>63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69312933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188640"/>
            <a:ext cx="8507288" cy="432048"/>
          </a:xfrm>
        </p:spPr>
        <p:txBody>
          <a:bodyPr>
            <a:normAutofit fontScale="90000"/>
          </a:bodyPr>
          <a:lstStyle/>
          <a:p>
            <a:pPr algn="r"/>
            <a:r>
              <a:rPr lang="en-GB" dirty="0" smtClean="0"/>
              <a:t>Cont..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548680"/>
            <a:ext cx="8507288" cy="5577483"/>
          </a:xfrm>
        </p:spPr>
        <p:txBody>
          <a:bodyPr>
            <a:noAutofit/>
          </a:bodyPr>
          <a:lstStyle/>
          <a:p>
            <a:pPr lvl="1">
              <a:lnSpc>
                <a:spcPct val="150000"/>
              </a:lnSpc>
            </a:pPr>
            <a:r>
              <a:rPr lang="en-GB" sz="3200" b="1" dirty="0" smtClean="0">
                <a:latin typeface="Gabriola" pitchFamily="82" charset="0"/>
              </a:rPr>
              <a:t>Intubation Response Variability</a:t>
            </a:r>
            <a:r>
              <a:rPr lang="en-GB" sz="3200" dirty="0" smtClean="0">
                <a:latin typeface="Gabriola" pitchFamily="82" charset="0"/>
              </a:rPr>
              <a:t>:</a:t>
            </a:r>
          </a:p>
          <a:p>
            <a:pPr lvl="2">
              <a:lnSpc>
                <a:spcPct val="150000"/>
              </a:lnSpc>
            </a:pPr>
            <a:r>
              <a:rPr lang="en-GB" sz="2800" b="1" dirty="0" smtClean="0">
                <a:latin typeface="Gabriola" pitchFamily="82" charset="0"/>
              </a:rPr>
              <a:t>Cervical lesions</a:t>
            </a:r>
            <a:r>
              <a:rPr lang="en-GB" sz="2800" dirty="0" smtClean="0">
                <a:latin typeface="Gabriola" pitchFamily="82" charset="0"/>
              </a:rPr>
              <a:t>: Dampened </a:t>
            </a:r>
            <a:r>
              <a:rPr lang="en-GB" sz="2800" dirty="0" err="1" smtClean="0">
                <a:latin typeface="Gabriola" pitchFamily="82" charset="0"/>
              </a:rPr>
              <a:t>pressor</a:t>
            </a:r>
            <a:r>
              <a:rPr lang="en-GB" sz="2800" dirty="0" smtClean="0">
                <a:latin typeface="Gabriola" pitchFamily="82" charset="0"/>
              </a:rPr>
              <a:t> response (minimal increase in systolic pressure, heart rate).</a:t>
            </a:r>
          </a:p>
          <a:p>
            <a:pPr lvl="2">
              <a:lnSpc>
                <a:spcPct val="150000"/>
              </a:lnSpc>
            </a:pPr>
            <a:r>
              <a:rPr lang="en-GB" sz="2800" b="1" dirty="0" smtClean="0">
                <a:latin typeface="Gabriola" pitchFamily="82" charset="0"/>
              </a:rPr>
              <a:t>Thoracic lesions</a:t>
            </a:r>
            <a:r>
              <a:rPr lang="en-GB" sz="2800" dirty="0" smtClean="0">
                <a:latin typeface="Gabriola" pitchFamily="82" charset="0"/>
              </a:rPr>
              <a:t>: ↑HR and norepinephrine release.</a:t>
            </a:r>
          </a:p>
          <a:p>
            <a:pPr lvl="2">
              <a:lnSpc>
                <a:spcPct val="150000"/>
              </a:lnSpc>
            </a:pPr>
            <a:r>
              <a:rPr lang="en-GB" sz="2800" b="1" dirty="0" smtClean="0">
                <a:latin typeface="Gabriola" pitchFamily="82" charset="0"/>
              </a:rPr>
              <a:t>Low thoracic lesions</a:t>
            </a:r>
            <a:r>
              <a:rPr lang="en-GB" sz="2800" dirty="0" smtClean="0">
                <a:latin typeface="Gabriola" pitchFamily="82" charset="0"/>
              </a:rPr>
              <a:t>: Similar to control group with marked catecholamine</a:t>
            </a:r>
            <a:endParaRPr lang="en-GB" sz="2800" dirty="0">
              <a:latin typeface="Gabriola" pitchFamily="82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AB09F-C7F0-4F55-8D20-BEC17689886E}" type="datetime1">
              <a:rPr lang="en-GB" smtClean="0"/>
              <a:t>21/11/2024</a:t>
            </a:fld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870879-168A-4CB6-A4A5-D501825799FC}" type="slidenum">
              <a:rPr lang="en-GB" smtClean="0"/>
              <a:t>64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9365093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274638"/>
            <a:ext cx="8507288" cy="418058"/>
          </a:xfrm>
        </p:spPr>
        <p:txBody>
          <a:bodyPr>
            <a:normAutofit fontScale="90000"/>
          </a:bodyPr>
          <a:lstStyle/>
          <a:p>
            <a:r>
              <a:rPr lang="en-GB" b="1" dirty="0" smtClean="0">
                <a:latin typeface="Times" pitchFamily="18" charset="0"/>
              </a:rPr>
              <a:t>Intraoperative Care</a:t>
            </a:r>
            <a:endParaRPr lang="en-GB" dirty="0">
              <a:latin typeface="Times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836712"/>
            <a:ext cx="8712968" cy="5832648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GB" sz="2800" b="1" dirty="0" err="1" smtClean="0">
                <a:latin typeface="Gabriola" pitchFamily="82" charset="0"/>
              </a:rPr>
              <a:t>Anesthesia</a:t>
            </a:r>
            <a:r>
              <a:rPr lang="en-GB" sz="2800" b="1" dirty="0" smtClean="0">
                <a:latin typeface="Gabriola" pitchFamily="82" charset="0"/>
              </a:rPr>
              <a:t> Types</a:t>
            </a:r>
            <a:r>
              <a:rPr lang="en-GB" sz="2800" dirty="0" smtClean="0">
                <a:latin typeface="Gabriola" pitchFamily="82" charset="0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GB" dirty="0" smtClean="0">
                <a:latin typeface="Gabriola" pitchFamily="82" charset="0"/>
              </a:rPr>
              <a:t>Both TIVA and inhalation agents are safe options.</a:t>
            </a:r>
          </a:p>
          <a:p>
            <a:pPr lvl="1">
              <a:lnSpc>
                <a:spcPct val="150000"/>
              </a:lnSpc>
            </a:pPr>
            <a:r>
              <a:rPr lang="en-GB" dirty="0" err="1" smtClean="0">
                <a:latin typeface="Gabriola" pitchFamily="82" charset="0"/>
              </a:rPr>
              <a:t>Propofol</a:t>
            </a:r>
            <a:r>
              <a:rPr lang="en-GB" dirty="0" smtClean="0">
                <a:latin typeface="Gabriola" pitchFamily="82" charset="0"/>
              </a:rPr>
              <a:t> and </a:t>
            </a:r>
            <a:r>
              <a:rPr lang="en-GB" dirty="0" err="1" smtClean="0">
                <a:latin typeface="Gabriola" pitchFamily="82" charset="0"/>
              </a:rPr>
              <a:t>sevoflurane</a:t>
            </a:r>
            <a:r>
              <a:rPr lang="en-GB" dirty="0" smtClean="0">
                <a:latin typeface="Gabriola" pitchFamily="82" charset="0"/>
              </a:rPr>
              <a:t> commonly used.</a:t>
            </a:r>
          </a:p>
          <a:p>
            <a:pPr>
              <a:lnSpc>
                <a:spcPct val="150000"/>
              </a:lnSpc>
            </a:pPr>
            <a:r>
              <a:rPr lang="en-GB" sz="2800" b="1" dirty="0" smtClean="0">
                <a:latin typeface="Gabriola" pitchFamily="82" charset="0"/>
              </a:rPr>
              <a:t>Hemodynamic Considerations</a:t>
            </a:r>
            <a:r>
              <a:rPr lang="en-GB" sz="2800" dirty="0" smtClean="0">
                <a:latin typeface="Gabriola" pitchFamily="82" charset="0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GB" b="1" dirty="0" smtClean="0">
                <a:latin typeface="Gabriola" pitchFamily="82" charset="0"/>
              </a:rPr>
              <a:t>Hypotension</a:t>
            </a:r>
            <a:r>
              <a:rPr lang="en-GB" dirty="0" smtClean="0">
                <a:latin typeface="Gabriola" pitchFamily="82" charset="0"/>
              </a:rPr>
              <a:t>: Can occur with </a:t>
            </a:r>
            <a:r>
              <a:rPr lang="en-GB" dirty="0" err="1" smtClean="0">
                <a:latin typeface="Gabriola" pitchFamily="82" charset="0"/>
              </a:rPr>
              <a:t>propofol</a:t>
            </a:r>
            <a:r>
              <a:rPr lang="en-GB" dirty="0" smtClean="0">
                <a:latin typeface="Gabriola" pitchFamily="82" charset="0"/>
              </a:rPr>
              <a:t> or </a:t>
            </a:r>
            <a:r>
              <a:rPr lang="en-GB" dirty="0" err="1" smtClean="0">
                <a:latin typeface="Gabriola" pitchFamily="82" charset="0"/>
              </a:rPr>
              <a:t>sevoflurane</a:t>
            </a:r>
            <a:r>
              <a:rPr lang="en-GB" dirty="0" smtClean="0">
                <a:latin typeface="Gabriola" pitchFamily="82" charset="0"/>
              </a:rPr>
              <a:t>; </a:t>
            </a:r>
          </a:p>
          <a:p>
            <a:pPr lvl="1">
              <a:lnSpc>
                <a:spcPct val="150000"/>
              </a:lnSpc>
            </a:pPr>
            <a:r>
              <a:rPr lang="en-GB" dirty="0" smtClean="0">
                <a:latin typeface="Gabriola" pitchFamily="82" charset="0"/>
              </a:rPr>
              <a:t>critical to maintain </a:t>
            </a:r>
            <a:r>
              <a:rPr lang="en-GB" b="1" dirty="0" smtClean="0">
                <a:latin typeface="Gabriola" pitchFamily="82" charset="0"/>
              </a:rPr>
              <a:t>MAP 85-90 mmHg</a:t>
            </a:r>
            <a:r>
              <a:rPr lang="en-GB" dirty="0" smtClean="0">
                <a:latin typeface="Gabriola" pitchFamily="82" charset="0"/>
              </a:rPr>
              <a:t> during the first 7 days post-injury to optimize spinal cord perfusion.</a:t>
            </a:r>
          </a:p>
          <a:p>
            <a:pPr lvl="1">
              <a:lnSpc>
                <a:spcPct val="150000"/>
              </a:lnSpc>
            </a:pPr>
            <a:r>
              <a:rPr lang="en-GB" b="1" dirty="0" smtClean="0">
                <a:latin typeface="Gabriola" pitchFamily="82" charset="0"/>
              </a:rPr>
              <a:t>Vasopressors</a:t>
            </a:r>
            <a:r>
              <a:rPr lang="en-GB" dirty="0" smtClean="0">
                <a:latin typeface="Gabriola" pitchFamily="82" charset="0"/>
              </a:rPr>
              <a:t>: Use when hypotension persists.</a:t>
            </a:r>
          </a:p>
          <a:p>
            <a:pPr>
              <a:lnSpc>
                <a:spcPct val="150000"/>
              </a:lnSpc>
            </a:pPr>
            <a:endParaRPr lang="en-GB" sz="2800" dirty="0">
              <a:latin typeface="Gabriola" pitchFamily="82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02C9BF-05F8-4CB7-8DC2-5AE2E58365DF}" type="datetime1">
              <a:rPr lang="en-GB" smtClean="0"/>
              <a:t>21/11/2024</a:t>
            </a:fld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870879-168A-4CB6-A4A5-D501825799FC}" type="slidenum">
              <a:rPr lang="en-GB" smtClean="0"/>
              <a:t>65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1504767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504" y="274638"/>
            <a:ext cx="8579296" cy="562074"/>
          </a:xfrm>
        </p:spPr>
        <p:txBody>
          <a:bodyPr>
            <a:normAutofit fontScale="90000"/>
          </a:bodyPr>
          <a:lstStyle/>
          <a:p>
            <a:pPr algn="r"/>
            <a:r>
              <a:rPr lang="en-GB" dirty="0" smtClean="0"/>
              <a:t>Cont..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692696"/>
            <a:ext cx="8856984" cy="543346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GB" sz="2800" b="1" dirty="0" smtClean="0">
                <a:latin typeface="Gabriola" pitchFamily="82" charset="0"/>
              </a:rPr>
              <a:t>Autonomic </a:t>
            </a:r>
            <a:r>
              <a:rPr lang="en-GB" sz="2800" b="1" dirty="0" err="1" smtClean="0">
                <a:latin typeface="Gabriola" pitchFamily="82" charset="0"/>
              </a:rPr>
              <a:t>Dysreflexia</a:t>
            </a:r>
            <a:r>
              <a:rPr lang="en-GB" sz="2800" b="1" dirty="0" smtClean="0">
                <a:latin typeface="Gabriola" pitchFamily="82" charset="0"/>
              </a:rPr>
              <a:t> (</a:t>
            </a:r>
            <a:r>
              <a:rPr lang="en-GB" sz="2800" b="1" dirty="0" err="1" smtClean="0">
                <a:latin typeface="Gabriola" pitchFamily="82" charset="0"/>
              </a:rPr>
              <a:t>Hyperreflexia</a:t>
            </a:r>
            <a:r>
              <a:rPr lang="en-GB" sz="2800" b="1" dirty="0" smtClean="0">
                <a:latin typeface="Gabriola" pitchFamily="82" charset="0"/>
              </a:rPr>
              <a:t>)</a:t>
            </a:r>
            <a:r>
              <a:rPr lang="en-GB" sz="2800" dirty="0" smtClean="0">
                <a:latin typeface="Gabriola" pitchFamily="82" charset="0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GB" dirty="0" smtClean="0">
                <a:latin typeface="Gabriola" pitchFamily="82" charset="0"/>
              </a:rPr>
              <a:t>Signs in awake patients: Headache, sweating.</a:t>
            </a:r>
          </a:p>
          <a:p>
            <a:pPr lvl="2">
              <a:lnSpc>
                <a:spcPct val="150000"/>
              </a:lnSpc>
            </a:pPr>
            <a:r>
              <a:rPr lang="en-GB" dirty="0" smtClean="0">
                <a:latin typeface="Gabriola" pitchFamily="82" charset="0"/>
              </a:rPr>
              <a:t>In anesthetized patients: May present as hypertension or </a:t>
            </a:r>
            <a:r>
              <a:rPr lang="en-GB" dirty="0" err="1" smtClean="0">
                <a:latin typeface="Gabriola" pitchFamily="82" charset="0"/>
              </a:rPr>
              <a:t>bradycardia</a:t>
            </a:r>
            <a:r>
              <a:rPr lang="en-GB" dirty="0" smtClean="0">
                <a:latin typeface="Gabriola" pitchFamily="82" charset="0"/>
              </a:rPr>
              <a:t>.</a:t>
            </a:r>
          </a:p>
          <a:p>
            <a:pPr lvl="2">
              <a:lnSpc>
                <a:spcPct val="150000"/>
              </a:lnSpc>
            </a:pPr>
            <a:r>
              <a:rPr lang="en-GB" dirty="0" smtClean="0">
                <a:latin typeface="Gabriola" pitchFamily="82" charset="0"/>
              </a:rPr>
              <a:t>Treatment: Deepen anaesthetic, administer antihypertensive medications (e.g., hydralazine, </a:t>
            </a:r>
            <a:r>
              <a:rPr lang="en-GB" dirty="0" err="1" smtClean="0">
                <a:latin typeface="Gabriola" pitchFamily="82" charset="0"/>
              </a:rPr>
              <a:t>nitroprusside</a:t>
            </a:r>
            <a:r>
              <a:rPr lang="en-GB" dirty="0" smtClean="0">
                <a:latin typeface="Gabriola" pitchFamily="82" charset="0"/>
              </a:rPr>
              <a:t>), or IV </a:t>
            </a:r>
            <a:r>
              <a:rPr lang="en-GB" dirty="0" err="1" smtClean="0">
                <a:latin typeface="Gabriola" pitchFamily="82" charset="0"/>
              </a:rPr>
              <a:t>lidocaine</a:t>
            </a:r>
            <a:r>
              <a:rPr lang="en-GB" dirty="0" smtClean="0">
                <a:latin typeface="Gabriola" pitchFamily="82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GB" sz="2800" b="1" dirty="0" err="1" smtClean="0">
                <a:latin typeface="Gabriola" pitchFamily="82" charset="0"/>
              </a:rPr>
              <a:t>Dexmedetomidine</a:t>
            </a:r>
            <a:r>
              <a:rPr lang="en-GB" sz="2800" dirty="0" smtClean="0">
                <a:latin typeface="Gabriola" pitchFamily="82" charset="0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GB" dirty="0" smtClean="0">
                <a:latin typeface="Gabriola" pitchFamily="82" charset="0"/>
              </a:rPr>
              <a:t>Used to prevent autonomic </a:t>
            </a:r>
            <a:r>
              <a:rPr lang="en-GB" dirty="0" err="1" smtClean="0">
                <a:latin typeface="Gabriola" pitchFamily="82" charset="0"/>
              </a:rPr>
              <a:t>dysreflexia</a:t>
            </a:r>
            <a:r>
              <a:rPr lang="en-GB" dirty="0" smtClean="0">
                <a:latin typeface="Gabriola" pitchFamily="82" charset="0"/>
              </a:rPr>
              <a:t>. Case reports suggest its efficacy in SCI patients during surgery with no </a:t>
            </a:r>
            <a:r>
              <a:rPr lang="en-GB" dirty="0" err="1" smtClean="0">
                <a:latin typeface="Gabriola" pitchFamily="82" charset="0"/>
              </a:rPr>
              <a:t>dysreflexia</a:t>
            </a:r>
            <a:r>
              <a:rPr lang="en-GB" dirty="0" smtClean="0">
                <a:latin typeface="Gabriola" pitchFamily="82" charset="0"/>
              </a:rPr>
              <a:t> episodes.</a:t>
            </a:r>
            <a:endParaRPr lang="en-GB" dirty="0">
              <a:latin typeface="Gabriola" pitchFamily="82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4DC010-F673-41FE-A97E-73857198EFA4}" type="datetime1">
              <a:rPr lang="en-GB" smtClean="0"/>
              <a:t>21/11/2024</a:t>
            </a:fld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870879-168A-4CB6-A4A5-D501825799FC}" type="slidenum">
              <a:rPr lang="en-GB" smtClean="0"/>
              <a:t>66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79841239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274638"/>
            <a:ext cx="8507288" cy="706090"/>
          </a:xfrm>
        </p:spPr>
        <p:txBody>
          <a:bodyPr>
            <a:normAutofit fontScale="90000"/>
          </a:bodyPr>
          <a:lstStyle/>
          <a:p>
            <a:pPr algn="r"/>
            <a:r>
              <a:rPr lang="en-GB" dirty="0" smtClean="0"/>
              <a:t>Cont..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980728"/>
            <a:ext cx="8507288" cy="5145435"/>
          </a:xfrm>
        </p:spPr>
        <p:txBody>
          <a:bodyPr>
            <a:normAutofit/>
          </a:bodyPr>
          <a:lstStyle/>
          <a:p>
            <a:r>
              <a:rPr lang="en-GB" sz="2800" b="1" dirty="0" smtClean="0">
                <a:latin typeface="Gabriola" pitchFamily="82" charset="0"/>
              </a:rPr>
              <a:t>Regional Anaesthesia</a:t>
            </a:r>
            <a:r>
              <a:rPr lang="en-GB" sz="2800" dirty="0" smtClean="0">
                <a:latin typeface="Gabriola" pitchFamily="82" charset="0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GB" dirty="0" smtClean="0">
                <a:latin typeface="Gabriola" pitchFamily="82" charset="0"/>
              </a:rPr>
              <a:t>Spinal anaesthesia may prevent autonomic </a:t>
            </a:r>
            <a:r>
              <a:rPr lang="en-GB" dirty="0" err="1" smtClean="0">
                <a:latin typeface="Gabriola" pitchFamily="82" charset="0"/>
              </a:rPr>
              <a:t>dysreflexia</a:t>
            </a:r>
            <a:r>
              <a:rPr lang="en-GB" dirty="0" smtClean="0">
                <a:latin typeface="Gabriola" pitchFamily="82" charset="0"/>
              </a:rPr>
              <a:t> in urological procedures.</a:t>
            </a:r>
          </a:p>
          <a:p>
            <a:pPr lvl="1">
              <a:lnSpc>
                <a:spcPct val="150000"/>
              </a:lnSpc>
            </a:pPr>
            <a:r>
              <a:rPr lang="en-GB" b="1" dirty="0" smtClean="0">
                <a:latin typeface="Gabriola" pitchFamily="82" charset="0"/>
              </a:rPr>
              <a:t>Epidural anaesthesia</a:t>
            </a:r>
            <a:r>
              <a:rPr lang="en-GB" dirty="0" smtClean="0">
                <a:latin typeface="Gabriola" pitchFamily="82" charset="0"/>
              </a:rPr>
              <a:t>: Suitable for abdominal surgeries and pregnant SCI patients.</a:t>
            </a:r>
          </a:p>
          <a:p>
            <a:pPr lvl="1">
              <a:lnSpc>
                <a:spcPct val="150000"/>
              </a:lnSpc>
            </a:pPr>
            <a:r>
              <a:rPr lang="en-GB" b="1" dirty="0" smtClean="0">
                <a:latin typeface="Gabriola" pitchFamily="82" charset="0"/>
              </a:rPr>
              <a:t>Nerve blocks</a:t>
            </a:r>
            <a:r>
              <a:rPr lang="en-GB" dirty="0" smtClean="0">
                <a:latin typeface="Gabriola" pitchFamily="82" charset="0"/>
              </a:rPr>
              <a:t>: Effective for upper extremity surgeries (e.g., brachial plexus block).</a:t>
            </a:r>
          </a:p>
          <a:p>
            <a:endParaRPr lang="en-GB" sz="2800" dirty="0">
              <a:latin typeface="Gabriola" pitchFamily="82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81D8D8-C4F1-422B-93B8-45FD0D097909}" type="datetime1">
              <a:rPr lang="en-GB" smtClean="0"/>
              <a:t>21/11/2024</a:t>
            </a:fld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870879-168A-4CB6-A4A5-D501825799FC}" type="slidenum">
              <a:rPr lang="en-GB" smtClean="0"/>
              <a:t>67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6680545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274638"/>
            <a:ext cx="8507288" cy="634082"/>
          </a:xfrm>
        </p:spPr>
        <p:txBody>
          <a:bodyPr>
            <a:normAutofit fontScale="90000"/>
          </a:bodyPr>
          <a:lstStyle/>
          <a:p>
            <a:r>
              <a:rPr lang="en-GB" b="1" dirty="0" smtClean="0"/>
              <a:t/>
            </a:r>
            <a:br>
              <a:rPr lang="en-GB" b="1" dirty="0" smtClean="0"/>
            </a:br>
            <a:r>
              <a:rPr lang="en-GB" b="1" dirty="0" smtClean="0">
                <a:latin typeface="Arial Black" pitchFamily="34" charset="0"/>
              </a:rPr>
              <a:t>Postoperative Care</a:t>
            </a:r>
            <a:r>
              <a:rPr lang="en-GB" b="1" dirty="0" smtClean="0"/>
              <a:t/>
            </a:r>
            <a:br>
              <a:rPr lang="en-GB" b="1" dirty="0" smtClean="0"/>
            </a:b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504" y="980728"/>
            <a:ext cx="8579296" cy="5145435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GB" sz="2800" b="1" dirty="0" smtClean="0">
                <a:latin typeface="Gabriola" pitchFamily="82" charset="0"/>
              </a:rPr>
              <a:t>Pain Management</a:t>
            </a:r>
            <a:r>
              <a:rPr lang="en-GB" sz="2800" dirty="0" smtClean="0">
                <a:latin typeface="Gabriola" pitchFamily="82" charset="0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GB" dirty="0" smtClean="0">
                <a:latin typeface="Gabriola" pitchFamily="82" charset="0"/>
              </a:rPr>
              <a:t>Chronic pain is common in SCI patients, with neuropathic and nociceptive pain categories.</a:t>
            </a:r>
          </a:p>
          <a:p>
            <a:pPr lvl="1">
              <a:lnSpc>
                <a:spcPct val="150000"/>
              </a:lnSpc>
            </a:pPr>
            <a:r>
              <a:rPr lang="en-GB" b="1" dirty="0" smtClean="0">
                <a:latin typeface="Gabriola" pitchFamily="82" charset="0"/>
              </a:rPr>
              <a:t>Multimodal Approach</a:t>
            </a:r>
            <a:r>
              <a:rPr lang="en-GB" dirty="0" smtClean="0">
                <a:latin typeface="Gabriola" pitchFamily="82" charset="0"/>
              </a:rPr>
              <a:t>:</a:t>
            </a:r>
          </a:p>
          <a:p>
            <a:pPr lvl="2">
              <a:lnSpc>
                <a:spcPct val="150000"/>
              </a:lnSpc>
            </a:pPr>
            <a:r>
              <a:rPr lang="en-GB" sz="2800" dirty="0" smtClean="0">
                <a:latin typeface="Gabriola" pitchFamily="82" charset="0"/>
              </a:rPr>
              <a:t>Acetaminophen, NSAIDs, opioids, topical analgesics.</a:t>
            </a:r>
          </a:p>
          <a:p>
            <a:pPr lvl="2">
              <a:lnSpc>
                <a:spcPct val="150000"/>
              </a:lnSpc>
            </a:pPr>
            <a:r>
              <a:rPr lang="en-GB" sz="2800" dirty="0" smtClean="0">
                <a:latin typeface="Gabriola" pitchFamily="82" charset="0"/>
              </a:rPr>
              <a:t>Regional nerve blocks and physical rehabilitation.</a:t>
            </a:r>
          </a:p>
          <a:p>
            <a:pPr lvl="2">
              <a:lnSpc>
                <a:spcPct val="150000"/>
              </a:lnSpc>
            </a:pPr>
            <a:r>
              <a:rPr lang="en-GB" sz="2800" dirty="0" smtClean="0">
                <a:latin typeface="Gabriola" pitchFamily="82" charset="0"/>
              </a:rPr>
              <a:t>Coordination with interventional pain management team for optimal care.</a:t>
            </a:r>
          </a:p>
          <a:p>
            <a:pPr>
              <a:lnSpc>
                <a:spcPct val="150000"/>
              </a:lnSpc>
            </a:pPr>
            <a:endParaRPr lang="en-GB" sz="2800" dirty="0">
              <a:latin typeface="Gabriola" pitchFamily="82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9356BE-E09C-45C7-8B0C-41ECAA7D5BB8}" type="datetime1">
              <a:rPr lang="en-GB" smtClean="0"/>
              <a:t>21/11/2024</a:t>
            </a:fld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870879-168A-4CB6-A4A5-D501825799FC}" type="slidenum">
              <a:rPr lang="en-GB" smtClean="0"/>
              <a:t>68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07416665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274638"/>
            <a:ext cx="8435280" cy="850106"/>
          </a:xfrm>
        </p:spPr>
        <p:txBody>
          <a:bodyPr>
            <a:normAutofit fontScale="90000"/>
          </a:bodyPr>
          <a:lstStyle/>
          <a:p>
            <a:r>
              <a:rPr lang="en-GB" b="1" dirty="0" smtClean="0"/>
              <a:t/>
            </a:r>
            <a:br>
              <a:rPr lang="en-GB" b="1" dirty="0" smtClean="0"/>
            </a:br>
            <a:r>
              <a:rPr lang="en-GB" sz="4000" b="1" dirty="0" smtClean="0">
                <a:latin typeface="Arial Black" pitchFamily="34" charset="0"/>
              </a:rPr>
              <a:t>Special consideration </a:t>
            </a:r>
            <a:r>
              <a:rPr lang="en-GB" b="1" dirty="0" smtClean="0"/>
              <a:t/>
            </a:r>
            <a:br>
              <a:rPr lang="en-GB" b="1" dirty="0" smtClean="0"/>
            </a:b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1124744"/>
            <a:ext cx="8435280" cy="5001419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GB" sz="2800" b="1" dirty="0" smtClean="0">
                <a:latin typeface="Gabriola" pitchFamily="82" charset="0"/>
              </a:rPr>
              <a:t>Obstetric SCI Patients</a:t>
            </a:r>
            <a:r>
              <a:rPr lang="en-GB" sz="2800" dirty="0" smtClean="0">
                <a:latin typeface="Gabriola" pitchFamily="82" charset="0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GB" b="1" dirty="0" smtClean="0">
                <a:latin typeface="Gabriola" pitchFamily="82" charset="0"/>
              </a:rPr>
              <a:t>Autonomic </a:t>
            </a:r>
            <a:r>
              <a:rPr lang="en-GB" b="1" dirty="0" err="1" smtClean="0">
                <a:latin typeface="Gabriola" pitchFamily="82" charset="0"/>
              </a:rPr>
              <a:t>Dysreflexia</a:t>
            </a:r>
            <a:r>
              <a:rPr lang="en-GB" dirty="0" smtClean="0">
                <a:latin typeface="Gabriola" pitchFamily="82" charset="0"/>
              </a:rPr>
              <a:t> is a major concern.</a:t>
            </a:r>
          </a:p>
          <a:p>
            <a:pPr lvl="1">
              <a:lnSpc>
                <a:spcPct val="150000"/>
              </a:lnSpc>
            </a:pPr>
            <a:r>
              <a:rPr lang="en-GB" dirty="0" smtClean="0">
                <a:latin typeface="Gabriola" pitchFamily="82" charset="0"/>
              </a:rPr>
              <a:t>Pre-pregnancy evaluation with multidisciplinary team.</a:t>
            </a:r>
          </a:p>
          <a:p>
            <a:pPr lvl="1">
              <a:lnSpc>
                <a:spcPct val="150000"/>
              </a:lnSpc>
            </a:pPr>
            <a:r>
              <a:rPr lang="en-GB" b="1" dirty="0" smtClean="0">
                <a:latin typeface="Gabriola" pitchFamily="82" charset="0"/>
              </a:rPr>
              <a:t>Epidural or combined spinal-epidural </a:t>
            </a:r>
            <a:r>
              <a:rPr lang="en-GB" b="1" dirty="0" err="1" smtClean="0">
                <a:latin typeface="Gabriola" pitchFamily="82" charset="0"/>
              </a:rPr>
              <a:t>anesthesia</a:t>
            </a:r>
            <a:r>
              <a:rPr lang="en-GB" dirty="0" smtClean="0">
                <a:latin typeface="Gabriola" pitchFamily="82" charset="0"/>
              </a:rPr>
              <a:t> recommended to block noxious stimuli.</a:t>
            </a:r>
          </a:p>
          <a:p>
            <a:pPr lvl="1">
              <a:lnSpc>
                <a:spcPct val="150000"/>
              </a:lnSpc>
            </a:pPr>
            <a:r>
              <a:rPr lang="en-GB" dirty="0" smtClean="0">
                <a:latin typeface="Gabriola" pitchFamily="82" charset="0"/>
              </a:rPr>
              <a:t>If </a:t>
            </a:r>
            <a:r>
              <a:rPr lang="en-GB" dirty="0" err="1" smtClean="0">
                <a:latin typeface="Gabriola" pitchFamily="82" charset="0"/>
              </a:rPr>
              <a:t>dysreflexia</a:t>
            </a:r>
            <a:r>
              <a:rPr lang="en-GB" dirty="0" smtClean="0">
                <a:latin typeface="Gabriola" pitchFamily="82" charset="0"/>
              </a:rPr>
              <a:t> occurs, treatment involves repositioning, relieving stimuli, and antihypertensive medications (e.g., </a:t>
            </a:r>
            <a:r>
              <a:rPr lang="en-GB" b="1" dirty="0" err="1" smtClean="0">
                <a:latin typeface="Gabriola" pitchFamily="82" charset="0"/>
              </a:rPr>
              <a:t>nifedipine</a:t>
            </a:r>
            <a:r>
              <a:rPr lang="en-GB" b="1" dirty="0" smtClean="0">
                <a:latin typeface="Gabriola" pitchFamily="82" charset="0"/>
              </a:rPr>
              <a:t>, labetalol</a:t>
            </a:r>
            <a:r>
              <a:rPr lang="en-GB" dirty="0" smtClean="0">
                <a:latin typeface="Gabriola" pitchFamily="82" charset="0"/>
              </a:rPr>
              <a:t>).</a:t>
            </a:r>
          </a:p>
          <a:p>
            <a:pPr>
              <a:lnSpc>
                <a:spcPct val="150000"/>
              </a:lnSpc>
            </a:pPr>
            <a:endParaRPr lang="en-GB" sz="2800" dirty="0">
              <a:latin typeface="Gabriola" pitchFamily="82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62B089-5A2B-4ADE-A868-656821CC45F4}" type="datetime1">
              <a:rPr lang="en-GB" smtClean="0"/>
              <a:t>21/11/2024</a:t>
            </a:fld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870879-168A-4CB6-A4A5-D501825799FC}" type="slidenum">
              <a:rPr lang="en-GB" smtClean="0"/>
              <a:t>69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64969523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274638"/>
            <a:ext cx="8507288" cy="634082"/>
          </a:xfrm>
        </p:spPr>
        <p:txBody>
          <a:bodyPr>
            <a:normAutofit fontScale="90000"/>
          </a:bodyPr>
          <a:lstStyle/>
          <a:p>
            <a:pPr algn="r"/>
            <a:r>
              <a:rPr lang="en-GB" dirty="0" smtClean="0"/>
              <a:t>Cont..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1196752"/>
            <a:ext cx="8363272" cy="492941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GB" sz="2800" b="1" dirty="0" smtClean="0">
                <a:latin typeface="Gabriola" pitchFamily="82" charset="0"/>
              </a:rPr>
              <a:t>Paediatric </a:t>
            </a:r>
            <a:r>
              <a:rPr lang="en-GB" sz="2800" b="1" dirty="0">
                <a:latin typeface="Gabriola" pitchFamily="82" charset="0"/>
              </a:rPr>
              <a:t>SCI Patients</a:t>
            </a:r>
            <a:r>
              <a:rPr lang="en-GB" sz="2800" dirty="0">
                <a:latin typeface="Gabriola" pitchFamily="82" charset="0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GB" b="1" dirty="0">
                <a:latin typeface="Gabriola" pitchFamily="82" charset="0"/>
              </a:rPr>
              <a:t>Stricter NPO guidelines</a:t>
            </a:r>
            <a:r>
              <a:rPr lang="en-GB" dirty="0">
                <a:latin typeface="Gabriola" pitchFamily="82" charset="0"/>
              </a:rPr>
              <a:t> to prevent aspiration due to delayed gastric emptying.</a:t>
            </a:r>
          </a:p>
          <a:p>
            <a:pPr lvl="1">
              <a:lnSpc>
                <a:spcPct val="150000"/>
              </a:lnSpc>
            </a:pPr>
            <a:r>
              <a:rPr lang="en-GB" b="1" dirty="0">
                <a:latin typeface="Gabriola" pitchFamily="82" charset="0"/>
              </a:rPr>
              <a:t>Midazolam</a:t>
            </a:r>
            <a:r>
              <a:rPr lang="en-GB" dirty="0">
                <a:latin typeface="Gabriola" pitchFamily="82" charset="0"/>
              </a:rPr>
              <a:t> may exacerbate hypotension, so used with caution.</a:t>
            </a:r>
          </a:p>
          <a:p>
            <a:pPr lvl="1">
              <a:lnSpc>
                <a:spcPct val="150000"/>
              </a:lnSpc>
            </a:pPr>
            <a:r>
              <a:rPr lang="en-GB" b="1" dirty="0">
                <a:latin typeface="Gabriola" pitchFamily="82" charset="0"/>
              </a:rPr>
              <a:t>Calming presence</a:t>
            </a:r>
            <a:r>
              <a:rPr lang="en-GB" dirty="0">
                <a:latin typeface="Gabriola" pitchFamily="82" charset="0"/>
              </a:rPr>
              <a:t> in OR </a:t>
            </a:r>
            <a:r>
              <a:rPr lang="en-GB" dirty="0" smtClean="0">
                <a:latin typeface="Gabriola" pitchFamily="82" charset="0"/>
              </a:rPr>
              <a:t>critical</a:t>
            </a:r>
            <a:endParaRPr lang="en-GB" dirty="0">
              <a:latin typeface="Gabriola" pitchFamily="82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EC5FD-B805-4BBC-8DC3-BCEF4CFC8F0A}" type="datetime1">
              <a:rPr lang="en-GB" smtClean="0"/>
              <a:t>21/11/2024</a:t>
            </a:fld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870879-168A-4CB6-A4A5-D501825799FC}" type="slidenum">
              <a:rPr lang="en-GB" smtClean="0"/>
              <a:t>70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23373931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274638"/>
            <a:ext cx="8507288" cy="634082"/>
          </a:xfrm>
        </p:spPr>
        <p:txBody>
          <a:bodyPr>
            <a:normAutofit fontScale="90000"/>
          </a:bodyPr>
          <a:lstStyle/>
          <a:p>
            <a:pPr algn="r"/>
            <a:r>
              <a:rPr lang="en-GB" dirty="0" smtClean="0"/>
              <a:t>Cont..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504" y="836712"/>
            <a:ext cx="8579296" cy="5289451"/>
          </a:xfrm>
        </p:spPr>
        <p:txBody>
          <a:bodyPr>
            <a:normAutofit/>
          </a:bodyPr>
          <a:lstStyle/>
          <a:p>
            <a:r>
              <a:rPr lang="en-GB" sz="2800" b="1" dirty="0">
                <a:latin typeface="Gabriola" pitchFamily="82" charset="0"/>
              </a:rPr>
              <a:t>Chronic Pain Management</a:t>
            </a:r>
            <a:r>
              <a:rPr lang="en-GB" sz="2800" dirty="0" smtClean="0">
                <a:latin typeface="Gabriola" pitchFamily="82" charset="0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GB" dirty="0" smtClean="0">
                <a:latin typeface="Gabriola" pitchFamily="82" charset="0"/>
              </a:rPr>
              <a:t> </a:t>
            </a:r>
            <a:r>
              <a:rPr lang="en-GB" dirty="0">
                <a:latin typeface="Gabriola" pitchFamily="82" charset="0"/>
              </a:rPr>
              <a:t>Many SCI patients suffer from chronic neuropathic pain. </a:t>
            </a:r>
            <a:endParaRPr lang="en-GB" dirty="0" smtClean="0">
              <a:latin typeface="Gabriola" pitchFamily="82" charset="0"/>
            </a:endParaRPr>
          </a:p>
          <a:p>
            <a:pPr lvl="1">
              <a:lnSpc>
                <a:spcPct val="150000"/>
              </a:lnSpc>
            </a:pPr>
            <a:r>
              <a:rPr lang="en-GB" dirty="0" smtClean="0">
                <a:latin typeface="Gabriola" pitchFamily="82" charset="0"/>
              </a:rPr>
              <a:t>Multimodal </a:t>
            </a:r>
            <a:r>
              <a:rPr lang="en-GB" dirty="0">
                <a:latin typeface="Gabriola" pitchFamily="82" charset="0"/>
              </a:rPr>
              <a:t>pain management, including pharmacologic agents (e.g., </a:t>
            </a:r>
            <a:r>
              <a:rPr lang="en-GB" dirty="0" err="1">
                <a:latin typeface="Gabriola" pitchFamily="82" charset="0"/>
              </a:rPr>
              <a:t>gabapentinoids</a:t>
            </a:r>
            <a:r>
              <a:rPr lang="en-GB" dirty="0">
                <a:latin typeface="Gabriola" pitchFamily="82" charset="0"/>
              </a:rPr>
              <a:t>, anticonvulsants) and non-pharmacologic therapies (e.g., nerve blocks), is often necessary.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F54A3-AC18-4EE5-AC0F-DB75C61FB0BA}" type="datetime1">
              <a:rPr lang="en-GB" smtClean="0"/>
              <a:t>21/11/2024</a:t>
            </a:fld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870879-168A-4CB6-A4A5-D501825799FC}" type="slidenum">
              <a:rPr lang="en-GB" smtClean="0"/>
              <a:t>71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13733494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Reference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371600"/>
            <a:ext cx="8686800" cy="4800600"/>
          </a:xfrm>
        </p:spPr>
        <p:txBody>
          <a:bodyPr>
            <a:normAutofit fontScale="85000" lnSpcReduction="2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dirty="0">
                <a:latin typeface="Gabriola" pitchFamily="82" charset="0"/>
              </a:rPr>
              <a:t>1.Paul G </a:t>
            </a:r>
            <a:r>
              <a:rPr lang="en-US" dirty="0" err="1">
                <a:latin typeface="Gabriola" pitchFamily="82" charset="0"/>
              </a:rPr>
              <a:t>Barash</a:t>
            </a:r>
            <a:r>
              <a:rPr lang="en-US" dirty="0">
                <a:latin typeface="Gabriola" pitchFamily="82" charset="0"/>
              </a:rPr>
              <a:t>: Handbook of Clinical Anesthesia (8th edition). Lippincott Williams &amp; Wilkins publications, Inc., 2016.</a:t>
            </a:r>
            <a:endParaRPr lang="en-US" dirty="0" smtClean="0">
              <a:effectLst/>
              <a:latin typeface="Gabriola" pitchFamily="82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dirty="0">
                <a:latin typeface="Gabriola" pitchFamily="82" charset="0"/>
              </a:rPr>
              <a:t>2.Robert K </a:t>
            </a:r>
            <a:r>
              <a:rPr lang="en-US" dirty="0" err="1">
                <a:latin typeface="Gabriola" pitchFamily="82" charset="0"/>
              </a:rPr>
              <a:t>Stoelting</a:t>
            </a:r>
            <a:r>
              <a:rPr lang="en-US" dirty="0">
                <a:latin typeface="Gabriola" pitchFamily="82" charset="0"/>
              </a:rPr>
              <a:t>: </a:t>
            </a:r>
            <a:r>
              <a:rPr lang="en-US" dirty="0" err="1">
                <a:latin typeface="Gabriola" pitchFamily="82" charset="0"/>
              </a:rPr>
              <a:t>Stoelting’s</a:t>
            </a:r>
            <a:r>
              <a:rPr lang="en-US" dirty="0">
                <a:latin typeface="Gabriola" pitchFamily="82" charset="0"/>
              </a:rPr>
              <a:t> anesthesia and co-existing disease (5th edition). Churchill Livingstone, an Imprint of Elsevier, 2002.</a:t>
            </a:r>
            <a:endParaRPr lang="en-US" dirty="0" smtClean="0">
              <a:effectLst/>
              <a:latin typeface="Gabriola" pitchFamily="82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dirty="0">
                <a:latin typeface="Gabriola" pitchFamily="82" charset="0"/>
              </a:rPr>
              <a:t>3.Alan R </a:t>
            </a:r>
            <a:r>
              <a:rPr lang="en-US" dirty="0" err="1">
                <a:latin typeface="Gabriola" pitchFamily="82" charset="0"/>
              </a:rPr>
              <a:t>Aitkenhead</a:t>
            </a:r>
            <a:r>
              <a:rPr lang="en-US" dirty="0">
                <a:latin typeface="Gabriola" pitchFamily="82" charset="0"/>
              </a:rPr>
              <a:t>: Textbook of </a:t>
            </a:r>
            <a:r>
              <a:rPr lang="en-US" dirty="0" err="1">
                <a:latin typeface="Gabriola" pitchFamily="82" charset="0"/>
              </a:rPr>
              <a:t>Anaesthesia</a:t>
            </a:r>
            <a:r>
              <a:rPr lang="en-US" dirty="0">
                <a:latin typeface="Gabriola" pitchFamily="82" charset="0"/>
              </a:rPr>
              <a:t> (6th edition). Churchill Livingstone publication, an Imprint of Elsevier, 2001.</a:t>
            </a:r>
            <a:endParaRPr lang="en-US" dirty="0" smtClean="0">
              <a:effectLst/>
              <a:latin typeface="Gabriola" pitchFamily="82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dirty="0">
                <a:latin typeface="Gabriola" pitchFamily="82" charset="0"/>
              </a:rPr>
              <a:t>4.G. Edward Morgan: Clinical Anesthesiology (6th edition). McGraw-Hill Companies, Inc. 2006</a:t>
            </a:r>
            <a:endParaRPr lang="en-US" dirty="0" smtClean="0">
              <a:effectLst/>
              <a:latin typeface="Gabriola" pitchFamily="82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dirty="0">
              <a:latin typeface="Gabriola" pitchFamily="82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42C4C3-E164-49F8-B26D-ABF4373CE088}" type="datetime1">
              <a:rPr lang="en-US" smtClean="0"/>
              <a:t>11/21/2024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D98F5-298D-4BBC-B4A0-9B4A899A8A30}" type="slidenum">
              <a:rPr lang="en-US" smtClean="0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62114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420</TotalTime>
  <Words>4109</Words>
  <Application>Microsoft Office PowerPoint</Application>
  <PresentationFormat>On-screen Show (4:3)</PresentationFormat>
  <Paragraphs>546</Paragraphs>
  <Slides>72</Slides>
  <Notes>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72</vt:i4>
      </vt:variant>
    </vt:vector>
  </HeadingPairs>
  <TitlesOfParts>
    <vt:vector size="73" baseType="lpstr">
      <vt:lpstr>Office Theme</vt:lpstr>
      <vt:lpstr>Anesthesia consideration for spinal cord injury</vt:lpstr>
      <vt:lpstr> Quiz exam </vt:lpstr>
      <vt:lpstr>Out line</vt:lpstr>
      <vt:lpstr>INTRODUCTION </vt:lpstr>
      <vt:lpstr>Definition:</vt:lpstr>
      <vt:lpstr> Epidemiology of SCI </vt:lpstr>
      <vt:lpstr> Mechanisms of Spinal Cord Injury </vt:lpstr>
      <vt:lpstr>Cont..</vt:lpstr>
      <vt:lpstr> Spinal Cord Anatomy </vt:lpstr>
      <vt:lpstr>Cont..</vt:lpstr>
      <vt:lpstr> cont.. </vt:lpstr>
      <vt:lpstr>Cont..</vt:lpstr>
      <vt:lpstr>Cont…</vt:lpstr>
      <vt:lpstr>Cont..</vt:lpstr>
      <vt:lpstr>Cont…</vt:lpstr>
      <vt:lpstr>Cont…</vt:lpstr>
      <vt:lpstr>PowerPoint Presentation</vt:lpstr>
      <vt:lpstr> Corticospinal Tract (CST) </vt:lpstr>
      <vt:lpstr>PowerPoint Presentation</vt:lpstr>
      <vt:lpstr>Cont..</vt:lpstr>
      <vt:lpstr> Spinothalamic Tract (STT) </vt:lpstr>
      <vt:lpstr>Cont..</vt:lpstr>
      <vt:lpstr> Dorsal Columns (DC) </vt:lpstr>
      <vt:lpstr>Cont..</vt:lpstr>
      <vt:lpstr>Blood supply to spinal cord </vt:lpstr>
      <vt:lpstr>Cont…</vt:lpstr>
      <vt:lpstr>Cont…</vt:lpstr>
      <vt:lpstr>Cont..</vt:lpstr>
      <vt:lpstr> Levels of Spinal Cord Injury </vt:lpstr>
      <vt:lpstr>Cont..</vt:lpstr>
      <vt:lpstr> Types of Spinal Cord Injury </vt:lpstr>
      <vt:lpstr> 1. Central Cord Syndrome (CCS) </vt:lpstr>
      <vt:lpstr>Cont..</vt:lpstr>
      <vt:lpstr>2. Anterior Cord Syndrome (ACS)</vt:lpstr>
      <vt:lpstr>Cont..</vt:lpstr>
      <vt:lpstr> 3. Brown-Séquard Syndrome (Lateral Hemicord Syndrome) </vt:lpstr>
      <vt:lpstr>Cont..</vt:lpstr>
      <vt:lpstr> 4. Posterior Cord Syndrome (Dorsal Column Syndrome) </vt:lpstr>
      <vt:lpstr>Cont..</vt:lpstr>
      <vt:lpstr>PowerPoint Presentation</vt:lpstr>
      <vt:lpstr>6. Cauda Equina Syndrome </vt:lpstr>
      <vt:lpstr>Cont..</vt:lpstr>
      <vt:lpstr>7. Spinal Shock </vt:lpstr>
      <vt:lpstr>Cont..</vt:lpstr>
      <vt:lpstr>Pathophysiology of Spinal Cord Injury</vt:lpstr>
      <vt:lpstr>Primary Injury </vt:lpstr>
      <vt:lpstr>Cont..</vt:lpstr>
      <vt:lpstr>Cont..</vt:lpstr>
      <vt:lpstr> Secondary Injury </vt:lpstr>
      <vt:lpstr>Autonomic Dysreflexia</vt:lpstr>
      <vt:lpstr>Cont..</vt:lpstr>
      <vt:lpstr>Cont..</vt:lpstr>
      <vt:lpstr> Incidence and Risk Factors </vt:lpstr>
      <vt:lpstr> Pathophysiology of Autonomic Dysreflexia </vt:lpstr>
      <vt:lpstr>Cont..</vt:lpstr>
      <vt:lpstr>Cont..</vt:lpstr>
      <vt:lpstr> Triggers of Autonomic Dysreflexia </vt:lpstr>
      <vt:lpstr>PowerPoint Presentation</vt:lpstr>
      <vt:lpstr>  Anesthetic Considerations in SCI Patients </vt:lpstr>
      <vt:lpstr>Cont..</vt:lpstr>
      <vt:lpstr> Access and Monitoring </vt:lpstr>
      <vt:lpstr> Induction and Intubation </vt:lpstr>
      <vt:lpstr>Cont..</vt:lpstr>
      <vt:lpstr>Cont..</vt:lpstr>
      <vt:lpstr>Intraoperative Care</vt:lpstr>
      <vt:lpstr>Cont..</vt:lpstr>
      <vt:lpstr>Cont..</vt:lpstr>
      <vt:lpstr> Postoperative Care </vt:lpstr>
      <vt:lpstr> Special consideration  </vt:lpstr>
      <vt:lpstr>Cont..</vt:lpstr>
      <vt:lpstr>Cont..</vt:lpstr>
      <vt:lpstr>Reference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Anesthesia consideration for spinal cord injury</dc:title>
  <dc:creator>Afei</dc:creator>
  <cp:lastModifiedBy>Windows User</cp:lastModifiedBy>
  <cp:revision>42</cp:revision>
  <dcterms:created xsi:type="dcterms:W3CDTF">2024-11-18T04:23:58Z</dcterms:created>
  <dcterms:modified xsi:type="dcterms:W3CDTF">2024-11-21T10:19:11Z</dcterms:modified>
</cp:coreProperties>
</file>