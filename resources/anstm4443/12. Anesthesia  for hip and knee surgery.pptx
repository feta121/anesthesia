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256" r:id="rId2"/>
    <p:sldId id="258" r:id="rId3"/>
    <p:sldId id="280" r:id="rId4"/>
    <p:sldId id="281" r:id="rId5"/>
    <p:sldId id="282" r:id="rId6"/>
    <p:sldId id="257" r:id="rId7"/>
    <p:sldId id="259" r:id="rId8"/>
    <p:sldId id="260" r:id="rId9"/>
    <p:sldId id="261" r:id="rId10"/>
    <p:sldId id="277" r:id="rId11"/>
    <p:sldId id="278" r:id="rId12"/>
    <p:sldId id="262" r:id="rId13"/>
    <p:sldId id="275" r:id="rId14"/>
    <p:sldId id="263" r:id="rId15"/>
    <p:sldId id="264" r:id="rId16"/>
    <p:sldId id="265" r:id="rId17"/>
    <p:sldId id="266" r:id="rId18"/>
    <p:sldId id="267" r:id="rId19"/>
    <p:sldId id="283" r:id="rId20"/>
    <p:sldId id="268" r:id="rId21"/>
    <p:sldId id="269" r:id="rId22"/>
    <p:sldId id="270" r:id="rId23"/>
    <p:sldId id="279" r:id="rId24"/>
    <p:sldId id="274" r:id="rId25"/>
    <p:sldId id="271" r:id="rId26"/>
    <p:sldId id="272" r:id="rId27"/>
    <p:sldId id="276" r:id="rId28"/>
    <p:sldId id="273" r:id="rId29"/>
    <p:sldId id="285" r:id="rId30"/>
    <p:sldId id="292" r:id="rId31"/>
    <p:sldId id="286" r:id="rId32"/>
    <p:sldId id="287" r:id="rId33"/>
    <p:sldId id="288" r:id="rId34"/>
    <p:sldId id="289" r:id="rId35"/>
    <p:sldId id="290" r:id="rId36"/>
    <p:sldId id="293" r:id="rId37"/>
    <p:sldId id="291" r:id="rId38"/>
    <p:sldId id="294" r:id="rId39"/>
    <p:sldId id="295" r:id="rId40"/>
    <p:sldId id="296" r:id="rId41"/>
    <p:sldId id="297" r:id="rId42"/>
    <p:sldId id="299" r:id="rId43"/>
    <p:sldId id="298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284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8A240-FA75-4A8B-A375-48BFA683DAE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5B1E-9126-4B6D-B302-5DDC51A15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0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DB02-2F9A-48A1-A133-3F4791E501D1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5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7D89-1748-4753-9C03-411D73E29040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5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1FEC-53CC-4918-B8E2-4B1433E453B5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3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AE16-FDA9-40CE-B013-1FB03233B46C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ADB2-BA3C-427B-BC7F-BF9C076C1B3C}" type="datetime1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6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21640-7068-41B4-8664-04ED7DF5B88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2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7481-4E5C-4F0D-A1FD-4FF3DBAC4D83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4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A2941-E2CE-4A4A-A361-475D67311BD4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4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7E85-C58A-4B7A-A2FB-7D27DF4A8A03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3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D038-6095-4BA5-8B80-54BB5FC6D5EF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9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E493A-98A7-4F59-A973-576098F4EE00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4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81EB8-838B-4AAE-9879-BAC6E5562343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F477D-A626-4B84-9E97-AD73756F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6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Anesthesia  for Hip and knee surgery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3886200"/>
            <a:ext cx="4800600" cy="17526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Arial Black" pitchFamily="34" charset="0"/>
              </a:rPr>
              <a:t>By </a:t>
            </a:r>
            <a:r>
              <a:rPr lang="en-US" b="1" dirty="0" err="1" smtClean="0">
                <a:solidFill>
                  <a:schemeClr val="tx1"/>
                </a:solidFill>
                <a:latin typeface="Arial Black" pitchFamily="34" charset="0"/>
              </a:rPr>
              <a:t>wubayehu</a:t>
            </a:r>
            <a:r>
              <a:rPr lang="en-US" b="1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Arial Black" pitchFamily="34" charset="0"/>
              </a:rPr>
              <a:t>Amare</a:t>
            </a:r>
            <a:r>
              <a:rPr lang="en-US" b="1" dirty="0" smtClean="0">
                <a:solidFill>
                  <a:schemeClr val="tx1"/>
                </a:solidFill>
                <a:latin typeface="Arial Black" pitchFamily="34" charset="0"/>
              </a:rPr>
              <a:t> ( lecturer)</a:t>
            </a:r>
            <a:endParaRPr lang="en-US" b="1" dirty="0">
              <a:solidFill>
                <a:schemeClr val="tx1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6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6397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introduction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 Surgical interventions aimed at treating hip joint disorders that cannot be managed with non-surgical treatments.</a:t>
            </a:r>
          </a:p>
          <a:p>
            <a:pPr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Goal: Relieve pain, restore function, and improve quality of life.</a:t>
            </a:r>
          </a:p>
          <a:p>
            <a:pPr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Key Procedures: Hip Replacement ,Hip </a:t>
            </a:r>
            <a:r>
              <a:rPr lang="en-US" dirty="0" err="1" smtClean="0">
                <a:latin typeface="Gabriola" pitchFamily="82" charset="0"/>
              </a:rPr>
              <a:t>Resurfacing,Hip</a:t>
            </a:r>
            <a:r>
              <a:rPr lang="en-US" dirty="0" smtClean="0">
                <a:latin typeface="Gabriola" pitchFamily="82" charset="0"/>
              </a:rPr>
              <a:t> Arthroscopy, Osteotomy, Hip Fusion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6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534400" cy="5287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Most </a:t>
            </a:r>
            <a:r>
              <a:rPr lang="en-US" dirty="0">
                <a:latin typeface="Gabriola" pitchFamily="82" charset="0"/>
              </a:rPr>
              <a:t>patients presenting with femoral neck fractures are frail and elderly. </a:t>
            </a: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An </a:t>
            </a:r>
            <a:r>
              <a:rPr lang="en-US" dirty="0">
                <a:latin typeface="Gabriola" pitchFamily="82" charset="0"/>
              </a:rPr>
              <a:t>occasional young patient will have sustained major trauma to the femur or pelvis. </a:t>
            </a: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Studies </a:t>
            </a:r>
            <a:r>
              <a:rPr lang="en-US" dirty="0">
                <a:latin typeface="Gabriola" pitchFamily="82" charset="0"/>
              </a:rPr>
              <a:t>have reported mortality rates following hip fracture of up to 10% during the initial hospitalization and over 25% within 1 year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9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534400" cy="521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Patients </a:t>
            </a:r>
            <a:r>
              <a:rPr lang="en-US" dirty="0">
                <a:latin typeface="Gabriola" pitchFamily="82" charset="0"/>
              </a:rPr>
              <a:t>presenting with hip fractures are frequently dehydrated from inadequate oral intake. </a:t>
            </a: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Depending </a:t>
            </a:r>
            <a:r>
              <a:rPr lang="en-US" dirty="0">
                <a:latin typeface="Gabriola" pitchFamily="82" charset="0"/>
              </a:rPr>
              <a:t>on the site of the hip fracture, occult blood loss may be significant, further compromising intravascular volume.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274638"/>
            <a:ext cx="8509000" cy="5508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715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Preoperative Hypoxia</a:t>
            </a:r>
            <a:r>
              <a:rPr lang="en-US" dirty="0" smtClean="0">
                <a:latin typeface="Gabriola" pitchFamily="82" charset="0"/>
              </a:rPr>
              <a:t> is common in hip fracture patients and may be due to several factors: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Fat Embolism</a:t>
            </a:r>
            <a:r>
              <a:rPr lang="en-US" dirty="0" smtClean="0">
                <a:latin typeface="Gabriola" pitchFamily="82" charset="0"/>
              </a:rPr>
              <a:t>: Potential cause of hypoxia in these patients.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Bibasilar Atelectasis</a:t>
            </a:r>
            <a:r>
              <a:rPr lang="en-US" dirty="0" smtClean="0">
                <a:latin typeface="Gabriola" pitchFamily="82" charset="0"/>
              </a:rPr>
              <a:t>: Occurs due to immobility, which is common in hip fracture patients.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Pulmonary Congestion (and Effusion)</a:t>
            </a:r>
            <a:r>
              <a:rPr lang="en-US" dirty="0" smtClean="0">
                <a:latin typeface="Gabriola" pitchFamily="82" charset="0"/>
              </a:rPr>
              <a:t>: Can result from congestive heart failure, contributing to hypoxia.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Consolidation Due to Infection</a:t>
            </a:r>
            <a:r>
              <a:rPr lang="en-US" dirty="0" smtClean="0">
                <a:latin typeface="Gabriola" pitchFamily="82" charset="0"/>
              </a:rPr>
              <a:t>: Can also cause hypoxia in some cases.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3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Types of Hip surgery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5562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Hip Replacement (</a:t>
            </a:r>
            <a:r>
              <a:rPr lang="en-US" b="1" dirty="0" err="1" smtClean="0">
                <a:latin typeface="Gabriola" pitchFamily="82" charset="0"/>
              </a:rPr>
              <a:t>Arthroplasty</a:t>
            </a:r>
            <a:r>
              <a:rPr lang="en-US" b="1" dirty="0" smtClean="0">
                <a:latin typeface="Gabriola" pitchFamily="82" charset="0"/>
              </a:rPr>
              <a:t>):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Complete removal of damaged bone and cartilage, replaced with artificial components.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Hip Resurfacing: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Replaces only the damaged surfaces with metal caps, preserving the femoral bone.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Hip Arthroscopy: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Minimally invasive procedure to treat soft tissue injuries and joint disorders.</a:t>
            </a:r>
          </a:p>
          <a:p>
            <a:pPr>
              <a:lnSpc>
                <a:spcPct val="17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3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4830763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Osteotomy: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Cutting and realigning bones to improve joint mechanics and relieve pressure.</a:t>
            </a:r>
          </a:p>
          <a:p>
            <a:pPr>
              <a:lnSpc>
                <a:spcPct val="170000"/>
              </a:lnSpc>
            </a:pPr>
            <a:r>
              <a:rPr lang="en-US" b="1" dirty="0" smtClean="0">
                <a:latin typeface="Gabriola" pitchFamily="82" charset="0"/>
              </a:rPr>
              <a:t>Hip Fusion (Arthrodesis):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US" dirty="0" smtClean="0">
                <a:latin typeface="Gabriola" pitchFamily="82" charset="0"/>
              </a:rPr>
              <a:t>Fusion of the hip bones to alleviate severe pain and disability.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6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Common Indications for Hip Surgery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Osteoarthritis (OA):</a:t>
            </a:r>
            <a:r>
              <a:rPr lang="en-US" dirty="0" smtClean="0">
                <a:latin typeface="Gabriola" pitchFamily="82" charset="0"/>
              </a:rPr>
              <a:t> Most common cause of hip joint degeneration.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Rheumatoid Arthritis (RA):</a:t>
            </a:r>
            <a:r>
              <a:rPr lang="en-US" dirty="0" smtClean="0">
                <a:latin typeface="Gabriola" pitchFamily="82" charset="0"/>
              </a:rPr>
              <a:t> Chronic inflammation leading to joint damage.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Fractures:</a:t>
            </a:r>
            <a:r>
              <a:rPr lang="en-US" dirty="0" smtClean="0">
                <a:latin typeface="Gabriola" pitchFamily="82" charset="0"/>
              </a:rPr>
              <a:t> Especially in the elderly; can include femoral neck fractures.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Avascular Necrosis (AVN):</a:t>
            </a:r>
            <a:r>
              <a:rPr lang="en-US" dirty="0" smtClean="0">
                <a:latin typeface="Gabriola" pitchFamily="82" charset="0"/>
              </a:rPr>
              <a:t> Loss of blood flow to the femoral head, causing bone death.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5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Hip Dysplasia:</a:t>
            </a:r>
            <a:r>
              <a:rPr lang="en-US" dirty="0" smtClean="0">
                <a:latin typeface="Gabriola" pitchFamily="82" charset="0"/>
              </a:rPr>
              <a:t> Congenital or developmental condition causing joint instability.</a:t>
            </a:r>
          </a:p>
          <a:p>
            <a:pPr>
              <a:lnSpc>
                <a:spcPct val="150000"/>
              </a:lnSpc>
            </a:pPr>
            <a:r>
              <a:rPr lang="en-US" b="1" dirty="0" err="1" smtClean="0">
                <a:latin typeface="Gabriola" pitchFamily="82" charset="0"/>
              </a:rPr>
              <a:t>Labral</a:t>
            </a:r>
            <a:r>
              <a:rPr lang="en-US" b="1" dirty="0" smtClean="0">
                <a:latin typeface="Gabriola" pitchFamily="82" charset="0"/>
              </a:rPr>
              <a:t> Tears &amp; Hip Impingement:</a:t>
            </a:r>
            <a:r>
              <a:rPr lang="en-US" dirty="0" smtClean="0">
                <a:latin typeface="Gabriola" pitchFamily="82" charset="0"/>
              </a:rPr>
              <a:t> Causes pain, stiffness, and limited movement.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Infection or Tumors:</a:t>
            </a:r>
            <a:r>
              <a:rPr lang="en-US" dirty="0" smtClean="0">
                <a:latin typeface="Gabriola" pitchFamily="82" charset="0"/>
              </a:rPr>
              <a:t> Leading to joint destruction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78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Knee Surgery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534400" cy="5059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Types of Knee Surgery: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Total Knee </a:t>
            </a:r>
            <a:r>
              <a:rPr lang="en-US" sz="3200" b="1" dirty="0" err="1" smtClean="0">
                <a:latin typeface="Gabriola" pitchFamily="82" charset="0"/>
              </a:rPr>
              <a:t>Arthroplasty</a:t>
            </a:r>
            <a:r>
              <a:rPr lang="en-US" sz="3200" b="1" dirty="0" smtClean="0">
                <a:latin typeface="Gabriola" pitchFamily="82" charset="0"/>
              </a:rPr>
              <a:t> (TKA):</a:t>
            </a:r>
            <a:r>
              <a:rPr lang="en-US" sz="3200" dirty="0" smtClean="0">
                <a:latin typeface="Gabriola" pitchFamily="82" charset="0"/>
              </a:rPr>
              <a:t> Also known as knee replacement, typically done for advanced osteoarthritis or joint degeneration.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Knee Arthroscopy:</a:t>
            </a:r>
            <a:r>
              <a:rPr lang="en-US" sz="3200" dirty="0" smtClean="0">
                <a:latin typeface="Gabriola" pitchFamily="82" charset="0"/>
              </a:rPr>
              <a:t> Minimally invasive surgery for ligament repair, meniscus tear, or cartilage issues.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55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Knee Ligament Reconstruction (e.g., ACL):</a:t>
            </a:r>
            <a:r>
              <a:rPr lang="en-US" sz="3200" dirty="0" smtClean="0">
                <a:latin typeface="Gabriola" pitchFamily="82" charset="0"/>
              </a:rPr>
              <a:t> Reconstructing torn ligaments, often following trauma.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Knee Fracture Fixation:</a:t>
            </a:r>
            <a:r>
              <a:rPr lang="en-US" sz="3200" dirty="0" smtClean="0">
                <a:latin typeface="Gabriola" pitchFamily="82" charset="0"/>
              </a:rPr>
              <a:t> Surgery to repair fractures of the femur, tibia, or patella.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2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305800" cy="639762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Arial Black" pitchFamily="34" charset="0"/>
              </a:rPr>
              <a:t>Anesthesia for hip and knee  surgery 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4906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It requires specific anesthesia considerations due to the patient's age, comorbidities, and the nature of the surgery.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Key concerns include minimizing risks related to fat embolism and cemented prostheses.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0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534400" cy="505936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Anesthesia Challenges:</a:t>
            </a:r>
          </a:p>
          <a:p>
            <a:pPr lvl="1">
              <a:lnSpc>
                <a:spcPct val="160000"/>
              </a:lnSpc>
            </a:pPr>
            <a:r>
              <a:rPr lang="en-US" sz="3200" dirty="0" smtClean="0">
                <a:latin typeface="Gabriola" pitchFamily="82" charset="0"/>
              </a:rPr>
              <a:t>Both surgeries involve elderly patients with multiple comorbidities.</a:t>
            </a:r>
          </a:p>
          <a:p>
            <a:pPr lvl="1">
              <a:lnSpc>
                <a:spcPct val="160000"/>
              </a:lnSpc>
            </a:pPr>
            <a:r>
              <a:rPr lang="en-US" sz="3200" dirty="0" smtClean="0">
                <a:latin typeface="Gabriola" pitchFamily="82" charset="0"/>
              </a:rPr>
              <a:t>Concerns about pain management, muscle relaxation, and prevention of complications (e.g., fat embolism, cement syndrome).</a:t>
            </a:r>
          </a:p>
          <a:p>
            <a:pPr>
              <a:lnSpc>
                <a:spcPct val="16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12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921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Preoperative consideration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2578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 dirty="0" smtClean="0">
                <a:latin typeface="Gabriola" pitchFamily="82" charset="0"/>
              </a:rPr>
              <a:t>Patient Evaluation: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sz="3200" b="1" dirty="0" smtClean="0">
                <a:latin typeface="Gabriola" pitchFamily="82" charset="0"/>
              </a:rPr>
              <a:t>Age and Medical History:</a:t>
            </a:r>
            <a:r>
              <a:rPr lang="en-US" sz="3200" dirty="0" smtClean="0">
                <a:latin typeface="Gabriola" pitchFamily="82" charset="0"/>
              </a:rPr>
              <a:t> Many hip surgery patients are elderly with multiple comorbidities (e.g., cardiovascular, respiratory).</a:t>
            </a:r>
          </a:p>
          <a:p>
            <a:pPr lvl="1">
              <a:lnSpc>
                <a:spcPct val="160000"/>
              </a:lnSpc>
            </a:pPr>
            <a:r>
              <a:rPr lang="en-US" sz="3200" b="1" dirty="0" smtClean="0">
                <a:latin typeface="Gabriola" pitchFamily="82" charset="0"/>
              </a:rPr>
              <a:t>Airway Assessment:</a:t>
            </a:r>
            <a:r>
              <a:rPr lang="en-US" sz="3200" dirty="0" smtClean="0">
                <a:latin typeface="Gabriola" pitchFamily="82" charset="0"/>
              </a:rPr>
              <a:t> Ensure a thorough assessment to determine the type of anesthesia (general vs. regional).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1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4906963"/>
          </a:xfrm>
        </p:spPr>
        <p:txBody>
          <a:bodyPr/>
          <a:lstStyle/>
          <a:p>
            <a:pPr lvl="1">
              <a:lnSpc>
                <a:spcPct val="160000"/>
              </a:lnSpc>
            </a:pPr>
            <a:r>
              <a:rPr lang="en-US" sz="3200" b="1" dirty="0" smtClean="0">
                <a:latin typeface="Gabriola" pitchFamily="82" charset="0"/>
              </a:rPr>
              <a:t>Cardiopulmonary Function:</a:t>
            </a:r>
            <a:r>
              <a:rPr lang="en-US" sz="3200" dirty="0" smtClean="0">
                <a:latin typeface="Gabriola" pitchFamily="82" charset="0"/>
              </a:rPr>
              <a:t> Optimize management of heart failure, chronic obstructive pulmonary disease (COPD), etc.</a:t>
            </a:r>
          </a:p>
          <a:p>
            <a:pPr lvl="1">
              <a:lnSpc>
                <a:spcPct val="160000"/>
              </a:lnSpc>
            </a:pPr>
            <a:r>
              <a:rPr lang="en-US" sz="3200" b="1" dirty="0" smtClean="0">
                <a:latin typeface="Gabriola" pitchFamily="82" charset="0"/>
              </a:rPr>
              <a:t>Preoperative Lab Tests:</a:t>
            </a:r>
            <a:r>
              <a:rPr lang="en-US" sz="3200" dirty="0" smtClean="0">
                <a:latin typeface="Gabriola" pitchFamily="82" charset="0"/>
              </a:rPr>
              <a:t> Focus on renal function (</a:t>
            </a:r>
            <a:r>
              <a:rPr lang="en-US" sz="3200" dirty="0" err="1" smtClean="0">
                <a:latin typeface="Gabriola" pitchFamily="82" charset="0"/>
              </a:rPr>
              <a:t>creatinine</a:t>
            </a:r>
            <a:r>
              <a:rPr lang="en-US" sz="3200" dirty="0" smtClean="0">
                <a:latin typeface="Gabriola" pitchFamily="82" charset="0"/>
              </a:rPr>
              <a:t>, BUN), coagulation profile, and electrolytes.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30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3820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Anesthesia Plan: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Regional Anesthesia: 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General Anesthesia: 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Anticoagulation: 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59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Fat Embolism Syndrome (FES) Risk: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FES Risk Factors: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Long bone fractures (femur)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Hip fractures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Cemented prosthesis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Higher incidence in patients with multiple fractures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04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8683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Intraoperative consideration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638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Positioning: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Hip Surgery</a:t>
            </a:r>
            <a:r>
              <a:rPr lang="en-US" sz="3200" dirty="0" smtClean="0">
                <a:latin typeface="Gabriola" pitchFamily="82" charset="0"/>
              </a:rPr>
              <a:t>:  Lateral decubitus or supine positioning for THA and hip fracture repairs. </a:t>
            </a: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Adequate padding to prevent pressure sores and nerve injury.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Knee Surgery</a:t>
            </a:r>
            <a:r>
              <a:rPr lang="en-US" sz="3200" dirty="0" smtClean="0">
                <a:latin typeface="Gabriola" pitchFamily="82" charset="0"/>
              </a:rPr>
              <a:t>:  Supine for TKA and knee arthroscopy. </a:t>
            </a: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Ensure adequate limb access for surgical intervention.</a:t>
            </a:r>
            <a:endParaRPr lang="en-US" sz="32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5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71550" y="895350"/>
            <a:ext cx="65151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44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610600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Invasive Monitoring:</a:t>
            </a:r>
            <a:r>
              <a:rPr lang="en-US" dirty="0" smtClean="0">
                <a:latin typeface="Gabriola" pitchFamily="82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Arterial line and central venous catheter in high-risk cases.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Ventilation:</a:t>
            </a:r>
            <a:r>
              <a:rPr lang="en-US" dirty="0" smtClean="0">
                <a:latin typeface="Gabriola" pitchFamily="82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Watch for potential ventilation-perfusion mismatch, especially in patients with pre-existing pulmonary conditions.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41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5626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latin typeface="Gabriola" pitchFamily="82" charset="0"/>
              </a:rPr>
              <a:t>Fat Embolism Syndrome (FES) </a:t>
            </a:r>
            <a:r>
              <a:rPr lang="en-US" b="1" dirty="0" err="1" smtClean="0">
                <a:latin typeface="Gabriola" pitchFamily="82" charset="0"/>
              </a:rPr>
              <a:t>Intraoperatively</a:t>
            </a:r>
            <a:r>
              <a:rPr lang="en-US" b="1" dirty="0" smtClean="0">
                <a:latin typeface="Gabriola" pitchFamily="8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Incidence:</a:t>
            </a:r>
            <a:r>
              <a:rPr lang="en-US" dirty="0" smtClean="0">
                <a:latin typeface="Gabriola" pitchFamily="82" charset="0"/>
              </a:rPr>
              <a:t> Fat embolism occurs in </a:t>
            </a:r>
            <a:r>
              <a:rPr lang="en-US" b="1" dirty="0" smtClean="0">
                <a:latin typeface="Gabriola" pitchFamily="82" charset="0"/>
              </a:rPr>
              <a:t>5-10% </a:t>
            </a:r>
            <a:r>
              <a:rPr lang="en-US" dirty="0" smtClean="0">
                <a:latin typeface="Gabriola" pitchFamily="82" charset="0"/>
              </a:rPr>
              <a:t>of hip fracture patients undergoing surgery.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incidence of FES in knee fracture surgeries is about </a:t>
            </a:r>
            <a:r>
              <a:rPr lang="en-US" b="1" dirty="0" smtClean="0">
                <a:latin typeface="Gabriola" pitchFamily="82" charset="0"/>
              </a:rPr>
              <a:t>1-3%, </a:t>
            </a:r>
            <a:r>
              <a:rPr lang="en-US" dirty="0" smtClean="0">
                <a:latin typeface="Gabriola" pitchFamily="82" charset="0"/>
              </a:rPr>
              <a:t>with more frequent occurrences in patients undergoing cemented TKA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Preventive Measures: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Minimize intraoperative manipulation of bone.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Limit the use of cemented prosthesis if possible.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72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92162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Postoperative consideration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66800"/>
            <a:ext cx="8763000" cy="5257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Pain Management: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Multimodal Analgesia:</a:t>
            </a:r>
            <a:r>
              <a:rPr lang="en-US" sz="3200" dirty="0" smtClean="0">
                <a:latin typeface="Gabriola" pitchFamily="82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Combination of opioids, </a:t>
            </a:r>
            <a:r>
              <a:rPr lang="en-US" sz="3200" dirty="0" err="1" smtClean="0">
                <a:latin typeface="Gabriola" pitchFamily="82" charset="0"/>
              </a:rPr>
              <a:t>nonsteroidal</a:t>
            </a:r>
            <a:r>
              <a:rPr lang="en-US" sz="3200" dirty="0" smtClean="0">
                <a:latin typeface="Gabriola" pitchFamily="82" charset="0"/>
              </a:rPr>
              <a:t> anti-inflammatory drugs (NSAIDs), and regional techniques (e.g., epidural, femoral nerve block).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Prevention of DVT:</a:t>
            </a:r>
            <a:r>
              <a:rPr lang="en-US" sz="3200" dirty="0" smtClean="0">
                <a:latin typeface="Gabriola" pitchFamily="82" charset="0"/>
              </a:rPr>
              <a:t> Use of anticoagulants, mechanical compression devices, and early mobilization.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32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Femoral Nerve Block</a:t>
            </a:r>
            <a:r>
              <a:rPr lang="en-US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Frequently combined with spinal or epidural anesthesia for knee surgeries, as it provides pain relief to the front of the thigh and knee.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Sciatic Nerve Block</a:t>
            </a:r>
            <a:r>
              <a:rPr lang="en-US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Often combined with the femoral nerve block for more complete anesthesia for knee surgeries.</a:t>
            </a:r>
            <a:endParaRPr lang="en-US" sz="32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87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4754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Fat Embolism Syndrome (FES) Postoperatively: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Signs and Symptoms:</a:t>
            </a:r>
            <a:r>
              <a:rPr lang="en-US" sz="3200" dirty="0" smtClean="0">
                <a:latin typeface="Gabriola" pitchFamily="82" charset="0"/>
              </a:rPr>
              <a:t> Dyspnea, confusion, petechial rash, hypoxia.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Management:</a:t>
            </a:r>
            <a:endParaRPr lang="en-US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Supportive care (oxygen, ventilation).</a:t>
            </a: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Early detection is key to improving outcomes.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35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Postoperative Complications: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Deep Vein Thrombosis (DVT):</a:t>
            </a:r>
            <a:r>
              <a:rPr lang="en-US" sz="3200" dirty="0" smtClean="0">
                <a:latin typeface="Gabriola" pitchFamily="82" charset="0"/>
              </a:rPr>
              <a:t> Due to immobility and surgery.</a:t>
            </a: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Pulmonary Embolism (PE):</a:t>
            </a:r>
            <a:r>
              <a:rPr lang="en-US" sz="3200" dirty="0" smtClean="0">
                <a:latin typeface="Gabriola" pitchFamily="82" charset="0"/>
              </a:rPr>
              <a:t> Ensure prophylactic measures, such as anticoagulation.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53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Cemented Prosthesis: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b="1" dirty="0" smtClean="0">
                <a:latin typeface="Gabriola" pitchFamily="82" charset="0"/>
              </a:rPr>
              <a:t>Cemented Hip Replacement Risks:</a:t>
            </a:r>
            <a:endParaRPr lang="en-US" sz="32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Cement implantation syndrome (CIS) is a potential risk. </a:t>
            </a:r>
          </a:p>
          <a:p>
            <a:pPr lvl="2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It is characterized by hypotension, arrhythmias, and respiratory compromise due to cement pressurization.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Gabriola" pitchFamily="8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4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521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Incidence: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Seen in about </a:t>
            </a:r>
            <a:r>
              <a:rPr lang="en-US" b="1" dirty="0" smtClean="0">
                <a:latin typeface="Gabriola" pitchFamily="82" charset="0"/>
              </a:rPr>
              <a:t>1-10% </a:t>
            </a:r>
            <a:r>
              <a:rPr lang="en-US" dirty="0" smtClean="0">
                <a:latin typeface="Gabriola" pitchFamily="82" charset="0"/>
              </a:rPr>
              <a:t>of patients undergoing cemented hip </a:t>
            </a:r>
            <a:r>
              <a:rPr lang="en-US" dirty="0" err="1" smtClean="0">
                <a:latin typeface="Gabriola" pitchFamily="82" charset="0"/>
              </a:rPr>
              <a:t>arthroplasty</a:t>
            </a:r>
            <a:r>
              <a:rPr lang="en-US" dirty="0" smtClean="0">
                <a:latin typeface="Gabriola" pitchFamily="82" charset="0"/>
              </a:rPr>
              <a:t> 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Seen more commonly in TKA with cemented prostheses, with an incidence of </a:t>
            </a:r>
            <a:r>
              <a:rPr lang="en-US" b="1" dirty="0" smtClean="0">
                <a:latin typeface="Gabriola" pitchFamily="82" charset="0"/>
              </a:rPr>
              <a:t>1-2%.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41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Prevention: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Vigorous fluid resuscitation</a:t>
            </a:r>
            <a:r>
              <a:rPr lang="en-US" dirty="0" smtClean="0">
                <a:latin typeface="Gabriola" pitchFamily="82" charset="0"/>
              </a:rPr>
              <a:t> before and during cement insertion.</a:t>
            </a:r>
          </a:p>
          <a:p>
            <a:pPr lvl="1"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Avoidance of high-pressure cementing techniques</a:t>
            </a:r>
            <a:r>
              <a:rPr lang="en-US" dirty="0" smtClean="0">
                <a:latin typeface="Gabriola" pitchFamily="82" charset="0"/>
              </a:rPr>
              <a:t> to minimize fat and cement embolization.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Management of CIS: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Early identification and immediate hemodynamic support (fluids, vasopressors, oxygen, and possibly inotropes).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64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Rounded MT Bold" pitchFamily="34" charset="0"/>
              </a:rPr>
              <a:t>Anesthesia Considerations for Rheumatic Arthritis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9916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Rheumatoid </a:t>
            </a:r>
            <a:r>
              <a:rPr lang="en-US" dirty="0">
                <a:latin typeface="Gabriola" pitchFamily="82" charset="0"/>
              </a:rPr>
              <a:t>arthritis is a chronic autoimmune disease that primarily affects the joints. </a:t>
            </a: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In </a:t>
            </a:r>
            <a:r>
              <a:rPr lang="en-US" dirty="0">
                <a:latin typeface="Gabriola" pitchFamily="82" charset="0"/>
              </a:rPr>
              <a:t>RA, the immune system mistakenly attacks the lining of the joints (</a:t>
            </a:r>
            <a:r>
              <a:rPr lang="en-US" dirty="0" err="1">
                <a:latin typeface="Gabriola" pitchFamily="82" charset="0"/>
              </a:rPr>
              <a:t>synovium</a:t>
            </a:r>
            <a:r>
              <a:rPr lang="en-US" dirty="0">
                <a:latin typeface="Gabriola" pitchFamily="82" charset="0"/>
              </a:rPr>
              <a:t>), causing inflammation, pain, and eventually joint damage</a:t>
            </a:r>
            <a:r>
              <a:rPr lang="en-US" dirty="0" smtClean="0">
                <a:latin typeface="Gabriola" pitchFamily="82" charset="0"/>
              </a:rPr>
              <a:t>.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65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Key Features: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Joint Symptoms: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Pain, swelling, and stiffness (often worse in the morning or after inactivity).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Typically affects smaller joints first, like those in the hands and feet.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Symmetrical involvement (e.g., both wrists or knees).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45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Systemic Symptoms: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Fatigue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Low-grade fever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Loss of appetite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Weakness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Progression: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Without treatment, RA can lead to joint deformities and loss of function.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It may also affect other organs, such as the lungs, heart, and eyes.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33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334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21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Causes: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exact cause of RA isn't fully understood, but factors include: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Genetics: A predisposition to autoimmune diseases.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Environmental Triggers: Smoking, infections, or other factors may trigger the disease in susceptible individuals.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44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334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Diagnosis: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Blood tests (e.g., rheumatoid factor, anti-CCP antibodies, and markers of inflammation like ESR or CRP).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Imaging (X-rays, MRI, or ultrasound to detect joint damage).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Treatment: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RA has no cure, but treatments aim to manage symptoms, prevent joint damage, and improve quality of life. Common approaches include: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8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47545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Medications: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Disease-modifying </a:t>
            </a:r>
            <a:r>
              <a:rPr lang="en-US" sz="3200" dirty="0" err="1">
                <a:latin typeface="Gabriola" pitchFamily="82" charset="0"/>
              </a:rPr>
              <a:t>antirheumatic</a:t>
            </a:r>
            <a:r>
              <a:rPr lang="en-US" sz="3200" dirty="0">
                <a:latin typeface="Gabriola" pitchFamily="82" charset="0"/>
              </a:rPr>
              <a:t> drugs (DMARDs) like methotrexate.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Biologic agents (e.g., TNF inhibitors).</a:t>
            </a:r>
          </a:p>
          <a:p>
            <a:pPr lvl="1">
              <a:lnSpc>
                <a:spcPct val="150000"/>
              </a:lnSpc>
            </a:pPr>
            <a:r>
              <a:rPr lang="en-US" sz="3200" dirty="0" err="1">
                <a:latin typeface="Gabriola" pitchFamily="82" charset="0"/>
              </a:rPr>
              <a:t>Nonsteroidal</a:t>
            </a:r>
            <a:r>
              <a:rPr lang="en-US" sz="3200" dirty="0">
                <a:latin typeface="Gabriola" pitchFamily="82" charset="0"/>
              </a:rPr>
              <a:t> anti-inflammatory drugs (NSAIDs) and corticosteroids.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83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4873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latin typeface="Arial Rounded MT Bold" pitchFamily="34" charset="0"/>
              </a:rPr>
              <a:t>Preoperative evaluation </a:t>
            </a:r>
            <a:endParaRPr lang="en-US" dirty="0">
              <a:latin typeface="Arial Rounded MT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 smtClean="0">
                <a:latin typeface="Gabriola" pitchFamily="82" charset="0"/>
              </a:rPr>
              <a:t>1</a:t>
            </a:r>
            <a:r>
              <a:rPr lang="en-US" dirty="0">
                <a:latin typeface="Gabriola" pitchFamily="82" charset="0"/>
              </a:rPr>
              <a:t>. </a:t>
            </a:r>
            <a:r>
              <a:rPr lang="en-US" dirty="0" smtClean="0">
                <a:latin typeface="Gabriola" pitchFamily="82" charset="0"/>
              </a:rPr>
              <a:t>Airway </a:t>
            </a:r>
            <a:r>
              <a:rPr lang="en-US" dirty="0">
                <a:latin typeface="Gabriola" pitchFamily="82" charset="0"/>
              </a:rPr>
              <a:t>Assessment</a:t>
            </a:r>
          </a:p>
          <a:p>
            <a:pPr>
              <a:lnSpc>
                <a:spcPct val="160000"/>
              </a:lnSpc>
            </a:pPr>
            <a:r>
              <a:rPr lang="en-US" dirty="0" err="1">
                <a:latin typeface="Gabriola" pitchFamily="82" charset="0"/>
              </a:rPr>
              <a:t>Atlantoaxial</a:t>
            </a:r>
            <a:r>
              <a:rPr lang="en-US" dirty="0">
                <a:latin typeface="Gabriola" pitchFamily="82" charset="0"/>
              </a:rPr>
              <a:t> Instability (AAI): 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Common </a:t>
            </a:r>
            <a:r>
              <a:rPr lang="en-US" dirty="0">
                <a:latin typeface="Gabriola" pitchFamily="82" charset="0"/>
              </a:rPr>
              <a:t>in RA due to cervical spine involvement. 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Subluxation </a:t>
            </a:r>
            <a:r>
              <a:rPr lang="en-US" dirty="0">
                <a:latin typeface="Gabriola" pitchFamily="82" charset="0"/>
              </a:rPr>
              <a:t>at the C1-C2 level can lead to spinal cord compression during intubation.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Symptoms: Neck pain, neurologic deficits, or weakness.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57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Imaging: Preoperative cervical spine X-rays (flexion and extension views) or MRI for symptomatic patients</a:t>
            </a:r>
            <a:r>
              <a:rPr lang="en-US" dirty="0" smtClean="0">
                <a:latin typeface="Gabriola" pitchFamily="82" charset="0"/>
              </a:rPr>
              <a:t>.</a:t>
            </a:r>
            <a:endParaRPr lang="en-US" dirty="0" smtClean="0">
              <a:solidFill>
                <a:prstClr val="black"/>
              </a:solidFill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prstClr val="black"/>
                </a:solidFill>
                <a:latin typeface="Gabriola" pitchFamily="82" charset="0"/>
              </a:rPr>
              <a:t>Temporomandibular</a:t>
            </a:r>
            <a:r>
              <a:rPr lang="en-US" dirty="0" smtClean="0">
                <a:solidFill>
                  <a:prstClr val="black"/>
                </a:solidFill>
                <a:latin typeface="Gabriola" pitchFamily="82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Gabriola" pitchFamily="82" charset="0"/>
              </a:rPr>
              <a:t>Joint (TMJ) Involvement: Can restrict mouth opening, complicating airway management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51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534400" cy="51816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Gabriola" pitchFamily="82" charset="0"/>
              </a:rPr>
              <a:t>2. Pulmonary </a:t>
            </a:r>
            <a:r>
              <a:rPr lang="en-US" dirty="0">
                <a:latin typeface="Gabriola" pitchFamily="82" charset="0"/>
              </a:rPr>
              <a:t>Evaluation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Restrictive Lung Disease: RA-associated interstitial lung disease (ILD) can impair ventilation.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Pleural Effusion: Common in RA.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Gabriola" pitchFamily="82" charset="0"/>
              </a:rPr>
              <a:t>3.Medication </a:t>
            </a:r>
            <a:r>
              <a:rPr lang="en-US" dirty="0">
                <a:latin typeface="Gabriola" pitchFamily="82" charset="0"/>
              </a:rPr>
              <a:t>Effects: 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Methotrexate </a:t>
            </a:r>
            <a:r>
              <a:rPr lang="en-US" sz="3200" dirty="0">
                <a:latin typeface="Gabriola" pitchFamily="82" charset="0"/>
              </a:rPr>
              <a:t>can cause pneumonitis, and other </a:t>
            </a:r>
            <a:r>
              <a:rPr lang="en-US" sz="3200" dirty="0" err="1">
                <a:latin typeface="Gabriola" pitchFamily="82" charset="0"/>
              </a:rPr>
              <a:t>immunosuppressants</a:t>
            </a:r>
            <a:r>
              <a:rPr lang="en-US" sz="3200" dirty="0">
                <a:latin typeface="Gabriola" pitchFamily="82" charset="0"/>
              </a:rPr>
              <a:t> may increase infection risk.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63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74638"/>
            <a:ext cx="8420100" cy="588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10600" cy="55626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4. Cardiac Evaluation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Pericarditis and </a:t>
            </a:r>
            <a:r>
              <a:rPr lang="en-US" dirty="0" err="1">
                <a:latin typeface="Gabriola" pitchFamily="82" charset="0"/>
              </a:rPr>
              <a:t>Valvular</a:t>
            </a:r>
            <a:r>
              <a:rPr lang="en-US" dirty="0">
                <a:latin typeface="Gabriola" pitchFamily="82" charset="0"/>
              </a:rPr>
              <a:t> Disease: Chronic inflammation can lead to pericardial effusion or </a:t>
            </a:r>
            <a:r>
              <a:rPr lang="en-US" dirty="0" err="1">
                <a:latin typeface="Gabriola" pitchFamily="82" charset="0"/>
              </a:rPr>
              <a:t>valvular</a:t>
            </a:r>
            <a:r>
              <a:rPr lang="en-US" dirty="0">
                <a:latin typeface="Gabriola" pitchFamily="82" charset="0"/>
              </a:rPr>
              <a:t> abnormalities.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Coronary Artery Disease (CAD): RA patients are at higher risk for CAD due to systemic inflammation.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5. Medications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Corticosteroids: Chronic use may require stress-dose steroids </a:t>
            </a:r>
            <a:r>
              <a:rPr lang="en-US" dirty="0" err="1">
                <a:latin typeface="Gabriola" pitchFamily="82" charset="0"/>
              </a:rPr>
              <a:t>perioperatively</a:t>
            </a:r>
            <a:r>
              <a:rPr lang="en-US" dirty="0">
                <a:latin typeface="Gabriola" pitchFamily="82" charset="0"/>
              </a:rPr>
              <a:t> to prevent adrenal insufficiency.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41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257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Disease-Modifying </a:t>
            </a:r>
            <a:r>
              <a:rPr lang="en-US" dirty="0" err="1">
                <a:latin typeface="Gabriola" pitchFamily="82" charset="0"/>
              </a:rPr>
              <a:t>Antirheumatic</a:t>
            </a:r>
            <a:r>
              <a:rPr lang="en-US" dirty="0">
                <a:latin typeface="Gabriola" pitchFamily="82" charset="0"/>
              </a:rPr>
              <a:t> Drugs (DMARDs):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Methotrexate: Typically continued, but consult the rheumatologist.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Biologics (e.g., TNF inhibitors): Often withheld 1–2 weeks preoperatively due to infection risk.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Laboratory Tests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Complete Blood Count (CBC): Anemia of chronic disease is common.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Coagulation Studies: Monitor for platelet dysfunction or anticoagulation if the patient is on therapy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10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2. Intraoperative </a:t>
            </a:r>
            <a:r>
              <a:rPr lang="en-US" dirty="0" err="1" smtClean="0"/>
              <a:t>considration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562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Gabriola" pitchFamily="82" charset="0"/>
              </a:rPr>
              <a:t>Airway Management</a:t>
            </a:r>
          </a:p>
          <a:p>
            <a:pPr lvl="1"/>
            <a:r>
              <a:rPr lang="en-US" sz="3200" dirty="0" smtClean="0">
                <a:latin typeface="Gabriola" pitchFamily="82" charset="0"/>
              </a:rPr>
              <a:t>Avoid </a:t>
            </a:r>
            <a:r>
              <a:rPr lang="en-US" sz="3200" dirty="0">
                <a:latin typeface="Gabriola" pitchFamily="82" charset="0"/>
              </a:rPr>
              <a:t>Hyperextension of the Neck: Use a neutral head position during intubation to prevent cervical spinal cord injury.</a:t>
            </a:r>
          </a:p>
          <a:p>
            <a:pPr lvl="1"/>
            <a:r>
              <a:rPr lang="en-US" sz="3200" dirty="0">
                <a:latin typeface="Gabriola" pitchFamily="82" charset="0"/>
              </a:rPr>
              <a:t>Difficult Intubation Anticipation: Prepare for alternative airway devices (e.g., video laryngoscope, </a:t>
            </a:r>
            <a:r>
              <a:rPr lang="en-US" sz="3200" dirty="0" err="1">
                <a:latin typeface="Gabriola" pitchFamily="82" charset="0"/>
              </a:rPr>
              <a:t>fiberoptic</a:t>
            </a:r>
            <a:r>
              <a:rPr lang="en-US" sz="3200" dirty="0">
                <a:latin typeface="Gabriola" pitchFamily="82" charset="0"/>
              </a:rPr>
              <a:t> intubation).</a:t>
            </a:r>
          </a:p>
          <a:p>
            <a:r>
              <a:rPr lang="en-US" dirty="0">
                <a:latin typeface="Gabriola" pitchFamily="82" charset="0"/>
              </a:rPr>
              <a:t>Positioning</a:t>
            </a:r>
          </a:p>
          <a:p>
            <a:pPr lvl="1"/>
            <a:r>
              <a:rPr lang="en-US" sz="3200" dirty="0">
                <a:latin typeface="Gabriola" pitchFamily="82" charset="0"/>
              </a:rPr>
              <a:t>Joint Deformities: Ensure proper padding and positioning to prevent pressure injuries or exacerbation of joint pain.</a:t>
            </a:r>
          </a:p>
          <a:p>
            <a:pPr lvl="1"/>
            <a:r>
              <a:rPr lang="en-US" sz="3200" dirty="0">
                <a:latin typeface="Gabriola" pitchFamily="82" charset="0"/>
              </a:rPr>
              <a:t>Cervical Spine Protection: Use collars or supports if instability is suspected.</a:t>
            </a:r>
          </a:p>
          <a:p>
            <a:pPr lvl="1"/>
            <a:endParaRPr lang="en-US" sz="3200" dirty="0">
              <a:latin typeface="Gabriola" pitchFamily="82" charset="0"/>
            </a:endParaRPr>
          </a:p>
          <a:p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659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334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638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Gabriola" pitchFamily="82" charset="0"/>
              </a:rPr>
              <a:t>Monitoring</a:t>
            </a:r>
          </a:p>
          <a:p>
            <a:pPr lvl="1"/>
            <a:r>
              <a:rPr lang="en-US" dirty="0">
                <a:latin typeface="Gabriola" pitchFamily="82" charset="0"/>
              </a:rPr>
              <a:t>Neurologic Monitoring: In patients with cervical spine instability, monitor for signs of spinal cord compromise.</a:t>
            </a:r>
          </a:p>
          <a:p>
            <a:pPr lvl="1"/>
            <a:r>
              <a:rPr lang="en-US" dirty="0">
                <a:latin typeface="Gabriola" pitchFamily="82" charset="0"/>
              </a:rPr>
              <a:t>Pulmonary Function: Be vigilant in patients with restrictive lung disease or ILD.</a:t>
            </a:r>
          </a:p>
          <a:p>
            <a:r>
              <a:rPr lang="en-US" dirty="0">
                <a:latin typeface="Gabriola" pitchFamily="82" charset="0"/>
              </a:rPr>
              <a:t>Regional Anesthesia</a:t>
            </a:r>
          </a:p>
          <a:p>
            <a:pPr lvl="1"/>
            <a:r>
              <a:rPr lang="en-US" dirty="0">
                <a:latin typeface="Gabriola" pitchFamily="82" charset="0"/>
              </a:rPr>
              <a:t>Advantages: May be preferable to general anesthesia to avoid airway manipulation.</a:t>
            </a:r>
          </a:p>
          <a:p>
            <a:r>
              <a:rPr lang="en-US" dirty="0">
                <a:latin typeface="Gabriola" pitchFamily="82" charset="0"/>
              </a:rPr>
              <a:t>Challenges:</a:t>
            </a:r>
          </a:p>
          <a:p>
            <a:pPr lvl="1"/>
            <a:r>
              <a:rPr lang="en-US" dirty="0">
                <a:latin typeface="Gabriola" pitchFamily="82" charset="0"/>
              </a:rPr>
              <a:t>Spinal deformities or fused joints may complicate </a:t>
            </a:r>
            <a:r>
              <a:rPr lang="en-US" dirty="0" err="1">
                <a:latin typeface="Gabriola" pitchFamily="82" charset="0"/>
              </a:rPr>
              <a:t>neuraxial</a:t>
            </a:r>
            <a:r>
              <a:rPr lang="en-US" dirty="0">
                <a:latin typeface="Gabriola" pitchFamily="82" charset="0"/>
              </a:rPr>
              <a:t> or peripheral nerve block placement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 lvl="1"/>
            <a:r>
              <a:rPr lang="en-US" dirty="0">
                <a:latin typeface="Gabriola" pitchFamily="82" charset="0"/>
              </a:rPr>
              <a:t>Assess for coagulopathy due to medication effects or disease.</a:t>
            </a:r>
          </a:p>
          <a:p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99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258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0593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Gabriola" pitchFamily="82" charset="0"/>
              </a:rPr>
              <a:t>Postoperative </a:t>
            </a:r>
            <a:r>
              <a:rPr lang="en-US" dirty="0">
                <a:latin typeface="Gabriola" pitchFamily="82" charset="0"/>
              </a:rPr>
              <a:t>Considerations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Pain Management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Multimodal analgesia is preferred.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Avoid NSAIDs in patients with renal impairment or gastric ulcers (common in RA).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68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itchFamily="34" charset="0"/>
              </a:rPr>
              <a:t>Osteoarthritis </a:t>
            </a:r>
            <a:endParaRPr lang="en-US" dirty="0">
              <a:latin typeface="Arial Rounded MT Bol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33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Osteoarthritis (OA) is a degenerative joint disease characterized by the gradual breakdown of cartilage—the protective tissue at the ends of bones in joints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It is the most common form of arthritis and often referred to as "wear-and-tear" arthritis.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Key Features of Osteoarthritis: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Joint Symptoms: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Pain: Worsens with activity and improves with rest.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39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1355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Stiffness: Most noticeable after periods of inactivity (e.g., morning stiffness, which usually lasts less than 30 minutes).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Swelling: Mild, due to inflammation.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Reduced Flexibility: Difficulty moving the affected joint.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Grinding Sensation: A feeling of bones rubbing together, often accompanied by joint noises (crepitus).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8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334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638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Commonly Affected Joints: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Knees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Hips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Hands (especially at the base of the thumb and the tips of the fingers).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Spine (neck and lower back).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Causes and Risk Factors: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OA occurs when the cartilage in joints breaks down over time, leading to bone-on-bone contact. 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752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8229600" cy="762000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638800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Contributing factors include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Age</a:t>
            </a:r>
            <a:r>
              <a:rPr lang="en-US" dirty="0">
                <a:latin typeface="Gabriola" pitchFamily="82" charset="0"/>
              </a:rPr>
              <a:t>: Risk increases with age.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Joint Overuse: Repetitive stress from work or sports.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Injury: Previous joint injuries can accelerate cartilage breakdown.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Obesity: Extra weight adds stress to weight-bearing joints like knees and hips.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Genetics: Family history of OA.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Bone Misalignment: Poor joint structure or alignment</a:t>
            </a: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88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562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Diagnosis: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Medical History and Physical Exam: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Symptoms, joint tenderness, and visible deformities.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Imaging: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X-rays: Show joint space narrowing, bone spurs, or cartilage loss.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MRI: Rarely needed but can provide detailed images.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Lab Tests: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Typically normal but may be used to rule out other forms of arthritis like rheumatoid arthritis.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281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334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382000" cy="5287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Treatment: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While there’s no cure for OA, treatments aim to manage symptoms and improve joint function.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Lifestyle Changes: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Exercise: Strengthens muscles around the joint and improves flexibility.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Weight Management: Reduces stress on joints.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57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05800" cy="5059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Medications: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Pain relievers: Acetaminophen, NSAIDs (e.g., ibuprofen, naproxen).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Topical creams: Contain capsaicin or NSAIDs.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Corticosteroid injections for severe inflammation.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Hyaluronic acid injections (in some cases).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38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1</a:t>
            </a:r>
            <a:r>
              <a:rPr lang="en-US" b="1" dirty="0"/>
              <a:t>. Preoperative Evaluation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9067800" cy="5135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Airway </a:t>
            </a:r>
            <a:r>
              <a:rPr lang="en-US" b="1" dirty="0">
                <a:latin typeface="Gabriola" pitchFamily="82" charset="0"/>
              </a:rPr>
              <a:t>Assessment</a:t>
            </a: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latin typeface="Gabriola" pitchFamily="82" charset="0"/>
              </a:rPr>
              <a:t>Temporomandibular</a:t>
            </a:r>
            <a:r>
              <a:rPr lang="en-US" b="1" dirty="0">
                <a:latin typeface="Gabriola" pitchFamily="82" charset="0"/>
              </a:rPr>
              <a:t> Joint (TMJ) Involvement: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OA of TMJ may limit mouth opening.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Assess jaw &amp; neck range of motion.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Joint Mobility &amp; Positioning</a:t>
            </a: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Cervical Spine &amp; Other Joints: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Limited range of motion affects positioning.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Consider imaging (X-ray, MRI) for severe deformities.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67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486400"/>
          </a:xfrm>
        </p:spPr>
        <p:txBody>
          <a:bodyPr>
            <a:noAutofit/>
          </a:bodyPr>
          <a:lstStyle/>
          <a:p>
            <a:r>
              <a:rPr lang="en-US" b="1" dirty="0">
                <a:latin typeface="Gabriola" pitchFamily="82" charset="0"/>
              </a:rPr>
              <a:t>Cardiopulmonary Status</a:t>
            </a:r>
            <a:endParaRPr lang="en-US" dirty="0">
              <a:latin typeface="Gabriola" pitchFamily="82" charset="0"/>
            </a:endParaRPr>
          </a:p>
          <a:p>
            <a:r>
              <a:rPr lang="en-US" b="1" dirty="0">
                <a:latin typeface="Gabriola" pitchFamily="82" charset="0"/>
              </a:rPr>
              <a:t>Obesity/Reduced Activity:</a:t>
            </a:r>
            <a:endParaRPr lang="en-US" dirty="0">
              <a:latin typeface="Gabriola" pitchFamily="82" charset="0"/>
            </a:endParaRPr>
          </a:p>
          <a:p>
            <a:pPr lvl="1"/>
            <a:r>
              <a:rPr lang="en-US" sz="3200" dirty="0">
                <a:latin typeface="Gabriola" pitchFamily="82" charset="0"/>
              </a:rPr>
              <a:t>Increased risk for </a:t>
            </a:r>
            <a:r>
              <a:rPr lang="en-US" sz="3200" b="1" dirty="0">
                <a:latin typeface="Gabriola" pitchFamily="82" charset="0"/>
              </a:rPr>
              <a:t>Obstructive Sleep Apnea (OSA)</a:t>
            </a:r>
            <a:r>
              <a:rPr lang="en-US" sz="3200" dirty="0">
                <a:latin typeface="Gabriola" pitchFamily="82" charset="0"/>
              </a:rPr>
              <a:t> – use STOP-BANG criteria.</a:t>
            </a:r>
          </a:p>
          <a:p>
            <a:r>
              <a:rPr lang="en-US" b="1" dirty="0" smtClean="0">
                <a:latin typeface="Gabriola" pitchFamily="82" charset="0"/>
              </a:rPr>
              <a:t>Comorbidities</a:t>
            </a:r>
            <a:endParaRPr lang="en-US" dirty="0">
              <a:latin typeface="Gabriola" pitchFamily="82" charset="0"/>
            </a:endParaRPr>
          </a:p>
          <a:p>
            <a:r>
              <a:rPr lang="en-US" b="1" dirty="0">
                <a:latin typeface="Gabriola" pitchFamily="82" charset="0"/>
              </a:rPr>
              <a:t>Obesity &amp; Metabolic Syndrome:</a:t>
            </a:r>
            <a:endParaRPr lang="en-US" dirty="0">
              <a:latin typeface="Gabriola" pitchFamily="82" charset="0"/>
            </a:endParaRPr>
          </a:p>
          <a:p>
            <a:pPr lvl="1"/>
            <a:r>
              <a:rPr lang="en-US" sz="3200" dirty="0">
                <a:latin typeface="Gabriola" pitchFamily="82" charset="0"/>
              </a:rPr>
              <a:t>Increased risk for airway complications, aspiration, DVT.</a:t>
            </a:r>
          </a:p>
          <a:p>
            <a:r>
              <a:rPr lang="en-US" b="1" dirty="0">
                <a:latin typeface="Gabriola" pitchFamily="82" charset="0"/>
              </a:rPr>
              <a:t>Chronic Pain:</a:t>
            </a:r>
            <a:endParaRPr lang="en-US" dirty="0">
              <a:latin typeface="Gabriola" pitchFamily="82" charset="0"/>
            </a:endParaRPr>
          </a:p>
          <a:p>
            <a:pPr lvl="1"/>
            <a:r>
              <a:rPr lang="en-US" sz="3200" dirty="0">
                <a:latin typeface="Gabriola" pitchFamily="82" charset="0"/>
              </a:rPr>
              <a:t>Long-term use of pain meds (NSAIDs, opioids).</a:t>
            </a:r>
          </a:p>
          <a:p>
            <a:pPr lvl="1"/>
            <a:r>
              <a:rPr lang="en-US" sz="3200" dirty="0">
                <a:latin typeface="Gabriola" pitchFamily="82" charset="0"/>
              </a:rPr>
              <a:t>Adjust analgesic regimen </a:t>
            </a:r>
            <a:r>
              <a:rPr lang="en-US" sz="3200" dirty="0" err="1">
                <a:latin typeface="Gabriola" pitchFamily="82" charset="0"/>
              </a:rPr>
              <a:t>perioperatively</a:t>
            </a:r>
            <a:r>
              <a:rPr lang="en-US" sz="3200" dirty="0">
                <a:latin typeface="Gabriola" pitchFamily="82" charset="0"/>
              </a:rPr>
              <a:t>.</a:t>
            </a:r>
          </a:p>
          <a:p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437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8392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abriola" pitchFamily="82" charset="0"/>
              </a:rPr>
              <a:t>2. Intraoperative Considerations</a:t>
            </a:r>
          </a:p>
          <a:p>
            <a:r>
              <a:rPr lang="en-US" b="1" dirty="0">
                <a:latin typeface="Gabriola" pitchFamily="82" charset="0"/>
              </a:rPr>
              <a:t>Airway Management</a:t>
            </a:r>
            <a:endParaRPr lang="en-US" dirty="0">
              <a:latin typeface="Gabriola" pitchFamily="82" charset="0"/>
            </a:endParaRPr>
          </a:p>
          <a:p>
            <a:r>
              <a:rPr lang="en-US" dirty="0">
                <a:latin typeface="Gabriola" pitchFamily="82" charset="0"/>
              </a:rPr>
              <a:t>Anticipate challenges due to </a:t>
            </a:r>
            <a:r>
              <a:rPr lang="en-US" b="1" dirty="0">
                <a:latin typeface="Gabriola" pitchFamily="82" charset="0"/>
              </a:rPr>
              <a:t>TMJ</a:t>
            </a:r>
            <a:r>
              <a:rPr lang="en-US" dirty="0">
                <a:latin typeface="Gabriola" pitchFamily="82" charset="0"/>
              </a:rPr>
              <a:t> or </a:t>
            </a:r>
            <a:r>
              <a:rPr lang="en-US" b="1" dirty="0">
                <a:latin typeface="Gabriola" pitchFamily="82" charset="0"/>
              </a:rPr>
              <a:t>cervical spine</a:t>
            </a:r>
            <a:r>
              <a:rPr lang="en-US" dirty="0">
                <a:latin typeface="Gabriola" pitchFamily="82" charset="0"/>
              </a:rPr>
              <a:t> involvement.</a:t>
            </a:r>
          </a:p>
          <a:p>
            <a:r>
              <a:rPr lang="en-US" dirty="0">
                <a:latin typeface="Gabriola" pitchFamily="82" charset="0"/>
              </a:rPr>
              <a:t>Prepare for alternative airway techniques if necessary.</a:t>
            </a:r>
          </a:p>
          <a:p>
            <a:r>
              <a:rPr lang="en-US" b="1" dirty="0">
                <a:latin typeface="Gabriola" pitchFamily="82" charset="0"/>
              </a:rPr>
              <a:t>Positioning</a:t>
            </a:r>
            <a:endParaRPr lang="en-US" dirty="0">
              <a:latin typeface="Gabriola" pitchFamily="82" charset="0"/>
            </a:endParaRPr>
          </a:p>
          <a:p>
            <a:r>
              <a:rPr lang="en-US" b="1" dirty="0">
                <a:latin typeface="Gabriola" pitchFamily="82" charset="0"/>
              </a:rPr>
              <a:t>Joint Stiffness &amp; Deformities:</a:t>
            </a:r>
            <a:endParaRPr lang="en-US" dirty="0">
              <a:latin typeface="Gabriola" pitchFamily="82" charset="0"/>
            </a:endParaRPr>
          </a:p>
          <a:p>
            <a:pPr lvl="1"/>
            <a:r>
              <a:rPr lang="en-US" dirty="0">
                <a:latin typeface="Gabriola" pitchFamily="82" charset="0"/>
              </a:rPr>
              <a:t>Avoid joint pain/injury with proper padding.</a:t>
            </a:r>
          </a:p>
          <a:p>
            <a:r>
              <a:rPr lang="en-US" b="1" dirty="0">
                <a:latin typeface="Gabriola" pitchFamily="82" charset="0"/>
              </a:rPr>
              <a:t>Weight-Bearing Joints:</a:t>
            </a:r>
            <a:endParaRPr lang="en-US" dirty="0">
              <a:latin typeface="Gabriola" pitchFamily="82" charset="0"/>
            </a:endParaRPr>
          </a:p>
          <a:p>
            <a:pPr lvl="1"/>
            <a:r>
              <a:rPr lang="en-US" dirty="0">
                <a:latin typeface="Gabriola" pitchFamily="82" charset="0"/>
              </a:rPr>
              <a:t>Consider condition of knees, hips, spine for optimal positioning.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846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458200" cy="5440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Monitoring</a:t>
            </a: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DVT Prophylaxis: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Increased risk of thromboembolism due to reduced mobility.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Pain Control: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Use multimodal analgesia (regional blocks, acetaminophen, NSAIDs).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71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abriola" pitchFamily="82" charset="0"/>
              </a:rPr>
              <a:t>3. Postoperative Considerations</a:t>
            </a:r>
          </a:p>
          <a:p>
            <a:r>
              <a:rPr lang="en-US" b="1" dirty="0">
                <a:latin typeface="Gabriola" pitchFamily="82" charset="0"/>
              </a:rPr>
              <a:t>Pain Management</a:t>
            </a:r>
            <a:endParaRPr lang="en-US" dirty="0">
              <a:latin typeface="Gabriola" pitchFamily="82" charset="0"/>
            </a:endParaRPr>
          </a:p>
          <a:p>
            <a:r>
              <a:rPr lang="en-US" b="1" dirty="0">
                <a:latin typeface="Gabriola" pitchFamily="82" charset="0"/>
              </a:rPr>
              <a:t>Multimodal Analgesia:</a:t>
            </a:r>
            <a:endParaRPr lang="en-US" dirty="0">
              <a:latin typeface="Gabriola" pitchFamily="82" charset="0"/>
            </a:endParaRPr>
          </a:p>
          <a:p>
            <a:pPr lvl="1"/>
            <a:r>
              <a:rPr lang="en-US" dirty="0">
                <a:latin typeface="Gabriola" pitchFamily="82" charset="0"/>
              </a:rPr>
              <a:t>Combine non-opioid options (acetaminophen, NSAIDs, COX-2 inhibitors) and regional techniques.</a:t>
            </a:r>
          </a:p>
          <a:p>
            <a:pPr lvl="1"/>
            <a:r>
              <a:rPr lang="en-US" dirty="0">
                <a:latin typeface="Gabriola" pitchFamily="82" charset="0"/>
              </a:rPr>
              <a:t>Minimize opioid use, especially in older patients.</a:t>
            </a:r>
          </a:p>
          <a:p>
            <a:r>
              <a:rPr lang="en-US" b="1" dirty="0">
                <a:latin typeface="Gabriola" pitchFamily="82" charset="0"/>
              </a:rPr>
              <a:t>Chronic Pain:</a:t>
            </a:r>
            <a:endParaRPr lang="en-US" dirty="0">
              <a:latin typeface="Gabriola" pitchFamily="82" charset="0"/>
            </a:endParaRPr>
          </a:p>
          <a:p>
            <a:r>
              <a:rPr lang="en-US" dirty="0">
                <a:latin typeface="Gabriola" pitchFamily="82" charset="0"/>
              </a:rPr>
              <a:t>Adjust preoperative pain regimens to manage both acute and chronic pain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297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Reference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Morgan 6</a:t>
            </a:r>
            <a:r>
              <a:rPr lang="en-US" baseline="30000" dirty="0" smtClean="0"/>
              <a:t>th</a:t>
            </a:r>
            <a:r>
              <a:rPr lang="en-US" dirty="0" smtClean="0"/>
              <a:t> edition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F477D-A626-4B84-9E97-AD73756F88E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8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2484</Words>
  <Application>Microsoft Office PowerPoint</Application>
  <PresentationFormat>On-screen Show (4:3)</PresentationFormat>
  <Paragraphs>355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Anesthesia  for Hip and knee surgery </vt:lpstr>
      <vt:lpstr>introduction </vt:lpstr>
      <vt:lpstr>Cont..</vt:lpstr>
      <vt:lpstr>Cont..</vt:lpstr>
      <vt:lpstr>Cont..</vt:lpstr>
      <vt:lpstr>Types of Hip surgery </vt:lpstr>
      <vt:lpstr>Cont..</vt:lpstr>
      <vt:lpstr> Common Indications for Hip Surgery </vt:lpstr>
      <vt:lpstr>Cont..</vt:lpstr>
      <vt:lpstr>Knee Surgery</vt:lpstr>
      <vt:lpstr>Cont..</vt:lpstr>
      <vt:lpstr>Anesthesia for hip and knee  surgery </vt:lpstr>
      <vt:lpstr>Cont..</vt:lpstr>
      <vt:lpstr>Preoperative consideration </vt:lpstr>
      <vt:lpstr>Cont…</vt:lpstr>
      <vt:lpstr>Cont..</vt:lpstr>
      <vt:lpstr>Cont..</vt:lpstr>
      <vt:lpstr>Intraoperative consideration </vt:lpstr>
      <vt:lpstr>PowerPoint Presentation</vt:lpstr>
      <vt:lpstr>Cont..</vt:lpstr>
      <vt:lpstr>Cont..</vt:lpstr>
      <vt:lpstr>Postoperative consideration </vt:lpstr>
      <vt:lpstr>Cont…</vt:lpstr>
      <vt:lpstr>Cont..</vt:lpstr>
      <vt:lpstr>Cont..</vt:lpstr>
      <vt:lpstr>Cont..</vt:lpstr>
      <vt:lpstr>Cont..</vt:lpstr>
      <vt:lpstr>Cont..</vt:lpstr>
      <vt:lpstr>Anesthesia Considerations for Rheumatic Arthritis</vt:lpstr>
      <vt:lpstr>Cont..</vt:lpstr>
      <vt:lpstr>Cont..</vt:lpstr>
      <vt:lpstr>Cont…</vt:lpstr>
      <vt:lpstr>Cont…</vt:lpstr>
      <vt:lpstr>Cont..</vt:lpstr>
      <vt:lpstr>Preoperative evaluation </vt:lpstr>
      <vt:lpstr>Cont..</vt:lpstr>
      <vt:lpstr>Cont..</vt:lpstr>
      <vt:lpstr>Cont…</vt:lpstr>
      <vt:lpstr>Cont..</vt:lpstr>
      <vt:lpstr>2. Intraoperative considration </vt:lpstr>
      <vt:lpstr>Cont..</vt:lpstr>
      <vt:lpstr>PowerPoint Presentation</vt:lpstr>
      <vt:lpstr>Osteoarthritis </vt:lpstr>
      <vt:lpstr>Cont…</vt:lpstr>
      <vt:lpstr>Cont..</vt:lpstr>
      <vt:lpstr>Cont..</vt:lpstr>
      <vt:lpstr>Cont..</vt:lpstr>
      <vt:lpstr>Cont..</vt:lpstr>
      <vt:lpstr>Cont…</vt:lpstr>
      <vt:lpstr> 1. Preoperative Evaluation </vt:lpstr>
      <vt:lpstr>Cont..</vt:lpstr>
      <vt:lpstr>Cont..</vt:lpstr>
      <vt:lpstr>Cont..</vt:lpstr>
      <vt:lpstr>Cont..</vt:lpstr>
      <vt:lpstr>Reference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Anesthesia  for hip and knee surgery</dc:title>
  <dc:creator>Windows User</dc:creator>
  <cp:lastModifiedBy>Windows User</cp:lastModifiedBy>
  <cp:revision>19</cp:revision>
  <dcterms:created xsi:type="dcterms:W3CDTF">2024-12-18T16:04:01Z</dcterms:created>
  <dcterms:modified xsi:type="dcterms:W3CDTF">2024-12-19T06:18:16Z</dcterms:modified>
</cp:coreProperties>
</file>