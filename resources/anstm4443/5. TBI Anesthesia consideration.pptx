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notesMasterIdLst>
    <p:notesMasterId r:id="rId107"/>
  </p:notesMasterIdLst>
  <p:sldIdLst>
    <p:sldId id="368" r:id="rId2"/>
    <p:sldId id="369" r:id="rId3"/>
    <p:sldId id="257" r:id="rId4"/>
    <p:sldId id="262" r:id="rId5"/>
    <p:sldId id="263" r:id="rId6"/>
    <p:sldId id="264" r:id="rId7"/>
    <p:sldId id="265" r:id="rId8"/>
    <p:sldId id="259" r:id="rId9"/>
    <p:sldId id="266" r:id="rId10"/>
    <p:sldId id="260" r:id="rId11"/>
    <p:sldId id="261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302" r:id="rId32"/>
    <p:sldId id="301" r:id="rId33"/>
    <p:sldId id="300" r:id="rId34"/>
    <p:sldId id="286" r:id="rId35"/>
    <p:sldId id="287" r:id="rId36"/>
    <p:sldId id="288" r:id="rId37"/>
    <p:sldId id="303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305" r:id="rId48"/>
    <p:sldId id="298" r:id="rId49"/>
    <p:sldId id="299" r:id="rId50"/>
    <p:sldId id="311" r:id="rId51"/>
    <p:sldId id="307" r:id="rId52"/>
    <p:sldId id="308" r:id="rId53"/>
    <p:sldId id="309" r:id="rId54"/>
    <p:sldId id="310" r:id="rId55"/>
    <p:sldId id="312" r:id="rId56"/>
    <p:sldId id="313" r:id="rId57"/>
    <p:sldId id="314" r:id="rId58"/>
    <p:sldId id="315" r:id="rId59"/>
    <p:sldId id="316" r:id="rId60"/>
    <p:sldId id="317" r:id="rId61"/>
    <p:sldId id="323" r:id="rId62"/>
    <p:sldId id="319" r:id="rId63"/>
    <p:sldId id="324" r:id="rId64"/>
    <p:sldId id="321" r:id="rId65"/>
    <p:sldId id="325" r:id="rId66"/>
    <p:sldId id="326" r:id="rId67"/>
    <p:sldId id="330" r:id="rId68"/>
    <p:sldId id="327" r:id="rId69"/>
    <p:sldId id="328" r:id="rId70"/>
    <p:sldId id="329" r:id="rId71"/>
    <p:sldId id="331" r:id="rId72"/>
    <p:sldId id="332" r:id="rId73"/>
    <p:sldId id="333" r:id="rId74"/>
    <p:sldId id="334" r:id="rId75"/>
    <p:sldId id="335" r:id="rId76"/>
    <p:sldId id="336" r:id="rId77"/>
    <p:sldId id="337" r:id="rId78"/>
    <p:sldId id="338" r:id="rId79"/>
    <p:sldId id="339" r:id="rId80"/>
    <p:sldId id="340" r:id="rId81"/>
    <p:sldId id="341" r:id="rId82"/>
    <p:sldId id="342" r:id="rId83"/>
    <p:sldId id="343" r:id="rId84"/>
    <p:sldId id="344" r:id="rId85"/>
    <p:sldId id="346" r:id="rId86"/>
    <p:sldId id="345" r:id="rId87"/>
    <p:sldId id="353" r:id="rId88"/>
    <p:sldId id="351" r:id="rId89"/>
    <p:sldId id="352" r:id="rId90"/>
    <p:sldId id="347" r:id="rId91"/>
    <p:sldId id="348" r:id="rId92"/>
    <p:sldId id="349" r:id="rId93"/>
    <p:sldId id="350" r:id="rId94"/>
    <p:sldId id="358" r:id="rId95"/>
    <p:sldId id="359" r:id="rId96"/>
    <p:sldId id="360" r:id="rId97"/>
    <p:sldId id="355" r:id="rId98"/>
    <p:sldId id="356" r:id="rId99"/>
    <p:sldId id="357" r:id="rId100"/>
    <p:sldId id="361" r:id="rId101"/>
    <p:sldId id="362" r:id="rId102"/>
    <p:sldId id="363" r:id="rId103"/>
    <p:sldId id="364" r:id="rId104"/>
    <p:sldId id="365" r:id="rId105"/>
    <p:sldId id="367" r:id="rId10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56" autoAdjust="0"/>
    <p:restoredTop sz="71530" autoAdjust="0"/>
  </p:normalViewPr>
  <p:slideViewPr>
    <p:cSldViewPr>
      <p:cViewPr>
        <p:scale>
          <a:sx n="73" d="100"/>
          <a:sy n="73" d="100"/>
        </p:scale>
        <p:origin x="-1278" y="-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viewProps" Target="view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4119AC-932D-47F6-A0A7-192FC2B7048F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0B8C98-C6A1-4356-9F49-379CFDB55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44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/>
              <a:t>lucid interval</a:t>
            </a:r>
            <a:r>
              <a:rPr lang="en-US" dirty="0" smtClean="0"/>
              <a:t> followed by deterioration of neurological function is a hallmark feature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B8C98-C6A1-4356-9F49-379CFDB552B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458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DFF3-734A-4FC0-BDA4-25F971942937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389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106D6-9808-4336-80EC-B61586DA6585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383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50A20-5F6E-4349-95C2-777B00F4639E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386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9CAA7-0107-4AE5-9ECA-D631A83BE063}" type="datetime1">
              <a:rPr lang="en-US" smtClean="0"/>
              <a:t>11/14/2024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99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911FB-1AEF-406E-A8B0-F13F9319D062}" type="datetime1">
              <a:rPr lang="en-US" smtClean="0"/>
              <a:t>11/14/2024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221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92B3-352D-4A2A-BF65-60715CC78893}" type="datetime1">
              <a:rPr lang="en-US" smtClean="0"/>
              <a:t>11/14/2024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91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E883E-DBD4-46C7-AA00-E27198E8DB51}" type="datetime1">
              <a:rPr lang="en-US" smtClean="0"/>
              <a:t>11/14/2024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54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858C-299C-44D9-9B82-06000AAF23C0}" type="datetime1">
              <a:rPr lang="en-US" smtClean="0"/>
              <a:t>11/14/2024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593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88DF-F277-492A-8D63-A4D0AADBBA91}" type="datetime1">
              <a:rPr lang="en-US" smtClean="0"/>
              <a:t>11/14/2024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373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B6FE8-9B05-4E5C-9141-D2ED8ECC792A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866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4EC46-FD90-436E-838F-C89C8D74E446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467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B18388-B30C-4425-B7F4-5964B0FC9C80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76BFD1-C89F-47A1-A424-619031813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895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>
                <a:latin typeface="Franklin Gothic Heavy" pitchFamily="34" charset="0"/>
              </a:rPr>
              <a:t>Anaesthesia </a:t>
            </a:r>
            <a:r>
              <a:rPr lang="en-GB" dirty="0">
                <a:latin typeface="Franklin Gothic Heavy" pitchFamily="34" charset="0"/>
              </a:rPr>
              <a:t>Considerations for Adult Traumatic Brain Injury</a:t>
            </a:r>
            <a:endParaRPr lang="en-US" dirty="0">
              <a:latin typeface="Franklin Gothic Heavy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0" y="4114800"/>
            <a:ext cx="5105400" cy="1524000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Gabriola" pitchFamily="82" charset="0"/>
              </a:rPr>
              <a:t>By </a:t>
            </a:r>
            <a:r>
              <a:rPr lang="en-US" b="1" dirty="0" err="1" smtClean="0">
                <a:solidFill>
                  <a:schemeClr val="tx1"/>
                </a:solidFill>
                <a:latin typeface="Gabriola" pitchFamily="82" charset="0"/>
              </a:rPr>
              <a:t>wubayehu</a:t>
            </a:r>
            <a:r>
              <a:rPr lang="en-US" b="1" dirty="0" smtClean="0">
                <a:solidFill>
                  <a:schemeClr val="tx1"/>
                </a:solidFill>
                <a:latin typeface="Gabriola" pitchFamily="8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Gabriola" pitchFamily="82" charset="0"/>
              </a:rPr>
              <a:t>amare</a:t>
            </a:r>
            <a:r>
              <a:rPr lang="en-US" b="1" dirty="0" smtClean="0">
                <a:solidFill>
                  <a:schemeClr val="tx1"/>
                </a:solidFill>
                <a:latin typeface="Gabriola" pitchFamily="82" charset="0"/>
              </a:rPr>
              <a:t> ( MSC, lecturer</a:t>
            </a:r>
            <a:r>
              <a:rPr lang="en-US" dirty="0" smtClean="0">
                <a:solidFill>
                  <a:schemeClr val="tx1"/>
                </a:solidFill>
                <a:latin typeface="Gabriola" pitchFamily="82" charset="0"/>
              </a:rPr>
              <a:t>)</a:t>
            </a:r>
            <a:endParaRPr lang="en-US" dirty="0">
              <a:solidFill>
                <a:schemeClr val="tx1"/>
              </a:solidFill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485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none" dirty="0" smtClean="0">
                <a:latin typeface="Agency FB" pitchFamily="34" charset="0"/>
              </a:rPr>
              <a:t>Outline</a:t>
            </a:r>
            <a:r>
              <a:rPr lang="en-US" dirty="0" smtClean="0">
                <a:latin typeface="Agency FB" pitchFamily="34" charset="0"/>
              </a:rPr>
              <a:t> 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Define TBI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Epidemiology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Types of head injury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Primary and secondary head injury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Management consideration 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Anesthetic techniques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097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4800"/>
            <a:ext cx="8362950" cy="990601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Introduction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534400" cy="49577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Traumatic Brain Injury (TBI)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is a critical medical condition that results from an external force causing injury to the brain.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is a leading cause of death and disability globally, with significant morbidity and long-term complications.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Anesthesia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management in TBI patients is crucial because of the potential for rapid deterioration and the delicate balance required to maintain cerebral perfusion and prevent secondary brain injury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98C5F-76DE-4214-BE56-7847DBBF2FBD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265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1"/>
            <a:ext cx="8915400" cy="457200"/>
          </a:xfrm>
        </p:spPr>
        <p:txBody>
          <a:bodyPr>
            <a:noAutofit/>
          </a:bodyPr>
          <a:lstStyle/>
          <a:p>
            <a:pPr algn="ctr"/>
            <a:r>
              <a:rPr lang="en-US" sz="6000" dirty="0" smtClean="0">
                <a:latin typeface="Gabriola" pitchFamily="82" charset="0"/>
              </a:rPr>
              <a:t> </a:t>
            </a:r>
            <a:endParaRPr lang="en-US" sz="6000" dirty="0">
              <a:latin typeface="Gabriola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763000" cy="55625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Traumatic brain injury (TBI) is an acquired insult to the brain due to an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external mechanical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force and can lead to transient or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permanent impairment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of cognitive,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physical, and psychosocial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functions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CNS trauma consists of both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the;-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Primary injury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in which tissue is disrupted by mechanical force, and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Secondary response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in which the body’s reaction to the injury plays an important role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B6B5A-CED3-43B9-AF67-616C2AA06975}" type="slidenum">
              <a:rPr lang="en-US" smtClean="0"/>
              <a:t>4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13428-52A2-42A0-8B54-2DBAE6333E4C}" type="datetime1">
              <a:rPr lang="en-US" smtClean="0"/>
              <a:t>11/14/2024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344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65127"/>
            <a:ext cx="8362950" cy="930274"/>
          </a:xfrm>
        </p:spPr>
        <p:txBody>
          <a:bodyPr/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686800" cy="5110163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70000"/>
              </a:lnSpc>
              <a:buFont typeface="Wingdings" pitchFamily="2" charset="2"/>
              <a:buChar char="Ø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Any trauma patient with an altered level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of consciousness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must be considered to have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a traumatic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brain injury (TBI) until proven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otherwise.</a:t>
            </a:r>
          </a:p>
          <a:p>
            <a:pPr>
              <a:lnSpc>
                <a:spcPct val="170000"/>
              </a:lnSpc>
              <a:buFont typeface="Wingdings" pitchFamily="2" charset="2"/>
              <a:buChar char="Ø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Presence or suspicion of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TBI mandates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attention to maintaining cerebral perfusion pressure and oxygenation during all aspects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of care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70000"/>
              </a:lnSpc>
              <a:buFont typeface="Wingdings" pitchFamily="2" charset="2"/>
              <a:buChar char="Ø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most reliable clinical assessment tool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in determining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the significance of TBI in a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non-sedated, non-paralyzed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patient is the Glasgow Coma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Scale.</a:t>
            </a:r>
          </a:p>
          <a:p>
            <a:pPr>
              <a:lnSpc>
                <a:spcPct val="170000"/>
              </a:lnSpc>
              <a:buFont typeface="Wingdings" pitchFamily="2" charset="2"/>
              <a:buChar char="Ø"/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B6B5A-CED3-43B9-AF67-616C2AA06975}" type="slidenum">
              <a:rPr lang="en-US" smtClean="0"/>
              <a:t>5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F441-C91D-44B3-BCE4-ED86D8A61105}" type="datetime1">
              <a:rPr lang="en-US" smtClean="0"/>
              <a:t>11/14/2024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87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8134350" cy="549274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>
                <a:latin typeface="Gabriola" pitchFamily="82" charset="0"/>
              </a:rPr>
              <a:t>Cont</a:t>
            </a:r>
            <a:r>
              <a:rPr lang="en-US" dirty="0" smtClean="0">
                <a:latin typeface="Gabriola" pitchFamily="82" charset="0"/>
              </a:rPr>
              <a:t>…</a:t>
            </a:r>
            <a:endParaRPr lang="en-US" dirty="0">
              <a:latin typeface="Gabriola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52625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60000"/>
              </a:lnSpc>
              <a:buFont typeface="Wingdings" pitchFamily="2" charset="2"/>
              <a:buChar char="Ø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Mitigation of secondary CNS injury depends on prompt diagnosis and early, goal directed therapy.</a:t>
            </a:r>
          </a:p>
          <a:p>
            <a:pPr>
              <a:lnSpc>
                <a:spcPct val="160000"/>
              </a:lnSpc>
              <a:buFont typeface="Wingdings" pitchFamily="2" charset="2"/>
              <a:buChar char="Ø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Primary CNS injuries can’t be minimized other than preventive strategies.</a:t>
            </a:r>
          </a:p>
          <a:p>
            <a:pPr>
              <a:lnSpc>
                <a:spcPct val="160000"/>
              </a:lnSpc>
              <a:buFont typeface="Wingdings" pitchFamily="2" charset="2"/>
              <a:buChar char="Ø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Secondary injury account for much of deaths and disability that follow the trauma</a:t>
            </a:r>
          </a:p>
          <a:p>
            <a:pPr>
              <a:lnSpc>
                <a:spcPct val="160000"/>
              </a:lnSpc>
              <a:buFont typeface="Wingdings" pitchFamily="2" charset="2"/>
              <a:buChar char="Ø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Attention to the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ABCDE approach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is paramount to successful resuscitation, and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the trauma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anesthesiologist should be intimately involved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in this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process.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B6B5A-CED3-43B9-AF67-616C2AA06975}" type="slidenum">
              <a:rPr lang="en-US" smtClean="0"/>
              <a:t>6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16B3D-12ED-434C-9AAE-A50F42E2F9D5}" type="datetime1">
              <a:rPr lang="en-US" smtClean="0"/>
              <a:t>11/14/2024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00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65127"/>
            <a:ext cx="8362950" cy="854074"/>
          </a:xfrm>
        </p:spPr>
        <p:txBody>
          <a:bodyPr/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534400" cy="51101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Anesthetist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are most often involved in the care of patients with moderate to severe TBI for a variety of procedures including but not limited to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Initial evaluation and resuscitation,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Diagnostic imaging,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Surgical intervention, and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Intensive care unit (ICU) management.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B6B5A-CED3-43B9-AF67-616C2AA06975}" type="slidenum">
              <a:rPr lang="en-US" smtClean="0"/>
              <a:t>7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0D50F-901F-48ED-9D2C-838DEF2E647A}" type="datetime1">
              <a:rPr lang="en-US" smtClean="0"/>
              <a:t>11/14/2024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040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52400"/>
            <a:ext cx="8439150" cy="762001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Causes </a:t>
            </a: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of TBI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286750" cy="51101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Common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Causes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Road Traffic Accidents (RTAs)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Major cause, especially in low-income countries.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Falls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Especially in elderly and children.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Violence &amp; Assaults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Including gunshot wounds, physical assault.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Sports Injuries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Contact sports, falls during physical activity.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F1BBC-F207-4539-A5D7-EF2DA530CF41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256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6200" y="365127"/>
            <a:ext cx="8591550" cy="777874"/>
          </a:xfrm>
        </p:spPr>
        <p:txBody>
          <a:bodyPr/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534400" cy="51101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The leading cause of TBI-related death varies by age: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Falls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are the major cause of death for elderly persons (age&gt;65).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MVCs are responsible for the majority of deaths in children and young adults (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ages 5–24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Assaults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are the leading cause of death for children (ages 0–4).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Male gender is associated with a higher rate of hospitalization as well as a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three-fold increase in death from TBI.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B6B5A-CED3-43B9-AF67-616C2AA06975}" type="slidenum">
              <a:rPr lang="en-US" smtClean="0"/>
              <a:t>9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F5945-6CF3-463E-BF46-AFC82C101F86}" type="datetime1">
              <a:rPr lang="en-US" smtClean="0"/>
              <a:t>11/14/2024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372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7"/>
            <a:ext cx="8515350" cy="701674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TBI 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Ethiopia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8991600" cy="55626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Road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Traffic Accidents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 major cause of TBI, accounting for up to 40% of trauma admissions.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High incidence of motorbike-related injuries.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TBI Care in Ethiopia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Limited neurosurgical services, particularly in rural areas.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Shortage of CT scanners and advanced monitoring equipment.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High mortality in severe TBI cases due to late presentation and lack of resources.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Healthcare System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Major hospitals in Addis Ababa have specialized trauma and neurosurgical care, but rural areas lack access.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63BFC-BD8F-44E8-9D9A-1CE2B0FCC420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973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1"/>
            <a:ext cx="8362950" cy="9144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TBI 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Classification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8515350" cy="51101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Traumatic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Brain Injury (TBI) is classified based on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severity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mechanism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location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of injury.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Each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classification helps guide clinical management and predict outcomes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Understanding these classifications is crucial for both immediate care and long-term prognosis, especially in resource-limited settings where early identification and intervention are key.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385EC-2B03-4959-B89E-AA699B2BD99D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791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1"/>
            <a:ext cx="8458200" cy="838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Severity Classification of TBI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1"/>
            <a:ext cx="8686800" cy="50292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severity of a TBI is usually assessed using 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GCS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which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is a clinical tool used to evaluate the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LOC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based on three parameters: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eye opening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verbal response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motor response. 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GCS score helps categorize the injury as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Mild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Moderate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Severe, with higher scores indicating less severe brain injury.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689EF-3437-48C5-B4B5-2F85F4FE12A7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335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1"/>
            <a:ext cx="8362950" cy="7620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4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Mild </a:t>
            </a:r>
            <a:r>
              <a:rPr lang="en-US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TBI (GCS 13-15</a:t>
            </a:r>
            <a:r>
              <a:rPr lang="en-US" sz="4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8991600" cy="518160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Concussion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This is the most common form of TBI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 concussion often results from a blow to the head or a jolt, and may or may not involve a brief loss of consciousness (LOC).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GCS Score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13-15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, indicating mild impairment of consciousness. Patients are typically oriented and able to respond to verbal commands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Symptoms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Brief loss of consciousness (if present).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Confusion, headache, dizziness, blurred vision, nausea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33D58-F42D-4D31-8CA2-A82018AB2B62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454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8515350" cy="685801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763000" cy="5410200"/>
          </a:xfrm>
        </p:spPr>
        <p:txBody>
          <a:bodyPr>
            <a:normAutofit fontScale="85000" lnSpcReduction="20000"/>
          </a:bodyPr>
          <a:lstStyle/>
          <a:p>
            <a:pPr lvl="1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Symptoms may resolve within minutes to hours, but some individuals may experience post-concussion syndrome, including headaches, dizziness, fatigue, and cognitive impairments.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Management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Close monitoring for a few hours to ensure symptoms resolve.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Imaging (CT or MRI) may not be required unless there are signs of more severe injury.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Return-to-activity guidelines are important, especially in sports-related concussions.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785C9-7358-46BA-8697-B7F21517B7EA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950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228601"/>
            <a:ext cx="8763000" cy="8382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Moderate TBI</a:t>
            </a:r>
            <a:r>
              <a:rPr lang="en-US" sz="4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GCS 9-12):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362950" cy="5110163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Increased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Injury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Moderate TBIs are associated with more pronounced impairments and require more intensive monitoring and management.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GCS Score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9-12, reflecting a moderate decrease in consciousness. Patients may be confused and may have difficulty following commands.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Symptoms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Confusion, agitation, or drowsiness that may last for hours.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Memory deficits, impaired cognition, and sometimes, physical impairment such as weakness or numbness.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96FF8-B5F9-4058-9A48-6786783D2DF9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144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362950" cy="533401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763000" cy="5334000"/>
          </a:xfrm>
        </p:spPr>
        <p:txBody>
          <a:bodyPr>
            <a:normAutofit fontScale="77500" lnSpcReduction="20000"/>
          </a:bodyPr>
          <a:lstStyle/>
          <a:p>
            <a:pPr lvl="1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Possible focal neurological signs, such as speech difficulties or paralysis.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Management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Requires more aggressive monitoring, including imaging (CT scan or MRI) to assess for intracranial bleeding or structural damage.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ICP monitoring may be necessary if there is concern for increased intracranial pressure.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Neurological assessments to determine the extent of cognitive impairment.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Management of airway, ventilation, and hemodynamics as necessary.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92B22-2AB7-4B11-8979-CABE2B621A11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65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65127"/>
            <a:ext cx="8362950" cy="930274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4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Severe TBI </a:t>
            </a:r>
            <a:r>
              <a:rPr lang="en-US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(GCS 3-8</a:t>
            </a:r>
            <a:r>
              <a:rPr lang="en-US" sz="4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1054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6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Critical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Injury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Severe TBI represents significant brain injury that may lead to coma or even brain death if not managed appropriately. This group requires immediate, intensive care.</a:t>
            </a:r>
          </a:p>
          <a:p>
            <a:pPr>
              <a:lnSpc>
                <a:spcPct val="16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GCS Score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3-8, with the patient potentially being unresponsive or only responding to painful stimuli. A GCS of 3 indicates deep coma or brain death.</a:t>
            </a:r>
          </a:p>
          <a:p>
            <a:pPr>
              <a:lnSpc>
                <a:spcPct val="16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Symptoms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6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Loss of consciousness for an extended period (minutes to days).</a:t>
            </a:r>
          </a:p>
          <a:p>
            <a:pPr>
              <a:lnSpc>
                <a:spcPct val="16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3B0F9-7A00-4073-8D86-0875F77030E4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825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"/>
            <a:ext cx="8439150" cy="685800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839200" cy="5491163"/>
          </a:xfrm>
        </p:spPr>
        <p:txBody>
          <a:bodyPr>
            <a:noAutofit/>
          </a:bodyPr>
          <a:lstStyle/>
          <a:p>
            <a:pPr marL="628650" lvl="2">
              <a:lnSpc>
                <a:spcPct val="150000"/>
              </a:lnSpc>
              <a:spcBef>
                <a:spcPts val="1000"/>
              </a:spcBef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Severe neurological deficits, including significant motor and sensory impairments, possibly including paralysis, speech deficits, or loss of vision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May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have abnormal pupil responses, loss of brainstem reflexes, and may require mechanical ventilation</a:t>
            </a:r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Management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Urgent Interventions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Immediate airway management and mechanical ventilation are often required.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ICU Admission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Close monitoring in the ICU with continuous ICP monitoring and frequent neurological assessments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2E1AA-E20C-4F73-91E2-F8F55DB5016F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936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5635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410200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Imaging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Emergency CT or MRI to identify any bleeding, swelling, or brain shift.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Multidisciplinary Care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Neurosurgery,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neurocritical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care, and rehabilitation specialists are often required for long-term care.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Surgical Intervention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If hemorrhages, contusions, or other life-threatening lesions are identified, surgical intervention may be needed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D4FA-9C8A-4E23-929C-0FDE9CD939B4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373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792162"/>
          </a:xfrm>
        </p:spPr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2. Mechanism of Injury in TBI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610600" cy="4906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mechanism of injury describes how the injury occurs and plays a significant role in determining the severity and type of TBI.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Closed Head Injury (Non-Penetrating)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Definition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A closed head injury occurs when there is no break in the skull. The brain is still contained within the skull, but can be damaged due to forces such as acceleration-deceleration, impact, or rotational forces.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95DA-C0AE-4E2D-96FD-CD0B9287BEB2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24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6397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Types of Closed Head Injury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067800" cy="5562600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Concussion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A temporary alteration in brain function that usually resolves with time but can have long-term effects, especially in repetitive injuries.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Contusion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Bruising of the brain tissue, typically seen at the site of impact.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Diffuse Axonal Injury (DAI)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Injury to the brain's axons, often caused by rotational forces that stretch and damage the axons, leading to widespread brain dysfunction.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4CF07-ADCA-493D-B863-C277DAD21927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081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7159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Open/Penetrating Head Injury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991600" cy="5257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Definition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Occurs when an object penetrates the skull and enters the brain tissue, causing focal damage to the brain.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Causes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Gunshot wounds, stabbing, or sharp force trauma.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Characteristics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Skull Fracture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A break in the bone, which can be simple or complex (e.g., depressed skull fractures).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Penetrating Injury: An object (e.g., bullet, knife) enters the skull and potentially damages the underlying brain tissue.</a:t>
            </a:r>
          </a:p>
          <a:p>
            <a:pPr lvl="1">
              <a:lnSpc>
                <a:spcPct val="15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3AA-3BCC-4553-9DF3-2137433D78AD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081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5635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534400" cy="52879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Risk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High risk of infection, bleeding, and direct brain damage. Can be associated with high mortality, particularly if the injury involves vital structures like the brainstem.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94918-81CD-4587-8C87-2817B81F2C0D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328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274638"/>
            <a:ext cx="8610600" cy="8683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3. Location of Injury in TBI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534400" cy="49831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location of the brain injury directly impacts the patient’s symptoms, prognosis, and management strategy. 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brain's functional areas are divided into different regions, and injury to specific areas can lead to characteristic neurological deficits.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7DF5-265F-426B-97B3-16D582F72C43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810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7921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Cerebral Contusions</a:t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90600"/>
            <a:ext cx="8915400" cy="52578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Definition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A contusion is a bruise on the brain caused by impact with the skull or a direct blow. 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results in small blood vessels breaking and bleeding into the brain tissue, leading to localized swelling and damage.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Common Sites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Frontal Lobes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Often affected due to the brain’s movement inside the skull during impact.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Temporal Lobes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Can also be involved, especially in high-impact or rotational injuries.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111EA-CFF7-4523-A0C8-00D7947D076B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061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6397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458200" cy="49831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Symptoms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May include confusion, headache, cognitive impairments, and motor deficits depending on the region affected. In severe cases, it can lead to loss of consciousness or coma.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996E9-D597-490E-AF18-21BE7414CACE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76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7921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Diffuse Axonal Injury (DAI)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686800" cy="5334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Definition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DAI is a type of injury where the brain’s long nerve fibers (axons) are stretched or torn, typically due to acceleration-deceleration forces (e.g., whiplash injuries or high-speed motor vehicle accidents).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Mechanism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Often caused by rapid deceleration, such as a car crash or sports injury.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Symptoms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Immediate loss of consciousness, coma, or a persistent vegetative state. It is often associated with significant cognitive and physical impairments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88034-EBB7-48EC-8331-5ED907B3FD18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251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6397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4102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DAI is one of the leading causes of long-term disability and is difficult to detect on standard CT scans (MRI may be more sensitive).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AA1C6-1AA6-4AD8-85F5-F099C557ACD1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272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8683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Hemorrhages in TBI</a:t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49831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Hemorrhages (bleeding) inside the brain can occur as a result of injury to blood vessels. 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location and type of hemorrhage are critical in determining the severity of the TBI and the required interventions.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Epidural Hematoma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Subdural Hematoma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Intracerebral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Hemorrhage (ICH)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06F6-6725-48AB-90F3-D0F8AE1AA330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018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10207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Epidural Hematoma (EDH)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219200"/>
            <a:ext cx="8763000" cy="490696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Epidural Hematoma (EDH) is a potentially life-threatening condition resulting from trauma that causes bleeding between the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dura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mater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the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skull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is often associated with a tear in the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middle meningeal artery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or other blood vessels, leading to accumulation of blood within this space.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The rapid accumulation of blood can increase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intracranial pressure (ICP)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which, if left untreated, may lead to brain herniation and death.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C8D8F-448F-4BB4-8389-6C1F917B9A63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606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792162"/>
          </a:xfrm>
        </p:spPr>
        <p:txBody>
          <a:bodyPr/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685800"/>
            <a:ext cx="5334000" cy="594360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000" b="1" u="sng" dirty="0" smtClean="0">
                <a:latin typeface="Times New Roman" pitchFamily="18" charset="0"/>
                <a:cs typeface="Times New Roman" pitchFamily="18" charset="0"/>
              </a:rPr>
              <a:t>Cause of Epidural Hematoma</a:t>
            </a:r>
          </a:p>
          <a:p>
            <a:pPr>
              <a:lnSpc>
                <a:spcPct val="150000"/>
              </a:lnSpc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most common cause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of an epidural hematoma is </a:t>
            </a: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head trauma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, particularly </a:t>
            </a: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blunt force trauma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such as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Motor vehicle accidents (MVA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Falls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Especially in elderly individuals or those with a history of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alcoholism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(increased fall risk).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Sports injuries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Assault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6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23264" y="685800"/>
            <a:ext cx="3087336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8384-7CA0-4666-8315-8FB2B05C310B}" type="datetime1">
              <a:rPr lang="en-US" smtClean="0"/>
              <a:t>11/14/2024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087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1020762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Pathophysiological Mechanism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763000" cy="5181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Tear in the Middle Meningeal Artery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This is the most common cause of an epidural hematoma. 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middle meningeal artery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runs in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temporal region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of the skull, and direct trauma to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temporal bone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can result in a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fracture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that lacerates the artery.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Venous Bleeding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While arterial bleeding is more common, venous hemorrhage can also occur, usually from torn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dural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sinuses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bridging veins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5AEB2-5E47-4816-AFCF-467427EFB852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86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7921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Symptoms of Epidural Hematoma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8915400" cy="5715000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3400" b="1" dirty="0" smtClean="0">
                <a:latin typeface="Times New Roman" pitchFamily="18" charset="0"/>
                <a:cs typeface="Times New Roman" pitchFamily="18" charset="0"/>
              </a:rPr>
              <a:t>1. Initial Loss of Consciousness:</a:t>
            </a:r>
          </a:p>
          <a:p>
            <a:pPr lvl="1">
              <a:lnSpc>
                <a:spcPct val="160000"/>
              </a:lnSpc>
            </a:pPr>
            <a:r>
              <a:rPr lang="en-US" sz="3400" b="1" dirty="0" smtClean="0">
                <a:latin typeface="Times New Roman" pitchFamily="18" charset="0"/>
                <a:cs typeface="Times New Roman" pitchFamily="18" charset="0"/>
              </a:rPr>
              <a:t>Immediate </a:t>
            </a: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LOC following trauma is common.</a:t>
            </a:r>
          </a:p>
          <a:p>
            <a:pPr lvl="1">
              <a:lnSpc>
                <a:spcPct val="160000"/>
              </a:lnSpc>
            </a:pPr>
            <a:r>
              <a:rPr lang="en-US" sz="3400" b="1" dirty="0" smtClean="0">
                <a:latin typeface="Times New Roman" pitchFamily="18" charset="0"/>
                <a:cs typeface="Times New Roman" pitchFamily="18" charset="0"/>
              </a:rPr>
              <a:t>Duration: </a:t>
            </a: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(brief LOC</a:t>
            </a:r>
            <a:r>
              <a:rPr lang="en-US" sz="3400" b="1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 minutes to seconds.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3400" b="1" dirty="0" smtClean="0">
                <a:latin typeface="Times New Roman" pitchFamily="18" charset="0"/>
                <a:cs typeface="Times New Roman" pitchFamily="18" charset="0"/>
              </a:rPr>
              <a:t>2. Lucid Interval:</a:t>
            </a:r>
          </a:p>
          <a:p>
            <a:pPr lvl="1">
              <a:lnSpc>
                <a:spcPct val="160000"/>
              </a:lnSpc>
            </a:pP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After regaining consciousness, the patient may appear to be </a:t>
            </a:r>
            <a:r>
              <a:rPr lang="en-US" sz="3400" b="1" dirty="0" smtClean="0">
                <a:latin typeface="Times New Roman" pitchFamily="18" charset="0"/>
                <a:cs typeface="Times New Roman" pitchFamily="18" charset="0"/>
              </a:rPr>
              <a:t>fully conscious and oriented</a:t>
            </a: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, and this period is often referred to as the "</a:t>
            </a:r>
            <a:r>
              <a:rPr lang="en-US" sz="3400" b="1" dirty="0" smtClean="0">
                <a:latin typeface="Times New Roman" pitchFamily="18" charset="0"/>
                <a:cs typeface="Times New Roman" pitchFamily="18" charset="0"/>
              </a:rPr>
              <a:t>lucid interval</a:t>
            </a: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."</a:t>
            </a:r>
          </a:p>
          <a:p>
            <a:pPr lvl="1">
              <a:lnSpc>
                <a:spcPct val="160000"/>
              </a:lnSpc>
            </a:pP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The patient may </a:t>
            </a:r>
            <a:r>
              <a:rPr lang="en-US" sz="3400" b="1" dirty="0" smtClean="0">
                <a:latin typeface="Times New Roman" pitchFamily="18" charset="0"/>
                <a:cs typeface="Times New Roman" pitchFamily="18" charset="0"/>
              </a:rPr>
              <a:t>seem to recover</a:t>
            </a: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 completely for a period of time (minutes to hours), but as the hematoma continues to expand, symptoms worsen.</a:t>
            </a:r>
          </a:p>
          <a:p>
            <a:pPr lvl="1">
              <a:lnSpc>
                <a:spcPct val="16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F155F-2971-46C5-9731-38BC3549B891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131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28600" y="274638"/>
            <a:ext cx="8915400" cy="6397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067800" cy="5943600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3. Neurological Deterioration:</a:t>
            </a:r>
          </a:p>
          <a:p>
            <a:pPr lvl="1">
              <a:lnSpc>
                <a:spcPct val="170000"/>
              </a:lnSpc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lucid interval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is followed by a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progressive deterioration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in neurological status as the hematoma enlarges, compressing the brain and increasing ICP.</a:t>
            </a:r>
          </a:p>
          <a:p>
            <a:pPr>
              <a:lnSpc>
                <a:spcPct val="17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Signs of increased ICP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70000"/>
              </a:lnSpc>
            </a:pP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Headache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: Severe, often accompanied by nausea and vomiting.</a:t>
            </a:r>
          </a:p>
          <a:p>
            <a:pPr lvl="1">
              <a:lnSpc>
                <a:spcPct val="170000"/>
              </a:lnSpc>
            </a:pP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Confusion, agitation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lnSpc>
                <a:spcPct val="170000"/>
              </a:lnSpc>
            </a:pP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Hemiparesis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or focal neurological deficits.</a:t>
            </a:r>
          </a:p>
          <a:p>
            <a:pPr lvl="1">
              <a:lnSpc>
                <a:spcPct val="170000"/>
              </a:lnSpc>
            </a:pP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Pupillary changes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: Unequal pupils (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anisocoria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) or fixed, dilated pupils, especially on the side of the hematoma.</a:t>
            </a:r>
          </a:p>
          <a:p>
            <a:pPr lvl="1">
              <a:lnSpc>
                <a:spcPct val="170000"/>
              </a:lnSpc>
            </a:pP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Altered level of consciousness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: From drowsiness to coma.</a:t>
            </a:r>
          </a:p>
          <a:p>
            <a:pPr>
              <a:lnSpc>
                <a:spcPct val="17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19A8A-E3FD-4E54-A17D-F2921D7F51F3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641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7159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8991600" cy="5638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/>
              <a:t>Clinical Features of Brain Herniation</a:t>
            </a:r>
            <a:r>
              <a:rPr lang="en-US" sz="2400" b="1" dirty="0" smtClean="0"/>
              <a:t>: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If the hematoma continues to expand and ICP rises significantly,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brain herniation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may occur, which can lead to: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Cushing's reflex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Increased systolic blood pressure,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bradycardia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and irregular respirations (sign of impending herniation).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Fixed and dilated pupils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Posturing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decerebrate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or decorticate posturing).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Respiratory arrest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As herniation compresses the brainstem.</a:t>
            </a:r>
          </a:p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7B2C4-D090-46E8-AFF9-40D4DA3139C9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66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229600" cy="914400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Indications for Surgery in EDH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b="1" dirty="0" smtClean="0"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5638800"/>
          </a:xfrm>
        </p:spPr>
        <p:txBody>
          <a:bodyPr>
            <a:normAutofit fontScale="77500" lnSpcReduction="20000"/>
          </a:bodyPr>
          <a:lstStyle/>
          <a:p>
            <a:pPr marL="514350" indent="-457200">
              <a:lnSpc>
                <a:spcPct val="170000"/>
              </a:lnSpc>
              <a:buFont typeface="Wingdings" pitchFamily="2" charset="2"/>
              <a:buChar char="§"/>
            </a:pP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Surgical evacuation of an epidural hematoma is typically required to prevent </a:t>
            </a:r>
            <a:r>
              <a:rPr lang="en-US" sz="2900" b="1" dirty="0" smtClean="0">
                <a:latin typeface="Times New Roman" pitchFamily="18" charset="0"/>
                <a:cs typeface="Times New Roman" pitchFamily="18" charset="0"/>
              </a:rPr>
              <a:t>life-threatening increases in ICP</a:t>
            </a: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900" b="1" dirty="0" smtClean="0">
                <a:latin typeface="Times New Roman" pitchFamily="18" charset="0"/>
                <a:cs typeface="Times New Roman" pitchFamily="18" charset="0"/>
              </a:rPr>
              <a:t>brain herniation</a:t>
            </a: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. Indications for surgery include: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900" b="1" dirty="0" smtClean="0">
                <a:latin typeface="Times New Roman" pitchFamily="18" charset="0"/>
                <a:cs typeface="Times New Roman" pitchFamily="18" charset="0"/>
              </a:rPr>
              <a:t>1. Significant Hematoma Size</a:t>
            </a: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70000"/>
              </a:lnSpc>
            </a:pPr>
            <a:r>
              <a:rPr lang="en-US" sz="2900" b="1" dirty="0" smtClean="0">
                <a:latin typeface="Times New Roman" pitchFamily="18" charset="0"/>
                <a:cs typeface="Times New Roman" pitchFamily="18" charset="0"/>
              </a:rPr>
              <a:t>Mass effect</a:t>
            </a: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: If the hematoma is large enough to cause a </a:t>
            </a:r>
            <a:r>
              <a:rPr lang="en-US" sz="2900" b="1" dirty="0" smtClean="0">
                <a:latin typeface="Times New Roman" pitchFamily="18" charset="0"/>
                <a:cs typeface="Times New Roman" pitchFamily="18" charset="0"/>
              </a:rPr>
              <a:t>midline shift</a:t>
            </a: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 (displacement of the brain) or </a:t>
            </a:r>
            <a:r>
              <a:rPr lang="en-US" sz="2900" b="1" dirty="0" smtClean="0">
                <a:latin typeface="Times New Roman" pitchFamily="18" charset="0"/>
                <a:cs typeface="Times New Roman" pitchFamily="18" charset="0"/>
              </a:rPr>
              <a:t>compression of adjacent structures</a:t>
            </a: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, surgery is needed to decompress the brain.</a:t>
            </a:r>
          </a:p>
          <a:p>
            <a:pPr lvl="1">
              <a:lnSpc>
                <a:spcPct val="170000"/>
              </a:lnSpc>
            </a:pPr>
            <a:r>
              <a:rPr lang="en-US" sz="2900" b="1" dirty="0" smtClean="0">
                <a:latin typeface="Times New Roman" pitchFamily="18" charset="0"/>
                <a:cs typeface="Times New Roman" pitchFamily="18" charset="0"/>
              </a:rPr>
              <a:t>Hematomas &gt; 30 mL</a:t>
            </a: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 are typically considered for surgical evacuation.</a:t>
            </a:r>
          </a:p>
          <a:p>
            <a:pPr marL="0" indent="0">
              <a:lnSpc>
                <a:spcPct val="170000"/>
              </a:lnSpc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7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1F2C7-B725-4CBA-885E-9638E36489BF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769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792162"/>
          </a:xfrm>
        </p:spPr>
        <p:txBody>
          <a:bodyPr/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2. Clinical Deterioration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Rapid deterioration of neurological status after the lucid interval (decreasing GCS, signs of herniation, or worsening focal deficits).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Increasing ICP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ICP &gt; 20 mmHg is often considered a surgical indication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Initial GCS &lt; 8: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36B8F-5F25-4245-8EFE-0506EC3B4DAB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2006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3349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763000" cy="59436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. Significant Hemispheric Involvement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If the hematoma is in a critical area, such as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temporal lobe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or near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brainstem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surgical decompression may be necessary even with moderate hematoma size due to the risk of rapid deterioration.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5. Inability to Control ICP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If medical management (e.g.,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mannitol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hyperventilation, positioning) fails to control ICP and the patient is deteriorating neurologically.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1599F-495B-4489-98B8-DB24B8E5DA70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2282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274638"/>
            <a:ext cx="8610600" cy="4873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Surgical Procedure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067800" cy="5410200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Craniotomy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7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craniotomy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allows the surgeon to evacuate the clot, control bleeding, and relieve pressure on the brain.</a:t>
            </a:r>
          </a:p>
          <a:p>
            <a:pPr lvl="1">
              <a:lnSpc>
                <a:spcPct val="17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some cases, a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burr hole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may be used to quickly drain smaller epidural hematomas.</a:t>
            </a:r>
          </a:p>
          <a:p>
            <a:pPr>
              <a:lnSpc>
                <a:spcPct val="17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Timing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within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minutes to hours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of diagnosis.</a:t>
            </a:r>
          </a:p>
          <a:p>
            <a:pPr lvl="1">
              <a:lnSpc>
                <a:spcPct val="17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Surgery must be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urgent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—delaying evacuation increases the risk of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brain herniation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irreversible neurological damage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lnSpc>
                <a:spcPct val="170000"/>
              </a:lnSpc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D902B-C6AF-44E8-8FC9-1158472C3486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4085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274638"/>
            <a:ext cx="8610600" cy="792162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Anesthesia Considerations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534400" cy="51816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Induction of Anesthesia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Careful management is needed when inducing anesthesia, particularly in cases of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increased ICP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Avoid hypoventilation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or excessive sedation, which can lead to further increases in ICP.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Use of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propofol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etomidate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common for rapid induction, but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muscle relaxants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opioids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must be used cautiously to avoid respiratory depression.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Airway Management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Ensure that the airway is secure and that ventilation is controlled. Mechanical ventilation may be needed for patients with significantly reduced levels of consciousness.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B07C7-94FA-4446-92D9-0919E88F58D6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6294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6397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534400" cy="5257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ICP Control During Surgery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Intraoperative management may include: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Hyperventilation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to reduce PaCO2 and lower ICP.</a:t>
            </a:r>
          </a:p>
          <a:p>
            <a:pPr lvl="1">
              <a:lnSpc>
                <a:spcPct val="150000"/>
              </a:lnSpc>
            </a:pP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Mannitol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hypertonic saline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for reducing brain swelling.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Elevating the head of the bed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to 30 degrees to promote venous drainage and reduce ICP.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Patients who undergo surgery for EDH often require intensive monitoring in a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neurocritical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care unit (NCCU) or ICU.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9576A-D113-4432-82C5-E76E4D0427D9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3527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274638"/>
            <a:ext cx="8610600" cy="7921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Subdural Hematoma (SDH)</a:t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10600" cy="5105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SDH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a collection of blood between the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dura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mater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arachnoid mater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(the brain's protective layers). 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is often caused by the rupture of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bridging veins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which are veins that drain blood from the brain’s surface to the venous sinuses. 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blood collects in the subdural space, increasing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ICP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which can lead to brain compression, herniation, and other life-threatening complications if not managed appropriately.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2C6C-8114-435C-9057-05A3DB98D9FD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907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7921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Cause of Subdural Hematoma (SDH)</a:t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5105400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SDH are often classified into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acute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subacute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or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chronic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based on the timing of symptom onset after the injury. </a:t>
            </a:r>
          </a:p>
          <a:p>
            <a:pPr>
              <a:lnSpc>
                <a:spcPct val="17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cause of SDH is generally related to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trauma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particularly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blunt force injuries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Common Causes of SDH:</a:t>
            </a:r>
          </a:p>
          <a:p>
            <a:pPr>
              <a:lnSpc>
                <a:spcPct val="17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Head Trauma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7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Falls, Motor Vehicle Accidents (MVAs), Assaults, Sports Injuries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9B640-0619-4375-B34C-16326B51B21D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5765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7159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302" y="762000"/>
            <a:ext cx="8963297" cy="556260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Risk Factors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Anticoagulation Therapy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Alcohol Use</a:t>
            </a:r>
          </a:p>
          <a:p>
            <a:pPr lvl="1">
              <a:lnSpc>
                <a:spcPct val="150000"/>
              </a:lnSpc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Age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: The elderly are particularly at risk due to:</a:t>
            </a:r>
          </a:p>
          <a:p>
            <a:pPr lvl="2">
              <a:lnSpc>
                <a:spcPct val="150000"/>
              </a:lnSpc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Brain atrophy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, which increases the space between the brain and the </a:t>
            </a:r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dura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, making bridging veins more vulnerable to tearing.</a:t>
            </a:r>
          </a:p>
          <a:p>
            <a:pPr lvl="2">
              <a:lnSpc>
                <a:spcPct val="150000"/>
              </a:lnSpc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Decreased cerebrovascular integrity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increased risk of falls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Trauma History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: Individuals with prior head trauma or brain injury may be at higher risk of developing SDH.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EAD95-5EB7-4A60-936E-0CA52371A93E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6950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274638"/>
            <a:ext cx="8610600" cy="7159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610600" cy="5486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Other Causes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Shunts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(e.g.,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ventriculoperitoneal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shunts) used for hydrocephalus can cause SDH if they are displaced or malfunction.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Coagulopathy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Both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hereditary and acquired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clotting disorders (e.g., hemophilia, liver disease) increase bleeding risks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5E0BD-4D26-4AB6-A287-9C1A17DFA83B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3879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6200" y="274638"/>
            <a:ext cx="8763000" cy="792162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Symptoms of SDH</a:t>
            </a:r>
            <a:br>
              <a:rPr lang="en-US" sz="3200" b="1" dirty="0" smtClean="0"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382000" cy="4906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symptoms of subdural hematoma can vary significantly depending on :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size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of the hematoma,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rate of accumulation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of blood, and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degree of brain compression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In some cases, symptoms may be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delayed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(especially in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chronic SDH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), with onset occurring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days to weeks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after trauma.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2CCA0-F7D1-4CD8-B889-402CA9971D3E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9783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5635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15400" cy="60198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60000"/>
              </a:lnSpc>
              <a:buFont typeface="Wingdings" pitchFamily="2" charset="2"/>
              <a:buChar char="v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Acute SDH (onset within 24-48 hours of injury):</a:t>
            </a:r>
          </a:p>
          <a:p>
            <a:pPr lvl="1">
              <a:lnSpc>
                <a:spcPct val="16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Headache</a:t>
            </a:r>
          </a:p>
          <a:p>
            <a:pPr lvl="1">
              <a:lnSpc>
                <a:spcPct val="16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Confusion and agitation</a:t>
            </a:r>
          </a:p>
          <a:p>
            <a:pPr lvl="1">
              <a:lnSpc>
                <a:spcPct val="16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Loss of consciousness: May be brief or prolonged</a:t>
            </a:r>
          </a:p>
          <a:p>
            <a:pPr lvl="1">
              <a:lnSpc>
                <a:spcPct val="16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Neurological Deficits</a:t>
            </a:r>
          </a:p>
          <a:p>
            <a:pPr lvl="1">
              <a:lnSpc>
                <a:spcPct val="16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Seizures</a:t>
            </a:r>
          </a:p>
          <a:p>
            <a:pPr lvl="1">
              <a:lnSpc>
                <a:spcPct val="16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Pupillary changes: Unilateral dilated pupil or fixed pupil may indicate pressure on 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oculomotor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nerve (CN III).</a:t>
            </a:r>
          </a:p>
          <a:p>
            <a:pPr lvl="1">
              <a:lnSpc>
                <a:spcPct val="16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Nausea and vomiting: Due to raised ICP.</a:t>
            </a:r>
          </a:p>
          <a:p>
            <a:pPr>
              <a:lnSpc>
                <a:spcPct val="160000"/>
              </a:lnSpc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798F-8D84-4251-A997-BEAD363840C2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5204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6397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610600" cy="55626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Subacute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SDH (2-14 days after injury</a:t>
            </a:r>
            <a:r>
              <a:rPr lang="en-US" b="1" dirty="0" smtClean="0"/>
              <a:t>):</a:t>
            </a:r>
          </a:p>
          <a:p>
            <a:pPr lvl="1">
              <a:lnSpc>
                <a:spcPct val="150000"/>
              </a:lnSpc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Persistent headache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: Worsens with activities that increase ICP (e.g., bending over, coughing).</a:t>
            </a:r>
          </a:p>
          <a:p>
            <a:pPr lvl="1">
              <a:lnSpc>
                <a:spcPct val="150000"/>
              </a:lnSpc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Progressive confusion or lethargy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: Drowsiness or difficulty staying awake, with patients becoming more confused over time.</a:t>
            </a:r>
          </a:p>
          <a:p>
            <a:pPr lvl="1">
              <a:lnSpc>
                <a:spcPct val="150000"/>
              </a:lnSpc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Focal neurological deficits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: Increasing weakness, speech difficulties, or hemianopia (visual field loss).</a:t>
            </a:r>
          </a:p>
          <a:p>
            <a:pPr lvl="1">
              <a:lnSpc>
                <a:spcPct val="150000"/>
              </a:lnSpc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Ataxia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: Difficulty with coordination and balance may occur, especially in cases with cerebellar involvement.</a:t>
            </a:r>
          </a:p>
          <a:p>
            <a:pPr lvl="1">
              <a:lnSpc>
                <a:spcPct val="15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C1532-4483-4B41-9299-A318B1CC5F97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299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4111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7912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  <a:buFont typeface="Wingdings" pitchFamily="2" charset="2"/>
              <a:buChar char="v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Chronic SDH (weeks to months after injury):</a:t>
            </a:r>
          </a:p>
          <a:p>
            <a:pPr>
              <a:lnSpc>
                <a:spcPct val="17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Subtle Symptoms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These symptoms may be subtle and progress gradually, especially in the elderly.</a:t>
            </a:r>
          </a:p>
          <a:p>
            <a:pPr lvl="1">
              <a:lnSpc>
                <a:spcPct val="17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Memory loss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Short-term memory and cognitive function may deteriorate.</a:t>
            </a:r>
          </a:p>
          <a:p>
            <a:pPr lvl="1">
              <a:lnSpc>
                <a:spcPct val="17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Personality changes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The person may appear more confused, irritable, or apathetic.</a:t>
            </a:r>
          </a:p>
          <a:p>
            <a:pPr lvl="1">
              <a:lnSpc>
                <a:spcPct val="17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Headache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Chronic headaches, sometimes with dizziness or lightheadedness.</a:t>
            </a:r>
          </a:p>
          <a:p>
            <a:pPr lvl="1">
              <a:lnSpc>
                <a:spcPct val="17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Progressive weakness or hemiparesis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lnSpc>
                <a:spcPct val="17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Balance problems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unsteady gait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7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elderly individuals, these symptoms are sometimes misattributed to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dementia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normal aging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which can delay diagnosis.</a:t>
            </a:r>
          </a:p>
          <a:p>
            <a:pPr>
              <a:lnSpc>
                <a:spcPct val="17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0BF2C-64FA-46BA-BB3B-EB97B6531C41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427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65127"/>
            <a:ext cx="8362950" cy="701673"/>
          </a:xfrm>
        </p:spPr>
        <p:txBody>
          <a:bodyPr>
            <a:normAutofit fontScale="90000"/>
          </a:bodyPr>
          <a:lstStyle/>
          <a:p>
            <a:r>
              <a:rPr lang="en-US" sz="6000" dirty="0" smtClean="0">
                <a:solidFill>
                  <a:schemeClr val="tx1"/>
                </a:solidFill>
                <a:latin typeface="Gabriola" pitchFamily="82" charset="0"/>
              </a:rPr>
              <a:t>Indication For Surgery</a:t>
            </a:r>
            <a:endParaRPr lang="en-US" sz="6000" dirty="0">
              <a:solidFill>
                <a:schemeClr val="tx1"/>
              </a:solidFill>
              <a:latin typeface="Gabriola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3340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 acute SDH with a thickness &gt;10mm or midline shift &gt;5mm on CT scan should under go surgical evacuation regardless of a patient GCS score.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All patient with ASDH in coma (GCS&lt;9) should undergo ICP monitoring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All comatose patient (GCS&lt;9) with ASDH &lt;10mm thick and midline shift&lt;5mm should undergo surgical evacuation of the lesion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if the GCS score decrease by the time of injury and hospital admission by 2 or more point on GCS &amp;/or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the patient present with asymmetry or fixed and dilated pupil &amp;/or ICP&gt;20mmHg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B6B5A-CED3-43B9-AF67-616C2AA06975}" type="slidenum">
              <a:rPr lang="en-US" smtClean="0"/>
              <a:t>50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880F-586A-4743-9378-F0E249912DF2}" type="datetime1">
              <a:rPr lang="en-US" smtClean="0"/>
              <a:t>11/14/2024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362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7159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Surgical Procedures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2578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Burr Hole Drainage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Indicated for smaller, less extensive hematomas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or when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rapid evacuation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of blood is necessary.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small hole is drilled in the skull to allow blood drainage, and a catheter may be left in place to allow continued drainage.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Craniotomy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Indicated for large, complex, or organized hematomas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especially when there is brain compression or mass effect.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portion of the skull is removed to access the hematoma and evacuate the blood.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C1C89-7BC6-441A-A475-576572384537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3423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Special Considerations in SDH Management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686800" cy="49831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1. Anesthesia Considerations: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Preoperative Assessment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Evaluate for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coagulopathy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(especially in patients on anticoagulant therapy), and monitor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ICP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closely if the patient is deteriorating neurologically.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Induction of Anesthesia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The goal is to minimize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intracranial pressure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during intubation and anesthesia induction.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Avoid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hypercapnia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Propofol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etomidate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6B665-F6CF-46D7-83E3-2F7DAA01E24B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9021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4111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839200" cy="5715000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Muscle relaxants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should be used to facilitate intubation and prevent excessive movement.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Positioning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Elevating the head to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30 degrees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helps reduce ICP by promoting venous drainage.</a:t>
            </a:r>
          </a:p>
          <a:p>
            <a:pPr>
              <a:lnSpc>
                <a:spcPct val="150000"/>
              </a:lnSpc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5432-3D5B-47F9-BB71-AB219B00C31D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4252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 err="1" smtClean="0">
                <a:latin typeface="Times New Roman" pitchFamily="18" charset="0"/>
                <a:cs typeface="Times New Roman" pitchFamily="18" charset="0"/>
              </a:rPr>
              <a:t>Intracerebral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 Hemorrhage (ICH)</a:t>
            </a:r>
            <a:br>
              <a:rPr lang="en-US" sz="3600" b="1" dirty="0" smtClean="0">
                <a:latin typeface="Times New Roman" pitchFamily="18" charset="0"/>
                <a:cs typeface="Times New Roman" pitchFamily="18" charset="0"/>
              </a:rPr>
            </a:b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534400" cy="4983163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Intracerebral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hemorrhage (ICH)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refers to bleeding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directly within the brain tissue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itself.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It is a form of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intracranial hemorrhage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that occurs when a blood vessel in the brain ruptures, leading to bleeding and accumulation of blood within the brain parenchyma.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ICH can be a result of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trauma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hypertension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vascular malformations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or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coagulopathies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among other causes.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D2CD0-6ADC-4DAB-8140-DCD4E19A7748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2610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4873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562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ICH is a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severe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life-threatening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condition that can lead to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neurological deficits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increased intracranial pressure (ICP)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brain herniation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It is one of the most serious types of brain injury and requires immediate medical attention and often surgical intervention, depending on the severity of the hemorrhage and the patient's clinical status.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4FE5A-CC96-4CC2-B98B-B31256BA3F14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6743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8683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Symptoms of ICH</a:t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763000" cy="5257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Severe headache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Sudden, severe, often described as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worst headache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Neurological deficits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Hemiparesis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aphasia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ataxia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hemianopia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Decreased consciousness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Progressive confusion or coma.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Signs of increased ICP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Vomiting,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bradycardia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hypertension, pupillary changes.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Seizures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Especially with cortical involvement.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90B94-3CFA-4773-AC34-59800EAE0CCA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502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7921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Indications for Surgery in ICH</a:t>
            </a:r>
            <a:br>
              <a:rPr lang="en-US" sz="3600" b="1" dirty="0" smtClean="0">
                <a:latin typeface="Times New Roman" pitchFamily="18" charset="0"/>
                <a:cs typeface="Times New Roman" pitchFamily="18" charset="0"/>
              </a:rPr>
            </a:b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51816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Large Hemorrhage (&gt;30-40 mL)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Significant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brain compression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midline shift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Neurological Deterioration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Progressive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decrease in GCS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hemiplegia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aphasia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Cerebellar Hemorrhage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&gt;3 cm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or causing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brainstem compression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Hydrocephalus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Ventricular obstruction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caused by hemorrhage.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Coagulopathy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Worsening ICH in patients with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anticoagulation therapy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BC175-9573-43B2-BA49-CEA718B72B46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2587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8683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Surgical Procedures for ICH</a:t>
            </a:r>
            <a:br>
              <a:rPr lang="en-US" sz="3600" b="1" dirty="0" smtClean="0">
                <a:latin typeface="Times New Roman" pitchFamily="18" charset="0"/>
                <a:cs typeface="Times New Roman" pitchFamily="18" charset="0"/>
              </a:rPr>
            </a:b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534400" cy="50593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Craniotomy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large hemorrhages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or those with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mass effect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Evacuation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of blood clot to relieve pressure.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Burr Hole Drainage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smaller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localized hemorrhages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Blood drainage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via small hole in the skull.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Cerebellar Hemorrhage Evacuation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Urgent intervention to prevent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brainstem herniation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BEB58-1861-44FC-9262-4E159FD0409E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1083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7921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Skull Fracture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066801"/>
            <a:ext cx="8686800" cy="50292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6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skull fracture is a break in one of the bones that make up the skull, typically caused by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trauma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high-impact injuries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lnSpc>
                <a:spcPct val="16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Skull fractures can be classified based on the type of break, the location, and whether they involve injury to the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brain tissue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6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Prompt diagnosis and appropriate management are essential to prevent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neurological deterioration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other serious complications, such as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brain hemorrhage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infection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6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D7B7C-841F-45D7-BA71-B5DC38B78DA1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46846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Causes of Skull Fractures</a:t>
            </a:r>
            <a:br>
              <a:rPr lang="en-US" sz="3600" b="1" dirty="0" smtClean="0">
                <a:latin typeface="Times New Roman" pitchFamily="18" charset="0"/>
                <a:cs typeface="Times New Roman" pitchFamily="18" charset="0"/>
              </a:rPr>
            </a:b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410200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Blunt Trauma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7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MVAs ,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Falls, Sports Injuries, Assaults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7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Penetrating Trauma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70000"/>
              </a:lnSpc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Gunshot wound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.,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Stabbing injuries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7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Other Causes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70000"/>
              </a:lnSpc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Child Abuse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: Acceleration-deceleration injuries (e.g.,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shaken baby syndrome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lvl="1">
              <a:lnSpc>
                <a:spcPct val="170000"/>
              </a:lnSpc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Decompression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from a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barotrauma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(e.g., divers’ injuries).</a:t>
            </a:r>
          </a:p>
          <a:p>
            <a:pPr lvl="1">
              <a:lnSpc>
                <a:spcPct val="170000"/>
              </a:lnSpc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Severe medical conditions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: Conditions like </a:t>
            </a:r>
            <a:r>
              <a:rPr lang="en-US" sz="1800" b="1" dirty="0" err="1" smtClean="0">
                <a:latin typeface="Times New Roman" pitchFamily="18" charset="0"/>
                <a:cs typeface="Times New Roman" pitchFamily="18" charset="0"/>
              </a:rPr>
              <a:t>osteogenesis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b="1" dirty="0" err="1" smtClean="0">
                <a:latin typeface="Times New Roman" pitchFamily="18" charset="0"/>
                <a:cs typeface="Times New Roman" pitchFamily="18" charset="0"/>
              </a:rPr>
              <a:t>imperfecta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(bone fragility) or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osteoporosis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7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38B68-066B-4D88-A0E5-3436A80B1BFE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9802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868362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Classification of Skull Fractures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" y="1219200"/>
            <a:ext cx="4419600" cy="54864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Linear Skull Fracture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Simple crack in the bone without displacement.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Common in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low-impact injuries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Depressed Skull Fracture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Fragment of bone is pushed inward, causing depression into the brain tissue.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Can cause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brain contusion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hematoma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371600"/>
            <a:ext cx="4495800" cy="21756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810000"/>
            <a:ext cx="37338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9CBF1-C088-403E-980F-E98BDEDDBDA5}" type="datetime1">
              <a:rPr lang="en-US" smtClean="0"/>
              <a:t>11/14/2024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684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5635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458200" cy="52117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3. Basilar Skull Fracture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Occurs at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base of the skull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(e.g., temporal or occipital bones).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May cause damage to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brainstem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cranial nerves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Associated with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CSF leaks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(cerebrospinal fluid), leading to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rhinorrhea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otorrhea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05000"/>
            <a:ext cx="7540625" cy="476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9ECCB-3877-4DF6-AFE3-0B542681FAB7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677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3050"/>
            <a:ext cx="3313113" cy="717550"/>
          </a:xfrm>
        </p:spPr>
        <p:txBody>
          <a:bodyPr>
            <a:normAutofit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21480" y="273050"/>
            <a:ext cx="3018889" cy="5853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400" y="1143000"/>
            <a:ext cx="3313113" cy="49831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4. Comminuted Skull Fracture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Bone is shattered into multiple fragments.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High-energy trauma typically causes this type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B36B3-0E97-48C1-9337-5704E6AD787F}" type="datetime1">
              <a:rPr lang="en-US" smtClean="0"/>
              <a:t>11/14/2024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430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7921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Symptoms of Skull Fractures</a:t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8915400" cy="518160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7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Headache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Often the first symptom of a skull fracture, ranging from mild to severe.</a:t>
            </a:r>
          </a:p>
          <a:p>
            <a:pPr>
              <a:lnSpc>
                <a:spcPct val="17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Loss of Consciousness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May occur depending on the severity of the trauma (may be brief or prolonged).</a:t>
            </a:r>
          </a:p>
          <a:p>
            <a:pPr>
              <a:lnSpc>
                <a:spcPct val="17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Neurological Deficits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7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Confusion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disorientation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or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memory loss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lnSpc>
                <a:spcPct val="17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Focal neurological signs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(e.g., hemiparesis, aphasia, vision problems).</a:t>
            </a:r>
          </a:p>
          <a:p>
            <a:pPr>
              <a:lnSpc>
                <a:spcPct val="17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Signs of Increased ICP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7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Vomiting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nausea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bradycardia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hypertension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lnSpc>
                <a:spcPct val="17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Pupillary changes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(e.g., dilated or unequal pupils).</a:t>
            </a:r>
          </a:p>
          <a:p>
            <a:pPr>
              <a:lnSpc>
                <a:spcPct val="17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0E2E3-7770-4445-A40C-B246D8F3AF0D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570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274638"/>
            <a:ext cx="8610600" cy="6397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686800" cy="5562600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Cranial Nerve Signs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(particularly with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basilar skull fractures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):</a:t>
            </a:r>
          </a:p>
          <a:p>
            <a:pPr lvl="1">
              <a:lnSpc>
                <a:spcPct val="16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Rhinorrhea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otorrhea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(CSF leaking from the nose or ear).</a:t>
            </a:r>
          </a:p>
          <a:p>
            <a:pPr lvl="1">
              <a:lnSpc>
                <a:spcPct val="160000"/>
              </a:lnSpc>
            </a:pP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Hemotympanum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(blood in the middle ear).</a:t>
            </a:r>
          </a:p>
          <a:p>
            <a:pPr lvl="1">
              <a:lnSpc>
                <a:spcPct val="16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Battle's sign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(bruising behind the ears).</a:t>
            </a:r>
          </a:p>
          <a:p>
            <a:pPr lvl="1">
              <a:lnSpc>
                <a:spcPct val="16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Raccoon eyes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periorbital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ecchymosis).</a:t>
            </a:r>
          </a:p>
          <a:p>
            <a:pPr>
              <a:lnSpc>
                <a:spcPct val="16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Seizures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May occur, particularly if the fracture is near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cortex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6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Bleeding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Scalp lacerations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subgaleal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hematomas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or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ear/nose bleeding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6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1E75-6B8A-44EB-87A5-E6189D840A30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481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9445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Indications for Surgery in Skull Fractures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8991600" cy="51054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Surgical intervention may be required to relieve </a:t>
            </a: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brain compression</a:t>
            </a: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, repair </a:t>
            </a: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CSF leaks</a:t>
            </a: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, or repair </a:t>
            </a: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broken skull bones</a:t>
            </a: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70000"/>
              </a:lnSpc>
            </a:pP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Depressed Fractures</a:t>
            </a: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70000"/>
              </a:lnSpc>
            </a:pP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If the bone is depressed inward causing </a:t>
            </a: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brain injury</a:t>
            </a: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contusion</a:t>
            </a: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lnSpc>
                <a:spcPct val="170000"/>
              </a:lnSpc>
            </a:pP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Fracture depth &gt; 1 cm, or if there is </a:t>
            </a: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neurological deterioration</a:t>
            </a: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70000"/>
              </a:lnSpc>
            </a:pP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Open Skull Fractures</a:t>
            </a: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70000"/>
              </a:lnSpc>
            </a:pP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If there is a </a:t>
            </a: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laceration</a:t>
            </a: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 over the fracture with exposed bone or </a:t>
            </a: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brain tissue</a:t>
            </a: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lnSpc>
                <a:spcPct val="170000"/>
              </a:lnSpc>
            </a:pP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Immediate surgical debridement and </a:t>
            </a: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infection control</a:t>
            </a: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 are required.</a:t>
            </a:r>
          </a:p>
          <a:p>
            <a:pPr>
              <a:lnSpc>
                <a:spcPct val="17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AED5E-A8D5-4B63-AA5A-03B8EB8EA3AF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420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4111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90600"/>
            <a:ext cx="8991600" cy="54102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Basilar Skull Fracture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If associated with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CSF leakage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(rhinorrhea,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otorrhea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), or cranial nerve injury.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Surgery may be necessary for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persistent CSF leaks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complications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(e.g., meningitis).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Comminuted Fractures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Multiple fracture fragments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causing significant risk for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brain injury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increased ICP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or infection.</a:t>
            </a:r>
          </a:p>
          <a:p>
            <a:pPr>
              <a:lnSpc>
                <a:spcPct val="150000"/>
              </a:lnSpc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6E90-4FF2-4034-B343-8A3FA493C4F2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576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7159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534400" cy="54102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Increased Intracranial Pressure (ICP)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Surgery may be required if the fracture is causing significant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brain compression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hematomas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or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ICP elevation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Consider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decompression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(e.g.,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craniectomy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or craniotomy).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Neurological Deterioration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Progressive deterioration in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GCS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or worsening neurological status (hemiparesis, aphasia, etc.).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Surgical exploration to assess for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brain contusions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intracranial hemorrhage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or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hematomas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7AC49-E589-42D4-B50F-4F47D51244F9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80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7159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Surgical Considerations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991600" cy="56388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6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Timing of Surgery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6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Early surgical intervention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is recommended for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depressed fractures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open skull fractures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or when there is a risk of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brain herniation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lnSpc>
                <a:spcPct val="16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Delay may be necessary in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comatose patients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to assess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neurological stability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first.</a:t>
            </a:r>
          </a:p>
          <a:p>
            <a:pPr>
              <a:lnSpc>
                <a:spcPct val="16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Techniques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6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Craniotomy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Craniectomy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Removal of part of the skull to evacuate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hematomas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repair fractures, or reduce brain swelling.</a:t>
            </a:r>
          </a:p>
          <a:p>
            <a:pPr lvl="1">
              <a:lnSpc>
                <a:spcPct val="16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Debridement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wound closure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For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open fractures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to prevent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infection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repair the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scalp laceration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47D98-35AF-4153-8DD1-EFF97406C56B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62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7159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14400"/>
            <a:ext cx="9067800" cy="57150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ICP Management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ICP monitoring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if there are signs of increased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brain swelling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hemorrhage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 of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osmotic agents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(e.g.,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mannitol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and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sedation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to reduce ICP.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Antibiotics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Prophylactic antibiotics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for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open skull fractures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to prevent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meningitis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brain abscesses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Neuroimaging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CT scan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MRI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for assessing the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extent of brain injury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fracture pattern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associated hemorrhage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1959F-0BE4-4B80-A95A-CEED3FE75EFF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163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1020762"/>
          </a:xfrm>
        </p:spPr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Secondary Brain Injury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763000" cy="52578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6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Secondary brain injury refers to the series of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pathophysiological events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that occur in the brain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after the initial traumatic insult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(primary brain injury). </a:t>
            </a:r>
          </a:p>
          <a:p>
            <a:pPr>
              <a:lnSpc>
                <a:spcPct val="16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Unlike primary brain injury, which is caused by the direct mechanical damage (e.g., contusion, laceration, skull fracture) 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secondary brain injury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involves processes that lead to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further neuronal damage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cerebral edema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increased intracranial pressure (ICP)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ischemia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FDC53-246D-4677-92C7-C3D599B89DC5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278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7159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Causes of Secondary Brain Injury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534400" cy="5410200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Ischemia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Hypoperfusion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Reduced cerebral blood flow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due to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hypotension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vasospasm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or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cerebral vasodilation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Leads to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neuronal death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and worsens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neurological function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Cerebral Edema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Swelling of brain tissue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caused by increased permeability of the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blood-brain barrier (BBB)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Results in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elevated intracranial pressure (ICP)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causing further neuronal injury due to compression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52CE-02C9-4786-9FB9-EB68B7C7F7DD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029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6397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839200" cy="5943600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Increased Intracranial Pressure (ICP)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As the brain swells or bleeds,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ICP increases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leading to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brain herniation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reduced perfusion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High ICP reduces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cerebral perfusion pressure (CPP)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leading to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ischemia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Inflammatory Response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Microglial activation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cytokine release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trigger inflammation, causing neuronal injury and disruption of the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blood-brain barrier (BBB)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163F7-277F-4FAE-9AFA-B2B5E511C2D8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352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5635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763000" cy="5791200"/>
          </a:xfrm>
        </p:spPr>
        <p:txBody>
          <a:bodyPr>
            <a:normAutofit fontScale="70000" lnSpcReduction="20000"/>
          </a:bodyPr>
          <a:lstStyle/>
          <a:p>
            <a:pPr lvl="0">
              <a:lnSpc>
                <a:spcPct val="160000"/>
              </a:lnSpc>
            </a:pP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Excitotoxicity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6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Excessive release of neurotransmitters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(e.g.,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glutamate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leads to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calcium overload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 neurons, causing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cellular injury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oxidative stress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neuronal death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6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Oxidative Stress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6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Free radicals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reactive oxygen species (ROS)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are produced in response to injury and contribute to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cellular damage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inflammation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6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Coagulopathy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6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Trauma or other injuries may lead to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disseminated intravascular coagulation (DIC)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or impaired clotting, worsening bleeding and edema in the brain.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6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019D-C278-4485-8D3C-BE25CF473E2E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651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52400"/>
            <a:ext cx="8610600" cy="609600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458200" cy="5135563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Hyperthermia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Elevated body temperature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increases metabolic demand and worsens cerebral injury by promoting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inflammation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oxidative stress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cerebral vasodilation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Hypoxia and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Hypercapnia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Hypoxia (low oxygen levels)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hypercapnia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(elevated CO2 levels)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worsen brain injury by causing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cerebral vasodilation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decreased oxygen delivery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to the brain.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E58AE-F6CC-4352-BDE0-9721E1150CC5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51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Clinical Features of Secondary Brain Injury</a:t>
            </a:r>
            <a:r>
              <a:rPr lang="en-US" sz="3600" dirty="0" smtClean="0"/>
              <a:t/>
            </a:r>
            <a:br>
              <a:rPr lang="en-US" sz="3600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686800" cy="4953000"/>
          </a:xfrm>
        </p:spPr>
        <p:txBody>
          <a:bodyPr>
            <a:normAutofit fontScale="77500" lnSpcReduction="20000"/>
          </a:bodyPr>
          <a:lstStyle/>
          <a:p>
            <a:pPr lvl="0"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Increased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Intracranial Pressure (ICP)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Headache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vomiting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papilledema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(swelling of optic disc),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altered mental status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Cushing’s reflex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(hypertension,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bradycardia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irregular breathing).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Neurological Deterioration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Progressive confusion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drowsiness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or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coma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Worsening focal deficits (e.g., hemiparesis, aphasia).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Seizures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Occur due to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electrical disturbances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 the brain.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lvl="0" indent="0">
              <a:lnSpc>
                <a:spcPct val="150000"/>
              </a:lnSpc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811A2-FC81-4E62-9A78-17A2CA41284F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958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7159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458200" cy="5135563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Cerebral Edema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Increased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brain volume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causes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herniation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with possible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brainstem compression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Autonomic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Dysregulation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Fluctuating blood pressure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heart rate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abnormalities, or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respiratory dysfunction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due to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brainstem involvement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FB56F-2AAB-4EC5-AB7C-A29B2A83C81C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697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7159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Prevention and Management of Secondary Brain Injury</a:t>
            </a:r>
            <a:r>
              <a:rPr lang="en-US" sz="3600" dirty="0" smtClean="0"/>
              <a:t/>
            </a:r>
            <a:br>
              <a:rPr lang="en-US" sz="3600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763000" cy="5334000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. Early Recognition and Monitoring: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7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Neurological monitoring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GCS and ICP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monitorng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7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Imaging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CT scan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MRI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to identify hemorrhage, edema, and structural damage.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. Optimizing Cerebral Perfusion: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7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Maintain CPP (Cerebral Perfusion Pressure)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7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Aim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for a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CPP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60-70 mmHg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lnSpc>
                <a:spcPct val="17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Fluid resuscitation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vasopressors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(e.g., norepinephrine) for hypotension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01E7C-5000-4695-AE51-E7B00AB2C35A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407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5635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991600" cy="6248400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Control ICP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Elevate head of bed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to 30-45 degrees to facilitate venous drainage.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Sedation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analgesia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to minimize agitation and avoid increases in ICP.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Osmotic therapy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(e.g.,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mannitol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or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hypertonic saline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to reduce cerebral edema.</a:t>
            </a:r>
          </a:p>
          <a:p>
            <a:pPr lvl="1">
              <a:lnSpc>
                <a:spcPct val="150000"/>
              </a:lnSpc>
            </a:pP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Ventilatory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support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to maintain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normocapnia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(normal CO2 levels).</a:t>
            </a:r>
          </a:p>
          <a:p>
            <a:pPr>
              <a:lnSpc>
                <a:spcPct val="150000"/>
              </a:lnSpc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4B2CC-ADA1-4514-91E9-CCD4533F4C5F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48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8686800" cy="533400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458200" cy="5135563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3. Prevention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of Hypoxia and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Hypercapnia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6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Maintain oxygenation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Target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PaO2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&gt; 60 mmHg to prevent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hypoxia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6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Avoid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hypercapnia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(PaCO2 &gt; 45 mmHg), which increases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cerebral blood flow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ICP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4. Seizure Management: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6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Prophylactic anticonvulsants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In patients with significant brain injury or those with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cortical fractures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6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Phenytoin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levetiracetam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may be used in the acute setting.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6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37DE8-1C4D-4187-A437-62D17D891BC5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301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6397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534400" cy="52117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5. Temperature Control: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Normothermia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Maintain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normothermia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(36-37°C).</a:t>
            </a:r>
          </a:p>
          <a:p>
            <a:pPr lvl="2"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Hyperthermia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(fever) increases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metabolic demand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inflammation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and worsens injury.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6. Multimodal Sedation and Analgesia: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sedation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to reduce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ICP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prevent agitation.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Ensure adequate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pain control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without over-sedating or inducing hypotension.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32B30-77E6-4EF8-A81A-208F84610396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069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944562"/>
          </a:xfrm>
        </p:spPr>
        <p:txBody>
          <a:bodyPr>
            <a:normAutofit fontScale="90000"/>
          </a:bodyPr>
          <a:lstStyle/>
          <a:p>
            <a:r>
              <a:rPr lang="en-US" sz="4900" b="1" dirty="0" smtClean="0"/>
              <a:t/>
            </a:r>
            <a:br>
              <a:rPr lang="en-US" sz="4900" b="1" dirty="0" smtClean="0"/>
            </a:b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Introduction to Increased ICP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486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Definition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Increased ICP occurs when the pressure inside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cranial vault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exceeds normal limits, typically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&gt;20 mmHg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is a critical condition that can lead to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cerebral ischemia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brain herniation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death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if not managed promptly.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Normal ICP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Normal ICP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5–15 mmHg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in adults.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Controlled by a dynamic balance of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brain tissue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cerebrospinal fluid (CSF)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blood volume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84F6F-23B5-49BA-BC7E-3DB3C18C89D4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024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274638"/>
            <a:ext cx="8610600" cy="792162"/>
          </a:xfrm>
        </p:spPr>
        <p:txBody>
          <a:bodyPr/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686800" cy="5287963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300" b="1" u="sng" dirty="0" smtClean="0">
                <a:latin typeface="Times New Roman" pitchFamily="18" charset="0"/>
                <a:cs typeface="Times New Roman" pitchFamily="18" charset="0"/>
              </a:rPr>
              <a:t>Components of ICP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ICP is the sum of the pressure exerted by three components within the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cranial vault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Brain Tissue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(80%)</a:t>
            </a:r>
          </a:p>
          <a:p>
            <a:pPr lvl="2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parenchymal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tissue, neurons, glia, and extracellular matrix.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Cerebrospinal Fluid (CSF)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(10%)</a:t>
            </a:r>
          </a:p>
          <a:p>
            <a:pPr lvl="2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Fluid contained in the ventricles and subarachnoid space.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Blood Volume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(10%)</a:t>
            </a:r>
          </a:p>
          <a:p>
            <a:pPr lvl="2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blood within the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cerebral vessels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(arteries, veins, and capillaries).</a:t>
            </a:r>
          </a:p>
          <a:p>
            <a:pPr lvl="1">
              <a:lnSpc>
                <a:spcPct val="15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78F29-E077-4C59-86FB-F5ED709AF03E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860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7921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Monro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-Kellie Doctrine</a:t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763000" cy="4906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Monro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-Kellie Doctrine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total volume inside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rigid skull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fixed. If the volume of one component (brain, CSF, or blood) increases, the volume of another must decrease to compensate, or ICP will rise.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The skull is a closed system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Brain expansion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displacement of CSF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and/or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blood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Increase in blood volume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reduction in CSF volume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and/or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brain tissue compression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CEDB2-2581-4928-876E-FD9466C72AA6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390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B6B5A-CED3-43B9-AF67-616C2AA06975}" type="slidenum">
              <a:rPr lang="en-US" smtClean="0"/>
              <a:t>85</a:t>
            </a:fld>
            <a:endParaRPr lang="en-US"/>
          </a:p>
        </p:txBody>
      </p:sp>
      <p:pic>
        <p:nvPicPr>
          <p:cNvPr id="21506" name="Picture 2" descr="Manual Of Medicine on Twitter: &quot;The Monro-Kellie Doctrine Regarding  Intracranial Compensation for Expanding Mass . #meded #foamed #medtwitter  #medstudenttwitter https://t.co/TNATy2og7P&quot; / Twit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" y="152400"/>
            <a:ext cx="8229601" cy="647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87A49-4606-4B2C-A5AC-2911DB0F2E31}" type="datetime1">
              <a:rPr lang="en-US" smtClean="0"/>
              <a:t>11/14/2024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926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7921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Mechanisms of Increased ICP</a:t>
            </a:r>
            <a:br>
              <a:rPr lang="en-US" sz="3600" b="1" dirty="0" smtClean="0">
                <a:latin typeface="Times New Roman" pitchFamily="18" charset="0"/>
                <a:cs typeface="Times New Roman" pitchFamily="18" charset="0"/>
              </a:rPr>
            </a:b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763000" cy="5333999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Brain Edema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lnSpc>
                <a:spcPct val="17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Increased CSF Volume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7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Obstructive Hydrocephalus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Blockage in the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CSF pathways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(e.g., in the ventricles or subarachnoid space).</a:t>
            </a:r>
          </a:p>
          <a:p>
            <a:pPr lvl="1">
              <a:lnSpc>
                <a:spcPct val="17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Overproduction of CSF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due to conditions like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choroid plexus tumors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7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Increased Blood Volume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7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Cerebral Vasodilation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Increased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blood flow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into the brain due to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hypoxia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hypercapnia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or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increased metabolic demand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lnSpc>
                <a:spcPct val="17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Venous Obstruction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Impaired venous drainage from the brain, e.g., due to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venous sinus thrombosis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7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CA236-43BC-42E2-9F43-45DCB02068AE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965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8683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Complications of Increased ICP</a:t>
            </a:r>
            <a:br>
              <a:rPr lang="en-US" sz="3600" b="1" dirty="0" smtClean="0">
                <a:latin typeface="Times New Roman" pitchFamily="18" charset="0"/>
                <a:cs typeface="Times New Roman" pitchFamily="18" charset="0"/>
              </a:rPr>
            </a:b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458200" cy="49831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Brain Herniation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Herniation results in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brainstem compression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leading to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cardiovascular instability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respiratory failure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death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Hypoxia and Ischemia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Increased ICP impairs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blood flow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to the brain, leading to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hypoxia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brain death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and irreversible damage.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Permanent Neurological Damage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Severe ICP elevation can cause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irreversible brain damage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death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7663D-2959-4904-AE56-CAF63EA01077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776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6324600" cy="685800"/>
          </a:xfrm>
        </p:spPr>
        <p:txBody>
          <a:bodyPr>
            <a:noAutofit/>
          </a:bodyPr>
          <a:lstStyle/>
          <a:p>
            <a:r>
              <a:rPr lang="en-US" b="1" i="0" u="none" dirty="0" smtClean="0">
                <a:latin typeface="Gabriola" pitchFamily="82" charset="0"/>
              </a:rPr>
              <a:t>Factors increases ICP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4876800" cy="6019800"/>
          </a:xfrm>
        </p:spPr>
        <p:txBody>
          <a:bodyPr>
            <a:normAutofit/>
          </a:bodyPr>
          <a:lstStyle/>
          <a:p>
            <a:pPr marL="420624" indent="-384048" eaLnBrk="1" fontAlgn="auto" hangingPunct="1">
              <a:spcAft>
                <a:spcPts val="0"/>
              </a:spcAft>
              <a:buSzPct val="80000"/>
              <a:buFont typeface="Wingdings" pitchFamily="2" charset="2"/>
              <a:buChar char="Ø"/>
              <a:defRPr/>
            </a:pPr>
            <a:r>
              <a:rPr lang="en-US" sz="2400" kern="1200" dirty="0" smtClean="0">
                <a:latin typeface="Times New Roman" pitchFamily="18" charset="0"/>
                <a:cs typeface="Times New Roman" pitchFamily="18" charset="0"/>
              </a:rPr>
              <a:t>Increase in PaCO2</a:t>
            </a:r>
          </a:p>
          <a:p>
            <a:pPr marL="420624" indent="-384048" eaLnBrk="1" fontAlgn="auto" hangingPunct="1">
              <a:spcAft>
                <a:spcPts val="0"/>
              </a:spcAft>
              <a:buSzPct val="80000"/>
              <a:buFont typeface="Wingdings" pitchFamily="2" charset="2"/>
              <a:buChar char="Ø"/>
              <a:defRPr/>
            </a:pPr>
            <a:r>
              <a:rPr lang="en-US" sz="2400" kern="1200" dirty="0" smtClean="0">
                <a:latin typeface="Times New Roman" pitchFamily="18" charset="0"/>
                <a:cs typeface="Times New Roman" pitchFamily="18" charset="0"/>
              </a:rPr>
              <a:t>Seizures</a:t>
            </a:r>
          </a:p>
          <a:p>
            <a:pPr marL="420624" indent="-384048" eaLnBrk="1" fontAlgn="auto" hangingPunct="1">
              <a:spcAft>
                <a:spcPts val="0"/>
              </a:spcAft>
              <a:buSzPct val="80000"/>
              <a:buFont typeface="Wingdings" pitchFamily="2" charset="2"/>
              <a:buChar char="Ø"/>
              <a:defRPr/>
            </a:pPr>
            <a:r>
              <a:rPr lang="en-US" sz="2400" kern="1200" dirty="0" smtClean="0">
                <a:latin typeface="Times New Roman" pitchFamily="18" charset="0"/>
                <a:cs typeface="Times New Roman" pitchFamily="18" charset="0"/>
              </a:rPr>
              <a:t>Fever</a:t>
            </a:r>
          </a:p>
          <a:p>
            <a:pPr marL="420624" indent="-384048" eaLnBrk="1" fontAlgn="auto" hangingPunct="1">
              <a:spcAft>
                <a:spcPts val="0"/>
              </a:spcAft>
              <a:buSzPct val="80000"/>
              <a:buFont typeface="Wingdings" pitchFamily="2" charset="2"/>
              <a:buChar char="Ø"/>
              <a:defRPr/>
            </a:pPr>
            <a:r>
              <a:rPr lang="en-US" sz="2400" kern="1200" dirty="0" smtClean="0">
                <a:latin typeface="Times New Roman" pitchFamily="18" charset="0"/>
                <a:cs typeface="Times New Roman" pitchFamily="18" charset="0"/>
              </a:rPr>
              <a:t>Hypoxia</a:t>
            </a:r>
          </a:p>
          <a:p>
            <a:pPr marL="420624" indent="-384048" eaLnBrk="1" fontAlgn="auto" hangingPunct="1">
              <a:spcAft>
                <a:spcPts val="0"/>
              </a:spcAft>
              <a:buSzPct val="80000"/>
              <a:buFont typeface="Wingdings" pitchFamily="2" charset="2"/>
              <a:buChar char="Ø"/>
              <a:defRPr/>
            </a:pPr>
            <a:r>
              <a:rPr lang="en-US" sz="2400" kern="1200" dirty="0" smtClean="0">
                <a:latin typeface="Times New Roman" pitchFamily="18" charset="0"/>
                <a:cs typeface="Times New Roman" pitchFamily="18" charset="0"/>
              </a:rPr>
              <a:t>Obstructed venous return</a:t>
            </a:r>
          </a:p>
          <a:p>
            <a:pPr marL="420624" indent="-384048" eaLnBrk="1" fontAlgn="auto" hangingPunct="1">
              <a:spcAft>
                <a:spcPts val="0"/>
              </a:spcAft>
              <a:buSzPct val="80000"/>
              <a:buFont typeface="Wingdings" pitchFamily="2" charset="2"/>
              <a:buChar char="Ø"/>
              <a:defRPr/>
            </a:pPr>
            <a:r>
              <a:rPr lang="en-US" sz="2400" kern="1200" dirty="0" smtClean="0">
                <a:latin typeface="Times New Roman" pitchFamily="18" charset="0"/>
                <a:cs typeface="Times New Roman" pitchFamily="18" charset="0"/>
              </a:rPr>
              <a:t>Pain </a:t>
            </a:r>
          </a:p>
          <a:p>
            <a:pPr marL="420624" indent="-384048" eaLnBrk="1" fontAlgn="auto" hangingPunct="1">
              <a:spcAft>
                <a:spcPts val="0"/>
              </a:spcAft>
              <a:buSzPct val="80000"/>
              <a:buFont typeface="Wingdings" pitchFamily="2" charset="2"/>
              <a:buChar char="Ø"/>
              <a:defRPr/>
            </a:pPr>
            <a:r>
              <a:rPr lang="en-US" sz="2400" kern="1200" dirty="0" smtClean="0">
                <a:latin typeface="Times New Roman" pitchFamily="18" charset="0"/>
                <a:cs typeface="Times New Roman" pitchFamily="18" charset="0"/>
              </a:rPr>
              <a:t>Coughing/straining against ETT</a:t>
            </a:r>
          </a:p>
          <a:p>
            <a:pPr marL="420624" indent="-384048" eaLnBrk="1" fontAlgn="auto" hangingPunct="1">
              <a:spcAft>
                <a:spcPts val="0"/>
              </a:spcAft>
              <a:buSzPct val="80000"/>
              <a:buFont typeface="Wingdings" pitchFamily="2" charset="2"/>
              <a:buChar char="Ø"/>
              <a:defRPr/>
            </a:pPr>
            <a:r>
              <a:rPr lang="en-US" sz="2400" kern="1200" dirty="0" smtClean="0">
                <a:latin typeface="Times New Roman" pitchFamily="18" charset="0"/>
                <a:cs typeface="Times New Roman" pitchFamily="18" charset="0"/>
              </a:rPr>
              <a:t>Volatile anesthetic gases?</a:t>
            </a:r>
          </a:p>
          <a:p>
            <a:pPr marL="420624" indent="-384048" eaLnBrk="1" fontAlgn="auto" hangingPunct="1">
              <a:spcAft>
                <a:spcPts val="0"/>
              </a:spcAft>
              <a:buSzPct val="80000"/>
              <a:buFont typeface="Wingdings" pitchFamily="2" charset="2"/>
              <a:buChar char="Ø"/>
              <a:defRPr/>
            </a:pPr>
            <a:r>
              <a:rPr lang="en-US" sz="2400" kern="1200" dirty="0" smtClean="0">
                <a:latin typeface="Times New Roman" pitchFamily="18" charset="0"/>
                <a:cs typeface="Times New Roman" pitchFamily="18" charset="0"/>
              </a:rPr>
              <a:t>Nitrous oxide </a:t>
            </a:r>
          </a:p>
          <a:p>
            <a:pPr marL="420624" indent="-384048" eaLnBrk="1" fontAlgn="auto" hangingPunct="1">
              <a:spcAft>
                <a:spcPts val="0"/>
              </a:spcAft>
              <a:buSzPct val="80000"/>
              <a:buFont typeface="Wingdings" pitchFamily="2" charset="2"/>
              <a:buChar char="Ø"/>
              <a:defRPr/>
            </a:pPr>
            <a:r>
              <a:rPr lang="en-US" sz="2400" kern="1200" dirty="0" smtClean="0">
                <a:latin typeface="Times New Roman" pitchFamily="18" charset="0"/>
                <a:cs typeface="Times New Roman" pitchFamily="18" charset="0"/>
              </a:rPr>
              <a:t>Ketamine </a:t>
            </a:r>
          </a:p>
          <a:p>
            <a:pPr marL="420624" indent="-384048" eaLnBrk="1" fontAlgn="auto" hangingPunct="1">
              <a:spcAft>
                <a:spcPts val="0"/>
              </a:spcAft>
              <a:buSzPct val="80000"/>
              <a:buFont typeface="Wingdings" pitchFamily="2" charset="2"/>
              <a:buChar char="Ø"/>
              <a:defRPr/>
            </a:pPr>
            <a:r>
              <a:rPr lang="en-US" sz="2000" kern="1200" dirty="0" smtClean="0">
                <a:latin typeface="Times New Roman" pitchFamily="18" charset="0"/>
                <a:cs typeface="Times New Roman" pitchFamily="18" charset="0"/>
              </a:rPr>
              <a:t>Antihypertensive- </a:t>
            </a:r>
            <a:r>
              <a:rPr lang="en-US" sz="2000" kern="1200" dirty="0" err="1" smtClean="0">
                <a:latin typeface="Times New Roman" pitchFamily="18" charset="0"/>
                <a:cs typeface="Times New Roman" pitchFamily="18" charset="0"/>
              </a:rPr>
              <a:t>nitropruside</a:t>
            </a:r>
            <a:r>
              <a:rPr lang="en-US" sz="2000" kern="1200" dirty="0" smtClean="0">
                <a:latin typeface="Times New Roman" pitchFamily="18" charset="0"/>
                <a:cs typeface="Times New Roman" pitchFamily="18" charset="0"/>
              </a:rPr>
              <a:t>, hydralazine / </a:t>
            </a:r>
            <a:r>
              <a:rPr lang="en-US" sz="2000" kern="1200" dirty="0" err="1" smtClean="0">
                <a:latin typeface="Times New Roman" pitchFamily="18" charset="0"/>
                <a:cs typeface="Times New Roman" pitchFamily="18" charset="0"/>
              </a:rPr>
              <a:t>Ca-chanel</a:t>
            </a:r>
            <a:r>
              <a:rPr lang="en-US" sz="2000" kern="1200" dirty="0" smtClean="0">
                <a:latin typeface="Times New Roman" pitchFamily="18" charset="0"/>
                <a:cs typeface="Times New Roman" pitchFamily="18" charset="0"/>
              </a:rPr>
              <a:t> blocker</a:t>
            </a:r>
          </a:p>
        </p:txBody>
      </p:sp>
      <p:pic>
        <p:nvPicPr>
          <p:cNvPr id="5120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685800"/>
            <a:ext cx="38862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74AE6-0110-4A7E-A638-3265A5F3D435}" type="datetime1">
              <a:rPr lang="en-US" smtClean="0"/>
              <a:t>11/14/2024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070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6477000" cy="533400"/>
          </a:xfrm>
        </p:spPr>
        <p:txBody>
          <a:bodyPr>
            <a:noAutofit/>
          </a:bodyPr>
          <a:lstStyle/>
          <a:p>
            <a:r>
              <a:rPr lang="en-US" sz="4400" b="1" i="0" u="none" dirty="0" smtClean="0">
                <a:latin typeface="Gabriola" pitchFamily="82" charset="0"/>
              </a:rPr>
              <a:t>Factors that decreases ICP</a:t>
            </a:r>
          </a:p>
        </p:txBody>
      </p:sp>
      <p:pic>
        <p:nvPicPr>
          <p:cNvPr id="5222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6129" y="1600200"/>
            <a:ext cx="3631742" cy="4525963"/>
          </a:xfrm>
          <a:noFill/>
        </p:spPr>
      </p:pic>
      <p:sp>
        <p:nvSpPr>
          <p:cNvPr id="52228" name="Rectangle 1"/>
          <p:cNvSpPr>
            <a:spLocks noChangeArrowheads="1"/>
          </p:cNvSpPr>
          <p:nvPr/>
        </p:nvSpPr>
        <p:spPr bwMode="auto">
          <a:xfrm>
            <a:off x="457200" y="990600"/>
            <a:ext cx="3429000" cy="4827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93712" indent="-457200" eaLnBrk="1" hangingPunct="1">
              <a:lnSpc>
                <a:spcPct val="150000"/>
              </a:lnSpc>
              <a:spcBef>
                <a:spcPct val="20000"/>
              </a:spcBef>
              <a:buSzPct val="80000"/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Decrease in PaCO2</a:t>
            </a:r>
          </a:p>
          <a:p>
            <a:pPr marL="493712" indent="-457200" eaLnBrk="1" hangingPunct="1">
              <a:lnSpc>
                <a:spcPct val="150000"/>
              </a:lnSpc>
              <a:spcBef>
                <a:spcPct val="20000"/>
              </a:spcBef>
              <a:buSzPct val="80000"/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Barbiturates,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Propofol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493712" indent="-457200" eaLnBrk="1" hangingPunct="1">
              <a:lnSpc>
                <a:spcPct val="150000"/>
              </a:lnSpc>
              <a:spcBef>
                <a:spcPct val="20000"/>
              </a:spcBef>
              <a:buSzPct val="80000"/>
              <a:buFont typeface="Wingdings" pitchFamily="2" charset="2"/>
              <a:buChar char="Ø"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Mannitol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493712" indent="-457200" eaLnBrk="1" hangingPunct="1">
              <a:lnSpc>
                <a:spcPct val="150000"/>
              </a:lnSpc>
              <a:spcBef>
                <a:spcPct val="20000"/>
              </a:spcBef>
              <a:buSzPct val="80000"/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Hypertonic saline  (3-7%)</a:t>
            </a:r>
          </a:p>
          <a:p>
            <a:pPr marL="493712" indent="-457200" eaLnBrk="1" hangingPunct="1">
              <a:lnSpc>
                <a:spcPct val="150000"/>
              </a:lnSpc>
              <a:spcBef>
                <a:spcPct val="20000"/>
              </a:spcBef>
              <a:buSzPct val="80000"/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Hypothermia</a:t>
            </a:r>
          </a:p>
          <a:p>
            <a:pPr marL="493712" indent="-457200" eaLnBrk="1" hangingPunct="1">
              <a:lnSpc>
                <a:spcPct val="150000"/>
              </a:lnSpc>
              <a:spcBef>
                <a:spcPct val="20000"/>
              </a:spcBef>
              <a:buSzPct val="80000"/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Surgical decompression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FF7CC-0DD2-42AF-9A53-4E45F2B7AAF6}" type="datetime1">
              <a:rPr lang="en-US" smtClean="0"/>
              <a:t>11/14/2024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497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Clinical Manifestations of Increased ICP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534400" cy="5105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Early Symptoms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Headache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Often described as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worsening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in the morning.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Nausea and Vomiting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Due to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brainstem compression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increased ICP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Altered Mental Status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Confusion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lethargy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or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irritability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Papilledema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Swelling of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optic disc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due to increased venous pressure.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5CC78-76E3-4D1D-84D7-D8E94F310133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886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3349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458200" cy="53641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Advanced Symptoms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Bradycardia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As part of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Cushing Reflex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(hypertension,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bradycardia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and irregular respirations).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6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Hypertension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Increased systemic BP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to maintain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cerebral perfusion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lnSpc>
                <a:spcPct val="16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Fixed and Dilated Pupils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Compression of the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oculomotor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nerve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(CN III).</a:t>
            </a:r>
          </a:p>
          <a:p>
            <a:pPr lvl="1">
              <a:lnSpc>
                <a:spcPct val="16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Abnormal Respiratory Patterns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Cheyne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-Stokes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biot's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respirations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due to brainstem involvement.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6BC7A-04AD-4B67-8ABD-20794C2DD8E6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116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6397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534400" cy="5334000"/>
          </a:xfrm>
        </p:spPr>
        <p:txBody>
          <a:bodyPr/>
          <a:lstStyle/>
          <a:p>
            <a:pPr>
              <a:lnSpc>
                <a:spcPct val="16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Severe Symptoms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6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Decreased GCS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Rapid deterioration in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Glasgow Coma Scale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lnSpc>
                <a:spcPct val="16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Seizures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Due to increased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brain irritability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lnSpc>
                <a:spcPct val="16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Coma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Complete loss of consciousness, potentially leading to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brain death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60000"/>
              </a:lnSpc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5A008-5C04-43AD-BA37-C6CFB93F44A3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688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8683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Management of Increased ICP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10600" cy="53340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1. Monitoring ICP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ICP monitoring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critical in patients with suspected increased ICP (e.g.,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intracranial pressure bolt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ventriculostomy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is essential for detecting secondary brain injury due to ischemia, edema, or hemorrhage</a:t>
            </a:r>
          </a:p>
          <a:p>
            <a:pPr lvl="1">
              <a:lnSpc>
                <a:spcPct val="150000"/>
              </a:lnSpc>
            </a:pP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Intraventricular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catheter (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ventriculostomy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)Allows for direct ICP measurement and CSF drainage (therapeutic).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Subdural or epidural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C24B4-EA0C-421F-BABD-F5BB0EBF8E0D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979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4873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685800"/>
            <a:ext cx="8763000" cy="5440363"/>
          </a:xfrm>
        </p:spPr>
        <p:txBody>
          <a:bodyPr>
            <a:no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2. Head Elevation</a:t>
            </a:r>
          </a:p>
          <a:p>
            <a:pPr>
              <a:lnSpc>
                <a:spcPct val="16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Goal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Promote venous drainage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from the brain to decrease ICP.</a:t>
            </a:r>
          </a:p>
          <a:p>
            <a:pPr>
              <a:lnSpc>
                <a:spcPct val="16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Positioning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6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Elevate head of the bed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30–45 degrees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to help reduce venous congestion in the brain and facilitate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CSF drainage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lnSpc>
                <a:spcPct val="16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Avoid neck flexion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head rotation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which can compromise venous return.</a:t>
            </a:r>
          </a:p>
          <a:p>
            <a:pPr lvl="1">
              <a:lnSpc>
                <a:spcPct val="16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Considerations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Avoid excessive elevation in hypotensive patients to prevent reduced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cerebral perfusion pressure (CPP)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6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CDDC-C43C-4FB5-919C-57541790516D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963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5635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85800"/>
            <a:ext cx="8534400" cy="5791200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3. Osmotic Therapy</a:t>
            </a:r>
          </a:p>
          <a:p>
            <a:pPr>
              <a:lnSpc>
                <a:spcPct val="160000"/>
              </a:lnSpc>
            </a:pP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Mannitol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6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Mechanism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Osmotic diuretic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that reduces cerebral edema by drawing fluid from the brain into the vasculature.</a:t>
            </a:r>
          </a:p>
          <a:p>
            <a:pPr lvl="1">
              <a:lnSpc>
                <a:spcPct val="16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Dosage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Typically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0.25–1g/kg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IV bolus.</a:t>
            </a:r>
          </a:p>
          <a:p>
            <a:pPr lvl="1">
              <a:lnSpc>
                <a:spcPct val="16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Side Effects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Hypotension,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hypokalemia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kidney injury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rebound cerebral edema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if used excessively.</a:t>
            </a:r>
          </a:p>
          <a:p>
            <a:pPr>
              <a:lnSpc>
                <a:spcPct val="16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Hypertonic Saline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(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3% saline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1">
              <a:lnSpc>
                <a:spcPct val="16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Mechanism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by creating an osmotic gradient that draws water out of the brain tissue into the vascular space.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B21EF-B4A2-4353-8CA3-9172A0B091B2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215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458200" cy="5059363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Dosage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Administered as a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bolus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(usually 250–500 mL of 3% saline).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Side Effects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Hypernatremia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renal dysfunction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pulmonary edema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Monitor electrolytes closely.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Indications for Osmotic Therapy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Marked cerebral edema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or signs of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brain herniation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Elevated ICP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that is refractory to initial management strategies.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3712E-5BC5-4305-B16E-2B083ADD5978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141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534400" cy="457200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686800" cy="55626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4. Sedation and Analgesia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Pain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agitation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increase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systemic blood pressure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which raises ICP.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Sedation reduces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sympathetic stimulation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decreases metabolic demand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and helps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maintain control of ICP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Medications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Propofol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etiomidate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for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sedation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These agents have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cerebral-protective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properties, as they decrease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cerebral metabolic rate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Fentanyl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morphine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for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analgesia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1ED6C-2246-4E06-9AB3-4C96DD708B56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604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7159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458200" cy="4906963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low-dose benzodiazepines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(e.g.,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midazolam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to reduce anxiety or agitation.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Considerations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Avoid deep sedation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that may mask signs of neurological deterioration.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Monitor sedation depth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neurological status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frequently, especially in ICU settings.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44CCE-9ED6-41DA-9DF6-465B716F45F5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431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534400" cy="457200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8686800" cy="586740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5. Hyperventilation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Mechanism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Hyperventilation lowers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PaCO2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which causes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cerebral vasoconstriction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reducing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cerebral blood volume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consequently ICP.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is a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temporary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measure to reduce ICP, as prolonged hyperventilation may lead to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cerebral ischemia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Indications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Short-term use (usually for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&lt;30 minutes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in cases of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acute herniation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or when other measures fail to control ICP.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FD15C-68EB-4341-AE90-97F2463FFA6D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436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610600" cy="533400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382000" cy="5364163"/>
          </a:xfrm>
        </p:spPr>
        <p:txBody>
          <a:bodyPr>
            <a:normAutofit/>
          </a:bodyPr>
          <a:lstStyle/>
          <a:p>
            <a:pPr marL="742950" lvl="2" indent="-342900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patients with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severe brain injury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hyperventilation may be used while awaiting surgical intervention.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Target CO2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Aim for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PaCO2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levels of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30–35 mmHg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to induce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mild vasoconstriction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without risking excessive ischemia.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Caution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Hyperventilation should be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avoided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for long periods in patients with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closed-head injuries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due to the risk of inducing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ischemia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45AFE-752A-4086-BAB7-76DEFDAD6165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256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6397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54864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6. Surgical Intervention</a:t>
            </a:r>
          </a:p>
          <a:p>
            <a:pPr>
              <a:lnSpc>
                <a:spcPct val="150000"/>
              </a:lnSpc>
            </a:pP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Decompressive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Craniectomy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Indication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In cases where ICP remains elevated despite optimal medical management.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craniectomy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involves removing a portion of the skull to allow for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brain expansion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reduce ICP.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8787-E925-45A1-A69C-764588D5FF4D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721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868362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Additional Supportive Measures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dirty="0" smtClean="0"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5410200"/>
          </a:xfrm>
        </p:spPr>
        <p:txBody>
          <a:bodyPr>
            <a:normAutofit fontScale="92500" lnSpcReduction="10000"/>
          </a:bodyPr>
          <a:lstStyle/>
          <a:p>
            <a:pPr lvl="0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Fluid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Management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Isotonic fluids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(e.g.,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normal saline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 should be used to avoid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overhydration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which can worsen edema.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Avoid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hypotonic solutions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overresuscitation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that can increase cerebral edema.</a:t>
            </a:r>
          </a:p>
          <a:p>
            <a:pPr lvl="0">
              <a:lnSpc>
                <a:spcPct val="150000"/>
              </a:lnSpc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Antipyretics and Temperature Control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Hyperthermia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can worsen cerebral injury, so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fever control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is critical.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Use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antipyretics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or cooling techniques (e.g.,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cooling blankets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 to maintain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normothermia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(36–37°C).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FAEDC-B123-4686-9788-62B86F3EC6AF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953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534400" cy="457200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638800"/>
          </a:xfrm>
        </p:spPr>
        <p:txBody>
          <a:bodyPr>
            <a:normAutofit fontScale="85000" lnSpcReduction="10000"/>
          </a:bodyPr>
          <a:lstStyle/>
          <a:p>
            <a:pPr lvl="0"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Anticonvulsants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Seizure prophylaxis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may be indicated in patients with traumatic brain injury or those at risk for seizures.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Phenytoin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levetiracetam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can be used to reduce the risk of secondary seizures that could exacerbate ICP.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Nutritional Support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Early enteral nutrition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 important for preventing metabolic derangements and maintaining brain function.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Ensure proper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electrolyte balance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adequate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caloric intake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6A2E7-D3D2-4146-B52A-70221F075D34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941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7159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Additional Pharmacological Options</a:t>
            </a: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100" dirty="0" smtClean="0">
                <a:latin typeface="Times New Roman" pitchFamily="18" charset="0"/>
                <a:cs typeface="Times New Roman" pitchFamily="18" charset="0"/>
              </a:rPr>
            </a:b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610600" cy="5486400"/>
          </a:xfrm>
        </p:spPr>
        <p:txBody>
          <a:bodyPr>
            <a:normAutofit fontScale="92500"/>
          </a:bodyPr>
          <a:lstStyle/>
          <a:p>
            <a:pPr lvl="0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Barbiturate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Coma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(Last Resort):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Indications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Used in patients with refractory ICP that does not respond to first-line treatments.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Medications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High-dose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barbiturates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(e.g.,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pentobarbital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 induce a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medically induced coma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reducing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brain metabolic activity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and lowering ICP.</a:t>
            </a:r>
          </a:p>
          <a:p>
            <a:pPr lvl="0">
              <a:lnSpc>
                <a:spcPct val="150000"/>
              </a:lnSpc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Calcium Channel Blockers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Drugs like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nimodipine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may be used in the setting of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traumatic brain injury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subarachnoid hemorrhage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to prevent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cerebral vasospasm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which could exacerbate ICP.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9E1D3-413A-4532-A83A-B2AE91A97D3B}" type="datetime1">
              <a:rPr lang="en-US" smtClean="0"/>
              <a:t>11/14/2024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6BFD1-C89F-47A1-A424-61903181374E}" type="slidenum">
              <a:rPr lang="en-US" smtClean="0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158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gency FB" pitchFamily="34" charset="0"/>
              </a:rPr>
              <a:t>Reference </a:t>
            </a:r>
            <a:endParaRPr lang="en-US" dirty="0">
              <a:latin typeface="Agency FB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Harold Ellis: Anatomy for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Anaesthetists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(8th edition). Blackwell Science Ltd, 2004.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Paul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G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Barash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Handbook of Clinical Anesthesia (8th edition). Lippincott Williams &amp; Wilkins publications, Inc., 2016.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Ronald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D. Miller: Millers Anesthesia (9th edition). Churchill Livingstone publication, An 157 Imprint of Elsevier, 2009.158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605CC-5B60-4BC3-B40C-000A7CBA8632}" type="slidenum">
              <a:rPr lang="en-US" smtClean="0"/>
              <a:t>105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984A5-B2DC-4BFC-85B9-9B711BD54EE5}" type="datetime1">
              <a:rPr lang="en-US" smtClean="0"/>
              <a:t>11/14/2024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03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250</TotalTime>
  <Words>6736</Words>
  <Application>Microsoft Office PowerPoint</Application>
  <PresentationFormat>On-screen Show (4:3)</PresentationFormat>
  <Paragraphs>838</Paragraphs>
  <Slides>105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105</vt:i4>
      </vt:variant>
    </vt:vector>
  </HeadingPairs>
  <TitlesOfParts>
    <vt:vector size="106" baseType="lpstr">
      <vt:lpstr>Office Theme</vt:lpstr>
      <vt:lpstr>Anaesthesia Considerations for Adult Traumatic Brain Injury</vt:lpstr>
      <vt:lpstr>Outline </vt:lpstr>
      <vt:lpstr>Introduction </vt:lpstr>
      <vt:lpstr> </vt:lpstr>
      <vt:lpstr>Cont…</vt:lpstr>
      <vt:lpstr>Cont…</vt:lpstr>
      <vt:lpstr>Cont….</vt:lpstr>
      <vt:lpstr> Causes of TBI </vt:lpstr>
      <vt:lpstr>Cont….</vt:lpstr>
      <vt:lpstr> TBI in Ethiopia </vt:lpstr>
      <vt:lpstr> TBI Classification </vt:lpstr>
      <vt:lpstr>1. Severity Classification of TBI</vt:lpstr>
      <vt:lpstr> Mild TBI (GCS 13-15) </vt:lpstr>
      <vt:lpstr>Cont…</vt:lpstr>
      <vt:lpstr> Moderate TBI (GCS 9-12): </vt:lpstr>
      <vt:lpstr>Cont….</vt:lpstr>
      <vt:lpstr> Severe TBI (GCS 3-8) </vt:lpstr>
      <vt:lpstr>Cont..</vt:lpstr>
      <vt:lpstr>Cont..</vt:lpstr>
      <vt:lpstr>2. Mechanism of Injury in TBI</vt:lpstr>
      <vt:lpstr>Types of Closed Head Injury</vt:lpstr>
      <vt:lpstr> Open/Penetrating Head Injury </vt:lpstr>
      <vt:lpstr>Cont..</vt:lpstr>
      <vt:lpstr> 3. Location of Injury in TBI </vt:lpstr>
      <vt:lpstr> Cerebral Contusions </vt:lpstr>
      <vt:lpstr>Cont..</vt:lpstr>
      <vt:lpstr> Diffuse Axonal Injury (DAI) </vt:lpstr>
      <vt:lpstr>Cont…</vt:lpstr>
      <vt:lpstr> Hemorrhages in TBI </vt:lpstr>
      <vt:lpstr> Epidural Hematoma (EDH) </vt:lpstr>
      <vt:lpstr>Cont..</vt:lpstr>
      <vt:lpstr>Pathophysiological Mechanism</vt:lpstr>
      <vt:lpstr> Symptoms of Epidural Hematoma </vt:lpstr>
      <vt:lpstr>Cont..</vt:lpstr>
      <vt:lpstr>Cont…</vt:lpstr>
      <vt:lpstr> Indications for Surgery in EDH </vt:lpstr>
      <vt:lpstr>Cont..</vt:lpstr>
      <vt:lpstr>PowerPoint Presentation</vt:lpstr>
      <vt:lpstr>Surgical Procedure </vt:lpstr>
      <vt:lpstr>Anesthesia Considerations</vt:lpstr>
      <vt:lpstr>Cont..</vt:lpstr>
      <vt:lpstr> Subdural Hematoma (SDH) </vt:lpstr>
      <vt:lpstr> Cause of Subdural Hematoma (SDH) </vt:lpstr>
      <vt:lpstr>Cont..</vt:lpstr>
      <vt:lpstr>Cont..</vt:lpstr>
      <vt:lpstr> Symptoms of SDH </vt:lpstr>
      <vt:lpstr>Cont..</vt:lpstr>
      <vt:lpstr>Cont..</vt:lpstr>
      <vt:lpstr>Cont..</vt:lpstr>
      <vt:lpstr>Indication For Surgery</vt:lpstr>
      <vt:lpstr>Surgical Procedures</vt:lpstr>
      <vt:lpstr> Special Considerations in SDH Management </vt:lpstr>
      <vt:lpstr>Cont..</vt:lpstr>
      <vt:lpstr> Intracerebral Hemorrhage (ICH) </vt:lpstr>
      <vt:lpstr>Cont..</vt:lpstr>
      <vt:lpstr> Symptoms of ICH </vt:lpstr>
      <vt:lpstr> Indications for Surgery in ICH </vt:lpstr>
      <vt:lpstr> Surgical Procedures for ICH </vt:lpstr>
      <vt:lpstr> Skull Fracture </vt:lpstr>
      <vt:lpstr> Causes of Skull Fractures </vt:lpstr>
      <vt:lpstr>Classification of Skull Fractures</vt:lpstr>
      <vt:lpstr>Cont…</vt:lpstr>
      <vt:lpstr>Cont..</vt:lpstr>
      <vt:lpstr> Symptoms of Skull Fractures </vt:lpstr>
      <vt:lpstr>Cont..</vt:lpstr>
      <vt:lpstr> Indications for Surgery in Skull Fractures </vt:lpstr>
      <vt:lpstr>Cont..</vt:lpstr>
      <vt:lpstr>Cont..</vt:lpstr>
      <vt:lpstr> Surgical Considerations </vt:lpstr>
      <vt:lpstr>Cont..</vt:lpstr>
      <vt:lpstr>Secondary Brain Injury</vt:lpstr>
      <vt:lpstr> Causes of Secondary Brain Injury </vt:lpstr>
      <vt:lpstr>Cont..</vt:lpstr>
      <vt:lpstr>Cont..</vt:lpstr>
      <vt:lpstr>Cont..</vt:lpstr>
      <vt:lpstr> Clinical Features of Secondary Brain Injury </vt:lpstr>
      <vt:lpstr>Cont..</vt:lpstr>
      <vt:lpstr> Prevention and Management of Secondary Brain Injury </vt:lpstr>
      <vt:lpstr>Cont..</vt:lpstr>
      <vt:lpstr>Cont..</vt:lpstr>
      <vt:lpstr>Cont..</vt:lpstr>
      <vt:lpstr> Introduction to Increased ICP </vt:lpstr>
      <vt:lpstr>Cont..</vt:lpstr>
      <vt:lpstr> Monro-Kellie Doctrine </vt:lpstr>
      <vt:lpstr>PowerPoint Presentation</vt:lpstr>
      <vt:lpstr> Mechanisms of Increased ICP </vt:lpstr>
      <vt:lpstr> Complications of Increased ICP </vt:lpstr>
      <vt:lpstr>Factors increases ICP</vt:lpstr>
      <vt:lpstr>Factors that decreases ICP</vt:lpstr>
      <vt:lpstr> Clinical Manifestations of Increased ICP </vt:lpstr>
      <vt:lpstr>Cont..</vt:lpstr>
      <vt:lpstr>Cont..</vt:lpstr>
      <vt:lpstr> Management of Increased ICP </vt:lpstr>
      <vt:lpstr>Cont..</vt:lpstr>
      <vt:lpstr>Cont..</vt:lpstr>
      <vt:lpstr>Cont..</vt:lpstr>
      <vt:lpstr>Cont..</vt:lpstr>
      <vt:lpstr>Cont..</vt:lpstr>
      <vt:lpstr>Cont…</vt:lpstr>
      <vt:lpstr>Cont..</vt:lpstr>
      <vt:lpstr>Cont..</vt:lpstr>
      <vt:lpstr> Additional Supportive Measures </vt:lpstr>
      <vt:lpstr>Cont..</vt:lpstr>
      <vt:lpstr> Additional Pharmacological Options </vt:lpstr>
      <vt:lpstr>Reference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29</cp:revision>
  <dcterms:created xsi:type="dcterms:W3CDTF">2024-11-13T17:07:30Z</dcterms:created>
  <dcterms:modified xsi:type="dcterms:W3CDTF">2024-11-14T05:36:22Z</dcterms:modified>
</cp:coreProperties>
</file>