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83" r:id="rId3"/>
    <p:sldId id="257" r:id="rId4"/>
    <p:sldId id="258" r:id="rId5"/>
    <p:sldId id="259" r:id="rId6"/>
    <p:sldId id="260" r:id="rId7"/>
    <p:sldId id="266" r:id="rId8"/>
    <p:sldId id="262" r:id="rId9"/>
    <p:sldId id="268" r:id="rId10"/>
    <p:sldId id="263" r:id="rId11"/>
    <p:sldId id="267" r:id="rId12"/>
    <p:sldId id="270" r:id="rId13"/>
    <p:sldId id="269" r:id="rId14"/>
    <p:sldId id="264" r:id="rId15"/>
    <p:sldId id="265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77" r:id="rId24"/>
    <p:sldId id="278" r:id="rId25"/>
    <p:sldId id="279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-12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5EC49-0CC5-44AA-87F2-18157AB5E5DD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66994-02E8-45BB-9C2A-306E79279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4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FB48-5DAA-4E7B-ABA9-4CFEB51C9090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0E3D-BD6B-49AE-B418-2D54008C79F7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0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DFC2-28CD-4D80-9276-88541724A133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D8E57-A4DF-4CB2-B442-5987EB19EBB4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7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20B8-655C-47BE-96FB-1058571176D0}" type="datetime1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BB98-E170-42A4-B6CF-05E27709AA95}" type="datetime1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0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84AE-AC84-4CB7-B7E1-761C78507852}" type="datetime1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B245-DD8C-4A82-8FB0-16EB723A4ECE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2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75E2-2085-4D00-93B6-DFF47E4E275F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7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266C-F3C5-417F-A2D0-B20B77ABB7DE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7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5970-C871-401B-A0DA-DD4A1E606B4E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9F228-254D-45C0-8E51-C9EADE7B6D10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D98F5-298D-4BBC-B4A0-9B4A899A8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3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Anesthesia consideration for abdominal injury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886200"/>
            <a:ext cx="61722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By: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wubayheu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Amare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(MSc, lecturer)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09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Introduction to abdominal injury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Types of abdominal injury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Clinical presentation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Diagnosis of AI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Management of abdominal Injury 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E0333-259B-4F1A-A292-6EAE21B9DBBD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3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534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 to Abdominal Injury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Definition</a:t>
            </a:r>
            <a:r>
              <a:rPr lang="en-US" dirty="0" smtClean="0">
                <a:latin typeface="Gabriola" pitchFamily="82" charset="0"/>
              </a:rPr>
              <a:t>: Trauma or damage to the abdominal organs and structures.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Key Organs in the Abdomen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Solid Organs</a:t>
            </a:r>
            <a:r>
              <a:rPr lang="en-US" dirty="0" smtClean="0">
                <a:latin typeface="Gabriola" pitchFamily="82" charset="0"/>
              </a:rPr>
              <a:t>: Liver, spleen, kidneys, pancreas.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Hollow Organs</a:t>
            </a:r>
            <a:r>
              <a:rPr lang="en-US" dirty="0" smtClean="0">
                <a:latin typeface="Gabriola" pitchFamily="82" charset="0"/>
              </a:rPr>
              <a:t>: Small intestine, large intestine, bladder.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Vascular Structures</a:t>
            </a:r>
            <a:r>
              <a:rPr lang="en-US" dirty="0" smtClean="0">
                <a:latin typeface="Gabriola" pitchFamily="82" charset="0"/>
              </a:rPr>
              <a:t>: Aorta, inferior vena cava.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Abdominal injuries can result in internal bleeding, organ failure, and life-threatening complications.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C6C27-9D43-44EC-B952-CBC967B7FBF0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6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534400" cy="513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Types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Blunt Trauma</a:t>
            </a:r>
            <a:r>
              <a:rPr lang="en-US" dirty="0" smtClean="0">
                <a:latin typeface="Gabriola" pitchFamily="82" charset="0"/>
              </a:rPr>
              <a:t>: No penetration; impact or compression.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Penetrating Trauma</a:t>
            </a:r>
            <a:r>
              <a:rPr lang="en-US" dirty="0" smtClean="0">
                <a:latin typeface="Gabriola" pitchFamily="82" charset="0"/>
              </a:rPr>
              <a:t>: Injury via sharp or projectile objects.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Challenges</a:t>
            </a:r>
            <a:r>
              <a:rPr lang="en-US" sz="2800" dirty="0" smtClean="0">
                <a:latin typeface="Gabriola" pitchFamily="82" charset="0"/>
              </a:rPr>
              <a:t>: Diagnosis can be complex due to overlapping symptoms and the variety of organs involved.</a:t>
            </a: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9A5C-AB59-4A9D-8464-9731DFA0847F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73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Types of Abdominal Injury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102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>
                <a:latin typeface="Gabriola" pitchFamily="82" charset="0"/>
              </a:rPr>
              <a:t>1. </a:t>
            </a:r>
            <a:r>
              <a:rPr lang="en-US" b="1" dirty="0" smtClean="0">
                <a:latin typeface="Gabriola" pitchFamily="82" charset="0"/>
              </a:rPr>
              <a:t>Blunt Abdominal Trauma (BAT)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Causes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MVC, Falls , Sports injuries (e.g., contact sports), Industrial accidents.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Mechanism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Deceleration</a:t>
            </a:r>
            <a:r>
              <a:rPr lang="en-US" dirty="0" smtClean="0">
                <a:latin typeface="Gabriola" pitchFamily="82" charset="0"/>
              </a:rPr>
              <a:t>: Sudden stopping of the body (e.g., car crash).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Compression</a:t>
            </a:r>
            <a:r>
              <a:rPr lang="en-US" dirty="0" smtClean="0">
                <a:latin typeface="Gabriola" pitchFamily="82" charset="0"/>
              </a:rPr>
              <a:t>: Abdomen compressed between spine and external object.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Direct Impact</a:t>
            </a:r>
            <a:r>
              <a:rPr lang="en-US" dirty="0" smtClean="0">
                <a:latin typeface="Gabriola" pitchFamily="82" charset="0"/>
              </a:rPr>
              <a:t>: Forceful contact with a hard object (e.g., steering wheel, seatbelt).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0D632-3440-4B2B-8682-7106B65EFBB5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2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86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Injuries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Liver lacerations.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Spleen rupture.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Kidney contusions.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Bowel perforation.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Complications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Hemorrhagic shock.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Abdominal compartment syndrome.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Bowel obstruction or perforation.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2E51-84BD-4674-8A72-36D360F6B578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95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3050"/>
            <a:ext cx="4572000" cy="79375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Gabriola" pitchFamily="82" charset="0"/>
              </a:rPr>
              <a:t>2. Penetrating Abdominal Trauma (PAT)</a:t>
            </a:r>
            <a:r>
              <a:rPr lang="en-US" dirty="0">
                <a:latin typeface="Gabriola" pitchFamily="82" charset="0"/>
              </a:rPr>
              <a:t/>
            </a:r>
            <a:br>
              <a:rPr lang="en-US" dirty="0">
                <a:latin typeface="Gabriola" pitchFamily="82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066800"/>
            <a:ext cx="5105400" cy="5334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Injuries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Bowel perforation.</a:t>
            </a: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Liver or spleen lacerations.</a:t>
            </a: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Vascular injury (e.g., injury to the aorta, inferior vena cava).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Complications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Peritonitis.</a:t>
            </a: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Sepsis.</a:t>
            </a: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Massive bleeding.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1143001"/>
            <a:ext cx="3352800" cy="49530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800" b="1" dirty="0" smtClean="0">
                <a:latin typeface="Gabriola" pitchFamily="82" charset="0"/>
              </a:rPr>
              <a:t>Causes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marL="800100" lvl="1" indent="-342900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Gabriola" pitchFamily="82" charset="0"/>
              </a:rPr>
              <a:t>Stab wounds (knife, sharp objects), Gunshot wounds, Impalements.</a:t>
            </a:r>
          </a:p>
          <a:p>
            <a:pPr marL="457200" indent="-457200">
              <a:lnSpc>
                <a:spcPct val="17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Gabriola" pitchFamily="82" charset="0"/>
              </a:rPr>
              <a:t>Object penetrates the abdominal wall, causing direct organ damage.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A2EB0-66BE-487C-BA6C-74456A62485E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3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Clinical Presentation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102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Pain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Localized</a:t>
            </a:r>
            <a:r>
              <a:rPr lang="en-US" dirty="0" smtClean="0">
                <a:latin typeface="Gabriola" pitchFamily="82" charset="0"/>
              </a:rPr>
              <a:t> to injured organ (e.g., right upper quadrant pain for liver, left upper quadrant for spleen).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Rebound tenderness</a:t>
            </a:r>
            <a:r>
              <a:rPr lang="en-US" dirty="0" smtClean="0">
                <a:latin typeface="Gabriola" pitchFamily="82" charset="0"/>
              </a:rPr>
              <a:t>: Suggests peritoneal irritation.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Guarding</a:t>
            </a:r>
            <a:r>
              <a:rPr lang="en-US" dirty="0" smtClean="0">
                <a:latin typeface="Gabriola" pitchFamily="82" charset="0"/>
              </a:rPr>
              <a:t>: Protective abdominal muscle tensing.</a:t>
            </a:r>
          </a:p>
          <a:p>
            <a:pPr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Distension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Abdominal swelling often due to bleeding (</a:t>
            </a:r>
            <a:r>
              <a:rPr lang="en-US" dirty="0" err="1" smtClean="0">
                <a:latin typeface="Gabriola" pitchFamily="82" charset="0"/>
              </a:rPr>
              <a:t>hemoperitoneum</a:t>
            </a:r>
            <a:r>
              <a:rPr lang="en-US" dirty="0" smtClean="0">
                <a:latin typeface="Gabriola" pitchFamily="82" charset="0"/>
              </a:rPr>
              <a:t>) or bowel injury.</a:t>
            </a:r>
          </a:p>
          <a:p>
            <a:pPr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Signs of Shock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Hypotension</a:t>
            </a:r>
            <a:r>
              <a:rPr lang="en-US" dirty="0" smtClean="0">
                <a:latin typeface="Gabriola" pitchFamily="82" charset="0"/>
              </a:rPr>
              <a:t>: Due to blood loss.</a:t>
            </a:r>
          </a:p>
          <a:p>
            <a:pPr>
              <a:lnSpc>
                <a:spcPct val="16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DA03-708B-46E7-905D-F8946E6DF5C5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8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638800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Tachycardia</a:t>
            </a:r>
            <a:r>
              <a:rPr lang="en-US" dirty="0" smtClean="0">
                <a:latin typeface="Gabriola" pitchFamily="82" charset="0"/>
              </a:rPr>
              <a:t>: Increased heart rate compensating for low blood pressure.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Pale, cold, clammy skin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Altered mental status</a:t>
            </a:r>
            <a:r>
              <a:rPr lang="en-US" dirty="0" smtClean="0">
                <a:latin typeface="Gabriola" pitchFamily="82" charset="0"/>
              </a:rPr>
              <a:t>: Confusion or disorientation.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External Signs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Bruising</a:t>
            </a:r>
            <a:r>
              <a:rPr lang="en-US" dirty="0" smtClean="0">
                <a:latin typeface="Gabriola" pitchFamily="82" charset="0"/>
              </a:rPr>
              <a:t> (Cullen’s sign, Grey-Turner’s sign): Indicative of internal bleeding.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Wounds</a:t>
            </a:r>
            <a:r>
              <a:rPr lang="en-US" dirty="0" smtClean="0">
                <a:latin typeface="Gabriola" pitchFamily="82" charset="0"/>
              </a:rPr>
              <a:t>: Visible stab or gunshot wounds, foreign objects impaled in the body.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66B09-9A4A-427B-B7CC-E0E9F0E1723C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1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Other Symptoms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Fever: Often secondary to infection or peritonitis.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Nausea/Vomiting: Due to bowel injury or peritoneal irritation.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Absence of bowel sounds: Suggestive of bowel perforation.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1FD4D-30CB-4188-AE5A-20345BF5E6EE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0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Diagnosis of Abdominal Injury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4864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3300" b="1" dirty="0" smtClean="0">
                <a:latin typeface="Times New Roman" pitchFamily="18" charset="0"/>
                <a:cs typeface="Times New Roman" pitchFamily="18" charset="0"/>
              </a:rPr>
              <a:t>1. Physical Examination:</a:t>
            </a:r>
          </a:p>
          <a:p>
            <a:pPr>
              <a:lnSpc>
                <a:spcPct val="160000"/>
              </a:lnSpc>
            </a:pPr>
            <a:r>
              <a:rPr lang="en-US" sz="3300" b="1" dirty="0" smtClean="0">
                <a:latin typeface="Gabriola" pitchFamily="82" charset="0"/>
              </a:rPr>
              <a:t>Inspection</a:t>
            </a:r>
            <a:r>
              <a:rPr lang="en-US" sz="3300" dirty="0" smtClean="0">
                <a:latin typeface="Gabriola" pitchFamily="82" charset="0"/>
              </a:rPr>
              <a:t>: Look for external wounds, bruising, or signs of trauma (e.g., Cullen’s or Grey-Turner’s sign).</a:t>
            </a:r>
          </a:p>
          <a:p>
            <a:pPr>
              <a:lnSpc>
                <a:spcPct val="160000"/>
              </a:lnSpc>
            </a:pPr>
            <a:r>
              <a:rPr lang="en-US" sz="3300" b="1" dirty="0" smtClean="0">
                <a:latin typeface="Gabriola" pitchFamily="82" charset="0"/>
              </a:rPr>
              <a:t>Palpation</a:t>
            </a:r>
            <a:r>
              <a:rPr lang="en-US" sz="33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sz="3300" b="1" dirty="0" smtClean="0">
                <a:latin typeface="Gabriola" pitchFamily="82" charset="0"/>
              </a:rPr>
              <a:t>Tenderness</a:t>
            </a:r>
            <a:r>
              <a:rPr lang="en-US" sz="3300" dirty="0" smtClean="0">
                <a:latin typeface="Gabriola" pitchFamily="82" charset="0"/>
              </a:rPr>
              <a:t>: Localized or generalized.</a:t>
            </a:r>
          </a:p>
          <a:p>
            <a:pPr lvl="1">
              <a:lnSpc>
                <a:spcPct val="160000"/>
              </a:lnSpc>
            </a:pPr>
            <a:r>
              <a:rPr lang="en-US" sz="3300" b="1" dirty="0" smtClean="0">
                <a:latin typeface="Gabriola" pitchFamily="82" charset="0"/>
              </a:rPr>
              <a:t>Rebound tenderness</a:t>
            </a:r>
            <a:r>
              <a:rPr lang="en-US" sz="3300" dirty="0" smtClean="0">
                <a:latin typeface="Gabriola" pitchFamily="82" charset="0"/>
              </a:rPr>
              <a:t>: Sign of peritoneal irritation.</a:t>
            </a:r>
          </a:p>
          <a:p>
            <a:pPr lvl="1">
              <a:lnSpc>
                <a:spcPct val="160000"/>
              </a:lnSpc>
            </a:pPr>
            <a:r>
              <a:rPr lang="en-US" sz="3300" b="1" dirty="0" smtClean="0">
                <a:latin typeface="Gabriola" pitchFamily="82" charset="0"/>
              </a:rPr>
              <a:t>Rigid abdomen</a:t>
            </a:r>
            <a:r>
              <a:rPr lang="en-US" sz="3300" dirty="0" smtClean="0">
                <a:latin typeface="Gabriola" pitchFamily="82" charset="0"/>
              </a:rPr>
              <a:t>: Can indicate peritoneal hemorrhage or bowel perforation.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4288-AF54-4B15-8880-43DFFBE904F3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20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8305799" cy="551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341-6500-4571-9EC2-9F2F7B87E64B}" type="datetime1">
              <a:rPr lang="en-US" smtClean="0"/>
              <a:t>11/19/2024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Auscultation</a:t>
            </a:r>
            <a:r>
              <a:rPr lang="en-US" sz="2800" dirty="0" smtClean="0">
                <a:latin typeface="Gabriola" pitchFamily="82" charset="0"/>
              </a:rPr>
              <a:t>: Listen for absent or decreased bowel sounds (may indicate bowel perforation).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2. Imaging: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CT Scan (Contrast-Enhanced)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Gold standard for blunt abdominal trauma.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Identifies organ lacerations, bleeding, and free fluid in the abdomen.</a:t>
            </a: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Gabriola" pitchFamily="82" charset="0"/>
              </a:rPr>
              <a:t>FAST Ultrasound</a:t>
            </a:r>
            <a:r>
              <a:rPr lang="en-US" dirty="0" smtClean="0">
                <a:latin typeface="Gabriola" pitchFamily="82" charset="0"/>
              </a:rPr>
              <a:t>: Quick, bedside assessment for free fluid (e.g., blood) in the abdomen.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6710-2C37-4F2E-B583-333150C85DBB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22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2578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X-ray</a:t>
            </a:r>
            <a:r>
              <a:rPr lang="en-US" dirty="0" smtClean="0">
                <a:latin typeface="Gabriola" pitchFamily="82" charset="0"/>
              </a:rPr>
              <a:t>: Used for detecting free air in the abdomen (indicating bowel perforation).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Diagnostic Peritoneal Lavage (DPL)</a:t>
            </a:r>
            <a:r>
              <a:rPr lang="en-US" dirty="0" smtClean="0">
                <a:latin typeface="Gabriola" pitchFamily="82" charset="0"/>
              </a:rPr>
              <a:t>: Used when imaging is inconclusive or unavailable, it detects blood or bile in the peritoneal cavity.</a:t>
            </a:r>
          </a:p>
          <a:p>
            <a:pPr>
              <a:lnSpc>
                <a:spcPct val="150000"/>
              </a:lnSpc>
            </a:pPr>
            <a:endParaRPr lang="en-US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846A-1837-445A-88CE-C8D71F576ECD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1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Management of Abdominal Injury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66800"/>
            <a:ext cx="88392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Initial Stabilization: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Airway Management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sz="2800" dirty="0" smtClean="0">
                <a:latin typeface="Gabriola" pitchFamily="82" charset="0"/>
              </a:rPr>
              <a:t>Ensure patent airway, especially if the patient has a head injury or is at risk for aspiration.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Hemodynamic Support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Fluid resuscitation</a:t>
            </a:r>
            <a:r>
              <a:rPr lang="en-US" sz="2800" dirty="0" smtClean="0">
                <a:latin typeface="Gabriola" pitchFamily="82" charset="0"/>
              </a:rPr>
              <a:t>: Administer isotonic fluids (e.g., Normal Saline or Ringer’s Lactate) to stabilize the patient.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6A49-EB25-4D75-B785-BCDB303CDDD0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85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257800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Blood transfusion</a:t>
            </a:r>
            <a:r>
              <a:rPr lang="en-US" sz="2800" dirty="0" smtClean="0">
                <a:latin typeface="Gabriola" pitchFamily="82" charset="0"/>
              </a:rPr>
              <a:t>: If there is significant blood loss, consider blood products (PRBCs, plasma, platelets).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Oxygen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sz="2800" dirty="0" smtClean="0">
                <a:latin typeface="Gabriola" pitchFamily="82" charset="0"/>
              </a:rPr>
              <a:t>Administer oxygen to improve tissue oxygenation, especially if the patient is in shock.</a:t>
            </a:r>
          </a:p>
          <a:p>
            <a:pPr lvl="1">
              <a:lnSpc>
                <a:spcPct val="150000"/>
              </a:lnSpc>
            </a:pP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8104-9C1B-477C-BD99-E892B47A4C0D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4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2117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>
                <a:latin typeface="Gabriola" pitchFamily="82" charset="0"/>
                <a:cs typeface="Times New Roman" pitchFamily="18" charset="0"/>
              </a:rPr>
              <a:t>Surgical Management: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Exploratory Laparotomy</a:t>
            </a:r>
            <a:r>
              <a:rPr lang="en-US" sz="2800" dirty="0" smtClean="0">
                <a:latin typeface="Gabriola" pitchFamily="82" charset="0"/>
              </a:rPr>
              <a:t>: Performed in patients with: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Penetrating trauma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Hemodynamic instability</a:t>
            </a:r>
            <a:r>
              <a:rPr lang="en-US" dirty="0" smtClean="0">
                <a:latin typeface="Gabriola" pitchFamily="82" charset="0"/>
              </a:rPr>
              <a:t> (persistent shock).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Intra-abdominal hemorrhage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Organ Repair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Suturing lacerations of solid organs (liver, spleen).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6C50-102F-4060-8387-D4AADD72316D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65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4102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Bowel resection</a:t>
            </a:r>
            <a:r>
              <a:rPr lang="en-US" dirty="0" smtClean="0">
                <a:latin typeface="Gabriola" pitchFamily="82" charset="0"/>
              </a:rPr>
              <a:t> and anastomosis for perforated bowel.</a:t>
            </a:r>
          </a:p>
          <a:p>
            <a:pPr>
              <a:lnSpc>
                <a:spcPct val="150000"/>
              </a:lnSpc>
            </a:pPr>
            <a:r>
              <a:rPr lang="en-US" sz="2800" b="1" dirty="0" err="1" smtClean="0">
                <a:latin typeface="Gabriola" pitchFamily="82" charset="0"/>
              </a:rPr>
              <a:t>Splenectomy</a:t>
            </a:r>
            <a:r>
              <a:rPr lang="en-US" sz="2800" b="1" dirty="0" smtClean="0">
                <a:latin typeface="Gabriola" pitchFamily="82" charset="0"/>
              </a:rPr>
              <a:t>/</a:t>
            </a:r>
            <a:r>
              <a:rPr lang="en-US" sz="2800" b="1" dirty="0" err="1" smtClean="0">
                <a:latin typeface="Gabriola" pitchFamily="82" charset="0"/>
              </a:rPr>
              <a:t>Hepatectomy</a:t>
            </a:r>
            <a:r>
              <a:rPr lang="en-US" sz="2800" dirty="0" smtClean="0">
                <a:latin typeface="Gabriola" pitchFamily="82" charset="0"/>
              </a:rPr>
              <a:t>: In cases of severe damage to the spleen or liver.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Conservative Management: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Minor Solid Organ Injury</a:t>
            </a:r>
            <a:r>
              <a:rPr lang="en-US" dirty="0" smtClean="0">
                <a:latin typeface="Gabriola" pitchFamily="82" charset="0"/>
              </a:rPr>
              <a:t> (e.g., small liver or spleen lacerations) can be managed non-operatively:</a:t>
            </a:r>
          </a:p>
          <a:p>
            <a:pPr lvl="2"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Bed rest</a:t>
            </a:r>
            <a:r>
              <a:rPr lang="en-US" sz="2800" dirty="0" smtClean="0">
                <a:latin typeface="Gabriola" pitchFamily="82" charset="0"/>
              </a:rPr>
              <a:t> and </a:t>
            </a:r>
            <a:r>
              <a:rPr lang="en-US" sz="2800" b="1" dirty="0" smtClean="0">
                <a:latin typeface="Gabriola" pitchFamily="82" charset="0"/>
              </a:rPr>
              <a:t>serial imaging</a:t>
            </a:r>
            <a:r>
              <a:rPr lang="en-US" sz="2800" dirty="0" smtClean="0">
                <a:latin typeface="Gabriola" pitchFamily="82" charset="0"/>
              </a:rPr>
              <a:t> to monitor for changes.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EA4B9-AF9D-42EF-9B0E-5339DF0B13B4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54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921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Antibiotics and Pain Management</a:t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60198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>
                <a:latin typeface="Gabriola" pitchFamily="82" charset="0"/>
              </a:rPr>
              <a:t>Antibiotics: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Penetrating trauma</a:t>
            </a:r>
            <a:r>
              <a:rPr lang="en-US" sz="2800" dirty="0" smtClean="0">
                <a:latin typeface="Gabriola" pitchFamily="82" charset="0"/>
              </a:rPr>
              <a:t> involving bowel injury requires </a:t>
            </a:r>
            <a:r>
              <a:rPr lang="en-US" sz="2800" b="1" dirty="0" smtClean="0">
                <a:latin typeface="Gabriola" pitchFamily="82" charset="0"/>
              </a:rPr>
              <a:t>broad-spectrum antibiotics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Prevents </a:t>
            </a:r>
            <a:r>
              <a:rPr lang="en-US" b="1" dirty="0" smtClean="0">
                <a:latin typeface="Gabriola" pitchFamily="82" charset="0"/>
              </a:rPr>
              <a:t>peritonitis</a:t>
            </a:r>
            <a:r>
              <a:rPr lang="en-US" dirty="0" smtClean="0">
                <a:latin typeface="Gabriola" pitchFamily="82" charset="0"/>
              </a:rPr>
              <a:t> and </a:t>
            </a:r>
            <a:r>
              <a:rPr lang="en-US" b="1" dirty="0" smtClean="0">
                <a:latin typeface="Gabriola" pitchFamily="82" charset="0"/>
              </a:rPr>
              <a:t>sepsis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Common regimens: </a:t>
            </a:r>
            <a:r>
              <a:rPr lang="en-US" dirty="0" err="1" smtClean="0">
                <a:latin typeface="Gabriola" pitchFamily="82" charset="0"/>
              </a:rPr>
              <a:t>Piperacillin-tazobactam</a:t>
            </a:r>
            <a:r>
              <a:rPr lang="en-US" dirty="0" smtClean="0">
                <a:latin typeface="Gabriola" pitchFamily="82" charset="0"/>
              </a:rPr>
              <a:t> or Ceftriaxone with Metronidazole.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Gabriola" pitchFamily="82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4DDE-470F-4602-9DC7-E156AB8D05F4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4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257800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Pain Management</a:t>
            </a:r>
          </a:p>
          <a:p>
            <a:pPr>
              <a:lnSpc>
                <a:spcPct val="160000"/>
              </a:lnSpc>
            </a:pPr>
            <a:r>
              <a:rPr lang="en-US" sz="2800" b="1" dirty="0" smtClean="0">
                <a:latin typeface="Gabriola" pitchFamily="82" charset="0"/>
              </a:rPr>
              <a:t>Opioids</a:t>
            </a:r>
            <a:r>
              <a:rPr lang="en-US" sz="2800" dirty="0" smtClean="0">
                <a:latin typeface="Gabriola" pitchFamily="82" charset="0"/>
              </a:rPr>
              <a:t>: For moderate to severe pain.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Examples: Morphine, Fentanyl</a:t>
            </a:r>
            <a:endParaRPr lang="en-US" b="1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US" sz="2800" b="1" dirty="0" smtClean="0">
                <a:latin typeface="Gabriola" pitchFamily="82" charset="0"/>
              </a:rPr>
              <a:t>Non-opioid analgesics</a:t>
            </a:r>
            <a:r>
              <a:rPr lang="en-US" sz="2800" dirty="0" smtClean="0">
                <a:latin typeface="Gabriola" pitchFamily="82" charset="0"/>
              </a:rPr>
              <a:t>: NSAIDs (e.g., Ibuprofen) for mild pain, though generally avoided in hemorrhagic trauma.</a:t>
            </a:r>
          </a:p>
          <a:p>
            <a:pPr>
              <a:lnSpc>
                <a:spcPct val="160000"/>
              </a:lnSpc>
            </a:pPr>
            <a:r>
              <a:rPr lang="en-US" sz="2800" b="1" dirty="0" smtClean="0">
                <a:latin typeface="Gabriola" pitchFamily="82" charset="0"/>
              </a:rPr>
              <a:t>Regional Anesthesia</a:t>
            </a:r>
            <a:r>
              <a:rPr lang="en-US" sz="2800" dirty="0" smtClean="0">
                <a:latin typeface="Gabriola" pitchFamily="82" charset="0"/>
              </a:rPr>
              <a:t>: Epidural anesthesia or nerve blocks to reduce systemic opioid requirements.</a:t>
            </a:r>
          </a:p>
          <a:p>
            <a:pPr>
              <a:lnSpc>
                <a:spcPct val="160000"/>
              </a:lnSpc>
            </a:pPr>
            <a:endParaRPr lang="en-US" sz="2800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E00-4BE0-4720-8E28-695614C8480F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1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944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Complications of Abdominal Injury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25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Sepsis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Peritonitis</a:t>
            </a:r>
            <a:r>
              <a:rPr lang="en-US" dirty="0" smtClean="0">
                <a:latin typeface="Gabriola" pitchFamily="82" charset="0"/>
              </a:rPr>
              <a:t> from bowel perforation or contamination due to penetrating trauma.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Requires </a:t>
            </a:r>
            <a:r>
              <a:rPr lang="en-US" b="1" dirty="0" smtClean="0">
                <a:latin typeface="Gabriola" pitchFamily="82" charset="0"/>
              </a:rPr>
              <a:t>urgent antibiotic therapy</a:t>
            </a:r>
            <a:r>
              <a:rPr lang="en-US" dirty="0" smtClean="0">
                <a:latin typeface="Gabriola" pitchFamily="82" charset="0"/>
              </a:rPr>
              <a:t> and sometimes </a:t>
            </a:r>
            <a:r>
              <a:rPr lang="en-US" b="1" dirty="0" smtClean="0">
                <a:latin typeface="Gabriola" pitchFamily="82" charset="0"/>
              </a:rPr>
              <a:t>surgical drainage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Hemorrhagic Shock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Due to massive blood loss from organ rupture or vascular injury.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Requires </a:t>
            </a:r>
            <a:r>
              <a:rPr lang="en-US" b="1" dirty="0" smtClean="0">
                <a:latin typeface="Gabriola" pitchFamily="82" charset="0"/>
              </a:rPr>
              <a:t>immediate fluid resuscitation</a:t>
            </a:r>
            <a:r>
              <a:rPr lang="en-US" dirty="0" smtClean="0">
                <a:latin typeface="Gabriola" pitchFamily="82" charset="0"/>
              </a:rPr>
              <a:t> and possibly </a:t>
            </a:r>
            <a:r>
              <a:rPr lang="en-US" b="1" dirty="0" smtClean="0">
                <a:latin typeface="Gabriola" pitchFamily="82" charset="0"/>
              </a:rPr>
              <a:t>massive transfusion protocols</a:t>
            </a:r>
            <a:r>
              <a:rPr lang="en-US" dirty="0" smtClean="0">
                <a:latin typeface="Gabriola" pitchFamily="82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3AE7F-C590-4D5E-A3A9-1639E0C62420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98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4678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Abdominal Compartment Syndrome (ACS)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Elevated intra-abdominal pressure leading to organ dysfunction (renal failure, respiratory compromise).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Decompression</a:t>
            </a:r>
            <a:r>
              <a:rPr lang="en-US" dirty="0" smtClean="0">
                <a:latin typeface="Gabriola" pitchFamily="82" charset="0"/>
              </a:rPr>
              <a:t> surgery may be required if intra-abdominal pressure exceeds 20 mmHg.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59650-3F48-4B1A-AA95-6F726EB73343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80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,…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2117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Organ Failure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Liver</a:t>
            </a:r>
            <a:r>
              <a:rPr lang="en-US" dirty="0" smtClean="0">
                <a:latin typeface="Gabriola" pitchFamily="82" charset="0"/>
              </a:rPr>
              <a:t> or </a:t>
            </a:r>
            <a:r>
              <a:rPr lang="en-US" b="1" dirty="0" smtClean="0">
                <a:latin typeface="Gabriola" pitchFamily="82" charset="0"/>
              </a:rPr>
              <a:t>kidney</a:t>
            </a:r>
            <a:r>
              <a:rPr lang="en-US" dirty="0" smtClean="0">
                <a:latin typeface="Gabriola" pitchFamily="82" charset="0"/>
              </a:rPr>
              <a:t> failure due to direct injury or shock.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Intestinal failure</a:t>
            </a:r>
            <a:r>
              <a:rPr lang="en-US" dirty="0" smtClean="0">
                <a:latin typeface="Gabriola" pitchFamily="82" charset="0"/>
              </a:rPr>
              <a:t> from bowel resection or prolonged ischemia.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Post-traumatic Ileus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Temporary bowel paralysis after abdominal trauma, often resolving with supportive care.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D3A4-47CF-41DA-B51A-48DFBAC8217A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65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Special Considerations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458200" cy="48307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  <a:cs typeface="Times New Roman" pitchFamily="18" charset="0"/>
              </a:rPr>
              <a:t>Pregnancy</a:t>
            </a:r>
            <a:r>
              <a:rPr lang="en-US" sz="2800" dirty="0" smtClean="0">
                <a:latin typeface="Gabriola" pitchFamily="82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  <a:cs typeface="Times New Roman" pitchFamily="18" charset="0"/>
              </a:rPr>
              <a:t>Intra-abdominal trauma in pregnant patients requires careful consideration of both maternal and fetal well-being.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  <a:cs typeface="Times New Roman" pitchFamily="18" charset="0"/>
              </a:rPr>
              <a:t>Maternal resuscitation</a:t>
            </a:r>
            <a:r>
              <a:rPr lang="en-US" dirty="0" smtClean="0">
                <a:latin typeface="Gabriola" pitchFamily="82" charset="0"/>
                <a:cs typeface="Times New Roman" pitchFamily="18" charset="0"/>
              </a:rPr>
              <a:t> is the priority; fetal monitoring (e.g., ultrasound, fetal heart rate) may be necessary if the fetus is viable.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  <a:cs typeface="Times New Roman" pitchFamily="18" charset="0"/>
              </a:rPr>
              <a:t>Position the patient </a:t>
            </a:r>
            <a:r>
              <a:rPr lang="en-US" b="1" dirty="0" smtClean="0">
                <a:latin typeface="Gabriola" pitchFamily="82" charset="0"/>
                <a:cs typeface="Times New Roman" pitchFamily="18" charset="0"/>
              </a:rPr>
              <a:t>left lateral</a:t>
            </a:r>
            <a:r>
              <a:rPr lang="en-US" dirty="0" smtClean="0">
                <a:latin typeface="Gabriola" pitchFamily="82" charset="0"/>
                <a:cs typeface="Times New Roman" pitchFamily="18" charset="0"/>
              </a:rPr>
              <a:t> to minimize </a:t>
            </a:r>
            <a:r>
              <a:rPr lang="en-US" dirty="0" err="1" smtClean="0">
                <a:latin typeface="Gabriola" pitchFamily="82" charset="0"/>
                <a:cs typeface="Times New Roman" pitchFamily="18" charset="0"/>
              </a:rPr>
              <a:t>aortocaval</a:t>
            </a:r>
            <a:r>
              <a:rPr lang="en-US" dirty="0" smtClean="0">
                <a:latin typeface="Gabriola" pitchFamily="82" charset="0"/>
                <a:cs typeface="Times New Roman" pitchFamily="18" charset="0"/>
              </a:rPr>
              <a:t> compression.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43C7-E172-47E8-8AFF-82E4B1BE23E1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21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Pediatric Trauma</a:t>
            </a:r>
            <a:r>
              <a:rPr lang="en-US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Pediatric patients have different fluid resuscitation needs (e.g., smaller volume boluses).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Anesthetic drugs and doses are adjusted based on age and weight (e.g., </a:t>
            </a:r>
            <a:r>
              <a:rPr lang="en-US" b="1" dirty="0" smtClean="0">
                <a:latin typeface="Gabriola" pitchFamily="82" charset="0"/>
              </a:rPr>
              <a:t>Ketamine</a:t>
            </a:r>
            <a:r>
              <a:rPr lang="en-US" dirty="0" smtClean="0">
                <a:latin typeface="Gabriola" pitchFamily="82" charset="0"/>
              </a:rPr>
              <a:t> may be preferred for its hemodynamic stability).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92AE-8055-4923-BD27-ED048005A1F5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22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8006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1.Paul G </a:t>
            </a:r>
            <a:r>
              <a:rPr lang="en-US" dirty="0" err="1">
                <a:latin typeface="Gabriola" pitchFamily="82" charset="0"/>
              </a:rPr>
              <a:t>Barash</a:t>
            </a:r>
            <a:r>
              <a:rPr lang="en-US" dirty="0">
                <a:latin typeface="Gabriola" pitchFamily="82" charset="0"/>
              </a:rPr>
              <a:t>: Handbook of Clinical Anesthesia (8th edition). Lippincott Williams &amp; Wilkins publications, Inc., 2016.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2.Robert K </a:t>
            </a:r>
            <a:r>
              <a:rPr lang="en-US" dirty="0" err="1">
                <a:latin typeface="Gabriola" pitchFamily="82" charset="0"/>
              </a:rPr>
              <a:t>Stoelting</a:t>
            </a:r>
            <a:r>
              <a:rPr lang="en-US" dirty="0">
                <a:latin typeface="Gabriola" pitchFamily="82" charset="0"/>
              </a:rPr>
              <a:t>: </a:t>
            </a:r>
            <a:r>
              <a:rPr lang="en-US" dirty="0" err="1">
                <a:latin typeface="Gabriola" pitchFamily="82" charset="0"/>
              </a:rPr>
              <a:t>Stoelting’s</a:t>
            </a:r>
            <a:r>
              <a:rPr lang="en-US" dirty="0">
                <a:latin typeface="Gabriola" pitchFamily="82" charset="0"/>
              </a:rPr>
              <a:t> anesthesia and co-existing disease (5th edition). Churchill Livingstone, an Imprint of Elsevier, 2002.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3.Alan R </a:t>
            </a:r>
            <a:r>
              <a:rPr lang="en-US" dirty="0" err="1">
                <a:latin typeface="Gabriola" pitchFamily="82" charset="0"/>
              </a:rPr>
              <a:t>Aitkenhead</a:t>
            </a:r>
            <a:r>
              <a:rPr lang="en-US" dirty="0">
                <a:latin typeface="Gabriola" pitchFamily="82" charset="0"/>
              </a:rPr>
              <a:t>: Textbook of </a:t>
            </a:r>
            <a:r>
              <a:rPr lang="en-US" dirty="0" err="1">
                <a:latin typeface="Gabriola" pitchFamily="82" charset="0"/>
              </a:rPr>
              <a:t>Anaesthesia</a:t>
            </a:r>
            <a:r>
              <a:rPr lang="en-US" dirty="0">
                <a:latin typeface="Gabriola" pitchFamily="82" charset="0"/>
              </a:rPr>
              <a:t> (6th edition). Churchill Livingstone publication, an Imprint of Elsevier, 2001.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4.G. Edward Morgan: Clinical Anesthesiology (6th edition). McGraw-Hill Companies, Inc. 2006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C4C3-E164-49F8-B26D-ABF4373CE088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1223</Words>
  <Application>Microsoft Office PowerPoint</Application>
  <PresentationFormat>On-screen Show (4:3)</PresentationFormat>
  <Paragraphs>205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Anesthesia consideration for abdominal injury </vt:lpstr>
      <vt:lpstr>Outline </vt:lpstr>
      <vt:lpstr> introduction to Abdominal Injury </vt:lpstr>
      <vt:lpstr>Cont..</vt:lpstr>
      <vt:lpstr> Types of Abdominal Injury </vt:lpstr>
      <vt:lpstr>Cont..</vt:lpstr>
      <vt:lpstr>2. Penetrating Abdominal Trauma (PAT) </vt:lpstr>
      <vt:lpstr> Clinical Presentation </vt:lpstr>
      <vt:lpstr>Cont..</vt:lpstr>
      <vt:lpstr>Cont..</vt:lpstr>
      <vt:lpstr> Diagnosis of Abdominal Injury </vt:lpstr>
      <vt:lpstr>PowerPoint Presentation</vt:lpstr>
      <vt:lpstr>Cont..</vt:lpstr>
      <vt:lpstr>Cont…</vt:lpstr>
      <vt:lpstr> Management of Abdominal Injury </vt:lpstr>
      <vt:lpstr>Cont..</vt:lpstr>
      <vt:lpstr>Cont..</vt:lpstr>
      <vt:lpstr>Cont..</vt:lpstr>
      <vt:lpstr> Antibiotics and Pain Management </vt:lpstr>
      <vt:lpstr>Cont..</vt:lpstr>
      <vt:lpstr> Complications of Abdominal Injury </vt:lpstr>
      <vt:lpstr>Cont..</vt:lpstr>
      <vt:lpstr>cont,…</vt:lpstr>
      <vt:lpstr> Special Considerations </vt:lpstr>
      <vt:lpstr>Cont..</vt:lpstr>
      <vt:lpstr>Reference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2024-11-19T18:23:23Z</dcterms:created>
  <dcterms:modified xsi:type="dcterms:W3CDTF">2024-11-19T19:20:08Z</dcterms:modified>
</cp:coreProperties>
</file>