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9"/>
  </p:notesMasterIdLst>
  <p:sldIdLst>
    <p:sldId id="256" r:id="rId2"/>
    <p:sldId id="355" r:id="rId3"/>
    <p:sldId id="257" r:id="rId4"/>
    <p:sldId id="356" r:id="rId5"/>
    <p:sldId id="262" r:id="rId6"/>
    <p:sldId id="261" r:id="rId7"/>
    <p:sldId id="263" r:id="rId8"/>
    <p:sldId id="258" r:id="rId9"/>
    <p:sldId id="259" r:id="rId10"/>
    <p:sldId id="260" r:id="rId11"/>
    <p:sldId id="264" r:id="rId12"/>
    <p:sldId id="265" r:id="rId13"/>
    <p:sldId id="266" r:id="rId14"/>
    <p:sldId id="267" r:id="rId15"/>
    <p:sldId id="328" r:id="rId16"/>
    <p:sldId id="268" r:id="rId17"/>
    <p:sldId id="330" r:id="rId18"/>
    <p:sldId id="269" r:id="rId19"/>
    <p:sldId id="334" r:id="rId20"/>
    <p:sldId id="335" r:id="rId21"/>
    <p:sldId id="336" r:id="rId22"/>
    <p:sldId id="340" r:id="rId23"/>
    <p:sldId id="339" r:id="rId24"/>
    <p:sldId id="272" r:id="rId25"/>
    <p:sldId id="341" r:id="rId26"/>
    <p:sldId id="273" r:id="rId27"/>
    <p:sldId id="274" r:id="rId28"/>
    <p:sldId id="279" r:id="rId29"/>
    <p:sldId id="275" r:id="rId30"/>
    <p:sldId id="276" r:id="rId31"/>
    <p:sldId id="331" r:id="rId32"/>
    <p:sldId id="277" r:id="rId33"/>
    <p:sldId id="280" r:id="rId34"/>
    <p:sldId id="332" r:id="rId35"/>
    <p:sldId id="333" r:id="rId36"/>
    <p:sldId id="342" r:id="rId37"/>
    <p:sldId id="343" r:id="rId38"/>
    <p:sldId id="344" r:id="rId39"/>
    <p:sldId id="281" r:id="rId40"/>
    <p:sldId id="345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346" r:id="rId53"/>
    <p:sldId id="293" r:id="rId54"/>
    <p:sldId id="294" r:id="rId55"/>
    <p:sldId id="347" r:id="rId56"/>
    <p:sldId id="295" r:id="rId57"/>
    <p:sldId id="349" r:id="rId58"/>
    <p:sldId id="348" r:id="rId59"/>
    <p:sldId id="296" r:id="rId60"/>
    <p:sldId id="297" r:id="rId61"/>
    <p:sldId id="298" r:id="rId62"/>
    <p:sldId id="351" r:id="rId63"/>
    <p:sldId id="352" r:id="rId64"/>
    <p:sldId id="350" r:id="rId65"/>
    <p:sldId id="299" r:id="rId66"/>
    <p:sldId id="300" r:id="rId67"/>
    <p:sldId id="357" r:id="rId68"/>
    <p:sldId id="358" r:id="rId69"/>
    <p:sldId id="359" r:id="rId70"/>
    <p:sldId id="360" r:id="rId71"/>
    <p:sldId id="361" r:id="rId72"/>
    <p:sldId id="302" r:id="rId73"/>
    <p:sldId id="362" r:id="rId74"/>
    <p:sldId id="363" r:id="rId75"/>
    <p:sldId id="366" r:id="rId76"/>
    <p:sldId id="368" r:id="rId77"/>
    <p:sldId id="364" r:id="rId78"/>
    <p:sldId id="365" r:id="rId79"/>
    <p:sldId id="369" r:id="rId80"/>
    <p:sldId id="305" r:id="rId81"/>
    <p:sldId id="306" r:id="rId82"/>
    <p:sldId id="307" r:id="rId83"/>
    <p:sldId id="308" r:id="rId84"/>
    <p:sldId id="309" r:id="rId85"/>
    <p:sldId id="310" r:id="rId86"/>
    <p:sldId id="311" r:id="rId87"/>
    <p:sldId id="312" r:id="rId88"/>
    <p:sldId id="313" r:id="rId89"/>
    <p:sldId id="314" r:id="rId90"/>
    <p:sldId id="371" r:id="rId91"/>
    <p:sldId id="372" r:id="rId92"/>
    <p:sldId id="370" r:id="rId93"/>
    <p:sldId id="373" r:id="rId94"/>
    <p:sldId id="353" r:id="rId95"/>
    <p:sldId id="354" r:id="rId96"/>
    <p:sldId id="315" r:id="rId97"/>
    <p:sldId id="316" r:id="rId98"/>
    <p:sldId id="317" r:id="rId99"/>
    <p:sldId id="318" r:id="rId100"/>
    <p:sldId id="319" r:id="rId101"/>
    <p:sldId id="320" r:id="rId102"/>
    <p:sldId id="321" r:id="rId103"/>
    <p:sldId id="322" r:id="rId104"/>
    <p:sldId id="323" r:id="rId105"/>
    <p:sldId id="324" r:id="rId106"/>
    <p:sldId id="325" r:id="rId107"/>
    <p:sldId id="326" r:id="rId10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1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notesMaster" Target="notesMasters/notes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C70AEE-C1B6-491F-902F-72A30C88992E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A5318-6D5B-4A59-B2F3-EE4EF30C01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910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BA5318-6D5B-4A59-B2F3-EE4EF30C01CD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576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3C96-796A-44A9-B83F-14AE241713D1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83AD1-783A-444F-8035-9FBFB1EBA3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360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3C96-796A-44A9-B83F-14AE241713D1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83AD1-783A-444F-8035-9FBFB1EBA3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490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3C96-796A-44A9-B83F-14AE241713D1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83AD1-783A-444F-8035-9FBFB1EBA3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530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3C96-796A-44A9-B83F-14AE241713D1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83AD1-783A-444F-8035-9FBFB1EBA3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97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3C96-796A-44A9-B83F-14AE241713D1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83AD1-783A-444F-8035-9FBFB1EBA3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757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3C96-796A-44A9-B83F-14AE241713D1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83AD1-783A-444F-8035-9FBFB1EBA3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235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3C96-796A-44A9-B83F-14AE241713D1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83AD1-783A-444F-8035-9FBFB1EBA3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096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3C96-796A-44A9-B83F-14AE241713D1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83AD1-783A-444F-8035-9FBFB1EBA3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963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3C96-796A-44A9-B83F-14AE241713D1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83AD1-783A-444F-8035-9FBFB1EBA3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9772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3C96-796A-44A9-B83F-14AE241713D1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83AD1-783A-444F-8035-9FBFB1EBA3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804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3C96-796A-44A9-B83F-14AE241713D1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83AD1-783A-444F-8035-9FBFB1EBA3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671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43C96-796A-44A9-B83F-14AE241713D1}" type="datetimeFigureOut">
              <a:rPr lang="en-GB" smtClean="0"/>
              <a:t>09/12/2024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83AD1-783A-444F-8035-9FBFB1EBA3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877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>
                <a:latin typeface="Arial Black" pitchFamily="34" charset="0"/>
              </a:rPr>
              <a:t>Anaesthesia for orthopaedics surgery </a:t>
            </a:r>
            <a:endParaRPr lang="en-GB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1"/>
            <a:r>
              <a:rPr lang="en-GB" b="1" dirty="0" smtClean="0">
                <a:solidFill>
                  <a:schemeClr val="tx1"/>
                </a:solidFill>
                <a:latin typeface="Arial Narrow" pitchFamily="34" charset="0"/>
              </a:rPr>
              <a:t>By </a:t>
            </a:r>
            <a:r>
              <a:rPr lang="en-GB" b="1" dirty="0" err="1" smtClean="0">
                <a:solidFill>
                  <a:schemeClr val="tx1"/>
                </a:solidFill>
                <a:latin typeface="Arial Narrow" pitchFamily="34" charset="0"/>
              </a:rPr>
              <a:t>wubayehu</a:t>
            </a:r>
            <a:r>
              <a:rPr lang="en-GB" b="1" dirty="0" smtClean="0">
                <a:solidFill>
                  <a:schemeClr val="tx1"/>
                </a:solidFill>
                <a:latin typeface="Arial Narrow" pitchFamily="34" charset="0"/>
              </a:rPr>
              <a:t> </a:t>
            </a:r>
            <a:r>
              <a:rPr lang="en-GB" b="1" dirty="0" err="1" smtClean="0">
                <a:solidFill>
                  <a:schemeClr val="tx1"/>
                </a:solidFill>
                <a:latin typeface="Arial Narrow" pitchFamily="34" charset="0"/>
              </a:rPr>
              <a:t>Amare</a:t>
            </a:r>
            <a:r>
              <a:rPr lang="en-GB" b="1" dirty="0" smtClean="0">
                <a:solidFill>
                  <a:schemeClr val="tx1"/>
                </a:solidFill>
                <a:latin typeface="Arial Narrow" pitchFamily="34" charset="0"/>
              </a:rPr>
              <a:t> ( </a:t>
            </a:r>
            <a:r>
              <a:rPr lang="en-GB" b="1" dirty="0" err="1" smtClean="0">
                <a:solidFill>
                  <a:schemeClr val="tx1"/>
                </a:solidFill>
                <a:latin typeface="Arial Narrow" pitchFamily="34" charset="0"/>
              </a:rPr>
              <a:t>Msc</a:t>
            </a:r>
            <a:r>
              <a:rPr lang="en-GB" b="1" dirty="0" smtClean="0">
                <a:solidFill>
                  <a:schemeClr val="tx1"/>
                </a:solidFill>
                <a:latin typeface="Arial Narrow" pitchFamily="34" charset="0"/>
              </a:rPr>
              <a:t>, lecturer)</a:t>
            </a:r>
            <a:endParaRPr lang="en-GB" b="1" dirty="0">
              <a:solidFill>
                <a:schemeClr val="tx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561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778098"/>
          </a:xfrm>
        </p:spPr>
        <p:txBody>
          <a:bodyPr/>
          <a:lstStyle/>
          <a:p>
            <a:r>
              <a:rPr lang="en-US" dirty="0" smtClean="0"/>
              <a:t>Out line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Introduction of orthopedic surgery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 Anesthesia challenge during orthopedic surgery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Fat embolism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VTE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BCIS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Tourniquet application </a:t>
            </a:r>
            <a:endParaRPr lang="en-US" sz="32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901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634082"/>
          </a:xfrm>
        </p:spPr>
        <p:txBody>
          <a:bodyPr>
            <a:normAutofit fontScale="90000"/>
          </a:bodyPr>
          <a:lstStyle/>
          <a:p>
            <a:r>
              <a:rPr lang="en-GB" dirty="0" smtClean="0">
                <a:latin typeface="Arial Black" pitchFamily="34" charset="0"/>
              </a:rPr>
              <a:t>Introduction </a:t>
            </a:r>
            <a:endParaRPr lang="en-GB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80728"/>
            <a:ext cx="8784976" cy="514543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Orthopaedics surgery is a specialized field of medicine focused on diagnosing, treating, and rehabilitating conditions related to the musculoskeletal system, which includes bones, joints, ligaments, tendons, muscles, and nerves. 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The musculoskeletal system is essential for movement and stability, and problems in this system can lead to significant pain, discomfort, and a loss of mobility. </a:t>
            </a: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23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08720"/>
            <a:ext cx="8784976" cy="521744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Musculoskeletal disorders (MSDs) are among the most common causes of disability worldwide. 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These conditions include a broad range of issues such as arthritis, </a:t>
            </a:r>
            <a:r>
              <a:rPr lang="en-GB" b="1" dirty="0">
                <a:latin typeface="Gabriola" pitchFamily="82" charset="0"/>
              </a:rPr>
              <a:t>osteoporosis, spinal disorders, fractures, and injuries</a:t>
            </a:r>
            <a:r>
              <a:rPr lang="en-GB" dirty="0">
                <a:latin typeface="Gabriola" pitchFamily="82" charset="0"/>
              </a:rPr>
              <a:t>, which can lead to severe pain and limited mobility.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861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20688"/>
            <a:ext cx="8640960" cy="62373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According to the </a:t>
            </a:r>
            <a:r>
              <a:rPr lang="en-GB" b="1" dirty="0" smtClean="0">
                <a:latin typeface="Gabriola" pitchFamily="82" charset="0"/>
              </a:rPr>
              <a:t>WHO</a:t>
            </a:r>
            <a:r>
              <a:rPr lang="en-GB" dirty="0" smtClean="0">
                <a:latin typeface="Gabriola" pitchFamily="82" charset="0"/>
              </a:rPr>
              <a:t>, approximately </a:t>
            </a:r>
            <a:r>
              <a:rPr lang="en-GB" b="1" dirty="0" smtClean="0">
                <a:latin typeface="Gabriola" pitchFamily="82" charset="0"/>
              </a:rPr>
              <a:t>1.71 billion people</a:t>
            </a:r>
            <a:r>
              <a:rPr lang="en-GB" dirty="0" smtClean="0">
                <a:latin typeface="Gabriola" pitchFamily="82" charset="0"/>
              </a:rPr>
              <a:t> suffer from musculoskeletal conditions globally, and these conditions are the leading cause of disability.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Gabriola" pitchFamily="82" charset="0"/>
              </a:rPr>
              <a:t>Osteoarthritis (OA):</a:t>
            </a:r>
            <a:r>
              <a:rPr lang="en-GB" dirty="0">
                <a:latin typeface="Gabriola" pitchFamily="82" charset="0"/>
              </a:rPr>
              <a:t> OA is one of the most common musculoskeletal disorders, particularly among the elderly. 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015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634082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92696"/>
            <a:ext cx="8496944" cy="5688632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An estimated </a:t>
            </a:r>
            <a:r>
              <a:rPr lang="en-GB" sz="3200" b="1" dirty="0" smtClean="0">
                <a:latin typeface="Gabriola" pitchFamily="82" charset="0"/>
              </a:rPr>
              <a:t>9.6% of men and 18% of women over the age of 60</a:t>
            </a:r>
            <a:r>
              <a:rPr lang="en-GB" sz="3200" dirty="0" smtClean="0">
                <a:latin typeface="Gabriola" pitchFamily="82" charset="0"/>
              </a:rPr>
              <a:t> are affected by OA globally.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Spinal </a:t>
            </a:r>
            <a:r>
              <a:rPr lang="en-GB" dirty="0" err="1" smtClean="0">
                <a:latin typeface="Gabriola" pitchFamily="82" charset="0"/>
              </a:rPr>
              <a:t>Disorders:low</a:t>
            </a:r>
            <a:r>
              <a:rPr lang="en-GB" dirty="0" smtClean="0">
                <a:latin typeface="Gabriola" pitchFamily="82" charset="0"/>
              </a:rPr>
              <a:t> back pain is estimated to affect </a:t>
            </a:r>
            <a:r>
              <a:rPr lang="en-GB" b="1" dirty="0" smtClean="0">
                <a:latin typeface="Gabriola" pitchFamily="82" charset="0"/>
              </a:rPr>
              <a:t>7.5% of the population</a:t>
            </a:r>
            <a:r>
              <a:rPr lang="en-GB" dirty="0" smtClean="0">
                <a:latin typeface="Gabriola" pitchFamily="82" charset="0"/>
              </a:rPr>
              <a:t>, making it the leading cause of disability.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776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274638"/>
            <a:ext cx="8651304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692696"/>
            <a:ext cx="8579296" cy="54334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Fractures and Injuries:</a:t>
            </a:r>
            <a:r>
              <a:rPr lang="en-GB" dirty="0" smtClean="0">
                <a:latin typeface="Gabriola" pitchFamily="82" charset="0"/>
              </a:rPr>
              <a:t> </a:t>
            </a:r>
            <a:r>
              <a:rPr lang="en-GB" dirty="0" err="1" smtClean="0">
                <a:latin typeface="Gabriola" pitchFamily="82" charset="0"/>
              </a:rPr>
              <a:t>Orthopedic</a:t>
            </a:r>
            <a:r>
              <a:rPr lang="en-GB" dirty="0" smtClean="0">
                <a:latin typeface="Gabriola" pitchFamily="82" charset="0"/>
              </a:rPr>
              <a:t> injuries, including fractures and soft tissue injuries, are common worldwide due to accidents, falls, and sports. </a:t>
            </a:r>
          </a:p>
          <a:p>
            <a:pPr lvl="1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Hip fractures</a:t>
            </a:r>
            <a:r>
              <a:rPr lang="en-GB" sz="3200" dirty="0" smtClean="0">
                <a:latin typeface="Gabriola" pitchFamily="82" charset="0"/>
              </a:rPr>
              <a:t> are particularly prevalent among older adults, with the global incidence of hip fractures expected to rise as the population ages.</a:t>
            </a:r>
            <a:endParaRPr lang="en-GB" sz="32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484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764704"/>
            <a:ext cx="8964488" cy="576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Common Conditions Treated in </a:t>
            </a:r>
            <a:r>
              <a:rPr lang="en-GB" b="1" dirty="0" err="1" smtClean="0">
                <a:latin typeface="Gabriola" pitchFamily="82" charset="0"/>
              </a:rPr>
              <a:t>Orthopedic</a:t>
            </a:r>
            <a:r>
              <a:rPr lang="en-GB" b="1" dirty="0" smtClean="0">
                <a:latin typeface="Gabriola" pitchFamily="82" charset="0"/>
              </a:rPr>
              <a:t> Surgery:</a:t>
            </a:r>
          </a:p>
          <a:p>
            <a:pPr lvl="1">
              <a:lnSpc>
                <a:spcPct val="150000"/>
              </a:lnSpc>
            </a:pPr>
            <a:r>
              <a:rPr lang="en-GB" sz="3000" dirty="0" smtClean="0">
                <a:latin typeface="Gabriola" pitchFamily="82" charset="0"/>
              </a:rPr>
              <a:t>Fractures and Broken Bones.</a:t>
            </a:r>
          </a:p>
          <a:p>
            <a:pPr lvl="1">
              <a:lnSpc>
                <a:spcPct val="150000"/>
              </a:lnSpc>
            </a:pPr>
            <a:r>
              <a:rPr lang="en-GB" sz="3000" dirty="0" smtClean="0">
                <a:latin typeface="Gabriola" pitchFamily="82" charset="0"/>
              </a:rPr>
              <a:t>Arthritis</a:t>
            </a:r>
          </a:p>
          <a:p>
            <a:pPr lvl="1">
              <a:lnSpc>
                <a:spcPct val="150000"/>
              </a:lnSpc>
            </a:pPr>
            <a:r>
              <a:rPr lang="en-GB" sz="3000" dirty="0" smtClean="0">
                <a:latin typeface="Gabriola" pitchFamily="82" charset="0"/>
              </a:rPr>
              <a:t>Sports Injuries – Injuries such as ligament tears (e.g., ACL) or tendon injuries (e.g., rotator cuff injuries).</a:t>
            </a:r>
          </a:p>
          <a:p>
            <a:pPr lvl="1">
              <a:lnSpc>
                <a:spcPct val="150000"/>
              </a:lnSpc>
            </a:pPr>
            <a:r>
              <a:rPr lang="en-GB" sz="3000" dirty="0" smtClean="0">
                <a:latin typeface="Gabriola" pitchFamily="82" charset="0"/>
              </a:rPr>
              <a:t>Spinal Disorders </a:t>
            </a:r>
          </a:p>
          <a:p>
            <a:pPr lvl="1">
              <a:lnSpc>
                <a:spcPct val="150000"/>
              </a:lnSpc>
            </a:pPr>
            <a:r>
              <a:rPr lang="en-GB" sz="3000" dirty="0" smtClean="0">
                <a:latin typeface="Gabriola" pitchFamily="82" charset="0"/>
              </a:rPr>
              <a:t>Joint Replacement</a:t>
            </a:r>
            <a:endParaRPr lang="en-GB" sz="30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702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400600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sz="3000" dirty="0" smtClean="0">
                <a:latin typeface="Gabriola" pitchFamily="82" charset="0"/>
              </a:rPr>
              <a:t>Tendon and Ligament Repairs.</a:t>
            </a:r>
          </a:p>
          <a:p>
            <a:pPr lvl="1">
              <a:lnSpc>
                <a:spcPct val="150000"/>
              </a:lnSpc>
            </a:pPr>
            <a:r>
              <a:rPr lang="en-GB" sz="3000" dirty="0" smtClean="0">
                <a:latin typeface="Gabriola" pitchFamily="82" charset="0"/>
              </a:rPr>
              <a:t>Congenital Deformities – Treatment for conditions like clubfoot or scoliosis in children.</a:t>
            </a:r>
          </a:p>
          <a:p>
            <a:pPr lvl="1">
              <a:lnSpc>
                <a:spcPct val="150000"/>
              </a:lnSpc>
            </a:pPr>
            <a:r>
              <a:rPr lang="en-GB" sz="3000" dirty="0" smtClean="0">
                <a:latin typeface="Gabriola" pitchFamily="82" charset="0"/>
              </a:rPr>
              <a:t>Bone </a:t>
            </a:r>
            <a:r>
              <a:rPr lang="en-GB" sz="3000" dirty="0" err="1" smtClean="0">
                <a:latin typeface="Gabriola" pitchFamily="82" charset="0"/>
              </a:rPr>
              <a:t>Tumors</a:t>
            </a:r>
            <a:r>
              <a:rPr lang="en-GB" sz="3000" dirty="0" smtClean="0">
                <a:latin typeface="Gabriola" pitchFamily="82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GB" sz="3000" dirty="0" smtClean="0">
                <a:latin typeface="Gabriola" pitchFamily="82" charset="0"/>
              </a:rPr>
              <a:t>Carpal Tunnel Syndrome – Surgery to relieve compression of nerves in the wrist.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214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274042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8686800" cy="5505475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sz="3000" b="1" dirty="0" smtClean="0">
                <a:latin typeface="Gabriola" pitchFamily="82" charset="0"/>
              </a:rPr>
              <a:t>Types of </a:t>
            </a:r>
            <a:r>
              <a:rPr lang="en-GB" sz="3000" b="1" dirty="0" err="1" smtClean="0">
                <a:latin typeface="Gabriola" pitchFamily="82" charset="0"/>
              </a:rPr>
              <a:t>Orthopedic</a:t>
            </a:r>
            <a:r>
              <a:rPr lang="en-GB" sz="3000" b="1" dirty="0" smtClean="0">
                <a:latin typeface="Gabriola" pitchFamily="82" charset="0"/>
              </a:rPr>
              <a:t> Surgeries:</a:t>
            </a:r>
          </a:p>
          <a:p>
            <a:pPr lvl="1">
              <a:lnSpc>
                <a:spcPct val="160000"/>
              </a:lnSpc>
            </a:pPr>
            <a:r>
              <a:rPr lang="en-GB" sz="3000" dirty="0" smtClean="0">
                <a:latin typeface="Gabriola" pitchFamily="82" charset="0"/>
              </a:rPr>
              <a:t>Arthroscopy </a:t>
            </a:r>
          </a:p>
          <a:p>
            <a:pPr lvl="1">
              <a:lnSpc>
                <a:spcPct val="160000"/>
              </a:lnSpc>
            </a:pPr>
            <a:r>
              <a:rPr lang="en-GB" sz="3000" dirty="0" smtClean="0">
                <a:latin typeface="Gabriola" pitchFamily="82" charset="0"/>
              </a:rPr>
              <a:t>Fracture Repair.</a:t>
            </a:r>
          </a:p>
          <a:p>
            <a:pPr lvl="1">
              <a:lnSpc>
                <a:spcPct val="160000"/>
              </a:lnSpc>
            </a:pPr>
            <a:r>
              <a:rPr lang="en-GB" sz="3000" dirty="0" smtClean="0">
                <a:latin typeface="Gabriola" pitchFamily="82" charset="0"/>
              </a:rPr>
              <a:t>Joint Replacement </a:t>
            </a:r>
          </a:p>
          <a:p>
            <a:pPr lvl="1">
              <a:lnSpc>
                <a:spcPct val="160000"/>
              </a:lnSpc>
            </a:pPr>
            <a:r>
              <a:rPr lang="en-GB" sz="3000" dirty="0" smtClean="0">
                <a:latin typeface="Gabriola" pitchFamily="82" charset="0"/>
              </a:rPr>
              <a:t>Spinal Surgery </a:t>
            </a:r>
          </a:p>
          <a:p>
            <a:pPr lvl="1">
              <a:lnSpc>
                <a:spcPct val="160000"/>
              </a:lnSpc>
            </a:pPr>
            <a:r>
              <a:rPr lang="en-GB" sz="3000" dirty="0" smtClean="0">
                <a:latin typeface="Gabriola" pitchFamily="82" charset="0"/>
              </a:rPr>
              <a:t>Soft Tissue Surgery</a:t>
            </a:r>
            <a:endParaRPr lang="en-GB" sz="30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331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332656"/>
            <a:ext cx="8579296" cy="634082"/>
          </a:xfrm>
        </p:spPr>
        <p:txBody>
          <a:bodyPr>
            <a:noAutofit/>
          </a:bodyPr>
          <a:lstStyle/>
          <a:p>
            <a:r>
              <a:rPr lang="en-GB" sz="3200" dirty="0" smtClean="0">
                <a:latin typeface="Arial Black" pitchFamily="34" charset="0"/>
              </a:rPr>
              <a:t>Anaesthesia to orthopaedic surgery </a:t>
            </a:r>
            <a:endParaRPr lang="en-GB" sz="32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24744"/>
            <a:ext cx="8928992" cy="54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000" dirty="0" err="1" smtClean="0">
                <a:latin typeface="Gabriola" pitchFamily="82" charset="0"/>
              </a:rPr>
              <a:t>Orthopedic</a:t>
            </a:r>
            <a:r>
              <a:rPr lang="en-GB" sz="3000" dirty="0" smtClean="0">
                <a:latin typeface="Gabriola" pitchFamily="82" charset="0"/>
              </a:rPr>
              <a:t> surgery encompasses a wide range of procedures for patients of all ages.</a:t>
            </a:r>
          </a:p>
          <a:p>
            <a:pPr>
              <a:lnSpc>
                <a:spcPct val="150000"/>
              </a:lnSpc>
            </a:pPr>
            <a:r>
              <a:rPr lang="en-GB" sz="3000" b="1" dirty="0" smtClean="0">
                <a:latin typeface="Gabriola" pitchFamily="82" charset="0"/>
              </a:rPr>
              <a:t>Patient Demographics</a:t>
            </a:r>
            <a:r>
              <a:rPr lang="en-GB" sz="30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3000" b="1" dirty="0" smtClean="0">
                <a:latin typeface="Gabriola" pitchFamily="82" charset="0"/>
              </a:rPr>
              <a:t>Neonates</a:t>
            </a:r>
            <a:r>
              <a:rPr lang="en-GB" sz="3000" dirty="0" smtClean="0">
                <a:latin typeface="Gabriola" pitchFamily="82" charset="0"/>
              </a:rPr>
              <a:t> with congenital limb deformities (e.g., clubfoot, hip dysplasia)</a:t>
            </a:r>
          </a:p>
          <a:p>
            <a:pPr lvl="1">
              <a:lnSpc>
                <a:spcPct val="150000"/>
              </a:lnSpc>
            </a:pPr>
            <a:r>
              <a:rPr lang="en-GB" sz="3000" b="1" dirty="0" smtClean="0">
                <a:latin typeface="Gabriola" pitchFamily="82" charset="0"/>
              </a:rPr>
              <a:t>Children and Adolescents</a:t>
            </a:r>
            <a:r>
              <a:rPr lang="en-GB" sz="3000" dirty="0" smtClean="0">
                <a:latin typeface="Gabriola" pitchFamily="82" charset="0"/>
              </a:rPr>
              <a:t> with sports-related injuries (e.g., fractures, ligament tears)</a:t>
            </a:r>
          </a:p>
        </p:txBody>
      </p:sp>
    </p:spTree>
    <p:extLst>
      <p:ext uri="{BB962C8B-B14F-4D97-AF65-F5344CB8AC3E}">
        <p14:creationId xmlns:p14="http://schemas.microsoft.com/office/powerpoint/2010/main" val="1075158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836712"/>
            <a:ext cx="8291264" cy="5289451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sz="3000" b="1" dirty="0">
                <a:latin typeface="Gabriola" pitchFamily="82" charset="0"/>
              </a:rPr>
              <a:t>Adults</a:t>
            </a:r>
            <a:r>
              <a:rPr lang="en-GB" sz="3000" dirty="0">
                <a:latin typeface="Gabriola" pitchFamily="82" charset="0"/>
              </a:rPr>
              <a:t> undergoing joint replacements (e.g., hip, knee), fracture fixation, soft tissue mass </a:t>
            </a:r>
            <a:r>
              <a:rPr lang="en-GB" sz="3000" dirty="0" smtClean="0">
                <a:latin typeface="Gabriola" pitchFamily="82" charset="0"/>
              </a:rPr>
              <a:t>excision</a:t>
            </a:r>
            <a:endParaRPr lang="en-GB" sz="3000" b="1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000" b="1" dirty="0" smtClean="0">
                <a:latin typeface="Gabriola" pitchFamily="82" charset="0"/>
              </a:rPr>
              <a:t>Elderly</a:t>
            </a:r>
            <a:r>
              <a:rPr lang="en-GB" sz="3000" dirty="0" smtClean="0">
                <a:latin typeface="Gabriola" pitchFamily="82" charset="0"/>
              </a:rPr>
              <a:t> patients with fractures due to osteoporosis, joint replacements, or bone cancer</a:t>
            </a:r>
          </a:p>
          <a:p>
            <a:pPr>
              <a:lnSpc>
                <a:spcPct val="150000"/>
              </a:lnSpc>
            </a:pPr>
            <a:r>
              <a:rPr lang="en-GB" sz="3000" b="1" dirty="0" smtClean="0">
                <a:latin typeface="Gabriola" pitchFamily="82" charset="0"/>
              </a:rPr>
              <a:t>Challenges for Anaesthesia Providers</a:t>
            </a:r>
            <a:r>
              <a:rPr lang="en-GB" sz="3000" dirty="0" smtClean="0">
                <a:latin typeface="Gabriola" pitchFamily="82" charset="0"/>
              </a:rPr>
              <a:t>: Managing varied patient profiles and the complexity of orthopaedic procedures.</a:t>
            </a:r>
            <a:endParaRPr lang="en-GB" sz="30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978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892480" cy="5400600"/>
          </a:xfrm>
        </p:spPr>
        <p:txBody>
          <a:bodyPr>
            <a:normAutofit/>
          </a:bodyPr>
          <a:lstStyle/>
          <a:p>
            <a:r>
              <a:rPr lang="en-GB" sz="2800" b="1" dirty="0" smtClean="0">
                <a:latin typeface="Gabriola" pitchFamily="82" charset="0"/>
              </a:rPr>
              <a:t>Challenges in </a:t>
            </a:r>
            <a:r>
              <a:rPr lang="en-GB" sz="2800" b="1" dirty="0" err="1" smtClean="0">
                <a:latin typeface="Gabriola" pitchFamily="82" charset="0"/>
              </a:rPr>
              <a:t>Orthopedic</a:t>
            </a:r>
            <a:r>
              <a:rPr lang="en-GB" sz="2800" b="1" dirty="0" smtClean="0">
                <a:latin typeface="Gabriola" pitchFamily="82" charset="0"/>
              </a:rPr>
              <a:t> Surgery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GB" b="1" dirty="0" smtClean="0">
                <a:latin typeface="Gabriola" pitchFamily="82" charset="0"/>
              </a:rPr>
              <a:t>1. Fat Embolism Syndrome (FES)</a:t>
            </a:r>
            <a:endParaRPr lang="en-GB" dirty="0" smtClean="0">
              <a:latin typeface="Gabriola" pitchFamily="82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GB" b="1" dirty="0" smtClean="0">
                <a:latin typeface="Gabriola" pitchFamily="82" charset="0"/>
              </a:rPr>
              <a:t>2. Venous Thromboembolism (VTE) Risk</a:t>
            </a:r>
            <a:endParaRPr lang="en-GB" dirty="0" smtClean="0">
              <a:latin typeface="Gabriola" pitchFamily="82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GB" b="1" dirty="0" smtClean="0">
                <a:latin typeface="Gabriola" pitchFamily="82" charset="0"/>
              </a:rPr>
              <a:t>3. Hemodynamic Instability (Bone Cement Use)</a:t>
            </a:r>
            <a:endParaRPr lang="en-GB" dirty="0" smtClean="0">
              <a:latin typeface="Gabriola" pitchFamily="82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GB" b="1" dirty="0" smtClean="0">
                <a:latin typeface="Gabriola" pitchFamily="82" charset="0"/>
              </a:rPr>
              <a:t>4. Limb Tourniquet Risks</a:t>
            </a:r>
            <a:endParaRPr lang="en-GB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sz="2800" b="1" dirty="0" err="1" smtClean="0">
                <a:latin typeface="Gabriola" pitchFamily="82" charset="0"/>
              </a:rPr>
              <a:t>Anesthesia</a:t>
            </a:r>
            <a:r>
              <a:rPr lang="en-GB" sz="2800" b="1" dirty="0" smtClean="0">
                <a:latin typeface="Gabriola" pitchFamily="82" charset="0"/>
              </a:rPr>
              <a:t> Goals</a:t>
            </a:r>
            <a:r>
              <a:rPr lang="en-GB" sz="2800" dirty="0" smtClean="0">
                <a:latin typeface="Gabriola" pitchFamily="82" charset="0"/>
              </a:rPr>
              <a:t>: Safely manage these risks while optimizing recovery and postoperative care.</a:t>
            </a:r>
          </a:p>
          <a:p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7710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ctr" rtl="0">
              <a:spcBef>
                <a:spcPct val="0"/>
              </a:spcBef>
            </a:pPr>
            <a:r>
              <a:rPr lang="en-GB" sz="4000" b="1" dirty="0" smtClean="0">
                <a:latin typeface="Gabriola" pitchFamily="82" charset="0"/>
              </a:rPr>
              <a:t>1. Fat Embolism Syndrome (FES)</a:t>
            </a:r>
            <a:r>
              <a:rPr lang="en-GB" dirty="0" smtClean="0">
                <a:latin typeface="Gabriola" pitchFamily="82" charset="0"/>
              </a:rPr>
              <a:t/>
            </a:r>
            <a:br>
              <a:rPr lang="en-GB" dirty="0" smtClean="0">
                <a:latin typeface="Gabriola" pitchFamily="82" charset="0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568952" cy="5328592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sz="2800" dirty="0" smtClean="0">
                <a:latin typeface="Gabriola" pitchFamily="82" charset="0"/>
              </a:rPr>
              <a:t>Fat Embolism Syndrome (FES) is a life-threatening condition</a:t>
            </a:r>
          </a:p>
          <a:p>
            <a:pPr>
              <a:lnSpc>
                <a:spcPct val="160000"/>
              </a:lnSpc>
            </a:pPr>
            <a:r>
              <a:rPr lang="en-US" sz="2800" dirty="0">
                <a:latin typeface="Gabriola" pitchFamily="82" charset="0"/>
              </a:rPr>
              <a:t>The term fat embolism indicates the often asymptomatic presence of fat globules in the lung parenchyma and peripheral circulation after long bone or other major </a:t>
            </a:r>
            <a:r>
              <a:rPr lang="en-US" sz="2800" dirty="0" smtClean="0">
                <a:latin typeface="Gabriola" pitchFamily="82" charset="0"/>
              </a:rPr>
              <a:t>trauma</a:t>
            </a:r>
          </a:p>
          <a:p>
            <a:pPr>
              <a:lnSpc>
                <a:spcPct val="160000"/>
              </a:lnSpc>
            </a:pPr>
            <a:r>
              <a:rPr lang="en-GB" sz="2800" dirty="0" smtClean="0">
                <a:latin typeface="Gabriola" pitchFamily="82" charset="0"/>
              </a:rPr>
              <a:t>This typically occurs after </a:t>
            </a:r>
            <a:r>
              <a:rPr lang="en-GB" sz="2800" b="1" dirty="0" smtClean="0">
                <a:latin typeface="Gabriola" pitchFamily="82" charset="0"/>
              </a:rPr>
              <a:t>long bone fractures</a:t>
            </a:r>
            <a:r>
              <a:rPr lang="en-GB" sz="2800" dirty="0" smtClean="0">
                <a:latin typeface="Gabriola" pitchFamily="82" charset="0"/>
              </a:rPr>
              <a:t>, especially those involving the </a:t>
            </a:r>
            <a:r>
              <a:rPr lang="en-GB" sz="2800" b="1" dirty="0" smtClean="0">
                <a:latin typeface="Gabriola" pitchFamily="82" charset="0"/>
              </a:rPr>
              <a:t>femur</a:t>
            </a:r>
            <a:r>
              <a:rPr lang="en-GB" sz="2800" dirty="0" smtClean="0">
                <a:latin typeface="Gabriola" pitchFamily="82" charset="0"/>
              </a:rPr>
              <a:t>, </a:t>
            </a:r>
            <a:r>
              <a:rPr lang="en-GB" sz="2800" b="1" dirty="0" smtClean="0">
                <a:latin typeface="Gabriola" pitchFamily="82" charset="0"/>
              </a:rPr>
              <a:t>tibia</a:t>
            </a:r>
            <a:r>
              <a:rPr lang="en-GB" sz="2800" dirty="0" smtClean="0">
                <a:latin typeface="Gabriola" pitchFamily="82" charset="0"/>
              </a:rPr>
              <a:t>, and </a:t>
            </a:r>
            <a:r>
              <a:rPr lang="en-GB" sz="2800" b="1" dirty="0" smtClean="0">
                <a:latin typeface="Gabriola" pitchFamily="82" charset="0"/>
              </a:rPr>
              <a:t>pelvis</a:t>
            </a:r>
            <a:r>
              <a:rPr lang="en-GB" sz="2800" dirty="0" smtClean="0">
                <a:latin typeface="Gabriola" pitchFamily="82" charset="0"/>
              </a:rPr>
              <a:t>, as well as fractures in large bones or severe trauma. </a:t>
            </a:r>
          </a:p>
        </p:txBody>
      </p:sp>
    </p:spTree>
    <p:extLst>
      <p:ext uri="{BB962C8B-B14F-4D97-AF65-F5344CB8AC3E}">
        <p14:creationId xmlns:p14="http://schemas.microsoft.com/office/powerpoint/2010/main" val="1218839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8856984" cy="576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The </a:t>
            </a:r>
            <a:r>
              <a:rPr lang="en-US" dirty="0">
                <a:latin typeface="Gabriola" pitchFamily="82" charset="0"/>
              </a:rPr>
              <a:t>majority (95%) </a:t>
            </a:r>
            <a:r>
              <a:rPr lang="en-US" dirty="0" smtClean="0">
                <a:latin typeface="Gabriola" pitchFamily="82" charset="0"/>
              </a:rPr>
              <a:t>of cases </a:t>
            </a:r>
            <a:r>
              <a:rPr lang="en-US" dirty="0">
                <a:latin typeface="Gabriola" pitchFamily="82" charset="0"/>
              </a:rPr>
              <a:t>occur after major trauma</a:t>
            </a:r>
            <a:r>
              <a:rPr lang="en-US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It is most commonly </a:t>
            </a:r>
            <a:r>
              <a:rPr lang="en-US" dirty="0" smtClean="0">
                <a:latin typeface="Gabriola" pitchFamily="82" charset="0"/>
              </a:rPr>
              <a:t>associated with </a:t>
            </a:r>
            <a:r>
              <a:rPr lang="en-US" dirty="0">
                <a:latin typeface="Gabriola" pitchFamily="82" charset="0"/>
              </a:rPr>
              <a:t>fractures of long bones and the pelvis, </a:t>
            </a:r>
            <a:r>
              <a:rPr lang="en-US" dirty="0" smtClean="0">
                <a:latin typeface="Gabriola" pitchFamily="82" charset="0"/>
              </a:rPr>
              <a:t>and is </a:t>
            </a:r>
            <a:r>
              <a:rPr lang="en-US" dirty="0">
                <a:latin typeface="Gabriola" pitchFamily="82" charset="0"/>
              </a:rPr>
              <a:t>more frequent in closed, rather than </a:t>
            </a:r>
            <a:r>
              <a:rPr lang="en-US" dirty="0" smtClean="0">
                <a:latin typeface="Gabriola" pitchFamily="82" charset="0"/>
              </a:rPr>
              <a:t>open, fractures</a:t>
            </a:r>
            <a:r>
              <a:rPr lang="en-US" dirty="0">
                <a:latin typeface="Gabriola" pitchFamily="82" charset="0"/>
              </a:rPr>
              <a:t>. </a:t>
            </a:r>
            <a:endParaRPr lang="en-US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The </a:t>
            </a:r>
            <a:r>
              <a:rPr lang="en-US" dirty="0">
                <a:latin typeface="Gabriola" pitchFamily="82" charset="0"/>
              </a:rPr>
              <a:t>incidence increases with </a:t>
            </a:r>
            <a:r>
              <a:rPr lang="en-US" dirty="0" smtClean="0">
                <a:latin typeface="Gabriola" pitchFamily="82" charset="0"/>
              </a:rPr>
              <a:t>the number </a:t>
            </a:r>
            <a:r>
              <a:rPr lang="en-US" dirty="0">
                <a:latin typeface="Gabriola" pitchFamily="82" charset="0"/>
              </a:rPr>
              <a:t>of fractures involved</a:t>
            </a:r>
            <a:r>
              <a:rPr lang="en-US" dirty="0" smtClean="0">
                <a:latin typeface="Gabriola" pitchFamily="8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2495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712968" cy="5688632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en-US" dirty="0">
                <a:latin typeface="Gabriola" pitchFamily="82" charset="0"/>
              </a:rPr>
              <a:t>Fat embolism syndrome can also occur in relation to other trauma, for example, soft tissue injury, liposuction, bone marrow </a:t>
            </a:r>
            <a:r>
              <a:rPr lang="en-US" dirty="0" smtClean="0">
                <a:latin typeface="Gabriola" pitchFamily="82" charset="0"/>
              </a:rPr>
              <a:t>harvest</a:t>
            </a:r>
            <a:endParaRPr lang="en-GB" dirty="0" smtClean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The fat globules obstruct small blood vessels, leading to respiratory distress, hypoxia, and neurological symptoms. </a:t>
            </a:r>
          </a:p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FES can also occur during </a:t>
            </a:r>
            <a:r>
              <a:rPr lang="en-GB" dirty="0" err="1" smtClean="0">
                <a:latin typeface="Gabriola" pitchFamily="82" charset="0"/>
              </a:rPr>
              <a:t>orthopedic</a:t>
            </a:r>
            <a:r>
              <a:rPr lang="en-GB" dirty="0" smtClean="0">
                <a:latin typeface="Gabriola" pitchFamily="82" charset="0"/>
              </a:rPr>
              <a:t> procedures that involve manipulation of bones or bone marrow.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04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77809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latin typeface="Times" pitchFamily="18" charset="0"/>
                <a:cs typeface="Times" pitchFamily="18" charset="0"/>
              </a:rPr>
              <a:t>Conditions </a:t>
            </a:r>
            <a:r>
              <a:rPr lang="en-US" dirty="0">
                <a:latin typeface="Times" pitchFamily="18" charset="0"/>
                <a:cs typeface="Times" pitchFamily="18" charset="0"/>
              </a:rPr>
              <a:t>associated with fat embolism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512" y="1196752"/>
            <a:ext cx="4316288" cy="4929411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" pitchFamily="18" charset="0"/>
                <a:cs typeface="Times" pitchFamily="18" charset="0"/>
              </a:rPr>
              <a:t>Trauma related</a:t>
            </a:r>
          </a:p>
          <a:p>
            <a:pPr lvl="1"/>
            <a:r>
              <a:rPr lang="en-US" dirty="0">
                <a:latin typeface="Times" pitchFamily="18" charset="0"/>
                <a:cs typeface="Times" pitchFamily="18" charset="0"/>
              </a:rPr>
              <a:t>Long bone fractures</a:t>
            </a:r>
          </a:p>
          <a:p>
            <a:pPr lvl="1"/>
            <a:r>
              <a:rPr lang="en-US" dirty="0">
                <a:latin typeface="Times" pitchFamily="18" charset="0"/>
                <a:cs typeface="Times" pitchFamily="18" charset="0"/>
              </a:rPr>
              <a:t>Pelvic fractures</a:t>
            </a:r>
          </a:p>
          <a:p>
            <a:pPr lvl="1"/>
            <a:r>
              <a:rPr lang="en-US" dirty="0">
                <a:latin typeface="Times" pitchFamily="18" charset="0"/>
                <a:cs typeface="Times" pitchFamily="18" charset="0"/>
              </a:rPr>
              <a:t>Fractures of other marrow-containing bones</a:t>
            </a:r>
          </a:p>
          <a:p>
            <a:pPr lvl="1"/>
            <a:r>
              <a:rPr lang="en-US" dirty="0" err="1">
                <a:latin typeface="Times" pitchFamily="18" charset="0"/>
                <a:cs typeface="Times" pitchFamily="18" charset="0"/>
              </a:rPr>
              <a:t>Orthopaedic</a:t>
            </a:r>
            <a:r>
              <a:rPr lang="en-US" dirty="0">
                <a:latin typeface="Times" pitchFamily="18" charset="0"/>
                <a:cs typeface="Times" pitchFamily="18" charset="0"/>
              </a:rPr>
              <a:t> procedures</a:t>
            </a:r>
          </a:p>
          <a:p>
            <a:pPr lvl="1"/>
            <a:r>
              <a:rPr lang="en-US" dirty="0">
                <a:latin typeface="Times" pitchFamily="18" charset="0"/>
                <a:cs typeface="Times" pitchFamily="18" charset="0"/>
              </a:rPr>
              <a:t>Soft tissue injuries (e.g. chest compression with or without rib fractures)</a:t>
            </a:r>
          </a:p>
          <a:p>
            <a:pPr lvl="1"/>
            <a:r>
              <a:rPr lang="en-US" dirty="0">
                <a:latin typeface="Times" pitchFamily="18" charset="0"/>
                <a:cs typeface="Times" pitchFamily="18" charset="0"/>
              </a:rPr>
              <a:t>Burns</a:t>
            </a:r>
          </a:p>
          <a:p>
            <a:pPr lvl="1"/>
            <a:r>
              <a:rPr lang="en-US" dirty="0">
                <a:latin typeface="Times" pitchFamily="18" charset="0"/>
                <a:cs typeface="Times" pitchFamily="18" charset="0"/>
              </a:rPr>
              <a:t>Liposuction</a:t>
            </a:r>
          </a:p>
          <a:p>
            <a:pPr lvl="1"/>
            <a:r>
              <a:rPr lang="en-US" dirty="0">
                <a:latin typeface="Times" pitchFamily="18" charset="0"/>
                <a:cs typeface="Times" pitchFamily="18" charset="0"/>
              </a:rPr>
              <a:t>Bone marrow harvesting and transplant</a:t>
            </a:r>
          </a:p>
          <a:p>
            <a:endParaRPr lang="en-US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9992" y="1196752"/>
            <a:ext cx="4186808" cy="4929411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" pitchFamily="18" charset="0"/>
                <a:cs typeface="Times" pitchFamily="18" charset="0"/>
              </a:rPr>
              <a:t>Non-trauma related</a:t>
            </a:r>
          </a:p>
          <a:p>
            <a:pPr lvl="1"/>
            <a:r>
              <a:rPr lang="en-US" dirty="0">
                <a:latin typeface="Times" pitchFamily="18" charset="0"/>
                <a:cs typeface="Times" pitchFamily="18" charset="0"/>
              </a:rPr>
              <a:t>Pancreatitis</a:t>
            </a:r>
          </a:p>
          <a:p>
            <a:pPr lvl="1"/>
            <a:r>
              <a:rPr lang="en-US" dirty="0">
                <a:latin typeface="Times" pitchFamily="18" charset="0"/>
                <a:cs typeface="Times" pitchFamily="18" charset="0"/>
              </a:rPr>
              <a:t>Diabetes mellitus</a:t>
            </a:r>
          </a:p>
          <a:p>
            <a:pPr lvl="1"/>
            <a:r>
              <a:rPr lang="en-US" dirty="0">
                <a:latin typeface="Times" pitchFamily="18" charset="0"/>
                <a:cs typeface="Times" pitchFamily="18" charset="0"/>
              </a:rPr>
              <a:t>Osteomyelitis and </a:t>
            </a:r>
            <a:r>
              <a:rPr lang="en-US" dirty="0" err="1">
                <a:latin typeface="Times" pitchFamily="18" charset="0"/>
                <a:cs typeface="Times" pitchFamily="18" charset="0"/>
              </a:rPr>
              <a:t>panniculitis</a:t>
            </a:r>
            <a:endParaRPr lang="en-US" dirty="0">
              <a:latin typeface="Times" pitchFamily="18" charset="0"/>
              <a:cs typeface="Times" pitchFamily="18" charset="0"/>
            </a:endParaRPr>
          </a:p>
          <a:p>
            <a:pPr lvl="1"/>
            <a:r>
              <a:rPr lang="en-US" dirty="0">
                <a:latin typeface="Times" pitchFamily="18" charset="0"/>
                <a:cs typeface="Times" pitchFamily="18" charset="0"/>
              </a:rPr>
              <a:t>Bone </a:t>
            </a:r>
            <a:r>
              <a:rPr lang="en-US" dirty="0" err="1">
                <a:latin typeface="Times" pitchFamily="18" charset="0"/>
                <a:cs typeface="Times" pitchFamily="18" charset="0"/>
              </a:rPr>
              <a:t>tumour</a:t>
            </a:r>
            <a:r>
              <a:rPr lang="en-US" dirty="0">
                <a:latin typeface="Times" pitchFamily="18" charset="0"/>
                <a:cs typeface="Times" pitchFamily="18" charset="0"/>
              </a:rPr>
              <a:t> lyses</a:t>
            </a:r>
          </a:p>
          <a:p>
            <a:pPr lvl="1"/>
            <a:r>
              <a:rPr lang="en-US" dirty="0">
                <a:latin typeface="Times" pitchFamily="18" charset="0"/>
                <a:cs typeface="Times" pitchFamily="18" charset="0"/>
              </a:rPr>
              <a:t>Steroid therapy</a:t>
            </a:r>
          </a:p>
          <a:p>
            <a:pPr lvl="1"/>
            <a:r>
              <a:rPr lang="en-US" dirty="0">
                <a:latin typeface="Times" pitchFamily="18" charset="0"/>
                <a:cs typeface="Times" pitchFamily="18" charset="0"/>
              </a:rPr>
              <a:t>Sickle cell </a:t>
            </a:r>
            <a:r>
              <a:rPr lang="en-US" dirty="0" err="1">
                <a:latin typeface="Times" pitchFamily="18" charset="0"/>
                <a:cs typeface="Times" pitchFamily="18" charset="0"/>
              </a:rPr>
              <a:t>haemoglobinopathies</a:t>
            </a:r>
            <a:endParaRPr lang="en-US" dirty="0">
              <a:latin typeface="Times" pitchFamily="18" charset="0"/>
              <a:cs typeface="Times" pitchFamily="18" charset="0"/>
            </a:endParaRPr>
          </a:p>
          <a:p>
            <a:pPr lvl="1"/>
            <a:r>
              <a:rPr lang="en-US" dirty="0">
                <a:latin typeface="Times" pitchFamily="18" charset="0"/>
                <a:cs typeface="Times" pitchFamily="18" charset="0"/>
              </a:rPr>
              <a:t>Alcoholic (fatty) liver disease</a:t>
            </a:r>
          </a:p>
          <a:p>
            <a:pPr lvl="1"/>
            <a:r>
              <a:rPr lang="en-US" dirty="0">
                <a:latin typeface="Times" pitchFamily="18" charset="0"/>
                <a:cs typeface="Times" pitchFamily="18" charset="0"/>
              </a:rPr>
              <a:t>Lipid fusion</a:t>
            </a:r>
          </a:p>
          <a:p>
            <a:pPr lvl="1"/>
            <a:r>
              <a:rPr lang="en-US" dirty="0">
                <a:latin typeface="Times" pitchFamily="18" charset="0"/>
                <a:cs typeface="Times" pitchFamily="18" charset="0"/>
              </a:rPr>
              <a:t>Cyclosporine A solvent</a:t>
            </a:r>
          </a:p>
          <a:p>
            <a:endParaRPr lang="en-US" dirty="0">
              <a:latin typeface="Times" pitchFamily="18" charset="0"/>
              <a:cs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379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778098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>
                <a:latin typeface="Arial Black" pitchFamily="34" charset="0"/>
              </a:rPr>
              <a:t>Pathophysiology of FES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8784976" cy="532859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latin typeface="Gabriola" pitchFamily="82" charset="0"/>
              </a:rPr>
              <a:t>Mechanisms</a:t>
            </a:r>
            <a:r>
              <a:rPr lang="en-US" b="1" dirty="0">
                <a:latin typeface="Gabriola" pitchFamily="82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The exact mechanism of Fat Embolism Syndrome (FES) is not fully understood. </a:t>
            </a:r>
            <a:endParaRPr lang="en-US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Both </a:t>
            </a:r>
            <a:r>
              <a:rPr lang="en-US" b="1" dirty="0">
                <a:latin typeface="Gabriola" pitchFamily="82" charset="0"/>
              </a:rPr>
              <a:t>mechanical</a:t>
            </a:r>
            <a:r>
              <a:rPr lang="en-US" dirty="0">
                <a:latin typeface="Gabriola" pitchFamily="82" charset="0"/>
              </a:rPr>
              <a:t> and </a:t>
            </a:r>
            <a:r>
              <a:rPr lang="en-US" b="1" dirty="0">
                <a:latin typeface="Gabriola" pitchFamily="82" charset="0"/>
              </a:rPr>
              <a:t>biochemical</a:t>
            </a:r>
            <a:r>
              <a:rPr lang="en-US" dirty="0">
                <a:latin typeface="Gabriola" pitchFamily="82" charset="0"/>
              </a:rPr>
              <a:t> processes have been proposed.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919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8928992" cy="583264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latin typeface="Gabriola" pitchFamily="82" charset="0"/>
              </a:rPr>
              <a:t>1. Mechanical </a:t>
            </a:r>
            <a:r>
              <a:rPr lang="en-US" b="1" dirty="0">
                <a:latin typeface="Gabriola" pitchFamily="82" charset="0"/>
              </a:rPr>
              <a:t>Theory (Fat Embolism)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Mechanism</a:t>
            </a:r>
            <a:r>
              <a:rPr lang="en-US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Fat from disrupted bone marrow/adipose tissue enters </a:t>
            </a:r>
            <a:r>
              <a:rPr lang="en-US" dirty="0" err="1">
                <a:latin typeface="Gabriola" pitchFamily="82" charset="0"/>
              </a:rPr>
              <a:t>venules</a:t>
            </a:r>
            <a:r>
              <a:rPr lang="en-US" dirty="0">
                <a:latin typeface="Gabriola" pitchFamily="82" charset="0"/>
              </a:rPr>
              <a:t> during trauma.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Most common in fractures of marrow-containing bones.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Disrupted </a:t>
            </a:r>
            <a:r>
              <a:rPr lang="en-US" dirty="0" err="1">
                <a:latin typeface="Gabriola" pitchFamily="82" charset="0"/>
              </a:rPr>
              <a:t>venules</a:t>
            </a:r>
            <a:r>
              <a:rPr lang="en-US" dirty="0">
                <a:latin typeface="Gabriola" pitchFamily="82" charset="0"/>
              </a:rPr>
              <a:t> remain open due to their osseous attachments, allowing easy entry of fat into venous circulation.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717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8856984" cy="583264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Consequences</a:t>
            </a:r>
            <a:r>
              <a:rPr lang="en-US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Fat </a:t>
            </a:r>
            <a:r>
              <a:rPr lang="en-US" dirty="0">
                <a:latin typeface="Gabriola" pitchFamily="82" charset="0"/>
              </a:rPr>
              <a:t>emboli increase pulmonary artery/right heart pressures.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Paradoxical Embolism</a:t>
            </a:r>
            <a:r>
              <a:rPr lang="en-US" dirty="0">
                <a:latin typeface="Gabriola" pitchFamily="82" charset="0"/>
              </a:rPr>
              <a:t>: Fat passes through a patent foramen </a:t>
            </a:r>
            <a:r>
              <a:rPr lang="en-US" dirty="0" err="1">
                <a:latin typeface="Gabriola" pitchFamily="82" charset="0"/>
              </a:rPr>
              <a:t>ovale</a:t>
            </a:r>
            <a:r>
              <a:rPr lang="en-US" dirty="0">
                <a:latin typeface="Gabriola" pitchFamily="82" charset="0"/>
              </a:rPr>
              <a:t> into systemic circulation.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Embolism without patent foramen </a:t>
            </a:r>
            <a:r>
              <a:rPr lang="en-US" dirty="0" err="1">
                <a:latin typeface="Gabriola" pitchFamily="82" charset="0"/>
              </a:rPr>
              <a:t>ovale</a:t>
            </a:r>
            <a:r>
              <a:rPr lang="en-US" dirty="0">
                <a:latin typeface="Gabriola" pitchFamily="82" charset="0"/>
              </a:rPr>
              <a:t> may cause neurological disease and </a:t>
            </a:r>
            <a:r>
              <a:rPr lang="en-US" dirty="0" err="1">
                <a:latin typeface="Gabriola" pitchFamily="82" charset="0"/>
              </a:rPr>
              <a:t>petechiae</a:t>
            </a:r>
            <a:r>
              <a:rPr lang="en-US" dirty="0">
                <a:latin typeface="Gabriola" pitchFamily="82" charset="0"/>
              </a:rPr>
              <a:t> due to obstructive </a:t>
            </a:r>
            <a:r>
              <a:rPr lang="en-US" dirty="0" err="1">
                <a:latin typeface="Gabriola" pitchFamily="82" charset="0"/>
              </a:rPr>
              <a:t>microembolism</a:t>
            </a:r>
            <a:r>
              <a:rPr lang="en-US" dirty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Gabriola" pitchFamily="82" charset="0"/>
              </a:rPr>
              <a:t>Limitation</a:t>
            </a:r>
            <a:r>
              <a:rPr lang="en-US" sz="3000" dirty="0" smtClean="0">
                <a:latin typeface="Gabriola" pitchFamily="82" charset="0"/>
              </a:rPr>
              <a:t>: Does </a:t>
            </a:r>
            <a:r>
              <a:rPr lang="en-US" sz="3000" dirty="0">
                <a:latin typeface="Gabriola" pitchFamily="82" charset="0"/>
              </a:rPr>
              <a:t>not explain the 24-72 hour delay in symptoms after injury.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177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784976" cy="547260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b="1" dirty="0" smtClean="0">
                <a:latin typeface="Gabriola" pitchFamily="82" charset="0"/>
              </a:rPr>
              <a:t>2. Biochemical </a:t>
            </a:r>
            <a:r>
              <a:rPr lang="en-US" b="1" dirty="0">
                <a:latin typeface="Gabriola" pitchFamily="82" charset="0"/>
              </a:rPr>
              <a:t>Theory: Production of Toxic Intermediaries</a:t>
            </a:r>
          </a:p>
          <a:p>
            <a:pPr lvl="1">
              <a:lnSpc>
                <a:spcPct val="160000"/>
              </a:lnSpc>
            </a:pPr>
            <a:r>
              <a:rPr lang="en-US" dirty="0" smtClean="0">
                <a:latin typeface="Gabriola" pitchFamily="82" charset="0"/>
              </a:rPr>
              <a:t>The </a:t>
            </a:r>
            <a:r>
              <a:rPr lang="en-US" b="1" dirty="0">
                <a:latin typeface="Gabriola" pitchFamily="82" charset="0"/>
              </a:rPr>
              <a:t>embalmed fat</a:t>
            </a:r>
            <a:r>
              <a:rPr lang="en-US" dirty="0">
                <a:latin typeface="Gabriola" pitchFamily="82" charset="0"/>
              </a:rPr>
              <a:t> in the bloodstream undergoes </a:t>
            </a:r>
            <a:r>
              <a:rPr lang="en-US" b="1" dirty="0">
                <a:latin typeface="Gabriola" pitchFamily="82" charset="0"/>
              </a:rPr>
              <a:t>biochemical degradation</a:t>
            </a:r>
            <a:r>
              <a:rPr lang="en-US" dirty="0">
                <a:latin typeface="Gabriola" pitchFamily="82" charset="0"/>
              </a:rPr>
              <a:t> over time, resulting in the production of toxic intermediaries, particularly </a:t>
            </a:r>
            <a:r>
              <a:rPr lang="en-US" b="1" dirty="0">
                <a:latin typeface="Gabriola" pitchFamily="82" charset="0"/>
              </a:rPr>
              <a:t>free fatty acids (FFAs</a:t>
            </a:r>
            <a:r>
              <a:rPr lang="en-US" b="1" dirty="0" smtClean="0">
                <a:latin typeface="Gabriola" pitchFamily="82" charset="0"/>
              </a:rPr>
              <a:t>)</a:t>
            </a:r>
            <a:r>
              <a:rPr lang="en-US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Symptom Delay</a:t>
            </a:r>
            <a:r>
              <a:rPr lang="en-US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The onset of symptoms (24–72 hours after injury) corresponds to the time required for the </a:t>
            </a:r>
            <a:r>
              <a:rPr lang="en-US" b="1" dirty="0">
                <a:latin typeface="Gabriola" pitchFamily="82" charset="0"/>
              </a:rPr>
              <a:t>metabolic breakdown</a:t>
            </a:r>
            <a:r>
              <a:rPr lang="en-US" dirty="0">
                <a:latin typeface="Gabriola" pitchFamily="82" charset="0"/>
              </a:rPr>
              <a:t> of fat and the </a:t>
            </a:r>
            <a:r>
              <a:rPr lang="en-US" b="1" dirty="0">
                <a:latin typeface="Gabriola" pitchFamily="82" charset="0"/>
              </a:rPr>
              <a:t>accumulation of toxic metabolites</a:t>
            </a:r>
            <a:r>
              <a:rPr lang="en-US" dirty="0">
                <a:latin typeface="Gabriola" pitchFamily="82" charset="0"/>
              </a:rPr>
              <a:t>.</a:t>
            </a:r>
          </a:p>
          <a:p>
            <a:pPr>
              <a:lnSpc>
                <a:spcPct val="160000"/>
              </a:lnSpc>
            </a:pPr>
            <a:endParaRPr lang="en-US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05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8363272" cy="5001419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b="1" dirty="0">
                <a:latin typeface="Gabriola" pitchFamily="82" charset="0"/>
              </a:rPr>
              <a:t>Process</a:t>
            </a:r>
            <a:r>
              <a:rPr lang="en-US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Fat emboli released from disrupted adipose tissue or bone marrow are primarily in the form of neutral fat (e.g., triglycerides</a:t>
            </a:r>
            <a:r>
              <a:rPr lang="en-US" sz="3200" dirty="0" smtClean="0">
                <a:latin typeface="Gabriola" pitchFamily="82" charset="0"/>
              </a:rPr>
              <a:t>).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Over </a:t>
            </a:r>
            <a:r>
              <a:rPr lang="en-US" sz="3200" b="1" dirty="0">
                <a:latin typeface="Gabriola" pitchFamily="82" charset="0"/>
              </a:rPr>
              <a:t>hours</a:t>
            </a:r>
            <a:r>
              <a:rPr lang="en-US" sz="3200" dirty="0">
                <a:latin typeface="Gabriola" pitchFamily="82" charset="0"/>
              </a:rPr>
              <a:t>, these fats are </a:t>
            </a:r>
            <a:r>
              <a:rPr lang="en-US" sz="3200" b="1" dirty="0">
                <a:latin typeface="Gabriola" pitchFamily="82" charset="0"/>
              </a:rPr>
              <a:t>hydrolyzed</a:t>
            </a:r>
            <a:r>
              <a:rPr lang="en-US" sz="3200" dirty="0">
                <a:latin typeface="Gabriola" pitchFamily="82" charset="0"/>
              </a:rPr>
              <a:t> by enzymes (lipases) into </a:t>
            </a:r>
            <a:r>
              <a:rPr lang="en-US" sz="3200" b="1" dirty="0">
                <a:latin typeface="Gabriola" pitchFamily="82" charset="0"/>
              </a:rPr>
              <a:t>free fatty acids</a:t>
            </a:r>
            <a:r>
              <a:rPr lang="en-US" sz="3200" dirty="0">
                <a:latin typeface="Gabriola" pitchFamily="82" charset="0"/>
              </a:rPr>
              <a:t> and other metabolites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44281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784976" cy="61206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smtClean="0">
                <a:latin typeface="Gabriola" pitchFamily="82" charset="0"/>
              </a:rPr>
              <a:t>Toxic </a:t>
            </a:r>
            <a:r>
              <a:rPr lang="en-US" sz="2800" b="1" dirty="0">
                <a:latin typeface="Gabriola" pitchFamily="82" charset="0"/>
              </a:rPr>
              <a:t>Effects</a:t>
            </a:r>
            <a:r>
              <a:rPr lang="en-US" sz="2800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Free fatty acids (FFAs)</a:t>
            </a:r>
            <a:r>
              <a:rPr lang="en-US" dirty="0">
                <a:latin typeface="Gabriola" pitchFamily="82" charset="0"/>
              </a:rPr>
              <a:t>, particularly in high concentrations, are </a:t>
            </a:r>
            <a:r>
              <a:rPr lang="en-US" b="1" dirty="0">
                <a:latin typeface="Gabriola" pitchFamily="82" charset="0"/>
              </a:rPr>
              <a:t>toxic</a:t>
            </a:r>
            <a:r>
              <a:rPr lang="en-US" dirty="0">
                <a:latin typeface="Gabriola" pitchFamily="82" charset="0"/>
              </a:rPr>
              <a:t> to tissues</a:t>
            </a:r>
            <a:r>
              <a:rPr lang="en-US" dirty="0" smtClean="0">
                <a:latin typeface="Gabriola" pitchFamily="82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US" sz="2800" b="1" dirty="0">
                <a:latin typeface="Gabriola" pitchFamily="82" charset="0"/>
              </a:rPr>
              <a:t>ARDS (Acute Respiratory Distress Syndrome)</a:t>
            </a:r>
            <a:r>
              <a:rPr lang="en-US" sz="2800" dirty="0">
                <a:latin typeface="Gabriola" pitchFamily="82" charset="0"/>
              </a:rPr>
              <a:t>: FFAs damage lung tissue, causing inflammation and fluid buildup.</a:t>
            </a:r>
          </a:p>
          <a:p>
            <a:pPr lvl="2">
              <a:lnSpc>
                <a:spcPct val="150000"/>
              </a:lnSpc>
            </a:pPr>
            <a:r>
              <a:rPr lang="en-US" sz="2800" b="1" dirty="0">
                <a:latin typeface="Gabriola" pitchFamily="82" charset="0"/>
              </a:rPr>
              <a:t>Cardiac dysfunction</a:t>
            </a:r>
            <a:r>
              <a:rPr lang="en-US" sz="2800" dirty="0">
                <a:latin typeface="Gabriola" pitchFamily="82" charset="0"/>
              </a:rPr>
              <a:t>: FFAs impair heart muscle function, leading to reduced contractility and possibly arrhythmias</a:t>
            </a:r>
          </a:p>
          <a:p>
            <a:pPr lvl="1">
              <a:lnSpc>
                <a:spcPct val="150000"/>
              </a:lnSpc>
            </a:pPr>
            <a:endParaRPr lang="en-US" sz="3000" dirty="0">
              <a:latin typeface="Gabriola" pitchFamily="82" charset="0"/>
            </a:endParaRP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639003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778098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Incidence of FES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052736"/>
            <a:ext cx="8496944" cy="5256584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General Incidence</a:t>
            </a:r>
            <a:r>
              <a:rPr lang="en-GB" dirty="0" smtClean="0">
                <a:latin typeface="Gabriola" pitchFamily="82" charset="0"/>
              </a:rPr>
              <a:t>: FES is rare but serious. 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Studies estimate the incidence to be around </a:t>
            </a:r>
            <a:r>
              <a:rPr lang="en-GB" b="1" dirty="0" smtClean="0">
                <a:latin typeface="Gabriola" pitchFamily="82" charset="0"/>
              </a:rPr>
              <a:t>1-3%</a:t>
            </a:r>
            <a:r>
              <a:rPr lang="en-GB" dirty="0" smtClean="0">
                <a:latin typeface="Gabriola" pitchFamily="82" charset="0"/>
              </a:rPr>
              <a:t> of patients with </a:t>
            </a:r>
            <a:r>
              <a:rPr lang="en-GB" b="1" dirty="0" smtClean="0">
                <a:latin typeface="Gabriola" pitchFamily="82" charset="0"/>
              </a:rPr>
              <a:t>long bone fractures</a:t>
            </a:r>
            <a:r>
              <a:rPr lang="en-GB" dirty="0" smtClean="0">
                <a:latin typeface="Gabriola" pitchFamily="82" charset="0"/>
              </a:rPr>
              <a:t> (such as femoral or </a:t>
            </a:r>
            <a:r>
              <a:rPr lang="en-GB" dirty="0" err="1" smtClean="0">
                <a:latin typeface="Gabriola" pitchFamily="82" charset="0"/>
              </a:rPr>
              <a:t>tibial</a:t>
            </a:r>
            <a:r>
              <a:rPr lang="en-GB" dirty="0" smtClean="0">
                <a:latin typeface="Gabriola" pitchFamily="82" charset="0"/>
              </a:rPr>
              <a:t> fractures).</a:t>
            </a:r>
          </a:p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In Severe Cases</a:t>
            </a:r>
            <a:r>
              <a:rPr lang="en-GB" dirty="0" smtClean="0">
                <a:latin typeface="Gabriola" pitchFamily="82" charset="0"/>
              </a:rPr>
              <a:t>: FES can be fatal in 10-15% of cases, especially in patients who experience severe trauma or multiple fractures.</a:t>
            </a:r>
          </a:p>
          <a:p>
            <a:pPr>
              <a:lnSpc>
                <a:spcPct val="17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488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63408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8640960" cy="5112568"/>
          </a:xfrm>
        </p:spPr>
        <p:txBody>
          <a:bodyPr/>
          <a:lstStyle/>
          <a:p>
            <a:pPr>
              <a:lnSpc>
                <a:spcPct val="170000"/>
              </a:lnSpc>
            </a:pPr>
            <a:r>
              <a:rPr lang="en-GB" b="1" dirty="0">
                <a:latin typeface="Gabriola" pitchFamily="82" charset="0"/>
              </a:rPr>
              <a:t>High-Risk Procedures</a:t>
            </a:r>
            <a:r>
              <a:rPr lang="en-GB" dirty="0">
                <a:latin typeface="Gabriola" pitchFamily="82" charset="0"/>
              </a:rPr>
              <a:t>: </a:t>
            </a:r>
          </a:p>
          <a:p>
            <a:pPr lvl="1">
              <a:lnSpc>
                <a:spcPct val="170000"/>
              </a:lnSpc>
            </a:pPr>
            <a:r>
              <a:rPr lang="en-GB" dirty="0">
                <a:latin typeface="Gabriola" pitchFamily="82" charset="0"/>
              </a:rPr>
              <a:t>Patients undergoing </a:t>
            </a:r>
            <a:r>
              <a:rPr lang="en-GB" b="1" dirty="0">
                <a:latin typeface="Gabriola" pitchFamily="82" charset="0"/>
              </a:rPr>
              <a:t>spinal surgery</a:t>
            </a:r>
            <a:r>
              <a:rPr lang="en-GB" dirty="0">
                <a:latin typeface="Gabriola" pitchFamily="82" charset="0"/>
              </a:rPr>
              <a:t>, </a:t>
            </a:r>
            <a:r>
              <a:rPr lang="en-GB" b="1" dirty="0">
                <a:latin typeface="Gabriola" pitchFamily="82" charset="0"/>
              </a:rPr>
              <a:t>joint replacements</a:t>
            </a:r>
            <a:r>
              <a:rPr lang="en-GB" dirty="0">
                <a:latin typeface="Gabriola" pitchFamily="82" charset="0"/>
              </a:rPr>
              <a:t>, or </a:t>
            </a:r>
            <a:r>
              <a:rPr lang="en-GB" b="1" dirty="0">
                <a:latin typeface="Gabriola" pitchFamily="82" charset="0"/>
              </a:rPr>
              <a:t>bone marrow manipulation</a:t>
            </a:r>
            <a:r>
              <a:rPr lang="en-GB" dirty="0">
                <a:latin typeface="Gabriola" pitchFamily="82" charset="0"/>
              </a:rPr>
              <a:t> are also at risk, though the occurrence is less common.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609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0728"/>
            <a:ext cx="8219256" cy="5145435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GB" sz="2800" b="1" dirty="0" smtClean="0">
                <a:latin typeface="Gabriola" pitchFamily="82" charset="0"/>
              </a:rPr>
              <a:t>Age and Gender</a:t>
            </a:r>
            <a:r>
              <a:rPr lang="en-GB" sz="2800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FES is more common in younger patients (ages 20-40), with a slight male predominance.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 However, it can affect patients of any age, particularly those with high-energy trauma.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2560525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latin typeface="Times" pitchFamily="18" charset="0"/>
              </a:rPr>
              <a:t/>
            </a:r>
            <a:br>
              <a:rPr lang="en-GB" b="1" dirty="0" smtClean="0">
                <a:latin typeface="Times" pitchFamily="18" charset="0"/>
              </a:rPr>
            </a:br>
            <a:r>
              <a:rPr lang="en-GB" b="1" dirty="0" smtClean="0">
                <a:latin typeface="Times" pitchFamily="18" charset="0"/>
              </a:rPr>
              <a:t>Risk Factors and Aggravating Factors</a:t>
            </a:r>
            <a:br>
              <a:rPr lang="en-GB" b="1" dirty="0" smtClean="0">
                <a:latin typeface="Times" pitchFamily="18" charset="0"/>
              </a:rPr>
            </a:br>
            <a:endParaRPr lang="en-GB" dirty="0">
              <a:latin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9"/>
            <a:ext cx="8712968" cy="5112568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sz="2800" dirty="0" smtClean="0">
                <a:latin typeface="Gabriola" pitchFamily="82" charset="0"/>
              </a:rPr>
              <a:t>Certain factors increase the risk of developing FES, especially in the presence of trauma or surgical interventions:</a:t>
            </a:r>
          </a:p>
          <a:p>
            <a:pPr>
              <a:lnSpc>
                <a:spcPct val="160000"/>
              </a:lnSpc>
            </a:pPr>
            <a:r>
              <a:rPr lang="en-GB" sz="2800" b="1" dirty="0" smtClean="0">
                <a:latin typeface="Gabriola" pitchFamily="82" charset="0"/>
              </a:rPr>
              <a:t>Long Bone Fractures</a:t>
            </a:r>
            <a:r>
              <a:rPr lang="en-GB" sz="2800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Fractures of the </a:t>
            </a:r>
            <a:r>
              <a:rPr lang="en-GB" b="1" dirty="0" smtClean="0">
                <a:latin typeface="Gabriola" pitchFamily="82" charset="0"/>
              </a:rPr>
              <a:t>femur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b="1" dirty="0" smtClean="0">
                <a:latin typeface="Gabriola" pitchFamily="82" charset="0"/>
              </a:rPr>
              <a:t>tibia</a:t>
            </a:r>
            <a:r>
              <a:rPr lang="en-GB" dirty="0" smtClean="0">
                <a:latin typeface="Gabriola" pitchFamily="82" charset="0"/>
              </a:rPr>
              <a:t>, and </a:t>
            </a:r>
            <a:r>
              <a:rPr lang="en-GB" b="1" dirty="0" smtClean="0">
                <a:latin typeface="Gabriola" pitchFamily="82" charset="0"/>
              </a:rPr>
              <a:t>pelvis</a:t>
            </a:r>
            <a:r>
              <a:rPr lang="en-GB" dirty="0" smtClean="0">
                <a:latin typeface="Gabriola" pitchFamily="82" charset="0"/>
              </a:rPr>
              <a:t> are particularly associated with FES due to the volume of bone marrow released into circulation.</a:t>
            </a:r>
          </a:p>
          <a:p>
            <a:pPr>
              <a:lnSpc>
                <a:spcPct val="160000"/>
              </a:lnSpc>
            </a:pPr>
            <a:r>
              <a:rPr lang="en-GB" sz="2800" b="1" dirty="0" smtClean="0">
                <a:latin typeface="Gabriola" pitchFamily="82" charset="0"/>
              </a:rPr>
              <a:t>Multiple Fractures</a:t>
            </a:r>
            <a:r>
              <a:rPr lang="en-GB" sz="2800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The presence of </a:t>
            </a:r>
            <a:r>
              <a:rPr lang="en-GB" b="1" dirty="0" smtClean="0">
                <a:latin typeface="Gabriola" pitchFamily="82" charset="0"/>
              </a:rPr>
              <a:t>multiple fractures</a:t>
            </a:r>
            <a:r>
              <a:rPr lang="en-GB" dirty="0" smtClean="0">
                <a:latin typeface="Gabriola" pitchFamily="82" charset="0"/>
              </a:rPr>
              <a:t>, especially </a:t>
            </a:r>
            <a:r>
              <a:rPr lang="en-GB" b="1" dirty="0" smtClean="0">
                <a:latin typeface="Gabriola" pitchFamily="82" charset="0"/>
              </a:rPr>
              <a:t>pelvic fractures</a:t>
            </a:r>
            <a:r>
              <a:rPr lang="en-GB" dirty="0" smtClean="0">
                <a:latin typeface="Gabriola" pitchFamily="82" charset="0"/>
              </a:rPr>
              <a:t>, significantly raises the risk.</a:t>
            </a:r>
          </a:p>
          <a:p>
            <a:pPr marL="0" indent="0">
              <a:lnSpc>
                <a:spcPct val="160000"/>
              </a:lnSpc>
              <a:buNone/>
            </a:pPr>
            <a:endParaRPr lang="en-GB" sz="2800" dirty="0" smtClean="0">
              <a:latin typeface="Gabriola" pitchFamily="82" charset="0"/>
            </a:endParaRPr>
          </a:p>
          <a:p>
            <a:pPr>
              <a:lnSpc>
                <a:spcPct val="160000"/>
              </a:lnSpc>
            </a:pP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064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64704"/>
            <a:ext cx="8568952" cy="54726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Severe Trauma</a:t>
            </a:r>
            <a:r>
              <a:rPr lang="en-GB" sz="2800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Trauma resulting in </a:t>
            </a:r>
            <a:r>
              <a:rPr lang="en-GB" b="1" dirty="0" smtClean="0">
                <a:latin typeface="Gabriola" pitchFamily="82" charset="0"/>
              </a:rPr>
              <a:t>high-energy impact</a:t>
            </a:r>
            <a:r>
              <a:rPr lang="en-GB" dirty="0" smtClean="0">
                <a:latin typeface="Gabriola" pitchFamily="82" charset="0"/>
              </a:rPr>
              <a:t> (e.g., motor vehicle accidents) tends to be more likely to cause FES than low-energy fractures.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Surgical Procedures</a:t>
            </a:r>
            <a:r>
              <a:rPr lang="en-GB" sz="2800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Surgeries involving </a:t>
            </a:r>
            <a:r>
              <a:rPr lang="en-GB" b="1" dirty="0" smtClean="0">
                <a:latin typeface="Gabriola" pitchFamily="82" charset="0"/>
              </a:rPr>
              <a:t>bone manipulation</a:t>
            </a:r>
            <a:r>
              <a:rPr lang="en-GB" dirty="0" smtClean="0">
                <a:latin typeface="Gabriola" pitchFamily="82" charset="0"/>
              </a:rPr>
              <a:t> or procedures that access bone marrow (e.g., joint replacements, hip fractures) may provoke the release of fat globules</a:t>
            </a: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812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92696"/>
            <a:ext cx="8784976" cy="543346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Prolonged Immobilization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 Long periods of immobility or </a:t>
            </a:r>
            <a:r>
              <a:rPr lang="en-GB" b="1" dirty="0" smtClean="0">
                <a:latin typeface="Gabriola" pitchFamily="82" charset="0"/>
              </a:rPr>
              <a:t>bed rest</a:t>
            </a:r>
            <a:r>
              <a:rPr lang="en-GB" dirty="0" smtClean="0">
                <a:latin typeface="Gabriola" pitchFamily="82" charset="0"/>
              </a:rPr>
              <a:t> can predispose patients to fat embolism because they may increase the likelihood of </a:t>
            </a:r>
            <a:r>
              <a:rPr lang="en-GB" b="1" dirty="0" smtClean="0">
                <a:latin typeface="Gabriola" pitchFamily="82" charset="0"/>
              </a:rPr>
              <a:t>venous stasis</a:t>
            </a:r>
            <a:r>
              <a:rPr lang="en-GB" dirty="0" smtClean="0">
                <a:latin typeface="Gabriola" pitchFamily="82" charset="0"/>
              </a:rPr>
              <a:t> and slow circulation</a:t>
            </a:r>
          </a:p>
          <a:p>
            <a:pPr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Corticosteroid Use</a:t>
            </a:r>
            <a:r>
              <a:rPr lang="en-GB" sz="3200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Corticosteroid treatment</a:t>
            </a:r>
            <a:r>
              <a:rPr lang="en-GB" dirty="0" smtClean="0">
                <a:latin typeface="Gabriola" pitchFamily="82" charset="0"/>
              </a:rPr>
              <a:t> has been associated with increased risk of FES, as steroids can alter bone marrow fat distribution and mobilization.</a:t>
            </a:r>
          </a:p>
        </p:txBody>
      </p:sp>
    </p:spTree>
    <p:extLst>
      <p:ext uri="{BB962C8B-B14F-4D97-AF65-F5344CB8AC3E}">
        <p14:creationId xmlns:p14="http://schemas.microsoft.com/office/powerpoint/2010/main" val="10126900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08720"/>
            <a:ext cx="8363272" cy="52174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Presence of Comorbidities</a:t>
            </a:r>
            <a:r>
              <a:rPr lang="en-GB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Patients with </a:t>
            </a:r>
            <a:r>
              <a:rPr lang="en-GB" sz="3200" b="1" dirty="0" smtClean="0">
                <a:latin typeface="Gabriola" pitchFamily="82" charset="0"/>
              </a:rPr>
              <a:t>pre-existing pulmonary or cardiovascular conditions</a:t>
            </a:r>
            <a:r>
              <a:rPr lang="en-GB" sz="3200" dirty="0" smtClean="0">
                <a:latin typeface="Gabriola" pitchFamily="82" charset="0"/>
              </a:rPr>
              <a:t> (e.g., </a:t>
            </a:r>
            <a:r>
              <a:rPr lang="en-GB" sz="3200" b="1" dirty="0" smtClean="0">
                <a:latin typeface="Gabriola" pitchFamily="82" charset="0"/>
              </a:rPr>
              <a:t>pulmonary hypertension</a:t>
            </a:r>
            <a:r>
              <a:rPr lang="en-GB" sz="3200" dirty="0" smtClean="0">
                <a:latin typeface="Gabriola" pitchFamily="82" charset="0"/>
              </a:rPr>
              <a:t>, </a:t>
            </a:r>
            <a:r>
              <a:rPr lang="en-GB" sz="3200" b="1" dirty="0" smtClean="0">
                <a:latin typeface="Gabriola" pitchFamily="82" charset="0"/>
              </a:rPr>
              <a:t>heart failure</a:t>
            </a:r>
            <a:r>
              <a:rPr lang="en-GB" sz="3200" dirty="0" smtClean="0">
                <a:latin typeface="Gabriola" pitchFamily="82" charset="0"/>
              </a:rPr>
              <a:t>) may be at higher risk due to impaired gas exchange and circulation.</a:t>
            </a:r>
          </a:p>
          <a:p>
            <a:pPr>
              <a:lnSpc>
                <a:spcPct val="150000"/>
              </a:lnSpc>
            </a:pPr>
            <a:endParaRPr lang="en-GB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7856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7060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latin typeface="Times" pitchFamily="18" charset="0"/>
                <a:cs typeface="Times" pitchFamily="18" charset="0"/>
              </a:rPr>
              <a:t>Clinical </a:t>
            </a:r>
            <a:r>
              <a:rPr lang="en-US" dirty="0">
                <a:latin typeface="Times" pitchFamily="18" charset="0"/>
                <a:cs typeface="Times" pitchFamily="18" charset="0"/>
              </a:rPr>
              <a:t>presentation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507288" cy="514543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Fat </a:t>
            </a:r>
            <a:r>
              <a:rPr lang="en-US" dirty="0">
                <a:latin typeface="Gabriola" pitchFamily="82" charset="0"/>
              </a:rPr>
              <a:t>embolism syndrome typically presents </a:t>
            </a:r>
            <a:r>
              <a:rPr lang="en-US" dirty="0" smtClean="0">
                <a:latin typeface="Gabriola" pitchFamily="82" charset="0"/>
              </a:rPr>
              <a:t>24–72 </a:t>
            </a:r>
            <a:r>
              <a:rPr lang="en-US" dirty="0">
                <a:latin typeface="Gabriola" pitchFamily="82" charset="0"/>
              </a:rPr>
              <a:t>h after the initial injury</a:t>
            </a:r>
            <a:r>
              <a:rPr lang="en-US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 </a:t>
            </a:r>
            <a:r>
              <a:rPr lang="en-US" dirty="0">
                <a:latin typeface="Gabriola" pitchFamily="82" charset="0"/>
              </a:rPr>
              <a:t>Rarely, cases </a:t>
            </a:r>
            <a:r>
              <a:rPr lang="en-US" dirty="0" smtClean="0">
                <a:latin typeface="Gabriola" pitchFamily="82" charset="0"/>
              </a:rPr>
              <a:t>occur as </a:t>
            </a:r>
            <a:r>
              <a:rPr lang="en-US" dirty="0">
                <a:latin typeface="Gabriola" pitchFamily="82" charset="0"/>
              </a:rPr>
              <a:t>early as 12 h or as much as 2 weeks later</a:t>
            </a:r>
            <a:r>
              <a:rPr lang="en-US" dirty="0" smtClean="0">
                <a:latin typeface="Gabriola" pitchFamily="82" charset="0"/>
              </a:rPr>
              <a:t>.</a:t>
            </a:r>
            <a:endParaRPr lang="en-US" dirty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Patients present with a classic triad: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(i) </a:t>
            </a:r>
            <a:r>
              <a:rPr lang="en-US" dirty="0" smtClean="0">
                <a:latin typeface="Gabriola" pitchFamily="82" charset="0"/>
              </a:rPr>
              <a:t>Respiratory changes;</a:t>
            </a:r>
          </a:p>
          <a:p>
            <a:pPr marL="400050" lvl="1" indent="0">
              <a:lnSpc>
                <a:spcPct val="150000"/>
              </a:lnSpc>
              <a:buNone/>
            </a:pPr>
            <a:r>
              <a:rPr lang="en-US" dirty="0" smtClean="0">
                <a:latin typeface="Gabriola" pitchFamily="82" charset="0"/>
              </a:rPr>
              <a:t>(</a:t>
            </a:r>
            <a:r>
              <a:rPr lang="en-US" dirty="0">
                <a:latin typeface="Gabriola" pitchFamily="82" charset="0"/>
              </a:rPr>
              <a:t>ii) </a:t>
            </a:r>
            <a:r>
              <a:rPr lang="en-US" dirty="0" smtClean="0">
                <a:latin typeface="Gabriola" pitchFamily="82" charset="0"/>
              </a:rPr>
              <a:t>Neurological abnormalities;</a:t>
            </a:r>
            <a:endParaRPr lang="en-US" dirty="0">
              <a:latin typeface="Gabriola" pitchFamily="82" charset="0"/>
            </a:endParaRPr>
          </a:p>
          <a:p>
            <a:pPr marL="400050" lvl="1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(iii) </a:t>
            </a:r>
            <a:r>
              <a:rPr lang="en-US" dirty="0" smtClean="0">
                <a:latin typeface="Gabriola" pitchFamily="82" charset="0"/>
              </a:rPr>
              <a:t>Petechial rash.</a:t>
            </a:r>
            <a:endParaRPr lang="en-US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6005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706090"/>
          </a:xfrm>
        </p:spPr>
        <p:txBody>
          <a:bodyPr>
            <a:normAutofit fontScale="90000"/>
          </a:bodyPr>
          <a:lstStyle/>
          <a:p>
            <a:pPr algn="r"/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err="1" smtClean="0">
                <a:latin typeface="Arial Black" pitchFamily="34" charset="0"/>
              </a:rPr>
              <a:t>cont</a:t>
            </a:r>
            <a:r>
              <a:rPr lang="en-GB" b="1" dirty="0" smtClean="0">
                <a:latin typeface="Arial Black" pitchFamily="34" charset="0"/>
              </a:rPr>
              <a:t>…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92696"/>
            <a:ext cx="8964488" cy="5976664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GB" sz="3600" b="1" dirty="0" smtClean="0">
                <a:latin typeface="Gabriola" pitchFamily="82" charset="0"/>
              </a:rPr>
              <a:t>Respiratory changes </a:t>
            </a:r>
            <a:endParaRPr lang="en-GB" sz="36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sz="3000" dirty="0" smtClean="0">
                <a:latin typeface="Gabriola" pitchFamily="82" charset="0"/>
              </a:rPr>
              <a:t>Often </a:t>
            </a:r>
            <a:r>
              <a:rPr lang="en-US" sz="3000" dirty="0">
                <a:latin typeface="Gabriola" pitchFamily="82" charset="0"/>
              </a:rPr>
              <a:t>the first </a:t>
            </a:r>
            <a:r>
              <a:rPr lang="en-US" sz="3000" dirty="0" smtClean="0">
                <a:latin typeface="Gabriola" pitchFamily="82" charset="0"/>
              </a:rPr>
              <a:t>clinical feature </a:t>
            </a:r>
            <a:r>
              <a:rPr lang="en-US" sz="3000" dirty="0">
                <a:latin typeface="Gabriola" pitchFamily="82" charset="0"/>
              </a:rPr>
              <a:t>to present. </a:t>
            </a:r>
            <a:r>
              <a:rPr lang="en-US" sz="3000" dirty="0" err="1">
                <a:latin typeface="Gabriola" pitchFamily="82" charset="0"/>
              </a:rPr>
              <a:t>Dyspnoea</a:t>
            </a:r>
            <a:r>
              <a:rPr lang="en-US" sz="3000" dirty="0">
                <a:latin typeface="Gabriola" pitchFamily="82" charset="0"/>
              </a:rPr>
              <a:t>, </a:t>
            </a:r>
            <a:r>
              <a:rPr lang="en-US" sz="3000" dirty="0" err="1">
                <a:latin typeface="Gabriola" pitchFamily="82" charset="0"/>
              </a:rPr>
              <a:t>tachypnoea</a:t>
            </a:r>
            <a:r>
              <a:rPr lang="en-US" sz="3000" dirty="0">
                <a:latin typeface="Gabriola" pitchFamily="82" charset="0"/>
              </a:rPr>
              <a:t>, </a:t>
            </a:r>
            <a:r>
              <a:rPr lang="en-US" sz="3000" dirty="0" smtClean="0">
                <a:latin typeface="Gabriola" pitchFamily="82" charset="0"/>
              </a:rPr>
              <a:t>and </a:t>
            </a:r>
            <a:r>
              <a:rPr lang="en-US" sz="3000" dirty="0" err="1" smtClean="0">
                <a:latin typeface="Gabriola" pitchFamily="82" charset="0"/>
              </a:rPr>
              <a:t>hypoxaemia</a:t>
            </a:r>
            <a:r>
              <a:rPr lang="en-US" sz="3000" dirty="0" smtClean="0">
                <a:latin typeface="Gabriola" pitchFamily="82" charset="0"/>
              </a:rPr>
              <a:t> </a:t>
            </a:r>
            <a:r>
              <a:rPr lang="en-US" sz="3000" dirty="0">
                <a:latin typeface="Gabriola" pitchFamily="82" charset="0"/>
              </a:rPr>
              <a:t>are the most frequent early findings</a:t>
            </a:r>
            <a:r>
              <a:rPr lang="en-US" sz="3000" dirty="0" smtClean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Gabriola" pitchFamily="82" charset="0"/>
              </a:rPr>
              <a:t>Approximately one-half of </a:t>
            </a:r>
            <a:r>
              <a:rPr lang="en-US" sz="3000" dirty="0" smtClean="0">
                <a:latin typeface="Gabriola" pitchFamily="82" charset="0"/>
              </a:rPr>
              <a:t>the patients </a:t>
            </a:r>
            <a:r>
              <a:rPr lang="en-US" sz="3000" dirty="0">
                <a:latin typeface="Gabriola" pitchFamily="82" charset="0"/>
              </a:rPr>
              <a:t>with fat embolism syndrome caused </a:t>
            </a:r>
            <a:r>
              <a:rPr lang="en-US" sz="3000" dirty="0" smtClean="0">
                <a:latin typeface="Gabriola" pitchFamily="82" charset="0"/>
              </a:rPr>
              <a:t>by long </a:t>
            </a:r>
            <a:r>
              <a:rPr lang="en-US" sz="3000" dirty="0">
                <a:latin typeface="Gabriola" pitchFamily="82" charset="0"/>
              </a:rPr>
              <a:t>bone fractures develop severe </a:t>
            </a:r>
            <a:r>
              <a:rPr lang="en-US" sz="3000" dirty="0" err="1" smtClean="0">
                <a:latin typeface="Gabriola" pitchFamily="82" charset="0"/>
              </a:rPr>
              <a:t>hypoxaemia</a:t>
            </a:r>
            <a:r>
              <a:rPr lang="en-US" sz="3000" dirty="0" smtClean="0">
                <a:latin typeface="Gabriola" pitchFamily="82" charset="0"/>
              </a:rPr>
              <a:t> and </a:t>
            </a:r>
            <a:r>
              <a:rPr lang="en-US" sz="3000" dirty="0">
                <a:latin typeface="Gabriola" pitchFamily="82" charset="0"/>
              </a:rPr>
              <a:t>respiratory insufficiency and require </a:t>
            </a:r>
            <a:r>
              <a:rPr lang="en-US" sz="3000" dirty="0" smtClean="0">
                <a:latin typeface="Gabriola" pitchFamily="82" charset="0"/>
              </a:rPr>
              <a:t>mechanical ventilation</a:t>
            </a:r>
            <a:r>
              <a:rPr lang="en-US" sz="3000" dirty="0">
                <a:latin typeface="Gabriola" pitchFamily="82" charset="0"/>
              </a:rPr>
              <a:t>.</a:t>
            </a:r>
            <a:endParaRPr lang="en-GB" sz="30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0739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634082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692696"/>
            <a:ext cx="8856984" cy="5688632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Neurological Symptoms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Gabriola" pitchFamily="82" charset="0"/>
              </a:rPr>
              <a:t>Neurological features resulting from </a:t>
            </a:r>
            <a:r>
              <a:rPr lang="en-US" sz="3000" dirty="0" smtClean="0">
                <a:latin typeface="Gabriola" pitchFamily="82" charset="0"/>
              </a:rPr>
              <a:t>cerebral embolism </a:t>
            </a:r>
            <a:r>
              <a:rPr lang="en-US" sz="3000" dirty="0">
                <a:latin typeface="Gabriola" pitchFamily="82" charset="0"/>
              </a:rPr>
              <a:t>frequently present in the </a:t>
            </a:r>
            <a:r>
              <a:rPr lang="en-US" sz="3000" dirty="0" smtClean="0">
                <a:latin typeface="Gabriola" pitchFamily="82" charset="0"/>
              </a:rPr>
              <a:t>early stages</a:t>
            </a:r>
            <a:r>
              <a:rPr lang="en-US" sz="3000" dirty="0">
                <a:latin typeface="Gabriola" pitchFamily="82" charset="0"/>
              </a:rPr>
              <a:t>. </a:t>
            </a:r>
            <a:endParaRPr lang="en-US" sz="30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sz="3000" dirty="0" smtClean="0">
                <a:latin typeface="Gabriola" pitchFamily="82" charset="0"/>
              </a:rPr>
              <a:t>Cerebral </a:t>
            </a:r>
            <a:r>
              <a:rPr lang="en-US" sz="3000" dirty="0">
                <a:latin typeface="Gabriola" pitchFamily="82" charset="0"/>
              </a:rPr>
              <a:t>emboli produce </a:t>
            </a:r>
            <a:r>
              <a:rPr lang="en-US" sz="3000" dirty="0" smtClean="0">
                <a:latin typeface="Gabriola" pitchFamily="82" charset="0"/>
              </a:rPr>
              <a:t>neurological signs </a:t>
            </a:r>
            <a:r>
              <a:rPr lang="en-US" sz="3000" dirty="0">
                <a:latin typeface="Gabriola" pitchFamily="82" charset="0"/>
              </a:rPr>
              <a:t>in up to 86% of cases and often </a:t>
            </a:r>
            <a:r>
              <a:rPr lang="en-US" sz="3000" dirty="0" smtClean="0">
                <a:latin typeface="Gabriola" pitchFamily="82" charset="0"/>
              </a:rPr>
              <a:t>occur after </a:t>
            </a:r>
            <a:r>
              <a:rPr lang="en-US" sz="3000" dirty="0">
                <a:latin typeface="Gabriola" pitchFamily="82" charset="0"/>
              </a:rPr>
              <a:t>the development of respiratory distress</a:t>
            </a:r>
            <a:endParaRPr lang="en-GB" sz="3000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GB" sz="3000" dirty="0" smtClean="0">
                <a:latin typeface="Gabriola" pitchFamily="82" charset="0"/>
              </a:rPr>
              <a:t>Confusion, agitation, or altered mental status, Seizures</a:t>
            </a:r>
            <a:r>
              <a:rPr lang="en-GB" sz="3000" dirty="0">
                <a:latin typeface="Gabriola" pitchFamily="82" charset="0"/>
              </a:rPr>
              <a:t> </a:t>
            </a:r>
            <a:r>
              <a:rPr lang="en-GB" sz="3000" dirty="0" smtClean="0">
                <a:latin typeface="Gabriola" pitchFamily="82" charset="0"/>
              </a:rPr>
              <a:t>and Cerebral </a:t>
            </a:r>
            <a:r>
              <a:rPr lang="en-GB" sz="3000" dirty="0" err="1" smtClean="0">
                <a:latin typeface="Gabriola" pitchFamily="82" charset="0"/>
              </a:rPr>
              <a:t>edema</a:t>
            </a:r>
            <a:r>
              <a:rPr lang="en-GB" sz="3000" dirty="0" smtClean="0">
                <a:latin typeface="Gabriola" pitchFamily="82" charset="0"/>
              </a:rPr>
              <a:t> (swelling in the brain)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37704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6"/>
            <a:ext cx="8892480" cy="56166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000" b="1" dirty="0">
                <a:latin typeface="Gabriola" pitchFamily="82" charset="0"/>
              </a:rPr>
              <a:t>Petechial Rash</a:t>
            </a:r>
            <a:r>
              <a:rPr lang="en-GB" sz="30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Gabriola" pitchFamily="82" charset="0"/>
              </a:rPr>
              <a:t>The characteristic petechial rash may be </a:t>
            </a:r>
            <a:r>
              <a:rPr lang="en-US" sz="3000" dirty="0" smtClean="0">
                <a:latin typeface="Gabriola" pitchFamily="82" charset="0"/>
              </a:rPr>
              <a:t>the last </a:t>
            </a:r>
            <a:r>
              <a:rPr lang="en-US" sz="3000" dirty="0">
                <a:latin typeface="Gabriola" pitchFamily="82" charset="0"/>
              </a:rPr>
              <a:t>component of the triad to develop. </a:t>
            </a:r>
            <a:endParaRPr lang="en-US" sz="3000" dirty="0" smtClean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sz="3000" dirty="0" smtClean="0">
                <a:latin typeface="Gabriola" pitchFamily="82" charset="0"/>
              </a:rPr>
              <a:t>It occurs </a:t>
            </a:r>
            <a:r>
              <a:rPr lang="en-US" sz="3000" dirty="0">
                <a:latin typeface="Gabriola" pitchFamily="82" charset="0"/>
              </a:rPr>
              <a:t>in up to 60% of cases and is due </a:t>
            </a:r>
            <a:r>
              <a:rPr lang="en-US" sz="3000" dirty="0" smtClean="0">
                <a:latin typeface="Gabriola" pitchFamily="82" charset="0"/>
              </a:rPr>
              <a:t>to embolization </a:t>
            </a:r>
            <a:r>
              <a:rPr lang="en-US" sz="3000" dirty="0">
                <a:latin typeface="Gabriola" pitchFamily="82" charset="0"/>
              </a:rPr>
              <a:t>of small dermal </a:t>
            </a:r>
            <a:r>
              <a:rPr lang="en-US" sz="3000" dirty="0" smtClean="0">
                <a:latin typeface="Gabriola" pitchFamily="82" charset="0"/>
              </a:rPr>
              <a:t>capillaries leading </a:t>
            </a:r>
            <a:r>
              <a:rPr lang="en-US" sz="3000" dirty="0">
                <a:latin typeface="Gabriola" pitchFamily="82" charset="0"/>
              </a:rPr>
              <a:t>to extravasation of erythrocytes.</a:t>
            </a:r>
            <a:endParaRPr lang="en-GB" sz="3000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GB" sz="3000" dirty="0">
                <a:latin typeface="Gabriola" pitchFamily="82" charset="0"/>
              </a:rPr>
              <a:t>Small, pinpoint red or purple spots, typically seen on the chest, neck, or upper body.</a:t>
            </a:r>
          </a:p>
          <a:p>
            <a:pPr marL="0" indent="0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2565557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27404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472608"/>
          </a:xfrm>
        </p:spPr>
        <p:txBody>
          <a:bodyPr>
            <a:normAutofit lnSpcReduction="10000"/>
          </a:bodyPr>
          <a:lstStyle/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The </a:t>
            </a:r>
            <a:r>
              <a:rPr lang="en-US" sz="3200" dirty="0" smtClean="0">
                <a:latin typeface="Gabriola" pitchFamily="82" charset="0"/>
              </a:rPr>
              <a:t>rash appears </a:t>
            </a:r>
            <a:r>
              <a:rPr lang="en-US" sz="3200" dirty="0">
                <a:latin typeface="Gabriola" pitchFamily="82" charset="0"/>
              </a:rPr>
              <a:t>within the first 36 h and is </a:t>
            </a:r>
            <a:r>
              <a:rPr lang="en-US" sz="3200" dirty="0" smtClean="0">
                <a:latin typeface="Gabriola" pitchFamily="82" charset="0"/>
              </a:rPr>
              <a:t>self-limiting, disappearing </a:t>
            </a:r>
            <a:r>
              <a:rPr lang="en-US" sz="3200" dirty="0">
                <a:latin typeface="Gabriola" pitchFamily="82" charset="0"/>
              </a:rPr>
              <a:t>completely within 7 days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GB" sz="2800" b="1" dirty="0">
                <a:latin typeface="Gabriola" pitchFamily="82" charset="0"/>
              </a:rPr>
              <a:t>Tachycardia</a:t>
            </a:r>
            <a:r>
              <a:rPr lang="en-GB" sz="2800" dirty="0">
                <a:latin typeface="Gabriola" pitchFamily="82" charset="0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Increased heart rate as the body tries to compensate for decreased oxygenation.</a:t>
            </a:r>
          </a:p>
          <a:p>
            <a:pPr>
              <a:lnSpc>
                <a:spcPct val="150000"/>
              </a:lnSpc>
            </a:pPr>
            <a:r>
              <a:rPr lang="en-GB" sz="2800" b="1" dirty="0">
                <a:latin typeface="Gabriola" pitchFamily="82" charset="0"/>
              </a:rPr>
              <a:t>Hypotension</a:t>
            </a:r>
            <a:r>
              <a:rPr lang="en-GB" sz="2800" dirty="0">
                <a:latin typeface="Gabriola" pitchFamily="82" charset="0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Low blood pressure due to decreased blood volume and the obstructive effects of fat emboli.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0779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63408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" pitchFamily="18" charset="0"/>
                <a:cs typeface="Times" pitchFamily="18" charset="0"/>
              </a:rPr>
              <a:t>Diagnosis criteria </a:t>
            </a:r>
            <a:endParaRPr lang="en-US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640960" cy="49294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The most commonly used </a:t>
            </a:r>
            <a:r>
              <a:rPr lang="en-US" dirty="0" smtClean="0">
                <a:latin typeface="Gabriola" pitchFamily="82" charset="0"/>
              </a:rPr>
              <a:t>set of </a:t>
            </a:r>
            <a:r>
              <a:rPr lang="en-US" dirty="0">
                <a:latin typeface="Gabriola" pitchFamily="82" charset="0"/>
              </a:rPr>
              <a:t>major and minor diagnostic criteria are those published by </a:t>
            </a:r>
            <a:r>
              <a:rPr lang="en-US" dirty="0" err="1" smtClean="0">
                <a:latin typeface="Gabriola" pitchFamily="82" charset="0"/>
              </a:rPr>
              <a:t>Gurd</a:t>
            </a:r>
            <a:r>
              <a:rPr lang="en-US" dirty="0" smtClean="0">
                <a:latin typeface="Gabriola" pitchFamily="82" charset="0"/>
              </a:rPr>
              <a:t> criteria 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The major criteria are based on the classic triad </a:t>
            </a:r>
            <a:r>
              <a:rPr lang="en-US" dirty="0" smtClean="0">
                <a:latin typeface="Gabriola" pitchFamily="82" charset="0"/>
              </a:rPr>
              <a:t>and clinical </a:t>
            </a:r>
            <a:r>
              <a:rPr lang="en-US" dirty="0">
                <a:latin typeface="Gabriola" pitchFamily="82" charset="0"/>
              </a:rPr>
              <a:t>diagnosis is made by the presence of respiratory </a:t>
            </a:r>
            <a:r>
              <a:rPr lang="en-US" dirty="0" smtClean="0">
                <a:latin typeface="Gabriola" pitchFamily="82" charset="0"/>
              </a:rPr>
              <a:t>insufficiency, neurological </a:t>
            </a:r>
            <a:r>
              <a:rPr lang="en-US" dirty="0">
                <a:latin typeface="Gabriola" pitchFamily="82" charset="0"/>
              </a:rPr>
              <a:t>impairment, and a petechial rash.</a:t>
            </a:r>
          </a:p>
        </p:txBody>
      </p:sp>
    </p:spTree>
    <p:extLst>
      <p:ext uri="{BB962C8B-B14F-4D97-AF65-F5344CB8AC3E}">
        <p14:creationId xmlns:p14="http://schemas.microsoft.com/office/powerpoint/2010/main" val="37624713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820472" cy="70609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Gurd’s</a:t>
            </a:r>
            <a:r>
              <a:rPr lang="en-US" dirty="0" smtClean="0"/>
              <a:t> </a:t>
            </a:r>
            <a:r>
              <a:rPr lang="en-US" dirty="0"/>
              <a:t>criteria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1"/>
            <a:ext cx="8784976" cy="518457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Clinical Diagnosis: Major Criteria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Classic Triad</a:t>
            </a:r>
            <a:r>
              <a:rPr lang="en-US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Respiratory insufficiency</a:t>
            </a:r>
            <a:r>
              <a:rPr lang="en-US" dirty="0">
                <a:latin typeface="Gabriola" pitchFamily="82" charset="0"/>
              </a:rPr>
              <a:t> (e.g., hypoxia)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Neurological impairment</a:t>
            </a:r>
            <a:r>
              <a:rPr lang="en-US" dirty="0">
                <a:latin typeface="Gabriola" pitchFamily="82" charset="0"/>
              </a:rPr>
              <a:t> (e.g., confusion, seizures)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Petechial rash</a:t>
            </a:r>
            <a:r>
              <a:rPr lang="en-US" dirty="0">
                <a:latin typeface="Gabriola" pitchFamily="82" charset="0"/>
              </a:rPr>
              <a:t> (pathognomonic, present in 20-50% of cases)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Diagnostic Requirement</a:t>
            </a:r>
            <a:r>
              <a:rPr lang="en-US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At least </a:t>
            </a:r>
            <a:r>
              <a:rPr lang="en-US" b="1" dirty="0">
                <a:latin typeface="Gabriola" pitchFamily="82" charset="0"/>
              </a:rPr>
              <a:t>one major</a:t>
            </a:r>
            <a:r>
              <a:rPr lang="en-US" dirty="0">
                <a:latin typeface="Gabriola" pitchFamily="82" charset="0"/>
              </a:rPr>
              <a:t> and </a:t>
            </a:r>
            <a:r>
              <a:rPr lang="en-US" b="1" dirty="0">
                <a:latin typeface="Gabriola" pitchFamily="82" charset="0"/>
              </a:rPr>
              <a:t>four minor</a:t>
            </a:r>
            <a:r>
              <a:rPr lang="en-US" dirty="0">
                <a:latin typeface="Gabriola" pitchFamily="82" charset="0"/>
              </a:rPr>
              <a:t> criteria must be present.</a:t>
            </a:r>
          </a:p>
        </p:txBody>
      </p:sp>
    </p:spTree>
    <p:extLst>
      <p:ext uri="{BB962C8B-B14F-4D97-AF65-F5344CB8AC3E}">
        <p14:creationId xmlns:p14="http://schemas.microsoft.com/office/powerpoint/2010/main" val="24041817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8964488" cy="6093296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b="1" dirty="0">
                <a:latin typeface="Gabriola" pitchFamily="82" charset="0"/>
              </a:rPr>
              <a:t>Minor Criteria</a:t>
            </a:r>
          </a:p>
          <a:p>
            <a:pPr lvl="1">
              <a:lnSpc>
                <a:spcPct val="160000"/>
              </a:lnSpc>
            </a:pPr>
            <a:r>
              <a:rPr lang="en-US" b="1" dirty="0">
                <a:latin typeface="Gabriola" pitchFamily="82" charset="0"/>
              </a:rPr>
              <a:t>Unexplained anemia</a:t>
            </a:r>
            <a:r>
              <a:rPr lang="en-US" dirty="0">
                <a:latin typeface="Gabriola" pitchFamily="82" charset="0"/>
              </a:rPr>
              <a:t> (70% of patients)</a:t>
            </a:r>
          </a:p>
          <a:p>
            <a:pPr lvl="1">
              <a:lnSpc>
                <a:spcPct val="160000"/>
              </a:lnSpc>
            </a:pPr>
            <a:r>
              <a:rPr lang="en-US" b="1" dirty="0">
                <a:latin typeface="Gabriola" pitchFamily="82" charset="0"/>
              </a:rPr>
              <a:t>Thrombocytopenia</a:t>
            </a:r>
            <a:r>
              <a:rPr lang="en-US" dirty="0">
                <a:latin typeface="Gabriola" pitchFamily="82" charset="0"/>
              </a:rPr>
              <a:t> (platelet count &lt;150,000/mm³ in 50% of patients)</a:t>
            </a:r>
          </a:p>
          <a:p>
            <a:pPr lvl="1">
              <a:lnSpc>
                <a:spcPct val="160000"/>
              </a:lnSpc>
            </a:pPr>
            <a:r>
              <a:rPr lang="en-US" b="1" dirty="0">
                <a:latin typeface="Gabriola" pitchFamily="82" charset="0"/>
              </a:rPr>
              <a:t>Increased serum lipase</a:t>
            </a:r>
            <a:endParaRPr lang="en-US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US" b="1" dirty="0">
                <a:latin typeface="Gabriola" pitchFamily="82" charset="0"/>
              </a:rPr>
              <a:t>Fat globules</a:t>
            </a:r>
            <a:r>
              <a:rPr lang="en-US" dirty="0">
                <a:latin typeface="Gabriola" pitchFamily="82" charset="0"/>
              </a:rPr>
              <a:t> in urine, blood, or </a:t>
            </a:r>
            <a:r>
              <a:rPr lang="en-US" dirty="0" smtClean="0">
                <a:latin typeface="Gabriola" pitchFamily="82" charset="0"/>
              </a:rPr>
              <a:t>sputum</a:t>
            </a:r>
            <a:endParaRPr lang="en-US" dirty="0">
              <a:latin typeface="Gabriola" pitchFamily="82" charset="0"/>
            </a:endParaRPr>
          </a:p>
          <a:p>
            <a:pPr lvl="1">
              <a:lnSpc>
                <a:spcPct val="160000"/>
              </a:lnSpc>
            </a:pPr>
            <a:r>
              <a:rPr lang="en-US" b="1" dirty="0" err="1">
                <a:latin typeface="Gabriola" pitchFamily="82" charset="0"/>
              </a:rPr>
              <a:t>Hypocalcemia</a:t>
            </a:r>
            <a:r>
              <a:rPr lang="en-US" dirty="0">
                <a:latin typeface="Gabriola" pitchFamily="82" charset="0"/>
              </a:rPr>
              <a:t> (due to binding of free fatty acids to calcium)</a:t>
            </a:r>
          </a:p>
          <a:p>
            <a:pPr lvl="1">
              <a:lnSpc>
                <a:spcPct val="160000"/>
              </a:lnSpc>
            </a:pPr>
            <a:r>
              <a:rPr lang="en-US" b="1" dirty="0">
                <a:latin typeface="Gabriola" pitchFamily="82" charset="0"/>
              </a:rPr>
              <a:t>Radiological findings</a:t>
            </a:r>
            <a:r>
              <a:rPr lang="en-US" dirty="0">
                <a:latin typeface="Gabriola" pitchFamily="82" charset="0"/>
              </a:rPr>
              <a:t> (e.g., chest X-ray, CT, MRI changes)</a:t>
            </a:r>
          </a:p>
          <a:p>
            <a:pPr>
              <a:lnSpc>
                <a:spcPct val="160000"/>
              </a:lnSpc>
            </a:pPr>
            <a:endParaRPr lang="en-US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483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435280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err="1" smtClean="0"/>
              <a:t>Anesthetic</a:t>
            </a:r>
            <a:r>
              <a:rPr lang="en-GB" b="1" dirty="0" smtClean="0"/>
              <a:t> Management of FES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24744"/>
            <a:ext cx="8928992" cy="5733256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FES requires early identification and aggressive management to reduce morbidity and mortality. </a:t>
            </a:r>
          </a:p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Prevention</a:t>
            </a:r>
          </a:p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Careful Handling of Fractures</a:t>
            </a:r>
            <a:r>
              <a:rPr lang="en-GB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Prevent unnecessary manipulation of fractures, especially during initial assessment and during surgery. 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Techniques should minimize the release of bone marrow fat.</a:t>
            </a:r>
          </a:p>
        </p:txBody>
      </p:sp>
    </p:spTree>
    <p:extLst>
      <p:ext uri="{BB962C8B-B14F-4D97-AF65-F5344CB8AC3E}">
        <p14:creationId xmlns:p14="http://schemas.microsoft.com/office/powerpoint/2010/main" val="22932234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778098"/>
          </a:xfrm>
        </p:spPr>
        <p:txBody>
          <a:bodyPr/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435280" cy="5001419"/>
          </a:xfrm>
        </p:spPr>
        <p:txBody>
          <a:bodyPr/>
          <a:lstStyle/>
          <a:p>
            <a:pPr>
              <a:lnSpc>
                <a:spcPct val="160000"/>
              </a:lnSpc>
            </a:pPr>
            <a:r>
              <a:rPr lang="en-GB" b="1" dirty="0">
                <a:latin typeface="Gabriola" pitchFamily="82" charset="0"/>
              </a:rPr>
              <a:t>Stabilization</a:t>
            </a:r>
            <a:r>
              <a:rPr lang="en-GB" dirty="0">
                <a:latin typeface="Gabriola" pitchFamily="82" charset="0"/>
              </a:rPr>
              <a:t>: </a:t>
            </a:r>
          </a:p>
          <a:p>
            <a:pPr lvl="1">
              <a:lnSpc>
                <a:spcPct val="160000"/>
              </a:lnSpc>
            </a:pPr>
            <a:r>
              <a:rPr lang="en-GB" sz="3200" dirty="0">
                <a:latin typeface="Gabriola" pitchFamily="82" charset="0"/>
              </a:rPr>
              <a:t>Early immobilization of long bone fractures can reduce fat embolism risk. </a:t>
            </a:r>
          </a:p>
          <a:p>
            <a:pPr lvl="1"/>
            <a:r>
              <a:rPr lang="en-GB" sz="3200" b="1" dirty="0">
                <a:latin typeface="Gabriola" pitchFamily="82" charset="0"/>
              </a:rPr>
              <a:t>Fracture fixation</a:t>
            </a:r>
            <a:r>
              <a:rPr lang="en-GB" sz="3200" dirty="0">
                <a:latin typeface="Gabriola" pitchFamily="82" charset="0"/>
              </a:rPr>
              <a:t> should be performed as early as possible to limit the duration of bone exposure.</a:t>
            </a:r>
            <a:endParaRPr lang="en-GB" sz="3200" b="1" dirty="0">
              <a:latin typeface="Gabriola" pitchFamily="82" charset="0"/>
            </a:endParaRP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9140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579296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836712"/>
            <a:ext cx="8568952" cy="561662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Preventive Measures for High-Risk Patients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For high-energy trauma cases, manage pain with appropriate analgesia to avoid unnecessary movement.</a:t>
            </a:r>
          </a:p>
          <a:p>
            <a:pPr lvl="1">
              <a:lnSpc>
                <a:spcPct val="150000"/>
              </a:lnSpc>
            </a:pPr>
            <a:r>
              <a:rPr lang="en-GB" sz="3200" dirty="0" smtClean="0">
                <a:latin typeface="Gabriola" pitchFamily="82" charset="0"/>
              </a:rPr>
              <a:t>Use </a:t>
            </a:r>
            <a:r>
              <a:rPr lang="en-GB" sz="3200" b="1" dirty="0" smtClean="0">
                <a:latin typeface="Gabriola" pitchFamily="82" charset="0"/>
              </a:rPr>
              <a:t>preoperative medications</a:t>
            </a:r>
            <a:r>
              <a:rPr lang="en-GB" sz="3200" dirty="0" smtClean="0">
                <a:latin typeface="Gabriola" pitchFamily="82" charset="0"/>
              </a:rPr>
              <a:t> to optimize cardiovascular and respiratory function (e.g., bronchodilators if pulmonary compromise is present).</a:t>
            </a:r>
          </a:p>
        </p:txBody>
      </p:sp>
    </p:spTree>
    <p:extLst>
      <p:ext uri="{BB962C8B-B14F-4D97-AF65-F5344CB8AC3E}">
        <p14:creationId xmlns:p14="http://schemas.microsoft.com/office/powerpoint/2010/main" val="4614942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70609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Intraoperative Monitoring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640960" cy="5472608"/>
          </a:xfrm>
        </p:spPr>
        <p:txBody>
          <a:bodyPr>
            <a:normAutofit fontScale="92500"/>
          </a:bodyPr>
          <a:lstStyle/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Oxygenation</a:t>
            </a:r>
            <a:r>
              <a:rPr lang="en-GB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Continuous monitoring of </a:t>
            </a:r>
            <a:r>
              <a:rPr lang="en-GB" b="1" dirty="0" smtClean="0">
                <a:latin typeface="Gabriola" pitchFamily="82" charset="0"/>
              </a:rPr>
              <a:t>SpO2</a:t>
            </a:r>
            <a:r>
              <a:rPr lang="en-GB" dirty="0" smtClean="0">
                <a:latin typeface="Gabriola" pitchFamily="82" charset="0"/>
              </a:rPr>
              <a:t> and ABG. 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Any drop in oxygen levels should prompt immediate intervention, such as increased oxygen flow or mechanical ventilation.</a:t>
            </a:r>
          </a:p>
          <a:p>
            <a:pPr>
              <a:lnSpc>
                <a:spcPct val="170000"/>
              </a:lnSpc>
            </a:pPr>
            <a:r>
              <a:rPr lang="en-GB" b="1" dirty="0" err="1" smtClean="0">
                <a:latin typeface="Gabriola" pitchFamily="82" charset="0"/>
              </a:rPr>
              <a:t>Hemodynamics</a:t>
            </a:r>
            <a:r>
              <a:rPr lang="en-GB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Monitor blood pressure, heart rate, and central venous pressure (CVP). 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Any signs of shock or instability should be addressed promptly.</a:t>
            </a:r>
          </a:p>
          <a:p>
            <a:pPr>
              <a:lnSpc>
                <a:spcPct val="17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5674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856984" cy="5256584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GB" b="1" dirty="0" err="1" smtClean="0">
                <a:latin typeface="Gabriola" pitchFamily="82" charset="0"/>
              </a:rPr>
              <a:t>Ventilatory</a:t>
            </a:r>
            <a:r>
              <a:rPr lang="en-GB" b="1" dirty="0" smtClean="0">
                <a:latin typeface="Gabriola" pitchFamily="82" charset="0"/>
              </a:rPr>
              <a:t> Support</a:t>
            </a:r>
            <a:r>
              <a:rPr lang="en-GB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Prepare for the possibility of mechanical ventilation in case of respiratory failure.</a:t>
            </a:r>
          </a:p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ECG Monitoring</a:t>
            </a:r>
            <a:r>
              <a:rPr lang="en-GB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Continuous electrocardiogram (ECG) to detect arrhythmias or other signs of cardiac compromise.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84212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44624"/>
            <a:ext cx="7797552" cy="100811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4000" b="1" dirty="0" smtClean="0">
                <a:latin typeface="Times" pitchFamily="18" charset="0"/>
              </a:rPr>
              <a:t>Management Strategies for FES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908720"/>
            <a:ext cx="8712968" cy="576064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n-GB" sz="3000" b="1" dirty="0" smtClean="0">
                <a:latin typeface="Gabriola" pitchFamily="82" charset="0"/>
              </a:rPr>
              <a:t>Oxygen Therapy</a:t>
            </a:r>
            <a:r>
              <a:rPr lang="en-GB" sz="30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 </a:t>
            </a:r>
            <a:r>
              <a:rPr lang="en-GB" b="1" dirty="0" smtClean="0">
                <a:latin typeface="Gabriola" pitchFamily="82" charset="0"/>
              </a:rPr>
              <a:t>Supplemental oxygen</a:t>
            </a:r>
            <a:r>
              <a:rPr lang="en-GB" dirty="0" smtClean="0">
                <a:latin typeface="Gabriola" pitchFamily="82" charset="0"/>
              </a:rPr>
              <a:t> should be provided to improve oxygen saturation and reduce hypoxia. 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In severe cases, </a:t>
            </a:r>
            <a:r>
              <a:rPr lang="en-GB" b="1" dirty="0" smtClean="0">
                <a:latin typeface="Gabriola" pitchFamily="82" charset="0"/>
              </a:rPr>
              <a:t>mechanical ventilation</a:t>
            </a:r>
            <a:r>
              <a:rPr lang="en-GB" dirty="0" smtClean="0">
                <a:latin typeface="Gabriola" pitchFamily="82" charset="0"/>
              </a:rPr>
              <a:t> may be required.</a:t>
            </a:r>
          </a:p>
          <a:p>
            <a:pPr>
              <a:lnSpc>
                <a:spcPct val="160000"/>
              </a:lnSpc>
            </a:pPr>
            <a:r>
              <a:rPr lang="en-GB" sz="3000" b="1" dirty="0" smtClean="0">
                <a:latin typeface="Gabriola" pitchFamily="82" charset="0"/>
              </a:rPr>
              <a:t>Fluid Resuscitation</a:t>
            </a:r>
            <a:r>
              <a:rPr lang="en-GB" sz="3000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Aggressive fluid resuscitation with intravenous fluids (e.g., crystalloids) to combat hypotension and support circulation. 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Care should be taken not to overhydrate, as it could worsen pulmonary </a:t>
            </a:r>
            <a:r>
              <a:rPr lang="en-GB" dirty="0" err="1" smtClean="0">
                <a:latin typeface="Gabriola" pitchFamily="82" charset="0"/>
              </a:rPr>
              <a:t>edema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 marL="0" indent="0">
              <a:lnSpc>
                <a:spcPct val="16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02085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435280" cy="52174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Avoid Nitrous Oxide</a:t>
            </a:r>
            <a:r>
              <a:rPr lang="en-GB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Nitrous oxide is contraindicated in the perioperative management of FES as it may worsen fat embolism by causing fat globules to expand and move more rapidly into the circulation. 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Instead, use </a:t>
            </a:r>
            <a:r>
              <a:rPr lang="en-GB" b="1" dirty="0" smtClean="0">
                <a:latin typeface="Gabriola" pitchFamily="82" charset="0"/>
              </a:rPr>
              <a:t>oxygen</a:t>
            </a:r>
            <a:r>
              <a:rPr lang="en-GB" dirty="0" smtClean="0">
                <a:latin typeface="Gabriola" pitchFamily="82" charset="0"/>
              </a:rPr>
              <a:t> and other </a:t>
            </a:r>
            <a:r>
              <a:rPr lang="en-GB" dirty="0" err="1" smtClean="0">
                <a:latin typeface="Gabriola" pitchFamily="82" charset="0"/>
              </a:rPr>
              <a:t>anesthetic</a:t>
            </a:r>
            <a:r>
              <a:rPr lang="en-GB" dirty="0" smtClean="0">
                <a:latin typeface="Gabriola" pitchFamily="82" charset="0"/>
              </a:rPr>
              <a:t> agents (e.g., </a:t>
            </a:r>
            <a:r>
              <a:rPr lang="en-GB" b="1" dirty="0" err="1" smtClean="0">
                <a:latin typeface="Gabriola" pitchFamily="82" charset="0"/>
              </a:rPr>
              <a:t>propofol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b="1" dirty="0" err="1" smtClean="0">
                <a:latin typeface="Gabriola" pitchFamily="82" charset="0"/>
              </a:rPr>
              <a:t>sevoflurane</a:t>
            </a:r>
            <a:r>
              <a:rPr lang="en-GB" dirty="0" smtClean="0">
                <a:latin typeface="Gabriola" pitchFamily="82" charset="0"/>
              </a:rPr>
              <a:t>) to maintain </a:t>
            </a:r>
            <a:r>
              <a:rPr lang="en-GB" dirty="0" err="1" smtClean="0">
                <a:latin typeface="Gabriola" pitchFamily="82" charset="0"/>
              </a:rPr>
              <a:t>anesthesia</a:t>
            </a:r>
            <a:r>
              <a:rPr lang="en-GB" dirty="0" smtClean="0">
                <a:latin typeface="Gabriola" pitchFamily="82" charset="0"/>
              </a:rPr>
              <a:t> and ensure adequate oxygenation.</a:t>
            </a:r>
          </a:p>
        </p:txBody>
      </p:sp>
    </p:spTree>
    <p:extLst>
      <p:ext uri="{BB962C8B-B14F-4D97-AF65-F5344CB8AC3E}">
        <p14:creationId xmlns:p14="http://schemas.microsoft.com/office/powerpoint/2010/main" val="19966079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692696"/>
            <a:ext cx="8363272" cy="54334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Steroid Therapy</a:t>
            </a:r>
            <a:r>
              <a:rPr lang="en-GB" sz="2800" dirty="0" smtClean="0">
                <a:latin typeface="Gabriola" pitchFamily="82" charset="0"/>
              </a:rPr>
              <a:t>: 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Some studies suggest that </a:t>
            </a:r>
            <a:r>
              <a:rPr lang="en-GB" b="1" dirty="0" smtClean="0">
                <a:latin typeface="Gabriola" pitchFamily="82" charset="0"/>
              </a:rPr>
              <a:t>steroids</a:t>
            </a:r>
            <a:r>
              <a:rPr lang="en-GB" dirty="0" smtClean="0">
                <a:latin typeface="Gabriola" pitchFamily="82" charset="0"/>
              </a:rPr>
              <a:t> may be useful in reducing inflammation and </a:t>
            </a:r>
            <a:r>
              <a:rPr lang="en-GB" dirty="0" err="1" smtClean="0">
                <a:latin typeface="Gabriola" pitchFamily="82" charset="0"/>
              </a:rPr>
              <a:t>edema</a:t>
            </a:r>
            <a:r>
              <a:rPr lang="en-GB" dirty="0" smtClean="0">
                <a:latin typeface="Gabriola" pitchFamily="82" charset="0"/>
              </a:rPr>
              <a:t>, though the role is still debated.</a:t>
            </a:r>
          </a:p>
          <a:p>
            <a:pPr>
              <a:lnSpc>
                <a:spcPct val="150000"/>
              </a:lnSpc>
            </a:pPr>
            <a:r>
              <a:rPr lang="en-GB" sz="2800" b="1" dirty="0" err="1" smtClean="0">
                <a:latin typeface="Gabriola" pitchFamily="82" charset="0"/>
              </a:rPr>
              <a:t>Ventilatory</a:t>
            </a:r>
            <a:r>
              <a:rPr lang="en-GB" sz="2800" b="1" dirty="0" smtClean="0">
                <a:latin typeface="Gabriola" pitchFamily="82" charset="0"/>
              </a:rPr>
              <a:t> Support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Ensure </a:t>
            </a:r>
            <a:r>
              <a:rPr lang="en-GB" b="1" dirty="0" smtClean="0">
                <a:latin typeface="Gabriola" pitchFamily="82" charset="0"/>
              </a:rPr>
              <a:t>adequate ventilation</a:t>
            </a:r>
            <a:r>
              <a:rPr lang="en-GB" dirty="0" smtClean="0">
                <a:latin typeface="Gabriola" pitchFamily="82" charset="0"/>
              </a:rPr>
              <a:t> to correct hypoxia and respiratory acidosis. 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Positive pressure ventilation may be necessary in severe cases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8002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70609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Prognosis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47260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Mild Cases</a:t>
            </a:r>
            <a:r>
              <a:rPr lang="en-GB" dirty="0" smtClean="0">
                <a:latin typeface="Gabriola" pitchFamily="82" charset="0"/>
              </a:rPr>
              <a:t>: With early detection and proper management, patients may recover without significant long-term effects.</a:t>
            </a:r>
          </a:p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Severe Cases</a:t>
            </a:r>
            <a:r>
              <a:rPr lang="en-GB" dirty="0" smtClean="0">
                <a:latin typeface="Gabriola" pitchFamily="82" charset="0"/>
              </a:rPr>
              <a:t>: Mortality rates for FES can be high if the syndrome is not promptly recognized or effectively treated, with some studies reporting </a:t>
            </a:r>
            <a:r>
              <a:rPr lang="en-GB" b="1" dirty="0" smtClean="0">
                <a:latin typeface="Gabriola" pitchFamily="82" charset="0"/>
              </a:rPr>
              <a:t>fatality rates of 10-15%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Long-Term Effects</a:t>
            </a:r>
            <a:r>
              <a:rPr lang="en-GB" dirty="0" smtClean="0">
                <a:latin typeface="Gabriola" pitchFamily="82" charset="0"/>
              </a:rPr>
              <a:t>: Survivors of severe FES may suffer from long-term neurological deficits, respiratory compromise, or reduced quality of life.</a:t>
            </a:r>
          </a:p>
          <a:p>
            <a:pPr>
              <a:lnSpc>
                <a:spcPct val="16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54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90066"/>
          </a:xfrm>
        </p:spPr>
        <p:txBody>
          <a:bodyPr>
            <a:noAutofit/>
          </a:bodyPr>
          <a:lstStyle/>
          <a:p>
            <a:pPr algn="l"/>
            <a:r>
              <a:rPr lang="en-GB" sz="3200" dirty="0" smtClean="0">
                <a:latin typeface="Arial Black" pitchFamily="34" charset="0"/>
              </a:rPr>
              <a:t>2. Venous Thromboembolism (VTE)</a:t>
            </a:r>
            <a:endParaRPr lang="en-GB" sz="32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712968" cy="547260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VTE</a:t>
            </a:r>
            <a:r>
              <a:rPr lang="en-GB" dirty="0" smtClean="0">
                <a:latin typeface="Gabriola" pitchFamily="82" charset="0"/>
              </a:rPr>
              <a:t> refers to the formation of </a:t>
            </a:r>
            <a:r>
              <a:rPr lang="en-GB" b="1" dirty="0" smtClean="0">
                <a:latin typeface="Gabriola" pitchFamily="82" charset="0"/>
              </a:rPr>
              <a:t>blood clots</a:t>
            </a:r>
            <a:r>
              <a:rPr lang="en-GB" dirty="0" smtClean="0">
                <a:latin typeface="Gabriola" pitchFamily="82" charset="0"/>
              </a:rPr>
              <a:t> in the veins, which can travel to the lungs (pulmonary embolism or PE) and cause life-threatening complications.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VTE includes two main conditions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Deep Vein Thrombosis (DVT)</a:t>
            </a:r>
            <a:r>
              <a:rPr lang="en-GB" dirty="0" smtClean="0">
                <a:latin typeface="Gabriola" pitchFamily="82" charset="0"/>
              </a:rPr>
              <a:t>: Formation of a clot in a deep vein, typically in the lower extremities.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Pulmonary Embolism (PE)</a:t>
            </a:r>
            <a:r>
              <a:rPr lang="en-GB" dirty="0" smtClean="0">
                <a:latin typeface="Gabriola" pitchFamily="82" charset="0"/>
              </a:rPr>
              <a:t>: When a blood clot breaks loose and travels to the lungs, blocking pulmonary blood vessels, causing </a:t>
            </a:r>
            <a:r>
              <a:rPr lang="en-GB" b="1" dirty="0" smtClean="0">
                <a:latin typeface="Gabriola" pitchFamily="82" charset="0"/>
              </a:rPr>
              <a:t>hypoxia</a:t>
            </a:r>
            <a:r>
              <a:rPr lang="en-GB" dirty="0" smtClean="0">
                <a:latin typeface="Gabriola" pitchFamily="82" charset="0"/>
              </a:rPr>
              <a:t> and </a:t>
            </a:r>
            <a:r>
              <a:rPr lang="en-GB" b="1" dirty="0" smtClean="0">
                <a:latin typeface="Gabriola" pitchFamily="82" charset="0"/>
              </a:rPr>
              <a:t>cardiovascular instability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78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80728"/>
            <a:ext cx="8363272" cy="514543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High-Risk Surgical Procedures for VTE: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Pelvic Surgery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Hip and Knee Replacements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Spinal Surgery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Fracture Fixation Surgery</a:t>
            </a:r>
          </a:p>
          <a:p>
            <a:pPr>
              <a:lnSpc>
                <a:spcPct val="15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455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712968" cy="576064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Complications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DVT</a:t>
            </a:r>
            <a:r>
              <a:rPr lang="en-GB" dirty="0" smtClean="0">
                <a:latin typeface="Gabriola" pitchFamily="82" charset="0"/>
              </a:rPr>
              <a:t>: Common after lower extremity surgeries, especially hip, knee, and pelvis procedures.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PE</a:t>
            </a:r>
            <a:r>
              <a:rPr lang="en-GB" dirty="0" smtClean="0">
                <a:latin typeface="Gabriola" pitchFamily="82" charset="0"/>
              </a:rPr>
              <a:t>: Can occur when clots from DVT break off and travel to the lungs, causing </a:t>
            </a:r>
            <a:r>
              <a:rPr lang="en-GB" b="1" dirty="0" smtClean="0">
                <a:latin typeface="Gabriola" pitchFamily="82" charset="0"/>
              </a:rPr>
              <a:t>respiratory distress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b="1" dirty="0" smtClean="0">
                <a:latin typeface="Gabriola" pitchFamily="82" charset="0"/>
              </a:rPr>
              <a:t>hypoxia</a:t>
            </a:r>
            <a:r>
              <a:rPr lang="en-GB" dirty="0" smtClean="0">
                <a:latin typeface="Gabriola" pitchFamily="82" charset="0"/>
              </a:rPr>
              <a:t>, and potentially </a:t>
            </a:r>
            <a:r>
              <a:rPr lang="en-GB" b="1" dirty="0" smtClean="0">
                <a:latin typeface="Gabriola" pitchFamily="82" charset="0"/>
              </a:rPr>
              <a:t>cardiovascular collapse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Mortality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 PE is a significant cause of </a:t>
            </a:r>
            <a:r>
              <a:rPr lang="en-GB" b="1" dirty="0" smtClean="0">
                <a:latin typeface="Gabriola" pitchFamily="82" charset="0"/>
              </a:rPr>
              <a:t>perioperative morbidity and mortality</a:t>
            </a:r>
            <a:r>
              <a:rPr lang="en-GB" dirty="0" smtClean="0">
                <a:latin typeface="Gabriola" pitchFamily="82" charset="0"/>
              </a:rPr>
              <a:t> in </a:t>
            </a:r>
            <a:r>
              <a:rPr lang="en-GB" dirty="0" err="1" smtClean="0">
                <a:latin typeface="Gabriola" pitchFamily="82" charset="0"/>
              </a:rPr>
              <a:t>orthopedic</a:t>
            </a:r>
            <a:r>
              <a:rPr lang="en-GB" dirty="0" smtClean="0">
                <a:latin typeface="Gabriola" pitchFamily="82" charset="0"/>
              </a:rPr>
              <a:t> patients.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293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18058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4000" b="1" dirty="0" smtClean="0">
                <a:latin typeface="Times" pitchFamily="18" charset="0"/>
              </a:rPr>
              <a:t>Risk Factors for VTE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892480" cy="576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b="1" dirty="0" smtClean="0">
                <a:latin typeface="Gabriola" pitchFamily="82" charset="0"/>
              </a:rPr>
              <a:t>Prolonged Immobility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  <a:buFont typeface="Arial"/>
              <a:buChar char="•"/>
            </a:pPr>
            <a:r>
              <a:rPr lang="en-GB" dirty="0" err="1" smtClean="0">
                <a:latin typeface="Gabriola" pitchFamily="82" charset="0"/>
              </a:rPr>
              <a:t>Orthopedic</a:t>
            </a:r>
            <a:r>
              <a:rPr lang="en-GB" dirty="0" smtClean="0">
                <a:latin typeface="Gabriola" pitchFamily="82" charset="0"/>
              </a:rPr>
              <a:t> surgeries often require </a:t>
            </a:r>
            <a:r>
              <a:rPr lang="en-GB" b="1" dirty="0" smtClean="0">
                <a:latin typeface="Gabriola" pitchFamily="82" charset="0"/>
              </a:rPr>
              <a:t>extended periods of bed rest</a:t>
            </a:r>
            <a:r>
              <a:rPr lang="en-GB" dirty="0" smtClean="0">
                <a:latin typeface="Gabriola" pitchFamily="82" charset="0"/>
              </a:rPr>
              <a:t>, leading to </a:t>
            </a:r>
            <a:r>
              <a:rPr lang="en-GB" b="1" dirty="0" smtClean="0">
                <a:latin typeface="Gabriola" pitchFamily="82" charset="0"/>
              </a:rPr>
              <a:t>venous stasis</a:t>
            </a:r>
            <a:r>
              <a:rPr lang="en-GB" dirty="0" smtClean="0">
                <a:latin typeface="Gabriola" pitchFamily="82" charset="0"/>
              </a:rPr>
              <a:t> (slowed blood flow), which increases clotting risk.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b="1" dirty="0" smtClean="0">
                <a:latin typeface="Gabriola" pitchFamily="82" charset="0"/>
              </a:rPr>
              <a:t>Trauma or Surgery on Large Joints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  <a:buFont typeface="Arial"/>
              <a:buChar char="•"/>
            </a:pPr>
            <a:r>
              <a:rPr lang="en-GB" dirty="0" smtClean="0">
                <a:latin typeface="Gabriola" pitchFamily="82" charset="0"/>
              </a:rPr>
              <a:t>Surgeries involving the </a:t>
            </a:r>
            <a:r>
              <a:rPr lang="en-GB" b="1" dirty="0" smtClean="0">
                <a:latin typeface="Gabriola" pitchFamily="82" charset="0"/>
              </a:rPr>
              <a:t>hip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b="1" dirty="0" smtClean="0">
                <a:latin typeface="Gabriola" pitchFamily="82" charset="0"/>
              </a:rPr>
              <a:t>knee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b="1" dirty="0" smtClean="0">
                <a:latin typeface="Gabriola" pitchFamily="82" charset="0"/>
              </a:rPr>
              <a:t>pelvis</a:t>
            </a:r>
            <a:r>
              <a:rPr lang="en-GB" dirty="0" smtClean="0">
                <a:latin typeface="Gabriola" pitchFamily="82" charset="0"/>
              </a:rPr>
              <a:t>, or </a:t>
            </a:r>
            <a:r>
              <a:rPr lang="en-GB" b="1" dirty="0" smtClean="0">
                <a:latin typeface="Gabriola" pitchFamily="82" charset="0"/>
              </a:rPr>
              <a:t>spine</a:t>
            </a:r>
            <a:r>
              <a:rPr lang="en-GB" dirty="0" smtClean="0">
                <a:latin typeface="Gabriola" pitchFamily="82" charset="0"/>
              </a:rPr>
              <a:t> are associated with greater trauma and longer recovery periods, increasing the likelihood of clot formation.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2240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34605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784976" cy="5328592"/>
          </a:xfrm>
        </p:spPr>
        <p:txBody>
          <a:bodyPr/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3600" b="1" dirty="0">
                <a:latin typeface="Gabriola" pitchFamily="82" charset="0"/>
              </a:rPr>
              <a:t>Older Age</a:t>
            </a:r>
            <a:r>
              <a:rPr lang="en-GB" sz="3600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  <a:buFont typeface="Arial"/>
              <a:buChar char="•"/>
            </a:pPr>
            <a:r>
              <a:rPr lang="en-GB" sz="3200" dirty="0">
                <a:latin typeface="Gabriola" pitchFamily="82" charset="0"/>
              </a:rPr>
              <a:t>Aging increases the risk of both </a:t>
            </a:r>
            <a:r>
              <a:rPr lang="en-GB" sz="3200" b="1" dirty="0">
                <a:latin typeface="Gabriola" pitchFamily="82" charset="0"/>
              </a:rPr>
              <a:t>vascular damage</a:t>
            </a:r>
            <a:r>
              <a:rPr lang="en-GB" sz="3200" dirty="0">
                <a:latin typeface="Gabriola" pitchFamily="82" charset="0"/>
              </a:rPr>
              <a:t> and </a:t>
            </a:r>
            <a:r>
              <a:rPr lang="en-GB" sz="3200" b="1" dirty="0">
                <a:latin typeface="Gabriola" pitchFamily="82" charset="0"/>
              </a:rPr>
              <a:t>coagulopathy</a:t>
            </a:r>
            <a:r>
              <a:rPr lang="en-GB" sz="3200" dirty="0">
                <a:latin typeface="Gabriola" pitchFamily="82" charset="0"/>
              </a:rPr>
              <a:t> (increased clotting tendency).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2800" b="1" dirty="0">
                <a:latin typeface="Gabriola" pitchFamily="82" charset="0"/>
              </a:rPr>
              <a:t>Obesity</a:t>
            </a:r>
            <a:r>
              <a:rPr lang="en-GB" sz="2800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  <a:buFont typeface="Arial"/>
              <a:buChar char="•"/>
            </a:pPr>
            <a:r>
              <a:rPr lang="en-GB" dirty="0">
                <a:latin typeface="Gabriola" pitchFamily="82" charset="0"/>
              </a:rPr>
              <a:t>Obesity promotes </a:t>
            </a:r>
            <a:r>
              <a:rPr lang="en-GB" b="1" dirty="0">
                <a:latin typeface="Gabriola" pitchFamily="82" charset="0"/>
              </a:rPr>
              <a:t>venous stasis</a:t>
            </a:r>
            <a:r>
              <a:rPr lang="en-GB" dirty="0">
                <a:latin typeface="Gabriola" pitchFamily="82" charset="0"/>
              </a:rPr>
              <a:t> and </a:t>
            </a:r>
            <a:r>
              <a:rPr lang="en-GB" b="1" dirty="0">
                <a:latin typeface="Gabriola" pitchFamily="82" charset="0"/>
              </a:rPr>
              <a:t>inflammation</a:t>
            </a:r>
            <a:r>
              <a:rPr lang="en-GB" dirty="0">
                <a:latin typeface="Gabriola" pitchFamily="82" charset="0"/>
              </a:rPr>
              <a:t>, both of which are risk factors for VTE.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3954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20688"/>
            <a:ext cx="8507288" cy="583264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3000" b="1" dirty="0" smtClean="0">
                <a:latin typeface="Gabriola" pitchFamily="82" charset="0"/>
              </a:rPr>
              <a:t>History of VTE</a:t>
            </a:r>
            <a:r>
              <a:rPr lang="en-GB" sz="30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  <a:buFont typeface="Arial"/>
              <a:buChar char="•"/>
            </a:pPr>
            <a:r>
              <a:rPr lang="en-GB" sz="3000" dirty="0" smtClean="0">
                <a:latin typeface="Gabriola" pitchFamily="82" charset="0"/>
              </a:rPr>
              <a:t>Previous </a:t>
            </a:r>
            <a:r>
              <a:rPr lang="en-GB" sz="3000" b="1" dirty="0" smtClean="0">
                <a:latin typeface="Gabriola" pitchFamily="82" charset="0"/>
              </a:rPr>
              <a:t>deep vein thrombosis</a:t>
            </a:r>
            <a:r>
              <a:rPr lang="en-GB" sz="3000" dirty="0" smtClean="0">
                <a:latin typeface="Gabriola" pitchFamily="82" charset="0"/>
              </a:rPr>
              <a:t> or </a:t>
            </a:r>
            <a:r>
              <a:rPr lang="en-GB" sz="3000" b="1" dirty="0" smtClean="0">
                <a:latin typeface="Gabriola" pitchFamily="82" charset="0"/>
              </a:rPr>
              <a:t>pulmonary embolism</a:t>
            </a:r>
            <a:r>
              <a:rPr lang="en-GB" sz="3000" dirty="0" smtClean="0">
                <a:latin typeface="Gabriola" pitchFamily="82" charset="0"/>
              </a:rPr>
              <a:t> significantly increases the risk of recurrence.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3000" b="1" dirty="0" smtClean="0">
                <a:latin typeface="Gabriola" pitchFamily="82" charset="0"/>
              </a:rPr>
              <a:t>Other Comorbidities</a:t>
            </a:r>
            <a:r>
              <a:rPr lang="en-GB" sz="30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  <a:buFont typeface="Arial"/>
              <a:buChar char="•"/>
            </a:pPr>
            <a:r>
              <a:rPr lang="en-GB" sz="3000" b="1" dirty="0" smtClean="0">
                <a:latin typeface="Gabriola" pitchFamily="82" charset="0"/>
              </a:rPr>
              <a:t>Cancer</a:t>
            </a:r>
            <a:r>
              <a:rPr lang="en-GB" sz="3000" dirty="0" smtClean="0">
                <a:latin typeface="Gabriola" pitchFamily="82" charset="0"/>
              </a:rPr>
              <a:t>, </a:t>
            </a:r>
            <a:r>
              <a:rPr lang="en-GB" sz="3000" b="1" dirty="0" smtClean="0">
                <a:latin typeface="Gabriola" pitchFamily="82" charset="0"/>
              </a:rPr>
              <a:t>heart disease</a:t>
            </a:r>
            <a:r>
              <a:rPr lang="en-GB" sz="3000" dirty="0" smtClean="0">
                <a:latin typeface="Gabriola" pitchFamily="82" charset="0"/>
              </a:rPr>
              <a:t>, </a:t>
            </a:r>
            <a:r>
              <a:rPr lang="en-GB" sz="3000" b="1" dirty="0" smtClean="0">
                <a:latin typeface="Gabriola" pitchFamily="82" charset="0"/>
              </a:rPr>
              <a:t>diabetes</a:t>
            </a:r>
            <a:r>
              <a:rPr lang="en-GB" sz="3000" dirty="0" smtClean="0">
                <a:latin typeface="Gabriola" pitchFamily="82" charset="0"/>
              </a:rPr>
              <a:t>, and </a:t>
            </a:r>
            <a:r>
              <a:rPr lang="en-GB" sz="3000" b="1" dirty="0" smtClean="0">
                <a:latin typeface="Gabriola" pitchFamily="82" charset="0"/>
              </a:rPr>
              <a:t>varicose veins</a:t>
            </a:r>
            <a:r>
              <a:rPr lang="en-GB" sz="3000" dirty="0" smtClean="0">
                <a:latin typeface="Gabriola" pitchFamily="82" charset="0"/>
              </a:rPr>
              <a:t> contribute to a higher risk of clot formation.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8293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418058"/>
          </a:xfrm>
        </p:spPr>
        <p:txBody>
          <a:bodyPr>
            <a:normAutofit fontScale="90000"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GB" sz="2800" b="1" dirty="0" smtClean="0">
                <a:solidFill>
                  <a:prstClr val="black"/>
                </a:solidFill>
                <a:ea typeface="+mn-ea"/>
                <a:cs typeface="+mn-cs"/>
              </a:rPr>
              <a:t/>
            </a:r>
            <a:br>
              <a:rPr lang="en-GB" sz="2800" b="1" dirty="0" smtClean="0">
                <a:solidFill>
                  <a:prstClr val="black"/>
                </a:solidFill>
                <a:ea typeface="+mn-ea"/>
                <a:cs typeface="+mn-cs"/>
              </a:rPr>
            </a:br>
            <a:r>
              <a:rPr lang="en-GB" sz="3100" b="1" dirty="0" smtClean="0"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Prevention </a:t>
            </a:r>
            <a:r>
              <a:rPr lang="en-GB" sz="3100" b="1" dirty="0"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of VTE in </a:t>
            </a:r>
            <a:r>
              <a:rPr lang="en-GB" sz="3100" b="1" dirty="0" err="1"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Orthopedic</a:t>
            </a:r>
            <a:r>
              <a:rPr lang="en-GB" sz="3100" b="1" dirty="0">
                <a:solidFill>
                  <a:prstClr val="black"/>
                </a:solidFill>
                <a:latin typeface="Arial Black" pitchFamily="34" charset="0"/>
                <a:ea typeface="+mn-ea"/>
                <a:cs typeface="+mn-cs"/>
              </a:rPr>
              <a:t> Surgery</a:t>
            </a:r>
            <a:r>
              <a:rPr lang="en-GB" sz="2800" b="1" dirty="0">
                <a:solidFill>
                  <a:prstClr val="black"/>
                </a:solidFill>
                <a:ea typeface="+mn-ea"/>
                <a:cs typeface="+mn-cs"/>
              </a:rPr>
              <a:t/>
            </a:r>
            <a:br>
              <a:rPr lang="en-GB" sz="2800" b="1" dirty="0">
                <a:solidFill>
                  <a:prstClr val="black"/>
                </a:solidFill>
                <a:ea typeface="+mn-ea"/>
                <a:cs typeface="+mn-cs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836712"/>
            <a:ext cx="8640960" cy="56886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000" b="1" dirty="0" smtClean="0">
                <a:latin typeface="Gabriola" pitchFamily="82" charset="0"/>
              </a:rPr>
              <a:t>Preoperative and Intraoperative Strategies</a:t>
            </a:r>
            <a:r>
              <a:rPr lang="en-GB" sz="3000" dirty="0" smtClean="0">
                <a:latin typeface="Gabriola" pitchFamily="82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GB" sz="3000" b="1" dirty="0" smtClean="0">
                <a:latin typeface="Gabriola" pitchFamily="82" charset="0"/>
              </a:rPr>
              <a:t>Risk Assessment</a:t>
            </a:r>
            <a:r>
              <a:rPr lang="en-GB" sz="30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3000" dirty="0" smtClean="0">
                <a:latin typeface="Gabriola" pitchFamily="82" charset="0"/>
              </a:rPr>
              <a:t>Thorough evaluation of patient risk for VTE should be done preoperatively. Consider factors like age, obesity, history of VTE, and type of surgery.</a:t>
            </a:r>
          </a:p>
          <a:p>
            <a:pPr>
              <a:lnSpc>
                <a:spcPct val="150000"/>
              </a:lnSpc>
            </a:pPr>
            <a:endParaRPr lang="en-GB" sz="30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2037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548680"/>
            <a:ext cx="8507288" cy="557748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000" b="1" dirty="0">
                <a:latin typeface="Gabriola" pitchFamily="82" charset="0"/>
              </a:rPr>
              <a:t>Anticoagulation Therapy</a:t>
            </a:r>
            <a:r>
              <a:rPr lang="en-GB" sz="3000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3000" b="1" dirty="0">
                <a:latin typeface="Gabriola" pitchFamily="82" charset="0"/>
              </a:rPr>
              <a:t>Prophylactic Use of Anticoagulants</a:t>
            </a:r>
            <a:r>
              <a:rPr lang="en-GB" sz="3000" dirty="0">
                <a:latin typeface="Gabriola" pitchFamily="82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GB" sz="3000" b="1" dirty="0">
                <a:latin typeface="Gabriola" pitchFamily="82" charset="0"/>
              </a:rPr>
              <a:t>Heparin</a:t>
            </a:r>
            <a:r>
              <a:rPr lang="en-GB" sz="3000" dirty="0">
                <a:latin typeface="Gabriola" pitchFamily="82" charset="0"/>
              </a:rPr>
              <a:t>: </a:t>
            </a:r>
            <a:r>
              <a:rPr lang="en-GB" sz="3000" b="1" dirty="0">
                <a:latin typeface="Gabriola" pitchFamily="82" charset="0"/>
              </a:rPr>
              <a:t>Unfractionated heparin</a:t>
            </a:r>
            <a:r>
              <a:rPr lang="en-GB" sz="3000" dirty="0">
                <a:latin typeface="Gabriola" pitchFamily="82" charset="0"/>
              </a:rPr>
              <a:t> (UFH) or </a:t>
            </a:r>
            <a:r>
              <a:rPr lang="en-GB" sz="3000" b="1" dirty="0">
                <a:latin typeface="Gabriola" pitchFamily="82" charset="0"/>
              </a:rPr>
              <a:t>low molecular weight heparin</a:t>
            </a:r>
            <a:r>
              <a:rPr lang="en-GB" sz="3000" dirty="0">
                <a:latin typeface="Gabriola" pitchFamily="82" charset="0"/>
              </a:rPr>
              <a:t> (LMWH) are commonly used to prevent clot formation</a:t>
            </a:r>
            <a:r>
              <a:rPr lang="en-GB" sz="3000" dirty="0" smtClean="0">
                <a:latin typeface="Gabriola" pitchFamily="82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en-GB" sz="3000" b="1" dirty="0" err="1">
                <a:latin typeface="Gabriola" pitchFamily="82" charset="0"/>
              </a:rPr>
              <a:t>Fondaparinux</a:t>
            </a:r>
            <a:r>
              <a:rPr lang="en-GB" sz="3000" dirty="0">
                <a:latin typeface="Gabriola" pitchFamily="82" charset="0"/>
              </a:rPr>
              <a:t>: Alternative to heparin, especially in high-risk patients.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GB" sz="3000" dirty="0">
              <a:latin typeface="Gabriola" pitchFamily="82" charset="0"/>
            </a:endParaRP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6390790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-108520" y="116631"/>
            <a:ext cx="8795320" cy="360039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676456" cy="5289451"/>
          </a:xfrm>
        </p:spPr>
        <p:txBody>
          <a:bodyPr>
            <a:normAutofit/>
          </a:bodyPr>
          <a:lstStyle/>
          <a:p>
            <a:pPr lvl="2">
              <a:lnSpc>
                <a:spcPct val="150000"/>
              </a:lnSpc>
            </a:pPr>
            <a:r>
              <a:rPr lang="en-GB" sz="3000" b="1" dirty="0" smtClean="0">
                <a:latin typeface="Gabriola" pitchFamily="82" charset="0"/>
              </a:rPr>
              <a:t>Direct Oral Anticoagulants (DOACs)</a:t>
            </a:r>
            <a:r>
              <a:rPr lang="en-GB" sz="3000" dirty="0" smtClean="0">
                <a:latin typeface="Gabriola" pitchFamily="82" charset="0"/>
              </a:rPr>
              <a:t>: Used in some patients, but they require careful management and monitoring.</a:t>
            </a:r>
          </a:p>
          <a:p>
            <a:pPr lvl="2">
              <a:lnSpc>
                <a:spcPct val="150000"/>
              </a:lnSpc>
            </a:pPr>
            <a:endParaRPr lang="en-GB" sz="30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sz="3000" b="1" dirty="0" smtClean="0">
                <a:latin typeface="Gabriola" pitchFamily="82" charset="0"/>
              </a:rPr>
              <a:t>Timing</a:t>
            </a:r>
            <a:r>
              <a:rPr lang="en-GB" sz="3000" dirty="0" smtClean="0">
                <a:latin typeface="Gabriola" pitchFamily="82" charset="0"/>
              </a:rPr>
              <a:t>: Anticoagulants should typically be started </a:t>
            </a:r>
            <a:r>
              <a:rPr lang="en-GB" sz="3000" b="1" dirty="0" smtClean="0">
                <a:latin typeface="Gabriola" pitchFamily="82" charset="0"/>
              </a:rPr>
              <a:t>24 hours post-surgery</a:t>
            </a:r>
            <a:r>
              <a:rPr lang="en-GB" sz="3000" dirty="0" smtClean="0">
                <a:latin typeface="Gabriola" pitchFamily="82" charset="0"/>
              </a:rPr>
              <a:t> to prevent VTE without increasing the risk of bleeding.</a:t>
            </a:r>
          </a:p>
          <a:p>
            <a:pPr>
              <a:lnSpc>
                <a:spcPct val="150000"/>
              </a:lnSpc>
            </a:pPr>
            <a:endParaRPr lang="en-GB" sz="30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06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1309630"/>
              </p:ext>
            </p:extLst>
          </p:nvPr>
        </p:nvGraphicFramePr>
        <p:xfrm>
          <a:off x="150312" y="260648"/>
          <a:ext cx="8964488" cy="6813320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241122"/>
                <a:gridCol w="2241122"/>
                <a:gridCol w="2241122"/>
                <a:gridCol w="2241122"/>
              </a:tblGrid>
              <a:tr h="30983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Anticoagulant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Prophylaxis Dose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Administration Route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Notes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</a:tr>
              <a:tr h="6389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Low Molecular Weight Heparin (LMWH)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Enoxaparin: 40 mg once daily (subcutaneously)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Subcutaneous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Dose may be adjusted for high-risk patients.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</a:tr>
              <a:tr h="638943"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Dalteparin</a:t>
                      </a:r>
                      <a:r>
                        <a:rPr lang="en-US" sz="1600" dirty="0">
                          <a:effectLst/>
                        </a:rPr>
                        <a:t>: 5,000 units once daily (subcutaneously)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Subcutaneous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</a:tr>
              <a:tr h="9680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Unfractionated Heparin (UFH)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5,000 units every 8–12 hours (subcutaneously)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Subcutaneous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Dose adjustments based on patient condition (e.g., renal function).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</a:tr>
              <a:tr h="6389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Direct Oral Anticoagulants (DOACs)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Apixaban: 2.5 mg twice daily (oral)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Oral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Commonly used post-surgery (hip/knee replacement).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</a:tr>
              <a:tr h="638943"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Rivaroxaban: 10 mg once daily (oral)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Oral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</a:tr>
              <a:tr h="968054"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Dabigatran: 110 mg once daily (oral) on Day 1, then 220 mg once daily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Oral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</a:tr>
              <a:tr h="9680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Warfarin (Vitamin K Antagonist)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Initial dose: 5–10 mg once daily (oral), adjusted to INR 2.0–3.0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Oral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Requires frequent INR monitoring.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</a:tr>
              <a:tr h="63894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Fondaparinux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2.5 mg once daily (subcutaneously)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Subcutaneous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Times" pitchFamily="18" charset="0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265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784976" cy="54006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LMWH and UFH</a:t>
            </a:r>
            <a:r>
              <a:rPr lang="en-US" dirty="0">
                <a:latin typeface="Gabriola" pitchFamily="82" charset="0"/>
              </a:rPr>
              <a:t> are most commonly used for </a:t>
            </a:r>
            <a:r>
              <a:rPr lang="en-US" b="1" dirty="0">
                <a:latin typeface="Gabriola" pitchFamily="82" charset="0"/>
              </a:rPr>
              <a:t>hospital-based</a:t>
            </a:r>
            <a:r>
              <a:rPr lang="en-US" dirty="0">
                <a:latin typeface="Gabriola" pitchFamily="82" charset="0"/>
              </a:rPr>
              <a:t> VTE prevention, particularly in patients undergoing surgery or with limited mobility</a:t>
            </a:r>
            <a:r>
              <a:rPr lang="en-US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DOACs</a:t>
            </a:r>
            <a:r>
              <a:rPr lang="en-US" dirty="0" smtClean="0">
                <a:latin typeface="Gabriola" pitchFamily="82" charset="0"/>
              </a:rPr>
              <a:t> </a:t>
            </a:r>
            <a:r>
              <a:rPr lang="en-US" dirty="0">
                <a:latin typeface="Gabriola" pitchFamily="82" charset="0"/>
              </a:rPr>
              <a:t>are often used in </a:t>
            </a:r>
            <a:r>
              <a:rPr lang="en-US" b="1" dirty="0">
                <a:latin typeface="Gabriola" pitchFamily="82" charset="0"/>
              </a:rPr>
              <a:t>outpatient settings</a:t>
            </a:r>
            <a:r>
              <a:rPr lang="en-US" dirty="0">
                <a:latin typeface="Gabriola" pitchFamily="82" charset="0"/>
              </a:rPr>
              <a:t> due to their ease of administration (oral) and lack of routine monitoring</a:t>
            </a:r>
            <a:r>
              <a:rPr lang="en-US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Warfarin</a:t>
            </a:r>
            <a:r>
              <a:rPr lang="en-US" dirty="0" smtClean="0">
                <a:latin typeface="Gabriola" pitchFamily="82" charset="0"/>
              </a:rPr>
              <a:t> </a:t>
            </a:r>
            <a:r>
              <a:rPr lang="en-US" dirty="0">
                <a:latin typeface="Gabriola" pitchFamily="82" charset="0"/>
              </a:rPr>
              <a:t>requires careful monitoring with regular INR checks, and its use has decreased in favor of DOACs for VTE prevention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1478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922114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Role of Regional </a:t>
            </a:r>
            <a:r>
              <a:rPr lang="en-GB" b="1" dirty="0" err="1" smtClean="0"/>
              <a:t>Anesthesia</a:t>
            </a:r>
            <a:r>
              <a:rPr lang="en-GB" b="1" dirty="0" smtClean="0"/>
              <a:t> in VTE Prevention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68760"/>
            <a:ext cx="8568952" cy="51845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3000" b="1" dirty="0" err="1" smtClean="0">
                <a:latin typeface="Gabriola" pitchFamily="82" charset="0"/>
              </a:rPr>
              <a:t>Neuraxial</a:t>
            </a:r>
            <a:r>
              <a:rPr lang="en-GB" sz="3000" b="1" dirty="0" smtClean="0">
                <a:latin typeface="Gabriola" pitchFamily="82" charset="0"/>
              </a:rPr>
              <a:t> </a:t>
            </a:r>
            <a:r>
              <a:rPr lang="en-GB" sz="3000" b="1" dirty="0" err="1" smtClean="0">
                <a:latin typeface="Gabriola" pitchFamily="82" charset="0"/>
              </a:rPr>
              <a:t>Anesthesia</a:t>
            </a:r>
            <a:r>
              <a:rPr lang="en-GB" sz="3000" b="1" dirty="0" smtClean="0">
                <a:latin typeface="Gabriola" pitchFamily="82" charset="0"/>
              </a:rPr>
              <a:t> (Epidural or Spinal Blocks):</a:t>
            </a:r>
          </a:p>
          <a:p>
            <a:pPr lvl="1">
              <a:lnSpc>
                <a:spcPct val="150000"/>
              </a:lnSpc>
              <a:buFont typeface="Arial"/>
              <a:buChar char="•"/>
            </a:pPr>
            <a:r>
              <a:rPr lang="en-GB" sz="3000" b="1" dirty="0" smtClean="0">
                <a:latin typeface="Gabriola" pitchFamily="82" charset="0"/>
              </a:rPr>
              <a:t>Mechanism</a:t>
            </a:r>
            <a:r>
              <a:rPr lang="en-GB" sz="3000" dirty="0" smtClean="0">
                <a:latin typeface="Gabriola" pitchFamily="82" charset="0"/>
              </a:rPr>
              <a:t>: </a:t>
            </a:r>
            <a:r>
              <a:rPr lang="en-GB" sz="3000" dirty="0" err="1" smtClean="0">
                <a:latin typeface="Gabriola" pitchFamily="82" charset="0"/>
              </a:rPr>
              <a:t>Neuraxial</a:t>
            </a:r>
            <a:r>
              <a:rPr lang="en-GB" sz="3000" dirty="0" smtClean="0">
                <a:latin typeface="Gabriola" pitchFamily="82" charset="0"/>
              </a:rPr>
              <a:t> blocks can reduce VTE risk by promoting venous return and reducing deep venous stasis.</a:t>
            </a:r>
          </a:p>
          <a:p>
            <a:pPr lvl="1">
              <a:lnSpc>
                <a:spcPct val="150000"/>
              </a:lnSpc>
              <a:buFont typeface="Arial"/>
              <a:buChar char="•"/>
            </a:pPr>
            <a:r>
              <a:rPr lang="en-GB" sz="3000" b="1" dirty="0" smtClean="0">
                <a:latin typeface="Gabriola" pitchFamily="82" charset="0"/>
              </a:rPr>
              <a:t>Effect on Circulation</a:t>
            </a:r>
            <a:r>
              <a:rPr lang="en-GB" sz="3000" dirty="0" smtClean="0">
                <a:latin typeface="Gabriola" pitchFamily="82" charset="0"/>
              </a:rPr>
              <a:t>: By blocking sympathetic nerves, </a:t>
            </a:r>
            <a:r>
              <a:rPr lang="en-GB" sz="3000" dirty="0" err="1" smtClean="0">
                <a:latin typeface="Gabriola" pitchFamily="82" charset="0"/>
              </a:rPr>
              <a:t>neuraxial</a:t>
            </a:r>
            <a:r>
              <a:rPr lang="en-GB" sz="3000" dirty="0" smtClean="0">
                <a:latin typeface="Gabriola" pitchFamily="82" charset="0"/>
              </a:rPr>
              <a:t> </a:t>
            </a:r>
            <a:r>
              <a:rPr lang="en-GB" sz="3000" dirty="0" err="1" smtClean="0">
                <a:latin typeface="Gabriola" pitchFamily="82" charset="0"/>
              </a:rPr>
              <a:t>anesthesia</a:t>
            </a:r>
            <a:r>
              <a:rPr lang="en-GB" sz="3000" dirty="0" smtClean="0">
                <a:latin typeface="Gabriola" pitchFamily="82" charset="0"/>
              </a:rPr>
              <a:t> helps improve circulatory dynamics and reduce clot formation.</a:t>
            </a:r>
          </a:p>
        </p:txBody>
      </p:sp>
    </p:spTree>
    <p:extLst>
      <p:ext uri="{BB962C8B-B14F-4D97-AF65-F5344CB8AC3E}">
        <p14:creationId xmlns:p14="http://schemas.microsoft.com/office/powerpoint/2010/main" val="3818054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496944" cy="5184576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50000"/>
              </a:lnSpc>
              <a:buFont typeface="Arial"/>
              <a:buChar char="•"/>
            </a:pPr>
            <a:r>
              <a:rPr lang="en-GB" sz="3000" b="1" dirty="0" smtClean="0">
                <a:latin typeface="Gabriola" pitchFamily="82" charset="0"/>
              </a:rPr>
              <a:t>Postoperative Effects</a:t>
            </a:r>
            <a:r>
              <a:rPr lang="en-GB" sz="3000" dirty="0" smtClean="0">
                <a:latin typeface="Gabriola" pitchFamily="82" charset="0"/>
              </a:rPr>
              <a:t>: Epidural and spinal </a:t>
            </a:r>
            <a:r>
              <a:rPr lang="en-GB" sz="3000" dirty="0" err="1" smtClean="0">
                <a:latin typeface="Gabriola" pitchFamily="82" charset="0"/>
              </a:rPr>
              <a:t>anesthesia</a:t>
            </a:r>
            <a:r>
              <a:rPr lang="en-GB" sz="3000" dirty="0" smtClean="0">
                <a:latin typeface="Gabriola" pitchFamily="82" charset="0"/>
              </a:rPr>
              <a:t> provide </a:t>
            </a:r>
            <a:r>
              <a:rPr lang="en-GB" sz="3000" b="1" dirty="0" smtClean="0">
                <a:latin typeface="Gabriola" pitchFamily="82" charset="0"/>
              </a:rPr>
              <a:t>excellent postoperative analgesia</a:t>
            </a:r>
            <a:r>
              <a:rPr lang="en-GB" sz="3000" dirty="0" smtClean="0">
                <a:latin typeface="Gabriola" pitchFamily="82" charset="0"/>
              </a:rPr>
              <a:t>, encouraging early movement, which further reduces the risk of VTE.</a:t>
            </a:r>
            <a:endParaRPr lang="en-GB" sz="3000" b="1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GB" sz="3000" b="1" dirty="0" smtClean="0">
                <a:latin typeface="Gabriola" pitchFamily="82" charset="0"/>
              </a:rPr>
              <a:t>Other Regional Techniques</a:t>
            </a:r>
            <a:r>
              <a:rPr lang="en-GB" sz="30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  <a:buFont typeface="Arial"/>
              <a:buChar char="•"/>
            </a:pPr>
            <a:r>
              <a:rPr lang="en-GB" sz="3000" b="1" dirty="0" smtClean="0">
                <a:latin typeface="Gabriola" pitchFamily="82" charset="0"/>
              </a:rPr>
              <a:t>Peripheral Nerve Blocks</a:t>
            </a:r>
            <a:r>
              <a:rPr lang="en-GB" sz="3000" dirty="0" smtClean="0">
                <a:latin typeface="Gabriola" pitchFamily="82" charset="0"/>
              </a:rPr>
              <a:t>: Can also be used for pain management to reduce opioid use, which can further enhance early mobilization.</a:t>
            </a:r>
          </a:p>
          <a:p>
            <a:pPr>
              <a:lnSpc>
                <a:spcPct val="150000"/>
              </a:lnSpc>
            </a:pPr>
            <a:endParaRPr lang="en-GB" sz="3000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GB" sz="30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437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922114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3600" b="1" dirty="0" err="1" smtClean="0"/>
              <a:t>Anesthesia</a:t>
            </a:r>
            <a:r>
              <a:rPr lang="en-GB" sz="3600" b="1" dirty="0" smtClean="0"/>
              <a:t> Management for VTE Prevention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784976" cy="5760640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GB" sz="3000" b="1" dirty="0" smtClean="0">
                <a:latin typeface="Gabriola" pitchFamily="82" charset="0"/>
              </a:rPr>
              <a:t>Preoperative Assessment</a:t>
            </a:r>
            <a:r>
              <a:rPr lang="en-GB" sz="30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GB" sz="3000" b="1" dirty="0" smtClean="0">
                <a:latin typeface="Gabriola" pitchFamily="82" charset="0"/>
              </a:rPr>
              <a:t>Comprehensive Risk Stratification</a:t>
            </a:r>
            <a:r>
              <a:rPr lang="en-GB" sz="3000" dirty="0" smtClean="0">
                <a:latin typeface="Gabriola" pitchFamily="82" charset="0"/>
              </a:rPr>
              <a:t>: Identify high-risk patients based on their </a:t>
            </a:r>
            <a:r>
              <a:rPr lang="en-GB" sz="3000" b="1" dirty="0" smtClean="0">
                <a:latin typeface="Gabriola" pitchFamily="82" charset="0"/>
              </a:rPr>
              <a:t>medical history</a:t>
            </a:r>
            <a:r>
              <a:rPr lang="en-GB" sz="3000" dirty="0" smtClean="0">
                <a:latin typeface="Gabriola" pitchFamily="82" charset="0"/>
              </a:rPr>
              <a:t>, </a:t>
            </a:r>
            <a:r>
              <a:rPr lang="en-GB" sz="3000" b="1" dirty="0" smtClean="0">
                <a:latin typeface="Gabriola" pitchFamily="82" charset="0"/>
              </a:rPr>
              <a:t>surgical procedure</a:t>
            </a:r>
            <a:r>
              <a:rPr lang="en-GB" sz="3000" dirty="0" smtClean="0">
                <a:latin typeface="Gabriola" pitchFamily="82" charset="0"/>
              </a:rPr>
              <a:t>, and </a:t>
            </a:r>
            <a:r>
              <a:rPr lang="en-GB" sz="3000" b="1" dirty="0" smtClean="0">
                <a:latin typeface="Gabriola" pitchFamily="82" charset="0"/>
              </a:rPr>
              <a:t>VTE risk factors</a:t>
            </a:r>
            <a:r>
              <a:rPr lang="en-GB" sz="3000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70000"/>
              </a:lnSpc>
            </a:pPr>
            <a:r>
              <a:rPr lang="en-GB" sz="3000" b="1" dirty="0" smtClean="0">
                <a:latin typeface="Gabriola" pitchFamily="82" charset="0"/>
              </a:rPr>
              <a:t>Planning for Antithrombotic Therapy</a:t>
            </a:r>
            <a:r>
              <a:rPr lang="en-GB" sz="3000" dirty="0" smtClean="0">
                <a:latin typeface="Gabriola" pitchFamily="82" charset="0"/>
              </a:rPr>
              <a:t>: Ensure appropriate use of anticoagulation based on individual risk profiles.</a:t>
            </a:r>
          </a:p>
        </p:txBody>
      </p:sp>
    </p:spTree>
    <p:extLst>
      <p:ext uri="{BB962C8B-B14F-4D97-AF65-F5344CB8AC3E}">
        <p14:creationId xmlns:p14="http://schemas.microsoft.com/office/powerpoint/2010/main" val="349339196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778098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" pitchFamily="18" charset="0"/>
                <a:cs typeface="Times" pitchFamily="18" charset="0"/>
              </a:rPr>
              <a:t>Regional </a:t>
            </a:r>
            <a:r>
              <a:rPr lang="en-US" dirty="0">
                <a:latin typeface="Times" pitchFamily="18" charset="0"/>
                <a:cs typeface="Times" pitchFamily="18" charset="0"/>
              </a:rPr>
              <a:t>Anesthesia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640960" cy="5112568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3000" b="1" dirty="0" smtClean="0">
                <a:latin typeface="Gabriola" pitchFamily="82" charset="0"/>
              </a:rPr>
              <a:t>Low </a:t>
            </a:r>
            <a:r>
              <a:rPr lang="en-US" sz="3000" b="1" dirty="0">
                <a:latin typeface="Gabriola" pitchFamily="82" charset="0"/>
              </a:rPr>
              <a:t>Molecular Weight Heparin (LMWH</a:t>
            </a:r>
            <a:r>
              <a:rPr lang="en-US" sz="3000" b="1" dirty="0" smtClean="0">
                <a:latin typeface="Gabriola" pitchFamily="82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Gabriola" pitchFamily="82" charset="0"/>
              </a:rPr>
              <a:t>Avoid </a:t>
            </a:r>
            <a:r>
              <a:rPr lang="en-US" sz="3000" dirty="0" err="1">
                <a:latin typeface="Gabriola" pitchFamily="82" charset="0"/>
              </a:rPr>
              <a:t>neuraxial</a:t>
            </a:r>
            <a:r>
              <a:rPr lang="en-US" sz="3000" dirty="0">
                <a:latin typeface="Gabriola" pitchFamily="82" charset="0"/>
              </a:rPr>
              <a:t> blocks within </a:t>
            </a:r>
            <a:r>
              <a:rPr lang="en-US" sz="3000" b="1" dirty="0">
                <a:latin typeface="Gabriola" pitchFamily="82" charset="0"/>
              </a:rPr>
              <a:t>12 hours</a:t>
            </a:r>
            <a:r>
              <a:rPr lang="en-US" sz="3000" dirty="0">
                <a:latin typeface="Gabriola" pitchFamily="82" charset="0"/>
              </a:rPr>
              <a:t> of dosing. </a:t>
            </a:r>
            <a:br>
              <a:rPr lang="en-US" sz="3000" dirty="0">
                <a:latin typeface="Gabriola" pitchFamily="82" charset="0"/>
              </a:rPr>
            </a:br>
            <a:r>
              <a:rPr lang="en-US" sz="3000" dirty="0">
                <a:latin typeface="Gabriola" pitchFamily="82" charset="0"/>
              </a:rPr>
              <a:t>- Risk of epidural/spinal hematoma</a:t>
            </a:r>
            <a:r>
              <a:rPr lang="en-US" sz="3000" dirty="0" smtClean="0">
                <a:latin typeface="Gabriola" pitchFamily="82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000" dirty="0">
                <a:latin typeface="Gabriola" pitchFamily="82" charset="0"/>
              </a:rPr>
              <a:t>2. </a:t>
            </a:r>
            <a:r>
              <a:rPr lang="en-US" sz="3000" b="1" dirty="0">
                <a:latin typeface="Gabriola" pitchFamily="82" charset="0"/>
              </a:rPr>
              <a:t>Unfractionated Heparin (UFH</a:t>
            </a:r>
            <a:r>
              <a:rPr lang="en-US" sz="3000" b="1" dirty="0" smtClean="0">
                <a:latin typeface="Gabriola" pitchFamily="82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Gabriola" pitchFamily="82" charset="0"/>
              </a:rPr>
              <a:t>Avoid </a:t>
            </a:r>
            <a:r>
              <a:rPr lang="en-US" sz="3000" dirty="0" err="1">
                <a:latin typeface="Gabriola" pitchFamily="82" charset="0"/>
              </a:rPr>
              <a:t>neuraxial</a:t>
            </a:r>
            <a:r>
              <a:rPr lang="en-US" sz="3000" dirty="0">
                <a:latin typeface="Gabriola" pitchFamily="82" charset="0"/>
              </a:rPr>
              <a:t> blocks for 4-6 hours post-injection</a:t>
            </a:r>
            <a:r>
              <a:rPr lang="en-US" sz="3000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3000" dirty="0" smtClean="0">
                <a:latin typeface="Gabriola" pitchFamily="82" charset="0"/>
              </a:rPr>
              <a:t>Monitor </a:t>
            </a:r>
            <a:r>
              <a:rPr lang="en-US" sz="3000" dirty="0">
                <a:latin typeface="Gabriola" pitchFamily="82" charset="0"/>
              </a:rPr>
              <a:t>for bleeding risk.</a:t>
            </a:r>
          </a:p>
        </p:txBody>
      </p:sp>
    </p:spTree>
    <p:extLst>
      <p:ext uri="{BB962C8B-B14F-4D97-AF65-F5344CB8AC3E}">
        <p14:creationId xmlns:p14="http://schemas.microsoft.com/office/powerpoint/2010/main" val="41391336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27404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8928992" cy="528945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000" b="1" dirty="0" smtClean="0">
                <a:latin typeface="Gabriola" pitchFamily="82" charset="0"/>
              </a:rPr>
              <a:t>3.Direct </a:t>
            </a:r>
            <a:r>
              <a:rPr lang="en-US" sz="3000" b="1" dirty="0">
                <a:latin typeface="Gabriola" pitchFamily="82" charset="0"/>
              </a:rPr>
              <a:t>Oral Anticoagulants (DOACs</a:t>
            </a:r>
            <a:r>
              <a:rPr lang="en-US" sz="3000" b="1" dirty="0" smtClean="0">
                <a:latin typeface="Gabriola" pitchFamily="82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sz="3000" dirty="0" err="1" smtClean="0">
                <a:latin typeface="Gabriola" pitchFamily="82" charset="0"/>
              </a:rPr>
              <a:t>Apixaban</a:t>
            </a:r>
            <a:r>
              <a:rPr lang="en-US" sz="3000" dirty="0" smtClean="0">
                <a:latin typeface="Gabriola" pitchFamily="82" charset="0"/>
              </a:rPr>
              <a:t> and </a:t>
            </a:r>
            <a:r>
              <a:rPr lang="en-US" sz="3000" dirty="0" err="1" smtClean="0">
                <a:latin typeface="Gabriola" pitchFamily="82" charset="0"/>
              </a:rPr>
              <a:t>Rivaroxaban</a:t>
            </a:r>
            <a:r>
              <a:rPr lang="en-US" sz="3000" dirty="0" smtClean="0">
                <a:latin typeface="Gabriola" pitchFamily="82" charset="0"/>
              </a:rPr>
              <a:t> :- Wait </a:t>
            </a:r>
            <a:r>
              <a:rPr lang="en-US" sz="3000" dirty="0">
                <a:latin typeface="Gabriola" pitchFamily="82" charset="0"/>
              </a:rPr>
              <a:t>24 </a:t>
            </a:r>
            <a:r>
              <a:rPr lang="en-US" sz="3000" dirty="0" smtClean="0">
                <a:latin typeface="Gabriola" pitchFamily="82" charset="0"/>
              </a:rPr>
              <a:t>hours </a:t>
            </a:r>
            <a:r>
              <a:rPr lang="en-US" sz="3000" dirty="0">
                <a:latin typeface="Gabriola" pitchFamily="82" charset="0"/>
              </a:rPr>
              <a:t>after last dose before regional </a:t>
            </a:r>
            <a:r>
              <a:rPr lang="en-US" sz="3000" dirty="0" smtClean="0">
                <a:latin typeface="Gabriola" pitchFamily="82" charset="0"/>
              </a:rPr>
              <a:t>block</a:t>
            </a:r>
          </a:p>
          <a:p>
            <a:pPr lvl="1">
              <a:lnSpc>
                <a:spcPct val="150000"/>
              </a:lnSpc>
            </a:pPr>
            <a:r>
              <a:rPr lang="en-US" sz="3000" dirty="0" err="1" smtClean="0">
                <a:latin typeface="Gabriola" pitchFamily="82" charset="0"/>
              </a:rPr>
              <a:t>Dabigatran</a:t>
            </a:r>
            <a:r>
              <a:rPr lang="en-US" sz="3000" dirty="0" smtClean="0">
                <a:latin typeface="Gabriola" pitchFamily="82" charset="0"/>
              </a:rPr>
              <a:t> :-Hold </a:t>
            </a:r>
            <a:r>
              <a:rPr lang="en-US" sz="3000" dirty="0">
                <a:latin typeface="Gabriola" pitchFamily="82" charset="0"/>
              </a:rPr>
              <a:t>for 48 hours before </a:t>
            </a:r>
            <a:r>
              <a:rPr lang="en-US" sz="3000" dirty="0" err="1">
                <a:latin typeface="Gabriola" pitchFamily="82" charset="0"/>
              </a:rPr>
              <a:t>neuraxial</a:t>
            </a:r>
            <a:r>
              <a:rPr lang="en-US" sz="3000" dirty="0">
                <a:latin typeface="Gabriola" pitchFamily="82" charset="0"/>
              </a:rPr>
              <a:t> procedures</a:t>
            </a:r>
            <a:r>
              <a:rPr lang="en-US" sz="3000" dirty="0" smtClean="0">
                <a:latin typeface="Gabriola" pitchFamily="82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latin typeface="Gabriola" pitchFamily="82" charset="0"/>
              </a:rPr>
              <a:t>4. Warfarin (Vitamin K Antagonist</a:t>
            </a:r>
            <a:r>
              <a:rPr lang="en-US" sz="3600" dirty="0" smtClean="0">
                <a:latin typeface="Gabriola" pitchFamily="82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stop </a:t>
            </a:r>
            <a:r>
              <a:rPr lang="en-US" b="1" dirty="0">
                <a:latin typeface="Gabriola" pitchFamily="82" charset="0"/>
              </a:rPr>
              <a:t>5 days</a:t>
            </a:r>
            <a:r>
              <a:rPr lang="en-US" dirty="0">
                <a:latin typeface="Gabriola" pitchFamily="82" charset="0"/>
              </a:rPr>
              <a:t> before surgery. </a:t>
            </a:r>
            <a:br>
              <a:rPr lang="en-US" dirty="0">
                <a:latin typeface="Gabriola" pitchFamily="82" charset="0"/>
              </a:rPr>
            </a:br>
            <a:r>
              <a:rPr lang="en-US" dirty="0">
                <a:latin typeface="Gabriola" pitchFamily="82" charset="0"/>
              </a:rPr>
              <a:t>- </a:t>
            </a:r>
            <a:r>
              <a:rPr lang="en-US" b="1" dirty="0">
                <a:latin typeface="Gabriola" pitchFamily="82" charset="0"/>
              </a:rPr>
              <a:t>INR &lt; 1.5</a:t>
            </a:r>
            <a:r>
              <a:rPr lang="en-US" dirty="0">
                <a:latin typeface="Gabriola" pitchFamily="82" charset="0"/>
              </a:rPr>
              <a:t> required before </a:t>
            </a:r>
            <a:r>
              <a:rPr lang="en-US" dirty="0" err="1">
                <a:latin typeface="Gabriola" pitchFamily="82" charset="0"/>
              </a:rPr>
              <a:t>neuraxial</a:t>
            </a:r>
            <a:r>
              <a:rPr lang="en-US" dirty="0">
                <a:latin typeface="Gabriola" pitchFamily="82" charset="0"/>
              </a:rPr>
              <a:t> block.</a:t>
            </a:r>
            <a:endParaRPr lang="en-US" sz="30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89231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784976" cy="5145435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3000" b="1" dirty="0">
                <a:latin typeface="Gabriola" pitchFamily="82" charset="0"/>
              </a:rPr>
              <a:t>Intraoperative Considerations</a:t>
            </a:r>
            <a:r>
              <a:rPr lang="en-GB" sz="3000" dirty="0">
                <a:latin typeface="Gabriola" pitchFamily="82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GB" sz="3000" b="1" dirty="0">
                <a:latin typeface="Gabriola" pitchFamily="82" charset="0"/>
              </a:rPr>
              <a:t>Regional </a:t>
            </a:r>
            <a:r>
              <a:rPr lang="en-GB" sz="3000" b="1" dirty="0" err="1">
                <a:latin typeface="Gabriola" pitchFamily="82" charset="0"/>
              </a:rPr>
              <a:t>Anesthesia</a:t>
            </a:r>
            <a:r>
              <a:rPr lang="en-GB" sz="3000" dirty="0">
                <a:latin typeface="Gabriola" pitchFamily="82" charset="0"/>
              </a:rPr>
              <a:t>: Consider </a:t>
            </a:r>
            <a:r>
              <a:rPr lang="en-GB" sz="3000" b="1" dirty="0">
                <a:latin typeface="Gabriola" pitchFamily="82" charset="0"/>
              </a:rPr>
              <a:t>spinal or epidural blocks</a:t>
            </a:r>
            <a:r>
              <a:rPr lang="en-GB" sz="3000" dirty="0">
                <a:latin typeface="Gabriola" pitchFamily="82" charset="0"/>
              </a:rPr>
              <a:t> for their circulatory benefits.</a:t>
            </a:r>
          </a:p>
          <a:p>
            <a:pPr lvl="1">
              <a:lnSpc>
                <a:spcPct val="170000"/>
              </a:lnSpc>
            </a:pPr>
            <a:r>
              <a:rPr lang="en-GB" sz="3000" b="1" dirty="0">
                <a:latin typeface="Gabriola" pitchFamily="82" charset="0"/>
              </a:rPr>
              <a:t>Use of Mechanical Prophylaxis</a:t>
            </a:r>
            <a:r>
              <a:rPr lang="en-GB" sz="3000" dirty="0">
                <a:latin typeface="Gabriola" pitchFamily="82" charset="0"/>
              </a:rPr>
              <a:t>: Ensure SCDs are applied to all patients at high risk for VTE.</a:t>
            </a:r>
          </a:p>
          <a:p>
            <a:pPr lvl="1">
              <a:lnSpc>
                <a:spcPct val="170000"/>
              </a:lnSpc>
            </a:pPr>
            <a:r>
              <a:rPr lang="en-GB" sz="3000" b="1" dirty="0">
                <a:latin typeface="Gabriola" pitchFamily="82" charset="0"/>
              </a:rPr>
              <a:t>Fluid Management</a:t>
            </a:r>
            <a:r>
              <a:rPr lang="en-GB" sz="3000" dirty="0">
                <a:latin typeface="Gabriola" pitchFamily="82" charset="0"/>
              </a:rPr>
              <a:t>: Ensure </a:t>
            </a:r>
            <a:r>
              <a:rPr lang="en-GB" sz="3000" b="1" dirty="0">
                <a:latin typeface="Gabriola" pitchFamily="82" charset="0"/>
              </a:rPr>
              <a:t>adequate hydration</a:t>
            </a:r>
            <a:r>
              <a:rPr lang="en-GB" sz="3000" dirty="0">
                <a:latin typeface="Gabriola" pitchFamily="82" charset="0"/>
              </a:rPr>
              <a:t> to prevent dehydration and promote circulation.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29578671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55446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Postoperative Monitoring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Monitor for VTE Symptoms</a:t>
            </a:r>
            <a:r>
              <a:rPr lang="en-GB" sz="3200" dirty="0" smtClean="0">
                <a:latin typeface="Gabriola" pitchFamily="82" charset="0"/>
              </a:rPr>
              <a:t>: Watch for signs of </a:t>
            </a:r>
            <a:r>
              <a:rPr lang="en-GB" sz="3200" b="1" dirty="0" smtClean="0">
                <a:latin typeface="Gabriola" pitchFamily="82" charset="0"/>
              </a:rPr>
              <a:t>DVT</a:t>
            </a:r>
            <a:r>
              <a:rPr lang="en-GB" sz="3200" dirty="0" smtClean="0">
                <a:latin typeface="Gabriola" pitchFamily="82" charset="0"/>
              </a:rPr>
              <a:t> (leg swelling, pain, redness) and </a:t>
            </a:r>
            <a:r>
              <a:rPr lang="en-GB" sz="3200" b="1" dirty="0" smtClean="0">
                <a:latin typeface="Gabriola" pitchFamily="82" charset="0"/>
              </a:rPr>
              <a:t>PE</a:t>
            </a:r>
            <a:r>
              <a:rPr lang="en-GB" sz="3200" dirty="0" smtClean="0">
                <a:latin typeface="Gabriola" pitchFamily="82" charset="0"/>
              </a:rPr>
              <a:t> (chest pain, shortness of breath, hypoxia).</a:t>
            </a:r>
          </a:p>
          <a:p>
            <a:pPr lvl="1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Follow-up with Anticoagulation</a:t>
            </a:r>
          </a:p>
          <a:p>
            <a:pPr lvl="1">
              <a:lnSpc>
                <a:spcPct val="150000"/>
              </a:lnSpc>
            </a:pPr>
            <a:r>
              <a:rPr lang="en-GB" sz="3200" b="1" dirty="0" smtClean="0">
                <a:latin typeface="Gabriola" pitchFamily="82" charset="0"/>
              </a:rPr>
              <a:t>Rehabilitation</a:t>
            </a:r>
            <a:r>
              <a:rPr lang="en-GB" sz="3200" dirty="0" smtClean="0">
                <a:latin typeface="Gabriola" pitchFamily="82" charset="0"/>
              </a:rPr>
              <a:t>: Continue with early mobilization to enhance circulation and reduce the risk of clot formation.</a:t>
            </a:r>
          </a:p>
          <a:p>
            <a:pPr>
              <a:lnSpc>
                <a:spcPct val="150000"/>
              </a:lnSpc>
            </a:pPr>
            <a:endParaRPr lang="en-GB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7897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70609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Times" pitchFamily="18" charset="0"/>
              </a:rPr>
              <a:t>3. </a:t>
            </a:r>
            <a:r>
              <a:rPr lang="fr-FR" b="1" dirty="0" err="1" smtClean="0">
                <a:latin typeface="Times" pitchFamily="18" charset="0"/>
              </a:rPr>
              <a:t>Bone</a:t>
            </a:r>
            <a:r>
              <a:rPr lang="fr-FR" b="1" dirty="0" smtClean="0">
                <a:latin typeface="Times" pitchFamily="18" charset="0"/>
              </a:rPr>
              <a:t> </a:t>
            </a:r>
            <a:r>
              <a:rPr lang="fr-FR" b="1" dirty="0" err="1" smtClean="0">
                <a:latin typeface="Times" pitchFamily="18" charset="0"/>
              </a:rPr>
              <a:t>Cement</a:t>
            </a:r>
            <a:r>
              <a:rPr lang="fr-FR" b="1" dirty="0" smtClean="0">
                <a:latin typeface="Times" pitchFamily="18" charset="0"/>
              </a:rPr>
              <a:t> Implantation Syndrome (BCIS)</a:t>
            </a:r>
            <a:endParaRPr lang="en-GB" b="1" dirty="0">
              <a:latin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568952" cy="5184576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sz="3000" dirty="0" smtClean="0">
                <a:latin typeface="Gabriola" pitchFamily="82" charset="0"/>
              </a:rPr>
              <a:t>A complication that occurs during or immediately after the use of bone cement (PMMA) in joint replacement surgeries, particularly hip and knee </a:t>
            </a:r>
            <a:r>
              <a:rPr lang="en-GB" sz="3000" dirty="0" err="1" smtClean="0">
                <a:latin typeface="Gabriola" pitchFamily="82" charset="0"/>
              </a:rPr>
              <a:t>arthroplasties</a:t>
            </a:r>
            <a:r>
              <a:rPr lang="en-GB" sz="3000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60000"/>
              </a:lnSpc>
            </a:pPr>
            <a:r>
              <a:rPr lang="en-GB" sz="3000" dirty="0" smtClean="0">
                <a:latin typeface="Gabriola" pitchFamily="82" charset="0"/>
              </a:rPr>
              <a:t>It occurs when bone cement (</a:t>
            </a:r>
            <a:r>
              <a:rPr lang="en-GB" sz="3000" dirty="0" err="1" smtClean="0">
                <a:latin typeface="Gabriola" pitchFamily="82" charset="0"/>
              </a:rPr>
              <a:t>polymethyl</a:t>
            </a:r>
            <a:r>
              <a:rPr lang="en-GB" sz="3000" dirty="0" smtClean="0">
                <a:latin typeface="Gabriola" pitchFamily="82" charset="0"/>
              </a:rPr>
              <a:t> methacrylate - PMMA) is introduced into the bone, and certain adverse reactions to the cement can lead to hemodynamic instability and respiratory complications.</a:t>
            </a:r>
          </a:p>
        </p:txBody>
      </p:sp>
    </p:spTree>
    <p:extLst>
      <p:ext uri="{BB962C8B-B14F-4D97-AF65-F5344CB8AC3E}">
        <p14:creationId xmlns:p14="http://schemas.microsoft.com/office/powerpoint/2010/main" val="32961652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52894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The incidence of BCIS in relevant </a:t>
            </a:r>
            <a:r>
              <a:rPr lang="en-US" dirty="0" err="1">
                <a:latin typeface="Gabriola" pitchFamily="82" charset="0"/>
              </a:rPr>
              <a:t>orthopaedic</a:t>
            </a:r>
            <a:r>
              <a:rPr lang="en-US" dirty="0">
                <a:latin typeface="Gabriola" pitchFamily="82" charset="0"/>
              </a:rPr>
              <a:t> procedures is approximately 20%, and the incidence of a severe reaction resulting in cardiovascular collapse within this group is 0.5-1.7</a:t>
            </a:r>
            <a:r>
              <a:rPr lang="en-US" dirty="0" smtClean="0">
                <a:latin typeface="Gabriola" pitchFamily="82" charset="0"/>
              </a:rPr>
              <a:t>%.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 The ability to predict, </a:t>
            </a:r>
            <a:r>
              <a:rPr lang="en-US" dirty="0" smtClean="0">
                <a:latin typeface="Gabriola" pitchFamily="82" charset="0"/>
              </a:rPr>
              <a:t>recognize, </a:t>
            </a:r>
            <a:r>
              <a:rPr lang="en-US" dirty="0">
                <a:latin typeface="Gabriola" pitchFamily="82" charset="0"/>
              </a:rPr>
              <a:t>and manage BCIS in the perioperative setting is important for every </a:t>
            </a:r>
            <a:r>
              <a:rPr lang="en-US" dirty="0" err="1">
                <a:latin typeface="Gabriola" pitchFamily="82" charset="0"/>
              </a:rPr>
              <a:t>anaesthesia</a:t>
            </a:r>
            <a:r>
              <a:rPr lang="en-US" dirty="0">
                <a:latin typeface="Gabriola" pitchFamily="82" charset="0"/>
              </a:rPr>
              <a:t> provider.</a:t>
            </a:r>
          </a:p>
        </p:txBody>
      </p:sp>
    </p:spTree>
    <p:extLst>
      <p:ext uri="{BB962C8B-B14F-4D97-AF65-F5344CB8AC3E}">
        <p14:creationId xmlns:p14="http://schemas.microsoft.com/office/powerpoint/2010/main" val="42892321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850106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" pitchFamily="18" charset="0"/>
                <a:cs typeface="Times" pitchFamily="18" charset="0"/>
              </a:rPr>
              <a:t>CLINICAL FEATURES AND CLASSIFICATION</a:t>
            </a:r>
            <a:br>
              <a:rPr lang="en-US" sz="3200" b="1" dirty="0">
                <a:latin typeface="Times" pitchFamily="18" charset="0"/>
                <a:cs typeface="Times" pitchFamily="18" charset="0"/>
              </a:rPr>
            </a:br>
            <a:endParaRPr lang="en-US" sz="3200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268760"/>
            <a:ext cx="8568952" cy="5256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Physiologically</a:t>
            </a:r>
            <a:r>
              <a:rPr lang="en-US" dirty="0">
                <a:latin typeface="Gabriola" pitchFamily="82" charset="0"/>
              </a:rPr>
              <a:t>, Bone Cement Implantation Syndrome results in </a:t>
            </a:r>
            <a:r>
              <a:rPr lang="en-US" dirty="0" smtClean="0">
                <a:latin typeface="Gabriola" pitchFamily="82" charset="0"/>
              </a:rPr>
              <a:t>reduced arterial </a:t>
            </a:r>
            <a:r>
              <a:rPr lang="en-US" dirty="0">
                <a:latin typeface="Gabriola" pitchFamily="82" charset="0"/>
              </a:rPr>
              <a:t>oxygenation, </a:t>
            </a:r>
            <a:r>
              <a:rPr lang="en-US" dirty="0" smtClean="0">
                <a:latin typeface="Gabriola" pitchFamily="82" charset="0"/>
              </a:rPr>
              <a:t>characterized </a:t>
            </a:r>
            <a:r>
              <a:rPr lang="en-US" dirty="0">
                <a:latin typeface="Gabriola" pitchFamily="82" charset="0"/>
              </a:rPr>
              <a:t>by a combination of clinical </a:t>
            </a:r>
            <a:r>
              <a:rPr lang="en-US" dirty="0" smtClean="0">
                <a:latin typeface="Gabriola" pitchFamily="82" charset="0"/>
              </a:rPr>
              <a:t>features.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The cardiovascular changes present can be </a:t>
            </a:r>
            <a:r>
              <a:rPr lang="en-US" dirty="0" smtClean="0">
                <a:latin typeface="Gabriola" pitchFamily="82" charset="0"/>
              </a:rPr>
              <a:t>variable</a:t>
            </a:r>
            <a:endParaRPr lang="en-US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8960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778098"/>
          </a:xfrm>
        </p:spPr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The most common  cardiovascular responses are: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3200" dirty="0" smtClean="0">
                <a:latin typeface="Gabriola" pitchFamily="82" charset="0"/>
              </a:rPr>
              <a:t>A reduction in mean arterial pressure, stroke volume, cardiac output and 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3200" dirty="0" smtClean="0">
                <a:latin typeface="Gabriola" pitchFamily="82" charset="0"/>
              </a:rPr>
              <a:t>As well as an increase in pulmonary vascular resistance, resulting in reduced </a:t>
            </a:r>
            <a:r>
              <a:rPr lang="en-US" sz="3200" dirty="0" err="1" smtClean="0">
                <a:latin typeface="Gabriola" pitchFamily="82" charset="0"/>
              </a:rPr>
              <a:t>rightventricular</a:t>
            </a:r>
            <a:r>
              <a:rPr lang="en-US" sz="3200" dirty="0" smtClean="0">
                <a:latin typeface="Gabriola" pitchFamily="82" charset="0"/>
              </a:rPr>
              <a:t> ejection fraction.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080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56207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Gabriola" pitchFamily="82" charset="0"/>
              </a:rPr>
              <a:t>Clinical features consistent with BCIS</a:t>
            </a:r>
            <a:br>
              <a:rPr lang="en-US" b="1" dirty="0">
                <a:latin typeface="Gabriola" pitchFamily="82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712968" cy="5256584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3000" dirty="0" smtClean="0">
                <a:latin typeface="Gabriola" pitchFamily="82" charset="0"/>
              </a:rPr>
              <a:t>Hypoxia</a:t>
            </a:r>
            <a:endParaRPr lang="en-US" sz="3000" dirty="0">
              <a:latin typeface="Gabriola" pitchFamily="82" charset="0"/>
            </a:endParaRP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Gabriola" pitchFamily="82" charset="0"/>
              </a:rPr>
              <a:t>Sudden loss of arterial pressure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Gabriola" pitchFamily="82" charset="0"/>
              </a:rPr>
              <a:t>Pulmonary hypertension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Gabriola" pitchFamily="82" charset="0"/>
              </a:rPr>
              <a:t>Arrhythmias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Gabriola" pitchFamily="82" charset="0"/>
              </a:rPr>
              <a:t>Loss of consciousness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Gabriola" pitchFamily="82" charset="0"/>
              </a:rPr>
              <a:t>Cardiac arrest</a:t>
            </a:r>
          </a:p>
        </p:txBody>
      </p:sp>
    </p:spTree>
    <p:extLst>
      <p:ext uri="{BB962C8B-B14F-4D97-AF65-F5344CB8AC3E}">
        <p14:creationId xmlns:p14="http://schemas.microsoft.com/office/powerpoint/2010/main" val="16312926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92696"/>
            <a:ext cx="8784976" cy="5433467"/>
          </a:xfrm>
        </p:spPr>
        <p:txBody>
          <a:bodyPr/>
          <a:lstStyle/>
          <a:p>
            <a:r>
              <a:rPr lang="en-US" b="1" dirty="0">
                <a:latin typeface="Gabriola" pitchFamily="82" charset="0"/>
              </a:rPr>
              <a:t>Classification of BCIS Severity (Based on Donaldson et al.)</a:t>
            </a:r>
            <a:endParaRPr lang="en-US" dirty="0">
              <a:latin typeface="Gabriola" pitchFamily="82" charset="0"/>
            </a:endParaRP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4429559"/>
              </p:ext>
            </p:extLst>
          </p:nvPr>
        </p:nvGraphicFramePr>
        <p:xfrm>
          <a:off x="251520" y="1556792"/>
          <a:ext cx="8496944" cy="51581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24236"/>
                <a:gridCol w="2124236"/>
                <a:gridCol w="2124236"/>
                <a:gridCol w="2124236"/>
              </a:tblGrid>
              <a:tr h="7407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" pitchFamily="18" charset="0"/>
                          <a:cs typeface="Times" pitchFamily="18" charset="0"/>
                        </a:rPr>
                        <a:t>Severity</a:t>
                      </a:r>
                      <a:endParaRPr lang="en-US" sz="2400" dirty="0"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" pitchFamily="18" charset="0"/>
                          <a:cs typeface="Times" pitchFamily="18" charset="0"/>
                        </a:rPr>
                        <a:t>Hypoxia</a:t>
                      </a:r>
                      <a:endParaRPr lang="en-US" sz="2400"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" pitchFamily="18" charset="0"/>
                          <a:cs typeface="Times" pitchFamily="18" charset="0"/>
                        </a:rPr>
                        <a:t>Hypotension</a:t>
                      </a:r>
                      <a:endParaRPr lang="en-US" sz="2400"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" pitchFamily="18" charset="0"/>
                          <a:cs typeface="Times" pitchFamily="18" charset="0"/>
                        </a:rPr>
                        <a:t>Consciousness Level</a:t>
                      </a:r>
                      <a:endParaRPr lang="en-US" sz="2400"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</a:tr>
              <a:tr h="7407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  <a:latin typeface="Times" pitchFamily="18" charset="0"/>
                          <a:cs typeface="Times" pitchFamily="18" charset="0"/>
                        </a:rPr>
                        <a:t>Grade 1</a:t>
                      </a:r>
                      <a:endParaRPr lang="en-US" sz="2400" dirty="0"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  <a:latin typeface="Times" pitchFamily="18" charset="0"/>
                          <a:cs typeface="Times" pitchFamily="18" charset="0"/>
                        </a:rPr>
                        <a:t>Moderate</a:t>
                      </a:r>
                      <a:r>
                        <a:rPr lang="en-US" sz="2400" baseline="0" dirty="0" smtClean="0">
                          <a:effectLst/>
                          <a:latin typeface="Times" pitchFamily="18" charset="0"/>
                          <a:cs typeface="Times" pitchFamily="18" charset="0"/>
                        </a:rPr>
                        <a:t>  </a:t>
                      </a:r>
                      <a:r>
                        <a:rPr lang="en-US" sz="2400" dirty="0" smtClean="0">
                          <a:effectLst/>
                          <a:latin typeface="Times" pitchFamily="18" charset="0"/>
                          <a:cs typeface="Times" pitchFamily="18" charset="0"/>
                        </a:rPr>
                        <a:t>&lt; 94</a:t>
                      </a:r>
                      <a:r>
                        <a:rPr lang="en-US" sz="2400" baseline="0" dirty="0" smtClean="0">
                          <a:effectLst/>
                          <a:latin typeface="Times" pitchFamily="18" charset="0"/>
                          <a:cs typeface="Times" pitchFamily="18" charset="0"/>
                        </a:rPr>
                        <a:t> </a:t>
                      </a:r>
                      <a:endParaRPr lang="en-US" sz="2400" dirty="0"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" pitchFamily="18" charset="0"/>
                          <a:ea typeface="+mn-ea"/>
                          <a:cs typeface="Times" pitchFamily="18" charset="0"/>
                        </a:rPr>
                        <a:t>Moderate: Decrease in SBP ≥ 20%</a:t>
                      </a:r>
                      <a:endParaRPr lang="en-US" sz="2400" dirty="0"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" pitchFamily="18" charset="0"/>
                          <a:cs typeface="Times" pitchFamily="18" charset="0"/>
                        </a:rPr>
                        <a:t>Alert and oriented</a:t>
                      </a:r>
                      <a:endParaRPr lang="en-US" sz="2400" dirty="0"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</a:tr>
              <a:tr h="15275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  <a:latin typeface="Times" pitchFamily="18" charset="0"/>
                          <a:cs typeface="Times" pitchFamily="18" charset="0"/>
                        </a:rPr>
                        <a:t>Grade 2</a:t>
                      </a:r>
                      <a:endParaRPr lang="en-US" sz="2400" dirty="0"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  <a:latin typeface="Times" pitchFamily="18" charset="0"/>
                          <a:cs typeface="Times" pitchFamily="18" charset="0"/>
                        </a:rPr>
                        <a:t>Sever</a:t>
                      </a:r>
                      <a:r>
                        <a:rPr lang="en-US" sz="2400" baseline="0" dirty="0" smtClean="0">
                          <a:effectLst/>
                          <a:latin typeface="Times" pitchFamily="18" charset="0"/>
                          <a:cs typeface="Times" pitchFamily="18" charset="0"/>
                        </a:rPr>
                        <a:t> &lt; 88</a:t>
                      </a:r>
                      <a:endParaRPr lang="en-US" sz="2400" dirty="0"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" pitchFamily="18" charset="0"/>
                          <a:ea typeface="+mn-ea"/>
                          <a:cs typeface="Times" pitchFamily="18" charset="0"/>
                        </a:rPr>
                        <a:t>Severe: Decrease in SBP ≥ 40%</a:t>
                      </a:r>
                      <a:endParaRPr lang="en-US" sz="2400" dirty="0"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i="0" u="none" strike="noStrike" kern="1200" baseline="0" dirty="0" smtClean="0">
                          <a:solidFill>
                            <a:schemeClr val="dk1"/>
                          </a:solidFill>
                          <a:latin typeface="Times" pitchFamily="18" charset="0"/>
                          <a:ea typeface="+mn-ea"/>
                          <a:cs typeface="Times" pitchFamily="18" charset="0"/>
                        </a:rPr>
                        <a:t>Unexpected loss of consciousness</a:t>
                      </a:r>
                      <a:endParaRPr lang="en-US" sz="2400" dirty="0"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</a:tr>
              <a:tr h="15275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smtClean="0">
                          <a:effectLst/>
                          <a:latin typeface="Times" pitchFamily="18" charset="0"/>
                          <a:cs typeface="Times" pitchFamily="18" charset="0"/>
                        </a:rPr>
                        <a:t>Grade 3 </a:t>
                      </a:r>
                      <a:endParaRPr lang="en-US" sz="2400" dirty="0"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i="0" u="none" strike="noStrike" kern="1200" baseline="0" dirty="0" smtClean="0">
                          <a:solidFill>
                            <a:schemeClr val="dk1"/>
                          </a:solidFill>
                          <a:latin typeface="Times" pitchFamily="18" charset="0"/>
                          <a:ea typeface="+mn-ea"/>
                          <a:cs typeface="Times" pitchFamily="18" charset="0"/>
                        </a:rPr>
                        <a:t>Cardiovascular collapse requiring CPR</a:t>
                      </a:r>
                      <a:endParaRPr lang="en-US" sz="2400" dirty="0">
                        <a:effectLst/>
                        <a:latin typeface="Times" pitchFamily="18" charset="0"/>
                        <a:ea typeface="Calibri"/>
                        <a:cs typeface="Times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28322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778098"/>
          </a:xfrm>
        </p:spPr>
        <p:txBody>
          <a:bodyPr/>
          <a:lstStyle/>
          <a:p>
            <a:r>
              <a:rPr lang="en-GB" b="1" dirty="0" smtClean="0"/>
              <a:t>pathophysiology of BCIS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66795"/>
            <a:ext cx="8784976" cy="54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The exact mechanism behind BCIS is still not fully understood, but it is believed to involve several interconnected processes:</a:t>
            </a:r>
          </a:p>
          <a:p>
            <a:pPr marL="91440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 smtClean="0">
                <a:latin typeface="Gabriola" pitchFamily="82" charset="0"/>
              </a:rPr>
              <a:t> </a:t>
            </a:r>
            <a:r>
              <a:rPr lang="en-US" sz="3000" dirty="0">
                <a:latin typeface="Gabriola" pitchFamily="82" charset="0"/>
              </a:rPr>
              <a:t>Embolic </a:t>
            </a:r>
            <a:r>
              <a:rPr lang="en-US" sz="3000" dirty="0" smtClean="0">
                <a:latin typeface="Gabriola" pitchFamily="82" charset="0"/>
              </a:rPr>
              <a:t>Model</a:t>
            </a:r>
          </a:p>
          <a:p>
            <a:pPr marL="91440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000" dirty="0" smtClean="0">
                <a:latin typeface="Gabriola" pitchFamily="82" charset="0"/>
              </a:rPr>
              <a:t> </a:t>
            </a:r>
            <a:r>
              <a:rPr lang="en-US" sz="3000" dirty="0">
                <a:latin typeface="Gabriola" pitchFamily="82" charset="0"/>
              </a:rPr>
              <a:t>Multimodal Model: Histamine Release, Hypersensitivity, and Complement Activation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9704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70609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" pitchFamily="18" charset="0"/>
                <a:cs typeface="Times" pitchFamily="18" charset="0"/>
              </a:rPr>
              <a:t>1. Embolic Model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568952" cy="51454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latin typeface="Gabriola" pitchFamily="82" charset="0"/>
              </a:rPr>
              <a:t>Cement </a:t>
            </a:r>
            <a:r>
              <a:rPr lang="en-US" b="1" dirty="0">
                <a:latin typeface="Gabriola" pitchFamily="82" charset="0"/>
              </a:rPr>
              <a:t>Pressurization</a:t>
            </a:r>
            <a:r>
              <a:rPr lang="en-US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Cement is pressurized to fill bone voids and improve bonding during prosthesis insertion.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As cement expands, </a:t>
            </a:r>
            <a:r>
              <a:rPr lang="en-US" sz="3200" b="1" dirty="0">
                <a:latin typeface="Gabriola" pitchFamily="82" charset="0"/>
              </a:rPr>
              <a:t>air</a:t>
            </a:r>
            <a:r>
              <a:rPr lang="en-US" sz="3200" dirty="0">
                <a:latin typeface="Gabriola" pitchFamily="82" charset="0"/>
              </a:rPr>
              <a:t> and </a:t>
            </a:r>
            <a:r>
              <a:rPr lang="en-US" sz="3200" b="1" dirty="0">
                <a:latin typeface="Gabriola" pitchFamily="82" charset="0"/>
              </a:rPr>
              <a:t>marrow contents</a:t>
            </a:r>
            <a:r>
              <a:rPr lang="en-US" sz="3200" dirty="0">
                <a:latin typeface="Gabriola" pitchFamily="82" charset="0"/>
              </a:rPr>
              <a:t> are pressurized, potentially forcing these substances into the bloodstream.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88796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202034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507288" cy="51454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Embolic Contents</a:t>
            </a:r>
            <a:r>
              <a:rPr lang="en-US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Fat globules from bone </a:t>
            </a:r>
            <a:r>
              <a:rPr lang="en-US" sz="3200" dirty="0" smtClean="0">
                <a:latin typeface="Gabriola" pitchFamily="82" charset="0"/>
              </a:rPr>
              <a:t>marrow</a:t>
            </a:r>
          </a:p>
          <a:p>
            <a:pPr lvl="1">
              <a:lnSpc>
                <a:spcPct val="150000"/>
              </a:lnSpc>
            </a:pPr>
            <a:r>
              <a:rPr lang="en-US" sz="3200" dirty="0" smtClean="0">
                <a:latin typeface="Gabriola" pitchFamily="82" charset="0"/>
              </a:rPr>
              <a:t>Cement </a:t>
            </a:r>
            <a:r>
              <a:rPr lang="en-US" sz="3200" dirty="0">
                <a:latin typeface="Gabriola" pitchFamily="82" charset="0"/>
              </a:rPr>
              <a:t>particles (Methyl Methacrylate - MMA)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Bone fragments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Air</a:t>
            </a:r>
          </a:p>
          <a:p>
            <a:pPr lvl="1">
              <a:lnSpc>
                <a:spcPct val="150000"/>
              </a:lnSpc>
            </a:pPr>
            <a:r>
              <a:rPr lang="en-US" sz="3200" dirty="0">
                <a:latin typeface="Gabriola" pitchFamily="82" charset="0"/>
              </a:rPr>
              <a:t>Platelets and fibrin </a:t>
            </a:r>
            <a:r>
              <a:rPr lang="en-US" sz="3200" dirty="0" smtClean="0">
                <a:latin typeface="Gabriola" pitchFamily="82" charset="0"/>
              </a:rPr>
              <a:t>aggregates</a:t>
            </a:r>
            <a:endParaRPr lang="en-US" sz="32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40320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634082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08720"/>
            <a:ext cx="8435280" cy="5217443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3000" b="1" dirty="0">
                <a:latin typeface="Gabriola" pitchFamily="82" charset="0"/>
              </a:rPr>
              <a:t>Embolization Pathway</a:t>
            </a:r>
            <a:r>
              <a:rPr lang="en-US" sz="3000" dirty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US" sz="3000" dirty="0">
                <a:latin typeface="Gabriola" pitchFamily="82" charset="0"/>
              </a:rPr>
              <a:t>These emboli enter the </a:t>
            </a:r>
            <a:r>
              <a:rPr lang="en-US" sz="3000" b="1" dirty="0">
                <a:latin typeface="Gabriola" pitchFamily="82" charset="0"/>
              </a:rPr>
              <a:t>pulmonary circulation</a:t>
            </a:r>
            <a:r>
              <a:rPr lang="en-US" sz="3000" dirty="0">
                <a:latin typeface="Gabriola" pitchFamily="82" charset="0"/>
              </a:rPr>
              <a:t>, </a:t>
            </a:r>
            <a:r>
              <a:rPr lang="en-US" sz="3000" b="1" dirty="0">
                <a:latin typeface="Gabriola" pitchFamily="82" charset="0"/>
              </a:rPr>
              <a:t>heart</a:t>
            </a:r>
            <a:r>
              <a:rPr lang="en-US" sz="3000" dirty="0">
                <a:latin typeface="Gabriola" pitchFamily="82" charset="0"/>
              </a:rPr>
              <a:t>, and </a:t>
            </a:r>
            <a:r>
              <a:rPr lang="en-US" sz="3000" b="1" dirty="0">
                <a:latin typeface="Gabriola" pitchFamily="82" charset="0"/>
              </a:rPr>
              <a:t>systemic circulation</a:t>
            </a:r>
            <a:r>
              <a:rPr lang="en-US" sz="3000" dirty="0">
                <a:latin typeface="Gabriola" pitchFamily="82" charset="0"/>
              </a:rPr>
              <a:t>.</a:t>
            </a:r>
          </a:p>
          <a:p>
            <a:pPr lvl="1">
              <a:lnSpc>
                <a:spcPct val="160000"/>
              </a:lnSpc>
            </a:pPr>
            <a:r>
              <a:rPr lang="en-US" sz="3000" dirty="0">
                <a:latin typeface="Gabriola" pitchFamily="82" charset="0"/>
              </a:rPr>
              <a:t>May lead to </a:t>
            </a:r>
            <a:r>
              <a:rPr lang="en-US" sz="3000" b="1" dirty="0">
                <a:latin typeface="Gabriola" pitchFamily="82" charset="0"/>
              </a:rPr>
              <a:t>pulmonary embolism</a:t>
            </a:r>
            <a:r>
              <a:rPr lang="en-US" sz="3000" dirty="0">
                <a:latin typeface="Gabriola" pitchFamily="82" charset="0"/>
              </a:rPr>
              <a:t> (PE), resulting in </a:t>
            </a:r>
            <a:r>
              <a:rPr lang="en-US" sz="3000" b="1" dirty="0">
                <a:latin typeface="Gabriola" pitchFamily="82" charset="0"/>
              </a:rPr>
              <a:t>hypoxia</a:t>
            </a:r>
            <a:r>
              <a:rPr lang="en-US" sz="3000" dirty="0">
                <a:latin typeface="Gabriola" pitchFamily="82" charset="0"/>
              </a:rPr>
              <a:t>, </a:t>
            </a:r>
            <a:r>
              <a:rPr lang="en-US" sz="3000" b="1" dirty="0">
                <a:latin typeface="Gabriola" pitchFamily="82" charset="0"/>
              </a:rPr>
              <a:t>hypotension</a:t>
            </a:r>
            <a:r>
              <a:rPr lang="en-US" sz="3000" dirty="0">
                <a:latin typeface="Gabriola" pitchFamily="82" charset="0"/>
              </a:rPr>
              <a:t>, and </a:t>
            </a:r>
            <a:r>
              <a:rPr lang="en-US" sz="3000" b="1" dirty="0">
                <a:latin typeface="Gabriola" pitchFamily="82" charset="0"/>
              </a:rPr>
              <a:t>right ventricular dysfunction</a:t>
            </a:r>
            <a:r>
              <a:rPr lang="en-US" sz="3000" dirty="0">
                <a:latin typeface="Gabriola" pitchFamily="82" charset="0"/>
              </a:rPr>
              <a:t>.</a:t>
            </a:r>
          </a:p>
          <a:p>
            <a:pPr>
              <a:lnSpc>
                <a:spcPct val="160000"/>
              </a:lnSpc>
            </a:pPr>
            <a:endParaRPr lang="en-US" sz="30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61810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70609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8291264" cy="4785395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3000" b="1" dirty="0">
                <a:latin typeface="Gabriola" pitchFamily="82" charset="0"/>
              </a:rPr>
              <a:t>Pulmonary Embolism Impact</a:t>
            </a:r>
            <a:r>
              <a:rPr lang="en-US" sz="3000" dirty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US" sz="3000" dirty="0">
                <a:latin typeface="Gabriola" pitchFamily="82" charset="0"/>
              </a:rPr>
              <a:t>Blockage of pulmonary vessels leads to </a:t>
            </a:r>
            <a:r>
              <a:rPr lang="en-US" sz="3000" b="1" dirty="0">
                <a:latin typeface="Gabriola" pitchFamily="82" charset="0"/>
              </a:rPr>
              <a:t>impaired gas exchange</a:t>
            </a:r>
            <a:r>
              <a:rPr lang="en-US" sz="3000" dirty="0">
                <a:latin typeface="Gabriola" pitchFamily="82" charset="0"/>
              </a:rPr>
              <a:t> (hypoxia) and </a:t>
            </a:r>
            <a:r>
              <a:rPr lang="en-US" sz="3000" b="1" dirty="0">
                <a:latin typeface="Gabriola" pitchFamily="82" charset="0"/>
              </a:rPr>
              <a:t>right heart strain</a:t>
            </a:r>
            <a:r>
              <a:rPr lang="en-US" sz="3000" dirty="0">
                <a:latin typeface="Gabriola" pitchFamily="82" charset="0"/>
              </a:rPr>
              <a:t>.</a:t>
            </a:r>
          </a:p>
          <a:p>
            <a:pPr lvl="1">
              <a:lnSpc>
                <a:spcPct val="160000"/>
              </a:lnSpc>
            </a:pPr>
            <a:r>
              <a:rPr lang="en-US" sz="3000" dirty="0">
                <a:latin typeface="Gabriola" pitchFamily="82" charset="0"/>
              </a:rPr>
              <a:t>The resulting </a:t>
            </a:r>
            <a:r>
              <a:rPr lang="en-US" sz="3000" b="1" dirty="0">
                <a:latin typeface="Gabriola" pitchFamily="82" charset="0"/>
              </a:rPr>
              <a:t>hypotension</a:t>
            </a:r>
            <a:r>
              <a:rPr lang="en-US" sz="3000" dirty="0">
                <a:latin typeface="Gabriola" pitchFamily="82" charset="0"/>
              </a:rPr>
              <a:t> is due to </a:t>
            </a:r>
            <a:r>
              <a:rPr lang="en-US" sz="3000" b="1" dirty="0">
                <a:latin typeface="Gabriola" pitchFamily="82" charset="0"/>
              </a:rPr>
              <a:t>right ventricular failure</a:t>
            </a:r>
            <a:r>
              <a:rPr lang="en-US" sz="3000" dirty="0">
                <a:latin typeface="Gabriola" pitchFamily="82" charset="0"/>
              </a:rPr>
              <a:t>.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08631460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85010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" pitchFamily="18" charset="0"/>
                <a:cs typeface="Times" pitchFamily="18" charset="0"/>
              </a:rPr>
              <a:t>2. Multimodal Model</a:t>
            </a:r>
            <a:endParaRPr lang="en-US" sz="4000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712968" cy="54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 smtClean="0">
                <a:latin typeface="Gabriola" pitchFamily="82" charset="0"/>
              </a:rPr>
              <a:t>Histamine </a:t>
            </a:r>
            <a:r>
              <a:rPr lang="en-US" sz="3000" b="1" dirty="0">
                <a:latin typeface="Gabriola" pitchFamily="82" charset="0"/>
              </a:rPr>
              <a:t>Release, Hypersensitivity, and Complement Activation</a:t>
            </a:r>
          </a:p>
          <a:p>
            <a:pPr>
              <a:lnSpc>
                <a:spcPct val="150000"/>
              </a:lnSpc>
            </a:pPr>
            <a:r>
              <a:rPr lang="en-US" sz="3000" b="1" dirty="0">
                <a:latin typeface="Gabriola" pitchFamily="82" charset="0"/>
              </a:rPr>
              <a:t>Histamine Release and Hypersensitivity</a:t>
            </a:r>
            <a:r>
              <a:rPr lang="en-US" sz="3000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3000" b="1" dirty="0">
                <a:latin typeface="Gabriola" pitchFamily="82" charset="0"/>
              </a:rPr>
              <a:t>Histamine</a:t>
            </a:r>
            <a:r>
              <a:rPr lang="en-US" sz="3000" dirty="0">
                <a:latin typeface="Gabriola" pitchFamily="82" charset="0"/>
              </a:rPr>
              <a:t> is released during the cementation process, causing </a:t>
            </a:r>
            <a:r>
              <a:rPr lang="en-US" sz="3000" b="1" dirty="0">
                <a:latin typeface="Gabriola" pitchFamily="82" charset="0"/>
              </a:rPr>
              <a:t>vasodilation</a:t>
            </a:r>
            <a:r>
              <a:rPr lang="en-US" sz="3000" dirty="0">
                <a:latin typeface="Gabriola" pitchFamily="82" charset="0"/>
              </a:rPr>
              <a:t> and </a:t>
            </a:r>
            <a:r>
              <a:rPr lang="en-US" sz="3000" b="1" dirty="0">
                <a:latin typeface="Gabriola" pitchFamily="82" charset="0"/>
              </a:rPr>
              <a:t>bronchoconstriction</a:t>
            </a:r>
            <a:r>
              <a:rPr lang="en-US" sz="3000" dirty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3000" b="1" dirty="0" err="1">
                <a:latin typeface="Gabriola" pitchFamily="82" charset="0"/>
              </a:rPr>
              <a:t>Anaphylactoid</a:t>
            </a:r>
            <a:r>
              <a:rPr lang="en-US" sz="3000" b="1" dirty="0">
                <a:latin typeface="Gabriola" pitchFamily="82" charset="0"/>
              </a:rPr>
              <a:t> reactions</a:t>
            </a:r>
            <a:r>
              <a:rPr lang="en-US" sz="3000" dirty="0">
                <a:latin typeface="Gabriola" pitchFamily="82" charset="0"/>
              </a:rPr>
              <a:t> are similar to </a:t>
            </a:r>
            <a:r>
              <a:rPr lang="en-US" sz="3000" b="1" dirty="0">
                <a:latin typeface="Gabriola" pitchFamily="82" charset="0"/>
              </a:rPr>
              <a:t>anaphylaxis</a:t>
            </a:r>
            <a:r>
              <a:rPr lang="en-US" sz="3000" dirty="0">
                <a:latin typeface="Gabriola" pitchFamily="82" charset="0"/>
              </a:rPr>
              <a:t>, involving a sudden release of histamine</a:t>
            </a:r>
            <a:r>
              <a:rPr lang="en-US" sz="3000" dirty="0" smtClean="0">
                <a:latin typeface="Gabriola" pitchFamily="82" charset="0"/>
              </a:rPr>
              <a:t>.</a:t>
            </a:r>
            <a:endParaRPr lang="en-US" sz="30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714491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468" y="274638"/>
            <a:ext cx="8461332" cy="476924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836712"/>
            <a:ext cx="8784976" cy="52894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Complement Activation (C3a, C5a)</a:t>
            </a:r>
            <a:r>
              <a:rPr lang="en-US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Methyl Methacrylate (MMA)</a:t>
            </a:r>
            <a:r>
              <a:rPr lang="en-US" dirty="0">
                <a:latin typeface="Gabriola" pitchFamily="82" charset="0"/>
              </a:rPr>
              <a:t>, a common component in bone cement, has been shown to increase </a:t>
            </a:r>
            <a:r>
              <a:rPr lang="en-US" b="1" dirty="0">
                <a:latin typeface="Gabriola" pitchFamily="82" charset="0"/>
              </a:rPr>
              <a:t>C3a and C5a</a:t>
            </a:r>
            <a:r>
              <a:rPr lang="en-US" dirty="0">
                <a:latin typeface="Gabriola" pitchFamily="82" charset="0"/>
              </a:rPr>
              <a:t> levels.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These complement fragments mediate:</a:t>
            </a:r>
          </a:p>
          <a:p>
            <a:pPr lvl="2"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Vasoconstriction</a:t>
            </a:r>
            <a:endParaRPr lang="en-US" dirty="0">
              <a:latin typeface="Gabriola" pitchFamily="82" charset="0"/>
            </a:endParaRPr>
          </a:p>
          <a:p>
            <a:pPr lvl="2"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Bronchoconstriction</a:t>
            </a:r>
            <a:endParaRPr lang="en-US" dirty="0">
              <a:latin typeface="Gabriola" pitchFamily="82" charset="0"/>
            </a:endParaRPr>
          </a:p>
          <a:p>
            <a:pPr lvl="2">
              <a:lnSpc>
                <a:spcPct val="150000"/>
              </a:lnSpc>
            </a:pPr>
            <a:r>
              <a:rPr lang="en-US" b="1" dirty="0">
                <a:latin typeface="Gabriola" pitchFamily="82" charset="0"/>
              </a:rPr>
              <a:t>Increased pulmonary vascular resistance</a:t>
            </a:r>
            <a:endParaRPr lang="en-US" dirty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70933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18058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24744"/>
            <a:ext cx="8363272" cy="50014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Gabriola" pitchFamily="82" charset="0"/>
              </a:rPr>
              <a:t>Resulting Clinical Effects</a:t>
            </a:r>
            <a:r>
              <a:rPr lang="en-US" sz="3000" dirty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3000" b="1" dirty="0">
                <a:latin typeface="Gabriola" pitchFamily="82" charset="0"/>
              </a:rPr>
              <a:t>Ventilation/perfusion mismatch</a:t>
            </a:r>
            <a:r>
              <a:rPr lang="en-US" sz="3000" dirty="0">
                <a:latin typeface="Gabriola" pitchFamily="82" charset="0"/>
              </a:rPr>
              <a:t> in the lungs, worsening </a:t>
            </a:r>
            <a:r>
              <a:rPr lang="en-US" sz="3000" b="1" dirty="0">
                <a:latin typeface="Gabriola" pitchFamily="82" charset="0"/>
              </a:rPr>
              <a:t>hypoxia</a:t>
            </a:r>
            <a:r>
              <a:rPr lang="en-US" sz="3000" dirty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3000" b="1" dirty="0">
                <a:latin typeface="Gabriola" pitchFamily="82" charset="0"/>
              </a:rPr>
              <a:t>Right ventricular failure</a:t>
            </a:r>
            <a:r>
              <a:rPr lang="en-US" sz="3000" dirty="0">
                <a:latin typeface="Gabriola" pitchFamily="82" charset="0"/>
              </a:rPr>
              <a:t> occurs due to increased </a:t>
            </a:r>
            <a:r>
              <a:rPr lang="en-US" sz="3000" b="1" dirty="0">
                <a:latin typeface="Gabriola" pitchFamily="82" charset="0"/>
              </a:rPr>
              <a:t>pulmonary vascular resistance</a:t>
            </a:r>
            <a:r>
              <a:rPr lang="en-US" sz="3000" dirty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Gabriola" pitchFamily="82" charset="0"/>
              </a:rPr>
              <a:t>Leads to </a:t>
            </a:r>
            <a:r>
              <a:rPr lang="en-US" sz="3000" b="1" dirty="0">
                <a:latin typeface="Gabriola" pitchFamily="82" charset="0"/>
              </a:rPr>
              <a:t>cardiogenic shock</a:t>
            </a:r>
            <a:r>
              <a:rPr lang="en-US" sz="3000" dirty="0">
                <a:latin typeface="Gabriola" pitchFamily="82" charset="0"/>
              </a:rPr>
              <a:t>, contributing to the severity of BCIS.</a:t>
            </a:r>
          </a:p>
          <a:p>
            <a:pPr>
              <a:lnSpc>
                <a:spcPct val="150000"/>
              </a:lnSpc>
            </a:pPr>
            <a:endParaRPr lang="en-US" sz="3000" dirty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endParaRPr lang="en-US" sz="30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37338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70609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Symptoms of BCIS: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784976" cy="5616624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GB" sz="3400" dirty="0" smtClean="0">
                <a:latin typeface="Gabriola" pitchFamily="82" charset="0"/>
              </a:rPr>
              <a:t>Symptoms of BCIS typically occur during or immediately after the injection of bone cement and can vary in severity. </a:t>
            </a:r>
          </a:p>
          <a:p>
            <a:pPr>
              <a:lnSpc>
                <a:spcPct val="160000"/>
              </a:lnSpc>
            </a:pPr>
            <a:r>
              <a:rPr lang="en-GB" sz="3400" dirty="0" smtClean="0">
                <a:latin typeface="Gabriola" pitchFamily="82" charset="0"/>
              </a:rPr>
              <a:t>Common signs and symptoms include: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GB" sz="3400" b="1" dirty="0" smtClean="0">
                <a:latin typeface="Gabriola" pitchFamily="82" charset="0"/>
              </a:rPr>
              <a:t>1. Cardiovascular Effects</a:t>
            </a:r>
            <a:r>
              <a:rPr lang="en-GB" sz="34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Hypotension, </a:t>
            </a:r>
            <a:r>
              <a:rPr lang="en-GB" dirty="0" err="1" smtClean="0">
                <a:latin typeface="Gabriola" pitchFamily="82" charset="0"/>
              </a:rPr>
              <a:t>Bradycardia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dirty="0">
                <a:latin typeface="Gabriola" pitchFamily="82" charset="0"/>
              </a:rPr>
              <a:t> </a:t>
            </a:r>
            <a:r>
              <a:rPr lang="en-GB" dirty="0" smtClean="0">
                <a:latin typeface="Gabriola" pitchFamily="82" charset="0"/>
              </a:rPr>
              <a:t>Arrhythmias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481938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20203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64704"/>
            <a:ext cx="8712968" cy="583264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 smtClean="0">
                <a:latin typeface="Gabriola" pitchFamily="82" charset="0"/>
              </a:rPr>
              <a:t>2. Respiratory Symptoms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Hypoxemia, </a:t>
            </a:r>
            <a:r>
              <a:rPr lang="en-GB" dirty="0" err="1" smtClean="0">
                <a:latin typeface="Gabriola" pitchFamily="82" charset="0"/>
              </a:rPr>
              <a:t>Dyspnea</a:t>
            </a:r>
            <a:r>
              <a:rPr lang="en-GB" dirty="0" smtClean="0">
                <a:latin typeface="Gabriola" pitchFamily="82" charset="0"/>
              </a:rPr>
              <a:t>, Respiratory distress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b="1" dirty="0" smtClean="0">
                <a:latin typeface="Gabriola" pitchFamily="82" charset="0"/>
              </a:rPr>
              <a:t>3. Neurological Symptoms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Confusion</a:t>
            </a:r>
            <a:r>
              <a:rPr lang="en-GB" dirty="0" smtClean="0">
                <a:latin typeface="Gabriola" pitchFamily="82" charset="0"/>
              </a:rPr>
              <a:t> or </a:t>
            </a:r>
            <a:r>
              <a:rPr lang="en-GB" b="1" dirty="0" smtClean="0">
                <a:latin typeface="Gabriola" pitchFamily="82" charset="0"/>
              </a:rPr>
              <a:t>agitation</a:t>
            </a:r>
            <a:r>
              <a:rPr lang="en-GB" dirty="0" smtClean="0">
                <a:latin typeface="Gabriola" pitchFamily="82" charset="0"/>
              </a:rPr>
              <a:t> due to low oxygen levels (hypoxia) and poor perfusion to the brain.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Loss of consciousness</a:t>
            </a:r>
            <a:r>
              <a:rPr lang="en-GB" dirty="0" smtClean="0">
                <a:latin typeface="Gabriola" pitchFamily="82" charset="0"/>
              </a:rPr>
              <a:t> or </a:t>
            </a:r>
            <a:r>
              <a:rPr lang="en-GB" b="1" dirty="0" smtClean="0">
                <a:latin typeface="Gabriola" pitchFamily="82" charset="0"/>
              </a:rPr>
              <a:t>coma</a:t>
            </a:r>
            <a:r>
              <a:rPr lang="en-GB" dirty="0" smtClean="0">
                <a:latin typeface="Gabriola" pitchFamily="82" charset="0"/>
              </a:rPr>
              <a:t> in severe cases.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26457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20203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80728"/>
            <a:ext cx="8964488" cy="547260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800" b="1" dirty="0" smtClean="0">
                <a:latin typeface="Gabriola" pitchFamily="82" charset="0"/>
              </a:rPr>
              <a:t>4. Dermatologic Symptoms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A </a:t>
            </a:r>
            <a:r>
              <a:rPr lang="en-GB" b="1" dirty="0" smtClean="0">
                <a:latin typeface="Gabriola" pitchFamily="82" charset="0"/>
              </a:rPr>
              <a:t>petechial rash</a:t>
            </a:r>
            <a:r>
              <a:rPr lang="en-GB" dirty="0" smtClean="0">
                <a:latin typeface="Gabriola" pitchFamily="82" charset="0"/>
              </a:rPr>
              <a:t> can develop in some patients, which is often related to the embolic phenomenon (fat embolism).</a:t>
            </a: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1453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70609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Risk Factors for BCIS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24744"/>
            <a:ext cx="8784976" cy="547260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Surgical Factors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Hip replacement (highest risk)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Knee replacement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Spinal surgery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Fracture fixation requiring cement.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Patient-Related Factors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Older age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Obesity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Severe osteoporosis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34162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435280" cy="5073427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Cardiovascular or pulmonary disease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History of fat embolism or prior joint replacement.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Surgical Technique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Speed of cement injection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Excess cement or excessive heat generation.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2184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562074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Prevention of BCIS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856984" cy="54726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Preoperative Measures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Risk assessment: Identify high-risk patients.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Optimize comorbidities (cardiac, pulmonary).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Hydration: Ensure proper fluid balance.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Intraoperative Measures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Slow cementation process: Gradual injection to prevent rapid embolism.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Low-viscosity cement: Use less viscous cement to reduce embolism risk.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71179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496944" cy="5145435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Controlled cement injection: Minimize bone marrow release.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Anaesthesia Considerations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Regional anaesthesia (spinal or epidural) to avoid general anaesthesia-induced complications.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Oxygenation: Ensure proper oxygen levels during the procedure.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02354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778098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b="1" dirty="0" smtClean="0"/>
              <a:t>Monitoring During Surgery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052736"/>
            <a:ext cx="8712968" cy="507342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Continuous Monitoring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Blood pressure, Heart rate, Oxygen saturation (SpO2), ECG for arrhythmias.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Invasive Monitoring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Arterial line for real-time blood pressure monitoring.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Central venous pressure for fluid management.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Ventilation and Oxygenation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Supplemental oxygen during and after cementation.</a:t>
            </a:r>
          </a:p>
          <a:p>
            <a:pPr lvl="1">
              <a:lnSpc>
                <a:spcPct val="150000"/>
              </a:lnSpc>
            </a:pPr>
            <a:r>
              <a:rPr lang="en-GB" dirty="0" err="1" smtClean="0">
                <a:latin typeface="Gabriola" pitchFamily="82" charset="0"/>
              </a:rPr>
              <a:t>Ventilatory</a:t>
            </a:r>
            <a:r>
              <a:rPr lang="en-GB" dirty="0" smtClean="0">
                <a:latin typeface="Gabriola" pitchFamily="82" charset="0"/>
              </a:rPr>
              <a:t> support if hypoxemia develops.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1424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8520" y="274638"/>
            <a:ext cx="8795320" cy="778098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/>
            </a:r>
            <a:br>
              <a:rPr lang="en-GB" dirty="0" smtClean="0"/>
            </a:br>
            <a:r>
              <a:rPr lang="en-GB" b="1" dirty="0" smtClean="0"/>
              <a:t>Anaesthesia Considerations in BCIS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52736"/>
            <a:ext cx="9144000" cy="5616624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Preoperative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Risk stratification</a:t>
            </a:r>
            <a:r>
              <a:rPr lang="en-GB" dirty="0" smtClean="0">
                <a:latin typeface="Gabriola" pitchFamily="82" charset="0"/>
              </a:rPr>
              <a:t>: Assess cardiovascular and respiratory status.</a:t>
            </a: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Optimize comorbidities</a:t>
            </a:r>
            <a:r>
              <a:rPr lang="en-GB" dirty="0" smtClean="0">
                <a:latin typeface="Gabriola" pitchFamily="82" charset="0"/>
              </a:rPr>
              <a:t>: Treat heart failure, lung disease, or obesity.</a:t>
            </a:r>
          </a:p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Intraoperative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Regional </a:t>
            </a:r>
            <a:r>
              <a:rPr lang="en-GB" b="1" dirty="0" err="1" smtClean="0">
                <a:latin typeface="Gabriola" pitchFamily="82" charset="0"/>
              </a:rPr>
              <a:t>anesthesia</a:t>
            </a:r>
            <a:r>
              <a:rPr lang="en-GB" dirty="0" smtClean="0">
                <a:latin typeface="Gabriola" pitchFamily="82" charset="0"/>
              </a:rPr>
              <a:t>: </a:t>
            </a:r>
            <a:r>
              <a:rPr lang="en-GB" b="1" dirty="0" smtClean="0">
                <a:latin typeface="Gabriola" pitchFamily="82" charset="0"/>
              </a:rPr>
              <a:t>Spinal or epidural </a:t>
            </a:r>
            <a:r>
              <a:rPr lang="en-GB" b="1" dirty="0" err="1" smtClean="0">
                <a:latin typeface="Gabriola" pitchFamily="82" charset="0"/>
              </a:rPr>
              <a:t>anesthesia</a:t>
            </a:r>
            <a:r>
              <a:rPr lang="en-GB" dirty="0" smtClean="0">
                <a:latin typeface="Gabriola" pitchFamily="82" charset="0"/>
              </a:rPr>
              <a:t> is preferred to minimize hemodynamic effects of general </a:t>
            </a:r>
            <a:r>
              <a:rPr lang="en-GB" dirty="0" err="1" smtClean="0">
                <a:latin typeface="Gabriola" pitchFamily="82" charset="0"/>
              </a:rPr>
              <a:t>anesthesia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7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55036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778098"/>
          </a:xfrm>
        </p:spPr>
        <p:txBody>
          <a:bodyPr/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568952" cy="5112568"/>
          </a:xfrm>
        </p:spPr>
        <p:txBody>
          <a:bodyPr>
            <a:normAutofit/>
          </a:bodyPr>
          <a:lstStyle/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Controlled ventilation</a:t>
            </a:r>
            <a:r>
              <a:rPr lang="en-GB" dirty="0" smtClean="0">
                <a:latin typeface="Gabriola" pitchFamily="82" charset="0"/>
              </a:rPr>
              <a:t>: Ensure </a:t>
            </a:r>
            <a:r>
              <a:rPr lang="en-GB" b="1" dirty="0" smtClean="0">
                <a:latin typeface="Gabriola" pitchFamily="82" charset="0"/>
              </a:rPr>
              <a:t>adequate oxygenation</a:t>
            </a:r>
            <a:r>
              <a:rPr lang="en-GB" dirty="0" smtClean="0">
                <a:latin typeface="Gabriola" pitchFamily="82" charset="0"/>
              </a:rPr>
              <a:t> throughout the procedure.</a:t>
            </a:r>
          </a:p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Postoperative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Monitor for signs of BCIS</a:t>
            </a:r>
            <a:r>
              <a:rPr lang="en-GB" dirty="0" smtClean="0">
                <a:latin typeface="Gabriola" pitchFamily="82" charset="0"/>
              </a:rPr>
              <a:t>: Watch for hypotension, confusion, or hypoxemia.</a:t>
            </a: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Intensive care support</a:t>
            </a:r>
            <a:r>
              <a:rPr lang="en-GB" dirty="0" smtClean="0">
                <a:latin typeface="Gabriola" pitchFamily="82" charset="0"/>
              </a:rPr>
              <a:t> if necessary.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469787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9006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36712"/>
            <a:ext cx="8928992" cy="5760640"/>
          </a:xfrm>
        </p:spPr>
        <p:txBody>
          <a:bodyPr>
            <a:normAutofit/>
          </a:bodyPr>
          <a:lstStyle/>
          <a:p>
            <a:r>
              <a:rPr lang="en-US" b="1" dirty="0"/>
              <a:t>Cement Curfew</a:t>
            </a:r>
          </a:p>
          <a:p>
            <a:pPr lvl="1"/>
            <a:r>
              <a:rPr lang="en-US" dirty="0">
                <a:latin typeface="Gabriola" pitchFamily="82" charset="0"/>
              </a:rPr>
              <a:t>When there is a cemented hip procedure on the operating list:</a:t>
            </a:r>
          </a:p>
          <a:p>
            <a:pPr lvl="1"/>
            <a:r>
              <a:rPr lang="en-US" dirty="0" smtClean="0">
                <a:latin typeface="Gabriola" pitchFamily="82" charset="0"/>
              </a:rPr>
              <a:t>Identify </a:t>
            </a:r>
            <a:r>
              <a:rPr lang="en-US" dirty="0">
                <a:latin typeface="Gabriola" pitchFamily="82" charset="0"/>
              </a:rPr>
              <a:t>cases requiring Cement Curfew (cemented hips) at Team Brief</a:t>
            </a:r>
          </a:p>
          <a:p>
            <a:pPr lvl="1"/>
            <a:r>
              <a:rPr lang="en-US" dirty="0" smtClean="0">
                <a:latin typeface="Gabriola" pitchFamily="82" charset="0"/>
              </a:rPr>
              <a:t>Discuss </a:t>
            </a:r>
            <a:r>
              <a:rPr lang="en-US" dirty="0">
                <a:latin typeface="Gabriola" pitchFamily="82" charset="0"/>
              </a:rPr>
              <a:t>the need for increased monitoring</a:t>
            </a:r>
          </a:p>
          <a:p>
            <a:pPr lvl="1"/>
            <a:r>
              <a:rPr lang="en-US" dirty="0" smtClean="0">
                <a:latin typeface="Gabriola" pitchFamily="82" charset="0"/>
              </a:rPr>
              <a:t>Discuss </a:t>
            </a:r>
            <a:r>
              <a:rPr lang="en-US" dirty="0">
                <a:latin typeface="Gabriola" pitchFamily="82" charset="0"/>
              </a:rPr>
              <a:t>appropriate cementing technique</a:t>
            </a:r>
          </a:p>
          <a:p>
            <a:pPr lvl="1"/>
            <a:r>
              <a:rPr lang="en-US" dirty="0" smtClean="0">
                <a:latin typeface="Gabriola" pitchFamily="82" charset="0"/>
              </a:rPr>
              <a:t>At </a:t>
            </a:r>
            <a:r>
              <a:rPr lang="en-US" dirty="0">
                <a:latin typeface="Gabriola" pitchFamily="82" charset="0"/>
              </a:rPr>
              <a:t>the end of Time Out, assign roles to theatre team members</a:t>
            </a:r>
          </a:p>
          <a:p>
            <a:pPr lvl="1"/>
            <a:r>
              <a:rPr lang="en-US" dirty="0" smtClean="0">
                <a:latin typeface="Gabriola" pitchFamily="82" charset="0"/>
              </a:rPr>
              <a:t>Mark </a:t>
            </a:r>
            <a:r>
              <a:rPr lang="en-US" dirty="0">
                <a:latin typeface="Gabriola" pitchFamily="82" charset="0"/>
              </a:rPr>
              <a:t>names against roles on Cement Curfew sheet</a:t>
            </a:r>
          </a:p>
          <a:p>
            <a:pPr lvl="1"/>
            <a:r>
              <a:rPr lang="en-US" dirty="0" smtClean="0">
                <a:latin typeface="Gabriola" pitchFamily="82" charset="0"/>
              </a:rPr>
              <a:t>When </a:t>
            </a:r>
            <a:r>
              <a:rPr lang="en-US" dirty="0">
                <a:latin typeface="Gabriola" pitchFamily="82" charset="0"/>
              </a:rPr>
              <a:t>the cement is prepared for mixing, the scrub nurse informs the</a:t>
            </a:r>
          </a:p>
          <a:p>
            <a:pPr lvl="1"/>
            <a:r>
              <a:rPr lang="en-US" dirty="0">
                <a:latin typeface="Gabriola" pitchFamily="82" charset="0"/>
              </a:rPr>
              <a:t>team that the Cement Curfew is about to start</a:t>
            </a:r>
          </a:p>
          <a:p>
            <a:pPr lvl="1"/>
            <a:r>
              <a:rPr lang="en-US" dirty="0" smtClean="0">
                <a:latin typeface="Gabriola" pitchFamily="82" charset="0"/>
              </a:rPr>
              <a:t>All </a:t>
            </a:r>
            <a:r>
              <a:rPr lang="en-US" dirty="0">
                <a:latin typeface="Gabriola" pitchFamily="82" charset="0"/>
              </a:rPr>
              <a:t>members of the theatre team with assigned roles return to theatre</a:t>
            </a:r>
          </a:p>
          <a:p>
            <a:pPr lvl="1"/>
            <a:r>
              <a:rPr lang="en-US" dirty="0" smtClean="0">
                <a:latin typeface="Gabriola" pitchFamily="82" charset="0"/>
              </a:rPr>
              <a:t>Music </a:t>
            </a:r>
            <a:r>
              <a:rPr lang="en-US" dirty="0">
                <a:latin typeface="Gabriola" pitchFamily="82" charset="0"/>
              </a:rPr>
              <a:t>is turned off for the duration of the </a:t>
            </a:r>
            <a:r>
              <a:rPr lang="en-US" dirty="0" smtClean="0">
                <a:latin typeface="Gabriola" pitchFamily="82" charset="0"/>
              </a:rPr>
              <a:t>Curfew</a:t>
            </a:r>
            <a:endParaRPr lang="en-US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41043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90066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5400600"/>
          </a:xfrm>
        </p:spPr>
        <p:txBody>
          <a:bodyPr>
            <a:normAutofit fontScale="92500"/>
          </a:bodyPr>
          <a:lstStyle/>
          <a:p>
            <a:r>
              <a:rPr lang="en-US" dirty="0" smtClean="0">
                <a:latin typeface="Gabriola" pitchFamily="82" charset="0"/>
              </a:rPr>
              <a:t> </a:t>
            </a:r>
            <a:r>
              <a:rPr lang="en-US" dirty="0">
                <a:latin typeface="Gabriola" pitchFamily="82" charset="0"/>
              </a:rPr>
              <a:t>Lead </a:t>
            </a:r>
            <a:r>
              <a:rPr lang="en-US" dirty="0" err="1">
                <a:latin typeface="Gabriola" pitchFamily="82" charset="0"/>
              </a:rPr>
              <a:t>anaesthetist</a:t>
            </a:r>
            <a:r>
              <a:rPr lang="en-US" dirty="0">
                <a:latin typeface="Gabriola" pitchFamily="82" charset="0"/>
              </a:rPr>
              <a:t> ensures that the patient has a good cardiac output</a:t>
            </a:r>
          </a:p>
          <a:p>
            <a:r>
              <a:rPr lang="en-US" dirty="0">
                <a:latin typeface="Gabriola" pitchFamily="82" charset="0"/>
              </a:rPr>
              <a:t>before the cement is inserted and increases measurement of blood</a:t>
            </a:r>
          </a:p>
          <a:p>
            <a:r>
              <a:rPr lang="en-US" dirty="0">
                <a:latin typeface="Gabriola" pitchFamily="82" charset="0"/>
              </a:rPr>
              <a:t>pressure to at least every 2.5 minutes if not using invasive monitoring</a:t>
            </a:r>
          </a:p>
          <a:p>
            <a:r>
              <a:rPr lang="en-US" dirty="0" smtClean="0">
                <a:latin typeface="Gabriola" pitchFamily="82" charset="0"/>
              </a:rPr>
              <a:t>Lead </a:t>
            </a:r>
            <a:r>
              <a:rPr lang="en-US" dirty="0">
                <a:latin typeface="Gabriola" pitchFamily="82" charset="0"/>
              </a:rPr>
              <a:t>surgeon informs the team when the cement is inserted</a:t>
            </a:r>
          </a:p>
          <a:p>
            <a:r>
              <a:rPr lang="en-US" dirty="0" smtClean="0">
                <a:latin typeface="Gabriola" pitchFamily="82" charset="0"/>
              </a:rPr>
              <a:t>The </a:t>
            </a:r>
            <a:r>
              <a:rPr lang="en-US" dirty="0">
                <a:latin typeface="Gabriola" pitchFamily="82" charset="0"/>
              </a:rPr>
              <a:t>cement is inserted with a 3rd generation technique, usually </a:t>
            </a:r>
            <a:r>
              <a:rPr lang="en-US" dirty="0" smtClean="0">
                <a:latin typeface="Gabriola" pitchFamily="82" charset="0"/>
              </a:rPr>
              <a:t>without </a:t>
            </a:r>
            <a:r>
              <a:rPr lang="en-US" dirty="0" err="1" smtClean="0">
                <a:latin typeface="Gabriola" pitchFamily="82" charset="0"/>
              </a:rPr>
              <a:t>pressurisation</a:t>
            </a:r>
            <a:endParaRPr lang="en-US" dirty="0">
              <a:latin typeface="Gabriola" pitchFamily="82" charset="0"/>
            </a:endParaRPr>
          </a:p>
          <a:p>
            <a:r>
              <a:rPr lang="en-US" dirty="0" smtClean="0">
                <a:latin typeface="Gabriola" pitchFamily="82" charset="0"/>
              </a:rPr>
              <a:t>Lead </a:t>
            </a:r>
            <a:r>
              <a:rPr lang="en-US" dirty="0">
                <a:latin typeface="Gabriola" pitchFamily="82" charset="0"/>
              </a:rPr>
              <a:t>surgeon informs the team when the prosthesis is being </a:t>
            </a:r>
            <a:r>
              <a:rPr lang="en-US" dirty="0" smtClean="0">
                <a:latin typeface="Gabriola" pitchFamily="82" charset="0"/>
              </a:rPr>
              <a:t>inserted</a:t>
            </a:r>
          </a:p>
          <a:p>
            <a:r>
              <a:rPr lang="en-US" dirty="0" smtClean="0">
                <a:latin typeface="Gabriola" pitchFamily="82" charset="0"/>
              </a:rPr>
              <a:t>Lead </a:t>
            </a:r>
            <a:r>
              <a:rPr lang="en-US" dirty="0">
                <a:latin typeface="Gabriola" pitchFamily="82" charset="0"/>
              </a:rPr>
              <a:t>surgeon informs the team when the hip is </a:t>
            </a:r>
            <a:r>
              <a:rPr lang="en-US" dirty="0" smtClean="0">
                <a:latin typeface="Gabriola" pitchFamily="82" charset="0"/>
              </a:rPr>
              <a:t>relocated</a:t>
            </a:r>
          </a:p>
          <a:p>
            <a:r>
              <a:rPr lang="en-US" dirty="0" err="1" smtClean="0">
                <a:latin typeface="Gabriola" pitchFamily="82" charset="0"/>
              </a:rPr>
              <a:t>Anaesthetist</a:t>
            </a:r>
            <a:r>
              <a:rPr lang="en-US" dirty="0" smtClean="0">
                <a:latin typeface="Gabriola" pitchFamily="82" charset="0"/>
              </a:rPr>
              <a:t> </a:t>
            </a:r>
            <a:r>
              <a:rPr lang="en-US" dirty="0">
                <a:latin typeface="Gabriola" pitchFamily="82" charset="0"/>
              </a:rPr>
              <a:t>declares the end of the Cement Curfew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75122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-108520" y="188640"/>
            <a:ext cx="8795320" cy="8599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64704"/>
            <a:ext cx="8435280" cy="536145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Gabriola" pitchFamily="82" charset="0"/>
              </a:rPr>
              <a:t>If there is evidence of cement syndrome: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The </a:t>
            </a:r>
            <a:r>
              <a:rPr lang="en-US" dirty="0">
                <a:latin typeface="Gabriola" pitchFamily="82" charset="0"/>
              </a:rPr>
              <a:t>lead </a:t>
            </a:r>
            <a:r>
              <a:rPr lang="en-US" dirty="0" err="1">
                <a:latin typeface="Gabriola" pitchFamily="82" charset="0"/>
              </a:rPr>
              <a:t>anaesthetist</a:t>
            </a:r>
            <a:r>
              <a:rPr lang="en-US" dirty="0">
                <a:latin typeface="Gabriola" pitchFamily="82" charset="0"/>
              </a:rPr>
              <a:t> ensures that the team is aware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The </a:t>
            </a:r>
            <a:r>
              <a:rPr lang="en-US" dirty="0">
                <a:latin typeface="Gabriola" pitchFamily="82" charset="0"/>
              </a:rPr>
              <a:t>lead </a:t>
            </a:r>
            <a:r>
              <a:rPr lang="en-US" dirty="0" err="1">
                <a:latin typeface="Gabriola" pitchFamily="82" charset="0"/>
              </a:rPr>
              <a:t>anaesthetist</a:t>
            </a:r>
            <a:r>
              <a:rPr lang="en-US" dirty="0">
                <a:latin typeface="Gabriola" pitchFamily="82" charset="0"/>
              </a:rPr>
              <a:t> decides if there is cardiovascular </a:t>
            </a:r>
            <a:r>
              <a:rPr lang="en-US" dirty="0" smtClean="0">
                <a:latin typeface="Gabriola" pitchFamily="82" charset="0"/>
              </a:rPr>
              <a:t>collapse requiring </a:t>
            </a:r>
            <a:r>
              <a:rPr lang="en-US" dirty="0">
                <a:latin typeface="Gabriola" pitchFamily="82" charset="0"/>
              </a:rPr>
              <a:t>CPR and informs the </a:t>
            </a:r>
            <a:r>
              <a:rPr lang="en-US" dirty="0" smtClean="0">
                <a:latin typeface="Gabriola" pitchFamily="82" charset="0"/>
              </a:rPr>
              <a:t>team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Team </a:t>
            </a:r>
            <a:r>
              <a:rPr lang="en-US" dirty="0">
                <a:latin typeface="Gabriola" pitchFamily="82" charset="0"/>
              </a:rPr>
              <a:t>members perform their roles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Gabriola" pitchFamily="82" charset="0"/>
              </a:rPr>
              <a:t> </a:t>
            </a:r>
            <a:r>
              <a:rPr lang="en-US" dirty="0">
                <a:latin typeface="Gabriola" pitchFamily="82" charset="0"/>
              </a:rPr>
              <a:t>Once the critical event is over the patient is returned to the lateral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Gabriola" pitchFamily="82" charset="0"/>
              </a:rPr>
              <a:t>position if at all possible and the hip is closed quickly, but formally</a:t>
            </a:r>
          </a:p>
          <a:p>
            <a:pPr>
              <a:lnSpc>
                <a:spcPct val="150000"/>
              </a:lnSpc>
            </a:pPr>
            <a:endParaRPr lang="en-US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0260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74638"/>
            <a:ext cx="8363272" cy="77809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latin typeface="Times" pitchFamily="18" charset="0"/>
                <a:cs typeface="Times" pitchFamily="18" charset="0"/>
              </a:rPr>
              <a:t/>
            </a:r>
            <a:br>
              <a:rPr lang="en-US" sz="3600" b="1" dirty="0" smtClean="0">
                <a:latin typeface="Times" pitchFamily="18" charset="0"/>
                <a:cs typeface="Times" pitchFamily="18" charset="0"/>
              </a:rPr>
            </a:br>
            <a:r>
              <a:rPr lang="en-US" sz="3600" b="1" dirty="0" smtClean="0">
                <a:latin typeface="Times" pitchFamily="18" charset="0"/>
                <a:cs typeface="Times" pitchFamily="18" charset="0"/>
              </a:rPr>
              <a:t>Intraoperative roles: </a:t>
            </a:r>
            <a:r>
              <a:rPr lang="en-US" sz="3600" b="1" dirty="0" err="1" smtClean="0">
                <a:latin typeface="Times" pitchFamily="18" charset="0"/>
                <a:cs typeface="Times" pitchFamily="18" charset="0"/>
              </a:rPr>
              <a:t>Anaesthetic</a:t>
            </a:r>
            <a:r>
              <a:rPr lang="en-US" sz="3600" b="1" dirty="0" smtClean="0">
                <a:latin typeface="Times" pitchFamily="18" charset="0"/>
                <a:cs typeface="Times" pitchFamily="18" charset="0"/>
              </a:rPr>
              <a:t> </a:t>
            </a:r>
            <a:r>
              <a:rPr lang="en-US" sz="3600" b="1" dirty="0">
                <a:latin typeface="Times" pitchFamily="18" charset="0"/>
                <a:cs typeface="Times" pitchFamily="18" charset="0"/>
              </a:rPr>
              <a:t>team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80728"/>
            <a:ext cx="8640960" cy="5976664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3000" dirty="0" smtClean="0">
                <a:latin typeface="Gabriola" pitchFamily="82" charset="0"/>
              </a:rPr>
              <a:t>Ensure </a:t>
            </a:r>
            <a:r>
              <a:rPr lang="en-US" sz="3000" dirty="0">
                <a:latin typeface="Gabriola" pitchFamily="82" charset="0"/>
              </a:rPr>
              <a:t>adequate hemodynamic </a:t>
            </a:r>
            <a:r>
              <a:rPr lang="en-US" sz="3000" dirty="0" err="1">
                <a:latin typeface="Gabriola" pitchFamily="82" charset="0"/>
              </a:rPr>
              <a:t>optimisation</a:t>
            </a:r>
            <a:r>
              <a:rPr lang="en-US" sz="3000" dirty="0">
                <a:latin typeface="Gabriola" pitchFamily="82" charset="0"/>
              </a:rPr>
              <a:t> pre- </a:t>
            </a:r>
            <a:r>
              <a:rPr lang="en-US" sz="3000" dirty="0" smtClean="0">
                <a:latin typeface="Gabriola" pitchFamily="82" charset="0"/>
              </a:rPr>
              <a:t>and intra-operatively</a:t>
            </a:r>
          </a:p>
          <a:p>
            <a:pPr lvl="1">
              <a:lnSpc>
                <a:spcPct val="150000"/>
              </a:lnSpc>
            </a:pPr>
            <a:r>
              <a:rPr lang="en-US" sz="3000" dirty="0" smtClean="0">
                <a:latin typeface="Gabriola" pitchFamily="82" charset="0"/>
              </a:rPr>
              <a:t>Aim </a:t>
            </a:r>
            <a:r>
              <a:rPr lang="en-US" sz="3000" dirty="0">
                <a:latin typeface="Gabriola" pitchFamily="82" charset="0"/>
              </a:rPr>
              <a:t>for a SBP within 20% of pre-induction </a:t>
            </a:r>
            <a:r>
              <a:rPr lang="en-US" sz="3000" dirty="0" smtClean="0">
                <a:latin typeface="Gabriola" pitchFamily="82" charset="0"/>
              </a:rPr>
              <a:t>value</a:t>
            </a:r>
          </a:p>
          <a:p>
            <a:pPr lvl="1">
              <a:lnSpc>
                <a:spcPct val="150000"/>
              </a:lnSpc>
            </a:pPr>
            <a:r>
              <a:rPr lang="en-US" sz="3000" dirty="0" smtClean="0">
                <a:latin typeface="Gabriola" pitchFamily="82" charset="0"/>
              </a:rPr>
              <a:t>Prepare </a:t>
            </a:r>
            <a:r>
              <a:rPr lang="en-US" sz="3000" dirty="0">
                <a:latin typeface="Gabriola" pitchFamily="82" charset="0"/>
              </a:rPr>
              <a:t>vasopressors in case of </a:t>
            </a:r>
            <a:r>
              <a:rPr lang="en-US" sz="3000" dirty="0" smtClean="0">
                <a:latin typeface="Gabriola" pitchFamily="82" charset="0"/>
              </a:rPr>
              <a:t>cardiovascular collapse Confirm </a:t>
            </a:r>
            <a:r>
              <a:rPr lang="en-US" sz="3000" dirty="0">
                <a:latin typeface="Gabriola" pitchFamily="82" charset="0"/>
              </a:rPr>
              <a:t>awareness that cement is about to </a:t>
            </a:r>
            <a:r>
              <a:rPr lang="en-US" sz="3000" dirty="0" smtClean="0">
                <a:latin typeface="Gabriola" pitchFamily="82" charset="0"/>
              </a:rPr>
              <a:t>be prepared/applied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Gabriola" pitchFamily="82" charset="0"/>
              </a:rPr>
              <a:t>Maintain vigilance for cardiorespiratory compromise</a:t>
            </a:r>
          </a:p>
        </p:txBody>
      </p:sp>
    </p:spTree>
    <p:extLst>
      <p:ext uri="{BB962C8B-B14F-4D97-AF65-F5344CB8AC3E}">
        <p14:creationId xmlns:p14="http://schemas.microsoft.com/office/powerpoint/2010/main" val="80436991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8579296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640960" cy="5217443"/>
          </a:xfrm>
        </p:spPr>
        <p:txBody>
          <a:bodyPr/>
          <a:lstStyle/>
          <a:p>
            <a:r>
              <a:rPr lang="en-US" b="1" dirty="0">
                <a:latin typeface="Gabriola" pitchFamily="82" charset="0"/>
              </a:rPr>
              <a:t>Comparison of Bone Cement Syndrome vs. Fat Embolism Syndrome</a:t>
            </a:r>
            <a:endParaRPr lang="en-US" dirty="0">
              <a:latin typeface="Gabriola" pitchFamily="82" charset="0"/>
            </a:endParaRP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316048"/>
              </p:ext>
            </p:extLst>
          </p:nvPr>
        </p:nvGraphicFramePr>
        <p:xfrm>
          <a:off x="179511" y="1916830"/>
          <a:ext cx="8784978" cy="475253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928326"/>
                <a:gridCol w="2928326"/>
                <a:gridCol w="2928326"/>
              </a:tblGrid>
              <a:tr h="4166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Feature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Bone Cement Syndrome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Fat Embolism Syndrome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9709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Cause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Embolization of bone cement particles into the bloodstream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Release of fat globules from bone marrow or adipose tissue into circulation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8204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Onset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Usually immediate to within 30 minutes after cementing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Typically occurs 24-72 hours after trauma or surgery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537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Symptoms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Respiratory distress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Respiratory insufficiency (hypoxia, ARDS)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8204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 Hypotension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Neurological impairment (confusion, seizures)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653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Cyanosis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Petechial rash (20–50% of cases)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4166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Tachycardia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 Fever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70974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9616801"/>
              </p:ext>
            </p:extLst>
          </p:nvPr>
        </p:nvGraphicFramePr>
        <p:xfrm>
          <a:off x="107505" y="692698"/>
          <a:ext cx="8784975" cy="633066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928325"/>
                <a:gridCol w="2928325"/>
                <a:gridCol w="2928325"/>
              </a:tblGrid>
              <a:tr h="8229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Radiological Findings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 No specific findings in imaging, may show pulmonary edema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Chest X-ray: Bilateral fluffy shadows, air space consolidation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8229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Chest CT: Ground glass opacification, septal thickening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122794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Pathophysiology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Mechanical obstruction by cement particles causing pulmonary vasoconstriction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Mechanical and biochemical mechanisms (fat emboli or free fatty acid release) causing organ dysfunction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8229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Treatment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Supportive (oxygen, ventilation)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Supportive (oxygen therapy, mechanical ventilation)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8229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Discontinue cementing procedure if possible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Early recognition and supportive care are crucial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8229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Risk Factors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Orthopedic surgeries (especially hip/knee replacement)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Fractures of long bones, pelvic fractures, bone marrow injury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  <a:tr h="4179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- Excessive cement use</a:t>
                      </a:r>
                      <a:endParaRPr lang="en-US" sz="180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 Trauma (e.g., fractures, crush injuries)</a:t>
                      </a:r>
                      <a:endParaRPr lang="en-US" sz="1800" dirty="0">
                        <a:solidFill>
                          <a:schemeClr val="tx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71631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46646"/>
            <a:ext cx="8363272" cy="562074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Limb Tourniquet Risks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052736"/>
            <a:ext cx="8712968" cy="561662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A </a:t>
            </a:r>
            <a:r>
              <a:rPr lang="en-GB" b="1" dirty="0" smtClean="0">
                <a:latin typeface="Gabriola" pitchFamily="82" charset="0"/>
              </a:rPr>
              <a:t>limb tourniquet</a:t>
            </a:r>
            <a:r>
              <a:rPr lang="en-GB" dirty="0" smtClean="0">
                <a:latin typeface="Gabriola" pitchFamily="82" charset="0"/>
              </a:rPr>
              <a:t> is a device used to temporarily control blood flow during </a:t>
            </a:r>
            <a:r>
              <a:rPr lang="en-GB" dirty="0" err="1" smtClean="0">
                <a:latin typeface="Gabriola" pitchFamily="82" charset="0"/>
              </a:rPr>
              <a:t>orthopedic</a:t>
            </a:r>
            <a:r>
              <a:rPr lang="en-GB" dirty="0" smtClean="0">
                <a:latin typeface="Gabriola" pitchFamily="82" charset="0"/>
              </a:rPr>
              <a:t> procedures.</a:t>
            </a:r>
          </a:p>
          <a:p>
            <a:pPr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 It is applied around the limb to </a:t>
            </a:r>
            <a:r>
              <a:rPr lang="en-GB" b="1" dirty="0" smtClean="0">
                <a:latin typeface="Gabriola" pitchFamily="82" charset="0"/>
              </a:rPr>
              <a:t>inflate and restrict circulation</a:t>
            </a:r>
            <a:r>
              <a:rPr lang="en-GB" dirty="0" smtClean="0">
                <a:latin typeface="Gabriola" pitchFamily="82" charset="0"/>
              </a:rPr>
              <a:t>, thereby reducing blood loss during surgery.</a:t>
            </a:r>
          </a:p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Common Uses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GB" b="1" dirty="0" err="1" smtClean="0">
                <a:latin typeface="Gabriola" pitchFamily="82" charset="0"/>
              </a:rPr>
              <a:t>Orthopedic</a:t>
            </a:r>
            <a:r>
              <a:rPr lang="en-GB" b="1" dirty="0" smtClean="0">
                <a:latin typeface="Gabriola" pitchFamily="82" charset="0"/>
              </a:rPr>
              <a:t> surgeries</a:t>
            </a:r>
            <a:r>
              <a:rPr lang="en-GB" dirty="0" smtClean="0">
                <a:latin typeface="Gabriola" pitchFamily="82" charset="0"/>
              </a:rPr>
              <a:t> (fracture fixation, joint replacements)</a:t>
            </a: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Amputations</a:t>
            </a:r>
            <a:endParaRPr lang="en-GB" dirty="0" smtClean="0">
              <a:latin typeface="Gabriola" pitchFamily="82" charset="0"/>
            </a:endParaRPr>
          </a:p>
          <a:p>
            <a:pPr lvl="1"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Soft tissue procedures</a:t>
            </a:r>
            <a:endParaRPr lang="en-GB" dirty="0" smtClean="0">
              <a:latin typeface="Gabriola" pitchFamily="82" charset="0"/>
            </a:endParaRPr>
          </a:p>
          <a:p>
            <a:pPr>
              <a:lnSpc>
                <a:spcPct val="17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0343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435280" cy="5289451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GB" b="1" dirty="0" smtClean="0">
                <a:latin typeface="Gabriola" pitchFamily="82" charset="0"/>
              </a:rPr>
              <a:t>Types of Tourniquets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Pneumatic tourniquets (most common)</a:t>
            </a:r>
          </a:p>
          <a:p>
            <a:pPr lvl="1">
              <a:lnSpc>
                <a:spcPct val="170000"/>
              </a:lnSpc>
            </a:pPr>
            <a:r>
              <a:rPr lang="en-GB" dirty="0" smtClean="0">
                <a:latin typeface="Gabriola" pitchFamily="82" charset="0"/>
              </a:rPr>
              <a:t>Elastic bandage or other mechanical devices.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The tourniquet is applied </a:t>
            </a:r>
            <a:r>
              <a:rPr lang="en-GB" sz="2800" b="1" dirty="0" smtClean="0">
                <a:latin typeface="Gabriola" pitchFamily="82" charset="0"/>
              </a:rPr>
              <a:t>proximal</a:t>
            </a:r>
            <a:r>
              <a:rPr lang="en-GB" sz="2800" dirty="0" smtClean="0">
                <a:latin typeface="Gabriola" pitchFamily="82" charset="0"/>
              </a:rPr>
              <a:t> to the surgical site and inflated to a pressure that occludes arterial blood flow, leading to </a:t>
            </a:r>
            <a:r>
              <a:rPr lang="en-GB" sz="2800" b="1" dirty="0" smtClean="0">
                <a:latin typeface="Gabriola" pitchFamily="82" charset="0"/>
              </a:rPr>
              <a:t>controlled ischemia</a:t>
            </a:r>
            <a:r>
              <a:rPr lang="en-GB" sz="2800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sz="2800" dirty="0" smtClean="0">
                <a:latin typeface="Gabriola" pitchFamily="82" charset="0"/>
              </a:rPr>
              <a:t>Typically, pressure is applied at 250-300 mmHg for an average adult, but it can vary based on the patient and procedure.</a:t>
            </a: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33262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634082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/>
            </a:r>
            <a:br>
              <a:rPr lang="en-GB" b="1" dirty="0" smtClean="0"/>
            </a:br>
            <a:r>
              <a:rPr lang="en-GB" sz="3600" b="1" dirty="0"/>
              <a:t/>
            </a:r>
            <a:br>
              <a:rPr lang="en-GB" sz="3600" b="1" dirty="0"/>
            </a:br>
            <a:r>
              <a:rPr lang="en-GB" sz="3600" b="1" dirty="0" smtClean="0"/>
              <a:t>Risks Associated with Limb Tourniquet Use</a:t>
            </a:r>
            <a:br>
              <a:rPr lang="en-GB" sz="3600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568952" cy="496855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Ischemic Injury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Prolonged </a:t>
            </a:r>
            <a:r>
              <a:rPr lang="en-GB" b="1" dirty="0" smtClean="0">
                <a:latin typeface="Gabriola" pitchFamily="82" charset="0"/>
              </a:rPr>
              <a:t>ischemia</a:t>
            </a:r>
            <a:r>
              <a:rPr lang="en-GB" dirty="0" smtClean="0">
                <a:latin typeface="Gabriola" pitchFamily="82" charset="0"/>
              </a:rPr>
              <a:t> (lack of blood flow) can lead to </a:t>
            </a:r>
            <a:r>
              <a:rPr lang="en-GB" b="1" dirty="0" smtClean="0">
                <a:latin typeface="Gabriola" pitchFamily="82" charset="0"/>
              </a:rPr>
              <a:t>nerve damage</a:t>
            </a:r>
            <a:r>
              <a:rPr lang="en-GB" dirty="0" smtClean="0">
                <a:latin typeface="Gabriola" pitchFamily="82" charset="0"/>
              </a:rPr>
              <a:t>, </a:t>
            </a:r>
            <a:r>
              <a:rPr lang="en-GB" b="1" dirty="0" smtClean="0">
                <a:latin typeface="Gabriola" pitchFamily="82" charset="0"/>
              </a:rPr>
              <a:t>muscle injury</a:t>
            </a:r>
            <a:r>
              <a:rPr lang="en-GB" dirty="0" smtClean="0">
                <a:latin typeface="Gabriola" pitchFamily="82" charset="0"/>
              </a:rPr>
              <a:t>, and </a:t>
            </a:r>
            <a:r>
              <a:rPr lang="en-GB" b="1" dirty="0" smtClean="0">
                <a:latin typeface="Gabriola" pitchFamily="82" charset="0"/>
              </a:rPr>
              <a:t>tissue death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More significant with longer application times, especially beyond </a:t>
            </a:r>
            <a:r>
              <a:rPr lang="en-GB" b="1" dirty="0" smtClean="0">
                <a:latin typeface="Gabriola" pitchFamily="82" charset="0"/>
              </a:rPr>
              <a:t>2 hours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Nerve Damage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Direct </a:t>
            </a:r>
            <a:r>
              <a:rPr lang="en-GB" b="1" dirty="0" smtClean="0">
                <a:latin typeface="Gabriola" pitchFamily="82" charset="0"/>
              </a:rPr>
              <a:t>compression</a:t>
            </a:r>
            <a:r>
              <a:rPr lang="en-GB" dirty="0" smtClean="0">
                <a:latin typeface="Gabriola" pitchFamily="82" charset="0"/>
              </a:rPr>
              <a:t> of nerves by the tourniquet can cause </a:t>
            </a:r>
            <a:r>
              <a:rPr lang="en-GB" b="1" dirty="0" err="1" smtClean="0">
                <a:latin typeface="Gabriola" pitchFamily="82" charset="0"/>
              </a:rPr>
              <a:t>neuropraxia</a:t>
            </a:r>
            <a:r>
              <a:rPr lang="en-GB" dirty="0" smtClean="0">
                <a:latin typeface="Gabriola" pitchFamily="82" charset="0"/>
              </a:rPr>
              <a:t>, which may result in temporary or permanent loss of sensation or motor function.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88651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64704"/>
            <a:ext cx="8712968" cy="576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Tourniquet Pain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As the tourniquet inflates, the </a:t>
            </a:r>
            <a:r>
              <a:rPr lang="en-GB" b="1" dirty="0" smtClean="0">
                <a:latin typeface="Gabriola" pitchFamily="82" charset="0"/>
              </a:rPr>
              <a:t>increased pressure</a:t>
            </a:r>
            <a:r>
              <a:rPr lang="en-GB" dirty="0" smtClean="0">
                <a:latin typeface="Gabriola" pitchFamily="82" charset="0"/>
              </a:rPr>
              <a:t> on nerves can cause significant pain, particularly near the cuff's application site.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Local discomfort</a:t>
            </a:r>
            <a:r>
              <a:rPr lang="en-GB" dirty="0" smtClean="0">
                <a:latin typeface="Gabriola" pitchFamily="82" charset="0"/>
              </a:rPr>
              <a:t> may interfere with </a:t>
            </a:r>
            <a:r>
              <a:rPr lang="en-GB" dirty="0" err="1" smtClean="0">
                <a:latin typeface="Gabriola" pitchFamily="82" charset="0"/>
              </a:rPr>
              <a:t>anesthesia</a:t>
            </a:r>
            <a:r>
              <a:rPr lang="en-GB" dirty="0" smtClean="0">
                <a:latin typeface="Gabriola" pitchFamily="82" charset="0"/>
              </a:rPr>
              <a:t> and complicate postoperative recovery.</a:t>
            </a:r>
          </a:p>
        </p:txBody>
      </p:sp>
    </p:spTree>
    <p:extLst>
      <p:ext uri="{BB962C8B-B14F-4D97-AF65-F5344CB8AC3E}">
        <p14:creationId xmlns:p14="http://schemas.microsoft.com/office/powerpoint/2010/main" val="208336333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634082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692696"/>
            <a:ext cx="8784976" cy="576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err="1">
                <a:latin typeface="Gabriola" pitchFamily="82" charset="0"/>
              </a:rPr>
              <a:t>Hypercapnia</a:t>
            </a:r>
            <a:r>
              <a:rPr lang="en-GB" sz="2800" b="1" dirty="0">
                <a:latin typeface="Gabriola" pitchFamily="82" charset="0"/>
              </a:rPr>
              <a:t> (excess CO2 in blood):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Gabriola" pitchFamily="82" charset="0"/>
              </a:rPr>
              <a:t>When the tourniquet is released, accumulated metabolic waste products (including CO2) are rapidly released into circulation, potentially leading to </a:t>
            </a:r>
            <a:r>
              <a:rPr lang="en-GB" dirty="0" err="1">
                <a:latin typeface="Gabriola" pitchFamily="82" charset="0"/>
              </a:rPr>
              <a:t>hypercapnia</a:t>
            </a:r>
            <a:r>
              <a:rPr lang="en-GB" dirty="0">
                <a:latin typeface="Gabriola" pitchFamily="82" charset="0"/>
              </a:rPr>
              <a:t> and acidosis</a:t>
            </a:r>
            <a:r>
              <a:rPr lang="en-GB" dirty="0" smtClean="0">
                <a:latin typeface="Gabriola" pitchFamily="82" charset="0"/>
              </a:rPr>
              <a:t>.</a:t>
            </a:r>
            <a:endParaRPr lang="en-GB" b="1" dirty="0" smtClean="0">
              <a:latin typeface="Gabriola" pitchFamily="82" charset="0"/>
            </a:endParaRP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Reperfusion Injury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The release of the tourniquet after a prolonged period can cause </a:t>
            </a:r>
            <a:r>
              <a:rPr lang="en-GB" b="1" dirty="0" smtClean="0">
                <a:latin typeface="Gabriola" pitchFamily="82" charset="0"/>
              </a:rPr>
              <a:t>reperfusion injury</a:t>
            </a:r>
            <a:r>
              <a:rPr lang="en-GB" dirty="0" smtClean="0">
                <a:latin typeface="Gabriola" pitchFamily="82" charset="0"/>
              </a:rPr>
              <a:t>, resulting in tissue damage due to the sudden rush of oxygenated blood to ischemic tissues.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44742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507288" cy="706090"/>
          </a:xfrm>
        </p:spPr>
        <p:txBody>
          <a:bodyPr>
            <a:normAutofit fontScale="90000"/>
          </a:bodyPr>
          <a:lstStyle/>
          <a:p>
            <a:r>
              <a:rPr lang="en-GB" b="1" dirty="0" smtClean="0"/>
              <a:t>Systemic Effects of Limb Tourniquet</a:t>
            </a:r>
            <a:br>
              <a:rPr lang="en-GB" b="1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712968" cy="5400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Hemodynamic Instability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Release of the tourniquet may lead to </a:t>
            </a:r>
            <a:r>
              <a:rPr lang="en-GB" b="1" dirty="0" smtClean="0">
                <a:latin typeface="Gabriola" pitchFamily="82" charset="0"/>
              </a:rPr>
              <a:t>a drop in blood pressure</a:t>
            </a:r>
            <a:r>
              <a:rPr lang="en-GB" dirty="0" smtClean="0">
                <a:latin typeface="Gabriola" pitchFamily="82" charset="0"/>
              </a:rPr>
              <a:t> due to the sudden return of blood to the systemic circulation.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This may result in </a:t>
            </a:r>
            <a:r>
              <a:rPr lang="en-GB" b="1" dirty="0" smtClean="0">
                <a:latin typeface="Gabriola" pitchFamily="82" charset="0"/>
              </a:rPr>
              <a:t>hypotension</a:t>
            </a:r>
            <a:r>
              <a:rPr lang="en-GB" dirty="0" smtClean="0">
                <a:latin typeface="Gabriola" pitchFamily="82" charset="0"/>
              </a:rPr>
              <a:t> and </a:t>
            </a:r>
            <a:r>
              <a:rPr lang="en-GB" b="1" dirty="0" smtClean="0">
                <a:latin typeface="Gabriola" pitchFamily="82" charset="0"/>
              </a:rPr>
              <a:t>shock</a:t>
            </a:r>
            <a:r>
              <a:rPr lang="en-GB" dirty="0" smtClean="0">
                <a:latin typeface="Gabriola" pitchFamily="82" charset="0"/>
              </a:rPr>
              <a:t> if not managed carefully.</a:t>
            </a:r>
          </a:p>
          <a:p>
            <a:pPr>
              <a:lnSpc>
                <a:spcPct val="160000"/>
              </a:lnSpc>
            </a:pPr>
            <a:r>
              <a:rPr lang="en-GB" b="1" dirty="0" smtClean="0">
                <a:latin typeface="Gabriola" pitchFamily="82" charset="0"/>
              </a:rPr>
              <a:t>Metabolic Changes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The body can experience </a:t>
            </a:r>
            <a:r>
              <a:rPr lang="en-GB" b="1" dirty="0" smtClean="0">
                <a:latin typeface="Gabriola" pitchFamily="82" charset="0"/>
              </a:rPr>
              <a:t>lactic acidosis</a:t>
            </a:r>
            <a:r>
              <a:rPr lang="en-GB" dirty="0" smtClean="0">
                <a:latin typeface="Gabriola" pitchFamily="82" charset="0"/>
              </a:rPr>
              <a:t> and an imbalance in electrolytes (particularly potassium) after the tourniquet is deflated.</a:t>
            </a:r>
          </a:p>
          <a:p>
            <a:pPr lvl="1">
              <a:lnSpc>
                <a:spcPct val="160000"/>
              </a:lnSpc>
            </a:pPr>
            <a:r>
              <a:rPr lang="en-GB" dirty="0" smtClean="0">
                <a:latin typeface="Gabriola" pitchFamily="82" charset="0"/>
              </a:rPr>
              <a:t>Elevated levels of </a:t>
            </a:r>
            <a:r>
              <a:rPr lang="en-GB" b="1" dirty="0" smtClean="0">
                <a:latin typeface="Gabriola" pitchFamily="82" charset="0"/>
              </a:rPr>
              <a:t>potassium</a:t>
            </a:r>
            <a:r>
              <a:rPr lang="en-GB" dirty="0" smtClean="0">
                <a:latin typeface="Gabriola" pitchFamily="82" charset="0"/>
              </a:rPr>
              <a:t> can lead to </a:t>
            </a:r>
            <a:r>
              <a:rPr lang="en-GB" b="1" dirty="0" smtClean="0">
                <a:latin typeface="Gabriola" pitchFamily="82" charset="0"/>
              </a:rPr>
              <a:t>arrhythmias</a:t>
            </a:r>
            <a:r>
              <a:rPr lang="en-GB" dirty="0" smtClean="0">
                <a:latin typeface="Gabriola" pitchFamily="82" charset="0"/>
              </a:rPr>
              <a:t> and cardiac issues.</a:t>
            </a:r>
          </a:p>
        </p:txBody>
      </p:sp>
    </p:spTree>
    <p:extLst>
      <p:ext uri="{BB962C8B-B14F-4D97-AF65-F5344CB8AC3E}">
        <p14:creationId xmlns:p14="http://schemas.microsoft.com/office/powerpoint/2010/main" val="238297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8291264" cy="490066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640960" cy="52894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Cardiac Stress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Increased venous return</a:t>
            </a:r>
            <a:r>
              <a:rPr lang="en-GB" dirty="0" smtClean="0">
                <a:latin typeface="Gabriola" pitchFamily="82" charset="0"/>
              </a:rPr>
              <a:t> after release can overload the heart, particularly in patients with </a:t>
            </a:r>
            <a:r>
              <a:rPr lang="en-GB" dirty="0" err="1" smtClean="0">
                <a:latin typeface="Gabriola" pitchFamily="82" charset="0"/>
              </a:rPr>
              <a:t>preexisting</a:t>
            </a:r>
            <a:r>
              <a:rPr lang="en-GB" dirty="0" smtClean="0">
                <a:latin typeface="Gabriola" pitchFamily="82" charset="0"/>
              </a:rPr>
              <a:t> cardiovascular conditions.</a:t>
            </a:r>
          </a:p>
          <a:p>
            <a:pPr>
              <a:lnSpc>
                <a:spcPct val="150000"/>
              </a:lnSpc>
            </a:pPr>
            <a:r>
              <a:rPr lang="en-GB" sz="2800" b="1" dirty="0" smtClean="0">
                <a:latin typeface="Gabriola" pitchFamily="82" charset="0"/>
              </a:rPr>
              <a:t>Pulmonary Complications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If large amounts of embolic material are released during deflation, there can be a risk of </a:t>
            </a:r>
            <a:r>
              <a:rPr lang="en-GB" b="1" dirty="0" smtClean="0">
                <a:latin typeface="Gabriola" pitchFamily="82" charset="0"/>
              </a:rPr>
              <a:t>pulmonary embolism</a:t>
            </a:r>
            <a:r>
              <a:rPr lang="en-GB" dirty="0" smtClean="0">
                <a:latin typeface="Gabriola" pitchFamily="82" charset="0"/>
              </a:rPr>
              <a:t> (PE), </a:t>
            </a:r>
            <a:r>
              <a:rPr lang="en-GB" b="1" dirty="0" smtClean="0">
                <a:latin typeface="Gabriola" pitchFamily="82" charset="0"/>
              </a:rPr>
              <a:t>fat embolism</a:t>
            </a:r>
            <a:r>
              <a:rPr lang="en-GB" dirty="0" smtClean="0">
                <a:latin typeface="Gabriola" pitchFamily="82" charset="0"/>
              </a:rPr>
              <a:t>, or </a:t>
            </a:r>
            <a:r>
              <a:rPr lang="en-GB" b="1" dirty="0" smtClean="0">
                <a:latin typeface="Gabriola" pitchFamily="82" charset="0"/>
              </a:rPr>
              <a:t>systemic embolism</a:t>
            </a:r>
            <a:r>
              <a:rPr lang="en-GB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21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778098"/>
          </a:xfrm>
        </p:spPr>
        <p:txBody>
          <a:bodyPr/>
          <a:lstStyle/>
          <a:p>
            <a:r>
              <a:rPr lang="en-GB" dirty="0" smtClean="0"/>
              <a:t>Risk Factors for Complications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052736"/>
            <a:ext cx="8784976" cy="5760640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sz="2800" b="1" dirty="0" smtClean="0">
                <a:latin typeface="Gabriola" pitchFamily="82" charset="0"/>
              </a:rPr>
              <a:t>Prolonged Tourniquet Time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GB" sz="2400" dirty="0" smtClean="0">
                <a:latin typeface="Gabriola" pitchFamily="82" charset="0"/>
              </a:rPr>
              <a:t>The </a:t>
            </a:r>
            <a:r>
              <a:rPr lang="en-GB" sz="2400" b="1" dirty="0" smtClean="0">
                <a:latin typeface="Gabriola" pitchFamily="82" charset="0"/>
              </a:rPr>
              <a:t>longer</a:t>
            </a:r>
            <a:r>
              <a:rPr lang="en-GB" sz="2400" dirty="0" smtClean="0">
                <a:latin typeface="Gabriola" pitchFamily="82" charset="0"/>
              </a:rPr>
              <a:t> the tourniquet is in place, the higher the risk of </a:t>
            </a:r>
            <a:r>
              <a:rPr lang="en-GB" sz="2400" b="1" dirty="0" smtClean="0">
                <a:latin typeface="Gabriola" pitchFamily="82" charset="0"/>
              </a:rPr>
              <a:t>tissue ischemia</a:t>
            </a:r>
            <a:r>
              <a:rPr lang="en-GB" sz="2400" dirty="0" smtClean="0">
                <a:latin typeface="Gabriola" pitchFamily="82" charset="0"/>
              </a:rPr>
              <a:t>, </a:t>
            </a:r>
            <a:r>
              <a:rPr lang="en-GB" sz="2400" b="1" dirty="0" smtClean="0">
                <a:latin typeface="Gabriola" pitchFamily="82" charset="0"/>
              </a:rPr>
              <a:t>nerve damage</a:t>
            </a:r>
            <a:r>
              <a:rPr lang="en-GB" sz="2400" dirty="0" smtClean="0">
                <a:latin typeface="Gabriola" pitchFamily="82" charset="0"/>
              </a:rPr>
              <a:t>, and </a:t>
            </a:r>
            <a:r>
              <a:rPr lang="en-GB" sz="2400" b="1" dirty="0" smtClean="0">
                <a:latin typeface="Gabriola" pitchFamily="82" charset="0"/>
              </a:rPr>
              <a:t>reperfusion injury</a:t>
            </a:r>
            <a:r>
              <a:rPr lang="en-GB" sz="2400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60000"/>
              </a:lnSpc>
            </a:pPr>
            <a:r>
              <a:rPr lang="en-GB" sz="2400" dirty="0" smtClean="0">
                <a:latin typeface="Gabriola" pitchFamily="82" charset="0"/>
              </a:rPr>
              <a:t>Ideally, tourniquet times should be kept below </a:t>
            </a:r>
            <a:r>
              <a:rPr lang="en-GB" sz="2400" b="1" dirty="0" smtClean="0">
                <a:latin typeface="Gabriola" pitchFamily="82" charset="0"/>
              </a:rPr>
              <a:t>2 hours</a:t>
            </a:r>
            <a:r>
              <a:rPr lang="en-GB" sz="2400" dirty="0" smtClean="0">
                <a:latin typeface="Gabriola" pitchFamily="82" charset="0"/>
              </a:rPr>
              <a:t> for </a:t>
            </a:r>
            <a:r>
              <a:rPr lang="en-GB" sz="2400" dirty="0" smtClean="0">
                <a:latin typeface="Gabriola" pitchFamily="82" charset="0"/>
              </a:rPr>
              <a:t>lower </a:t>
            </a:r>
            <a:r>
              <a:rPr lang="en-GB" sz="2400" dirty="0" smtClean="0">
                <a:latin typeface="Gabriola" pitchFamily="82" charset="0"/>
              </a:rPr>
              <a:t>limbs and </a:t>
            </a:r>
            <a:r>
              <a:rPr lang="en-GB" sz="2400" b="1" dirty="0" smtClean="0">
                <a:latin typeface="Gabriola" pitchFamily="82" charset="0"/>
              </a:rPr>
              <a:t>1.5 hours</a:t>
            </a:r>
            <a:r>
              <a:rPr lang="en-GB" sz="2400" dirty="0" smtClean="0">
                <a:latin typeface="Gabriola" pitchFamily="82" charset="0"/>
              </a:rPr>
              <a:t> for </a:t>
            </a:r>
            <a:r>
              <a:rPr lang="en-GB" sz="2400" dirty="0" smtClean="0">
                <a:latin typeface="Gabriola" pitchFamily="82" charset="0"/>
              </a:rPr>
              <a:t>Upper  </a:t>
            </a:r>
            <a:r>
              <a:rPr lang="en-GB" sz="2400" dirty="0" smtClean="0">
                <a:latin typeface="Gabriola" pitchFamily="82" charset="0"/>
              </a:rPr>
              <a:t>limbs.</a:t>
            </a:r>
          </a:p>
          <a:p>
            <a:pPr>
              <a:lnSpc>
                <a:spcPct val="160000"/>
              </a:lnSpc>
            </a:pPr>
            <a:r>
              <a:rPr lang="en-GB" sz="2800" b="1" dirty="0" smtClean="0">
                <a:latin typeface="Gabriola" pitchFamily="82" charset="0"/>
              </a:rPr>
              <a:t>High Tourniquet Pressure</a:t>
            </a:r>
            <a:r>
              <a:rPr lang="en-GB" sz="28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GB" sz="2000" dirty="0" smtClean="0">
                <a:latin typeface="Gabriola" pitchFamily="82" charset="0"/>
              </a:rPr>
              <a:t>Excessive pressure can increase the risk of </a:t>
            </a:r>
            <a:r>
              <a:rPr lang="en-GB" sz="2000" b="1" dirty="0" smtClean="0">
                <a:latin typeface="Gabriola" pitchFamily="82" charset="0"/>
              </a:rPr>
              <a:t>nerve damage</a:t>
            </a:r>
            <a:r>
              <a:rPr lang="en-GB" sz="2000" dirty="0" smtClean="0">
                <a:latin typeface="Gabriola" pitchFamily="82" charset="0"/>
              </a:rPr>
              <a:t>, </a:t>
            </a:r>
            <a:r>
              <a:rPr lang="en-GB" sz="2000" b="1" dirty="0" smtClean="0">
                <a:latin typeface="Gabriola" pitchFamily="82" charset="0"/>
              </a:rPr>
              <a:t>muscle injury</a:t>
            </a:r>
            <a:r>
              <a:rPr lang="en-GB" sz="2000" dirty="0" smtClean="0">
                <a:latin typeface="Gabriola" pitchFamily="82" charset="0"/>
              </a:rPr>
              <a:t>, and </a:t>
            </a:r>
            <a:r>
              <a:rPr lang="en-GB" sz="2000" b="1" dirty="0" smtClean="0">
                <a:latin typeface="Gabriola" pitchFamily="82" charset="0"/>
              </a:rPr>
              <a:t>tissue necrosis</a:t>
            </a:r>
            <a:r>
              <a:rPr lang="en-GB" sz="2000" dirty="0" smtClean="0">
                <a:latin typeface="Gabriola" pitchFamily="82" charset="0"/>
              </a:rPr>
              <a:t>.</a:t>
            </a:r>
          </a:p>
          <a:p>
            <a:pPr lvl="1">
              <a:lnSpc>
                <a:spcPct val="160000"/>
              </a:lnSpc>
            </a:pPr>
            <a:r>
              <a:rPr lang="en-GB" sz="2000" b="1" dirty="0" err="1" smtClean="0">
                <a:latin typeface="Gabriola" pitchFamily="82" charset="0"/>
              </a:rPr>
              <a:t>Overinflation</a:t>
            </a:r>
            <a:r>
              <a:rPr lang="en-GB" sz="2000" dirty="0" smtClean="0">
                <a:latin typeface="Gabriola" pitchFamily="82" charset="0"/>
              </a:rPr>
              <a:t> beyond the necessary pressure can also cause </a:t>
            </a:r>
            <a:r>
              <a:rPr lang="en-GB" sz="2000" b="1" dirty="0" smtClean="0">
                <a:latin typeface="Gabriola" pitchFamily="82" charset="0"/>
              </a:rPr>
              <a:t>vascular injury</a:t>
            </a:r>
            <a:r>
              <a:rPr lang="en-GB" sz="2000" dirty="0" smtClean="0">
                <a:latin typeface="Gabriola" pitchFamily="82" charset="0"/>
              </a:rPr>
              <a:t>.</a:t>
            </a:r>
          </a:p>
          <a:p>
            <a:pPr>
              <a:lnSpc>
                <a:spcPct val="160000"/>
              </a:lnSpc>
            </a:pP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38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74638"/>
            <a:ext cx="8219256" cy="70609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2736"/>
            <a:ext cx="8784976" cy="5073427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3000" b="1" dirty="0" smtClean="0">
                <a:latin typeface="Gabriola" pitchFamily="82" charset="0"/>
              </a:rPr>
              <a:t>Pre-existing Vascular Disease</a:t>
            </a:r>
            <a:r>
              <a:rPr lang="en-GB" sz="30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3000" b="1" dirty="0" smtClean="0">
                <a:latin typeface="Gabriola" pitchFamily="82" charset="0"/>
              </a:rPr>
              <a:t>Peripheral vascular disease</a:t>
            </a:r>
            <a:r>
              <a:rPr lang="en-GB" sz="3000" dirty="0" smtClean="0">
                <a:latin typeface="Gabriola" pitchFamily="82" charset="0"/>
              </a:rPr>
              <a:t>, </a:t>
            </a:r>
            <a:r>
              <a:rPr lang="en-GB" sz="3000" b="1" dirty="0" smtClean="0">
                <a:latin typeface="Gabriola" pitchFamily="82" charset="0"/>
              </a:rPr>
              <a:t>diabetes</a:t>
            </a:r>
            <a:r>
              <a:rPr lang="en-GB" sz="3000" dirty="0" smtClean="0">
                <a:latin typeface="Gabriola" pitchFamily="82" charset="0"/>
              </a:rPr>
              <a:t>, and other conditions may increase the risk of ischemia and limit tissue recovery after tourniquet deflation.</a:t>
            </a:r>
          </a:p>
          <a:p>
            <a:pPr>
              <a:lnSpc>
                <a:spcPct val="150000"/>
              </a:lnSpc>
            </a:pPr>
            <a:r>
              <a:rPr lang="en-GB" sz="3000" b="1" dirty="0" smtClean="0">
                <a:latin typeface="Gabriola" pitchFamily="82" charset="0"/>
              </a:rPr>
              <a:t>Tourniquet Inflation Time and Frequency</a:t>
            </a:r>
            <a:r>
              <a:rPr lang="en-GB" sz="3000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sz="3000" b="1" dirty="0" smtClean="0">
                <a:latin typeface="Gabriola" pitchFamily="82" charset="0"/>
              </a:rPr>
              <a:t>Repetitive inflation/deflation cycles</a:t>
            </a:r>
            <a:r>
              <a:rPr lang="en-GB" sz="3000" dirty="0" smtClean="0">
                <a:latin typeface="Gabriola" pitchFamily="82" charset="0"/>
              </a:rPr>
              <a:t> can increase risk, especially in cases of prolonged surgery.</a:t>
            </a:r>
          </a:p>
          <a:p>
            <a:pPr>
              <a:lnSpc>
                <a:spcPct val="150000"/>
              </a:lnSpc>
            </a:pPr>
            <a:endParaRPr lang="en-GB" sz="2800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93697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>
                <a:latin typeface="Times" pitchFamily="18" charset="0"/>
                <a:cs typeface="Times" pitchFamily="18" charset="0"/>
              </a:rPr>
              <a:t>Prevention and Management Strategies</a:t>
            </a:r>
            <a:endParaRPr lang="en-GB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640960" cy="5256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Preoperative Assessment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Thorough </a:t>
            </a:r>
            <a:r>
              <a:rPr lang="en-GB" b="1" dirty="0" smtClean="0">
                <a:latin typeface="Gabriola" pitchFamily="82" charset="0"/>
              </a:rPr>
              <a:t>vascular assessment</a:t>
            </a:r>
            <a:r>
              <a:rPr lang="en-GB" dirty="0" smtClean="0">
                <a:latin typeface="Gabriola" pitchFamily="82" charset="0"/>
              </a:rPr>
              <a:t> (e.g., ankle-brachial index) to determine the patient's ability to tolerate ischemia.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Ensure </a:t>
            </a:r>
            <a:r>
              <a:rPr lang="en-GB" b="1" dirty="0" smtClean="0">
                <a:latin typeface="Gabriola" pitchFamily="82" charset="0"/>
              </a:rPr>
              <a:t>optimal </a:t>
            </a:r>
            <a:r>
              <a:rPr lang="en-GB" b="1" dirty="0" err="1" smtClean="0">
                <a:latin typeface="Gabriola" pitchFamily="82" charset="0"/>
              </a:rPr>
              <a:t>anesthesia</a:t>
            </a:r>
            <a:r>
              <a:rPr lang="en-GB" dirty="0" smtClean="0">
                <a:latin typeface="Gabriola" pitchFamily="82" charset="0"/>
              </a:rPr>
              <a:t> and </a:t>
            </a:r>
            <a:r>
              <a:rPr lang="en-GB" b="1" dirty="0" smtClean="0">
                <a:latin typeface="Gabriola" pitchFamily="82" charset="0"/>
              </a:rPr>
              <a:t>pain control</a:t>
            </a:r>
            <a:r>
              <a:rPr lang="en-GB" dirty="0" smtClean="0">
                <a:latin typeface="Gabriola" pitchFamily="82" charset="0"/>
              </a:rPr>
              <a:t> for better patient comfort.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Use the </a:t>
            </a:r>
            <a:r>
              <a:rPr lang="en-GB" b="1" dirty="0" smtClean="0">
                <a:latin typeface="Gabriola" pitchFamily="82" charset="0"/>
              </a:rPr>
              <a:t>appropriate pressure</a:t>
            </a:r>
            <a:r>
              <a:rPr lang="en-GB" dirty="0" smtClean="0">
                <a:latin typeface="Gabriola" pitchFamily="82" charset="0"/>
              </a:rPr>
              <a:t> for the specific procedure and patient characteristics.</a:t>
            </a: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61585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435280" cy="562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908720"/>
            <a:ext cx="8507288" cy="521744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Limit Tourniquet Time</a:t>
            </a:r>
            <a:r>
              <a:rPr lang="en-GB" dirty="0" smtClean="0">
                <a:latin typeface="Gabriola" pitchFamily="82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b="1" dirty="0" smtClean="0">
                <a:latin typeface="Gabriola" pitchFamily="82" charset="0"/>
              </a:rPr>
              <a:t>Monitor time carefully</a:t>
            </a:r>
            <a:r>
              <a:rPr lang="en-GB" dirty="0" smtClean="0">
                <a:latin typeface="Gabriola" pitchFamily="82" charset="0"/>
              </a:rPr>
              <a:t>, with a maximum safe time of </a:t>
            </a:r>
            <a:r>
              <a:rPr lang="en-GB" b="1" dirty="0" smtClean="0">
                <a:latin typeface="Gabriola" pitchFamily="82" charset="0"/>
              </a:rPr>
              <a:t>90-120 minutes</a:t>
            </a:r>
            <a:r>
              <a:rPr lang="en-GB" dirty="0" smtClean="0">
                <a:latin typeface="Gabriola" pitchFamily="82" charset="0"/>
              </a:rPr>
              <a:t> for lower limbs and </a:t>
            </a:r>
            <a:r>
              <a:rPr lang="en-GB" b="1" dirty="0" smtClean="0">
                <a:latin typeface="Gabriola" pitchFamily="82" charset="0"/>
              </a:rPr>
              <a:t>60-90 minutes</a:t>
            </a:r>
            <a:r>
              <a:rPr lang="en-GB" dirty="0" smtClean="0">
                <a:latin typeface="Gabriola" pitchFamily="82" charset="0"/>
              </a:rPr>
              <a:t> for upper limbs.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Gabriola" pitchFamily="82" charset="0"/>
              </a:rPr>
              <a:t>Consider </a:t>
            </a:r>
            <a:r>
              <a:rPr lang="en-GB" b="1" dirty="0" smtClean="0">
                <a:latin typeface="Gabriola" pitchFamily="82" charset="0"/>
              </a:rPr>
              <a:t>tourniquet deflation</a:t>
            </a:r>
            <a:r>
              <a:rPr lang="en-GB" dirty="0" smtClean="0">
                <a:latin typeface="Gabriola" pitchFamily="82" charset="0"/>
              </a:rPr>
              <a:t> and brief periods of reperfusion if surgery is prolonged.</a:t>
            </a:r>
          </a:p>
          <a:p>
            <a:pPr>
              <a:lnSpc>
                <a:spcPct val="150000"/>
              </a:lnSpc>
            </a:pPr>
            <a:endParaRPr lang="en-GB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42846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800" dirty="0" smtClean="0">
                <a:latin typeface="Times" pitchFamily="18" charset="0"/>
                <a:cs typeface="Times" pitchFamily="18" charset="0"/>
              </a:rPr>
              <a:t>Any questions </a:t>
            </a:r>
            <a:endParaRPr lang="en-GB" sz="4800" dirty="0">
              <a:latin typeface="Times" pitchFamily="18" charset="0"/>
              <a:cs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900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2433</TotalTime>
  <Words>5373</Words>
  <Application>Microsoft Office PowerPoint</Application>
  <PresentationFormat>On-screen Show (4:3)</PresentationFormat>
  <Paragraphs>623</Paragraphs>
  <Slides>107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08" baseType="lpstr">
      <vt:lpstr>Office Theme</vt:lpstr>
      <vt:lpstr>Anaesthesia for orthopaedics surgery </vt:lpstr>
      <vt:lpstr>Out line </vt:lpstr>
      <vt:lpstr>Introduction </vt:lpstr>
      <vt:lpstr>Cont…</vt:lpstr>
      <vt:lpstr>Cont…</vt:lpstr>
      <vt:lpstr>Cont..</vt:lpstr>
      <vt:lpstr>Cont…</vt:lpstr>
      <vt:lpstr>Cont..</vt:lpstr>
      <vt:lpstr>cont…</vt:lpstr>
      <vt:lpstr>Cont..</vt:lpstr>
      <vt:lpstr>Anaesthesia to orthopaedic surgery </vt:lpstr>
      <vt:lpstr>Cont..</vt:lpstr>
      <vt:lpstr>Cont….</vt:lpstr>
      <vt:lpstr>1. Fat Embolism Syndrome (FES) </vt:lpstr>
      <vt:lpstr>Cont…</vt:lpstr>
      <vt:lpstr>Cont..</vt:lpstr>
      <vt:lpstr> Conditions associated with fat embolism </vt:lpstr>
      <vt:lpstr> Pathophysiology of FES </vt:lpstr>
      <vt:lpstr>Cont…</vt:lpstr>
      <vt:lpstr>Cont…</vt:lpstr>
      <vt:lpstr>Cont..</vt:lpstr>
      <vt:lpstr>Cont…</vt:lpstr>
      <vt:lpstr>Cont..</vt:lpstr>
      <vt:lpstr> Incidence of FES </vt:lpstr>
      <vt:lpstr>Cont..</vt:lpstr>
      <vt:lpstr>Cont..</vt:lpstr>
      <vt:lpstr> Risk Factors and Aggravating Factors </vt:lpstr>
      <vt:lpstr>Cont..</vt:lpstr>
      <vt:lpstr>Cont…</vt:lpstr>
      <vt:lpstr>Cont…</vt:lpstr>
      <vt:lpstr> Clinical presentation </vt:lpstr>
      <vt:lpstr> cont… </vt:lpstr>
      <vt:lpstr>Cont…</vt:lpstr>
      <vt:lpstr>Cont…</vt:lpstr>
      <vt:lpstr>Cont…</vt:lpstr>
      <vt:lpstr>Diagnosis criteria </vt:lpstr>
      <vt:lpstr> Gurd’s criteria </vt:lpstr>
      <vt:lpstr>Cont..</vt:lpstr>
      <vt:lpstr> Anesthetic Management of FES </vt:lpstr>
      <vt:lpstr>Cont…</vt:lpstr>
      <vt:lpstr>Cont..</vt:lpstr>
      <vt:lpstr> Intraoperative Monitoring </vt:lpstr>
      <vt:lpstr>Cont..</vt:lpstr>
      <vt:lpstr> Management Strategies for FES </vt:lpstr>
      <vt:lpstr>Cont…</vt:lpstr>
      <vt:lpstr>Cont…..</vt:lpstr>
      <vt:lpstr> Prognosis </vt:lpstr>
      <vt:lpstr>2. Venous Thromboembolism (VTE)</vt:lpstr>
      <vt:lpstr>Cont…</vt:lpstr>
      <vt:lpstr>Cont…</vt:lpstr>
      <vt:lpstr> Risk Factors for VTE </vt:lpstr>
      <vt:lpstr>Cont…</vt:lpstr>
      <vt:lpstr>Cont…</vt:lpstr>
      <vt:lpstr> Prevention of VTE in Orthopedic Surgery </vt:lpstr>
      <vt:lpstr>Cont..</vt:lpstr>
      <vt:lpstr>PowerPoint Presentation</vt:lpstr>
      <vt:lpstr>PowerPoint Presentation</vt:lpstr>
      <vt:lpstr>Cont…</vt:lpstr>
      <vt:lpstr> Role of Regional Anesthesia in VTE Prevention </vt:lpstr>
      <vt:lpstr>Cont…</vt:lpstr>
      <vt:lpstr> Anesthesia Management for VTE Prevention </vt:lpstr>
      <vt:lpstr>Regional Anesthesia Considerations</vt:lpstr>
      <vt:lpstr>Cont…</vt:lpstr>
      <vt:lpstr>Cont…</vt:lpstr>
      <vt:lpstr>Cont…</vt:lpstr>
      <vt:lpstr>3. Bone Cement Implantation Syndrome (BCIS)</vt:lpstr>
      <vt:lpstr>Cont..</vt:lpstr>
      <vt:lpstr>CLINICAL FEATURES AND CLASSIFICATION </vt:lpstr>
      <vt:lpstr>Cont..</vt:lpstr>
      <vt:lpstr>Clinical features consistent with BCIS </vt:lpstr>
      <vt:lpstr>PowerPoint Presentation</vt:lpstr>
      <vt:lpstr>pathophysiology of BCIS</vt:lpstr>
      <vt:lpstr>1. Embolic Model </vt:lpstr>
      <vt:lpstr>Cont…</vt:lpstr>
      <vt:lpstr>Cont…</vt:lpstr>
      <vt:lpstr>Cont…</vt:lpstr>
      <vt:lpstr>2. Multimodal Model</vt:lpstr>
      <vt:lpstr>Cont…</vt:lpstr>
      <vt:lpstr>Cont…</vt:lpstr>
      <vt:lpstr>Symptoms of BCIS:</vt:lpstr>
      <vt:lpstr>Cont…</vt:lpstr>
      <vt:lpstr>Cont..</vt:lpstr>
      <vt:lpstr> Risk Factors for BCIS </vt:lpstr>
      <vt:lpstr>Cont…</vt:lpstr>
      <vt:lpstr> Prevention of BCIS </vt:lpstr>
      <vt:lpstr>Cont…</vt:lpstr>
      <vt:lpstr> Monitoring During Surgery </vt:lpstr>
      <vt:lpstr> Anaesthesia Considerations in BCIS </vt:lpstr>
      <vt:lpstr>Cont…</vt:lpstr>
      <vt:lpstr>PowerPoint Presentation</vt:lpstr>
      <vt:lpstr>PowerPoint Presentation</vt:lpstr>
      <vt:lpstr>PowerPoint Presentation</vt:lpstr>
      <vt:lpstr> Intraoperative roles: Anaesthetic team  </vt:lpstr>
      <vt:lpstr>Cont…</vt:lpstr>
      <vt:lpstr>PowerPoint Presentation</vt:lpstr>
      <vt:lpstr>Limb Tourniquet Risks</vt:lpstr>
      <vt:lpstr>Cont…</vt:lpstr>
      <vt:lpstr>  Risks Associated with Limb Tourniquet Use </vt:lpstr>
      <vt:lpstr>Cont…</vt:lpstr>
      <vt:lpstr>Cont..</vt:lpstr>
      <vt:lpstr>Systemic Effects of Limb Tourniquet </vt:lpstr>
      <vt:lpstr>Cont..</vt:lpstr>
      <vt:lpstr>Risk Factors for Complications</vt:lpstr>
      <vt:lpstr>Cont…</vt:lpstr>
      <vt:lpstr>Prevention and Management Strategies</vt:lpstr>
      <vt:lpstr>Cont…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Anaesthesia for orthopaedics surgery</dc:title>
  <dc:creator>Afei</dc:creator>
  <cp:lastModifiedBy>Windows User</cp:lastModifiedBy>
  <cp:revision>41</cp:revision>
  <dcterms:created xsi:type="dcterms:W3CDTF">2024-12-04T06:47:10Z</dcterms:created>
  <dcterms:modified xsi:type="dcterms:W3CDTF">2024-12-09T17:50:55Z</dcterms:modified>
</cp:coreProperties>
</file>