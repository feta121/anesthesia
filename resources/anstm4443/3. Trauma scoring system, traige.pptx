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59" r:id="rId4"/>
    <p:sldId id="258" r:id="rId5"/>
    <p:sldId id="260" r:id="rId6"/>
    <p:sldId id="261" r:id="rId7"/>
    <p:sldId id="292" r:id="rId8"/>
    <p:sldId id="262" r:id="rId9"/>
    <p:sldId id="263" r:id="rId10"/>
    <p:sldId id="280" r:id="rId11"/>
    <p:sldId id="281" r:id="rId12"/>
    <p:sldId id="282" r:id="rId13"/>
    <p:sldId id="264" r:id="rId14"/>
    <p:sldId id="286" r:id="rId15"/>
    <p:sldId id="267" r:id="rId16"/>
    <p:sldId id="265" r:id="rId17"/>
    <p:sldId id="284" r:id="rId18"/>
    <p:sldId id="285" r:id="rId19"/>
    <p:sldId id="287" r:id="rId20"/>
    <p:sldId id="269" r:id="rId21"/>
    <p:sldId id="270" r:id="rId22"/>
    <p:sldId id="271" r:id="rId23"/>
    <p:sldId id="277" r:id="rId24"/>
    <p:sldId id="289" r:id="rId25"/>
    <p:sldId id="278" r:id="rId26"/>
    <p:sldId id="279" r:id="rId27"/>
    <p:sldId id="275" r:id="rId28"/>
    <p:sldId id="290" r:id="rId29"/>
    <p:sldId id="293" r:id="rId30"/>
    <p:sldId id="294" r:id="rId31"/>
    <p:sldId id="295" r:id="rId32"/>
    <p:sldId id="296" r:id="rId33"/>
    <p:sldId id="297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AF2BB-63EF-410E-8E27-020889BECF87}" type="datetimeFigureOut">
              <a:rPr lang="en-GB" smtClean="0"/>
              <a:t>05/11/2024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8C082-A798-4C10-8B7C-DE863181C8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790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744AC4-60A4-4DD3-AD5E-A98285CAB44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75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4900" y="696913"/>
            <a:ext cx="46482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be familiar to all!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F3E2F-7928-4C78-B370-4305F468C88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84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D6EDA-2037-4869-B63F-11216A5DB9CE}" type="datetime1">
              <a:rPr lang="en-GB" smtClean="0"/>
              <a:t>05/11/2024</a:t>
            </a:fld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081B-DE17-4815-B455-C7D8091F5769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297B-FEF7-40B6-AA40-33C8F01C431F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56B1F-A089-4AEA-AA60-274D49C45E4D}" type="datetime1">
              <a:rPr lang="en-GB" smtClean="0"/>
              <a:t>05/11/2024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72486-EDA9-4DD1-9566-CAE897743EA7}" type="datetime1">
              <a:rPr lang="en-GB" smtClean="0"/>
              <a:t>05/11/2024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DA3FE-F6B4-416B-A1B4-EEB4C7705537}" type="datetime1">
              <a:rPr lang="en-GB" smtClean="0"/>
              <a:t>05/11/2024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199CA-EEFD-4FE7-B277-DB064093EEB1}" type="datetime1">
              <a:rPr lang="en-GB" smtClean="0"/>
              <a:t>05/11/2024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165B9-8D97-42F7-A613-436E2A1C7C83}" type="datetime1">
              <a:rPr lang="en-GB" smtClean="0"/>
              <a:t>05/11/2024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F7F5-1AF3-44B8-8A73-5E10FEB09FCD}" type="datetime1">
              <a:rPr lang="en-GB" smtClean="0"/>
              <a:t>05/11/2024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B5312-96C3-4800-8601-A815CD035B8B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0F5BB-28D7-4EAB-87AE-C24697DDECDF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251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DF6479B8-C920-4D63-A278-055A34DEB803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F4FBFC47-1806-43A5-A7B7-FACEE66A947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Document1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808" y="2249289"/>
            <a:ext cx="7772400" cy="1470025"/>
          </a:xfrm>
        </p:spPr>
        <p:txBody>
          <a:bodyPr/>
          <a:lstStyle/>
          <a:p>
            <a:r>
              <a:rPr lang="en-US" b="1" dirty="0" smtClean="0">
                <a:latin typeface="Agency FB" pitchFamily="34" charset="0"/>
              </a:rPr>
              <a:t>Trauma scoring system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4005064"/>
            <a:ext cx="6440760" cy="694928"/>
          </a:xfrm>
        </p:spPr>
        <p:txBody>
          <a:bodyPr/>
          <a:lstStyle/>
          <a:p>
            <a:r>
              <a:rPr lang="en-GB" b="1" dirty="0" smtClean="0"/>
              <a:t>By: </a:t>
            </a:r>
            <a:r>
              <a:rPr lang="en-GB" b="1" dirty="0" err="1" smtClean="0"/>
              <a:t>Wubayehu</a:t>
            </a:r>
            <a:r>
              <a:rPr lang="en-GB" b="1" dirty="0" smtClean="0"/>
              <a:t> </a:t>
            </a:r>
            <a:r>
              <a:rPr lang="en-GB" b="1" dirty="0" err="1" smtClean="0"/>
              <a:t>Amare</a:t>
            </a:r>
            <a:r>
              <a:rPr lang="en-GB" b="1" dirty="0" smtClean="0"/>
              <a:t> (MSc, lecturer)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8018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0"/>
            <a:ext cx="8579296" cy="1268760"/>
          </a:xfrm>
        </p:spPr>
        <p:txBody>
          <a:bodyPr/>
          <a:lstStyle/>
          <a:p>
            <a:r>
              <a:rPr lang="en-GB" b="1" dirty="0" smtClean="0"/>
              <a:t>Trauma score system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268760"/>
            <a:ext cx="8507288" cy="4857403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buFont typeface="Wingdings" pitchFamily="2" charset="2"/>
              <a:buChar char="ü"/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It is a system used to assess the severity of trauma in patients, particularly in emergency and critical care settings.</a:t>
            </a:r>
          </a:p>
          <a:p>
            <a:pPr>
              <a:lnSpc>
                <a:spcPct val="160000"/>
              </a:lnSpc>
              <a:buFont typeface="Wingdings" pitchFamily="2" charset="2"/>
              <a:buChar char="ü"/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 It helps medical professionals determine the level of care required and predict outcomes.</a:t>
            </a:r>
          </a:p>
          <a:p>
            <a:pPr>
              <a:lnSpc>
                <a:spcPct val="160000"/>
              </a:lnSpc>
              <a:buFont typeface="Wingdings" pitchFamily="2" charset="2"/>
              <a:buChar char="ü"/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A systematic approach to assess the severity of injuries.</a:t>
            </a:r>
          </a:p>
          <a:p>
            <a:pPr>
              <a:lnSpc>
                <a:spcPct val="160000"/>
              </a:lnSpc>
              <a:buFont typeface="Wingdings" pitchFamily="2" charset="2"/>
              <a:buChar char="ü"/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Utilizes specific criteria to quantify trauma and predict outcomes.</a:t>
            </a:r>
          </a:p>
          <a:p>
            <a:pPr>
              <a:lnSpc>
                <a:spcPct val="160000"/>
              </a:lnSpc>
            </a:pP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1F1F9-D0EB-48C6-AAC4-BF7872C2FBE0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94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534400" cy="7620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534400" cy="50593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  <a:latin typeface="Times" pitchFamily="18" charset="0"/>
              </a:rPr>
              <a:t>Scoring system can provide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Times" pitchFamily="18" charset="0"/>
              </a:rPr>
              <a:t>The ability to predict outcome from trauma (mortality)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Times" pitchFamily="18" charset="0"/>
              </a:rPr>
              <a:t>Facilitate rational pre-hospital triage decision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Times" pitchFamily="18" charset="0"/>
              </a:rPr>
              <a:t>An aid for the clinical management of patient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Times" pitchFamily="18" charset="0"/>
              </a:rPr>
              <a:t>A tool for comparative audit 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Times" pitchFamily="18" charset="0"/>
              </a:rPr>
              <a:t>A mechanism to decide resource allocation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Times" pitchFamily="18" charset="0"/>
              </a:rPr>
              <a:t>Objective information for end of life decision making </a:t>
            </a:r>
            <a:endParaRPr lang="en-US" sz="2400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927D2-D446-4698-8A92-16F3E301FBF2}" type="datetime1">
              <a:rPr lang="en-GB" smtClean="0"/>
              <a:t>05/11/2024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746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778098"/>
          </a:xfrm>
        </p:spPr>
        <p:txBody>
          <a:bodyPr>
            <a:noAutofit/>
          </a:bodyPr>
          <a:lstStyle/>
          <a:p>
            <a:r>
              <a:rPr lang="en-GB" sz="3600" b="1" dirty="0" smtClean="0">
                <a:latin typeface="Times" pitchFamily="18" charset="0"/>
              </a:rPr>
              <a:t>:</a:t>
            </a:r>
            <a:r>
              <a:rPr lang="en-GB" sz="3600" dirty="0" smtClean="0">
                <a:latin typeface="Times" pitchFamily="18" charset="0"/>
              </a:rPr>
              <a:t/>
            </a:r>
            <a:br>
              <a:rPr lang="en-GB" sz="3600" dirty="0" smtClean="0">
                <a:latin typeface="Times" pitchFamily="18" charset="0"/>
              </a:rPr>
            </a:br>
            <a:r>
              <a:rPr lang="en-GB" sz="3600" b="1" dirty="0">
                <a:latin typeface="Times" pitchFamily="18" charset="0"/>
              </a:rPr>
              <a:t>Classification of Injury Scoring Systems</a:t>
            </a:r>
            <a:endParaRPr lang="en-GB" sz="3600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784976" cy="5544616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solidFill>
                  <a:schemeClr val="tx1"/>
                </a:solidFill>
                <a:latin typeface="Times" pitchFamily="18" charset="0"/>
              </a:rPr>
              <a:t>Anatomical Scoring Systems:</a:t>
            </a:r>
            <a:endParaRPr lang="en-GB" dirty="0" smtClean="0">
              <a:solidFill>
                <a:schemeClr val="tx1"/>
              </a:solidFill>
              <a:latin typeface="Times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Focus on the location and severity of injuries.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Examples: Abbreviated Injury Scale (AIS), Injury Severity Score (ISS).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solidFill>
                  <a:schemeClr val="tx1"/>
                </a:solidFill>
                <a:latin typeface="Times" pitchFamily="18" charset="0"/>
              </a:rPr>
              <a:t>Physiological Scoring Systems:</a:t>
            </a:r>
            <a:endParaRPr lang="en-GB" dirty="0" smtClean="0">
              <a:solidFill>
                <a:schemeClr val="tx1"/>
              </a:solidFill>
              <a:latin typeface="Times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Based on vital signs and physiological parameters.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Examples: Glasgow Coma Scale (GCS), Trauma Score (TS).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solidFill>
                  <a:schemeClr val="tx1"/>
                </a:solidFill>
                <a:latin typeface="Times" pitchFamily="18" charset="0"/>
              </a:rPr>
              <a:t>Combined Scoring Systems:</a:t>
            </a:r>
            <a:endParaRPr lang="en-GB" dirty="0" smtClean="0">
              <a:solidFill>
                <a:schemeClr val="tx1"/>
              </a:solidFill>
              <a:latin typeface="Times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Utilize both anatomical and physiological parameters for a comprehensive assessment.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Examples: Revised Trauma Score (RTS), Trauma Injury Severity Score (TRISS).</a:t>
            </a:r>
          </a:p>
          <a:p>
            <a:pPr>
              <a:lnSpc>
                <a:spcPct val="170000"/>
              </a:lnSpc>
            </a:pPr>
            <a:endParaRPr lang="en-GB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9FA3D-C3EB-4A90-890F-313FBD294616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16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>
                <a:latin typeface="Times" pitchFamily="18" charset="0"/>
              </a:rPr>
              <a:t>Anatomical Scoring Systems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579296" cy="52174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Anatomical scoring systems assess trauma based on the specific injuries sustained and their severity. </a:t>
            </a:r>
          </a:p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These systems help in understanding the impact of injuries on patient outcomes, guiding clinical decision-making, and facilitating communication among healthcare providers.</a:t>
            </a:r>
          </a:p>
          <a:p>
            <a:pPr lvl="1">
              <a:lnSpc>
                <a:spcPct val="150000"/>
              </a:lnSpc>
            </a:pPr>
            <a:r>
              <a:rPr lang="en-GB" sz="2000" b="1" dirty="0" smtClean="0">
                <a:solidFill>
                  <a:schemeClr val="tx1"/>
                </a:solidFill>
                <a:latin typeface="Times" pitchFamily="18" charset="0"/>
              </a:rPr>
              <a:t>Focus on Injury Location</a:t>
            </a:r>
            <a:r>
              <a:rPr lang="en-GB" sz="2000" dirty="0" smtClean="0">
                <a:solidFill>
                  <a:schemeClr val="tx1"/>
                </a:solidFill>
                <a:latin typeface="Times" pitchFamily="18" charset="0"/>
              </a:rPr>
              <a:t>: These systems categorize injuries based on the anatomical regions affected (e.g., head, thorax, abdomen, extremities).</a:t>
            </a:r>
          </a:p>
          <a:p>
            <a:pPr lvl="1">
              <a:lnSpc>
                <a:spcPct val="150000"/>
              </a:lnSpc>
            </a:pPr>
            <a:r>
              <a:rPr lang="en-GB" sz="2000" b="1" dirty="0" smtClean="0">
                <a:solidFill>
                  <a:schemeClr val="tx1"/>
                </a:solidFill>
                <a:latin typeface="Times" pitchFamily="18" charset="0"/>
              </a:rPr>
              <a:t>Severity Assessment</a:t>
            </a:r>
            <a:r>
              <a:rPr lang="en-GB" sz="2000" dirty="0" smtClean="0">
                <a:solidFill>
                  <a:schemeClr val="tx1"/>
                </a:solidFill>
                <a:latin typeface="Times" pitchFamily="18" charset="0"/>
              </a:rPr>
              <a:t>: They evaluate the severity of injuries, often assigning scores that reflect the degree of damage to various body parts.</a:t>
            </a:r>
            <a:endParaRPr lang="en-GB" sz="2000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32E9C-4EE6-4C83-B5AB-5EFF4410C34E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90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850106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sz="3600" dirty="0"/>
              <a:t>Abbreviated Injury Scale (AIS):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568952" cy="53285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A coding system that assigns a score from 1 to 6 for individual injuries based on their severity, where:</a:t>
            </a:r>
          </a:p>
          <a:p>
            <a:pPr lvl="1">
              <a:lnSpc>
                <a:spcPct val="150000"/>
              </a:lnSpc>
            </a:pPr>
            <a:r>
              <a:rPr lang="en-GB" sz="2100" dirty="0" smtClean="0">
                <a:solidFill>
                  <a:schemeClr val="tx1"/>
                </a:solidFill>
                <a:latin typeface="Times" pitchFamily="18" charset="0"/>
              </a:rPr>
              <a:t>0 - no injury</a:t>
            </a:r>
          </a:p>
          <a:p>
            <a:pPr lvl="1">
              <a:lnSpc>
                <a:spcPct val="150000"/>
              </a:lnSpc>
            </a:pPr>
            <a:r>
              <a:rPr lang="en-GB" sz="2100" dirty="0" smtClean="0">
                <a:solidFill>
                  <a:schemeClr val="tx1"/>
                </a:solidFill>
                <a:latin typeface="Times" pitchFamily="18" charset="0"/>
              </a:rPr>
              <a:t>1 - minor</a:t>
            </a:r>
          </a:p>
          <a:p>
            <a:pPr lvl="1">
              <a:lnSpc>
                <a:spcPct val="150000"/>
              </a:lnSpc>
            </a:pPr>
            <a:r>
              <a:rPr lang="en-GB" sz="2100" dirty="0" smtClean="0">
                <a:solidFill>
                  <a:schemeClr val="tx1"/>
                </a:solidFill>
                <a:latin typeface="Times" pitchFamily="18" charset="0"/>
              </a:rPr>
              <a:t>2 - moderate</a:t>
            </a:r>
          </a:p>
          <a:p>
            <a:pPr lvl="1">
              <a:lnSpc>
                <a:spcPct val="150000"/>
              </a:lnSpc>
            </a:pPr>
            <a:r>
              <a:rPr lang="en-GB" sz="2100" dirty="0" smtClean="0">
                <a:solidFill>
                  <a:schemeClr val="tx1"/>
                </a:solidFill>
                <a:latin typeface="Times" pitchFamily="18" charset="0"/>
              </a:rPr>
              <a:t>3 - severe (not life-threatening)</a:t>
            </a:r>
          </a:p>
          <a:p>
            <a:pPr lvl="1">
              <a:lnSpc>
                <a:spcPct val="150000"/>
              </a:lnSpc>
            </a:pPr>
            <a:r>
              <a:rPr lang="en-GB" sz="2100" dirty="0" smtClean="0">
                <a:solidFill>
                  <a:schemeClr val="tx1"/>
                </a:solidFill>
                <a:latin typeface="Times" pitchFamily="18" charset="0"/>
              </a:rPr>
              <a:t>4 - severe (life-threatening, survival probable)</a:t>
            </a:r>
          </a:p>
          <a:p>
            <a:pPr lvl="1">
              <a:lnSpc>
                <a:spcPct val="150000"/>
              </a:lnSpc>
            </a:pPr>
            <a:r>
              <a:rPr lang="en-GB" sz="2100" dirty="0" smtClean="0">
                <a:solidFill>
                  <a:schemeClr val="tx1"/>
                </a:solidFill>
                <a:latin typeface="Times" pitchFamily="18" charset="0"/>
              </a:rPr>
              <a:t>5 - severe (critical, survival uncertain)</a:t>
            </a:r>
          </a:p>
          <a:p>
            <a:pPr lvl="1">
              <a:lnSpc>
                <a:spcPct val="150000"/>
              </a:lnSpc>
            </a:pPr>
            <a:r>
              <a:rPr lang="en-GB" sz="2100" dirty="0" smtClean="0">
                <a:solidFill>
                  <a:schemeClr val="tx1"/>
                </a:solidFill>
                <a:latin typeface="Times" pitchFamily="18" charset="0"/>
              </a:rPr>
              <a:t>6 - maximal, possibly fatal</a:t>
            </a:r>
            <a:endParaRPr lang="en-GB" sz="2400" dirty="0" smtClean="0">
              <a:solidFill>
                <a:schemeClr val="tx1"/>
              </a:solidFill>
              <a:latin typeface="Times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400" b="1" dirty="0" smtClean="0">
                <a:solidFill>
                  <a:schemeClr val="tx1"/>
                </a:solidFill>
                <a:latin typeface="Times" pitchFamily="18" charset="0"/>
              </a:rPr>
              <a:t>Use:</a:t>
            </a: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 Commonly used in trauma research and for calculating the Injury Severity Score (ISS).</a:t>
            </a:r>
          </a:p>
          <a:p>
            <a:pPr>
              <a:lnSpc>
                <a:spcPct val="150000"/>
              </a:lnSpc>
            </a:pP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2A71F-1D8B-4C23-95E7-EC9BB93B3FF4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71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363272" cy="648072"/>
          </a:xfrm>
        </p:spPr>
        <p:txBody>
          <a:bodyPr/>
          <a:lstStyle/>
          <a:p>
            <a:pPr lvl="2" algn="r" rtl="0">
              <a:spcBef>
                <a:spcPct val="0"/>
              </a:spcBef>
            </a:pPr>
            <a:r>
              <a:rPr lang="en-US" sz="3200" b="1" dirty="0" smtClean="0">
                <a:solidFill>
                  <a:prstClr val="black"/>
                </a:solidFill>
                <a:latin typeface="Agency FB" pitchFamily="34" charset="0"/>
              </a:rPr>
              <a:t/>
            </a:r>
            <a:br>
              <a:rPr lang="en-US" sz="3200" b="1" dirty="0" smtClean="0">
                <a:solidFill>
                  <a:prstClr val="black"/>
                </a:solidFill>
                <a:latin typeface="Agency FB" pitchFamily="34" charset="0"/>
              </a:rPr>
            </a:br>
            <a:r>
              <a:rPr lang="en-US" sz="3200" b="1" dirty="0" smtClean="0">
                <a:solidFill>
                  <a:prstClr val="black"/>
                </a:solidFill>
                <a:latin typeface="Agency FB" pitchFamily="34" charset="0"/>
              </a:rPr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35888" cy="50734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smtClean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was developed by engineers to rate and compare blunt injuries from road vehicle accidents and has undergone several modifications since its introduction in 1971.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smtClean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It represents the threat to life associated with the injury rather than the comprehensive assessment of the severity of the injury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smtClean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AIS is one of the most common anatomic scales for traumatic injuries.</a:t>
            </a:r>
          </a:p>
          <a:p>
            <a:pPr>
              <a:lnSpc>
                <a:spcPct val="150000"/>
              </a:lnSpc>
            </a:pPr>
            <a:endParaRPr lang="en-US" sz="2600" dirty="0">
              <a:solidFill>
                <a:schemeClr val="tx1"/>
              </a:solidFill>
              <a:latin typeface="Times" pitchFamily="18" charset="0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B057-57E5-439A-BE0A-B579EDEBA495}" type="datetime1">
              <a:rPr lang="en-US" smtClean="0"/>
              <a:t>11/5/2024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34AA6-0B55-424F-B0A9-7F7FA19014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61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507288" cy="50405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226519"/>
              </p:ext>
            </p:extLst>
          </p:nvPr>
        </p:nvGraphicFramePr>
        <p:xfrm>
          <a:off x="179513" y="620690"/>
          <a:ext cx="8712966" cy="4743394"/>
        </p:xfrm>
        <a:graphic>
          <a:graphicData uri="http://schemas.openxmlformats.org/drawingml/2006/table">
            <a:tbl>
              <a:tblPr firstRow="1" firstCol="1" bandRow="1"/>
              <a:tblGrid>
                <a:gridCol w="2904322"/>
                <a:gridCol w="2904322"/>
                <a:gridCol w="2904322"/>
              </a:tblGrid>
              <a:tr h="3343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Score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Description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Example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6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Minor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Abrasions or minor lacerations on the skin.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6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Moderate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Fracture of a distal radius (wrist fracture).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6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 smtClean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severe (not life-threatening)</a:t>
                      </a:r>
                      <a:endParaRPr lang="en-GB" sz="1600" b="0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Pneumothorax requiring chest tube placement.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6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 smtClean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Severe (life-threatening, survival probable)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GB" sz="1600" b="0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Liver laceration requiring surgical intervention.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29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 smtClean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Critical (critical, survival uncertain)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GB" sz="1600" b="0" dirty="0"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Traumatic brain injury with significant haemorrhage.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6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Unsalvageable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600" b="0" dirty="0">
                          <a:effectLst/>
                          <a:latin typeface="Times" pitchFamily="18" charset="0"/>
                          <a:ea typeface="Calibri"/>
                          <a:cs typeface="Times New Roman"/>
                        </a:rPr>
                        <a:t>Complete spinal cord injury at cervical level.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BEDD-FAC1-42F2-A870-68719091EE8F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6657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6632"/>
            <a:ext cx="8579296" cy="562074"/>
          </a:xfrm>
        </p:spPr>
        <p:txBody>
          <a:bodyPr>
            <a:noAutofit/>
          </a:bodyPr>
          <a:lstStyle/>
          <a:p>
            <a:r>
              <a:rPr lang="en-GB" sz="2800" b="1" dirty="0" smtClean="0">
                <a:latin typeface="Times" pitchFamily="18" charset="0"/>
              </a:rPr>
              <a:t/>
            </a:r>
            <a:br>
              <a:rPr lang="en-GB" sz="2800" b="1" dirty="0" smtClean="0">
                <a:latin typeface="Times" pitchFamily="18" charset="0"/>
              </a:rPr>
            </a:br>
            <a:r>
              <a:rPr lang="en-GB" sz="2800" b="1" dirty="0">
                <a:latin typeface="Times" pitchFamily="18" charset="0"/>
              </a:rPr>
              <a:t/>
            </a:r>
            <a:br>
              <a:rPr lang="en-GB" sz="2800" b="1" dirty="0">
                <a:latin typeface="Times" pitchFamily="18" charset="0"/>
              </a:rPr>
            </a:br>
            <a:r>
              <a:rPr lang="en-GB" sz="4800" b="1" dirty="0">
                <a:latin typeface="Times" pitchFamily="18" charset="0"/>
              </a:rPr>
              <a:t>Injury Severity Score (</a:t>
            </a:r>
            <a:r>
              <a:rPr lang="en-GB" sz="4800" b="1" dirty="0" smtClean="0">
                <a:latin typeface="Times" pitchFamily="18" charset="0"/>
              </a:rPr>
              <a:t>ISS)</a:t>
            </a:r>
            <a:endParaRPr lang="en-GB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836712"/>
                <a:ext cx="8507288" cy="528945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2400" b="1" dirty="0" smtClean="0">
                    <a:solidFill>
                      <a:schemeClr val="tx1"/>
                    </a:solidFill>
                    <a:latin typeface="Times" pitchFamily="18" charset="0"/>
                  </a:rPr>
                  <a:t>Definition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GB" sz="2400" b="1" dirty="0" smtClean="0">
                    <a:solidFill>
                      <a:schemeClr val="tx1"/>
                    </a:solidFill>
                    <a:latin typeface="Times" pitchFamily="18" charset="0"/>
                  </a:rPr>
                  <a:t>Injury Severity Score (ISS)</a:t>
                </a:r>
                <a:r>
                  <a:rPr lang="en-GB" sz="2400" dirty="0" smtClean="0">
                    <a:solidFill>
                      <a:schemeClr val="tx1"/>
                    </a:solidFill>
                    <a:latin typeface="Times" pitchFamily="18" charset="0"/>
                  </a:rPr>
                  <a:t> is a validated scoring system used to assess the severity of traumatic injuries.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2400" dirty="0" smtClean="0">
                    <a:solidFill>
                      <a:schemeClr val="tx1"/>
                    </a:solidFill>
                    <a:latin typeface="Times" pitchFamily="18" charset="0"/>
                  </a:rPr>
                  <a:t>Calculated using the Abbreviated Injury Score (AIS) for the three most severely injured body regions.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2400" dirty="0" smtClean="0">
                    <a:solidFill>
                      <a:schemeClr val="tx1"/>
                    </a:solidFill>
                    <a:latin typeface="Times" pitchFamily="18" charset="0"/>
                  </a:rPr>
                  <a:t>Scores range from 1 (minor injury) to 75 (maximum severity).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2400" dirty="0" smtClean="0">
                    <a:solidFill>
                      <a:schemeClr val="tx1"/>
                    </a:solidFill>
                    <a:latin typeface="Times" pitchFamily="18" charset="0"/>
                  </a:rPr>
                  <a:t>Formula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2400" dirty="0" smtClean="0">
                    <a:solidFill>
                      <a:schemeClr val="tx1"/>
                    </a:solidFill>
                    <a:latin typeface="Times" pitchFamily="18" charset="0"/>
                  </a:rPr>
                  <a:t>    ISS Calculation:</a:t>
                </a:r>
                <a:r>
                  <a:rPr lang="en-GB" sz="2000" b="1" dirty="0" smtClean="0">
                    <a:solidFill>
                      <a:schemeClr val="tx1"/>
                    </a:solidFill>
                    <a:latin typeface="Times" pitchFamily="18" charset="0"/>
                  </a:rPr>
                  <a:t>  ISS=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𝑨</m:t>
                        </m:r>
                      </m:e>
                      <m:sup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𝑩</m:t>
                        </m:r>
                      </m:e>
                      <m:sup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𝑪</m:t>
                        </m:r>
                      </m:e>
                      <m:sup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endParaRPr lang="en-GB" sz="2000" b="1" dirty="0" smtClean="0">
                  <a:solidFill>
                    <a:schemeClr val="tx1"/>
                  </a:solidFill>
                  <a:latin typeface="Times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GB" sz="1600" dirty="0" smtClean="0">
                    <a:solidFill>
                      <a:schemeClr val="tx1"/>
                    </a:solidFill>
                    <a:latin typeface="Times" pitchFamily="18" charset="0"/>
                  </a:rPr>
                  <a:t>Where A, B, and C are the AIS scores for the three most severe injuries.</a:t>
                </a:r>
                <a:endParaRPr lang="en-GB" sz="1600" dirty="0">
                  <a:solidFill>
                    <a:schemeClr val="tx1"/>
                  </a:solidFill>
                  <a:latin typeface="Times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836712"/>
                <a:ext cx="8507288" cy="5289451"/>
              </a:xfrm>
              <a:blipFill rotWithShape="1">
                <a:blip r:embed="rId2"/>
                <a:stretch>
                  <a:fillRect l="-931" r="-1934" b="-2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F75A-2528-47DE-930C-E23B055A0927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57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260648"/>
            <a:ext cx="8784976" cy="586551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>
                <a:solidFill>
                  <a:schemeClr val="tx1"/>
                </a:solidFill>
              </a:rPr>
              <a:t>ISS Body Regions &amp; Injury Assignments:</a:t>
            </a:r>
          </a:p>
          <a:p>
            <a:pPr lvl="1">
              <a:lnSpc>
                <a:spcPct val="150000"/>
              </a:lnSpc>
            </a:pP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Head or Neck Injuries</a:t>
            </a: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000" dirty="0">
                <a:solidFill>
                  <a:schemeClr val="tx1"/>
                </a:solidFill>
                <a:latin typeface="Times" pitchFamily="18" charset="0"/>
              </a:rPr>
              <a:t>Involves the brain, cervical spine, skull, and cervical spine fractures.</a:t>
            </a:r>
          </a:p>
          <a:p>
            <a:pPr lvl="2">
              <a:lnSpc>
                <a:spcPct val="150000"/>
              </a:lnSpc>
            </a:pPr>
            <a:r>
              <a:rPr lang="en-GB" sz="2000" dirty="0">
                <a:solidFill>
                  <a:schemeClr val="tx1"/>
                </a:solidFill>
                <a:latin typeface="Times" pitchFamily="18" charset="0"/>
              </a:rPr>
              <a:t>Also includes asphyxia and suffocation.</a:t>
            </a:r>
          </a:p>
          <a:p>
            <a:pPr lvl="1">
              <a:lnSpc>
                <a:spcPct val="150000"/>
              </a:lnSpc>
            </a:pP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Facial Injuries</a:t>
            </a: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000" dirty="0">
                <a:solidFill>
                  <a:schemeClr val="tx1"/>
                </a:solidFill>
                <a:latin typeface="Times" pitchFamily="18" charset="0"/>
              </a:rPr>
              <a:t>Involves the mouth, ears, nose, and facial bones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Chest Injuries</a:t>
            </a: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000" dirty="0">
                <a:solidFill>
                  <a:schemeClr val="tx1"/>
                </a:solidFill>
                <a:latin typeface="Times" pitchFamily="18" charset="0"/>
              </a:rPr>
              <a:t>Includes internal organ injuries (lungs, heart, etc.), drowning, and inhalation injury.</a:t>
            </a:r>
          </a:p>
          <a:p>
            <a:pPr lvl="2">
              <a:lnSpc>
                <a:spcPct val="150000"/>
              </a:lnSpc>
            </a:pPr>
            <a:r>
              <a:rPr lang="en-GB" sz="2000" dirty="0">
                <a:solidFill>
                  <a:schemeClr val="tx1"/>
                </a:solidFill>
                <a:latin typeface="Times" pitchFamily="18" charset="0"/>
              </a:rPr>
              <a:t>Also covers injuries to the diaphragm, rib cage, and thoracic spine.</a:t>
            </a:r>
          </a:p>
          <a:p>
            <a:pPr>
              <a:lnSpc>
                <a:spcPct val="150000"/>
              </a:lnSpc>
            </a:pPr>
            <a:endParaRPr lang="en-GB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081B-DE17-4815-B455-C7D8091F5769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758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507288" cy="764704"/>
          </a:xfrm>
        </p:spPr>
        <p:txBody>
          <a:bodyPr/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496944" cy="5616624"/>
          </a:xfrm>
        </p:spPr>
        <p:txBody>
          <a:bodyPr>
            <a:normAutofit fontScale="92500" lnSpcReduction="20000"/>
          </a:bodyPr>
          <a:lstStyle/>
          <a:p>
            <a:pPr lvl="1">
              <a:lnSpc>
                <a:spcPct val="150000"/>
              </a:lnSpc>
            </a:pP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Abdominal or Pelvic Contents Injuries</a:t>
            </a: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Includes injuries to internal organs (liver, spleen, intestines) and the lumbar spine</a:t>
            </a: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.</a:t>
            </a:r>
            <a:endParaRPr lang="en-GB" sz="2400" b="1" dirty="0" smtClean="0">
              <a:solidFill>
                <a:schemeClr val="tx1"/>
              </a:solidFill>
              <a:latin typeface="Times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sz="2400" b="1" dirty="0" smtClean="0">
                <a:solidFill>
                  <a:schemeClr val="tx1"/>
                </a:solidFill>
                <a:latin typeface="Times" pitchFamily="18" charset="0"/>
              </a:rPr>
              <a:t>Extremities </a:t>
            </a: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or Pelvic Girdle Injuries</a:t>
            </a: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Includes sprains, fractures, dislocations, and amputations.</a:t>
            </a:r>
          </a:p>
          <a:p>
            <a:pPr lvl="1">
              <a:lnSpc>
                <a:spcPct val="150000"/>
              </a:lnSpc>
            </a:pP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External and Other Trauma Injuries</a:t>
            </a: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Includes skin injuries (lacerations, contusions, abrasions, burns), regardless of their location.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Other events such as electrical injury, frostbite, hypothermia, and whole-body injuries (e.g., from explosions) are also assigned here.</a:t>
            </a:r>
          </a:p>
          <a:p>
            <a:pPr>
              <a:lnSpc>
                <a:spcPct val="150000"/>
              </a:lnSpc>
            </a:pPr>
            <a:endParaRPr lang="en-GB" dirty="0"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081B-DE17-4815-B455-C7D8091F5769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34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683554"/>
              </p:ext>
            </p:extLst>
          </p:nvPr>
        </p:nvGraphicFramePr>
        <p:xfrm>
          <a:off x="323528" y="332656"/>
          <a:ext cx="8280920" cy="5112565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656184"/>
                <a:gridCol w="1656184"/>
                <a:gridCol w="1656184"/>
                <a:gridCol w="1656184"/>
                <a:gridCol w="1656184"/>
              </a:tblGrid>
              <a:tr h="4062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Body region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Injury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AIS code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Highest AIS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solidFill>
                            <a:schemeClr val="tx1"/>
                          </a:solidFill>
                          <a:effectLst/>
                        </a:rPr>
                        <a:t>ISS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15237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Head or neck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Cerebral contusion (NFS)</a:t>
                      </a:r>
                      <a:b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Internal carotid artery transection (neck) 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/>
                      </a:r>
                      <a:b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GB" sz="1200" dirty="0" smtClean="0">
                          <a:solidFill>
                            <a:schemeClr val="tx1"/>
                          </a:solidFill>
                          <a:effectLst/>
                        </a:rPr>
                        <a:t>4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4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16 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062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Face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Closed fractured nose 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solidFill>
                            <a:schemeClr val="tx1"/>
                          </a:solidFill>
                          <a:effectLst/>
                        </a:rPr>
                        <a:t>1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1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7787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Chest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Rib fractures left side, ribs 3 – 4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solidFill>
                            <a:schemeClr val="tx1"/>
                          </a:solidFill>
                          <a:effectLst/>
                        </a:rPr>
                        <a:t>2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2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7787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Abdomen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Retroperitoneal haematoma 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solidFill>
                            <a:schemeClr val="tx1"/>
                          </a:solidFill>
                          <a:effectLst/>
                        </a:rPr>
                        <a:t>2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2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4 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062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Extremities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Fractured femur (NFS)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solidFill>
                            <a:schemeClr val="tx1"/>
                          </a:solidFill>
                          <a:effectLst/>
                        </a:rPr>
                        <a:t>3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3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9 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062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External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Abrasions (NFS) 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solidFill>
                            <a:schemeClr val="tx1"/>
                          </a:solidFill>
                          <a:effectLst/>
                        </a:rPr>
                        <a:t>1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1 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062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110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effectLst/>
                        </a:rPr>
                        <a:t>ISS = 29</a:t>
                      </a:r>
                      <a:endParaRPr lang="en-GB" sz="110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081B-DE17-4815-B455-C7D8091F5769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38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620688"/>
            <a:ext cx="8363272" cy="55054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solidFill>
                  <a:schemeClr val="tx1"/>
                </a:solidFill>
                <a:latin typeface="Times" pitchFamily="18" charset="0"/>
              </a:rPr>
              <a:t>Purpose</a:t>
            </a:r>
            <a:endParaRPr lang="en-GB" dirty="0" smtClean="0">
              <a:solidFill>
                <a:schemeClr val="tx1"/>
              </a:solidFill>
              <a:latin typeface="Times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Widely utilized in trauma research and clinical setting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 Helps predict mortality, morbidity, and overall patient outcomes.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Assists in resource allocation and treatment planning.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A score of &lt;16 generally indicates mild </a:t>
            </a: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injury, ISS 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&gt;16 mortality rate of 10%</a:t>
            </a:r>
            <a:endParaRPr lang="en-GB" b="1" dirty="0">
              <a:solidFill>
                <a:schemeClr val="tx1"/>
              </a:solidFill>
              <a:latin typeface="Times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endParaRPr lang="en-GB" sz="3200" dirty="0" smtClean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FAB1-0B33-466C-B5E6-1CE50F798AF2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26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548680"/>
            <a:ext cx="8435280" cy="576064"/>
          </a:xfrm>
        </p:spPr>
        <p:txBody>
          <a:bodyPr/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980728"/>
            <a:ext cx="8075240" cy="51454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Interpretation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Minor Injury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: ISS ≤ 8</a:t>
            </a:r>
          </a:p>
          <a:p>
            <a:pPr lvl="1">
              <a:lnSpc>
                <a:spcPct val="150000"/>
              </a:lnSpc>
            </a:pP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Moderate Injury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: ISS 9–15</a:t>
            </a:r>
          </a:p>
          <a:p>
            <a:pPr lvl="1">
              <a:lnSpc>
                <a:spcPct val="150000"/>
              </a:lnSpc>
            </a:pP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Severe Injury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: ISS 16–24</a:t>
            </a:r>
          </a:p>
          <a:p>
            <a:pPr lvl="1">
              <a:lnSpc>
                <a:spcPct val="150000"/>
              </a:lnSpc>
            </a:pP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Critical Injury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: ISS ≥ 25</a:t>
            </a:r>
          </a:p>
          <a:p>
            <a:pPr>
              <a:lnSpc>
                <a:spcPct val="150000"/>
              </a:lnSpc>
            </a:pPr>
            <a:endParaRPr lang="en-GB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081B-DE17-4815-B455-C7D8091F5769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92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88640"/>
            <a:ext cx="8579296" cy="360040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 smtClean="0">
                <a:latin typeface="Times" pitchFamily="18" charset="0"/>
              </a:rPr>
              <a:t/>
            </a:r>
            <a:br>
              <a:rPr lang="en-GB" dirty="0" smtClean="0">
                <a:latin typeface="Times" pitchFamily="18" charset="0"/>
              </a:rPr>
            </a:br>
            <a:r>
              <a:rPr lang="en-GB" sz="3100" dirty="0" smtClean="0">
                <a:latin typeface="Times" pitchFamily="18" charset="0"/>
              </a:rPr>
              <a:t>Example</a:t>
            </a:r>
            <a:r>
              <a:rPr lang="en-GB" dirty="0" smtClean="0">
                <a:latin typeface="Times" pitchFamily="18" charset="0"/>
              </a:rPr>
              <a:t/>
            </a:r>
            <a:br>
              <a:rPr lang="en-GB" dirty="0" smtClean="0">
                <a:latin typeface="Times" pitchFamily="18" charset="0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20688"/>
            <a:ext cx="8784976" cy="597666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 smtClean="0">
                <a:solidFill>
                  <a:schemeClr val="tx1"/>
                </a:solidFill>
                <a:latin typeface="Times" pitchFamily="18" charset="0"/>
              </a:rPr>
              <a:t>A 32-year-old male was involved in a high-speed motor vehicle collision arrival at the emergency department, he presented with confusion and difficulty breathing. A CT scan revealed an intracranial haemorrhage. Physical examination showed bruising and tenderness in the chest, with chest X-rays indicating a rib fracture and possible pulmonary contusion. Additionally, significant swelling and pain were noted in the right thigh, where X-rays confirmed a mid-shaft fracture of the femur, but neurovascular status was intact. What is the ISS score of this patient and its clinical implication?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 smtClean="0">
                <a:solidFill>
                  <a:schemeClr val="tx1"/>
                </a:solidFill>
                <a:latin typeface="Times" pitchFamily="18" charset="0"/>
              </a:rPr>
              <a:t>Head Trauma: AIS = 4 (Intracranial </a:t>
            </a:r>
            <a:r>
              <a:rPr lang="en-GB" sz="1800" b="1" dirty="0" err="1" smtClean="0">
                <a:solidFill>
                  <a:schemeClr val="tx1"/>
                </a:solidFill>
                <a:latin typeface="Times" pitchFamily="18" charset="0"/>
              </a:rPr>
              <a:t>hemorrhage</a:t>
            </a:r>
            <a:r>
              <a:rPr lang="en-GB" sz="1800" b="1" dirty="0" smtClean="0">
                <a:solidFill>
                  <a:schemeClr val="tx1"/>
                </a:solidFill>
                <a:latin typeface="Times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 smtClean="0">
                <a:solidFill>
                  <a:schemeClr val="tx1"/>
                </a:solidFill>
                <a:latin typeface="Times" pitchFamily="18" charset="0"/>
              </a:rPr>
              <a:t>Chest Trauma: AIS = 3 (Rib fracture and possible pulmonary contusion)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 smtClean="0">
                <a:solidFill>
                  <a:schemeClr val="tx1"/>
                </a:solidFill>
                <a:latin typeface="Times" pitchFamily="18" charset="0"/>
              </a:rPr>
              <a:t>Femur Fracture: AIS = 2 (Mid-shaft fracture of the femur)</a:t>
            </a:r>
            <a:endParaRPr lang="en-GB" sz="1800" b="1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1E43-F2F9-4D53-905C-44CD1EC1654E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74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908720"/>
                <a:ext cx="8363272" cy="5217443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lnSpc>
                    <a:spcPct val="160000"/>
                  </a:lnSpc>
                  <a:buNone/>
                </a:pPr>
                <a:r>
                  <a:rPr lang="en-GB" sz="2400" b="1" dirty="0" smtClean="0">
                    <a:solidFill>
                      <a:schemeClr val="tx1"/>
                    </a:solidFill>
                    <a:latin typeface="Times" pitchFamily="18" charset="0"/>
                  </a:rPr>
                  <a:t>ISS=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𝟒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GB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𝟑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GB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e>
                      <m:sup>
                        <m:r>
                          <a:rPr lang="en-GB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GB" sz="2400" b="1" i="0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GB" sz="2400" b="1" i="0" smtClean="0">
                        <a:solidFill>
                          <a:schemeClr val="tx1"/>
                        </a:solidFill>
                        <a:latin typeface="Cambria Math"/>
                      </a:rPr>
                      <m:t>𝟐𝟗</m:t>
                    </m:r>
                  </m:oMath>
                </a14:m>
                <a:endParaRPr lang="en-GB" sz="2400" b="1" dirty="0" smtClean="0">
                  <a:solidFill>
                    <a:schemeClr val="tx1"/>
                  </a:solidFill>
                  <a:latin typeface="Times" pitchFamily="18" charset="0"/>
                </a:endParaRPr>
              </a:p>
              <a:p>
                <a:pPr>
                  <a:lnSpc>
                    <a:spcPct val="160000"/>
                  </a:lnSpc>
                </a:pPr>
                <a:r>
                  <a:rPr lang="en-GB" sz="2400" b="1" dirty="0" smtClean="0">
                    <a:solidFill>
                      <a:schemeClr val="tx1"/>
                    </a:solidFill>
                    <a:latin typeface="Times" pitchFamily="18" charset="0"/>
                  </a:rPr>
                  <a:t>Clinical Relevance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n-GB" sz="2000" dirty="0" smtClean="0">
                    <a:solidFill>
                      <a:schemeClr val="tx1"/>
                    </a:solidFill>
                    <a:latin typeface="Times" pitchFamily="18" charset="0"/>
                  </a:rPr>
                  <a:t>An </a:t>
                </a:r>
                <a:r>
                  <a:rPr lang="en-GB" sz="2000" b="1" dirty="0" smtClean="0">
                    <a:solidFill>
                      <a:schemeClr val="tx1"/>
                    </a:solidFill>
                    <a:latin typeface="Times" pitchFamily="18" charset="0"/>
                  </a:rPr>
                  <a:t>ISS of 29</a:t>
                </a:r>
                <a:r>
                  <a:rPr lang="en-GB" sz="2000" dirty="0" smtClean="0">
                    <a:solidFill>
                      <a:schemeClr val="tx1"/>
                    </a:solidFill>
                    <a:latin typeface="Times" pitchFamily="18" charset="0"/>
                  </a:rPr>
                  <a:t> suggests:</a:t>
                </a:r>
                <a:endParaRPr lang="en-GB" sz="2000" b="1" dirty="0" smtClean="0">
                  <a:solidFill>
                    <a:schemeClr val="tx1"/>
                  </a:solidFill>
                  <a:latin typeface="Times" pitchFamily="18" charset="0"/>
                </a:endParaRPr>
              </a:p>
              <a:p>
                <a:pPr lvl="2">
                  <a:lnSpc>
                    <a:spcPct val="160000"/>
                  </a:lnSpc>
                </a:pPr>
                <a:r>
                  <a:rPr lang="en-GB" sz="2000" dirty="0" smtClean="0">
                    <a:solidFill>
                      <a:schemeClr val="tx1"/>
                    </a:solidFill>
                    <a:latin typeface="Times" pitchFamily="18" charset="0"/>
                  </a:rPr>
                  <a:t>Significant risk of complications, such as respiratory failure or shock.</a:t>
                </a:r>
              </a:p>
              <a:p>
                <a:pPr lvl="2">
                  <a:lnSpc>
                    <a:spcPct val="160000"/>
                  </a:lnSpc>
                </a:pPr>
                <a:r>
                  <a:rPr lang="en-GB" sz="2000" dirty="0" smtClean="0">
                    <a:solidFill>
                      <a:schemeClr val="tx1"/>
                    </a:solidFill>
                    <a:latin typeface="Times" pitchFamily="18" charset="0"/>
                  </a:rPr>
                  <a:t>Potential need for surgical intervention and intensive care monitoring.</a:t>
                </a:r>
              </a:p>
              <a:p>
                <a:pPr lvl="2">
                  <a:lnSpc>
                    <a:spcPct val="160000"/>
                  </a:lnSpc>
                </a:pPr>
                <a:r>
                  <a:rPr lang="en-GB" sz="2000" dirty="0" smtClean="0">
                    <a:solidFill>
                      <a:schemeClr val="tx1"/>
                    </a:solidFill>
                    <a:latin typeface="Times" pitchFamily="18" charset="0"/>
                  </a:rPr>
                  <a:t>Higher likelihood of long-term morbidity, influencing rehabilitation strategies</a:t>
                </a:r>
                <a:r>
                  <a:rPr lang="en-GB" sz="1600" dirty="0" smtClean="0">
                    <a:solidFill>
                      <a:schemeClr val="tx1"/>
                    </a:solidFill>
                    <a:latin typeface="Times" pitchFamily="18" charset="0"/>
                  </a:rPr>
                  <a:t>.</a:t>
                </a:r>
                <a:endParaRPr lang="en-GB" sz="1600" dirty="0">
                  <a:solidFill>
                    <a:schemeClr val="tx1"/>
                  </a:solidFill>
                  <a:latin typeface="Times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908720"/>
                <a:ext cx="8363272" cy="5217443"/>
              </a:xfrm>
              <a:blipFill rotWithShape="1">
                <a:blip r:embed="rId2"/>
                <a:stretch>
                  <a:fillRect l="-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3706-BBBE-4FCF-BC61-E1C57980CC00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52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332656"/>
            <a:ext cx="8435280" cy="648072"/>
          </a:xfrm>
        </p:spPr>
        <p:txBody>
          <a:bodyPr/>
          <a:lstStyle/>
          <a:p>
            <a:r>
              <a:rPr lang="en-GB" sz="3600" dirty="0"/>
              <a:t/>
            </a:r>
            <a:br>
              <a:rPr lang="en-GB" sz="3600" dirty="0"/>
            </a:br>
            <a:r>
              <a:rPr lang="en-GB" sz="3600" b="1" dirty="0"/>
              <a:t>NISS (New Injury Severity </a:t>
            </a:r>
            <a:r>
              <a:rPr lang="en-GB" sz="3600" b="1" dirty="0" smtClean="0"/>
              <a:t>Score)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435280" cy="50734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solidFill>
                  <a:schemeClr val="tx1"/>
                </a:solidFill>
                <a:latin typeface="Times" pitchFamily="18" charset="0"/>
              </a:rPr>
              <a:t>Modified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Calculation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: </a:t>
            </a:r>
            <a:endParaRPr lang="en-GB" dirty="0" smtClean="0">
              <a:solidFill>
                <a:schemeClr val="tx1"/>
              </a:solidFill>
              <a:latin typeface="Times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The 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NISS also calculates the severity of the </a:t>
            </a: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three most severe injuries</a:t>
            </a: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the 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difference is that it </a:t>
            </a: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does not require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 the injuries to be from </a:t>
            </a: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different body regions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. </a:t>
            </a:r>
            <a:endParaRPr lang="en-GB" sz="2400" dirty="0" smtClean="0">
              <a:solidFill>
                <a:schemeClr val="tx1"/>
              </a:solidFill>
              <a:latin typeface="Times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This 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means that, in the NISS, it is possible to have multiple injuries within the same anatomical region (e.g., head, chest, or abdomen) that are considered in the score.</a:t>
            </a:r>
          </a:p>
          <a:p>
            <a:pPr>
              <a:lnSpc>
                <a:spcPct val="150000"/>
              </a:lnSpc>
            </a:pPr>
            <a:endParaRPr lang="en-GB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081B-DE17-4815-B455-C7D8091F5769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86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836712"/>
          </a:xfrm>
        </p:spPr>
        <p:txBody>
          <a:bodyPr/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56886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Like the ISS, the NISS sums the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squares of the AIS values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 of the three most severe injuries. </a:t>
            </a:r>
            <a:endParaRPr lang="en-GB" dirty="0" smtClean="0">
              <a:solidFill>
                <a:schemeClr val="tx1"/>
              </a:solidFill>
              <a:latin typeface="Times" pitchFamily="18" charset="0"/>
            </a:endParaRPr>
          </a:p>
          <a:p>
            <a:pPr>
              <a:lnSpc>
                <a:spcPct val="150000"/>
              </a:lnSpc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The 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key difference is that NISS can incorporate multiple severe injuries within a single body region, which may better reflect the overall severity of trauma. </a:t>
            </a:r>
            <a:endParaRPr lang="en-GB" dirty="0" smtClean="0">
              <a:solidFill>
                <a:schemeClr val="tx1"/>
              </a:solidFill>
              <a:latin typeface="Times" pitchFamily="18" charset="0"/>
            </a:endParaRPr>
          </a:p>
          <a:p>
            <a:pPr>
              <a:lnSpc>
                <a:spcPct val="150000"/>
              </a:lnSpc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For 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example, if a person has two severe head injuries (both AIS 4), and one severe abdominal injury (AIS 3), the NISS will square each of these injuries (4² + 4² + 3² = 16 + 16 + 9 = 41), whereas the ISS would consider only the highest AIS from each body region.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081B-DE17-4815-B455-C7D8091F5769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33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60648"/>
            <a:ext cx="8579296" cy="648072"/>
          </a:xfrm>
        </p:spPr>
        <p:txBody>
          <a:bodyPr/>
          <a:lstStyle/>
          <a:p>
            <a:pPr algn="r"/>
            <a:r>
              <a:rPr lang="en-GB" sz="4000" dirty="0" smtClean="0"/>
              <a:t>Cont..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solidFill>
                  <a:schemeClr val="tx1"/>
                </a:solidFill>
                <a:latin typeface="Times" pitchFamily="18" charset="0"/>
              </a:rPr>
              <a:t>interpretation</a:t>
            </a: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2400" b="1" dirty="0" smtClean="0">
                <a:solidFill>
                  <a:schemeClr val="tx1"/>
                </a:solidFill>
                <a:latin typeface="Times" pitchFamily="18" charset="0"/>
              </a:rPr>
              <a:t>NISS </a:t>
            </a: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≤ 8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: Minor injuries</a:t>
            </a:r>
          </a:p>
          <a:p>
            <a:pPr lvl="1">
              <a:lnSpc>
                <a:spcPct val="150000"/>
              </a:lnSpc>
            </a:pPr>
            <a:r>
              <a:rPr lang="en-GB" sz="2400" b="1" dirty="0">
                <a:solidFill>
                  <a:schemeClr val="tx1"/>
                </a:solidFill>
                <a:latin typeface="Times" pitchFamily="18" charset="0"/>
              </a:rPr>
              <a:t>NISS ≥ 25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: High likelihood of mortality</a:t>
            </a:r>
          </a:p>
          <a:p>
            <a:pPr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It is a more accurate predictor of mortality compared to the ISS.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081B-DE17-4815-B455-C7D8091F5769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44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0609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/>
            </a:r>
            <a:br>
              <a:rPr lang="en-GB" b="1" dirty="0"/>
            </a:br>
            <a:r>
              <a:rPr lang="en-GB" b="1" dirty="0"/>
              <a:t/>
            </a:r>
            <a:br>
              <a:rPr lang="en-GB" b="1" dirty="0"/>
            </a:br>
            <a:r>
              <a:rPr lang="en-GB" b="1" dirty="0">
                <a:latin typeface="Times" pitchFamily="18" charset="0"/>
              </a:rPr>
              <a:t>Physiological Scoring Systems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363272" cy="4929411"/>
          </a:xfrm>
        </p:spPr>
        <p:txBody>
          <a:bodyPr/>
          <a:lstStyle/>
          <a:p>
            <a:r>
              <a:rPr lang="en-GB" b="1" dirty="0" smtClean="0">
                <a:solidFill>
                  <a:schemeClr val="tx1"/>
                </a:solidFill>
                <a:latin typeface="Times" pitchFamily="18" charset="0"/>
              </a:rPr>
              <a:t>Definition:</a:t>
            </a:r>
            <a:endParaRPr lang="en-GB" dirty="0" smtClean="0">
              <a:solidFill>
                <a:schemeClr val="tx1"/>
              </a:solidFill>
              <a:latin typeface="Times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Physiological scoring systems assess a patient’s condition based on vital signs and other physiological parameters, providing critical information for triage, management, and outcome prediction in trauma and critical care.</a:t>
            </a:r>
          </a:p>
          <a:p>
            <a:endParaRPr lang="en-GB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AB6FD-AE59-4A61-97F2-DC09289D3CDA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43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06090"/>
          </a:xfrm>
        </p:spPr>
        <p:txBody>
          <a:bodyPr/>
          <a:lstStyle/>
          <a:p>
            <a:r>
              <a:rPr lang="en-GB" dirty="0" smtClean="0"/>
              <a:t>The Glasgow Coma Scale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55446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GSC is an essential tool for assessing the level of consciousness in trauma patients, particularly in cases of traumatic brain injury (TBI). </a:t>
            </a:r>
          </a:p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It quantifies the severity of head injuries by evaluating three key areas: 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000" dirty="0" smtClean="0">
                <a:solidFill>
                  <a:schemeClr val="tx1"/>
                </a:solidFill>
                <a:latin typeface="Times" pitchFamily="18" charset="0"/>
              </a:rPr>
              <a:t>Eye opening, 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000" dirty="0" smtClean="0">
                <a:solidFill>
                  <a:schemeClr val="tx1"/>
                </a:solidFill>
                <a:latin typeface="Times" pitchFamily="18" charset="0"/>
              </a:rPr>
              <a:t>Verbal response, and 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000" dirty="0" smtClean="0">
                <a:solidFill>
                  <a:schemeClr val="tx1"/>
                </a:solidFill>
                <a:latin typeface="Times" pitchFamily="18" charset="0"/>
              </a:rPr>
              <a:t>Motor response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 smtClean="0">
              <a:solidFill>
                <a:schemeClr val="tx1"/>
              </a:solidFill>
              <a:latin typeface="Times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 smtClean="0">
              <a:solidFill>
                <a:schemeClr val="tx1"/>
              </a:solidFill>
              <a:latin typeface="Times" pitchFamily="18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840E0-FA34-4749-AA68-8E193A7AFFE6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47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51520" y="764704"/>
            <a:ext cx="8640960" cy="576064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The GSC is not only used at the initial assessment; it is also employed for on going evaluations of the patient’s condition.</a:t>
            </a:r>
          </a:p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Regular monitoring helps track changes in consciousness and can Indicate improvements or deterioration over time.</a:t>
            </a:r>
          </a:p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It provides a quick, standardized measure to determine the severity of the brain injury.</a:t>
            </a:r>
          </a:p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The total score ranges from </a:t>
            </a:r>
            <a:r>
              <a:rPr lang="en-GB" sz="2400" b="1" dirty="0" smtClean="0">
                <a:solidFill>
                  <a:schemeClr val="tx1"/>
                </a:solidFill>
                <a:latin typeface="Times" pitchFamily="18" charset="0"/>
              </a:rPr>
              <a:t>3 (deep coma or death) </a:t>
            </a: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to </a:t>
            </a:r>
            <a:r>
              <a:rPr lang="en-GB" sz="2400" b="1" dirty="0" smtClean="0">
                <a:solidFill>
                  <a:schemeClr val="tx1"/>
                </a:solidFill>
                <a:latin typeface="Times" pitchFamily="18" charset="0"/>
              </a:rPr>
              <a:t>15 (fully alert and oriented). </a:t>
            </a:r>
          </a:p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This scoring system provides valuable insight into the patient's neurological status and guides clinical decision-making.</a:t>
            </a:r>
            <a:endParaRPr lang="en-GB" sz="2400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9EC55-3ADC-4A06-878E-DCEC57172162}" type="datetime1">
              <a:rPr lang="en-GB" smtClean="0"/>
              <a:t>05/11/2024</a:t>
            </a:fld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45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47667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3600" b="1" dirty="0">
                <a:latin typeface="Times" pitchFamily="18" charset="0"/>
              </a:rPr>
              <a:t>Scoring System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07504" y="548680"/>
            <a:ext cx="4388296" cy="58326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 smtClean="0">
                <a:solidFill>
                  <a:schemeClr val="tx1"/>
                </a:solidFill>
                <a:latin typeface="Times" pitchFamily="18" charset="0"/>
              </a:rPr>
              <a:t>Eye Opening (1-4 points)</a:t>
            </a:r>
            <a:endParaRPr lang="en-GB" sz="2400" dirty="0" smtClean="0">
              <a:solidFill>
                <a:schemeClr val="tx1"/>
              </a:solidFill>
              <a:latin typeface="Times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4: Spontaneous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3: To speech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2: To pain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1: None</a:t>
            </a:r>
          </a:p>
          <a:p>
            <a:pPr>
              <a:lnSpc>
                <a:spcPct val="150000"/>
              </a:lnSpc>
            </a:pPr>
            <a:r>
              <a:rPr lang="en-GB" sz="2400" b="1" dirty="0" smtClean="0">
                <a:solidFill>
                  <a:schemeClr val="tx1"/>
                </a:solidFill>
                <a:latin typeface="Times" pitchFamily="18" charset="0"/>
              </a:rPr>
              <a:t>Verbal Response (1-5 points)</a:t>
            </a:r>
          </a:p>
          <a:p>
            <a:pPr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 5: Oriented</a:t>
            </a:r>
          </a:p>
          <a:p>
            <a:pPr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4: Confused</a:t>
            </a:r>
          </a:p>
          <a:p>
            <a:pPr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3: Inappropriate words</a:t>
            </a:r>
          </a:p>
          <a:p>
            <a:pPr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2: Incomprehensible sounds</a:t>
            </a:r>
          </a:p>
          <a:p>
            <a:pPr lvl="1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 1: None</a:t>
            </a:r>
            <a:endParaRPr lang="en-GB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499992" y="692696"/>
            <a:ext cx="4186808" cy="5433467"/>
          </a:xfrm>
        </p:spPr>
        <p:txBody>
          <a:bodyPr>
            <a:normAutofit/>
          </a:bodyPr>
          <a:lstStyle/>
          <a:p>
            <a:r>
              <a:rPr lang="en-GB" sz="2400" b="1" dirty="0" smtClean="0">
                <a:solidFill>
                  <a:schemeClr val="tx1"/>
                </a:solidFill>
                <a:latin typeface="Times" pitchFamily="18" charset="0"/>
              </a:rPr>
              <a:t>Motor Response (1-6 points)</a:t>
            </a:r>
            <a:endParaRPr lang="en-GB" sz="2400" dirty="0" smtClean="0">
              <a:solidFill>
                <a:schemeClr val="tx1"/>
              </a:solidFill>
              <a:latin typeface="Times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6: Obeys commands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5: Localizes pain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4: Withdraws from pain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3: Abnormal flexion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2: Abnormal extension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1: None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89C98-D00B-4EDB-A147-15919F22B56C}" type="datetime1">
              <a:rPr lang="en-GB" smtClean="0"/>
              <a:t>05/11/2024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58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908720"/>
          </a:xfrm>
        </p:spPr>
        <p:txBody>
          <a:bodyPr/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620688"/>
            <a:ext cx="8568952" cy="583264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A 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35-year-old male is admitted after a car accident. He is unresponsive to verbal commands but opens his eyes to painful stimuli and moves his limbs.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Assessment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Eye opening: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2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 (opens eyes in response to pain)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Verbal response: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2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 (inappropriate words)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Motor response: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4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 </a:t>
            </a: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(withdraws 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from pain)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Total GCS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 = 2 (eye) + 2 (verbal) + 4 (motor) =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8</a:t>
            </a:r>
            <a:endParaRPr lang="en-GB" dirty="0">
              <a:solidFill>
                <a:schemeClr val="tx1"/>
              </a:solidFill>
              <a:latin typeface="Times" pitchFamily="18" charset="0"/>
            </a:endParaRP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Interpretation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: The patient has a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severe brain injury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 (GCS ≤ 8), which suggests a high risk of neurological deterioration and warrants urgent intervention.</a:t>
            </a:r>
          </a:p>
          <a:p>
            <a:pPr>
              <a:lnSpc>
                <a:spcPct val="150000"/>
              </a:lnSpc>
            </a:pPr>
            <a:endParaRPr lang="en-GB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081B-DE17-4815-B455-C7D8091F5769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347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715962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Agency FB" pitchFamily="34" charset="0"/>
              </a:rPr>
              <a:t>Revised Trauma Score</a:t>
            </a:r>
            <a:endParaRPr lang="en-US" dirty="0"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5181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Times" pitchFamily="18" charset="0"/>
              </a:rPr>
              <a:t>The RTS incorporates three items: GCS, RR and SBP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  <a:latin typeface="Times" pitchFamily="18" charset="0"/>
              </a:rPr>
              <a:t>It is calculated using the coded values (0–4) </a:t>
            </a:r>
          </a:p>
          <a:p>
            <a:pPr>
              <a:buFont typeface="Wingdings" pitchFamily="2" charset="2"/>
              <a:buChar char="ü"/>
            </a:pPr>
            <a:endParaRPr lang="en-US" sz="2400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4123-86A5-440E-8A23-800F1DD048CF}" type="datetime1">
              <a:rPr lang="en-GB" smtClean="0"/>
              <a:t>05/11/2024</a:t>
            </a:fld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0327165"/>
              </p:ext>
            </p:extLst>
          </p:nvPr>
        </p:nvGraphicFramePr>
        <p:xfrm>
          <a:off x="179512" y="2132856"/>
          <a:ext cx="8839200" cy="4582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Document" r:id="rId4" imgW="5908470" imgH="1704520" progId="Word.Document.12">
                  <p:embed/>
                </p:oleObj>
              </mc:Choice>
              <mc:Fallback>
                <p:oleObj name="Document" r:id="rId4" imgW="5908470" imgH="17045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9512" y="2132856"/>
                        <a:ext cx="8839200" cy="45828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52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1"/>
            <a:ext cx="8362950" cy="3048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20688"/>
            <a:ext cx="8686800" cy="5832648"/>
          </a:xfrm>
        </p:spPr>
        <p:txBody>
          <a:bodyPr>
            <a:normAutofit fontScale="85000" lnSpcReduction="20000"/>
          </a:bodyPr>
          <a:lstStyle/>
          <a:p>
            <a:pPr fontAlgn="base">
              <a:lnSpc>
                <a:spcPct val="160000"/>
              </a:lnSpc>
            </a:pPr>
            <a:r>
              <a:rPr lang="en-US" dirty="0">
                <a:solidFill>
                  <a:schemeClr val="tx1"/>
                </a:solidFill>
                <a:latin typeface="Times" pitchFamily="18" charset="0"/>
              </a:rPr>
              <a:t>Calculation</a:t>
            </a:r>
          </a:p>
          <a:p>
            <a:pPr lvl="1" fontAlgn="base">
              <a:lnSpc>
                <a:spcPct val="160000"/>
              </a:lnSpc>
            </a:pPr>
            <a:r>
              <a:rPr lang="en-US" sz="2600" dirty="0">
                <a:solidFill>
                  <a:schemeClr val="tx1"/>
                </a:solidFill>
                <a:latin typeface="Times" pitchFamily="18" charset="0"/>
              </a:rPr>
              <a:t>Glasgow coma scale score + systolic blood pressure score + respiratory rate score</a:t>
            </a:r>
          </a:p>
          <a:p>
            <a:pPr fontAlgn="base">
              <a:lnSpc>
                <a:spcPct val="160000"/>
              </a:lnSpc>
            </a:pPr>
            <a:r>
              <a:rPr lang="en-US" dirty="0">
                <a:solidFill>
                  <a:schemeClr val="tx1"/>
                </a:solidFill>
                <a:latin typeface="Times" pitchFamily="18" charset="0"/>
              </a:rPr>
              <a:t>Interpretation</a:t>
            </a:r>
          </a:p>
          <a:p>
            <a:pPr lvl="1" fontAlgn="base">
              <a:lnSpc>
                <a:spcPct val="160000"/>
              </a:lnSpc>
            </a:pPr>
            <a:r>
              <a:rPr lang="en-US" sz="2600" dirty="0">
                <a:solidFill>
                  <a:schemeClr val="tx1"/>
                </a:solidFill>
                <a:latin typeface="Times" pitchFamily="18" charset="0"/>
              </a:rPr>
              <a:t>lower score indicates higher severity</a:t>
            </a:r>
          </a:p>
          <a:p>
            <a:pPr lvl="1" fontAlgn="base">
              <a:lnSpc>
                <a:spcPct val="160000"/>
              </a:lnSpc>
            </a:pPr>
            <a:r>
              <a:rPr lang="en-US" sz="2600" dirty="0">
                <a:solidFill>
                  <a:schemeClr val="tx1"/>
                </a:solidFill>
                <a:latin typeface="Times" pitchFamily="18" charset="0"/>
              </a:rPr>
              <a:t>RTS &lt;4 proposed for transfer to trauma center</a:t>
            </a:r>
          </a:p>
          <a:p>
            <a:pPr fontAlgn="base">
              <a:lnSpc>
                <a:spcPct val="160000"/>
              </a:lnSpc>
            </a:pPr>
            <a:r>
              <a:rPr lang="en-US" dirty="0">
                <a:solidFill>
                  <a:schemeClr val="tx1"/>
                </a:solidFill>
                <a:latin typeface="Times" pitchFamily="18" charset="0"/>
              </a:rPr>
              <a:t>Pros</a:t>
            </a:r>
          </a:p>
          <a:p>
            <a:pPr lvl="1" fontAlgn="base">
              <a:lnSpc>
                <a:spcPct val="160000"/>
              </a:lnSpc>
            </a:pPr>
            <a:r>
              <a:rPr lang="en-US" sz="2600" dirty="0">
                <a:solidFill>
                  <a:schemeClr val="tx1"/>
                </a:solidFill>
                <a:latin typeface="Times" pitchFamily="18" charset="0"/>
              </a:rPr>
              <a:t>useful during triage to determine which patients need to be transported to a trauma center</a:t>
            </a:r>
          </a:p>
          <a:p>
            <a:pPr fontAlgn="base">
              <a:lnSpc>
                <a:spcPct val="160000"/>
              </a:lnSpc>
            </a:pPr>
            <a:r>
              <a:rPr lang="en-US" dirty="0">
                <a:solidFill>
                  <a:schemeClr val="tx1"/>
                </a:solidFill>
                <a:latin typeface="Times" pitchFamily="18" charset="0"/>
              </a:rPr>
              <a:t>Cons</a:t>
            </a:r>
          </a:p>
          <a:p>
            <a:pPr lvl="1" fontAlgn="base">
              <a:lnSpc>
                <a:spcPct val="160000"/>
              </a:lnSpc>
            </a:pPr>
            <a:r>
              <a:rPr lang="en-US" sz="2600" dirty="0">
                <a:solidFill>
                  <a:schemeClr val="tx1"/>
                </a:solidFill>
                <a:latin typeface="Times" pitchFamily="18" charset="0"/>
              </a:rPr>
              <a:t>can underestimate injury severity in patients injured in one system</a:t>
            </a:r>
          </a:p>
          <a:p>
            <a:pPr>
              <a:lnSpc>
                <a:spcPct val="160000"/>
              </a:lnSpc>
            </a:pPr>
            <a:endParaRPr lang="en-US" dirty="0">
              <a:solidFill>
                <a:schemeClr val="tx1"/>
              </a:solidFill>
              <a:latin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B881F-2D37-4098-893A-AF33BB040DD5}" type="datetime1">
              <a:rPr lang="en-GB" smtClean="0"/>
              <a:t>05/11/2024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80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085584" cy="747464"/>
          </a:xfrm>
        </p:spPr>
        <p:txBody>
          <a:bodyPr/>
          <a:lstStyle/>
          <a:p>
            <a:pPr algn="r"/>
            <a:r>
              <a:rPr lang="en-GB" sz="4000" dirty="0" smtClean="0"/>
              <a:t>Cont..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435280" cy="507342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RTS Classification</a:t>
            </a: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:</a:t>
            </a:r>
            <a:endParaRPr lang="en-GB" dirty="0">
              <a:solidFill>
                <a:schemeClr val="tx1"/>
              </a:solidFill>
              <a:latin typeface="Times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Score 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Range: 0 to </a:t>
            </a: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12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Higher 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RTS indicates better physiological status.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 Interpretation:</a:t>
            </a:r>
          </a:p>
          <a:p>
            <a:pPr marL="685800"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RTS 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&gt; 12: Low risk of </a:t>
            </a: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mortality.</a:t>
            </a:r>
          </a:p>
          <a:p>
            <a:pPr marL="685800"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 smtClean="0">
                <a:solidFill>
                  <a:schemeClr val="tx1"/>
                </a:solidFill>
                <a:latin typeface="Times" pitchFamily="18" charset="0"/>
              </a:rPr>
              <a:t>RTS </a:t>
            </a:r>
            <a:r>
              <a:rPr lang="en-GB" sz="2400" dirty="0">
                <a:solidFill>
                  <a:schemeClr val="tx1"/>
                </a:solidFill>
                <a:latin typeface="Times" pitchFamily="18" charset="0"/>
              </a:rPr>
              <a:t>&lt; 12: Higher risk of mortality and need for advanced intervention.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BF256-EA59-4B44-8B71-BFAA17274864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48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88640"/>
            <a:ext cx="8579296" cy="648072"/>
          </a:xfrm>
        </p:spPr>
        <p:txBody>
          <a:bodyPr/>
          <a:lstStyle/>
          <a:p>
            <a:pPr algn="r"/>
            <a:r>
              <a:rPr lang="en-GB" sz="3200" dirty="0" smtClean="0"/>
              <a:t>Cont..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404664"/>
            <a:ext cx="8579296" cy="593752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Example: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A 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40-year-old male is brought in after a fall from a building. His vital signs and GCS are as follows: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GCS: </a:t>
            </a: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11, SBP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: </a:t>
            </a: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90/55 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mmHg </a:t>
            </a: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, RR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: </a:t>
            </a:r>
            <a:r>
              <a:rPr lang="en-GB" dirty="0" smtClean="0">
                <a:solidFill>
                  <a:schemeClr val="tx1"/>
                </a:solidFill>
                <a:latin typeface="Times" pitchFamily="18" charset="0"/>
              </a:rPr>
              <a:t>18b/min</a:t>
            </a:r>
            <a:endParaRPr lang="en-GB" dirty="0">
              <a:solidFill>
                <a:schemeClr val="tx1"/>
              </a:solidFill>
              <a:latin typeface="Times" pitchFamily="18" charset="0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RTS Calculation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: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GCS score: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11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 → RTS points = 4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SBP: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90 mmHg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 → RTS points = 3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RR: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18 breaths/min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 → RTS points = 4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2200" b="1" dirty="0">
                <a:solidFill>
                  <a:schemeClr val="tx1"/>
                </a:solidFill>
                <a:latin typeface="Times" pitchFamily="18" charset="0"/>
              </a:rPr>
              <a:t>Total RTS</a:t>
            </a:r>
            <a:r>
              <a:rPr lang="en-GB" sz="2200" dirty="0">
                <a:solidFill>
                  <a:schemeClr val="tx1"/>
                </a:solidFill>
                <a:latin typeface="Times" pitchFamily="18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= 4 (GCS) + 3 (SBP) + 4 (RR) =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11</a:t>
            </a:r>
            <a:endParaRPr lang="en-GB" dirty="0">
              <a:solidFill>
                <a:schemeClr val="tx1"/>
              </a:solidFill>
              <a:latin typeface="Times" pitchFamily="18" charset="0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Interpretation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: The patient has an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RTS of 11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, suggesting a </a:t>
            </a:r>
            <a:r>
              <a:rPr lang="en-GB" b="1" dirty="0">
                <a:solidFill>
                  <a:schemeClr val="tx1"/>
                </a:solidFill>
                <a:latin typeface="Times" pitchFamily="18" charset="0"/>
              </a:rPr>
              <a:t>moderate risk of mortality</a:t>
            </a:r>
            <a:r>
              <a:rPr lang="en-GB" dirty="0">
                <a:solidFill>
                  <a:schemeClr val="tx1"/>
                </a:solidFill>
                <a:latin typeface="Times" pitchFamily="18" charset="0"/>
              </a:rPr>
              <a:t>. Although the GCS is slightly depressed, the patient’s vital signs show signs of stability, but close monitoring is essential.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081B-DE17-4815-B455-C7D8091F5769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14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9144"/>
            <a:ext cx="8534400" cy="868362"/>
          </a:xfrm>
        </p:spPr>
        <p:txBody>
          <a:bodyPr/>
          <a:lstStyle/>
          <a:p>
            <a:r>
              <a:rPr lang="en-US" dirty="0" smtClean="0">
                <a:latin typeface="Agency FB" pitchFamily="34" charset="0"/>
              </a:rPr>
              <a:t>Triage </a:t>
            </a:r>
            <a:endParaRPr lang="en-US" dirty="0"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T</a:t>
            </a:r>
            <a:r>
              <a:rPr lang="en-US" sz="2600" dirty="0" smtClean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riage </a:t>
            </a:r>
            <a:r>
              <a:rPr lang="en-US" sz="2600" dirty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is the process of determining the severity of a patient’s condition</a:t>
            </a:r>
            <a:r>
              <a:rPr lang="en-US" sz="2600" dirty="0" smtClean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600" dirty="0" smtClean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 </a:t>
            </a:r>
            <a:r>
              <a:rPr lang="en-US" sz="2600" dirty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Patients with the most severe emergencies receive immediate treatment</a:t>
            </a:r>
            <a:r>
              <a:rPr lang="en-US" sz="2600" dirty="0" smtClean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priority level based on your medical history and current condition according to the following scale: Level 1 – Resuscitation (immediate life-saving intervention);  Level 2 – Emergency; Level 3 – Urgent; Level 4 – Semi-urgent; Level 5 – Non-urgent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6983-CDD1-422F-9A70-EB1FE6DF25DA}" type="datetime1">
              <a:rPr lang="en-US" smtClean="0"/>
              <a:t>11/5/2024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34AA6-0B55-424F-B0A9-7F7FA19014E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71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&#10;&#10;Description automatically generated">
            <a:extLst>
              <a:ext uri="{FF2B5EF4-FFF2-40B4-BE49-F238E27FC236}">
                <a16:creationId xmlns="" xmlns:a16="http://schemas.microsoft.com/office/drawing/2014/main" id="{4E0E4C9E-025E-48B4-BDBF-6CC3ECD598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868" y="817025"/>
            <a:ext cx="3294933" cy="56853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E7BDB2-060B-489F-877F-EAFD482F8CBA}"/>
              </a:ext>
            </a:extLst>
          </p:cNvPr>
          <p:cNvSpPr txBox="1">
            <a:spLocks/>
          </p:cNvSpPr>
          <p:nvPr/>
        </p:nvSpPr>
        <p:spPr>
          <a:xfrm>
            <a:off x="4038601" y="1219200"/>
            <a:ext cx="4923879" cy="4484229"/>
          </a:xfrm>
          <a:prstGeom prst="rect">
            <a:avLst/>
          </a:prstGeom>
        </p:spPr>
        <p:txBody>
          <a:bodyPr/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Agency FB" pitchFamily="34" charset="0"/>
                <a:cs typeface="Arial" panose="020B0604020202020204" pitchFamily="34" charset="0"/>
              </a:rPr>
              <a:t>Assess vital signs &amp; level of consciousness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Agency FB" pitchFamily="34" charset="0"/>
                <a:cs typeface="Arial" panose="020B0604020202020204" pitchFamily="34" charset="0"/>
              </a:rPr>
              <a:t>Assess anatomy of injury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Agency FB" pitchFamily="34" charset="0"/>
                <a:cs typeface="Arial" panose="020B0604020202020204" pitchFamily="34" charset="0"/>
              </a:rPr>
              <a:t>Assess mechanism of injury &amp; evidence of high energy impact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ClrTx/>
              <a:buSzPct val="100000"/>
              <a:buFont typeface="+mj-lt"/>
              <a:buAutoNum type="arabicPeriod"/>
            </a:pPr>
            <a:r>
              <a:rPr lang="en-US" sz="2600" dirty="0">
                <a:solidFill>
                  <a:schemeClr val="tx1"/>
                </a:solidFill>
                <a:latin typeface="Agency FB" pitchFamily="34" charset="0"/>
                <a:cs typeface="Arial" panose="020B0604020202020204" pitchFamily="34" charset="0"/>
              </a:rPr>
              <a:t>Assess special patient or system considerations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="" xmlns:a16="http://schemas.microsoft.com/office/drawing/2014/main" id="{F2711FFA-5555-45B4-8692-5471E5E0A350}"/>
              </a:ext>
            </a:extLst>
          </p:cNvPr>
          <p:cNvSpPr txBox="1">
            <a:spLocks/>
          </p:cNvSpPr>
          <p:nvPr/>
        </p:nvSpPr>
        <p:spPr>
          <a:xfrm>
            <a:off x="609600" y="1"/>
            <a:ext cx="8534400" cy="80797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2800" b="1" i="0" kern="1200" baseline="0">
                <a:solidFill>
                  <a:srgbClr val="ED393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Minion Pro SmBd" panose="02040503050201020203" pitchFamily="18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Minion Pro SmBd" panose="02040503050201020203" pitchFamily="18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Minion Pro SmBd" panose="02040503050201020203" pitchFamily="18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1600" kern="1200" baseline="0">
                <a:solidFill>
                  <a:schemeClr val="tx1"/>
                </a:solidFill>
                <a:latin typeface="Minion Pro SmBd" panose="020405030502010202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2C37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2011 Guideline</a:t>
            </a:r>
          </a:p>
        </p:txBody>
      </p:sp>
    </p:spTree>
    <p:extLst>
      <p:ext uri="{BB962C8B-B14F-4D97-AF65-F5344CB8AC3E}">
        <p14:creationId xmlns:p14="http://schemas.microsoft.com/office/powerpoint/2010/main" val="376924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smtClean="0"/>
              <a:t>Field Triage Decision Scheme </a:t>
            </a:r>
            <a:endParaRPr lang="en-GB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9137A-D453-45BA-A662-F2A4C8550DB6}" type="datetime1">
              <a:rPr lang="en-US" smtClean="0"/>
              <a:t>11/5/2024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9FCCEC-20CB-483C-8810-19AADB4151A4}" type="slidenum">
              <a:rPr lang="en-GB" smtClean="0"/>
              <a:t>31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971600" y="548680"/>
            <a:ext cx="7488832" cy="108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smtClean="0"/>
              <a:t>Measure Vital Sign and level of consciousness </a:t>
            </a:r>
            <a:endParaRPr lang="en-GB" b="1" dirty="0"/>
          </a:p>
          <a:p>
            <a:r>
              <a:rPr lang="en-GB" dirty="0" smtClean="0"/>
              <a:t>GCS =&lt; 13</a:t>
            </a:r>
          </a:p>
          <a:p>
            <a:r>
              <a:rPr lang="en-GB" dirty="0" smtClean="0"/>
              <a:t>SBP &lt; 90 </a:t>
            </a:r>
            <a:r>
              <a:rPr lang="en-GB" dirty="0" err="1" smtClean="0"/>
              <a:t>mmhg</a:t>
            </a:r>
            <a:endParaRPr lang="en-GB" dirty="0" smtClean="0"/>
          </a:p>
          <a:p>
            <a:r>
              <a:rPr lang="en-GB" dirty="0" smtClean="0"/>
              <a:t>RR &lt; 10 or &gt; 29 </a:t>
            </a:r>
            <a:r>
              <a:rPr lang="en-GB" dirty="0" err="1" smtClean="0"/>
              <a:t>bpm</a:t>
            </a:r>
            <a:r>
              <a:rPr lang="en-GB" dirty="0" smtClean="0"/>
              <a:t> or [&lt; 20, &lt; 1year] or need ventilator support  </a:t>
            </a:r>
            <a:endParaRPr lang="en-GB" dirty="0"/>
          </a:p>
        </p:txBody>
      </p:sp>
      <p:sp>
        <p:nvSpPr>
          <p:cNvPr id="6" name="Oval 5"/>
          <p:cNvSpPr/>
          <p:nvPr/>
        </p:nvSpPr>
        <p:spPr>
          <a:xfrm>
            <a:off x="842775" y="2300223"/>
            <a:ext cx="1948974" cy="9361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Assess anatomy of injury </a:t>
            </a:r>
            <a:endParaRPr lang="en-GB" dirty="0"/>
          </a:p>
        </p:txBody>
      </p:sp>
      <p:sp>
        <p:nvSpPr>
          <p:cNvPr id="7" name="Down Arrow 6"/>
          <p:cNvSpPr/>
          <p:nvPr/>
        </p:nvSpPr>
        <p:spPr>
          <a:xfrm>
            <a:off x="1835696" y="1628800"/>
            <a:ext cx="211266" cy="6120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41198" y="1790869"/>
            <a:ext cx="576064" cy="306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No</a:t>
            </a:r>
            <a:endParaRPr lang="en-GB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832" y="3744402"/>
            <a:ext cx="7467600" cy="1813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084" y="2096006"/>
            <a:ext cx="5553075" cy="1140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Down Arrow 9"/>
          <p:cNvSpPr/>
          <p:nvPr/>
        </p:nvSpPr>
        <p:spPr>
          <a:xfrm>
            <a:off x="5508104" y="1628800"/>
            <a:ext cx="288032" cy="4672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6156176" y="1709386"/>
            <a:ext cx="576064" cy="306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Yes </a:t>
            </a:r>
            <a:endParaRPr lang="en-GB" dirty="0"/>
          </a:p>
        </p:txBody>
      </p:sp>
      <p:sp>
        <p:nvSpPr>
          <p:cNvPr id="16" name="Down Arrow 15"/>
          <p:cNvSpPr/>
          <p:nvPr/>
        </p:nvSpPr>
        <p:spPr>
          <a:xfrm>
            <a:off x="5326589" y="3236327"/>
            <a:ext cx="288032" cy="4672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6020544" y="3316913"/>
            <a:ext cx="576064" cy="306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Yes </a:t>
            </a:r>
            <a:endParaRPr lang="en-GB" dirty="0"/>
          </a:p>
        </p:txBody>
      </p:sp>
      <p:sp>
        <p:nvSpPr>
          <p:cNvPr id="18" name="Rectangle 17"/>
          <p:cNvSpPr/>
          <p:nvPr/>
        </p:nvSpPr>
        <p:spPr>
          <a:xfrm>
            <a:off x="827584" y="3316913"/>
            <a:ext cx="576064" cy="306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No  </a:t>
            </a:r>
            <a:endParaRPr lang="en-GB" dirty="0"/>
          </a:p>
        </p:txBody>
      </p:sp>
      <p:sp>
        <p:nvSpPr>
          <p:cNvPr id="19" name="Down Arrow 18"/>
          <p:cNvSpPr/>
          <p:nvPr/>
        </p:nvSpPr>
        <p:spPr>
          <a:xfrm>
            <a:off x="2215685" y="3131167"/>
            <a:ext cx="211266" cy="4672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Bracket 10"/>
          <p:cNvSpPr/>
          <p:nvPr/>
        </p:nvSpPr>
        <p:spPr>
          <a:xfrm>
            <a:off x="683568" y="908720"/>
            <a:ext cx="144016" cy="175744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0" y="1484785"/>
            <a:ext cx="755576" cy="611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Step 1</a:t>
            </a:r>
            <a:endParaRPr lang="en-GB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5816641"/>
            <a:ext cx="2355032" cy="991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Down Arrow 22"/>
          <p:cNvSpPr/>
          <p:nvPr/>
        </p:nvSpPr>
        <p:spPr>
          <a:xfrm>
            <a:off x="1817262" y="5583037"/>
            <a:ext cx="124067" cy="2336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2215685" y="5510607"/>
            <a:ext cx="576064" cy="306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No  </a:t>
            </a:r>
            <a:endParaRPr lang="en-GB" dirty="0"/>
          </a:p>
        </p:txBody>
      </p:sp>
      <p:sp>
        <p:nvSpPr>
          <p:cNvPr id="25" name="Left Bracket 24"/>
          <p:cNvSpPr/>
          <p:nvPr/>
        </p:nvSpPr>
        <p:spPr>
          <a:xfrm>
            <a:off x="768477" y="3917000"/>
            <a:ext cx="214242" cy="275236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35140" y="5252489"/>
            <a:ext cx="755576" cy="611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Step 2</a:t>
            </a:r>
            <a:endParaRPr lang="en-GB" dirty="0"/>
          </a:p>
        </p:txBody>
      </p:sp>
      <p:sp>
        <p:nvSpPr>
          <p:cNvPr id="13" name="Bent-Up Arrow 12"/>
          <p:cNvSpPr/>
          <p:nvPr/>
        </p:nvSpPr>
        <p:spPr>
          <a:xfrm>
            <a:off x="3326632" y="5517231"/>
            <a:ext cx="5817368" cy="108012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>
            <a:off x="8460432" y="4980458"/>
            <a:ext cx="576064" cy="3060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Yes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99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632"/>
            <a:ext cx="8686800" cy="600953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.</a:t>
            </a: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77AF-E65C-45A7-A98B-CEA2DD4A662B}" type="datetime1">
              <a:rPr lang="en-US" smtClean="0"/>
              <a:t>11/5/2024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9FCCEC-20CB-483C-8810-19AADB4151A4}" type="slidenum">
              <a:rPr lang="en-GB" smtClean="0"/>
              <a:t>32</a:t>
            </a:fld>
            <a:endParaRPr lang="en-GB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6631"/>
            <a:ext cx="7183548" cy="2929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29" y="3886200"/>
            <a:ext cx="2478955" cy="675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91680" y="3199131"/>
            <a:ext cx="936104" cy="3822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No</a:t>
            </a:r>
            <a:endParaRPr lang="en-GB" dirty="0"/>
          </a:p>
        </p:txBody>
      </p:sp>
      <p:sp>
        <p:nvSpPr>
          <p:cNvPr id="4" name="Down Arrow 3"/>
          <p:cNvSpPr/>
          <p:nvPr/>
        </p:nvSpPr>
        <p:spPr>
          <a:xfrm>
            <a:off x="1475656" y="3046115"/>
            <a:ext cx="216024" cy="3060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199132"/>
            <a:ext cx="5960690" cy="3506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0" y="1610697"/>
            <a:ext cx="755576" cy="611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Step 3</a:t>
            </a:r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7391400" y="304800"/>
            <a:ext cx="1413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FTDS cont.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77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latin typeface="Arial Black" pitchFamily="34" charset="0"/>
              </a:rPr>
              <a:t>Any questions???</a:t>
            </a:r>
            <a:endParaRPr lang="en-US" sz="6000" dirty="0">
              <a:latin typeface="Arial Black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081B-DE17-4815-B455-C7D8091F5769}" type="datetime1">
              <a:rPr lang="en-GB" smtClean="0"/>
              <a:t>05/11/2024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BFC47-1806-43A5-A7B7-FACEE66A947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2970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186</TotalTime>
  <Words>2120</Words>
  <Application>Microsoft Office PowerPoint</Application>
  <PresentationFormat>On-screen Show (4:3)</PresentationFormat>
  <Paragraphs>337</Paragraphs>
  <Slides>33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Executive</vt:lpstr>
      <vt:lpstr>Document</vt:lpstr>
      <vt:lpstr>Trauma scoring system</vt:lpstr>
      <vt:lpstr>Trauma score system</vt:lpstr>
      <vt:lpstr>Cont… </vt:lpstr>
      <vt:lpstr>: Classification of Injury Scoring Systems</vt:lpstr>
      <vt:lpstr>  Anatomical Scoring Systems</vt:lpstr>
      <vt:lpstr>  Abbreviated Injury Scale (AIS):</vt:lpstr>
      <vt:lpstr> cont..</vt:lpstr>
      <vt:lpstr>Cont..</vt:lpstr>
      <vt:lpstr>  Injury Severity Score (ISS)</vt:lpstr>
      <vt:lpstr>PowerPoint Presentation</vt:lpstr>
      <vt:lpstr>Cont..</vt:lpstr>
      <vt:lpstr>PowerPoint Presentation</vt:lpstr>
      <vt:lpstr>Cont..</vt:lpstr>
      <vt:lpstr>Cont..</vt:lpstr>
      <vt:lpstr> Example </vt:lpstr>
      <vt:lpstr>Cont..</vt:lpstr>
      <vt:lpstr> NISS (New Injury Severity Score)</vt:lpstr>
      <vt:lpstr>Cont..</vt:lpstr>
      <vt:lpstr>Cont..</vt:lpstr>
      <vt:lpstr>  Physiological Scoring Systems</vt:lpstr>
      <vt:lpstr>The Glasgow Coma Scale</vt:lpstr>
      <vt:lpstr>cont</vt:lpstr>
      <vt:lpstr>  Scoring System</vt:lpstr>
      <vt:lpstr>Cont..</vt:lpstr>
      <vt:lpstr>Revised Trauma Score</vt:lpstr>
      <vt:lpstr>Cont…</vt:lpstr>
      <vt:lpstr>Cont..</vt:lpstr>
      <vt:lpstr>Cont..</vt:lpstr>
      <vt:lpstr>Triage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Trauma scoring system</dc:title>
  <dc:creator>Afei</dc:creator>
  <cp:lastModifiedBy>Windows User</cp:lastModifiedBy>
  <cp:revision>21</cp:revision>
  <dcterms:created xsi:type="dcterms:W3CDTF">2024-11-02T05:30:06Z</dcterms:created>
  <dcterms:modified xsi:type="dcterms:W3CDTF">2024-11-05T17:33:47Z</dcterms:modified>
</cp:coreProperties>
</file>