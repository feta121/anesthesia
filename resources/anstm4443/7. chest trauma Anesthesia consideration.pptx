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57" r:id="rId4"/>
    <p:sldId id="258" r:id="rId5"/>
    <p:sldId id="259" r:id="rId6"/>
    <p:sldId id="262" r:id="rId7"/>
    <p:sldId id="266" r:id="rId8"/>
    <p:sldId id="263" r:id="rId9"/>
    <p:sldId id="264" r:id="rId10"/>
    <p:sldId id="267" r:id="rId11"/>
    <p:sldId id="269" r:id="rId12"/>
    <p:sldId id="265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4" r:id="rId27"/>
    <p:sldId id="282" r:id="rId28"/>
    <p:sldId id="283" r:id="rId29"/>
    <p:sldId id="294" r:id="rId30"/>
    <p:sldId id="295" r:id="rId31"/>
    <p:sldId id="296" r:id="rId32"/>
    <p:sldId id="297" r:id="rId33"/>
    <p:sldId id="298" r:id="rId34"/>
    <p:sldId id="299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300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5A5B-3277-4013-9B89-E55D55981724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24FE-60FA-49FC-B87C-178C32C4D9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94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5A5B-3277-4013-9B89-E55D55981724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24FE-60FA-49FC-B87C-178C32C4D9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295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5A5B-3277-4013-9B89-E55D55981724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24FE-60FA-49FC-B87C-178C32C4D9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670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5A5B-3277-4013-9B89-E55D55981724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24FE-60FA-49FC-B87C-178C32C4D9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126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5A5B-3277-4013-9B89-E55D55981724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24FE-60FA-49FC-B87C-178C32C4D9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12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5A5B-3277-4013-9B89-E55D55981724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24FE-60FA-49FC-B87C-178C32C4D9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5661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5A5B-3277-4013-9B89-E55D55981724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24FE-60FA-49FC-B87C-178C32C4D9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606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5A5B-3277-4013-9B89-E55D55981724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24FE-60FA-49FC-B87C-178C32C4D9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4650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5A5B-3277-4013-9B89-E55D55981724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24FE-60FA-49FC-B87C-178C32C4D9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322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5A5B-3277-4013-9B89-E55D55981724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24FE-60FA-49FC-B87C-178C32C4D9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26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65A5B-3277-4013-9B89-E55D55981724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224FE-60FA-49FC-B87C-178C32C4D9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1893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65A5B-3277-4013-9B89-E55D55981724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224FE-60FA-49FC-B87C-178C32C4D9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1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latin typeface="Arial Black" pitchFamily="34" charset="0"/>
              </a:rPr>
              <a:t>Anaesthesia consideration for chest trauma </a:t>
            </a:r>
            <a:endParaRPr lang="en-GB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23728" y="3886200"/>
            <a:ext cx="5648672" cy="1198984"/>
          </a:xfrm>
        </p:spPr>
        <p:txBody>
          <a:bodyPr/>
          <a:lstStyle/>
          <a:p>
            <a:r>
              <a:rPr lang="en-GB" b="1" dirty="0" smtClean="0">
                <a:solidFill>
                  <a:schemeClr val="tx1"/>
                </a:solidFill>
              </a:rPr>
              <a:t>By: </a:t>
            </a:r>
            <a:r>
              <a:rPr lang="en-GB" b="1" dirty="0" err="1" smtClean="0">
                <a:solidFill>
                  <a:schemeClr val="tx1"/>
                </a:solidFill>
              </a:rPr>
              <a:t>wubayehu</a:t>
            </a:r>
            <a:r>
              <a:rPr lang="en-GB" b="1" dirty="0" smtClean="0">
                <a:solidFill>
                  <a:schemeClr val="tx1"/>
                </a:solidFill>
              </a:rPr>
              <a:t> </a:t>
            </a:r>
            <a:r>
              <a:rPr lang="en-GB" b="1" dirty="0" err="1" smtClean="0">
                <a:solidFill>
                  <a:schemeClr val="tx1"/>
                </a:solidFill>
              </a:rPr>
              <a:t>Amare</a:t>
            </a:r>
            <a:r>
              <a:rPr lang="en-GB" b="1" dirty="0" smtClean="0">
                <a:solidFill>
                  <a:schemeClr val="tx1"/>
                </a:solidFill>
              </a:rPr>
              <a:t> (Lecturer</a:t>
            </a: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419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latin typeface="Times" pitchFamily="18" charset="0"/>
              </a:rPr>
              <a:t>Introduction </a:t>
            </a:r>
            <a:endParaRPr lang="en-GB" b="1" dirty="0">
              <a:latin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4"/>
            <a:ext cx="8363272" cy="50014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Chest trauma refers to any injury or damage to the chest, which houses vital organs such as the heart, lungs, </a:t>
            </a:r>
            <a:r>
              <a:rPr lang="en-GB" sz="2800" dirty="0" err="1" smtClean="0">
                <a:latin typeface="Gabriola" pitchFamily="82" charset="0"/>
              </a:rPr>
              <a:t>esophagus</a:t>
            </a:r>
            <a:r>
              <a:rPr lang="en-GB" sz="2800" dirty="0" smtClean="0">
                <a:latin typeface="Gabriola" pitchFamily="82" charset="0"/>
              </a:rPr>
              <a:t>, and large blood vessels. 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It is a common and potentially life-threatening condition, often resulting from accidents, falls, blunt force trauma or penetrating injuries. 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Severity</a:t>
            </a:r>
            <a:r>
              <a:rPr lang="en-GB" sz="2800" dirty="0" smtClean="0">
                <a:latin typeface="Gabriola" pitchFamily="82" charset="0"/>
              </a:rPr>
              <a:t>: Ranges from minor rib fractures to life-threatening conditions</a:t>
            </a: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813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778098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4000" b="1" dirty="0" smtClean="0">
                <a:latin typeface="Times" pitchFamily="18" charset="0"/>
              </a:rPr>
              <a:t>Types of Chest Trauma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712968" cy="5184576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sz="2800" b="1" dirty="0" smtClean="0">
                <a:latin typeface="Gabriola" pitchFamily="82" charset="0"/>
              </a:rPr>
              <a:t>Blunt Chest Trauma</a:t>
            </a:r>
            <a:r>
              <a:rPr lang="en-GB" sz="2800" dirty="0" smtClean="0">
                <a:latin typeface="Gabriola" pitchFamily="82" charset="0"/>
              </a:rPr>
              <a:t>: </a:t>
            </a:r>
            <a:r>
              <a:rPr lang="en-GB" dirty="0" smtClean="0">
                <a:latin typeface="Gabriola" pitchFamily="82" charset="0"/>
              </a:rPr>
              <a:t>No skin breakage; caused by sudden force.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Examples: Motor vehicle accidents, falls, sports injuries.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Potential Injuries: Rib fractures, lung contusions, internal bleeding.</a:t>
            </a:r>
          </a:p>
          <a:p>
            <a:pPr>
              <a:lnSpc>
                <a:spcPct val="160000"/>
              </a:lnSpc>
            </a:pPr>
            <a:r>
              <a:rPr lang="en-GB" sz="2800" b="1" dirty="0" smtClean="0">
                <a:latin typeface="Gabriola" pitchFamily="82" charset="0"/>
              </a:rPr>
              <a:t>Penetrating Chest Trauma</a:t>
            </a:r>
            <a:r>
              <a:rPr lang="en-GB" sz="2800" dirty="0" smtClean="0">
                <a:latin typeface="Gabriola" pitchFamily="82" charset="0"/>
              </a:rPr>
              <a:t>:-</a:t>
            </a:r>
            <a:r>
              <a:rPr lang="en-GB" dirty="0" smtClean="0">
                <a:latin typeface="Gabriola" pitchFamily="82" charset="0"/>
              </a:rPr>
              <a:t>Object pierces chest wall, damaging internal organs.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Examples: Stabbings, gunshot wounds.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Potential Injuries: Pneumothorax, </a:t>
            </a:r>
            <a:r>
              <a:rPr lang="en-GB" dirty="0" err="1" smtClean="0">
                <a:latin typeface="Gabriola" pitchFamily="82" charset="0"/>
              </a:rPr>
              <a:t>hemothorax</a:t>
            </a:r>
            <a:r>
              <a:rPr lang="en-GB" dirty="0" smtClean="0">
                <a:latin typeface="Gabriola" pitchFamily="82" charset="0"/>
              </a:rPr>
              <a:t>, heart/vessel injuries.</a:t>
            </a:r>
          </a:p>
          <a:p>
            <a:pPr>
              <a:lnSpc>
                <a:spcPct val="160000"/>
              </a:lnSpc>
            </a:pP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758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36712"/>
            <a:ext cx="8712968" cy="57606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It accounts for about 25% of traumatic deaths in the United States.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 Immediate Deaths Are Usually Due To Massive Injury Of The Heart, Great Vessels, Or Lungs.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 Early Deaths Occurring Within 30 Minutes To 3 Hours Are Secondary To Airway Obstruction,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Hypoxemia, Hemorrhage, Cardiac </a:t>
            </a:r>
            <a:r>
              <a:rPr lang="en-US" dirty="0" err="1" smtClean="0">
                <a:latin typeface="Gabriola" pitchFamily="82" charset="0"/>
              </a:rPr>
              <a:t>Tamponade</a:t>
            </a:r>
            <a:r>
              <a:rPr lang="en-US" dirty="0" smtClean="0">
                <a:latin typeface="Gabriola" pitchFamily="82" charset="0"/>
              </a:rPr>
              <a:t>, </a:t>
            </a:r>
            <a:r>
              <a:rPr lang="en-US" dirty="0" err="1" smtClean="0">
                <a:latin typeface="Gabriola" pitchFamily="82" charset="0"/>
              </a:rPr>
              <a:t>Hemopneumothorax</a:t>
            </a:r>
            <a:r>
              <a:rPr lang="en-US" dirty="0" smtClean="0">
                <a:latin typeface="Gabriola" pitchFamily="82" charset="0"/>
              </a:rPr>
              <a:t>, And Aspiration.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924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836712"/>
            <a:ext cx="8363272" cy="5289451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Associated abdominal injuries are common.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 Multisystem injuries such as head, face, spine, abdomen, and extremities frequently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coexist in patients sustaining blunt chest trauma.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Gabriola" pitchFamily="82" charset="0"/>
              </a:rPr>
              <a:t>Overall, most chest injuries only need conservative management such as control of the airway and tube </a:t>
            </a:r>
            <a:r>
              <a:rPr lang="en-US" sz="2800" dirty="0" err="1" smtClean="0">
                <a:latin typeface="Gabriola" pitchFamily="82" charset="0"/>
              </a:rPr>
              <a:t>thoracostomy</a:t>
            </a:r>
            <a:endParaRPr lang="en-US" sz="2800" dirty="0" smtClean="0">
              <a:latin typeface="Gabriola" pitchFamily="82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3001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850106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4000" b="1" dirty="0" smtClean="0">
                <a:latin typeface="Times" pitchFamily="18" charset="0"/>
              </a:rPr>
              <a:t>Causes of Mortality &amp; Early Management</a:t>
            </a:r>
            <a:r>
              <a:rPr lang="en-GB" sz="3600" dirty="0" smtClean="0"/>
              <a:t/>
            </a:r>
            <a:br>
              <a:rPr lang="en-GB" sz="3600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435280" cy="49294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GB" sz="2800" b="1" dirty="0" smtClean="0">
                <a:latin typeface="Gabriola" pitchFamily="82" charset="0"/>
              </a:rPr>
              <a:t>Immediate </a:t>
            </a:r>
            <a:r>
              <a:rPr lang="en-GB" sz="2800" b="1" dirty="0">
                <a:latin typeface="Gabriola" pitchFamily="82" charset="0"/>
              </a:rPr>
              <a:t>Deaths (Occurs within Minutes)</a:t>
            </a:r>
            <a:endParaRPr lang="en-GB" sz="2800" dirty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sz="2400" i="1" dirty="0">
                <a:latin typeface="Gabriola" pitchFamily="82" charset="0"/>
              </a:rPr>
              <a:t>Fatalities due to catastrophic injuries to vital organs—usually within minutes of trauma.</a:t>
            </a:r>
            <a:endParaRPr lang="en-GB" sz="2400" dirty="0">
              <a:latin typeface="Gabriola" pitchFamily="82" charset="0"/>
            </a:endParaRPr>
          </a:p>
          <a:p>
            <a:pPr lvl="0">
              <a:lnSpc>
                <a:spcPct val="150000"/>
              </a:lnSpc>
            </a:pPr>
            <a:r>
              <a:rPr lang="en-GB" sz="2800" b="1" dirty="0">
                <a:latin typeface="Gabriola" pitchFamily="82" charset="0"/>
              </a:rPr>
              <a:t>Massive Injury to the Heart</a:t>
            </a:r>
            <a:endParaRPr lang="en-GB" sz="2800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2600" b="1" dirty="0">
                <a:latin typeface="Gabriola" pitchFamily="82" charset="0"/>
              </a:rPr>
              <a:t>Cardiac Rupture</a:t>
            </a:r>
            <a:r>
              <a:rPr lang="en-GB" sz="2600" dirty="0">
                <a:latin typeface="Gabriola" pitchFamily="82" charset="0"/>
              </a:rPr>
              <a:t>: </a:t>
            </a:r>
            <a:r>
              <a:rPr lang="en-GB" sz="2600" dirty="0" smtClean="0">
                <a:latin typeface="Gabriola" pitchFamily="82" charset="0"/>
              </a:rPr>
              <a:t>leading </a:t>
            </a:r>
            <a:r>
              <a:rPr lang="en-GB" sz="2600" dirty="0">
                <a:latin typeface="Gabriola" pitchFamily="82" charset="0"/>
              </a:rPr>
              <a:t>to catastrophic </a:t>
            </a:r>
            <a:r>
              <a:rPr lang="en-GB" sz="2600" dirty="0" err="1">
                <a:latin typeface="Gabriola" pitchFamily="82" charset="0"/>
              </a:rPr>
              <a:t>hemorrhage</a:t>
            </a:r>
            <a:r>
              <a:rPr lang="en-GB" sz="2600" dirty="0">
                <a:latin typeface="Gabriola" pitchFamily="82" charset="0"/>
              </a:rPr>
              <a:t> </a:t>
            </a:r>
            <a:endParaRPr lang="en-GB" sz="26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2600" b="1" dirty="0" smtClean="0">
                <a:latin typeface="Gabriola" pitchFamily="82" charset="0"/>
              </a:rPr>
              <a:t>Cardiac </a:t>
            </a:r>
            <a:r>
              <a:rPr lang="en-GB" sz="2600" b="1" dirty="0" err="1" smtClean="0">
                <a:latin typeface="Gabriola" pitchFamily="82" charset="0"/>
              </a:rPr>
              <a:t>Tamponade</a:t>
            </a:r>
            <a:r>
              <a:rPr lang="en-GB" sz="2600" dirty="0" smtClean="0">
                <a:latin typeface="Gabriola" pitchFamily="82" charset="0"/>
              </a:rPr>
              <a:t>: Blood/fluid in pericardial sac compressing the </a:t>
            </a:r>
            <a:r>
              <a:rPr lang="en-GB" dirty="0" smtClean="0">
                <a:latin typeface="Gabriola" pitchFamily="82" charset="0"/>
              </a:rPr>
              <a:t>heart, impairing pumping (common in penetrating trauma).</a:t>
            </a:r>
          </a:p>
          <a:p>
            <a:pPr lvl="1"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326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70609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08720"/>
            <a:ext cx="8640960" cy="5400600"/>
          </a:xfrm>
        </p:spPr>
        <p:txBody>
          <a:bodyPr>
            <a:normAutofit fontScale="92500"/>
          </a:bodyPr>
          <a:lstStyle/>
          <a:p>
            <a:pPr lvl="2"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Beck’s Triad</a:t>
            </a:r>
            <a:r>
              <a:rPr lang="en-GB" sz="2800" dirty="0" smtClean="0">
                <a:latin typeface="Gabriola" pitchFamily="82" charset="0"/>
              </a:rPr>
              <a:t>: Hypotension, jugular venous </a:t>
            </a:r>
            <a:r>
              <a:rPr lang="en-GB" sz="2800" dirty="0" err="1" smtClean="0">
                <a:latin typeface="Gabriola" pitchFamily="82" charset="0"/>
              </a:rPr>
              <a:t>distention</a:t>
            </a:r>
            <a:r>
              <a:rPr lang="en-GB" sz="2800" dirty="0" smtClean="0">
                <a:latin typeface="Gabriola" pitchFamily="82" charset="0"/>
              </a:rPr>
              <a:t>, </a:t>
            </a:r>
            <a:r>
              <a:rPr lang="en-GB" dirty="0" smtClean="0">
                <a:latin typeface="Gabriola" pitchFamily="82" charset="0"/>
              </a:rPr>
              <a:t>muffled heart sounds.</a:t>
            </a:r>
            <a:endParaRPr lang="en-GB" b="1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Myocardial Contusion</a:t>
            </a:r>
            <a:r>
              <a:rPr lang="en-GB" dirty="0" smtClean="0">
                <a:latin typeface="Gabriola" pitchFamily="82" charset="0"/>
              </a:rPr>
              <a:t>: Bruising of heart muscle leading to arrhythmias or heart failure.</a:t>
            </a:r>
          </a:p>
          <a:p>
            <a:pPr lvl="0"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Massive Injury to the Great Vessels</a:t>
            </a:r>
            <a:endParaRPr lang="en-GB" sz="28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Aortic Rupture</a:t>
            </a:r>
            <a:r>
              <a:rPr lang="en-GB" dirty="0" smtClean="0">
                <a:latin typeface="Gabriola" pitchFamily="82" charset="0"/>
              </a:rPr>
              <a:t>: Typically from blunt trauma (e.g., MVA), leading to massive blood loss; often fatal if untreated.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Major Venous Injuries</a:t>
            </a:r>
            <a:r>
              <a:rPr lang="en-GB" dirty="0" smtClean="0">
                <a:latin typeface="Gabriola" pitchFamily="82" charset="0"/>
              </a:rPr>
              <a:t>: Rupture of superior/inferior vena cava or large veins causes massive </a:t>
            </a:r>
            <a:r>
              <a:rPr lang="en-GB" dirty="0" err="1" smtClean="0">
                <a:latin typeface="Gabriola" pitchFamily="82" charset="0"/>
              </a:rPr>
              <a:t>hemorrhage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endParaRPr lang="en-GB" dirty="0" smtClean="0">
              <a:latin typeface="Gabriola" pitchFamily="82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0862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0"/>
            <a:ext cx="8568952" cy="5217443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Massive Injury to the Lungs</a:t>
            </a:r>
            <a:endParaRPr lang="en-GB" sz="28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Pulmonary </a:t>
            </a:r>
            <a:r>
              <a:rPr lang="en-GB" b="1" dirty="0" err="1" smtClean="0">
                <a:latin typeface="Gabriola" pitchFamily="82" charset="0"/>
              </a:rPr>
              <a:t>Hemorrhage</a:t>
            </a:r>
            <a:r>
              <a:rPr lang="en-GB" b="1" dirty="0" smtClean="0">
                <a:latin typeface="Gabriola" pitchFamily="82" charset="0"/>
              </a:rPr>
              <a:t>/Lung Laceration</a:t>
            </a:r>
            <a:r>
              <a:rPr lang="en-GB" dirty="0" smtClean="0">
                <a:latin typeface="Gabriola" pitchFamily="82" charset="0"/>
              </a:rPr>
              <a:t>: Severe bleeding into pleural space, causing asphyxiation.</a:t>
            </a:r>
            <a:endParaRPr lang="en-GB" sz="24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Tension Pneumothorax</a:t>
            </a:r>
            <a:r>
              <a:rPr lang="en-GB" dirty="0" smtClean="0">
                <a:latin typeface="Gabriola" pitchFamily="82" charset="0"/>
              </a:rPr>
              <a:t>: Rapid air accumulation in pleural space, causing </a:t>
            </a:r>
            <a:r>
              <a:rPr lang="en-GB" dirty="0" err="1" smtClean="0">
                <a:latin typeface="Gabriola" pitchFamily="82" charset="0"/>
              </a:rPr>
              <a:t>mediastinal</a:t>
            </a:r>
            <a:r>
              <a:rPr lang="en-GB" dirty="0" smtClean="0">
                <a:latin typeface="Gabriola" pitchFamily="82" charset="0"/>
              </a:rPr>
              <a:t> shift and circulatory collapse.</a:t>
            </a:r>
            <a:endParaRPr lang="en-GB" sz="24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Cause of Immediate Death</a:t>
            </a:r>
            <a:r>
              <a:rPr lang="en-GB" dirty="0" smtClean="0">
                <a:latin typeface="Gabriola" pitchFamily="82" charset="0"/>
              </a:rPr>
              <a:t>: Irreversible shock and failure of the cardiovascular system to maintain perfusion to vital organs.</a:t>
            </a:r>
            <a:endParaRPr lang="en-GB" sz="28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GB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374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507288" cy="43204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620688"/>
            <a:ext cx="8856984" cy="612068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  <a:buFont typeface="Wingdings" pitchFamily="2" charset="2"/>
              <a:buChar char="v"/>
            </a:pPr>
            <a:r>
              <a:rPr lang="en-GB" b="1" dirty="0">
                <a:latin typeface="Gabriola" pitchFamily="82" charset="0"/>
              </a:rPr>
              <a:t>Early Deaths (Occurs within 30 Minutes to 3 Hours)</a:t>
            </a:r>
            <a:endParaRPr lang="en-GB" sz="2800" dirty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r>
              <a:rPr lang="en-GB" sz="3000" i="1" dirty="0">
                <a:latin typeface="Gabriola" pitchFamily="82" charset="0"/>
              </a:rPr>
              <a:t>Reversible causes of death if treated promptly.</a:t>
            </a:r>
            <a:endParaRPr lang="en-GB" sz="3000" dirty="0">
              <a:latin typeface="Gabriola" pitchFamily="82" charset="0"/>
            </a:endParaRPr>
          </a:p>
          <a:p>
            <a:pPr lvl="0">
              <a:lnSpc>
                <a:spcPct val="160000"/>
              </a:lnSpc>
            </a:pPr>
            <a:r>
              <a:rPr lang="en-GB" sz="3000" b="1" dirty="0">
                <a:latin typeface="Gabriola" pitchFamily="82" charset="0"/>
              </a:rPr>
              <a:t>Airway Obstruction</a:t>
            </a:r>
            <a:endParaRPr lang="en-GB" sz="3000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dirty="0">
                <a:latin typeface="Gabriola" pitchFamily="82" charset="0"/>
              </a:rPr>
              <a:t>Blunt trauma to neck/face, flail chest, or aspiration can obstruct airway leading to respiratory failure.</a:t>
            </a:r>
            <a:endParaRPr lang="en-GB" sz="2400" dirty="0">
              <a:latin typeface="Gabriola" pitchFamily="82" charset="0"/>
            </a:endParaRPr>
          </a:p>
          <a:p>
            <a:pPr lvl="0">
              <a:lnSpc>
                <a:spcPct val="160000"/>
              </a:lnSpc>
            </a:pPr>
            <a:r>
              <a:rPr lang="en-GB" sz="3000" b="1" dirty="0">
                <a:latin typeface="Gabriola" pitchFamily="82" charset="0"/>
              </a:rPr>
              <a:t>Hypoxemia (Low Oxygen Levels)</a:t>
            </a:r>
            <a:endParaRPr lang="en-GB" sz="3000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Pneumothorax/</a:t>
            </a:r>
            <a:r>
              <a:rPr lang="en-GB" b="1" dirty="0" err="1">
                <a:latin typeface="Gabriola" pitchFamily="82" charset="0"/>
              </a:rPr>
              <a:t>Hemothorax</a:t>
            </a:r>
            <a:r>
              <a:rPr lang="en-GB" dirty="0">
                <a:latin typeface="Gabriola" pitchFamily="82" charset="0"/>
              </a:rPr>
              <a:t>: Lung collapse reduces oxygenation.</a:t>
            </a:r>
            <a:endParaRPr lang="en-GB" sz="2400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Pulmonary Contusion</a:t>
            </a:r>
            <a:r>
              <a:rPr lang="en-GB" dirty="0">
                <a:latin typeface="Gabriola" pitchFamily="82" charset="0"/>
              </a:rPr>
              <a:t>: Bruised lung tissue impairs gas exchange, causing hypoxia</a:t>
            </a:r>
            <a:r>
              <a:rPr lang="en-GB" dirty="0" smtClean="0">
                <a:latin typeface="Gabriola" pitchFamily="82" charset="0"/>
              </a:rPr>
              <a:t>.</a:t>
            </a:r>
            <a:endParaRPr lang="en-GB" sz="24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101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507288" cy="50405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764704"/>
            <a:ext cx="8784976" cy="5472608"/>
          </a:xfrm>
        </p:spPr>
        <p:txBody>
          <a:bodyPr/>
          <a:lstStyle/>
          <a:p>
            <a:pPr lvl="0">
              <a:lnSpc>
                <a:spcPct val="160000"/>
              </a:lnSpc>
            </a:pPr>
            <a:r>
              <a:rPr lang="en-GB" sz="2800" b="1" dirty="0" err="1" smtClean="0">
                <a:latin typeface="Gabriola" pitchFamily="82" charset="0"/>
              </a:rPr>
              <a:t>Hemorrhage</a:t>
            </a:r>
            <a:endParaRPr lang="en-GB" sz="2800" dirty="0" smtClean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Internal Bleeding</a:t>
            </a:r>
            <a:r>
              <a:rPr lang="en-GB" dirty="0" smtClean="0">
                <a:latin typeface="Gabriola" pitchFamily="82" charset="0"/>
              </a:rPr>
              <a:t>: </a:t>
            </a:r>
            <a:r>
              <a:rPr lang="en-GB" dirty="0" err="1" smtClean="0">
                <a:latin typeface="Gabriola" pitchFamily="82" charset="0"/>
              </a:rPr>
              <a:t>Hemothorax</a:t>
            </a:r>
            <a:r>
              <a:rPr lang="en-GB" dirty="0" smtClean="0">
                <a:latin typeface="Gabriola" pitchFamily="82" charset="0"/>
              </a:rPr>
              <a:t>, pericardial </a:t>
            </a:r>
            <a:r>
              <a:rPr lang="en-GB" dirty="0" err="1" smtClean="0">
                <a:latin typeface="Gabriola" pitchFamily="82" charset="0"/>
              </a:rPr>
              <a:t>tamponade</a:t>
            </a:r>
            <a:r>
              <a:rPr lang="en-GB" dirty="0" smtClean="0">
                <a:latin typeface="Gabriola" pitchFamily="82" charset="0"/>
              </a:rPr>
              <a:t>; massive blood loss from fractured ribs or great vessels leading to shock.</a:t>
            </a:r>
          </a:p>
          <a:p>
            <a:pPr lvl="0"/>
            <a:r>
              <a:rPr lang="en-GB" sz="2800" b="1" dirty="0" smtClean="0">
                <a:latin typeface="Gabriola" pitchFamily="82" charset="0"/>
              </a:rPr>
              <a:t>Cardiac </a:t>
            </a:r>
            <a:r>
              <a:rPr lang="en-GB" sz="2800" b="1" dirty="0" err="1" smtClean="0">
                <a:latin typeface="Gabriola" pitchFamily="82" charset="0"/>
              </a:rPr>
              <a:t>Tamponade</a:t>
            </a:r>
            <a:endParaRPr lang="en-GB" sz="2800" b="1" dirty="0" smtClean="0">
              <a:latin typeface="Gabriola" pitchFamily="82" charset="0"/>
            </a:endParaRPr>
          </a:p>
          <a:p>
            <a:pPr lvl="0"/>
            <a:r>
              <a:rPr lang="en-GB" sz="2800" b="1" dirty="0" err="1" smtClean="0">
                <a:latin typeface="Gabriola" pitchFamily="82" charset="0"/>
              </a:rPr>
              <a:t>Hemopneumothorax</a:t>
            </a:r>
            <a:endParaRPr lang="en-GB" sz="2800" b="1" dirty="0" smtClean="0">
              <a:latin typeface="Gabriola" pitchFamily="82" charset="0"/>
            </a:endParaRPr>
          </a:p>
          <a:p>
            <a:pPr lvl="1"/>
            <a:r>
              <a:rPr lang="en-GB" sz="2400" dirty="0" smtClean="0">
                <a:latin typeface="Gabriola" pitchFamily="82" charset="0"/>
              </a:rPr>
              <a:t>Air and blood in pleural space impair both ventilation and oxygenation, causing severe respiratory distress and shock.</a:t>
            </a:r>
          </a:p>
          <a:p>
            <a:pPr lvl="0"/>
            <a:r>
              <a:rPr lang="en-GB" sz="2800" b="1" dirty="0" smtClean="0">
                <a:latin typeface="Gabriola" pitchFamily="82" charset="0"/>
              </a:rPr>
              <a:t>Aspiration</a:t>
            </a:r>
          </a:p>
          <a:p>
            <a:pPr lvl="1"/>
            <a:r>
              <a:rPr lang="en-GB" sz="2400" dirty="0" smtClean="0">
                <a:latin typeface="Gabriola" pitchFamily="82" charset="0"/>
              </a:rPr>
              <a:t>Aspiration of blood, foreign material, or gastric contents obstructs the airway and causes suffocation or aspiration pneumonia.</a:t>
            </a:r>
          </a:p>
          <a:p>
            <a:pPr lvl="1"/>
            <a:endParaRPr lang="en-GB" sz="2400" dirty="0" smtClean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endParaRPr lang="en-GB" dirty="0" smtClean="0">
              <a:latin typeface="Gabriola" pitchFamily="82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1324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78828" y="284018"/>
            <a:ext cx="1676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Pain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1634836"/>
            <a:ext cx="26670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Chest wall</a:t>
            </a:r>
          </a:p>
          <a:p>
            <a:pPr algn="ctr"/>
            <a:r>
              <a:rPr lang="en-US" dirty="0" smtClean="0"/>
              <a:t>instability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979228" y="755073"/>
            <a:ext cx="1752600" cy="12053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Alveolar</a:t>
            </a:r>
          </a:p>
          <a:p>
            <a:pPr algn="ctr"/>
            <a:r>
              <a:rPr lang="en-US" dirty="0" smtClean="0"/>
              <a:t>hypoventilation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962400" y="2923309"/>
            <a:ext cx="2545772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itchFamily="34" charset="0"/>
              <a:buChar char="•"/>
            </a:pPr>
            <a:r>
              <a:rPr lang="en-US" dirty="0" smtClean="0"/>
              <a:t>Associated</a:t>
            </a:r>
          </a:p>
          <a:p>
            <a:pPr algn="ctr"/>
            <a:r>
              <a:rPr lang="en-US" dirty="0" smtClean="0"/>
              <a:t>Injuries</a:t>
            </a:r>
          </a:p>
          <a:p>
            <a:pPr marL="285750" indent="-285750" algn="ctr">
              <a:buFont typeface="Arial" pitchFamily="34" charset="0"/>
              <a:buChar char="•"/>
            </a:pPr>
            <a:r>
              <a:rPr lang="en-US" dirty="0" smtClean="0"/>
              <a:t>Accumulation</a:t>
            </a:r>
          </a:p>
          <a:p>
            <a:pPr algn="ctr"/>
            <a:r>
              <a:rPr lang="en-US" dirty="0" smtClean="0"/>
              <a:t>of secretions</a:t>
            </a:r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934200" y="5534891"/>
            <a:ext cx="1766455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Hypoxia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85800" y="5230091"/>
            <a:ext cx="18288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Increased</a:t>
            </a:r>
          </a:p>
          <a:p>
            <a:pPr algn="ctr"/>
            <a:r>
              <a:rPr lang="en-US" dirty="0" smtClean="0"/>
              <a:t>work of</a:t>
            </a:r>
          </a:p>
          <a:p>
            <a:pPr algn="ctr"/>
            <a:r>
              <a:rPr lang="en-US" dirty="0" smtClean="0"/>
              <a:t>breathing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4745182" y="1198418"/>
            <a:ext cx="0" cy="160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1" idx="1"/>
          </p:cNvCxnSpPr>
          <p:nvPr/>
        </p:nvCxnSpPr>
        <p:spPr>
          <a:xfrm>
            <a:off x="1828800" y="2549236"/>
            <a:ext cx="2133600" cy="11360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1485900" y="2549236"/>
            <a:ext cx="190500" cy="26566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6541078" y="2092036"/>
            <a:ext cx="1155122" cy="12122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Arrow Connector 1027"/>
          <p:cNvCxnSpPr/>
          <p:nvPr/>
        </p:nvCxnSpPr>
        <p:spPr>
          <a:xfrm>
            <a:off x="2590800" y="5992091"/>
            <a:ext cx="4267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Arrow Connector 1029"/>
          <p:cNvCxnSpPr/>
          <p:nvPr/>
        </p:nvCxnSpPr>
        <p:spPr>
          <a:xfrm>
            <a:off x="6280439" y="4468091"/>
            <a:ext cx="1263361" cy="9421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Arrow Connector 1031"/>
          <p:cNvCxnSpPr>
            <a:stCxn id="10" idx="2"/>
          </p:cNvCxnSpPr>
          <p:nvPr/>
        </p:nvCxnSpPr>
        <p:spPr>
          <a:xfrm>
            <a:off x="7855528" y="1960418"/>
            <a:ext cx="145472" cy="34497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528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778098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3600" b="1" dirty="0" smtClean="0">
                <a:latin typeface="Times" pitchFamily="18" charset="0"/>
              </a:rPr>
              <a:t>Management of Early Deaths</a:t>
            </a:r>
            <a:r>
              <a:rPr lang="en-GB" sz="4000" dirty="0" smtClean="0"/>
              <a:t/>
            </a:r>
            <a:br>
              <a:rPr lang="en-GB" sz="4000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640960" cy="507342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2800" i="1" dirty="0" smtClean="0"/>
              <a:t>Quick </a:t>
            </a:r>
            <a:r>
              <a:rPr lang="en-GB" sz="2800" i="1" dirty="0"/>
              <a:t>intervention can prevent fatal outcomes.</a:t>
            </a:r>
            <a:endParaRPr lang="en-GB" sz="2800" dirty="0"/>
          </a:p>
          <a:p>
            <a:pPr lvl="1">
              <a:lnSpc>
                <a:spcPct val="170000"/>
              </a:lnSpc>
            </a:pPr>
            <a:r>
              <a:rPr lang="en-GB" b="1" dirty="0">
                <a:latin typeface="Gabriola" pitchFamily="82" charset="0"/>
              </a:rPr>
              <a:t>Airway Management</a:t>
            </a:r>
            <a:endParaRPr lang="en-GB" dirty="0">
              <a:latin typeface="Gabriola" pitchFamily="82" charset="0"/>
            </a:endParaRPr>
          </a:p>
          <a:p>
            <a:pPr lvl="2">
              <a:lnSpc>
                <a:spcPct val="170000"/>
              </a:lnSpc>
            </a:pPr>
            <a:r>
              <a:rPr lang="en-GB" dirty="0">
                <a:latin typeface="Gabriola" pitchFamily="82" charset="0"/>
              </a:rPr>
              <a:t>Intubation, suction, or other techniques to clear obstructed airways.</a:t>
            </a:r>
          </a:p>
          <a:p>
            <a:pPr lvl="1">
              <a:lnSpc>
                <a:spcPct val="170000"/>
              </a:lnSpc>
            </a:pPr>
            <a:r>
              <a:rPr lang="en-GB" b="1" dirty="0" err="1">
                <a:latin typeface="Gabriola" pitchFamily="82" charset="0"/>
              </a:rPr>
              <a:t>Ventilatory</a:t>
            </a:r>
            <a:r>
              <a:rPr lang="en-GB" b="1" dirty="0">
                <a:latin typeface="Gabriola" pitchFamily="82" charset="0"/>
              </a:rPr>
              <a:t> Support</a:t>
            </a:r>
            <a:endParaRPr lang="en-GB" dirty="0">
              <a:latin typeface="Gabriola" pitchFamily="82" charset="0"/>
            </a:endParaRPr>
          </a:p>
          <a:p>
            <a:pPr lvl="2">
              <a:lnSpc>
                <a:spcPct val="170000"/>
              </a:lnSpc>
            </a:pPr>
            <a:r>
              <a:rPr lang="en-GB" dirty="0">
                <a:latin typeface="Gabriola" pitchFamily="82" charset="0"/>
              </a:rPr>
              <a:t>Oxygen therapy, mechanical ventilation to correct hypoxemia.</a:t>
            </a:r>
          </a:p>
          <a:p>
            <a:pPr lvl="1">
              <a:lnSpc>
                <a:spcPct val="170000"/>
              </a:lnSpc>
            </a:pPr>
            <a:r>
              <a:rPr lang="en-GB" b="1" dirty="0" err="1">
                <a:latin typeface="Gabriola" pitchFamily="82" charset="0"/>
              </a:rPr>
              <a:t>Hemorrhage</a:t>
            </a:r>
            <a:r>
              <a:rPr lang="en-GB" b="1" dirty="0">
                <a:latin typeface="Gabriola" pitchFamily="82" charset="0"/>
              </a:rPr>
              <a:t> Control</a:t>
            </a:r>
            <a:endParaRPr lang="en-GB" dirty="0">
              <a:latin typeface="Gabriola" pitchFamily="82" charset="0"/>
            </a:endParaRPr>
          </a:p>
          <a:p>
            <a:pPr lvl="2">
              <a:lnSpc>
                <a:spcPct val="170000"/>
              </a:lnSpc>
            </a:pPr>
            <a:r>
              <a:rPr lang="en-GB" dirty="0">
                <a:latin typeface="Gabriola" pitchFamily="82" charset="0"/>
              </a:rPr>
              <a:t>Chest tube for </a:t>
            </a:r>
            <a:r>
              <a:rPr lang="en-GB" dirty="0" err="1">
                <a:latin typeface="Gabriola" pitchFamily="82" charset="0"/>
              </a:rPr>
              <a:t>hemothorax</a:t>
            </a:r>
            <a:r>
              <a:rPr lang="en-GB" dirty="0">
                <a:latin typeface="Gabriola" pitchFamily="82" charset="0"/>
              </a:rPr>
              <a:t>, surgical repair for ruptured vessels or heart.</a:t>
            </a:r>
          </a:p>
          <a:p>
            <a:pPr lvl="1">
              <a:lnSpc>
                <a:spcPct val="17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978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634082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08720"/>
            <a:ext cx="8435280" cy="5217443"/>
          </a:xfrm>
        </p:spPr>
        <p:txBody>
          <a:bodyPr>
            <a:normAutofit/>
          </a:bodyPr>
          <a:lstStyle/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Drainage of Pneumothorax</a:t>
            </a:r>
            <a:endParaRPr lang="en-GB" sz="2400" dirty="0" smtClean="0">
              <a:latin typeface="Gabriola" pitchFamily="82" charset="0"/>
            </a:endParaRPr>
          </a:p>
          <a:p>
            <a:pPr lvl="2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Chest tube insertion to evacuate air/blood, allowing lung re-expansion.</a:t>
            </a:r>
            <a:endParaRPr lang="en-GB" sz="2000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Cardiac </a:t>
            </a:r>
            <a:r>
              <a:rPr lang="en-GB" b="1" dirty="0" err="1" smtClean="0">
                <a:latin typeface="Gabriola" pitchFamily="82" charset="0"/>
              </a:rPr>
              <a:t>Tamponade</a:t>
            </a:r>
            <a:r>
              <a:rPr lang="en-GB" b="1" dirty="0" smtClean="0">
                <a:latin typeface="Gabriola" pitchFamily="82" charset="0"/>
              </a:rPr>
              <a:t> Treatment</a:t>
            </a:r>
            <a:endParaRPr lang="en-GB" sz="2400" dirty="0" smtClean="0">
              <a:latin typeface="Gabriola" pitchFamily="82" charset="0"/>
            </a:endParaRPr>
          </a:p>
          <a:p>
            <a:pPr lvl="2">
              <a:lnSpc>
                <a:spcPct val="170000"/>
              </a:lnSpc>
            </a:pPr>
            <a:r>
              <a:rPr lang="en-GB" dirty="0" err="1" smtClean="0">
                <a:latin typeface="Gabriola" pitchFamily="82" charset="0"/>
              </a:rPr>
              <a:t>Pericardiocentesis</a:t>
            </a:r>
            <a:r>
              <a:rPr lang="en-GB" dirty="0" smtClean="0">
                <a:latin typeface="Gabriola" pitchFamily="82" charset="0"/>
              </a:rPr>
              <a:t> (needle drainage) or surgery to relieve pressure.</a:t>
            </a:r>
            <a:endParaRPr lang="en-GB" sz="2000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Pain Management</a:t>
            </a:r>
            <a:endParaRPr lang="en-GB" sz="2400" dirty="0" smtClean="0">
              <a:latin typeface="Gabriola" pitchFamily="82" charset="0"/>
            </a:endParaRPr>
          </a:p>
          <a:p>
            <a:pPr lvl="2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Analgesia to facilitate ventilation and reduce complications from rib fractures.</a:t>
            </a:r>
            <a:endParaRPr lang="en-GB" sz="2000" dirty="0" smtClean="0">
              <a:latin typeface="Gabriola" pitchFamily="82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162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778098"/>
          </a:xfrm>
        </p:spPr>
        <p:txBody>
          <a:bodyPr>
            <a:normAutofit/>
          </a:bodyPr>
          <a:lstStyle/>
          <a:p>
            <a:r>
              <a:rPr lang="en-GB" sz="4000" b="1" dirty="0" smtClean="0">
                <a:latin typeface="Times" pitchFamily="18" charset="0"/>
              </a:rPr>
              <a:t>Aortic Injury</a:t>
            </a:r>
            <a:endParaRPr lang="en-GB" sz="4000" dirty="0">
              <a:latin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640960" cy="54006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Aortic </a:t>
            </a:r>
            <a:r>
              <a:rPr lang="en-GB" dirty="0">
                <a:latin typeface="Gabriola" pitchFamily="82" charset="0"/>
              </a:rPr>
              <a:t>injury is one of the most serious forms of chest trauma, often associated with high-mortality rates. </a:t>
            </a:r>
            <a:endParaRPr lang="en-GB" dirty="0" smtClean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It </a:t>
            </a:r>
            <a:r>
              <a:rPr lang="en-GB" dirty="0">
                <a:latin typeface="Gabriola" pitchFamily="82" charset="0"/>
              </a:rPr>
              <a:t>refers to damage to the aorta, the largest and most important artery in the body, which carries oxygenated blood from the heart to the rest of the body. </a:t>
            </a:r>
            <a:endParaRPr lang="en-GB" dirty="0" smtClean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The </a:t>
            </a:r>
            <a:r>
              <a:rPr lang="en-GB" dirty="0">
                <a:latin typeface="Gabriola" pitchFamily="82" charset="0"/>
              </a:rPr>
              <a:t>aorta has several segments, including the ascending aorta, aortic arch, descending aorta, and abdominal aorta. </a:t>
            </a:r>
            <a:endParaRPr lang="en-GB" dirty="0" smtClean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The </a:t>
            </a:r>
            <a:r>
              <a:rPr lang="en-GB" dirty="0">
                <a:latin typeface="Gabriola" pitchFamily="82" charset="0"/>
              </a:rPr>
              <a:t>majority of traumatic aortic injuries involve the </a:t>
            </a:r>
            <a:r>
              <a:rPr lang="en-GB" b="1" dirty="0">
                <a:latin typeface="Gabriola" pitchFamily="82" charset="0"/>
              </a:rPr>
              <a:t>descending aorta</a:t>
            </a:r>
            <a:r>
              <a:rPr lang="en-GB" dirty="0">
                <a:latin typeface="Gabriola" pitchFamily="82" charset="0"/>
              </a:rPr>
              <a:t>, specifically the area just distal to the left </a:t>
            </a:r>
            <a:r>
              <a:rPr lang="en-GB" dirty="0" err="1">
                <a:latin typeface="Gabriola" pitchFamily="82" charset="0"/>
              </a:rPr>
              <a:t>subclavian</a:t>
            </a:r>
            <a:r>
              <a:rPr lang="en-GB" dirty="0">
                <a:latin typeface="Gabriola" pitchFamily="82" charset="0"/>
              </a:rPr>
              <a:t> artery, a region known as the </a:t>
            </a:r>
            <a:r>
              <a:rPr lang="en-GB" b="1" dirty="0">
                <a:latin typeface="Gabriola" pitchFamily="82" charset="0"/>
              </a:rPr>
              <a:t>aortic isthmus</a:t>
            </a:r>
            <a:r>
              <a:rPr lang="en-GB" dirty="0">
                <a:latin typeface="Gabriola" pitchFamily="82" charset="0"/>
              </a:rPr>
              <a:t>.</a:t>
            </a:r>
          </a:p>
          <a:p>
            <a:pPr>
              <a:lnSpc>
                <a:spcPct val="16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682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562074"/>
          </a:xfrm>
        </p:spPr>
        <p:txBody>
          <a:bodyPr>
            <a:noAutofit/>
          </a:bodyPr>
          <a:lstStyle/>
          <a:p>
            <a:r>
              <a:rPr lang="en-GB" sz="3600" b="1" dirty="0" err="1" smtClean="0">
                <a:latin typeface="Times" pitchFamily="18" charset="0"/>
              </a:rPr>
              <a:t>Etiology</a:t>
            </a:r>
            <a:r>
              <a:rPr lang="en-GB" sz="3600" b="1" dirty="0" smtClean="0">
                <a:latin typeface="Times" pitchFamily="18" charset="0"/>
              </a:rPr>
              <a:t> of Aortic Injury</a:t>
            </a:r>
            <a:endParaRPr lang="en-GB" sz="3600" dirty="0">
              <a:latin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4"/>
            <a:ext cx="8496944" cy="53285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Aortic </a:t>
            </a:r>
            <a:r>
              <a:rPr lang="en-GB" sz="2800" dirty="0">
                <a:latin typeface="Gabriola" pitchFamily="82" charset="0"/>
              </a:rPr>
              <a:t>injuries typically occur from blunt trauma, particularly in high-impact accidents. </a:t>
            </a:r>
            <a:endParaRPr lang="en-GB" sz="28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The </a:t>
            </a:r>
            <a:r>
              <a:rPr lang="en-GB" sz="2800" dirty="0">
                <a:latin typeface="Gabriola" pitchFamily="82" charset="0"/>
              </a:rPr>
              <a:t>primary cause of blunt aortic injury is a </a:t>
            </a:r>
            <a:r>
              <a:rPr lang="en-GB" sz="2800" b="1" dirty="0" smtClean="0">
                <a:latin typeface="Gabriola" pitchFamily="82" charset="0"/>
              </a:rPr>
              <a:t>MVA</a:t>
            </a:r>
            <a:r>
              <a:rPr lang="en-GB" sz="2800" dirty="0">
                <a:latin typeface="Gabriola" pitchFamily="82" charset="0"/>
              </a:rPr>
              <a:t> </a:t>
            </a:r>
            <a:r>
              <a:rPr lang="en-GB" sz="2800" dirty="0" smtClean="0">
                <a:latin typeface="Gabriola" pitchFamily="82" charset="0"/>
              </a:rPr>
              <a:t>80-90</a:t>
            </a:r>
            <a:r>
              <a:rPr lang="en-GB" sz="2800" dirty="0">
                <a:latin typeface="Gabriola" pitchFamily="82" charset="0"/>
              </a:rPr>
              <a:t>% of cases</a:t>
            </a:r>
            <a:r>
              <a:rPr lang="en-GB" sz="2800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 </a:t>
            </a:r>
            <a:r>
              <a:rPr lang="en-GB" sz="2800" dirty="0">
                <a:latin typeface="Gabriola" pitchFamily="82" charset="0"/>
              </a:rPr>
              <a:t>Other causes of traumatic aortic injury include falls from height, high-speed collisions, and crush injuries. </a:t>
            </a:r>
            <a:endParaRPr lang="en-GB" sz="28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Penetrating </a:t>
            </a:r>
            <a:r>
              <a:rPr lang="en-GB" sz="2800" dirty="0">
                <a:latin typeface="Gabriola" pitchFamily="82" charset="0"/>
              </a:rPr>
              <a:t>trauma (e.g., gunshot wounds or stabbings) can also damage the aorta, although this is less common than blunt trauma.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07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70609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4000" b="1" dirty="0" smtClean="0">
                <a:latin typeface="Times" pitchFamily="18" charset="0"/>
              </a:rPr>
              <a:t>Mechanisms of Injury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268760"/>
            <a:ext cx="8424936" cy="5040560"/>
          </a:xfrm>
        </p:spPr>
        <p:txBody>
          <a:bodyPr>
            <a:normAutofit fontScale="77500" lnSpcReduction="20000"/>
          </a:bodyPr>
          <a:lstStyle/>
          <a:p>
            <a:pPr lvl="0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Deceleration </a:t>
            </a:r>
            <a:r>
              <a:rPr lang="en-GB" b="1" dirty="0">
                <a:latin typeface="Gabriola" pitchFamily="82" charset="0"/>
              </a:rPr>
              <a:t>injuries</a:t>
            </a:r>
            <a:r>
              <a:rPr lang="en-GB" dirty="0">
                <a:latin typeface="Gabriola" pitchFamily="82" charset="0"/>
              </a:rPr>
              <a:t>: In a high-speed collision, the body rapidly decelerates while the heart and aorta continue to move, creating a shearing force at the aortic isthmus, where the aorta is tethered by surrounding structures like the </a:t>
            </a:r>
            <a:r>
              <a:rPr lang="en-GB" dirty="0" err="1">
                <a:latin typeface="Gabriola" pitchFamily="82" charset="0"/>
              </a:rPr>
              <a:t>ligamentum</a:t>
            </a:r>
            <a:r>
              <a:rPr lang="en-GB" dirty="0">
                <a:latin typeface="Gabriola" pitchFamily="82" charset="0"/>
              </a:rPr>
              <a:t> </a:t>
            </a:r>
            <a:r>
              <a:rPr lang="en-GB" dirty="0" err="1">
                <a:latin typeface="Gabriola" pitchFamily="82" charset="0"/>
              </a:rPr>
              <a:t>arteriosum</a:t>
            </a:r>
            <a:r>
              <a:rPr lang="en-GB" dirty="0">
                <a:latin typeface="Gabriola" pitchFamily="82" charset="0"/>
              </a:rPr>
              <a:t>. This causes the aorta to rupture or tear.</a:t>
            </a:r>
          </a:p>
          <a:p>
            <a:pPr lvl="0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Direct blunt trauma</a:t>
            </a:r>
            <a:r>
              <a:rPr lang="en-GB" dirty="0">
                <a:latin typeface="Gabriola" pitchFamily="82" charset="0"/>
              </a:rPr>
              <a:t>: Direct impact to the chest can result in fracture of the ribs or sternum that can impinge on the aorta or cause contusion or rupture.</a:t>
            </a:r>
          </a:p>
          <a:p>
            <a:pPr lvl="0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Penetrating trauma</a:t>
            </a:r>
            <a:r>
              <a:rPr lang="en-GB" dirty="0">
                <a:latin typeface="Gabriola" pitchFamily="82" charset="0"/>
              </a:rPr>
              <a:t>: A stab wound or gunshot injury can directly puncture the aorta, leading to catastrophic bleeding.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6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>
                <a:latin typeface="Times" pitchFamily="18" charset="0"/>
              </a:rPr>
              <a:t>Pathophysiology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80728"/>
            <a:ext cx="8363272" cy="51454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Aortic </a:t>
            </a:r>
            <a:r>
              <a:rPr lang="en-GB" sz="2800" dirty="0">
                <a:latin typeface="Gabriola" pitchFamily="82" charset="0"/>
              </a:rPr>
              <a:t>injury can range from minor tears in the inner lining of the aorta (intimal tear) to complete rupture of the vessel. </a:t>
            </a:r>
            <a:endParaRPr lang="en-GB" sz="28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The </a:t>
            </a:r>
            <a:r>
              <a:rPr lang="en-GB" sz="2800" dirty="0">
                <a:latin typeface="Gabriola" pitchFamily="82" charset="0"/>
              </a:rPr>
              <a:t>injury may lead to </a:t>
            </a:r>
            <a:r>
              <a:rPr lang="en-GB" sz="2800" dirty="0" err="1">
                <a:latin typeface="Gabriola" pitchFamily="82" charset="0"/>
              </a:rPr>
              <a:t>hemorrhage</a:t>
            </a:r>
            <a:r>
              <a:rPr lang="en-GB" sz="2800" dirty="0">
                <a:latin typeface="Gabriola" pitchFamily="82" charset="0"/>
              </a:rPr>
              <a:t>, hypovolemic shock, or other life-threatening complications</a:t>
            </a:r>
            <a:r>
              <a:rPr lang="en-GB" sz="2800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The </a:t>
            </a:r>
            <a:r>
              <a:rPr lang="en-GB" sz="2800" dirty="0">
                <a:latin typeface="Gabriola" pitchFamily="82" charset="0"/>
              </a:rPr>
              <a:t>aorta is a high-pressure vessel, and even a small tear can lead to massive internal bleeding</a:t>
            </a:r>
            <a:r>
              <a:rPr lang="en-GB" sz="2800" dirty="0" smtClean="0">
                <a:latin typeface="Gabriola" pitchFamily="82" charset="0"/>
              </a:rPr>
              <a:t>.</a:t>
            </a: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200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92696"/>
            <a:ext cx="8640960" cy="576064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Intimal Tear</a:t>
            </a:r>
            <a:r>
              <a:rPr lang="en-GB" dirty="0" smtClean="0">
                <a:latin typeface="Gabriola" pitchFamily="82" charset="0"/>
              </a:rPr>
              <a:t>: A tear in the innermost layer of the aorta (intima) that can lead to blood leaking into the wall of the aorta, creating a </a:t>
            </a:r>
            <a:r>
              <a:rPr lang="en-GB" b="1" dirty="0" smtClean="0">
                <a:latin typeface="Gabriola" pitchFamily="82" charset="0"/>
              </a:rPr>
              <a:t>hematoma</a:t>
            </a:r>
            <a:r>
              <a:rPr lang="en-GB" dirty="0" smtClean="0">
                <a:latin typeface="Gabriola" pitchFamily="82" charset="0"/>
              </a:rPr>
              <a:t> or causing </a:t>
            </a:r>
            <a:r>
              <a:rPr lang="en-GB" b="1" dirty="0" smtClean="0">
                <a:latin typeface="Gabriola" pitchFamily="82" charset="0"/>
              </a:rPr>
              <a:t>dissection</a:t>
            </a:r>
            <a:r>
              <a:rPr lang="en-GB" dirty="0" smtClean="0">
                <a:latin typeface="Gabriola" pitchFamily="82" charset="0"/>
              </a:rPr>
              <a:t> (a separation of the layers of the aortic wall).</a:t>
            </a:r>
            <a:endParaRPr lang="en-GB" b="1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Aortic Dissection</a:t>
            </a:r>
            <a:r>
              <a:rPr lang="en-GB" dirty="0" smtClean="0">
                <a:latin typeface="Gabriola" pitchFamily="82" charset="0"/>
              </a:rPr>
              <a:t>: Blood enters the aortic wall, creating a false lumen. This can impair blood flow to vital organs or rupture the vessel.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Complete Rupture</a:t>
            </a:r>
            <a:r>
              <a:rPr lang="en-GB" dirty="0" smtClean="0">
                <a:latin typeface="Gabriola" pitchFamily="82" charset="0"/>
              </a:rPr>
              <a:t>: A full rupture of the aorta, which is almost universally fatal if not immediately treated.</a:t>
            </a:r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3424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778098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>
                <a:latin typeface="Times" pitchFamily="18" charset="0"/>
              </a:rPr>
              <a:t>Clinical Presentation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363272" cy="54006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The </a:t>
            </a:r>
            <a:r>
              <a:rPr lang="en-GB" dirty="0">
                <a:latin typeface="Gabriola" pitchFamily="82" charset="0"/>
              </a:rPr>
              <a:t>signs and symptoms of aortic injury can vary widely depending on the severity of the injury, but typically involve some or all of the following:</a:t>
            </a: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Severe Chest Pain</a:t>
            </a:r>
            <a:r>
              <a:rPr lang="en-GB" dirty="0">
                <a:latin typeface="Gabriola" pitchFamily="82" charset="0"/>
              </a:rPr>
              <a:t>: Sudden, severe, and sharp chest pain, often described as "tearing" or "ripping" in nature, especially in injuries involving the aortic arch or isthmus.</a:t>
            </a: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Hypotension</a:t>
            </a:r>
            <a:r>
              <a:rPr lang="en-GB" dirty="0">
                <a:latin typeface="Gabriola" pitchFamily="82" charset="0"/>
              </a:rPr>
              <a:t>: Low blood pressure due to </a:t>
            </a:r>
            <a:r>
              <a:rPr lang="en-GB" dirty="0" err="1">
                <a:latin typeface="Gabriola" pitchFamily="82" charset="0"/>
              </a:rPr>
              <a:t>hemorrhage</a:t>
            </a:r>
            <a:r>
              <a:rPr lang="en-GB" dirty="0">
                <a:latin typeface="Gabriola" pitchFamily="82" charset="0"/>
              </a:rPr>
              <a:t> or compromised blood flow to critical organs.</a:t>
            </a: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Shock</a:t>
            </a:r>
            <a:r>
              <a:rPr lang="en-GB" dirty="0">
                <a:latin typeface="Gabriola" pitchFamily="82" charset="0"/>
              </a:rPr>
              <a:t>: Signs of hypovolemic shock (rapid pulse, low blood pressure, cold extremities, altered mental status) in severe cases</a:t>
            </a:r>
            <a:r>
              <a:rPr lang="en-GB" dirty="0" smtClean="0">
                <a:latin typeface="Gabriola" pitchFamily="82" charset="0"/>
              </a:rPr>
              <a:t>.</a:t>
            </a: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488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836712"/>
            <a:ext cx="8352928" cy="5472608"/>
          </a:xfrm>
        </p:spPr>
        <p:txBody>
          <a:bodyPr>
            <a:normAutofit fontScale="92500"/>
          </a:bodyPr>
          <a:lstStyle/>
          <a:p>
            <a:pPr lvl="1"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Neurovascular Deficits</a:t>
            </a:r>
            <a:r>
              <a:rPr lang="en-GB" dirty="0" smtClean="0">
                <a:latin typeface="Gabriola" pitchFamily="82" charset="0"/>
              </a:rPr>
              <a:t>: In some cases, there may be signs of impaired blood flow to the brain, such as confusion or stroke-like symptoms, especially if the aorta’s branches (e.g., the carotid arteries) are affected.</a:t>
            </a:r>
          </a:p>
          <a:p>
            <a:pPr lvl="1"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Absent or Decreased Pulse</a:t>
            </a:r>
            <a:r>
              <a:rPr lang="en-GB" dirty="0" smtClean="0">
                <a:latin typeface="Gabriola" pitchFamily="82" charset="0"/>
              </a:rPr>
              <a:t>: Pulses in the lower extremities may be weaker or absent compared to the upper limbs, indicating disrupted blood flow due to aortic injury.</a:t>
            </a:r>
          </a:p>
          <a:p>
            <a:pPr lvl="1"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Distended Neck Veins</a:t>
            </a:r>
            <a:r>
              <a:rPr lang="en-GB" dirty="0" smtClean="0">
                <a:latin typeface="Gabriola" pitchFamily="82" charset="0"/>
              </a:rPr>
              <a:t>: If the injury causes compromised venous return, there may be visible jugular venous </a:t>
            </a:r>
            <a:r>
              <a:rPr lang="en-GB" dirty="0" err="1" smtClean="0">
                <a:latin typeface="Gabriola" pitchFamily="82" charset="0"/>
              </a:rPr>
              <a:t>distention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4254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4000" b="1" dirty="0" smtClean="0">
                <a:latin typeface="Times" pitchFamily="18" charset="0"/>
              </a:rPr>
              <a:t>Diagnosis of Aortic Injury</a:t>
            </a:r>
            <a:r>
              <a:rPr lang="en-GB" sz="3600" dirty="0" smtClean="0"/>
              <a:t/>
            </a:r>
            <a:br>
              <a:rPr lang="en-GB" sz="3600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8712968" cy="547260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Given </a:t>
            </a:r>
            <a:r>
              <a:rPr lang="en-GB" sz="2800" dirty="0">
                <a:latin typeface="Gabriola" pitchFamily="82" charset="0"/>
              </a:rPr>
              <a:t>the high mortality rate associated with undiagnosed aortic injury, early and accurate diagnosis is essential. </a:t>
            </a:r>
            <a:endParaRPr lang="en-GB" sz="28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Diagnosis </a:t>
            </a:r>
            <a:r>
              <a:rPr lang="en-GB" sz="2800" dirty="0">
                <a:latin typeface="Gabriola" pitchFamily="82" charset="0"/>
              </a:rPr>
              <a:t>typically involves imaging studies and clinical examination:</a:t>
            </a:r>
          </a:p>
          <a:p>
            <a:pPr lvl="0">
              <a:lnSpc>
                <a:spcPct val="150000"/>
              </a:lnSpc>
            </a:pPr>
            <a:r>
              <a:rPr lang="en-GB" sz="2800" b="1" dirty="0">
                <a:latin typeface="Gabriola" pitchFamily="82" charset="0"/>
              </a:rPr>
              <a:t>Chest X-ray</a:t>
            </a:r>
            <a:r>
              <a:rPr lang="en-GB" sz="2800" dirty="0">
                <a:latin typeface="Gabriola" pitchFamily="82" charset="0"/>
              </a:rPr>
              <a:t>: The first-line imaging study in trauma. Key signs suggestive of aortic injury include: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Widening of the </a:t>
            </a:r>
            <a:r>
              <a:rPr lang="en-GB" b="1" dirty="0">
                <a:latin typeface="Gabriola" pitchFamily="82" charset="0"/>
              </a:rPr>
              <a:t>mediastinum</a:t>
            </a:r>
            <a:r>
              <a:rPr lang="en-GB" dirty="0">
                <a:latin typeface="Gabriola" pitchFamily="82" charset="0"/>
              </a:rPr>
              <a:t> (the central area in the chest where the heart and major blood vessels are located).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Displacement of the trachea</a:t>
            </a:r>
            <a:r>
              <a:rPr lang="en-GB" dirty="0">
                <a:latin typeface="Gabriola" pitchFamily="82" charset="0"/>
              </a:rPr>
              <a:t> or </a:t>
            </a:r>
            <a:r>
              <a:rPr lang="en-GB" dirty="0" err="1">
                <a:latin typeface="Gabriola" pitchFamily="82" charset="0"/>
              </a:rPr>
              <a:t>esophagus</a:t>
            </a:r>
            <a:r>
              <a:rPr lang="en-GB" dirty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Fractures of the </a:t>
            </a:r>
            <a:r>
              <a:rPr lang="en-GB" b="1" dirty="0">
                <a:latin typeface="Gabriola" pitchFamily="82" charset="0"/>
              </a:rPr>
              <a:t>sternum</a:t>
            </a:r>
            <a:r>
              <a:rPr lang="en-GB" dirty="0">
                <a:latin typeface="Gabriola" pitchFamily="82" charset="0"/>
              </a:rPr>
              <a:t>, </a:t>
            </a:r>
            <a:r>
              <a:rPr lang="en-GB" b="1" dirty="0">
                <a:latin typeface="Gabriola" pitchFamily="82" charset="0"/>
              </a:rPr>
              <a:t>clavicle</a:t>
            </a:r>
            <a:r>
              <a:rPr lang="en-GB" dirty="0">
                <a:latin typeface="Gabriola" pitchFamily="82" charset="0"/>
              </a:rPr>
              <a:t>, or </a:t>
            </a:r>
            <a:r>
              <a:rPr lang="en-GB" b="1" dirty="0">
                <a:latin typeface="Gabriola" pitchFamily="82" charset="0"/>
              </a:rPr>
              <a:t>ribs</a:t>
            </a:r>
            <a:r>
              <a:rPr lang="en-GB" dirty="0">
                <a:latin typeface="Gabriola" pitchFamily="82" charset="0"/>
              </a:rPr>
              <a:t> may be seen in cases of blunt trauma.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041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764704"/>
            <a:ext cx="8712968" cy="5760640"/>
          </a:xfrm>
        </p:spPr>
        <p:txBody>
          <a:bodyPr>
            <a:normAutofit/>
          </a:bodyPr>
          <a:lstStyle/>
          <a:p>
            <a:pPr lvl="0">
              <a:lnSpc>
                <a:spcPct val="170000"/>
              </a:lnSpc>
            </a:pPr>
            <a:r>
              <a:rPr lang="en-GB" sz="2800" b="1" dirty="0" smtClean="0">
                <a:latin typeface="Gabriola" pitchFamily="82" charset="0"/>
              </a:rPr>
              <a:t>CT Angiography (CTA)</a:t>
            </a:r>
            <a:r>
              <a:rPr lang="en-GB" sz="2800" dirty="0" smtClean="0">
                <a:latin typeface="Gabriola" pitchFamily="82" charset="0"/>
              </a:rPr>
              <a:t>: The gold standard for diagnosing aortic injury. 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A CTA of the chest with contrast allows for detailed visualization of the aorta, identifying tears, dissection, or rupture.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 It is also useful for assessing other concomitant injuries.</a:t>
            </a:r>
            <a:endParaRPr lang="en-GB" sz="2400" dirty="0" smtClean="0">
              <a:latin typeface="Gabriola" pitchFamily="82" charset="0"/>
            </a:endParaRPr>
          </a:p>
          <a:p>
            <a:pPr>
              <a:lnSpc>
                <a:spcPct val="170000"/>
              </a:lnSpc>
            </a:pPr>
            <a:r>
              <a:rPr lang="en-GB" sz="2800" b="1" dirty="0" err="1" smtClean="0">
                <a:latin typeface="Gabriola" pitchFamily="82" charset="0"/>
              </a:rPr>
              <a:t>Transesophageal</a:t>
            </a:r>
            <a:r>
              <a:rPr lang="en-GB" sz="2800" b="1" dirty="0" smtClean="0">
                <a:latin typeface="Gabriola" pitchFamily="82" charset="0"/>
              </a:rPr>
              <a:t> Echocardiography (TEE)</a:t>
            </a:r>
            <a:r>
              <a:rPr lang="en-GB" sz="2800" dirty="0" smtClean="0">
                <a:latin typeface="Gabriola" pitchFamily="82" charset="0"/>
              </a:rPr>
              <a:t>: This may be performed in patients who are unstable and unable to undergo a CT scan</a:t>
            </a:r>
          </a:p>
          <a:p>
            <a:pPr lvl="1">
              <a:lnSpc>
                <a:spcPct val="170000"/>
              </a:lnSpc>
            </a:pPr>
            <a:r>
              <a:rPr lang="en-GB" sz="2400" dirty="0" smtClean="0">
                <a:latin typeface="Gabriola" pitchFamily="82" charset="0"/>
              </a:rPr>
              <a:t>It allows visualization of the aorta and can detect aortic dissection or rupture.</a:t>
            </a:r>
            <a:endParaRPr lang="en-GB" sz="2000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endParaRPr lang="en-GB" sz="24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34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507288" cy="4929411"/>
          </a:xfrm>
        </p:spPr>
        <p:txBody>
          <a:bodyPr>
            <a:normAutofit/>
          </a:bodyPr>
          <a:lstStyle/>
          <a:p>
            <a:pPr lvl="0">
              <a:lnSpc>
                <a:spcPct val="170000"/>
              </a:lnSpc>
            </a:pPr>
            <a:r>
              <a:rPr lang="en-GB" sz="2800" b="1" dirty="0" smtClean="0">
                <a:latin typeface="Gabriola" pitchFamily="82" charset="0"/>
              </a:rPr>
              <a:t>Aortography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A specialized imaging technique used less commonly today due to the availability of CTA. 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It involves injecting dye into the aorta to identify tears or ruptures.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602061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4000" b="1" dirty="0" smtClean="0">
                <a:latin typeface="Times" pitchFamily="18" charset="0"/>
              </a:rPr>
              <a:t>Classification of Aortic Injury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640960" cy="51125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000" dirty="0" smtClean="0">
                <a:latin typeface="Gabriola" pitchFamily="82" charset="0"/>
              </a:rPr>
              <a:t>Aortic </a:t>
            </a:r>
            <a:r>
              <a:rPr lang="en-GB" sz="3000" dirty="0">
                <a:latin typeface="Gabriola" pitchFamily="82" charset="0"/>
              </a:rPr>
              <a:t>injuries are often classified based on the </a:t>
            </a:r>
            <a:r>
              <a:rPr lang="en-GB" sz="3000" b="1" dirty="0">
                <a:latin typeface="Gabriola" pitchFamily="82" charset="0"/>
              </a:rPr>
              <a:t>degree of damage</a:t>
            </a:r>
            <a:r>
              <a:rPr lang="en-GB" sz="3000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Grade I</a:t>
            </a:r>
            <a:r>
              <a:rPr lang="en-GB" dirty="0">
                <a:latin typeface="Gabriola" pitchFamily="82" charset="0"/>
              </a:rPr>
              <a:t>: Intimal tear or small hematoma, generally with a good prognosis and minimal intervention required.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Grade II</a:t>
            </a:r>
            <a:r>
              <a:rPr lang="en-GB" dirty="0">
                <a:latin typeface="Gabriola" pitchFamily="82" charset="0"/>
              </a:rPr>
              <a:t>: Larger hematoma or dissection without rupture, which may require surgical or endovascular intervention.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Grade III</a:t>
            </a:r>
            <a:r>
              <a:rPr lang="en-GB" dirty="0">
                <a:latin typeface="Gabriola" pitchFamily="82" charset="0"/>
              </a:rPr>
              <a:t>: Complete rupture or transection of the aorta, usually fatal unless immediate surgery is performed.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287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4000" b="1" dirty="0" smtClean="0">
                <a:latin typeface="Times" pitchFamily="18" charset="0"/>
              </a:rPr>
              <a:t>Treatment of Aortic Injury</a:t>
            </a:r>
            <a:r>
              <a:rPr lang="en-GB" sz="3600" dirty="0" smtClean="0"/>
              <a:t/>
            </a:r>
            <a:br>
              <a:rPr lang="en-GB" sz="3600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4"/>
            <a:ext cx="8363272" cy="5400600"/>
          </a:xfrm>
        </p:spPr>
        <p:txBody>
          <a:bodyPr>
            <a:normAutofit fontScale="92500"/>
          </a:bodyPr>
          <a:lstStyle/>
          <a:p>
            <a:pPr>
              <a:lnSpc>
                <a:spcPct val="170000"/>
              </a:lnSpc>
            </a:pPr>
            <a:r>
              <a:rPr lang="en-GB" sz="3000" dirty="0" smtClean="0">
                <a:latin typeface="Gabriola" pitchFamily="82" charset="0"/>
              </a:rPr>
              <a:t>Treatment </a:t>
            </a:r>
            <a:r>
              <a:rPr lang="en-GB" sz="3000" dirty="0">
                <a:latin typeface="Gabriola" pitchFamily="82" charset="0"/>
              </a:rPr>
              <a:t>depends on the type, location, and severity of the injury, as well as the patient's clinical condition.</a:t>
            </a:r>
          </a:p>
          <a:p>
            <a:pPr lvl="0">
              <a:lnSpc>
                <a:spcPct val="170000"/>
              </a:lnSpc>
            </a:pPr>
            <a:r>
              <a:rPr lang="en-GB" b="1" dirty="0" err="1">
                <a:latin typeface="Gabriola" pitchFamily="82" charset="0"/>
              </a:rPr>
              <a:t>Hemodynamically</a:t>
            </a:r>
            <a:r>
              <a:rPr lang="en-GB" b="1" dirty="0">
                <a:latin typeface="Gabriola" pitchFamily="82" charset="0"/>
              </a:rPr>
              <a:t> Stable Patients</a:t>
            </a:r>
            <a:r>
              <a:rPr lang="en-GB" dirty="0">
                <a:latin typeface="Gabriola" pitchFamily="82" charset="0"/>
              </a:rPr>
              <a:t>:</a:t>
            </a:r>
            <a:endParaRPr lang="en-GB" sz="2800" dirty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GB" b="1" dirty="0">
                <a:latin typeface="Gabriola" pitchFamily="82" charset="0"/>
              </a:rPr>
              <a:t>Endovascular Repair (EVAR)</a:t>
            </a:r>
            <a:r>
              <a:rPr lang="en-GB" dirty="0">
                <a:latin typeface="Gabriola" pitchFamily="82" charset="0"/>
              </a:rPr>
              <a:t>: This is the preferred treatment for many aortic injuries, particularly those involving the descending aorta. </a:t>
            </a:r>
            <a:endParaRPr lang="en-GB" dirty="0" smtClean="0">
              <a:latin typeface="Gabriola" pitchFamily="82" charset="0"/>
            </a:endParaRPr>
          </a:p>
          <a:p>
            <a:pPr lvl="2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A </a:t>
            </a:r>
            <a:r>
              <a:rPr lang="en-GB" dirty="0">
                <a:latin typeface="Gabriola" pitchFamily="82" charset="0"/>
              </a:rPr>
              <a:t>stent graft is placed through a catheter to seal the injury, providing a minimally invasive option with shorter recovery times</a:t>
            </a:r>
            <a:r>
              <a:rPr lang="en-GB" dirty="0" smtClean="0">
                <a:latin typeface="Gabriola" pitchFamily="82" charset="0"/>
              </a:rPr>
              <a:t>.</a:t>
            </a:r>
            <a:endParaRPr lang="en-GB" sz="20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403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64704"/>
            <a:ext cx="8784976" cy="5760640"/>
          </a:xfrm>
        </p:spPr>
        <p:txBody>
          <a:bodyPr>
            <a:noAutofit/>
          </a:bodyPr>
          <a:lstStyle/>
          <a:p>
            <a:pPr marL="3429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GB" b="1" dirty="0" smtClean="0">
                <a:latin typeface="Gabriola" pitchFamily="82" charset="0"/>
              </a:rPr>
              <a:t>Medical Management</a:t>
            </a:r>
            <a:r>
              <a:rPr lang="en-GB" dirty="0" smtClean="0">
                <a:latin typeface="Gabriola" pitchFamily="82" charset="0"/>
              </a:rPr>
              <a:t>: </a:t>
            </a:r>
          </a:p>
          <a:p>
            <a:pPr marL="742950" lvl="2" indent="-342900"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Some patients with small tears or hematomas may be managed conservatively with blood pressure control (e.g., using beta-blockers to reduce shearing forces on the aorta) and close monitoring.</a:t>
            </a:r>
          </a:p>
          <a:p>
            <a:pPr lvl="0">
              <a:lnSpc>
                <a:spcPct val="150000"/>
              </a:lnSpc>
            </a:pPr>
            <a:r>
              <a:rPr lang="en-GB" sz="2800" b="1" dirty="0" err="1" smtClean="0">
                <a:latin typeface="Gabriola" pitchFamily="82" charset="0"/>
              </a:rPr>
              <a:t>Hemodynamically</a:t>
            </a:r>
            <a:r>
              <a:rPr lang="en-GB" sz="2800" b="1" dirty="0" smtClean="0">
                <a:latin typeface="Gabriola" pitchFamily="82" charset="0"/>
              </a:rPr>
              <a:t> Unstable Patients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Surgical Repair</a:t>
            </a:r>
            <a:r>
              <a:rPr lang="en-GB" dirty="0" smtClean="0">
                <a:latin typeface="Gabriola" pitchFamily="82" charset="0"/>
              </a:rPr>
              <a:t>: In cases of aortic rupture or severe dissection, immediate surgery is required. 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GB" sz="28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61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692696"/>
            <a:ext cx="8640960" cy="5616624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This typically involves </a:t>
            </a:r>
            <a:r>
              <a:rPr lang="en-GB" b="1" dirty="0">
                <a:latin typeface="Gabriola" pitchFamily="82" charset="0"/>
              </a:rPr>
              <a:t>open surgical repair</a:t>
            </a:r>
            <a:r>
              <a:rPr lang="en-GB" dirty="0">
                <a:latin typeface="Gabriola" pitchFamily="82" charset="0"/>
              </a:rPr>
              <a:t> to resect the damaged portion of the aorta and grafting a synthetic vessel to restore normal blood flow</a:t>
            </a:r>
            <a:endParaRPr lang="en-GB" b="1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Resuscitation</a:t>
            </a:r>
            <a:r>
              <a:rPr lang="en-GB" dirty="0" smtClean="0">
                <a:latin typeface="Gabriola" pitchFamily="82" charset="0"/>
              </a:rPr>
              <a:t>: Initial management involves aggressive resuscitation with fluids and blood products to stabilize the patient before surgery.</a:t>
            </a:r>
            <a:endParaRPr lang="en-GB" sz="24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In some cases, </a:t>
            </a:r>
            <a:r>
              <a:rPr lang="en-GB" sz="2800" b="1" dirty="0" smtClean="0">
                <a:latin typeface="Gabriola" pitchFamily="82" charset="0"/>
              </a:rPr>
              <a:t>endovascular stenting</a:t>
            </a:r>
            <a:r>
              <a:rPr lang="en-GB" sz="2800" dirty="0" smtClean="0">
                <a:latin typeface="Gabriola" pitchFamily="82" charset="0"/>
              </a:rPr>
              <a:t> may be used as an emergency procedure if the patient is unstable and unable to undergo traditional surgery</a:t>
            </a:r>
            <a:r>
              <a:rPr lang="en-GB" sz="2800" dirty="0" smtClean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4693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778098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Prognosis and Outcomes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5256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Aortic </a:t>
            </a:r>
            <a:r>
              <a:rPr lang="en-GB" sz="2800" dirty="0">
                <a:latin typeface="Gabriola" pitchFamily="82" charset="0"/>
              </a:rPr>
              <a:t>injuries have a high mortality rate, especially if the diagnosis is delayed. </a:t>
            </a:r>
            <a:endParaRPr lang="en-GB" sz="28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The </a:t>
            </a:r>
            <a:r>
              <a:rPr lang="en-GB" sz="2800" dirty="0">
                <a:latin typeface="Gabriola" pitchFamily="82" charset="0"/>
              </a:rPr>
              <a:t>overall survival rate for patients with blunt aortic injury who undergo surgical repair is about 50-70%, depending on the severity of the injury and the promptness of intervention. </a:t>
            </a:r>
            <a:endParaRPr lang="en-GB" sz="28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Mortality </a:t>
            </a:r>
            <a:r>
              <a:rPr lang="en-GB" sz="2800" dirty="0">
                <a:latin typeface="Gabriola" pitchFamily="82" charset="0"/>
              </a:rPr>
              <a:t>is higher in patients who have complete rupture or those who experience delays in treatment.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813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gency FB" pitchFamily="34" charset="0"/>
              </a:rPr>
              <a:t/>
            </a:r>
            <a:br>
              <a:rPr lang="en-US" dirty="0" smtClean="0">
                <a:latin typeface="Agency FB" pitchFamily="34" charset="0"/>
              </a:rPr>
            </a:br>
            <a:r>
              <a:rPr lang="en-US" b="1" dirty="0" smtClean="0">
                <a:latin typeface="Agency FB" pitchFamily="34" charset="0"/>
              </a:rPr>
              <a:t>Pulmonary </a:t>
            </a:r>
            <a:r>
              <a:rPr lang="en-US" b="1" dirty="0">
                <a:latin typeface="Agency FB" pitchFamily="34" charset="0"/>
              </a:rPr>
              <a:t>Contusion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18160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2600" dirty="0" smtClean="0">
                <a:latin typeface="Gabriola" pitchFamily="82" charset="0"/>
              </a:rPr>
              <a:t>Pulmonary </a:t>
            </a:r>
            <a:r>
              <a:rPr lang="en-US" sz="2600" dirty="0">
                <a:latin typeface="Gabriola" pitchFamily="82" charset="0"/>
              </a:rPr>
              <a:t>contusions are defined as injuries to the lung parenchyma</a:t>
            </a:r>
            <a:r>
              <a:rPr lang="en-US" sz="2600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sz="2600" dirty="0" smtClean="0">
                <a:latin typeface="Gabriola" pitchFamily="82" charset="0"/>
              </a:rPr>
              <a:t> </a:t>
            </a:r>
            <a:r>
              <a:rPr lang="en-US" sz="2600" dirty="0">
                <a:latin typeface="Gabriola" pitchFamily="82" charset="0"/>
              </a:rPr>
              <a:t>If the injury </a:t>
            </a:r>
            <a:r>
              <a:rPr lang="en-US" sz="2600" dirty="0" smtClean="0">
                <a:latin typeface="Gabriola" pitchFamily="82" charset="0"/>
              </a:rPr>
              <a:t>is significant</a:t>
            </a:r>
            <a:r>
              <a:rPr lang="en-US" sz="2600" dirty="0">
                <a:latin typeface="Gabriola" pitchFamily="82" charset="0"/>
              </a:rPr>
              <a:t>, hypoxia may result. </a:t>
            </a:r>
            <a:endParaRPr lang="en-US" sz="2600" dirty="0" smtClean="0">
              <a:latin typeface="Gabriola" pitchFamily="82" charset="0"/>
            </a:endParaRPr>
          </a:p>
          <a:p>
            <a:pPr>
              <a:lnSpc>
                <a:spcPct val="170000"/>
              </a:lnSpc>
            </a:pPr>
            <a:r>
              <a:rPr lang="en-US" sz="2600" dirty="0" smtClean="0">
                <a:latin typeface="Gabriola" pitchFamily="82" charset="0"/>
              </a:rPr>
              <a:t>Pulmonary </a:t>
            </a:r>
            <a:r>
              <a:rPr lang="en-US" sz="2600" dirty="0">
                <a:latin typeface="Gabriola" pitchFamily="82" charset="0"/>
              </a:rPr>
              <a:t>contusion may affect 25–75% of severe </a:t>
            </a:r>
            <a:r>
              <a:rPr lang="en-US" sz="2600" dirty="0" smtClean="0">
                <a:latin typeface="Gabriola" pitchFamily="82" charset="0"/>
              </a:rPr>
              <a:t>chest trauma </a:t>
            </a:r>
            <a:r>
              <a:rPr lang="en-US" sz="2600" dirty="0">
                <a:latin typeface="Gabriola" pitchFamily="82" charset="0"/>
              </a:rPr>
              <a:t>patients. </a:t>
            </a:r>
            <a:endParaRPr lang="en-US" sz="2600" dirty="0" smtClean="0">
              <a:latin typeface="Gabriola" pitchFamily="82" charset="0"/>
            </a:endParaRPr>
          </a:p>
          <a:p>
            <a:pPr>
              <a:lnSpc>
                <a:spcPct val="170000"/>
              </a:lnSpc>
            </a:pPr>
            <a:r>
              <a:rPr lang="en-US" sz="2600" dirty="0" smtClean="0">
                <a:latin typeface="Gabriola" pitchFamily="82" charset="0"/>
              </a:rPr>
              <a:t>The </a:t>
            </a:r>
            <a:r>
              <a:rPr lang="en-US" sz="2600" dirty="0">
                <a:latin typeface="Gabriola" pitchFamily="82" charset="0"/>
              </a:rPr>
              <a:t>mortality rate can be as high as 40%, depending on the severity </a:t>
            </a:r>
            <a:r>
              <a:rPr lang="en-US" sz="2600" dirty="0" smtClean="0">
                <a:latin typeface="Gabriola" pitchFamily="82" charset="0"/>
              </a:rPr>
              <a:t>of the </a:t>
            </a:r>
            <a:r>
              <a:rPr lang="en-US" sz="2600" dirty="0">
                <a:latin typeface="Gabriola" pitchFamily="82" charset="0"/>
              </a:rPr>
              <a:t>contusion and underlying injuries. </a:t>
            </a:r>
            <a:endParaRPr lang="en-US" sz="2600" dirty="0" smtClean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1304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5635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305800" cy="4754563"/>
          </a:xfrm>
        </p:spPr>
        <p:txBody>
          <a:bodyPr/>
          <a:lstStyle/>
          <a:p>
            <a:pPr lvl="0">
              <a:lnSpc>
                <a:spcPct val="170000"/>
              </a:lnSpc>
            </a:pPr>
            <a:r>
              <a:rPr lang="en-US" sz="2600" dirty="0">
                <a:solidFill>
                  <a:prstClr val="black"/>
                </a:solidFill>
                <a:latin typeface="Gabriola" pitchFamily="82" charset="0"/>
              </a:rPr>
              <a:t>Most pulmonary contusions resolve in 5 days without any further insults. </a:t>
            </a:r>
          </a:p>
          <a:p>
            <a:pPr lvl="0">
              <a:lnSpc>
                <a:spcPct val="170000"/>
              </a:lnSpc>
            </a:pPr>
            <a:r>
              <a:rPr lang="en-US" sz="2600" dirty="0">
                <a:solidFill>
                  <a:prstClr val="black"/>
                </a:solidFill>
                <a:latin typeface="Gabriola" pitchFamily="82" charset="0"/>
              </a:rPr>
              <a:t>About 50% of patients with pulmonary contusion develop acute respiratory distress syndrome (ARDS).</a:t>
            </a:r>
          </a:p>
          <a:p>
            <a:pPr lvl="0">
              <a:lnSpc>
                <a:spcPct val="170000"/>
              </a:lnSpc>
            </a:pPr>
            <a:r>
              <a:rPr lang="en-US" sz="2600" dirty="0">
                <a:solidFill>
                  <a:prstClr val="black"/>
                </a:solidFill>
                <a:latin typeface="Gabriola" pitchFamily="82" charset="0"/>
              </a:rPr>
              <a:t> If more than 20% of the lung is involved, the percentage increases to 80% developing ARDS.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1768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534400" cy="58213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Gabriola" pitchFamily="82" charset="0"/>
              </a:rPr>
              <a:t>Indications for </a:t>
            </a:r>
            <a:r>
              <a:rPr lang="en-US" dirty="0" smtClean="0">
                <a:latin typeface="Gabriola" pitchFamily="82" charset="0"/>
              </a:rPr>
              <a:t>TI and MV after </a:t>
            </a:r>
            <a:r>
              <a:rPr lang="en-US" dirty="0">
                <a:latin typeface="Gabriola" pitchFamily="82" charset="0"/>
              </a:rPr>
              <a:t>flail chest and pulmonary contusion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Gabriola" pitchFamily="82" charset="0"/>
              </a:rPr>
              <a:t>	</a:t>
            </a:r>
            <a:r>
              <a:rPr lang="en-US" b="1" u="sng" dirty="0" smtClean="0">
                <a:latin typeface="Gabriola" pitchFamily="82" charset="0"/>
              </a:rPr>
              <a:t>PF criteria </a:t>
            </a:r>
            <a:r>
              <a:rPr lang="en-US" dirty="0" smtClean="0">
                <a:latin typeface="Gabriola" pitchFamily="82" charset="0"/>
              </a:rPr>
              <a:t>			</a:t>
            </a:r>
            <a:r>
              <a:rPr lang="en-US" b="1" u="sng" dirty="0" smtClean="0">
                <a:latin typeface="Gabriola" pitchFamily="82" charset="0"/>
              </a:rPr>
              <a:t>       Indication</a:t>
            </a:r>
            <a:endParaRPr lang="en-US" b="1" u="sng" dirty="0">
              <a:latin typeface="Gabriola" pitchFamily="82" charset="0"/>
            </a:endParaRP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dirty="0">
                <a:latin typeface="Gabriola" pitchFamily="82" charset="0"/>
              </a:rPr>
              <a:t>Arterial oxygen                                 </a:t>
            </a:r>
            <a:r>
              <a:rPr lang="en-US" dirty="0" smtClean="0">
                <a:latin typeface="Gabriola" pitchFamily="82" charset="0"/>
              </a:rPr>
              <a:t>	   </a:t>
            </a:r>
            <a:r>
              <a:rPr lang="en-US" dirty="0">
                <a:latin typeface="Gabriola" pitchFamily="82" charset="0"/>
              </a:rPr>
              <a:t>&lt;70 mmHg with rebreathing mask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dirty="0">
                <a:latin typeface="Gabriola" pitchFamily="82" charset="0"/>
              </a:rPr>
              <a:t>Arterial carbon dioxide                   </a:t>
            </a:r>
            <a:r>
              <a:rPr lang="en-US" dirty="0" smtClean="0">
                <a:latin typeface="Gabriola" pitchFamily="82" charset="0"/>
              </a:rPr>
              <a:t>	     </a:t>
            </a:r>
            <a:r>
              <a:rPr lang="en-US" dirty="0">
                <a:latin typeface="Gabriola" pitchFamily="82" charset="0"/>
              </a:rPr>
              <a:t>&gt;50 mmHg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dirty="0">
                <a:latin typeface="Gabriola" pitchFamily="82" charset="0"/>
              </a:rPr>
              <a:t>Respiratory rate                                </a:t>
            </a:r>
            <a:r>
              <a:rPr lang="en-US" dirty="0" smtClean="0">
                <a:latin typeface="Gabriola" pitchFamily="82" charset="0"/>
              </a:rPr>
              <a:t>	     </a:t>
            </a:r>
            <a:r>
              <a:rPr lang="en-US" dirty="0">
                <a:latin typeface="Gabriola" pitchFamily="82" charset="0"/>
              </a:rPr>
              <a:t>&gt;35/min or &lt;8/min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dirty="0">
                <a:latin typeface="Gabriola" pitchFamily="82" charset="0"/>
              </a:rPr>
              <a:t>Vital capacity                                    </a:t>
            </a:r>
            <a:r>
              <a:rPr lang="en-US" dirty="0" smtClean="0">
                <a:latin typeface="Gabriola" pitchFamily="82" charset="0"/>
              </a:rPr>
              <a:t>	     </a:t>
            </a:r>
            <a:r>
              <a:rPr lang="en-US" dirty="0">
                <a:latin typeface="Gabriola" pitchFamily="82" charset="0"/>
              </a:rPr>
              <a:t>&lt;15 mL/kg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dirty="0">
                <a:latin typeface="Gabriola" pitchFamily="82" charset="0"/>
              </a:rPr>
              <a:t>Negative inspiratory force               </a:t>
            </a:r>
            <a:r>
              <a:rPr lang="en-US" dirty="0" smtClean="0">
                <a:latin typeface="Gabriola" pitchFamily="82" charset="0"/>
              </a:rPr>
              <a:t>           &lt;</a:t>
            </a:r>
            <a:r>
              <a:rPr lang="en-US" dirty="0">
                <a:latin typeface="Gabriola" pitchFamily="82" charset="0"/>
              </a:rPr>
              <a:t>20 cm H2O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dirty="0">
                <a:latin typeface="Gabriola" pitchFamily="82" charset="0"/>
              </a:rPr>
              <a:t>PaO2/FiO2 ratio                        </a:t>
            </a:r>
            <a:r>
              <a:rPr lang="en-US" dirty="0" smtClean="0">
                <a:latin typeface="Gabriola" pitchFamily="82" charset="0"/>
              </a:rPr>
              <a:t>	    </a:t>
            </a:r>
            <a:r>
              <a:rPr lang="en-US" dirty="0">
                <a:latin typeface="Gabriola" pitchFamily="82" charset="0"/>
              </a:rPr>
              <a:t>≤200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dirty="0">
                <a:latin typeface="Gabriola" pitchFamily="82" charset="0"/>
              </a:rPr>
              <a:t>Dead space to tidal volume ratio             &gt;0.6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dirty="0">
                <a:latin typeface="Gabriola" pitchFamily="82" charset="0"/>
              </a:rPr>
              <a:t>FEV1                                            </a:t>
            </a:r>
            <a:r>
              <a:rPr lang="en-US" dirty="0" smtClean="0">
                <a:latin typeface="Gabriola" pitchFamily="82" charset="0"/>
              </a:rPr>
              <a:t>	   </a:t>
            </a:r>
            <a:r>
              <a:rPr lang="en-US" dirty="0">
                <a:latin typeface="Gabriola" pitchFamily="82" charset="0"/>
              </a:rPr>
              <a:t>≤  10 mL/kg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dirty="0">
                <a:latin typeface="Gabriola" pitchFamily="82" charset="0"/>
              </a:rPr>
              <a:t>Shunt fraction (Qs/</a:t>
            </a:r>
            <a:r>
              <a:rPr lang="en-US" dirty="0" err="1">
                <a:latin typeface="Gabriola" pitchFamily="82" charset="0"/>
              </a:rPr>
              <a:t>Qt</a:t>
            </a:r>
            <a:r>
              <a:rPr lang="en-US" dirty="0">
                <a:latin typeface="Gabriola" pitchFamily="82" charset="0"/>
              </a:rPr>
              <a:t>)                 </a:t>
            </a:r>
            <a:r>
              <a:rPr lang="en-US" dirty="0" smtClean="0">
                <a:latin typeface="Gabriola" pitchFamily="82" charset="0"/>
              </a:rPr>
              <a:t>	     </a:t>
            </a:r>
            <a:r>
              <a:rPr lang="en-US" dirty="0">
                <a:latin typeface="Gabriola" pitchFamily="82" charset="0"/>
              </a:rPr>
              <a:t>&gt;0.2</a:t>
            </a:r>
          </a:p>
          <a:p>
            <a:pPr>
              <a:lnSpc>
                <a:spcPct val="160000"/>
              </a:lnSpc>
            </a:pPr>
            <a:endParaRPr lang="en-US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6521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51054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latin typeface="Gabriola" pitchFamily="82" charset="0"/>
              </a:rPr>
              <a:t>Management is supportive care</a:t>
            </a:r>
            <a:r>
              <a:rPr lang="en-US" sz="2600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600" dirty="0" smtClean="0">
                <a:latin typeface="Gabriola" pitchFamily="82" charset="0"/>
              </a:rPr>
              <a:t> </a:t>
            </a:r>
            <a:r>
              <a:rPr lang="en-US" sz="2600" dirty="0">
                <a:latin typeface="Gabriola" pitchFamily="82" charset="0"/>
              </a:rPr>
              <a:t>This may include supplemental oxygen, </a:t>
            </a:r>
            <a:r>
              <a:rPr lang="en-US" sz="2600" dirty="0" smtClean="0">
                <a:latin typeface="Gabriola" pitchFamily="82" charset="0"/>
              </a:rPr>
              <a:t>tracheal intubation</a:t>
            </a:r>
            <a:r>
              <a:rPr lang="en-US" sz="2600" dirty="0">
                <a:latin typeface="Gabriola" pitchFamily="82" charset="0"/>
              </a:rPr>
              <a:t>, and mechanical ventilation as the situation </a:t>
            </a:r>
            <a:r>
              <a:rPr lang="en-US" sz="2600" dirty="0" smtClean="0">
                <a:latin typeface="Gabriola" pitchFamily="82" charset="0"/>
              </a:rPr>
              <a:t>dictates</a:t>
            </a:r>
          </a:p>
          <a:p>
            <a:pPr>
              <a:lnSpc>
                <a:spcPct val="150000"/>
              </a:lnSpc>
            </a:pPr>
            <a:r>
              <a:rPr lang="en-US" sz="2600" dirty="0" smtClean="0">
                <a:latin typeface="Gabriola" pitchFamily="82" charset="0"/>
              </a:rPr>
              <a:t>Secretions should </a:t>
            </a:r>
            <a:r>
              <a:rPr lang="en-US" sz="2600" dirty="0">
                <a:latin typeface="Gabriola" pitchFamily="82" charset="0"/>
              </a:rPr>
              <a:t>be managed </a:t>
            </a:r>
            <a:r>
              <a:rPr lang="en-US" sz="2600" dirty="0" smtClean="0">
                <a:latin typeface="Gabriola" pitchFamily="82" charset="0"/>
              </a:rPr>
              <a:t>aggressively</a:t>
            </a:r>
          </a:p>
          <a:p>
            <a:r>
              <a:rPr lang="en-US" sz="2600" dirty="0">
                <a:latin typeface="Gabriola" pitchFamily="82" charset="0"/>
              </a:rPr>
              <a:t>Principles of lung-protective management strategy in patients with ARDS include: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>
                <a:latin typeface="Gabriola" pitchFamily="82" charset="0"/>
              </a:rPr>
              <a:t>Tidal </a:t>
            </a:r>
            <a:r>
              <a:rPr lang="en-US" sz="2400" dirty="0">
                <a:latin typeface="Gabriola" pitchFamily="82" charset="0"/>
              </a:rPr>
              <a:t>volume 4–6 mL/kg predicted body weight</a:t>
            </a:r>
          </a:p>
          <a:p>
            <a:pPr lvl="1">
              <a:buFont typeface="Wingdings" pitchFamily="2" charset="2"/>
              <a:buChar char="ü"/>
            </a:pPr>
            <a:r>
              <a:rPr lang="pt-BR" sz="2400" dirty="0" smtClean="0">
                <a:latin typeface="Gabriola" pitchFamily="82" charset="0"/>
              </a:rPr>
              <a:t> </a:t>
            </a:r>
            <a:r>
              <a:rPr lang="pt-BR" sz="2400" dirty="0">
                <a:latin typeface="Gabriola" pitchFamily="82" charset="0"/>
              </a:rPr>
              <a:t>PEEP 5 cm H2O for PaO2 55–80 mmHg, SpO2 88–95%</a:t>
            </a:r>
          </a:p>
          <a:p>
            <a:pPr lvl="1">
              <a:buFont typeface="Wingdings" pitchFamily="2" charset="2"/>
              <a:buChar char="ü"/>
            </a:pPr>
            <a:r>
              <a:rPr lang="fr-FR" sz="2400" dirty="0" err="1" smtClean="0">
                <a:latin typeface="Gabriola" pitchFamily="82" charset="0"/>
              </a:rPr>
              <a:t>Airway</a:t>
            </a:r>
            <a:r>
              <a:rPr lang="fr-FR" sz="2400" dirty="0" smtClean="0">
                <a:latin typeface="Gabriola" pitchFamily="82" charset="0"/>
              </a:rPr>
              <a:t> </a:t>
            </a:r>
            <a:r>
              <a:rPr lang="fr-FR" sz="2400" dirty="0">
                <a:latin typeface="Gabriola" pitchFamily="82" charset="0"/>
              </a:rPr>
              <a:t>pressures: plateau pressure &lt;30 cm H2O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 smtClean="0">
                <a:latin typeface="Gabriola" pitchFamily="82" charset="0"/>
              </a:rPr>
              <a:t>Respiratory </a:t>
            </a:r>
            <a:r>
              <a:rPr lang="en-US" sz="2400" dirty="0">
                <a:latin typeface="Gabriola" pitchFamily="82" charset="0"/>
              </a:rPr>
              <a:t>rate: ideally 35/minute (for pH 7.30)</a:t>
            </a:r>
            <a:endParaRPr lang="en-US" sz="22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870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4900" dirty="0" smtClean="0">
                <a:latin typeface="Agency FB" pitchFamily="34" charset="0"/>
              </a:rPr>
              <a:t>Tracheobronchial </a:t>
            </a:r>
            <a:r>
              <a:rPr lang="en-US" sz="4900" dirty="0">
                <a:latin typeface="Agency FB" pitchFamily="34" charset="0"/>
              </a:rPr>
              <a:t>Injury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486400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 smtClean="0">
                <a:latin typeface="Gabriola" pitchFamily="82" charset="0"/>
              </a:rPr>
              <a:t>Tracheobronchial </a:t>
            </a:r>
            <a:r>
              <a:rPr lang="en-US" sz="3000" dirty="0">
                <a:latin typeface="Gabriola" pitchFamily="82" charset="0"/>
              </a:rPr>
              <a:t>injuries are usually due to penetrating trauma; however, </a:t>
            </a:r>
            <a:r>
              <a:rPr lang="en-US" sz="3000" dirty="0" smtClean="0">
                <a:latin typeface="Gabriola" pitchFamily="82" charset="0"/>
              </a:rPr>
              <a:t>high-energy blunt </a:t>
            </a:r>
            <a:r>
              <a:rPr lang="en-US" sz="3000" dirty="0">
                <a:latin typeface="Gabriola" pitchFamily="82" charset="0"/>
              </a:rPr>
              <a:t>trauma can also cause these injuries, usually within 2–3 cm of the carina. </a:t>
            </a:r>
            <a:endParaRPr lang="en-US" sz="3000" dirty="0" smtClean="0">
              <a:latin typeface="Gabriola" pitchFamily="82" charset="0"/>
            </a:endParaRPr>
          </a:p>
          <a:p>
            <a:r>
              <a:rPr lang="en-US" sz="3000" dirty="0" smtClean="0">
                <a:latin typeface="Gabriola" pitchFamily="82" charset="0"/>
              </a:rPr>
              <a:t>The right main </a:t>
            </a:r>
            <a:r>
              <a:rPr lang="en-US" sz="3000" dirty="0">
                <a:latin typeface="Gabriola" pitchFamily="82" charset="0"/>
              </a:rPr>
              <a:t>bronchus is involved most often, followed by the left main bronchus.</a:t>
            </a:r>
          </a:p>
          <a:p>
            <a:r>
              <a:rPr lang="en-US" dirty="0">
                <a:latin typeface="Gabriola" pitchFamily="82" charset="0"/>
              </a:rPr>
              <a:t>Symptoms and physical exam findings may include: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>
                <a:latin typeface="Gabriola" pitchFamily="82" charset="0"/>
              </a:rPr>
              <a:t> Subcutaneous crepitus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>
                <a:latin typeface="Gabriola" pitchFamily="82" charset="0"/>
              </a:rPr>
              <a:t> Hemoptysis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>
                <a:latin typeface="Gabriola" pitchFamily="82" charset="0"/>
              </a:rPr>
              <a:t> Dyspnea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>
                <a:latin typeface="Gabriola" pitchFamily="82" charset="0"/>
              </a:rPr>
              <a:t> Hoarseness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>
                <a:latin typeface="Gabriola" pitchFamily="82" charset="0"/>
              </a:rPr>
              <a:t> Persistent air leaks and failure of the lung to expand after chest tube placement</a:t>
            </a:r>
          </a:p>
        </p:txBody>
      </p:sp>
    </p:spTree>
    <p:extLst>
      <p:ext uri="{BB962C8B-B14F-4D97-AF65-F5344CB8AC3E}">
        <p14:creationId xmlns:p14="http://schemas.microsoft.com/office/powerpoint/2010/main" val="31689476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5635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534400" cy="54102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600" dirty="0" err="1">
                <a:latin typeface="Gabriola" pitchFamily="82" charset="0"/>
              </a:rPr>
              <a:t>Radiographically</a:t>
            </a:r>
            <a:r>
              <a:rPr lang="en-US" sz="2600" dirty="0">
                <a:latin typeface="Gabriola" pitchFamily="82" charset="0"/>
              </a:rPr>
              <a:t>, subcutaneous air noted on CXR may suggest tracheobronchial fistula. </a:t>
            </a:r>
            <a:endParaRPr lang="en-US" sz="26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US" sz="2600" dirty="0" smtClean="0">
                <a:latin typeface="Gabriola" pitchFamily="82" charset="0"/>
              </a:rPr>
              <a:t>CT</a:t>
            </a:r>
            <a:r>
              <a:rPr lang="en-US" sz="2600" dirty="0">
                <a:latin typeface="Gabriola" pitchFamily="82" charset="0"/>
              </a:rPr>
              <a:t> </a:t>
            </a:r>
            <a:r>
              <a:rPr lang="en-US" sz="2600" dirty="0" smtClean="0">
                <a:latin typeface="Gabriola" pitchFamily="82" charset="0"/>
              </a:rPr>
              <a:t>scan </a:t>
            </a:r>
            <a:r>
              <a:rPr lang="en-US" sz="2600" dirty="0">
                <a:latin typeface="Gabriola" pitchFamily="82" charset="0"/>
              </a:rPr>
              <a:t>may reveal the location of the actual tear. </a:t>
            </a:r>
            <a:endParaRPr lang="en-US" sz="26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US" sz="2600" dirty="0" smtClean="0">
                <a:latin typeface="Gabriola" pitchFamily="82" charset="0"/>
              </a:rPr>
              <a:t>Although </a:t>
            </a:r>
            <a:r>
              <a:rPr lang="en-US" sz="2600" dirty="0">
                <a:latin typeface="Gabriola" pitchFamily="82" charset="0"/>
              </a:rPr>
              <a:t>flexible bronchoscopy is the </a:t>
            </a:r>
            <a:r>
              <a:rPr lang="en-US" sz="2600" dirty="0" smtClean="0">
                <a:latin typeface="Gabriola" pitchFamily="82" charset="0"/>
              </a:rPr>
              <a:t>gold standard </a:t>
            </a:r>
            <a:r>
              <a:rPr lang="en-US" sz="2600" dirty="0">
                <a:latin typeface="Gabriola" pitchFamily="82" charset="0"/>
              </a:rPr>
              <a:t>for </a:t>
            </a:r>
            <a:r>
              <a:rPr lang="en-US" sz="2600" dirty="0" smtClean="0">
                <a:latin typeface="Gabriola" pitchFamily="82" charset="0"/>
              </a:rPr>
              <a:t>diagnosis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Gabriola" pitchFamily="82" charset="0"/>
              </a:rPr>
              <a:t>Definitive treatment of tracheobronchial injury is often surgical and may include </a:t>
            </a:r>
            <a:r>
              <a:rPr lang="en-US" sz="2600" dirty="0" smtClean="0">
                <a:latin typeface="Gabriola" pitchFamily="82" charset="0"/>
              </a:rPr>
              <a:t>airway reconstruction</a:t>
            </a:r>
            <a:r>
              <a:rPr lang="en-US" sz="2600" dirty="0">
                <a:latin typeface="Gabriola" pitchFamily="82" charset="0"/>
              </a:rPr>
              <a:t>, lobectomy, or </a:t>
            </a:r>
            <a:r>
              <a:rPr lang="en-US" sz="2600" dirty="0" err="1">
                <a:latin typeface="Gabriola" pitchFamily="82" charset="0"/>
              </a:rPr>
              <a:t>pneumonectomy</a:t>
            </a:r>
            <a:r>
              <a:rPr lang="en-US" sz="2600" dirty="0">
                <a:latin typeface="Gabriola" pitchFamily="82" charset="0"/>
              </a:rPr>
              <a:t>. </a:t>
            </a:r>
            <a:endParaRPr lang="en-US" sz="26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US" sz="2600" dirty="0" smtClean="0">
                <a:latin typeface="Gabriola" pitchFamily="82" charset="0"/>
              </a:rPr>
              <a:t>However</a:t>
            </a:r>
            <a:r>
              <a:rPr lang="en-US" sz="2600" dirty="0">
                <a:latin typeface="Gabriola" pitchFamily="82" charset="0"/>
              </a:rPr>
              <a:t>, initial treatment </a:t>
            </a:r>
            <a:r>
              <a:rPr lang="en-US" sz="2600" dirty="0" smtClean="0">
                <a:latin typeface="Gabriola" pitchFamily="82" charset="0"/>
              </a:rPr>
              <a:t>management options </a:t>
            </a:r>
            <a:r>
              <a:rPr lang="en-US" sz="2600" dirty="0">
                <a:latin typeface="Gabriola" pitchFamily="82" charset="0"/>
              </a:rPr>
              <a:t>include placing the tracheal tube distal to the air leak or if the leak is too far </a:t>
            </a:r>
            <a:r>
              <a:rPr lang="en-US" sz="2600" dirty="0" smtClean="0">
                <a:latin typeface="Gabriola" pitchFamily="82" charset="0"/>
              </a:rPr>
              <a:t>distal then </a:t>
            </a:r>
            <a:r>
              <a:rPr lang="en-US" sz="2600" dirty="0">
                <a:latin typeface="Gabriola" pitchFamily="82" charset="0"/>
              </a:rPr>
              <a:t>lung isolation with a double-lumen tube (DLT) or bronchial blocker</a:t>
            </a:r>
          </a:p>
        </p:txBody>
      </p:sp>
    </p:spTree>
    <p:extLst>
      <p:ext uri="{BB962C8B-B14F-4D97-AF65-F5344CB8AC3E}">
        <p14:creationId xmlns:p14="http://schemas.microsoft.com/office/powerpoint/2010/main" val="16270298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706090"/>
          </a:xfrm>
        </p:spPr>
        <p:txBody>
          <a:bodyPr>
            <a:normAutofit/>
          </a:bodyPr>
          <a:lstStyle/>
          <a:p>
            <a:r>
              <a:rPr lang="en-GB" sz="3600" b="1" dirty="0" smtClean="0">
                <a:latin typeface="Times" pitchFamily="18" charset="0"/>
              </a:rPr>
              <a:t>Anaesthesia management</a:t>
            </a:r>
            <a:endParaRPr lang="en-GB" sz="3600" b="1" dirty="0">
              <a:latin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435280" cy="49294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800" dirty="0">
                <a:latin typeface="Gabriola" pitchFamily="82" charset="0"/>
              </a:rPr>
              <a:t>P</a:t>
            </a:r>
            <a:r>
              <a:rPr lang="en-GB" sz="2800" dirty="0" smtClean="0">
                <a:latin typeface="Gabriola" pitchFamily="82" charset="0"/>
              </a:rPr>
              <a:t>atients </a:t>
            </a:r>
            <a:r>
              <a:rPr lang="en-GB" sz="2800" dirty="0">
                <a:latin typeface="Gabriola" pitchFamily="82" charset="0"/>
              </a:rPr>
              <a:t>with chest trauma requires careful consideration due to the potential for significant complications such as respiratory failure, </a:t>
            </a:r>
            <a:r>
              <a:rPr lang="en-GB" sz="2800" dirty="0" smtClean="0">
                <a:latin typeface="Gabriola" pitchFamily="82" charset="0"/>
              </a:rPr>
              <a:t>haemorrhage, </a:t>
            </a:r>
            <a:r>
              <a:rPr lang="en-GB" sz="2800" dirty="0">
                <a:latin typeface="Gabriola" pitchFamily="82" charset="0"/>
              </a:rPr>
              <a:t>and impaired cardiovascular function. </a:t>
            </a:r>
            <a:endParaRPr lang="en-GB" sz="28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The </a:t>
            </a:r>
            <a:r>
              <a:rPr lang="en-GB" sz="2800" dirty="0">
                <a:latin typeface="Gabriola" pitchFamily="82" charset="0"/>
              </a:rPr>
              <a:t>goal is to provide adequate </a:t>
            </a:r>
            <a:r>
              <a:rPr lang="en-GB" sz="2800" dirty="0" smtClean="0">
                <a:latin typeface="Gabriola" pitchFamily="82" charset="0"/>
              </a:rPr>
              <a:t>anaesthesia </a:t>
            </a:r>
            <a:r>
              <a:rPr lang="en-GB" sz="2800" dirty="0">
                <a:latin typeface="Gabriola" pitchFamily="82" charset="0"/>
              </a:rPr>
              <a:t>while minimizing further harm to the patient’s respiratory and hemodynamic status</a:t>
            </a:r>
            <a:r>
              <a:rPr lang="en-GB" sz="2800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 </a:t>
            </a:r>
            <a:r>
              <a:rPr lang="en-GB" sz="2800" dirty="0">
                <a:latin typeface="Gabriola" pitchFamily="82" charset="0"/>
              </a:rPr>
              <a:t>Here are the key considerations: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8029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435280" cy="57606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764704"/>
            <a:ext cx="8712968" cy="568863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GB" b="1" dirty="0" smtClean="0">
                <a:latin typeface="Gabriola" pitchFamily="82" charset="0"/>
              </a:rPr>
              <a:t>Airway Management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Determine </a:t>
            </a:r>
            <a:r>
              <a:rPr lang="en-GB" dirty="0">
                <a:latin typeface="Gabriola" pitchFamily="82" charset="0"/>
              </a:rPr>
              <a:t>the extent of trauma and any associated injuries to the airway, such as lacerations, contusions, or fractures. 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Ensure </a:t>
            </a:r>
            <a:r>
              <a:rPr lang="en-GB" dirty="0">
                <a:latin typeface="Gabriola" pitchFamily="82" charset="0"/>
              </a:rPr>
              <a:t>adequate </a:t>
            </a:r>
            <a:r>
              <a:rPr lang="en-GB" dirty="0" err="1">
                <a:latin typeface="Gabriola" pitchFamily="82" charset="0"/>
              </a:rPr>
              <a:t>preoxygenation</a:t>
            </a:r>
            <a:r>
              <a:rPr lang="en-GB" dirty="0">
                <a:latin typeface="Gabriola" pitchFamily="82" charset="0"/>
              </a:rPr>
              <a:t>, particularly if there are signs of respiratory distress or difficulty with ventilation</a:t>
            </a:r>
            <a:r>
              <a:rPr lang="en-GB" dirty="0" smtClean="0">
                <a:latin typeface="Gabriola" pitchFamily="82" charset="0"/>
              </a:rPr>
              <a:t>.</a:t>
            </a:r>
            <a:endParaRPr lang="en-GB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  </a:t>
            </a:r>
            <a:r>
              <a:rPr lang="en-GB" dirty="0" err="1" smtClean="0">
                <a:latin typeface="Gabriola" pitchFamily="82" charset="0"/>
              </a:rPr>
              <a:t>Fiberoptic</a:t>
            </a:r>
            <a:r>
              <a:rPr lang="en-GB" dirty="0" smtClean="0">
                <a:latin typeface="Gabriola" pitchFamily="82" charset="0"/>
              </a:rPr>
              <a:t> </a:t>
            </a:r>
            <a:r>
              <a:rPr lang="en-GB" dirty="0">
                <a:latin typeface="Gabriola" pitchFamily="82" charset="0"/>
              </a:rPr>
              <a:t>intubation may be needed in cases of difficult or potentially unstable airways.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Avoid </a:t>
            </a:r>
            <a:r>
              <a:rPr lang="en-GB" dirty="0">
                <a:latin typeface="Gabriola" pitchFamily="82" charset="0"/>
              </a:rPr>
              <a:t>overzealous ventilation: Hyperventilation can increase </a:t>
            </a:r>
            <a:r>
              <a:rPr lang="en-GB" dirty="0" err="1">
                <a:latin typeface="Gabriola" pitchFamily="82" charset="0"/>
              </a:rPr>
              <a:t>intrathoracic</a:t>
            </a:r>
            <a:r>
              <a:rPr lang="en-GB" dirty="0">
                <a:latin typeface="Gabriola" pitchFamily="82" charset="0"/>
              </a:rPr>
              <a:t> pressure, which may worsen a pneumothorax or interfere with venous return.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8201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435280" cy="43204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20688"/>
            <a:ext cx="8784976" cy="576064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Gabriola" pitchFamily="82" charset="0"/>
              </a:rPr>
              <a:t>2. </a:t>
            </a:r>
            <a:r>
              <a:rPr lang="en-GB" b="1" dirty="0">
                <a:latin typeface="Gabriola" pitchFamily="82" charset="0"/>
              </a:rPr>
              <a:t>Hemodynamic </a:t>
            </a:r>
            <a:r>
              <a:rPr lang="en-GB" b="1" dirty="0" smtClean="0">
                <a:latin typeface="Gabriola" pitchFamily="82" charset="0"/>
              </a:rPr>
              <a:t>Stability</a:t>
            </a:r>
          </a:p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Monitor </a:t>
            </a:r>
            <a:r>
              <a:rPr lang="en-GB" dirty="0">
                <a:latin typeface="Gabriola" pitchFamily="82" charset="0"/>
              </a:rPr>
              <a:t>for </a:t>
            </a:r>
            <a:r>
              <a:rPr lang="en-GB" dirty="0" err="1">
                <a:latin typeface="Gabriola" pitchFamily="82" charset="0"/>
              </a:rPr>
              <a:t>hemorrhage</a:t>
            </a:r>
            <a:r>
              <a:rPr lang="en-GB" dirty="0">
                <a:latin typeface="Gabriola" pitchFamily="82" charset="0"/>
              </a:rPr>
              <a:t>: Significant blood loss, either external or internal (e.g., </a:t>
            </a:r>
            <a:r>
              <a:rPr lang="en-GB" dirty="0" err="1">
                <a:latin typeface="Gabriola" pitchFamily="82" charset="0"/>
              </a:rPr>
              <a:t>hemothorax</a:t>
            </a:r>
            <a:r>
              <a:rPr lang="en-GB" dirty="0">
                <a:latin typeface="Gabriola" pitchFamily="82" charset="0"/>
              </a:rPr>
              <a:t>, cardiac injury), can occur with chest </a:t>
            </a:r>
            <a:r>
              <a:rPr lang="en-GB" dirty="0" smtClean="0">
                <a:latin typeface="Gabriola" pitchFamily="82" charset="0"/>
              </a:rPr>
              <a:t>trauma.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BP, HR, </a:t>
            </a:r>
            <a:r>
              <a:rPr lang="en-GB" dirty="0">
                <a:latin typeface="Gabriola" pitchFamily="82" charset="0"/>
              </a:rPr>
              <a:t>and </a:t>
            </a:r>
            <a:r>
              <a:rPr lang="en-GB" dirty="0" smtClean="0">
                <a:latin typeface="Gabriola" pitchFamily="82" charset="0"/>
              </a:rPr>
              <a:t>CVP should </a:t>
            </a:r>
            <a:r>
              <a:rPr lang="en-GB" dirty="0">
                <a:latin typeface="Gabriola" pitchFamily="82" charset="0"/>
              </a:rPr>
              <a:t>be closely monitored, and appropriate fluid resuscitation or blood transfusion should be prepared.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 </a:t>
            </a:r>
            <a:r>
              <a:rPr lang="en-GB" dirty="0" smtClean="0">
                <a:latin typeface="Gabriola" pitchFamily="82" charset="0"/>
              </a:rPr>
              <a:t>Hypovolemic </a:t>
            </a:r>
            <a:r>
              <a:rPr lang="en-GB" dirty="0">
                <a:latin typeface="Gabriola" pitchFamily="82" charset="0"/>
              </a:rPr>
              <a:t>shock: Be cautious with excessive fluid administration, as it can worsen pulmonary </a:t>
            </a:r>
            <a:r>
              <a:rPr lang="en-GB" dirty="0" err="1">
                <a:latin typeface="Gabriola" pitchFamily="82" charset="0"/>
              </a:rPr>
              <a:t>edema</a:t>
            </a:r>
            <a:r>
              <a:rPr lang="en-GB" dirty="0">
                <a:latin typeface="Gabriola" pitchFamily="82" charset="0"/>
              </a:rPr>
              <a:t> if there’s underlying chest injury like a contused or injured lung.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0345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435280" cy="50405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764704"/>
            <a:ext cx="8496944" cy="576064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Pain management: Control pain early to prevent respiratory compromise due to splinting. 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Epidural </a:t>
            </a:r>
            <a:r>
              <a:rPr lang="en-GB" dirty="0" err="1" smtClean="0">
                <a:latin typeface="Gabriola" pitchFamily="82" charset="0"/>
              </a:rPr>
              <a:t>anesthesia</a:t>
            </a:r>
            <a:r>
              <a:rPr lang="en-GB" dirty="0" smtClean="0">
                <a:latin typeface="Gabriola" pitchFamily="82" charset="0"/>
              </a:rPr>
              <a:t> or thoracic nerve blocks can provide excellent pain relief and reduce the need for systemic analgesics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800" dirty="0">
                <a:latin typeface="Gabriola" pitchFamily="82" charset="0"/>
              </a:rPr>
              <a:t>3. </a:t>
            </a:r>
            <a:r>
              <a:rPr lang="en-GB" sz="2800" b="1" dirty="0" err="1">
                <a:latin typeface="Gabriola" pitchFamily="82" charset="0"/>
              </a:rPr>
              <a:t>Ventilatory</a:t>
            </a:r>
            <a:r>
              <a:rPr lang="en-GB" sz="2800" b="1" dirty="0">
                <a:latin typeface="Gabriola" pitchFamily="82" charset="0"/>
              </a:rPr>
              <a:t> Management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Respiratory </a:t>
            </a:r>
            <a:r>
              <a:rPr lang="en-GB" dirty="0">
                <a:latin typeface="Gabriola" pitchFamily="82" charset="0"/>
              </a:rPr>
              <a:t>Support: Chest trauma often leads to impaired gas exchange due to conditions like pneumothorax, </a:t>
            </a:r>
            <a:r>
              <a:rPr lang="en-GB" dirty="0" err="1">
                <a:latin typeface="Gabriola" pitchFamily="82" charset="0"/>
              </a:rPr>
              <a:t>hemothorax</a:t>
            </a:r>
            <a:r>
              <a:rPr lang="en-GB" dirty="0">
                <a:latin typeface="Gabriola" pitchFamily="82" charset="0"/>
              </a:rPr>
              <a:t>, or pulmonary contusions.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GB" dirty="0" smtClean="0">
                <a:latin typeface="Gabriola" pitchFamily="82" charset="0"/>
              </a:rPr>
              <a:t>      </a:t>
            </a: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3350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445624" cy="648072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496944" cy="54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Pneumothorax</a:t>
            </a:r>
            <a:r>
              <a:rPr lang="en-GB" sz="2800" dirty="0" smtClean="0">
                <a:latin typeface="Gabriola" pitchFamily="82" charset="0"/>
              </a:rPr>
              <a:t>: Ensure prompt decompression if suspected, either by needle </a:t>
            </a:r>
            <a:r>
              <a:rPr lang="en-GB" sz="2800" dirty="0" err="1" smtClean="0">
                <a:latin typeface="Gabriola" pitchFamily="82" charset="0"/>
              </a:rPr>
              <a:t>thoracostomy</a:t>
            </a:r>
            <a:r>
              <a:rPr lang="en-GB" sz="2800" dirty="0" smtClean="0">
                <a:latin typeface="Gabriola" pitchFamily="82" charset="0"/>
              </a:rPr>
              <a:t> or chest tube placement.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  </a:t>
            </a:r>
            <a:r>
              <a:rPr lang="en-GB" b="1" dirty="0" smtClean="0">
                <a:latin typeface="Gabriola" pitchFamily="82" charset="0"/>
              </a:rPr>
              <a:t>Positive pressure ventilation</a:t>
            </a:r>
            <a:r>
              <a:rPr lang="en-GB" dirty="0" smtClean="0">
                <a:latin typeface="Gabriola" pitchFamily="82" charset="0"/>
              </a:rPr>
              <a:t>: Use cautiously if the patient has a pneumothorax or tension pneumothorax, as it can worsen the condition by increasing </a:t>
            </a:r>
            <a:r>
              <a:rPr lang="en-GB" dirty="0" err="1" smtClean="0">
                <a:latin typeface="Gabriola" pitchFamily="82" charset="0"/>
              </a:rPr>
              <a:t>intrathoracic</a:t>
            </a:r>
            <a:r>
              <a:rPr lang="en-GB" dirty="0" smtClean="0">
                <a:latin typeface="Gabriola" pitchFamily="82" charset="0"/>
              </a:rPr>
              <a:t> pressure.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   </a:t>
            </a:r>
            <a:r>
              <a:rPr lang="en-GB" b="1" dirty="0" smtClean="0">
                <a:latin typeface="Gabriola" pitchFamily="82" charset="0"/>
              </a:rPr>
              <a:t>Lung protective ventilation</a:t>
            </a:r>
            <a:r>
              <a:rPr lang="en-GB" dirty="0" smtClean="0">
                <a:latin typeface="Gabriola" pitchFamily="82" charset="0"/>
              </a:rPr>
              <a:t>: Lower tidal volumes (6–8 mL/kg) and higher respiratory rates may be necessary to minimize further lung injury in patients with pulmonary contusions or atelectasis.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7256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363272" cy="50405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6"/>
            <a:ext cx="8964488" cy="583264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GB" b="1" dirty="0">
                <a:latin typeface="Gabriola" pitchFamily="82" charset="0"/>
              </a:rPr>
              <a:t>4. </a:t>
            </a:r>
            <a:r>
              <a:rPr lang="en-GB" sz="3600" b="1" dirty="0" err="1">
                <a:latin typeface="Gabriola" pitchFamily="82" charset="0"/>
              </a:rPr>
              <a:t>Anesthetic</a:t>
            </a:r>
            <a:r>
              <a:rPr lang="en-GB" sz="3600" b="1" dirty="0">
                <a:latin typeface="Gabriola" pitchFamily="82" charset="0"/>
              </a:rPr>
              <a:t> </a:t>
            </a:r>
            <a:r>
              <a:rPr lang="en-GB" sz="3600" b="1" dirty="0" smtClean="0">
                <a:latin typeface="Gabriola" pitchFamily="82" charset="0"/>
              </a:rPr>
              <a:t>Technique</a:t>
            </a:r>
            <a:endParaRPr lang="en-GB" sz="3600" b="1" dirty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General anaesthesia: </a:t>
            </a:r>
            <a:r>
              <a:rPr lang="en-GB" dirty="0">
                <a:latin typeface="Gabriola" pitchFamily="82" charset="0"/>
              </a:rPr>
              <a:t>Most cases of chest trauma will require general </a:t>
            </a:r>
            <a:r>
              <a:rPr lang="en-GB" dirty="0" smtClean="0">
                <a:latin typeface="Gabriola" pitchFamily="82" charset="0"/>
              </a:rPr>
              <a:t>anaesthesia </a:t>
            </a:r>
            <a:r>
              <a:rPr lang="en-GB" dirty="0">
                <a:latin typeface="Gabriola" pitchFamily="82" charset="0"/>
              </a:rPr>
              <a:t>with endotracheal </a:t>
            </a:r>
            <a:r>
              <a:rPr lang="en-GB" dirty="0" smtClean="0">
                <a:latin typeface="Gabriola" pitchFamily="82" charset="0"/>
              </a:rPr>
              <a:t>intubation</a:t>
            </a:r>
            <a:endParaRPr lang="en-GB" dirty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Regional anaesthesia: </a:t>
            </a:r>
            <a:r>
              <a:rPr lang="en-GB" dirty="0">
                <a:latin typeface="Gabriola" pitchFamily="82" charset="0"/>
              </a:rPr>
              <a:t>Consider using thoracic epidural </a:t>
            </a:r>
            <a:r>
              <a:rPr lang="en-GB" dirty="0" smtClean="0">
                <a:latin typeface="Gabriola" pitchFamily="82" charset="0"/>
              </a:rPr>
              <a:t>anaesthesia </a:t>
            </a:r>
            <a:r>
              <a:rPr lang="en-GB" dirty="0">
                <a:latin typeface="Gabriola" pitchFamily="82" charset="0"/>
              </a:rPr>
              <a:t>or paravertebral blocks 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to </a:t>
            </a:r>
            <a:r>
              <a:rPr lang="en-GB" dirty="0">
                <a:latin typeface="Gabriola" pitchFamily="82" charset="0"/>
              </a:rPr>
              <a:t>provide analgesia, as this can reduce opioid consumption and improve respiratory function by allowing the patient to take deeper breaths and cough more effectively.</a:t>
            </a:r>
          </a:p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Sedation </a:t>
            </a:r>
            <a:r>
              <a:rPr lang="en-GB" dirty="0">
                <a:latin typeface="Gabriola" pitchFamily="82" charset="0"/>
              </a:rPr>
              <a:t>and Analgesia: Narcotics, like fentanyl or morphine, can be used but should be balanced with the risk of respiratory depression. </a:t>
            </a:r>
            <a:endParaRPr lang="en-GB" dirty="0" smtClean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Multimodal </a:t>
            </a:r>
            <a:r>
              <a:rPr lang="en-GB" dirty="0">
                <a:latin typeface="Gabriola" pitchFamily="82" charset="0"/>
              </a:rPr>
              <a:t>analgesia is ideal.</a:t>
            </a:r>
          </a:p>
          <a:p>
            <a:pPr>
              <a:lnSpc>
                <a:spcPct val="16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417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764704"/>
            <a:ext cx="8712968" cy="5688632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GB" b="1" dirty="0">
                <a:latin typeface="Gabriola" pitchFamily="82" charset="0"/>
              </a:rPr>
              <a:t>5. </a:t>
            </a:r>
            <a:r>
              <a:rPr lang="en-GB" b="1" dirty="0" smtClean="0">
                <a:latin typeface="Gabriola" pitchFamily="82" charset="0"/>
              </a:rPr>
              <a:t>Positioning</a:t>
            </a:r>
            <a:endParaRPr lang="en-GB" b="1" dirty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Lateral </a:t>
            </a:r>
            <a:r>
              <a:rPr lang="en-GB" dirty="0">
                <a:latin typeface="Gabriola" pitchFamily="82" charset="0"/>
              </a:rPr>
              <a:t>or semi-recumbent positioning may be necessary to avoid pressure on the injured lung or to facilitate drainage if a </a:t>
            </a:r>
            <a:r>
              <a:rPr lang="en-GB" dirty="0" err="1">
                <a:latin typeface="Gabriola" pitchFamily="82" charset="0"/>
              </a:rPr>
              <a:t>hemothorax</a:t>
            </a:r>
            <a:r>
              <a:rPr lang="en-GB" dirty="0">
                <a:latin typeface="Gabriola" pitchFamily="82" charset="0"/>
              </a:rPr>
              <a:t> is present.</a:t>
            </a:r>
          </a:p>
          <a:p>
            <a:pPr lvl="1">
              <a:lnSpc>
                <a:spcPct val="160000"/>
              </a:lnSpc>
            </a:pPr>
            <a:r>
              <a:rPr lang="en-GB" dirty="0">
                <a:latin typeface="Gabriola" pitchFamily="82" charset="0"/>
              </a:rPr>
              <a:t>    Avoid excessive head-down positioning during intubation or surgery, as this can increase intracranial pressure or worsen circulatory compromise in patients with significant blood loss.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GB" b="1" dirty="0" smtClean="0">
                <a:latin typeface="Gabriola" pitchFamily="82" charset="0"/>
              </a:rPr>
              <a:t>6. </a:t>
            </a:r>
            <a:r>
              <a:rPr lang="en-GB" b="1" dirty="0">
                <a:latin typeface="Gabriola" pitchFamily="82" charset="0"/>
              </a:rPr>
              <a:t>Postoperative Care</a:t>
            </a:r>
          </a:p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Pain </a:t>
            </a:r>
            <a:r>
              <a:rPr lang="en-GB" dirty="0">
                <a:latin typeface="Gabriola" pitchFamily="82" charset="0"/>
              </a:rPr>
              <a:t>management: Provide adequate postoperative pain relief, using regional blocks or systemic opioids, to reduce the risk of hypoventilation and atelectasis</a:t>
            </a:r>
          </a:p>
        </p:txBody>
      </p:sp>
    </p:spTree>
    <p:extLst>
      <p:ext uri="{BB962C8B-B14F-4D97-AF65-F5344CB8AC3E}">
        <p14:creationId xmlns:p14="http://schemas.microsoft.com/office/powerpoint/2010/main" val="6983294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Reference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480060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abriola" pitchFamily="82" charset="0"/>
              </a:rPr>
              <a:t>1.Paul G </a:t>
            </a:r>
            <a:r>
              <a:rPr lang="en-US" dirty="0" err="1">
                <a:latin typeface="Gabriola" pitchFamily="82" charset="0"/>
              </a:rPr>
              <a:t>Barash</a:t>
            </a:r>
            <a:r>
              <a:rPr lang="en-US" dirty="0">
                <a:latin typeface="Gabriola" pitchFamily="82" charset="0"/>
              </a:rPr>
              <a:t>: Handbook of Clinical Anesthesia (8th edition). Lippincott Williams &amp; Wilkins publications, Inc., 2016.</a:t>
            </a:r>
            <a:endParaRPr lang="en-US" dirty="0" smtClean="0">
              <a:effectLst/>
              <a:latin typeface="Gabriola" pitchFamily="8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abriola" pitchFamily="82" charset="0"/>
              </a:rPr>
              <a:t>2.Robert K </a:t>
            </a:r>
            <a:r>
              <a:rPr lang="en-US" dirty="0" err="1">
                <a:latin typeface="Gabriola" pitchFamily="82" charset="0"/>
              </a:rPr>
              <a:t>Stoelting</a:t>
            </a:r>
            <a:r>
              <a:rPr lang="en-US" dirty="0">
                <a:latin typeface="Gabriola" pitchFamily="82" charset="0"/>
              </a:rPr>
              <a:t>: </a:t>
            </a:r>
            <a:r>
              <a:rPr lang="en-US" dirty="0" err="1">
                <a:latin typeface="Gabriola" pitchFamily="82" charset="0"/>
              </a:rPr>
              <a:t>Stoelting’s</a:t>
            </a:r>
            <a:r>
              <a:rPr lang="en-US" dirty="0">
                <a:latin typeface="Gabriola" pitchFamily="82" charset="0"/>
              </a:rPr>
              <a:t> anesthesia and co-existing disease (5th edition). Churchill Livingstone, an Imprint of Elsevier, 2002.</a:t>
            </a:r>
            <a:endParaRPr lang="en-US" dirty="0" smtClean="0">
              <a:effectLst/>
              <a:latin typeface="Gabriola" pitchFamily="8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abriola" pitchFamily="82" charset="0"/>
              </a:rPr>
              <a:t>3.Alan R </a:t>
            </a:r>
            <a:r>
              <a:rPr lang="en-US" dirty="0" err="1">
                <a:latin typeface="Gabriola" pitchFamily="82" charset="0"/>
              </a:rPr>
              <a:t>Aitkenhead</a:t>
            </a:r>
            <a:r>
              <a:rPr lang="en-US" dirty="0">
                <a:latin typeface="Gabriola" pitchFamily="82" charset="0"/>
              </a:rPr>
              <a:t>: Textbook of </a:t>
            </a:r>
            <a:r>
              <a:rPr lang="en-US" dirty="0" err="1">
                <a:latin typeface="Gabriola" pitchFamily="82" charset="0"/>
              </a:rPr>
              <a:t>Anaesthesia</a:t>
            </a:r>
            <a:r>
              <a:rPr lang="en-US" dirty="0">
                <a:latin typeface="Gabriola" pitchFamily="82" charset="0"/>
              </a:rPr>
              <a:t> (6th edition). Churchill Livingstone publication, an Imprint of Elsevier, 2001.</a:t>
            </a:r>
            <a:endParaRPr lang="en-US" dirty="0" smtClean="0">
              <a:effectLst/>
              <a:latin typeface="Gabriola" pitchFamily="8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abriola" pitchFamily="82" charset="0"/>
              </a:rPr>
              <a:t>4.G. Edward Morgan: Clinical Anesthesiology (6th edition). McGraw-Hill Companies, Inc. 2006</a:t>
            </a:r>
            <a:endParaRPr lang="en-US" dirty="0" smtClean="0">
              <a:effectLst/>
              <a:latin typeface="Gabriola" pitchFamily="8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2C4C3-E164-49F8-B26D-ABF4373CE088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114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800" dirty="0" smtClean="0">
                <a:latin typeface="Elephant" pitchFamily="18" charset="0"/>
              </a:rPr>
              <a:t>Any questions </a:t>
            </a:r>
            <a:endParaRPr lang="en-GB" sz="4800" dirty="0">
              <a:latin typeface="Elephan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879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2827</Words>
  <Application>Microsoft Office PowerPoint</Application>
  <PresentationFormat>On-screen Show (4:3)</PresentationFormat>
  <Paragraphs>246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Anaesthesia consideration for chest trauma </vt:lpstr>
      <vt:lpstr>Introduction </vt:lpstr>
      <vt:lpstr> Types of Chest Trauma </vt:lpstr>
      <vt:lpstr>Cont..</vt:lpstr>
      <vt:lpstr>Cont..</vt:lpstr>
      <vt:lpstr> Causes of Mortality &amp; Early Management </vt:lpstr>
      <vt:lpstr>Cont..</vt:lpstr>
      <vt:lpstr>Cont..</vt:lpstr>
      <vt:lpstr>Cont..</vt:lpstr>
      <vt:lpstr>Cont..</vt:lpstr>
      <vt:lpstr>PowerPoint Presentation</vt:lpstr>
      <vt:lpstr> Management of Early Deaths </vt:lpstr>
      <vt:lpstr>Cont..</vt:lpstr>
      <vt:lpstr>Aortic Injury</vt:lpstr>
      <vt:lpstr>Etiology of Aortic Injury</vt:lpstr>
      <vt:lpstr> Mechanisms of Injury </vt:lpstr>
      <vt:lpstr> Pathophysiology </vt:lpstr>
      <vt:lpstr>Cont..</vt:lpstr>
      <vt:lpstr> Clinical Presentation </vt:lpstr>
      <vt:lpstr>Cont..</vt:lpstr>
      <vt:lpstr> Diagnosis of Aortic Injury </vt:lpstr>
      <vt:lpstr>Cont..</vt:lpstr>
      <vt:lpstr>Cont..</vt:lpstr>
      <vt:lpstr> Classification of Aortic Injury </vt:lpstr>
      <vt:lpstr> Treatment of Aortic Injury </vt:lpstr>
      <vt:lpstr>Cont..</vt:lpstr>
      <vt:lpstr>Cont..</vt:lpstr>
      <vt:lpstr> Prognosis and Outcomes </vt:lpstr>
      <vt:lpstr> Pulmonary Contusion </vt:lpstr>
      <vt:lpstr>Cont…</vt:lpstr>
      <vt:lpstr>PowerPoint Presentation</vt:lpstr>
      <vt:lpstr>Cont…</vt:lpstr>
      <vt:lpstr> Tracheobronchial Injury </vt:lpstr>
      <vt:lpstr>Cont…</vt:lpstr>
      <vt:lpstr>Anaesthesia management</vt:lpstr>
      <vt:lpstr>Cont..</vt:lpstr>
      <vt:lpstr>Cont..</vt:lpstr>
      <vt:lpstr>Cont..</vt:lpstr>
      <vt:lpstr>Cont..</vt:lpstr>
      <vt:lpstr>Cont..</vt:lpstr>
      <vt:lpstr>Cont..</vt:lpstr>
      <vt:lpstr>Reference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Afei</dc:creator>
  <cp:lastModifiedBy>Windows User</cp:lastModifiedBy>
  <cp:revision>18</cp:revision>
  <dcterms:created xsi:type="dcterms:W3CDTF">2024-11-18T04:52:32Z</dcterms:created>
  <dcterms:modified xsi:type="dcterms:W3CDTF">2024-11-21T07:44:16Z</dcterms:modified>
</cp:coreProperties>
</file>