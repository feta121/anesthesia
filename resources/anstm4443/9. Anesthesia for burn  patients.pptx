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0"/>
  </p:notesMasterIdLst>
  <p:sldIdLst>
    <p:sldId id="256" r:id="rId2"/>
    <p:sldId id="257" r:id="rId3"/>
    <p:sldId id="258" r:id="rId4"/>
    <p:sldId id="259" r:id="rId5"/>
    <p:sldId id="260" r:id="rId6"/>
    <p:sldId id="261" r:id="rId7"/>
    <p:sldId id="262" r:id="rId8"/>
    <p:sldId id="263" r:id="rId9"/>
    <p:sldId id="379" r:id="rId10"/>
    <p:sldId id="264" r:id="rId11"/>
    <p:sldId id="265" r:id="rId12"/>
    <p:sldId id="266" r:id="rId13"/>
    <p:sldId id="267" r:id="rId14"/>
    <p:sldId id="269" r:id="rId15"/>
    <p:sldId id="268" r:id="rId16"/>
    <p:sldId id="270" r:id="rId17"/>
    <p:sldId id="271" r:id="rId18"/>
    <p:sldId id="272" r:id="rId19"/>
    <p:sldId id="273" r:id="rId20"/>
    <p:sldId id="274" r:id="rId21"/>
    <p:sldId id="275" r:id="rId22"/>
    <p:sldId id="380" r:id="rId23"/>
    <p:sldId id="276" r:id="rId24"/>
    <p:sldId id="381" r:id="rId25"/>
    <p:sldId id="277" r:id="rId26"/>
    <p:sldId id="278" r:id="rId27"/>
    <p:sldId id="279" r:id="rId28"/>
    <p:sldId id="280" r:id="rId29"/>
    <p:sldId id="281" r:id="rId30"/>
    <p:sldId id="282" r:id="rId31"/>
    <p:sldId id="382" r:id="rId32"/>
    <p:sldId id="283" r:id="rId33"/>
    <p:sldId id="284" r:id="rId34"/>
    <p:sldId id="285" r:id="rId35"/>
    <p:sldId id="286" r:id="rId36"/>
    <p:sldId id="287" r:id="rId37"/>
    <p:sldId id="326" r:id="rId38"/>
    <p:sldId id="383" r:id="rId39"/>
    <p:sldId id="327" r:id="rId40"/>
    <p:sldId id="328" r:id="rId41"/>
    <p:sldId id="329" r:id="rId42"/>
    <p:sldId id="330" r:id="rId43"/>
    <p:sldId id="387" r:id="rId44"/>
    <p:sldId id="384" r:id="rId45"/>
    <p:sldId id="349" r:id="rId46"/>
    <p:sldId id="350" r:id="rId47"/>
    <p:sldId id="351" r:id="rId48"/>
    <p:sldId id="352" r:id="rId49"/>
    <p:sldId id="353" r:id="rId50"/>
    <p:sldId id="354" r:id="rId51"/>
    <p:sldId id="355" r:id="rId52"/>
    <p:sldId id="356" r:id="rId53"/>
    <p:sldId id="357" r:id="rId54"/>
    <p:sldId id="358" r:id="rId55"/>
    <p:sldId id="359" r:id="rId56"/>
    <p:sldId id="360" r:id="rId57"/>
    <p:sldId id="361" r:id="rId58"/>
    <p:sldId id="362" r:id="rId59"/>
    <p:sldId id="363" r:id="rId60"/>
    <p:sldId id="364" r:id="rId61"/>
    <p:sldId id="331" r:id="rId62"/>
    <p:sldId id="332" r:id="rId63"/>
    <p:sldId id="333" r:id="rId64"/>
    <p:sldId id="334" r:id="rId65"/>
    <p:sldId id="335" r:id="rId66"/>
    <p:sldId id="336" r:id="rId67"/>
    <p:sldId id="337" r:id="rId68"/>
    <p:sldId id="338" r:id="rId69"/>
    <p:sldId id="339" r:id="rId70"/>
    <p:sldId id="288" r:id="rId71"/>
    <p:sldId id="289" r:id="rId72"/>
    <p:sldId id="290" r:id="rId73"/>
    <p:sldId id="291" r:id="rId74"/>
    <p:sldId id="292" r:id="rId75"/>
    <p:sldId id="317" r:id="rId76"/>
    <p:sldId id="318" r:id="rId77"/>
    <p:sldId id="319" r:id="rId78"/>
    <p:sldId id="322" r:id="rId79"/>
    <p:sldId id="321" r:id="rId80"/>
    <p:sldId id="323" r:id="rId81"/>
    <p:sldId id="324" r:id="rId82"/>
    <p:sldId id="325" r:id="rId83"/>
    <p:sldId id="293" r:id="rId84"/>
    <p:sldId id="295" r:id="rId85"/>
    <p:sldId id="297" r:id="rId86"/>
    <p:sldId id="296" r:id="rId87"/>
    <p:sldId id="301" r:id="rId88"/>
    <p:sldId id="298" r:id="rId89"/>
    <p:sldId id="299" r:id="rId90"/>
    <p:sldId id="311" r:id="rId91"/>
    <p:sldId id="294" r:id="rId92"/>
    <p:sldId id="302" r:id="rId93"/>
    <p:sldId id="303" r:id="rId94"/>
    <p:sldId id="304" r:id="rId95"/>
    <p:sldId id="308" r:id="rId96"/>
    <p:sldId id="309" r:id="rId97"/>
    <p:sldId id="306" r:id="rId98"/>
    <p:sldId id="310" r:id="rId99"/>
    <p:sldId id="307" r:id="rId100"/>
    <p:sldId id="312" r:id="rId101"/>
    <p:sldId id="313" r:id="rId102"/>
    <p:sldId id="314" r:id="rId103"/>
    <p:sldId id="315" r:id="rId104"/>
    <p:sldId id="316" r:id="rId105"/>
    <p:sldId id="365" r:id="rId106"/>
    <p:sldId id="366" r:id="rId107"/>
    <p:sldId id="367" r:id="rId108"/>
    <p:sldId id="368" r:id="rId109"/>
    <p:sldId id="385" r:id="rId110"/>
    <p:sldId id="369" r:id="rId111"/>
    <p:sldId id="370" r:id="rId112"/>
    <p:sldId id="371" r:id="rId113"/>
    <p:sldId id="372" r:id="rId114"/>
    <p:sldId id="373" r:id="rId115"/>
    <p:sldId id="377" r:id="rId116"/>
    <p:sldId id="378" r:id="rId117"/>
    <p:sldId id="386" r:id="rId118"/>
    <p:sldId id="374" r:id="rId119"/>
    <p:sldId id="375" r:id="rId120"/>
    <p:sldId id="376" r:id="rId121"/>
    <p:sldId id="388" r:id="rId122"/>
    <p:sldId id="389" r:id="rId123"/>
    <p:sldId id="395" r:id="rId124"/>
    <p:sldId id="390" r:id="rId125"/>
    <p:sldId id="391" r:id="rId126"/>
    <p:sldId id="396" r:id="rId127"/>
    <p:sldId id="397" r:id="rId128"/>
    <p:sldId id="392" r:id="rId129"/>
    <p:sldId id="400" r:id="rId130"/>
    <p:sldId id="402" r:id="rId131"/>
    <p:sldId id="403" r:id="rId132"/>
    <p:sldId id="404" r:id="rId133"/>
    <p:sldId id="405" r:id="rId134"/>
    <p:sldId id="398" r:id="rId135"/>
    <p:sldId id="399" r:id="rId136"/>
    <p:sldId id="401" r:id="rId137"/>
    <p:sldId id="406" r:id="rId138"/>
    <p:sldId id="407" r:id="rId1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15F460-E091-49A4-8274-BDBF2394F01B}" type="datetimeFigureOut">
              <a:rPr lang="en-GB" smtClean="0"/>
              <a:t>27/11/2024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8F01C4-547E-4074-A1CE-76FB183F19DB}" type="slidenum">
              <a:rPr lang="en-GB" smtClean="0"/>
              <a:t>‹#›</a:t>
            </a:fld>
            <a:endParaRPr lang="en-GB"/>
          </a:p>
        </p:txBody>
      </p:sp>
    </p:spTree>
    <p:extLst>
      <p:ext uri="{BB962C8B-B14F-4D97-AF65-F5344CB8AC3E}">
        <p14:creationId xmlns:p14="http://schemas.microsoft.com/office/powerpoint/2010/main" val="634379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r>
              <a:rPr lang="en-US" smtClean="0"/>
              <a:t>3939</a:t>
            </a:r>
            <a:endParaRPr lang="en-GB"/>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GB"/>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68CA758-BC7F-4AFE-853F-5D1E39DDFDA0}"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r>
              <a:rPr lang="en-US" smtClean="0"/>
              <a:t>3939</a:t>
            </a:r>
            <a:endParaRPr lang="en-GB"/>
          </a:p>
        </p:txBody>
      </p:sp>
      <p:sp>
        <p:nvSpPr>
          <p:cNvPr id="9" name="Slide Number Placeholder 8"/>
          <p:cNvSpPr>
            <a:spLocks noGrp="1"/>
          </p:cNvSpPr>
          <p:nvPr>
            <p:ph type="sldNum" sz="quarter" idx="15"/>
          </p:nvPr>
        </p:nvSpPr>
        <p:spPr/>
        <p:txBody>
          <a:bodyPr rtlCol="0"/>
          <a:lstStyle/>
          <a:p>
            <a:fld id="{968CA758-BC7F-4AFE-853F-5D1E39DDFDA0}" type="slidenum">
              <a:rPr lang="en-GB" smtClean="0"/>
              <a:t>‹#›</a:t>
            </a:fld>
            <a:endParaRPr lang="en-GB"/>
          </a:p>
        </p:txBody>
      </p:sp>
      <p:sp>
        <p:nvSpPr>
          <p:cNvPr id="10" name="Footer Placeholder 9"/>
          <p:cNvSpPr>
            <a:spLocks noGrp="1"/>
          </p:cNvSpPr>
          <p:nvPr>
            <p:ph type="ftr" sz="quarter" idx="16"/>
          </p:nvPr>
        </p:nvSpPr>
        <p:spPr/>
        <p:txBody>
          <a:bodyPr rtlCol="0"/>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r>
              <a:rPr lang="en-US" smtClean="0"/>
              <a:t>3939</a:t>
            </a:r>
            <a:endParaRPr lang="en-GB"/>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GB"/>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68CA758-BC7F-4AFE-853F-5D1E39DDFDA0}" type="slidenum">
              <a:rPr lang="en-GB" smtClean="0"/>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r>
              <a:rPr lang="en-US" smtClean="0"/>
              <a:t>3939</a:t>
            </a:r>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68CA758-BC7F-4AFE-853F-5D1E39DDFDA0}" type="slidenum">
              <a:rPr lang="en-GB" smtClean="0"/>
              <a:t>‹#›</a:t>
            </a:fld>
            <a:endParaRPr lang="en-GB"/>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r>
              <a:rPr lang="en-US" smtClean="0"/>
              <a:t>3939</a:t>
            </a:r>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68CA758-BC7F-4AFE-853F-5D1E39DDFDA0}" type="slidenum">
              <a:rPr lang="en-GB" smtClean="0"/>
              <a:t>‹#›</a:t>
            </a:fld>
            <a:endParaRPr lang="en-GB"/>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r>
              <a:rPr lang="en-US" smtClean="0"/>
              <a:t>3939</a:t>
            </a:r>
            <a:endParaRPr lang="en-GB"/>
          </a:p>
        </p:txBody>
      </p:sp>
      <p:sp>
        <p:nvSpPr>
          <p:cNvPr id="7" name="Slide Number Placeholder 6"/>
          <p:cNvSpPr>
            <a:spLocks noGrp="1"/>
          </p:cNvSpPr>
          <p:nvPr>
            <p:ph type="sldNum" sz="quarter" idx="11"/>
          </p:nvPr>
        </p:nvSpPr>
        <p:spPr/>
        <p:txBody>
          <a:bodyPr rtlCol="0"/>
          <a:lstStyle/>
          <a:p>
            <a:fld id="{968CA758-BC7F-4AFE-853F-5D1E39DDFDA0}" type="slidenum">
              <a:rPr lang="en-GB" smtClean="0"/>
              <a:t>‹#›</a:t>
            </a:fld>
            <a:endParaRPr lang="en-GB"/>
          </a:p>
        </p:txBody>
      </p:sp>
      <p:sp>
        <p:nvSpPr>
          <p:cNvPr id="8" name="Footer Placeholder 7"/>
          <p:cNvSpPr>
            <a:spLocks noGrp="1"/>
          </p:cNvSpPr>
          <p:nvPr>
            <p:ph type="ftr" sz="quarter" idx="12"/>
          </p:nvPr>
        </p:nvSpPr>
        <p:spPr/>
        <p:txBody>
          <a:bodyPr rtlCol="0"/>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3939</a:t>
            </a:r>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68CA758-BC7F-4AFE-853F-5D1E39DDFDA0}"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r>
              <a:rPr lang="en-US" smtClean="0"/>
              <a:t>3939</a:t>
            </a:r>
            <a:endParaRPr lang="en-GB"/>
          </a:p>
        </p:txBody>
      </p:sp>
      <p:sp>
        <p:nvSpPr>
          <p:cNvPr id="22" name="Slide Number Placeholder 21"/>
          <p:cNvSpPr>
            <a:spLocks noGrp="1"/>
          </p:cNvSpPr>
          <p:nvPr>
            <p:ph type="sldNum" sz="quarter" idx="15"/>
          </p:nvPr>
        </p:nvSpPr>
        <p:spPr/>
        <p:txBody>
          <a:bodyPr rtlCol="0"/>
          <a:lstStyle/>
          <a:p>
            <a:fld id="{968CA758-BC7F-4AFE-853F-5D1E39DDFDA0}" type="slidenum">
              <a:rPr lang="en-GB" smtClean="0"/>
              <a:t>‹#›</a:t>
            </a:fld>
            <a:endParaRPr lang="en-GB"/>
          </a:p>
        </p:txBody>
      </p:sp>
      <p:sp>
        <p:nvSpPr>
          <p:cNvPr id="23" name="Footer Placeholder 22"/>
          <p:cNvSpPr>
            <a:spLocks noGrp="1"/>
          </p:cNvSpPr>
          <p:nvPr>
            <p:ph type="ftr" sz="quarter" idx="16"/>
          </p:nvPr>
        </p:nvSpPr>
        <p:spPr/>
        <p:txBody>
          <a:bodyPr rtlCol="0"/>
          <a:lstStyle/>
          <a:p>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r>
              <a:rPr lang="en-US" smtClean="0"/>
              <a:t>3939</a:t>
            </a:r>
            <a:endParaRPr lang="en-GB"/>
          </a:p>
        </p:txBody>
      </p:sp>
      <p:sp>
        <p:nvSpPr>
          <p:cNvPr id="18" name="Slide Number Placeholder 17"/>
          <p:cNvSpPr>
            <a:spLocks noGrp="1"/>
          </p:cNvSpPr>
          <p:nvPr>
            <p:ph type="sldNum" sz="quarter" idx="11"/>
          </p:nvPr>
        </p:nvSpPr>
        <p:spPr/>
        <p:txBody>
          <a:bodyPr rtlCol="0"/>
          <a:lstStyle/>
          <a:p>
            <a:fld id="{968CA758-BC7F-4AFE-853F-5D1E39DDFDA0}" type="slidenum">
              <a:rPr lang="en-GB" smtClean="0"/>
              <a:t>‹#›</a:t>
            </a:fld>
            <a:endParaRPr lang="en-GB"/>
          </a:p>
        </p:txBody>
      </p:sp>
      <p:sp>
        <p:nvSpPr>
          <p:cNvPr id="21" name="Footer Placeholder 20"/>
          <p:cNvSpPr>
            <a:spLocks noGrp="1"/>
          </p:cNvSpPr>
          <p:nvPr>
            <p:ph type="ftr" sz="quarter" idx="12"/>
          </p:nvPr>
        </p:nvSpPr>
        <p:spPr/>
        <p:txBody>
          <a:bodyPr rtlCol="0"/>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3939</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68CA758-BC7F-4AFE-853F-5D1E39DDFDA0}"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3939</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68CA758-BC7F-4AFE-853F-5D1E39DDFDA0}"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r>
              <a:rPr lang="en-US" smtClean="0"/>
              <a:t>3939</a:t>
            </a:r>
            <a:endParaRPr lang="en-GB"/>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GB"/>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68CA758-BC7F-4AFE-853F-5D1E39DDFDA0}"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2708920"/>
            <a:ext cx="7020272" cy="1656184"/>
          </a:xfrm>
        </p:spPr>
        <p:txBody>
          <a:bodyPr>
            <a:normAutofit fontScale="90000"/>
          </a:bodyPr>
          <a:lstStyle/>
          <a:p>
            <a:pPr>
              <a:lnSpc>
                <a:spcPct val="150000"/>
              </a:lnSpc>
            </a:pPr>
            <a:r>
              <a:rPr lang="en-US" sz="4000" dirty="0">
                <a:latin typeface="Arial Black" pitchFamily="34" charset="0"/>
                <a:ea typeface="Arial" panose="020B0604020202020204" pitchFamily="34" charset="0"/>
                <a:sym typeface="+mn-ea"/>
              </a:rPr>
              <a:t>Anesthesia for </a:t>
            </a:r>
            <a:r>
              <a:rPr lang="en-US" sz="4000" dirty="0" smtClean="0">
                <a:latin typeface="Arial Black" pitchFamily="34" charset="0"/>
                <a:ea typeface="Arial" panose="020B0604020202020204" pitchFamily="34" charset="0"/>
                <a:sym typeface="+mn-ea"/>
              </a:rPr>
              <a:t>burn  patients </a:t>
            </a:r>
            <a:endParaRPr lang="en-GB" sz="3600" dirty="0">
              <a:latin typeface="Arial Black" pitchFamily="34" charset="0"/>
            </a:endParaRPr>
          </a:p>
        </p:txBody>
      </p:sp>
      <p:sp>
        <p:nvSpPr>
          <p:cNvPr id="3" name="Subtitle 2"/>
          <p:cNvSpPr>
            <a:spLocks noGrp="1"/>
          </p:cNvSpPr>
          <p:nvPr>
            <p:ph type="subTitle" idx="1"/>
          </p:nvPr>
        </p:nvSpPr>
        <p:spPr/>
        <p:txBody>
          <a:bodyPr/>
          <a:lstStyle/>
          <a:p>
            <a:pPr>
              <a:lnSpc>
                <a:spcPct val="150000"/>
              </a:lnSpc>
            </a:pPr>
            <a:r>
              <a:rPr lang="en-GB" dirty="0" smtClean="0">
                <a:latin typeface="Times" pitchFamily="18" charset="0"/>
                <a:cs typeface="MV Boli" pitchFamily="2" charset="0"/>
              </a:rPr>
              <a:t>By </a:t>
            </a:r>
            <a:r>
              <a:rPr lang="en-GB" dirty="0" err="1" smtClean="0">
                <a:latin typeface="Times" pitchFamily="18" charset="0"/>
                <a:cs typeface="MV Boli" pitchFamily="2" charset="0"/>
              </a:rPr>
              <a:t>Wubayehu</a:t>
            </a:r>
            <a:r>
              <a:rPr lang="en-GB" dirty="0" smtClean="0">
                <a:latin typeface="Times" pitchFamily="18" charset="0"/>
                <a:cs typeface="MV Boli" pitchFamily="2" charset="0"/>
              </a:rPr>
              <a:t> </a:t>
            </a:r>
            <a:r>
              <a:rPr lang="en-GB" dirty="0" err="1" smtClean="0">
                <a:latin typeface="Times" pitchFamily="18" charset="0"/>
                <a:cs typeface="MV Boli" pitchFamily="2" charset="0"/>
              </a:rPr>
              <a:t>Amare</a:t>
            </a:r>
            <a:r>
              <a:rPr lang="en-GB" dirty="0" smtClean="0">
                <a:latin typeface="Times" pitchFamily="18" charset="0"/>
                <a:cs typeface="MV Boli" pitchFamily="2" charset="0"/>
              </a:rPr>
              <a:t> </a:t>
            </a:r>
            <a:r>
              <a:rPr lang="en-US" dirty="0">
                <a:latin typeface="Times" pitchFamily="18" charset="0"/>
                <a:ea typeface="Arial" panose="020B0604020202020204" pitchFamily="34" charset="0"/>
                <a:cs typeface="MV Boli" pitchFamily="2" charset="0"/>
                <a:sym typeface="+mn-ea"/>
              </a:rPr>
              <a:t>(MSc, lecturer Anesthesia department, CHS, AAU)</a:t>
            </a:r>
          </a:p>
          <a:p>
            <a:endParaRPr lang="en-GB" dirty="0"/>
          </a:p>
        </p:txBody>
      </p:sp>
    </p:spTree>
    <p:extLst>
      <p:ext uri="{BB962C8B-B14F-4D97-AF65-F5344CB8AC3E}">
        <p14:creationId xmlns:p14="http://schemas.microsoft.com/office/powerpoint/2010/main" val="2739536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778098"/>
          </a:xfrm>
        </p:spPr>
        <p:txBody>
          <a:bodyPr>
            <a:normAutofit/>
          </a:bodyPr>
          <a:lstStyle/>
          <a:p>
            <a:pPr algn="ctr"/>
            <a:r>
              <a:rPr lang="en-GB" sz="3200" b="1" dirty="0" smtClean="0">
                <a:solidFill>
                  <a:schemeClr val="tx1"/>
                </a:solidFill>
                <a:latin typeface="Times" pitchFamily="18" charset="0"/>
              </a:rPr>
              <a:t>outline</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251520" y="1052736"/>
            <a:ext cx="8892480" cy="5421216"/>
          </a:xfrm>
        </p:spPr>
        <p:txBody>
          <a:bodyPr>
            <a:normAutofit lnSpcReduction="10000"/>
          </a:bodyPr>
          <a:lstStyle/>
          <a:p>
            <a:pPr>
              <a:lnSpc>
                <a:spcPct val="150000"/>
              </a:lnSpc>
            </a:pPr>
            <a:r>
              <a:rPr lang="en-US" sz="2800" dirty="0">
                <a:latin typeface="Gabriola" pitchFamily="82" charset="0"/>
                <a:cs typeface="Times New Roman" panose="02020603050405020304" charset="0"/>
              </a:rPr>
              <a:t>Introduction </a:t>
            </a:r>
          </a:p>
          <a:p>
            <a:pPr>
              <a:lnSpc>
                <a:spcPct val="150000"/>
              </a:lnSpc>
            </a:pPr>
            <a:r>
              <a:rPr lang="en-US" sz="2800" dirty="0">
                <a:latin typeface="Gabriola" pitchFamily="82" charset="0"/>
                <a:cs typeface="Times New Roman" panose="02020603050405020304" charset="0"/>
              </a:rPr>
              <a:t>objectives </a:t>
            </a:r>
          </a:p>
          <a:p>
            <a:pPr>
              <a:lnSpc>
                <a:spcPct val="150000"/>
              </a:lnSpc>
            </a:pPr>
            <a:r>
              <a:rPr lang="en-US" sz="2800" dirty="0">
                <a:latin typeface="Gabriola" pitchFamily="82" charset="0"/>
                <a:cs typeface="Times New Roman" panose="02020603050405020304" charset="0"/>
              </a:rPr>
              <a:t>Overview of skin </a:t>
            </a:r>
            <a:r>
              <a:rPr lang="en-US" sz="2800" dirty="0" smtClean="0">
                <a:latin typeface="Gabriola" pitchFamily="82" charset="0"/>
                <a:cs typeface="Times New Roman" panose="02020603050405020304" charset="0"/>
              </a:rPr>
              <a:t>anatomy</a:t>
            </a:r>
          </a:p>
          <a:p>
            <a:pPr>
              <a:lnSpc>
                <a:spcPct val="150000"/>
              </a:lnSpc>
            </a:pPr>
            <a:r>
              <a:rPr lang="en-US" sz="2800" dirty="0" smtClean="0">
                <a:latin typeface="Gabriola" pitchFamily="82" charset="0"/>
                <a:cs typeface="Times New Roman" panose="02020603050405020304" charset="0"/>
              </a:rPr>
              <a:t>Epidemiology and etiology of burn </a:t>
            </a:r>
            <a:endParaRPr lang="en-US" sz="2800" dirty="0">
              <a:latin typeface="Gabriola" pitchFamily="82" charset="0"/>
              <a:cs typeface="Times New Roman" panose="02020603050405020304" charset="0"/>
            </a:endParaRPr>
          </a:p>
          <a:p>
            <a:pPr>
              <a:lnSpc>
                <a:spcPct val="150000"/>
              </a:lnSpc>
            </a:pPr>
            <a:r>
              <a:rPr lang="en-US" sz="2800" dirty="0">
                <a:latin typeface="Gabriola" pitchFamily="82" charset="0"/>
                <a:cs typeface="Times New Roman" panose="02020603050405020304" charset="0"/>
              </a:rPr>
              <a:t>Types of burn injury</a:t>
            </a:r>
          </a:p>
          <a:p>
            <a:pPr>
              <a:lnSpc>
                <a:spcPct val="150000"/>
              </a:lnSpc>
            </a:pPr>
            <a:r>
              <a:rPr lang="en-US" sz="2800" dirty="0">
                <a:latin typeface="Gabriola" pitchFamily="82" charset="0"/>
                <a:cs typeface="Times New Roman" panose="02020603050405020304" charset="0"/>
              </a:rPr>
              <a:t>Classification of Burn injury</a:t>
            </a:r>
          </a:p>
          <a:p>
            <a:pPr>
              <a:lnSpc>
                <a:spcPct val="150000"/>
              </a:lnSpc>
            </a:pPr>
            <a:r>
              <a:rPr lang="en-US" sz="2800" dirty="0">
                <a:latin typeface="Gabriola" pitchFamily="82" charset="0"/>
                <a:cs typeface="Times New Roman" panose="02020603050405020304" charset="0"/>
              </a:rPr>
              <a:t>Management of burn injury</a:t>
            </a:r>
          </a:p>
          <a:p>
            <a:pPr>
              <a:lnSpc>
                <a:spcPct val="150000"/>
              </a:lnSpc>
            </a:pPr>
            <a:r>
              <a:rPr lang="en-US" sz="2800" dirty="0">
                <a:latin typeface="Gabriola" pitchFamily="82" charset="0"/>
                <a:cs typeface="Times New Roman" panose="02020603050405020304" charset="0"/>
              </a:rPr>
              <a:t>complications after burn</a:t>
            </a:r>
          </a:p>
          <a:p>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a:t>
            </a:fld>
            <a:endParaRPr lang="en-GB"/>
          </a:p>
        </p:txBody>
      </p:sp>
    </p:spTree>
    <p:extLst>
      <p:ext uri="{BB962C8B-B14F-4D97-AF65-F5344CB8AC3E}">
        <p14:creationId xmlns:p14="http://schemas.microsoft.com/office/powerpoint/2010/main" val="63395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706090"/>
          </a:xfrm>
        </p:spPr>
        <p:txBody>
          <a:bodyPr>
            <a:normAutofit/>
          </a:bodyPr>
          <a:lstStyle/>
          <a:p>
            <a:r>
              <a:rPr lang="en-GB" sz="3200" b="1" dirty="0" smtClean="0">
                <a:solidFill>
                  <a:schemeClr val="tx1"/>
                </a:solidFill>
                <a:latin typeface="Times" pitchFamily="18" charset="0"/>
              </a:rPr>
              <a:t>Objectives </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323528" y="1412776"/>
            <a:ext cx="7601272" cy="5061176"/>
          </a:xfrm>
        </p:spPr>
        <p:txBody>
          <a:bodyPr>
            <a:normAutofit/>
          </a:bodyPr>
          <a:lstStyle/>
          <a:p>
            <a:pPr>
              <a:lnSpc>
                <a:spcPct val="150000"/>
              </a:lnSpc>
            </a:pPr>
            <a:r>
              <a:rPr lang="en-US" sz="2800" dirty="0">
                <a:latin typeface="Gabriola" pitchFamily="82" charset="0"/>
                <a:cs typeface="Times New Roman" panose="02020603050405020304" charset="0"/>
              </a:rPr>
              <a:t>At the end of this presentation (discussion), you will be able to:</a:t>
            </a:r>
          </a:p>
          <a:p>
            <a:pPr lvl="1">
              <a:lnSpc>
                <a:spcPct val="150000"/>
              </a:lnSpc>
              <a:buFont typeface="Wingdings" pitchFamily="2" charset="2"/>
              <a:buChar char="Ø"/>
            </a:pPr>
            <a:r>
              <a:rPr lang="en-US" sz="2800" dirty="0">
                <a:latin typeface="Gabriola" pitchFamily="82" charset="0"/>
                <a:cs typeface="Times New Roman" panose="02020603050405020304" charset="0"/>
              </a:rPr>
              <a:t>Define a burn injury</a:t>
            </a:r>
          </a:p>
          <a:p>
            <a:pPr lvl="1">
              <a:lnSpc>
                <a:spcPct val="150000"/>
              </a:lnSpc>
              <a:buFont typeface="Wingdings" pitchFamily="2" charset="2"/>
              <a:buChar char="Ø"/>
            </a:pPr>
            <a:r>
              <a:rPr lang="en-US" sz="2800" dirty="0" smtClean="0">
                <a:latin typeface="Gabriola" pitchFamily="82" charset="0"/>
                <a:cs typeface="Times New Roman" panose="02020603050405020304" charset="0"/>
              </a:rPr>
              <a:t>Explain </a:t>
            </a:r>
            <a:r>
              <a:rPr lang="en-US" sz="2800" dirty="0">
                <a:latin typeface="Gabriola" pitchFamily="82" charset="0"/>
                <a:cs typeface="Times New Roman" panose="02020603050405020304" charset="0"/>
              </a:rPr>
              <a:t>types of burn </a:t>
            </a:r>
          </a:p>
          <a:p>
            <a:pPr lvl="1">
              <a:lnSpc>
                <a:spcPct val="150000"/>
              </a:lnSpc>
              <a:buFont typeface="Wingdings" pitchFamily="2" charset="2"/>
              <a:buChar char="Ø"/>
            </a:pPr>
            <a:r>
              <a:rPr lang="en-US" sz="2800" dirty="0">
                <a:latin typeface="Gabriola" pitchFamily="82" charset="0"/>
                <a:cs typeface="Times New Roman" panose="02020603050405020304" charset="0"/>
              </a:rPr>
              <a:t>Describe classification of burn injury</a:t>
            </a:r>
          </a:p>
          <a:p>
            <a:pPr lvl="1">
              <a:lnSpc>
                <a:spcPct val="150000"/>
              </a:lnSpc>
              <a:buFont typeface="Wingdings" pitchFamily="2" charset="2"/>
              <a:buChar char="Ø"/>
            </a:pPr>
            <a:r>
              <a:rPr lang="en-US" sz="2800" dirty="0">
                <a:latin typeface="Gabriola" pitchFamily="82" charset="0"/>
                <a:cs typeface="Times New Roman" panose="02020603050405020304" charset="0"/>
              </a:rPr>
              <a:t>Elaborate on management of burn  injuries</a:t>
            </a:r>
          </a:p>
        </p:txBody>
      </p:sp>
      <p:sp>
        <p:nvSpPr>
          <p:cNvPr id="5" name="Slide Number Placeholder 4"/>
          <p:cNvSpPr>
            <a:spLocks noGrp="1"/>
          </p:cNvSpPr>
          <p:nvPr>
            <p:ph type="sldNum" sz="quarter" idx="15"/>
          </p:nvPr>
        </p:nvSpPr>
        <p:spPr/>
        <p:txBody>
          <a:bodyPr/>
          <a:lstStyle/>
          <a:p>
            <a:fld id="{968CA758-BC7F-4AFE-853F-5D1E39DDFDA0}" type="slidenum">
              <a:rPr lang="en-GB" smtClean="0"/>
              <a:t>3</a:t>
            </a:fld>
            <a:endParaRPr lang="en-GB"/>
          </a:p>
        </p:txBody>
      </p:sp>
    </p:spTree>
    <p:extLst>
      <p:ext uri="{BB962C8B-B14F-4D97-AF65-F5344CB8AC3E}">
        <p14:creationId xmlns:p14="http://schemas.microsoft.com/office/powerpoint/2010/main" val="3439921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634082"/>
          </a:xfrm>
        </p:spPr>
        <p:txBody>
          <a:bodyPr>
            <a:normAutofit/>
          </a:bodyPr>
          <a:lstStyle/>
          <a:p>
            <a:pPr algn="ctr"/>
            <a:r>
              <a:rPr lang="en-GB" sz="3200" b="1" dirty="0" smtClean="0">
                <a:latin typeface="Times" pitchFamily="18" charset="0"/>
              </a:rPr>
              <a:t>Introduction </a:t>
            </a:r>
            <a:endParaRPr lang="en-GB" sz="3200" b="1" dirty="0">
              <a:latin typeface="Times" pitchFamily="18" charset="0"/>
            </a:endParaRPr>
          </a:p>
        </p:txBody>
      </p:sp>
      <p:sp>
        <p:nvSpPr>
          <p:cNvPr id="3" name="Content Placeholder 2"/>
          <p:cNvSpPr>
            <a:spLocks noGrp="1"/>
          </p:cNvSpPr>
          <p:nvPr>
            <p:ph sz="quarter" idx="1"/>
          </p:nvPr>
        </p:nvSpPr>
        <p:spPr>
          <a:xfrm>
            <a:off x="107504" y="980728"/>
            <a:ext cx="8640960" cy="5688632"/>
          </a:xfrm>
        </p:spPr>
        <p:txBody>
          <a:bodyPr>
            <a:normAutofit/>
          </a:bodyPr>
          <a:lstStyle/>
          <a:p>
            <a:pPr>
              <a:lnSpc>
                <a:spcPct val="150000"/>
              </a:lnSpc>
              <a:buFont typeface="Wingdings" pitchFamily="2" charset="2"/>
              <a:buChar char="Ø"/>
            </a:pPr>
            <a:r>
              <a:rPr lang="en-GB" sz="2800" dirty="0">
                <a:latin typeface="Gabriola" pitchFamily="82" charset="0"/>
              </a:rPr>
              <a:t>Burn injury of the skin is characterized by the damage to skin tissue from hot (scald, </a:t>
            </a:r>
            <a:r>
              <a:rPr lang="en-GB" sz="2800" dirty="0" smtClean="0">
                <a:latin typeface="Gabriola" pitchFamily="82" charset="0"/>
              </a:rPr>
              <a:t>flash, flame</a:t>
            </a:r>
            <a:r>
              <a:rPr lang="en-GB" sz="2800" dirty="0">
                <a:latin typeface="Gabriola" pitchFamily="82" charset="0"/>
              </a:rPr>
              <a:t>, contact), cold, electrical, chemical, radiation, sunlight, or other sources. </a:t>
            </a:r>
            <a:endParaRPr lang="en-GB" sz="2800" dirty="0" smtClean="0">
              <a:latin typeface="Gabriola" pitchFamily="82" charset="0"/>
            </a:endParaRPr>
          </a:p>
          <a:p>
            <a:pPr>
              <a:lnSpc>
                <a:spcPct val="150000"/>
              </a:lnSpc>
              <a:buFont typeface="Wingdings" pitchFamily="2" charset="2"/>
              <a:buChar char="Ø"/>
            </a:pPr>
            <a:r>
              <a:rPr lang="en-GB" sz="2800" dirty="0" smtClean="0">
                <a:latin typeface="Gabriola" pitchFamily="82" charset="0"/>
              </a:rPr>
              <a:t>Burns constitute </a:t>
            </a:r>
            <a:r>
              <a:rPr lang="en-GB" sz="2800" dirty="0">
                <a:latin typeface="Gabriola" pitchFamily="82" charset="0"/>
              </a:rPr>
              <a:t>one of the most common causes of morbidity and mortality worldwide. </a:t>
            </a:r>
            <a:endParaRPr lang="en-GB" sz="2800" dirty="0" smtClean="0">
              <a:latin typeface="Gabriola" pitchFamily="82" charset="0"/>
            </a:endParaRPr>
          </a:p>
          <a:p>
            <a:pPr>
              <a:lnSpc>
                <a:spcPct val="150000"/>
              </a:lnSpc>
              <a:buFont typeface="Wingdings" pitchFamily="2" charset="2"/>
              <a:buChar char="Ø"/>
            </a:pPr>
            <a:r>
              <a:rPr lang="en-GB" sz="2800" dirty="0" smtClean="0">
                <a:latin typeface="Gabriola" pitchFamily="82" charset="0"/>
              </a:rPr>
              <a:t>They </a:t>
            </a:r>
            <a:r>
              <a:rPr lang="en-GB" sz="2800" dirty="0">
                <a:latin typeface="Gabriola" pitchFamily="82" charset="0"/>
              </a:rPr>
              <a:t>can </a:t>
            </a:r>
            <a:r>
              <a:rPr lang="en-GB" sz="2800" dirty="0" smtClean="0">
                <a:latin typeface="Gabriola" pitchFamily="82" charset="0"/>
              </a:rPr>
              <a:t>result in </a:t>
            </a:r>
            <a:r>
              <a:rPr lang="en-GB" sz="2800" dirty="0">
                <a:latin typeface="Gabriola" pitchFamily="82" charset="0"/>
              </a:rPr>
              <a:t>significant disfigurement, physical impairment, work loss, psychological problems, </a:t>
            </a:r>
            <a:r>
              <a:rPr lang="en-GB" sz="2800" dirty="0" err="1" smtClean="0">
                <a:latin typeface="Gabriola" pitchFamily="82" charset="0"/>
              </a:rPr>
              <a:t>andconsiderable</a:t>
            </a:r>
            <a:r>
              <a:rPr lang="en-GB" sz="2800" dirty="0" smtClean="0">
                <a:latin typeface="Gabriola" pitchFamily="82" charset="0"/>
              </a:rPr>
              <a:t> </a:t>
            </a:r>
            <a:r>
              <a:rPr lang="en-GB" sz="2800" dirty="0">
                <a:latin typeface="Gabriola" pitchFamily="82" charset="0"/>
              </a:rPr>
              <a:t>economic burden.</a:t>
            </a:r>
          </a:p>
        </p:txBody>
      </p:sp>
      <p:sp>
        <p:nvSpPr>
          <p:cNvPr id="5" name="Slide Number Placeholder 4"/>
          <p:cNvSpPr>
            <a:spLocks noGrp="1"/>
          </p:cNvSpPr>
          <p:nvPr>
            <p:ph type="sldNum" sz="quarter" idx="15"/>
          </p:nvPr>
        </p:nvSpPr>
        <p:spPr/>
        <p:txBody>
          <a:bodyPr/>
          <a:lstStyle/>
          <a:p>
            <a:fld id="{968CA758-BC7F-4AFE-853F-5D1E39DDFDA0}" type="slidenum">
              <a:rPr lang="en-GB" smtClean="0"/>
              <a:t>4</a:t>
            </a:fld>
            <a:endParaRPr lang="en-GB"/>
          </a:p>
        </p:txBody>
      </p:sp>
    </p:spTree>
    <p:extLst>
      <p:ext uri="{BB962C8B-B14F-4D97-AF65-F5344CB8AC3E}">
        <p14:creationId xmlns:p14="http://schemas.microsoft.com/office/powerpoint/2010/main" val="924013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529264" cy="49006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23528" y="764704"/>
            <a:ext cx="8280920" cy="5709248"/>
          </a:xfrm>
        </p:spPr>
        <p:txBody>
          <a:bodyPr>
            <a:normAutofit/>
          </a:bodyPr>
          <a:lstStyle/>
          <a:p>
            <a:pPr>
              <a:lnSpc>
                <a:spcPct val="150000"/>
              </a:lnSpc>
              <a:buFont typeface="Wingdings" pitchFamily="2" charset="2"/>
              <a:buChar char="Ø"/>
            </a:pPr>
            <a:r>
              <a:rPr lang="en-GB" sz="2800" dirty="0">
                <a:latin typeface="Gabriola" pitchFamily="82" charset="0"/>
              </a:rPr>
              <a:t>The severity of a burn injury largely depends on </a:t>
            </a:r>
            <a:r>
              <a:rPr lang="en-GB" sz="2800" dirty="0" smtClean="0">
                <a:latin typeface="Gabriola" pitchFamily="82" charset="0"/>
              </a:rPr>
              <a:t>:</a:t>
            </a:r>
          </a:p>
          <a:p>
            <a:pPr lvl="1">
              <a:lnSpc>
                <a:spcPct val="150000"/>
              </a:lnSpc>
              <a:buFont typeface="Wingdings" pitchFamily="2" charset="2"/>
              <a:buChar char="§"/>
            </a:pPr>
            <a:r>
              <a:rPr lang="en-GB" sz="2800" dirty="0" smtClean="0">
                <a:latin typeface="Gabriola" pitchFamily="82" charset="0"/>
              </a:rPr>
              <a:t>The temperature </a:t>
            </a:r>
          </a:p>
          <a:p>
            <a:pPr lvl="1">
              <a:lnSpc>
                <a:spcPct val="150000"/>
              </a:lnSpc>
              <a:buFont typeface="Wingdings" pitchFamily="2" charset="2"/>
              <a:buChar char="§"/>
            </a:pPr>
            <a:r>
              <a:rPr lang="en-GB" sz="2800" dirty="0" smtClean="0">
                <a:latin typeface="Gabriola" pitchFamily="82" charset="0"/>
              </a:rPr>
              <a:t>Duration of exposure to the harmful agent, as well as the area of the body affected.</a:t>
            </a:r>
          </a:p>
          <a:p>
            <a:pPr>
              <a:lnSpc>
                <a:spcPct val="150000"/>
              </a:lnSpc>
              <a:buFont typeface="Wingdings" pitchFamily="2" charset="2"/>
              <a:buChar char="Ø"/>
            </a:pPr>
            <a:r>
              <a:rPr lang="en-GB" sz="2800" dirty="0">
                <a:latin typeface="Gabriola" pitchFamily="82" charset="0"/>
                <a:cs typeface="Times New Roman" panose="02020603050405020304" charset="0"/>
              </a:rPr>
              <a:t>Burns causes significant injury at the local burn site as well as a systemic response throughout the body</a:t>
            </a:r>
          </a:p>
          <a:p>
            <a:pPr>
              <a:lnSpc>
                <a:spcPct val="150000"/>
              </a:lnSpc>
              <a:buFont typeface="Wingdings" pitchFamily="2" charset="2"/>
              <a:buChar char="Ø"/>
            </a:pPr>
            <a:endParaRPr lang="en-GB" sz="31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5</a:t>
            </a:fld>
            <a:endParaRPr lang="en-GB"/>
          </a:p>
        </p:txBody>
      </p:sp>
    </p:spTree>
    <p:extLst>
      <p:ext uri="{BB962C8B-B14F-4D97-AF65-F5344CB8AC3E}">
        <p14:creationId xmlns:p14="http://schemas.microsoft.com/office/powerpoint/2010/main" val="4107977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74638"/>
            <a:ext cx="7889304"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251520" y="764704"/>
            <a:ext cx="8064896" cy="5709248"/>
          </a:xfrm>
        </p:spPr>
        <p:txBody>
          <a:bodyPr>
            <a:normAutofit/>
          </a:bodyPr>
          <a:lstStyle/>
          <a:p>
            <a:pPr>
              <a:lnSpc>
                <a:spcPct val="150000"/>
              </a:lnSpc>
            </a:pPr>
            <a:r>
              <a:rPr lang="en-GB" sz="2800" dirty="0">
                <a:latin typeface="Gabriola" pitchFamily="82" charset="0"/>
              </a:rPr>
              <a:t>All patients who present with burn injuries should be thoroughly evaluated using the Advanced Trauma Life Support (ATLS) protocol</a:t>
            </a:r>
            <a:r>
              <a:rPr lang="en-GB" sz="2800" dirty="0" smtClean="0">
                <a:latin typeface="Gabriola" pitchFamily="82" charset="0"/>
              </a:rPr>
              <a:t>.</a:t>
            </a:r>
          </a:p>
          <a:p>
            <a:pPr>
              <a:lnSpc>
                <a:spcPct val="150000"/>
              </a:lnSpc>
            </a:pPr>
            <a:r>
              <a:rPr lang="en-GB" sz="2800" dirty="0" smtClean="0">
                <a:latin typeface="Gabriola" pitchFamily="82" charset="0"/>
              </a:rPr>
              <a:t> </a:t>
            </a:r>
            <a:r>
              <a:rPr lang="en-GB" sz="2800" dirty="0">
                <a:latin typeface="Gabriola" pitchFamily="82" charset="0"/>
              </a:rPr>
              <a:t>Approximately 10 % of patients with burn injuries also present with concomitant traumatic injuries, so a head to toe evaluation is imperative. </a:t>
            </a:r>
            <a:endParaRPr lang="en-GB" sz="2800" dirty="0" smtClean="0">
              <a:latin typeface="Gabriola" pitchFamily="82" charset="0"/>
            </a:endParaRPr>
          </a:p>
          <a:p>
            <a:pPr lvl="1">
              <a:lnSpc>
                <a:spcPct val="150000"/>
              </a:lnSpc>
            </a:pPr>
            <a:r>
              <a:rPr lang="en-GB" sz="2800" dirty="0" smtClean="0">
                <a:latin typeface="Gabriola" pitchFamily="82" charset="0"/>
              </a:rPr>
              <a:t>An </a:t>
            </a:r>
            <a:r>
              <a:rPr lang="en-GB" sz="2800" dirty="0">
                <a:latin typeface="Gabriola" pitchFamily="82" charset="0"/>
              </a:rPr>
              <a:t>ABCDEF primary survey should be performed: airway, breathing, circulation, disability, exposure, and fluid resuscitation</a:t>
            </a:r>
          </a:p>
        </p:txBody>
      </p:sp>
      <p:sp>
        <p:nvSpPr>
          <p:cNvPr id="5" name="Slide Number Placeholder 4"/>
          <p:cNvSpPr>
            <a:spLocks noGrp="1"/>
          </p:cNvSpPr>
          <p:nvPr>
            <p:ph type="sldNum" sz="quarter" idx="15"/>
          </p:nvPr>
        </p:nvSpPr>
        <p:spPr/>
        <p:txBody>
          <a:bodyPr/>
          <a:lstStyle/>
          <a:p>
            <a:fld id="{968CA758-BC7F-4AFE-853F-5D1E39DDFDA0}" type="slidenum">
              <a:rPr lang="en-GB" smtClean="0"/>
              <a:t>6</a:t>
            </a:fld>
            <a:endParaRPr lang="en-GB"/>
          </a:p>
        </p:txBody>
      </p:sp>
    </p:spTree>
    <p:extLst>
      <p:ext uri="{BB962C8B-B14F-4D97-AF65-F5344CB8AC3E}">
        <p14:creationId xmlns:p14="http://schemas.microsoft.com/office/powerpoint/2010/main" val="161665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992888" cy="936104"/>
          </a:xfrm>
        </p:spPr>
        <p:txBody>
          <a:bodyPr>
            <a:normAutofit fontScale="90000"/>
          </a:bodyPr>
          <a:lstStyle/>
          <a:p>
            <a:pPr algn="ctr"/>
            <a:r>
              <a:rPr lang="en-GB" b="1" dirty="0" smtClean="0"/>
              <a:t/>
            </a:r>
            <a:br>
              <a:rPr lang="en-GB" b="1" dirty="0" smtClean="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sz="3600" b="1" dirty="0" smtClean="0">
                <a:solidFill>
                  <a:schemeClr val="tx1"/>
                </a:solidFill>
                <a:latin typeface="Times" pitchFamily="18" charset="0"/>
              </a:rPr>
              <a:t>Anatomy </a:t>
            </a:r>
            <a:r>
              <a:rPr lang="en-GB" sz="3600" b="1" dirty="0">
                <a:solidFill>
                  <a:schemeClr val="tx1"/>
                </a:solidFill>
                <a:latin typeface="Times" pitchFamily="18" charset="0"/>
              </a:rPr>
              <a:t>of the </a:t>
            </a:r>
            <a:r>
              <a:rPr lang="en-GB" sz="3600" b="1" dirty="0" smtClean="0">
                <a:solidFill>
                  <a:schemeClr val="tx1"/>
                </a:solidFill>
                <a:latin typeface="Times" pitchFamily="18" charset="0"/>
              </a:rPr>
              <a:t>Skin</a:t>
            </a:r>
            <a:r>
              <a:rPr lang="en-GB" b="1" dirty="0"/>
              <a:t/>
            </a:r>
            <a:br>
              <a:rPr lang="en-GB" b="1" dirty="0"/>
            </a:br>
            <a:endParaRPr lang="en-GB" dirty="0"/>
          </a:p>
        </p:txBody>
      </p:sp>
      <p:sp>
        <p:nvSpPr>
          <p:cNvPr id="3" name="Content Placeholder 2"/>
          <p:cNvSpPr>
            <a:spLocks noGrp="1"/>
          </p:cNvSpPr>
          <p:nvPr>
            <p:ph sz="quarter" idx="1"/>
          </p:nvPr>
        </p:nvSpPr>
        <p:spPr>
          <a:xfrm>
            <a:off x="395536" y="1124744"/>
            <a:ext cx="7529264" cy="5349208"/>
          </a:xfrm>
        </p:spPr>
        <p:txBody>
          <a:bodyPr/>
          <a:lstStyle/>
          <a:p>
            <a:pPr>
              <a:lnSpc>
                <a:spcPct val="150000"/>
              </a:lnSpc>
            </a:pPr>
            <a:r>
              <a:rPr lang="en-GB" sz="2800" b="1" dirty="0" smtClean="0">
                <a:latin typeface="Gabriola" pitchFamily="82" charset="0"/>
              </a:rPr>
              <a:t>The </a:t>
            </a:r>
            <a:r>
              <a:rPr lang="en-GB" sz="2800" b="1" dirty="0">
                <a:latin typeface="Gabriola" pitchFamily="82" charset="0"/>
              </a:rPr>
              <a:t>skin</a:t>
            </a:r>
            <a:r>
              <a:rPr lang="en-GB" sz="2800" dirty="0">
                <a:latin typeface="Gabriola" pitchFamily="82" charset="0"/>
              </a:rPr>
              <a:t> is the body's largest organ, covering an average of 2 square meters in adults.</a:t>
            </a:r>
          </a:p>
          <a:p>
            <a:pPr>
              <a:lnSpc>
                <a:spcPct val="150000"/>
              </a:lnSpc>
            </a:pPr>
            <a:r>
              <a:rPr lang="en-GB" sz="2800" dirty="0">
                <a:latin typeface="Gabriola" pitchFamily="82" charset="0"/>
              </a:rPr>
              <a:t>It acts as a </a:t>
            </a:r>
            <a:r>
              <a:rPr lang="en-GB" sz="2800" b="1" dirty="0">
                <a:latin typeface="Gabriola" pitchFamily="82" charset="0"/>
              </a:rPr>
              <a:t>protective barrier</a:t>
            </a:r>
            <a:r>
              <a:rPr lang="en-GB" sz="2800" dirty="0">
                <a:latin typeface="Gabriola" pitchFamily="82" charset="0"/>
              </a:rPr>
              <a:t> against environmental threats like pathogens, chemicals, and physical injury.</a:t>
            </a:r>
          </a:p>
          <a:p>
            <a:pPr>
              <a:lnSpc>
                <a:spcPct val="150000"/>
              </a:lnSpc>
            </a:pPr>
            <a:r>
              <a:rPr lang="en-GB" sz="2800" dirty="0">
                <a:latin typeface="Gabriola" pitchFamily="82" charset="0"/>
              </a:rPr>
              <a:t>The skin also plays a critical role in </a:t>
            </a:r>
            <a:r>
              <a:rPr lang="en-GB" sz="2800" b="1" dirty="0">
                <a:latin typeface="Gabriola" pitchFamily="82" charset="0"/>
              </a:rPr>
              <a:t>thermoregulation</a:t>
            </a:r>
            <a:r>
              <a:rPr lang="en-GB" sz="2800" dirty="0">
                <a:latin typeface="Gabriola" pitchFamily="82" charset="0"/>
              </a:rPr>
              <a:t>, </a:t>
            </a:r>
            <a:r>
              <a:rPr lang="en-GB" sz="2800" b="1" dirty="0">
                <a:latin typeface="Gabriola" pitchFamily="82" charset="0"/>
              </a:rPr>
              <a:t>sensation</a:t>
            </a:r>
            <a:r>
              <a:rPr lang="en-GB" sz="2800" dirty="0">
                <a:latin typeface="Gabriola" pitchFamily="82" charset="0"/>
              </a:rPr>
              <a:t>, </a:t>
            </a:r>
            <a:r>
              <a:rPr lang="en-GB" sz="2800" b="1" dirty="0">
                <a:latin typeface="Gabriola" pitchFamily="82" charset="0"/>
              </a:rPr>
              <a:t>excretion</a:t>
            </a:r>
            <a:r>
              <a:rPr lang="en-GB" sz="2800" dirty="0">
                <a:latin typeface="Gabriola" pitchFamily="82" charset="0"/>
              </a:rPr>
              <a:t>, and </a:t>
            </a:r>
            <a:r>
              <a:rPr lang="en-GB" sz="2800" b="1" dirty="0">
                <a:latin typeface="Gabriola" pitchFamily="82" charset="0"/>
              </a:rPr>
              <a:t>vitamin D synthesis</a:t>
            </a:r>
            <a:r>
              <a:rPr lang="en-GB" sz="2800" dirty="0">
                <a:latin typeface="Gabriola" pitchFamily="82" charset="0"/>
              </a:rPr>
              <a:t>.</a:t>
            </a:r>
          </a:p>
          <a:p>
            <a:endParaRPr lang="en-GB" dirty="0"/>
          </a:p>
        </p:txBody>
      </p:sp>
      <p:sp>
        <p:nvSpPr>
          <p:cNvPr id="5" name="Slide Number Placeholder 4"/>
          <p:cNvSpPr>
            <a:spLocks noGrp="1"/>
          </p:cNvSpPr>
          <p:nvPr>
            <p:ph type="sldNum" sz="quarter" idx="15"/>
          </p:nvPr>
        </p:nvSpPr>
        <p:spPr/>
        <p:txBody>
          <a:bodyPr/>
          <a:lstStyle/>
          <a:p>
            <a:fld id="{968CA758-BC7F-4AFE-853F-5D1E39DDFDA0}" type="slidenum">
              <a:rPr lang="en-GB" smtClean="0"/>
              <a:t>7</a:t>
            </a:fld>
            <a:endParaRPr lang="en-GB"/>
          </a:p>
        </p:txBody>
      </p:sp>
    </p:spTree>
    <p:extLst>
      <p:ext uri="{BB962C8B-B14F-4D97-AF65-F5344CB8AC3E}">
        <p14:creationId xmlns:p14="http://schemas.microsoft.com/office/powerpoint/2010/main" val="3589822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850106"/>
          </a:xfrm>
        </p:spPr>
        <p:txBody>
          <a:bodyPr/>
          <a:lstStyle/>
          <a:p>
            <a:r>
              <a:rPr lang="en-GB" b="1" dirty="0">
                <a:solidFill>
                  <a:schemeClr val="tx1"/>
                </a:solidFill>
              </a:rPr>
              <a:t>Structure of the Skin</a:t>
            </a:r>
            <a:endParaRPr lang="en-GB" dirty="0">
              <a:solidFill>
                <a:schemeClr val="tx1"/>
              </a:solidFill>
            </a:endParaRPr>
          </a:p>
        </p:txBody>
      </p:sp>
      <p:sp>
        <p:nvSpPr>
          <p:cNvPr id="3" name="Content Placeholder 2"/>
          <p:cNvSpPr>
            <a:spLocks noGrp="1"/>
          </p:cNvSpPr>
          <p:nvPr>
            <p:ph sz="quarter" idx="1"/>
          </p:nvPr>
        </p:nvSpPr>
        <p:spPr>
          <a:xfrm>
            <a:off x="457200" y="1600200"/>
            <a:ext cx="7931224" cy="4873752"/>
          </a:xfrm>
        </p:spPr>
        <p:txBody>
          <a:bodyPr>
            <a:normAutofit/>
          </a:bodyPr>
          <a:lstStyle/>
          <a:p>
            <a:pPr marL="0" indent="0">
              <a:lnSpc>
                <a:spcPct val="150000"/>
              </a:lnSpc>
              <a:buNone/>
            </a:pPr>
            <a:r>
              <a:rPr lang="en-GB" sz="2800" dirty="0" smtClean="0">
                <a:latin typeface="Gabriola" pitchFamily="82" charset="0"/>
              </a:rPr>
              <a:t>The </a:t>
            </a:r>
            <a:r>
              <a:rPr lang="en-GB" sz="2800" dirty="0">
                <a:latin typeface="Gabriola" pitchFamily="82" charset="0"/>
              </a:rPr>
              <a:t>skin consists of </a:t>
            </a:r>
            <a:r>
              <a:rPr lang="en-GB" sz="2800" b="1" dirty="0">
                <a:latin typeface="Gabriola" pitchFamily="82" charset="0"/>
              </a:rPr>
              <a:t>three primary layers</a:t>
            </a:r>
            <a:r>
              <a:rPr lang="en-GB" sz="2800" dirty="0">
                <a:latin typeface="Gabriola" pitchFamily="82" charset="0"/>
              </a:rPr>
              <a:t>:</a:t>
            </a:r>
          </a:p>
          <a:p>
            <a:pPr lvl="1">
              <a:lnSpc>
                <a:spcPct val="150000"/>
              </a:lnSpc>
            </a:pPr>
            <a:r>
              <a:rPr lang="en-GB" sz="2500" b="1" dirty="0">
                <a:latin typeface="Gabriola" pitchFamily="82" charset="0"/>
              </a:rPr>
              <a:t>Epidermis (Outermost Layer)</a:t>
            </a:r>
            <a:endParaRPr lang="en-GB" sz="2500" dirty="0">
              <a:latin typeface="Gabriola" pitchFamily="82" charset="0"/>
            </a:endParaRPr>
          </a:p>
          <a:p>
            <a:pPr lvl="1">
              <a:lnSpc>
                <a:spcPct val="150000"/>
              </a:lnSpc>
            </a:pPr>
            <a:r>
              <a:rPr lang="en-GB" sz="2500" b="1" dirty="0">
                <a:latin typeface="Gabriola" pitchFamily="82" charset="0"/>
              </a:rPr>
              <a:t>Dermis (Middle Layer)</a:t>
            </a:r>
            <a:endParaRPr lang="en-GB" sz="2500" dirty="0">
              <a:latin typeface="Gabriola" pitchFamily="82" charset="0"/>
            </a:endParaRPr>
          </a:p>
          <a:p>
            <a:pPr lvl="1">
              <a:lnSpc>
                <a:spcPct val="150000"/>
              </a:lnSpc>
            </a:pPr>
            <a:r>
              <a:rPr lang="en-GB" sz="2500" b="1" dirty="0">
                <a:latin typeface="Gabriola" pitchFamily="82" charset="0"/>
              </a:rPr>
              <a:t>Hypodermis (Subcutaneous Layer)</a:t>
            </a:r>
            <a:endParaRPr lang="en-GB" sz="2500" dirty="0">
              <a:latin typeface="Gabriola" pitchFamily="82" charset="0"/>
            </a:endParaRPr>
          </a:p>
          <a:p>
            <a:pPr>
              <a:lnSpc>
                <a:spcPct val="150000"/>
              </a:lnSpc>
            </a:pPr>
            <a:r>
              <a:rPr lang="en-GB" sz="2800" dirty="0">
                <a:latin typeface="Gabriola" pitchFamily="82" charset="0"/>
              </a:rPr>
              <a:t>It is important to understand the layers of our skin so that we can understand how healing occurs differently based on depth</a:t>
            </a:r>
          </a:p>
        </p:txBody>
      </p:sp>
      <p:sp>
        <p:nvSpPr>
          <p:cNvPr id="5" name="Slide Number Placeholder 4"/>
          <p:cNvSpPr>
            <a:spLocks noGrp="1"/>
          </p:cNvSpPr>
          <p:nvPr>
            <p:ph type="sldNum" sz="quarter" idx="15"/>
          </p:nvPr>
        </p:nvSpPr>
        <p:spPr/>
        <p:txBody>
          <a:bodyPr/>
          <a:lstStyle/>
          <a:p>
            <a:fld id="{968CA758-BC7F-4AFE-853F-5D1E39DDFDA0}" type="slidenum">
              <a:rPr lang="en-GB" smtClean="0"/>
              <a:t>8</a:t>
            </a:fld>
            <a:endParaRPr lang="en-GB"/>
          </a:p>
        </p:txBody>
      </p:sp>
    </p:spTree>
    <p:extLst>
      <p:ext uri="{BB962C8B-B14F-4D97-AF65-F5344CB8AC3E}">
        <p14:creationId xmlns:p14="http://schemas.microsoft.com/office/powerpoint/2010/main" val="41100900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5"/>
          </p:nvPr>
        </p:nvSpPr>
        <p:spPr/>
        <p:txBody>
          <a:bodyPr/>
          <a:lstStyle/>
          <a:p>
            <a:fld id="{968CA758-BC7F-4AFE-853F-5D1E39DDFDA0}" type="slidenum">
              <a:rPr lang="en-GB" smtClean="0"/>
              <a:t>9</a:t>
            </a:fld>
            <a:endParaRPr lang="en-GB"/>
          </a:p>
        </p:txBody>
      </p:sp>
      <p:pic>
        <p:nvPicPr>
          <p:cNvPr id="5" name="Content Placeholder 4" descr="Anatomy of the Skin | Johns Hopkins Medicine"/>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11560" y="764704"/>
            <a:ext cx="7920880" cy="4752528"/>
          </a:xfrm>
          <a:prstGeom prst="rect">
            <a:avLst/>
          </a:prstGeom>
          <a:noFill/>
          <a:ln>
            <a:noFill/>
          </a:ln>
        </p:spPr>
      </p:pic>
    </p:spTree>
    <p:extLst>
      <p:ext uri="{BB962C8B-B14F-4D97-AF65-F5344CB8AC3E}">
        <p14:creationId xmlns:p14="http://schemas.microsoft.com/office/powerpoint/2010/main" val="3556680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706090"/>
          </a:xfrm>
        </p:spPr>
        <p:txBody>
          <a:bodyPr>
            <a:normAutofit fontScale="90000"/>
          </a:bodyPr>
          <a:lstStyle/>
          <a:p>
            <a:pPr algn="ctr"/>
            <a:r>
              <a:rPr lang="en-GB" b="1" dirty="0" smtClean="0"/>
              <a:t/>
            </a:r>
            <a:br>
              <a:rPr lang="en-GB" b="1" dirty="0" smtClean="0"/>
            </a:br>
            <a:r>
              <a:rPr lang="en-GB" sz="3600" b="1" dirty="0" smtClean="0">
                <a:solidFill>
                  <a:schemeClr val="tx1"/>
                </a:solidFill>
                <a:latin typeface="Times" pitchFamily="18" charset="0"/>
              </a:rPr>
              <a:t>The </a:t>
            </a:r>
            <a:r>
              <a:rPr lang="en-GB" sz="3600" b="1" dirty="0">
                <a:solidFill>
                  <a:schemeClr val="tx1"/>
                </a:solidFill>
                <a:latin typeface="Times" pitchFamily="18" charset="0"/>
              </a:rPr>
              <a:t>Epidermis</a:t>
            </a:r>
            <a:br>
              <a:rPr lang="en-GB" sz="3600" b="1" dirty="0">
                <a:solidFill>
                  <a:schemeClr val="tx1"/>
                </a:solidFill>
                <a:latin typeface="Times" pitchFamily="18" charset="0"/>
              </a:rPr>
            </a:br>
            <a:endParaRPr lang="en-GB" sz="3600" dirty="0">
              <a:solidFill>
                <a:schemeClr val="tx1"/>
              </a:solidFill>
              <a:latin typeface="Times" pitchFamily="18" charset="0"/>
            </a:endParaRPr>
          </a:p>
        </p:txBody>
      </p:sp>
      <p:sp>
        <p:nvSpPr>
          <p:cNvPr id="3" name="Content Placeholder 2"/>
          <p:cNvSpPr>
            <a:spLocks noGrp="1"/>
          </p:cNvSpPr>
          <p:nvPr>
            <p:ph sz="quarter" idx="1"/>
          </p:nvPr>
        </p:nvSpPr>
        <p:spPr>
          <a:xfrm>
            <a:off x="323528" y="764704"/>
            <a:ext cx="8496944" cy="5709248"/>
          </a:xfrm>
        </p:spPr>
        <p:txBody>
          <a:bodyPr>
            <a:noAutofit/>
          </a:bodyPr>
          <a:lstStyle/>
          <a:p>
            <a:pPr>
              <a:lnSpc>
                <a:spcPct val="150000"/>
              </a:lnSpc>
              <a:buFont typeface="Wingdings" pitchFamily="2" charset="2"/>
              <a:buChar char="Ø"/>
            </a:pPr>
            <a:r>
              <a:rPr lang="en-GB" sz="2800" dirty="0">
                <a:latin typeface="Gabriola" pitchFamily="82" charset="0"/>
              </a:rPr>
              <a:t>The epidermis is the outermost layer of skin, providing the first line of </a:t>
            </a:r>
            <a:r>
              <a:rPr lang="en-GB" sz="2800" dirty="0" err="1">
                <a:latin typeface="Gabriola" pitchFamily="82" charset="0"/>
              </a:rPr>
              <a:t>defense</a:t>
            </a:r>
            <a:r>
              <a:rPr lang="en-GB" sz="2800" dirty="0">
                <a:latin typeface="Gabriola" pitchFamily="82" charset="0"/>
              </a:rPr>
              <a:t> against external threats</a:t>
            </a:r>
            <a:r>
              <a:rPr lang="en-GB" sz="2800" dirty="0" smtClean="0">
                <a:latin typeface="Gabriola" pitchFamily="82" charset="0"/>
              </a:rPr>
              <a:t>.</a:t>
            </a:r>
          </a:p>
          <a:p>
            <a:pPr>
              <a:lnSpc>
                <a:spcPct val="150000"/>
              </a:lnSpc>
              <a:buFont typeface="Wingdings" pitchFamily="2" charset="2"/>
              <a:buChar char="Ø"/>
            </a:pPr>
            <a:r>
              <a:rPr lang="en-GB" sz="2800" dirty="0" smtClean="0">
                <a:latin typeface="Gabriola" pitchFamily="82" charset="0"/>
              </a:rPr>
              <a:t> </a:t>
            </a:r>
            <a:r>
              <a:rPr lang="en-GB" sz="2800" dirty="0">
                <a:latin typeface="Gabriola" pitchFamily="82" charset="0"/>
              </a:rPr>
              <a:t>It is thin (about 0.1 mm), but highly </a:t>
            </a:r>
            <a:r>
              <a:rPr lang="en-GB" sz="2800" dirty="0" smtClean="0">
                <a:latin typeface="Gabriola" pitchFamily="82" charset="0"/>
              </a:rPr>
              <a:t>protective</a:t>
            </a:r>
          </a:p>
          <a:p>
            <a:pPr>
              <a:lnSpc>
                <a:spcPct val="150000"/>
              </a:lnSpc>
              <a:buFont typeface="Wingdings" pitchFamily="2" charset="2"/>
              <a:buChar char="Ø"/>
            </a:pPr>
            <a:r>
              <a:rPr lang="en-GB" sz="2800" dirty="0" smtClean="0">
                <a:latin typeface="Gabriola" pitchFamily="82" charset="0"/>
              </a:rPr>
              <a:t>Its </a:t>
            </a:r>
            <a:r>
              <a:rPr lang="en-GB" sz="2800" dirty="0">
                <a:latin typeface="Gabriola" pitchFamily="82" charset="0"/>
              </a:rPr>
              <a:t>thickness varies based on location. </a:t>
            </a:r>
            <a:endParaRPr lang="en-GB" sz="2800" dirty="0" smtClean="0">
              <a:latin typeface="Gabriola" pitchFamily="82" charset="0"/>
            </a:endParaRPr>
          </a:p>
          <a:p>
            <a:pPr lvl="1">
              <a:lnSpc>
                <a:spcPct val="150000"/>
              </a:lnSpc>
              <a:buFont typeface="Wingdings" pitchFamily="2" charset="2"/>
              <a:buChar char="Ø"/>
            </a:pPr>
            <a:r>
              <a:rPr lang="en-GB" sz="2400" dirty="0" smtClean="0">
                <a:latin typeface="Gabriola" pitchFamily="82" charset="0"/>
              </a:rPr>
              <a:t>For </a:t>
            </a:r>
            <a:r>
              <a:rPr lang="en-GB" sz="2400" dirty="0">
                <a:latin typeface="Gabriola" pitchFamily="82" charset="0"/>
              </a:rPr>
              <a:t>example, it is thickest on the heels and thinnest on the eyelids</a:t>
            </a:r>
            <a:r>
              <a:rPr lang="en-GB" sz="2800" dirty="0">
                <a:latin typeface="Gabriola" pitchFamily="82" charset="0"/>
              </a:rPr>
              <a:t>. </a:t>
            </a:r>
            <a:endParaRPr lang="en-GB" sz="2800" dirty="0" smtClean="0">
              <a:latin typeface="Gabriola" pitchFamily="82" charset="0"/>
            </a:endParaRPr>
          </a:p>
          <a:p>
            <a:pPr>
              <a:lnSpc>
                <a:spcPct val="150000"/>
              </a:lnSpc>
              <a:buFont typeface="Wingdings" pitchFamily="2" charset="2"/>
              <a:buChar char="Ø"/>
            </a:pPr>
            <a:r>
              <a:rPr lang="en-GB" sz="2800" dirty="0" smtClean="0">
                <a:latin typeface="Gabriola" pitchFamily="82" charset="0"/>
              </a:rPr>
              <a:t>Areas </a:t>
            </a:r>
            <a:r>
              <a:rPr lang="en-GB" sz="2800" dirty="0">
                <a:latin typeface="Gabriola" pitchFamily="82" charset="0"/>
              </a:rPr>
              <a:t>that have increased use from friction or weight bearing can build up thicker layers of skin (e.g., where a pencil rubs your writing finger or shoe rubs against your foot).</a:t>
            </a:r>
          </a:p>
          <a:p>
            <a:endParaRPr lang="en-GB" sz="2800" dirty="0"/>
          </a:p>
        </p:txBody>
      </p:sp>
      <p:sp>
        <p:nvSpPr>
          <p:cNvPr id="5" name="Slide Number Placeholder 4"/>
          <p:cNvSpPr>
            <a:spLocks noGrp="1"/>
          </p:cNvSpPr>
          <p:nvPr>
            <p:ph type="sldNum" sz="quarter" idx="15"/>
          </p:nvPr>
        </p:nvSpPr>
        <p:spPr/>
        <p:txBody>
          <a:bodyPr/>
          <a:lstStyle/>
          <a:p>
            <a:fld id="{968CA758-BC7F-4AFE-853F-5D1E39DDFDA0}" type="slidenum">
              <a:rPr lang="en-GB" smtClean="0"/>
              <a:t>10</a:t>
            </a:fld>
            <a:endParaRPr lang="en-GB"/>
          </a:p>
        </p:txBody>
      </p:sp>
      <p:pic>
        <p:nvPicPr>
          <p:cNvPr id="6" name="Picture 5" descr="C:\Users\Afei\Desktop\anesthesia for trauma\trauma 2024\400px-Epidermis.jpeg"/>
          <p:cNvPicPr/>
          <p:nvPr/>
        </p:nvPicPr>
        <p:blipFill>
          <a:blip r:embed="rId2">
            <a:extLst>
              <a:ext uri="{28A0092B-C50C-407E-A947-70E740481C1C}">
                <a14:useLocalDpi xmlns:a14="http://schemas.microsoft.com/office/drawing/2010/main" val="0"/>
              </a:ext>
            </a:extLst>
          </a:blip>
          <a:srcRect/>
          <a:stretch>
            <a:fillRect/>
          </a:stretch>
        </p:blipFill>
        <p:spPr bwMode="auto">
          <a:xfrm>
            <a:off x="6086976" y="1668026"/>
            <a:ext cx="3024336" cy="2265030"/>
          </a:xfrm>
          <a:prstGeom prst="rect">
            <a:avLst/>
          </a:prstGeom>
          <a:noFill/>
          <a:ln>
            <a:noFill/>
          </a:ln>
        </p:spPr>
      </p:pic>
    </p:spTree>
    <p:extLst>
      <p:ext uri="{BB962C8B-B14F-4D97-AF65-F5344CB8AC3E}">
        <p14:creationId xmlns:p14="http://schemas.microsoft.com/office/powerpoint/2010/main" val="30090884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1805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836712"/>
            <a:ext cx="8640960" cy="5637240"/>
          </a:xfrm>
        </p:spPr>
        <p:txBody>
          <a:bodyPr>
            <a:normAutofit lnSpcReduction="10000"/>
          </a:bodyPr>
          <a:lstStyle/>
          <a:p>
            <a:pPr>
              <a:lnSpc>
                <a:spcPct val="150000"/>
              </a:lnSpc>
              <a:buFont typeface="Wingdings" pitchFamily="2" charset="2"/>
              <a:buChar char="Ø"/>
            </a:pPr>
            <a:r>
              <a:rPr lang="en-GB" sz="2800" dirty="0">
                <a:latin typeface="Gabriola" pitchFamily="82" charset="0"/>
              </a:rPr>
              <a:t>Composed of five </a:t>
            </a:r>
            <a:r>
              <a:rPr lang="en-GB" sz="2800" dirty="0" smtClean="0">
                <a:latin typeface="Gabriola" pitchFamily="82" charset="0"/>
              </a:rPr>
              <a:t>layers and  </a:t>
            </a:r>
            <a:r>
              <a:rPr lang="en-GB" sz="2800" dirty="0">
                <a:latin typeface="Gabriola" pitchFamily="82" charset="0"/>
              </a:rPr>
              <a:t>is </a:t>
            </a:r>
            <a:r>
              <a:rPr lang="en-GB" sz="2800" dirty="0" smtClean="0">
                <a:latin typeface="Gabriola" pitchFamily="82" charset="0"/>
              </a:rPr>
              <a:t>avascular</a:t>
            </a:r>
            <a:endParaRPr lang="en-GB" sz="2800" dirty="0" smtClean="0">
              <a:solidFill>
                <a:prstClr val="black"/>
              </a:solidFill>
              <a:latin typeface="Gabriola" pitchFamily="82" charset="0"/>
            </a:endParaRPr>
          </a:p>
          <a:p>
            <a:pPr lvl="0">
              <a:lnSpc>
                <a:spcPct val="150000"/>
              </a:lnSpc>
              <a:buClr>
                <a:srgbClr val="FE8637"/>
              </a:buClr>
              <a:buFont typeface="Wingdings" pitchFamily="2" charset="2"/>
              <a:buChar char="Ø"/>
            </a:pPr>
            <a:r>
              <a:rPr lang="en-GB" sz="2800" dirty="0" smtClean="0">
                <a:solidFill>
                  <a:prstClr val="black"/>
                </a:solidFill>
                <a:latin typeface="Gabriola" pitchFamily="82" charset="0"/>
              </a:rPr>
              <a:t>It </a:t>
            </a:r>
            <a:r>
              <a:rPr lang="en-GB" sz="2800" dirty="0">
                <a:solidFill>
                  <a:prstClr val="black"/>
                </a:solidFill>
                <a:latin typeface="Gabriola" pitchFamily="82" charset="0"/>
              </a:rPr>
              <a:t>has no nerves, but free nerve endings from the dermis do extend into the mid layers of the epidermis</a:t>
            </a:r>
            <a:r>
              <a:rPr lang="en-GB" sz="2800" dirty="0" smtClean="0">
                <a:solidFill>
                  <a:prstClr val="black"/>
                </a:solidFill>
                <a:latin typeface="Gabriola" pitchFamily="82" charset="0"/>
              </a:rPr>
              <a:t>.</a:t>
            </a:r>
          </a:p>
          <a:p>
            <a:r>
              <a:rPr lang="en-GB" sz="3200" b="1" dirty="0">
                <a:latin typeface="Gabriola" pitchFamily="82" charset="0"/>
              </a:rPr>
              <a:t>Composition</a:t>
            </a:r>
            <a:r>
              <a:rPr lang="en-GB" sz="3200" dirty="0">
                <a:latin typeface="Gabriola" pitchFamily="82" charset="0"/>
              </a:rPr>
              <a:t>:</a:t>
            </a:r>
          </a:p>
          <a:p>
            <a:pPr lvl="1">
              <a:lnSpc>
                <a:spcPct val="160000"/>
              </a:lnSpc>
            </a:pPr>
            <a:r>
              <a:rPr lang="en-GB" sz="2500" b="1" dirty="0">
                <a:latin typeface="Gabriola" pitchFamily="82" charset="0"/>
              </a:rPr>
              <a:t>Keratinocytes</a:t>
            </a:r>
            <a:r>
              <a:rPr lang="en-GB" sz="2500" dirty="0">
                <a:latin typeface="Gabriola" pitchFamily="82" charset="0"/>
              </a:rPr>
              <a:t>: The primary cells in the epidermis, producing </a:t>
            </a:r>
            <a:r>
              <a:rPr lang="en-GB" sz="2500" b="1" dirty="0">
                <a:latin typeface="Gabriola" pitchFamily="82" charset="0"/>
              </a:rPr>
              <a:t>keratin</a:t>
            </a:r>
            <a:r>
              <a:rPr lang="en-GB" sz="2500" dirty="0">
                <a:latin typeface="Gabriola" pitchFamily="82" charset="0"/>
              </a:rPr>
              <a:t>, a tough protein that helps waterproof the skin.</a:t>
            </a:r>
          </a:p>
          <a:p>
            <a:pPr lvl="1">
              <a:lnSpc>
                <a:spcPct val="160000"/>
              </a:lnSpc>
            </a:pPr>
            <a:r>
              <a:rPr lang="en-GB" sz="2500" b="1" dirty="0">
                <a:latin typeface="Gabriola" pitchFamily="82" charset="0"/>
              </a:rPr>
              <a:t>Melanocytes</a:t>
            </a:r>
            <a:r>
              <a:rPr lang="en-GB" sz="2500" dirty="0">
                <a:latin typeface="Gabriola" pitchFamily="82" charset="0"/>
              </a:rPr>
              <a:t>: Cells located in the </a:t>
            </a:r>
            <a:r>
              <a:rPr lang="en-GB" sz="2500" b="1" dirty="0">
                <a:latin typeface="Gabriola" pitchFamily="82" charset="0"/>
              </a:rPr>
              <a:t>basal layer</a:t>
            </a:r>
            <a:r>
              <a:rPr lang="en-GB" sz="2500" dirty="0">
                <a:latin typeface="Gabriola" pitchFamily="82" charset="0"/>
              </a:rPr>
              <a:t> of the epidermis that produce </a:t>
            </a:r>
            <a:r>
              <a:rPr lang="en-GB" sz="2500" b="1" dirty="0">
                <a:latin typeface="Gabriola" pitchFamily="82" charset="0"/>
              </a:rPr>
              <a:t>melanin</a:t>
            </a:r>
            <a:r>
              <a:rPr lang="en-GB" sz="2500" dirty="0">
                <a:latin typeface="Gabriola" pitchFamily="82" charset="0"/>
              </a:rPr>
              <a:t>, the pigment responsible for skin </a:t>
            </a:r>
            <a:r>
              <a:rPr lang="en-GB" sz="2500" dirty="0" err="1">
                <a:latin typeface="Gabriola" pitchFamily="82" charset="0"/>
              </a:rPr>
              <a:t>color</a:t>
            </a:r>
            <a:r>
              <a:rPr lang="en-GB" sz="2500" dirty="0">
                <a:latin typeface="Gabriola" pitchFamily="82" charset="0"/>
              </a:rPr>
              <a:t> and protection against UV radiation.</a:t>
            </a:r>
          </a:p>
          <a:p>
            <a:pPr lvl="0">
              <a:lnSpc>
                <a:spcPct val="150000"/>
              </a:lnSpc>
              <a:buClr>
                <a:srgbClr val="FE8637"/>
              </a:buClr>
              <a:buFont typeface="Wingdings" pitchFamily="2" charset="2"/>
              <a:buChar char="Ø"/>
            </a:pPr>
            <a:endParaRPr lang="en-GB" sz="2800" dirty="0">
              <a:solidFill>
                <a:prstClr val="black"/>
              </a:solidFill>
              <a:latin typeface="Gabriola" pitchFamily="82" charset="0"/>
            </a:endParaRPr>
          </a:p>
          <a:p>
            <a:endParaRPr lang="en-GB" dirty="0"/>
          </a:p>
        </p:txBody>
      </p:sp>
      <p:sp>
        <p:nvSpPr>
          <p:cNvPr id="5" name="Slide Number Placeholder 4"/>
          <p:cNvSpPr>
            <a:spLocks noGrp="1"/>
          </p:cNvSpPr>
          <p:nvPr>
            <p:ph type="sldNum" sz="quarter" idx="15"/>
          </p:nvPr>
        </p:nvSpPr>
        <p:spPr/>
        <p:txBody>
          <a:bodyPr/>
          <a:lstStyle/>
          <a:p>
            <a:fld id="{968CA758-BC7F-4AFE-853F-5D1E39DDFDA0}" type="slidenum">
              <a:rPr lang="en-GB" smtClean="0"/>
              <a:t>11</a:t>
            </a:fld>
            <a:endParaRPr lang="en-GB"/>
          </a:p>
        </p:txBody>
      </p:sp>
    </p:spTree>
    <p:extLst>
      <p:ext uri="{BB962C8B-B14F-4D97-AF65-F5344CB8AC3E}">
        <p14:creationId xmlns:p14="http://schemas.microsoft.com/office/powerpoint/2010/main" val="5516223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74638"/>
            <a:ext cx="7889304" cy="634082"/>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251520" y="692696"/>
            <a:ext cx="8208912" cy="5781256"/>
          </a:xfrm>
        </p:spPr>
        <p:txBody>
          <a:bodyPr>
            <a:normAutofit/>
          </a:bodyPr>
          <a:lstStyle/>
          <a:p>
            <a:pPr lvl="1">
              <a:lnSpc>
                <a:spcPct val="160000"/>
              </a:lnSpc>
            </a:pPr>
            <a:r>
              <a:rPr lang="en-GB" sz="2500" b="1" dirty="0">
                <a:latin typeface="Gabriola" pitchFamily="82" charset="0"/>
              </a:rPr>
              <a:t>Langerhans cells</a:t>
            </a:r>
            <a:r>
              <a:rPr lang="en-GB" sz="2500" dirty="0">
                <a:latin typeface="Gabriola" pitchFamily="82" charset="0"/>
              </a:rPr>
              <a:t>: Part of the immune system, these cells help protect against pathogens.</a:t>
            </a:r>
          </a:p>
          <a:p>
            <a:pPr lvl="1">
              <a:lnSpc>
                <a:spcPct val="160000"/>
              </a:lnSpc>
            </a:pPr>
            <a:r>
              <a:rPr lang="en-GB" sz="2500" b="1" dirty="0">
                <a:latin typeface="Gabriola" pitchFamily="82" charset="0"/>
              </a:rPr>
              <a:t>Merkel cells</a:t>
            </a:r>
            <a:r>
              <a:rPr lang="en-GB" sz="2500" dirty="0">
                <a:latin typeface="Gabriola" pitchFamily="82" charset="0"/>
              </a:rPr>
              <a:t>: Sensory cells that help detect light touch and pressure</a:t>
            </a:r>
            <a:r>
              <a:rPr lang="en-GB" sz="2500" dirty="0" smtClean="0"/>
              <a:t>.</a:t>
            </a:r>
            <a:endParaRPr lang="en-GB" sz="2800" b="1" dirty="0" smtClean="0">
              <a:latin typeface="Gabriola" pitchFamily="82" charset="0"/>
            </a:endParaRPr>
          </a:p>
          <a:p>
            <a:pPr>
              <a:lnSpc>
                <a:spcPct val="150000"/>
              </a:lnSpc>
            </a:pPr>
            <a:r>
              <a:rPr lang="en-GB" sz="3200" b="1" dirty="0" smtClean="0">
                <a:latin typeface="Gabriola" pitchFamily="82" charset="0"/>
              </a:rPr>
              <a:t>Functions</a:t>
            </a:r>
            <a:r>
              <a:rPr lang="en-GB" sz="3200" dirty="0">
                <a:latin typeface="Gabriola" pitchFamily="82" charset="0"/>
              </a:rPr>
              <a:t>:</a:t>
            </a:r>
          </a:p>
          <a:p>
            <a:pPr lvl="1">
              <a:lnSpc>
                <a:spcPct val="150000"/>
              </a:lnSpc>
            </a:pPr>
            <a:r>
              <a:rPr lang="en-GB" sz="2800" dirty="0">
                <a:latin typeface="Gabriola" pitchFamily="82" charset="0"/>
              </a:rPr>
              <a:t>Protects against mechanical injury, pathogens, and water loss.</a:t>
            </a:r>
          </a:p>
          <a:p>
            <a:pPr lvl="1">
              <a:lnSpc>
                <a:spcPct val="150000"/>
              </a:lnSpc>
            </a:pPr>
            <a:r>
              <a:rPr lang="en-GB" sz="2800" dirty="0">
                <a:latin typeface="Gabriola" pitchFamily="82" charset="0"/>
              </a:rPr>
              <a:t>Provides skin pigmentation and UV protection.</a:t>
            </a:r>
          </a:p>
          <a:p>
            <a:pPr lvl="1">
              <a:lnSpc>
                <a:spcPct val="150000"/>
              </a:lnSpc>
            </a:pPr>
            <a:r>
              <a:rPr lang="en-GB" sz="2800" dirty="0">
                <a:latin typeface="Gabriola" pitchFamily="82" charset="0"/>
              </a:rPr>
              <a:t>Regulates immune responses through Langerhans cells.</a:t>
            </a:r>
          </a:p>
          <a:p>
            <a:pPr lvl="1">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12</a:t>
            </a:fld>
            <a:endParaRPr lang="en-GB"/>
          </a:p>
        </p:txBody>
      </p:sp>
    </p:spTree>
    <p:extLst>
      <p:ext uri="{BB962C8B-B14F-4D97-AF65-F5344CB8AC3E}">
        <p14:creationId xmlns:p14="http://schemas.microsoft.com/office/powerpoint/2010/main" val="24482101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280920" cy="634082"/>
          </a:xfrm>
        </p:spPr>
        <p:txBody>
          <a:bodyPr>
            <a:normAutofit fontScale="90000"/>
          </a:bodyPr>
          <a:lstStyle/>
          <a:p>
            <a:pPr algn="ctr"/>
            <a:r>
              <a:rPr lang="en-GB" b="1" dirty="0">
                <a:solidFill>
                  <a:schemeClr val="tx1"/>
                </a:solidFill>
                <a:latin typeface="Times" pitchFamily="18" charset="0"/>
              </a:rPr>
              <a:t/>
            </a:r>
            <a:br>
              <a:rPr lang="en-GB" b="1" dirty="0">
                <a:solidFill>
                  <a:schemeClr val="tx1"/>
                </a:solidFill>
                <a:latin typeface="Times" pitchFamily="18" charset="0"/>
              </a:rPr>
            </a:br>
            <a:r>
              <a:rPr lang="en-GB" sz="3600" b="1" dirty="0" smtClean="0">
                <a:solidFill>
                  <a:schemeClr val="tx1"/>
                </a:solidFill>
                <a:latin typeface="Times" pitchFamily="18" charset="0"/>
              </a:rPr>
              <a:t>the Dermis </a:t>
            </a:r>
            <a:endParaRPr lang="en-GB" dirty="0">
              <a:solidFill>
                <a:schemeClr val="tx1"/>
              </a:solidFill>
              <a:latin typeface="Times" pitchFamily="18" charset="0"/>
            </a:endParaRPr>
          </a:p>
        </p:txBody>
      </p:sp>
      <p:sp>
        <p:nvSpPr>
          <p:cNvPr id="3" name="Content Placeholder 2"/>
          <p:cNvSpPr>
            <a:spLocks noGrp="1"/>
          </p:cNvSpPr>
          <p:nvPr>
            <p:ph sz="quarter" idx="1"/>
          </p:nvPr>
        </p:nvSpPr>
        <p:spPr>
          <a:xfrm>
            <a:off x="107504" y="692696"/>
            <a:ext cx="8640960" cy="5781256"/>
          </a:xfrm>
        </p:spPr>
        <p:txBody>
          <a:bodyPr>
            <a:noAutofit/>
          </a:bodyPr>
          <a:lstStyle/>
          <a:p>
            <a:pPr>
              <a:lnSpc>
                <a:spcPct val="150000"/>
              </a:lnSpc>
            </a:pPr>
            <a:r>
              <a:rPr lang="en-GB" sz="2800" dirty="0" smtClean="0">
                <a:latin typeface="Gabriola" pitchFamily="82" charset="0"/>
              </a:rPr>
              <a:t>Located </a:t>
            </a:r>
            <a:r>
              <a:rPr lang="en-GB" sz="2800" dirty="0">
                <a:latin typeface="Gabriola" pitchFamily="82" charset="0"/>
              </a:rPr>
              <a:t>beneath the epidermis, the dermis is thicker and consists of </a:t>
            </a:r>
            <a:r>
              <a:rPr lang="en-GB" sz="2800" b="1" dirty="0">
                <a:latin typeface="Gabriola" pitchFamily="82" charset="0"/>
              </a:rPr>
              <a:t>connective tissue</a:t>
            </a:r>
            <a:r>
              <a:rPr lang="en-GB" sz="2800" dirty="0">
                <a:latin typeface="Gabriola" pitchFamily="82" charset="0"/>
              </a:rPr>
              <a:t>. </a:t>
            </a:r>
            <a:endParaRPr lang="en-GB" sz="2800" dirty="0" smtClean="0">
              <a:latin typeface="Gabriola" pitchFamily="82" charset="0"/>
            </a:endParaRPr>
          </a:p>
          <a:p>
            <a:pPr>
              <a:lnSpc>
                <a:spcPct val="150000"/>
              </a:lnSpc>
            </a:pPr>
            <a:r>
              <a:rPr lang="en-GB" sz="2800" dirty="0" smtClean="0">
                <a:latin typeface="Gabriola" pitchFamily="82" charset="0"/>
              </a:rPr>
              <a:t>It </a:t>
            </a:r>
            <a:r>
              <a:rPr lang="en-GB" sz="2800" dirty="0">
                <a:latin typeface="Gabriola" pitchFamily="82" charset="0"/>
              </a:rPr>
              <a:t>supports and nourishes the epidermis while providing the skin with strength and elasticity</a:t>
            </a:r>
            <a:r>
              <a:rPr lang="en-GB" sz="2800" dirty="0" smtClean="0">
                <a:latin typeface="Gabriola" pitchFamily="82" charset="0"/>
              </a:rPr>
              <a:t>.</a:t>
            </a:r>
          </a:p>
          <a:p>
            <a:pPr>
              <a:lnSpc>
                <a:spcPct val="150000"/>
              </a:lnSpc>
            </a:pPr>
            <a:r>
              <a:rPr lang="en-GB" sz="2800" dirty="0">
                <a:latin typeface="Gabriola" pitchFamily="82" charset="0"/>
              </a:rPr>
              <a:t>Contains blood vessels and nerves which supply the epidermis via capillary loops and free nerve </a:t>
            </a:r>
            <a:r>
              <a:rPr lang="en-GB" sz="2800" dirty="0" smtClean="0">
                <a:latin typeface="Gabriola" pitchFamily="82" charset="0"/>
              </a:rPr>
              <a:t>endings</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13</a:t>
            </a:fld>
            <a:endParaRPr lang="en-GB"/>
          </a:p>
        </p:txBody>
      </p:sp>
    </p:spTree>
    <p:extLst>
      <p:ext uri="{BB962C8B-B14F-4D97-AF65-F5344CB8AC3E}">
        <p14:creationId xmlns:p14="http://schemas.microsoft.com/office/powerpoint/2010/main" val="744466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07504" y="548680"/>
            <a:ext cx="8640960" cy="5925272"/>
          </a:xfrm>
        </p:spPr>
        <p:txBody>
          <a:bodyPr>
            <a:noAutofit/>
          </a:bodyPr>
          <a:lstStyle/>
          <a:p>
            <a:pPr>
              <a:lnSpc>
                <a:spcPct val="150000"/>
              </a:lnSpc>
            </a:pPr>
            <a:r>
              <a:rPr lang="en-GB" sz="2800" b="1" dirty="0">
                <a:latin typeface="Gabriola" pitchFamily="82" charset="0"/>
              </a:rPr>
              <a:t>Composition</a:t>
            </a:r>
            <a:r>
              <a:rPr lang="en-GB" sz="2800" dirty="0">
                <a:latin typeface="Gabriola" pitchFamily="82" charset="0"/>
              </a:rPr>
              <a:t>:</a:t>
            </a:r>
          </a:p>
          <a:p>
            <a:pPr lvl="1">
              <a:lnSpc>
                <a:spcPct val="150000"/>
              </a:lnSpc>
            </a:pPr>
            <a:r>
              <a:rPr lang="en-GB" sz="2200" b="1" dirty="0">
                <a:latin typeface="Gabriola" pitchFamily="82" charset="0"/>
              </a:rPr>
              <a:t>Collagen </a:t>
            </a:r>
            <a:r>
              <a:rPr lang="en-GB" sz="2200" b="1" dirty="0" err="1">
                <a:latin typeface="Gabriola" pitchFamily="82" charset="0"/>
              </a:rPr>
              <a:t>fibers</a:t>
            </a:r>
            <a:r>
              <a:rPr lang="en-GB" sz="2200" dirty="0">
                <a:latin typeface="Gabriola" pitchFamily="82" charset="0"/>
              </a:rPr>
              <a:t>: The main structural protein in the dermis, providing strength and support.</a:t>
            </a:r>
          </a:p>
          <a:p>
            <a:pPr lvl="1">
              <a:lnSpc>
                <a:spcPct val="150000"/>
              </a:lnSpc>
            </a:pPr>
            <a:r>
              <a:rPr lang="en-GB" sz="2200" b="1" dirty="0">
                <a:latin typeface="Gabriola" pitchFamily="82" charset="0"/>
              </a:rPr>
              <a:t>Elastin </a:t>
            </a:r>
            <a:r>
              <a:rPr lang="en-GB" sz="2200" b="1" dirty="0" err="1">
                <a:latin typeface="Gabriola" pitchFamily="82" charset="0"/>
              </a:rPr>
              <a:t>fibers</a:t>
            </a:r>
            <a:r>
              <a:rPr lang="en-GB" sz="2200" dirty="0">
                <a:latin typeface="Gabriola" pitchFamily="82" charset="0"/>
              </a:rPr>
              <a:t>: Allow the skin to return to its original shape after stretching, providing flexibility</a:t>
            </a:r>
            <a:r>
              <a:rPr lang="en-GB" sz="2200" dirty="0" smtClean="0">
                <a:latin typeface="Gabriola" pitchFamily="82" charset="0"/>
              </a:rPr>
              <a:t>.</a:t>
            </a:r>
            <a:endParaRPr lang="en-GB" sz="2200" b="1" dirty="0" smtClean="0">
              <a:latin typeface="Gabriola" pitchFamily="82" charset="0"/>
            </a:endParaRPr>
          </a:p>
          <a:p>
            <a:pPr lvl="1">
              <a:lnSpc>
                <a:spcPct val="150000"/>
              </a:lnSpc>
            </a:pPr>
            <a:r>
              <a:rPr lang="en-GB" sz="2200" b="1" dirty="0" smtClean="0">
                <a:latin typeface="Gabriola" pitchFamily="82" charset="0"/>
              </a:rPr>
              <a:t>Fibroblasts</a:t>
            </a:r>
            <a:r>
              <a:rPr lang="en-GB" sz="2200" dirty="0">
                <a:latin typeface="Gabriola" pitchFamily="82" charset="0"/>
              </a:rPr>
              <a:t>: Cells responsible for synthesizing collagen and elastin.</a:t>
            </a:r>
          </a:p>
          <a:p>
            <a:pPr lvl="1">
              <a:lnSpc>
                <a:spcPct val="150000"/>
              </a:lnSpc>
            </a:pPr>
            <a:r>
              <a:rPr lang="en-GB" sz="2200" b="1" dirty="0">
                <a:latin typeface="Gabriola" pitchFamily="82" charset="0"/>
              </a:rPr>
              <a:t>Blood vessels</a:t>
            </a:r>
            <a:r>
              <a:rPr lang="en-GB" sz="2200" dirty="0">
                <a:latin typeface="Gabriola" pitchFamily="82" charset="0"/>
              </a:rPr>
              <a:t>: Supply nutrients to the skin and remove waste</a:t>
            </a:r>
            <a:r>
              <a:rPr lang="en-GB" sz="2200" dirty="0" smtClean="0">
                <a:latin typeface="Gabriola" pitchFamily="82" charset="0"/>
              </a:rPr>
              <a:t>.</a:t>
            </a:r>
            <a:endParaRPr lang="en-GB" sz="2200" b="1" dirty="0" smtClean="0">
              <a:latin typeface="Gabriola" pitchFamily="82" charset="0"/>
            </a:endParaRPr>
          </a:p>
          <a:p>
            <a:pPr lvl="1">
              <a:lnSpc>
                <a:spcPct val="150000"/>
              </a:lnSpc>
            </a:pPr>
            <a:r>
              <a:rPr lang="en-GB" sz="2200" b="1" dirty="0" smtClean="0">
                <a:latin typeface="Gabriola" pitchFamily="82" charset="0"/>
              </a:rPr>
              <a:t>Hair </a:t>
            </a:r>
            <a:r>
              <a:rPr lang="en-GB" sz="2200" b="1" dirty="0">
                <a:latin typeface="Gabriola" pitchFamily="82" charset="0"/>
              </a:rPr>
              <a:t>follicles</a:t>
            </a:r>
            <a:r>
              <a:rPr lang="en-GB" sz="2200" dirty="0">
                <a:latin typeface="Gabriola" pitchFamily="82" charset="0"/>
              </a:rPr>
              <a:t>: Produce hair, with associated sebaceous glands secreting oil.</a:t>
            </a:r>
          </a:p>
          <a:p>
            <a:pPr lvl="1">
              <a:lnSpc>
                <a:spcPct val="150000"/>
              </a:lnSpc>
            </a:pPr>
            <a:r>
              <a:rPr lang="en-GB" sz="2200" b="1" dirty="0">
                <a:latin typeface="Gabriola" pitchFamily="82" charset="0"/>
              </a:rPr>
              <a:t>Sweat glands</a:t>
            </a:r>
            <a:r>
              <a:rPr lang="en-GB" sz="2200" dirty="0">
                <a:latin typeface="Gabriola" pitchFamily="82" charset="0"/>
              </a:rPr>
              <a:t>: Secrete sweat to regulate temperature and excrete waste products.</a:t>
            </a:r>
          </a:p>
          <a:p>
            <a:pPr lvl="1">
              <a:lnSpc>
                <a:spcPct val="150000"/>
              </a:lnSpc>
            </a:pPr>
            <a:r>
              <a:rPr lang="en-GB" sz="2200" b="1" dirty="0">
                <a:latin typeface="Gabriola" pitchFamily="82" charset="0"/>
              </a:rPr>
              <a:t>Sebaceous glands</a:t>
            </a:r>
            <a:r>
              <a:rPr lang="en-GB" sz="2200" dirty="0">
                <a:latin typeface="Gabriola" pitchFamily="82" charset="0"/>
              </a:rPr>
              <a:t>: Produce sebum (oil) that keeps the skin moisturized and protects it from microbial invasion.</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14</a:t>
            </a:fld>
            <a:endParaRPr lang="en-GB"/>
          </a:p>
        </p:txBody>
      </p:sp>
    </p:spTree>
    <p:extLst>
      <p:ext uri="{BB962C8B-B14F-4D97-AF65-F5344CB8AC3E}">
        <p14:creationId xmlns:p14="http://schemas.microsoft.com/office/powerpoint/2010/main" val="927589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7601272" cy="706090"/>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251520" y="1052736"/>
            <a:ext cx="8424936" cy="5421216"/>
          </a:xfrm>
        </p:spPr>
        <p:txBody>
          <a:bodyPr>
            <a:normAutofit/>
          </a:bodyPr>
          <a:lstStyle/>
          <a:p>
            <a:pPr>
              <a:lnSpc>
                <a:spcPct val="150000"/>
              </a:lnSpc>
            </a:pPr>
            <a:r>
              <a:rPr lang="en-GB" sz="2800" b="1" dirty="0">
                <a:latin typeface="Gabriola" pitchFamily="82" charset="0"/>
              </a:rPr>
              <a:t>Layers of the Dermis</a:t>
            </a:r>
            <a:r>
              <a:rPr lang="en-GB" sz="2800" dirty="0">
                <a:latin typeface="Gabriola" pitchFamily="82" charset="0"/>
              </a:rPr>
              <a:t>:</a:t>
            </a:r>
          </a:p>
          <a:p>
            <a:pPr lvl="1">
              <a:lnSpc>
                <a:spcPct val="150000"/>
              </a:lnSpc>
            </a:pPr>
            <a:r>
              <a:rPr lang="en-GB" sz="2800" b="1" dirty="0">
                <a:latin typeface="Gabriola" pitchFamily="82" charset="0"/>
              </a:rPr>
              <a:t>Papillary dermis</a:t>
            </a:r>
            <a:r>
              <a:rPr lang="en-GB" sz="2800" dirty="0">
                <a:latin typeface="Gabriola" pitchFamily="82" charset="0"/>
              </a:rPr>
              <a:t>: </a:t>
            </a:r>
            <a:endParaRPr lang="en-GB" sz="2800" dirty="0" smtClean="0">
              <a:latin typeface="Gabriola" pitchFamily="82" charset="0"/>
            </a:endParaRPr>
          </a:p>
          <a:p>
            <a:pPr lvl="2">
              <a:lnSpc>
                <a:spcPct val="150000"/>
              </a:lnSpc>
            </a:pPr>
            <a:r>
              <a:rPr lang="en-GB" sz="2500" dirty="0" smtClean="0">
                <a:latin typeface="Gabriola" pitchFamily="82" charset="0"/>
              </a:rPr>
              <a:t>The </a:t>
            </a:r>
            <a:r>
              <a:rPr lang="en-GB" sz="2500" dirty="0">
                <a:latin typeface="Gabriola" pitchFamily="82" charset="0"/>
              </a:rPr>
              <a:t>thin upper layer, containing small blood vessels and sensory neurons. </a:t>
            </a:r>
            <a:endParaRPr lang="en-GB" sz="2500" dirty="0" smtClean="0">
              <a:latin typeface="Gabriola" pitchFamily="82" charset="0"/>
            </a:endParaRPr>
          </a:p>
          <a:p>
            <a:pPr lvl="2">
              <a:lnSpc>
                <a:spcPct val="150000"/>
              </a:lnSpc>
            </a:pPr>
            <a:r>
              <a:rPr lang="en-GB" sz="2500" dirty="0" smtClean="0">
                <a:latin typeface="Gabriola" pitchFamily="82" charset="0"/>
              </a:rPr>
              <a:t>It </a:t>
            </a:r>
            <a:r>
              <a:rPr lang="en-GB" sz="2500" dirty="0">
                <a:latin typeface="Gabriola" pitchFamily="82" charset="0"/>
              </a:rPr>
              <a:t>forms </a:t>
            </a:r>
            <a:r>
              <a:rPr lang="en-GB" sz="2500" b="1" dirty="0">
                <a:latin typeface="Gabriola" pitchFamily="82" charset="0"/>
              </a:rPr>
              <a:t>dermal papillae</a:t>
            </a:r>
            <a:r>
              <a:rPr lang="en-GB" sz="2500" dirty="0">
                <a:latin typeface="Gabriola" pitchFamily="82" charset="0"/>
              </a:rPr>
              <a:t> that interlock with the epidermis.</a:t>
            </a:r>
          </a:p>
          <a:p>
            <a:pPr lvl="1">
              <a:lnSpc>
                <a:spcPct val="150000"/>
              </a:lnSpc>
            </a:pPr>
            <a:r>
              <a:rPr lang="en-GB" sz="2800" b="1" dirty="0">
                <a:latin typeface="Gabriola" pitchFamily="82" charset="0"/>
              </a:rPr>
              <a:t>Reticular dermis</a:t>
            </a:r>
            <a:r>
              <a:rPr lang="en-GB" sz="2800" dirty="0">
                <a:latin typeface="Gabriola" pitchFamily="82" charset="0"/>
              </a:rPr>
              <a:t>: </a:t>
            </a:r>
            <a:endParaRPr lang="en-GB" sz="2800" dirty="0" smtClean="0">
              <a:latin typeface="Gabriola" pitchFamily="82" charset="0"/>
            </a:endParaRPr>
          </a:p>
          <a:p>
            <a:pPr lvl="2">
              <a:lnSpc>
                <a:spcPct val="150000"/>
              </a:lnSpc>
            </a:pPr>
            <a:r>
              <a:rPr lang="en-GB" sz="2500" dirty="0" smtClean="0">
                <a:latin typeface="Gabriola" pitchFamily="82" charset="0"/>
              </a:rPr>
              <a:t>The </a:t>
            </a:r>
            <a:r>
              <a:rPr lang="en-GB" sz="2500" dirty="0">
                <a:latin typeface="Gabriola" pitchFamily="82" charset="0"/>
              </a:rPr>
              <a:t>thicker, deeper part of the dermis, containing larger blood vessels, nerves, and more collagen </a:t>
            </a:r>
            <a:r>
              <a:rPr lang="en-GB" sz="2500" dirty="0" err="1">
                <a:latin typeface="Gabriola" pitchFamily="82" charset="0"/>
              </a:rPr>
              <a:t>fibers</a:t>
            </a:r>
            <a:r>
              <a:rPr lang="en-GB" sz="2500" dirty="0">
                <a:latin typeface="Gabriola" pitchFamily="82" charset="0"/>
              </a:rPr>
              <a:t>. </a:t>
            </a:r>
            <a:endParaRPr lang="en-GB" sz="2500" dirty="0" smtClean="0">
              <a:latin typeface="Gabriola" pitchFamily="82" charset="0"/>
            </a:endParaRPr>
          </a:p>
          <a:p>
            <a:pPr lvl="2">
              <a:lnSpc>
                <a:spcPct val="150000"/>
              </a:lnSpc>
            </a:pPr>
            <a:r>
              <a:rPr lang="en-GB" sz="2500" dirty="0" smtClean="0">
                <a:latin typeface="Gabriola" pitchFamily="82" charset="0"/>
              </a:rPr>
              <a:t>This </a:t>
            </a:r>
            <a:r>
              <a:rPr lang="en-GB" sz="2500" dirty="0">
                <a:latin typeface="Gabriola" pitchFamily="82" charset="0"/>
              </a:rPr>
              <a:t>layer gives the skin its strength and elasticity.</a:t>
            </a:r>
          </a:p>
          <a:p>
            <a:pPr lvl="1">
              <a:lnSpc>
                <a:spcPct val="150000"/>
              </a:lnSpc>
            </a:pPr>
            <a:endParaRPr lang="en-GB" sz="2500" dirty="0">
              <a:latin typeface="Gabriola" pitchFamily="82" charset="0"/>
            </a:endParaRP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15</a:t>
            </a:fld>
            <a:endParaRPr lang="en-GB"/>
          </a:p>
        </p:txBody>
      </p:sp>
    </p:spTree>
    <p:extLst>
      <p:ext uri="{BB962C8B-B14F-4D97-AF65-F5344CB8AC3E}">
        <p14:creationId xmlns:p14="http://schemas.microsoft.com/office/powerpoint/2010/main" val="326137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49006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23528" y="836712"/>
            <a:ext cx="8568952" cy="5637240"/>
          </a:xfrm>
        </p:spPr>
        <p:txBody>
          <a:bodyPr>
            <a:normAutofit/>
          </a:bodyPr>
          <a:lstStyle/>
          <a:p>
            <a:pPr>
              <a:lnSpc>
                <a:spcPct val="150000"/>
              </a:lnSpc>
            </a:pPr>
            <a:r>
              <a:rPr lang="en-GB" sz="2800" b="1" dirty="0">
                <a:latin typeface="Gabriola" pitchFamily="82" charset="0"/>
              </a:rPr>
              <a:t>Functions</a:t>
            </a:r>
            <a:r>
              <a:rPr lang="en-GB" sz="2800" dirty="0">
                <a:latin typeface="Gabriola" pitchFamily="82" charset="0"/>
              </a:rPr>
              <a:t>:</a:t>
            </a:r>
          </a:p>
          <a:p>
            <a:pPr lvl="1">
              <a:lnSpc>
                <a:spcPct val="150000"/>
              </a:lnSpc>
            </a:pPr>
            <a:r>
              <a:rPr lang="en-GB" sz="2800" dirty="0">
                <a:latin typeface="Gabriola" pitchFamily="82" charset="0"/>
              </a:rPr>
              <a:t>Provides structural support for the epidermis.</a:t>
            </a:r>
          </a:p>
          <a:p>
            <a:pPr lvl="1">
              <a:lnSpc>
                <a:spcPct val="150000"/>
              </a:lnSpc>
            </a:pPr>
            <a:r>
              <a:rPr lang="en-GB" sz="2800" dirty="0">
                <a:latin typeface="Gabriola" pitchFamily="82" charset="0"/>
              </a:rPr>
              <a:t>Houses blood vessels, hair follicles, and glands that regulate body functions.</a:t>
            </a:r>
          </a:p>
          <a:p>
            <a:pPr lvl="1">
              <a:lnSpc>
                <a:spcPct val="150000"/>
              </a:lnSpc>
            </a:pPr>
            <a:r>
              <a:rPr lang="en-GB" sz="2800" dirty="0">
                <a:latin typeface="Gabriola" pitchFamily="82" charset="0"/>
              </a:rPr>
              <a:t>Facilitates sensation through nerve endings (e.g., pain, touch, pressure).</a:t>
            </a:r>
          </a:p>
          <a:p>
            <a:pPr lvl="1">
              <a:lnSpc>
                <a:spcPct val="150000"/>
              </a:lnSpc>
            </a:pPr>
            <a:r>
              <a:rPr lang="en-GB" sz="2800" dirty="0">
                <a:latin typeface="Gabriola" pitchFamily="82" charset="0"/>
              </a:rPr>
              <a:t>Plays a role in thermoregulation (blood vessels constrict/dilate to manage temperature).</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16</a:t>
            </a:fld>
            <a:endParaRPr lang="en-GB"/>
          </a:p>
        </p:txBody>
      </p:sp>
    </p:spTree>
    <p:extLst>
      <p:ext uri="{BB962C8B-B14F-4D97-AF65-F5344CB8AC3E}">
        <p14:creationId xmlns:p14="http://schemas.microsoft.com/office/powerpoint/2010/main" val="1705616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706090"/>
          </a:xfrm>
        </p:spPr>
        <p:txBody>
          <a:bodyPr>
            <a:noAutofit/>
          </a:bodyPr>
          <a:lstStyle/>
          <a:p>
            <a:pPr algn="ctr"/>
            <a:r>
              <a:rPr lang="en-GB" sz="3200" b="1" dirty="0">
                <a:solidFill>
                  <a:schemeClr val="tx1"/>
                </a:solidFill>
                <a:latin typeface="Times" pitchFamily="18" charset="0"/>
              </a:rPr>
              <a:t>The Hypodermis</a:t>
            </a:r>
            <a:br>
              <a:rPr lang="en-GB" sz="3200" b="1" dirty="0">
                <a:solidFill>
                  <a:schemeClr val="tx1"/>
                </a:solidFill>
                <a:latin typeface="Times" pitchFamily="18" charset="0"/>
              </a:rPr>
            </a:br>
            <a:endParaRPr lang="en-GB" sz="3200" dirty="0">
              <a:solidFill>
                <a:schemeClr val="tx1"/>
              </a:solidFill>
              <a:latin typeface="Times" pitchFamily="18" charset="0"/>
            </a:endParaRPr>
          </a:p>
        </p:txBody>
      </p:sp>
      <p:sp>
        <p:nvSpPr>
          <p:cNvPr id="3" name="Content Placeholder 2"/>
          <p:cNvSpPr>
            <a:spLocks noGrp="1"/>
          </p:cNvSpPr>
          <p:nvPr>
            <p:ph sz="quarter" idx="1"/>
          </p:nvPr>
        </p:nvSpPr>
        <p:spPr>
          <a:xfrm>
            <a:off x="395536" y="908720"/>
            <a:ext cx="8280920" cy="5565232"/>
          </a:xfrm>
        </p:spPr>
        <p:txBody>
          <a:bodyPr>
            <a:normAutofit/>
          </a:bodyPr>
          <a:lstStyle/>
          <a:p>
            <a:pPr>
              <a:lnSpc>
                <a:spcPct val="150000"/>
              </a:lnSpc>
            </a:pPr>
            <a:r>
              <a:rPr lang="en-GB" sz="2800" dirty="0" smtClean="0">
                <a:latin typeface="Gabriola" pitchFamily="82" charset="0"/>
              </a:rPr>
              <a:t>Located </a:t>
            </a:r>
            <a:r>
              <a:rPr lang="en-GB" sz="2800" dirty="0">
                <a:latin typeface="Gabriola" pitchFamily="82" charset="0"/>
              </a:rPr>
              <a:t>below the dermis and contains subcutaneous tissue.</a:t>
            </a:r>
          </a:p>
          <a:p>
            <a:pPr>
              <a:lnSpc>
                <a:spcPct val="150000"/>
              </a:lnSpc>
            </a:pPr>
            <a:r>
              <a:rPr lang="en-GB" sz="2800" dirty="0">
                <a:latin typeface="Gabriola" pitchFamily="82" charset="0"/>
              </a:rPr>
              <a:t>It is made up of loose connective tissue, adipose tissue. It is well vascularised and well innervated.</a:t>
            </a:r>
          </a:p>
          <a:p>
            <a:pPr>
              <a:lnSpc>
                <a:spcPct val="150000"/>
              </a:lnSpc>
            </a:pPr>
            <a:r>
              <a:rPr lang="en-GB" sz="2800" dirty="0">
                <a:latin typeface="Gabriola" pitchFamily="82" charset="0"/>
              </a:rPr>
              <a:t>It helps to attach the skin to the muscles and bones through superficial fascia, and provides insulation and cushioning through fat storage.</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17</a:t>
            </a:fld>
            <a:endParaRPr lang="en-GB"/>
          </a:p>
        </p:txBody>
      </p:sp>
    </p:spTree>
    <p:extLst>
      <p:ext uri="{BB962C8B-B14F-4D97-AF65-F5344CB8AC3E}">
        <p14:creationId xmlns:p14="http://schemas.microsoft.com/office/powerpoint/2010/main" val="2869263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529264" cy="778098"/>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35496" y="404664"/>
            <a:ext cx="8856984" cy="6069288"/>
          </a:xfrm>
        </p:spPr>
        <p:txBody>
          <a:bodyPr>
            <a:normAutofit/>
          </a:bodyPr>
          <a:lstStyle/>
          <a:p>
            <a:pPr>
              <a:lnSpc>
                <a:spcPct val="150000"/>
              </a:lnSpc>
            </a:pPr>
            <a:r>
              <a:rPr lang="en-GB" sz="2200" b="1" dirty="0">
                <a:latin typeface="Gabriola" pitchFamily="82" charset="0"/>
              </a:rPr>
              <a:t>Composition</a:t>
            </a:r>
            <a:r>
              <a:rPr lang="en-GB" sz="2200" dirty="0">
                <a:latin typeface="Gabriola" pitchFamily="82" charset="0"/>
              </a:rPr>
              <a:t>:</a:t>
            </a:r>
          </a:p>
          <a:p>
            <a:pPr lvl="1">
              <a:lnSpc>
                <a:spcPct val="150000"/>
              </a:lnSpc>
            </a:pPr>
            <a:r>
              <a:rPr lang="en-GB" sz="2200" b="1" dirty="0">
                <a:latin typeface="Gabriola" pitchFamily="82" charset="0"/>
              </a:rPr>
              <a:t>Adipose tissue (fat)</a:t>
            </a:r>
            <a:r>
              <a:rPr lang="en-GB" sz="2200" dirty="0">
                <a:latin typeface="Gabriola" pitchFamily="82" charset="0"/>
              </a:rPr>
              <a:t>: Stores energy and acts as an insulator to help regulate body temperature.</a:t>
            </a:r>
          </a:p>
          <a:p>
            <a:pPr lvl="1">
              <a:lnSpc>
                <a:spcPct val="150000"/>
              </a:lnSpc>
            </a:pPr>
            <a:r>
              <a:rPr lang="en-GB" sz="2200" b="1" dirty="0">
                <a:latin typeface="Gabriola" pitchFamily="82" charset="0"/>
              </a:rPr>
              <a:t>Connective tissue</a:t>
            </a:r>
            <a:r>
              <a:rPr lang="en-GB" sz="2200" dirty="0">
                <a:latin typeface="Gabriola" pitchFamily="82" charset="0"/>
              </a:rPr>
              <a:t>: Attaches the skin to underlying structures such as muscles and bones.</a:t>
            </a:r>
          </a:p>
          <a:p>
            <a:pPr lvl="1">
              <a:lnSpc>
                <a:spcPct val="150000"/>
              </a:lnSpc>
            </a:pPr>
            <a:r>
              <a:rPr lang="en-GB" sz="2200" b="1" dirty="0">
                <a:latin typeface="Gabriola" pitchFamily="82" charset="0"/>
              </a:rPr>
              <a:t>Blood vessels and nerves</a:t>
            </a:r>
            <a:r>
              <a:rPr lang="en-GB" sz="2200" dirty="0">
                <a:latin typeface="Gabriola" pitchFamily="82" charset="0"/>
              </a:rPr>
              <a:t>: Provide nourishment and sensation to the skin.</a:t>
            </a:r>
          </a:p>
          <a:p>
            <a:pPr>
              <a:lnSpc>
                <a:spcPct val="150000"/>
              </a:lnSpc>
            </a:pPr>
            <a:r>
              <a:rPr lang="en-GB" sz="2200" b="1" dirty="0">
                <a:latin typeface="Gabriola" pitchFamily="82" charset="0"/>
              </a:rPr>
              <a:t>Functions</a:t>
            </a:r>
            <a:r>
              <a:rPr lang="en-GB" sz="2200" dirty="0">
                <a:latin typeface="Gabriola" pitchFamily="82" charset="0"/>
              </a:rPr>
              <a:t>:</a:t>
            </a:r>
          </a:p>
          <a:p>
            <a:pPr lvl="1">
              <a:lnSpc>
                <a:spcPct val="150000"/>
              </a:lnSpc>
            </a:pPr>
            <a:r>
              <a:rPr lang="en-GB" sz="2200" dirty="0">
                <a:latin typeface="Gabriola" pitchFamily="82" charset="0"/>
              </a:rPr>
              <a:t>Insulates the body, helping to retain heat.</a:t>
            </a:r>
          </a:p>
          <a:p>
            <a:pPr lvl="1">
              <a:lnSpc>
                <a:spcPct val="150000"/>
              </a:lnSpc>
            </a:pPr>
            <a:r>
              <a:rPr lang="en-GB" sz="2200" dirty="0">
                <a:latin typeface="Gabriola" pitchFamily="82" charset="0"/>
              </a:rPr>
              <a:t>Acts as a shock absorber to protect deeper structures.</a:t>
            </a:r>
          </a:p>
          <a:p>
            <a:pPr lvl="1">
              <a:lnSpc>
                <a:spcPct val="150000"/>
              </a:lnSpc>
            </a:pPr>
            <a:r>
              <a:rPr lang="en-GB" sz="2200" dirty="0">
                <a:latin typeface="Gabriola" pitchFamily="82" charset="0"/>
              </a:rPr>
              <a:t>Serves as an energy reservoir by storing fat.</a:t>
            </a:r>
          </a:p>
          <a:p>
            <a:pPr lvl="1">
              <a:lnSpc>
                <a:spcPct val="150000"/>
              </a:lnSpc>
            </a:pPr>
            <a:r>
              <a:rPr lang="en-GB" sz="2200" dirty="0">
                <a:latin typeface="Gabriola" pitchFamily="82" charset="0"/>
              </a:rPr>
              <a:t>Provides flexibility and mobility by allowing the skin to move independently of underlying structures.</a:t>
            </a: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18</a:t>
            </a:fld>
            <a:endParaRPr lang="en-GB"/>
          </a:p>
        </p:txBody>
      </p:sp>
    </p:spTree>
    <p:extLst>
      <p:ext uri="{BB962C8B-B14F-4D97-AF65-F5344CB8AC3E}">
        <p14:creationId xmlns:p14="http://schemas.microsoft.com/office/powerpoint/2010/main" val="1675602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778098"/>
          </a:xfrm>
        </p:spPr>
        <p:txBody>
          <a:bodyPr/>
          <a:lstStyle/>
          <a:p>
            <a:r>
              <a:rPr lang="en-GB" b="1" dirty="0" smtClean="0">
                <a:solidFill>
                  <a:schemeClr val="tx1"/>
                </a:solidFill>
                <a:latin typeface="Times" pitchFamily="18" charset="0"/>
              </a:rPr>
              <a:t>Function of the skin</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251520" y="1124744"/>
            <a:ext cx="8424936" cy="5349208"/>
          </a:xfrm>
        </p:spPr>
        <p:txBody>
          <a:bodyPr>
            <a:normAutofit/>
          </a:bodyPr>
          <a:lstStyle/>
          <a:p>
            <a:pPr marL="0" indent="0">
              <a:buNone/>
            </a:pPr>
            <a:r>
              <a:rPr lang="en-GB" sz="2800" b="1" dirty="0" smtClean="0">
                <a:latin typeface="Gabriola" pitchFamily="82" charset="0"/>
              </a:rPr>
              <a:t>1. Protection</a:t>
            </a:r>
            <a:r>
              <a:rPr lang="en-GB" sz="2800" dirty="0" smtClean="0">
                <a:latin typeface="Gabriola" pitchFamily="82" charset="0"/>
              </a:rPr>
              <a:t>:</a:t>
            </a:r>
          </a:p>
          <a:p>
            <a:pPr lvl="1">
              <a:lnSpc>
                <a:spcPct val="150000"/>
              </a:lnSpc>
              <a:buFont typeface="Wingdings" pitchFamily="2" charset="2"/>
              <a:buChar char="ü"/>
            </a:pPr>
            <a:r>
              <a:rPr lang="en-GB" sz="2400" b="1" dirty="0">
                <a:latin typeface="Gabriola" pitchFamily="82" charset="0"/>
              </a:rPr>
              <a:t>Barrier function</a:t>
            </a:r>
            <a:r>
              <a:rPr lang="en-GB" sz="2400" dirty="0">
                <a:latin typeface="Gabriola" pitchFamily="82" charset="0"/>
              </a:rPr>
              <a:t>: The skin acts as a physical barrier against mechanical injury, pathogens, and harmful chemicals.</a:t>
            </a:r>
          </a:p>
          <a:p>
            <a:pPr lvl="1">
              <a:lnSpc>
                <a:spcPct val="150000"/>
              </a:lnSpc>
              <a:buFont typeface="Wingdings" pitchFamily="2" charset="2"/>
              <a:buChar char="ü"/>
            </a:pPr>
            <a:r>
              <a:rPr lang="en-GB" sz="2400" b="1" dirty="0">
                <a:latin typeface="Gabriola" pitchFamily="82" charset="0"/>
              </a:rPr>
              <a:t>UV protection</a:t>
            </a:r>
            <a:r>
              <a:rPr lang="en-GB" sz="2400" dirty="0">
                <a:latin typeface="Gabriola" pitchFamily="82" charset="0"/>
              </a:rPr>
              <a:t>: Melanin in the epidermis absorbs UV radiation, reducing the risk of skin damage and cancer</a:t>
            </a:r>
            <a:r>
              <a:rPr lang="en-GB" sz="2400" dirty="0" smtClean="0">
                <a:latin typeface="Gabriola" pitchFamily="82" charset="0"/>
              </a:rPr>
              <a:t>.</a:t>
            </a:r>
          </a:p>
          <a:p>
            <a:pPr marL="0" indent="0">
              <a:lnSpc>
                <a:spcPct val="150000"/>
              </a:lnSpc>
              <a:buNone/>
            </a:pPr>
            <a:r>
              <a:rPr lang="en-GB" sz="2700" b="1" dirty="0" smtClean="0">
                <a:latin typeface="Gabriola" pitchFamily="82" charset="0"/>
              </a:rPr>
              <a:t>2</a:t>
            </a:r>
            <a:r>
              <a:rPr lang="en-GB" sz="2700" b="1" dirty="0">
                <a:latin typeface="Gabriola" pitchFamily="82" charset="0"/>
              </a:rPr>
              <a:t>. </a:t>
            </a:r>
            <a:r>
              <a:rPr lang="en-GB" sz="2700" b="1" dirty="0" smtClean="0">
                <a:latin typeface="Gabriola" pitchFamily="82" charset="0"/>
              </a:rPr>
              <a:t>Sensation:</a:t>
            </a:r>
          </a:p>
          <a:p>
            <a:pPr lvl="1">
              <a:lnSpc>
                <a:spcPct val="150000"/>
              </a:lnSpc>
              <a:buFont typeface="Wingdings" pitchFamily="2" charset="2"/>
              <a:buChar char="ü"/>
            </a:pPr>
            <a:r>
              <a:rPr lang="en-GB" sz="2400" dirty="0" smtClean="0">
                <a:latin typeface="Gabriola" pitchFamily="82" charset="0"/>
              </a:rPr>
              <a:t>The </a:t>
            </a:r>
            <a:r>
              <a:rPr lang="en-GB" sz="2400" dirty="0">
                <a:latin typeface="Gabriola" pitchFamily="82" charset="0"/>
              </a:rPr>
              <a:t>skin contains numerous nerve endings that detect stimuli such as pain, pressure, touch, and temperature, helping us interact with our environment.</a:t>
            </a:r>
          </a:p>
        </p:txBody>
      </p:sp>
      <p:sp>
        <p:nvSpPr>
          <p:cNvPr id="5" name="Slide Number Placeholder 4"/>
          <p:cNvSpPr>
            <a:spLocks noGrp="1"/>
          </p:cNvSpPr>
          <p:nvPr>
            <p:ph type="sldNum" sz="quarter" idx="15"/>
          </p:nvPr>
        </p:nvSpPr>
        <p:spPr/>
        <p:txBody>
          <a:bodyPr/>
          <a:lstStyle/>
          <a:p>
            <a:fld id="{968CA758-BC7F-4AFE-853F-5D1E39DDFDA0}" type="slidenum">
              <a:rPr lang="en-GB" smtClean="0"/>
              <a:t>19</a:t>
            </a:fld>
            <a:endParaRPr lang="en-GB"/>
          </a:p>
        </p:txBody>
      </p:sp>
    </p:spTree>
    <p:extLst>
      <p:ext uri="{BB962C8B-B14F-4D97-AF65-F5344CB8AC3E}">
        <p14:creationId xmlns:p14="http://schemas.microsoft.com/office/powerpoint/2010/main" val="3161399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562074"/>
          </a:xfrm>
        </p:spPr>
        <p:txBody>
          <a:bodyPr/>
          <a:lstStyle/>
          <a:p>
            <a:pPr algn="r"/>
            <a:r>
              <a:rPr lang="en-GB" dirty="0" smtClean="0">
                <a:solidFill>
                  <a:schemeClr val="tx1"/>
                </a:solidFill>
              </a:rPr>
              <a:t>Cont..</a:t>
            </a:r>
            <a:endParaRPr lang="en-GB" dirty="0">
              <a:solidFill>
                <a:schemeClr val="tx1"/>
              </a:solidFill>
            </a:endParaRPr>
          </a:p>
        </p:txBody>
      </p:sp>
      <p:sp>
        <p:nvSpPr>
          <p:cNvPr id="3" name="Content Placeholder 2"/>
          <p:cNvSpPr>
            <a:spLocks noGrp="1"/>
          </p:cNvSpPr>
          <p:nvPr>
            <p:ph sz="quarter" idx="1"/>
          </p:nvPr>
        </p:nvSpPr>
        <p:spPr>
          <a:xfrm>
            <a:off x="179512" y="692696"/>
            <a:ext cx="8424936" cy="5781256"/>
          </a:xfrm>
        </p:spPr>
        <p:txBody>
          <a:bodyPr>
            <a:normAutofit/>
          </a:bodyPr>
          <a:lstStyle/>
          <a:p>
            <a:pPr marL="0" indent="0">
              <a:lnSpc>
                <a:spcPct val="150000"/>
              </a:lnSpc>
              <a:buNone/>
            </a:pPr>
            <a:r>
              <a:rPr lang="en-GB" b="1" dirty="0" smtClean="0">
                <a:latin typeface="Gabriola" pitchFamily="82" charset="0"/>
              </a:rPr>
              <a:t>3. Thermoregulation</a:t>
            </a:r>
            <a:r>
              <a:rPr lang="en-GB" dirty="0" smtClean="0">
                <a:latin typeface="Gabriola" pitchFamily="82" charset="0"/>
              </a:rPr>
              <a:t>:</a:t>
            </a:r>
            <a:endParaRPr lang="en-GB" dirty="0">
              <a:latin typeface="Gabriola" pitchFamily="82" charset="0"/>
            </a:endParaRPr>
          </a:p>
          <a:p>
            <a:pPr lvl="1">
              <a:lnSpc>
                <a:spcPct val="150000"/>
              </a:lnSpc>
            </a:pPr>
            <a:r>
              <a:rPr lang="en-GB" sz="2400" dirty="0">
                <a:latin typeface="Gabriola" pitchFamily="82" charset="0"/>
              </a:rPr>
              <a:t> </a:t>
            </a:r>
            <a:r>
              <a:rPr lang="en-GB" sz="2400" dirty="0" smtClean="0">
                <a:latin typeface="Gabriola" pitchFamily="82" charset="0"/>
              </a:rPr>
              <a:t>Sweat </a:t>
            </a:r>
            <a:r>
              <a:rPr lang="en-GB" sz="2400" dirty="0">
                <a:latin typeface="Gabriola" pitchFamily="82" charset="0"/>
              </a:rPr>
              <a:t>glands and blood vessels in the dermis help regulate body temperature through cooling (via sweating) and warming (via vasoconstriction</a:t>
            </a:r>
            <a:r>
              <a:rPr lang="en-GB" sz="2400" dirty="0" smtClean="0">
                <a:latin typeface="Gabriola" pitchFamily="82" charset="0"/>
              </a:rPr>
              <a:t>).</a:t>
            </a:r>
            <a:endParaRPr lang="en-GB" sz="2400" dirty="0">
              <a:latin typeface="Gabriola" pitchFamily="82" charset="0"/>
            </a:endParaRPr>
          </a:p>
          <a:p>
            <a:pPr marL="0" indent="0">
              <a:lnSpc>
                <a:spcPct val="150000"/>
              </a:lnSpc>
              <a:buNone/>
            </a:pPr>
            <a:r>
              <a:rPr lang="en-GB" b="1" dirty="0" smtClean="0">
                <a:latin typeface="Gabriola" pitchFamily="82" charset="0"/>
              </a:rPr>
              <a:t>4. Excretion:</a:t>
            </a:r>
            <a:endParaRPr lang="en-GB" b="1" dirty="0">
              <a:latin typeface="Gabriola" pitchFamily="82" charset="0"/>
            </a:endParaRPr>
          </a:p>
          <a:p>
            <a:pPr lvl="1">
              <a:lnSpc>
                <a:spcPct val="150000"/>
              </a:lnSpc>
            </a:pPr>
            <a:r>
              <a:rPr lang="en-GB" sz="2400" dirty="0" smtClean="0">
                <a:latin typeface="Gabriola" pitchFamily="82" charset="0"/>
              </a:rPr>
              <a:t>Sweat </a:t>
            </a:r>
            <a:r>
              <a:rPr lang="en-GB" sz="2400" dirty="0">
                <a:latin typeface="Gabriola" pitchFamily="82" charset="0"/>
              </a:rPr>
              <a:t>glands help excrete waste products, including salts, urea, and other metabolites, through perspiration</a:t>
            </a:r>
            <a:r>
              <a:rPr lang="en-GB" sz="2400" dirty="0" smtClean="0">
                <a:latin typeface="Gabriola" pitchFamily="82" charset="0"/>
              </a:rPr>
              <a:t>.</a:t>
            </a:r>
            <a:endParaRPr lang="en-GB" sz="2400" dirty="0">
              <a:latin typeface="Gabriola" pitchFamily="82" charset="0"/>
            </a:endParaRPr>
          </a:p>
          <a:p>
            <a:pPr marL="0" indent="0">
              <a:lnSpc>
                <a:spcPct val="150000"/>
              </a:lnSpc>
              <a:buNone/>
            </a:pPr>
            <a:r>
              <a:rPr lang="en-GB" b="1" dirty="0" smtClean="0">
                <a:latin typeface="Gabriola" pitchFamily="82" charset="0"/>
              </a:rPr>
              <a:t>5. Vitamin </a:t>
            </a:r>
            <a:r>
              <a:rPr lang="en-GB" b="1" dirty="0">
                <a:latin typeface="Gabriola" pitchFamily="82" charset="0"/>
              </a:rPr>
              <a:t>D Synthesis</a:t>
            </a:r>
            <a:r>
              <a:rPr lang="en-GB" b="1" dirty="0" smtClean="0">
                <a:latin typeface="Gabriola" pitchFamily="82" charset="0"/>
              </a:rPr>
              <a:t>:</a:t>
            </a:r>
            <a:endParaRPr lang="en-GB" b="1" dirty="0">
              <a:latin typeface="Gabriola" pitchFamily="82" charset="0"/>
            </a:endParaRPr>
          </a:p>
          <a:p>
            <a:pPr lvl="1">
              <a:lnSpc>
                <a:spcPct val="150000"/>
              </a:lnSpc>
            </a:pPr>
            <a:r>
              <a:rPr lang="en-GB" sz="2400" dirty="0" smtClean="0">
                <a:latin typeface="Gabriola" pitchFamily="82" charset="0"/>
              </a:rPr>
              <a:t>The </a:t>
            </a:r>
            <a:r>
              <a:rPr lang="en-GB" sz="2400" dirty="0">
                <a:latin typeface="Gabriola" pitchFamily="82" charset="0"/>
              </a:rPr>
              <a:t>skin synthesizes vitamin D when exposed to UVB light, which is essential for calcium absorption and bone health.</a:t>
            </a:r>
          </a:p>
        </p:txBody>
      </p:sp>
      <p:sp>
        <p:nvSpPr>
          <p:cNvPr id="5" name="Slide Number Placeholder 4"/>
          <p:cNvSpPr>
            <a:spLocks noGrp="1"/>
          </p:cNvSpPr>
          <p:nvPr>
            <p:ph type="sldNum" sz="quarter" idx="15"/>
          </p:nvPr>
        </p:nvSpPr>
        <p:spPr/>
        <p:txBody>
          <a:bodyPr/>
          <a:lstStyle/>
          <a:p>
            <a:fld id="{968CA758-BC7F-4AFE-853F-5D1E39DDFDA0}" type="slidenum">
              <a:rPr lang="en-GB" smtClean="0"/>
              <a:t>20</a:t>
            </a:fld>
            <a:endParaRPr lang="en-GB"/>
          </a:p>
        </p:txBody>
      </p:sp>
    </p:spTree>
    <p:extLst>
      <p:ext uri="{BB962C8B-B14F-4D97-AF65-F5344CB8AC3E}">
        <p14:creationId xmlns:p14="http://schemas.microsoft.com/office/powerpoint/2010/main" val="2485481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924800" cy="562074"/>
          </a:xfrm>
        </p:spPr>
        <p:txBody>
          <a:bodyPr>
            <a:noAutofit/>
          </a:bodyPr>
          <a:lstStyle/>
          <a:p>
            <a:pPr algn="ctr"/>
            <a:r>
              <a:rPr lang="en-GB" sz="3200" b="1" dirty="0" smtClean="0">
                <a:solidFill>
                  <a:schemeClr val="tx1"/>
                </a:solidFill>
                <a:latin typeface="Times" pitchFamily="18" charset="0"/>
              </a:rPr>
              <a:t>Epidemiology of burn </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179512" y="836712"/>
            <a:ext cx="8928992" cy="5400600"/>
          </a:xfrm>
        </p:spPr>
        <p:txBody>
          <a:bodyPr>
            <a:normAutofit/>
          </a:bodyPr>
          <a:lstStyle/>
          <a:p>
            <a:pPr>
              <a:lnSpc>
                <a:spcPct val="150000"/>
              </a:lnSpc>
            </a:pPr>
            <a:r>
              <a:rPr lang="en-GB" sz="2800" b="1" dirty="0">
                <a:latin typeface="Gabriola" pitchFamily="82" charset="0"/>
              </a:rPr>
              <a:t>Burns are a leading cause of global morbidity and mortality</a:t>
            </a:r>
            <a:r>
              <a:rPr lang="en-GB" sz="2800" dirty="0" smtClean="0">
                <a:latin typeface="Gabriola" pitchFamily="82" charset="0"/>
              </a:rPr>
              <a:t>:</a:t>
            </a:r>
          </a:p>
          <a:p>
            <a:pPr lvl="1">
              <a:lnSpc>
                <a:spcPct val="150000"/>
              </a:lnSpc>
            </a:pPr>
            <a:r>
              <a:rPr lang="en-GB" sz="2800" dirty="0" smtClean="0">
                <a:latin typeface="Gabriola" pitchFamily="82" charset="0"/>
              </a:rPr>
              <a:t>Approximately </a:t>
            </a:r>
            <a:r>
              <a:rPr lang="en-GB" sz="2800" b="1" dirty="0">
                <a:latin typeface="Gabriola" pitchFamily="82" charset="0"/>
              </a:rPr>
              <a:t>180,000 deaths annually</a:t>
            </a:r>
            <a:r>
              <a:rPr lang="en-GB" sz="2800" dirty="0">
                <a:latin typeface="Gabriola" pitchFamily="82" charset="0"/>
              </a:rPr>
              <a:t> worldwide due to burns (WHO).</a:t>
            </a:r>
          </a:p>
          <a:p>
            <a:pPr lvl="1">
              <a:lnSpc>
                <a:spcPct val="150000"/>
              </a:lnSpc>
            </a:pPr>
            <a:r>
              <a:rPr lang="en-GB" sz="2800" dirty="0">
                <a:latin typeface="Gabriola" pitchFamily="82" charset="0"/>
              </a:rPr>
              <a:t>The majority of fatalities occur in </a:t>
            </a:r>
            <a:r>
              <a:rPr lang="en-GB" sz="2800" b="1" dirty="0">
                <a:latin typeface="Gabriola" pitchFamily="82" charset="0"/>
              </a:rPr>
              <a:t>low- and middle-income countries (LMICs)</a:t>
            </a:r>
            <a:r>
              <a:rPr lang="en-GB" sz="2800" dirty="0">
                <a:latin typeface="Gabriola" pitchFamily="82" charset="0"/>
              </a:rPr>
              <a:t>, with sub-Saharan Africa, Southeast Asia, and the Eastern Mediterranean facing the highest rates.</a:t>
            </a:r>
          </a:p>
          <a:p>
            <a:pPr>
              <a:lnSpc>
                <a:spcPct val="150000"/>
              </a:lnSpc>
            </a:pPr>
            <a:r>
              <a:rPr lang="en-GB" sz="2800" b="1" dirty="0">
                <a:latin typeface="Gabriola" pitchFamily="82" charset="0"/>
              </a:rPr>
              <a:t>Global Incidence</a:t>
            </a:r>
            <a:r>
              <a:rPr lang="en-GB" sz="2800" dirty="0" smtClean="0">
                <a:latin typeface="Gabriola" pitchFamily="82" charset="0"/>
              </a:rPr>
              <a:t>:</a:t>
            </a:r>
          </a:p>
          <a:p>
            <a:pPr lvl="1">
              <a:lnSpc>
                <a:spcPct val="150000"/>
              </a:lnSpc>
            </a:pPr>
            <a:r>
              <a:rPr lang="en-GB" sz="2800" b="1" dirty="0" smtClean="0">
                <a:latin typeface="Gabriola" pitchFamily="82" charset="0"/>
              </a:rPr>
              <a:t>Burns</a:t>
            </a:r>
            <a:r>
              <a:rPr lang="en-GB" sz="2800" dirty="0" smtClean="0">
                <a:latin typeface="Gabriola" pitchFamily="82" charset="0"/>
              </a:rPr>
              <a:t> </a:t>
            </a:r>
            <a:r>
              <a:rPr lang="en-GB" sz="2800" dirty="0">
                <a:latin typeface="Gabriola" pitchFamily="82" charset="0"/>
              </a:rPr>
              <a:t>account for around </a:t>
            </a:r>
            <a:r>
              <a:rPr lang="en-GB" sz="2800" b="1" dirty="0">
                <a:latin typeface="Gabriola" pitchFamily="82" charset="0"/>
              </a:rPr>
              <a:t>5 million cases of injury per year</a:t>
            </a:r>
            <a:r>
              <a:rPr lang="en-GB" sz="2800" dirty="0">
                <a:latin typeface="Gabriola" pitchFamily="82" charset="0"/>
              </a:rPr>
              <a:t>.</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21</a:t>
            </a:fld>
            <a:endParaRPr lang="en-GB"/>
          </a:p>
        </p:txBody>
      </p:sp>
    </p:spTree>
    <p:extLst>
      <p:ext uri="{BB962C8B-B14F-4D97-AF65-F5344CB8AC3E}">
        <p14:creationId xmlns:p14="http://schemas.microsoft.com/office/powerpoint/2010/main" val="4061976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40960" cy="490066"/>
          </a:xfrm>
        </p:spPr>
        <p:txBody>
          <a:bodyPr>
            <a:normAutofit fontScale="90000"/>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179512" y="980728"/>
            <a:ext cx="8280920" cy="5493224"/>
          </a:xfrm>
        </p:spPr>
        <p:txBody>
          <a:bodyPr>
            <a:normAutofit/>
          </a:bodyPr>
          <a:lstStyle/>
          <a:p>
            <a:pPr>
              <a:lnSpc>
                <a:spcPct val="150000"/>
              </a:lnSpc>
            </a:pPr>
            <a:r>
              <a:rPr lang="en-GB" sz="2800" dirty="0">
                <a:latin typeface="Gabriola" pitchFamily="82" charset="0"/>
              </a:rPr>
              <a:t>Among these, </a:t>
            </a:r>
            <a:r>
              <a:rPr lang="en-GB" sz="2800" b="1" dirty="0">
                <a:latin typeface="Gabriola" pitchFamily="82" charset="0"/>
              </a:rPr>
              <a:t>1-2 million individuals</a:t>
            </a:r>
            <a:r>
              <a:rPr lang="en-GB" sz="2800" dirty="0">
                <a:latin typeface="Gabriola" pitchFamily="82" charset="0"/>
              </a:rPr>
              <a:t> experience severe burns requiring medical intervention.</a:t>
            </a:r>
          </a:p>
          <a:p>
            <a:pPr>
              <a:lnSpc>
                <a:spcPct val="150000"/>
              </a:lnSpc>
            </a:pPr>
            <a:r>
              <a:rPr lang="en-GB" sz="2800" b="1" dirty="0">
                <a:latin typeface="Gabriola" pitchFamily="82" charset="0"/>
              </a:rPr>
              <a:t>Age Group Most Affected</a:t>
            </a:r>
            <a:r>
              <a:rPr lang="en-GB" sz="2800" dirty="0">
                <a:latin typeface="Gabriola" pitchFamily="82" charset="0"/>
              </a:rPr>
              <a:t>:</a:t>
            </a:r>
          </a:p>
          <a:p>
            <a:pPr lvl="1">
              <a:lnSpc>
                <a:spcPct val="150000"/>
              </a:lnSpc>
            </a:pPr>
            <a:r>
              <a:rPr lang="en-GB" sz="2800" b="1" dirty="0">
                <a:latin typeface="Gabriola" pitchFamily="82" charset="0"/>
              </a:rPr>
              <a:t>Children and young adults</a:t>
            </a:r>
            <a:r>
              <a:rPr lang="en-GB" sz="2800" dirty="0">
                <a:latin typeface="Gabriola" pitchFamily="82" charset="0"/>
              </a:rPr>
              <a:t> (especially those under 5 years of age) are at significant risk.</a:t>
            </a:r>
          </a:p>
          <a:p>
            <a:pPr lvl="1">
              <a:lnSpc>
                <a:spcPct val="150000"/>
              </a:lnSpc>
            </a:pPr>
            <a:r>
              <a:rPr lang="en-GB" sz="2800" dirty="0">
                <a:latin typeface="Gabriola" pitchFamily="82" charset="0"/>
              </a:rPr>
              <a:t>Elderly individuals are also highly vulnerable due to pre-existing health conditions.</a:t>
            </a:r>
          </a:p>
          <a:p>
            <a:endParaRPr lang="en-US" sz="2800" dirty="0"/>
          </a:p>
        </p:txBody>
      </p:sp>
      <p:sp>
        <p:nvSpPr>
          <p:cNvPr id="4" name="Slide Number Placeholder 3"/>
          <p:cNvSpPr>
            <a:spLocks noGrp="1"/>
          </p:cNvSpPr>
          <p:nvPr>
            <p:ph type="sldNum" sz="quarter" idx="15"/>
          </p:nvPr>
        </p:nvSpPr>
        <p:spPr/>
        <p:txBody>
          <a:bodyPr/>
          <a:lstStyle/>
          <a:p>
            <a:fld id="{968CA758-BC7F-4AFE-853F-5D1E39DDFDA0}" type="slidenum">
              <a:rPr lang="en-GB" smtClean="0"/>
              <a:t>22</a:t>
            </a:fld>
            <a:endParaRPr lang="en-GB"/>
          </a:p>
        </p:txBody>
      </p:sp>
    </p:spTree>
    <p:extLst>
      <p:ext uri="{BB962C8B-B14F-4D97-AF65-F5344CB8AC3E}">
        <p14:creationId xmlns:p14="http://schemas.microsoft.com/office/powerpoint/2010/main" val="480079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673280" cy="43204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07504" y="692696"/>
            <a:ext cx="8856984" cy="5781256"/>
          </a:xfrm>
        </p:spPr>
        <p:txBody>
          <a:bodyPr>
            <a:noAutofit/>
          </a:bodyPr>
          <a:lstStyle/>
          <a:p>
            <a:pPr>
              <a:lnSpc>
                <a:spcPct val="150000"/>
              </a:lnSpc>
            </a:pPr>
            <a:r>
              <a:rPr lang="en-GB" sz="2800" b="1" dirty="0">
                <a:latin typeface="Gabriola" pitchFamily="82" charset="0"/>
              </a:rPr>
              <a:t>High-Risk Populations </a:t>
            </a:r>
            <a:endParaRPr lang="en-GB" sz="2800" b="1" dirty="0" smtClean="0">
              <a:latin typeface="Gabriola" pitchFamily="82" charset="0"/>
            </a:endParaRPr>
          </a:p>
          <a:p>
            <a:pPr lvl="1">
              <a:lnSpc>
                <a:spcPct val="150000"/>
              </a:lnSpc>
            </a:pPr>
            <a:r>
              <a:rPr lang="en-GB" sz="2800" b="1" dirty="0" smtClean="0">
                <a:latin typeface="Gabriola" pitchFamily="82" charset="0"/>
              </a:rPr>
              <a:t>Children</a:t>
            </a:r>
            <a:r>
              <a:rPr lang="en-GB" sz="2800" dirty="0">
                <a:latin typeface="Gabriola" pitchFamily="82" charset="0"/>
              </a:rPr>
              <a:t>:</a:t>
            </a:r>
          </a:p>
          <a:p>
            <a:pPr lvl="2">
              <a:lnSpc>
                <a:spcPct val="150000"/>
              </a:lnSpc>
            </a:pPr>
            <a:r>
              <a:rPr lang="en-GB" sz="2800" dirty="0">
                <a:latin typeface="Gabriola" pitchFamily="82" charset="0"/>
              </a:rPr>
              <a:t>Curiosity and play near hazardous objects (open flames, cooking stoves, hot water).</a:t>
            </a:r>
          </a:p>
          <a:p>
            <a:pPr lvl="2">
              <a:lnSpc>
                <a:spcPct val="150000"/>
              </a:lnSpc>
            </a:pPr>
            <a:r>
              <a:rPr lang="en-GB" sz="2800" b="1" dirty="0">
                <a:latin typeface="Gabriola" pitchFamily="82" charset="0"/>
              </a:rPr>
              <a:t>Burns are the 3rd leading cause of childhood injury-related death</a:t>
            </a:r>
            <a:r>
              <a:rPr lang="en-GB" sz="2800" dirty="0">
                <a:latin typeface="Gabriola" pitchFamily="82" charset="0"/>
              </a:rPr>
              <a:t> globally.</a:t>
            </a:r>
          </a:p>
          <a:p>
            <a:pPr lvl="1">
              <a:lnSpc>
                <a:spcPct val="150000"/>
              </a:lnSpc>
            </a:pPr>
            <a:r>
              <a:rPr lang="en-GB" sz="2800" b="1" dirty="0">
                <a:latin typeface="Gabriola" pitchFamily="82" charset="0"/>
              </a:rPr>
              <a:t>Elderly</a:t>
            </a:r>
            <a:r>
              <a:rPr lang="en-GB" sz="2800" dirty="0">
                <a:latin typeface="Gabriola" pitchFamily="82" charset="0"/>
              </a:rPr>
              <a:t>:</a:t>
            </a:r>
          </a:p>
          <a:p>
            <a:pPr lvl="2">
              <a:lnSpc>
                <a:spcPct val="150000"/>
              </a:lnSpc>
            </a:pPr>
            <a:r>
              <a:rPr lang="en-GB" sz="2800" dirty="0">
                <a:latin typeface="Gabriola" pitchFamily="82" charset="0"/>
              </a:rPr>
              <a:t>Aging skin is thinner and more fragile, leading to higher severity burns.</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23</a:t>
            </a:fld>
            <a:endParaRPr lang="en-GB"/>
          </a:p>
        </p:txBody>
      </p:sp>
    </p:spTree>
    <p:extLst>
      <p:ext uri="{BB962C8B-B14F-4D97-AF65-F5344CB8AC3E}">
        <p14:creationId xmlns:p14="http://schemas.microsoft.com/office/powerpoint/2010/main" val="3951970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712968" cy="706090"/>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251520" y="1196752"/>
            <a:ext cx="8280920" cy="5277200"/>
          </a:xfrm>
        </p:spPr>
        <p:txBody>
          <a:bodyPr>
            <a:normAutofit/>
          </a:bodyPr>
          <a:lstStyle/>
          <a:p>
            <a:pPr lvl="2">
              <a:lnSpc>
                <a:spcPct val="150000"/>
              </a:lnSpc>
            </a:pPr>
            <a:r>
              <a:rPr lang="en-GB" sz="2800" dirty="0">
                <a:latin typeface="Gabriola" pitchFamily="82" charset="0"/>
              </a:rPr>
              <a:t>Reduced ability to recover from burns due to pre-existing conditions (e.g., diabetes, cardiovascular diseases).</a:t>
            </a:r>
          </a:p>
          <a:p>
            <a:pPr lvl="1">
              <a:lnSpc>
                <a:spcPct val="150000"/>
              </a:lnSpc>
            </a:pPr>
            <a:r>
              <a:rPr lang="en-GB" sz="2800" b="1" dirty="0">
                <a:latin typeface="Gabriola" pitchFamily="82" charset="0"/>
              </a:rPr>
              <a:t>Low-income Populations</a:t>
            </a:r>
            <a:r>
              <a:rPr lang="en-GB" sz="2800" dirty="0">
                <a:latin typeface="Gabriola" pitchFamily="82" charset="0"/>
              </a:rPr>
              <a:t>:</a:t>
            </a:r>
          </a:p>
          <a:p>
            <a:pPr lvl="2">
              <a:lnSpc>
                <a:spcPct val="150000"/>
              </a:lnSpc>
            </a:pPr>
            <a:r>
              <a:rPr lang="en-GB" sz="2800" b="1" dirty="0">
                <a:latin typeface="Gabriola" pitchFamily="82" charset="0"/>
              </a:rPr>
              <a:t>Rural areas</a:t>
            </a:r>
            <a:r>
              <a:rPr lang="en-GB" sz="2800" dirty="0">
                <a:latin typeface="Gabriola" pitchFamily="82" charset="0"/>
              </a:rPr>
              <a:t> often use open flames for cooking, making them more vulnerable.</a:t>
            </a:r>
          </a:p>
          <a:p>
            <a:pPr lvl="2">
              <a:lnSpc>
                <a:spcPct val="150000"/>
              </a:lnSpc>
            </a:pPr>
            <a:r>
              <a:rPr lang="en-GB" sz="2800" b="1" dirty="0">
                <a:latin typeface="Gabriola" pitchFamily="82" charset="0"/>
              </a:rPr>
              <a:t>Inadequate infrastructure</a:t>
            </a:r>
            <a:r>
              <a:rPr lang="en-GB" sz="2800" dirty="0">
                <a:latin typeface="Gabriola" pitchFamily="82" charset="0"/>
              </a:rPr>
              <a:t> leads to poor safety standards and delayed medical care.</a:t>
            </a:r>
          </a:p>
          <a:p>
            <a:endParaRPr lang="en-US" sz="2800" dirty="0"/>
          </a:p>
        </p:txBody>
      </p:sp>
      <p:sp>
        <p:nvSpPr>
          <p:cNvPr id="4" name="Slide Number Placeholder 3"/>
          <p:cNvSpPr>
            <a:spLocks noGrp="1"/>
          </p:cNvSpPr>
          <p:nvPr>
            <p:ph type="sldNum" sz="quarter" idx="15"/>
          </p:nvPr>
        </p:nvSpPr>
        <p:spPr/>
        <p:txBody>
          <a:bodyPr/>
          <a:lstStyle/>
          <a:p>
            <a:fld id="{968CA758-BC7F-4AFE-853F-5D1E39DDFDA0}" type="slidenum">
              <a:rPr lang="en-GB" smtClean="0"/>
              <a:t>24</a:t>
            </a:fld>
            <a:endParaRPr lang="en-GB"/>
          </a:p>
        </p:txBody>
      </p:sp>
    </p:spTree>
    <p:extLst>
      <p:ext uri="{BB962C8B-B14F-4D97-AF65-F5344CB8AC3E}">
        <p14:creationId xmlns:p14="http://schemas.microsoft.com/office/powerpoint/2010/main" val="17149166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64488" cy="346050"/>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548680"/>
            <a:ext cx="8640960" cy="5925272"/>
          </a:xfrm>
        </p:spPr>
        <p:txBody>
          <a:bodyPr>
            <a:noAutofit/>
          </a:bodyPr>
          <a:lstStyle/>
          <a:p>
            <a:pPr>
              <a:lnSpc>
                <a:spcPct val="150000"/>
              </a:lnSpc>
            </a:pPr>
            <a:r>
              <a:rPr lang="en-GB" sz="2600" b="1" dirty="0">
                <a:latin typeface="Gabriola" pitchFamily="82" charset="0"/>
              </a:rPr>
              <a:t>Global burn death rate</a:t>
            </a:r>
            <a:r>
              <a:rPr lang="en-GB" sz="2600" dirty="0">
                <a:latin typeface="Gabriola" pitchFamily="82" charset="0"/>
              </a:rPr>
              <a:t> </a:t>
            </a:r>
            <a:r>
              <a:rPr lang="en-GB" sz="2600" dirty="0" smtClean="0">
                <a:latin typeface="Gabriola" pitchFamily="82" charset="0"/>
              </a:rPr>
              <a:t>is approximately </a:t>
            </a:r>
            <a:r>
              <a:rPr lang="en-GB" sz="2600" b="1" dirty="0" smtClean="0">
                <a:latin typeface="Gabriola" pitchFamily="82" charset="0"/>
              </a:rPr>
              <a:t>10%</a:t>
            </a:r>
            <a:r>
              <a:rPr lang="en-GB" sz="2600" dirty="0" smtClean="0">
                <a:latin typeface="Gabriola" pitchFamily="82" charset="0"/>
              </a:rPr>
              <a:t> in developed nations, but can be as high as </a:t>
            </a:r>
            <a:r>
              <a:rPr lang="en-GB" sz="2600" b="1" dirty="0" smtClean="0">
                <a:latin typeface="Gabriola" pitchFamily="82" charset="0"/>
              </a:rPr>
              <a:t>40-50% in LMICs</a:t>
            </a:r>
            <a:r>
              <a:rPr lang="en-GB" sz="2600" dirty="0" smtClean="0">
                <a:latin typeface="Gabriola" pitchFamily="82" charset="0"/>
              </a:rPr>
              <a:t> </a:t>
            </a:r>
            <a:r>
              <a:rPr lang="en-GB" sz="2600" dirty="0" smtClean="0">
                <a:latin typeface="Gabriola" pitchFamily="82" charset="0"/>
              </a:rPr>
              <a:t> due </a:t>
            </a:r>
            <a:r>
              <a:rPr lang="en-GB" sz="2600" dirty="0" smtClean="0">
                <a:latin typeface="Gabriola" pitchFamily="82" charset="0"/>
              </a:rPr>
              <a:t>to delayed medical treatment and poor infrastructure.</a:t>
            </a:r>
          </a:p>
          <a:p>
            <a:pPr>
              <a:lnSpc>
                <a:spcPct val="150000"/>
              </a:lnSpc>
            </a:pPr>
            <a:r>
              <a:rPr lang="en-GB" sz="2600" dirty="0">
                <a:latin typeface="Gabriola" pitchFamily="82" charset="0"/>
              </a:rPr>
              <a:t>Burns are a significant public health issue in Ethiopia</a:t>
            </a:r>
            <a:r>
              <a:rPr lang="en-GB" sz="2600" dirty="0" smtClean="0">
                <a:latin typeface="Gabriola" pitchFamily="82" charset="0"/>
              </a:rPr>
              <a:t>:</a:t>
            </a:r>
            <a:endParaRPr lang="en-GB" sz="2600" dirty="0">
              <a:latin typeface="Gabriola" pitchFamily="82" charset="0"/>
            </a:endParaRPr>
          </a:p>
          <a:p>
            <a:pPr lvl="1">
              <a:lnSpc>
                <a:spcPct val="150000"/>
              </a:lnSpc>
            </a:pPr>
            <a:r>
              <a:rPr lang="en-GB" sz="2600" dirty="0" smtClean="0">
                <a:latin typeface="Gabriola" pitchFamily="82" charset="0"/>
              </a:rPr>
              <a:t> </a:t>
            </a:r>
            <a:r>
              <a:rPr lang="en-GB" sz="2600" dirty="0">
                <a:latin typeface="Gabriola" pitchFamily="82" charset="0"/>
              </a:rPr>
              <a:t>A study in Addis Ababa found that </a:t>
            </a:r>
            <a:r>
              <a:rPr lang="en-GB" sz="2600" b="1" dirty="0">
                <a:latin typeface="Gabriola" pitchFamily="82" charset="0"/>
              </a:rPr>
              <a:t>5-10%</a:t>
            </a:r>
            <a:r>
              <a:rPr lang="en-GB" sz="2600" dirty="0">
                <a:latin typeface="Gabriola" pitchFamily="82" charset="0"/>
              </a:rPr>
              <a:t> of all trauma cases in major hospitals were burn-related</a:t>
            </a:r>
            <a:r>
              <a:rPr lang="en-GB" sz="2600" dirty="0" smtClean="0">
                <a:latin typeface="Gabriola" pitchFamily="82" charset="0"/>
              </a:rPr>
              <a:t>.</a:t>
            </a:r>
            <a:endParaRPr lang="en-GB" sz="2600" dirty="0">
              <a:latin typeface="Gabriola" pitchFamily="82" charset="0"/>
            </a:endParaRPr>
          </a:p>
          <a:p>
            <a:pPr>
              <a:lnSpc>
                <a:spcPct val="150000"/>
              </a:lnSpc>
            </a:pPr>
            <a:r>
              <a:rPr lang="en-GB" sz="2600" dirty="0">
                <a:latin typeface="Gabriola" pitchFamily="82" charset="0"/>
              </a:rPr>
              <a:t>Mortality Rates</a:t>
            </a:r>
            <a:r>
              <a:rPr lang="en-GB" sz="2600" dirty="0" smtClean="0">
                <a:latin typeface="Gabriola" pitchFamily="82" charset="0"/>
              </a:rPr>
              <a:t>:</a:t>
            </a:r>
            <a:endParaRPr lang="en-GB" sz="2600" dirty="0">
              <a:latin typeface="Gabriola" pitchFamily="82" charset="0"/>
            </a:endParaRPr>
          </a:p>
          <a:p>
            <a:pPr lvl="1">
              <a:lnSpc>
                <a:spcPct val="150000"/>
              </a:lnSpc>
            </a:pPr>
            <a:r>
              <a:rPr lang="en-GB" sz="2600" dirty="0">
                <a:latin typeface="Gabriola" pitchFamily="82" charset="0"/>
              </a:rPr>
              <a:t>  B</a:t>
            </a:r>
            <a:r>
              <a:rPr lang="en-GB" sz="2600" dirty="0" smtClean="0">
                <a:latin typeface="Gabriola" pitchFamily="82" charset="0"/>
              </a:rPr>
              <a:t>urn </a:t>
            </a:r>
            <a:r>
              <a:rPr lang="en-GB" sz="2600" dirty="0">
                <a:latin typeface="Gabriola" pitchFamily="82" charset="0"/>
              </a:rPr>
              <a:t>injuries are one of the leading causes of death among trauma patients in Ethiopia</a:t>
            </a:r>
            <a:r>
              <a:rPr lang="en-GB" sz="2600" dirty="0" smtClean="0">
                <a:latin typeface="Gabriola" pitchFamily="82" charset="0"/>
              </a:rPr>
              <a:t>.</a:t>
            </a:r>
            <a:endParaRPr lang="en-GB" sz="26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25</a:t>
            </a:fld>
            <a:endParaRPr lang="en-GB"/>
          </a:p>
        </p:txBody>
      </p:sp>
    </p:spTree>
    <p:extLst>
      <p:ext uri="{BB962C8B-B14F-4D97-AF65-F5344CB8AC3E}">
        <p14:creationId xmlns:p14="http://schemas.microsoft.com/office/powerpoint/2010/main" val="22398021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634082"/>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79512" y="836712"/>
            <a:ext cx="8424936" cy="5637240"/>
          </a:xfrm>
        </p:spPr>
        <p:txBody>
          <a:bodyPr>
            <a:normAutofit/>
          </a:bodyPr>
          <a:lstStyle/>
          <a:p>
            <a:pPr marL="548640" lvl="2">
              <a:lnSpc>
                <a:spcPct val="150000"/>
              </a:lnSpc>
              <a:spcBef>
                <a:spcPts val="600"/>
              </a:spcBef>
              <a:buSzPct val="70000"/>
            </a:pPr>
            <a:r>
              <a:rPr lang="en-GB" sz="2800" dirty="0">
                <a:latin typeface="Gabriola" pitchFamily="82" charset="0"/>
              </a:rPr>
              <a:t>Limited access to specialized care exacerbates the mortality rate</a:t>
            </a:r>
            <a:r>
              <a:rPr lang="en-GB" sz="2800" dirty="0" smtClean="0">
                <a:latin typeface="Gabriola" pitchFamily="82" charset="0"/>
              </a:rPr>
              <a:t>.</a:t>
            </a:r>
          </a:p>
          <a:p>
            <a:pPr>
              <a:lnSpc>
                <a:spcPct val="150000"/>
              </a:lnSpc>
            </a:pPr>
            <a:r>
              <a:rPr lang="en-GB" sz="2800" dirty="0" smtClean="0">
                <a:latin typeface="Gabriola" pitchFamily="82" charset="0"/>
              </a:rPr>
              <a:t>High </a:t>
            </a:r>
            <a:r>
              <a:rPr lang="en-GB" sz="2800" dirty="0">
                <a:latin typeface="Gabriola" pitchFamily="82" charset="0"/>
              </a:rPr>
              <a:t>Prevalence in Rural Areas</a:t>
            </a:r>
            <a:r>
              <a:rPr lang="en-GB" sz="2800" dirty="0" smtClean="0">
                <a:latin typeface="Gabriola" pitchFamily="82" charset="0"/>
              </a:rPr>
              <a:t>:</a:t>
            </a:r>
            <a:endParaRPr lang="en-GB" sz="2800" dirty="0">
              <a:latin typeface="Gabriola" pitchFamily="82" charset="0"/>
            </a:endParaRPr>
          </a:p>
          <a:p>
            <a:pPr lvl="1">
              <a:lnSpc>
                <a:spcPct val="150000"/>
              </a:lnSpc>
            </a:pPr>
            <a:r>
              <a:rPr lang="en-GB" sz="2800" dirty="0">
                <a:latin typeface="Gabriola" pitchFamily="82" charset="0"/>
              </a:rPr>
              <a:t> </a:t>
            </a:r>
            <a:r>
              <a:rPr lang="en-GB" sz="2800" dirty="0" smtClean="0">
                <a:latin typeface="Gabriola" pitchFamily="82" charset="0"/>
              </a:rPr>
              <a:t>Traditional </a:t>
            </a:r>
            <a:r>
              <a:rPr lang="en-GB" sz="2800" dirty="0">
                <a:latin typeface="Gabriola" pitchFamily="82" charset="0"/>
              </a:rPr>
              <a:t>cooking methods, such as the use of open flames (kerosene lamps and stoves) and firewood for cooking, increase the risk of burns.</a:t>
            </a:r>
          </a:p>
          <a:p>
            <a:pPr lvl="1">
              <a:lnSpc>
                <a:spcPct val="150000"/>
              </a:lnSpc>
            </a:pPr>
            <a:r>
              <a:rPr lang="en-GB" sz="2800" dirty="0" smtClean="0">
                <a:latin typeface="Gabriola" pitchFamily="82" charset="0"/>
              </a:rPr>
              <a:t>Unprotected </a:t>
            </a:r>
            <a:r>
              <a:rPr lang="en-GB" sz="2800" dirty="0">
                <a:latin typeface="Gabriola" pitchFamily="82" charset="0"/>
              </a:rPr>
              <a:t>electrical connections and poor building materials contribute to fire accidents.</a:t>
            </a:r>
          </a:p>
        </p:txBody>
      </p:sp>
      <p:sp>
        <p:nvSpPr>
          <p:cNvPr id="5" name="Slide Number Placeholder 4"/>
          <p:cNvSpPr>
            <a:spLocks noGrp="1"/>
          </p:cNvSpPr>
          <p:nvPr>
            <p:ph type="sldNum" sz="quarter" idx="15"/>
          </p:nvPr>
        </p:nvSpPr>
        <p:spPr/>
        <p:txBody>
          <a:bodyPr/>
          <a:lstStyle/>
          <a:p>
            <a:fld id="{968CA758-BC7F-4AFE-853F-5D1E39DDFDA0}" type="slidenum">
              <a:rPr lang="en-GB" smtClean="0"/>
              <a:t>26</a:t>
            </a:fld>
            <a:endParaRPr lang="en-GB"/>
          </a:p>
        </p:txBody>
      </p:sp>
    </p:spTree>
    <p:extLst>
      <p:ext uri="{BB962C8B-B14F-4D97-AF65-F5344CB8AC3E}">
        <p14:creationId xmlns:p14="http://schemas.microsoft.com/office/powerpoint/2010/main" val="16172595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7848872" cy="692696"/>
          </a:xfrm>
        </p:spPr>
        <p:txBody>
          <a:bodyPr>
            <a:normAutofit fontScale="90000"/>
          </a:bodyPr>
          <a:lstStyle/>
          <a:p>
            <a:pPr algn="ctr"/>
            <a:r>
              <a:rPr lang="en-GB" dirty="0"/>
              <a:t/>
            </a:r>
            <a:br>
              <a:rPr lang="en-GB" dirty="0"/>
            </a:br>
            <a:r>
              <a:rPr lang="en-GB" sz="3600" b="1" dirty="0" err="1" smtClean="0">
                <a:solidFill>
                  <a:schemeClr val="tx1"/>
                </a:solidFill>
                <a:latin typeface="Times" pitchFamily="18" charset="0"/>
              </a:rPr>
              <a:t>etiology</a:t>
            </a:r>
            <a:r>
              <a:rPr lang="en-GB" sz="3600" b="1" dirty="0" smtClean="0">
                <a:solidFill>
                  <a:schemeClr val="tx1"/>
                </a:solidFill>
                <a:latin typeface="Times" pitchFamily="18" charset="0"/>
              </a:rPr>
              <a:t> of burn injuries</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179512" y="620688"/>
            <a:ext cx="8568952" cy="5853264"/>
          </a:xfrm>
        </p:spPr>
        <p:txBody>
          <a:bodyPr>
            <a:noAutofit/>
          </a:bodyPr>
          <a:lstStyle/>
          <a:p>
            <a:pPr>
              <a:lnSpc>
                <a:spcPct val="150000"/>
              </a:lnSpc>
            </a:pPr>
            <a:r>
              <a:rPr lang="en-GB" sz="2800" dirty="0">
                <a:latin typeface="Gabriola" pitchFamily="82" charset="0"/>
              </a:rPr>
              <a:t>Burn injuries can arise from a wide range of causes, each contributing to the severity and type of burn sustained. </a:t>
            </a: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err="1" smtClean="0">
                <a:latin typeface="Gabriola" pitchFamily="82" charset="0"/>
              </a:rPr>
              <a:t>etiology</a:t>
            </a:r>
            <a:r>
              <a:rPr lang="en-GB" sz="2800" dirty="0">
                <a:latin typeface="Gabriola" pitchFamily="82" charset="0"/>
              </a:rPr>
              <a:t>, or origin, of burns can be categorized into various </a:t>
            </a:r>
            <a:r>
              <a:rPr lang="en-GB" sz="2800" dirty="0" smtClean="0">
                <a:latin typeface="Gabriola" pitchFamily="82" charset="0"/>
              </a:rPr>
              <a:t>mechanisms. including  </a:t>
            </a:r>
            <a:r>
              <a:rPr lang="en-GB" sz="2800" dirty="0" smtClean="0">
                <a:latin typeface="Gabriola" pitchFamily="82" charset="0"/>
              </a:rPr>
              <a:t>:-</a:t>
            </a:r>
          </a:p>
          <a:p>
            <a:pPr lvl="1">
              <a:lnSpc>
                <a:spcPct val="150000"/>
              </a:lnSpc>
            </a:pPr>
            <a:r>
              <a:rPr lang="en-GB" sz="2800" dirty="0" smtClean="0">
                <a:latin typeface="Gabriola" pitchFamily="82" charset="0"/>
              </a:rPr>
              <a:t>Thermal (flames, scalds, contact),</a:t>
            </a:r>
          </a:p>
          <a:p>
            <a:pPr lvl="1">
              <a:lnSpc>
                <a:spcPct val="150000"/>
              </a:lnSpc>
            </a:pPr>
            <a:r>
              <a:rPr lang="en-GB" sz="2800" dirty="0" smtClean="0">
                <a:latin typeface="Gabriola" pitchFamily="82" charset="0"/>
              </a:rPr>
              <a:t>Electricity,</a:t>
            </a:r>
          </a:p>
          <a:p>
            <a:pPr lvl="1">
              <a:lnSpc>
                <a:spcPct val="150000"/>
              </a:lnSpc>
            </a:pPr>
            <a:r>
              <a:rPr lang="en-GB" sz="2800" dirty="0" smtClean="0">
                <a:latin typeface="Gabriola" pitchFamily="82" charset="0"/>
              </a:rPr>
              <a:t>Chemicals, or </a:t>
            </a:r>
          </a:p>
          <a:p>
            <a:pPr lvl="1">
              <a:lnSpc>
                <a:spcPct val="150000"/>
              </a:lnSpc>
            </a:pPr>
            <a:r>
              <a:rPr lang="en-GB" sz="2800" dirty="0" smtClean="0">
                <a:latin typeface="Gabriola" pitchFamily="82" charset="0"/>
              </a:rPr>
              <a:t>Sunlight. </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27</a:t>
            </a:fld>
            <a:endParaRPr lang="en-GB"/>
          </a:p>
        </p:txBody>
      </p:sp>
    </p:spTree>
    <p:extLst>
      <p:ext uri="{BB962C8B-B14F-4D97-AF65-F5344CB8AC3E}">
        <p14:creationId xmlns:p14="http://schemas.microsoft.com/office/powerpoint/2010/main" val="23459354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490066"/>
          </a:xfrm>
        </p:spPr>
        <p:txBody>
          <a:bodyPr>
            <a:normAutofit fontScale="90000"/>
          </a:bodyPr>
          <a:lstStyle/>
          <a:p>
            <a:pPr algn="ctr"/>
            <a:r>
              <a:rPr lang="en-GB" b="1" dirty="0">
                <a:solidFill>
                  <a:schemeClr val="tx1"/>
                </a:solidFill>
              </a:rPr>
              <a:t/>
            </a:r>
            <a:br>
              <a:rPr lang="en-GB" b="1" dirty="0">
                <a:solidFill>
                  <a:schemeClr val="tx1"/>
                </a:solidFill>
              </a:rPr>
            </a:br>
            <a:r>
              <a:rPr lang="en-GB" b="1" dirty="0" smtClean="0">
                <a:solidFill>
                  <a:schemeClr val="tx1"/>
                </a:solidFill>
              </a:rPr>
              <a:t>1. </a:t>
            </a:r>
            <a:r>
              <a:rPr lang="en-GB" sz="3600" b="1" dirty="0" smtClean="0">
                <a:solidFill>
                  <a:schemeClr val="tx1"/>
                </a:solidFill>
                <a:latin typeface="Times" pitchFamily="18" charset="0"/>
              </a:rPr>
              <a:t>thermal burns </a:t>
            </a:r>
            <a:endParaRPr lang="en-GB" dirty="0">
              <a:solidFill>
                <a:schemeClr val="tx1"/>
              </a:solidFill>
              <a:latin typeface="Times" pitchFamily="18" charset="0"/>
            </a:endParaRPr>
          </a:p>
        </p:txBody>
      </p:sp>
      <p:sp>
        <p:nvSpPr>
          <p:cNvPr id="3" name="Content Placeholder 2"/>
          <p:cNvSpPr>
            <a:spLocks noGrp="1"/>
          </p:cNvSpPr>
          <p:nvPr>
            <p:ph sz="quarter" idx="1"/>
          </p:nvPr>
        </p:nvSpPr>
        <p:spPr>
          <a:xfrm>
            <a:off x="107504" y="980728"/>
            <a:ext cx="8424936" cy="5493224"/>
          </a:xfrm>
        </p:spPr>
        <p:txBody>
          <a:bodyPr>
            <a:normAutofit/>
          </a:bodyPr>
          <a:lstStyle/>
          <a:p>
            <a:pPr>
              <a:lnSpc>
                <a:spcPct val="150000"/>
              </a:lnSpc>
            </a:pPr>
            <a:r>
              <a:rPr lang="en-GB" sz="2800" b="1" dirty="0" smtClean="0">
                <a:latin typeface="Gabriola" pitchFamily="82" charset="0"/>
              </a:rPr>
              <a:t>Causes</a:t>
            </a:r>
            <a:r>
              <a:rPr lang="en-GB" sz="2800" b="1" dirty="0">
                <a:latin typeface="Gabriola" pitchFamily="82" charset="0"/>
              </a:rPr>
              <a:t>:</a:t>
            </a:r>
          </a:p>
          <a:p>
            <a:pPr lvl="1">
              <a:lnSpc>
                <a:spcPct val="150000"/>
              </a:lnSpc>
            </a:pPr>
            <a:r>
              <a:rPr lang="en-GB" sz="2800" dirty="0">
                <a:latin typeface="Gabriola" pitchFamily="82" charset="0"/>
              </a:rPr>
              <a:t>Flame </a:t>
            </a:r>
            <a:r>
              <a:rPr lang="en-GB" sz="2800" dirty="0" smtClean="0">
                <a:latin typeface="Gabriola" pitchFamily="82" charset="0"/>
              </a:rPr>
              <a:t>Burns</a:t>
            </a:r>
            <a:r>
              <a:rPr lang="en-GB" sz="2800" dirty="0" smtClean="0">
                <a:latin typeface="Gabriola" pitchFamily="82" charset="0"/>
              </a:rPr>
              <a:t>, </a:t>
            </a:r>
            <a:r>
              <a:rPr lang="en-GB" sz="2800" dirty="0" smtClean="0">
                <a:latin typeface="Gabriola" pitchFamily="82" charset="0"/>
              </a:rPr>
              <a:t>Scalds </a:t>
            </a:r>
            <a:r>
              <a:rPr lang="en-GB" sz="2800" dirty="0">
                <a:latin typeface="Gabriola" pitchFamily="82" charset="0"/>
              </a:rPr>
              <a:t>(Hot </a:t>
            </a:r>
            <a:r>
              <a:rPr lang="en-GB" sz="2800" dirty="0" smtClean="0">
                <a:latin typeface="Gabriola" pitchFamily="82" charset="0"/>
              </a:rPr>
              <a:t>Liquids),Hot Objects.</a:t>
            </a:r>
            <a:endParaRPr lang="en-GB" sz="2800" dirty="0">
              <a:latin typeface="Gabriola" pitchFamily="82" charset="0"/>
            </a:endParaRPr>
          </a:p>
          <a:p>
            <a:pPr marL="0" indent="0">
              <a:lnSpc>
                <a:spcPct val="150000"/>
              </a:lnSpc>
              <a:buNone/>
            </a:pPr>
            <a:r>
              <a:rPr lang="en-GB" sz="2800" b="1" dirty="0">
                <a:latin typeface="Gabriola" pitchFamily="82" charset="0"/>
              </a:rPr>
              <a:t>1. Flame Burns</a:t>
            </a:r>
          </a:p>
          <a:p>
            <a:pPr lvl="1">
              <a:lnSpc>
                <a:spcPct val="150000"/>
              </a:lnSpc>
            </a:pPr>
            <a:r>
              <a:rPr lang="en-GB" sz="2800" b="1" dirty="0">
                <a:latin typeface="Gabriola" pitchFamily="82" charset="0"/>
              </a:rPr>
              <a:t>Cause:</a:t>
            </a:r>
            <a:r>
              <a:rPr lang="en-GB" sz="2800" dirty="0">
                <a:latin typeface="Gabriola" pitchFamily="82" charset="0"/>
              </a:rPr>
              <a:t> Direct contact with flames or fire sources (e.g., house fires, car accidents, industrial incidents, or explosions).</a:t>
            </a:r>
          </a:p>
          <a:p>
            <a:pPr lvl="1">
              <a:lnSpc>
                <a:spcPct val="150000"/>
              </a:lnSpc>
            </a:pPr>
            <a:r>
              <a:rPr lang="en-GB" sz="2800" b="1" dirty="0">
                <a:latin typeface="Gabriola" pitchFamily="82" charset="0"/>
              </a:rPr>
              <a:t>Prevalence:</a:t>
            </a:r>
            <a:r>
              <a:rPr lang="en-GB" sz="2800" dirty="0">
                <a:latin typeface="Gabriola" pitchFamily="82" charset="0"/>
              </a:rPr>
              <a:t> Flame burns are one of the most common causes of burn injuries.</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28</a:t>
            </a:fld>
            <a:endParaRPr lang="en-GB"/>
          </a:p>
        </p:txBody>
      </p:sp>
    </p:spTree>
    <p:extLst>
      <p:ext uri="{BB962C8B-B14F-4D97-AF65-F5344CB8AC3E}">
        <p14:creationId xmlns:p14="http://schemas.microsoft.com/office/powerpoint/2010/main" val="1094029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8640"/>
            <a:ext cx="7817296" cy="43204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692696"/>
            <a:ext cx="8640960" cy="5781256"/>
          </a:xfrm>
        </p:spPr>
        <p:txBody>
          <a:bodyPr>
            <a:normAutofit/>
          </a:bodyPr>
          <a:lstStyle/>
          <a:p>
            <a:pPr>
              <a:lnSpc>
                <a:spcPct val="150000"/>
              </a:lnSpc>
            </a:pPr>
            <a:r>
              <a:rPr lang="en-GB" sz="2800" b="1" dirty="0" smtClean="0">
                <a:latin typeface="Gabriola" pitchFamily="82" charset="0"/>
              </a:rPr>
              <a:t>Mechanism</a:t>
            </a:r>
            <a:r>
              <a:rPr lang="en-GB" sz="2800" b="1" dirty="0">
                <a:latin typeface="Gabriola" pitchFamily="82" charset="0"/>
              </a:rPr>
              <a:t>:</a:t>
            </a:r>
            <a:r>
              <a:rPr lang="en-GB" sz="2800" dirty="0">
                <a:latin typeface="Gabriola" pitchFamily="82" charset="0"/>
              </a:rPr>
              <a:t> Flames cause intense heat that can quickly damage skin and underlying tissues, leading to first, second, or third-degree burns depending on the exposure time and temperature.</a:t>
            </a:r>
          </a:p>
          <a:p>
            <a:pPr lvl="1">
              <a:lnSpc>
                <a:spcPct val="150000"/>
              </a:lnSpc>
            </a:pPr>
            <a:r>
              <a:rPr lang="en-GB" sz="2800" b="1" dirty="0" smtClean="0">
                <a:latin typeface="Gabriola" pitchFamily="82" charset="0"/>
              </a:rPr>
              <a:t>Age </a:t>
            </a:r>
            <a:r>
              <a:rPr lang="en-GB" sz="2800" b="1" dirty="0">
                <a:latin typeface="Gabriola" pitchFamily="82" charset="0"/>
              </a:rPr>
              <a:t>Group:</a:t>
            </a:r>
            <a:r>
              <a:rPr lang="en-GB" sz="2800" dirty="0">
                <a:latin typeface="Gabriola" pitchFamily="82" charset="0"/>
              </a:rPr>
              <a:t> More common in </a:t>
            </a:r>
            <a:r>
              <a:rPr lang="en-GB" sz="2800" b="1" dirty="0">
                <a:latin typeface="Gabriola" pitchFamily="82" charset="0"/>
              </a:rPr>
              <a:t>adults</a:t>
            </a:r>
            <a:r>
              <a:rPr lang="en-GB" sz="2800" dirty="0">
                <a:latin typeface="Gabriola" pitchFamily="82" charset="0"/>
              </a:rPr>
              <a:t> and </a:t>
            </a:r>
            <a:r>
              <a:rPr lang="en-GB" sz="2800" b="1" dirty="0">
                <a:latin typeface="Gabriola" pitchFamily="82" charset="0"/>
              </a:rPr>
              <a:t>children</a:t>
            </a:r>
            <a:r>
              <a:rPr lang="en-GB" sz="2800" dirty="0">
                <a:latin typeface="Gabriola" pitchFamily="82" charset="0"/>
              </a:rPr>
              <a:t>, especially in situations like household fires or occupational accidents.</a:t>
            </a:r>
          </a:p>
          <a:p>
            <a:pPr marL="0" indent="0">
              <a:lnSpc>
                <a:spcPct val="160000"/>
              </a:lnSpc>
              <a:buNone/>
            </a:pPr>
            <a:r>
              <a:rPr lang="en-GB" sz="2800" b="1" dirty="0">
                <a:latin typeface="Gabriola" pitchFamily="82" charset="0"/>
              </a:rPr>
              <a:t>2. Scald Burns</a:t>
            </a:r>
          </a:p>
          <a:p>
            <a:pPr>
              <a:lnSpc>
                <a:spcPct val="160000"/>
              </a:lnSpc>
            </a:pPr>
            <a:r>
              <a:rPr lang="en-GB" sz="2800" b="1" dirty="0">
                <a:latin typeface="Gabriola" pitchFamily="82" charset="0"/>
              </a:rPr>
              <a:t>Cause:</a:t>
            </a:r>
            <a:r>
              <a:rPr lang="en-GB" sz="2800" dirty="0">
                <a:latin typeface="Gabriola" pitchFamily="82" charset="0"/>
              </a:rPr>
              <a:t> Burns from hot liquids or steam (e.g., hot water, coffee, tea, or cooking oil).</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29</a:t>
            </a:fld>
            <a:endParaRPr lang="en-GB"/>
          </a:p>
        </p:txBody>
      </p:sp>
    </p:spTree>
    <p:extLst>
      <p:ext uri="{BB962C8B-B14F-4D97-AF65-F5344CB8AC3E}">
        <p14:creationId xmlns:p14="http://schemas.microsoft.com/office/powerpoint/2010/main" val="3093009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07504" y="764704"/>
            <a:ext cx="8712968" cy="5709248"/>
          </a:xfrm>
        </p:spPr>
        <p:txBody>
          <a:bodyPr>
            <a:normAutofit/>
          </a:bodyPr>
          <a:lstStyle/>
          <a:p>
            <a:pPr>
              <a:lnSpc>
                <a:spcPct val="160000"/>
              </a:lnSpc>
            </a:pPr>
            <a:r>
              <a:rPr lang="en-GB" sz="2800" b="1" dirty="0" smtClean="0">
                <a:latin typeface="Gabriola" pitchFamily="82" charset="0"/>
              </a:rPr>
              <a:t>Mechanism</a:t>
            </a:r>
            <a:r>
              <a:rPr lang="en-GB" sz="2800" b="1" dirty="0">
                <a:latin typeface="Gabriola" pitchFamily="82" charset="0"/>
              </a:rPr>
              <a:t>:</a:t>
            </a:r>
            <a:r>
              <a:rPr lang="en-GB" sz="2800" dirty="0">
                <a:latin typeface="Gabriola" pitchFamily="82" charset="0"/>
              </a:rPr>
              <a:t> Scalds result from the rapid transfer of heat from liquids or steam, which cause immediate tissue damage. The burn severity depends on the temperature and the duration of exposure.</a:t>
            </a:r>
          </a:p>
          <a:p>
            <a:pPr>
              <a:lnSpc>
                <a:spcPct val="160000"/>
              </a:lnSpc>
            </a:pPr>
            <a:r>
              <a:rPr lang="en-GB" sz="2800" b="1" dirty="0">
                <a:latin typeface="Gabriola" pitchFamily="82" charset="0"/>
              </a:rPr>
              <a:t>Prevalence:</a:t>
            </a:r>
            <a:r>
              <a:rPr lang="en-GB" sz="2800" dirty="0">
                <a:latin typeface="Gabriola" pitchFamily="82" charset="0"/>
              </a:rPr>
              <a:t> Scald injuries are common, especially in </a:t>
            </a:r>
            <a:r>
              <a:rPr lang="en-GB" sz="2800" b="1" dirty="0">
                <a:latin typeface="Gabriola" pitchFamily="82" charset="0"/>
              </a:rPr>
              <a:t>children</a:t>
            </a:r>
            <a:r>
              <a:rPr lang="en-GB" sz="2800" dirty="0">
                <a:latin typeface="Gabriola" pitchFamily="82" charset="0"/>
              </a:rPr>
              <a:t> </a:t>
            </a:r>
            <a:r>
              <a:rPr lang="en-GB" sz="2800" dirty="0" smtClean="0">
                <a:latin typeface="Gabriola" pitchFamily="82" charset="0"/>
              </a:rPr>
              <a:t>and </a:t>
            </a:r>
            <a:r>
              <a:rPr lang="en-GB" sz="2800" b="1" dirty="0">
                <a:latin typeface="Gabriola" pitchFamily="82" charset="0"/>
              </a:rPr>
              <a:t>elderly</a:t>
            </a:r>
            <a:r>
              <a:rPr lang="en-GB" sz="2800" dirty="0">
                <a:latin typeface="Gabriola" pitchFamily="82" charset="0"/>
              </a:rPr>
              <a:t> </a:t>
            </a:r>
            <a:endParaRPr lang="en-GB" sz="2800" dirty="0" smtClean="0">
              <a:latin typeface="Gabriola" pitchFamily="82" charset="0"/>
            </a:endParaRPr>
          </a:p>
          <a:p>
            <a:pPr marL="365760" lvl="1" indent="0">
              <a:lnSpc>
                <a:spcPct val="160000"/>
              </a:lnSpc>
              <a:buNone/>
            </a:pPr>
            <a:r>
              <a:rPr lang="en-GB" sz="2800" b="1" dirty="0">
                <a:latin typeface="Gabriola" pitchFamily="82" charset="0"/>
              </a:rPr>
              <a:t>Age Group:</a:t>
            </a:r>
            <a:r>
              <a:rPr lang="en-GB" sz="2800" dirty="0">
                <a:latin typeface="Gabriola" pitchFamily="82" charset="0"/>
              </a:rPr>
              <a:t> </a:t>
            </a:r>
            <a:endParaRPr lang="en-GB" sz="2800" dirty="0" smtClean="0">
              <a:latin typeface="Gabriola" pitchFamily="82" charset="0"/>
            </a:endParaRPr>
          </a:p>
          <a:p>
            <a:pPr lvl="1">
              <a:lnSpc>
                <a:spcPct val="160000"/>
              </a:lnSpc>
            </a:pPr>
            <a:r>
              <a:rPr lang="en-GB" sz="2800" b="1" dirty="0" smtClean="0">
                <a:latin typeface="Gabriola" pitchFamily="82" charset="0"/>
              </a:rPr>
              <a:t>Children </a:t>
            </a:r>
            <a:r>
              <a:rPr lang="en-GB" sz="2800" b="1" dirty="0">
                <a:latin typeface="Gabriola" pitchFamily="82" charset="0"/>
              </a:rPr>
              <a:t>(especially under 5 years)</a:t>
            </a:r>
            <a:r>
              <a:rPr lang="en-GB" sz="2800" dirty="0">
                <a:latin typeface="Gabriola" pitchFamily="82" charset="0"/>
              </a:rPr>
              <a:t> are at the highest risk for scald burns due to curiosity and their lower ability to escape from danger.</a:t>
            </a:r>
          </a:p>
          <a:p>
            <a:pPr marL="365760" lvl="1" indent="0">
              <a:lnSpc>
                <a:spcPct val="160000"/>
              </a:lnSpc>
              <a:buNone/>
            </a:pPr>
            <a:endParaRPr lang="en-GB" sz="2800" dirty="0">
              <a:latin typeface="Gabriola" pitchFamily="82" charset="0"/>
            </a:endParaRPr>
          </a:p>
          <a:p>
            <a:pPr>
              <a:lnSpc>
                <a:spcPct val="16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30</a:t>
            </a:fld>
            <a:endParaRPr lang="en-GB"/>
          </a:p>
        </p:txBody>
      </p:sp>
    </p:spTree>
    <p:extLst>
      <p:ext uri="{BB962C8B-B14F-4D97-AF65-F5344CB8AC3E}">
        <p14:creationId xmlns:p14="http://schemas.microsoft.com/office/powerpoint/2010/main" val="1646882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634082"/>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179512" y="836712"/>
            <a:ext cx="8640960" cy="5637240"/>
          </a:xfrm>
        </p:spPr>
        <p:txBody>
          <a:bodyPr>
            <a:normAutofit lnSpcReduction="10000"/>
          </a:bodyPr>
          <a:lstStyle/>
          <a:p>
            <a:pPr lvl="1">
              <a:lnSpc>
                <a:spcPct val="160000"/>
              </a:lnSpc>
            </a:pPr>
            <a:r>
              <a:rPr lang="en-GB" sz="2800" b="1" dirty="0" smtClean="0">
                <a:latin typeface="Gabriola" pitchFamily="82" charset="0"/>
              </a:rPr>
              <a:t>Adults </a:t>
            </a:r>
            <a:r>
              <a:rPr lang="en-GB" sz="2800" b="1" dirty="0">
                <a:latin typeface="Gabriola" pitchFamily="82" charset="0"/>
              </a:rPr>
              <a:t>and Elderly:</a:t>
            </a:r>
            <a:r>
              <a:rPr lang="en-GB" sz="2800" dirty="0">
                <a:latin typeface="Gabriola" pitchFamily="82" charset="0"/>
              </a:rPr>
              <a:t> While scald burns are also common in adults, the elderly are particularly vulnerable due to impaired mobility and slower </a:t>
            </a:r>
            <a:r>
              <a:rPr lang="en-GB" sz="2800" dirty="0" smtClean="0">
                <a:latin typeface="Gabriola" pitchFamily="82" charset="0"/>
              </a:rPr>
              <a:t>reflexes</a:t>
            </a:r>
          </a:p>
          <a:p>
            <a:pPr marL="0" indent="0">
              <a:lnSpc>
                <a:spcPct val="150000"/>
              </a:lnSpc>
              <a:buNone/>
            </a:pPr>
            <a:r>
              <a:rPr lang="en-GB" sz="3200" b="1" dirty="0">
                <a:latin typeface="Gabriola" pitchFamily="82" charset="0"/>
              </a:rPr>
              <a:t>3. </a:t>
            </a:r>
            <a:r>
              <a:rPr lang="en-GB" sz="2800" b="1" dirty="0">
                <a:latin typeface="Gabriola" pitchFamily="82" charset="0"/>
              </a:rPr>
              <a:t>Contact Burns</a:t>
            </a:r>
          </a:p>
          <a:p>
            <a:pPr>
              <a:lnSpc>
                <a:spcPct val="150000"/>
              </a:lnSpc>
            </a:pPr>
            <a:r>
              <a:rPr lang="en-GB" sz="2800" b="1" dirty="0">
                <a:latin typeface="Gabriola" pitchFamily="82" charset="0"/>
              </a:rPr>
              <a:t>Cause:</a:t>
            </a:r>
            <a:r>
              <a:rPr lang="en-GB" sz="2800" dirty="0">
                <a:latin typeface="Gabriola" pitchFamily="82" charset="0"/>
              </a:rPr>
              <a:t> Direct contact with hot surfaces or objects (e.g., stoves, irons, hot appliances, or radiators).</a:t>
            </a:r>
          </a:p>
          <a:p>
            <a:pPr>
              <a:lnSpc>
                <a:spcPct val="160000"/>
              </a:lnSpc>
            </a:pPr>
            <a:r>
              <a:rPr lang="en-GB" sz="3000" b="1" dirty="0">
                <a:latin typeface="Gabriola" pitchFamily="82" charset="0"/>
              </a:rPr>
              <a:t>Prevalence:</a:t>
            </a:r>
            <a:r>
              <a:rPr lang="en-GB" sz="3000" dirty="0">
                <a:latin typeface="Gabriola" pitchFamily="82" charset="0"/>
              </a:rPr>
              <a:t> Contact burns are relatively common, especially in the </a:t>
            </a:r>
            <a:r>
              <a:rPr lang="en-GB" sz="3000" b="1" dirty="0">
                <a:latin typeface="Gabriola" pitchFamily="82" charset="0"/>
              </a:rPr>
              <a:t>home environment</a:t>
            </a:r>
            <a:r>
              <a:rPr lang="en-GB" sz="3000" dirty="0">
                <a:latin typeface="Gabriola" pitchFamily="82" charset="0"/>
              </a:rPr>
              <a:t> or </a:t>
            </a:r>
            <a:r>
              <a:rPr lang="en-GB" sz="3000" b="1" dirty="0">
                <a:latin typeface="Gabriola" pitchFamily="82" charset="0"/>
              </a:rPr>
              <a:t>workplaces</a:t>
            </a:r>
            <a:r>
              <a:rPr lang="en-GB" sz="3000" dirty="0">
                <a:latin typeface="Gabriola" pitchFamily="82" charset="0"/>
              </a:rPr>
              <a:t> (e.g., kitchen, industrial settings).</a:t>
            </a:r>
          </a:p>
          <a:p>
            <a:pPr>
              <a:lnSpc>
                <a:spcPct val="160000"/>
              </a:lnSpc>
            </a:pPr>
            <a:endParaRPr lang="en-US" sz="3100" dirty="0"/>
          </a:p>
        </p:txBody>
      </p:sp>
      <p:sp>
        <p:nvSpPr>
          <p:cNvPr id="4" name="Slide Number Placeholder 3"/>
          <p:cNvSpPr>
            <a:spLocks noGrp="1"/>
          </p:cNvSpPr>
          <p:nvPr>
            <p:ph type="sldNum" sz="quarter" idx="15"/>
          </p:nvPr>
        </p:nvSpPr>
        <p:spPr/>
        <p:txBody>
          <a:bodyPr/>
          <a:lstStyle/>
          <a:p>
            <a:fld id="{968CA758-BC7F-4AFE-853F-5D1E39DDFDA0}" type="slidenum">
              <a:rPr lang="en-GB" smtClean="0"/>
              <a:t>31</a:t>
            </a:fld>
            <a:endParaRPr lang="en-GB"/>
          </a:p>
        </p:txBody>
      </p:sp>
    </p:spTree>
    <p:extLst>
      <p:ext uri="{BB962C8B-B14F-4D97-AF65-F5344CB8AC3E}">
        <p14:creationId xmlns:p14="http://schemas.microsoft.com/office/powerpoint/2010/main" val="1347373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74638"/>
            <a:ext cx="7889304"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79512" y="764704"/>
            <a:ext cx="8640960" cy="5709248"/>
          </a:xfrm>
        </p:spPr>
        <p:txBody>
          <a:bodyPr>
            <a:normAutofit/>
          </a:bodyPr>
          <a:lstStyle/>
          <a:p>
            <a:pPr>
              <a:lnSpc>
                <a:spcPct val="150000"/>
              </a:lnSpc>
            </a:pPr>
            <a:r>
              <a:rPr lang="en-GB" sz="2800" b="1" dirty="0" smtClean="0">
                <a:latin typeface="Gabriola" pitchFamily="82" charset="0"/>
              </a:rPr>
              <a:t>Mechanism</a:t>
            </a:r>
            <a:r>
              <a:rPr lang="en-GB" sz="2800" b="1" dirty="0">
                <a:latin typeface="Gabriola" pitchFamily="82" charset="0"/>
              </a:rPr>
              <a:t>:</a:t>
            </a:r>
            <a:r>
              <a:rPr lang="en-GB" sz="2800" dirty="0">
                <a:latin typeface="Gabriola" pitchFamily="82" charset="0"/>
              </a:rPr>
              <a:t> Contact burns occur when the skin touches a hot object for a prolonged period, causing localized damage. The depth of the burn depends on the temperature of the object and the contact duration.</a:t>
            </a:r>
          </a:p>
          <a:p>
            <a:pPr lvl="1">
              <a:lnSpc>
                <a:spcPct val="150000"/>
              </a:lnSpc>
            </a:pPr>
            <a:r>
              <a:rPr lang="en-GB" sz="2800" b="1" dirty="0" smtClean="0">
                <a:latin typeface="Gabriola" pitchFamily="82" charset="0"/>
              </a:rPr>
              <a:t>Age </a:t>
            </a:r>
            <a:r>
              <a:rPr lang="en-GB" sz="2800" b="1" dirty="0">
                <a:latin typeface="Gabriola" pitchFamily="82" charset="0"/>
              </a:rPr>
              <a:t>Group:</a:t>
            </a:r>
            <a:r>
              <a:rPr lang="en-GB" sz="2800" dirty="0">
                <a:latin typeface="Gabriola" pitchFamily="82" charset="0"/>
              </a:rPr>
              <a:t> Both </a:t>
            </a:r>
            <a:r>
              <a:rPr lang="en-GB" sz="2800" b="1" dirty="0">
                <a:latin typeface="Gabriola" pitchFamily="82" charset="0"/>
              </a:rPr>
              <a:t>children</a:t>
            </a:r>
            <a:r>
              <a:rPr lang="en-GB" sz="2800" dirty="0">
                <a:latin typeface="Gabriola" pitchFamily="82" charset="0"/>
              </a:rPr>
              <a:t> (due to their curiosity) and </a:t>
            </a:r>
            <a:r>
              <a:rPr lang="en-GB" sz="2800" b="1" dirty="0">
                <a:latin typeface="Gabriola" pitchFamily="82" charset="0"/>
              </a:rPr>
              <a:t>adults</a:t>
            </a:r>
            <a:r>
              <a:rPr lang="en-GB" sz="2800" dirty="0">
                <a:latin typeface="Gabriola" pitchFamily="82" charset="0"/>
              </a:rPr>
              <a:t> (due to accidents in daily activities) are susceptible.</a:t>
            </a:r>
          </a:p>
          <a:p>
            <a:pPr lvl="1">
              <a:lnSpc>
                <a:spcPct val="150000"/>
              </a:lnSpc>
            </a:pPr>
            <a:r>
              <a:rPr lang="en-GB" sz="2800" b="1" dirty="0">
                <a:latin typeface="Gabriola" pitchFamily="82" charset="0"/>
              </a:rPr>
              <a:t>Elderly:</a:t>
            </a:r>
            <a:r>
              <a:rPr lang="en-GB" sz="2800" dirty="0">
                <a:latin typeface="Gabriola" pitchFamily="82" charset="0"/>
              </a:rPr>
              <a:t> Older individuals may experience contact burns more frequently due to limited mobility and slower response times.</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32</a:t>
            </a:fld>
            <a:endParaRPr lang="en-GB"/>
          </a:p>
        </p:txBody>
      </p:sp>
    </p:spTree>
    <p:extLst>
      <p:ext uri="{BB962C8B-B14F-4D97-AF65-F5344CB8AC3E}">
        <p14:creationId xmlns:p14="http://schemas.microsoft.com/office/powerpoint/2010/main" val="3184363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7601272" cy="634082"/>
          </a:xfrm>
        </p:spPr>
        <p:txBody>
          <a:bodyPr/>
          <a:lstStyle/>
          <a:p>
            <a:pPr algn="ctr"/>
            <a:r>
              <a:rPr lang="en-GB" b="1" dirty="0" smtClean="0">
                <a:solidFill>
                  <a:schemeClr val="tx1"/>
                </a:solidFill>
                <a:latin typeface="Times" pitchFamily="18" charset="0"/>
              </a:rPr>
              <a:t>2. Electrical Burns </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395536" y="1052736"/>
            <a:ext cx="8208912" cy="5421216"/>
          </a:xfrm>
        </p:spPr>
        <p:txBody>
          <a:bodyPr>
            <a:normAutofit/>
          </a:bodyPr>
          <a:lstStyle/>
          <a:p>
            <a:pPr>
              <a:lnSpc>
                <a:spcPct val="160000"/>
              </a:lnSpc>
            </a:pPr>
            <a:r>
              <a:rPr lang="en-GB" sz="2800" b="1" dirty="0" smtClean="0">
                <a:latin typeface="Gabriola" pitchFamily="82" charset="0"/>
              </a:rPr>
              <a:t>Cause</a:t>
            </a:r>
            <a:r>
              <a:rPr lang="en-GB" sz="2800" b="1" dirty="0">
                <a:latin typeface="Gabriola" pitchFamily="82" charset="0"/>
              </a:rPr>
              <a:t>:</a:t>
            </a:r>
            <a:r>
              <a:rPr lang="en-GB" sz="2800" dirty="0">
                <a:latin typeface="Gabriola" pitchFamily="82" charset="0"/>
              </a:rPr>
              <a:t> Exposure to electric current, either from direct contact with electrical sources or from lightning strikes.</a:t>
            </a:r>
          </a:p>
          <a:p>
            <a:pPr>
              <a:lnSpc>
                <a:spcPct val="160000"/>
              </a:lnSpc>
            </a:pPr>
            <a:r>
              <a:rPr lang="en-GB" sz="2800" b="1" dirty="0">
                <a:latin typeface="Gabriola" pitchFamily="82" charset="0"/>
              </a:rPr>
              <a:t>Mechanism:</a:t>
            </a:r>
            <a:r>
              <a:rPr lang="en-GB" sz="2800" dirty="0">
                <a:latin typeface="Gabriola" pitchFamily="82" charset="0"/>
              </a:rPr>
              <a:t> Electrical burns occur when an electric current passes through the body, causing heat generation within tissues and resulting in severe damage</a:t>
            </a:r>
            <a:r>
              <a:rPr lang="en-GB" sz="2800" dirty="0" smtClean="0">
                <a:latin typeface="Gabriola" pitchFamily="82" charset="0"/>
              </a:rPr>
              <a:t>.</a:t>
            </a:r>
          </a:p>
          <a:p>
            <a:pPr lvl="1">
              <a:lnSpc>
                <a:spcPct val="160000"/>
              </a:lnSpc>
            </a:pPr>
            <a:r>
              <a:rPr lang="en-GB" sz="2800" dirty="0" smtClean="0">
                <a:latin typeface="Gabriola" pitchFamily="82" charset="0"/>
              </a:rPr>
              <a:t> </a:t>
            </a:r>
            <a:r>
              <a:rPr lang="en-GB" sz="2800" dirty="0">
                <a:latin typeface="Gabriola" pitchFamily="82" charset="0"/>
              </a:rPr>
              <a:t>It can cause deep tissue injury, cardiac arrhythmias, and internal organ damage</a:t>
            </a:r>
            <a:r>
              <a:rPr lang="en-GB" sz="2400" dirty="0" smtClean="0">
                <a:latin typeface="Gabriola" pitchFamily="82" charset="0"/>
              </a:rPr>
              <a:t>.</a:t>
            </a:r>
            <a:endParaRPr lang="en-GB" sz="24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33</a:t>
            </a:fld>
            <a:endParaRPr lang="en-GB"/>
          </a:p>
        </p:txBody>
      </p:sp>
    </p:spTree>
    <p:extLst>
      <p:ext uri="{BB962C8B-B14F-4D97-AF65-F5344CB8AC3E}">
        <p14:creationId xmlns:p14="http://schemas.microsoft.com/office/powerpoint/2010/main" val="2938531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7457256" cy="706090"/>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07504" y="1052736"/>
            <a:ext cx="8424936" cy="5421216"/>
          </a:xfrm>
        </p:spPr>
        <p:txBody>
          <a:bodyPr>
            <a:normAutofit lnSpcReduction="10000"/>
          </a:bodyPr>
          <a:lstStyle/>
          <a:p>
            <a:pPr>
              <a:lnSpc>
                <a:spcPct val="160000"/>
              </a:lnSpc>
            </a:pPr>
            <a:r>
              <a:rPr lang="en-GB" sz="2800" b="1" dirty="0">
                <a:latin typeface="Gabriola" pitchFamily="82" charset="0"/>
              </a:rPr>
              <a:t>Prevalence:</a:t>
            </a:r>
            <a:r>
              <a:rPr lang="en-GB" sz="2800" dirty="0">
                <a:latin typeface="Gabriola" pitchFamily="82" charset="0"/>
              </a:rPr>
              <a:t> Electrical burns are less common but can be severe and life-threatening.</a:t>
            </a:r>
          </a:p>
          <a:p>
            <a:pPr lvl="1">
              <a:lnSpc>
                <a:spcPct val="160000"/>
              </a:lnSpc>
            </a:pPr>
            <a:r>
              <a:rPr lang="en-GB" sz="2800" b="1" dirty="0">
                <a:latin typeface="Gabriola" pitchFamily="82" charset="0"/>
              </a:rPr>
              <a:t>Age Group:</a:t>
            </a:r>
            <a:r>
              <a:rPr lang="en-GB" sz="2800" dirty="0">
                <a:latin typeface="Gabriola" pitchFamily="82" charset="0"/>
              </a:rPr>
              <a:t> More common in </a:t>
            </a:r>
            <a:r>
              <a:rPr lang="en-GB" sz="2800" b="1" dirty="0">
                <a:latin typeface="Gabriola" pitchFamily="82" charset="0"/>
              </a:rPr>
              <a:t>adults</a:t>
            </a:r>
            <a:r>
              <a:rPr lang="en-GB" sz="2800" dirty="0">
                <a:latin typeface="Gabriola" pitchFamily="82" charset="0"/>
              </a:rPr>
              <a:t> who work with electrical equipment, but </a:t>
            </a:r>
            <a:r>
              <a:rPr lang="en-GB" sz="2800" b="1" dirty="0">
                <a:latin typeface="Gabriola" pitchFamily="82" charset="0"/>
              </a:rPr>
              <a:t>children</a:t>
            </a:r>
            <a:r>
              <a:rPr lang="en-GB" sz="2800" dirty="0">
                <a:latin typeface="Gabriola" pitchFamily="82" charset="0"/>
              </a:rPr>
              <a:t> may be at risk from household electrical outlets or wires.</a:t>
            </a:r>
          </a:p>
          <a:p>
            <a:pPr lvl="1">
              <a:lnSpc>
                <a:spcPct val="160000"/>
              </a:lnSpc>
            </a:pPr>
            <a:r>
              <a:rPr lang="en-GB" sz="2800" b="1" dirty="0">
                <a:latin typeface="Gabriola" pitchFamily="82" charset="0"/>
              </a:rPr>
              <a:t>Workplace Risk:</a:t>
            </a:r>
            <a:r>
              <a:rPr lang="en-GB" sz="2800" dirty="0">
                <a:latin typeface="Gabriola" pitchFamily="82" charset="0"/>
              </a:rPr>
              <a:t> High-risk professions, including electricians, construction workers, and people working in power plants, have a higher incidence of electrical burns.</a:t>
            </a:r>
          </a:p>
          <a:p>
            <a:pPr>
              <a:lnSpc>
                <a:spcPct val="160000"/>
              </a:lnSpc>
            </a:pPr>
            <a:endParaRPr lang="en-GB" dirty="0">
              <a:latin typeface="Gabriola" pitchFamily="82" charset="0"/>
            </a:endParaRPr>
          </a:p>
          <a:p>
            <a:endParaRPr lang="en-GB" dirty="0"/>
          </a:p>
        </p:txBody>
      </p:sp>
      <p:sp>
        <p:nvSpPr>
          <p:cNvPr id="5" name="Slide Number Placeholder 4"/>
          <p:cNvSpPr>
            <a:spLocks noGrp="1"/>
          </p:cNvSpPr>
          <p:nvPr>
            <p:ph type="sldNum" sz="quarter" idx="15"/>
          </p:nvPr>
        </p:nvSpPr>
        <p:spPr/>
        <p:txBody>
          <a:bodyPr/>
          <a:lstStyle/>
          <a:p>
            <a:fld id="{968CA758-BC7F-4AFE-853F-5D1E39DDFDA0}" type="slidenum">
              <a:rPr lang="en-GB" smtClean="0"/>
              <a:t>34</a:t>
            </a:fld>
            <a:endParaRPr lang="en-GB"/>
          </a:p>
        </p:txBody>
      </p:sp>
    </p:spTree>
    <p:extLst>
      <p:ext uri="{BB962C8B-B14F-4D97-AF65-F5344CB8AC3E}">
        <p14:creationId xmlns:p14="http://schemas.microsoft.com/office/powerpoint/2010/main" val="2417545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8064896" cy="778098"/>
          </a:xfrm>
        </p:spPr>
        <p:txBody>
          <a:bodyPr/>
          <a:lstStyle/>
          <a:p>
            <a:pPr algn="ctr"/>
            <a:r>
              <a:rPr lang="en-GB" b="1" dirty="0" smtClean="0">
                <a:solidFill>
                  <a:schemeClr val="tx1"/>
                </a:solidFill>
                <a:latin typeface="Times" pitchFamily="18" charset="0"/>
              </a:rPr>
              <a:t>3. Chemical burns</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323528" y="1124744"/>
            <a:ext cx="8208912" cy="5349208"/>
          </a:xfrm>
        </p:spPr>
        <p:txBody>
          <a:bodyPr>
            <a:normAutofit/>
          </a:bodyPr>
          <a:lstStyle/>
          <a:p>
            <a:pPr>
              <a:lnSpc>
                <a:spcPct val="150000"/>
              </a:lnSpc>
            </a:pPr>
            <a:r>
              <a:rPr lang="en-GB" sz="2800" b="1" dirty="0" smtClean="0">
                <a:latin typeface="Gabriola" pitchFamily="82" charset="0"/>
              </a:rPr>
              <a:t>Cause</a:t>
            </a:r>
            <a:r>
              <a:rPr lang="en-GB" sz="2800" b="1" dirty="0">
                <a:latin typeface="Gabriola" pitchFamily="82" charset="0"/>
              </a:rPr>
              <a:t>:</a:t>
            </a:r>
            <a:r>
              <a:rPr lang="en-GB" sz="2800" dirty="0">
                <a:latin typeface="Gabriola" pitchFamily="82" charset="0"/>
              </a:rPr>
              <a:t> Exposure to corrosive chemicals like acids or alkalis (e.g., </a:t>
            </a:r>
            <a:r>
              <a:rPr lang="en-GB" sz="2800" dirty="0" err="1">
                <a:latin typeface="Gabriola" pitchFamily="82" charset="0"/>
              </a:rPr>
              <a:t>sulfuric</a:t>
            </a:r>
            <a:r>
              <a:rPr lang="en-GB" sz="2800" dirty="0">
                <a:latin typeface="Gabriola" pitchFamily="82" charset="0"/>
              </a:rPr>
              <a:t> acid, bleach, ammonia).</a:t>
            </a:r>
          </a:p>
          <a:p>
            <a:pPr>
              <a:lnSpc>
                <a:spcPct val="150000"/>
              </a:lnSpc>
            </a:pPr>
            <a:r>
              <a:rPr lang="en-GB" sz="2800" b="1" dirty="0">
                <a:latin typeface="Gabriola" pitchFamily="82" charset="0"/>
              </a:rPr>
              <a:t>Mechanism:</a:t>
            </a:r>
            <a:r>
              <a:rPr lang="en-GB" sz="2800" dirty="0">
                <a:latin typeface="Gabriola" pitchFamily="82" charset="0"/>
              </a:rPr>
              <a:t> Chemical burns occur when chemicals come into contact with skin or mucous membranes, causing tissue damage through chemical reactions. </a:t>
            </a:r>
            <a:endParaRPr lang="en-GB" sz="2800" dirty="0" smtClean="0">
              <a:latin typeface="Gabriola" pitchFamily="82" charset="0"/>
            </a:endParaRPr>
          </a:p>
          <a:p>
            <a:pPr lvl="1">
              <a:lnSpc>
                <a:spcPct val="150000"/>
              </a:lnSpc>
            </a:pPr>
            <a:r>
              <a:rPr lang="en-GB" sz="2800" dirty="0" smtClean="0">
                <a:latin typeface="Gabriola" pitchFamily="82" charset="0"/>
              </a:rPr>
              <a:t>Acids </a:t>
            </a:r>
            <a:r>
              <a:rPr lang="en-GB" sz="2800" dirty="0">
                <a:latin typeface="Gabriola" pitchFamily="82" charset="0"/>
              </a:rPr>
              <a:t>typically cause a sharp burn, while alkalis can cause more severe damage due to deeper tissue penetration</a:t>
            </a:r>
            <a:r>
              <a:rPr lang="en-GB" sz="2800" dirty="0" smtClean="0">
                <a:latin typeface="Gabriola" pitchFamily="82" charset="0"/>
              </a:rPr>
              <a:t>.</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35</a:t>
            </a:fld>
            <a:endParaRPr lang="en-GB"/>
          </a:p>
        </p:txBody>
      </p:sp>
    </p:spTree>
    <p:extLst>
      <p:ext uri="{BB962C8B-B14F-4D97-AF65-F5344CB8AC3E}">
        <p14:creationId xmlns:p14="http://schemas.microsoft.com/office/powerpoint/2010/main" val="22180557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817296" cy="50405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95536" y="1124744"/>
            <a:ext cx="8208912" cy="5349208"/>
          </a:xfrm>
        </p:spPr>
        <p:txBody>
          <a:bodyPr>
            <a:normAutofit/>
          </a:bodyPr>
          <a:lstStyle/>
          <a:p>
            <a:pPr>
              <a:lnSpc>
                <a:spcPct val="150000"/>
              </a:lnSpc>
            </a:pPr>
            <a:r>
              <a:rPr lang="en-GB" sz="2800" b="1" dirty="0">
                <a:latin typeface="Gabriola" pitchFamily="82" charset="0"/>
              </a:rPr>
              <a:t>Prevalence:</a:t>
            </a:r>
            <a:r>
              <a:rPr lang="en-GB" sz="2800" dirty="0">
                <a:latin typeface="Gabriola" pitchFamily="82" charset="0"/>
              </a:rPr>
              <a:t> Less frequent compared to thermal burns, but significant in industrial, laboratory, or household settings.</a:t>
            </a:r>
          </a:p>
          <a:p>
            <a:pPr lvl="1">
              <a:lnSpc>
                <a:spcPct val="150000"/>
              </a:lnSpc>
            </a:pPr>
            <a:r>
              <a:rPr lang="en-GB" sz="2800" b="1" dirty="0">
                <a:latin typeface="Gabriola" pitchFamily="82" charset="0"/>
              </a:rPr>
              <a:t>Age Group:</a:t>
            </a:r>
            <a:r>
              <a:rPr lang="en-GB" sz="2800" dirty="0">
                <a:latin typeface="Gabriola" pitchFamily="82" charset="0"/>
              </a:rPr>
              <a:t> Both </a:t>
            </a:r>
            <a:r>
              <a:rPr lang="en-GB" sz="2800" b="1" dirty="0">
                <a:latin typeface="Gabriola" pitchFamily="82" charset="0"/>
              </a:rPr>
              <a:t>adults</a:t>
            </a:r>
            <a:r>
              <a:rPr lang="en-GB" sz="2800" dirty="0">
                <a:latin typeface="Gabriola" pitchFamily="82" charset="0"/>
              </a:rPr>
              <a:t> and </a:t>
            </a:r>
            <a:r>
              <a:rPr lang="en-GB" sz="2800" b="1" dirty="0">
                <a:latin typeface="Gabriola" pitchFamily="82" charset="0"/>
              </a:rPr>
              <a:t>children</a:t>
            </a:r>
            <a:r>
              <a:rPr lang="en-GB" sz="2800" dirty="0">
                <a:latin typeface="Gabriola" pitchFamily="82" charset="0"/>
              </a:rPr>
              <a:t> are at risk, especially with improper storage or handling of chemicals in the home or workplace.</a:t>
            </a:r>
          </a:p>
          <a:p>
            <a:pPr lvl="1">
              <a:lnSpc>
                <a:spcPct val="150000"/>
              </a:lnSpc>
            </a:pPr>
            <a:r>
              <a:rPr lang="en-GB" sz="2800" b="1" dirty="0">
                <a:latin typeface="Gabriola" pitchFamily="82" charset="0"/>
              </a:rPr>
              <a:t>Workplace Risk:</a:t>
            </a:r>
            <a:r>
              <a:rPr lang="en-GB" sz="2800" dirty="0">
                <a:latin typeface="Gabriola" pitchFamily="82" charset="0"/>
              </a:rPr>
              <a:t> Industries such as manufacturing, agriculture, or cleaning chemicals are at increased risk for chemical burns.</a:t>
            </a:r>
          </a:p>
          <a:p>
            <a:pPr>
              <a:lnSpc>
                <a:spcPct val="150000"/>
              </a:lnSpc>
            </a:pPr>
            <a:endParaRPr lang="en-GB" dirty="0">
              <a:latin typeface="Gabriola" pitchFamily="82" charset="0"/>
            </a:endParaRP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36</a:t>
            </a:fld>
            <a:endParaRPr lang="en-GB"/>
          </a:p>
        </p:txBody>
      </p:sp>
    </p:spTree>
    <p:extLst>
      <p:ext uri="{BB962C8B-B14F-4D97-AF65-F5344CB8AC3E}">
        <p14:creationId xmlns:p14="http://schemas.microsoft.com/office/powerpoint/2010/main" val="10063764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4624"/>
            <a:ext cx="7673280" cy="706090"/>
          </a:xfrm>
        </p:spPr>
        <p:txBody>
          <a:bodyPr/>
          <a:lstStyle/>
          <a:p>
            <a:r>
              <a:rPr lang="en-GB" b="1" dirty="0" smtClean="0">
                <a:solidFill>
                  <a:schemeClr val="tx1"/>
                </a:solidFill>
                <a:latin typeface="Times" pitchFamily="18" charset="0"/>
              </a:rPr>
              <a:t>4. Radiation burns</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179512" y="764704"/>
            <a:ext cx="8784976" cy="5832648"/>
          </a:xfrm>
        </p:spPr>
        <p:txBody>
          <a:bodyPr>
            <a:normAutofit/>
          </a:bodyPr>
          <a:lstStyle/>
          <a:p>
            <a:pPr>
              <a:lnSpc>
                <a:spcPct val="150000"/>
              </a:lnSpc>
            </a:pPr>
            <a:r>
              <a:rPr lang="en-GB" sz="2800" b="1" dirty="0" smtClean="0">
                <a:latin typeface="Gabriola" pitchFamily="82" charset="0"/>
              </a:rPr>
              <a:t>Causes</a:t>
            </a:r>
            <a:r>
              <a:rPr lang="en-GB" sz="2800" b="1" dirty="0">
                <a:latin typeface="Gabriola" pitchFamily="82" charset="0"/>
              </a:rPr>
              <a:t>:</a:t>
            </a:r>
          </a:p>
          <a:p>
            <a:pPr lvl="1">
              <a:lnSpc>
                <a:spcPct val="150000"/>
              </a:lnSpc>
            </a:pPr>
            <a:r>
              <a:rPr lang="en-GB" sz="2800" b="1" dirty="0">
                <a:latin typeface="Gabriola" pitchFamily="82" charset="0"/>
              </a:rPr>
              <a:t>UV Radiation (Sunburns):</a:t>
            </a:r>
            <a:r>
              <a:rPr lang="en-GB" sz="2800" dirty="0">
                <a:latin typeface="Gabriola" pitchFamily="82" charset="0"/>
              </a:rPr>
              <a:t> Overexposure to ultraviolet radiation from the sun or artificial tanning beds.</a:t>
            </a:r>
          </a:p>
          <a:p>
            <a:pPr lvl="1">
              <a:lnSpc>
                <a:spcPct val="150000"/>
              </a:lnSpc>
            </a:pPr>
            <a:r>
              <a:rPr lang="en-GB" sz="2800" b="1" dirty="0">
                <a:latin typeface="Gabriola" pitchFamily="82" charset="0"/>
              </a:rPr>
              <a:t>Ionizing Radiation:</a:t>
            </a:r>
            <a:r>
              <a:rPr lang="en-GB" sz="2800" dirty="0">
                <a:latin typeface="Gabriola" pitchFamily="82" charset="0"/>
              </a:rPr>
              <a:t> Burns from medical treatments like X-rays or radiation therapy, or from accidental exposure to radioactive materials.</a:t>
            </a:r>
          </a:p>
          <a:p>
            <a:pPr>
              <a:lnSpc>
                <a:spcPct val="150000"/>
              </a:lnSpc>
            </a:pPr>
            <a:r>
              <a:rPr lang="en-GB" sz="2800" b="1" dirty="0">
                <a:latin typeface="Gabriola" pitchFamily="82" charset="0"/>
              </a:rPr>
              <a:t>Age Considerations:</a:t>
            </a:r>
          </a:p>
          <a:p>
            <a:pPr lvl="1">
              <a:lnSpc>
                <a:spcPct val="150000"/>
              </a:lnSpc>
            </a:pPr>
            <a:r>
              <a:rPr lang="en-GB" sz="2800" b="1" dirty="0">
                <a:latin typeface="Gabriola" pitchFamily="82" charset="0"/>
              </a:rPr>
              <a:t>Children &amp; Adolescents:</a:t>
            </a:r>
            <a:r>
              <a:rPr lang="en-GB" sz="2800" dirty="0">
                <a:latin typeface="Gabriola" pitchFamily="82" charset="0"/>
              </a:rPr>
              <a:t> More sensitive to UV radiation, leading to severe sunburns, particularly in outdoor activities.</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37</a:t>
            </a:fld>
            <a:endParaRPr lang="en-GB"/>
          </a:p>
        </p:txBody>
      </p:sp>
    </p:spTree>
    <p:extLst>
      <p:ext uri="{BB962C8B-B14F-4D97-AF65-F5344CB8AC3E}">
        <p14:creationId xmlns:p14="http://schemas.microsoft.com/office/powerpoint/2010/main" val="21563880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640960" cy="922114"/>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p:txBody>
          <a:bodyPr/>
          <a:lstStyle/>
          <a:p>
            <a:pPr lvl="1">
              <a:lnSpc>
                <a:spcPct val="150000"/>
              </a:lnSpc>
            </a:pPr>
            <a:r>
              <a:rPr lang="en-GB" sz="2800" b="1" dirty="0">
                <a:latin typeface="Gabriola" pitchFamily="82" charset="0"/>
              </a:rPr>
              <a:t>Adults:</a:t>
            </a:r>
            <a:r>
              <a:rPr lang="en-GB" sz="2800" dirty="0">
                <a:latin typeface="Gabriola" pitchFamily="82" charset="0"/>
              </a:rPr>
              <a:t> Risk of radiation burns from occupational exposure (e.g., healthcare workers, nuclear industry).</a:t>
            </a:r>
          </a:p>
          <a:p>
            <a:pPr lvl="1">
              <a:lnSpc>
                <a:spcPct val="150000"/>
              </a:lnSpc>
            </a:pPr>
            <a:r>
              <a:rPr lang="en-GB" sz="2800" b="1" dirty="0">
                <a:latin typeface="Gabriola" pitchFamily="82" charset="0"/>
              </a:rPr>
              <a:t>Elderly:</a:t>
            </a:r>
            <a:r>
              <a:rPr lang="en-GB" sz="2800" dirty="0">
                <a:latin typeface="Gabriola" pitchFamily="82" charset="0"/>
              </a:rPr>
              <a:t> Cumulative damage from years of sun exposure, leading to chronic skin damage and increased risk of skin cancer.</a:t>
            </a:r>
          </a:p>
          <a:p>
            <a:endParaRPr lang="en-US" dirty="0"/>
          </a:p>
        </p:txBody>
      </p:sp>
      <p:sp>
        <p:nvSpPr>
          <p:cNvPr id="4" name="Slide Number Placeholder 3"/>
          <p:cNvSpPr>
            <a:spLocks noGrp="1"/>
          </p:cNvSpPr>
          <p:nvPr>
            <p:ph type="sldNum" sz="quarter" idx="15"/>
          </p:nvPr>
        </p:nvSpPr>
        <p:spPr/>
        <p:txBody>
          <a:bodyPr/>
          <a:lstStyle/>
          <a:p>
            <a:fld id="{968CA758-BC7F-4AFE-853F-5D1E39DDFDA0}" type="slidenum">
              <a:rPr lang="en-GB" smtClean="0"/>
              <a:t>38</a:t>
            </a:fld>
            <a:endParaRPr lang="en-GB"/>
          </a:p>
        </p:txBody>
      </p:sp>
    </p:spTree>
    <p:extLst>
      <p:ext uri="{BB962C8B-B14F-4D97-AF65-F5344CB8AC3E}">
        <p14:creationId xmlns:p14="http://schemas.microsoft.com/office/powerpoint/2010/main" val="86104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856984" cy="562074"/>
          </a:xfrm>
        </p:spPr>
        <p:txBody>
          <a:bodyPr>
            <a:noAutofit/>
          </a:bodyPr>
          <a:lstStyle/>
          <a:p>
            <a:pPr algn="ctr"/>
            <a:r>
              <a:rPr lang="en-GB" sz="3600" b="1" dirty="0">
                <a:solidFill>
                  <a:schemeClr val="tx1"/>
                </a:solidFill>
                <a:latin typeface="Times" pitchFamily="18" charset="0"/>
              </a:rPr>
              <a:t>Types of Burns</a:t>
            </a:r>
          </a:p>
        </p:txBody>
      </p:sp>
      <p:sp>
        <p:nvSpPr>
          <p:cNvPr id="3" name="Content Placeholder 2"/>
          <p:cNvSpPr>
            <a:spLocks noGrp="1"/>
          </p:cNvSpPr>
          <p:nvPr>
            <p:ph sz="quarter" idx="1"/>
          </p:nvPr>
        </p:nvSpPr>
        <p:spPr>
          <a:xfrm>
            <a:off x="179512" y="908720"/>
            <a:ext cx="8856984" cy="5565232"/>
          </a:xfrm>
        </p:spPr>
        <p:txBody>
          <a:bodyPr>
            <a:normAutofit/>
          </a:bodyPr>
          <a:lstStyle/>
          <a:p>
            <a:pPr marL="0" indent="0">
              <a:lnSpc>
                <a:spcPct val="150000"/>
              </a:lnSpc>
              <a:buNone/>
            </a:pPr>
            <a:r>
              <a:rPr lang="en-GB" b="1" dirty="0">
                <a:latin typeface="Gabriola" pitchFamily="82" charset="0"/>
              </a:rPr>
              <a:t>1. First-Degree Burn (Superficial Burn)</a:t>
            </a:r>
          </a:p>
          <a:p>
            <a:pPr lvl="1">
              <a:lnSpc>
                <a:spcPct val="110000"/>
              </a:lnSpc>
            </a:pPr>
            <a:r>
              <a:rPr lang="en-GB" sz="2400" dirty="0" smtClean="0">
                <a:latin typeface="Gabriola" pitchFamily="82" charset="0"/>
              </a:rPr>
              <a:t>Affects </a:t>
            </a:r>
            <a:r>
              <a:rPr lang="en-GB" sz="2400" dirty="0">
                <a:latin typeface="Gabriola" pitchFamily="82" charset="0"/>
              </a:rPr>
              <a:t>only the outer layer of the skin (epidermis).</a:t>
            </a:r>
          </a:p>
          <a:p>
            <a:pPr lvl="1">
              <a:lnSpc>
                <a:spcPct val="110000"/>
              </a:lnSpc>
            </a:pPr>
            <a:r>
              <a:rPr lang="en-GB" sz="2400" dirty="0">
                <a:latin typeface="Gabriola" pitchFamily="82" charset="0"/>
              </a:rPr>
              <a:t>Characterized by redness, pain, and minor swelling.</a:t>
            </a:r>
          </a:p>
          <a:p>
            <a:pPr lvl="1">
              <a:lnSpc>
                <a:spcPct val="110000"/>
              </a:lnSpc>
            </a:pPr>
            <a:r>
              <a:rPr lang="en-GB" sz="2400" dirty="0">
                <a:latin typeface="Gabriola" pitchFamily="82" charset="0"/>
              </a:rPr>
              <a:t>Skin may peel after a few days.</a:t>
            </a:r>
          </a:p>
          <a:p>
            <a:pPr>
              <a:lnSpc>
                <a:spcPct val="110000"/>
              </a:lnSpc>
            </a:pPr>
            <a:r>
              <a:rPr lang="en-GB" sz="2800" b="1" dirty="0">
                <a:latin typeface="Gabriola" pitchFamily="82" charset="0"/>
              </a:rPr>
              <a:t>Symptoms:</a:t>
            </a:r>
            <a:endParaRPr lang="en-GB" sz="2800" dirty="0">
              <a:latin typeface="Gabriola" pitchFamily="82" charset="0"/>
            </a:endParaRPr>
          </a:p>
          <a:p>
            <a:pPr lvl="1">
              <a:lnSpc>
                <a:spcPct val="110000"/>
              </a:lnSpc>
            </a:pPr>
            <a:r>
              <a:rPr lang="en-GB" sz="2400" dirty="0">
                <a:latin typeface="Gabriola" pitchFamily="82" charset="0"/>
              </a:rPr>
              <a:t>Red, painful skin.</a:t>
            </a:r>
          </a:p>
          <a:p>
            <a:pPr lvl="1">
              <a:lnSpc>
                <a:spcPct val="110000"/>
              </a:lnSpc>
            </a:pPr>
            <a:r>
              <a:rPr lang="en-GB" sz="2400" dirty="0">
                <a:latin typeface="Gabriola" pitchFamily="82" charset="0"/>
              </a:rPr>
              <a:t>Dry, no blisters.</a:t>
            </a:r>
          </a:p>
          <a:p>
            <a:pPr lvl="1">
              <a:lnSpc>
                <a:spcPct val="110000"/>
              </a:lnSpc>
            </a:pPr>
            <a:r>
              <a:rPr lang="en-GB" sz="2400" dirty="0">
                <a:latin typeface="Gabriola" pitchFamily="82" charset="0"/>
              </a:rPr>
              <a:t>Healing time: 3-5 days.</a:t>
            </a:r>
          </a:p>
          <a:p>
            <a:pPr>
              <a:lnSpc>
                <a:spcPct val="110000"/>
              </a:lnSpc>
            </a:pPr>
            <a:r>
              <a:rPr lang="en-GB" sz="2800" b="1" dirty="0">
                <a:latin typeface="Gabriola" pitchFamily="82" charset="0"/>
              </a:rPr>
              <a:t>Examples:</a:t>
            </a:r>
            <a:endParaRPr lang="en-GB" sz="2800" dirty="0">
              <a:latin typeface="Gabriola" pitchFamily="82" charset="0"/>
            </a:endParaRPr>
          </a:p>
          <a:p>
            <a:pPr lvl="1">
              <a:lnSpc>
                <a:spcPct val="110000"/>
              </a:lnSpc>
            </a:pPr>
            <a:r>
              <a:rPr lang="en-GB" sz="2400" dirty="0" smtClean="0">
                <a:latin typeface="Gabriola" pitchFamily="82" charset="0"/>
              </a:rPr>
              <a:t>Sunburn, Mild </a:t>
            </a:r>
            <a:r>
              <a:rPr lang="en-GB" sz="2400" dirty="0">
                <a:latin typeface="Gabriola" pitchFamily="82" charset="0"/>
              </a:rPr>
              <a:t>scalds from hot objects or liquids.</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39</a:t>
            </a:fld>
            <a:endParaRPr lang="en-GB"/>
          </a:p>
        </p:txBody>
      </p:sp>
      <p:pic>
        <p:nvPicPr>
          <p:cNvPr id="5" name="Picture 4" descr="Very Sunburned Fee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952" y="2492896"/>
            <a:ext cx="4464496" cy="2880320"/>
          </a:xfrm>
          <a:prstGeom prst="rect">
            <a:avLst/>
          </a:prstGeom>
          <a:noFill/>
          <a:ln>
            <a:noFill/>
          </a:ln>
        </p:spPr>
      </p:pic>
    </p:spTree>
    <p:extLst>
      <p:ext uri="{BB962C8B-B14F-4D97-AF65-F5344CB8AC3E}">
        <p14:creationId xmlns:p14="http://schemas.microsoft.com/office/powerpoint/2010/main" val="1246717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352928" cy="792088"/>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908720"/>
            <a:ext cx="8640960" cy="5565232"/>
          </a:xfrm>
        </p:spPr>
        <p:txBody>
          <a:bodyPr>
            <a:normAutofit/>
          </a:bodyPr>
          <a:lstStyle/>
          <a:p>
            <a:pPr marL="0" indent="0">
              <a:lnSpc>
                <a:spcPct val="110000"/>
              </a:lnSpc>
              <a:buNone/>
            </a:pPr>
            <a:r>
              <a:rPr lang="en-GB" sz="2800" b="1" dirty="0">
                <a:latin typeface="Gabriola" pitchFamily="82" charset="0"/>
              </a:rPr>
              <a:t>2. Second-Degree Burn (Partial Thickness Burn)</a:t>
            </a:r>
          </a:p>
          <a:p>
            <a:pPr lvl="1">
              <a:lnSpc>
                <a:spcPct val="110000"/>
              </a:lnSpc>
            </a:pPr>
            <a:r>
              <a:rPr lang="en-GB" sz="2400" dirty="0" smtClean="0">
                <a:latin typeface="Gabriola" pitchFamily="82" charset="0"/>
              </a:rPr>
              <a:t>Affects </a:t>
            </a:r>
            <a:r>
              <a:rPr lang="en-GB" sz="2400" dirty="0">
                <a:latin typeface="Gabriola" pitchFamily="82" charset="0"/>
              </a:rPr>
              <a:t>both the outer layer (epidermis) and the layer underneath (dermis).</a:t>
            </a:r>
          </a:p>
          <a:p>
            <a:pPr lvl="1">
              <a:lnSpc>
                <a:spcPct val="110000"/>
              </a:lnSpc>
            </a:pPr>
            <a:r>
              <a:rPr lang="en-GB" sz="2400" dirty="0">
                <a:latin typeface="Gabriola" pitchFamily="82" charset="0"/>
              </a:rPr>
              <a:t>Causes swelling, redness, and blisters.</a:t>
            </a:r>
          </a:p>
          <a:p>
            <a:pPr lvl="1">
              <a:lnSpc>
                <a:spcPct val="110000"/>
              </a:lnSpc>
            </a:pPr>
            <a:r>
              <a:rPr lang="en-GB" sz="2400" dirty="0">
                <a:latin typeface="Gabriola" pitchFamily="82" charset="0"/>
              </a:rPr>
              <a:t>Can be more painful than first-degree burns.</a:t>
            </a:r>
          </a:p>
          <a:p>
            <a:pPr>
              <a:lnSpc>
                <a:spcPct val="110000"/>
              </a:lnSpc>
            </a:pPr>
            <a:r>
              <a:rPr lang="en-GB" sz="2800" b="1" dirty="0">
                <a:latin typeface="Gabriola" pitchFamily="82" charset="0"/>
              </a:rPr>
              <a:t>Symptoms:</a:t>
            </a:r>
            <a:endParaRPr lang="en-GB" sz="2800" dirty="0">
              <a:latin typeface="Gabriola" pitchFamily="82" charset="0"/>
            </a:endParaRPr>
          </a:p>
          <a:p>
            <a:pPr lvl="1">
              <a:lnSpc>
                <a:spcPct val="110000"/>
              </a:lnSpc>
            </a:pPr>
            <a:r>
              <a:rPr lang="en-GB" sz="2400" dirty="0">
                <a:latin typeface="Gabriola" pitchFamily="82" charset="0"/>
              </a:rPr>
              <a:t>Red, blistered skin.</a:t>
            </a:r>
          </a:p>
          <a:p>
            <a:pPr lvl="1">
              <a:lnSpc>
                <a:spcPct val="110000"/>
              </a:lnSpc>
            </a:pPr>
            <a:r>
              <a:rPr lang="en-GB" sz="2400" dirty="0">
                <a:latin typeface="Gabriola" pitchFamily="82" charset="0"/>
              </a:rPr>
              <a:t>Painful with swelling.</a:t>
            </a:r>
          </a:p>
          <a:p>
            <a:pPr lvl="1">
              <a:lnSpc>
                <a:spcPct val="110000"/>
              </a:lnSpc>
            </a:pPr>
            <a:r>
              <a:rPr lang="en-GB" sz="2400" dirty="0">
                <a:latin typeface="Gabriola" pitchFamily="82" charset="0"/>
              </a:rPr>
              <a:t>Healing time: 2-3 weeks, can leave scars.</a:t>
            </a:r>
          </a:p>
          <a:p>
            <a:pPr>
              <a:lnSpc>
                <a:spcPct val="110000"/>
              </a:lnSpc>
            </a:pPr>
            <a:r>
              <a:rPr lang="en-GB" sz="2800" b="1" dirty="0">
                <a:latin typeface="Gabriola" pitchFamily="82" charset="0"/>
              </a:rPr>
              <a:t>Examples:</a:t>
            </a:r>
            <a:endParaRPr lang="en-GB" sz="2800" dirty="0">
              <a:latin typeface="Gabriola" pitchFamily="82" charset="0"/>
            </a:endParaRPr>
          </a:p>
          <a:p>
            <a:pPr lvl="1">
              <a:lnSpc>
                <a:spcPct val="110000"/>
              </a:lnSpc>
            </a:pPr>
            <a:r>
              <a:rPr lang="en-GB" sz="2400" dirty="0">
                <a:latin typeface="Gabriola" pitchFamily="82" charset="0"/>
              </a:rPr>
              <a:t>Contact with hot water, steam, or a flame.</a:t>
            </a:r>
          </a:p>
          <a:p>
            <a:pPr lvl="1">
              <a:lnSpc>
                <a:spcPct val="110000"/>
              </a:lnSpc>
            </a:pPr>
            <a:r>
              <a:rPr lang="en-GB" sz="2400" dirty="0">
                <a:latin typeface="Gabriola" pitchFamily="82" charset="0"/>
              </a:rPr>
              <a:t>Contact with chemicals or electrical sources.</a:t>
            </a:r>
          </a:p>
          <a:p>
            <a:pPr>
              <a:lnSpc>
                <a:spcPct val="11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40</a:t>
            </a:fld>
            <a:endParaRPr lang="en-GB"/>
          </a:p>
        </p:txBody>
      </p:sp>
      <p:pic>
        <p:nvPicPr>
          <p:cNvPr id="5" name="Picture 4" descr="Second-degree burn - Mayo Clinic"/>
          <p:cNvPicPr/>
          <p:nvPr/>
        </p:nvPicPr>
        <p:blipFill>
          <a:blip r:embed="rId2">
            <a:extLst>
              <a:ext uri="{28A0092B-C50C-407E-A947-70E740481C1C}">
                <a14:useLocalDpi xmlns:a14="http://schemas.microsoft.com/office/drawing/2010/main" val="0"/>
              </a:ext>
            </a:extLst>
          </a:blip>
          <a:srcRect/>
          <a:stretch>
            <a:fillRect/>
          </a:stretch>
        </p:blipFill>
        <p:spPr bwMode="auto">
          <a:xfrm>
            <a:off x="5327576" y="1988840"/>
            <a:ext cx="3816424" cy="4669135"/>
          </a:xfrm>
          <a:prstGeom prst="rect">
            <a:avLst/>
          </a:prstGeom>
          <a:noFill/>
          <a:ln>
            <a:noFill/>
          </a:ln>
        </p:spPr>
      </p:pic>
    </p:spTree>
    <p:extLst>
      <p:ext uri="{BB962C8B-B14F-4D97-AF65-F5344CB8AC3E}">
        <p14:creationId xmlns:p14="http://schemas.microsoft.com/office/powerpoint/2010/main" val="5448718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7673280" cy="50405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908720"/>
            <a:ext cx="8712968" cy="5565232"/>
          </a:xfrm>
        </p:spPr>
        <p:txBody>
          <a:bodyPr>
            <a:normAutofit/>
          </a:bodyPr>
          <a:lstStyle/>
          <a:p>
            <a:pPr marL="0" indent="0">
              <a:buNone/>
            </a:pPr>
            <a:r>
              <a:rPr lang="en-GB" sz="2800" b="1" dirty="0">
                <a:latin typeface="Gabriola" pitchFamily="82" charset="0"/>
              </a:rPr>
              <a:t>3. Third-Degree Burn (Full Thickness Burn)</a:t>
            </a:r>
          </a:p>
          <a:p>
            <a:pPr lvl="1"/>
            <a:r>
              <a:rPr lang="en-GB" sz="2400" dirty="0" smtClean="0">
                <a:latin typeface="Gabriola" pitchFamily="82" charset="0"/>
              </a:rPr>
              <a:t>Extends </a:t>
            </a:r>
            <a:r>
              <a:rPr lang="en-GB" sz="2400" dirty="0">
                <a:latin typeface="Gabriola" pitchFamily="82" charset="0"/>
              </a:rPr>
              <a:t>through all layers of the skin, affecting deeper tissues (fat, muscle, bone).</a:t>
            </a:r>
          </a:p>
          <a:p>
            <a:pPr lvl="1"/>
            <a:r>
              <a:rPr lang="en-GB" sz="2400" dirty="0">
                <a:latin typeface="Gabriola" pitchFamily="82" charset="0"/>
              </a:rPr>
              <a:t>Skin may appear white, charred, or leathery.</a:t>
            </a:r>
          </a:p>
          <a:p>
            <a:pPr lvl="1"/>
            <a:r>
              <a:rPr lang="en-GB" sz="2400" dirty="0">
                <a:latin typeface="Gabriola" pitchFamily="82" charset="0"/>
              </a:rPr>
              <a:t>Nerve damage may cause no pain, though surrounding areas may still hurt.</a:t>
            </a:r>
          </a:p>
          <a:p>
            <a:r>
              <a:rPr lang="en-GB" sz="2800" b="1" dirty="0">
                <a:latin typeface="Gabriola" pitchFamily="82" charset="0"/>
              </a:rPr>
              <a:t>Symptoms:</a:t>
            </a:r>
            <a:endParaRPr lang="en-GB" sz="2800" dirty="0">
              <a:latin typeface="Gabriola" pitchFamily="82" charset="0"/>
            </a:endParaRPr>
          </a:p>
          <a:p>
            <a:pPr lvl="1"/>
            <a:r>
              <a:rPr lang="en-GB" sz="2400" dirty="0">
                <a:latin typeface="Gabriola" pitchFamily="82" charset="0"/>
              </a:rPr>
              <a:t>Skin may be blackened or white.</a:t>
            </a:r>
          </a:p>
          <a:p>
            <a:pPr lvl="1"/>
            <a:r>
              <a:rPr lang="en-GB" sz="2400" dirty="0">
                <a:latin typeface="Gabriola" pitchFamily="82" charset="0"/>
              </a:rPr>
              <a:t>May have a leathery texture.</a:t>
            </a:r>
          </a:p>
          <a:p>
            <a:pPr lvl="1"/>
            <a:r>
              <a:rPr lang="en-GB" sz="2400" dirty="0">
                <a:latin typeface="Gabriola" pitchFamily="82" charset="0"/>
              </a:rPr>
              <a:t>Loss of sensation in the affected area.</a:t>
            </a:r>
          </a:p>
          <a:p>
            <a:r>
              <a:rPr lang="en-GB" sz="2800" b="1" dirty="0">
                <a:latin typeface="Gabriola" pitchFamily="82" charset="0"/>
              </a:rPr>
              <a:t>Examples:</a:t>
            </a:r>
            <a:endParaRPr lang="en-GB" sz="2800" dirty="0">
              <a:latin typeface="Gabriola" pitchFamily="82" charset="0"/>
            </a:endParaRPr>
          </a:p>
          <a:p>
            <a:pPr lvl="1"/>
            <a:r>
              <a:rPr lang="en-GB" sz="2400" dirty="0">
                <a:latin typeface="Gabriola" pitchFamily="82" charset="0"/>
              </a:rPr>
              <a:t>Prolonged contact with fire.</a:t>
            </a:r>
          </a:p>
          <a:p>
            <a:pPr lvl="1"/>
            <a:r>
              <a:rPr lang="en-GB" sz="2400" dirty="0">
                <a:latin typeface="Gabriola" pitchFamily="82" charset="0"/>
              </a:rPr>
              <a:t>Serious electrical burns.</a:t>
            </a:r>
          </a:p>
          <a:p>
            <a:pPr lvl="1"/>
            <a:r>
              <a:rPr lang="en-GB" sz="2400" dirty="0">
                <a:latin typeface="Gabriola" pitchFamily="82" charset="0"/>
              </a:rPr>
              <a:t>Deep chemical burns.</a:t>
            </a:r>
          </a:p>
          <a:p>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41</a:t>
            </a:fld>
            <a:endParaRPr lang="en-GB"/>
          </a:p>
        </p:txBody>
      </p:sp>
      <p:pic>
        <p:nvPicPr>
          <p:cNvPr id="5" name="Picture 4" descr="Figure 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2996952"/>
            <a:ext cx="4664199" cy="3263265"/>
          </a:xfrm>
          <a:prstGeom prst="rect">
            <a:avLst/>
          </a:prstGeom>
          <a:noFill/>
          <a:ln>
            <a:noFill/>
          </a:ln>
        </p:spPr>
      </p:pic>
    </p:spTree>
    <p:extLst>
      <p:ext uri="{BB962C8B-B14F-4D97-AF65-F5344CB8AC3E}">
        <p14:creationId xmlns:p14="http://schemas.microsoft.com/office/powerpoint/2010/main" val="1318929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924800" cy="41805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07504" y="908720"/>
            <a:ext cx="8424936" cy="5565232"/>
          </a:xfrm>
        </p:spPr>
        <p:txBody>
          <a:bodyPr>
            <a:normAutofit/>
          </a:bodyPr>
          <a:lstStyle/>
          <a:p>
            <a:pPr marL="0" indent="0">
              <a:buNone/>
            </a:pPr>
            <a:r>
              <a:rPr lang="en-GB" sz="2800" b="1" dirty="0">
                <a:latin typeface="Gabriola" pitchFamily="82" charset="0"/>
              </a:rPr>
              <a:t>4. Fourth-Degree Burn</a:t>
            </a:r>
          </a:p>
          <a:p>
            <a:pPr lvl="1"/>
            <a:r>
              <a:rPr lang="en-GB" sz="2400" dirty="0" smtClean="0">
                <a:latin typeface="Gabriola" pitchFamily="82" charset="0"/>
              </a:rPr>
              <a:t>Involves </a:t>
            </a:r>
            <a:r>
              <a:rPr lang="en-GB" sz="2400" dirty="0">
                <a:latin typeface="Gabriola" pitchFamily="82" charset="0"/>
              </a:rPr>
              <a:t>damage beyond the skin, including muscles, tendons, and bones.</a:t>
            </a:r>
          </a:p>
          <a:p>
            <a:pPr lvl="1"/>
            <a:r>
              <a:rPr lang="en-GB" sz="2400" dirty="0">
                <a:latin typeface="Gabriola" pitchFamily="82" charset="0"/>
              </a:rPr>
              <a:t>The tissue may be charred or completely destroyed.</a:t>
            </a:r>
          </a:p>
          <a:p>
            <a:pPr lvl="1"/>
            <a:r>
              <a:rPr lang="en-GB" sz="2400" dirty="0">
                <a:latin typeface="Gabriola" pitchFamily="82" charset="0"/>
              </a:rPr>
              <a:t>Often requires complex treatment and can result in permanent disability.</a:t>
            </a:r>
          </a:p>
          <a:p>
            <a:r>
              <a:rPr lang="en-GB" sz="2800" b="1" dirty="0">
                <a:latin typeface="Gabriola" pitchFamily="82" charset="0"/>
              </a:rPr>
              <a:t>Symptoms:</a:t>
            </a:r>
            <a:endParaRPr lang="en-GB" sz="2800" dirty="0">
              <a:latin typeface="Gabriola" pitchFamily="82" charset="0"/>
            </a:endParaRPr>
          </a:p>
          <a:p>
            <a:pPr lvl="1"/>
            <a:r>
              <a:rPr lang="en-GB" sz="2400" dirty="0">
                <a:latin typeface="Gabriola" pitchFamily="82" charset="0"/>
              </a:rPr>
              <a:t>Skin, fat, muscle, and bone destruction.</a:t>
            </a:r>
          </a:p>
          <a:p>
            <a:pPr lvl="1"/>
            <a:r>
              <a:rPr lang="en-GB" sz="2400" dirty="0">
                <a:latin typeface="Gabriola" pitchFamily="82" charset="0"/>
              </a:rPr>
              <a:t>Blackened and charred appearance.</a:t>
            </a:r>
          </a:p>
          <a:p>
            <a:pPr lvl="1"/>
            <a:r>
              <a:rPr lang="en-GB" sz="2400" dirty="0">
                <a:latin typeface="Gabriola" pitchFamily="82" charset="0"/>
              </a:rPr>
              <a:t>Requires immediate medical intervention.</a:t>
            </a:r>
          </a:p>
          <a:p>
            <a:r>
              <a:rPr lang="en-GB" sz="2800" b="1" dirty="0">
                <a:latin typeface="Gabriola" pitchFamily="82" charset="0"/>
              </a:rPr>
              <a:t>Examples:</a:t>
            </a:r>
            <a:endParaRPr lang="en-GB" sz="2800" dirty="0">
              <a:latin typeface="Gabriola" pitchFamily="82" charset="0"/>
            </a:endParaRPr>
          </a:p>
          <a:p>
            <a:pPr lvl="1"/>
            <a:r>
              <a:rPr lang="en-GB" sz="2400" dirty="0">
                <a:latin typeface="Gabriola" pitchFamily="82" charset="0"/>
              </a:rPr>
              <a:t>Extensive fire damage.</a:t>
            </a:r>
          </a:p>
          <a:p>
            <a:pPr lvl="1"/>
            <a:r>
              <a:rPr lang="en-GB" sz="2400" dirty="0">
                <a:latin typeface="Gabriola" pitchFamily="82" charset="0"/>
              </a:rPr>
              <a:t>Severe electrical burns.</a:t>
            </a:r>
          </a:p>
          <a:p>
            <a:pPr lvl="1"/>
            <a:r>
              <a:rPr lang="en-GB" sz="2400" dirty="0">
                <a:latin typeface="Gabriola" pitchFamily="82" charset="0"/>
              </a:rPr>
              <a:t>Industrial accidents.</a:t>
            </a:r>
          </a:p>
          <a:p>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42</a:t>
            </a:fld>
            <a:endParaRPr lang="en-GB"/>
          </a:p>
        </p:txBody>
      </p:sp>
    </p:spTree>
    <p:extLst>
      <p:ext uri="{BB962C8B-B14F-4D97-AF65-F5344CB8AC3E}">
        <p14:creationId xmlns:p14="http://schemas.microsoft.com/office/powerpoint/2010/main" val="642518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5"/>
          </p:nvPr>
        </p:nvSpPr>
        <p:spPr/>
        <p:txBody>
          <a:bodyPr/>
          <a:lstStyle/>
          <a:p>
            <a:fld id="{968CA758-BC7F-4AFE-853F-5D1E39DDFDA0}" type="slidenum">
              <a:rPr lang="en-GB" smtClean="0"/>
              <a:t>43</a:t>
            </a:fld>
            <a:endParaRPr lang="en-GB"/>
          </a:p>
        </p:txBody>
      </p:sp>
      <p:pic>
        <p:nvPicPr>
          <p:cNvPr id="5" name="Content Placeholder 4" descr="https://resources.wfsahq.org/wp-content/uploads/522_Figure-1.png"/>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520" y="692696"/>
            <a:ext cx="8568952" cy="4752528"/>
          </a:xfrm>
          <a:prstGeom prst="rect">
            <a:avLst/>
          </a:prstGeom>
          <a:noFill/>
          <a:ln>
            <a:noFill/>
          </a:ln>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5805264"/>
            <a:ext cx="5756275"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98597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4" name="Slide Number Placeholder 3"/>
          <p:cNvSpPr>
            <a:spLocks noGrp="1"/>
          </p:cNvSpPr>
          <p:nvPr>
            <p:ph type="sldNum" sz="quarter" idx="15"/>
          </p:nvPr>
        </p:nvSpPr>
        <p:spPr/>
        <p:txBody>
          <a:bodyPr/>
          <a:lstStyle/>
          <a:p>
            <a:fld id="{968CA758-BC7F-4AFE-853F-5D1E39DDFDA0}" type="slidenum">
              <a:rPr lang="en-GB" smtClean="0"/>
              <a:t>44</a:t>
            </a:fld>
            <a:endParaRPr lang="en-GB"/>
          </a:p>
        </p:txBody>
      </p:sp>
      <p:pic>
        <p:nvPicPr>
          <p:cNvPr id="5" name="Content Placeholder 4" descr="anterior trunk shows fourth-degree burn involving the thoracic cage... |  Download Scientific Diagram"/>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520" y="476673"/>
            <a:ext cx="8208912" cy="6048672"/>
          </a:xfrm>
          <a:prstGeom prst="rect">
            <a:avLst/>
          </a:prstGeom>
          <a:noFill/>
          <a:ln>
            <a:noFill/>
          </a:ln>
        </p:spPr>
      </p:pic>
    </p:spTree>
    <p:extLst>
      <p:ext uri="{BB962C8B-B14F-4D97-AF65-F5344CB8AC3E}">
        <p14:creationId xmlns:p14="http://schemas.microsoft.com/office/powerpoint/2010/main" val="654164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634082"/>
          </a:xfrm>
        </p:spPr>
        <p:txBody>
          <a:bodyPr/>
          <a:lstStyle/>
          <a:p>
            <a:r>
              <a:rPr lang="en-US" dirty="0">
                <a:solidFill>
                  <a:schemeClr val="tx1"/>
                </a:solidFill>
                <a:latin typeface="Arial Black" pitchFamily="34" charset="0"/>
              </a:rPr>
              <a:t>Pathophysiology of burn injury</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179512" y="980728"/>
            <a:ext cx="8640960" cy="5449816"/>
          </a:xfrm>
        </p:spPr>
        <p:txBody>
          <a:bodyPr>
            <a:normAutofit/>
          </a:bodyPr>
          <a:lstStyle/>
          <a:p>
            <a:pPr marL="365760" lvl="1" indent="0">
              <a:lnSpc>
                <a:spcPct val="150000"/>
              </a:lnSpc>
              <a:buNone/>
            </a:pPr>
            <a:r>
              <a:rPr lang="en-GB" u="sng" dirty="0" smtClean="0">
                <a:latin typeface="Arial Black" pitchFamily="34" charset="0"/>
              </a:rPr>
              <a:t>Local effects of burn injuries</a:t>
            </a:r>
          </a:p>
          <a:p>
            <a:pPr>
              <a:lnSpc>
                <a:spcPct val="150000"/>
              </a:lnSpc>
            </a:pPr>
            <a:r>
              <a:rPr lang="en-GB" sz="2800" dirty="0" smtClean="0">
                <a:latin typeface="Gabriola" pitchFamily="82" charset="0"/>
              </a:rPr>
              <a:t>Burn </a:t>
            </a:r>
            <a:r>
              <a:rPr lang="en-GB" sz="2800" dirty="0">
                <a:latin typeface="Gabriola" pitchFamily="82" charset="0"/>
              </a:rPr>
              <a:t>injuries cause severe tissue damage due to the destruction of the skin and underlying tissues. </a:t>
            </a: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a:latin typeface="Gabriola" pitchFamily="82" charset="0"/>
              </a:rPr>
              <a:t>skin, being a protective barrier, plays a crucial role in limiting the extent of the damage, but the severity depends on the temperature, energy of the burn agent, and the duration of exposure</a:t>
            </a:r>
            <a:r>
              <a:rPr lang="en-GB" sz="2800" dirty="0" smtClean="0">
                <a:latin typeface="Gabriola" pitchFamily="82" charset="0"/>
              </a:rPr>
              <a:t>.</a:t>
            </a:r>
            <a:endParaRPr lang="en-GB" sz="2800" dirty="0">
              <a:latin typeface="Gabriola" pitchFamily="82" charset="0"/>
            </a:endParaRPr>
          </a:p>
          <a:p>
            <a:pPr>
              <a:lnSpc>
                <a:spcPct val="150000"/>
              </a:lnSpc>
            </a:pPr>
            <a:r>
              <a:rPr lang="en-GB" sz="2800" dirty="0">
                <a:latin typeface="Gabriola" pitchFamily="82" charset="0"/>
              </a:rPr>
              <a:t>A burn injury site can be divided into three distinct zones, each representing varying levels of damage:</a:t>
            </a:r>
          </a:p>
        </p:txBody>
      </p:sp>
      <p:sp>
        <p:nvSpPr>
          <p:cNvPr id="4" name="Slide Number Placeholder 3"/>
          <p:cNvSpPr>
            <a:spLocks noGrp="1"/>
          </p:cNvSpPr>
          <p:nvPr>
            <p:ph type="sldNum" sz="quarter" idx="15"/>
          </p:nvPr>
        </p:nvSpPr>
        <p:spPr/>
        <p:txBody>
          <a:bodyPr/>
          <a:lstStyle/>
          <a:p>
            <a:fld id="{968CA758-BC7F-4AFE-853F-5D1E39DDFDA0}" type="slidenum">
              <a:rPr lang="en-GB" smtClean="0"/>
              <a:t>45</a:t>
            </a:fld>
            <a:endParaRPr lang="en-GB"/>
          </a:p>
        </p:txBody>
      </p:sp>
    </p:spTree>
    <p:extLst>
      <p:ext uri="{BB962C8B-B14F-4D97-AF65-F5344CB8AC3E}">
        <p14:creationId xmlns:p14="http://schemas.microsoft.com/office/powerpoint/2010/main" val="853307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7745288" cy="404664"/>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404664"/>
            <a:ext cx="8352928" cy="6069288"/>
          </a:xfrm>
        </p:spPr>
        <p:txBody>
          <a:bodyPr>
            <a:normAutofit/>
          </a:bodyPr>
          <a:lstStyle/>
          <a:p>
            <a:pPr marL="0" indent="0">
              <a:lnSpc>
                <a:spcPct val="150000"/>
              </a:lnSpc>
              <a:buNone/>
            </a:pPr>
            <a:r>
              <a:rPr lang="en-GB" sz="2800" b="1" dirty="0">
                <a:latin typeface="Gabriola" pitchFamily="82" charset="0"/>
              </a:rPr>
              <a:t>1. Zone of Coagulation (Necrosis Zone):</a:t>
            </a:r>
          </a:p>
          <a:p>
            <a:pPr>
              <a:lnSpc>
                <a:spcPct val="150000"/>
              </a:lnSpc>
            </a:pPr>
            <a:r>
              <a:rPr lang="en-GB" sz="2800" dirty="0" smtClean="0">
                <a:latin typeface="Gabriola" pitchFamily="82" charset="0"/>
              </a:rPr>
              <a:t>This </a:t>
            </a:r>
            <a:r>
              <a:rPr lang="en-GB" sz="2800" dirty="0">
                <a:latin typeface="Gabriola" pitchFamily="82" charset="0"/>
              </a:rPr>
              <a:t>is the central area of the burn, where tissue is irreversibly damaged.</a:t>
            </a:r>
          </a:p>
          <a:p>
            <a:pPr>
              <a:lnSpc>
                <a:spcPct val="150000"/>
              </a:lnSpc>
            </a:pPr>
            <a:r>
              <a:rPr lang="en-GB" sz="2800" b="1" dirty="0">
                <a:latin typeface="Gabriola" pitchFamily="82" charset="0"/>
              </a:rPr>
              <a:t>Characteristics</a:t>
            </a:r>
            <a:r>
              <a:rPr lang="en-GB" sz="2800" dirty="0">
                <a:latin typeface="Gabriola" pitchFamily="82" charset="0"/>
              </a:rPr>
              <a:t>:</a:t>
            </a:r>
          </a:p>
          <a:p>
            <a:pPr lvl="1">
              <a:lnSpc>
                <a:spcPct val="150000"/>
              </a:lnSpc>
            </a:pPr>
            <a:r>
              <a:rPr lang="en-GB" sz="2800" b="1" dirty="0">
                <a:latin typeface="Gabriola" pitchFamily="82" charset="0"/>
              </a:rPr>
              <a:t>Irreversible tissue death</a:t>
            </a:r>
            <a:r>
              <a:rPr lang="en-GB" sz="2800" dirty="0">
                <a:latin typeface="Gabriola" pitchFamily="82" charset="0"/>
              </a:rPr>
              <a:t> (necrosis).</a:t>
            </a:r>
          </a:p>
          <a:p>
            <a:pPr lvl="1">
              <a:lnSpc>
                <a:spcPct val="150000"/>
              </a:lnSpc>
            </a:pPr>
            <a:r>
              <a:rPr lang="en-GB" sz="2800" b="1" dirty="0">
                <a:latin typeface="Gabriola" pitchFamily="82" charset="0"/>
              </a:rPr>
              <a:t>Immediate coagulation</a:t>
            </a:r>
            <a:r>
              <a:rPr lang="en-GB" sz="2800" dirty="0">
                <a:latin typeface="Gabriola" pitchFamily="82" charset="0"/>
              </a:rPr>
              <a:t> of proteins and cells.</a:t>
            </a:r>
          </a:p>
          <a:p>
            <a:pPr lvl="1">
              <a:lnSpc>
                <a:spcPct val="150000"/>
              </a:lnSpc>
            </a:pPr>
            <a:r>
              <a:rPr lang="en-GB" sz="2800" b="1" dirty="0">
                <a:latin typeface="Gabriola" pitchFamily="82" charset="0"/>
              </a:rPr>
              <a:t>Loss of tissue integrity</a:t>
            </a:r>
            <a:r>
              <a:rPr lang="en-GB" sz="2800" dirty="0">
                <a:latin typeface="Gabriola" pitchFamily="82" charset="0"/>
              </a:rPr>
              <a:t>.</a:t>
            </a:r>
          </a:p>
          <a:p>
            <a:pPr lvl="1">
              <a:lnSpc>
                <a:spcPct val="150000"/>
              </a:lnSpc>
            </a:pPr>
            <a:r>
              <a:rPr lang="en-GB" sz="2800" b="1" dirty="0">
                <a:latin typeface="Gabriola" pitchFamily="82" charset="0"/>
              </a:rPr>
              <a:t>Most severe damage</a:t>
            </a:r>
            <a:r>
              <a:rPr lang="en-GB" sz="2800" dirty="0">
                <a:latin typeface="Gabriola" pitchFamily="82" charset="0"/>
              </a:rPr>
              <a:t> occurs in this area.</a:t>
            </a:r>
          </a:p>
          <a:p>
            <a:pPr marL="0" indent="0">
              <a:lnSpc>
                <a:spcPct val="150000"/>
              </a:lnSpc>
              <a:buNone/>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46</a:t>
            </a:fld>
            <a:endParaRPr lang="en-GB"/>
          </a:p>
        </p:txBody>
      </p:sp>
    </p:spTree>
    <p:extLst>
      <p:ext uri="{BB962C8B-B14F-4D97-AF65-F5344CB8AC3E}">
        <p14:creationId xmlns:p14="http://schemas.microsoft.com/office/powerpoint/2010/main" val="33067803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1805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836712"/>
            <a:ext cx="8496944" cy="5637240"/>
          </a:xfrm>
        </p:spPr>
        <p:txBody>
          <a:bodyPr>
            <a:normAutofit/>
          </a:bodyPr>
          <a:lstStyle/>
          <a:p>
            <a:pPr marL="0" indent="0">
              <a:lnSpc>
                <a:spcPct val="150000"/>
              </a:lnSpc>
              <a:buNone/>
            </a:pPr>
            <a:r>
              <a:rPr lang="en-GB" b="1" dirty="0">
                <a:latin typeface="Gabriola" pitchFamily="82" charset="0"/>
              </a:rPr>
              <a:t>2. Zone of Stasis (Impaired Perfusion Zone):</a:t>
            </a:r>
          </a:p>
          <a:p>
            <a:pPr>
              <a:lnSpc>
                <a:spcPct val="150000"/>
              </a:lnSpc>
            </a:pPr>
            <a:r>
              <a:rPr lang="en-GB" dirty="0" smtClean="0">
                <a:latin typeface="Gabriola" pitchFamily="82" charset="0"/>
              </a:rPr>
              <a:t>Surrounds </a:t>
            </a:r>
            <a:r>
              <a:rPr lang="en-GB" dirty="0">
                <a:latin typeface="Gabriola" pitchFamily="82" charset="0"/>
              </a:rPr>
              <a:t>the coagulation zone and contains tissue that is at risk of further damage.</a:t>
            </a:r>
          </a:p>
          <a:p>
            <a:pPr>
              <a:lnSpc>
                <a:spcPct val="150000"/>
              </a:lnSpc>
            </a:pPr>
            <a:r>
              <a:rPr lang="en-GB" b="1" dirty="0">
                <a:latin typeface="Gabriola" pitchFamily="82" charset="0"/>
              </a:rPr>
              <a:t>Characteristics</a:t>
            </a:r>
            <a:r>
              <a:rPr lang="en-GB" dirty="0">
                <a:latin typeface="Gabriola" pitchFamily="82" charset="0"/>
              </a:rPr>
              <a:t>:</a:t>
            </a:r>
          </a:p>
          <a:p>
            <a:pPr lvl="1">
              <a:lnSpc>
                <a:spcPct val="150000"/>
              </a:lnSpc>
            </a:pPr>
            <a:r>
              <a:rPr lang="en-GB" sz="2400" b="1" dirty="0">
                <a:latin typeface="Gabriola" pitchFamily="82" charset="0"/>
              </a:rPr>
              <a:t>Moderate damage</a:t>
            </a:r>
            <a:r>
              <a:rPr lang="en-GB" sz="2400" dirty="0">
                <a:latin typeface="Gabriola" pitchFamily="82" charset="0"/>
              </a:rPr>
              <a:t> to tissues.</a:t>
            </a:r>
          </a:p>
          <a:p>
            <a:pPr lvl="1">
              <a:lnSpc>
                <a:spcPct val="150000"/>
              </a:lnSpc>
            </a:pPr>
            <a:r>
              <a:rPr lang="en-GB" sz="2400" dirty="0">
                <a:latin typeface="Gabriola" pitchFamily="82" charset="0"/>
              </a:rPr>
              <a:t>Presence of </a:t>
            </a:r>
            <a:r>
              <a:rPr lang="en-GB" sz="2400" b="1" dirty="0">
                <a:latin typeface="Gabriola" pitchFamily="82" charset="0"/>
              </a:rPr>
              <a:t>vascular transudate</a:t>
            </a:r>
            <a:r>
              <a:rPr lang="en-GB" sz="2400" dirty="0">
                <a:latin typeface="Gabriola" pitchFamily="82" charset="0"/>
              </a:rPr>
              <a:t> (fluid leakage) and </a:t>
            </a:r>
            <a:r>
              <a:rPr lang="en-GB" sz="2400" b="1" dirty="0">
                <a:latin typeface="Gabriola" pitchFamily="82" charset="0"/>
              </a:rPr>
              <a:t>inflammatory factors</a:t>
            </a:r>
            <a:r>
              <a:rPr lang="en-GB" sz="2400" dirty="0">
                <a:latin typeface="Gabriola" pitchFamily="82" charset="0"/>
              </a:rPr>
              <a:t> like </a:t>
            </a:r>
            <a:r>
              <a:rPr lang="en-GB" sz="2400" dirty="0" err="1">
                <a:latin typeface="Gabriola" pitchFamily="82" charset="0"/>
              </a:rPr>
              <a:t>vasoconstricting</a:t>
            </a:r>
            <a:r>
              <a:rPr lang="en-GB" sz="2400" dirty="0">
                <a:latin typeface="Gabriola" pitchFamily="82" charset="0"/>
              </a:rPr>
              <a:t> agents.</a:t>
            </a:r>
          </a:p>
          <a:p>
            <a:pPr lvl="1">
              <a:lnSpc>
                <a:spcPct val="150000"/>
              </a:lnSpc>
            </a:pPr>
            <a:r>
              <a:rPr lang="en-GB" sz="2400" b="1" dirty="0">
                <a:latin typeface="Gabriola" pitchFamily="82" charset="0"/>
              </a:rPr>
              <a:t>Impaired tissue perfusion</a:t>
            </a:r>
            <a:r>
              <a:rPr lang="en-GB" sz="2400" dirty="0">
                <a:latin typeface="Gabriola" pitchFamily="82" charset="0"/>
              </a:rPr>
              <a:t>, leading to reduced oxygen and nutrient delivery.</a:t>
            </a:r>
          </a:p>
          <a:p>
            <a:pPr lvl="1">
              <a:lnSpc>
                <a:spcPct val="150000"/>
              </a:lnSpc>
            </a:pPr>
            <a:r>
              <a:rPr lang="en-GB" sz="2400" b="1" dirty="0">
                <a:latin typeface="Gabriola" pitchFamily="82" charset="0"/>
              </a:rPr>
              <a:t>Potential for recovery or progression to necrosis</a:t>
            </a:r>
            <a:r>
              <a:rPr lang="en-GB" sz="2400" dirty="0">
                <a:latin typeface="Gabriola" pitchFamily="82" charset="0"/>
              </a:rPr>
              <a:t> depending on wound environment (i.e., infection, oxygen supply, etc.).</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47</a:t>
            </a:fld>
            <a:endParaRPr lang="en-GB"/>
          </a:p>
        </p:txBody>
      </p:sp>
    </p:spTree>
    <p:extLst>
      <p:ext uri="{BB962C8B-B14F-4D97-AF65-F5344CB8AC3E}">
        <p14:creationId xmlns:p14="http://schemas.microsoft.com/office/powerpoint/2010/main" val="3461638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424936"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836712"/>
            <a:ext cx="8568952" cy="5688632"/>
          </a:xfrm>
        </p:spPr>
        <p:txBody>
          <a:bodyPr>
            <a:normAutofit/>
          </a:bodyPr>
          <a:lstStyle/>
          <a:p>
            <a:pPr marL="0" indent="0">
              <a:lnSpc>
                <a:spcPct val="150000"/>
              </a:lnSpc>
              <a:buNone/>
            </a:pPr>
            <a:r>
              <a:rPr lang="en-GB" sz="2800" b="1" dirty="0">
                <a:latin typeface="Gabriola" pitchFamily="82" charset="0"/>
              </a:rPr>
              <a:t>3. Zone of Hyperaemia (Increased Blood Flow Zone):</a:t>
            </a:r>
          </a:p>
          <a:p>
            <a:pPr>
              <a:lnSpc>
                <a:spcPct val="150000"/>
              </a:lnSpc>
            </a:pPr>
            <a:r>
              <a:rPr lang="en-GB" sz="2800" dirty="0" smtClean="0">
                <a:latin typeface="Gabriola" pitchFamily="82" charset="0"/>
              </a:rPr>
              <a:t>The </a:t>
            </a:r>
            <a:r>
              <a:rPr lang="en-GB" sz="2800" dirty="0">
                <a:latin typeface="Gabriola" pitchFamily="82" charset="0"/>
              </a:rPr>
              <a:t>outermost zone, where the tissue is inflamed but not yet necrotic.</a:t>
            </a:r>
          </a:p>
          <a:p>
            <a:pPr>
              <a:lnSpc>
                <a:spcPct val="150000"/>
              </a:lnSpc>
            </a:pPr>
            <a:r>
              <a:rPr lang="en-GB" sz="2800" b="1" dirty="0">
                <a:latin typeface="Gabriola" pitchFamily="82" charset="0"/>
              </a:rPr>
              <a:t>Characteristics</a:t>
            </a:r>
            <a:r>
              <a:rPr lang="en-GB" sz="2800" dirty="0">
                <a:latin typeface="Gabriola" pitchFamily="82" charset="0"/>
              </a:rPr>
              <a:t>:</a:t>
            </a:r>
          </a:p>
          <a:p>
            <a:pPr lvl="1">
              <a:lnSpc>
                <a:spcPct val="150000"/>
              </a:lnSpc>
            </a:pPr>
            <a:r>
              <a:rPr lang="en-GB" sz="2800" b="1" dirty="0">
                <a:latin typeface="Gabriola" pitchFamily="82" charset="0"/>
              </a:rPr>
              <a:t>Increased blood flow</a:t>
            </a:r>
            <a:r>
              <a:rPr lang="en-GB" sz="2800" dirty="0">
                <a:latin typeface="Gabriola" pitchFamily="82" charset="0"/>
              </a:rPr>
              <a:t> to the affected area due to </a:t>
            </a:r>
            <a:r>
              <a:rPr lang="en-GB" sz="2800" b="1" dirty="0">
                <a:latin typeface="Gabriola" pitchFamily="82" charset="0"/>
              </a:rPr>
              <a:t>vasodilation</a:t>
            </a:r>
            <a:r>
              <a:rPr lang="en-GB" sz="2800" dirty="0">
                <a:latin typeface="Gabriola" pitchFamily="82" charset="0"/>
              </a:rPr>
              <a:t> caused by inflammation.</a:t>
            </a:r>
          </a:p>
          <a:p>
            <a:pPr lvl="1">
              <a:lnSpc>
                <a:spcPct val="150000"/>
              </a:lnSpc>
            </a:pPr>
            <a:r>
              <a:rPr lang="en-GB" sz="2800" b="1" dirty="0">
                <a:latin typeface="Gabriola" pitchFamily="82" charset="0"/>
              </a:rPr>
              <a:t>No significant risk of necrosis</a:t>
            </a:r>
            <a:r>
              <a:rPr lang="en-GB" sz="2800" dirty="0">
                <a:latin typeface="Gabriola" pitchFamily="82" charset="0"/>
              </a:rPr>
              <a:t> unless there are complications like </a:t>
            </a:r>
            <a:r>
              <a:rPr lang="en-GB" sz="2800" b="1" dirty="0">
                <a:latin typeface="Gabriola" pitchFamily="82" charset="0"/>
              </a:rPr>
              <a:t>severe sepsis</a:t>
            </a:r>
            <a:r>
              <a:rPr lang="en-GB" sz="2800" dirty="0">
                <a:latin typeface="Gabriola" pitchFamily="82" charset="0"/>
              </a:rPr>
              <a:t> or </a:t>
            </a:r>
            <a:r>
              <a:rPr lang="en-GB" sz="2800" b="1" dirty="0">
                <a:latin typeface="Gabriola" pitchFamily="82" charset="0"/>
              </a:rPr>
              <a:t>prolonged </a:t>
            </a:r>
            <a:r>
              <a:rPr lang="en-GB" sz="2800" b="1" dirty="0" err="1">
                <a:latin typeface="Gabriola" pitchFamily="82" charset="0"/>
              </a:rPr>
              <a:t>hypoperfusion</a:t>
            </a:r>
            <a:r>
              <a:rPr lang="en-GB" sz="2800" dirty="0">
                <a:latin typeface="Gabriola" pitchFamily="82" charset="0"/>
              </a:rPr>
              <a:t> (low blood flow).</a:t>
            </a:r>
          </a:p>
          <a:p>
            <a:pPr lvl="1">
              <a:lnSpc>
                <a:spcPct val="150000"/>
              </a:lnSpc>
            </a:pPr>
            <a:r>
              <a:rPr lang="en-GB" sz="2800" b="1" dirty="0">
                <a:latin typeface="Gabriola" pitchFamily="82" charset="0"/>
              </a:rPr>
              <a:t>Good chance for recovery</a:t>
            </a:r>
            <a:r>
              <a:rPr lang="en-GB" sz="2800" dirty="0">
                <a:latin typeface="Gabriola" pitchFamily="82" charset="0"/>
              </a:rPr>
              <a:t> if proper treatment is given.</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48</a:t>
            </a:fld>
            <a:endParaRPr lang="en-GB"/>
          </a:p>
        </p:txBody>
      </p:sp>
    </p:spTree>
    <p:extLst>
      <p:ext uri="{BB962C8B-B14F-4D97-AF65-F5344CB8AC3E}">
        <p14:creationId xmlns:p14="http://schemas.microsoft.com/office/powerpoint/2010/main" val="18453118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280920" cy="562074"/>
          </a:xfrm>
        </p:spPr>
        <p:txBody>
          <a:bodyPr/>
          <a:lstStyle/>
          <a:p>
            <a:r>
              <a:rPr lang="en-GB" dirty="0">
                <a:solidFill>
                  <a:schemeClr val="tx1"/>
                </a:solidFill>
                <a:latin typeface="Arial Black" pitchFamily="34" charset="0"/>
              </a:rPr>
              <a:t>Systemic Effects of Burn Injuries</a:t>
            </a:r>
          </a:p>
        </p:txBody>
      </p:sp>
      <p:sp>
        <p:nvSpPr>
          <p:cNvPr id="3" name="Content Placeholder 2"/>
          <p:cNvSpPr>
            <a:spLocks noGrp="1"/>
          </p:cNvSpPr>
          <p:nvPr>
            <p:ph sz="quarter" idx="1"/>
          </p:nvPr>
        </p:nvSpPr>
        <p:spPr>
          <a:xfrm>
            <a:off x="179512" y="908720"/>
            <a:ext cx="8568952" cy="5565232"/>
          </a:xfrm>
        </p:spPr>
        <p:txBody>
          <a:bodyPr>
            <a:normAutofit/>
          </a:bodyPr>
          <a:lstStyle/>
          <a:p>
            <a:pPr>
              <a:lnSpc>
                <a:spcPct val="150000"/>
              </a:lnSpc>
            </a:pPr>
            <a:r>
              <a:rPr lang="en-GB" sz="2800" dirty="0">
                <a:latin typeface="Gabriola" pitchFamily="82" charset="0"/>
              </a:rPr>
              <a:t>Burn injuries, especially those involving more than 30% of total body surface area (TBSA), trigger complex systemic effects due to the body's response to the trauma. </a:t>
            </a:r>
          </a:p>
          <a:p>
            <a:pPr marL="0" indent="0">
              <a:lnSpc>
                <a:spcPct val="150000"/>
              </a:lnSpc>
              <a:buNone/>
            </a:pPr>
            <a:r>
              <a:rPr lang="en-GB" sz="2800" b="1" dirty="0">
                <a:latin typeface="Times" pitchFamily="18" charset="0"/>
              </a:rPr>
              <a:t>1. Burn Shock and Cardiovascular Dysfunction</a:t>
            </a:r>
          </a:p>
          <a:p>
            <a:pPr>
              <a:lnSpc>
                <a:spcPct val="150000"/>
              </a:lnSpc>
            </a:pPr>
            <a:r>
              <a:rPr lang="en-GB" sz="2800" b="1" dirty="0">
                <a:latin typeface="Gabriola" pitchFamily="82" charset="0"/>
              </a:rPr>
              <a:t>Burn shock</a:t>
            </a:r>
            <a:r>
              <a:rPr lang="en-GB" sz="2800" dirty="0">
                <a:latin typeface="Gabriola" pitchFamily="82" charset="0"/>
              </a:rPr>
              <a:t> occurs when burns affect a large portion of the body (over 30% TBSA), leading to </a:t>
            </a:r>
            <a:r>
              <a:rPr lang="en-GB" sz="2800" b="1" dirty="0" err="1">
                <a:latin typeface="Gabriola" pitchFamily="82" charset="0"/>
              </a:rPr>
              <a:t>hypovolemia</a:t>
            </a:r>
            <a:r>
              <a:rPr lang="en-GB" sz="2800" dirty="0">
                <a:latin typeface="Gabriola" pitchFamily="82" charset="0"/>
              </a:rPr>
              <a:t> (a reduced volume of blood) and the release of inflammatory mediators. </a:t>
            </a:r>
            <a:endParaRPr lang="en-GB" sz="2800" dirty="0" smtClean="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49</a:t>
            </a:fld>
            <a:endParaRPr lang="en-GB"/>
          </a:p>
        </p:txBody>
      </p:sp>
    </p:spTree>
    <p:extLst>
      <p:ext uri="{BB962C8B-B14F-4D97-AF65-F5344CB8AC3E}">
        <p14:creationId xmlns:p14="http://schemas.microsoft.com/office/powerpoint/2010/main" val="18052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568952" cy="288032"/>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251520" y="692696"/>
            <a:ext cx="8280920" cy="5781256"/>
          </a:xfrm>
        </p:spPr>
        <p:txBody>
          <a:bodyPr>
            <a:normAutofit/>
          </a:bodyPr>
          <a:lstStyle/>
          <a:p>
            <a:pPr>
              <a:lnSpc>
                <a:spcPct val="150000"/>
              </a:lnSpc>
            </a:pPr>
            <a:r>
              <a:rPr lang="en-GB" sz="2800" dirty="0">
                <a:latin typeface="Gabriola" pitchFamily="82" charset="0"/>
              </a:rPr>
              <a:t>These factors combine to impair circulation, reducing blood flow to vital organs and tissues</a:t>
            </a:r>
            <a:r>
              <a:rPr lang="en-GB" sz="2800" dirty="0" smtClean="0">
                <a:latin typeface="Gabriola" pitchFamily="82" charset="0"/>
              </a:rPr>
              <a:t>.</a:t>
            </a:r>
            <a:endParaRPr lang="en-GB" sz="2800" dirty="0" smtClean="0">
              <a:latin typeface="Gabriola" pitchFamily="82" charset="0"/>
            </a:endParaRPr>
          </a:p>
          <a:p>
            <a:pPr>
              <a:lnSpc>
                <a:spcPct val="150000"/>
              </a:lnSpc>
            </a:pPr>
            <a:r>
              <a:rPr lang="en-GB" sz="2800" dirty="0" smtClean="0">
                <a:latin typeface="Gabriola" pitchFamily="82" charset="0"/>
              </a:rPr>
              <a:t>This </a:t>
            </a:r>
            <a:r>
              <a:rPr lang="en-GB" sz="2800" dirty="0">
                <a:latin typeface="Gabriola" pitchFamily="82" charset="0"/>
              </a:rPr>
              <a:t>state is </a:t>
            </a:r>
            <a:r>
              <a:rPr lang="en-GB" sz="2800" b="1" dirty="0">
                <a:latin typeface="Gabriola" pitchFamily="82" charset="0"/>
              </a:rPr>
              <a:t>irreversible</a:t>
            </a:r>
            <a:r>
              <a:rPr lang="en-GB" sz="2800" dirty="0">
                <a:latin typeface="Gabriola" pitchFamily="82" charset="0"/>
              </a:rPr>
              <a:t> despite prompt intervention. </a:t>
            </a: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a:latin typeface="Gabriola" pitchFamily="82" charset="0"/>
              </a:rPr>
              <a:t>increase in </a:t>
            </a:r>
            <a:r>
              <a:rPr lang="en-GB" sz="2800" b="1" dirty="0">
                <a:latin typeface="Gabriola" pitchFamily="82" charset="0"/>
              </a:rPr>
              <a:t>systemic vascular resistance (SVR)</a:t>
            </a:r>
            <a:r>
              <a:rPr lang="en-GB" sz="2800" dirty="0">
                <a:latin typeface="Gabriola" pitchFamily="82" charset="0"/>
              </a:rPr>
              <a:t> and the resulting decrease in </a:t>
            </a:r>
            <a:r>
              <a:rPr lang="en-GB" sz="2800" b="1" dirty="0">
                <a:latin typeface="Gabriola" pitchFamily="82" charset="0"/>
              </a:rPr>
              <a:t>cardiac output</a:t>
            </a:r>
            <a:r>
              <a:rPr lang="en-GB" sz="2800" dirty="0">
                <a:latin typeface="Gabriola" pitchFamily="82" charset="0"/>
              </a:rPr>
              <a:t> are hallmarks of this phase. </a:t>
            </a:r>
            <a:endParaRPr lang="en-GB" sz="2800" dirty="0" smtClean="0">
              <a:latin typeface="Gabriola" pitchFamily="82" charset="0"/>
            </a:endParaRPr>
          </a:p>
          <a:p>
            <a:pPr>
              <a:lnSpc>
                <a:spcPct val="150000"/>
              </a:lnSpc>
            </a:pPr>
            <a:r>
              <a:rPr lang="en-GB" sz="2800" dirty="0" smtClean="0">
                <a:latin typeface="Gabriola" pitchFamily="82" charset="0"/>
              </a:rPr>
              <a:t>Even </a:t>
            </a:r>
            <a:r>
              <a:rPr lang="en-GB" sz="2800" dirty="0">
                <a:latin typeface="Gabriola" pitchFamily="82" charset="0"/>
              </a:rPr>
              <a:t>with adequate fluid resuscitation, myocardial depression, pulmonary and vascular resistance remain elevated, contributing to </a:t>
            </a:r>
            <a:r>
              <a:rPr lang="en-GB" sz="2800" b="1" dirty="0">
                <a:latin typeface="Gabriola" pitchFamily="82" charset="0"/>
              </a:rPr>
              <a:t>organ failure</a:t>
            </a:r>
            <a:r>
              <a:rPr lang="en-GB" sz="2800" dirty="0">
                <a:latin typeface="Gabriola" pitchFamily="82" charset="0"/>
              </a:rPr>
              <a:t> and worsened outcomes.</a:t>
            </a:r>
          </a:p>
          <a:p>
            <a:endParaRPr lang="en-GB" dirty="0"/>
          </a:p>
        </p:txBody>
      </p:sp>
      <p:sp>
        <p:nvSpPr>
          <p:cNvPr id="4" name="Slide Number Placeholder 3"/>
          <p:cNvSpPr>
            <a:spLocks noGrp="1"/>
          </p:cNvSpPr>
          <p:nvPr>
            <p:ph type="sldNum" sz="quarter" idx="15"/>
          </p:nvPr>
        </p:nvSpPr>
        <p:spPr/>
        <p:txBody>
          <a:bodyPr/>
          <a:lstStyle/>
          <a:p>
            <a:fld id="{968CA758-BC7F-4AFE-853F-5D1E39DDFDA0}" type="slidenum">
              <a:rPr lang="en-GB" smtClean="0"/>
              <a:t>50</a:t>
            </a:fld>
            <a:endParaRPr lang="en-GB"/>
          </a:p>
        </p:txBody>
      </p:sp>
    </p:spTree>
    <p:extLst>
      <p:ext uri="{BB962C8B-B14F-4D97-AF65-F5344CB8AC3E}">
        <p14:creationId xmlns:p14="http://schemas.microsoft.com/office/powerpoint/2010/main" val="3179415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7673280" cy="216024"/>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404664"/>
            <a:ext cx="8784976" cy="6264696"/>
          </a:xfrm>
        </p:spPr>
        <p:txBody>
          <a:bodyPr>
            <a:normAutofit/>
          </a:bodyPr>
          <a:lstStyle/>
          <a:p>
            <a:pPr marL="0" indent="0">
              <a:lnSpc>
                <a:spcPct val="150000"/>
              </a:lnSpc>
              <a:buNone/>
            </a:pPr>
            <a:r>
              <a:rPr lang="en-GB" sz="2600" b="1" dirty="0">
                <a:latin typeface="Times" pitchFamily="18" charset="0"/>
              </a:rPr>
              <a:t>2. Plasma Extravasation and Oedema Formation</a:t>
            </a:r>
          </a:p>
          <a:p>
            <a:pPr>
              <a:lnSpc>
                <a:spcPct val="150000"/>
              </a:lnSpc>
            </a:pPr>
            <a:r>
              <a:rPr lang="en-GB" sz="2800" b="1" dirty="0">
                <a:latin typeface="Gabriola" pitchFamily="82" charset="0"/>
              </a:rPr>
              <a:t>Plasma extravasation</a:t>
            </a:r>
            <a:r>
              <a:rPr lang="en-GB" sz="2800" dirty="0">
                <a:latin typeface="Gabriola" pitchFamily="82" charset="0"/>
              </a:rPr>
              <a:t> is the leakage of plasma proteins from blood vessels into surrounding tissues. </a:t>
            </a:r>
            <a:endParaRPr lang="en-GB" sz="2800" dirty="0" smtClean="0">
              <a:latin typeface="Gabriola" pitchFamily="82" charset="0"/>
            </a:endParaRPr>
          </a:p>
          <a:p>
            <a:pPr>
              <a:lnSpc>
                <a:spcPct val="150000"/>
              </a:lnSpc>
            </a:pPr>
            <a:r>
              <a:rPr lang="en-GB" sz="2800" dirty="0" smtClean="0">
                <a:latin typeface="Gabriola" pitchFamily="82" charset="0"/>
              </a:rPr>
              <a:t>This </a:t>
            </a:r>
            <a:r>
              <a:rPr lang="en-GB" sz="2800" dirty="0">
                <a:latin typeface="Gabriola" pitchFamily="82" charset="0"/>
              </a:rPr>
              <a:t>leads to </a:t>
            </a:r>
            <a:r>
              <a:rPr lang="en-GB" sz="2800" b="1" dirty="0">
                <a:latin typeface="Gabriola" pitchFamily="82" charset="0"/>
              </a:rPr>
              <a:t>oedema</a:t>
            </a:r>
            <a:r>
              <a:rPr lang="en-GB" sz="2800" dirty="0">
                <a:latin typeface="Gabriola" pitchFamily="82" charset="0"/>
              </a:rPr>
              <a:t> (swelling), which occurs due to fluid </a:t>
            </a:r>
            <a:r>
              <a:rPr lang="en-GB" sz="2800" dirty="0" err="1">
                <a:latin typeface="Gabriola" pitchFamily="82" charset="0"/>
              </a:rPr>
              <a:t>buildup</a:t>
            </a:r>
            <a:r>
              <a:rPr lang="en-GB" sz="2800" dirty="0">
                <a:latin typeface="Gabriola" pitchFamily="82" charset="0"/>
              </a:rPr>
              <a:t> in both burned and unaffected tissues. </a:t>
            </a: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a:latin typeface="Gabriola" pitchFamily="82" charset="0"/>
              </a:rPr>
              <a:t>oedema process is </a:t>
            </a:r>
            <a:r>
              <a:rPr lang="en-GB" sz="2800" b="1" dirty="0">
                <a:latin typeface="Gabriola" pitchFamily="82" charset="0"/>
              </a:rPr>
              <a:t>biphasic</a:t>
            </a:r>
            <a:r>
              <a:rPr lang="en-GB" sz="2800" dirty="0">
                <a:latin typeface="Gabriola" pitchFamily="82" charset="0"/>
              </a:rPr>
              <a:t>:</a:t>
            </a:r>
          </a:p>
          <a:p>
            <a:pPr lvl="1">
              <a:lnSpc>
                <a:spcPct val="150000"/>
              </a:lnSpc>
            </a:pPr>
            <a:r>
              <a:rPr lang="en-GB" sz="2800" b="1" dirty="0">
                <a:latin typeface="Gabriola" pitchFamily="82" charset="0"/>
              </a:rPr>
              <a:t>Phase 1</a:t>
            </a:r>
            <a:r>
              <a:rPr lang="en-GB" sz="2800" dirty="0">
                <a:latin typeface="Gabriola" pitchFamily="82" charset="0"/>
              </a:rPr>
              <a:t> (immediate) begins within the first hour after the burn injury, involving rapid fluid accumulation.</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51</a:t>
            </a:fld>
            <a:endParaRPr lang="en-GB"/>
          </a:p>
        </p:txBody>
      </p:sp>
    </p:spTree>
    <p:extLst>
      <p:ext uri="{BB962C8B-B14F-4D97-AF65-F5344CB8AC3E}">
        <p14:creationId xmlns:p14="http://schemas.microsoft.com/office/powerpoint/2010/main" val="914198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74638"/>
            <a:ext cx="7889304" cy="41805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251520" y="908720"/>
            <a:ext cx="8640960" cy="5565232"/>
          </a:xfrm>
        </p:spPr>
        <p:txBody>
          <a:bodyPr>
            <a:normAutofit/>
          </a:bodyPr>
          <a:lstStyle/>
          <a:p>
            <a:pPr lvl="1">
              <a:lnSpc>
                <a:spcPct val="150000"/>
              </a:lnSpc>
            </a:pPr>
            <a:r>
              <a:rPr lang="en-GB" sz="2800" b="1" dirty="0">
                <a:latin typeface="Gabriola" pitchFamily="82" charset="0"/>
              </a:rPr>
              <a:t>Phase 2</a:t>
            </a:r>
            <a:r>
              <a:rPr lang="en-GB" sz="2800" dirty="0">
                <a:latin typeface="Gabriola" pitchFamily="82" charset="0"/>
              </a:rPr>
              <a:t> (delayed) happens between 12-24 hours after injury, with more gradual fluid retention in the tissue.</a:t>
            </a:r>
          </a:p>
          <a:p>
            <a:pPr>
              <a:lnSpc>
                <a:spcPct val="150000"/>
              </a:lnSpc>
            </a:pPr>
            <a:r>
              <a:rPr lang="en-GB" sz="2800" dirty="0">
                <a:latin typeface="Gabriola" pitchFamily="82" charset="0"/>
              </a:rPr>
              <a:t>Fluid resuscitation can exacerbate oedema due to </a:t>
            </a:r>
            <a:r>
              <a:rPr lang="en-GB" sz="2800" b="1" dirty="0">
                <a:latin typeface="Gabriola" pitchFamily="82" charset="0"/>
              </a:rPr>
              <a:t>increased capillary pressure</a:t>
            </a:r>
            <a:r>
              <a:rPr lang="en-GB" sz="2800" dirty="0">
                <a:latin typeface="Gabriola" pitchFamily="82" charset="0"/>
              </a:rPr>
              <a:t>, but in the absence of fluids, oedema is more self-limiting.</a:t>
            </a:r>
          </a:p>
          <a:p>
            <a:endParaRPr lang="en-GB" sz="2600" dirty="0"/>
          </a:p>
        </p:txBody>
      </p:sp>
      <p:sp>
        <p:nvSpPr>
          <p:cNvPr id="4" name="Slide Number Placeholder 3"/>
          <p:cNvSpPr>
            <a:spLocks noGrp="1"/>
          </p:cNvSpPr>
          <p:nvPr>
            <p:ph type="sldNum" sz="quarter" idx="15"/>
          </p:nvPr>
        </p:nvSpPr>
        <p:spPr/>
        <p:txBody>
          <a:bodyPr/>
          <a:lstStyle/>
          <a:p>
            <a:fld id="{968CA758-BC7F-4AFE-853F-5D1E39DDFDA0}" type="slidenum">
              <a:rPr lang="en-GB" smtClean="0"/>
              <a:t>52</a:t>
            </a:fld>
            <a:endParaRPr lang="en-GB"/>
          </a:p>
        </p:txBody>
      </p:sp>
    </p:spTree>
    <p:extLst>
      <p:ext uri="{BB962C8B-B14F-4D97-AF65-F5344CB8AC3E}">
        <p14:creationId xmlns:p14="http://schemas.microsoft.com/office/powerpoint/2010/main" val="2140438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44624"/>
            <a:ext cx="7817296" cy="50405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548680"/>
            <a:ext cx="8640960" cy="5925272"/>
          </a:xfrm>
        </p:spPr>
        <p:txBody>
          <a:bodyPr>
            <a:normAutofit/>
          </a:bodyPr>
          <a:lstStyle/>
          <a:p>
            <a:pPr marL="0" indent="0">
              <a:lnSpc>
                <a:spcPct val="150000"/>
              </a:lnSpc>
              <a:buNone/>
            </a:pPr>
            <a:r>
              <a:rPr lang="en-GB" sz="2600" b="1" dirty="0">
                <a:latin typeface="Times" pitchFamily="18" charset="0"/>
              </a:rPr>
              <a:t>3. Cellular Depolarisation and Tissue Damage</a:t>
            </a:r>
          </a:p>
          <a:p>
            <a:pPr>
              <a:lnSpc>
                <a:spcPct val="150000"/>
              </a:lnSpc>
            </a:pPr>
            <a:r>
              <a:rPr lang="en-GB" sz="2800" dirty="0">
                <a:latin typeface="Gabriola" pitchFamily="82" charset="0"/>
              </a:rPr>
              <a:t>Severe burns lead to </a:t>
            </a:r>
            <a:r>
              <a:rPr lang="en-GB" sz="2800" b="1" dirty="0">
                <a:latin typeface="Gabriola" pitchFamily="82" charset="0"/>
              </a:rPr>
              <a:t>cell membrane depolarisation</a:t>
            </a:r>
            <a:r>
              <a:rPr lang="en-GB" sz="2800" dirty="0">
                <a:latin typeface="Gabriola" pitchFamily="82" charset="0"/>
              </a:rPr>
              <a:t> in not just the burned tissue, but also in distant tissues like skeletal muscle. </a:t>
            </a:r>
            <a:endParaRPr lang="en-GB" sz="2800" dirty="0" smtClean="0">
              <a:latin typeface="Gabriola" pitchFamily="82" charset="0"/>
            </a:endParaRPr>
          </a:p>
          <a:p>
            <a:pPr>
              <a:lnSpc>
                <a:spcPct val="150000"/>
              </a:lnSpc>
            </a:pPr>
            <a:r>
              <a:rPr lang="en-GB" sz="2800" dirty="0" smtClean="0">
                <a:latin typeface="Gabriola" pitchFamily="82" charset="0"/>
              </a:rPr>
              <a:t>This </a:t>
            </a:r>
            <a:r>
              <a:rPr lang="en-GB" sz="2800" dirty="0">
                <a:latin typeface="Gabriola" pitchFamily="82" charset="0"/>
              </a:rPr>
              <a:t>change in membrane potential (from −90mV to more positive values) increases water and sodium content in cells, resulting in </a:t>
            </a:r>
            <a:r>
              <a:rPr lang="en-GB" sz="2800" b="1" dirty="0">
                <a:latin typeface="Gabriola" pitchFamily="82" charset="0"/>
              </a:rPr>
              <a:t>cellular oedema</a:t>
            </a:r>
            <a:r>
              <a:rPr lang="en-GB" sz="2800" dirty="0">
                <a:latin typeface="Gabriola" pitchFamily="82" charset="0"/>
              </a:rPr>
              <a:t>.</a:t>
            </a:r>
          </a:p>
          <a:p>
            <a:pPr>
              <a:lnSpc>
                <a:spcPct val="150000"/>
              </a:lnSpc>
            </a:pPr>
            <a:r>
              <a:rPr lang="en-GB" sz="2800" dirty="0">
                <a:latin typeface="Gabriola" pitchFamily="82" charset="0"/>
              </a:rPr>
              <a:t>This is thought to be caused by </a:t>
            </a:r>
            <a:r>
              <a:rPr lang="en-GB" sz="2800" b="1" dirty="0">
                <a:latin typeface="Gabriola" pitchFamily="82" charset="0"/>
              </a:rPr>
              <a:t>increased membrane permeability to sodium</a:t>
            </a:r>
            <a:r>
              <a:rPr lang="en-GB" sz="2800" dirty="0">
                <a:latin typeface="Gabriola" pitchFamily="82" charset="0"/>
              </a:rPr>
              <a:t>, and a decrease in ATP production and ATPase activity, making it harder for cells to maintain normal function.</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53</a:t>
            </a:fld>
            <a:endParaRPr lang="en-GB"/>
          </a:p>
        </p:txBody>
      </p:sp>
    </p:spTree>
    <p:extLst>
      <p:ext uri="{BB962C8B-B14F-4D97-AF65-F5344CB8AC3E}">
        <p14:creationId xmlns:p14="http://schemas.microsoft.com/office/powerpoint/2010/main" val="1303150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496944" cy="360040"/>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548680"/>
            <a:ext cx="8640960" cy="5925272"/>
          </a:xfrm>
        </p:spPr>
        <p:txBody>
          <a:bodyPr/>
          <a:lstStyle/>
          <a:p>
            <a:pPr marL="0" indent="0">
              <a:lnSpc>
                <a:spcPct val="150000"/>
              </a:lnSpc>
              <a:buNone/>
            </a:pPr>
            <a:r>
              <a:rPr lang="en-GB" sz="2600" b="1" dirty="0">
                <a:latin typeface="Times" pitchFamily="18" charset="0"/>
              </a:rPr>
              <a:t>4. </a:t>
            </a:r>
            <a:r>
              <a:rPr lang="en-GB" sz="2600" b="1" dirty="0" err="1">
                <a:latin typeface="Times" pitchFamily="18" charset="0"/>
              </a:rPr>
              <a:t>Hypermetabolism</a:t>
            </a:r>
            <a:r>
              <a:rPr lang="en-GB" sz="2600" b="1" dirty="0">
                <a:latin typeface="Times" pitchFamily="18" charset="0"/>
              </a:rPr>
              <a:t> and Energy Demand</a:t>
            </a:r>
          </a:p>
          <a:p>
            <a:pPr>
              <a:lnSpc>
                <a:spcPct val="150000"/>
              </a:lnSpc>
            </a:pPr>
            <a:r>
              <a:rPr lang="en-GB" sz="2600" b="1" dirty="0" err="1">
                <a:latin typeface="Gabriola" pitchFamily="82" charset="0"/>
              </a:rPr>
              <a:t>Hypermetabolism</a:t>
            </a:r>
            <a:r>
              <a:rPr lang="en-GB" sz="2600" dirty="0">
                <a:latin typeface="Gabriola" pitchFamily="82" charset="0"/>
              </a:rPr>
              <a:t> is a prominent feature in burn patients, where </a:t>
            </a:r>
            <a:r>
              <a:rPr lang="en-GB" sz="2600" b="1" dirty="0">
                <a:latin typeface="Gabriola" pitchFamily="82" charset="0"/>
              </a:rPr>
              <a:t>resting energy expenditure</a:t>
            </a:r>
            <a:r>
              <a:rPr lang="en-GB" sz="2600" dirty="0">
                <a:latin typeface="Gabriola" pitchFamily="82" charset="0"/>
              </a:rPr>
              <a:t> can double in cases of burns affecting over 40% of TBSA. </a:t>
            </a:r>
            <a:endParaRPr lang="en-GB" sz="2600" dirty="0" smtClean="0">
              <a:latin typeface="Gabriola" pitchFamily="82" charset="0"/>
            </a:endParaRPr>
          </a:p>
          <a:p>
            <a:pPr>
              <a:lnSpc>
                <a:spcPct val="150000"/>
              </a:lnSpc>
            </a:pPr>
            <a:r>
              <a:rPr lang="en-GB" sz="2600" dirty="0" smtClean="0">
                <a:latin typeface="Gabriola" pitchFamily="82" charset="0"/>
              </a:rPr>
              <a:t>This </a:t>
            </a:r>
            <a:r>
              <a:rPr lang="en-GB" sz="2600" dirty="0">
                <a:latin typeface="Gabriola" pitchFamily="82" charset="0"/>
              </a:rPr>
              <a:t>elevated metabolic state persists for months, even after wound healing.</a:t>
            </a:r>
          </a:p>
          <a:p>
            <a:pPr>
              <a:lnSpc>
                <a:spcPct val="150000"/>
              </a:lnSpc>
            </a:pPr>
            <a:r>
              <a:rPr lang="en-GB" sz="2600" dirty="0">
                <a:latin typeface="Gabriola" pitchFamily="82" charset="0"/>
              </a:rPr>
              <a:t>The body's response includes increased production of </a:t>
            </a:r>
            <a:r>
              <a:rPr lang="en-GB" sz="2600" b="1" dirty="0">
                <a:latin typeface="Gabriola" pitchFamily="82" charset="0"/>
              </a:rPr>
              <a:t>stress hormones</a:t>
            </a:r>
            <a:r>
              <a:rPr lang="en-GB" sz="2600" dirty="0">
                <a:latin typeface="Gabriola" pitchFamily="82" charset="0"/>
              </a:rPr>
              <a:t> (</a:t>
            </a:r>
            <a:r>
              <a:rPr lang="en-GB" sz="2600" dirty="0" err="1">
                <a:latin typeface="Gabriola" pitchFamily="82" charset="0"/>
              </a:rPr>
              <a:t>catecholamines</a:t>
            </a:r>
            <a:r>
              <a:rPr lang="en-GB" sz="2600" dirty="0">
                <a:latin typeface="Gabriola" pitchFamily="82" charset="0"/>
              </a:rPr>
              <a:t>, cortisol, glucagon), and </a:t>
            </a:r>
            <a:r>
              <a:rPr lang="en-GB" sz="2600" b="1" dirty="0">
                <a:latin typeface="Gabriola" pitchFamily="82" charset="0"/>
              </a:rPr>
              <a:t>pro-inflammatory cytokines</a:t>
            </a:r>
            <a:r>
              <a:rPr lang="en-GB" sz="2600" dirty="0">
                <a:latin typeface="Gabriola" pitchFamily="82" charset="0"/>
              </a:rPr>
              <a:t> like interleukin 6 (IL-6) and </a:t>
            </a:r>
            <a:r>
              <a:rPr lang="en-GB" sz="2600" dirty="0" err="1">
                <a:latin typeface="Gabriola" pitchFamily="82" charset="0"/>
              </a:rPr>
              <a:t>tumor</a:t>
            </a:r>
            <a:r>
              <a:rPr lang="en-GB" sz="2600" dirty="0">
                <a:latin typeface="Gabriola" pitchFamily="82" charset="0"/>
              </a:rPr>
              <a:t> necrosis factor (TNF). </a:t>
            </a:r>
            <a:endParaRPr lang="en-GB" sz="2600" dirty="0" smtClean="0">
              <a:latin typeface="Gabriola" pitchFamily="82" charset="0"/>
            </a:endParaRPr>
          </a:p>
          <a:p>
            <a:pPr>
              <a:lnSpc>
                <a:spcPct val="150000"/>
              </a:lnSpc>
            </a:pPr>
            <a:r>
              <a:rPr lang="en-GB" sz="2600" dirty="0" smtClean="0">
                <a:latin typeface="Gabriola" pitchFamily="82" charset="0"/>
              </a:rPr>
              <a:t>This </a:t>
            </a:r>
            <a:r>
              <a:rPr lang="en-GB" sz="2600" dirty="0">
                <a:latin typeface="Gabriola" pitchFamily="82" charset="0"/>
              </a:rPr>
              <a:t>results in </a:t>
            </a:r>
            <a:r>
              <a:rPr lang="en-GB" sz="2600" b="1" dirty="0">
                <a:latin typeface="Gabriola" pitchFamily="82" charset="0"/>
              </a:rPr>
              <a:t>muscle wasting</a:t>
            </a:r>
            <a:r>
              <a:rPr lang="en-GB" sz="2600" dirty="0">
                <a:latin typeface="Gabriola" pitchFamily="82" charset="0"/>
              </a:rPr>
              <a:t>, impaired wound healing, </a:t>
            </a:r>
            <a:r>
              <a:rPr lang="en-GB" sz="2600" b="1" dirty="0">
                <a:latin typeface="Gabriola" pitchFamily="82" charset="0"/>
              </a:rPr>
              <a:t>immune dysfunction</a:t>
            </a:r>
            <a:r>
              <a:rPr lang="en-GB" sz="2600" dirty="0">
                <a:latin typeface="Gabriola" pitchFamily="82" charset="0"/>
              </a:rPr>
              <a:t>, and </a:t>
            </a:r>
            <a:r>
              <a:rPr lang="en-GB" sz="2600" b="1" dirty="0">
                <a:latin typeface="Gabriola" pitchFamily="82" charset="0"/>
              </a:rPr>
              <a:t>delayed rehabilitation</a:t>
            </a:r>
            <a:r>
              <a:rPr lang="en-GB" sz="2600" dirty="0">
                <a:latin typeface="Gabriola" pitchFamily="82" charset="0"/>
              </a:rPr>
              <a:t>.</a:t>
            </a:r>
          </a:p>
          <a:p>
            <a:endParaRPr lang="en-GB" dirty="0"/>
          </a:p>
        </p:txBody>
      </p:sp>
      <p:sp>
        <p:nvSpPr>
          <p:cNvPr id="4" name="Slide Number Placeholder 3"/>
          <p:cNvSpPr>
            <a:spLocks noGrp="1"/>
          </p:cNvSpPr>
          <p:nvPr>
            <p:ph type="sldNum" sz="quarter" idx="15"/>
          </p:nvPr>
        </p:nvSpPr>
        <p:spPr/>
        <p:txBody>
          <a:bodyPr/>
          <a:lstStyle/>
          <a:p>
            <a:fld id="{968CA758-BC7F-4AFE-853F-5D1E39DDFDA0}" type="slidenum">
              <a:rPr lang="en-GB" smtClean="0"/>
              <a:t>54</a:t>
            </a:fld>
            <a:endParaRPr lang="en-GB"/>
          </a:p>
        </p:txBody>
      </p:sp>
    </p:spTree>
    <p:extLst>
      <p:ext uri="{BB962C8B-B14F-4D97-AF65-F5344CB8AC3E}">
        <p14:creationId xmlns:p14="http://schemas.microsoft.com/office/powerpoint/2010/main" val="12348383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4624"/>
            <a:ext cx="8712968" cy="360040"/>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07504" y="404664"/>
            <a:ext cx="8640960" cy="6069288"/>
          </a:xfrm>
        </p:spPr>
        <p:txBody>
          <a:bodyPr>
            <a:normAutofit/>
          </a:bodyPr>
          <a:lstStyle/>
          <a:p>
            <a:pPr marL="0" indent="0">
              <a:lnSpc>
                <a:spcPct val="150000"/>
              </a:lnSpc>
              <a:buNone/>
            </a:pPr>
            <a:r>
              <a:rPr lang="en-GB" sz="2600" b="1" dirty="0">
                <a:latin typeface="Times" pitchFamily="18" charset="0"/>
              </a:rPr>
              <a:t>5. Hormonal and Endocrine Disruptions</a:t>
            </a:r>
          </a:p>
          <a:p>
            <a:pPr>
              <a:lnSpc>
                <a:spcPct val="150000"/>
              </a:lnSpc>
            </a:pPr>
            <a:r>
              <a:rPr lang="en-GB" sz="2600" dirty="0">
                <a:latin typeface="Gabriola" pitchFamily="82" charset="0"/>
              </a:rPr>
              <a:t>Burns cause significant changes in the </a:t>
            </a:r>
            <a:r>
              <a:rPr lang="en-GB" sz="2600" b="1" dirty="0">
                <a:latin typeface="Gabriola" pitchFamily="82" charset="0"/>
              </a:rPr>
              <a:t>endocrine system</a:t>
            </a:r>
            <a:r>
              <a:rPr lang="en-GB" sz="2600" dirty="0">
                <a:latin typeface="Gabriola" pitchFamily="82" charset="0"/>
              </a:rPr>
              <a:t>. </a:t>
            </a:r>
            <a:endParaRPr lang="en-GB" sz="2600" dirty="0" smtClean="0">
              <a:latin typeface="Gabriola" pitchFamily="82" charset="0"/>
            </a:endParaRPr>
          </a:p>
          <a:p>
            <a:pPr>
              <a:lnSpc>
                <a:spcPct val="150000"/>
              </a:lnSpc>
            </a:pPr>
            <a:r>
              <a:rPr lang="en-GB" sz="2600" dirty="0" smtClean="0">
                <a:latin typeface="Gabriola" pitchFamily="82" charset="0"/>
              </a:rPr>
              <a:t>Initially</a:t>
            </a:r>
            <a:r>
              <a:rPr lang="en-GB" sz="2600" dirty="0">
                <a:latin typeface="Gabriola" pitchFamily="82" charset="0"/>
              </a:rPr>
              <a:t>, there's an increase in stress hormones (cortisol, </a:t>
            </a:r>
            <a:r>
              <a:rPr lang="en-GB" sz="2600" dirty="0" err="1">
                <a:latin typeface="Gabriola" pitchFamily="82" charset="0"/>
              </a:rPr>
              <a:t>catecholamines</a:t>
            </a:r>
            <a:r>
              <a:rPr lang="en-GB" sz="2600" dirty="0">
                <a:latin typeface="Gabriola" pitchFamily="82" charset="0"/>
              </a:rPr>
              <a:t>, glucagon), which drive the catabolic response, leading to protein breakdown, </a:t>
            </a:r>
            <a:r>
              <a:rPr lang="en-GB" sz="2600" dirty="0" err="1">
                <a:latin typeface="Gabriola" pitchFamily="82" charset="0"/>
              </a:rPr>
              <a:t>hyperglycemia</a:t>
            </a:r>
            <a:r>
              <a:rPr lang="en-GB" sz="2600" dirty="0">
                <a:latin typeface="Gabriola" pitchFamily="82" charset="0"/>
              </a:rPr>
              <a:t>, and loss of muscle mass.</a:t>
            </a:r>
          </a:p>
          <a:p>
            <a:pPr>
              <a:lnSpc>
                <a:spcPct val="150000"/>
              </a:lnSpc>
            </a:pPr>
            <a:r>
              <a:rPr lang="en-GB" sz="2600" dirty="0">
                <a:latin typeface="Gabriola" pitchFamily="82" charset="0"/>
              </a:rPr>
              <a:t>Alterations in thyroid hormones and the </a:t>
            </a:r>
            <a:r>
              <a:rPr lang="en-GB" sz="2600" b="1" dirty="0">
                <a:latin typeface="Gabriola" pitchFamily="82" charset="0"/>
              </a:rPr>
              <a:t>growth hormone (GH)</a:t>
            </a:r>
            <a:r>
              <a:rPr lang="en-GB" sz="2600" dirty="0">
                <a:latin typeface="Gabriola" pitchFamily="82" charset="0"/>
              </a:rPr>
              <a:t>-</a:t>
            </a:r>
            <a:r>
              <a:rPr lang="en-GB" sz="2600" b="1" dirty="0">
                <a:latin typeface="Gabriola" pitchFamily="82" charset="0"/>
              </a:rPr>
              <a:t>insulin-like growth factor (IGF-1)</a:t>
            </a:r>
            <a:r>
              <a:rPr lang="en-GB" sz="2600" dirty="0">
                <a:latin typeface="Gabriola" pitchFamily="82" charset="0"/>
              </a:rPr>
              <a:t> axis are seen in burn patients</a:t>
            </a:r>
            <a:r>
              <a:rPr lang="en-GB" sz="2600" dirty="0" smtClean="0">
                <a:latin typeface="Gabriola" pitchFamily="82" charset="0"/>
              </a:rPr>
              <a:t>.</a:t>
            </a:r>
          </a:p>
          <a:p>
            <a:pPr>
              <a:lnSpc>
                <a:spcPct val="150000"/>
              </a:lnSpc>
            </a:pPr>
            <a:r>
              <a:rPr lang="en-GB" sz="2600" dirty="0" smtClean="0">
                <a:latin typeface="Gabriola" pitchFamily="82" charset="0"/>
              </a:rPr>
              <a:t> </a:t>
            </a:r>
            <a:r>
              <a:rPr lang="en-GB" sz="2600" dirty="0">
                <a:latin typeface="Gabriola" pitchFamily="82" charset="0"/>
              </a:rPr>
              <a:t>In particular, </a:t>
            </a:r>
            <a:r>
              <a:rPr lang="en-GB" sz="2600" b="1" dirty="0">
                <a:latin typeface="Gabriola" pitchFamily="82" charset="0"/>
              </a:rPr>
              <a:t>IGF-1</a:t>
            </a:r>
            <a:r>
              <a:rPr lang="en-GB" sz="2600" dirty="0">
                <a:latin typeface="Gabriola" pitchFamily="82" charset="0"/>
              </a:rPr>
              <a:t> levels, which play a critical role in tissue growth and repair, are suppressed.</a:t>
            </a:r>
          </a:p>
        </p:txBody>
      </p:sp>
      <p:sp>
        <p:nvSpPr>
          <p:cNvPr id="4" name="Slide Number Placeholder 3"/>
          <p:cNvSpPr>
            <a:spLocks noGrp="1"/>
          </p:cNvSpPr>
          <p:nvPr>
            <p:ph type="sldNum" sz="quarter" idx="15"/>
          </p:nvPr>
        </p:nvSpPr>
        <p:spPr/>
        <p:txBody>
          <a:bodyPr/>
          <a:lstStyle/>
          <a:p>
            <a:fld id="{968CA758-BC7F-4AFE-853F-5D1E39DDFDA0}" type="slidenum">
              <a:rPr lang="en-GB" smtClean="0"/>
              <a:t>55</a:t>
            </a:fld>
            <a:endParaRPr lang="en-GB"/>
          </a:p>
        </p:txBody>
      </p:sp>
    </p:spTree>
    <p:extLst>
      <p:ext uri="{BB962C8B-B14F-4D97-AF65-F5344CB8AC3E}">
        <p14:creationId xmlns:p14="http://schemas.microsoft.com/office/powerpoint/2010/main" val="21895140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712968" cy="404664"/>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476672"/>
            <a:ext cx="8568952" cy="5997280"/>
          </a:xfrm>
        </p:spPr>
        <p:txBody>
          <a:bodyPr>
            <a:normAutofit/>
          </a:bodyPr>
          <a:lstStyle/>
          <a:p>
            <a:pPr marL="0" indent="0">
              <a:lnSpc>
                <a:spcPct val="150000"/>
              </a:lnSpc>
              <a:buNone/>
            </a:pPr>
            <a:r>
              <a:rPr lang="en-GB" sz="2600" b="1" dirty="0">
                <a:latin typeface="Times" pitchFamily="18" charset="0"/>
              </a:rPr>
              <a:t>6. Glucose Metabolism Disruptions</a:t>
            </a:r>
          </a:p>
          <a:p>
            <a:pPr>
              <a:lnSpc>
                <a:spcPct val="150000"/>
              </a:lnSpc>
            </a:pPr>
            <a:r>
              <a:rPr lang="en-GB" sz="2600" dirty="0">
                <a:latin typeface="Gabriola" pitchFamily="82" charset="0"/>
              </a:rPr>
              <a:t>The body’s </a:t>
            </a:r>
            <a:r>
              <a:rPr lang="en-GB" sz="2600" b="1" dirty="0">
                <a:latin typeface="Gabriola" pitchFamily="82" charset="0"/>
              </a:rPr>
              <a:t>glucose metabolism</a:t>
            </a:r>
            <a:r>
              <a:rPr lang="en-GB" sz="2600" dirty="0">
                <a:latin typeface="Gabriola" pitchFamily="82" charset="0"/>
              </a:rPr>
              <a:t> is severely altered, with </a:t>
            </a:r>
            <a:r>
              <a:rPr lang="en-GB" sz="2600" b="1" dirty="0" err="1">
                <a:latin typeface="Gabriola" pitchFamily="82" charset="0"/>
              </a:rPr>
              <a:t>hyperglycemia</a:t>
            </a:r>
            <a:r>
              <a:rPr lang="en-GB" sz="2600" dirty="0">
                <a:latin typeface="Gabriola" pitchFamily="82" charset="0"/>
              </a:rPr>
              <a:t> being common, as the body switches to </a:t>
            </a:r>
            <a:r>
              <a:rPr lang="en-GB" sz="2600" b="1" dirty="0">
                <a:latin typeface="Gabriola" pitchFamily="82" charset="0"/>
              </a:rPr>
              <a:t>gluconeogenesis</a:t>
            </a:r>
            <a:r>
              <a:rPr lang="en-GB" sz="2600" dirty="0">
                <a:latin typeface="Gabriola" pitchFamily="82" charset="0"/>
              </a:rPr>
              <a:t> (producing glucose from non-carbohydrate sources like amino acids).</a:t>
            </a:r>
          </a:p>
          <a:p>
            <a:pPr>
              <a:lnSpc>
                <a:spcPct val="150000"/>
              </a:lnSpc>
            </a:pPr>
            <a:r>
              <a:rPr lang="en-GB" sz="2600" dirty="0">
                <a:latin typeface="Gabriola" pitchFamily="82" charset="0"/>
              </a:rPr>
              <a:t>Increased glucose production, coupled with reduced insulin sensitivity, leads to </a:t>
            </a:r>
            <a:r>
              <a:rPr lang="en-GB" sz="2600" b="1" dirty="0">
                <a:latin typeface="Gabriola" pitchFamily="82" charset="0"/>
              </a:rPr>
              <a:t>insulin resistance</a:t>
            </a:r>
            <a:r>
              <a:rPr lang="en-GB" sz="2600" dirty="0">
                <a:latin typeface="Gabriola" pitchFamily="82" charset="0"/>
              </a:rPr>
              <a:t>. </a:t>
            </a:r>
            <a:endParaRPr lang="en-GB" sz="2600" dirty="0" smtClean="0">
              <a:latin typeface="Gabriola" pitchFamily="82" charset="0"/>
            </a:endParaRPr>
          </a:p>
          <a:p>
            <a:pPr>
              <a:lnSpc>
                <a:spcPct val="150000"/>
              </a:lnSpc>
            </a:pPr>
            <a:r>
              <a:rPr lang="en-GB" sz="2600" dirty="0" smtClean="0">
                <a:latin typeface="Gabriola" pitchFamily="82" charset="0"/>
              </a:rPr>
              <a:t>The </a:t>
            </a:r>
            <a:r>
              <a:rPr lang="en-GB" sz="2600" dirty="0">
                <a:latin typeface="Gabriola" pitchFamily="82" charset="0"/>
              </a:rPr>
              <a:t>body may produce excess glucose but is unable to effectively utilize it, leading to persistent high blood glucose levels.</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56</a:t>
            </a:fld>
            <a:endParaRPr lang="en-GB"/>
          </a:p>
        </p:txBody>
      </p:sp>
    </p:spTree>
    <p:extLst>
      <p:ext uri="{BB962C8B-B14F-4D97-AF65-F5344CB8AC3E}">
        <p14:creationId xmlns:p14="http://schemas.microsoft.com/office/powerpoint/2010/main" val="2815048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2" y="44624"/>
            <a:ext cx="8762896" cy="360040"/>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548680"/>
            <a:ext cx="8640960" cy="5925272"/>
          </a:xfrm>
        </p:spPr>
        <p:txBody>
          <a:bodyPr/>
          <a:lstStyle/>
          <a:p>
            <a:pPr marL="0" indent="0">
              <a:lnSpc>
                <a:spcPct val="150000"/>
              </a:lnSpc>
              <a:buNone/>
            </a:pPr>
            <a:r>
              <a:rPr lang="en-GB" sz="2600" b="1" dirty="0">
                <a:latin typeface="Times" pitchFamily="18" charset="0"/>
              </a:rPr>
              <a:t>7. Cardiac and Renal Dysfunction</a:t>
            </a:r>
          </a:p>
          <a:p>
            <a:pPr>
              <a:lnSpc>
                <a:spcPct val="150000"/>
              </a:lnSpc>
            </a:pPr>
            <a:r>
              <a:rPr lang="en-GB" sz="2600" dirty="0">
                <a:latin typeface="Gabriola" pitchFamily="82" charset="0"/>
              </a:rPr>
              <a:t>Cardiac function is impaired due to the effects of burn shock. </a:t>
            </a:r>
            <a:endParaRPr lang="en-GB" sz="2600" dirty="0" smtClean="0">
              <a:latin typeface="Gabriola" pitchFamily="82" charset="0"/>
            </a:endParaRPr>
          </a:p>
          <a:p>
            <a:pPr>
              <a:lnSpc>
                <a:spcPct val="150000"/>
              </a:lnSpc>
            </a:pPr>
            <a:r>
              <a:rPr lang="en-GB" sz="2600" dirty="0" smtClean="0">
                <a:latin typeface="Gabriola" pitchFamily="82" charset="0"/>
              </a:rPr>
              <a:t>Initially</a:t>
            </a:r>
            <a:r>
              <a:rPr lang="en-GB" sz="2600" dirty="0">
                <a:latin typeface="Gabriola" pitchFamily="82" charset="0"/>
              </a:rPr>
              <a:t>, cardiac output decreases, but after a few days, the heart works harder to compensate for the shock, increasing the </a:t>
            </a:r>
            <a:r>
              <a:rPr lang="en-GB" sz="2600" b="1" dirty="0">
                <a:latin typeface="Gabriola" pitchFamily="82" charset="0"/>
              </a:rPr>
              <a:t>cardiac workload</a:t>
            </a:r>
            <a:r>
              <a:rPr lang="en-GB" sz="2600" dirty="0">
                <a:latin typeface="Gabriola" pitchFamily="82" charset="0"/>
              </a:rPr>
              <a:t> and </a:t>
            </a:r>
            <a:r>
              <a:rPr lang="en-GB" sz="2600" b="1" dirty="0">
                <a:latin typeface="Gabriola" pitchFamily="82" charset="0"/>
              </a:rPr>
              <a:t>oxygen consumption</a:t>
            </a:r>
            <a:r>
              <a:rPr lang="en-GB" sz="2600" dirty="0">
                <a:latin typeface="Gabriola" pitchFamily="82" charset="0"/>
              </a:rPr>
              <a:t>.</a:t>
            </a:r>
          </a:p>
          <a:p>
            <a:pPr>
              <a:lnSpc>
                <a:spcPct val="150000"/>
              </a:lnSpc>
            </a:pPr>
            <a:r>
              <a:rPr lang="en-GB" sz="2600" b="1" dirty="0">
                <a:latin typeface="Gabriola" pitchFamily="82" charset="0"/>
              </a:rPr>
              <a:t>Renal dysfunction</a:t>
            </a:r>
            <a:r>
              <a:rPr lang="en-GB" sz="2600" dirty="0">
                <a:latin typeface="Gabriola" pitchFamily="82" charset="0"/>
              </a:rPr>
              <a:t> follows from impaired circulation, with a reduced </a:t>
            </a:r>
            <a:r>
              <a:rPr lang="en-GB" sz="2600" b="1" dirty="0">
                <a:latin typeface="Gabriola" pitchFamily="82" charset="0"/>
              </a:rPr>
              <a:t>glomerular filtration rate (GFR)</a:t>
            </a:r>
            <a:r>
              <a:rPr lang="en-GB" sz="2600" dirty="0">
                <a:latin typeface="Gabriola" pitchFamily="82" charset="0"/>
              </a:rPr>
              <a:t> and </a:t>
            </a:r>
            <a:r>
              <a:rPr lang="en-GB" sz="2600" b="1" dirty="0" err="1">
                <a:latin typeface="Gabriola" pitchFamily="82" charset="0"/>
              </a:rPr>
              <a:t>hypovolemia</a:t>
            </a:r>
            <a:r>
              <a:rPr lang="en-GB" sz="2600" dirty="0">
                <a:latin typeface="Gabriola" pitchFamily="82" charset="0"/>
              </a:rPr>
              <a:t>, leading to conditions like </a:t>
            </a:r>
            <a:r>
              <a:rPr lang="en-GB" sz="2600" b="1" dirty="0">
                <a:latin typeface="Gabriola" pitchFamily="82" charset="0"/>
              </a:rPr>
              <a:t>oliguria</a:t>
            </a:r>
            <a:r>
              <a:rPr lang="en-GB" sz="2600" dirty="0">
                <a:latin typeface="Gabriola" pitchFamily="82" charset="0"/>
              </a:rPr>
              <a:t> and potentially </a:t>
            </a:r>
            <a:r>
              <a:rPr lang="en-GB" sz="2600" b="1" dirty="0">
                <a:latin typeface="Gabriola" pitchFamily="82" charset="0"/>
              </a:rPr>
              <a:t>acute renal failure</a:t>
            </a:r>
            <a:r>
              <a:rPr lang="en-GB" sz="2600" dirty="0">
                <a:latin typeface="Gabriola" pitchFamily="82" charset="0"/>
              </a:rPr>
              <a:t>.</a:t>
            </a:r>
          </a:p>
          <a:p>
            <a:endParaRPr lang="en-GB" dirty="0"/>
          </a:p>
        </p:txBody>
      </p:sp>
      <p:sp>
        <p:nvSpPr>
          <p:cNvPr id="4" name="Slide Number Placeholder 3"/>
          <p:cNvSpPr>
            <a:spLocks noGrp="1"/>
          </p:cNvSpPr>
          <p:nvPr>
            <p:ph type="sldNum" sz="quarter" idx="15"/>
          </p:nvPr>
        </p:nvSpPr>
        <p:spPr/>
        <p:txBody>
          <a:bodyPr/>
          <a:lstStyle/>
          <a:p>
            <a:fld id="{968CA758-BC7F-4AFE-853F-5D1E39DDFDA0}" type="slidenum">
              <a:rPr lang="en-GB" smtClean="0"/>
              <a:t>57</a:t>
            </a:fld>
            <a:endParaRPr lang="en-GB"/>
          </a:p>
        </p:txBody>
      </p:sp>
    </p:spTree>
    <p:extLst>
      <p:ext uri="{BB962C8B-B14F-4D97-AF65-F5344CB8AC3E}">
        <p14:creationId xmlns:p14="http://schemas.microsoft.com/office/powerpoint/2010/main" val="40635640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188640"/>
            <a:ext cx="9108504" cy="43204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07504" y="548680"/>
            <a:ext cx="8712968" cy="5925272"/>
          </a:xfrm>
        </p:spPr>
        <p:txBody>
          <a:bodyPr>
            <a:normAutofit/>
          </a:bodyPr>
          <a:lstStyle/>
          <a:p>
            <a:pPr marL="0" indent="0">
              <a:lnSpc>
                <a:spcPct val="150000"/>
              </a:lnSpc>
              <a:buNone/>
            </a:pPr>
            <a:r>
              <a:rPr lang="en-GB" sz="2600" b="1" dirty="0">
                <a:latin typeface="Times" pitchFamily="18" charset="0"/>
              </a:rPr>
              <a:t>8. Immunological and Infectious Complications</a:t>
            </a:r>
          </a:p>
          <a:p>
            <a:pPr>
              <a:lnSpc>
                <a:spcPct val="150000"/>
              </a:lnSpc>
            </a:pPr>
            <a:r>
              <a:rPr lang="en-GB" sz="2600" b="1" dirty="0">
                <a:latin typeface="Gabriola" pitchFamily="82" charset="0"/>
              </a:rPr>
              <a:t>Immune system dysfunction</a:t>
            </a:r>
            <a:r>
              <a:rPr lang="en-GB" sz="2600" dirty="0">
                <a:latin typeface="Gabriola" pitchFamily="82" charset="0"/>
              </a:rPr>
              <a:t> occurs, with burn patients having suppressed cellular immune responses and increased susceptibility to infections, including bacterial, viral, and fungal.</a:t>
            </a:r>
          </a:p>
          <a:p>
            <a:pPr>
              <a:lnSpc>
                <a:spcPct val="150000"/>
              </a:lnSpc>
            </a:pPr>
            <a:r>
              <a:rPr lang="en-GB" sz="2600" dirty="0">
                <a:latin typeface="Gabriola" pitchFamily="82" charset="0"/>
              </a:rPr>
              <a:t>The loss of the skin barrier (due to burns) and alterations in </a:t>
            </a:r>
            <a:r>
              <a:rPr lang="en-GB" sz="2600" b="1" dirty="0">
                <a:latin typeface="Gabriola" pitchFamily="82" charset="0"/>
              </a:rPr>
              <a:t>granulocyte colony-stimulating factor (G-CSF)</a:t>
            </a:r>
            <a:r>
              <a:rPr lang="en-GB" sz="2600" dirty="0">
                <a:latin typeface="Gabriola" pitchFamily="82" charset="0"/>
              </a:rPr>
              <a:t> receptors further impair the immune system. </a:t>
            </a:r>
            <a:endParaRPr lang="en-GB" sz="2600" dirty="0" smtClean="0">
              <a:latin typeface="Gabriola" pitchFamily="82" charset="0"/>
            </a:endParaRPr>
          </a:p>
          <a:p>
            <a:pPr>
              <a:lnSpc>
                <a:spcPct val="150000"/>
              </a:lnSpc>
            </a:pPr>
            <a:r>
              <a:rPr lang="en-GB" sz="2600" dirty="0" smtClean="0">
                <a:latin typeface="Gabriola" pitchFamily="82" charset="0"/>
              </a:rPr>
              <a:t>This </a:t>
            </a:r>
            <a:r>
              <a:rPr lang="en-GB" sz="2600" dirty="0">
                <a:latin typeface="Gabriola" pitchFamily="82" charset="0"/>
              </a:rPr>
              <a:t>leaves patients highly vulnerable to infections, which are a leading cause of morbidity and mortality in severe burn injuries.</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58</a:t>
            </a:fld>
            <a:endParaRPr lang="en-GB"/>
          </a:p>
        </p:txBody>
      </p:sp>
    </p:spTree>
    <p:extLst>
      <p:ext uri="{BB962C8B-B14F-4D97-AF65-F5344CB8AC3E}">
        <p14:creationId xmlns:p14="http://schemas.microsoft.com/office/powerpoint/2010/main" val="4152754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568952" cy="43204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620688"/>
            <a:ext cx="8712968" cy="5925272"/>
          </a:xfrm>
        </p:spPr>
        <p:txBody>
          <a:bodyPr>
            <a:normAutofit/>
          </a:bodyPr>
          <a:lstStyle/>
          <a:p>
            <a:pPr marL="0" indent="0">
              <a:lnSpc>
                <a:spcPct val="150000"/>
              </a:lnSpc>
              <a:buNone/>
            </a:pPr>
            <a:r>
              <a:rPr lang="en-GB" sz="2600" b="1" dirty="0">
                <a:latin typeface="Times" pitchFamily="18" charset="0"/>
              </a:rPr>
              <a:t>9. Digestive and Hepatic Dysfunction</a:t>
            </a:r>
          </a:p>
          <a:p>
            <a:pPr>
              <a:lnSpc>
                <a:spcPct val="150000"/>
              </a:lnSpc>
            </a:pPr>
            <a:r>
              <a:rPr lang="en-GB" sz="2600" dirty="0">
                <a:latin typeface="Gabriola" pitchFamily="82" charset="0"/>
              </a:rPr>
              <a:t>The </a:t>
            </a:r>
            <a:r>
              <a:rPr lang="en-GB" sz="2600" b="1" dirty="0">
                <a:latin typeface="Gabriola" pitchFamily="82" charset="0"/>
              </a:rPr>
              <a:t>digestive system</a:t>
            </a:r>
            <a:r>
              <a:rPr lang="en-GB" sz="2600" dirty="0">
                <a:latin typeface="Gabriola" pitchFamily="82" charset="0"/>
              </a:rPr>
              <a:t> is compromised after burns, with </a:t>
            </a:r>
            <a:r>
              <a:rPr lang="en-GB" sz="2600" b="1" dirty="0">
                <a:latin typeface="Gabriola" pitchFamily="82" charset="0"/>
              </a:rPr>
              <a:t>intestinal atrophy</a:t>
            </a:r>
            <a:r>
              <a:rPr lang="en-GB" sz="2600" dirty="0">
                <a:latin typeface="Gabriola" pitchFamily="82" charset="0"/>
              </a:rPr>
              <a:t> and </a:t>
            </a:r>
            <a:r>
              <a:rPr lang="en-GB" sz="2600" b="1" dirty="0">
                <a:latin typeface="Gabriola" pitchFamily="82" charset="0"/>
              </a:rPr>
              <a:t>impaired nutrient absorption</a:t>
            </a:r>
            <a:r>
              <a:rPr lang="en-GB" sz="2600" dirty="0">
                <a:latin typeface="Gabriola" pitchFamily="82" charset="0"/>
              </a:rPr>
              <a:t>. </a:t>
            </a:r>
            <a:endParaRPr lang="en-GB" sz="2600" dirty="0" smtClean="0">
              <a:latin typeface="Gabriola" pitchFamily="82" charset="0"/>
            </a:endParaRPr>
          </a:p>
          <a:p>
            <a:pPr>
              <a:lnSpc>
                <a:spcPct val="150000"/>
              </a:lnSpc>
            </a:pPr>
            <a:r>
              <a:rPr lang="en-GB" sz="2600" dirty="0" smtClean="0">
                <a:latin typeface="Gabriola" pitchFamily="82" charset="0"/>
              </a:rPr>
              <a:t>The </a:t>
            </a:r>
            <a:r>
              <a:rPr lang="en-GB" sz="2600" dirty="0">
                <a:latin typeface="Gabriola" pitchFamily="82" charset="0"/>
              </a:rPr>
              <a:t>breakdown of gut cells reduces the body’s ability to absorb glucose, amino acids, and fatty acids.</a:t>
            </a:r>
          </a:p>
          <a:p>
            <a:pPr>
              <a:lnSpc>
                <a:spcPct val="150000"/>
              </a:lnSpc>
            </a:pPr>
            <a:r>
              <a:rPr lang="en-GB" sz="2600" b="1" dirty="0">
                <a:latin typeface="Gabriola" pitchFamily="82" charset="0"/>
              </a:rPr>
              <a:t>Liver function</a:t>
            </a:r>
            <a:r>
              <a:rPr lang="en-GB" sz="2600" dirty="0">
                <a:latin typeface="Gabriola" pitchFamily="82" charset="0"/>
              </a:rPr>
              <a:t> is also affected, with changes in the synthesis of acute-phase proteins and a redirection of energy substrates, contributing to </a:t>
            </a:r>
            <a:r>
              <a:rPr lang="en-GB" sz="2600" b="1" dirty="0">
                <a:latin typeface="Gabriola" pitchFamily="82" charset="0"/>
              </a:rPr>
              <a:t>fatty infiltration</a:t>
            </a:r>
            <a:r>
              <a:rPr lang="en-GB" sz="2600" dirty="0">
                <a:latin typeface="Gabriola" pitchFamily="82" charset="0"/>
              </a:rPr>
              <a:t> of the liver and increased </a:t>
            </a:r>
            <a:r>
              <a:rPr lang="en-GB" sz="2600" b="1" dirty="0">
                <a:latin typeface="Gabriola" pitchFamily="82" charset="0"/>
              </a:rPr>
              <a:t>sepsis risk</a:t>
            </a:r>
            <a:r>
              <a:rPr lang="en-GB" sz="2600" dirty="0">
                <a:latin typeface="Gabriola" pitchFamily="82" charset="0"/>
              </a:rPr>
              <a:t>.</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59</a:t>
            </a:fld>
            <a:endParaRPr lang="en-GB"/>
          </a:p>
        </p:txBody>
      </p:sp>
    </p:spTree>
    <p:extLst>
      <p:ext uri="{BB962C8B-B14F-4D97-AF65-F5344CB8AC3E}">
        <p14:creationId xmlns:p14="http://schemas.microsoft.com/office/powerpoint/2010/main" val="3232662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24936" cy="504056"/>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980728"/>
            <a:ext cx="8424936" cy="5493224"/>
          </a:xfrm>
        </p:spPr>
        <p:txBody>
          <a:bodyPr>
            <a:normAutofit/>
          </a:bodyPr>
          <a:lstStyle/>
          <a:p>
            <a:pPr marL="0" indent="0">
              <a:lnSpc>
                <a:spcPct val="150000"/>
              </a:lnSpc>
              <a:buNone/>
            </a:pPr>
            <a:r>
              <a:rPr lang="en-GB" sz="2600" b="1" dirty="0">
                <a:latin typeface="Times" pitchFamily="18" charset="0"/>
              </a:rPr>
              <a:t>10. Reproductive System Impact</a:t>
            </a:r>
          </a:p>
          <a:p>
            <a:pPr>
              <a:lnSpc>
                <a:spcPct val="150000"/>
              </a:lnSpc>
            </a:pPr>
            <a:r>
              <a:rPr lang="en-GB" sz="2600" dirty="0">
                <a:latin typeface="Gabriola" pitchFamily="82" charset="0"/>
              </a:rPr>
              <a:t>Severe burns can affect </a:t>
            </a:r>
            <a:r>
              <a:rPr lang="en-GB" sz="2600" b="1" dirty="0">
                <a:latin typeface="Gabriola" pitchFamily="82" charset="0"/>
              </a:rPr>
              <a:t>male reproductive health</a:t>
            </a:r>
            <a:r>
              <a:rPr lang="en-GB" sz="2600" dirty="0">
                <a:latin typeface="Gabriola" pitchFamily="82" charset="0"/>
              </a:rPr>
              <a:t>, causing </a:t>
            </a:r>
            <a:r>
              <a:rPr lang="en-GB" sz="2600" b="1" dirty="0">
                <a:latin typeface="Gabriola" pitchFamily="82" charset="0"/>
              </a:rPr>
              <a:t>germ cell atrophy</a:t>
            </a:r>
            <a:r>
              <a:rPr lang="en-GB" sz="2600" dirty="0">
                <a:latin typeface="Gabriola" pitchFamily="82" charset="0"/>
              </a:rPr>
              <a:t> and altered spermatogenesis, partly due to increased testicular temperature and systemic trauma.</a:t>
            </a:r>
          </a:p>
          <a:p>
            <a:pPr>
              <a:lnSpc>
                <a:spcPct val="150000"/>
              </a:lnSpc>
            </a:pPr>
            <a:r>
              <a:rPr lang="en-GB" sz="2600" dirty="0">
                <a:latin typeface="Gabriola" pitchFamily="82" charset="0"/>
              </a:rPr>
              <a:t>Reduced blood testosterone levels can contribute to reproductive dysfunction, though some of these effects may be reversible with antioxidant treatment.</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60</a:t>
            </a:fld>
            <a:endParaRPr lang="en-GB"/>
          </a:p>
        </p:txBody>
      </p:sp>
    </p:spTree>
    <p:extLst>
      <p:ext uri="{BB962C8B-B14F-4D97-AF65-F5344CB8AC3E}">
        <p14:creationId xmlns:p14="http://schemas.microsoft.com/office/powerpoint/2010/main" val="31201105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712968" cy="490066"/>
          </a:xfrm>
        </p:spPr>
        <p:txBody>
          <a:bodyPr>
            <a:noAutofit/>
          </a:bodyPr>
          <a:lstStyle/>
          <a:p>
            <a:pPr algn="ctr"/>
            <a:r>
              <a:rPr lang="en-GB" sz="2800" b="1" dirty="0" smtClean="0">
                <a:solidFill>
                  <a:schemeClr val="tx1"/>
                </a:solidFill>
                <a:latin typeface="Times" pitchFamily="18" charset="0"/>
              </a:rPr>
              <a:t>1. Burn shock stage  </a:t>
            </a:r>
            <a:endParaRPr lang="en-GB" sz="2800" b="1" dirty="0">
              <a:solidFill>
                <a:schemeClr val="tx1"/>
              </a:solidFill>
              <a:latin typeface="Times" pitchFamily="18" charset="0"/>
            </a:endParaRPr>
          </a:p>
        </p:txBody>
      </p:sp>
      <p:sp>
        <p:nvSpPr>
          <p:cNvPr id="3" name="Content Placeholder 2"/>
          <p:cNvSpPr>
            <a:spLocks noGrp="1"/>
          </p:cNvSpPr>
          <p:nvPr>
            <p:ph sz="quarter" idx="1"/>
          </p:nvPr>
        </p:nvSpPr>
        <p:spPr>
          <a:xfrm>
            <a:off x="179512" y="908720"/>
            <a:ext cx="8568952" cy="5565232"/>
          </a:xfrm>
        </p:spPr>
        <p:txBody>
          <a:bodyPr>
            <a:normAutofit/>
          </a:bodyPr>
          <a:lstStyle/>
          <a:p>
            <a:pPr>
              <a:lnSpc>
                <a:spcPct val="150000"/>
              </a:lnSpc>
            </a:pPr>
            <a:r>
              <a:rPr lang="en-GB" sz="2800" b="1" dirty="0" smtClean="0">
                <a:latin typeface="Gabriola" pitchFamily="82" charset="0"/>
              </a:rPr>
              <a:t>Definition</a:t>
            </a:r>
            <a:r>
              <a:rPr lang="en-GB" sz="2800" dirty="0">
                <a:latin typeface="Gabriola" pitchFamily="82" charset="0"/>
              </a:rPr>
              <a:t>:</a:t>
            </a:r>
            <a:br>
              <a:rPr lang="en-GB" sz="2800" dirty="0">
                <a:latin typeface="Gabriola" pitchFamily="82" charset="0"/>
              </a:rPr>
            </a:br>
            <a:r>
              <a:rPr lang="en-GB" sz="2800" dirty="0">
                <a:latin typeface="Gabriola" pitchFamily="82" charset="0"/>
              </a:rPr>
              <a:t>Burn shock is the initial phase that occurs immediately after a burn injury, typically in the first 24-48 hours. </a:t>
            </a:r>
            <a:endParaRPr lang="en-GB" sz="2800" dirty="0" smtClean="0">
              <a:latin typeface="Gabriola" pitchFamily="82" charset="0"/>
            </a:endParaRPr>
          </a:p>
          <a:p>
            <a:pPr lvl="1">
              <a:lnSpc>
                <a:spcPct val="150000"/>
              </a:lnSpc>
            </a:pPr>
            <a:r>
              <a:rPr lang="en-GB" sz="2800" dirty="0" smtClean="0">
                <a:latin typeface="Gabriola" pitchFamily="82" charset="0"/>
              </a:rPr>
              <a:t>It </a:t>
            </a:r>
            <a:r>
              <a:rPr lang="en-GB" sz="2800" dirty="0">
                <a:latin typeface="Gabriola" pitchFamily="82" charset="0"/>
              </a:rPr>
              <a:t>is characterized by a systemic inflammatory response and a significant disturbance in fluid and electrolyte balance.</a:t>
            </a:r>
          </a:p>
          <a:p>
            <a:pPr>
              <a:lnSpc>
                <a:spcPct val="150000"/>
              </a:lnSpc>
            </a:pPr>
            <a:r>
              <a:rPr lang="en-GB" sz="2800" dirty="0">
                <a:latin typeface="Gabriola" pitchFamily="82" charset="0"/>
              </a:rPr>
              <a:t> This phase is acutely life-threatening and can be fatal if not managed immediately and appropriately</a:t>
            </a:r>
            <a:r>
              <a:rPr lang="en-GB" sz="2800" dirty="0" smtClean="0">
                <a:latin typeface="Gabriola" pitchFamily="82" charset="0"/>
              </a:rPr>
              <a:t>.</a:t>
            </a:r>
          </a:p>
          <a:p>
            <a:pPr>
              <a:lnSpc>
                <a:spcPct val="150000"/>
              </a:lnSpc>
            </a:pPr>
            <a:r>
              <a:rPr lang="en-GB" sz="2800" dirty="0">
                <a:latin typeface="Gabriola" pitchFamily="82" charset="0"/>
              </a:rPr>
              <a:t>Leads to organ failure, kidney failure, and cardiac arrest.</a:t>
            </a:r>
          </a:p>
        </p:txBody>
      </p:sp>
      <p:sp>
        <p:nvSpPr>
          <p:cNvPr id="4" name="Slide Number Placeholder 3"/>
          <p:cNvSpPr>
            <a:spLocks noGrp="1"/>
          </p:cNvSpPr>
          <p:nvPr>
            <p:ph type="sldNum" sz="quarter" idx="15"/>
          </p:nvPr>
        </p:nvSpPr>
        <p:spPr/>
        <p:txBody>
          <a:bodyPr/>
          <a:lstStyle/>
          <a:p>
            <a:fld id="{968CA758-BC7F-4AFE-853F-5D1E39DDFDA0}" type="slidenum">
              <a:rPr lang="en-GB" smtClean="0"/>
              <a:t>61</a:t>
            </a:fld>
            <a:endParaRPr lang="en-GB"/>
          </a:p>
        </p:txBody>
      </p:sp>
    </p:spTree>
    <p:extLst>
      <p:ext uri="{BB962C8B-B14F-4D97-AF65-F5344CB8AC3E}">
        <p14:creationId xmlns:p14="http://schemas.microsoft.com/office/powerpoint/2010/main" val="3075676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8496944" cy="43204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620688"/>
            <a:ext cx="8640960" cy="5853264"/>
          </a:xfrm>
        </p:spPr>
        <p:txBody>
          <a:bodyPr>
            <a:normAutofit lnSpcReduction="10000"/>
          </a:bodyPr>
          <a:lstStyle/>
          <a:p>
            <a:r>
              <a:rPr lang="en-GB" sz="2800" b="1" dirty="0" smtClean="0">
                <a:latin typeface="Gabriola" pitchFamily="82" charset="0"/>
              </a:rPr>
              <a:t>CHARACTERISTICS:</a:t>
            </a:r>
          </a:p>
          <a:p>
            <a:pPr lvl="1">
              <a:lnSpc>
                <a:spcPct val="150000"/>
              </a:lnSpc>
            </a:pPr>
            <a:r>
              <a:rPr lang="en-GB" sz="2800" dirty="0" smtClean="0">
                <a:latin typeface="Gabriola" pitchFamily="82" charset="0"/>
              </a:rPr>
              <a:t>Massive </a:t>
            </a:r>
            <a:r>
              <a:rPr lang="en-GB" sz="2800" dirty="0">
                <a:latin typeface="Gabriola" pitchFamily="82" charset="0"/>
              </a:rPr>
              <a:t>Fluid </a:t>
            </a:r>
            <a:r>
              <a:rPr lang="en-GB" sz="2800" dirty="0" smtClean="0">
                <a:latin typeface="Gabriola" pitchFamily="82" charset="0"/>
              </a:rPr>
              <a:t>Loss from </a:t>
            </a:r>
            <a:r>
              <a:rPr lang="en-GB" sz="2800" dirty="0">
                <a:latin typeface="Gabriola" pitchFamily="82" charset="0"/>
              </a:rPr>
              <a:t>the burn wounds and systemic capillary leak: </a:t>
            </a:r>
            <a:endParaRPr lang="en-GB" sz="2800" dirty="0" smtClean="0">
              <a:latin typeface="Gabriola" pitchFamily="82" charset="0"/>
            </a:endParaRPr>
          </a:p>
          <a:p>
            <a:pPr lvl="2">
              <a:lnSpc>
                <a:spcPct val="150000"/>
              </a:lnSpc>
            </a:pPr>
            <a:r>
              <a:rPr lang="en-GB" sz="2800" dirty="0" smtClean="0">
                <a:latin typeface="Gabriola" pitchFamily="82" charset="0"/>
              </a:rPr>
              <a:t>Hypotension </a:t>
            </a:r>
            <a:r>
              <a:rPr lang="en-GB" sz="2800" dirty="0">
                <a:latin typeface="Gabriola" pitchFamily="82" charset="0"/>
              </a:rPr>
              <a:t>and tachycardia (elevated heart rate</a:t>
            </a:r>
            <a:r>
              <a:rPr lang="en-GB" sz="2800" dirty="0" smtClean="0">
                <a:latin typeface="Gabriola" pitchFamily="82" charset="0"/>
              </a:rPr>
              <a:t>).</a:t>
            </a:r>
          </a:p>
          <a:p>
            <a:pPr lvl="1">
              <a:lnSpc>
                <a:spcPct val="150000"/>
              </a:lnSpc>
            </a:pPr>
            <a:r>
              <a:rPr lang="en-GB" sz="2800" dirty="0" smtClean="0">
                <a:latin typeface="Gabriola" pitchFamily="82" charset="0"/>
              </a:rPr>
              <a:t>Decreased </a:t>
            </a:r>
            <a:r>
              <a:rPr lang="en-GB" sz="2800" dirty="0">
                <a:latin typeface="Gabriola" pitchFamily="82" charset="0"/>
              </a:rPr>
              <a:t>tissue perfusion and possible organ </a:t>
            </a:r>
            <a:r>
              <a:rPr lang="en-GB" sz="2800" dirty="0" smtClean="0">
                <a:latin typeface="Gabriola" pitchFamily="82" charset="0"/>
              </a:rPr>
              <a:t>failure.</a:t>
            </a:r>
          </a:p>
          <a:p>
            <a:pPr lvl="1">
              <a:lnSpc>
                <a:spcPct val="150000"/>
              </a:lnSpc>
            </a:pPr>
            <a:r>
              <a:rPr lang="en-GB" sz="2800" dirty="0" smtClean="0">
                <a:latin typeface="Gabriola" pitchFamily="82" charset="0"/>
              </a:rPr>
              <a:t>Capillary </a:t>
            </a:r>
            <a:r>
              <a:rPr lang="en-GB" sz="2800" dirty="0">
                <a:latin typeface="Gabriola" pitchFamily="82" charset="0"/>
              </a:rPr>
              <a:t>leak syndrome (fluid moves from blood vessels to tissues). contributing to </a:t>
            </a:r>
            <a:r>
              <a:rPr lang="en-GB" sz="2800" dirty="0" err="1">
                <a:latin typeface="Gabriola" pitchFamily="82" charset="0"/>
              </a:rPr>
              <a:t>edema</a:t>
            </a:r>
            <a:r>
              <a:rPr lang="en-GB" sz="2800" dirty="0">
                <a:latin typeface="Gabriola" pitchFamily="82" charset="0"/>
              </a:rPr>
              <a:t> and </a:t>
            </a:r>
            <a:r>
              <a:rPr lang="en-GB" sz="2800" dirty="0" err="1">
                <a:latin typeface="Gabriola" pitchFamily="82" charset="0"/>
              </a:rPr>
              <a:t>hypovolemia</a:t>
            </a:r>
            <a:r>
              <a:rPr lang="en-GB" sz="2800" dirty="0" smtClean="0">
                <a:latin typeface="Gabriola" pitchFamily="82" charset="0"/>
              </a:rPr>
              <a:t>.</a:t>
            </a:r>
          </a:p>
          <a:p>
            <a:pPr lvl="1">
              <a:lnSpc>
                <a:spcPct val="150000"/>
              </a:lnSpc>
            </a:pPr>
            <a:r>
              <a:rPr lang="en-GB" sz="2800" dirty="0">
                <a:latin typeface="Gabriola" pitchFamily="82" charset="0"/>
              </a:rPr>
              <a:t>Electrolyte Imbalances: Sodium, potassium, and other electrolytes are displaced from the cells into the extracellular space, causing electrolyte disturbances.</a:t>
            </a:r>
          </a:p>
        </p:txBody>
      </p:sp>
      <p:sp>
        <p:nvSpPr>
          <p:cNvPr id="4" name="Slide Number Placeholder 3"/>
          <p:cNvSpPr>
            <a:spLocks noGrp="1"/>
          </p:cNvSpPr>
          <p:nvPr>
            <p:ph type="sldNum" sz="quarter" idx="15"/>
          </p:nvPr>
        </p:nvSpPr>
        <p:spPr/>
        <p:txBody>
          <a:bodyPr/>
          <a:lstStyle/>
          <a:p>
            <a:fld id="{968CA758-BC7F-4AFE-853F-5D1E39DDFDA0}" type="slidenum">
              <a:rPr lang="en-GB" smtClean="0"/>
              <a:t>62</a:t>
            </a:fld>
            <a:endParaRPr lang="en-GB"/>
          </a:p>
        </p:txBody>
      </p:sp>
    </p:spTree>
    <p:extLst>
      <p:ext uri="{BB962C8B-B14F-4D97-AF65-F5344CB8AC3E}">
        <p14:creationId xmlns:p14="http://schemas.microsoft.com/office/powerpoint/2010/main" val="16530682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706090"/>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908720"/>
            <a:ext cx="8424936" cy="5565232"/>
          </a:xfrm>
        </p:spPr>
        <p:txBody>
          <a:bodyPr>
            <a:normAutofit/>
          </a:bodyPr>
          <a:lstStyle/>
          <a:p>
            <a:pPr>
              <a:lnSpc>
                <a:spcPct val="150000"/>
              </a:lnSpc>
            </a:pPr>
            <a:r>
              <a:rPr lang="en-GB" sz="2600" b="1" dirty="0">
                <a:latin typeface="Gabriola" pitchFamily="82" charset="0"/>
              </a:rPr>
              <a:t>Physiological Changes</a:t>
            </a:r>
            <a:r>
              <a:rPr lang="en-GB" sz="2600" dirty="0">
                <a:latin typeface="Gabriola" pitchFamily="82" charset="0"/>
              </a:rPr>
              <a:t>:</a:t>
            </a:r>
          </a:p>
          <a:p>
            <a:pPr lvl="1">
              <a:lnSpc>
                <a:spcPct val="150000"/>
              </a:lnSpc>
            </a:pPr>
            <a:r>
              <a:rPr lang="en-GB" sz="2600" b="1" dirty="0">
                <a:latin typeface="Gabriola" pitchFamily="82" charset="0"/>
              </a:rPr>
              <a:t>Decreased Blood Pressure</a:t>
            </a:r>
            <a:r>
              <a:rPr lang="en-GB" sz="2600" dirty="0">
                <a:latin typeface="Gabriola" pitchFamily="82" charset="0"/>
              </a:rPr>
              <a:t>: Due to the loss of fluid and decreased blood volume.</a:t>
            </a:r>
          </a:p>
          <a:p>
            <a:pPr lvl="1">
              <a:lnSpc>
                <a:spcPct val="150000"/>
              </a:lnSpc>
            </a:pPr>
            <a:r>
              <a:rPr lang="en-GB" sz="2600" b="1" dirty="0">
                <a:latin typeface="Gabriola" pitchFamily="82" charset="0"/>
              </a:rPr>
              <a:t>Tachycardia</a:t>
            </a:r>
            <a:r>
              <a:rPr lang="en-GB" sz="2600" dirty="0">
                <a:latin typeface="Gabriola" pitchFamily="82" charset="0"/>
              </a:rPr>
              <a:t>: To compensate for the loss of blood volume and to try to maintain perfusion to vital organs.</a:t>
            </a:r>
          </a:p>
          <a:p>
            <a:pPr lvl="1">
              <a:lnSpc>
                <a:spcPct val="150000"/>
              </a:lnSpc>
            </a:pPr>
            <a:r>
              <a:rPr lang="en-GB" sz="2600" b="1" dirty="0" err="1">
                <a:latin typeface="Gabriola" pitchFamily="82" charset="0"/>
              </a:rPr>
              <a:t>Edema</a:t>
            </a:r>
            <a:r>
              <a:rPr lang="en-GB" sz="2600" dirty="0">
                <a:latin typeface="Gabriola" pitchFamily="82" charset="0"/>
              </a:rPr>
              <a:t>: Swelling of the tissues occurs due to fluid leakage into the interstitial space.</a:t>
            </a:r>
          </a:p>
          <a:p>
            <a:pPr lvl="1">
              <a:lnSpc>
                <a:spcPct val="150000"/>
              </a:lnSpc>
            </a:pPr>
            <a:r>
              <a:rPr lang="en-GB" sz="2600" b="1" dirty="0">
                <a:latin typeface="Gabriola" pitchFamily="82" charset="0"/>
              </a:rPr>
              <a:t>Oliguria</a:t>
            </a:r>
            <a:r>
              <a:rPr lang="en-GB" sz="2600" dirty="0">
                <a:latin typeface="Gabriola" pitchFamily="82" charset="0"/>
              </a:rPr>
              <a:t>: Decreased urine output as a result of decreased renal perfusion.</a:t>
            </a:r>
          </a:p>
          <a:p>
            <a:pPr>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63</a:t>
            </a:fld>
            <a:endParaRPr lang="en-GB"/>
          </a:p>
        </p:txBody>
      </p:sp>
    </p:spTree>
    <p:extLst>
      <p:ext uri="{BB962C8B-B14F-4D97-AF65-F5344CB8AC3E}">
        <p14:creationId xmlns:p14="http://schemas.microsoft.com/office/powerpoint/2010/main" val="13370105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764704"/>
            <a:ext cx="8321352" cy="5565232"/>
          </a:xfrm>
        </p:spPr>
        <p:txBody>
          <a:bodyPr>
            <a:normAutofit fontScale="92500" lnSpcReduction="10000"/>
          </a:bodyPr>
          <a:lstStyle/>
          <a:p>
            <a:pPr>
              <a:lnSpc>
                <a:spcPct val="150000"/>
              </a:lnSpc>
            </a:pPr>
            <a:r>
              <a:rPr lang="en-GB" sz="2800" dirty="0" smtClean="0">
                <a:latin typeface="Gabriola" pitchFamily="82" charset="0"/>
              </a:rPr>
              <a:t>Burn </a:t>
            </a:r>
            <a:r>
              <a:rPr lang="en-GB" sz="2800" dirty="0">
                <a:latin typeface="Gabriola" pitchFamily="82" charset="0"/>
              </a:rPr>
              <a:t>shock requires </a:t>
            </a:r>
            <a:r>
              <a:rPr lang="en-GB" sz="2800" b="1" dirty="0">
                <a:latin typeface="Gabriola" pitchFamily="82" charset="0"/>
              </a:rPr>
              <a:t>immediate medical intervention</a:t>
            </a:r>
            <a:r>
              <a:rPr lang="en-GB" sz="2800" dirty="0">
                <a:latin typeface="Gabriola" pitchFamily="82" charset="0"/>
              </a:rPr>
              <a:t> to restore fluid balance, manage infection risks, and stabilize vital signs. </a:t>
            </a:r>
            <a:endParaRPr lang="en-GB" sz="2800" dirty="0" smtClean="0">
              <a:latin typeface="Gabriola" pitchFamily="82" charset="0"/>
            </a:endParaRPr>
          </a:p>
          <a:p>
            <a:pPr>
              <a:lnSpc>
                <a:spcPct val="150000"/>
              </a:lnSpc>
            </a:pPr>
            <a:r>
              <a:rPr lang="en-GB" sz="2800" dirty="0" smtClean="0">
                <a:latin typeface="Gabriola" pitchFamily="82" charset="0"/>
              </a:rPr>
              <a:t>Without </a:t>
            </a:r>
            <a:r>
              <a:rPr lang="en-GB" sz="2800" dirty="0">
                <a:latin typeface="Gabriola" pitchFamily="82" charset="0"/>
              </a:rPr>
              <a:t>prompt treatment, the mortality rate in the burn shock phase can be extremely high</a:t>
            </a:r>
            <a:r>
              <a:rPr lang="en-GB" sz="2800" dirty="0" smtClean="0">
                <a:latin typeface="Gabriola" pitchFamily="82" charset="0"/>
              </a:rPr>
              <a:t>.</a:t>
            </a:r>
          </a:p>
          <a:p>
            <a:pPr>
              <a:lnSpc>
                <a:spcPct val="150000"/>
              </a:lnSpc>
            </a:pPr>
            <a:r>
              <a:rPr lang="en-GB" sz="2800" dirty="0">
                <a:latin typeface="Gabriola" pitchFamily="82" charset="0"/>
              </a:rPr>
              <a:t> if fluid resuscitation and stabilization are not done correctly, it can lead to hypovolemic shock, organ failure, and death</a:t>
            </a:r>
            <a:r>
              <a:rPr lang="en-GB" sz="2800" dirty="0" smtClean="0">
                <a:latin typeface="Gabriola" pitchFamily="82" charset="0"/>
              </a:rPr>
              <a:t>.</a:t>
            </a:r>
          </a:p>
          <a:p>
            <a:pPr>
              <a:lnSpc>
                <a:spcPct val="150000"/>
              </a:lnSpc>
            </a:pPr>
            <a:r>
              <a:rPr lang="en-GB" sz="2800" dirty="0">
                <a:latin typeface="Gabriola" pitchFamily="82" charset="0"/>
              </a:rPr>
              <a:t>The primary danger is the massive fluid loss (up to 20-30% of body weight in severe burns), which causes a drop in blood volume, hypotension, and poor tissue perfusion. </a:t>
            </a:r>
          </a:p>
        </p:txBody>
      </p:sp>
      <p:sp>
        <p:nvSpPr>
          <p:cNvPr id="4" name="Slide Number Placeholder 3"/>
          <p:cNvSpPr>
            <a:spLocks noGrp="1"/>
          </p:cNvSpPr>
          <p:nvPr>
            <p:ph type="sldNum" sz="quarter" idx="15"/>
          </p:nvPr>
        </p:nvSpPr>
        <p:spPr/>
        <p:txBody>
          <a:bodyPr/>
          <a:lstStyle/>
          <a:p>
            <a:fld id="{968CA758-BC7F-4AFE-853F-5D1E39DDFDA0}" type="slidenum">
              <a:rPr lang="en-GB" smtClean="0"/>
              <a:t>64</a:t>
            </a:fld>
            <a:endParaRPr lang="en-GB"/>
          </a:p>
        </p:txBody>
      </p:sp>
    </p:spTree>
    <p:extLst>
      <p:ext uri="{BB962C8B-B14F-4D97-AF65-F5344CB8AC3E}">
        <p14:creationId xmlns:p14="http://schemas.microsoft.com/office/powerpoint/2010/main" val="4018618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496944" cy="562074"/>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07504" y="908720"/>
            <a:ext cx="8568952" cy="5565232"/>
          </a:xfrm>
        </p:spPr>
        <p:txBody>
          <a:bodyPr>
            <a:normAutofit/>
          </a:bodyPr>
          <a:lstStyle/>
          <a:p>
            <a:pPr>
              <a:lnSpc>
                <a:spcPct val="150000"/>
              </a:lnSpc>
            </a:pPr>
            <a:r>
              <a:rPr lang="en-GB" sz="2800" b="1" dirty="0">
                <a:latin typeface="Gabriola" pitchFamily="82" charset="0"/>
              </a:rPr>
              <a:t>Treatment</a:t>
            </a:r>
            <a:r>
              <a:rPr lang="en-GB" sz="2800" dirty="0">
                <a:latin typeface="Gabriola" pitchFamily="82" charset="0"/>
              </a:rPr>
              <a:t>:</a:t>
            </a:r>
          </a:p>
          <a:p>
            <a:pPr lvl="1">
              <a:lnSpc>
                <a:spcPct val="150000"/>
              </a:lnSpc>
            </a:pPr>
            <a:r>
              <a:rPr lang="en-GB" sz="2400" b="1" dirty="0">
                <a:latin typeface="Gabriola" pitchFamily="82" charset="0"/>
              </a:rPr>
              <a:t>Fluid Resuscitation</a:t>
            </a:r>
            <a:r>
              <a:rPr lang="en-GB" sz="2400" dirty="0">
                <a:latin typeface="Gabriola" pitchFamily="82" charset="0"/>
              </a:rPr>
              <a:t>: </a:t>
            </a:r>
            <a:endParaRPr lang="en-GB" sz="2400" dirty="0" smtClean="0">
              <a:latin typeface="Gabriola" pitchFamily="82" charset="0"/>
            </a:endParaRPr>
          </a:p>
          <a:p>
            <a:pPr lvl="2">
              <a:lnSpc>
                <a:spcPct val="150000"/>
              </a:lnSpc>
            </a:pPr>
            <a:r>
              <a:rPr lang="en-GB" sz="2400" dirty="0" smtClean="0">
                <a:latin typeface="Gabriola" pitchFamily="82" charset="0"/>
              </a:rPr>
              <a:t>The </a:t>
            </a:r>
            <a:r>
              <a:rPr lang="en-GB" sz="2400" dirty="0">
                <a:latin typeface="Gabriola" pitchFamily="82" charset="0"/>
              </a:rPr>
              <a:t>mainstay of treatment during the burn shock phase is fluid replacement to restore the circulatory volume and correct electrolyte imbalances. </a:t>
            </a:r>
            <a:endParaRPr lang="en-GB" sz="2400" dirty="0" smtClean="0">
              <a:latin typeface="Gabriola" pitchFamily="82" charset="0"/>
            </a:endParaRPr>
          </a:p>
          <a:p>
            <a:pPr lvl="2">
              <a:lnSpc>
                <a:spcPct val="150000"/>
              </a:lnSpc>
            </a:pPr>
            <a:r>
              <a:rPr lang="en-GB" sz="2400" dirty="0" smtClean="0">
                <a:latin typeface="Gabriola" pitchFamily="82" charset="0"/>
              </a:rPr>
              <a:t>The </a:t>
            </a:r>
            <a:r>
              <a:rPr lang="en-GB" sz="2400" dirty="0">
                <a:latin typeface="Gabriola" pitchFamily="82" charset="0"/>
              </a:rPr>
              <a:t>most commonly used fluid for resuscitation is Ringer's lactate.</a:t>
            </a:r>
          </a:p>
          <a:p>
            <a:pPr lvl="1">
              <a:lnSpc>
                <a:spcPct val="150000"/>
              </a:lnSpc>
            </a:pPr>
            <a:r>
              <a:rPr lang="en-GB" sz="2400" b="1" dirty="0">
                <a:latin typeface="Gabriola" pitchFamily="82" charset="0"/>
              </a:rPr>
              <a:t>Monitoring and Support</a:t>
            </a:r>
            <a:r>
              <a:rPr lang="en-GB" sz="2400" dirty="0">
                <a:latin typeface="Gabriola" pitchFamily="82" charset="0"/>
              </a:rPr>
              <a:t>: </a:t>
            </a:r>
            <a:endParaRPr lang="en-GB" sz="2400" dirty="0" smtClean="0">
              <a:latin typeface="Gabriola" pitchFamily="82" charset="0"/>
            </a:endParaRPr>
          </a:p>
          <a:p>
            <a:pPr lvl="2">
              <a:lnSpc>
                <a:spcPct val="150000"/>
              </a:lnSpc>
            </a:pPr>
            <a:r>
              <a:rPr lang="en-GB" sz="2400" dirty="0" smtClean="0">
                <a:latin typeface="Gabriola" pitchFamily="82" charset="0"/>
              </a:rPr>
              <a:t>Continuous </a:t>
            </a:r>
            <a:r>
              <a:rPr lang="en-GB" sz="2400" dirty="0">
                <a:latin typeface="Gabriola" pitchFamily="82" charset="0"/>
              </a:rPr>
              <a:t>monitoring of vital signs, fluid balance, and renal function is crucial during this phase to prevent complications such as renal failure or organ ischemia.</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65</a:t>
            </a:fld>
            <a:endParaRPr lang="en-GB"/>
          </a:p>
        </p:txBody>
      </p:sp>
    </p:spTree>
    <p:extLst>
      <p:ext uri="{BB962C8B-B14F-4D97-AF65-F5344CB8AC3E}">
        <p14:creationId xmlns:p14="http://schemas.microsoft.com/office/powerpoint/2010/main" val="6152524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496944" cy="706090"/>
          </a:xfrm>
        </p:spPr>
        <p:txBody>
          <a:bodyPr/>
          <a:lstStyle/>
          <a:p>
            <a:r>
              <a:rPr lang="en-GB" b="1" dirty="0" smtClean="0">
                <a:solidFill>
                  <a:schemeClr val="tx1"/>
                </a:solidFill>
              </a:rPr>
              <a:t>2. Hyper-metabolic stage </a:t>
            </a:r>
            <a:endParaRPr lang="en-GB" b="1" dirty="0">
              <a:solidFill>
                <a:schemeClr val="tx1"/>
              </a:solidFill>
            </a:endParaRPr>
          </a:p>
        </p:txBody>
      </p:sp>
      <p:sp>
        <p:nvSpPr>
          <p:cNvPr id="3" name="Content Placeholder 2"/>
          <p:cNvSpPr>
            <a:spLocks noGrp="1"/>
          </p:cNvSpPr>
          <p:nvPr>
            <p:ph sz="quarter" idx="1"/>
          </p:nvPr>
        </p:nvSpPr>
        <p:spPr>
          <a:xfrm>
            <a:off x="251520" y="1052736"/>
            <a:ext cx="8352928" cy="5421216"/>
          </a:xfrm>
        </p:spPr>
        <p:txBody>
          <a:bodyPr>
            <a:normAutofit/>
          </a:bodyPr>
          <a:lstStyle/>
          <a:p>
            <a:pPr>
              <a:lnSpc>
                <a:spcPct val="150000"/>
              </a:lnSpc>
            </a:pPr>
            <a:r>
              <a:rPr lang="en-GB" sz="2600" b="1" dirty="0" smtClean="0">
                <a:latin typeface="Gabriola" pitchFamily="82" charset="0"/>
              </a:rPr>
              <a:t>Definition</a:t>
            </a:r>
            <a:r>
              <a:rPr lang="en-GB" sz="2600" dirty="0">
                <a:latin typeface="Gabriola" pitchFamily="82" charset="0"/>
              </a:rPr>
              <a:t>:</a:t>
            </a:r>
            <a:br>
              <a:rPr lang="en-GB" sz="2600" dirty="0">
                <a:latin typeface="Gabriola" pitchFamily="82" charset="0"/>
              </a:rPr>
            </a:br>
            <a:r>
              <a:rPr lang="en-GB" sz="2600" dirty="0">
                <a:latin typeface="Gabriola" pitchFamily="82" charset="0"/>
              </a:rPr>
              <a:t>The </a:t>
            </a:r>
            <a:r>
              <a:rPr lang="en-GB" sz="2600" dirty="0" err="1">
                <a:latin typeface="Gabriola" pitchFamily="82" charset="0"/>
              </a:rPr>
              <a:t>hypermetabolic</a:t>
            </a:r>
            <a:r>
              <a:rPr lang="en-GB" sz="2600" dirty="0">
                <a:latin typeface="Gabriola" pitchFamily="82" charset="0"/>
              </a:rPr>
              <a:t> stage follows the acute burn shock phase and can last for weeks or even months. </a:t>
            </a:r>
            <a:endParaRPr lang="en-GB" sz="2600" dirty="0" smtClean="0">
              <a:latin typeface="Gabriola" pitchFamily="82" charset="0"/>
            </a:endParaRPr>
          </a:p>
          <a:p>
            <a:pPr lvl="1">
              <a:lnSpc>
                <a:spcPct val="150000"/>
              </a:lnSpc>
            </a:pPr>
            <a:r>
              <a:rPr lang="en-GB" sz="2600" dirty="0" smtClean="0">
                <a:latin typeface="Gabriola" pitchFamily="82" charset="0"/>
              </a:rPr>
              <a:t>It </a:t>
            </a:r>
            <a:r>
              <a:rPr lang="en-GB" sz="2600" dirty="0">
                <a:latin typeface="Gabriola" pitchFamily="82" charset="0"/>
              </a:rPr>
              <a:t>is characterized by a dramatic increase in the body’s metabolic rate due to the burn injury.</a:t>
            </a:r>
          </a:p>
          <a:p>
            <a:pPr>
              <a:lnSpc>
                <a:spcPct val="150000"/>
              </a:lnSpc>
            </a:pPr>
            <a:r>
              <a:rPr lang="en-GB" sz="2600" b="1" dirty="0" smtClean="0">
                <a:latin typeface="Gabriola" pitchFamily="82" charset="0"/>
              </a:rPr>
              <a:t>Key Features</a:t>
            </a:r>
            <a:r>
              <a:rPr lang="en-GB" sz="2600" dirty="0" smtClean="0">
                <a:latin typeface="Gabriola" pitchFamily="82" charset="0"/>
              </a:rPr>
              <a:t>:  </a:t>
            </a:r>
          </a:p>
          <a:p>
            <a:pPr lvl="1">
              <a:lnSpc>
                <a:spcPct val="150000"/>
              </a:lnSpc>
            </a:pPr>
            <a:r>
              <a:rPr lang="en-GB" sz="2600" b="1" dirty="0" smtClean="0">
                <a:latin typeface="Gabriola" pitchFamily="82" charset="0"/>
              </a:rPr>
              <a:t>Increased </a:t>
            </a:r>
            <a:r>
              <a:rPr lang="en-GB" sz="2600" b="1" dirty="0">
                <a:latin typeface="Gabriola" pitchFamily="82" charset="0"/>
              </a:rPr>
              <a:t>Metabolic Rate</a:t>
            </a:r>
            <a:r>
              <a:rPr lang="en-GB" sz="2600" dirty="0">
                <a:latin typeface="Gabriola" pitchFamily="82" charset="0"/>
              </a:rPr>
              <a:t>: </a:t>
            </a:r>
            <a:endParaRPr lang="en-GB" sz="2600" dirty="0" smtClean="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66</a:t>
            </a:fld>
            <a:endParaRPr lang="en-GB"/>
          </a:p>
        </p:txBody>
      </p:sp>
    </p:spTree>
    <p:extLst>
      <p:ext uri="{BB962C8B-B14F-4D97-AF65-F5344CB8AC3E}">
        <p14:creationId xmlns:p14="http://schemas.microsoft.com/office/powerpoint/2010/main" val="24654348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280920" cy="50405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548680"/>
            <a:ext cx="8712968" cy="5925272"/>
          </a:xfrm>
        </p:spPr>
        <p:txBody>
          <a:bodyPr>
            <a:normAutofit/>
          </a:bodyPr>
          <a:lstStyle/>
          <a:p>
            <a:pPr lvl="2">
              <a:lnSpc>
                <a:spcPct val="150000"/>
              </a:lnSpc>
            </a:pPr>
            <a:r>
              <a:rPr lang="en-GB" sz="2600" dirty="0">
                <a:latin typeface="Gabriola" pitchFamily="82" charset="0"/>
              </a:rPr>
              <a:t>The body’s metabolism is markedly increased to repair the damage caused by the burn. </a:t>
            </a:r>
          </a:p>
          <a:p>
            <a:pPr lvl="2">
              <a:lnSpc>
                <a:spcPct val="150000"/>
              </a:lnSpc>
            </a:pPr>
            <a:r>
              <a:rPr lang="en-GB" sz="2600" dirty="0">
                <a:latin typeface="Gabriola" pitchFamily="82" charset="0"/>
              </a:rPr>
              <a:t>This results in a higher caloric requirement and an increase in protein catabolism</a:t>
            </a:r>
            <a:r>
              <a:rPr lang="en-GB" sz="2600" dirty="0" smtClean="0">
                <a:latin typeface="Gabriola" pitchFamily="82" charset="0"/>
              </a:rPr>
              <a:t>.</a:t>
            </a:r>
            <a:endParaRPr lang="en-GB" sz="2600" b="1" dirty="0" smtClean="0">
              <a:latin typeface="Gabriola" pitchFamily="82" charset="0"/>
            </a:endParaRPr>
          </a:p>
          <a:p>
            <a:pPr lvl="1">
              <a:lnSpc>
                <a:spcPct val="150000"/>
              </a:lnSpc>
            </a:pPr>
            <a:r>
              <a:rPr lang="en-GB" sz="2600" b="1" dirty="0" smtClean="0">
                <a:latin typeface="Gabriola" pitchFamily="82" charset="0"/>
              </a:rPr>
              <a:t>Muscle </a:t>
            </a:r>
            <a:r>
              <a:rPr lang="en-GB" sz="2600" b="1" dirty="0">
                <a:latin typeface="Gabriola" pitchFamily="82" charset="0"/>
              </a:rPr>
              <a:t>Wasting</a:t>
            </a:r>
            <a:r>
              <a:rPr lang="en-GB" sz="2600" dirty="0">
                <a:latin typeface="Gabriola" pitchFamily="82" charset="0"/>
              </a:rPr>
              <a:t>: Protein breakdown accelerates, leading to muscle wasting and loss of lean body mass</a:t>
            </a:r>
            <a:r>
              <a:rPr lang="en-GB" sz="2600" dirty="0" smtClean="0">
                <a:latin typeface="Gabriola" pitchFamily="82" charset="0"/>
              </a:rPr>
              <a:t>.</a:t>
            </a:r>
            <a:endParaRPr lang="en-GB" sz="2600" b="1" dirty="0" smtClean="0">
              <a:latin typeface="Gabriola" pitchFamily="82" charset="0"/>
            </a:endParaRPr>
          </a:p>
          <a:p>
            <a:pPr lvl="1">
              <a:lnSpc>
                <a:spcPct val="150000"/>
              </a:lnSpc>
            </a:pPr>
            <a:r>
              <a:rPr lang="en-GB" sz="2600" b="1" dirty="0" smtClean="0">
                <a:latin typeface="Gabriola" pitchFamily="82" charset="0"/>
              </a:rPr>
              <a:t>Hyperthermia</a:t>
            </a:r>
            <a:r>
              <a:rPr lang="en-GB" sz="2600" dirty="0">
                <a:latin typeface="Gabriola" pitchFamily="82" charset="0"/>
              </a:rPr>
              <a:t>: The elevated metabolic rate often causes an increase in body temperature (fever-like symptoms), which further increases energy expenditure.</a:t>
            </a:r>
          </a:p>
          <a:p>
            <a:pPr lvl="1">
              <a:lnSpc>
                <a:spcPct val="150000"/>
              </a:lnSpc>
            </a:pP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67</a:t>
            </a:fld>
            <a:endParaRPr lang="en-GB"/>
          </a:p>
        </p:txBody>
      </p:sp>
    </p:spTree>
    <p:extLst>
      <p:ext uri="{BB962C8B-B14F-4D97-AF65-F5344CB8AC3E}">
        <p14:creationId xmlns:p14="http://schemas.microsoft.com/office/powerpoint/2010/main" val="35762692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980728"/>
            <a:ext cx="8352928" cy="5493224"/>
          </a:xfrm>
        </p:spPr>
        <p:txBody>
          <a:bodyPr>
            <a:normAutofit/>
          </a:bodyPr>
          <a:lstStyle/>
          <a:p>
            <a:pPr lvl="1">
              <a:lnSpc>
                <a:spcPct val="150000"/>
              </a:lnSpc>
            </a:pPr>
            <a:r>
              <a:rPr lang="en-GB" sz="2600" b="1" dirty="0">
                <a:latin typeface="Gabriola" pitchFamily="82" charset="0"/>
              </a:rPr>
              <a:t>Increased Oxygen Consumption</a:t>
            </a:r>
            <a:r>
              <a:rPr lang="en-GB" sz="2600" dirty="0">
                <a:latin typeface="Gabriola" pitchFamily="82" charset="0"/>
              </a:rPr>
              <a:t>: The body requires more oxygen to meet the demands of tissue repair and the increased metabolism</a:t>
            </a:r>
            <a:r>
              <a:rPr lang="en-GB" sz="2600" dirty="0" smtClean="0">
                <a:latin typeface="Gabriola" pitchFamily="82" charset="0"/>
              </a:rPr>
              <a:t>.</a:t>
            </a:r>
            <a:endParaRPr lang="en-GB" sz="2600" b="1" dirty="0" smtClean="0">
              <a:latin typeface="Gabriola" pitchFamily="82" charset="0"/>
            </a:endParaRPr>
          </a:p>
          <a:p>
            <a:pPr lvl="1">
              <a:lnSpc>
                <a:spcPct val="150000"/>
              </a:lnSpc>
            </a:pPr>
            <a:r>
              <a:rPr lang="en-GB" sz="2600" b="1" dirty="0" smtClean="0">
                <a:latin typeface="Gabriola" pitchFamily="82" charset="0"/>
              </a:rPr>
              <a:t>Elevated </a:t>
            </a:r>
            <a:r>
              <a:rPr lang="en-GB" sz="2600" b="1" dirty="0">
                <a:latin typeface="Gabriola" pitchFamily="82" charset="0"/>
              </a:rPr>
              <a:t>Heart Rate</a:t>
            </a:r>
            <a:r>
              <a:rPr lang="en-GB" sz="2600" dirty="0">
                <a:latin typeface="Gabriola" pitchFamily="82" charset="0"/>
              </a:rPr>
              <a:t>: The increase in heart rate is due to the elevated metabolic demands of the body.</a:t>
            </a:r>
          </a:p>
          <a:p>
            <a:pPr lvl="1">
              <a:lnSpc>
                <a:spcPct val="150000"/>
              </a:lnSpc>
              <a:buClr>
                <a:srgbClr val="FE8637"/>
              </a:buClr>
            </a:pPr>
            <a:r>
              <a:rPr lang="en-GB" sz="2600" b="1" dirty="0">
                <a:latin typeface="Gabriola" pitchFamily="82" charset="0"/>
              </a:rPr>
              <a:t>Impaired Immune Function</a:t>
            </a:r>
            <a:r>
              <a:rPr lang="en-GB" sz="2600" dirty="0">
                <a:latin typeface="Gabriola" pitchFamily="82" charset="0"/>
              </a:rPr>
              <a:t>: The </a:t>
            </a:r>
            <a:r>
              <a:rPr lang="en-GB" sz="2600" dirty="0" err="1">
                <a:latin typeface="Gabriola" pitchFamily="82" charset="0"/>
              </a:rPr>
              <a:t>hypermetabolic</a:t>
            </a:r>
            <a:r>
              <a:rPr lang="en-GB" sz="2600" dirty="0">
                <a:latin typeface="Gabriola" pitchFamily="82" charset="0"/>
              </a:rPr>
              <a:t> state can impair the immune system, making burn patients more susceptible to </a:t>
            </a:r>
            <a:r>
              <a:rPr lang="en-GB" sz="2600" dirty="0" smtClean="0">
                <a:latin typeface="Gabriola" pitchFamily="82" charset="0"/>
              </a:rPr>
              <a:t>infection</a:t>
            </a:r>
            <a:r>
              <a:rPr lang="en-GB" sz="2600" dirty="0">
                <a:solidFill>
                  <a:prstClr val="black"/>
                </a:solidFill>
                <a:latin typeface="Gabriola" pitchFamily="82" charset="0"/>
              </a:rPr>
              <a:t>s</a:t>
            </a:r>
            <a:r>
              <a:rPr lang="en-GB" sz="2600" dirty="0" smtClean="0">
                <a:solidFill>
                  <a:prstClr val="black"/>
                </a:solidFill>
                <a:latin typeface="Gabriola" pitchFamily="82" charset="0"/>
              </a:rPr>
              <a:t>.</a:t>
            </a:r>
          </a:p>
          <a:p>
            <a:pPr lvl="1">
              <a:lnSpc>
                <a:spcPct val="150000"/>
              </a:lnSpc>
              <a:buClr>
                <a:srgbClr val="FE8637"/>
              </a:buClr>
            </a:pPr>
            <a:endParaRPr lang="en-GB" sz="2600" dirty="0">
              <a:solidFill>
                <a:prstClr val="black"/>
              </a:solidFill>
              <a:latin typeface="Gabriola" pitchFamily="82" charset="0"/>
            </a:endParaRPr>
          </a:p>
          <a:p>
            <a:endParaRPr lang="en-GB" sz="2600" dirty="0"/>
          </a:p>
        </p:txBody>
      </p:sp>
      <p:sp>
        <p:nvSpPr>
          <p:cNvPr id="4" name="Slide Number Placeholder 3"/>
          <p:cNvSpPr>
            <a:spLocks noGrp="1"/>
          </p:cNvSpPr>
          <p:nvPr>
            <p:ph type="sldNum" sz="quarter" idx="15"/>
          </p:nvPr>
        </p:nvSpPr>
        <p:spPr/>
        <p:txBody>
          <a:bodyPr/>
          <a:lstStyle/>
          <a:p>
            <a:fld id="{968CA758-BC7F-4AFE-853F-5D1E39DDFDA0}" type="slidenum">
              <a:rPr lang="en-GB" smtClean="0"/>
              <a:t>68</a:t>
            </a:fld>
            <a:endParaRPr lang="en-GB"/>
          </a:p>
        </p:txBody>
      </p:sp>
    </p:spTree>
    <p:extLst>
      <p:ext uri="{BB962C8B-B14F-4D97-AF65-F5344CB8AC3E}">
        <p14:creationId xmlns:p14="http://schemas.microsoft.com/office/powerpoint/2010/main" val="8754855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7601272" cy="49006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23528" y="1052736"/>
            <a:ext cx="7601272" cy="5421216"/>
          </a:xfrm>
        </p:spPr>
        <p:txBody>
          <a:bodyPr/>
          <a:lstStyle/>
          <a:p>
            <a:pPr marL="0" indent="0">
              <a:lnSpc>
                <a:spcPct val="150000"/>
              </a:lnSpc>
              <a:buNone/>
            </a:pPr>
            <a:r>
              <a:rPr lang="en-GB" b="1" dirty="0">
                <a:latin typeface="Times" pitchFamily="18" charset="0"/>
              </a:rPr>
              <a:t>Impact on Systems</a:t>
            </a:r>
          </a:p>
          <a:p>
            <a:pPr>
              <a:lnSpc>
                <a:spcPct val="150000"/>
              </a:lnSpc>
            </a:pPr>
            <a:r>
              <a:rPr lang="en-GB" b="1" dirty="0">
                <a:latin typeface="Gabriola" pitchFamily="82" charset="0"/>
              </a:rPr>
              <a:t>Cardiovascular</a:t>
            </a:r>
            <a:r>
              <a:rPr lang="en-GB" dirty="0">
                <a:latin typeface="Gabriola" pitchFamily="82" charset="0"/>
              </a:rPr>
              <a:t>: Increased heart rate, cardiac workload, and potential myocardial stress.</a:t>
            </a:r>
          </a:p>
          <a:p>
            <a:pPr>
              <a:lnSpc>
                <a:spcPct val="150000"/>
              </a:lnSpc>
            </a:pPr>
            <a:r>
              <a:rPr lang="en-GB" b="1" dirty="0">
                <a:latin typeface="Gabriola" pitchFamily="82" charset="0"/>
              </a:rPr>
              <a:t>Muscles</a:t>
            </a:r>
            <a:r>
              <a:rPr lang="en-GB" dirty="0">
                <a:latin typeface="Gabriola" pitchFamily="82" charset="0"/>
              </a:rPr>
              <a:t>: </a:t>
            </a:r>
            <a:r>
              <a:rPr lang="en-GB" b="1" dirty="0">
                <a:latin typeface="Gabriola" pitchFamily="82" charset="0"/>
              </a:rPr>
              <a:t>Muscle wasting</a:t>
            </a:r>
            <a:r>
              <a:rPr lang="en-GB" dirty="0">
                <a:latin typeface="Gabriola" pitchFamily="82" charset="0"/>
              </a:rPr>
              <a:t>, weakness, and delayed recovery.</a:t>
            </a:r>
          </a:p>
          <a:p>
            <a:pPr>
              <a:lnSpc>
                <a:spcPct val="150000"/>
              </a:lnSpc>
            </a:pPr>
            <a:r>
              <a:rPr lang="en-GB" b="1" dirty="0">
                <a:latin typeface="Gabriola" pitchFamily="82" charset="0"/>
              </a:rPr>
              <a:t>Immune System</a:t>
            </a:r>
            <a:r>
              <a:rPr lang="en-GB" dirty="0">
                <a:latin typeface="Gabriola" pitchFamily="82" charset="0"/>
              </a:rPr>
              <a:t>: Suppressed immune response, increased risk of infection.</a:t>
            </a:r>
          </a:p>
          <a:p>
            <a:pPr>
              <a:lnSpc>
                <a:spcPct val="150000"/>
              </a:lnSpc>
            </a:pPr>
            <a:r>
              <a:rPr lang="en-GB" b="1" dirty="0">
                <a:latin typeface="Gabriola" pitchFamily="82" charset="0"/>
              </a:rPr>
              <a:t>Endocrine</a:t>
            </a:r>
            <a:r>
              <a:rPr lang="en-GB" dirty="0">
                <a:latin typeface="Gabriola" pitchFamily="82" charset="0"/>
              </a:rPr>
              <a:t>: Disrupted hormone balance, including </a:t>
            </a:r>
            <a:r>
              <a:rPr lang="en-GB" b="1" dirty="0">
                <a:latin typeface="Gabriola" pitchFamily="82" charset="0"/>
              </a:rPr>
              <a:t>elevated stress hormones</a:t>
            </a:r>
            <a:r>
              <a:rPr lang="en-GB" dirty="0">
                <a:latin typeface="Gabriola" pitchFamily="82" charset="0"/>
              </a:rPr>
              <a:t>.</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69</a:t>
            </a:fld>
            <a:endParaRPr lang="en-GB"/>
          </a:p>
        </p:txBody>
      </p:sp>
    </p:spTree>
    <p:extLst>
      <p:ext uri="{BB962C8B-B14F-4D97-AF65-F5344CB8AC3E}">
        <p14:creationId xmlns:p14="http://schemas.microsoft.com/office/powerpoint/2010/main" val="15210844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704856" cy="706090"/>
          </a:xfrm>
        </p:spPr>
        <p:txBody>
          <a:bodyPr/>
          <a:lstStyle/>
          <a:p>
            <a:pPr algn="ctr"/>
            <a:r>
              <a:rPr lang="en-GB" b="1" dirty="0" smtClean="0">
                <a:solidFill>
                  <a:schemeClr val="tx1"/>
                </a:solidFill>
                <a:latin typeface="Times" pitchFamily="18" charset="0"/>
              </a:rPr>
              <a:t>Inhalational burn </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395536" y="980728"/>
            <a:ext cx="8280920" cy="5493224"/>
          </a:xfrm>
        </p:spPr>
        <p:txBody>
          <a:bodyPr>
            <a:normAutofit/>
          </a:bodyPr>
          <a:lstStyle/>
          <a:p>
            <a:pPr>
              <a:lnSpc>
                <a:spcPct val="150000"/>
              </a:lnSpc>
            </a:pPr>
            <a:r>
              <a:rPr lang="en-GB" sz="2800" dirty="0">
                <a:latin typeface="Gabriola" pitchFamily="82" charset="0"/>
              </a:rPr>
              <a:t>Inhalational burns, also known as </a:t>
            </a:r>
            <a:r>
              <a:rPr lang="en-GB" sz="2800" b="1" dirty="0">
                <a:latin typeface="Gabriola" pitchFamily="82" charset="0"/>
              </a:rPr>
              <a:t>respiratory burns</a:t>
            </a:r>
            <a:r>
              <a:rPr lang="en-GB" sz="2800" dirty="0">
                <a:latin typeface="Gabriola" pitchFamily="82" charset="0"/>
              </a:rPr>
              <a:t> or </a:t>
            </a:r>
            <a:r>
              <a:rPr lang="en-GB" sz="2800" b="1" dirty="0">
                <a:latin typeface="Gabriola" pitchFamily="82" charset="0"/>
              </a:rPr>
              <a:t>smoke inhalation injuries</a:t>
            </a:r>
            <a:r>
              <a:rPr lang="en-GB" sz="2800" dirty="0">
                <a:latin typeface="Gabriola" pitchFamily="82" charset="0"/>
              </a:rPr>
              <a:t>, occur when a person breathes in hot gases, chemicals, or smoke during a fire or explosion</a:t>
            </a:r>
            <a:r>
              <a:rPr lang="en-GB" sz="2800" dirty="0" smtClean="0">
                <a:latin typeface="Gabriola" pitchFamily="82" charset="0"/>
              </a:rPr>
              <a:t>.</a:t>
            </a:r>
          </a:p>
          <a:p>
            <a:pPr>
              <a:lnSpc>
                <a:spcPct val="150000"/>
              </a:lnSpc>
            </a:pPr>
            <a:r>
              <a:rPr lang="en-GB" sz="2800" dirty="0" smtClean="0">
                <a:latin typeface="Gabriola" pitchFamily="82" charset="0"/>
              </a:rPr>
              <a:t> </a:t>
            </a:r>
            <a:r>
              <a:rPr lang="en-GB" sz="2800" dirty="0">
                <a:latin typeface="Gabriola" pitchFamily="82" charset="0"/>
              </a:rPr>
              <a:t>These injuries can cause severe damage to the respiratory system and may complicate the overall treatment of burn victims. </a:t>
            </a:r>
            <a:endParaRPr lang="en-GB" sz="2800" dirty="0" smtClean="0">
              <a:latin typeface="Gabriola" pitchFamily="82" charset="0"/>
            </a:endParaRPr>
          </a:p>
          <a:p>
            <a:pPr>
              <a:lnSpc>
                <a:spcPct val="150000"/>
              </a:lnSpc>
            </a:pPr>
            <a:r>
              <a:rPr lang="en-GB" sz="2800" dirty="0" smtClean="0">
                <a:latin typeface="Gabriola" pitchFamily="82" charset="0"/>
              </a:rPr>
              <a:t>Inhalational </a:t>
            </a:r>
            <a:r>
              <a:rPr lang="en-GB" sz="2800" dirty="0">
                <a:latin typeface="Gabriola" pitchFamily="82" charset="0"/>
              </a:rPr>
              <a:t>burns can be life-threatening, as they affect the airways, lungs, and other respiratory structures, leading to respiratory failure if not promptly managed.</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70</a:t>
            </a:fld>
            <a:endParaRPr lang="en-GB"/>
          </a:p>
        </p:txBody>
      </p:sp>
    </p:spTree>
    <p:extLst>
      <p:ext uri="{BB962C8B-B14F-4D97-AF65-F5344CB8AC3E}">
        <p14:creationId xmlns:p14="http://schemas.microsoft.com/office/powerpoint/2010/main" val="16529266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706090"/>
          </a:xfrm>
        </p:spPr>
        <p:txBody>
          <a:bodyPr/>
          <a:lstStyle/>
          <a:p>
            <a:r>
              <a:rPr lang="en-GB" b="1" dirty="0" err="1" smtClean="0">
                <a:solidFill>
                  <a:schemeClr val="tx1"/>
                </a:solidFill>
                <a:latin typeface="Times" pitchFamily="18" charset="0"/>
              </a:rPr>
              <a:t>Etiology</a:t>
            </a:r>
            <a:r>
              <a:rPr lang="en-GB" b="1" dirty="0" smtClean="0">
                <a:solidFill>
                  <a:schemeClr val="tx1"/>
                </a:solidFill>
                <a:latin typeface="Times" pitchFamily="18" charset="0"/>
              </a:rPr>
              <a:t> of inhalational burn </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251520" y="1124744"/>
            <a:ext cx="8424936" cy="5349208"/>
          </a:xfrm>
        </p:spPr>
        <p:txBody>
          <a:bodyPr>
            <a:noAutofit/>
          </a:bodyPr>
          <a:lstStyle/>
          <a:p>
            <a:pPr>
              <a:lnSpc>
                <a:spcPct val="160000"/>
              </a:lnSpc>
              <a:buFont typeface="Wingdings" pitchFamily="2" charset="2"/>
              <a:buChar char="Ø"/>
            </a:pPr>
            <a:r>
              <a:rPr lang="en-GB" sz="2800" dirty="0" smtClean="0">
                <a:latin typeface="Gabriola" pitchFamily="82" charset="0"/>
              </a:rPr>
              <a:t>Inhalational </a:t>
            </a:r>
            <a:r>
              <a:rPr lang="en-GB" sz="2800" dirty="0">
                <a:latin typeface="Gabriola" pitchFamily="82" charset="0"/>
              </a:rPr>
              <a:t>burns typically occur during or after a </a:t>
            </a:r>
            <a:r>
              <a:rPr lang="en-GB" sz="2800" b="1" dirty="0">
                <a:latin typeface="Gabriola" pitchFamily="82" charset="0"/>
              </a:rPr>
              <a:t>fire</a:t>
            </a:r>
            <a:r>
              <a:rPr lang="en-GB" sz="2800" dirty="0">
                <a:latin typeface="Gabriola" pitchFamily="82" charset="0"/>
              </a:rPr>
              <a:t> or </a:t>
            </a:r>
            <a:r>
              <a:rPr lang="en-GB" sz="2800" b="1" dirty="0">
                <a:latin typeface="Gabriola" pitchFamily="82" charset="0"/>
              </a:rPr>
              <a:t>explosion</a:t>
            </a:r>
            <a:r>
              <a:rPr lang="en-GB" sz="2800" dirty="0">
                <a:latin typeface="Gabriola" pitchFamily="82" charset="0"/>
              </a:rPr>
              <a:t>. </a:t>
            </a:r>
            <a:endParaRPr lang="en-GB" sz="2800" dirty="0" smtClean="0">
              <a:latin typeface="Gabriola" pitchFamily="82" charset="0"/>
            </a:endParaRPr>
          </a:p>
          <a:p>
            <a:pPr>
              <a:lnSpc>
                <a:spcPct val="160000"/>
              </a:lnSpc>
              <a:buFont typeface="Wingdings" pitchFamily="2" charset="2"/>
              <a:buChar char="Ø"/>
            </a:pPr>
            <a:r>
              <a:rPr lang="en-GB" sz="2800" dirty="0" smtClean="0">
                <a:latin typeface="Gabriola" pitchFamily="82" charset="0"/>
              </a:rPr>
              <a:t>The </a:t>
            </a:r>
            <a:r>
              <a:rPr lang="en-GB" sz="2800" dirty="0">
                <a:latin typeface="Gabriola" pitchFamily="82" charset="0"/>
              </a:rPr>
              <a:t>mechanisms include:</a:t>
            </a:r>
          </a:p>
          <a:p>
            <a:pPr>
              <a:lnSpc>
                <a:spcPct val="160000"/>
              </a:lnSpc>
            </a:pPr>
            <a:r>
              <a:rPr lang="en-GB" sz="2800" b="1" dirty="0">
                <a:latin typeface="Gabriola" pitchFamily="82" charset="0"/>
              </a:rPr>
              <a:t>Hot Gases:</a:t>
            </a:r>
            <a:r>
              <a:rPr lang="en-GB" sz="2800" dirty="0">
                <a:latin typeface="Gabriola" pitchFamily="82" charset="0"/>
              </a:rPr>
              <a:t> </a:t>
            </a:r>
            <a:endParaRPr lang="en-GB" sz="2800" dirty="0" smtClean="0">
              <a:latin typeface="Gabriola" pitchFamily="82" charset="0"/>
            </a:endParaRPr>
          </a:p>
          <a:p>
            <a:pPr lvl="1">
              <a:lnSpc>
                <a:spcPct val="160000"/>
              </a:lnSpc>
            </a:pPr>
            <a:r>
              <a:rPr lang="en-GB" sz="2800" dirty="0" smtClean="0">
                <a:latin typeface="Gabriola" pitchFamily="82" charset="0"/>
              </a:rPr>
              <a:t>Breathing </a:t>
            </a:r>
            <a:r>
              <a:rPr lang="en-GB" sz="2800" dirty="0">
                <a:latin typeface="Gabriola" pitchFamily="82" charset="0"/>
              </a:rPr>
              <a:t>in hot air or gases from a fire can cause direct thermal injury to the airway and lung tissues. </a:t>
            </a:r>
            <a:endParaRPr lang="en-GB" sz="2800" dirty="0" smtClean="0">
              <a:latin typeface="Gabriola" pitchFamily="82" charset="0"/>
            </a:endParaRPr>
          </a:p>
          <a:p>
            <a:pPr lvl="1">
              <a:lnSpc>
                <a:spcPct val="160000"/>
              </a:lnSpc>
            </a:pPr>
            <a:r>
              <a:rPr lang="en-GB" sz="2800" dirty="0" smtClean="0">
                <a:latin typeface="Gabriola" pitchFamily="82" charset="0"/>
              </a:rPr>
              <a:t>This </a:t>
            </a:r>
            <a:r>
              <a:rPr lang="en-GB" sz="2800" dirty="0">
                <a:latin typeface="Gabriola" pitchFamily="82" charset="0"/>
              </a:rPr>
              <a:t>damage can lead to inflammation, swelling, and airway obstruction</a:t>
            </a:r>
            <a:r>
              <a:rPr lang="en-GB" sz="2800" dirty="0" smtClean="0">
                <a:latin typeface="Gabriola" pitchFamily="82" charset="0"/>
              </a:rPr>
              <a:t>.</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71</a:t>
            </a:fld>
            <a:endParaRPr lang="en-GB"/>
          </a:p>
        </p:txBody>
      </p:sp>
    </p:spTree>
    <p:extLst>
      <p:ext uri="{BB962C8B-B14F-4D97-AF65-F5344CB8AC3E}">
        <p14:creationId xmlns:p14="http://schemas.microsoft.com/office/powerpoint/2010/main" val="10470144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44624"/>
            <a:ext cx="8568952" cy="432048"/>
          </a:xfrm>
        </p:spPr>
        <p:txBody>
          <a:bodyPr>
            <a:normAutofit fontScale="90000"/>
          </a:bodyPr>
          <a:lstStyle/>
          <a:p>
            <a:endParaRPr lang="en-GB" dirty="0"/>
          </a:p>
        </p:txBody>
      </p:sp>
      <p:sp>
        <p:nvSpPr>
          <p:cNvPr id="3" name="Content Placeholder 2"/>
          <p:cNvSpPr>
            <a:spLocks noGrp="1"/>
          </p:cNvSpPr>
          <p:nvPr>
            <p:ph sz="quarter" idx="1"/>
          </p:nvPr>
        </p:nvSpPr>
        <p:spPr>
          <a:xfrm>
            <a:off x="179512" y="620688"/>
            <a:ext cx="8640960" cy="5688632"/>
          </a:xfrm>
        </p:spPr>
        <p:txBody>
          <a:bodyPr>
            <a:noAutofit/>
          </a:bodyPr>
          <a:lstStyle/>
          <a:p>
            <a:pPr>
              <a:lnSpc>
                <a:spcPct val="160000"/>
              </a:lnSpc>
            </a:pPr>
            <a:r>
              <a:rPr lang="en-GB" sz="2600" b="1" dirty="0">
                <a:latin typeface="Gabriola" pitchFamily="82" charset="0"/>
              </a:rPr>
              <a:t>Toxic Smoke:</a:t>
            </a:r>
            <a:r>
              <a:rPr lang="en-GB" sz="2600" dirty="0">
                <a:latin typeface="Gabriola" pitchFamily="82" charset="0"/>
              </a:rPr>
              <a:t> </a:t>
            </a:r>
          </a:p>
          <a:p>
            <a:pPr lvl="1">
              <a:lnSpc>
                <a:spcPct val="160000"/>
              </a:lnSpc>
            </a:pPr>
            <a:r>
              <a:rPr lang="en-GB" sz="2600" dirty="0">
                <a:latin typeface="Gabriola" pitchFamily="82" charset="0"/>
              </a:rPr>
              <a:t>Fires often produce smoke containing harmful chemicals, such as carbon monoxide (CO), hydrogen cyanide (HCN), ammonia, and other toxic </a:t>
            </a:r>
            <a:r>
              <a:rPr lang="en-GB" sz="2600" dirty="0" smtClean="0">
                <a:latin typeface="Gabriola" pitchFamily="82" charset="0"/>
              </a:rPr>
              <a:t>gases</a:t>
            </a:r>
          </a:p>
          <a:p>
            <a:pPr lvl="1">
              <a:lnSpc>
                <a:spcPct val="160000"/>
              </a:lnSpc>
            </a:pPr>
            <a:r>
              <a:rPr lang="en-GB" sz="2600" dirty="0" smtClean="0">
                <a:latin typeface="Gabriola" pitchFamily="82" charset="0"/>
              </a:rPr>
              <a:t> </a:t>
            </a:r>
            <a:r>
              <a:rPr lang="en-GB" sz="2600" dirty="0">
                <a:latin typeface="Gabriola" pitchFamily="82" charset="0"/>
              </a:rPr>
              <a:t>Inhalation of these gases can cause poisoning and tissue damage.</a:t>
            </a:r>
          </a:p>
          <a:p>
            <a:pPr>
              <a:lnSpc>
                <a:spcPct val="160000"/>
              </a:lnSpc>
            </a:pPr>
            <a:r>
              <a:rPr lang="en-GB" sz="2600" b="1" dirty="0">
                <a:latin typeface="Gabriola" pitchFamily="82" charset="0"/>
              </a:rPr>
              <a:t>Chemicals and Particulate Matter:</a:t>
            </a:r>
            <a:r>
              <a:rPr lang="en-GB" sz="2600" dirty="0">
                <a:latin typeface="Gabriola" pitchFamily="82" charset="0"/>
              </a:rPr>
              <a:t> </a:t>
            </a:r>
            <a:endParaRPr lang="en-GB" sz="2600" dirty="0" smtClean="0">
              <a:latin typeface="Gabriola" pitchFamily="82" charset="0"/>
            </a:endParaRPr>
          </a:p>
          <a:p>
            <a:pPr lvl="1">
              <a:lnSpc>
                <a:spcPct val="160000"/>
              </a:lnSpc>
            </a:pPr>
            <a:r>
              <a:rPr lang="en-GB" sz="2600" dirty="0" smtClean="0">
                <a:latin typeface="Gabriola" pitchFamily="82" charset="0"/>
              </a:rPr>
              <a:t>Smoke </a:t>
            </a:r>
            <a:r>
              <a:rPr lang="en-GB" sz="2600" dirty="0">
                <a:latin typeface="Gabriola" pitchFamily="82" charset="0"/>
              </a:rPr>
              <a:t>from burning materials, such as plastics, rubber, and other synthetic substances, can release particulate matter and irritants that further damage the respiratory tract.</a:t>
            </a:r>
          </a:p>
          <a:p>
            <a:endParaRPr lang="en-GB" sz="2600" dirty="0"/>
          </a:p>
        </p:txBody>
      </p:sp>
      <p:sp>
        <p:nvSpPr>
          <p:cNvPr id="5" name="Slide Number Placeholder 4"/>
          <p:cNvSpPr>
            <a:spLocks noGrp="1"/>
          </p:cNvSpPr>
          <p:nvPr>
            <p:ph type="sldNum" sz="quarter" idx="15"/>
          </p:nvPr>
        </p:nvSpPr>
        <p:spPr/>
        <p:txBody>
          <a:bodyPr/>
          <a:lstStyle/>
          <a:p>
            <a:fld id="{968CA758-BC7F-4AFE-853F-5D1E39DDFDA0}" type="slidenum">
              <a:rPr lang="en-GB" smtClean="0"/>
              <a:t>72</a:t>
            </a:fld>
            <a:endParaRPr lang="en-GB"/>
          </a:p>
        </p:txBody>
      </p:sp>
    </p:spTree>
    <p:extLst>
      <p:ext uri="{BB962C8B-B14F-4D97-AF65-F5344CB8AC3E}">
        <p14:creationId xmlns:p14="http://schemas.microsoft.com/office/powerpoint/2010/main" val="4473498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280920" cy="778098"/>
          </a:xfrm>
        </p:spPr>
        <p:txBody>
          <a:bodyPr>
            <a:normAutofit/>
          </a:bodyPr>
          <a:lstStyle/>
          <a:p>
            <a:r>
              <a:rPr lang="en-GB" sz="3200" b="1" dirty="0" smtClean="0">
                <a:solidFill>
                  <a:schemeClr val="tx1"/>
                </a:solidFill>
                <a:latin typeface="Times" pitchFamily="18" charset="0"/>
              </a:rPr>
              <a:t>Pathophysiology of inhalational burns</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323528" y="1196752"/>
            <a:ext cx="8352928" cy="5277200"/>
          </a:xfrm>
        </p:spPr>
        <p:txBody>
          <a:bodyPr>
            <a:noAutofit/>
          </a:bodyPr>
          <a:lstStyle/>
          <a:p>
            <a:pPr>
              <a:lnSpc>
                <a:spcPct val="150000"/>
              </a:lnSpc>
            </a:pPr>
            <a:r>
              <a:rPr lang="en-GB" sz="2800" b="1" dirty="0" smtClean="0">
                <a:latin typeface="Gabriola" pitchFamily="82" charset="0"/>
              </a:rPr>
              <a:t>Upper </a:t>
            </a:r>
            <a:r>
              <a:rPr lang="en-GB" sz="2800" b="1" dirty="0">
                <a:latin typeface="Gabriola" pitchFamily="82" charset="0"/>
              </a:rPr>
              <a:t>Airway Injury:</a:t>
            </a:r>
            <a:endParaRPr lang="en-GB" sz="2800" dirty="0">
              <a:latin typeface="Gabriola" pitchFamily="82" charset="0"/>
            </a:endParaRPr>
          </a:p>
          <a:p>
            <a:pPr lvl="1">
              <a:lnSpc>
                <a:spcPct val="150000"/>
              </a:lnSpc>
            </a:pPr>
            <a:r>
              <a:rPr lang="en-GB" sz="2800" dirty="0">
                <a:latin typeface="Gabriola" pitchFamily="82" charset="0"/>
              </a:rPr>
              <a:t>Heat and smoke exposure can lead to burns of the mouth, throat, and nasal passages.</a:t>
            </a:r>
          </a:p>
          <a:p>
            <a:pPr lvl="1">
              <a:lnSpc>
                <a:spcPct val="150000"/>
              </a:lnSpc>
            </a:pPr>
            <a:r>
              <a:rPr lang="en-GB" sz="2800" dirty="0">
                <a:latin typeface="Gabriola" pitchFamily="82" charset="0"/>
              </a:rPr>
              <a:t>Swelling and inflammation may occur, leading to airway obstruction and difficulty breathing.</a:t>
            </a:r>
          </a:p>
          <a:p>
            <a:pPr lvl="1">
              <a:lnSpc>
                <a:spcPct val="150000"/>
              </a:lnSpc>
            </a:pPr>
            <a:r>
              <a:rPr lang="en-GB" sz="2800" b="1" dirty="0">
                <a:latin typeface="Gabriola" pitchFamily="82" charset="0"/>
              </a:rPr>
              <a:t>Symptoms:</a:t>
            </a:r>
            <a:r>
              <a:rPr lang="en-GB" sz="2800" dirty="0">
                <a:latin typeface="Gabriola" pitchFamily="82" charset="0"/>
              </a:rPr>
              <a:t> Hoarseness, coughing, difficulty swallowing, or stridor (a high-pitched sound during breathing due to narrowing of the airway).</a:t>
            </a:r>
          </a:p>
        </p:txBody>
      </p:sp>
      <p:sp>
        <p:nvSpPr>
          <p:cNvPr id="5" name="Slide Number Placeholder 4"/>
          <p:cNvSpPr>
            <a:spLocks noGrp="1"/>
          </p:cNvSpPr>
          <p:nvPr>
            <p:ph type="sldNum" sz="quarter" idx="15"/>
          </p:nvPr>
        </p:nvSpPr>
        <p:spPr/>
        <p:txBody>
          <a:bodyPr/>
          <a:lstStyle/>
          <a:p>
            <a:fld id="{968CA758-BC7F-4AFE-853F-5D1E39DDFDA0}" type="slidenum">
              <a:rPr lang="en-GB" smtClean="0"/>
              <a:t>73</a:t>
            </a:fld>
            <a:endParaRPr lang="en-GB"/>
          </a:p>
        </p:txBody>
      </p:sp>
    </p:spTree>
    <p:extLst>
      <p:ext uri="{BB962C8B-B14F-4D97-AF65-F5344CB8AC3E}">
        <p14:creationId xmlns:p14="http://schemas.microsoft.com/office/powerpoint/2010/main" val="22116450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496944" cy="43204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692696"/>
            <a:ext cx="8568952" cy="5781256"/>
          </a:xfrm>
        </p:spPr>
        <p:txBody>
          <a:bodyPr>
            <a:noAutofit/>
          </a:bodyPr>
          <a:lstStyle/>
          <a:p>
            <a:pPr>
              <a:lnSpc>
                <a:spcPct val="150000"/>
              </a:lnSpc>
            </a:pPr>
            <a:r>
              <a:rPr lang="en-GB" sz="2800" b="1" dirty="0">
                <a:latin typeface="Gabriola" pitchFamily="82" charset="0"/>
              </a:rPr>
              <a:t>Lower Airway Injury:</a:t>
            </a:r>
            <a:endParaRPr lang="en-GB" sz="2800" dirty="0">
              <a:latin typeface="Gabriola" pitchFamily="82" charset="0"/>
            </a:endParaRPr>
          </a:p>
          <a:p>
            <a:pPr lvl="1">
              <a:lnSpc>
                <a:spcPct val="150000"/>
              </a:lnSpc>
            </a:pPr>
            <a:r>
              <a:rPr lang="en-GB" sz="2800" b="1" dirty="0">
                <a:latin typeface="Gabriola" pitchFamily="82" charset="0"/>
              </a:rPr>
              <a:t>Trachea, Bronchi, and Lungs:</a:t>
            </a:r>
            <a:r>
              <a:rPr lang="en-GB" sz="2800" dirty="0">
                <a:latin typeface="Gabriola" pitchFamily="82" charset="0"/>
              </a:rPr>
              <a:t> Hot gases and toxins can reach the lower respiratory tract, causing burns in the trachea and bronchi, leading to inflammation, damage to lung tissue, and impaired gas exchange.</a:t>
            </a:r>
          </a:p>
          <a:p>
            <a:pPr lvl="1">
              <a:lnSpc>
                <a:spcPct val="150000"/>
              </a:lnSpc>
            </a:pPr>
            <a:r>
              <a:rPr lang="en-GB" sz="2800" b="1" dirty="0">
                <a:latin typeface="Gabriola" pitchFamily="82" charset="0"/>
              </a:rPr>
              <a:t>Pulmonary </a:t>
            </a:r>
            <a:r>
              <a:rPr lang="en-GB" sz="2800" b="1" dirty="0" err="1">
                <a:latin typeface="Gabriola" pitchFamily="82" charset="0"/>
              </a:rPr>
              <a:t>Edema</a:t>
            </a:r>
            <a:r>
              <a:rPr lang="en-GB" sz="2800" b="1" dirty="0">
                <a:latin typeface="Gabriola" pitchFamily="82" charset="0"/>
              </a:rPr>
              <a:t>:</a:t>
            </a:r>
            <a:r>
              <a:rPr lang="en-GB" sz="2800" dirty="0">
                <a:latin typeface="Gabriola" pitchFamily="82" charset="0"/>
              </a:rPr>
              <a:t> Inhalation injuries can lead to fluid accumulation in the </a:t>
            </a:r>
            <a:r>
              <a:rPr lang="en-GB" sz="2800" dirty="0" smtClean="0">
                <a:latin typeface="Gabriola" pitchFamily="82" charset="0"/>
              </a:rPr>
              <a:t>lungs, </a:t>
            </a:r>
            <a:r>
              <a:rPr lang="en-GB" sz="2800" dirty="0">
                <a:latin typeface="Gabriola" pitchFamily="82" charset="0"/>
              </a:rPr>
              <a:t>which makes breathing even more difficult and can cause respiratory failure.</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74</a:t>
            </a:fld>
            <a:endParaRPr lang="en-GB"/>
          </a:p>
        </p:txBody>
      </p:sp>
    </p:spTree>
    <p:extLst>
      <p:ext uri="{BB962C8B-B14F-4D97-AF65-F5344CB8AC3E}">
        <p14:creationId xmlns:p14="http://schemas.microsoft.com/office/powerpoint/2010/main" val="11554510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692696"/>
            <a:ext cx="8496944" cy="5781256"/>
          </a:xfrm>
        </p:spPr>
        <p:txBody>
          <a:bodyPr>
            <a:normAutofit/>
          </a:bodyPr>
          <a:lstStyle/>
          <a:p>
            <a:pPr>
              <a:lnSpc>
                <a:spcPct val="150000"/>
              </a:lnSpc>
            </a:pPr>
            <a:r>
              <a:rPr lang="en-GB" sz="2600" b="1" dirty="0">
                <a:latin typeface="Gabriola" pitchFamily="82" charset="0"/>
              </a:rPr>
              <a:t>Systemic Effects (Toxicity):</a:t>
            </a:r>
            <a:endParaRPr lang="en-GB" sz="2600" dirty="0">
              <a:latin typeface="Gabriola" pitchFamily="82" charset="0"/>
            </a:endParaRPr>
          </a:p>
          <a:p>
            <a:pPr lvl="1">
              <a:lnSpc>
                <a:spcPct val="150000"/>
              </a:lnSpc>
            </a:pPr>
            <a:r>
              <a:rPr lang="en-GB" sz="2600" b="1" dirty="0">
                <a:latin typeface="Gabriola" pitchFamily="82" charset="0"/>
              </a:rPr>
              <a:t>Carbon Monoxide Poisoning:</a:t>
            </a:r>
            <a:r>
              <a:rPr lang="en-GB" sz="2600" dirty="0">
                <a:latin typeface="Gabriola" pitchFamily="82" charset="0"/>
              </a:rPr>
              <a:t> Carbon monoxide is a </a:t>
            </a:r>
            <a:r>
              <a:rPr lang="en-GB" sz="2600" dirty="0" err="1">
                <a:latin typeface="Gabriola" pitchFamily="82" charset="0"/>
              </a:rPr>
              <a:t>colorless</a:t>
            </a:r>
            <a:r>
              <a:rPr lang="en-GB" sz="2600" dirty="0">
                <a:latin typeface="Gabriola" pitchFamily="82" charset="0"/>
              </a:rPr>
              <a:t>, </a:t>
            </a:r>
            <a:r>
              <a:rPr lang="en-GB" sz="2600" dirty="0" err="1">
                <a:latin typeface="Gabriola" pitchFamily="82" charset="0"/>
              </a:rPr>
              <a:t>odorless</a:t>
            </a:r>
            <a:r>
              <a:rPr lang="en-GB" sz="2600" dirty="0">
                <a:latin typeface="Gabriola" pitchFamily="82" charset="0"/>
              </a:rPr>
              <a:t> gas that binds to </a:t>
            </a:r>
            <a:r>
              <a:rPr lang="en-GB" sz="2600" dirty="0" err="1">
                <a:latin typeface="Gabriola" pitchFamily="82" charset="0"/>
              </a:rPr>
              <a:t>hemoglobin</a:t>
            </a:r>
            <a:r>
              <a:rPr lang="en-GB" sz="2600" dirty="0">
                <a:latin typeface="Gabriola" pitchFamily="82" charset="0"/>
              </a:rPr>
              <a:t> more strongly than oxygen, reducing the blood's ability to carry oxygen. This leads to hypoxia (lack of oxygen) and may cause confusion, dizziness, or even loss of consciousness.</a:t>
            </a:r>
          </a:p>
          <a:p>
            <a:pPr lvl="1">
              <a:lnSpc>
                <a:spcPct val="150000"/>
              </a:lnSpc>
            </a:pPr>
            <a:r>
              <a:rPr lang="en-GB" sz="2600" b="1" dirty="0">
                <a:latin typeface="Gabriola" pitchFamily="82" charset="0"/>
              </a:rPr>
              <a:t>Cyanide Toxicity:</a:t>
            </a:r>
            <a:r>
              <a:rPr lang="en-GB" sz="2600" dirty="0">
                <a:latin typeface="Gabriola" pitchFamily="82" charset="0"/>
              </a:rPr>
              <a:t> Certain types of fires, especially those involving synthetic materials, can release hydrogen cyanide, a potent toxin that disrupts cellular respiration and can lead to metabolic acidosis and organ failure.</a:t>
            </a:r>
          </a:p>
          <a:p>
            <a:pPr>
              <a:lnSpc>
                <a:spcPct val="150000"/>
              </a:lnSpc>
            </a:pPr>
            <a:endParaRPr lang="en-GB" sz="26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75</a:t>
            </a:fld>
            <a:endParaRPr lang="en-GB"/>
          </a:p>
        </p:txBody>
      </p:sp>
    </p:spTree>
    <p:extLst>
      <p:ext uri="{BB962C8B-B14F-4D97-AF65-F5344CB8AC3E}">
        <p14:creationId xmlns:p14="http://schemas.microsoft.com/office/powerpoint/2010/main" val="32026649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208912" cy="648072"/>
          </a:xfrm>
        </p:spPr>
        <p:txBody>
          <a:bodyPr>
            <a:noAutofit/>
          </a:bodyPr>
          <a:lstStyle/>
          <a:p>
            <a:r>
              <a:rPr lang="en-GB" sz="2800" b="1" dirty="0" smtClean="0">
                <a:solidFill>
                  <a:schemeClr val="tx1"/>
                </a:solidFill>
                <a:latin typeface="Times" pitchFamily="18" charset="0"/>
              </a:rPr>
              <a:t>Risk factors for inhalational </a:t>
            </a:r>
            <a:r>
              <a:rPr lang="en-GB" sz="2800" b="1" dirty="0">
                <a:solidFill>
                  <a:schemeClr val="tx1"/>
                </a:solidFill>
                <a:latin typeface="Times" pitchFamily="18" charset="0"/>
              </a:rPr>
              <a:t>B</a:t>
            </a:r>
            <a:r>
              <a:rPr lang="en-GB" sz="2800" b="1" dirty="0" smtClean="0">
                <a:solidFill>
                  <a:schemeClr val="tx1"/>
                </a:solidFill>
                <a:latin typeface="Times" pitchFamily="18" charset="0"/>
              </a:rPr>
              <a:t>urns</a:t>
            </a:r>
            <a:endParaRPr lang="en-GB" sz="2800" b="1" dirty="0">
              <a:solidFill>
                <a:schemeClr val="tx1"/>
              </a:solidFill>
              <a:latin typeface="Times" pitchFamily="18" charset="0"/>
            </a:endParaRPr>
          </a:p>
        </p:txBody>
      </p:sp>
      <p:sp>
        <p:nvSpPr>
          <p:cNvPr id="3" name="Content Placeholder 2"/>
          <p:cNvSpPr>
            <a:spLocks noGrp="1"/>
          </p:cNvSpPr>
          <p:nvPr>
            <p:ph sz="quarter" idx="1"/>
          </p:nvPr>
        </p:nvSpPr>
        <p:spPr>
          <a:xfrm>
            <a:off x="179512" y="908720"/>
            <a:ext cx="8640960" cy="5565232"/>
          </a:xfrm>
        </p:spPr>
        <p:txBody>
          <a:bodyPr>
            <a:noAutofit/>
          </a:bodyPr>
          <a:lstStyle/>
          <a:p>
            <a:pPr>
              <a:lnSpc>
                <a:spcPct val="150000"/>
              </a:lnSpc>
            </a:pPr>
            <a:r>
              <a:rPr lang="en-GB" b="1" dirty="0" smtClean="0">
                <a:latin typeface="Gabriola" pitchFamily="82" charset="0"/>
              </a:rPr>
              <a:t>Proximity </a:t>
            </a:r>
            <a:r>
              <a:rPr lang="en-GB" b="1" dirty="0">
                <a:latin typeface="Gabriola" pitchFamily="82" charset="0"/>
              </a:rPr>
              <a:t>to Fire or Explosion:</a:t>
            </a:r>
            <a:endParaRPr lang="en-GB" dirty="0">
              <a:latin typeface="Gabriola" pitchFamily="82" charset="0"/>
            </a:endParaRPr>
          </a:p>
          <a:p>
            <a:pPr lvl="1">
              <a:lnSpc>
                <a:spcPct val="150000"/>
              </a:lnSpc>
            </a:pPr>
            <a:r>
              <a:rPr lang="en-GB" sz="2400" dirty="0">
                <a:latin typeface="Gabriola" pitchFamily="82" charset="0"/>
              </a:rPr>
              <a:t>Individuals trapped in confined spaces during fires or explosions are at higher risk of inhalational burns due to the increased exposure to hot gases and smoke.</a:t>
            </a:r>
          </a:p>
          <a:p>
            <a:pPr>
              <a:lnSpc>
                <a:spcPct val="150000"/>
              </a:lnSpc>
            </a:pPr>
            <a:r>
              <a:rPr lang="en-GB" b="1" dirty="0">
                <a:latin typeface="Gabriola" pitchFamily="82" charset="0"/>
              </a:rPr>
              <a:t>Type of Fire:</a:t>
            </a:r>
            <a:endParaRPr lang="en-GB" dirty="0">
              <a:latin typeface="Gabriola" pitchFamily="82" charset="0"/>
            </a:endParaRPr>
          </a:p>
          <a:p>
            <a:pPr lvl="1">
              <a:lnSpc>
                <a:spcPct val="150000"/>
              </a:lnSpc>
            </a:pPr>
            <a:r>
              <a:rPr lang="en-GB" sz="2400" b="1" dirty="0">
                <a:latin typeface="Gabriola" pitchFamily="82" charset="0"/>
              </a:rPr>
              <a:t>Closed-Structure Fires:</a:t>
            </a:r>
            <a:r>
              <a:rPr lang="en-GB" sz="2400" dirty="0">
                <a:latin typeface="Gabriola" pitchFamily="82" charset="0"/>
              </a:rPr>
              <a:t> Fires in enclosed spaces (e.g., buildings, cars, or ships) pose a higher risk of inhalational burns due to the concentration of toxic gases and smoke.</a:t>
            </a:r>
          </a:p>
          <a:p>
            <a:pPr lvl="1">
              <a:lnSpc>
                <a:spcPct val="150000"/>
              </a:lnSpc>
            </a:pPr>
            <a:r>
              <a:rPr lang="en-GB" sz="2400" b="1" dirty="0">
                <a:latin typeface="Gabriola" pitchFamily="82" charset="0"/>
              </a:rPr>
              <a:t>Material Being Burned:</a:t>
            </a:r>
            <a:r>
              <a:rPr lang="en-GB" sz="2400" dirty="0">
                <a:latin typeface="Gabriola" pitchFamily="82" charset="0"/>
              </a:rPr>
              <a:t> The burning of plastics, rubber, or synthetic materials increases the production of toxic gases like carbon monoxide and hydrogen cyanide</a:t>
            </a:r>
            <a:r>
              <a:rPr lang="en-GB" sz="2400" dirty="0" smtClean="0">
                <a:latin typeface="Gabriola" pitchFamily="82" charset="0"/>
              </a:rPr>
              <a:t>.</a:t>
            </a:r>
            <a:endParaRPr lang="en-GB" sz="24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76</a:t>
            </a:fld>
            <a:endParaRPr lang="en-GB"/>
          </a:p>
        </p:txBody>
      </p:sp>
    </p:spTree>
    <p:extLst>
      <p:ext uri="{BB962C8B-B14F-4D97-AF65-F5344CB8AC3E}">
        <p14:creationId xmlns:p14="http://schemas.microsoft.com/office/powerpoint/2010/main" val="3010128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352928" cy="620688"/>
          </a:xfrm>
        </p:spPr>
        <p:txBody>
          <a:bodyPr>
            <a:normAutofit/>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404664"/>
            <a:ext cx="8712968" cy="6069288"/>
          </a:xfrm>
        </p:spPr>
        <p:txBody>
          <a:bodyPr>
            <a:normAutofit/>
          </a:bodyPr>
          <a:lstStyle/>
          <a:p>
            <a:pPr>
              <a:lnSpc>
                <a:spcPct val="150000"/>
              </a:lnSpc>
            </a:pPr>
            <a:r>
              <a:rPr lang="en-GB" sz="2600" b="1" dirty="0">
                <a:latin typeface="Gabriola" pitchFamily="82" charset="0"/>
              </a:rPr>
              <a:t>Duration of Exposure:</a:t>
            </a:r>
            <a:endParaRPr lang="en-GB" sz="2600" dirty="0">
              <a:latin typeface="Gabriola" pitchFamily="82" charset="0"/>
            </a:endParaRPr>
          </a:p>
          <a:p>
            <a:pPr lvl="1">
              <a:lnSpc>
                <a:spcPct val="150000"/>
              </a:lnSpc>
            </a:pPr>
            <a:r>
              <a:rPr lang="en-GB" sz="2600" dirty="0">
                <a:latin typeface="Gabriola" pitchFamily="82" charset="0"/>
              </a:rPr>
              <a:t>The longer a person is exposed to heat, smoke, or toxic gases, the higher the likelihood of sustaining inhalational injuries.</a:t>
            </a:r>
          </a:p>
          <a:p>
            <a:pPr>
              <a:lnSpc>
                <a:spcPct val="150000"/>
              </a:lnSpc>
            </a:pPr>
            <a:r>
              <a:rPr lang="en-GB" sz="2600" b="1" dirty="0">
                <a:latin typeface="Gabriola" pitchFamily="82" charset="0"/>
              </a:rPr>
              <a:t>Age and Health Status:</a:t>
            </a:r>
            <a:endParaRPr lang="en-GB" sz="2600" dirty="0">
              <a:latin typeface="Gabriola" pitchFamily="82" charset="0"/>
            </a:endParaRPr>
          </a:p>
          <a:p>
            <a:pPr lvl="1">
              <a:lnSpc>
                <a:spcPct val="150000"/>
              </a:lnSpc>
            </a:pPr>
            <a:r>
              <a:rPr lang="en-GB" sz="2600" b="1" dirty="0">
                <a:latin typeface="Gabriola" pitchFamily="82" charset="0"/>
              </a:rPr>
              <a:t>Children and Elderly:</a:t>
            </a:r>
            <a:r>
              <a:rPr lang="en-GB" sz="2600" dirty="0">
                <a:latin typeface="Gabriola" pitchFamily="82" charset="0"/>
              </a:rPr>
              <a:t> These groups are more vulnerable due to smaller airways, weaker immune systems, and less efficient clearance of toxins.</a:t>
            </a:r>
          </a:p>
          <a:p>
            <a:pPr lvl="1">
              <a:lnSpc>
                <a:spcPct val="150000"/>
              </a:lnSpc>
            </a:pPr>
            <a:r>
              <a:rPr lang="en-GB" sz="2600" b="1" dirty="0" err="1">
                <a:latin typeface="Gabriola" pitchFamily="82" charset="0"/>
              </a:rPr>
              <a:t>Preexisting</a:t>
            </a:r>
            <a:r>
              <a:rPr lang="en-GB" sz="2600" b="1" dirty="0">
                <a:latin typeface="Gabriola" pitchFamily="82" charset="0"/>
              </a:rPr>
              <a:t> Respiratory Conditions:</a:t>
            </a:r>
            <a:r>
              <a:rPr lang="en-GB" sz="2600" dirty="0">
                <a:latin typeface="Gabriola" pitchFamily="82" charset="0"/>
              </a:rPr>
              <a:t> Individuals with asthma, chronic obstructive pulmonary disease (COPD), or other respiratory illnesses are at higher risk of severe complications from inhalational burns.</a:t>
            </a:r>
          </a:p>
          <a:p>
            <a:pPr>
              <a:lnSpc>
                <a:spcPct val="150000"/>
              </a:lnSpc>
            </a:pPr>
            <a:endParaRPr lang="en-GB" dirty="0">
              <a:latin typeface="Gabriola" pitchFamily="82" charset="0"/>
            </a:endParaRP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77</a:t>
            </a:fld>
            <a:endParaRPr lang="en-GB"/>
          </a:p>
        </p:txBody>
      </p:sp>
    </p:spTree>
    <p:extLst>
      <p:ext uri="{BB962C8B-B14F-4D97-AF65-F5344CB8AC3E}">
        <p14:creationId xmlns:p14="http://schemas.microsoft.com/office/powerpoint/2010/main" val="550075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490066"/>
          </a:xfrm>
        </p:spPr>
        <p:txBody>
          <a:bodyPr>
            <a:noAutofit/>
          </a:bodyPr>
          <a:lstStyle/>
          <a:p>
            <a:r>
              <a:rPr lang="en-GB" sz="2800" b="1" dirty="0" smtClean="0">
                <a:solidFill>
                  <a:schemeClr val="tx1"/>
                </a:solidFill>
                <a:latin typeface="Times" pitchFamily="18" charset="0"/>
              </a:rPr>
              <a:t>Clinical feature of inhalational burn</a:t>
            </a:r>
            <a:endParaRPr lang="en-GB" sz="2800" b="1" dirty="0">
              <a:solidFill>
                <a:schemeClr val="tx1"/>
              </a:solidFill>
              <a:latin typeface="Times" pitchFamily="18" charset="0"/>
            </a:endParaRPr>
          </a:p>
        </p:txBody>
      </p:sp>
      <p:sp>
        <p:nvSpPr>
          <p:cNvPr id="3" name="Slide Number Placeholder 2"/>
          <p:cNvSpPr>
            <a:spLocks noGrp="1"/>
          </p:cNvSpPr>
          <p:nvPr>
            <p:ph type="sldNum" sz="quarter" idx="12"/>
          </p:nvPr>
        </p:nvSpPr>
        <p:spPr/>
        <p:txBody>
          <a:bodyPr/>
          <a:lstStyle/>
          <a:p>
            <a:fld id="{968CA758-BC7F-4AFE-853F-5D1E39DDFDA0}" type="slidenum">
              <a:rPr lang="en-GB" smtClean="0"/>
              <a:t>78</a:t>
            </a:fld>
            <a:endParaRPr lang="en-GB"/>
          </a:p>
        </p:txBody>
      </p:sp>
      <p:sp>
        <p:nvSpPr>
          <p:cNvPr id="4" name="Content Placeholder 3"/>
          <p:cNvSpPr>
            <a:spLocks noGrp="1"/>
          </p:cNvSpPr>
          <p:nvPr>
            <p:ph sz="quarter" idx="1"/>
          </p:nvPr>
        </p:nvSpPr>
        <p:spPr>
          <a:xfrm>
            <a:off x="251520" y="1052736"/>
            <a:ext cx="4032448" cy="5544616"/>
          </a:xfrm>
        </p:spPr>
        <p:txBody>
          <a:bodyPr>
            <a:normAutofit/>
          </a:bodyPr>
          <a:lstStyle/>
          <a:p>
            <a:pPr>
              <a:lnSpc>
                <a:spcPct val="150000"/>
              </a:lnSpc>
            </a:pPr>
            <a:r>
              <a:rPr lang="en-GB" b="1" dirty="0">
                <a:latin typeface="Gabriola" pitchFamily="82" charset="0"/>
              </a:rPr>
              <a:t>Upper Airway Injury Symptoms:</a:t>
            </a:r>
            <a:endParaRPr lang="en-GB" dirty="0">
              <a:latin typeface="Gabriola" pitchFamily="82" charset="0"/>
            </a:endParaRPr>
          </a:p>
          <a:p>
            <a:pPr lvl="1">
              <a:lnSpc>
                <a:spcPct val="150000"/>
              </a:lnSpc>
            </a:pPr>
            <a:r>
              <a:rPr lang="en-GB" sz="2400" dirty="0">
                <a:latin typeface="Gabriola" pitchFamily="82" charset="0"/>
              </a:rPr>
              <a:t>Coughing</a:t>
            </a:r>
          </a:p>
          <a:p>
            <a:pPr lvl="1">
              <a:lnSpc>
                <a:spcPct val="150000"/>
              </a:lnSpc>
            </a:pPr>
            <a:r>
              <a:rPr lang="en-GB" sz="2400" dirty="0">
                <a:latin typeface="Gabriola" pitchFamily="82" charset="0"/>
              </a:rPr>
              <a:t>Hoarseness</a:t>
            </a:r>
          </a:p>
          <a:p>
            <a:pPr lvl="1">
              <a:lnSpc>
                <a:spcPct val="150000"/>
              </a:lnSpc>
            </a:pPr>
            <a:r>
              <a:rPr lang="en-GB" sz="2400" dirty="0">
                <a:latin typeface="Gabriola" pitchFamily="82" charset="0"/>
              </a:rPr>
              <a:t>Difficulty swallowing</a:t>
            </a:r>
          </a:p>
          <a:p>
            <a:pPr lvl="1">
              <a:lnSpc>
                <a:spcPct val="150000"/>
              </a:lnSpc>
            </a:pPr>
            <a:r>
              <a:rPr lang="en-GB" sz="2400" dirty="0">
                <a:latin typeface="Gabriola" pitchFamily="82" charset="0"/>
              </a:rPr>
              <a:t>Sore throat or pain when breathing</a:t>
            </a:r>
          </a:p>
          <a:p>
            <a:pPr lvl="1">
              <a:lnSpc>
                <a:spcPct val="150000"/>
              </a:lnSpc>
            </a:pPr>
            <a:r>
              <a:rPr lang="en-GB" sz="2400" dirty="0">
                <a:latin typeface="Gabriola" pitchFamily="82" charset="0"/>
              </a:rPr>
              <a:t>Swelling of the face or neck</a:t>
            </a:r>
          </a:p>
          <a:p>
            <a:pPr lvl="1">
              <a:lnSpc>
                <a:spcPct val="150000"/>
              </a:lnSpc>
            </a:pPr>
            <a:r>
              <a:rPr lang="en-GB" sz="2400" dirty="0">
                <a:latin typeface="Gabriola" pitchFamily="82" charset="0"/>
              </a:rPr>
              <a:t>Stridor (high-pitched wheezing sound)</a:t>
            </a:r>
          </a:p>
          <a:p>
            <a:pPr>
              <a:lnSpc>
                <a:spcPct val="150000"/>
              </a:lnSpc>
            </a:pPr>
            <a:endParaRPr lang="en-GB" dirty="0">
              <a:latin typeface="Gabriola" pitchFamily="82" charset="0"/>
            </a:endParaRPr>
          </a:p>
        </p:txBody>
      </p:sp>
      <p:sp>
        <p:nvSpPr>
          <p:cNvPr id="5" name="Content Placeholder 4"/>
          <p:cNvSpPr>
            <a:spLocks noGrp="1"/>
          </p:cNvSpPr>
          <p:nvPr>
            <p:ph sz="quarter" idx="2"/>
          </p:nvPr>
        </p:nvSpPr>
        <p:spPr>
          <a:xfrm>
            <a:off x="4716016" y="764704"/>
            <a:ext cx="4032448" cy="5904656"/>
          </a:xfrm>
        </p:spPr>
        <p:txBody>
          <a:bodyPr>
            <a:normAutofit/>
          </a:bodyPr>
          <a:lstStyle/>
          <a:p>
            <a:pPr>
              <a:lnSpc>
                <a:spcPct val="150000"/>
              </a:lnSpc>
            </a:pPr>
            <a:r>
              <a:rPr lang="en-GB" b="1" dirty="0">
                <a:latin typeface="Gabriola" pitchFamily="82" charset="0"/>
              </a:rPr>
              <a:t>Lower Airway Injury Symptoms:</a:t>
            </a:r>
            <a:endParaRPr lang="en-GB" dirty="0">
              <a:latin typeface="Gabriola" pitchFamily="82" charset="0"/>
            </a:endParaRPr>
          </a:p>
          <a:p>
            <a:pPr lvl="1">
              <a:lnSpc>
                <a:spcPct val="150000"/>
              </a:lnSpc>
            </a:pPr>
            <a:r>
              <a:rPr lang="en-GB" sz="2400" dirty="0">
                <a:latin typeface="Gabriola" pitchFamily="82" charset="0"/>
              </a:rPr>
              <a:t>Shortness of breath or </a:t>
            </a:r>
            <a:r>
              <a:rPr lang="en-GB" sz="2400" dirty="0" err="1">
                <a:latin typeface="Gabriola" pitchFamily="82" charset="0"/>
              </a:rPr>
              <a:t>labored</a:t>
            </a:r>
            <a:r>
              <a:rPr lang="en-GB" sz="2400" dirty="0">
                <a:latin typeface="Gabriola" pitchFamily="82" charset="0"/>
              </a:rPr>
              <a:t> breathing</a:t>
            </a:r>
          </a:p>
          <a:p>
            <a:pPr lvl="1">
              <a:lnSpc>
                <a:spcPct val="150000"/>
              </a:lnSpc>
            </a:pPr>
            <a:r>
              <a:rPr lang="en-GB" sz="2400" dirty="0">
                <a:latin typeface="Gabriola" pitchFamily="82" charset="0"/>
              </a:rPr>
              <a:t>Wheezing or crackling sounds in the lungs</a:t>
            </a:r>
          </a:p>
          <a:p>
            <a:pPr lvl="1">
              <a:lnSpc>
                <a:spcPct val="150000"/>
              </a:lnSpc>
            </a:pPr>
            <a:r>
              <a:rPr lang="en-GB" sz="2400" dirty="0">
                <a:latin typeface="Gabriola" pitchFamily="82" charset="0"/>
              </a:rPr>
              <a:t>Chest pain or tightness</a:t>
            </a:r>
          </a:p>
          <a:p>
            <a:pPr lvl="1">
              <a:lnSpc>
                <a:spcPct val="150000"/>
              </a:lnSpc>
            </a:pPr>
            <a:r>
              <a:rPr lang="en-GB" sz="2400" dirty="0">
                <a:latin typeface="Gabriola" pitchFamily="82" charset="0"/>
              </a:rPr>
              <a:t>Cyanosis (bluish discoloration of the skin due to low oxygen levels)</a:t>
            </a:r>
          </a:p>
          <a:p>
            <a:pPr>
              <a:lnSpc>
                <a:spcPct val="150000"/>
              </a:lnSpc>
            </a:pPr>
            <a:endParaRPr lang="en-GB" dirty="0">
              <a:latin typeface="Gabriola" pitchFamily="82" charset="0"/>
            </a:endParaRPr>
          </a:p>
        </p:txBody>
      </p:sp>
    </p:spTree>
    <p:extLst>
      <p:ext uri="{BB962C8B-B14F-4D97-AF65-F5344CB8AC3E}">
        <p14:creationId xmlns:p14="http://schemas.microsoft.com/office/powerpoint/2010/main" val="14947659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745288" cy="634082"/>
          </a:xfrm>
        </p:spPr>
        <p:txBody>
          <a:bodyPr/>
          <a:lstStyle/>
          <a:p>
            <a:r>
              <a:rPr lang="en-GB" b="1" dirty="0" smtClean="0">
                <a:latin typeface="Times" pitchFamily="18" charset="0"/>
              </a:rPr>
              <a:t>Diagnosis of inhalational burns </a:t>
            </a:r>
            <a:endParaRPr lang="en-GB" b="1" dirty="0">
              <a:latin typeface="Times" pitchFamily="18" charset="0"/>
            </a:endParaRPr>
          </a:p>
        </p:txBody>
      </p:sp>
      <p:sp>
        <p:nvSpPr>
          <p:cNvPr id="3" name="Content Placeholder 2"/>
          <p:cNvSpPr>
            <a:spLocks noGrp="1"/>
          </p:cNvSpPr>
          <p:nvPr>
            <p:ph sz="quarter" idx="1"/>
          </p:nvPr>
        </p:nvSpPr>
        <p:spPr>
          <a:xfrm>
            <a:off x="179512" y="980728"/>
            <a:ext cx="8568952" cy="5493224"/>
          </a:xfrm>
        </p:spPr>
        <p:txBody>
          <a:bodyPr>
            <a:noAutofit/>
          </a:bodyPr>
          <a:lstStyle/>
          <a:p>
            <a:pPr>
              <a:lnSpc>
                <a:spcPct val="150000"/>
              </a:lnSpc>
            </a:pPr>
            <a:r>
              <a:rPr lang="en-GB" sz="2800" b="1" dirty="0" smtClean="0">
                <a:latin typeface="Gabriola" pitchFamily="82" charset="0"/>
              </a:rPr>
              <a:t>History </a:t>
            </a:r>
            <a:r>
              <a:rPr lang="en-GB" sz="2800" b="1" dirty="0">
                <a:latin typeface="Gabriola" pitchFamily="82" charset="0"/>
              </a:rPr>
              <a:t>and Clinical Examination:</a:t>
            </a:r>
            <a:endParaRPr lang="en-GB" sz="2800" dirty="0">
              <a:latin typeface="Gabriola" pitchFamily="82" charset="0"/>
            </a:endParaRPr>
          </a:p>
          <a:p>
            <a:pPr lvl="1">
              <a:lnSpc>
                <a:spcPct val="150000"/>
              </a:lnSpc>
            </a:pPr>
            <a:r>
              <a:rPr lang="en-GB" sz="2800" dirty="0">
                <a:latin typeface="Gabriola" pitchFamily="82" charset="0"/>
              </a:rPr>
              <a:t>A detailed history of the fire or explosion incident, including the type of environment (enclosed vs. open), the duration of exposure, and the materials involved, is crucial in diagnosis.</a:t>
            </a:r>
          </a:p>
          <a:p>
            <a:pPr>
              <a:lnSpc>
                <a:spcPct val="150000"/>
              </a:lnSpc>
            </a:pPr>
            <a:r>
              <a:rPr lang="en-GB" sz="2800" b="1" dirty="0">
                <a:latin typeface="Gabriola" pitchFamily="82" charset="0"/>
              </a:rPr>
              <a:t>Physical Examination:</a:t>
            </a:r>
            <a:endParaRPr lang="en-GB" sz="2800" dirty="0">
              <a:latin typeface="Gabriola" pitchFamily="82" charset="0"/>
            </a:endParaRPr>
          </a:p>
          <a:p>
            <a:pPr lvl="1">
              <a:lnSpc>
                <a:spcPct val="150000"/>
              </a:lnSpc>
            </a:pPr>
            <a:r>
              <a:rPr lang="en-GB" sz="2800" dirty="0">
                <a:latin typeface="Gabriola" pitchFamily="82" charset="0"/>
              </a:rPr>
              <a:t>Signs of respiratory distress, hoarseness, or facial burns.</a:t>
            </a:r>
          </a:p>
          <a:p>
            <a:pPr lvl="1">
              <a:lnSpc>
                <a:spcPct val="150000"/>
              </a:lnSpc>
            </a:pPr>
            <a:r>
              <a:rPr lang="en-GB" sz="2800" dirty="0">
                <a:latin typeface="Gabriola" pitchFamily="82" charset="0"/>
              </a:rPr>
              <a:t>The presence of soot in the mouth, nose, or sputum may suggest inhalation of smoke or particulate matter.</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79</a:t>
            </a:fld>
            <a:endParaRPr lang="en-GB"/>
          </a:p>
        </p:txBody>
      </p:sp>
    </p:spTree>
    <p:extLst>
      <p:ext uri="{BB962C8B-B14F-4D97-AF65-F5344CB8AC3E}">
        <p14:creationId xmlns:p14="http://schemas.microsoft.com/office/powerpoint/2010/main" val="16454420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7601272" cy="634082"/>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836712"/>
            <a:ext cx="8136904" cy="5328592"/>
          </a:xfrm>
        </p:spPr>
        <p:txBody>
          <a:bodyPr>
            <a:noAutofit/>
          </a:bodyPr>
          <a:lstStyle/>
          <a:p>
            <a:pPr>
              <a:lnSpc>
                <a:spcPct val="150000"/>
              </a:lnSpc>
            </a:pPr>
            <a:r>
              <a:rPr lang="en-GB" sz="2200" b="1" dirty="0">
                <a:latin typeface="Gabriola" pitchFamily="82" charset="0"/>
              </a:rPr>
              <a:t>Imaging:</a:t>
            </a:r>
            <a:endParaRPr lang="en-GB" sz="2200" dirty="0">
              <a:latin typeface="Gabriola" pitchFamily="82" charset="0"/>
            </a:endParaRPr>
          </a:p>
          <a:p>
            <a:pPr lvl="1">
              <a:lnSpc>
                <a:spcPct val="150000"/>
              </a:lnSpc>
            </a:pPr>
            <a:r>
              <a:rPr lang="en-GB" sz="2200" b="1" dirty="0">
                <a:latin typeface="Gabriola" pitchFamily="82" charset="0"/>
              </a:rPr>
              <a:t>Chest X-ray:</a:t>
            </a:r>
            <a:r>
              <a:rPr lang="en-GB" sz="2200" dirty="0">
                <a:latin typeface="Gabriola" pitchFamily="82" charset="0"/>
              </a:rPr>
              <a:t> To detect signs of pulmonary </a:t>
            </a:r>
            <a:r>
              <a:rPr lang="en-GB" sz="2200" dirty="0" err="1">
                <a:latin typeface="Gabriola" pitchFamily="82" charset="0"/>
              </a:rPr>
              <a:t>edema</a:t>
            </a:r>
            <a:r>
              <a:rPr lang="en-GB" sz="2200" dirty="0">
                <a:latin typeface="Gabriola" pitchFamily="82" charset="0"/>
              </a:rPr>
              <a:t>, aspiration, or other lung injuries.</a:t>
            </a:r>
          </a:p>
          <a:p>
            <a:pPr lvl="1">
              <a:lnSpc>
                <a:spcPct val="150000"/>
              </a:lnSpc>
            </a:pPr>
            <a:r>
              <a:rPr lang="en-GB" sz="2200" b="1" dirty="0">
                <a:latin typeface="Gabriola" pitchFamily="82" charset="0"/>
              </a:rPr>
              <a:t>CT Scan:</a:t>
            </a:r>
            <a:r>
              <a:rPr lang="en-GB" sz="2200" dirty="0">
                <a:latin typeface="Gabriola" pitchFamily="82" charset="0"/>
              </a:rPr>
              <a:t> In some cases, a more detailed view of the lungs may be needed to assess the extent of the damage.</a:t>
            </a:r>
          </a:p>
          <a:p>
            <a:pPr>
              <a:lnSpc>
                <a:spcPct val="150000"/>
              </a:lnSpc>
            </a:pPr>
            <a:r>
              <a:rPr lang="en-GB" sz="2200" b="1" dirty="0">
                <a:latin typeface="Gabriola" pitchFamily="82" charset="0"/>
              </a:rPr>
              <a:t>Blood Tests:</a:t>
            </a:r>
            <a:endParaRPr lang="en-GB" sz="2200" dirty="0">
              <a:latin typeface="Gabriola" pitchFamily="82" charset="0"/>
            </a:endParaRPr>
          </a:p>
          <a:p>
            <a:pPr lvl="1">
              <a:lnSpc>
                <a:spcPct val="150000"/>
              </a:lnSpc>
            </a:pPr>
            <a:r>
              <a:rPr lang="en-GB" sz="2200" b="1" dirty="0" err="1">
                <a:latin typeface="Gabriola" pitchFamily="82" charset="0"/>
              </a:rPr>
              <a:t>Carboxyhemoglobin</a:t>
            </a:r>
            <a:r>
              <a:rPr lang="en-GB" sz="2200" b="1" dirty="0">
                <a:latin typeface="Gabriola" pitchFamily="82" charset="0"/>
              </a:rPr>
              <a:t> levels:</a:t>
            </a:r>
            <a:r>
              <a:rPr lang="en-GB" sz="2200" dirty="0">
                <a:latin typeface="Gabriola" pitchFamily="82" charset="0"/>
              </a:rPr>
              <a:t> To assess carbon monoxide poisoning.</a:t>
            </a:r>
          </a:p>
          <a:p>
            <a:pPr lvl="1">
              <a:lnSpc>
                <a:spcPct val="150000"/>
              </a:lnSpc>
            </a:pPr>
            <a:r>
              <a:rPr lang="en-GB" sz="2200" b="1" dirty="0">
                <a:latin typeface="Gabriola" pitchFamily="82" charset="0"/>
              </a:rPr>
              <a:t>Arterial blood gas (ABG):</a:t>
            </a:r>
            <a:r>
              <a:rPr lang="en-GB" sz="2200" dirty="0">
                <a:latin typeface="Gabriola" pitchFamily="82" charset="0"/>
              </a:rPr>
              <a:t> To evaluate oxygen levels, carbon dioxide levels, and acid-base balance.</a:t>
            </a:r>
          </a:p>
          <a:p>
            <a:pPr lvl="1">
              <a:lnSpc>
                <a:spcPct val="150000"/>
              </a:lnSpc>
            </a:pPr>
            <a:r>
              <a:rPr lang="en-GB" sz="2200" b="1" dirty="0">
                <a:latin typeface="Gabriola" pitchFamily="82" charset="0"/>
              </a:rPr>
              <a:t>Cyanide levels:</a:t>
            </a:r>
            <a:r>
              <a:rPr lang="en-GB" sz="2200" dirty="0">
                <a:latin typeface="Gabriola" pitchFamily="82" charset="0"/>
              </a:rPr>
              <a:t> If cyanide exposure is suspected, testing for cyanide poisoning may be performed.</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80</a:t>
            </a:fld>
            <a:endParaRPr lang="en-GB"/>
          </a:p>
        </p:txBody>
      </p:sp>
    </p:spTree>
    <p:extLst>
      <p:ext uri="{BB962C8B-B14F-4D97-AF65-F5344CB8AC3E}">
        <p14:creationId xmlns:p14="http://schemas.microsoft.com/office/powerpoint/2010/main" val="15083320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992888" cy="778098"/>
          </a:xfrm>
        </p:spPr>
        <p:txBody>
          <a:bodyPr/>
          <a:lstStyle/>
          <a:p>
            <a:r>
              <a:rPr lang="en-GB" b="1" dirty="0" smtClean="0">
                <a:solidFill>
                  <a:schemeClr val="tx1"/>
                </a:solidFill>
                <a:latin typeface="Times" pitchFamily="18" charset="0"/>
              </a:rPr>
              <a:t>Management of inhalational burns </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251520" y="1052736"/>
            <a:ext cx="8424936" cy="5421216"/>
          </a:xfrm>
        </p:spPr>
        <p:txBody>
          <a:bodyPr>
            <a:normAutofit/>
          </a:bodyPr>
          <a:lstStyle/>
          <a:p>
            <a:pPr>
              <a:lnSpc>
                <a:spcPct val="150000"/>
              </a:lnSpc>
            </a:pPr>
            <a:r>
              <a:rPr lang="en-GB" sz="2600" b="1" dirty="0" smtClean="0">
                <a:latin typeface="Gabriola" pitchFamily="82" charset="0"/>
              </a:rPr>
              <a:t>Immediate </a:t>
            </a:r>
            <a:r>
              <a:rPr lang="en-GB" sz="2600" b="1" dirty="0">
                <a:latin typeface="Gabriola" pitchFamily="82" charset="0"/>
              </a:rPr>
              <a:t>Care:</a:t>
            </a:r>
            <a:endParaRPr lang="en-GB" sz="2600" dirty="0">
              <a:latin typeface="Gabriola" pitchFamily="82" charset="0"/>
            </a:endParaRPr>
          </a:p>
          <a:p>
            <a:pPr lvl="1">
              <a:lnSpc>
                <a:spcPct val="150000"/>
              </a:lnSpc>
            </a:pPr>
            <a:r>
              <a:rPr lang="en-GB" sz="2600" b="1" dirty="0">
                <a:latin typeface="Gabriola" pitchFamily="82" charset="0"/>
              </a:rPr>
              <a:t>Airway Protection:</a:t>
            </a:r>
            <a:r>
              <a:rPr lang="en-GB" sz="2600" dirty="0">
                <a:latin typeface="Gabriola" pitchFamily="82" charset="0"/>
              </a:rPr>
              <a:t> Ensure the airway is open and protected. Intubation may be required if there is significant swelling or obstruction.</a:t>
            </a:r>
          </a:p>
          <a:p>
            <a:pPr lvl="1">
              <a:lnSpc>
                <a:spcPct val="150000"/>
              </a:lnSpc>
            </a:pPr>
            <a:r>
              <a:rPr lang="en-GB" sz="2600" b="1" dirty="0">
                <a:latin typeface="Gabriola" pitchFamily="82" charset="0"/>
              </a:rPr>
              <a:t>Oxygen Therapy:</a:t>
            </a:r>
            <a:r>
              <a:rPr lang="en-GB" sz="2600" dirty="0">
                <a:latin typeface="Gabriola" pitchFamily="82" charset="0"/>
              </a:rPr>
              <a:t> High-flow oxygen is essential, especially for carbon monoxide poisoning. In severe cases, </a:t>
            </a:r>
            <a:r>
              <a:rPr lang="en-GB" sz="2600" b="1" dirty="0">
                <a:latin typeface="Gabriola" pitchFamily="82" charset="0"/>
              </a:rPr>
              <a:t>hyperbaric oxygen therapy</a:t>
            </a:r>
            <a:r>
              <a:rPr lang="en-GB" sz="2600" dirty="0">
                <a:latin typeface="Gabriola" pitchFamily="82" charset="0"/>
              </a:rPr>
              <a:t> may be necessary.</a:t>
            </a:r>
          </a:p>
          <a:p>
            <a:pPr lvl="1">
              <a:lnSpc>
                <a:spcPct val="150000"/>
              </a:lnSpc>
            </a:pPr>
            <a:r>
              <a:rPr lang="en-GB" sz="2600" b="1" dirty="0">
                <a:latin typeface="Gabriola" pitchFamily="82" charset="0"/>
              </a:rPr>
              <a:t>Ventilation Support:</a:t>
            </a:r>
            <a:r>
              <a:rPr lang="en-GB" sz="2600" dirty="0">
                <a:latin typeface="Gabriola" pitchFamily="82" charset="0"/>
              </a:rPr>
              <a:t> Mechanical ventilation may be needed for patients with respiratory failure or severe inhalational injuries</a:t>
            </a:r>
            <a:r>
              <a:rPr lang="en-GB" sz="2600" dirty="0" smtClean="0">
                <a:latin typeface="Gabriola" pitchFamily="82" charset="0"/>
              </a:rPr>
              <a:t>.</a:t>
            </a:r>
            <a:endParaRPr lang="en-GB" sz="26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81</a:t>
            </a:fld>
            <a:endParaRPr lang="en-GB"/>
          </a:p>
        </p:txBody>
      </p:sp>
    </p:spTree>
    <p:extLst>
      <p:ext uri="{BB962C8B-B14F-4D97-AF65-F5344CB8AC3E}">
        <p14:creationId xmlns:p14="http://schemas.microsoft.com/office/powerpoint/2010/main" val="11527227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9006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23528" y="692696"/>
            <a:ext cx="7992888" cy="5781256"/>
          </a:xfrm>
        </p:spPr>
        <p:txBody>
          <a:bodyPr>
            <a:normAutofit/>
          </a:bodyPr>
          <a:lstStyle/>
          <a:p>
            <a:pPr>
              <a:lnSpc>
                <a:spcPct val="150000"/>
              </a:lnSpc>
            </a:pPr>
            <a:r>
              <a:rPr lang="en-GB" sz="2600" b="1" dirty="0">
                <a:latin typeface="Gabriola" pitchFamily="82" charset="0"/>
              </a:rPr>
              <a:t>Decontamination:</a:t>
            </a:r>
            <a:endParaRPr lang="en-GB" sz="2600" dirty="0">
              <a:latin typeface="Gabriola" pitchFamily="82" charset="0"/>
            </a:endParaRPr>
          </a:p>
          <a:p>
            <a:pPr lvl="1">
              <a:lnSpc>
                <a:spcPct val="150000"/>
              </a:lnSpc>
            </a:pPr>
            <a:r>
              <a:rPr lang="en-GB" sz="2600" dirty="0">
                <a:latin typeface="Gabriola" pitchFamily="82" charset="0"/>
              </a:rPr>
              <a:t>If the person has been exposed to chemicals or toxic gases, immediate removal from the environment is critical. </a:t>
            </a:r>
            <a:r>
              <a:rPr lang="en-GB" sz="2600" b="1" dirty="0">
                <a:latin typeface="Gabriola" pitchFamily="82" charset="0"/>
              </a:rPr>
              <a:t>Decontamination</a:t>
            </a:r>
            <a:r>
              <a:rPr lang="en-GB" sz="2600" dirty="0">
                <a:latin typeface="Gabriola" pitchFamily="82" charset="0"/>
              </a:rPr>
              <a:t> (e.g., removing contaminated clothing) can reduce further exposure.</a:t>
            </a:r>
          </a:p>
          <a:p>
            <a:pPr>
              <a:lnSpc>
                <a:spcPct val="150000"/>
              </a:lnSpc>
            </a:pPr>
            <a:r>
              <a:rPr lang="en-GB" sz="2600" dirty="0">
                <a:latin typeface="Gabriola" pitchFamily="82" charset="0"/>
              </a:rPr>
              <a:t>Management of Systemic Toxicity</a:t>
            </a:r>
            <a:r>
              <a:rPr lang="en-GB" sz="2600" dirty="0" smtClean="0">
                <a:latin typeface="Gabriola" pitchFamily="82" charset="0"/>
              </a:rPr>
              <a:t>:</a:t>
            </a:r>
            <a:endParaRPr lang="en-GB" sz="2600" dirty="0">
              <a:latin typeface="Gabriola" pitchFamily="82" charset="0"/>
            </a:endParaRPr>
          </a:p>
          <a:p>
            <a:pPr>
              <a:lnSpc>
                <a:spcPct val="150000"/>
              </a:lnSpc>
            </a:pPr>
            <a:r>
              <a:rPr lang="en-GB" sz="2600" dirty="0" smtClean="0">
                <a:latin typeface="Gabriola" pitchFamily="82" charset="0"/>
              </a:rPr>
              <a:t>Supportive </a:t>
            </a:r>
            <a:r>
              <a:rPr lang="en-GB" sz="2600" dirty="0">
                <a:latin typeface="Gabriola" pitchFamily="82" charset="0"/>
              </a:rPr>
              <a:t>Care</a:t>
            </a:r>
            <a:r>
              <a:rPr lang="en-GB" sz="2600" dirty="0" smtClean="0">
                <a:latin typeface="Gabriola" pitchFamily="82" charset="0"/>
              </a:rPr>
              <a:t>:</a:t>
            </a:r>
            <a:endParaRPr lang="en-GB" sz="2600" dirty="0">
              <a:latin typeface="Gabriola" pitchFamily="82" charset="0"/>
            </a:endParaRPr>
          </a:p>
          <a:p>
            <a:pPr lvl="1">
              <a:lnSpc>
                <a:spcPct val="150000"/>
              </a:lnSpc>
            </a:pPr>
            <a:r>
              <a:rPr lang="en-GB" sz="2600" dirty="0">
                <a:latin typeface="Gabriola" pitchFamily="82" charset="0"/>
              </a:rPr>
              <a:t> </a:t>
            </a:r>
            <a:r>
              <a:rPr lang="en-GB" sz="2600" dirty="0" smtClean="0">
                <a:latin typeface="Gabriola" pitchFamily="82" charset="0"/>
              </a:rPr>
              <a:t>Pain </a:t>
            </a:r>
            <a:r>
              <a:rPr lang="en-GB" sz="2600" dirty="0">
                <a:latin typeface="Gabriola" pitchFamily="82" charset="0"/>
              </a:rPr>
              <a:t>management, fluid resuscitation, and monitoring for signs of shock or sepsis are essential in the overall management of burn patients.</a:t>
            </a:r>
          </a:p>
        </p:txBody>
      </p:sp>
      <p:sp>
        <p:nvSpPr>
          <p:cNvPr id="4" name="Slide Number Placeholder 3"/>
          <p:cNvSpPr>
            <a:spLocks noGrp="1"/>
          </p:cNvSpPr>
          <p:nvPr>
            <p:ph type="sldNum" sz="quarter" idx="15"/>
          </p:nvPr>
        </p:nvSpPr>
        <p:spPr/>
        <p:txBody>
          <a:bodyPr/>
          <a:lstStyle/>
          <a:p>
            <a:fld id="{968CA758-BC7F-4AFE-853F-5D1E39DDFDA0}" type="slidenum">
              <a:rPr lang="en-GB" smtClean="0"/>
              <a:t>82</a:t>
            </a:fld>
            <a:endParaRPr lang="en-GB"/>
          </a:p>
        </p:txBody>
      </p:sp>
    </p:spTree>
    <p:extLst>
      <p:ext uri="{BB962C8B-B14F-4D97-AF65-F5344CB8AC3E}">
        <p14:creationId xmlns:p14="http://schemas.microsoft.com/office/powerpoint/2010/main" val="8467794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634082"/>
          </a:xfrm>
        </p:spPr>
        <p:txBody>
          <a:bodyPr/>
          <a:lstStyle/>
          <a:p>
            <a:r>
              <a:rPr lang="en-GB" b="1" dirty="0" smtClean="0">
                <a:solidFill>
                  <a:schemeClr val="tx1"/>
                </a:solidFill>
                <a:latin typeface="Times" pitchFamily="18" charset="0"/>
              </a:rPr>
              <a:t>Systemic effects( toxicity)</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179512" y="836712"/>
            <a:ext cx="8424936" cy="5637240"/>
          </a:xfrm>
        </p:spPr>
        <p:txBody>
          <a:bodyPr>
            <a:noAutofit/>
          </a:bodyPr>
          <a:lstStyle/>
          <a:p>
            <a:pPr marL="0" indent="0">
              <a:lnSpc>
                <a:spcPct val="150000"/>
              </a:lnSpc>
              <a:buNone/>
            </a:pPr>
            <a:r>
              <a:rPr lang="en-GB" sz="2800" b="1" dirty="0" smtClean="0">
                <a:latin typeface="Gabriola" pitchFamily="82" charset="0"/>
              </a:rPr>
              <a:t>1. </a:t>
            </a:r>
            <a:r>
              <a:rPr lang="en-GB" sz="3200" b="1" dirty="0" smtClean="0">
                <a:latin typeface="Gabriola" pitchFamily="82" charset="0"/>
              </a:rPr>
              <a:t>Carbon </a:t>
            </a:r>
            <a:r>
              <a:rPr lang="en-GB" sz="3200" b="1" dirty="0">
                <a:latin typeface="Gabriola" pitchFamily="82" charset="0"/>
              </a:rPr>
              <a:t>Monoxide Poisoning:</a:t>
            </a:r>
            <a:r>
              <a:rPr lang="en-GB" sz="3200" dirty="0">
                <a:latin typeface="Gabriola" pitchFamily="82" charset="0"/>
              </a:rPr>
              <a:t> </a:t>
            </a:r>
            <a:endParaRPr lang="en-GB" sz="3200" dirty="0" smtClean="0">
              <a:latin typeface="Gabriola" pitchFamily="82" charset="0"/>
            </a:endParaRPr>
          </a:p>
          <a:p>
            <a:pPr lvl="1">
              <a:lnSpc>
                <a:spcPct val="150000"/>
              </a:lnSpc>
            </a:pPr>
            <a:r>
              <a:rPr lang="en-GB" sz="2800" dirty="0" smtClean="0">
                <a:latin typeface="Gabriola" pitchFamily="82" charset="0"/>
              </a:rPr>
              <a:t>Carbon </a:t>
            </a:r>
            <a:r>
              <a:rPr lang="en-GB" sz="2800" dirty="0">
                <a:latin typeface="Gabriola" pitchFamily="82" charset="0"/>
              </a:rPr>
              <a:t>monoxide is a </a:t>
            </a:r>
            <a:r>
              <a:rPr lang="en-GB" sz="2800" dirty="0" err="1">
                <a:latin typeface="Gabriola" pitchFamily="82" charset="0"/>
              </a:rPr>
              <a:t>colorless</a:t>
            </a:r>
            <a:r>
              <a:rPr lang="en-GB" sz="2800" dirty="0">
                <a:latin typeface="Gabriola" pitchFamily="82" charset="0"/>
              </a:rPr>
              <a:t>, </a:t>
            </a:r>
            <a:r>
              <a:rPr lang="en-GB" sz="2800" dirty="0" err="1">
                <a:latin typeface="Gabriola" pitchFamily="82" charset="0"/>
              </a:rPr>
              <a:t>odorless</a:t>
            </a:r>
            <a:r>
              <a:rPr lang="en-GB" sz="2800" dirty="0">
                <a:latin typeface="Gabriola" pitchFamily="82" charset="0"/>
              </a:rPr>
              <a:t> gas that binds to </a:t>
            </a:r>
            <a:r>
              <a:rPr lang="en-GB" sz="2800" dirty="0" err="1">
                <a:latin typeface="Gabriola" pitchFamily="82" charset="0"/>
              </a:rPr>
              <a:t>hemoglobin</a:t>
            </a:r>
            <a:r>
              <a:rPr lang="en-GB" sz="2800" dirty="0">
                <a:latin typeface="Gabriola" pitchFamily="82" charset="0"/>
              </a:rPr>
              <a:t> more strongly than oxygen, reducing the blood's ability to carry oxygen. </a:t>
            </a:r>
            <a:endParaRPr lang="en-GB" sz="2800" dirty="0" smtClean="0">
              <a:latin typeface="Gabriola" pitchFamily="82" charset="0"/>
            </a:endParaRPr>
          </a:p>
          <a:p>
            <a:pPr lvl="1">
              <a:lnSpc>
                <a:spcPct val="150000"/>
              </a:lnSpc>
            </a:pPr>
            <a:r>
              <a:rPr lang="en-GB" sz="2800" dirty="0" smtClean="0">
                <a:latin typeface="Gabriola" pitchFamily="82" charset="0"/>
              </a:rPr>
              <a:t>This </a:t>
            </a:r>
            <a:r>
              <a:rPr lang="en-GB" sz="2800" dirty="0">
                <a:latin typeface="Gabriola" pitchFamily="82" charset="0"/>
              </a:rPr>
              <a:t>leads to hypoxia (lack of oxygen) and may cause confusion, dizziness, or even loss of consciousness</a:t>
            </a:r>
            <a:r>
              <a:rPr lang="en-GB" sz="2800" dirty="0" smtClean="0">
                <a:latin typeface="Gabriola" pitchFamily="82" charset="0"/>
              </a:rPr>
              <a:t>.</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83</a:t>
            </a:fld>
            <a:endParaRPr lang="en-GB"/>
          </a:p>
        </p:txBody>
      </p:sp>
    </p:spTree>
    <p:extLst>
      <p:ext uri="{BB962C8B-B14F-4D97-AF65-F5344CB8AC3E}">
        <p14:creationId xmlns:p14="http://schemas.microsoft.com/office/powerpoint/2010/main" val="35710026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706090"/>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251520" y="980728"/>
            <a:ext cx="8496944" cy="5493224"/>
          </a:xfrm>
        </p:spPr>
        <p:txBody>
          <a:bodyPr>
            <a:normAutofit/>
          </a:bodyPr>
          <a:lstStyle/>
          <a:p>
            <a:pPr>
              <a:lnSpc>
                <a:spcPct val="150000"/>
              </a:lnSpc>
            </a:pPr>
            <a:r>
              <a:rPr lang="en-GB" sz="2600" b="1" dirty="0">
                <a:latin typeface="Gabriola" pitchFamily="82" charset="0"/>
              </a:rPr>
              <a:t>Mechanism of Carbon Monoxide Poisoning</a:t>
            </a:r>
          </a:p>
          <a:p>
            <a:pPr lvl="1">
              <a:lnSpc>
                <a:spcPct val="150000"/>
              </a:lnSpc>
            </a:pPr>
            <a:r>
              <a:rPr lang="en-GB" sz="2600" b="1" dirty="0" err="1">
                <a:latin typeface="Gabriola" pitchFamily="82" charset="0"/>
              </a:rPr>
              <a:t>Hemoglobin</a:t>
            </a:r>
            <a:r>
              <a:rPr lang="en-GB" sz="2600" b="1" dirty="0">
                <a:latin typeface="Gabriola" pitchFamily="82" charset="0"/>
              </a:rPr>
              <a:t> Binding:</a:t>
            </a:r>
            <a:r>
              <a:rPr lang="en-GB" sz="2600" dirty="0">
                <a:latin typeface="Gabriola" pitchFamily="82" charset="0"/>
              </a:rPr>
              <a:t> CO has a much higher affinity for </a:t>
            </a:r>
            <a:r>
              <a:rPr lang="en-GB" sz="2600" dirty="0" err="1">
                <a:latin typeface="Gabriola" pitchFamily="82" charset="0"/>
              </a:rPr>
              <a:t>hemoglobin</a:t>
            </a:r>
            <a:r>
              <a:rPr lang="en-GB" sz="2600" dirty="0">
                <a:latin typeface="Gabriola" pitchFamily="82" charset="0"/>
              </a:rPr>
              <a:t> than oxygen (about 200-250 times greater), forming </a:t>
            </a:r>
            <a:r>
              <a:rPr lang="en-GB" sz="2600" b="1" dirty="0" err="1">
                <a:latin typeface="Gabriola" pitchFamily="82" charset="0"/>
              </a:rPr>
              <a:t>carboxyhemoglobin</a:t>
            </a:r>
            <a:r>
              <a:rPr lang="en-GB" sz="2600" b="1" dirty="0">
                <a:latin typeface="Gabriola" pitchFamily="82" charset="0"/>
              </a:rPr>
              <a:t> (</a:t>
            </a:r>
            <a:r>
              <a:rPr lang="en-GB" sz="2600" b="1" dirty="0" err="1">
                <a:latin typeface="Gabriola" pitchFamily="82" charset="0"/>
              </a:rPr>
              <a:t>COHb</a:t>
            </a:r>
            <a:r>
              <a:rPr lang="en-GB" sz="2600" b="1" dirty="0">
                <a:latin typeface="Gabriola" pitchFamily="82" charset="0"/>
              </a:rPr>
              <a:t>)</a:t>
            </a:r>
            <a:r>
              <a:rPr lang="en-GB" sz="2600" dirty="0">
                <a:latin typeface="Gabriola" pitchFamily="82" charset="0"/>
              </a:rPr>
              <a:t>.</a:t>
            </a:r>
          </a:p>
          <a:p>
            <a:pPr lvl="1">
              <a:lnSpc>
                <a:spcPct val="150000"/>
              </a:lnSpc>
            </a:pPr>
            <a:r>
              <a:rPr lang="en-GB" sz="2600" b="1" dirty="0">
                <a:latin typeface="Gabriola" pitchFamily="82" charset="0"/>
              </a:rPr>
              <a:t>Displacement of Oxygen:</a:t>
            </a:r>
            <a:r>
              <a:rPr lang="en-GB" sz="2600" dirty="0">
                <a:latin typeface="Gabriola" pitchFamily="82" charset="0"/>
              </a:rPr>
              <a:t> As CO binds to </a:t>
            </a:r>
            <a:r>
              <a:rPr lang="en-GB" sz="2600" dirty="0" err="1">
                <a:latin typeface="Gabriola" pitchFamily="82" charset="0"/>
              </a:rPr>
              <a:t>hemoglobin</a:t>
            </a:r>
            <a:r>
              <a:rPr lang="en-GB" sz="2600" dirty="0">
                <a:latin typeface="Gabriola" pitchFamily="82" charset="0"/>
              </a:rPr>
              <a:t>, it prevents oxygen from binding, reducing the oxygen-carrying capacity of the blood.</a:t>
            </a:r>
          </a:p>
          <a:p>
            <a:pPr lvl="1">
              <a:lnSpc>
                <a:spcPct val="150000"/>
              </a:lnSpc>
            </a:pPr>
            <a:r>
              <a:rPr lang="en-GB" sz="2600" b="1" dirty="0">
                <a:latin typeface="Gabriola" pitchFamily="82" charset="0"/>
              </a:rPr>
              <a:t>Impaired Oxygen Delivery:</a:t>
            </a:r>
            <a:r>
              <a:rPr lang="en-GB" sz="2600" dirty="0">
                <a:latin typeface="Gabriola" pitchFamily="82" charset="0"/>
              </a:rPr>
              <a:t> </a:t>
            </a:r>
            <a:r>
              <a:rPr lang="en-GB" sz="2600" dirty="0" err="1">
                <a:latin typeface="Gabriola" pitchFamily="82" charset="0"/>
              </a:rPr>
              <a:t>COHb</a:t>
            </a:r>
            <a:r>
              <a:rPr lang="en-GB" sz="2600" dirty="0">
                <a:latin typeface="Gabriola" pitchFamily="82" charset="0"/>
              </a:rPr>
              <a:t> also disrupts the release of oxygen from the </a:t>
            </a:r>
            <a:r>
              <a:rPr lang="en-GB" sz="2600" dirty="0" err="1">
                <a:latin typeface="Gabriola" pitchFamily="82" charset="0"/>
              </a:rPr>
              <a:t>hemoglobin</a:t>
            </a:r>
            <a:r>
              <a:rPr lang="en-GB" sz="2600" dirty="0">
                <a:latin typeface="Gabriola" pitchFamily="82" charset="0"/>
              </a:rPr>
              <a:t> to tissues, leading to tissue hypoxia, especially in vital organs like the brain and heart.</a:t>
            </a: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84</a:t>
            </a:fld>
            <a:endParaRPr lang="en-GB"/>
          </a:p>
        </p:txBody>
      </p:sp>
    </p:spTree>
    <p:extLst>
      <p:ext uri="{BB962C8B-B14F-4D97-AF65-F5344CB8AC3E}">
        <p14:creationId xmlns:p14="http://schemas.microsoft.com/office/powerpoint/2010/main" val="3247427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505190" cy="1066800"/>
          </a:xfrm>
        </p:spPr>
        <p:txBody>
          <a:bodyPr>
            <a:normAutofit fontScale="90000"/>
          </a:bodyPr>
          <a:lstStyle/>
          <a:p>
            <a:pPr algn="l"/>
            <a:r>
              <a:rPr lang="en-US" sz="3600" b="1" dirty="0">
                <a:latin typeface="Times New Roman" panose="02020603050405020304" charset="0"/>
                <a:cs typeface="Times New Roman" panose="02020603050405020304" charset="0"/>
              </a:rPr>
              <a:t>SYMPTOMS OF CARBON MONOXIDE TOXICITY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16268360"/>
              </p:ext>
            </p:extLst>
          </p:nvPr>
        </p:nvGraphicFramePr>
        <p:xfrm>
          <a:off x="457200" y="1340768"/>
          <a:ext cx="8363272" cy="5040561"/>
        </p:xfrm>
        <a:graphic>
          <a:graphicData uri="http://schemas.openxmlformats.org/drawingml/2006/table">
            <a:tbl>
              <a:tblPr firstRow="1" bandRow="1">
                <a:tableStyleId>{5C22544A-7EE6-4342-B048-85BDC9FD1C3A}</a:tableStyleId>
              </a:tblPr>
              <a:tblGrid>
                <a:gridCol w="2090818"/>
                <a:gridCol w="6272454"/>
              </a:tblGrid>
              <a:tr h="925686">
                <a:tc>
                  <a:txBody>
                    <a:bodyPr/>
                    <a:lstStyle/>
                    <a:p>
                      <a:pPr>
                        <a:buNone/>
                      </a:pPr>
                      <a:r>
                        <a:rPr lang="en-US" sz="2400" b="1" dirty="0">
                          <a:latin typeface="Gabriola" pitchFamily="82" charset="0"/>
                          <a:cs typeface="Times New Roman" panose="02020603050405020304" charset="0"/>
                        </a:rPr>
                        <a:t>Blood </a:t>
                      </a:r>
                      <a:r>
                        <a:rPr lang="en-US" sz="2400" b="1" dirty="0" err="1">
                          <a:latin typeface="Gabriola" pitchFamily="82" charset="0"/>
                          <a:cs typeface="Times New Roman" panose="02020603050405020304" charset="0"/>
                        </a:rPr>
                        <a:t>COHgb</a:t>
                      </a:r>
                      <a:r>
                        <a:rPr lang="en-US" sz="2400" b="1" dirty="0">
                          <a:latin typeface="Gabriola" pitchFamily="82" charset="0"/>
                          <a:cs typeface="Times New Roman" panose="02020603050405020304" charset="0"/>
                        </a:rPr>
                        <a:t> level (%)</a:t>
                      </a:r>
                    </a:p>
                  </a:txBody>
                  <a:tcPr/>
                </a:tc>
                <a:tc>
                  <a:txBody>
                    <a:bodyPr/>
                    <a:lstStyle/>
                    <a:p>
                      <a:pPr>
                        <a:buNone/>
                      </a:pPr>
                      <a:r>
                        <a:rPr lang="en-US" sz="2400" b="1">
                          <a:latin typeface="Gabriola" pitchFamily="82" charset="0"/>
                          <a:cs typeface="Times New Roman" panose="02020603050405020304" charset="0"/>
                        </a:rPr>
                        <a:t>Symptoms</a:t>
                      </a:r>
                    </a:p>
                  </a:txBody>
                  <a:tcPr/>
                </a:tc>
              </a:tr>
              <a:tr h="925686">
                <a:tc>
                  <a:txBody>
                    <a:bodyPr/>
                    <a:lstStyle/>
                    <a:p>
                      <a:pPr>
                        <a:buNone/>
                      </a:pPr>
                      <a:r>
                        <a:rPr lang="en-US" sz="2400" b="1" dirty="0">
                          <a:latin typeface="Gabriola" pitchFamily="82" charset="0"/>
                          <a:cs typeface="Times New Roman" panose="02020603050405020304" charset="0"/>
                          <a:sym typeface="+mn-ea"/>
                        </a:rPr>
                        <a:t>&lt;15-20</a:t>
                      </a:r>
                    </a:p>
                  </a:txBody>
                  <a:tcPr/>
                </a:tc>
                <a:tc>
                  <a:txBody>
                    <a:bodyPr/>
                    <a:lstStyle/>
                    <a:p>
                      <a:pPr>
                        <a:buNone/>
                      </a:pPr>
                      <a:r>
                        <a:rPr lang="en-US" sz="2400" b="1" dirty="0">
                          <a:latin typeface="Gabriola" pitchFamily="82" charset="0"/>
                          <a:cs typeface="Times New Roman" panose="02020603050405020304" charset="0"/>
                        </a:rPr>
                        <a:t> Headache, dizziness, and occasional confusion </a:t>
                      </a:r>
                    </a:p>
                    <a:p>
                      <a:pPr>
                        <a:buNone/>
                      </a:pPr>
                      <a:endParaRPr lang="en-US" sz="2400" b="1" dirty="0">
                        <a:latin typeface="Gabriola" pitchFamily="82" charset="0"/>
                        <a:cs typeface="Times New Roman" panose="02020603050405020304" charset="0"/>
                      </a:endParaRPr>
                    </a:p>
                  </a:txBody>
                  <a:tcPr/>
                </a:tc>
              </a:tr>
              <a:tr h="1337102">
                <a:tc>
                  <a:txBody>
                    <a:bodyPr/>
                    <a:lstStyle/>
                    <a:p>
                      <a:pPr>
                        <a:buNone/>
                      </a:pPr>
                      <a:r>
                        <a:rPr lang="en-US" sz="2400" b="1">
                          <a:latin typeface="Gabriola" pitchFamily="82" charset="0"/>
                          <a:cs typeface="Times New Roman" panose="02020603050405020304" charset="0"/>
                          <a:sym typeface="+mn-ea"/>
                        </a:rPr>
                        <a:t>20-40</a:t>
                      </a:r>
                    </a:p>
                  </a:txBody>
                  <a:tcPr/>
                </a:tc>
                <a:tc>
                  <a:txBody>
                    <a:bodyPr/>
                    <a:lstStyle/>
                    <a:p>
                      <a:pPr>
                        <a:buNone/>
                      </a:pPr>
                      <a:r>
                        <a:rPr lang="en-US" sz="2400" b="1">
                          <a:latin typeface="Gabriola" pitchFamily="82" charset="0"/>
                          <a:cs typeface="Times New Roman" panose="02020603050405020304" charset="0"/>
                          <a:sym typeface="+mn-ea"/>
                        </a:rPr>
                        <a:t> Nausea, vomiting, disorientation, and visual </a:t>
                      </a:r>
                      <a:endParaRPr lang="en-US" sz="2400" b="1">
                        <a:latin typeface="Gabriola" pitchFamily="82" charset="0"/>
                        <a:cs typeface="Times New Roman" panose="02020603050405020304" charset="0"/>
                      </a:endParaRPr>
                    </a:p>
                    <a:p>
                      <a:pPr>
                        <a:buNone/>
                      </a:pPr>
                      <a:r>
                        <a:rPr lang="en-US" sz="2400" b="1">
                          <a:latin typeface="Gabriola" pitchFamily="82" charset="0"/>
                          <a:cs typeface="Times New Roman" panose="02020603050405020304" charset="0"/>
                          <a:sym typeface="+mn-ea"/>
                        </a:rPr>
                        <a:t>impairment </a:t>
                      </a:r>
                      <a:endParaRPr lang="en-US" sz="2400" b="1">
                        <a:latin typeface="Gabriola" pitchFamily="82" charset="0"/>
                        <a:cs typeface="Times New Roman" panose="02020603050405020304" charset="0"/>
                      </a:endParaRPr>
                    </a:p>
                    <a:p>
                      <a:pPr>
                        <a:buNone/>
                      </a:pPr>
                      <a:endParaRPr lang="en-US" sz="2400" b="1">
                        <a:latin typeface="Gabriola" pitchFamily="82" charset="0"/>
                        <a:cs typeface="Times New Roman" panose="02020603050405020304" charset="0"/>
                      </a:endParaRPr>
                    </a:p>
                  </a:txBody>
                  <a:tcPr/>
                </a:tc>
              </a:tr>
              <a:tr h="1337102">
                <a:tc>
                  <a:txBody>
                    <a:bodyPr/>
                    <a:lstStyle/>
                    <a:p>
                      <a:pPr>
                        <a:buNone/>
                      </a:pPr>
                      <a:r>
                        <a:rPr lang="en-US" sz="2400" b="1">
                          <a:latin typeface="Gabriola" pitchFamily="82" charset="0"/>
                          <a:cs typeface="Times New Roman" panose="02020603050405020304" charset="0"/>
                          <a:sym typeface="+mn-ea"/>
                        </a:rPr>
                        <a:t>40-60</a:t>
                      </a:r>
                    </a:p>
                  </a:txBody>
                  <a:tcPr/>
                </a:tc>
                <a:tc>
                  <a:txBody>
                    <a:bodyPr/>
                    <a:lstStyle/>
                    <a:p>
                      <a:pPr>
                        <a:buNone/>
                      </a:pPr>
                      <a:r>
                        <a:rPr lang="en-US" sz="2400" b="1" dirty="0">
                          <a:latin typeface="Gabriola" pitchFamily="82" charset="0"/>
                          <a:cs typeface="Times New Roman" panose="02020603050405020304" charset="0"/>
                          <a:sym typeface="+mn-ea"/>
                        </a:rPr>
                        <a:t> Agitation, combativeness, hallucinations, coma, </a:t>
                      </a:r>
                      <a:endParaRPr lang="en-US" sz="2400" b="1" dirty="0">
                        <a:latin typeface="Gabriola" pitchFamily="82" charset="0"/>
                        <a:cs typeface="Times New Roman" panose="02020603050405020304" charset="0"/>
                      </a:endParaRPr>
                    </a:p>
                    <a:p>
                      <a:pPr>
                        <a:buNone/>
                      </a:pPr>
                      <a:r>
                        <a:rPr lang="en-US" sz="2400" b="1" dirty="0">
                          <a:latin typeface="Gabriola" pitchFamily="82" charset="0"/>
                          <a:cs typeface="Times New Roman" panose="02020603050405020304" charset="0"/>
                          <a:sym typeface="+mn-ea"/>
                        </a:rPr>
                        <a:t>and shock </a:t>
                      </a:r>
                      <a:endParaRPr lang="en-US" sz="2400" b="1" dirty="0">
                        <a:latin typeface="Gabriola" pitchFamily="82" charset="0"/>
                        <a:cs typeface="Times New Roman" panose="02020603050405020304" charset="0"/>
                      </a:endParaRPr>
                    </a:p>
                    <a:p>
                      <a:pPr>
                        <a:buNone/>
                      </a:pPr>
                      <a:endParaRPr lang="en-US" sz="2400" b="1" dirty="0">
                        <a:latin typeface="Gabriola" pitchFamily="82" charset="0"/>
                        <a:cs typeface="Times New Roman" panose="02020603050405020304" charset="0"/>
                      </a:endParaRPr>
                    </a:p>
                  </a:txBody>
                  <a:tcPr/>
                </a:tc>
              </a:tr>
              <a:tr h="514985">
                <a:tc>
                  <a:txBody>
                    <a:bodyPr/>
                    <a:lstStyle/>
                    <a:p>
                      <a:pPr>
                        <a:buNone/>
                      </a:pPr>
                      <a:r>
                        <a:rPr lang="en-US" sz="2400" b="1">
                          <a:latin typeface="Gabriola" pitchFamily="82" charset="0"/>
                          <a:cs typeface="Times New Roman" panose="02020603050405020304" charset="0"/>
                          <a:sym typeface="+mn-ea"/>
                        </a:rPr>
                        <a:t>&gt;60</a:t>
                      </a:r>
                    </a:p>
                  </a:txBody>
                  <a:tcPr/>
                </a:tc>
                <a:tc>
                  <a:txBody>
                    <a:bodyPr/>
                    <a:lstStyle/>
                    <a:p>
                      <a:pPr>
                        <a:buNone/>
                      </a:pPr>
                      <a:r>
                        <a:rPr lang="en-US" sz="2400" b="1" dirty="0">
                          <a:latin typeface="Gabriola" pitchFamily="82" charset="0"/>
                          <a:cs typeface="Times New Roman" panose="02020603050405020304" charset="0"/>
                          <a:sym typeface="+mn-ea"/>
                        </a:rPr>
                        <a:t> Death</a:t>
                      </a:r>
                    </a:p>
                  </a:txBody>
                  <a:tcPr/>
                </a:tc>
              </a:tr>
            </a:tbl>
          </a:graphicData>
        </a:graphic>
      </p:graphicFrame>
      <p:sp>
        <p:nvSpPr>
          <p:cNvPr id="3" name="Slide Number Placeholder 2"/>
          <p:cNvSpPr>
            <a:spLocks noGrp="1"/>
          </p:cNvSpPr>
          <p:nvPr>
            <p:ph type="sldNum" sz="quarter" idx="15"/>
          </p:nvPr>
        </p:nvSpPr>
        <p:spPr/>
        <p:txBody>
          <a:bodyPr/>
          <a:lstStyle/>
          <a:p>
            <a:fld id="{968CA758-BC7F-4AFE-853F-5D1E39DDFDA0}" type="slidenum">
              <a:rPr lang="en-GB" smtClean="0"/>
              <a:t>85</a:t>
            </a:fld>
            <a:endParaRPr lang="en-GB"/>
          </a:p>
        </p:txBody>
      </p:sp>
    </p:spTree>
    <p:extLst>
      <p:ext uri="{BB962C8B-B14F-4D97-AF65-F5344CB8AC3E}">
        <p14:creationId xmlns:p14="http://schemas.microsoft.com/office/powerpoint/2010/main" val="37956460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568952" cy="576064"/>
          </a:xfrm>
        </p:spPr>
        <p:txBody>
          <a:bodyPr>
            <a:normAutofit/>
          </a:bodyPr>
          <a:lstStyle/>
          <a:p>
            <a:pPr algn="r"/>
            <a:r>
              <a:rPr lang="en-GB" dirty="0" smtClean="0"/>
              <a:t>Cont..</a:t>
            </a:r>
            <a:endParaRPr lang="en-GB" dirty="0"/>
          </a:p>
        </p:txBody>
      </p:sp>
      <p:sp>
        <p:nvSpPr>
          <p:cNvPr id="3" name="Content Placeholder 2"/>
          <p:cNvSpPr>
            <a:spLocks noGrp="1"/>
          </p:cNvSpPr>
          <p:nvPr>
            <p:ph sz="quarter" idx="1"/>
          </p:nvPr>
        </p:nvSpPr>
        <p:spPr>
          <a:xfrm>
            <a:off x="107504" y="1052736"/>
            <a:ext cx="8784976" cy="5688632"/>
          </a:xfrm>
        </p:spPr>
        <p:txBody>
          <a:bodyPr>
            <a:normAutofit/>
          </a:bodyPr>
          <a:lstStyle/>
          <a:p>
            <a:pPr marL="0" indent="0">
              <a:lnSpc>
                <a:spcPct val="160000"/>
              </a:lnSpc>
              <a:buNone/>
            </a:pPr>
            <a:r>
              <a:rPr lang="en-GB" sz="2800" b="1" dirty="0">
                <a:latin typeface="Gabriola" pitchFamily="82" charset="0"/>
              </a:rPr>
              <a:t>Diagnosis of Carbon Monoxide Poisoning</a:t>
            </a:r>
          </a:p>
          <a:p>
            <a:pPr>
              <a:lnSpc>
                <a:spcPct val="160000"/>
              </a:lnSpc>
            </a:pPr>
            <a:r>
              <a:rPr lang="en-GB" sz="2800" b="1" dirty="0">
                <a:latin typeface="Gabriola" pitchFamily="82" charset="0"/>
              </a:rPr>
              <a:t>History &amp; Symptoms:</a:t>
            </a:r>
            <a:endParaRPr lang="en-GB" sz="2800" dirty="0">
              <a:latin typeface="Gabriola" pitchFamily="82" charset="0"/>
            </a:endParaRPr>
          </a:p>
          <a:p>
            <a:pPr lvl="1">
              <a:lnSpc>
                <a:spcPct val="160000"/>
              </a:lnSpc>
            </a:pPr>
            <a:r>
              <a:rPr lang="en-GB" sz="2800" dirty="0">
                <a:latin typeface="Gabriola" pitchFamily="82" charset="0"/>
              </a:rPr>
              <a:t>Presence of symptoms in multiple people (e.g., family members in a household, co-workers).</a:t>
            </a:r>
          </a:p>
          <a:p>
            <a:pPr lvl="1">
              <a:lnSpc>
                <a:spcPct val="160000"/>
              </a:lnSpc>
            </a:pPr>
            <a:r>
              <a:rPr lang="en-GB" sz="2800" dirty="0">
                <a:latin typeface="Gabriola" pitchFamily="82" charset="0"/>
              </a:rPr>
              <a:t>Exposure to possible sources of CO.</a:t>
            </a:r>
          </a:p>
          <a:p>
            <a:pPr>
              <a:lnSpc>
                <a:spcPct val="160000"/>
              </a:lnSpc>
            </a:pPr>
            <a:r>
              <a:rPr lang="en-GB" sz="2800" b="1" dirty="0">
                <a:latin typeface="Gabriola" pitchFamily="82" charset="0"/>
              </a:rPr>
              <a:t>Clinical Examination:</a:t>
            </a:r>
            <a:endParaRPr lang="en-GB" sz="2800" dirty="0">
              <a:latin typeface="Gabriola" pitchFamily="82" charset="0"/>
            </a:endParaRPr>
          </a:p>
          <a:p>
            <a:pPr lvl="1">
              <a:lnSpc>
                <a:spcPct val="160000"/>
              </a:lnSpc>
            </a:pPr>
            <a:r>
              <a:rPr lang="en-GB" sz="2800" dirty="0">
                <a:latin typeface="Gabriola" pitchFamily="82" charset="0"/>
              </a:rPr>
              <a:t>Skin may appear </a:t>
            </a:r>
            <a:r>
              <a:rPr lang="en-GB" sz="2800" b="1" dirty="0">
                <a:latin typeface="Gabriola" pitchFamily="82" charset="0"/>
              </a:rPr>
              <a:t>cherry red</a:t>
            </a:r>
            <a:r>
              <a:rPr lang="en-GB" sz="2800" dirty="0">
                <a:latin typeface="Gabriola" pitchFamily="82" charset="0"/>
              </a:rPr>
              <a:t> due to increased </a:t>
            </a:r>
            <a:r>
              <a:rPr lang="en-GB" sz="2800" dirty="0" err="1">
                <a:latin typeface="Gabriola" pitchFamily="82" charset="0"/>
              </a:rPr>
              <a:t>carboxyhemoglobin</a:t>
            </a:r>
            <a:r>
              <a:rPr lang="en-GB" sz="2800" dirty="0">
                <a:latin typeface="Gabriola" pitchFamily="82" charset="0"/>
              </a:rPr>
              <a:t> levels</a:t>
            </a:r>
            <a:r>
              <a:rPr lang="en-GB" sz="2800" dirty="0" smtClean="0">
                <a:latin typeface="Gabriola" pitchFamily="82" charset="0"/>
              </a:rPr>
              <a:t>.</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86</a:t>
            </a:fld>
            <a:endParaRPr lang="en-GB"/>
          </a:p>
        </p:txBody>
      </p:sp>
    </p:spTree>
    <p:extLst>
      <p:ext uri="{BB962C8B-B14F-4D97-AF65-F5344CB8AC3E}">
        <p14:creationId xmlns:p14="http://schemas.microsoft.com/office/powerpoint/2010/main" val="10529210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418058"/>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23528" y="764704"/>
            <a:ext cx="8352928" cy="5709248"/>
          </a:xfrm>
        </p:spPr>
        <p:txBody>
          <a:bodyPr>
            <a:noAutofit/>
          </a:bodyPr>
          <a:lstStyle/>
          <a:p>
            <a:pPr>
              <a:lnSpc>
                <a:spcPct val="160000"/>
              </a:lnSpc>
            </a:pPr>
            <a:r>
              <a:rPr lang="en-GB" sz="2800" b="1" dirty="0">
                <a:latin typeface="Gabriola" pitchFamily="82" charset="0"/>
              </a:rPr>
              <a:t>Blood Tests:</a:t>
            </a:r>
            <a:endParaRPr lang="en-GB" sz="2800" dirty="0">
              <a:latin typeface="Gabriola" pitchFamily="82" charset="0"/>
            </a:endParaRPr>
          </a:p>
          <a:p>
            <a:pPr lvl="1">
              <a:lnSpc>
                <a:spcPct val="160000"/>
              </a:lnSpc>
            </a:pPr>
            <a:r>
              <a:rPr lang="en-GB" sz="2800" b="1" dirty="0" err="1">
                <a:latin typeface="Gabriola" pitchFamily="82" charset="0"/>
              </a:rPr>
              <a:t>Carboxyhemoglobin</a:t>
            </a:r>
            <a:r>
              <a:rPr lang="en-GB" sz="2800" b="1" dirty="0">
                <a:latin typeface="Gabriola" pitchFamily="82" charset="0"/>
              </a:rPr>
              <a:t> (</a:t>
            </a:r>
            <a:r>
              <a:rPr lang="en-GB" sz="2800" b="1" dirty="0" err="1">
                <a:latin typeface="Gabriola" pitchFamily="82" charset="0"/>
              </a:rPr>
              <a:t>COHb</a:t>
            </a:r>
            <a:r>
              <a:rPr lang="en-GB" sz="2800" b="1" dirty="0">
                <a:latin typeface="Gabriola" pitchFamily="82" charset="0"/>
              </a:rPr>
              <a:t>) levels:</a:t>
            </a:r>
            <a:r>
              <a:rPr lang="en-GB" sz="2800" dirty="0">
                <a:latin typeface="Gabriola" pitchFamily="82" charset="0"/>
              </a:rPr>
              <a:t> The most definitive test for CO poisoning.</a:t>
            </a:r>
          </a:p>
          <a:p>
            <a:pPr lvl="1">
              <a:lnSpc>
                <a:spcPct val="160000"/>
              </a:lnSpc>
            </a:pPr>
            <a:r>
              <a:rPr lang="en-GB" sz="2800" b="1" dirty="0">
                <a:latin typeface="Gabriola" pitchFamily="82" charset="0"/>
              </a:rPr>
              <a:t>Arterial Blood Gas (ABG):</a:t>
            </a:r>
            <a:r>
              <a:rPr lang="en-GB" sz="2800" dirty="0">
                <a:latin typeface="Gabriola" pitchFamily="82" charset="0"/>
              </a:rPr>
              <a:t> To evaluate oxygen levels and acid-base balance.</a:t>
            </a:r>
          </a:p>
          <a:p>
            <a:pPr>
              <a:lnSpc>
                <a:spcPct val="160000"/>
              </a:lnSpc>
            </a:pPr>
            <a:r>
              <a:rPr lang="en-GB" sz="2800" b="1" dirty="0">
                <a:latin typeface="Gabriola" pitchFamily="82" charset="0"/>
              </a:rPr>
              <a:t>Pulse </a:t>
            </a:r>
            <a:r>
              <a:rPr lang="en-GB" sz="2800" b="1" dirty="0" err="1">
                <a:latin typeface="Gabriola" pitchFamily="82" charset="0"/>
              </a:rPr>
              <a:t>Oximetry</a:t>
            </a:r>
            <a:r>
              <a:rPr lang="en-GB" sz="2800" b="1" dirty="0">
                <a:latin typeface="Gabriola" pitchFamily="82" charset="0"/>
              </a:rPr>
              <a:t>:</a:t>
            </a:r>
            <a:endParaRPr lang="en-GB" sz="2800" dirty="0">
              <a:latin typeface="Gabriola" pitchFamily="82" charset="0"/>
            </a:endParaRPr>
          </a:p>
          <a:p>
            <a:pPr lvl="1">
              <a:lnSpc>
                <a:spcPct val="160000"/>
              </a:lnSpc>
            </a:pPr>
            <a:r>
              <a:rPr lang="en-GB" sz="2800" dirty="0">
                <a:latin typeface="Gabriola" pitchFamily="82" charset="0"/>
              </a:rPr>
              <a:t>Traditional pulse </a:t>
            </a:r>
            <a:r>
              <a:rPr lang="en-GB" sz="2800" dirty="0" err="1">
                <a:latin typeface="Gabriola" pitchFamily="82" charset="0"/>
              </a:rPr>
              <a:t>oximeters</a:t>
            </a:r>
            <a:r>
              <a:rPr lang="en-GB" sz="2800" dirty="0">
                <a:latin typeface="Gabriola" pitchFamily="82" charset="0"/>
              </a:rPr>
              <a:t> may give falsely normal oxygen saturation due to their inability to detect </a:t>
            </a:r>
            <a:r>
              <a:rPr lang="en-GB" sz="2800" dirty="0" err="1">
                <a:latin typeface="Gabriola" pitchFamily="82" charset="0"/>
              </a:rPr>
              <a:t>carboxyhemoglobin</a:t>
            </a:r>
            <a:r>
              <a:rPr lang="en-GB" sz="2800" dirty="0">
                <a:latin typeface="Gabriola" pitchFamily="82" charset="0"/>
              </a:rPr>
              <a:t>.</a:t>
            </a:r>
          </a:p>
          <a:p>
            <a:pPr>
              <a:lnSpc>
                <a:spcPct val="160000"/>
              </a:lnSpc>
            </a:pPr>
            <a:endParaRPr lang="en-GB" sz="2800" dirty="0">
              <a:latin typeface="Gabriola" pitchFamily="82" charset="0"/>
            </a:endParaRPr>
          </a:p>
          <a:p>
            <a:endParaRPr lang="en-GB" sz="2800" dirty="0"/>
          </a:p>
        </p:txBody>
      </p:sp>
      <p:sp>
        <p:nvSpPr>
          <p:cNvPr id="5" name="Slide Number Placeholder 4"/>
          <p:cNvSpPr>
            <a:spLocks noGrp="1"/>
          </p:cNvSpPr>
          <p:nvPr>
            <p:ph type="sldNum" sz="quarter" idx="15"/>
          </p:nvPr>
        </p:nvSpPr>
        <p:spPr/>
        <p:txBody>
          <a:bodyPr/>
          <a:lstStyle/>
          <a:p>
            <a:fld id="{968CA758-BC7F-4AFE-853F-5D1E39DDFDA0}" type="slidenum">
              <a:rPr lang="en-GB" smtClean="0"/>
              <a:t>87</a:t>
            </a:fld>
            <a:endParaRPr lang="en-GB"/>
          </a:p>
        </p:txBody>
      </p:sp>
    </p:spTree>
    <p:extLst>
      <p:ext uri="{BB962C8B-B14F-4D97-AF65-F5344CB8AC3E}">
        <p14:creationId xmlns:p14="http://schemas.microsoft.com/office/powerpoint/2010/main" val="28610081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8856984" cy="504056"/>
          </a:xfrm>
        </p:spPr>
        <p:txBody>
          <a:bodyPr>
            <a:noAutofit/>
          </a:bodyPr>
          <a:lstStyle/>
          <a:p>
            <a:r>
              <a:rPr lang="en-GB" sz="2800" b="1" dirty="0" smtClean="0">
                <a:solidFill>
                  <a:schemeClr val="tx1"/>
                </a:solidFill>
                <a:latin typeface="Times" pitchFamily="18" charset="0"/>
              </a:rPr>
              <a:t>treatment of </a:t>
            </a:r>
            <a:r>
              <a:rPr lang="en-GB" sz="2800" b="1" dirty="0" err="1" smtClean="0">
                <a:solidFill>
                  <a:schemeClr val="tx1"/>
                </a:solidFill>
                <a:latin typeface="Times" pitchFamily="18" charset="0"/>
              </a:rPr>
              <a:t>cardon</a:t>
            </a:r>
            <a:r>
              <a:rPr lang="en-GB" sz="2800" b="1" dirty="0" smtClean="0">
                <a:solidFill>
                  <a:schemeClr val="tx1"/>
                </a:solidFill>
                <a:latin typeface="Times" pitchFamily="18" charset="0"/>
              </a:rPr>
              <a:t> monoxide poisoning</a:t>
            </a:r>
            <a:endParaRPr lang="en-GB" sz="2800" b="1" dirty="0">
              <a:solidFill>
                <a:schemeClr val="tx1"/>
              </a:solidFill>
              <a:latin typeface="Times" pitchFamily="18" charset="0"/>
            </a:endParaRPr>
          </a:p>
        </p:txBody>
      </p:sp>
      <p:sp>
        <p:nvSpPr>
          <p:cNvPr id="3" name="Content Placeholder 2"/>
          <p:cNvSpPr>
            <a:spLocks noGrp="1"/>
          </p:cNvSpPr>
          <p:nvPr>
            <p:ph sz="quarter" idx="1"/>
          </p:nvPr>
        </p:nvSpPr>
        <p:spPr>
          <a:xfrm>
            <a:off x="251520" y="836712"/>
            <a:ext cx="7673280" cy="5637240"/>
          </a:xfrm>
        </p:spPr>
        <p:txBody>
          <a:bodyPr>
            <a:normAutofit/>
          </a:bodyPr>
          <a:lstStyle/>
          <a:p>
            <a:pPr marL="0" indent="0">
              <a:lnSpc>
                <a:spcPct val="150000"/>
              </a:lnSpc>
              <a:buNone/>
            </a:pPr>
            <a:r>
              <a:rPr lang="en-GB" b="1" dirty="0" smtClean="0">
                <a:latin typeface="Gabriola" pitchFamily="82" charset="0"/>
              </a:rPr>
              <a:t>1</a:t>
            </a:r>
            <a:r>
              <a:rPr lang="en-GB" sz="2600" b="1" dirty="0">
                <a:latin typeface="Gabriola" pitchFamily="82" charset="0"/>
              </a:rPr>
              <a:t>. Immediate Action:</a:t>
            </a:r>
          </a:p>
          <a:p>
            <a:pPr lvl="1">
              <a:lnSpc>
                <a:spcPct val="150000"/>
              </a:lnSpc>
            </a:pPr>
            <a:r>
              <a:rPr lang="en-GB" sz="2600" b="1" dirty="0">
                <a:latin typeface="Gabriola" pitchFamily="82" charset="0"/>
              </a:rPr>
              <a:t>Remove the patient from the CO exposure source</a:t>
            </a:r>
            <a:r>
              <a:rPr lang="en-GB" sz="2600" dirty="0">
                <a:latin typeface="Gabriola" pitchFamily="82" charset="0"/>
              </a:rPr>
              <a:t> immediately.</a:t>
            </a:r>
          </a:p>
          <a:p>
            <a:pPr lvl="1">
              <a:lnSpc>
                <a:spcPct val="150000"/>
              </a:lnSpc>
            </a:pPr>
            <a:r>
              <a:rPr lang="en-GB" sz="2600" b="1" dirty="0">
                <a:latin typeface="Gabriola" pitchFamily="82" charset="0"/>
              </a:rPr>
              <a:t>Fresh Air:</a:t>
            </a:r>
            <a:r>
              <a:rPr lang="en-GB" sz="2600" dirty="0">
                <a:latin typeface="Gabriola" pitchFamily="82" charset="0"/>
              </a:rPr>
              <a:t> Move the person to an area with fresh air and allow them to breathe in pure oxygen.</a:t>
            </a:r>
          </a:p>
          <a:p>
            <a:pPr marL="0" indent="0">
              <a:lnSpc>
                <a:spcPct val="150000"/>
              </a:lnSpc>
              <a:buNone/>
            </a:pPr>
            <a:r>
              <a:rPr lang="en-GB" sz="2600" b="1" dirty="0">
                <a:latin typeface="Gabriola" pitchFamily="82" charset="0"/>
              </a:rPr>
              <a:t>2. Oxygen Therapy:</a:t>
            </a:r>
          </a:p>
          <a:p>
            <a:pPr lvl="1">
              <a:lnSpc>
                <a:spcPct val="150000"/>
              </a:lnSpc>
            </a:pPr>
            <a:r>
              <a:rPr lang="en-GB" sz="2600" b="1" dirty="0">
                <a:latin typeface="Gabriola" pitchFamily="82" charset="0"/>
              </a:rPr>
              <a:t>High-Flow Oxygen (100% O2):</a:t>
            </a:r>
            <a:r>
              <a:rPr lang="en-GB" sz="2600" dirty="0">
                <a:latin typeface="Gabriola" pitchFamily="82" charset="0"/>
              </a:rPr>
              <a:t> Administer via a non-</a:t>
            </a:r>
            <a:r>
              <a:rPr lang="en-GB" sz="2600" dirty="0" err="1">
                <a:latin typeface="Gabriola" pitchFamily="82" charset="0"/>
              </a:rPr>
              <a:t>rebreather</a:t>
            </a:r>
            <a:r>
              <a:rPr lang="en-GB" sz="2600" dirty="0">
                <a:latin typeface="Gabriola" pitchFamily="82" charset="0"/>
              </a:rPr>
              <a:t> mask. This helps displace CO from </a:t>
            </a:r>
            <a:r>
              <a:rPr lang="en-GB" sz="2600" dirty="0" err="1">
                <a:latin typeface="Gabriola" pitchFamily="82" charset="0"/>
              </a:rPr>
              <a:t>hemoglobin</a:t>
            </a:r>
            <a:r>
              <a:rPr lang="en-GB" sz="2600" dirty="0">
                <a:latin typeface="Gabriola" pitchFamily="82" charset="0"/>
              </a:rPr>
              <a:t> and increases the elimination of CO from the body.</a:t>
            </a: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88</a:t>
            </a:fld>
            <a:endParaRPr lang="en-GB"/>
          </a:p>
        </p:txBody>
      </p:sp>
    </p:spTree>
    <p:extLst>
      <p:ext uri="{BB962C8B-B14F-4D97-AF65-F5344CB8AC3E}">
        <p14:creationId xmlns:p14="http://schemas.microsoft.com/office/powerpoint/2010/main" val="8017438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323528" y="1124744"/>
            <a:ext cx="8496944" cy="5349208"/>
          </a:xfrm>
        </p:spPr>
        <p:txBody>
          <a:bodyPr>
            <a:noAutofit/>
          </a:bodyPr>
          <a:lstStyle/>
          <a:p>
            <a:pPr lvl="1">
              <a:lnSpc>
                <a:spcPct val="150000"/>
              </a:lnSpc>
            </a:pPr>
            <a:r>
              <a:rPr lang="en-GB" sz="2800" b="1" dirty="0">
                <a:latin typeface="Gabriola" pitchFamily="82" charset="0"/>
              </a:rPr>
              <a:t>Hyperbaric Oxygen Therapy (HBOT):</a:t>
            </a:r>
            <a:r>
              <a:rPr lang="en-GB" sz="2800" dirty="0">
                <a:latin typeface="Gabriola" pitchFamily="82" charset="0"/>
              </a:rPr>
              <a:t> In severe cases, HBOT may be used, which increases oxygen levels at high pressures, accelerating CO elimination from the body.</a:t>
            </a:r>
          </a:p>
          <a:p>
            <a:pPr marL="0" indent="0">
              <a:lnSpc>
                <a:spcPct val="150000"/>
              </a:lnSpc>
              <a:buNone/>
            </a:pPr>
            <a:r>
              <a:rPr lang="en-GB" sz="2800" b="1" dirty="0">
                <a:latin typeface="Gabriola" pitchFamily="82" charset="0"/>
              </a:rPr>
              <a:t>3. Supportive Care:</a:t>
            </a:r>
          </a:p>
          <a:p>
            <a:pPr lvl="1">
              <a:lnSpc>
                <a:spcPct val="150000"/>
              </a:lnSpc>
            </a:pPr>
            <a:r>
              <a:rPr lang="en-GB" sz="2800" b="1" dirty="0">
                <a:latin typeface="Gabriola" pitchFamily="82" charset="0"/>
              </a:rPr>
              <a:t>Monitor and manage:</a:t>
            </a:r>
            <a:r>
              <a:rPr lang="en-GB" sz="2800" dirty="0">
                <a:latin typeface="Gabriola" pitchFamily="82" charset="0"/>
              </a:rPr>
              <a:t> Oxygenation, blood pressure, and cardiac function.</a:t>
            </a:r>
          </a:p>
          <a:p>
            <a:pPr lvl="1">
              <a:lnSpc>
                <a:spcPct val="150000"/>
              </a:lnSpc>
            </a:pPr>
            <a:r>
              <a:rPr lang="en-GB" sz="2800" b="1" dirty="0">
                <a:latin typeface="Gabriola" pitchFamily="82" charset="0"/>
              </a:rPr>
              <a:t>Ventilation Support:</a:t>
            </a:r>
            <a:r>
              <a:rPr lang="en-GB" sz="2800" dirty="0">
                <a:latin typeface="Gabriola" pitchFamily="82" charset="0"/>
              </a:rPr>
              <a:t> In cases of respiratory failure, mechanical ventilation may be required.</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89</a:t>
            </a:fld>
            <a:endParaRPr lang="en-GB"/>
          </a:p>
        </p:txBody>
      </p:sp>
    </p:spTree>
    <p:extLst>
      <p:ext uri="{BB962C8B-B14F-4D97-AF65-F5344CB8AC3E}">
        <p14:creationId xmlns:p14="http://schemas.microsoft.com/office/powerpoint/2010/main" val="10538329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706090"/>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764704"/>
            <a:ext cx="8352928" cy="5709248"/>
          </a:xfrm>
        </p:spPr>
        <p:txBody>
          <a:bodyPr>
            <a:noAutofit/>
          </a:bodyPr>
          <a:lstStyle/>
          <a:p>
            <a:r>
              <a:rPr lang="en-GB" sz="2800" b="1" dirty="0">
                <a:latin typeface="Gabriola" pitchFamily="82" charset="0"/>
              </a:rPr>
              <a:t>Prognosis and Complications</a:t>
            </a:r>
          </a:p>
          <a:p>
            <a:pPr lvl="1">
              <a:lnSpc>
                <a:spcPct val="150000"/>
              </a:lnSpc>
            </a:pPr>
            <a:r>
              <a:rPr lang="en-GB" sz="2800" b="1" dirty="0">
                <a:latin typeface="Gabriola" pitchFamily="82" charset="0"/>
              </a:rPr>
              <a:t>Mild Poisoning:</a:t>
            </a:r>
            <a:r>
              <a:rPr lang="en-GB" sz="2800" dirty="0">
                <a:latin typeface="Gabriola" pitchFamily="82" charset="0"/>
              </a:rPr>
              <a:t> Patients often recover with prompt oxygen therapy, but prolonged exposure can lead to permanent brain damage.</a:t>
            </a:r>
          </a:p>
          <a:p>
            <a:pPr lvl="1">
              <a:lnSpc>
                <a:spcPct val="150000"/>
              </a:lnSpc>
            </a:pPr>
            <a:r>
              <a:rPr lang="en-GB" sz="2800" b="1" dirty="0">
                <a:latin typeface="Gabriola" pitchFamily="82" charset="0"/>
              </a:rPr>
              <a:t>Severe Poisoning:</a:t>
            </a:r>
            <a:r>
              <a:rPr lang="en-GB" sz="2800" dirty="0">
                <a:latin typeface="Gabriola" pitchFamily="82" charset="0"/>
              </a:rPr>
              <a:t> Can result in neurological deficits (memory problems, cognitive impairment), cardiac issues (arrhythmias, myocardial injury), and in some cases, death.</a:t>
            </a:r>
          </a:p>
          <a:p>
            <a:pPr lvl="1">
              <a:lnSpc>
                <a:spcPct val="150000"/>
              </a:lnSpc>
            </a:pPr>
            <a:r>
              <a:rPr lang="en-GB" sz="2800" b="1" dirty="0">
                <a:latin typeface="Gabriola" pitchFamily="82" charset="0"/>
              </a:rPr>
              <a:t>Long-term Complications:</a:t>
            </a:r>
            <a:r>
              <a:rPr lang="en-GB" sz="2800" dirty="0">
                <a:latin typeface="Gabriola" pitchFamily="82" charset="0"/>
              </a:rPr>
              <a:t> Post-CO poisoning syndrome, which may include cognitive dysfunction, headaches, dizziness, and mood changes, can persist for weeks or months.</a:t>
            </a:r>
          </a:p>
          <a:p>
            <a:pPr lvl="1">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90</a:t>
            </a:fld>
            <a:endParaRPr lang="en-GB"/>
          </a:p>
        </p:txBody>
      </p:sp>
    </p:spTree>
    <p:extLst>
      <p:ext uri="{BB962C8B-B14F-4D97-AF65-F5344CB8AC3E}">
        <p14:creationId xmlns:p14="http://schemas.microsoft.com/office/powerpoint/2010/main" val="21167242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9036496" cy="706090"/>
          </a:xfrm>
        </p:spPr>
        <p:txBody>
          <a:bodyPr>
            <a:normAutofit/>
          </a:bodyPr>
          <a:lstStyle/>
          <a:p>
            <a:r>
              <a:rPr lang="en-GB" sz="3600" b="1" dirty="0">
                <a:solidFill>
                  <a:schemeClr val="tx1"/>
                </a:solidFill>
                <a:latin typeface="Times" pitchFamily="18" charset="0"/>
              </a:rPr>
              <a:t>Cyanide </a:t>
            </a:r>
            <a:r>
              <a:rPr lang="en-GB" sz="3600" b="1" dirty="0" smtClean="0">
                <a:solidFill>
                  <a:schemeClr val="tx1"/>
                </a:solidFill>
                <a:latin typeface="Times" pitchFamily="18" charset="0"/>
              </a:rPr>
              <a:t>Toxicity</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251520" y="1124744"/>
            <a:ext cx="8568952" cy="5349208"/>
          </a:xfrm>
        </p:spPr>
        <p:txBody>
          <a:bodyPr>
            <a:noAutofit/>
          </a:bodyPr>
          <a:lstStyle/>
          <a:p>
            <a:pPr>
              <a:lnSpc>
                <a:spcPct val="150000"/>
              </a:lnSpc>
            </a:pPr>
            <a:r>
              <a:rPr lang="en-GB" sz="2800" dirty="0" smtClean="0">
                <a:latin typeface="Gabriola" pitchFamily="82" charset="0"/>
              </a:rPr>
              <a:t>Certain </a:t>
            </a:r>
            <a:r>
              <a:rPr lang="en-GB" sz="2800" dirty="0">
                <a:latin typeface="Gabriola" pitchFamily="82" charset="0"/>
              </a:rPr>
              <a:t>types of fires, especially those involving synthetic materials, can release hydrogen cyanide, a potent toxin that disrupts cellular respiration and can lead to metabolic acidosis and organ failure.</a:t>
            </a:r>
          </a:p>
          <a:p>
            <a:pPr>
              <a:lnSpc>
                <a:spcPct val="150000"/>
              </a:lnSpc>
            </a:pPr>
            <a:r>
              <a:rPr lang="en-GB" sz="2800" dirty="0">
                <a:latin typeface="Gabriola" pitchFamily="82" charset="0"/>
              </a:rPr>
              <a:t>Cyanide is a highly toxic chemical that can be rapidly absorbed through inhalation, ingestion, or skin contact.</a:t>
            </a:r>
          </a:p>
          <a:p>
            <a:pPr>
              <a:lnSpc>
                <a:spcPct val="150000"/>
              </a:lnSpc>
            </a:pPr>
            <a:r>
              <a:rPr lang="en-GB" sz="2800" dirty="0">
                <a:latin typeface="Gabriola" pitchFamily="82" charset="0"/>
              </a:rPr>
              <a:t>It disrupts cellular respiration by inhibiting the enzyme cytochrome c oxidase, preventing cells from using oxygen, leading to hypoxia and metabolic acidosis.</a:t>
            </a:r>
          </a:p>
        </p:txBody>
      </p:sp>
      <p:sp>
        <p:nvSpPr>
          <p:cNvPr id="5" name="Slide Number Placeholder 4"/>
          <p:cNvSpPr>
            <a:spLocks noGrp="1"/>
          </p:cNvSpPr>
          <p:nvPr>
            <p:ph type="sldNum" sz="quarter" idx="15"/>
          </p:nvPr>
        </p:nvSpPr>
        <p:spPr/>
        <p:txBody>
          <a:bodyPr/>
          <a:lstStyle/>
          <a:p>
            <a:fld id="{968CA758-BC7F-4AFE-853F-5D1E39DDFDA0}" type="slidenum">
              <a:rPr lang="en-GB" smtClean="0"/>
              <a:t>91</a:t>
            </a:fld>
            <a:endParaRPr lang="en-GB"/>
          </a:p>
        </p:txBody>
      </p:sp>
    </p:spTree>
    <p:extLst>
      <p:ext uri="{BB962C8B-B14F-4D97-AF65-F5344CB8AC3E}">
        <p14:creationId xmlns:p14="http://schemas.microsoft.com/office/powerpoint/2010/main" val="37421897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424936" cy="346050"/>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179512" y="620688"/>
            <a:ext cx="8568952" cy="6048672"/>
          </a:xfrm>
        </p:spPr>
        <p:txBody>
          <a:bodyPr>
            <a:noAutofit/>
          </a:bodyPr>
          <a:lstStyle/>
          <a:p>
            <a:pPr>
              <a:lnSpc>
                <a:spcPct val="150000"/>
              </a:lnSpc>
            </a:pPr>
            <a:r>
              <a:rPr lang="en-GB" sz="2800" b="1" dirty="0">
                <a:latin typeface="Gabriola" pitchFamily="82" charset="0"/>
              </a:rPr>
              <a:t>Sources of Cyanide Exposure</a:t>
            </a:r>
          </a:p>
          <a:p>
            <a:pPr lvl="1">
              <a:lnSpc>
                <a:spcPct val="150000"/>
              </a:lnSpc>
            </a:pPr>
            <a:r>
              <a:rPr lang="en-GB" sz="2800" b="1" dirty="0" smtClean="0">
                <a:latin typeface="Gabriola" pitchFamily="82" charset="0"/>
              </a:rPr>
              <a:t>Fires</a:t>
            </a:r>
            <a:r>
              <a:rPr lang="en-GB" sz="2800" b="1" dirty="0">
                <a:latin typeface="Gabriola" pitchFamily="82" charset="0"/>
              </a:rPr>
              <a:t>:</a:t>
            </a:r>
            <a:r>
              <a:rPr lang="en-GB" sz="2800" dirty="0">
                <a:latin typeface="Gabriola" pitchFamily="82" charset="0"/>
              </a:rPr>
              <a:t> Combustion of materials like plastics, rubber, and synthetic fabrics releases </a:t>
            </a:r>
            <a:r>
              <a:rPr lang="en-GB" sz="2800" b="1" dirty="0">
                <a:latin typeface="Gabriola" pitchFamily="82" charset="0"/>
              </a:rPr>
              <a:t>hydrogen cyanide (HCN)</a:t>
            </a:r>
            <a:r>
              <a:rPr lang="en-GB" sz="2800" dirty="0">
                <a:latin typeface="Gabriola" pitchFamily="82" charset="0"/>
              </a:rPr>
              <a:t>.</a:t>
            </a:r>
          </a:p>
          <a:p>
            <a:pPr lvl="1">
              <a:lnSpc>
                <a:spcPct val="150000"/>
              </a:lnSpc>
            </a:pPr>
            <a:r>
              <a:rPr lang="en-GB" sz="2800" b="1" dirty="0">
                <a:latin typeface="Gabriola" pitchFamily="82" charset="0"/>
              </a:rPr>
              <a:t>Industrial Exposure:</a:t>
            </a:r>
            <a:r>
              <a:rPr lang="en-GB" sz="2800" dirty="0">
                <a:latin typeface="Gabriola" pitchFamily="82" charset="0"/>
              </a:rPr>
              <a:t> Cyanide is used in industries like mining (gold extraction), electroplating, and photography.</a:t>
            </a:r>
          </a:p>
          <a:p>
            <a:pPr lvl="1">
              <a:lnSpc>
                <a:spcPct val="150000"/>
              </a:lnSpc>
            </a:pPr>
            <a:r>
              <a:rPr lang="en-GB" sz="2800" b="1" dirty="0">
                <a:latin typeface="Gabriola" pitchFamily="82" charset="0"/>
              </a:rPr>
              <a:t>Cyanide-containing chemicals:</a:t>
            </a:r>
            <a:r>
              <a:rPr lang="en-GB" sz="2800" dirty="0">
                <a:latin typeface="Gabriola" pitchFamily="82" charset="0"/>
              </a:rPr>
              <a:t> E.g., </a:t>
            </a:r>
            <a:r>
              <a:rPr lang="en-GB" sz="2800" b="1" dirty="0">
                <a:latin typeface="Gabriola" pitchFamily="82" charset="0"/>
              </a:rPr>
              <a:t>sodium cyanide</a:t>
            </a:r>
            <a:r>
              <a:rPr lang="en-GB" sz="2800" dirty="0">
                <a:latin typeface="Gabriola" pitchFamily="82" charset="0"/>
              </a:rPr>
              <a:t>, </a:t>
            </a:r>
            <a:r>
              <a:rPr lang="en-GB" sz="2800" b="1" dirty="0">
                <a:latin typeface="Gabriola" pitchFamily="82" charset="0"/>
              </a:rPr>
              <a:t>potassium cyanide</a:t>
            </a:r>
            <a:r>
              <a:rPr lang="en-GB" sz="2800" dirty="0">
                <a:latin typeface="Gabriola" pitchFamily="82" charset="0"/>
              </a:rPr>
              <a:t>, and </a:t>
            </a:r>
            <a:r>
              <a:rPr lang="en-GB" sz="2800" b="1" dirty="0" err="1">
                <a:latin typeface="Gabriola" pitchFamily="82" charset="0"/>
              </a:rPr>
              <a:t>cyanogenic</a:t>
            </a:r>
            <a:r>
              <a:rPr lang="en-GB" sz="2800" b="1" dirty="0">
                <a:latin typeface="Gabriola" pitchFamily="82" charset="0"/>
              </a:rPr>
              <a:t> compounds</a:t>
            </a:r>
            <a:r>
              <a:rPr lang="en-GB" sz="2800" dirty="0">
                <a:latin typeface="Gabriola" pitchFamily="82" charset="0"/>
              </a:rPr>
              <a:t> (found in certain plants like cassava).</a:t>
            </a:r>
          </a:p>
          <a:p>
            <a:pPr lvl="1">
              <a:lnSpc>
                <a:spcPct val="150000"/>
              </a:lnSpc>
            </a:pPr>
            <a:r>
              <a:rPr lang="en-GB" sz="2800" b="1" dirty="0">
                <a:latin typeface="Gabriola" pitchFamily="82" charset="0"/>
              </a:rPr>
              <a:t>Medications:</a:t>
            </a:r>
            <a:r>
              <a:rPr lang="en-GB" sz="2800" dirty="0">
                <a:latin typeface="Gabriola" pitchFamily="82" charset="0"/>
              </a:rPr>
              <a:t> </a:t>
            </a:r>
            <a:r>
              <a:rPr lang="en-GB" sz="2800" b="1" dirty="0" err="1">
                <a:latin typeface="Gabriola" pitchFamily="82" charset="0"/>
              </a:rPr>
              <a:t>Nitroprusside</a:t>
            </a:r>
            <a:r>
              <a:rPr lang="en-GB" sz="2800" dirty="0">
                <a:latin typeface="Gabriola" pitchFamily="82" charset="0"/>
              </a:rPr>
              <a:t>, used in emergency medicine, can release cyanide in the body.</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92</a:t>
            </a:fld>
            <a:endParaRPr lang="en-GB"/>
          </a:p>
        </p:txBody>
      </p:sp>
    </p:spTree>
    <p:extLst>
      <p:ext uri="{BB962C8B-B14F-4D97-AF65-F5344CB8AC3E}">
        <p14:creationId xmlns:p14="http://schemas.microsoft.com/office/powerpoint/2010/main" val="20166488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640960" cy="332656"/>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404664"/>
            <a:ext cx="8568952" cy="6120680"/>
          </a:xfrm>
        </p:spPr>
        <p:txBody>
          <a:bodyPr>
            <a:noAutofit/>
          </a:bodyPr>
          <a:lstStyle/>
          <a:p>
            <a:pPr>
              <a:lnSpc>
                <a:spcPct val="150000"/>
              </a:lnSpc>
            </a:pPr>
            <a:r>
              <a:rPr lang="en-GB" sz="2800" b="1" dirty="0" smtClean="0">
                <a:latin typeface="Gabriola" pitchFamily="82" charset="0"/>
              </a:rPr>
              <a:t>Mechanism of Cyanide Toxicity</a:t>
            </a:r>
          </a:p>
          <a:p>
            <a:pPr lvl="1">
              <a:lnSpc>
                <a:spcPct val="150000"/>
              </a:lnSpc>
            </a:pPr>
            <a:r>
              <a:rPr lang="en-GB" sz="2800" b="1" dirty="0" smtClean="0">
                <a:latin typeface="Gabriola" pitchFamily="82" charset="0"/>
              </a:rPr>
              <a:t>Inhibition </a:t>
            </a:r>
            <a:r>
              <a:rPr lang="en-GB" sz="2800" b="1" dirty="0">
                <a:latin typeface="Gabriola" pitchFamily="82" charset="0"/>
              </a:rPr>
              <a:t>of Cytochrome c Oxidase:</a:t>
            </a:r>
            <a:r>
              <a:rPr lang="en-GB" sz="2800" dirty="0">
                <a:latin typeface="Gabriola" pitchFamily="82" charset="0"/>
              </a:rPr>
              <a:t> Cyanide binds to this enzyme in mitochondria, blocking the final step of oxidative phosphorylation.</a:t>
            </a:r>
          </a:p>
          <a:p>
            <a:pPr lvl="1">
              <a:lnSpc>
                <a:spcPct val="150000"/>
              </a:lnSpc>
            </a:pPr>
            <a:r>
              <a:rPr lang="en-GB" sz="2800" b="1" dirty="0">
                <a:latin typeface="Gabriola" pitchFamily="82" charset="0"/>
              </a:rPr>
              <a:t>Cellular Hypoxia:</a:t>
            </a:r>
            <a:r>
              <a:rPr lang="en-GB" sz="2800" dirty="0">
                <a:latin typeface="Gabriola" pitchFamily="82" charset="0"/>
              </a:rPr>
              <a:t> Cells are unable to use oxygen, despite normal oxygen delivery, leading to </a:t>
            </a:r>
            <a:r>
              <a:rPr lang="en-GB" sz="2800" b="1" dirty="0">
                <a:latin typeface="Gabriola" pitchFamily="82" charset="0"/>
              </a:rPr>
              <a:t>anaerobic metabolism</a:t>
            </a:r>
            <a:r>
              <a:rPr lang="en-GB" sz="2800" dirty="0">
                <a:latin typeface="Gabriola" pitchFamily="82" charset="0"/>
              </a:rPr>
              <a:t>, </a:t>
            </a:r>
            <a:r>
              <a:rPr lang="en-GB" sz="2800" b="1" dirty="0">
                <a:latin typeface="Gabriola" pitchFamily="82" charset="0"/>
              </a:rPr>
              <a:t>lactic acidosis</a:t>
            </a:r>
            <a:r>
              <a:rPr lang="en-GB" sz="2800" dirty="0">
                <a:latin typeface="Gabriola" pitchFamily="82" charset="0"/>
              </a:rPr>
              <a:t>, and cellular death.</a:t>
            </a:r>
          </a:p>
          <a:p>
            <a:pPr lvl="1">
              <a:lnSpc>
                <a:spcPct val="150000"/>
              </a:lnSpc>
            </a:pPr>
            <a:r>
              <a:rPr lang="en-GB" sz="2800" b="1" dirty="0">
                <a:latin typeface="Gabriola" pitchFamily="82" charset="0"/>
              </a:rPr>
              <a:t>Systemic Effects:</a:t>
            </a:r>
            <a:r>
              <a:rPr lang="en-GB" sz="2800" dirty="0">
                <a:latin typeface="Gabriola" pitchFamily="82" charset="0"/>
              </a:rPr>
              <a:t> Affects highly oxygen-dependent tissues like the </a:t>
            </a:r>
            <a:r>
              <a:rPr lang="en-GB" sz="2800" b="1" dirty="0">
                <a:latin typeface="Gabriola" pitchFamily="82" charset="0"/>
              </a:rPr>
              <a:t>brain</a:t>
            </a:r>
            <a:r>
              <a:rPr lang="en-GB" sz="2800" dirty="0">
                <a:latin typeface="Gabriola" pitchFamily="82" charset="0"/>
              </a:rPr>
              <a:t> and </a:t>
            </a:r>
            <a:r>
              <a:rPr lang="en-GB" sz="2800" b="1" dirty="0">
                <a:latin typeface="Gabriola" pitchFamily="82" charset="0"/>
              </a:rPr>
              <a:t>heart</a:t>
            </a:r>
            <a:r>
              <a:rPr lang="en-GB" sz="2800" dirty="0">
                <a:latin typeface="Gabriola" pitchFamily="82" charset="0"/>
              </a:rPr>
              <a:t>, leading to impaired function and potentially irreversible damage</a:t>
            </a:r>
            <a:r>
              <a:rPr lang="en-GB" sz="2800" dirty="0" smtClean="0">
                <a:latin typeface="Gabriola" pitchFamily="82" charset="0"/>
              </a:rPr>
              <a:t>.</a:t>
            </a: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93</a:t>
            </a:fld>
            <a:endParaRPr lang="en-GB" dirty="0"/>
          </a:p>
        </p:txBody>
      </p:sp>
    </p:spTree>
    <p:extLst>
      <p:ext uri="{BB962C8B-B14F-4D97-AF65-F5344CB8AC3E}">
        <p14:creationId xmlns:p14="http://schemas.microsoft.com/office/powerpoint/2010/main" val="4738539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74638"/>
            <a:ext cx="7889304" cy="490066"/>
          </a:xfrm>
        </p:spPr>
        <p:txBody>
          <a:bodyPr>
            <a:normAutofit fontScale="90000"/>
          </a:bodyPr>
          <a:lstStyle/>
          <a:p>
            <a:r>
              <a:rPr lang="en-GB" b="1" dirty="0" smtClean="0">
                <a:solidFill>
                  <a:schemeClr val="tx1"/>
                </a:solidFill>
                <a:latin typeface="Times" pitchFamily="18" charset="0"/>
              </a:rPr>
              <a:t>Clinical features of cyanide toxicity</a:t>
            </a:r>
            <a:endParaRPr lang="en-GB" b="1" dirty="0">
              <a:solidFill>
                <a:schemeClr val="tx1"/>
              </a:solidFill>
              <a:latin typeface="Times" pitchFamily="18" charset="0"/>
            </a:endParaRPr>
          </a:p>
        </p:txBody>
      </p:sp>
      <p:sp>
        <p:nvSpPr>
          <p:cNvPr id="3" name="Content Placeholder 2"/>
          <p:cNvSpPr>
            <a:spLocks noGrp="1"/>
          </p:cNvSpPr>
          <p:nvPr>
            <p:ph sz="quarter" idx="1"/>
          </p:nvPr>
        </p:nvSpPr>
        <p:spPr>
          <a:xfrm>
            <a:off x="107504" y="692696"/>
            <a:ext cx="8784976" cy="5781256"/>
          </a:xfrm>
        </p:spPr>
        <p:txBody>
          <a:bodyPr>
            <a:normAutofit fontScale="92500" lnSpcReduction="10000"/>
          </a:bodyPr>
          <a:lstStyle/>
          <a:p>
            <a:pPr>
              <a:lnSpc>
                <a:spcPct val="150000"/>
              </a:lnSpc>
            </a:pPr>
            <a:r>
              <a:rPr lang="en-GB" sz="2800" b="1" dirty="0" smtClean="0">
                <a:latin typeface="Gabriola" pitchFamily="82" charset="0"/>
              </a:rPr>
              <a:t>Early </a:t>
            </a:r>
            <a:r>
              <a:rPr lang="en-GB" sz="2800" b="1" dirty="0">
                <a:latin typeface="Gabriola" pitchFamily="82" charset="0"/>
              </a:rPr>
              <a:t>Symptoms:</a:t>
            </a:r>
          </a:p>
          <a:p>
            <a:pPr lvl="1">
              <a:lnSpc>
                <a:spcPct val="150000"/>
              </a:lnSpc>
            </a:pPr>
            <a:r>
              <a:rPr lang="en-GB" sz="2800" dirty="0" smtClean="0">
                <a:latin typeface="Gabriola" pitchFamily="82" charset="0"/>
              </a:rPr>
              <a:t>Headache, Dizziness, Nausea </a:t>
            </a:r>
            <a:r>
              <a:rPr lang="en-GB" sz="2800" dirty="0">
                <a:latin typeface="Gabriola" pitchFamily="82" charset="0"/>
              </a:rPr>
              <a:t>and </a:t>
            </a:r>
            <a:r>
              <a:rPr lang="en-GB" sz="2800" dirty="0" smtClean="0">
                <a:latin typeface="Gabriola" pitchFamily="82" charset="0"/>
              </a:rPr>
              <a:t>vomiting, Confusion, Rapid </a:t>
            </a:r>
            <a:r>
              <a:rPr lang="en-GB" sz="2800" dirty="0">
                <a:latin typeface="Gabriola" pitchFamily="82" charset="0"/>
              </a:rPr>
              <a:t>breathing (hyperventilation)</a:t>
            </a:r>
          </a:p>
          <a:p>
            <a:pPr>
              <a:lnSpc>
                <a:spcPct val="150000"/>
              </a:lnSpc>
            </a:pPr>
            <a:r>
              <a:rPr lang="en-GB" sz="2800" b="1" dirty="0">
                <a:latin typeface="Gabriola" pitchFamily="82" charset="0"/>
              </a:rPr>
              <a:t>Progressive Symptoms (as toxicity increases):</a:t>
            </a:r>
          </a:p>
          <a:p>
            <a:pPr lvl="1">
              <a:lnSpc>
                <a:spcPct val="150000"/>
              </a:lnSpc>
            </a:pPr>
            <a:r>
              <a:rPr lang="en-GB" sz="2800" b="1" dirty="0">
                <a:latin typeface="Gabriola" pitchFamily="82" charset="0"/>
              </a:rPr>
              <a:t>Cardiovascular:</a:t>
            </a:r>
            <a:r>
              <a:rPr lang="en-GB" sz="2800" dirty="0">
                <a:latin typeface="Gabriola" pitchFamily="82" charset="0"/>
              </a:rPr>
              <a:t> Tachycardia, hypertension, hypotension (in severe poisoning)</a:t>
            </a:r>
          </a:p>
          <a:p>
            <a:pPr lvl="1">
              <a:lnSpc>
                <a:spcPct val="150000"/>
              </a:lnSpc>
            </a:pPr>
            <a:r>
              <a:rPr lang="en-GB" sz="2800" b="1" dirty="0">
                <a:latin typeface="Gabriola" pitchFamily="82" charset="0"/>
              </a:rPr>
              <a:t>Respiratory:</a:t>
            </a:r>
            <a:r>
              <a:rPr lang="en-GB" sz="2800" dirty="0">
                <a:latin typeface="Gabriola" pitchFamily="82" charset="0"/>
              </a:rPr>
              <a:t> </a:t>
            </a:r>
            <a:r>
              <a:rPr lang="en-GB" sz="2800" dirty="0" err="1">
                <a:latin typeface="Gabriola" pitchFamily="82" charset="0"/>
              </a:rPr>
              <a:t>Dyspnea</a:t>
            </a:r>
            <a:r>
              <a:rPr lang="en-GB" sz="2800" dirty="0">
                <a:latin typeface="Gabriola" pitchFamily="82" charset="0"/>
              </a:rPr>
              <a:t> (shortness of breath), respiratory distress</a:t>
            </a:r>
          </a:p>
          <a:p>
            <a:pPr lvl="1">
              <a:lnSpc>
                <a:spcPct val="150000"/>
              </a:lnSpc>
            </a:pPr>
            <a:r>
              <a:rPr lang="en-GB" sz="2800" b="1" dirty="0">
                <a:latin typeface="Gabriola" pitchFamily="82" charset="0"/>
              </a:rPr>
              <a:t>Neurological:</a:t>
            </a:r>
            <a:r>
              <a:rPr lang="en-GB" sz="2800" dirty="0">
                <a:latin typeface="Gabriola" pitchFamily="82" charset="0"/>
              </a:rPr>
              <a:t> Seizures, loss of consciousness</a:t>
            </a:r>
          </a:p>
          <a:p>
            <a:pPr lvl="1">
              <a:lnSpc>
                <a:spcPct val="150000"/>
              </a:lnSpc>
            </a:pPr>
            <a:r>
              <a:rPr lang="en-GB" sz="2800" b="1" dirty="0">
                <a:latin typeface="Gabriola" pitchFamily="82" charset="0"/>
              </a:rPr>
              <a:t>Cyanosis:</a:t>
            </a:r>
            <a:r>
              <a:rPr lang="en-GB" sz="2800" dirty="0">
                <a:latin typeface="Gabriola" pitchFamily="82" charset="0"/>
              </a:rPr>
              <a:t> Bluish discoloration of the skin and mucous membranes despite oxygen supplementation</a:t>
            </a:r>
          </a:p>
          <a:p>
            <a:pPr lvl="1">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94</a:t>
            </a:fld>
            <a:endParaRPr lang="en-GB"/>
          </a:p>
        </p:txBody>
      </p:sp>
    </p:spTree>
    <p:extLst>
      <p:ext uri="{BB962C8B-B14F-4D97-AF65-F5344CB8AC3E}">
        <p14:creationId xmlns:p14="http://schemas.microsoft.com/office/powerpoint/2010/main" val="29237724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712968" cy="346050"/>
          </a:xfrm>
        </p:spPr>
        <p:txBody>
          <a:bodyPr>
            <a:normAutofit fontScale="90000"/>
          </a:bodyPr>
          <a:lstStyle/>
          <a:p>
            <a:pPr algn="r"/>
            <a:r>
              <a:rPr lang="en-GB" dirty="0" smtClean="0"/>
              <a:t>Cont..</a:t>
            </a:r>
            <a:endParaRPr lang="en-GB" dirty="0"/>
          </a:p>
        </p:txBody>
      </p:sp>
      <p:sp>
        <p:nvSpPr>
          <p:cNvPr id="4" name="Slide Number Placeholder 3"/>
          <p:cNvSpPr>
            <a:spLocks noGrp="1"/>
          </p:cNvSpPr>
          <p:nvPr>
            <p:ph type="sldNum" sz="quarter" idx="12"/>
          </p:nvPr>
        </p:nvSpPr>
        <p:spPr/>
        <p:txBody>
          <a:bodyPr/>
          <a:lstStyle/>
          <a:p>
            <a:fld id="{968CA758-BC7F-4AFE-853F-5D1E39DDFDA0}" type="slidenum">
              <a:rPr lang="en-GB" smtClean="0"/>
              <a:t>95</a:t>
            </a:fld>
            <a:endParaRPr lang="en-GB"/>
          </a:p>
        </p:txBody>
      </p:sp>
      <p:sp>
        <p:nvSpPr>
          <p:cNvPr id="5" name="Content Placeholder 4"/>
          <p:cNvSpPr>
            <a:spLocks noGrp="1"/>
          </p:cNvSpPr>
          <p:nvPr>
            <p:ph sz="quarter" idx="1"/>
          </p:nvPr>
        </p:nvSpPr>
        <p:spPr>
          <a:xfrm>
            <a:off x="179512" y="548680"/>
            <a:ext cx="2664296" cy="5904656"/>
          </a:xfrm>
        </p:spPr>
        <p:txBody>
          <a:bodyPr>
            <a:normAutofit fontScale="92500" lnSpcReduction="10000"/>
          </a:bodyPr>
          <a:lstStyle/>
          <a:p>
            <a:pPr>
              <a:lnSpc>
                <a:spcPct val="150000"/>
              </a:lnSpc>
            </a:pPr>
            <a:r>
              <a:rPr lang="en-GB" sz="3000" b="1" dirty="0">
                <a:latin typeface="Gabriola" pitchFamily="82" charset="0"/>
              </a:rPr>
              <a:t>Severe Poisoning:</a:t>
            </a:r>
          </a:p>
          <a:p>
            <a:pPr lvl="1">
              <a:lnSpc>
                <a:spcPct val="150000"/>
              </a:lnSpc>
            </a:pPr>
            <a:r>
              <a:rPr lang="en-GB" sz="3000" dirty="0">
                <a:latin typeface="Gabriola" pitchFamily="82" charset="0"/>
              </a:rPr>
              <a:t>Coma, Cardiac arrhythmias, Respiratory failure, Death</a:t>
            </a:r>
          </a:p>
          <a:p>
            <a:endParaRPr lang="en-GB" dirty="0"/>
          </a:p>
        </p:txBody>
      </p:sp>
      <p:sp>
        <p:nvSpPr>
          <p:cNvPr id="6" name="Content Placeholder 5"/>
          <p:cNvSpPr>
            <a:spLocks noGrp="1"/>
          </p:cNvSpPr>
          <p:nvPr>
            <p:ph sz="quarter" idx="2"/>
          </p:nvPr>
        </p:nvSpPr>
        <p:spPr>
          <a:xfrm>
            <a:off x="3059832" y="188640"/>
            <a:ext cx="5544616" cy="6768752"/>
          </a:xfrm>
        </p:spPr>
        <p:txBody>
          <a:bodyPr>
            <a:normAutofit fontScale="92500" lnSpcReduction="10000"/>
          </a:bodyPr>
          <a:lstStyle/>
          <a:p>
            <a:pPr marL="0" indent="0">
              <a:lnSpc>
                <a:spcPct val="150000"/>
              </a:lnSpc>
              <a:buNone/>
            </a:pPr>
            <a:r>
              <a:rPr lang="en-GB" sz="2900" b="1" dirty="0">
                <a:latin typeface="Gabriola" pitchFamily="82" charset="0"/>
              </a:rPr>
              <a:t>Diagnosis of Cyanide Toxicity</a:t>
            </a:r>
          </a:p>
          <a:p>
            <a:pPr>
              <a:lnSpc>
                <a:spcPct val="150000"/>
              </a:lnSpc>
            </a:pPr>
            <a:r>
              <a:rPr lang="en-GB" sz="2900" dirty="0">
                <a:latin typeface="Gabriola" pitchFamily="82" charset="0"/>
              </a:rPr>
              <a:t>    Clinical Suspicion:</a:t>
            </a:r>
          </a:p>
          <a:p>
            <a:pPr lvl="1">
              <a:lnSpc>
                <a:spcPct val="150000"/>
              </a:lnSpc>
            </a:pPr>
            <a:r>
              <a:rPr lang="en-GB" sz="2600" dirty="0">
                <a:latin typeface="Gabriola" pitchFamily="82" charset="0"/>
              </a:rPr>
              <a:t>   Recent exposure to a fire, industrial chemicals, or cyanide-containing compounds.</a:t>
            </a:r>
          </a:p>
          <a:p>
            <a:pPr lvl="1">
              <a:lnSpc>
                <a:spcPct val="150000"/>
              </a:lnSpc>
            </a:pPr>
            <a:r>
              <a:rPr lang="en-GB" sz="2600" dirty="0">
                <a:latin typeface="Gabriola" pitchFamily="82" charset="0"/>
              </a:rPr>
              <a:t>  Symptoms of hypoxia despite oxygen supplementation.</a:t>
            </a:r>
          </a:p>
          <a:p>
            <a:pPr>
              <a:lnSpc>
                <a:spcPct val="150000"/>
              </a:lnSpc>
            </a:pPr>
            <a:r>
              <a:rPr lang="en-GB" sz="2900" dirty="0">
                <a:latin typeface="Gabriola" pitchFamily="82" charset="0"/>
              </a:rPr>
              <a:t>    Blood Tests:</a:t>
            </a:r>
          </a:p>
          <a:p>
            <a:pPr lvl="1">
              <a:lnSpc>
                <a:spcPct val="150000"/>
              </a:lnSpc>
            </a:pPr>
            <a:r>
              <a:rPr lang="en-GB" sz="2600" dirty="0">
                <a:latin typeface="Gabriola" pitchFamily="82" charset="0"/>
              </a:rPr>
              <a:t>   Arterial blood gases (ABG): To assess lactic acidosis and oxygen utilization.</a:t>
            </a:r>
          </a:p>
          <a:p>
            <a:pPr lvl="1">
              <a:lnSpc>
                <a:spcPct val="150000"/>
              </a:lnSpc>
            </a:pPr>
            <a:r>
              <a:rPr lang="en-GB" sz="2600" dirty="0">
                <a:latin typeface="Gabriola" pitchFamily="82" charset="0"/>
              </a:rPr>
              <a:t>Serum cyanide levels: Can confirm exposure, though not always immediately available.</a:t>
            </a:r>
          </a:p>
          <a:p>
            <a:endParaRPr lang="en-GB" dirty="0"/>
          </a:p>
        </p:txBody>
      </p:sp>
    </p:spTree>
    <p:extLst>
      <p:ext uri="{BB962C8B-B14F-4D97-AF65-F5344CB8AC3E}">
        <p14:creationId xmlns:p14="http://schemas.microsoft.com/office/powerpoint/2010/main" val="241110190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748464" cy="562074"/>
          </a:xfrm>
        </p:spPr>
        <p:txBody>
          <a:bodyPr/>
          <a:lstStyle/>
          <a:p>
            <a:r>
              <a:rPr lang="en-GB" b="1" dirty="0" smtClean="0">
                <a:solidFill>
                  <a:schemeClr val="tx1"/>
                </a:solidFill>
                <a:latin typeface="Times" pitchFamily="18" charset="0"/>
              </a:rPr>
              <a:t>Treatment of cyanide toxicity</a:t>
            </a:r>
            <a:endParaRPr lang="en-GB" b="1" dirty="0">
              <a:solidFill>
                <a:schemeClr val="tx1"/>
              </a:solidFill>
              <a:latin typeface="Times" pitchFamily="18" charset="0"/>
            </a:endParaRPr>
          </a:p>
        </p:txBody>
      </p:sp>
      <p:sp>
        <p:nvSpPr>
          <p:cNvPr id="4" name="Slide Number Placeholder 3"/>
          <p:cNvSpPr>
            <a:spLocks noGrp="1"/>
          </p:cNvSpPr>
          <p:nvPr>
            <p:ph type="sldNum" sz="quarter" idx="12"/>
          </p:nvPr>
        </p:nvSpPr>
        <p:spPr/>
        <p:txBody>
          <a:bodyPr/>
          <a:lstStyle/>
          <a:p>
            <a:fld id="{968CA758-BC7F-4AFE-853F-5D1E39DDFDA0}" type="slidenum">
              <a:rPr lang="en-GB" smtClean="0"/>
              <a:t>96</a:t>
            </a:fld>
            <a:endParaRPr lang="en-GB"/>
          </a:p>
        </p:txBody>
      </p:sp>
      <p:sp>
        <p:nvSpPr>
          <p:cNvPr id="5" name="Content Placeholder 4"/>
          <p:cNvSpPr>
            <a:spLocks noGrp="1"/>
          </p:cNvSpPr>
          <p:nvPr>
            <p:ph sz="quarter" idx="1"/>
          </p:nvPr>
        </p:nvSpPr>
        <p:spPr>
          <a:xfrm>
            <a:off x="251520" y="1052736"/>
            <a:ext cx="8280920" cy="5148064"/>
          </a:xfrm>
        </p:spPr>
        <p:txBody>
          <a:bodyPr>
            <a:normAutofit/>
          </a:bodyPr>
          <a:lstStyle/>
          <a:p>
            <a:pPr marL="0" indent="0">
              <a:buNone/>
            </a:pPr>
            <a:r>
              <a:rPr lang="en-GB" b="1" dirty="0" smtClean="0"/>
              <a:t>1</a:t>
            </a:r>
            <a:r>
              <a:rPr lang="en-GB" b="1" dirty="0"/>
              <a:t>. Immediate Actions:</a:t>
            </a:r>
          </a:p>
          <a:p>
            <a:pPr>
              <a:lnSpc>
                <a:spcPct val="170000"/>
              </a:lnSpc>
            </a:pPr>
            <a:r>
              <a:rPr lang="en-GB" sz="2600" b="1" dirty="0">
                <a:latin typeface="Gabriola" pitchFamily="82" charset="0"/>
              </a:rPr>
              <a:t>Remove the patient from the source</a:t>
            </a:r>
            <a:r>
              <a:rPr lang="en-GB" sz="2600" dirty="0">
                <a:latin typeface="Gabriola" pitchFamily="82" charset="0"/>
              </a:rPr>
              <a:t> of cyanide exposure (e.g., evacuation from a fire or chemical spill).</a:t>
            </a:r>
          </a:p>
          <a:p>
            <a:pPr>
              <a:lnSpc>
                <a:spcPct val="170000"/>
              </a:lnSpc>
            </a:pPr>
            <a:r>
              <a:rPr lang="en-GB" sz="2600" b="1" dirty="0">
                <a:latin typeface="Gabriola" pitchFamily="82" charset="0"/>
              </a:rPr>
              <a:t>Administer oxygen (100% O2):</a:t>
            </a:r>
            <a:r>
              <a:rPr lang="en-GB" sz="2600" dirty="0">
                <a:latin typeface="Gabriola" pitchFamily="82" charset="0"/>
              </a:rPr>
              <a:t> High-flow oxygen helps to reduce cyanide levels by increasing oxygen delivery to tissues.</a:t>
            </a:r>
          </a:p>
          <a:p>
            <a:endParaRPr lang="en-GB" dirty="0"/>
          </a:p>
        </p:txBody>
      </p:sp>
    </p:spTree>
    <p:extLst>
      <p:ext uri="{BB962C8B-B14F-4D97-AF65-F5344CB8AC3E}">
        <p14:creationId xmlns:p14="http://schemas.microsoft.com/office/powerpoint/2010/main" val="24133825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745288" cy="634082"/>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476672"/>
            <a:ext cx="7673280" cy="5997280"/>
          </a:xfrm>
        </p:spPr>
        <p:txBody>
          <a:bodyPr>
            <a:normAutofit/>
          </a:bodyPr>
          <a:lstStyle/>
          <a:p>
            <a:pPr marL="0" indent="0">
              <a:buNone/>
            </a:pPr>
            <a:r>
              <a:rPr lang="en-GB" sz="2800" b="1" dirty="0"/>
              <a:t>2. Antidotes:</a:t>
            </a:r>
          </a:p>
          <a:p>
            <a:pPr lvl="1">
              <a:lnSpc>
                <a:spcPct val="150000"/>
              </a:lnSpc>
            </a:pPr>
            <a:r>
              <a:rPr lang="en-GB" sz="2800" b="1" dirty="0" err="1">
                <a:latin typeface="Gabriola" pitchFamily="82" charset="0"/>
              </a:rPr>
              <a:t>Hydroxocobalamin</a:t>
            </a:r>
            <a:r>
              <a:rPr lang="en-GB" sz="2800" b="1" dirty="0">
                <a:latin typeface="Gabriola" pitchFamily="82" charset="0"/>
              </a:rPr>
              <a:t>:</a:t>
            </a:r>
            <a:r>
              <a:rPr lang="en-GB" sz="2800" dirty="0">
                <a:latin typeface="Gabriola" pitchFamily="82" charset="0"/>
              </a:rPr>
              <a:t> The preferred antidote. Binds cyanide to form </a:t>
            </a:r>
            <a:r>
              <a:rPr lang="en-GB" sz="2800" b="1" dirty="0" err="1">
                <a:latin typeface="Gabriola" pitchFamily="82" charset="0"/>
              </a:rPr>
              <a:t>cyanocobalamin</a:t>
            </a:r>
            <a:r>
              <a:rPr lang="en-GB" sz="2800" dirty="0">
                <a:latin typeface="Gabriola" pitchFamily="82" charset="0"/>
              </a:rPr>
              <a:t> (vitamin B12), which is excreted in the urine.</a:t>
            </a:r>
          </a:p>
          <a:p>
            <a:pPr lvl="1">
              <a:lnSpc>
                <a:spcPct val="150000"/>
              </a:lnSpc>
            </a:pPr>
            <a:r>
              <a:rPr lang="en-GB" sz="2800" b="1" dirty="0">
                <a:latin typeface="Gabriola" pitchFamily="82" charset="0"/>
              </a:rPr>
              <a:t>Sodium thiosulfate:</a:t>
            </a:r>
            <a:r>
              <a:rPr lang="en-GB" sz="2800" dirty="0">
                <a:latin typeface="Gabriola" pitchFamily="82" charset="0"/>
              </a:rPr>
              <a:t> Converts cyanide into a less toxic compound (</a:t>
            </a:r>
            <a:r>
              <a:rPr lang="en-GB" sz="2800" dirty="0" err="1">
                <a:latin typeface="Gabriola" pitchFamily="82" charset="0"/>
              </a:rPr>
              <a:t>thiocyanate</a:t>
            </a:r>
            <a:r>
              <a:rPr lang="en-GB" sz="2800" dirty="0">
                <a:latin typeface="Gabriola" pitchFamily="82" charset="0"/>
              </a:rPr>
              <a:t>) that is excreted by the kidneys.</a:t>
            </a:r>
          </a:p>
          <a:p>
            <a:pPr lvl="1">
              <a:lnSpc>
                <a:spcPct val="150000"/>
              </a:lnSpc>
            </a:pPr>
            <a:r>
              <a:rPr lang="en-GB" sz="2800" b="1" dirty="0">
                <a:latin typeface="Gabriola" pitchFamily="82" charset="0"/>
              </a:rPr>
              <a:t>Sodium nitrite:</a:t>
            </a:r>
            <a:r>
              <a:rPr lang="en-GB" sz="2800" dirty="0">
                <a:latin typeface="Gabriola" pitchFamily="82" charset="0"/>
              </a:rPr>
              <a:t> Induces </a:t>
            </a:r>
            <a:r>
              <a:rPr lang="en-GB" sz="2800" dirty="0" err="1">
                <a:latin typeface="Gabriola" pitchFamily="82" charset="0"/>
              </a:rPr>
              <a:t>methemoglobin</a:t>
            </a:r>
            <a:r>
              <a:rPr lang="en-GB" sz="2800" dirty="0">
                <a:latin typeface="Gabriola" pitchFamily="82" charset="0"/>
              </a:rPr>
              <a:t> formation, which binds cyanide, though this treatment is now less commonly used due to potential side effects.</a:t>
            </a:r>
          </a:p>
          <a:p>
            <a:endParaRPr lang="en-GB" sz="2800" dirty="0"/>
          </a:p>
        </p:txBody>
      </p:sp>
      <p:sp>
        <p:nvSpPr>
          <p:cNvPr id="5" name="Slide Number Placeholder 4"/>
          <p:cNvSpPr>
            <a:spLocks noGrp="1"/>
          </p:cNvSpPr>
          <p:nvPr>
            <p:ph type="sldNum" sz="quarter" idx="15"/>
          </p:nvPr>
        </p:nvSpPr>
        <p:spPr/>
        <p:txBody>
          <a:bodyPr/>
          <a:lstStyle/>
          <a:p>
            <a:fld id="{968CA758-BC7F-4AFE-853F-5D1E39DDFDA0}" type="slidenum">
              <a:rPr lang="en-GB" smtClean="0"/>
              <a:t>97</a:t>
            </a:fld>
            <a:endParaRPr lang="en-GB"/>
          </a:p>
        </p:txBody>
      </p:sp>
    </p:spTree>
    <p:extLst>
      <p:ext uri="{BB962C8B-B14F-4D97-AF65-F5344CB8AC3E}">
        <p14:creationId xmlns:p14="http://schemas.microsoft.com/office/powerpoint/2010/main" val="297392346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490066"/>
          </a:xfrm>
        </p:spPr>
        <p:txBody>
          <a:bodyPr>
            <a:normAutofit fontScale="90000"/>
          </a:bodyPr>
          <a:lstStyle/>
          <a:p>
            <a:pPr algn="r"/>
            <a:r>
              <a:rPr lang="en-GB" dirty="0" smtClean="0"/>
              <a:t>Cont..</a:t>
            </a:r>
            <a:endParaRPr lang="en-GB" dirty="0"/>
          </a:p>
        </p:txBody>
      </p:sp>
      <p:sp>
        <p:nvSpPr>
          <p:cNvPr id="3" name="Content Placeholder 2"/>
          <p:cNvSpPr>
            <a:spLocks noGrp="1"/>
          </p:cNvSpPr>
          <p:nvPr>
            <p:ph sz="quarter" idx="1"/>
          </p:nvPr>
        </p:nvSpPr>
        <p:spPr>
          <a:xfrm>
            <a:off x="395536" y="908720"/>
            <a:ext cx="7529264" cy="5565232"/>
          </a:xfrm>
        </p:spPr>
        <p:txBody>
          <a:bodyPr>
            <a:normAutofit/>
          </a:bodyPr>
          <a:lstStyle/>
          <a:p>
            <a:pPr marL="0" indent="0">
              <a:lnSpc>
                <a:spcPct val="150000"/>
              </a:lnSpc>
              <a:buNone/>
            </a:pPr>
            <a:r>
              <a:rPr lang="en-GB" sz="2800" b="1" dirty="0">
                <a:latin typeface="Gabriola" pitchFamily="82" charset="0"/>
              </a:rPr>
              <a:t>3. Supportive Care:</a:t>
            </a:r>
          </a:p>
          <a:p>
            <a:pPr lvl="1">
              <a:lnSpc>
                <a:spcPct val="150000"/>
              </a:lnSpc>
            </a:pPr>
            <a:r>
              <a:rPr lang="en-GB" sz="2800" b="1" dirty="0">
                <a:latin typeface="Gabriola" pitchFamily="82" charset="0"/>
              </a:rPr>
              <a:t>Monitor cardiac and respiratory status.</a:t>
            </a:r>
            <a:endParaRPr lang="en-GB" sz="2800" dirty="0">
              <a:latin typeface="Gabriola" pitchFamily="82" charset="0"/>
            </a:endParaRPr>
          </a:p>
          <a:p>
            <a:pPr lvl="1">
              <a:lnSpc>
                <a:spcPct val="150000"/>
              </a:lnSpc>
            </a:pPr>
            <a:r>
              <a:rPr lang="en-GB" sz="2800" b="1" dirty="0">
                <a:latin typeface="Gabriola" pitchFamily="82" charset="0"/>
              </a:rPr>
              <a:t>Intravenous fluids</a:t>
            </a:r>
            <a:r>
              <a:rPr lang="en-GB" sz="2800" dirty="0">
                <a:latin typeface="Gabriola" pitchFamily="82" charset="0"/>
              </a:rPr>
              <a:t> to manage hypotension.</a:t>
            </a:r>
          </a:p>
          <a:p>
            <a:pPr lvl="1">
              <a:lnSpc>
                <a:spcPct val="150000"/>
              </a:lnSpc>
            </a:pPr>
            <a:r>
              <a:rPr lang="en-GB" sz="2800" b="1" dirty="0">
                <a:latin typeface="Gabriola" pitchFamily="82" charset="0"/>
              </a:rPr>
              <a:t>Seizure management</a:t>
            </a:r>
            <a:r>
              <a:rPr lang="en-GB" sz="2800" dirty="0">
                <a:latin typeface="Gabriola" pitchFamily="82" charset="0"/>
              </a:rPr>
              <a:t> with appropriate anticonvulsants if necessary.</a:t>
            </a:r>
          </a:p>
          <a:p>
            <a:pPr lvl="1">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98</a:t>
            </a:fld>
            <a:endParaRPr lang="en-GB"/>
          </a:p>
        </p:txBody>
      </p:sp>
    </p:spTree>
    <p:extLst>
      <p:ext uri="{BB962C8B-B14F-4D97-AF65-F5344CB8AC3E}">
        <p14:creationId xmlns:p14="http://schemas.microsoft.com/office/powerpoint/2010/main" val="34703340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562074"/>
          </a:xfrm>
        </p:spPr>
        <p:txBody>
          <a:bodyPr/>
          <a:lstStyle/>
          <a:p>
            <a:pPr algn="r"/>
            <a:r>
              <a:rPr lang="en-GB" dirty="0" smtClean="0"/>
              <a:t>Cont..</a:t>
            </a:r>
            <a:endParaRPr lang="en-GB" dirty="0"/>
          </a:p>
        </p:txBody>
      </p:sp>
      <p:sp>
        <p:nvSpPr>
          <p:cNvPr id="3" name="Content Placeholder 2"/>
          <p:cNvSpPr>
            <a:spLocks noGrp="1"/>
          </p:cNvSpPr>
          <p:nvPr>
            <p:ph sz="quarter" idx="1"/>
          </p:nvPr>
        </p:nvSpPr>
        <p:spPr>
          <a:xfrm>
            <a:off x="179512" y="476672"/>
            <a:ext cx="8496944" cy="5997280"/>
          </a:xfrm>
        </p:spPr>
        <p:txBody>
          <a:bodyPr>
            <a:noAutofit/>
          </a:bodyPr>
          <a:lstStyle/>
          <a:p>
            <a:pPr>
              <a:lnSpc>
                <a:spcPct val="150000"/>
              </a:lnSpc>
            </a:pPr>
            <a:r>
              <a:rPr lang="en-GB" sz="2800" b="1" dirty="0">
                <a:latin typeface="Gabriola" pitchFamily="82" charset="0"/>
              </a:rPr>
              <a:t>Prognosis and Complications</a:t>
            </a:r>
          </a:p>
          <a:p>
            <a:pPr lvl="1">
              <a:lnSpc>
                <a:spcPct val="150000"/>
              </a:lnSpc>
            </a:pPr>
            <a:r>
              <a:rPr lang="en-GB" sz="2800" b="1" dirty="0">
                <a:latin typeface="Gabriola" pitchFamily="82" charset="0"/>
              </a:rPr>
              <a:t>Mild to moderate poisoning:</a:t>
            </a:r>
            <a:r>
              <a:rPr lang="en-GB" sz="2800" dirty="0">
                <a:latin typeface="Gabriola" pitchFamily="82" charset="0"/>
              </a:rPr>
              <a:t> Rapid recovery with appropriate treatment, especially with early administration of antidotes.</a:t>
            </a:r>
          </a:p>
          <a:p>
            <a:pPr lvl="1">
              <a:lnSpc>
                <a:spcPct val="150000"/>
              </a:lnSpc>
            </a:pPr>
            <a:r>
              <a:rPr lang="en-GB" sz="2800" b="1" dirty="0">
                <a:latin typeface="Gabriola" pitchFamily="82" charset="0"/>
              </a:rPr>
              <a:t>Severe poisoning:</a:t>
            </a:r>
            <a:r>
              <a:rPr lang="en-GB" sz="2800" dirty="0">
                <a:latin typeface="Gabriola" pitchFamily="82" charset="0"/>
              </a:rPr>
              <a:t> </a:t>
            </a:r>
            <a:r>
              <a:rPr lang="en-GB" sz="2800" b="1" dirty="0">
                <a:latin typeface="Gabriola" pitchFamily="82" charset="0"/>
              </a:rPr>
              <a:t>High mortality rate</a:t>
            </a:r>
            <a:r>
              <a:rPr lang="en-GB" sz="2800" dirty="0">
                <a:latin typeface="Gabriola" pitchFamily="82" charset="0"/>
              </a:rPr>
              <a:t> if not treated promptly. Brain and cardiac damage can be irreversible in cases of prolonged hypoxia.</a:t>
            </a:r>
          </a:p>
          <a:p>
            <a:pPr lvl="1">
              <a:lnSpc>
                <a:spcPct val="150000"/>
              </a:lnSpc>
            </a:pPr>
            <a:r>
              <a:rPr lang="en-GB" sz="2800" b="1" dirty="0">
                <a:latin typeface="Gabriola" pitchFamily="82" charset="0"/>
              </a:rPr>
              <a:t>Long-Term Effects:</a:t>
            </a:r>
            <a:r>
              <a:rPr lang="en-GB" sz="2800" dirty="0">
                <a:latin typeface="Gabriola" pitchFamily="82" charset="0"/>
              </a:rPr>
              <a:t> Survivors of severe cyanide poisoning may experience cognitive deficits, neurological damage, and long-term cardiac issues due to oxygen deprivation.</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99</a:t>
            </a:fld>
            <a:endParaRPr lang="en-GB"/>
          </a:p>
        </p:txBody>
      </p:sp>
    </p:spTree>
    <p:extLst>
      <p:ext uri="{BB962C8B-B14F-4D97-AF65-F5344CB8AC3E}">
        <p14:creationId xmlns:p14="http://schemas.microsoft.com/office/powerpoint/2010/main" val="416028715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568952" cy="634082"/>
          </a:xfrm>
        </p:spPr>
        <p:txBody>
          <a:bodyPr>
            <a:normAutofit/>
          </a:bodyPr>
          <a:lstStyle/>
          <a:p>
            <a:r>
              <a:rPr lang="en-GB" sz="3200" b="1" dirty="0" smtClean="0">
                <a:solidFill>
                  <a:schemeClr val="tx1"/>
                </a:solidFill>
                <a:latin typeface="Times" pitchFamily="18" charset="0"/>
              </a:rPr>
              <a:t>Assessment of burn wound</a:t>
            </a:r>
            <a:endParaRPr lang="en-GB" sz="3200" b="1" dirty="0">
              <a:solidFill>
                <a:schemeClr val="tx1"/>
              </a:solidFill>
              <a:latin typeface="Times" pitchFamily="18" charset="0"/>
            </a:endParaRPr>
          </a:p>
        </p:txBody>
      </p:sp>
      <p:sp>
        <p:nvSpPr>
          <p:cNvPr id="3" name="Content Placeholder 2"/>
          <p:cNvSpPr>
            <a:spLocks noGrp="1"/>
          </p:cNvSpPr>
          <p:nvPr>
            <p:ph sz="quarter" idx="1"/>
          </p:nvPr>
        </p:nvSpPr>
        <p:spPr>
          <a:xfrm>
            <a:off x="179512" y="836712"/>
            <a:ext cx="8712968" cy="5637240"/>
          </a:xfrm>
        </p:spPr>
        <p:txBody>
          <a:bodyPr>
            <a:normAutofit lnSpcReduction="10000"/>
          </a:bodyPr>
          <a:lstStyle/>
          <a:p>
            <a:pPr marL="0" indent="0">
              <a:lnSpc>
                <a:spcPct val="150000"/>
              </a:lnSpc>
              <a:buNone/>
            </a:pPr>
            <a:r>
              <a:rPr lang="en-GB" b="1" dirty="0">
                <a:latin typeface="Gabriola" pitchFamily="82" charset="0"/>
              </a:rPr>
              <a:t>Total Body Surface Area (TBSA) </a:t>
            </a:r>
            <a:endParaRPr lang="en-GB" b="1" dirty="0" smtClean="0">
              <a:latin typeface="Gabriola" pitchFamily="82" charset="0"/>
            </a:endParaRPr>
          </a:p>
          <a:p>
            <a:pPr>
              <a:lnSpc>
                <a:spcPct val="150000"/>
              </a:lnSpc>
            </a:pPr>
            <a:r>
              <a:rPr lang="en-GB" dirty="0" smtClean="0">
                <a:latin typeface="Gabriola" pitchFamily="82" charset="0"/>
              </a:rPr>
              <a:t>Estimating </a:t>
            </a:r>
            <a:r>
              <a:rPr lang="en-GB" dirty="0">
                <a:latin typeface="Gabriola" pitchFamily="82" charset="0"/>
              </a:rPr>
              <a:t>the total body surface area (TBSA) affected by the burn helps to determine the severity and guide treatment. </a:t>
            </a:r>
            <a:endParaRPr lang="en-GB" dirty="0" smtClean="0">
              <a:latin typeface="Gabriola" pitchFamily="82" charset="0"/>
            </a:endParaRPr>
          </a:p>
          <a:p>
            <a:pPr>
              <a:lnSpc>
                <a:spcPct val="150000"/>
              </a:lnSpc>
            </a:pPr>
            <a:r>
              <a:rPr lang="en-GB" dirty="0" smtClean="0">
                <a:latin typeface="Gabriola" pitchFamily="82" charset="0"/>
              </a:rPr>
              <a:t>This </a:t>
            </a:r>
            <a:r>
              <a:rPr lang="en-GB" dirty="0">
                <a:latin typeface="Gabriola" pitchFamily="82" charset="0"/>
              </a:rPr>
              <a:t>is often done using:</a:t>
            </a:r>
          </a:p>
          <a:p>
            <a:pPr>
              <a:lnSpc>
                <a:spcPct val="150000"/>
              </a:lnSpc>
            </a:pPr>
            <a:r>
              <a:rPr lang="en-GB" b="1" dirty="0">
                <a:latin typeface="Gabriola" pitchFamily="82" charset="0"/>
              </a:rPr>
              <a:t>Rule of Nines</a:t>
            </a:r>
            <a:r>
              <a:rPr lang="en-GB" dirty="0">
                <a:latin typeface="Gabriola" pitchFamily="82" charset="0"/>
              </a:rPr>
              <a:t> (for adults):</a:t>
            </a:r>
          </a:p>
          <a:p>
            <a:pPr lvl="1">
              <a:lnSpc>
                <a:spcPct val="150000"/>
              </a:lnSpc>
            </a:pPr>
            <a:r>
              <a:rPr lang="en-GB" dirty="0">
                <a:latin typeface="Gabriola" pitchFamily="82" charset="0"/>
              </a:rPr>
              <a:t>Head and neck: 9%</a:t>
            </a:r>
          </a:p>
          <a:p>
            <a:pPr lvl="1">
              <a:lnSpc>
                <a:spcPct val="150000"/>
              </a:lnSpc>
            </a:pPr>
            <a:r>
              <a:rPr lang="en-GB" dirty="0">
                <a:latin typeface="Gabriola" pitchFamily="82" charset="0"/>
              </a:rPr>
              <a:t>Each arm: 9%</a:t>
            </a:r>
          </a:p>
          <a:p>
            <a:pPr lvl="1">
              <a:lnSpc>
                <a:spcPct val="150000"/>
              </a:lnSpc>
            </a:pPr>
            <a:r>
              <a:rPr lang="en-GB" dirty="0">
                <a:latin typeface="Gabriola" pitchFamily="82" charset="0"/>
              </a:rPr>
              <a:t>Each leg: 18%</a:t>
            </a:r>
          </a:p>
          <a:p>
            <a:pPr lvl="1">
              <a:lnSpc>
                <a:spcPct val="150000"/>
              </a:lnSpc>
            </a:pPr>
            <a:r>
              <a:rPr lang="en-GB" dirty="0">
                <a:latin typeface="Gabriola" pitchFamily="82" charset="0"/>
              </a:rPr>
              <a:t>Front and back of the torso: 18% each</a:t>
            </a:r>
          </a:p>
          <a:p>
            <a:pPr lvl="1">
              <a:lnSpc>
                <a:spcPct val="150000"/>
              </a:lnSpc>
            </a:pPr>
            <a:r>
              <a:rPr lang="en-GB" dirty="0">
                <a:latin typeface="Gabriola" pitchFamily="82" charset="0"/>
              </a:rPr>
              <a:t>Perineum: 1%</a:t>
            </a:r>
          </a:p>
          <a:p>
            <a:pPr marL="0" indent="0">
              <a:lnSpc>
                <a:spcPct val="150000"/>
              </a:lnSpc>
              <a:buNone/>
            </a:pPr>
            <a:endParaRPr lang="en-GB" dirty="0">
              <a:latin typeface="Gabriola" pitchFamily="82" charset="0"/>
            </a:endParaRPr>
          </a:p>
          <a:p>
            <a:pPr>
              <a:lnSpc>
                <a:spcPct val="150000"/>
              </a:lnSpc>
            </a:pPr>
            <a:endParaRPr lang="en-GB"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100</a:t>
            </a:fld>
            <a:endParaRPr lang="en-GB"/>
          </a:p>
        </p:txBody>
      </p:sp>
      <p:pic>
        <p:nvPicPr>
          <p:cNvPr id="6" name="Picture 5" descr="Determining Total Body Surface Area - MN Dept. of Health"/>
          <p:cNvPicPr/>
          <p:nvPr/>
        </p:nvPicPr>
        <p:blipFill>
          <a:blip r:embed="rId2">
            <a:extLst>
              <a:ext uri="{28A0092B-C50C-407E-A947-70E740481C1C}">
                <a14:useLocalDpi xmlns:a14="http://schemas.microsoft.com/office/drawing/2010/main" val="0"/>
              </a:ext>
            </a:extLst>
          </a:blip>
          <a:srcRect/>
          <a:stretch>
            <a:fillRect/>
          </a:stretch>
        </p:blipFill>
        <p:spPr bwMode="auto">
          <a:xfrm>
            <a:off x="4139952" y="2420888"/>
            <a:ext cx="5004048" cy="3312368"/>
          </a:xfrm>
          <a:prstGeom prst="rect">
            <a:avLst/>
          </a:prstGeom>
          <a:noFill/>
          <a:ln>
            <a:noFill/>
          </a:ln>
        </p:spPr>
      </p:pic>
    </p:spTree>
    <p:extLst>
      <p:ext uri="{BB962C8B-B14F-4D97-AF65-F5344CB8AC3E}">
        <p14:creationId xmlns:p14="http://schemas.microsoft.com/office/powerpoint/2010/main" val="20672437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90066"/>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980728"/>
            <a:ext cx="7673280" cy="5493224"/>
          </a:xfrm>
        </p:spPr>
        <p:txBody>
          <a:bodyPr/>
          <a:lstStyle/>
          <a:p>
            <a:pPr>
              <a:lnSpc>
                <a:spcPct val="150000"/>
              </a:lnSpc>
            </a:pPr>
            <a:r>
              <a:rPr lang="en-GB" b="1" dirty="0">
                <a:latin typeface="Gabriola" pitchFamily="82" charset="0"/>
              </a:rPr>
              <a:t>Lund-Browder Chart</a:t>
            </a:r>
            <a:r>
              <a:rPr lang="en-GB" dirty="0">
                <a:latin typeface="Gabriola" pitchFamily="82" charset="0"/>
              </a:rPr>
              <a:t> (for children, as the body proportions differ from adults</a:t>
            </a:r>
            <a:r>
              <a:rPr lang="en-GB" dirty="0" smtClean="0">
                <a:latin typeface="Gabriola" pitchFamily="82" charset="0"/>
              </a:rPr>
              <a:t>).The </a:t>
            </a:r>
            <a:r>
              <a:rPr lang="en-GB" dirty="0">
                <a:latin typeface="Gabriola" pitchFamily="82" charset="0"/>
              </a:rPr>
              <a:t>greater the TBSA involved, the more likely the patient will experience systemic complications like fluid loss, infection, and shock</a:t>
            </a:r>
          </a:p>
        </p:txBody>
      </p:sp>
      <p:sp>
        <p:nvSpPr>
          <p:cNvPr id="5" name="Slide Number Placeholder 4"/>
          <p:cNvSpPr>
            <a:spLocks noGrp="1"/>
          </p:cNvSpPr>
          <p:nvPr>
            <p:ph type="sldNum" sz="quarter" idx="15"/>
          </p:nvPr>
        </p:nvSpPr>
        <p:spPr/>
        <p:txBody>
          <a:bodyPr/>
          <a:lstStyle/>
          <a:p>
            <a:fld id="{968CA758-BC7F-4AFE-853F-5D1E39DDFDA0}" type="slidenum">
              <a:rPr lang="en-GB" smtClean="0"/>
              <a:t>101</a:t>
            </a:fld>
            <a:endParaRPr lang="en-GB"/>
          </a:p>
        </p:txBody>
      </p:sp>
      <p:pic>
        <p:nvPicPr>
          <p:cNvPr id="6" name="Picture 5" descr="Lund and Browder chart - Wikipedia"/>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36912"/>
            <a:ext cx="8496944" cy="4020319"/>
          </a:xfrm>
          <a:prstGeom prst="rect">
            <a:avLst/>
          </a:prstGeom>
          <a:noFill/>
          <a:ln>
            <a:noFill/>
          </a:ln>
        </p:spPr>
      </p:pic>
    </p:spTree>
    <p:extLst>
      <p:ext uri="{BB962C8B-B14F-4D97-AF65-F5344CB8AC3E}">
        <p14:creationId xmlns:p14="http://schemas.microsoft.com/office/powerpoint/2010/main" val="34985837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352928" cy="490066"/>
          </a:xfrm>
        </p:spPr>
        <p:txBody>
          <a:bodyPr>
            <a:normAutofit fontScale="90000"/>
          </a:bodyPr>
          <a:lstStyle/>
          <a:p>
            <a:r>
              <a:rPr lang="en-GB" b="1" dirty="0"/>
              <a:t/>
            </a:r>
            <a:br>
              <a:rPr lang="en-GB" b="1" dirty="0"/>
            </a:br>
            <a:r>
              <a:rPr lang="en-GB" b="1" dirty="0" smtClean="0">
                <a:solidFill>
                  <a:schemeClr val="tx1"/>
                </a:solidFill>
                <a:latin typeface="Times" pitchFamily="18" charset="0"/>
              </a:rPr>
              <a:t>severity classification </a:t>
            </a:r>
            <a:r>
              <a:rPr lang="en-GB" b="1" dirty="0" err="1" smtClean="0">
                <a:solidFill>
                  <a:schemeClr val="tx1"/>
                </a:solidFill>
                <a:latin typeface="Times" pitchFamily="18" charset="0"/>
              </a:rPr>
              <a:t>og</a:t>
            </a:r>
            <a:r>
              <a:rPr lang="en-GB" b="1" dirty="0" smtClean="0">
                <a:solidFill>
                  <a:schemeClr val="tx1"/>
                </a:solidFill>
                <a:latin typeface="Times" pitchFamily="18" charset="0"/>
              </a:rPr>
              <a:t> burns based on </a:t>
            </a:r>
            <a:r>
              <a:rPr lang="en-GB" b="1" dirty="0" err="1" smtClean="0">
                <a:solidFill>
                  <a:schemeClr val="tx1"/>
                </a:solidFill>
                <a:latin typeface="Times" pitchFamily="18" charset="0"/>
              </a:rPr>
              <a:t>Tbsa</a:t>
            </a:r>
            <a:endParaRPr lang="en-GB" dirty="0">
              <a:solidFill>
                <a:schemeClr val="tx1"/>
              </a:solidFill>
              <a:latin typeface="Times" pitchFamily="18" charset="0"/>
            </a:endParaRPr>
          </a:p>
        </p:txBody>
      </p:sp>
      <p:sp>
        <p:nvSpPr>
          <p:cNvPr id="3" name="Content Placeholder 2"/>
          <p:cNvSpPr>
            <a:spLocks noGrp="1"/>
          </p:cNvSpPr>
          <p:nvPr>
            <p:ph sz="quarter" idx="1"/>
          </p:nvPr>
        </p:nvSpPr>
        <p:spPr>
          <a:xfrm>
            <a:off x="107504" y="764704"/>
            <a:ext cx="9036496" cy="5709248"/>
          </a:xfrm>
        </p:spPr>
        <p:txBody>
          <a:bodyPr>
            <a:normAutofit/>
          </a:bodyPr>
          <a:lstStyle/>
          <a:p>
            <a:pPr marL="0" indent="0">
              <a:lnSpc>
                <a:spcPct val="150000"/>
              </a:lnSpc>
              <a:buNone/>
            </a:pPr>
            <a:r>
              <a:rPr lang="en-GB" sz="2800" b="1" dirty="0" smtClean="0">
                <a:latin typeface="Gabriola" pitchFamily="82" charset="0"/>
              </a:rPr>
              <a:t>Total </a:t>
            </a:r>
            <a:r>
              <a:rPr lang="en-GB" sz="2800" b="1" dirty="0">
                <a:latin typeface="Gabriola" pitchFamily="82" charset="0"/>
              </a:rPr>
              <a:t>Burn Area and Severity:</a:t>
            </a:r>
          </a:p>
          <a:p>
            <a:pPr>
              <a:lnSpc>
                <a:spcPct val="150000"/>
              </a:lnSpc>
            </a:pPr>
            <a:r>
              <a:rPr lang="en-GB" sz="2800" b="1" dirty="0">
                <a:latin typeface="Gabriola" pitchFamily="82" charset="0"/>
              </a:rPr>
              <a:t>Mild Burns:</a:t>
            </a:r>
            <a:endParaRPr lang="en-GB" sz="2800" dirty="0">
              <a:latin typeface="Gabriola" pitchFamily="82" charset="0"/>
            </a:endParaRPr>
          </a:p>
          <a:p>
            <a:pPr lvl="1">
              <a:lnSpc>
                <a:spcPct val="150000"/>
              </a:lnSpc>
            </a:pPr>
            <a:r>
              <a:rPr lang="en-GB" sz="2800" b="1" dirty="0">
                <a:latin typeface="Gabriola" pitchFamily="82" charset="0"/>
              </a:rPr>
              <a:t>&lt;10% TBSA</a:t>
            </a:r>
            <a:r>
              <a:rPr lang="en-GB" sz="2800" dirty="0">
                <a:latin typeface="Gabriola" pitchFamily="82" charset="0"/>
              </a:rPr>
              <a:t>: Typically, first-degree and some second-degree burns.</a:t>
            </a:r>
          </a:p>
          <a:p>
            <a:pPr lvl="1">
              <a:lnSpc>
                <a:spcPct val="150000"/>
              </a:lnSpc>
            </a:pPr>
            <a:r>
              <a:rPr lang="en-GB" sz="2800" dirty="0">
                <a:latin typeface="Gabriola" pitchFamily="82" charset="0"/>
              </a:rPr>
              <a:t>Usually treated on an outpatient basis.</a:t>
            </a:r>
          </a:p>
          <a:p>
            <a:pPr>
              <a:lnSpc>
                <a:spcPct val="150000"/>
              </a:lnSpc>
            </a:pPr>
            <a:r>
              <a:rPr lang="en-GB" sz="2800" b="1" dirty="0">
                <a:latin typeface="Gabriola" pitchFamily="82" charset="0"/>
              </a:rPr>
              <a:t>Moderate Burns:</a:t>
            </a:r>
            <a:endParaRPr lang="en-GB" sz="2800" dirty="0">
              <a:latin typeface="Gabriola" pitchFamily="82" charset="0"/>
            </a:endParaRPr>
          </a:p>
          <a:p>
            <a:pPr lvl="1">
              <a:lnSpc>
                <a:spcPct val="150000"/>
              </a:lnSpc>
            </a:pPr>
            <a:r>
              <a:rPr lang="en-GB" sz="2800" b="1" dirty="0">
                <a:latin typeface="Gabriola" pitchFamily="82" charset="0"/>
              </a:rPr>
              <a:t>10-20% TBSA</a:t>
            </a:r>
            <a:r>
              <a:rPr lang="en-GB" sz="2800" dirty="0">
                <a:latin typeface="Gabriola" pitchFamily="82" charset="0"/>
              </a:rPr>
              <a:t>: Often second-degree burns, can be treated in the hospital.</a:t>
            </a:r>
          </a:p>
          <a:p>
            <a:pPr lvl="1">
              <a:lnSpc>
                <a:spcPct val="150000"/>
              </a:lnSpc>
            </a:pPr>
            <a:r>
              <a:rPr lang="en-GB" sz="2800" dirty="0">
                <a:latin typeface="Gabriola" pitchFamily="82" charset="0"/>
              </a:rPr>
              <a:t>Risk for complications (fluid loss, infection), may need resuscitation.</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102</a:t>
            </a:fld>
            <a:endParaRPr lang="en-GB"/>
          </a:p>
        </p:txBody>
      </p:sp>
    </p:spTree>
    <p:extLst>
      <p:ext uri="{BB962C8B-B14F-4D97-AF65-F5344CB8AC3E}">
        <p14:creationId xmlns:p14="http://schemas.microsoft.com/office/powerpoint/2010/main" val="12573601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529264" cy="634082"/>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692696"/>
            <a:ext cx="8640960" cy="5472608"/>
          </a:xfrm>
        </p:spPr>
        <p:txBody>
          <a:bodyPr>
            <a:noAutofit/>
          </a:bodyPr>
          <a:lstStyle/>
          <a:p>
            <a:pPr>
              <a:lnSpc>
                <a:spcPct val="150000"/>
              </a:lnSpc>
            </a:pPr>
            <a:r>
              <a:rPr lang="en-GB" sz="2800" b="1" dirty="0">
                <a:latin typeface="Gabriola" pitchFamily="82" charset="0"/>
              </a:rPr>
              <a:t>Severe Burns:</a:t>
            </a:r>
            <a:endParaRPr lang="en-GB" sz="2800" dirty="0">
              <a:latin typeface="Gabriola" pitchFamily="82" charset="0"/>
            </a:endParaRPr>
          </a:p>
          <a:p>
            <a:pPr lvl="1">
              <a:lnSpc>
                <a:spcPct val="150000"/>
              </a:lnSpc>
            </a:pPr>
            <a:r>
              <a:rPr lang="en-GB" sz="2800" b="1" dirty="0">
                <a:latin typeface="Gabriola" pitchFamily="82" charset="0"/>
              </a:rPr>
              <a:t>&gt;20% TBSA</a:t>
            </a:r>
            <a:r>
              <a:rPr lang="en-GB" sz="2800" dirty="0">
                <a:latin typeface="Gabriola" pitchFamily="82" charset="0"/>
              </a:rPr>
              <a:t>: Involves deep second-degree or third-degree burns.</a:t>
            </a:r>
          </a:p>
          <a:p>
            <a:pPr lvl="1">
              <a:lnSpc>
                <a:spcPct val="150000"/>
              </a:lnSpc>
            </a:pPr>
            <a:r>
              <a:rPr lang="en-GB" sz="2800" dirty="0">
                <a:latin typeface="Gabriola" pitchFamily="82" charset="0"/>
              </a:rPr>
              <a:t>Requires intensive care and likely surgical intervention (skin grafts, debridement).</a:t>
            </a:r>
          </a:p>
          <a:p>
            <a:pPr lvl="1">
              <a:lnSpc>
                <a:spcPct val="150000"/>
              </a:lnSpc>
            </a:pPr>
            <a:r>
              <a:rPr lang="en-GB" sz="2800" dirty="0">
                <a:latin typeface="Gabriola" pitchFamily="82" charset="0"/>
              </a:rPr>
              <a:t>High risk of complications like shock, infection, and organ failure.</a:t>
            </a:r>
          </a:p>
          <a:p>
            <a:pPr>
              <a:lnSpc>
                <a:spcPct val="150000"/>
              </a:lnSpc>
            </a:pPr>
            <a:r>
              <a:rPr lang="en-GB" sz="2800" b="1" dirty="0">
                <a:latin typeface="Gabriola" pitchFamily="82" charset="0"/>
              </a:rPr>
              <a:t>Critical Burns:</a:t>
            </a:r>
            <a:endParaRPr lang="en-GB" sz="2800" dirty="0">
              <a:latin typeface="Gabriola" pitchFamily="82" charset="0"/>
            </a:endParaRPr>
          </a:p>
          <a:p>
            <a:pPr lvl="1">
              <a:lnSpc>
                <a:spcPct val="150000"/>
              </a:lnSpc>
            </a:pPr>
            <a:r>
              <a:rPr lang="en-GB" sz="2800" b="1" dirty="0">
                <a:latin typeface="Gabriola" pitchFamily="82" charset="0"/>
              </a:rPr>
              <a:t>&gt;30% TBSA</a:t>
            </a:r>
            <a:r>
              <a:rPr lang="en-GB" sz="2800" dirty="0">
                <a:latin typeface="Gabriola" pitchFamily="82" charset="0"/>
              </a:rPr>
              <a:t>: Life-threatening, often requires specialized burn unit care.</a:t>
            </a:r>
          </a:p>
          <a:p>
            <a:pPr lvl="1">
              <a:lnSpc>
                <a:spcPct val="150000"/>
              </a:lnSpc>
            </a:pPr>
            <a:r>
              <a:rPr lang="en-GB" sz="2800" dirty="0">
                <a:latin typeface="Gabriola" pitchFamily="82" charset="0"/>
              </a:rPr>
              <a:t>High mortality risk without proper treatment.</a:t>
            </a: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103</a:t>
            </a:fld>
            <a:endParaRPr lang="en-GB"/>
          </a:p>
        </p:txBody>
      </p:sp>
    </p:spTree>
    <p:extLst>
      <p:ext uri="{BB962C8B-B14F-4D97-AF65-F5344CB8AC3E}">
        <p14:creationId xmlns:p14="http://schemas.microsoft.com/office/powerpoint/2010/main" val="1678103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924800" cy="634082"/>
          </a:xfrm>
        </p:spPr>
        <p:txBody>
          <a:bodyPr>
            <a:normAutofit fontScale="90000"/>
          </a:bodyPr>
          <a:lstStyle/>
          <a:p>
            <a:r>
              <a:rPr lang="en-GB" b="1" dirty="0"/>
              <a:t/>
            </a:r>
            <a:br>
              <a:rPr lang="en-GB" b="1" dirty="0"/>
            </a:br>
            <a:r>
              <a:rPr lang="en-GB" b="1" dirty="0" smtClean="0">
                <a:solidFill>
                  <a:schemeClr val="tx1"/>
                </a:solidFill>
                <a:latin typeface="Times" pitchFamily="18" charset="0"/>
              </a:rPr>
              <a:t>Burn location and its impact </a:t>
            </a:r>
            <a:endParaRPr lang="en-GB" dirty="0">
              <a:solidFill>
                <a:schemeClr val="tx1"/>
              </a:solidFill>
              <a:latin typeface="Times" pitchFamily="18" charset="0"/>
            </a:endParaRPr>
          </a:p>
        </p:txBody>
      </p:sp>
      <p:sp>
        <p:nvSpPr>
          <p:cNvPr id="3" name="Content Placeholder 2"/>
          <p:cNvSpPr>
            <a:spLocks noGrp="1"/>
          </p:cNvSpPr>
          <p:nvPr>
            <p:ph sz="quarter" idx="1"/>
          </p:nvPr>
        </p:nvSpPr>
        <p:spPr>
          <a:xfrm>
            <a:off x="323528" y="980728"/>
            <a:ext cx="8352928" cy="5493224"/>
          </a:xfrm>
        </p:spPr>
        <p:txBody>
          <a:bodyPr>
            <a:noAutofit/>
          </a:bodyPr>
          <a:lstStyle/>
          <a:p>
            <a:pPr>
              <a:lnSpc>
                <a:spcPct val="150000"/>
              </a:lnSpc>
            </a:pPr>
            <a:r>
              <a:rPr lang="en-GB" sz="2800" b="1" dirty="0" smtClean="0">
                <a:latin typeface="Gabriola" pitchFamily="82" charset="0"/>
              </a:rPr>
              <a:t>Important </a:t>
            </a:r>
            <a:r>
              <a:rPr lang="en-GB" sz="2800" b="1" dirty="0">
                <a:latin typeface="Gabriola" pitchFamily="82" charset="0"/>
              </a:rPr>
              <a:t>Locations for Burn Severity:</a:t>
            </a:r>
          </a:p>
          <a:p>
            <a:pPr lvl="1">
              <a:lnSpc>
                <a:spcPct val="150000"/>
              </a:lnSpc>
            </a:pPr>
            <a:r>
              <a:rPr lang="en-GB" sz="2800" b="1" dirty="0">
                <a:latin typeface="Gabriola" pitchFamily="82" charset="0"/>
              </a:rPr>
              <a:t>Face, Hands, Feet, and Genitalia:</a:t>
            </a:r>
            <a:endParaRPr lang="en-GB" sz="2800" dirty="0">
              <a:latin typeface="Gabriola" pitchFamily="82" charset="0"/>
            </a:endParaRPr>
          </a:p>
          <a:p>
            <a:pPr lvl="2">
              <a:lnSpc>
                <a:spcPct val="150000"/>
              </a:lnSpc>
            </a:pPr>
            <a:r>
              <a:rPr lang="en-GB" sz="2800" dirty="0">
                <a:latin typeface="Gabriola" pitchFamily="82" charset="0"/>
              </a:rPr>
              <a:t>These areas are more functionally and aesthetically important.</a:t>
            </a:r>
          </a:p>
          <a:p>
            <a:pPr lvl="2">
              <a:lnSpc>
                <a:spcPct val="150000"/>
              </a:lnSpc>
            </a:pPr>
            <a:r>
              <a:rPr lang="en-GB" sz="2800" dirty="0">
                <a:latin typeface="Gabriola" pitchFamily="82" charset="0"/>
              </a:rPr>
              <a:t>Burns here may require reconstructive surgery and have a higher risk of long-term disability.</a:t>
            </a:r>
          </a:p>
          <a:p>
            <a:pPr lvl="2">
              <a:lnSpc>
                <a:spcPct val="150000"/>
              </a:lnSpc>
            </a:pPr>
            <a:r>
              <a:rPr lang="en-GB" sz="2800" b="1" dirty="0">
                <a:latin typeface="Gabriola" pitchFamily="82" charset="0"/>
              </a:rPr>
              <a:t>Functional Impact</a:t>
            </a:r>
            <a:r>
              <a:rPr lang="en-GB" sz="2800" dirty="0">
                <a:latin typeface="Gabriola" pitchFamily="82" charset="0"/>
              </a:rPr>
              <a:t>: Damage can impair mobility, breathing, and communication.</a:t>
            </a:r>
          </a:p>
          <a:p>
            <a:pPr lvl="2">
              <a:lnSpc>
                <a:spcPct val="150000"/>
              </a:lnSpc>
            </a:pPr>
            <a:r>
              <a:rPr lang="en-GB" sz="2800" b="1" dirty="0">
                <a:latin typeface="Gabriola" pitchFamily="82" charset="0"/>
              </a:rPr>
              <a:t>Aesthetic Impact</a:t>
            </a:r>
            <a:r>
              <a:rPr lang="en-GB" sz="2800" dirty="0">
                <a:latin typeface="Gabriola" pitchFamily="82" charset="0"/>
              </a:rPr>
              <a:t>: Scarring can significantly affect quality of life.</a:t>
            </a:r>
          </a:p>
          <a:p>
            <a:pPr marL="0" indent="0">
              <a:lnSpc>
                <a:spcPct val="150000"/>
              </a:lnSpc>
              <a:buNone/>
            </a:pPr>
            <a:endParaRPr lang="en-GB" sz="2800" dirty="0">
              <a:latin typeface="Gabriola" pitchFamily="82" charset="0"/>
            </a:endParaRPr>
          </a:p>
          <a:p>
            <a:pPr>
              <a:lnSpc>
                <a:spcPct val="150000"/>
              </a:lnSpc>
            </a:pPr>
            <a:endParaRPr lang="en-GB" sz="2800" dirty="0">
              <a:latin typeface="Gabriola" pitchFamily="82" charset="0"/>
            </a:endParaRPr>
          </a:p>
        </p:txBody>
      </p:sp>
      <p:sp>
        <p:nvSpPr>
          <p:cNvPr id="5" name="Slide Number Placeholder 4"/>
          <p:cNvSpPr>
            <a:spLocks noGrp="1"/>
          </p:cNvSpPr>
          <p:nvPr>
            <p:ph type="sldNum" sz="quarter" idx="15"/>
          </p:nvPr>
        </p:nvSpPr>
        <p:spPr/>
        <p:txBody>
          <a:bodyPr/>
          <a:lstStyle/>
          <a:p>
            <a:fld id="{968CA758-BC7F-4AFE-853F-5D1E39DDFDA0}" type="slidenum">
              <a:rPr lang="en-GB" smtClean="0"/>
              <a:t>104</a:t>
            </a:fld>
            <a:endParaRPr lang="en-GB"/>
          </a:p>
        </p:txBody>
      </p:sp>
    </p:spTree>
    <p:extLst>
      <p:ext uri="{BB962C8B-B14F-4D97-AF65-F5344CB8AC3E}">
        <p14:creationId xmlns:p14="http://schemas.microsoft.com/office/powerpoint/2010/main" val="89745562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80920"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764704"/>
            <a:ext cx="8712968" cy="5616624"/>
          </a:xfrm>
        </p:spPr>
        <p:txBody>
          <a:bodyPr>
            <a:normAutofit/>
          </a:bodyPr>
          <a:lstStyle/>
          <a:p>
            <a:pPr>
              <a:lnSpc>
                <a:spcPct val="150000"/>
              </a:lnSpc>
            </a:pPr>
            <a:r>
              <a:rPr lang="en-GB" b="1" dirty="0">
                <a:latin typeface="Gabriola" pitchFamily="82" charset="0"/>
              </a:rPr>
              <a:t>Upper Chest and Neck:</a:t>
            </a:r>
            <a:endParaRPr lang="en-GB" dirty="0">
              <a:latin typeface="Gabriola" pitchFamily="82" charset="0"/>
            </a:endParaRPr>
          </a:p>
          <a:p>
            <a:pPr lvl="1">
              <a:lnSpc>
                <a:spcPct val="150000"/>
              </a:lnSpc>
            </a:pPr>
            <a:r>
              <a:rPr lang="en-GB" sz="2400" dirty="0">
                <a:latin typeface="Gabriola" pitchFamily="82" charset="0"/>
              </a:rPr>
              <a:t>Burns can lead to airway compromise and respiratory distress.</a:t>
            </a:r>
          </a:p>
          <a:p>
            <a:pPr lvl="1">
              <a:lnSpc>
                <a:spcPct val="150000"/>
              </a:lnSpc>
            </a:pPr>
            <a:r>
              <a:rPr lang="en-GB" sz="2400" dirty="0">
                <a:latin typeface="Gabriola" pitchFamily="82" charset="0"/>
              </a:rPr>
              <a:t>Risk of inhalation injury or </a:t>
            </a:r>
            <a:r>
              <a:rPr lang="en-GB" sz="2400" dirty="0" err="1">
                <a:latin typeface="Gabriola" pitchFamily="82" charset="0"/>
              </a:rPr>
              <a:t>eschar</a:t>
            </a:r>
            <a:r>
              <a:rPr lang="en-GB" sz="2400" dirty="0">
                <a:latin typeface="Gabriola" pitchFamily="82" charset="0"/>
              </a:rPr>
              <a:t> that restricts chest movement, affecting breathing.</a:t>
            </a:r>
          </a:p>
          <a:p>
            <a:pPr lvl="1">
              <a:lnSpc>
                <a:spcPct val="150000"/>
              </a:lnSpc>
            </a:pPr>
            <a:r>
              <a:rPr lang="en-GB" sz="2400" dirty="0">
                <a:latin typeface="Gabriola" pitchFamily="82" charset="0"/>
              </a:rPr>
              <a:t>Need for careful airway management.</a:t>
            </a:r>
          </a:p>
          <a:p>
            <a:pPr>
              <a:lnSpc>
                <a:spcPct val="150000"/>
              </a:lnSpc>
            </a:pPr>
            <a:r>
              <a:rPr lang="en-GB" b="1" dirty="0">
                <a:latin typeface="Gabriola" pitchFamily="82" charset="0"/>
              </a:rPr>
              <a:t>Circumferential Burns:</a:t>
            </a:r>
            <a:endParaRPr lang="en-GB" dirty="0">
              <a:latin typeface="Gabriola" pitchFamily="82" charset="0"/>
            </a:endParaRPr>
          </a:p>
          <a:p>
            <a:pPr lvl="1">
              <a:lnSpc>
                <a:spcPct val="150000"/>
              </a:lnSpc>
            </a:pPr>
            <a:r>
              <a:rPr lang="en-GB" sz="2400" dirty="0">
                <a:latin typeface="Gabriola" pitchFamily="82" charset="0"/>
              </a:rPr>
              <a:t>Full-thickness burns around the torso or limbs can cause restriction of blood flow and movement.</a:t>
            </a:r>
          </a:p>
          <a:p>
            <a:pPr lvl="1">
              <a:lnSpc>
                <a:spcPct val="150000"/>
              </a:lnSpc>
            </a:pPr>
            <a:r>
              <a:rPr lang="en-GB" sz="2400" dirty="0" err="1">
                <a:latin typeface="Gabriola" pitchFamily="82" charset="0"/>
              </a:rPr>
              <a:t>Escharotomy</a:t>
            </a:r>
            <a:r>
              <a:rPr lang="en-GB" sz="2400" dirty="0">
                <a:latin typeface="Gabriola" pitchFamily="82" charset="0"/>
              </a:rPr>
              <a:t> may be needed to relieve pressure</a:t>
            </a:r>
          </a:p>
        </p:txBody>
      </p:sp>
      <p:sp>
        <p:nvSpPr>
          <p:cNvPr id="4" name="Slide Number Placeholder 3"/>
          <p:cNvSpPr>
            <a:spLocks noGrp="1"/>
          </p:cNvSpPr>
          <p:nvPr>
            <p:ph type="sldNum" sz="quarter" idx="15"/>
          </p:nvPr>
        </p:nvSpPr>
        <p:spPr/>
        <p:txBody>
          <a:bodyPr/>
          <a:lstStyle/>
          <a:p>
            <a:fld id="{968CA758-BC7F-4AFE-853F-5D1E39DDFDA0}" type="slidenum">
              <a:rPr lang="en-GB" smtClean="0"/>
              <a:t>105</a:t>
            </a:fld>
            <a:endParaRPr lang="en-GB"/>
          </a:p>
        </p:txBody>
      </p:sp>
    </p:spTree>
    <p:extLst>
      <p:ext uri="{BB962C8B-B14F-4D97-AF65-F5344CB8AC3E}">
        <p14:creationId xmlns:p14="http://schemas.microsoft.com/office/powerpoint/2010/main" val="441089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424936" cy="288032"/>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548680"/>
            <a:ext cx="8496944" cy="5925272"/>
          </a:xfrm>
        </p:spPr>
        <p:txBody>
          <a:bodyPr>
            <a:normAutofit/>
          </a:bodyPr>
          <a:lstStyle/>
          <a:p>
            <a:pPr marL="0" indent="0">
              <a:lnSpc>
                <a:spcPct val="150000"/>
              </a:lnSpc>
              <a:buNone/>
            </a:pPr>
            <a:r>
              <a:rPr lang="en-GB" sz="2800" b="1" dirty="0">
                <a:latin typeface="Times" pitchFamily="18" charset="0"/>
              </a:rPr>
              <a:t>Pain and Symptom Assessment in Burn Injuries</a:t>
            </a:r>
          </a:p>
          <a:p>
            <a:pPr>
              <a:lnSpc>
                <a:spcPct val="150000"/>
              </a:lnSpc>
            </a:pPr>
            <a:r>
              <a:rPr lang="en-GB" sz="2800" b="1" dirty="0">
                <a:latin typeface="Gabriola" pitchFamily="82" charset="0"/>
              </a:rPr>
              <a:t>Pain Level:</a:t>
            </a:r>
          </a:p>
          <a:p>
            <a:pPr>
              <a:lnSpc>
                <a:spcPct val="150000"/>
              </a:lnSpc>
            </a:pPr>
            <a:r>
              <a:rPr lang="en-GB" sz="2800" dirty="0">
                <a:latin typeface="Gabriola" pitchFamily="82" charset="0"/>
              </a:rPr>
              <a:t>Burns are extremely painful due to nerve damage and inflammation.</a:t>
            </a:r>
          </a:p>
          <a:p>
            <a:pPr lvl="1">
              <a:lnSpc>
                <a:spcPct val="150000"/>
              </a:lnSpc>
            </a:pPr>
            <a:r>
              <a:rPr lang="en-GB" sz="2800" b="1" dirty="0">
                <a:latin typeface="Gabriola" pitchFamily="82" charset="0"/>
              </a:rPr>
              <a:t>First-degree</a:t>
            </a:r>
            <a:r>
              <a:rPr lang="en-GB" sz="2800" dirty="0">
                <a:latin typeface="Gabriola" pitchFamily="82" charset="0"/>
              </a:rPr>
              <a:t>: Mild to moderate pain.</a:t>
            </a:r>
          </a:p>
          <a:p>
            <a:pPr lvl="1">
              <a:lnSpc>
                <a:spcPct val="150000"/>
              </a:lnSpc>
            </a:pPr>
            <a:r>
              <a:rPr lang="en-GB" sz="2800" b="1" dirty="0">
                <a:latin typeface="Gabriola" pitchFamily="82" charset="0"/>
              </a:rPr>
              <a:t>Second-degree</a:t>
            </a:r>
            <a:r>
              <a:rPr lang="en-GB" sz="2800" dirty="0">
                <a:latin typeface="Gabriola" pitchFamily="82" charset="0"/>
              </a:rPr>
              <a:t>: Intense pain due to nerve involvement.</a:t>
            </a:r>
          </a:p>
          <a:p>
            <a:pPr lvl="1">
              <a:lnSpc>
                <a:spcPct val="150000"/>
              </a:lnSpc>
            </a:pPr>
            <a:r>
              <a:rPr lang="en-GB" sz="2800" b="1" dirty="0">
                <a:latin typeface="Gabriola" pitchFamily="82" charset="0"/>
              </a:rPr>
              <a:t>Third-degree and Fourth-degree</a:t>
            </a:r>
            <a:r>
              <a:rPr lang="en-GB" sz="2800" dirty="0">
                <a:latin typeface="Gabriola" pitchFamily="82" charset="0"/>
              </a:rPr>
              <a:t>: Minimal pain (nerve destruction).</a:t>
            </a:r>
          </a:p>
          <a:p>
            <a:pPr>
              <a:lnSpc>
                <a:spcPct val="150000"/>
              </a:lnSpc>
            </a:pPr>
            <a:r>
              <a:rPr lang="en-GB" sz="2800" dirty="0">
                <a:latin typeface="Gabriola" pitchFamily="82" charset="0"/>
              </a:rPr>
              <a:t>Effective pain management is essential in the acute phase.</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106</a:t>
            </a:fld>
            <a:endParaRPr lang="en-GB"/>
          </a:p>
        </p:txBody>
      </p:sp>
    </p:spTree>
    <p:extLst>
      <p:ext uri="{BB962C8B-B14F-4D97-AF65-F5344CB8AC3E}">
        <p14:creationId xmlns:p14="http://schemas.microsoft.com/office/powerpoint/2010/main" val="12279642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924800" cy="346050"/>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179512" y="836712"/>
            <a:ext cx="7745288" cy="5637240"/>
          </a:xfrm>
        </p:spPr>
        <p:txBody>
          <a:bodyPr>
            <a:normAutofit/>
          </a:bodyPr>
          <a:lstStyle/>
          <a:p>
            <a:pPr>
              <a:lnSpc>
                <a:spcPct val="150000"/>
              </a:lnSpc>
            </a:pPr>
            <a:r>
              <a:rPr lang="en-GB" sz="2800" b="1" dirty="0">
                <a:latin typeface="Gabriola" pitchFamily="82" charset="0"/>
              </a:rPr>
              <a:t>Signs of Infection:</a:t>
            </a:r>
          </a:p>
          <a:p>
            <a:pPr lvl="1">
              <a:lnSpc>
                <a:spcPct val="150000"/>
              </a:lnSpc>
            </a:pPr>
            <a:r>
              <a:rPr lang="en-GB" sz="2800" b="1" dirty="0">
                <a:latin typeface="Gabriola" pitchFamily="82" charset="0"/>
              </a:rPr>
              <a:t>Symptoms</a:t>
            </a:r>
            <a:r>
              <a:rPr lang="en-GB" sz="2800" dirty="0">
                <a:latin typeface="Gabriola" pitchFamily="82" charset="0"/>
              </a:rPr>
              <a:t>: Increased redness, swelling, pus, fever, and a foul </a:t>
            </a:r>
            <a:r>
              <a:rPr lang="en-GB" sz="2800" dirty="0" err="1">
                <a:latin typeface="Gabriola" pitchFamily="82" charset="0"/>
              </a:rPr>
              <a:t>odor</a:t>
            </a:r>
            <a:r>
              <a:rPr lang="en-GB" sz="2800" dirty="0">
                <a:latin typeface="Gabriola" pitchFamily="82" charset="0"/>
              </a:rPr>
              <a:t> from the wound.</a:t>
            </a:r>
          </a:p>
          <a:p>
            <a:pPr lvl="1">
              <a:lnSpc>
                <a:spcPct val="150000"/>
              </a:lnSpc>
            </a:pPr>
            <a:r>
              <a:rPr lang="en-GB" sz="2800" b="1" dirty="0">
                <a:latin typeface="Gabriola" pitchFamily="82" charset="0"/>
              </a:rPr>
              <a:t>Infection risk</a:t>
            </a:r>
            <a:r>
              <a:rPr lang="en-GB" sz="2800" dirty="0">
                <a:latin typeface="Gabriola" pitchFamily="82" charset="0"/>
              </a:rPr>
              <a:t> is high due to the breakdown of the skin barrier.</a:t>
            </a:r>
          </a:p>
          <a:p>
            <a:pPr lvl="1">
              <a:lnSpc>
                <a:spcPct val="150000"/>
              </a:lnSpc>
            </a:pPr>
            <a:r>
              <a:rPr lang="en-GB" sz="2800" b="1" dirty="0">
                <a:latin typeface="Gabriola" pitchFamily="82" charset="0"/>
              </a:rPr>
              <a:t>Systemic signs of infection</a:t>
            </a:r>
            <a:r>
              <a:rPr lang="en-GB" sz="2800" dirty="0">
                <a:latin typeface="Gabriola" pitchFamily="82" charset="0"/>
              </a:rPr>
              <a:t>: Can lead to sepsis if untreated.</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107</a:t>
            </a:fld>
            <a:endParaRPr lang="en-GB"/>
          </a:p>
        </p:txBody>
      </p:sp>
    </p:spTree>
    <p:extLst>
      <p:ext uri="{BB962C8B-B14F-4D97-AF65-F5344CB8AC3E}">
        <p14:creationId xmlns:p14="http://schemas.microsoft.com/office/powerpoint/2010/main" val="30998640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562074"/>
          </a:xfrm>
        </p:spPr>
        <p:txBody>
          <a:bodyPr>
            <a:normAutofit fontScale="90000"/>
          </a:bodyPr>
          <a:lstStyle/>
          <a:p>
            <a:pPr algn="ctr"/>
            <a:r>
              <a:rPr lang="en-GB" b="1" dirty="0"/>
              <a:t/>
            </a:r>
            <a:br>
              <a:rPr lang="en-GB" b="1" dirty="0"/>
            </a:br>
            <a:r>
              <a:rPr lang="en-GB" b="1" dirty="0" smtClean="0">
                <a:solidFill>
                  <a:schemeClr val="tx1"/>
                </a:solidFill>
                <a:latin typeface="Arial Black" pitchFamily="34" charset="0"/>
              </a:rPr>
              <a:t>fluid management in burn patients </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251520" y="1196752"/>
            <a:ext cx="8568952" cy="5277200"/>
          </a:xfrm>
        </p:spPr>
        <p:txBody>
          <a:bodyPr>
            <a:noAutofit/>
          </a:bodyPr>
          <a:lstStyle/>
          <a:p>
            <a:pPr>
              <a:lnSpc>
                <a:spcPct val="150000"/>
              </a:lnSpc>
            </a:pPr>
            <a:r>
              <a:rPr lang="en-GB" sz="2800" dirty="0" smtClean="0">
                <a:latin typeface="Gabriola" pitchFamily="82" charset="0"/>
              </a:rPr>
              <a:t>Fluid </a:t>
            </a:r>
            <a:r>
              <a:rPr lang="en-GB" sz="2800" dirty="0">
                <a:latin typeface="Gabriola" pitchFamily="82" charset="0"/>
              </a:rPr>
              <a:t>resuscitation is one of the cornerstones of burn care, particularly for patients with moderate to severe burns. </a:t>
            </a:r>
            <a:endParaRPr lang="en-GB" sz="2800" dirty="0" smtClean="0">
              <a:latin typeface="Gabriola" pitchFamily="82" charset="0"/>
            </a:endParaRPr>
          </a:p>
          <a:p>
            <a:pPr>
              <a:lnSpc>
                <a:spcPct val="150000"/>
              </a:lnSpc>
            </a:pPr>
            <a:r>
              <a:rPr lang="en-GB" sz="2800" dirty="0" smtClean="0">
                <a:latin typeface="Gabriola" pitchFamily="82" charset="0"/>
              </a:rPr>
              <a:t>Adequate </a:t>
            </a:r>
            <a:r>
              <a:rPr lang="en-GB" sz="2800" dirty="0">
                <a:latin typeface="Gabriola" pitchFamily="82" charset="0"/>
              </a:rPr>
              <a:t>fluid management is essential to prevent </a:t>
            </a:r>
            <a:r>
              <a:rPr lang="en-GB" sz="2800" b="1" dirty="0">
                <a:latin typeface="Gabriola" pitchFamily="82" charset="0"/>
              </a:rPr>
              <a:t>hypovolemic shock</a:t>
            </a:r>
            <a:r>
              <a:rPr lang="en-GB" sz="2800" dirty="0">
                <a:latin typeface="Gabriola" pitchFamily="82" charset="0"/>
              </a:rPr>
              <a:t>, correct </a:t>
            </a:r>
            <a:r>
              <a:rPr lang="en-GB" sz="2800" b="1" dirty="0">
                <a:latin typeface="Gabriola" pitchFamily="82" charset="0"/>
              </a:rPr>
              <a:t>electrolyte imbalances</a:t>
            </a:r>
            <a:r>
              <a:rPr lang="en-GB" sz="2800" dirty="0">
                <a:latin typeface="Gabriola" pitchFamily="82" charset="0"/>
              </a:rPr>
              <a:t>, and support vital organ function during the early phase of burn recovery.</a:t>
            </a:r>
          </a:p>
          <a:p>
            <a:pPr marL="0" indent="0">
              <a:lnSpc>
                <a:spcPct val="150000"/>
              </a:lnSpc>
              <a:buNone/>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108</a:t>
            </a:fld>
            <a:endParaRPr lang="en-GB"/>
          </a:p>
        </p:txBody>
      </p:sp>
    </p:spTree>
    <p:extLst>
      <p:ext uri="{BB962C8B-B14F-4D97-AF65-F5344CB8AC3E}">
        <p14:creationId xmlns:p14="http://schemas.microsoft.com/office/powerpoint/2010/main" val="2699912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712968" cy="562074"/>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251520" y="1052736"/>
            <a:ext cx="8424936" cy="5421216"/>
          </a:xfrm>
        </p:spPr>
        <p:txBody>
          <a:bodyPr>
            <a:normAutofit/>
          </a:bodyPr>
          <a:lstStyle/>
          <a:p>
            <a:pPr>
              <a:lnSpc>
                <a:spcPct val="150000"/>
              </a:lnSpc>
            </a:pPr>
            <a:r>
              <a:rPr lang="en-GB" sz="2800" dirty="0">
                <a:latin typeface="Gabriola" pitchFamily="82" charset="0"/>
              </a:rPr>
              <a:t>Burn injuries result in fluid loss due to the destruction of the skin barrier, which leads to evaporative loss and plasma leakage into the interstitial space.</a:t>
            </a:r>
          </a:p>
          <a:p>
            <a:pPr>
              <a:lnSpc>
                <a:spcPct val="150000"/>
              </a:lnSpc>
            </a:pP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a:latin typeface="Gabriola" pitchFamily="82" charset="0"/>
              </a:rPr>
              <a:t>loss of fluids, electrolytes, and proteins from the vasculature leads to </a:t>
            </a:r>
            <a:r>
              <a:rPr lang="en-GB" sz="2800" dirty="0" err="1">
                <a:latin typeface="Gabriola" pitchFamily="82" charset="0"/>
              </a:rPr>
              <a:t>hypovolemia</a:t>
            </a:r>
            <a:r>
              <a:rPr lang="en-GB" sz="2800" dirty="0">
                <a:latin typeface="Gabriola" pitchFamily="82" charset="0"/>
              </a:rPr>
              <a:t>, which must be corrected promptly</a:t>
            </a:r>
            <a:endParaRPr lang="en-US" sz="2800" dirty="0"/>
          </a:p>
        </p:txBody>
      </p:sp>
      <p:sp>
        <p:nvSpPr>
          <p:cNvPr id="4" name="Slide Number Placeholder 3"/>
          <p:cNvSpPr>
            <a:spLocks noGrp="1"/>
          </p:cNvSpPr>
          <p:nvPr>
            <p:ph type="sldNum" sz="quarter" idx="15"/>
          </p:nvPr>
        </p:nvSpPr>
        <p:spPr/>
        <p:txBody>
          <a:bodyPr/>
          <a:lstStyle/>
          <a:p>
            <a:fld id="{968CA758-BC7F-4AFE-853F-5D1E39DDFDA0}" type="slidenum">
              <a:rPr lang="en-GB" smtClean="0"/>
              <a:t>109</a:t>
            </a:fld>
            <a:endParaRPr lang="en-GB"/>
          </a:p>
        </p:txBody>
      </p:sp>
    </p:spTree>
    <p:extLst>
      <p:ext uri="{BB962C8B-B14F-4D97-AF65-F5344CB8AC3E}">
        <p14:creationId xmlns:p14="http://schemas.microsoft.com/office/powerpoint/2010/main" val="33908468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424936" cy="548680"/>
          </a:xfrm>
        </p:spPr>
        <p:txBody>
          <a:bodyPr>
            <a:normAutofit/>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251520" y="620688"/>
            <a:ext cx="8424936" cy="5760640"/>
          </a:xfrm>
        </p:spPr>
        <p:txBody>
          <a:bodyPr>
            <a:normAutofit/>
          </a:bodyPr>
          <a:lstStyle/>
          <a:p>
            <a:pPr>
              <a:lnSpc>
                <a:spcPct val="150000"/>
              </a:lnSpc>
            </a:pPr>
            <a:r>
              <a:rPr lang="en-GB" sz="2800" b="1" dirty="0">
                <a:latin typeface="Gabriola" pitchFamily="82" charset="0"/>
              </a:rPr>
              <a:t>Goals of Fluid Resuscitation</a:t>
            </a:r>
            <a:r>
              <a:rPr lang="en-GB" sz="2800" dirty="0">
                <a:latin typeface="Gabriola" pitchFamily="82" charset="0"/>
              </a:rPr>
              <a:t>:</a:t>
            </a:r>
          </a:p>
          <a:p>
            <a:pPr lvl="1">
              <a:lnSpc>
                <a:spcPct val="150000"/>
              </a:lnSpc>
            </a:pPr>
            <a:r>
              <a:rPr lang="en-GB" sz="2800" b="1" dirty="0">
                <a:latin typeface="Gabriola" pitchFamily="82" charset="0"/>
              </a:rPr>
              <a:t>Maintain adequate perfusion</a:t>
            </a:r>
            <a:r>
              <a:rPr lang="en-GB" sz="2800" dirty="0">
                <a:latin typeface="Gabriola" pitchFamily="82" charset="0"/>
              </a:rPr>
              <a:t> of vital organs (brain, kidneys, heart, etc.).</a:t>
            </a:r>
          </a:p>
          <a:p>
            <a:pPr lvl="1">
              <a:lnSpc>
                <a:spcPct val="150000"/>
              </a:lnSpc>
            </a:pPr>
            <a:r>
              <a:rPr lang="en-GB" sz="2800" b="1" dirty="0">
                <a:latin typeface="Gabriola" pitchFamily="82" charset="0"/>
              </a:rPr>
              <a:t>Restore intravascular volume</a:t>
            </a:r>
            <a:r>
              <a:rPr lang="en-GB" sz="2800" dirty="0">
                <a:latin typeface="Gabriola" pitchFamily="82" charset="0"/>
              </a:rPr>
              <a:t> to prevent shock.</a:t>
            </a:r>
          </a:p>
          <a:p>
            <a:pPr lvl="1">
              <a:lnSpc>
                <a:spcPct val="150000"/>
              </a:lnSpc>
            </a:pPr>
            <a:r>
              <a:rPr lang="en-GB" sz="2800" dirty="0">
                <a:latin typeface="Gabriola" pitchFamily="82" charset="0"/>
              </a:rPr>
              <a:t>Correct </a:t>
            </a:r>
            <a:r>
              <a:rPr lang="en-GB" sz="2800" b="1" dirty="0">
                <a:latin typeface="Gabriola" pitchFamily="82" charset="0"/>
              </a:rPr>
              <a:t>electrolyte imbalances</a:t>
            </a:r>
            <a:r>
              <a:rPr lang="en-GB" sz="2800" dirty="0">
                <a:latin typeface="Gabriola" pitchFamily="82" charset="0"/>
              </a:rPr>
              <a:t> (especially sodium and potassium).</a:t>
            </a:r>
          </a:p>
          <a:p>
            <a:pPr lvl="1">
              <a:lnSpc>
                <a:spcPct val="150000"/>
              </a:lnSpc>
            </a:pPr>
            <a:r>
              <a:rPr lang="en-GB" sz="2800" dirty="0">
                <a:latin typeface="Gabriola" pitchFamily="82" charset="0"/>
              </a:rPr>
              <a:t>Minimize </a:t>
            </a:r>
            <a:r>
              <a:rPr lang="en-GB" sz="2800" b="1" dirty="0">
                <a:latin typeface="Gabriola" pitchFamily="82" charset="0"/>
              </a:rPr>
              <a:t>complications</a:t>
            </a:r>
            <a:r>
              <a:rPr lang="en-GB" sz="2800" dirty="0">
                <a:latin typeface="Gabriola" pitchFamily="82" charset="0"/>
              </a:rPr>
              <a:t>, including kidney failure, cerebral </a:t>
            </a:r>
            <a:r>
              <a:rPr lang="en-GB" sz="2800" dirty="0" err="1">
                <a:latin typeface="Gabriola" pitchFamily="82" charset="0"/>
              </a:rPr>
              <a:t>edema</a:t>
            </a:r>
            <a:r>
              <a:rPr lang="en-GB" sz="2800" dirty="0">
                <a:latin typeface="Gabriola" pitchFamily="82" charset="0"/>
              </a:rPr>
              <a:t>, and metabolic derangements.</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110</a:t>
            </a:fld>
            <a:endParaRPr lang="en-GB"/>
          </a:p>
        </p:txBody>
      </p:sp>
    </p:spTree>
    <p:extLst>
      <p:ext uri="{BB962C8B-B14F-4D97-AF65-F5344CB8AC3E}">
        <p14:creationId xmlns:p14="http://schemas.microsoft.com/office/powerpoint/2010/main" val="28432961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778098"/>
          </a:xfrm>
        </p:spPr>
        <p:txBody>
          <a:bodyPr/>
          <a:lstStyle/>
          <a:p>
            <a:r>
              <a:rPr lang="en-GB" dirty="0" smtClean="0">
                <a:solidFill>
                  <a:schemeClr val="tx1"/>
                </a:solidFill>
                <a:latin typeface="Arial Black" pitchFamily="34" charset="0"/>
              </a:rPr>
              <a:t>Fluid resuscitation formulae </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251520" y="1124744"/>
            <a:ext cx="8496944" cy="5277200"/>
          </a:xfrm>
        </p:spPr>
        <p:txBody>
          <a:bodyPr>
            <a:normAutofit/>
          </a:bodyPr>
          <a:lstStyle/>
          <a:p>
            <a:pPr>
              <a:lnSpc>
                <a:spcPct val="150000"/>
              </a:lnSpc>
            </a:pPr>
            <a:r>
              <a:rPr lang="en-GB" sz="2800" dirty="0" smtClean="0">
                <a:latin typeface="Gabriola" pitchFamily="82" charset="0"/>
              </a:rPr>
              <a:t>The </a:t>
            </a:r>
            <a:r>
              <a:rPr lang="en-GB" sz="2800" dirty="0">
                <a:latin typeface="Gabriola" pitchFamily="82" charset="0"/>
              </a:rPr>
              <a:t>amount of fluid a burn patient requires is calculated based on the extent of burns (TBSA burned), the patient’s weight, and the time since the burn occurred. </a:t>
            </a:r>
            <a:endParaRPr lang="en-GB" sz="2800" dirty="0" smtClean="0">
              <a:latin typeface="Gabriola" pitchFamily="82" charset="0"/>
            </a:endParaRPr>
          </a:p>
          <a:p>
            <a:pPr>
              <a:lnSpc>
                <a:spcPct val="150000"/>
              </a:lnSpc>
            </a:pPr>
            <a:r>
              <a:rPr lang="en-GB" sz="2800" dirty="0" smtClean="0">
                <a:latin typeface="Gabriola" pitchFamily="82" charset="0"/>
              </a:rPr>
              <a:t>The </a:t>
            </a:r>
            <a:r>
              <a:rPr lang="en-GB" sz="2800" dirty="0">
                <a:latin typeface="Gabriola" pitchFamily="82" charset="0"/>
              </a:rPr>
              <a:t>most commonly used formulas for burn fluid resuscitation are:</a:t>
            </a:r>
          </a:p>
          <a:p>
            <a:pPr marL="880110" lvl="1" indent="-514350">
              <a:lnSpc>
                <a:spcPct val="150000"/>
              </a:lnSpc>
              <a:buAutoNum type="arabicPeriod"/>
            </a:pPr>
            <a:r>
              <a:rPr lang="en-GB" sz="2800" dirty="0" smtClean="0">
                <a:latin typeface="Gabriola" pitchFamily="82" charset="0"/>
              </a:rPr>
              <a:t>Parkland </a:t>
            </a:r>
            <a:r>
              <a:rPr lang="en-GB" sz="2800" dirty="0">
                <a:latin typeface="Gabriola" pitchFamily="82" charset="0"/>
              </a:rPr>
              <a:t>Formula (for adults</a:t>
            </a:r>
            <a:r>
              <a:rPr lang="en-GB" sz="2800" dirty="0" smtClean="0">
                <a:latin typeface="Gabriola" pitchFamily="82" charset="0"/>
              </a:rPr>
              <a:t>)</a:t>
            </a:r>
          </a:p>
          <a:p>
            <a:pPr marL="880110" lvl="1" indent="-514350">
              <a:lnSpc>
                <a:spcPct val="150000"/>
              </a:lnSpc>
              <a:buAutoNum type="arabicPeriod"/>
            </a:pPr>
            <a:r>
              <a:rPr lang="en-GB" sz="2800" dirty="0" smtClean="0">
                <a:latin typeface="Gabriola" pitchFamily="82" charset="0"/>
              </a:rPr>
              <a:t> </a:t>
            </a:r>
            <a:r>
              <a:rPr lang="en-GB" sz="2800" dirty="0">
                <a:latin typeface="Gabriola" pitchFamily="82" charset="0"/>
              </a:rPr>
              <a:t>Modified Brooke Formula (for adults</a:t>
            </a:r>
            <a:r>
              <a:rPr lang="en-GB" sz="2800" dirty="0" smtClean="0">
                <a:latin typeface="Gabriola" pitchFamily="82" charset="0"/>
              </a:rPr>
              <a:t>)</a:t>
            </a:r>
          </a:p>
          <a:p>
            <a:pPr marL="880110" lvl="1" indent="-514350">
              <a:lnSpc>
                <a:spcPct val="150000"/>
              </a:lnSpc>
              <a:buAutoNum type="arabicPeriod"/>
            </a:pPr>
            <a:r>
              <a:rPr lang="en-GB" sz="2800" dirty="0" smtClean="0">
                <a:latin typeface="Gabriola" pitchFamily="82" charset="0"/>
              </a:rPr>
              <a:t>Holliday-Segar </a:t>
            </a:r>
            <a:r>
              <a:rPr lang="en-GB" sz="2800" dirty="0">
                <a:latin typeface="Gabriola" pitchFamily="82" charset="0"/>
              </a:rPr>
              <a:t>Formula (for children)</a:t>
            </a:r>
          </a:p>
        </p:txBody>
      </p:sp>
      <p:sp>
        <p:nvSpPr>
          <p:cNvPr id="4" name="Slide Number Placeholder 3"/>
          <p:cNvSpPr>
            <a:spLocks noGrp="1"/>
          </p:cNvSpPr>
          <p:nvPr>
            <p:ph type="sldNum" sz="quarter" idx="15"/>
          </p:nvPr>
        </p:nvSpPr>
        <p:spPr/>
        <p:txBody>
          <a:bodyPr/>
          <a:lstStyle/>
          <a:p>
            <a:fld id="{968CA758-BC7F-4AFE-853F-5D1E39DDFDA0}" type="slidenum">
              <a:rPr lang="en-GB" smtClean="0"/>
              <a:t>111</a:t>
            </a:fld>
            <a:endParaRPr lang="en-GB"/>
          </a:p>
        </p:txBody>
      </p:sp>
    </p:spTree>
    <p:extLst>
      <p:ext uri="{BB962C8B-B14F-4D97-AF65-F5344CB8AC3E}">
        <p14:creationId xmlns:p14="http://schemas.microsoft.com/office/powerpoint/2010/main" val="31748296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706090"/>
          </a:xfrm>
        </p:spPr>
        <p:txBody>
          <a:bodyPr/>
          <a:lstStyle/>
          <a:p>
            <a:r>
              <a:rPr lang="en-GB" dirty="0" smtClean="0">
                <a:solidFill>
                  <a:schemeClr val="tx1"/>
                </a:solidFill>
                <a:latin typeface="Arial Black" pitchFamily="34" charset="0"/>
              </a:rPr>
              <a:t>1. Parkland formula ( for adults)</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179512" y="908720"/>
            <a:ext cx="8352928" cy="5565232"/>
          </a:xfrm>
        </p:spPr>
        <p:txBody>
          <a:bodyPr>
            <a:normAutofit/>
          </a:bodyPr>
          <a:lstStyle/>
          <a:p>
            <a:pPr>
              <a:lnSpc>
                <a:spcPct val="150000"/>
              </a:lnSpc>
            </a:pPr>
            <a:r>
              <a:rPr lang="en-GB" sz="2800" dirty="0" smtClean="0">
                <a:latin typeface="Gabriola" pitchFamily="82" charset="0"/>
              </a:rPr>
              <a:t>The </a:t>
            </a:r>
            <a:r>
              <a:rPr lang="en-GB" sz="2800" dirty="0">
                <a:latin typeface="Gabriola" pitchFamily="82" charset="0"/>
              </a:rPr>
              <a:t>Parkland formula is widely used to estimate the fluid needs for the first 24 hours after a burn injury</a:t>
            </a:r>
            <a:r>
              <a:rPr lang="en-GB" sz="2800" dirty="0" smtClean="0">
                <a:latin typeface="Gabriola" pitchFamily="82" charset="0"/>
              </a:rPr>
              <a:t>.</a:t>
            </a:r>
          </a:p>
          <a:p>
            <a:pPr>
              <a:lnSpc>
                <a:spcPct val="150000"/>
              </a:lnSpc>
            </a:pPr>
            <a:r>
              <a:rPr lang="en-GB" sz="2800" dirty="0">
                <a:latin typeface="Gabriola" pitchFamily="82" charset="0"/>
              </a:rPr>
              <a:t>Fluid Requirement (mL)=4×TBSA burned (%)×Weight (kg)</a:t>
            </a:r>
          </a:p>
          <a:p>
            <a:pPr lvl="1">
              <a:lnSpc>
                <a:spcPct val="150000"/>
              </a:lnSpc>
            </a:pPr>
            <a:r>
              <a:rPr lang="en-GB" sz="2800" b="1" dirty="0" smtClean="0">
                <a:latin typeface="Gabriola" pitchFamily="82" charset="0"/>
              </a:rPr>
              <a:t>Example </a:t>
            </a:r>
            <a:r>
              <a:rPr lang="en-GB" sz="2800" b="1" dirty="0">
                <a:latin typeface="Gabriola" pitchFamily="82" charset="0"/>
              </a:rPr>
              <a:t>Calculation:</a:t>
            </a:r>
            <a:endParaRPr lang="en-GB" sz="2800" dirty="0">
              <a:latin typeface="Gabriola" pitchFamily="82" charset="0"/>
            </a:endParaRPr>
          </a:p>
          <a:p>
            <a:pPr lvl="1">
              <a:lnSpc>
                <a:spcPct val="150000"/>
              </a:lnSpc>
            </a:pPr>
            <a:r>
              <a:rPr lang="en-GB" sz="2800" dirty="0">
                <a:latin typeface="Gabriola" pitchFamily="82" charset="0"/>
              </a:rPr>
              <a:t>A 70 kg adult with 40% TBSA burns</a:t>
            </a:r>
            <a:r>
              <a:rPr lang="en-GB" sz="2800" dirty="0" smtClean="0">
                <a:latin typeface="Gabriola" pitchFamily="82" charset="0"/>
              </a:rPr>
              <a:t>:</a:t>
            </a:r>
          </a:p>
          <a:p>
            <a:pPr lvl="2">
              <a:lnSpc>
                <a:spcPct val="150000"/>
              </a:lnSpc>
            </a:pPr>
            <a:r>
              <a:rPr lang="en-GB" sz="2800" dirty="0" smtClean="0">
                <a:latin typeface="Gabriola" pitchFamily="82" charset="0"/>
              </a:rPr>
              <a:t>Fluid </a:t>
            </a:r>
            <a:r>
              <a:rPr lang="en-GB" sz="2800" dirty="0">
                <a:latin typeface="Gabriola" pitchFamily="82" charset="0"/>
              </a:rPr>
              <a:t>requirement = </a:t>
            </a:r>
            <a:r>
              <a:rPr lang="en-GB" sz="2800" dirty="0" smtClean="0">
                <a:latin typeface="Gabriola" pitchFamily="82" charset="0"/>
              </a:rPr>
              <a:t>4×40×70=11,200ml</a:t>
            </a:r>
            <a:r>
              <a:rPr lang="en-GB" sz="2800" dirty="0">
                <a:latin typeface="Gabriola" pitchFamily="82" charset="0"/>
              </a:rPr>
              <a:t> </a:t>
            </a:r>
            <a:endParaRPr lang="en-GB" sz="2800" dirty="0" smtClean="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112</a:t>
            </a:fld>
            <a:endParaRPr lang="en-GB"/>
          </a:p>
        </p:txBody>
      </p:sp>
    </p:spTree>
    <p:extLst>
      <p:ext uri="{BB962C8B-B14F-4D97-AF65-F5344CB8AC3E}">
        <p14:creationId xmlns:p14="http://schemas.microsoft.com/office/powerpoint/2010/main" val="16338286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640960" cy="634082"/>
          </a:xfrm>
        </p:spPr>
        <p:txBody>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323528" y="1124744"/>
            <a:ext cx="8280920" cy="5349208"/>
          </a:xfrm>
        </p:spPr>
        <p:txBody>
          <a:bodyPr>
            <a:normAutofit/>
          </a:bodyPr>
          <a:lstStyle/>
          <a:p>
            <a:pPr lvl="0">
              <a:lnSpc>
                <a:spcPct val="150000"/>
              </a:lnSpc>
              <a:buClr>
                <a:srgbClr val="FE8637"/>
              </a:buClr>
            </a:pPr>
            <a:r>
              <a:rPr lang="en-GB" sz="2800" dirty="0">
                <a:solidFill>
                  <a:prstClr val="black"/>
                </a:solidFill>
                <a:latin typeface="Gabriola" pitchFamily="82" charset="0"/>
              </a:rPr>
              <a:t>Half of this total amount is given during the first </a:t>
            </a:r>
            <a:r>
              <a:rPr lang="en-GB" sz="2800" b="1" dirty="0">
                <a:solidFill>
                  <a:prstClr val="black"/>
                </a:solidFill>
                <a:latin typeface="Gabriola" pitchFamily="82" charset="0"/>
              </a:rPr>
              <a:t>8 hours</a:t>
            </a:r>
            <a:r>
              <a:rPr lang="en-GB" sz="2800" dirty="0">
                <a:solidFill>
                  <a:prstClr val="black"/>
                </a:solidFill>
                <a:latin typeface="Gabriola" pitchFamily="82" charset="0"/>
              </a:rPr>
              <a:t> post-burn, and the remaining half is given over the next </a:t>
            </a:r>
            <a:r>
              <a:rPr lang="en-GB" sz="2800" b="1" dirty="0">
                <a:solidFill>
                  <a:prstClr val="black"/>
                </a:solidFill>
                <a:latin typeface="Gabriola" pitchFamily="82" charset="0"/>
              </a:rPr>
              <a:t>16 hours</a:t>
            </a:r>
            <a:r>
              <a:rPr lang="en-GB" sz="2800" dirty="0">
                <a:solidFill>
                  <a:prstClr val="black"/>
                </a:solidFill>
                <a:latin typeface="Gabriola" pitchFamily="82" charset="0"/>
              </a:rPr>
              <a:t>.</a:t>
            </a:r>
          </a:p>
          <a:p>
            <a:pPr lvl="0">
              <a:lnSpc>
                <a:spcPct val="150000"/>
              </a:lnSpc>
              <a:buClr>
                <a:srgbClr val="FE8637"/>
              </a:buClr>
            </a:pPr>
            <a:r>
              <a:rPr lang="en-GB" sz="2800" b="1" dirty="0">
                <a:solidFill>
                  <a:prstClr val="black"/>
                </a:solidFill>
                <a:latin typeface="Gabriola" pitchFamily="82" charset="0"/>
              </a:rPr>
              <a:t>Fluid Type:</a:t>
            </a:r>
            <a:endParaRPr lang="en-GB" sz="2800" dirty="0">
              <a:solidFill>
                <a:prstClr val="black"/>
              </a:solidFill>
              <a:latin typeface="Gabriola" pitchFamily="82" charset="0"/>
            </a:endParaRPr>
          </a:p>
          <a:p>
            <a:pPr lvl="1">
              <a:lnSpc>
                <a:spcPct val="150000"/>
              </a:lnSpc>
              <a:buClr>
                <a:srgbClr val="FE8637"/>
              </a:buClr>
            </a:pPr>
            <a:r>
              <a:rPr lang="en-GB" sz="2800" dirty="0">
                <a:solidFill>
                  <a:prstClr val="black"/>
                </a:solidFill>
                <a:latin typeface="Gabriola" pitchFamily="82" charset="0"/>
              </a:rPr>
              <a:t>The </a:t>
            </a:r>
            <a:r>
              <a:rPr lang="en-GB" sz="2800" b="1" dirty="0">
                <a:solidFill>
                  <a:prstClr val="black"/>
                </a:solidFill>
                <a:latin typeface="Gabriola" pitchFamily="82" charset="0"/>
              </a:rPr>
              <a:t>Parkland formula</a:t>
            </a:r>
            <a:r>
              <a:rPr lang="en-GB" sz="2800" dirty="0">
                <a:solidFill>
                  <a:prstClr val="black"/>
                </a:solidFill>
                <a:latin typeface="Gabriola" pitchFamily="82" charset="0"/>
              </a:rPr>
              <a:t> typically uses </a:t>
            </a:r>
            <a:r>
              <a:rPr lang="en-GB" sz="2800" b="1" dirty="0">
                <a:solidFill>
                  <a:prstClr val="black"/>
                </a:solidFill>
                <a:latin typeface="Gabriola" pitchFamily="82" charset="0"/>
              </a:rPr>
              <a:t>lactated Ringer’s solution</a:t>
            </a:r>
            <a:r>
              <a:rPr lang="en-GB" sz="2800" dirty="0">
                <a:solidFill>
                  <a:prstClr val="black"/>
                </a:solidFill>
                <a:latin typeface="Gabriola" pitchFamily="82" charset="0"/>
              </a:rPr>
              <a:t> (LR) for the first 24 hours, as it is isotonic and closely matches the composition of extracellular fluid.</a:t>
            </a:r>
          </a:p>
          <a:p>
            <a:pPr lvl="0">
              <a:lnSpc>
                <a:spcPct val="150000"/>
              </a:lnSpc>
              <a:buClr>
                <a:srgbClr val="FE8637"/>
              </a:buClr>
            </a:pPr>
            <a:endParaRPr lang="en-GB" sz="2800" dirty="0">
              <a:solidFill>
                <a:prstClr val="black"/>
              </a:solidFill>
              <a:latin typeface="Gabriola" pitchFamily="82" charset="0"/>
            </a:endParaRP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113</a:t>
            </a:fld>
            <a:endParaRPr lang="en-GB"/>
          </a:p>
        </p:txBody>
      </p:sp>
    </p:spTree>
    <p:extLst>
      <p:ext uri="{BB962C8B-B14F-4D97-AF65-F5344CB8AC3E}">
        <p14:creationId xmlns:p14="http://schemas.microsoft.com/office/powerpoint/2010/main" val="28981068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712968" cy="490066"/>
          </a:xfrm>
        </p:spPr>
        <p:txBody>
          <a:bodyPr>
            <a:normAutofit fontScale="90000"/>
          </a:bodyPr>
          <a:lstStyle/>
          <a:p>
            <a:r>
              <a:rPr lang="en-GB" dirty="0" smtClean="0">
                <a:solidFill>
                  <a:schemeClr val="tx1"/>
                </a:solidFill>
                <a:latin typeface="Arial Black" pitchFamily="34" charset="0"/>
              </a:rPr>
              <a:t>2. Modified </a:t>
            </a:r>
            <a:r>
              <a:rPr lang="en-GB" dirty="0" err="1" smtClean="0">
                <a:solidFill>
                  <a:schemeClr val="tx1"/>
                </a:solidFill>
                <a:latin typeface="Arial Black" pitchFamily="34" charset="0"/>
              </a:rPr>
              <a:t>brooke</a:t>
            </a:r>
            <a:r>
              <a:rPr lang="en-GB" dirty="0" smtClean="0">
                <a:solidFill>
                  <a:schemeClr val="tx1"/>
                </a:solidFill>
                <a:latin typeface="Arial Black" pitchFamily="34" charset="0"/>
              </a:rPr>
              <a:t> formula( for adults)</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179512" y="908720"/>
            <a:ext cx="8568952" cy="5565232"/>
          </a:xfrm>
        </p:spPr>
        <p:txBody>
          <a:bodyPr>
            <a:normAutofit/>
          </a:bodyPr>
          <a:lstStyle/>
          <a:p>
            <a:pPr>
              <a:lnSpc>
                <a:spcPct val="150000"/>
              </a:lnSpc>
            </a:pPr>
            <a:r>
              <a:rPr lang="en-GB" sz="2800" dirty="0" smtClean="0">
                <a:latin typeface="Gabriola" pitchFamily="82" charset="0"/>
              </a:rPr>
              <a:t>Another </a:t>
            </a:r>
            <a:r>
              <a:rPr lang="en-GB" sz="2800" dirty="0">
                <a:latin typeface="Gabriola" pitchFamily="82" charset="0"/>
              </a:rPr>
              <a:t>approach, which is slightly more conservative, suggests:</a:t>
            </a:r>
          </a:p>
          <a:p>
            <a:pPr>
              <a:lnSpc>
                <a:spcPct val="150000"/>
              </a:lnSpc>
            </a:pPr>
            <a:r>
              <a:rPr lang="en-GB" sz="2800" dirty="0">
                <a:latin typeface="Gabriola" pitchFamily="82" charset="0"/>
              </a:rPr>
              <a:t>Fluid Requirement=2×TBSA burned (%)×Weight (kg</a:t>
            </a:r>
            <a:r>
              <a:rPr lang="en-GB" sz="2800" dirty="0" smtClean="0">
                <a:latin typeface="Gabriola" pitchFamily="82" charset="0"/>
              </a:rPr>
              <a:t>)</a:t>
            </a:r>
          </a:p>
          <a:p>
            <a:pPr>
              <a:lnSpc>
                <a:spcPct val="150000"/>
              </a:lnSpc>
            </a:pPr>
            <a:r>
              <a:rPr lang="en-GB" sz="2800" b="1" dirty="0" smtClean="0">
                <a:latin typeface="Gabriola" pitchFamily="82" charset="0"/>
              </a:rPr>
              <a:t>Key </a:t>
            </a:r>
            <a:r>
              <a:rPr lang="en-GB" sz="2800" b="1" dirty="0">
                <a:latin typeface="Gabriola" pitchFamily="82" charset="0"/>
              </a:rPr>
              <a:t>Differences:</a:t>
            </a:r>
            <a:endParaRPr lang="en-GB" sz="2800" dirty="0">
              <a:latin typeface="Gabriola" pitchFamily="82" charset="0"/>
            </a:endParaRPr>
          </a:p>
          <a:p>
            <a:pPr lvl="1">
              <a:lnSpc>
                <a:spcPct val="150000"/>
              </a:lnSpc>
            </a:pPr>
            <a:r>
              <a:rPr lang="en-GB" sz="2800" dirty="0">
                <a:latin typeface="Gabriola" pitchFamily="82" charset="0"/>
              </a:rPr>
              <a:t>The modified Brooke formula uses </a:t>
            </a:r>
            <a:r>
              <a:rPr lang="en-GB" sz="2800" b="1" dirty="0">
                <a:latin typeface="Gabriola" pitchFamily="82" charset="0"/>
              </a:rPr>
              <a:t>half the fluid volume</a:t>
            </a:r>
            <a:r>
              <a:rPr lang="en-GB" sz="2800" dirty="0">
                <a:latin typeface="Gabriola" pitchFamily="82" charset="0"/>
              </a:rPr>
              <a:t> of the Parkland formula.</a:t>
            </a:r>
          </a:p>
          <a:p>
            <a:pPr lvl="1">
              <a:lnSpc>
                <a:spcPct val="150000"/>
              </a:lnSpc>
            </a:pPr>
            <a:r>
              <a:rPr lang="en-GB" sz="2800" dirty="0">
                <a:latin typeface="Gabriola" pitchFamily="82" charset="0"/>
              </a:rPr>
              <a:t>Also uses </a:t>
            </a:r>
            <a:r>
              <a:rPr lang="en-GB" sz="2800" b="1" dirty="0">
                <a:latin typeface="Gabriola" pitchFamily="82" charset="0"/>
              </a:rPr>
              <a:t>Lactated Ringer’s</a:t>
            </a:r>
            <a:r>
              <a:rPr lang="en-GB" sz="2800" dirty="0">
                <a:latin typeface="Gabriola" pitchFamily="82" charset="0"/>
              </a:rPr>
              <a:t> or </a:t>
            </a:r>
            <a:r>
              <a:rPr lang="en-GB" sz="2800" b="1" dirty="0">
                <a:latin typeface="Gabriola" pitchFamily="82" charset="0"/>
              </a:rPr>
              <a:t>normal saline</a:t>
            </a:r>
            <a:r>
              <a:rPr lang="en-GB" sz="2800" dirty="0">
                <a:latin typeface="Gabriola" pitchFamily="82" charset="0"/>
              </a:rPr>
              <a:t> for resuscitation.</a:t>
            </a:r>
          </a:p>
          <a:p>
            <a:pPr lvl="1">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114</a:t>
            </a:fld>
            <a:endParaRPr lang="en-GB"/>
          </a:p>
        </p:txBody>
      </p:sp>
    </p:spTree>
    <p:extLst>
      <p:ext uri="{BB962C8B-B14F-4D97-AF65-F5344CB8AC3E}">
        <p14:creationId xmlns:p14="http://schemas.microsoft.com/office/powerpoint/2010/main" val="5586010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280920" cy="994122"/>
          </a:xfrm>
        </p:spPr>
        <p:txBody>
          <a:bodyPr>
            <a:normAutofit fontScale="90000"/>
          </a:bodyPr>
          <a:lstStyle/>
          <a:p>
            <a:r>
              <a:rPr lang="en-GB" dirty="0" smtClean="0">
                <a:solidFill>
                  <a:schemeClr val="tx1"/>
                </a:solidFill>
                <a:latin typeface="Arial Black" pitchFamily="34" charset="0"/>
              </a:rPr>
              <a:t>3. Holliday-Segar </a:t>
            </a:r>
            <a:r>
              <a:rPr lang="en-GB" dirty="0">
                <a:solidFill>
                  <a:schemeClr val="tx1"/>
                </a:solidFill>
                <a:latin typeface="Arial Black" pitchFamily="34" charset="0"/>
              </a:rPr>
              <a:t>Formula (for Children)</a:t>
            </a:r>
          </a:p>
        </p:txBody>
      </p:sp>
      <p:sp>
        <p:nvSpPr>
          <p:cNvPr id="3" name="Content Placeholder 2"/>
          <p:cNvSpPr>
            <a:spLocks noGrp="1"/>
          </p:cNvSpPr>
          <p:nvPr>
            <p:ph sz="quarter" idx="1"/>
          </p:nvPr>
        </p:nvSpPr>
        <p:spPr>
          <a:xfrm>
            <a:off x="323528" y="1340768"/>
            <a:ext cx="8640960" cy="5040560"/>
          </a:xfrm>
        </p:spPr>
        <p:txBody>
          <a:bodyPr>
            <a:normAutofit fontScale="92500"/>
          </a:bodyPr>
          <a:lstStyle/>
          <a:p>
            <a:pPr>
              <a:lnSpc>
                <a:spcPct val="150000"/>
              </a:lnSpc>
            </a:pPr>
            <a:r>
              <a:rPr lang="en-GB" sz="2800" dirty="0">
                <a:latin typeface="Gabriola" pitchFamily="82" charset="0"/>
              </a:rPr>
              <a:t>Used to calculate the </a:t>
            </a:r>
            <a:r>
              <a:rPr lang="en-GB" sz="2800" b="1" dirty="0">
                <a:latin typeface="Gabriola" pitchFamily="82" charset="0"/>
              </a:rPr>
              <a:t>maintenance fluid needs</a:t>
            </a:r>
            <a:r>
              <a:rPr lang="en-GB" sz="2800" dirty="0">
                <a:latin typeface="Gabriola" pitchFamily="82" charset="0"/>
              </a:rPr>
              <a:t> for children, not specifically for burn resuscitation but for general fluid needs, including in cases of burn injury.</a:t>
            </a:r>
          </a:p>
          <a:p>
            <a:pPr>
              <a:lnSpc>
                <a:spcPct val="150000"/>
              </a:lnSpc>
            </a:pPr>
            <a:r>
              <a:rPr lang="en-GB" sz="2800" b="1" dirty="0">
                <a:latin typeface="Gabriola" pitchFamily="82" charset="0"/>
              </a:rPr>
              <a:t>Formula for Fluid Requirements (Maintenance):</a:t>
            </a:r>
          </a:p>
          <a:p>
            <a:pPr>
              <a:lnSpc>
                <a:spcPct val="150000"/>
              </a:lnSpc>
            </a:pPr>
            <a:r>
              <a:rPr lang="en-GB" sz="2800" dirty="0">
                <a:latin typeface="Gabriola" pitchFamily="82" charset="0"/>
              </a:rPr>
              <a:t>For </a:t>
            </a:r>
            <a:r>
              <a:rPr lang="en-GB" sz="2800" b="1" dirty="0">
                <a:latin typeface="Gabriola" pitchFamily="82" charset="0"/>
              </a:rPr>
              <a:t>children</a:t>
            </a:r>
            <a:r>
              <a:rPr lang="en-GB" sz="2800" dirty="0">
                <a:latin typeface="Gabriola" pitchFamily="82" charset="0"/>
              </a:rPr>
              <a:t> weighing:</a:t>
            </a:r>
          </a:p>
          <a:p>
            <a:pPr lvl="1">
              <a:lnSpc>
                <a:spcPct val="150000"/>
              </a:lnSpc>
            </a:pPr>
            <a:r>
              <a:rPr lang="en-GB" sz="2800" b="1" dirty="0">
                <a:latin typeface="Gabriola" pitchFamily="82" charset="0"/>
              </a:rPr>
              <a:t>0–10 kg</a:t>
            </a:r>
            <a:r>
              <a:rPr lang="en-GB" sz="2800" dirty="0">
                <a:latin typeface="Gabriola" pitchFamily="82" charset="0"/>
              </a:rPr>
              <a:t>: 100 mL/kg/day</a:t>
            </a:r>
          </a:p>
          <a:p>
            <a:pPr lvl="1">
              <a:lnSpc>
                <a:spcPct val="150000"/>
              </a:lnSpc>
            </a:pPr>
            <a:r>
              <a:rPr lang="en-GB" sz="2800" b="1" dirty="0">
                <a:latin typeface="Gabriola" pitchFamily="82" charset="0"/>
              </a:rPr>
              <a:t>10–20 kg</a:t>
            </a:r>
            <a:r>
              <a:rPr lang="en-GB" sz="2800" dirty="0">
                <a:latin typeface="Gabriola" pitchFamily="82" charset="0"/>
              </a:rPr>
              <a:t>: 1,000 mL + 50 mL/kg for each kg over 10 kg</a:t>
            </a:r>
          </a:p>
          <a:p>
            <a:pPr lvl="1">
              <a:lnSpc>
                <a:spcPct val="150000"/>
              </a:lnSpc>
            </a:pPr>
            <a:r>
              <a:rPr lang="en-GB" sz="2800" b="1" dirty="0">
                <a:latin typeface="Gabriola" pitchFamily="82" charset="0"/>
              </a:rPr>
              <a:t>&gt;20 kg</a:t>
            </a:r>
            <a:r>
              <a:rPr lang="en-GB" sz="2800" dirty="0">
                <a:latin typeface="Gabriola" pitchFamily="82" charset="0"/>
              </a:rPr>
              <a:t>: 1,500 mL + 20 mL/kg for each kg over 20 kg</a:t>
            </a:r>
          </a:p>
          <a:p>
            <a:pPr>
              <a:lnSpc>
                <a:spcPct val="150000"/>
              </a:lnSpc>
            </a:pPr>
            <a:endParaRPr lang="en-GB"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115</a:t>
            </a:fld>
            <a:endParaRPr lang="en-GB"/>
          </a:p>
        </p:txBody>
      </p:sp>
    </p:spTree>
    <p:extLst>
      <p:ext uri="{BB962C8B-B14F-4D97-AF65-F5344CB8AC3E}">
        <p14:creationId xmlns:p14="http://schemas.microsoft.com/office/powerpoint/2010/main" val="8338605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251520" y="188640"/>
            <a:ext cx="8712968" cy="85998"/>
          </a:xfrm>
        </p:spPr>
        <p:txBody>
          <a:bodyPr>
            <a:normAutofit fontScale="90000"/>
          </a:bodyPr>
          <a:lstStyle/>
          <a:p>
            <a:endParaRPr lang="en-GB" dirty="0"/>
          </a:p>
        </p:txBody>
      </p:sp>
      <p:sp>
        <p:nvSpPr>
          <p:cNvPr id="3" name="Content Placeholder 2"/>
          <p:cNvSpPr>
            <a:spLocks noGrp="1"/>
          </p:cNvSpPr>
          <p:nvPr>
            <p:ph sz="quarter" idx="1"/>
          </p:nvPr>
        </p:nvSpPr>
        <p:spPr>
          <a:xfrm>
            <a:off x="107504" y="620688"/>
            <a:ext cx="8784976" cy="5853264"/>
          </a:xfrm>
        </p:spPr>
        <p:txBody>
          <a:bodyPr>
            <a:normAutofit/>
          </a:bodyPr>
          <a:lstStyle/>
          <a:p>
            <a:pPr>
              <a:lnSpc>
                <a:spcPct val="150000"/>
              </a:lnSpc>
            </a:pPr>
            <a:r>
              <a:rPr lang="en-GB" sz="2800" b="1" dirty="0">
                <a:latin typeface="Gabriola" pitchFamily="82" charset="0"/>
              </a:rPr>
              <a:t>Fluid Requirement for Burns:</a:t>
            </a:r>
          </a:p>
          <a:p>
            <a:pPr>
              <a:lnSpc>
                <a:spcPct val="150000"/>
              </a:lnSpc>
            </a:pPr>
            <a:r>
              <a:rPr lang="en-GB" sz="2800" dirty="0">
                <a:latin typeface="Gabriola" pitchFamily="82" charset="0"/>
              </a:rPr>
              <a:t>When using the Holliday-Segar formula for burn patients, the general formula is adjusted to account for the TBSA burned:</a:t>
            </a:r>
          </a:p>
          <a:p>
            <a:pPr>
              <a:lnSpc>
                <a:spcPct val="150000"/>
              </a:lnSpc>
            </a:pPr>
            <a:r>
              <a:rPr lang="en-GB" sz="2800" dirty="0">
                <a:latin typeface="Gabriola" pitchFamily="82" charset="0"/>
              </a:rPr>
              <a:t>Fluid Requirement=4 </a:t>
            </a:r>
            <a:r>
              <a:rPr lang="en-GB" sz="2800" dirty="0" err="1">
                <a:latin typeface="Gabriola" pitchFamily="82" charset="0"/>
              </a:rPr>
              <a:t>mL×TBSA</a:t>
            </a:r>
            <a:r>
              <a:rPr lang="en-GB" sz="2800" dirty="0">
                <a:latin typeface="Gabriola" pitchFamily="82" charset="0"/>
              </a:rPr>
              <a:t> burned (%)×Weight </a:t>
            </a:r>
            <a:r>
              <a:rPr lang="en-GB" sz="2800" dirty="0" smtClean="0">
                <a:latin typeface="Gabriola" pitchFamily="82" charset="0"/>
              </a:rPr>
              <a:t>kg)</a:t>
            </a:r>
          </a:p>
          <a:p>
            <a:pPr>
              <a:lnSpc>
                <a:spcPct val="150000"/>
              </a:lnSpc>
            </a:pPr>
            <a:r>
              <a:rPr lang="en-GB" sz="2800" b="1" dirty="0" smtClean="0">
                <a:latin typeface="Gabriola" pitchFamily="82" charset="0"/>
              </a:rPr>
              <a:t>Key </a:t>
            </a:r>
            <a:r>
              <a:rPr lang="en-GB" sz="2800" b="1" dirty="0">
                <a:latin typeface="Gabriola" pitchFamily="82" charset="0"/>
              </a:rPr>
              <a:t>Features</a:t>
            </a:r>
            <a:r>
              <a:rPr lang="en-GB" sz="2800" dirty="0">
                <a:latin typeface="Gabriola" pitchFamily="82" charset="0"/>
              </a:rPr>
              <a:t>:</a:t>
            </a:r>
          </a:p>
          <a:p>
            <a:pPr lvl="1">
              <a:lnSpc>
                <a:spcPct val="150000"/>
              </a:lnSpc>
            </a:pPr>
            <a:r>
              <a:rPr lang="en-GB" sz="2800" dirty="0">
                <a:latin typeface="Gabriola" pitchFamily="82" charset="0"/>
              </a:rPr>
              <a:t>This formula also uses </a:t>
            </a:r>
            <a:r>
              <a:rPr lang="en-GB" sz="2800" b="1" dirty="0">
                <a:latin typeface="Gabriola" pitchFamily="82" charset="0"/>
              </a:rPr>
              <a:t>4 mL</a:t>
            </a:r>
            <a:r>
              <a:rPr lang="en-GB" sz="2800" dirty="0">
                <a:latin typeface="Gabriola" pitchFamily="82" charset="0"/>
              </a:rPr>
              <a:t> per </a:t>
            </a:r>
            <a:r>
              <a:rPr lang="en-GB" sz="2800" b="1" dirty="0">
                <a:latin typeface="Gabriola" pitchFamily="82" charset="0"/>
              </a:rPr>
              <a:t>% TBSA burned</a:t>
            </a:r>
            <a:r>
              <a:rPr lang="en-GB" sz="2800" dirty="0">
                <a:latin typeface="Gabriola" pitchFamily="82" charset="0"/>
              </a:rPr>
              <a:t> but is typically used for </a:t>
            </a:r>
            <a:r>
              <a:rPr lang="en-GB" sz="2800" b="1" dirty="0">
                <a:latin typeface="Gabriola" pitchFamily="82" charset="0"/>
              </a:rPr>
              <a:t>children</a:t>
            </a:r>
            <a:r>
              <a:rPr lang="en-GB" sz="2800" dirty="0">
                <a:latin typeface="Gabriola" pitchFamily="82" charset="0"/>
              </a:rPr>
              <a:t> with burns.</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116</a:t>
            </a:fld>
            <a:endParaRPr lang="en-GB"/>
          </a:p>
        </p:txBody>
      </p:sp>
    </p:spTree>
    <p:extLst>
      <p:ext uri="{BB962C8B-B14F-4D97-AF65-F5344CB8AC3E}">
        <p14:creationId xmlns:p14="http://schemas.microsoft.com/office/powerpoint/2010/main" val="6050629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634082"/>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179512" y="1196752"/>
            <a:ext cx="8352928" cy="5277200"/>
          </a:xfrm>
        </p:spPr>
        <p:txBody>
          <a:bodyPr>
            <a:normAutofit/>
          </a:bodyPr>
          <a:lstStyle/>
          <a:p>
            <a:pPr lvl="1">
              <a:lnSpc>
                <a:spcPct val="150000"/>
              </a:lnSpc>
            </a:pPr>
            <a:r>
              <a:rPr lang="en-GB" sz="2800" b="1" dirty="0">
                <a:latin typeface="Gabriola" pitchFamily="82" charset="0"/>
              </a:rPr>
              <a:t>Fluid Type</a:t>
            </a:r>
            <a:r>
              <a:rPr lang="en-GB" sz="2800" dirty="0">
                <a:latin typeface="Gabriola" pitchFamily="82" charset="0"/>
              </a:rPr>
              <a:t>: Similar to the Parkland formula, </a:t>
            </a:r>
            <a:r>
              <a:rPr lang="en-GB" sz="2800" b="1" dirty="0">
                <a:latin typeface="Gabriola" pitchFamily="82" charset="0"/>
              </a:rPr>
              <a:t>Lactated Ringer’s</a:t>
            </a:r>
            <a:r>
              <a:rPr lang="en-GB" sz="2800" dirty="0">
                <a:latin typeface="Gabriola" pitchFamily="82" charset="0"/>
              </a:rPr>
              <a:t> is used for resuscitation.</a:t>
            </a:r>
          </a:p>
          <a:p>
            <a:pPr>
              <a:lnSpc>
                <a:spcPct val="150000"/>
              </a:lnSpc>
            </a:pPr>
            <a:r>
              <a:rPr lang="en-GB" sz="2800" b="1" dirty="0">
                <a:latin typeface="Gabriola" pitchFamily="82" charset="0"/>
              </a:rPr>
              <a:t>Example</a:t>
            </a:r>
            <a:r>
              <a:rPr lang="en-GB" sz="2800" dirty="0">
                <a:latin typeface="Gabriola" pitchFamily="82" charset="0"/>
              </a:rPr>
              <a:t>:</a:t>
            </a:r>
          </a:p>
          <a:p>
            <a:pPr>
              <a:lnSpc>
                <a:spcPct val="150000"/>
              </a:lnSpc>
            </a:pPr>
            <a:r>
              <a:rPr lang="en-GB" sz="2800" dirty="0">
                <a:latin typeface="Gabriola" pitchFamily="82" charset="0"/>
              </a:rPr>
              <a:t>A </a:t>
            </a:r>
            <a:r>
              <a:rPr lang="en-GB" sz="2800" b="1" dirty="0">
                <a:latin typeface="Gabriola" pitchFamily="82" charset="0"/>
              </a:rPr>
              <a:t>10 kg child</a:t>
            </a:r>
            <a:r>
              <a:rPr lang="en-GB" sz="2800" dirty="0">
                <a:latin typeface="Gabriola" pitchFamily="82" charset="0"/>
              </a:rPr>
              <a:t> with </a:t>
            </a:r>
            <a:r>
              <a:rPr lang="en-GB" sz="2800" b="1" dirty="0">
                <a:latin typeface="Gabriola" pitchFamily="82" charset="0"/>
              </a:rPr>
              <a:t>30% TBSA</a:t>
            </a:r>
            <a:r>
              <a:rPr lang="en-GB" sz="2800" dirty="0">
                <a:latin typeface="Gabriola" pitchFamily="82" charset="0"/>
              </a:rPr>
              <a:t> burns: Fluid requirement=4×30×10=1,200 mL(Total for 24 hours)\</a:t>
            </a:r>
          </a:p>
          <a:p>
            <a:pPr lvl="1">
              <a:lnSpc>
                <a:spcPct val="150000"/>
              </a:lnSpc>
            </a:pPr>
            <a:r>
              <a:rPr lang="en-GB" sz="2800" b="1" dirty="0">
                <a:latin typeface="Gabriola" pitchFamily="82" charset="0"/>
              </a:rPr>
              <a:t>First 8 hours</a:t>
            </a:r>
            <a:r>
              <a:rPr lang="en-GB" sz="2800" dirty="0">
                <a:latin typeface="Gabriola" pitchFamily="82" charset="0"/>
              </a:rPr>
              <a:t>: 600 mL</a:t>
            </a:r>
          </a:p>
          <a:p>
            <a:pPr lvl="1">
              <a:lnSpc>
                <a:spcPct val="150000"/>
              </a:lnSpc>
            </a:pPr>
            <a:r>
              <a:rPr lang="en-GB" sz="2800" b="1" dirty="0">
                <a:latin typeface="Gabriola" pitchFamily="82" charset="0"/>
              </a:rPr>
              <a:t>Next 16 hours</a:t>
            </a:r>
            <a:r>
              <a:rPr lang="en-GB" sz="2800" dirty="0">
                <a:latin typeface="Gabriola" pitchFamily="82" charset="0"/>
              </a:rPr>
              <a:t>: 600 mL</a:t>
            </a:r>
          </a:p>
          <a:p>
            <a:endParaRPr lang="en-US" sz="2800" dirty="0"/>
          </a:p>
        </p:txBody>
      </p:sp>
      <p:sp>
        <p:nvSpPr>
          <p:cNvPr id="4" name="Slide Number Placeholder 3"/>
          <p:cNvSpPr>
            <a:spLocks noGrp="1"/>
          </p:cNvSpPr>
          <p:nvPr>
            <p:ph type="sldNum" sz="quarter" idx="15"/>
          </p:nvPr>
        </p:nvSpPr>
        <p:spPr/>
        <p:txBody>
          <a:bodyPr/>
          <a:lstStyle/>
          <a:p>
            <a:fld id="{968CA758-BC7F-4AFE-853F-5D1E39DDFDA0}" type="slidenum">
              <a:rPr lang="en-GB" smtClean="0"/>
              <a:t>117</a:t>
            </a:fld>
            <a:endParaRPr lang="en-GB"/>
          </a:p>
        </p:txBody>
      </p:sp>
    </p:spTree>
    <p:extLst>
      <p:ext uri="{BB962C8B-B14F-4D97-AF65-F5344CB8AC3E}">
        <p14:creationId xmlns:p14="http://schemas.microsoft.com/office/powerpoint/2010/main" val="22274851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640960" cy="490066"/>
          </a:xfrm>
        </p:spPr>
        <p:txBody>
          <a:bodyPr>
            <a:normAutofit fontScale="90000"/>
          </a:bodyPr>
          <a:lstStyle/>
          <a:p>
            <a:r>
              <a:rPr lang="en-GB" dirty="0" smtClean="0">
                <a:solidFill>
                  <a:schemeClr val="tx1"/>
                </a:solidFill>
                <a:latin typeface="Arial Black" pitchFamily="34" charset="0"/>
              </a:rPr>
              <a:t>Fluid resuscitation protocols </a:t>
            </a:r>
            <a:endParaRPr lang="en-GB" dirty="0">
              <a:solidFill>
                <a:schemeClr val="tx1"/>
              </a:solidFill>
              <a:latin typeface="Arial Black" pitchFamily="34" charset="0"/>
            </a:endParaRPr>
          </a:p>
        </p:txBody>
      </p:sp>
      <p:sp>
        <p:nvSpPr>
          <p:cNvPr id="3" name="Content Placeholder 2"/>
          <p:cNvSpPr>
            <a:spLocks noGrp="1"/>
          </p:cNvSpPr>
          <p:nvPr>
            <p:ph sz="quarter" idx="1"/>
          </p:nvPr>
        </p:nvSpPr>
        <p:spPr>
          <a:xfrm>
            <a:off x="179512" y="836712"/>
            <a:ext cx="8424936" cy="5637240"/>
          </a:xfrm>
        </p:spPr>
        <p:txBody>
          <a:bodyPr>
            <a:noAutofit/>
          </a:bodyPr>
          <a:lstStyle/>
          <a:p>
            <a:pPr>
              <a:lnSpc>
                <a:spcPct val="150000"/>
              </a:lnSpc>
            </a:pPr>
            <a:r>
              <a:rPr lang="en-GB" sz="2800" b="1" dirty="0" smtClean="0">
                <a:latin typeface="Gabriola" pitchFamily="82" charset="0"/>
              </a:rPr>
              <a:t>First </a:t>
            </a:r>
            <a:r>
              <a:rPr lang="en-GB" sz="2800" b="1" dirty="0">
                <a:latin typeface="Gabriola" pitchFamily="82" charset="0"/>
              </a:rPr>
              <a:t>24 Hours</a:t>
            </a:r>
            <a:r>
              <a:rPr lang="en-GB" sz="2800" dirty="0">
                <a:latin typeface="Gabriola" pitchFamily="82" charset="0"/>
              </a:rPr>
              <a:t>:</a:t>
            </a:r>
          </a:p>
          <a:p>
            <a:pPr lvl="1">
              <a:lnSpc>
                <a:spcPct val="150000"/>
              </a:lnSpc>
            </a:pPr>
            <a:r>
              <a:rPr lang="en-GB" sz="2800" b="1" dirty="0">
                <a:latin typeface="Gabriola" pitchFamily="82" charset="0"/>
              </a:rPr>
              <a:t>Initial Fluid Bolus</a:t>
            </a:r>
            <a:r>
              <a:rPr lang="en-GB" sz="2800" dirty="0">
                <a:latin typeface="Gabriola" pitchFamily="82" charset="0"/>
              </a:rPr>
              <a:t>: For patients with severe burns (&gt;20% TBSA), a bolus of </a:t>
            </a:r>
            <a:r>
              <a:rPr lang="en-GB" sz="2800" b="1" dirty="0">
                <a:latin typeface="Gabriola" pitchFamily="82" charset="0"/>
              </a:rPr>
              <a:t>500-1000 mL of Normal Saline or Ringer’s Lactate</a:t>
            </a:r>
            <a:r>
              <a:rPr lang="en-GB" sz="2800" dirty="0">
                <a:latin typeface="Gabriola" pitchFamily="82" charset="0"/>
              </a:rPr>
              <a:t> can be given immediately to stabilize the patient before starting the formal resuscitation formula.</a:t>
            </a:r>
          </a:p>
          <a:p>
            <a:pPr lvl="1">
              <a:lnSpc>
                <a:spcPct val="150000"/>
              </a:lnSpc>
            </a:pPr>
            <a:r>
              <a:rPr lang="en-GB" sz="2800" b="1" dirty="0">
                <a:latin typeface="Gabriola" pitchFamily="82" charset="0"/>
              </a:rPr>
              <a:t>Gradual Fluid Administration</a:t>
            </a:r>
            <a:r>
              <a:rPr lang="en-GB" sz="2800" dirty="0">
                <a:latin typeface="Gabriola" pitchFamily="82" charset="0"/>
              </a:rPr>
              <a:t>: Following the calculation using the Parkland formula or other methods, fluids are administered over 24 hours.</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118</a:t>
            </a:fld>
            <a:endParaRPr lang="en-GB"/>
          </a:p>
        </p:txBody>
      </p:sp>
    </p:spTree>
    <p:extLst>
      <p:ext uri="{BB962C8B-B14F-4D97-AF65-F5344CB8AC3E}">
        <p14:creationId xmlns:p14="http://schemas.microsoft.com/office/powerpoint/2010/main" val="3342199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673280" cy="418058"/>
          </a:xfrm>
        </p:spPr>
        <p:txBody>
          <a:bodyPr>
            <a:normAutofit fontScale="90000"/>
          </a:bodyPr>
          <a:lstStyle/>
          <a:p>
            <a:pPr algn="r"/>
            <a:r>
              <a:rPr lang="en-GB" dirty="0" err="1" smtClean="0"/>
              <a:t>Cont</a:t>
            </a:r>
            <a:r>
              <a:rPr lang="en-GB" dirty="0" smtClean="0"/>
              <a:t>…</a:t>
            </a:r>
            <a:endParaRPr lang="en-GB" dirty="0"/>
          </a:p>
        </p:txBody>
      </p:sp>
      <p:sp>
        <p:nvSpPr>
          <p:cNvPr id="3" name="Content Placeholder 2"/>
          <p:cNvSpPr>
            <a:spLocks noGrp="1"/>
          </p:cNvSpPr>
          <p:nvPr>
            <p:ph sz="quarter" idx="1"/>
          </p:nvPr>
        </p:nvSpPr>
        <p:spPr>
          <a:xfrm>
            <a:off x="323528" y="764704"/>
            <a:ext cx="8352928" cy="5709248"/>
          </a:xfrm>
        </p:spPr>
        <p:txBody>
          <a:bodyPr>
            <a:normAutofit/>
          </a:bodyPr>
          <a:lstStyle/>
          <a:p>
            <a:pPr>
              <a:lnSpc>
                <a:spcPct val="150000"/>
              </a:lnSpc>
            </a:pPr>
            <a:r>
              <a:rPr lang="en-GB" sz="2800" b="1" dirty="0">
                <a:latin typeface="Gabriola" pitchFamily="82" charset="0"/>
              </a:rPr>
              <a:t>Second 24 Hours and Beyond</a:t>
            </a:r>
            <a:r>
              <a:rPr lang="en-GB" sz="2800" dirty="0">
                <a:latin typeface="Gabriola" pitchFamily="82" charset="0"/>
              </a:rPr>
              <a:t>:</a:t>
            </a:r>
          </a:p>
          <a:p>
            <a:pPr lvl="1">
              <a:lnSpc>
                <a:spcPct val="150000"/>
              </a:lnSpc>
            </a:pPr>
            <a:r>
              <a:rPr lang="en-GB" sz="2800" dirty="0">
                <a:latin typeface="Gabriola" pitchFamily="82" charset="0"/>
              </a:rPr>
              <a:t>After the first 24 hours, </a:t>
            </a:r>
            <a:r>
              <a:rPr lang="en-GB" sz="2800" b="1" dirty="0">
                <a:latin typeface="Gabriola" pitchFamily="82" charset="0"/>
              </a:rPr>
              <a:t>fluid requirements decrease</a:t>
            </a:r>
            <a:r>
              <a:rPr lang="en-GB" sz="2800" dirty="0">
                <a:latin typeface="Gabriola" pitchFamily="82" charset="0"/>
              </a:rPr>
              <a:t> significantly.</a:t>
            </a:r>
          </a:p>
          <a:p>
            <a:pPr lvl="1">
              <a:lnSpc>
                <a:spcPct val="150000"/>
              </a:lnSpc>
            </a:pPr>
            <a:r>
              <a:rPr lang="en-GB" sz="2800" dirty="0">
                <a:latin typeface="Gabriola" pitchFamily="82" charset="0"/>
              </a:rPr>
              <a:t>The volume is tailored to </a:t>
            </a:r>
            <a:r>
              <a:rPr lang="en-GB" sz="2800" b="1" dirty="0">
                <a:latin typeface="Gabriola" pitchFamily="82" charset="0"/>
              </a:rPr>
              <a:t>urine output</a:t>
            </a:r>
            <a:r>
              <a:rPr lang="en-GB" sz="2800" dirty="0">
                <a:latin typeface="Gabriola" pitchFamily="82" charset="0"/>
              </a:rPr>
              <a:t>, </a:t>
            </a:r>
            <a:r>
              <a:rPr lang="en-GB" sz="2800" b="1" dirty="0">
                <a:latin typeface="Gabriola" pitchFamily="82" charset="0"/>
              </a:rPr>
              <a:t>vital signs</a:t>
            </a:r>
            <a:r>
              <a:rPr lang="en-GB" sz="2800" dirty="0">
                <a:latin typeface="Gabriola" pitchFamily="82" charset="0"/>
              </a:rPr>
              <a:t>, and </a:t>
            </a:r>
            <a:r>
              <a:rPr lang="en-GB" sz="2800" b="1" dirty="0">
                <a:latin typeface="Gabriola" pitchFamily="82" charset="0"/>
              </a:rPr>
              <a:t>clinical judgment</a:t>
            </a:r>
            <a:r>
              <a:rPr lang="en-GB" sz="2800" dirty="0">
                <a:latin typeface="Gabriola" pitchFamily="82" charset="0"/>
              </a:rPr>
              <a:t>.</a:t>
            </a:r>
          </a:p>
          <a:p>
            <a:pPr>
              <a:lnSpc>
                <a:spcPct val="150000"/>
              </a:lnSpc>
            </a:pPr>
            <a:r>
              <a:rPr lang="en-GB" sz="2800" dirty="0">
                <a:latin typeface="Gabriola" pitchFamily="82" charset="0"/>
              </a:rPr>
              <a:t>A common goal for </a:t>
            </a:r>
            <a:r>
              <a:rPr lang="en-GB" sz="2800" b="1" dirty="0">
                <a:latin typeface="Gabriola" pitchFamily="82" charset="0"/>
              </a:rPr>
              <a:t>urine output</a:t>
            </a:r>
            <a:r>
              <a:rPr lang="en-GB" sz="2800" dirty="0">
                <a:latin typeface="Gabriola" pitchFamily="82" charset="0"/>
              </a:rPr>
              <a:t> is:</a:t>
            </a:r>
          </a:p>
          <a:p>
            <a:pPr lvl="1">
              <a:lnSpc>
                <a:spcPct val="150000"/>
              </a:lnSpc>
            </a:pPr>
            <a:r>
              <a:rPr lang="en-GB" sz="2800" b="1" dirty="0">
                <a:latin typeface="Gabriola" pitchFamily="82" charset="0"/>
              </a:rPr>
              <a:t>Adults</a:t>
            </a:r>
            <a:r>
              <a:rPr lang="en-GB" sz="2800" dirty="0">
                <a:latin typeface="Gabriola" pitchFamily="82" charset="0"/>
              </a:rPr>
              <a:t>: 0.5–1 mL/kg/hour.</a:t>
            </a:r>
          </a:p>
          <a:p>
            <a:pPr lvl="1">
              <a:lnSpc>
                <a:spcPct val="150000"/>
              </a:lnSpc>
            </a:pPr>
            <a:r>
              <a:rPr lang="en-GB" sz="2800" b="1" dirty="0">
                <a:latin typeface="Gabriola" pitchFamily="82" charset="0"/>
              </a:rPr>
              <a:t>Children</a:t>
            </a:r>
            <a:r>
              <a:rPr lang="en-GB" sz="2800" dirty="0">
                <a:latin typeface="Gabriola" pitchFamily="82" charset="0"/>
              </a:rPr>
              <a:t>: 1–2 mL/kg/hour.</a:t>
            </a:r>
          </a:p>
          <a:p>
            <a:pPr>
              <a:lnSpc>
                <a:spcPct val="150000"/>
              </a:lnSpc>
            </a:pP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119</a:t>
            </a:fld>
            <a:endParaRPr lang="en-GB"/>
          </a:p>
        </p:txBody>
      </p:sp>
    </p:spTree>
    <p:extLst>
      <p:ext uri="{BB962C8B-B14F-4D97-AF65-F5344CB8AC3E}">
        <p14:creationId xmlns:p14="http://schemas.microsoft.com/office/powerpoint/2010/main" val="11210430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08912" cy="850106"/>
          </a:xfrm>
        </p:spPr>
        <p:txBody>
          <a:bodyPr>
            <a:normAutofit/>
          </a:bodyPr>
          <a:lstStyle/>
          <a:p>
            <a:r>
              <a:rPr lang="en-GB" sz="3200" dirty="0" smtClean="0">
                <a:solidFill>
                  <a:schemeClr val="tx1"/>
                </a:solidFill>
                <a:latin typeface="Arial Black" pitchFamily="34" charset="0"/>
              </a:rPr>
              <a:t>Anaesthesia consideration </a:t>
            </a:r>
            <a:endParaRPr lang="en-GB" sz="3200" dirty="0">
              <a:solidFill>
                <a:schemeClr val="tx1"/>
              </a:solidFill>
              <a:latin typeface="Arial Black" pitchFamily="34" charset="0"/>
            </a:endParaRPr>
          </a:p>
        </p:txBody>
      </p:sp>
      <p:sp>
        <p:nvSpPr>
          <p:cNvPr id="3" name="Content Placeholder 2"/>
          <p:cNvSpPr>
            <a:spLocks noGrp="1"/>
          </p:cNvSpPr>
          <p:nvPr>
            <p:ph sz="quarter" idx="1"/>
          </p:nvPr>
        </p:nvSpPr>
        <p:spPr>
          <a:xfrm>
            <a:off x="251520" y="1484784"/>
            <a:ext cx="8424936" cy="4989168"/>
          </a:xfrm>
        </p:spPr>
        <p:txBody>
          <a:bodyPr>
            <a:normAutofit/>
          </a:bodyPr>
          <a:lstStyle/>
          <a:p>
            <a:pPr>
              <a:lnSpc>
                <a:spcPct val="150000"/>
              </a:lnSpc>
            </a:pPr>
            <a:r>
              <a:rPr lang="en-US" sz="2800" dirty="0">
                <a:latin typeface="Gabriola" pitchFamily="82" charset="0"/>
              </a:rPr>
              <a:t>Anesthesia management for burn patients requires careful consideration due to the complex physiological changes that occur as a result of burns. </a:t>
            </a:r>
            <a:endParaRPr lang="en-US" sz="2800" dirty="0" smtClean="0">
              <a:latin typeface="Gabriola" pitchFamily="82" charset="0"/>
            </a:endParaRPr>
          </a:p>
          <a:p>
            <a:pPr>
              <a:lnSpc>
                <a:spcPct val="150000"/>
              </a:lnSpc>
            </a:pPr>
            <a:r>
              <a:rPr lang="en-US" sz="2800" dirty="0" smtClean="0">
                <a:latin typeface="Gabriola" pitchFamily="82" charset="0"/>
              </a:rPr>
              <a:t>These </a:t>
            </a:r>
            <a:r>
              <a:rPr lang="en-US" sz="2800" dirty="0">
                <a:latin typeface="Gabriola" pitchFamily="82" charset="0"/>
              </a:rPr>
              <a:t>changes affect almost every organ system, making anesthesia and perioperative care challenging.</a:t>
            </a:r>
            <a:endParaRPr lang="en-GB"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120</a:t>
            </a:fld>
            <a:endParaRPr lang="en-GB"/>
          </a:p>
        </p:txBody>
      </p:sp>
    </p:spTree>
    <p:extLst>
      <p:ext uri="{BB962C8B-B14F-4D97-AF65-F5344CB8AC3E}">
        <p14:creationId xmlns:p14="http://schemas.microsoft.com/office/powerpoint/2010/main" val="41828814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496944" cy="706090"/>
          </a:xfrm>
        </p:spPr>
        <p:txBody>
          <a:bodyPr>
            <a:normAutofit fontScale="90000"/>
          </a:bodyPr>
          <a:lstStyle/>
          <a:p>
            <a:r>
              <a:rPr lang="en-US" b="1" dirty="0"/>
              <a:t/>
            </a:r>
            <a:br>
              <a:rPr lang="en-US" b="1" dirty="0"/>
            </a:br>
            <a:r>
              <a:rPr lang="en-US" sz="3600" b="1" dirty="0" smtClean="0">
                <a:solidFill>
                  <a:schemeClr val="tx1"/>
                </a:solidFill>
                <a:latin typeface="Arial Black" pitchFamily="34" charset="0"/>
              </a:rPr>
              <a:t>1. Airway management </a:t>
            </a:r>
            <a:endParaRPr lang="en-US" dirty="0">
              <a:solidFill>
                <a:schemeClr val="tx1"/>
              </a:solidFill>
              <a:latin typeface="Arial Black" pitchFamily="34" charset="0"/>
            </a:endParaRPr>
          </a:p>
        </p:txBody>
      </p:sp>
      <p:sp>
        <p:nvSpPr>
          <p:cNvPr id="3" name="Content Placeholder 2"/>
          <p:cNvSpPr>
            <a:spLocks noGrp="1"/>
          </p:cNvSpPr>
          <p:nvPr>
            <p:ph sz="quarter" idx="1"/>
          </p:nvPr>
        </p:nvSpPr>
        <p:spPr>
          <a:xfrm>
            <a:off x="323528" y="1196752"/>
            <a:ext cx="8424936" cy="5277200"/>
          </a:xfrm>
        </p:spPr>
        <p:txBody>
          <a:bodyPr>
            <a:normAutofit/>
          </a:bodyPr>
          <a:lstStyle/>
          <a:p>
            <a:pPr>
              <a:lnSpc>
                <a:spcPct val="150000"/>
              </a:lnSpc>
            </a:pPr>
            <a:r>
              <a:rPr lang="en-US" sz="2800" b="1" dirty="0" smtClean="0">
                <a:latin typeface="Gabriola" pitchFamily="82" charset="0"/>
              </a:rPr>
              <a:t>Risk </a:t>
            </a:r>
            <a:r>
              <a:rPr lang="en-US" sz="2800" b="1" dirty="0">
                <a:latin typeface="Gabriola" pitchFamily="82" charset="0"/>
              </a:rPr>
              <a:t>of Airway Compromise</a:t>
            </a:r>
            <a:r>
              <a:rPr lang="en-US" sz="2800" dirty="0">
                <a:latin typeface="Gabriola" pitchFamily="82" charset="0"/>
              </a:rPr>
              <a:t>: </a:t>
            </a:r>
            <a:endParaRPr lang="en-US" sz="2800" dirty="0" smtClean="0">
              <a:latin typeface="Gabriola" pitchFamily="82" charset="0"/>
            </a:endParaRPr>
          </a:p>
          <a:p>
            <a:pPr lvl="1">
              <a:lnSpc>
                <a:spcPct val="150000"/>
              </a:lnSpc>
            </a:pPr>
            <a:r>
              <a:rPr lang="en-US" sz="2800" dirty="0" smtClean="0">
                <a:latin typeface="Gabriola" pitchFamily="82" charset="0"/>
              </a:rPr>
              <a:t>Patients </a:t>
            </a:r>
            <a:r>
              <a:rPr lang="en-US" sz="2800" dirty="0">
                <a:latin typeface="Gabriola" pitchFamily="82" charset="0"/>
              </a:rPr>
              <a:t>with burns to the face, neck, or chest may have significant risk of airway obstruction due to swelling, inhalation injury, or edema. </a:t>
            </a:r>
            <a:endParaRPr lang="en-US" sz="2800" dirty="0" smtClean="0">
              <a:latin typeface="Gabriola" pitchFamily="82" charset="0"/>
            </a:endParaRPr>
          </a:p>
          <a:p>
            <a:pPr lvl="1">
              <a:lnSpc>
                <a:spcPct val="150000"/>
              </a:lnSpc>
            </a:pPr>
            <a:r>
              <a:rPr lang="en-US" sz="2800" dirty="0" smtClean="0">
                <a:latin typeface="Gabriola" pitchFamily="82" charset="0"/>
              </a:rPr>
              <a:t>Intubation </a:t>
            </a:r>
            <a:r>
              <a:rPr lang="en-US" sz="2800" dirty="0">
                <a:latin typeface="Gabriola" pitchFamily="82" charset="0"/>
              </a:rPr>
              <a:t>should be performed </a:t>
            </a:r>
            <a:r>
              <a:rPr lang="en-US" sz="2800" dirty="0" smtClean="0">
                <a:latin typeface="Gabriola" pitchFamily="82" charset="0"/>
              </a:rPr>
              <a:t>early</a:t>
            </a:r>
          </a:p>
          <a:p>
            <a:pPr lvl="1">
              <a:lnSpc>
                <a:spcPct val="150000"/>
              </a:lnSpc>
            </a:pPr>
            <a:r>
              <a:rPr lang="en-US" sz="2800" dirty="0" smtClean="0">
                <a:latin typeface="Gabriola" pitchFamily="82" charset="0"/>
              </a:rPr>
              <a:t> </a:t>
            </a:r>
            <a:r>
              <a:rPr lang="en-US" sz="2800" dirty="0">
                <a:latin typeface="Gabriola" pitchFamily="82" charset="0"/>
              </a:rPr>
              <a:t>A</a:t>
            </a:r>
            <a:r>
              <a:rPr lang="en-US" sz="2800" dirty="0" smtClean="0">
                <a:latin typeface="Gabriola" pitchFamily="82" charset="0"/>
              </a:rPr>
              <a:t>irway </a:t>
            </a:r>
            <a:r>
              <a:rPr lang="en-US" sz="2800" dirty="0">
                <a:latin typeface="Gabriola" pitchFamily="82" charset="0"/>
              </a:rPr>
              <a:t>management may require specialized techniques such as </a:t>
            </a:r>
            <a:r>
              <a:rPr lang="en-US" sz="2800" dirty="0" err="1">
                <a:latin typeface="Gabriola" pitchFamily="82" charset="0"/>
              </a:rPr>
              <a:t>fiberoptic</a:t>
            </a:r>
            <a:r>
              <a:rPr lang="en-US" sz="2800" dirty="0">
                <a:latin typeface="Gabriola" pitchFamily="82" charset="0"/>
              </a:rPr>
              <a:t> intubation or </a:t>
            </a:r>
            <a:r>
              <a:rPr lang="en-US" sz="2800" dirty="0" err="1">
                <a:latin typeface="Gabriola" pitchFamily="82" charset="0"/>
              </a:rPr>
              <a:t>cricothyroidotomy</a:t>
            </a:r>
            <a:r>
              <a:rPr lang="en-US" sz="2800" dirty="0">
                <a:latin typeface="Gabriola" pitchFamily="82" charset="0"/>
              </a:rPr>
              <a:t> if intubation is difficult.</a:t>
            </a:r>
          </a:p>
          <a:p>
            <a:pPr lvl="1">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121</a:t>
            </a:fld>
            <a:endParaRPr lang="en-GB"/>
          </a:p>
        </p:txBody>
      </p:sp>
    </p:spTree>
    <p:extLst>
      <p:ext uri="{BB962C8B-B14F-4D97-AF65-F5344CB8AC3E}">
        <p14:creationId xmlns:p14="http://schemas.microsoft.com/office/powerpoint/2010/main" val="35051727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712968" cy="634082"/>
          </a:xfrm>
        </p:spPr>
        <p:txBody>
          <a:bodyPr/>
          <a:lstStyle/>
          <a:p>
            <a:pPr algn="r"/>
            <a:r>
              <a:rPr lang="en-US" dirty="0" smtClean="0"/>
              <a:t>Cont..</a:t>
            </a:r>
            <a:endParaRPr lang="en-US" dirty="0"/>
          </a:p>
        </p:txBody>
      </p:sp>
      <p:sp>
        <p:nvSpPr>
          <p:cNvPr id="3" name="Content Placeholder 2"/>
          <p:cNvSpPr>
            <a:spLocks noGrp="1"/>
          </p:cNvSpPr>
          <p:nvPr>
            <p:ph sz="quarter" idx="1"/>
          </p:nvPr>
        </p:nvSpPr>
        <p:spPr>
          <a:xfrm>
            <a:off x="251520" y="908720"/>
            <a:ext cx="8136904" cy="5565232"/>
          </a:xfrm>
        </p:spPr>
        <p:txBody>
          <a:bodyPr>
            <a:normAutofit/>
          </a:bodyPr>
          <a:lstStyle/>
          <a:p>
            <a:pPr>
              <a:lnSpc>
                <a:spcPct val="150000"/>
              </a:lnSpc>
            </a:pPr>
            <a:r>
              <a:rPr lang="en-US" sz="2800" b="1" dirty="0">
                <a:latin typeface="Gabriola" pitchFamily="82" charset="0"/>
              </a:rPr>
              <a:t>Inhalation Injury</a:t>
            </a:r>
            <a:r>
              <a:rPr lang="en-US" sz="2800" dirty="0" smtClean="0">
                <a:latin typeface="Gabriola" pitchFamily="82" charset="0"/>
              </a:rPr>
              <a:t>:</a:t>
            </a:r>
          </a:p>
          <a:p>
            <a:pPr lvl="1">
              <a:lnSpc>
                <a:spcPct val="150000"/>
              </a:lnSpc>
            </a:pPr>
            <a:r>
              <a:rPr lang="en-US" sz="2800" dirty="0" smtClean="0">
                <a:latin typeface="Gabriola" pitchFamily="82" charset="0"/>
              </a:rPr>
              <a:t> </a:t>
            </a:r>
            <a:r>
              <a:rPr lang="en-US" sz="2800" dirty="0">
                <a:latin typeface="Gabriola" pitchFamily="82" charset="0"/>
              </a:rPr>
              <a:t>Inhalation of hot gases or chemicals can lead to airway edema, carbon monoxide poisoning, or cyanide toxicity. </a:t>
            </a:r>
            <a:endParaRPr lang="en-US" sz="2800" dirty="0" smtClean="0">
              <a:latin typeface="Gabriola" pitchFamily="82" charset="0"/>
            </a:endParaRPr>
          </a:p>
          <a:p>
            <a:pPr lvl="1">
              <a:lnSpc>
                <a:spcPct val="150000"/>
              </a:lnSpc>
            </a:pPr>
            <a:r>
              <a:rPr lang="en-US" sz="2800" dirty="0" smtClean="0">
                <a:latin typeface="Gabriola" pitchFamily="82" charset="0"/>
              </a:rPr>
              <a:t>Monitoring </a:t>
            </a:r>
            <a:r>
              <a:rPr lang="en-US" sz="2800" dirty="0">
                <a:latin typeface="Gabriola" pitchFamily="82" charset="0"/>
              </a:rPr>
              <a:t>for signs of inhalation injury and ensuring proper ventilation and oxygenation is crucial.</a:t>
            </a: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122</a:t>
            </a:fld>
            <a:endParaRPr lang="en-GB"/>
          </a:p>
        </p:txBody>
      </p:sp>
    </p:spTree>
    <p:extLst>
      <p:ext uri="{BB962C8B-B14F-4D97-AF65-F5344CB8AC3E}">
        <p14:creationId xmlns:p14="http://schemas.microsoft.com/office/powerpoint/2010/main" val="26487630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5"/>
          </p:nvPr>
        </p:nvSpPr>
        <p:spPr/>
        <p:txBody>
          <a:bodyPr/>
          <a:lstStyle/>
          <a:p>
            <a:fld id="{968CA758-BC7F-4AFE-853F-5D1E39DDFDA0}" type="slidenum">
              <a:rPr lang="en-GB" smtClean="0"/>
              <a:t>123</a:t>
            </a:fld>
            <a:endParaRPr lang="en-GB"/>
          </a:p>
        </p:txBody>
      </p:sp>
      <p:pic>
        <p:nvPicPr>
          <p:cNvPr id="5" name="Content Placeholder 4" descr="Preoperative view (a). A severe neck contracture with extrinsic contractures of the face was observed, range of motion was poor. Lateral view (b) showing severe neck contracture grade E3 as described by Tsai.3 Postoperative appearance (c, d). Range of motion has improved with complete release of extrinsic contractures with a good posture at rest."/>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23528" y="908720"/>
            <a:ext cx="8064896" cy="5565105"/>
          </a:xfrm>
          <a:prstGeom prst="rect">
            <a:avLst/>
          </a:prstGeom>
          <a:noFill/>
          <a:ln>
            <a:noFill/>
          </a:ln>
        </p:spPr>
      </p:pic>
    </p:spTree>
    <p:extLst>
      <p:ext uri="{BB962C8B-B14F-4D97-AF65-F5344CB8AC3E}">
        <p14:creationId xmlns:p14="http://schemas.microsoft.com/office/powerpoint/2010/main" val="21699696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208912" cy="850106"/>
          </a:xfrm>
        </p:spPr>
        <p:txBody>
          <a:bodyPr/>
          <a:lstStyle/>
          <a:p>
            <a:r>
              <a:rPr lang="en-US" dirty="0" smtClean="0">
                <a:solidFill>
                  <a:schemeClr val="tx1"/>
                </a:solidFill>
                <a:latin typeface="Arial Black" pitchFamily="34" charset="0"/>
              </a:rPr>
              <a:t>2. Fluid resuscitation </a:t>
            </a:r>
            <a:endParaRPr lang="en-US" dirty="0">
              <a:solidFill>
                <a:schemeClr val="tx1"/>
              </a:solidFill>
              <a:latin typeface="Arial Black" pitchFamily="34" charset="0"/>
            </a:endParaRPr>
          </a:p>
        </p:txBody>
      </p:sp>
      <p:sp>
        <p:nvSpPr>
          <p:cNvPr id="3" name="Content Placeholder 2"/>
          <p:cNvSpPr>
            <a:spLocks noGrp="1"/>
          </p:cNvSpPr>
          <p:nvPr>
            <p:ph sz="quarter" idx="1"/>
          </p:nvPr>
        </p:nvSpPr>
        <p:spPr>
          <a:xfrm>
            <a:off x="251520" y="1268760"/>
            <a:ext cx="8064896" cy="5205192"/>
          </a:xfrm>
        </p:spPr>
        <p:txBody>
          <a:bodyPr>
            <a:normAutofit/>
          </a:bodyPr>
          <a:lstStyle/>
          <a:p>
            <a:pPr>
              <a:lnSpc>
                <a:spcPct val="150000"/>
              </a:lnSpc>
            </a:pPr>
            <a:r>
              <a:rPr lang="en-US" sz="2800" b="1" dirty="0" smtClean="0">
                <a:latin typeface="Gabriola" pitchFamily="82" charset="0"/>
              </a:rPr>
              <a:t>Burn </a:t>
            </a:r>
            <a:r>
              <a:rPr lang="en-US" sz="2800" b="1" dirty="0">
                <a:latin typeface="Gabriola" pitchFamily="82" charset="0"/>
              </a:rPr>
              <a:t>Shock</a:t>
            </a:r>
            <a:r>
              <a:rPr lang="en-US" sz="2800" dirty="0">
                <a:latin typeface="Gabriola" pitchFamily="82" charset="0"/>
              </a:rPr>
              <a:t>: Extensive burns cause a massive loss of fluids and electrolytes, leading to hypovolemic shock. </a:t>
            </a:r>
            <a:endParaRPr lang="en-US" sz="2800" dirty="0" smtClean="0">
              <a:latin typeface="Gabriola" pitchFamily="82" charset="0"/>
            </a:endParaRPr>
          </a:p>
          <a:p>
            <a:pPr>
              <a:lnSpc>
                <a:spcPct val="150000"/>
              </a:lnSpc>
            </a:pPr>
            <a:r>
              <a:rPr lang="en-US" sz="2800" dirty="0" smtClean="0">
                <a:latin typeface="Gabriola" pitchFamily="82" charset="0"/>
              </a:rPr>
              <a:t>Fluid </a:t>
            </a:r>
            <a:r>
              <a:rPr lang="en-US" sz="2800" dirty="0">
                <a:latin typeface="Gabriola" pitchFamily="82" charset="0"/>
              </a:rPr>
              <a:t>resuscitation is critical in the first 24 hours, and the most commonly used formula is the </a:t>
            </a:r>
            <a:endParaRPr lang="en-US" sz="2800" dirty="0" smtClean="0">
              <a:latin typeface="Gabriola" pitchFamily="82" charset="0"/>
            </a:endParaRPr>
          </a:p>
          <a:p>
            <a:pPr lvl="1">
              <a:lnSpc>
                <a:spcPct val="150000"/>
              </a:lnSpc>
            </a:pPr>
            <a:r>
              <a:rPr lang="en-US" sz="2800" b="1" dirty="0" smtClean="0">
                <a:latin typeface="Gabriola" pitchFamily="82" charset="0"/>
              </a:rPr>
              <a:t>Parkland </a:t>
            </a:r>
            <a:r>
              <a:rPr lang="en-US" sz="2800" b="1" dirty="0">
                <a:latin typeface="Gabriola" pitchFamily="82" charset="0"/>
              </a:rPr>
              <a:t>formula</a:t>
            </a:r>
            <a:r>
              <a:rPr lang="en-US" sz="2800" dirty="0">
                <a:latin typeface="Gabriola" pitchFamily="82" charset="0"/>
              </a:rPr>
              <a:t> (4 mL × body </a:t>
            </a:r>
            <a:r>
              <a:rPr lang="en-US" sz="2800" dirty="0" smtClean="0">
                <a:latin typeface="Gabriola" pitchFamily="82" charset="0"/>
              </a:rPr>
              <a:t>weight </a:t>
            </a:r>
            <a:r>
              <a:rPr lang="en-US" sz="2800" dirty="0">
                <a:latin typeface="Gabriola" pitchFamily="82" charset="0"/>
              </a:rPr>
              <a:t>in kg × %TBSA burn</a:t>
            </a:r>
            <a:r>
              <a:rPr lang="en-US" sz="2800" dirty="0" smtClean="0">
                <a:latin typeface="Gabriola" pitchFamily="82" charset="0"/>
              </a:rPr>
              <a:t>).</a:t>
            </a:r>
          </a:p>
          <a:p>
            <a:pPr lvl="1">
              <a:lnSpc>
                <a:spcPct val="150000"/>
              </a:lnSpc>
            </a:pPr>
            <a:r>
              <a:rPr lang="en-US" sz="2800" dirty="0" smtClean="0">
                <a:latin typeface="Gabriola" pitchFamily="82" charset="0"/>
              </a:rPr>
              <a:t> </a:t>
            </a:r>
            <a:r>
              <a:rPr lang="en-US" sz="2800" dirty="0">
                <a:latin typeface="Gabriola" pitchFamily="82" charset="0"/>
              </a:rPr>
              <a:t>Half of the fluid is given in the first 8 hours, and the remainder is given over the next 16 hours.</a:t>
            </a:r>
          </a:p>
          <a:p>
            <a:pPr lvl="1">
              <a:lnSpc>
                <a:spcPct val="150000"/>
              </a:lnSpc>
            </a:pPr>
            <a:endParaRPr lang="en-US" sz="2800" dirty="0" smtClean="0">
              <a:latin typeface="Gabriola" pitchFamily="82" charset="0"/>
            </a:endParaRPr>
          </a:p>
          <a:p>
            <a:pPr lvl="1">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124</a:t>
            </a:fld>
            <a:endParaRPr lang="en-GB"/>
          </a:p>
        </p:txBody>
      </p:sp>
    </p:spTree>
    <p:extLst>
      <p:ext uri="{BB962C8B-B14F-4D97-AF65-F5344CB8AC3E}">
        <p14:creationId xmlns:p14="http://schemas.microsoft.com/office/powerpoint/2010/main" val="219212108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496944" cy="634082"/>
          </a:xfrm>
        </p:spPr>
        <p:txBody>
          <a:bodyPr/>
          <a:lstStyle/>
          <a:p>
            <a:pPr algn="r"/>
            <a:r>
              <a:rPr lang="en-US" dirty="0" smtClean="0"/>
              <a:t>Cont..</a:t>
            </a:r>
            <a:endParaRPr lang="en-US" dirty="0"/>
          </a:p>
        </p:txBody>
      </p:sp>
      <p:sp>
        <p:nvSpPr>
          <p:cNvPr id="3" name="Content Placeholder 2"/>
          <p:cNvSpPr>
            <a:spLocks noGrp="1"/>
          </p:cNvSpPr>
          <p:nvPr>
            <p:ph sz="quarter" idx="1"/>
          </p:nvPr>
        </p:nvSpPr>
        <p:spPr>
          <a:xfrm>
            <a:off x="179512" y="764704"/>
            <a:ext cx="8712968" cy="5709248"/>
          </a:xfrm>
        </p:spPr>
        <p:txBody>
          <a:bodyPr>
            <a:normAutofit fontScale="85000" lnSpcReduction="20000"/>
          </a:bodyPr>
          <a:lstStyle/>
          <a:p>
            <a:pPr>
              <a:lnSpc>
                <a:spcPct val="160000"/>
              </a:lnSpc>
            </a:pPr>
            <a:r>
              <a:rPr lang="en-US" sz="3300" b="1" dirty="0" smtClean="0">
                <a:latin typeface="Gabriola" pitchFamily="82" charset="0"/>
              </a:rPr>
              <a:t>Electrolyte </a:t>
            </a:r>
            <a:r>
              <a:rPr lang="en-US" sz="3300" b="1" dirty="0">
                <a:latin typeface="Gabriola" pitchFamily="82" charset="0"/>
              </a:rPr>
              <a:t>Imbalance</a:t>
            </a:r>
            <a:r>
              <a:rPr lang="en-US" sz="3300" dirty="0">
                <a:latin typeface="Gabriola" pitchFamily="82" charset="0"/>
              </a:rPr>
              <a:t>: </a:t>
            </a:r>
            <a:endParaRPr lang="en-US" sz="3300" dirty="0" smtClean="0">
              <a:latin typeface="Gabriola" pitchFamily="82" charset="0"/>
            </a:endParaRPr>
          </a:p>
          <a:p>
            <a:pPr lvl="1">
              <a:lnSpc>
                <a:spcPct val="160000"/>
              </a:lnSpc>
            </a:pPr>
            <a:r>
              <a:rPr lang="en-US" sz="3300" dirty="0" smtClean="0">
                <a:latin typeface="Gabriola" pitchFamily="82" charset="0"/>
              </a:rPr>
              <a:t>Burn </a:t>
            </a:r>
            <a:r>
              <a:rPr lang="en-US" sz="3300" dirty="0">
                <a:latin typeface="Gabriola" pitchFamily="82" charset="0"/>
              </a:rPr>
              <a:t>patients often experience shifts in electrolytes (e.g., hypokalemia, hypernatremia) and require close monitoring and replacement of fluids and electrolytes.</a:t>
            </a:r>
          </a:p>
          <a:p>
            <a:pPr>
              <a:lnSpc>
                <a:spcPct val="160000"/>
              </a:lnSpc>
            </a:pPr>
            <a:r>
              <a:rPr lang="en-US" sz="3300" b="1" dirty="0">
                <a:latin typeface="Gabriola" pitchFamily="82" charset="0"/>
              </a:rPr>
              <a:t>3. Hemodynamic Considerations</a:t>
            </a:r>
          </a:p>
          <a:p>
            <a:pPr marL="0" indent="0">
              <a:lnSpc>
                <a:spcPct val="160000"/>
              </a:lnSpc>
              <a:buNone/>
            </a:pPr>
            <a:r>
              <a:rPr lang="en-US" sz="3300" b="1" dirty="0" err="1">
                <a:latin typeface="Gabriola" pitchFamily="82" charset="0"/>
              </a:rPr>
              <a:t>Hypovolemia</a:t>
            </a:r>
            <a:r>
              <a:rPr lang="en-US" sz="3300" b="1" dirty="0">
                <a:latin typeface="Gabriola" pitchFamily="82" charset="0"/>
              </a:rPr>
              <a:t> and Hypotension</a:t>
            </a:r>
            <a:r>
              <a:rPr lang="en-US" sz="3300" dirty="0">
                <a:latin typeface="Gabriola" pitchFamily="82" charset="0"/>
              </a:rPr>
              <a:t>: </a:t>
            </a:r>
            <a:endParaRPr lang="en-US" sz="3300" dirty="0" smtClean="0">
              <a:latin typeface="Gabriola" pitchFamily="82" charset="0"/>
            </a:endParaRPr>
          </a:p>
          <a:p>
            <a:pPr>
              <a:lnSpc>
                <a:spcPct val="160000"/>
              </a:lnSpc>
            </a:pPr>
            <a:r>
              <a:rPr lang="en-US" sz="3300" dirty="0" smtClean="0">
                <a:latin typeface="Gabriola" pitchFamily="82" charset="0"/>
              </a:rPr>
              <a:t>Initial </a:t>
            </a:r>
            <a:r>
              <a:rPr lang="en-US" sz="3300" dirty="0" err="1">
                <a:latin typeface="Gabriola" pitchFamily="82" charset="0"/>
              </a:rPr>
              <a:t>hypovolemia</a:t>
            </a:r>
            <a:r>
              <a:rPr lang="en-US" sz="3300" dirty="0">
                <a:latin typeface="Gabriola" pitchFamily="82" charset="0"/>
              </a:rPr>
              <a:t> due to fluid loss must be corrected quickly. </a:t>
            </a:r>
            <a:endParaRPr lang="en-US" sz="3300" dirty="0" smtClean="0">
              <a:latin typeface="Gabriola" pitchFamily="82" charset="0"/>
            </a:endParaRPr>
          </a:p>
          <a:p>
            <a:pPr marL="0" indent="0">
              <a:lnSpc>
                <a:spcPct val="160000"/>
              </a:lnSpc>
              <a:buNone/>
            </a:pPr>
            <a:r>
              <a:rPr lang="en-US" sz="2800" dirty="0">
                <a:latin typeface="Gabriola" pitchFamily="82" charset="0"/>
              </a:rPr>
              <a:t/>
            </a:r>
            <a:br>
              <a:rPr lang="en-US" sz="2800" dirty="0">
                <a:latin typeface="Gabriola" pitchFamily="82" charset="0"/>
              </a:rPr>
            </a:br>
            <a:endParaRPr lang="en-US" sz="2800" dirty="0">
              <a:latin typeface="Gabriola" pitchFamily="82" charset="0"/>
            </a:endParaRPr>
          </a:p>
          <a:p>
            <a:pPr>
              <a:lnSpc>
                <a:spcPct val="16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125</a:t>
            </a:fld>
            <a:endParaRPr lang="en-GB"/>
          </a:p>
        </p:txBody>
      </p:sp>
    </p:spTree>
    <p:extLst>
      <p:ext uri="{BB962C8B-B14F-4D97-AF65-F5344CB8AC3E}">
        <p14:creationId xmlns:p14="http://schemas.microsoft.com/office/powerpoint/2010/main" val="57585938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706090"/>
          </a:xfrm>
        </p:spPr>
        <p:txBody>
          <a:bodyPr/>
          <a:lstStyle/>
          <a:p>
            <a:pPr algn="r"/>
            <a:r>
              <a:rPr lang="en-US" dirty="0" smtClean="0"/>
              <a:t>Cont..</a:t>
            </a:r>
            <a:endParaRPr lang="en-US" dirty="0"/>
          </a:p>
        </p:txBody>
      </p:sp>
      <p:sp>
        <p:nvSpPr>
          <p:cNvPr id="3" name="Content Placeholder 2"/>
          <p:cNvSpPr>
            <a:spLocks noGrp="1"/>
          </p:cNvSpPr>
          <p:nvPr>
            <p:ph sz="quarter" idx="1"/>
          </p:nvPr>
        </p:nvSpPr>
        <p:spPr>
          <a:xfrm>
            <a:off x="107504" y="980728"/>
            <a:ext cx="8712968" cy="5493224"/>
          </a:xfrm>
        </p:spPr>
        <p:txBody>
          <a:bodyPr>
            <a:normAutofit/>
          </a:bodyPr>
          <a:lstStyle/>
          <a:p>
            <a:pPr>
              <a:lnSpc>
                <a:spcPct val="150000"/>
              </a:lnSpc>
            </a:pPr>
            <a:r>
              <a:rPr lang="en-US" sz="2800" dirty="0">
                <a:latin typeface="Gabriola" pitchFamily="82" charset="0"/>
              </a:rPr>
              <a:t>Anesthesia providers should monitor blood pressure closely and use vasopressors (e.g., norepinephrine) if required</a:t>
            </a:r>
            <a:r>
              <a:rPr lang="en-US" sz="2800" dirty="0" smtClean="0">
                <a:latin typeface="Gabriola" pitchFamily="82" charset="0"/>
              </a:rPr>
              <a:t>.</a:t>
            </a:r>
            <a:endParaRPr lang="en-US" sz="2800" b="1" dirty="0" smtClean="0">
              <a:latin typeface="Gabriola" pitchFamily="82" charset="0"/>
            </a:endParaRPr>
          </a:p>
          <a:p>
            <a:pPr>
              <a:lnSpc>
                <a:spcPct val="150000"/>
              </a:lnSpc>
            </a:pPr>
            <a:r>
              <a:rPr lang="en-US" sz="2800" b="1" dirty="0" smtClean="0">
                <a:latin typeface="Gabriola" pitchFamily="82" charset="0"/>
              </a:rPr>
              <a:t>Monitoring</a:t>
            </a:r>
            <a:r>
              <a:rPr lang="en-US" sz="2800" dirty="0">
                <a:latin typeface="Gabriola" pitchFamily="82" charset="0"/>
              </a:rPr>
              <a:t>: </a:t>
            </a:r>
            <a:endParaRPr lang="en-US" sz="2800" dirty="0" smtClean="0">
              <a:latin typeface="Gabriola" pitchFamily="82" charset="0"/>
            </a:endParaRPr>
          </a:p>
          <a:p>
            <a:pPr lvl="1">
              <a:lnSpc>
                <a:spcPct val="150000"/>
              </a:lnSpc>
            </a:pPr>
            <a:r>
              <a:rPr lang="en-US" sz="2800" dirty="0" smtClean="0">
                <a:latin typeface="Gabriola" pitchFamily="82" charset="0"/>
              </a:rPr>
              <a:t>Invasive </a:t>
            </a:r>
            <a:r>
              <a:rPr lang="en-US" sz="2800" dirty="0">
                <a:latin typeface="Gabriola" pitchFamily="82" charset="0"/>
              </a:rPr>
              <a:t>monitoring with a central venous catheter (CVC) or arterial line may be necessary to assess fluid status and guide resuscitation.</a:t>
            </a:r>
          </a:p>
          <a:p>
            <a:pPr marL="0" indent="0">
              <a:lnSpc>
                <a:spcPct val="150000"/>
              </a:lnSpc>
              <a:buNone/>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126</a:t>
            </a:fld>
            <a:endParaRPr lang="en-GB"/>
          </a:p>
        </p:txBody>
      </p:sp>
    </p:spTree>
    <p:extLst>
      <p:ext uri="{BB962C8B-B14F-4D97-AF65-F5344CB8AC3E}">
        <p14:creationId xmlns:p14="http://schemas.microsoft.com/office/powerpoint/2010/main" val="28310178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07504" y="188640"/>
            <a:ext cx="8712968" cy="85998"/>
          </a:xfrm>
        </p:spPr>
        <p:txBody>
          <a:bodyPr>
            <a:normAutofit fontScale="90000"/>
          </a:bodyPr>
          <a:lstStyle/>
          <a:p>
            <a:endParaRPr lang="en-US" dirty="0"/>
          </a:p>
        </p:txBody>
      </p:sp>
      <p:sp>
        <p:nvSpPr>
          <p:cNvPr id="3" name="Content Placeholder 2"/>
          <p:cNvSpPr>
            <a:spLocks noGrp="1"/>
          </p:cNvSpPr>
          <p:nvPr>
            <p:ph sz="quarter" idx="1"/>
          </p:nvPr>
        </p:nvSpPr>
        <p:spPr>
          <a:xfrm>
            <a:off x="107504" y="836712"/>
            <a:ext cx="8568952" cy="5637240"/>
          </a:xfrm>
        </p:spPr>
        <p:txBody>
          <a:bodyPr>
            <a:normAutofit/>
          </a:bodyPr>
          <a:lstStyle/>
          <a:p>
            <a:pPr>
              <a:lnSpc>
                <a:spcPct val="150000"/>
              </a:lnSpc>
            </a:pPr>
            <a:r>
              <a:rPr lang="en-US" sz="2800" b="1" dirty="0">
                <a:latin typeface="Gabriola" pitchFamily="82" charset="0"/>
              </a:rPr>
              <a:t>Thermoregulation</a:t>
            </a:r>
            <a:r>
              <a:rPr lang="en-US" sz="2800" dirty="0">
                <a:latin typeface="Gabriola" pitchFamily="82" charset="0"/>
              </a:rPr>
              <a:t>:</a:t>
            </a:r>
          </a:p>
          <a:p>
            <a:pPr lvl="1">
              <a:lnSpc>
                <a:spcPct val="150000"/>
              </a:lnSpc>
            </a:pPr>
            <a:r>
              <a:rPr lang="en-US" sz="2800" dirty="0">
                <a:latin typeface="Gabriola" pitchFamily="82" charset="0"/>
              </a:rPr>
              <a:t> Burn patients often have difficulty maintaining body temperature due to skin loss. </a:t>
            </a:r>
          </a:p>
          <a:p>
            <a:pPr lvl="1">
              <a:lnSpc>
                <a:spcPct val="150000"/>
              </a:lnSpc>
            </a:pPr>
            <a:r>
              <a:rPr lang="en-US" sz="2800" dirty="0">
                <a:latin typeface="Gabriola" pitchFamily="82" charset="0"/>
              </a:rPr>
              <a:t>Warming measures, such as forced air warming blankets, should be used during surgery to prevent hypothermia</a:t>
            </a:r>
            <a:endParaRPr lang="en-US" sz="2800" dirty="0"/>
          </a:p>
        </p:txBody>
      </p:sp>
      <p:sp>
        <p:nvSpPr>
          <p:cNvPr id="4" name="Slide Number Placeholder 3"/>
          <p:cNvSpPr>
            <a:spLocks noGrp="1"/>
          </p:cNvSpPr>
          <p:nvPr>
            <p:ph type="sldNum" sz="quarter" idx="15"/>
          </p:nvPr>
        </p:nvSpPr>
        <p:spPr/>
        <p:txBody>
          <a:bodyPr/>
          <a:lstStyle/>
          <a:p>
            <a:fld id="{968CA758-BC7F-4AFE-853F-5D1E39DDFDA0}" type="slidenum">
              <a:rPr lang="en-GB" smtClean="0"/>
              <a:t>127</a:t>
            </a:fld>
            <a:endParaRPr lang="en-GB"/>
          </a:p>
        </p:txBody>
      </p:sp>
    </p:spTree>
    <p:extLst>
      <p:ext uri="{BB962C8B-B14F-4D97-AF65-F5344CB8AC3E}">
        <p14:creationId xmlns:p14="http://schemas.microsoft.com/office/powerpoint/2010/main" val="105782687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640960" cy="504056"/>
          </a:xfrm>
        </p:spPr>
        <p:txBody>
          <a:bodyPr>
            <a:normAutofit fontScale="90000"/>
          </a:bodyPr>
          <a:lstStyle/>
          <a:p>
            <a:r>
              <a:rPr lang="en-US" b="1" dirty="0"/>
              <a:t/>
            </a:r>
            <a:br>
              <a:rPr lang="en-US" b="1" dirty="0"/>
            </a:br>
            <a:r>
              <a:rPr lang="en-US" b="1" dirty="0" smtClean="0">
                <a:solidFill>
                  <a:schemeClr val="tx1"/>
                </a:solidFill>
                <a:latin typeface="Arial Black" pitchFamily="34" charset="0"/>
              </a:rPr>
              <a:t>4. Medications and drug dosing </a:t>
            </a:r>
            <a:endParaRPr lang="en-US" dirty="0">
              <a:solidFill>
                <a:schemeClr val="tx1"/>
              </a:solidFill>
              <a:latin typeface="Arial Black" pitchFamily="34" charset="0"/>
            </a:endParaRPr>
          </a:p>
        </p:txBody>
      </p:sp>
      <p:sp>
        <p:nvSpPr>
          <p:cNvPr id="3" name="Content Placeholder 2"/>
          <p:cNvSpPr>
            <a:spLocks noGrp="1"/>
          </p:cNvSpPr>
          <p:nvPr>
            <p:ph sz="quarter" idx="1"/>
          </p:nvPr>
        </p:nvSpPr>
        <p:spPr>
          <a:xfrm>
            <a:off x="251520" y="908720"/>
            <a:ext cx="8280920" cy="5565232"/>
          </a:xfrm>
        </p:spPr>
        <p:txBody>
          <a:bodyPr>
            <a:noAutofit/>
          </a:bodyPr>
          <a:lstStyle/>
          <a:p>
            <a:pPr>
              <a:lnSpc>
                <a:spcPct val="150000"/>
              </a:lnSpc>
            </a:pPr>
            <a:r>
              <a:rPr lang="en-US" sz="2800" b="1" dirty="0" smtClean="0">
                <a:latin typeface="Gabriola" pitchFamily="82" charset="0"/>
              </a:rPr>
              <a:t>Pain </a:t>
            </a:r>
            <a:r>
              <a:rPr lang="en-US" sz="2800" b="1" dirty="0">
                <a:latin typeface="Gabriola" pitchFamily="82" charset="0"/>
              </a:rPr>
              <a:t>Management</a:t>
            </a:r>
            <a:r>
              <a:rPr lang="en-US" sz="2800" dirty="0">
                <a:latin typeface="Gabriola" pitchFamily="82" charset="0"/>
              </a:rPr>
              <a:t>: </a:t>
            </a:r>
            <a:endParaRPr lang="en-US" sz="2800" dirty="0" smtClean="0">
              <a:latin typeface="Gabriola" pitchFamily="82" charset="0"/>
            </a:endParaRPr>
          </a:p>
          <a:p>
            <a:pPr lvl="1">
              <a:lnSpc>
                <a:spcPct val="150000"/>
              </a:lnSpc>
            </a:pPr>
            <a:r>
              <a:rPr lang="en-US" sz="2800" dirty="0" smtClean="0">
                <a:latin typeface="Gabriola" pitchFamily="82" charset="0"/>
              </a:rPr>
              <a:t>Burn </a:t>
            </a:r>
            <a:r>
              <a:rPr lang="en-US" sz="2800" dirty="0">
                <a:latin typeface="Gabriola" pitchFamily="82" charset="0"/>
              </a:rPr>
              <a:t>patients are at risk for severe pain. </a:t>
            </a:r>
            <a:endParaRPr lang="en-US" sz="2800" dirty="0" smtClean="0">
              <a:latin typeface="Gabriola" pitchFamily="82" charset="0"/>
            </a:endParaRPr>
          </a:p>
          <a:p>
            <a:pPr lvl="1">
              <a:lnSpc>
                <a:spcPct val="150000"/>
              </a:lnSpc>
            </a:pPr>
            <a:r>
              <a:rPr lang="en-US" sz="2800" dirty="0" smtClean="0">
                <a:latin typeface="Gabriola" pitchFamily="82" charset="0"/>
              </a:rPr>
              <a:t>Opioids </a:t>
            </a:r>
            <a:r>
              <a:rPr lang="en-US" sz="2800" dirty="0">
                <a:latin typeface="Gabriola" pitchFamily="82" charset="0"/>
              </a:rPr>
              <a:t>(e.g., morphine, fentanyl) are commonly used for pain control, but due to altered pharmacokinetics, careful dosing and frequent reassessment are necessary.</a:t>
            </a:r>
          </a:p>
          <a:p>
            <a:pPr marL="0" indent="0">
              <a:lnSpc>
                <a:spcPct val="150000"/>
              </a:lnSpc>
              <a:buNone/>
            </a:pPr>
            <a:endParaRPr lang="en-US" sz="2800" dirty="0" smtClean="0">
              <a:latin typeface="Gabriola" pitchFamily="82" charset="0"/>
            </a:endParaRPr>
          </a:p>
          <a:p>
            <a:pPr marL="365760" lvl="1" indent="0">
              <a:lnSpc>
                <a:spcPct val="150000"/>
              </a:lnSpc>
              <a:buNone/>
            </a:pPr>
            <a:endParaRPr lang="en-US" sz="2800" dirty="0">
              <a:latin typeface="Gabriola" pitchFamily="82" charset="0"/>
            </a:endParaRP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128</a:t>
            </a:fld>
            <a:endParaRPr lang="en-GB"/>
          </a:p>
        </p:txBody>
      </p:sp>
    </p:spTree>
    <p:extLst>
      <p:ext uri="{BB962C8B-B14F-4D97-AF65-F5344CB8AC3E}">
        <p14:creationId xmlns:p14="http://schemas.microsoft.com/office/powerpoint/2010/main" val="41163472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76456" cy="418058"/>
          </a:xfrm>
        </p:spPr>
        <p:txBody>
          <a:bodyPr>
            <a:normAutofit fontScale="90000"/>
          </a:bodyPr>
          <a:lstStyle/>
          <a:p>
            <a:endParaRPr lang="en-US" dirty="0"/>
          </a:p>
        </p:txBody>
      </p:sp>
      <p:sp>
        <p:nvSpPr>
          <p:cNvPr id="3" name="Content Placeholder 2"/>
          <p:cNvSpPr>
            <a:spLocks noGrp="1"/>
          </p:cNvSpPr>
          <p:nvPr>
            <p:ph sz="quarter" idx="1"/>
          </p:nvPr>
        </p:nvSpPr>
        <p:spPr>
          <a:xfrm>
            <a:off x="179512" y="908720"/>
            <a:ext cx="8784976" cy="5565232"/>
          </a:xfrm>
        </p:spPr>
        <p:txBody>
          <a:bodyPr>
            <a:normAutofit/>
          </a:bodyPr>
          <a:lstStyle/>
          <a:p>
            <a:pPr>
              <a:lnSpc>
                <a:spcPct val="150000"/>
              </a:lnSpc>
            </a:pPr>
            <a:r>
              <a:rPr lang="en-US" sz="2800" b="1" dirty="0">
                <a:latin typeface="Gabriola" pitchFamily="82" charset="0"/>
              </a:rPr>
              <a:t>Sedation and </a:t>
            </a:r>
            <a:r>
              <a:rPr lang="en-US" sz="2800" b="1" dirty="0" err="1">
                <a:latin typeface="Gabriola" pitchFamily="82" charset="0"/>
              </a:rPr>
              <a:t>Anxiolysis</a:t>
            </a:r>
            <a:r>
              <a:rPr lang="en-US" sz="2800" dirty="0">
                <a:latin typeface="Gabriola" pitchFamily="82" charset="0"/>
              </a:rPr>
              <a:t>:</a:t>
            </a:r>
          </a:p>
          <a:p>
            <a:pPr lvl="1">
              <a:lnSpc>
                <a:spcPct val="150000"/>
              </a:lnSpc>
            </a:pPr>
            <a:r>
              <a:rPr lang="en-US" sz="2800" dirty="0">
                <a:latin typeface="Gabriola" pitchFamily="82" charset="0"/>
              </a:rPr>
              <a:t> Patients often require sedation for wound care or surgical procedures </a:t>
            </a:r>
            <a:endParaRPr lang="en-US" sz="2800" dirty="0" smtClean="0">
              <a:latin typeface="Gabriola" pitchFamily="82" charset="0"/>
            </a:endParaRPr>
          </a:p>
          <a:p>
            <a:pPr lvl="1">
              <a:lnSpc>
                <a:spcPct val="150000"/>
              </a:lnSpc>
            </a:pPr>
            <a:r>
              <a:rPr lang="en-US" sz="2800" dirty="0" smtClean="0">
                <a:latin typeface="Gabriola" pitchFamily="82" charset="0"/>
              </a:rPr>
              <a:t>Benzodiazepines </a:t>
            </a:r>
            <a:r>
              <a:rPr lang="en-US" sz="2800" dirty="0">
                <a:latin typeface="Gabriola" pitchFamily="82" charset="0"/>
              </a:rPr>
              <a:t>and </a:t>
            </a:r>
            <a:r>
              <a:rPr lang="en-US" sz="2800" dirty="0" err="1">
                <a:latin typeface="Gabriola" pitchFamily="82" charset="0"/>
              </a:rPr>
              <a:t>propofol</a:t>
            </a:r>
            <a:r>
              <a:rPr lang="en-US" sz="2800" dirty="0">
                <a:latin typeface="Gabriola" pitchFamily="82" charset="0"/>
              </a:rPr>
              <a:t> can be used but require careful titration as burn patients may have altered responses to </a:t>
            </a:r>
            <a:r>
              <a:rPr lang="en-US" sz="2800" dirty="0" smtClean="0">
                <a:latin typeface="Gabriola" pitchFamily="82" charset="0"/>
              </a:rPr>
              <a:t>medications</a:t>
            </a:r>
          </a:p>
        </p:txBody>
      </p:sp>
      <p:sp>
        <p:nvSpPr>
          <p:cNvPr id="4" name="Slide Number Placeholder 3"/>
          <p:cNvSpPr>
            <a:spLocks noGrp="1"/>
          </p:cNvSpPr>
          <p:nvPr>
            <p:ph type="sldNum" sz="quarter" idx="15"/>
          </p:nvPr>
        </p:nvSpPr>
        <p:spPr/>
        <p:txBody>
          <a:bodyPr/>
          <a:lstStyle/>
          <a:p>
            <a:fld id="{968CA758-BC7F-4AFE-853F-5D1E39DDFDA0}" type="slidenum">
              <a:rPr lang="en-GB" smtClean="0"/>
              <a:t>129</a:t>
            </a:fld>
            <a:endParaRPr lang="en-GB"/>
          </a:p>
        </p:txBody>
      </p:sp>
    </p:spTree>
    <p:extLst>
      <p:ext uri="{BB962C8B-B14F-4D97-AF65-F5344CB8AC3E}">
        <p14:creationId xmlns:p14="http://schemas.microsoft.com/office/powerpoint/2010/main" val="40331115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7745288" cy="634082"/>
          </a:xfrm>
        </p:spPr>
        <p:txBody>
          <a:bodyPr/>
          <a:lstStyle/>
          <a:p>
            <a:pPr algn="ctr"/>
            <a:r>
              <a:rPr lang="en-US" b="1" dirty="0" smtClean="0">
                <a:solidFill>
                  <a:schemeClr val="tx1"/>
                </a:solidFill>
              </a:rPr>
              <a:t>Muscle relaxants</a:t>
            </a:r>
            <a:endParaRPr lang="en-US" b="1" dirty="0">
              <a:solidFill>
                <a:schemeClr val="tx1"/>
              </a:solidFill>
            </a:endParaRPr>
          </a:p>
        </p:txBody>
      </p:sp>
      <p:sp>
        <p:nvSpPr>
          <p:cNvPr id="3" name="Content Placeholder 2"/>
          <p:cNvSpPr>
            <a:spLocks noGrp="1"/>
          </p:cNvSpPr>
          <p:nvPr>
            <p:ph sz="quarter" idx="1"/>
          </p:nvPr>
        </p:nvSpPr>
        <p:spPr>
          <a:xfrm>
            <a:off x="323528" y="836712"/>
            <a:ext cx="8352928" cy="5637240"/>
          </a:xfrm>
        </p:spPr>
        <p:txBody>
          <a:bodyPr>
            <a:normAutofit/>
          </a:bodyPr>
          <a:lstStyle/>
          <a:p>
            <a:pPr>
              <a:lnSpc>
                <a:spcPct val="150000"/>
              </a:lnSpc>
            </a:pPr>
            <a:r>
              <a:rPr lang="en-US" sz="2800" dirty="0" smtClean="0">
                <a:latin typeface="Gabriola" pitchFamily="82" charset="0"/>
              </a:rPr>
              <a:t>Burn </a:t>
            </a:r>
            <a:r>
              <a:rPr lang="en-US" sz="2800" dirty="0">
                <a:latin typeface="Gabriola" pitchFamily="82" charset="0"/>
              </a:rPr>
              <a:t>patients may have altered sensitivity to muscle relaxants due to changes in protein binding and altered pharmacodynamics. </a:t>
            </a:r>
          </a:p>
          <a:p>
            <a:pPr>
              <a:lnSpc>
                <a:spcPct val="150000"/>
              </a:lnSpc>
            </a:pPr>
            <a:r>
              <a:rPr lang="en-US" sz="2800" dirty="0">
                <a:latin typeface="Gabriola" pitchFamily="82" charset="0"/>
              </a:rPr>
              <a:t>Burn injury–related changes cause proliferation of </a:t>
            </a:r>
            <a:r>
              <a:rPr lang="en-US" sz="2800" dirty="0" err="1">
                <a:latin typeface="Gabriola" pitchFamily="82" charset="0"/>
              </a:rPr>
              <a:t>extrajunctional</a:t>
            </a:r>
            <a:r>
              <a:rPr lang="en-US" sz="2800" dirty="0">
                <a:latin typeface="Gabriola" pitchFamily="82" charset="0"/>
              </a:rPr>
              <a:t> acetylcholine receptors that release more potassium into the extracellular space, predisposing to life-threatening </a:t>
            </a:r>
            <a:r>
              <a:rPr lang="en-US" sz="2800" dirty="0" err="1">
                <a:latin typeface="Gabriola" pitchFamily="82" charset="0"/>
              </a:rPr>
              <a:t>hyperkalaemia</a:t>
            </a:r>
            <a:r>
              <a:rPr lang="en-US" sz="2800" dirty="0">
                <a:latin typeface="Gabriola" pitchFamily="82" charset="0"/>
              </a:rPr>
              <a:t> when </a:t>
            </a:r>
            <a:r>
              <a:rPr lang="en-US" sz="2800" dirty="0" err="1">
                <a:latin typeface="Gabriola" pitchFamily="82" charset="0"/>
              </a:rPr>
              <a:t>suxamethonium</a:t>
            </a:r>
            <a:r>
              <a:rPr lang="en-US" sz="2800" dirty="0">
                <a:latin typeface="Gabriola" pitchFamily="82" charset="0"/>
              </a:rPr>
              <a:t> is used. </a:t>
            </a:r>
            <a:endParaRPr lang="en-US" dirty="0" smtClean="0">
              <a:latin typeface="Gabriola" pitchFamily="82" charset="0"/>
            </a:endParaRPr>
          </a:p>
          <a:p>
            <a:pPr lvl="1"/>
            <a:r>
              <a:rPr lang="en-US" sz="2800" dirty="0" smtClean="0">
                <a:latin typeface="Gabriola" pitchFamily="82" charset="0"/>
              </a:rPr>
              <a:t>This </a:t>
            </a:r>
            <a:r>
              <a:rPr lang="en-US" sz="2800" dirty="0">
                <a:latin typeface="Gabriola" pitchFamily="82" charset="0"/>
              </a:rPr>
              <a:t>risk appears to be greatest in patients more than 48 hours after and for up to 1 year </a:t>
            </a:r>
            <a:r>
              <a:rPr lang="en-US" sz="2800" dirty="0" err="1">
                <a:latin typeface="Gabriola" pitchFamily="82" charset="0"/>
              </a:rPr>
              <a:t>postinjury</a:t>
            </a:r>
            <a:endParaRPr lang="en-US" sz="2800" dirty="0">
              <a:latin typeface="Gabriola" pitchFamily="82" charset="0"/>
            </a:endParaRPr>
          </a:p>
          <a:p>
            <a:endParaRPr lang="en-US" dirty="0"/>
          </a:p>
        </p:txBody>
      </p:sp>
      <p:sp>
        <p:nvSpPr>
          <p:cNvPr id="4" name="Slide Number Placeholder 3"/>
          <p:cNvSpPr>
            <a:spLocks noGrp="1"/>
          </p:cNvSpPr>
          <p:nvPr>
            <p:ph type="sldNum" sz="quarter" idx="15"/>
          </p:nvPr>
        </p:nvSpPr>
        <p:spPr/>
        <p:txBody>
          <a:bodyPr/>
          <a:lstStyle/>
          <a:p>
            <a:fld id="{968CA758-BC7F-4AFE-853F-5D1E39DDFDA0}" type="slidenum">
              <a:rPr lang="en-GB" smtClean="0"/>
              <a:t>130</a:t>
            </a:fld>
            <a:endParaRPr lang="en-GB"/>
          </a:p>
        </p:txBody>
      </p:sp>
    </p:spTree>
    <p:extLst>
      <p:ext uri="{BB962C8B-B14F-4D97-AF65-F5344CB8AC3E}">
        <p14:creationId xmlns:p14="http://schemas.microsoft.com/office/powerpoint/2010/main" val="2287347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928992" cy="418058"/>
          </a:xfrm>
        </p:spPr>
        <p:txBody>
          <a:bodyPr>
            <a:normAutofit fontScale="90000"/>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0" y="692696"/>
            <a:ext cx="8676456" cy="5781256"/>
          </a:xfrm>
        </p:spPr>
        <p:txBody>
          <a:bodyPr>
            <a:normAutofit/>
          </a:bodyPr>
          <a:lstStyle/>
          <a:p>
            <a:pPr>
              <a:lnSpc>
                <a:spcPct val="150000"/>
              </a:lnSpc>
            </a:pPr>
            <a:r>
              <a:rPr lang="en-GB" sz="2800" dirty="0" err="1">
                <a:latin typeface="Gabriola" pitchFamily="82" charset="0"/>
              </a:rPr>
              <a:t>Nondepolarising</a:t>
            </a:r>
            <a:r>
              <a:rPr lang="en-GB" sz="2800" dirty="0">
                <a:latin typeface="Gabriola" pitchFamily="82" charset="0"/>
              </a:rPr>
              <a:t> neuromuscular blocking agents (NMBAs) may also have altered pharmacodynamics in burn patients, and this is thought to be multifactorial. </a:t>
            </a:r>
            <a:endParaRPr lang="en-GB" sz="2800" dirty="0" smtClean="0">
              <a:latin typeface="Gabriola" pitchFamily="82" charset="0"/>
            </a:endParaRPr>
          </a:p>
          <a:p>
            <a:pPr>
              <a:lnSpc>
                <a:spcPct val="150000"/>
              </a:lnSpc>
            </a:pPr>
            <a:r>
              <a:rPr lang="en-GB" sz="2800" dirty="0" smtClean="0">
                <a:latin typeface="Gabriola" pitchFamily="82" charset="0"/>
              </a:rPr>
              <a:t>An </a:t>
            </a:r>
            <a:r>
              <a:rPr lang="en-GB" sz="2800" dirty="0">
                <a:latin typeface="Gabriola" pitchFamily="82" charset="0"/>
              </a:rPr>
              <a:t>increased dose of </a:t>
            </a:r>
            <a:r>
              <a:rPr lang="en-GB" sz="2800" dirty="0" err="1">
                <a:latin typeface="Gabriola" pitchFamily="82" charset="0"/>
              </a:rPr>
              <a:t>rocuronium</a:t>
            </a:r>
            <a:r>
              <a:rPr lang="en-GB" sz="2800" dirty="0">
                <a:latin typeface="Gabriola" pitchFamily="82" charset="0"/>
              </a:rPr>
              <a:t> 1.2 to 1.5 mg/kg for rapid sequence induction is recommended, with effective paralysis time being approximately 90 seconds compared with 60 seconds in the </a:t>
            </a:r>
            <a:r>
              <a:rPr lang="en-GB" sz="2800" dirty="0" err="1">
                <a:latin typeface="Gabriola" pitchFamily="82" charset="0"/>
              </a:rPr>
              <a:t>nonburn</a:t>
            </a:r>
            <a:r>
              <a:rPr lang="en-GB" sz="2800" dirty="0">
                <a:latin typeface="Gabriola" pitchFamily="82" charset="0"/>
              </a:rPr>
              <a:t> population</a:t>
            </a: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131</a:t>
            </a:fld>
            <a:endParaRPr lang="en-GB"/>
          </a:p>
        </p:txBody>
      </p:sp>
    </p:spTree>
    <p:extLst>
      <p:ext uri="{BB962C8B-B14F-4D97-AF65-F5344CB8AC3E}">
        <p14:creationId xmlns:p14="http://schemas.microsoft.com/office/powerpoint/2010/main" val="34157383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712968" cy="504056"/>
          </a:xfrm>
        </p:spPr>
        <p:txBody>
          <a:bodyPr>
            <a:normAutofit fontScale="90000"/>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107504" y="692696"/>
            <a:ext cx="8568952" cy="5781256"/>
          </a:xfrm>
        </p:spPr>
        <p:txBody>
          <a:bodyPr>
            <a:normAutofit/>
          </a:bodyPr>
          <a:lstStyle/>
          <a:p>
            <a:pPr>
              <a:lnSpc>
                <a:spcPct val="150000"/>
              </a:lnSpc>
            </a:pPr>
            <a:r>
              <a:rPr lang="en-GB" sz="2800" dirty="0">
                <a:latin typeface="Gabriola" pitchFamily="82" charset="0"/>
              </a:rPr>
              <a:t>Plasma protein concentration and binding capabilities may be drastically altered after severe burn injury. </a:t>
            </a:r>
            <a:endParaRPr lang="en-GB" sz="2800" dirty="0" smtClean="0">
              <a:latin typeface="Gabriola" pitchFamily="82" charset="0"/>
            </a:endParaRPr>
          </a:p>
          <a:p>
            <a:pPr>
              <a:lnSpc>
                <a:spcPct val="150000"/>
              </a:lnSpc>
            </a:pPr>
            <a:r>
              <a:rPr lang="en-GB" sz="2800" dirty="0" smtClean="0">
                <a:latin typeface="Gabriola" pitchFamily="82" charset="0"/>
              </a:rPr>
              <a:t>Significant </a:t>
            </a:r>
            <a:r>
              <a:rPr lang="en-GB" sz="2800" dirty="0" err="1">
                <a:latin typeface="Gabriola" pitchFamily="82" charset="0"/>
              </a:rPr>
              <a:t>hypoalbuminemia</a:t>
            </a:r>
            <a:r>
              <a:rPr lang="en-GB" sz="2800" dirty="0">
                <a:latin typeface="Gabriola" pitchFamily="82" charset="0"/>
              </a:rPr>
              <a:t> can occur due to protein-rich fluid loss and decreased hepatic synthesis. </a:t>
            </a:r>
            <a:endParaRPr lang="en-GB" sz="2800" dirty="0" smtClean="0">
              <a:latin typeface="Gabriola" pitchFamily="82" charset="0"/>
            </a:endParaRPr>
          </a:p>
          <a:p>
            <a:pPr>
              <a:lnSpc>
                <a:spcPct val="150000"/>
              </a:lnSpc>
            </a:pPr>
            <a:r>
              <a:rPr lang="en-GB" sz="2800" dirty="0" smtClean="0">
                <a:latin typeface="Gabriola" pitchFamily="82" charset="0"/>
              </a:rPr>
              <a:t>In </a:t>
            </a:r>
            <a:r>
              <a:rPr lang="en-GB" sz="2800" dirty="0">
                <a:latin typeface="Gabriola" pitchFamily="82" charset="0"/>
              </a:rPr>
              <a:t>addition, alpha 1-acid glycoprotein (AAG) concentrations can increase as part of the inflammatory response following significant burn injury.</a:t>
            </a: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132</a:t>
            </a:fld>
            <a:endParaRPr lang="en-GB"/>
          </a:p>
        </p:txBody>
      </p:sp>
    </p:spTree>
    <p:extLst>
      <p:ext uri="{BB962C8B-B14F-4D97-AF65-F5344CB8AC3E}">
        <p14:creationId xmlns:p14="http://schemas.microsoft.com/office/powerpoint/2010/main" val="211660288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3851920" y="-531440"/>
            <a:ext cx="4072880" cy="806078"/>
          </a:xfrm>
        </p:spPr>
        <p:txBody>
          <a:bodyPr/>
          <a:lstStyle/>
          <a:p>
            <a:endParaRPr lang="en-US" dirty="0"/>
          </a:p>
        </p:txBody>
      </p:sp>
      <p:sp>
        <p:nvSpPr>
          <p:cNvPr id="3" name="Content Placeholder 2"/>
          <p:cNvSpPr>
            <a:spLocks noGrp="1"/>
          </p:cNvSpPr>
          <p:nvPr>
            <p:ph sz="quarter" idx="1"/>
          </p:nvPr>
        </p:nvSpPr>
        <p:spPr>
          <a:xfrm>
            <a:off x="107504" y="548680"/>
            <a:ext cx="8568952" cy="5925272"/>
          </a:xfrm>
        </p:spPr>
        <p:txBody>
          <a:bodyPr>
            <a:normAutofit/>
          </a:bodyPr>
          <a:lstStyle/>
          <a:p>
            <a:pPr>
              <a:lnSpc>
                <a:spcPct val="150000"/>
              </a:lnSpc>
            </a:pPr>
            <a:r>
              <a:rPr lang="en-GB" sz="2800" dirty="0">
                <a:latin typeface="Gabriola" pitchFamily="82" charset="0"/>
              </a:rPr>
              <a:t>These can affect protein-bound anaesthetic and analgesic drugs. </a:t>
            </a:r>
            <a:endParaRPr lang="en-GB" sz="2800" dirty="0" smtClean="0">
              <a:latin typeface="Gabriola" pitchFamily="82" charset="0"/>
            </a:endParaRPr>
          </a:p>
          <a:p>
            <a:pPr>
              <a:lnSpc>
                <a:spcPct val="150000"/>
              </a:lnSpc>
            </a:pPr>
            <a:r>
              <a:rPr lang="en-GB" sz="2800" dirty="0" smtClean="0">
                <a:latin typeface="Gabriola" pitchFamily="82" charset="0"/>
              </a:rPr>
              <a:t>Drugs </a:t>
            </a:r>
            <a:r>
              <a:rPr lang="en-GB" sz="2800" dirty="0">
                <a:latin typeface="Gabriola" pitchFamily="82" charset="0"/>
              </a:rPr>
              <a:t>bound to albumin may be present in a higher free concentration. </a:t>
            </a:r>
            <a:endParaRPr lang="en-GB" sz="2800" dirty="0" smtClean="0">
              <a:latin typeface="Gabriola" pitchFamily="82" charset="0"/>
            </a:endParaRPr>
          </a:p>
          <a:p>
            <a:pPr>
              <a:lnSpc>
                <a:spcPct val="150000"/>
              </a:lnSpc>
            </a:pPr>
            <a:r>
              <a:rPr lang="en-GB" sz="2800" dirty="0" smtClean="0">
                <a:latin typeface="Gabriola" pitchFamily="82" charset="0"/>
              </a:rPr>
              <a:t>Conversely</a:t>
            </a:r>
            <a:r>
              <a:rPr lang="en-GB" sz="2800" dirty="0">
                <a:latin typeface="Gabriola" pitchFamily="82" charset="0"/>
              </a:rPr>
              <a:t>, drugs, such as local anaesthetics and analgesic agents, such as </a:t>
            </a:r>
            <a:r>
              <a:rPr lang="en-GB" sz="2800" dirty="0" err="1">
                <a:latin typeface="Gabriola" pitchFamily="82" charset="0"/>
              </a:rPr>
              <a:t>alfentanil</a:t>
            </a:r>
            <a:r>
              <a:rPr lang="en-GB" sz="2800" dirty="0">
                <a:latin typeface="Gabriola" pitchFamily="82" charset="0"/>
              </a:rPr>
              <a:t>, which are primarily bound to AAG, will have lower free concentrations than in the </a:t>
            </a:r>
            <a:r>
              <a:rPr lang="en-GB" sz="2800" dirty="0" err="1">
                <a:latin typeface="Gabriola" pitchFamily="82" charset="0"/>
              </a:rPr>
              <a:t>nonburn</a:t>
            </a:r>
            <a:r>
              <a:rPr lang="en-GB" sz="2800" dirty="0">
                <a:latin typeface="Gabriola" pitchFamily="82" charset="0"/>
              </a:rPr>
              <a:t> </a:t>
            </a:r>
            <a:r>
              <a:rPr lang="en-GB" sz="2800" dirty="0" smtClean="0">
                <a:latin typeface="Gabriola" pitchFamily="82" charset="0"/>
              </a:rPr>
              <a:t>population</a:t>
            </a:r>
          </a:p>
          <a:p>
            <a:pPr>
              <a:lnSpc>
                <a:spcPct val="150000"/>
              </a:lnSpc>
            </a:pPr>
            <a:r>
              <a:rPr lang="en-GB" sz="2800" dirty="0" err="1">
                <a:latin typeface="Gabriola" pitchFamily="82" charset="0"/>
              </a:rPr>
              <a:t>Pharmacodynamic</a:t>
            </a:r>
            <a:r>
              <a:rPr lang="en-GB" sz="2800" dirty="0">
                <a:latin typeface="Gabriola" pitchFamily="82" charset="0"/>
              </a:rPr>
              <a:t> changes may also arise as a result of continued exposure to opioid therapy for relief of sustained pain, resulting in opioid tolerance</a:t>
            </a: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133</a:t>
            </a:fld>
            <a:endParaRPr lang="en-GB"/>
          </a:p>
        </p:txBody>
      </p:sp>
    </p:spTree>
    <p:extLst>
      <p:ext uri="{BB962C8B-B14F-4D97-AF65-F5344CB8AC3E}">
        <p14:creationId xmlns:p14="http://schemas.microsoft.com/office/powerpoint/2010/main" val="291250343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924800" cy="562074"/>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251520" y="692696"/>
            <a:ext cx="8424936" cy="5781256"/>
          </a:xfrm>
        </p:spPr>
        <p:txBody>
          <a:bodyPr>
            <a:normAutofit/>
          </a:bodyPr>
          <a:lstStyle/>
          <a:p>
            <a:pPr>
              <a:lnSpc>
                <a:spcPct val="150000"/>
              </a:lnSpc>
            </a:pPr>
            <a:r>
              <a:rPr lang="en-US" sz="2800" b="1" dirty="0" smtClean="0">
                <a:latin typeface="Gabriola" pitchFamily="82" charset="0"/>
              </a:rPr>
              <a:t>Antibiotics</a:t>
            </a:r>
            <a:r>
              <a:rPr lang="en-US" sz="2800" dirty="0">
                <a:latin typeface="Gabriola" pitchFamily="82" charset="0"/>
              </a:rPr>
              <a:t>: </a:t>
            </a:r>
            <a:endParaRPr lang="en-US" sz="2800" dirty="0" smtClean="0">
              <a:latin typeface="Gabriola" pitchFamily="82" charset="0"/>
            </a:endParaRPr>
          </a:p>
          <a:p>
            <a:pPr lvl="1">
              <a:lnSpc>
                <a:spcPct val="150000"/>
              </a:lnSpc>
            </a:pPr>
            <a:r>
              <a:rPr lang="en-US" sz="2800" dirty="0" smtClean="0">
                <a:latin typeface="Gabriola" pitchFamily="82" charset="0"/>
              </a:rPr>
              <a:t>Burn </a:t>
            </a:r>
            <a:r>
              <a:rPr lang="en-US" sz="2800" dirty="0">
                <a:latin typeface="Gabriola" pitchFamily="82" charset="0"/>
              </a:rPr>
              <a:t>patients are at high risk for infections, so prophylactic antibiotics may be given, especially in cases of deep or extensive burns.</a:t>
            </a:r>
          </a:p>
          <a:p>
            <a:pPr marL="0" indent="0">
              <a:buNone/>
            </a:pPr>
            <a:r>
              <a:rPr lang="en-US" sz="2800" b="1" dirty="0">
                <a:latin typeface="Gabriola" pitchFamily="82" charset="0"/>
              </a:rPr>
              <a:t>5. Renal Function</a:t>
            </a:r>
          </a:p>
          <a:p>
            <a:r>
              <a:rPr lang="en-US" sz="2800" b="1" dirty="0">
                <a:latin typeface="Gabriola" pitchFamily="82" charset="0"/>
              </a:rPr>
              <a:t>Renal Perfusion and Function</a:t>
            </a:r>
            <a:r>
              <a:rPr lang="en-US" sz="2800" dirty="0">
                <a:latin typeface="Gabriola" pitchFamily="82" charset="0"/>
              </a:rPr>
              <a:t>: </a:t>
            </a:r>
            <a:endParaRPr lang="en-US" sz="2800" dirty="0" smtClean="0">
              <a:latin typeface="Gabriola" pitchFamily="82" charset="0"/>
            </a:endParaRPr>
          </a:p>
          <a:p>
            <a:pPr lvl="1">
              <a:lnSpc>
                <a:spcPct val="150000"/>
              </a:lnSpc>
            </a:pPr>
            <a:r>
              <a:rPr lang="en-US" sz="2500" dirty="0" err="1" smtClean="0">
                <a:latin typeface="Gabriola" pitchFamily="82" charset="0"/>
              </a:rPr>
              <a:t>Hypovolemia</a:t>
            </a:r>
            <a:r>
              <a:rPr lang="en-US" sz="2500" dirty="0" smtClean="0">
                <a:latin typeface="Gabriola" pitchFamily="82" charset="0"/>
              </a:rPr>
              <a:t> </a:t>
            </a:r>
            <a:r>
              <a:rPr lang="en-US" sz="2500" dirty="0">
                <a:latin typeface="Gabriola" pitchFamily="82" charset="0"/>
              </a:rPr>
              <a:t>and </a:t>
            </a:r>
            <a:r>
              <a:rPr lang="en-US" sz="2500" dirty="0" err="1">
                <a:latin typeface="Gabriola" pitchFamily="82" charset="0"/>
              </a:rPr>
              <a:t>myoglobinuria</a:t>
            </a:r>
            <a:r>
              <a:rPr lang="en-US" sz="2500" dirty="0">
                <a:latin typeface="Gabriola" pitchFamily="82" charset="0"/>
              </a:rPr>
              <a:t> from muscle damage (e.g., in cases of electrical burns) can lead to acute kidney injury (AKI). </a:t>
            </a:r>
            <a:endParaRPr lang="en-US" sz="2500" dirty="0" smtClean="0">
              <a:latin typeface="Gabriola" pitchFamily="82" charset="0"/>
            </a:endParaRP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134</a:t>
            </a:fld>
            <a:endParaRPr lang="en-GB"/>
          </a:p>
        </p:txBody>
      </p:sp>
    </p:spTree>
    <p:extLst>
      <p:ext uri="{BB962C8B-B14F-4D97-AF65-F5344CB8AC3E}">
        <p14:creationId xmlns:p14="http://schemas.microsoft.com/office/powerpoint/2010/main" val="212720715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568952" cy="562074"/>
          </a:xfrm>
        </p:spPr>
        <p:txBody>
          <a:bodyPr/>
          <a:lstStyle/>
          <a:p>
            <a:pPr algn="r"/>
            <a:r>
              <a:rPr lang="en-US" dirty="0" err="1" smtClean="0"/>
              <a:t>Cont</a:t>
            </a:r>
            <a:r>
              <a:rPr lang="en-US" dirty="0" smtClean="0"/>
              <a:t>…</a:t>
            </a:r>
            <a:endParaRPr lang="en-US" dirty="0"/>
          </a:p>
        </p:txBody>
      </p:sp>
      <p:sp>
        <p:nvSpPr>
          <p:cNvPr id="3" name="Content Placeholder 2"/>
          <p:cNvSpPr>
            <a:spLocks noGrp="1"/>
          </p:cNvSpPr>
          <p:nvPr>
            <p:ph sz="quarter" idx="1"/>
          </p:nvPr>
        </p:nvSpPr>
        <p:spPr>
          <a:xfrm>
            <a:off x="179512" y="980728"/>
            <a:ext cx="8424936" cy="5493224"/>
          </a:xfrm>
        </p:spPr>
        <p:txBody>
          <a:bodyPr>
            <a:normAutofit lnSpcReduction="10000"/>
          </a:bodyPr>
          <a:lstStyle/>
          <a:p>
            <a:pPr lvl="1">
              <a:lnSpc>
                <a:spcPct val="150000"/>
              </a:lnSpc>
            </a:pPr>
            <a:r>
              <a:rPr lang="en-US" sz="2800" dirty="0">
                <a:latin typeface="Gabriola" pitchFamily="82" charset="0"/>
              </a:rPr>
              <a:t>Monitoring renal function closely with serum </a:t>
            </a:r>
            <a:r>
              <a:rPr lang="en-US" sz="2800" dirty="0" err="1">
                <a:latin typeface="Gabriola" pitchFamily="82" charset="0"/>
              </a:rPr>
              <a:t>creatinine</a:t>
            </a:r>
            <a:r>
              <a:rPr lang="en-US" sz="2800" dirty="0">
                <a:latin typeface="Gabriola" pitchFamily="82" charset="0"/>
              </a:rPr>
              <a:t> and urine output is essential. </a:t>
            </a:r>
          </a:p>
          <a:p>
            <a:pPr lvl="1">
              <a:lnSpc>
                <a:spcPct val="150000"/>
              </a:lnSpc>
            </a:pPr>
            <a:r>
              <a:rPr lang="en-US" sz="2800" dirty="0">
                <a:latin typeface="Gabriola" pitchFamily="82" charset="0"/>
              </a:rPr>
              <a:t>Early administration of fluids, </a:t>
            </a:r>
            <a:r>
              <a:rPr lang="en-US" sz="2800" dirty="0" err="1">
                <a:latin typeface="Gabriola" pitchFamily="82" charset="0"/>
              </a:rPr>
              <a:t>mannitol</a:t>
            </a:r>
            <a:r>
              <a:rPr lang="en-US" sz="2800" dirty="0">
                <a:latin typeface="Gabriola" pitchFamily="82" charset="0"/>
              </a:rPr>
              <a:t>, or sodium bicarbonate may help protect renal function.</a:t>
            </a:r>
          </a:p>
          <a:p>
            <a:pPr marL="0" indent="0">
              <a:lnSpc>
                <a:spcPct val="150000"/>
              </a:lnSpc>
              <a:buNone/>
            </a:pPr>
            <a:r>
              <a:rPr lang="en-US" sz="2800" b="1" dirty="0">
                <a:latin typeface="Gabriola" pitchFamily="82" charset="0"/>
              </a:rPr>
              <a:t>6. Postoperative Care</a:t>
            </a:r>
          </a:p>
          <a:p>
            <a:pPr>
              <a:lnSpc>
                <a:spcPct val="150000"/>
              </a:lnSpc>
            </a:pPr>
            <a:r>
              <a:rPr lang="en-US" sz="2800" b="1" dirty="0">
                <a:latin typeface="Gabriola" pitchFamily="82" charset="0"/>
              </a:rPr>
              <a:t>Pain Management: </a:t>
            </a:r>
            <a:endParaRPr lang="en-US" sz="2800" b="1" dirty="0" smtClean="0">
              <a:latin typeface="Gabriola" pitchFamily="82" charset="0"/>
            </a:endParaRPr>
          </a:p>
          <a:p>
            <a:pPr lvl="1">
              <a:lnSpc>
                <a:spcPct val="150000"/>
              </a:lnSpc>
            </a:pPr>
            <a:r>
              <a:rPr lang="en-US" sz="2800" dirty="0" smtClean="0">
                <a:latin typeface="Gabriola" pitchFamily="82" charset="0"/>
              </a:rPr>
              <a:t>Due </a:t>
            </a:r>
            <a:r>
              <a:rPr lang="en-US" sz="2800" dirty="0">
                <a:latin typeface="Gabriola" pitchFamily="82" charset="0"/>
              </a:rPr>
              <a:t>to the nature of the injuries, burn patients may require continuous pain management postoperatively. </a:t>
            </a:r>
            <a:endParaRPr lang="en-US" sz="2800" dirty="0" smtClean="0">
              <a:latin typeface="Gabriola" pitchFamily="82" charset="0"/>
            </a:endParaRP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135</a:t>
            </a:fld>
            <a:endParaRPr lang="en-GB"/>
          </a:p>
        </p:txBody>
      </p:sp>
    </p:spTree>
    <p:extLst>
      <p:ext uri="{BB962C8B-B14F-4D97-AF65-F5344CB8AC3E}">
        <p14:creationId xmlns:p14="http://schemas.microsoft.com/office/powerpoint/2010/main" val="127005961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7817296" cy="634082"/>
          </a:xfrm>
        </p:spPr>
        <p:txBody>
          <a:bodyPr/>
          <a:lstStyle/>
          <a:p>
            <a:pPr algn="r"/>
            <a:r>
              <a:rPr lang="en-US" dirty="0" smtClean="0"/>
              <a:t>Cont..</a:t>
            </a:r>
            <a:endParaRPr lang="en-US" dirty="0"/>
          </a:p>
        </p:txBody>
      </p:sp>
      <p:sp>
        <p:nvSpPr>
          <p:cNvPr id="3" name="Content Placeholder 2"/>
          <p:cNvSpPr>
            <a:spLocks noGrp="1"/>
          </p:cNvSpPr>
          <p:nvPr>
            <p:ph sz="quarter" idx="1"/>
          </p:nvPr>
        </p:nvSpPr>
        <p:spPr>
          <a:xfrm>
            <a:off x="179512" y="980728"/>
            <a:ext cx="9145016" cy="5493224"/>
          </a:xfrm>
        </p:spPr>
        <p:txBody>
          <a:bodyPr>
            <a:normAutofit/>
          </a:bodyPr>
          <a:lstStyle/>
          <a:p>
            <a:pPr lvl="1">
              <a:lnSpc>
                <a:spcPct val="150000"/>
              </a:lnSpc>
              <a:buClr>
                <a:srgbClr val="FE8637"/>
              </a:buClr>
            </a:pPr>
            <a:r>
              <a:rPr lang="en-US" sz="2800" dirty="0">
                <a:solidFill>
                  <a:prstClr val="black"/>
                </a:solidFill>
                <a:latin typeface="Gabriola" pitchFamily="82" charset="0"/>
              </a:rPr>
              <a:t>PCA (patient-controlled analgesia) with opioids, as well as adjuncts like nerve blocks or epidural anesthesia, can be considered for effective pain relief.</a:t>
            </a:r>
          </a:p>
          <a:p>
            <a:pPr>
              <a:lnSpc>
                <a:spcPct val="150000"/>
              </a:lnSpc>
            </a:pPr>
            <a:r>
              <a:rPr lang="en-US" sz="2800" b="1" dirty="0">
                <a:latin typeface="Gabriola" pitchFamily="82" charset="0"/>
              </a:rPr>
              <a:t>Wound Care: </a:t>
            </a:r>
            <a:endParaRPr lang="en-US" sz="2800" b="1" dirty="0" smtClean="0">
              <a:latin typeface="Gabriola" pitchFamily="82" charset="0"/>
            </a:endParaRPr>
          </a:p>
          <a:p>
            <a:pPr lvl="1">
              <a:lnSpc>
                <a:spcPct val="150000"/>
              </a:lnSpc>
            </a:pPr>
            <a:r>
              <a:rPr lang="en-US" sz="2500" dirty="0" smtClean="0">
                <a:latin typeface="Gabriola" pitchFamily="82" charset="0"/>
              </a:rPr>
              <a:t>Depending </a:t>
            </a:r>
            <a:r>
              <a:rPr lang="en-US" sz="2500" dirty="0">
                <a:latin typeface="Gabriola" pitchFamily="82" charset="0"/>
              </a:rPr>
              <a:t>on the extent and type of burn, patients may undergo frequent dressing changes or surgeries for debridement, skin grafts, or reconstruction. </a:t>
            </a:r>
            <a:endParaRPr lang="en-US" sz="2500" dirty="0" smtClean="0">
              <a:latin typeface="Gabriola" pitchFamily="82" charset="0"/>
            </a:endParaRPr>
          </a:p>
          <a:p>
            <a:pPr lvl="1">
              <a:lnSpc>
                <a:spcPct val="150000"/>
              </a:lnSpc>
            </a:pPr>
            <a:r>
              <a:rPr lang="en-US" sz="2500" dirty="0" smtClean="0">
                <a:latin typeface="Gabriola" pitchFamily="82" charset="0"/>
              </a:rPr>
              <a:t>Anesthesia </a:t>
            </a:r>
            <a:r>
              <a:rPr lang="en-US" sz="2500" dirty="0">
                <a:latin typeface="Gabriola" pitchFamily="82" charset="0"/>
              </a:rPr>
              <a:t>for these procedures must be carefully managed, with attention to fluid status, pain control, and infection prevention.</a:t>
            </a: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136</a:t>
            </a:fld>
            <a:endParaRPr lang="en-GB"/>
          </a:p>
        </p:txBody>
      </p:sp>
    </p:spTree>
    <p:extLst>
      <p:ext uri="{BB962C8B-B14F-4D97-AF65-F5344CB8AC3E}">
        <p14:creationId xmlns:p14="http://schemas.microsoft.com/office/powerpoint/2010/main" val="15348556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640960" cy="576064"/>
          </a:xfrm>
        </p:spPr>
        <p:txBody>
          <a:bodyPr>
            <a:normAutofit/>
          </a:bodyPr>
          <a:lstStyle/>
          <a:p>
            <a:r>
              <a:rPr lang="en-US" b="1" dirty="0" smtClean="0">
                <a:solidFill>
                  <a:schemeClr val="tx1"/>
                </a:solidFill>
                <a:latin typeface="Arial Black" pitchFamily="34" charset="0"/>
              </a:rPr>
              <a:t>Vascular Access in burn </a:t>
            </a:r>
            <a:r>
              <a:rPr lang="en-US" b="1" dirty="0" err="1" smtClean="0">
                <a:solidFill>
                  <a:schemeClr val="tx1"/>
                </a:solidFill>
                <a:latin typeface="Arial Black" pitchFamily="34" charset="0"/>
              </a:rPr>
              <a:t>pateints</a:t>
            </a:r>
            <a:r>
              <a:rPr lang="en-US" b="1" dirty="0" smtClean="0">
                <a:solidFill>
                  <a:schemeClr val="tx1"/>
                </a:solidFill>
                <a:latin typeface="Arial Black" pitchFamily="34" charset="0"/>
              </a:rPr>
              <a:t> </a:t>
            </a:r>
            <a:endParaRPr lang="en-US" b="1" dirty="0">
              <a:solidFill>
                <a:schemeClr val="tx1"/>
              </a:solidFill>
              <a:latin typeface="Arial Black" pitchFamily="34" charset="0"/>
            </a:endParaRPr>
          </a:p>
        </p:txBody>
      </p:sp>
      <p:sp>
        <p:nvSpPr>
          <p:cNvPr id="3" name="Content Placeholder 2"/>
          <p:cNvSpPr>
            <a:spLocks noGrp="1"/>
          </p:cNvSpPr>
          <p:nvPr>
            <p:ph sz="quarter" idx="1"/>
          </p:nvPr>
        </p:nvSpPr>
        <p:spPr>
          <a:xfrm>
            <a:off x="179512" y="836712"/>
            <a:ext cx="8568952" cy="5637240"/>
          </a:xfrm>
        </p:spPr>
        <p:txBody>
          <a:bodyPr>
            <a:normAutofit/>
          </a:bodyPr>
          <a:lstStyle/>
          <a:p>
            <a:pPr>
              <a:lnSpc>
                <a:spcPct val="150000"/>
              </a:lnSpc>
            </a:pPr>
            <a:r>
              <a:rPr lang="en-US" sz="2800" b="1" dirty="0" smtClean="0">
                <a:latin typeface="Gabriola" pitchFamily="82" charset="0"/>
              </a:rPr>
              <a:t>Challenges</a:t>
            </a:r>
            <a:r>
              <a:rPr lang="en-US" sz="2800" dirty="0">
                <a:latin typeface="Gabriola" pitchFamily="82" charset="0"/>
              </a:rPr>
              <a:t>: Significant fluid shifts and volume losses make vascular access critical but difficult.</a:t>
            </a:r>
          </a:p>
          <a:p>
            <a:pPr>
              <a:lnSpc>
                <a:spcPct val="150000"/>
              </a:lnSpc>
            </a:pPr>
            <a:r>
              <a:rPr lang="en-US" sz="2800" b="1" dirty="0">
                <a:latin typeface="Gabriola" pitchFamily="82" charset="0"/>
              </a:rPr>
              <a:t>Large-Bore Venous Lines</a:t>
            </a:r>
            <a:r>
              <a:rPr lang="en-US" sz="2800" dirty="0">
                <a:latin typeface="Gabriola" pitchFamily="82" charset="0"/>
              </a:rPr>
              <a:t>: Essential for rapid fluid resuscitation and monitoring, especially in the first 24 hours.</a:t>
            </a:r>
          </a:p>
          <a:p>
            <a:pPr lvl="1">
              <a:lnSpc>
                <a:spcPct val="150000"/>
              </a:lnSpc>
            </a:pPr>
            <a:r>
              <a:rPr lang="en-US" sz="2800" b="1" dirty="0">
                <a:latin typeface="Gabriola" pitchFamily="82" charset="0"/>
              </a:rPr>
              <a:t>Sites</a:t>
            </a:r>
            <a:r>
              <a:rPr lang="en-US" sz="2800" dirty="0">
                <a:latin typeface="Gabriola" pitchFamily="82" charset="0"/>
              </a:rPr>
              <a:t>: Preferred sites are the upper extremities or central veins (e.g., internal jugular, </a:t>
            </a:r>
            <a:r>
              <a:rPr lang="en-US" sz="2800" dirty="0" err="1">
                <a:latin typeface="Gabriola" pitchFamily="82" charset="0"/>
              </a:rPr>
              <a:t>subclavian</a:t>
            </a:r>
            <a:r>
              <a:rPr lang="en-US" sz="2800" dirty="0">
                <a:latin typeface="Gabriola" pitchFamily="82" charset="0"/>
              </a:rPr>
              <a:t>).</a:t>
            </a:r>
          </a:p>
          <a:p>
            <a:pPr lvl="1">
              <a:lnSpc>
                <a:spcPct val="150000"/>
              </a:lnSpc>
            </a:pPr>
            <a:r>
              <a:rPr lang="en-US" sz="2800" b="1" dirty="0">
                <a:latin typeface="Gabriola" pitchFamily="82" charset="0"/>
              </a:rPr>
              <a:t>Suturing vs. Adhesive</a:t>
            </a:r>
            <a:r>
              <a:rPr lang="en-US" sz="2800" dirty="0">
                <a:latin typeface="Gabriola" pitchFamily="82" charset="0"/>
              </a:rPr>
              <a:t>: Suturing lines may be necessary instead of standard adhesive dressings to secure access.</a:t>
            </a:r>
          </a:p>
          <a:p>
            <a:pPr>
              <a:lnSpc>
                <a:spcPct val="150000"/>
              </a:lnSpc>
            </a:pPr>
            <a:endParaRPr lang="en-US" sz="2800" dirty="0">
              <a:latin typeface="Gabriola" pitchFamily="82"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137</a:t>
            </a:fld>
            <a:endParaRPr lang="en-GB"/>
          </a:p>
        </p:txBody>
      </p:sp>
    </p:spTree>
    <p:extLst>
      <p:ext uri="{BB962C8B-B14F-4D97-AF65-F5344CB8AC3E}">
        <p14:creationId xmlns:p14="http://schemas.microsoft.com/office/powerpoint/2010/main" val="15368614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sz="4400" b="1" dirty="0" smtClean="0">
                <a:latin typeface="Arial Black" pitchFamily="34" charset="0"/>
              </a:rPr>
              <a:t>The end </a:t>
            </a:r>
            <a:endParaRPr lang="en-US" sz="4400" b="1" dirty="0">
              <a:latin typeface="Arial Black" pitchFamily="34" charset="0"/>
            </a:endParaRPr>
          </a:p>
        </p:txBody>
      </p:sp>
      <p:sp>
        <p:nvSpPr>
          <p:cNvPr id="4" name="Slide Number Placeholder 3"/>
          <p:cNvSpPr>
            <a:spLocks noGrp="1"/>
          </p:cNvSpPr>
          <p:nvPr>
            <p:ph type="sldNum" sz="quarter" idx="15"/>
          </p:nvPr>
        </p:nvSpPr>
        <p:spPr/>
        <p:txBody>
          <a:bodyPr/>
          <a:lstStyle/>
          <a:p>
            <a:fld id="{968CA758-BC7F-4AFE-853F-5D1E39DDFDA0}" type="slidenum">
              <a:rPr lang="en-GB" smtClean="0"/>
              <a:t>138</a:t>
            </a:fld>
            <a:endParaRPr lang="en-GB"/>
          </a:p>
        </p:txBody>
      </p:sp>
    </p:spTree>
    <p:extLst>
      <p:ext uri="{BB962C8B-B14F-4D97-AF65-F5344CB8AC3E}">
        <p14:creationId xmlns:p14="http://schemas.microsoft.com/office/powerpoint/2010/main" val="30151395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450</TotalTime>
  <Words>8551</Words>
  <Application>Microsoft Office PowerPoint</Application>
  <PresentationFormat>On-screen Show (4:3)</PresentationFormat>
  <Paragraphs>906</Paragraphs>
  <Slides>138</Slides>
  <Notes>0</Notes>
  <HiddenSlides>0</HiddenSlides>
  <MMClips>0</MMClips>
  <ScaleCrop>false</ScaleCrop>
  <HeadingPairs>
    <vt:vector size="4" baseType="variant">
      <vt:variant>
        <vt:lpstr>Theme</vt:lpstr>
      </vt:variant>
      <vt:variant>
        <vt:i4>1</vt:i4>
      </vt:variant>
      <vt:variant>
        <vt:lpstr>Slide Titles</vt:lpstr>
      </vt:variant>
      <vt:variant>
        <vt:i4>138</vt:i4>
      </vt:variant>
    </vt:vector>
  </HeadingPairs>
  <TitlesOfParts>
    <vt:vector size="139" baseType="lpstr">
      <vt:lpstr>Oriel</vt:lpstr>
      <vt:lpstr>Anesthesia for burn  patients </vt:lpstr>
      <vt:lpstr>outline</vt:lpstr>
      <vt:lpstr>Objectives </vt:lpstr>
      <vt:lpstr>Introduction </vt:lpstr>
      <vt:lpstr>Cont..</vt:lpstr>
      <vt:lpstr>Cont..</vt:lpstr>
      <vt:lpstr>       Anatomy of the Skin </vt:lpstr>
      <vt:lpstr>Structure of the Skin</vt:lpstr>
      <vt:lpstr>PowerPoint Presentation</vt:lpstr>
      <vt:lpstr> The Epidermis </vt:lpstr>
      <vt:lpstr>Cont..</vt:lpstr>
      <vt:lpstr>Cont..</vt:lpstr>
      <vt:lpstr> the Dermis </vt:lpstr>
      <vt:lpstr>Cont..</vt:lpstr>
      <vt:lpstr>Cont..</vt:lpstr>
      <vt:lpstr>Cont..</vt:lpstr>
      <vt:lpstr>The Hypodermis </vt:lpstr>
      <vt:lpstr>Cont..</vt:lpstr>
      <vt:lpstr>Function of the skin</vt:lpstr>
      <vt:lpstr>Cont..</vt:lpstr>
      <vt:lpstr>Epidemiology of burn </vt:lpstr>
      <vt:lpstr>Cont…</vt:lpstr>
      <vt:lpstr>Cont..</vt:lpstr>
      <vt:lpstr>Cont…</vt:lpstr>
      <vt:lpstr>Cont..</vt:lpstr>
      <vt:lpstr>Cont..</vt:lpstr>
      <vt:lpstr> etiology of burn injuries</vt:lpstr>
      <vt:lpstr> 1. thermal burns </vt:lpstr>
      <vt:lpstr>Cont..</vt:lpstr>
      <vt:lpstr>Cont..</vt:lpstr>
      <vt:lpstr>Cont…</vt:lpstr>
      <vt:lpstr>Cont..</vt:lpstr>
      <vt:lpstr>2. Electrical Burns </vt:lpstr>
      <vt:lpstr>Cont..</vt:lpstr>
      <vt:lpstr>3. Chemical burns</vt:lpstr>
      <vt:lpstr>Cont..</vt:lpstr>
      <vt:lpstr>4. Radiation burns</vt:lpstr>
      <vt:lpstr>Cont….</vt:lpstr>
      <vt:lpstr>Types of Burns</vt:lpstr>
      <vt:lpstr>Cont…</vt:lpstr>
      <vt:lpstr>Cont..</vt:lpstr>
      <vt:lpstr>Cont..</vt:lpstr>
      <vt:lpstr>PowerPoint Presentation</vt:lpstr>
      <vt:lpstr> </vt:lpstr>
      <vt:lpstr>Pathophysiology of burn injury</vt:lpstr>
      <vt:lpstr>Cont..</vt:lpstr>
      <vt:lpstr>Cont..</vt:lpstr>
      <vt:lpstr>Cont…</vt:lpstr>
      <vt:lpstr>Systemic Effects of Burn Injuries</vt:lpstr>
      <vt:lpstr>Cont..</vt:lpstr>
      <vt:lpstr>Cont…</vt:lpstr>
      <vt:lpstr>Cont..</vt:lpstr>
      <vt:lpstr>Cont..</vt:lpstr>
      <vt:lpstr>Cont…</vt:lpstr>
      <vt:lpstr>Cont….</vt:lpstr>
      <vt:lpstr>Cont…</vt:lpstr>
      <vt:lpstr>Cont…</vt:lpstr>
      <vt:lpstr>cont…..</vt:lpstr>
      <vt:lpstr>Cont….</vt:lpstr>
      <vt:lpstr>Cont….</vt:lpstr>
      <vt:lpstr>1. Burn shock stage  </vt:lpstr>
      <vt:lpstr>Cont…</vt:lpstr>
      <vt:lpstr>Cont…</vt:lpstr>
      <vt:lpstr>Cont…</vt:lpstr>
      <vt:lpstr>Cont…</vt:lpstr>
      <vt:lpstr>2. Hyper-metabolic stage </vt:lpstr>
      <vt:lpstr>Cont..</vt:lpstr>
      <vt:lpstr>Cont…</vt:lpstr>
      <vt:lpstr>Cont..</vt:lpstr>
      <vt:lpstr>Inhalational burn </vt:lpstr>
      <vt:lpstr>Etiology of inhalational burn </vt:lpstr>
      <vt:lpstr>PowerPoint Presentation</vt:lpstr>
      <vt:lpstr>Pathophysiology of inhalational burns</vt:lpstr>
      <vt:lpstr>Cont…</vt:lpstr>
      <vt:lpstr>Cont…</vt:lpstr>
      <vt:lpstr>Risk factors for inhalational Burns</vt:lpstr>
      <vt:lpstr>Cont…</vt:lpstr>
      <vt:lpstr>Clinical feature of inhalational burn</vt:lpstr>
      <vt:lpstr>Diagnosis of inhalational burns </vt:lpstr>
      <vt:lpstr>Cont…</vt:lpstr>
      <vt:lpstr>Management of inhalational burns </vt:lpstr>
      <vt:lpstr>Cont..</vt:lpstr>
      <vt:lpstr>Systemic effects( toxicity)</vt:lpstr>
      <vt:lpstr>Cont..</vt:lpstr>
      <vt:lpstr>SYMPTOMS OF CARBON MONOXIDE TOXICITY</vt:lpstr>
      <vt:lpstr>Cont..</vt:lpstr>
      <vt:lpstr>Cont..</vt:lpstr>
      <vt:lpstr>treatment of cardon monoxide poisoning</vt:lpstr>
      <vt:lpstr>Cont..</vt:lpstr>
      <vt:lpstr>Cont…</vt:lpstr>
      <vt:lpstr>Cyanide Toxicity</vt:lpstr>
      <vt:lpstr>Cont..</vt:lpstr>
      <vt:lpstr>Cont….</vt:lpstr>
      <vt:lpstr>Clinical features of cyanide toxicity</vt:lpstr>
      <vt:lpstr>Cont..</vt:lpstr>
      <vt:lpstr>Treatment of cyanide toxicity</vt:lpstr>
      <vt:lpstr>Cont…</vt:lpstr>
      <vt:lpstr>Cont..</vt:lpstr>
      <vt:lpstr>Cont..</vt:lpstr>
      <vt:lpstr>Assessment of burn wound</vt:lpstr>
      <vt:lpstr>Cont…</vt:lpstr>
      <vt:lpstr> severity classification og burns based on Tbsa</vt:lpstr>
      <vt:lpstr>Cont…</vt:lpstr>
      <vt:lpstr> Burn location and its impact </vt:lpstr>
      <vt:lpstr>Cont…</vt:lpstr>
      <vt:lpstr>Cont…</vt:lpstr>
      <vt:lpstr>Cont…</vt:lpstr>
      <vt:lpstr> fluid management in burn patients </vt:lpstr>
      <vt:lpstr>Cont…</vt:lpstr>
      <vt:lpstr>Cont…</vt:lpstr>
      <vt:lpstr>Fluid resuscitation formulae </vt:lpstr>
      <vt:lpstr>1. Parkland formula ( for adults)</vt:lpstr>
      <vt:lpstr>Cont…</vt:lpstr>
      <vt:lpstr>2. Modified brooke formula( for adults)</vt:lpstr>
      <vt:lpstr>3. Holliday-Segar Formula (for Children)</vt:lpstr>
      <vt:lpstr>PowerPoint Presentation</vt:lpstr>
      <vt:lpstr>Cont…</vt:lpstr>
      <vt:lpstr>Fluid resuscitation protocols </vt:lpstr>
      <vt:lpstr>Cont…</vt:lpstr>
      <vt:lpstr>Anaesthesia consideration </vt:lpstr>
      <vt:lpstr> 1. Airway management </vt:lpstr>
      <vt:lpstr>Cont..</vt:lpstr>
      <vt:lpstr>PowerPoint Presentation</vt:lpstr>
      <vt:lpstr>2. Fluid resuscitation </vt:lpstr>
      <vt:lpstr>Cont..</vt:lpstr>
      <vt:lpstr>Cont..</vt:lpstr>
      <vt:lpstr>PowerPoint Presentation</vt:lpstr>
      <vt:lpstr> 4. Medications and drug dosing </vt:lpstr>
      <vt:lpstr>PowerPoint Presentation</vt:lpstr>
      <vt:lpstr>Muscle relaxants</vt:lpstr>
      <vt:lpstr>Cont…</vt:lpstr>
      <vt:lpstr>Cont….</vt:lpstr>
      <vt:lpstr>PowerPoint Presentation</vt:lpstr>
      <vt:lpstr>Cont…</vt:lpstr>
      <vt:lpstr>Cont…</vt:lpstr>
      <vt:lpstr>Cont..</vt:lpstr>
      <vt:lpstr>Vascular Access in burn pateints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Anesthesia for burn  patients</dc:title>
  <dc:creator>Afei</dc:creator>
  <cp:lastModifiedBy>Windows User</cp:lastModifiedBy>
  <cp:revision>56</cp:revision>
  <dcterms:created xsi:type="dcterms:W3CDTF">2024-11-26T08:16:46Z</dcterms:created>
  <dcterms:modified xsi:type="dcterms:W3CDTF">2024-11-27T20:48:32Z</dcterms:modified>
</cp:coreProperties>
</file>