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notesMasterIdLst>
    <p:notesMasterId r:id="rId62"/>
  </p:notesMasterIdLst>
  <p:sldIdLst>
    <p:sldId id="256" r:id="rId3"/>
    <p:sldId id="274" r:id="rId4"/>
    <p:sldId id="337" r:id="rId5"/>
    <p:sldId id="258" r:id="rId6"/>
    <p:sldId id="259" r:id="rId7"/>
    <p:sldId id="331" r:id="rId8"/>
    <p:sldId id="260" r:id="rId9"/>
    <p:sldId id="261" r:id="rId10"/>
    <p:sldId id="262" r:id="rId11"/>
    <p:sldId id="315" r:id="rId12"/>
    <p:sldId id="339" r:id="rId13"/>
    <p:sldId id="338" r:id="rId14"/>
    <p:sldId id="270" r:id="rId15"/>
    <p:sldId id="314" r:id="rId16"/>
    <p:sldId id="271" r:id="rId17"/>
    <p:sldId id="317" r:id="rId18"/>
    <p:sldId id="318" r:id="rId19"/>
    <p:sldId id="263" r:id="rId20"/>
    <p:sldId id="272" r:id="rId21"/>
    <p:sldId id="273" r:id="rId22"/>
    <p:sldId id="321" r:id="rId23"/>
    <p:sldId id="320" r:id="rId24"/>
    <p:sldId id="333" r:id="rId25"/>
    <p:sldId id="334" r:id="rId26"/>
    <p:sldId id="332" r:id="rId27"/>
    <p:sldId id="312" r:id="rId28"/>
    <p:sldId id="265" r:id="rId29"/>
    <p:sldId id="266" r:id="rId30"/>
    <p:sldId id="267" r:id="rId31"/>
    <p:sldId id="268" r:id="rId32"/>
    <p:sldId id="269" r:id="rId33"/>
    <p:sldId id="287" r:id="rId34"/>
    <p:sldId id="288" r:id="rId35"/>
    <p:sldId id="289" r:id="rId36"/>
    <p:sldId id="290" r:id="rId37"/>
    <p:sldId id="322" r:id="rId38"/>
    <p:sldId id="323" r:id="rId39"/>
    <p:sldId id="293" r:id="rId40"/>
    <p:sldId id="335" r:id="rId41"/>
    <p:sldId id="324" r:id="rId42"/>
    <p:sldId id="309" r:id="rId43"/>
    <p:sldId id="325" r:id="rId44"/>
    <p:sldId id="326" r:id="rId45"/>
    <p:sldId id="327" r:id="rId46"/>
    <p:sldId id="328" r:id="rId47"/>
    <p:sldId id="336" r:id="rId48"/>
    <p:sldId id="329" r:id="rId49"/>
    <p:sldId id="296" r:id="rId50"/>
    <p:sldId id="295" r:id="rId51"/>
    <p:sldId id="297" r:id="rId52"/>
    <p:sldId id="298" r:id="rId53"/>
    <p:sldId id="299" r:id="rId54"/>
    <p:sldId id="300" r:id="rId55"/>
    <p:sldId id="301" r:id="rId56"/>
    <p:sldId id="302" r:id="rId57"/>
    <p:sldId id="307" r:id="rId58"/>
    <p:sldId id="330" r:id="rId59"/>
    <p:sldId id="303" r:id="rId60"/>
    <p:sldId id="313" r:id="rId6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3" d="100"/>
          <a:sy n="73" d="100"/>
        </p:scale>
        <p:origin x="-129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slide" Target="slides/slide59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01309F-8D64-489F-9886-2A0AD67FD7B2}" type="datetimeFigureOut">
              <a:rPr lang="en-US" smtClean="0"/>
              <a:t>10/24/2024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F3A5F-4077-4BE2-942A-28D151FFA0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972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Introduced by </a:t>
            </a:r>
            <a:r>
              <a:rPr lang="en-GB" dirty="0" err="1" smtClean="0">
                <a:latin typeface="Times New Roman" pitchFamily="18" charset="0"/>
                <a:cs typeface="Times New Roman" pitchFamily="18" charset="0"/>
              </a:rPr>
              <a:t>Dr.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 R Adams </a:t>
            </a:r>
            <a:r>
              <a:rPr lang="en-GB" dirty="0" err="1" smtClean="0">
                <a:latin typeface="Times New Roman" pitchFamily="18" charset="0"/>
                <a:cs typeface="Times New Roman" pitchFamily="18" charset="0"/>
              </a:rPr>
              <a:t>Cowley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 at the Shock-Trauma </a:t>
            </a:r>
            <a:r>
              <a:rPr lang="en-GB" dirty="0" err="1" smtClean="0">
                <a:latin typeface="Times New Roman" pitchFamily="18" charset="0"/>
                <a:cs typeface="Times New Roman" pitchFamily="18" charset="0"/>
              </a:rPr>
              <a:t>Center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, Baltimore.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F3A5F-4077-4BE2-942A-28D151FFA0D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679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B33B2-39AB-49E1-9162-CE86DB966FE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882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according to Sir Isaac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Newton’s first law of motion, which states that “a body in motion will stay in motion unless</a:t>
            </a:r>
          </a:p>
          <a:p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acted upon by an outside force.”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B33B2-39AB-49E1-9162-CE86DB966FE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7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F3A5F-4077-4BE2-942A-28D151FFA0D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58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0121" y="1334125"/>
            <a:ext cx="5766529" cy="2055917"/>
          </a:xfrm>
          <a:solidFill>
            <a:srgbClr val="2163AB"/>
          </a:solidFill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7018" y="3829409"/>
            <a:ext cx="5699632" cy="1567050"/>
          </a:xfrm>
        </p:spPr>
        <p:txBody>
          <a:bodyPr>
            <a:normAutofit/>
          </a:bodyPr>
          <a:lstStyle>
            <a:lvl1pPr marL="0" indent="0" algn="ctr">
              <a:buNone/>
              <a:defRPr sz="3800" baseline="0">
                <a:solidFill>
                  <a:schemeClr val="tx1"/>
                </a:solidFill>
                <a:latin typeface="Gotham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05940-B87C-487B-9544-AE37EC5B0C2D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1510541-2976-4C2D-9F7A-6DB360DCC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573" y="1334124"/>
            <a:ext cx="1648427" cy="2906383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pic>
        <p:nvPicPr>
          <p:cNvPr id="8" name="Picture 7" descr="C:\Users\Newuser\Desktop\AAU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11" y="1334124"/>
            <a:ext cx="1337873" cy="20559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9674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>
            <a:lvl1pPr>
              <a:defRPr sz="4800" baseline="0">
                <a:solidFill>
                  <a:srgbClr val="2163AB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09BB-A514-49DA-B5D5-F05F8DEA3A73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294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solidFill>
            <a:srgbClr val="2163AB"/>
          </a:solidFill>
        </p:spPr>
        <p:txBody>
          <a:bodyPr anchor="b"/>
          <a:lstStyle>
            <a:lvl1pPr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843F6-96FD-4713-B573-2E376B0E98C8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10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AB12E-CD75-4C6B-85FD-0B9D20158372}" type="datetime1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39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solidFill>
            <a:srgbClr val="2163AB"/>
          </a:solidFill>
        </p:spPr>
        <p:txBody>
          <a:bodyPr anchor="b"/>
          <a:lstStyle>
            <a:lvl1pPr marL="0" indent="0"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solidFill>
            <a:srgbClr val="2163AB"/>
          </a:solidFill>
        </p:spPr>
        <p:txBody>
          <a:bodyPr anchor="b"/>
          <a:lstStyle>
            <a:lvl1pPr marL="0" indent="0"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9CA19-6892-452C-BC06-A031C78CF70F}" type="datetime1">
              <a:rPr lang="en-US" smtClean="0"/>
              <a:t>10/24/2024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621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48BBB-6387-4D4A-B816-6EDE06ABF2FA}" type="datetime1">
              <a:rPr lang="en-US" smtClean="0"/>
              <a:t>10/24/2024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494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39DA2-F2D5-4E67-B634-55A7E1FE1612}" type="datetime1">
              <a:rPr lang="en-US" smtClean="0"/>
              <a:t>10/24/2024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20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BA770-EDD4-4629-ACFE-7C571A9BBBEA}" type="datetime1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148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736F2-9E01-4C3C-AACD-79054B0B1B29}" type="datetime1">
              <a:rPr lang="en-US" smtClean="0"/>
              <a:t>10/24/2024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09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521D8-E615-4D56-A1FD-AF0AF288F101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390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1298B-B265-46A2-84FD-7ED0E5C4C60F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456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0121" y="1334125"/>
            <a:ext cx="5766529" cy="2055917"/>
          </a:xfrm>
          <a:solidFill>
            <a:srgbClr val="2163AB"/>
          </a:solidFill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7018" y="3829409"/>
            <a:ext cx="5699632" cy="1567050"/>
          </a:xfrm>
        </p:spPr>
        <p:txBody>
          <a:bodyPr>
            <a:normAutofit/>
          </a:bodyPr>
          <a:lstStyle>
            <a:lvl1pPr marL="0" indent="0" algn="ctr">
              <a:buNone/>
              <a:defRPr sz="3800" baseline="0">
                <a:solidFill>
                  <a:schemeClr val="tx1"/>
                </a:solidFill>
                <a:latin typeface="Gotham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E57F9-6983-4EAA-ACB7-B535FFE3717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A1510541-2976-4C2D-9F7A-6DB360DCC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573" y="1334124"/>
            <a:ext cx="1648427" cy="2906383"/>
          </a:xfrm>
          <a:prstGeom prst="rect">
            <a:avLst/>
          </a:prstGeom>
          <a:effectLst>
            <a:reflection endPos="0" dist="50800" dir="5400000" sy="-100000" algn="bl" rotWithShape="0"/>
          </a:effectLst>
        </p:spPr>
      </p:pic>
      <p:pic>
        <p:nvPicPr>
          <p:cNvPr id="8" name="Picture 7" descr="C:\Users\Newuser\Desktop\AAU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11" y="1334124"/>
            <a:ext cx="1337873" cy="20559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84383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>
            <a:lvl1pPr>
              <a:defRPr sz="4800" baseline="0">
                <a:solidFill>
                  <a:srgbClr val="2163AB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6A955-C947-48A3-BFF5-02E670E60E7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3177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solidFill>
            <a:srgbClr val="2163AB"/>
          </a:solidFill>
        </p:spPr>
        <p:txBody>
          <a:bodyPr anchor="b"/>
          <a:lstStyle>
            <a:lvl1pPr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2D6EE-D254-4FBE-B055-7986670C695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565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31FD-E144-4A8E-AB63-952516B8DA5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6176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solidFill>
            <a:srgbClr val="2163AB"/>
          </a:solidFill>
        </p:spPr>
        <p:txBody>
          <a:bodyPr anchor="b"/>
          <a:lstStyle>
            <a:lvl1pPr marL="0" indent="0"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solidFill>
            <a:srgbClr val="2163AB"/>
          </a:solidFill>
        </p:spPr>
        <p:txBody>
          <a:bodyPr anchor="b"/>
          <a:lstStyle>
            <a:lvl1pPr marL="0" indent="0">
              <a:buNone/>
              <a:defRPr sz="24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B86FC-B3A1-440B-B192-CA069DDD4C5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36578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8D606-799A-466E-99F7-672101745D2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21237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418E2-7253-4F17-B82F-040759DD606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8604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7FA63-C7A1-440C-93CF-EC4D89DA79E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69841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54BE3-9F41-4C03-9459-E6C30FA37FA3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3484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59811-D4EF-4474-B51C-13FF81E5820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0316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FD333-B267-4E5F-82B1-640257C509B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4572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41056E47-DB95-4E33-A2EB-1777DE288638}" type="datetime1">
              <a:rPr lang="en-US" smtClean="0">
                <a:solidFill>
                  <a:srgbClr val="000000"/>
                </a:solidFill>
              </a:rPr>
              <a:t>10/24/2024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78B7BE64-F5E8-4D11-95B3-A1E92D45B75F}" type="slidenum">
              <a:rPr lang="en-US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613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BD3C5-17F3-4C01-92D6-DC102E552BE2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9711D1-367F-4631-9297-BAE3D3E53BAE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7E9EF2A-B574-49CE-924E-9EF93F4903F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61190" y="5997564"/>
            <a:ext cx="1182810" cy="78707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A0698C84-1C87-42CB-94CD-C374F67FF580}"/>
              </a:ext>
            </a:extLst>
          </p:cNvPr>
          <p:cNvSpPr/>
          <p:nvPr/>
        </p:nvSpPr>
        <p:spPr>
          <a:xfrm>
            <a:off x="58783" y="6069227"/>
            <a:ext cx="9085217" cy="45719"/>
          </a:xfrm>
          <a:prstGeom prst="rect">
            <a:avLst/>
          </a:prstGeom>
          <a:solidFill>
            <a:srgbClr val="2163AB"/>
          </a:solidFill>
          <a:ln w="6350"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00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rgbClr val="2163AB"/>
          </a:solidFill>
          <a:latin typeface="Gotham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 baseline="0">
          <a:solidFill>
            <a:schemeClr val="tx1"/>
          </a:solidFill>
          <a:latin typeface="Gotham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Gotham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Gotham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Gotham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Gotham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17E32-BA12-490C-94AD-3D3EFEA4136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B7E9EF2A-B574-49CE-924E-9EF93F4903F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61190" y="5997564"/>
            <a:ext cx="1182810" cy="78707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A0698C84-1C87-42CB-94CD-C374F67FF580}"/>
              </a:ext>
            </a:extLst>
          </p:cNvPr>
          <p:cNvSpPr/>
          <p:nvPr/>
        </p:nvSpPr>
        <p:spPr>
          <a:xfrm>
            <a:off x="58783" y="6069227"/>
            <a:ext cx="9085217" cy="45719"/>
          </a:xfrm>
          <a:prstGeom prst="rect">
            <a:avLst/>
          </a:prstGeom>
          <a:solidFill>
            <a:srgbClr val="2163AB"/>
          </a:solidFill>
          <a:ln w="6350"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428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rgbClr val="2163AB"/>
          </a:solidFill>
          <a:latin typeface="Gotham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 baseline="0">
          <a:solidFill>
            <a:schemeClr val="tx1"/>
          </a:solidFill>
          <a:latin typeface="Gotham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 baseline="0">
          <a:solidFill>
            <a:schemeClr val="tx1"/>
          </a:solidFill>
          <a:latin typeface="Gotham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 baseline="0">
          <a:solidFill>
            <a:schemeClr val="tx1"/>
          </a:solidFill>
          <a:latin typeface="Gotham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Gotham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 baseline="0">
          <a:solidFill>
            <a:schemeClr val="tx1"/>
          </a:solidFill>
          <a:latin typeface="Gotham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762000"/>
            <a:ext cx="6248400" cy="200025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GB" sz="4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ANESTHESIA  FOR MULTIPLE TRAUMA &amp; </a:t>
            </a:r>
            <a:r>
              <a:rPr lang="en-GB" sz="44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SHOCK </a:t>
            </a:r>
            <a:r>
              <a:rPr lang="en-GB" sz="44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PATIENTS </a:t>
            </a:r>
            <a:endParaRPr lang="en-US" sz="44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87018" y="3829409"/>
            <a:ext cx="6366382" cy="971191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Agency FB" pitchFamily="34" charset="0"/>
              </a:rPr>
              <a:t>By:-</a:t>
            </a:r>
            <a:r>
              <a:rPr lang="en-US" sz="4000" dirty="0" err="1" smtClean="0">
                <a:latin typeface="Agency FB" pitchFamily="34" charset="0"/>
              </a:rPr>
              <a:t>Wubayehu</a:t>
            </a:r>
            <a:r>
              <a:rPr lang="en-US" sz="4000" dirty="0" smtClean="0">
                <a:latin typeface="Agency FB" pitchFamily="34" charset="0"/>
              </a:rPr>
              <a:t> </a:t>
            </a:r>
            <a:r>
              <a:rPr lang="en-US" sz="4000" dirty="0" err="1">
                <a:latin typeface="Agency FB" pitchFamily="34" charset="0"/>
              </a:rPr>
              <a:t>Amare</a:t>
            </a:r>
            <a:r>
              <a:rPr lang="en-US" sz="4000" dirty="0">
                <a:latin typeface="Agency FB" pitchFamily="34" charset="0"/>
              </a:rPr>
              <a:t> (MSC, </a:t>
            </a:r>
            <a:r>
              <a:rPr lang="en-US" sz="4000" dirty="0" smtClean="0">
                <a:latin typeface="Agency FB" pitchFamily="34" charset="0"/>
              </a:rPr>
              <a:t>lecturer)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181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gency FB" pitchFamily="34" charset="0"/>
              </a:rPr>
              <a:t>Objectives </a:t>
            </a:r>
            <a:endParaRPr lang="en-US" dirty="0">
              <a:latin typeface="Agency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210550" cy="45767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At the end of this course students are expected to: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Identify mechanisms of trauma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Discuss assessment of trauma patient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Describe concepts of trauma care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Elaborate anesthesia management of trauma patient 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75A57-D022-47E9-AEB0-5937EF4E9540}" type="datetime1">
              <a:rPr lang="en-US" smtClean="0"/>
              <a:t>10/24/2024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297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" pitchFamily="18" charset="0"/>
                <a:cs typeface="Times" pitchFamily="18" charset="0"/>
              </a:rPr>
              <a:t>Brainstorming questions</a:t>
            </a:r>
            <a:endParaRPr lang="en-US" dirty="0">
              <a:latin typeface="Times" pitchFamily="18" charset="0"/>
              <a:cs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825625"/>
            <a:ext cx="8839200" cy="4351338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" pitchFamily="18" charset="0"/>
                <a:cs typeface="Times" pitchFamily="18" charset="0"/>
              </a:rPr>
              <a:t>What is the definition of </a:t>
            </a:r>
            <a:r>
              <a:rPr lang="en-US" dirty="0" smtClean="0">
                <a:latin typeface="Times" pitchFamily="18" charset="0"/>
                <a:cs typeface="Times" pitchFamily="18" charset="0"/>
              </a:rPr>
              <a:t>trauma?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" pitchFamily="18" charset="0"/>
                <a:cs typeface="Times" pitchFamily="18" charset="0"/>
              </a:rPr>
              <a:t>Why is trauma considered a leading cause of death in certain age groups worldwide</a:t>
            </a:r>
            <a:r>
              <a:rPr lang="en-US" dirty="0" smtClean="0">
                <a:latin typeface="Times" pitchFamily="18" charset="0"/>
                <a:cs typeface="Times" pitchFamily="18" charset="0"/>
              </a:rPr>
              <a:t>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" pitchFamily="18" charset="0"/>
                <a:cs typeface="Times" pitchFamily="18" charset="0"/>
              </a:rPr>
              <a:t>How do we classify trauma based on the mechanism of injury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09BB-A514-49DA-B5D5-F05F8DEA3A73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7"/>
            <a:ext cx="8458200" cy="854073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ea typeface="Gadugi" pitchFamily="34" charset="0"/>
                <a:cs typeface="Times New Roman" pitchFamily="18" charset="0"/>
              </a:rPr>
              <a:t>Introduction to trauma </a:t>
            </a:r>
            <a:endParaRPr lang="en-US" dirty="0">
              <a:solidFill>
                <a:schemeClr val="tx1"/>
              </a:solidFill>
              <a:latin typeface="Times New Roman" pitchFamily="18" charset="0"/>
              <a:ea typeface="Gadugi" pitchFamily="34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buFont typeface="Wingdings" pitchFamily="2" charset="2"/>
              <a:buChar char="v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Impact of Trauma on Global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Health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70000"/>
              </a:lnSpc>
              <a:buFont typeface="Wingdings" pitchFamily="2" charset="2"/>
              <a:buChar char="ü"/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    Leading Cause of Morbidity and Mortality: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ü"/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Responsible for 9% of total annual mortality worldwide (over 5 million deaths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  <a:buFont typeface="Wingdings" pitchFamily="2" charset="2"/>
              <a:buChar char="v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   Vulnerable Age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Groups: Major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cause of death in the young (under 20 years) and the elderly (over 70 years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  <a:buFont typeface="Wingdings" pitchFamily="2" charset="2"/>
              <a:buChar char="v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   WHO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Findings:(2020)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;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Injury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is the leading cause of death globally for both men and women aged 15 to 44 years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838D4-E3F2-4A73-A56A-818C7388CB29}" type="datetime1">
              <a:rPr lang="en-US" smtClean="0"/>
              <a:t>10/24/2024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334000" y="6324600"/>
            <a:ext cx="2057400" cy="320676"/>
          </a:xfrm>
        </p:spPr>
        <p:txBody>
          <a:bodyPr/>
          <a:lstStyle/>
          <a:p>
            <a:fld id="{379711D1-367F-4631-9297-BAE3D3E53BA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58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1"/>
            <a:ext cx="87630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						    </a:t>
            </a:r>
            <a:r>
              <a:rPr lang="en-US" dirty="0" err="1" smtClean="0">
                <a:solidFill>
                  <a:schemeClr val="tx1"/>
                </a:solidFill>
              </a:rPr>
              <a:t>Cont</a:t>
            </a:r>
            <a:r>
              <a:rPr lang="en-US" dirty="0" smtClean="0">
                <a:solidFill>
                  <a:schemeClr val="tx1"/>
                </a:solidFill>
              </a:rPr>
              <a:t>…. 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839200" cy="5491163"/>
          </a:xfrm>
        </p:spPr>
        <p:txBody>
          <a:bodyPr>
            <a:noAutofit/>
          </a:bodyPr>
          <a:lstStyle/>
          <a:p>
            <a:pPr marL="228600" lvl="1">
              <a:lnSpc>
                <a:spcPct val="170000"/>
              </a:lnSpc>
              <a:spcBef>
                <a:spcPts val="1000"/>
              </a:spcBef>
              <a:buFont typeface="Wingdings" pitchFamily="2" charset="2"/>
              <a:buChar char="v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Trauma Statistics in the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USA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(CDC, 2020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70000"/>
              </a:lnSpc>
              <a:buFont typeface="Wingdings" pitchFamily="2" charset="2"/>
              <a:buChar char="ü"/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 Third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leading cause of death across all age groups </a:t>
            </a: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  <a:buFont typeface="Wingdings" pitchFamily="2" charset="2"/>
              <a:buChar char="v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Consequences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Injury: Millions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suffer</a:t>
            </a:r>
            <a:r>
              <a:rPr lang="en-GB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physical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GB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psychological effects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, impacting patients, families, and society as a whole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  <a:buFont typeface="Wingdings" pitchFamily="2" charset="2"/>
              <a:buChar char="v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Key Role of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Anaesthetists 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70000"/>
              </a:lnSpc>
              <a:buFont typeface="Wingdings" pitchFamily="2" charset="2"/>
              <a:buChar char="ü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Anaesthetists are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crucial members of the trauma care team, ensuring safe and effective management of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anaesthesia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during trauma interventions.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02C9D-9C86-4011-9321-F51BA3DA1F67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410200" y="6324600"/>
            <a:ext cx="2057400" cy="365125"/>
          </a:xfrm>
        </p:spPr>
        <p:txBody>
          <a:bodyPr/>
          <a:lstStyle/>
          <a:p>
            <a:fld id="{379711D1-367F-4631-9297-BAE3D3E53BA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75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65127"/>
            <a:ext cx="8362950" cy="625473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286750" cy="51863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Ethiopia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has one of the highest rates of road traffic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fatalities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18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deaths per 100,000 people annually</a:t>
            </a:r>
            <a:r>
              <a:rPr lang="en-GB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rauma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accounts for about 25% of all emergency department visits in urban hospitals in Ethiopia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.( 2020)</a:t>
            </a:r>
          </a:p>
          <a:p>
            <a:pPr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Besides road traffic accidents and conflict-related injuries, other causes include domestic violence, workplace injuries, and agricultural accidents.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09BB-A514-49DA-B5D5-F05F8DEA3A73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44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1"/>
            <a:ext cx="8610600" cy="762000"/>
          </a:xfrm>
        </p:spPr>
        <p:txBody>
          <a:bodyPr/>
          <a:lstStyle/>
          <a:p>
            <a:r>
              <a:rPr lang="en-US" dirty="0" smtClean="0"/>
              <a:t>							</a:t>
            </a:r>
            <a:r>
              <a:rPr lang="en-US" dirty="0" err="1" smtClean="0">
                <a:solidFill>
                  <a:schemeClr val="tx1"/>
                </a:solidFill>
              </a:rPr>
              <a:t>Cont</a:t>
            </a:r>
            <a:r>
              <a:rPr lang="en-US" dirty="0" smtClean="0">
                <a:solidFill>
                  <a:schemeClr val="tx1"/>
                </a:solidFill>
              </a:rPr>
              <a:t>…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10600" cy="533876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 err="1">
                <a:latin typeface="Times New Roman" pitchFamily="18" charset="0"/>
                <a:cs typeface="Times New Roman" pitchFamily="18" charset="0"/>
              </a:rPr>
              <a:t>Anesthetists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GB" dirty="0" err="1">
                <a:latin typeface="Times New Roman" pitchFamily="18" charset="0"/>
                <a:cs typeface="Times New Roman" pitchFamily="18" charset="0"/>
              </a:rPr>
              <a:t>anesthesiologists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are involved from the emergency department through to the critical care unit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Key Responsibilities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    Emergency Airway Management: Initial assessment and intervention.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    Resuscitation Treatment: Support during critical care phases.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    Operating Room Care: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Anaesthesia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management during surgical procedures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Impact on Critical Care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    Trauma patients represent a significant portion of the workload for critical care and pain management specialists.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1626A-3DF4-427C-BFE0-DBBB8D413FCF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943600" y="6324600"/>
            <a:ext cx="2057400" cy="365125"/>
          </a:xfrm>
        </p:spPr>
        <p:txBody>
          <a:bodyPr/>
          <a:lstStyle/>
          <a:p>
            <a:fld id="{379711D1-367F-4631-9297-BAE3D3E53BA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921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1"/>
            <a:ext cx="8839200" cy="4572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							</a:t>
            </a:r>
            <a:r>
              <a:rPr lang="en-US" dirty="0" err="1" smtClean="0">
                <a:solidFill>
                  <a:schemeClr val="tx1"/>
                </a:solidFill>
              </a:rPr>
              <a:t>Cont</a:t>
            </a:r>
            <a:r>
              <a:rPr lang="en-US" dirty="0" smtClean="0">
                <a:solidFill>
                  <a:schemeClr val="tx1"/>
                </a:solidFill>
              </a:rPr>
              <a:t>…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09600"/>
            <a:ext cx="8686800" cy="55673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GB" dirty="0" err="1">
                <a:latin typeface="Times New Roman" pitchFamily="18" charset="0"/>
                <a:cs typeface="Times New Roman" pitchFamily="18" charset="0"/>
              </a:rPr>
              <a:t>Anesthesia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for trauma patients is different from routine OR practice. WHY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Urgent Situations: usually off hours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Limited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Patient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Information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Patient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Condition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: intoxicated, full stomach and c-spine fracture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Multiple injuries and occult injures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5ADFA-0586-4300-B3AA-9351D5BB549D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638800" y="6324600"/>
            <a:ext cx="2057400" cy="365125"/>
          </a:xfrm>
        </p:spPr>
        <p:txBody>
          <a:bodyPr/>
          <a:lstStyle/>
          <a:p>
            <a:fld id="{379711D1-367F-4631-9297-BAE3D3E53BA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683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76201"/>
            <a:ext cx="8991600" cy="762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							</a:t>
            </a:r>
            <a:r>
              <a:rPr lang="en-US" b="1" dirty="0" err="1" smtClean="0">
                <a:solidFill>
                  <a:schemeClr val="tx1"/>
                </a:solidFill>
              </a:rPr>
              <a:t>Cont</a:t>
            </a:r>
            <a:r>
              <a:rPr lang="en-US" b="1" dirty="0" smtClean="0">
                <a:solidFill>
                  <a:schemeClr val="tx1"/>
                </a:solidFill>
              </a:rPr>
              <a:t>…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533400"/>
            <a:ext cx="8534400" cy="5414963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  <a:buFont typeface="Wingdings" pitchFamily="2" charset="2"/>
              <a:buChar char="ü"/>
            </a:pPr>
            <a:r>
              <a:rPr lang="en-GB" sz="2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Unique Challenges</a:t>
            </a:r>
            <a:r>
              <a:rPr lang="en-GB" sz="26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70000"/>
              </a:lnSpc>
            </a:pP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Requires rapid assessment and adaptation to evolving situations, differing from routine 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anaesthesia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protocols.</a:t>
            </a: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70000"/>
              </a:lnSpc>
              <a:buFont typeface="Arial" pitchFamily="34" charset="0"/>
              <a:buChar char="•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Prioritization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in management is essential to address the most critical injuries first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EA883-DFE0-400B-A154-98424BE194FC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715000" y="6248400"/>
            <a:ext cx="2057400" cy="365125"/>
          </a:xfrm>
        </p:spPr>
        <p:txBody>
          <a:bodyPr/>
          <a:lstStyle/>
          <a:p>
            <a:fld id="{379711D1-367F-4631-9297-BAE3D3E53BA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585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191500" cy="838200"/>
          </a:xfrm>
        </p:spPr>
        <p:txBody>
          <a:bodyPr>
            <a:noAutofit/>
          </a:bodyPr>
          <a:lstStyle/>
          <a:p>
            <a:r>
              <a:rPr lang="en-GB" sz="2800" b="1" dirty="0" smtClean="0">
                <a:solidFill>
                  <a:schemeClr val="tx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The Golden Hour and Golden Period in Trauma Care</a:t>
            </a:r>
            <a:r>
              <a:rPr lang="en-GB" sz="4400" b="1" dirty="0" smtClean="0"/>
              <a:t/>
            </a:r>
            <a:br>
              <a:rPr lang="en-GB" sz="4400" b="1" dirty="0" smtClean="0"/>
            </a:br>
            <a:endParaRPr lang="en-GB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839200" cy="4906963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buFont typeface="Wingdings" pitchFamily="2" charset="2"/>
              <a:buChar char="v"/>
            </a:pP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Golden </a:t>
            </a: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Hour:(strictly)</a:t>
            </a: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US" b="1" dirty="0">
                <a:latin typeface="Times" pitchFamily="18" charset="0"/>
                <a:cs typeface="Times" pitchFamily="18" charset="0"/>
              </a:rPr>
              <a:t>Definition</a:t>
            </a:r>
            <a:r>
              <a:rPr lang="en-US" dirty="0">
                <a:latin typeface="Times" pitchFamily="18" charset="0"/>
                <a:cs typeface="Times" pitchFamily="18" charset="0"/>
              </a:rPr>
              <a:t>: The first </a:t>
            </a:r>
            <a:r>
              <a:rPr lang="en-US" b="1" dirty="0">
                <a:latin typeface="Times" pitchFamily="18" charset="0"/>
                <a:cs typeface="Times" pitchFamily="18" charset="0"/>
              </a:rPr>
              <a:t>60 minutes</a:t>
            </a:r>
            <a:r>
              <a:rPr lang="en-US" dirty="0">
                <a:latin typeface="Times" pitchFamily="18" charset="0"/>
                <a:cs typeface="Times" pitchFamily="18" charset="0"/>
              </a:rPr>
              <a:t> after a traumatic injury</a:t>
            </a:r>
            <a:r>
              <a:rPr lang="en-US" dirty="0" smtClean="0">
                <a:latin typeface="Times" pitchFamily="18" charset="0"/>
                <a:cs typeface="Times" pitchFamily="18" charset="0"/>
              </a:rPr>
              <a:t>.</a:t>
            </a:r>
          </a:p>
          <a:p>
            <a:pPr lvl="1">
              <a:lnSpc>
                <a:spcPct val="170000"/>
              </a:lnSpc>
            </a:pPr>
            <a:r>
              <a:rPr lang="en-US" dirty="0">
                <a:latin typeface="Times" pitchFamily="18" charset="0"/>
                <a:cs typeface="Times" pitchFamily="18" charset="0"/>
              </a:rPr>
              <a:t>This period is considered critical for ensuring the survival of severely injured patients</a:t>
            </a:r>
            <a:r>
              <a:rPr lang="en-US" dirty="0" smtClean="0">
                <a:latin typeface="Times" pitchFamily="18" charset="0"/>
                <a:cs typeface="Times" pitchFamily="18" charset="0"/>
              </a:rPr>
              <a:t>.</a:t>
            </a:r>
          </a:p>
          <a:p>
            <a:pPr lvl="1">
              <a:lnSpc>
                <a:spcPct val="170000"/>
              </a:lnSpc>
            </a:pPr>
            <a:r>
              <a:rPr lang="en-US" b="1" dirty="0"/>
              <a:t>Focus</a:t>
            </a:r>
            <a:r>
              <a:rPr lang="en-US" dirty="0"/>
              <a:t>: </a:t>
            </a:r>
            <a:r>
              <a:rPr lang="en-US" dirty="0">
                <a:latin typeface="Times" pitchFamily="18" charset="0"/>
                <a:cs typeface="Times" pitchFamily="18" charset="0"/>
              </a:rPr>
              <a:t>Immediate care, especially to prevent </a:t>
            </a:r>
            <a:r>
              <a:rPr lang="en-US" b="1" dirty="0">
                <a:latin typeface="Times" pitchFamily="18" charset="0"/>
                <a:cs typeface="Times" pitchFamily="18" charset="0"/>
              </a:rPr>
              <a:t>shock</a:t>
            </a:r>
            <a:r>
              <a:rPr lang="en-US" dirty="0">
                <a:latin typeface="Times" pitchFamily="18" charset="0"/>
                <a:cs typeface="Times" pitchFamily="18" charset="0"/>
              </a:rPr>
              <a:t>, </a:t>
            </a:r>
            <a:r>
              <a:rPr lang="en-US" b="1" dirty="0">
                <a:latin typeface="Times" pitchFamily="18" charset="0"/>
                <a:cs typeface="Times" pitchFamily="18" charset="0"/>
              </a:rPr>
              <a:t>hemorrhage</a:t>
            </a:r>
            <a:r>
              <a:rPr lang="en-US" dirty="0">
                <a:latin typeface="Times" pitchFamily="18" charset="0"/>
                <a:cs typeface="Times" pitchFamily="18" charset="0"/>
              </a:rPr>
              <a:t>, and </a:t>
            </a:r>
            <a:r>
              <a:rPr lang="en-US" b="1" dirty="0">
                <a:latin typeface="Times" pitchFamily="18" charset="0"/>
                <a:cs typeface="Times" pitchFamily="18" charset="0"/>
              </a:rPr>
              <a:t>airway compromise</a:t>
            </a:r>
            <a:r>
              <a:rPr lang="en-US" dirty="0" smtClean="0">
                <a:latin typeface="Times" pitchFamily="18" charset="0"/>
                <a:cs typeface="Times" pitchFamily="18" charset="0"/>
              </a:rPr>
              <a:t>.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70000"/>
              </a:lnSpc>
            </a:pPr>
            <a:endParaRPr lang="en-US" dirty="0" smtClean="0">
              <a:latin typeface="Times" pitchFamily="18" charset="0"/>
              <a:cs typeface="Times" pitchFamily="18" charset="0"/>
            </a:endParaRPr>
          </a:p>
          <a:p>
            <a:pPr lvl="1">
              <a:lnSpc>
                <a:spcPct val="170000"/>
              </a:lnSpc>
            </a:pPr>
            <a:endParaRPr lang="en-GB" dirty="0">
              <a:latin typeface="Times" pitchFamily="18" charset="0"/>
              <a:cs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1384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8515350" cy="609601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210550" cy="5262563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b="1" dirty="0">
                <a:latin typeface="Times" pitchFamily="18" charset="0"/>
                <a:cs typeface="Times" pitchFamily="18" charset="0"/>
              </a:rPr>
              <a:t>Key Concept</a:t>
            </a:r>
            <a:r>
              <a:rPr lang="en-US" dirty="0">
                <a:latin typeface="Times" pitchFamily="18" charset="0"/>
                <a:cs typeface="Times" pitchFamily="18" charset="0"/>
              </a:rPr>
              <a:t>: The sooner treatment is given within this hour, the better the survival chances.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Times" pitchFamily="18" charset="0"/>
                <a:ea typeface="Tahoma" pitchFamily="34" charset="0"/>
                <a:cs typeface="Times" pitchFamily="18" charset="0"/>
              </a:rPr>
              <a:t>Focuses </a:t>
            </a:r>
            <a:r>
              <a:rPr lang="en-US" sz="2400" dirty="0">
                <a:latin typeface="Times" pitchFamily="18" charset="0"/>
                <a:ea typeface="Tahoma" pitchFamily="34" charset="0"/>
                <a:cs typeface="Times" pitchFamily="18" charset="0"/>
              </a:rPr>
              <a:t>on </a:t>
            </a:r>
            <a:r>
              <a:rPr lang="en-US" sz="2400" b="1" dirty="0" err="1">
                <a:latin typeface="Times" pitchFamily="18" charset="0"/>
                <a:ea typeface="Tahoma" pitchFamily="34" charset="0"/>
                <a:cs typeface="Times" pitchFamily="18" charset="0"/>
              </a:rPr>
              <a:t>prehospital</a:t>
            </a:r>
            <a:r>
              <a:rPr lang="en-US" sz="2400" b="1" dirty="0">
                <a:latin typeface="Times" pitchFamily="18" charset="0"/>
                <a:ea typeface="Tahoma" pitchFamily="34" charset="0"/>
                <a:cs typeface="Times" pitchFamily="18" charset="0"/>
              </a:rPr>
              <a:t> care</a:t>
            </a:r>
            <a:r>
              <a:rPr lang="en-US" sz="2400" dirty="0">
                <a:latin typeface="Times" pitchFamily="18" charset="0"/>
                <a:ea typeface="Tahoma" pitchFamily="34" charset="0"/>
                <a:cs typeface="Times" pitchFamily="18" charset="0"/>
              </a:rPr>
              <a:t> and </a:t>
            </a:r>
            <a:r>
              <a:rPr lang="en-US" sz="2400" b="1" dirty="0">
                <a:latin typeface="Times" pitchFamily="18" charset="0"/>
                <a:ea typeface="Tahoma" pitchFamily="34" charset="0"/>
                <a:cs typeface="Times" pitchFamily="18" charset="0"/>
              </a:rPr>
              <a:t>early emergency interventions</a:t>
            </a:r>
            <a:r>
              <a:rPr lang="en-US" sz="2400" dirty="0" smtClean="0">
                <a:latin typeface="Times" pitchFamily="18" charset="0"/>
                <a:ea typeface="Tahoma" pitchFamily="34" charset="0"/>
                <a:cs typeface="Times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Introduced by </a:t>
            </a:r>
            <a:r>
              <a:rPr lang="en-GB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Dr.</a:t>
            </a:r>
            <a:r>
              <a:rPr lang="en-GB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R Adams </a:t>
            </a:r>
            <a:r>
              <a:rPr lang="en-GB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Cowley</a:t>
            </a:r>
            <a:r>
              <a:rPr lang="en-GB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at the Shock-Trauma </a:t>
            </a:r>
            <a:r>
              <a:rPr lang="en-GB" dirty="0" err="1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Center</a:t>
            </a:r>
            <a:r>
              <a:rPr lang="en-GB" dirty="0"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, Baltimore</a:t>
            </a:r>
            <a:endParaRPr lang="en-US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" pitchFamily="18" charset="0"/>
              <a:ea typeface="Tahoma" pitchFamily="34" charset="0"/>
              <a:cs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09BB-A514-49DA-B5D5-F05F8DEA3A73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17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"/>
            <a:ext cx="8210550" cy="609599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338763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buFont typeface="Wingdings" pitchFamily="2" charset="2"/>
              <a:buChar char="v"/>
            </a:pPr>
            <a:r>
              <a:rPr lang="en-GB" sz="2900" b="1" dirty="0">
                <a:latin typeface="Times New Roman" pitchFamily="18" charset="0"/>
                <a:cs typeface="Times New Roman" pitchFamily="18" charset="0"/>
              </a:rPr>
              <a:t>Golden </a:t>
            </a:r>
            <a:r>
              <a:rPr lang="en-GB" sz="2900" b="1" dirty="0" smtClean="0">
                <a:latin typeface="Times New Roman" pitchFamily="18" charset="0"/>
                <a:cs typeface="Times New Roman" pitchFamily="18" charset="0"/>
              </a:rPr>
              <a:t>Period</a:t>
            </a:r>
            <a:r>
              <a:rPr lang="en-GB" sz="2900" b="1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( flexible )</a:t>
            </a:r>
            <a:endParaRPr lang="en-GB" sz="2900" b="1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70000"/>
              </a:lnSpc>
              <a:buFont typeface="Arial" pitchFamily="34" charset="0"/>
              <a:buChar char="•"/>
            </a:pPr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Definition: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A broader window of time following trauma where timely intervention is still crucial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70000"/>
              </a:lnSpc>
              <a:buFont typeface="Arial" pitchFamily="34" charset="0"/>
              <a:buChar char="•"/>
            </a:pP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Importance</a:t>
            </a:r>
            <a:r>
              <a:rPr lang="en-US" sz="25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Critical care may extend beyond 60 minutes depending on the injury type.</a:t>
            </a:r>
            <a:endParaRPr lang="en-GB" sz="25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Involves ongoing care that may include emergency, surgical, and intensive care beyond the first hour.</a:t>
            </a:r>
            <a:endParaRPr lang="en-GB" sz="25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09BB-A514-49DA-B5D5-F05F8DEA3A73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280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7"/>
            <a:ext cx="8610600" cy="70167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Agency FB" pitchFamily="34" charset="0"/>
              </a:rPr>
              <a:t>Definition to Trauma</a:t>
            </a:r>
            <a:endParaRPr lang="en-US" b="1" dirty="0">
              <a:solidFill>
                <a:schemeClr val="tx1"/>
              </a:solidFill>
              <a:latin typeface="Agency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991600" cy="495776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From the Greek word “trauma,” meaning "a wound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 </a:t>
            </a: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  <a:p>
            <a:pPr marL="228600" lvl="1">
              <a:lnSpc>
                <a:spcPct val="150000"/>
              </a:lnSpc>
              <a:spcBef>
                <a:spcPts val="1000"/>
              </a:spcBef>
            </a:pP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Definition:</a:t>
            </a:r>
            <a:endParaRPr lang="en-GB" b="1" dirty="0">
              <a:latin typeface="Times New Roman" pitchFamily="18" charset="0"/>
              <a:cs typeface="Times New Roman" pitchFamily="18" charset="0"/>
            </a:endParaRPr>
          </a:p>
          <a:p>
            <a:pPr marL="685800" lvl="2">
              <a:lnSpc>
                <a:spcPct val="150000"/>
              </a:lnSpc>
              <a:spcBef>
                <a:spcPts val="1000"/>
              </a:spcBef>
            </a:pPr>
            <a:r>
              <a:rPr lang="en-GB" sz="2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200" dirty="0">
                <a:latin typeface="Times New Roman" pitchFamily="18" charset="0"/>
                <a:cs typeface="Times New Roman" pitchFamily="18" charset="0"/>
              </a:rPr>
              <a:t>A serious injury resulting from mechanical, chemical, thermal, electrical, or other forms of energy.</a:t>
            </a:r>
          </a:p>
          <a:p>
            <a:pPr marL="685800" lvl="2">
              <a:lnSpc>
                <a:spcPct val="150000"/>
              </a:lnSpc>
              <a:spcBef>
                <a:spcPts val="1000"/>
              </a:spcBef>
            </a:pPr>
            <a:r>
              <a:rPr lang="en-GB" sz="2200" dirty="0" smtClean="0">
                <a:latin typeface="Times New Roman" pitchFamily="18" charset="0"/>
                <a:cs typeface="Times New Roman" pitchFamily="18" charset="0"/>
              </a:rPr>
              <a:t>Includes </a:t>
            </a:r>
            <a:r>
              <a:rPr lang="en-GB" sz="2200" dirty="0">
                <a:latin typeface="Times New Roman" pitchFamily="18" charset="0"/>
                <a:cs typeface="Times New Roman" pitchFamily="18" charset="0"/>
              </a:rPr>
              <a:t>both physical injury and psychological distress</a:t>
            </a:r>
            <a:r>
              <a:rPr lang="en-GB" sz="22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28600" lvl="1">
              <a:lnSpc>
                <a:spcPct val="150000"/>
              </a:lnSpc>
              <a:spcBef>
                <a:spcPts val="1000"/>
              </a:spcBef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It activates the HPA axis and triggers immunologic and metabolic responses essential for restoring homeostasis.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28600" lvl="1">
              <a:lnSpc>
                <a:spcPct val="150000"/>
              </a:lnSpc>
              <a:spcBef>
                <a:spcPts val="1000"/>
              </a:spcBef>
            </a:pPr>
            <a:endParaRPr lang="en-US" sz="2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6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D041-6269-4ABF-96FF-4BC05FE7C69C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95800" y="6356353"/>
            <a:ext cx="838200" cy="365125"/>
          </a:xfrm>
        </p:spPr>
        <p:txBody>
          <a:bodyPr/>
          <a:lstStyle/>
          <a:p>
            <a:fld id="{2F3A3D7C-4CFD-4AB7-8930-B56A37FE97ED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563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1"/>
            <a:ext cx="8210550" cy="838200"/>
          </a:xfrm>
        </p:spPr>
        <p:txBody>
          <a:bodyPr>
            <a:normAutofit fontScale="90000"/>
          </a:bodyPr>
          <a:lstStyle/>
          <a:p>
            <a:r>
              <a:rPr lang="en-GB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GB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GB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Physiological </a:t>
            </a:r>
            <a:r>
              <a:rPr lang="en-GB" sz="4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Response to Trauma</a:t>
            </a:r>
            <a:r>
              <a:rPr lang="en-GB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GB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</a:br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210550" cy="503396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HPA 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Axis Activation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Initiation of the stress response cascade.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Release of cortisol and </a:t>
            </a:r>
            <a:r>
              <a:rPr lang="en-GB" dirty="0" err="1">
                <a:latin typeface="Times New Roman" pitchFamily="18" charset="0"/>
                <a:cs typeface="Times New Roman" pitchFamily="18" charset="0"/>
              </a:rPr>
              <a:t>catecholamines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(epinephrine and norepinephrine).</a:t>
            </a:r>
          </a:p>
          <a:p>
            <a:pPr>
              <a:lnSpc>
                <a:spcPct val="150000"/>
              </a:lnSpc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Immunological Response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Activation of innate and adaptive immune systems.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Inflammation as a protective response to injury.</a:t>
            </a:r>
          </a:p>
          <a:p>
            <a:pPr>
              <a:lnSpc>
                <a:spcPct val="150000"/>
              </a:lnSpc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Metabolic Changes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Increased metabolic rate to support healing.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Release of glucose and fatty acids for energy.</a:t>
            </a:r>
          </a:p>
          <a:p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09BB-A514-49DA-B5D5-F05F8DEA3A73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927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28600"/>
            <a:ext cx="8610600" cy="9144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gency FB" pitchFamily="34" charset="0"/>
              </a:rPr>
              <a:t>Mechanism of trauma </a:t>
            </a:r>
            <a:endParaRPr lang="en-US" dirty="0">
              <a:solidFill>
                <a:schemeClr val="tx1"/>
              </a:solidFill>
              <a:latin typeface="Agency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1"/>
            <a:ext cx="8686800" cy="4876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 smtClean="0">
                <a:latin typeface="Times" pitchFamily="18" charset="0"/>
                <a:cs typeface="Times" pitchFamily="18" charset="0"/>
              </a:rPr>
              <a:t>Transfer of energy occurs due to </a:t>
            </a:r>
            <a:r>
              <a:rPr lang="en-US" sz="2400" b="1" dirty="0" smtClean="0">
                <a:latin typeface="Times" pitchFamily="18" charset="0"/>
                <a:cs typeface="Times" pitchFamily="18" charset="0"/>
              </a:rPr>
              <a:t>blunt, </a:t>
            </a:r>
            <a:r>
              <a:rPr lang="en-US" sz="2400" b="1" dirty="0" err="1" smtClean="0">
                <a:latin typeface="Times" pitchFamily="18" charset="0"/>
                <a:cs typeface="Times" pitchFamily="18" charset="0"/>
              </a:rPr>
              <a:t>decceration</a:t>
            </a:r>
            <a:r>
              <a:rPr lang="en-US" sz="2400" dirty="0" smtClean="0">
                <a:latin typeface="Times" pitchFamily="18" charset="0"/>
                <a:cs typeface="Times" pitchFamily="18" charset="0"/>
              </a:rPr>
              <a:t> and </a:t>
            </a:r>
            <a:r>
              <a:rPr lang="en-US" sz="2400" b="1" dirty="0" smtClean="0">
                <a:latin typeface="Times" pitchFamily="18" charset="0"/>
                <a:cs typeface="Times" pitchFamily="18" charset="0"/>
              </a:rPr>
              <a:t>penetrating</a:t>
            </a:r>
            <a:r>
              <a:rPr lang="en-US" sz="2400" dirty="0" smtClean="0">
                <a:latin typeface="Times" pitchFamily="18" charset="0"/>
                <a:cs typeface="Times" pitchFamily="18" charset="0"/>
              </a:rPr>
              <a:t> trauma.</a:t>
            </a:r>
          </a:p>
          <a:p>
            <a:pPr>
              <a:lnSpc>
                <a:spcPct val="150000"/>
              </a:lnSpc>
            </a:pPr>
            <a:r>
              <a:rPr lang="en-GB" b="1" dirty="0">
                <a:latin typeface="Times" pitchFamily="18" charset="0"/>
                <a:cs typeface="Times" pitchFamily="18" charset="0"/>
              </a:rPr>
              <a:t>Factors Affecting Injury Severity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GB" dirty="0" smtClean="0">
                <a:latin typeface="Times" pitchFamily="18" charset="0"/>
                <a:cs typeface="Times" pitchFamily="18" charset="0"/>
              </a:rPr>
              <a:t>1.Kinetic </a:t>
            </a:r>
            <a:r>
              <a:rPr lang="en-GB" dirty="0">
                <a:latin typeface="Times" pitchFamily="18" charset="0"/>
                <a:cs typeface="Times" pitchFamily="18" charset="0"/>
              </a:rPr>
              <a:t>Energy Absorption:</a:t>
            </a:r>
          </a:p>
          <a:p>
            <a:pPr lvl="2">
              <a:lnSpc>
                <a:spcPct val="150000"/>
              </a:lnSpc>
            </a:pPr>
            <a:r>
              <a:rPr lang="en-GB" sz="2400" dirty="0" smtClean="0">
                <a:latin typeface="Times" pitchFamily="18" charset="0"/>
                <a:cs typeface="Times" pitchFamily="18" charset="0"/>
              </a:rPr>
              <a:t>(</a:t>
            </a:r>
            <a:r>
              <a:rPr lang="en-GB" sz="2400" dirty="0">
                <a:latin typeface="Times" pitchFamily="18" charset="0"/>
                <a:cs typeface="Times" pitchFamily="18" charset="0"/>
              </a:rPr>
              <a:t>KE = 1/2 mass × velocity²) </a:t>
            </a:r>
            <a:endParaRPr lang="en-GB" sz="2400" dirty="0" smtClean="0">
              <a:latin typeface="Times" pitchFamily="18" charset="0"/>
              <a:cs typeface="Times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GB" sz="2400" b="1" dirty="0" smtClean="0">
                <a:latin typeface="Times" pitchFamily="18" charset="0"/>
                <a:cs typeface="Times" pitchFamily="18" charset="0"/>
              </a:rPr>
              <a:t>Higher </a:t>
            </a:r>
            <a:r>
              <a:rPr lang="en-GB" sz="2400" b="1" dirty="0">
                <a:latin typeface="Times" pitchFamily="18" charset="0"/>
                <a:cs typeface="Times" pitchFamily="18" charset="0"/>
              </a:rPr>
              <a:t>mass and velocity </a:t>
            </a:r>
            <a:r>
              <a:rPr lang="en-GB" sz="2400" dirty="0">
                <a:latin typeface="Times" pitchFamily="18" charset="0"/>
                <a:cs typeface="Times" pitchFamily="18" charset="0"/>
              </a:rPr>
              <a:t>result in greater kinetic energy and potentially more severe injuries.</a:t>
            </a:r>
            <a:endParaRPr lang="en-US" sz="2400" dirty="0">
              <a:latin typeface="Times" pitchFamily="18" charset="0"/>
              <a:cs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9BB16-EF1D-4774-B22C-BE9DF2571B6F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486400" y="6172200"/>
            <a:ext cx="2057400" cy="365125"/>
          </a:xfrm>
        </p:spPr>
        <p:txBody>
          <a:bodyPr/>
          <a:lstStyle/>
          <a:p>
            <a:fld id="{0155E850-2565-41D1-A738-CF84E1D846E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55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65127"/>
            <a:ext cx="8134350" cy="473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09600"/>
            <a:ext cx="8610600" cy="6096000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Direction 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of Energy Transmission:</a:t>
            </a:r>
          </a:p>
          <a:p>
            <a:pPr lvl="1">
              <a:lnSpc>
                <a:spcPct val="170000"/>
              </a:lnSpc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path that the energy takes through the body can influence the type and extent of injuries. </a:t>
            </a:r>
            <a:endParaRPr lang="en-GB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3.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Body 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Structure Density:</a:t>
            </a:r>
          </a:p>
          <a:p>
            <a:pPr lvl="1">
              <a:lnSpc>
                <a:spcPct val="170000"/>
              </a:lnSpc>
              <a:buFont typeface="Wingdings" pitchFamily="2" charset="2"/>
              <a:buChar char="ü"/>
            </a:pPr>
            <a:r>
              <a:rPr lang="en-GB" sz="2800" b="1" dirty="0">
                <a:latin typeface="Times New Roman" pitchFamily="18" charset="0"/>
                <a:cs typeface="Times New Roman" pitchFamily="18" charset="0"/>
              </a:rPr>
              <a:t>Solid Organs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: </a:t>
            </a:r>
            <a:endParaRPr lang="en-GB" b="1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70000"/>
              </a:lnSpc>
              <a:buFont typeface="Wingdings" pitchFamily="2" charset="2"/>
              <a:buChar char="ü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organs (like the liver or spleen) are denser and more likely to rupture under high-energy impacts. </a:t>
            </a:r>
            <a:endParaRPr lang="en-GB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70000"/>
              </a:lnSpc>
              <a:buFont typeface="Wingdings" pitchFamily="2" charset="2"/>
              <a:buChar char="ü"/>
            </a:pPr>
            <a:r>
              <a:rPr lang="en-GB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GB" sz="2800" dirty="0">
                <a:latin typeface="Times New Roman" pitchFamily="18" charset="0"/>
                <a:cs typeface="Times New Roman" pitchFamily="18" charset="0"/>
              </a:rPr>
              <a:t>density makes them less flexible, leading to potential tearing or breaking</a:t>
            </a:r>
            <a:r>
              <a:rPr lang="en-GB" sz="2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09BB-A514-49DA-B5D5-F05F8DEA3A73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549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981950" cy="304801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667750" cy="5491163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Hollow 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Organs: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  <a:buFont typeface="Arial" pitchFamily="34" charset="0"/>
              <a:buChar char="•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organs (like the stomach or intestines) can sustain damage but are less likely to rupture under blunt force. </a:t>
            </a:r>
            <a:endParaRPr lang="en-GB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Bone 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and Cartilage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: </a:t>
            </a: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structures are rigid and have a greater density, providing support but also making them susceptible to fractures when subjected to high-energy impacts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09BB-A514-49DA-B5D5-F05F8DEA3A73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152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1"/>
            <a:ext cx="8534400" cy="9144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							</a:t>
            </a:r>
            <a:r>
              <a:rPr lang="en-US" dirty="0" err="1" smtClean="0">
                <a:solidFill>
                  <a:schemeClr val="tx1"/>
                </a:solidFill>
              </a:rPr>
              <a:t>Cont</a:t>
            </a:r>
            <a:r>
              <a:rPr lang="en-US" dirty="0" smtClean="0">
                <a:solidFill>
                  <a:schemeClr val="tx1"/>
                </a:solidFill>
              </a:rPr>
              <a:t>….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91600" cy="5638800"/>
          </a:xfrm>
        </p:spPr>
        <p:txBody>
          <a:bodyPr>
            <a:norm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sz="3200" b="1" u="sng" dirty="0" smtClean="0">
                <a:latin typeface="Times" pitchFamily="18" charset="0"/>
              </a:rPr>
              <a:t>Categories of Trauma</a:t>
            </a:r>
            <a:endParaRPr lang="en-US" sz="3200" b="1" u="sng" dirty="0">
              <a:latin typeface="Times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GB" b="1" dirty="0"/>
              <a:t>1. </a:t>
            </a:r>
            <a:r>
              <a:rPr lang="en-GB" b="1" dirty="0">
                <a:latin typeface="Times" pitchFamily="18" charset="0"/>
              </a:rPr>
              <a:t>Penetrating Trauma</a:t>
            </a:r>
            <a:endParaRPr lang="en-GB" dirty="0">
              <a:latin typeface="Times" pitchFamily="18" charset="0"/>
            </a:endParaRPr>
          </a:p>
          <a:p>
            <a:pPr marL="457200" lvl="1" indent="0">
              <a:buNone/>
            </a:pPr>
            <a:r>
              <a:rPr lang="en-GB" sz="2800" b="1" dirty="0" smtClean="0"/>
              <a:t>2</a:t>
            </a:r>
            <a:r>
              <a:rPr lang="en-GB" sz="2800" b="1" dirty="0"/>
              <a:t>. </a:t>
            </a:r>
            <a:r>
              <a:rPr lang="en-GB" b="1" dirty="0">
                <a:latin typeface="Times" pitchFamily="18" charset="0"/>
              </a:rPr>
              <a:t>Blunt </a:t>
            </a:r>
            <a:r>
              <a:rPr lang="en-GB" b="1" dirty="0" smtClean="0">
                <a:latin typeface="Times" pitchFamily="18" charset="0"/>
              </a:rPr>
              <a:t>Trauma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GB" b="1" dirty="0">
                <a:latin typeface="Times" pitchFamily="18" charset="0"/>
                <a:cs typeface="Times New Roman" pitchFamily="18" charset="0"/>
              </a:rPr>
              <a:t>. Deceleration Trauma</a:t>
            </a:r>
            <a:endParaRPr lang="en-GB" dirty="0">
              <a:latin typeface="Times" pitchFamily="18" charset="0"/>
              <a:cs typeface="Times New Roman" pitchFamily="18" charset="0"/>
            </a:endParaRPr>
          </a:p>
          <a:p>
            <a:r>
              <a:rPr lang="en-GB" b="1" dirty="0">
                <a:latin typeface="Times" pitchFamily="18" charset="0"/>
                <a:cs typeface="Times" pitchFamily="18" charset="0"/>
              </a:rPr>
              <a:t>individual Responses</a:t>
            </a:r>
            <a:endParaRPr lang="en-GB" dirty="0">
              <a:latin typeface="Times" pitchFamily="18" charset="0"/>
              <a:cs typeface="Times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GB" dirty="0">
                <a:latin typeface="Times" pitchFamily="18" charset="0"/>
                <a:cs typeface="Times" pitchFamily="18" charset="0"/>
              </a:rPr>
              <a:t>Responses to trauma can vary significantly between individuals.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Times" pitchFamily="18" charset="0"/>
                <a:cs typeface="Times" pitchFamily="18" charset="0"/>
              </a:rPr>
              <a:t>Underlying chronic medical conditions may alter normal physiological responses.</a:t>
            </a:r>
          </a:p>
          <a:p>
            <a:pPr marL="0" indent="0">
              <a:buNone/>
            </a:pPr>
            <a:endParaRPr lang="en-GB" sz="2400" dirty="0">
              <a:latin typeface="Times" pitchFamily="18" charset="0"/>
            </a:endParaRPr>
          </a:p>
          <a:p>
            <a:pPr>
              <a:lnSpc>
                <a:spcPct val="150000"/>
              </a:lnSpc>
            </a:pPr>
            <a:endParaRPr lang="en-US" b="1" dirty="0">
              <a:latin typeface="Agency FB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87484-60E8-4DE1-8878-3B57509BEE00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562600" y="6324600"/>
            <a:ext cx="2057400" cy="365125"/>
          </a:xfrm>
        </p:spPr>
        <p:txBody>
          <a:bodyPr/>
          <a:lstStyle/>
          <a:p>
            <a:fld id="{379711D1-367F-4631-9297-BAE3D3E53BA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348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286750" cy="914401"/>
          </a:xfrm>
        </p:spPr>
        <p:txBody>
          <a:bodyPr/>
          <a:lstStyle/>
          <a:p>
            <a:r>
              <a:rPr lang="en-US" dirty="0" smtClean="0">
                <a:latin typeface="Times" pitchFamily="18" charset="0"/>
                <a:cs typeface="Times" pitchFamily="18" charset="0"/>
              </a:rPr>
              <a:t>      </a:t>
            </a:r>
            <a:r>
              <a:rPr lang="en-US" dirty="0" smtClean="0">
                <a:solidFill>
                  <a:schemeClr val="tx1"/>
                </a:solidFill>
                <a:latin typeface="Times" pitchFamily="18" charset="0"/>
                <a:cs typeface="Times" pitchFamily="18" charset="0"/>
              </a:rPr>
              <a:t>Penetrating trauma</a:t>
            </a:r>
            <a:endParaRPr lang="en-US" dirty="0">
              <a:solidFill>
                <a:schemeClr val="tx1"/>
              </a:solidFill>
              <a:latin typeface="Times" pitchFamily="18" charset="0"/>
              <a:cs typeface="Times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1101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/>
              <a:t>Definition</a:t>
            </a:r>
            <a:r>
              <a:rPr lang="en-GB" b="1" dirty="0" smtClean="0"/>
              <a:t>:</a:t>
            </a:r>
            <a:endParaRPr lang="en-GB" dirty="0" smtClean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Injury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caused by a foreign object piercing the skin, damaging underlying tissues and resulting in an open wound.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Agency FB" pitchFamily="34" charset="0"/>
              </a:rPr>
              <a:t>Common Causes</a:t>
            </a:r>
            <a:r>
              <a:rPr lang="en-US" dirty="0" smtClean="0">
                <a:latin typeface="Agency FB" pitchFamily="34" charset="0"/>
              </a:rPr>
              <a:t>:</a:t>
            </a:r>
            <a:endParaRPr lang="en-US" dirty="0">
              <a:latin typeface="Agency FB" pitchFamily="34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latin typeface="Agency FB" pitchFamily="34" charset="0"/>
              </a:rPr>
              <a:t>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Gunshots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Explosive devices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    Stab wounds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dirty="0" smtClean="0">
              <a:latin typeface="Agency FB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D6ECD-B821-45EC-B151-935C3519F01A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867400" y="6324600"/>
            <a:ext cx="2057400" cy="365125"/>
          </a:xfrm>
        </p:spPr>
        <p:txBody>
          <a:bodyPr/>
          <a:lstStyle/>
          <a:p>
            <a:fld id="{0155E850-2565-41D1-A738-CF84E1D846E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47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65127"/>
            <a:ext cx="8362950" cy="701674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839200" cy="5033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Types of Penetrating Wounds:</a:t>
            </a:r>
            <a:endParaRPr lang="en-GB" dirty="0"/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Puncture Wound: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Sharp object creates a small hole without entering a body cavity (e.g., bites).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Penetrating Wound: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Sharp object creates a single open wound and enters tissue or a body cavity (e.g., knife stab).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Perforating Wound: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Object passes completely through the body, creating both entry and exit wounds (e.g., gunshot wound).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sz="3000" dirty="0">
              <a:latin typeface="Agency FB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9F9F5-72D1-463B-B00D-898520188778}" type="datetime1">
              <a:rPr lang="en-US" smtClean="0"/>
              <a:t>10/24/2024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562600" y="6356351"/>
            <a:ext cx="1600200" cy="365125"/>
          </a:xfrm>
        </p:spPr>
        <p:txBody>
          <a:bodyPr/>
          <a:lstStyle/>
          <a:p>
            <a:fld id="{0155E850-2565-41D1-A738-CF84E1D846E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7"/>
            <a:ext cx="8515350" cy="6254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210550" cy="495776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Most Frequently Affected Organ: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Small </a:t>
            </a: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Intestine</a:t>
            </a: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often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sustains the highest incidence of injury due to its length and location in the abdomen.</a:t>
            </a:r>
          </a:p>
          <a:p>
            <a:pPr>
              <a:lnSpc>
                <a:spcPct val="150000"/>
              </a:lnSpc>
            </a:pP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Other 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Commonly Injured Organs: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Liver : the second mostly affected organ 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Spleen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Large Intestine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09BB-A514-49DA-B5D5-F05F8DEA3A73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000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200" y="365127"/>
            <a:ext cx="8591550" cy="3968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10600" cy="51863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Complications</a:t>
            </a:r>
          </a:p>
          <a:p>
            <a:pPr lvl="1">
              <a:lnSpc>
                <a:spcPct val="150000"/>
              </a:lnSpc>
            </a:pPr>
            <a:r>
              <a:rPr lang="en-GB" b="1" dirty="0" err="1">
                <a:latin typeface="Times New Roman" pitchFamily="18" charset="0"/>
                <a:cs typeface="Times New Roman" pitchFamily="18" charset="0"/>
              </a:rPr>
              <a:t>Hemorrhagic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 Shock: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marL="1200150" lvl="2" indent="-285750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A critical consequence of penetrating trauma that can lead to death if untreated.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Presentation of Hypovolemic Shock: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marL="1657350" lvl="3" indent="-285750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Hypotension</a:t>
            </a:r>
          </a:p>
          <a:p>
            <a:pPr marL="1657350" lvl="3" indent="-285750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Tachycardia</a:t>
            </a:r>
          </a:p>
          <a:p>
            <a:pPr marL="1657350" lvl="3" indent="-285750">
              <a:lnSpc>
                <a:spcPct val="150000"/>
              </a:lnSpc>
            </a:pP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Tachypnea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marL="1657350" lvl="3" indent="-285750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Cold skin</a:t>
            </a: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09BB-A514-49DA-B5D5-F05F8DEA3A73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25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362950" cy="838201"/>
          </a:xfrm>
        </p:spPr>
        <p:txBody>
          <a:bodyPr>
            <a:normAutofit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914400"/>
            <a:ext cx="8763000" cy="5262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Times" pitchFamily="18" charset="0"/>
                <a:cs typeface="Times" pitchFamily="18" charset="0"/>
              </a:rPr>
              <a:t>Major </a:t>
            </a:r>
            <a:r>
              <a:rPr lang="en-US" b="1" dirty="0">
                <a:latin typeface="Times" pitchFamily="18" charset="0"/>
                <a:cs typeface="Times" pitchFamily="18" charset="0"/>
              </a:rPr>
              <a:t>Consequences of Hypovolemic </a:t>
            </a:r>
            <a:r>
              <a:rPr lang="en-US" b="1" dirty="0" smtClean="0">
                <a:latin typeface="Times" pitchFamily="18" charset="0"/>
                <a:cs typeface="Times" pitchFamily="18" charset="0"/>
              </a:rPr>
              <a:t>Shock</a:t>
            </a:r>
          </a:p>
          <a:p>
            <a:pPr lvl="2">
              <a:lnSpc>
                <a:spcPct val="150000"/>
              </a:lnSpc>
            </a:pPr>
            <a:r>
              <a:rPr lang="en-US" sz="2400" b="1" dirty="0">
                <a:latin typeface="Times" pitchFamily="18" charset="0"/>
                <a:cs typeface="Times" pitchFamily="18" charset="0"/>
              </a:rPr>
              <a:t>Decreased Organ Perfusion</a:t>
            </a:r>
            <a:r>
              <a:rPr lang="en-US" sz="2400" dirty="0">
                <a:latin typeface="Times" pitchFamily="18" charset="0"/>
                <a:cs typeface="Times" pitchFamily="18" charset="0"/>
              </a:rPr>
              <a:t> (vulnerable organs: kidneys, brain, heart, liver, colon</a:t>
            </a:r>
            <a:r>
              <a:rPr lang="en-US" sz="2400" dirty="0" smtClean="0">
                <a:latin typeface="Times" pitchFamily="18" charset="0"/>
                <a:cs typeface="Times" pitchFamily="18" charset="0"/>
              </a:rPr>
              <a:t>)</a:t>
            </a:r>
            <a:endParaRPr lang="en-GB" sz="2400" dirty="0">
              <a:latin typeface="Times" pitchFamily="18" charset="0"/>
              <a:cs typeface="Times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b="1" dirty="0">
                <a:latin typeface="Times" pitchFamily="18" charset="0"/>
                <a:cs typeface="Times" pitchFamily="18" charset="0"/>
              </a:rPr>
              <a:t>Acute Blood Loss</a:t>
            </a:r>
            <a:r>
              <a:rPr lang="en-US" dirty="0">
                <a:latin typeface="Times" pitchFamily="18" charset="0"/>
                <a:cs typeface="Times" pitchFamily="18" charset="0"/>
              </a:rPr>
              <a:t> → Reduced Circulating </a:t>
            </a:r>
            <a:r>
              <a:rPr lang="en-US" dirty="0" smtClean="0">
                <a:latin typeface="Times" pitchFamily="18" charset="0"/>
                <a:cs typeface="Times" pitchFamily="18" charset="0"/>
              </a:rPr>
              <a:t>Volume</a:t>
            </a:r>
          </a:p>
          <a:p>
            <a:pPr lvl="2">
              <a:lnSpc>
                <a:spcPct val="150000"/>
              </a:lnSpc>
            </a:pPr>
            <a:r>
              <a:rPr lang="en-US" sz="2400" b="1" dirty="0" smtClean="0">
                <a:latin typeface="Times" pitchFamily="18" charset="0"/>
                <a:cs typeface="Times" pitchFamily="18" charset="0"/>
              </a:rPr>
              <a:t>Decreased Organ </a:t>
            </a:r>
            <a:r>
              <a:rPr lang="en-US" sz="2400" b="1" dirty="0">
                <a:latin typeface="Times" pitchFamily="18" charset="0"/>
                <a:cs typeface="Times" pitchFamily="18" charset="0"/>
              </a:rPr>
              <a:t>Perfusion</a:t>
            </a:r>
            <a:r>
              <a:rPr lang="en-US" sz="2400" dirty="0">
                <a:latin typeface="Times" pitchFamily="18" charset="0"/>
                <a:cs typeface="Times" pitchFamily="18" charset="0"/>
              </a:rPr>
              <a:t> → </a:t>
            </a:r>
            <a:r>
              <a:rPr lang="en-US" sz="2400" b="1" dirty="0">
                <a:latin typeface="Times" pitchFamily="18" charset="0"/>
                <a:cs typeface="Times" pitchFamily="18" charset="0"/>
              </a:rPr>
              <a:t>Risk of Organ </a:t>
            </a:r>
            <a:r>
              <a:rPr lang="en-US" sz="2400" b="1" dirty="0" smtClean="0">
                <a:latin typeface="Times" pitchFamily="18" charset="0"/>
                <a:cs typeface="Times" pitchFamily="18" charset="0"/>
              </a:rPr>
              <a:t>Failure</a:t>
            </a:r>
          </a:p>
          <a:p>
            <a:pPr>
              <a:lnSpc>
                <a:spcPct val="150000"/>
              </a:lnSpc>
            </a:pPr>
            <a:endParaRPr lang="en-US" dirty="0" smtClean="0">
              <a:latin typeface="Times" pitchFamily="18" charset="0"/>
              <a:cs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09BB-A514-49DA-B5D5-F05F8DEA3A73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6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65127"/>
            <a:ext cx="8362950" cy="320673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915400" cy="533876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" pitchFamily="18" charset="0"/>
                <a:cs typeface="Times" pitchFamily="18" charset="0"/>
              </a:rPr>
              <a:t>Compensatory </a:t>
            </a:r>
            <a:r>
              <a:rPr lang="en-US" sz="3200" b="1" dirty="0" smtClean="0">
                <a:latin typeface="Times" pitchFamily="18" charset="0"/>
                <a:cs typeface="Times" pitchFamily="18" charset="0"/>
              </a:rPr>
              <a:t>Mechanisms </a:t>
            </a:r>
            <a:endParaRPr lang="en-US" sz="3200" b="1" dirty="0" smtClean="0">
              <a:latin typeface="Times" pitchFamily="18" charset="0"/>
              <a:cs typeface="Times" pitchFamily="18" charset="0"/>
            </a:endParaRPr>
          </a:p>
          <a:p>
            <a:pPr lvl="1"/>
            <a:r>
              <a:rPr lang="en-US" sz="2400" dirty="0" smtClean="0">
                <a:latin typeface="Times" pitchFamily="18" charset="0"/>
                <a:cs typeface="Times" pitchFamily="18" charset="0"/>
              </a:rPr>
              <a:t>Sympathetic </a:t>
            </a:r>
            <a:r>
              <a:rPr lang="en-US" sz="2400" dirty="0">
                <a:latin typeface="Times" pitchFamily="18" charset="0"/>
                <a:cs typeface="Times" pitchFamily="18" charset="0"/>
              </a:rPr>
              <a:t>Nervous System (SNS) Activation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Times" pitchFamily="18" charset="0"/>
                <a:cs typeface="Times" pitchFamily="18" charset="0"/>
              </a:rPr>
              <a:t>Release of </a:t>
            </a:r>
            <a:r>
              <a:rPr lang="en-US" sz="2400" dirty="0" err="1">
                <a:latin typeface="Times" pitchFamily="18" charset="0"/>
                <a:cs typeface="Times" pitchFamily="18" charset="0"/>
              </a:rPr>
              <a:t>Catecholamines</a:t>
            </a:r>
            <a:r>
              <a:rPr lang="en-US" sz="2400" dirty="0">
                <a:latin typeface="Times" pitchFamily="18" charset="0"/>
                <a:cs typeface="Times" pitchFamily="18" charset="0"/>
              </a:rPr>
              <a:t> (e.g., norepinephrine, vasopressin)</a:t>
            </a:r>
          </a:p>
          <a:p>
            <a:pPr lvl="2">
              <a:lnSpc>
                <a:spcPct val="150000"/>
              </a:lnSpc>
            </a:pPr>
            <a:r>
              <a:rPr lang="en-US" sz="2400" b="1" dirty="0">
                <a:latin typeface="Times" pitchFamily="18" charset="0"/>
                <a:cs typeface="Times" pitchFamily="18" charset="0"/>
              </a:rPr>
              <a:t>Increased Heart Rate → Increased Cardiac Output (CO)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Times" pitchFamily="18" charset="0"/>
                <a:cs typeface="Times" pitchFamily="18" charset="0"/>
              </a:rPr>
              <a:t>Renin-Angiotensin-Aldosterone System (RAAS)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Times" pitchFamily="18" charset="0"/>
                <a:cs typeface="Times" pitchFamily="18" charset="0"/>
              </a:rPr>
              <a:t>Renin Release from juxtaglomerular cells (in response to low BP &amp; </a:t>
            </a:r>
            <a:r>
              <a:rPr lang="en-US" sz="2400" dirty="0" err="1">
                <a:latin typeface="Times" pitchFamily="18" charset="0"/>
                <a:cs typeface="Times" pitchFamily="18" charset="0"/>
              </a:rPr>
              <a:t>NaCl</a:t>
            </a:r>
            <a:r>
              <a:rPr lang="en-US" sz="2400" dirty="0">
                <a:latin typeface="Times" pitchFamily="18" charset="0"/>
                <a:cs typeface="Times" pitchFamily="18" charset="0"/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Times" pitchFamily="18" charset="0"/>
                <a:cs typeface="Times" pitchFamily="18" charset="0"/>
              </a:rPr>
              <a:t>Conversion: </a:t>
            </a:r>
            <a:r>
              <a:rPr lang="en-US" sz="2400" b="1" dirty="0">
                <a:latin typeface="Times" pitchFamily="18" charset="0"/>
                <a:cs typeface="Times" pitchFamily="18" charset="0"/>
              </a:rPr>
              <a:t>Angiotensin I → Angiotensin II → Aldosterone</a:t>
            </a:r>
          </a:p>
          <a:p>
            <a:endParaRPr lang="en-US" sz="3200" dirty="0">
              <a:latin typeface="Times" pitchFamily="18" charset="0"/>
              <a:cs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09BB-A514-49DA-B5D5-F05F8DEA3A73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56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1"/>
            <a:ext cx="8763000" cy="762000"/>
          </a:xfrm>
        </p:spPr>
        <p:txBody>
          <a:bodyPr/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262563"/>
          </a:xfrm>
        </p:spPr>
        <p:txBody>
          <a:bodyPr/>
          <a:lstStyle/>
          <a:p>
            <a:pPr lvl="2">
              <a:lnSpc>
                <a:spcPct val="150000"/>
              </a:lnSpc>
            </a:pPr>
            <a:r>
              <a:rPr lang="en-US" sz="2800" b="1" dirty="0">
                <a:latin typeface="Times" pitchFamily="18" charset="0"/>
                <a:cs typeface="Times" pitchFamily="18" charset="0"/>
              </a:rPr>
              <a:t>Angiotensin II</a:t>
            </a:r>
            <a:r>
              <a:rPr lang="en-US" sz="2800" dirty="0">
                <a:latin typeface="Times" pitchFamily="18" charset="0"/>
                <a:cs typeface="Times" pitchFamily="18" charset="0"/>
              </a:rPr>
              <a:t>:</a:t>
            </a:r>
          </a:p>
          <a:p>
            <a:pPr lvl="3">
              <a:lnSpc>
                <a:spcPct val="150000"/>
              </a:lnSpc>
            </a:pPr>
            <a:r>
              <a:rPr lang="en-US" sz="2400" dirty="0">
                <a:latin typeface="Times" pitchFamily="18" charset="0"/>
                <a:cs typeface="Times" pitchFamily="18" charset="0"/>
              </a:rPr>
              <a:t>Vasoconstriction (↑ SVR)</a:t>
            </a:r>
          </a:p>
          <a:p>
            <a:pPr lvl="3">
              <a:lnSpc>
                <a:spcPct val="150000"/>
              </a:lnSpc>
            </a:pPr>
            <a:r>
              <a:rPr lang="en-US" sz="2400" dirty="0">
                <a:latin typeface="Times" pitchFamily="18" charset="0"/>
                <a:cs typeface="Times" pitchFamily="18" charset="0"/>
              </a:rPr>
              <a:t>Stimulation of ADH release (↑ Water Reabsorption</a:t>
            </a:r>
            <a:r>
              <a:rPr lang="en-US" sz="2400" dirty="0" smtClean="0">
                <a:latin typeface="Times" pitchFamily="18" charset="0"/>
                <a:cs typeface="Times" pitchFamily="18" charset="0"/>
              </a:rPr>
              <a:t>)</a:t>
            </a:r>
            <a:endParaRPr lang="en-US" sz="2400" b="1" dirty="0" smtClean="0">
              <a:latin typeface="Times" pitchFamily="18" charset="0"/>
              <a:cs typeface="Times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 smtClean="0">
                <a:latin typeface="Times" pitchFamily="18" charset="0"/>
                <a:cs typeface="Times" pitchFamily="18" charset="0"/>
              </a:rPr>
              <a:t>Goal </a:t>
            </a:r>
            <a:r>
              <a:rPr lang="en-US" b="1" dirty="0">
                <a:latin typeface="Times" pitchFamily="18" charset="0"/>
                <a:cs typeface="Times" pitchFamily="18" charset="0"/>
              </a:rPr>
              <a:t>of Compensation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Times" pitchFamily="18" charset="0"/>
                <a:cs typeface="Times" pitchFamily="18" charset="0"/>
              </a:rPr>
              <a:t>Maintain </a:t>
            </a:r>
            <a:r>
              <a:rPr lang="en-US" b="1" dirty="0">
                <a:latin typeface="Times" pitchFamily="18" charset="0"/>
                <a:cs typeface="Times" pitchFamily="18" charset="0"/>
              </a:rPr>
              <a:t>Cardiac Output (CO)</a:t>
            </a:r>
            <a:r>
              <a:rPr lang="en-US" dirty="0">
                <a:latin typeface="Times" pitchFamily="18" charset="0"/>
                <a:cs typeface="Times" pitchFamily="18" charset="0"/>
              </a:rPr>
              <a:t> and </a:t>
            </a:r>
            <a:r>
              <a:rPr lang="en-US" b="1" dirty="0">
                <a:latin typeface="Times" pitchFamily="18" charset="0"/>
                <a:cs typeface="Times" pitchFamily="18" charset="0"/>
              </a:rPr>
              <a:t>Systemic Vascular Resistance (SVR)</a:t>
            </a:r>
            <a:endParaRPr lang="en-US" dirty="0">
              <a:latin typeface="Times" pitchFamily="18" charset="0"/>
              <a:cs typeface="Times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dirty="0">
                <a:latin typeface="Times" pitchFamily="18" charset="0"/>
                <a:cs typeface="Times" pitchFamily="18" charset="0"/>
              </a:rPr>
              <a:t>Prevent progression to </a:t>
            </a:r>
            <a:r>
              <a:rPr lang="en-US" b="1" dirty="0">
                <a:latin typeface="Times" pitchFamily="18" charset="0"/>
                <a:cs typeface="Times" pitchFamily="18" charset="0"/>
              </a:rPr>
              <a:t>severe shock and death</a:t>
            </a:r>
            <a:endParaRPr lang="en-US" dirty="0">
              <a:latin typeface="Times" pitchFamily="18" charset="0"/>
              <a:cs typeface="Times" pitchFamily="18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Times" pitchFamily="18" charset="0"/>
              <a:cs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609BB-A514-49DA-B5D5-F05F8DEA3A73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711D1-367F-4631-9297-BAE3D3E53BA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0313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0"/>
            <a:ext cx="8839200" cy="6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9E19D-BC3F-46F1-ACEA-1C447C7CEC3B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791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1"/>
            <a:ext cx="8610600" cy="914400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gency FB" pitchFamily="34" charset="0"/>
              </a:rPr>
              <a:t>Blunt Trauma</a:t>
            </a:r>
            <a:endParaRPr lang="en-US" dirty="0">
              <a:solidFill>
                <a:schemeClr val="tx1"/>
              </a:solidFill>
              <a:latin typeface="Agency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915400" cy="55626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600" b="1" dirty="0">
                <a:latin typeface="Times New Roman" pitchFamily="18" charset="0"/>
                <a:cs typeface="Times New Roman" pitchFamily="18" charset="0"/>
              </a:rPr>
              <a:t>Definition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: </a:t>
            </a: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  <a:buFont typeface="Wingdings" pitchFamily="2" charset="2"/>
              <a:buChar char="§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on-penetrating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injuries caused by forceful impacts to the body, often resulting from falls, physical assaults, or collisions with dull objects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2">
              <a:lnSpc>
                <a:spcPct val="150000"/>
              </a:lnSpc>
            </a:pP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Adults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: The abdomen is the most commonly injured area, particularly in motor vehicle accidents.</a:t>
            </a:r>
          </a:p>
          <a:p>
            <a:pPr>
              <a:lnSpc>
                <a:spcPct val="15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Solid Organ Injuries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Liver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Spleen, Kidneys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F0606-F084-4303-9424-0E50E6820590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19600" y="6324600"/>
            <a:ext cx="2057400" cy="365125"/>
          </a:xfrm>
        </p:spPr>
        <p:txBody>
          <a:bodyPr/>
          <a:lstStyle/>
          <a:p>
            <a:fld id="{379711D1-367F-4631-9297-BAE3D3E53BA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34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65127"/>
            <a:ext cx="8362950" cy="701674"/>
          </a:xfrm>
        </p:spPr>
        <p:txBody>
          <a:bodyPr>
            <a:normAutofit fontScale="90000"/>
          </a:bodyPr>
          <a:lstStyle/>
          <a:p>
            <a:pPr algn="r"/>
            <a:r>
              <a:rPr lang="en-US" b="1" dirty="0" err="1" smtClean="0">
                <a:solidFill>
                  <a:schemeClr val="tx1"/>
                </a:solidFill>
              </a:rPr>
              <a:t>Cont</a:t>
            </a:r>
            <a:r>
              <a:rPr lang="en-US" b="1" dirty="0" smtClean="0">
                <a:solidFill>
                  <a:schemeClr val="tx1"/>
                </a:solidFill>
              </a:rPr>
              <a:t>…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839200" cy="5262563"/>
          </a:xfrm>
        </p:spPr>
        <p:txBody>
          <a:bodyPr>
            <a:normAutofit/>
          </a:bodyPr>
          <a:lstStyle/>
          <a:p>
            <a:r>
              <a:rPr lang="en-GB" b="1" dirty="0">
                <a:latin typeface="Times New Roman" pitchFamily="18" charset="0"/>
                <a:cs typeface="Times New Roman" pitchFamily="18" charset="0"/>
              </a:rPr>
              <a:t>Liver Injury: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Typically results in </a:t>
            </a: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venous </a:t>
            </a:r>
            <a:r>
              <a:rPr lang="en-GB" sz="2400" b="1" dirty="0" err="1">
                <a:latin typeface="Times New Roman" pitchFamily="18" charset="0"/>
                <a:cs typeface="Times New Roman" pitchFamily="18" charset="0"/>
              </a:rPr>
              <a:t>hemorrhage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rather than arterial.</a:t>
            </a:r>
          </a:p>
          <a:p>
            <a:pPr lvl="2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Management is usually </a:t>
            </a: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conservative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, focusing on monitoring and supportive care</a:t>
            </a:r>
          </a:p>
          <a:p>
            <a:r>
              <a:rPr lang="en-GB" b="1" dirty="0">
                <a:latin typeface="Times New Roman" pitchFamily="18" charset="0"/>
                <a:cs typeface="Times New Roman" pitchFamily="18" charset="0"/>
              </a:rPr>
              <a:t>Complications of Blunt Trauma: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Internal </a:t>
            </a:r>
            <a:r>
              <a:rPr lang="en-GB" dirty="0" err="1">
                <a:latin typeface="Times New Roman" pitchFamily="18" charset="0"/>
                <a:cs typeface="Times New Roman" pitchFamily="18" charset="0"/>
              </a:rPr>
              <a:t>hemorrhage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is a significant concern.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Inflammation and </a:t>
            </a:r>
            <a:r>
              <a:rPr lang="en-GB" b="1" dirty="0" err="1">
                <a:latin typeface="Times New Roman" pitchFamily="18" charset="0"/>
                <a:cs typeface="Times New Roman" pitchFamily="18" charset="0"/>
              </a:rPr>
              <a:t>edema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are common underlying effects following injury.</a:t>
            </a: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9E8FB1-965A-4D55-A128-C50DE16E68A8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181600" y="6324600"/>
            <a:ext cx="2057400" cy="365125"/>
          </a:xfrm>
        </p:spPr>
        <p:txBody>
          <a:bodyPr/>
          <a:lstStyle/>
          <a:p>
            <a:fld id="{379711D1-367F-4631-9297-BAE3D3E53BA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653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362950" cy="914401"/>
          </a:xfrm>
        </p:spPr>
        <p:txBody>
          <a:bodyPr/>
          <a:lstStyle/>
          <a:p>
            <a:pPr algn="r"/>
            <a:r>
              <a:rPr lang="en-US" dirty="0" err="1" smtClean="0">
                <a:latin typeface="Agency FB" pitchFamily="34" charset="0"/>
              </a:rPr>
              <a:t>Cont</a:t>
            </a:r>
            <a:r>
              <a:rPr lang="en-US" dirty="0" smtClean="0">
                <a:latin typeface="Agency FB" pitchFamily="34" charset="0"/>
              </a:rPr>
              <a:t>…</a:t>
            </a:r>
            <a:endParaRPr lang="en-US" dirty="0">
              <a:latin typeface="Agency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10600" cy="52625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Four Cardinal Signs of Inflammation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00000"/>
              </a:lnSpc>
              <a:buFont typeface="Wingdings" pitchFamily="2" charset="2"/>
              <a:buChar char="ü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Redness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ü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Swelling</a:t>
            </a:r>
          </a:p>
          <a:p>
            <a:pPr lvl="2">
              <a:lnSpc>
                <a:spcPct val="100000"/>
              </a:lnSpc>
              <a:buFont typeface="Wingdings" pitchFamily="2" charset="2"/>
              <a:buChar char="ü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Pain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00000"/>
              </a:lnSpc>
              <a:buFont typeface="Wingdings" pitchFamily="2" charset="2"/>
              <a:buChar char="ü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Loss of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Function</a:t>
            </a:r>
          </a:p>
          <a:p>
            <a:r>
              <a:rPr lang="en-GB" sz="2400" dirty="0"/>
              <a:t>Mediators of Inflammation: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Mast Cells Release</a:t>
            </a:r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Histamine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: Causes vasodilation and increased blood flow.</a:t>
            </a:r>
          </a:p>
          <a:p>
            <a:pPr lvl="2">
              <a:lnSpc>
                <a:spcPct val="150000"/>
              </a:lnSpc>
            </a:pPr>
            <a:r>
              <a:rPr lang="en-GB" sz="2400" b="1" dirty="0" err="1" smtClean="0">
                <a:latin typeface="Times New Roman" pitchFamily="18" charset="0"/>
                <a:cs typeface="Times New Roman" pitchFamily="18" charset="0"/>
              </a:rPr>
              <a:t>Bradykinin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: Causes vasodilation and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Sensitizes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nerve endings, leading to pain.</a:t>
            </a:r>
          </a:p>
          <a:p>
            <a:pPr>
              <a:lnSpc>
                <a:spcPct val="100000"/>
              </a:lnSpc>
              <a:buFont typeface="Wingdings" pitchFamily="2" charset="2"/>
              <a:buChar char="ü"/>
            </a:pP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2C9E2-637D-4D2D-8077-C7284030D327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562600" y="6324600"/>
            <a:ext cx="2057400" cy="365125"/>
          </a:xfrm>
        </p:spPr>
        <p:txBody>
          <a:bodyPr/>
          <a:lstStyle/>
          <a:p>
            <a:fld id="{379711D1-367F-4631-9297-BAE3D3E53BAE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0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1"/>
            <a:ext cx="8915400" cy="533399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>
                <a:solidFill>
                  <a:schemeClr val="tx1"/>
                </a:solidFill>
              </a:rPr>
              <a:t>Cont..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414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400" b="1" dirty="0" err="1">
                <a:latin typeface="Times New Roman" pitchFamily="18" charset="0"/>
                <a:cs typeface="Times New Roman" pitchFamily="18" charset="0"/>
              </a:rPr>
              <a:t>Edema</a:t>
            </a: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 in Acute Inflammation: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Mechanism: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Endothelial contraction and damage lead to “leaky” vessels.</a:t>
            </a:r>
          </a:p>
          <a:p>
            <a:pPr lvl="2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Fluid shifts from post-capillary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venules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to interstitial space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ü"/>
            </a:pP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Neurologic Injuries from Blunt Trauma: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Epidural Hematomas: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Caused by arterial rupture (commonly from the middle meningeal artery) secondary to skull fractures.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endParaRPr lang="en-GB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97EFC-A29E-4BC2-9078-481B19358E58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638800" y="6248400"/>
            <a:ext cx="2057400" cy="365125"/>
          </a:xfrm>
        </p:spPr>
        <p:txBody>
          <a:bodyPr/>
          <a:lstStyle/>
          <a:p>
            <a:fld id="{379711D1-367F-4631-9297-BAE3D3E53BA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726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365127"/>
            <a:ext cx="9067800" cy="777874"/>
          </a:xfrm>
        </p:spPr>
        <p:txBody>
          <a:bodyPr/>
          <a:lstStyle/>
          <a:p>
            <a:pPr algn="r"/>
            <a:r>
              <a:rPr lang="en-US" dirty="0" err="1" smtClean="0">
                <a:solidFill>
                  <a:schemeClr val="tx1"/>
                </a:solidFill>
              </a:rPr>
              <a:t>Cont</a:t>
            </a:r>
            <a:r>
              <a:rPr lang="en-US" dirty="0" smtClean="0">
                <a:solidFill>
                  <a:schemeClr val="tx1"/>
                </a:solidFill>
              </a:rPr>
              <a:t>…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8991600" cy="52578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Causes of Death in Blunt Traumatic Injury</a:t>
            </a:r>
          </a:p>
          <a:p>
            <a:pPr lvl="2">
              <a:lnSpc>
                <a:spcPct val="150000"/>
              </a:lnSpc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Head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Trauma</a:t>
            </a:r>
          </a:p>
          <a:p>
            <a:pPr lvl="2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Severe Loss of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Blood.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Common Causes of Blunt Trauma</a:t>
            </a: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en-GB" sz="2400" b="1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Motor Vehicle Crashes (MVC)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   Pedestrian vs. Vehicle Accidents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   Falls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068977-99E8-4C5E-BD7D-E3E391926A40}" type="datetime1">
              <a:rPr lang="en-US" smtClean="0"/>
              <a:t>10/24/2024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867400" y="6324600"/>
            <a:ext cx="2057400" cy="365125"/>
          </a:xfrm>
        </p:spPr>
        <p:txBody>
          <a:bodyPr/>
          <a:lstStyle/>
          <a:p>
            <a:fld id="{379711D1-367F-4631-9297-BAE3D3E53BAE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228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6"/>
            <a:ext cx="8763000" cy="777874"/>
          </a:xfrm>
        </p:spPr>
        <p:txBody>
          <a:bodyPr>
            <a:normAutofit/>
          </a:bodyPr>
          <a:lstStyle/>
          <a:p>
            <a:pPr algn="r"/>
            <a:r>
              <a:rPr lang="en-US" dirty="0" err="1" smtClean="0">
                <a:latin typeface="Agency FB" pitchFamily="34" charset="0"/>
              </a:rPr>
              <a:t>Cont</a:t>
            </a:r>
            <a:r>
              <a:rPr lang="en-US" dirty="0" smtClean="0">
                <a:latin typeface="Agency FB" pitchFamily="34" charset="0"/>
              </a:rPr>
              <a:t>…</a:t>
            </a:r>
            <a:endParaRPr lang="en-US" dirty="0">
              <a:latin typeface="Agency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362950" cy="503396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3600" b="1" dirty="0" smtClean="0">
                <a:latin typeface="Times" pitchFamily="18" charset="0"/>
                <a:cs typeface="Times" pitchFamily="18" charset="0"/>
              </a:rPr>
              <a:t>1. Falls</a:t>
            </a:r>
          </a:p>
          <a:p>
            <a:pPr lvl="1">
              <a:lnSpc>
                <a:spcPct val="150000"/>
              </a:lnSpc>
            </a:pPr>
            <a:r>
              <a:rPr lang="en-US" sz="2600" dirty="0" smtClean="0">
                <a:latin typeface="Times" pitchFamily="18" charset="0"/>
                <a:cs typeface="Times" pitchFamily="18" charset="0"/>
              </a:rPr>
              <a:t>Most common cause of non-fatal injuries</a:t>
            </a:r>
          </a:p>
          <a:p>
            <a:pPr lvl="1">
              <a:lnSpc>
                <a:spcPct val="150000"/>
              </a:lnSpc>
            </a:pPr>
            <a:r>
              <a:rPr lang="en-US" sz="2600" dirty="0" smtClean="0">
                <a:latin typeface="Times" pitchFamily="18" charset="0"/>
                <a:cs typeface="Times" pitchFamily="18" charset="0"/>
              </a:rPr>
              <a:t>Falls from height, such as a ladder or a scaffold are more common in the working age group</a:t>
            </a:r>
          </a:p>
          <a:p>
            <a:pPr lvl="1">
              <a:lnSpc>
                <a:spcPct val="150000"/>
              </a:lnSpc>
            </a:pPr>
            <a:r>
              <a:rPr lang="en-US" sz="2600" dirty="0" smtClean="0">
                <a:latin typeface="Times" pitchFamily="18" charset="0"/>
                <a:cs typeface="Times" pitchFamily="18" charset="0"/>
              </a:rPr>
              <a:t>In elderly population, falls are much more common and much more likely to be lethal</a:t>
            </a:r>
            <a:endParaRPr lang="en-US" sz="2600" dirty="0">
              <a:latin typeface="Times" pitchFamily="18" charset="0"/>
              <a:cs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7186B-0351-4FF8-9B60-2F95FC868D2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867400" y="6324600"/>
            <a:ext cx="2057400" cy="365125"/>
          </a:xfrm>
        </p:spPr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350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52401"/>
            <a:ext cx="8763000" cy="5334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09600"/>
            <a:ext cx="8534400" cy="548640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latin typeface="Times" pitchFamily="18" charset="0"/>
                <a:cs typeface="Times" pitchFamily="18" charset="0"/>
              </a:rPr>
              <a:t>Characteristics of the </a:t>
            </a:r>
            <a:r>
              <a:rPr lang="en-US" sz="2600" dirty="0" smtClean="0">
                <a:latin typeface="Times" pitchFamily="18" charset="0"/>
                <a:cs typeface="Times" pitchFamily="18" charset="0"/>
              </a:rPr>
              <a:t>contact surface</a:t>
            </a:r>
            <a:r>
              <a:rPr lang="en-US" sz="2600" dirty="0">
                <a:latin typeface="Times" pitchFamily="18" charset="0"/>
                <a:cs typeface="Times" pitchFamily="18" charset="0"/>
              </a:rPr>
              <a:t>, position of the person upon landing, and change in velocity determine </a:t>
            </a:r>
            <a:r>
              <a:rPr lang="en-US" sz="2600" dirty="0" smtClean="0">
                <a:latin typeface="Times" pitchFamily="18" charset="0"/>
                <a:cs typeface="Times" pitchFamily="18" charset="0"/>
              </a:rPr>
              <a:t>injury severity</a:t>
            </a:r>
            <a:r>
              <a:rPr lang="en-US" dirty="0">
                <a:latin typeface="Times" pitchFamily="18" charset="0"/>
                <a:cs typeface="Times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Times" pitchFamily="18" charset="0"/>
                <a:cs typeface="Times" pitchFamily="18" charset="0"/>
              </a:rPr>
              <a:t> </a:t>
            </a:r>
            <a:r>
              <a:rPr lang="en-US" sz="2600" b="1" dirty="0">
                <a:latin typeface="Times" pitchFamily="18" charset="0"/>
                <a:cs typeface="Times" pitchFamily="18" charset="0"/>
              </a:rPr>
              <a:t>Landing on feet</a:t>
            </a:r>
            <a:r>
              <a:rPr lang="en-US" sz="2600" dirty="0">
                <a:latin typeface="Times" pitchFamily="18" charset="0"/>
                <a:cs typeface="Times" pitchFamily="18" charset="0"/>
              </a:rPr>
              <a:t>: full force is transmitted up the axial skeleton with injuries to </a:t>
            </a:r>
            <a:r>
              <a:rPr lang="en-US" sz="2600" dirty="0" smtClean="0">
                <a:latin typeface="Times" pitchFamily="18" charset="0"/>
                <a:cs typeface="Times" pitchFamily="18" charset="0"/>
              </a:rPr>
              <a:t>the calcaneus</a:t>
            </a:r>
            <a:r>
              <a:rPr lang="en-US" sz="2600" dirty="0">
                <a:latin typeface="Times" pitchFamily="18" charset="0"/>
                <a:cs typeface="Times" pitchFamily="18" charset="0"/>
              </a:rPr>
              <a:t>, tibia, femoral neck, and spine. Intra-abdominal organs may be avulsed </a:t>
            </a:r>
            <a:r>
              <a:rPr lang="en-US" sz="2600" dirty="0" smtClean="0">
                <a:latin typeface="Times" pitchFamily="18" charset="0"/>
                <a:cs typeface="Times" pitchFamily="18" charset="0"/>
              </a:rPr>
              <a:t>off their </a:t>
            </a:r>
            <a:r>
              <a:rPr lang="en-US" sz="2600" dirty="0">
                <a:latin typeface="Times" pitchFamily="18" charset="0"/>
                <a:cs typeface="Times" pitchFamily="18" charset="0"/>
              </a:rPr>
              <a:t>mesenteries or peritoneal attachments.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Times" pitchFamily="18" charset="0"/>
                <a:cs typeface="Times" pitchFamily="18" charset="0"/>
              </a:rPr>
              <a:t> </a:t>
            </a:r>
            <a:r>
              <a:rPr lang="en-US" sz="2600" b="1" dirty="0">
                <a:latin typeface="Times" pitchFamily="18" charset="0"/>
                <a:cs typeface="Times" pitchFamily="18" charset="0"/>
              </a:rPr>
              <a:t>Landing on back</a:t>
            </a:r>
            <a:r>
              <a:rPr lang="en-US" sz="2600" dirty="0">
                <a:latin typeface="Times" pitchFamily="18" charset="0"/>
                <a:cs typeface="Times" pitchFamily="18" charset="0"/>
              </a:rPr>
              <a:t>: energy is transferred over a larger area.</a:t>
            </a:r>
          </a:p>
          <a:p>
            <a:pPr lvl="1">
              <a:lnSpc>
                <a:spcPct val="150000"/>
              </a:lnSpc>
            </a:pPr>
            <a:r>
              <a:rPr lang="en-US" sz="2600" dirty="0">
                <a:latin typeface="Times" pitchFamily="18" charset="0"/>
                <a:cs typeface="Times" pitchFamily="18" charset="0"/>
              </a:rPr>
              <a:t> </a:t>
            </a:r>
            <a:r>
              <a:rPr lang="en-US" sz="2600" b="1" dirty="0">
                <a:latin typeface="Times" pitchFamily="18" charset="0"/>
                <a:cs typeface="Times" pitchFamily="18" charset="0"/>
              </a:rPr>
              <a:t>Landing on head</a:t>
            </a:r>
            <a:r>
              <a:rPr lang="en-US" sz="2600" dirty="0">
                <a:latin typeface="Times" pitchFamily="18" charset="0"/>
                <a:cs typeface="Times" pitchFamily="18" charset="0"/>
              </a:rPr>
              <a:t>: severe head injury and cervical spine fractures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7A547-32CE-4A9A-9A89-0D240D15860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562600" y="6248400"/>
            <a:ext cx="2057400" cy="365125"/>
          </a:xfrm>
        </p:spPr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46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79248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B7E81-DFEE-46DD-AB04-0FFBF1CEB6A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867400" y="6400800"/>
            <a:ext cx="2057400" cy="365125"/>
          </a:xfrm>
        </p:spPr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060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65127"/>
            <a:ext cx="8362950" cy="244474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90600"/>
            <a:ext cx="8362950" cy="5186363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2. Transportation-related Injuries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Motor vehicle collisions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(MVCs) are the leading cause of death due to injury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Injuries may occur from frontal or rear impact, from lateral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rotational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impact, and due to restraint devices.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Each of these impacts is associated with characteristic patterns of injury.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8A92D-BA75-473E-BE0B-57884425F1E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638800" y="6324600"/>
            <a:ext cx="2057400" cy="365125"/>
          </a:xfrm>
        </p:spPr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29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65127"/>
            <a:ext cx="8362950" cy="473074"/>
          </a:xfrm>
        </p:spPr>
        <p:txBody>
          <a:bodyPr>
            <a:normAutofit fontScale="90000"/>
          </a:bodyPr>
          <a:lstStyle/>
          <a:p>
            <a:r>
              <a:rPr lang="en-GB" sz="4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Mechanisms of Injury:</a:t>
            </a:r>
            <a:r>
              <a:rPr lang="en-GB" sz="4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GB" sz="4400" dirty="0">
                <a:latin typeface="Times New Roman" pitchFamily="18" charset="0"/>
                <a:cs typeface="Times New Roman" pitchFamily="18" charset="0"/>
              </a:rPr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562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70000"/>
              </a:lnSpc>
            </a:pP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Frontal 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Impact: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7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Common Injuries: Head, chest, and lower extremity injuries.</a:t>
            </a:r>
          </a:p>
          <a:p>
            <a:pPr lvl="1">
              <a:lnSpc>
                <a:spcPct val="17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Typical patterns include whiplash and dashboard injuries.</a:t>
            </a:r>
          </a:p>
          <a:p>
            <a:pPr>
              <a:lnSpc>
                <a:spcPct val="170000"/>
              </a:lnSpc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Rear Impact: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70000"/>
              </a:lnSpc>
            </a:pPr>
            <a:r>
              <a:rPr lang="en-GB" sz="2200" dirty="0">
                <a:latin typeface="Times New Roman" pitchFamily="18" charset="0"/>
                <a:cs typeface="Times New Roman" pitchFamily="18" charset="0"/>
              </a:rPr>
              <a:t>Common Injuries: Neck injuries (whiplash), back injuries.</a:t>
            </a:r>
            <a:endParaRPr lang="en-GB" sz="1700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70000"/>
              </a:lnSpc>
            </a:pPr>
            <a:r>
              <a:rPr lang="en-GB" sz="2200" dirty="0">
                <a:latin typeface="Times New Roman" pitchFamily="18" charset="0"/>
                <a:cs typeface="Times New Roman" pitchFamily="18" charset="0"/>
              </a:rPr>
              <a:t>Less severe compared to frontal impacts.</a:t>
            </a:r>
            <a:endParaRPr lang="en-GB" sz="17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70000"/>
              </a:lnSpc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Lateral (Side) Impact: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7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Common Injuries: Thoracic injuries, abdominal injuries.</a:t>
            </a:r>
            <a:endParaRPr lang="en-GB" sz="1600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7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Higher risk for occupant on the side of impact</a:t>
            </a: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GB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6A955-C947-48A3-BFF5-02E670E60E7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74575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1"/>
            <a:ext cx="8362950" cy="457200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r>
              <a:rPr lang="en-GB" dirty="0" smtClean="0"/>
              <a:t>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90600"/>
            <a:ext cx="8610600" cy="5186363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Rotational Impact: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7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Common Injuries: Complex patterns affecting multiple body areas.</a:t>
            </a:r>
          </a:p>
          <a:p>
            <a:pPr lvl="2">
              <a:lnSpc>
                <a:spcPct val="17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May result in significant torso and head trauma.</a:t>
            </a:r>
          </a:p>
          <a:p>
            <a:pPr>
              <a:lnSpc>
                <a:spcPct val="17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Restraint Devices: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7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Injuries related to seat belts and airbags.</a:t>
            </a:r>
          </a:p>
          <a:p>
            <a:pPr lvl="2">
              <a:lnSpc>
                <a:spcPct val="17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Potential for internal injuries or fractures due to restraint forces.</a:t>
            </a:r>
          </a:p>
          <a:p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endParaRPr lang="en-GB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6A955-C947-48A3-BFF5-02E670E60E7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41742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7"/>
            <a:ext cx="8286750" cy="473074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/>
              <a:t>Cont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10600" cy="57150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Pedestrian injuries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Injuries sustained by individuals on foot due to accidents involving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Motor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vehiclesBicyclesOther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forms of transport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" pitchFamily="18" charset="0"/>
                <a:cs typeface="Times" pitchFamily="18" charset="0"/>
              </a:rPr>
              <a:t>Significance of Pedestrian Trauma</a:t>
            </a:r>
            <a:r>
              <a:rPr lang="en-US" sz="2400" dirty="0" smtClean="0">
                <a:latin typeface="Times" pitchFamily="18" charset="0"/>
                <a:cs typeface="Times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dirty="0" smtClean="0">
                <a:latin typeface="Times" pitchFamily="18" charset="0"/>
                <a:cs typeface="Times" pitchFamily="18" charset="0"/>
              </a:rPr>
              <a:t>High </a:t>
            </a:r>
            <a:r>
              <a:rPr lang="en-US" dirty="0">
                <a:latin typeface="Times" pitchFamily="18" charset="0"/>
                <a:cs typeface="Times" pitchFamily="18" charset="0"/>
              </a:rPr>
              <a:t>Mortality and Morbidity Rates:</a:t>
            </a:r>
          </a:p>
          <a:p>
            <a:pPr marL="742950" lvl="1" indent="-285750">
              <a:lnSpc>
                <a:spcPct val="150000"/>
              </a:lnSpc>
            </a:pPr>
            <a:r>
              <a:rPr lang="en-US" dirty="0">
                <a:latin typeface="Times" pitchFamily="18" charset="0"/>
                <a:cs typeface="Times" pitchFamily="18" charset="0"/>
              </a:rPr>
              <a:t>Especially critical when involving </a:t>
            </a:r>
            <a:r>
              <a:rPr lang="en-US" b="1" dirty="0">
                <a:latin typeface="Times" pitchFamily="18" charset="0"/>
                <a:cs typeface="Times" pitchFamily="18" charset="0"/>
              </a:rPr>
              <a:t>high-speed vehicles</a:t>
            </a:r>
            <a:r>
              <a:rPr lang="en-US" dirty="0">
                <a:latin typeface="Times" pitchFamily="18" charset="0"/>
                <a:cs typeface="Times" pitchFamily="18" charset="0"/>
              </a:rPr>
              <a:t>.</a:t>
            </a:r>
          </a:p>
          <a:p>
            <a:pPr marL="742950" lvl="1" indent="-285750">
              <a:lnSpc>
                <a:spcPct val="150000"/>
              </a:lnSpc>
            </a:pPr>
            <a:r>
              <a:rPr lang="en-US" dirty="0">
                <a:latin typeface="Times" pitchFamily="18" charset="0"/>
                <a:cs typeface="Times" pitchFamily="18" charset="0"/>
              </a:rPr>
              <a:t>Pedestrians are highly vulnerable due to the lack of </a:t>
            </a:r>
            <a:r>
              <a:rPr lang="en-US" b="1" dirty="0">
                <a:latin typeface="Times" pitchFamily="18" charset="0"/>
                <a:cs typeface="Times" pitchFamily="18" charset="0"/>
              </a:rPr>
              <a:t>physical protection</a:t>
            </a:r>
            <a:r>
              <a:rPr lang="en-US" dirty="0">
                <a:latin typeface="Times" pitchFamily="18" charset="0"/>
                <a:cs typeface="Times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0988DA-94D6-4E73-AFE4-572B4C0114E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638800" y="6400800"/>
            <a:ext cx="2057400" cy="365125"/>
          </a:xfrm>
        </p:spPr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235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0"/>
            <a:ext cx="8362950" cy="1066801"/>
          </a:xfrm>
        </p:spPr>
        <p:txBody>
          <a:bodyPr>
            <a:normAutofit/>
          </a:bodyPr>
          <a:lstStyle/>
          <a:p>
            <a:pPr algn="r"/>
            <a:r>
              <a:rPr lang="en-US" dirty="0" err="1" smtClean="0"/>
              <a:t>cont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10600" cy="53387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Vulnerable Populations:</a:t>
            </a:r>
          </a:p>
          <a:p>
            <a:pPr lvl="2">
              <a:lnSpc>
                <a:spcPct val="150000"/>
              </a:lnSpc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Children, Elderly, and Intoxicated Persons</a:t>
            </a:r>
          </a:p>
          <a:p>
            <a:pPr>
              <a:lnSpc>
                <a:spcPct val="150000"/>
              </a:lnSpc>
            </a:pP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Injury </a:t>
            </a: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Patterns Based on Vehicle Impact: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Bumper Impact: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refers to the injuries sustained when a pedestrian is struck by the front bumper of a vehicle during a collision</a:t>
            </a:r>
            <a:endParaRPr lang="en-GB" b="1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Common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Injuries: Tibia-fibula fractures, Knee dislocations and Pelvic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injuries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6A955-C947-48A3-BFF5-02E670E60E7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6939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7"/>
            <a:ext cx="8515350" cy="473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763000" cy="5338763"/>
          </a:xfrm>
        </p:spPr>
        <p:txBody>
          <a:bodyPr>
            <a:noAutofit/>
          </a:bodyPr>
          <a:lstStyle/>
          <a:p>
            <a:pPr lvl="1">
              <a:lnSpc>
                <a:spcPct val="150000"/>
              </a:lnSpc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Hood and Windshield Impact: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Common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Injuries: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Truncal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injuries (e.g., rib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fractures), Splenic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trauma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Ground Impact: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Occurs when the pedestrian slides off the vehicle.</a:t>
            </a:r>
          </a:p>
          <a:p>
            <a:pPr lvl="2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Common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Injuries: Head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and face 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injuries, Extremity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fractures</a:t>
            </a:r>
          </a:p>
          <a:p>
            <a:endParaRPr lang="en-GB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6A955-C947-48A3-BFF5-02E670E60E7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2417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7"/>
            <a:ext cx="8286750" cy="77787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gency FB" pitchFamily="34" charset="0"/>
              </a:rPr>
              <a:t>Deceleration Trauma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534400" cy="5033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Definition: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Deceleration Trauma: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Injury caused by a sudden stop in motion.</a:t>
            </a:r>
          </a:p>
          <a:p>
            <a:pPr>
              <a:lnSpc>
                <a:spcPct val="15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Mechanism of Injury: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Acceleration-Deceleration Injury to the Brain: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Occurs when the brain moves rapidly within the skull.</a:t>
            </a:r>
          </a:p>
          <a:p>
            <a:pPr lvl="2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The brain strikes one area of the skull and then rebounds, impacting the opposite side.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D95AA-0E10-4C95-8BF8-29FCD9349D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789323" y="6284913"/>
            <a:ext cx="2057400" cy="365125"/>
          </a:xfrm>
        </p:spPr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7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7"/>
            <a:ext cx="8515350" cy="4730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33876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Causes of Deceleration Trauma: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Direct Forces: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Example: Head impact with the steering wheel during a motor vehicle accident.</a:t>
            </a:r>
          </a:p>
          <a:p>
            <a:pPr lvl="1">
              <a:lnSpc>
                <a:spcPct val="150000"/>
              </a:lnSpc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Non-Contact Forces: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Example: Shaken baby syndrome, where rapid shaking causes the brain to move violently within the skull.</a:t>
            </a:r>
          </a:p>
          <a:p>
            <a:pPr>
              <a:lnSpc>
                <a:spcPct val="15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Potential Injuries: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Can lead to traumatic brain injuries, including concussions and contusions.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6A955-C947-48A3-BFF5-02E670E60E7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0459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7"/>
            <a:ext cx="8286750" cy="5492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err="1" smtClean="0"/>
              <a:t>cont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685800"/>
            <a:ext cx="8286750" cy="54911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 smtClean="0">
                <a:latin typeface="Times New Roman" pitchFamily="18" charset="0"/>
                <a:cs typeface="Times New Roman" pitchFamily="18" charset="0"/>
              </a:rPr>
              <a:t>Traumatic </a:t>
            </a: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Aortic Rupture: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A potential site for deceleration injury is the 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aorta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Most commonly occurs at the 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aortic isthmus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This area is more mobile compared to the aortic arch.</a:t>
            </a:r>
          </a:p>
          <a:p>
            <a:pPr lvl="2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The aortic arch is relatively stabilized by the brachiocephalic vessels at the thoracic inlet.</a:t>
            </a:r>
          </a:p>
          <a:p>
            <a:pPr>
              <a:lnSpc>
                <a:spcPct val="15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Implications: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Both brain and aortic injuries can lead to significant morbidity and mortality following deceleration trauma.</a:t>
            </a:r>
          </a:p>
          <a:p>
            <a:pPr>
              <a:lnSpc>
                <a:spcPct val="150000"/>
              </a:lnSpc>
            </a:pPr>
            <a:endParaRPr lang="en-GB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6A955-C947-48A3-BFF5-02E670E60E7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1488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-228599"/>
            <a:ext cx="7886700" cy="914400"/>
          </a:xfrm>
        </p:spPr>
        <p:txBody>
          <a:bodyPr/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10600" cy="5414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Neurochemical Response in Deceleration Trauma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GB" dirty="0">
                <a:latin typeface="Times New Roman" pitchFamily="18" charset="0"/>
                <a:ea typeface="Times New Roman"/>
                <a:cs typeface="Times New Roman" pitchFamily="18" charset="0"/>
              </a:rPr>
              <a:t>After a deceleration injury, the brain undergoes rapid movement within the skull, leading to damage to brain cells and neural </a:t>
            </a:r>
            <a:r>
              <a:rPr lang="en-GB" dirty="0" smtClean="0">
                <a:latin typeface="Times New Roman" pitchFamily="18" charset="0"/>
                <a:ea typeface="Times New Roman"/>
                <a:cs typeface="Times New Roman" pitchFamily="18" charset="0"/>
              </a:rPr>
              <a:t>pathways</a:t>
            </a:r>
          </a:p>
          <a:p>
            <a:pPr lvl="0">
              <a:lnSpc>
                <a:spcPct val="15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Neurochemical Cascade: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In response to the injury, the body activates a series of biological processes.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Large amounts of neurochemicals (such as glutamate) and 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prostaglandins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are released from damaged cells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6A955-C947-48A3-BFF5-02E670E60E7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758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65127"/>
            <a:ext cx="8210550" cy="320673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686800" cy="5338763"/>
          </a:xfrm>
        </p:spPr>
        <p:txBody>
          <a:bodyPr>
            <a:noAutofit/>
          </a:bodyPr>
          <a:lstStyle/>
          <a:p>
            <a:pPr lvl="0">
              <a:lnSpc>
                <a:spcPct val="15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Effects of Neurotransmitters: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Glutamate: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excitatory neurotransmitter that, when released in excess, can lead to </a:t>
            </a:r>
            <a:r>
              <a:rPr lang="en-GB" sz="2400" dirty="0" err="1">
                <a:latin typeface="Times New Roman" pitchFamily="18" charset="0"/>
                <a:cs typeface="Times New Roman" pitchFamily="18" charset="0"/>
              </a:rPr>
              <a:t>excitotoxicity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GB" sz="2400" dirty="0" smtClean="0">
              <a:latin typeface="Times New Roman" pitchFamily="18" charset="0"/>
              <a:cs typeface="Times New Roman" pitchFamily="18" charset="0"/>
            </a:endParaRPr>
          </a:p>
          <a:p>
            <a:pPr lvl="2">
              <a:lnSpc>
                <a:spcPct val="150000"/>
              </a:lnSpc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means that neurons are overstimulated, which can cause further injury and cell death.</a:t>
            </a:r>
          </a:p>
          <a:p>
            <a:pPr>
              <a:lnSpc>
                <a:spcPct val="150000"/>
              </a:lnSpc>
            </a:pPr>
            <a:endParaRPr lang="en-GB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6A955-C947-48A3-BFF5-02E670E60E7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12993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7"/>
            <a:ext cx="8515350" cy="701674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/>
              <a:t>Cont..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143000"/>
            <a:ext cx="8686800" cy="5033963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Prostaglandins: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2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These are lipid compounds that have various roles in inflammation and pain. </a:t>
            </a:r>
          </a:p>
          <a:p>
            <a:pPr lvl="2">
              <a:lnSpc>
                <a:spcPct val="150000"/>
              </a:lnSpc>
            </a:pP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Their release can increase inflammation in the brain, leading to swelling and further neuronal damage.</a:t>
            </a:r>
          </a:p>
          <a:p>
            <a:pPr lvl="0">
              <a:lnSpc>
                <a:spcPct val="150000"/>
              </a:lnSpc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Exacerbation of Harmful Effects:</a:t>
            </a:r>
            <a:endParaRPr lang="en-GB" sz="24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The increased inflammation and </a:t>
            </a:r>
            <a:r>
              <a:rPr lang="en-GB" dirty="0" err="1">
                <a:latin typeface="Times New Roman" pitchFamily="18" charset="0"/>
                <a:cs typeface="Times New Roman" pitchFamily="18" charset="0"/>
              </a:rPr>
              <a:t>excitotoxicity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contribute to a cycle of damage.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6A955-C947-48A3-BFF5-02E670E60E7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52774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65127"/>
            <a:ext cx="8362950" cy="549274"/>
          </a:xfrm>
        </p:spPr>
        <p:txBody>
          <a:bodyPr>
            <a:normAutofit fontScale="90000"/>
          </a:bodyPr>
          <a:lstStyle/>
          <a:p>
            <a:pPr algn="r"/>
            <a:r>
              <a:rPr lang="en-GB" dirty="0" smtClean="0"/>
              <a:t>Cont..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362950" cy="5262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can lead to secondary injuries, such as:</a:t>
            </a:r>
          </a:p>
          <a:p>
            <a:pPr lvl="2">
              <a:lnSpc>
                <a:spcPct val="15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Cerebral </a:t>
            </a:r>
            <a:r>
              <a:rPr lang="en-GB" sz="2400" b="1" dirty="0" err="1">
                <a:latin typeface="Times New Roman" pitchFamily="18" charset="0"/>
                <a:cs typeface="Times New Roman" pitchFamily="18" charset="0"/>
              </a:rPr>
              <a:t>edema</a:t>
            </a: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Swelling of the brain, which can increase intracranial pressure.</a:t>
            </a:r>
          </a:p>
          <a:p>
            <a:pPr lvl="2">
              <a:lnSpc>
                <a:spcPct val="15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</a:rPr>
              <a:t>Long-term effects:</a:t>
            </a:r>
            <a:r>
              <a:rPr lang="en-GB" sz="2400" dirty="0">
                <a:latin typeface="Times New Roman" pitchFamily="18" charset="0"/>
                <a:cs typeface="Times New Roman" pitchFamily="18" charset="0"/>
              </a:rPr>
              <a:t> Potential development of chronic conditions such as post-concussion syndrome, cognitive deficits, or neurodegenerative diseases.</a:t>
            </a:r>
          </a:p>
          <a:p>
            <a:endParaRPr lang="en-GB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6A955-C947-48A3-BFF5-02E670E60E7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2658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gency FB" pitchFamily="34" charset="0"/>
              </a:rPr>
              <a:t>Tri-modal distribution of death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F6B266-0F20-4F29-A360-CE45484F3A9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791200" y="6324600"/>
            <a:ext cx="2057400" cy="365125"/>
          </a:xfrm>
        </p:spPr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00200"/>
            <a:ext cx="79248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9967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8915400" cy="914401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Agency FB" pitchFamily="34" charset="0"/>
              </a:rPr>
              <a:t>Tri-modal distribution of death</a:t>
            </a:r>
            <a:endParaRPr lang="en-US" dirty="0">
              <a:solidFill>
                <a:schemeClr val="tx1"/>
              </a:solidFill>
              <a:latin typeface="Agency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134350" cy="5334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trimodal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distribution of trauma deaths was first articulated by baker in 1980 and later detailed by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trunkey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in 1983</a:t>
            </a:r>
            <a:r>
              <a:rPr lang="en-GB" dirty="0" smtClean="0"/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GB" sz="2400" dirty="0" err="1" smtClean="0">
                <a:latin typeface="Times New Roman" pitchFamily="18" charset="0"/>
                <a:cs typeface="Times New Roman" pitchFamily="18" charset="0"/>
              </a:rPr>
              <a:t>trimodal</a:t>
            </a: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 distribution of death in trauma patients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refers to the observation that trauma-related fatalities tend to occur in three distinct peaks over time after the injury occurs.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GB" sz="2400" dirty="0" smtClean="0">
                <a:latin typeface="Times New Roman" pitchFamily="18" charset="0"/>
                <a:cs typeface="Times New Roman" pitchFamily="18" charset="0"/>
              </a:rPr>
              <a:t>It classified as : first peak, second peak and third peak of death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9F243-E338-4B47-B687-F79C7D6FB77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638800" y="6324600"/>
            <a:ext cx="2057400" cy="365125"/>
          </a:xfrm>
        </p:spPr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76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286750" cy="99060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Agency FB" pitchFamily="34" charset="0"/>
              </a:rPr>
              <a:t/>
            </a:r>
            <a:br>
              <a:rPr lang="en-US" b="1" dirty="0" smtClean="0">
                <a:solidFill>
                  <a:schemeClr val="tx1"/>
                </a:solidFill>
                <a:latin typeface="Agency FB" pitchFamily="34" charset="0"/>
              </a:rPr>
            </a:br>
            <a:r>
              <a:rPr lang="en-US" b="1" dirty="0" smtClean="0">
                <a:solidFill>
                  <a:schemeClr val="tx1"/>
                </a:solidFill>
                <a:latin typeface="Agency FB" pitchFamily="34" charset="0"/>
              </a:rPr>
              <a:t>TIMING </a:t>
            </a:r>
            <a:r>
              <a:rPr lang="en-US" b="1" dirty="0">
                <a:solidFill>
                  <a:schemeClr val="tx1"/>
                </a:solidFill>
                <a:latin typeface="Agency FB" pitchFamily="34" charset="0"/>
              </a:rPr>
              <a:t>OF DEATHS</a:t>
            </a:r>
            <a:br>
              <a:rPr lang="en-US" b="1" dirty="0">
                <a:solidFill>
                  <a:schemeClr val="tx1"/>
                </a:solidFill>
                <a:latin typeface="Agency FB" pitchFamily="34" charset="0"/>
              </a:rPr>
            </a:br>
            <a:endParaRPr lang="en-US" b="1" dirty="0">
              <a:solidFill>
                <a:schemeClr val="tx1"/>
              </a:solidFill>
              <a:latin typeface="Agency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066800"/>
            <a:ext cx="8763000" cy="5110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>
                <a:latin typeface="Times" pitchFamily="18" charset="0"/>
                <a:cs typeface="Times" pitchFamily="18" charset="0"/>
              </a:rPr>
              <a:t>The first peak (at scene</a:t>
            </a:r>
            <a:r>
              <a:rPr lang="en-US" sz="2400" b="1" dirty="0" smtClean="0">
                <a:latin typeface="Times" pitchFamily="18" charset="0"/>
                <a:cs typeface="Times" pitchFamily="18" charset="0"/>
              </a:rPr>
              <a:t>)-:</a:t>
            </a:r>
            <a:r>
              <a:rPr lang="en-US" sz="2400" dirty="0" smtClean="0">
                <a:latin typeface="Times" pitchFamily="18" charset="0"/>
                <a:cs typeface="Times" pitchFamily="18" charset="0"/>
              </a:rPr>
              <a:t>50%-60% of all deaths 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" pitchFamily="18" charset="0"/>
                <a:cs typeface="Times" pitchFamily="18" charset="0"/>
              </a:rPr>
              <a:t>Immediate death occurring </a:t>
            </a:r>
            <a:r>
              <a:rPr lang="en-US" sz="2400" b="1" dirty="0" smtClean="0">
                <a:latin typeface="Times" pitchFamily="18" charset="0"/>
                <a:cs typeface="Times" pitchFamily="18" charset="0"/>
              </a:rPr>
              <a:t>within minutes </a:t>
            </a:r>
            <a:r>
              <a:rPr lang="en-US" sz="2400" dirty="0" smtClean="0">
                <a:latin typeface="Times" pitchFamily="18" charset="0"/>
                <a:cs typeface="Times" pitchFamily="18" charset="0"/>
              </a:rPr>
              <a:t>of the injury.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" pitchFamily="18" charset="0"/>
                <a:cs typeface="Times" pitchFamily="18" charset="0"/>
              </a:rPr>
              <a:t> These patients are declared dead on the scene or die shortly after arrival to the hospital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" pitchFamily="18" charset="0"/>
                <a:cs typeface="Times" pitchFamily="18" charset="0"/>
              </a:rPr>
              <a:t>These include deaths at the scene, deaths occurring within 1 hour of arrival to the hospital, and all deaths in the emergency department.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dirty="0" smtClean="0">
                <a:latin typeface="Times" pitchFamily="18" charset="0"/>
                <a:cs typeface="Times" pitchFamily="18" charset="0"/>
              </a:rPr>
              <a:t> </a:t>
            </a:r>
            <a:r>
              <a:rPr lang="en-GB" sz="2400" b="1" dirty="0" smtClean="0">
                <a:latin typeface="Times" pitchFamily="18" charset="0"/>
                <a:ea typeface="Times New Roman"/>
                <a:cs typeface="Times" pitchFamily="18" charset="0"/>
              </a:rPr>
              <a:t>Causes</a:t>
            </a:r>
            <a:r>
              <a:rPr lang="en-GB" sz="2400" dirty="0" smtClean="0">
                <a:latin typeface="Times" pitchFamily="18" charset="0"/>
                <a:ea typeface="Times New Roman"/>
                <a:cs typeface="Times" pitchFamily="18" charset="0"/>
              </a:rPr>
              <a:t>: often due to catastrophic events such as severe brain injury, massive </a:t>
            </a:r>
            <a:r>
              <a:rPr lang="en-GB" sz="2400" dirty="0" err="1" smtClean="0">
                <a:latin typeface="Times" pitchFamily="18" charset="0"/>
                <a:ea typeface="Times New Roman"/>
                <a:cs typeface="Times" pitchFamily="18" charset="0"/>
              </a:rPr>
              <a:t>hemorrhage</a:t>
            </a:r>
            <a:r>
              <a:rPr lang="en-GB" sz="2400" dirty="0" smtClean="0">
                <a:latin typeface="Times" pitchFamily="18" charset="0"/>
                <a:ea typeface="Times New Roman"/>
                <a:cs typeface="Times" pitchFamily="18" charset="0"/>
              </a:rPr>
              <a:t>, or spinal cord injuries.</a:t>
            </a:r>
            <a:endParaRPr lang="en-GB" sz="2400" dirty="0">
              <a:effectLst/>
              <a:latin typeface="Times" pitchFamily="18" charset="0"/>
              <a:ea typeface="Calibri"/>
              <a:cs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B817A-C6EF-4BFA-9857-62B5BF18C6E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19800" y="6324600"/>
            <a:ext cx="2057400" cy="365125"/>
          </a:xfrm>
        </p:spPr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34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362950" cy="457201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 smtClean="0">
                <a:solidFill>
                  <a:schemeClr val="tx1"/>
                </a:solidFill>
                <a:latin typeface="Agency FB" pitchFamily="34" charset="0"/>
              </a:rPr>
              <a:t>Cont</a:t>
            </a:r>
            <a:r>
              <a:rPr lang="en-US" dirty="0" smtClean="0">
                <a:solidFill>
                  <a:schemeClr val="tx1"/>
                </a:solidFill>
                <a:latin typeface="Agency FB" pitchFamily="34" charset="0"/>
              </a:rPr>
              <a:t>…	</a:t>
            </a:r>
            <a:endParaRPr lang="en-US" dirty="0">
              <a:solidFill>
                <a:schemeClr val="tx1"/>
              </a:solidFill>
              <a:latin typeface="Agency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686800" cy="54911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u="sng" dirty="0" smtClean="0">
                <a:latin typeface="Times" pitchFamily="18" charset="0"/>
                <a:cs typeface="Times" pitchFamily="18" charset="0"/>
              </a:rPr>
              <a:t>Second peak: early death</a:t>
            </a:r>
            <a:r>
              <a:rPr lang="en-GB" b="1" dirty="0" smtClean="0">
                <a:latin typeface="Times" pitchFamily="18" charset="0"/>
                <a:cs typeface="Times" pitchFamily="18" charset="0"/>
              </a:rPr>
              <a:t>:- </a:t>
            </a:r>
            <a:r>
              <a:rPr lang="en-US" dirty="0" smtClean="0">
                <a:latin typeface="Times" pitchFamily="18" charset="0"/>
                <a:cs typeface="Times" pitchFamily="18" charset="0"/>
              </a:rPr>
              <a:t>25%-30% of deaths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 smtClean="0">
                <a:latin typeface="Times" pitchFamily="18" charset="0"/>
                <a:cs typeface="Times" pitchFamily="18" charset="0"/>
              </a:rPr>
              <a:t>Defined as deaths within hours of arrival to the hospital.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 smtClean="0">
                <a:latin typeface="Times" pitchFamily="18" charset="0"/>
                <a:cs typeface="Times" pitchFamily="18" charset="0"/>
              </a:rPr>
              <a:t> In most published reports, early deaths include deaths within 24 hours of arrival to a trauma center, excluding immediate deaths.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GB" b="1" dirty="0" smtClean="0">
                <a:latin typeface="Times" pitchFamily="18" charset="0"/>
                <a:cs typeface="Times" pitchFamily="18" charset="0"/>
              </a:rPr>
              <a:t>Causes</a:t>
            </a:r>
            <a:r>
              <a:rPr lang="en-GB" dirty="0" smtClean="0">
                <a:latin typeface="Times" pitchFamily="18" charset="0"/>
                <a:cs typeface="Times" pitchFamily="18" charset="0"/>
              </a:rPr>
              <a:t>: deaths in this phase are typically due to complications such as hypovolemic shock, respiratory failure, or traumatic brain injury.</a:t>
            </a:r>
            <a:endParaRPr lang="en-GB" sz="2400" dirty="0">
              <a:latin typeface="Times" pitchFamily="18" charset="0"/>
              <a:cs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F885-2FF9-4A62-A0B2-474FBCF633F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867400" y="6324600"/>
            <a:ext cx="2057400" cy="365125"/>
          </a:xfrm>
        </p:spPr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1070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362950" cy="914401"/>
          </a:xfrm>
        </p:spPr>
        <p:txBody>
          <a:bodyPr/>
          <a:lstStyle/>
          <a:p>
            <a:pPr algn="r"/>
            <a:r>
              <a:rPr lang="en-US" dirty="0" err="1" smtClean="0">
                <a:solidFill>
                  <a:schemeClr val="tx1"/>
                </a:solidFill>
                <a:latin typeface="Agency FB" pitchFamily="34" charset="0"/>
              </a:rPr>
              <a:t>Cont</a:t>
            </a:r>
            <a:r>
              <a:rPr lang="en-US" dirty="0" smtClean="0">
                <a:solidFill>
                  <a:schemeClr val="tx1"/>
                </a:solidFill>
                <a:latin typeface="Agency FB" pitchFamily="34" charset="0"/>
              </a:rPr>
              <a:t>…</a:t>
            </a:r>
            <a:endParaRPr lang="en-US" dirty="0">
              <a:solidFill>
                <a:schemeClr val="tx1"/>
              </a:solidFill>
              <a:latin typeface="Agency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458200" cy="52625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2400" b="1" u="sng" dirty="0">
                <a:latin typeface="Times" pitchFamily="18" charset="0"/>
                <a:cs typeface="Times" pitchFamily="18" charset="0"/>
              </a:rPr>
              <a:t>Third Peak: Late Death</a:t>
            </a:r>
            <a:r>
              <a:rPr lang="en-US" sz="2400" dirty="0" smtClean="0">
                <a:latin typeface="Times" pitchFamily="18" charset="0"/>
                <a:cs typeface="Times" pitchFamily="18" charset="0"/>
              </a:rPr>
              <a:t>: 9-20% of deaths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 smtClean="0">
                <a:latin typeface="Times" pitchFamily="18" charset="0"/>
                <a:cs typeface="Times" pitchFamily="18" charset="0"/>
              </a:rPr>
              <a:t>“Late deaths,” defined as those occurring days to weeks after the injury among patients who survived the initial insult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 smtClean="0">
                <a:latin typeface="Times" pitchFamily="18" charset="0"/>
                <a:cs typeface="Times" pitchFamily="18" charset="0"/>
              </a:rPr>
              <a:t>This category includes deaths occurring after the first 24 hours and all other in-hospital deaths.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GB" b="1" dirty="0" smtClean="0">
                <a:latin typeface="Times" pitchFamily="18" charset="0"/>
                <a:cs typeface="Times" pitchFamily="18" charset="0"/>
              </a:rPr>
              <a:t>Causes</a:t>
            </a:r>
            <a:r>
              <a:rPr lang="en-GB" dirty="0">
                <a:latin typeface="Times" pitchFamily="18" charset="0"/>
                <a:cs typeface="Times" pitchFamily="18" charset="0"/>
              </a:rPr>
              <a:t>: Usually associated with complications from the initial injuries, such as infections, multiple organ failure, or thromboembolic events.</a:t>
            </a:r>
            <a:endParaRPr lang="en-US" dirty="0" smtClean="0">
              <a:latin typeface="Times" pitchFamily="18" charset="0"/>
              <a:cs typeface="Times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Times" pitchFamily="18" charset="0"/>
              <a:cs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3147B-BC24-4187-BF06-6648090B705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943600" y="6324600"/>
            <a:ext cx="2057400" cy="365125"/>
          </a:xfrm>
        </p:spPr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88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7"/>
            <a:ext cx="8286750" cy="930274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tx1"/>
                </a:solidFill>
                <a:latin typeface="Agency FB" pitchFamily="34" charset="0"/>
              </a:rPr>
              <a:t>Cause of death </a:t>
            </a:r>
            <a:endParaRPr lang="en-US" b="1" dirty="0">
              <a:solidFill>
                <a:schemeClr val="tx1"/>
              </a:solidFill>
              <a:latin typeface="Agency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495776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latin typeface="Times" pitchFamily="18" charset="0"/>
                <a:cs typeface="Times" pitchFamily="18" charset="0"/>
              </a:rPr>
              <a:t>Several studies have investigated the causes of death in trauma patients</a:t>
            </a:r>
            <a:r>
              <a:rPr lang="en-US" sz="2600" dirty="0" smtClean="0">
                <a:latin typeface="Times" pitchFamily="18" charset="0"/>
                <a:cs typeface="Times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 smtClean="0">
                <a:latin typeface="Times" pitchFamily="18" charset="0"/>
                <a:cs typeface="Times" pitchFamily="18" charset="0"/>
              </a:rPr>
              <a:t> </a:t>
            </a:r>
            <a:r>
              <a:rPr lang="en-US" sz="2600" dirty="0">
                <a:latin typeface="Times" pitchFamily="18" charset="0"/>
                <a:cs typeface="Times" pitchFamily="18" charset="0"/>
              </a:rPr>
              <a:t>Baker et al found that brain injury accounted for a majority of deaths, at 50</a:t>
            </a:r>
            <a:r>
              <a:rPr lang="en-US" sz="2600" dirty="0" smtClean="0">
                <a:latin typeface="Times" pitchFamily="18" charset="0"/>
                <a:cs typeface="Times" pitchFamily="18" charset="0"/>
              </a:rPr>
              <a:t>%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latin typeface="Times" pitchFamily="18" charset="0"/>
                <a:cs typeface="Times" pitchFamily="18" charset="0"/>
              </a:rPr>
              <a:t>Heart or aortic injury (17%), hemorrhage (12%), sepsis (10%), lung injury (6%), burn (3%), and liver injury (2%) accounted for the remainder. </a:t>
            </a:r>
            <a:endParaRPr lang="en-US" sz="2600" dirty="0" smtClean="0">
              <a:latin typeface="Times" pitchFamily="18" charset="0"/>
              <a:cs typeface="Times" pitchFamily="18" charset="0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 smtClean="0">
                <a:latin typeface="Times" pitchFamily="18" charset="0"/>
                <a:cs typeface="Times" pitchFamily="18" charset="0"/>
              </a:rPr>
              <a:t>The </a:t>
            </a:r>
            <a:r>
              <a:rPr lang="en-US" sz="2600" dirty="0">
                <a:latin typeface="Times" pitchFamily="18" charset="0"/>
                <a:cs typeface="Times" pitchFamily="18" charset="0"/>
              </a:rPr>
              <a:t>majority of patients with major cardiac, vascular, or liver injury died of hemorrhage.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C7F-0A9C-47B2-A026-39C1DCDB189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943600" y="6248400"/>
            <a:ext cx="2057400" cy="365125"/>
          </a:xfrm>
        </p:spPr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282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65127"/>
            <a:ext cx="8210550" cy="854074"/>
          </a:xfrm>
        </p:spPr>
        <p:txBody>
          <a:bodyPr/>
          <a:lstStyle/>
          <a:p>
            <a:pPr algn="r"/>
            <a:r>
              <a:rPr lang="en-US" b="1" dirty="0" err="1" smtClean="0">
                <a:solidFill>
                  <a:schemeClr val="tx1"/>
                </a:solidFill>
                <a:latin typeface="Agency FB" pitchFamily="34" charset="0"/>
              </a:rPr>
              <a:t>Cont</a:t>
            </a:r>
            <a:r>
              <a:rPr lang="en-US" b="1" dirty="0" smtClean="0">
                <a:solidFill>
                  <a:schemeClr val="tx1"/>
                </a:solidFill>
                <a:latin typeface="Agency FB" pitchFamily="34" charset="0"/>
              </a:rPr>
              <a:t>….</a:t>
            </a:r>
            <a:r>
              <a:rPr lang="en-US" dirty="0" smtClean="0">
                <a:solidFill>
                  <a:schemeClr val="tx1"/>
                </a:solidFill>
              </a:rPr>
              <a:t>	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763000" cy="49577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 err="1">
                <a:latin typeface="Times" pitchFamily="18" charset="0"/>
                <a:cs typeface="Times" pitchFamily="18" charset="0"/>
              </a:rPr>
              <a:t>Shackford</a:t>
            </a:r>
            <a:r>
              <a:rPr lang="en-US" sz="2600" dirty="0">
                <a:latin typeface="Times" pitchFamily="18" charset="0"/>
                <a:cs typeface="Times" pitchFamily="18" charset="0"/>
              </a:rPr>
              <a:t> and colleagues also found that head injury was the most common cause of death, and when combined with spinal cord injury, neurologic injuries were responsible for 49% of </a:t>
            </a:r>
            <a:r>
              <a:rPr lang="en-US" sz="2600" dirty="0" smtClean="0">
                <a:latin typeface="Times" pitchFamily="18" charset="0"/>
                <a:cs typeface="Times" pitchFamily="18" charset="0"/>
              </a:rPr>
              <a:t>deaths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>
                <a:latin typeface="Times" pitchFamily="18" charset="0"/>
                <a:cs typeface="Times" pitchFamily="18" charset="0"/>
              </a:rPr>
              <a:t>On autopsy, secondary brain injury, defined as diffuse cerebral edema; herniation; or cerebral necrosis due to hypoxia, hypotension, or cerebral edema that followed the primary injury was present in just over half of </a:t>
            </a:r>
            <a:r>
              <a:rPr lang="en-US" sz="2600" dirty="0" err="1">
                <a:latin typeface="Times" pitchFamily="18" charset="0"/>
                <a:cs typeface="Times" pitchFamily="18" charset="0"/>
              </a:rPr>
              <a:t>neurotrauma</a:t>
            </a:r>
            <a:r>
              <a:rPr lang="en-US" sz="2600" dirty="0">
                <a:latin typeface="Times" pitchFamily="18" charset="0"/>
                <a:cs typeface="Times" pitchFamily="18" charset="0"/>
              </a:rPr>
              <a:t> cases</a:t>
            </a:r>
            <a:r>
              <a:rPr lang="en-US" sz="2600" dirty="0" smtClean="0">
                <a:latin typeface="Times" pitchFamily="18" charset="0"/>
                <a:cs typeface="Times" pitchFamily="18" charset="0"/>
              </a:rPr>
              <a:t>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600" dirty="0" smtClean="0">
                <a:latin typeface="Times" pitchFamily="18" charset="0"/>
                <a:cs typeface="Times" pitchFamily="18" charset="0"/>
              </a:rPr>
              <a:t>.</a:t>
            </a:r>
            <a:endParaRPr lang="en-US" sz="2600" dirty="0">
              <a:latin typeface="Times" pitchFamily="18" charset="0"/>
              <a:cs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BC522-F7AC-4FA0-8427-5D247A18CB6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019800" y="6324600"/>
            <a:ext cx="2057400" cy="349249"/>
          </a:xfrm>
        </p:spPr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563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7"/>
            <a:ext cx="8286750" cy="930274"/>
          </a:xfrm>
        </p:spPr>
        <p:txBody>
          <a:bodyPr/>
          <a:lstStyle/>
          <a:p>
            <a:pPr algn="r"/>
            <a:r>
              <a:rPr lang="en-US" b="1" dirty="0" err="1" smtClean="0">
                <a:latin typeface="Agency FB" pitchFamily="34" charset="0"/>
              </a:rPr>
              <a:t>Cont</a:t>
            </a:r>
            <a:r>
              <a:rPr lang="en-US" b="1" dirty="0" smtClean="0">
                <a:latin typeface="Agency FB" pitchFamily="34" charset="0"/>
              </a:rPr>
              <a:t>…</a:t>
            </a:r>
            <a:endParaRPr lang="en-US" b="1" dirty="0">
              <a:latin typeface="Agency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534400" cy="5110163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latin typeface="Times" pitchFamily="18" charset="0"/>
                <a:cs typeface="Times" pitchFamily="18" charset="0"/>
              </a:rPr>
              <a:t>Almost a third (31%) of victims died of hemorrhage in the chest, the abdomen, </a:t>
            </a:r>
            <a:r>
              <a:rPr lang="en-US" dirty="0" smtClean="0">
                <a:latin typeface="Times" pitchFamily="18" charset="0"/>
                <a:cs typeface="Times" pitchFamily="18" charset="0"/>
              </a:rPr>
              <a:t>or </a:t>
            </a:r>
            <a:r>
              <a:rPr lang="en-US" dirty="0">
                <a:latin typeface="Times" pitchFamily="18" charset="0"/>
                <a:cs typeface="Times" pitchFamily="18" charset="0"/>
              </a:rPr>
              <a:t>both </a:t>
            </a:r>
            <a:r>
              <a:rPr lang="en-US" dirty="0" smtClean="0">
                <a:latin typeface="Times" pitchFamily="18" charset="0"/>
                <a:cs typeface="Times" pitchFamily="18" charset="0"/>
              </a:rPr>
              <a:t>cavities.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latin typeface="Times" pitchFamily="18" charset="0"/>
                <a:cs typeface="Times" pitchFamily="18" charset="0"/>
              </a:rPr>
              <a:t>Other causes of death included asphyxia in 6%, cardiac arrest in 4%, sepsis in 3%, and pneumonia in 2%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F66BF-F29E-4AD4-BFFF-C2B4F635A4B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867400" y="6324600"/>
            <a:ext cx="2057400" cy="365125"/>
          </a:xfrm>
        </p:spPr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15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4509848"/>
              </p:ext>
            </p:extLst>
          </p:nvPr>
        </p:nvGraphicFramePr>
        <p:xfrm>
          <a:off x="304800" y="457200"/>
          <a:ext cx="8610600" cy="5486401"/>
        </p:xfrm>
        <a:graphic>
          <a:graphicData uri="http://schemas.openxmlformats.org/drawingml/2006/table">
            <a:tbl>
              <a:tblPr firstRow="1" firstCol="1" bandRow="1"/>
              <a:tblGrid>
                <a:gridCol w="2870200"/>
                <a:gridCol w="2870200"/>
                <a:gridCol w="2870200"/>
              </a:tblGrid>
              <a:tr h="1237957">
                <a:tc gridSpan="3">
                  <a:txBody>
                    <a:bodyPr/>
                    <a:lstStyle/>
                    <a:p>
                      <a:pPr marL="228600" marR="0" algn="ctr">
                        <a:lnSpc>
                          <a:spcPct val="115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en-US" sz="3200" b="1" dirty="0">
                          <a:solidFill>
                            <a:srgbClr val="000000"/>
                          </a:solidFill>
                          <a:effectLst/>
                          <a:latin typeface="Agency FB" pitchFamily="34" charset="0"/>
                          <a:ea typeface="Calibri"/>
                          <a:cs typeface="Times New Roman"/>
                        </a:rPr>
                        <a:t>Causes of death by timing category</a:t>
                      </a:r>
                      <a:endParaRPr lang="en-US" sz="2400" b="1" dirty="0">
                        <a:effectLst/>
                        <a:latin typeface="Agency FB" pitchFamily="34" charset="0"/>
                        <a:ea typeface="Calibri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dirty="0">
                          <a:solidFill>
                            <a:srgbClr val="000000"/>
                          </a:solidFill>
                          <a:effectLst/>
                          <a:latin typeface="Agency FB" pitchFamily="34" charset="0"/>
                          <a:ea typeface="Calibri"/>
                          <a:cs typeface="Times New Roman"/>
                        </a:rPr>
                        <a:t> </a:t>
                      </a:r>
                      <a:endParaRPr lang="en-US" sz="2400" dirty="0">
                        <a:effectLst/>
                        <a:latin typeface="Agency FB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0832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rgbClr val="000000"/>
                          </a:solidFill>
                          <a:effectLst/>
                          <a:latin typeface="Agency FB" pitchFamily="34" charset="0"/>
                          <a:ea typeface="Times New Roman"/>
                          <a:cs typeface="Times New Roman"/>
                        </a:rPr>
                        <a:t>Immediate and early deaths</a:t>
                      </a:r>
                      <a:endParaRPr lang="en-US" sz="2400">
                        <a:effectLst/>
                        <a:latin typeface="Agency FB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rgbClr val="000000"/>
                          </a:solidFill>
                          <a:effectLst/>
                          <a:latin typeface="Agency FB" pitchFamily="34" charset="0"/>
                          <a:ea typeface="Times New Roman"/>
                          <a:cs typeface="Times New Roman"/>
                        </a:rPr>
                        <a:t>Late deaths</a:t>
                      </a:r>
                      <a:endParaRPr lang="en-US" sz="2400" dirty="0">
                        <a:effectLst/>
                        <a:latin typeface="Agency FB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</a:pPr>
                      <a:r>
                        <a:rPr lang="en-US" sz="2800" b="1">
                          <a:solidFill>
                            <a:srgbClr val="000000"/>
                          </a:solidFill>
                          <a:effectLst/>
                          <a:latin typeface="Agency FB" pitchFamily="34" charset="0"/>
                          <a:ea typeface="Times New Roman"/>
                          <a:cs typeface="Times New Roman"/>
                        </a:rPr>
                        <a:t>Post discharge</a:t>
                      </a:r>
                      <a:endParaRPr lang="en-US" sz="2400">
                        <a:effectLst/>
                        <a:latin typeface="Agency FB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</a:tr>
              <a:tr h="7913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Agency FB" pitchFamily="34" charset="0"/>
                          <a:ea typeface="Times New Roman"/>
                          <a:cs typeface="Times New Roman"/>
                        </a:rPr>
                        <a:t>Brain injury</a:t>
                      </a:r>
                      <a:endParaRPr lang="en-US" sz="2400">
                        <a:effectLst/>
                        <a:latin typeface="Agency FB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Agency FB" pitchFamily="34" charset="0"/>
                          <a:ea typeface="Times New Roman"/>
                          <a:cs typeface="Times New Roman"/>
                        </a:rPr>
                        <a:t>Infection</a:t>
                      </a:r>
                      <a:endParaRPr lang="en-US" sz="2400">
                        <a:effectLst/>
                        <a:latin typeface="Agency FB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Agency FB" pitchFamily="34" charset="0"/>
                          <a:ea typeface="Times New Roman"/>
                          <a:cs typeface="Times New Roman"/>
                        </a:rPr>
                        <a:t>Cardiovascular disease</a:t>
                      </a:r>
                      <a:endParaRPr lang="en-US" sz="2400">
                        <a:effectLst/>
                        <a:latin typeface="Agency FB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7913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Agency FB" pitchFamily="34" charset="0"/>
                          <a:ea typeface="Times New Roman"/>
                          <a:cs typeface="Times New Roman"/>
                        </a:rPr>
                        <a:t>Hemorrhage</a:t>
                      </a:r>
                      <a:endParaRPr lang="en-US" sz="2400">
                        <a:effectLst/>
                        <a:latin typeface="Agency FB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Agency FB" pitchFamily="34" charset="0"/>
                          <a:ea typeface="Times New Roman"/>
                          <a:cs typeface="Times New Roman"/>
                        </a:rPr>
                        <a:t>Multiple-organ failure</a:t>
                      </a:r>
                      <a:endParaRPr lang="en-US" sz="2400">
                        <a:effectLst/>
                        <a:latin typeface="Agency FB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Agency FB" pitchFamily="34" charset="0"/>
                          <a:ea typeface="Times New Roman"/>
                          <a:cs typeface="Times New Roman"/>
                        </a:rPr>
                        <a:t>Second major trauma</a:t>
                      </a:r>
                      <a:endParaRPr lang="en-US" sz="2400">
                        <a:effectLst/>
                        <a:latin typeface="Agency FB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13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Agency FB" pitchFamily="34" charset="0"/>
                          <a:ea typeface="Times New Roman"/>
                          <a:cs typeface="Times New Roman"/>
                        </a:rPr>
                        <a:t> </a:t>
                      </a:r>
                      <a:endParaRPr lang="en-US" sz="2400">
                        <a:effectLst/>
                        <a:latin typeface="Agency FB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Agency FB" pitchFamily="34" charset="0"/>
                          <a:ea typeface="Times New Roman"/>
                          <a:cs typeface="Times New Roman"/>
                        </a:rPr>
                        <a:t>Brain injury</a:t>
                      </a:r>
                      <a:endParaRPr lang="en-US" sz="2400" dirty="0">
                        <a:effectLst/>
                        <a:latin typeface="Agency FB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Agency FB" pitchFamily="34" charset="0"/>
                          <a:ea typeface="Times New Roman"/>
                          <a:cs typeface="Times New Roman"/>
                        </a:rPr>
                        <a:t>Neurologic disease</a:t>
                      </a:r>
                      <a:endParaRPr lang="en-US" sz="2400">
                        <a:effectLst/>
                        <a:latin typeface="Agency FB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13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Agency FB" pitchFamily="34" charset="0"/>
                          <a:ea typeface="Times New Roman"/>
                          <a:cs typeface="Times New Roman"/>
                        </a:rPr>
                        <a:t> </a:t>
                      </a:r>
                      <a:endParaRPr lang="en-US" sz="2400">
                        <a:effectLst/>
                        <a:latin typeface="Agency FB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solidFill>
                            <a:srgbClr val="000000"/>
                          </a:solidFill>
                          <a:effectLst/>
                          <a:latin typeface="Agency FB" pitchFamily="34" charset="0"/>
                          <a:ea typeface="Times New Roman"/>
                          <a:cs typeface="Times New Roman"/>
                        </a:rPr>
                        <a:t>Hemorrhage</a:t>
                      </a:r>
                      <a:endParaRPr lang="en-US" sz="2400">
                        <a:effectLst/>
                        <a:latin typeface="Agency FB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000000"/>
                          </a:solidFill>
                          <a:effectLst/>
                          <a:latin typeface="Agency FB" pitchFamily="34" charset="0"/>
                          <a:ea typeface="Times New Roman"/>
                          <a:cs typeface="Times New Roman"/>
                        </a:rPr>
                        <a:t>Malignancy</a:t>
                      </a:r>
                      <a:endParaRPr lang="en-US" sz="2400" dirty="0">
                        <a:effectLst/>
                        <a:latin typeface="Agency FB" pitchFamily="34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AF88F-0950-4437-8474-2DA93DAB4FD0}" type="datetime1">
              <a:rPr lang="en-US" smtClean="0"/>
              <a:t>10/24/2024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943600" y="6324600"/>
            <a:ext cx="2057400" cy="365125"/>
          </a:xfrm>
        </p:spPr>
        <p:txBody>
          <a:bodyPr/>
          <a:lstStyle/>
          <a:p>
            <a:fld id="{0155E850-2565-41D1-A738-CF84E1D846E5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114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7981950" cy="701674"/>
          </a:xfrm>
        </p:spPr>
        <p:txBody>
          <a:bodyPr>
            <a:normAutofit fontScale="90000"/>
          </a:bodyPr>
          <a:lstStyle/>
          <a:p>
            <a:r>
              <a:rPr lang="en-GB" b="1" dirty="0" smtClean="0">
                <a:solidFill>
                  <a:schemeClr val="tx1"/>
                </a:solidFill>
              </a:rPr>
              <a:t/>
            </a:r>
            <a:br>
              <a:rPr lang="en-GB" b="1" dirty="0" smtClean="0">
                <a:solidFill>
                  <a:schemeClr val="tx1"/>
                </a:solidFill>
              </a:rPr>
            </a:br>
            <a:r>
              <a:rPr lang="en-GB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Implications </a:t>
            </a:r>
            <a:r>
              <a:rPr lang="en-GB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 Trauma Care</a:t>
            </a:r>
            <a:r>
              <a:rPr lang="en-GB" b="1" dirty="0"/>
              <a:t/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058150" cy="518636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GB" b="1" dirty="0" smtClean="0">
                <a:latin typeface="Times New Roman" pitchFamily="18" charset="0"/>
                <a:cs typeface="Times New Roman" pitchFamily="18" charset="0"/>
              </a:rPr>
              <a:t>Preventive 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Strategies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: </a:t>
            </a: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Understanding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this distribution helps prioritize trauma care resources. Immediate resuscitation and stabilization are crucial to reduce deaths in the first two peaks.</a:t>
            </a:r>
          </a:p>
          <a:p>
            <a:pPr>
              <a:lnSpc>
                <a:spcPct val="150000"/>
              </a:lnSpc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Education and Training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: </a:t>
            </a: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Trauma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teams are trained to identify and address life-threatening conditions rapidly, particularly within the first hour after injury.</a:t>
            </a:r>
          </a:p>
          <a:p>
            <a:pPr>
              <a:lnSpc>
                <a:spcPct val="150000"/>
              </a:lnSpc>
            </a:pPr>
            <a:r>
              <a:rPr lang="en-GB" b="1" dirty="0">
                <a:latin typeface="Times New Roman" pitchFamily="18" charset="0"/>
                <a:cs typeface="Times New Roman" pitchFamily="18" charset="0"/>
              </a:rPr>
              <a:t>Quality Improvement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: </a:t>
            </a:r>
            <a:endParaRPr lang="en-GB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Tracking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outcomes in these time frames can help hospitals improve trauma protocols and response times.</a:t>
            </a:r>
          </a:p>
          <a:p>
            <a:pPr>
              <a:lnSpc>
                <a:spcPct val="150000"/>
              </a:lnSpc>
            </a:pP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6A955-C947-48A3-BFF5-02E670E60E7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78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gency FB" pitchFamily="34" charset="0"/>
              </a:rPr>
              <a:t>References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134350" cy="4729163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" pitchFamily="18" charset="0"/>
                <a:cs typeface="Times" pitchFamily="18" charset="0"/>
              </a:rPr>
              <a:t>Harold Ellis: Anatomy for </a:t>
            </a:r>
            <a:r>
              <a:rPr lang="en-US" dirty="0" err="1">
                <a:latin typeface="Times" pitchFamily="18" charset="0"/>
                <a:cs typeface="Times" pitchFamily="18" charset="0"/>
              </a:rPr>
              <a:t>Anaesthetists</a:t>
            </a:r>
            <a:r>
              <a:rPr lang="en-US" dirty="0">
                <a:latin typeface="Times" pitchFamily="18" charset="0"/>
                <a:cs typeface="Times" pitchFamily="18" charset="0"/>
              </a:rPr>
              <a:t> (8th edition). Blackwell Science Ltd, 2004.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" pitchFamily="18" charset="0"/>
                <a:cs typeface="Times" pitchFamily="18" charset="0"/>
              </a:rPr>
              <a:t>Paul G </a:t>
            </a:r>
            <a:r>
              <a:rPr lang="en-US" dirty="0" err="1">
                <a:latin typeface="Times" pitchFamily="18" charset="0"/>
                <a:cs typeface="Times" pitchFamily="18" charset="0"/>
              </a:rPr>
              <a:t>Barash</a:t>
            </a:r>
            <a:r>
              <a:rPr lang="en-US" dirty="0">
                <a:latin typeface="Times" pitchFamily="18" charset="0"/>
                <a:cs typeface="Times" pitchFamily="18" charset="0"/>
              </a:rPr>
              <a:t>: Handbook of Clinical Anesthesia (8th edition). Lippincott Williams &amp; Wilkins publications, Inc., 2016.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latin typeface="Times" pitchFamily="18" charset="0"/>
                <a:cs typeface="Times" pitchFamily="18" charset="0"/>
              </a:rPr>
              <a:t>Ronald D. Miller: Millers Anesthesia (9th edition). Churchill Livingstone publication, An 157 Imprint of Elsevier, 2009.158</a:t>
            </a:r>
          </a:p>
          <a:p>
            <a:pPr>
              <a:lnSpc>
                <a:spcPct val="150000"/>
              </a:lnSpc>
            </a:pPr>
            <a:endParaRPr lang="en-US" dirty="0">
              <a:latin typeface="Times" pitchFamily="18" charset="0"/>
              <a:cs typeface="Times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F26B6-F03E-4659-AF46-754F611527A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10/24/2024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959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667000"/>
            <a:ext cx="7886700" cy="28956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4400" b="1" dirty="0" smtClean="0">
              <a:latin typeface="Agency FB" pitchFamily="34" charset="0"/>
            </a:endParaRPr>
          </a:p>
          <a:p>
            <a:pPr marL="0" indent="0" algn="ctr">
              <a:buNone/>
            </a:pPr>
            <a:r>
              <a:rPr lang="en-US" sz="4400" b="1" dirty="0" smtClean="0">
                <a:latin typeface="Agency FB" pitchFamily="34" charset="0"/>
              </a:rPr>
              <a:t>Any question?????</a:t>
            </a:r>
          </a:p>
          <a:p>
            <a:pPr marL="0" indent="0" algn="ctr">
              <a:buNone/>
            </a:pPr>
            <a:r>
              <a:rPr lang="en-US" sz="4400" b="1" dirty="0" smtClean="0">
                <a:latin typeface="Agency FB" pitchFamily="34" charset="0"/>
              </a:rPr>
              <a:t>The end for today!!!!!!</a:t>
            </a:r>
            <a:endParaRPr lang="en-US" sz="4400" b="1" dirty="0">
              <a:latin typeface="Agency FB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5BBE7-A701-4C2D-87CA-D836CADCF9ED}" type="datetime1">
              <a:rPr lang="en-US" smtClean="0"/>
              <a:t>10/24/2024</a:t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5E850-2565-41D1-A738-CF84E1D846E5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057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Theme1" id="{E31C861F-5DFE-494C-99FF-48E0B323E056}" vid="{A323C6E0-659D-4290-9C85-970B5B6ABC6B}"/>
    </a:ext>
  </a:extLst>
</a:theme>
</file>

<file path=ppt/theme/theme2.xml><?xml version="1.0" encoding="utf-8"?>
<a:theme xmlns:a="http://schemas.openxmlformats.org/drawingml/2006/main" name="1_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Theme1" id="{E31C861F-5DFE-494C-99FF-48E0B323E056}" vid="{A323C6E0-659D-4290-9C85-970B5B6ABC6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621</TotalTime>
  <Words>3111</Words>
  <Application>Microsoft Office PowerPoint</Application>
  <PresentationFormat>On-screen Show (4:3)</PresentationFormat>
  <Paragraphs>478</Paragraphs>
  <Slides>59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61" baseType="lpstr">
      <vt:lpstr>Theme1</vt:lpstr>
      <vt:lpstr>1_Theme1</vt:lpstr>
      <vt:lpstr>ANESTHESIA  FOR MULTIPLE TRAUMA &amp; SHOCK PATIENTS </vt:lpstr>
      <vt:lpstr>Objectives </vt:lpstr>
      <vt:lpstr>Brainstorming questions</vt:lpstr>
      <vt:lpstr>Introduction to trauma </vt:lpstr>
      <vt:lpstr>          Cont….  </vt:lpstr>
      <vt:lpstr>Cont..</vt:lpstr>
      <vt:lpstr>       Cont…</vt:lpstr>
      <vt:lpstr>       Cont…</vt:lpstr>
      <vt:lpstr>       Cont…</vt:lpstr>
      <vt:lpstr>The Golden Hour and Golden Period in Trauma Care </vt:lpstr>
      <vt:lpstr>Cont…</vt:lpstr>
      <vt:lpstr>Cont </vt:lpstr>
      <vt:lpstr>Definition to Trauma</vt:lpstr>
      <vt:lpstr> Physiological Response to Trauma </vt:lpstr>
      <vt:lpstr>Mechanism of trauma </vt:lpstr>
      <vt:lpstr>Cont..</vt:lpstr>
      <vt:lpstr>Cont…</vt:lpstr>
      <vt:lpstr>       Cont….</vt:lpstr>
      <vt:lpstr>      Penetrating trauma</vt:lpstr>
      <vt:lpstr>Cont…</vt:lpstr>
      <vt:lpstr>Cont…</vt:lpstr>
      <vt:lpstr>Cont…</vt:lpstr>
      <vt:lpstr>Cont…</vt:lpstr>
      <vt:lpstr>Cont </vt:lpstr>
      <vt:lpstr>Cont..</vt:lpstr>
      <vt:lpstr>PowerPoint Presentation</vt:lpstr>
      <vt:lpstr>Blunt Trauma</vt:lpstr>
      <vt:lpstr>Cont…</vt:lpstr>
      <vt:lpstr>Cont…</vt:lpstr>
      <vt:lpstr>Cont..</vt:lpstr>
      <vt:lpstr>Cont…</vt:lpstr>
      <vt:lpstr>Cont…</vt:lpstr>
      <vt:lpstr>Cont…</vt:lpstr>
      <vt:lpstr>PowerPoint Presentation</vt:lpstr>
      <vt:lpstr>Cont…</vt:lpstr>
      <vt:lpstr>Mechanisms of Injury: </vt:lpstr>
      <vt:lpstr>Cont…</vt:lpstr>
      <vt:lpstr>Cont…</vt:lpstr>
      <vt:lpstr>cont</vt:lpstr>
      <vt:lpstr>Cont..</vt:lpstr>
      <vt:lpstr>Deceleration Trauma</vt:lpstr>
      <vt:lpstr>Cont..</vt:lpstr>
      <vt:lpstr>cont</vt:lpstr>
      <vt:lpstr>Cont..</vt:lpstr>
      <vt:lpstr>Cont..</vt:lpstr>
      <vt:lpstr>Cont..</vt:lpstr>
      <vt:lpstr>Cont..</vt:lpstr>
      <vt:lpstr>Tri-modal distribution of death</vt:lpstr>
      <vt:lpstr>Tri-modal distribution of death</vt:lpstr>
      <vt:lpstr> TIMING OF DEATHS </vt:lpstr>
      <vt:lpstr>Cont… </vt:lpstr>
      <vt:lpstr>Cont…</vt:lpstr>
      <vt:lpstr>Cause of death </vt:lpstr>
      <vt:lpstr>Cont…. </vt:lpstr>
      <vt:lpstr>Cont…</vt:lpstr>
      <vt:lpstr>PowerPoint Presentation</vt:lpstr>
      <vt:lpstr> Implications for Trauma Care </vt:lpstr>
      <vt:lpstr>References 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ANESTHESIA  FOR MULTIPLE TRAUMA &amp; SHOCK PATIENTS</dc:title>
  <dc:creator>Windows User</dc:creator>
  <cp:lastModifiedBy>Windows User</cp:lastModifiedBy>
  <cp:revision>53</cp:revision>
  <dcterms:created xsi:type="dcterms:W3CDTF">2023-10-19T09:44:24Z</dcterms:created>
  <dcterms:modified xsi:type="dcterms:W3CDTF">2024-10-24T18:44:45Z</dcterms:modified>
</cp:coreProperties>
</file>