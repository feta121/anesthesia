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97" r:id="rId6"/>
    <p:sldId id="298" r:id="rId7"/>
    <p:sldId id="288" r:id="rId8"/>
    <p:sldId id="291" r:id="rId9"/>
    <p:sldId id="289" r:id="rId10"/>
    <p:sldId id="290" r:id="rId11"/>
    <p:sldId id="292" r:id="rId12"/>
    <p:sldId id="293" r:id="rId13"/>
    <p:sldId id="260" r:id="rId14"/>
    <p:sldId id="261" r:id="rId15"/>
    <p:sldId id="294" r:id="rId16"/>
    <p:sldId id="262" r:id="rId17"/>
    <p:sldId id="295" r:id="rId18"/>
    <p:sldId id="263" r:id="rId19"/>
    <p:sldId id="264" r:id="rId20"/>
    <p:sldId id="265" r:id="rId21"/>
    <p:sldId id="266" r:id="rId22"/>
    <p:sldId id="296" r:id="rId23"/>
    <p:sldId id="267" r:id="rId24"/>
    <p:sldId id="268" r:id="rId25"/>
    <p:sldId id="269" r:id="rId26"/>
    <p:sldId id="270" r:id="rId27"/>
    <p:sldId id="283" r:id="rId28"/>
    <p:sldId id="273" r:id="rId29"/>
    <p:sldId id="274" r:id="rId30"/>
    <p:sldId id="275" r:id="rId31"/>
    <p:sldId id="276" r:id="rId32"/>
    <p:sldId id="277" r:id="rId33"/>
    <p:sldId id="284" r:id="rId34"/>
    <p:sldId id="278" r:id="rId35"/>
    <p:sldId id="299" r:id="rId36"/>
    <p:sldId id="300" r:id="rId37"/>
    <p:sldId id="301" r:id="rId38"/>
    <p:sldId id="302" r:id="rId39"/>
    <p:sldId id="303" r:id="rId40"/>
    <p:sldId id="305" r:id="rId41"/>
    <p:sldId id="304" r:id="rId42"/>
    <p:sldId id="280" r:id="rId43"/>
    <p:sldId id="316" r:id="rId44"/>
    <p:sldId id="321" r:id="rId45"/>
    <p:sldId id="317" r:id="rId46"/>
    <p:sldId id="318" r:id="rId47"/>
    <p:sldId id="322" r:id="rId48"/>
    <p:sldId id="319" r:id="rId49"/>
    <p:sldId id="320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287" r:id="rId60"/>
    <p:sldId id="281" r:id="rId61"/>
    <p:sldId id="282" r:id="rId62"/>
    <p:sldId id="315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38103-5CA1-44AE-AF8F-181649EB7D8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48CE3-F629-42CD-BC37-4FB587C3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9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02B4-A5E3-47BD-808C-260B2202A949}" type="datetime1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14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43B2-E498-4A91-9340-5DBE9960FFB6}" type="datetime1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9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62EB-6C89-4563-B68B-A3C0B818E4B4}" type="datetime1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76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7085-F524-400F-AE52-581F9EF962DC}" type="datetime1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39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B0F2-64DB-4EEC-AEE7-BB376291C8DD}" type="datetime1">
              <a:rPr lang="en-GB" smtClean="0"/>
              <a:t>18/12/2024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2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A189-EBC5-42C3-AB68-6695F73B0672}" type="datetime1">
              <a:rPr lang="en-GB" smtClean="0"/>
              <a:t>18/12/2024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00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5A64-9EB0-4446-A18F-11A5E950605F}" type="datetime1">
              <a:rPr lang="en-GB" smtClean="0"/>
              <a:t>18/12/2024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32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84A6-A8E7-4C91-A90F-6E63C3ED0705}" type="datetime1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30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50AC-7B0D-46F8-A720-216D05098B7B}" type="datetime1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3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FE57-467E-417A-85D6-4CC23C336725}" type="datetime1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145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8455-3FDC-48DB-A63B-40C8755C43C8}" type="datetime1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54EE6-288B-4DBC-B335-38EC29241655}" type="datetime1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CC4C2-DA68-49E4-9F92-48C64C4A4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49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Arial Rounded MT Bold" pitchFamily="34" charset="0"/>
              </a:rPr>
              <a:t>Anaesthesia consideration for </a:t>
            </a:r>
            <a:r>
              <a:rPr lang="en-GB" dirty="0" err="1" smtClean="0">
                <a:latin typeface="Arial Rounded MT Bold" pitchFamily="34" charset="0"/>
              </a:rPr>
              <a:t>obestratric</a:t>
            </a:r>
            <a:r>
              <a:rPr lang="en-GB" dirty="0" smtClean="0">
                <a:latin typeface="Arial Rounded MT Bold" pitchFamily="34" charset="0"/>
              </a:rPr>
              <a:t> trauma</a:t>
            </a:r>
            <a:endParaRPr lang="en-GB" dirty="0">
              <a:latin typeface="Arial Rounded MT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47864" y="3789040"/>
            <a:ext cx="4536504" cy="1464568"/>
          </a:xfrm>
        </p:spPr>
        <p:txBody>
          <a:bodyPr/>
          <a:lstStyle/>
          <a:p>
            <a:r>
              <a:rPr lang="en-GB" b="1" dirty="0" smtClean="0">
                <a:solidFill>
                  <a:schemeClr val="tx1"/>
                </a:solidFill>
              </a:rPr>
              <a:t>By </a:t>
            </a:r>
            <a:r>
              <a:rPr lang="en-GB" b="1" dirty="0" err="1" smtClean="0">
                <a:solidFill>
                  <a:schemeClr val="tx1"/>
                </a:solidFill>
              </a:rPr>
              <a:t>wubayehu</a:t>
            </a:r>
            <a:r>
              <a:rPr lang="en-GB" b="1" dirty="0" smtClean="0">
                <a:solidFill>
                  <a:schemeClr val="tx1"/>
                </a:solidFill>
              </a:rPr>
              <a:t> </a:t>
            </a:r>
            <a:r>
              <a:rPr lang="en-GB" b="1" dirty="0" err="1" smtClean="0">
                <a:solidFill>
                  <a:schemeClr val="tx1"/>
                </a:solidFill>
              </a:rPr>
              <a:t>Amare</a:t>
            </a:r>
            <a:r>
              <a:rPr lang="en-GB" b="1" dirty="0" smtClean="0">
                <a:solidFill>
                  <a:schemeClr val="tx1"/>
                </a:solidFill>
              </a:rPr>
              <a:t> 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85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424936" cy="49685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Trauma during pregnancy</a:t>
            </a:r>
            <a:r>
              <a:rPr lang="en-GB" dirty="0" smtClean="0">
                <a:latin typeface="Gabriola" pitchFamily="82" charset="0"/>
              </a:rPr>
              <a:t> is the leading non-obstetrical cause of maternal death and the most common cause of foetal demise.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It complicates </a:t>
            </a:r>
            <a:r>
              <a:rPr lang="en-GB" b="1" dirty="0" smtClean="0">
                <a:latin typeface="Gabriola" pitchFamily="82" charset="0"/>
              </a:rPr>
              <a:t>6% to 8% of pregnancies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0.4%</a:t>
            </a:r>
            <a:r>
              <a:rPr lang="en-GB" dirty="0" smtClean="0">
                <a:latin typeface="Gabriola" pitchFamily="82" charset="0"/>
              </a:rPr>
              <a:t> require hospital admission.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0.1%</a:t>
            </a:r>
            <a:r>
              <a:rPr lang="en-GB" dirty="0" smtClean="0">
                <a:latin typeface="Gabriola" pitchFamily="82" charset="0"/>
              </a:rPr>
              <a:t> suffer major trauma (Injury Severity Score (ISS) &gt; 15).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54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723312" cy="510202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initial evaluation and management of traumatized pregnant patients requires a multidisciplinary team for optimal care of both mother and </a:t>
            </a:r>
            <a:r>
              <a:rPr lang="en-GB" dirty="0" err="1" smtClean="0">
                <a:latin typeface="Gabriola" pitchFamily="82" charset="0"/>
              </a:rPr>
              <a:t>fetus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Resuscitation protocol follows the same algorithm for all trauma patients, but understanding anatomical and physiological changes during pregnancy is essential.</a:t>
            </a:r>
          </a:p>
          <a:p>
            <a:pPr>
              <a:lnSpc>
                <a:spcPct val="160000"/>
              </a:lnSpc>
            </a:pP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outcomes are directly correlated with early and aggressive maternal resuscitation.</a:t>
            </a: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62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92696"/>
            <a:ext cx="8928992" cy="604867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Major causes of maternal trauma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Motor vehicle accidents (MVC)</a:t>
            </a:r>
            <a:r>
              <a:rPr lang="en-GB" dirty="0" smtClean="0">
                <a:latin typeface="Gabriola" pitchFamily="82" charset="0"/>
              </a:rPr>
              <a:t> and </a:t>
            </a:r>
            <a:r>
              <a:rPr lang="en-GB" b="1" dirty="0" smtClean="0">
                <a:latin typeface="Gabriola" pitchFamily="82" charset="0"/>
              </a:rPr>
              <a:t>domestic violence</a:t>
            </a:r>
            <a:r>
              <a:rPr lang="en-GB" dirty="0" smtClean="0">
                <a:latin typeface="Gabriola" pitchFamily="82" charset="0"/>
              </a:rPr>
              <a:t> are the most common.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Other causes: falls, burns, homicide, suicide, penetrating trauma, and toxic exposure.</a:t>
            </a:r>
          </a:p>
          <a:p>
            <a:pPr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 </a:t>
            </a:r>
            <a:r>
              <a:rPr lang="en-GB" b="1" dirty="0" smtClean="0">
                <a:latin typeface="Gabriola" pitchFamily="82" charset="0"/>
              </a:rPr>
              <a:t>2013 systematic review</a:t>
            </a:r>
            <a:r>
              <a:rPr lang="en-GB" dirty="0" smtClean="0">
                <a:latin typeface="Gabriola" pitchFamily="82" charset="0"/>
              </a:rPr>
              <a:t> of trauma in pregnancy: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MVC incidence</a:t>
            </a:r>
            <a:r>
              <a:rPr lang="en-GB" dirty="0" smtClean="0">
                <a:latin typeface="Gabriola" pitchFamily="82" charset="0"/>
              </a:rPr>
              <a:t> during pregnancy: approximately </a:t>
            </a:r>
            <a:r>
              <a:rPr lang="en-GB" b="1" dirty="0" smtClean="0">
                <a:latin typeface="Gabriola" pitchFamily="82" charset="0"/>
              </a:rPr>
              <a:t>207/100,000 pregnancies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Domestic violence incidence</a:t>
            </a:r>
            <a:r>
              <a:rPr lang="en-GB" dirty="0" smtClean="0">
                <a:latin typeface="Gabriola" pitchFamily="82" charset="0"/>
              </a:rPr>
              <a:t>: </a:t>
            </a:r>
            <a:r>
              <a:rPr lang="en-GB" b="1" dirty="0" smtClean="0">
                <a:latin typeface="Gabriola" pitchFamily="82" charset="0"/>
              </a:rPr>
              <a:t>8307/100,000 live births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Blunt trauma</a:t>
            </a:r>
            <a:r>
              <a:rPr lang="en-GB" dirty="0" smtClean="0">
                <a:latin typeface="Gabriola" pitchFamily="82" charset="0"/>
              </a:rPr>
              <a:t> accounts for </a:t>
            </a:r>
            <a:r>
              <a:rPr lang="en-GB" b="1" dirty="0" smtClean="0">
                <a:latin typeface="Gabriola" pitchFamily="82" charset="0"/>
              </a:rPr>
              <a:t>69%</a:t>
            </a:r>
            <a:r>
              <a:rPr lang="en-GB" dirty="0" smtClean="0">
                <a:latin typeface="Gabriola" pitchFamily="82" charset="0"/>
              </a:rPr>
              <a:t> of trauma among pregnant women.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Penetrating trauma</a:t>
            </a:r>
            <a:r>
              <a:rPr lang="en-GB" dirty="0" smtClean="0">
                <a:latin typeface="Gabriola" pitchFamily="82" charset="0"/>
              </a:rPr>
              <a:t> accounts for only </a:t>
            </a:r>
            <a:r>
              <a:rPr lang="en-GB" b="1" dirty="0" smtClean="0">
                <a:latin typeface="Gabriola" pitchFamily="82" charset="0"/>
              </a:rPr>
              <a:t>1.5%</a:t>
            </a:r>
            <a:r>
              <a:rPr lang="en-GB" dirty="0" smtClean="0">
                <a:latin typeface="Gabriola" pitchFamily="82" charset="0"/>
              </a:rPr>
              <a:t> of trauma during pregnancy.</a:t>
            </a: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31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Types of Trauma in Pregnancy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856984" cy="576064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Blunt Trauma: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Most common causes: Motor vehicle crashes, falls, and assault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Injuries: Bladder, spleen, pelvic fractures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Obstetric complications: Preterm </a:t>
            </a:r>
            <a:r>
              <a:rPr lang="en-GB" dirty="0" err="1" smtClean="0">
                <a:latin typeface="Gabriola" pitchFamily="82" charset="0"/>
              </a:rPr>
              <a:t>labor</a:t>
            </a:r>
            <a:r>
              <a:rPr lang="en-GB" dirty="0" smtClean="0">
                <a:latin typeface="Gabriola" pitchFamily="82" charset="0"/>
              </a:rPr>
              <a:t>, uterine rupture, abruption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Penetrating Trauma: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Causes: Knife wounds, gunshots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Management: Immediate surgical exploration; caesarean section may be required.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08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130026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76672"/>
            <a:ext cx="8856984" cy="633670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Burn Injuries During Pregnancy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Incidence:- </a:t>
            </a:r>
            <a:r>
              <a:rPr lang="en-GB" i="1" dirty="0" smtClean="0">
                <a:latin typeface="Gabriola" pitchFamily="82" charset="0"/>
              </a:rPr>
              <a:t>7-15% of pregnancies, common in developing countries.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Risk Factors: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Maternal &amp; </a:t>
            </a:r>
            <a:r>
              <a:rPr lang="en-GB" b="1" dirty="0" err="1" smtClean="0">
                <a:latin typeface="Gabriola" pitchFamily="82" charset="0"/>
              </a:rPr>
              <a:t>Fetal</a:t>
            </a:r>
            <a:r>
              <a:rPr lang="en-GB" b="1" dirty="0" smtClean="0">
                <a:latin typeface="Gabriola" pitchFamily="82" charset="0"/>
              </a:rPr>
              <a:t> Mortality:</a:t>
            </a:r>
            <a:r>
              <a:rPr lang="en-GB" dirty="0" smtClean="0">
                <a:latin typeface="Gabriola" pitchFamily="82" charset="0"/>
              </a:rPr>
              <a:t> Dependent on TBSA burned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Fluid Resuscitation:</a:t>
            </a:r>
            <a:r>
              <a:rPr lang="en-GB" dirty="0" smtClean="0">
                <a:latin typeface="Gabriola" pitchFamily="82" charset="0"/>
              </a:rPr>
              <a:t> Vital to prevent hypovolemic shock (Parkland Formula)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Inhalation Injury:</a:t>
            </a:r>
            <a:r>
              <a:rPr lang="en-GB" dirty="0" smtClean="0">
                <a:latin typeface="Gabriola" pitchFamily="82" charset="0"/>
              </a:rPr>
              <a:t> Requires early intubation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Carbon Monoxide Toxicity:</a:t>
            </a:r>
            <a:r>
              <a:rPr lang="en-GB" dirty="0" smtClean="0">
                <a:latin typeface="Gabriola" pitchFamily="82" charset="0"/>
              </a:rPr>
              <a:t> Treat with 100% oxygen</a:t>
            </a:r>
          </a:p>
          <a:p>
            <a:pPr>
              <a:lnSpc>
                <a:spcPct val="170000"/>
              </a:lnSpc>
            </a:pPr>
            <a:r>
              <a:rPr lang="en-GB" b="1" dirty="0" err="1" smtClean="0">
                <a:latin typeface="Gabriola" pitchFamily="82" charset="0"/>
              </a:rPr>
              <a:t>Fetal</a:t>
            </a:r>
            <a:r>
              <a:rPr lang="en-GB" b="1" dirty="0" smtClean="0">
                <a:latin typeface="Gabriola" pitchFamily="82" charset="0"/>
              </a:rPr>
              <a:t> Effects:</a:t>
            </a:r>
            <a:r>
              <a:rPr lang="en-GB" dirty="0" smtClean="0">
                <a:latin typeface="Gabriola" pitchFamily="82" charset="0"/>
              </a:rPr>
              <a:t/>
            </a:r>
            <a:br>
              <a:rPr lang="en-GB" dirty="0" smtClean="0">
                <a:latin typeface="Gabriola" pitchFamily="82" charset="0"/>
              </a:rPr>
            </a:br>
            <a:r>
              <a:rPr lang="en-GB" i="1" dirty="0" smtClean="0">
                <a:latin typeface="Gabriola" pitchFamily="82" charset="0"/>
              </a:rPr>
              <a:t>Premature delivery, abortion, or intrauterine death due to hypoxia and sepsis.</a:t>
            </a:r>
            <a:endParaRPr lang="en-GB" dirty="0" smtClean="0">
              <a:latin typeface="Gabriola" pitchFamily="82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16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 smtClean="0">
                <a:latin typeface="Arial Black" pitchFamily="34" charset="0"/>
              </a:rPr>
              <a:t>Maternal </a:t>
            </a:r>
            <a:r>
              <a:rPr lang="en-GB" sz="3600" b="1" dirty="0">
                <a:latin typeface="Arial Black" pitchFamily="34" charset="0"/>
              </a:rPr>
              <a:t>Physiological Changes</a:t>
            </a:r>
            <a:r>
              <a:rPr lang="en-GB" b="1" dirty="0"/>
              <a:t/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80728"/>
            <a:ext cx="8928992" cy="5688632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Key </a:t>
            </a:r>
            <a:r>
              <a:rPr lang="en-GB" b="1" dirty="0">
                <a:latin typeface="Gabriola" pitchFamily="82" charset="0"/>
              </a:rPr>
              <a:t>Physiological Changes During Pregnancy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Cardiovascular System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Increased cardiac output: 30-50% rise by 32 weeks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HR increases </a:t>
            </a:r>
            <a:r>
              <a:rPr lang="en-GB" dirty="0">
                <a:latin typeface="Gabriola" pitchFamily="82" charset="0"/>
              </a:rPr>
              <a:t>(10-20 </a:t>
            </a:r>
            <a:r>
              <a:rPr lang="en-GB" dirty="0" err="1" smtClean="0">
                <a:latin typeface="Gabriola" pitchFamily="82" charset="0"/>
              </a:rPr>
              <a:t>bpm</a:t>
            </a:r>
            <a:r>
              <a:rPr lang="en-GB" dirty="0" smtClean="0">
                <a:latin typeface="Gabriola" pitchFamily="82" charset="0"/>
              </a:rPr>
              <a:t>)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Decreased SVR (vasodilation</a:t>
            </a:r>
            <a:r>
              <a:rPr lang="en-GB" dirty="0">
                <a:latin typeface="Gabriola" pitchFamily="82" charset="0"/>
              </a:rPr>
              <a:t>)</a:t>
            </a:r>
          </a:p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Increased blood volume (40-50% increase</a:t>
            </a:r>
            <a:r>
              <a:rPr lang="en-GB" dirty="0" smtClean="0">
                <a:latin typeface="Gabriola" pitchFamily="82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Estimation of blood loss may be difficult; systolic BP drop after 2000ml blood loss.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Early aggressive resuscitation is critical.</a:t>
            </a:r>
          </a:p>
          <a:p>
            <a:pPr lvl="1"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71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Con..t</a:t>
            </a:r>
            <a:r>
              <a:rPr lang="en-GB" dirty="0" smtClean="0"/>
              <a:t>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712968" cy="561662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Respiratory System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Increased tidal volume (30-40%),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Decreased </a:t>
            </a:r>
            <a:r>
              <a:rPr lang="en-GB" dirty="0">
                <a:latin typeface="Gabriola" pitchFamily="82" charset="0"/>
              </a:rPr>
              <a:t>functional residual capacity (FRC)</a:t>
            </a:r>
          </a:p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Increased minute ventilation</a:t>
            </a:r>
            <a:r>
              <a:rPr lang="en-GB" dirty="0" smtClean="0">
                <a:latin typeface="Gabriola" pitchFamily="82" charset="0"/>
              </a:rPr>
              <a:t>,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>
                <a:latin typeface="Gabriola" pitchFamily="82" charset="0"/>
              </a:rPr>
              <a:t>Respiratory alkalosis (compensated by renal bicarbonate excretion</a:t>
            </a:r>
            <a:r>
              <a:rPr lang="en-GB" dirty="0" smtClean="0">
                <a:latin typeface="Gabriola" pitchFamily="82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Gabriola" pitchFamily="82" charset="0"/>
              </a:rPr>
              <a:t>Increased oxygen consumption (20%).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Gabriola" pitchFamily="82" charset="0"/>
              </a:rPr>
              <a:t>Risk of rapid desaturation in respiratory arrest.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Gabriola" pitchFamily="82" charset="0"/>
              </a:rPr>
              <a:t>Early intubation to prevent aspiration and protect airway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 marL="457200" lvl="1" indent="0">
              <a:lnSpc>
                <a:spcPct val="170000"/>
              </a:lnSpc>
              <a:buNone/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36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74638"/>
            <a:ext cx="8651304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568952" cy="576064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Renal System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Increased renal blood flow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Increased glomerular filtration rate (GFR)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Decreased blood urea nitrogen and </a:t>
            </a:r>
            <a:r>
              <a:rPr lang="en-GB" dirty="0" err="1">
                <a:latin typeface="Gabriola" pitchFamily="82" charset="0"/>
              </a:rPr>
              <a:t>creatinine</a:t>
            </a:r>
            <a:r>
              <a:rPr lang="en-GB" dirty="0">
                <a:latin typeface="Gabriola" pitchFamily="82" charset="0"/>
              </a:rPr>
              <a:t> levels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Hematologic Changes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Increased red blood cell volume (but diluted by plasma volume increase → </a:t>
            </a:r>
            <a:r>
              <a:rPr lang="en-GB" dirty="0" err="1">
                <a:latin typeface="Gabriola" pitchFamily="82" charset="0"/>
              </a:rPr>
              <a:t>anemia</a:t>
            </a:r>
            <a:r>
              <a:rPr lang="en-GB" dirty="0">
                <a:latin typeface="Gabriola" pitchFamily="82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Increased clotting factors (higher risk of thromboembolism)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5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74638"/>
            <a:ext cx="8651304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514543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Endocrine System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Elevated levels of progesterone, </a:t>
            </a:r>
            <a:r>
              <a:rPr lang="en-GB" dirty="0" err="1">
                <a:latin typeface="Gabriola" pitchFamily="82" charset="0"/>
              </a:rPr>
              <a:t>estrogen</a:t>
            </a:r>
            <a:r>
              <a:rPr lang="en-GB" dirty="0">
                <a:latin typeface="Gabriola" pitchFamily="82" charset="0"/>
              </a:rPr>
              <a:t>, and </a:t>
            </a:r>
            <a:r>
              <a:rPr lang="en-GB" dirty="0" err="1">
                <a:latin typeface="Gabriola" pitchFamily="82" charset="0"/>
              </a:rPr>
              <a:t>hCG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Altered insulin sensitivity (gestational diabetes risk)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Gastrointestinal Changes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Decreased gastric emptying time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Decreased lower </a:t>
            </a:r>
            <a:r>
              <a:rPr lang="en-GB" dirty="0" err="1">
                <a:latin typeface="Gabriola" pitchFamily="82" charset="0"/>
              </a:rPr>
              <a:t>esophageal</a:t>
            </a:r>
            <a:r>
              <a:rPr lang="en-GB" dirty="0">
                <a:latin typeface="Gabriola" pitchFamily="82" charset="0"/>
              </a:rPr>
              <a:t> sphincter tone (increased risk of acid reflux)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70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8640"/>
            <a:ext cx="8748464" cy="64807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Trauma </a:t>
            </a:r>
            <a:r>
              <a:rPr lang="en-GB" b="1" dirty="0"/>
              <a:t>in Pregnancy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68863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Physiological </a:t>
            </a:r>
            <a:r>
              <a:rPr lang="en-GB" b="1" dirty="0">
                <a:latin typeface="Gabriola" pitchFamily="82" charset="0"/>
              </a:rPr>
              <a:t>Response to Trauma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Hypotension</a:t>
            </a:r>
            <a:r>
              <a:rPr lang="en-GB" dirty="0">
                <a:latin typeface="Gabriola" pitchFamily="82" charset="0"/>
              </a:rPr>
              <a:t>: More significant due to </a:t>
            </a:r>
            <a:r>
              <a:rPr lang="en-GB" dirty="0" err="1">
                <a:latin typeface="Gabriola" pitchFamily="82" charset="0"/>
              </a:rPr>
              <a:t>aortocaval</a:t>
            </a:r>
            <a:r>
              <a:rPr lang="en-GB" dirty="0">
                <a:latin typeface="Gabriola" pitchFamily="82" charset="0"/>
              </a:rPr>
              <a:t> compression (supine position)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Increased risk of shock</a:t>
            </a:r>
            <a:r>
              <a:rPr lang="en-GB" dirty="0">
                <a:latin typeface="Gabriola" pitchFamily="82" charset="0"/>
              </a:rPr>
              <a:t> due to increased blood volume and displacement</a:t>
            </a:r>
          </a:p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Trauma Effects on Pregnancy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Uterine injury</a:t>
            </a:r>
            <a:r>
              <a:rPr lang="en-GB" dirty="0">
                <a:latin typeface="Gabriola" pitchFamily="82" charset="0"/>
              </a:rPr>
              <a:t>: Can lead to placental abruption, </a:t>
            </a:r>
            <a:r>
              <a:rPr lang="en-GB" dirty="0" err="1">
                <a:latin typeface="Gabriola" pitchFamily="82" charset="0"/>
              </a:rPr>
              <a:t>fetal</a:t>
            </a:r>
            <a:r>
              <a:rPr lang="en-GB" dirty="0">
                <a:latin typeface="Gabriola" pitchFamily="82" charset="0"/>
              </a:rPr>
              <a:t> hypoxia, and preterm </a:t>
            </a:r>
            <a:r>
              <a:rPr lang="en-GB" dirty="0" err="1">
                <a:latin typeface="Gabriola" pitchFamily="82" charset="0"/>
              </a:rPr>
              <a:t>labor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 err="1">
                <a:latin typeface="Gabriola" pitchFamily="82" charset="0"/>
              </a:rPr>
              <a:t>Fetal</a:t>
            </a:r>
            <a:r>
              <a:rPr lang="en-GB" b="1" dirty="0">
                <a:latin typeface="Gabriola" pitchFamily="82" charset="0"/>
              </a:rPr>
              <a:t> circulation</a:t>
            </a:r>
            <a:r>
              <a:rPr lang="en-GB" dirty="0">
                <a:latin typeface="Gabriola" pitchFamily="82" charset="0"/>
              </a:rPr>
              <a:t>: </a:t>
            </a:r>
            <a:r>
              <a:rPr lang="en-GB" dirty="0" err="1">
                <a:latin typeface="Gabriola" pitchFamily="82" charset="0"/>
              </a:rPr>
              <a:t>Fetus</a:t>
            </a:r>
            <a:r>
              <a:rPr lang="en-GB" dirty="0">
                <a:latin typeface="Gabriola" pitchFamily="82" charset="0"/>
              </a:rPr>
              <a:t> is highly dependent on maternal circulation; compromised blood flow = </a:t>
            </a:r>
            <a:r>
              <a:rPr lang="en-GB" dirty="0" err="1">
                <a:latin typeface="Gabriola" pitchFamily="82" charset="0"/>
              </a:rPr>
              <a:t>fetal</a:t>
            </a:r>
            <a:r>
              <a:rPr lang="en-GB" dirty="0">
                <a:latin typeface="Gabriola" pitchFamily="82" charset="0"/>
              </a:rPr>
              <a:t> distress</a:t>
            </a: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0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78098"/>
          </a:xfrm>
        </p:spPr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8579296" cy="50014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Trauma and Pregnancy Complications</a:t>
            </a:r>
            <a:endParaRPr lang="en-GB" sz="2800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Placental abruption</a:t>
            </a:r>
            <a:r>
              <a:rPr lang="en-GB" dirty="0">
                <a:latin typeface="Gabriola" pitchFamily="82" charset="0"/>
              </a:rPr>
              <a:t>: Common with significant trauma (bleeding, abdominal pain)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Preterm </a:t>
            </a:r>
            <a:r>
              <a:rPr lang="en-GB" b="1" dirty="0" err="1">
                <a:latin typeface="Gabriola" pitchFamily="82" charset="0"/>
              </a:rPr>
              <a:t>labor</a:t>
            </a:r>
            <a:r>
              <a:rPr lang="en-GB" dirty="0">
                <a:latin typeface="Gabriola" pitchFamily="82" charset="0"/>
              </a:rPr>
              <a:t>: Trauma can initiate premature contractions or rupture of membranes</a:t>
            </a:r>
          </a:p>
          <a:p>
            <a:pPr lvl="1">
              <a:lnSpc>
                <a:spcPct val="150000"/>
              </a:lnSpc>
            </a:pPr>
            <a:r>
              <a:rPr lang="en-GB" b="1" dirty="0" err="1">
                <a:latin typeface="Gabriola" pitchFamily="82" charset="0"/>
              </a:rPr>
              <a:t>Fetal</a:t>
            </a:r>
            <a:r>
              <a:rPr lang="en-GB" b="1" dirty="0">
                <a:latin typeface="Gabriola" pitchFamily="82" charset="0"/>
              </a:rPr>
              <a:t> injury</a:t>
            </a:r>
            <a:r>
              <a:rPr lang="en-GB" dirty="0">
                <a:latin typeface="Gabriola" pitchFamily="82" charset="0"/>
              </a:rPr>
              <a:t>: Rare, but possible with high-impact trauma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48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928992" cy="590465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Serious Complications Associated with Obstetric Trauma: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Maternal injury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Shock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Internal haemorrhage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Intrauterine foetal demise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Direct foetal injury</a:t>
            </a:r>
          </a:p>
          <a:p>
            <a:pPr lvl="1">
              <a:lnSpc>
                <a:spcPct val="170000"/>
              </a:lnSpc>
            </a:pPr>
            <a:r>
              <a:rPr lang="en-GB" dirty="0" err="1" smtClean="0">
                <a:latin typeface="Gabriola" pitchFamily="82" charset="0"/>
              </a:rPr>
              <a:t>Abruptio</a:t>
            </a:r>
            <a:r>
              <a:rPr lang="en-GB" dirty="0" smtClean="0">
                <a:latin typeface="Gabriola" pitchFamily="82" charset="0"/>
              </a:rPr>
              <a:t> placentae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Uterine rupture</a:t>
            </a: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274042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38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856984" cy="59046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 </a:t>
            </a:r>
            <a:r>
              <a:rPr lang="en-GB" b="1" dirty="0" smtClean="0">
                <a:latin typeface="Gabriola" pitchFamily="82" charset="0"/>
              </a:rPr>
              <a:t>multidisciplinary team</a:t>
            </a:r>
            <a:r>
              <a:rPr lang="en-GB" dirty="0" smtClean="0">
                <a:latin typeface="Gabriola" pitchFamily="82" charset="0"/>
              </a:rPr>
              <a:t> is crucial for optimal outcomes for both the mother and </a:t>
            </a:r>
            <a:r>
              <a:rPr lang="en-GB" dirty="0" err="1" smtClean="0">
                <a:latin typeface="Gabriola" pitchFamily="82" charset="0"/>
              </a:rPr>
              <a:t>fetus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The team should consider </a:t>
            </a:r>
            <a:r>
              <a:rPr lang="en-GB" b="1" dirty="0" smtClean="0">
                <a:latin typeface="Gabriola" pitchFamily="82" charset="0"/>
              </a:rPr>
              <a:t>anatomical and physiological changes</a:t>
            </a:r>
            <a:r>
              <a:rPr lang="en-GB" dirty="0" smtClean="0">
                <a:latin typeface="Gabriola" pitchFamily="82" charset="0"/>
              </a:rPr>
              <a:t> in pregnancy, which can affect injury types and the maternal response to trauma.</a:t>
            </a:r>
          </a:p>
          <a:p>
            <a:pPr>
              <a:lnSpc>
                <a:spcPct val="150000"/>
              </a:lnSpc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89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1"/>
            <a:ext cx="8640960" cy="4608512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Initial Notification: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MIST mnemonic</a:t>
            </a:r>
            <a:r>
              <a:rPr lang="en-GB" dirty="0">
                <a:latin typeface="Gabriola" pitchFamily="82" charset="0"/>
              </a:rPr>
              <a:t> should be used to gather vital information:</a:t>
            </a:r>
          </a:p>
          <a:p>
            <a:pPr lvl="2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M</a:t>
            </a:r>
            <a:r>
              <a:rPr lang="en-GB" dirty="0">
                <a:latin typeface="Gabriola" pitchFamily="82" charset="0"/>
              </a:rPr>
              <a:t>: Mechanism of injury</a:t>
            </a:r>
          </a:p>
          <a:p>
            <a:pPr lvl="2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I</a:t>
            </a:r>
            <a:r>
              <a:rPr lang="en-GB" dirty="0">
                <a:latin typeface="Gabriola" pitchFamily="82" charset="0"/>
              </a:rPr>
              <a:t>: Injuries found or suspected</a:t>
            </a:r>
          </a:p>
          <a:p>
            <a:pPr lvl="2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S</a:t>
            </a:r>
            <a:r>
              <a:rPr lang="en-GB" dirty="0">
                <a:latin typeface="Gabriola" pitchFamily="82" charset="0"/>
              </a:rPr>
              <a:t>: Signs (respiratory rate, pulse rate, blood pressure, SpO2, GCS or AVPU)</a:t>
            </a:r>
          </a:p>
          <a:p>
            <a:pPr lvl="2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T</a:t>
            </a:r>
            <a:r>
              <a:rPr lang="en-GB" dirty="0">
                <a:latin typeface="Gabriola" pitchFamily="82" charset="0"/>
              </a:rPr>
              <a:t>: Treatment given</a:t>
            </a:r>
          </a:p>
          <a:p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3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640960" cy="79208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Primary Survey: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688632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sz="2800" dirty="0" smtClean="0">
                <a:latin typeface="Gabriola" pitchFamily="82" charset="0"/>
              </a:rPr>
              <a:t>Any female of reproductive age with significant injuries should be considered pregnant </a:t>
            </a:r>
            <a:r>
              <a:rPr lang="en-GB" sz="2800" b="1" dirty="0" smtClean="0">
                <a:latin typeface="Gabriola" pitchFamily="82" charset="0"/>
              </a:rPr>
              <a:t>until proven otherwise</a:t>
            </a:r>
            <a:r>
              <a:rPr lang="en-GB" sz="28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Primary Survey considerations for pregnant patients: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Left lateral tilt</a:t>
            </a:r>
            <a:r>
              <a:rPr lang="en-GB" dirty="0" smtClean="0">
                <a:latin typeface="Gabriola" pitchFamily="82" charset="0"/>
              </a:rPr>
              <a:t> of 15–30 degrees for patients beyond </a:t>
            </a:r>
            <a:r>
              <a:rPr lang="en-GB" b="1" dirty="0" smtClean="0">
                <a:latin typeface="Gabriola" pitchFamily="82" charset="0"/>
              </a:rPr>
              <a:t>20 weeks gestation</a:t>
            </a:r>
            <a:r>
              <a:rPr lang="en-GB" dirty="0" smtClean="0">
                <a:latin typeface="Gabriola" pitchFamily="82" charset="0"/>
              </a:rPr>
              <a:t> to relieve </a:t>
            </a:r>
            <a:r>
              <a:rPr lang="en-GB" b="1" dirty="0" err="1" smtClean="0">
                <a:latin typeface="Gabriola" pitchFamily="82" charset="0"/>
              </a:rPr>
              <a:t>aorto-caval</a:t>
            </a:r>
            <a:r>
              <a:rPr lang="en-GB" b="1" dirty="0" smtClean="0">
                <a:latin typeface="Gabriola" pitchFamily="82" charset="0"/>
              </a:rPr>
              <a:t> compression</a:t>
            </a:r>
            <a:r>
              <a:rPr lang="en-GB" dirty="0" smtClean="0">
                <a:latin typeface="Gabriola" pitchFamily="82" charset="0"/>
              </a:rPr>
              <a:t>. </a:t>
            </a: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79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5145435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This can be achieved by:</a:t>
            </a:r>
          </a:p>
          <a:p>
            <a:pPr lvl="2">
              <a:lnSpc>
                <a:spcPct val="150000"/>
              </a:lnSpc>
            </a:pPr>
            <a:r>
              <a:rPr lang="en-GB" sz="2800" dirty="0">
                <a:latin typeface="Gabriola" pitchFamily="82" charset="0"/>
              </a:rPr>
              <a:t>Placing a wedge under the right hip.</a:t>
            </a:r>
          </a:p>
          <a:p>
            <a:pPr lvl="2">
              <a:lnSpc>
                <a:spcPct val="150000"/>
              </a:lnSpc>
            </a:pPr>
            <a:r>
              <a:rPr lang="en-GB" sz="2800" dirty="0">
                <a:latin typeface="Gabriola" pitchFamily="82" charset="0"/>
              </a:rPr>
              <a:t>Using pillows, rolled towels, or bags of fluid.</a:t>
            </a:r>
          </a:p>
          <a:p>
            <a:pPr lvl="2"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Manual displacement</a:t>
            </a:r>
            <a:r>
              <a:rPr lang="en-GB" sz="2800" dirty="0">
                <a:latin typeface="Gabriola" pitchFamily="82" charset="0"/>
              </a:rPr>
              <a:t> of the uterus to the left (preferred method as it allows effective chest compression during CPR).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52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850106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Gabriola" pitchFamily="82" charset="0"/>
              </a:rPr>
              <a:t>ABCDE Approach to Obstetric Trauma Management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Airway with Cervical Spine Protection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Assess Airway Stability</a:t>
            </a:r>
            <a:r>
              <a:rPr lang="en-GB" dirty="0" smtClean="0">
                <a:latin typeface="Gabriola" pitchFamily="82" charset="0"/>
              </a:rPr>
              <a:t>: Look for signs of obstruction (e.g., accessory muscle use, paradoxical chest movements, see-saw respirations).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Early Intubation</a:t>
            </a:r>
            <a:r>
              <a:rPr lang="en-GB" dirty="0" smtClean="0">
                <a:latin typeface="Gabriola" pitchFamily="82" charset="0"/>
              </a:rPr>
              <a:t>: Pregnant women desaturation quickly; intubate early if needed.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Intubation</a:t>
            </a:r>
            <a:r>
              <a:rPr lang="en-GB" dirty="0" smtClean="0">
                <a:latin typeface="Gabriola" pitchFamily="82" charset="0"/>
              </a:rPr>
              <a:t>: Performed by senior practitioner due to higher failure rate in pregnant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27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778098"/>
          </a:xfrm>
        </p:spPr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Difficult Intubation Preparation</a:t>
            </a:r>
            <a:r>
              <a:rPr lang="en-GB" dirty="0" smtClean="0">
                <a:latin typeface="Gabriola" pitchFamily="82" charset="0"/>
              </a:rPr>
              <a:t>: Ensure availability of difficult airway tools (rigid laryngoscope, video laryngoscope, fibre-optic).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Cricoid Pressure</a:t>
            </a:r>
            <a:r>
              <a:rPr lang="en-GB" dirty="0" smtClean="0">
                <a:latin typeface="Gabriola" pitchFamily="82" charset="0"/>
              </a:rPr>
              <a:t>: Consider during intubation to reduce regurgitation, adjust if it compromises the view.</a:t>
            </a:r>
          </a:p>
          <a:p>
            <a:pPr lvl="1">
              <a:lnSpc>
                <a:spcPct val="150000"/>
              </a:lnSpc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6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B - Breathing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856984" cy="554461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Oxygen</a:t>
            </a:r>
            <a:r>
              <a:rPr lang="en-GB" dirty="0" smtClean="0">
                <a:latin typeface="Gabriola" pitchFamily="82" charset="0"/>
              </a:rPr>
              <a:t>: Administer 15L/min to maintain </a:t>
            </a:r>
            <a:r>
              <a:rPr lang="en-GB" b="1" dirty="0" smtClean="0">
                <a:latin typeface="Gabriola" pitchFamily="82" charset="0"/>
              </a:rPr>
              <a:t>100% oxygen saturation</a:t>
            </a:r>
            <a:r>
              <a:rPr lang="en-GB" dirty="0" smtClean="0">
                <a:latin typeface="Gabriola" pitchFamily="82" charset="0"/>
              </a:rPr>
              <a:t> (at least </a:t>
            </a:r>
            <a:r>
              <a:rPr lang="en-GB" b="1" dirty="0" smtClean="0">
                <a:latin typeface="Gabriola" pitchFamily="82" charset="0"/>
              </a:rPr>
              <a:t>95%</a:t>
            </a:r>
            <a:r>
              <a:rPr lang="en-GB" dirty="0" smtClean="0">
                <a:latin typeface="Gabriola" pitchFamily="82" charset="0"/>
              </a:rPr>
              <a:t>).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Chest Auscultation</a:t>
            </a:r>
            <a:r>
              <a:rPr lang="en-GB" dirty="0" smtClean="0">
                <a:latin typeface="Gabriola" pitchFamily="82" charset="0"/>
              </a:rPr>
              <a:t>: Check for wheezes or decreased air entry indicating chest injuries (e.g., pneumothorax, </a:t>
            </a:r>
            <a:r>
              <a:rPr lang="en-GB" dirty="0" err="1" smtClean="0">
                <a:latin typeface="Gabriola" pitchFamily="82" charset="0"/>
              </a:rPr>
              <a:t>hemothorax</a:t>
            </a:r>
            <a:r>
              <a:rPr lang="en-GB" dirty="0" smtClean="0">
                <a:latin typeface="Gabriola" pitchFamily="82" charset="0"/>
              </a:rPr>
              <a:t>).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Nasogastric Tube</a:t>
            </a:r>
            <a:r>
              <a:rPr lang="en-GB" dirty="0" smtClean="0">
                <a:latin typeface="Gabriola" pitchFamily="82" charset="0"/>
              </a:rPr>
              <a:t>: Insert to prevent aspiration, but exclude skull base fracture.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Chest Trauma</a:t>
            </a:r>
            <a:r>
              <a:rPr lang="en-GB" dirty="0" smtClean="0">
                <a:latin typeface="Gabriola" pitchFamily="82" charset="0"/>
              </a:rPr>
              <a:t>: Diagnose using clinical exam, chest x-ray, CT, or ultrasound.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Insert chest tube </a:t>
            </a:r>
            <a:r>
              <a:rPr lang="en-GB" b="1" dirty="0" smtClean="0">
                <a:latin typeface="Gabriola" pitchFamily="82" charset="0"/>
              </a:rPr>
              <a:t>higher</a:t>
            </a:r>
            <a:r>
              <a:rPr lang="en-GB" dirty="0" smtClean="0">
                <a:latin typeface="Gabriola" pitchFamily="82" charset="0"/>
              </a:rPr>
              <a:t> (3rd or 4th intercostal space) due to diaphragm elevation in pregnancy.</a:t>
            </a: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74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784976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C - Circulation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568952" cy="5544616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Monitor Vital Signs</a:t>
            </a:r>
            <a:r>
              <a:rPr lang="en-GB" dirty="0" smtClean="0">
                <a:latin typeface="Gabriola" pitchFamily="82" charset="0"/>
              </a:rPr>
              <a:t>: Heart rate, blood pressure, neck veins. Tachycardia with </a:t>
            </a:r>
            <a:r>
              <a:rPr lang="en-GB" dirty="0" err="1" smtClean="0">
                <a:latin typeface="Gabriola" pitchFamily="82" charset="0"/>
              </a:rPr>
              <a:t>normotension</a:t>
            </a:r>
            <a:r>
              <a:rPr lang="en-GB" dirty="0" smtClean="0">
                <a:latin typeface="Gabriola" pitchFamily="82" charset="0"/>
              </a:rPr>
              <a:t> can signal significant blood loss.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IV Access</a:t>
            </a:r>
            <a:r>
              <a:rPr lang="en-GB" dirty="0" smtClean="0">
                <a:latin typeface="Gabriola" pitchFamily="82" charset="0"/>
              </a:rPr>
              <a:t>: Insert </a:t>
            </a:r>
            <a:r>
              <a:rPr lang="en-GB" b="1" dirty="0" smtClean="0">
                <a:latin typeface="Gabriola" pitchFamily="82" charset="0"/>
              </a:rPr>
              <a:t>two large-bore IVs</a:t>
            </a:r>
            <a:r>
              <a:rPr lang="en-GB" dirty="0" smtClean="0">
                <a:latin typeface="Gabriola" pitchFamily="82" charset="0"/>
              </a:rPr>
              <a:t> (14–16 gauge) for rapid fluid resuscitation.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Fluid Resuscitation</a:t>
            </a:r>
            <a:r>
              <a:rPr lang="en-GB" dirty="0" smtClean="0">
                <a:latin typeface="Gabriola" pitchFamily="82" charset="0"/>
              </a:rPr>
              <a:t>: Start with </a:t>
            </a:r>
            <a:r>
              <a:rPr lang="en-GB" b="1" dirty="0" smtClean="0">
                <a:latin typeface="Gabriola" pitchFamily="82" charset="0"/>
              </a:rPr>
              <a:t>1–2L of crystalloid</a:t>
            </a:r>
            <a:r>
              <a:rPr lang="en-GB" dirty="0" smtClean="0">
                <a:latin typeface="Gabriola" pitchFamily="82" charset="0"/>
              </a:rPr>
              <a:t> to maintain maternal and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perfusion.</a:t>
            </a: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80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5"/>
            <a:ext cx="8640960" cy="4536504"/>
          </a:xfrm>
        </p:spPr>
        <p:txBody>
          <a:bodyPr/>
          <a:lstStyle/>
          <a:p>
            <a:pPr>
              <a:lnSpc>
                <a:spcPct val="170000"/>
              </a:lnSpc>
            </a:pPr>
            <a:r>
              <a:rPr lang="en-GB" sz="2800" b="1" dirty="0">
                <a:latin typeface="Gabriola" pitchFamily="82" charset="0"/>
              </a:rPr>
              <a:t>Blood Transfusion</a:t>
            </a:r>
            <a:r>
              <a:rPr lang="en-GB" sz="2800" dirty="0">
                <a:latin typeface="Gabriola" pitchFamily="82" charset="0"/>
              </a:rPr>
              <a:t>: Use </a:t>
            </a:r>
            <a:r>
              <a:rPr lang="en-GB" sz="2800" b="1" dirty="0">
                <a:latin typeface="Gabriola" pitchFamily="82" charset="0"/>
              </a:rPr>
              <a:t>group O Rh-negative blood</a:t>
            </a:r>
            <a:r>
              <a:rPr lang="en-GB" sz="2800" dirty="0">
                <a:latin typeface="Gabriola" pitchFamily="82" charset="0"/>
              </a:rPr>
              <a:t> if </a:t>
            </a:r>
            <a:r>
              <a:rPr lang="en-GB" sz="2800" dirty="0" err="1">
                <a:latin typeface="Gabriola" pitchFamily="82" charset="0"/>
              </a:rPr>
              <a:t>uncrossmatched</a:t>
            </a:r>
            <a:r>
              <a:rPr lang="en-GB" sz="2800" dirty="0">
                <a:latin typeface="Gabriola" pitchFamily="82" charset="0"/>
              </a:rPr>
              <a:t>, transfuse to maintain </a:t>
            </a:r>
            <a:r>
              <a:rPr lang="en-GB" sz="2800" dirty="0" err="1">
                <a:latin typeface="Gabriola" pitchFamily="82" charset="0"/>
              </a:rPr>
              <a:t>hematocrit</a:t>
            </a:r>
            <a:r>
              <a:rPr lang="en-GB" sz="2800" dirty="0">
                <a:latin typeface="Gabriola" pitchFamily="82" charset="0"/>
              </a:rPr>
              <a:t> at </a:t>
            </a:r>
            <a:r>
              <a:rPr lang="en-GB" sz="2800" b="1" dirty="0">
                <a:latin typeface="Gabriola" pitchFamily="82" charset="0"/>
              </a:rPr>
              <a:t>25-30%</a:t>
            </a:r>
            <a:r>
              <a:rPr lang="en-GB" sz="2800" dirty="0">
                <a:latin typeface="Gabriola" pitchFamily="82" charset="0"/>
              </a:rPr>
              <a:t> and urine output &gt;30cc/hr.</a:t>
            </a:r>
          </a:p>
          <a:p>
            <a:pPr>
              <a:lnSpc>
                <a:spcPct val="170000"/>
              </a:lnSpc>
            </a:pPr>
            <a:r>
              <a:rPr lang="en-GB" sz="2800" b="1" dirty="0">
                <a:latin typeface="Gabriola" pitchFamily="82" charset="0"/>
              </a:rPr>
              <a:t>Vasopressors</a:t>
            </a:r>
            <a:r>
              <a:rPr lang="en-GB" sz="2800" dirty="0">
                <a:latin typeface="Gabriola" pitchFamily="82" charset="0"/>
              </a:rPr>
              <a:t>: Use </a:t>
            </a:r>
            <a:r>
              <a:rPr lang="en-GB" sz="2800" b="1" dirty="0">
                <a:latin typeface="Gabriola" pitchFamily="82" charset="0"/>
              </a:rPr>
              <a:t>ephedrine</a:t>
            </a:r>
            <a:r>
              <a:rPr lang="en-GB" sz="2800" dirty="0">
                <a:latin typeface="Gabriola" pitchFamily="82" charset="0"/>
              </a:rPr>
              <a:t> for intractable hypotension if fluid resuscitation is ineffective.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917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92211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D - Disability (Neurological Status)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96752"/>
            <a:ext cx="8424936" cy="49294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Consciousness Level</a:t>
            </a:r>
            <a:r>
              <a:rPr lang="en-GB" dirty="0" smtClean="0">
                <a:latin typeface="Gabriola" pitchFamily="82" charset="0"/>
              </a:rPr>
              <a:t>: Assess using </a:t>
            </a:r>
            <a:r>
              <a:rPr lang="en-GB" b="1" dirty="0" smtClean="0">
                <a:latin typeface="Gabriola" pitchFamily="82" charset="0"/>
              </a:rPr>
              <a:t>GCS</a:t>
            </a:r>
            <a:r>
              <a:rPr lang="en-GB" dirty="0" smtClean="0">
                <a:latin typeface="Gabriola" pitchFamily="82" charset="0"/>
              </a:rPr>
              <a:t> or </a:t>
            </a:r>
            <a:r>
              <a:rPr lang="en-GB" b="1" dirty="0" smtClean="0">
                <a:latin typeface="Gabriola" pitchFamily="82" charset="0"/>
              </a:rPr>
              <a:t>AVPU</a:t>
            </a:r>
            <a:r>
              <a:rPr lang="en-GB" dirty="0" smtClean="0">
                <a:latin typeface="Gabriola" pitchFamily="82" charset="0"/>
              </a:rPr>
              <a:t> (Alert, responds to Voice, responds to Pain, Unresponsive).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Pupillary Response</a:t>
            </a:r>
            <a:r>
              <a:rPr lang="en-GB" dirty="0" smtClean="0">
                <a:latin typeface="Gabriola" pitchFamily="82" charset="0"/>
              </a:rPr>
              <a:t>: Check for abnormal findings.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Blood Sugar</a:t>
            </a:r>
            <a:r>
              <a:rPr lang="en-GB" dirty="0" smtClean="0">
                <a:latin typeface="Gabriola" pitchFamily="82" charset="0"/>
              </a:rPr>
              <a:t>: Measure to rule out </a:t>
            </a:r>
            <a:r>
              <a:rPr lang="en-GB" dirty="0" err="1" smtClean="0">
                <a:latin typeface="Gabriola" pitchFamily="82" charset="0"/>
              </a:rPr>
              <a:t>hypoglycemia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86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E - Exposure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Remove Clothing &amp; </a:t>
            </a:r>
            <a:r>
              <a:rPr lang="en-GB" b="1" dirty="0" err="1" smtClean="0">
                <a:latin typeface="Gabriola" pitchFamily="82" charset="0"/>
              </a:rPr>
              <a:t>Jewelry</a:t>
            </a:r>
            <a:r>
              <a:rPr lang="en-GB" dirty="0" smtClean="0">
                <a:latin typeface="Gabriola" pitchFamily="82" charset="0"/>
              </a:rPr>
              <a:t>: Ensure full body assessment for injuries.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Prevent Hypothermia</a:t>
            </a:r>
            <a:r>
              <a:rPr lang="en-GB" dirty="0" smtClean="0">
                <a:latin typeface="Gabriola" pitchFamily="82" charset="0"/>
              </a:rPr>
              <a:t>: Maintain temperature above </a:t>
            </a:r>
            <a:r>
              <a:rPr lang="en-GB" b="1" dirty="0" smtClean="0">
                <a:latin typeface="Gabriola" pitchFamily="82" charset="0"/>
              </a:rPr>
              <a:t>36.5°C</a:t>
            </a:r>
            <a:r>
              <a:rPr lang="en-GB" dirty="0" smtClean="0">
                <a:latin typeface="Gabriola" pitchFamily="82" charset="0"/>
              </a:rPr>
              <a:t> to prevent metabolic acidosis and bleeding.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Warm Environment</a:t>
            </a:r>
            <a:r>
              <a:rPr lang="en-GB" dirty="0" smtClean="0">
                <a:latin typeface="Gabriola" pitchFamily="82" charset="0"/>
              </a:rPr>
              <a:t>: Keep patient in a warm setting, and use warmed IV fluids.</a:t>
            </a: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20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Additional Assessments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61662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FAST (Focused Assessment with </a:t>
            </a:r>
            <a:r>
              <a:rPr lang="en-GB" b="1" dirty="0" err="1" smtClean="0">
                <a:latin typeface="Gabriola" pitchFamily="82" charset="0"/>
              </a:rPr>
              <a:t>Sonography</a:t>
            </a:r>
            <a:r>
              <a:rPr lang="en-GB" b="1" dirty="0" smtClean="0">
                <a:latin typeface="Gabriola" pitchFamily="82" charset="0"/>
              </a:rPr>
              <a:t> for Trauma)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Evaluate areas for fluid or blood accumulation: </a:t>
            </a:r>
            <a:r>
              <a:rPr lang="en-GB" dirty="0" err="1" smtClean="0">
                <a:latin typeface="Gabriola" pitchFamily="82" charset="0"/>
              </a:rPr>
              <a:t>subxiphoid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dirty="0" err="1" smtClean="0">
                <a:latin typeface="Gabriola" pitchFamily="82" charset="0"/>
              </a:rPr>
              <a:t>hepatorenal</a:t>
            </a:r>
            <a:r>
              <a:rPr lang="en-GB" dirty="0" smtClean="0">
                <a:latin typeface="Gabriola" pitchFamily="82" charset="0"/>
              </a:rPr>
              <a:t> recess, </a:t>
            </a:r>
            <a:r>
              <a:rPr lang="en-GB" dirty="0" err="1" smtClean="0">
                <a:latin typeface="Gabriola" pitchFamily="82" charset="0"/>
              </a:rPr>
              <a:t>perisplenic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dirty="0" err="1" smtClean="0">
                <a:latin typeface="Gabriola" pitchFamily="82" charset="0"/>
              </a:rPr>
              <a:t>suprapubic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Has accuracy &gt;90% for detecting free fluid.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CT Scan</a:t>
            </a:r>
            <a:r>
              <a:rPr lang="en-GB" dirty="0" smtClean="0">
                <a:latin typeface="Gabriola" pitchFamily="82" charset="0"/>
              </a:rPr>
              <a:t>: Use if FAST is positive and clinical findings suggest the need.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Obstetric Ultrasound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Assess foetal heart rate, gestational age, presentation, placental status, signs of abruption, and foetal injury.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69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/>
              <a:t>Secondary Survey in Trauma Management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47260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Timing:</a:t>
            </a:r>
            <a:r>
              <a:rPr lang="en-GB" dirty="0" smtClean="0">
                <a:latin typeface="Gabriola" pitchFamily="82" charset="0"/>
              </a:rPr>
              <a:t/>
            </a:r>
            <a:br>
              <a:rPr lang="en-GB" dirty="0" smtClean="0">
                <a:latin typeface="Gabriola" pitchFamily="82" charset="0"/>
              </a:rPr>
            </a:br>
            <a:r>
              <a:rPr lang="en-GB" i="1" dirty="0" smtClean="0">
                <a:latin typeface="Gabriola" pitchFamily="82" charset="0"/>
              </a:rPr>
              <a:t>Start once the patient is stable and no life-threatening injuries are present.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Assessment: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Top to Toe Examination</a:t>
            </a:r>
            <a:r>
              <a:rPr lang="en-GB" dirty="0">
                <a:latin typeface="Gabriola" pitchFamily="82" charset="0"/>
              </a:rPr>
              <a:t> </a:t>
            </a:r>
            <a:r>
              <a:rPr lang="en-GB" dirty="0" smtClean="0">
                <a:latin typeface="Gabriola" pitchFamily="82" charset="0"/>
              </a:rPr>
              <a:t>and </a:t>
            </a:r>
            <a:r>
              <a:rPr lang="en-GB" b="1" dirty="0" err="1" smtClean="0">
                <a:latin typeface="Gabriola" pitchFamily="82" charset="0"/>
              </a:rPr>
              <a:t>Fetal</a:t>
            </a:r>
            <a:r>
              <a:rPr lang="en-GB" b="1" dirty="0" smtClean="0">
                <a:latin typeface="Gabriola" pitchFamily="82" charset="0"/>
              </a:rPr>
              <a:t> Assessment (if pregnant)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History Taking: AMPLE Acronym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A</a:t>
            </a:r>
            <a:r>
              <a:rPr lang="en-GB" dirty="0" smtClean="0">
                <a:latin typeface="Gabriola" pitchFamily="82" charset="0"/>
              </a:rPr>
              <a:t> – Allergies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M</a:t>
            </a:r>
            <a:r>
              <a:rPr lang="en-GB" dirty="0" smtClean="0">
                <a:latin typeface="Gabriola" pitchFamily="82" charset="0"/>
              </a:rPr>
              <a:t> – Medication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P</a:t>
            </a:r>
            <a:r>
              <a:rPr lang="en-GB" dirty="0" smtClean="0">
                <a:latin typeface="Gabriola" pitchFamily="82" charset="0"/>
              </a:rPr>
              <a:t> – Past Medical History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L</a:t>
            </a:r>
            <a:r>
              <a:rPr lang="en-GB" dirty="0" smtClean="0">
                <a:latin typeface="Gabriola" pitchFamily="82" charset="0"/>
              </a:rPr>
              <a:t> – Last Meal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E</a:t>
            </a:r>
            <a:r>
              <a:rPr lang="en-GB" dirty="0" smtClean="0">
                <a:latin typeface="Gabriola" pitchFamily="82" charset="0"/>
              </a:rPr>
              <a:t> – Events Leading to Injury</a:t>
            </a: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81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err="1" smtClean="0"/>
              <a:t>Fetal</a:t>
            </a:r>
            <a:r>
              <a:rPr lang="en-GB" b="1" dirty="0" smtClean="0"/>
              <a:t> Assessment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640960" cy="55446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Monitoring </a:t>
            </a:r>
            <a:r>
              <a:rPr lang="en-GB" b="1" dirty="0" err="1" smtClean="0">
                <a:latin typeface="Gabriola" pitchFamily="82" charset="0"/>
              </a:rPr>
              <a:t>Fetal</a:t>
            </a:r>
            <a:r>
              <a:rPr lang="en-GB" b="1" dirty="0" smtClean="0">
                <a:latin typeface="Gabriola" pitchFamily="82" charset="0"/>
              </a:rPr>
              <a:t> Wellbeing: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Auscultation of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heart rate (120-160 </a:t>
            </a:r>
            <a:r>
              <a:rPr lang="en-GB" dirty="0" err="1" smtClean="0">
                <a:latin typeface="Gabriola" pitchFamily="82" charset="0"/>
              </a:rPr>
              <a:t>bpm</a:t>
            </a:r>
            <a:r>
              <a:rPr lang="en-GB" dirty="0" smtClean="0">
                <a:latin typeface="Gabriola" pitchFamily="82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Use of </a:t>
            </a:r>
            <a:r>
              <a:rPr lang="en-GB" b="1" dirty="0" smtClean="0">
                <a:latin typeface="Gabriola" pitchFamily="82" charset="0"/>
              </a:rPr>
              <a:t>Doppler probe</a:t>
            </a:r>
            <a:r>
              <a:rPr lang="en-GB" dirty="0" smtClean="0">
                <a:latin typeface="Gabriola" pitchFamily="82" charset="0"/>
              </a:rPr>
              <a:t> or </a:t>
            </a:r>
            <a:r>
              <a:rPr lang="en-GB" b="1" dirty="0" err="1" smtClean="0">
                <a:latin typeface="Gabriola" pitchFamily="82" charset="0"/>
              </a:rPr>
              <a:t>Pinard</a:t>
            </a:r>
            <a:r>
              <a:rPr lang="en-GB" b="1" dirty="0" smtClean="0">
                <a:latin typeface="Gabriola" pitchFamily="82" charset="0"/>
              </a:rPr>
              <a:t> stethoscope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Cardiotocography</a:t>
            </a:r>
            <a:r>
              <a:rPr lang="en-GB" b="1" dirty="0" smtClean="0">
                <a:latin typeface="Gabriola" pitchFamily="82" charset="0"/>
              </a:rPr>
              <a:t> (CTG)</a:t>
            </a:r>
            <a:r>
              <a:rPr lang="en-GB" dirty="0" smtClean="0">
                <a:latin typeface="Gabriola" pitchFamily="82" charset="0"/>
              </a:rPr>
              <a:t> for uterine activity and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heart rate.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Pelvic ultrasound</a:t>
            </a:r>
            <a:r>
              <a:rPr lang="en-GB" dirty="0" smtClean="0">
                <a:latin typeface="Gabriola" pitchFamily="82" charset="0"/>
              </a:rPr>
              <a:t> to assess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heartbeat, placentation, and trauma.</a:t>
            </a:r>
          </a:p>
          <a:p>
            <a:pPr lvl="1">
              <a:lnSpc>
                <a:spcPct val="150000"/>
              </a:lnSpc>
            </a:pP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heart rate assessment is essential for decision-making.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30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784976" cy="561662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Fetal</a:t>
            </a:r>
            <a:r>
              <a:rPr lang="en-GB" sz="2800" b="1" dirty="0" smtClean="0">
                <a:latin typeface="Gabriola" pitchFamily="82" charset="0"/>
              </a:rPr>
              <a:t> Complications of Trauma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Fetal</a:t>
            </a:r>
            <a:r>
              <a:rPr lang="en-GB" sz="2800" b="1" dirty="0" smtClean="0">
                <a:latin typeface="Gabriola" pitchFamily="82" charset="0"/>
              </a:rPr>
              <a:t> Harm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Fractures</a:t>
            </a:r>
            <a:r>
              <a:rPr lang="en-GB" sz="2800" dirty="0" smtClean="0">
                <a:latin typeface="Gabriola" pitchFamily="82" charset="0"/>
              </a:rPr>
              <a:t>: Skull, clavicles, long bones.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Intracranial </a:t>
            </a:r>
            <a:r>
              <a:rPr lang="en-GB" sz="2800" b="1" dirty="0" err="1" smtClean="0">
                <a:latin typeface="Gabriola" pitchFamily="82" charset="0"/>
              </a:rPr>
              <a:t>Hemorrhage</a:t>
            </a:r>
            <a:r>
              <a:rPr lang="en-GB" sz="2800" dirty="0" smtClean="0">
                <a:latin typeface="Gabriola" pitchFamily="82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Hypoxia</a:t>
            </a:r>
            <a:r>
              <a:rPr lang="en-GB" sz="2800" dirty="0" smtClean="0">
                <a:latin typeface="Gabriola" pitchFamily="82" charset="0"/>
              </a:rPr>
              <a:t>: Due to maternal hypotension, uterine injury, or placental abruption.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Other Risks</a:t>
            </a:r>
            <a:r>
              <a:rPr lang="en-GB" sz="2800" dirty="0" smtClean="0">
                <a:latin typeface="Gabriola" pitchFamily="82" charset="0"/>
              </a:rPr>
              <a:t>: Spontaneous abortion, preterm delivery, </a:t>
            </a:r>
            <a:r>
              <a:rPr lang="en-GB" sz="2800" dirty="0" err="1" smtClean="0">
                <a:latin typeface="Gabriola" pitchFamily="82" charset="0"/>
              </a:rPr>
              <a:t>fetal</a:t>
            </a:r>
            <a:r>
              <a:rPr lang="en-GB" sz="2800" dirty="0" smtClean="0">
                <a:latin typeface="Gabriola" pitchFamily="82" charset="0"/>
              </a:rPr>
              <a:t> </a:t>
            </a:r>
            <a:r>
              <a:rPr lang="en-GB" sz="2800" dirty="0" err="1" smtClean="0">
                <a:latin typeface="Gabriola" pitchFamily="82" charset="0"/>
              </a:rPr>
              <a:t>anemia</a:t>
            </a:r>
            <a:r>
              <a:rPr lang="en-GB" sz="2800" dirty="0" smtClean="0">
                <a:latin typeface="Gabriola" pitchFamily="82" charset="0"/>
              </a:rPr>
              <a:t> (RBC </a:t>
            </a:r>
            <a:r>
              <a:rPr lang="en-GB" sz="2800" dirty="0" err="1" smtClean="0">
                <a:latin typeface="Gabriola" pitchFamily="82" charset="0"/>
              </a:rPr>
              <a:t>isoimmunization</a:t>
            </a:r>
            <a:r>
              <a:rPr lang="en-GB" sz="2800" dirty="0" smtClean="0">
                <a:latin typeface="Gabriola" pitchFamily="82" charset="0"/>
              </a:rPr>
              <a:t>).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83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778098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91264" cy="478539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Rh Immune Globulin (</a:t>
            </a:r>
            <a:r>
              <a:rPr lang="en-GB" b="1" dirty="0" err="1" smtClean="0">
                <a:latin typeface="Gabriola" pitchFamily="82" charset="0"/>
              </a:rPr>
              <a:t>RhIG</a:t>
            </a:r>
            <a:r>
              <a:rPr lang="en-GB" b="1" dirty="0" smtClean="0">
                <a:latin typeface="Gabriola" pitchFamily="82" charset="0"/>
              </a:rPr>
              <a:t>)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For Rh-negative trauma victims to prevent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-maternal bleed (administer 300</a:t>
            </a:r>
            <a:r>
              <a:rPr lang="el-GR" dirty="0" smtClean="0">
                <a:latin typeface="Gabriola" pitchFamily="82" charset="0"/>
              </a:rPr>
              <a:t>μ</a:t>
            </a:r>
            <a:r>
              <a:rPr lang="en-GB" dirty="0" smtClean="0">
                <a:latin typeface="Gabriola" pitchFamily="82" charset="0"/>
              </a:rPr>
              <a:t>g IM within 72 hours of trauma).</a:t>
            </a:r>
          </a:p>
          <a:p>
            <a:pPr lvl="1"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Kleihauer-Betke</a:t>
            </a:r>
            <a:r>
              <a:rPr lang="en-GB" b="1" dirty="0" smtClean="0">
                <a:latin typeface="Gabriola" pitchFamily="82" charset="0"/>
              </a:rPr>
              <a:t> (KB) Test</a:t>
            </a:r>
            <a:r>
              <a:rPr lang="en-GB" dirty="0" smtClean="0">
                <a:latin typeface="Gabriola" pitchFamily="82" charset="0"/>
              </a:rPr>
              <a:t>: Determines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blood presence in maternal circulation.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36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-387424"/>
            <a:ext cx="8229600" cy="1143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892480" cy="525658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Management of </a:t>
            </a:r>
            <a:r>
              <a:rPr lang="en-GB" b="1" dirty="0" err="1" smtClean="0">
                <a:latin typeface="Gabriola" pitchFamily="82" charset="0"/>
              </a:rPr>
              <a:t>Fetal</a:t>
            </a:r>
            <a:r>
              <a:rPr lang="en-GB" b="1" dirty="0" smtClean="0">
                <a:latin typeface="Gabriola" pitchFamily="82" charset="0"/>
              </a:rPr>
              <a:t> Death in Trauma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Stable Mother with </a:t>
            </a:r>
            <a:r>
              <a:rPr lang="en-GB" b="1" dirty="0" err="1" smtClean="0">
                <a:latin typeface="Gabriola" pitchFamily="82" charset="0"/>
              </a:rPr>
              <a:t>Fetal</a:t>
            </a:r>
            <a:r>
              <a:rPr lang="en-GB" b="1" dirty="0" smtClean="0">
                <a:latin typeface="Gabriola" pitchFamily="82" charset="0"/>
              </a:rPr>
              <a:t> Death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Caesarean delivery not required if the mother's condition is stable.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Delivery method and timing can be planned with obstetrics.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Pelvic Fractures or Uterine Injury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Caesarean delivery indicated only in cases of pelvic fractures or bleeding from uterine injury.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09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850106"/>
          </a:xfrm>
        </p:spPr>
        <p:txBody>
          <a:bodyPr>
            <a:noAutofit/>
          </a:bodyPr>
          <a:lstStyle/>
          <a:p>
            <a:r>
              <a:rPr lang="en-GB" sz="3200" b="1" dirty="0" smtClean="0"/>
              <a:t>Cardiopulmonary Resuscitation (CPR) in Pregnant Trauma</a:t>
            </a:r>
            <a:r>
              <a:rPr lang="en-GB" sz="3200" dirty="0" smtClean="0"/>
              <a:t/>
            </a:r>
            <a:br>
              <a:rPr lang="en-GB" sz="3200" dirty="0" smtClean="0"/>
            </a:b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47260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CPR Modifications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Left lateral displacement of the uterus to relieve </a:t>
            </a:r>
            <a:r>
              <a:rPr lang="en-GB" dirty="0" err="1" smtClean="0">
                <a:latin typeface="Gabriola" pitchFamily="82" charset="0"/>
              </a:rPr>
              <a:t>aorto-caval</a:t>
            </a:r>
            <a:r>
              <a:rPr lang="en-GB" dirty="0" smtClean="0">
                <a:latin typeface="Gabriola" pitchFamily="82" charset="0"/>
              </a:rPr>
              <a:t> compression.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Defibrillation as usual, with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uterine monitors removed.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Early advanced airway and C-spine stabilization.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Chest compressions (100/min, 30:2 ratio).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IV access above diaphragm.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Use ACLS drugs (adrenaline, </a:t>
            </a:r>
            <a:r>
              <a:rPr lang="en-GB" dirty="0" err="1" smtClean="0">
                <a:latin typeface="Gabriola" pitchFamily="82" charset="0"/>
              </a:rPr>
              <a:t>amiodarone</a:t>
            </a:r>
            <a:r>
              <a:rPr lang="en-GB" dirty="0" smtClean="0">
                <a:latin typeface="Gabriola" pitchFamily="82" charset="0"/>
              </a:rPr>
              <a:t>, atropine, magnesium).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00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520" y="274638"/>
            <a:ext cx="8795320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579296" cy="52174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Perimortem</a:t>
            </a:r>
            <a:r>
              <a:rPr lang="en-GB" b="1" dirty="0" smtClean="0">
                <a:latin typeface="Gabriola" pitchFamily="82" charset="0"/>
              </a:rPr>
              <a:t> </a:t>
            </a:r>
            <a:r>
              <a:rPr lang="en-GB" b="1" dirty="0" err="1" smtClean="0">
                <a:latin typeface="Gabriola" pitchFamily="82" charset="0"/>
              </a:rPr>
              <a:t>Cesarean</a:t>
            </a:r>
            <a:r>
              <a:rPr lang="en-GB" b="1" dirty="0" smtClean="0">
                <a:latin typeface="Gabriola" pitchFamily="82" charset="0"/>
              </a:rPr>
              <a:t> Section (PMCS)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Purpose:</a:t>
            </a:r>
            <a:r>
              <a:rPr lang="en-GB" dirty="0" smtClean="0">
                <a:latin typeface="Gabriola" pitchFamily="82" charset="0"/>
              </a:rPr>
              <a:t> Improve chances of survival for both mother and </a:t>
            </a:r>
            <a:r>
              <a:rPr lang="en-GB" dirty="0" err="1" smtClean="0">
                <a:latin typeface="Gabriola" pitchFamily="82" charset="0"/>
              </a:rPr>
              <a:t>fetus</a:t>
            </a:r>
            <a:r>
              <a:rPr lang="en-GB" dirty="0" smtClean="0">
                <a:latin typeface="Gabriola" pitchFamily="82" charset="0"/>
              </a:rPr>
              <a:t> during cardiac arrest.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If no response after 4 minutes of ACLS, immediate caesarean for viable </a:t>
            </a:r>
            <a:r>
              <a:rPr lang="en-GB" dirty="0" err="1" smtClean="0">
                <a:latin typeface="Gabriola" pitchFamily="82" charset="0"/>
              </a:rPr>
              <a:t>fetus</a:t>
            </a:r>
            <a:r>
              <a:rPr lang="en-GB" dirty="0" smtClean="0">
                <a:latin typeface="Gabriola" pitchFamily="82" charset="0"/>
              </a:rPr>
              <a:t> (≥24 weeks gestation).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8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Timing of Delivery: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&lt; 20 weeks: No urgent caesarean needed.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20–23 weeks: Caesarean delivery within 5 minutes for maternal survival.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23 weeks: Caesarean delivery to improve chances for both.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Challenges for the neonate:</a:t>
            </a:r>
            <a:r>
              <a:rPr lang="en-GB" dirty="0" smtClean="0">
                <a:latin typeface="Gabriola" pitchFamily="82" charset="0"/>
              </a:rPr>
              <a:t> Severe acidosis and hypoxia post-delivery.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1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 smtClean="0"/>
              <a:t>Anaesthesia in Obstetric Trauma Management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68760"/>
            <a:ext cx="8712968" cy="525658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Concerns</a:t>
            </a:r>
            <a:r>
              <a:rPr lang="en-GB" dirty="0" smtClean="0">
                <a:latin typeface="Gabriola" pitchFamily="82" charset="0"/>
              </a:rPr>
              <a:t>: Adequate resuscitation, haemostasis, and anaesthesia during surgery.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Emergency </a:t>
            </a:r>
            <a:r>
              <a:rPr lang="en-GB" b="1" dirty="0" err="1" smtClean="0">
                <a:latin typeface="Gabriola" pitchFamily="82" charset="0"/>
              </a:rPr>
              <a:t>Cesarean</a:t>
            </a:r>
            <a:r>
              <a:rPr lang="en-GB" b="1" dirty="0" smtClean="0">
                <a:latin typeface="Gabriola" pitchFamily="82" charset="0"/>
              </a:rPr>
              <a:t> Delivery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Indicated for stable mother with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distress or traumatic uterine rupture.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Anaesthesia Approach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General Anaesthesia</a:t>
            </a:r>
            <a:r>
              <a:rPr lang="en-GB" dirty="0" smtClean="0">
                <a:latin typeface="Gabriola" pitchFamily="82" charset="0"/>
              </a:rPr>
              <a:t>: Rapid sequence induction with cricoid pressure.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53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548680"/>
            <a:ext cx="8579296" cy="57606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1. Airway </a:t>
            </a:r>
            <a:r>
              <a:rPr lang="en-GB" b="1" dirty="0">
                <a:latin typeface="Gabriola" pitchFamily="82" charset="0"/>
              </a:rPr>
              <a:t>Management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Pre-oxygenation</a:t>
            </a:r>
            <a:r>
              <a:rPr lang="en-GB" dirty="0">
                <a:latin typeface="Gabriola" pitchFamily="82" charset="0"/>
              </a:rPr>
              <a:t>: Due to increased oxygen demand in pregnancy, administer high-flow oxygen before intubation.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Intubation</a:t>
            </a:r>
            <a:r>
              <a:rPr lang="en-GB" dirty="0">
                <a:latin typeface="Gabriola" pitchFamily="82" charset="0"/>
              </a:rPr>
              <a:t>: Use rapid sequence intubation (RSI) if indicated, due to the risk of aspiration (delayed gastric emptying in pregnancy).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Cricoid pressure</a:t>
            </a:r>
            <a:r>
              <a:rPr lang="en-GB" dirty="0">
                <a:latin typeface="Gabriola" pitchFamily="82" charset="0"/>
              </a:rPr>
              <a:t>: Apply to reduce the risk of aspiration, especially in emergency cases.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Smaller endotracheal tubes</a:t>
            </a:r>
            <a:r>
              <a:rPr lang="en-GB" dirty="0">
                <a:latin typeface="Gabriola" pitchFamily="82" charset="0"/>
              </a:rPr>
              <a:t> may be necessary due to airway </a:t>
            </a:r>
            <a:r>
              <a:rPr lang="en-GB" dirty="0" err="1">
                <a:latin typeface="Gabriola" pitchFamily="82" charset="0"/>
              </a:rPr>
              <a:t>edema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21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3002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548680"/>
            <a:ext cx="8856984" cy="61206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2. Hemodynamic </a:t>
            </a:r>
            <a:r>
              <a:rPr lang="en-GB" b="1" dirty="0">
                <a:latin typeface="Gabriola" pitchFamily="82" charset="0"/>
              </a:rPr>
              <a:t>Considerations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Fluid resuscitation</a:t>
            </a:r>
            <a:r>
              <a:rPr lang="en-GB" sz="3200" dirty="0">
                <a:latin typeface="Gabriola" pitchFamily="82" charset="0"/>
              </a:rPr>
              <a:t>: 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Aggressive </a:t>
            </a:r>
            <a:r>
              <a:rPr lang="en-GB" sz="3200" dirty="0">
                <a:latin typeface="Gabriola" pitchFamily="82" charset="0"/>
              </a:rPr>
              <a:t>volume resuscitation with crystalloid (e.g., Ringer’s Lactate) and blood products if necessary. 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Pregnant </a:t>
            </a:r>
            <a:r>
              <a:rPr lang="en-GB" sz="3200" dirty="0">
                <a:latin typeface="Gabriola" pitchFamily="82" charset="0"/>
              </a:rPr>
              <a:t>women have increased blood volume, so hypotension may indicate severe blood loss.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45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Blood pressure maintenance</a:t>
            </a:r>
            <a:r>
              <a:rPr lang="en-GB" sz="3200" dirty="0">
                <a:latin typeface="Gabriola" pitchFamily="82" charset="0"/>
              </a:rPr>
              <a:t>: </a:t>
            </a:r>
          </a:p>
          <a:p>
            <a:pPr lvl="2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Avoid hypotension to maintain </a:t>
            </a:r>
            <a:r>
              <a:rPr lang="en-GB" sz="3200" dirty="0" err="1">
                <a:latin typeface="Gabriola" pitchFamily="82" charset="0"/>
              </a:rPr>
              <a:t>uteroplacental</a:t>
            </a:r>
            <a:r>
              <a:rPr lang="en-GB" sz="3200" dirty="0">
                <a:latin typeface="Gabriola" pitchFamily="82" charset="0"/>
              </a:rPr>
              <a:t> perfusion. </a:t>
            </a:r>
          </a:p>
          <a:p>
            <a:pPr lvl="2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Maintain a </a:t>
            </a:r>
            <a:r>
              <a:rPr lang="en-GB" sz="3200" b="1" dirty="0">
                <a:latin typeface="Gabriola" pitchFamily="82" charset="0"/>
              </a:rPr>
              <a:t>mean arterial pressure (MAP) &gt; 70 mmHg</a:t>
            </a:r>
            <a:r>
              <a:rPr lang="en-GB" sz="3200" dirty="0" smtClean="0">
                <a:latin typeface="Gabriola" pitchFamily="82" charset="0"/>
              </a:rPr>
              <a:t>.</a:t>
            </a:r>
            <a:endParaRPr lang="en-GB" sz="3200" b="1" dirty="0" smtClean="0">
              <a:latin typeface="Gabriola" pitchFamily="82" charset="0"/>
            </a:endParaRP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GB" sz="3200" b="1" dirty="0" smtClean="0">
                <a:latin typeface="Gabriola" pitchFamily="82" charset="0"/>
              </a:rPr>
              <a:t>Inotropes </a:t>
            </a:r>
            <a:r>
              <a:rPr lang="en-GB" sz="3200" b="1" dirty="0">
                <a:latin typeface="Gabriola" pitchFamily="82" charset="0"/>
              </a:rPr>
              <a:t>and vasopressors</a:t>
            </a:r>
            <a:r>
              <a:rPr lang="en-GB" sz="3200" dirty="0">
                <a:latin typeface="Gabriola" pitchFamily="82" charset="0"/>
              </a:rPr>
              <a:t>: Use if necessary (e.g., norepinephrine), but monitor foetal well-being closely.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90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0528" y="274638"/>
            <a:ext cx="8867328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92697"/>
            <a:ext cx="8640960" cy="54006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latin typeface="Gabriola" pitchFamily="82" charset="0"/>
              </a:rPr>
              <a:t>3</a:t>
            </a:r>
            <a:r>
              <a:rPr lang="en-GB" b="1" dirty="0" smtClean="0">
                <a:latin typeface="Gabriola" pitchFamily="82" charset="0"/>
              </a:rPr>
              <a:t>. Positioning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Avoid supine position</a:t>
            </a:r>
            <a:r>
              <a:rPr lang="en-GB" sz="3200" dirty="0">
                <a:latin typeface="Gabriola" pitchFamily="82" charset="0"/>
              </a:rPr>
              <a:t>: 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In </a:t>
            </a:r>
            <a:r>
              <a:rPr lang="en-GB" sz="3000" dirty="0">
                <a:latin typeface="Gabriola" pitchFamily="82" charset="0"/>
              </a:rPr>
              <a:t>the second and third trimesters, the gravid uterus can compress the inferior vena cava, reducing venous return and leading to hypotension.</a:t>
            </a: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Left lateral tilt</a:t>
            </a:r>
            <a:r>
              <a:rPr lang="en-GB" sz="3200" dirty="0">
                <a:latin typeface="Gabriola" pitchFamily="82" charset="0"/>
              </a:rPr>
              <a:t>: 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Position </a:t>
            </a:r>
            <a:r>
              <a:rPr lang="en-GB" sz="3000" dirty="0">
                <a:latin typeface="Gabriola" pitchFamily="82" charset="0"/>
              </a:rPr>
              <a:t>the patient with a 15-30° left tilt to relieve </a:t>
            </a:r>
            <a:r>
              <a:rPr lang="en-GB" sz="3000" dirty="0" err="1">
                <a:latin typeface="Gabriola" pitchFamily="82" charset="0"/>
              </a:rPr>
              <a:t>aortocaval</a:t>
            </a:r>
            <a:r>
              <a:rPr lang="en-GB" sz="3000" dirty="0">
                <a:latin typeface="Gabriola" pitchFamily="82" charset="0"/>
              </a:rPr>
              <a:t> compression and improve venous return.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981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856984" cy="554461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4. Analgesia </a:t>
            </a:r>
            <a:r>
              <a:rPr lang="en-GB" b="1" dirty="0">
                <a:latin typeface="Gabriola" pitchFamily="82" charset="0"/>
              </a:rPr>
              <a:t>and </a:t>
            </a:r>
            <a:r>
              <a:rPr lang="en-GB" b="1" dirty="0" err="1">
                <a:latin typeface="Gabriola" pitchFamily="82" charset="0"/>
              </a:rPr>
              <a:t>Anesthesia</a:t>
            </a:r>
            <a:r>
              <a:rPr lang="en-GB" b="1" dirty="0">
                <a:latin typeface="Gabriola" pitchFamily="82" charset="0"/>
              </a:rPr>
              <a:t> Options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Regional </a:t>
            </a:r>
            <a:r>
              <a:rPr lang="en-GB" sz="3200" b="1" dirty="0" err="1">
                <a:latin typeface="Gabriola" pitchFamily="82" charset="0"/>
              </a:rPr>
              <a:t>anesthesia</a:t>
            </a:r>
            <a:r>
              <a:rPr lang="en-GB" sz="3200" dirty="0" smtClean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 </a:t>
            </a:r>
            <a:r>
              <a:rPr lang="en-GB" sz="2800" dirty="0">
                <a:latin typeface="Gabriola" pitchFamily="82" charset="0"/>
              </a:rPr>
              <a:t>Epidural or spinal </a:t>
            </a:r>
            <a:r>
              <a:rPr lang="en-GB" sz="2800" dirty="0" err="1">
                <a:latin typeface="Gabriola" pitchFamily="82" charset="0"/>
              </a:rPr>
              <a:t>anesthesia</a:t>
            </a:r>
            <a:r>
              <a:rPr lang="en-GB" sz="2800" dirty="0">
                <a:latin typeface="Gabriola" pitchFamily="82" charset="0"/>
              </a:rPr>
              <a:t> may be considered for pain control in cases of trauma. </a:t>
            </a:r>
            <a:r>
              <a:rPr lang="en-GB" sz="2800" dirty="0">
                <a:latin typeface="Gabriola" pitchFamily="82" charset="0"/>
              </a:rPr>
              <a:t> </a:t>
            </a:r>
            <a:r>
              <a:rPr lang="en-GB" sz="2800" dirty="0" smtClean="0">
                <a:latin typeface="Gabriola" pitchFamily="82" charset="0"/>
              </a:rPr>
              <a:t>However</a:t>
            </a:r>
            <a:r>
              <a:rPr lang="en-GB" sz="2800" dirty="0">
                <a:latin typeface="Gabriola" pitchFamily="82" charset="0"/>
              </a:rPr>
              <a:t>, be cautious about hypotension.</a:t>
            </a: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General </a:t>
            </a:r>
            <a:r>
              <a:rPr lang="en-GB" sz="3200" b="1" dirty="0" err="1">
                <a:latin typeface="Gabriola" pitchFamily="82" charset="0"/>
              </a:rPr>
              <a:t>anesthesia</a:t>
            </a:r>
            <a:r>
              <a:rPr lang="en-GB" sz="3200" dirty="0">
                <a:latin typeface="Gabriola" pitchFamily="82" charset="0"/>
              </a:rPr>
              <a:t>: 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Indicated </a:t>
            </a:r>
            <a:r>
              <a:rPr lang="en-GB" sz="2800" dirty="0">
                <a:latin typeface="Gabriola" pitchFamily="82" charset="0"/>
              </a:rPr>
              <a:t>for emergency surgery or if regional </a:t>
            </a:r>
            <a:r>
              <a:rPr lang="en-GB" sz="2800" dirty="0" err="1">
                <a:latin typeface="Gabriola" pitchFamily="82" charset="0"/>
              </a:rPr>
              <a:t>anesthesia</a:t>
            </a:r>
            <a:r>
              <a:rPr lang="en-GB" sz="2800" dirty="0">
                <a:latin typeface="Gabriola" pitchFamily="82" charset="0"/>
              </a:rPr>
              <a:t> is contraindicated (e.g., </a:t>
            </a:r>
            <a:r>
              <a:rPr lang="en-GB" sz="2800" dirty="0" err="1">
                <a:latin typeface="Gabriola" pitchFamily="82" charset="0"/>
              </a:rPr>
              <a:t>hemorrhage</a:t>
            </a:r>
            <a:r>
              <a:rPr lang="en-GB" sz="2800" dirty="0" smtClean="0">
                <a:latin typeface="Gabriola" pitchFamily="82" charset="0"/>
              </a:rPr>
              <a:t>).</a:t>
            </a: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273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507288" cy="5361459"/>
          </a:xfrm>
        </p:spPr>
        <p:txBody>
          <a:bodyPr>
            <a:noAutofit/>
          </a:bodyPr>
          <a:lstStyle/>
          <a:p>
            <a:pPr marL="742950" lvl="2" indent="-342900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Induction Agents</a:t>
            </a:r>
            <a:r>
              <a:rPr lang="en-GB" sz="3200" dirty="0">
                <a:latin typeface="Gabriola" pitchFamily="82" charset="0"/>
              </a:rPr>
              <a:t>: </a:t>
            </a:r>
            <a:r>
              <a:rPr lang="en-GB" sz="3200" dirty="0" err="1">
                <a:latin typeface="Gabriola" pitchFamily="82" charset="0"/>
              </a:rPr>
              <a:t>Etomidate</a:t>
            </a:r>
            <a:r>
              <a:rPr lang="en-GB" sz="3200" dirty="0">
                <a:latin typeface="Gabriola" pitchFamily="82" charset="0"/>
              </a:rPr>
              <a:t>, </a:t>
            </a:r>
            <a:r>
              <a:rPr lang="en-GB" sz="3200" dirty="0" err="1">
                <a:latin typeface="Gabriola" pitchFamily="82" charset="0"/>
              </a:rPr>
              <a:t>propofol</a:t>
            </a:r>
            <a:r>
              <a:rPr lang="en-GB" sz="3200" dirty="0">
                <a:latin typeface="Gabriola" pitchFamily="82" charset="0"/>
              </a:rPr>
              <a:t>, or ketamine for rapid onset and minimal hemodynamic impact.</a:t>
            </a:r>
            <a:endParaRPr lang="en-GB" sz="3200" b="1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Drugs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Succinylcholine</a:t>
            </a:r>
            <a:r>
              <a:rPr lang="en-GB" sz="3200" dirty="0">
                <a:latin typeface="Gabriola" pitchFamily="82" charset="0"/>
              </a:rPr>
              <a:t> for intubation is safe in pregnant trauma patients.</a:t>
            </a: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Ketamine</a:t>
            </a:r>
            <a:r>
              <a:rPr lang="en-GB" sz="3200" dirty="0">
                <a:latin typeface="Gabriola" pitchFamily="82" charset="0"/>
              </a:rPr>
              <a:t>: Effective for sedation and analgesia in trauma care, preserving stability</a:t>
            </a:r>
            <a:endParaRPr lang="en-GB" sz="3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421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801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219256" cy="53614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Opioids</a:t>
            </a:r>
            <a:r>
              <a:rPr lang="en-GB" dirty="0">
                <a:latin typeface="Gabriola" pitchFamily="82" charset="0"/>
              </a:rPr>
              <a:t>: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Administer </a:t>
            </a:r>
            <a:r>
              <a:rPr lang="en-GB" sz="3200" dirty="0">
                <a:latin typeface="Gabriola" pitchFamily="82" charset="0"/>
              </a:rPr>
              <a:t>cautiously, considering both maternal and </a:t>
            </a:r>
            <a:r>
              <a:rPr lang="en-GB" sz="3200" dirty="0" err="1">
                <a:latin typeface="Gabriola" pitchFamily="82" charset="0"/>
              </a:rPr>
              <a:t>fetal</a:t>
            </a:r>
            <a:r>
              <a:rPr lang="en-GB" sz="3200" dirty="0">
                <a:latin typeface="Gabriola" pitchFamily="82" charset="0"/>
              </a:rPr>
              <a:t> safety (fentanyl and morphine are common options).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Avoid </a:t>
            </a:r>
            <a:r>
              <a:rPr lang="en-GB" b="1" dirty="0" err="1">
                <a:latin typeface="Gabriola" pitchFamily="82" charset="0"/>
              </a:rPr>
              <a:t>uterotonic</a:t>
            </a:r>
            <a:r>
              <a:rPr lang="en-GB" b="1" dirty="0">
                <a:latin typeface="Gabriola" pitchFamily="82" charset="0"/>
              </a:rPr>
              <a:t> drugs</a:t>
            </a:r>
            <a:r>
              <a:rPr lang="en-GB" dirty="0">
                <a:latin typeface="Gabriola" pitchFamily="82" charset="0"/>
              </a:rPr>
              <a:t>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in </a:t>
            </a:r>
            <a:r>
              <a:rPr lang="en-GB" sz="3200" dirty="0">
                <a:latin typeface="Gabriola" pitchFamily="82" charset="0"/>
              </a:rPr>
              <a:t>the early stages of pregnancy (e.g., oxytocin) to prevent premature uterine contractions.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585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/>
              <a:t>Fluid Resuscitation &amp; Transfusion in Trauma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712968" cy="5256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Initial Goals of Fluid Resuscitation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Restore intravascular </a:t>
            </a:r>
            <a:r>
              <a:rPr lang="en-GB" sz="3200" dirty="0" smtClean="0">
                <a:latin typeface="Gabriola" pitchFamily="82" charset="0"/>
              </a:rPr>
              <a:t>volume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Maintain </a:t>
            </a:r>
            <a:r>
              <a:rPr lang="en-GB" sz="3200" dirty="0" err="1">
                <a:latin typeface="Gabriola" pitchFamily="82" charset="0"/>
              </a:rPr>
              <a:t>uteroplacental</a:t>
            </a:r>
            <a:r>
              <a:rPr lang="en-GB" sz="3200" dirty="0">
                <a:latin typeface="Gabriola" pitchFamily="82" charset="0"/>
              </a:rPr>
              <a:t> </a:t>
            </a:r>
            <a:r>
              <a:rPr lang="en-GB" sz="3200" dirty="0" smtClean="0">
                <a:latin typeface="Gabriola" pitchFamily="82" charset="0"/>
              </a:rPr>
              <a:t>perfusion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Prevent </a:t>
            </a:r>
            <a:r>
              <a:rPr lang="en-GB" sz="3200" dirty="0">
                <a:latin typeface="Gabriola" pitchFamily="82" charset="0"/>
              </a:rPr>
              <a:t>maternal organ </a:t>
            </a:r>
            <a:r>
              <a:rPr lang="en-GB" sz="3200" dirty="0" smtClean="0">
                <a:latin typeface="Gabriola" pitchFamily="82" charset="0"/>
              </a:rPr>
              <a:t>dysfunction</a:t>
            </a:r>
            <a:endParaRPr lang="en-GB" sz="32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869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60648"/>
            <a:ext cx="8686800" cy="13002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20688"/>
            <a:ext cx="8712968" cy="55054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latin typeface="Gabriola" pitchFamily="82" charset="0"/>
              </a:rPr>
              <a:t>Fluid Selection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Crystalloids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Lactated Ringer’s Solution (LR)</a:t>
            </a:r>
            <a:r>
              <a:rPr lang="en-GB" sz="3200" dirty="0">
                <a:latin typeface="Gabriola" pitchFamily="82" charset="0"/>
              </a:rPr>
              <a:t>: Preferred for initial fluid resuscitation, as it closely matches extracellular fluid composition.</a:t>
            </a: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Normal Saline (0.9%)</a:t>
            </a:r>
            <a:r>
              <a:rPr lang="en-GB" sz="3200" dirty="0">
                <a:latin typeface="Gabriola" pitchFamily="82" charset="0"/>
              </a:rPr>
              <a:t>: An alternative, though it may lead to </a:t>
            </a:r>
            <a:r>
              <a:rPr lang="en-GB" sz="3200" dirty="0" err="1">
                <a:latin typeface="Gabriola" pitchFamily="82" charset="0"/>
              </a:rPr>
              <a:t>hyperchloremic</a:t>
            </a:r>
            <a:r>
              <a:rPr lang="en-GB" sz="3200" dirty="0">
                <a:latin typeface="Gabriola" pitchFamily="82" charset="0"/>
              </a:rPr>
              <a:t> acidosis in large volumes.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1551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640960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Colloids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Albumin</a:t>
            </a:r>
            <a:r>
              <a:rPr lang="en-GB" sz="3200" dirty="0">
                <a:latin typeface="Gabriola" pitchFamily="82" charset="0"/>
              </a:rPr>
              <a:t>: Used in cases of severe </a:t>
            </a:r>
            <a:r>
              <a:rPr lang="en-GB" sz="3200" dirty="0" err="1">
                <a:latin typeface="Gabriola" pitchFamily="82" charset="0"/>
              </a:rPr>
              <a:t>hemorrhage</a:t>
            </a:r>
            <a:r>
              <a:rPr lang="en-GB" sz="3200" dirty="0">
                <a:latin typeface="Gabriola" pitchFamily="82" charset="0"/>
              </a:rPr>
              <a:t> or if significant </a:t>
            </a:r>
            <a:r>
              <a:rPr lang="en-GB" sz="3200" dirty="0" err="1">
                <a:latin typeface="Gabriola" pitchFamily="82" charset="0"/>
              </a:rPr>
              <a:t>edema</a:t>
            </a:r>
            <a:r>
              <a:rPr lang="en-GB" sz="3200" dirty="0">
                <a:latin typeface="Gabriola" pitchFamily="82" charset="0"/>
              </a:rPr>
              <a:t> develops.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Resuscitation Protocol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Initial bolus</a:t>
            </a:r>
            <a:r>
              <a:rPr lang="en-GB" sz="3200" dirty="0">
                <a:latin typeface="Gabriola" pitchFamily="82" charset="0"/>
              </a:rPr>
              <a:t>: 1-2 </a:t>
            </a:r>
            <a:r>
              <a:rPr lang="en-GB" sz="3200" dirty="0" err="1">
                <a:latin typeface="Gabriola" pitchFamily="82" charset="0"/>
              </a:rPr>
              <a:t>liters</a:t>
            </a:r>
            <a:r>
              <a:rPr lang="en-GB" sz="3200" dirty="0">
                <a:latin typeface="Gabriola" pitchFamily="82" charset="0"/>
              </a:rPr>
              <a:t> of crystalloid for immediate resuscitation.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094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92696"/>
            <a:ext cx="8795320" cy="543346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sz="3200" b="1" dirty="0" err="1" smtClean="0">
                <a:latin typeface="Gabriola" pitchFamily="82" charset="0"/>
              </a:rPr>
              <a:t>Ongoing</a:t>
            </a:r>
            <a:r>
              <a:rPr lang="en-GB" sz="3200" b="1" dirty="0" smtClean="0">
                <a:latin typeface="Gabriola" pitchFamily="82" charset="0"/>
              </a:rPr>
              <a:t> </a:t>
            </a:r>
            <a:r>
              <a:rPr lang="en-GB" sz="3200" b="1" dirty="0" smtClean="0">
                <a:latin typeface="Gabriola" pitchFamily="82" charset="0"/>
              </a:rPr>
              <a:t>fluid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Administer </a:t>
            </a:r>
            <a:r>
              <a:rPr lang="en-GB" sz="3200" dirty="0">
                <a:latin typeface="Gabriola" pitchFamily="82" charset="0"/>
              </a:rPr>
              <a:t>additional fluids based on maternal </a:t>
            </a:r>
            <a:r>
              <a:rPr lang="en-GB" sz="3200" dirty="0" err="1">
                <a:latin typeface="Gabriola" pitchFamily="82" charset="0"/>
              </a:rPr>
              <a:t>hemodynamics</a:t>
            </a:r>
            <a:r>
              <a:rPr lang="en-GB" sz="3200" dirty="0">
                <a:latin typeface="Gabriola" pitchFamily="82" charset="0"/>
              </a:rPr>
              <a:t> (blood pressure, heart rate), urinary output, and central venous pressure (CVP) if available.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9298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Arial Black" pitchFamily="34" charset="0"/>
              </a:rPr>
              <a:t>Transfusion </a:t>
            </a:r>
            <a:r>
              <a:rPr lang="en-GB" sz="4000" b="1" dirty="0">
                <a:latin typeface="Arial Black" pitchFamily="34" charset="0"/>
              </a:rPr>
              <a:t>in Obstetric Trauma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8856984" cy="5616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Indications </a:t>
            </a:r>
            <a:r>
              <a:rPr lang="en-GB" b="1" dirty="0">
                <a:latin typeface="Gabriola" pitchFamily="82" charset="0"/>
              </a:rPr>
              <a:t>for Transfusion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b="1" dirty="0" err="1">
                <a:latin typeface="Gabriola" pitchFamily="82" charset="0"/>
              </a:rPr>
              <a:t>Hemorrhage</a:t>
            </a:r>
            <a:r>
              <a:rPr lang="en-GB" sz="3200" dirty="0">
                <a:latin typeface="Gabriola" pitchFamily="82" charset="0"/>
              </a:rPr>
              <a:t>: 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Indicated </a:t>
            </a:r>
            <a:r>
              <a:rPr lang="en-GB" sz="3200" dirty="0">
                <a:latin typeface="Gabriola" pitchFamily="82" charset="0"/>
              </a:rPr>
              <a:t>when blood loss exceeds </a:t>
            </a:r>
            <a:r>
              <a:rPr lang="en-GB" sz="3200" b="1" dirty="0">
                <a:latin typeface="Gabriola" pitchFamily="82" charset="0"/>
              </a:rPr>
              <a:t>30% </a:t>
            </a:r>
            <a:r>
              <a:rPr lang="en-GB" sz="3200" dirty="0">
                <a:latin typeface="Gabriola" pitchFamily="82" charset="0"/>
              </a:rPr>
              <a:t>of circulating blood volume (around </a:t>
            </a:r>
            <a:r>
              <a:rPr lang="en-GB" sz="3200" b="1" dirty="0">
                <a:latin typeface="Gabriola" pitchFamily="82" charset="0"/>
              </a:rPr>
              <a:t>1.5 L </a:t>
            </a:r>
            <a:r>
              <a:rPr lang="en-GB" sz="3200" dirty="0">
                <a:latin typeface="Gabriola" pitchFamily="82" charset="0"/>
              </a:rPr>
              <a:t>in an adult).</a:t>
            </a:r>
          </a:p>
          <a:p>
            <a:pPr lvl="1">
              <a:lnSpc>
                <a:spcPct val="150000"/>
              </a:lnSpc>
            </a:pPr>
            <a:r>
              <a:rPr lang="en-GB" sz="3200" b="1" dirty="0" err="1">
                <a:latin typeface="Gabriola" pitchFamily="82" charset="0"/>
              </a:rPr>
              <a:t>Hemoglobin</a:t>
            </a:r>
            <a:r>
              <a:rPr lang="en-GB" sz="3200" b="1" dirty="0">
                <a:latin typeface="Gabriola" pitchFamily="82" charset="0"/>
              </a:rPr>
              <a:t> level</a:t>
            </a:r>
            <a:r>
              <a:rPr lang="en-GB" sz="3200" dirty="0">
                <a:latin typeface="Gabriola" pitchFamily="82" charset="0"/>
              </a:rPr>
              <a:t>: 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Transfusion </a:t>
            </a:r>
            <a:r>
              <a:rPr lang="en-GB" sz="3200" dirty="0">
                <a:latin typeface="Gabriola" pitchFamily="82" charset="0"/>
              </a:rPr>
              <a:t>is typically indicated when </a:t>
            </a:r>
            <a:r>
              <a:rPr lang="en-GB" sz="3200" dirty="0" err="1">
                <a:latin typeface="Gabriola" pitchFamily="82" charset="0"/>
              </a:rPr>
              <a:t>hemoglobin</a:t>
            </a:r>
            <a:r>
              <a:rPr lang="en-GB" sz="3200" dirty="0">
                <a:latin typeface="Gabriola" pitchFamily="82" charset="0"/>
              </a:rPr>
              <a:t> drops below </a:t>
            </a:r>
            <a:r>
              <a:rPr lang="en-GB" sz="3200" b="1" dirty="0">
                <a:latin typeface="Gabriola" pitchFamily="82" charset="0"/>
              </a:rPr>
              <a:t>7-8 g/</a:t>
            </a:r>
            <a:r>
              <a:rPr lang="en-GB" sz="3200" b="1" dirty="0" err="1">
                <a:latin typeface="Gabriola" pitchFamily="82" charset="0"/>
              </a:rPr>
              <a:t>dL</a:t>
            </a:r>
            <a:r>
              <a:rPr lang="en-GB" sz="3200" b="1" dirty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44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784976" cy="5400600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Signs of shock</a:t>
            </a:r>
            <a:r>
              <a:rPr lang="en-GB" sz="3200" dirty="0">
                <a:latin typeface="Gabriola" pitchFamily="82" charset="0"/>
              </a:rPr>
              <a:t>: </a:t>
            </a:r>
          </a:p>
          <a:p>
            <a:pPr lvl="2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Tachycardia, hypotension, and altered mental status may require blood transfusion if crystalloids do not stabilize the patient</a:t>
            </a:r>
            <a:r>
              <a:rPr lang="en-GB" sz="3200" dirty="0" smtClean="0">
                <a:latin typeface="Gabriola" pitchFamily="82" charset="0"/>
              </a:rPr>
              <a:t>.</a:t>
            </a:r>
          </a:p>
          <a:p>
            <a:pPr marL="514350" lvl="1" indent="0">
              <a:lnSpc>
                <a:spcPct val="150000"/>
              </a:lnSpc>
              <a:buNone/>
            </a:pPr>
            <a:r>
              <a:rPr lang="en-GB" sz="3600" b="1" dirty="0">
                <a:latin typeface="Gabriola" pitchFamily="82" charset="0"/>
              </a:rPr>
              <a:t>Blood Products</a:t>
            </a:r>
            <a:endParaRPr lang="en-GB" sz="3600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Packed Red Blood Cells (PRBCs):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Primary product for restoring oxygen-carrying capacity.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4903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507288" cy="576064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 smtClean="0">
                <a:latin typeface="Gabriola" pitchFamily="82" charset="0"/>
              </a:rPr>
              <a:t/>
            </a:r>
            <a:br>
              <a:rPr lang="en-GB" b="1" dirty="0" smtClean="0">
                <a:latin typeface="Gabriola" pitchFamily="82" charset="0"/>
              </a:rPr>
            </a:br>
            <a:r>
              <a:rPr lang="en-GB" b="1" dirty="0" smtClean="0">
                <a:latin typeface="Gabriola" pitchFamily="82" charset="0"/>
              </a:rPr>
              <a:t>Blood </a:t>
            </a:r>
            <a:r>
              <a:rPr lang="en-GB" b="1" dirty="0">
                <a:latin typeface="Gabriola" pitchFamily="82" charset="0"/>
              </a:rPr>
              <a:t>Products</a:t>
            </a:r>
            <a:r>
              <a:rPr lang="en-GB" dirty="0">
                <a:latin typeface="Gabriola" pitchFamily="82" charset="0"/>
              </a:rPr>
              <a:t/>
            </a:r>
            <a:br>
              <a:rPr lang="en-GB" dirty="0">
                <a:latin typeface="Gabriola" pitchFamily="82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904656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Use </a:t>
            </a:r>
            <a:r>
              <a:rPr lang="en-GB" dirty="0">
                <a:latin typeface="Gabriola" pitchFamily="82" charset="0"/>
              </a:rPr>
              <a:t>based on blood loss (typically administered when </a:t>
            </a:r>
            <a:r>
              <a:rPr lang="en-GB" dirty="0" err="1">
                <a:latin typeface="Gabriola" pitchFamily="82" charset="0"/>
              </a:rPr>
              <a:t>hemoglobin</a:t>
            </a:r>
            <a:r>
              <a:rPr lang="en-GB" dirty="0">
                <a:latin typeface="Gabriola" pitchFamily="82" charset="0"/>
              </a:rPr>
              <a:t> is below 7-8 g/</a:t>
            </a:r>
            <a:r>
              <a:rPr lang="en-GB" dirty="0" err="1">
                <a:latin typeface="Gabriola" pitchFamily="82" charset="0"/>
              </a:rPr>
              <a:t>dL</a:t>
            </a:r>
            <a:r>
              <a:rPr lang="en-GB" dirty="0">
                <a:latin typeface="Gabriola" pitchFamily="82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Fresh Frozen Plasma (FFP):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Administered when there is coagulopathy, especially in cases of massive </a:t>
            </a:r>
            <a:r>
              <a:rPr lang="en-GB" dirty="0" err="1">
                <a:latin typeface="Gabriola" pitchFamily="82" charset="0"/>
              </a:rPr>
              <a:t>hemorrhage</a:t>
            </a:r>
            <a:r>
              <a:rPr lang="en-GB" dirty="0">
                <a:latin typeface="Gabriola" pitchFamily="82" charset="0"/>
              </a:rPr>
              <a:t>, to replace clotting factors.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Platelets: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Given in cases of thrombocytopenia or massive </a:t>
            </a:r>
            <a:r>
              <a:rPr lang="en-GB" dirty="0" err="1">
                <a:latin typeface="Gabriola" pitchFamily="82" charset="0"/>
              </a:rPr>
              <a:t>hemorrhage</a:t>
            </a:r>
            <a:r>
              <a:rPr lang="en-GB" dirty="0">
                <a:latin typeface="Gabriola" pitchFamily="82" charset="0"/>
              </a:rPr>
              <a:t> with a platelet count &lt; 50,000/µL.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21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0609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Massive Transfusion Protocol (MTP)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856984" cy="55446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Activation</a:t>
            </a:r>
            <a:r>
              <a:rPr lang="en-GB" dirty="0">
                <a:latin typeface="Gabriola" pitchFamily="82" charset="0"/>
              </a:rPr>
              <a:t>: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Initiate </a:t>
            </a:r>
            <a:r>
              <a:rPr lang="en-GB" dirty="0">
                <a:latin typeface="Gabriola" pitchFamily="82" charset="0"/>
              </a:rPr>
              <a:t>when blood loss is </a:t>
            </a:r>
            <a:r>
              <a:rPr lang="en-GB" b="1" dirty="0">
                <a:latin typeface="Gabriola" pitchFamily="82" charset="0"/>
              </a:rPr>
              <a:t>≥ 50% </a:t>
            </a:r>
            <a:r>
              <a:rPr lang="en-GB" dirty="0">
                <a:latin typeface="Gabriola" pitchFamily="82" charset="0"/>
              </a:rPr>
              <a:t>of blood volume </a:t>
            </a:r>
            <a:r>
              <a:rPr lang="en-GB" b="1" dirty="0">
                <a:latin typeface="Gabriola" pitchFamily="82" charset="0"/>
              </a:rPr>
              <a:t>within 4 hours</a:t>
            </a:r>
            <a:r>
              <a:rPr lang="en-GB" dirty="0">
                <a:latin typeface="Gabriola" pitchFamily="82" charset="0"/>
              </a:rPr>
              <a:t>, or when there is </a:t>
            </a:r>
            <a:r>
              <a:rPr lang="en-GB" dirty="0" err="1">
                <a:latin typeface="Gabriola" pitchFamily="82" charset="0"/>
              </a:rPr>
              <a:t>ongoing</a:t>
            </a:r>
            <a:r>
              <a:rPr lang="en-GB" dirty="0">
                <a:latin typeface="Gabriola" pitchFamily="82" charset="0"/>
              </a:rPr>
              <a:t> </a:t>
            </a:r>
            <a:r>
              <a:rPr lang="en-GB" dirty="0" err="1">
                <a:latin typeface="Gabriola" pitchFamily="82" charset="0"/>
              </a:rPr>
              <a:t>hemorrhage</a:t>
            </a:r>
            <a:r>
              <a:rPr lang="en-GB" dirty="0">
                <a:latin typeface="Gabriola" pitchFamily="82" charset="0"/>
              </a:rPr>
              <a:t> despite initial resuscitation.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Balanced transfusion approach</a:t>
            </a:r>
            <a:r>
              <a:rPr lang="en-GB" dirty="0">
                <a:latin typeface="Gabriola" pitchFamily="82" charset="0"/>
              </a:rPr>
              <a:t>: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PRBCs</a:t>
            </a:r>
            <a:r>
              <a:rPr lang="en-GB" dirty="0">
                <a:latin typeface="Gabriola" pitchFamily="82" charset="0"/>
              </a:rPr>
              <a:t>, FFP, and platelets in a </a:t>
            </a:r>
            <a:r>
              <a:rPr lang="en-GB" b="1" dirty="0">
                <a:latin typeface="Gabriola" pitchFamily="82" charset="0"/>
              </a:rPr>
              <a:t>1:1:1 or 2:1:1 </a:t>
            </a:r>
            <a:r>
              <a:rPr lang="en-GB" dirty="0">
                <a:latin typeface="Gabriola" pitchFamily="82" charset="0"/>
              </a:rPr>
              <a:t>ratio to maintain normal coagulation and prevent coagulopathy.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Goal-directed therapy</a:t>
            </a:r>
            <a:r>
              <a:rPr lang="en-GB" dirty="0">
                <a:latin typeface="Gabriola" pitchFamily="82" charset="0"/>
              </a:rPr>
              <a:t>: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Monitoring </a:t>
            </a:r>
            <a:r>
              <a:rPr lang="en-GB" dirty="0">
                <a:latin typeface="Gabriola" pitchFamily="82" charset="0"/>
              </a:rPr>
              <a:t>of coagulation parameters and </a:t>
            </a:r>
            <a:r>
              <a:rPr lang="en-GB" dirty="0" err="1">
                <a:latin typeface="Gabriola" pitchFamily="82" charset="0"/>
              </a:rPr>
              <a:t>hemodynamics</a:t>
            </a:r>
            <a:r>
              <a:rPr lang="en-GB" dirty="0">
                <a:latin typeface="Gabriola" pitchFamily="82" charset="0"/>
              </a:rPr>
              <a:t> to guide further transfusions.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16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 smtClean="0">
                <a:latin typeface="Arial Black" pitchFamily="34" charset="0"/>
              </a:rPr>
              <a:t>Trauma </a:t>
            </a:r>
            <a:r>
              <a:rPr lang="en-GB" sz="3600" b="1" dirty="0">
                <a:latin typeface="Arial Black" pitchFamily="34" charset="0"/>
              </a:rPr>
              <a:t>During Different Stages of Pregnancy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68760"/>
            <a:ext cx="8928992" cy="525658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First Trimester Anaesthesia </a:t>
            </a:r>
            <a:r>
              <a:rPr lang="en-GB" b="1" dirty="0">
                <a:latin typeface="Gabriola" pitchFamily="82" charset="0"/>
              </a:rPr>
              <a:t>Considerations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General </a:t>
            </a:r>
            <a:r>
              <a:rPr lang="en-GB" b="1" dirty="0">
                <a:latin typeface="Gabriola" pitchFamily="82" charset="0"/>
              </a:rPr>
              <a:t>Considerations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Increased risk of miscarriage</a:t>
            </a:r>
            <a:r>
              <a:rPr lang="en-GB" dirty="0">
                <a:latin typeface="Gabriola" pitchFamily="82" charset="0"/>
              </a:rPr>
              <a:t>: Trauma during the first trimester can be particularly concerning for miscarriage, so </a:t>
            </a:r>
            <a:r>
              <a:rPr lang="en-GB" dirty="0" smtClean="0">
                <a:latin typeface="Gabriola" pitchFamily="82" charset="0"/>
              </a:rPr>
              <a:t>anaesthesia </a:t>
            </a:r>
            <a:r>
              <a:rPr lang="en-GB" dirty="0">
                <a:latin typeface="Gabriola" pitchFamily="82" charset="0"/>
              </a:rPr>
              <a:t>should minimize </a:t>
            </a:r>
            <a:r>
              <a:rPr lang="en-GB" dirty="0" err="1">
                <a:latin typeface="Gabriola" pitchFamily="82" charset="0"/>
              </a:rPr>
              <a:t>fetal</a:t>
            </a:r>
            <a:r>
              <a:rPr lang="en-GB" dirty="0">
                <a:latin typeface="Gabriola" pitchFamily="82" charset="0"/>
              </a:rPr>
              <a:t> risk.</a:t>
            </a:r>
          </a:p>
          <a:p>
            <a:pPr lvl="1">
              <a:lnSpc>
                <a:spcPct val="150000"/>
              </a:lnSpc>
            </a:pPr>
            <a:r>
              <a:rPr lang="en-GB" b="1" dirty="0" err="1">
                <a:latin typeface="Gabriola" pitchFamily="82" charset="0"/>
              </a:rPr>
              <a:t>Anesthesia</a:t>
            </a:r>
            <a:r>
              <a:rPr lang="en-GB" b="1" dirty="0">
                <a:latin typeface="Gabriola" pitchFamily="82" charset="0"/>
              </a:rPr>
              <a:t> choice</a:t>
            </a:r>
            <a:r>
              <a:rPr lang="en-GB" dirty="0">
                <a:latin typeface="Gabriola" pitchFamily="82" charset="0"/>
              </a:rPr>
              <a:t>: Generally similar to non-pregnant trauma care with limited drug impact on the </a:t>
            </a:r>
            <a:r>
              <a:rPr lang="en-GB" dirty="0" err="1">
                <a:latin typeface="Gabriola" pitchFamily="82" charset="0"/>
              </a:rPr>
              <a:t>fetus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Drug considerations</a:t>
            </a:r>
            <a:r>
              <a:rPr lang="en-GB" dirty="0">
                <a:latin typeface="Gabriola" pitchFamily="82" charset="0"/>
              </a:rPr>
              <a:t>: Many drugs can cross the placenta in the first trimester, so choose drugs with minimal </a:t>
            </a:r>
            <a:r>
              <a:rPr lang="en-GB" dirty="0" err="1">
                <a:latin typeface="Gabriola" pitchFamily="82" charset="0"/>
              </a:rPr>
              <a:t>teratogenic</a:t>
            </a:r>
            <a:r>
              <a:rPr lang="en-GB" dirty="0">
                <a:latin typeface="Gabriola" pitchFamily="82" charset="0"/>
              </a:rPr>
              <a:t> effects.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37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928992" cy="597666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latin typeface="Gabriola" pitchFamily="82" charset="0"/>
              </a:rPr>
              <a:t>Drug Selection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Inhalational </a:t>
            </a:r>
            <a:r>
              <a:rPr lang="en-GB" b="1" dirty="0" err="1">
                <a:latin typeface="Gabriola" pitchFamily="82" charset="0"/>
              </a:rPr>
              <a:t>Anesthetics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err="1">
                <a:latin typeface="Gabriola" pitchFamily="82" charset="0"/>
              </a:rPr>
              <a:t>Sevoflurane</a:t>
            </a:r>
            <a:r>
              <a:rPr lang="en-GB" dirty="0">
                <a:latin typeface="Gabriola" pitchFamily="82" charset="0"/>
              </a:rPr>
              <a:t>: Preferred due to its relatively low placental transfer and rapid clearance.</a:t>
            </a:r>
          </a:p>
          <a:p>
            <a:pPr lvl="1">
              <a:lnSpc>
                <a:spcPct val="150000"/>
              </a:lnSpc>
            </a:pPr>
            <a:r>
              <a:rPr lang="en-GB" b="1" dirty="0" err="1">
                <a:latin typeface="Gabriola" pitchFamily="82" charset="0"/>
              </a:rPr>
              <a:t>Isoflurane</a:t>
            </a:r>
            <a:r>
              <a:rPr lang="en-GB" dirty="0">
                <a:latin typeface="Gabriola" pitchFamily="82" charset="0"/>
              </a:rPr>
              <a:t>: Less commonly used, but safe in low doses.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Opioids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Fentanyl</a:t>
            </a:r>
            <a:r>
              <a:rPr lang="en-GB" dirty="0">
                <a:latin typeface="Gabriola" pitchFamily="82" charset="0"/>
              </a:rPr>
              <a:t>: Preferred for analgesia due to rapid onset, short duration, and minimal </a:t>
            </a:r>
            <a:r>
              <a:rPr lang="en-GB" dirty="0" err="1">
                <a:latin typeface="Gabriola" pitchFamily="82" charset="0"/>
              </a:rPr>
              <a:t>fetal</a:t>
            </a:r>
            <a:r>
              <a:rPr lang="en-GB" dirty="0">
                <a:latin typeface="Gabriola" pitchFamily="82" charset="0"/>
              </a:rPr>
              <a:t> impact.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Morphine</a:t>
            </a:r>
            <a:r>
              <a:rPr lang="en-GB" dirty="0">
                <a:latin typeface="Gabriola" pitchFamily="82" charset="0"/>
              </a:rPr>
              <a:t>: Less preferred due to longer half-life.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52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476672"/>
            <a:ext cx="8964488" cy="61206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GB" sz="3000" b="1" dirty="0">
                <a:latin typeface="Gabriola" pitchFamily="82" charset="0"/>
              </a:rPr>
              <a:t>Local </a:t>
            </a:r>
            <a:r>
              <a:rPr lang="en-GB" sz="3000" b="1" dirty="0" err="1">
                <a:latin typeface="Gabriola" pitchFamily="82" charset="0"/>
              </a:rPr>
              <a:t>Anesthetics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b="1" dirty="0" err="1">
                <a:latin typeface="Gabriola" pitchFamily="82" charset="0"/>
              </a:rPr>
              <a:t>Lidocaine</a:t>
            </a:r>
            <a:r>
              <a:rPr lang="en-GB" dirty="0">
                <a:latin typeface="Gabriola" pitchFamily="82" charset="0"/>
              </a:rPr>
              <a:t>: Safe for regional blocks (epidural, spinal) with low </a:t>
            </a:r>
            <a:r>
              <a:rPr lang="en-GB" dirty="0" err="1">
                <a:latin typeface="Gabriola" pitchFamily="82" charset="0"/>
              </a:rPr>
              <a:t>fetal</a:t>
            </a:r>
            <a:r>
              <a:rPr lang="en-GB" dirty="0">
                <a:latin typeface="Gabriola" pitchFamily="82" charset="0"/>
              </a:rPr>
              <a:t> risk.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Bupivacaine</a:t>
            </a:r>
            <a:r>
              <a:rPr lang="en-GB" dirty="0">
                <a:latin typeface="Gabriola" pitchFamily="82" charset="0"/>
              </a:rPr>
              <a:t>: Also safe for regional </a:t>
            </a:r>
            <a:r>
              <a:rPr lang="en-GB" dirty="0" err="1">
                <a:latin typeface="Gabriola" pitchFamily="82" charset="0"/>
              </a:rPr>
              <a:t>anesthesia</a:t>
            </a:r>
            <a:r>
              <a:rPr lang="en-GB" dirty="0">
                <a:latin typeface="Gabriola" pitchFamily="82" charset="0"/>
              </a:rPr>
              <a:t>, preferred for prolonged procedures due to its longer duration of action.</a:t>
            </a:r>
          </a:p>
          <a:p>
            <a:pPr>
              <a:lnSpc>
                <a:spcPct val="160000"/>
              </a:lnSpc>
            </a:pPr>
            <a:r>
              <a:rPr lang="en-GB" sz="3000" b="1" dirty="0">
                <a:latin typeface="Gabriola" pitchFamily="82" charset="0"/>
              </a:rPr>
              <a:t>Advantages of Drug Selection</a:t>
            </a:r>
            <a:endParaRPr lang="en-GB" sz="30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Minimal teratogenicity</a:t>
            </a:r>
            <a:r>
              <a:rPr lang="en-GB" dirty="0">
                <a:latin typeface="Gabriola" pitchFamily="82" charset="0"/>
              </a:rPr>
              <a:t>: Drugs with low placental </a:t>
            </a:r>
            <a:r>
              <a:rPr lang="en-GB" dirty="0" smtClean="0">
                <a:latin typeface="Gabriola" pitchFamily="82" charset="0"/>
              </a:rPr>
              <a:t>transfer minimize </a:t>
            </a:r>
            <a:r>
              <a:rPr lang="en-GB" dirty="0" err="1">
                <a:latin typeface="Gabriola" pitchFamily="82" charset="0"/>
              </a:rPr>
              <a:t>fetal</a:t>
            </a:r>
            <a:r>
              <a:rPr lang="en-GB" dirty="0">
                <a:latin typeface="Gabriola" pitchFamily="82" charset="0"/>
              </a:rPr>
              <a:t> risks.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Short duration of action</a:t>
            </a:r>
            <a:r>
              <a:rPr lang="en-GB" dirty="0">
                <a:latin typeface="Gabriola" pitchFamily="82" charset="0"/>
              </a:rPr>
              <a:t>: Shorter-acting opioids </a:t>
            </a:r>
            <a:r>
              <a:rPr lang="en-GB" dirty="0" smtClean="0">
                <a:latin typeface="Gabriola" pitchFamily="82" charset="0"/>
              </a:rPr>
              <a:t>reduce foetal </a:t>
            </a:r>
            <a:r>
              <a:rPr lang="en-GB" dirty="0">
                <a:latin typeface="Gabriola" pitchFamily="82" charset="0"/>
              </a:rPr>
              <a:t>exposure.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Avoidance of prolonged exposure</a:t>
            </a:r>
            <a:r>
              <a:rPr lang="en-GB" dirty="0">
                <a:latin typeface="Gabriola" pitchFamily="82" charset="0"/>
              </a:rPr>
              <a:t>: Regional </a:t>
            </a:r>
            <a:r>
              <a:rPr lang="en-GB" dirty="0" err="1" smtClean="0">
                <a:latin typeface="Gabriola" pitchFamily="82" charset="0"/>
              </a:rPr>
              <a:t>blocksoffer</a:t>
            </a: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>
                <a:latin typeface="Gabriola" pitchFamily="82" charset="0"/>
              </a:rPr>
              <a:t>good pain control without general </a:t>
            </a:r>
            <a:r>
              <a:rPr lang="en-GB" dirty="0" err="1">
                <a:latin typeface="Gabriola" pitchFamily="82" charset="0"/>
              </a:rPr>
              <a:t>anesthesia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20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107504" y="44624"/>
            <a:ext cx="8579296" cy="230014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 err="1" smtClean="0"/>
              <a:t>cont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476672"/>
            <a:ext cx="8784976" cy="597666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Second </a:t>
            </a:r>
            <a:r>
              <a:rPr lang="en-GB" b="1" dirty="0">
                <a:latin typeface="Gabriola" pitchFamily="82" charset="0"/>
              </a:rPr>
              <a:t>Trimester </a:t>
            </a:r>
            <a:r>
              <a:rPr lang="en-GB" b="1" dirty="0" err="1">
                <a:latin typeface="Gabriola" pitchFamily="82" charset="0"/>
              </a:rPr>
              <a:t>Anesthesia</a:t>
            </a:r>
            <a:r>
              <a:rPr lang="en-GB" b="1" dirty="0">
                <a:latin typeface="Gabriola" pitchFamily="82" charset="0"/>
              </a:rPr>
              <a:t> </a:t>
            </a:r>
            <a:r>
              <a:rPr lang="en-GB" b="1" dirty="0" smtClean="0">
                <a:latin typeface="Gabriola" pitchFamily="82" charset="0"/>
              </a:rPr>
              <a:t>Considerations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General Considerations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More vascular uterus</a:t>
            </a:r>
            <a:r>
              <a:rPr lang="en-GB" dirty="0">
                <a:latin typeface="Gabriola" pitchFamily="82" charset="0"/>
              </a:rPr>
              <a:t>: The uterus is larger and more vascular, increasing the risk of placental injury and bleeding.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Positioning</a:t>
            </a:r>
            <a:r>
              <a:rPr lang="en-GB" dirty="0">
                <a:latin typeface="Gabriola" pitchFamily="82" charset="0"/>
              </a:rPr>
              <a:t>: Careful left lateral tilt to avoid </a:t>
            </a:r>
            <a:r>
              <a:rPr lang="en-GB" dirty="0" err="1">
                <a:latin typeface="Gabriola" pitchFamily="82" charset="0"/>
              </a:rPr>
              <a:t>aortocaval</a:t>
            </a:r>
            <a:r>
              <a:rPr lang="en-GB" dirty="0">
                <a:latin typeface="Gabriola" pitchFamily="82" charset="0"/>
              </a:rPr>
              <a:t> compression.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Anaesthesia </a:t>
            </a:r>
            <a:r>
              <a:rPr lang="en-GB" b="1" dirty="0">
                <a:latin typeface="Gabriola" pitchFamily="82" charset="0"/>
              </a:rPr>
              <a:t>challenges</a:t>
            </a:r>
            <a:r>
              <a:rPr lang="en-GB" dirty="0">
                <a:latin typeface="Gabriola" pitchFamily="82" charset="0"/>
              </a:rPr>
              <a:t>: The </a:t>
            </a:r>
            <a:r>
              <a:rPr lang="en-GB" dirty="0" smtClean="0">
                <a:latin typeface="Gabriola" pitchFamily="82" charset="0"/>
              </a:rPr>
              <a:t>foetus </a:t>
            </a:r>
            <a:r>
              <a:rPr lang="en-GB" dirty="0">
                <a:latin typeface="Gabriola" pitchFamily="82" charset="0"/>
              </a:rPr>
              <a:t>is more developed, so drug effects on </a:t>
            </a:r>
            <a:r>
              <a:rPr lang="en-GB" dirty="0" smtClean="0">
                <a:latin typeface="Gabriola" pitchFamily="82" charset="0"/>
              </a:rPr>
              <a:t>foetal </a:t>
            </a:r>
            <a:r>
              <a:rPr lang="en-GB" dirty="0">
                <a:latin typeface="Gabriola" pitchFamily="82" charset="0"/>
              </a:rPr>
              <a:t>circulation become more significant.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2990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74638"/>
            <a:ext cx="8651304" cy="20203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32656"/>
            <a:ext cx="8892480" cy="626469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b="1" dirty="0">
                <a:latin typeface="Gabriola" pitchFamily="82" charset="0"/>
              </a:rPr>
              <a:t>Drug Selection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Inhalational </a:t>
            </a:r>
            <a:r>
              <a:rPr lang="en-GB" b="1" dirty="0" err="1">
                <a:latin typeface="Gabriola" pitchFamily="82" charset="0"/>
              </a:rPr>
              <a:t>Anesthetics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b="1" dirty="0" err="1">
                <a:latin typeface="Gabriola" pitchFamily="82" charset="0"/>
              </a:rPr>
              <a:t>Sevoflurane</a:t>
            </a:r>
            <a:r>
              <a:rPr lang="en-GB" dirty="0">
                <a:latin typeface="Gabriola" pitchFamily="82" charset="0"/>
              </a:rPr>
              <a:t>: </a:t>
            </a:r>
            <a:r>
              <a:rPr lang="en-GB" dirty="0" smtClean="0">
                <a:latin typeface="Gabriola" pitchFamily="82" charset="0"/>
              </a:rPr>
              <a:t>minimal </a:t>
            </a:r>
            <a:r>
              <a:rPr lang="en-GB" dirty="0">
                <a:latin typeface="Gabriola" pitchFamily="82" charset="0"/>
              </a:rPr>
              <a:t>uterine and placental effects.</a:t>
            </a:r>
          </a:p>
          <a:p>
            <a:pPr lvl="1">
              <a:lnSpc>
                <a:spcPct val="170000"/>
              </a:lnSpc>
            </a:pPr>
            <a:r>
              <a:rPr lang="en-GB" b="1" dirty="0" err="1">
                <a:latin typeface="Gabriola" pitchFamily="82" charset="0"/>
              </a:rPr>
              <a:t>Desflurane</a:t>
            </a:r>
            <a:r>
              <a:rPr lang="en-GB" dirty="0">
                <a:latin typeface="Gabriola" pitchFamily="82" charset="0"/>
              </a:rPr>
              <a:t>: Another option for quick onset and </a:t>
            </a:r>
            <a:r>
              <a:rPr lang="en-GB" dirty="0" smtClean="0">
                <a:latin typeface="Gabriola" pitchFamily="82" charset="0"/>
              </a:rPr>
              <a:t>recovery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Opioids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Fentanyl: and </a:t>
            </a:r>
            <a:r>
              <a:rPr lang="en-GB" dirty="0" err="1" smtClean="0">
                <a:latin typeface="Gabriola" pitchFamily="82" charset="0"/>
              </a:rPr>
              <a:t>Hydromorphone</a:t>
            </a:r>
            <a:r>
              <a:rPr lang="en-GB" dirty="0" smtClean="0">
                <a:latin typeface="Gabriola" pitchFamily="82" charset="0"/>
              </a:rPr>
              <a:t>: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Local </a:t>
            </a:r>
            <a:r>
              <a:rPr lang="en-GB" b="1" dirty="0" err="1">
                <a:latin typeface="Gabriola" pitchFamily="82" charset="0"/>
              </a:rPr>
              <a:t>Anesthetics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Bupivacaine and </a:t>
            </a:r>
            <a:r>
              <a:rPr lang="en-GB" dirty="0" err="1" smtClean="0">
                <a:latin typeface="Gabriola" pitchFamily="82" charset="0"/>
              </a:rPr>
              <a:t>Ropivacaine</a:t>
            </a:r>
            <a:r>
              <a:rPr lang="en-GB" dirty="0" smtClean="0">
                <a:latin typeface="Gabriola" pitchFamily="82" charset="0"/>
              </a:rPr>
              <a:t> </a:t>
            </a:r>
            <a:r>
              <a:rPr lang="en-GB" b="1" dirty="0" smtClean="0">
                <a:latin typeface="Gabriola" pitchFamily="82" charset="0"/>
              </a:rPr>
              <a:t>(</a:t>
            </a:r>
            <a:r>
              <a:rPr lang="en-GB" dirty="0" smtClean="0">
                <a:latin typeface="Gabriola" pitchFamily="82" charset="0"/>
              </a:rPr>
              <a:t>with </a:t>
            </a:r>
            <a:r>
              <a:rPr lang="en-GB" dirty="0">
                <a:latin typeface="Gabriola" pitchFamily="82" charset="0"/>
              </a:rPr>
              <a:t>a lower </a:t>
            </a:r>
            <a:r>
              <a:rPr lang="en-GB" dirty="0" err="1">
                <a:latin typeface="Gabriola" pitchFamily="82" charset="0"/>
              </a:rPr>
              <a:t>cardiotoxic</a:t>
            </a:r>
            <a:r>
              <a:rPr lang="en-GB" dirty="0">
                <a:latin typeface="Gabriola" pitchFamily="82" charset="0"/>
              </a:rPr>
              <a:t> profile </a:t>
            </a:r>
            <a:r>
              <a:rPr lang="en-GB" dirty="0" smtClean="0">
                <a:latin typeface="Gabriola" pitchFamily="82" charset="0"/>
              </a:rPr>
              <a:t>)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4039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640960" cy="52174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Advantages of Drug Selection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Reduced uterine tone</a:t>
            </a:r>
            <a:r>
              <a:rPr lang="en-GB" dirty="0">
                <a:latin typeface="Gabriola" pitchFamily="82" charset="0"/>
              </a:rPr>
              <a:t>: </a:t>
            </a:r>
            <a:r>
              <a:rPr lang="en-GB" dirty="0" err="1">
                <a:latin typeface="Gabriola" pitchFamily="82" charset="0"/>
              </a:rPr>
              <a:t>Sevoflurane</a:t>
            </a:r>
            <a:r>
              <a:rPr lang="en-GB" dirty="0">
                <a:latin typeface="Gabriola" pitchFamily="82" charset="0"/>
              </a:rPr>
              <a:t> and fentanyl are preferred as they provide rapid induction and recovery, and have minimal uterine effects, </a:t>
            </a:r>
            <a:r>
              <a:rPr lang="en-GB" b="1" dirty="0">
                <a:latin typeface="Gabriola" pitchFamily="82" charset="0"/>
              </a:rPr>
              <a:t>preventing uterine </a:t>
            </a:r>
            <a:r>
              <a:rPr lang="en-GB" b="1" dirty="0" err="1">
                <a:latin typeface="Gabriola" pitchFamily="82" charset="0"/>
              </a:rPr>
              <a:t>hypertonus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Regional </a:t>
            </a:r>
            <a:r>
              <a:rPr lang="en-GB" b="1" dirty="0" err="1">
                <a:latin typeface="Gabriola" pitchFamily="82" charset="0"/>
              </a:rPr>
              <a:t>anesthesia</a:t>
            </a:r>
            <a:r>
              <a:rPr lang="en-GB" b="1" dirty="0">
                <a:latin typeface="Gabriola" pitchFamily="82" charset="0"/>
              </a:rPr>
              <a:t> options</a:t>
            </a:r>
            <a:r>
              <a:rPr lang="en-GB" dirty="0">
                <a:latin typeface="Gabriola" pitchFamily="82" charset="0"/>
              </a:rPr>
              <a:t>: Bupivacaine and </a:t>
            </a:r>
            <a:r>
              <a:rPr lang="en-GB" dirty="0" err="1">
                <a:latin typeface="Gabriola" pitchFamily="82" charset="0"/>
              </a:rPr>
              <a:t>ropivacaine</a:t>
            </a:r>
            <a:r>
              <a:rPr lang="en-GB" dirty="0">
                <a:latin typeface="Gabriola" pitchFamily="82" charset="0"/>
              </a:rPr>
              <a:t> are ideal for longer surgeries, providing extended pain relief with minimal systemic effects on the </a:t>
            </a:r>
            <a:r>
              <a:rPr lang="en-GB" dirty="0" err="1">
                <a:latin typeface="Gabriola" pitchFamily="82" charset="0"/>
              </a:rPr>
              <a:t>fetus</a:t>
            </a:r>
            <a:r>
              <a:rPr lang="en-GB" dirty="0">
                <a:latin typeface="Gabriola" pitchFamily="82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2617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74638"/>
            <a:ext cx="8651304" cy="27404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036496" cy="55054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Third </a:t>
            </a:r>
            <a:r>
              <a:rPr lang="en-GB" b="1" dirty="0">
                <a:latin typeface="Gabriola" pitchFamily="82" charset="0"/>
              </a:rPr>
              <a:t>Trimester </a:t>
            </a:r>
            <a:r>
              <a:rPr lang="en-GB" b="1" dirty="0" err="1">
                <a:latin typeface="Gabriola" pitchFamily="82" charset="0"/>
              </a:rPr>
              <a:t>Anesthesia</a:t>
            </a:r>
            <a:r>
              <a:rPr lang="en-GB" b="1" dirty="0">
                <a:latin typeface="Gabriola" pitchFamily="82" charset="0"/>
              </a:rPr>
              <a:t> </a:t>
            </a:r>
            <a:r>
              <a:rPr lang="en-GB" b="1" dirty="0" smtClean="0">
                <a:latin typeface="Gabriola" pitchFamily="82" charset="0"/>
              </a:rPr>
              <a:t>Considerations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General </a:t>
            </a:r>
            <a:r>
              <a:rPr lang="en-GB" b="1" dirty="0">
                <a:latin typeface="Gabriola" pitchFamily="82" charset="0"/>
              </a:rPr>
              <a:t>Considerations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Risk of uterine rupture and preterm </a:t>
            </a:r>
            <a:r>
              <a:rPr lang="en-GB" b="1" dirty="0" err="1">
                <a:latin typeface="Gabriola" pitchFamily="82" charset="0"/>
              </a:rPr>
              <a:t>labor</a:t>
            </a:r>
            <a:r>
              <a:rPr lang="en-GB" dirty="0">
                <a:latin typeface="Gabriola" pitchFamily="82" charset="0"/>
              </a:rPr>
              <a:t>: The growing uterus places pressure on vital structures, which may complicate </a:t>
            </a:r>
            <a:r>
              <a:rPr lang="en-GB" dirty="0" smtClean="0">
                <a:latin typeface="Gabriola" pitchFamily="82" charset="0"/>
              </a:rPr>
              <a:t>anaesthesia </a:t>
            </a:r>
            <a:r>
              <a:rPr lang="en-GB" dirty="0">
                <a:latin typeface="Gabriola" pitchFamily="82" charset="0"/>
              </a:rPr>
              <a:t>management.</a:t>
            </a:r>
          </a:p>
          <a:p>
            <a:pPr lvl="1">
              <a:lnSpc>
                <a:spcPct val="150000"/>
              </a:lnSpc>
            </a:pPr>
            <a:r>
              <a:rPr lang="en-GB" b="1" dirty="0" err="1">
                <a:latin typeface="Gabriola" pitchFamily="82" charset="0"/>
              </a:rPr>
              <a:t>Fetal</a:t>
            </a:r>
            <a:r>
              <a:rPr lang="en-GB" b="1" dirty="0">
                <a:latin typeface="Gabriola" pitchFamily="82" charset="0"/>
              </a:rPr>
              <a:t> monitoring is critical</a:t>
            </a:r>
            <a:r>
              <a:rPr lang="en-GB" dirty="0">
                <a:latin typeface="Gabriola" pitchFamily="82" charset="0"/>
              </a:rPr>
              <a:t>: </a:t>
            </a:r>
            <a:r>
              <a:rPr lang="en-GB" dirty="0" smtClean="0">
                <a:latin typeface="Gabriola" pitchFamily="82" charset="0"/>
              </a:rPr>
              <a:t>Foetal </a:t>
            </a:r>
            <a:r>
              <a:rPr lang="en-GB" dirty="0">
                <a:latin typeface="Gabriola" pitchFamily="82" charset="0"/>
              </a:rPr>
              <a:t>monitoring is essential due to the risk of placental insufficiency and </a:t>
            </a:r>
            <a:r>
              <a:rPr lang="en-GB" dirty="0" smtClean="0">
                <a:latin typeface="Gabriola" pitchFamily="82" charset="0"/>
              </a:rPr>
              <a:t>foetal </a:t>
            </a:r>
            <a:r>
              <a:rPr lang="en-GB" dirty="0">
                <a:latin typeface="Gabriola" pitchFamily="82" charset="0"/>
              </a:rPr>
              <a:t>distress.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Avoid supine positioning</a:t>
            </a:r>
            <a:r>
              <a:rPr lang="en-GB" dirty="0">
                <a:latin typeface="Gabriola" pitchFamily="82" charset="0"/>
              </a:rPr>
              <a:t>: To prevent </a:t>
            </a:r>
            <a:r>
              <a:rPr lang="en-GB" dirty="0" err="1">
                <a:latin typeface="Gabriola" pitchFamily="82" charset="0"/>
              </a:rPr>
              <a:t>aortocaval</a:t>
            </a:r>
            <a:r>
              <a:rPr lang="en-GB" dirty="0">
                <a:latin typeface="Gabriola" pitchFamily="82" charset="0"/>
              </a:rPr>
              <a:t> compression and hypotension.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0302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20203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856984" cy="590465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Drug Selection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Inhalational </a:t>
            </a:r>
            <a:r>
              <a:rPr lang="en-GB" b="1" dirty="0" err="1">
                <a:latin typeface="Gabriola" pitchFamily="82" charset="0"/>
              </a:rPr>
              <a:t>Anesthetics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b="1" dirty="0" err="1">
                <a:latin typeface="Gabriola" pitchFamily="82" charset="0"/>
              </a:rPr>
              <a:t>Sevoflurane</a:t>
            </a:r>
            <a:r>
              <a:rPr lang="en-GB" dirty="0">
                <a:latin typeface="Gabriola" pitchFamily="82" charset="0"/>
              </a:rPr>
              <a:t>: Continues to be a good choice due to its minimal uterine effects and short duration of action.</a:t>
            </a:r>
          </a:p>
          <a:p>
            <a:pPr lvl="1">
              <a:lnSpc>
                <a:spcPct val="160000"/>
              </a:lnSpc>
            </a:pPr>
            <a:r>
              <a:rPr lang="en-GB" b="1" dirty="0" err="1">
                <a:latin typeface="Gabriola" pitchFamily="82" charset="0"/>
              </a:rPr>
              <a:t>Isoflurane</a:t>
            </a:r>
            <a:r>
              <a:rPr lang="en-GB" dirty="0">
                <a:latin typeface="Gabriola" pitchFamily="82" charset="0"/>
              </a:rPr>
              <a:t>: Less preferred due to a higher likelihood of uterine </a:t>
            </a:r>
            <a:r>
              <a:rPr lang="en-GB" dirty="0" smtClean="0">
                <a:latin typeface="Gabriola" pitchFamily="82" charset="0"/>
              </a:rPr>
              <a:t>relaxation.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Opioids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Fentanyl</a:t>
            </a:r>
            <a:r>
              <a:rPr lang="en-GB" dirty="0">
                <a:latin typeface="Gabriola" pitchFamily="82" charset="0"/>
              </a:rPr>
              <a:t> </a:t>
            </a:r>
            <a:r>
              <a:rPr lang="en-GB" dirty="0" smtClean="0">
                <a:latin typeface="Gabriola" pitchFamily="82" charset="0"/>
              </a:rPr>
              <a:t>and </a:t>
            </a:r>
            <a:r>
              <a:rPr lang="en-GB" b="1" dirty="0" smtClean="0">
                <a:latin typeface="Gabriola" pitchFamily="82" charset="0"/>
              </a:rPr>
              <a:t>Morphine</a:t>
            </a:r>
            <a:r>
              <a:rPr lang="en-GB" dirty="0" smtClean="0">
                <a:latin typeface="Gabriola" pitchFamily="82" charset="0"/>
              </a:rPr>
              <a:t>:</a:t>
            </a: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7559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20203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568952" cy="561662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Advantages of Drug Selection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 err="1">
                <a:latin typeface="Gabriola" pitchFamily="82" charset="0"/>
              </a:rPr>
              <a:t>Fetal</a:t>
            </a:r>
            <a:r>
              <a:rPr lang="en-GB" b="1" dirty="0">
                <a:latin typeface="Gabriola" pitchFamily="82" charset="0"/>
              </a:rPr>
              <a:t> safety</a:t>
            </a:r>
            <a:r>
              <a:rPr lang="en-GB" dirty="0">
                <a:latin typeface="Gabriola" pitchFamily="82" charset="0"/>
              </a:rPr>
              <a:t>: </a:t>
            </a:r>
            <a:r>
              <a:rPr lang="en-GB" dirty="0" err="1">
                <a:latin typeface="Gabriola" pitchFamily="82" charset="0"/>
              </a:rPr>
              <a:t>Sevoflurane</a:t>
            </a:r>
            <a:r>
              <a:rPr lang="en-GB" dirty="0">
                <a:latin typeface="Gabriola" pitchFamily="82" charset="0"/>
              </a:rPr>
              <a:t> and fentanyl are preferred due to their rapid onset, short duration, and minimal placental transfer.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Effective pain control</a:t>
            </a:r>
            <a:r>
              <a:rPr lang="en-GB" dirty="0">
                <a:latin typeface="Gabriola" pitchFamily="82" charset="0"/>
              </a:rPr>
              <a:t>: Bupivacaine and </a:t>
            </a:r>
            <a:r>
              <a:rPr lang="en-GB" dirty="0" err="1">
                <a:latin typeface="Gabriola" pitchFamily="82" charset="0"/>
              </a:rPr>
              <a:t>ropivacaine</a:t>
            </a:r>
            <a:r>
              <a:rPr lang="en-GB" dirty="0">
                <a:latin typeface="Gabriola" pitchFamily="82" charset="0"/>
              </a:rPr>
              <a:t> provide long-lasting pain relief without significant systemic side effects, especially with regional blocks.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Reduced uterine relaxation risk</a:t>
            </a:r>
            <a:r>
              <a:rPr lang="en-GB" dirty="0">
                <a:latin typeface="Gabriola" pitchFamily="82" charset="0"/>
              </a:rPr>
              <a:t>: </a:t>
            </a:r>
            <a:r>
              <a:rPr lang="en-GB" dirty="0" err="1">
                <a:latin typeface="Gabriola" pitchFamily="82" charset="0"/>
              </a:rPr>
              <a:t>Sevoflurane</a:t>
            </a:r>
            <a:r>
              <a:rPr lang="en-GB" dirty="0">
                <a:latin typeface="Gabriola" pitchFamily="82" charset="0"/>
              </a:rPr>
              <a:t> offers a good balance between </a:t>
            </a:r>
            <a:r>
              <a:rPr lang="en-GB" dirty="0" err="1">
                <a:latin typeface="Gabriola" pitchFamily="82" charset="0"/>
              </a:rPr>
              <a:t>anesthesia</a:t>
            </a:r>
            <a:r>
              <a:rPr lang="en-GB" dirty="0">
                <a:latin typeface="Gabriola" pitchFamily="82" charset="0"/>
              </a:rPr>
              <a:t> depth and maintaining uterine tone, critical in avoiding uterine </a:t>
            </a:r>
            <a:r>
              <a:rPr lang="en-GB" dirty="0" err="1">
                <a:latin typeface="Gabriola" pitchFamily="82" charset="0"/>
              </a:rPr>
              <a:t>atony</a:t>
            </a:r>
            <a:r>
              <a:rPr lang="en-GB" dirty="0">
                <a:latin typeface="Gabriola" pitchFamily="82" charset="0"/>
              </a:rPr>
              <a:t> or preterm </a:t>
            </a:r>
            <a:r>
              <a:rPr lang="en-GB" dirty="0" err="1">
                <a:latin typeface="Gabriola" pitchFamily="82" charset="0"/>
              </a:rPr>
              <a:t>labor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670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Other Considerations in Trauma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784976" cy="53285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Tetanus Prophylaxis:</a:t>
            </a:r>
            <a:r>
              <a:rPr lang="en-GB" dirty="0" smtClean="0">
                <a:latin typeface="Gabriola" pitchFamily="82" charset="0"/>
              </a:rPr>
              <a:t> Tetanus toxoid or immunoglobulin if indicated.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Venous Thromboembolism (VTE) Risk: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Trauma patients should receive </a:t>
            </a:r>
            <a:r>
              <a:rPr lang="en-GB" dirty="0" err="1" smtClean="0">
                <a:latin typeface="Gabriola" pitchFamily="82" charset="0"/>
              </a:rPr>
              <a:t>thromboprophylaxis</a:t>
            </a:r>
            <a:r>
              <a:rPr lang="en-GB" dirty="0" smtClean="0">
                <a:latin typeface="Gabriola" pitchFamily="82" charset="0"/>
              </a:rPr>
              <a:t> with heparin.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Early ambulation and pneumatic compression devices.</a:t>
            </a:r>
          </a:p>
          <a:p>
            <a:pPr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Fetomaternal</a:t>
            </a:r>
            <a:r>
              <a:rPr lang="en-GB" b="1" dirty="0" smtClean="0">
                <a:latin typeface="Gabriola" pitchFamily="82" charset="0"/>
              </a:rPr>
              <a:t> </a:t>
            </a:r>
            <a:r>
              <a:rPr lang="en-GB" b="1" dirty="0" err="1" smtClean="0">
                <a:latin typeface="Gabriola" pitchFamily="82" charset="0"/>
              </a:rPr>
              <a:t>Hemorrhage</a:t>
            </a:r>
            <a:r>
              <a:rPr lang="en-GB" b="1" dirty="0" smtClean="0">
                <a:latin typeface="Gabriola" pitchFamily="82" charset="0"/>
              </a:rPr>
              <a:t>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May lead to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 err="1" smtClean="0">
                <a:latin typeface="Gabriola" pitchFamily="82" charset="0"/>
              </a:rPr>
              <a:t>anemia</a:t>
            </a:r>
            <a:r>
              <a:rPr lang="en-GB" dirty="0" smtClean="0">
                <a:latin typeface="Gabriola" pitchFamily="82" charset="0"/>
              </a:rPr>
              <a:t> and death.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Rh-negative mothers may need </a:t>
            </a:r>
            <a:r>
              <a:rPr lang="en-GB" b="1" dirty="0" smtClean="0">
                <a:latin typeface="Gabriola" pitchFamily="82" charset="0"/>
              </a:rPr>
              <a:t>Anti-D immunoglobulin</a:t>
            </a:r>
            <a:r>
              <a:rPr lang="en-GB" dirty="0" smtClean="0">
                <a:latin typeface="Gabriola" pitchFamily="82" charset="0"/>
              </a:rPr>
              <a:t> after exposure to Rh-positive blood.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6505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Obstetric Trauma Outcomes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640960" cy="5256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Impact on Maternal and </a:t>
            </a:r>
            <a:r>
              <a:rPr lang="en-GB" b="1" dirty="0" err="1" smtClean="0">
                <a:latin typeface="Gabriola" pitchFamily="82" charset="0"/>
              </a:rPr>
              <a:t>Fetal</a:t>
            </a:r>
            <a:r>
              <a:rPr lang="en-GB" b="1" dirty="0" smtClean="0">
                <a:latin typeface="Gabriola" pitchFamily="82" charset="0"/>
              </a:rPr>
              <a:t> Health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Penetrating trauma</a:t>
            </a:r>
            <a:r>
              <a:rPr lang="en-GB" dirty="0" smtClean="0">
                <a:latin typeface="Gabriola" pitchFamily="82" charset="0"/>
              </a:rPr>
              <a:t>: High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mortality (30-80%) but low maternal mortality.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Blunt trauma</a:t>
            </a:r>
            <a:r>
              <a:rPr lang="en-GB" dirty="0" smtClean="0">
                <a:latin typeface="Gabriola" pitchFamily="82" charset="0"/>
              </a:rPr>
              <a:t>: Mortality rates depend on severity of force; moderate-to-severe </a:t>
            </a:r>
            <a:r>
              <a:rPr lang="en-GB" dirty="0" err="1" smtClean="0">
                <a:latin typeface="Gabriola" pitchFamily="82" charset="0"/>
              </a:rPr>
              <a:t>hemorrhage</a:t>
            </a:r>
            <a:r>
              <a:rPr lang="en-GB" dirty="0" smtClean="0">
                <a:latin typeface="Gabriola" pitchFamily="82" charset="0"/>
              </a:rPr>
              <a:t> increases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mortality.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Motor vehicle accidents</a:t>
            </a:r>
            <a:r>
              <a:rPr lang="en-GB" dirty="0" smtClean="0">
                <a:latin typeface="Gabriola" pitchFamily="82" charset="0"/>
              </a:rPr>
              <a:t>: Associated with increased adverse outcomes, including preterm birth, placental abruption, and stillbirth.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9652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556792"/>
            <a:ext cx="8363272" cy="45693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Fetal</a:t>
            </a:r>
            <a:r>
              <a:rPr lang="en-GB" b="1" dirty="0" smtClean="0">
                <a:latin typeface="Gabriola" pitchFamily="82" charset="0"/>
              </a:rPr>
              <a:t> Survival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survival rate varies: 56% after trauma, higher during 2nd trimester.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High maternal alpha-fetoprotein (MSAFP) may indicate poor </a:t>
            </a:r>
            <a:r>
              <a:rPr lang="en-GB" dirty="0" err="1" smtClean="0">
                <a:latin typeface="Gabriola" pitchFamily="82" charset="0"/>
              </a:rPr>
              <a:t>fetal</a:t>
            </a:r>
            <a:r>
              <a:rPr lang="en-GB" dirty="0" smtClean="0">
                <a:latin typeface="Gabriola" pitchFamily="82" charset="0"/>
              </a:rPr>
              <a:t> outcome after trauma.</a:t>
            </a:r>
          </a:p>
          <a:p>
            <a:pPr>
              <a:lnSpc>
                <a:spcPct val="150000"/>
              </a:lnSpc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765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smtClean="0">
                <a:latin typeface="Arial Black" pitchFamily="34" charset="0"/>
              </a:rPr>
              <a:t>Reference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/>
              <a:t>1</a:t>
            </a:r>
            <a:r>
              <a:rPr lang="en-GB" sz="2800" b="1" dirty="0" smtClean="0">
                <a:latin typeface="Gabriola" pitchFamily="82" charset="0"/>
              </a:rPr>
              <a:t>. Chestnut</a:t>
            </a:r>
            <a:r>
              <a:rPr lang="en-GB" sz="2800" b="1" dirty="0">
                <a:latin typeface="Gabriola" pitchFamily="82" charset="0"/>
              </a:rPr>
              <a:t>, D. H. (2020).</a:t>
            </a:r>
            <a:r>
              <a:rPr lang="en-GB" sz="2800" dirty="0">
                <a:latin typeface="Gabriola" pitchFamily="82" charset="0"/>
              </a:rPr>
              <a:t> </a:t>
            </a:r>
            <a:r>
              <a:rPr lang="en-GB" sz="2800" i="1" dirty="0">
                <a:latin typeface="Gabriola" pitchFamily="82" charset="0"/>
              </a:rPr>
              <a:t>Chestnut's Obstetric </a:t>
            </a:r>
            <a:r>
              <a:rPr lang="en-GB" sz="2800" i="1" dirty="0" err="1">
                <a:latin typeface="Gabriola" pitchFamily="82" charset="0"/>
              </a:rPr>
              <a:t>Anesthesia</a:t>
            </a:r>
            <a:r>
              <a:rPr lang="en-GB" sz="2800" i="1" dirty="0">
                <a:latin typeface="Gabriola" pitchFamily="82" charset="0"/>
              </a:rPr>
              <a:t>: Principles and Practice (6th ed.)</a:t>
            </a:r>
            <a:r>
              <a:rPr lang="en-GB" sz="2800" dirty="0">
                <a:latin typeface="Gabriola" pitchFamily="82" charset="0"/>
              </a:rPr>
              <a:t>. Elsevier.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CC4C2-DA68-49E4-9F92-48C64C4A4E75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5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3135</Words>
  <Application>Microsoft Office PowerPoint</Application>
  <PresentationFormat>On-screen Show (4:3)</PresentationFormat>
  <Paragraphs>420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Office Theme</vt:lpstr>
      <vt:lpstr>Anaesthesia consideration for obestratric trauma</vt:lpstr>
      <vt:lpstr>Introduction </vt:lpstr>
      <vt:lpstr>PowerPoint Presentation</vt:lpstr>
      <vt:lpstr>Cont..</vt:lpstr>
      <vt:lpstr>Types of Trauma in Pregnancy </vt:lpstr>
      <vt:lpstr>PowerPoint Presentation</vt:lpstr>
      <vt:lpstr> Maternal Physiological Changes </vt:lpstr>
      <vt:lpstr>Con..t..</vt:lpstr>
      <vt:lpstr>Cont..</vt:lpstr>
      <vt:lpstr>Cont..</vt:lpstr>
      <vt:lpstr> Trauma in Pregnancy </vt:lpstr>
      <vt:lpstr>Cont..</vt:lpstr>
      <vt:lpstr>PowerPoint Presentation</vt:lpstr>
      <vt:lpstr>Cont…</vt:lpstr>
      <vt:lpstr>Cont..</vt:lpstr>
      <vt:lpstr> Primary Survey: </vt:lpstr>
      <vt:lpstr>Cont..</vt:lpstr>
      <vt:lpstr> ABCDE Approach to Obstetric Trauma Management </vt:lpstr>
      <vt:lpstr>Cont..</vt:lpstr>
      <vt:lpstr> B - Breathing </vt:lpstr>
      <vt:lpstr> C - Circulation </vt:lpstr>
      <vt:lpstr>Cont..</vt:lpstr>
      <vt:lpstr>D - Disability (Neurological Status) </vt:lpstr>
      <vt:lpstr>E - Exposure </vt:lpstr>
      <vt:lpstr>Additional Assessments </vt:lpstr>
      <vt:lpstr> Secondary Survey in Trauma Management </vt:lpstr>
      <vt:lpstr>Fetal Assessment </vt:lpstr>
      <vt:lpstr>Cont..</vt:lpstr>
      <vt:lpstr>PowerPoint Presentation</vt:lpstr>
      <vt:lpstr>PowerPoint Presentation</vt:lpstr>
      <vt:lpstr>Cardiopulmonary Resuscitation (CPR) in Pregnant Trauma </vt:lpstr>
      <vt:lpstr>Cont..</vt:lpstr>
      <vt:lpstr>Cont..</vt:lpstr>
      <vt:lpstr> Anaesthesia in Obstetric Trauma Management </vt:lpstr>
      <vt:lpstr>Cont..</vt:lpstr>
      <vt:lpstr>Cont…</vt:lpstr>
      <vt:lpstr>Cont..</vt:lpstr>
      <vt:lpstr>Cont..</vt:lpstr>
      <vt:lpstr>Cont..</vt:lpstr>
      <vt:lpstr>Cont..</vt:lpstr>
      <vt:lpstr>Cont..</vt:lpstr>
      <vt:lpstr> Fluid Resuscitation &amp; Transfusion in Trauma </vt:lpstr>
      <vt:lpstr>Cont..</vt:lpstr>
      <vt:lpstr>Cont..</vt:lpstr>
      <vt:lpstr>Cont..</vt:lpstr>
      <vt:lpstr> Transfusion in Obstetric Trauma </vt:lpstr>
      <vt:lpstr>Cont..</vt:lpstr>
      <vt:lpstr> Blood Products </vt:lpstr>
      <vt:lpstr>Massive Transfusion Protocol (MTP) </vt:lpstr>
      <vt:lpstr> Trauma During Different Stages of Pregnancy </vt:lpstr>
      <vt:lpstr>Cont..</vt:lpstr>
      <vt:lpstr>Cont..</vt:lpstr>
      <vt:lpstr>cont</vt:lpstr>
      <vt:lpstr>Cont..</vt:lpstr>
      <vt:lpstr>Cont…</vt:lpstr>
      <vt:lpstr>Cont..</vt:lpstr>
      <vt:lpstr>Cont..</vt:lpstr>
      <vt:lpstr>Cont..</vt:lpstr>
      <vt:lpstr> Other Considerations in Trauma </vt:lpstr>
      <vt:lpstr>Obstetric Trauma Outcomes </vt:lpstr>
      <vt:lpstr>Cont..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Anaesthesia consideration for obestratric trauma</dc:title>
  <dc:creator>Afei</dc:creator>
  <cp:lastModifiedBy>Windows User</cp:lastModifiedBy>
  <cp:revision>32</cp:revision>
  <dcterms:created xsi:type="dcterms:W3CDTF">2024-12-16T09:13:15Z</dcterms:created>
  <dcterms:modified xsi:type="dcterms:W3CDTF">2024-12-18T18:15:06Z</dcterms:modified>
</cp:coreProperties>
</file>