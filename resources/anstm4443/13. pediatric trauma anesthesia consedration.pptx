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65" r:id="rId3"/>
    <p:sldId id="300" r:id="rId4"/>
    <p:sldId id="257" r:id="rId5"/>
    <p:sldId id="258" r:id="rId6"/>
    <p:sldId id="301" r:id="rId7"/>
    <p:sldId id="259" r:id="rId8"/>
    <p:sldId id="302" r:id="rId9"/>
    <p:sldId id="260" r:id="rId10"/>
    <p:sldId id="261" r:id="rId11"/>
    <p:sldId id="262" r:id="rId12"/>
    <p:sldId id="273" r:id="rId13"/>
    <p:sldId id="271" r:id="rId14"/>
    <p:sldId id="272" r:id="rId15"/>
    <p:sldId id="274" r:id="rId16"/>
    <p:sldId id="275" r:id="rId17"/>
    <p:sldId id="303" r:id="rId18"/>
    <p:sldId id="276" r:id="rId19"/>
    <p:sldId id="304" r:id="rId20"/>
    <p:sldId id="277" r:id="rId21"/>
    <p:sldId id="278" r:id="rId22"/>
    <p:sldId id="279" r:id="rId23"/>
    <p:sldId id="263" r:id="rId24"/>
    <p:sldId id="264" r:id="rId25"/>
    <p:sldId id="266" r:id="rId26"/>
    <p:sldId id="305" r:id="rId27"/>
    <p:sldId id="267" r:id="rId28"/>
    <p:sldId id="268" r:id="rId29"/>
    <p:sldId id="282" r:id="rId30"/>
    <p:sldId id="270" r:id="rId31"/>
    <p:sldId id="269" r:id="rId32"/>
    <p:sldId id="283" r:id="rId33"/>
    <p:sldId id="306" r:id="rId34"/>
    <p:sldId id="284" r:id="rId35"/>
    <p:sldId id="285" r:id="rId36"/>
    <p:sldId id="288" r:id="rId37"/>
    <p:sldId id="289" r:id="rId38"/>
    <p:sldId id="290" r:id="rId39"/>
    <p:sldId id="286" r:id="rId40"/>
    <p:sldId id="287" r:id="rId41"/>
    <p:sldId id="291" r:id="rId42"/>
    <p:sldId id="292" r:id="rId43"/>
    <p:sldId id="293" r:id="rId44"/>
    <p:sldId id="294" r:id="rId45"/>
    <p:sldId id="307" r:id="rId46"/>
    <p:sldId id="295" r:id="rId47"/>
    <p:sldId id="296" r:id="rId48"/>
    <p:sldId id="297" r:id="rId49"/>
    <p:sldId id="298" r:id="rId50"/>
    <p:sldId id="299" r:id="rId51"/>
    <p:sldId id="308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D4842-F7A3-44AA-95E3-8D7A701CEECE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93E6A-B90B-466F-8A10-AEC936C89D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16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93E6A-B90B-466F-8A10-AEC936C89D0C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949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93E6A-B90B-466F-8A10-AEC936C89D0C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98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7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61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828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414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94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7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56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4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77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98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39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FDE4D-1529-4E87-88E7-90483AA6DE40}" type="datetimeFigureOut">
              <a:rPr lang="en-GB" smtClean="0"/>
              <a:t>18/12/2024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DD693-0288-4C41-9F71-7FE38064C9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2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jaa.co.za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Arial Rounded MT Bold" pitchFamily="34" charset="0"/>
              </a:rPr>
              <a:t>Anaesthesia  for paediatric trauma </a:t>
            </a:r>
            <a:endParaRPr lang="en-GB" dirty="0">
              <a:latin typeface="Arial Rounded MT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944816" cy="1752600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By </a:t>
            </a:r>
            <a:r>
              <a:rPr lang="en-GB" dirty="0" err="1" smtClean="0">
                <a:solidFill>
                  <a:schemeClr val="tx1"/>
                </a:solidFill>
              </a:rPr>
              <a:t>wubayehu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 err="1" smtClean="0">
                <a:solidFill>
                  <a:schemeClr val="tx1"/>
                </a:solidFill>
              </a:rPr>
              <a:t>Amare</a:t>
            </a:r>
            <a:r>
              <a:rPr lang="en-GB" dirty="0" smtClean="0">
                <a:solidFill>
                  <a:schemeClr val="tx1"/>
                </a:solidFill>
              </a:rPr>
              <a:t> ( lecturer , </a:t>
            </a:r>
            <a:r>
              <a:rPr lang="en-GB" dirty="0" err="1">
                <a:solidFill>
                  <a:schemeClr val="tx1"/>
                </a:solidFill>
              </a:rPr>
              <a:t>M</a:t>
            </a:r>
            <a:r>
              <a:rPr lang="en-GB" dirty="0" err="1" smtClean="0">
                <a:solidFill>
                  <a:schemeClr val="tx1"/>
                </a:solidFill>
              </a:rPr>
              <a:t>sc</a:t>
            </a:r>
            <a:r>
              <a:rPr lang="en-GB" dirty="0" smtClean="0">
                <a:solidFill>
                  <a:schemeClr val="tx1"/>
                </a:solidFill>
              </a:rPr>
              <a:t> )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405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56207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latin typeface="Arial Black" pitchFamily="34" charset="0"/>
              </a:rPr>
              <a:t>Introduction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0734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Paediatric trauma is the leading cause of global death and disability in children older than one year accounting for 40% of all childhood deaths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Anesthesia for pediatric trauma requires special considerations to ensure the safety and well-being of the child while managing pain, preventing complications, and facilitating necessary procedures.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7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712968" cy="53285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Pediatric trauma can involve a wide range of injuries, including 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Fractures, 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Head injuries, and 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Soft tissue damage ( burn injury 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The anesthetic approach needs to be tailored to the child’s age, size, injury severity, and comorbidities.</a:t>
            </a: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65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528" y="404664"/>
            <a:ext cx="8877672" cy="45719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856984" cy="57606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Key considerations influencing patient outcomes: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Airway management</a:t>
            </a:r>
            <a:r>
              <a:rPr lang="en-GB" dirty="0" smtClean="0">
                <a:latin typeface="Gabriola" pitchFamily="82" charset="0"/>
              </a:rPr>
              <a:t>: Particularly important in the presence of a cervical spine (C-spine) injury.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Possibility of a full stomach</a:t>
            </a:r>
            <a:r>
              <a:rPr lang="en-GB" dirty="0" smtClean="0">
                <a:latin typeface="Gabriola" pitchFamily="82" charset="0"/>
              </a:rPr>
              <a:t>: Consideration of the need for rapid sequence intubation (RSI).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Haemodynamic status</a:t>
            </a:r>
            <a:r>
              <a:rPr lang="en-GB" dirty="0" smtClean="0">
                <a:latin typeface="Gabriola" pitchFamily="82" charset="0"/>
              </a:rPr>
              <a:t>: Especially crucial in the presence of a traumatic brain injury (TBI).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Potential for significant haemorrhage</a:t>
            </a:r>
            <a:r>
              <a:rPr lang="en-GB" dirty="0" smtClean="0">
                <a:latin typeface="Gabriola" pitchFamily="82" charset="0"/>
              </a:rPr>
              <a:t>: Monitoring and managing the need for transfusion.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24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Epidemiology of paediatric trauma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7606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Frequent mechanisms of childhood injuries: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Falls , RTI</a:t>
            </a:r>
            <a:r>
              <a:rPr lang="en-GB" sz="3200" dirty="0">
                <a:latin typeface="Gabriola" pitchFamily="82" charset="0"/>
              </a:rPr>
              <a:t> </a:t>
            </a:r>
            <a:r>
              <a:rPr lang="en-GB" sz="3200" dirty="0" smtClean="0">
                <a:latin typeface="Gabriola" pitchFamily="82" charset="0"/>
              </a:rPr>
              <a:t> and Burns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Risk factors include: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Male gender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Specific age distributions:</a:t>
            </a:r>
          </a:p>
          <a:p>
            <a:pPr lvl="2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Burns</a:t>
            </a:r>
            <a:r>
              <a:rPr lang="en-GB" sz="3200" dirty="0" smtClean="0">
                <a:latin typeface="Gabriola" pitchFamily="82" charset="0"/>
              </a:rPr>
              <a:t>: Predominantly affect children aged 1–2 years.</a:t>
            </a:r>
          </a:p>
          <a:p>
            <a:pPr lvl="2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RTIs</a:t>
            </a:r>
            <a:r>
              <a:rPr lang="en-GB" sz="3200" dirty="0" smtClean="0">
                <a:latin typeface="Gabriola" pitchFamily="82" charset="0"/>
              </a:rPr>
              <a:t>: Common in unsupervised or unrestrained children aged 3–6 years</a:t>
            </a:r>
            <a:r>
              <a:rPr lang="en-GB" sz="3200" dirty="0" smtClean="0">
                <a:latin typeface="Gabriola" pitchFamily="82" charset="0"/>
              </a:rPr>
              <a:t>.</a:t>
            </a:r>
            <a:endParaRPr lang="en-GB" sz="3200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275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Falls</a:t>
            </a:r>
            <a:r>
              <a:rPr lang="en-GB" sz="3200" dirty="0">
                <a:latin typeface="Gabriola" pitchFamily="82" charset="0"/>
              </a:rPr>
              <a:t>: Frequently occur in toddlers.</a:t>
            </a:r>
          </a:p>
          <a:p>
            <a:pPr lvl="2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Road accidents and sports injuries</a:t>
            </a:r>
            <a:r>
              <a:rPr lang="en-GB" sz="3200" dirty="0">
                <a:latin typeface="Gabriola" pitchFamily="82" charset="0"/>
              </a:rPr>
              <a:t>: More common in older children.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More than half</a:t>
            </a:r>
            <a:r>
              <a:rPr lang="en-GB" dirty="0">
                <a:latin typeface="Gabriola" pitchFamily="82" charset="0"/>
              </a:rPr>
              <a:t> of these injuries occur within the child's home or school.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55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764704"/>
            <a:ext cx="9108504" cy="59046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Paediatric trauma deaths have a </a:t>
            </a:r>
            <a:r>
              <a:rPr lang="en-GB" b="1" dirty="0" err="1" smtClean="0">
                <a:latin typeface="Gabriola" pitchFamily="82" charset="0"/>
              </a:rPr>
              <a:t>trimodal</a:t>
            </a:r>
            <a:r>
              <a:rPr lang="en-GB" b="1" dirty="0" smtClean="0">
                <a:latin typeface="Gabriola" pitchFamily="82" charset="0"/>
              </a:rPr>
              <a:t> distribution: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50%</a:t>
            </a:r>
            <a:r>
              <a:rPr lang="en-GB" sz="3200" dirty="0" smtClean="0">
                <a:latin typeface="Gabriola" pitchFamily="82" charset="0"/>
              </a:rPr>
              <a:t> die at the scene, primarily due to severe traumatic brain injury (TBI) or haemorrhage.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30%</a:t>
            </a:r>
            <a:r>
              <a:rPr lang="en-GB" sz="3200" dirty="0" smtClean="0">
                <a:latin typeface="Gabriola" pitchFamily="82" charset="0"/>
              </a:rPr>
              <a:t> die within the first few hours, often referred to as the "golden hour."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Late deaths</a:t>
            </a:r>
            <a:r>
              <a:rPr lang="en-GB" sz="3200" dirty="0" smtClean="0">
                <a:latin typeface="Gabriola" pitchFamily="82" charset="0"/>
              </a:rPr>
              <a:t> </a:t>
            </a:r>
            <a:r>
              <a:rPr lang="en-GB" sz="3200" dirty="0" smtClean="0">
                <a:latin typeface="Gabriola" pitchFamily="82" charset="0"/>
              </a:rPr>
              <a:t> occur </a:t>
            </a:r>
            <a:r>
              <a:rPr lang="en-GB" sz="3200" dirty="0" smtClean="0">
                <a:latin typeface="Gabriola" pitchFamily="82" charset="0"/>
              </a:rPr>
              <a:t>days to weeks after the injury, commonly due to inadequate initial resuscitation, management, sepsis, and multi-organ failure</a:t>
            </a:r>
            <a:r>
              <a:rPr lang="en-GB" sz="3200" dirty="0" smtClean="0">
                <a:latin typeface="Gabriola" pitchFamily="82" charset="0"/>
              </a:rPr>
              <a:t>.</a:t>
            </a:r>
            <a:endParaRPr lang="en-GB" sz="3200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87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14724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00141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Up to 30%</a:t>
            </a:r>
            <a:r>
              <a:rPr lang="en-GB" dirty="0">
                <a:latin typeface="Gabriola" pitchFamily="82" charset="0"/>
              </a:rPr>
              <a:t> of these deaths are preventable through:</a:t>
            </a:r>
          </a:p>
          <a:p>
            <a:pPr lvl="1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Rapid identification of the cause.</a:t>
            </a:r>
          </a:p>
          <a:p>
            <a:pPr lvl="1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Early, aggressive treatment of the cause</a:t>
            </a:r>
            <a:r>
              <a:rPr lang="en-GB" sz="3200" dirty="0" smtClean="0">
                <a:latin typeface="Gabriola" pitchFamily="82" charset="0"/>
              </a:rPr>
              <a:t>.</a:t>
            </a:r>
          </a:p>
          <a:p>
            <a:r>
              <a:rPr lang="en-GB" b="1" dirty="0">
                <a:latin typeface="Gabriola" pitchFamily="82" charset="0"/>
              </a:rPr>
              <a:t>Head injury</a:t>
            </a:r>
            <a:r>
              <a:rPr lang="en-GB" dirty="0">
                <a:latin typeface="Gabriola" pitchFamily="82" charset="0"/>
              </a:rPr>
              <a:t>: Accounts for 75% of trauma injuries in children in the UK.</a:t>
            </a:r>
          </a:p>
          <a:p>
            <a:r>
              <a:rPr lang="en-GB" b="1" dirty="0" smtClean="0">
                <a:latin typeface="Gabriola" pitchFamily="82" charset="0"/>
              </a:rPr>
              <a:t>Cervical </a:t>
            </a:r>
            <a:r>
              <a:rPr lang="en-GB" b="1" dirty="0">
                <a:latin typeface="Gabriola" pitchFamily="82" charset="0"/>
              </a:rPr>
              <a:t>spine (C-spine) injury</a:t>
            </a:r>
            <a:r>
              <a:rPr lang="en-GB" dirty="0">
                <a:latin typeface="Gabriola" pitchFamily="82" charset="0"/>
              </a:rPr>
              <a:t>: Very uncommon, occurring in &lt; 2% of </a:t>
            </a:r>
            <a:r>
              <a:rPr lang="en-GB" dirty="0" smtClean="0">
                <a:latin typeface="Gabriola" pitchFamily="82" charset="0"/>
              </a:rPr>
              <a:t>cases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8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-108520" y="228919"/>
            <a:ext cx="8795320" cy="45719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60486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Thoracic </a:t>
            </a:r>
            <a:r>
              <a:rPr lang="en-GB" b="1" dirty="0" smtClean="0">
                <a:latin typeface="Gabriola" pitchFamily="82" charset="0"/>
              </a:rPr>
              <a:t>injuries</a:t>
            </a:r>
            <a:r>
              <a:rPr lang="en-GB" dirty="0" smtClean="0">
                <a:latin typeface="Gabriola" pitchFamily="82" charset="0"/>
              </a:rPr>
              <a:t>: Occur in </a:t>
            </a:r>
            <a:r>
              <a:rPr lang="en-GB" b="1" dirty="0" smtClean="0">
                <a:latin typeface="Gabriola" pitchFamily="82" charset="0"/>
              </a:rPr>
              <a:t>3%</a:t>
            </a:r>
            <a:r>
              <a:rPr lang="en-GB" dirty="0" smtClean="0">
                <a:latin typeface="Gabriola" pitchFamily="82" charset="0"/>
              </a:rPr>
              <a:t> of children with blunt trauma and are the next significant cause of mortality.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Intra-abdominal injuries</a:t>
            </a:r>
            <a:r>
              <a:rPr lang="en-GB" dirty="0" smtClean="0">
                <a:latin typeface="Gabriola" pitchFamily="82" charset="0"/>
              </a:rPr>
              <a:t>: Occur in </a:t>
            </a:r>
            <a:r>
              <a:rPr lang="en-GB" b="1" dirty="0" smtClean="0">
                <a:latin typeface="Gabriola" pitchFamily="82" charset="0"/>
              </a:rPr>
              <a:t>10%</a:t>
            </a:r>
            <a:r>
              <a:rPr lang="en-GB" dirty="0" smtClean="0">
                <a:latin typeface="Gabriola" pitchFamily="82" charset="0"/>
              </a:rPr>
              <a:t> of cases and are the leading cause of initially unrecognised fatal injury and haemorrhage, second only to airway problems as a preventable death cause.</a:t>
            </a:r>
          </a:p>
        </p:txBody>
      </p:sp>
    </p:spTree>
    <p:extLst>
      <p:ext uri="{BB962C8B-B14F-4D97-AF65-F5344CB8AC3E}">
        <p14:creationId xmlns:p14="http://schemas.microsoft.com/office/powerpoint/2010/main" val="3473411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92696"/>
            <a:ext cx="8363272" cy="54334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Injury mechanism</a:t>
            </a:r>
            <a:r>
              <a:rPr lang="en-GB" dirty="0" smtClean="0">
                <a:latin typeface="Gabriola" pitchFamily="82" charset="0"/>
              </a:rPr>
              <a:t>: Most trauma injuries (85%) are sustained by blunt trauma, while 15% are due to penetrating trauma.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Skeletal injuries</a:t>
            </a:r>
            <a:r>
              <a:rPr lang="en-GB" dirty="0" smtClean="0">
                <a:latin typeface="Gabriola" pitchFamily="82" charset="0"/>
              </a:rPr>
              <a:t>: Occur in 10–15% of paediatric trauma patients; these are rarely life-threatening and can often be managed without surgery.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392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20203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92696"/>
            <a:ext cx="8435280" cy="543346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Survival of children with major trauma depends on: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    Good </a:t>
            </a:r>
            <a:r>
              <a:rPr lang="en-GB" sz="3200" dirty="0" smtClean="0">
                <a:latin typeface="Gabriola" pitchFamily="82" charset="0"/>
              </a:rPr>
              <a:t>pre-hospital </a:t>
            </a:r>
            <a:r>
              <a:rPr lang="en-GB" sz="3200" dirty="0" smtClean="0">
                <a:latin typeface="Gabriola" pitchFamily="82" charset="0"/>
              </a:rPr>
              <a:t>care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    Appropriate triage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    Effective resuscitation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 smtClean="0">
                <a:latin typeface="Gabriola" pitchFamily="82" charset="0"/>
              </a:rPr>
              <a:t>Follow </a:t>
            </a:r>
            <a:r>
              <a:rPr lang="en-GB" dirty="0" smtClean="0">
                <a:latin typeface="Gabriola" pitchFamily="82" charset="0"/>
              </a:rPr>
              <a:t>the Advanced Trauma Life Support (ATLS) principles for systematic and organized management, including resuscitation, stabilization, and definitive care.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217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850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Times" pitchFamily="18" charset="0"/>
              </a:rPr>
              <a:t>Anatomical and Physiological Differences in Paediatric Patients</a:t>
            </a:r>
            <a:endParaRPr lang="en-GB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56792"/>
            <a:ext cx="8568952" cy="45693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Neurological: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Large head, thinner cranial bones, higher centre of gravity.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Cartilaginous vertebral bodies, elastic ligaments, horizontal facet joints.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Underdeveloped neck musculature, large head.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0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784976" cy="528945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 smtClean="0">
                <a:latin typeface="Gabriola" pitchFamily="82" charset="0"/>
              </a:rPr>
              <a:t>Anaesthetic Implications:</a:t>
            </a:r>
            <a:endParaRPr lang="en-GB" sz="36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Subluxation &amp; dislocation</a:t>
            </a:r>
            <a:r>
              <a:rPr lang="en-GB" sz="3200" dirty="0" smtClean="0">
                <a:latin typeface="Gabriola" pitchFamily="82" charset="0"/>
              </a:rPr>
              <a:t> are common.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Higher incidence of </a:t>
            </a:r>
            <a:r>
              <a:rPr lang="en-GB" sz="3200" b="1" dirty="0" smtClean="0">
                <a:latin typeface="Gabriola" pitchFamily="82" charset="0"/>
              </a:rPr>
              <a:t>TBI</a:t>
            </a:r>
            <a:r>
              <a:rPr lang="en-GB" sz="3200" dirty="0" smtClean="0">
                <a:latin typeface="Gabriola" pitchFamily="82" charset="0"/>
              </a:rPr>
              <a:t>, tolerates expanding intracranial haematoma.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Increased spinal mobility; rare spinal cord injury (C1–C3).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50% of spinal cord injuries</a:t>
            </a:r>
            <a:r>
              <a:rPr lang="en-GB" sz="3200" dirty="0" smtClean="0">
                <a:latin typeface="Gabriola" pitchFamily="82" charset="0"/>
              </a:rPr>
              <a:t> in children &lt; 10 years may have no radiological evidence (SCIWORA).</a:t>
            </a:r>
            <a:endParaRPr lang="en-GB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68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856984" cy="583264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GB" sz="3500" b="1" dirty="0" smtClean="0">
                <a:latin typeface="Gabriola" pitchFamily="82" charset="0"/>
              </a:rPr>
              <a:t>Airway:</a:t>
            </a:r>
            <a:endParaRPr lang="en-GB" sz="3500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Large protuberant occiput, creating natural flexion.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Large tongue, anterior &amp; </a:t>
            </a:r>
            <a:r>
              <a:rPr lang="en-GB" dirty="0" err="1" smtClean="0">
                <a:latin typeface="Gabriola" pitchFamily="82" charset="0"/>
              </a:rPr>
              <a:t>cephalad</a:t>
            </a:r>
            <a:r>
              <a:rPr lang="en-GB" dirty="0" smtClean="0">
                <a:latin typeface="Gabriola" pitchFamily="82" charset="0"/>
              </a:rPr>
              <a:t> larynx.</a:t>
            </a:r>
          </a:p>
          <a:p>
            <a:pPr>
              <a:lnSpc>
                <a:spcPct val="160000"/>
              </a:lnSpc>
            </a:pPr>
            <a:r>
              <a:rPr lang="en-GB" sz="3000" b="1" dirty="0" smtClean="0">
                <a:latin typeface="Gabriola" pitchFamily="82" charset="0"/>
              </a:rPr>
              <a:t>Anaesthetic Implications:</a:t>
            </a:r>
            <a:endParaRPr lang="en-GB" sz="3000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Difficult airway</a:t>
            </a:r>
            <a:r>
              <a:rPr lang="en-GB" dirty="0" smtClean="0">
                <a:latin typeface="Gabriola" pitchFamily="82" charset="0"/>
              </a:rPr>
              <a:t> possible, especially with C-spine injury.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Consider </a:t>
            </a:r>
            <a:r>
              <a:rPr lang="en-GB" b="1" dirty="0" smtClean="0">
                <a:latin typeface="Gabriola" pitchFamily="82" charset="0"/>
              </a:rPr>
              <a:t>modified RSI</a:t>
            </a:r>
            <a:r>
              <a:rPr lang="en-GB" dirty="0" smtClean="0">
                <a:latin typeface="Gabriola" pitchFamily="82" charset="0"/>
              </a:rPr>
              <a:t> and careful positioning.</a:t>
            </a: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Nasogastric tube</a:t>
            </a:r>
            <a:r>
              <a:rPr lang="en-GB" dirty="0" smtClean="0">
                <a:latin typeface="Gabriola" pitchFamily="82" charset="0"/>
              </a:rPr>
              <a:t> may be needed to decompress stomach.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Avoid </a:t>
            </a:r>
            <a:r>
              <a:rPr lang="en-GB" b="1" dirty="0" err="1" smtClean="0">
                <a:latin typeface="Gabriola" pitchFamily="82" charset="0"/>
              </a:rPr>
              <a:t>nasotracheal</a:t>
            </a:r>
            <a:r>
              <a:rPr lang="en-GB" b="1" dirty="0" smtClean="0">
                <a:latin typeface="Gabriola" pitchFamily="82" charset="0"/>
              </a:rPr>
              <a:t> intubation</a:t>
            </a:r>
            <a:r>
              <a:rPr lang="en-GB" dirty="0" smtClean="0">
                <a:latin typeface="Gabriola" pitchFamily="82" charset="0"/>
              </a:rPr>
              <a:t> if base of skull fracture suspected.</a:t>
            </a:r>
          </a:p>
          <a:p>
            <a:pPr lvl="1"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1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363272" cy="521744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Respiratory: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Increased RR, oxygen consumption, decreased FRC, increased CC.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Elastic ribs and easily displaced diaphragm.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Anaesthetic Implications: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Urgent </a:t>
            </a:r>
            <a:r>
              <a:rPr lang="en-GB" b="1" dirty="0" smtClean="0">
                <a:latin typeface="Gabriola" pitchFamily="82" charset="0"/>
              </a:rPr>
              <a:t>airway management</a:t>
            </a:r>
            <a:r>
              <a:rPr lang="en-GB" dirty="0" smtClean="0">
                <a:latin typeface="Gabriola" pitchFamily="82" charset="0"/>
              </a:rPr>
              <a:t> essential.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High risk of </a:t>
            </a:r>
            <a:r>
              <a:rPr lang="en-GB" b="1" dirty="0" smtClean="0">
                <a:latin typeface="Gabriola" pitchFamily="82" charset="0"/>
              </a:rPr>
              <a:t>hypoxia</a:t>
            </a:r>
            <a:r>
              <a:rPr lang="en-GB" dirty="0" smtClean="0">
                <a:latin typeface="Gabriola" pitchFamily="82" charset="0"/>
              </a:rPr>
              <a:t> and </a:t>
            </a:r>
            <a:r>
              <a:rPr lang="en-GB" b="1" dirty="0" smtClean="0">
                <a:latin typeface="Gabriola" pitchFamily="82" charset="0"/>
              </a:rPr>
              <a:t>pulmonary contusion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Early </a:t>
            </a:r>
            <a:r>
              <a:rPr lang="en-GB" b="1" dirty="0" smtClean="0">
                <a:latin typeface="Gabriola" pitchFamily="82" charset="0"/>
              </a:rPr>
              <a:t>desaturation</a:t>
            </a:r>
            <a:r>
              <a:rPr lang="en-GB" dirty="0" smtClean="0">
                <a:latin typeface="Gabriola" pitchFamily="82" charset="0"/>
              </a:rPr>
              <a:t> and </a:t>
            </a:r>
            <a:r>
              <a:rPr lang="en-GB" dirty="0" err="1" smtClean="0">
                <a:latin typeface="Gabriola" pitchFamily="82" charset="0"/>
              </a:rPr>
              <a:t>decompensation</a:t>
            </a:r>
            <a:r>
              <a:rPr lang="en-GB" dirty="0" smtClean="0">
                <a:latin typeface="Gabriola" pitchFamily="82" charset="0"/>
              </a:rPr>
              <a:t> possible.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02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583264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sz="3600" b="1" dirty="0" smtClean="0">
                <a:latin typeface="Gabriola" pitchFamily="82" charset="0"/>
              </a:rPr>
              <a:t>Cardiac:</a:t>
            </a:r>
            <a:endParaRPr lang="en-GB" sz="3600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sz="3200" dirty="0" smtClean="0">
                <a:latin typeface="Gabriola" pitchFamily="82" charset="0"/>
              </a:rPr>
              <a:t>Rate-dependent cardiac output, compensates with vasoconstriction during haemorrhage.</a:t>
            </a:r>
          </a:p>
          <a:p>
            <a:pPr lvl="1">
              <a:lnSpc>
                <a:spcPct val="170000"/>
              </a:lnSpc>
            </a:pPr>
            <a:r>
              <a:rPr lang="en-GB" sz="3200" dirty="0" smtClean="0">
                <a:latin typeface="Gabriola" pitchFamily="82" charset="0"/>
              </a:rPr>
              <a:t>Smaller vessels, more subcutaneous tissue.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Anaesthetic Implications: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sz="3200" b="1" dirty="0" smtClean="0">
                <a:latin typeface="Gabriola" pitchFamily="82" charset="0"/>
              </a:rPr>
              <a:t>Tachycardia</a:t>
            </a:r>
            <a:r>
              <a:rPr lang="en-GB" sz="3200" dirty="0" smtClean="0">
                <a:latin typeface="Gabriola" pitchFamily="82" charset="0"/>
              </a:rPr>
              <a:t> first sign of </a:t>
            </a:r>
            <a:r>
              <a:rPr lang="en-GB" sz="3200" dirty="0" err="1" smtClean="0">
                <a:latin typeface="Gabriola" pitchFamily="82" charset="0"/>
              </a:rPr>
              <a:t>hypovolaemia</a:t>
            </a:r>
            <a:r>
              <a:rPr lang="en-GB" sz="32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3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850106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91264" cy="471338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Hypotension</a:t>
            </a:r>
            <a:r>
              <a:rPr lang="en-GB" sz="3200" dirty="0">
                <a:latin typeface="Gabriola" pitchFamily="82" charset="0"/>
              </a:rPr>
              <a:t> appears late (after 25-40% blood volume loss).</a:t>
            </a:r>
          </a:p>
          <a:p>
            <a:pPr lvl="1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Fluid resuscitation </a:t>
            </a:r>
            <a:r>
              <a:rPr lang="en-GB" sz="3200" b="1" dirty="0">
                <a:latin typeface="Gabriola" pitchFamily="82" charset="0"/>
              </a:rPr>
              <a:t>should not be delayed</a:t>
            </a:r>
            <a:r>
              <a:rPr lang="en-GB" sz="3200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Consider </a:t>
            </a:r>
            <a:r>
              <a:rPr lang="en-GB" sz="3200" b="1" dirty="0">
                <a:latin typeface="Gabriola" pitchFamily="82" charset="0"/>
              </a:rPr>
              <a:t>IO access</a:t>
            </a:r>
            <a:r>
              <a:rPr lang="en-GB" sz="3200" dirty="0">
                <a:latin typeface="Gabriola" pitchFamily="82" charset="0"/>
              </a:rPr>
              <a:t> (&lt; 6 years), central venous </a:t>
            </a:r>
            <a:r>
              <a:rPr lang="en-GB" sz="3200" dirty="0" err="1">
                <a:latin typeface="Gabriola" pitchFamily="82" charset="0"/>
              </a:rPr>
              <a:t>cannulation</a:t>
            </a:r>
            <a:r>
              <a:rPr lang="en-GB" sz="3200" dirty="0">
                <a:latin typeface="Gabriola" pitchFamily="82" charset="0"/>
              </a:rPr>
              <a:t>, or cut-down.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41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892480" cy="5805264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Abdominal: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sz="3200" dirty="0" smtClean="0">
                <a:latin typeface="Gabriola" pitchFamily="82" charset="0"/>
              </a:rPr>
              <a:t>Pliable ribs, displaced diaphragm increasing vulnerability of intra-abdominal organs.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Anaesthetic Implications: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sz="3200" dirty="0" smtClean="0">
                <a:latin typeface="Gabriola" pitchFamily="82" charset="0"/>
              </a:rPr>
              <a:t>Common injuries: </a:t>
            </a:r>
            <a:r>
              <a:rPr lang="en-GB" sz="3200" b="1" dirty="0" smtClean="0">
                <a:latin typeface="Gabriola" pitchFamily="82" charset="0"/>
              </a:rPr>
              <a:t>spleen</a:t>
            </a:r>
            <a:r>
              <a:rPr lang="en-GB" sz="3200" dirty="0" smtClean="0">
                <a:latin typeface="Gabriola" pitchFamily="82" charset="0"/>
              </a:rPr>
              <a:t>, </a:t>
            </a:r>
            <a:r>
              <a:rPr lang="en-GB" sz="3200" b="1" dirty="0" smtClean="0">
                <a:latin typeface="Gabriola" pitchFamily="82" charset="0"/>
              </a:rPr>
              <a:t>liver</a:t>
            </a:r>
            <a:r>
              <a:rPr lang="en-GB" sz="3200" dirty="0" smtClean="0">
                <a:latin typeface="Gabriola" pitchFamily="82" charset="0"/>
              </a:rPr>
              <a:t>, </a:t>
            </a:r>
            <a:r>
              <a:rPr lang="en-GB" sz="3200" b="1" dirty="0" smtClean="0">
                <a:latin typeface="Gabriola" pitchFamily="82" charset="0"/>
              </a:rPr>
              <a:t>renal</a:t>
            </a:r>
            <a:r>
              <a:rPr lang="en-GB" sz="3200" dirty="0" smtClean="0">
                <a:latin typeface="Gabriola" pitchFamily="82" charset="0"/>
              </a:rPr>
              <a:t>, </a:t>
            </a:r>
            <a:r>
              <a:rPr lang="en-GB" sz="3200" b="1" dirty="0" smtClean="0">
                <a:latin typeface="Gabriola" pitchFamily="82" charset="0"/>
              </a:rPr>
              <a:t>intestines</a:t>
            </a:r>
            <a:r>
              <a:rPr lang="en-GB" sz="3200" dirty="0" smtClean="0">
                <a:latin typeface="Gabriola" pitchFamily="82" charset="0"/>
              </a:rPr>
              <a:t>, </a:t>
            </a:r>
            <a:r>
              <a:rPr lang="en-GB" sz="3200" b="1" dirty="0" smtClean="0">
                <a:latin typeface="Gabriola" pitchFamily="82" charset="0"/>
              </a:rPr>
              <a:t>pancreas</a:t>
            </a:r>
            <a:r>
              <a:rPr lang="en-GB" sz="3200" dirty="0" smtClean="0">
                <a:latin typeface="Gabriola" pitchFamily="82" charset="0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363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78098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Other: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sz="3200" dirty="0">
                <a:latin typeface="Gabriola" pitchFamily="82" charset="0"/>
              </a:rPr>
              <a:t>Large head &amp; organs, large surface area to body mass ratio.</a:t>
            </a:r>
          </a:p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Anaesthetic Implications: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sz="3200" dirty="0">
                <a:latin typeface="Gabriola" pitchFamily="82" charset="0"/>
              </a:rPr>
              <a:t>Prone to </a:t>
            </a:r>
            <a:r>
              <a:rPr lang="en-GB" sz="3200" b="1" dirty="0">
                <a:latin typeface="Gabriola" pitchFamily="82" charset="0"/>
              </a:rPr>
              <a:t>hypothermia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24797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0609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Paediatric Trauma Score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641862"/>
              </p:ext>
            </p:extLst>
          </p:nvPr>
        </p:nvGraphicFramePr>
        <p:xfrm>
          <a:off x="179512" y="1124741"/>
          <a:ext cx="8856984" cy="5472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4246"/>
                <a:gridCol w="2369241"/>
                <a:gridCol w="2059251"/>
                <a:gridCol w="2214246"/>
              </a:tblGrid>
              <a:tr h="6060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" pitchFamily="18" charset="0"/>
                        </a:rPr>
                        <a:t>Component</a:t>
                      </a:r>
                      <a:endParaRPr lang="en-GB" sz="120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+2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+1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-1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60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Weight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&gt; 20 kg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10–20 kg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&lt; 10 kg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2121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Airway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Patent (Normal)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" pitchFamily="18" charset="0"/>
                        </a:rPr>
                        <a:t>Maintainable (Oral or nasal airway)</a:t>
                      </a:r>
                      <a:endParaRPr lang="en-GB" sz="120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Not maintainable (Intubated or tracheostomy)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60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Systolic Blood Pressure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&gt; 90 mmHg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50–90 mmHg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&lt; 50 mmHg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60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Level of Consciousness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Awake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Obtunded/any LOC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Unresponsive/comatose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1766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Open Wounds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" pitchFamily="18" charset="0"/>
                        </a:rPr>
                        <a:t>None</a:t>
                      </a:r>
                      <a:endParaRPr lang="en-GB" sz="120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" pitchFamily="18" charset="0"/>
                        </a:rPr>
                        <a:t>Minor</a:t>
                      </a:r>
                      <a:endParaRPr lang="en-GB" sz="120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Major or penetrating; burns &gt; 10%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594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Fractures/Skeletal Trauma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" pitchFamily="18" charset="0"/>
                        </a:rPr>
                        <a:t>None</a:t>
                      </a:r>
                      <a:endParaRPr lang="en-GB" sz="120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  <a:latin typeface="Times" pitchFamily="18" charset="0"/>
                        </a:rPr>
                        <a:t>Minor (e.g., closed fracture)</a:t>
                      </a:r>
                      <a:endParaRPr lang="en-GB" sz="120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Times" pitchFamily="18" charset="0"/>
                        </a:rPr>
                        <a:t>Open or multiple fractures</a:t>
                      </a:r>
                      <a:endParaRPr lang="en-GB" sz="120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211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424936" cy="50405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Total Score	Category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200" dirty="0" smtClean="0">
                <a:latin typeface="Gabriola" pitchFamily="82" charset="0"/>
              </a:rPr>
              <a:t>9–12		Minor trauma (&lt; 1% mortality)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200" dirty="0" smtClean="0">
                <a:latin typeface="Gabriola" pitchFamily="82" charset="0"/>
              </a:rPr>
              <a:t>6–8		Potentially life threatening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200" dirty="0" smtClean="0">
                <a:latin typeface="Gabriola" pitchFamily="82" charset="0"/>
              </a:rPr>
              <a:t>0–5		Life threatening (50% mortality)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GB" sz="3200" dirty="0" smtClean="0">
                <a:latin typeface="Gabriola" pitchFamily="82" charset="0"/>
              </a:rPr>
              <a:t>&lt; 0		Usually fatal (98% mortality)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372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778098"/>
          </a:xfrm>
        </p:spPr>
        <p:txBody>
          <a:bodyPr>
            <a:normAutofit fontScale="90000"/>
          </a:bodyPr>
          <a:lstStyle/>
          <a:p>
            <a:pPr lvl="0"/>
            <a:r>
              <a:rPr kumimoji="0" lang="en-GB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en-GB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kumimoji="0" lang="en-GB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Paediatric Glasgow Coma Scale (GCS)</a:t>
            </a:r>
            <a:r>
              <a:rPr kumimoji="0" lang="en-GB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GB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86505"/>
              </p:ext>
            </p:extLst>
          </p:nvPr>
        </p:nvGraphicFramePr>
        <p:xfrm>
          <a:off x="323528" y="1340768"/>
          <a:ext cx="8712969" cy="5513705"/>
        </p:xfrm>
        <a:graphic>
          <a:graphicData uri="http://schemas.openxmlformats.org/drawingml/2006/table">
            <a:tbl>
              <a:tblPr firstRow="1" firstCol="1" bandRow="1"/>
              <a:tblGrid>
                <a:gridCol w="2904323"/>
                <a:gridCol w="2904323"/>
                <a:gridCol w="2904323"/>
              </a:tblGrid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Component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Standard GCS Score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Paediatric Score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Eye-opening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800" b="1">
                        <a:effectLst/>
                        <a:latin typeface="Times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800" b="1">
                        <a:effectLst/>
                        <a:latin typeface="Times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Spontaneous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4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Spontaneous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To speech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3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To speech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To pain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To pain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None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None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Verbal response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800" b="1">
                        <a:effectLst/>
                        <a:latin typeface="Times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800" b="1">
                        <a:effectLst/>
                        <a:latin typeface="Times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Orientated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5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Age-appropriate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Confused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4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Irritable, cries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Inappropriate words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3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Cries to pain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Incomprehensible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Moans to pain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None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None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Motor response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800" b="1" dirty="0">
                        <a:effectLst/>
                        <a:latin typeface="Times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800" b="1">
                        <a:effectLst/>
                        <a:latin typeface="Times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Obeys commands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6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Spontaneous movement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Localises to pain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5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Withdraws to touch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Withdraws to pain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4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Withdraws to pain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Abnormal flexion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3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Abnormal flexion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Extensor response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Extensor response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9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None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GB" sz="1800" b="1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Times" pitchFamily="18" charset="0"/>
                          <a:ea typeface="Times New Roman"/>
                          <a:cs typeface="Times New Roman"/>
                        </a:rPr>
                        <a:t>None</a:t>
                      </a:r>
                      <a:endParaRPr lang="en-GB" sz="1800" b="1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659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74638"/>
            <a:ext cx="8651304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latin typeface="Arial Rounded MT Bold" pitchFamily="34" charset="0"/>
              </a:rPr>
              <a:t>Primary survey </a:t>
            </a:r>
            <a:endParaRPr lang="en-GB" b="1" dirty="0">
              <a:latin typeface="Arial Rounded MT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28945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Primary survey ("ABCDE" sequence)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b="1" dirty="0" err="1" smtClean="0">
                <a:latin typeface="Gabriola" pitchFamily="82" charset="0"/>
              </a:rPr>
              <a:t>Broselow</a:t>
            </a:r>
            <a:r>
              <a:rPr lang="en-GB" sz="3200" b="1" dirty="0" smtClean="0">
                <a:latin typeface="Gabriola" pitchFamily="82" charset="0"/>
              </a:rPr>
              <a:t> tape</a:t>
            </a:r>
            <a:r>
              <a:rPr lang="en-GB" sz="3200" dirty="0" smtClean="0">
                <a:latin typeface="Gabriola" pitchFamily="82" charset="0"/>
              </a:rPr>
              <a:t>: Used to estimate weight (up to age 12 years/36 kg).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Paediatric resuscitation trolley</a:t>
            </a:r>
            <a:r>
              <a:rPr lang="en-GB" sz="3200" dirty="0" smtClean="0">
                <a:latin typeface="Gabriola" pitchFamily="82" charset="0"/>
              </a:rPr>
              <a:t>: Should be color-coded and readily available.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Continuous vital signs monitoring</a:t>
            </a:r>
            <a:r>
              <a:rPr lang="en-GB" sz="3200" dirty="0" smtClean="0">
                <a:latin typeface="Gabriola" pitchFamily="82" charset="0"/>
              </a:rPr>
              <a:t>: Essential for </a:t>
            </a:r>
            <a:r>
              <a:rPr lang="en-GB" sz="3200" dirty="0" err="1" smtClean="0">
                <a:latin typeface="Gabriola" pitchFamily="82" charset="0"/>
              </a:rPr>
              <a:t>ongoing</a:t>
            </a:r>
            <a:r>
              <a:rPr lang="en-GB" sz="3200" dirty="0" smtClean="0">
                <a:latin typeface="Gabriola" pitchFamily="82" charset="0"/>
              </a:rPr>
              <a:t> assessment.</a:t>
            </a:r>
          </a:p>
        </p:txBody>
      </p:sp>
    </p:spTree>
    <p:extLst>
      <p:ext uri="{BB962C8B-B14F-4D97-AF65-F5344CB8AC3E}">
        <p14:creationId xmlns:p14="http://schemas.microsoft.com/office/powerpoint/2010/main" val="148246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346050"/>
          </a:xfrm>
        </p:spPr>
        <p:txBody>
          <a:bodyPr>
            <a:normAutofit fontScale="90000"/>
          </a:bodyPr>
          <a:lstStyle/>
          <a:p>
            <a:pPr algn="just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856984" cy="54726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Indications for intubation or ventilation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Airway obstruction not relieved by simple </a:t>
            </a:r>
            <a:r>
              <a:rPr lang="en-GB" dirty="0" err="1" smtClean="0">
                <a:latin typeface="Gabriola" pitchFamily="82" charset="0"/>
              </a:rPr>
              <a:t>maneuvers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Traumatic brain injury (TBI) with compromised airway.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Inadequate breathing.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Glasgow Coma Scale (GCS) ≤ 8.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Severe maxillofacial trauma.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Inhalational injury.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74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712968" cy="5616624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Intubation technique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sz="3200" dirty="0" smtClean="0">
                <a:latin typeface="Gabriola" pitchFamily="82" charset="0"/>
              </a:rPr>
              <a:t>Use </a:t>
            </a:r>
            <a:r>
              <a:rPr lang="en-GB" sz="3200" b="1" dirty="0" smtClean="0">
                <a:latin typeface="Gabriola" pitchFamily="82" charset="0"/>
              </a:rPr>
              <a:t>rapid sequence induction (RSI)</a:t>
            </a:r>
            <a:r>
              <a:rPr lang="en-GB" sz="3200" dirty="0" smtClean="0">
                <a:latin typeface="Gabriola" pitchFamily="82" charset="0"/>
              </a:rPr>
              <a:t> with manual in-line stabilization, if needed.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Neurological assessment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sz="3200" b="1" dirty="0" smtClean="0">
                <a:latin typeface="Gabriola" pitchFamily="82" charset="0"/>
              </a:rPr>
              <a:t>Paediatric GCS</a:t>
            </a:r>
            <a:r>
              <a:rPr lang="en-GB" sz="3200" dirty="0" smtClean="0">
                <a:latin typeface="Gabriola" pitchFamily="82" charset="0"/>
              </a:rPr>
              <a:t>: Modified for age-appropriate verbal development for children under 2 years; standard GCS used for children over 2 years</a:t>
            </a:r>
            <a:r>
              <a:rPr lang="en-GB" sz="3200" dirty="0" smtClean="0">
                <a:latin typeface="Gabriola" pitchFamily="82" charset="0"/>
              </a:rPr>
              <a:t>.</a:t>
            </a:r>
            <a:endParaRPr lang="en-GB" sz="3200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410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8579296" cy="500141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Fluid resuscitation</a:t>
            </a:r>
            <a:r>
              <a:rPr lang="en-GB" dirty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  <a:buFont typeface="Wingdings" pitchFamily="2" charset="2"/>
              <a:buChar char="§"/>
            </a:pPr>
            <a:r>
              <a:rPr lang="en-GB" sz="3200" b="1" dirty="0">
                <a:latin typeface="Gabriola" pitchFamily="82" charset="0"/>
              </a:rPr>
              <a:t>Previous guidelines</a:t>
            </a:r>
            <a:r>
              <a:rPr lang="en-GB" sz="3200" dirty="0">
                <a:latin typeface="Gabriola" pitchFamily="82" charset="0"/>
              </a:rPr>
              <a:t>: Three boluses of 20 ml/kg balanced crystalloid.</a:t>
            </a:r>
          </a:p>
          <a:p>
            <a:pPr lvl="1">
              <a:lnSpc>
                <a:spcPct val="160000"/>
              </a:lnSpc>
              <a:buFont typeface="Wingdings" pitchFamily="2" charset="2"/>
              <a:buChar char="§"/>
            </a:pPr>
            <a:r>
              <a:rPr lang="en-GB" sz="3200" b="1" dirty="0">
                <a:latin typeface="Gabriola" pitchFamily="82" charset="0"/>
              </a:rPr>
              <a:t>Current guidelines</a:t>
            </a:r>
            <a:r>
              <a:rPr lang="en-GB" sz="3200" dirty="0">
                <a:latin typeface="Gabriola" pitchFamily="82" charset="0"/>
              </a:rPr>
              <a:t>: If the child hasn't stabilized after two 20 ml/kg boluses, prepare a transfusion of 10–20 ml/kg packed red blood cells (PRBCs).</a:t>
            </a:r>
          </a:p>
          <a:p>
            <a:pPr marL="457200" lvl="1" indent="0" algn="ctr">
              <a:lnSpc>
                <a:spcPct val="160000"/>
              </a:lnSpc>
              <a:buNone/>
            </a:pPr>
            <a:endParaRPr lang="en-GB" sz="3200" dirty="0">
              <a:latin typeface="Gabriola" pitchFamily="8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105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64704"/>
            <a:ext cx="8291264" cy="53614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Secondary </a:t>
            </a:r>
            <a:r>
              <a:rPr lang="en-GB" b="1" dirty="0" smtClean="0">
                <a:latin typeface="Gabriola" pitchFamily="82" charset="0"/>
              </a:rPr>
              <a:t>survey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Initiated after stabilization; diagnostic testing is completed during this phase.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Definitive care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Provided once the child stabilizes and all injuries are identified</a:t>
            </a:r>
            <a:endParaRPr lang="en-GB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87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Arial Rounded MT Bold" pitchFamily="34" charset="0"/>
              </a:rPr>
              <a:t>Anaesthetic Management of the Paediatric Trauma Patient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9073008" cy="51125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Preoperative Evaluation and Airway Management: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Thorough assessment should be performed if the situation allows, acknowledging that the process can cause significant fear and anxiety for both the child and family</a:t>
            </a:r>
            <a:r>
              <a:rPr lang="en-GB" sz="3200" dirty="0" smtClean="0">
                <a:latin typeface="Gabriola" pitchFamily="82" charset="0"/>
              </a:rPr>
              <a:t>.</a:t>
            </a:r>
            <a:endParaRPr lang="en-GB" sz="3200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48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291264" cy="5001419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Gastric residual volume in children undergoing emergency surgery is greater than in those undergoing elective surgery. </a:t>
            </a:r>
            <a:endParaRPr lang="en-GB" sz="32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Treat </a:t>
            </a:r>
            <a:r>
              <a:rPr lang="en-GB" sz="3200" dirty="0" smtClean="0">
                <a:latin typeface="Gabriola" pitchFamily="82" charset="0"/>
              </a:rPr>
              <a:t>these children as having a full stomach and take appropriate measures to reduce aspiration risk, possibly using variations of Rapid Sequence Induction (RSI) techniques</a:t>
            </a:r>
            <a:endParaRPr lang="en-GB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63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 smtClean="0">
                <a:latin typeface="Arial Rounded MT Bold" pitchFamily="34" charset="0"/>
              </a:rPr>
              <a:t>Anaesthesia Induction and Medication Selection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496944" cy="485740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 smtClean="0">
                <a:latin typeface="Gabriola" pitchFamily="82" charset="0"/>
              </a:rPr>
              <a:t>  </a:t>
            </a:r>
            <a:r>
              <a:rPr lang="en-GB" b="1" dirty="0" smtClean="0">
                <a:latin typeface="Gabriola" pitchFamily="82" charset="0"/>
              </a:rPr>
              <a:t>Factors Influencing Medication Choice: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Injury type and severity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Presence or absence of traumatic brain injury (TBI)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Haemodynamic stability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Clinician’s preference</a:t>
            </a:r>
            <a:endParaRPr lang="en-GB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87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Routine Paediatric Anaesthesia Considerations: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Age-appropriate equipment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ASA monitors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Functional IV line for pre-induction resuscitation if needed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Appropriate assistance</a:t>
            </a:r>
            <a:endParaRPr lang="en-GB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910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latin typeface="Arial Rounded MT Bold" pitchFamily="34" charset="0"/>
              </a:rPr>
              <a:t>Airway Management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9036496" cy="5616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Considerations for Difficult Airway/Ventilation: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Plan alternative airway management approaches if difficulty is anticipated.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Assessing Intubated Patients: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Confirm proper endotracheal tube placement: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557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850106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579296" cy="5073427"/>
          </a:xfrm>
        </p:spPr>
        <p:txBody>
          <a:bodyPr>
            <a:normAutofit/>
          </a:bodyPr>
          <a:lstStyle/>
          <a:p>
            <a:pPr lvl="2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Correct tube size (cuffed/</a:t>
            </a:r>
            <a:r>
              <a:rPr lang="en-GB" sz="3200" dirty="0" err="1">
                <a:latin typeface="Gabriola" pitchFamily="82" charset="0"/>
              </a:rPr>
              <a:t>uncuffed</a:t>
            </a:r>
            <a:r>
              <a:rPr lang="en-GB" sz="3200" dirty="0">
                <a:latin typeface="Gabriola" pitchFamily="82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No </a:t>
            </a:r>
            <a:r>
              <a:rPr lang="en-GB" sz="3200" dirty="0" smtClean="0">
                <a:latin typeface="Gabriola" pitchFamily="82" charset="0"/>
              </a:rPr>
              <a:t>leaks</a:t>
            </a: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Proper </a:t>
            </a:r>
            <a:r>
              <a:rPr lang="en-GB" sz="3200" dirty="0">
                <a:latin typeface="Gabriola" pitchFamily="82" charset="0"/>
              </a:rPr>
              <a:t>tube depth</a:t>
            </a:r>
          </a:p>
          <a:p>
            <a:pPr lvl="2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Presence of breath sounds</a:t>
            </a:r>
          </a:p>
          <a:p>
            <a:pPr lvl="2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Adequate ventilation and oxygenation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766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600" b="1" dirty="0" smtClean="0">
                <a:latin typeface="Arial Rounded MT Bold" pitchFamily="34" charset="0"/>
              </a:rPr>
              <a:t>Haemorrhage and Damage Control Resuscitation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8568952" cy="48965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 smtClean="0">
                <a:latin typeface="Gabriola" pitchFamily="82" charset="0"/>
              </a:rPr>
              <a:t>Transfusion Guidelines:</a:t>
            </a:r>
            <a:endParaRPr lang="en-GB" sz="36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Weight- and age-appropriate blood component transfusion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Based on laboratory results and clinical/physiological criteria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Use restrictive transfusion thresholds for allogeneic red blood cells (supported by evidence and expert consensus)</a:t>
            </a:r>
          </a:p>
          <a:p>
            <a:pPr>
              <a:lnSpc>
                <a:spcPct val="150000"/>
              </a:lnSpc>
            </a:pPr>
            <a:endParaRPr lang="en-GB" sz="36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442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640960" cy="60212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 smtClean="0">
                <a:latin typeface="Gabriola" pitchFamily="82" charset="0"/>
              </a:rPr>
              <a:t>Damage Control Resuscitation:</a:t>
            </a:r>
            <a:endParaRPr lang="en-GB" sz="36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Strategy for treating massive haemorrhage with blood components resembling whole blood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Emerging evidence in paediatric population; high-quality studies needed to define triggers and effects in bleeding paediatric trauma patients</a:t>
            </a:r>
          </a:p>
          <a:p>
            <a:pPr>
              <a:lnSpc>
                <a:spcPct val="150000"/>
              </a:lnSpc>
            </a:pPr>
            <a:endParaRPr lang="en-GB" sz="36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959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289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 </a:t>
            </a:r>
            <a:r>
              <a:rPr lang="en-GB" dirty="0" err="1" smtClean="0">
                <a:latin typeface="Gabriola" pitchFamily="82" charset="0"/>
              </a:rPr>
              <a:t>pediatric</a:t>
            </a:r>
            <a:r>
              <a:rPr lang="en-GB" dirty="0" smtClean="0">
                <a:latin typeface="Gabriola" pitchFamily="82" charset="0"/>
              </a:rPr>
              <a:t> resuscitation, </a:t>
            </a:r>
            <a:r>
              <a:rPr lang="en-GB" b="1" dirty="0" smtClean="0">
                <a:latin typeface="Gabriola" pitchFamily="82" charset="0"/>
              </a:rPr>
              <a:t>balanced resuscitation</a:t>
            </a:r>
            <a:r>
              <a:rPr lang="en-GB" dirty="0" smtClean="0">
                <a:latin typeface="Gabriola" pitchFamily="82" charset="0"/>
              </a:rPr>
              <a:t> is encouraged over crystalloid predominant resuscitation. 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This approach involves the use of </a:t>
            </a:r>
            <a:r>
              <a:rPr lang="en-GB" b="1" dirty="0" smtClean="0">
                <a:latin typeface="Gabriola" pitchFamily="82" charset="0"/>
              </a:rPr>
              <a:t>blood products</a:t>
            </a:r>
            <a:r>
              <a:rPr lang="en-GB" dirty="0" smtClean="0">
                <a:latin typeface="Gabriola" pitchFamily="82" charset="0"/>
              </a:rPr>
              <a:t> in addition to crystalloids to better replicate the composition of whole blood.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7544" y="170080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681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3002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92696"/>
            <a:ext cx="8363272" cy="543346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Balanced Resuscitation: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Components Used:</a:t>
            </a:r>
            <a:endParaRPr lang="en-GB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Red Blood Cells (RBCs):</a:t>
            </a:r>
            <a:r>
              <a:rPr lang="en-GB" sz="3200" dirty="0" smtClean="0">
                <a:latin typeface="Gabriola" pitchFamily="82" charset="0"/>
              </a:rPr>
              <a:t> Treat </a:t>
            </a:r>
            <a:r>
              <a:rPr lang="en-GB" sz="3200" dirty="0" err="1" smtClean="0">
                <a:latin typeface="Gabriola" pitchFamily="82" charset="0"/>
              </a:rPr>
              <a:t>anemia</a:t>
            </a:r>
            <a:r>
              <a:rPr lang="en-GB" sz="3200" dirty="0" smtClean="0">
                <a:latin typeface="Gabriola" pitchFamily="82" charset="0"/>
              </a:rPr>
              <a:t> and support oxygen delivery</a:t>
            </a:r>
          </a:p>
          <a:p>
            <a:pPr lvl="2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Plasma:</a:t>
            </a:r>
            <a:r>
              <a:rPr lang="en-GB" sz="3200" dirty="0" smtClean="0">
                <a:latin typeface="Gabriola" pitchFamily="82" charset="0"/>
              </a:rPr>
              <a:t> Replace clotting factors and maintain intravascular volume</a:t>
            </a:r>
          </a:p>
          <a:p>
            <a:pPr lvl="2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Platelets:</a:t>
            </a:r>
            <a:r>
              <a:rPr lang="en-GB" sz="3200" dirty="0" smtClean="0">
                <a:latin typeface="Gabriola" pitchFamily="82" charset="0"/>
              </a:rPr>
              <a:t> Treat thrombocytopenia and prevent bleeding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228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91264" cy="47133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Benefits of Balanced Resuscitation: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Corrects coagulopathy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Provides adequate oxygenation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Maintains hemodynamic stability</a:t>
            </a:r>
          </a:p>
          <a:p>
            <a:pPr lvl="1">
              <a:lnSpc>
                <a:spcPct val="150000"/>
              </a:lnSpc>
            </a:pPr>
            <a:endParaRPr lang="en-GB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829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579296" cy="5289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Crystalloid Predominant Resuscitation: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Associated with negative outcomes:</a:t>
            </a: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Increased mortality</a:t>
            </a: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Longer hospital and ICU stays</a:t>
            </a: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More ventilator days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Crystalloid predominant resuscitation is discouraged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3869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Massive transfusion protocols/balanced transfusion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784976" cy="518457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No universal definition of massive transfusion in the paediatric population exists.</a:t>
            </a:r>
          </a:p>
          <a:p>
            <a:pPr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Diab</a:t>
            </a:r>
            <a:r>
              <a:rPr lang="en-GB" b="1" dirty="0" smtClean="0">
                <a:latin typeface="Gabriola" pitchFamily="82" charset="0"/>
              </a:rPr>
              <a:t> et al</a:t>
            </a:r>
            <a:r>
              <a:rPr lang="en-GB" dirty="0" smtClean="0">
                <a:latin typeface="Gabriola" pitchFamily="82" charset="0"/>
              </a:rPr>
              <a:t>.  suggested the following dynamic definition of massive transfusion in children and neonates: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50% of total body volume (TBV) in 3 </a:t>
            </a:r>
            <a:r>
              <a:rPr lang="en-GB" dirty="0" err="1" smtClean="0">
                <a:latin typeface="Gabriola" pitchFamily="82" charset="0"/>
              </a:rPr>
              <a:t>hrs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100% TBV in 24 </a:t>
            </a:r>
            <a:r>
              <a:rPr lang="en-GB" dirty="0" err="1" smtClean="0">
                <a:latin typeface="Gabriola" pitchFamily="82" charset="0"/>
              </a:rPr>
              <a:t>hrs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10% TBV/min for </a:t>
            </a:r>
            <a:r>
              <a:rPr lang="en-GB" dirty="0" err="1" smtClean="0">
                <a:latin typeface="Gabriola" pitchFamily="82" charset="0"/>
              </a:rPr>
              <a:t>ongoing</a:t>
            </a:r>
            <a:r>
              <a:rPr lang="en-GB" dirty="0" smtClean="0">
                <a:latin typeface="Gabriola" pitchFamily="82" charset="0"/>
              </a:rPr>
              <a:t> blood loss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71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928992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Neff et al.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40 ml/kg of all blood products within 24 </a:t>
            </a:r>
            <a:r>
              <a:rPr lang="en-GB" sz="3200" dirty="0" err="1" smtClean="0">
                <a:latin typeface="Gabriola" pitchFamily="82" charset="0"/>
              </a:rPr>
              <a:t>hrs</a:t>
            </a:r>
            <a:endParaRPr lang="en-GB" sz="32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Protocols for Blood Component Transfusion: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Early, liberal use of a fixed ratio:</a:t>
            </a:r>
          </a:p>
          <a:p>
            <a:pPr lvl="2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1:1:1</a:t>
            </a:r>
            <a:r>
              <a:rPr lang="en-GB" sz="3200" dirty="0" smtClean="0">
                <a:latin typeface="Gabriola" pitchFamily="82" charset="0"/>
              </a:rPr>
              <a:t> (Red blood cells: FFP: Platelets)</a:t>
            </a:r>
          </a:p>
          <a:p>
            <a:pPr lvl="2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Occasionally </a:t>
            </a:r>
            <a:r>
              <a:rPr lang="en-GB" sz="3200" b="1" dirty="0" smtClean="0">
                <a:latin typeface="Gabriola" pitchFamily="82" charset="0"/>
              </a:rPr>
              <a:t>2:1:1</a:t>
            </a:r>
            <a:r>
              <a:rPr lang="en-GB" sz="3200" dirty="0" smtClean="0">
                <a:latin typeface="Gabriola" pitchFamily="82" charset="0"/>
              </a:rPr>
              <a:t> ratio used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8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8856984" cy="5256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No significant difference in mortality between MTP and clinician’s discretion in blood product administration.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Benefits of Early Blood Product Administration: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Approximates whole blood composition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Affects potassium, ionized calcium, acid-base balance, and hypothermia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0170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Trauma-Induced Coagulopathy (TIC):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568952" cy="51125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Caused by </a:t>
            </a:r>
            <a:r>
              <a:rPr lang="en-GB" dirty="0" err="1" smtClean="0">
                <a:latin typeface="Gabriola" pitchFamily="82" charset="0"/>
              </a:rPr>
              <a:t>haemodilution</a:t>
            </a:r>
            <a:r>
              <a:rPr lang="en-GB" dirty="0" smtClean="0">
                <a:latin typeface="Gabriola" pitchFamily="82" charset="0"/>
              </a:rPr>
              <a:t>, hypothermia, clotting factor consumption, and metabolic changes.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Results in the </a:t>
            </a:r>
            <a:r>
              <a:rPr lang="en-GB" b="1" dirty="0" smtClean="0">
                <a:latin typeface="Gabriola" pitchFamily="82" charset="0"/>
              </a:rPr>
              <a:t>“deadly triad”</a:t>
            </a:r>
            <a:r>
              <a:rPr lang="en-GB" dirty="0" smtClean="0">
                <a:latin typeface="Gabriola" pitchFamily="82" charset="0"/>
              </a:rPr>
              <a:t> (Acidosis, Hypothermia, Coagulopathy).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Management:</a:t>
            </a:r>
            <a:r>
              <a:rPr lang="en-GB" dirty="0" smtClean="0">
                <a:latin typeface="Gabriola" pitchFamily="82" charset="0"/>
              </a:rPr>
              <a:t> Early blood product transfusion.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52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229600" cy="1004162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latin typeface="Arial Rounded MT Bold" pitchFamily="34" charset="0"/>
              </a:rPr>
              <a:t/>
            </a:r>
            <a:br>
              <a:rPr lang="en-GB" b="1" dirty="0" smtClean="0">
                <a:latin typeface="Arial Rounded MT Bold" pitchFamily="34" charset="0"/>
              </a:rPr>
            </a:br>
            <a:r>
              <a:rPr lang="en-GB" b="1" dirty="0" smtClean="0">
                <a:latin typeface="Arial Rounded MT Bold" pitchFamily="34" charset="0"/>
              </a:rPr>
              <a:t>Emerging </a:t>
            </a:r>
            <a:r>
              <a:rPr lang="en-GB" b="1" dirty="0" smtClean="0">
                <a:latin typeface="Arial Rounded MT Bold" pitchFamily="34" charset="0"/>
              </a:rPr>
              <a:t>Therapies for TIC: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856984" cy="5616624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60000"/>
              </a:lnSpc>
              <a:buFont typeface="Arial" pitchFamily="34" charset="0"/>
              <a:buChar char="•"/>
            </a:pPr>
            <a:r>
              <a:rPr lang="en-GB" sz="3200" b="1" dirty="0" err="1" smtClean="0">
                <a:latin typeface="Gabriola" pitchFamily="82" charset="0"/>
              </a:rPr>
              <a:t>Tranexamic</a:t>
            </a:r>
            <a:r>
              <a:rPr lang="en-GB" sz="3200" b="1" dirty="0" smtClean="0">
                <a:latin typeface="Gabriola" pitchFamily="82" charset="0"/>
              </a:rPr>
              <a:t> Acid (TXA</a:t>
            </a:r>
            <a:r>
              <a:rPr lang="en-GB" sz="3200" b="1" dirty="0" smtClean="0">
                <a:latin typeface="Gabriola" pitchFamily="82" charset="0"/>
              </a:rPr>
              <a:t>):</a:t>
            </a:r>
            <a:r>
              <a:rPr lang="en-GB" sz="3200" dirty="0">
                <a:latin typeface="Gabriola" pitchFamily="82" charset="0"/>
              </a:rPr>
              <a:t> </a:t>
            </a:r>
            <a:r>
              <a:rPr lang="en-GB" sz="3200" dirty="0" smtClean="0">
                <a:latin typeface="Gabriola" pitchFamily="82" charset="0"/>
              </a:rPr>
              <a:t>Reduces </a:t>
            </a:r>
            <a:r>
              <a:rPr lang="en-GB" sz="3200" dirty="0" smtClean="0">
                <a:latin typeface="Gabriola" pitchFamily="82" charset="0"/>
              </a:rPr>
              <a:t>bleeding risk when administered </a:t>
            </a:r>
            <a:r>
              <a:rPr lang="en-GB" sz="3200" dirty="0">
                <a:latin typeface="Gabriola" pitchFamily="82" charset="0"/>
              </a:rPr>
              <a:t>early </a:t>
            </a:r>
            <a:r>
              <a:rPr lang="en-GB" sz="3200" dirty="0" smtClean="0">
                <a:latin typeface="Gabriola" pitchFamily="82" charset="0"/>
              </a:rPr>
              <a:t>and Low </a:t>
            </a:r>
            <a:r>
              <a:rPr lang="en-GB" sz="3200" dirty="0">
                <a:latin typeface="Gabriola" pitchFamily="82" charset="0"/>
              </a:rPr>
              <a:t>cost, widely available</a:t>
            </a:r>
            <a:r>
              <a:rPr lang="en-GB" sz="3200" dirty="0" smtClean="0">
                <a:latin typeface="Gabriola" pitchFamily="82" charset="0"/>
              </a:rPr>
              <a:t>.</a:t>
            </a:r>
            <a:endParaRPr lang="en-GB" sz="3200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sz="3200" b="1" dirty="0" smtClean="0">
                <a:latin typeface="Gabriola" pitchFamily="82" charset="0"/>
              </a:rPr>
              <a:t>Dosing:</a:t>
            </a:r>
          </a:p>
          <a:p>
            <a:pPr lvl="2">
              <a:lnSpc>
                <a:spcPct val="160000"/>
              </a:lnSpc>
            </a:pPr>
            <a:r>
              <a:rPr lang="en-GB" sz="3200" dirty="0" smtClean="0">
                <a:latin typeface="Gabriola" pitchFamily="82" charset="0"/>
              </a:rPr>
              <a:t>&lt;12 years: 15 mg/kg (max 1g) IV over 10 minutes, followed by 2 mg/kg/</a:t>
            </a:r>
            <a:r>
              <a:rPr lang="en-GB" sz="3200" dirty="0" err="1" smtClean="0">
                <a:latin typeface="Gabriola" pitchFamily="82" charset="0"/>
              </a:rPr>
              <a:t>hr</a:t>
            </a:r>
            <a:r>
              <a:rPr lang="en-GB" sz="3200" dirty="0" smtClean="0">
                <a:latin typeface="Gabriola" pitchFamily="82" charset="0"/>
              </a:rPr>
              <a:t> for 8 hrs.</a:t>
            </a:r>
          </a:p>
          <a:p>
            <a:pPr lvl="2">
              <a:lnSpc>
                <a:spcPct val="160000"/>
              </a:lnSpc>
            </a:pPr>
            <a:r>
              <a:rPr lang="en-GB" sz="3200" dirty="0" smtClean="0">
                <a:latin typeface="Gabriola" pitchFamily="82" charset="0"/>
              </a:rPr>
              <a:t>&gt;12 years: 1g IV over 10 minutes, followed by 1g over 8 hrs</a:t>
            </a:r>
            <a:r>
              <a:rPr lang="en-GB" sz="3200" b="1" dirty="0" smtClean="0">
                <a:latin typeface="Gabriola" pitchFamily="82" charset="0"/>
              </a:rPr>
              <a:t>.</a:t>
            </a:r>
            <a:endParaRPr lang="en-GB" sz="3200" b="1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24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289451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Factor </a:t>
            </a:r>
            <a:r>
              <a:rPr lang="en-GB" b="1" dirty="0" err="1" smtClean="0">
                <a:latin typeface="Gabriola" pitchFamily="82" charset="0"/>
              </a:rPr>
              <a:t>VIIa</a:t>
            </a:r>
            <a:r>
              <a:rPr lang="en-GB" b="1" dirty="0" smtClean="0">
                <a:latin typeface="Gabriola" pitchFamily="82" charset="0"/>
              </a:rPr>
              <a:t>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sz="3200" dirty="0" smtClean="0">
                <a:latin typeface="Gabriola" pitchFamily="82" charset="0"/>
              </a:rPr>
              <a:t>For haemorrhage due to factor deficiencies.</a:t>
            </a:r>
          </a:p>
          <a:p>
            <a:pPr lvl="1">
              <a:lnSpc>
                <a:spcPct val="160000"/>
              </a:lnSpc>
            </a:pPr>
            <a:r>
              <a:rPr lang="en-GB" sz="3200" dirty="0" smtClean="0">
                <a:latin typeface="Gabriola" pitchFamily="82" charset="0"/>
              </a:rPr>
              <a:t>Dosing: </a:t>
            </a:r>
            <a:r>
              <a:rPr lang="en-GB" sz="3200" b="1" dirty="0" smtClean="0">
                <a:latin typeface="Gabriola" pitchFamily="82" charset="0"/>
              </a:rPr>
              <a:t>40-100 </a:t>
            </a:r>
            <a:r>
              <a:rPr lang="el-GR" sz="3200" b="1" dirty="0" smtClean="0">
                <a:latin typeface="Gabriola" pitchFamily="82" charset="0"/>
              </a:rPr>
              <a:t>μ</a:t>
            </a:r>
            <a:r>
              <a:rPr lang="en-GB" sz="3200" b="1" dirty="0" smtClean="0">
                <a:latin typeface="Gabriola" pitchFamily="82" charset="0"/>
              </a:rPr>
              <a:t>g/kg</a:t>
            </a:r>
            <a:r>
              <a:rPr lang="en-GB" sz="3200" dirty="0" smtClean="0">
                <a:latin typeface="Gabriola" pitchFamily="82" charset="0"/>
              </a:rPr>
              <a:t>, every 2 </a:t>
            </a:r>
            <a:r>
              <a:rPr lang="en-GB" sz="3200" dirty="0" err="1" smtClean="0">
                <a:latin typeface="Gabriola" pitchFamily="82" charset="0"/>
              </a:rPr>
              <a:t>hrs</a:t>
            </a:r>
            <a:r>
              <a:rPr lang="en-GB" sz="3200" dirty="0" smtClean="0">
                <a:latin typeface="Gabriola" pitchFamily="82" charset="0"/>
              </a:rPr>
              <a:t> until haemostasis is achieved</a:t>
            </a:r>
          </a:p>
          <a:p>
            <a:pPr>
              <a:lnSpc>
                <a:spcPct val="160000"/>
              </a:lnSpc>
            </a:pPr>
            <a:r>
              <a:rPr lang="en-US" sz="3600" dirty="0" err="1">
                <a:latin typeface="Gabriola" pitchFamily="82" charset="0"/>
              </a:rPr>
              <a:t>Desmopressin</a:t>
            </a:r>
            <a:r>
              <a:rPr lang="en-US" sz="3600" dirty="0">
                <a:latin typeface="Gabriola" pitchFamily="82" charset="0"/>
              </a:rPr>
              <a:t> (DDAVP):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Improves platelet adhesion and raises factor VIII and </a:t>
            </a:r>
            <a:r>
              <a:rPr lang="en-US" dirty="0" err="1">
                <a:latin typeface="Gabriola" pitchFamily="82" charset="0"/>
              </a:rPr>
              <a:t>vWF</a:t>
            </a:r>
            <a:r>
              <a:rPr lang="en-US" dirty="0">
                <a:latin typeface="Gabriola" pitchFamily="82" charset="0"/>
              </a:rPr>
              <a:t> levels.</a:t>
            </a:r>
          </a:p>
          <a:p>
            <a:pPr>
              <a:lnSpc>
                <a:spcPct val="160000"/>
              </a:lnSpc>
            </a:pPr>
            <a:endParaRPr lang="en-US" sz="36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69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346646"/>
            <a:ext cx="8507288" cy="27404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424936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Prothrombin</a:t>
            </a:r>
            <a:r>
              <a:rPr lang="en-GB" b="1" dirty="0" smtClean="0">
                <a:latin typeface="Gabriola" pitchFamily="82" charset="0"/>
              </a:rPr>
              <a:t> </a:t>
            </a:r>
            <a:r>
              <a:rPr lang="en-GB" b="1" dirty="0" smtClean="0">
                <a:latin typeface="Gabriola" pitchFamily="82" charset="0"/>
              </a:rPr>
              <a:t>Complex Concentrate (PCC):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Higher concentration of clotting factors than FFP (Factor II, IX, X).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Dosing: 20-50 units/kg, with caution for thromboembolism at &gt;50 units/kg.</a:t>
            </a:r>
          </a:p>
          <a:p>
            <a:pPr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0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‘…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712"/>
            <a:ext cx="8892480" cy="528945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Permissive Hypotension: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Lower blood pressure for </a:t>
            </a:r>
            <a:r>
              <a:rPr lang="en-GB" sz="3200" dirty="0" err="1" smtClean="0">
                <a:latin typeface="Gabriola" pitchFamily="82" charset="0"/>
              </a:rPr>
              <a:t>hemorrhage</a:t>
            </a:r>
            <a:r>
              <a:rPr lang="en-GB" sz="3200" dirty="0" smtClean="0">
                <a:latin typeface="Gabriola" pitchFamily="82" charset="0"/>
              </a:rPr>
              <a:t> control, but not widely accepted in paediatrics due to risks related to cerebral </a:t>
            </a:r>
            <a:r>
              <a:rPr lang="en-GB" sz="3200" dirty="0" err="1" smtClean="0">
                <a:latin typeface="Gabriola" pitchFamily="82" charset="0"/>
              </a:rPr>
              <a:t>autoregulation</a:t>
            </a:r>
            <a:r>
              <a:rPr lang="en-GB" sz="32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).</a:t>
            </a:r>
            <a:endParaRPr lang="en-GB" sz="3200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2855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507288" cy="528945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sz="3500" b="1" dirty="0">
                <a:latin typeface="Gabriola" pitchFamily="82" charset="0"/>
              </a:rPr>
              <a:t>Pain Management:</a:t>
            </a:r>
            <a:endParaRPr lang="en-GB" sz="3500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200" dirty="0">
                <a:latin typeface="Gabriola" pitchFamily="82" charset="0"/>
              </a:rPr>
              <a:t>Careful titration of analgesia to avoid opioid-related side effects (respiratory depression, hypotension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Use </a:t>
            </a:r>
            <a:r>
              <a:rPr lang="en-GB" sz="3200" b="1" dirty="0" smtClean="0">
                <a:latin typeface="Gabriola" pitchFamily="82" charset="0"/>
              </a:rPr>
              <a:t>pharmacological and non-pharmacological interventions</a:t>
            </a:r>
            <a:r>
              <a:rPr lang="en-GB" sz="3200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Consider </a:t>
            </a:r>
            <a:r>
              <a:rPr lang="en-GB" sz="3200" b="1" dirty="0" smtClean="0">
                <a:latin typeface="Gabriola" pitchFamily="82" charset="0"/>
              </a:rPr>
              <a:t>intranasal administration</a:t>
            </a:r>
            <a:r>
              <a:rPr lang="en-GB" sz="3200" dirty="0" smtClean="0">
                <a:latin typeface="Gabriola" pitchFamily="82" charset="0"/>
              </a:rPr>
              <a:t> if IV/oral routes are not feasible.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Regional anaesthesia</a:t>
            </a:r>
            <a:r>
              <a:rPr lang="en-GB" sz="3200" dirty="0" smtClean="0">
                <a:latin typeface="Gabriola" pitchFamily="82" charset="0"/>
              </a:rPr>
              <a:t> to minimize opioid-related side effects and ensure comfort.</a:t>
            </a:r>
          </a:p>
          <a:p>
            <a:pPr lvl="1">
              <a:lnSpc>
                <a:spcPct val="150000"/>
              </a:lnSpc>
            </a:pPr>
            <a:endParaRPr lang="en-GB" sz="32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716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80920" cy="511256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GB" sz="3300" dirty="0" smtClean="0">
                <a:latin typeface="Gabriola" pitchFamily="82" charset="0"/>
              </a:rPr>
              <a:t>Morgan and </a:t>
            </a:r>
            <a:r>
              <a:rPr lang="en-GB" sz="3300" dirty="0" err="1" smtClean="0">
                <a:latin typeface="Gabriola" pitchFamily="82" charset="0"/>
              </a:rPr>
              <a:t>georgy</a:t>
            </a:r>
            <a:r>
              <a:rPr lang="en-GB" sz="3300" dirty="0" smtClean="0">
                <a:latin typeface="Gabriola" pitchFamily="82" charset="0"/>
              </a:rPr>
              <a:t> </a:t>
            </a:r>
            <a:r>
              <a:rPr lang="en-GB" sz="3300" dirty="0" err="1" smtClean="0">
                <a:latin typeface="Gabriola" pitchFamily="82" charset="0"/>
              </a:rPr>
              <a:t>pediatric</a:t>
            </a:r>
            <a:r>
              <a:rPr lang="en-GB" sz="3300" dirty="0" smtClean="0">
                <a:latin typeface="Gabriola" pitchFamily="82" charset="0"/>
              </a:rPr>
              <a:t> </a:t>
            </a:r>
            <a:r>
              <a:rPr lang="en-GB" sz="3300" dirty="0" err="1" smtClean="0">
                <a:latin typeface="Gabriola" pitchFamily="82" charset="0"/>
              </a:rPr>
              <a:t>anestheisa</a:t>
            </a:r>
            <a:r>
              <a:rPr lang="en-GB" sz="3300" dirty="0" smtClean="0">
                <a:latin typeface="Gabriola" pitchFamily="82" charset="0"/>
              </a:rPr>
              <a:t> book </a:t>
            </a:r>
          </a:p>
          <a:p>
            <a:pPr>
              <a:lnSpc>
                <a:spcPct val="170000"/>
              </a:lnSpc>
            </a:pPr>
            <a:r>
              <a:rPr lang="en-GB" sz="2800" dirty="0" err="1" smtClean="0">
                <a:latin typeface="Gabriola" pitchFamily="82" charset="0"/>
              </a:rPr>
              <a:t>Diab</a:t>
            </a:r>
            <a:r>
              <a:rPr lang="en-GB" sz="2800" dirty="0" smtClean="0">
                <a:latin typeface="Gabriola" pitchFamily="82" charset="0"/>
              </a:rPr>
              <a:t>, S. D., et al. (2012). </a:t>
            </a:r>
            <a:r>
              <a:rPr lang="en-GB" sz="2800" b="1" dirty="0" smtClean="0">
                <a:latin typeface="Gabriola" pitchFamily="82" charset="0"/>
              </a:rPr>
              <a:t>Massive transfusion in children: A dynamic definition and review of the literature</a:t>
            </a:r>
            <a:r>
              <a:rPr lang="en-GB" sz="2800" dirty="0" smtClean="0">
                <a:latin typeface="Gabriola" pitchFamily="82" charset="0"/>
              </a:rPr>
              <a:t>. </a:t>
            </a:r>
            <a:r>
              <a:rPr lang="en-GB" sz="2800" i="1" dirty="0" smtClean="0">
                <a:latin typeface="Gabriola" pitchFamily="82" charset="0"/>
              </a:rPr>
              <a:t>Journal of Trauma and Acute Care Surgery</a:t>
            </a:r>
            <a:r>
              <a:rPr lang="en-GB" sz="2800" dirty="0" smtClean="0">
                <a:latin typeface="Gabriola" pitchFamily="82" charset="0"/>
              </a:rPr>
              <a:t>, 73(4), 999-1006. doi:10.1097/TA.0b013e31826bfe48</a:t>
            </a:r>
          </a:p>
          <a:p>
            <a:pPr>
              <a:lnSpc>
                <a:spcPct val="170000"/>
              </a:lnSpc>
            </a:pPr>
            <a:r>
              <a:rPr lang="en-GB" sz="2800" dirty="0" smtClean="0">
                <a:latin typeface="Gabriola" pitchFamily="82" charset="0"/>
              </a:rPr>
              <a:t>Neff, M. J., et al. (2014). </a:t>
            </a:r>
            <a:r>
              <a:rPr lang="en-GB" sz="2800" b="1" dirty="0" smtClean="0">
                <a:latin typeface="Gabriola" pitchFamily="82" charset="0"/>
              </a:rPr>
              <a:t>Critical volume of blood products in </a:t>
            </a:r>
            <a:r>
              <a:rPr lang="en-GB" sz="2800" b="1" dirty="0" err="1" smtClean="0">
                <a:latin typeface="Gabriola" pitchFamily="82" charset="0"/>
              </a:rPr>
              <a:t>pediatric</a:t>
            </a:r>
            <a:r>
              <a:rPr lang="en-GB" sz="2800" b="1" dirty="0" smtClean="0">
                <a:latin typeface="Gabriola" pitchFamily="82" charset="0"/>
              </a:rPr>
              <a:t> trauma: A study of transfusion thresholds</a:t>
            </a:r>
            <a:r>
              <a:rPr lang="en-GB" sz="2800" dirty="0" smtClean="0">
                <a:latin typeface="Gabriola" pitchFamily="82" charset="0"/>
              </a:rPr>
              <a:t>. </a:t>
            </a:r>
            <a:r>
              <a:rPr lang="en-GB" sz="2800" i="1" dirty="0" err="1" smtClean="0">
                <a:latin typeface="Gabriola" pitchFamily="82" charset="0"/>
              </a:rPr>
              <a:t>Pediatric</a:t>
            </a:r>
            <a:r>
              <a:rPr lang="en-GB" sz="2800" i="1" dirty="0" smtClean="0">
                <a:latin typeface="Gabriola" pitchFamily="82" charset="0"/>
              </a:rPr>
              <a:t> Trauma, Emergency Care and Surgery</a:t>
            </a:r>
            <a:r>
              <a:rPr lang="en-GB" sz="2800" dirty="0" smtClean="0">
                <a:latin typeface="Gabriola" pitchFamily="82" charset="0"/>
              </a:rPr>
              <a:t>, 3(1), 35-40</a:t>
            </a:r>
            <a:r>
              <a:rPr lang="en-GB" sz="2800" dirty="0" smtClean="0">
                <a:latin typeface="Gabriola" pitchFamily="82" charset="0"/>
              </a:rPr>
              <a:t>.</a:t>
            </a:r>
            <a:endParaRPr lang="en-GB" sz="2800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6463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 err="1" smtClean="0"/>
              <a:t>Cnt</a:t>
            </a:r>
            <a:r>
              <a:rPr lang="en-GB" dirty="0" smtClean="0"/>
              <a:t>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Trauma Anaesthesia in Paediatrics. (2021). </a:t>
            </a:r>
            <a:r>
              <a:rPr lang="en-GB" b="1" dirty="0">
                <a:latin typeface="Gabriola" pitchFamily="82" charset="0"/>
              </a:rPr>
              <a:t>South African Journal of Anaesthesia and Analgesia</a:t>
            </a:r>
            <a:r>
              <a:rPr lang="en-GB" dirty="0">
                <a:latin typeface="Gabriola" pitchFamily="82" charset="0"/>
              </a:rPr>
              <a:t>, 27(6), Supplement. Available at: </a:t>
            </a:r>
            <a:r>
              <a:rPr lang="en-GB" dirty="0">
                <a:latin typeface="Gabriola" pitchFamily="82" charset="0"/>
                <a:hlinkClick r:id="rId2"/>
              </a:rPr>
              <a:t>http://www.sajaa.co.za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dirty="0" err="1">
                <a:latin typeface="Gabriola" pitchFamily="82" charset="0"/>
              </a:rPr>
              <a:t>Tranexamic</a:t>
            </a:r>
            <a:r>
              <a:rPr lang="en-GB" dirty="0">
                <a:latin typeface="Gabriola" pitchFamily="82" charset="0"/>
              </a:rPr>
              <a:t> Acid in </a:t>
            </a:r>
            <a:r>
              <a:rPr lang="en-GB" dirty="0" err="1">
                <a:latin typeface="Gabriola" pitchFamily="82" charset="0"/>
              </a:rPr>
              <a:t>Pediatric</a:t>
            </a:r>
            <a:r>
              <a:rPr lang="en-GB" dirty="0">
                <a:latin typeface="Gabriola" pitchFamily="82" charset="0"/>
              </a:rPr>
              <a:t> Trauma. (2020). </a:t>
            </a:r>
            <a:r>
              <a:rPr lang="en-GB" b="1" dirty="0">
                <a:latin typeface="Gabriola" pitchFamily="82" charset="0"/>
              </a:rPr>
              <a:t>Trauma and Acute Care Surgery Journal</a:t>
            </a:r>
            <a:r>
              <a:rPr lang="en-GB" dirty="0">
                <a:latin typeface="Gabriola" pitchFamily="82" charset="0"/>
              </a:rPr>
              <a:t>, 8(2), 122-130. doi:10.1097/TA.0000000000000804</a:t>
            </a:r>
          </a:p>
          <a:p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9927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Cooper Black" pitchFamily="18" charset="0"/>
              </a:rPr>
              <a:t>Any questions </a:t>
            </a:r>
            <a:endParaRPr lang="en-US" sz="4800" dirty="0"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</TotalTime>
  <Words>2128</Words>
  <Application>Microsoft Office PowerPoint</Application>
  <PresentationFormat>On-screen Show (4:3)</PresentationFormat>
  <Paragraphs>329</Paragraphs>
  <Slides>51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Anaesthesia  for paediatric trauma </vt:lpstr>
      <vt:lpstr> Introduction </vt:lpstr>
      <vt:lpstr>Cont..</vt:lpstr>
      <vt:lpstr>Cont..</vt:lpstr>
      <vt:lpstr>Epidemiology of paediatric trauma </vt:lpstr>
      <vt:lpstr>Cont..</vt:lpstr>
      <vt:lpstr>Cont..</vt:lpstr>
      <vt:lpstr>Cont..</vt:lpstr>
      <vt:lpstr>PowerPoint Presentation</vt:lpstr>
      <vt:lpstr>Cont..</vt:lpstr>
      <vt:lpstr>Cont..</vt:lpstr>
      <vt:lpstr>Anatomical and Physiological Differences in Paediatric Patients</vt:lpstr>
      <vt:lpstr>Cont..</vt:lpstr>
      <vt:lpstr>Cont..</vt:lpstr>
      <vt:lpstr>Cont..</vt:lpstr>
      <vt:lpstr>Cont..</vt:lpstr>
      <vt:lpstr>Cont..</vt:lpstr>
      <vt:lpstr>Cont..</vt:lpstr>
      <vt:lpstr>Cont..</vt:lpstr>
      <vt:lpstr>Paediatric Trauma Score</vt:lpstr>
      <vt:lpstr>CONT….</vt:lpstr>
      <vt:lpstr> Paediatric Glasgow Coma Scale (GCS) </vt:lpstr>
      <vt:lpstr>Primary survey </vt:lpstr>
      <vt:lpstr>Cont..</vt:lpstr>
      <vt:lpstr>Cont…</vt:lpstr>
      <vt:lpstr>Cont..</vt:lpstr>
      <vt:lpstr>Cont..</vt:lpstr>
      <vt:lpstr> Anaesthetic Management of the Paediatric Trauma Patient </vt:lpstr>
      <vt:lpstr>Cont..</vt:lpstr>
      <vt:lpstr>Anaesthesia Induction and Medication Selection </vt:lpstr>
      <vt:lpstr>Cont..</vt:lpstr>
      <vt:lpstr> Airway Management </vt:lpstr>
      <vt:lpstr>Cont..</vt:lpstr>
      <vt:lpstr>Haemorrhage and Damage Control Resuscitation </vt:lpstr>
      <vt:lpstr>Cont..</vt:lpstr>
      <vt:lpstr>Cont..</vt:lpstr>
      <vt:lpstr>Cont..</vt:lpstr>
      <vt:lpstr>Cont..</vt:lpstr>
      <vt:lpstr>Cont..</vt:lpstr>
      <vt:lpstr>Massive transfusion protocols/balanced transfusion</vt:lpstr>
      <vt:lpstr>Cont..</vt:lpstr>
      <vt:lpstr>Cont..</vt:lpstr>
      <vt:lpstr>Trauma-Induced Coagulopathy (TIC): </vt:lpstr>
      <vt:lpstr> Emerging Therapies for TIC: </vt:lpstr>
      <vt:lpstr>Cont..</vt:lpstr>
      <vt:lpstr>cont..</vt:lpstr>
      <vt:lpstr>Cont‘…</vt:lpstr>
      <vt:lpstr>Cont..</vt:lpstr>
      <vt:lpstr>Reference </vt:lpstr>
      <vt:lpstr>Cnt..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Afei</dc:creator>
  <cp:lastModifiedBy>Windows User</cp:lastModifiedBy>
  <cp:revision>34</cp:revision>
  <dcterms:created xsi:type="dcterms:W3CDTF">2024-12-15T10:00:18Z</dcterms:created>
  <dcterms:modified xsi:type="dcterms:W3CDTF">2024-12-18T18:01:27Z</dcterms:modified>
</cp:coreProperties>
</file>