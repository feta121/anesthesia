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92"/>
  </p:notesMasterIdLst>
  <p:sldIdLst>
    <p:sldId id="256" r:id="rId2"/>
    <p:sldId id="257" r:id="rId3"/>
    <p:sldId id="338" r:id="rId4"/>
    <p:sldId id="339" r:id="rId5"/>
    <p:sldId id="304" r:id="rId6"/>
    <p:sldId id="258" r:id="rId7"/>
    <p:sldId id="382" r:id="rId8"/>
    <p:sldId id="377" r:id="rId9"/>
    <p:sldId id="260" r:id="rId10"/>
    <p:sldId id="261" r:id="rId11"/>
    <p:sldId id="373" r:id="rId12"/>
    <p:sldId id="287" r:id="rId13"/>
    <p:sldId id="288" r:id="rId14"/>
    <p:sldId id="289" r:id="rId15"/>
    <p:sldId id="290" r:id="rId16"/>
    <p:sldId id="262" r:id="rId17"/>
    <p:sldId id="355" r:id="rId18"/>
    <p:sldId id="263" r:id="rId19"/>
    <p:sldId id="300" r:id="rId20"/>
    <p:sldId id="265" r:id="rId21"/>
    <p:sldId id="267" r:id="rId22"/>
    <p:sldId id="367" r:id="rId23"/>
    <p:sldId id="368" r:id="rId24"/>
    <p:sldId id="378" r:id="rId25"/>
    <p:sldId id="344" r:id="rId26"/>
    <p:sldId id="268" r:id="rId27"/>
    <p:sldId id="269" r:id="rId28"/>
    <p:sldId id="375" r:id="rId29"/>
    <p:sldId id="391" r:id="rId30"/>
    <p:sldId id="409" r:id="rId31"/>
    <p:sldId id="388" r:id="rId32"/>
    <p:sldId id="389" r:id="rId33"/>
    <p:sldId id="410" r:id="rId34"/>
    <p:sldId id="392" r:id="rId35"/>
    <p:sldId id="393" r:id="rId36"/>
    <p:sldId id="337" r:id="rId37"/>
    <p:sldId id="274" r:id="rId38"/>
    <p:sldId id="275" r:id="rId39"/>
    <p:sldId id="277" r:id="rId40"/>
    <p:sldId id="394" r:id="rId41"/>
    <p:sldId id="374" r:id="rId42"/>
    <p:sldId id="411" r:id="rId43"/>
    <p:sldId id="321" r:id="rId44"/>
    <p:sldId id="345" r:id="rId45"/>
    <p:sldId id="325" r:id="rId46"/>
    <p:sldId id="395" r:id="rId47"/>
    <p:sldId id="323" r:id="rId48"/>
    <p:sldId id="298" r:id="rId49"/>
    <p:sldId id="362" r:id="rId50"/>
    <p:sldId id="308" r:id="rId51"/>
    <p:sldId id="328" r:id="rId52"/>
    <p:sldId id="329" r:id="rId53"/>
    <p:sldId id="363" r:id="rId54"/>
    <p:sldId id="352" r:id="rId55"/>
    <p:sldId id="346" r:id="rId56"/>
    <p:sldId id="397" r:id="rId57"/>
    <p:sldId id="396" r:id="rId58"/>
    <p:sldId id="330" r:id="rId59"/>
    <p:sldId id="347" r:id="rId60"/>
    <p:sldId id="379" r:id="rId61"/>
    <p:sldId id="364" r:id="rId62"/>
    <p:sldId id="331" r:id="rId63"/>
    <p:sldId id="353" r:id="rId64"/>
    <p:sldId id="332" r:id="rId65"/>
    <p:sldId id="356" r:id="rId66"/>
    <p:sldId id="348" r:id="rId67"/>
    <p:sldId id="398" r:id="rId68"/>
    <p:sldId id="333" r:id="rId69"/>
    <p:sldId id="380" r:id="rId70"/>
    <p:sldId id="349" r:id="rId71"/>
    <p:sldId id="334" r:id="rId72"/>
    <p:sldId id="399" r:id="rId73"/>
    <p:sldId id="372" r:id="rId74"/>
    <p:sldId id="400" r:id="rId75"/>
    <p:sldId id="371" r:id="rId76"/>
    <p:sldId id="350" r:id="rId77"/>
    <p:sldId id="387" r:id="rId78"/>
    <p:sldId id="335" r:id="rId79"/>
    <p:sldId id="381" r:id="rId80"/>
    <p:sldId id="351" r:id="rId81"/>
    <p:sldId id="406" r:id="rId82"/>
    <p:sldId id="402" r:id="rId83"/>
    <p:sldId id="336" r:id="rId84"/>
    <p:sldId id="386" r:id="rId85"/>
    <p:sldId id="358" r:id="rId86"/>
    <p:sldId id="401" r:id="rId87"/>
    <p:sldId id="407" r:id="rId88"/>
    <p:sldId id="408" r:id="rId89"/>
    <p:sldId id="312" r:id="rId90"/>
    <p:sldId id="360" r:id="rId9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156" y="1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85F91-603D-4742-BD3B-846F9AF188C2}" type="datetimeFigureOut">
              <a:rPr lang="en-US" smtClean="0"/>
              <a:t>11/23/2022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A2398-68CD-4AD2-9B2F-B66F9A11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59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5E62-B40A-4FD5-8ED6-1AB331899A12}" type="datetime1">
              <a:rPr lang="en-US" smtClean="0"/>
              <a:t>11/23/2022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869E61B-BD88-41E4-8146-AAE977C5F1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FE2E-3363-4471-BB99-87E463FF66B1}" type="datetime1">
              <a:rPr lang="en-US" smtClean="0"/>
              <a:t>11/23/2022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A869E61B-BD88-41E4-8146-AAE977C5F1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77D0-2958-46C5-B8F7-ABB049E94638}" type="datetime1">
              <a:rPr lang="en-US" smtClean="0"/>
              <a:t>11/23/2022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869E61B-BD88-41E4-8146-AAE977C5F14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8EFAB015-B9E7-420D-BCF1-AD9699CABC7A}" type="datetime1">
              <a:rPr lang="en-US" smtClean="0"/>
              <a:t>11/23/2022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9E61B-BD88-41E4-8146-AAE977C5F1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E2E74-C1ED-4C10-AC6F-8F78567D3706}" type="datetime1">
              <a:rPr lang="en-US" smtClean="0"/>
              <a:t>11/23/2022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A869E61B-BD88-41E4-8146-AAE977C5F142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0AE4-E777-46C5-A543-E5346502A763}" type="datetime1">
              <a:rPr lang="en-US" smtClean="0"/>
              <a:t>11/23/2022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A869E61B-BD88-41E4-8146-AAE977C5F1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B4B9A-7E21-4EDF-BDC7-2E40083D0F27}" type="datetime1">
              <a:rPr lang="en-US" smtClean="0"/>
              <a:t>11/23/2022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869E61B-BD88-41E4-8146-AAE977C5F1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869E61B-BD88-41E4-8146-AAE977C5F142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A60-FF4F-4582-869E-809C5E21EF8F}" type="datetime1">
              <a:rPr lang="en-US" smtClean="0"/>
              <a:t>11/23/2022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A869E61B-BD88-41E4-8146-AAE977C5F14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F2BF1C8A-44DE-48AD-94B5-3B428F84088A}" type="datetime1">
              <a:rPr lang="en-US" smtClean="0"/>
              <a:t>11/23/2022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D7FF-B14C-456E-B913-A7A010DF0088}" type="datetime1">
              <a:rPr lang="en-US" smtClean="0"/>
              <a:t>11/23/2022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9E61B-BD88-41E4-8146-AAE977C5F14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A869E61B-BD88-41E4-8146-AAE977C5F14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C5A3-BF0A-4DEE-AB5F-BE42D299D15B}" type="datetime1">
              <a:rPr lang="en-US" smtClean="0"/>
              <a:t>11/23/2022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2D0D9FB9-B199-480D-B869-0DE1B68252E9}" type="datetime1">
              <a:rPr lang="en-US" smtClean="0"/>
              <a:t>11/23/2022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869E61B-BD88-41E4-8146-AAE977C5F142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sldNum="0" hd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2438400"/>
            <a:ext cx="7543800" cy="2338388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sz="4800" dirty="0" smtClean="0"/>
              <a:t>Inhalational anesthesia agent for anesthesia </a:t>
            </a:r>
            <a:r>
              <a:rPr lang="en-US" sz="4800" dirty="0" err="1" smtClean="0"/>
              <a:t>Bsc</a:t>
            </a:r>
            <a:r>
              <a:rPr lang="en-US" sz="4800" dirty="0" smtClean="0"/>
              <a:t> 2022/23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86193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38200"/>
            <a:ext cx="8686800" cy="5257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900" b="1" dirty="0" smtClean="0"/>
              <a:t>Nitrous oxide(N2O), chloroform, and ether were the first universally accepted general anesthetics. Inhalation agents currently in widespread use in clinical anesthesiology including N2O</a:t>
            </a:r>
            <a:r>
              <a:rPr lang="en-US" sz="3900" b="1" dirty="0"/>
              <a:t> </a:t>
            </a:r>
            <a:r>
              <a:rPr lang="en-US" sz="3900" b="1" dirty="0" smtClean="0"/>
              <a:t>halothane, isoflurane, </a:t>
            </a:r>
            <a:r>
              <a:rPr lang="en-US" sz="3900" b="1" dirty="0" err="1" smtClean="0"/>
              <a:t>desflurane</a:t>
            </a:r>
            <a:r>
              <a:rPr lang="en-US" sz="3900" b="1" dirty="0" smtClean="0"/>
              <a:t>, and </a:t>
            </a:r>
            <a:r>
              <a:rPr lang="en-US" sz="3900" b="1" dirty="0" err="1" smtClean="0"/>
              <a:t>sevoflurane</a:t>
            </a:r>
            <a:endParaRPr lang="en-US" sz="3900" b="1" dirty="0" smtClean="0"/>
          </a:p>
          <a:p>
            <a:pPr marL="0" indent="0">
              <a:buNone/>
            </a:pPr>
            <a:endParaRPr lang="en-US" sz="3900" b="1" dirty="0"/>
          </a:p>
          <a:p>
            <a:pPr marL="0" indent="0">
              <a:buNone/>
            </a:pPr>
            <a:r>
              <a:rPr lang="en-US" sz="4000" b="1" dirty="0" smtClean="0"/>
              <a:t>WHAT IS THE EFFECTS OF INHALATIONAL ANESTHESIA?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1207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38200"/>
            <a:ext cx="8839200" cy="5041900"/>
          </a:xfrm>
        </p:spPr>
        <p:txBody>
          <a:bodyPr>
            <a:noAutofit/>
          </a:bodyPr>
          <a:lstStyle/>
          <a:p>
            <a:pPr marL="0" lvl="0" indent="0">
              <a:buClr>
                <a:srgbClr val="FF9000"/>
              </a:buClr>
              <a:buNone/>
            </a:pPr>
            <a:r>
              <a:rPr lang="en-US" sz="3600" b="1" dirty="0"/>
              <a:t>Inhalational </a:t>
            </a:r>
            <a:r>
              <a:rPr lang="en-US" sz="3600" b="1" dirty="0" err="1"/>
              <a:t>anaesthetics</a:t>
            </a:r>
            <a:r>
              <a:rPr lang="en-US" sz="3600" b="1" dirty="0"/>
              <a:t> produce loss </a:t>
            </a:r>
            <a:r>
              <a:rPr lang="en-US" sz="3600" b="1" dirty="0" smtClean="0"/>
              <a:t>of consciousness</a:t>
            </a:r>
            <a:r>
              <a:rPr lang="en-US" sz="3600" b="1" dirty="0"/>
              <a:t>, but may have other effects including analgesia </a:t>
            </a:r>
            <a:r>
              <a:rPr lang="en-US" sz="3600" b="1" dirty="0" smtClean="0"/>
              <a:t>(N20) or </a:t>
            </a:r>
            <a:r>
              <a:rPr lang="en-US" sz="3600" b="1" dirty="0" err="1" smtClean="0"/>
              <a:t>Musel</a:t>
            </a:r>
            <a:r>
              <a:rPr lang="en-US" sz="3600" b="1" dirty="0" smtClean="0"/>
              <a:t> relaxation(</a:t>
            </a:r>
            <a:r>
              <a:rPr lang="en-US" sz="3600" b="1" dirty="0" err="1" smtClean="0"/>
              <a:t>isoflurane</a:t>
            </a:r>
            <a:r>
              <a:rPr lang="en-US" sz="3600" b="1" dirty="0" smtClean="0"/>
              <a:t>) </a:t>
            </a:r>
            <a:r>
              <a:rPr lang="en-US" sz="3600" b="1" dirty="0"/>
              <a:t>They are presented as liquefied gases under pressure or as </a:t>
            </a:r>
            <a:r>
              <a:rPr lang="en-US" sz="3600" b="1" dirty="0" smtClean="0"/>
              <a:t>volatile liquids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65489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7" t="32642" r="51251" b="13326"/>
          <a:stretch/>
        </p:blipFill>
        <p:spPr bwMode="auto">
          <a:xfrm>
            <a:off x="836146" y="685800"/>
            <a:ext cx="7469654" cy="585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4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Pharmacokinetics of Inhalation Anesthetics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807361"/>
            <a:ext cx="7677355" cy="405143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dirty="0" smtClean="0"/>
              <a:t>The </a:t>
            </a:r>
            <a:r>
              <a:rPr lang="en-US" sz="3600" dirty="0"/>
              <a:t>mechanism of </a:t>
            </a:r>
            <a:r>
              <a:rPr lang="en-US" sz="3600" dirty="0" smtClean="0"/>
              <a:t>action of inhalation anesthetics not clear  </a:t>
            </a:r>
            <a:r>
              <a:rPr lang="en-US" sz="3600" dirty="0"/>
              <a:t>involving numerous </a:t>
            </a:r>
            <a:r>
              <a:rPr lang="en-US" sz="3600" dirty="0" smtClean="0"/>
              <a:t>membrane </a:t>
            </a:r>
            <a:r>
              <a:rPr lang="en-US" sz="3600" dirty="0"/>
              <a:t>proteins and ion </a:t>
            </a:r>
            <a:r>
              <a:rPr lang="en-US" sz="3600" dirty="0" smtClean="0"/>
              <a:t>channels, </a:t>
            </a:r>
          </a:p>
          <a:p>
            <a:pPr marL="0" indent="0">
              <a:buNone/>
            </a:pPr>
            <a:r>
              <a:rPr lang="en-US" sz="3600" dirty="0" smtClean="0"/>
              <a:t>Directly </a:t>
            </a:r>
            <a:r>
              <a:rPr lang="en-US" sz="3600" dirty="0"/>
              <a:t>activate </a:t>
            </a:r>
            <a:r>
              <a:rPr lang="en-US" sz="3600" dirty="0" err="1"/>
              <a:t>GABAa</a:t>
            </a:r>
            <a:r>
              <a:rPr lang="en-US" sz="3600" dirty="0"/>
              <a:t> </a:t>
            </a:r>
            <a:r>
              <a:rPr lang="en-US" sz="3600" dirty="0" smtClean="0"/>
              <a:t>receptors </a:t>
            </a:r>
            <a:r>
              <a:rPr lang="en-US" sz="3600" dirty="0"/>
              <a:t>throughout brain </a:t>
            </a:r>
            <a:r>
              <a:rPr lang="en-US" sz="3600" dirty="0" smtClean="0">
                <a:sym typeface="Symbol"/>
              </a:rPr>
              <a:t></a:t>
            </a:r>
            <a:r>
              <a:rPr lang="en-US" sz="3600" dirty="0" smtClean="0"/>
              <a:t>decrease neuronal activity.                                                        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rgbClr val="FF0000"/>
                </a:solidFill>
              </a:rPr>
              <a:t>To producing </a:t>
            </a:r>
            <a:r>
              <a:rPr lang="en-US" sz="3600" dirty="0">
                <a:solidFill>
                  <a:srgbClr val="FF0000"/>
                </a:solidFill>
              </a:rPr>
              <a:t>their ultimate </a:t>
            </a:r>
            <a:r>
              <a:rPr lang="en-US" sz="3600" dirty="0" smtClean="0">
                <a:solidFill>
                  <a:srgbClr val="FF0000"/>
                </a:solidFill>
              </a:rPr>
              <a:t>effect </a:t>
            </a:r>
            <a:r>
              <a:rPr lang="en-US" sz="3600" dirty="0">
                <a:solidFill>
                  <a:srgbClr val="FF0000"/>
                </a:solidFill>
              </a:rPr>
              <a:t>depends on </a:t>
            </a:r>
            <a:r>
              <a:rPr lang="en-US" sz="3600" dirty="0" smtClean="0">
                <a:solidFill>
                  <a:srgbClr val="FF0000"/>
                </a:solidFill>
              </a:rPr>
              <a:t>attainment </a:t>
            </a:r>
            <a:r>
              <a:rPr lang="en-US" sz="3600" dirty="0">
                <a:solidFill>
                  <a:srgbClr val="FF0000"/>
                </a:solidFill>
              </a:rPr>
              <a:t>of a therapeutic tissue concentration </a:t>
            </a:r>
            <a:r>
              <a:rPr lang="en-US" sz="3600" dirty="0" smtClean="0">
                <a:solidFill>
                  <a:srgbClr val="FF0000"/>
                </a:solidFill>
              </a:rPr>
              <a:t>CNS</a:t>
            </a:r>
            <a:r>
              <a:rPr lang="en-US" dirty="0" smtClean="0">
                <a:solidFill>
                  <a:srgbClr val="FF0000"/>
                </a:solidFill>
              </a:rPr>
              <a:t>.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2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762000"/>
            <a:ext cx="8610600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MAC (minimum alveolar concentration) of an inhaled anesthetic is the alveolar concentration that prevents movement in 50% of patients in response to a standardized stimulus (</a:t>
            </a:r>
            <a:r>
              <a:rPr lang="en-US" sz="3200" dirty="0" err="1" smtClean="0"/>
              <a:t>eg,surgical</a:t>
            </a:r>
            <a:r>
              <a:rPr lang="en-US" sz="3200" dirty="0" smtClean="0"/>
              <a:t> incision).</a:t>
            </a:r>
          </a:p>
          <a:p>
            <a:pPr marL="0" indent="0">
              <a:buNone/>
            </a:pPr>
            <a:r>
              <a:rPr lang="en-US" sz="3200" dirty="0"/>
              <a:t>MAC is a useful measure because it mirrors brain partial pressure, allows comparisons of </a:t>
            </a:r>
            <a:r>
              <a:rPr lang="en-US" sz="3200" dirty="0" smtClean="0"/>
              <a:t>potency between </a:t>
            </a:r>
            <a:r>
              <a:rPr lang="en-US" sz="3200" dirty="0"/>
              <a:t>agents, and provides a standard </a:t>
            </a:r>
            <a:r>
              <a:rPr lang="en-US" sz="3200" dirty="0" smtClean="0"/>
              <a:t>for experimental </a:t>
            </a:r>
            <a:r>
              <a:rPr lang="en-US" sz="3200" dirty="0"/>
              <a:t>evaluations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19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55998971"/>
              </p:ext>
            </p:extLst>
          </p:nvPr>
        </p:nvGraphicFramePr>
        <p:xfrm>
          <a:off x="0" y="1066800"/>
          <a:ext cx="7010400" cy="4441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5584"/>
                <a:gridCol w="3994816"/>
              </a:tblGrid>
              <a:tr h="634547"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Inhalational</a:t>
                      </a:r>
                      <a:r>
                        <a:rPr lang="en-US" b="1" baseline="0" dirty="0" smtClean="0"/>
                        <a:t> agent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MAC%</a:t>
                      </a:r>
                      <a:endParaRPr lang="en-US" b="1" dirty="0"/>
                    </a:p>
                  </a:txBody>
                  <a:tcPr/>
                </a:tc>
              </a:tr>
              <a:tr h="634547">
                <a:tc>
                  <a:txBody>
                    <a:bodyPr/>
                    <a:lstStyle/>
                    <a:p>
                      <a:r>
                        <a:rPr lang="en-US" b="1" dirty="0" smtClean="0"/>
                        <a:t>halothane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0.75</a:t>
                      </a:r>
                      <a:endParaRPr lang="en-US" b="1" dirty="0"/>
                    </a:p>
                  </a:txBody>
                  <a:tcPr/>
                </a:tc>
              </a:tr>
              <a:tr h="634547">
                <a:tc>
                  <a:txBody>
                    <a:bodyPr/>
                    <a:lstStyle/>
                    <a:p>
                      <a:r>
                        <a:rPr lang="en-US" b="1" dirty="0" smtClean="0"/>
                        <a:t>isoflurain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1.17</a:t>
                      </a:r>
                      <a:endParaRPr lang="en-US" b="1" dirty="0"/>
                    </a:p>
                  </a:txBody>
                  <a:tcPr/>
                </a:tc>
              </a:tr>
              <a:tr h="634547">
                <a:tc>
                  <a:txBody>
                    <a:bodyPr/>
                    <a:lstStyle/>
                    <a:p>
                      <a:r>
                        <a:rPr lang="en-US" b="1" dirty="0" smtClean="0"/>
                        <a:t>enflurane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1.68</a:t>
                      </a:r>
                      <a:endParaRPr lang="en-US" b="1" dirty="0"/>
                    </a:p>
                  </a:txBody>
                  <a:tcPr/>
                </a:tc>
              </a:tr>
              <a:tr h="634547">
                <a:tc>
                  <a:txBody>
                    <a:bodyPr/>
                    <a:lstStyle/>
                    <a:p>
                      <a:r>
                        <a:rPr lang="en-US" b="1" dirty="0" err="1" smtClean="0"/>
                        <a:t>desflurane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6.60</a:t>
                      </a:r>
                      <a:endParaRPr lang="en-US" b="1" dirty="0"/>
                    </a:p>
                  </a:txBody>
                  <a:tcPr/>
                </a:tc>
              </a:tr>
              <a:tr h="634547">
                <a:tc>
                  <a:txBody>
                    <a:bodyPr/>
                    <a:lstStyle/>
                    <a:p>
                      <a:r>
                        <a:rPr lang="en-US" b="1" dirty="0" smtClean="0"/>
                        <a:t>sevoflurain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1.80</a:t>
                      </a:r>
                      <a:endParaRPr lang="en-US" b="1" dirty="0"/>
                    </a:p>
                  </a:txBody>
                  <a:tcPr/>
                </a:tc>
              </a:tr>
              <a:tr h="634547">
                <a:tc>
                  <a:txBody>
                    <a:bodyPr/>
                    <a:lstStyle/>
                    <a:p>
                      <a:r>
                        <a:rPr lang="en-US" b="1" dirty="0" smtClean="0"/>
                        <a:t>N2O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105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064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2000"/>
            <a:ext cx="81534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1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The Ideal Inhaled Anesthetic Agent</a:t>
            </a:r>
            <a:endParaRPr lang="en-US" sz="28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2000" y="1809749"/>
            <a:ext cx="3718719" cy="40513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i="1" dirty="0" smtClean="0"/>
              <a:t>Physical Properties</a:t>
            </a:r>
          </a:p>
          <a:p>
            <a:pPr marL="0" indent="0">
              <a:buNone/>
            </a:pPr>
            <a:r>
              <a:rPr lang="en-US" sz="2000" b="1" dirty="0" smtClean="0"/>
              <a:t>• Stable to light and heat</a:t>
            </a:r>
          </a:p>
          <a:p>
            <a:pPr marL="0" indent="0">
              <a:buNone/>
            </a:pPr>
            <a:r>
              <a:rPr lang="en-US" sz="2000" b="1" dirty="0" smtClean="0"/>
              <a:t>• Inert when in contact with metal, rubber and soda lime</a:t>
            </a:r>
          </a:p>
          <a:p>
            <a:pPr marL="0" indent="0">
              <a:buNone/>
            </a:pPr>
            <a:r>
              <a:rPr lang="en-US" sz="2000" b="1" dirty="0" smtClean="0"/>
              <a:t>• Preservative-free</a:t>
            </a:r>
          </a:p>
          <a:p>
            <a:pPr marL="0" indent="0">
              <a:buNone/>
            </a:pPr>
            <a:r>
              <a:rPr lang="en-US" sz="2000" b="1" dirty="0" smtClean="0"/>
              <a:t>• Not flammable </a:t>
            </a:r>
            <a:r>
              <a:rPr lang="en-US" sz="2000" b="1" dirty="0"/>
              <a:t>&amp;</a:t>
            </a: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/>
              <a:t>• Pleasant odor, Cheap.</a:t>
            </a:r>
          </a:p>
          <a:p>
            <a:pPr marL="0" indent="0">
              <a:buNone/>
            </a:pPr>
            <a:r>
              <a:rPr lang="en-US" sz="2000" b="1" dirty="0" smtClean="0"/>
              <a:t>• Not a greenhouse gas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63280" y="1371600"/>
            <a:ext cx="4175919" cy="44894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 smtClean="0"/>
              <a:t>Biochemical Properties</a:t>
            </a:r>
          </a:p>
          <a:p>
            <a:pPr marL="0" indent="0">
              <a:buNone/>
            </a:pPr>
            <a:r>
              <a:rPr lang="en-US" sz="2000" b="1" dirty="0" smtClean="0"/>
              <a:t>• low MAC</a:t>
            </a:r>
          </a:p>
          <a:p>
            <a:pPr marL="0" indent="0">
              <a:buNone/>
            </a:pPr>
            <a:r>
              <a:rPr lang="en-US" sz="2000" b="1" dirty="0" smtClean="0"/>
              <a:t>• Low </a:t>
            </a:r>
            <a:r>
              <a:rPr lang="en-US" sz="2000" b="1" dirty="0" err="1" smtClean="0"/>
              <a:t>blood:gas</a:t>
            </a:r>
            <a:r>
              <a:rPr lang="en-US" sz="2000" b="1" dirty="0" smtClean="0"/>
              <a:t> partition   coefficient(PC)</a:t>
            </a:r>
          </a:p>
          <a:p>
            <a:pPr marL="0" indent="0">
              <a:buNone/>
            </a:pPr>
            <a:r>
              <a:rPr lang="en-US" sz="2000" b="1" dirty="0" smtClean="0"/>
              <a:t>• Not </a:t>
            </a:r>
            <a:r>
              <a:rPr lang="en-US" sz="2000" b="1" dirty="0" err="1" smtClean="0"/>
              <a:t>metabolised</a:t>
            </a: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/>
              <a:t>• Non-toxic</a:t>
            </a:r>
          </a:p>
          <a:p>
            <a:pPr marL="0" indent="0">
              <a:buNone/>
            </a:pPr>
            <a:r>
              <a:rPr lang="en-US" sz="2000" b="1" dirty="0" smtClean="0"/>
              <a:t>• Not epileptogenic</a:t>
            </a:r>
          </a:p>
          <a:p>
            <a:pPr marL="0" indent="0">
              <a:buNone/>
            </a:pPr>
            <a:r>
              <a:rPr lang="en-US" sz="2000" b="1" dirty="0" smtClean="0"/>
              <a:t>• analgesic properties &amp; Only </a:t>
            </a:r>
            <a:r>
              <a:rPr lang="en-US" sz="2000" b="1" dirty="0"/>
              <a:t>affects the CNS</a:t>
            </a:r>
          </a:p>
        </p:txBody>
      </p:sp>
    </p:spTree>
    <p:extLst>
      <p:ext uri="{BB962C8B-B14F-4D97-AF65-F5344CB8AC3E}">
        <p14:creationId xmlns:p14="http://schemas.microsoft.com/office/powerpoint/2010/main" val="332390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17258" r="18218" b="6217"/>
          <a:stretch/>
        </p:blipFill>
        <p:spPr bwMode="auto">
          <a:xfrm>
            <a:off x="76200" y="400100"/>
            <a:ext cx="8813682" cy="5782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29000" y="4137659"/>
            <a:ext cx="1054040" cy="9906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6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1" r="7141" b="3618"/>
          <a:stretch/>
        </p:blipFill>
        <p:spPr bwMode="auto">
          <a:xfrm>
            <a:off x="271775" y="381000"/>
            <a:ext cx="8262625" cy="5943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3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43000"/>
            <a:ext cx="8534400" cy="4983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The anesthetic  passes across </a:t>
            </a:r>
            <a:r>
              <a:rPr lang="en-US" sz="3200" dirty="0" smtClean="0">
                <a:solidFill>
                  <a:srgbClr val="FF0000"/>
                </a:solidFill>
              </a:rPr>
              <a:t>the alveolar–capillary </a:t>
            </a:r>
            <a:r>
              <a:rPr lang="en-US" sz="3200" dirty="0">
                <a:solidFill>
                  <a:srgbClr val="FF0000"/>
                </a:solidFill>
              </a:rPr>
              <a:t>membrane and dissolves in pulmonary blood according </a:t>
            </a:r>
            <a:r>
              <a:rPr lang="en-US" sz="3200" dirty="0" smtClean="0">
                <a:solidFill>
                  <a:srgbClr val="FF0000"/>
                </a:solidFill>
              </a:rPr>
              <a:t>to the </a:t>
            </a:r>
            <a:r>
              <a:rPr lang="en-US" sz="3200" dirty="0">
                <a:solidFill>
                  <a:srgbClr val="FF0000"/>
                </a:solidFill>
              </a:rPr>
              <a:t>partial pressure of the gas and its blood solubility. It is further diluted </a:t>
            </a:r>
            <a:r>
              <a:rPr lang="en-US" sz="3200" dirty="0" smtClean="0">
                <a:solidFill>
                  <a:srgbClr val="FF0000"/>
                </a:solidFill>
              </a:rPr>
              <a:t>and travels </a:t>
            </a:r>
            <a:r>
              <a:rPr lang="en-US" sz="3200" dirty="0">
                <a:solidFill>
                  <a:srgbClr val="FF0000"/>
                </a:solidFill>
              </a:rPr>
              <a:t>via bulk blood flow throughout the vascular tree.</a:t>
            </a:r>
            <a:br>
              <a:rPr lang="en-US" sz="3200" dirty="0">
                <a:solidFill>
                  <a:srgbClr val="FF0000"/>
                </a:solidFill>
              </a:rPr>
            </a:br>
            <a:r>
              <a:rPr lang="en-US" sz="3200" dirty="0" smtClean="0">
                <a:solidFill>
                  <a:srgbClr val="FF0000"/>
                </a:solidFill>
              </a:rPr>
              <a:t>The </a:t>
            </a:r>
            <a:r>
              <a:rPr lang="en-US" sz="3200" dirty="0">
                <a:solidFill>
                  <a:srgbClr val="FF0000"/>
                </a:solidFill>
              </a:rPr>
              <a:t>CNS tissues of the vessel-rich group </a:t>
            </a:r>
            <a:r>
              <a:rPr lang="en-US" sz="3200" dirty="0" smtClean="0">
                <a:solidFill>
                  <a:srgbClr val="FF0000"/>
                </a:solidFill>
              </a:rPr>
              <a:t>are </a:t>
            </a:r>
            <a:r>
              <a:rPr lang="en-US" sz="3200" dirty="0">
                <a:solidFill>
                  <a:srgbClr val="FF0000"/>
                </a:solidFill>
              </a:rPr>
              <a:t>referred to as tissues of desired </a:t>
            </a:r>
            <a:r>
              <a:rPr lang="en-US" sz="3200" dirty="0" err="1" smtClean="0">
                <a:solidFill>
                  <a:srgbClr val="FF0000"/>
                </a:solidFill>
              </a:rPr>
              <a:t>effect.The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muscle&amp; </a:t>
            </a:r>
            <a:r>
              <a:rPr lang="en-US" sz="3200" dirty="0">
                <a:solidFill>
                  <a:srgbClr val="FF0000"/>
                </a:solidFill>
              </a:rPr>
              <a:t>fat groups </a:t>
            </a:r>
            <a:r>
              <a:rPr lang="en-US" sz="3200" dirty="0" smtClean="0">
                <a:solidFill>
                  <a:srgbClr val="FF0000"/>
                </a:solidFill>
              </a:rPr>
              <a:t>comprise the </a:t>
            </a:r>
            <a:r>
              <a:rPr lang="en-US" sz="3200" dirty="0">
                <a:solidFill>
                  <a:srgbClr val="FF0000"/>
                </a:solidFill>
              </a:rPr>
              <a:t>tissues of </a:t>
            </a:r>
            <a:r>
              <a:rPr lang="en-US" sz="3200" dirty="0" smtClean="0">
                <a:solidFill>
                  <a:srgbClr val="FF0000"/>
                </a:solidFill>
              </a:rPr>
              <a:t>accumulation.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497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41" t="42831" r="25036" b="21384"/>
          <a:stretch/>
        </p:blipFill>
        <p:spPr bwMode="auto">
          <a:xfrm>
            <a:off x="297948" y="533400"/>
            <a:ext cx="8369675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8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Uptake and Distribution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b="1" dirty="0"/>
              <a:t>A simple, common way to assess anesthetic uptake is to follow the ratio </a:t>
            </a:r>
            <a:r>
              <a:rPr lang="en-US" sz="3200" b="1" dirty="0" smtClean="0"/>
              <a:t>of fractional </a:t>
            </a:r>
            <a:r>
              <a:rPr lang="en-US" sz="3200" b="1" dirty="0"/>
              <a:t>concentration of alveolar anesthetic to inspired </a:t>
            </a:r>
            <a:r>
              <a:rPr lang="en-US" sz="3200" b="1" dirty="0" smtClean="0"/>
              <a:t>anesthetic.  (FA/FI</a:t>
            </a:r>
            <a:r>
              <a:rPr lang="en-US" sz="3200" b="1" dirty="0"/>
              <a:t>) </a:t>
            </a:r>
            <a:r>
              <a:rPr lang="en-US" sz="3200" b="1" dirty="0" smtClean="0"/>
              <a:t> 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22789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84" t="6810" r="9643"/>
          <a:stretch/>
        </p:blipFill>
        <p:spPr bwMode="auto">
          <a:xfrm>
            <a:off x="228600" y="609600"/>
            <a:ext cx="8636000" cy="570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719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1000" y="838200"/>
            <a:ext cx="8458200" cy="502126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3500" dirty="0"/>
              <a:t>If there were no uptake of anesthetic agent by the body, the alveolar </a:t>
            </a:r>
            <a:r>
              <a:rPr lang="en-US" sz="3500" dirty="0" smtClean="0"/>
              <a:t>gas</a:t>
            </a:r>
            <a:r>
              <a:rPr lang="en-US" sz="3500" dirty="0"/>
              <a:t> </a:t>
            </a:r>
            <a:r>
              <a:rPr lang="en-US" sz="3500" dirty="0" smtClean="0"/>
              <a:t>concentration </a:t>
            </a:r>
            <a:r>
              <a:rPr lang="en-US" sz="3500" dirty="0"/>
              <a:t>(FA) would rapidly approach the inspired gas concentration (FI</a:t>
            </a:r>
            <a:r>
              <a:rPr lang="en-US" sz="3500" dirty="0" smtClean="0"/>
              <a:t>).b/c  </a:t>
            </a:r>
            <a:r>
              <a:rPr lang="en-US" sz="3500" dirty="0"/>
              <a:t>anesthetic agents are taken up by the pulmonary circulation </a:t>
            </a:r>
            <a:r>
              <a:rPr lang="en-US" sz="3500" dirty="0" smtClean="0"/>
              <a:t>during</a:t>
            </a:r>
            <a:r>
              <a:rPr lang="en-US" sz="3500" dirty="0"/>
              <a:t> </a:t>
            </a:r>
            <a:r>
              <a:rPr lang="en-US" sz="3500" dirty="0" smtClean="0"/>
              <a:t>induction</a:t>
            </a:r>
            <a:r>
              <a:rPr lang="en-US" sz="3500" dirty="0"/>
              <a:t>, alveolar concentrations lag behind inspired concentrations (</a:t>
            </a:r>
            <a:r>
              <a:rPr lang="en-US" sz="3500" dirty="0" smtClean="0"/>
              <a:t>FA/FI</a:t>
            </a:r>
            <a:r>
              <a:rPr lang="en-US" sz="3500" dirty="0"/>
              <a:t> </a:t>
            </a:r>
            <a:r>
              <a:rPr lang="en-US" sz="3500" dirty="0" smtClean="0"/>
              <a:t>&lt;1.0</a:t>
            </a:r>
            <a:r>
              <a:rPr lang="en-US" sz="35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04939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05000" y="1295400"/>
            <a:ext cx="7239000" cy="4564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The greater the uptake of anesthetic agent, the greater the </a:t>
            </a:r>
            <a:r>
              <a:rPr lang="en-US" sz="3200" b="1" dirty="0" smtClean="0"/>
              <a:t>difference between </a:t>
            </a:r>
            <a:r>
              <a:rPr lang="en-US" sz="3200" b="1" dirty="0"/>
              <a:t>inspired and alveolar concentrations, and the slower the rate </a:t>
            </a:r>
            <a:r>
              <a:rPr lang="en-US" sz="3200" b="1" dirty="0" smtClean="0"/>
              <a:t>of induction</a:t>
            </a:r>
            <a:r>
              <a:rPr lang="en-US" sz="32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15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95400" y="1806575"/>
            <a:ext cx="7848600" cy="40528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 smtClean="0"/>
              <a:t>Three factors affect anesthetic uptake:</a:t>
            </a:r>
          </a:p>
          <a:p>
            <a:pPr>
              <a:buBlip>
                <a:blip r:embed="rId2"/>
              </a:buBlip>
            </a:pPr>
            <a:r>
              <a:rPr lang="en-US" sz="4000" b="1" dirty="0" smtClean="0"/>
              <a:t> solubility in the blood, </a:t>
            </a:r>
          </a:p>
          <a:p>
            <a:pPr>
              <a:buBlip>
                <a:blip r:embed="rId2"/>
              </a:buBlip>
            </a:pPr>
            <a:r>
              <a:rPr lang="en-US" sz="4000" b="1" dirty="0"/>
              <a:t> </a:t>
            </a:r>
            <a:r>
              <a:rPr lang="en-US" sz="4000" b="1" dirty="0" smtClean="0"/>
              <a:t>alveolar blood flow</a:t>
            </a:r>
          </a:p>
          <a:p>
            <a:pPr>
              <a:buBlip>
                <a:blip r:embed="rId2"/>
              </a:buBlip>
            </a:pPr>
            <a:r>
              <a:rPr lang="en-US" sz="4000" b="1" dirty="0"/>
              <a:t> T</a:t>
            </a:r>
            <a:r>
              <a:rPr lang="en-US" sz="4000" b="1" dirty="0" smtClean="0"/>
              <a:t>he difference in partial pressure between    alveolar gas and venous blood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64547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75724"/>
            <a:ext cx="8534400" cy="924475"/>
          </a:xfrm>
        </p:spPr>
        <p:txBody>
          <a:bodyPr/>
          <a:lstStyle/>
          <a:p>
            <a:r>
              <a:rPr lang="en-US" sz="3600" b="1" dirty="0" err="1"/>
              <a:t>Blood:Gas</a:t>
            </a:r>
            <a:r>
              <a:rPr lang="en-US" sz="3600" b="1" dirty="0"/>
              <a:t> Partition </a:t>
            </a:r>
            <a:r>
              <a:rPr lang="en-US" sz="3600" b="1" dirty="0" smtClean="0"/>
              <a:t>Coefficient</a:t>
            </a:r>
            <a:endParaRPr lang="en-US" sz="36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1"/>
            <a:ext cx="7848599" cy="4410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The </a:t>
            </a:r>
            <a:r>
              <a:rPr lang="en-US" sz="2800" b="1" dirty="0" err="1"/>
              <a:t>blood:gas</a:t>
            </a:r>
            <a:r>
              <a:rPr lang="en-US" sz="2800" b="1" dirty="0"/>
              <a:t> partition </a:t>
            </a:r>
            <a:r>
              <a:rPr lang="en-US" sz="2800" b="1" dirty="0" smtClean="0"/>
              <a:t>coefficient(PC) </a:t>
            </a:r>
            <a:r>
              <a:rPr lang="en-US" sz="2800" b="1" dirty="0"/>
              <a:t>is defined as the ratio of the amount of </a:t>
            </a:r>
            <a:r>
              <a:rPr lang="en-US" sz="2800" b="1" dirty="0" err="1"/>
              <a:t>anaesthetic</a:t>
            </a:r>
            <a:r>
              <a:rPr lang="en-US" sz="2800" b="1" dirty="0"/>
              <a:t> </a:t>
            </a:r>
            <a:r>
              <a:rPr lang="en-US" sz="2800" b="1" dirty="0" smtClean="0"/>
              <a:t>in blood </a:t>
            </a:r>
            <a:r>
              <a:rPr lang="en-US" sz="2800" b="1" dirty="0"/>
              <a:t>and gas when the two phases are of equal volume and pressure and in equilibrium </a:t>
            </a:r>
            <a:r>
              <a:rPr lang="en-US" sz="2800" b="1" dirty="0" smtClean="0"/>
              <a:t>at 37°C</a:t>
            </a:r>
            <a:r>
              <a:rPr lang="en-US" sz="2800" b="1" dirty="0"/>
              <a:t>.</a:t>
            </a:r>
          </a:p>
          <a:p>
            <a:pPr marL="0" indent="0">
              <a:buNone/>
            </a:pPr>
            <a:r>
              <a:rPr lang="en-US" sz="2800" b="1" dirty="0" smtClean="0"/>
              <a:t>Agents </a:t>
            </a:r>
            <a:r>
              <a:rPr lang="en-US" sz="2800" b="1" dirty="0"/>
              <a:t>with a low </a:t>
            </a:r>
            <a:r>
              <a:rPr lang="en-US" sz="2800" b="1" dirty="0" err="1"/>
              <a:t>blood:gas</a:t>
            </a:r>
            <a:r>
              <a:rPr lang="en-US" sz="2800" b="1" dirty="0"/>
              <a:t> partition coefficient exert a high </a:t>
            </a:r>
            <a:r>
              <a:rPr lang="en-US" sz="2800" b="1" dirty="0" smtClean="0"/>
              <a:t>partial pressure </a:t>
            </a:r>
            <a:r>
              <a:rPr lang="en-US" sz="2800" b="1" dirty="0"/>
              <a:t>and will, therefore, produce a more rapid onset and offset of action</a:t>
            </a:r>
            <a:r>
              <a:rPr lang="en-US" dirty="0" smtClean="0"/>
              <a:t>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49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38200"/>
            <a:ext cx="8077200" cy="5021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 smtClean="0"/>
              <a:t>A </a:t>
            </a:r>
            <a:r>
              <a:rPr lang="en-US" sz="3200" b="1" dirty="0" err="1"/>
              <a:t>blood:gas</a:t>
            </a:r>
            <a:r>
              <a:rPr lang="en-US" sz="3200" b="1" dirty="0"/>
              <a:t> PC of 0.5 means that the concentration of inhalant in the blood is </a:t>
            </a:r>
            <a:r>
              <a:rPr lang="en-US" sz="3200" b="1" dirty="0" smtClean="0"/>
              <a:t>half that </a:t>
            </a:r>
            <a:r>
              <a:rPr lang="en-US" sz="3200" b="1" dirty="0"/>
              <a:t>present in the alveolar gas when the partial pressure of the anesthetic is </a:t>
            </a:r>
            <a:r>
              <a:rPr lang="en-US" sz="3200" b="1" dirty="0" smtClean="0"/>
              <a:t>identical at </a:t>
            </a:r>
            <a:r>
              <a:rPr lang="en-US" sz="3200" b="1" dirty="0"/>
              <a:t>both sites.</a:t>
            </a:r>
          </a:p>
          <a:p>
            <a:pPr marL="0" indent="0">
              <a:buNone/>
            </a:pPr>
            <a:r>
              <a:rPr lang="en-US" sz="3200" b="1" dirty="0" smtClean="0"/>
              <a:t> </a:t>
            </a:r>
            <a:r>
              <a:rPr lang="en-US" sz="3200" b="1" dirty="0"/>
              <a:t>PC in an inhalation anesthetic is most commonly used to refer to its solubility in </a:t>
            </a:r>
            <a:r>
              <a:rPr lang="en-US" sz="3200" b="1" dirty="0" smtClean="0"/>
              <a:t>a given </a:t>
            </a:r>
            <a:r>
              <a:rPr lang="en-US" sz="3200" b="1" dirty="0"/>
              <a:t>solvent (e.g., oil, blood etc</a:t>
            </a:r>
            <a:r>
              <a:rPr lang="en-US" sz="3200" b="1" dirty="0" smtClean="0"/>
              <a:t>.).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00055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43000"/>
            <a:ext cx="8153400" cy="47164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1200" b="1" dirty="0" smtClean="0"/>
              <a:t> </a:t>
            </a:r>
            <a:r>
              <a:rPr lang="en-US" sz="11200" b="1" dirty="0"/>
              <a:t>Alveolar anesthetic </a:t>
            </a:r>
            <a:r>
              <a:rPr lang="en-US" sz="11200" b="1" dirty="0" smtClean="0"/>
              <a:t>concentration(FA) </a:t>
            </a:r>
            <a:r>
              <a:rPr lang="en-US" sz="11200" b="1" dirty="0"/>
              <a:t>primarily depends on </a:t>
            </a:r>
          </a:p>
          <a:p>
            <a:pPr marL="0" indent="0">
              <a:buNone/>
            </a:pPr>
            <a:r>
              <a:rPr lang="en-US" sz="11200" b="1" dirty="0"/>
              <a:t>a. Inspired concentration</a:t>
            </a:r>
          </a:p>
          <a:p>
            <a:pPr marL="0" indent="0">
              <a:buNone/>
            </a:pPr>
            <a:r>
              <a:rPr lang="en-US" sz="11200" b="1" dirty="0"/>
              <a:t>b. Alveolar </a:t>
            </a:r>
            <a:r>
              <a:rPr lang="en-US" sz="11200" b="1" dirty="0" smtClean="0"/>
              <a:t>ventilation (MV &amp;FRC)</a:t>
            </a:r>
            <a:endParaRPr lang="en-US" sz="11200" b="1" dirty="0"/>
          </a:p>
          <a:p>
            <a:pPr marL="0" indent="0">
              <a:buNone/>
            </a:pPr>
            <a:r>
              <a:rPr lang="en-US" sz="11200" b="1" dirty="0"/>
              <a:t>c. Solubility of inhalant in </a:t>
            </a:r>
            <a:r>
              <a:rPr lang="en-US" sz="11200" b="1" dirty="0" err="1" smtClean="0"/>
              <a:t>blood:tissues</a:t>
            </a:r>
            <a:endParaRPr lang="en-US" sz="11200" b="1" dirty="0"/>
          </a:p>
          <a:p>
            <a:pPr marL="0" indent="0">
              <a:buNone/>
            </a:pPr>
            <a:r>
              <a:rPr lang="en-US" sz="11200" b="1" dirty="0"/>
              <a:t>d. Cardiac output</a:t>
            </a:r>
          </a:p>
          <a:p>
            <a:pPr marL="0" indent="0">
              <a:buNone/>
            </a:pPr>
            <a:r>
              <a:rPr lang="en-US" sz="11200" b="1" dirty="0"/>
              <a:t>e. Tissue capacity and blood flow to the tissues</a:t>
            </a:r>
          </a:p>
        </p:txBody>
      </p:sp>
    </p:spTree>
    <p:extLst>
      <p:ext uri="{BB962C8B-B14F-4D97-AF65-F5344CB8AC3E}">
        <p14:creationId xmlns:p14="http://schemas.microsoft.com/office/powerpoint/2010/main" val="256664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47800" y="1295400"/>
            <a:ext cx="7696200" cy="4564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 smtClean="0"/>
              <a:t>A </a:t>
            </a:r>
            <a:r>
              <a:rPr lang="en-US" sz="3200" b="1" dirty="0"/>
              <a:t>high cardiac output will tend to maintain a concentration gradient between </a:t>
            </a:r>
            <a:r>
              <a:rPr lang="en-US" sz="3200" b="1" dirty="0" smtClean="0"/>
              <a:t>the alveolus </a:t>
            </a:r>
            <a:r>
              <a:rPr lang="en-US" sz="3200" b="1" dirty="0"/>
              <a:t>and the pulmonary blood so that PA rises slowly. Conversely, a low </a:t>
            </a:r>
            <a:r>
              <a:rPr lang="en-US" sz="3200" b="1" dirty="0" smtClean="0"/>
              <a:t>cardiac output </a:t>
            </a:r>
            <a:r>
              <a:rPr lang="en-US" sz="3200" b="1" dirty="0" err="1"/>
              <a:t>favours</a:t>
            </a:r>
            <a:r>
              <a:rPr lang="en-US" sz="3200" b="1" dirty="0"/>
              <a:t> a more rapid equilibration and so onset of </a:t>
            </a:r>
            <a:r>
              <a:rPr lang="en-US" sz="3200" b="1" dirty="0" smtClean="0"/>
              <a:t>anesthesia </a:t>
            </a:r>
            <a:r>
              <a:rPr lang="en-US" sz="3200" b="1" dirty="0"/>
              <a:t>will also be </a:t>
            </a:r>
            <a:r>
              <a:rPr lang="en-US" sz="3200" b="1" dirty="0" smtClean="0"/>
              <a:t>more rapid</a:t>
            </a:r>
            <a:r>
              <a:rPr lang="en-US" sz="32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472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90600" y="457200"/>
            <a:ext cx="7239000" cy="40528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 smtClean="0"/>
              <a:t>Vapor pressure is pressure exerted by the molecule of the  vapor phase at equilibrium of molecule moving in and out of liquid phase.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smtClean="0"/>
              <a:t>Vapor pressure dependent on temperature and physical characteristics of liquid, independent of atmospherics pressure . </a:t>
            </a:r>
            <a:r>
              <a:rPr lang="en-US" sz="2400" dirty="0" smtClean="0">
                <a:sym typeface="Symbol"/>
              </a:rPr>
              <a:t> temp. vapor pressure</a:t>
            </a:r>
            <a:endParaRPr lang="en-US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smtClean="0"/>
              <a:t>Vapor pressure is a measure of the agent ability to evaporate(volatility).the greater is the vapor pressure ,the greater the concentration of inhalant delivery to the patient  and environment.</a:t>
            </a:r>
          </a:p>
        </p:txBody>
      </p:sp>
    </p:spTree>
    <p:extLst>
      <p:ext uri="{BB962C8B-B14F-4D97-AF65-F5344CB8AC3E}">
        <p14:creationId xmlns:p14="http://schemas.microsoft.com/office/powerpoint/2010/main" val="81420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0"/>
            <a:ext cx="7467600" cy="4868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Boiling point: temperature at which </a:t>
            </a:r>
            <a:r>
              <a:rPr lang="en-US" sz="3200" dirty="0" smtClean="0"/>
              <a:t>vapor </a:t>
            </a:r>
            <a:r>
              <a:rPr lang="en-US" sz="3200" dirty="0"/>
              <a:t>pressure equal atmospheric </a:t>
            </a:r>
            <a:r>
              <a:rPr lang="en-US" sz="3200" dirty="0" smtClean="0"/>
              <a:t>pressure. 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solubility in blood only exert a low partial pressure in blood, even when present in large amounts  It is the partial pressure of the agent in the blood that affect</a:t>
            </a:r>
          </a:p>
        </p:txBody>
      </p:sp>
    </p:spTree>
    <p:extLst>
      <p:ext uri="{BB962C8B-B14F-4D97-AF65-F5344CB8AC3E}">
        <p14:creationId xmlns:p14="http://schemas.microsoft.com/office/powerpoint/2010/main" val="139188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457200"/>
            <a:ext cx="8229600" cy="48688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Many of the factors that speed induction </a:t>
            </a:r>
            <a:r>
              <a:rPr lang="en-US" sz="2800" dirty="0" smtClean="0"/>
              <a:t> also </a:t>
            </a:r>
            <a:r>
              <a:rPr lang="en-US" sz="2800" dirty="0"/>
              <a:t>speed recovery: </a:t>
            </a:r>
            <a:endParaRPr lang="en-US" sz="2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E</a:t>
            </a:r>
            <a:r>
              <a:rPr lang="en-US" sz="2800" dirty="0" smtClean="0"/>
              <a:t>limination </a:t>
            </a:r>
            <a:r>
              <a:rPr lang="en-US" sz="2800" dirty="0"/>
              <a:t>of </a:t>
            </a:r>
            <a:r>
              <a:rPr lang="en-US" sz="2800" dirty="0" smtClean="0"/>
              <a:t>rebreathing</a:t>
            </a:r>
            <a:r>
              <a:rPr lang="en-US" sz="2800" dirty="0"/>
              <a:t>, </a:t>
            </a:r>
            <a:endParaRPr lang="en-US" sz="2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Times New Roman"/>
                <a:cs typeface="Times New Roman"/>
              </a:rPr>
              <a:t>↓ FI   &amp;</a:t>
            </a:r>
            <a:r>
              <a:rPr lang="en-US" sz="2800" dirty="0" smtClean="0"/>
              <a:t>high </a:t>
            </a:r>
            <a:r>
              <a:rPr lang="en-US" sz="2800" dirty="0"/>
              <a:t>fresh gas </a:t>
            </a:r>
            <a:r>
              <a:rPr lang="en-US" sz="2800" dirty="0" smtClean="0"/>
              <a:t>flows</a:t>
            </a:r>
            <a:r>
              <a:rPr lang="en-US" sz="2800" dirty="0"/>
              <a:t>, </a:t>
            </a:r>
            <a:endParaRPr lang="en-US" sz="2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/>
              <a:t>low anesthetic-circuit </a:t>
            </a:r>
            <a:r>
              <a:rPr lang="en-US" sz="2800" dirty="0"/>
              <a:t>volume</a:t>
            </a:r>
            <a:r>
              <a:rPr lang="en-US" sz="2800" dirty="0" smtClean="0"/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/>
              <a:t> </a:t>
            </a:r>
            <a:r>
              <a:rPr lang="en-US" sz="2800" dirty="0"/>
              <a:t>low absorption </a:t>
            </a:r>
            <a:r>
              <a:rPr lang="en-US" sz="2800" dirty="0" smtClean="0"/>
              <a:t>by </a:t>
            </a:r>
            <a:r>
              <a:rPr lang="en-US" sz="2800" dirty="0"/>
              <a:t>the anesthetic circuit</a:t>
            </a:r>
            <a:r>
              <a:rPr lang="en-US" sz="2800" dirty="0" smtClean="0"/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/>
              <a:t> decreased solubility</a:t>
            </a:r>
            <a:r>
              <a:rPr lang="en-US" sz="2800" dirty="0"/>
              <a:t>, high cerebral blood </a:t>
            </a:r>
            <a:r>
              <a:rPr lang="en-US" sz="2800" dirty="0" smtClean="0"/>
              <a:t>flow</a:t>
            </a:r>
            <a:r>
              <a:rPr lang="en-US" sz="2800" dirty="0"/>
              <a:t>, and </a:t>
            </a:r>
            <a:r>
              <a:rPr lang="en-US" sz="2800" dirty="0" smtClean="0"/>
              <a:t>increased </a:t>
            </a:r>
            <a:r>
              <a:rPr lang="en-US" sz="2800" dirty="0"/>
              <a:t>ventilation</a:t>
            </a:r>
          </a:p>
        </p:txBody>
      </p:sp>
    </p:spTree>
    <p:extLst>
      <p:ext uri="{BB962C8B-B14F-4D97-AF65-F5344CB8AC3E}">
        <p14:creationId xmlns:p14="http://schemas.microsoft.com/office/powerpoint/2010/main" val="397883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304800"/>
            <a:ext cx="7924800" cy="4052888"/>
          </a:xfrm>
        </p:spPr>
        <p:txBody>
          <a:bodyPr>
            <a:noAutofit/>
          </a:bodyPr>
          <a:lstStyle/>
          <a:p>
            <a:pPr marL="0" lvl="0" indent="0">
              <a:buClr>
                <a:srgbClr val="FF9000"/>
              </a:buClr>
              <a:buNone/>
            </a:pPr>
            <a:r>
              <a:rPr lang="en-US" sz="2800" b="1" dirty="0" smtClean="0"/>
              <a:t>Alveolar </a:t>
            </a:r>
            <a:r>
              <a:rPr lang="en-US" sz="2800" b="1" dirty="0"/>
              <a:t>concentration of inhalant reflects the amount in the brain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 smtClean="0"/>
              <a:t> </a:t>
            </a:r>
            <a:r>
              <a:rPr lang="en-US" sz="2800" dirty="0"/>
              <a:t>The higher the vaporizer setting, the higher the inspired concentration (or partial </a:t>
            </a:r>
            <a:r>
              <a:rPr lang="en-US" sz="2800" dirty="0" smtClean="0"/>
              <a:t>pressure) </a:t>
            </a:r>
            <a:r>
              <a:rPr lang="en-US" sz="2800" dirty="0"/>
              <a:t>of the inhalant by the patient, which results in the higher alveolar </a:t>
            </a:r>
            <a:r>
              <a:rPr lang="en-US" sz="2800" dirty="0" smtClean="0"/>
              <a:t>concentration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At equilibrium, the CNS partial pressure of inhaled anesthetics equals their arterial partial pressure, which in turn equals their alveolar partial pressure </a:t>
            </a:r>
          </a:p>
        </p:txBody>
      </p:sp>
    </p:spTree>
    <p:extLst>
      <p:ext uri="{BB962C8B-B14F-4D97-AF65-F5344CB8AC3E}">
        <p14:creationId xmlns:p14="http://schemas.microsoft.com/office/powerpoint/2010/main" val="167491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295400"/>
            <a:ext cx="8153400" cy="40528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Blood/tissue (fat) solubility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/>
              <a:t> </a:t>
            </a:r>
            <a:r>
              <a:rPr lang="en-US" sz="2800" dirty="0"/>
              <a:t>The less soluble the anesthetic gas in fat, the lower the uptake in fat tissue.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o In short anesthetics </a:t>
            </a:r>
            <a:r>
              <a:rPr lang="en-US" sz="2800" dirty="0" smtClean="0"/>
              <a:t>may </a:t>
            </a:r>
            <a:r>
              <a:rPr lang="en-US" sz="2800" dirty="0"/>
              <a:t>not </a:t>
            </a:r>
            <a:r>
              <a:rPr lang="en-US" sz="2800" dirty="0" smtClean="0"/>
              <a:t>be important</a:t>
            </a:r>
            <a:r>
              <a:rPr lang="en-US" sz="2800" dirty="0"/>
              <a:t>, but for long anesthetics, it </a:t>
            </a:r>
            <a:r>
              <a:rPr lang="en-US" sz="2800" dirty="0" smtClean="0"/>
              <a:t>affects recovery. </a:t>
            </a:r>
            <a:r>
              <a:rPr lang="en-US" sz="2800" dirty="0"/>
              <a:t>in a fat </a:t>
            </a:r>
            <a:r>
              <a:rPr lang="en-US" sz="2800" dirty="0" smtClean="0"/>
              <a:t>persons , recovery will </a:t>
            </a:r>
            <a:r>
              <a:rPr lang="en-US" sz="2800" dirty="0"/>
              <a:t>be slow, even with agents with a low blood/gas solubility.</a:t>
            </a:r>
          </a:p>
        </p:txBody>
      </p:sp>
    </p:spTree>
    <p:extLst>
      <p:ext uri="{BB962C8B-B14F-4D97-AF65-F5344CB8AC3E}">
        <p14:creationId xmlns:p14="http://schemas.microsoft.com/office/powerpoint/2010/main" val="6051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1905000" y="1806575"/>
            <a:ext cx="7239000" cy="40528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b="1" dirty="0" smtClean="0"/>
              <a:t>Medical condition that alter PC</a:t>
            </a:r>
          </a:p>
          <a:p>
            <a:pPr marL="0" indent="0">
              <a:buNone/>
            </a:pPr>
            <a:r>
              <a:rPr lang="en-US" sz="3600" b="1" dirty="0" smtClean="0"/>
              <a:t>Lower blood gas PC: </a:t>
            </a:r>
          </a:p>
          <a:p>
            <a:pPr marL="0" indent="0">
              <a:buNone/>
            </a:pPr>
            <a:r>
              <a:rPr lang="en-US" sz="3600" b="1" dirty="0" smtClean="0"/>
              <a:t>Hemodiluation,obesity,hypoalbumenia and starvation </a:t>
            </a:r>
          </a:p>
          <a:p>
            <a:pPr marL="0" indent="0">
              <a:buNone/>
            </a:pPr>
            <a:r>
              <a:rPr lang="en-US" sz="3600" b="1" dirty="0" smtClean="0"/>
              <a:t>High blood gas PC:</a:t>
            </a:r>
          </a:p>
          <a:p>
            <a:pPr marL="0" indent="0">
              <a:buNone/>
            </a:pPr>
            <a:r>
              <a:rPr lang="en-US" sz="3600" b="1" dirty="0" smtClean="0"/>
              <a:t>Hypothyroidism ,post prandial and child </a:t>
            </a:r>
            <a:r>
              <a:rPr lang="en-US" sz="3600" b="1" dirty="0" err="1" smtClean="0"/>
              <a:t>vs</a:t>
            </a:r>
            <a:r>
              <a:rPr lang="en-US" sz="3600" b="1" dirty="0" smtClean="0"/>
              <a:t> adult</a:t>
            </a:r>
          </a:p>
          <a:p>
            <a:pPr marL="0" indent="0">
              <a:buNone/>
            </a:pP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52011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371600"/>
            <a:ext cx="8153400" cy="4487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The Concentration Effect</a:t>
            </a:r>
          </a:p>
          <a:p>
            <a:pPr marL="0" indent="0">
              <a:buNone/>
            </a:pPr>
            <a:r>
              <a:rPr lang="en-US" sz="3200" b="1" dirty="0"/>
              <a:t>The concentration effect is an observed phenomenon that describes the </a:t>
            </a:r>
            <a:r>
              <a:rPr lang="en-US" sz="3200" b="1" dirty="0" smtClean="0"/>
              <a:t>disproportionate rate </a:t>
            </a:r>
            <a:r>
              <a:rPr lang="en-US" sz="3200" b="1" dirty="0"/>
              <a:t>of rise of the alveolar fraction compared with the inspired fraction when high </a:t>
            </a:r>
            <a:r>
              <a:rPr lang="en-US" sz="3200" b="1" dirty="0" smtClean="0"/>
              <a:t>concentrations </a:t>
            </a:r>
            <a:r>
              <a:rPr lang="en-US" sz="3200" b="1" dirty="0"/>
              <a:t>of N2O are inspired</a:t>
            </a:r>
          </a:p>
        </p:txBody>
      </p:sp>
    </p:spTree>
    <p:extLst>
      <p:ext uri="{BB962C8B-B14F-4D97-AF65-F5344CB8AC3E}">
        <p14:creationId xmlns:p14="http://schemas.microsoft.com/office/powerpoint/2010/main" val="297720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06575"/>
            <a:ext cx="7315200" cy="4052888"/>
          </a:xfrm>
        </p:spPr>
        <p:txBody>
          <a:bodyPr>
            <a:normAutofit/>
          </a:bodyPr>
          <a:lstStyle/>
          <a:p>
            <a:pPr marL="0" lvl="0" indent="0">
              <a:buClr>
                <a:srgbClr val="FF9000"/>
              </a:buClr>
              <a:buNone/>
            </a:pPr>
            <a:r>
              <a:rPr lang="en-US" sz="3000" b="1" dirty="0">
                <a:solidFill>
                  <a:prstClr val="white"/>
                </a:solidFill>
              </a:rPr>
              <a:t>The </a:t>
            </a:r>
            <a:r>
              <a:rPr lang="en-US" sz="3000" b="1" dirty="0"/>
              <a:t>concentration effect refers to the principle that the concentration of inspired anesthetic gas influences both </a:t>
            </a:r>
          </a:p>
          <a:p>
            <a:pPr lvl="0">
              <a:buClr>
                <a:srgbClr val="FF9000"/>
              </a:buClr>
              <a:buFont typeface="Wingdings 2" charset="2"/>
              <a:buAutoNum type="arabicParenBoth"/>
            </a:pPr>
            <a:r>
              <a:rPr lang="en-US" sz="3000" b="1" dirty="0"/>
              <a:t>the alveolar concentration that may be attained and </a:t>
            </a:r>
          </a:p>
          <a:p>
            <a:pPr lvl="0">
              <a:buClr>
                <a:srgbClr val="FF9000"/>
              </a:buClr>
              <a:buFont typeface="Wingdings 2" charset="2"/>
              <a:buAutoNum type="arabicParenBoth"/>
            </a:pPr>
            <a:r>
              <a:rPr lang="en-US" sz="3000" b="1" dirty="0"/>
              <a:t>the rate at which that concentration may be attained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30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second gas effect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 smtClean="0"/>
              <a:t>It occurs </a:t>
            </a:r>
            <a:r>
              <a:rPr lang="en-US" sz="3200" b="1" dirty="0"/>
              <a:t>when a </a:t>
            </a:r>
            <a:r>
              <a:rPr lang="en-US" sz="3200" b="1" dirty="0" smtClean="0"/>
              <a:t>soluble </a:t>
            </a:r>
            <a:r>
              <a:rPr lang="en-US" sz="3200" b="1" dirty="0"/>
              <a:t>first gas such as nitrous oxide is delivered in high inspired concentrations. Alveolar-capillary uptake of the first gas increases the alveolar concentrations of other gases present, accelerating their uptake.</a:t>
            </a:r>
          </a:p>
        </p:txBody>
      </p:sp>
    </p:spTree>
    <p:extLst>
      <p:ext uri="{BB962C8B-B14F-4D97-AF65-F5344CB8AC3E}">
        <p14:creationId xmlns:p14="http://schemas.microsoft.com/office/powerpoint/2010/main" val="396525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23888"/>
            <a:ext cx="7010400" cy="561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6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66" y="304800"/>
            <a:ext cx="8503333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2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00200" y="762000"/>
            <a:ext cx="6553200" cy="486886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/>
              <a:t>The Fink effect, also known as "diffusion anoxia", "diffusion hypoxia", or the </a:t>
            </a:r>
            <a:r>
              <a:rPr lang="en-US" sz="3200" dirty="0" smtClean="0"/>
              <a:t>“third </a:t>
            </a:r>
            <a:r>
              <a:rPr lang="en-US" sz="3200" dirty="0"/>
              <a:t>gas effect", is a factor that influences the pO2 within the pulmonary </a:t>
            </a:r>
            <a:r>
              <a:rPr lang="en-US" sz="3200" dirty="0" smtClean="0"/>
              <a:t>alveoli. Which is the reverse  of second gas effects.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82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Diffusion Hypoxia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/>
              <a:t>At </a:t>
            </a:r>
            <a:r>
              <a:rPr lang="en-US" sz="3200" b="1" dirty="0"/>
              <a:t>the end of </a:t>
            </a:r>
            <a:r>
              <a:rPr lang="en-US" sz="3200" b="1" dirty="0" smtClean="0"/>
              <a:t>anesthesia </a:t>
            </a:r>
            <a:r>
              <a:rPr lang="en-US" sz="3200" b="1" dirty="0"/>
              <a:t>when N2O/O2 is replaced by air (N2/O2) the reverse of the </a:t>
            </a:r>
            <a:r>
              <a:rPr lang="en-US" sz="3200" b="1" dirty="0" smtClean="0"/>
              <a:t>second gas </a:t>
            </a:r>
            <a:r>
              <a:rPr lang="en-US" sz="3200" b="1" dirty="0"/>
              <a:t>effect is seen. The volume of N2O entering the alveolus will </a:t>
            </a:r>
            <a:r>
              <a:rPr lang="en-US" sz="3200" b="1" dirty="0" smtClean="0"/>
              <a:t>be more </a:t>
            </a:r>
            <a:r>
              <a:rPr lang="en-US" sz="3200" b="1" dirty="0"/>
              <a:t>than the volume </a:t>
            </a:r>
            <a:r>
              <a:rPr lang="en-US" sz="3200" b="1" dirty="0" smtClean="0"/>
              <a:t>of N2 </a:t>
            </a:r>
            <a:r>
              <a:rPr lang="en-US" sz="3200" b="1" dirty="0"/>
              <a:t>entering the pulmonary capillaries, resulting in a dilution of all alveolar </a:t>
            </a:r>
            <a:r>
              <a:rPr lang="en-US" sz="3200" b="1" dirty="0" smtClean="0"/>
              <a:t>gases followed by diffusional hypoxia 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27555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4294967295"/>
          </p:nvPr>
        </p:nvSpPr>
        <p:spPr>
          <a:xfrm>
            <a:off x="1295400" y="1752600"/>
            <a:ext cx="7848600" cy="4106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The inspired concentration and the </a:t>
            </a:r>
            <a:r>
              <a:rPr lang="en-US" sz="3600" b="1" dirty="0" smtClean="0"/>
              <a:t>blood: gas </a:t>
            </a:r>
            <a:r>
              <a:rPr lang="en-US" sz="3600" b="1" dirty="0"/>
              <a:t>solubility of an inhaled anesthetic are the major determinants of the speed of induction. Solubility alone determines the rate of elimination.</a:t>
            </a:r>
          </a:p>
        </p:txBody>
      </p:sp>
    </p:spTree>
    <p:extLst>
      <p:ext uri="{BB962C8B-B14F-4D97-AF65-F5344CB8AC3E}">
        <p14:creationId xmlns:p14="http://schemas.microsoft.com/office/powerpoint/2010/main" val="318174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28600"/>
            <a:ext cx="6742113" cy="990600"/>
          </a:xfrm>
        </p:spPr>
        <p:txBody>
          <a:bodyPr/>
          <a:lstStyle/>
          <a:p>
            <a:pPr marL="0" indent="0"/>
            <a:r>
              <a:rPr lang="en-US" dirty="0" smtClean="0"/>
              <a:t>      Metabolism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0" y="1295400"/>
            <a:ext cx="3886200" cy="456565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/>
              <a:t>Halogen ions are released following metabolism by hepatic cytochrome p450 enzymes and </a:t>
            </a:r>
            <a:r>
              <a:rPr lang="en-US" sz="2400" b="1" dirty="0" smtClean="0"/>
              <a:t>may </a:t>
            </a:r>
            <a:r>
              <a:rPr lang="en-US" sz="2400" b="1" dirty="0"/>
              <a:t>cause hepatic or renal damage.</a:t>
            </a:r>
            <a:br>
              <a:rPr lang="en-US" sz="2400" b="1" dirty="0"/>
            </a:br>
            <a:r>
              <a:rPr lang="en-US" sz="2400" b="1" dirty="0"/>
              <a:t>The C-F bond is relatively stable and only minimally metabolized, whereas C-</a:t>
            </a:r>
            <a:r>
              <a:rPr lang="en-US" sz="2400" b="1" dirty="0" err="1"/>
              <a:t>Cl</a:t>
            </a:r>
            <a:r>
              <a:rPr lang="en-US" sz="2400" b="1" dirty="0"/>
              <a:t>, C-Br and </a:t>
            </a:r>
            <a:r>
              <a:rPr lang="en-US" sz="2400" b="1" dirty="0" smtClean="0"/>
              <a:t>C-H </a:t>
            </a:r>
            <a:r>
              <a:rPr lang="en-US" sz="2400" b="1" dirty="0"/>
              <a:t>bonds </a:t>
            </a:r>
            <a:r>
              <a:rPr lang="en-US" sz="2400" b="1" dirty="0" smtClean="0"/>
              <a:t>is easier </a:t>
            </a:r>
            <a:r>
              <a:rPr lang="en-US" sz="2400" b="1" dirty="0"/>
              <a:t>to </a:t>
            </a:r>
            <a:r>
              <a:rPr lang="en-US" sz="2400" b="1" dirty="0" smtClean="0"/>
              <a:t>metabolism</a:t>
            </a:r>
            <a:endParaRPr lang="en-US" sz="24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0" t="32405" r="50000" b="9060"/>
          <a:stretch/>
        </p:blipFill>
        <p:spPr bwMode="auto">
          <a:xfrm>
            <a:off x="4724400" y="609600"/>
            <a:ext cx="4079328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78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3" t="44254" r="29873" b="8586"/>
          <a:stretch/>
        </p:blipFill>
        <p:spPr bwMode="auto">
          <a:xfrm>
            <a:off x="416900" y="228600"/>
            <a:ext cx="8498499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4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71600" y="1143000"/>
            <a:ext cx="7772400" cy="4716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/>
              <a:t>Inhalational </a:t>
            </a:r>
            <a:r>
              <a:rPr lang="en-US" sz="3200" b="1" dirty="0"/>
              <a:t>anesthetics are all </a:t>
            </a:r>
            <a:r>
              <a:rPr lang="en-US" sz="3200" b="1" dirty="0" smtClean="0"/>
              <a:t>non ionized </a:t>
            </a:r>
            <a:r>
              <a:rPr lang="en-US" sz="3200" b="1" dirty="0"/>
              <a:t>and have low molecular weights. This </a:t>
            </a:r>
            <a:r>
              <a:rPr lang="en-US" sz="3200" b="1" dirty="0" smtClean="0"/>
              <a:t>allows them </a:t>
            </a:r>
            <a:r>
              <a:rPr lang="en-US" sz="3200" b="1" dirty="0"/>
              <a:t>to diffuse rapidly without the need for facilitated diffusion or active transport from bloodstream to tissues</a:t>
            </a:r>
          </a:p>
        </p:txBody>
      </p:sp>
    </p:spTree>
    <p:extLst>
      <p:ext uri="{BB962C8B-B14F-4D97-AF65-F5344CB8AC3E}">
        <p14:creationId xmlns:p14="http://schemas.microsoft.com/office/powerpoint/2010/main" val="52992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14400" y="1806575"/>
            <a:ext cx="8229600" cy="40528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>Recovery from anesthesia depends on lowering the concentration of anesthetic </a:t>
            </a:r>
            <a:r>
              <a:rPr lang="en-US" sz="3600" dirty="0" smtClean="0"/>
              <a:t>in brain </a:t>
            </a:r>
            <a:r>
              <a:rPr lang="en-US" sz="3600" dirty="0"/>
              <a:t>tissue. Anesthetics can be </a:t>
            </a:r>
            <a:r>
              <a:rPr lang="en-US" sz="3600" dirty="0" smtClean="0"/>
              <a:t>eliminated by biotransformation</a:t>
            </a:r>
            <a:r>
              <a:rPr lang="en-US" sz="3600" dirty="0"/>
              <a:t>, </a:t>
            </a:r>
            <a:r>
              <a:rPr lang="en-US" sz="3600" dirty="0" smtClean="0"/>
              <a:t>transcutaneous loss or exhalation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083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75725"/>
            <a:ext cx="8534400" cy="772076"/>
          </a:xfrm>
        </p:spPr>
        <p:txBody>
          <a:bodyPr/>
          <a:lstStyle/>
          <a:p>
            <a:r>
              <a:rPr lang="en-US" sz="3600" dirty="0" smtClean="0"/>
              <a:t>In summery Uptake and distribution</a:t>
            </a:r>
            <a:endParaRPr lang="en-US" sz="3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09442" y="1447801"/>
            <a:ext cx="7220157" cy="44109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 smtClean="0"/>
              <a:t>1.Transfer from inspired air to alveoli</a:t>
            </a:r>
          </a:p>
          <a:p>
            <a:pPr marL="0" indent="0">
              <a:buNone/>
            </a:pPr>
            <a:r>
              <a:rPr lang="en-US" sz="2800" b="1" dirty="0" smtClean="0"/>
              <a:t>Inspired gas consentration,alveolie ventilation and  characteristics of anesthesia circuit</a:t>
            </a:r>
          </a:p>
          <a:p>
            <a:pPr marL="0" indent="0">
              <a:buNone/>
            </a:pPr>
            <a:r>
              <a:rPr lang="en-US" sz="2800" b="1" dirty="0" smtClean="0"/>
              <a:t>2.Transfer from alveoli to arterial blood</a:t>
            </a:r>
          </a:p>
          <a:p>
            <a:pPr marL="0" indent="0">
              <a:buNone/>
            </a:pPr>
            <a:r>
              <a:rPr lang="en-US" sz="2800" b="1" dirty="0" smtClean="0"/>
              <a:t>Blood gas PC,cardiac output and alveoli to venous pressure difference</a:t>
            </a:r>
          </a:p>
          <a:p>
            <a:pPr marL="0" indent="0">
              <a:buNone/>
            </a:pPr>
            <a:r>
              <a:rPr lang="en-US" sz="2800" b="1" dirty="0" smtClean="0"/>
              <a:t>3.Transfer from arterial blood to tissue </a:t>
            </a:r>
          </a:p>
          <a:p>
            <a:pPr marL="0" indent="0">
              <a:buNone/>
            </a:pPr>
            <a:r>
              <a:rPr lang="en-US" sz="2800" b="1" dirty="0" smtClean="0"/>
              <a:t>Tissue/blood </a:t>
            </a:r>
            <a:r>
              <a:rPr lang="en-US" sz="2800" b="1" dirty="0" err="1" smtClean="0"/>
              <a:t>PC,tissue</a:t>
            </a:r>
            <a:r>
              <a:rPr lang="en-US" sz="2800" b="1" dirty="0" smtClean="0"/>
              <a:t> blood flow and arterial to  tissue pressure difference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2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47800" y="838200"/>
            <a:ext cx="6705600" cy="5021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smtClean="0"/>
              <a:t>MAC is equivalent of a median effective concentration  EC50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3048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NITROUS OXIDE (N2O)</a:t>
            </a:r>
            <a:endParaRPr lang="en-US" sz="36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524001"/>
            <a:ext cx="8229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It Has </a:t>
            </a:r>
            <a:r>
              <a:rPr lang="en-US" sz="2400" b="1" dirty="0"/>
              <a:t>high MAC </a:t>
            </a:r>
            <a:r>
              <a:rPr lang="en-US" sz="2400" b="1" dirty="0" smtClean="0"/>
              <a:t>and commonly used in combination with other inhalational agent.</a:t>
            </a:r>
          </a:p>
          <a:p>
            <a:pPr marL="0" indent="0">
              <a:buNone/>
            </a:pPr>
            <a:r>
              <a:rPr lang="en-US" sz="2400" b="1" dirty="0" smtClean="0"/>
              <a:t>It is manufactured </a:t>
            </a:r>
            <a:r>
              <a:rPr lang="en-US" sz="2400" b="1" dirty="0"/>
              <a:t>by heating ammonium nitrate to 250ºC, 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NH4NO3 </a:t>
            </a:r>
            <a:r>
              <a:rPr lang="en-US" sz="2400" b="1" dirty="0"/>
              <a:t>→ N2O + 2H2O</a:t>
            </a:r>
          </a:p>
          <a:p>
            <a:pPr marL="0" indent="0">
              <a:buNone/>
            </a:pPr>
            <a:r>
              <a:rPr lang="en-US" sz="2400" b="1" dirty="0"/>
              <a:t>N2O is stored as a liquid in French blue cylinders with a gauge </a:t>
            </a:r>
            <a:r>
              <a:rPr lang="en-US" sz="2400" b="1" dirty="0" smtClean="0"/>
              <a:t>pressure of </a:t>
            </a:r>
            <a:r>
              <a:rPr lang="en-US" sz="2400" b="1" dirty="0"/>
              <a:t>51bar at 20ºC. The gauge pressure does not give an indication </a:t>
            </a:r>
            <a:r>
              <a:rPr lang="en-US" sz="2400" b="1" dirty="0" smtClean="0"/>
              <a:t>of cylinder </a:t>
            </a:r>
            <a:r>
              <a:rPr lang="en-US" sz="2400" b="1" dirty="0"/>
              <a:t>content until all the remaining N2O is in the gaseous phase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40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1752600"/>
            <a:ext cx="6553200" cy="4052888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Clr>
                <a:srgbClr val="FF9000"/>
              </a:buClr>
              <a:buNone/>
            </a:pPr>
            <a:r>
              <a:rPr lang="en-US" sz="3600" b="1" dirty="0" smtClean="0"/>
              <a:t>N2O is </a:t>
            </a:r>
            <a:r>
              <a:rPr lang="en-US" sz="3600" b="1" dirty="0"/>
              <a:t>colorless and essentially odorless.</a:t>
            </a:r>
          </a:p>
          <a:p>
            <a:pPr marL="0" lvl="0" indent="0">
              <a:buClr>
                <a:srgbClr val="FF9000"/>
              </a:buClr>
              <a:buNone/>
            </a:pPr>
            <a:r>
              <a:rPr lang="en-US" sz="3600" b="1" dirty="0" smtClean="0"/>
              <a:t>Despite is potent analgesic property its </a:t>
            </a:r>
            <a:r>
              <a:rPr lang="en-US" sz="3600" b="1" dirty="0"/>
              <a:t>use in theatre is decreasing due to its potential to cause nausea and </a:t>
            </a:r>
            <a:r>
              <a:rPr lang="en-US" sz="3600" b="1" dirty="0" smtClean="0"/>
              <a:t>vomiting and environmental pollution</a:t>
            </a:r>
            <a:endParaRPr lang="en-US" sz="3600" b="1" dirty="0"/>
          </a:p>
          <a:p>
            <a:pPr marL="0" lvl="0" indent="0">
              <a:buClr>
                <a:srgbClr val="FF9000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09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28600"/>
            <a:ext cx="6743700" cy="914400"/>
          </a:xfrm>
        </p:spPr>
        <p:txBody>
          <a:bodyPr/>
          <a:lstStyle/>
          <a:p>
            <a:r>
              <a:rPr lang="en-US" dirty="0"/>
              <a:t>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1143000"/>
            <a:ext cx="8534400" cy="47164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 smtClean="0"/>
              <a:t>Respiratory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• </a:t>
            </a:r>
            <a:r>
              <a:rPr lang="en-US" sz="2800" b="1" dirty="0" smtClean="0"/>
              <a:t>mild </a:t>
            </a:r>
            <a:r>
              <a:rPr lang="en-US" sz="2800" b="1" dirty="0" smtClean="0">
                <a:latin typeface="Times New Roman"/>
                <a:cs typeface="Times New Roman"/>
              </a:rPr>
              <a:t>↓ in TV but </a:t>
            </a:r>
            <a:r>
              <a:rPr lang="en-US" sz="2800" b="1" dirty="0">
                <a:latin typeface="Times New Roman"/>
                <a:cs typeface="Times New Roman"/>
              </a:rPr>
              <a:t> </a:t>
            </a:r>
            <a:r>
              <a:rPr lang="en-US" sz="2800" b="1" dirty="0" smtClean="0">
                <a:latin typeface="Times New Roman"/>
                <a:cs typeface="Times New Roman"/>
                <a:sym typeface="Symbol"/>
              </a:rPr>
              <a:t> in RR</a:t>
            </a:r>
            <a:r>
              <a:rPr lang="en-US" sz="2800" b="1" dirty="0" smtClean="0"/>
              <a:t>.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Cardiovascular</a:t>
            </a:r>
          </a:p>
          <a:p>
            <a:pPr marL="0" indent="0">
              <a:buNone/>
            </a:pPr>
            <a:r>
              <a:rPr lang="en-US" sz="2800" b="1" dirty="0"/>
              <a:t>• Mild direct myocardial depression which is </a:t>
            </a:r>
            <a:r>
              <a:rPr lang="en-US" sz="2800" b="1" dirty="0" smtClean="0"/>
              <a:t>compensated by sympathetic activity but if CHF  </a:t>
            </a:r>
            <a:r>
              <a:rPr lang="en-US" sz="2800" b="1" dirty="0" smtClean="0">
                <a:latin typeface="Times New Roman"/>
                <a:cs typeface="Times New Roman"/>
              </a:rPr>
              <a:t>↓ CO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 smtClean="0"/>
              <a:t>CNS </a:t>
            </a:r>
            <a:r>
              <a:rPr lang="en-US" sz="2800" b="1" dirty="0" smtClean="0">
                <a:sym typeface="Symbol"/>
              </a:rPr>
              <a:t> CBF</a:t>
            </a:r>
            <a:r>
              <a:rPr lang="en-US" sz="2800" b="1" dirty="0">
                <a:sym typeface="Symbol"/>
              </a:rPr>
              <a:t> and </a:t>
            </a:r>
            <a:r>
              <a:rPr lang="en-US" sz="2800" b="1" dirty="0" smtClean="0">
                <a:sym typeface="Symbol"/>
              </a:rPr>
              <a:t>CMRO2 consumption        renal system </a:t>
            </a:r>
            <a:r>
              <a:rPr lang="en-US" sz="2800" b="1" dirty="0" smtClean="0">
                <a:latin typeface="Times New Roman"/>
                <a:cs typeface="Times New Roman"/>
                <a:sym typeface="Symbol"/>
              </a:rPr>
              <a:t>↓ RBF, GFR&amp;UO,</a:t>
            </a:r>
          </a:p>
          <a:p>
            <a:pPr marL="0" indent="0">
              <a:buNone/>
            </a:pPr>
            <a:r>
              <a:rPr lang="en-US" sz="3200" b="1" dirty="0" smtClean="0">
                <a:latin typeface="Times New Roman"/>
                <a:cs typeface="Times New Roman"/>
                <a:sym typeface="Symbol"/>
              </a:rPr>
              <a:t>Hepatic blood flow ↓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17772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06575"/>
            <a:ext cx="7696200" cy="40528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 </a:t>
            </a:r>
            <a:r>
              <a:rPr lang="en-US" sz="3200" b="1" dirty="0" smtClean="0"/>
              <a:t>Neuromuscular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 smtClean="0"/>
              <a:t>Like  </a:t>
            </a:r>
            <a:r>
              <a:rPr lang="en-US" sz="3200" b="1" dirty="0"/>
              <a:t>other inhalation agents, nitrous oxide does not provide </a:t>
            </a:r>
            <a:r>
              <a:rPr lang="en-US" sz="3200" b="1" dirty="0" smtClean="0"/>
              <a:t>significant muscle </a:t>
            </a:r>
            <a:r>
              <a:rPr lang="en-US" sz="3200" b="1" dirty="0"/>
              <a:t>relaxation.                                                                         </a:t>
            </a:r>
            <a:r>
              <a:rPr lang="en-US" sz="3200" b="1" dirty="0" smtClean="0"/>
              <a:t>Gastrointestinal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Use of nitrous oxide in adults increases the risk of postoperative nausea </a:t>
            </a:r>
            <a:r>
              <a:rPr lang="en-US" sz="3200" b="1" dirty="0" smtClean="0"/>
              <a:t>and vomiting</a:t>
            </a:r>
            <a:r>
              <a:rPr lang="en-US" sz="3200" b="1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33768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95400" y="1676400"/>
            <a:ext cx="7848600" cy="4183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Hypoxic drive, the </a:t>
            </a:r>
            <a:r>
              <a:rPr lang="en-US" sz="2800" b="1" dirty="0" err="1"/>
              <a:t>ventilatory</a:t>
            </a:r>
            <a:r>
              <a:rPr lang="en-US" sz="2800" b="1" dirty="0"/>
              <a:t> response to arterial </a:t>
            </a:r>
            <a:r>
              <a:rPr lang="en-US" sz="2800" b="1" dirty="0" smtClean="0"/>
              <a:t>hypoxia markedly decrease 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 smtClean="0"/>
              <a:t>Diffusion </a:t>
            </a:r>
            <a:r>
              <a:rPr lang="en-US" sz="2800" b="1" dirty="0"/>
              <a:t>hypoxia is </a:t>
            </a:r>
            <a:r>
              <a:rPr lang="en-US" sz="2800" b="1" dirty="0" smtClean="0"/>
              <a:t>likely when N2O is used due </a:t>
            </a:r>
            <a:r>
              <a:rPr lang="en-US" sz="2800" b="1" dirty="0"/>
              <a:t>to the reverse of the concentration </a:t>
            </a:r>
            <a:r>
              <a:rPr lang="en-US" sz="2800" b="1" dirty="0" smtClean="0"/>
              <a:t>effect </a:t>
            </a:r>
            <a:r>
              <a:rPr lang="en-US" sz="2800" b="1" dirty="0"/>
              <a:t>a</a:t>
            </a:r>
            <a:r>
              <a:rPr lang="en-US" sz="2800" b="1" dirty="0" smtClean="0"/>
              <a:t>t </a:t>
            </a:r>
            <a:r>
              <a:rPr lang="en-US" sz="2800" b="1" dirty="0"/>
              <a:t>the end of </a:t>
            </a:r>
            <a:r>
              <a:rPr lang="en-US" sz="2800" b="1" dirty="0" smtClean="0"/>
              <a:t>anesthesia</a:t>
            </a:r>
            <a:r>
              <a:rPr lang="en-US" sz="2800" b="1" dirty="0"/>
              <a:t>. alter the immunological response to infection by affecting </a:t>
            </a:r>
            <a:r>
              <a:rPr lang="en-US" sz="2800" b="1" dirty="0" err="1" smtClean="0"/>
              <a:t>chemotaxis</a:t>
            </a:r>
            <a:r>
              <a:rPr lang="en-US" sz="2800" b="1" dirty="0" smtClean="0"/>
              <a:t> and </a:t>
            </a:r>
            <a:r>
              <a:rPr lang="en-US" sz="2800" b="1" dirty="0"/>
              <a:t>motility of </a:t>
            </a:r>
            <a:r>
              <a:rPr lang="en-US" sz="2800" b="1" dirty="0" err="1"/>
              <a:t>polymorphonuclear</a:t>
            </a:r>
            <a:r>
              <a:rPr lang="en-US" sz="2800" b="1" dirty="0"/>
              <a:t> leukocytes</a:t>
            </a:r>
          </a:p>
        </p:txBody>
      </p:sp>
    </p:spTree>
    <p:extLst>
      <p:ext uri="{BB962C8B-B14F-4D97-AF65-F5344CB8AC3E}">
        <p14:creationId xmlns:p14="http://schemas.microsoft.com/office/powerpoint/2010/main" val="278426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76400" y="1143000"/>
            <a:ext cx="7467600" cy="47164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b="1" dirty="0"/>
              <a:t>Entonox is a 50:50 mixture of N2O and O2. The two gases effectively dissolve into each </a:t>
            </a:r>
            <a:r>
              <a:rPr lang="en-US" sz="3200" b="1" dirty="0" smtClean="0"/>
              <a:t>other</a:t>
            </a:r>
          </a:p>
          <a:p>
            <a:pPr marL="0" indent="0">
              <a:buNone/>
            </a:pPr>
            <a:r>
              <a:rPr lang="en-US" sz="3200" b="1" dirty="0"/>
              <a:t>Uses</a:t>
            </a:r>
          </a:p>
          <a:p>
            <a:pPr marL="0" indent="0">
              <a:buNone/>
            </a:pPr>
            <a:r>
              <a:rPr lang="en-US" sz="3200" b="1" dirty="0"/>
              <a:t>Entonox is used commonly for analgesia during </a:t>
            </a:r>
            <a:r>
              <a:rPr lang="en-US" sz="3200" b="1" dirty="0" err="1"/>
              <a:t>labour</a:t>
            </a:r>
            <a:r>
              <a:rPr lang="en-US" sz="3200" b="1" dirty="0"/>
              <a:t> and other painful procedures</a:t>
            </a:r>
            <a:r>
              <a:rPr lang="en-US" sz="3200" b="1" dirty="0" smtClean="0"/>
              <a:t>.</a:t>
            </a:r>
          </a:p>
          <a:p>
            <a:pPr marL="0" indent="0">
              <a:buNone/>
            </a:pPr>
            <a:r>
              <a:rPr lang="en-US" sz="3200" b="1" dirty="0" smtClean="0"/>
              <a:t>When is N2O is contraindicated?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2263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47800" y="1295400"/>
            <a:ext cx="7696200" cy="4564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Examples </a:t>
            </a:r>
            <a:r>
              <a:rPr lang="en-US" sz="2800" b="1" dirty="0" smtClean="0"/>
              <a:t>of conditions </a:t>
            </a:r>
            <a:r>
              <a:rPr lang="en-US" sz="2800" b="1" dirty="0"/>
              <a:t>in which nitrous oxide might be hazardous include venous </a:t>
            </a:r>
            <a:r>
              <a:rPr lang="en-US" sz="2800" b="1" dirty="0" smtClean="0"/>
              <a:t>or arterial </a:t>
            </a:r>
            <a:r>
              <a:rPr lang="en-US" sz="2800" b="1" dirty="0"/>
              <a:t>air embolism, pneumothorax, acute intestinal obstruction with</a:t>
            </a:r>
          </a:p>
          <a:p>
            <a:pPr marL="0" indent="0">
              <a:buNone/>
            </a:pPr>
            <a:r>
              <a:rPr lang="en-US" sz="2800" b="1" dirty="0"/>
              <a:t>bowel distention, intracranial air (</a:t>
            </a:r>
            <a:r>
              <a:rPr lang="en-US" sz="2800" b="1" dirty="0" err="1"/>
              <a:t>pneumocephalus</a:t>
            </a:r>
            <a:r>
              <a:rPr lang="en-US" sz="2800" b="1" dirty="0"/>
              <a:t> following </a:t>
            </a:r>
            <a:r>
              <a:rPr lang="en-US" sz="2800" b="1" dirty="0" smtClean="0"/>
              <a:t>Dural closure, pulmonary </a:t>
            </a:r>
            <a:r>
              <a:rPr lang="en-US" sz="2800" b="1" dirty="0"/>
              <a:t>air cysts, intraocular air </a:t>
            </a:r>
            <a:r>
              <a:rPr lang="en-US" sz="2800" b="1" dirty="0" smtClean="0"/>
              <a:t>bubbles, and </a:t>
            </a:r>
            <a:r>
              <a:rPr lang="en-US" sz="2800" b="1" dirty="0"/>
              <a:t>tympanic membrane grafting.</a:t>
            </a:r>
          </a:p>
        </p:txBody>
      </p:sp>
    </p:spTree>
    <p:extLst>
      <p:ext uri="{BB962C8B-B14F-4D97-AF65-F5344CB8AC3E}">
        <p14:creationId xmlns:p14="http://schemas.microsoft.com/office/powerpoint/2010/main" val="149460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55" t="7046" r="19570" b="7165"/>
          <a:stretch/>
        </p:blipFill>
        <p:spPr bwMode="auto">
          <a:xfrm>
            <a:off x="533400" y="403806"/>
            <a:ext cx="8305800" cy="6149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Halothane</a:t>
            </a:r>
            <a:endParaRPr lang="en-US" sz="40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Halothane </a:t>
            </a:r>
            <a:r>
              <a:rPr lang="en-US" sz="2400" b="1" dirty="0"/>
              <a:t>is a halogenated alkane.</a:t>
            </a:r>
          </a:p>
          <a:p>
            <a:pPr marL="0" indent="0">
              <a:buNone/>
            </a:pPr>
            <a:r>
              <a:rPr lang="en-US" sz="2400" b="1" dirty="0"/>
              <a:t>The carbon–fluoride bonds are responsible for </a:t>
            </a:r>
            <a:r>
              <a:rPr lang="en-US" sz="2400" b="1" dirty="0" smtClean="0"/>
              <a:t>its nonflammable </a:t>
            </a:r>
            <a:r>
              <a:rPr lang="en-US" sz="2400" b="1" dirty="0"/>
              <a:t>and </a:t>
            </a:r>
            <a:r>
              <a:rPr lang="en-US" sz="2400" b="1" dirty="0" smtClean="0"/>
              <a:t>non explosive </a:t>
            </a:r>
            <a:r>
              <a:rPr lang="en-US" sz="2400" b="1" dirty="0"/>
              <a:t>nature. </a:t>
            </a:r>
            <a:r>
              <a:rPr lang="en-US" sz="2400" b="1" dirty="0" smtClean="0"/>
              <a:t>Its MAC is 0.75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Halothane </a:t>
            </a:r>
            <a:r>
              <a:rPr lang="en-US" sz="2400" b="1" dirty="0"/>
              <a:t>is unstable when exposed to </a:t>
            </a:r>
            <a:r>
              <a:rPr lang="en-US" sz="2400" b="1" dirty="0" smtClean="0"/>
              <a:t>light &amp; heat. the bottle </a:t>
            </a:r>
            <a:r>
              <a:rPr lang="en-US" sz="2400" b="1" dirty="0"/>
              <a:t>is amber-colored </a:t>
            </a:r>
            <a:r>
              <a:rPr lang="en-US" sz="2400" b="1" dirty="0" smtClean="0"/>
              <a:t>in order </a:t>
            </a:r>
            <a:r>
              <a:rPr lang="en-US" sz="2400" b="1" dirty="0"/>
              <a:t>to </a:t>
            </a:r>
            <a:r>
              <a:rPr lang="en-US" sz="2400" b="1" dirty="0" smtClean="0"/>
              <a:t>decrease  </a:t>
            </a:r>
            <a:r>
              <a:rPr lang="en-US" sz="2400" b="1" dirty="0"/>
              <a:t>spontaneous oxidative decomposition ,  corrodes certain </a:t>
            </a:r>
            <a:r>
              <a:rPr lang="en-US" sz="2400" b="1" dirty="0" smtClean="0"/>
              <a:t>metals and </a:t>
            </a:r>
            <a:r>
              <a:rPr lang="en-US" sz="2400" b="1" dirty="0"/>
              <a:t>dissolves into rubber. It is presented with 0.01% </a:t>
            </a:r>
            <a:r>
              <a:rPr lang="en-US" sz="2400" b="1" dirty="0" err="1"/>
              <a:t>thymol</a:t>
            </a:r>
            <a:r>
              <a:rPr lang="en-US" sz="2400" b="1" dirty="0"/>
              <a:t> to </a:t>
            </a:r>
            <a:r>
              <a:rPr lang="en-US" sz="2400" b="1" dirty="0" smtClean="0"/>
              <a:t>prevent liberation </a:t>
            </a:r>
            <a:r>
              <a:rPr lang="en-US" sz="2400" b="1" dirty="0"/>
              <a:t>of </a:t>
            </a:r>
            <a:r>
              <a:rPr lang="en-US" sz="2400" b="1" dirty="0" smtClean="0"/>
              <a:t>free Br.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1025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85800" y="381001"/>
            <a:ext cx="7448755" cy="762000"/>
          </a:xfrm>
        </p:spPr>
        <p:txBody>
          <a:bodyPr/>
          <a:lstStyle/>
          <a:p>
            <a:r>
              <a:rPr lang="en-US" sz="4400" b="1" dirty="0" smtClean="0"/>
              <a:t>Effects </a:t>
            </a:r>
            <a:endParaRPr lang="en-US" sz="4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609600"/>
            <a:ext cx="8382000" cy="40514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                          Respiratory </a:t>
            </a:r>
            <a:endParaRPr lang="en-US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• </a:t>
            </a:r>
            <a:r>
              <a:rPr lang="en-US" sz="2400" dirty="0" smtClean="0"/>
              <a:t>MV </a:t>
            </a:r>
            <a:r>
              <a:rPr lang="en-US" sz="2400" dirty="0" smtClean="0">
                <a:latin typeface="Times New Roman"/>
                <a:cs typeface="Times New Roman"/>
              </a:rPr>
              <a:t>↓</a:t>
            </a:r>
            <a:r>
              <a:rPr lang="en-US" sz="2400" dirty="0" smtClean="0"/>
              <a:t> due to </a:t>
            </a:r>
            <a:r>
              <a:rPr lang="en-US" sz="2400" dirty="0" smtClean="0">
                <a:latin typeface="Times New Roman"/>
                <a:cs typeface="Times New Roman"/>
              </a:rPr>
              <a:t>↓ TV </a:t>
            </a:r>
            <a:r>
              <a:rPr lang="en-US" sz="2400" dirty="0" smtClean="0"/>
              <a:t>tidal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smtClean="0"/>
              <a:t>response </a:t>
            </a:r>
            <a:r>
              <a:rPr lang="en-US" sz="2400" dirty="0"/>
              <a:t>to hypoxia and hypercarbia </a:t>
            </a:r>
            <a:r>
              <a:rPr lang="en-US" sz="2400" dirty="0" smtClean="0"/>
              <a:t>are blunted</a:t>
            </a:r>
            <a:r>
              <a:rPr lang="en-US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• It has a sweet non-irritant </a:t>
            </a:r>
            <a:r>
              <a:rPr lang="en-US" sz="2400" dirty="0" smtClean="0"/>
              <a:t>odor </a:t>
            </a:r>
            <a:r>
              <a:rPr lang="en-US" sz="2400" dirty="0"/>
              <a:t>and </a:t>
            </a:r>
            <a:r>
              <a:rPr lang="en-US" sz="2400" dirty="0" smtClean="0"/>
              <a:t> </a:t>
            </a:r>
            <a:r>
              <a:rPr lang="en-US" sz="2400" dirty="0"/>
              <a:t>used for </a:t>
            </a:r>
            <a:r>
              <a:rPr lang="en-US" sz="2400" dirty="0" smtClean="0"/>
              <a:t>induction</a:t>
            </a:r>
            <a:r>
              <a:rPr lang="en-US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• </a:t>
            </a:r>
            <a:r>
              <a:rPr lang="en-US" sz="2400" dirty="0" smtClean="0"/>
              <a:t>It  bronchodilator </a:t>
            </a:r>
            <a:r>
              <a:rPr lang="en-US" sz="2400" dirty="0"/>
              <a:t>and is useful in </a:t>
            </a:r>
            <a:r>
              <a:rPr lang="en-US" sz="2400" dirty="0" smtClean="0"/>
              <a:t>asthmatic patient. 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It </a:t>
            </a:r>
            <a:r>
              <a:rPr lang="en-US" sz="2400" dirty="0"/>
              <a:t>attenuates airway reflexes and relaxes bronchial </a:t>
            </a:r>
            <a:r>
              <a:rPr lang="en-US" sz="2400" dirty="0" smtClean="0"/>
              <a:t>smooth muscle </a:t>
            </a:r>
            <a:r>
              <a:rPr lang="en-US" sz="2400" dirty="0"/>
              <a:t>by inhibiting intracellular calcium mobilization. 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dirty="0"/>
              <a:t>It also depresses clearance of mucus from the respiratory tract (</a:t>
            </a:r>
            <a:r>
              <a:rPr lang="en-US" sz="2400" dirty="0" err="1" smtClean="0"/>
              <a:t>mucociliafunction</a:t>
            </a:r>
            <a:r>
              <a:rPr lang="en-US" sz="2400" dirty="0" smtClean="0"/>
              <a:t>), promoting </a:t>
            </a:r>
            <a:r>
              <a:rPr lang="en-US" sz="2400" dirty="0"/>
              <a:t>postoperative </a:t>
            </a:r>
            <a:r>
              <a:rPr lang="en-US" sz="2400" dirty="0" smtClean="0"/>
              <a:t>hypoxia&amp; </a:t>
            </a:r>
            <a:r>
              <a:rPr lang="en-US" sz="2400" dirty="0"/>
              <a:t>atelectasis.</a:t>
            </a:r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1751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533400"/>
            <a:ext cx="7772400" cy="4335463"/>
          </a:xfrm>
        </p:spPr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buClr>
                <a:srgbClr val="FF9000"/>
              </a:buClr>
              <a:buNone/>
            </a:pPr>
            <a:r>
              <a:rPr lang="en-US" sz="2400" dirty="0"/>
              <a:t>Cardiovascular</a:t>
            </a:r>
          </a:p>
          <a:p>
            <a:pPr marL="0" lvl="0" indent="0">
              <a:lnSpc>
                <a:spcPct val="150000"/>
              </a:lnSpc>
              <a:buClr>
                <a:srgbClr val="FF9000"/>
              </a:buClr>
              <a:buNone/>
            </a:pPr>
            <a:r>
              <a:rPr lang="en-US" sz="2400" dirty="0"/>
              <a:t>• </a:t>
            </a:r>
            <a:r>
              <a:rPr lang="en-US" sz="2400" dirty="0">
                <a:latin typeface="Times New Roman"/>
                <a:cs typeface="Times New Roman"/>
              </a:rPr>
              <a:t>↓ HR</a:t>
            </a:r>
            <a:r>
              <a:rPr lang="en-US" sz="2400" dirty="0"/>
              <a:t> produced by increased vagal tone, depressed Sino atrial and </a:t>
            </a:r>
            <a:r>
              <a:rPr lang="en-US" sz="2400" dirty="0" err="1"/>
              <a:t>atrioventricular</a:t>
            </a:r>
            <a:r>
              <a:rPr lang="en-US" sz="2400" dirty="0"/>
              <a:t> activity</a:t>
            </a:r>
            <a:r>
              <a:rPr lang="en-US" sz="2400" dirty="0" smtClean="0"/>
              <a:t>.</a:t>
            </a:r>
          </a:p>
          <a:p>
            <a:pPr marL="0" lvl="0" indent="0">
              <a:lnSpc>
                <a:spcPct val="150000"/>
              </a:lnSpc>
              <a:buClr>
                <a:srgbClr val="FF9000"/>
              </a:buClr>
              <a:buNone/>
            </a:pPr>
            <a:r>
              <a:rPr lang="en-US" sz="2400" dirty="0"/>
              <a:t>. Renal</a:t>
            </a:r>
          </a:p>
          <a:p>
            <a:pPr marL="0" lvl="0" indent="0">
              <a:lnSpc>
                <a:spcPct val="150000"/>
              </a:lnSpc>
              <a:buClr>
                <a:srgbClr val="FF9000"/>
              </a:buClr>
              <a:buNone/>
            </a:pPr>
            <a:r>
              <a:rPr lang="en-US" sz="2400" dirty="0"/>
              <a:t>Halothane reduces renal blood flow, glomerular filtration rate, and urinary</a:t>
            </a:r>
          </a:p>
          <a:p>
            <a:pPr marL="0" lvl="0" indent="0">
              <a:lnSpc>
                <a:spcPct val="150000"/>
              </a:lnSpc>
              <a:buClr>
                <a:srgbClr val="FF9000"/>
              </a:buClr>
              <a:buNone/>
            </a:pPr>
            <a:r>
              <a:rPr lang="en-US" sz="2400" dirty="0" smtClean="0"/>
              <a:t>Output Preoperative </a:t>
            </a:r>
            <a:r>
              <a:rPr lang="en-US" sz="2400" dirty="0"/>
              <a:t>hydration limits these changes</a:t>
            </a:r>
          </a:p>
        </p:txBody>
      </p:sp>
    </p:spTree>
    <p:extLst>
      <p:ext uri="{BB962C8B-B14F-4D97-AF65-F5344CB8AC3E}">
        <p14:creationId xmlns:p14="http://schemas.microsoft.com/office/powerpoint/2010/main" val="161099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057400" y="1219200"/>
            <a:ext cx="7086600" cy="4640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A dose-dependent </a:t>
            </a:r>
            <a:r>
              <a:rPr lang="en-US" sz="2800" b="1" dirty="0" smtClean="0"/>
              <a:t>decrease </a:t>
            </a:r>
            <a:r>
              <a:rPr lang="en-US" sz="2800" b="1" dirty="0"/>
              <a:t>in arterial </a:t>
            </a:r>
            <a:r>
              <a:rPr lang="en-US" sz="2800" b="1" dirty="0" smtClean="0"/>
              <a:t>blood Pressure and HR </a:t>
            </a:r>
            <a:r>
              <a:rPr lang="en-US" sz="2800" b="1" dirty="0"/>
              <a:t>because of direct myocardial </a:t>
            </a:r>
            <a:r>
              <a:rPr lang="en-US" sz="2800" b="1" dirty="0" smtClean="0"/>
              <a:t>depression and decrease in SVR.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If </a:t>
            </a:r>
            <a:r>
              <a:rPr lang="en-US" sz="2800" b="1" dirty="0" err="1"/>
              <a:t>pt.given</a:t>
            </a:r>
            <a:r>
              <a:rPr lang="en-US" sz="2800" b="1" dirty="0"/>
              <a:t> 2.0 MAC of halothane without </a:t>
            </a:r>
            <a:r>
              <a:rPr lang="en-US" sz="2800" b="1" dirty="0" smtClean="0"/>
              <a:t>intervention </a:t>
            </a:r>
            <a:r>
              <a:rPr lang="en-US" sz="2800" b="1" dirty="0"/>
              <a:t>,B/P and cardiac out </a:t>
            </a:r>
            <a:r>
              <a:rPr lang="en-US" sz="2800" b="1" dirty="0" smtClean="0"/>
              <a:t>decrease </a:t>
            </a:r>
            <a:r>
              <a:rPr lang="en-US" sz="2800" b="1" dirty="0"/>
              <a:t>by 50</a:t>
            </a:r>
            <a:r>
              <a:rPr lang="en-US" sz="2800" b="1" dirty="0" smtClean="0"/>
              <a:t>%.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lowing of </a:t>
            </a:r>
            <a:r>
              <a:rPr lang="en-US" sz="2800" b="1" dirty="0" smtClean="0"/>
              <a:t>Sino atrial node </a:t>
            </a:r>
            <a:r>
              <a:rPr lang="en-US" sz="2800" b="1" dirty="0"/>
              <a:t>conduction may result in a </a:t>
            </a:r>
            <a:r>
              <a:rPr lang="en-US" sz="2800" b="1" dirty="0" smtClean="0"/>
              <a:t>junction rhythm or </a:t>
            </a:r>
            <a:r>
              <a:rPr lang="en-US" sz="2800" b="1" dirty="0"/>
              <a:t>bradycardia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667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43000" y="990600"/>
            <a:ext cx="8001000" cy="48688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 smtClean="0"/>
              <a:t>• </a:t>
            </a:r>
            <a:r>
              <a:rPr lang="en-US" sz="3200" b="1" dirty="0"/>
              <a:t>it sensitizes the heart to </a:t>
            </a:r>
            <a:r>
              <a:rPr lang="en-US" sz="3200" b="1" dirty="0" err="1"/>
              <a:t>catecholamines</a:t>
            </a:r>
            <a:r>
              <a:rPr lang="en-US" sz="3200" b="1" dirty="0"/>
              <a:t>  may lead to </a:t>
            </a:r>
            <a:r>
              <a:rPr lang="en-US" sz="3200" b="1" dirty="0" smtClean="0"/>
              <a:t>arrhythmias epinephrine </a:t>
            </a:r>
            <a:r>
              <a:rPr lang="en-US" sz="3200" b="1" dirty="0"/>
              <a:t>above </a:t>
            </a:r>
            <a:r>
              <a:rPr lang="en-US" sz="3200" b="1" dirty="0" smtClean="0"/>
              <a:t>1.5 mcg/kg </a:t>
            </a:r>
            <a:r>
              <a:rPr lang="en-US" sz="3200" b="1" dirty="0"/>
              <a:t>should be avoided. </a:t>
            </a:r>
          </a:p>
          <a:p>
            <a:pPr marL="0" indent="0">
              <a:buNone/>
            </a:pPr>
            <a:r>
              <a:rPr lang="en-US" sz="3200" b="1" dirty="0" smtClean="0"/>
              <a:t>• </a:t>
            </a:r>
            <a:r>
              <a:rPr lang="en-US" sz="3200" b="1" dirty="0"/>
              <a:t>Cerebral blood flow is increased more than any other volatile agent leading to significant  </a:t>
            </a:r>
            <a:r>
              <a:rPr lang="en-US" sz="3200" b="1" dirty="0">
                <a:sym typeface="Symbol"/>
              </a:rPr>
              <a:t> </a:t>
            </a:r>
            <a:r>
              <a:rPr lang="en-US" sz="3200" b="1" dirty="0"/>
              <a:t>ICP. However, cerebral oxygen requirements are reduced</a:t>
            </a:r>
          </a:p>
        </p:txBody>
      </p:sp>
    </p:spTree>
    <p:extLst>
      <p:ext uri="{BB962C8B-B14F-4D97-AF65-F5344CB8AC3E}">
        <p14:creationId xmlns:p14="http://schemas.microsoft.com/office/powerpoint/2010/main" val="33436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752600" y="1295400"/>
            <a:ext cx="7391400" cy="4564063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The combination of </a:t>
            </a:r>
            <a:r>
              <a:rPr lang="en-US" sz="3200" b="1" dirty="0" smtClean="0"/>
              <a:t>halothane &amp; aminophylline resulted in </a:t>
            </a:r>
            <a:r>
              <a:rPr lang="en-US" sz="3200" b="1" dirty="0"/>
              <a:t>serious </a:t>
            </a:r>
            <a:r>
              <a:rPr lang="en-US" sz="3200" b="1" dirty="0" smtClean="0"/>
              <a:t>ventricular arrhythmias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67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06575"/>
            <a:ext cx="7391400" cy="40528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b="1" dirty="0"/>
              <a:t>it is a trigger for malignant hyperthermia.</a:t>
            </a:r>
          </a:p>
          <a:p>
            <a:pPr marL="0" indent="0">
              <a:buNone/>
            </a:pPr>
            <a:r>
              <a:rPr lang="en-US" sz="3600" b="1" dirty="0"/>
              <a:t>hepatic blood flow to decrease in proportion to the </a:t>
            </a:r>
            <a:r>
              <a:rPr lang="en-US" sz="3600" b="1" dirty="0" smtClean="0"/>
              <a:t>depression of </a:t>
            </a:r>
            <a:r>
              <a:rPr lang="en-US" sz="3600" b="1" dirty="0"/>
              <a:t>cardiac output. Hepatic artery vasospasm has been reported during </a:t>
            </a:r>
            <a:r>
              <a:rPr lang="en-US" sz="3600" b="1" dirty="0" smtClean="0"/>
              <a:t>halothane anesthesia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298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66800" y="990600"/>
            <a:ext cx="8077200" cy="48688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Metabolism</a:t>
            </a:r>
          </a:p>
          <a:p>
            <a:pPr marL="0" indent="0">
              <a:buNone/>
            </a:pPr>
            <a:r>
              <a:rPr lang="en-US" sz="2400" b="1" dirty="0"/>
              <a:t>• </a:t>
            </a:r>
            <a:r>
              <a:rPr lang="en-US" sz="2400" b="1" dirty="0" smtClean="0"/>
              <a:t>15 to 25</a:t>
            </a:r>
            <a:r>
              <a:rPr lang="en-US" sz="2400" b="1" dirty="0"/>
              <a:t>% of </a:t>
            </a:r>
            <a:r>
              <a:rPr lang="en-US" sz="2400" b="1" dirty="0" err="1" smtClean="0"/>
              <a:t>halothan</a:t>
            </a:r>
            <a:r>
              <a:rPr lang="en-US" sz="2400" b="1" dirty="0" smtClean="0"/>
              <a:t> </a:t>
            </a:r>
            <a:r>
              <a:rPr lang="en-US" sz="2400" b="1" dirty="0"/>
              <a:t>oxidized in the liver by a particular </a:t>
            </a:r>
            <a:r>
              <a:rPr lang="en-US" sz="2400" b="1" dirty="0" err="1"/>
              <a:t>isozyme</a:t>
            </a:r>
            <a:r>
              <a:rPr lang="en-US" sz="2400" b="1" dirty="0"/>
              <a:t> of CYP (2EI) to its</a:t>
            </a:r>
          </a:p>
          <a:p>
            <a:pPr marL="0" indent="0">
              <a:buNone/>
            </a:pPr>
            <a:r>
              <a:rPr lang="en-US" sz="2400" b="1" dirty="0"/>
              <a:t>principal </a:t>
            </a:r>
            <a:r>
              <a:rPr lang="en-US" sz="2400" b="1" dirty="0" smtClean="0"/>
              <a:t>metabolite </a:t>
            </a:r>
            <a:r>
              <a:rPr lang="en-US" sz="2400" b="1" dirty="0"/>
              <a:t>produce </a:t>
            </a:r>
            <a:r>
              <a:rPr lang="en-US" sz="2400" b="1" dirty="0" err="1"/>
              <a:t>trifluoroacetic</a:t>
            </a:r>
            <a:r>
              <a:rPr lang="en-US" sz="2400" b="1" dirty="0"/>
              <a:t> </a:t>
            </a:r>
            <a:r>
              <a:rPr lang="en-US" sz="2400" b="1" dirty="0" err="1" smtClean="0"/>
              <a:t>acid,Br</a:t>
            </a:r>
            <a:r>
              <a:rPr lang="en-US" sz="2400" b="1" dirty="0" smtClean="0"/>
              <a:t>- </a:t>
            </a:r>
            <a:r>
              <a:rPr lang="en-US" sz="2400" b="1" dirty="0"/>
              <a:t>and </a:t>
            </a:r>
            <a:r>
              <a:rPr lang="en-US" sz="2400" b="1" dirty="0" err="1"/>
              <a:t>Cl</a:t>
            </a:r>
            <a:r>
              <a:rPr lang="en-US" sz="2400" b="1" dirty="0"/>
              <a:t>-. However, when the liver becomes hypoxic, </a:t>
            </a:r>
            <a:r>
              <a:rPr lang="en-US" sz="2400" b="1" dirty="0" smtClean="0"/>
              <a:t>reductive metabolism </a:t>
            </a:r>
            <a:r>
              <a:rPr lang="en-US" sz="2400" b="1" dirty="0"/>
              <a:t>predominates, producing </a:t>
            </a:r>
            <a:r>
              <a:rPr lang="en-US" sz="2400" b="1" dirty="0" smtClean="0"/>
              <a:t>F-Toxicity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• Hepatic damage can take one of two forms:</a:t>
            </a:r>
          </a:p>
          <a:p>
            <a:pPr marL="0" indent="0">
              <a:buNone/>
            </a:pPr>
            <a:r>
              <a:rPr lang="en-US" sz="2400" b="1" dirty="0"/>
              <a:t>• Reversible form - often subclinical and is associated with a rise </a:t>
            </a:r>
            <a:r>
              <a:rPr lang="en-US" sz="2400" b="1" dirty="0" smtClean="0"/>
              <a:t>in hepatic </a:t>
            </a:r>
            <a:r>
              <a:rPr lang="en-US" sz="2400" b="1" dirty="0"/>
              <a:t>transaminases. This is probably due to hepatic hypoxia</a:t>
            </a:r>
            <a:r>
              <a:rPr lang="en-US" sz="1600" dirty="0" smtClean="0"/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6586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609600"/>
            <a:ext cx="8534400" cy="52498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• Fulminant hepatic necrosis (‘halothane hepatitis’) </a:t>
            </a:r>
            <a:r>
              <a:rPr lang="en-US" sz="2400" b="1" dirty="0" smtClean="0"/>
              <a:t>– </a:t>
            </a:r>
            <a:r>
              <a:rPr lang="en-US" sz="2400" b="1" dirty="0" err="1" smtClean="0"/>
              <a:t>trifluoroacetyl</a:t>
            </a:r>
            <a:r>
              <a:rPr lang="en-US" sz="2400" b="1" dirty="0" smtClean="0"/>
              <a:t> chloride </a:t>
            </a:r>
            <a:r>
              <a:rPr lang="en-US" sz="2400" b="1" dirty="0"/>
              <a:t>may behave as a </a:t>
            </a:r>
            <a:r>
              <a:rPr lang="en-US" sz="2400" b="1" dirty="0" err="1"/>
              <a:t>hapten</a:t>
            </a:r>
            <a:r>
              <a:rPr lang="en-US" sz="2400" b="1" dirty="0"/>
              <a:t> which binds to hepatic </a:t>
            </a:r>
            <a:r>
              <a:rPr lang="en-US" sz="2400" b="1" dirty="0" smtClean="0"/>
              <a:t>proteins and </a:t>
            </a:r>
            <a:r>
              <a:rPr lang="en-US" sz="2400" b="1" dirty="0"/>
              <a:t>induces antibody formation. Diagnosis is by exclusion, </a:t>
            </a:r>
            <a:r>
              <a:rPr lang="en-US" sz="2400" b="1" dirty="0" smtClean="0"/>
              <a:t>and risk </a:t>
            </a:r>
            <a:r>
              <a:rPr lang="en-US" sz="2400" b="1" dirty="0"/>
              <a:t>factors include: multiple exposures, obesity, middle age </a:t>
            </a:r>
            <a:r>
              <a:rPr lang="en-US" sz="2400" b="1" dirty="0" smtClean="0"/>
              <a:t>and female </a:t>
            </a:r>
            <a:r>
              <a:rPr lang="en-US" sz="2400" b="1" dirty="0"/>
              <a:t>sex. Mortality is around 50-75%. The incidence in </a:t>
            </a:r>
            <a:r>
              <a:rPr lang="en-US" sz="2400" b="1" dirty="0" smtClean="0"/>
              <a:t>adults is </a:t>
            </a:r>
            <a:r>
              <a:rPr lang="en-US" sz="2400" b="1" dirty="0"/>
              <a:t>1 in 2500-35000.</a:t>
            </a:r>
          </a:p>
          <a:p>
            <a:pPr marL="0" indent="0">
              <a:buNone/>
            </a:pPr>
            <a:r>
              <a:rPr lang="en-US" sz="2400" b="1" dirty="0"/>
              <a:t>• Halothane should be avoided if it has been given in the </a:t>
            </a:r>
            <a:r>
              <a:rPr lang="en-US" sz="2400" b="1" dirty="0" smtClean="0"/>
              <a:t>previous 3 </a:t>
            </a:r>
            <a:r>
              <a:rPr lang="en-US" sz="2400" b="1" dirty="0"/>
              <a:t>months, if there is a past history of adverse reaction to </a:t>
            </a:r>
            <a:r>
              <a:rPr lang="en-US" sz="2400" b="1" dirty="0" err="1" smtClean="0"/>
              <a:t>halothane,or</a:t>
            </a:r>
            <a:r>
              <a:rPr lang="en-US" sz="2400" b="1" dirty="0" smtClean="0"/>
              <a:t> </a:t>
            </a:r>
            <a:r>
              <a:rPr lang="en-US" sz="2400" b="1" dirty="0"/>
              <a:t>if there is pre-existing liver disease.</a:t>
            </a:r>
          </a:p>
        </p:txBody>
      </p:sp>
    </p:spTree>
    <p:extLst>
      <p:ext uri="{BB962C8B-B14F-4D97-AF65-F5344CB8AC3E}">
        <p14:creationId xmlns:p14="http://schemas.microsoft.com/office/powerpoint/2010/main" val="186002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133600" y="1806575"/>
            <a:ext cx="7010400" cy="2460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 smtClean="0"/>
              <a:t>What do you think the contra indication for halothane ?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6099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66800" y="1143000"/>
            <a:ext cx="8077200" cy="47164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Contraindication </a:t>
            </a:r>
          </a:p>
          <a:p>
            <a:pPr>
              <a:buBlip>
                <a:blip r:embed="rId2"/>
              </a:buBlip>
            </a:pPr>
            <a:r>
              <a:rPr lang="en-US" sz="2400" b="1" dirty="0"/>
              <a:t>unexplained </a:t>
            </a:r>
            <a:r>
              <a:rPr lang="en-US" sz="2400" b="1" dirty="0" smtClean="0"/>
              <a:t>liver dysfunction </a:t>
            </a:r>
            <a:r>
              <a:rPr lang="en-US" sz="2400" b="1" dirty="0"/>
              <a:t>following previous anesthetic exposure</a:t>
            </a:r>
            <a:r>
              <a:rPr lang="en-US" sz="2400" b="1" dirty="0" smtClean="0"/>
              <a:t>.</a:t>
            </a:r>
          </a:p>
          <a:p>
            <a:pPr>
              <a:buBlip>
                <a:blip r:embed="rId2"/>
              </a:buBlip>
            </a:pPr>
            <a:r>
              <a:rPr lang="en-US" sz="2400" b="1" dirty="0"/>
              <a:t>in patients with </a:t>
            </a:r>
            <a:r>
              <a:rPr lang="en-US" sz="2400" b="1" dirty="0" smtClean="0"/>
              <a:t>intracranial tumor.</a:t>
            </a:r>
          </a:p>
          <a:p>
            <a:pPr>
              <a:buBlip>
                <a:blip r:embed="rId2"/>
              </a:buBlip>
            </a:pPr>
            <a:r>
              <a:rPr lang="en-US" sz="2400" b="1" dirty="0"/>
              <a:t>Hypovolemic patients and some patients with severe reductions in </a:t>
            </a:r>
            <a:r>
              <a:rPr lang="en-US" sz="2400" b="1" dirty="0" smtClean="0"/>
              <a:t>left ventricular function. because of negative </a:t>
            </a:r>
            <a:r>
              <a:rPr lang="en-US" sz="2400" b="1" dirty="0"/>
              <a:t>inotropic </a:t>
            </a:r>
            <a:r>
              <a:rPr lang="en-US" sz="2400" b="1" dirty="0" smtClean="0"/>
              <a:t>effects.</a:t>
            </a:r>
          </a:p>
          <a:p>
            <a:pPr>
              <a:buBlip>
                <a:blip r:embed="rId2"/>
              </a:buBlip>
            </a:pPr>
            <a:r>
              <a:rPr lang="en-US" sz="2400" b="1" dirty="0" smtClean="0"/>
              <a:t>In patient low MAP</a:t>
            </a:r>
            <a:endParaRPr lang="en-US" sz="2400" b="1" dirty="0"/>
          </a:p>
          <a:p>
            <a:pPr>
              <a:buBlip>
                <a:blip r:embed="rId2"/>
              </a:buBlip>
            </a:pPr>
            <a:r>
              <a:rPr lang="en-US" sz="2400" b="1" dirty="0"/>
              <a:t>when exogenous epinephrine </a:t>
            </a:r>
            <a:r>
              <a:rPr lang="en-US" sz="2400" b="1" dirty="0" smtClean="0"/>
              <a:t>is in use or </a:t>
            </a:r>
            <a:r>
              <a:rPr lang="en-US" sz="2400" b="1" dirty="0"/>
              <a:t>in patients with </a:t>
            </a:r>
            <a:r>
              <a:rPr lang="en-US" sz="2400" b="1" dirty="0" smtClean="0"/>
              <a:t>pheochromocytoma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170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52401"/>
            <a:ext cx="6762955" cy="762000"/>
          </a:xfrm>
        </p:spPr>
        <p:txBody>
          <a:bodyPr/>
          <a:lstStyle/>
          <a:p>
            <a:r>
              <a:rPr lang="en-US" sz="3600" b="1" dirty="0" smtClean="0"/>
              <a:t>ISOFLURANE</a:t>
            </a:r>
            <a:endParaRPr lang="en-US" sz="36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807361"/>
            <a:ext cx="8381999" cy="40514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 err="1"/>
              <a:t>Isoflurane</a:t>
            </a:r>
            <a:r>
              <a:rPr lang="en-US" sz="2800" b="1" dirty="0"/>
              <a:t> is a nonflammable volatile anesthetic with a pungent ethereal </a:t>
            </a:r>
            <a:r>
              <a:rPr lang="en-US" sz="2800" b="1" dirty="0" smtClean="0"/>
              <a:t>odor it </a:t>
            </a:r>
            <a:r>
              <a:rPr lang="en-US" sz="2800" b="1" dirty="0"/>
              <a:t>is a structural isomer of </a:t>
            </a:r>
            <a:r>
              <a:rPr lang="en-US" sz="2800" b="1" dirty="0" err="1"/>
              <a:t>enflurane</a:t>
            </a:r>
            <a:r>
              <a:rPr lang="en-US" sz="2800" b="1" dirty="0" smtClean="0"/>
              <a:t>.                                                                                                </a:t>
            </a:r>
            <a:r>
              <a:rPr lang="en-US" sz="2800" b="1" dirty="0" err="1" smtClean="0"/>
              <a:t>it</a:t>
            </a:r>
            <a:r>
              <a:rPr lang="en-US" sz="2800" b="1" dirty="0" smtClean="0"/>
              <a:t> usually used for maintenance of </a:t>
            </a:r>
            <a:r>
              <a:rPr lang="en-US" sz="2800" b="1" dirty="0"/>
              <a:t>anesthesia b/C of its pungent smell </a:t>
            </a:r>
            <a:r>
              <a:rPr lang="en-US" sz="2800" b="1" dirty="0" smtClean="0"/>
              <a:t>not used for inhalational induction.</a:t>
            </a: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51427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ct val="20000"/>
              </a:spcBef>
              <a:spcAft>
                <a:spcPts val="600"/>
              </a:spcAft>
            </a:pPr>
            <a:r>
              <a:rPr lang="en-US" sz="2800" b="1" dirty="0">
                <a:solidFill>
                  <a:prstClr val="white"/>
                </a:solidFill>
                <a:ea typeface="+mn-ea"/>
                <a:cs typeface="+mn-cs"/>
              </a:rPr>
              <a:t>Effects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lvl="0" indent="0">
              <a:buClr>
                <a:srgbClr val="FF9000"/>
              </a:buClr>
              <a:buNone/>
            </a:pPr>
            <a:r>
              <a:rPr lang="en-US" sz="2800" b="1" dirty="0">
                <a:solidFill>
                  <a:prstClr val="white"/>
                </a:solidFill>
              </a:rPr>
              <a:t>Respiratory</a:t>
            </a:r>
          </a:p>
          <a:p>
            <a:pPr marL="0" lvl="0" indent="0">
              <a:buClr>
                <a:srgbClr val="FF9000"/>
              </a:buClr>
              <a:buNone/>
            </a:pPr>
            <a:r>
              <a:rPr lang="en-US" sz="2800" b="1" dirty="0">
                <a:solidFill>
                  <a:prstClr val="white"/>
                </a:solidFill>
              </a:rPr>
              <a:t>• Ventilation is depressed more than halothane, but less than </a:t>
            </a:r>
            <a:r>
              <a:rPr lang="en-US" sz="2800" b="1" dirty="0" err="1">
                <a:solidFill>
                  <a:prstClr val="white"/>
                </a:solidFill>
              </a:rPr>
              <a:t>enflurane</a:t>
            </a:r>
            <a:r>
              <a:rPr lang="en-US" sz="2800" b="1" dirty="0" smtClean="0">
                <a:solidFill>
                  <a:prstClr val="white"/>
                </a:solidFill>
              </a:rPr>
              <a:t>.</a:t>
            </a:r>
          </a:p>
          <a:p>
            <a:pPr marL="0" lvl="0" indent="0">
              <a:buClr>
                <a:srgbClr val="FF9000"/>
              </a:buClr>
              <a:buNone/>
            </a:pPr>
            <a:r>
              <a:rPr lang="en-US" sz="2800" b="1" dirty="0" err="1" smtClean="0">
                <a:solidFill>
                  <a:prstClr val="white"/>
                </a:solidFill>
              </a:rPr>
              <a:t>Enflurane</a:t>
            </a:r>
            <a:r>
              <a:rPr lang="en-US" sz="2800" b="1" dirty="0" smtClean="0">
                <a:solidFill>
                  <a:prstClr val="white"/>
                </a:solidFill>
              </a:rPr>
              <a:t>&gt;</a:t>
            </a:r>
            <a:r>
              <a:rPr lang="en-US" sz="2800" b="1" dirty="0" err="1" smtClean="0">
                <a:solidFill>
                  <a:prstClr val="white"/>
                </a:solidFill>
              </a:rPr>
              <a:t>isofloraine</a:t>
            </a:r>
            <a:r>
              <a:rPr lang="en-US" sz="2800" b="1" dirty="0" smtClean="0">
                <a:solidFill>
                  <a:prstClr val="white"/>
                </a:solidFill>
              </a:rPr>
              <a:t> &gt;halothane </a:t>
            </a:r>
            <a:endParaRPr lang="en-US" sz="2800" b="1" dirty="0">
              <a:solidFill>
                <a:prstClr val="white"/>
              </a:solidFill>
            </a:endParaRPr>
          </a:p>
          <a:p>
            <a:pPr marL="0" lvl="0" indent="0">
              <a:buClr>
                <a:srgbClr val="FF9000"/>
              </a:buClr>
              <a:buNone/>
            </a:pPr>
            <a:r>
              <a:rPr lang="en-US" sz="2800" b="1" dirty="0">
                <a:solidFill>
                  <a:prstClr val="white"/>
                </a:solidFill>
              </a:rPr>
              <a:t>• MV </a:t>
            </a:r>
            <a:r>
              <a:rPr lang="en-US" sz="2800" b="1" dirty="0">
                <a:solidFill>
                  <a:prstClr val="white"/>
                </a:solidFill>
                <a:latin typeface="Times New Roman"/>
                <a:cs typeface="Times New Roman"/>
              </a:rPr>
              <a:t>↓ but </a:t>
            </a:r>
            <a:r>
              <a:rPr lang="en-US" sz="2800" b="1" dirty="0">
                <a:solidFill>
                  <a:prstClr val="white"/>
                </a:solidFill>
              </a:rPr>
              <a:t> RR and PaCo2 are </a:t>
            </a:r>
            <a:r>
              <a:rPr lang="en-US" sz="2800" b="1" dirty="0">
                <a:solidFill>
                  <a:prstClr val="white"/>
                </a:solidFill>
                <a:sym typeface="Symbol"/>
              </a:rPr>
              <a:t></a:t>
            </a:r>
          </a:p>
          <a:p>
            <a:pPr marL="0" lvl="0" indent="0">
              <a:buClr>
                <a:srgbClr val="FF9000"/>
              </a:buClr>
              <a:buNone/>
            </a:pPr>
            <a:r>
              <a:rPr lang="en-US" sz="2800" b="1" dirty="0">
                <a:solidFill>
                  <a:prstClr val="white"/>
                </a:solidFill>
              </a:rPr>
              <a:t>can cause upper airway irritability and breath-holding  However it cause some </a:t>
            </a:r>
            <a:r>
              <a:rPr lang="en-US" sz="2800" b="1" dirty="0" err="1">
                <a:solidFill>
                  <a:prstClr val="white"/>
                </a:solidFill>
              </a:rPr>
              <a:t>bronchodilation</a:t>
            </a:r>
            <a:r>
              <a:rPr lang="en-US" sz="2800" b="1" dirty="0">
                <a:solidFill>
                  <a:prstClr val="white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39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838200"/>
            <a:ext cx="8382000" cy="4945063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sz="4100" dirty="0"/>
              <a:t>Cardiovascular</a:t>
            </a:r>
            <a:br>
              <a:rPr lang="en-US" sz="4100" dirty="0"/>
            </a:br>
            <a:r>
              <a:rPr lang="en-US" sz="5100" dirty="0" smtClean="0"/>
              <a:t>• markedly </a:t>
            </a:r>
            <a:r>
              <a:rPr lang="en-US" sz="5100" dirty="0" smtClean="0">
                <a:latin typeface="Times New Roman"/>
                <a:cs typeface="Times New Roman"/>
              </a:rPr>
              <a:t>↓</a:t>
            </a:r>
            <a:r>
              <a:rPr lang="en-US" sz="5100" dirty="0" smtClean="0"/>
              <a:t> </a:t>
            </a:r>
            <a:r>
              <a:rPr lang="en-US" sz="5100" dirty="0"/>
              <a:t>SVR resulting in </a:t>
            </a:r>
            <a:r>
              <a:rPr lang="en-US" sz="5100" dirty="0" smtClean="0"/>
              <a:t>compensatory tachycardia.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5100" dirty="0" smtClean="0"/>
              <a:t> </a:t>
            </a:r>
            <a:r>
              <a:rPr lang="en-US" sz="5100" dirty="0"/>
              <a:t>small decrease in </a:t>
            </a:r>
            <a:r>
              <a:rPr lang="en-US" sz="5100" dirty="0" smtClean="0"/>
              <a:t>myocardial contractility</a:t>
            </a:r>
            <a:r>
              <a:rPr lang="en-US" sz="5100" dirty="0"/>
              <a:t>.</a:t>
            </a:r>
            <a:br>
              <a:rPr lang="en-US" sz="5100" dirty="0"/>
            </a:br>
            <a:r>
              <a:rPr lang="en-US" sz="5100" dirty="0"/>
              <a:t>• It has been proposed that isoflurane may cause ‘coronary </a:t>
            </a:r>
            <a:r>
              <a:rPr lang="en-US" sz="5100" dirty="0" err="1" smtClean="0"/>
              <a:t>steal’if</a:t>
            </a:r>
            <a:r>
              <a:rPr lang="en-US" sz="5100" dirty="0" smtClean="0"/>
              <a:t> </a:t>
            </a:r>
            <a:r>
              <a:rPr lang="en-US" sz="5100" dirty="0"/>
              <a:t>coronary perfusion is maintained, coronary steal does </a:t>
            </a:r>
            <a:r>
              <a:rPr lang="en-US" sz="5100" dirty="0" smtClean="0"/>
              <a:t>not occur</a:t>
            </a:r>
            <a:r>
              <a:rPr lang="en-US" sz="5100" dirty="0"/>
              <a:t>.</a:t>
            </a:r>
            <a:br>
              <a:rPr lang="en-US" sz="5100" dirty="0"/>
            </a:br>
            <a:r>
              <a:rPr lang="en-US" sz="5100" dirty="0" smtClean="0"/>
              <a:t>•have </a:t>
            </a:r>
            <a:r>
              <a:rPr lang="en-US" sz="5100" dirty="0"/>
              <a:t>myocardial protective properties via </a:t>
            </a:r>
            <a:r>
              <a:rPr lang="en-US" sz="5100" dirty="0" smtClean="0"/>
              <a:t>its effects </a:t>
            </a:r>
            <a:r>
              <a:rPr lang="en-US" sz="5100" dirty="0"/>
              <a:t>on ATP-dependent potassium channels.</a:t>
            </a:r>
            <a:r>
              <a:rPr lang="en-US" sz="4100" dirty="0"/>
              <a:t/>
            </a:r>
            <a:br>
              <a:rPr lang="en-US" sz="4100" dirty="0"/>
            </a:br>
            <a:endParaRPr lang="en-US" sz="4100" dirty="0"/>
          </a:p>
        </p:txBody>
      </p:sp>
    </p:spTree>
    <p:extLst>
      <p:ext uri="{BB962C8B-B14F-4D97-AF65-F5344CB8AC3E}">
        <p14:creationId xmlns:p14="http://schemas.microsoft.com/office/powerpoint/2010/main" val="194060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914400"/>
            <a:ext cx="7391400" cy="4564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>Isoflurane dilates coronary arteries, but not nearly as potently </a:t>
            </a:r>
            <a:r>
              <a:rPr lang="en-US" sz="3600" dirty="0" smtClean="0"/>
              <a:t>as nitroglycerin </a:t>
            </a:r>
            <a:r>
              <a:rPr lang="en-US" sz="3600" dirty="0"/>
              <a:t>or adenosine. Dilation of normal coronary arteries </a:t>
            </a:r>
            <a:r>
              <a:rPr lang="en-US" sz="3600" dirty="0" smtClean="0"/>
              <a:t>could theoretically </a:t>
            </a:r>
            <a:r>
              <a:rPr lang="en-US" sz="3600" dirty="0"/>
              <a:t>divert blood away from fixed </a:t>
            </a:r>
            <a:r>
              <a:rPr lang="en-US" sz="3600" dirty="0" err="1"/>
              <a:t>stenotic</a:t>
            </a:r>
            <a:r>
              <a:rPr lang="en-US" sz="3600" dirty="0"/>
              <a:t> lesions.</a:t>
            </a:r>
          </a:p>
        </p:txBody>
      </p:sp>
    </p:spTree>
    <p:extLst>
      <p:ext uri="{BB962C8B-B14F-4D97-AF65-F5344CB8AC3E}">
        <p14:creationId xmlns:p14="http://schemas.microsoft.com/office/powerpoint/2010/main" val="4279906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143000"/>
            <a:ext cx="8077200" cy="45640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/>
              <a:t>Central nervous system</a:t>
            </a:r>
            <a:br>
              <a:rPr lang="en-US" sz="2800" b="1" dirty="0"/>
            </a:br>
            <a:r>
              <a:rPr lang="en-US" sz="2800" b="1" dirty="0"/>
              <a:t>• </a:t>
            </a:r>
            <a:r>
              <a:rPr lang="en-US" sz="2800" dirty="0"/>
              <a:t>Of all the volatile agents, isoflurane produces the best balance </a:t>
            </a:r>
            <a:r>
              <a:rPr lang="en-US" sz="2800" dirty="0" smtClean="0"/>
              <a:t>of reduced </a:t>
            </a:r>
            <a:r>
              <a:rPr lang="en-US" sz="2800" dirty="0"/>
              <a:t>cerebral oxygen requirement and minimal increase </a:t>
            </a:r>
            <a:r>
              <a:rPr lang="en-US" sz="2800" dirty="0" smtClean="0"/>
              <a:t>in CBF.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At concentrations greater than 1 MAC, </a:t>
            </a:r>
            <a:r>
              <a:rPr lang="en-US" sz="2800" dirty="0" err="1"/>
              <a:t>isoflurane</a:t>
            </a:r>
            <a:r>
              <a:rPr lang="en-US" sz="2800" dirty="0"/>
              <a:t> increases CBF and </a:t>
            </a:r>
            <a:r>
              <a:rPr lang="en-US" sz="2800" dirty="0" smtClean="0"/>
              <a:t>ICP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3545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1447800"/>
            <a:ext cx="81534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It </a:t>
            </a:r>
            <a:r>
              <a:rPr lang="en-US" sz="2800" b="1" dirty="0"/>
              <a:t>decreases renal blood flow, glomerular filtration rate, and urinary</a:t>
            </a:r>
          </a:p>
          <a:p>
            <a:r>
              <a:rPr lang="en-US" sz="2800" b="1" dirty="0"/>
              <a:t>output</a:t>
            </a:r>
            <a:r>
              <a:rPr lang="en-US" sz="2800" b="1" dirty="0" smtClean="0"/>
              <a:t>.</a:t>
            </a:r>
          </a:p>
          <a:p>
            <a:r>
              <a:rPr lang="en-US" sz="2800" b="1" dirty="0"/>
              <a:t>Total hepatic blood </a:t>
            </a:r>
            <a:r>
              <a:rPr lang="en-US" sz="2800" b="1" dirty="0" smtClean="0"/>
              <a:t>flow Hepatic</a:t>
            </a:r>
            <a:r>
              <a:rPr lang="en-US" sz="3200" b="1" dirty="0" smtClean="0">
                <a:latin typeface="Times New Roman"/>
                <a:cs typeface="Times New Roman"/>
              </a:rPr>
              <a:t> </a:t>
            </a:r>
            <a:r>
              <a:rPr lang="en-US" sz="3200" b="1" dirty="0">
                <a:latin typeface="Times New Roman"/>
                <a:cs typeface="Times New Roman"/>
              </a:rPr>
              <a:t>oxygen supply is </a:t>
            </a:r>
            <a:r>
              <a:rPr lang="en-US" sz="3200" b="1" dirty="0" smtClean="0">
                <a:latin typeface="Times New Roman"/>
                <a:cs typeface="Times New Roman"/>
              </a:rPr>
              <a:t>better than halothane </a:t>
            </a:r>
            <a:endParaRPr lang="en-US" sz="3200" b="1" dirty="0" smtClean="0"/>
          </a:p>
          <a:p>
            <a:r>
              <a:rPr lang="en-US" sz="2800" b="1" dirty="0" smtClean="0"/>
              <a:t>Toxicity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/>
              <a:t>• Carbon monoxide may be produced by a reaction between the -CHF2 group and dry soda lime (or </a:t>
            </a:r>
            <a:r>
              <a:rPr lang="en-US" sz="2800" b="1" dirty="0" err="1"/>
              <a:t>baralyme</a:t>
            </a:r>
            <a:r>
              <a:rPr lang="en-US" sz="2800" b="1" dirty="0"/>
              <a:t>). 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0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067755" cy="838201"/>
          </a:xfrm>
        </p:spPr>
        <p:txBody>
          <a:bodyPr/>
          <a:lstStyle/>
          <a:p>
            <a:r>
              <a:rPr lang="en-US" sz="3600" b="1" dirty="0"/>
              <a:t>ENFlURANE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52600" y="1371600"/>
            <a:ext cx="6381955" cy="30393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This halogenated ethyl methyl ether is a structural isomer of isoflurane</a:t>
            </a:r>
            <a:br>
              <a:rPr lang="en-US" sz="2800" dirty="0"/>
            </a:br>
            <a:r>
              <a:rPr lang="en-US" sz="3200" dirty="0">
                <a:latin typeface="Arial"/>
              </a:rPr>
              <a:t>Effects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>
                <a:latin typeface="Arial"/>
              </a:rPr>
              <a:t>Respiratory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3600" dirty="0">
                <a:latin typeface="Times New Roman"/>
              </a:rPr>
              <a:t>• </a:t>
            </a:r>
            <a:r>
              <a:rPr lang="en-US" sz="3600" dirty="0" smtClean="0">
                <a:latin typeface="Times New Roman"/>
              </a:rPr>
              <a:t>depression </a:t>
            </a:r>
            <a:r>
              <a:rPr lang="en-US" sz="3600" dirty="0">
                <a:latin typeface="Times New Roman"/>
              </a:rPr>
              <a:t>of ventilation </a:t>
            </a:r>
            <a:r>
              <a:rPr lang="en-US" sz="3600" dirty="0" smtClean="0">
                <a:latin typeface="Times New Roman"/>
              </a:rPr>
              <a:t>more than </a:t>
            </a:r>
            <a:r>
              <a:rPr lang="en-US" sz="3600" dirty="0">
                <a:latin typeface="Times New Roman"/>
              </a:rPr>
              <a:t>other </a:t>
            </a:r>
            <a:r>
              <a:rPr lang="en-US" sz="3600" dirty="0" smtClean="0">
                <a:latin typeface="Times New Roman"/>
              </a:rPr>
              <a:t>agents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>
                <a:latin typeface="Times New Roman"/>
                <a:cs typeface="Times New Roman"/>
              </a:rPr>
              <a:t>↓in MV </a:t>
            </a:r>
            <a:r>
              <a:rPr lang="en-US" sz="3600" dirty="0" smtClean="0">
                <a:latin typeface="Times New Roman"/>
              </a:rPr>
              <a:t> </a:t>
            </a:r>
            <a:r>
              <a:rPr lang="en-US" sz="3600" dirty="0">
                <a:latin typeface="Times New Roman"/>
              </a:rPr>
              <a:t>and  </a:t>
            </a:r>
            <a:r>
              <a:rPr lang="en-US" sz="3600" dirty="0" smtClean="0">
                <a:latin typeface="Times New Roman"/>
                <a:sym typeface="Symbol"/>
              </a:rPr>
              <a:t> </a:t>
            </a:r>
            <a:r>
              <a:rPr lang="en-US" sz="3600" dirty="0" smtClean="0">
                <a:latin typeface="Times New Roman"/>
              </a:rPr>
              <a:t>in </a:t>
            </a:r>
            <a:r>
              <a:rPr lang="en-US" sz="3600" dirty="0">
                <a:latin typeface="Times New Roman"/>
              </a:rPr>
              <a:t>PaCO2. </a:t>
            </a:r>
            <a:endParaRPr lang="en-US" sz="3600" dirty="0" smtClean="0">
              <a:latin typeface="Times New Roman"/>
            </a:endParaRPr>
          </a:p>
          <a:p>
            <a:pPr marL="0" indent="0">
              <a:buNone/>
            </a:pPr>
            <a:r>
              <a:rPr lang="en-US" sz="3600" dirty="0" smtClean="0">
                <a:latin typeface="Times New Roman"/>
              </a:rPr>
              <a:t>The response</a:t>
            </a:r>
            <a:r>
              <a:rPr lang="en-US" sz="3600" dirty="0"/>
              <a:t> </a:t>
            </a:r>
            <a:r>
              <a:rPr lang="en-US" sz="3600" dirty="0" smtClean="0"/>
              <a:t>t</a:t>
            </a:r>
            <a:r>
              <a:rPr lang="en-US" sz="3600" dirty="0" smtClean="0">
                <a:latin typeface="Times New Roman"/>
              </a:rPr>
              <a:t>o </a:t>
            </a:r>
            <a:r>
              <a:rPr lang="en-US" sz="3600" dirty="0">
                <a:latin typeface="Times New Roman"/>
              </a:rPr>
              <a:t>hypercarbia is blunted.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/>
              <a:t/>
            </a:r>
            <a:br>
              <a:rPr lang="en-US" sz="3600" b="1" dirty="0"/>
            </a:b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11079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Cardiovascular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prstClr val="white"/>
                </a:solidFill>
                <a:latin typeface="Times New Roman"/>
              </a:rPr>
              <a:t>•</a:t>
            </a:r>
            <a:r>
              <a:rPr lang="en-US" sz="3200" b="1" dirty="0">
                <a:solidFill>
                  <a:prstClr val="white"/>
                </a:solidFill>
                <a:latin typeface="Times New Roman"/>
                <a:sym typeface="Symbol"/>
              </a:rPr>
              <a:t>HR </a:t>
            </a:r>
            <a:r>
              <a:rPr lang="en-US" sz="3200" b="1" dirty="0">
                <a:solidFill>
                  <a:prstClr val="white"/>
                </a:solidFill>
                <a:latin typeface="Times New Roman"/>
              </a:rPr>
              <a:t> but  CO, contractility, SVR and B/P fall.</a:t>
            </a:r>
            <a:r>
              <a:rPr lang="en-US" sz="3200" b="1" dirty="0">
                <a:solidFill>
                  <a:prstClr val="white"/>
                </a:solidFill>
              </a:rPr>
              <a:t/>
            </a:r>
            <a:br>
              <a:rPr lang="en-US" sz="3200" b="1" dirty="0">
                <a:solidFill>
                  <a:prstClr val="white"/>
                </a:solidFill>
              </a:rPr>
            </a:br>
            <a:r>
              <a:rPr lang="en-US" sz="3200" b="1" dirty="0">
                <a:solidFill>
                  <a:prstClr val="white"/>
                </a:solidFill>
                <a:latin typeface="Arial"/>
              </a:rPr>
              <a:t>Central nervous system</a:t>
            </a:r>
            <a:r>
              <a:rPr lang="en-US" sz="3200" b="1" dirty="0">
                <a:solidFill>
                  <a:prstClr val="white"/>
                </a:solidFill>
              </a:rPr>
              <a:t/>
            </a:r>
            <a:br>
              <a:rPr lang="en-US" sz="3200" b="1" dirty="0">
                <a:solidFill>
                  <a:prstClr val="white"/>
                </a:solidFill>
              </a:rPr>
            </a:br>
            <a:r>
              <a:rPr lang="en-US" sz="3200" b="1" dirty="0">
                <a:solidFill>
                  <a:prstClr val="white"/>
                </a:solidFill>
                <a:latin typeface="Times New Roman"/>
              </a:rPr>
              <a:t>• High concentrations of enflurane in the presence of </a:t>
            </a:r>
            <a:r>
              <a:rPr lang="en-US" sz="3200" b="1" dirty="0" err="1">
                <a:solidFill>
                  <a:prstClr val="white"/>
                </a:solidFill>
                <a:latin typeface="Times New Roman"/>
              </a:rPr>
              <a:t>hypocarbia</a:t>
            </a:r>
            <a:r>
              <a:rPr lang="en-US" sz="3200" b="1" dirty="0">
                <a:solidFill>
                  <a:prstClr val="white"/>
                </a:solidFill>
              </a:rPr>
              <a:t> </a:t>
            </a:r>
            <a:r>
              <a:rPr lang="en-US" sz="3200" b="1" dirty="0">
                <a:solidFill>
                  <a:prstClr val="white"/>
                </a:solidFill>
                <a:latin typeface="Times New Roman"/>
              </a:rPr>
              <a:t>produce </a:t>
            </a:r>
            <a:r>
              <a:rPr lang="en-US" sz="3200" b="1" dirty="0" smtClean="0">
                <a:solidFill>
                  <a:prstClr val="white"/>
                </a:solidFill>
                <a:latin typeface="Times New Roman"/>
              </a:rPr>
              <a:t>a </a:t>
            </a:r>
            <a:r>
              <a:rPr lang="en-US" sz="3200" b="1" dirty="0">
                <a:solidFill>
                  <a:prstClr val="white"/>
                </a:solidFill>
                <a:latin typeface="Times New Roman"/>
              </a:rPr>
              <a:t>3 Hz spike and wave pattern on the EEG consistent</a:t>
            </a:r>
            <a:r>
              <a:rPr lang="en-US" sz="3200" b="1" dirty="0">
                <a:solidFill>
                  <a:prstClr val="white"/>
                </a:solidFill>
              </a:rPr>
              <a:t> </a:t>
            </a:r>
            <a:r>
              <a:rPr lang="en-US" sz="3200" b="1" dirty="0">
                <a:solidFill>
                  <a:prstClr val="white"/>
                </a:solidFill>
                <a:latin typeface="Times New Roman"/>
              </a:rPr>
              <a:t>with grand mal activity. It is therefore usually avoided in epileptic patients.</a:t>
            </a:r>
            <a:r>
              <a:rPr lang="en-US" sz="3200" b="1" dirty="0">
                <a:solidFill>
                  <a:prstClr val="white"/>
                </a:solidFill>
              </a:rPr>
              <a:t/>
            </a:r>
            <a:br>
              <a:rPr lang="en-US" sz="3200" b="1" dirty="0">
                <a:solidFill>
                  <a:prstClr val="white"/>
                </a:solidFill>
              </a:rPr>
            </a:b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06418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47800" y="914400"/>
            <a:ext cx="7696200" cy="4945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• There is an </a:t>
            </a:r>
            <a:r>
              <a:rPr lang="en-US" sz="2400" b="1" dirty="0" smtClean="0">
                <a:sym typeface="Symbol"/>
              </a:rPr>
              <a:t></a:t>
            </a:r>
            <a:r>
              <a:rPr lang="en-US" sz="2400" b="1" dirty="0" smtClean="0"/>
              <a:t> </a:t>
            </a:r>
            <a:r>
              <a:rPr lang="en-US" sz="2400" b="1" dirty="0"/>
              <a:t>CBF and ICP to a degree </a:t>
            </a:r>
            <a:r>
              <a:rPr lang="en-US" sz="2400" b="1" dirty="0" smtClean="0"/>
              <a:t>in-between halothane </a:t>
            </a:r>
            <a:r>
              <a:rPr lang="en-US" sz="2400" b="1" dirty="0"/>
              <a:t>and isoflurane.</a:t>
            </a:r>
            <a:br>
              <a:rPr lang="en-US" sz="2400" b="1" dirty="0"/>
            </a:br>
            <a:r>
              <a:rPr lang="en-US" sz="2400" b="1" u="sng" dirty="0"/>
              <a:t>Metabolism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>• Only 2% is metabolized by hepatic cytochrome P450. F- ions </a:t>
            </a:r>
            <a:r>
              <a:rPr lang="en-US" sz="2400" b="1" dirty="0" smtClean="0"/>
              <a:t>are produced</a:t>
            </a:r>
            <a:r>
              <a:rPr lang="en-US" sz="2400" b="1" dirty="0"/>
              <a:t>, but rarely reach the concentration (&gt; 40 </a:t>
            </a:r>
            <a:r>
              <a:rPr lang="en-US" sz="2400" b="1" dirty="0" smtClean="0"/>
              <a:t>mcmol.l-1)known </a:t>
            </a:r>
            <a:r>
              <a:rPr lang="en-US" sz="2400" b="1" dirty="0"/>
              <a:t>to produce reversible nephropathy</a:t>
            </a:r>
            <a:r>
              <a:rPr lang="en-US" sz="2400" b="1" dirty="0" smtClean="0"/>
              <a:t>. </a:t>
            </a:r>
            <a:r>
              <a:rPr lang="en-US" sz="2400" b="1" dirty="0"/>
              <a:t>it is </a:t>
            </a:r>
            <a:r>
              <a:rPr lang="en-US" sz="2400" b="1" dirty="0" smtClean="0"/>
              <a:t>usually avoided </a:t>
            </a:r>
            <a:r>
              <a:rPr lang="en-US" sz="2400" b="1" dirty="0"/>
              <a:t>in patients with renal impairment.</a:t>
            </a:r>
            <a:br>
              <a:rPr lang="en-US" sz="2400" b="1" dirty="0"/>
            </a:br>
            <a:r>
              <a:rPr lang="en-US" sz="2400" b="1" u="sng" dirty="0" smtClean="0"/>
              <a:t>Toxicity</a:t>
            </a:r>
          </a:p>
          <a:p>
            <a:pPr marL="0" indent="0">
              <a:buNone/>
            </a:pPr>
            <a:r>
              <a:rPr lang="en-US" sz="2400" b="1" dirty="0" smtClean="0"/>
              <a:t>• </a:t>
            </a:r>
            <a:r>
              <a:rPr lang="en-US" sz="2400" b="1" dirty="0"/>
              <a:t>Hepatic damage may occur.</a:t>
            </a:r>
          </a:p>
        </p:txBody>
      </p:sp>
    </p:spTree>
    <p:extLst>
      <p:ext uri="{BB962C8B-B14F-4D97-AF65-F5344CB8AC3E}">
        <p14:creationId xmlns:p14="http://schemas.microsoft.com/office/powerpoint/2010/main" val="28094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err="1" smtClean="0"/>
              <a:t>DESFlURANE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sz="36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81999" cy="48005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 err="1" smtClean="0">
                <a:latin typeface="Times New Roman"/>
              </a:rPr>
              <a:t>Desfiurane</a:t>
            </a:r>
            <a:r>
              <a:rPr lang="en-US" sz="3200" b="1" dirty="0" smtClean="0">
                <a:latin typeface="Times New Roman"/>
              </a:rPr>
              <a:t> high fluorinated methyl ethyl ether </a:t>
            </a:r>
            <a:r>
              <a:rPr lang="en-US" sz="3200" b="1" dirty="0" err="1" smtClean="0">
                <a:latin typeface="Times New Roman"/>
              </a:rPr>
              <a:t>desflurane</a:t>
            </a:r>
            <a:r>
              <a:rPr lang="en-US" sz="3200" b="1" dirty="0" smtClean="0">
                <a:latin typeface="Times New Roman"/>
              </a:rPr>
              <a:t> </a:t>
            </a:r>
            <a:r>
              <a:rPr lang="en-US" sz="3200" b="1" dirty="0">
                <a:latin typeface="Times New Roman"/>
              </a:rPr>
              <a:t>is very similar to that of </a:t>
            </a:r>
            <a:r>
              <a:rPr lang="en-US" sz="3200" b="1" dirty="0" err="1" smtClean="0">
                <a:latin typeface="Times New Roman"/>
              </a:rPr>
              <a:t>isoflurane</a:t>
            </a:r>
            <a:r>
              <a:rPr lang="en-US" sz="3200" b="1" dirty="0">
                <a:latin typeface="Times New Roman"/>
              </a:rPr>
              <a:t> except </a:t>
            </a:r>
            <a:r>
              <a:rPr lang="en-US" sz="3200" b="1" dirty="0" smtClean="0">
                <a:latin typeface="Times New Roman"/>
              </a:rPr>
              <a:t>substitution </a:t>
            </a:r>
            <a:r>
              <a:rPr lang="en-US" sz="3200" b="1" dirty="0">
                <a:latin typeface="Times New Roman"/>
              </a:rPr>
              <a:t>of a fluorine atom for </a:t>
            </a:r>
            <a:r>
              <a:rPr lang="en-US" sz="3200" b="1" dirty="0" err="1">
                <a:latin typeface="Times New Roman"/>
              </a:rPr>
              <a:t>isoflurane’s</a:t>
            </a:r>
            <a:r>
              <a:rPr lang="en-US" sz="3200" b="1" dirty="0">
                <a:latin typeface="Times New Roman"/>
              </a:rPr>
              <a:t> chlorine atom.</a:t>
            </a:r>
            <a:endParaRPr lang="en-US" sz="3200" b="1" dirty="0" smtClean="0">
              <a:latin typeface="Times New Roman"/>
            </a:endParaRPr>
          </a:p>
          <a:p>
            <a:pPr marL="0" indent="0">
              <a:buNone/>
            </a:pPr>
            <a:r>
              <a:rPr lang="en-US" sz="3000" b="1" dirty="0" smtClean="0">
                <a:latin typeface="Times New Roman"/>
              </a:rPr>
              <a:t>Relatively low BP (23.5°C) makes it extremely</a:t>
            </a:r>
            <a:r>
              <a:rPr lang="en-US" sz="3000" b="1" dirty="0"/>
              <a:t> </a:t>
            </a:r>
            <a:r>
              <a:rPr lang="en-US" sz="3000" b="1" dirty="0" err="1" smtClean="0">
                <a:latin typeface="Times New Roman"/>
              </a:rPr>
              <a:t>volatile,needspecial</a:t>
            </a:r>
            <a:r>
              <a:rPr lang="en-US" sz="3000" b="1" dirty="0" smtClean="0">
                <a:latin typeface="Times New Roman"/>
              </a:rPr>
              <a:t> </a:t>
            </a:r>
            <a:r>
              <a:rPr lang="en-US" sz="3000" b="1" dirty="0" err="1" smtClean="0">
                <a:latin typeface="Times New Roman"/>
              </a:rPr>
              <a:t>veporizer</a:t>
            </a:r>
            <a:r>
              <a:rPr lang="en-US" sz="3000" b="1" dirty="0" smtClean="0">
                <a:latin typeface="Times New Roman"/>
              </a:rPr>
              <a:t>(electronic </a:t>
            </a:r>
            <a:r>
              <a:rPr lang="en-US" sz="3000" b="1" dirty="0">
                <a:latin typeface="Times New Roman"/>
              </a:rPr>
              <a:t>Tec 6 </a:t>
            </a:r>
            <a:r>
              <a:rPr lang="en-US" sz="3000" b="1" dirty="0" smtClean="0">
                <a:latin typeface="Times New Roman"/>
              </a:rPr>
              <a:t>vaporizer).Its low </a:t>
            </a:r>
            <a:r>
              <a:rPr lang="en-US" sz="3000" b="1" dirty="0" err="1" smtClean="0">
                <a:latin typeface="Times New Roman"/>
              </a:rPr>
              <a:t>blood:gas</a:t>
            </a:r>
            <a:r>
              <a:rPr lang="en-US" sz="3000" b="1" dirty="0" smtClean="0"/>
              <a:t> </a:t>
            </a:r>
            <a:r>
              <a:rPr lang="en-US" sz="3000" b="1" dirty="0" smtClean="0">
                <a:latin typeface="Times New Roman"/>
              </a:rPr>
              <a:t>partition coefficient results in fast onset and offset of action. These</a:t>
            </a:r>
            <a:r>
              <a:rPr lang="en-US" sz="3000" b="1" dirty="0" smtClean="0"/>
              <a:t> </a:t>
            </a:r>
            <a:r>
              <a:rPr lang="en-US" sz="3000" b="1" dirty="0" smtClean="0">
                <a:latin typeface="Times New Roman"/>
              </a:rPr>
              <a:t>properties make it ideal for long procedures where rapid wake-up is</a:t>
            </a:r>
            <a:r>
              <a:rPr lang="en-US" sz="3000" b="1" dirty="0"/>
              <a:t> </a:t>
            </a:r>
            <a:r>
              <a:rPr lang="en-US" sz="3000" b="1" dirty="0" smtClean="0">
                <a:latin typeface="Times New Roman"/>
              </a:rPr>
              <a:t>important to assess the patient (e.g. after neurosurgery).</a:t>
            </a:r>
            <a:r>
              <a:rPr lang="en-US" sz="3000" b="1" dirty="0" smtClean="0"/>
              <a:t/>
            </a:r>
            <a:br>
              <a:rPr lang="en-US" sz="3000" b="1" dirty="0" smtClean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53140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4294967295"/>
          </p:nvPr>
        </p:nvSpPr>
        <p:spPr>
          <a:xfrm>
            <a:off x="762000" y="533400"/>
            <a:ext cx="7772400" cy="40528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smtClean="0"/>
              <a:t>Recovery  times </a:t>
            </a:r>
            <a:r>
              <a:rPr lang="en-US" sz="2800" dirty="0"/>
              <a:t>approximately 50% </a:t>
            </a:r>
            <a:r>
              <a:rPr lang="en-US" sz="2800" dirty="0" smtClean="0"/>
              <a:t>less than </a:t>
            </a:r>
            <a:r>
              <a:rPr lang="en-US" sz="2800" dirty="0"/>
              <a:t>those observed following </a:t>
            </a:r>
            <a:r>
              <a:rPr lang="en-US" sz="2800" dirty="0" err="1"/>
              <a:t>isoflurane</a:t>
            </a:r>
            <a:r>
              <a:rPr lang="en-US" sz="2800" dirty="0"/>
              <a:t>. </a:t>
            </a:r>
            <a:r>
              <a:rPr lang="en-US" sz="2800" dirty="0" smtClean="0"/>
              <a:t>Mainly b/c of blood/gad PC  (0.42</a:t>
            </a:r>
            <a:r>
              <a:rPr lang="en-US" sz="2800" dirty="0"/>
              <a:t>) </a:t>
            </a:r>
            <a:r>
              <a:rPr lang="en-US" sz="2800" dirty="0" smtClean="0"/>
              <a:t>even </a:t>
            </a:r>
            <a:r>
              <a:rPr lang="en-US" sz="2800" dirty="0"/>
              <a:t>lower than </a:t>
            </a:r>
            <a:r>
              <a:rPr lang="en-US" sz="2800" dirty="0" smtClean="0"/>
              <a:t>N2O(0.47).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it is 17 times more potent than nitrous </a:t>
            </a:r>
            <a:r>
              <a:rPr lang="en-US" sz="2800" dirty="0" smtClean="0"/>
              <a:t>oxide but one fourth potent than other agents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/>
              <a:t>Rapid </a:t>
            </a:r>
            <a:r>
              <a:rPr lang="en-US" sz="2800" dirty="0" smtClean="0">
                <a:sym typeface="Symbol"/>
              </a:rPr>
              <a:t> in </a:t>
            </a:r>
            <a:r>
              <a:rPr lang="en-US" sz="2800" dirty="0" smtClean="0"/>
              <a:t>concentration </a:t>
            </a:r>
            <a:r>
              <a:rPr lang="en-US" sz="2800" dirty="0" smtClean="0">
                <a:sym typeface="Symbol"/>
              </a:rPr>
              <a:t>HR and  BP</a:t>
            </a:r>
            <a:r>
              <a:rPr lang="en-US" sz="2800" dirty="0" smtClean="0"/>
              <a:t> which can be </a:t>
            </a:r>
            <a:r>
              <a:rPr lang="en-US" sz="2800" dirty="0"/>
              <a:t>attenuated by fentanyl, </a:t>
            </a:r>
            <a:r>
              <a:rPr lang="en-US" sz="2800" dirty="0" err="1"/>
              <a:t>esmolol</a:t>
            </a:r>
            <a:r>
              <a:rPr lang="en-US" sz="2800" dirty="0"/>
              <a:t>, or clonidine</a:t>
            </a:r>
          </a:p>
        </p:txBody>
      </p:sp>
    </p:spTree>
    <p:extLst>
      <p:ext uri="{BB962C8B-B14F-4D97-AF65-F5344CB8AC3E}">
        <p14:creationId xmlns:p14="http://schemas.microsoft.com/office/powerpoint/2010/main" val="126239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90600" y="990600"/>
            <a:ext cx="7391400" cy="3428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>
                <a:latin typeface="Arial"/>
              </a:rPr>
              <a:t>Respiratory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>
                <a:latin typeface="Times New Roman"/>
              </a:rPr>
              <a:t>• </a:t>
            </a:r>
            <a:r>
              <a:rPr lang="en-US" sz="3600" b="1" dirty="0">
                <a:latin typeface="Times New Roman"/>
                <a:sym typeface="Symbol"/>
              </a:rPr>
              <a:t></a:t>
            </a:r>
            <a:r>
              <a:rPr lang="en-US" sz="3600" b="1" dirty="0">
                <a:latin typeface="Times New Roman"/>
              </a:rPr>
              <a:t> PaCO2</a:t>
            </a:r>
            <a:r>
              <a:rPr lang="en-US" sz="3600" b="1" dirty="0"/>
              <a:t> and </a:t>
            </a:r>
            <a:r>
              <a:rPr lang="en-US" sz="3600" b="1" dirty="0" smtClean="0">
                <a:latin typeface="Times New Roman"/>
                <a:cs typeface="Times New Roman"/>
              </a:rPr>
              <a:t>↓ </a:t>
            </a:r>
            <a:r>
              <a:rPr lang="en-US" sz="3600" b="1" dirty="0" smtClean="0">
                <a:latin typeface="Times New Roman"/>
              </a:rPr>
              <a:t>in </a:t>
            </a:r>
            <a:r>
              <a:rPr lang="en-US" sz="3600" b="1" dirty="0">
                <a:latin typeface="Times New Roman"/>
              </a:rPr>
              <a:t>MV . These effects are more pronounced than halothane, but less than isoflurane and enflurane.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/>
              <a:t>Pungency and airway irritation </a:t>
            </a:r>
            <a:r>
              <a:rPr lang="en-US" sz="3600" b="1" dirty="0" smtClean="0"/>
              <a:t>during </a:t>
            </a:r>
            <a:r>
              <a:rPr lang="en-US" sz="3600" b="1" dirty="0" err="1" smtClean="0"/>
              <a:t>desflurane</a:t>
            </a:r>
            <a:r>
              <a:rPr lang="en-US" sz="3600" b="1" dirty="0" smtClean="0"/>
              <a:t> </a:t>
            </a:r>
            <a:r>
              <a:rPr lang="en-US" sz="3600" b="1" dirty="0"/>
              <a:t>induction can be manifested by salivation, breath-holding, </a:t>
            </a:r>
            <a:r>
              <a:rPr lang="en-US" sz="3600" b="1" dirty="0" err="1" smtClean="0"/>
              <a:t>coughing,and</a:t>
            </a:r>
            <a:r>
              <a:rPr lang="en-US" sz="3600" b="1" dirty="0" smtClean="0"/>
              <a:t> </a:t>
            </a:r>
            <a:r>
              <a:rPr lang="en-US" sz="3600" b="1" dirty="0"/>
              <a:t>laryngospasm.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0666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057400" y="1806575"/>
            <a:ext cx="7086600" cy="40528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Airway resistance may increase in children with </a:t>
            </a:r>
            <a:r>
              <a:rPr lang="en-US" sz="3200" b="1" dirty="0" smtClean="0"/>
              <a:t>reactive airway </a:t>
            </a:r>
            <a:r>
              <a:rPr lang="en-US" sz="3200" b="1" dirty="0"/>
              <a:t>susceptibility. These problems make </a:t>
            </a:r>
            <a:r>
              <a:rPr lang="en-US" sz="3200" b="1" dirty="0" err="1"/>
              <a:t>desflurane</a:t>
            </a:r>
            <a:r>
              <a:rPr lang="en-US" sz="3200" b="1" dirty="0"/>
              <a:t> a poor choice </a:t>
            </a:r>
            <a:r>
              <a:rPr lang="en-US" sz="3200" b="1" dirty="0" smtClean="0"/>
              <a:t>for inhalation </a:t>
            </a:r>
            <a:r>
              <a:rPr lang="en-US" sz="3200" b="1" dirty="0"/>
              <a:t>induction</a:t>
            </a:r>
            <a:r>
              <a:rPr lang="en-US" sz="3200" b="1" dirty="0" smtClean="0"/>
              <a:t>.</a:t>
            </a:r>
          </a:p>
          <a:p>
            <a:pPr marL="0" indent="0">
              <a:buNone/>
            </a:pPr>
            <a:r>
              <a:rPr lang="en-US" sz="3200" b="1" dirty="0" err="1"/>
              <a:t>Desflurane</a:t>
            </a:r>
            <a:r>
              <a:rPr lang="en-US" sz="3200" b="1" dirty="0"/>
              <a:t> emergence associated with delirium in some pediatric patients.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8141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90600" y="1066800"/>
            <a:ext cx="8153400" cy="4792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The low solubility of </a:t>
            </a:r>
            <a:r>
              <a:rPr lang="en-US" sz="2800" b="1" dirty="0" err="1"/>
              <a:t>desflurane</a:t>
            </a:r>
            <a:r>
              <a:rPr lang="en-US" sz="2800" b="1" dirty="0"/>
              <a:t> in blood and body tissues causes a </a:t>
            </a:r>
            <a:r>
              <a:rPr lang="en-US" sz="2800" b="1" dirty="0" smtClean="0"/>
              <a:t>very rapid </a:t>
            </a:r>
            <a:r>
              <a:rPr lang="en-US" sz="2800" b="1" dirty="0"/>
              <a:t>induction of and emergence from </a:t>
            </a:r>
            <a:r>
              <a:rPr lang="en-US" sz="2800" b="1" dirty="0" err="1" smtClean="0"/>
              <a:t>anesthesia.Rapid</a:t>
            </a:r>
            <a:r>
              <a:rPr lang="en-US" sz="2800" b="1" dirty="0" smtClean="0"/>
              <a:t> </a:t>
            </a:r>
            <a:r>
              <a:rPr lang="en-US" sz="2800" b="1" dirty="0"/>
              <a:t>increases in </a:t>
            </a:r>
            <a:r>
              <a:rPr lang="en-US" sz="2800" b="1" dirty="0" err="1"/>
              <a:t>desflurane</a:t>
            </a:r>
            <a:r>
              <a:rPr lang="en-US" sz="2800" b="1" dirty="0"/>
              <a:t> concentration lead to transient </a:t>
            </a:r>
            <a:r>
              <a:rPr lang="en-US" sz="2800" b="1" dirty="0" smtClean="0"/>
              <a:t>but sometimes </a:t>
            </a:r>
            <a:r>
              <a:rPr lang="en-US" sz="2800" b="1" dirty="0"/>
              <a:t>worrisome elevations in heart rate, blood pressure, </a:t>
            </a:r>
            <a:r>
              <a:rPr lang="en-US" sz="2800" b="1" dirty="0" smtClean="0"/>
              <a:t>and catecholamine </a:t>
            </a:r>
            <a:r>
              <a:rPr lang="en-US" sz="2800" b="1" dirty="0"/>
              <a:t>levels that are more pronounced than occur </a:t>
            </a:r>
            <a:r>
              <a:rPr lang="en-US" sz="2800" b="1" dirty="0" smtClean="0"/>
              <a:t>with isoflurane</a:t>
            </a:r>
            <a:r>
              <a:rPr lang="en-US" sz="2800" b="1" dirty="0"/>
              <a:t>, particularly in patients with cardiovascular disease.</a:t>
            </a:r>
          </a:p>
        </p:txBody>
      </p:sp>
    </p:spTree>
    <p:extLst>
      <p:ext uri="{BB962C8B-B14F-4D97-AF65-F5344CB8AC3E}">
        <p14:creationId xmlns:p14="http://schemas.microsoft.com/office/powerpoint/2010/main" val="105544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0"/>
            <a:ext cx="7543800" cy="48688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Cardiovascular</a:t>
            </a:r>
          </a:p>
          <a:p>
            <a:pPr marL="0" indent="0">
              <a:buNone/>
            </a:pPr>
            <a:r>
              <a:rPr lang="en-US" sz="2800" b="1" dirty="0"/>
              <a:t>markedly ↓ SVR resulting in compensatory tachycardia.</a:t>
            </a:r>
          </a:p>
          <a:p>
            <a:pPr marL="0" indent="0">
              <a:buNone/>
            </a:pPr>
            <a:r>
              <a:rPr lang="en-US" sz="2800" b="1" dirty="0"/>
              <a:t> small decrease in </a:t>
            </a:r>
            <a:r>
              <a:rPr lang="en-US" sz="2800" b="1" dirty="0" smtClean="0"/>
              <a:t>myocardial contractility</a:t>
            </a:r>
            <a:r>
              <a:rPr lang="en-US" sz="2800" b="1" dirty="0"/>
              <a:t>, but in concentrations above </a:t>
            </a:r>
            <a:r>
              <a:rPr lang="en-US" sz="2800" b="1" dirty="0" smtClean="0"/>
              <a:t>1MAC</a:t>
            </a:r>
            <a:r>
              <a:rPr lang="en-US" sz="2800" b="1" dirty="0"/>
              <a:t>, </a:t>
            </a:r>
            <a:r>
              <a:rPr lang="en-US" sz="2800" b="1" dirty="0" err="1"/>
              <a:t>desflurane</a:t>
            </a:r>
            <a:r>
              <a:rPr lang="en-US" sz="2800" b="1" dirty="0"/>
              <a:t> may produce tachycardia and hypertension.</a:t>
            </a:r>
            <a:br>
              <a:rPr lang="en-US" sz="2800" b="1" dirty="0"/>
            </a:br>
            <a:r>
              <a:rPr lang="en-US" sz="2800" b="1" dirty="0"/>
              <a:t>• Care should be taken in patients with </a:t>
            </a:r>
            <a:r>
              <a:rPr lang="en-US" sz="2800" b="1" dirty="0" smtClean="0"/>
              <a:t>IHD.</a:t>
            </a:r>
            <a:r>
              <a:rPr lang="en-US" sz="2800" b="1" dirty="0"/>
              <a:t/>
            </a:r>
            <a:br>
              <a:rPr lang="en-US" sz="2800" b="1" dirty="0"/>
            </a:b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7003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019300" y="1676400"/>
            <a:ext cx="7124700" cy="4052888"/>
          </a:xfrm>
        </p:spPr>
        <p:txBody>
          <a:bodyPr>
            <a:normAutofit fontScale="92500"/>
          </a:bodyPr>
          <a:lstStyle/>
          <a:p>
            <a:pPr marL="0" lvl="0" indent="0">
              <a:buClr>
                <a:srgbClr val="FF9000"/>
              </a:buClr>
              <a:buNone/>
            </a:pPr>
            <a:r>
              <a:rPr lang="en-US" sz="2800" b="1" dirty="0" smtClean="0">
                <a:solidFill>
                  <a:prstClr val="white"/>
                </a:solidFill>
              </a:rPr>
              <a:t>React with co2 absorbent may increase </a:t>
            </a:r>
            <a:r>
              <a:rPr lang="en-US" sz="2800" b="1" dirty="0" smtClean="0"/>
              <a:t>carbon monoxide                                                        Vascular </a:t>
            </a:r>
            <a:r>
              <a:rPr lang="en-US" sz="2800" b="1" dirty="0"/>
              <a:t>resistance falls in the </a:t>
            </a:r>
            <a:r>
              <a:rPr lang="en-US" sz="2800" b="1" dirty="0" err="1" smtClean="0"/>
              <a:t>cerebral&amp;coronary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circulations.Metabolism</a:t>
            </a:r>
            <a:r>
              <a:rPr lang="en-US" sz="2800" b="1" dirty="0" smtClean="0"/>
              <a:t> </a:t>
            </a:r>
            <a:r>
              <a:rPr lang="en-US" sz="2800" b="1" dirty="0"/>
              <a:t>is  Only 0.02</a:t>
            </a:r>
            <a:r>
              <a:rPr lang="en-US" sz="2800" b="1" dirty="0" smtClean="0"/>
              <a:t>%.</a:t>
            </a:r>
          </a:p>
          <a:p>
            <a:pPr marL="0" lvl="0" indent="0">
              <a:buClr>
                <a:srgbClr val="FF9000"/>
              </a:buClr>
              <a:buNone/>
            </a:pPr>
            <a:r>
              <a:rPr lang="en-US" sz="2800" b="1" dirty="0"/>
              <a:t>Disposing of dried out absorbent or use of calcium hydroxide can</a:t>
            </a:r>
          </a:p>
          <a:p>
            <a:pPr marL="0" lvl="0" indent="0">
              <a:buClr>
                <a:srgbClr val="FF9000"/>
              </a:buClr>
              <a:buNone/>
            </a:pPr>
            <a:r>
              <a:rPr lang="en-US" sz="2800" b="1" dirty="0"/>
              <a:t>minimize the risk of carbon monoxide poisoning.</a:t>
            </a:r>
          </a:p>
        </p:txBody>
      </p:sp>
    </p:spTree>
    <p:extLst>
      <p:ext uri="{BB962C8B-B14F-4D97-AF65-F5344CB8AC3E}">
        <p14:creationId xmlns:p14="http://schemas.microsoft.com/office/powerpoint/2010/main" val="284507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        sevoflurine </a:t>
            </a:r>
            <a:endParaRPr lang="en-US" sz="40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 smtClean="0"/>
              <a:t>it is </a:t>
            </a:r>
            <a:r>
              <a:rPr lang="en-US" sz="3200" b="1" dirty="0"/>
              <a:t>a </a:t>
            </a:r>
            <a:r>
              <a:rPr lang="en-US" sz="3200" b="1" dirty="0" err="1"/>
              <a:t>polyfluorinated</a:t>
            </a:r>
            <a:r>
              <a:rPr lang="en-US" sz="3200" b="1" dirty="0"/>
              <a:t> isopropyl methyl ether</a:t>
            </a:r>
            <a:r>
              <a:rPr lang="en-US" sz="3200" b="1" dirty="0" smtClean="0"/>
              <a:t>       </a:t>
            </a:r>
          </a:p>
          <a:p>
            <a:pPr marL="0" indent="0">
              <a:buNone/>
            </a:pPr>
            <a:r>
              <a:rPr lang="en-US" sz="3200" b="1" dirty="0" smtClean="0">
                <a:latin typeface="Arial"/>
              </a:rPr>
              <a:t>Effects/Respiratory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>
                <a:latin typeface="Times New Roman"/>
              </a:rPr>
              <a:t>• </a:t>
            </a:r>
            <a:r>
              <a:rPr lang="en-US" sz="3200" b="1" dirty="0" smtClean="0">
                <a:latin typeface="Times New Roman"/>
                <a:cs typeface="Times New Roman"/>
              </a:rPr>
              <a:t>↓ </a:t>
            </a:r>
            <a:r>
              <a:rPr lang="en-US" sz="3200" b="1" dirty="0" smtClean="0">
                <a:latin typeface="Times New Roman"/>
              </a:rPr>
              <a:t>Ventilation and MV but  </a:t>
            </a:r>
            <a:r>
              <a:rPr lang="en-US" sz="3200" b="1" dirty="0" smtClean="0">
                <a:latin typeface="Times New Roman"/>
                <a:sym typeface="Symbol"/>
              </a:rPr>
              <a:t></a:t>
            </a:r>
            <a:r>
              <a:rPr lang="en-US" sz="3200" b="1" dirty="0" smtClean="0">
                <a:latin typeface="Times New Roman"/>
              </a:rPr>
              <a:t>PaCO2 .</a:t>
            </a: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>
                <a:latin typeface="Times New Roman"/>
              </a:rPr>
              <a:t>• </a:t>
            </a:r>
            <a:r>
              <a:rPr lang="en-US" sz="3200" b="1" dirty="0" smtClean="0">
                <a:latin typeface="Times New Roman"/>
              </a:rPr>
              <a:t>has  </a:t>
            </a:r>
            <a:r>
              <a:rPr lang="en-US" sz="3200" b="1" dirty="0">
                <a:latin typeface="Times New Roman"/>
              </a:rPr>
              <a:t>pleasant </a:t>
            </a:r>
            <a:r>
              <a:rPr lang="en-US" sz="3200" b="1" dirty="0" smtClean="0">
                <a:latin typeface="Times New Roman"/>
              </a:rPr>
              <a:t>odor </a:t>
            </a:r>
            <a:r>
              <a:rPr lang="en-US" sz="3200" b="1" dirty="0">
                <a:latin typeface="Times New Roman"/>
              </a:rPr>
              <a:t>and </a:t>
            </a:r>
            <a:r>
              <a:rPr lang="en-US" sz="3200" b="1" dirty="0" smtClean="0">
                <a:latin typeface="Times New Roman"/>
              </a:rPr>
              <a:t> </a:t>
            </a:r>
            <a:r>
              <a:rPr lang="en-US" sz="3200" b="1" dirty="0">
                <a:latin typeface="Times New Roman"/>
              </a:rPr>
              <a:t>low </a:t>
            </a:r>
            <a:r>
              <a:rPr lang="en-US" sz="3200" b="1" dirty="0" err="1">
                <a:latin typeface="Times New Roman"/>
              </a:rPr>
              <a:t>blood:gas</a:t>
            </a:r>
            <a:r>
              <a:rPr lang="en-US" sz="3200" b="1" dirty="0">
                <a:latin typeface="Times New Roman"/>
              </a:rPr>
              <a:t> </a:t>
            </a:r>
            <a:r>
              <a:rPr lang="en-US" sz="3200" b="1" dirty="0" smtClean="0">
                <a:latin typeface="Times New Roman"/>
              </a:rPr>
              <a:t>PC make </a:t>
            </a:r>
            <a:r>
              <a:rPr lang="en-US" sz="3200" b="1" dirty="0">
                <a:latin typeface="Times New Roman"/>
              </a:rPr>
              <a:t>it particularly suitable for induction.</a:t>
            </a: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2004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06575"/>
            <a:ext cx="7391400" cy="4052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Cardiovascular</a:t>
            </a:r>
            <a:br>
              <a:rPr lang="en-US" sz="3600" b="1" dirty="0"/>
            </a:br>
            <a:r>
              <a:rPr lang="en-US" sz="3600" b="1" dirty="0"/>
              <a:t>• Heart rate and contractility are unchanged, but a fall in SVR leads to ↓B/P.</a:t>
            </a:r>
            <a:br>
              <a:rPr lang="en-US" sz="3600" b="1" dirty="0"/>
            </a:br>
            <a:r>
              <a:rPr lang="en-US" sz="3600" b="1" dirty="0"/>
              <a:t>• Vascular resistance in the cerebral and coronary circulations is reduced </a:t>
            </a:r>
          </a:p>
        </p:txBody>
      </p:sp>
    </p:spTree>
    <p:extLst>
      <p:ext uri="{BB962C8B-B14F-4D97-AF65-F5344CB8AC3E}">
        <p14:creationId xmlns:p14="http://schemas.microsoft.com/office/powerpoint/2010/main" val="62698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38200"/>
            <a:ext cx="8229600" cy="5021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Central nervous system</a:t>
            </a:r>
            <a:br>
              <a:rPr lang="en-US" sz="2800" b="1" dirty="0"/>
            </a:br>
            <a:r>
              <a:rPr lang="en-US" sz="2800" b="1" dirty="0" smtClean="0"/>
              <a:t>•children </a:t>
            </a:r>
            <a:r>
              <a:rPr lang="en-US" sz="2800" b="1" dirty="0"/>
              <a:t>exhibit a higher incidence</a:t>
            </a:r>
            <a:br>
              <a:rPr lang="en-US" sz="2800" b="1" dirty="0"/>
            </a:br>
            <a:r>
              <a:rPr lang="en-US" sz="2800" b="1" dirty="0"/>
              <a:t>of post operative agitation and delirium compared with halothane.</a:t>
            </a:r>
            <a:br>
              <a:rPr lang="en-US" sz="2800" b="1" dirty="0"/>
            </a:br>
            <a:r>
              <a:rPr lang="en-US" sz="2800" b="1" dirty="0"/>
              <a:t>Metabolism</a:t>
            </a:r>
            <a:br>
              <a:rPr lang="en-US" sz="2800" b="1" dirty="0"/>
            </a:br>
            <a:r>
              <a:rPr lang="en-US" sz="2800" b="1" dirty="0"/>
              <a:t>•The liver microsomal enzyme P-450 </a:t>
            </a:r>
            <a:r>
              <a:rPr lang="en-US" sz="2800" b="1" dirty="0" smtClean="0"/>
              <a:t>(2E1 </a:t>
            </a:r>
            <a:r>
              <a:rPr lang="en-US" sz="2800" b="1" dirty="0"/>
              <a:t>isoform) metabolizes </a:t>
            </a:r>
            <a:r>
              <a:rPr lang="en-US" sz="2800" b="1" dirty="0" smtClean="0"/>
              <a:t>to </a:t>
            </a:r>
            <a:r>
              <a:rPr lang="en-US" sz="2800" b="1" dirty="0" err="1" smtClean="0"/>
              <a:t>Hexafluoroisopropanol</a:t>
            </a:r>
            <a:r>
              <a:rPr lang="en-US" sz="2800" b="1" dirty="0" smtClean="0"/>
              <a:t> </a:t>
            </a:r>
            <a:r>
              <a:rPr lang="en-US" sz="2800" b="1" dirty="0"/>
              <a:t>and </a:t>
            </a:r>
            <a:r>
              <a:rPr lang="en-US" sz="2800" b="1" dirty="0" smtClean="0"/>
              <a:t>inorganic F-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14694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066800"/>
            <a:ext cx="7162800" cy="4792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inorganic fluoride (F−)  Which  have nephrotoxicity  Serum fluoride concentrations exceed 50 </a:t>
            </a:r>
            <a:r>
              <a:rPr lang="el-GR" sz="2800" b="1" dirty="0"/>
              <a:t>μ</a:t>
            </a:r>
            <a:r>
              <a:rPr lang="en-US" sz="2800" b="1" dirty="0" err="1"/>
              <a:t>mol</a:t>
            </a:r>
            <a:r>
              <a:rPr lang="en-US" sz="2800" b="1" dirty="0"/>
              <a:t>/L in approximately 7% of patients but  kidney dysfunction not reported.</a:t>
            </a:r>
          </a:p>
          <a:p>
            <a:pPr marL="0" indent="0">
              <a:buNone/>
            </a:pPr>
            <a:r>
              <a:rPr lang="en-US" sz="2800" b="1" dirty="0"/>
              <a:t>RENAL</a:t>
            </a:r>
          </a:p>
          <a:p>
            <a:pPr marL="0" indent="0">
              <a:buNone/>
            </a:pPr>
            <a:r>
              <a:rPr lang="en-US" sz="2800" b="1" dirty="0"/>
              <a:t>↓renal blood flow. Its metabolism  impaired renal tubule function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79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524000"/>
            <a:ext cx="7924800" cy="43354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Similar to </a:t>
            </a:r>
            <a:r>
              <a:rPr lang="en-US" sz="2800" b="1" dirty="0" err="1"/>
              <a:t>isoflurane</a:t>
            </a:r>
            <a:r>
              <a:rPr lang="en-US" sz="2800" b="1" dirty="0"/>
              <a:t> and </a:t>
            </a:r>
            <a:r>
              <a:rPr lang="en-US" sz="2800" b="1" dirty="0" err="1"/>
              <a:t>desflurane</a:t>
            </a:r>
            <a:r>
              <a:rPr lang="en-US" sz="2800" b="1" dirty="0"/>
              <a:t>, </a:t>
            </a:r>
            <a:r>
              <a:rPr lang="en-US" sz="2800" b="1" dirty="0" err="1" smtClean="0"/>
              <a:t>sevoflurane</a:t>
            </a:r>
            <a:r>
              <a:rPr lang="en-US" sz="2800" b="1" dirty="0" smtClean="0"/>
              <a:t> slight increases </a:t>
            </a:r>
            <a:r>
              <a:rPr lang="en-US" sz="2800" b="1" dirty="0"/>
              <a:t>in </a:t>
            </a:r>
            <a:r>
              <a:rPr lang="en-US" sz="2800" b="1" dirty="0" smtClean="0"/>
              <a:t>CBF and ICP in </a:t>
            </a:r>
            <a:r>
              <a:rPr lang="en-US" sz="2800" b="1" dirty="0" err="1" smtClean="0"/>
              <a:t>normocarbia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pts</a:t>
            </a:r>
            <a:endParaRPr lang="en-US" sz="2800" b="1" dirty="0" smtClean="0"/>
          </a:p>
          <a:p>
            <a:pPr marL="0" indent="0">
              <a:buNone/>
            </a:pPr>
            <a:r>
              <a:rPr lang="en-US" sz="2800" b="1" dirty="0"/>
              <a:t>&gt;1.5 </a:t>
            </a:r>
            <a:r>
              <a:rPr lang="en-US" sz="2800" b="1" dirty="0" smtClean="0"/>
              <a:t>MAC may impair </a:t>
            </a:r>
            <a:r>
              <a:rPr lang="en-US" sz="2800" b="1" dirty="0" err="1" smtClean="0"/>
              <a:t>autoregulation</a:t>
            </a:r>
            <a:r>
              <a:rPr lang="en-US" sz="2800" b="1" dirty="0" smtClean="0"/>
              <a:t> </a:t>
            </a:r>
            <a:r>
              <a:rPr lang="en-US" sz="2800" b="1" dirty="0"/>
              <a:t>of CBF, thus allowing a drop in CBF </a:t>
            </a:r>
            <a:r>
              <a:rPr lang="en-US" sz="2800" b="1" dirty="0" smtClean="0"/>
              <a:t> this effect less pronounced than </a:t>
            </a:r>
            <a:r>
              <a:rPr lang="en-US" sz="2800" b="1" dirty="0"/>
              <a:t>with </a:t>
            </a:r>
            <a:r>
              <a:rPr lang="en-US" sz="2800" b="1" dirty="0" err="1" smtClean="0"/>
              <a:t>isoflurane</a:t>
            </a:r>
            <a:r>
              <a:rPr lang="en-US" sz="2800" b="1" dirty="0" smtClean="0"/>
              <a:t>.                                                         produces </a:t>
            </a:r>
            <a:r>
              <a:rPr lang="en-US" sz="2800" b="1" dirty="0"/>
              <a:t>adequate muscle relaxation for intubation following </a:t>
            </a:r>
            <a:r>
              <a:rPr lang="en-US" sz="2800" b="1" dirty="0" smtClean="0"/>
              <a:t>an inhalation </a:t>
            </a:r>
            <a:r>
              <a:rPr lang="en-US" sz="2800" b="1" dirty="0"/>
              <a:t>induction</a:t>
            </a:r>
          </a:p>
        </p:txBody>
      </p:sp>
    </p:spTree>
    <p:extLst>
      <p:ext uri="{BB962C8B-B14F-4D97-AF65-F5344CB8AC3E}">
        <p14:creationId xmlns:p14="http://schemas.microsoft.com/office/powerpoint/2010/main" val="3358396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47800" y="1752600"/>
            <a:ext cx="7696200" cy="41068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>
                <a:latin typeface="Arial"/>
              </a:rPr>
              <a:t>Toxicity</a:t>
            </a: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>
                <a:latin typeface="Times New Roman"/>
              </a:rPr>
              <a:t>When </a:t>
            </a:r>
            <a:r>
              <a:rPr lang="en-US" sz="3200" b="1" dirty="0" err="1">
                <a:latin typeface="Times New Roman"/>
              </a:rPr>
              <a:t>sevoflurane</a:t>
            </a:r>
            <a:r>
              <a:rPr lang="en-US" sz="3200" b="1" dirty="0">
                <a:latin typeface="Times New Roman"/>
              </a:rPr>
              <a:t> is administered in a circle system using soda lime or</a:t>
            </a: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 err="1">
                <a:latin typeface="Times New Roman"/>
              </a:rPr>
              <a:t>baralyme</a:t>
            </a:r>
            <a:r>
              <a:rPr lang="en-US" sz="3200" b="1" dirty="0">
                <a:latin typeface="Times New Roman"/>
              </a:rPr>
              <a:t>, a number of compounds are produced, named compounds</a:t>
            </a: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>
                <a:latin typeface="Times New Roman"/>
              </a:rPr>
              <a:t>A-E. Only compounds A and B are present in </a:t>
            </a:r>
            <a:r>
              <a:rPr lang="en-US" sz="3200" b="1" dirty="0" smtClean="0">
                <a:latin typeface="Times New Roman"/>
              </a:rPr>
              <a:t>significant </a:t>
            </a:r>
            <a:r>
              <a:rPr lang="en-US" sz="3200" b="1" dirty="0" smtClean="0">
                <a:solidFill>
                  <a:prstClr val="white"/>
                </a:solidFill>
                <a:latin typeface="Times New Roman"/>
              </a:rPr>
              <a:t>quantities</a:t>
            </a:r>
            <a:r>
              <a:rPr lang="en-US" sz="3200" b="1" dirty="0" smtClean="0">
                <a:latin typeface="Times New Roman"/>
              </a:rPr>
              <a:t> 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855983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09800" y="1447800"/>
            <a:ext cx="6934200" cy="4411663"/>
          </a:xfrm>
        </p:spPr>
        <p:txBody>
          <a:bodyPr/>
          <a:lstStyle/>
          <a:p>
            <a:pPr marL="0" lvl="0" indent="0">
              <a:buClr>
                <a:srgbClr val="FF9000"/>
              </a:buClr>
              <a:buNone/>
            </a:pPr>
            <a:r>
              <a:rPr lang="en-US" sz="3200" b="1" dirty="0" smtClean="0">
                <a:latin typeface="Times New Roman"/>
              </a:rPr>
              <a:t>Their </a:t>
            </a:r>
            <a:r>
              <a:rPr lang="en-US" sz="3200" b="1" dirty="0">
                <a:latin typeface="Times New Roman"/>
              </a:rPr>
              <a:t>formation is </a:t>
            </a:r>
            <a:r>
              <a:rPr lang="en-US" sz="3200" b="1" dirty="0" smtClean="0">
                <a:latin typeface="Times New Roman"/>
              </a:rPr>
              <a:t>favored </a:t>
            </a:r>
            <a:r>
              <a:rPr lang="en-US" sz="3200" b="1" dirty="0">
                <a:latin typeface="Times New Roman"/>
              </a:rPr>
              <a:t>in the presence of KOH then NaOH based absorbents, particularly </a:t>
            </a:r>
            <a:r>
              <a:rPr lang="en-US" sz="3200" b="1" dirty="0" smtClean="0">
                <a:latin typeface="Times New Roman"/>
              </a:rPr>
              <a:t>dry but not in </a:t>
            </a:r>
            <a:r>
              <a:rPr lang="en-US" sz="3200" b="1" dirty="0" err="1" smtClean="0">
                <a:latin typeface="Times New Roman"/>
              </a:rPr>
              <a:t>CaoH</a:t>
            </a:r>
            <a:r>
              <a:rPr lang="en-US" sz="3200" b="1" dirty="0" smtClean="0">
                <a:latin typeface="Times New Roman"/>
              </a:rPr>
              <a:t>. </a:t>
            </a:r>
          </a:p>
          <a:p>
            <a:pPr marL="0" lvl="0" indent="0">
              <a:buClr>
                <a:srgbClr val="FF9000"/>
              </a:buClr>
              <a:buNone/>
            </a:pPr>
            <a:r>
              <a:rPr lang="en-US" sz="3200" b="1" dirty="0" smtClean="0">
                <a:latin typeface="Times New Roman"/>
              </a:rPr>
              <a:t>Compound A rarely nephrotoxicity compound B no effect in human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0715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371600"/>
            <a:ext cx="7467600" cy="44116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 smtClean="0"/>
              <a:t>Non pungency </a:t>
            </a:r>
            <a:r>
              <a:rPr lang="en-US" sz="3600" b="1" dirty="0"/>
              <a:t>and rapid increases in alveolar anesthetic </a:t>
            </a:r>
            <a:r>
              <a:rPr lang="en-US" sz="3600" b="1" dirty="0" smtClean="0"/>
              <a:t>concentration  make </a:t>
            </a:r>
            <a:r>
              <a:rPr lang="en-US" sz="3600" b="1" dirty="0" err="1"/>
              <a:t>sevoflurane</a:t>
            </a:r>
            <a:r>
              <a:rPr lang="en-US" sz="3600" b="1" dirty="0"/>
              <a:t> an excellent choice for smooth and </a:t>
            </a:r>
            <a:r>
              <a:rPr lang="en-US" sz="3600" b="1" dirty="0" smtClean="0"/>
              <a:t>rapid inhalation inductions </a:t>
            </a:r>
            <a:r>
              <a:rPr lang="en-US" sz="3600" b="1" dirty="0"/>
              <a:t>in pediatric and adult patients</a:t>
            </a:r>
            <a:r>
              <a:rPr lang="en-US" sz="3600" b="1" dirty="0" smtClean="0"/>
              <a:t>.</a:t>
            </a:r>
          </a:p>
          <a:p>
            <a:pPr marL="0" indent="0">
              <a:buNone/>
            </a:pP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041546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05000" y="1806575"/>
            <a:ext cx="7239000" cy="3679825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 smtClean="0"/>
              <a:t>inhalation induction with 4% to 8% </a:t>
            </a:r>
            <a:r>
              <a:rPr lang="en-US" sz="3200" b="1" dirty="0" err="1" smtClean="0"/>
              <a:t>sevoflurane</a:t>
            </a:r>
            <a:r>
              <a:rPr lang="en-US" sz="3200" b="1" dirty="0" smtClean="0"/>
              <a:t> in a 50% mixture of nitrous oxide and oxygen can be achieved within 1 min.</a:t>
            </a:r>
          </a:p>
          <a:p>
            <a:pPr marL="0" indent="0">
              <a:buNone/>
            </a:pPr>
            <a:r>
              <a:rPr lang="en-US" sz="3200" b="1" dirty="0" smtClean="0"/>
              <a:t>reverses bronchospasm similar to </a:t>
            </a:r>
            <a:r>
              <a:rPr lang="en-US" sz="3200" b="1" dirty="0" err="1" smtClean="0"/>
              <a:t>isoflurane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633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XENON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762000" y="1524001"/>
            <a:ext cx="7372555" cy="4334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It  </a:t>
            </a:r>
            <a:r>
              <a:rPr lang="en-US" sz="2800" b="1" dirty="0"/>
              <a:t>is a noble gas </a:t>
            </a:r>
            <a:r>
              <a:rPr lang="en-US" sz="2800" b="1" dirty="0" smtClean="0"/>
              <a:t>with anesthetic properties.. </a:t>
            </a:r>
            <a:r>
              <a:rPr lang="en-US" sz="2800" b="1" dirty="0"/>
              <a:t>Xenon is scavenged </a:t>
            </a:r>
            <a:r>
              <a:rPr lang="en-US" sz="2800" b="1" dirty="0" smtClean="0"/>
              <a:t>from the </a:t>
            </a:r>
            <a:r>
              <a:rPr lang="en-US" sz="2800" b="1" dirty="0"/>
              <a:t>atmosphere through a costly distillation process. </a:t>
            </a:r>
            <a:endParaRPr lang="en-US" sz="2800" b="1" dirty="0" smtClean="0"/>
          </a:p>
          <a:p>
            <a:pPr marL="0" indent="0">
              <a:buNone/>
            </a:pPr>
            <a:r>
              <a:rPr lang="en-US" sz="2800" b="1" dirty="0" smtClean="0"/>
              <a:t>It </a:t>
            </a:r>
            <a:r>
              <a:rPr lang="en-US" sz="2800" b="1" dirty="0"/>
              <a:t>is an </a:t>
            </a:r>
            <a:r>
              <a:rPr lang="en-US" sz="2800" b="1" dirty="0" smtClean="0"/>
              <a:t>odorless, non explosive</a:t>
            </a:r>
            <a:r>
              <a:rPr lang="en-US" sz="2800" b="1" dirty="0"/>
              <a:t>, naturally occurring gas with a MAC of 71% and a </a:t>
            </a:r>
            <a:r>
              <a:rPr lang="en-US" sz="2800" b="1" dirty="0" smtClean="0"/>
              <a:t>blood/gas coefficient </a:t>
            </a:r>
            <a:r>
              <a:rPr lang="en-US" sz="2800" b="1" dirty="0"/>
              <a:t>of </a:t>
            </a:r>
            <a:r>
              <a:rPr lang="en-US" sz="2800" b="1" dirty="0" smtClean="0"/>
              <a:t>0.115 so fast </a:t>
            </a:r>
            <a:r>
              <a:rPr lang="en-US" sz="2800" b="1" dirty="0" err="1" smtClean="0"/>
              <a:t>onset&amp;recovery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02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95400" y="1371600"/>
            <a:ext cx="7848600" cy="44878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have little effect on cardiovascular, hepatic, or renal </a:t>
            </a:r>
            <a:r>
              <a:rPr lang="en-US" sz="2800" b="1" dirty="0" smtClean="0"/>
              <a:t>systems.</a:t>
            </a:r>
          </a:p>
          <a:p>
            <a:pPr marL="0" indent="0">
              <a:buNone/>
            </a:pPr>
            <a:r>
              <a:rPr lang="en-US" sz="2800" b="1" dirty="0" smtClean="0"/>
              <a:t>Xenon </a:t>
            </a:r>
            <a:r>
              <a:rPr lang="en-US" sz="2800" b="1" dirty="0"/>
              <a:t>inhalation combined </a:t>
            </a:r>
            <a:r>
              <a:rPr lang="en-US" sz="2800" b="1" dirty="0" smtClean="0"/>
              <a:t>with hypothermia believe to be </a:t>
            </a:r>
            <a:r>
              <a:rPr lang="en-US" sz="2800" b="1" dirty="0"/>
              <a:t>protective </a:t>
            </a:r>
            <a:r>
              <a:rPr lang="en-US" sz="2800" b="1" dirty="0" smtClean="0"/>
              <a:t>to </a:t>
            </a:r>
            <a:r>
              <a:rPr lang="en-US" sz="2800" b="1" dirty="0"/>
              <a:t>prevent </a:t>
            </a:r>
            <a:r>
              <a:rPr lang="en-US" sz="2800" b="1" dirty="0" smtClean="0"/>
              <a:t>cerebral damage </a:t>
            </a:r>
            <a:r>
              <a:rPr lang="en-US" sz="2800" b="1" dirty="0"/>
              <a:t>following ischemic brain injury</a:t>
            </a:r>
            <a:r>
              <a:rPr lang="en-US" sz="2800" b="1" dirty="0" smtClean="0"/>
              <a:t>.                              less </a:t>
            </a:r>
            <a:r>
              <a:rPr lang="en-US" sz="2800" b="1" dirty="0"/>
              <a:t>postoperative delirium compared with </a:t>
            </a:r>
            <a:r>
              <a:rPr lang="en-US" sz="2800" b="1" dirty="0" err="1"/>
              <a:t>sevoflurane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5340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5" t="7046" r="22804" b="6217"/>
          <a:stretch/>
        </p:blipFill>
        <p:spPr bwMode="auto">
          <a:xfrm>
            <a:off x="294808" y="609600"/>
            <a:ext cx="8119850" cy="5693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4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83" t="13445" r="17451" b="41528"/>
          <a:stretch/>
        </p:blipFill>
        <p:spPr bwMode="auto">
          <a:xfrm>
            <a:off x="391886" y="762000"/>
            <a:ext cx="8523514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SULAIMAN J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4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5937</TotalTime>
  <Words>3107</Words>
  <Application>Microsoft Office PowerPoint</Application>
  <PresentationFormat>On-screen Show (4:3)</PresentationFormat>
  <Paragraphs>323</Paragraphs>
  <Slides>90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1" baseType="lpstr">
      <vt:lpstr>Civic</vt:lpstr>
      <vt:lpstr> Inhalational anesthesia agent for anesthesia Bsc 2022/23</vt:lpstr>
      <vt:lpstr>PowerPoint Presentation</vt:lpstr>
      <vt:lpstr>PowerPoint Presentation</vt:lpstr>
      <vt:lpstr>PowerPoint Presentation</vt:lpstr>
      <vt:lpstr>Pharmacokinetics of Inhalation Anesthetics </vt:lpstr>
      <vt:lpstr>PowerPoint Presentation</vt:lpstr>
      <vt:lpstr>PowerPoint Presentation</vt:lpstr>
      <vt:lpstr>PowerPoint Presentation</vt:lpstr>
      <vt:lpstr>The Ideal Inhaled Anesthetic Agent</vt:lpstr>
      <vt:lpstr>PowerPoint Presentation</vt:lpstr>
      <vt:lpstr>PowerPoint Presentation</vt:lpstr>
      <vt:lpstr>PowerPoint Presentation</vt:lpstr>
      <vt:lpstr>PowerPoint Presentation</vt:lpstr>
      <vt:lpstr>Uptake and Distribution</vt:lpstr>
      <vt:lpstr>PowerPoint Presentation</vt:lpstr>
      <vt:lpstr>PowerPoint Presentation</vt:lpstr>
      <vt:lpstr>PowerPoint Presentation</vt:lpstr>
      <vt:lpstr>PowerPoint Presentation</vt:lpstr>
      <vt:lpstr>Blood:Gas Partition Coefficient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second gas effect </vt:lpstr>
      <vt:lpstr>PowerPoint Presentation</vt:lpstr>
      <vt:lpstr>PowerPoint Presentation</vt:lpstr>
      <vt:lpstr>PowerPoint Presentation</vt:lpstr>
      <vt:lpstr>Diffusion Hypoxia</vt:lpstr>
      <vt:lpstr>PowerPoint Presentation</vt:lpstr>
      <vt:lpstr>      Metabolism</vt:lpstr>
      <vt:lpstr>PowerPoint Presentation</vt:lpstr>
      <vt:lpstr>PowerPoint Presentation</vt:lpstr>
      <vt:lpstr>PowerPoint Presentation</vt:lpstr>
      <vt:lpstr>In summery Uptake and distribution</vt:lpstr>
      <vt:lpstr>PowerPoint Presentation</vt:lpstr>
      <vt:lpstr>NITROUS OXIDE (N2O)</vt:lpstr>
      <vt:lpstr>PowerPoint Presentation</vt:lpstr>
      <vt:lpstr>Effects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Halothane</vt:lpstr>
      <vt:lpstr>Effects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ISOFLURANE</vt:lpstr>
      <vt:lpstr>Effects</vt:lpstr>
      <vt:lpstr>PowerPoint Presentation</vt:lpstr>
      <vt:lpstr>PowerPoint Presentation</vt:lpstr>
      <vt:lpstr>PowerPoint Presentation</vt:lpstr>
      <vt:lpstr>PowerPoint Presentation</vt:lpstr>
      <vt:lpstr>ENFlURANE</vt:lpstr>
      <vt:lpstr>Cardiovascular</vt:lpstr>
      <vt:lpstr>PowerPoint Presentation</vt:lpstr>
      <vt:lpstr>DESFlURANE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sevoflurine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XENON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Inhalational amesthesia</dc:title>
  <dc:creator>User</dc:creator>
  <cp:lastModifiedBy>BRASS</cp:lastModifiedBy>
  <cp:revision>248</cp:revision>
  <dcterms:created xsi:type="dcterms:W3CDTF">2022-06-29T18:07:19Z</dcterms:created>
  <dcterms:modified xsi:type="dcterms:W3CDTF">2022-11-23T04:56:46Z</dcterms:modified>
</cp:coreProperties>
</file>